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33"/>
  </p:notesMasterIdLst>
  <p:sldIdLst>
    <p:sldId id="514" r:id="rId3"/>
    <p:sldId id="524" r:id="rId4"/>
    <p:sldId id="522" r:id="rId5"/>
    <p:sldId id="545" r:id="rId6"/>
    <p:sldId id="546" r:id="rId7"/>
    <p:sldId id="548" r:id="rId8"/>
    <p:sldId id="550" r:id="rId9"/>
    <p:sldId id="551" r:id="rId10"/>
    <p:sldId id="552" r:id="rId11"/>
    <p:sldId id="553" r:id="rId12"/>
    <p:sldId id="554" r:id="rId13"/>
    <p:sldId id="555" r:id="rId14"/>
    <p:sldId id="549" r:id="rId15"/>
    <p:sldId id="556" r:id="rId16"/>
    <p:sldId id="557" r:id="rId17"/>
    <p:sldId id="558" r:id="rId18"/>
    <p:sldId id="559" r:id="rId19"/>
    <p:sldId id="560" r:id="rId20"/>
    <p:sldId id="561" r:id="rId21"/>
    <p:sldId id="570" r:id="rId22"/>
    <p:sldId id="563" r:id="rId23"/>
    <p:sldId id="564" r:id="rId24"/>
    <p:sldId id="565" r:id="rId25"/>
    <p:sldId id="566" r:id="rId26"/>
    <p:sldId id="567" r:id="rId27"/>
    <p:sldId id="568" r:id="rId28"/>
    <p:sldId id="569" r:id="rId29"/>
    <p:sldId id="571" r:id="rId30"/>
    <p:sldId id="572" r:id="rId31"/>
    <p:sldId id="573" r:id="rId32"/>
  </p:sldIdLst>
  <p:sldSz cx="9144000" cy="5143500" type="screen16x9"/>
  <p:notesSz cx="6858000" cy="9144000"/>
  <p:embeddedFontLst>
    <p:embeddedFont>
      <p:font typeface="Acrom" panose="020B0604020202020204" charset="-52"/>
      <p:regular r:id="rId34"/>
    </p:embeddedFont>
    <p:embeddedFont>
      <p:font typeface="Acrom Bold" panose="020B0604020202020204" charset="-52"/>
      <p:bold r:id="rId35"/>
    </p:embeddedFont>
    <p:embeddedFont>
      <p:font typeface="Acrom ExtraBold" panose="020B0604020202020204" charset="-52"/>
      <p:bold r:id="rId36"/>
    </p:embeddedFont>
    <p:embeddedFont>
      <p:font typeface="Aptos Narrow" panose="020B0004020202020204" pitchFamily="34" charset="0"/>
      <p:regular r:id="rId37"/>
      <p:bold r:id="rId38"/>
      <p:italic r:id="rId39"/>
      <p:boldItalic r:id="rId4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</p14:sldIdLst>
        </p14:section>
        <p14:section name="Literature" id="{B9960BE5-F3B4-48C0-BA4B-65F190ECCD4C}">
          <p14:sldIdLst>
            <p14:sldId id="524"/>
            <p14:sldId id="522"/>
            <p14:sldId id="545"/>
            <p14:sldId id="546"/>
            <p14:sldId id="548"/>
            <p14:sldId id="550"/>
            <p14:sldId id="551"/>
            <p14:sldId id="552"/>
            <p14:sldId id="553"/>
            <p14:sldId id="554"/>
            <p14:sldId id="555"/>
            <p14:sldId id="549"/>
            <p14:sldId id="556"/>
            <p14:sldId id="557"/>
            <p14:sldId id="558"/>
            <p14:sldId id="559"/>
            <p14:sldId id="560"/>
            <p14:sldId id="561"/>
            <p14:sldId id="570"/>
            <p14:sldId id="563"/>
            <p14:sldId id="564"/>
            <p14:sldId id="565"/>
            <p14:sldId id="566"/>
            <p14:sldId id="567"/>
            <p14:sldId id="568"/>
            <p14:sldId id="569"/>
            <p14:sldId id="571"/>
            <p14:sldId id="572"/>
            <p14:sldId id="5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D1DC"/>
    <a:srgbClr val="8FAADC"/>
    <a:srgbClr val="E9EBF5"/>
    <a:srgbClr val="5F9E38"/>
    <a:srgbClr val="9292FB"/>
    <a:srgbClr val="007D9A"/>
    <a:srgbClr val="50852F"/>
    <a:srgbClr val="C1F3FF"/>
    <a:srgbClr val="6CB640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68" autoAdjust="0"/>
    <p:restoredTop sz="76877" autoAdjust="0"/>
  </p:normalViewPr>
  <p:slideViewPr>
    <p:cSldViewPr>
      <p:cViewPr varScale="1">
        <p:scale>
          <a:sx n="107" d="100"/>
          <a:sy n="107" d="100"/>
        </p:scale>
        <p:origin x="1692" y="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6.fntdata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18.12.2024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734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Дейт</a:t>
            </a:r>
            <a:r>
              <a:rPr lang="ru-RU" dirty="0"/>
              <a:t> </a:t>
            </a:r>
            <a:r>
              <a:rPr lang="ru-RU" sz="1200" b="1" dirty="0"/>
              <a:t>Введение в системы баз данных. Глава 2</a:t>
            </a: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■ Отображение "концептуальный-внутренний" устанавливает соответствие между концептуальным представлением и хранимой базой данных, т.е. описывает, как концептуальные записи и поля представлены на внутреннем уровне. При изменении структуры хранимой базы данных (т.е. при внесении изменений в определение структуры хранения) отображение "концептуальный—внутренний" также изменяется, с учетом того, что концептуальная схема остается неизменной. (Осуществление подобных изменений входит в обязанности администратора базы данных и может обеспечиваться самой СУБД.) Иначе говоря, чтобы обеспечивалась независимость от данных, результаты внесения любых изменений в схему хранения не должны обнаруживаться на концептуальном уровне.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■ Отображение "внешний—концептуальный" определяет соответствие между некоторым внешним представлением и концептуальным представлением. В целом, различия, которые могут существовать между этими двумя уровнями, подобны различиям между концептуальным представлением и хранимой базой данных. Например, данные полей могут относиться к разным типам, названия полей и за писей могут быть изменены, несколько концептуальных полей могут быть объединены в одно (виртуальное) внешнее поле и т.д. В одно и то же время допустимо существование любого количества внешних представлений, причем одно и то же внешнее представление может принадлежать нескольким пользователям, а разные внешние представления — перекрываться. Очевидно, что отображение "концептуальный—внутренний" служит основой физической независимости от данных, а отображения "внешний—концептуальный" являются ключом к логической независимости от данных. Как было показано в главе 1, система обеспечивает физическую независимость от данных [1.3], если пользователи и пользовательские программы обладают невосприимчивостью к изменениям в физической структуре хранимой базы данных. Аналогично, система обеспечивает логическую независимость от данных [1.4], если пользователи и пользовательские программы обладают невосприимчивостью к изменениям в логической структуре базы данных (подразумеваются изменения на концептуальном или "общем логическом" уровне). Этот важный вопрос будет обсуждаться в главах 3 и 10.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■ Следует отметить, что большинство систем позволяет выражать одно определение внешнего представления через другое (по существу, с помощью отображения "внешний-внешний"), не требуя обязательного явного определения отображения каждого внешнего представления на концептуальный уровень. Эта возможность очень полезна, если несколько представлений подобны друг другу. В частности, аналогичная возможность предусмотрена во многих реляционных СУБД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933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810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FAC89417-1C43-4B5D-926F-67A4950756FA}" type="datetime1">
              <a:rPr lang="ru-RU" smtClean="0"/>
              <a:t>18.12.2024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D65A9993-6ED8-412C-A493-851C187FCFA8}" type="datetime1">
              <a:rPr lang="ru-RU" smtClean="0"/>
              <a:t>18.12.2024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28B83F1-A2E9-4D52-B6E9-AA7C889AF2F4}" type="datetime1">
              <a:rPr lang="ru-RU" smtClean="0"/>
              <a:t>18.12.2024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11" Type="http://schemas.openxmlformats.org/officeDocument/2006/relationships/image" Target="../media/image5.png"/><Relationship Id="rId5" Type="http://schemas.openxmlformats.org/officeDocument/2006/relationships/theme" Target="../theme/theme1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theme" Target="../theme/theme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jpeg"/><Relationship Id="rId9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6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2A37C-3900-4342-8412-3FF3FC8FF02E}" type="datetime1">
              <a:rPr lang="ru-RU" smtClean="0"/>
              <a:t>18.12.2024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55" r:id="rId2"/>
    <p:sldLayoutId id="2147483683" r:id="rId3"/>
    <p:sldLayoutId id="2147483680" r:id="rId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524667"/>
            <a:ext cx="4332104" cy="1279331"/>
          </a:xfrm>
        </p:spPr>
        <p:txBody>
          <a:bodyPr>
            <a:normAutofit/>
          </a:bodyPr>
          <a:lstStyle/>
          <a:p>
            <a:r>
              <a:rPr lang="ru-RU" dirty="0"/>
              <a:t>Архитектура систем управления базами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DE754A-6509-5765-AB59-D7C5299FA3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sz="1800" dirty="0" err="1"/>
              <a:t>Г.Гарсия</a:t>
            </a:r>
            <a:r>
              <a:rPr lang="ru-RU" sz="1800" dirty="0"/>
              <a:t> –Молина, Дж. Ульман, Дж. </a:t>
            </a:r>
            <a:r>
              <a:rPr lang="ru-RU" sz="1800" dirty="0" err="1"/>
              <a:t>Уидом</a:t>
            </a:r>
            <a:r>
              <a:rPr lang="ru-RU" sz="1800" dirty="0"/>
              <a:t>, </a:t>
            </a:r>
            <a:r>
              <a:rPr lang="ru-RU" sz="1800" b="1" dirty="0"/>
              <a:t>Системы баз данных.</a:t>
            </a:r>
            <a:r>
              <a:rPr lang="ru-RU" sz="1800" dirty="0"/>
              <a:t> </a:t>
            </a:r>
            <a:r>
              <a:rPr lang="ru-RU" sz="1800" b="1" dirty="0">
                <a:highlight>
                  <a:srgbClr val="C1F3FF"/>
                </a:highlight>
              </a:rPr>
              <a:t>Глава 1</a:t>
            </a:r>
            <a:endParaRPr lang="ru-RU" sz="18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sz="1800" dirty="0"/>
              <a:t>К. Дж. </a:t>
            </a:r>
            <a:r>
              <a:rPr lang="ru-RU" sz="1800" dirty="0" err="1"/>
              <a:t>Дейт</a:t>
            </a:r>
            <a:r>
              <a:rPr lang="ru-RU" sz="1800" dirty="0"/>
              <a:t>, </a:t>
            </a:r>
            <a:r>
              <a:rPr lang="ru-RU" sz="1800" b="1" dirty="0"/>
              <a:t>Введение в системы баз данных.</a:t>
            </a:r>
            <a:r>
              <a:rPr lang="ru-RU" sz="1800" dirty="0"/>
              <a:t> </a:t>
            </a:r>
            <a:r>
              <a:rPr lang="ru-RU" sz="1800" b="1" dirty="0">
                <a:highlight>
                  <a:srgbClr val="C1F3FF"/>
                </a:highlight>
              </a:rPr>
              <a:t>Глава 2</a:t>
            </a:r>
            <a:endParaRPr lang="ru-RU" sz="18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1DCE156-68A2-1C19-1590-077A0EA8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dirty="0"/>
              <a:t>ОСНОВНАЯ ЛИТЕРАТУРА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BD4536-DEFB-57A7-A057-7E3D72CC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55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6C237B-B476-6704-6CC5-A87720E6C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F772B2-F454-6F2B-4F6E-A49199663E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numCol="1">
            <a:normAutofit/>
          </a:bodyPr>
          <a:lstStyle/>
          <a:p>
            <a:pPr marL="457200" lvl="1" indent="0">
              <a:buNone/>
            </a:pPr>
            <a:endParaRPr lang="ru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F51F13-0618-C79B-20FD-45744CF72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Система управления базами данных</a:t>
            </a:r>
            <a:endParaRPr lang="en-US" cap="all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B9FA7E-FF26-67A1-5957-C2BBE4C21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170776"/>
              </p:ext>
            </p:extLst>
          </p:nvPr>
        </p:nvGraphicFramePr>
        <p:xfrm>
          <a:off x="350837" y="1419225"/>
          <a:ext cx="8541642" cy="3322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25419">
                  <a:extLst>
                    <a:ext uri="{9D8B030D-6E8A-4147-A177-3AD203B41FA5}">
                      <a16:colId xmlns:a16="http://schemas.microsoft.com/office/drawing/2014/main" val="69880488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75643543"/>
                    </a:ext>
                  </a:extLst>
                </a:gridCol>
                <a:gridCol w="1008111">
                  <a:extLst>
                    <a:ext uri="{9D8B030D-6E8A-4147-A177-3AD203B41FA5}">
                      <a16:colId xmlns:a16="http://schemas.microsoft.com/office/drawing/2014/main" val="1843341880"/>
                    </a:ext>
                  </a:extLst>
                </a:gridCol>
              </a:tblGrid>
              <a:tr h="2115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cap="all" dirty="0">
                          <a:solidFill>
                            <a:schemeClr val="tx1"/>
                          </a:solidFill>
                          <a:latin typeface="+mj-lt"/>
                        </a:rPr>
                        <a:t>Требования к СУБД</a:t>
                      </a:r>
                      <a:endParaRPr lang="ru-RU" sz="1800" cap="all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  <a:latin typeface="+mj-lt"/>
                        </a:rPr>
                        <a:t>ФС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tx1"/>
                          </a:solidFill>
                          <a:latin typeface="+mj-lt"/>
                        </a:rPr>
                        <a:t>СУБД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34533"/>
                  </a:ext>
                </a:extLst>
              </a:tr>
              <a:tr h="4231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Поддерживать способность сохранения больших объемов информации (многих гигабайтов и более) на протяжении длительного периода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rgbClr val="50852F"/>
                          </a:solidFill>
                          <a:latin typeface="Acrom ExtraBold" panose="020B0604020202020204" charset="-52"/>
                        </a:rPr>
                        <a:t>+</a:t>
                      </a:r>
                      <a:endParaRPr lang="en-US" sz="3600" dirty="0">
                        <a:solidFill>
                          <a:srgbClr val="50852F"/>
                        </a:solidFill>
                        <a:latin typeface="Acrom ExtraBold" panose="020B0604020202020204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rgbClr val="50852F"/>
                          </a:solidFill>
                          <a:latin typeface="Acrom ExtraBold" panose="020B0604020202020204" charset="-52"/>
                        </a:rPr>
                        <a:t>+</a:t>
                      </a:r>
                      <a:endParaRPr lang="en-US" sz="3600" dirty="0">
                        <a:solidFill>
                          <a:srgbClr val="50852F"/>
                        </a:solidFill>
                        <a:latin typeface="Acrom ExtraBold" panose="020B0604020202020204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682400"/>
                  </a:ext>
                </a:extLst>
              </a:tr>
              <a:tr h="3702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Позволять пользователям создавать новые базы данных и определять их схемы (логические структуры)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rgbClr val="007D9A"/>
                          </a:solidFill>
                          <a:latin typeface="Acrom ExtraBold" panose="020B0604020202020204" charset="-52"/>
                        </a:rPr>
                        <a:t>-</a:t>
                      </a:r>
                      <a:endParaRPr lang="en-US" sz="3600" dirty="0">
                        <a:solidFill>
                          <a:srgbClr val="007D9A"/>
                        </a:solidFill>
                        <a:latin typeface="Acrom ExtraBold" panose="020B0604020202020204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rgbClr val="50852F"/>
                          </a:solidFill>
                          <a:latin typeface="Acrom ExtraBold" panose="020B0604020202020204" charset="-52"/>
                        </a:rPr>
                        <a:t>+</a:t>
                      </a:r>
                      <a:endParaRPr lang="en-US" sz="3600" dirty="0">
                        <a:solidFill>
                          <a:srgbClr val="50852F"/>
                        </a:solidFill>
                        <a:latin typeface="Acrom ExtraBold" panose="020B0604020202020204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151192"/>
                  </a:ext>
                </a:extLst>
              </a:tr>
              <a:tr h="3702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Позволять пользователям формулировать запросы к базе данных на языке запросов (QL) или языке управления данными (DML)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rgbClr val="007D9A"/>
                          </a:solidFill>
                          <a:latin typeface="Acrom ExtraBold" panose="020B0604020202020204" charset="-52"/>
                        </a:rPr>
                        <a:t>-</a:t>
                      </a:r>
                      <a:endParaRPr lang="en-US" sz="3600" dirty="0">
                        <a:solidFill>
                          <a:srgbClr val="007D9A"/>
                        </a:solidFill>
                        <a:latin typeface="Acrom ExtraBold" panose="020B0604020202020204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rgbClr val="50852F"/>
                          </a:solidFill>
                          <a:latin typeface="Acrom ExtraBold" panose="020B0604020202020204" charset="-52"/>
                        </a:rPr>
                        <a:t>+</a:t>
                      </a:r>
                      <a:endParaRPr lang="en-US" sz="3600" dirty="0">
                        <a:solidFill>
                          <a:srgbClr val="50852F"/>
                        </a:solidFill>
                        <a:latin typeface="Acrom ExtraBold" panose="020B0604020202020204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557642"/>
                  </a:ext>
                </a:extLst>
              </a:tr>
              <a:tr h="5465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Управлять одновременным доступом к данным нескольких пользователей, исключая возможность влияния действий одного пользователя на результаты получаемые другим, и запрещая совместное обращение к данным, чреватое их порчей.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rgbClr val="007D9A"/>
                          </a:solidFill>
                          <a:latin typeface="Acrom ExtraBold" panose="020B0604020202020204" charset="-52"/>
                        </a:rPr>
                        <a:t>-</a:t>
                      </a:r>
                      <a:endParaRPr lang="en-US" sz="3600" dirty="0">
                        <a:solidFill>
                          <a:srgbClr val="007D9A"/>
                        </a:solidFill>
                        <a:latin typeface="Acrom ExtraBold" panose="020B0604020202020204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solidFill>
                            <a:srgbClr val="50852F"/>
                          </a:solidFill>
                          <a:latin typeface="Acrom ExtraBold" panose="020B0604020202020204" charset="-52"/>
                        </a:rPr>
                        <a:t>+</a:t>
                      </a:r>
                      <a:endParaRPr lang="en-US" sz="3600" dirty="0">
                        <a:solidFill>
                          <a:srgbClr val="50852F"/>
                        </a:solidFill>
                        <a:latin typeface="Acrom ExtraBold" panose="020B0604020202020204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701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262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6AE3B8-4CBE-9C44-BF6D-5F1E27C699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 numCol="2" spcCol="360000">
            <a:normAutofit fontScale="85000" lnSpcReduction="20000"/>
          </a:bodyPr>
          <a:lstStyle/>
          <a:p>
            <a:r>
              <a:rPr lang="ru-RU" b="1" dirty="0"/>
              <a:t>Определение  конкретной базы данных: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типов данных, структур данных, ограничений</a:t>
            </a:r>
          </a:p>
          <a:p>
            <a:r>
              <a:rPr lang="ru-RU" b="1" dirty="0"/>
              <a:t>Создание или Загрузка начального содержимого  базы данных</a:t>
            </a:r>
          </a:p>
          <a:p>
            <a:r>
              <a:rPr lang="ru-RU" b="1" dirty="0"/>
              <a:t>Манипулирование базой данных:</a:t>
            </a:r>
          </a:p>
          <a:p>
            <a:pPr lvl="1"/>
            <a:r>
              <a:rPr lang="ru-RU" dirty="0"/>
              <a:t>Модификация данных: вставка, удаление и обновление содержимого баз данных</a:t>
            </a:r>
          </a:p>
          <a:p>
            <a:pPr lvl="1"/>
            <a:r>
              <a:rPr lang="ru-RU" dirty="0"/>
              <a:t>Извлечение данных: поиск по запросам, создание отчетов</a:t>
            </a:r>
          </a:p>
          <a:p>
            <a:r>
              <a:rPr lang="ru-RU" b="1" dirty="0"/>
              <a:t>Управление многопользовательским доступом</a:t>
            </a:r>
          </a:p>
          <a:p>
            <a:r>
              <a:rPr lang="ru-RU" b="1" dirty="0"/>
              <a:t>Управление внешней памятью</a:t>
            </a:r>
          </a:p>
          <a:p>
            <a:r>
              <a:rPr lang="ru-RU" b="1" dirty="0"/>
              <a:t>Управление целостностью данных</a:t>
            </a:r>
          </a:p>
          <a:p>
            <a:pPr lvl="1"/>
            <a:r>
              <a:rPr lang="ru-RU" b="1" dirty="0"/>
              <a:t>Физическая целостность</a:t>
            </a:r>
          </a:p>
          <a:p>
            <a:pPr lvl="1"/>
            <a:r>
              <a:rPr lang="ru-RU" b="1" dirty="0"/>
              <a:t>Логическая целостность</a:t>
            </a:r>
          </a:p>
          <a:p>
            <a:r>
              <a:rPr lang="ru-RU" b="1" dirty="0"/>
              <a:t>Защита от несанкционированного доступа к базе данных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2C04BE-DD35-03FA-ED80-733A37E8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Типовые функции СУБД 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F8CD5B-17A6-0ACB-8545-547A7407C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16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6AE3B8-4CBE-9C44-BF6D-5F1E27C699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 numCol="2" spcCol="360000">
            <a:normAutofit/>
          </a:bodyPr>
          <a:lstStyle/>
          <a:p>
            <a:pPr marL="0" indent="0">
              <a:buNone/>
            </a:pPr>
            <a:r>
              <a:rPr lang="ru-RU" b="1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2C04BE-DD35-03FA-ED80-733A37E8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Организационная Структура СУБД </a:t>
            </a:r>
            <a:endParaRPr lang="en-US" cap="all" dirty="0"/>
          </a:p>
        </p:txBody>
      </p:sp>
      <p:sp>
        <p:nvSpPr>
          <p:cNvPr id="85" name="Google Shape;245;p5">
            <a:extLst>
              <a:ext uri="{FF2B5EF4-FFF2-40B4-BE49-F238E27FC236}">
                <a16:creationId xmlns:a16="http://schemas.microsoft.com/office/drawing/2014/main" id="{DFC15A63-3276-4885-6BF0-1FC0BBA24731}"/>
              </a:ext>
            </a:extLst>
          </p:cNvPr>
          <p:cNvSpPr txBox="1"/>
          <p:nvPr/>
        </p:nvSpPr>
        <p:spPr>
          <a:xfrm>
            <a:off x="490976" y="1355056"/>
            <a:ext cx="2222158" cy="242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Пользователь/приложение</a:t>
            </a:r>
            <a:endParaRPr sz="1200" dirty="0"/>
          </a:p>
        </p:txBody>
      </p:sp>
      <p:sp>
        <p:nvSpPr>
          <p:cNvPr id="86" name="Google Shape;246;p5">
            <a:extLst>
              <a:ext uri="{FF2B5EF4-FFF2-40B4-BE49-F238E27FC236}">
                <a16:creationId xmlns:a16="http://schemas.microsoft.com/office/drawing/2014/main" id="{4D1DA4B5-D8C4-142A-2513-86B88277F706}"/>
              </a:ext>
            </a:extLst>
          </p:cNvPr>
          <p:cNvSpPr txBox="1"/>
          <p:nvPr/>
        </p:nvSpPr>
        <p:spPr>
          <a:xfrm>
            <a:off x="3005998" y="1355056"/>
            <a:ext cx="2308690" cy="242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Администратор базы данных</a:t>
            </a:r>
            <a:endParaRPr sz="1200" dirty="0"/>
          </a:p>
        </p:txBody>
      </p:sp>
      <p:sp>
        <p:nvSpPr>
          <p:cNvPr id="87" name="Google Shape;247;p5">
            <a:extLst>
              <a:ext uri="{FF2B5EF4-FFF2-40B4-BE49-F238E27FC236}">
                <a16:creationId xmlns:a16="http://schemas.microsoft.com/office/drawing/2014/main" id="{AEB44B5B-DB58-CABA-6525-30587FA99552}"/>
              </a:ext>
            </a:extLst>
          </p:cNvPr>
          <p:cNvSpPr txBox="1"/>
          <p:nvPr/>
        </p:nvSpPr>
        <p:spPr>
          <a:xfrm>
            <a:off x="496327" y="2012716"/>
            <a:ext cx="2222158" cy="264544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Компилятор запросов</a:t>
            </a:r>
            <a:endParaRPr sz="1200" dirty="0"/>
          </a:p>
        </p:txBody>
      </p:sp>
      <p:sp>
        <p:nvSpPr>
          <p:cNvPr id="88" name="Google Shape;248;p5">
            <a:extLst>
              <a:ext uri="{FF2B5EF4-FFF2-40B4-BE49-F238E27FC236}">
                <a16:creationId xmlns:a16="http://schemas.microsoft.com/office/drawing/2014/main" id="{3628EE04-ED62-2F2C-D85F-7EA9B224FD4D}"/>
              </a:ext>
            </a:extLst>
          </p:cNvPr>
          <p:cNvSpPr txBox="1"/>
          <p:nvPr/>
        </p:nvSpPr>
        <p:spPr>
          <a:xfrm>
            <a:off x="496327" y="2547497"/>
            <a:ext cx="2222158" cy="223509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Исполняющая машина</a:t>
            </a:r>
            <a:endParaRPr sz="1200" dirty="0"/>
          </a:p>
        </p:txBody>
      </p:sp>
      <p:sp>
        <p:nvSpPr>
          <p:cNvPr id="89" name="Google Shape;249;p5">
            <a:extLst>
              <a:ext uri="{FF2B5EF4-FFF2-40B4-BE49-F238E27FC236}">
                <a16:creationId xmlns:a16="http://schemas.microsoft.com/office/drawing/2014/main" id="{D9DDEB53-71DB-5C59-AA91-46AAF4959E4A}"/>
              </a:ext>
            </a:extLst>
          </p:cNvPr>
          <p:cNvSpPr txBox="1"/>
          <p:nvPr/>
        </p:nvSpPr>
        <p:spPr>
          <a:xfrm>
            <a:off x="507164" y="3041161"/>
            <a:ext cx="2211322" cy="24513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Менеджер ресурсов</a:t>
            </a:r>
            <a:endParaRPr sz="1200"/>
          </a:p>
        </p:txBody>
      </p:sp>
      <p:sp>
        <p:nvSpPr>
          <p:cNvPr id="90" name="Google Shape;250;p5">
            <a:extLst>
              <a:ext uri="{FF2B5EF4-FFF2-40B4-BE49-F238E27FC236}">
                <a16:creationId xmlns:a16="http://schemas.microsoft.com/office/drawing/2014/main" id="{95B3CA51-C38E-4D6E-7F83-1B6DCCA785F7}"/>
              </a:ext>
            </a:extLst>
          </p:cNvPr>
          <p:cNvSpPr txBox="1"/>
          <p:nvPr/>
        </p:nvSpPr>
        <p:spPr>
          <a:xfrm>
            <a:off x="507165" y="3652316"/>
            <a:ext cx="2222158" cy="218219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Менеджер буферов</a:t>
            </a:r>
            <a:endParaRPr sz="1200"/>
          </a:p>
        </p:txBody>
      </p:sp>
      <p:sp>
        <p:nvSpPr>
          <p:cNvPr id="91" name="Google Shape;251;p5">
            <a:extLst>
              <a:ext uri="{FF2B5EF4-FFF2-40B4-BE49-F238E27FC236}">
                <a16:creationId xmlns:a16="http://schemas.microsoft.com/office/drawing/2014/main" id="{1B01A92B-5462-9956-E7CF-04DC1B89F320}"/>
              </a:ext>
            </a:extLst>
          </p:cNvPr>
          <p:cNvSpPr txBox="1"/>
          <p:nvPr/>
        </p:nvSpPr>
        <p:spPr>
          <a:xfrm>
            <a:off x="507163" y="4139031"/>
            <a:ext cx="2222158" cy="213752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Менеджер хранения данных</a:t>
            </a:r>
            <a:endParaRPr sz="1200" dirty="0"/>
          </a:p>
        </p:txBody>
      </p:sp>
      <p:sp>
        <p:nvSpPr>
          <p:cNvPr id="92" name="Google Shape;252;p5">
            <a:extLst>
              <a:ext uri="{FF2B5EF4-FFF2-40B4-BE49-F238E27FC236}">
                <a16:creationId xmlns:a16="http://schemas.microsoft.com/office/drawing/2014/main" id="{46066374-A795-0F6B-F33E-744BBA43BD49}"/>
              </a:ext>
            </a:extLst>
          </p:cNvPr>
          <p:cNvSpPr txBox="1"/>
          <p:nvPr/>
        </p:nvSpPr>
        <p:spPr>
          <a:xfrm>
            <a:off x="7486794" y="2440092"/>
            <a:ext cx="1309420" cy="429321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Менеджер транзакций</a:t>
            </a:r>
            <a:endParaRPr sz="1200" dirty="0"/>
          </a:p>
        </p:txBody>
      </p:sp>
      <p:sp>
        <p:nvSpPr>
          <p:cNvPr id="93" name="Google Shape;253;p5">
            <a:extLst>
              <a:ext uri="{FF2B5EF4-FFF2-40B4-BE49-F238E27FC236}">
                <a16:creationId xmlns:a16="http://schemas.microsoft.com/office/drawing/2014/main" id="{E3316ECE-A7FB-E5A8-B575-F43C4D5B7AEA}"/>
              </a:ext>
            </a:extLst>
          </p:cNvPr>
          <p:cNvSpPr txBox="1"/>
          <p:nvPr/>
        </p:nvSpPr>
        <p:spPr>
          <a:xfrm>
            <a:off x="5136267" y="3045236"/>
            <a:ext cx="1748549" cy="343382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Менеджер восстановления</a:t>
            </a:r>
            <a:endParaRPr sz="1100" dirty="0"/>
          </a:p>
        </p:txBody>
      </p:sp>
      <p:sp>
        <p:nvSpPr>
          <p:cNvPr id="94" name="Google Shape;254;p5">
            <a:extLst>
              <a:ext uri="{FF2B5EF4-FFF2-40B4-BE49-F238E27FC236}">
                <a16:creationId xmlns:a16="http://schemas.microsoft.com/office/drawing/2014/main" id="{DDBC9F8E-7F92-991F-01B2-A3DD083CEA68}"/>
              </a:ext>
            </a:extLst>
          </p:cNvPr>
          <p:cNvSpPr txBox="1"/>
          <p:nvPr/>
        </p:nvSpPr>
        <p:spPr>
          <a:xfrm>
            <a:off x="5136267" y="3681749"/>
            <a:ext cx="1748546" cy="218219"/>
          </a:xfrm>
          <a:prstGeom prst="rect">
            <a:avLst/>
          </a:prstGeom>
          <a:noFill/>
          <a:ln w="38100" cap="flat" cmpd="dbl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Буферы</a:t>
            </a:r>
            <a:endParaRPr sz="1200" dirty="0"/>
          </a:p>
        </p:txBody>
      </p:sp>
      <p:sp>
        <p:nvSpPr>
          <p:cNvPr id="95" name="Google Shape;255;p5">
            <a:extLst>
              <a:ext uri="{FF2B5EF4-FFF2-40B4-BE49-F238E27FC236}">
                <a16:creationId xmlns:a16="http://schemas.microsoft.com/office/drawing/2014/main" id="{DF41BB28-DE94-7866-F608-5A4D03505B6E}"/>
              </a:ext>
            </a:extLst>
          </p:cNvPr>
          <p:cNvSpPr txBox="1"/>
          <p:nvPr/>
        </p:nvSpPr>
        <p:spPr>
          <a:xfrm>
            <a:off x="3446233" y="1985081"/>
            <a:ext cx="1428222" cy="277864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Компилятор DDL</a:t>
            </a:r>
            <a:endParaRPr sz="1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256;p5">
            <a:extLst>
              <a:ext uri="{FF2B5EF4-FFF2-40B4-BE49-F238E27FC236}">
                <a16:creationId xmlns:a16="http://schemas.microsoft.com/office/drawing/2014/main" id="{F94DAA46-50AF-7CDD-F625-7A3B82D4D4D7}"/>
              </a:ext>
            </a:extLst>
          </p:cNvPr>
          <p:cNvSpPr txBox="1"/>
          <p:nvPr/>
        </p:nvSpPr>
        <p:spPr>
          <a:xfrm>
            <a:off x="5136267" y="2558047"/>
            <a:ext cx="1748549" cy="212959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Планировщик заданий</a:t>
            </a:r>
            <a:endParaRPr sz="1100" dirty="0"/>
          </a:p>
        </p:txBody>
      </p:sp>
      <p:sp>
        <p:nvSpPr>
          <p:cNvPr id="97" name="Google Shape;257;p5">
            <a:extLst>
              <a:ext uri="{FF2B5EF4-FFF2-40B4-BE49-F238E27FC236}">
                <a16:creationId xmlns:a16="http://schemas.microsoft.com/office/drawing/2014/main" id="{6C6FABC3-B450-2880-C684-1CF4BD61245C}"/>
              </a:ext>
            </a:extLst>
          </p:cNvPr>
          <p:cNvSpPr txBox="1"/>
          <p:nvPr/>
        </p:nvSpPr>
        <p:spPr>
          <a:xfrm>
            <a:off x="5136267" y="2021253"/>
            <a:ext cx="1748550" cy="227417"/>
          </a:xfrm>
          <a:prstGeom prst="rect">
            <a:avLst/>
          </a:prstGeom>
          <a:noFill/>
          <a:ln w="38100" cap="flat" cmpd="dbl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Таблицы блокировок</a:t>
            </a:r>
            <a:endParaRPr sz="1100" dirty="0"/>
          </a:p>
        </p:txBody>
      </p:sp>
      <p:cxnSp>
        <p:nvCxnSpPr>
          <p:cNvPr id="98" name="Google Shape;258;p5">
            <a:extLst>
              <a:ext uri="{FF2B5EF4-FFF2-40B4-BE49-F238E27FC236}">
                <a16:creationId xmlns:a16="http://schemas.microsoft.com/office/drawing/2014/main" id="{44DA82B6-B510-8B1A-CA8E-CA42CE404537}"/>
              </a:ext>
            </a:extLst>
          </p:cNvPr>
          <p:cNvCxnSpPr>
            <a:cxnSpLocks/>
            <a:stCxn id="85" idx="2"/>
            <a:endCxn id="87" idx="0"/>
          </p:cNvCxnSpPr>
          <p:nvPr/>
        </p:nvCxnSpPr>
        <p:spPr>
          <a:xfrm>
            <a:off x="1602055" y="1597454"/>
            <a:ext cx="5351" cy="415262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9" name="Google Shape;259;p5">
            <a:extLst>
              <a:ext uri="{FF2B5EF4-FFF2-40B4-BE49-F238E27FC236}">
                <a16:creationId xmlns:a16="http://schemas.microsoft.com/office/drawing/2014/main" id="{695BC648-E64D-A633-0721-C9865FBD25E3}"/>
              </a:ext>
            </a:extLst>
          </p:cNvPr>
          <p:cNvCxnSpPr>
            <a:cxnSpLocks/>
            <a:stCxn id="87" idx="2"/>
            <a:endCxn id="88" idx="0"/>
          </p:cNvCxnSpPr>
          <p:nvPr/>
        </p:nvCxnSpPr>
        <p:spPr>
          <a:xfrm>
            <a:off x="1607406" y="2277260"/>
            <a:ext cx="0" cy="27023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0" name="Google Shape;260;p5">
            <a:extLst>
              <a:ext uri="{FF2B5EF4-FFF2-40B4-BE49-F238E27FC236}">
                <a16:creationId xmlns:a16="http://schemas.microsoft.com/office/drawing/2014/main" id="{4FB9F2B8-29E7-477F-FA4A-C110E569269E}"/>
              </a:ext>
            </a:extLst>
          </p:cNvPr>
          <p:cNvCxnSpPr>
            <a:cxnSpLocks/>
            <a:stCxn id="88" idx="2"/>
            <a:endCxn id="89" idx="0"/>
          </p:cNvCxnSpPr>
          <p:nvPr/>
        </p:nvCxnSpPr>
        <p:spPr>
          <a:xfrm>
            <a:off x="1607406" y="2771006"/>
            <a:ext cx="5419" cy="27015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101" name="Google Shape;261;p5">
            <a:extLst>
              <a:ext uri="{FF2B5EF4-FFF2-40B4-BE49-F238E27FC236}">
                <a16:creationId xmlns:a16="http://schemas.microsoft.com/office/drawing/2014/main" id="{3F43D8D3-D5CA-2E5E-5369-CBF86E76F581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>
            <a:off x="1612825" y="3286299"/>
            <a:ext cx="5419" cy="36601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103" name="Google Shape;263;p5">
            <a:extLst>
              <a:ext uri="{FF2B5EF4-FFF2-40B4-BE49-F238E27FC236}">
                <a16:creationId xmlns:a16="http://schemas.microsoft.com/office/drawing/2014/main" id="{ED26EF82-5342-92A7-6CBA-9B26C19B1521}"/>
              </a:ext>
            </a:extLst>
          </p:cNvPr>
          <p:cNvCxnSpPr>
            <a:cxnSpLocks/>
            <a:stCxn id="91" idx="3"/>
            <a:endCxn id="127" idx="2"/>
          </p:cNvCxnSpPr>
          <p:nvPr/>
        </p:nvCxnSpPr>
        <p:spPr>
          <a:xfrm>
            <a:off x="2729321" y="4245907"/>
            <a:ext cx="436467" cy="11298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127" name="Google Shape;265;p5">
            <a:extLst>
              <a:ext uri="{FF2B5EF4-FFF2-40B4-BE49-F238E27FC236}">
                <a16:creationId xmlns:a16="http://schemas.microsoft.com/office/drawing/2014/main" id="{38D7A2D7-AB02-104D-DD12-4DD8E8175DA0}"/>
              </a:ext>
            </a:extLst>
          </p:cNvPr>
          <p:cNvSpPr/>
          <p:nvPr/>
        </p:nvSpPr>
        <p:spPr>
          <a:xfrm>
            <a:off x="3165788" y="4136526"/>
            <a:ext cx="1763487" cy="444722"/>
          </a:xfrm>
          <a:prstGeom prst="can">
            <a:avLst>
              <a:gd name="adj" fmla="val 25000"/>
            </a:avLst>
          </a:prstGeom>
          <a:noFill/>
          <a:ln w="25400" cap="flat" cmpd="sng">
            <a:solidFill>
              <a:srgbClr val="6F6F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Носитель данных</a:t>
            </a:r>
            <a:endParaRPr lang="ru-RU" sz="1400" dirty="0"/>
          </a:p>
        </p:txBody>
      </p:sp>
      <p:cxnSp>
        <p:nvCxnSpPr>
          <p:cNvPr id="105" name="Google Shape;267;p5">
            <a:extLst>
              <a:ext uri="{FF2B5EF4-FFF2-40B4-BE49-F238E27FC236}">
                <a16:creationId xmlns:a16="http://schemas.microsoft.com/office/drawing/2014/main" id="{46839C9E-8D99-C82D-D1CA-C7599982ACBD}"/>
              </a:ext>
            </a:extLst>
          </p:cNvPr>
          <p:cNvCxnSpPr>
            <a:cxnSpLocks/>
            <a:stCxn id="85" idx="2"/>
            <a:endCxn id="92" idx="0"/>
          </p:cNvCxnSpPr>
          <p:nvPr/>
        </p:nvCxnSpPr>
        <p:spPr>
          <a:xfrm rot="16200000" flipH="1">
            <a:off x="4450460" y="-1250952"/>
            <a:ext cx="842638" cy="6539449"/>
          </a:xfrm>
          <a:prstGeom prst="bentConnector3">
            <a:avLst>
              <a:gd name="adj1" fmla="val 31914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6" name="Google Shape;268;p5">
            <a:extLst>
              <a:ext uri="{FF2B5EF4-FFF2-40B4-BE49-F238E27FC236}">
                <a16:creationId xmlns:a16="http://schemas.microsoft.com/office/drawing/2014/main" id="{5B59DAF2-5FA9-0C30-940C-670757879556}"/>
              </a:ext>
            </a:extLst>
          </p:cNvPr>
          <p:cNvCxnSpPr>
            <a:cxnSpLocks/>
            <a:stCxn id="92" idx="2"/>
            <a:endCxn id="93" idx="3"/>
          </p:cNvCxnSpPr>
          <p:nvPr/>
        </p:nvCxnSpPr>
        <p:spPr>
          <a:xfrm flipH="1">
            <a:off x="6884816" y="2869413"/>
            <a:ext cx="1256688" cy="347514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7" name="Google Shape;269;p5">
            <a:extLst>
              <a:ext uri="{FF2B5EF4-FFF2-40B4-BE49-F238E27FC236}">
                <a16:creationId xmlns:a16="http://schemas.microsoft.com/office/drawing/2014/main" id="{6A0EE010-A80D-5EEE-E867-D05EB1C12BAC}"/>
              </a:ext>
            </a:extLst>
          </p:cNvPr>
          <p:cNvCxnSpPr>
            <a:cxnSpLocks/>
            <a:stCxn id="92" idx="1"/>
            <a:endCxn id="96" idx="3"/>
          </p:cNvCxnSpPr>
          <p:nvPr/>
        </p:nvCxnSpPr>
        <p:spPr>
          <a:xfrm flipH="1">
            <a:off x="6884816" y="2654753"/>
            <a:ext cx="601978" cy="9774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8" name="Google Shape;270;p5">
            <a:extLst>
              <a:ext uri="{FF2B5EF4-FFF2-40B4-BE49-F238E27FC236}">
                <a16:creationId xmlns:a16="http://schemas.microsoft.com/office/drawing/2014/main" id="{E09F7331-72A5-BDF9-8FA5-155BFF50452A}"/>
              </a:ext>
            </a:extLst>
          </p:cNvPr>
          <p:cNvCxnSpPr>
            <a:cxnSpLocks/>
            <a:stCxn id="95" idx="2"/>
            <a:endCxn id="88" idx="3"/>
          </p:cNvCxnSpPr>
          <p:nvPr/>
        </p:nvCxnSpPr>
        <p:spPr>
          <a:xfrm flipH="1">
            <a:off x="2718485" y="2262945"/>
            <a:ext cx="1441859" cy="39630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0" name="Google Shape;272;p5">
            <a:extLst>
              <a:ext uri="{FF2B5EF4-FFF2-40B4-BE49-F238E27FC236}">
                <a16:creationId xmlns:a16="http://schemas.microsoft.com/office/drawing/2014/main" id="{23548B25-0A1E-3B02-FE4A-0798EE3C406F}"/>
              </a:ext>
            </a:extLst>
          </p:cNvPr>
          <p:cNvCxnSpPr>
            <a:cxnSpLocks/>
            <a:stCxn id="96" idx="0"/>
            <a:endCxn id="97" idx="2"/>
          </p:cNvCxnSpPr>
          <p:nvPr/>
        </p:nvCxnSpPr>
        <p:spPr>
          <a:xfrm flipV="1">
            <a:off x="6010542" y="2248670"/>
            <a:ext cx="0" cy="30937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111" name="Google Shape;273;p5">
            <a:extLst>
              <a:ext uri="{FF2B5EF4-FFF2-40B4-BE49-F238E27FC236}">
                <a16:creationId xmlns:a16="http://schemas.microsoft.com/office/drawing/2014/main" id="{5B1C3E24-21BB-1036-FB71-5EEB942760EC}"/>
              </a:ext>
            </a:extLst>
          </p:cNvPr>
          <p:cNvCxnSpPr>
            <a:cxnSpLocks/>
            <a:stCxn id="95" idx="2"/>
            <a:endCxn id="94" idx="1"/>
          </p:cNvCxnSpPr>
          <p:nvPr/>
        </p:nvCxnSpPr>
        <p:spPr>
          <a:xfrm rot="16200000" flipH="1">
            <a:off x="3884348" y="2538940"/>
            <a:ext cx="1527914" cy="975923"/>
          </a:xfrm>
          <a:prstGeom prst="curvedConnector2">
            <a:avLst/>
          </a:prstGeom>
          <a:noFill/>
          <a:ln w="25400" cap="flat" cmpd="sng">
            <a:solidFill>
              <a:srgbClr val="9292FB"/>
            </a:solidFill>
            <a:prstDash val="dash"/>
            <a:round/>
            <a:headEnd type="stealth" w="med" len="med"/>
            <a:tailEnd type="stealth" w="med" len="med"/>
          </a:ln>
        </p:spPr>
      </p:cxnSp>
      <p:sp>
        <p:nvSpPr>
          <p:cNvPr id="112" name="Google Shape;274;p5">
            <a:extLst>
              <a:ext uri="{FF2B5EF4-FFF2-40B4-BE49-F238E27FC236}">
                <a16:creationId xmlns:a16="http://schemas.microsoft.com/office/drawing/2014/main" id="{1AC860C5-BFC9-2959-13C6-8E290A1A0397}"/>
              </a:ext>
            </a:extLst>
          </p:cNvPr>
          <p:cNvSpPr txBox="1"/>
          <p:nvPr/>
        </p:nvSpPr>
        <p:spPr>
          <a:xfrm>
            <a:off x="3969246" y="1372738"/>
            <a:ext cx="1045349" cy="17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prstTxWarp prst="textArchDown">
              <a:avLst>
                <a:gd name="adj" fmla="val 21540626"/>
              </a:avLst>
            </a:prstTxWarp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9292FB"/>
                </a:solidFill>
                <a:latin typeface="Arial"/>
                <a:ea typeface="Arial"/>
                <a:cs typeface="Arial"/>
                <a:sym typeface="Arial"/>
              </a:rPr>
              <a:t>метаданные</a:t>
            </a:r>
            <a:endParaRPr sz="1200" dirty="0">
              <a:solidFill>
                <a:srgbClr val="9292FB"/>
              </a:solidFill>
            </a:endParaRPr>
          </a:p>
        </p:txBody>
      </p:sp>
      <p:cxnSp>
        <p:nvCxnSpPr>
          <p:cNvPr id="113" name="Google Shape;275;p5">
            <a:extLst>
              <a:ext uri="{FF2B5EF4-FFF2-40B4-BE49-F238E27FC236}">
                <a16:creationId xmlns:a16="http://schemas.microsoft.com/office/drawing/2014/main" id="{4D4E3337-F739-6FD5-7211-C3C33E6F55C8}"/>
              </a:ext>
            </a:extLst>
          </p:cNvPr>
          <p:cNvCxnSpPr>
            <a:cxnSpLocks/>
            <a:stCxn id="87" idx="3"/>
            <a:endCxn id="94" idx="1"/>
          </p:cNvCxnSpPr>
          <p:nvPr/>
        </p:nvCxnSpPr>
        <p:spPr>
          <a:xfrm>
            <a:off x="2718485" y="2144988"/>
            <a:ext cx="2417782" cy="1645871"/>
          </a:xfrm>
          <a:prstGeom prst="straightConnector1">
            <a:avLst/>
          </a:prstGeom>
          <a:noFill/>
          <a:ln w="25400" cap="flat" cmpd="sng">
            <a:solidFill>
              <a:srgbClr val="9292FB"/>
            </a:solidFill>
            <a:prstDash val="dash"/>
            <a:round/>
            <a:headEnd type="stealth" w="med" len="med"/>
            <a:tailEnd type="stealth" w="med" len="med"/>
          </a:ln>
        </p:spPr>
      </p:cxnSp>
      <p:cxnSp>
        <p:nvCxnSpPr>
          <p:cNvPr id="114" name="Google Shape;276;p5">
            <a:extLst>
              <a:ext uri="{FF2B5EF4-FFF2-40B4-BE49-F238E27FC236}">
                <a16:creationId xmlns:a16="http://schemas.microsoft.com/office/drawing/2014/main" id="{1517EAA6-CF0E-A090-9318-5D05947E4EC8}"/>
              </a:ext>
            </a:extLst>
          </p:cNvPr>
          <p:cNvCxnSpPr>
            <a:cxnSpLocks/>
            <a:stCxn id="88" idx="3"/>
            <a:endCxn id="94" idx="1"/>
          </p:cNvCxnSpPr>
          <p:nvPr/>
        </p:nvCxnSpPr>
        <p:spPr>
          <a:xfrm>
            <a:off x="2718485" y="2659252"/>
            <a:ext cx="2417782" cy="1131607"/>
          </a:xfrm>
          <a:prstGeom prst="curvedConnector3">
            <a:avLst>
              <a:gd name="adj1" fmla="val 50000"/>
            </a:avLst>
          </a:prstGeom>
          <a:noFill/>
          <a:ln w="25400" cap="flat" cmpd="sng">
            <a:solidFill>
              <a:srgbClr val="9292FB"/>
            </a:solidFill>
            <a:prstDash val="dash"/>
            <a:round/>
            <a:headEnd type="stealth" w="med" len="med"/>
            <a:tailEnd type="stealth" w="med" len="med"/>
          </a:ln>
        </p:spPr>
      </p:cxnSp>
      <p:cxnSp>
        <p:nvCxnSpPr>
          <p:cNvPr id="115" name="Google Shape;277;p5">
            <a:extLst>
              <a:ext uri="{FF2B5EF4-FFF2-40B4-BE49-F238E27FC236}">
                <a16:creationId xmlns:a16="http://schemas.microsoft.com/office/drawing/2014/main" id="{9B29D713-B2D2-91B7-7D79-89BADE596B8E}"/>
              </a:ext>
            </a:extLst>
          </p:cNvPr>
          <p:cNvCxnSpPr>
            <a:cxnSpLocks/>
            <a:stCxn id="93" idx="2"/>
            <a:endCxn id="94" idx="0"/>
          </p:cNvCxnSpPr>
          <p:nvPr/>
        </p:nvCxnSpPr>
        <p:spPr>
          <a:xfrm flipH="1">
            <a:off x="6010540" y="3388618"/>
            <a:ext cx="2" cy="293131"/>
          </a:xfrm>
          <a:prstGeom prst="straightConnector1">
            <a:avLst/>
          </a:prstGeom>
          <a:noFill/>
          <a:ln w="25400" cap="flat" cmpd="sng">
            <a:solidFill>
              <a:srgbClr val="9292FB"/>
            </a:solidFill>
            <a:prstDash val="dash"/>
            <a:round/>
            <a:headEnd type="stealth" w="med" len="med"/>
            <a:tailEnd type="stealth" w="med" len="med"/>
          </a:ln>
        </p:spPr>
      </p:cxnSp>
      <p:sp>
        <p:nvSpPr>
          <p:cNvPr id="116" name="Google Shape;278;p5">
            <a:extLst>
              <a:ext uri="{FF2B5EF4-FFF2-40B4-BE49-F238E27FC236}">
                <a16:creationId xmlns:a16="http://schemas.microsoft.com/office/drawing/2014/main" id="{F90D86BE-D340-7DEE-7737-23D11771FE95}"/>
              </a:ext>
            </a:extLst>
          </p:cNvPr>
          <p:cNvSpPr txBox="1"/>
          <p:nvPr/>
        </p:nvSpPr>
        <p:spPr>
          <a:xfrm>
            <a:off x="5222383" y="3401965"/>
            <a:ext cx="1595537" cy="19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9292FB"/>
                </a:solidFill>
                <a:latin typeface="Arial"/>
                <a:ea typeface="Arial"/>
                <a:cs typeface="Arial"/>
                <a:sym typeface="Arial"/>
              </a:rPr>
              <a:t>Страницы   протокола </a:t>
            </a:r>
            <a:endParaRPr sz="900" dirty="0">
              <a:solidFill>
                <a:srgbClr val="9292FB"/>
              </a:solidFill>
            </a:endParaRPr>
          </a:p>
        </p:txBody>
      </p:sp>
      <p:sp>
        <p:nvSpPr>
          <p:cNvPr id="117" name="Google Shape;279;p5">
            <a:extLst>
              <a:ext uri="{FF2B5EF4-FFF2-40B4-BE49-F238E27FC236}">
                <a16:creationId xmlns:a16="http://schemas.microsoft.com/office/drawing/2014/main" id="{F38941F9-E980-B3E1-731A-BF73D93DAADB}"/>
              </a:ext>
            </a:extLst>
          </p:cNvPr>
          <p:cNvSpPr txBox="1"/>
          <p:nvPr/>
        </p:nvSpPr>
        <p:spPr>
          <a:xfrm>
            <a:off x="3129855" y="2440092"/>
            <a:ext cx="3562188" cy="12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prstTxWarp prst="textArchDown">
              <a:avLst>
                <a:gd name="adj" fmla="val 21446386"/>
              </a:avLst>
            </a:prstTxWarp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9292FB"/>
                </a:solidFill>
                <a:latin typeface="Arial"/>
                <a:ea typeface="Arial"/>
                <a:cs typeface="Arial"/>
                <a:sym typeface="Arial"/>
              </a:rPr>
              <a:t>Данные, индексы, метаданные</a:t>
            </a:r>
            <a:endParaRPr sz="900" dirty="0">
              <a:solidFill>
                <a:srgbClr val="9292FB"/>
              </a:solidFill>
            </a:endParaRPr>
          </a:p>
        </p:txBody>
      </p:sp>
      <p:sp>
        <p:nvSpPr>
          <p:cNvPr id="118" name="Google Shape;280;p5">
            <a:extLst>
              <a:ext uri="{FF2B5EF4-FFF2-40B4-BE49-F238E27FC236}">
                <a16:creationId xmlns:a16="http://schemas.microsoft.com/office/drawing/2014/main" id="{FF742F5D-2ADC-3118-2928-80D3C5D019CF}"/>
              </a:ext>
            </a:extLst>
          </p:cNvPr>
          <p:cNvSpPr txBox="1"/>
          <p:nvPr/>
        </p:nvSpPr>
        <p:spPr>
          <a:xfrm rot="1856832">
            <a:off x="2510403" y="2258178"/>
            <a:ext cx="1413742" cy="36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9292FB"/>
                </a:solidFill>
                <a:latin typeface="Arial"/>
                <a:ea typeface="Arial"/>
                <a:cs typeface="Arial"/>
                <a:sym typeface="Arial"/>
              </a:rPr>
              <a:t>Метаданные, статистика</a:t>
            </a:r>
            <a:endParaRPr sz="1100" dirty="0">
              <a:solidFill>
                <a:srgbClr val="9292FB"/>
              </a:solidFill>
            </a:endParaRPr>
          </a:p>
        </p:txBody>
      </p:sp>
      <p:sp>
        <p:nvSpPr>
          <p:cNvPr id="119" name="Google Shape;281;p5">
            <a:extLst>
              <a:ext uri="{FF2B5EF4-FFF2-40B4-BE49-F238E27FC236}">
                <a16:creationId xmlns:a16="http://schemas.microsoft.com/office/drawing/2014/main" id="{7F48EAA8-5DF0-A97C-A681-97AB8DCFE383}"/>
              </a:ext>
            </a:extLst>
          </p:cNvPr>
          <p:cNvSpPr txBox="1"/>
          <p:nvPr/>
        </p:nvSpPr>
        <p:spPr>
          <a:xfrm>
            <a:off x="813211" y="1621705"/>
            <a:ext cx="805031" cy="241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Запросы</a:t>
            </a:r>
            <a:endParaRPr sz="1050" dirty="0"/>
          </a:p>
        </p:txBody>
      </p:sp>
      <p:sp>
        <p:nvSpPr>
          <p:cNvPr id="120" name="Google Shape;282;p5">
            <a:extLst>
              <a:ext uri="{FF2B5EF4-FFF2-40B4-BE49-F238E27FC236}">
                <a16:creationId xmlns:a16="http://schemas.microsoft.com/office/drawing/2014/main" id="{C5A6E743-96C6-489C-F46A-839D5C27AB2C}"/>
              </a:ext>
            </a:extLst>
          </p:cNvPr>
          <p:cNvSpPr txBox="1"/>
          <p:nvPr/>
        </p:nvSpPr>
        <p:spPr>
          <a:xfrm>
            <a:off x="1104144" y="2294340"/>
            <a:ext cx="1136614" cy="29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t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План запроса</a:t>
            </a:r>
            <a:endParaRPr sz="1200" dirty="0"/>
          </a:p>
        </p:txBody>
      </p:sp>
      <p:sp>
        <p:nvSpPr>
          <p:cNvPr id="121" name="Google Shape;283;p5">
            <a:extLst>
              <a:ext uri="{FF2B5EF4-FFF2-40B4-BE49-F238E27FC236}">
                <a16:creationId xmlns:a16="http://schemas.microsoft.com/office/drawing/2014/main" id="{4B488E6F-D62F-E026-8919-2F02E1A724A5}"/>
              </a:ext>
            </a:extLst>
          </p:cNvPr>
          <p:cNvSpPr txBox="1"/>
          <p:nvPr/>
        </p:nvSpPr>
        <p:spPr>
          <a:xfrm>
            <a:off x="266067" y="2822942"/>
            <a:ext cx="2252393" cy="18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Запросы индексов,  файлов, записей</a:t>
            </a:r>
            <a:endParaRPr sz="800" dirty="0"/>
          </a:p>
        </p:txBody>
      </p:sp>
      <p:sp>
        <p:nvSpPr>
          <p:cNvPr id="122" name="Google Shape;284;p5">
            <a:extLst>
              <a:ext uri="{FF2B5EF4-FFF2-40B4-BE49-F238E27FC236}">
                <a16:creationId xmlns:a16="http://schemas.microsoft.com/office/drawing/2014/main" id="{861906BE-1D56-4DB5-6A62-61AD4A98DF62}"/>
              </a:ext>
            </a:extLst>
          </p:cNvPr>
          <p:cNvSpPr txBox="1"/>
          <p:nvPr/>
        </p:nvSpPr>
        <p:spPr>
          <a:xfrm>
            <a:off x="507165" y="3375270"/>
            <a:ext cx="1754209" cy="21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Страничные  команды</a:t>
            </a:r>
            <a:endParaRPr sz="1050" dirty="0"/>
          </a:p>
        </p:txBody>
      </p:sp>
      <p:sp>
        <p:nvSpPr>
          <p:cNvPr id="123" name="Google Shape;285;p5">
            <a:extLst>
              <a:ext uri="{FF2B5EF4-FFF2-40B4-BE49-F238E27FC236}">
                <a16:creationId xmlns:a16="http://schemas.microsoft.com/office/drawing/2014/main" id="{D07BD30A-AF81-20B5-5539-D4796B275D89}"/>
              </a:ext>
            </a:extLst>
          </p:cNvPr>
          <p:cNvSpPr txBox="1"/>
          <p:nvPr/>
        </p:nvSpPr>
        <p:spPr>
          <a:xfrm>
            <a:off x="3294952" y="1574919"/>
            <a:ext cx="1387048" cy="237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Команды </a:t>
            </a:r>
            <a:r>
              <a:rPr lang="en-US" sz="11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1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DDL</a:t>
            </a:r>
            <a:endParaRPr sz="1100" b="1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262;p5">
            <a:extLst>
              <a:ext uri="{FF2B5EF4-FFF2-40B4-BE49-F238E27FC236}">
                <a16:creationId xmlns:a16="http://schemas.microsoft.com/office/drawing/2014/main" id="{B83ED1CA-895A-0E82-D5C7-D94B80265E64}"/>
              </a:ext>
            </a:extLst>
          </p:cNvPr>
          <p:cNvCxnSpPr>
            <a:cxnSpLocks/>
            <a:stCxn id="90" idx="2"/>
            <a:endCxn id="91" idx="0"/>
          </p:cNvCxnSpPr>
          <p:nvPr/>
        </p:nvCxnSpPr>
        <p:spPr>
          <a:xfrm flipH="1">
            <a:off x="1618242" y="3870535"/>
            <a:ext cx="2" cy="26849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125" name="Google Shape;287;p5">
            <a:extLst>
              <a:ext uri="{FF2B5EF4-FFF2-40B4-BE49-F238E27FC236}">
                <a16:creationId xmlns:a16="http://schemas.microsoft.com/office/drawing/2014/main" id="{8B9F1744-6529-7EEE-C9D9-D474828E6240}"/>
              </a:ext>
            </a:extLst>
          </p:cNvPr>
          <p:cNvSpPr txBox="1"/>
          <p:nvPr/>
        </p:nvSpPr>
        <p:spPr>
          <a:xfrm>
            <a:off x="684780" y="3899968"/>
            <a:ext cx="146874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Чтение/запись страниц</a:t>
            </a:r>
            <a:endParaRPr sz="900" dirty="0"/>
          </a:p>
        </p:txBody>
      </p:sp>
      <p:sp>
        <p:nvSpPr>
          <p:cNvPr id="126" name="Google Shape;288;p5">
            <a:extLst>
              <a:ext uri="{FF2B5EF4-FFF2-40B4-BE49-F238E27FC236}">
                <a16:creationId xmlns:a16="http://schemas.microsoft.com/office/drawing/2014/main" id="{4672CB10-FD40-5148-6AC6-7BAEEF6AE5F9}"/>
              </a:ext>
            </a:extLst>
          </p:cNvPr>
          <p:cNvSpPr txBox="1"/>
          <p:nvPr/>
        </p:nvSpPr>
        <p:spPr>
          <a:xfrm>
            <a:off x="6353283" y="1607767"/>
            <a:ext cx="2032476" cy="237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" rIns="0" bIns="18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Команды транзакций</a:t>
            </a:r>
            <a:endParaRPr sz="1100" dirty="0"/>
          </a:p>
        </p:txBody>
      </p:sp>
      <p:cxnSp>
        <p:nvCxnSpPr>
          <p:cNvPr id="233" name="Google Shape;260;p5">
            <a:extLst>
              <a:ext uri="{FF2B5EF4-FFF2-40B4-BE49-F238E27FC236}">
                <a16:creationId xmlns:a16="http://schemas.microsoft.com/office/drawing/2014/main" id="{5DCE5014-8A73-C5F9-9B7A-200D603F05EE}"/>
              </a:ext>
            </a:extLst>
          </p:cNvPr>
          <p:cNvCxnSpPr>
            <a:cxnSpLocks/>
            <a:stCxn id="88" idx="3"/>
            <a:endCxn id="96" idx="1"/>
          </p:cNvCxnSpPr>
          <p:nvPr/>
        </p:nvCxnSpPr>
        <p:spPr>
          <a:xfrm>
            <a:off x="2718485" y="2659252"/>
            <a:ext cx="2417782" cy="527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257" name="Google Shape;260;p5">
            <a:extLst>
              <a:ext uri="{FF2B5EF4-FFF2-40B4-BE49-F238E27FC236}">
                <a16:creationId xmlns:a16="http://schemas.microsoft.com/office/drawing/2014/main" id="{5B83628C-ED9F-563F-17B2-E0BE11676121}"/>
              </a:ext>
            </a:extLst>
          </p:cNvPr>
          <p:cNvCxnSpPr>
            <a:cxnSpLocks/>
            <a:stCxn id="88" idx="3"/>
            <a:endCxn id="93" idx="1"/>
          </p:cNvCxnSpPr>
          <p:nvPr/>
        </p:nvCxnSpPr>
        <p:spPr>
          <a:xfrm>
            <a:off x="2718485" y="2659252"/>
            <a:ext cx="2417782" cy="55767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299" name="Google Shape;260;p5">
            <a:extLst>
              <a:ext uri="{FF2B5EF4-FFF2-40B4-BE49-F238E27FC236}">
                <a16:creationId xmlns:a16="http://schemas.microsoft.com/office/drawing/2014/main" id="{5F4EA652-BCAA-63C9-E653-012156AD3290}"/>
              </a:ext>
            </a:extLst>
          </p:cNvPr>
          <p:cNvCxnSpPr>
            <a:cxnSpLocks/>
            <a:stCxn id="90" idx="3"/>
            <a:endCxn id="94" idx="1"/>
          </p:cNvCxnSpPr>
          <p:nvPr/>
        </p:nvCxnSpPr>
        <p:spPr>
          <a:xfrm>
            <a:off x="2729323" y="3761426"/>
            <a:ext cx="2406944" cy="29433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522" name="Google Shape;258;p5">
            <a:extLst>
              <a:ext uri="{FF2B5EF4-FFF2-40B4-BE49-F238E27FC236}">
                <a16:creationId xmlns:a16="http://schemas.microsoft.com/office/drawing/2014/main" id="{91E05DD6-CDB4-12F0-0C6B-B5F894F5CD7C}"/>
              </a:ext>
            </a:extLst>
          </p:cNvPr>
          <p:cNvCxnSpPr>
            <a:cxnSpLocks/>
            <a:stCxn id="86" idx="2"/>
            <a:endCxn id="95" idx="0"/>
          </p:cNvCxnSpPr>
          <p:nvPr/>
        </p:nvCxnSpPr>
        <p:spPr>
          <a:xfrm>
            <a:off x="4160343" y="1597423"/>
            <a:ext cx="1" cy="38765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4C87DA-7B50-7B31-670F-E71C59D8E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31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A99BA0-D8AB-FA71-7329-13860E4409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cap="all" dirty="0"/>
              <a:t>Этапы обработки запроса</a:t>
            </a:r>
          </a:p>
          <a:p>
            <a:endParaRPr lang="en-US" cap="all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39F410D-D3D8-AC91-36D7-0186C1F4015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801811"/>
            <a:ext cx="4321175" cy="2570163"/>
          </a:xfrm>
        </p:spPr>
        <p:txBody>
          <a:bodyPr>
            <a:normAutofit/>
          </a:bodyPr>
          <a:lstStyle/>
          <a:p>
            <a:pPr marL="180975" indent="-180975">
              <a:buBlip>
                <a:blip r:embed="rId2"/>
              </a:buBlip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Лексический анализ</a:t>
            </a:r>
            <a:b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</a:b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Преобразует запрос во внутреннюю древовидную структуру.</a:t>
            </a:r>
          </a:p>
          <a:p>
            <a:pPr marL="180975" indent="-180975">
              <a:buBlip>
                <a:blip r:embed="rId2"/>
              </a:buBlip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Семантический анализ</a:t>
            </a:r>
            <a:b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</a:b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преобразование дерева, построенного ЛА, в дерево алгебраических операций</a:t>
            </a:r>
          </a:p>
          <a:p>
            <a:pPr marL="180975" indent="-180975">
              <a:buBlip>
                <a:blip r:embed="rId2"/>
              </a:buBlip>
              <a:defRPr/>
            </a:pPr>
            <a:r>
              <a:rPr kumimoji="0" lang="ru-RU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Оптимиза</a:t>
            </a:r>
            <a:r>
              <a:rPr lang="ru-RU" sz="1400" b="1" dirty="0" err="1">
                <a:solidFill>
                  <a:prstClr val="black"/>
                </a:solidFill>
              </a:rPr>
              <a:t>ция</a:t>
            </a:r>
            <a:br>
              <a:rPr lang="ru-RU" sz="1400" dirty="0">
                <a:solidFill>
                  <a:prstClr val="black"/>
                </a:solidFill>
              </a:rPr>
            </a:b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Преобразует запрос в наиболее эффективную последовательность фактических операций над данными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ACFECF-1CB6-C5B3-AE60-17463AA75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3"/>
            <a:ext cx="3933130" cy="2570162"/>
          </a:xfrm>
        </p:spPr>
        <p:txBody>
          <a:bodyPr>
            <a:normAutofit/>
          </a:bodyPr>
          <a:lstStyle/>
          <a:p>
            <a:r>
              <a:rPr lang="ru-RU" sz="1200" b="1" dirty="0"/>
              <a:t>DDL</a:t>
            </a:r>
            <a:br>
              <a:rPr lang="ru-RU" sz="1200" b="1" dirty="0"/>
            </a:br>
            <a:r>
              <a:rPr lang="ru-RU" sz="1200" dirty="0"/>
              <a:t>Команды DDL обрабатываются лексическим анализатором и передаются исполняющей машине, которая используя менеджер ресурсов изменяет метаданные (информацию описывающую структуру базы данных) </a:t>
            </a:r>
          </a:p>
          <a:p>
            <a:r>
              <a:rPr lang="en-US" sz="1200" b="1" dirty="0"/>
              <a:t>DML</a:t>
            </a:r>
            <a:br>
              <a:rPr lang="ru-RU" sz="1200" dirty="0"/>
            </a:br>
            <a:r>
              <a:rPr lang="ru-RU" sz="1200" dirty="0"/>
              <a:t>Запрос компилируется во внутренний формат системы – план запроса. Часто инструкции плана запроса представляют собой реализацию операций «реляционной алгебры».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ABB427-CC36-1907-C9D2-E2825CF97D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Компиляторы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D1547E-C196-F987-4997-27EDF7EA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Компоненты СУБД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147B0F-32E9-AB54-959B-9329F9A5A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323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ACFECF-1CB6-C5B3-AE60-17463AA75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6"/>
            <a:ext cx="8541643" cy="2952750"/>
          </a:xfrm>
        </p:spPr>
        <p:txBody>
          <a:bodyPr>
            <a:normAutofit/>
          </a:bodyPr>
          <a:lstStyle/>
          <a:p>
            <a:r>
              <a:rPr lang="ru-RU" b="1" dirty="0"/>
              <a:t>Исполняющая машина. </a:t>
            </a:r>
            <a:br>
              <a:rPr lang="ru-RU" b="1" dirty="0"/>
            </a:br>
            <a:r>
              <a:rPr lang="ru-RU" dirty="0"/>
              <a:t>Направляет группу запросов на получение небольших порций(строк таблицы) </a:t>
            </a:r>
            <a:r>
              <a:rPr lang="ru-RU" i="1" dirty="0">
                <a:solidFill>
                  <a:srgbClr val="0070C0"/>
                </a:solidFill>
              </a:rPr>
              <a:t>менеджеру ресурсов</a:t>
            </a:r>
            <a:r>
              <a:rPr lang="ru-RU" dirty="0"/>
              <a:t>, который «знает» в каких файлах содержатся данные таблицы (формат, размер записи, структура индексов). Взаимодействует с большинством других компонентов. </a:t>
            </a:r>
            <a:r>
              <a:rPr lang="ru-RU" b="1" dirty="0"/>
              <a:t>Интерпретатор* </a:t>
            </a:r>
          </a:p>
          <a:p>
            <a:r>
              <a:rPr lang="ru-RU" dirty="0"/>
              <a:t>Запросы на получение данных транслируются в адреса страниц и пересылаются </a:t>
            </a:r>
            <a:r>
              <a:rPr lang="ru-RU" i="1" dirty="0">
                <a:solidFill>
                  <a:srgbClr val="0070C0"/>
                </a:solidFill>
              </a:rPr>
              <a:t>менеджеру буферов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D1547E-C196-F987-4997-27EDF7EA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Компоненты СУБД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807C7A-6AFD-539F-7533-792E73162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024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ACFECF-1CB6-C5B3-AE60-17463AA75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6"/>
            <a:ext cx="8541643" cy="2952750"/>
          </a:xfrm>
        </p:spPr>
        <p:txBody>
          <a:bodyPr>
            <a:normAutofit fontScale="62500" lnSpcReduction="20000"/>
          </a:bodyPr>
          <a:lstStyle/>
          <a:p>
            <a:pPr marL="182563" indent="-182563"/>
            <a:r>
              <a:rPr lang="ru-RU" b="1" dirty="0"/>
              <a:t>Менеджер буферов</a:t>
            </a:r>
            <a:r>
              <a:rPr lang="ru-RU" dirty="0"/>
              <a:t> отвечает за разбиение ОП на буферы – участки-страницы, куда помещается содержимое дисковых блоков</a:t>
            </a:r>
          </a:p>
          <a:p>
            <a:pPr marL="182563" indent="0">
              <a:buNone/>
            </a:pPr>
            <a:r>
              <a:rPr lang="ru-RU" dirty="0"/>
              <a:t>Все компоненты СУБД обращаются к данным через буфера и </a:t>
            </a:r>
            <a:r>
              <a:rPr lang="ru-RU" i="1" dirty="0"/>
              <a:t>менеджер буферов</a:t>
            </a:r>
            <a:r>
              <a:rPr lang="ru-RU" dirty="0"/>
              <a:t> или через </a:t>
            </a:r>
            <a:r>
              <a:rPr lang="ru-RU" i="1" dirty="0"/>
              <a:t>исполняющую машину</a:t>
            </a:r>
          </a:p>
          <a:p>
            <a:pPr marL="182563" indent="0">
              <a:buNone/>
            </a:pPr>
            <a:r>
              <a:rPr lang="ru-RU" dirty="0"/>
              <a:t>Данные могут быть следующих категорий:</a:t>
            </a:r>
          </a:p>
          <a:p>
            <a:pPr marL="582613" lvl="1" indent="-182563"/>
            <a:r>
              <a:rPr lang="ru-RU" dirty="0"/>
              <a:t>Собственно </a:t>
            </a:r>
            <a:r>
              <a:rPr lang="ru-RU" b="1" dirty="0"/>
              <a:t>данные</a:t>
            </a:r>
            <a:r>
              <a:rPr lang="ru-RU" dirty="0"/>
              <a:t> – содержимое БД</a:t>
            </a:r>
          </a:p>
          <a:p>
            <a:pPr marL="582613" lvl="1" indent="-182563"/>
            <a:r>
              <a:rPr lang="ru-RU" b="1" dirty="0"/>
              <a:t>Метаданные</a:t>
            </a:r>
            <a:r>
              <a:rPr lang="ru-RU" dirty="0"/>
              <a:t> – описание логической структуры БД (схема БД)</a:t>
            </a:r>
          </a:p>
          <a:p>
            <a:pPr marL="582613" lvl="1" indent="-182563"/>
            <a:r>
              <a:rPr lang="ru-RU" b="1" dirty="0"/>
              <a:t>Статистика</a:t>
            </a:r>
            <a:r>
              <a:rPr lang="ru-RU" dirty="0"/>
              <a:t> – информация о свойствах данных (размер отношения, сведения о значениях в колонках и т.д.)</a:t>
            </a:r>
          </a:p>
          <a:p>
            <a:pPr marL="582613" lvl="1" indent="-182563"/>
            <a:r>
              <a:rPr lang="ru-RU" b="1" dirty="0"/>
              <a:t>Индексы</a:t>
            </a:r>
            <a:r>
              <a:rPr lang="ru-RU" dirty="0"/>
              <a:t> – структуры, повышающие скорость доступа к данным</a:t>
            </a:r>
          </a:p>
          <a:p>
            <a:pPr marL="182563" indent="0">
              <a:buNone/>
            </a:pPr>
            <a:r>
              <a:rPr lang="ru-RU" dirty="0"/>
              <a:t>Для получения данных с диска менеджер буферов обращается к </a:t>
            </a:r>
            <a:r>
              <a:rPr lang="ru-RU" i="1" dirty="0"/>
              <a:t>менеджеру хранения данных</a:t>
            </a:r>
            <a:r>
              <a:rPr lang="ru-RU" dirty="0"/>
              <a:t>, который может вызывать функции ФС или работать напрямую с дисковым контроллером </a:t>
            </a:r>
          </a:p>
          <a:p>
            <a:pPr marL="182563" indent="-182563"/>
            <a:r>
              <a:rPr lang="ru-RU" b="1" dirty="0"/>
              <a:t>Менеджер хранения данных</a:t>
            </a:r>
            <a:r>
              <a:rPr lang="ru-RU" dirty="0"/>
              <a:t> (</a:t>
            </a:r>
            <a:r>
              <a:rPr lang="ru-RU" dirty="0" err="1"/>
              <a:t>storage</a:t>
            </a:r>
            <a:r>
              <a:rPr lang="ru-RU" dirty="0"/>
              <a:t> </a:t>
            </a:r>
            <a:r>
              <a:rPr lang="ru-RU" dirty="0" err="1"/>
              <a:t>manager</a:t>
            </a:r>
            <a:r>
              <a:rPr lang="ru-RU" dirty="0"/>
              <a:t>) управляет размещением данных на дисках (вторичной памяти) и реализует обмен между диском и оперативной памятью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D1547E-C196-F987-4997-27EDF7EA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Компоненты СУБД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9ABF64-12BA-87B8-0CB2-703E30AC3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580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ACFECF-1CB6-C5B3-AE60-17463AA75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6"/>
            <a:ext cx="8541643" cy="2952750"/>
          </a:xfrm>
        </p:spPr>
        <p:txBody>
          <a:bodyPr>
            <a:normAutofit fontScale="77500" lnSpcReduction="20000"/>
          </a:bodyPr>
          <a:lstStyle/>
          <a:p>
            <a:pPr marL="182563" indent="-182563"/>
            <a:r>
              <a:rPr lang="ru-RU" b="1" dirty="0"/>
              <a:t>Менеджер транзакций </a:t>
            </a:r>
            <a:r>
              <a:rPr lang="ru-RU" dirty="0"/>
              <a:t>(МТ). </a:t>
            </a:r>
          </a:p>
          <a:p>
            <a:pPr marL="182563" indent="0">
              <a:buNone/>
            </a:pPr>
            <a:r>
              <a:rPr lang="ru-RU" dirty="0"/>
              <a:t>Запросы и другие команды группируются в транзакции</a:t>
            </a:r>
          </a:p>
          <a:p>
            <a:pPr marL="182563" indent="0">
              <a:buNone/>
            </a:pPr>
            <a:r>
              <a:rPr lang="ru-RU" dirty="0"/>
              <a:t>МТ реализует выполнение транзакций так, чтобы они выполнялись </a:t>
            </a:r>
          </a:p>
          <a:p>
            <a:pPr marL="582613" lvl="1" indent="-182563"/>
            <a:r>
              <a:rPr lang="ru-RU" dirty="0"/>
              <a:t>атомарным образом </a:t>
            </a:r>
          </a:p>
          <a:p>
            <a:pPr marL="582613" lvl="1" indent="-182563"/>
            <a:r>
              <a:rPr lang="ru-RU" dirty="0"/>
              <a:t>сохраняя целостность БД</a:t>
            </a:r>
          </a:p>
          <a:p>
            <a:pPr marL="582613" lvl="1" indent="-182563"/>
            <a:r>
              <a:rPr lang="ru-RU" dirty="0"/>
              <a:t>изолировано</a:t>
            </a:r>
          </a:p>
          <a:p>
            <a:pPr marL="582613" lvl="1" indent="-182563"/>
            <a:r>
              <a:rPr lang="ru-RU" dirty="0"/>
              <a:t>обладая свойством устойчивости. </a:t>
            </a:r>
          </a:p>
          <a:p>
            <a:pPr marL="182563" indent="0">
              <a:buNone/>
            </a:pPr>
            <a:r>
              <a:rPr lang="ru-RU" dirty="0"/>
              <a:t>МТ состоит из:</a:t>
            </a:r>
          </a:p>
          <a:p>
            <a:pPr marL="582613" lvl="1" indent="-182563"/>
            <a:r>
              <a:rPr lang="ru-RU" b="1" dirty="0"/>
              <a:t>Планировщика заданий</a:t>
            </a:r>
            <a:r>
              <a:rPr lang="ru-RU" dirty="0"/>
              <a:t>: управление параллельными заданиями</a:t>
            </a:r>
          </a:p>
          <a:p>
            <a:pPr marL="582613" lvl="1" indent="-182563"/>
            <a:r>
              <a:rPr lang="ru-RU" b="1" dirty="0"/>
              <a:t>Менеджера восстановления</a:t>
            </a:r>
            <a:r>
              <a:rPr lang="ru-RU" dirty="0"/>
              <a:t>: протоколирование действий транзакций и восстановление после сбоев</a:t>
            </a:r>
          </a:p>
          <a:p>
            <a:pPr marL="182563" indent="0">
              <a:buNone/>
            </a:pPr>
            <a:r>
              <a:rPr lang="ru-RU" dirty="0"/>
              <a:t>МТ разрешает проблемы взаимных блокировок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D1547E-C196-F987-4997-27EDF7EA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Компоненты СУБД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B6EADA-76BE-7270-B06E-301374902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97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ACFECF-1CB6-C5B3-AE60-17463AA75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6"/>
            <a:ext cx="8541643" cy="3096740"/>
          </a:xfrm>
        </p:spPr>
        <p:txBody>
          <a:bodyPr>
            <a:normAutofit fontScale="77500" lnSpcReduction="20000"/>
          </a:bodyPr>
          <a:lstStyle/>
          <a:p>
            <a:pPr marL="182563" indent="-182563"/>
            <a:r>
              <a:rPr lang="ru-RU" b="1" dirty="0"/>
              <a:t>Менеджер протоколирования (МП). </a:t>
            </a:r>
          </a:p>
          <a:p>
            <a:pPr marL="182563" indent="0">
              <a:buNone/>
            </a:pPr>
            <a:r>
              <a:rPr lang="ru-RU" dirty="0"/>
              <a:t>Для обеспечения устойчивости (</a:t>
            </a:r>
            <a:r>
              <a:rPr lang="ru-RU" dirty="0" err="1"/>
              <a:t>Durability</a:t>
            </a:r>
            <a:r>
              <a:rPr lang="ru-RU" dirty="0"/>
              <a:t>) транзакций каждое изменение в БД фиксируется в специальном системном журнале (файлах)</a:t>
            </a:r>
          </a:p>
          <a:p>
            <a:pPr marL="182563" indent="0">
              <a:buNone/>
            </a:pPr>
            <a:r>
              <a:rPr lang="ru-RU" dirty="0"/>
              <a:t>Информация протокола сначала сохраняется в буферах. </a:t>
            </a:r>
            <a:br>
              <a:rPr lang="ru-RU" dirty="0"/>
            </a:br>
            <a:r>
              <a:rPr lang="ru-RU" dirty="0"/>
              <a:t>Затем МП, взаимодействуя с </a:t>
            </a:r>
            <a:r>
              <a:rPr lang="ru-RU" i="1" dirty="0">
                <a:solidFill>
                  <a:srgbClr val="0070C0"/>
                </a:solidFill>
              </a:rPr>
              <a:t>менеджером буферов</a:t>
            </a:r>
            <a:r>
              <a:rPr lang="ru-RU" dirty="0"/>
              <a:t>, периодически сбрасывает данные на диск</a:t>
            </a:r>
          </a:p>
          <a:p>
            <a:pPr marL="182563" indent="0">
              <a:buNone/>
            </a:pPr>
            <a:r>
              <a:rPr lang="ru-RU" dirty="0"/>
              <a:t>МП руководствуется одной из нескольких стратегий сохранения информации о транзакции (UNDO, REDO, UNDO/REDO) для исключения вредных последствий сбоев системы. </a:t>
            </a:r>
          </a:p>
          <a:p>
            <a:pPr marL="182563" indent="-182563"/>
            <a:r>
              <a:rPr lang="ru-RU" b="1" dirty="0"/>
              <a:t>Менеджер восстановления (МВ). </a:t>
            </a:r>
          </a:p>
          <a:p>
            <a:pPr marL="182563" indent="0">
              <a:buNone/>
            </a:pPr>
            <a:r>
              <a:rPr lang="ru-RU" dirty="0"/>
              <a:t>МВ в случае сбоев системы способен считать протокол изменений в системном журнале и привести базу данных в некоторое целостное состояние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D1547E-C196-F987-4997-27EDF7EA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Компоненты СУБД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700777-C988-46B6-5F43-705C78A0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184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ACFECF-1CB6-C5B3-AE60-17463AA75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6"/>
            <a:ext cx="8541643" cy="3096740"/>
          </a:xfrm>
        </p:spPr>
        <p:txBody>
          <a:bodyPr>
            <a:normAutofit fontScale="85000" lnSpcReduction="20000"/>
          </a:bodyPr>
          <a:lstStyle/>
          <a:p>
            <a:pPr marL="182563" indent="-182563"/>
            <a:r>
              <a:rPr lang="ru-RU" b="1" dirty="0"/>
              <a:t>Планировщик заданий</a:t>
            </a:r>
          </a:p>
          <a:p>
            <a:pPr marL="182563" indent="0">
              <a:buNone/>
            </a:pPr>
            <a:r>
              <a:rPr lang="ru-RU" dirty="0"/>
              <a:t>Транзакции обязаны выполняться в строгой изоляции друг от друга</a:t>
            </a:r>
          </a:p>
          <a:p>
            <a:pPr marL="182563" indent="0">
              <a:buNone/>
            </a:pPr>
            <a:r>
              <a:rPr lang="ru-RU" dirty="0"/>
              <a:t>В реальных системах могут действовать несколько процессов-транзакций одновременно</a:t>
            </a:r>
          </a:p>
          <a:p>
            <a:pPr marL="182563" indent="0">
              <a:buNone/>
            </a:pPr>
            <a:r>
              <a:rPr lang="ru-RU" dirty="0"/>
              <a:t>Планировщик заданий устанавливает блокировки на соответствующие фрагменты БД, которые предотвращают конфликты доступа к данным из нескольких транзакций</a:t>
            </a:r>
          </a:p>
          <a:p>
            <a:pPr marL="182563" indent="0">
              <a:buNone/>
            </a:pPr>
            <a:r>
              <a:rPr lang="ru-RU" dirty="0"/>
              <a:t>Признаки блокировки хранятся в таблице блокировок</a:t>
            </a:r>
          </a:p>
          <a:p>
            <a:pPr marL="182563" indent="-182563"/>
            <a:r>
              <a:rPr lang="ru-RU" dirty="0"/>
              <a:t>Разрешение взаимных блокировок</a:t>
            </a:r>
          </a:p>
          <a:p>
            <a:pPr marL="182563" indent="0">
              <a:buNone/>
            </a:pPr>
            <a:r>
              <a:rPr lang="ru-RU" dirty="0"/>
              <a:t>МТ обязан разрешать проблемы взаимных блокировок. </a:t>
            </a:r>
            <a:br>
              <a:rPr lang="ru-RU" dirty="0"/>
            </a:br>
            <a:r>
              <a:rPr lang="ru-RU" dirty="0"/>
              <a:t>Теоретически известны как минимум 3 способа разрешения проблемы DEALOCK</a:t>
            </a:r>
          </a:p>
          <a:p>
            <a:pPr marL="182563" indent="-182563"/>
            <a:endParaRPr lang="ru-R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D1547E-C196-F987-4997-27EDF7EA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Компоненты СУБД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F699C8-DF1A-8968-4F45-C0B103596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287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27A3EF-A51A-7C9D-041E-018BC06817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66CED-FB09-A6F3-184D-2979DCA41E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F8C5B2-A9B7-367C-B936-B2D733B2C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Подход баз данных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3460913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4CBD86-5AE6-EC2A-2F58-2AB77085B3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dirty="0"/>
              <a:t>Каталог баз</a:t>
            </a:r>
            <a:r>
              <a:rPr lang="ru-RU" dirty="0"/>
              <a:t> содержит описание конкретных баз данных (структур данных, типов и ограничений целостности и т.д.)</a:t>
            </a:r>
          </a:p>
          <a:p>
            <a:r>
              <a:rPr lang="ru-RU" dirty="0"/>
              <a:t>Описание называется </a:t>
            </a:r>
            <a:r>
              <a:rPr lang="ru-RU" b="1" dirty="0"/>
              <a:t>метаданными</a:t>
            </a:r>
            <a:r>
              <a:rPr lang="ru-RU" dirty="0"/>
              <a:t> или </a:t>
            </a:r>
            <a:r>
              <a:rPr lang="ru-RU" b="1" dirty="0"/>
              <a:t>словарем базы данных</a:t>
            </a:r>
          </a:p>
          <a:p>
            <a:r>
              <a:rPr lang="ru-RU" dirty="0"/>
              <a:t>Посредством </a:t>
            </a:r>
            <a:r>
              <a:rPr lang="ru-RU" b="1" dirty="0"/>
              <a:t>метаданных</a:t>
            </a:r>
            <a:r>
              <a:rPr lang="ru-RU" dirty="0"/>
              <a:t> СУБД обеспечивает доступ приложений к БД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C2270C-6C83-18EC-7806-7C2D6BFC5E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 err="1"/>
              <a:t>Самоописание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C98BD7-E985-EFB6-D013-D7502127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cap="all" dirty="0"/>
              <a:t>Подход баз данных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DA9B15-50EF-674A-B7E6-99D13770D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05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4CBD86-5AE6-EC2A-2F58-2AB77085B3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Предметная область</a:t>
            </a:r>
          </a:p>
          <a:p>
            <a:pPr lvl="1"/>
            <a:r>
              <a:rPr lang="ru-RU" dirty="0"/>
              <a:t> Часть </a:t>
            </a:r>
            <a:r>
              <a:rPr lang="ru-RU" dirty="0" err="1"/>
              <a:t>УНИВЕРСИТЕТа</a:t>
            </a:r>
            <a:endParaRPr lang="ru-RU" dirty="0"/>
          </a:p>
          <a:p>
            <a:r>
              <a:rPr lang="ru-RU" dirty="0"/>
              <a:t>Некоторые </a:t>
            </a:r>
            <a:r>
              <a:rPr lang="ru-RU" b="1" dirty="0"/>
              <a:t>типы сущностей</a:t>
            </a:r>
            <a:r>
              <a:rPr lang="ru-RU" dirty="0"/>
              <a:t> предметной области:</a:t>
            </a:r>
          </a:p>
          <a:p>
            <a:pPr lvl="1"/>
            <a:r>
              <a:rPr lang="ru-RU" dirty="0"/>
              <a:t>СТУДЕНТЫ</a:t>
            </a:r>
          </a:p>
          <a:p>
            <a:pPr lvl="1"/>
            <a:r>
              <a:rPr lang="ru-RU" dirty="0"/>
              <a:t>КУРСЫ</a:t>
            </a:r>
          </a:p>
          <a:p>
            <a:pPr lvl="1"/>
            <a:r>
              <a:rPr lang="ru-RU" dirty="0"/>
              <a:t>ПРЕПОДАВАТЕЛИ</a:t>
            </a:r>
          </a:p>
          <a:p>
            <a:pPr lvl="1"/>
            <a:r>
              <a:rPr lang="ru-RU" dirty="0"/>
              <a:t>ФАКУЛЬТЕТЫ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C2270C-6C83-18EC-7806-7C2D6BFC5E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Пример БД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C98BD7-E985-EFB6-D013-D7502127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cap="all" dirty="0"/>
              <a:t>Подход баз данных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35A39A-F2FA-9342-AB96-389845A7A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699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4CBD86-5AE6-EC2A-2F58-2AB77085B3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266700" indent="-266700"/>
            <a:r>
              <a:rPr lang="ru-RU" dirty="0"/>
              <a:t>Некоторые </a:t>
            </a:r>
            <a:r>
              <a:rPr lang="ru-RU" b="1" dirty="0"/>
              <a:t>типы связей</a:t>
            </a:r>
            <a:r>
              <a:rPr lang="ru-RU" dirty="0"/>
              <a:t> в предметной области:</a:t>
            </a:r>
          </a:p>
          <a:p>
            <a:pPr lvl="1"/>
            <a:r>
              <a:rPr lang="ru-RU" dirty="0"/>
              <a:t>СТУДЕНТЫ </a:t>
            </a:r>
            <a:r>
              <a:rPr lang="ru-RU" b="1" dirty="0"/>
              <a:t>изучают</a:t>
            </a:r>
            <a:r>
              <a:rPr lang="ru-RU" dirty="0"/>
              <a:t> КУРСЫ</a:t>
            </a:r>
          </a:p>
          <a:p>
            <a:pPr lvl="1"/>
            <a:r>
              <a:rPr lang="ru-RU" dirty="0"/>
              <a:t>ПРЕПОДАВАТЕЛИ </a:t>
            </a:r>
            <a:r>
              <a:rPr lang="ru-RU" b="1" dirty="0"/>
              <a:t>читают</a:t>
            </a:r>
            <a:r>
              <a:rPr lang="ru-RU" dirty="0"/>
              <a:t> КУРСЫ</a:t>
            </a:r>
          </a:p>
          <a:p>
            <a:pPr lvl="1"/>
            <a:r>
              <a:rPr lang="ru-RU" dirty="0"/>
              <a:t>КУРСЫ </a:t>
            </a:r>
            <a:r>
              <a:rPr lang="ru-RU" b="1" dirty="0"/>
              <a:t>требуют</a:t>
            </a:r>
            <a:r>
              <a:rPr lang="ru-RU" dirty="0"/>
              <a:t> предварительные КУРСЫ</a:t>
            </a:r>
          </a:p>
          <a:p>
            <a:pPr lvl="1"/>
            <a:r>
              <a:rPr lang="ru-RU" dirty="0"/>
              <a:t>КУРСЫ </a:t>
            </a:r>
            <a:r>
              <a:rPr lang="ru-RU" b="1" dirty="0"/>
              <a:t>читаются</a:t>
            </a:r>
            <a:r>
              <a:rPr lang="ru-RU" dirty="0"/>
              <a:t> на ФАКУЛЬТЕТАХ</a:t>
            </a:r>
          </a:p>
          <a:p>
            <a:pPr lvl="1"/>
            <a:r>
              <a:rPr lang="ru-RU" dirty="0"/>
              <a:t>СТУДЕНТЫ </a:t>
            </a:r>
            <a:r>
              <a:rPr lang="ru-RU" b="1" dirty="0"/>
              <a:t>обучаются</a:t>
            </a:r>
            <a:r>
              <a:rPr lang="ru-RU" dirty="0"/>
              <a:t> на ФАКУЛЬТЕТАХ</a:t>
            </a:r>
          </a:p>
          <a:p>
            <a:pPr marL="266700" indent="0">
              <a:buNone/>
            </a:pPr>
            <a:r>
              <a:rPr lang="ru-RU" dirty="0"/>
              <a:t>Сущности и связи  проектируются в концептуальной ER-модели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C2270C-6C83-18EC-7806-7C2D6BFC5E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Пример БД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C98BD7-E985-EFB6-D013-D7502127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cap="all" dirty="0"/>
              <a:t>Подход баз данных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DA2505-6381-321E-F72A-401A72FE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315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C2270C-6C83-18EC-7806-7C2D6BFC5E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Построение </a:t>
            </a:r>
            <a:r>
              <a:rPr lang="en-US" cap="all" dirty="0"/>
              <a:t>ER </a:t>
            </a:r>
            <a:r>
              <a:rPr lang="ru-RU" cap="all" dirty="0"/>
              <a:t>модели 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C98BD7-E985-EFB6-D013-D7502127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cap="all" dirty="0"/>
              <a:t>Подход баз данных</a:t>
            </a:r>
            <a:endParaRPr lang="en-US" cap="all" dirty="0"/>
          </a:p>
        </p:txBody>
      </p:sp>
      <p:sp>
        <p:nvSpPr>
          <p:cNvPr id="2" name="Google Shape;388;p16">
            <a:extLst>
              <a:ext uri="{FF2B5EF4-FFF2-40B4-BE49-F238E27FC236}">
                <a16:creationId xmlns:a16="http://schemas.microsoft.com/office/drawing/2014/main" id="{276C85DF-5AC1-A114-617F-6DF759CAF098}"/>
              </a:ext>
            </a:extLst>
          </p:cNvPr>
          <p:cNvSpPr txBox="1"/>
          <p:nvPr/>
        </p:nvSpPr>
        <p:spPr>
          <a:xfrm>
            <a:off x="1658582" y="2282549"/>
            <a:ext cx="1187787" cy="307736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студент</a:t>
            </a:r>
            <a:endParaRPr sz="1050" dirty="0"/>
          </a:p>
        </p:txBody>
      </p:sp>
      <p:sp>
        <p:nvSpPr>
          <p:cNvPr id="3" name="Google Shape;389;p16">
            <a:extLst>
              <a:ext uri="{FF2B5EF4-FFF2-40B4-BE49-F238E27FC236}">
                <a16:creationId xmlns:a16="http://schemas.microsoft.com/office/drawing/2014/main" id="{B9D282DB-C615-E51B-CBCF-F2FE2BAEE812}"/>
              </a:ext>
            </a:extLst>
          </p:cNvPr>
          <p:cNvSpPr txBox="1"/>
          <p:nvPr/>
        </p:nvSpPr>
        <p:spPr>
          <a:xfrm>
            <a:off x="1658582" y="3406988"/>
            <a:ext cx="1187788" cy="307736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курс</a:t>
            </a:r>
            <a:endParaRPr sz="1050" dirty="0"/>
          </a:p>
        </p:txBody>
      </p:sp>
      <p:sp>
        <p:nvSpPr>
          <p:cNvPr id="4" name="Google Shape;390;p16">
            <a:extLst>
              <a:ext uri="{FF2B5EF4-FFF2-40B4-BE49-F238E27FC236}">
                <a16:creationId xmlns:a16="http://schemas.microsoft.com/office/drawing/2014/main" id="{EC6BF0A2-7C97-070A-2471-F1E288E699A2}"/>
              </a:ext>
            </a:extLst>
          </p:cNvPr>
          <p:cNvSpPr txBox="1"/>
          <p:nvPr/>
        </p:nvSpPr>
        <p:spPr>
          <a:xfrm>
            <a:off x="6996042" y="3427052"/>
            <a:ext cx="1326737" cy="3160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преподаватель</a:t>
            </a:r>
            <a:endParaRPr sz="1050"/>
          </a:p>
        </p:txBody>
      </p:sp>
      <p:sp>
        <p:nvSpPr>
          <p:cNvPr id="11" name="Google Shape;394;p16">
            <a:extLst>
              <a:ext uri="{FF2B5EF4-FFF2-40B4-BE49-F238E27FC236}">
                <a16:creationId xmlns:a16="http://schemas.microsoft.com/office/drawing/2014/main" id="{6DCD2971-88BE-132E-A78E-A32A676540E2}"/>
              </a:ext>
            </a:extLst>
          </p:cNvPr>
          <p:cNvSpPr/>
          <p:nvPr/>
        </p:nvSpPr>
        <p:spPr>
          <a:xfrm>
            <a:off x="1658581" y="2740169"/>
            <a:ext cx="1187788" cy="505648"/>
          </a:xfrm>
          <a:prstGeom prst="diamond">
            <a:avLst/>
          </a:prstGeom>
          <a:noFill/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/>
                <a:ea typeface="Arial"/>
                <a:cs typeface="Arial"/>
                <a:sym typeface="Arial"/>
              </a:rPr>
              <a:t>изучает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395;p16">
            <a:extLst>
              <a:ext uri="{FF2B5EF4-FFF2-40B4-BE49-F238E27FC236}">
                <a16:creationId xmlns:a16="http://schemas.microsoft.com/office/drawing/2014/main" id="{2C62C52E-1F0B-9D89-6C0C-2AA5C81DA50D}"/>
              </a:ext>
            </a:extLst>
          </p:cNvPr>
          <p:cNvCxnSpPr>
            <a:cxnSpLocks/>
            <a:stCxn id="11" idx="0"/>
            <a:endCxn id="2" idx="2"/>
          </p:cNvCxnSpPr>
          <p:nvPr/>
        </p:nvCxnSpPr>
        <p:spPr>
          <a:xfrm flipV="1">
            <a:off x="2252475" y="2590285"/>
            <a:ext cx="1" cy="14988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396;p16">
            <a:extLst>
              <a:ext uri="{FF2B5EF4-FFF2-40B4-BE49-F238E27FC236}">
                <a16:creationId xmlns:a16="http://schemas.microsoft.com/office/drawing/2014/main" id="{F30C41EB-D54D-4ED5-BE1E-B4D56EA48081}"/>
              </a:ext>
            </a:extLst>
          </p:cNvPr>
          <p:cNvCxnSpPr>
            <a:cxnSpLocks/>
            <a:stCxn id="11" idx="2"/>
            <a:endCxn id="3" idx="0"/>
          </p:cNvCxnSpPr>
          <p:nvPr/>
        </p:nvCxnSpPr>
        <p:spPr>
          <a:xfrm>
            <a:off x="2252475" y="3245817"/>
            <a:ext cx="1" cy="16117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399;p16">
            <a:extLst>
              <a:ext uri="{FF2B5EF4-FFF2-40B4-BE49-F238E27FC236}">
                <a16:creationId xmlns:a16="http://schemas.microsoft.com/office/drawing/2014/main" id="{CCC5B221-2ED0-F8D1-3264-4D4CC2FBEFF9}"/>
              </a:ext>
            </a:extLst>
          </p:cNvPr>
          <p:cNvSpPr/>
          <p:nvPr/>
        </p:nvSpPr>
        <p:spPr>
          <a:xfrm>
            <a:off x="5352385" y="3326118"/>
            <a:ext cx="1326736" cy="505647"/>
          </a:xfrm>
          <a:prstGeom prst="diamond">
            <a:avLst/>
          </a:prstGeom>
          <a:noFill/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/>
                <a:ea typeface="Arial"/>
                <a:cs typeface="Arial"/>
                <a:sym typeface="Arial"/>
              </a:rPr>
              <a:t>читает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402;p16">
            <a:extLst>
              <a:ext uri="{FF2B5EF4-FFF2-40B4-BE49-F238E27FC236}">
                <a16:creationId xmlns:a16="http://schemas.microsoft.com/office/drawing/2014/main" id="{50440DF1-19CF-33F1-5E69-B405B89EF3A9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>
            <a:off x="6679121" y="3578942"/>
            <a:ext cx="316921" cy="611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403;p16">
            <a:extLst>
              <a:ext uri="{FF2B5EF4-FFF2-40B4-BE49-F238E27FC236}">
                <a16:creationId xmlns:a16="http://schemas.microsoft.com/office/drawing/2014/main" id="{B7D2FA0B-B720-4C45-153C-ED1550A879B2}"/>
              </a:ext>
            </a:extLst>
          </p:cNvPr>
          <p:cNvCxnSpPr>
            <a:cxnSpLocks/>
            <a:stCxn id="16" idx="1"/>
            <a:endCxn id="3" idx="3"/>
          </p:cNvCxnSpPr>
          <p:nvPr/>
        </p:nvCxnSpPr>
        <p:spPr>
          <a:xfrm flipH="1" flipV="1">
            <a:off x="2846370" y="3560856"/>
            <a:ext cx="2506015" cy="1808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405;p16">
            <a:extLst>
              <a:ext uri="{FF2B5EF4-FFF2-40B4-BE49-F238E27FC236}">
                <a16:creationId xmlns:a16="http://schemas.microsoft.com/office/drawing/2014/main" id="{8ACD7067-C495-EDB8-43DF-B50F0B643A79}"/>
              </a:ext>
            </a:extLst>
          </p:cNvPr>
          <p:cNvSpPr/>
          <p:nvPr/>
        </p:nvSpPr>
        <p:spPr>
          <a:xfrm>
            <a:off x="308532" y="2413987"/>
            <a:ext cx="655873" cy="293097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6F6F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latin typeface="Arial"/>
                <a:ea typeface="Arial"/>
                <a:cs typeface="Arial"/>
                <a:sym typeface="Arial"/>
              </a:rPr>
              <a:t>ФИО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407;p16">
            <a:extLst>
              <a:ext uri="{FF2B5EF4-FFF2-40B4-BE49-F238E27FC236}">
                <a16:creationId xmlns:a16="http://schemas.microsoft.com/office/drawing/2014/main" id="{0D4591D1-596F-C8E4-91EC-F75DEF76EA11}"/>
              </a:ext>
            </a:extLst>
          </p:cNvPr>
          <p:cNvCxnSpPr>
            <a:cxnSpLocks/>
            <a:stCxn id="22" idx="3"/>
            <a:endCxn id="2" idx="1"/>
          </p:cNvCxnSpPr>
          <p:nvPr/>
        </p:nvCxnSpPr>
        <p:spPr>
          <a:xfrm flipV="1">
            <a:off x="964405" y="2436417"/>
            <a:ext cx="694177" cy="124119"/>
          </a:xfrm>
          <a:prstGeom prst="straightConnector1">
            <a:avLst/>
          </a:prstGeom>
          <a:noFill/>
          <a:ln w="28575" cap="flat" cmpd="sng">
            <a:solidFill>
              <a:srgbClr val="9292F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410;p16">
            <a:extLst>
              <a:ext uri="{FF2B5EF4-FFF2-40B4-BE49-F238E27FC236}">
                <a16:creationId xmlns:a16="http://schemas.microsoft.com/office/drawing/2014/main" id="{6F526162-B47F-5CD2-A110-4D18CA7FAC11}"/>
              </a:ext>
            </a:extLst>
          </p:cNvPr>
          <p:cNvSpPr/>
          <p:nvPr/>
        </p:nvSpPr>
        <p:spPr>
          <a:xfrm>
            <a:off x="308533" y="2070407"/>
            <a:ext cx="655875" cy="219672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6F6F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latin typeface="Arial"/>
                <a:ea typeface="Arial"/>
                <a:cs typeface="Arial"/>
                <a:sym typeface="Arial"/>
              </a:rPr>
              <a:t>номер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411;p16">
            <a:extLst>
              <a:ext uri="{FF2B5EF4-FFF2-40B4-BE49-F238E27FC236}">
                <a16:creationId xmlns:a16="http://schemas.microsoft.com/office/drawing/2014/main" id="{16413BD8-CBD9-D525-00EA-D4AAC5888992}"/>
              </a:ext>
            </a:extLst>
          </p:cNvPr>
          <p:cNvCxnSpPr>
            <a:cxnSpLocks/>
            <a:stCxn id="27" idx="3"/>
            <a:endCxn id="2" idx="1"/>
          </p:cNvCxnSpPr>
          <p:nvPr/>
        </p:nvCxnSpPr>
        <p:spPr>
          <a:xfrm>
            <a:off x="964408" y="2180243"/>
            <a:ext cx="694174" cy="256174"/>
          </a:xfrm>
          <a:prstGeom prst="straightConnector1">
            <a:avLst/>
          </a:prstGeom>
          <a:noFill/>
          <a:ln w="28575" cap="flat" cmpd="sng">
            <a:solidFill>
              <a:srgbClr val="9292F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" name="Google Shape;414;p16">
            <a:extLst>
              <a:ext uri="{FF2B5EF4-FFF2-40B4-BE49-F238E27FC236}">
                <a16:creationId xmlns:a16="http://schemas.microsoft.com/office/drawing/2014/main" id="{A558B6FF-F832-B57D-98E3-AE03AB207C7C}"/>
              </a:ext>
            </a:extLst>
          </p:cNvPr>
          <p:cNvSpPr/>
          <p:nvPr/>
        </p:nvSpPr>
        <p:spPr>
          <a:xfrm>
            <a:off x="300999" y="3406988"/>
            <a:ext cx="655875" cy="259084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6F6F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latin typeface="Arial"/>
                <a:ea typeface="Arial"/>
                <a:cs typeface="Arial"/>
                <a:sym typeface="Arial"/>
              </a:rPr>
              <a:t>название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415;p16">
            <a:extLst>
              <a:ext uri="{FF2B5EF4-FFF2-40B4-BE49-F238E27FC236}">
                <a16:creationId xmlns:a16="http://schemas.microsoft.com/office/drawing/2014/main" id="{E95F6464-63EF-B4A7-BAB0-740847E3A128}"/>
              </a:ext>
            </a:extLst>
          </p:cNvPr>
          <p:cNvCxnSpPr>
            <a:cxnSpLocks/>
            <a:stCxn id="3" idx="1"/>
            <a:endCxn id="31" idx="3"/>
          </p:cNvCxnSpPr>
          <p:nvPr/>
        </p:nvCxnSpPr>
        <p:spPr>
          <a:xfrm flipH="1" flipV="1">
            <a:off x="956874" y="3536530"/>
            <a:ext cx="701708" cy="24326"/>
          </a:xfrm>
          <a:prstGeom prst="straightConnector1">
            <a:avLst/>
          </a:prstGeom>
          <a:noFill/>
          <a:ln w="28575" cap="flat" cmpd="sng">
            <a:solidFill>
              <a:srgbClr val="9292F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418;p16">
            <a:extLst>
              <a:ext uri="{FF2B5EF4-FFF2-40B4-BE49-F238E27FC236}">
                <a16:creationId xmlns:a16="http://schemas.microsoft.com/office/drawing/2014/main" id="{AB277877-67FF-1939-9444-3FC4BE99D33C}"/>
              </a:ext>
            </a:extLst>
          </p:cNvPr>
          <p:cNvSpPr/>
          <p:nvPr/>
        </p:nvSpPr>
        <p:spPr>
          <a:xfrm>
            <a:off x="308533" y="3840222"/>
            <a:ext cx="655876" cy="242855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6F6F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latin typeface="Arial"/>
                <a:ea typeface="Arial"/>
                <a:cs typeface="Arial"/>
                <a:sym typeface="Arial"/>
              </a:rPr>
              <a:t>номер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419;p16">
            <a:extLst>
              <a:ext uri="{FF2B5EF4-FFF2-40B4-BE49-F238E27FC236}">
                <a16:creationId xmlns:a16="http://schemas.microsoft.com/office/drawing/2014/main" id="{7D8379BA-DDB3-6638-4282-F4723970D1C2}"/>
              </a:ext>
            </a:extLst>
          </p:cNvPr>
          <p:cNvCxnSpPr>
            <a:cxnSpLocks/>
            <a:stCxn id="3" idx="1"/>
            <a:endCxn id="35" idx="3"/>
          </p:cNvCxnSpPr>
          <p:nvPr/>
        </p:nvCxnSpPr>
        <p:spPr>
          <a:xfrm flipH="1">
            <a:off x="964409" y="3560856"/>
            <a:ext cx="694173" cy="400794"/>
          </a:xfrm>
          <a:prstGeom prst="straightConnector1">
            <a:avLst/>
          </a:prstGeom>
          <a:noFill/>
          <a:ln w="28575" cap="flat" cmpd="sng">
            <a:solidFill>
              <a:srgbClr val="9292F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422;p16">
            <a:extLst>
              <a:ext uri="{FF2B5EF4-FFF2-40B4-BE49-F238E27FC236}">
                <a16:creationId xmlns:a16="http://schemas.microsoft.com/office/drawing/2014/main" id="{75A4B39B-27D7-D2F9-2EF8-3714BF67DB88}"/>
              </a:ext>
            </a:extLst>
          </p:cNvPr>
          <p:cNvSpPr/>
          <p:nvPr/>
        </p:nvSpPr>
        <p:spPr>
          <a:xfrm>
            <a:off x="308534" y="4184114"/>
            <a:ext cx="655875" cy="242855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6F6F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 err="1">
                <a:latin typeface="Arial"/>
                <a:ea typeface="Arial"/>
                <a:cs typeface="Arial"/>
                <a:sym typeface="Arial"/>
              </a:rPr>
              <a:t>зачёт.ед</a:t>
            </a:r>
            <a:r>
              <a:rPr lang="ru-RU" sz="105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23;p16">
            <a:extLst>
              <a:ext uri="{FF2B5EF4-FFF2-40B4-BE49-F238E27FC236}">
                <a16:creationId xmlns:a16="http://schemas.microsoft.com/office/drawing/2014/main" id="{EA14269C-6556-47BF-4868-6EAF5753DF39}"/>
              </a:ext>
            </a:extLst>
          </p:cNvPr>
          <p:cNvCxnSpPr>
            <a:cxnSpLocks/>
            <a:stCxn id="3" idx="1"/>
            <a:endCxn id="39" idx="3"/>
          </p:cNvCxnSpPr>
          <p:nvPr/>
        </p:nvCxnSpPr>
        <p:spPr>
          <a:xfrm flipH="1">
            <a:off x="964409" y="3560856"/>
            <a:ext cx="694173" cy="744686"/>
          </a:xfrm>
          <a:prstGeom prst="straightConnector1">
            <a:avLst/>
          </a:prstGeom>
          <a:noFill/>
          <a:ln w="28575" cap="flat" cmpd="sng">
            <a:solidFill>
              <a:srgbClr val="9292F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390;p16">
            <a:extLst>
              <a:ext uri="{FF2B5EF4-FFF2-40B4-BE49-F238E27FC236}">
                <a16:creationId xmlns:a16="http://schemas.microsoft.com/office/drawing/2014/main" id="{901E34EE-2DC0-1477-BD32-EE169F16BA21}"/>
              </a:ext>
            </a:extLst>
          </p:cNvPr>
          <p:cNvSpPr txBox="1"/>
          <p:nvPr/>
        </p:nvSpPr>
        <p:spPr>
          <a:xfrm>
            <a:off x="6996042" y="2255987"/>
            <a:ext cx="1326737" cy="3160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факультет</a:t>
            </a:r>
            <a:endParaRPr sz="1050" dirty="0"/>
          </a:p>
        </p:txBody>
      </p:sp>
      <p:sp>
        <p:nvSpPr>
          <p:cNvPr id="66" name="Google Shape;399;p16">
            <a:extLst>
              <a:ext uri="{FF2B5EF4-FFF2-40B4-BE49-F238E27FC236}">
                <a16:creationId xmlns:a16="http://schemas.microsoft.com/office/drawing/2014/main" id="{165CDA58-65A5-247A-A615-3A7672FBB09D}"/>
              </a:ext>
            </a:extLst>
          </p:cNvPr>
          <p:cNvSpPr/>
          <p:nvPr/>
        </p:nvSpPr>
        <p:spPr>
          <a:xfrm>
            <a:off x="4265493" y="2752263"/>
            <a:ext cx="1312209" cy="505647"/>
          </a:xfrm>
          <a:prstGeom prst="diamond">
            <a:avLst/>
          </a:prstGeom>
          <a:noFill/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/>
                <a:ea typeface="Arial"/>
                <a:cs typeface="Arial"/>
                <a:sym typeface="Arial"/>
              </a:rPr>
              <a:t>читается на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403;p16">
            <a:extLst>
              <a:ext uri="{FF2B5EF4-FFF2-40B4-BE49-F238E27FC236}">
                <a16:creationId xmlns:a16="http://schemas.microsoft.com/office/drawing/2014/main" id="{C35B84AD-8E45-B7D1-175F-D60572187C6A}"/>
              </a:ext>
            </a:extLst>
          </p:cNvPr>
          <p:cNvCxnSpPr>
            <a:cxnSpLocks/>
            <a:stCxn id="66" idx="1"/>
            <a:endCxn id="3" idx="3"/>
          </p:cNvCxnSpPr>
          <p:nvPr/>
        </p:nvCxnSpPr>
        <p:spPr>
          <a:xfrm flipH="1">
            <a:off x="2846370" y="3005087"/>
            <a:ext cx="1419123" cy="55576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403;p16">
            <a:extLst>
              <a:ext uri="{FF2B5EF4-FFF2-40B4-BE49-F238E27FC236}">
                <a16:creationId xmlns:a16="http://schemas.microsoft.com/office/drawing/2014/main" id="{EBE335AF-4BE9-73E0-A3DF-56EB19D681E9}"/>
              </a:ext>
            </a:extLst>
          </p:cNvPr>
          <p:cNvCxnSpPr>
            <a:cxnSpLocks/>
            <a:stCxn id="54" idx="1"/>
            <a:endCxn id="66" idx="3"/>
          </p:cNvCxnSpPr>
          <p:nvPr/>
        </p:nvCxnSpPr>
        <p:spPr>
          <a:xfrm flipH="1">
            <a:off x="5577702" y="2413987"/>
            <a:ext cx="1418340" cy="591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399;p16">
            <a:extLst>
              <a:ext uri="{FF2B5EF4-FFF2-40B4-BE49-F238E27FC236}">
                <a16:creationId xmlns:a16="http://schemas.microsoft.com/office/drawing/2014/main" id="{7C681C74-69C3-17AA-6B53-D9017354891F}"/>
              </a:ext>
            </a:extLst>
          </p:cNvPr>
          <p:cNvSpPr/>
          <p:nvPr/>
        </p:nvSpPr>
        <p:spPr>
          <a:xfrm>
            <a:off x="3178639" y="2178409"/>
            <a:ext cx="1552761" cy="505647"/>
          </a:xfrm>
          <a:prstGeom prst="diamond">
            <a:avLst/>
          </a:prstGeom>
          <a:noFill/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/>
                <a:ea typeface="Arial"/>
                <a:cs typeface="Arial"/>
                <a:sym typeface="Arial"/>
              </a:rPr>
              <a:t>обучается на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403;p16">
            <a:extLst>
              <a:ext uri="{FF2B5EF4-FFF2-40B4-BE49-F238E27FC236}">
                <a16:creationId xmlns:a16="http://schemas.microsoft.com/office/drawing/2014/main" id="{18668D4C-110C-6C4C-4619-61A0AD9890E8}"/>
              </a:ext>
            </a:extLst>
          </p:cNvPr>
          <p:cNvCxnSpPr>
            <a:cxnSpLocks/>
            <a:stCxn id="97" idx="1"/>
            <a:endCxn id="2" idx="3"/>
          </p:cNvCxnSpPr>
          <p:nvPr/>
        </p:nvCxnSpPr>
        <p:spPr>
          <a:xfrm flipH="1">
            <a:off x="2846369" y="2431233"/>
            <a:ext cx="332270" cy="518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" name="Google Shape;403;p16">
            <a:extLst>
              <a:ext uri="{FF2B5EF4-FFF2-40B4-BE49-F238E27FC236}">
                <a16:creationId xmlns:a16="http://schemas.microsoft.com/office/drawing/2014/main" id="{5CC0514B-9BE9-A218-DD3A-4EF7A440B8AC}"/>
              </a:ext>
            </a:extLst>
          </p:cNvPr>
          <p:cNvCxnSpPr>
            <a:cxnSpLocks/>
            <a:stCxn id="54" idx="1"/>
            <a:endCxn id="97" idx="3"/>
          </p:cNvCxnSpPr>
          <p:nvPr/>
        </p:nvCxnSpPr>
        <p:spPr>
          <a:xfrm flipH="1">
            <a:off x="4731400" y="2413987"/>
            <a:ext cx="2264642" cy="1724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" name="Google Shape;394;p16">
            <a:extLst>
              <a:ext uri="{FF2B5EF4-FFF2-40B4-BE49-F238E27FC236}">
                <a16:creationId xmlns:a16="http://schemas.microsoft.com/office/drawing/2014/main" id="{15D113B7-C0F6-D113-9439-C2DCEC9C6BF5}"/>
              </a:ext>
            </a:extLst>
          </p:cNvPr>
          <p:cNvSpPr/>
          <p:nvPr/>
        </p:nvSpPr>
        <p:spPr>
          <a:xfrm>
            <a:off x="2087077" y="4197733"/>
            <a:ext cx="1187788" cy="505648"/>
          </a:xfrm>
          <a:prstGeom prst="diamond">
            <a:avLst/>
          </a:prstGeom>
          <a:noFill/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latin typeface="Arial"/>
                <a:ea typeface="Arial"/>
                <a:cs typeface="Arial"/>
                <a:sym typeface="Arial"/>
              </a:rPr>
              <a:t>требует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396;p16">
            <a:extLst>
              <a:ext uri="{FF2B5EF4-FFF2-40B4-BE49-F238E27FC236}">
                <a16:creationId xmlns:a16="http://schemas.microsoft.com/office/drawing/2014/main" id="{B0CCD18F-F5F4-2C77-93DD-360627FFA302}"/>
              </a:ext>
            </a:extLst>
          </p:cNvPr>
          <p:cNvCxnSpPr>
            <a:cxnSpLocks/>
          </p:cNvCxnSpPr>
          <p:nvPr/>
        </p:nvCxnSpPr>
        <p:spPr>
          <a:xfrm flipH="1">
            <a:off x="2055129" y="3738271"/>
            <a:ext cx="165399" cy="73583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396;p16">
            <a:extLst>
              <a:ext uri="{FF2B5EF4-FFF2-40B4-BE49-F238E27FC236}">
                <a16:creationId xmlns:a16="http://schemas.microsoft.com/office/drawing/2014/main" id="{E1EFEA35-3BF3-5145-2BE7-490C022CB029}"/>
              </a:ext>
            </a:extLst>
          </p:cNvPr>
          <p:cNvCxnSpPr>
            <a:cxnSpLocks/>
            <a:stCxn id="3" idx="3"/>
            <a:endCxn id="251" idx="3"/>
          </p:cNvCxnSpPr>
          <p:nvPr/>
        </p:nvCxnSpPr>
        <p:spPr>
          <a:xfrm>
            <a:off x="2846370" y="3560856"/>
            <a:ext cx="428495" cy="88970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0" name="Google Shape;414;p16">
            <a:extLst>
              <a:ext uri="{FF2B5EF4-FFF2-40B4-BE49-F238E27FC236}">
                <a16:creationId xmlns:a16="http://schemas.microsoft.com/office/drawing/2014/main" id="{7BAF30D1-E9B6-FC97-9C7D-C23A8B3E0836}"/>
              </a:ext>
            </a:extLst>
          </p:cNvPr>
          <p:cNvSpPr/>
          <p:nvPr/>
        </p:nvSpPr>
        <p:spPr>
          <a:xfrm>
            <a:off x="308534" y="2894889"/>
            <a:ext cx="655875" cy="20012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6F6F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dirty="0">
                <a:latin typeface="Arial"/>
                <a:ea typeface="Arial"/>
                <a:cs typeface="Arial"/>
                <a:sym typeface="Arial"/>
              </a:rPr>
              <a:t>оценка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415;p16">
            <a:extLst>
              <a:ext uri="{FF2B5EF4-FFF2-40B4-BE49-F238E27FC236}">
                <a16:creationId xmlns:a16="http://schemas.microsoft.com/office/drawing/2014/main" id="{9D3B1311-7F7D-A3A5-5E53-8A7FD2B7063B}"/>
              </a:ext>
            </a:extLst>
          </p:cNvPr>
          <p:cNvCxnSpPr>
            <a:cxnSpLocks/>
            <a:stCxn id="11" idx="1"/>
            <a:endCxn id="260" idx="3"/>
          </p:cNvCxnSpPr>
          <p:nvPr/>
        </p:nvCxnSpPr>
        <p:spPr>
          <a:xfrm flipH="1">
            <a:off x="964409" y="2992993"/>
            <a:ext cx="694172" cy="1960"/>
          </a:xfrm>
          <a:prstGeom prst="straightConnector1">
            <a:avLst/>
          </a:prstGeom>
          <a:noFill/>
          <a:ln w="28575" cap="flat" cmpd="sng">
            <a:solidFill>
              <a:srgbClr val="9292F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575F6-E92A-BC77-3D22-7CEFFDB1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006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C98BD7-E985-EFB6-D013-D7502127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cap="all" dirty="0"/>
              <a:t>Подход баз данных: реляционная модель</a:t>
            </a:r>
            <a:endParaRPr lang="en-US" cap="all" dirty="0"/>
          </a:p>
        </p:txBody>
      </p:sp>
      <p:sp>
        <p:nvSpPr>
          <p:cNvPr id="8" name="Google Shape;441;p17">
            <a:extLst>
              <a:ext uri="{FF2B5EF4-FFF2-40B4-BE49-F238E27FC236}">
                <a16:creationId xmlns:a16="http://schemas.microsoft.com/office/drawing/2014/main" id="{C483F5DE-899B-3218-A49A-7BF31690C81B}"/>
              </a:ext>
            </a:extLst>
          </p:cNvPr>
          <p:cNvSpPr txBox="1"/>
          <p:nvPr/>
        </p:nvSpPr>
        <p:spPr>
          <a:xfrm>
            <a:off x="168001" y="1138944"/>
            <a:ext cx="15841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КУРСЫ</a:t>
            </a:r>
            <a:endParaRPr dirty="0"/>
          </a:p>
        </p:txBody>
      </p:sp>
      <p:sp>
        <p:nvSpPr>
          <p:cNvPr id="9" name="Google Shape;442;p17">
            <a:extLst>
              <a:ext uri="{FF2B5EF4-FFF2-40B4-BE49-F238E27FC236}">
                <a16:creationId xmlns:a16="http://schemas.microsoft.com/office/drawing/2014/main" id="{3306E2A2-FECD-2540-081B-BD642FC7CAB9}"/>
              </a:ext>
            </a:extLst>
          </p:cNvPr>
          <p:cNvSpPr txBox="1"/>
          <p:nvPr/>
        </p:nvSpPr>
        <p:spPr>
          <a:xfrm>
            <a:off x="146794" y="2755076"/>
            <a:ext cx="261303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КУРСЫ_СТУДЕНТОВ</a:t>
            </a:r>
            <a:endParaRPr dirty="0"/>
          </a:p>
        </p:txBody>
      </p:sp>
      <p:graphicFrame>
        <p:nvGraphicFramePr>
          <p:cNvPr id="14" name="Google Shape;444;p17">
            <a:extLst>
              <a:ext uri="{FF2B5EF4-FFF2-40B4-BE49-F238E27FC236}">
                <a16:creationId xmlns:a16="http://schemas.microsoft.com/office/drawing/2014/main" id="{FA9AD592-EAED-7FCB-9E47-B2D9AFB2C9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707254"/>
              </p:ext>
            </p:extLst>
          </p:nvPr>
        </p:nvGraphicFramePr>
        <p:xfrm>
          <a:off x="3635895" y="2903225"/>
          <a:ext cx="5488235" cy="12468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3024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0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ФИО</a:t>
                      </a:r>
                      <a:endParaRPr sz="1400" dirty="0">
                        <a:latin typeface="+mn-lt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Номер</a:t>
                      </a:r>
                      <a:endParaRPr sz="1400" dirty="0">
                        <a:latin typeface="+mn-lt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/>
                        <a:t>Факультет</a:t>
                      </a:r>
                      <a:endParaRPr sz="1400">
                        <a:latin typeface="+mn-lt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8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/>
                        <a:t>Иванов Иван Иванович</a:t>
                      </a:r>
                      <a:endParaRPr sz="1400">
                        <a:latin typeface="+mn-lt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u="none" strike="noStrike" dirty="0">
                          <a:sym typeface="Arial"/>
                        </a:rPr>
                        <a:t>1000021</a:t>
                      </a:r>
                      <a:endParaRPr sz="1400" dirty="0">
                        <a:latin typeface="+mn-lt"/>
                      </a:endParaRPr>
                    </a:p>
                  </a:txBody>
                  <a:tcPr marL="45720" marR="45720" marT="18000" marB="180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/>
                        <a:t>ФИТ</a:t>
                      </a:r>
                      <a:endParaRPr sz="1400">
                        <a:latin typeface="+mn-lt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58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Петров Петр Петрович</a:t>
                      </a:r>
                      <a:endParaRPr sz="1400" dirty="0">
                        <a:latin typeface="+mn-lt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/>
                        <a:t>1200005</a:t>
                      </a:r>
                      <a:endParaRPr sz="1400">
                        <a:latin typeface="+mn-lt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ММФ</a:t>
                      </a:r>
                      <a:endParaRPr sz="1400" dirty="0">
                        <a:latin typeface="+mn-lt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Васильев Василий Васильевич</a:t>
                      </a:r>
                      <a:endParaRPr sz="1400" dirty="0">
                        <a:latin typeface="+mn-lt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u="none" strike="noStrike">
                          <a:sym typeface="Arial"/>
                        </a:rPr>
                        <a:t>1000022</a:t>
                      </a:r>
                      <a:endParaRPr sz="1400">
                        <a:latin typeface="+mn-lt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400"/>
                        <a:t>ФИТ</a:t>
                      </a:r>
                      <a:endParaRPr sz="1400">
                        <a:latin typeface="+mn-lt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8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Антонов Антон Антонович</a:t>
                      </a:r>
                      <a:endParaRPr sz="1400" dirty="0">
                        <a:latin typeface="+mn-lt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u="none" strike="noStrike">
                          <a:sym typeface="Arial"/>
                        </a:rPr>
                        <a:t>1000023</a:t>
                      </a:r>
                      <a:endParaRPr sz="1400">
                        <a:latin typeface="+mn-lt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400" dirty="0"/>
                        <a:t>ФИТ</a:t>
                      </a:r>
                      <a:endParaRPr sz="1400" dirty="0">
                        <a:latin typeface="+mn-lt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Google Shape;440;p17">
            <a:extLst>
              <a:ext uri="{FF2B5EF4-FFF2-40B4-BE49-F238E27FC236}">
                <a16:creationId xmlns:a16="http://schemas.microsoft.com/office/drawing/2014/main" id="{8F2659F8-B834-F169-1CD9-15EE4A3F6F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595794"/>
              </p:ext>
            </p:extLst>
          </p:nvPr>
        </p:nvGraphicFramePr>
        <p:xfrm>
          <a:off x="265449" y="1508276"/>
          <a:ext cx="6959336" cy="12468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904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/>
                        <a:t>Название</a:t>
                      </a:r>
                      <a:endParaRPr sz="140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Номер</a:t>
                      </a:r>
                      <a:endParaRPr sz="140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 err="1"/>
                        <a:t>зачёт_ед</a:t>
                      </a:r>
                      <a:endParaRPr sz="140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факультет</a:t>
                      </a:r>
                      <a:endParaRPr sz="140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04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Мат. анализ</a:t>
                      </a:r>
                      <a:endParaRPr sz="140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/>
                        <a:t>CS0810</a:t>
                      </a:r>
                      <a:endParaRPr sz="140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4</a:t>
                      </a:r>
                      <a:endParaRPr sz="140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/>
                        <a:t>ФИТ</a:t>
                      </a:r>
                      <a:endParaRPr sz="140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04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Мат. анализ</a:t>
                      </a:r>
                      <a:endParaRPr sz="140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MATH0200</a:t>
                      </a:r>
                      <a:endParaRPr sz="140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/>
                        <a:t>4</a:t>
                      </a:r>
                      <a:endParaRPr sz="140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ММФ</a:t>
                      </a:r>
                      <a:endParaRPr sz="140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04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Структуры данных</a:t>
                      </a:r>
                      <a:endParaRPr sz="140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CS0805</a:t>
                      </a:r>
                      <a:endParaRPr sz="140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/>
                        <a:t>3</a:t>
                      </a:r>
                      <a:endParaRPr sz="140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400" dirty="0"/>
                        <a:t>ФИТ</a:t>
                      </a:r>
                      <a:endParaRPr sz="140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04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Базы данных</a:t>
                      </a:r>
                      <a:endParaRPr sz="140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CS0802</a:t>
                      </a:r>
                      <a:endParaRPr sz="1400" dirty="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/>
                        <a:t>3</a:t>
                      </a:r>
                      <a:endParaRPr sz="1400"/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400" dirty="0"/>
                        <a:t>ФИТ</a:t>
                      </a:r>
                      <a:endParaRPr sz="1400" dirty="0"/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Google Shape;443;p17">
            <a:extLst>
              <a:ext uri="{FF2B5EF4-FFF2-40B4-BE49-F238E27FC236}">
                <a16:creationId xmlns:a16="http://schemas.microsoft.com/office/drawing/2014/main" id="{8126A504-BF2D-377B-D45D-83BEAB7BAE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1101267"/>
              </p:ext>
            </p:extLst>
          </p:nvPr>
        </p:nvGraphicFramePr>
        <p:xfrm>
          <a:off x="234643" y="3124367"/>
          <a:ext cx="3212828" cy="1524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1146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69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Студент</a:t>
                      </a:r>
                      <a:endParaRPr sz="1400" dirty="0">
                        <a:latin typeface="+mn-lt"/>
                      </a:endParaRPr>
                    </a:p>
                  </a:txBody>
                  <a:tcPr marL="3600" marR="36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Курс</a:t>
                      </a:r>
                      <a:endParaRPr sz="1400" dirty="0">
                        <a:latin typeface="+mn-lt"/>
                      </a:endParaRPr>
                    </a:p>
                  </a:txBody>
                  <a:tcPr marL="3600" marR="36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Оценка</a:t>
                      </a:r>
                      <a:endParaRPr sz="1400" dirty="0">
                        <a:latin typeface="+mn-lt"/>
                      </a:endParaRPr>
                    </a:p>
                  </a:txBody>
                  <a:tcPr marL="3600" marR="3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9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u="none" strike="noStrike" dirty="0">
                          <a:sym typeface="Arial"/>
                        </a:rPr>
                        <a:t>1000021</a:t>
                      </a:r>
                      <a:endParaRPr sz="1400" dirty="0">
                        <a:latin typeface="+mn-lt"/>
                      </a:endParaRPr>
                    </a:p>
                  </a:txBody>
                  <a:tcPr marL="3600" marR="36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CS0810</a:t>
                      </a:r>
                      <a:endParaRPr sz="1400" dirty="0">
                        <a:latin typeface="+mn-lt"/>
                      </a:endParaRPr>
                    </a:p>
                  </a:txBody>
                  <a:tcPr marL="3600" marR="36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/>
                        <a:t>3</a:t>
                      </a:r>
                      <a:endParaRPr sz="1400">
                        <a:latin typeface="+mn-lt"/>
                      </a:endParaRPr>
                    </a:p>
                  </a:txBody>
                  <a:tcPr marL="3600" marR="3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9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/>
                        <a:t>1200005</a:t>
                      </a:r>
                      <a:endParaRPr sz="1400">
                        <a:latin typeface="+mn-lt"/>
                      </a:endParaRPr>
                    </a:p>
                  </a:txBody>
                  <a:tcPr marL="3600" marR="36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MATH0200</a:t>
                      </a:r>
                      <a:endParaRPr sz="1400" dirty="0">
                        <a:latin typeface="+mn-lt"/>
                      </a:endParaRPr>
                    </a:p>
                  </a:txBody>
                  <a:tcPr marL="3600" marR="36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/>
                        <a:t>4</a:t>
                      </a:r>
                      <a:endParaRPr sz="1400">
                        <a:latin typeface="+mn-lt"/>
                      </a:endParaRPr>
                    </a:p>
                  </a:txBody>
                  <a:tcPr marL="3600" marR="3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9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u="none" strike="noStrike">
                          <a:sym typeface="Arial"/>
                        </a:rPr>
                        <a:t>1000022</a:t>
                      </a:r>
                      <a:endParaRPr sz="1400">
                        <a:latin typeface="+mn-lt"/>
                      </a:endParaRPr>
                    </a:p>
                  </a:txBody>
                  <a:tcPr marL="3600" marR="36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/>
                        <a:t>CS0805</a:t>
                      </a:r>
                      <a:endParaRPr sz="1400">
                        <a:latin typeface="+mn-lt"/>
                      </a:endParaRPr>
                    </a:p>
                  </a:txBody>
                  <a:tcPr marL="3600" marR="36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5</a:t>
                      </a:r>
                      <a:endParaRPr sz="1400" dirty="0">
                        <a:latin typeface="+mn-lt"/>
                      </a:endParaRPr>
                    </a:p>
                  </a:txBody>
                  <a:tcPr marL="3600" marR="3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99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u="none" strike="noStrike" dirty="0">
                          <a:sym typeface="Arial"/>
                        </a:rPr>
                        <a:t>1000023</a:t>
                      </a:r>
                      <a:endParaRPr sz="1400" dirty="0">
                        <a:latin typeface="+mn-lt"/>
                      </a:endParaRPr>
                    </a:p>
                  </a:txBody>
                  <a:tcPr marL="3600" marR="36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CS0802</a:t>
                      </a:r>
                      <a:endParaRPr sz="1400" dirty="0">
                        <a:latin typeface="+mn-lt"/>
                      </a:endParaRPr>
                    </a:p>
                  </a:txBody>
                  <a:tcPr marL="3600" marR="36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5</a:t>
                      </a:r>
                      <a:endParaRPr sz="1400" dirty="0">
                        <a:latin typeface="+mn-lt"/>
                      </a:endParaRPr>
                    </a:p>
                  </a:txBody>
                  <a:tcPr marL="3600" marR="3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Google Shape;445;p17">
            <a:extLst>
              <a:ext uri="{FF2B5EF4-FFF2-40B4-BE49-F238E27FC236}">
                <a16:creationId xmlns:a16="http://schemas.microsoft.com/office/drawing/2014/main" id="{E6056BAB-826E-A392-A422-2BC5FFAF652F}"/>
              </a:ext>
            </a:extLst>
          </p:cNvPr>
          <p:cNvSpPr txBox="1"/>
          <p:nvPr/>
        </p:nvSpPr>
        <p:spPr>
          <a:xfrm>
            <a:off x="7631473" y="2533934"/>
            <a:ext cx="149265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СТУДЕНТЫ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647041-679E-853D-1BE9-F207019C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15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5ADF34-6CAD-1457-8885-6457E1760B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1800" b="1" cap="all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Колонки</a:t>
            </a:r>
            <a:endParaRPr lang="ru-RU" cap="al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E69C7-7A75-AF3C-3E63-E6729A713DE3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A1B4D9-E30D-3A10-659E-57DEC9B13F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BA310-B905-F104-EC62-79C9B378F0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b="1" cap="all" dirty="0">
                <a:solidFill>
                  <a:schemeClr val="dk1"/>
                </a:solidFill>
                <a:latin typeface="+mj-lt"/>
                <a:cs typeface="Arial"/>
                <a:sym typeface="Arial"/>
              </a:rPr>
              <a:t>Отношения</a:t>
            </a:r>
            <a:endParaRPr lang="en-US" dirty="0">
              <a:latin typeface="+mj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C98BD7-E985-EFB6-D013-D7502127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cap="all" dirty="0"/>
              <a:t>Подход баз данных: Схема БД</a:t>
            </a:r>
            <a:endParaRPr lang="en-US" cap="all" dirty="0"/>
          </a:p>
        </p:txBody>
      </p:sp>
      <p:graphicFrame>
        <p:nvGraphicFramePr>
          <p:cNvPr id="6" name="Google Shape;440;p17">
            <a:extLst>
              <a:ext uri="{FF2B5EF4-FFF2-40B4-BE49-F238E27FC236}">
                <a16:creationId xmlns:a16="http://schemas.microsoft.com/office/drawing/2014/main" id="{8F2659F8-B834-F169-1CD9-15EE4A3F6F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1208509"/>
              </p:ext>
            </p:extLst>
          </p:nvPr>
        </p:nvGraphicFramePr>
        <p:xfrm>
          <a:off x="350838" y="1801813"/>
          <a:ext cx="3645098" cy="1737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290101">
                  <a:extLst>
                    <a:ext uri="{9D8B030D-6E8A-4147-A177-3AD203B41FA5}">
                      <a16:colId xmlns:a16="http://schemas.microsoft.com/office/drawing/2014/main" val="3515903739"/>
                    </a:ext>
                  </a:extLst>
                </a:gridCol>
                <a:gridCol w="2274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5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Aptos Narrow" panose="020B0004020202020204" pitchFamily="34" charset="0"/>
                        </a:rPr>
                        <a:t>#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 dirty="0">
                          <a:latin typeface="Aptos Narrow" panose="020B0004020202020204" pitchFamily="34" charset="0"/>
                        </a:rPr>
                        <a:t>Название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Кол-во колонок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3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Aptos Narrow" panose="020B0004020202020204" pitchFamily="34" charset="0"/>
                        </a:rPr>
                        <a:t>1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СТУДЕНТЫ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3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33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Aptos Narrow" panose="020B0004020202020204" pitchFamily="34" charset="0"/>
                        </a:rPr>
                        <a:t>2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КУРСЫ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4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33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Aptos Narrow" panose="020B0004020202020204" pitchFamily="34" charset="0"/>
                        </a:rPr>
                        <a:t>3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КУРСЫ_СТУДЕНТОВ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3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33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Aptos Narrow" panose="020B0004020202020204" pitchFamily="34" charset="0"/>
                        </a:rPr>
                        <a:t>4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ПРЕПОДАВАТЕЛИ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5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Google Shape;443;p17">
            <a:extLst>
              <a:ext uri="{FF2B5EF4-FFF2-40B4-BE49-F238E27FC236}">
                <a16:creationId xmlns:a16="http://schemas.microsoft.com/office/drawing/2014/main" id="{8126A504-BF2D-377B-D45D-83BEAB7BAE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6684873"/>
              </p:ext>
            </p:extLst>
          </p:nvPr>
        </p:nvGraphicFramePr>
        <p:xfrm>
          <a:off x="4572000" y="1801813"/>
          <a:ext cx="4321177" cy="1524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269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1207">
                  <a:extLst>
                    <a:ext uri="{9D8B030D-6E8A-4147-A177-3AD203B41FA5}">
                      <a16:colId xmlns:a16="http://schemas.microsoft.com/office/drawing/2014/main" val="2702914536"/>
                    </a:ext>
                  </a:extLst>
                </a:gridCol>
              </a:tblGrid>
              <a:tr h="28325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Aptos Narrow" panose="020B0004020202020204" pitchFamily="34" charset="0"/>
                        </a:rPr>
                        <a:t>#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Имя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Тип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Отношение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>
                          <a:latin typeface="Aptos Narrow" panose="020B0004020202020204" pitchFamily="34" charset="0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dirty="0">
                          <a:latin typeface="Aptos Narrow" panose="020B0004020202020204" pitchFamily="34" charset="0"/>
                          <a:ea typeface="Arial"/>
                          <a:cs typeface="Arial"/>
                          <a:sym typeface="Arial"/>
                        </a:rPr>
                        <a:t>ФИО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CHAR(30)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latin typeface="Aptos Narrow" panose="020B0004020202020204" pitchFamily="34" charset="0"/>
                        </a:rPr>
                        <a:t>СТУДЕНТ</a:t>
                      </a:r>
                      <a:endParaRPr sz="140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latin typeface="Aptos Narrow" panose="020B0004020202020204" pitchFamily="34" charset="0"/>
                        </a:rPr>
                        <a:t>2</a:t>
                      </a:r>
                      <a:endParaRPr sz="140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Номер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CHAR(4)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latin typeface="Aptos Narrow" panose="020B0004020202020204" pitchFamily="34" charset="0"/>
                        </a:rPr>
                        <a:t>СТУДЕНТ</a:t>
                      </a:r>
                      <a:endParaRPr sz="140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>
                          <a:latin typeface="Aptos Narrow" panose="020B0004020202020204" pitchFamily="34" charset="0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dirty="0">
                          <a:latin typeface="Aptos Narrow" panose="020B0004020202020204" pitchFamily="34" charset="0"/>
                          <a:ea typeface="Arial"/>
                          <a:cs typeface="Arial"/>
                          <a:sym typeface="Arial"/>
                        </a:rPr>
                        <a:t>Факультет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CHAR(3)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>
                          <a:latin typeface="Aptos Narrow" panose="020B0004020202020204" pitchFamily="34" charset="0"/>
                        </a:rPr>
                        <a:t>СТУДЕНТ</a:t>
                      </a:r>
                      <a:endParaRPr sz="140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>
                          <a:latin typeface="Aptos Narrow" panose="020B0004020202020204" pitchFamily="34" charset="0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40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dirty="0">
                          <a:latin typeface="Aptos Narrow" panose="020B0004020202020204" pitchFamily="34" charset="0"/>
                          <a:ea typeface="Arial"/>
                          <a:cs typeface="Arial"/>
                          <a:sym typeface="Arial"/>
                        </a:rPr>
                        <a:t>Название</a:t>
                      </a:r>
                      <a:endParaRPr sz="1400" b="0" i="0" u="none" strike="noStrike" dirty="0">
                        <a:latin typeface="Aptos Narrow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CHAR(20)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Aptos Narrow" panose="020B0004020202020204" pitchFamily="34" charset="0"/>
                        </a:rPr>
                        <a:t>КУРСЫ</a:t>
                      </a:r>
                      <a:endParaRPr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978745-3710-D0F3-C441-500B3120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95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lowchart: Magnetic Disk 79">
            <a:extLst>
              <a:ext uri="{FF2B5EF4-FFF2-40B4-BE49-F238E27FC236}">
                <a16:creationId xmlns:a16="http://schemas.microsoft.com/office/drawing/2014/main" id="{BD68F0DE-D420-17EF-6196-3622FDC4F9E7}"/>
              </a:ext>
            </a:extLst>
          </p:cNvPr>
          <p:cNvSpPr/>
          <p:nvPr/>
        </p:nvSpPr>
        <p:spPr>
          <a:xfrm>
            <a:off x="2461878" y="4321159"/>
            <a:ext cx="296884" cy="270584"/>
          </a:xfrm>
          <a:prstGeom prst="flowChartMagneticDisk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90A997-D305-5D0B-A191-C6F9CDB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983D4B5-BFCE-682D-2F85-9B480896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dirty="0">
                <a:solidFill>
                  <a:srgbClr val="92D050"/>
                </a:solidFill>
              </a:rPr>
              <a:t>Три уровня архитектуры </a:t>
            </a:r>
            <a:r>
              <a:rPr lang="ru-RU" sz="1800" dirty="0"/>
              <a:t>системы БД (ANSI/SPARC)</a:t>
            </a:r>
            <a:endParaRPr lang="en-US" dirty="0"/>
          </a:p>
        </p:txBody>
      </p:sp>
      <p:cxnSp>
        <p:nvCxnSpPr>
          <p:cNvPr id="30" name="Google Shape;493;p20">
            <a:extLst>
              <a:ext uri="{FF2B5EF4-FFF2-40B4-BE49-F238E27FC236}">
                <a16:creationId xmlns:a16="http://schemas.microsoft.com/office/drawing/2014/main" id="{B32AB7F6-88C9-94E1-134D-8318B0770B1A}"/>
              </a:ext>
            </a:extLst>
          </p:cNvPr>
          <p:cNvCxnSpPr>
            <a:cxnSpLocks/>
            <a:stCxn id="4" idx="2"/>
            <a:endCxn id="40" idx="0"/>
          </p:cNvCxnSpPr>
          <p:nvPr/>
        </p:nvCxnSpPr>
        <p:spPr>
          <a:xfrm>
            <a:off x="1995545" y="1925984"/>
            <a:ext cx="755814" cy="41900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arrow" w="sm" len="lg"/>
            <a:tailEnd type="arrow" w="sm" len="lg"/>
          </a:ln>
        </p:spPr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1EB0D1-99DC-2D83-D4B9-F020940617C5}"/>
              </a:ext>
            </a:extLst>
          </p:cNvPr>
          <p:cNvGrpSpPr/>
          <p:nvPr/>
        </p:nvGrpSpPr>
        <p:grpSpPr>
          <a:xfrm>
            <a:off x="1311604" y="1237529"/>
            <a:ext cx="1367882" cy="688455"/>
            <a:chOff x="1619942" y="1246260"/>
            <a:chExt cx="1367882" cy="6884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D3661CD-1B4E-818E-400D-EBF28C0848B1}"/>
                </a:ext>
              </a:extLst>
            </p:cNvPr>
            <p:cNvSpPr txBox="1"/>
            <p:nvPr/>
          </p:nvSpPr>
          <p:spPr>
            <a:xfrm>
              <a:off x="1619942" y="1246260"/>
              <a:ext cx="1367882" cy="261610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ru-RU" sz="1100" dirty="0"/>
                <a:t>Пользователь А1</a:t>
              </a:r>
              <a:endParaRPr lang="en-US" sz="11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69D3CD6-C3C2-DC4B-B86E-4180A1619A4D}"/>
                </a:ext>
              </a:extLst>
            </p:cNvPr>
            <p:cNvSpPr/>
            <p:nvPr/>
          </p:nvSpPr>
          <p:spPr>
            <a:xfrm>
              <a:off x="1619942" y="1488110"/>
              <a:ext cx="1367882" cy="44660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ru-RU" sz="1050" dirty="0">
                  <a:solidFill>
                    <a:schemeClr val="bg1"/>
                  </a:solidFill>
                </a:rPr>
                <a:t>Базовый язык + подъязык данных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31CDC12-13B5-7782-DE29-2A25F95D392E}"/>
              </a:ext>
            </a:extLst>
          </p:cNvPr>
          <p:cNvGrpSpPr/>
          <p:nvPr/>
        </p:nvGrpSpPr>
        <p:grpSpPr>
          <a:xfrm>
            <a:off x="2802947" y="1237529"/>
            <a:ext cx="1367882" cy="688455"/>
            <a:chOff x="1619942" y="1246260"/>
            <a:chExt cx="1367882" cy="68845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2D461E3-2E09-16E9-2CE1-B62D032A479F}"/>
                </a:ext>
              </a:extLst>
            </p:cNvPr>
            <p:cNvSpPr txBox="1"/>
            <p:nvPr/>
          </p:nvSpPr>
          <p:spPr>
            <a:xfrm>
              <a:off x="1619942" y="1246260"/>
              <a:ext cx="1367882" cy="261610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ru-RU" sz="1100" dirty="0"/>
                <a:t>Пользователь А2</a:t>
              </a:r>
              <a:endParaRPr lang="en-US" sz="11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C5783ED-3089-1F52-8A44-CD4C8D5C9135}"/>
                </a:ext>
              </a:extLst>
            </p:cNvPr>
            <p:cNvSpPr/>
            <p:nvPr/>
          </p:nvSpPr>
          <p:spPr>
            <a:xfrm>
              <a:off x="1619942" y="1488110"/>
              <a:ext cx="1367882" cy="446605"/>
            </a:xfrm>
            <a:prstGeom prst="rect">
              <a:avLst/>
            </a:prstGeom>
            <a:solidFill>
              <a:srgbClr val="8FAADC"/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ru-RU" sz="1050" dirty="0">
                  <a:solidFill>
                    <a:schemeClr val="bg1"/>
                  </a:solidFill>
                </a:rPr>
                <a:t>Базовый язык + подъязык данных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9ED35F-FB9A-A3AC-A2E6-F743D7C6D3D0}"/>
              </a:ext>
            </a:extLst>
          </p:cNvPr>
          <p:cNvGrpSpPr/>
          <p:nvPr/>
        </p:nvGrpSpPr>
        <p:grpSpPr>
          <a:xfrm>
            <a:off x="4294290" y="1237529"/>
            <a:ext cx="1367882" cy="688455"/>
            <a:chOff x="1619942" y="1246260"/>
            <a:chExt cx="1367882" cy="68845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4685444-6540-D637-8B3A-88270338FFCD}"/>
                </a:ext>
              </a:extLst>
            </p:cNvPr>
            <p:cNvSpPr txBox="1"/>
            <p:nvPr/>
          </p:nvSpPr>
          <p:spPr>
            <a:xfrm>
              <a:off x="1619942" y="1246260"/>
              <a:ext cx="1367882" cy="261610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ru-RU" sz="1100" dirty="0"/>
                <a:t>Пользователь </a:t>
              </a:r>
              <a:r>
                <a:rPr lang="en-US" sz="1100" dirty="0"/>
                <a:t>B</a:t>
              </a:r>
              <a:r>
                <a:rPr lang="ru-RU" sz="1100" dirty="0"/>
                <a:t>1</a:t>
              </a:r>
              <a:endParaRPr lang="en-US" sz="11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7A57D0-61D5-6BB1-6767-6B2C33564FAB}"/>
                </a:ext>
              </a:extLst>
            </p:cNvPr>
            <p:cNvSpPr/>
            <p:nvPr/>
          </p:nvSpPr>
          <p:spPr>
            <a:xfrm>
              <a:off x="1619942" y="1488110"/>
              <a:ext cx="1367882" cy="44660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ru-RU" sz="1050" dirty="0">
                  <a:solidFill>
                    <a:schemeClr val="tx1"/>
                  </a:solidFill>
                </a:rPr>
                <a:t>Базовый язык + подъязык данных</a:t>
              </a:r>
              <a:endParaRPr lang="en-US" sz="10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3C1B0D9-2BF9-6727-491F-FDD71081AE45}"/>
              </a:ext>
            </a:extLst>
          </p:cNvPr>
          <p:cNvGrpSpPr/>
          <p:nvPr/>
        </p:nvGrpSpPr>
        <p:grpSpPr>
          <a:xfrm>
            <a:off x="5785632" y="1237529"/>
            <a:ext cx="1367882" cy="688455"/>
            <a:chOff x="1619942" y="1246260"/>
            <a:chExt cx="1367882" cy="68845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EF90571-82B3-01D3-14DB-D6D488B43D8E}"/>
                </a:ext>
              </a:extLst>
            </p:cNvPr>
            <p:cNvSpPr txBox="1"/>
            <p:nvPr/>
          </p:nvSpPr>
          <p:spPr>
            <a:xfrm>
              <a:off x="1619942" y="1246260"/>
              <a:ext cx="1367882" cy="261610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ru-RU" sz="1100" dirty="0"/>
                <a:t>Пользователь </a:t>
              </a:r>
              <a:r>
                <a:rPr lang="en-US" sz="1100" dirty="0"/>
                <a:t>B2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2081E85-721D-DB67-3CED-448F8C8B1177}"/>
                </a:ext>
              </a:extLst>
            </p:cNvPr>
            <p:cNvSpPr/>
            <p:nvPr/>
          </p:nvSpPr>
          <p:spPr>
            <a:xfrm>
              <a:off x="1619942" y="1488110"/>
              <a:ext cx="1367882" cy="44660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ru-RU" sz="1050" dirty="0">
                  <a:solidFill>
                    <a:schemeClr val="tx1"/>
                  </a:solidFill>
                </a:rPr>
                <a:t>Базовый язык + подъязык данных</a:t>
              </a:r>
              <a:endParaRPr lang="en-US" sz="10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A4EBA8A-0E7A-055F-20C8-25D5BE0686C4}"/>
              </a:ext>
            </a:extLst>
          </p:cNvPr>
          <p:cNvGrpSpPr/>
          <p:nvPr/>
        </p:nvGrpSpPr>
        <p:grpSpPr>
          <a:xfrm>
            <a:off x="7276974" y="1237529"/>
            <a:ext cx="1367882" cy="688455"/>
            <a:chOff x="1619942" y="1246260"/>
            <a:chExt cx="1367882" cy="68845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4DF3F23-2F99-94E2-EB12-056659022AA1}"/>
                </a:ext>
              </a:extLst>
            </p:cNvPr>
            <p:cNvSpPr txBox="1"/>
            <p:nvPr/>
          </p:nvSpPr>
          <p:spPr>
            <a:xfrm>
              <a:off x="1619942" y="1246260"/>
              <a:ext cx="1367882" cy="261610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ru-RU" sz="1100" dirty="0"/>
                <a:t>Пользователь </a:t>
              </a:r>
              <a:r>
                <a:rPr lang="en-US" sz="1100"/>
                <a:t>B3</a:t>
              </a:r>
              <a:endParaRPr lang="en-US" sz="1100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7561130-4A7D-15D9-2FBF-E8C2468CC500}"/>
                </a:ext>
              </a:extLst>
            </p:cNvPr>
            <p:cNvSpPr/>
            <p:nvPr/>
          </p:nvSpPr>
          <p:spPr>
            <a:xfrm>
              <a:off x="1619942" y="1488110"/>
              <a:ext cx="1367882" cy="44660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ru-RU" sz="1050" dirty="0">
                  <a:solidFill>
                    <a:schemeClr val="tx1"/>
                  </a:solidFill>
                </a:rPr>
                <a:t>Базовый язык + подъязык данных</a:t>
              </a:r>
              <a:endParaRPr 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6AD672C-B052-A720-6B36-43FC879AB021}"/>
              </a:ext>
            </a:extLst>
          </p:cNvPr>
          <p:cNvSpPr txBox="1"/>
          <p:nvPr/>
        </p:nvSpPr>
        <p:spPr>
          <a:xfrm>
            <a:off x="351236" y="4875098"/>
            <a:ext cx="37625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/>
              <a:t>Источник: К. Дж. </a:t>
            </a:r>
            <a:r>
              <a:rPr lang="ru-RU" sz="800" dirty="0" err="1"/>
              <a:t>Дейт</a:t>
            </a:r>
            <a:r>
              <a:rPr lang="ru-RU" sz="800" dirty="0"/>
              <a:t>, </a:t>
            </a:r>
            <a:r>
              <a:rPr lang="ru-RU" sz="800" b="1" dirty="0"/>
              <a:t>Введение в системы баз данных,</a:t>
            </a:r>
            <a:r>
              <a:rPr lang="ru-RU" sz="800" dirty="0"/>
              <a:t> </a:t>
            </a:r>
            <a:r>
              <a:rPr lang="ru-RU" sz="800" b="1" dirty="0"/>
              <a:t>Глава 2</a:t>
            </a:r>
            <a:endParaRPr lang="en-US" sz="8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68ADBD1-2670-D852-6780-E19330BEDC29}"/>
              </a:ext>
            </a:extLst>
          </p:cNvPr>
          <p:cNvGrpSpPr/>
          <p:nvPr/>
        </p:nvGrpSpPr>
        <p:grpSpPr>
          <a:xfrm>
            <a:off x="1239326" y="2334150"/>
            <a:ext cx="2195974" cy="430887"/>
            <a:chOff x="1547664" y="2334150"/>
            <a:chExt cx="2195974" cy="43088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B963E8F-E33C-CB02-E7AA-CEE3EF7E98A3}"/>
                </a:ext>
              </a:extLst>
            </p:cNvPr>
            <p:cNvSpPr/>
            <p:nvPr/>
          </p:nvSpPr>
          <p:spPr>
            <a:xfrm>
              <a:off x="2375756" y="2344993"/>
              <a:ext cx="1367882" cy="415498"/>
            </a:xfrm>
            <a:prstGeom prst="rect">
              <a:avLst/>
            </a:prstGeom>
            <a:solidFill>
              <a:srgbClr val="8FAADC"/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rtlCol="0" anchor="ctr">
              <a:spAutoFit/>
            </a:bodyPr>
            <a:lstStyle/>
            <a:p>
              <a:pPr algn="ctr"/>
              <a:r>
                <a:rPr lang="ru-RU" sz="1050" dirty="0">
                  <a:solidFill>
                    <a:schemeClr val="bg1"/>
                  </a:solidFill>
                </a:rPr>
                <a:t>Внешнее представление А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A10FD99-39E9-4982-48D8-9654096E9A9A}"/>
                </a:ext>
              </a:extLst>
            </p:cNvPr>
            <p:cNvSpPr txBox="1"/>
            <p:nvPr/>
          </p:nvSpPr>
          <p:spPr>
            <a:xfrm>
              <a:off x="1547664" y="2334150"/>
              <a:ext cx="828092" cy="430887"/>
            </a:xfrm>
            <a:prstGeom prst="rect">
              <a:avLst/>
            </a:prstGeom>
            <a:noFill/>
          </p:spPr>
          <p:txBody>
            <a:bodyPr wrap="square" lIns="36000" rIns="36000" rtlCol="0" anchor="ctr">
              <a:spAutoFit/>
            </a:bodyPr>
            <a:lstStyle/>
            <a:p>
              <a:pPr algn="ctr"/>
              <a:r>
                <a:rPr lang="ru-RU" sz="1050" dirty="0"/>
                <a:t>Внешняя схема А</a:t>
              </a:r>
              <a:endParaRPr lang="en-US" sz="105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C5CFBDC-ED21-50C8-D093-8C01BFBCBBB1}"/>
              </a:ext>
            </a:extLst>
          </p:cNvPr>
          <p:cNvGrpSpPr/>
          <p:nvPr/>
        </p:nvGrpSpPr>
        <p:grpSpPr>
          <a:xfrm>
            <a:off x="4800277" y="2341233"/>
            <a:ext cx="2138541" cy="446605"/>
            <a:chOff x="4737445" y="2551534"/>
            <a:chExt cx="2138541" cy="44660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50F89EC-573A-75D2-DA26-C828C8D439DC}"/>
                </a:ext>
              </a:extLst>
            </p:cNvPr>
            <p:cNvSpPr/>
            <p:nvPr/>
          </p:nvSpPr>
          <p:spPr>
            <a:xfrm>
              <a:off x="5508104" y="2551534"/>
              <a:ext cx="1367882" cy="44660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ru-RU" sz="1050" dirty="0">
                  <a:solidFill>
                    <a:schemeClr val="tx1"/>
                  </a:solidFill>
                </a:rPr>
                <a:t>Внешнее представление </a:t>
              </a:r>
              <a:r>
                <a:rPr lang="en-US" sz="105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011EBD8-2CDB-CE8D-B628-01035E3A035A}"/>
                </a:ext>
              </a:extLst>
            </p:cNvPr>
            <p:cNvSpPr txBox="1"/>
            <p:nvPr/>
          </p:nvSpPr>
          <p:spPr>
            <a:xfrm>
              <a:off x="4737445" y="2562041"/>
              <a:ext cx="770658" cy="430887"/>
            </a:xfrm>
            <a:prstGeom prst="rect">
              <a:avLst/>
            </a:prstGeom>
            <a:noFill/>
          </p:spPr>
          <p:txBody>
            <a:bodyPr wrap="square" lIns="36000" rIns="36000" rtlCol="0" anchor="ctr">
              <a:spAutoFit/>
            </a:bodyPr>
            <a:lstStyle/>
            <a:p>
              <a:pPr algn="ctr"/>
              <a:r>
                <a:rPr lang="ru-RU" sz="1050" dirty="0"/>
                <a:t>Внешняя схема </a:t>
              </a:r>
              <a:r>
                <a:rPr lang="en-US" sz="1050" dirty="0"/>
                <a:t>B</a:t>
              </a:r>
            </a:p>
          </p:txBody>
        </p:sp>
      </p:grpSp>
      <p:cxnSp>
        <p:nvCxnSpPr>
          <p:cNvPr id="49" name="Google Shape;493;p20">
            <a:extLst>
              <a:ext uri="{FF2B5EF4-FFF2-40B4-BE49-F238E27FC236}">
                <a16:creationId xmlns:a16="http://schemas.microsoft.com/office/drawing/2014/main" id="{45C08402-A3D0-33B0-AE94-8DCF1582689A}"/>
              </a:ext>
            </a:extLst>
          </p:cNvPr>
          <p:cNvCxnSpPr>
            <a:cxnSpLocks/>
            <a:stCxn id="22" idx="2"/>
            <a:endCxn id="40" idx="0"/>
          </p:cNvCxnSpPr>
          <p:nvPr/>
        </p:nvCxnSpPr>
        <p:spPr>
          <a:xfrm flipH="1">
            <a:off x="2751359" y="1925984"/>
            <a:ext cx="735529" cy="41900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arrow" w="sm" len="lg"/>
            <a:tailEnd type="arrow" w="sm" len="lg"/>
          </a:ln>
        </p:spPr>
      </p:cxnSp>
      <p:cxnSp>
        <p:nvCxnSpPr>
          <p:cNvPr id="55" name="Google Shape;493;p20">
            <a:extLst>
              <a:ext uri="{FF2B5EF4-FFF2-40B4-BE49-F238E27FC236}">
                <a16:creationId xmlns:a16="http://schemas.microsoft.com/office/drawing/2014/main" id="{D97D5AD1-5499-9B35-3783-93C7279A0BC6}"/>
              </a:ext>
            </a:extLst>
          </p:cNvPr>
          <p:cNvCxnSpPr>
            <a:cxnSpLocks/>
            <a:stCxn id="33" idx="2"/>
            <a:endCxn id="41" idx="0"/>
          </p:cNvCxnSpPr>
          <p:nvPr/>
        </p:nvCxnSpPr>
        <p:spPr>
          <a:xfrm flipH="1">
            <a:off x="6254877" y="1925984"/>
            <a:ext cx="214696" cy="41524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arrow" w="sm" len="lg"/>
            <a:tailEnd type="arrow" w="sm" len="lg"/>
          </a:ln>
        </p:spPr>
      </p:cxnSp>
      <p:cxnSp>
        <p:nvCxnSpPr>
          <p:cNvPr id="58" name="Google Shape;493;p20">
            <a:extLst>
              <a:ext uri="{FF2B5EF4-FFF2-40B4-BE49-F238E27FC236}">
                <a16:creationId xmlns:a16="http://schemas.microsoft.com/office/drawing/2014/main" id="{835395A6-6610-2DBB-F3D5-A9744208E206}"/>
              </a:ext>
            </a:extLst>
          </p:cNvPr>
          <p:cNvCxnSpPr>
            <a:cxnSpLocks/>
            <a:stCxn id="36" idx="2"/>
            <a:endCxn id="41" idx="0"/>
          </p:cNvCxnSpPr>
          <p:nvPr/>
        </p:nvCxnSpPr>
        <p:spPr>
          <a:xfrm flipH="1">
            <a:off x="6254877" y="1925984"/>
            <a:ext cx="1706038" cy="41524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arrow" w="sm" len="lg"/>
            <a:tailEnd type="arrow" w="sm" len="lg"/>
          </a:ln>
        </p:spPr>
      </p:cxnSp>
      <p:cxnSp>
        <p:nvCxnSpPr>
          <p:cNvPr id="32" name="Google Shape;493;p20">
            <a:extLst>
              <a:ext uri="{FF2B5EF4-FFF2-40B4-BE49-F238E27FC236}">
                <a16:creationId xmlns:a16="http://schemas.microsoft.com/office/drawing/2014/main" id="{7740258A-2B8A-EC26-78AF-47173A504D30}"/>
              </a:ext>
            </a:extLst>
          </p:cNvPr>
          <p:cNvCxnSpPr>
            <a:cxnSpLocks/>
            <a:stCxn id="25" idx="2"/>
            <a:endCxn id="41" idx="0"/>
          </p:cNvCxnSpPr>
          <p:nvPr/>
        </p:nvCxnSpPr>
        <p:spPr>
          <a:xfrm>
            <a:off x="4978231" y="1925984"/>
            <a:ext cx="1276646" cy="41524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arrow" w="sm" len="lg"/>
            <a:tailEnd type="arrow" w="sm" len="lg"/>
          </a:ln>
        </p:spPr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9CC3ECB-6DA8-43A2-D45C-ED6B02BB13A9}"/>
              </a:ext>
            </a:extLst>
          </p:cNvPr>
          <p:cNvGrpSpPr/>
          <p:nvPr/>
        </p:nvGrpSpPr>
        <p:grpSpPr>
          <a:xfrm>
            <a:off x="2437584" y="3309278"/>
            <a:ext cx="2735764" cy="418647"/>
            <a:chOff x="1007874" y="2341844"/>
            <a:chExt cx="2735764" cy="418647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E135BB6-3960-CBF7-C924-754D91E164AE}"/>
                </a:ext>
              </a:extLst>
            </p:cNvPr>
            <p:cNvSpPr/>
            <p:nvPr/>
          </p:nvSpPr>
          <p:spPr>
            <a:xfrm>
              <a:off x="2375756" y="2344993"/>
              <a:ext cx="1367882" cy="415498"/>
            </a:xfrm>
            <a:prstGeom prst="rect">
              <a:avLst/>
            </a:prstGeom>
            <a:solidFill>
              <a:srgbClr val="90D1DC"/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rtlCol="0" anchor="ctr">
              <a:spAutoFit/>
            </a:bodyPr>
            <a:lstStyle/>
            <a:p>
              <a:pPr algn="ctr"/>
              <a:r>
                <a:rPr lang="ru-RU" sz="1050" dirty="0">
                  <a:solidFill>
                    <a:schemeClr val="tx1"/>
                  </a:solidFill>
                </a:rPr>
                <a:t>Концептуальное представление</a:t>
              </a:r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754D18D-6E60-1CF1-09A3-6EEF07460321}"/>
                </a:ext>
              </a:extLst>
            </p:cNvPr>
            <p:cNvSpPr txBox="1"/>
            <p:nvPr/>
          </p:nvSpPr>
          <p:spPr>
            <a:xfrm>
              <a:off x="1007874" y="2341844"/>
              <a:ext cx="1367881" cy="415498"/>
            </a:xfrm>
            <a:prstGeom prst="rect">
              <a:avLst/>
            </a:prstGeom>
            <a:noFill/>
          </p:spPr>
          <p:txBody>
            <a:bodyPr wrap="square" lIns="36000" rIns="36000" rtlCol="0" anchor="ctr">
              <a:spAutoFit/>
            </a:bodyPr>
            <a:lstStyle/>
            <a:p>
              <a:pPr algn="ctr"/>
              <a:r>
                <a:rPr lang="ru-RU" sz="1050" dirty="0"/>
                <a:t>Концептуальная схема </a:t>
              </a:r>
              <a:endParaRPr lang="en-US" sz="1050" dirty="0"/>
            </a:p>
          </p:txBody>
        </p:sp>
      </p:grpSp>
      <p:cxnSp>
        <p:nvCxnSpPr>
          <p:cNvPr id="70" name="Google Shape;493;p20">
            <a:extLst>
              <a:ext uri="{FF2B5EF4-FFF2-40B4-BE49-F238E27FC236}">
                <a16:creationId xmlns:a16="http://schemas.microsoft.com/office/drawing/2014/main" id="{502C50F8-EA96-315B-7CB0-F9E454E26392}"/>
              </a:ext>
            </a:extLst>
          </p:cNvPr>
          <p:cNvCxnSpPr>
            <a:cxnSpLocks/>
            <a:stCxn id="66" idx="0"/>
            <a:endCxn id="40" idx="2"/>
          </p:cNvCxnSpPr>
          <p:nvPr/>
        </p:nvCxnSpPr>
        <p:spPr>
          <a:xfrm flipH="1" flipV="1">
            <a:off x="2751359" y="2760491"/>
            <a:ext cx="1738048" cy="55193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arrow" w="sm" len="lg"/>
            <a:tailEnd type="arrow" w="sm" len="lg"/>
          </a:ln>
        </p:spPr>
      </p:cxnSp>
      <p:cxnSp>
        <p:nvCxnSpPr>
          <p:cNvPr id="73" name="Google Shape;493;p20">
            <a:extLst>
              <a:ext uri="{FF2B5EF4-FFF2-40B4-BE49-F238E27FC236}">
                <a16:creationId xmlns:a16="http://schemas.microsoft.com/office/drawing/2014/main" id="{B0C97FA4-1F70-4175-C325-BA12A47E3BE0}"/>
              </a:ext>
            </a:extLst>
          </p:cNvPr>
          <p:cNvCxnSpPr>
            <a:cxnSpLocks/>
            <a:stCxn id="41" idx="2"/>
            <a:endCxn id="66" idx="0"/>
          </p:cNvCxnSpPr>
          <p:nvPr/>
        </p:nvCxnSpPr>
        <p:spPr>
          <a:xfrm flipH="1">
            <a:off x="4489407" y="2787838"/>
            <a:ext cx="1765470" cy="52458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arrow" w="sm" len="lg"/>
            <a:tailEnd type="arrow" w="sm" len="lg"/>
          </a:ln>
        </p:spPr>
      </p:cxnSp>
      <p:sp>
        <p:nvSpPr>
          <p:cNvPr id="81" name="Flowchart: Magnetic Disk 80">
            <a:extLst>
              <a:ext uri="{FF2B5EF4-FFF2-40B4-BE49-F238E27FC236}">
                <a16:creationId xmlns:a16="http://schemas.microsoft.com/office/drawing/2014/main" id="{4255321C-F609-CFB9-8CD2-30EAB93B33C8}"/>
              </a:ext>
            </a:extLst>
          </p:cNvPr>
          <p:cNvSpPr/>
          <p:nvPr/>
        </p:nvSpPr>
        <p:spPr>
          <a:xfrm>
            <a:off x="2876120" y="4321159"/>
            <a:ext cx="296884" cy="270584"/>
          </a:xfrm>
          <a:prstGeom prst="flowChartMagneticDisk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Magnetic Disk 81">
            <a:extLst>
              <a:ext uri="{FF2B5EF4-FFF2-40B4-BE49-F238E27FC236}">
                <a16:creationId xmlns:a16="http://schemas.microsoft.com/office/drawing/2014/main" id="{DCE60DB6-AAD3-7ADB-E502-1B56F03EF78D}"/>
              </a:ext>
            </a:extLst>
          </p:cNvPr>
          <p:cNvSpPr/>
          <p:nvPr/>
        </p:nvSpPr>
        <p:spPr>
          <a:xfrm>
            <a:off x="3290362" y="4321159"/>
            <a:ext cx="296884" cy="270584"/>
          </a:xfrm>
          <a:prstGeom prst="flowChartMagneticDisk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lowchart: Magnetic Disk 82">
            <a:extLst>
              <a:ext uri="{FF2B5EF4-FFF2-40B4-BE49-F238E27FC236}">
                <a16:creationId xmlns:a16="http://schemas.microsoft.com/office/drawing/2014/main" id="{33961816-D31A-17A3-0055-748ED851BFD7}"/>
              </a:ext>
            </a:extLst>
          </p:cNvPr>
          <p:cNvSpPr/>
          <p:nvPr/>
        </p:nvSpPr>
        <p:spPr>
          <a:xfrm>
            <a:off x="3704604" y="4321159"/>
            <a:ext cx="296884" cy="270584"/>
          </a:xfrm>
          <a:prstGeom prst="flowChartMagneticDisk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Magnetic Disk 83">
            <a:extLst>
              <a:ext uri="{FF2B5EF4-FFF2-40B4-BE49-F238E27FC236}">
                <a16:creationId xmlns:a16="http://schemas.microsoft.com/office/drawing/2014/main" id="{30156ACC-4372-BAD1-002E-9604D9955E72}"/>
              </a:ext>
            </a:extLst>
          </p:cNvPr>
          <p:cNvSpPr/>
          <p:nvPr/>
        </p:nvSpPr>
        <p:spPr>
          <a:xfrm>
            <a:off x="4118846" y="4321159"/>
            <a:ext cx="296884" cy="270584"/>
          </a:xfrm>
          <a:prstGeom prst="flowChartMagneticDisk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lowchart: Magnetic Disk 84">
            <a:extLst>
              <a:ext uri="{FF2B5EF4-FFF2-40B4-BE49-F238E27FC236}">
                <a16:creationId xmlns:a16="http://schemas.microsoft.com/office/drawing/2014/main" id="{18DE1114-D869-4CB1-1199-FF6492EE10F3}"/>
              </a:ext>
            </a:extLst>
          </p:cNvPr>
          <p:cNvSpPr/>
          <p:nvPr/>
        </p:nvSpPr>
        <p:spPr>
          <a:xfrm>
            <a:off x="4533088" y="4321159"/>
            <a:ext cx="296884" cy="270584"/>
          </a:xfrm>
          <a:prstGeom prst="flowChartMagneticDisk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Magnetic Disk 85">
            <a:extLst>
              <a:ext uri="{FF2B5EF4-FFF2-40B4-BE49-F238E27FC236}">
                <a16:creationId xmlns:a16="http://schemas.microsoft.com/office/drawing/2014/main" id="{AA6BB405-0DC3-8596-6C89-FE1A48AC0BC0}"/>
              </a:ext>
            </a:extLst>
          </p:cNvPr>
          <p:cNvSpPr/>
          <p:nvPr/>
        </p:nvSpPr>
        <p:spPr>
          <a:xfrm>
            <a:off x="4947330" y="4321159"/>
            <a:ext cx="296884" cy="270584"/>
          </a:xfrm>
          <a:prstGeom prst="flowChartMagneticDisk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lowchart: Magnetic Disk 86">
            <a:extLst>
              <a:ext uri="{FF2B5EF4-FFF2-40B4-BE49-F238E27FC236}">
                <a16:creationId xmlns:a16="http://schemas.microsoft.com/office/drawing/2014/main" id="{41A04C4E-C018-A171-67E7-A8ACDC4134C8}"/>
              </a:ext>
            </a:extLst>
          </p:cNvPr>
          <p:cNvSpPr/>
          <p:nvPr/>
        </p:nvSpPr>
        <p:spPr>
          <a:xfrm>
            <a:off x="5361572" y="4321159"/>
            <a:ext cx="296884" cy="270584"/>
          </a:xfrm>
          <a:prstGeom prst="flowChartMagneticDisk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Magnetic Disk 87">
            <a:extLst>
              <a:ext uri="{FF2B5EF4-FFF2-40B4-BE49-F238E27FC236}">
                <a16:creationId xmlns:a16="http://schemas.microsoft.com/office/drawing/2014/main" id="{36D5410B-E8BA-F659-F254-684F73C52B52}"/>
              </a:ext>
            </a:extLst>
          </p:cNvPr>
          <p:cNvSpPr/>
          <p:nvPr/>
        </p:nvSpPr>
        <p:spPr>
          <a:xfrm>
            <a:off x="5775814" y="4321159"/>
            <a:ext cx="296884" cy="270584"/>
          </a:xfrm>
          <a:prstGeom prst="flowChartMagneticDisk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lowchart: Magnetic Disk 88">
            <a:extLst>
              <a:ext uri="{FF2B5EF4-FFF2-40B4-BE49-F238E27FC236}">
                <a16:creationId xmlns:a16="http://schemas.microsoft.com/office/drawing/2014/main" id="{EB12EE9B-4E38-555E-8984-92CD878AB95A}"/>
              </a:ext>
            </a:extLst>
          </p:cNvPr>
          <p:cNvSpPr/>
          <p:nvPr/>
        </p:nvSpPr>
        <p:spPr>
          <a:xfrm>
            <a:off x="6190054" y="4321159"/>
            <a:ext cx="296884" cy="270584"/>
          </a:xfrm>
          <a:prstGeom prst="flowChartMagneticDisk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C544B33-0290-0103-69CE-FC48A08E3BFE}"/>
              </a:ext>
            </a:extLst>
          </p:cNvPr>
          <p:cNvGrpSpPr/>
          <p:nvPr/>
        </p:nvGrpSpPr>
        <p:grpSpPr>
          <a:xfrm>
            <a:off x="1295597" y="4225795"/>
            <a:ext cx="5394551" cy="418647"/>
            <a:chOff x="1411021" y="2341844"/>
            <a:chExt cx="5394551" cy="418647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A893381-2EA8-5AF3-0370-AA70FB8A03E1}"/>
                </a:ext>
              </a:extLst>
            </p:cNvPr>
            <p:cNvSpPr txBox="1"/>
            <p:nvPr/>
          </p:nvSpPr>
          <p:spPr>
            <a:xfrm>
              <a:off x="1411021" y="2341844"/>
              <a:ext cx="964733" cy="415498"/>
            </a:xfrm>
            <a:prstGeom prst="rect">
              <a:avLst/>
            </a:prstGeom>
            <a:noFill/>
          </p:spPr>
          <p:txBody>
            <a:bodyPr wrap="square" lIns="36000" rIns="36000" rtlCol="0" anchor="ctr">
              <a:spAutoFit/>
            </a:bodyPr>
            <a:lstStyle/>
            <a:p>
              <a:pPr algn="ctr"/>
              <a:r>
                <a:rPr lang="ru-RU" sz="1050" dirty="0"/>
                <a:t>Внутренняя схема</a:t>
              </a:r>
              <a:endParaRPr lang="en-US" sz="1050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9652DDC-D909-BE46-B62E-3AB85DE0F223}"/>
                </a:ext>
              </a:extLst>
            </p:cNvPr>
            <p:cNvSpPr/>
            <p:nvPr/>
          </p:nvSpPr>
          <p:spPr>
            <a:xfrm>
              <a:off x="2375756" y="2344993"/>
              <a:ext cx="4429816" cy="4154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ru-RU" sz="1050" dirty="0">
                  <a:solidFill>
                    <a:schemeClr val="tx1"/>
                  </a:solidFill>
                  <a:effectLst>
                    <a:glow rad="127000">
                      <a:schemeClr val="bg1"/>
                    </a:glow>
                  </a:effectLst>
                </a:rPr>
                <a:t>Хранимая база данных (внутреннее представление)</a:t>
              </a:r>
              <a:endParaRPr lang="en-US" sz="1050" dirty="0">
                <a:solidFill>
                  <a:schemeClr val="tx1"/>
                </a:solidFill>
                <a:effectLst>
                  <a:glow rad="127000">
                    <a:schemeClr val="bg1"/>
                  </a:glow>
                </a:effectLst>
              </a:endParaRPr>
            </a:p>
          </p:txBody>
        </p:sp>
      </p:grpSp>
      <p:sp>
        <p:nvSpPr>
          <p:cNvPr id="90" name="Oval 89">
            <a:extLst>
              <a:ext uri="{FF2B5EF4-FFF2-40B4-BE49-F238E27FC236}">
                <a16:creationId xmlns:a16="http://schemas.microsoft.com/office/drawing/2014/main" id="{E5EC3BEF-9605-1E06-FD46-EDC58BA386DA}"/>
              </a:ext>
            </a:extLst>
          </p:cNvPr>
          <p:cNvSpPr/>
          <p:nvPr/>
        </p:nvSpPr>
        <p:spPr>
          <a:xfrm>
            <a:off x="7125419" y="2722967"/>
            <a:ext cx="1588682" cy="15886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Система управления базами данных (СУБД)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7B2FBF4-7849-0505-1FC8-89E250D1E439}"/>
              </a:ext>
            </a:extLst>
          </p:cNvPr>
          <p:cNvCxnSpPr>
            <a:cxnSpLocks/>
            <a:endCxn id="36" idx="3"/>
          </p:cNvCxnSpPr>
          <p:nvPr/>
        </p:nvCxnSpPr>
        <p:spPr>
          <a:xfrm flipH="1">
            <a:off x="8644856" y="1702681"/>
            <a:ext cx="319632" cy="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0757621-E8F9-28BE-FE46-7D93A5A2DB9C}"/>
              </a:ext>
            </a:extLst>
          </p:cNvPr>
          <p:cNvCxnSpPr>
            <a:cxnSpLocks/>
          </p:cNvCxnSpPr>
          <p:nvPr/>
        </p:nvCxnSpPr>
        <p:spPr>
          <a:xfrm flipH="1">
            <a:off x="6896358" y="2562165"/>
            <a:ext cx="319632" cy="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oogle Shape;493;p20">
            <a:extLst>
              <a:ext uri="{FF2B5EF4-FFF2-40B4-BE49-F238E27FC236}">
                <a16:creationId xmlns:a16="http://schemas.microsoft.com/office/drawing/2014/main" id="{C502B8F1-F22D-8A76-0028-829D061B4127}"/>
              </a:ext>
            </a:extLst>
          </p:cNvPr>
          <p:cNvCxnSpPr>
            <a:cxnSpLocks/>
            <a:endCxn id="90" idx="7"/>
          </p:cNvCxnSpPr>
          <p:nvPr/>
        </p:nvCxnSpPr>
        <p:spPr>
          <a:xfrm flipH="1">
            <a:off x="8481444" y="1740989"/>
            <a:ext cx="350013" cy="121463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arrow" w="sm" len="lg"/>
            <a:tailEnd type="arrow" w="sm" len="lg"/>
          </a:ln>
        </p:spPr>
      </p:cxnSp>
      <p:cxnSp>
        <p:nvCxnSpPr>
          <p:cNvPr id="103" name="Google Shape;493;p20">
            <a:extLst>
              <a:ext uri="{FF2B5EF4-FFF2-40B4-BE49-F238E27FC236}">
                <a16:creationId xmlns:a16="http://schemas.microsoft.com/office/drawing/2014/main" id="{E4FB6F35-B2D6-D153-EECD-4F56DC9F669F}"/>
              </a:ext>
            </a:extLst>
          </p:cNvPr>
          <p:cNvCxnSpPr>
            <a:cxnSpLocks/>
            <a:endCxn id="90" idx="1"/>
          </p:cNvCxnSpPr>
          <p:nvPr/>
        </p:nvCxnSpPr>
        <p:spPr>
          <a:xfrm>
            <a:off x="7125419" y="2609736"/>
            <a:ext cx="232657" cy="3458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arrow" w="sm" len="lg"/>
            <a:tailEnd type="arrow" w="sm" len="lg"/>
          </a:ln>
        </p:spPr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ED27CCA-B274-1F8C-43FF-BDC33CD68CDB}"/>
              </a:ext>
            </a:extLst>
          </p:cNvPr>
          <p:cNvSpPr txBox="1"/>
          <p:nvPr/>
        </p:nvSpPr>
        <p:spPr>
          <a:xfrm>
            <a:off x="2731658" y="2874046"/>
            <a:ext cx="1647331" cy="338554"/>
          </a:xfrm>
          <a:prstGeom prst="rect">
            <a:avLst/>
          </a:prstGeom>
          <a:noFill/>
        </p:spPr>
        <p:txBody>
          <a:bodyPr wrap="square" lIns="36000" rIns="36000" rtlCol="0" anchor="ctr">
            <a:spAutoFit/>
          </a:bodyPr>
          <a:lstStyle/>
          <a:p>
            <a:pPr algn="ctr"/>
            <a:r>
              <a:rPr lang="ru-RU" sz="800" dirty="0">
                <a:effectLst>
                  <a:glow rad="127000">
                    <a:schemeClr val="bg1"/>
                  </a:glow>
                </a:effectLst>
              </a:rPr>
              <a:t>Внешнее/концептуальное отображение </a:t>
            </a:r>
            <a:r>
              <a:rPr lang="en-US" sz="800" dirty="0">
                <a:effectLst>
                  <a:glow rad="127000">
                    <a:schemeClr val="bg1"/>
                  </a:glow>
                </a:effectLst>
              </a:rPr>
              <a:t>A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94DCC2C-AF47-A441-3C36-1F90AF1A5F8E}"/>
              </a:ext>
            </a:extLst>
          </p:cNvPr>
          <p:cNvSpPr txBox="1"/>
          <p:nvPr/>
        </p:nvSpPr>
        <p:spPr>
          <a:xfrm>
            <a:off x="4536283" y="2881763"/>
            <a:ext cx="1647331" cy="338554"/>
          </a:xfrm>
          <a:prstGeom prst="rect">
            <a:avLst/>
          </a:prstGeom>
          <a:noFill/>
        </p:spPr>
        <p:txBody>
          <a:bodyPr wrap="square" lIns="36000" rIns="36000" rtlCol="0" anchor="ctr">
            <a:spAutoFit/>
          </a:bodyPr>
          <a:lstStyle/>
          <a:p>
            <a:pPr algn="ctr"/>
            <a:r>
              <a:rPr lang="ru-RU" sz="800" dirty="0">
                <a:effectLst>
                  <a:glow rad="127000">
                    <a:schemeClr val="bg1"/>
                  </a:glow>
                </a:effectLst>
              </a:rPr>
              <a:t>Внешнее/концептуальное отображение </a:t>
            </a:r>
            <a:r>
              <a:rPr lang="en-US" sz="800" dirty="0">
                <a:effectLst>
                  <a:glow rad="127000">
                    <a:schemeClr val="bg1"/>
                  </a:glow>
                </a:effectLst>
              </a:rPr>
              <a:t>B</a:t>
            </a:r>
          </a:p>
        </p:txBody>
      </p:sp>
      <p:cxnSp>
        <p:nvCxnSpPr>
          <p:cNvPr id="108" name="Google Shape;493;p20">
            <a:extLst>
              <a:ext uri="{FF2B5EF4-FFF2-40B4-BE49-F238E27FC236}">
                <a16:creationId xmlns:a16="http://schemas.microsoft.com/office/drawing/2014/main" id="{918DA218-6DFF-4E09-7DF1-769A4E9C1EA8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4489407" y="3727925"/>
            <a:ext cx="0" cy="49787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arrow" w="sm" len="lg"/>
            <a:tailEnd type="arrow" w="sm" len="lg"/>
          </a:ln>
        </p:spPr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38DFEBF7-5670-3A00-0E35-3A5E2FC83B8D}"/>
              </a:ext>
            </a:extLst>
          </p:cNvPr>
          <p:cNvSpPr txBox="1"/>
          <p:nvPr/>
        </p:nvSpPr>
        <p:spPr>
          <a:xfrm>
            <a:off x="3665741" y="3795886"/>
            <a:ext cx="1733151" cy="338554"/>
          </a:xfrm>
          <a:prstGeom prst="rect">
            <a:avLst/>
          </a:prstGeom>
          <a:noFill/>
        </p:spPr>
        <p:txBody>
          <a:bodyPr wrap="square" lIns="36000" rIns="36000" rtlCol="0" anchor="ctr">
            <a:spAutoFit/>
          </a:bodyPr>
          <a:lstStyle/>
          <a:p>
            <a:pPr algn="ctr"/>
            <a:r>
              <a:rPr lang="ru-RU" sz="800" dirty="0">
                <a:effectLst>
                  <a:glow rad="127000">
                    <a:schemeClr val="bg1"/>
                  </a:glow>
                </a:effectLst>
              </a:rPr>
              <a:t>Концептуальное</a:t>
            </a:r>
            <a:r>
              <a:rPr lang="en-US" sz="800" dirty="0">
                <a:effectLst>
                  <a:glow rad="127000">
                    <a:schemeClr val="bg1"/>
                  </a:glow>
                </a:effectLst>
              </a:rPr>
              <a:t>/</a:t>
            </a:r>
            <a:r>
              <a:rPr lang="ru-RU" sz="800" dirty="0">
                <a:effectLst>
                  <a:glow rad="127000">
                    <a:schemeClr val="bg1"/>
                  </a:glow>
                </a:effectLst>
              </a:rPr>
              <a:t>внутреннее отображение</a:t>
            </a:r>
            <a:endParaRPr lang="en-US" sz="800" dirty="0">
              <a:effectLst>
                <a:glow rad="127000">
                  <a:schemeClr val="bg1"/>
                </a:glow>
              </a:effectLst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EF69BF3-AEC3-7983-BF85-969E971AF03C}"/>
              </a:ext>
            </a:extLst>
          </p:cNvPr>
          <p:cNvSpPr txBox="1"/>
          <p:nvPr/>
        </p:nvSpPr>
        <p:spPr>
          <a:xfrm>
            <a:off x="95647" y="2891864"/>
            <a:ext cx="889615" cy="1200329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ru-RU" sz="900" dirty="0"/>
              <a:t>Схемы и отображения, формируемые и </a:t>
            </a:r>
            <a:r>
              <a:rPr lang="ru-RU" sz="900" dirty="0" err="1"/>
              <a:t>сопровож</a:t>
            </a:r>
            <a:r>
              <a:rPr lang="en-US" sz="900" dirty="0"/>
              <a:t>-</a:t>
            </a:r>
            <a:r>
              <a:rPr lang="ru-RU" sz="900" dirty="0" err="1"/>
              <a:t>даемые</a:t>
            </a:r>
            <a:r>
              <a:rPr lang="ru-RU" sz="900" dirty="0"/>
              <a:t> </a:t>
            </a:r>
            <a:r>
              <a:rPr lang="ru-RU" sz="900" dirty="0" err="1"/>
              <a:t>адми</a:t>
            </a:r>
            <a:r>
              <a:rPr lang="en-US" sz="900" dirty="0"/>
              <a:t>-</a:t>
            </a:r>
            <a:r>
              <a:rPr lang="ru-RU" sz="900" dirty="0" err="1"/>
              <a:t>нистратором</a:t>
            </a:r>
            <a:r>
              <a:rPr lang="ru-RU" sz="900" dirty="0"/>
              <a:t> базы данных (</a:t>
            </a:r>
            <a:r>
              <a:rPr lang="en-US" sz="900" dirty="0"/>
              <a:t>DBA)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2515510-31A8-28A1-394F-5C8ED552F715}"/>
              </a:ext>
            </a:extLst>
          </p:cNvPr>
          <p:cNvGrpSpPr/>
          <p:nvPr/>
        </p:nvGrpSpPr>
        <p:grpSpPr>
          <a:xfrm>
            <a:off x="1025401" y="2348306"/>
            <a:ext cx="152839" cy="2240003"/>
            <a:chOff x="1025401" y="2348306"/>
            <a:chExt cx="152839" cy="2240003"/>
          </a:xfrm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0C9A22D2-716D-726E-53B8-3D96CA5A31F6}"/>
                </a:ext>
              </a:extLst>
            </p:cNvPr>
            <p:cNvSpPr/>
            <p:nvPr/>
          </p:nvSpPr>
          <p:spPr>
            <a:xfrm>
              <a:off x="1025401" y="3019365"/>
              <a:ext cx="152838" cy="1568944"/>
            </a:xfrm>
            <a:custGeom>
              <a:avLst/>
              <a:gdLst>
                <a:gd name="connsiteX0" fmla="*/ 76419 w 152838"/>
                <a:gd name="connsiteY0" fmla="*/ 0 h 1568944"/>
                <a:gd name="connsiteX1" fmla="*/ 152838 w 152838"/>
                <a:gd name="connsiteY1" fmla="*/ 0 h 1568944"/>
                <a:gd name="connsiteX2" fmla="*/ 152838 w 152838"/>
                <a:gd name="connsiteY2" fmla="*/ 1568944 h 1568944"/>
                <a:gd name="connsiteX3" fmla="*/ 76419 w 152838"/>
                <a:gd name="connsiteY3" fmla="*/ 1515212 h 1568944"/>
                <a:gd name="connsiteX4" fmla="*/ 76419 w 152838"/>
                <a:gd name="connsiteY4" fmla="*/ 506706 h 1568944"/>
                <a:gd name="connsiteX5" fmla="*/ 0 w 152838"/>
                <a:gd name="connsiteY5" fmla="*/ 452974 h 1568944"/>
                <a:gd name="connsiteX6" fmla="*/ 76419 w 152838"/>
                <a:gd name="connsiteY6" fmla="*/ 399242 h 1568944"/>
                <a:gd name="connsiteX0" fmla="*/ 152838 w 244278"/>
                <a:gd name="connsiteY0" fmla="*/ 0 h 1568944"/>
                <a:gd name="connsiteX1" fmla="*/ 152838 w 244278"/>
                <a:gd name="connsiteY1" fmla="*/ 1568944 h 1568944"/>
                <a:gd name="connsiteX2" fmla="*/ 76419 w 244278"/>
                <a:gd name="connsiteY2" fmla="*/ 1515212 h 1568944"/>
                <a:gd name="connsiteX3" fmla="*/ 76419 w 244278"/>
                <a:gd name="connsiteY3" fmla="*/ 506706 h 1568944"/>
                <a:gd name="connsiteX4" fmla="*/ 0 w 244278"/>
                <a:gd name="connsiteY4" fmla="*/ 452974 h 1568944"/>
                <a:gd name="connsiteX5" fmla="*/ 76419 w 244278"/>
                <a:gd name="connsiteY5" fmla="*/ 399242 h 1568944"/>
                <a:gd name="connsiteX6" fmla="*/ 76419 w 244278"/>
                <a:gd name="connsiteY6" fmla="*/ 0 h 1568944"/>
                <a:gd name="connsiteX7" fmla="*/ 244278 w 244278"/>
                <a:gd name="connsiteY7" fmla="*/ 91440 h 1568944"/>
                <a:gd name="connsiteX0" fmla="*/ 152838 w 152838"/>
                <a:gd name="connsiteY0" fmla="*/ 0 h 1568944"/>
                <a:gd name="connsiteX1" fmla="*/ 152838 w 152838"/>
                <a:gd name="connsiteY1" fmla="*/ 1568944 h 1568944"/>
                <a:gd name="connsiteX2" fmla="*/ 76419 w 152838"/>
                <a:gd name="connsiteY2" fmla="*/ 1515212 h 1568944"/>
                <a:gd name="connsiteX3" fmla="*/ 76419 w 152838"/>
                <a:gd name="connsiteY3" fmla="*/ 506706 h 1568944"/>
                <a:gd name="connsiteX4" fmla="*/ 0 w 152838"/>
                <a:gd name="connsiteY4" fmla="*/ 452974 h 1568944"/>
                <a:gd name="connsiteX5" fmla="*/ 76419 w 152838"/>
                <a:gd name="connsiteY5" fmla="*/ 399242 h 1568944"/>
                <a:gd name="connsiteX6" fmla="*/ 76419 w 152838"/>
                <a:gd name="connsiteY6" fmla="*/ 0 h 1568944"/>
                <a:gd name="connsiteX0" fmla="*/ 152838 w 152838"/>
                <a:gd name="connsiteY0" fmla="*/ 1568944 h 1568944"/>
                <a:gd name="connsiteX1" fmla="*/ 76419 w 152838"/>
                <a:gd name="connsiteY1" fmla="*/ 1515212 h 1568944"/>
                <a:gd name="connsiteX2" fmla="*/ 76419 w 152838"/>
                <a:gd name="connsiteY2" fmla="*/ 506706 h 1568944"/>
                <a:gd name="connsiteX3" fmla="*/ 0 w 152838"/>
                <a:gd name="connsiteY3" fmla="*/ 452974 h 1568944"/>
                <a:gd name="connsiteX4" fmla="*/ 76419 w 152838"/>
                <a:gd name="connsiteY4" fmla="*/ 399242 h 1568944"/>
                <a:gd name="connsiteX5" fmla="*/ 76419 w 152838"/>
                <a:gd name="connsiteY5" fmla="*/ 0 h 1568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38" h="1568944">
                  <a:moveTo>
                    <a:pt x="152838" y="1568944"/>
                  </a:moveTo>
                  <a:cubicBezTo>
                    <a:pt x="110633" y="1568944"/>
                    <a:pt x="76419" y="1544887"/>
                    <a:pt x="76419" y="1515212"/>
                  </a:cubicBezTo>
                  <a:lnTo>
                    <a:pt x="76419" y="506706"/>
                  </a:lnTo>
                  <a:cubicBezTo>
                    <a:pt x="76419" y="477031"/>
                    <a:pt x="42205" y="452974"/>
                    <a:pt x="0" y="452974"/>
                  </a:cubicBezTo>
                  <a:cubicBezTo>
                    <a:pt x="42205" y="452974"/>
                    <a:pt x="76419" y="428917"/>
                    <a:pt x="76419" y="399242"/>
                  </a:cubicBezTo>
                  <a:lnTo>
                    <a:pt x="76419" y="0"/>
                  </a:lnTo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4100D23-9520-9567-A5DB-257379EB5ABD}"/>
                </a:ext>
              </a:extLst>
            </p:cNvPr>
            <p:cNvSpPr/>
            <p:nvPr/>
          </p:nvSpPr>
          <p:spPr>
            <a:xfrm>
              <a:off x="1101821" y="2348306"/>
              <a:ext cx="76419" cy="671059"/>
            </a:xfrm>
            <a:custGeom>
              <a:avLst/>
              <a:gdLst>
                <a:gd name="connsiteX0" fmla="*/ 76419 w 76419"/>
                <a:gd name="connsiteY0" fmla="*/ 0 h 671059"/>
                <a:gd name="connsiteX1" fmla="*/ 76419 w 76419"/>
                <a:gd name="connsiteY1" fmla="*/ 671059 h 671059"/>
                <a:gd name="connsiteX2" fmla="*/ 0 w 76419"/>
                <a:gd name="connsiteY2" fmla="*/ 671059 h 671059"/>
                <a:gd name="connsiteX3" fmla="*/ 0 w 76419"/>
                <a:gd name="connsiteY3" fmla="*/ 53732 h 671059"/>
                <a:gd name="connsiteX4" fmla="*/ 76419 w 76419"/>
                <a:gd name="connsiteY4" fmla="*/ 0 h 671059"/>
                <a:gd name="connsiteX0" fmla="*/ 76419 w 167859"/>
                <a:gd name="connsiteY0" fmla="*/ 671059 h 762499"/>
                <a:gd name="connsiteX1" fmla="*/ 0 w 167859"/>
                <a:gd name="connsiteY1" fmla="*/ 671059 h 762499"/>
                <a:gd name="connsiteX2" fmla="*/ 0 w 167859"/>
                <a:gd name="connsiteY2" fmla="*/ 53732 h 762499"/>
                <a:gd name="connsiteX3" fmla="*/ 76419 w 167859"/>
                <a:gd name="connsiteY3" fmla="*/ 0 h 762499"/>
                <a:gd name="connsiteX4" fmla="*/ 167859 w 167859"/>
                <a:gd name="connsiteY4" fmla="*/ 762499 h 762499"/>
                <a:gd name="connsiteX0" fmla="*/ 76419 w 76419"/>
                <a:gd name="connsiteY0" fmla="*/ 671059 h 671059"/>
                <a:gd name="connsiteX1" fmla="*/ 0 w 76419"/>
                <a:gd name="connsiteY1" fmla="*/ 671059 h 671059"/>
                <a:gd name="connsiteX2" fmla="*/ 0 w 76419"/>
                <a:gd name="connsiteY2" fmla="*/ 53732 h 671059"/>
                <a:gd name="connsiteX3" fmla="*/ 76419 w 76419"/>
                <a:gd name="connsiteY3" fmla="*/ 0 h 671059"/>
                <a:gd name="connsiteX0" fmla="*/ 0 w 76419"/>
                <a:gd name="connsiteY0" fmla="*/ 671059 h 671059"/>
                <a:gd name="connsiteX1" fmla="*/ 0 w 76419"/>
                <a:gd name="connsiteY1" fmla="*/ 53732 h 671059"/>
                <a:gd name="connsiteX2" fmla="*/ 76419 w 76419"/>
                <a:gd name="connsiteY2" fmla="*/ 0 h 67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419" h="671059">
                  <a:moveTo>
                    <a:pt x="0" y="671059"/>
                  </a:moveTo>
                  <a:lnTo>
                    <a:pt x="0" y="53732"/>
                  </a:lnTo>
                  <a:cubicBezTo>
                    <a:pt x="0" y="24057"/>
                    <a:pt x="34214" y="0"/>
                    <a:pt x="76419" y="0"/>
                  </a:cubicBezTo>
                </a:path>
              </a:pathLst>
            </a:cu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22" name="Google Shape;493;p20">
            <a:extLst>
              <a:ext uri="{FF2B5EF4-FFF2-40B4-BE49-F238E27FC236}">
                <a16:creationId xmlns:a16="http://schemas.microsoft.com/office/drawing/2014/main" id="{74038053-A412-5488-BD12-6FD797B5C4C1}"/>
              </a:ext>
            </a:extLst>
          </p:cNvPr>
          <p:cNvCxnSpPr>
            <a:cxnSpLocks/>
            <a:stCxn id="66" idx="3"/>
            <a:endCxn id="90" idx="2"/>
          </p:cNvCxnSpPr>
          <p:nvPr/>
        </p:nvCxnSpPr>
        <p:spPr>
          <a:xfrm flipV="1">
            <a:off x="5173348" y="3517308"/>
            <a:ext cx="1952071" cy="286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arrow" w="sm" len="lg"/>
            <a:tailEnd type="arrow" w="sm" len="lg"/>
          </a:ln>
        </p:spPr>
      </p:cxnSp>
      <p:cxnSp>
        <p:nvCxnSpPr>
          <p:cNvPr id="125" name="Google Shape;493;p20">
            <a:extLst>
              <a:ext uri="{FF2B5EF4-FFF2-40B4-BE49-F238E27FC236}">
                <a16:creationId xmlns:a16="http://schemas.microsoft.com/office/drawing/2014/main" id="{9C4B01B9-2BB3-4272-D07F-568795C2A306}"/>
              </a:ext>
            </a:extLst>
          </p:cNvPr>
          <p:cNvCxnSpPr>
            <a:cxnSpLocks/>
            <a:stCxn id="107" idx="3"/>
          </p:cNvCxnSpPr>
          <p:nvPr/>
        </p:nvCxnSpPr>
        <p:spPr>
          <a:xfrm>
            <a:off x="6183614" y="3051040"/>
            <a:ext cx="969900" cy="24533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arrow" w="sm" len="lg"/>
            <a:tailEnd type="arrow" w="sm" len="lg"/>
          </a:ln>
        </p:spPr>
      </p:cxnSp>
      <p:cxnSp>
        <p:nvCxnSpPr>
          <p:cNvPr id="128" name="Google Shape;493;p20">
            <a:extLst>
              <a:ext uri="{FF2B5EF4-FFF2-40B4-BE49-F238E27FC236}">
                <a16:creationId xmlns:a16="http://schemas.microsoft.com/office/drawing/2014/main" id="{55A960C1-3A08-FB1D-3911-7C9290322E27}"/>
              </a:ext>
            </a:extLst>
          </p:cNvPr>
          <p:cNvCxnSpPr>
            <a:cxnSpLocks/>
            <a:stCxn id="109" idx="3"/>
          </p:cNvCxnSpPr>
          <p:nvPr/>
        </p:nvCxnSpPr>
        <p:spPr>
          <a:xfrm flipV="1">
            <a:off x="5398892" y="3743187"/>
            <a:ext cx="1765470" cy="22197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arrow" w="sm" len="lg"/>
            <a:tailEnd type="arrow" w="sm" len="lg"/>
          </a:ln>
        </p:spPr>
      </p:cxnSp>
      <p:cxnSp>
        <p:nvCxnSpPr>
          <p:cNvPr id="132" name="Google Shape;493;p20">
            <a:extLst>
              <a:ext uri="{FF2B5EF4-FFF2-40B4-BE49-F238E27FC236}">
                <a16:creationId xmlns:a16="http://schemas.microsoft.com/office/drawing/2014/main" id="{9F535BB0-EF3B-FACD-77CE-C15A7751249D}"/>
              </a:ext>
            </a:extLst>
          </p:cNvPr>
          <p:cNvCxnSpPr>
            <a:cxnSpLocks/>
            <a:stCxn id="78" idx="3"/>
            <a:endCxn id="90" idx="3"/>
          </p:cNvCxnSpPr>
          <p:nvPr/>
        </p:nvCxnSpPr>
        <p:spPr>
          <a:xfrm flipV="1">
            <a:off x="6690148" y="4078992"/>
            <a:ext cx="667928" cy="35770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arrow" w="sm" len="lg"/>
            <a:tailEnd type="arrow" w="sm" len="lg"/>
          </a:ln>
        </p:spPr>
      </p:cxnSp>
    </p:spTree>
    <p:extLst>
      <p:ext uri="{BB962C8B-B14F-4D97-AF65-F5344CB8AC3E}">
        <p14:creationId xmlns:p14="http://schemas.microsoft.com/office/powerpoint/2010/main" val="154852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FCD727-3462-5607-4A6A-04E2CA0B1D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8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позволяет изменять структуру данных и организацию данных во внешней памяти без изменения текста программ. Требуется перекомпиляция.</a:t>
            </a:r>
          </a:p>
          <a:p>
            <a:pPr marL="0" indent="0">
              <a:buNone/>
            </a:pPr>
            <a:r>
              <a:rPr lang="ru-RU" b="1" dirty="0"/>
              <a:t>Реализуется на 2-ух уровнях: логическом и физическом</a:t>
            </a:r>
          </a:p>
          <a:p>
            <a:r>
              <a:rPr lang="ru-RU" b="1" dirty="0"/>
              <a:t>Физический уровень</a:t>
            </a:r>
            <a:r>
              <a:rPr lang="ru-RU" dirty="0"/>
              <a:t>: </a:t>
            </a:r>
            <a:br>
              <a:rPr lang="ru-RU" dirty="0"/>
            </a:br>
            <a:r>
              <a:rPr lang="ru-RU" dirty="0"/>
              <a:t>невосприимчивость приложений к изменениям в физическом представлении данных и в методах доступа к данных </a:t>
            </a:r>
          </a:p>
          <a:p>
            <a:pPr lvl="1"/>
            <a:r>
              <a:rPr lang="ru-RU" dirty="0"/>
              <a:t>Изменение реализации на внутреннем уровне – последовательный, индексный, </a:t>
            </a:r>
            <a:br>
              <a:rPr lang="ru-RU" dirty="0"/>
            </a:br>
            <a:r>
              <a:rPr lang="ru-RU" dirty="0"/>
              <a:t>В-дерево</a:t>
            </a:r>
          </a:p>
          <a:p>
            <a:r>
              <a:rPr lang="ru-RU" b="1" dirty="0"/>
              <a:t>Логический уровень</a:t>
            </a:r>
            <a:r>
              <a:rPr lang="ru-RU" dirty="0"/>
              <a:t>: </a:t>
            </a:r>
            <a:br>
              <a:rPr lang="ru-RU" dirty="0"/>
            </a:br>
            <a:r>
              <a:rPr lang="ru-RU" dirty="0"/>
              <a:t>отсутствие влияния изменений в логической структуре базы данных на работу пользователей и пользовательских программ</a:t>
            </a:r>
          </a:p>
          <a:p>
            <a:pPr lvl="1"/>
            <a:r>
              <a:rPr lang="ru-RU" dirty="0"/>
              <a:t>Изменение состава полей в таблице БД,</a:t>
            </a:r>
          </a:p>
          <a:p>
            <a:pPr lvl="1"/>
            <a:r>
              <a:rPr lang="ru-RU" dirty="0"/>
              <a:t>Изменение типов данных,</a:t>
            </a:r>
          </a:p>
          <a:p>
            <a:pPr lvl="1"/>
            <a:r>
              <a:rPr lang="ru-RU" dirty="0"/>
              <a:t>Формирование представлений (виртуальных таблиц)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9ECE36-591B-85B9-F3B8-4C39BE7EE5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Независимость данных от программ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207267-5E5D-FD8E-C60F-6F0619DE9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Подход баз данных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00AFC4-21F3-2F3B-F85B-784523214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689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FCD727-3462-5607-4A6A-04E2CA0B1D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8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Допускается </a:t>
            </a:r>
            <a:r>
              <a:rPr lang="ru-RU" b="1" dirty="0"/>
              <a:t>одновременный доступ</a:t>
            </a:r>
            <a:r>
              <a:rPr lang="ru-RU" dirty="0"/>
              <a:t> нескольких пользователей к извлечению, изменению и добавлению данных</a:t>
            </a:r>
          </a:p>
          <a:p>
            <a:r>
              <a:rPr lang="ru-RU" dirty="0"/>
              <a:t>Управление совместным доступом гарантирует, что </a:t>
            </a:r>
            <a:r>
              <a:rPr lang="ru-RU" b="1" dirty="0"/>
              <a:t>ТРАНЗАКЦИЯ</a:t>
            </a:r>
            <a:r>
              <a:rPr lang="ru-RU" dirty="0"/>
              <a:t> либо успешно завершится, либо будет отменена без изменения содержимого БД</a:t>
            </a:r>
          </a:p>
          <a:p>
            <a:r>
              <a:rPr lang="ru-RU" dirty="0"/>
              <a:t>Система управления транзакциями гарантирует, что данные из БД после всех </a:t>
            </a:r>
            <a:r>
              <a:rPr lang="ru-RU" b="1" dirty="0"/>
              <a:t>ЗАВЕРШЕННЫХ</a:t>
            </a:r>
            <a:r>
              <a:rPr lang="ru-RU" dirty="0"/>
              <a:t> транзакций будут сохранены в БД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9ECE36-591B-85B9-F3B8-4C39BE7EE5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Многопользовательский доступ к данным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207267-5E5D-FD8E-C60F-6F0619DE9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Подход баз данных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270669-E3B0-80C3-4F0F-C149BF34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16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037635D-D450-25B5-974D-2FF7BF7126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cap="all" dirty="0"/>
              <a:t>Рабочие за сценой</a:t>
            </a:r>
            <a:endParaRPr lang="en-US" cap="all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FE4E424-9830-112A-4270-8C9B5E07F615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269875" marR="0" lvl="0" indent="-2698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Те, кто создает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СУБД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 и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инструменты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 для создания баз данных и приложений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026308-D120-E63C-903A-CD19C1B34E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2000" dirty="0"/>
              <a:t>Те, кто использует содержимое баз данных или создает, </a:t>
            </a:r>
            <a:r>
              <a:rPr lang="ru-RU" sz="2000" b="1" dirty="0"/>
              <a:t>разрабатывает приложения с базами данных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27D3A4-9D05-AB4C-E6FC-B591988110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Актеры на сцене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4BB5ED-4D2F-B628-E45F-4601CA14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Пользователи Баз данных</a:t>
            </a:r>
            <a:endParaRPr lang="en-US" cap="all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3127120-9493-28B7-789B-0D97AFFDF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884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026308-D120-E63C-903A-CD19C1B34E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520305"/>
          </a:xfrm>
        </p:spPr>
        <p:txBody>
          <a:bodyPr>
            <a:normAutofit fontScale="77500" lnSpcReduction="20000"/>
          </a:bodyPr>
          <a:lstStyle/>
          <a:p>
            <a:pPr marL="268288" indent="-268288"/>
            <a:r>
              <a:rPr lang="ru-RU" sz="2000" b="1" dirty="0"/>
              <a:t>Администраторы баз данных</a:t>
            </a:r>
            <a:r>
              <a:rPr lang="ru-RU" sz="2000" dirty="0"/>
              <a:t>, ответственные за </a:t>
            </a:r>
          </a:p>
          <a:p>
            <a:pPr marL="449263" lvl="1" indent="-180975"/>
            <a:r>
              <a:rPr lang="ru-RU" dirty="0"/>
              <a:t>Определение концептуальной схемы,</a:t>
            </a:r>
          </a:p>
          <a:p>
            <a:pPr marL="449263" lvl="1" indent="-180975"/>
            <a:r>
              <a:rPr lang="ru-RU" dirty="0"/>
              <a:t>Определение внутренней схемы, </a:t>
            </a:r>
          </a:p>
          <a:p>
            <a:pPr marL="449263" lvl="1" indent="-180975"/>
            <a:r>
              <a:rPr lang="ru-RU" dirty="0"/>
              <a:t>Взаимодействие с пользователями, </a:t>
            </a:r>
          </a:p>
          <a:p>
            <a:pPr marL="449263" lvl="1" indent="-180975"/>
            <a:r>
              <a:rPr lang="ru-RU" dirty="0"/>
              <a:t>Определение требований защиты и обеспечения целостности данных,</a:t>
            </a:r>
          </a:p>
          <a:p>
            <a:pPr marL="449263" lvl="1" indent="-180975"/>
            <a:r>
              <a:rPr lang="ru-RU" dirty="0"/>
              <a:t>Определение процедур резервного копирования и восстановления,</a:t>
            </a:r>
          </a:p>
          <a:p>
            <a:pPr marL="449263" lvl="1" indent="-180975"/>
            <a:r>
              <a:rPr lang="ru-RU" dirty="0"/>
              <a:t>Управление производительностью и реагирование на изменяющиеся требования</a:t>
            </a:r>
          </a:p>
          <a:p>
            <a:pPr marL="268288" indent="-268288"/>
            <a:r>
              <a:rPr lang="ru-RU" sz="2000" b="1" dirty="0"/>
              <a:t>Прикладные программисты</a:t>
            </a:r>
            <a:r>
              <a:rPr lang="ru-RU" sz="2000" dirty="0"/>
              <a:t>, ответственные за </a:t>
            </a:r>
          </a:p>
          <a:p>
            <a:pPr marL="449263" lvl="1" indent="-180975"/>
            <a:r>
              <a:rPr lang="ru-RU" dirty="0"/>
              <a:t>Разработку интерфейсов работы с базой данных,</a:t>
            </a:r>
          </a:p>
          <a:p>
            <a:pPr marL="449263" lvl="1" indent="-180975"/>
            <a:r>
              <a:rPr lang="ru-RU" dirty="0"/>
              <a:t>Функции или операции над базой данных </a:t>
            </a:r>
          </a:p>
          <a:p>
            <a:pPr marL="449263" lvl="1" indent="-180975"/>
            <a:r>
              <a:rPr lang="ru-RU" dirty="0"/>
              <a:t>Общение с конечными пользователями и понимание их потребностей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27D3A4-9D05-AB4C-E6FC-B591988110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Актеры на сцене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4BB5ED-4D2F-B628-E45F-4601CA14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Пользователи Баз данных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50F6C6-9EF9-3C82-B185-5B090CFD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19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026308-D120-E63C-903A-CD19C1B34E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736304"/>
          </a:xfrm>
        </p:spPr>
        <p:txBody>
          <a:bodyPr>
            <a:normAutofit/>
          </a:bodyPr>
          <a:lstStyle/>
          <a:p>
            <a:pPr marL="268288" indent="-268288"/>
            <a:r>
              <a:rPr lang="ru-RU" sz="1600" b="1" dirty="0"/>
              <a:t>Конечные пользователи</a:t>
            </a:r>
            <a:br>
              <a:rPr lang="ru-RU" sz="1600" dirty="0"/>
            </a:br>
            <a:r>
              <a:rPr lang="ru-RU" sz="1600" dirty="0"/>
              <a:t>Они используют данные для запросов и отчетов. </a:t>
            </a:r>
            <a:br>
              <a:rPr lang="ru-RU" sz="1600" dirty="0"/>
            </a:br>
            <a:r>
              <a:rPr lang="ru-RU" sz="1600" dirty="0"/>
              <a:t>Некоторые из них обновляют содержимое баз данных. </a:t>
            </a:r>
            <a:br>
              <a:rPr lang="ru-RU" sz="1600" dirty="0"/>
            </a:br>
            <a:r>
              <a:rPr lang="ru-RU" sz="1600" dirty="0"/>
              <a:t>Подвиды конечных пользователей:</a:t>
            </a:r>
          </a:p>
          <a:p>
            <a:pPr marL="449263" lvl="1" indent="-180975">
              <a:lnSpc>
                <a:spcPct val="100000"/>
              </a:lnSpc>
            </a:pPr>
            <a:r>
              <a:rPr lang="ru-RU" sz="1400" b="1" dirty="0"/>
              <a:t>Случайные</a:t>
            </a:r>
            <a:r>
              <a:rPr lang="ru-RU" sz="1400" dirty="0"/>
              <a:t>: осуществляют доступ к базе данных время от времени, когда это необходимо</a:t>
            </a:r>
          </a:p>
          <a:p>
            <a:pPr marL="449263" lvl="1" indent="-180975">
              <a:lnSpc>
                <a:spcPct val="100000"/>
              </a:lnSpc>
            </a:pPr>
            <a:r>
              <a:rPr lang="ru-RU" sz="1400" b="1" dirty="0"/>
              <a:t>Наивные или Параметрические</a:t>
            </a:r>
            <a:r>
              <a:rPr lang="ru-RU" sz="1400" dirty="0"/>
              <a:t>: используют ранее четко определенные функции в виде «стандартных операций" в базе данных.</a:t>
            </a:r>
            <a:br>
              <a:rPr lang="ru-RU" sz="1400" dirty="0"/>
            </a:br>
            <a:r>
              <a:rPr lang="ru-RU" sz="1400" dirty="0"/>
              <a:t>они составляют значительную часть всех конечных пользователей.</a:t>
            </a:r>
            <a:br>
              <a:rPr lang="ru-RU" sz="1400" dirty="0"/>
            </a:br>
            <a:r>
              <a:rPr lang="ru-RU" sz="1400" dirty="0"/>
              <a:t>Примеры: кассиры банка или в ж/д или авиа кассе, который делают однотипную работу в течение всего рабочего дня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27D3A4-9D05-AB4C-E6FC-B591988110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Актеры на сцене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4BB5ED-4D2F-B628-E45F-4601CA14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Пользователи Баз данных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50F6C6-9EF9-3C82-B185-5B090CFD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751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026308-D120-E63C-903A-CD19C1B34E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736304"/>
          </a:xfrm>
        </p:spPr>
        <p:txBody>
          <a:bodyPr>
            <a:normAutofit/>
          </a:bodyPr>
          <a:lstStyle/>
          <a:p>
            <a:pPr marL="268288" indent="-268288"/>
            <a:r>
              <a:rPr lang="ru-RU" sz="1600" b="1" dirty="0"/>
              <a:t>Конечные пользователи (продолжение)</a:t>
            </a:r>
            <a:endParaRPr lang="ru-RU" sz="1600" dirty="0"/>
          </a:p>
          <a:p>
            <a:pPr marL="449263" lvl="1" indent="-180975">
              <a:lnSpc>
                <a:spcPct val="100000"/>
              </a:lnSpc>
            </a:pPr>
            <a:r>
              <a:rPr lang="ru-RU" sz="1400" b="1" dirty="0"/>
              <a:t>Сложные</a:t>
            </a:r>
            <a:r>
              <a:rPr lang="ru-RU" sz="1400" dirty="0"/>
              <a:t>: бизнес-аналитики, ученые, инженеры, другие специалисты, хорошо знакомые с возможностями системы.</a:t>
            </a:r>
            <a:br>
              <a:rPr lang="ru-RU" sz="1400" dirty="0"/>
            </a:br>
            <a:r>
              <a:rPr lang="ru-RU" sz="1400" dirty="0"/>
              <a:t>Многие из них используют программные пакеты, которые взаимодействуют с базой данных</a:t>
            </a:r>
          </a:p>
          <a:p>
            <a:pPr marL="449263" lvl="1" indent="-180975">
              <a:lnSpc>
                <a:spcPct val="100000"/>
              </a:lnSpc>
            </a:pPr>
            <a:r>
              <a:rPr lang="ru-RU" sz="1400" b="1" dirty="0"/>
              <a:t>Автономные:</a:t>
            </a:r>
            <a:r>
              <a:rPr lang="ru-RU" sz="1400" dirty="0"/>
              <a:t> пользователи, которые ведут личную базу данных с помощью готовых пакетов приложений.</a:t>
            </a:r>
            <a:br>
              <a:rPr lang="ru-RU" sz="1400" dirty="0"/>
            </a:br>
            <a:r>
              <a:rPr lang="ru-RU" sz="1400" dirty="0"/>
              <a:t>Примером может служить программа исчисления налога на пользователей, которая создает свою собственную внутреннюю базу данных.</a:t>
            </a:r>
            <a:br>
              <a:rPr lang="ru-RU" sz="1400" dirty="0"/>
            </a:br>
            <a:r>
              <a:rPr lang="ru-RU" sz="1400" dirty="0"/>
              <a:t>Другим примером является пользователь, который ведет свою адресную книгу</a:t>
            </a:r>
          </a:p>
          <a:p>
            <a:pPr marL="449263" lvl="1" indent="-180975"/>
            <a:endParaRPr lang="ru-RU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27D3A4-9D05-AB4C-E6FC-B591988110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Актеры на сцене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4BB5ED-4D2F-B628-E45F-4601CA14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Пользователи Баз данных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50F6C6-9EF9-3C82-B185-5B090CFD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785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026308-D120-E63C-903A-CD19C1B34E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736304"/>
          </a:xfrm>
        </p:spPr>
        <p:txBody>
          <a:bodyPr>
            <a:normAutofit/>
          </a:bodyPr>
          <a:lstStyle/>
          <a:p>
            <a:pPr marL="268288" indent="-268288"/>
            <a:r>
              <a:rPr lang="ru-RU" sz="1600" b="1" dirty="0"/>
              <a:t>Системные программисты</a:t>
            </a:r>
            <a:endParaRPr lang="ru-RU" sz="1600" dirty="0"/>
          </a:p>
          <a:p>
            <a:pPr marL="449263" lvl="1" indent="-180975">
              <a:lnSpc>
                <a:spcPct val="100000"/>
              </a:lnSpc>
            </a:pPr>
            <a:r>
              <a:rPr lang="ru-RU" sz="1400" dirty="0"/>
              <a:t>Хорошо знают операционные системы, утилиты работы с внешними носителями</a:t>
            </a:r>
          </a:p>
          <a:p>
            <a:pPr marL="449263" lvl="1" indent="-180975">
              <a:lnSpc>
                <a:spcPct val="100000"/>
              </a:lnSpc>
            </a:pPr>
            <a:r>
              <a:rPr lang="ru-RU" sz="1400" dirty="0"/>
              <a:t>Имеют хороший опыт программирования на языках высокого уровня</a:t>
            </a:r>
          </a:p>
          <a:p>
            <a:pPr marL="449263" lvl="1" indent="-180975">
              <a:lnSpc>
                <a:spcPct val="100000"/>
              </a:lnSpc>
            </a:pPr>
            <a:r>
              <a:rPr lang="ru-RU" sz="1400" dirty="0"/>
              <a:t>В совершенстве знают архитектуру </a:t>
            </a:r>
            <a:r>
              <a:rPr lang="ru-RU" sz="1400"/>
              <a:t>и подходы СУБД</a:t>
            </a:r>
            <a:endParaRPr lang="ru-RU" sz="1400" dirty="0"/>
          </a:p>
          <a:p>
            <a:pPr marL="449263" lvl="1" indent="-180975">
              <a:lnSpc>
                <a:spcPct val="100000"/>
              </a:lnSpc>
            </a:pPr>
            <a:r>
              <a:rPr lang="ru-RU" sz="1400" dirty="0"/>
              <a:t>Разрабатывают компоненты СУБД и инструментарий для администраторов баз данных </a:t>
            </a:r>
          </a:p>
          <a:p>
            <a:pPr marL="449263" lvl="1" indent="-180975"/>
            <a:endParaRPr lang="ru-RU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27D3A4-9D05-AB4C-E6FC-B591988110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Рабочие за сценой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4BB5ED-4D2F-B628-E45F-4601CA14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Пользователи Баз данных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50F6C6-9EF9-3C82-B185-5B090CFD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275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026308-D120-E63C-903A-CD19C1B34E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736304"/>
          </a:xfrm>
        </p:spPr>
        <p:txBody>
          <a:bodyPr numCol="2">
            <a:normAutofit/>
          </a:bodyPr>
          <a:lstStyle/>
          <a:p>
            <a:pPr marL="268288" indent="-268288"/>
            <a:r>
              <a:rPr lang="ru-RU" sz="1600" dirty="0"/>
              <a:t>Управление избыточностью в данных </a:t>
            </a:r>
          </a:p>
          <a:p>
            <a:pPr marL="539750" lvl="1" indent="-268288"/>
            <a:r>
              <a:rPr lang="ru-RU" sz="1400" dirty="0"/>
              <a:t>Устранение избыточности информативных данных</a:t>
            </a:r>
          </a:p>
          <a:p>
            <a:pPr marL="806450" lvl="2" indent="-268288"/>
            <a:r>
              <a:rPr lang="ru-RU" sz="1200" dirty="0"/>
              <a:t>Аномалии вставки, </a:t>
            </a:r>
          </a:p>
          <a:p>
            <a:pPr marL="806450" lvl="2" indent="-268288"/>
            <a:r>
              <a:rPr lang="ru-RU" sz="1200" dirty="0"/>
              <a:t>Аномалии удаления, </a:t>
            </a:r>
          </a:p>
          <a:p>
            <a:pPr marL="806450" lvl="2" indent="-268288"/>
            <a:r>
              <a:rPr lang="ru-RU" sz="1200" dirty="0"/>
              <a:t>Аномалии редактирования</a:t>
            </a:r>
          </a:p>
          <a:p>
            <a:pPr marL="539750" lvl="1" indent="-268288"/>
            <a:r>
              <a:rPr lang="ru-RU" sz="1400" dirty="0"/>
              <a:t>Управляемая избыточность</a:t>
            </a:r>
          </a:p>
          <a:p>
            <a:pPr marL="806450" lvl="2" indent="-268288"/>
            <a:r>
              <a:rPr lang="ru-RU" sz="1200" dirty="0"/>
              <a:t>Индексирование</a:t>
            </a:r>
          </a:p>
          <a:p>
            <a:pPr marL="806450" lvl="2" indent="-268288"/>
            <a:r>
              <a:rPr lang="ru-RU" sz="1200" dirty="0"/>
              <a:t>Репликации</a:t>
            </a:r>
            <a:br>
              <a:rPr lang="ru-RU" sz="1200" dirty="0"/>
            </a:br>
            <a:r>
              <a:rPr lang="ru-RU" sz="1200" dirty="0"/>
              <a:t> </a:t>
            </a:r>
          </a:p>
          <a:p>
            <a:pPr marL="268288" indent="-268288"/>
            <a:r>
              <a:rPr lang="ru-RU" sz="1600" dirty="0"/>
              <a:t>Обеспечение целостности данных</a:t>
            </a:r>
          </a:p>
          <a:p>
            <a:pPr marL="539750" lvl="1" indent="-268288"/>
            <a:r>
              <a:rPr lang="ru-RU" sz="1400" dirty="0"/>
              <a:t>Логическая (ограничения целостности на уровне описания данных)</a:t>
            </a:r>
          </a:p>
          <a:p>
            <a:pPr marL="539750" lvl="1" indent="-268288"/>
            <a:r>
              <a:rPr lang="ru-RU" sz="1400" dirty="0"/>
              <a:t>Физическая (</a:t>
            </a:r>
            <a:r>
              <a:rPr lang="ru-RU" sz="1400" dirty="0" err="1"/>
              <a:t>backup</a:t>
            </a:r>
            <a:r>
              <a:rPr lang="ru-RU" sz="1400" dirty="0"/>
              <a:t>, </a:t>
            </a:r>
            <a:r>
              <a:rPr lang="ru-RU" sz="1400" dirty="0" err="1"/>
              <a:t>recovery</a:t>
            </a:r>
            <a:r>
              <a:rPr lang="ru-RU" sz="1400" dirty="0"/>
              <a:t>)</a:t>
            </a:r>
          </a:p>
          <a:p>
            <a:pPr marL="268288" indent="-268288"/>
            <a:r>
              <a:rPr lang="ru-RU" sz="1600" dirty="0"/>
              <a:t>Обеспечение независимости данных</a:t>
            </a:r>
          </a:p>
          <a:p>
            <a:pPr marL="539750" lvl="1" indent="-268288"/>
            <a:r>
              <a:rPr lang="ru-RU" sz="1400" dirty="0"/>
              <a:t>Модель представления</a:t>
            </a:r>
          </a:p>
          <a:p>
            <a:pPr marL="539750" lvl="1" indent="-268288"/>
            <a:r>
              <a:rPr lang="ru-RU" sz="1400" dirty="0"/>
              <a:t>Модель хранения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27D3A4-9D05-AB4C-E6FC-B591988110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1/2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4BB5ED-4D2F-B628-E45F-4601CA14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Преимущества систем управления базами данных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50F6C6-9EF9-3C82-B185-5B090CFD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106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026308-D120-E63C-903A-CD19C1B34E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736304"/>
          </a:xfrm>
        </p:spPr>
        <p:txBody>
          <a:bodyPr numCol="2">
            <a:normAutofit fontScale="92500" lnSpcReduction="10000"/>
          </a:bodyPr>
          <a:lstStyle/>
          <a:p>
            <a:pPr marL="268288" indent="-268288"/>
            <a:r>
              <a:rPr lang="ru-RU" sz="1600" dirty="0"/>
              <a:t>Общий доступ к данным для  пользователям  </a:t>
            </a:r>
          </a:p>
          <a:p>
            <a:pPr marL="668338" lvl="1" indent="-268288"/>
            <a:r>
              <a:rPr lang="ru-RU" sz="1400" dirty="0"/>
              <a:t>Новые приложения, разные интерфейсы для разных пользователей</a:t>
            </a:r>
          </a:p>
          <a:p>
            <a:pPr marL="668338" lvl="1" indent="-268288"/>
            <a:r>
              <a:rPr lang="ru-RU" sz="1400" dirty="0"/>
              <a:t>Представление сложных связей между данными</a:t>
            </a:r>
          </a:p>
          <a:p>
            <a:pPr marL="268288" indent="-268288"/>
            <a:r>
              <a:rPr lang="ru-RU" sz="1600" dirty="0"/>
              <a:t>Обеспечение многопользовательского доступа</a:t>
            </a:r>
          </a:p>
          <a:p>
            <a:pPr marL="268288" indent="-268288"/>
            <a:r>
              <a:rPr lang="ru-RU" sz="1600" dirty="0"/>
              <a:t>Ограничение неавторизованного доступа</a:t>
            </a:r>
          </a:p>
          <a:p>
            <a:pPr marL="268288" indent="-268288"/>
            <a:r>
              <a:rPr lang="ru-RU" sz="1600" dirty="0"/>
              <a:t>Действия над данными с помощью дедуктивных и активных правил</a:t>
            </a:r>
          </a:p>
          <a:p>
            <a:pPr marL="268288" indent="-268288"/>
            <a:r>
              <a:rPr lang="ru-RU" sz="1600" dirty="0"/>
              <a:t>Потенциал для обеспечения соблюдения стандартов:</a:t>
            </a:r>
          </a:p>
          <a:p>
            <a:pPr marL="668338" lvl="1" indent="-268288"/>
            <a:r>
              <a:rPr lang="ru-RU" sz="1400" dirty="0"/>
              <a:t>Очень важно для успеха приложений баз данных в крупных организациях. </a:t>
            </a:r>
            <a:br>
              <a:rPr lang="ru-RU" sz="1400" dirty="0"/>
            </a:br>
            <a:r>
              <a:rPr lang="ru-RU" sz="1400" dirty="0"/>
              <a:t>Стандарты применяются к данным, именам элементов, форматам отображения, экранным формам, структурам отчетов, мета-данные (описание данных), макеты веб-страниц и т.д.</a:t>
            </a:r>
          </a:p>
          <a:p>
            <a:pPr marL="268288" indent="-268288"/>
            <a:r>
              <a:rPr lang="ru-RU" sz="1600" dirty="0"/>
              <a:t>Сокращение времени разработки приложений:</a:t>
            </a:r>
          </a:p>
          <a:p>
            <a:pPr marL="668338" lvl="1" indent="-268288"/>
            <a:r>
              <a:rPr lang="ru-RU" sz="1400" dirty="0"/>
              <a:t>Время добавления каждого нового приложения снижается.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27D3A4-9D05-AB4C-E6FC-B591988110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2/2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4BB5ED-4D2F-B628-E45F-4601CA14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Преимущества систем управления базами данных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50F6C6-9EF9-3C82-B185-5B090CFD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286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026308-D120-E63C-903A-CD19C1B34E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736304"/>
          </a:xfrm>
        </p:spPr>
        <p:txBody>
          <a:bodyPr numCol="2">
            <a:normAutofit/>
          </a:bodyPr>
          <a:lstStyle/>
          <a:p>
            <a:pPr marL="268288" indent="-268288"/>
            <a:r>
              <a:rPr lang="ru-RU" sz="1600" dirty="0"/>
              <a:t>Структуры данных и виды запросов четко определены, и не предполагается их изменения в будущем</a:t>
            </a:r>
          </a:p>
          <a:p>
            <a:pPr marL="268288" indent="-268288"/>
            <a:r>
              <a:rPr lang="ru-RU" sz="1600" dirty="0"/>
              <a:t>Существуют жесткие требования к времени выполнения операций, которые не могут быть выполнены из-за накладных расходов СУБД</a:t>
            </a:r>
          </a:p>
          <a:p>
            <a:pPr marL="268288" indent="-268288"/>
            <a:r>
              <a:rPr lang="ru-RU" sz="1600" dirty="0"/>
              <a:t>Не требуется мультидоступ пользователей к данным</a:t>
            </a:r>
          </a:p>
          <a:p>
            <a:pPr marL="268288" indent="-268288"/>
            <a:r>
              <a:rPr lang="ru-RU" sz="1600" dirty="0"/>
              <a:t>СУБД не может обрабатывать сложные данные из-за ограничений модели</a:t>
            </a:r>
          </a:p>
          <a:p>
            <a:pPr marL="268288" indent="-268288"/>
            <a:r>
              <a:rPr lang="ru-RU" sz="1600" dirty="0"/>
              <a:t>Пользователям нужны операции, </a:t>
            </a:r>
            <a:br>
              <a:rPr lang="ru-RU" sz="1600" dirty="0"/>
            </a:br>
            <a:r>
              <a:rPr lang="ru-RU" sz="1600" dirty="0"/>
              <a:t>не поддерживаемые СУБД.</a:t>
            </a:r>
          </a:p>
          <a:p>
            <a:pPr marL="268288" indent="-268288"/>
            <a:endParaRPr lang="ru-RU" sz="1600" dirty="0"/>
          </a:p>
          <a:p>
            <a:pPr marL="668338" lvl="1" indent="-268288"/>
            <a:r>
              <a:rPr lang="ru-RU" sz="1400" dirty="0"/>
              <a:t>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27D3A4-9D05-AB4C-E6FC-B591988110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Когда Не используются </a:t>
            </a:r>
            <a:r>
              <a:rPr lang="ru-RU" cap="all" dirty="0" err="1"/>
              <a:t>СуБД</a:t>
            </a:r>
            <a:r>
              <a:rPr lang="ru-RU" cap="all" dirty="0"/>
              <a:t>?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4BB5ED-4D2F-B628-E45F-4601CA14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/>
              <a:t>Недостатки систем управления базами данных</a:t>
            </a:r>
            <a:endParaRPr lang="en-US" cap="all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50F6C6-9EF9-3C82-B185-5B090CFD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287657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13214</TotalTime>
  <Words>2290</Words>
  <Application>Microsoft Office PowerPoint</Application>
  <PresentationFormat>On-screen Show (16:9)</PresentationFormat>
  <Paragraphs>388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Acrom</vt:lpstr>
      <vt:lpstr>Acrom ExtraBold</vt:lpstr>
      <vt:lpstr>Aptos Narrow</vt:lpstr>
      <vt:lpstr>Acrom Bold</vt:lpstr>
      <vt:lpstr>Arial</vt:lpstr>
      <vt:lpstr>Calibri</vt:lpstr>
      <vt:lpstr>NSU Content</vt:lpstr>
      <vt:lpstr>NSU Captions</vt:lpstr>
      <vt:lpstr>БАЗЫ ДАННЫХ</vt:lpstr>
      <vt:lpstr>PowerPoint Presentation</vt:lpstr>
      <vt:lpstr>ОСНОВНАЯ ЛИТЕРАТУРА</vt:lpstr>
      <vt:lpstr>Система управления базами данных</vt:lpstr>
      <vt:lpstr>Типовые функции СУБД </vt:lpstr>
      <vt:lpstr>Организационная Структура СУБД </vt:lpstr>
      <vt:lpstr>Компоненты СУБД</vt:lpstr>
      <vt:lpstr>Компоненты СУБД</vt:lpstr>
      <vt:lpstr>Компоненты СУБД</vt:lpstr>
      <vt:lpstr>Компоненты СУБД</vt:lpstr>
      <vt:lpstr>Компоненты СУБД</vt:lpstr>
      <vt:lpstr>Компоненты СУБД</vt:lpstr>
      <vt:lpstr>Подход баз данных</vt:lpstr>
      <vt:lpstr>Подход баз данных</vt:lpstr>
      <vt:lpstr>Подход баз данных</vt:lpstr>
      <vt:lpstr>Подход баз данных</vt:lpstr>
      <vt:lpstr>Подход баз данных</vt:lpstr>
      <vt:lpstr>Подход баз данных: реляционная модель</vt:lpstr>
      <vt:lpstr>Подход баз данных: Схема БД</vt:lpstr>
      <vt:lpstr>Три уровня архитектуры системы БД (ANSI/SPARC)</vt:lpstr>
      <vt:lpstr>Подход баз данных</vt:lpstr>
      <vt:lpstr>Подход баз данных</vt:lpstr>
      <vt:lpstr>Пользователи Баз данных</vt:lpstr>
      <vt:lpstr>Пользователи Баз данных</vt:lpstr>
      <vt:lpstr>Пользователи Баз данных</vt:lpstr>
      <vt:lpstr>Пользователи Баз данных</vt:lpstr>
      <vt:lpstr>Пользователи Баз данных</vt:lpstr>
      <vt:lpstr>Преимущества систем управления базами данных</vt:lpstr>
      <vt:lpstr>Преимущества систем управления базами данных</vt:lpstr>
      <vt:lpstr>Недостатки систем управления базами данных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769</cp:revision>
  <dcterms:created xsi:type="dcterms:W3CDTF">2016-08-15T04:55:12Z</dcterms:created>
  <dcterms:modified xsi:type="dcterms:W3CDTF">2024-12-18T16:56:33Z</dcterms:modified>
</cp:coreProperties>
</file>