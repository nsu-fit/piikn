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1"/>
    <p:sldMasterId id="2147483685" r:id="rId2"/>
  </p:sldMasterIdLst>
  <p:notesMasterIdLst>
    <p:notesMasterId r:id="rId30"/>
  </p:notesMasterIdLst>
  <p:sldIdLst>
    <p:sldId id="514" r:id="rId3"/>
    <p:sldId id="518" r:id="rId4"/>
    <p:sldId id="519" r:id="rId5"/>
    <p:sldId id="524" r:id="rId6"/>
    <p:sldId id="520" r:id="rId7"/>
    <p:sldId id="521" r:id="rId8"/>
    <p:sldId id="522" r:id="rId9"/>
    <p:sldId id="523" r:id="rId10"/>
    <p:sldId id="525" r:id="rId11"/>
    <p:sldId id="526" r:id="rId12"/>
    <p:sldId id="527" r:id="rId13"/>
    <p:sldId id="528" r:id="rId14"/>
    <p:sldId id="529" r:id="rId15"/>
    <p:sldId id="530" r:id="rId16"/>
    <p:sldId id="531" r:id="rId17"/>
    <p:sldId id="532" r:id="rId18"/>
    <p:sldId id="533" r:id="rId19"/>
    <p:sldId id="534" r:id="rId20"/>
    <p:sldId id="535" r:id="rId21"/>
    <p:sldId id="536" r:id="rId22"/>
    <p:sldId id="537" r:id="rId23"/>
    <p:sldId id="539" r:id="rId24"/>
    <p:sldId id="540" r:id="rId25"/>
    <p:sldId id="543" r:id="rId26"/>
    <p:sldId id="541" r:id="rId27"/>
    <p:sldId id="545" r:id="rId28"/>
    <p:sldId id="544" r:id="rId29"/>
  </p:sldIdLst>
  <p:sldSz cx="9144000" cy="5143500" type="screen16x9"/>
  <p:notesSz cx="6858000" cy="9144000"/>
  <p:embeddedFontLst>
    <p:embeddedFont>
      <p:font typeface="Acrom" panose="020B0604020202020204" charset="-52"/>
      <p:regular r:id="rId31"/>
    </p:embeddedFont>
    <p:embeddedFont>
      <p:font typeface="Acrom Bold" panose="020B0604020202020204" charset="-52"/>
      <p:bold r:id="rId32"/>
    </p:embeddedFont>
    <p:embeddedFont>
      <p:font typeface="Acrom ExtraBold" panose="020B0604020202020204" charset="-52"/>
      <p:bold r:id="rId3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8FC5EF-6076-40D9-AF9D-DF341323974E}">
          <p14:sldIdLst>
            <p14:sldId id="514"/>
            <p14:sldId id="518"/>
            <p14:sldId id="519"/>
          </p14:sldIdLst>
        </p14:section>
        <p14:section name="Literature" id="{B9960BE5-F3B4-48C0-BA4B-65F190ECCD4C}">
          <p14:sldIdLst>
            <p14:sldId id="524"/>
            <p14:sldId id="520"/>
            <p14:sldId id="521"/>
            <p14:sldId id="522"/>
            <p14:sldId id="523"/>
            <p14:sldId id="525"/>
            <p14:sldId id="526"/>
            <p14:sldId id="527"/>
            <p14:sldId id="528"/>
            <p14:sldId id="529"/>
            <p14:sldId id="530"/>
          </p14:sldIdLst>
        </p14:section>
        <p14:section name="Modeling" id="{B1EBF6C7-FC4C-453B-9147-0AD8F0D3BDA0}">
          <p14:sldIdLst>
            <p14:sldId id="531"/>
            <p14:sldId id="532"/>
            <p14:sldId id="533"/>
            <p14:sldId id="534"/>
            <p14:sldId id="535"/>
            <p14:sldId id="536"/>
            <p14:sldId id="537"/>
            <p14:sldId id="539"/>
            <p14:sldId id="540"/>
            <p14:sldId id="543"/>
            <p14:sldId id="541"/>
            <p14:sldId id="545"/>
            <p14:sldId id="5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000000"/>
    <a:srgbClr val="FFFFFF"/>
    <a:srgbClr val="50852F"/>
    <a:srgbClr val="5F9E38"/>
    <a:srgbClr val="6CB640"/>
    <a:srgbClr val="00CEFE"/>
    <a:srgbClr val="5DE0FF"/>
    <a:srgbClr val="C1F3FF"/>
    <a:srgbClr val="007D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73" autoAdjust="0"/>
    <p:restoredTop sz="96433" autoAdjust="0"/>
  </p:normalViewPr>
  <p:slideViewPr>
    <p:cSldViewPr>
      <p:cViewPr varScale="1">
        <p:scale>
          <a:sx n="141" d="100"/>
          <a:sy n="141" d="100"/>
        </p:scale>
        <p:origin x="690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2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1040C6-5C48-4561-9537-468B1AF5794C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399E60FF-8F37-42EC-8DD0-FE7F2B007EB0}">
      <dgm:prSet phldrT="[Text]"/>
      <dgm:spPr/>
      <dgm:t>
        <a:bodyPr/>
        <a:lstStyle/>
        <a:p>
          <a:r>
            <a:rPr lang="ru-RU" dirty="0"/>
            <a:t>Понятия и описания</a:t>
          </a:r>
          <a:endParaRPr lang="en-US" dirty="0"/>
        </a:p>
      </dgm:t>
    </dgm:pt>
    <dgm:pt modelId="{498B91C6-E8EC-4007-B515-5969320AEE59}" type="parTrans" cxnId="{E7776FE9-C483-469A-9092-9BDF4B22AC31}">
      <dgm:prSet/>
      <dgm:spPr/>
      <dgm:t>
        <a:bodyPr/>
        <a:lstStyle/>
        <a:p>
          <a:endParaRPr lang="en-US"/>
        </a:p>
      </dgm:t>
    </dgm:pt>
    <dgm:pt modelId="{5C72A37F-1A77-42BB-A686-387B68BA4A1C}" type="sibTrans" cxnId="{E7776FE9-C483-469A-9092-9BDF4B22AC31}">
      <dgm:prSet/>
      <dgm:spPr/>
      <dgm:t>
        <a:bodyPr/>
        <a:lstStyle/>
        <a:p>
          <a:endParaRPr lang="en-US"/>
        </a:p>
      </dgm:t>
    </dgm:pt>
    <dgm:pt modelId="{F15515A9-6B77-4F3E-A8BA-D8D358E011D9}">
      <dgm:prSet phldrT="[Text]"/>
      <dgm:spPr/>
      <dgm:t>
        <a:bodyPr/>
        <a:lstStyle/>
        <a:p>
          <a:r>
            <a:rPr lang="ru-RU" dirty="0"/>
            <a:t>Модель предметной области</a:t>
          </a:r>
          <a:endParaRPr lang="en-US" dirty="0"/>
        </a:p>
      </dgm:t>
    </dgm:pt>
    <dgm:pt modelId="{68272936-FB74-4935-A3AD-46697148F066}" type="parTrans" cxnId="{EC58B945-6151-4D84-87AF-AFE15CC13F46}">
      <dgm:prSet/>
      <dgm:spPr/>
      <dgm:t>
        <a:bodyPr/>
        <a:lstStyle/>
        <a:p>
          <a:endParaRPr lang="en-US"/>
        </a:p>
      </dgm:t>
    </dgm:pt>
    <dgm:pt modelId="{63C6EB19-AAF6-42DC-9599-C5CDCB49CA5C}" type="sibTrans" cxnId="{EC58B945-6151-4D84-87AF-AFE15CC13F46}">
      <dgm:prSet/>
      <dgm:spPr/>
      <dgm:t>
        <a:bodyPr/>
        <a:lstStyle/>
        <a:p>
          <a:endParaRPr lang="en-US"/>
        </a:p>
      </dgm:t>
    </dgm:pt>
    <dgm:pt modelId="{D480175D-416D-4BF2-A156-0C77E0D080EB}">
      <dgm:prSet phldrT="[Text]"/>
      <dgm:spPr/>
      <dgm:t>
        <a:bodyPr/>
        <a:lstStyle/>
        <a:p>
          <a:r>
            <a:rPr lang="ru-RU" dirty="0"/>
            <a:t>Схема базы данных</a:t>
          </a:r>
          <a:endParaRPr lang="en-US" dirty="0"/>
        </a:p>
      </dgm:t>
    </dgm:pt>
    <dgm:pt modelId="{05608A20-AFF7-4636-985F-504E962D67D1}" type="parTrans" cxnId="{71F481B1-95D6-44FB-963D-A73B145F3638}">
      <dgm:prSet/>
      <dgm:spPr/>
      <dgm:t>
        <a:bodyPr/>
        <a:lstStyle/>
        <a:p>
          <a:endParaRPr lang="en-US"/>
        </a:p>
      </dgm:t>
    </dgm:pt>
    <dgm:pt modelId="{BCB09FA3-ED59-4BC2-A94C-4CDE80099865}" type="sibTrans" cxnId="{71F481B1-95D6-44FB-963D-A73B145F3638}">
      <dgm:prSet/>
      <dgm:spPr/>
      <dgm:t>
        <a:bodyPr/>
        <a:lstStyle/>
        <a:p>
          <a:endParaRPr lang="en-US"/>
        </a:p>
      </dgm:t>
    </dgm:pt>
    <dgm:pt modelId="{AB4DBEA8-870D-4268-ABBE-283E7350F63D}" type="pres">
      <dgm:prSet presAssocID="{FF1040C6-5C48-4561-9537-468B1AF5794C}" presName="Name0" presStyleCnt="0">
        <dgm:presLayoutVars>
          <dgm:dir/>
          <dgm:resizeHandles val="exact"/>
        </dgm:presLayoutVars>
      </dgm:prSet>
      <dgm:spPr/>
    </dgm:pt>
    <dgm:pt modelId="{A0D37D78-8C1E-4784-8BED-833940981109}" type="pres">
      <dgm:prSet presAssocID="{399E60FF-8F37-42EC-8DD0-FE7F2B007EB0}" presName="node" presStyleLbl="node1" presStyleIdx="0" presStyleCnt="3">
        <dgm:presLayoutVars>
          <dgm:bulletEnabled val="1"/>
        </dgm:presLayoutVars>
      </dgm:prSet>
      <dgm:spPr/>
    </dgm:pt>
    <dgm:pt modelId="{7712C952-6956-4DF5-A739-521524EA43CC}" type="pres">
      <dgm:prSet presAssocID="{5C72A37F-1A77-42BB-A686-387B68BA4A1C}" presName="sibTrans" presStyleLbl="sibTrans2D1" presStyleIdx="0" presStyleCnt="2"/>
      <dgm:spPr/>
    </dgm:pt>
    <dgm:pt modelId="{967CC8C9-5CA7-4DE5-BC19-63D4517E2392}" type="pres">
      <dgm:prSet presAssocID="{5C72A37F-1A77-42BB-A686-387B68BA4A1C}" presName="connectorText" presStyleLbl="sibTrans2D1" presStyleIdx="0" presStyleCnt="2"/>
      <dgm:spPr/>
    </dgm:pt>
    <dgm:pt modelId="{8BC15E3F-843F-4473-85A3-790AEA25DF07}" type="pres">
      <dgm:prSet presAssocID="{F15515A9-6B77-4F3E-A8BA-D8D358E011D9}" presName="node" presStyleLbl="node1" presStyleIdx="1" presStyleCnt="3">
        <dgm:presLayoutVars>
          <dgm:bulletEnabled val="1"/>
        </dgm:presLayoutVars>
      </dgm:prSet>
      <dgm:spPr/>
    </dgm:pt>
    <dgm:pt modelId="{AF2F9845-FFBA-4596-8388-DAC982D12BDB}" type="pres">
      <dgm:prSet presAssocID="{63C6EB19-AAF6-42DC-9599-C5CDCB49CA5C}" presName="sibTrans" presStyleLbl="sibTrans2D1" presStyleIdx="1" presStyleCnt="2"/>
      <dgm:spPr/>
    </dgm:pt>
    <dgm:pt modelId="{AAF691D1-EAEB-4CDD-8CEA-0D13704AA849}" type="pres">
      <dgm:prSet presAssocID="{63C6EB19-AAF6-42DC-9599-C5CDCB49CA5C}" presName="connectorText" presStyleLbl="sibTrans2D1" presStyleIdx="1" presStyleCnt="2"/>
      <dgm:spPr/>
    </dgm:pt>
    <dgm:pt modelId="{F92E0277-4D72-4B7B-926D-AFAC9F841655}" type="pres">
      <dgm:prSet presAssocID="{D480175D-416D-4BF2-A156-0C77E0D080EB}" presName="node" presStyleLbl="node1" presStyleIdx="2" presStyleCnt="3">
        <dgm:presLayoutVars>
          <dgm:bulletEnabled val="1"/>
        </dgm:presLayoutVars>
      </dgm:prSet>
      <dgm:spPr/>
    </dgm:pt>
  </dgm:ptLst>
  <dgm:cxnLst>
    <dgm:cxn modelId="{BB7AE501-9B22-48FA-9059-6982798A41B5}" type="presOf" srcId="{5C72A37F-1A77-42BB-A686-387B68BA4A1C}" destId="{7712C952-6956-4DF5-A739-521524EA43CC}" srcOrd="0" destOrd="0" presId="urn:microsoft.com/office/officeart/2005/8/layout/process1"/>
    <dgm:cxn modelId="{F9EC2A1B-77DE-4721-8EBD-EFD56B3643F7}" type="presOf" srcId="{399E60FF-8F37-42EC-8DD0-FE7F2B007EB0}" destId="{A0D37D78-8C1E-4784-8BED-833940981109}" srcOrd="0" destOrd="0" presId="urn:microsoft.com/office/officeart/2005/8/layout/process1"/>
    <dgm:cxn modelId="{C4018929-0235-4D43-A340-42E3F278B8F0}" type="presOf" srcId="{5C72A37F-1A77-42BB-A686-387B68BA4A1C}" destId="{967CC8C9-5CA7-4DE5-BC19-63D4517E2392}" srcOrd="1" destOrd="0" presId="urn:microsoft.com/office/officeart/2005/8/layout/process1"/>
    <dgm:cxn modelId="{EC58B945-6151-4D84-87AF-AFE15CC13F46}" srcId="{FF1040C6-5C48-4561-9537-468B1AF5794C}" destId="{F15515A9-6B77-4F3E-A8BA-D8D358E011D9}" srcOrd="1" destOrd="0" parTransId="{68272936-FB74-4935-A3AD-46697148F066}" sibTransId="{63C6EB19-AAF6-42DC-9599-C5CDCB49CA5C}"/>
    <dgm:cxn modelId="{6597C57A-0663-4504-9898-13D3B9A4EA6C}" type="presOf" srcId="{FF1040C6-5C48-4561-9537-468B1AF5794C}" destId="{AB4DBEA8-870D-4268-ABBE-283E7350F63D}" srcOrd="0" destOrd="0" presId="urn:microsoft.com/office/officeart/2005/8/layout/process1"/>
    <dgm:cxn modelId="{E9C27A83-686A-4A9D-962F-0999D24C8A34}" type="presOf" srcId="{D480175D-416D-4BF2-A156-0C77E0D080EB}" destId="{F92E0277-4D72-4B7B-926D-AFAC9F841655}" srcOrd="0" destOrd="0" presId="urn:microsoft.com/office/officeart/2005/8/layout/process1"/>
    <dgm:cxn modelId="{0ACB2696-DFA4-47D2-931F-45FBE3ABEEC6}" type="presOf" srcId="{F15515A9-6B77-4F3E-A8BA-D8D358E011D9}" destId="{8BC15E3F-843F-4473-85A3-790AEA25DF07}" srcOrd="0" destOrd="0" presId="urn:microsoft.com/office/officeart/2005/8/layout/process1"/>
    <dgm:cxn modelId="{71F481B1-95D6-44FB-963D-A73B145F3638}" srcId="{FF1040C6-5C48-4561-9537-468B1AF5794C}" destId="{D480175D-416D-4BF2-A156-0C77E0D080EB}" srcOrd="2" destOrd="0" parTransId="{05608A20-AFF7-4636-985F-504E962D67D1}" sibTransId="{BCB09FA3-ED59-4BC2-A94C-4CDE80099865}"/>
    <dgm:cxn modelId="{54C5AEC1-10B9-4AE2-958A-66A5A45EDCF8}" type="presOf" srcId="{63C6EB19-AAF6-42DC-9599-C5CDCB49CA5C}" destId="{AF2F9845-FFBA-4596-8388-DAC982D12BDB}" srcOrd="0" destOrd="0" presId="urn:microsoft.com/office/officeart/2005/8/layout/process1"/>
    <dgm:cxn modelId="{F0BE0BCB-E685-440F-96C6-0256A877F3A1}" type="presOf" srcId="{63C6EB19-AAF6-42DC-9599-C5CDCB49CA5C}" destId="{AAF691D1-EAEB-4CDD-8CEA-0D13704AA849}" srcOrd="1" destOrd="0" presId="urn:microsoft.com/office/officeart/2005/8/layout/process1"/>
    <dgm:cxn modelId="{E7776FE9-C483-469A-9092-9BDF4B22AC31}" srcId="{FF1040C6-5C48-4561-9537-468B1AF5794C}" destId="{399E60FF-8F37-42EC-8DD0-FE7F2B007EB0}" srcOrd="0" destOrd="0" parTransId="{498B91C6-E8EC-4007-B515-5969320AEE59}" sibTransId="{5C72A37F-1A77-42BB-A686-387B68BA4A1C}"/>
    <dgm:cxn modelId="{968EBC3F-90F4-4D65-8120-70F860B0E740}" type="presParOf" srcId="{AB4DBEA8-870D-4268-ABBE-283E7350F63D}" destId="{A0D37D78-8C1E-4784-8BED-833940981109}" srcOrd="0" destOrd="0" presId="urn:microsoft.com/office/officeart/2005/8/layout/process1"/>
    <dgm:cxn modelId="{7010B763-9236-41CF-A1F4-7400217E0B62}" type="presParOf" srcId="{AB4DBEA8-870D-4268-ABBE-283E7350F63D}" destId="{7712C952-6956-4DF5-A739-521524EA43CC}" srcOrd="1" destOrd="0" presId="urn:microsoft.com/office/officeart/2005/8/layout/process1"/>
    <dgm:cxn modelId="{8D5239D9-9187-43A6-A13D-2E38F8E52C00}" type="presParOf" srcId="{7712C952-6956-4DF5-A739-521524EA43CC}" destId="{967CC8C9-5CA7-4DE5-BC19-63D4517E2392}" srcOrd="0" destOrd="0" presId="urn:microsoft.com/office/officeart/2005/8/layout/process1"/>
    <dgm:cxn modelId="{DCA75733-7205-467B-92F5-4E6BF59330B6}" type="presParOf" srcId="{AB4DBEA8-870D-4268-ABBE-283E7350F63D}" destId="{8BC15E3F-843F-4473-85A3-790AEA25DF07}" srcOrd="2" destOrd="0" presId="urn:microsoft.com/office/officeart/2005/8/layout/process1"/>
    <dgm:cxn modelId="{1C0AADBF-E946-42BA-9EC7-7A70EDF1D6D0}" type="presParOf" srcId="{AB4DBEA8-870D-4268-ABBE-283E7350F63D}" destId="{AF2F9845-FFBA-4596-8388-DAC982D12BDB}" srcOrd="3" destOrd="0" presId="urn:microsoft.com/office/officeart/2005/8/layout/process1"/>
    <dgm:cxn modelId="{56F50304-BF54-4C91-8D47-3816A4DE9B03}" type="presParOf" srcId="{AF2F9845-FFBA-4596-8388-DAC982D12BDB}" destId="{AAF691D1-EAEB-4CDD-8CEA-0D13704AA849}" srcOrd="0" destOrd="0" presId="urn:microsoft.com/office/officeart/2005/8/layout/process1"/>
    <dgm:cxn modelId="{A49A6957-A8A3-4377-89F6-BAA29CE55043}" type="presParOf" srcId="{AB4DBEA8-870D-4268-ABBE-283E7350F63D}" destId="{F92E0277-4D72-4B7B-926D-AFAC9F84165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D37D78-8C1E-4784-8BED-833940981109}">
      <dsp:nvSpPr>
        <dsp:cNvPr id="0" name=""/>
        <dsp:cNvSpPr/>
      </dsp:nvSpPr>
      <dsp:spPr>
        <a:xfrm>
          <a:off x="7507" y="479370"/>
          <a:ext cx="2243849" cy="13463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Понятия и описания</a:t>
          </a:r>
          <a:endParaRPr lang="en-US" sz="2400" kern="1200" dirty="0"/>
        </a:p>
      </dsp:txBody>
      <dsp:txXfrm>
        <a:off x="46939" y="518802"/>
        <a:ext cx="2164985" cy="1267445"/>
      </dsp:txXfrm>
    </dsp:sp>
    <dsp:sp modelId="{7712C952-6956-4DF5-A739-521524EA43CC}">
      <dsp:nvSpPr>
        <dsp:cNvPr id="0" name=""/>
        <dsp:cNvSpPr/>
      </dsp:nvSpPr>
      <dsp:spPr>
        <a:xfrm>
          <a:off x="2475741" y="874287"/>
          <a:ext cx="475696" cy="5564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475741" y="985582"/>
        <a:ext cx="332987" cy="333884"/>
      </dsp:txXfrm>
    </dsp:sp>
    <dsp:sp modelId="{8BC15E3F-843F-4473-85A3-790AEA25DF07}">
      <dsp:nvSpPr>
        <dsp:cNvPr id="0" name=""/>
        <dsp:cNvSpPr/>
      </dsp:nvSpPr>
      <dsp:spPr>
        <a:xfrm>
          <a:off x="3148896" y="479370"/>
          <a:ext cx="2243849" cy="13463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Модель предметной области</a:t>
          </a:r>
          <a:endParaRPr lang="en-US" sz="2400" kern="1200" dirty="0"/>
        </a:p>
      </dsp:txBody>
      <dsp:txXfrm>
        <a:off x="3188328" y="518802"/>
        <a:ext cx="2164985" cy="1267445"/>
      </dsp:txXfrm>
    </dsp:sp>
    <dsp:sp modelId="{AF2F9845-FFBA-4596-8388-DAC982D12BDB}">
      <dsp:nvSpPr>
        <dsp:cNvPr id="0" name=""/>
        <dsp:cNvSpPr/>
      </dsp:nvSpPr>
      <dsp:spPr>
        <a:xfrm>
          <a:off x="5617131" y="874287"/>
          <a:ext cx="475696" cy="5564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617131" y="985582"/>
        <a:ext cx="332987" cy="333884"/>
      </dsp:txXfrm>
    </dsp:sp>
    <dsp:sp modelId="{F92E0277-4D72-4B7B-926D-AFAC9F841655}">
      <dsp:nvSpPr>
        <dsp:cNvPr id="0" name=""/>
        <dsp:cNvSpPr/>
      </dsp:nvSpPr>
      <dsp:spPr>
        <a:xfrm>
          <a:off x="6290286" y="479370"/>
          <a:ext cx="2243849" cy="13463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Схема базы данных</a:t>
          </a:r>
          <a:endParaRPr lang="en-US" sz="2400" kern="1200" dirty="0"/>
        </a:p>
      </dsp:txBody>
      <dsp:txXfrm>
        <a:off x="6329718" y="518802"/>
        <a:ext cx="2164985" cy="12674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420F6-EE28-447A-BA82-F9AA48FF3F8C}" type="datetimeFigureOut">
              <a:rPr lang="ru-RU" smtClean="0"/>
              <a:pPr/>
              <a:t>04.09.2025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5E2C8-E51C-40F3-9A72-4A3C3DEE50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62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07/relationships/hdphoto" Target="../media/hdphoto2.wdp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/><Relationship Id="rId3" Type="http://schemas.openxmlformats.org/officeDocument/2006/relationships/image" Target="../media/image10.png"/><Relationship Id="rId7" Type="http://schemas.openxmlformats.org/officeDocument/2006/relationships/image" Target="../media/image2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A704F6D8-885B-4175-BF0B-8505D72B38FC}" type="datetime1">
              <a:rPr lang="ru-RU" smtClean="0"/>
              <a:t>04.09.2025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5"/>
            <a:ext cx="8541643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0108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15976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1D48A0FE-9536-29C0-B7D0-1F66CF43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3CEE5C26-0375-4785-B21E-E13983FDFD7F}" type="datetime1">
              <a:rPr lang="ru-RU" smtClean="0"/>
              <a:t>04.09.2025</a:t>
            </a:fld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5AF862F-6F41-B134-6BBE-BEEB4466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4E2BD42-6F67-28EC-EADC-8BA24112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421E783-F97A-5F3F-D1CC-6D20305A28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0" y="1433513"/>
            <a:ext cx="4321175" cy="3683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2066923"/>
            <a:ext cx="4321175" cy="2305051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BBB94-2676-906E-39F4-A268322BC7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2856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5365DC2F-61D5-9AAB-975D-7A0D222728B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50838" y="4858732"/>
            <a:ext cx="1124818" cy="274637"/>
          </a:xfrm>
        </p:spPr>
        <p:txBody>
          <a:bodyPr/>
          <a:lstStyle/>
          <a:p>
            <a:fld id="{45B3512C-F859-4E4D-B2CA-E30B12B77966}" type="datetime1">
              <a:rPr lang="ru-RU" smtClean="0"/>
              <a:t>04.09.2025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272CE33-125F-A707-F331-AEF3B91CC83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547664" y="4858733"/>
            <a:ext cx="6048671" cy="2746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Slide Number Placeholder">
            <a:extLst>
              <a:ext uri="{FF2B5EF4-FFF2-40B4-BE49-F238E27FC236}">
                <a16:creationId xmlns:a16="http://schemas.microsoft.com/office/drawing/2014/main" id="{6BFD863C-0DDE-E649-2043-41D74C4E0E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D5C77E5-19BC-410D-82EA-404658A4611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419225"/>
            <a:ext cx="4321175" cy="2952750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C6FBF-E5DA-665A-B020-D02706ACF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235" y="716531"/>
            <a:ext cx="8541939" cy="369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24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A8B4-969C-4179-E89C-015DCFCBC6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C645F276-4CFE-ED6C-14E6-FFA499B33C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/>
        <p:txBody>
          <a:bodyPr wrap="square"/>
          <a:lstStyle>
            <a:lvl1pPr>
              <a:defRPr/>
            </a:lvl1pPr>
          </a:lstStyle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142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верш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555526"/>
            <a:ext cx="1990348" cy="60350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787774"/>
            <a:ext cx="307849" cy="307849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726456" y="2248774"/>
            <a:ext cx="5947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РОССИЯ, 630090, НОВОСИБИРСК, УЛ. ПИРОГОВА, 2</a:t>
            </a:r>
            <a:endParaRPr lang="en-US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26456" y="3924074"/>
            <a:ext cx="2070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WWW.NSU.RU/N/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77" y="2787774"/>
            <a:ext cx="307849" cy="307849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632215" y="3075806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nsu24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787774"/>
            <a:ext cx="310897" cy="30784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5274608" y="3075806"/>
            <a:ext cx="1653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@</a:t>
            </a:r>
            <a:r>
              <a:rPr lang="ru-RU" sz="1600" dirty="0" err="1">
                <a:solidFill>
                  <a:schemeClr val="bg1"/>
                </a:solidFill>
                <a:latin typeface="Acrom" pitchFamily="50" charset="-52"/>
              </a:rPr>
              <a:t>nsuniversity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57032"/>
            <a:ext cx="966976" cy="96697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02376" y="3072368"/>
            <a:ext cx="2224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crom" pitchFamily="50" charset="-52"/>
              </a:rPr>
              <a:t>nsuniversity.official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3844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11" Type="http://schemas.openxmlformats.org/officeDocument/2006/relationships/image" Target="../media/image5.png"/><Relationship Id="rId5" Type="http://schemas.openxmlformats.org/officeDocument/2006/relationships/theme" Target="../theme/theme1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theme" Target="../theme/theme2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microsoft.com/office/2007/relationships/hdphoto" Target="../media/hdphoto3.wdp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14.jpeg"/><Relationship Id="rId9" Type="http://schemas.openxmlformats.org/officeDocument/2006/relationships/image" Target="../media/image1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6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9B33D274-B6B1-E2DB-BE57-EEB1AA1C8EF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pic>
        <p:nvPicPr>
          <p:cNvPr id="15" name="BottomGutter">
            <a:extLst>
              <a:ext uri="{FF2B5EF4-FFF2-40B4-BE49-F238E27FC236}">
                <a16:creationId xmlns:a16="http://schemas.microsoft.com/office/drawing/2014/main" id="{C050C21E-2DCE-7642-AC5B-F79436CC620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56"/>
          <a:stretch/>
        </p:blipFill>
        <p:spPr>
          <a:xfrm>
            <a:off x="1" y="4499190"/>
            <a:ext cx="9143998" cy="644310"/>
          </a:xfrm>
          <a:prstGeom prst="rect">
            <a:avLst/>
          </a:prstGeom>
        </p:spPr>
      </p:pic>
      <p:pic>
        <p:nvPicPr>
          <p:cNvPr id="7" name="TopGutter">
            <a:extLst>
              <a:ext uri="{FF2B5EF4-FFF2-40B4-BE49-F238E27FC236}">
                <a16:creationId xmlns:a16="http://schemas.microsoft.com/office/drawing/2014/main" id="{858D3652-D041-9F6C-9E85-EE8258D7A38B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sp>
        <p:nvSpPr>
          <p:cNvPr id="4" name="Date Placeholder">
            <a:extLst>
              <a:ext uri="{FF2B5EF4-FFF2-40B4-BE49-F238E27FC236}">
                <a16:creationId xmlns:a16="http://schemas.microsoft.com/office/drawing/2014/main" id="{F6631BE6-C540-9F06-1408-D5DAFE4CC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1236" y="4858733"/>
            <a:ext cx="112442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93833-DED7-4158-B332-95EDAA5C7EA6}" type="datetime1">
              <a:rPr lang="ru-RU" smtClean="0"/>
              <a:t>04.09.2025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203AFB7-5C34-3102-5A43-1D87CB96B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7664" y="4858733"/>
            <a:ext cx="604867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43316F-8F60-660A-EB0D-F436D4FDA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5306" y="4682109"/>
            <a:ext cx="394546" cy="31394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BD5C77E5-19BC-410D-82EA-404658A4611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F01035C1-6DDC-A5E1-CB54-AEB8F2B5E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236" y="1370013"/>
            <a:ext cx="8164114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59F61F2A-946C-4ED4-F435-73006194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pic>
        <p:nvPicPr>
          <p:cNvPr id="12" name="ЗвёздочкаЗаголовка">
            <a:extLst>
              <a:ext uri="{FF2B5EF4-FFF2-40B4-BE49-F238E27FC236}">
                <a16:creationId xmlns:a16="http://schemas.microsoft.com/office/drawing/2014/main" id="{FB3F1185-8665-1B69-1268-F2D4AEFABB6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pic>
        <p:nvPicPr>
          <p:cNvPr id="14" name="ЗвёздочкаНомера">
            <a:extLst>
              <a:ext uri="{FF2B5EF4-FFF2-40B4-BE49-F238E27FC236}">
                <a16:creationId xmlns:a16="http://schemas.microsoft.com/office/drawing/2014/main" id="{405211ED-D317-9A6C-C87D-2F05449DEA0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73" b="56441"/>
          <a:stretch/>
        </p:blipFill>
        <p:spPr>
          <a:xfrm>
            <a:off x="8750038" y="4680520"/>
            <a:ext cx="142442" cy="1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4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55" r:id="rId2"/>
    <p:sldLayoutId id="2147483683" r:id="rId3"/>
    <p:sldLayoutId id="2147483680" r:id="rId4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800" kern="1200">
          <a:solidFill>
            <a:schemeClr val="bg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12">
            <a:extLst>
              <a:ext uri="{FF2B5EF4-FFF2-40B4-BE49-F238E27FC236}">
                <a16:creationId xmlns:a16="http://schemas.microsoft.com/office/drawing/2014/main" id="{A774F97C-D077-5D46-222E-2516201CB63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46" y="0"/>
            <a:ext cx="5192253" cy="5143500"/>
          </a:xfrm>
          <a:prstGeom prst="rect">
            <a:avLst/>
          </a:prstGeom>
        </p:spPr>
      </p:pic>
      <p:pic>
        <p:nvPicPr>
          <p:cNvPr id="8" name="Asterisk">
            <a:extLst>
              <a:ext uri="{FF2B5EF4-FFF2-40B4-BE49-F238E27FC236}">
                <a16:creationId xmlns:a16="http://schemas.microsoft.com/office/drawing/2014/main" id="{D333FEBB-EBF5-7FBD-4829-084774DD955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483518"/>
            <a:ext cx="896114" cy="850394"/>
          </a:xfrm>
          <a:prstGeom prst="rect">
            <a:avLst/>
          </a:prstGeom>
        </p:spPr>
      </p:pic>
      <p:pic>
        <p:nvPicPr>
          <p:cNvPr id="9" name="Рисунок 15">
            <a:extLst>
              <a:ext uri="{FF2B5EF4-FFF2-40B4-BE49-F238E27FC236}">
                <a16:creationId xmlns:a16="http://schemas.microsoft.com/office/drawing/2014/main" id="{0BD73755-EB14-577B-F4C9-A77F7FCF877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52085" cy="5143499"/>
          </a:xfrm>
          <a:prstGeom prst="rect">
            <a:avLst/>
          </a:prstGeom>
        </p:spPr>
      </p:pic>
      <p:pic>
        <p:nvPicPr>
          <p:cNvPr id="10" name="Рисунок 16">
            <a:extLst>
              <a:ext uri="{FF2B5EF4-FFF2-40B4-BE49-F238E27FC236}">
                <a16:creationId xmlns:a16="http://schemas.microsoft.com/office/drawing/2014/main" id="{327461AB-451C-E280-61A3-E51A2A202B9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339502"/>
            <a:ext cx="3206503" cy="3185166"/>
          </a:xfrm>
          <a:prstGeom prst="rect">
            <a:avLst/>
          </a:prstGeom>
        </p:spPr>
      </p:pic>
      <p:pic>
        <p:nvPicPr>
          <p:cNvPr id="11" name="Рисунок 17">
            <a:extLst>
              <a:ext uri="{FF2B5EF4-FFF2-40B4-BE49-F238E27FC236}">
                <a16:creationId xmlns:a16="http://schemas.microsoft.com/office/drawing/2014/main" id="{F78A891D-02CC-B741-9D04-F6A91F88DC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4229069"/>
            <a:ext cx="1655067" cy="50292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73725AA-F208-BAB1-BC9D-BCA5F883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362" y="1677262"/>
            <a:ext cx="4332104" cy="18474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14" name="Subtitle 1">
            <a:extLst>
              <a:ext uri="{FF2B5EF4-FFF2-40B4-BE49-F238E27FC236}">
                <a16:creationId xmlns:a16="http://schemas.microsoft.com/office/drawing/2014/main" id="{46B62068-49A8-7B4B-4EC6-41C46C4BA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4362" y="3524667"/>
            <a:ext cx="4332104" cy="919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47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prbookshop.ru/73671.html" TargetMode="External"/><Relationship Id="rId2" Type="http://schemas.openxmlformats.org/officeDocument/2006/relationships/hyperlink" Target="http://biblioclub.ru/index.php?page=book&amp;id=575324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biblioclub.ru/index.php?page=book&amp;id=429087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prbookshop.ru/79883.html" TargetMode="External"/><Relationship Id="rId2" Type="http://schemas.openxmlformats.org/officeDocument/2006/relationships/hyperlink" Target="http://www.iprbookshop.ru/73728.html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iprbookshop.ru/52210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yadi.sk/i/XtFY5YSsfoHK8g" TargetMode="External"/><Relationship Id="rId2" Type="http://schemas.openxmlformats.org/officeDocument/2006/relationships/hyperlink" Target="https://yadi.sk/i/OWI2ErOBFfYTJw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osp.ru/os/archive/" TargetMode="External"/><Relationship Id="rId5" Type="http://schemas.openxmlformats.org/officeDocument/2006/relationships/hyperlink" Target="https://yadi.sk/i/lOO3caBfW9h_dA" TargetMode="External"/><Relationship Id="rId4" Type="http://schemas.openxmlformats.org/officeDocument/2006/relationships/hyperlink" Target="https://yadi.sk/i/8ntKILS5uvMsZ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hyperlink" Target="http://citeseerx.ist.psu.edu/viewdoc/summary?doi=10.1.1.123.1085" TargetMode="Externa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04362" y="1677262"/>
            <a:ext cx="3523722" cy="535531"/>
          </a:xfrm>
        </p:spPr>
        <p:txBody>
          <a:bodyPr wrap="none">
            <a:spAutoFit/>
          </a:bodyPr>
          <a:lstStyle/>
          <a:p>
            <a:r>
              <a:rPr lang="ru-RU" sz="3200" dirty="0"/>
              <a:t>БАЗЫ ДАННЫХ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5D118-EC03-3BAF-711F-6D2F5AAC6F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ru-RU" dirty="0" err="1"/>
              <a:t>Злыгостев</a:t>
            </a:r>
            <a:r>
              <a:rPr lang="ru-RU" dirty="0"/>
              <a:t> Антон</a:t>
            </a:r>
          </a:p>
          <a:p>
            <a:r>
              <a:rPr lang="en-US" dirty="0"/>
              <a:t>a.zlygostev@g.nsu.ru</a:t>
            </a:r>
          </a:p>
        </p:txBody>
      </p:sp>
    </p:spTree>
    <p:extLst>
      <p:ext uri="{BB962C8B-B14F-4D97-AF65-F5344CB8AC3E}">
        <p14:creationId xmlns:p14="http://schemas.microsoft.com/office/powerpoint/2010/main" val="244075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55E63-706C-D0A7-C071-F23AAFA3C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dirty="0"/>
              <a:t>СОДЕРЖАНИЕ КУРСА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8939B-94E2-6B3B-B016-4CBDEC4C05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 numCol="2">
            <a:normAutofit fontScale="92500" lnSpcReduction="10000"/>
          </a:bodyPr>
          <a:lstStyle/>
          <a:p>
            <a:r>
              <a:rPr lang="ru-RU" dirty="0"/>
              <a:t>Проектирование структуры базы данных</a:t>
            </a:r>
          </a:p>
          <a:p>
            <a:pPr lvl="1"/>
            <a:r>
              <a:rPr lang="en-US" dirty="0"/>
              <a:t>ER-</a:t>
            </a:r>
            <a:r>
              <a:rPr lang="ru-RU" dirty="0"/>
              <a:t>модель</a:t>
            </a:r>
          </a:p>
          <a:p>
            <a:r>
              <a:rPr lang="ru-RU" dirty="0"/>
              <a:t>Теория баз данных</a:t>
            </a:r>
          </a:p>
          <a:p>
            <a:pPr lvl="1"/>
            <a:r>
              <a:rPr lang="ru-RU" dirty="0"/>
              <a:t>Реляционная модель</a:t>
            </a:r>
          </a:p>
          <a:p>
            <a:pPr lvl="1"/>
            <a:r>
              <a:rPr lang="ru-RU" dirty="0"/>
              <a:t>Объектная модель</a:t>
            </a:r>
          </a:p>
          <a:p>
            <a:pPr lvl="1"/>
            <a:r>
              <a:rPr lang="ru-RU" dirty="0"/>
              <a:t>Иерархическая, сетевая модели</a:t>
            </a:r>
          </a:p>
          <a:p>
            <a:pPr lvl="1"/>
            <a:r>
              <a:rPr lang="ru-RU" dirty="0" err="1"/>
              <a:t>NoSQL</a:t>
            </a:r>
            <a:r>
              <a:rPr lang="ru-RU" dirty="0"/>
              <a:t> модели</a:t>
            </a:r>
          </a:p>
          <a:p>
            <a:r>
              <a:rPr lang="ru-RU" dirty="0"/>
              <a:t>Архитектура баз данных</a:t>
            </a:r>
          </a:p>
          <a:p>
            <a:pPr lvl="1"/>
            <a:r>
              <a:rPr lang="ru-RU" dirty="0"/>
              <a:t>Структуры хранения данных</a:t>
            </a:r>
          </a:p>
          <a:p>
            <a:pPr lvl="1"/>
            <a:r>
              <a:rPr lang="ru-RU" dirty="0"/>
              <a:t>Средства обеспечения целостности, безопасности</a:t>
            </a:r>
          </a:p>
          <a:p>
            <a:r>
              <a:rPr lang="ru-RU" dirty="0"/>
              <a:t>Прикладное программирование с базами данных</a:t>
            </a:r>
          </a:p>
          <a:p>
            <a:r>
              <a:rPr lang="ru-RU" dirty="0"/>
              <a:t>Администрирование баз данных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ED1E4-BE6E-5E15-8B45-F2CCA1848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603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FED6A4E-AC53-3771-1685-BE0C4A9CD96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0" y="1433513"/>
            <a:ext cx="4321175" cy="633410"/>
          </a:xfrm>
        </p:spPr>
        <p:txBody>
          <a:bodyPr>
            <a:normAutofit lnSpcReduction="10000"/>
          </a:bodyPr>
          <a:lstStyle/>
          <a:p>
            <a:pPr>
              <a:tabLst>
                <a:tab pos="1436688" algn="l"/>
                <a:tab pos="4124325" algn="r"/>
              </a:tabLst>
            </a:pPr>
            <a:r>
              <a:rPr lang="ru-RU" sz="1800" b="1" dirty="0"/>
              <a:t>ПРАКТИКА:	</a:t>
            </a:r>
            <a:r>
              <a:rPr lang="ru-RU" b="1" dirty="0" err="1"/>
              <a:t>д</a:t>
            </a:r>
            <a:r>
              <a:rPr lang="ru-RU" sz="1800" dirty="0" err="1"/>
              <a:t>иф</a:t>
            </a:r>
            <a:r>
              <a:rPr lang="ru-RU" sz="1800" dirty="0"/>
              <a:t>. зачет (зима)</a:t>
            </a:r>
            <a:br>
              <a:rPr lang="ru-RU" sz="1800" dirty="0"/>
            </a:br>
            <a:r>
              <a:rPr lang="ru-RU" sz="1800" dirty="0"/>
              <a:t>	допуск (весна)</a:t>
            </a:r>
          </a:p>
          <a:p>
            <a:pPr>
              <a:tabLst>
                <a:tab pos="4124325" algn="r"/>
              </a:tabLst>
            </a:pP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E89059D-ED69-D31E-9251-97A5A8E6CEB0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85000" lnSpcReduction="10000"/>
          </a:bodyPr>
          <a:lstStyle/>
          <a:p>
            <a:pPr marL="269875" indent="-269875">
              <a:lnSpc>
                <a:spcPct val="100000"/>
              </a:lnSpc>
              <a:buBlip>
                <a:blip r:embed="rId2"/>
              </a:buBlip>
            </a:pPr>
            <a:r>
              <a:rPr lang="ru-RU" sz="1700" dirty="0"/>
              <a:t>Упражнения и контрольные (сентябрь-декабрь)</a:t>
            </a:r>
          </a:p>
          <a:p>
            <a:pPr marL="447675" lvl="1" indent="-180975">
              <a:lnSpc>
                <a:spcPct val="100000"/>
              </a:lnSpc>
              <a:buBlip>
                <a:blip r:embed="rId2"/>
              </a:buBlip>
            </a:pPr>
            <a:r>
              <a:rPr lang="ru-RU" sz="1500" dirty="0"/>
              <a:t>Основы </a:t>
            </a:r>
            <a:r>
              <a:rPr lang="en-US" sz="1500" dirty="0"/>
              <a:t>SQL</a:t>
            </a:r>
          </a:p>
          <a:p>
            <a:pPr marL="447675" lvl="1" indent="-180975">
              <a:lnSpc>
                <a:spcPct val="100000"/>
              </a:lnSpc>
              <a:buBlip>
                <a:blip r:embed="rId2"/>
              </a:buBlip>
            </a:pPr>
            <a:r>
              <a:rPr lang="ru-RU" sz="1500" dirty="0"/>
              <a:t>Реляционная алгебра</a:t>
            </a:r>
          </a:p>
          <a:p>
            <a:pPr marL="447675" lvl="1" indent="-180975">
              <a:lnSpc>
                <a:spcPct val="100000"/>
              </a:lnSpc>
              <a:buBlip>
                <a:blip r:embed="rId2"/>
              </a:buBlip>
            </a:pPr>
            <a:r>
              <a:rPr lang="en-US" sz="1500" dirty="0"/>
              <a:t>ER-</a:t>
            </a:r>
            <a:r>
              <a:rPr lang="ru-RU" sz="1500" dirty="0"/>
              <a:t>Моделирование</a:t>
            </a:r>
          </a:p>
          <a:p>
            <a:pPr marL="269875" indent="-269875">
              <a:lnSpc>
                <a:spcPct val="100000"/>
              </a:lnSpc>
              <a:buBlip>
                <a:blip r:embed="rId2"/>
              </a:buBlip>
            </a:pPr>
            <a:r>
              <a:rPr lang="ru-RU" sz="1700" dirty="0"/>
              <a:t>Клиент-сервер (февраль-май). </a:t>
            </a:r>
          </a:p>
          <a:p>
            <a:pPr marL="447675" lvl="1" indent="-180975">
              <a:lnSpc>
                <a:spcPct val="100000"/>
              </a:lnSpc>
              <a:buBlip>
                <a:blip r:embed="rId2"/>
              </a:buBlip>
            </a:pPr>
            <a:r>
              <a:rPr lang="ru-RU" sz="1500" dirty="0"/>
              <a:t>Разработка структуры БД приложения</a:t>
            </a:r>
          </a:p>
          <a:p>
            <a:pPr marL="447675" lvl="1" indent="-180975">
              <a:lnSpc>
                <a:spcPct val="100000"/>
              </a:lnSpc>
              <a:buBlip>
                <a:blip r:embed="rId2"/>
              </a:buBlip>
            </a:pPr>
            <a:r>
              <a:rPr lang="ru-RU" sz="1500" dirty="0"/>
              <a:t>Разработка приложения в </a:t>
            </a:r>
            <a:r>
              <a:rPr lang="en-US" sz="1500" dirty="0"/>
              <a:t>2/3 tier </a:t>
            </a:r>
            <a:r>
              <a:rPr lang="ru-RU" sz="1500" dirty="0"/>
              <a:t>архитектуре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327225B-3BD8-EFBE-8171-6A9A9D9340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ru-RU" dirty="0"/>
              <a:t>Устный экзамен (2 вопроса)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B3DDF4F-164E-C67C-080F-C3F6026C5B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ru-RU" sz="1800" b="1" dirty="0"/>
              <a:t>ЛЕКЦИИ: э</a:t>
            </a:r>
            <a:r>
              <a:rPr lang="ru-RU" sz="1800" dirty="0"/>
              <a:t>кзамен (весна)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F0B89D0-F34F-E519-DED3-4102462C9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dirty="0"/>
              <a:t>СТРУКТУРА КУРСА И АТТЕСТАЦИЯ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CFB7518-C0AC-7F42-A59D-EA80FC05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314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A26515-82F9-BFED-C2A0-1967B2EA70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6A67C-FF6B-9762-ACBF-04B1A1F1E3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ЛИТЕРАТУРА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118199-88F4-C870-1F8E-8EA926A2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45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DE754A-6509-5765-AB59-D7C5299FA3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 err="1"/>
              <a:t>Аврунев</a:t>
            </a:r>
            <a:r>
              <a:rPr lang="ru-RU" dirty="0"/>
              <a:t>, О.Е. </a:t>
            </a:r>
            <a:r>
              <a:rPr lang="ru-RU" b="1" dirty="0"/>
              <a:t>Модели баз данных</a:t>
            </a:r>
            <a:r>
              <a:rPr lang="ru-RU" dirty="0"/>
              <a:t> </a:t>
            </a:r>
            <a:br>
              <a:rPr lang="en-US" dirty="0"/>
            </a:br>
            <a:r>
              <a:rPr lang="ru-RU" dirty="0"/>
              <a:t>Новосибирск : Новосибирский государственный технический университет, 201 </a:t>
            </a:r>
            <a:r>
              <a:rPr lang="ru-RU" dirty="0">
                <a:hlinkClick r:id="rId2"/>
              </a:rPr>
              <a:t>http://biblioclub.ru/index.php?page=book&amp;id=575324</a:t>
            </a:r>
            <a:r>
              <a:rPr lang="ru-RU" dirty="0"/>
              <a:t> ISBN </a:t>
            </a:r>
            <a:r>
              <a:rPr lang="ru-RU" b="1" dirty="0"/>
              <a:t>978-5-7782-3749-0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Кузнецов, С.Д. </a:t>
            </a:r>
            <a:r>
              <a:rPr lang="ru-RU" b="1" dirty="0"/>
              <a:t>Введение в реляционные базы данных</a:t>
            </a:r>
            <a:br>
              <a:rPr lang="en-US" dirty="0"/>
            </a:br>
            <a:r>
              <a:rPr lang="ru-RU" dirty="0"/>
              <a:t>М.: Интернет-Университет Информационных Технологий (ИНТУИТ), 2016. </a:t>
            </a:r>
            <a:br>
              <a:rPr lang="en-US" dirty="0"/>
            </a:br>
            <a:r>
              <a:rPr lang="ru-RU" dirty="0">
                <a:hlinkClick r:id="rId3"/>
              </a:rPr>
              <a:t>http://www.iprbookshop.ru/73671.html</a:t>
            </a:r>
            <a:r>
              <a:rPr lang="en-US" dirty="0"/>
              <a:t>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Кузнецов, С.Д. </a:t>
            </a:r>
            <a:r>
              <a:rPr lang="ru-RU" b="1" dirty="0"/>
              <a:t>Введение в модель данных SQL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Москва : Национальный Открытый Университет «ИНТУИТ», 2016. </a:t>
            </a:r>
            <a:r>
              <a:rPr lang="ru-RU" dirty="0">
                <a:hlinkClick r:id="rId4"/>
              </a:rPr>
              <a:t>http://biblioclub.ru/index.php?page=book&amp;id=429087</a:t>
            </a:r>
            <a:br>
              <a:rPr lang="ru-RU" dirty="0"/>
            </a:br>
            <a:r>
              <a:rPr lang="ru-RU" dirty="0"/>
              <a:t>ISBN </a:t>
            </a:r>
            <a:r>
              <a:rPr lang="ru-RU" b="1" dirty="0"/>
              <a:t>5-9556-00028-0</a:t>
            </a:r>
            <a:endParaRPr lang="ru-RU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1DCE156-68A2-1C19-1590-077A0EA83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dirty="0"/>
              <a:t>ОСНОВНАЯ ЛИТЕРАТУРА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36E8FF-B88B-315A-0AA6-D00551AED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308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DE754A-6509-5765-AB59-D7C5299FA3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Карпова Т.С. </a:t>
            </a:r>
            <a:r>
              <a:rPr lang="ru-RU" b="1" dirty="0"/>
              <a:t>Базы данных. Модели, разработка, реализация </a:t>
            </a:r>
            <a:br>
              <a:rPr lang="ru-RU" dirty="0"/>
            </a:br>
            <a:r>
              <a:rPr lang="ru-RU" dirty="0"/>
              <a:t>М.: Интернет-Университет Информационных Технологий (ИНТУИТ), 2016.</a:t>
            </a:r>
            <a:br>
              <a:rPr lang="ru-RU" dirty="0"/>
            </a:br>
            <a:r>
              <a:rPr lang="ru-RU" dirty="0">
                <a:hlinkClick r:id="rId2"/>
              </a:rPr>
              <a:t>http://www.iprbookshop.ru/73728.html</a:t>
            </a:r>
            <a:r>
              <a:rPr lang="ru-RU" dirty="0"/>
              <a:t> 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b="1" dirty="0"/>
              <a:t>ДЛЯ ПРАКТИЧЕСКИХ ЗАНЯТИЙ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Волков, Д. А. </a:t>
            </a:r>
            <a:r>
              <a:rPr lang="ru-RU" b="1" dirty="0"/>
              <a:t>Базы данных</a:t>
            </a:r>
            <a:br>
              <a:rPr lang="ru-RU" dirty="0"/>
            </a:br>
            <a:r>
              <a:rPr lang="ru-RU" dirty="0"/>
              <a:t>Москва : МИСИ-МГСУ, Ай Пи Эр Медиа, ЭБС АСВ, 2018. </a:t>
            </a:r>
            <a:br>
              <a:rPr lang="ru-RU" dirty="0"/>
            </a:br>
            <a:r>
              <a:rPr lang="ru-RU" dirty="0">
                <a:hlinkClick r:id="rId3"/>
              </a:rPr>
              <a:t>http://www.iprbookshop.ru/79883.html</a:t>
            </a:r>
            <a:r>
              <a:rPr lang="ru-RU" dirty="0"/>
              <a:t> ISBN </a:t>
            </a:r>
            <a:r>
              <a:rPr lang="ru-RU" b="1" dirty="0"/>
              <a:t>978-5-7264-1883-4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Полякова, Л. Н. </a:t>
            </a:r>
            <a:r>
              <a:rPr lang="ru-RU" b="1" dirty="0"/>
              <a:t>Основы SQL </a:t>
            </a:r>
            <a:br>
              <a:rPr lang="ru-RU" dirty="0"/>
            </a:br>
            <a:r>
              <a:rPr lang="ru-RU" dirty="0"/>
              <a:t>М.: Интернет-Университет Информационных Технологий (ИНТУИТ), 2016 </a:t>
            </a:r>
            <a:r>
              <a:rPr lang="ru-RU" dirty="0">
                <a:hlinkClick r:id="rId4"/>
              </a:rPr>
              <a:t>http://www.iprbookshop.ru/52210</a:t>
            </a:r>
            <a:r>
              <a:rPr lang="ru-RU" dirty="0"/>
              <a:t> ISBN </a:t>
            </a:r>
            <a:r>
              <a:rPr lang="ru-RU" b="1" dirty="0"/>
              <a:t>978-5-94774-649-5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1DCE156-68A2-1C19-1590-077A0EA83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dirty="0"/>
              <a:t>ОСНОВНАЯ ЛИТЕРАТУРА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6E345F-F1CB-86FD-C742-509E3A9F8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467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DE754A-6509-5765-AB59-D7C5299FA3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sz="1400" dirty="0" err="1"/>
              <a:t>Г.Гарсия</a:t>
            </a:r>
            <a:r>
              <a:rPr lang="ru-RU" sz="1400" dirty="0"/>
              <a:t> –Молина, Дж. Ульман, Дж. </a:t>
            </a:r>
            <a:r>
              <a:rPr lang="ru-RU" sz="1400" dirty="0" err="1"/>
              <a:t>Уидом</a:t>
            </a:r>
            <a:r>
              <a:rPr lang="ru-RU" sz="1400" dirty="0"/>
              <a:t>, </a:t>
            </a:r>
            <a:r>
              <a:rPr lang="ru-RU" sz="1400" b="1" dirty="0"/>
              <a:t>Системы баз данных.</a:t>
            </a:r>
            <a:r>
              <a:rPr lang="ru-RU" sz="1400" dirty="0"/>
              <a:t> М, С-П, Киев, 2003г.</a:t>
            </a:r>
            <a:br>
              <a:rPr lang="ru-RU" sz="1400" dirty="0"/>
            </a:br>
            <a:r>
              <a:rPr lang="ru-RU" sz="1400" dirty="0">
                <a:hlinkClick r:id="rId2"/>
              </a:rPr>
              <a:t>https://yadi.sk/i/OWI2ErOBFfYTJw</a:t>
            </a:r>
            <a:endParaRPr lang="ru-RU" sz="1400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sz="1400" dirty="0"/>
              <a:t>Дж. Ульман, </a:t>
            </a:r>
            <a:r>
              <a:rPr lang="ru-RU" sz="1400" b="1" dirty="0"/>
              <a:t>Основы систем баз данных, </a:t>
            </a:r>
            <a:r>
              <a:rPr lang="ru-RU" sz="1400" dirty="0"/>
              <a:t>М., Финансы и статистика, 1983.</a:t>
            </a:r>
            <a:br>
              <a:rPr lang="ru-RU" sz="1400" dirty="0"/>
            </a:br>
            <a:r>
              <a:rPr lang="ru-RU" sz="1400" dirty="0">
                <a:hlinkClick r:id="rId3"/>
              </a:rPr>
              <a:t>https://yadi.sk/i/XtFY5YSsfoHK8g</a:t>
            </a:r>
            <a:endParaRPr lang="ru-RU" sz="1400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sz="1400" dirty="0"/>
              <a:t>К. Дж. </a:t>
            </a:r>
            <a:r>
              <a:rPr lang="ru-RU" sz="1400" dirty="0" err="1"/>
              <a:t>Дейт</a:t>
            </a:r>
            <a:r>
              <a:rPr lang="ru-RU" sz="1400" dirty="0"/>
              <a:t>, </a:t>
            </a:r>
            <a:r>
              <a:rPr lang="ru-RU" sz="1400" b="1" dirty="0"/>
              <a:t>Введение в системы баз данных</a:t>
            </a:r>
            <a:r>
              <a:rPr lang="ru-RU" sz="1400" dirty="0"/>
              <a:t>, восьмое издание,  М, С-П, Киев, 2005.</a:t>
            </a:r>
            <a:br>
              <a:rPr lang="ru-RU" sz="1400" dirty="0"/>
            </a:br>
            <a:r>
              <a:rPr lang="ru-RU" sz="1400" dirty="0">
                <a:hlinkClick r:id="rId4"/>
              </a:rPr>
              <a:t>https://yadi.sk/i/8ntKILS5uvMsZ</a:t>
            </a:r>
            <a:endParaRPr lang="ru-RU" sz="1400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sz="1400" dirty="0"/>
              <a:t>М. Грабер. </a:t>
            </a:r>
            <a:r>
              <a:rPr lang="ru-RU" sz="1400" b="1" dirty="0"/>
              <a:t>SQL</a:t>
            </a:r>
            <a:r>
              <a:rPr lang="ru-RU" sz="1400" dirty="0"/>
              <a:t>, M.: Лори, 2001.</a:t>
            </a:r>
            <a:br>
              <a:rPr lang="ru-RU" sz="1400" dirty="0"/>
            </a:br>
            <a:r>
              <a:rPr lang="ru-RU" sz="1400" dirty="0">
                <a:hlinkClick r:id="rId5"/>
              </a:rPr>
              <a:t>https://yadi.sk/i/lOO3caBfW9h_dA</a:t>
            </a:r>
            <a:endParaRPr lang="ru-RU" sz="1400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sz="1400" dirty="0"/>
              <a:t>Журнал «Открытые системы»</a:t>
            </a:r>
            <a:br>
              <a:rPr lang="ru-RU" sz="1400" dirty="0"/>
            </a:br>
            <a:r>
              <a:rPr lang="ru-RU" sz="1400" dirty="0">
                <a:hlinkClick r:id="rId6"/>
              </a:rPr>
              <a:t>http://www.osp.ru/os/archive/</a:t>
            </a:r>
            <a:r>
              <a:rPr lang="ru-RU" sz="1400" dirty="0"/>
              <a:t>  - электронная версия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1DCE156-68A2-1C19-1590-077A0EA83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dirty="0"/>
              <a:t>ОСНОВНАЯ ЛИТЕРАТУРА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BD4536-DEFB-57A7-A057-7E3D72CC2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551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9A1E7-1341-B6B5-3B03-DCD454552C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6A67C-FF6B-9762-ACBF-04B1A1F1E3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ОСНОВЫ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E958067-CA34-3E1E-0B26-E674962F7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63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F772B2-F454-6F2B-4F6E-A49199663E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5"/>
            <a:ext cx="8541643" cy="2305050"/>
          </a:xfrm>
        </p:spPr>
        <p:txBody>
          <a:bodyPr numCol="2">
            <a:normAutofit fontScale="70000" lnSpcReduction="20000"/>
          </a:bodyPr>
          <a:lstStyle/>
          <a:p>
            <a:r>
              <a:rPr lang="ru-RU" dirty="0"/>
              <a:t>Приложения, использующие слабоструктурированную информацию</a:t>
            </a:r>
          </a:p>
          <a:p>
            <a:pPr lvl="1"/>
            <a:r>
              <a:rPr lang="ru-RU" dirty="0"/>
              <a:t>Вычислительные программы</a:t>
            </a:r>
          </a:p>
          <a:p>
            <a:pPr lvl="1"/>
            <a:r>
              <a:rPr lang="ru-RU" dirty="0"/>
              <a:t>Программы, реализующие сложные алгоритмы  </a:t>
            </a:r>
          </a:p>
          <a:p>
            <a:r>
              <a:rPr lang="ru-RU" dirty="0"/>
              <a:t>Приложения, использующие структурированную текстовую и числовую информацию</a:t>
            </a:r>
          </a:p>
          <a:p>
            <a:pPr lvl="1"/>
            <a:r>
              <a:rPr lang="ru-RU" dirty="0"/>
              <a:t>Банковские системы</a:t>
            </a:r>
          </a:p>
          <a:p>
            <a:pPr lvl="1"/>
            <a:r>
              <a:rPr lang="ru-RU" dirty="0"/>
              <a:t>Системы управления предприятием (бухгалтерия, кадры, снабжение и т.п.)</a:t>
            </a:r>
            <a:br>
              <a:rPr lang="ru-RU" dirty="0"/>
            </a:br>
            <a:endParaRPr lang="ru-RU" dirty="0"/>
          </a:p>
          <a:p>
            <a:pPr lvl="1"/>
            <a:r>
              <a:rPr lang="ru-RU" dirty="0"/>
              <a:t>Системы продажи билетов</a:t>
            </a:r>
          </a:p>
          <a:p>
            <a:pPr lvl="1"/>
            <a:r>
              <a:rPr lang="ru-RU" dirty="0"/>
              <a:t>Информационные системы </a:t>
            </a:r>
          </a:p>
          <a:p>
            <a:r>
              <a:rPr lang="ru-RU" dirty="0"/>
              <a:t>Приложения, использующие различные типы информации</a:t>
            </a:r>
          </a:p>
          <a:p>
            <a:pPr lvl="1"/>
            <a:r>
              <a:rPr lang="ru-RU" dirty="0"/>
              <a:t>Системы автоматизации проектирования</a:t>
            </a:r>
          </a:p>
          <a:p>
            <a:pPr lvl="1"/>
            <a:r>
              <a:rPr lang="ru-RU" dirty="0"/>
              <a:t>Геоинформационные системы</a:t>
            </a:r>
          </a:p>
          <a:p>
            <a:pPr lvl="1"/>
            <a:r>
              <a:rPr lang="ru-RU" dirty="0"/>
              <a:t>Мультимедийные информационные системы</a:t>
            </a:r>
          </a:p>
          <a:p>
            <a:pPr lvl="1"/>
            <a:r>
              <a:rPr lang="ru-RU" dirty="0"/>
              <a:t>Системы реального времени (АСУТП, УС, ВС)</a:t>
            </a:r>
          </a:p>
          <a:p>
            <a:pPr lvl="1"/>
            <a:r>
              <a:rPr lang="ru-RU" dirty="0"/>
              <a:t>Хранилища данных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9C64F79-FDE7-980F-B454-0CFEE46219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BF51F13-0618-C79B-20FD-45744CF72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ПРИЛОЖЕНИЯ И СТРУКТУРЫ ДАННЫХ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6C237B-B476-6704-6CC5-A87720E6C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875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2D36DA-66ED-B832-620A-FF02FA62C8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>
            <a:normAutofit fontScale="62500" lnSpcReduction="2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Термин </a:t>
            </a:r>
            <a:r>
              <a:rPr lang="ru-RU" dirty="0">
                <a:solidFill>
                  <a:schemeClr val="accent2"/>
                </a:solidFill>
              </a:rPr>
              <a:t>данные</a:t>
            </a:r>
            <a:r>
              <a:rPr lang="ru-RU" dirty="0"/>
              <a:t> происходит от слова </a:t>
            </a:r>
            <a:r>
              <a:rPr lang="ru-RU" dirty="0" err="1"/>
              <a:t>data</a:t>
            </a:r>
            <a:r>
              <a:rPr lang="ru-RU" dirty="0"/>
              <a:t> - факт, а информация (</a:t>
            </a:r>
            <a:r>
              <a:rPr lang="ru-RU" dirty="0" err="1"/>
              <a:t>informatio</a:t>
            </a:r>
            <a:r>
              <a:rPr lang="ru-RU" dirty="0"/>
              <a:t>, лат.) означает разъяснение, изложение, т.е. сведения или сообщение.</a:t>
            </a:r>
          </a:p>
          <a:p>
            <a:pPr>
              <a:spcBef>
                <a:spcPts val="600"/>
              </a:spcBef>
            </a:pPr>
            <a:r>
              <a:rPr lang="ru-RU" b="1" dirty="0"/>
              <a:t>Данные</a:t>
            </a:r>
            <a:r>
              <a:rPr lang="ru-RU" dirty="0"/>
              <a:t> - это совокупность сведений (информация), представленная в формализованном виде, пригодном для передачи, интерпретации или обработки с участием человека или автоматическими средствами. Данные — это и текст книги, и картина художника, и ДНК. </a:t>
            </a:r>
            <a:br>
              <a:rPr lang="ru-RU" dirty="0"/>
            </a:br>
            <a:r>
              <a:rPr lang="ru-RU" dirty="0"/>
              <a:t>Преобразование и обработка данных позволяет получить информацию.</a:t>
            </a:r>
          </a:p>
          <a:p>
            <a:pPr>
              <a:spcBef>
                <a:spcPts val="600"/>
              </a:spcBef>
            </a:pPr>
            <a:r>
              <a:rPr lang="ru-RU" b="1" dirty="0"/>
              <a:t>Информация</a:t>
            </a:r>
            <a:r>
              <a:rPr lang="ru-RU" dirty="0"/>
              <a:t> – любой  вид знаний о предметах, фактах, понятиях и т. д. проблемной области, которыми обмениваются пользователи информационной системы </a:t>
            </a:r>
            <a:br>
              <a:rPr lang="ru-RU" dirty="0"/>
            </a:br>
            <a:r>
              <a:rPr lang="ru-RU" dirty="0"/>
              <a:t>Информация - это результат преобразования и анализа данных. </a:t>
            </a:r>
            <a:br>
              <a:rPr lang="ru-RU" dirty="0"/>
            </a:br>
            <a:r>
              <a:rPr lang="ru-RU" dirty="0"/>
              <a:t>Например, данные 36,8 могут означать и температуру и размер некоторого объекта</a:t>
            </a:r>
          </a:p>
          <a:p>
            <a:pPr>
              <a:spcBef>
                <a:spcPts val="600"/>
              </a:spcBef>
            </a:pPr>
            <a:r>
              <a:rPr lang="ru-RU" dirty="0"/>
              <a:t>Отличие информации от данных состоит в том, что </a:t>
            </a:r>
          </a:p>
          <a:p>
            <a:pPr lvl="1">
              <a:spcBef>
                <a:spcPts val="600"/>
              </a:spcBef>
            </a:pPr>
            <a:r>
              <a:rPr lang="ru-RU" b="1" dirty="0"/>
              <a:t>данные</a:t>
            </a:r>
            <a:r>
              <a:rPr lang="ru-RU" dirty="0"/>
              <a:t> - это фиксированные сведения о событиях и явлениях, которые хранятся на определенных носителях, </a:t>
            </a:r>
          </a:p>
          <a:p>
            <a:pPr lvl="1">
              <a:spcBef>
                <a:spcPts val="600"/>
              </a:spcBef>
            </a:pPr>
            <a:r>
              <a:rPr lang="ru-RU" b="1" dirty="0"/>
              <a:t>информация</a:t>
            </a:r>
            <a:r>
              <a:rPr lang="ru-RU" dirty="0"/>
              <a:t> появляется в результате обработки данных при решении конкретных задач. Например, в базах данных хранятся различные данные, а по определенному запросу система управления базой данных выдает требуемую информацию.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361020-23E7-C8C7-92B0-64CDCA19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dirty="0">
                <a:solidFill>
                  <a:schemeClr val="lt1"/>
                </a:solidFill>
              </a:rPr>
              <a:t>БАЗОВЫЕ ОПРЕДЕЛЕНИЯ</a:t>
            </a:r>
            <a:r>
              <a:rPr lang="ru-RU" sz="1800" dirty="0">
                <a:solidFill>
                  <a:schemeClr val="lt2"/>
                </a:solidFill>
              </a:rPr>
              <a:t>: ДАННЫЕ И ИНФОРМАЦИЯ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788816-4751-2E94-0110-EE8879CF7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996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2D36DA-66ED-B832-620A-FF02FA62C8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8541643" cy="3168750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600"/>
              </a:spcBef>
            </a:pPr>
            <a:r>
              <a:rPr lang="ru-RU" b="1" dirty="0"/>
              <a:t>Предметная область</a:t>
            </a:r>
          </a:p>
          <a:p>
            <a:pPr marL="358775" lvl="1" indent="0">
              <a:spcBef>
                <a:spcPts val="600"/>
              </a:spcBef>
              <a:buNone/>
            </a:pPr>
            <a:r>
              <a:rPr lang="ru-RU" dirty="0"/>
              <a:t>Часть реального мира, для которой создается информационная система</a:t>
            </a:r>
          </a:p>
          <a:p>
            <a:r>
              <a:rPr lang="ru-RU" b="1" dirty="0"/>
              <a:t>Данные</a:t>
            </a:r>
          </a:p>
          <a:p>
            <a:pPr marL="358775" lvl="1" indent="0">
              <a:spcBef>
                <a:spcPts val="600"/>
              </a:spcBef>
              <a:buNone/>
            </a:pPr>
            <a:r>
              <a:rPr lang="ru-RU" dirty="0"/>
              <a:t>Представление фактов или идей в формализованном виде, пригодном для обработки в некотором информационном процессе</a:t>
            </a:r>
          </a:p>
          <a:p>
            <a:r>
              <a:rPr lang="ru-RU" b="1" dirty="0"/>
              <a:t>База данных</a:t>
            </a:r>
          </a:p>
          <a:p>
            <a:pPr marL="358775" lvl="1" indent="0">
              <a:spcBef>
                <a:spcPts val="600"/>
              </a:spcBef>
              <a:buNone/>
            </a:pPr>
            <a:r>
              <a:rPr lang="ru-RU" dirty="0"/>
              <a:t>Набор связанных данных</a:t>
            </a:r>
          </a:p>
          <a:p>
            <a:r>
              <a:rPr lang="ru-RU" b="1" dirty="0"/>
              <a:t>Система управления базами данных</a:t>
            </a:r>
            <a:r>
              <a:rPr lang="ru-RU" dirty="0"/>
              <a:t> (</a:t>
            </a:r>
            <a:r>
              <a:rPr lang="ru-RU" b="1" dirty="0"/>
              <a:t>СУБД</a:t>
            </a:r>
            <a:r>
              <a:rPr lang="ru-RU" dirty="0"/>
              <a:t>)</a:t>
            </a:r>
          </a:p>
          <a:p>
            <a:pPr marL="358775" lvl="1" indent="0">
              <a:spcBef>
                <a:spcPts val="600"/>
              </a:spcBef>
              <a:buNone/>
            </a:pPr>
            <a:r>
              <a:rPr lang="ru-RU" dirty="0"/>
              <a:t>Пакет программ, обеспечивающих средства создания и манипулирования базами данных на ЭВМ</a:t>
            </a:r>
          </a:p>
          <a:p>
            <a:r>
              <a:rPr lang="ru-RU" b="1" dirty="0"/>
              <a:t>Система базы данных</a:t>
            </a:r>
            <a:r>
              <a:rPr lang="ru-RU" dirty="0"/>
              <a:t> (Database System)</a:t>
            </a:r>
          </a:p>
          <a:p>
            <a:pPr marL="358775" lvl="1" indent="0">
              <a:spcBef>
                <a:spcPts val="600"/>
              </a:spcBef>
              <a:buNone/>
            </a:pPr>
            <a:r>
              <a:rPr lang="ru-RU" dirty="0"/>
              <a:t>Пакет программ СУБД вместе с данными. Иногда  в систему базы данных включают и приложения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361020-23E7-C8C7-92B0-64CDCA19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dirty="0">
                <a:solidFill>
                  <a:schemeClr val="lt1"/>
                </a:solidFill>
              </a:rPr>
              <a:t>БАЗОВЫЕ ОПРЕДЕЛЕНИЯ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788816-4751-2E94-0110-EE8879CF7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873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2D36DA-66ED-B832-620A-FF02FA62C8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8541643" cy="3456782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Совокупность данных, хранимых в соответствии со схемой данных, манипулирование которыми выполняют в соответствии с правилами средств моделирования данных</a:t>
            </a:r>
            <a:br>
              <a:rPr lang="ru-RU" dirty="0"/>
            </a:br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ГОСТ Р ИСО МЭК ТО 10032-2007: Эталонная модель управления данными (идентичен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ISO/IEC TR 10032:2003 Information technology — Reference model of data management)</a:t>
            </a:r>
            <a:endParaRPr lang="ru-RU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Совокупность данных, организованных в соответствии с концептуальной структурой, описывающей характеристики этих данных и взаимоотношения между ними, причём такое собрание данных, которое поддерживает одну или более областей применения</a:t>
            </a:r>
            <a:br>
              <a:rPr lang="ru-RU" dirty="0"/>
            </a:br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ISO/IEC 2382-1:1993. Information </a:t>
            </a:r>
            <a:r>
              <a:rPr lang="ru-RU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technology</a:t>
            </a:r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</a:t>
            </a:r>
            <a:r>
              <a:rPr lang="ru-RU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Vocabulary</a:t>
            </a:r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</a:t>
            </a:r>
            <a:r>
              <a:rPr lang="ru-RU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Part</a:t>
            </a:r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1: </a:t>
            </a:r>
            <a:r>
              <a:rPr lang="ru-RU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Fundamental</a:t>
            </a:r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terms</a:t>
            </a:r>
            <a:endParaRPr lang="ru-RU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Организованная в соответствии с определёнными правилами и поддерживаемая в памяти компьютера совокупность данных, характеризующая актуальное состояние некоторой предметной области и используемая для удовлетворения информационных потребностей пользователей</a:t>
            </a:r>
            <a:br>
              <a:rPr lang="ru-RU" dirty="0"/>
            </a:br>
            <a:r>
              <a:rPr lang="ru-RU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Когаловский</a:t>
            </a:r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М. Р., Энциклопедия технологий баз данных. — М.: Финансы и статистика, 2002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Некоторый набор перманентных (постоянно хранимых) данных, используемых прикладными программными системами какого-либо предприятия.</a:t>
            </a:r>
            <a:br>
              <a:rPr lang="ru-RU" dirty="0"/>
            </a:br>
            <a:r>
              <a:rPr lang="ru-RU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Дейт</a:t>
            </a:r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К. Дж., Введение в системы баз данных  — 8-е </a:t>
            </a:r>
            <a:r>
              <a:rPr lang="ru-RU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изд</a:t>
            </a:r>
            <a:endParaRPr lang="ru-RU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Совместно используемый набор логически связанных данных (и описание этих данных), предназначенный для удовлетворения информационных потребностей организации.</a:t>
            </a:r>
            <a:br>
              <a:rPr lang="ru-RU" dirty="0"/>
            </a:br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Коннолли Т., </a:t>
            </a:r>
            <a:r>
              <a:rPr lang="ru-RU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Бегг</a:t>
            </a:r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К., Базы данных. Проектирование, реализация и сопровождение. Теория и практика</a:t>
            </a:r>
          </a:p>
          <a:p>
            <a:pPr marL="358775" lvl="1" indent="0">
              <a:spcBef>
                <a:spcPts val="600"/>
              </a:spcBef>
              <a:buNone/>
            </a:pPr>
            <a:endParaRPr lang="ru-R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361020-23E7-C8C7-92B0-64CDCA19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dirty="0">
                <a:solidFill>
                  <a:schemeClr val="lt1"/>
                </a:solidFill>
              </a:rPr>
              <a:t>ОПРЕДЕЛЕНИЯ ТЕРМИНА «БАЗА ДАННЫХ»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788816-4751-2E94-0110-EE8879CF7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755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2D36DA-66ED-B832-620A-FF02FA62C8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8541643" cy="345678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b="1" dirty="0"/>
              <a:t>Задача</a:t>
            </a:r>
            <a:br>
              <a:rPr lang="ru-RU" b="1" dirty="0"/>
            </a:br>
            <a:r>
              <a:rPr lang="ru-RU" dirty="0"/>
              <a:t>Создать автоматизированную информационную систему (приложение)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b="1" dirty="0"/>
              <a:t>Для решения задачи необходимо: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создать модель предметной области (выделить сущности, данные о которых будут помещаться в ИС) 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создать систему хранения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обеспечить доступ к данным – язык</a:t>
            </a:r>
            <a:r>
              <a:rPr lang="en-US" dirty="0"/>
              <a:t>/API</a:t>
            </a:r>
            <a:endParaRPr lang="ru-RU" dirty="0"/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помещать в систему хранения,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извлекать из системы хранения,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редактировать и/или удалять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дать средства обработки данных – язык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361020-23E7-C8C7-92B0-64CDCA19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dirty="0"/>
              <a:t>ПРЕДПОСЫЛКИ БД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788816-4751-2E94-0110-EE8879CF7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134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2D36DA-66ED-B832-620A-FF02FA62C8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8541643" cy="3456782"/>
          </a:xfrm>
        </p:spPr>
        <p:txBody>
          <a:bodyPr numCol="2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b="1" dirty="0"/>
              <a:t>Проектирование базы данных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Логическое проектирование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Физическое проектирование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b="1" dirty="0"/>
              <a:t>Планирование базы данных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Аппаратных средств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Программных средств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b="1" dirty="0"/>
              <a:t>Реализация базы данных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b="1" dirty="0"/>
              <a:t>Сопровождение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b="1" dirty="0"/>
              <a:t>Реинжиниринг</a:t>
            </a:r>
            <a:endParaRPr lang="ru-R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361020-23E7-C8C7-92B0-64CDCA19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1800" dirty="0"/>
              <a:t>ЭТАПЫ РАЗРАБОТКИ БАЗЫ ДАННЫХ В ИНФОРМАЦИОННОЙ СИСТЕМЕ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788816-4751-2E94-0110-EE8879CF7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52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A4B094-1964-7820-957C-9DDBB2F552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475"/>
              <a:buNone/>
            </a:pPr>
            <a:r>
              <a:rPr lang="ru-RU" sz="1800" b="1" dirty="0"/>
              <a:t>М. Грабер </a:t>
            </a: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ru-RU" sz="2000" dirty="0"/>
              <a:t>SQL, глава 19. Проектирование базы данных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4AE75-2973-7DFC-9C9A-91D3439787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0838" y="1419225"/>
            <a:ext cx="7605712" cy="383169"/>
          </a:xfrm>
        </p:spPr>
        <p:txBody>
          <a:bodyPr>
            <a:normAutofit/>
          </a:bodyPr>
          <a:lstStyle/>
          <a:p>
            <a:r>
              <a:rPr lang="ru-RU" sz="1800" dirty="0"/>
              <a:t>Семантическое моделирование предметной области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E36B103-0F90-3147-9C08-5ACE8E03F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348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2D36DA-66ED-B832-620A-FF02FA62C8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8541643" cy="3456782"/>
          </a:xfrm>
        </p:spPr>
        <p:txBody>
          <a:bodyPr numCol="2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Выделение понятий предметной области и описание информации, подлежащей моделированию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Разработка семантической или информационно-логической (инфологической) модели предметной области без привязки к СУБД. </a:t>
            </a:r>
            <a:br>
              <a:rPr lang="ru-RU" dirty="0"/>
            </a:br>
            <a:r>
              <a:rPr lang="ru-RU" dirty="0"/>
              <a:t>Построение концептуальной модели предметной области.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Преобразование инфологической модели данных в модель данных конкретной СУБД. Чаще всего </a:t>
            </a:r>
            <a:r>
              <a:rPr lang="en-US" dirty="0"/>
              <a:t>- </a:t>
            </a:r>
            <a:r>
              <a:rPr lang="ru-RU" dirty="0"/>
              <a:t>в реляционную модель.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361020-23E7-C8C7-92B0-64CDCA19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ЛОГИЧЕСКОЕ ПРОЕКТИРОВАНИЕ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788816-4751-2E94-0110-EE8879CF7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590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8AB515-6D6B-D0B7-389D-E072AD26D1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63B16FC-4D21-B55A-5581-99C9DA90C3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Разработка модели предметной области, представляющей смысл данных этой области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477DB82-64F9-47BD-965B-7B18109BB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СЕМАНТИЧЕСКОЕ МОДЕЛИРОВАНИЕ</a:t>
            </a:r>
            <a:endParaRPr lang="en-US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A5D3CB2E-8B7C-FB5C-703D-1C500C84F1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1345730"/>
              </p:ext>
            </p:extLst>
          </p:nvPr>
        </p:nvGraphicFramePr>
        <p:xfrm>
          <a:off x="350837" y="2066925"/>
          <a:ext cx="8541643" cy="2305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9854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26B932-688D-4352-052C-913BBEED2B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>
            <a:normAutofit/>
          </a:bodyPr>
          <a:lstStyle/>
          <a:p>
            <a:r>
              <a:rPr lang="ru-RU" dirty="0"/>
              <a:t>Модель «Сущность – Связь», </a:t>
            </a:r>
            <a:r>
              <a:rPr lang="ru-RU" dirty="0" err="1"/>
              <a:t>Entity</a:t>
            </a:r>
            <a:r>
              <a:rPr lang="ru-RU" dirty="0"/>
              <a:t> </a:t>
            </a:r>
            <a:r>
              <a:rPr lang="ru-RU" dirty="0" err="1"/>
              <a:t>Relationship</a:t>
            </a:r>
            <a:r>
              <a:rPr lang="ru-RU" dirty="0"/>
              <a:t> Model (ERM)</a:t>
            </a:r>
          </a:p>
          <a:p>
            <a:r>
              <a:rPr lang="ru-RU" dirty="0"/>
              <a:t>Реляционная модель данных</a:t>
            </a:r>
          </a:p>
          <a:p>
            <a:r>
              <a:rPr lang="ru-RU" dirty="0"/>
              <a:t>Object Definition Language</a:t>
            </a:r>
            <a:br>
              <a:rPr lang="ru-RU" dirty="0"/>
            </a:br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стандарт средств описания объектно-ориентированных баз данных</a:t>
            </a:r>
          </a:p>
          <a:p>
            <a:r>
              <a:rPr lang="ru-RU" dirty="0"/>
              <a:t>UML. Диаграммы классов</a:t>
            </a:r>
          </a:p>
          <a:p>
            <a:r>
              <a:rPr lang="ru-RU" dirty="0" err="1"/>
              <a:t>Полуструктурированные</a:t>
            </a:r>
            <a:r>
              <a:rPr lang="ru-RU" dirty="0"/>
              <a:t> данные (XML)</a:t>
            </a:r>
          </a:p>
          <a:p>
            <a:r>
              <a:rPr lang="ru-RU" dirty="0"/>
              <a:t>Семантические сети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BCE67-B10C-D13C-13BC-BF1818716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ИНФОЛОГИЧЕСКОЕ ПРОЕКТИРОВАНИЕ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515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26B932-688D-4352-052C-913BBEED2B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0296" y="1419225"/>
            <a:ext cx="5445298" cy="2952750"/>
          </a:xfrm>
        </p:spPr>
        <p:txBody>
          <a:bodyPr>
            <a:normAutofit/>
          </a:bodyPr>
          <a:lstStyle/>
          <a:p>
            <a:r>
              <a:rPr lang="ru-RU" dirty="0"/>
              <a:t>Разработана Питером Ченом в 1976г.</a:t>
            </a:r>
          </a:p>
          <a:p>
            <a:pPr marL="268288" lvl="1" indent="0">
              <a:buNone/>
            </a:pPr>
            <a:r>
              <a:rPr lang="en-US" sz="1700" dirty="0"/>
              <a:t>The Entity-Relationship Model: Toward a Unified View of Data, Peter Chen, ACM Transactions on Database Systems. March 1976. Vol 1, #1, pp. 9-36</a:t>
            </a:r>
            <a:br>
              <a:rPr lang="en-US" sz="1700" dirty="0"/>
            </a:br>
            <a:r>
              <a:rPr lang="en-US" sz="1700" dirty="0">
                <a:hlinkClick r:id="rId2"/>
              </a:rPr>
              <a:t>http://citeseerx.ist.psu.edu/viewdoc/summary?doi=10.1.1.123.1085</a:t>
            </a:r>
            <a:r>
              <a:rPr lang="ru-RU" sz="1700" dirty="0"/>
              <a:t>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BCE67-B10C-D13C-13BC-BF1818716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«СУЩНОСТЬ – СВЯЗЬ»</a:t>
            </a:r>
            <a:endParaRPr lang="en-US" dirty="0"/>
          </a:p>
        </p:txBody>
      </p:sp>
      <p:pic>
        <p:nvPicPr>
          <p:cNvPr id="1028" name="Picture 4" descr="Peter Chen | LSU Computer Science and Engineering">
            <a:extLst>
              <a:ext uri="{FF2B5EF4-FFF2-40B4-BE49-F238E27FC236}">
                <a16:creationId xmlns:a16="http://schemas.microsoft.com/office/drawing/2014/main" id="{8E0CA350-74C7-D571-CB43-315DB9D2BE1F}"/>
              </a:ext>
            </a:extLst>
          </p:cNvPr>
          <p:cNvPicPr>
            <a:picLocks noGrp="1" noChangeAspect="1" noChangeArrowheads="1"/>
          </p:cNvPicPr>
          <p:nvPr>
            <p:ph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19224"/>
            <a:ext cx="2952752" cy="2952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542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ABCDE2-1E55-FE6B-C94E-62939EE31C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3E4C-81EE-9C9F-0834-DA640402D89B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/>
          </a:bodyPr>
          <a:lstStyle/>
          <a:p>
            <a:pPr marL="269875" indent="-269875">
              <a:buBlip>
                <a:blip r:embed="rId2"/>
              </a:buBlip>
            </a:pPr>
            <a:r>
              <a:rPr lang="ru-RU" dirty="0"/>
              <a:t>Типы сущностей</a:t>
            </a:r>
          </a:p>
          <a:p>
            <a:pPr marL="269875" indent="-269875">
              <a:buBlip>
                <a:blip r:embed="rId2"/>
              </a:buBlip>
            </a:pPr>
            <a:endParaRPr lang="ru-RU" dirty="0"/>
          </a:p>
          <a:p>
            <a:pPr marL="269875" indent="-269875">
              <a:buBlip>
                <a:blip r:embed="rId2"/>
              </a:buBlip>
            </a:pPr>
            <a:r>
              <a:rPr lang="ru-RU" dirty="0"/>
              <a:t>Типы значений</a:t>
            </a:r>
          </a:p>
          <a:p>
            <a:pPr marL="269875" indent="-269875">
              <a:buBlip>
                <a:blip r:embed="rId2"/>
              </a:buBlip>
            </a:pPr>
            <a:r>
              <a:rPr lang="ru-RU" dirty="0"/>
              <a:t>Типы связей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26B932-688D-4352-052C-913BBEED2B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ru-RU" dirty="0"/>
              <a:t>Сущности</a:t>
            </a:r>
          </a:p>
          <a:p>
            <a:r>
              <a:rPr lang="ru-RU" dirty="0"/>
              <a:t>Атрибуты</a:t>
            </a:r>
          </a:p>
          <a:p>
            <a:r>
              <a:rPr lang="ru-RU" dirty="0"/>
              <a:t>Значения</a:t>
            </a:r>
          </a:p>
          <a:p>
            <a:r>
              <a:rPr lang="ru-RU" dirty="0"/>
              <a:t>Связи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8873FD-E68B-48E2-1CF3-6BBC6CE242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КОМПОНЕНТЫ </a:t>
            </a:r>
            <a:r>
              <a:rPr lang="en-US" dirty="0"/>
              <a:t>ER-</a:t>
            </a:r>
            <a:r>
              <a:rPr lang="ru-RU" dirty="0"/>
              <a:t>МОДЕЛИ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BCE67-B10C-D13C-13BC-BF1818716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«СУЩНОСТЬ – СВЯЗЬ»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35B19-A57B-B461-D7BA-8B64C24F3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494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7E94F4-AE58-D20E-3CC6-014D472A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D52BB8A-02AB-E38A-0338-50096AD399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Концепт предметной области, поддающийся </a:t>
            </a:r>
            <a:r>
              <a:rPr lang="ru-RU" b="1" dirty="0"/>
              <a:t>идентификации</a:t>
            </a:r>
            <a:r>
              <a:rPr lang="ru-RU" dirty="0"/>
              <a:t> и существующий независимо от других сущностей</a:t>
            </a:r>
          </a:p>
          <a:p>
            <a:r>
              <a:rPr lang="ru-RU" dirty="0"/>
              <a:t>Похожие концепты/понятия:</a:t>
            </a:r>
          </a:p>
          <a:p>
            <a:pPr lvl="1"/>
            <a:r>
              <a:rPr lang="ru-RU" dirty="0"/>
              <a:t>Объект в ООП</a:t>
            </a:r>
          </a:p>
          <a:p>
            <a:pPr lvl="1"/>
            <a:r>
              <a:rPr lang="ru-RU" dirty="0"/>
              <a:t>Структура/запись в процедурных ЯП</a:t>
            </a:r>
          </a:p>
          <a:p>
            <a:pPr lvl="1"/>
            <a:r>
              <a:rPr lang="ru-RU" dirty="0"/>
              <a:t>Кортеж в ФП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00586FD-3974-4798-22A4-AC22DFEC1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СУЩНОСТЬ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F9D7362-E457-FFE2-CBA3-337457FD9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«СУЩНОСТЬ – СВЯЗЬ»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2009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7E94F4-AE58-D20E-3CC6-014D472A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D52BB8A-02AB-E38A-0338-50096AD399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Аэропорт «Толмачёво»</a:t>
            </a:r>
          </a:p>
          <a:p>
            <a:r>
              <a:rPr lang="ru-RU" dirty="0"/>
              <a:t>Аэропорт «Шереметьево»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00586FD-3974-4798-22A4-AC22DFEC1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СУЩНОСТЬ. ПРИМЕРЫ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F9D7362-E457-FFE2-CBA3-337457FD9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«СУЩНОСТЬ – СВЯЗЬ»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1571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7E94F4-AE58-D20E-3CC6-014D472A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D52BB8A-02AB-E38A-0338-50096AD399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Именованный аспект информации о сущности</a:t>
            </a:r>
          </a:p>
          <a:p>
            <a:r>
              <a:rPr lang="ru-RU" dirty="0"/>
              <a:t>Похожие концепты/понятия:</a:t>
            </a:r>
          </a:p>
          <a:p>
            <a:pPr lvl="1"/>
            <a:r>
              <a:rPr lang="ru-RU" dirty="0"/>
              <a:t>Свойство объекта в ООП</a:t>
            </a:r>
          </a:p>
          <a:p>
            <a:pPr lvl="1"/>
            <a:r>
              <a:rPr lang="ru-RU" dirty="0"/>
              <a:t>Поле структуры или записи </a:t>
            </a:r>
          </a:p>
          <a:p>
            <a:pPr lvl="1"/>
            <a:r>
              <a:rPr lang="ru-RU" dirty="0"/>
              <a:t>Элемент кортежа в ФП</a:t>
            </a:r>
          </a:p>
          <a:p>
            <a:r>
              <a:rPr lang="ru-RU" dirty="0"/>
              <a:t>Идентифицирующий атрибут: его значения уникальны для всех сущностей некоторого типа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00586FD-3974-4798-22A4-AC22DFEC1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АТРИБУТ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F9D7362-E457-FFE2-CBA3-337457FD9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«СУЩНОСТЬ – СВЯЗЬ»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9173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7E94F4-AE58-D20E-3CC6-014D472A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D52BB8A-02AB-E38A-0338-50096AD399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Именованный аспект информации о сущности</a:t>
            </a:r>
          </a:p>
          <a:p>
            <a:r>
              <a:rPr lang="ru-RU" dirty="0"/>
              <a:t>Похожие концепты/понятия:</a:t>
            </a:r>
          </a:p>
          <a:p>
            <a:pPr lvl="1"/>
            <a:r>
              <a:rPr lang="ru-RU" dirty="0"/>
              <a:t>Свойство объекта в ООП</a:t>
            </a:r>
          </a:p>
          <a:p>
            <a:pPr lvl="1"/>
            <a:r>
              <a:rPr lang="ru-RU" dirty="0"/>
              <a:t>Поле структуры или записи </a:t>
            </a:r>
          </a:p>
          <a:p>
            <a:pPr lvl="1"/>
            <a:r>
              <a:rPr lang="ru-RU" dirty="0"/>
              <a:t>Элемент кортежа в ФП</a:t>
            </a:r>
          </a:p>
          <a:p>
            <a:r>
              <a:rPr lang="ru-RU" dirty="0"/>
              <a:t>Идентифицирующий атрибут: его значения уникальны для всех сущностей некоторого типа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00586FD-3974-4798-22A4-AC22DFEC1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АТРИБУТ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F9D7362-E457-FFE2-CBA3-337457FD9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«СУЩНОСТЬ – СВЯЗЬ»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69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7E94F4-AE58-D20E-3CC6-014D472A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F9D7362-E457-FFE2-CBA3-337457FD9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«СУЩНОСТЬ – СВЯЗЬ»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C60C77-2780-CD05-52F2-AD5C7F73D3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/>
              <a:t>Нотация Чена</a:t>
            </a:r>
            <a:endParaRPr lang="en-US" cap="all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99090F3-0CE0-B70E-6B21-09BBE2D530F6}"/>
              </a:ext>
            </a:extLst>
          </p:cNvPr>
          <p:cNvGrpSpPr/>
          <p:nvPr/>
        </p:nvGrpSpPr>
        <p:grpSpPr>
          <a:xfrm>
            <a:off x="368721" y="1832780"/>
            <a:ext cx="8235521" cy="2708558"/>
            <a:chOff x="235471" y="1136744"/>
            <a:chExt cx="9612043" cy="316127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6A757F1-7B2B-5351-5B15-79C49502C089}"/>
                </a:ext>
              </a:extLst>
            </p:cNvPr>
            <p:cNvSpPr/>
            <p:nvPr/>
          </p:nvSpPr>
          <p:spPr>
            <a:xfrm>
              <a:off x="2116044" y="2396166"/>
              <a:ext cx="1516273" cy="609600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Сотрудник</a:t>
              </a:r>
              <a:r>
                <a:rPr lang="en-US" sz="1400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3FA2953-D100-6176-2F3A-27DCF8D1E065}"/>
                </a:ext>
              </a:extLst>
            </p:cNvPr>
            <p:cNvSpPr/>
            <p:nvPr/>
          </p:nvSpPr>
          <p:spPr>
            <a:xfrm>
              <a:off x="495828" y="1433121"/>
              <a:ext cx="1327354" cy="619432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ru-RU" sz="1400" b="1" u="sng" dirty="0">
                  <a:solidFill>
                    <a:schemeClr val="tx1"/>
                  </a:solidFill>
                </a:rPr>
                <a:t>№</a:t>
              </a:r>
              <a:endParaRPr lang="en-US" sz="1400" b="1" u="sng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1050C4F-7090-0AA6-5513-FF6EC8B2E288}"/>
                </a:ext>
              </a:extLst>
            </p:cNvPr>
            <p:cNvCxnSpPr>
              <a:stCxn id="11" idx="5"/>
            </p:cNvCxnSpPr>
            <p:nvPr/>
          </p:nvCxnSpPr>
          <p:spPr>
            <a:xfrm>
              <a:off x="1628796" y="1961839"/>
              <a:ext cx="1039961" cy="43044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FED8186-B08F-29DF-6EF2-F0F5B2999B06}"/>
                </a:ext>
              </a:extLst>
            </p:cNvPr>
            <p:cNvSpPr/>
            <p:nvPr/>
          </p:nvSpPr>
          <p:spPr>
            <a:xfrm>
              <a:off x="235471" y="2436607"/>
              <a:ext cx="1378775" cy="528718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Имя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A115A9E-B687-2BF0-6256-DD6A856289B2}"/>
                </a:ext>
              </a:extLst>
            </p:cNvPr>
            <p:cNvSpPr/>
            <p:nvPr/>
          </p:nvSpPr>
          <p:spPr>
            <a:xfrm>
              <a:off x="321481" y="3722920"/>
              <a:ext cx="1932039" cy="528718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Фамилия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C4515A9-A751-68BB-0FBC-96CFF4630FBC}"/>
                </a:ext>
              </a:extLst>
            </p:cNvPr>
            <p:cNvCxnSpPr>
              <a:cxnSpLocks/>
              <a:stCxn id="7" idx="2"/>
              <a:endCxn id="14" idx="0"/>
            </p:cNvCxnSpPr>
            <p:nvPr/>
          </p:nvCxnSpPr>
          <p:spPr>
            <a:xfrm flipH="1">
              <a:off x="1287501" y="3005766"/>
              <a:ext cx="1586680" cy="71715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59EA39E-54D4-C0F8-9872-9D0AFABE2E12}"/>
                </a:ext>
              </a:extLst>
            </p:cNvPr>
            <p:cNvCxnSpPr>
              <a:cxnSpLocks/>
              <a:stCxn id="13" idx="6"/>
              <a:endCxn id="7" idx="1"/>
            </p:cNvCxnSpPr>
            <p:nvPr/>
          </p:nvCxnSpPr>
          <p:spPr>
            <a:xfrm>
              <a:off x="1614246" y="2700966"/>
              <a:ext cx="50179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E81CF27-5312-2A38-1F0E-59B4A30D086E}"/>
                </a:ext>
              </a:extLst>
            </p:cNvPr>
            <p:cNvSpPr/>
            <p:nvPr/>
          </p:nvSpPr>
          <p:spPr>
            <a:xfrm>
              <a:off x="2754120" y="3688425"/>
              <a:ext cx="1932038" cy="609598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Дата найма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53C2DDE-A102-845E-94BC-F669EEB92B19}"/>
                </a:ext>
              </a:extLst>
            </p:cNvPr>
            <p:cNvSpPr/>
            <p:nvPr/>
          </p:nvSpPr>
          <p:spPr>
            <a:xfrm>
              <a:off x="2116045" y="1381978"/>
              <a:ext cx="1327354" cy="619432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Пол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5BD8B0C-5643-09F6-672C-8E9D4CD853D1}"/>
                </a:ext>
              </a:extLst>
            </p:cNvPr>
            <p:cNvCxnSpPr>
              <a:cxnSpLocks/>
              <a:stCxn id="18" idx="4"/>
              <a:endCxn id="7" idx="0"/>
            </p:cNvCxnSpPr>
            <p:nvPr/>
          </p:nvCxnSpPr>
          <p:spPr>
            <a:xfrm>
              <a:off x="2779722" y="2001410"/>
              <a:ext cx="94459" cy="39475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B4E7CD-9C18-E470-13A5-3AB8BF524EC6}"/>
                </a:ext>
              </a:extLst>
            </p:cNvPr>
            <p:cNvCxnSpPr>
              <a:cxnSpLocks/>
              <a:stCxn id="7" idx="2"/>
              <a:endCxn id="17" idx="0"/>
            </p:cNvCxnSpPr>
            <p:nvPr/>
          </p:nvCxnSpPr>
          <p:spPr>
            <a:xfrm>
              <a:off x="2874180" y="3005765"/>
              <a:ext cx="845959" cy="6826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lowchart: Decision 20">
              <a:extLst>
                <a:ext uri="{FF2B5EF4-FFF2-40B4-BE49-F238E27FC236}">
                  <a16:creationId xmlns:a16="http://schemas.microsoft.com/office/drawing/2014/main" id="{790DF4AD-92A1-8891-5018-C9CDD87A9023}"/>
                </a:ext>
              </a:extLst>
            </p:cNvPr>
            <p:cNvSpPr/>
            <p:nvPr/>
          </p:nvSpPr>
          <p:spPr>
            <a:xfrm>
              <a:off x="4188236" y="1136744"/>
              <a:ext cx="3479894" cy="970450"/>
            </a:xfrm>
            <a:prstGeom prst="flowChartDecision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Контакт сотрудника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CD79374-1109-A7E9-85DF-A73CF04F54F3}"/>
                </a:ext>
              </a:extLst>
            </p:cNvPr>
            <p:cNvSpPr/>
            <p:nvPr/>
          </p:nvSpPr>
          <p:spPr>
            <a:xfrm>
              <a:off x="8331240" y="2372299"/>
              <a:ext cx="1516274" cy="609599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Проект</a:t>
              </a:r>
              <a:r>
                <a:rPr lang="en-US" sz="1400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338C314-A98D-A5B8-9285-9CB41577A777}"/>
                </a:ext>
              </a:extLst>
            </p:cNvPr>
            <p:cNvSpPr/>
            <p:nvPr/>
          </p:nvSpPr>
          <p:spPr>
            <a:xfrm>
              <a:off x="8163212" y="1497594"/>
              <a:ext cx="1516273" cy="609600"/>
            </a:xfrm>
            <a:prstGeom prst="rect">
              <a:avLst/>
            </a:prstGeom>
            <a:noFill/>
            <a:ln w="38100" cap="flat" cmpd="dbl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Телефон</a:t>
              </a:r>
              <a:r>
                <a:rPr lang="en-US" sz="1400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24" name="Flowchart: Decision 23">
              <a:extLst>
                <a:ext uri="{FF2B5EF4-FFF2-40B4-BE49-F238E27FC236}">
                  <a16:creationId xmlns:a16="http://schemas.microsoft.com/office/drawing/2014/main" id="{ADCE0F4D-5FB9-50CC-49A4-3E100313743D}"/>
                </a:ext>
              </a:extLst>
            </p:cNvPr>
            <p:cNvSpPr/>
            <p:nvPr/>
          </p:nvSpPr>
          <p:spPr>
            <a:xfrm>
              <a:off x="4356663" y="2200197"/>
              <a:ext cx="3143042" cy="970450"/>
            </a:xfrm>
            <a:prstGeom prst="flowChartDecision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Участвует в проекте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DD08D79-00A4-A2E0-20BB-4E00488BEB7E}"/>
                </a:ext>
              </a:extLst>
            </p:cNvPr>
            <p:cNvCxnSpPr>
              <a:cxnSpLocks/>
              <a:stCxn id="7" idx="3"/>
              <a:endCxn id="21" idx="1"/>
            </p:cNvCxnSpPr>
            <p:nvPr/>
          </p:nvCxnSpPr>
          <p:spPr>
            <a:xfrm flipV="1">
              <a:off x="3632318" y="1621969"/>
              <a:ext cx="555918" cy="107899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AA781B5-B9EC-A0DD-9F1C-A3491DC27B49}"/>
                </a:ext>
              </a:extLst>
            </p:cNvPr>
            <p:cNvCxnSpPr>
              <a:cxnSpLocks/>
              <a:stCxn id="21" idx="3"/>
              <a:endCxn id="23" idx="1"/>
            </p:cNvCxnSpPr>
            <p:nvPr/>
          </p:nvCxnSpPr>
          <p:spPr>
            <a:xfrm>
              <a:off x="7668129" y="1621969"/>
              <a:ext cx="495083" cy="180424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E6C6882-0E30-AEB4-BDCC-6B3EFC2A6A39}"/>
                </a:ext>
              </a:extLst>
            </p:cNvPr>
            <p:cNvCxnSpPr>
              <a:cxnSpLocks/>
              <a:stCxn id="7" idx="3"/>
              <a:endCxn id="24" idx="1"/>
            </p:cNvCxnSpPr>
            <p:nvPr/>
          </p:nvCxnSpPr>
          <p:spPr>
            <a:xfrm flipV="1">
              <a:off x="3632318" y="2685422"/>
              <a:ext cx="724345" cy="1554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BAC2C15-7840-7859-FB2C-C6D102B5F2C5}"/>
                </a:ext>
              </a:extLst>
            </p:cNvPr>
            <p:cNvCxnSpPr>
              <a:cxnSpLocks/>
              <a:stCxn id="24" idx="3"/>
              <a:endCxn id="22" idx="1"/>
            </p:cNvCxnSpPr>
            <p:nvPr/>
          </p:nvCxnSpPr>
          <p:spPr>
            <a:xfrm flipV="1">
              <a:off x="7499705" y="2677099"/>
              <a:ext cx="831536" cy="832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B1F16CE-9F4F-402D-8071-A9FAEA19895A}"/>
                </a:ext>
              </a:extLst>
            </p:cNvPr>
            <p:cNvSpPr/>
            <p:nvPr/>
          </p:nvSpPr>
          <p:spPr>
            <a:xfrm>
              <a:off x="5186757" y="3652961"/>
              <a:ext cx="1932038" cy="609600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Доля времени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62C66F8-3B3B-B021-A89C-0A97E722E1AE}"/>
                </a:ext>
              </a:extLst>
            </p:cNvPr>
            <p:cNvCxnSpPr>
              <a:cxnSpLocks/>
              <a:stCxn id="24" idx="2"/>
              <a:endCxn id="29" idx="0"/>
            </p:cNvCxnSpPr>
            <p:nvPr/>
          </p:nvCxnSpPr>
          <p:spPr>
            <a:xfrm>
              <a:off x="5928184" y="3170648"/>
              <a:ext cx="224592" cy="4823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51315B7-DDEB-6E34-69D2-38EAA84DCE28}"/>
                </a:ext>
              </a:extLst>
            </p:cNvPr>
            <p:cNvSpPr txBox="1"/>
            <p:nvPr/>
          </p:nvSpPr>
          <p:spPr>
            <a:xfrm>
              <a:off x="3720140" y="1841497"/>
              <a:ext cx="383305" cy="359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ru-RU" sz="1400" dirty="0"/>
                <a:t>1</a:t>
              </a:r>
              <a:endParaRPr lang="en-US" sz="14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3F378DF-B2F5-3430-4C28-C9424E031FED}"/>
                </a:ext>
              </a:extLst>
            </p:cNvPr>
            <p:cNvSpPr txBox="1"/>
            <p:nvPr/>
          </p:nvSpPr>
          <p:spPr>
            <a:xfrm>
              <a:off x="3883948" y="2367641"/>
              <a:ext cx="383305" cy="359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0827201-D67D-89A5-7216-560DF67DAFED}"/>
                </a:ext>
              </a:extLst>
            </p:cNvPr>
            <p:cNvSpPr txBox="1"/>
            <p:nvPr/>
          </p:nvSpPr>
          <p:spPr>
            <a:xfrm>
              <a:off x="7704191" y="2392282"/>
              <a:ext cx="383305" cy="359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M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398B3F4-7B89-4AF7-E197-A7583E009CCE}"/>
              </a:ext>
            </a:extLst>
          </p:cNvPr>
          <p:cNvSpPr txBox="1"/>
          <p:nvPr/>
        </p:nvSpPr>
        <p:spPr>
          <a:xfrm>
            <a:off x="6807232" y="2057111"/>
            <a:ext cx="328413" cy="30777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7922375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695600-9B3E-0596-BD32-82489133494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algn="ctr"/>
            <a:r>
              <a:rPr lang="ru-RU" cap="all" dirty="0"/>
              <a:t>Специализация</a:t>
            </a:r>
            <a:endParaRPr lang="en-US" cap="al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0434FA-4F04-0CB7-A20F-7BC146CE0D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algn="ctr"/>
            <a:r>
              <a:rPr lang="ru-RU" b="1" cap="all" dirty="0"/>
              <a:t>Агрегация</a:t>
            </a:r>
            <a:endParaRPr lang="en-US" cap="al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E6F4B3B-EFA1-4B8A-835B-09CEABA19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cap="all" dirty="0"/>
              <a:t>Модель «Сущность – Связь»: Особые виды связей</a:t>
            </a:r>
            <a:endParaRPr lang="en-US" cap="al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DF117-2228-C755-8E3F-B5B4C055A6B6}"/>
              </a:ext>
            </a:extLst>
          </p:cNvPr>
          <p:cNvSpPr/>
          <p:nvPr/>
        </p:nvSpPr>
        <p:spPr>
          <a:xfrm>
            <a:off x="345949" y="2064041"/>
            <a:ext cx="1299130" cy="5223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Компонент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0ECF8A08-1DBE-0937-3B39-9831E183942F}"/>
              </a:ext>
            </a:extLst>
          </p:cNvPr>
          <p:cNvSpPr/>
          <p:nvPr/>
        </p:nvSpPr>
        <p:spPr>
          <a:xfrm>
            <a:off x="345949" y="2907829"/>
            <a:ext cx="1299130" cy="565881"/>
          </a:xfrm>
          <a:prstGeom prst="flowChartDecision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входит в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DFF3B3-F9BD-ACF1-ADE4-AFCC9FC81CB9}"/>
              </a:ext>
            </a:extLst>
          </p:cNvPr>
          <p:cNvSpPr/>
          <p:nvPr/>
        </p:nvSpPr>
        <p:spPr>
          <a:xfrm>
            <a:off x="345949" y="3849674"/>
            <a:ext cx="1299130" cy="5223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Комплект</a:t>
            </a:r>
            <a:r>
              <a:rPr lang="en-US" sz="1400">
                <a:solidFill>
                  <a:schemeClr val="tx1"/>
                </a:solidFill>
              </a:rPr>
              <a:t>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5A86F9-7F17-DD7F-B434-E781FF1FF513}"/>
              </a:ext>
            </a:extLst>
          </p:cNvPr>
          <p:cNvSpPr txBox="1"/>
          <p:nvPr/>
        </p:nvSpPr>
        <p:spPr>
          <a:xfrm>
            <a:off x="833274" y="2661630"/>
            <a:ext cx="131446" cy="21544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400" dirty="0"/>
              <a:t>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C27BF7-7C7F-C72F-D4A7-B1277334616D}"/>
              </a:ext>
            </a:extLst>
          </p:cNvPr>
          <p:cNvSpPr/>
          <p:nvPr/>
        </p:nvSpPr>
        <p:spPr>
          <a:xfrm>
            <a:off x="2958390" y="3849674"/>
            <a:ext cx="1299130" cy="5223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lIns="0" tIns="0" rIns="0" bIns="0"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Сотрудник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3" name="Flowchart: Decision 22">
            <a:extLst>
              <a:ext uri="{FF2B5EF4-FFF2-40B4-BE49-F238E27FC236}">
                <a16:creationId xmlns:a16="http://schemas.microsoft.com/office/drawing/2014/main" id="{956E3AA8-7B34-B6FE-0564-E26CE342FA48}"/>
              </a:ext>
            </a:extLst>
          </p:cNvPr>
          <p:cNvSpPr/>
          <p:nvPr/>
        </p:nvSpPr>
        <p:spPr>
          <a:xfrm>
            <a:off x="2643910" y="2919416"/>
            <a:ext cx="1928090" cy="565881"/>
          </a:xfrm>
          <a:prstGeom prst="flowChartDecision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принадлежит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579D46-F108-32B8-D382-B40D212240C6}"/>
              </a:ext>
            </a:extLst>
          </p:cNvPr>
          <p:cNvSpPr/>
          <p:nvPr/>
        </p:nvSpPr>
        <p:spPr>
          <a:xfrm>
            <a:off x="2943126" y="2065366"/>
            <a:ext cx="1329658" cy="522300"/>
          </a:xfrm>
          <a:prstGeom prst="rect">
            <a:avLst/>
          </a:prstGeom>
          <a:noFill/>
          <a:ln w="38100" cap="flat" cmpd="dbl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lIns="0" tIns="0" rIns="0" bIns="0"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Контакт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AFE406A-ABCF-FA7A-D683-FA30F06202FD}"/>
              </a:ext>
            </a:extLst>
          </p:cNvPr>
          <p:cNvCxnSpPr>
            <a:cxnSpLocks/>
          </p:cNvCxnSpPr>
          <p:nvPr/>
        </p:nvCxnSpPr>
        <p:spPr>
          <a:xfrm>
            <a:off x="995514" y="3473710"/>
            <a:ext cx="0" cy="3759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7D2DA08-A251-DFF1-C980-D8A6EE7DB0B6}"/>
              </a:ext>
            </a:extLst>
          </p:cNvPr>
          <p:cNvCxnSpPr>
            <a:cxnSpLocks/>
          </p:cNvCxnSpPr>
          <p:nvPr/>
        </p:nvCxnSpPr>
        <p:spPr>
          <a:xfrm>
            <a:off x="995514" y="2586341"/>
            <a:ext cx="0" cy="3214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879E8A3-F318-75F0-AAB4-215E9524C269}"/>
              </a:ext>
            </a:extLst>
          </p:cNvPr>
          <p:cNvSpPr txBox="1"/>
          <p:nvPr/>
        </p:nvSpPr>
        <p:spPr>
          <a:xfrm>
            <a:off x="880388" y="3553970"/>
            <a:ext cx="67326" cy="21544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ru-RU" sz="1400" dirty="0"/>
              <a:t>1</a:t>
            </a:r>
            <a:endParaRPr lang="en-US" sz="14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C1AF86E-1778-3481-4357-2E0A94FA3B81}"/>
              </a:ext>
            </a:extLst>
          </p:cNvPr>
          <p:cNvCxnSpPr>
            <a:cxnSpLocks/>
            <a:stCxn id="24" idx="2"/>
            <a:endCxn id="23" idx="0"/>
          </p:cNvCxnSpPr>
          <p:nvPr/>
        </p:nvCxnSpPr>
        <p:spPr>
          <a:xfrm>
            <a:off x="3607955" y="2587666"/>
            <a:ext cx="0" cy="3317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0BB644E-1E72-7754-6E25-BC1741AF1344}"/>
              </a:ext>
            </a:extLst>
          </p:cNvPr>
          <p:cNvCxnSpPr>
            <a:cxnSpLocks/>
            <a:stCxn id="23" idx="2"/>
            <a:endCxn id="22" idx="0"/>
          </p:cNvCxnSpPr>
          <p:nvPr/>
        </p:nvCxnSpPr>
        <p:spPr>
          <a:xfrm>
            <a:off x="3607955" y="3485297"/>
            <a:ext cx="0" cy="3643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4E5A136-5BD2-6DE2-D582-E33A78792C34}"/>
              </a:ext>
            </a:extLst>
          </p:cNvPr>
          <p:cNvSpPr txBox="1"/>
          <p:nvPr/>
        </p:nvSpPr>
        <p:spPr>
          <a:xfrm>
            <a:off x="3458729" y="2661630"/>
            <a:ext cx="131446" cy="21544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400" dirty="0"/>
              <a:t>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2D9168-C4E1-FB2C-F81D-9A0761554700}"/>
              </a:ext>
            </a:extLst>
          </p:cNvPr>
          <p:cNvSpPr txBox="1"/>
          <p:nvPr/>
        </p:nvSpPr>
        <p:spPr>
          <a:xfrm>
            <a:off x="3505843" y="3553970"/>
            <a:ext cx="67326" cy="21544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ru-RU" sz="1400" dirty="0"/>
              <a:t>1</a:t>
            </a:r>
            <a:endParaRPr lang="en-US" sz="14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325E31C-EB7B-53B4-9015-DB2F43949B00}"/>
              </a:ext>
            </a:extLst>
          </p:cNvPr>
          <p:cNvSpPr/>
          <p:nvPr/>
        </p:nvSpPr>
        <p:spPr>
          <a:xfrm>
            <a:off x="4876174" y="2064041"/>
            <a:ext cx="1299130" cy="5223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Продавец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9" name="Flowchart: Decision 38">
            <a:extLst>
              <a:ext uri="{FF2B5EF4-FFF2-40B4-BE49-F238E27FC236}">
                <a16:creationId xmlns:a16="http://schemas.microsoft.com/office/drawing/2014/main" id="{027F444A-6AC9-E29C-5F97-BD01F06E83C8}"/>
              </a:ext>
            </a:extLst>
          </p:cNvPr>
          <p:cNvSpPr/>
          <p:nvPr/>
        </p:nvSpPr>
        <p:spPr>
          <a:xfrm>
            <a:off x="4876174" y="3163139"/>
            <a:ext cx="1299129" cy="565881"/>
          </a:xfrm>
          <a:prstGeom prst="flowChartDecision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является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2159D0-61BF-2E23-F1C6-BAE8901B1A16}"/>
              </a:ext>
            </a:extLst>
          </p:cNvPr>
          <p:cNvSpPr/>
          <p:nvPr/>
        </p:nvSpPr>
        <p:spPr>
          <a:xfrm>
            <a:off x="6056641" y="4011910"/>
            <a:ext cx="1299130" cy="5223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Сотрудник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318BF60-472A-5394-DB7A-759A69BCDB35}"/>
              </a:ext>
            </a:extLst>
          </p:cNvPr>
          <p:cNvCxnSpPr>
            <a:cxnSpLocks/>
            <a:stCxn id="39" idx="2"/>
            <a:endCxn id="40" idx="1"/>
          </p:cNvCxnSpPr>
          <p:nvPr/>
        </p:nvCxnSpPr>
        <p:spPr>
          <a:xfrm rot="16200000" flipH="1">
            <a:off x="5519170" y="3735589"/>
            <a:ext cx="544040" cy="530902"/>
          </a:xfrm>
          <a:prstGeom prst="bentConnector2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EB181546-565E-E997-B13B-23147BF3B23A}"/>
              </a:ext>
            </a:extLst>
          </p:cNvPr>
          <p:cNvSpPr/>
          <p:nvPr/>
        </p:nvSpPr>
        <p:spPr>
          <a:xfrm>
            <a:off x="7163813" y="2064838"/>
            <a:ext cx="1299130" cy="5223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Товаровед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3" name="Flowchart: Decision 42">
            <a:extLst>
              <a:ext uri="{FF2B5EF4-FFF2-40B4-BE49-F238E27FC236}">
                <a16:creationId xmlns:a16="http://schemas.microsoft.com/office/drawing/2014/main" id="{EED64631-54EB-570F-B312-4148004181D1}"/>
              </a:ext>
            </a:extLst>
          </p:cNvPr>
          <p:cNvSpPr/>
          <p:nvPr/>
        </p:nvSpPr>
        <p:spPr>
          <a:xfrm>
            <a:off x="7163813" y="3151553"/>
            <a:ext cx="1299130" cy="565881"/>
          </a:xfrm>
          <a:prstGeom prst="flowChartDecision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является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6" name="Straight Connector 40">
            <a:extLst>
              <a:ext uri="{FF2B5EF4-FFF2-40B4-BE49-F238E27FC236}">
                <a16:creationId xmlns:a16="http://schemas.microsoft.com/office/drawing/2014/main" id="{3AC81CF1-90C7-878C-D1C8-A4A0B89B7853}"/>
              </a:ext>
            </a:extLst>
          </p:cNvPr>
          <p:cNvCxnSpPr>
            <a:cxnSpLocks/>
            <a:stCxn id="38" idx="2"/>
            <a:endCxn id="39" idx="0"/>
          </p:cNvCxnSpPr>
          <p:nvPr/>
        </p:nvCxnSpPr>
        <p:spPr>
          <a:xfrm>
            <a:off x="5525739" y="2586341"/>
            <a:ext cx="0" cy="576798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40">
            <a:extLst>
              <a:ext uri="{FF2B5EF4-FFF2-40B4-BE49-F238E27FC236}">
                <a16:creationId xmlns:a16="http://schemas.microsoft.com/office/drawing/2014/main" id="{38AE9FAE-5C41-CD6B-0E18-3D50A0B67F4E}"/>
              </a:ext>
            </a:extLst>
          </p:cNvPr>
          <p:cNvCxnSpPr>
            <a:cxnSpLocks/>
            <a:stCxn id="43" idx="2"/>
            <a:endCxn id="40" idx="3"/>
          </p:cNvCxnSpPr>
          <p:nvPr/>
        </p:nvCxnSpPr>
        <p:spPr>
          <a:xfrm rot="5400000">
            <a:off x="7306762" y="3766444"/>
            <a:ext cx="555626" cy="457607"/>
          </a:xfrm>
          <a:prstGeom prst="bentConnector2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40">
            <a:extLst>
              <a:ext uri="{FF2B5EF4-FFF2-40B4-BE49-F238E27FC236}">
                <a16:creationId xmlns:a16="http://schemas.microsoft.com/office/drawing/2014/main" id="{AB770A14-6297-B047-D652-603BA3D6CC93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>
            <a:off x="7813378" y="2587138"/>
            <a:ext cx="0" cy="564415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89642991-86B6-99C8-B61D-79443D26201A}"/>
              </a:ext>
            </a:extLst>
          </p:cNvPr>
          <p:cNvSpPr txBox="1"/>
          <p:nvPr/>
        </p:nvSpPr>
        <p:spPr>
          <a:xfrm>
            <a:off x="5564407" y="2646349"/>
            <a:ext cx="298160" cy="21544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ru-RU" sz="1400" dirty="0"/>
              <a:t>0..1</a:t>
            </a:r>
            <a:endParaRPr lang="en-US" sz="1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A6FB333-A54F-5445-43DF-70D4DD14C082}"/>
              </a:ext>
            </a:extLst>
          </p:cNvPr>
          <p:cNvSpPr txBox="1"/>
          <p:nvPr/>
        </p:nvSpPr>
        <p:spPr>
          <a:xfrm>
            <a:off x="5650096" y="3796466"/>
            <a:ext cx="67326" cy="21544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ru-RU" sz="1400" dirty="0"/>
              <a:t>1</a:t>
            </a:r>
            <a:endParaRPr lang="en-US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18684FC-9D3D-C174-5624-68A35B67A85E}"/>
              </a:ext>
            </a:extLst>
          </p:cNvPr>
          <p:cNvSpPr txBox="1"/>
          <p:nvPr/>
        </p:nvSpPr>
        <p:spPr>
          <a:xfrm>
            <a:off x="7480886" y="2660402"/>
            <a:ext cx="298160" cy="21544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ru-RU" sz="1400" dirty="0"/>
              <a:t>0..1</a:t>
            </a:r>
            <a:endParaRPr lang="en-US" sz="14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8A62553-465B-D5E7-F5EC-DF8E8854077B}"/>
              </a:ext>
            </a:extLst>
          </p:cNvPr>
          <p:cNvSpPr txBox="1"/>
          <p:nvPr/>
        </p:nvSpPr>
        <p:spPr>
          <a:xfrm>
            <a:off x="7694714" y="3796466"/>
            <a:ext cx="67326" cy="21544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ru-RU" sz="1400" dirty="0"/>
              <a:t>1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803590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26B932-688D-4352-052C-913BBEED2B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 numCol="2">
            <a:normAutofit/>
          </a:bodyPr>
          <a:lstStyle/>
          <a:p>
            <a:pPr marL="266700" indent="-266700"/>
            <a:r>
              <a:rPr lang="ru-RU" b="1" dirty="0"/>
              <a:t>Достоверность</a:t>
            </a:r>
          </a:p>
          <a:p>
            <a:pPr marL="542925" lvl="1" indent="-276225"/>
            <a:r>
              <a:rPr lang="ru-RU" dirty="0"/>
              <a:t>Привлечение экспертов</a:t>
            </a:r>
          </a:p>
          <a:p>
            <a:pPr marL="542925" lvl="1" indent="-276225"/>
            <a:r>
              <a:rPr lang="ru-RU" dirty="0"/>
              <a:t>Детальное изучение предметной области</a:t>
            </a:r>
          </a:p>
          <a:p>
            <a:pPr marL="266700" indent="-266700"/>
            <a:r>
              <a:rPr lang="ru-RU" b="1" dirty="0"/>
              <a:t>Отсутствие избыточности</a:t>
            </a:r>
          </a:p>
          <a:p>
            <a:pPr marL="266700" indent="-266700"/>
            <a:r>
              <a:rPr lang="ru-RU" b="1" dirty="0"/>
              <a:t>Простота</a:t>
            </a:r>
          </a:p>
          <a:p>
            <a:pPr marL="542925" lvl="1" indent="-276225"/>
            <a:r>
              <a:rPr lang="ru-RU" dirty="0"/>
              <a:t>Включайте в проект только те структурные элементы, без которых нельзя обойтись</a:t>
            </a:r>
          </a:p>
          <a:p>
            <a:pPr marL="266700" indent="-266700"/>
            <a:r>
              <a:rPr lang="ru-RU" b="1" dirty="0"/>
              <a:t>Выбор подходящих связей</a:t>
            </a:r>
          </a:p>
          <a:p>
            <a:pPr marL="542925" lvl="1" indent="-276225"/>
            <a:r>
              <a:rPr lang="ru-RU" dirty="0"/>
              <a:t>Множества сущностей можно соединить разными связями. Если брать любые – возможна избыточность.</a:t>
            </a:r>
          </a:p>
          <a:p>
            <a:pPr marL="266700" indent="-266700"/>
            <a:r>
              <a:rPr lang="ru-RU" b="1" dirty="0"/>
              <a:t>Использование элементов адекватных типов</a:t>
            </a:r>
            <a:endParaRPr lang="en-US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BCE67-B10C-D13C-13BC-BF1818716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all" dirty="0"/>
              <a:t>Принципы проектирования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4107443643"/>
      </p:ext>
    </p:extLst>
  </p:cSld>
  <p:clrMapOvr>
    <a:masterClrMapping/>
  </p:clrMapOvr>
</p:sld>
</file>

<file path=ppt/theme/theme1.xml><?xml version="1.0" encoding="utf-8"?>
<a:theme xmlns:a="http://schemas.openxmlformats.org/drawingml/2006/main" name="NSU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SU Ca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12887</TotalTime>
  <Words>1583</Words>
  <Application>Microsoft Office PowerPoint</Application>
  <PresentationFormat>On-screen Show (16:9)</PresentationFormat>
  <Paragraphs>229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Acrom ExtraBold</vt:lpstr>
      <vt:lpstr>Acrom Bold</vt:lpstr>
      <vt:lpstr>Acrom</vt:lpstr>
      <vt:lpstr>Calibri</vt:lpstr>
      <vt:lpstr>Arial</vt:lpstr>
      <vt:lpstr>NSU Content</vt:lpstr>
      <vt:lpstr>NSU Captions</vt:lpstr>
      <vt:lpstr>БАЗЫ ДАННЫХ</vt:lpstr>
      <vt:lpstr>СОДЕРЖАНИЕ КУРСА</vt:lpstr>
      <vt:lpstr>СТРУКТУРА КУРСА И АТТЕСТАЦИЯ</vt:lpstr>
      <vt:lpstr>PowerPoint Presentation</vt:lpstr>
      <vt:lpstr>ОСНОВНАЯ ЛИТЕРАТУРА</vt:lpstr>
      <vt:lpstr>ОСНОВНАЯ ЛИТЕРАТУРА</vt:lpstr>
      <vt:lpstr>ОСНОВНАЯ ЛИТЕРАТУРА</vt:lpstr>
      <vt:lpstr>PowerPoint Presentation</vt:lpstr>
      <vt:lpstr>ПРИЛОЖЕНИЯ И СТРУКТУРЫ ДАННЫХ</vt:lpstr>
      <vt:lpstr>БАЗОВЫЕ ОПРЕДЕЛЕНИЯ: ДАННЫЕ И ИНФОРМАЦИЯ</vt:lpstr>
      <vt:lpstr>БАЗОВЫЕ ОПРЕДЕЛЕНИЯ</vt:lpstr>
      <vt:lpstr>ОПРЕДЕЛЕНИЯ ТЕРМИНА «БАЗА ДАННЫХ»</vt:lpstr>
      <vt:lpstr>ПРЕДПОСЫЛКИ БД</vt:lpstr>
      <vt:lpstr>ЭТАПЫ РАЗРАБОТКИ БАЗЫ ДАННЫХ В ИНФОРМАЦИОННОЙ СИСТЕМЕ</vt:lpstr>
      <vt:lpstr>PowerPoint Presentation</vt:lpstr>
      <vt:lpstr>ЛОГИЧЕСКОЕ ПРОЕКТИРОВАНИЕ</vt:lpstr>
      <vt:lpstr>СЕМАНТИЧЕСКОЕ МОДЕЛИРОВАНИЕ</vt:lpstr>
      <vt:lpstr>ИНФОЛОГИЧЕСКОЕ ПРОЕКТИРОВАНИЕ</vt:lpstr>
      <vt:lpstr>МОДЕЛЬ «СУЩНОСТЬ – СВЯЗЬ»</vt:lpstr>
      <vt:lpstr>МОДЕЛЬ «СУЩНОСТЬ – СВЯЗЬ»</vt:lpstr>
      <vt:lpstr>МОДЕЛЬ «СУЩНОСТЬ – СВЯЗЬ»</vt:lpstr>
      <vt:lpstr>МОДЕЛЬ «СУЩНОСТЬ – СВЯЗЬ»</vt:lpstr>
      <vt:lpstr>МОДЕЛЬ «СУЩНОСТЬ – СВЯЗЬ»</vt:lpstr>
      <vt:lpstr>МОДЕЛЬ «СУЩНОСТЬ – СВЯЗЬ»</vt:lpstr>
      <vt:lpstr>МОДЕЛЬ «СУЩНОСТЬ – СВЯЗЬ»</vt:lpstr>
      <vt:lpstr>Модель «Сущность – Связь»: Особые виды связей</vt:lpstr>
      <vt:lpstr>Принципы проектирования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Master</dc:creator>
  <cp:lastModifiedBy>Anton Zlygostev</cp:lastModifiedBy>
  <cp:revision>750</cp:revision>
  <dcterms:created xsi:type="dcterms:W3CDTF">2016-08-15T04:55:12Z</dcterms:created>
  <dcterms:modified xsi:type="dcterms:W3CDTF">2025-09-04T02:11:39Z</dcterms:modified>
</cp:coreProperties>
</file>