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41"/>
  </p:notesMasterIdLst>
  <p:sldIdLst>
    <p:sldId id="514" r:id="rId3"/>
    <p:sldId id="524" r:id="rId4"/>
    <p:sldId id="585" r:id="rId5"/>
    <p:sldId id="586" r:id="rId6"/>
    <p:sldId id="587" r:id="rId7"/>
    <p:sldId id="588" r:id="rId8"/>
    <p:sldId id="589" r:id="rId9"/>
    <p:sldId id="590" r:id="rId10"/>
    <p:sldId id="591" r:id="rId11"/>
    <p:sldId id="592" r:id="rId12"/>
    <p:sldId id="593" r:id="rId13"/>
    <p:sldId id="594" r:id="rId14"/>
    <p:sldId id="596" r:id="rId15"/>
    <p:sldId id="597" r:id="rId16"/>
    <p:sldId id="598" r:id="rId17"/>
    <p:sldId id="599" r:id="rId18"/>
    <p:sldId id="600" r:id="rId19"/>
    <p:sldId id="595" r:id="rId20"/>
    <p:sldId id="601" r:id="rId21"/>
    <p:sldId id="602" r:id="rId22"/>
    <p:sldId id="603" r:id="rId23"/>
    <p:sldId id="604" r:id="rId24"/>
    <p:sldId id="605" r:id="rId25"/>
    <p:sldId id="607" r:id="rId26"/>
    <p:sldId id="608" r:id="rId27"/>
    <p:sldId id="609" r:id="rId28"/>
    <p:sldId id="610" r:id="rId29"/>
    <p:sldId id="611" r:id="rId30"/>
    <p:sldId id="612" r:id="rId31"/>
    <p:sldId id="613" r:id="rId32"/>
    <p:sldId id="606" r:id="rId33"/>
    <p:sldId id="614" r:id="rId34"/>
    <p:sldId id="615" r:id="rId35"/>
    <p:sldId id="616" r:id="rId36"/>
    <p:sldId id="617" r:id="rId37"/>
    <p:sldId id="618" r:id="rId38"/>
    <p:sldId id="619" r:id="rId39"/>
    <p:sldId id="620" r:id="rId40"/>
  </p:sldIdLst>
  <p:sldSz cx="9144000" cy="5143500" type="screen16x9"/>
  <p:notesSz cx="6858000" cy="9144000"/>
  <p:embeddedFontLst>
    <p:embeddedFont>
      <p:font typeface="Acrom" panose="020B0604020202020204" charset="-52"/>
      <p:regular r:id="rId42"/>
    </p:embeddedFont>
    <p:embeddedFont>
      <p:font typeface="Acrom Bold" panose="020B0604020202020204" charset="-52"/>
      <p:bold r:id="rId43"/>
    </p:embeddedFont>
    <p:embeddedFont>
      <p:font typeface="Acrom ExtraBold" panose="020B0604020202020204" charset="-52"/>
      <p:bold r:id="rId44"/>
    </p:embeddedFont>
    <p:embeddedFont>
      <p:font typeface="Cascadia Code SemiBold" panose="020B0609020000020004" pitchFamily="49" charset="0"/>
      <p:bold r:id="rId45"/>
      <p:boldItalic r:id="rId4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  <p14:sldId id="52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6"/>
            <p14:sldId id="597"/>
            <p14:sldId id="598"/>
            <p14:sldId id="599"/>
            <p14:sldId id="600"/>
            <p14:sldId id="595"/>
            <p14:sldId id="601"/>
            <p14:sldId id="602"/>
            <p14:sldId id="603"/>
            <p14:sldId id="604"/>
            <p14:sldId id="605"/>
            <p14:sldId id="607"/>
            <p14:sldId id="608"/>
            <p14:sldId id="609"/>
            <p14:sldId id="610"/>
            <p14:sldId id="611"/>
            <p14:sldId id="612"/>
            <p14:sldId id="613"/>
            <p14:sldId id="606"/>
            <p14:sldId id="614"/>
            <p14:sldId id="615"/>
            <p14:sldId id="616"/>
            <p14:sldId id="617"/>
            <p14:sldId id="618"/>
            <p14:sldId id="619"/>
            <p14:sldId id="620"/>
          </p14:sldIdLst>
        </p14:section>
        <p14:section name="Literature" id="{B9960BE5-F3B4-48C0-BA4B-65F190ECCD4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FEFEFE"/>
    <a:srgbClr val="FF0000"/>
    <a:srgbClr val="C20808"/>
    <a:srgbClr val="F0F0F0"/>
    <a:srgbClr val="B8B8B8"/>
    <a:srgbClr val="DBF2F3"/>
    <a:srgbClr val="D6D6FE"/>
    <a:srgbClr val="9292FB"/>
    <a:srgbClr val="C1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3" autoAdjust="0"/>
    <p:restoredTop sz="82446" autoAdjust="0"/>
  </p:normalViewPr>
  <p:slideViewPr>
    <p:cSldViewPr>
      <p:cViewPr varScale="1">
        <p:scale>
          <a:sx n="115" d="100"/>
          <a:sy n="115" d="100"/>
        </p:scale>
        <p:origin x="1458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2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5.fntdata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03.02.2025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508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018A-1A7B-AC95-7D83-B6F1D3E8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73E57-5AA4-3901-A3D3-7A1140BEA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3DC50-4CC2-907B-5671-ECB069127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998F9-A928-D0BB-F3F2-88FB27827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3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534B6-2062-5AF3-77DF-9D438030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7E0A4-41A8-3AEA-6A88-C2A4D03FD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04ADE-8C6F-F213-49D2-B0AB45BE1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492BA-C1D2-F83C-0E18-2F53CADA5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621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B1CC-F038-34A6-7844-B8CC77933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E4752-41E4-4899-6B6F-897A86AC2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55085-0FC5-3D08-6FED-AA7584873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96BE8-7494-DFAA-03CD-8983551C6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181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95D34-43FA-DAF5-76D6-515602BC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96F42-B62A-078B-92FE-74583F542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BAE79-3AF4-2FA9-BC8E-1D499BC0B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930F1-9840-BE04-4043-C19E902B0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045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20A1-5EC0-80F6-491A-A045500EF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C9E0E-A793-8BA5-6F0F-9C982AAF8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95FC8-7F15-F247-127D-B04E099F1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FC0AC-E834-6E0B-FE80-CE1477451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413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02866-9E2D-DA41-2F20-B2CC90CB4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B8F6B-19FA-FB31-1F80-D551AC98C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BBC1A-C486-2A5F-CD6C-267B7F5FE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2E75E-03C4-CFDD-383B-0B40DED4E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59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B32AF-EA2D-BFD9-0F73-4CAAAF0B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B6175-FED4-0B3C-C206-757B7CD9F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62A05-962C-0298-44EB-E5C31A7E5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BEC36-7686-A17E-4B97-93D98F1A9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008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AF41-982A-A6F9-566E-1984FAF5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D8640-949D-6369-0070-F60465931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4FA66-8466-DBFC-9704-A4F29CD18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A9F4D-B484-2A5A-5174-DC0E63927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61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B240E-08D1-7057-FCBC-7997274E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AE028-0C49-5B9E-50E0-EBC11CCBB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06A3E-0829-FCD1-51C1-BD34B60FA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2522E-D967-E2DF-662A-FDF367CBF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986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386D3-97B3-5DDD-8A5C-CC435F3EB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1C783-AE3B-70AE-A024-2B6174AF0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44D43-2465-D01C-72F0-3D0D99FCA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7E034-07CF-55F3-5830-CD73A4BE5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78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6108-B8B5-AB26-06C9-0A2BFA25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88608-DA92-23CD-A194-6A9EC6D51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0F1E6-2E84-8D31-A688-DE6C8B21D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A7301-4FA0-7349-E5BE-1FB093193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072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26AAB-C328-91AC-FBB8-C530A12B9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488A1-D586-C04F-C828-6EAFA49D6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22D12-4766-3DD7-3466-A8B1C67A8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C6959-04B9-9D97-802B-1D9308284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588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FA1A-F4BE-86EB-5753-FF0245D4C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C296F-CA2A-E51E-ED25-F9ED6185E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0E10B-97E4-601F-9A30-B31B3A0E7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81FDE-E623-B65C-F5E2-DAC6E30F0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4453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732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702BA-0904-B4B1-86D4-A83F0EBB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2833D-7F70-375F-86F7-41B08BA75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AD777-8383-7BE8-D79B-012B6D20F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4F9C1-C6FF-3A7B-20EC-05F827B92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217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7C93-C1C6-6B30-AD00-32BB5B70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131F0-E04C-A217-7628-02552CC67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5C0BC-8F03-58E0-75DB-617FE37A9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C65D7-F763-398C-8219-AEEC7F3F0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4923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C7EF2-64D5-AE0E-EEEC-3B557E27E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170FE-8759-04B7-A9FF-860080B10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59242-9C5F-A0AE-7A21-A6EA6939F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30E5F-9C11-4465-F170-80394B6EC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1803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6550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F61A9-028E-B219-2AFE-FC9CC370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1884B-93CB-946D-6AE8-72DF98690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12F55-5E46-CC29-B19A-6EF771826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012D7-66DC-14CC-6626-4EF7CCECF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5521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92EC3-E3A6-F17C-8D1E-226891738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7D3F1-B1EF-6E41-30E9-B82E6B42A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18385-8038-F495-ECA1-9E7BE3383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C7189-64AF-B818-9AAD-34EDF96C8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558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847C9-B6B7-806F-31B6-0F8681C7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D3CB2-3EA0-49E7-1277-F92CC4213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0A00E-CB2E-13E8-D112-C7B97907D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DE673-EFB2-87E1-3AAC-27D66368E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635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1F7B1-F0F5-4AED-98E7-F1D29507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29CCE-C522-9B14-6CB4-3735C4B1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566BF-E714-A2D4-024F-B4A2788BA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AA1C4-C5E7-B085-D3F2-4ACE6D231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5520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9066-E937-CC5F-8949-E2DA5E3B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4446A-FB1F-E162-D2DC-9820A582D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37D54-BB65-D286-D503-ABFEAB62A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733A5-7629-EA47-C3E4-C91D09ACC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3569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09C65-B092-049C-A42A-6AC91329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76276-67AD-E5F7-471C-ED115986F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02EB2-DA9A-E60E-4B72-9A03D45B6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2F48E-D6A2-442D-4D56-0D68A959B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0546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04745-466E-99FD-1E6B-0EB3A7BEF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D88BF8-60D0-DA5C-A9FE-730DC3A3E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05936-A753-A546-D558-0930E6C14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68063-C5B5-DBE6-FF49-F83AFBF5E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11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03.02.2025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03.02.2025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03.02.2025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03.02.2025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7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2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7609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1.xml"/><Relationship Id="rId7" Type="http://schemas.microsoft.com/office/2007/relationships/hdphoto" Target="../media/hdphoto3.wdp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jpeg"/><Relationship Id="rId10" Type="http://schemas.openxmlformats.org/officeDocument/2006/relationships/image" Target="../media/image17.png"/><Relationship Id="rId4" Type="http://schemas.openxmlformats.org/officeDocument/2006/relationships/theme" Target="../theme/theme2.xml"/><Relationship Id="rId9" Type="http://schemas.microsoft.com/office/2007/relationships/hdphoto" Target="../media/hdphoto4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0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03.02.2025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  <p:sldLayoutId id="2147483688" r:id="rId7"/>
    <p:sldLayoutId id="2147483689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  <p:sldLayoutId id="214748369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147814"/>
            <a:ext cx="4332104" cy="1728193"/>
          </a:xfrm>
        </p:spPr>
        <p:txBody>
          <a:bodyPr>
            <a:normAutofit/>
          </a:bodyPr>
          <a:lstStyle/>
          <a:p>
            <a:r>
              <a:rPr lang="ru-RU" dirty="0"/>
              <a:t>Особенности </a:t>
            </a:r>
            <a:br>
              <a:rPr lang="ru-RU" dirty="0"/>
            </a:br>
            <a:r>
              <a:rPr lang="en-US" altLang="ru-RU" dirty="0"/>
              <a:t>SQL:99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8397626" cy="2305050"/>
          </a:xfrm>
        </p:spPr>
        <p:txBody>
          <a:bodyPr/>
          <a:lstStyle/>
          <a:p>
            <a:pPr eaLnBrk="1" hangingPunct="1"/>
            <a:r>
              <a:rPr lang="ru-RU" dirty="0" err="1"/>
              <a:t>М.Грабер</a:t>
            </a:r>
            <a:r>
              <a:rPr lang="ru-RU" dirty="0"/>
              <a:t>. </a:t>
            </a:r>
            <a:r>
              <a:rPr lang="en-US" b="1" dirty="0"/>
              <a:t>SQL</a:t>
            </a:r>
            <a:r>
              <a:rPr lang="en-US" dirty="0"/>
              <a:t>. </a:t>
            </a:r>
            <a:r>
              <a:rPr lang="ru-RU" dirty="0">
                <a:solidFill>
                  <a:schemeClr val="tx1"/>
                </a:solidFill>
                <a:highlight>
                  <a:srgbClr val="00FFFF"/>
                </a:highlight>
              </a:rPr>
              <a:t>Глава 24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  <a:highlight>
                  <a:srgbClr val="00FFFF"/>
                </a:highlight>
              </a:rPr>
              <a:t>Глава 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26</a:t>
            </a:r>
            <a:endParaRPr lang="ru-RU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36D70F-16C5-CD67-8723-63FD85D013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569581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sz="2000" dirty="0"/>
              <a:t>Структура стандарта и уровни соответствия</a:t>
            </a:r>
          </a:p>
          <a:p>
            <a:pPr>
              <a:defRPr/>
            </a:pPr>
            <a:r>
              <a:rPr lang="ru-RU" sz="2000" dirty="0"/>
              <a:t>Новые типы данных</a:t>
            </a:r>
          </a:p>
          <a:p>
            <a:pPr>
              <a:defRPr/>
            </a:pPr>
            <a:r>
              <a:rPr lang="ru-RU" sz="2000" dirty="0"/>
              <a:t>Расширения операторов </a:t>
            </a:r>
            <a:r>
              <a:rPr lang="en-US" sz="2000" dirty="0"/>
              <a:t>SQL</a:t>
            </a:r>
            <a:endParaRPr lang="ru-RU" sz="2000" dirty="0"/>
          </a:p>
          <a:p>
            <a:pPr>
              <a:defRPr/>
            </a:pPr>
            <a:r>
              <a:rPr lang="ru-RU" sz="2000" dirty="0"/>
              <a:t>Процедурные расширения </a:t>
            </a:r>
            <a:r>
              <a:rPr lang="en-US" sz="2000" dirty="0"/>
              <a:t>SQL</a:t>
            </a:r>
            <a:endParaRPr lang="ru-RU" sz="2000" dirty="0"/>
          </a:p>
          <a:p>
            <a:pPr>
              <a:defRPr/>
            </a:pPr>
            <a:r>
              <a:rPr lang="ru-RU" sz="2000" dirty="0"/>
              <a:t>Краткий обзор концепций объектно-ориентированного подхода</a:t>
            </a:r>
          </a:p>
          <a:p>
            <a:pPr>
              <a:defRPr/>
            </a:pPr>
            <a:r>
              <a:rPr lang="ru-RU" sz="2000" dirty="0"/>
              <a:t>Интеграция объектной и реляционной технологий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593E26-D0AF-D462-5FCE-2F740F1B5C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Обзор </a:t>
            </a:r>
            <a:r>
              <a:rPr lang="en-US" dirty="0"/>
              <a:t>SQL:99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AFF713-E3B4-414E-1835-6677BB8F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235647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9AEFFB-0F83-E5E8-CCAB-D6B1B0B3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419DD-B1BA-C731-7F3B-BF3D6582A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929596"/>
          </a:xfrm>
        </p:spPr>
        <p:txBody>
          <a:bodyPr numCol="2"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ru-RU" sz="2800" dirty="0"/>
              <a:t>SQL:99</a:t>
            </a:r>
            <a:r>
              <a:rPr lang="ru-RU" altLang="ru-RU" sz="2800" dirty="0"/>
              <a:t>, ранее известный под названием </a:t>
            </a:r>
            <a:r>
              <a:rPr lang="en-US" altLang="ru-RU" sz="2800" dirty="0"/>
              <a:t>SQL</a:t>
            </a:r>
            <a:r>
              <a:rPr lang="ru-RU" altLang="ru-RU" sz="2800" dirty="0"/>
              <a:t>3 (</a:t>
            </a:r>
            <a:r>
              <a:rPr lang="en-US" altLang="ru-RU" sz="2800" dirty="0"/>
              <a:t>SQL</a:t>
            </a:r>
            <a:r>
              <a:rPr lang="ru-RU" altLang="ru-RU" sz="2800" dirty="0"/>
              <a:t>92 раньше назывался </a:t>
            </a:r>
            <a:r>
              <a:rPr lang="en-US" altLang="ru-RU" sz="2800" dirty="0"/>
              <a:t>SQL</a:t>
            </a:r>
            <a:r>
              <a:rPr lang="ru-RU" altLang="ru-RU" sz="2800" dirty="0"/>
              <a:t>2) — это новый стандарт, одобренный </a:t>
            </a:r>
            <a:r>
              <a:rPr lang="en-US" altLang="ru-RU" sz="2800" dirty="0"/>
              <a:t>ISO </a:t>
            </a:r>
            <a:r>
              <a:rPr lang="ru-RU" altLang="ru-RU" sz="2800" dirty="0"/>
              <a:t>и </a:t>
            </a:r>
            <a:r>
              <a:rPr lang="en-US" altLang="ru-RU" sz="2800" dirty="0"/>
              <a:t>ANSI </a:t>
            </a:r>
            <a:r>
              <a:rPr lang="ru-RU" altLang="ru-RU" sz="2800" dirty="0"/>
              <a:t>в 1999 г. </a:t>
            </a:r>
            <a:endParaRPr lang="en-US" altLang="ru-RU" sz="2800" dirty="0"/>
          </a:p>
          <a:p>
            <a:pPr>
              <a:lnSpc>
                <a:spcPct val="120000"/>
              </a:lnSpc>
            </a:pPr>
            <a:r>
              <a:rPr lang="ru-RU" altLang="ru-RU" sz="2800" dirty="0"/>
              <a:t>В стандарте </a:t>
            </a:r>
            <a:r>
              <a:rPr lang="en-US" altLang="ru-RU" sz="2800" dirty="0"/>
              <a:t>SQL</a:t>
            </a:r>
            <a:r>
              <a:rPr lang="ru-RU" altLang="ru-RU" sz="2800" dirty="0"/>
              <a:t>92 было три уровня соответствия</a:t>
            </a:r>
          </a:p>
          <a:p>
            <a:pPr lvl="1">
              <a:lnSpc>
                <a:spcPct val="120000"/>
              </a:lnSpc>
              <a:buClr>
                <a:srgbClr val="FF0000"/>
              </a:buClr>
            </a:pPr>
            <a:r>
              <a:rPr lang="en-US" altLang="ru-RU" sz="2700" dirty="0"/>
              <a:t>Entry </a:t>
            </a:r>
            <a:r>
              <a:rPr lang="ru-RU" altLang="ru-RU" sz="2700" dirty="0"/>
              <a:t>(начальный) </a:t>
            </a:r>
            <a:endParaRPr lang="en-US" altLang="ru-RU" sz="2700" dirty="0"/>
          </a:p>
          <a:p>
            <a:pPr lvl="1">
              <a:lnSpc>
                <a:spcPct val="120000"/>
              </a:lnSpc>
              <a:buClr>
                <a:srgbClr val="FF0000"/>
              </a:buClr>
            </a:pPr>
            <a:r>
              <a:rPr lang="en-US" altLang="ru-RU" sz="2700" dirty="0"/>
              <a:t>Intermediate </a:t>
            </a:r>
            <a:r>
              <a:rPr lang="ru-RU" altLang="ru-RU" sz="2700" dirty="0"/>
              <a:t>(промежуточный) </a:t>
            </a:r>
            <a:endParaRPr lang="en-US" altLang="ru-RU" sz="2700" dirty="0"/>
          </a:p>
          <a:p>
            <a:pPr lvl="1">
              <a:lnSpc>
                <a:spcPct val="120000"/>
              </a:lnSpc>
              <a:buClr>
                <a:srgbClr val="FF0000"/>
              </a:buClr>
            </a:pPr>
            <a:r>
              <a:rPr lang="en-US" altLang="ru-RU" sz="2700" dirty="0"/>
              <a:t>Full </a:t>
            </a:r>
            <a:r>
              <a:rPr lang="ru-RU" altLang="ru-RU" sz="2700" dirty="0"/>
              <a:t>(полный)</a:t>
            </a:r>
            <a:endParaRPr lang="en-US" altLang="ru-RU" sz="2700" dirty="0"/>
          </a:p>
          <a:p>
            <a:pPr>
              <a:lnSpc>
                <a:spcPct val="120000"/>
              </a:lnSpc>
            </a:pPr>
            <a:r>
              <a:rPr lang="ru-RU" altLang="ru-RU" sz="2800" dirty="0"/>
              <a:t>Реализации могли соответствовать ему в разной степени. </a:t>
            </a:r>
          </a:p>
          <a:p>
            <a:pPr>
              <a:lnSpc>
                <a:spcPct val="120000"/>
              </a:lnSpc>
            </a:pPr>
            <a:r>
              <a:rPr lang="ru-RU" altLang="ru-RU" sz="2800" dirty="0"/>
              <a:t>Оказалось, что большинство компаний остановилось на уровне </a:t>
            </a:r>
            <a:r>
              <a:rPr lang="en-US" altLang="ru-RU" sz="2800" dirty="0"/>
              <a:t>Entry</a:t>
            </a:r>
            <a:r>
              <a:rPr lang="ru-RU" altLang="ru-RU" sz="2800" dirty="0"/>
              <a:t>, так как прежде всего они интересовались патентованием.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9FFE9-27B4-1434-7CBC-9EE1CC414D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SQL 92. </a:t>
            </a:r>
            <a:r>
              <a:rPr lang="ru-RU" dirty="0"/>
              <a:t>Уровни соответствия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4DDAFA-371C-EADF-F048-CDF673DE1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621827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75F9-6AC7-EAB2-E11D-61CFC3E7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92143E-5C0A-C128-5AC6-371C9718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D842F-B541-E191-8B31-2EB2285AA7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 fontScale="55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2800" dirty="0"/>
              <a:t>В </a:t>
            </a:r>
            <a:r>
              <a:rPr lang="en-US" sz="2800" dirty="0"/>
              <a:t>SQL:99</a:t>
            </a:r>
            <a:r>
              <a:rPr lang="ru-RU" sz="2800" dirty="0"/>
              <a:t> принят другой подход. </a:t>
            </a:r>
          </a:p>
          <a:p>
            <a:pPr>
              <a:lnSpc>
                <a:spcPct val="120000"/>
              </a:lnSpc>
              <a:defRPr/>
            </a:pPr>
            <a:r>
              <a:rPr lang="ru-RU" sz="2800" dirty="0"/>
              <a:t>Имеется функциональное ядро (</a:t>
            </a:r>
            <a:r>
              <a:rPr lang="en-US" sz="2800" dirty="0"/>
              <a:t>Core</a:t>
            </a:r>
            <a:r>
              <a:rPr lang="ru-RU" sz="2800" dirty="0"/>
              <a:t>), которое обязательно при любом уровне соответствия. </a:t>
            </a:r>
          </a:p>
          <a:p>
            <a:pPr>
              <a:lnSpc>
                <a:spcPct val="120000"/>
              </a:lnSpc>
              <a:defRPr/>
            </a:pPr>
            <a:r>
              <a:rPr lang="ru-RU" sz="2800" dirty="0"/>
              <a:t>Это ядро включает в себя </a:t>
            </a:r>
            <a:r>
              <a:rPr lang="en-US" sz="2800" dirty="0"/>
              <a:t>SQL</a:t>
            </a:r>
            <a:r>
              <a:rPr lang="ru-RU" sz="2800" dirty="0"/>
              <a:t>92 </a:t>
            </a:r>
            <a:r>
              <a:rPr lang="en-US" sz="2800" dirty="0"/>
              <a:t>Entry</a:t>
            </a:r>
            <a:r>
              <a:rPr lang="ru-RU" sz="2800" dirty="0"/>
              <a:t>, так что реализации могут переходить прямо от </a:t>
            </a:r>
            <a:r>
              <a:rPr lang="en-US" sz="2800" dirty="0"/>
              <a:t>SQL</a:t>
            </a:r>
            <a:r>
              <a:rPr lang="ru-RU" sz="2800" dirty="0"/>
              <a:t>92 </a:t>
            </a:r>
            <a:r>
              <a:rPr lang="en-US" sz="2800" dirty="0"/>
              <a:t>Entry </a:t>
            </a:r>
            <a:r>
              <a:rPr lang="ru-RU" sz="2800" dirty="0"/>
              <a:t>к </a:t>
            </a:r>
            <a:r>
              <a:rPr lang="en-US" sz="2800" dirty="0"/>
              <a:t>Core SQL:99</a:t>
            </a:r>
            <a:r>
              <a:rPr lang="ru-RU" sz="2800" dirty="0"/>
              <a:t>. 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  <a:p>
            <a:pPr>
              <a:lnSpc>
                <a:spcPct val="120000"/>
              </a:lnSpc>
              <a:defRPr/>
            </a:pPr>
            <a:r>
              <a:rPr lang="ru-RU" sz="2800" dirty="0"/>
              <a:t>Предусмотрено несколько </a:t>
            </a:r>
            <a:r>
              <a:rPr lang="ru-RU" sz="2800" b="1" dirty="0">
                <a:solidFill>
                  <a:schemeClr val="accent1"/>
                </a:solidFill>
              </a:rPr>
              <a:t>уровней расширенного соответствия</a:t>
            </a:r>
            <a:r>
              <a:rPr lang="ru-RU" sz="2800" dirty="0">
                <a:solidFill>
                  <a:schemeClr val="accent1"/>
                </a:solidFill>
              </a:rPr>
              <a:t>. </a:t>
            </a:r>
            <a:r>
              <a:rPr lang="ru-RU" sz="2800" dirty="0"/>
              <a:t>Реализации, поддерживающие </a:t>
            </a:r>
            <a:r>
              <a:rPr lang="en-US" sz="2800" dirty="0"/>
              <a:t>Core</a:t>
            </a:r>
            <a:r>
              <a:rPr lang="ru-RU" sz="2800" dirty="0"/>
              <a:t>, могут также поддерживать любой, все или никакой из этих расширенных уровней. </a:t>
            </a:r>
          </a:p>
          <a:p>
            <a:pPr>
              <a:lnSpc>
                <a:spcPct val="120000"/>
              </a:lnSpc>
              <a:defRPr/>
            </a:pPr>
            <a:r>
              <a:rPr lang="ru-RU" sz="2800" dirty="0"/>
              <a:t>Соответствие уровню </a:t>
            </a:r>
            <a:r>
              <a:rPr lang="en-US" sz="2800" dirty="0"/>
              <a:t>Core </a:t>
            </a:r>
            <a:r>
              <a:rPr lang="ru-RU" sz="2800" dirty="0"/>
              <a:t>подразумевает также, что СУБД поддерживает либо встроенный </a:t>
            </a:r>
            <a:r>
              <a:rPr lang="en-US" sz="2800" dirty="0"/>
              <a:t>SQL</a:t>
            </a:r>
            <a:r>
              <a:rPr lang="ru-RU" sz="2800" dirty="0"/>
              <a:t>, либо непосредственно программируемые модули.</a:t>
            </a:r>
            <a:endParaRPr lang="ru-RU" altLang="ru-RU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CF39C-1FE1-21F4-4162-3D44AEF27C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SQL:99. </a:t>
            </a:r>
            <a:r>
              <a:rPr lang="ru-RU" dirty="0"/>
              <a:t>Уровни соответствия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7FB45A-B8A4-B3C4-635E-597FE04E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214493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3E4C-6562-CA63-F942-072BF7159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9B805B-3030-0ABA-0D08-16FCAC15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7BF76-5A02-7BAE-1745-DE9EB49AFF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55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2800" dirty="0"/>
              <a:t>Стандарт состоит из нескольких документов, соответствующих логическим разделам стандарта.</a:t>
            </a:r>
            <a:endParaRPr lang="en-US" sz="2800" dirty="0"/>
          </a:p>
          <a:p>
            <a:pPr>
              <a:lnSpc>
                <a:spcPct val="120000"/>
              </a:lnSpc>
              <a:defRPr/>
            </a:pPr>
            <a:r>
              <a:rPr lang="ru-RU" sz="2800" dirty="0"/>
              <a:t>Структура </a:t>
            </a:r>
            <a:r>
              <a:rPr lang="en-US" sz="2800" b="1" dirty="0"/>
              <a:t>SQL</a:t>
            </a:r>
            <a:r>
              <a:rPr lang="ru-RU" sz="2800" b="1" dirty="0"/>
              <a:t> </a:t>
            </a:r>
            <a:r>
              <a:rPr lang="ru-RU" sz="2800" dirty="0"/>
              <a:t>(</a:t>
            </a:r>
            <a:r>
              <a:rPr lang="en-US" sz="2800" b="1" dirty="0"/>
              <a:t>SQL </a:t>
            </a:r>
            <a:r>
              <a:rPr lang="en-US" sz="2800" dirty="0"/>
              <a:t>Framework</a:t>
            </a:r>
            <a:r>
              <a:rPr lang="ru-RU" sz="2800" dirty="0"/>
              <a:t>)</a:t>
            </a:r>
          </a:p>
          <a:p>
            <a:pPr marL="623888" lvl="1" indent="-266700">
              <a:lnSpc>
                <a:spcPct val="120000"/>
              </a:lnSpc>
              <a:buClr>
                <a:srgbClr val="C00000"/>
              </a:buClr>
              <a:defRPr/>
            </a:pPr>
            <a:r>
              <a:rPr lang="ru-RU" sz="2500" dirty="0"/>
              <a:t>Включает общие определения и концепции, используемые в стандарте.</a:t>
            </a:r>
          </a:p>
          <a:p>
            <a:pPr marL="623888" lvl="1" indent="-266700">
              <a:lnSpc>
                <a:spcPct val="120000"/>
              </a:lnSpc>
              <a:buClr>
                <a:srgbClr val="C00000"/>
              </a:buClr>
              <a:defRPr/>
            </a:pPr>
            <a:r>
              <a:rPr lang="ru-RU" sz="2500" dirty="0"/>
              <a:t>Определяет структуру стандарта и взаимоотношения его частей.</a:t>
            </a:r>
          </a:p>
          <a:p>
            <a:pPr marL="623888" lvl="1" indent="-266700">
              <a:lnSpc>
                <a:spcPct val="120000"/>
              </a:lnSpc>
              <a:buClr>
                <a:srgbClr val="C00000"/>
              </a:buClr>
              <a:defRPr/>
            </a:pPr>
            <a:r>
              <a:rPr lang="ru-RU" sz="2500" dirty="0"/>
              <a:t>Описывает требования по соответствию стандарту, составленные комитетом по стандартам.</a:t>
            </a:r>
          </a:p>
          <a:p>
            <a:pPr>
              <a:lnSpc>
                <a:spcPct val="120000"/>
              </a:lnSpc>
              <a:defRPr/>
            </a:pPr>
            <a:r>
              <a:rPr lang="ru-RU" sz="2800" dirty="0"/>
              <a:t>Основа </a:t>
            </a:r>
            <a:r>
              <a:rPr lang="en-US" sz="2800" b="1" dirty="0"/>
              <a:t>SQL</a:t>
            </a:r>
            <a:r>
              <a:rPr lang="ru-RU" sz="2800" b="1" dirty="0"/>
              <a:t> (</a:t>
            </a:r>
            <a:r>
              <a:rPr lang="en-US" sz="2800" b="1" dirty="0"/>
              <a:t>SQL </a:t>
            </a:r>
            <a:r>
              <a:rPr lang="en-US" sz="2800" dirty="0"/>
              <a:t>Foundation</a:t>
            </a:r>
            <a:r>
              <a:rPr lang="ru-RU" sz="2800" dirty="0"/>
              <a:t>) </a:t>
            </a:r>
          </a:p>
          <a:p>
            <a:pPr marL="623888" lvl="1" indent="-266700">
              <a:lnSpc>
                <a:spcPct val="120000"/>
              </a:lnSpc>
              <a:buClr>
                <a:srgbClr val="C00000"/>
              </a:buClr>
              <a:defRPr/>
            </a:pPr>
            <a:r>
              <a:rPr lang="ru-RU" sz="2500" dirty="0"/>
              <a:t>Включает в себя основу - Core, являющуюся модификацией SQL9</a:t>
            </a:r>
            <a:r>
              <a:rPr lang="en-US" sz="2500" dirty="0"/>
              <a:t>2</a:t>
            </a:r>
            <a:r>
              <a:rPr lang="ru-RU" sz="2500" dirty="0"/>
              <a:t> Core. </a:t>
            </a:r>
          </a:p>
          <a:p>
            <a:pPr marL="623888" lvl="1" indent="-266700">
              <a:lnSpc>
                <a:spcPct val="120000"/>
              </a:lnSpc>
              <a:buClr>
                <a:srgbClr val="C00000"/>
              </a:buClr>
              <a:defRPr/>
            </a:pPr>
            <a:r>
              <a:rPr lang="ru-RU" sz="2500" dirty="0"/>
              <a:t>Эта часть стандарта является самой большой и наиболее важной. </a:t>
            </a:r>
          </a:p>
          <a:p>
            <a:pPr marL="623888" lvl="1" indent="-266700">
              <a:lnSpc>
                <a:spcPct val="120000"/>
              </a:lnSpc>
              <a:buClr>
                <a:srgbClr val="C00000"/>
              </a:buClr>
              <a:defRPr/>
            </a:pPr>
            <a:r>
              <a:rPr lang="ru-RU" sz="2500" dirty="0"/>
              <a:t>Оба раздела — </a:t>
            </a:r>
            <a:r>
              <a:rPr lang="en-US" sz="2500" dirty="0"/>
              <a:t>Framework </a:t>
            </a:r>
            <a:r>
              <a:rPr lang="ru-RU" sz="2500" dirty="0"/>
              <a:t>и </a:t>
            </a:r>
            <a:r>
              <a:rPr lang="en-US" sz="2500" dirty="0"/>
              <a:t>Foundation </a:t>
            </a:r>
            <a:r>
              <a:rPr lang="ru-RU" sz="2500" dirty="0"/>
              <a:t>используются в других частях стандарта.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30D2C-530F-6EEF-1947-79F31152F6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Разделы </a:t>
            </a:r>
            <a:r>
              <a:rPr lang="en-US" dirty="0"/>
              <a:t>SQL:99 (1)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337B17-8E31-ED3B-FFD9-64118CE1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427092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3DF6C-1186-12ED-E389-23DF0A713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9E7A5C-2320-F9DC-0272-4B727489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AEE78-96EB-8C74-1043-C2B576DB84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 fontScale="55000" lnSpcReduction="20000"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ru-RU" sz="2800" b="1" dirty="0"/>
              <a:t>SQL</a:t>
            </a:r>
            <a:r>
              <a:rPr lang="ru-RU" altLang="ru-RU" sz="2800" b="1" dirty="0"/>
              <a:t>/</a:t>
            </a:r>
            <a:r>
              <a:rPr lang="en-US" altLang="ru-RU" sz="2800" b="1" dirty="0"/>
              <a:t>CLI </a:t>
            </a:r>
            <a:r>
              <a:rPr lang="ru-RU" altLang="ru-RU" sz="2800" dirty="0"/>
              <a:t>(интерфейс уровня вызова) Определяет стандарт </a:t>
            </a:r>
            <a:r>
              <a:rPr lang="en-US" altLang="ru-RU" sz="2800" dirty="0"/>
              <a:t>API </a:t>
            </a:r>
            <a:r>
              <a:rPr lang="ru-RU" altLang="ru-RU" sz="2800" dirty="0"/>
              <a:t>(прикладной интерфейс), с помощью которого происходит вызов операций </a:t>
            </a:r>
            <a:r>
              <a:rPr lang="en-US" altLang="ru-RU" sz="2800" dirty="0"/>
              <a:t>SQL</a:t>
            </a:r>
            <a:r>
              <a:rPr lang="ru-RU" altLang="ru-RU" sz="2800" dirty="0"/>
              <a:t>. </a:t>
            </a:r>
          </a:p>
          <a:p>
            <a:pPr marL="623888" lvl="1" indent="-26670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defRPr/>
            </a:pPr>
            <a:r>
              <a:rPr lang="ru-RU" altLang="ru-RU" sz="2600" dirty="0"/>
              <a:t>Этот интерфейс разработан на основе старого стандарта </a:t>
            </a:r>
            <a:r>
              <a:rPr lang="en-US" altLang="ru-RU" sz="2600" dirty="0"/>
              <a:t>SQL Access Group</a:t>
            </a:r>
            <a:r>
              <a:rPr lang="ru-RU" altLang="ru-RU" sz="2600" dirty="0"/>
              <a:t>, на котором также основан стандарт </a:t>
            </a:r>
            <a:r>
              <a:rPr lang="en-US" altLang="ru-RU" sz="2600" dirty="0"/>
              <a:t>ODBC</a:t>
            </a:r>
            <a:r>
              <a:rPr lang="ru-RU" altLang="ru-RU" sz="2600" dirty="0"/>
              <a:t>, широко применяемый в промышленности. </a:t>
            </a:r>
          </a:p>
          <a:p>
            <a:pPr marL="623888" lvl="1" indent="-26670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defRPr/>
            </a:pPr>
            <a:r>
              <a:rPr lang="ru-RU" altLang="ru-RU" sz="2600" dirty="0"/>
              <a:t>В силу общего происхождения </a:t>
            </a:r>
            <a:r>
              <a:rPr lang="en-US" altLang="ru-RU" sz="2600" dirty="0"/>
              <a:t>SQL</a:t>
            </a:r>
            <a:r>
              <a:rPr lang="ru-RU" altLang="ru-RU" sz="2600" dirty="0"/>
              <a:t>/</a:t>
            </a:r>
            <a:r>
              <a:rPr lang="en-US" altLang="ru-RU" sz="2600" dirty="0"/>
              <a:t>CLI </a:t>
            </a:r>
            <a:r>
              <a:rPr lang="ru-RU" altLang="ru-RU" sz="2600" dirty="0"/>
              <a:t>и </a:t>
            </a:r>
            <a:r>
              <a:rPr lang="en-US" altLang="ru-RU" sz="2600" dirty="0"/>
              <a:t>ODBC </a:t>
            </a:r>
            <a:r>
              <a:rPr lang="ru-RU" altLang="ru-RU" sz="2600" dirty="0"/>
              <a:t>— это практически одно и то же. Таким образом, зная </a:t>
            </a:r>
            <a:r>
              <a:rPr lang="en-US" altLang="ru-RU" sz="2600" dirty="0"/>
              <a:t>ODBC</a:t>
            </a:r>
            <a:r>
              <a:rPr lang="ru-RU" altLang="ru-RU" sz="2600" dirty="0"/>
              <a:t>, можно с небольшими изменениями писать под интерфейс </a:t>
            </a:r>
            <a:r>
              <a:rPr lang="en-US" altLang="ru-RU" sz="2600" dirty="0"/>
              <a:t>SQL</a:t>
            </a:r>
            <a:r>
              <a:rPr lang="ru-RU" altLang="ru-RU" sz="2600" dirty="0"/>
              <a:t>/</a:t>
            </a:r>
            <a:r>
              <a:rPr lang="en-US" altLang="ru-RU" sz="2600" dirty="0"/>
              <a:t>CLI</a:t>
            </a:r>
            <a:r>
              <a:rPr lang="ru-RU" altLang="ru-RU" sz="2600" dirty="0"/>
              <a:t>.</a:t>
            </a:r>
          </a:p>
          <a:p>
            <a:pPr marL="623888" lvl="1" indent="-266700">
              <a:lnSpc>
                <a:spcPct val="120000"/>
              </a:lnSpc>
              <a:buClr>
                <a:srgbClr val="C00000"/>
              </a:buClr>
              <a:defRPr/>
            </a:pPr>
            <a:r>
              <a:rPr lang="ru-RU" altLang="ru-RU" sz="2600" dirty="0"/>
              <a:t>Интерфейсы </a:t>
            </a:r>
            <a:r>
              <a:rPr lang="en-US" altLang="ru-RU" sz="2600" dirty="0"/>
              <a:t>SQL</a:t>
            </a:r>
            <a:r>
              <a:rPr lang="ru-RU" altLang="ru-RU" sz="2600" dirty="0"/>
              <a:t>/</a:t>
            </a:r>
            <a:r>
              <a:rPr lang="en-US" altLang="ru-RU" sz="2600" dirty="0"/>
              <a:t>CLI </a:t>
            </a:r>
            <a:r>
              <a:rPr lang="ru-RU" altLang="ru-RU" sz="2600" dirty="0"/>
              <a:t>и </a:t>
            </a:r>
            <a:r>
              <a:rPr lang="en-US" altLang="ru-RU" sz="2600" dirty="0"/>
              <a:t>ODBC </a:t>
            </a:r>
            <a:r>
              <a:rPr lang="ru-RU" altLang="ru-RU" sz="2600" dirty="0"/>
              <a:t>должны в будущем сближаться, а не расходиться.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4CF36-B7BA-0A49-5195-ED0ECAA441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Разделы </a:t>
            </a:r>
            <a:r>
              <a:rPr lang="en-US" dirty="0"/>
              <a:t>SQL:99 (2)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054C62-C973-CCEB-9050-CB9FEB15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3899725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32E22-6730-49B0-DA6C-59B06E09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B927FD-020D-099A-FFAB-C1BB5EC94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E8170-FE5D-5ECD-684D-B88FE2FEE6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 fontScale="55000" lnSpcReduction="20000"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800" b="1" dirty="0"/>
              <a:t>SQL/PSM </a:t>
            </a:r>
            <a:r>
              <a:rPr lang="ru-RU" altLang="ru-RU" sz="2800" dirty="0"/>
              <a:t>(модули постоянного хранения) 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600" dirty="0"/>
              <a:t>Описывает процедурные расширения SQL, которые делают его пригодным для разработки полноценных приложений. 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600" dirty="0"/>
              <a:t>Эти расширения будут использоваться в основном для создания сложных стандартных операций, которые сможет применять любое приложение, имеющее доступ к базе данных. 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600" dirty="0"/>
              <a:t>Например, SQL/PSM может служить для поддержки триггеров, программных модулей, которые запускаются автоматически при определенных изменениях данных. 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600" dirty="0"/>
              <a:t>Некоторые коммерческие программные продукты (например, PL/SQL фирмы Oracle) уже предоставляют такую возможность.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408BF-AE97-4E72-68AB-35ED8BB469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Разделы </a:t>
            </a:r>
            <a:r>
              <a:rPr lang="en-US" dirty="0"/>
              <a:t>SQL:99 (3)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77C4D3-7A12-ED94-4E9B-A773A233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227379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BCD52-CC3B-E4DF-096D-D6A94F14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0F72B8-DCF4-C66E-22F0-168FCA71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89EDD-71A6-3F5C-4E28-9F423C0DF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800" b="1" dirty="0"/>
              <a:t>SQL/</a:t>
            </a:r>
            <a:r>
              <a:rPr lang="ru-RU" altLang="ru-RU" sz="2800" b="1" dirty="0" err="1"/>
              <a:t>Bindings</a:t>
            </a:r>
            <a:r>
              <a:rPr lang="ru-RU" altLang="ru-RU" sz="2800" b="1" dirty="0"/>
              <a:t> </a:t>
            </a:r>
            <a:r>
              <a:rPr lang="ru-RU" altLang="ru-RU" sz="2800" dirty="0"/>
              <a:t>(связи) 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600" dirty="0"/>
              <a:t>Определяет способы связи SQL с различными базовыми языками за исключением Java, который рассматривается отдельно. 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600" dirty="0"/>
              <a:t>Этот раздел относится как к встроенному, так и к динамическому SQL. 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600" dirty="0"/>
              <a:t>Хотя все это и не является нововведением в SQL, некоторые новые черты, такие, как мультимедиа и определяемые пользователем типы данных, требуют введения расширений в интерфейс между SQL и базовыми языками.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endParaRPr lang="ru-RU" altLang="ru-RU" sz="2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39D12-2243-0BA5-0FFE-FE7E77AF35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Разделы </a:t>
            </a:r>
            <a:r>
              <a:rPr lang="en-US" dirty="0"/>
              <a:t>SQL:99 (4)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4C8E81-0A25-9259-8D96-6617599F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2213379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E5F7-9F4E-8E98-7885-39520DEA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7CB362-5156-FA9E-B4DB-42AC5F8B1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7E761-3773-2A6F-4AB2-E550445B11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 fontScale="55000" lnSpcReduction="20000"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800" b="1" dirty="0"/>
              <a:t>SQL/MM </a:t>
            </a:r>
            <a:r>
              <a:rPr lang="ru-RU" altLang="ru-RU" sz="2800" dirty="0"/>
              <a:t>(мультимедиа) 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600" dirty="0"/>
              <a:t>Здесь определяются расширения SQL для эффективной работы с большими объемами сложной, а также иногда быстро меняющейся информации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600" dirty="0"/>
              <a:t>видео- и аудиоинформация или пространственные распределения в системах глобального наблюдения или в приложениях виртуальной реальности.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800" b="1" dirty="0"/>
              <a:t>SQL/OLB </a:t>
            </a:r>
            <a:r>
              <a:rPr lang="ru-RU" altLang="ru-RU" sz="2800" dirty="0"/>
              <a:t>(связи с объектными языками) 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600" dirty="0"/>
              <a:t>Так называемая часть 0 стандарта SQLJ для встраивания SQL в Java. </a:t>
            </a:r>
          </a:p>
          <a:p>
            <a:pPr marL="623888" lvl="1" indent="-2667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600" dirty="0"/>
              <a:t>Это отдельный стандарт, основанный на начальном уровне SQL92 и доработанный для SQL</a:t>
            </a:r>
            <a:r>
              <a:rPr lang="en-US" altLang="ru-RU" sz="2600" dirty="0"/>
              <a:t>:</a:t>
            </a:r>
            <a:r>
              <a:rPr lang="ru-RU" altLang="ru-RU" sz="2600" dirty="0"/>
              <a:t>99.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9D4E6-B7AA-1BCB-E320-689B5ABE7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Разделы </a:t>
            </a:r>
            <a:r>
              <a:rPr lang="en-US" dirty="0"/>
              <a:t>SQL:99 (5)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FB4C29-2C84-78F9-981A-2B1E4DF5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3235484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A1E01-CDFA-95BB-FCFC-6C730922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31537E-9171-CE0F-95B3-989143FE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693C9-6047-00EC-FED2-E9F14E3F42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 fontScale="55000" lnSpcReduction="20000"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800" dirty="0"/>
              <a:t>Перечисленные выше разделы (документы) </a:t>
            </a:r>
            <a:r>
              <a:rPr lang="ru-RU" altLang="ru-RU" sz="2800" b="1" dirty="0"/>
              <a:t>не описывают</a:t>
            </a:r>
            <a:r>
              <a:rPr lang="ru-RU" altLang="ru-RU" sz="2800" dirty="0"/>
              <a:t> уровни соответствия SQL</a:t>
            </a:r>
            <a:r>
              <a:rPr lang="en-US" altLang="ru-RU" sz="2800" dirty="0"/>
              <a:t>:</a:t>
            </a:r>
            <a:r>
              <a:rPr lang="ru-RU" altLang="ru-RU" sz="2800" dirty="0"/>
              <a:t>99.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800" dirty="0"/>
              <a:t>Эти уровни определяются в терминах "пакетов" соответствующих возможностей SQL, которые должны поддерживаться реализациями, претендующими на определенный повышенный уровень соответствия. 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800" dirty="0"/>
              <a:t>Стандарт открыт для расширений, так как ясно заявляется, что могут появиться другие группы возможностей SQL</a:t>
            </a:r>
            <a:r>
              <a:rPr lang="en-US" altLang="ru-RU" sz="2800" dirty="0"/>
              <a:t>:</a:t>
            </a:r>
            <a:r>
              <a:rPr lang="ru-RU" altLang="ru-RU" sz="2800" dirty="0"/>
              <a:t>99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altLang="ru-RU" sz="2800" dirty="0"/>
              <a:t>Типы расширенного соответствия, определенные в самом стандарте приведены в таблице.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BFAE3-387D-64AA-30A9-CB67CF02A2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Разделы </a:t>
            </a:r>
            <a:r>
              <a:rPr lang="en-US" dirty="0"/>
              <a:t>SQL:99 (</a:t>
            </a:r>
            <a:r>
              <a:rPr lang="ru-RU" dirty="0"/>
              <a:t>6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CC6A9B-C561-7167-C371-845629DE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1021020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DB42B-2226-B362-7577-9D10BBAD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D97357-505A-0978-1478-F9E3311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BAA7C-6F14-9171-B652-5F3E09A7BD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ru-RU" altLang="ru-RU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4226E-34BD-A17A-0DB2-8B728A7858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Уровни соответствия </a:t>
            </a:r>
            <a:r>
              <a:rPr lang="en-US" dirty="0"/>
              <a:t>SQL:99 (</a:t>
            </a:r>
            <a:r>
              <a:rPr lang="ru-RU" dirty="0"/>
              <a:t>1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F9CCD2-E276-9555-837A-40344E472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51816C-534E-2181-1D7E-D816FB3C9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42767"/>
              </p:ext>
            </p:extLst>
          </p:nvPr>
        </p:nvGraphicFramePr>
        <p:xfrm>
          <a:off x="350836" y="1802394"/>
          <a:ext cx="8541644" cy="235533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052812">
                  <a:extLst>
                    <a:ext uri="{9D8B030D-6E8A-4147-A177-3AD203B41FA5}">
                      <a16:colId xmlns:a16="http://schemas.microsoft.com/office/drawing/2014/main" val="4227723975"/>
                    </a:ext>
                  </a:extLst>
                </a:gridCol>
                <a:gridCol w="7488832">
                  <a:extLst>
                    <a:ext uri="{9D8B030D-6E8A-4147-A177-3AD203B41FA5}">
                      <a16:colId xmlns:a16="http://schemas.microsoft.com/office/drawing/2014/main" val="2300188262"/>
                    </a:ext>
                  </a:extLst>
                </a:gridCol>
              </a:tblGrid>
              <a:tr h="124498">
                <a:tc>
                  <a:txBody>
                    <a:bodyPr/>
                    <a:lstStyle/>
                    <a:p>
                      <a:r>
                        <a:rPr lang="ru-RU" sz="1400" dirty="0"/>
                        <a:t>Уровень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Основные возможности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96106"/>
                  </a:ext>
                </a:extLst>
              </a:tr>
              <a:tr h="124498">
                <a:tc>
                  <a:txBody>
                    <a:bodyPr/>
                    <a:lstStyle/>
                    <a:p>
                      <a:r>
                        <a:rPr lang="ru-RU" sz="1400" spc="-75" dirty="0">
                          <a:solidFill>
                            <a:schemeClr val="bg1"/>
                          </a:solidFill>
                          <a:effectLst/>
                        </a:rPr>
                        <a:t>Ядро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spc="-15" dirty="0">
                          <a:solidFill>
                            <a:schemeClr val="tx1"/>
                          </a:solidFill>
                          <a:effectLst/>
                        </a:rPr>
                        <a:t>Рассматривается ниже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869314"/>
                  </a:ext>
                </a:extLst>
              </a:tr>
              <a:tr h="1244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spc="-25" dirty="0">
                          <a:solidFill>
                            <a:schemeClr val="bg1"/>
                          </a:solidFill>
                          <a:effectLst/>
                        </a:rPr>
                        <a:t>Расширения для работы с датой и временем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157243"/>
                  </a:ext>
                </a:extLst>
              </a:tr>
              <a:tr h="298795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spc="-25" dirty="0">
                          <a:solidFill>
                            <a:schemeClr val="tx1"/>
                          </a:solidFill>
                          <a:effectLst/>
                        </a:rPr>
                        <a:t>Этот уровень подразумевает полную поддержку типов </a:t>
                      </a:r>
                      <a:r>
                        <a:rPr lang="ru-RU" sz="1400" b="0" spc="-40" dirty="0">
                          <a:solidFill>
                            <a:schemeClr val="tx1"/>
                          </a:solidFill>
                          <a:effectLst/>
                        </a:rPr>
                        <a:t>данных </a:t>
                      </a:r>
                      <a:r>
                        <a:rPr lang="en-US" sz="1400" b="0" spc="-4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DATETIME</a:t>
                      </a:r>
                      <a:r>
                        <a:rPr lang="ru-RU" sz="1400" b="0" spc="-40" dirty="0">
                          <a:solidFill>
                            <a:schemeClr val="tx1"/>
                          </a:solidFill>
                          <a:effectLst/>
                        </a:rPr>
                        <a:t>, включая тип </a:t>
                      </a:r>
                      <a:r>
                        <a:rPr lang="en-US" sz="1400" b="0" spc="-4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INTERVAL</a:t>
                      </a:r>
                      <a:r>
                        <a:rPr lang="en-US" sz="1400" b="0" spc="-4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400" b="0" spc="-40" dirty="0">
                          <a:solidFill>
                            <a:schemeClr val="tx1"/>
                          </a:solidFill>
                          <a:effectLst/>
                        </a:rPr>
                        <a:t>и специфи</a:t>
                      </a:r>
                      <a:r>
                        <a:rPr lang="ru-RU" sz="1400" b="0" spc="-20" dirty="0">
                          <a:solidFill>
                            <a:schemeClr val="tx1"/>
                          </a:solidFill>
                          <a:effectLst/>
                        </a:rPr>
                        <a:t>кацию </a:t>
                      </a:r>
                      <a:r>
                        <a:rPr lang="en-US" sz="1400" b="0" spc="-2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TIME ZONE</a:t>
                      </a:r>
                      <a:r>
                        <a:rPr lang="ru-RU" sz="1400" b="0" spc="-20" dirty="0">
                          <a:solidFill>
                            <a:schemeClr val="tx1"/>
                          </a:solidFill>
                          <a:effectLst/>
                        </a:rPr>
                        <a:t>. Большинство этих возможностей </a:t>
                      </a:r>
                      <a:r>
                        <a:rPr lang="ru-RU" sz="1400" b="0" spc="-25" dirty="0">
                          <a:solidFill>
                            <a:schemeClr val="tx1"/>
                          </a:solidFill>
                          <a:effectLst/>
                        </a:rPr>
                        <a:t>было уже в стандарте </a:t>
                      </a:r>
                      <a:r>
                        <a:rPr lang="en-US" sz="1400" b="0" spc="-25" dirty="0">
                          <a:solidFill>
                            <a:schemeClr val="tx1"/>
                          </a:solidFill>
                          <a:effectLst/>
                        </a:rPr>
                        <a:t>SQL</a:t>
                      </a:r>
                      <a:r>
                        <a:rPr lang="ru-RU" sz="1400" b="0" spc="-25" dirty="0">
                          <a:solidFill>
                            <a:schemeClr val="tx1"/>
                          </a:solidFill>
                          <a:effectLst/>
                        </a:rPr>
                        <a:t>92 (уровень </a:t>
                      </a:r>
                      <a:r>
                        <a:rPr lang="en-US" sz="1400" b="0" spc="-25" dirty="0">
                          <a:solidFill>
                            <a:schemeClr val="tx1"/>
                          </a:solidFill>
                          <a:effectLst/>
                        </a:rPr>
                        <a:t>Full</a:t>
                      </a:r>
                      <a:r>
                        <a:rPr lang="ru-RU" sz="1400" b="0" spc="-25" dirty="0">
                          <a:solidFill>
                            <a:schemeClr val="tx1"/>
                          </a:solidFill>
                          <a:effectLst/>
                        </a:rPr>
                        <a:t>).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887342"/>
                  </a:ext>
                </a:extLst>
              </a:tr>
              <a:tr h="1244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spc="-25" dirty="0">
                          <a:solidFill>
                            <a:schemeClr val="bg1"/>
                          </a:solidFill>
                          <a:effectLst/>
                        </a:rPr>
                        <a:t>Активные базы данных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283528"/>
                  </a:ext>
                </a:extLst>
              </a:tr>
              <a:tr h="404618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spc="-25" dirty="0">
                          <a:solidFill>
                            <a:schemeClr val="tx1"/>
                          </a:solidFill>
                          <a:effectLst/>
                        </a:rPr>
                        <a:t>Этот уровень подразумевает поддержку триггеров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497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377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51F7F-F088-CEC6-C063-E8C16D43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E08C6D-8D6B-20EF-5106-C8449DB6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3123B-1E51-1C35-E745-49F0401E2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ru-RU" altLang="ru-RU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D7165-0ECB-EF91-C9CF-291A9E2B82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Уровни соответствия </a:t>
            </a:r>
            <a:r>
              <a:rPr lang="en-US" dirty="0"/>
              <a:t>SQL:99 (</a:t>
            </a:r>
            <a:r>
              <a:rPr lang="ru-RU" dirty="0"/>
              <a:t>2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199044-9A1B-495F-4A70-52AEB2883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4E99E5-DB49-ABC8-69D8-15FD64EA0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767001"/>
              </p:ext>
            </p:extLst>
          </p:nvPr>
        </p:nvGraphicFramePr>
        <p:xfrm>
          <a:off x="350836" y="1802394"/>
          <a:ext cx="8541644" cy="271272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052812">
                  <a:extLst>
                    <a:ext uri="{9D8B030D-6E8A-4147-A177-3AD203B41FA5}">
                      <a16:colId xmlns:a16="http://schemas.microsoft.com/office/drawing/2014/main" val="4227723975"/>
                    </a:ext>
                  </a:extLst>
                </a:gridCol>
                <a:gridCol w="7488832">
                  <a:extLst>
                    <a:ext uri="{9D8B030D-6E8A-4147-A177-3AD203B41FA5}">
                      <a16:colId xmlns:a16="http://schemas.microsoft.com/office/drawing/2014/main" val="2300188262"/>
                    </a:ext>
                  </a:extLst>
                </a:gridCol>
              </a:tblGrid>
              <a:tr h="1244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Расширенное </a:t>
                      </a:r>
                      <a:r>
                        <a:rPr lang="ru-RU" sz="1400" spc="-30" dirty="0">
                          <a:solidFill>
                            <a:schemeClr val="bg1"/>
                          </a:solidFill>
                          <a:effectLst/>
                        </a:rPr>
                        <a:t>управление целостностью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435472"/>
                  </a:ext>
                </a:extLst>
              </a:tr>
              <a:tr h="124498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Этот уровень подразумевает поддержку расширенных возможностей ссылочной целостности, включая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Cascadia Code SemiBold" panose="020B0609020000020004" pitchFamily="49" charset="0"/>
                          <a:ea typeface="+mn-ea"/>
                          <a:cs typeface="Cascadia Code SemiBold" panose="020B0609020000020004" pitchFamily="49" charset="0"/>
                        </a:rPr>
                        <a:t>CREATE ASSERTION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, триггеры, подзапросы в ограничениях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Cascadia Code SemiBold" panose="020B0609020000020004" pitchFamily="49" charset="0"/>
                          <a:ea typeface="+mn-ea"/>
                          <a:cs typeface="Cascadia Code SemiBold" panose="020B0609020000020004" pitchFamily="49" charset="0"/>
                        </a:rPr>
                        <a:t>CHECK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 (раздел "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Cascadia Code SemiBold" panose="020B0609020000020004" pitchFamily="49" charset="0"/>
                          <a:ea typeface="+mn-ea"/>
                          <a:cs typeface="Cascadia Code SemiBold" panose="020B0609020000020004" pitchFamily="49" charset="0"/>
                        </a:rPr>
                        <a:t>CREATE TABLE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" справочного руководства)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869314"/>
                  </a:ext>
                </a:extLst>
              </a:tr>
              <a:tr h="1244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spc="-25" dirty="0">
                          <a:solidFill>
                            <a:schemeClr val="bg1"/>
                          </a:solidFill>
                          <a:effectLst/>
                        </a:rPr>
                        <a:t>Возможности </a:t>
                      </a:r>
                      <a:r>
                        <a:rPr lang="en-US" sz="1400" spc="-25" dirty="0">
                          <a:solidFill>
                            <a:schemeClr val="bg1"/>
                          </a:solidFill>
                          <a:effectLst/>
                        </a:rPr>
                        <a:t>OLAP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157243"/>
                  </a:ext>
                </a:extLst>
              </a:tr>
              <a:tr h="298795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spc="-25" dirty="0">
                          <a:solidFill>
                            <a:schemeClr val="tx1"/>
                          </a:solidFill>
                          <a:effectLst/>
                        </a:rPr>
                        <a:t>Этот уровень подразумевает поддержку расширенных возможностей для запросов и таблиц, включая: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FontTx/>
                        <a:buBlip>
                          <a:blip r:embed="rId3"/>
                        </a:buBlip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Cascadia Code SemiBold" panose="020B0609020000020004" pitchFamily="49" charset="0"/>
                          <a:ea typeface="+mn-ea"/>
                          <a:cs typeface="Cascadia Code SemiBold" panose="020B0609020000020004" pitchFamily="49" charset="0"/>
                        </a:rPr>
                        <a:t>FULL OUTER JOIN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FontTx/>
                        <a:buBlip>
                          <a:blip r:embed="rId3"/>
                        </a:buBlip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Cascadia Code SemiBold" panose="020B0609020000020004" pitchFamily="49" charset="0"/>
                          <a:ea typeface="+mn-ea"/>
                          <a:cs typeface="Cascadia Code SemiBold" panose="020B0609020000020004" pitchFamily="49" charset="0"/>
                        </a:rPr>
                        <a:t>CUBE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scadia Code SemiBold" panose="020B0609020000020004" pitchFamily="49" charset="0"/>
                        </a:rPr>
                        <a:t>and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Cascadia Code SemiBold" panose="020B0609020000020004" pitchFamily="49" charset="0"/>
                          <a:ea typeface="+mn-ea"/>
                          <a:cs typeface="Cascadia Code SemiBold" panose="020B0609020000020004" pitchFamily="49" charset="0"/>
                        </a:rPr>
                        <a:t> ROLLUP</a:t>
                      </a:r>
                      <a:endParaRPr lang="ru-RU" sz="1400" kern="1200" dirty="0">
                        <a:solidFill>
                          <a:schemeClr val="tx1"/>
                        </a:solidFill>
                        <a:latin typeface="Cascadia Code SemiBold" panose="020B0609020000020004" pitchFamily="49" charset="0"/>
                        <a:ea typeface="+mn-ea"/>
                        <a:cs typeface="Cascadia Code SemiBold" panose="020B0609020000020004" pitchFamily="49" charset="0"/>
                      </a:endParaRP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FontTx/>
                        <a:buBlip>
                          <a:blip r:embed="rId3"/>
                        </a:buBlip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Конструкторы значений строк и таблиц 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FontTx/>
                        <a:buBlip>
                          <a:blip r:embed="rId3"/>
                        </a:buBlip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Оператор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Cascadia Code SemiBold" panose="020B0609020000020004" pitchFamily="49" charset="0"/>
                          <a:ea typeface="+mn-ea"/>
                          <a:cs typeface="Cascadia Code SemiBold" panose="020B0609020000020004" pitchFamily="49" charset="0"/>
                        </a:rPr>
                        <a:t>INTERSECT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887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922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B9D84-1249-9B7A-F3D7-B86D4103C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8424AC-D5A5-320E-49C8-A29A50CB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8E450-19D2-622E-23A7-622A8F75A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ru-RU" altLang="ru-RU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05DA5-9242-45DF-8F17-299849A93B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Уровни соответствия </a:t>
            </a:r>
            <a:r>
              <a:rPr lang="en-US" dirty="0"/>
              <a:t>SQL:99 (</a:t>
            </a:r>
            <a:r>
              <a:rPr lang="ru-RU" dirty="0"/>
              <a:t>3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BEFB1D3-4959-EABD-E3A0-A3134485C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057AF0-18CA-2AAA-E700-E977C3091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933324"/>
              </p:ext>
            </p:extLst>
          </p:nvPr>
        </p:nvGraphicFramePr>
        <p:xfrm>
          <a:off x="350836" y="1802393"/>
          <a:ext cx="8541644" cy="2952897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052812">
                  <a:extLst>
                    <a:ext uri="{9D8B030D-6E8A-4147-A177-3AD203B41FA5}">
                      <a16:colId xmlns:a16="http://schemas.microsoft.com/office/drawing/2014/main" val="4227723975"/>
                    </a:ext>
                  </a:extLst>
                </a:gridCol>
                <a:gridCol w="7488832">
                  <a:extLst>
                    <a:ext uri="{9D8B030D-6E8A-4147-A177-3AD203B41FA5}">
                      <a16:colId xmlns:a16="http://schemas.microsoft.com/office/drawing/2014/main" val="2300188262"/>
                    </a:ext>
                  </a:extLst>
                </a:gridCol>
              </a:tblGrid>
              <a:tr h="33161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PSM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модули постоянного хранения)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435472"/>
                  </a:ext>
                </a:extLst>
              </a:tr>
              <a:tr h="245396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Расширения SQL, позволяющие производить вычисления  и обеспечивающие управление выполнением и другие подобные возможности. </a:t>
                      </a:r>
                    </a:p>
                    <a:p>
                      <a:r>
                        <a:rPr lang="ru-RU" sz="1300" b="1" dirty="0"/>
                        <a:t>В этом случае существует </a:t>
                      </a:r>
                      <a:r>
                        <a:rPr lang="ru-RU" sz="1300" b="1" dirty="0">
                          <a:solidFill>
                            <a:schemeClr val="accent1"/>
                          </a:solidFill>
                        </a:rPr>
                        <a:t>взаимно однозначное соответствие между разделом стандарта и уровнем расширенного соответствия</a:t>
                      </a:r>
                    </a:p>
                    <a:p>
                      <a:r>
                        <a:rPr lang="ru-RU" sz="1300" dirty="0"/>
                        <a:t>Реализация удовлетворяет требованиям расширенного соответствия PSM, если она поддерживает ядро SQL, а также все то, что описано в документе SQL/PSM, в частности: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FontTx/>
                        <a:buBlip>
                          <a:blip r:embed="rId3"/>
                        </a:buBlip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Хранимые процедуры и функции, включая переменные и операторы передачи управления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FontTx/>
                        <a:buBlip>
                          <a:blip r:embed="rId3"/>
                        </a:buBlip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Переопределение процедур и функций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FontTx/>
                        <a:buBlip>
                          <a:blip r:embed="rId3"/>
                        </a:buBlip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Добавления к стандартной INFORMATION SCHEMA для поддержки новых возможностей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869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605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E3EA-E8D6-8F93-6FAC-C41E8109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71AAC5-6314-4DC2-0136-171BFBD40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3F829-F232-53CB-C561-010A8C5DBE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ru-RU" altLang="ru-RU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4BCD2-6F62-6EFE-D4F8-D8E27FBFD6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Уровни соответствия </a:t>
            </a:r>
            <a:r>
              <a:rPr lang="en-US" dirty="0"/>
              <a:t>SQL:99 (</a:t>
            </a:r>
            <a:r>
              <a:rPr lang="ru-RU" dirty="0"/>
              <a:t>4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78E7C6-D639-93AB-5397-DF9D192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775958-8FF8-2D98-A2D0-E008D863F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587762"/>
              </p:ext>
            </p:extLst>
          </p:nvPr>
        </p:nvGraphicFramePr>
        <p:xfrm>
          <a:off x="350836" y="1802394"/>
          <a:ext cx="8541644" cy="150114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052812">
                  <a:extLst>
                    <a:ext uri="{9D8B030D-6E8A-4147-A177-3AD203B41FA5}">
                      <a16:colId xmlns:a16="http://schemas.microsoft.com/office/drawing/2014/main" val="4227723975"/>
                    </a:ext>
                  </a:extLst>
                </a:gridCol>
                <a:gridCol w="7488832">
                  <a:extLst>
                    <a:ext uri="{9D8B030D-6E8A-4147-A177-3AD203B41FA5}">
                      <a16:colId xmlns:a16="http://schemas.microsoft.com/office/drawing/2014/main" val="2300188262"/>
                    </a:ext>
                  </a:extLst>
                </a:gridCol>
              </a:tblGrid>
              <a:tr h="1244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CLI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интерфейс уровня вызова)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435472"/>
                  </a:ext>
                </a:extLst>
              </a:tr>
              <a:tr h="124498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tabLst>
                          <a:tab pos="283210" algn="l"/>
                        </a:tabLst>
                      </a:pPr>
                      <a:r>
                        <a:rPr lang="ru-RU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SQL/CLI определяет интерфейс программирования, который состоит из </a:t>
                      </a:r>
                      <a:r>
                        <a:rPr lang="ru-RU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вызовов функций, используемых для выполнения работ с базой данных</a:t>
                      </a:r>
                      <a:r>
                        <a:rPr lang="ru-RU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tabLst>
                          <a:tab pos="283210" algn="l"/>
                        </a:tabLst>
                      </a:pPr>
                      <a:r>
                        <a:rPr lang="ru-RU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SQL/CLI  построен на основе дескрипторов (</a:t>
                      </a:r>
                      <a:r>
                        <a:rPr lang="ru-RU" sz="14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handles</a:t>
                      </a:r>
                      <a:r>
                        <a:rPr lang="ru-RU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 и исключает необходимость </a:t>
                      </a:r>
                      <a:r>
                        <a:rPr lang="ru-RU" sz="14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областей глобальных данных </a:t>
                      </a:r>
                      <a:r>
                        <a:rPr lang="ru-RU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приложение получает доступ ко всей информации через посредство дескрипторов </a:t>
                      </a:r>
                      <a:endParaRPr lang="ru-RU" sz="140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869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8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86895-E383-E00D-957C-1046E5A68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34AE61-C05B-AE10-73CB-D1F8290B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DEF33-CA4F-3667-4E5E-8EABC90C0B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ru-RU" altLang="ru-RU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18AA5-DC16-1762-0AE6-880395F27C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Уровни соответствия </a:t>
            </a:r>
            <a:r>
              <a:rPr lang="en-US" dirty="0"/>
              <a:t>SQL:99 (</a:t>
            </a:r>
            <a:r>
              <a:rPr lang="ru-RU" dirty="0"/>
              <a:t>5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BF6DDA-DD55-0C08-1AE3-572C2A0C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6CBE3E-2FC6-F280-2AAF-2672B17DE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997972"/>
              </p:ext>
            </p:extLst>
          </p:nvPr>
        </p:nvGraphicFramePr>
        <p:xfrm>
          <a:off x="350836" y="1802394"/>
          <a:ext cx="8541644" cy="2633472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052812">
                  <a:extLst>
                    <a:ext uri="{9D8B030D-6E8A-4147-A177-3AD203B41FA5}">
                      <a16:colId xmlns:a16="http://schemas.microsoft.com/office/drawing/2014/main" val="4227723975"/>
                    </a:ext>
                  </a:extLst>
                </a:gridCol>
                <a:gridCol w="7488832">
                  <a:extLst>
                    <a:ext uri="{9D8B030D-6E8A-4147-A177-3AD203B41FA5}">
                      <a16:colId xmlns:a16="http://schemas.microsoft.com/office/drawing/2014/main" val="2300188262"/>
                    </a:ext>
                  </a:extLst>
                </a:gridCol>
              </a:tblGrid>
              <a:tr h="1244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spc="-25" dirty="0">
                          <a:solidFill>
                            <a:schemeClr val="bg1"/>
                          </a:solidFill>
                          <a:effectLst/>
                        </a:rPr>
                        <a:t>Базовая поддержка объектов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157243"/>
                  </a:ext>
                </a:extLst>
              </a:tr>
              <a:tr h="298795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</a:pPr>
                      <a:r>
                        <a:rPr lang="ru-RU" sz="1600" spc="-35" dirty="0">
                          <a:solidFill>
                            <a:schemeClr val="tx1"/>
                          </a:solidFill>
                          <a:effectLst/>
                        </a:rPr>
                        <a:t>Этот уровень </a:t>
                      </a:r>
                      <a:r>
                        <a:rPr lang="ru-RU" sz="1600" b="0" spc="-35" dirty="0">
                          <a:solidFill>
                            <a:schemeClr val="tx1"/>
                          </a:solidFill>
                          <a:effectLst/>
                        </a:rPr>
                        <a:t>подразумевает поддержку </a:t>
                      </a:r>
                      <a:r>
                        <a:rPr lang="ru-RU" sz="1600" spc="-35" dirty="0">
                          <a:solidFill>
                            <a:schemeClr val="tx1"/>
                          </a:solidFill>
                          <a:effectLst/>
                        </a:rPr>
                        <a:t>первого уровня интеграции </a:t>
                      </a:r>
                      <a:r>
                        <a:rPr lang="ru-RU" sz="1600" b="0" spc="-35" dirty="0">
                          <a:solidFill>
                            <a:schemeClr val="tx1"/>
                          </a:solidFill>
                          <a:effectLst/>
                        </a:rPr>
                        <a:t>реляционных баз данных и объектов, вклю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чая: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FontTx/>
                        <a:buBlip>
                          <a:blip r:embed="rId3"/>
                        </a:buBlip>
                        <a:tabLst>
                          <a:tab pos="288290" algn="l"/>
                        </a:tabLst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Переопределение внешних процедур, вызываемых из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SQL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(вызов внешних процедур из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SQL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поддерживается в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Core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FontTx/>
                        <a:buBlip>
                          <a:blip r:embed="rId3"/>
                        </a:buBlip>
                        <a:tabLst>
                          <a:tab pos="288290" algn="l"/>
                        </a:tabLst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Типы, определяемые пользователем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(UDT)</a:t>
                      </a:r>
                      <a:endParaRPr lang="ru-RU" sz="140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FontTx/>
                        <a:buBlip>
                          <a:blip r:embed="rId3"/>
                        </a:buBlip>
                        <a:tabLst>
                          <a:tab pos="288290" algn="l"/>
                        </a:tabLst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Ссылочные типы данных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FontTx/>
                        <a:buBlip>
                          <a:blip r:embed="rId3"/>
                        </a:buBlip>
                        <a:tabLst>
                          <a:tab pos="288290" algn="l"/>
                        </a:tabLst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Типизированные таблицы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FontTx/>
                        <a:buBlip>
                          <a:blip r:embed="rId3"/>
                        </a:buBlip>
                        <a:tabLst>
                          <a:tab pos="288290" algn="l"/>
                        </a:tabLst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Массивы, включая массивы типа ссылок и типов, определенных пользователем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887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328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0C9B0-F641-5A5A-745B-E91727EE6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546A32-913A-CAF8-E295-803B563D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917E5-3A99-10B0-251A-58763547A6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ru-RU" altLang="ru-RU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AD387-FF39-DB32-6DDD-29E94A38B9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Уровни соответствия </a:t>
            </a:r>
            <a:r>
              <a:rPr lang="en-US" dirty="0"/>
              <a:t>SQL:99 (</a:t>
            </a:r>
            <a:r>
              <a:rPr lang="ru-RU" dirty="0"/>
              <a:t>6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CA6A68-F052-BB04-F216-F4EA4903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B29CF7-1F65-EF71-76AA-035A824BF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071021"/>
              </p:ext>
            </p:extLst>
          </p:nvPr>
        </p:nvGraphicFramePr>
        <p:xfrm>
          <a:off x="350836" y="1802394"/>
          <a:ext cx="8541644" cy="160020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052812">
                  <a:extLst>
                    <a:ext uri="{9D8B030D-6E8A-4147-A177-3AD203B41FA5}">
                      <a16:colId xmlns:a16="http://schemas.microsoft.com/office/drawing/2014/main" val="4227723975"/>
                    </a:ext>
                  </a:extLst>
                </a:gridCol>
                <a:gridCol w="7488832">
                  <a:extLst>
                    <a:ext uri="{9D8B030D-6E8A-4147-A177-3AD203B41FA5}">
                      <a16:colId xmlns:a16="http://schemas.microsoft.com/office/drawing/2014/main" val="2300188262"/>
                    </a:ext>
                  </a:extLst>
                </a:gridCol>
              </a:tblGrid>
              <a:tr h="1244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spc="-25" dirty="0">
                          <a:solidFill>
                            <a:schemeClr val="bg1"/>
                          </a:solidFill>
                          <a:effectLst/>
                        </a:rPr>
                        <a:t>Расширенная поддержка объектов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157243"/>
                  </a:ext>
                </a:extLst>
              </a:tr>
              <a:tr h="298795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spc="-45" dirty="0">
                          <a:solidFill>
                            <a:schemeClr val="tx1"/>
                          </a:solidFill>
                          <a:effectLst/>
                        </a:rPr>
                        <a:t>Это второй уровень интеграции реляционных баз данных </a:t>
                      </a:r>
                      <a:r>
                        <a:rPr lang="ru-RU" sz="1600" b="0" spc="-40" dirty="0">
                          <a:solidFill>
                            <a:schemeClr val="tx1"/>
                          </a:solidFill>
                          <a:effectLst/>
                        </a:rPr>
                        <a:t>и объектов. Он включает все возможности базового уров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ня, а также: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FontTx/>
                        <a:buBlip>
                          <a:blip r:embed="rId3"/>
                        </a:buBlip>
                        <a:tabLst>
                          <a:tab pos="288290" algn="l"/>
                        </a:tabLst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Написание собственных конструкторов</a:t>
                      </a:r>
                    </a:p>
                    <a:p>
                      <a:pPr marL="266700" lvl="1" indent="-26670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FontTx/>
                        <a:buBlip>
                          <a:blip r:embed="rId3"/>
                        </a:buBlip>
                        <a:tabLst>
                          <a:tab pos="288290" algn="l"/>
                        </a:tabLst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crom" panose="00000500000000000000" pitchFamily="50" charset="-52"/>
                          <a:ea typeface="+mn-ea"/>
                          <a:cs typeface="+mn-cs"/>
                        </a:rPr>
                        <a:t>Множественное наследование, то есть тип, определенный пользователем, может иметь: более одного суперкласса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887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509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8CF1C9-6AD8-C1BE-DDF8-69B52BF8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F3278-7D21-2163-BC92-D3364D84FD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All of SQL92 functionality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Schemas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Different kinds of joins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Temporary tables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CASE expressions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Scrollable cursors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…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New built-in data types for increased modeling power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Boolean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Large objects (LOBs)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Enhanced update capabilities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Increase expressive powers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Update/delete through unions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Update/delete through joins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58B44-56B6-34C9-EED4-3F905152EB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SQL:99 Foundation</a:t>
            </a:r>
            <a:r>
              <a:rPr lang="ru-RU" dirty="0"/>
              <a:t> (1)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8EA5DA-C406-3AB8-2422-BFFE76C2A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808576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EB928-E7B3-8713-DDF4-633274DA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860D7-0AE9-F161-096F-25C36801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E08B4-07D1-2798-2A47-CB2E45532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300" dirty="0"/>
              <a:t>Other relational extensions to increase modeling and expressive power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Additional predicates (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FOR ALL</a:t>
            </a:r>
            <a:r>
              <a:rPr lang="en-US" sz="2000" dirty="0"/>
              <a:t>, 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FOR SOME</a:t>
            </a:r>
            <a:r>
              <a:rPr lang="en-US" sz="2000" dirty="0"/>
              <a:t>, 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SIMILAR TO</a:t>
            </a:r>
            <a:r>
              <a:rPr lang="en-US" sz="2000" dirty="0"/>
              <a:t>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Extensions to cursors (sensitive cursor, holdable cursor)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Extensions to referential integrity (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RESTRICT</a:t>
            </a:r>
            <a:r>
              <a:rPr lang="en-US" sz="2000" dirty="0"/>
              <a:t>))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Extensions to joins</a:t>
            </a:r>
            <a:endParaRPr lang="ru-RU" sz="20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300" dirty="0"/>
              <a:t>Triggers</a:t>
            </a:r>
            <a:br>
              <a:rPr lang="ru-RU" sz="2300" dirty="0"/>
            </a:br>
            <a:r>
              <a:rPr lang="en-US" dirty="0"/>
              <a:t>Enhances integrity mechanism (active DBMS)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Different triggering events: update/delete/insert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Optional condition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Activation time: before or after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Multi-statement action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Several triggers per table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Condition and multi-statement action per each row or per statement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300" dirty="0"/>
              <a:t>Roles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Enhanced security mechanisms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GRANT</a:t>
            </a:r>
            <a:r>
              <a:rPr lang="en-US" sz="2000" dirty="0"/>
              <a:t>/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REVOKE</a:t>
            </a:r>
            <a:r>
              <a:rPr lang="en-US" sz="2000" dirty="0"/>
              <a:t> privileges to roles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GRANT</a:t>
            </a:r>
            <a:r>
              <a:rPr lang="en-US" sz="2000" dirty="0"/>
              <a:t>/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REVOKE</a:t>
            </a:r>
            <a:r>
              <a:rPr lang="en-US" sz="2000" dirty="0"/>
              <a:t> roles to users and other roles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3EA19-C099-310E-11B3-C14083D6E9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SQL:99 Foundation</a:t>
            </a:r>
            <a:r>
              <a:rPr lang="ru-RU" dirty="0"/>
              <a:t> (2)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35F48C-E4D0-BB11-4CBE-FBF369E9D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371336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607E-3376-745B-F440-1CCC1EF6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A0832F-6A14-608C-849C-6F82C002E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BF551-2709-B613-2690-82A704E1E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300" dirty="0"/>
              <a:t>Other relational extensions to increase modeling and expressive power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Additional predicates (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FOR ALL</a:t>
            </a:r>
            <a:r>
              <a:rPr lang="en-US" sz="2000" dirty="0"/>
              <a:t>, 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FOR SOME</a:t>
            </a:r>
            <a:r>
              <a:rPr lang="en-US" sz="2000" dirty="0"/>
              <a:t>, 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SIMILAR TO</a:t>
            </a:r>
            <a:r>
              <a:rPr lang="en-US" sz="2000" dirty="0"/>
              <a:t>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Extensions to cursors (sensitive cursor, holdable cursor)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Extensions to referential integrity (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RESTRICT</a:t>
            </a:r>
            <a:r>
              <a:rPr lang="en-US" sz="2000" dirty="0"/>
              <a:t>))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Extensions to joins</a:t>
            </a:r>
            <a:endParaRPr lang="ru-RU" sz="20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300" dirty="0"/>
              <a:t>Triggers</a:t>
            </a:r>
            <a:br>
              <a:rPr lang="ru-RU" sz="2300" dirty="0"/>
            </a:br>
            <a:r>
              <a:rPr lang="en-US" dirty="0"/>
              <a:t>Enhances integrity mechanism (active DBMS)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Different triggering events: update/delete/insert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Optional condition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Activation time: before or after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Multi-statement action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Several triggers per table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Condition and multi-statement action per each row or per statement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300" dirty="0"/>
              <a:t>Roles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Enhanced security mechanisms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GRANT</a:t>
            </a:r>
            <a:r>
              <a:rPr lang="en-US" sz="2000" dirty="0"/>
              <a:t>/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REVOKE</a:t>
            </a:r>
            <a:r>
              <a:rPr lang="en-US" sz="2000" dirty="0"/>
              <a:t> privileges to roles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GRANT</a:t>
            </a:r>
            <a:r>
              <a:rPr lang="en-US" sz="2000" dirty="0"/>
              <a:t>/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REVOKE</a:t>
            </a:r>
            <a:r>
              <a:rPr lang="en-US" sz="2000" dirty="0"/>
              <a:t> roles to users and other roles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F388F-C870-8932-7660-8E354D0975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SQL:99 Foundation</a:t>
            </a:r>
            <a:r>
              <a:rPr lang="ru-RU" dirty="0"/>
              <a:t> (3)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64098E-35BA-4C7C-F264-D4965987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2940775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F0FE-9FF9-06D3-A0CC-55371038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A12FC9-4604-E5DC-64AD-95D17012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3D462-74DC-2605-910C-1E59ED83D8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300" dirty="0"/>
              <a:t>Recursion</a:t>
            </a:r>
            <a:br>
              <a:rPr lang="en-US" sz="2300" dirty="0"/>
            </a:br>
            <a:r>
              <a:rPr lang="en-US" sz="2100" dirty="0"/>
              <a:t>Increase expressive power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Linear (both direct and mutual) recursion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Stop conditions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Different search strategies (depth first, breadth first)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300" dirty="0" err="1"/>
              <a:t>Savepoints</a:t>
            </a:r>
            <a:br>
              <a:rPr lang="en-US" sz="2300" dirty="0"/>
            </a:br>
            <a:r>
              <a:rPr lang="en-US" sz="2100" dirty="0"/>
              <a:t>Enhances user-controlled integrity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 err="1"/>
              <a:t>Savepoint</a:t>
            </a:r>
            <a:r>
              <a:rPr lang="en-US" sz="2100" dirty="0"/>
              <a:t> definition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Roll back to </a:t>
            </a:r>
            <a:r>
              <a:rPr lang="en-US" sz="2100" dirty="0" err="1"/>
              <a:t>savepoint</a:t>
            </a:r>
            <a:endParaRPr lang="en-US" sz="21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Nesting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300" dirty="0"/>
              <a:t>OLAP extensions</a:t>
            </a:r>
            <a:br>
              <a:rPr lang="en-US" sz="2300" dirty="0"/>
            </a:br>
            <a:r>
              <a:rPr lang="en-US" sz="2100" dirty="0"/>
              <a:t>Enhances query capabilities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CUBE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ROLLUP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Expressions in 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ORDER BY</a:t>
            </a:r>
            <a:endParaRPr lang="en-US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5135D-A19F-A50F-6CBE-DCEE59CC71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SQL:99 Foundation</a:t>
            </a:r>
            <a:r>
              <a:rPr lang="ru-RU" dirty="0"/>
              <a:t> (</a:t>
            </a:r>
            <a:r>
              <a:rPr lang="en-US" dirty="0"/>
              <a:t>4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B67F4A-EBDE-26FF-F91B-879F9A294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1100684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17767-E710-C4B3-DA6B-48DFAC13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A9DC3-088A-852A-00B5-D91707112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7D8CF-3941-21FC-7BE5-1E81C4DE2D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613651" cy="3073612"/>
          </a:xfrm>
        </p:spPr>
        <p:txBody>
          <a:bodyPr numCol="2" spcCol="180000">
            <a:normAutofit fontScale="70000" lnSpcReduction="20000"/>
          </a:bodyPr>
          <a:lstStyle/>
          <a:p>
            <a:pPr marL="266700" indent="-266700">
              <a:lnSpc>
                <a:spcPct val="120000"/>
              </a:lnSpc>
              <a:spcBef>
                <a:spcPts val="0"/>
              </a:spcBef>
            </a:pPr>
            <a:r>
              <a:rPr lang="en-US" sz="2300" dirty="0"/>
              <a:t>Object-relational Extensions</a:t>
            </a:r>
          </a:p>
          <a:p>
            <a:pPr marL="449263" lvl="1" indent="-182563">
              <a:lnSpc>
                <a:spcPct val="120000"/>
              </a:lnSpc>
              <a:spcBef>
                <a:spcPts val="0"/>
              </a:spcBef>
            </a:pPr>
            <a:r>
              <a:rPr lang="en-US" sz="2100" b="1" dirty="0"/>
              <a:t>Extensibility</a:t>
            </a:r>
            <a:r>
              <a:rPr lang="en-US" sz="2100" dirty="0"/>
              <a:t>: application specific data types "understandable" by DBMS</a:t>
            </a:r>
          </a:p>
          <a:p>
            <a:pPr marL="449263" lvl="1" indent="-182563">
              <a:lnSpc>
                <a:spcPct val="120000"/>
              </a:lnSpc>
              <a:spcBef>
                <a:spcPts val="0"/>
              </a:spcBef>
            </a:pPr>
            <a:r>
              <a:rPr lang="en-US" sz="2100" b="1" dirty="0"/>
              <a:t>Increase modeling power (complex objects)</a:t>
            </a:r>
            <a:r>
              <a:rPr lang="en-US" sz="2100" dirty="0"/>
              <a:t>: increase the range of applications</a:t>
            </a:r>
          </a:p>
          <a:p>
            <a:pPr marL="449263" lvl="1" indent="-182563">
              <a:lnSpc>
                <a:spcPct val="120000"/>
              </a:lnSpc>
              <a:spcBef>
                <a:spcPts val="0"/>
              </a:spcBef>
            </a:pPr>
            <a:r>
              <a:rPr lang="en-US" sz="2100" b="1" dirty="0"/>
              <a:t>Reusability</a:t>
            </a:r>
            <a:r>
              <a:rPr lang="en-US" sz="2100" dirty="0"/>
              <a:t>: sharing existing type libraries</a:t>
            </a:r>
          </a:p>
          <a:p>
            <a:pPr marL="449263" lvl="1" indent="-182563">
              <a:lnSpc>
                <a:spcPct val="120000"/>
              </a:lnSpc>
              <a:spcBef>
                <a:spcPts val="0"/>
              </a:spcBef>
            </a:pPr>
            <a:r>
              <a:rPr lang="en-US" sz="2100" b="1" dirty="0"/>
              <a:t>Integration</a:t>
            </a:r>
            <a:r>
              <a:rPr lang="en-US" sz="2100" dirty="0"/>
              <a:t>: enable integration of OO and relational concepts in a single language</a:t>
            </a:r>
          </a:p>
          <a:p>
            <a:pPr marL="266700" indent="-266700">
              <a:lnSpc>
                <a:spcPct val="120000"/>
              </a:lnSpc>
              <a:spcBef>
                <a:spcPts val="0"/>
              </a:spcBef>
            </a:pPr>
            <a:r>
              <a:rPr lang="en-US" sz="2300" dirty="0"/>
              <a:t>User-defined types</a:t>
            </a:r>
          </a:p>
          <a:p>
            <a:pPr marL="539750" lvl="1" indent="-257175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Distinct types</a:t>
            </a:r>
          </a:p>
          <a:p>
            <a:pPr marL="714375" lvl="2" indent="-174625" defTabSz="806450">
              <a:lnSpc>
                <a:spcPct val="120000"/>
              </a:lnSpc>
              <a:spcBef>
                <a:spcPts val="0"/>
              </a:spcBef>
            </a:pPr>
            <a:r>
              <a:rPr lang="en-US" sz="1900" dirty="0"/>
              <a:t>Strong typing</a:t>
            </a:r>
          </a:p>
          <a:p>
            <a:pPr marL="714375" lvl="2" indent="-174625" defTabSz="806450">
              <a:lnSpc>
                <a:spcPct val="120000"/>
              </a:lnSpc>
              <a:spcBef>
                <a:spcPts val="0"/>
              </a:spcBef>
            </a:pPr>
            <a:r>
              <a:rPr lang="en-US" sz="1900" dirty="0"/>
              <a:t>Type-specific behavior</a:t>
            </a:r>
          </a:p>
          <a:p>
            <a:pPr marL="266700" indent="-266700">
              <a:lnSpc>
                <a:spcPct val="120000"/>
              </a:lnSpc>
              <a:spcBef>
                <a:spcPts val="0"/>
              </a:spcBef>
            </a:pPr>
            <a:r>
              <a:rPr lang="en-US" sz="2300" dirty="0"/>
              <a:t>Structured types</a:t>
            </a:r>
          </a:p>
          <a:p>
            <a:pPr marL="539750"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Strong typing</a:t>
            </a:r>
          </a:p>
          <a:p>
            <a:pPr marL="539750"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Type-specific behaviors encapsulation</a:t>
            </a:r>
          </a:p>
          <a:p>
            <a:pPr marL="539750"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Value substitutability</a:t>
            </a:r>
          </a:p>
          <a:p>
            <a:pPr marL="539750"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Polymorphic routines</a:t>
            </a:r>
          </a:p>
          <a:p>
            <a:pPr marL="539750"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Dynamic binding (run-time function dispatch)</a:t>
            </a:r>
          </a:p>
          <a:p>
            <a:pPr marL="539750"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Compile-time type checking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78AE1-7577-FA51-74E1-D17EC7DEBC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SQL:99 Foundation</a:t>
            </a:r>
            <a:r>
              <a:rPr lang="ru-RU" dirty="0"/>
              <a:t> (</a:t>
            </a:r>
            <a:r>
              <a:rPr lang="en-US" dirty="0"/>
              <a:t>5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813752-0A33-E862-9FA4-13D9D37A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2334767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1121E-7255-C7B5-F96D-9592076D0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2FCD7-66C7-4E5B-AE2D-E1C93B5AC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основном ядро состоит из операторов начального уровня SQL92</a:t>
            </a:r>
          </a:p>
          <a:p>
            <a:r>
              <a:rPr lang="ru-RU" dirty="0"/>
              <a:t>Основные  функциональные возможности ядра включают:</a:t>
            </a:r>
          </a:p>
          <a:p>
            <a:pPr lvl="1"/>
            <a:r>
              <a:rPr lang="ru-RU" dirty="0"/>
              <a:t>LOB (</a:t>
            </a:r>
            <a:r>
              <a:rPr lang="ru-RU" dirty="0" err="1"/>
              <a:t>Large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большие объекты)</a:t>
            </a:r>
          </a:p>
          <a:p>
            <a:pPr lvl="1"/>
            <a:r>
              <a:rPr lang="ru-RU" dirty="0"/>
              <a:t>Внешние программы, вызываемые из SQL</a:t>
            </a:r>
          </a:p>
          <a:p>
            <a:pPr lvl="1"/>
            <a:r>
              <a:rPr lang="ru-RU" dirty="0"/>
              <a:t>Простые типы данных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D9857-F753-0731-A74D-1B455DE591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Состав ядра </a:t>
            </a:r>
            <a:r>
              <a:rPr lang="en-US" dirty="0"/>
              <a:t>SQL 99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3C5EC8-97A2-6005-AB62-64B23C619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4284412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DB6EC-891F-94EC-68EA-3A8A1E34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776FF0-0901-2ACF-DE3A-A9D3E489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7F724-45A0-21A4-B7DC-8ACCC0B06B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3"/>
            <a:ext cx="8542337" cy="257016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BLOB (Binary Large </a:t>
            </a:r>
            <a:r>
              <a:rPr lang="en-US" dirty="0" err="1"/>
              <a:t>OBjects</a:t>
            </a:r>
            <a:r>
              <a:rPr lang="en-US" dirty="0"/>
              <a:t>) – </a:t>
            </a:r>
            <a:r>
              <a:rPr lang="ru-RU" dirty="0"/>
              <a:t>большие объёмы двоичной информации, </a:t>
            </a:r>
            <a:r>
              <a:rPr lang="ru-RU" altLang="ru-RU" dirty="0"/>
              <a:t>которая может быть чем угодно, но изначально предполагалось использовать </a:t>
            </a:r>
            <a:r>
              <a:rPr lang="en-US" altLang="ru-RU" dirty="0"/>
              <a:t>BLOB </a:t>
            </a:r>
            <a:r>
              <a:rPr lang="ru-RU" altLang="ru-RU" dirty="0"/>
              <a:t>для данных мультимедиа, таких, как аудио, видео и графическая информация</a:t>
            </a:r>
          </a:p>
          <a:p>
            <a:pPr>
              <a:lnSpc>
                <a:spcPct val="120000"/>
              </a:lnSpc>
            </a:pPr>
            <a:r>
              <a:rPr lang="ru-RU" dirty="0"/>
              <a:t>CLOB (</a:t>
            </a:r>
            <a:r>
              <a:rPr lang="en-US" dirty="0"/>
              <a:t>Character Large </a:t>
            </a:r>
            <a:r>
              <a:rPr lang="en-US" dirty="0" err="1"/>
              <a:t>OBjects</a:t>
            </a:r>
            <a:r>
              <a:rPr lang="ru-RU" dirty="0"/>
              <a:t>)</a:t>
            </a:r>
            <a:r>
              <a:rPr lang="en-US" dirty="0"/>
              <a:t> – </a:t>
            </a:r>
            <a:r>
              <a:rPr lang="ru-RU" dirty="0"/>
              <a:t>это объекты, похожие на BLOB, но предназначенные специально для хранения больших объемов текста; CLOB предполагается использовать в текстовых базах данных</a:t>
            </a:r>
          </a:p>
          <a:p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59C22-ADCE-0F5D-3FD1-4A600F7CA7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Новые типы данных. LOB (большие объекты)</a:t>
            </a:r>
            <a:r>
              <a:rPr lang="en-US" dirty="0"/>
              <a:t> (1)</a:t>
            </a:r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86AA86-D001-031F-8D73-BC170E062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3806138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54257-23F8-726E-1719-D5606D20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E077C0-7E9F-68EC-1CEC-21F4D830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A320C-62A1-56AB-A2AD-18DEBB847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3"/>
          </a:xfrm>
        </p:spPr>
        <p:txBody>
          <a:bodyPr numCol="2"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Оба типа данных используются, когда требуются элементы данных, размер которых чересчур велик и не позволяет базам данных функционировать традиционным образом </a:t>
            </a:r>
          </a:p>
          <a:p>
            <a:pPr>
              <a:lnSpc>
                <a:spcPct val="120000"/>
              </a:lnSpc>
            </a:pPr>
            <a:r>
              <a:rPr lang="ru-RU" dirty="0"/>
              <a:t>Одна из основных особенностей LOB, отличающая их от других типов данных — это использование объектов, называемых локаторами, которые предоставляют доступ к LOB по ссылке.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1196C-F163-4288-4B6F-6C93398ACB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Новые типы данных. LOB (большие объекты)</a:t>
            </a:r>
            <a:r>
              <a:rPr lang="en-US" dirty="0"/>
              <a:t> (2)</a:t>
            </a:r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DF2EF9-451E-3770-DB97-CB11D6F2F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4027956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73C22-9108-F9F9-EF75-79C01DF3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1759A8-DEAB-3666-3B6B-9A44A0FE6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D067B-9464-8079-3CBB-F3CDB019ED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3"/>
          </a:xfrm>
        </p:spPr>
        <p:txBody>
          <a:bodyPr numCol="2">
            <a:normAutofit fontScale="62500" lnSpcReduction="20000"/>
          </a:bodyPr>
          <a:lstStyle/>
          <a:p>
            <a:pPr marL="266700" indent="-266700">
              <a:lnSpc>
                <a:spcPct val="120000"/>
              </a:lnSpc>
            </a:pPr>
            <a:r>
              <a:rPr lang="ru-RU" dirty="0"/>
              <a:t>Локаторы имеют следующие особенности:</a:t>
            </a:r>
          </a:p>
          <a:p>
            <a:pPr marL="449263" lvl="1" indent="-182563">
              <a:lnSpc>
                <a:spcPct val="120000"/>
              </a:lnSpc>
            </a:pPr>
            <a:r>
              <a:rPr lang="ru-RU" dirty="0"/>
              <a:t>Их работа прозрачна. Не нужно выполнять специальные операции, чтобы перейти от указателя к значению, на которое он указывает. Приложение, базируясь на контексте, определяет, нужно ли ему действительное значение или достаточно ссылки, и действует соответствующим образом.</a:t>
            </a:r>
          </a:p>
          <a:p>
            <a:pPr marL="449263" lvl="1" indent="-182563">
              <a:lnSpc>
                <a:spcPct val="120000"/>
              </a:lnSpc>
            </a:pPr>
            <a:r>
              <a:rPr lang="ru-RU" dirty="0"/>
              <a:t>Локаторы соответствуют типам данных, на которые они указывают. </a:t>
            </a:r>
            <a:br>
              <a:rPr lang="ru-RU" dirty="0"/>
            </a:br>
            <a:r>
              <a:rPr lang="ru-RU" dirty="0"/>
              <a:t>Существуют BLOB-локаторы, CLOB-локаторы и NCLOB-локаторы (</a:t>
            </a:r>
            <a:r>
              <a:rPr lang="ru-RU" dirty="0" err="1"/>
              <a:t>national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 </a:t>
            </a:r>
            <a:r>
              <a:rPr lang="ru-RU" dirty="0" err="1"/>
              <a:t>support</a:t>
            </a:r>
            <a:r>
              <a:rPr lang="ru-RU" dirty="0"/>
              <a:t> CLOB, CLOB поддержки национальных языков).</a:t>
            </a:r>
          </a:p>
          <a:p>
            <a:pPr marL="449263" lvl="1" indent="-182563">
              <a:lnSpc>
                <a:spcPct val="120000"/>
              </a:lnSpc>
            </a:pPr>
            <a:r>
              <a:rPr lang="ru-RU" dirty="0"/>
              <a:t>Локаторы описываются в главной программе так же, как и другие переменные, но в конце добавляется ключевое слово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AS LOCATOR</a:t>
            </a:r>
            <a:r>
              <a:rPr lang="ru-RU" dirty="0"/>
              <a:t>. Они являются типами данных, которые соответствуют SQL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INTEGER</a:t>
            </a:r>
            <a:r>
              <a:rPr lang="ru-RU" dirty="0"/>
              <a:t> или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EXACT NUMERIC</a:t>
            </a:r>
          </a:p>
          <a:p>
            <a:pPr marL="449263" lvl="1" indent="-182563">
              <a:lnSpc>
                <a:spcPct val="120000"/>
              </a:lnSpc>
            </a:pPr>
            <a:r>
              <a:rPr lang="ru-RU" dirty="0"/>
              <a:t>Локаторы остаются действительными до конца транзакции. Это так называемые </a:t>
            </a:r>
            <a:r>
              <a:rPr lang="ru-RU" dirty="0" err="1"/>
              <a:t>нефиксируемые</a:t>
            </a:r>
            <a:r>
              <a:rPr lang="ru-RU" dirty="0"/>
              <a:t> локаторы. Существуют также фиксируемые локаторы, которые действуют до конца сеанса, но они не являются частью Ядра.</a:t>
            </a:r>
          </a:p>
          <a:p>
            <a:pPr marL="449263" lvl="1" indent="-182563">
              <a:lnSpc>
                <a:spcPct val="120000"/>
              </a:lnSpc>
            </a:pPr>
            <a:r>
              <a:rPr lang="ru-RU" dirty="0"/>
              <a:t>Локаторы не действуют в течение нескольких сеансов, поэтому не возникает проблем с их хранением.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060AF-B040-9688-9B34-AECE3C9CED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Новые типы данных. LOB (большие объекты)</a:t>
            </a:r>
            <a:r>
              <a:rPr lang="en-US" dirty="0"/>
              <a:t> (</a:t>
            </a:r>
            <a:r>
              <a:rPr lang="ru-RU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F80AC1-7009-F855-0D1E-431789E39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881630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3D8C3-6670-12EF-4DAF-71B44EA3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5EEB1E-45F3-C5B1-DC5F-3C85B41B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BBB3E-876C-8C63-E105-CBB16CF44B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3"/>
          </a:xfrm>
        </p:spPr>
        <p:txBody>
          <a:bodyPr numCol="2">
            <a:normAutofit fontScale="70000" lnSpcReduction="20000"/>
          </a:bodyPr>
          <a:lstStyle/>
          <a:p>
            <a:pPr marL="266700" indent="-266700">
              <a:lnSpc>
                <a:spcPct val="120000"/>
              </a:lnSpc>
            </a:pPr>
            <a:r>
              <a:rPr lang="ru-RU" dirty="0"/>
              <a:t>Ссылки — это переменные, в которых хранится местоположение некоторого значения, а не оно само. </a:t>
            </a:r>
          </a:p>
          <a:p>
            <a:pPr marL="266700" indent="-266700">
              <a:lnSpc>
                <a:spcPct val="120000"/>
              </a:lnSpc>
            </a:pPr>
            <a:r>
              <a:rPr lang="ru-RU" dirty="0"/>
              <a:t>Под местоположением не обязательно понимается физический адрес в памяти. Эти адреса должны иметь смысл для разных компьютеров в сети.</a:t>
            </a:r>
          </a:p>
          <a:p>
            <a:pPr marL="266700" indent="-266700">
              <a:lnSpc>
                <a:spcPct val="120000"/>
              </a:lnSpc>
            </a:pPr>
            <a:r>
              <a:rPr lang="ru-RU" dirty="0"/>
              <a:t>Это сделано чтобы </a:t>
            </a:r>
          </a:p>
          <a:p>
            <a:pPr marL="666750" lvl="1" indent="-266700">
              <a:lnSpc>
                <a:spcPct val="120000"/>
              </a:lnSpc>
            </a:pPr>
            <a:r>
              <a:rPr lang="ru-RU" dirty="0"/>
              <a:t>разрешить программисту создавать ссылки на объекты, не существующие на этапе программирования (это одно из традиционных применений указателей), </a:t>
            </a:r>
          </a:p>
          <a:p>
            <a:pPr marL="666750" lvl="1" indent="-266700">
              <a:lnSpc>
                <a:spcPct val="120000"/>
              </a:lnSpc>
            </a:pPr>
            <a:r>
              <a:rPr lang="ru-RU" dirty="0"/>
              <a:t>обеспечить ссылки на большие объекты (БО) как альтернативу их прямого представления. </a:t>
            </a:r>
          </a:p>
          <a:p>
            <a:pPr marL="182563" indent="0">
              <a:lnSpc>
                <a:spcPct val="120000"/>
              </a:lnSpc>
              <a:buNone/>
            </a:pPr>
            <a:r>
              <a:rPr lang="ru-RU" dirty="0"/>
              <a:t>При таком подходе БО можно не передавать по сети и не загружать в память, до тех пор пока это действительно не потребуется.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DF192-FB48-5477-8DE7-0332E4DFBA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Новые типы данных. </a:t>
            </a:r>
            <a:r>
              <a:rPr lang="en-US" dirty="0"/>
              <a:t>Reference</a:t>
            </a:r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317B67-15A9-A428-157D-8ADE162A2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237730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47E25-1059-79B0-6D10-0F3C77CE4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CF26A6-7400-8A97-4D14-653CEC47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97A78-1366-D998-C3EB-C57C2D1733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625157"/>
          </a:xfrm>
        </p:spPr>
        <p:txBody>
          <a:bodyPr numCol="2">
            <a:normAutofit fontScale="70000" lnSpcReduction="20000"/>
          </a:bodyPr>
          <a:lstStyle/>
          <a:p>
            <a:pPr marL="266700" indent="-266700">
              <a:lnSpc>
                <a:spcPct val="120000"/>
              </a:lnSpc>
            </a:pPr>
            <a:r>
              <a:rPr lang="ru-RU" b="1" dirty="0"/>
              <a:t>Булевский</a:t>
            </a:r>
            <a:r>
              <a:rPr lang="ru-RU" dirty="0"/>
              <a:t> тип данных (</a:t>
            </a:r>
            <a:r>
              <a:rPr lang="ru-RU" b="1" dirty="0" err="1"/>
              <a:t>Boolean</a:t>
            </a:r>
            <a:r>
              <a:rPr lang="ru-RU" dirty="0"/>
              <a:t>) </a:t>
            </a:r>
            <a:br>
              <a:rPr lang="ru-RU" dirty="0"/>
            </a:br>
            <a:r>
              <a:rPr lang="ru-RU" dirty="0"/>
              <a:t>Этот тип данных теперь поддерживается. Он отличается от однобитового типа данных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BINARY</a:t>
            </a:r>
            <a:r>
              <a:rPr lang="ru-RU" dirty="0"/>
              <a:t>, потому что это булевские переменные в смысле SQL. Они могут принимать три значения —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UNKNOWN</a:t>
            </a:r>
            <a:r>
              <a:rPr lang="ru-RU" dirty="0"/>
              <a:t>,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TRUE</a:t>
            </a:r>
            <a:r>
              <a:rPr lang="ru-RU" dirty="0"/>
              <a:t> и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FALSE</a:t>
            </a:r>
            <a:r>
              <a:rPr lang="ru-RU" dirty="0"/>
              <a:t>. </a:t>
            </a:r>
          </a:p>
          <a:p>
            <a:pPr marL="266700" indent="-266700">
              <a:lnSpc>
                <a:spcPct val="120000"/>
              </a:lnSpc>
            </a:pPr>
            <a:r>
              <a:rPr lang="ru-RU" b="1" dirty="0"/>
              <a:t>Строки</a:t>
            </a:r>
            <a:r>
              <a:rPr lang="ru-RU" dirty="0"/>
              <a:t> (</a:t>
            </a:r>
            <a:r>
              <a:rPr lang="ru-RU" dirty="0" err="1"/>
              <a:t>Rows</a:t>
            </a:r>
            <a:r>
              <a:rPr lang="ru-RU" dirty="0"/>
              <a:t>) </a:t>
            </a:r>
            <a:br>
              <a:rPr lang="ru-RU" dirty="0"/>
            </a:br>
            <a:r>
              <a:rPr lang="ru-RU" dirty="0"/>
              <a:t>Теперь со строками можно обращаться как с типами данных. </a:t>
            </a:r>
          </a:p>
          <a:p>
            <a:pPr marL="266700" indent="-266700">
              <a:lnSpc>
                <a:spcPct val="120000"/>
              </a:lnSpc>
            </a:pPr>
            <a:r>
              <a:rPr lang="ru-RU" b="1" dirty="0"/>
              <a:t>Таблицы</a:t>
            </a:r>
            <a:r>
              <a:rPr lang="ru-RU" dirty="0"/>
              <a:t> (</a:t>
            </a:r>
            <a:r>
              <a:rPr lang="ru-RU" dirty="0" err="1"/>
              <a:t>Tables</a:t>
            </a:r>
            <a:r>
              <a:rPr lang="ru-RU" dirty="0"/>
              <a:t>) </a:t>
            </a:r>
            <a:br>
              <a:rPr lang="ru-RU" dirty="0"/>
            </a:br>
            <a:r>
              <a:rPr lang="ru-RU" dirty="0"/>
              <a:t>Таблица может быть типом данных. Это сделано для того, чтобы таблицы были больше похожи на классы и реляционная модель лучше согласовывалась с объектно-ориентированным подходом. </a:t>
            </a:r>
          </a:p>
          <a:p>
            <a:pPr marL="266700" indent="0">
              <a:lnSpc>
                <a:spcPct val="120000"/>
              </a:lnSpc>
              <a:buNone/>
            </a:pPr>
            <a:r>
              <a:rPr lang="ru-RU" dirty="0"/>
              <a:t>Такие таблицы называются типизированными таблицами (</a:t>
            </a:r>
            <a:r>
              <a:rPr lang="ru-RU" dirty="0" err="1"/>
              <a:t>typed</a:t>
            </a:r>
            <a:r>
              <a:rPr lang="ru-RU" dirty="0"/>
              <a:t> </a:t>
            </a:r>
            <a:r>
              <a:rPr lang="ru-RU" dirty="0" err="1"/>
              <a:t>tables</a:t>
            </a:r>
            <a:r>
              <a:rPr lang="ru-RU" dirty="0"/>
              <a:t>). Они основаны на типах данных, определяемых пользователем (UDT).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35F09-02C9-6748-26F1-38D90CCFC1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Новые типы данных. </a:t>
            </a:r>
            <a:r>
              <a:rPr lang="en-US" dirty="0"/>
              <a:t>Boolean. Rows. Tables</a:t>
            </a:r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6BFEEC-DE04-AED5-C3C6-6B4506954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1930663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DA2B7-3B78-CC73-E7E4-FBEDED381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41DDC1-30F3-B2A9-D4EE-9A191A15B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29A53-C939-D475-4620-0A110C359E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282106"/>
          </a:xfrm>
        </p:spPr>
        <p:txBody>
          <a:bodyPr numCol="2">
            <a:normAutofit fontScale="77500" lnSpcReduction="20000"/>
          </a:bodyPr>
          <a:lstStyle/>
          <a:p>
            <a:pPr marL="266700" indent="-266700">
              <a:lnSpc>
                <a:spcPct val="120000"/>
              </a:lnSpc>
            </a:pPr>
            <a:r>
              <a:rPr lang="ru-RU" b="1" dirty="0"/>
              <a:t>Массивы </a:t>
            </a:r>
            <a:r>
              <a:rPr lang="ru-RU" dirty="0"/>
              <a:t>(</a:t>
            </a:r>
            <a:r>
              <a:rPr lang="ru-RU" dirty="0" err="1"/>
              <a:t>Arrays</a:t>
            </a:r>
            <a:r>
              <a:rPr lang="ru-RU" dirty="0"/>
              <a:t>) (или совокупности — </a:t>
            </a:r>
            <a:r>
              <a:rPr lang="ru-RU" dirty="0" err="1"/>
              <a:t>collections</a:t>
            </a:r>
            <a:r>
              <a:rPr lang="ru-RU" dirty="0"/>
              <a:t>) Массив — это упорядоченный список элементов, каждый из которых принадлежит одному и тому же базовому типу, например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DATE </a:t>
            </a:r>
            <a:r>
              <a:rPr lang="ru-RU" dirty="0"/>
              <a:t>или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INTEGER</a:t>
            </a:r>
            <a:r>
              <a:rPr lang="ru-RU" dirty="0"/>
              <a:t>. </a:t>
            </a:r>
            <a:endParaRPr lang="en-US" dirty="0"/>
          </a:p>
          <a:p>
            <a:pPr marL="266700" indent="-266700">
              <a:lnSpc>
                <a:spcPct val="120000"/>
              </a:lnSpc>
            </a:pPr>
            <a:endParaRPr lang="ru-RU" dirty="0"/>
          </a:p>
          <a:p>
            <a:pPr marL="266700" indent="-266700">
              <a:lnSpc>
                <a:spcPct val="120000"/>
              </a:lnSpc>
            </a:pPr>
            <a:r>
              <a:rPr lang="ru-RU" dirty="0"/>
              <a:t>Массивы являются стандартом для многих языков программирования, но для SQL это нововведение, так как они нарушают первую нормальную форму. </a:t>
            </a:r>
          </a:p>
          <a:p>
            <a:pPr marL="266700" indent="-266700">
              <a:lnSpc>
                <a:spcPct val="120000"/>
              </a:lnSpc>
            </a:pPr>
            <a:r>
              <a:rPr lang="ru-RU" dirty="0"/>
              <a:t>Массивы будут использоваться в основном в технических и географических базах данных</a:t>
            </a:r>
            <a:r>
              <a:rPr lang="ru-RU" b="1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7FE60-11C6-171C-1783-B0056950E7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Новые типы данных. </a:t>
            </a:r>
            <a:r>
              <a:rPr lang="en-US" dirty="0"/>
              <a:t>ARRAYS</a:t>
            </a:r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E963B1-AC2A-223D-D2D4-3D54291E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133243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34CEE-94A5-2F86-5173-E93F0F1DD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1DE184-5898-FA11-E7C9-507F1CAA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5F939-9A25-2F63-0FA9-D900DC4E0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1"/>
            <a:ext cx="8542337" cy="2625157"/>
          </a:xfrm>
        </p:spPr>
        <p:txBody>
          <a:bodyPr numCol="2" spcCol="144000">
            <a:normAutofit fontScale="77500" lnSpcReduction="20000"/>
          </a:bodyPr>
          <a:lstStyle/>
          <a:p>
            <a:pPr marL="266700" indent="-266700">
              <a:lnSpc>
                <a:spcPct val="120000"/>
              </a:lnSpc>
            </a:pPr>
            <a:r>
              <a:rPr lang="ru-RU" dirty="0"/>
              <a:t>Типы, определяемые пользователем (UDT) </a:t>
            </a:r>
            <a:br>
              <a:rPr lang="en-US" dirty="0"/>
            </a:br>
            <a:r>
              <a:rPr lang="ru-RU" dirty="0"/>
              <a:t>Теперь пользователи могут определять свои собственные типы данных, </a:t>
            </a:r>
          </a:p>
          <a:p>
            <a:pPr marL="666750" lvl="1" indent="-266700">
              <a:lnSpc>
                <a:spcPct val="120000"/>
              </a:lnSpc>
            </a:pPr>
            <a:r>
              <a:rPr lang="ru-RU" dirty="0"/>
              <a:t>создавая подклассы от существующих типов </a:t>
            </a:r>
          </a:p>
          <a:p>
            <a:pPr marL="666750" lvl="1" indent="-266700">
              <a:lnSpc>
                <a:spcPct val="120000"/>
              </a:lnSpc>
            </a:pPr>
            <a:r>
              <a:rPr lang="ru-RU" dirty="0"/>
              <a:t>создавая новые структурированные типы, которые функционируют как объекты. </a:t>
            </a:r>
          </a:p>
          <a:p>
            <a:pPr marL="266700" indent="-266700">
              <a:lnSpc>
                <a:spcPct val="120000"/>
              </a:lnSpc>
            </a:pPr>
            <a:r>
              <a:rPr lang="ru-RU" dirty="0"/>
              <a:t>Наряду с определением типа пользователь может задать функции, которые могут быть применены к нему, или методы, которые включаются в тип. </a:t>
            </a:r>
          </a:p>
          <a:p>
            <a:pPr marL="266700" indent="-266700">
              <a:lnSpc>
                <a:spcPct val="120000"/>
              </a:lnSpc>
            </a:pPr>
            <a:r>
              <a:rPr lang="ru-RU" dirty="0"/>
              <a:t>Эти функции и методы можно использовать в операторах SQL, а возвращаемые ими значения — в предикатах.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80CDD-59C4-15BE-27E9-9F486A8793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Новые типы данных. </a:t>
            </a:r>
            <a:r>
              <a:rPr lang="en-US" dirty="0"/>
              <a:t>User-defined Types</a:t>
            </a:r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95A87E-5C50-DFFE-FAF2-C4A49D01A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17773985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BB8694-311D-A923-B5D4-AE7AE1AC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C9204-C904-C339-D811-680F8086A1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923678"/>
            <a:ext cx="8541643" cy="2758430"/>
          </a:xfrm>
        </p:spPr>
        <p:txBody>
          <a:bodyPr numCol="2" spcCol="144000">
            <a:noAutofit/>
          </a:bodyPr>
          <a:lstStyle/>
          <a:p>
            <a:pPr indent="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ru-RU" sz="1200" dirty="0"/>
              <a:t>Некоторые хорошо известные инструкции пересмотрены в </a:t>
            </a:r>
            <a:r>
              <a:rPr lang="en-US" sz="1200" dirty="0"/>
              <a:t>SQL99</a:t>
            </a:r>
            <a:r>
              <a:rPr lang="ru-RU" sz="1200" dirty="0"/>
              <a:t>. </a:t>
            </a:r>
            <a:r>
              <a:rPr lang="ru-RU" sz="1200" b="1" dirty="0">
                <a:solidFill>
                  <a:schemeClr val="accent1"/>
                </a:solidFill>
              </a:rPr>
              <a:t>Новые важнейшие возможности</a:t>
            </a:r>
            <a:r>
              <a:rPr lang="ru-RU" sz="1200" dirty="0">
                <a:solidFill>
                  <a:schemeClr val="accent1"/>
                </a:solidFill>
              </a:rPr>
              <a:t>: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Использование запросов как </a:t>
            </a:r>
            <a:r>
              <a:rPr lang="ru-RU" sz="1200" b="1" dirty="0"/>
              <a:t>именованных объектов </a:t>
            </a:r>
            <a:r>
              <a:rPr lang="ru-RU" sz="1200" dirty="0"/>
              <a:t>в операторах </a:t>
            </a:r>
            <a:r>
              <a:rPr lang="en-US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SELECT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Создание </a:t>
            </a:r>
            <a:r>
              <a:rPr lang="ru-RU" sz="1200" b="1" dirty="0"/>
              <a:t>таблиц по образцу других таблиц </a:t>
            </a:r>
            <a:r>
              <a:rPr lang="ru-RU" sz="1200" dirty="0"/>
              <a:t>(предложение </a:t>
            </a:r>
            <a:r>
              <a:rPr lang="en-US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LIKE </a:t>
            </a:r>
            <a:r>
              <a:rPr lang="ru-RU" sz="1200" dirty="0"/>
              <a:t> в инструкции </a:t>
            </a:r>
            <a:r>
              <a:rPr lang="en-US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CREATE TABLE</a:t>
            </a:r>
            <a:r>
              <a:rPr lang="en-US" sz="1200" dirty="0"/>
              <a:t>)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Создание для таблиц </a:t>
            </a:r>
            <a:r>
              <a:rPr lang="ru-RU" sz="1200" b="1" dirty="0"/>
              <a:t>подклассов и суперклассов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b="1" dirty="0"/>
              <a:t>Рекурсивные запросы</a:t>
            </a:r>
            <a:r>
              <a:rPr lang="ru-RU" sz="1200" dirty="0"/>
              <a:t>. Запросы, вызывающие сами себя. Они используются для разрешения циклических связей. (внешние ключи, проектирование </a:t>
            </a:r>
            <a:r>
              <a:rPr lang="en-US" sz="1200" dirty="0"/>
              <a:t>ER</a:t>
            </a:r>
            <a:r>
              <a:rPr lang="ru-RU" sz="1200" dirty="0"/>
              <a:t> диаграмм)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b="1" dirty="0"/>
              <a:t>Регулярные выражения в предикатах</a:t>
            </a:r>
            <a:r>
              <a:rPr lang="ru-RU" sz="1200" dirty="0"/>
              <a:t>. Они представляют собой компактное представление сложных текстовых операции и сравнений. Похожи на специальные символы в </a:t>
            </a:r>
            <a:r>
              <a:rPr lang="en-US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LIKE</a:t>
            </a:r>
            <a:r>
              <a:rPr lang="ru-RU" sz="1200" dirty="0"/>
              <a:t>. Но сложнее. Для их поддержки введен предикат </a:t>
            </a:r>
            <a:r>
              <a:rPr lang="en-US" sz="12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SIMILAR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b="1" dirty="0"/>
              <a:t>Предикат </a:t>
            </a:r>
            <a:r>
              <a:rPr lang="en-US" sz="12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DISTINCT FROM</a:t>
            </a:r>
            <a:r>
              <a:rPr lang="ru-RU" sz="1200" dirty="0"/>
              <a:t>. Он  отличается от </a:t>
            </a:r>
            <a:r>
              <a:rPr lang="en-US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DISTINCT</a:t>
            </a:r>
            <a:r>
              <a:rPr lang="ru-RU" sz="1200" dirty="0"/>
              <a:t> в </a:t>
            </a:r>
            <a:r>
              <a:rPr lang="en-US" sz="1200" dirty="0"/>
              <a:t>SQL</a:t>
            </a:r>
            <a:r>
              <a:rPr lang="ru-RU" sz="1200" dirty="0"/>
              <a:t> и эквивалентен операции </a:t>
            </a:r>
            <a:r>
              <a:rPr lang="en-US" sz="1200" dirty="0"/>
              <a:t>&lt;&gt;</a:t>
            </a:r>
            <a:r>
              <a:rPr lang="ru-RU" sz="1200" dirty="0"/>
              <a:t>, но применяется к целым строкам, а не к отдельным значениям.</a:t>
            </a:r>
            <a:endParaRPr lang="en-US" sz="1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04479-B517-09CA-99D2-C0F9EA42C7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Расширения инструкций </a:t>
            </a:r>
            <a:r>
              <a:rPr lang="en-US" dirty="0"/>
              <a:t>SQL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51191B-BA54-99C4-40DF-1C4EC3DD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19545295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D926-CB5B-2744-AC39-1952AA16B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E59B4F-74CB-34B4-7B2E-19D649CAE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9F405-0CA9-8F89-E672-8E89D83E5B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923678"/>
            <a:ext cx="8541643" cy="2758430"/>
          </a:xfrm>
        </p:spPr>
        <p:txBody>
          <a:bodyPr numCol="2" spcCol="144000">
            <a:normAutofit fontScale="47500" lnSpcReduction="20000"/>
          </a:bodyPr>
          <a:lstStyle/>
          <a:p>
            <a:pPr marL="182563" lvl="1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2600" b="1" dirty="0">
                <a:solidFill>
                  <a:schemeClr val="accent1"/>
                </a:solidFill>
              </a:rPr>
              <a:t>SQL 99 </a:t>
            </a:r>
            <a:r>
              <a:rPr lang="ru-RU" sz="2600" dirty="0"/>
              <a:t>добавляет к </a:t>
            </a:r>
            <a:r>
              <a:rPr lang="en-US" sz="2600" dirty="0"/>
              <a:t>SQL</a:t>
            </a:r>
            <a:r>
              <a:rPr lang="ru-RU" sz="2600" dirty="0"/>
              <a:t> возможности программирования. Эти возможности относятся в основном к разделу </a:t>
            </a:r>
            <a:r>
              <a:rPr lang="en-US" sz="2600" dirty="0"/>
              <a:t>SQL/PSM</a:t>
            </a:r>
            <a:r>
              <a:rPr lang="ru-RU" sz="2600" dirty="0"/>
              <a:t>, но некоторые попали в </a:t>
            </a:r>
            <a:r>
              <a:rPr lang="en-US" sz="2600" dirty="0"/>
              <a:t>Core (</a:t>
            </a:r>
            <a:r>
              <a:rPr lang="ru-RU" sz="2600" dirty="0"/>
              <a:t>ядро). Основные задачи, для которых нужны процедурные расширения:</a:t>
            </a:r>
          </a:p>
          <a:p>
            <a:pPr marL="182563" indent="-182563">
              <a:lnSpc>
                <a:spcPct val="120000"/>
              </a:lnSpc>
              <a:defRPr/>
            </a:pPr>
            <a:r>
              <a:rPr lang="ru-RU" sz="2300" b="1" dirty="0"/>
              <a:t>Сделать </a:t>
            </a:r>
            <a:r>
              <a:rPr lang="en-US" sz="2300" b="1" dirty="0"/>
              <a:t>SQL</a:t>
            </a:r>
            <a:r>
              <a:rPr lang="ru-RU" sz="2300" b="1" dirty="0"/>
              <a:t> вычислительно полным языком.</a:t>
            </a:r>
            <a:r>
              <a:rPr lang="ru-RU" sz="2300" dirty="0"/>
              <a:t> Не нужно прибегать к встроенным языкам для описания алгоритмов.</a:t>
            </a:r>
            <a:br>
              <a:rPr lang="ru-RU" sz="2300" dirty="0"/>
            </a:br>
            <a:r>
              <a:rPr lang="ru-RU" sz="2300" dirty="0"/>
              <a:t>Расширения делятся на 2 класса:</a:t>
            </a:r>
          </a:p>
          <a:p>
            <a:pPr marL="357188" lvl="1" indent="-174625">
              <a:lnSpc>
                <a:spcPct val="120000"/>
              </a:lnSpc>
              <a:defRPr/>
            </a:pPr>
            <a:r>
              <a:rPr lang="ru-RU" sz="2100" dirty="0"/>
              <a:t>Операторы передачи управления </a:t>
            </a:r>
            <a:r>
              <a:rPr lang="en-US" sz="2100" dirty="0"/>
              <a:t>(</a:t>
            </a:r>
            <a:r>
              <a:rPr lang="ru-RU" sz="2100" dirty="0"/>
              <a:t>условный переход, циклы и др.)</a:t>
            </a:r>
          </a:p>
          <a:p>
            <a:pPr marL="357188" lvl="1" indent="-174625">
              <a:lnSpc>
                <a:spcPct val="120000"/>
              </a:lnSpc>
              <a:defRPr/>
            </a:pPr>
            <a:r>
              <a:rPr lang="ru-RU" sz="2100" dirty="0"/>
              <a:t>Процедуры  и функции</a:t>
            </a:r>
            <a:endParaRPr lang="en-US" sz="2100" dirty="0"/>
          </a:p>
          <a:p>
            <a:pPr marL="182563" indent="-182563">
              <a:lnSpc>
                <a:spcPct val="120000"/>
              </a:lnSpc>
              <a:defRPr/>
            </a:pPr>
            <a:r>
              <a:rPr lang="ru-RU" sz="2400" b="1" dirty="0"/>
              <a:t>Сделать так, чтобы </a:t>
            </a:r>
            <a:r>
              <a:rPr lang="en-US" sz="2400" b="1" dirty="0"/>
              <a:t>SQL </a:t>
            </a:r>
            <a:r>
              <a:rPr lang="ru-RU" sz="2400" b="1" dirty="0"/>
              <a:t>мог служить хранилищем для ОО языков, особенно </a:t>
            </a:r>
            <a:r>
              <a:rPr lang="en-US" sz="2400" b="1" dirty="0"/>
              <a:t>Java</a:t>
            </a:r>
            <a:br>
              <a:rPr lang="ru-RU" sz="2400" b="1" dirty="0"/>
            </a:br>
            <a:r>
              <a:rPr lang="ru-RU" sz="2300" dirty="0"/>
              <a:t>Нужно уметь хранить объекты, которые содержат как атрибуты, так и методы</a:t>
            </a:r>
          </a:p>
          <a:p>
            <a:pPr marL="182563" indent="-182563">
              <a:lnSpc>
                <a:spcPct val="120000"/>
              </a:lnSpc>
              <a:defRPr/>
            </a:pPr>
            <a:r>
              <a:rPr lang="ru-RU" sz="2400" b="1" dirty="0"/>
              <a:t>Обеспечить возможность расширения </a:t>
            </a:r>
            <a:r>
              <a:rPr lang="en-US" sz="2400" b="1" dirty="0"/>
              <a:t>SQL</a:t>
            </a:r>
            <a:r>
              <a:rPr lang="ru-RU" sz="2400" dirty="0"/>
              <a:t>. Возможность вызывать из </a:t>
            </a:r>
            <a:r>
              <a:rPr lang="en-US" sz="2400" dirty="0"/>
              <a:t>SQL</a:t>
            </a:r>
            <a:r>
              <a:rPr lang="ru-RU" sz="2400" dirty="0"/>
              <a:t> программы на других языках, таких как С</a:t>
            </a:r>
            <a:r>
              <a:rPr lang="en-US" sz="2400" dirty="0"/>
              <a:t> </a:t>
            </a:r>
            <a:r>
              <a:rPr lang="ru-RU" sz="2400" dirty="0"/>
              <a:t>или </a:t>
            </a:r>
            <a:r>
              <a:rPr lang="en-US" sz="2400" dirty="0"/>
              <a:t>Java</a:t>
            </a:r>
            <a:r>
              <a:rPr lang="ru-RU" sz="2400" dirty="0"/>
              <a:t>. Введены специальные операторы </a:t>
            </a:r>
            <a:r>
              <a:rPr lang="en-US" sz="2400" dirty="0"/>
              <a:t>CALL</a:t>
            </a:r>
            <a:r>
              <a:rPr lang="ru-RU" sz="2400" dirty="0"/>
              <a:t> и </a:t>
            </a:r>
            <a:r>
              <a:rPr lang="en-US" sz="2400" dirty="0"/>
              <a:t>RETURN</a:t>
            </a:r>
            <a:r>
              <a:rPr lang="ru-RU" sz="2400" dirty="0"/>
              <a:t>  </a:t>
            </a:r>
          </a:p>
          <a:p>
            <a:pPr marL="182563" indent="-182563">
              <a:lnSpc>
                <a:spcPct val="120000"/>
              </a:lnSpc>
              <a:defRPr/>
            </a:pPr>
            <a:r>
              <a:rPr lang="ru-RU" sz="2400" b="1" dirty="0"/>
              <a:t>Обеспечить правильную работу с типами данных, определяемыми пользователем</a:t>
            </a:r>
            <a:r>
              <a:rPr lang="ru-RU" sz="2400" dirty="0"/>
              <a:t>. </a:t>
            </a:r>
            <a:endParaRPr lang="en-US" sz="2400" b="1" dirty="0"/>
          </a:p>
          <a:p>
            <a:pPr marL="182563" indent="-182563">
              <a:lnSpc>
                <a:spcPct val="120000"/>
              </a:lnSpc>
              <a:defRPr/>
            </a:pPr>
            <a:r>
              <a:rPr lang="ru-RU" sz="2400" b="1" dirty="0"/>
              <a:t>Обеспечить возможность создания триггеров базы данных</a:t>
            </a:r>
            <a:r>
              <a:rPr lang="ru-RU" sz="2400" dirty="0"/>
              <a:t>. Часть коммерческих СУБД это уже делала.</a:t>
            </a: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EAF69-D0AB-4D09-625B-2AD07DAB81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Процедурные расширения </a:t>
            </a:r>
            <a:r>
              <a:rPr lang="en-US" dirty="0"/>
              <a:t>SQL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792B6A-1CC1-33BC-56F6-CCB3DE7F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4285524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2F33-8239-EAF1-0CF6-243E06201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39455C-8CB4-2277-9027-6862B9BD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C6179-CD4C-913E-2B2D-AE525EAB71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07654"/>
            <a:ext cx="8541643" cy="2974454"/>
          </a:xfrm>
        </p:spPr>
        <p:txBody>
          <a:bodyPr numCol="2" spcCol="144000">
            <a:normAutofit lnSpcReduction="10000"/>
          </a:bodyPr>
          <a:lstStyle/>
          <a:p>
            <a:pPr marL="182563" lvl="1" indent="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ru-RU" sz="1200" dirty="0"/>
              <a:t>Это уровень расширенного соответствия – </a:t>
            </a:r>
            <a:r>
              <a:rPr lang="ru-RU" sz="1200" b="1" dirty="0">
                <a:solidFill>
                  <a:schemeClr val="accent1"/>
                </a:solidFill>
              </a:rPr>
              <a:t>базовая поддержка объектов</a:t>
            </a:r>
            <a:r>
              <a:rPr lang="ru-RU" sz="1200" dirty="0">
                <a:solidFill>
                  <a:schemeClr val="accent1"/>
                </a:solidFill>
              </a:rPr>
              <a:t>:</a:t>
            </a:r>
          </a:p>
          <a:p>
            <a:pPr marL="182563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Одной из трудных задач при создании </a:t>
            </a:r>
            <a:r>
              <a:rPr lang="en-US" sz="1200" dirty="0"/>
              <a:t>SQL 99 </a:t>
            </a:r>
            <a:r>
              <a:rPr lang="ru-RU" sz="1200" dirty="0"/>
              <a:t>было совмещение 2–х подходов: реляционного и объектного</a:t>
            </a:r>
          </a:p>
          <a:p>
            <a:pPr marL="182563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В БД доминирует реляционный подход, в программировании - объектный</a:t>
            </a:r>
            <a:endParaRPr lang="en-US" sz="1200" dirty="0"/>
          </a:p>
          <a:p>
            <a:pPr marL="182563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Объектный подход – инкапсуляция (черный ящик), реляционный – универсальность обработки</a:t>
            </a:r>
          </a:p>
          <a:p>
            <a:pPr marL="182563" indent="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ru-RU" sz="1200" b="1" dirty="0"/>
              <a:t>Выработанный подход заключается в следующем:</a:t>
            </a:r>
          </a:p>
          <a:p>
            <a:pPr marL="182563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Пользователь может определять собственный тип данных в смысле ООП, который имеет и данные и методы. Основные методы создаются автоматически</a:t>
            </a:r>
          </a:p>
          <a:p>
            <a:pPr marL="182563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Таблицу также можно определить как тип данных.  Для этого нужно создать таблицу на основе типа данных, определенного пользователем</a:t>
            </a:r>
          </a:p>
          <a:p>
            <a:pPr marL="182563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Методы определяются как функции специального вида, ассоциированные с объектом.</a:t>
            </a:r>
          </a:p>
          <a:p>
            <a:pPr marL="182563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Процедуры и функции можно </a:t>
            </a:r>
            <a:r>
              <a:rPr lang="ru-RU" sz="1200" i="1" dirty="0"/>
              <a:t>переопределять. </a:t>
            </a:r>
            <a:r>
              <a:rPr lang="ru-RU" sz="1200" dirty="0"/>
              <a:t>То есть может существовать несколько вариантов одной и той же процедуры с одинаковым именем и разными параметрами.</a:t>
            </a:r>
          </a:p>
          <a:p>
            <a:pPr marL="182563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Можно создавать массивы типа, определенного пользователем и ссылки на массивы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B2F5E-6A7F-68AC-6DE2-F6DD8671AF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Интеграция объектов и реляционных БД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75293E-818D-830F-21BB-862EC3347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2584282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081EF-552E-1CC8-9C10-D044B249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55878-38B8-20CC-3009-ADCC4946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064F9-C413-D8EF-2EFF-19799F7DBF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879714"/>
          </a:xfrm>
        </p:spPr>
        <p:txBody>
          <a:bodyPr numCol="2" spcCol="144000">
            <a:normAutofit fontScale="40000" lnSpcReduction="20000"/>
          </a:bodyPr>
          <a:lstStyle/>
          <a:p>
            <a:pPr marL="182563" indent="-182563">
              <a:lnSpc>
                <a:spcPct val="120000"/>
              </a:lnSpc>
              <a:defRPr/>
            </a:pPr>
            <a:r>
              <a:rPr lang="ru-RU" sz="2800" dirty="0"/>
              <a:t>Тип, определенный пользователем, является объектом базы данных и хранится в некоторой схеме БД</a:t>
            </a:r>
          </a:p>
          <a:p>
            <a:pPr marL="182563" indent="-182563">
              <a:lnSpc>
                <a:spcPct val="120000"/>
              </a:lnSpc>
              <a:defRPr/>
            </a:pPr>
            <a:r>
              <a:rPr lang="ru-RU" sz="2800" dirty="0"/>
              <a:t>Используются инструкции </a:t>
            </a:r>
            <a:r>
              <a:rPr lang="en-US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CREATE TYPE</a:t>
            </a:r>
            <a:r>
              <a:rPr lang="ru-RU" sz="2800" dirty="0"/>
              <a:t>, </a:t>
            </a:r>
            <a:r>
              <a:rPr lang="en-US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DROP TYPE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/>
              <a:t>и </a:t>
            </a:r>
            <a:r>
              <a:rPr lang="en-US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ALTER TYPE</a:t>
            </a:r>
            <a:r>
              <a:rPr lang="ru-RU" sz="2800" dirty="0"/>
              <a:t>. </a:t>
            </a:r>
          </a:p>
          <a:p>
            <a:pPr marL="182563" indent="-182563">
              <a:lnSpc>
                <a:spcPct val="120000"/>
              </a:lnSpc>
              <a:defRPr/>
            </a:pPr>
            <a:r>
              <a:rPr lang="ru-RU" sz="2800" dirty="0"/>
              <a:t>Пользователь может определить 2 категории типов: </a:t>
            </a:r>
            <a:r>
              <a:rPr lang="ru-RU" sz="2800" b="1" dirty="0"/>
              <a:t>простые и структурированные</a:t>
            </a:r>
          </a:p>
          <a:p>
            <a:pPr marL="182563" indent="-182563">
              <a:lnSpc>
                <a:spcPct val="120000"/>
              </a:lnSpc>
              <a:defRPr/>
            </a:pPr>
            <a:r>
              <a:rPr lang="ru-RU" sz="2800" b="1" dirty="0"/>
              <a:t>Простые типы </a:t>
            </a:r>
            <a:r>
              <a:rPr lang="ru-RU" sz="2800" dirty="0"/>
              <a:t>работают как уточнения типов данных и не поддерживают большинство свойств объектов: основан на стандартном типе, не может быть подклассом, не создает экземпляров </a:t>
            </a:r>
          </a:p>
          <a:p>
            <a:pPr marL="182563" indent="-182563">
              <a:lnSpc>
                <a:spcPct val="120000"/>
              </a:lnSpc>
              <a:defRPr/>
            </a:pPr>
            <a:r>
              <a:rPr lang="ru-RU" sz="2800" b="1" dirty="0"/>
              <a:t>Структурированные типы </a:t>
            </a:r>
            <a:r>
              <a:rPr lang="ru-RU" sz="2800" dirty="0"/>
              <a:t>состоят из нескольких атрибутов: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CREATE TYPE </a:t>
            </a:r>
            <a:r>
              <a:rPr lang="en-US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Person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AS</a:t>
            </a:r>
            <a:b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800" b="1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fname</a:t>
            </a:r>
            <a: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VARCHAR</a:t>
            </a:r>
            <a:r>
              <a:rPr lang="en-US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20</a:t>
            </a:r>
            <a:r>
              <a:rPr lang="en-US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),</a:t>
            </a:r>
            <a:b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800" b="1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lname</a:t>
            </a:r>
            <a: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VARCHAR</a:t>
            </a:r>
            <a:r>
              <a:rPr lang="en-US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20</a:t>
            </a:r>
            <a:r>
              <a:rPr lang="en-US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),</a:t>
            </a:r>
            <a:b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address</a:t>
            </a:r>
            <a: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VARCHAR</a:t>
            </a:r>
            <a:r>
              <a:rPr lang="en-US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20</a:t>
            </a:r>
            <a:r>
              <a:rPr lang="en-US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),</a:t>
            </a:r>
            <a:b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</a:t>
            </a:r>
            <a: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BINARY</a:t>
            </a:r>
            <a:r>
              <a:rPr lang="en-US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  <a:b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NOT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INSTANTIABLE</a:t>
            </a:r>
            <a:b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NOT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FINAL</a:t>
            </a:r>
            <a:r>
              <a:rPr 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  <a:p>
            <a:pPr marL="357188" lvl="1" indent="-174625">
              <a:lnSpc>
                <a:spcPct val="120000"/>
              </a:lnSpc>
              <a:spcBef>
                <a:spcPts val="1000"/>
              </a:spcBef>
              <a:buClr>
                <a:schemeClr val="bg2"/>
              </a:buClr>
              <a:buSzPct val="75000"/>
              <a:defRPr/>
            </a:pPr>
            <a:r>
              <a:rPr lang="ru-RU" sz="2700" b="1" dirty="0"/>
              <a:t>Запрещено создание экземпляров этого типа (</a:t>
            </a:r>
            <a:r>
              <a:rPr lang="en-US" sz="27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NOT INSTANTIABLE</a:t>
            </a:r>
            <a:r>
              <a:rPr lang="ru-RU" sz="2700" b="1" dirty="0"/>
              <a:t>), так как намереваемся использовать его как абстрактный супер­класс.</a:t>
            </a:r>
          </a:p>
          <a:p>
            <a:pPr marL="357188" lvl="1" indent="-174625">
              <a:lnSpc>
                <a:spcPct val="120000"/>
              </a:lnSpc>
              <a:spcBef>
                <a:spcPts val="1000"/>
              </a:spcBef>
              <a:buClr>
                <a:schemeClr val="bg2"/>
              </a:buClr>
              <a:buSzPct val="75000"/>
              <a:defRPr/>
            </a:pPr>
            <a:r>
              <a:rPr lang="ru-RU" sz="2700" b="1" dirty="0"/>
              <a:t>Он не является финальным (</a:t>
            </a:r>
            <a:r>
              <a:rPr lang="en-US" sz="27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NOT FINAL</a:t>
            </a:r>
            <a:r>
              <a:rPr lang="ru-RU" sz="2700" b="1" dirty="0"/>
              <a:t>), так как собираемся производить от него подклассы.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CACB3-EAC0-8D54-C968-0C01A5B156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Типы, определяемые пользователем 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D1BE-1AE9-BF78-0BAE-BF64E166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11968856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912E1-B32F-0BD3-D64B-48F7E74B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C4534D-C617-D165-ECB0-E8EF4596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4CC36-C706-73C4-8E99-C808646A25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879714"/>
          </a:xfrm>
        </p:spPr>
        <p:txBody>
          <a:bodyPr numCol="2" spcCol="144000"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ru-RU" altLang="ru-RU" sz="2800" dirty="0"/>
              <a:t>Подкласс </a:t>
            </a:r>
            <a:r>
              <a:rPr lang="en-US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Student</a:t>
            </a:r>
            <a:r>
              <a:rPr lang="en-US" altLang="ru-RU" sz="2800" dirty="0"/>
              <a:t> </a:t>
            </a:r>
            <a:r>
              <a:rPr lang="ru-RU" altLang="ru-RU" sz="2800" dirty="0"/>
              <a:t>класса </a:t>
            </a:r>
            <a:r>
              <a:rPr lang="en-US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Person</a:t>
            </a:r>
            <a:r>
              <a:rPr lang="en-US" altLang="ru-RU" sz="2800" dirty="0"/>
              <a:t> </a:t>
            </a:r>
            <a:r>
              <a:rPr lang="ru-RU" altLang="ru-RU" sz="2800" dirty="0"/>
              <a:t>создается следующим образом</a:t>
            </a:r>
          </a:p>
          <a:p>
            <a:pPr marL="357188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ru-RU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CREATE TYPE </a:t>
            </a:r>
            <a:r>
              <a:rPr lang="en-US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Student </a:t>
            </a:r>
            <a:r>
              <a:rPr lang="en-US" altLang="ru-RU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UNDER</a:t>
            </a:r>
            <a:r>
              <a:rPr lang="ru-RU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Person </a:t>
            </a:r>
            <a:r>
              <a:rPr lang="en-US" altLang="ru-RU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AS</a:t>
            </a:r>
            <a:endParaRPr lang="ru-RU" altLang="ru-RU" sz="2800" b="1" dirty="0">
              <a:solidFill>
                <a:schemeClr val="accent1">
                  <a:lumMod val="75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357188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sz="2800" b="1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gradlevel</a:t>
            </a:r>
            <a:r>
              <a:rPr lang="en-US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800" b="1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INTEGER</a:t>
            </a:r>
            <a:r>
              <a:rPr lang="en-US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  <a:endParaRPr lang="ru-RU" altLang="ru-RU" sz="28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357188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INSTANTIABLE</a:t>
            </a:r>
            <a:endParaRPr lang="ru-RU" altLang="ru-RU" sz="2800" b="1" dirty="0">
              <a:solidFill>
                <a:schemeClr val="accent1">
                  <a:lumMod val="75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357188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FINAL</a:t>
            </a:r>
            <a:r>
              <a:rPr lang="en-US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endParaRPr lang="ru-RU" altLang="ru-RU" sz="28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ru-RU" altLang="ru-RU" sz="2800" dirty="0"/>
              <a:t>Этот класс имеет свойство </a:t>
            </a:r>
            <a:r>
              <a:rPr lang="en-US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INSTANTIABLE</a:t>
            </a:r>
            <a:r>
              <a:rPr lang="en-US" altLang="ru-RU" sz="2800" dirty="0"/>
              <a:t>, </a:t>
            </a:r>
            <a:r>
              <a:rPr lang="ru-RU" altLang="ru-RU" sz="2800" dirty="0"/>
              <a:t>т</a:t>
            </a:r>
            <a:r>
              <a:rPr lang="en-US" altLang="ru-RU" sz="2800" dirty="0"/>
              <a:t>. </a:t>
            </a:r>
            <a:r>
              <a:rPr lang="ru-RU" altLang="ru-RU" sz="2800" dirty="0"/>
              <a:t>е</a:t>
            </a:r>
            <a:r>
              <a:rPr lang="en-US" altLang="ru-RU" sz="2800" dirty="0"/>
              <a:t>. </a:t>
            </a:r>
            <a:r>
              <a:rPr lang="ru-RU" altLang="ru-RU" sz="2800" dirty="0"/>
              <a:t>можно создавать его экземпляры</a:t>
            </a:r>
            <a:r>
              <a:rPr lang="en-US" altLang="ru-RU" sz="2800" dirty="0"/>
              <a:t>. </a:t>
            </a:r>
            <a:r>
              <a:rPr lang="ru-RU" altLang="ru-RU" sz="2800" dirty="0"/>
              <a:t>Атрибуты </a:t>
            </a:r>
            <a:r>
              <a:rPr lang="en-US" altLang="ru-RU" sz="2800" b="1" dirty="0" err="1"/>
              <a:t>fname</a:t>
            </a:r>
            <a:r>
              <a:rPr lang="ru-RU" altLang="ru-RU" sz="2800" b="1" dirty="0"/>
              <a:t>, </a:t>
            </a:r>
            <a:r>
              <a:rPr lang="en-US" altLang="ru-RU" sz="2800" b="1" dirty="0" err="1"/>
              <a:t>lname</a:t>
            </a:r>
            <a:r>
              <a:rPr lang="en-US" altLang="ru-RU" sz="2800" b="1" dirty="0"/>
              <a:t> </a:t>
            </a:r>
            <a:r>
              <a:rPr lang="ru-RU" altLang="ru-RU" sz="2800" dirty="0"/>
              <a:t>и т. д., наследуются из суперкласса.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ru-RU" altLang="ru-RU" sz="2800" dirty="0"/>
              <a:t>Для создания экземпляров класса используется метод-конструктор, который был создан автоматически. Например:</a:t>
            </a: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r>
              <a:rPr lang="en-US" altLang="ru-RU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DECLARE</a:t>
            </a:r>
            <a:r>
              <a:rPr lang="ru-RU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</a:t>
            </a:r>
            <a:r>
              <a:rPr lang="ru-RU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 </a:t>
            </a:r>
            <a:r>
              <a:rPr lang="en-US" altLang="ru-RU" sz="2800" b="1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Student</a:t>
            </a:r>
            <a:r>
              <a:rPr lang="en-US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endParaRPr lang="ru-RU" altLang="ru-RU" sz="28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r>
              <a:rPr lang="en-US" altLang="ru-RU" sz="28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  <a:r>
              <a:rPr lang="ru-RU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</a:t>
            </a:r>
            <a:r>
              <a:rPr lang="ru-RU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</a:t>
            </a:r>
            <a:r>
              <a:rPr lang="en-US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Student</a:t>
            </a:r>
            <a:r>
              <a:rPr lang="ru-RU" altLang="ru-RU" sz="28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();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E0B23-ED98-B9E8-CC6A-034269B347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Типы, определяемые пользователем. Подкласс 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5B4541-69F4-17C5-F186-37FEA81DA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2476389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5D448-F208-F00C-C711-667B1FD4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9A8FAD-B8C6-B3B5-3AAD-91C29B4A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2BEE2-82BC-8644-968F-AE2A290A41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879714"/>
          </a:xfrm>
        </p:spPr>
        <p:txBody>
          <a:bodyPr numCol="2" spcCol="144000">
            <a:normAutofit fontScale="55000" lnSpcReduction="20000"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ru-RU" altLang="ru-RU" sz="2800" dirty="0"/>
              <a:t>В этих инструкциях используются возможности базовой поддержки объектов, а именно использование переменных, которые могут иметь определенный пользователем тип.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ru-RU" altLang="ru-RU" sz="2800" dirty="0"/>
              <a:t>Инструкция </a:t>
            </a:r>
            <a:r>
              <a:rPr lang="ru-RU" alt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DECLARE</a:t>
            </a:r>
            <a:r>
              <a:rPr lang="ru-RU" altLang="ru-RU" sz="2800" dirty="0"/>
              <a:t> создает переменную для хранения нового экземпляра.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ru-RU" altLang="ru-RU" sz="2800" dirty="0"/>
              <a:t>Конструктор для типа </a:t>
            </a:r>
            <a:r>
              <a:rPr lang="ru-RU" altLang="ru-RU" sz="28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Student</a:t>
            </a:r>
            <a:r>
              <a:rPr lang="ru-RU" altLang="ru-RU" sz="2800" dirty="0"/>
              <a:t> имеет вид </a:t>
            </a:r>
            <a:r>
              <a:rPr lang="ru-RU" altLang="ru-RU" sz="28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Student</a:t>
            </a:r>
            <a: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  <a:r>
              <a:rPr lang="ru-RU" altLang="ru-RU" sz="2800" dirty="0"/>
              <a:t>.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ru-RU" altLang="ru-RU" sz="2800" dirty="0"/>
              <a:t>Таким образом, инструкция </a:t>
            </a:r>
            <a:r>
              <a:rPr lang="ru-RU" alt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  <a:r>
              <a:rPr lang="ru-RU" altLang="ru-RU" sz="2800" dirty="0"/>
              <a:t> создает новый объект типа </a:t>
            </a:r>
            <a:r>
              <a:rPr lang="ru-RU" altLang="ru-RU" sz="28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Student</a:t>
            </a:r>
            <a:r>
              <a:rPr lang="ru-RU" altLang="ru-RU" sz="2800" dirty="0"/>
              <a:t> и сохраняет его в переменной </a:t>
            </a:r>
            <a: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stud1</a:t>
            </a:r>
            <a:r>
              <a:rPr lang="ru-RU" altLang="ru-RU" sz="2800" dirty="0"/>
              <a:t>.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ru-RU" altLang="ru-RU" sz="2800" dirty="0"/>
              <a:t>Значения переменным можно присвоить с помощью встроенных методов (</a:t>
            </a:r>
            <a:r>
              <a:rPr lang="ru-RU" altLang="ru-RU" sz="2800" dirty="0" err="1"/>
              <a:t>mutator</a:t>
            </a:r>
            <a:r>
              <a:rPr lang="ru-RU" altLang="ru-RU" sz="2800" dirty="0"/>
              <a:t>), которые названы по именам атрибутов, на которые они действуют.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ru-RU" altLang="ru-RU" sz="2800" dirty="0"/>
              <a:t>Например:</a:t>
            </a:r>
          </a:p>
          <a:p>
            <a:pPr marL="357188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ru-RU" alt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  <a: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stud1 =</a:t>
            </a:r>
            <a:b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altLang="ru-RU" sz="28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Student.fname</a:t>
            </a:r>
            <a: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altLang="ru-RU" sz="28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altLang="ru-RU" sz="28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Владимир'</a:t>
            </a:r>
            <a: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);</a:t>
            </a:r>
          </a:p>
          <a:p>
            <a:pPr marL="357188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ru-RU" alt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  <a: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stud1 =</a:t>
            </a:r>
            <a:b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altLang="ru-RU" sz="28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Student.lname</a:t>
            </a:r>
            <a: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altLang="ru-RU" sz="28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</a:t>
            </a:r>
            <a:r>
              <a:rPr lang="ru-RU" altLang="ru-RU" sz="28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Соколов'</a:t>
            </a:r>
            <a:r>
              <a:rPr lang="ru-RU" alt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ru-RU" altLang="ru-RU" sz="28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AC117-67B3-659F-C07C-56F0738E71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Типы, определяемые пользователем. </a:t>
            </a:r>
            <a:r>
              <a:rPr lang="en-US" dirty="0"/>
              <a:t>DECLARE </a:t>
            </a:r>
            <a:r>
              <a:rPr lang="ru-RU" dirty="0"/>
              <a:t>и </a:t>
            </a:r>
            <a:r>
              <a:rPr lang="en-US" dirty="0"/>
              <a:t>SET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A9B8A8-D55D-D2AE-E942-39B83C9A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10979420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3303C-CF91-974F-620B-30F716349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CBB8A8-E6C6-C2F7-6031-66DC934F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DEDC0-FE69-7D7C-8216-EF5C1F0B88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879714"/>
          </a:xfrm>
        </p:spPr>
        <p:txBody>
          <a:bodyPr numCol="2" spcCol="144000">
            <a:normAutofit fontScale="40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4000" dirty="0"/>
              <a:t>Чтобы сохранить эту информацию в базе данных, надо использовать инструкцию </a:t>
            </a:r>
            <a:r>
              <a:rPr lang="en-US" sz="4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INSERT</a:t>
            </a:r>
            <a:r>
              <a:rPr lang="ru-RU" sz="4000" dirty="0"/>
              <a:t>, например:</a:t>
            </a:r>
          </a:p>
          <a:p>
            <a:pPr marL="357188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INSERT INTO</a:t>
            </a:r>
            <a:r>
              <a:rPr lang="en-US" sz="4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Students</a:t>
            </a:r>
            <a:br>
              <a:rPr lang="ru-RU" sz="4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4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VALUES</a:t>
            </a:r>
            <a:r>
              <a:rPr lang="en-US" sz="4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(stud1.fname, stud1.lname);</a:t>
            </a:r>
            <a:endParaRPr lang="ru-RU" sz="40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20000"/>
              </a:lnSpc>
              <a:defRPr/>
            </a:pPr>
            <a:r>
              <a:rPr lang="ru-RU" sz="4000" dirty="0"/>
              <a:t>Ранее о таблице </a:t>
            </a:r>
            <a:r>
              <a:rPr lang="en-US" sz="4000" dirty="0"/>
              <a:t>Students </a:t>
            </a:r>
            <a:r>
              <a:rPr lang="ru-RU" sz="4000" dirty="0"/>
              <a:t>ничего не говорилось. Была ли она создана стандартным образом с помощью инструкции 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CREATE</a:t>
            </a:r>
            <a:r>
              <a:rPr lang="ru-RU" sz="4000" dirty="0"/>
              <a:t>? </a:t>
            </a:r>
            <a:endParaRPr lang="en-US" sz="4000" dirty="0"/>
          </a:p>
          <a:p>
            <a:pPr>
              <a:lnSpc>
                <a:spcPct val="120000"/>
              </a:lnSpc>
              <a:defRPr/>
            </a:pPr>
            <a:r>
              <a:rPr lang="ru-RU" sz="4000" dirty="0"/>
              <a:t>Можно поступить и так, но также можно создать ее сразу на основе типа </a:t>
            </a:r>
            <a:r>
              <a:rPr lang="en-US" sz="4000" dirty="0"/>
              <a:t>Student</a:t>
            </a:r>
            <a:r>
              <a:rPr lang="ru-RU" sz="4000" dirty="0"/>
              <a:t>.</a:t>
            </a:r>
          </a:p>
          <a:p>
            <a:pPr>
              <a:lnSpc>
                <a:spcPct val="120000"/>
              </a:lnSpc>
              <a:defRPr/>
            </a:pPr>
            <a:r>
              <a:rPr lang="ru-RU" sz="4000" dirty="0"/>
              <a:t>Синтаксис оператора 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CREATE</a:t>
            </a:r>
            <a:r>
              <a:rPr lang="en-US" sz="4000" dirty="0"/>
              <a:t> </a:t>
            </a:r>
            <a:r>
              <a:rPr lang="ru-RU" sz="4000" dirty="0"/>
              <a:t>для создания </a:t>
            </a:r>
            <a:r>
              <a:rPr lang="ru-RU" sz="4000" u="sng" dirty="0"/>
              <a:t>типизированной</a:t>
            </a:r>
            <a:r>
              <a:rPr lang="ru-RU" sz="4000" dirty="0"/>
              <a:t> таблицы 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4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CREATE</a:t>
            </a:r>
            <a:r>
              <a:rPr lang="en-US" sz="4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TABLE</a:t>
            </a:r>
            <a:r>
              <a:rPr lang="en-US" sz="4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Students 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OF</a:t>
            </a:r>
            <a:br>
              <a:rPr lang="ru-RU" sz="4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4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4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Student;</a:t>
            </a:r>
            <a:endParaRPr lang="ru-RU" sz="40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ru-RU" altLang="ru-RU" sz="28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BA0E9-339F-9089-E42D-8F180D31D1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Типы, определяемые пользователем. </a:t>
            </a:r>
            <a:r>
              <a:rPr lang="en-US" dirty="0"/>
              <a:t>Insert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B66F4C-5DF1-A9D1-52D2-346DCD462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12614484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318A-6FB6-687D-EEF2-343CFF718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A42C33-70C6-07BA-4A24-BDBEA32B6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72AB7-C404-4B6E-E828-5FD1D3693F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879714"/>
          </a:xfrm>
        </p:spPr>
        <p:txBody>
          <a:bodyPr numCol="2" spcCol="144000">
            <a:normAutofit fontScale="70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У типов данных помимо методов </a:t>
            </a:r>
            <a:r>
              <a:rPr lang="en-US" dirty="0">
                <a:solidFill>
                  <a:srgbClr val="C00000"/>
                </a:solidFill>
              </a:rPr>
              <a:t>mutator</a:t>
            </a:r>
            <a:r>
              <a:rPr lang="ru-RU" dirty="0"/>
              <a:t>, предназначенных для изменения значения каждого атрибута, есть методы </a:t>
            </a:r>
            <a:r>
              <a:rPr lang="en-US" dirty="0">
                <a:solidFill>
                  <a:srgbClr val="C00000"/>
                </a:solidFill>
              </a:rPr>
              <a:t>observer</a:t>
            </a:r>
            <a:r>
              <a:rPr lang="ru-RU" dirty="0"/>
              <a:t> (так же имеющие имя атрибута), служащие для извлечения этих значений.</a:t>
            </a:r>
            <a:endParaRPr lang="en-US" dirty="0"/>
          </a:p>
          <a:p>
            <a:pPr>
              <a:lnSpc>
                <a:spcPct val="120000"/>
              </a:lnSpc>
              <a:defRPr/>
            </a:pPr>
            <a:r>
              <a:rPr lang="ru-RU" dirty="0"/>
              <a:t>Подобно методу </a:t>
            </a:r>
            <a:r>
              <a:rPr lang="en-US" dirty="0">
                <a:solidFill>
                  <a:srgbClr val="C00000"/>
                </a:solidFill>
              </a:rPr>
              <a:t>mutator</a:t>
            </a:r>
            <a:r>
              <a:rPr lang="ru-RU" dirty="0"/>
              <a:t>, метод </a:t>
            </a:r>
            <a:r>
              <a:rPr lang="en-US" dirty="0">
                <a:solidFill>
                  <a:srgbClr val="C00000"/>
                </a:solidFill>
              </a:rPr>
              <a:t>observer</a:t>
            </a:r>
            <a:r>
              <a:rPr lang="en-US" dirty="0"/>
              <a:t> </a:t>
            </a:r>
            <a:r>
              <a:rPr lang="ru-RU" dirty="0"/>
              <a:t>автоматически получает имя атрибута, с которым он работает. </a:t>
            </a:r>
            <a:endParaRPr lang="en-US" dirty="0"/>
          </a:p>
          <a:p>
            <a:pPr>
              <a:lnSpc>
                <a:spcPct val="120000"/>
              </a:lnSpc>
              <a:defRPr/>
            </a:pPr>
            <a:r>
              <a:rPr lang="ru-RU" dirty="0"/>
              <a:t>В зависимости от использования метода СУБД определяет:</a:t>
            </a:r>
          </a:p>
          <a:p>
            <a:pPr marL="742950" lvl="2" indent="-342900">
              <a:lnSpc>
                <a:spcPct val="120000"/>
              </a:lnSpc>
              <a:spcBef>
                <a:spcPts val="1000"/>
              </a:spcBef>
              <a:buClr>
                <a:srgbClr val="C00000"/>
              </a:buClr>
              <a:defRPr/>
            </a:pPr>
            <a:r>
              <a:rPr lang="ru-RU" sz="1800" dirty="0"/>
              <a:t>устанавливается или извлекается значение атрибута, </a:t>
            </a:r>
          </a:p>
          <a:p>
            <a:pPr marL="742950" lvl="2" indent="-342900">
              <a:lnSpc>
                <a:spcPct val="120000"/>
              </a:lnSpc>
              <a:spcBef>
                <a:spcPts val="1000"/>
              </a:spcBef>
              <a:buClr>
                <a:srgbClr val="C00000"/>
              </a:buClr>
              <a:defRPr/>
            </a:pPr>
            <a:r>
              <a:rPr lang="ru-RU" sz="1800" dirty="0"/>
              <a:t>какой метод — </a:t>
            </a:r>
            <a:r>
              <a:rPr lang="en-US" sz="1800" dirty="0"/>
              <a:t>mutator </a:t>
            </a:r>
            <a:r>
              <a:rPr lang="ru-RU" sz="1800" dirty="0"/>
              <a:t>или </a:t>
            </a:r>
            <a:r>
              <a:rPr lang="en-US" sz="1800" dirty="0"/>
              <a:t>observer </a:t>
            </a:r>
            <a:r>
              <a:rPr lang="ru-RU" sz="1800" dirty="0"/>
              <a:t>— надо применить. 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Пример: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SELECT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1.</a:t>
            </a:r>
            <a:r>
              <a:rPr lang="en-US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fname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(),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1.</a:t>
            </a:r>
            <a:r>
              <a:rPr lang="en-US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lname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SELECT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  <a:r>
              <a:rPr lang="en-US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fname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(), </a:t>
            </a:r>
            <a:r>
              <a:rPr lang="en-US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  <a:r>
              <a:rPr lang="en-US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lname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en-US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groupNo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FROM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StudentInfo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endParaRPr lang="en-US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-- Assuming CREATE TABLE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StudentInfo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Student,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groupNo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INT)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6ECB6-D84B-B580-9358-9020C7736B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Типы, определяемые пользователем. </a:t>
            </a:r>
            <a:r>
              <a:rPr lang="en-US" dirty="0"/>
              <a:t>Select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3778A3-F960-000E-965E-5839DE19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SQL:99</a:t>
            </a:r>
          </a:p>
        </p:txBody>
      </p:sp>
    </p:spTree>
    <p:extLst>
      <p:ext uri="{BB962C8B-B14F-4D97-AF65-F5344CB8AC3E}">
        <p14:creationId xmlns:p14="http://schemas.microsoft.com/office/powerpoint/2010/main" val="1072470907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18486</TotalTime>
  <Words>3461</Words>
  <Application>Microsoft Office PowerPoint</Application>
  <PresentationFormat>On-screen Show (16:9)</PresentationFormat>
  <Paragraphs>398</Paragraphs>
  <Slides>38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Times New Roman</vt:lpstr>
      <vt:lpstr>Arial</vt:lpstr>
      <vt:lpstr>Cascadia Code SemiBold</vt:lpstr>
      <vt:lpstr>Calibri</vt:lpstr>
      <vt:lpstr>Acrom ExtraBold</vt:lpstr>
      <vt:lpstr>Acrom Bold</vt:lpstr>
      <vt:lpstr>Acrom</vt:lpstr>
      <vt:lpstr>Wingdings</vt:lpstr>
      <vt:lpstr>NSU Content</vt:lpstr>
      <vt:lpstr>NSU Captions</vt:lpstr>
      <vt:lpstr>БАЗЫ ДАННЫХ</vt:lpstr>
      <vt:lpstr>PowerPoint Presentation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  <vt:lpstr>Особенности SQL:99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906</cp:revision>
  <dcterms:created xsi:type="dcterms:W3CDTF">2016-08-15T04:55:12Z</dcterms:created>
  <dcterms:modified xsi:type="dcterms:W3CDTF">2025-02-03T06:01:01Z</dcterms:modified>
</cp:coreProperties>
</file>