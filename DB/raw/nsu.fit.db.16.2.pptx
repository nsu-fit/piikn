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17"/>
  </p:notesMasterIdLst>
  <p:sldIdLst>
    <p:sldId id="514" r:id="rId3"/>
    <p:sldId id="586" r:id="rId4"/>
    <p:sldId id="677" r:id="rId5"/>
    <p:sldId id="678" r:id="rId6"/>
    <p:sldId id="587" r:id="rId7"/>
    <p:sldId id="679" r:id="rId8"/>
    <p:sldId id="680" r:id="rId9"/>
    <p:sldId id="681" r:id="rId10"/>
    <p:sldId id="682" r:id="rId11"/>
    <p:sldId id="683" r:id="rId12"/>
    <p:sldId id="684" r:id="rId13"/>
    <p:sldId id="685" r:id="rId14"/>
    <p:sldId id="686" r:id="rId15"/>
    <p:sldId id="687" r:id="rId16"/>
  </p:sldIdLst>
  <p:sldSz cx="9144000" cy="5143500" type="screen16x9"/>
  <p:notesSz cx="6858000" cy="9144000"/>
  <p:embeddedFontLst>
    <p:embeddedFont>
      <p:font typeface="Acrom" panose="020B0604020202020204" charset="-52"/>
      <p:regular r:id="rId18"/>
    </p:embeddedFont>
    <p:embeddedFont>
      <p:font typeface="Acrom Bold" panose="020B0604020202020204" charset="-52"/>
      <p:bold r:id="rId19"/>
    </p:embeddedFont>
    <p:embeddedFont>
      <p:font typeface="Acrom ExtraBold" panose="020B0604020202020204" charset="-52"/>
      <p:bold r:id="rId20"/>
    </p:embeddedFont>
    <p:embeddedFont>
      <p:font typeface="Aptos Narrow" panose="020B0004020202020204" pitchFamily="34" charset="0"/>
      <p:regular r:id="rId21"/>
      <p:bold r:id="rId22"/>
      <p:italic r:id="rId23"/>
      <p:boldItalic r:id="rId24"/>
    </p:embeddedFont>
    <p:embeddedFont>
      <p:font typeface="Cascadia Code SemiBold" panose="020B0609020000020004" pitchFamily="49" charset="0"/>
      <p:bold r:id="rId25"/>
      <p:boldItalic r:id="rId2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  <p14:sldId id="586"/>
            <p14:sldId id="677"/>
            <p14:sldId id="678"/>
            <p14:sldId id="587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687"/>
          </p14:sldIdLst>
        </p14:section>
        <p14:section name="Literature" id="{B9960BE5-F3B4-48C0-BA4B-65F190ECCD4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F3FF"/>
    <a:srgbClr val="FBE5D6"/>
    <a:srgbClr val="FEFEFE"/>
    <a:srgbClr val="FF0000"/>
    <a:srgbClr val="C20808"/>
    <a:srgbClr val="F0F0F0"/>
    <a:srgbClr val="B8B8B8"/>
    <a:srgbClr val="DBF2F3"/>
    <a:srgbClr val="D6D6FE"/>
    <a:srgbClr val="929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3" autoAdjust="0"/>
    <p:restoredTop sz="94915" autoAdjust="0"/>
  </p:normalViewPr>
  <p:slideViewPr>
    <p:cSldViewPr>
      <p:cViewPr>
        <p:scale>
          <a:sx n="100" d="100"/>
          <a:sy n="100" d="100"/>
        </p:scale>
        <p:origin x="1140" y="65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2E9AA9-B5AE-4992-97D6-64B7F255E276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CBCEE0-66B6-445F-9027-03393509D105}">
      <dgm:prSet phldrT="[Text]"/>
      <dgm:spPr/>
      <dgm:t>
        <a:bodyPr/>
        <a:lstStyle/>
        <a:p>
          <a:r>
            <a:rPr lang="ru-RU" dirty="0"/>
            <a:t>Таблицы </a:t>
          </a:r>
          <a:endParaRPr lang="en-US" dirty="0"/>
        </a:p>
      </dgm:t>
    </dgm:pt>
    <dgm:pt modelId="{9DD2A866-BDC1-43D4-A6AF-CC48A307C0D7}" type="parTrans" cxnId="{708C3B24-AD54-4DAD-907F-066065D41581}">
      <dgm:prSet/>
      <dgm:spPr/>
      <dgm:t>
        <a:bodyPr/>
        <a:lstStyle/>
        <a:p>
          <a:endParaRPr lang="en-US"/>
        </a:p>
      </dgm:t>
    </dgm:pt>
    <dgm:pt modelId="{452EA97A-B609-433D-98BF-8E564ACA50A2}" type="sibTrans" cxnId="{708C3B24-AD54-4DAD-907F-066065D41581}">
      <dgm:prSet/>
      <dgm:spPr/>
      <dgm:t>
        <a:bodyPr/>
        <a:lstStyle/>
        <a:p>
          <a:endParaRPr lang="en-US"/>
        </a:p>
      </dgm:t>
    </dgm:pt>
    <dgm:pt modelId="{B939E9C3-EF1E-4FBF-9B06-E080001BC130}">
      <dgm:prSet phldrT="[Text]"/>
      <dgm:spPr/>
      <dgm:t>
        <a:bodyPr/>
        <a:lstStyle/>
        <a:p>
          <a:r>
            <a:rPr lang="ru-RU" dirty="0"/>
            <a:t>Данные</a:t>
          </a:r>
          <a:endParaRPr lang="en-US" dirty="0"/>
        </a:p>
      </dgm:t>
    </dgm:pt>
    <dgm:pt modelId="{C8C6FC48-3948-40C0-8C4C-67C7CF481C39}" type="parTrans" cxnId="{8E80B730-B894-47CB-8599-5DE876FE6C76}">
      <dgm:prSet/>
      <dgm:spPr/>
      <dgm:t>
        <a:bodyPr/>
        <a:lstStyle/>
        <a:p>
          <a:endParaRPr lang="en-US"/>
        </a:p>
      </dgm:t>
    </dgm:pt>
    <dgm:pt modelId="{9EA42F96-E9E4-44F9-BB97-07E76C17A963}" type="sibTrans" cxnId="{8E80B730-B894-47CB-8599-5DE876FE6C76}">
      <dgm:prSet/>
      <dgm:spPr/>
      <dgm:t>
        <a:bodyPr/>
        <a:lstStyle/>
        <a:p>
          <a:endParaRPr lang="en-US"/>
        </a:p>
      </dgm:t>
    </dgm:pt>
    <dgm:pt modelId="{DB4E0CFD-EE8F-4390-BF42-84793A08CCA9}">
      <dgm:prSet phldrT="[Text]"/>
      <dgm:spPr/>
      <dgm:t>
        <a:bodyPr/>
        <a:lstStyle/>
        <a:p>
          <a:r>
            <a:rPr lang="ru-RU" dirty="0"/>
            <a:t>Объекты</a:t>
          </a:r>
          <a:endParaRPr lang="en-US" dirty="0"/>
        </a:p>
      </dgm:t>
    </dgm:pt>
    <dgm:pt modelId="{52B4D037-FA78-4D46-81E7-79CAB601CA27}" type="parTrans" cxnId="{0BD36784-7981-4C4D-BA59-131C949FE14D}">
      <dgm:prSet/>
      <dgm:spPr/>
      <dgm:t>
        <a:bodyPr/>
        <a:lstStyle/>
        <a:p>
          <a:endParaRPr lang="en-US"/>
        </a:p>
      </dgm:t>
    </dgm:pt>
    <dgm:pt modelId="{4CFB2E6C-EE24-4B57-AADA-86ACCB79CA89}" type="sibTrans" cxnId="{0BD36784-7981-4C4D-BA59-131C949FE14D}">
      <dgm:prSet/>
      <dgm:spPr/>
      <dgm:t>
        <a:bodyPr/>
        <a:lstStyle/>
        <a:p>
          <a:endParaRPr lang="en-US"/>
        </a:p>
      </dgm:t>
    </dgm:pt>
    <dgm:pt modelId="{39D0DE08-E19C-4ED4-84C0-7698658F3345}" type="pres">
      <dgm:prSet presAssocID="{7B2E9AA9-B5AE-4992-97D6-64B7F255E276}" presName="Name0" presStyleCnt="0">
        <dgm:presLayoutVars>
          <dgm:dir/>
          <dgm:resizeHandles val="exact"/>
        </dgm:presLayoutVars>
      </dgm:prSet>
      <dgm:spPr/>
    </dgm:pt>
    <dgm:pt modelId="{E0C3C19E-92C9-4579-A71F-C3C16DBC7978}" type="pres">
      <dgm:prSet presAssocID="{B9CBCEE0-66B6-445F-9027-03393509D105}" presName="node" presStyleLbl="node1" presStyleIdx="0" presStyleCnt="3">
        <dgm:presLayoutVars>
          <dgm:bulletEnabled val="1"/>
        </dgm:presLayoutVars>
      </dgm:prSet>
      <dgm:spPr/>
    </dgm:pt>
    <dgm:pt modelId="{4971F139-B156-4172-AE32-AEF3F507A21E}" type="pres">
      <dgm:prSet presAssocID="{452EA97A-B609-433D-98BF-8E564ACA50A2}" presName="sibTrans" presStyleLbl="sibTrans2D1" presStyleIdx="0" presStyleCnt="3"/>
      <dgm:spPr/>
    </dgm:pt>
    <dgm:pt modelId="{6AB32B08-FF9A-4583-B44A-9A57CA64DFDF}" type="pres">
      <dgm:prSet presAssocID="{452EA97A-B609-433D-98BF-8E564ACA50A2}" presName="connectorText" presStyleLbl="sibTrans2D1" presStyleIdx="0" presStyleCnt="3"/>
      <dgm:spPr/>
    </dgm:pt>
    <dgm:pt modelId="{FA678047-0BAE-46DF-9C0A-6ABD6EF04C83}" type="pres">
      <dgm:prSet presAssocID="{B939E9C3-EF1E-4FBF-9B06-E080001BC130}" presName="node" presStyleLbl="node1" presStyleIdx="1" presStyleCnt="3">
        <dgm:presLayoutVars>
          <dgm:bulletEnabled val="1"/>
        </dgm:presLayoutVars>
      </dgm:prSet>
      <dgm:spPr/>
    </dgm:pt>
    <dgm:pt modelId="{DADE36DB-BA15-4C94-95E7-1B3E175EED8A}" type="pres">
      <dgm:prSet presAssocID="{9EA42F96-E9E4-44F9-BB97-07E76C17A963}" presName="sibTrans" presStyleLbl="sibTrans2D1" presStyleIdx="1" presStyleCnt="3"/>
      <dgm:spPr/>
    </dgm:pt>
    <dgm:pt modelId="{A36AD80D-C213-4F12-B1B5-9DA8E7039C6D}" type="pres">
      <dgm:prSet presAssocID="{9EA42F96-E9E4-44F9-BB97-07E76C17A963}" presName="connectorText" presStyleLbl="sibTrans2D1" presStyleIdx="1" presStyleCnt="3"/>
      <dgm:spPr/>
    </dgm:pt>
    <dgm:pt modelId="{AAD37EF3-86B4-428B-B03D-96B8C96ADB47}" type="pres">
      <dgm:prSet presAssocID="{DB4E0CFD-EE8F-4390-BF42-84793A08CCA9}" presName="node" presStyleLbl="node1" presStyleIdx="2" presStyleCnt="3">
        <dgm:presLayoutVars>
          <dgm:bulletEnabled val="1"/>
        </dgm:presLayoutVars>
      </dgm:prSet>
      <dgm:spPr/>
    </dgm:pt>
    <dgm:pt modelId="{9F0D3F5A-669D-4F64-BDA5-E9D3CE11F6D8}" type="pres">
      <dgm:prSet presAssocID="{4CFB2E6C-EE24-4B57-AADA-86ACCB79CA89}" presName="sibTrans" presStyleLbl="sibTrans2D1" presStyleIdx="2" presStyleCnt="3"/>
      <dgm:spPr/>
    </dgm:pt>
    <dgm:pt modelId="{839A7EE0-7D04-4009-B6F7-381E63990FBD}" type="pres">
      <dgm:prSet presAssocID="{4CFB2E6C-EE24-4B57-AADA-86ACCB79CA89}" presName="connectorText" presStyleLbl="sibTrans2D1" presStyleIdx="2" presStyleCnt="3"/>
      <dgm:spPr/>
    </dgm:pt>
  </dgm:ptLst>
  <dgm:cxnLst>
    <dgm:cxn modelId="{E9329420-17BB-4533-8721-BFA103EC6447}" type="presOf" srcId="{DB4E0CFD-EE8F-4390-BF42-84793A08CCA9}" destId="{AAD37EF3-86B4-428B-B03D-96B8C96ADB47}" srcOrd="0" destOrd="0" presId="urn:microsoft.com/office/officeart/2005/8/layout/cycle7"/>
    <dgm:cxn modelId="{708C3B24-AD54-4DAD-907F-066065D41581}" srcId="{7B2E9AA9-B5AE-4992-97D6-64B7F255E276}" destId="{B9CBCEE0-66B6-445F-9027-03393509D105}" srcOrd="0" destOrd="0" parTransId="{9DD2A866-BDC1-43D4-A6AF-CC48A307C0D7}" sibTransId="{452EA97A-B609-433D-98BF-8E564ACA50A2}"/>
    <dgm:cxn modelId="{8E80B730-B894-47CB-8599-5DE876FE6C76}" srcId="{7B2E9AA9-B5AE-4992-97D6-64B7F255E276}" destId="{B939E9C3-EF1E-4FBF-9B06-E080001BC130}" srcOrd="1" destOrd="0" parTransId="{C8C6FC48-3948-40C0-8C4C-67C7CF481C39}" sibTransId="{9EA42F96-E9E4-44F9-BB97-07E76C17A963}"/>
    <dgm:cxn modelId="{AAD0BE66-7D54-4E26-A6E2-C75A85AC9400}" type="presOf" srcId="{9EA42F96-E9E4-44F9-BB97-07E76C17A963}" destId="{DADE36DB-BA15-4C94-95E7-1B3E175EED8A}" srcOrd="0" destOrd="0" presId="urn:microsoft.com/office/officeart/2005/8/layout/cycle7"/>
    <dgm:cxn modelId="{B296994A-4D1D-4E8B-8D68-D66012F33096}" type="presOf" srcId="{7B2E9AA9-B5AE-4992-97D6-64B7F255E276}" destId="{39D0DE08-E19C-4ED4-84C0-7698658F3345}" srcOrd="0" destOrd="0" presId="urn:microsoft.com/office/officeart/2005/8/layout/cycle7"/>
    <dgm:cxn modelId="{BD5C1E70-407C-446F-B3CB-73EB549D2EE4}" type="presOf" srcId="{B9CBCEE0-66B6-445F-9027-03393509D105}" destId="{E0C3C19E-92C9-4579-A71F-C3C16DBC7978}" srcOrd="0" destOrd="0" presId="urn:microsoft.com/office/officeart/2005/8/layout/cycle7"/>
    <dgm:cxn modelId="{0BD36784-7981-4C4D-BA59-131C949FE14D}" srcId="{7B2E9AA9-B5AE-4992-97D6-64B7F255E276}" destId="{DB4E0CFD-EE8F-4390-BF42-84793A08CCA9}" srcOrd="2" destOrd="0" parTransId="{52B4D037-FA78-4D46-81E7-79CAB601CA27}" sibTransId="{4CFB2E6C-EE24-4B57-AADA-86ACCB79CA89}"/>
    <dgm:cxn modelId="{7AF0A58E-177C-4F72-BD88-C04206606451}" type="presOf" srcId="{4CFB2E6C-EE24-4B57-AADA-86ACCB79CA89}" destId="{839A7EE0-7D04-4009-B6F7-381E63990FBD}" srcOrd="1" destOrd="0" presId="urn:microsoft.com/office/officeart/2005/8/layout/cycle7"/>
    <dgm:cxn modelId="{62A098AC-9CE2-4124-85FB-B11BD68E91C7}" type="presOf" srcId="{B939E9C3-EF1E-4FBF-9B06-E080001BC130}" destId="{FA678047-0BAE-46DF-9C0A-6ABD6EF04C83}" srcOrd="0" destOrd="0" presId="urn:microsoft.com/office/officeart/2005/8/layout/cycle7"/>
    <dgm:cxn modelId="{6F5AA6B3-0040-434C-8975-25044A7804C5}" type="presOf" srcId="{4CFB2E6C-EE24-4B57-AADA-86ACCB79CA89}" destId="{9F0D3F5A-669D-4F64-BDA5-E9D3CE11F6D8}" srcOrd="0" destOrd="0" presId="urn:microsoft.com/office/officeart/2005/8/layout/cycle7"/>
    <dgm:cxn modelId="{A2B9FCF1-207F-44A0-AFEB-EE69EDD0DFBB}" type="presOf" srcId="{9EA42F96-E9E4-44F9-BB97-07E76C17A963}" destId="{A36AD80D-C213-4F12-B1B5-9DA8E7039C6D}" srcOrd="1" destOrd="0" presId="urn:microsoft.com/office/officeart/2005/8/layout/cycle7"/>
    <dgm:cxn modelId="{A56721FB-0074-470D-ABA7-3DF22BAE44F7}" type="presOf" srcId="{452EA97A-B609-433D-98BF-8E564ACA50A2}" destId="{4971F139-B156-4172-AE32-AEF3F507A21E}" srcOrd="0" destOrd="0" presId="urn:microsoft.com/office/officeart/2005/8/layout/cycle7"/>
    <dgm:cxn modelId="{23E534FF-504E-4F9F-BFC3-FF4E4BE4D222}" type="presOf" srcId="{452EA97A-B609-433D-98BF-8E564ACA50A2}" destId="{6AB32B08-FF9A-4583-B44A-9A57CA64DFDF}" srcOrd="1" destOrd="0" presId="urn:microsoft.com/office/officeart/2005/8/layout/cycle7"/>
    <dgm:cxn modelId="{1FBA4F03-3524-4EB1-821C-2C6C9A3C4B15}" type="presParOf" srcId="{39D0DE08-E19C-4ED4-84C0-7698658F3345}" destId="{E0C3C19E-92C9-4579-A71F-C3C16DBC7978}" srcOrd="0" destOrd="0" presId="urn:microsoft.com/office/officeart/2005/8/layout/cycle7"/>
    <dgm:cxn modelId="{79181B8C-7BFE-46FE-8AA2-FDD7991A13FB}" type="presParOf" srcId="{39D0DE08-E19C-4ED4-84C0-7698658F3345}" destId="{4971F139-B156-4172-AE32-AEF3F507A21E}" srcOrd="1" destOrd="0" presId="urn:microsoft.com/office/officeart/2005/8/layout/cycle7"/>
    <dgm:cxn modelId="{D6F9F45A-E7AE-4592-A985-3777C2EC28F6}" type="presParOf" srcId="{4971F139-B156-4172-AE32-AEF3F507A21E}" destId="{6AB32B08-FF9A-4583-B44A-9A57CA64DFDF}" srcOrd="0" destOrd="0" presId="urn:microsoft.com/office/officeart/2005/8/layout/cycle7"/>
    <dgm:cxn modelId="{B70D534F-C0DD-4F31-9A58-C3CB6E183F43}" type="presParOf" srcId="{39D0DE08-E19C-4ED4-84C0-7698658F3345}" destId="{FA678047-0BAE-46DF-9C0A-6ABD6EF04C83}" srcOrd="2" destOrd="0" presId="urn:microsoft.com/office/officeart/2005/8/layout/cycle7"/>
    <dgm:cxn modelId="{46297F37-F2EC-4DC4-9680-44E2746DB472}" type="presParOf" srcId="{39D0DE08-E19C-4ED4-84C0-7698658F3345}" destId="{DADE36DB-BA15-4C94-95E7-1B3E175EED8A}" srcOrd="3" destOrd="0" presId="urn:microsoft.com/office/officeart/2005/8/layout/cycle7"/>
    <dgm:cxn modelId="{6EFB49EB-276D-4091-9DC3-1E18DD103D67}" type="presParOf" srcId="{DADE36DB-BA15-4C94-95E7-1B3E175EED8A}" destId="{A36AD80D-C213-4F12-B1B5-9DA8E7039C6D}" srcOrd="0" destOrd="0" presId="urn:microsoft.com/office/officeart/2005/8/layout/cycle7"/>
    <dgm:cxn modelId="{34F063DD-235E-47D3-96BC-2C32F8EC1C38}" type="presParOf" srcId="{39D0DE08-E19C-4ED4-84C0-7698658F3345}" destId="{AAD37EF3-86B4-428B-B03D-96B8C96ADB47}" srcOrd="4" destOrd="0" presId="urn:microsoft.com/office/officeart/2005/8/layout/cycle7"/>
    <dgm:cxn modelId="{D389C8F0-FD92-43ED-B84C-66E61AF7A7D9}" type="presParOf" srcId="{39D0DE08-E19C-4ED4-84C0-7698658F3345}" destId="{9F0D3F5A-669D-4F64-BDA5-E9D3CE11F6D8}" srcOrd="5" destOrd="0" presId="urn:microsoft.com/office/officeart/2005/8/layout/cycle7"/>
    <dgm:cxn modelId="{913AAF86-DB86-48B0-8DA9-EF336342BF4A}" type="presParOf" srcId="{9F0D3F5A-669D-4F64-BDA5-E9D3CE11F6D8}" destId="{839A7EE0-7D04-4009-B6F7-381E63990FBD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C3C19E-92C9-4579-A71F-C3C16DBC7978}">
      <dsp:nvSpPr>
        <dsp:cNvPr id="0" name=""/>
        <dsp:cNvSpPr/>
      </dsp:nvSpPr>
      <dsp:spPr>
        <a:xfrm>
          <a:off x="3491938" y="776"/>
          <a:ext cx="1557765" cy="778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Таблицы </a:t>
          </a:r>
          <a:endParaRPr lang="en-US" sz="2200" kern="1200" dirty="0"/>
        </a:p>
      </dsp:txBody>
      <dsp:txXfrm>
        <a:off x="3514751" y="23589"/>
        <a:ext cx="1512139" cy="733256"/>
      </dsp:txXfrm>
    </dsp:sp>
    <dsp:sp modelId="{4971F139-B156-4172-AE32-AEF3F507A21E}">
      <dsp:nvSpPr>
        <dsp:cNvPr id="0" name=""/>
        <dsp:cNvSpPr/>
      </dsp:nvSpPr>
      <dsp:spPr>
        <a:xfrm rot="3600000">
          <a:off x="4508146" y="1367568"/>
          <a:ext cx="811289" cy="272608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589928" y="1422090"/>
        <a:ext cx="647725" cy="163564"/>
      </dsp:txXfrm>
    </dsp:sp>
    <dsp:sp modelId="{FA678047-0BAE-46DF-9C0A-6ABD6EF04C83}">
      <dsp:nvSpPr>
        <dsp:cNvPr id="0" name=""/>
        <dsp:cNvSpPr/>
      </dsp:nvSpPr>
      <dsp:spPr>
        <a:xfrm>
          <a:off x="4777877" y="2228087"/>
          <a:ext cx="1557765" cy="778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Данные</a:t>
          </a:r>
          <a:endParaRPr lang="en-US" sz="2200" kern="1200" dirty="0"/>
        </a:p>
      </dsp:txBody>
      <dsp:txXfrm>
        <a:off x="4800690" y="2250900"/>
        <a:ext cx="1512139" cy="733256"/>
      </dsp:txXfrm>
    </dsp:sp>
    <dsp:sp modelId="{DADE36DB-BA15-4C94-95E7-1B3E175EED8A}">
      <dsp:nvSpPr>
        <dsp:cNvPr id="0" name=""/>
        <dsp:cNvSpPr/>
      </dsp:nvSpPr>
      <dsp:spPr>
        <a:xfrm rot="10800000">
          <a:off x="3865176" y="2481223"/>
          <a:ext cx="811289" cy="272608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3946958" y="2535745"/>
        <a:ext cx="647725" cy="163564"/>
      </dsp:txXfrm>
    </dsp:sp>
    <dsp:sp modelId="{AAD37EF3-86B4-428B-B03D-96B8C96ADB47}">
      <dsp:nvSpPr>
        <dsp:cNvPr id="0" name=""/>
        <dsp:cNvSpPr/>
      </dsp:nvSpPr>
      <dsp:spPr>
        <a:xfrm>
          <a:off x="2206000" y="2228087"/>
          <a:ext cx="1557765" cy="778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Объекты</a:t>
          </a:r>
          <a:endParaRPr lang="en-US" sz="2200" kern="1200" dirty="0"/>
        </a:p>
      </dsp:txBody>
      <dsp:txXfrm>
        <a:off x="2228813" y="2250900"/>
        <a:ext cx="1512139" cy="733256"/>
      </dsp:txXfrm>
    </dsp:sp>
    <dsp:sp modelId="{9F0D3F5A-669D-4F64-BDA5-E9D3CE11F6D8}">
      <dsp:nvSpPr>
        <dsp:cNvPr id="0" name=""/>
        <dsp:cNvSpPr/>
      </dsp:nvSpPr>
      <dsp:spPr>
        <a:xfrm rot="18000000">
          <a:off x="3222207" y="1367568"/>
          <a:ext cx="811289" cy="272608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303989" y="1422090"/>
        <a:ext cx="647725" cy="163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03.03.2025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508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1E0C-A9C5-AC8E-FF79-95A7B0B1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9B387-F5F2-1CCE-95C2-ACF112DC4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136B7-12BB-F0B9-9579-BA7A59F69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65CED-CA00-8AFC-26A9-142C845FE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921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C450C-2482-3775-0AB6-0C672082B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4F34F-AE37-7115-CCC3-51E36C9BA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56941-3087-D4B3-0BB5-84A44C640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Основными компонентами СУБД </a:t>
            </a:r>
            <a:r>
              <a:rPr lang="ru-RU" dirty="0" err="1"/>
              <a:t>Cach</a:t>
            </a:r>
            <a:r>
              <a:rPr lang="en-US" dirty="0"/>
              <a:t>é </a:t>
            </a:r>
            <a:r>
              <a:rPr lang="ru-RU" dirty="0"/>
              <a:t>являются следующие: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TMDM. </a:t>
            </a:r>
            <a:r>
              <a:rPr lang="ru-RU" b="1" dirty="0"/>
              <a:t>Многомерное ядро системы</a:t>
            </a:r>
            <a:r>
              <a:rPr lang="ru-RU" dirty="0"/>
              <a:t>, ориентирование на работу с транзакциями.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Сервер</a:t>
            </a:r>
            <a:r>
              <a:rPr lang="en-US" b="1" dirty="0"/>
              <a:t> </a:t>
            </a:r>
            <a:r>
              <a:rPr lang="en-US" altLang="ru-RU" b="1" dirty="0"/>
              <a:t>Caché</a:t>
            </a:r>
            <a:r>
              <a:rPr lang="en-US" b="1" dirty="0"/>
              <a:t> Objects</a:t>
            </a:r>
            <a:r>
              <a:rPr lang="en-US" dirty="0"/>
              <a:t>. </a:t>
            </a:r>
            <a:r>
              <a:rPr lang="ru-RU" dirty="0"/>
              <a:t>Представление многомерных структур данных ядра системы в виде объектов, инкапсулирующих как данные так и методы их обработки.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Сервер </a:t>
            </a:r>
            <a:r>
              <a:rPr lang="en-US" altLang="ru-RU" b="1" dirty="0"/>
              <a:t>Caché</a:t>
            </a:r>
            <a:r>
              <a:rPr lang="ru-RU" b="1" dirty="0"/>
              <a:t> SQL</a:t>
            </a:r>
            <a:r>
              <a:rPr lang="ru-RU" dirty="0"/>
              <a:t>. Представление многомерных структур данных в виде реляционных таблиц.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Сервер прямого доступа</a:t>
            </a:r>
            <a:r>
              <a:rPr lang="ru-RU" dirty="0"/>
              <a:t>. Предоставление прямого доступа к многомерным структурам данных ядра системы.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92381-3195-6BFE-8402-A6006F526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537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018A-1A7B-AC95-7D83-B6F1D3E8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73E57-5AA4-3901-A3D3-7A1140BEA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3DC50-4CC2-907B-5671-ECB069127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998F9-A928-D0BB-F3F2-88FB27827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3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0578-12B7-AF68-AE28-E2D36E34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B487A-F282-AF23-5ACD-01B41C55E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E885C-242D-7D7C-F91E-FCEF5C6CD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78FAC-F359-8EEB-17DA-5628F073E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895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AEAF5-A330-7711-1804-A929E49D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6A395-8BCF-8EB6-5FFD-2C2A200F8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E6FC9-98EE-946F-4951-F5265AC37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DCC23-43A6-F216-F0ED-813EE77E1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160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BFB16-A382-0CF8-5BF2-BE2441E6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2813D-9A4E-BDBA-CFE7-58DF765B5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8410E-8CC5-32B0-96A0-45EB8057D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AA86B-C27F-D1FD-46B3-5672B2DA7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469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70880-CEA9-F9B6-C578-4F5F2D1C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908F6-D60E-7F8D-58E5-4AE36957B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B572D-1ADE-CF39-91DD-3B3144B03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CE658-C73E-EB74-EBC8-D9BEAA3A0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702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4DD71-3EE0-4ECB-CA6C-59846D7D8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FD6F9-EB2F-0124-371E-0FA622D2B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6CA20-4D08-56B6-C2A1-963612142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Основной </a:t>
            </a:r>
            <a:r>
              <a:rPr lang="ru-RU" sz="1200" b="1" dirty="0"/>
              <a:t>особенностью хранения </a:t>
            </a:r>
            <a:r>
              <a:rPr lang="ru-RU" sz="1200" dirty="0"/>
              <a:t>встраиваемого класса является то, что объекты встраиваемых классов </a:t>
            </a:r>
            <a:r>
              <a:rPr lang="ru-RU" sz="1200" b="1" dirty="0"/>
              <a:t>существуют в памяти как независимые экземпляры</a:t>
            </a:r>
            <a:r>
              <a:rPr lang="ru-RU" sz="1200" dirty="0"/>
              <a:t>, однако могут быть сохранены в базе данных, только будучи встроены в другой класс. </a:t>
            </a:r>
          </a:p>
          <a:p>
            <a:r>
              <a:rPr lang="ru-RU" sz="1200" dirty="0"/>
              <a:t>Основным преимуществом использования встроенных классов является минимум издержек, связанных с возможным в будущем изменением набора одинаковых свойств классов, представленных в виде встраиваемого объекта.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8043E-0B3F-831A-33CD-6912C3C56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79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11E3A-8092-8C3D-8F5B-138D4CEEA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C77BF-38F3-94D9-3197-D3395D7F0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B1084-D158-6792-474A-9DFE77D8A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Каждый экземпляр хранимого класса имеет 2 уникальных идентификатора - OID и OREF. </a:t>
            </a:r>
          </a:p>
          <a:p>
            <a:r>
              <a:rPr lang="ru-RU" sz="1200" dirty="0"/>
              <a:t>OID (</a:t>
            </a:r>
            <a:r>
              <a:rPr lang="ru-RU" sz="1200" dirty="0" err="1"/>
              <a:t>object</a:t>
            </a:r>
            <a:r>
              <a:rPr lang="ru-RU" sz="1200" dirty="0"/>
              <a:t> ID) характеризует объект, записанный в БД, т.е. на физическом носителе,</a:t>
            </a:r>
          </a:p>
          <a:p>
            <a:r>
              <a:rPr lang="ru-RU" sz="1200" dirty="0"/>
              <a:t>OREF (</a:t>
            </a:r>
            <a:r>
              <a:rPr lang="ru-RU" sz="1200" dirty="0" err="1"/>
              <a:t>object</a:t>
            </a:r>
            <a:r>
              <a:rPr lang="ru-RU" sz="1200" dirty="0"/>
              <a:t> </a:t>
            </a:r>
            <a:r>
              <a:rPr lang="ru-RU" sz="1200" dirty="0" err="1"/>
              <a:t>reference</a:t>
            </a:r>
            <a:r>
              <a:rPr lang="ru-RU" sz="1200" dirty="0"/>
              <a:t>) характеризует объект, который был подкачен из БД и находится в памяти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06522-598E-4BDA-13A9-DAA7FD852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52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89D43-E543-8F9F-0A92-1E752EF7F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6D477-83B7-394E-1CCC-A0051169A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D2AEA-91D6-BB8B-EFE8-DE2DDA740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56909-AF14-497E-DBAA-B0101DC0A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170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DC05-4460-D9BA-73BE-279020062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7F4AA-65F8-2F1D-48B3-0CB542067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67729-0D02-A24B-6AEA-5527B7DBB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279F2-7A0C-5F0B-EE1C-42ACF1D33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707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EB00E-08C4-4102-2D74-A35BDC6E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C84B8-0184-72FF-1D3D-B04C9DB14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91B4B-A410-E12F-0482-76EBAB8D7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595E3-0B2D-DB05-8DAA-BE255B018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120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03.03.2025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03.03.2025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03.03.2025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03.03.2025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7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2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0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03.03.2025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  <p:sldLayoutId id="2147483688" r:id="rId7"/>
    <p:sldLayoutId id="2147483689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147814"/>
            <a:ext cx="4332104" cy="1728193"/>
          </a:xfrm>
        </p:spPr>
        <p:txBody>
          <a:bodyPr>
            <a:normAutofit fontScale="92500"/>
          </a:bodyPr>
          <a:lstStyle/>
          <a:p>
            <a:r>
              <a:rPr lang="ru-RU" altLang="ru-RU" sz="2800" dirty="0"/>
              <a:t>Объектная система управления базами данных</a:t>
            </a:r>
            <a:r>
              <a:rPr lang="en-US" altLang="ru-RU" sz="2800" dirty="0"/>
              <a:t> Caché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9AEFFB-0F83-E5E8-CCAB-D6B1B0B3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419DD-B1BA-C731-7F3B-BF3D6582A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384773"/>
          </a:xfrm>
        </p:spPr>
        <p:txBody>
          <a:bodyPr numCol="2"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sz="2000" dirty="0"/>
              <a:t>Отличительной особенностью СУБД </a:t>
            </a:r>
            <a:r>
              <a:rPr lang="ru-RU" sz="2000" dirty="0" err="1"/>
              <a:t>Cach</a:t>
            </a:r>
            <a:r>
              <a:rPr lang="en-US" sz="2000" dirty="0"/>
              <a:t>é </a:t>
            </a:r>
            <a:r>
              <a:rPr lang="ru-RU" sz="2000" dirty="0"/>
              <a:t>является независимость хранения данных от способа их представления, что реализуется с помощью, так называемой, единой архитектуры данных </a:t>
            </a:r>
            <a:r>
              <a:rPr lang="ru-RU" sz="2000" dirty="0" err="1"/>
              <a:t>Cach</a:t>
            </a:r>
            <a:r>
              <a:rPr lang="en-US" sz="2000" dirty="0"/>
              <a:t>é</a:t>
            </a:r>
          </a:p>
          <a:p>
            <a:pPr eaLnBrk="1" hangingPunct="1">
              <a:lnSpc>
                <a:spcPct val="120000"/>
              </a:lnSpc>
            </a:pPr>
            <a:r>
              <a:rPr lang="ru-RU" sz="2000" dirty="0"/>
              <a:t>В рамках данной архитектуры существует единое </a:t>
            </a:r>
            <a:r>
              <a:rPr lang="ru-RU" sz="2000" b="1" dirty="0"/>
              <a:t>описание объектов </a:t>
            </a:r>
            <a:r>
              <a:rPr lang="ru-RU" sz="2000" dirty="0"/>
              <a:t>и </a:t>
            </a:r>
            <a:r>
              <a:rPr lang="ru-RU" sz="2000" b="1" dirty="0"/>
              <a:t>таблиц базы д</a:t>
            </a:r>
            <a:r>
              <a:rPr lang="ru-RU" sz="2000" dirty="0"/>
              <a:t>анных, отображаемых непосредственно в </a:t>
            </a:r>
            <a:r>
              <a:rPr lang="ru-RU" sz="2000" b="1" dirty="0"/>
              <a:t>многомерные структуры ядра базы данных</a:t>
            </a:r>
            <a:r>
              <a:rPr lang="ru-RU" sz="2000" dirty="0"/>
              <a:t>, ориентированных на обработку транзакций. </a:t>
            </a:r>
            <a:endParaRPr lang="en-US" sz="2000" dirty="0"/>
          </a:p>
          <a:p>
            <a:pPr eaLnBrk="1" hangingPunct="1">
              <a:lnSpc>
                <a:spcPct val="120000"/>
              </a:lnSpc>
            </a:pPr>
            <a:r>
              <a:rPr lang="ru-RU" sz="2000" dirty="0"/>
              <a:t>Как только определяется </a:t>
            </a:r>
            <a:r>
              <a:rPr lang="ru-RU" sz="2000" b="1" dirty="0"/>
              <a:t>хранимый класс объектов</a:t>
            </a:r>
            <a:r>
              <a:rPr lang="ru-RU" sz="2000" dirty="0"/>
              <a:t>, </a:t>
            </a:r>
            <a:r>
              <a:rPr lang="ru-RU" sz="2000" dirty="0" err="1"/>
              <a:t>Cach</a:t>
            </a:r>
            <a:r>
              <a:rPr lang="en-US" sz="2000" dirty="0"/>
              <a:t>é</a:t>
            </a:r>
            <a:r>
              <a:rPr lang="ru-RU" sz="2000" dirty="0"/>
              <a:t> автоматически генерирует </a:t>
            </a:r>
            <a:r>
              <a:rPr lang="ru-RU" sz="2000" b="1" dirty="0"/>
              <a:t>реляционное описание данных этого класса </a:t>
            </a:r>
            <a:r>
              <a:rPr lang="ru-RU" sz="2000" dirty="0"/>
              <a:t>в формате SQL. </a:t>
            </a:r>
            <a:endParaRPr lang="en-US" sz="2000" dirty="0"/>
          </a:p>
          <a:p>
            <a:pPr eaLnBrk="1" hangingPunct="1">
              <a:lnSpc>
                <a:spcPct val="120000"/>
              </a:lnSpc>
            </a:pPr>
            <a:r>
              <a:rPr lang="ru-RU" sz="2000" dirty="0"/>
              <a:t>Подобным же образом, как только в Словарь данных поступает DDL-описание в формате реляционной базы данных, </a:t>
            </a:r>
            <a:r>
              <a:rPr lang="ru-RU" sz="2000" dirty="0" err="1"/>
              <a:t>Cach</a:t>
            </a:r>
            <a:r>
              <a:rPr lang="en-US" sz="2000" dirty="0"/>
              <a:t>é</a:t>
            </a:r>
            <a:r>
              <a:rPr lang="ru-RU" sz="2000" dirty="0"/>
              <a:t> автоматически генерирует реляционное и объектное описание данных, устанавливая тем самым доступ в формате объектов</a:t>
            </a:r>
            <a:endParaRPr lang="en-US" sz="2000" dirty="0"/>
          </a:p>
          <a:p>
            <a:pPr eaLnBrk="1" hangingPunct="1">
              <a:lnSpc>
                <a:spcPct val="120000"/>
              </a:lnSpc>
            </a:pPr>
            <a:r>
              <a:rPr lang="ru-RU" sz="2000" dirty="0"/>
              <a:t>При этом все описания ведутся согласованно, все операции по редактированию проводятся только с одним описанием данных.</a:t>
            </a:r>
            <a:endParaRPr lang="en-US" sz="2000" dirty="0"/>
          </a:p>
          <a:p>
            <a:pPr eaLnBrk="1" hangingPunct="1">
              <a:lnSpc>
                <a:spcPct val="120000"/>
              </a:lnSpc>
            </a:pPr>
            <a:r>
              <a:rPr lang="ru-RU" sz="2000" dirty="0"/>
              <a:t>Это позволяет сократить время разработки, сэкономить вычислительные ресурсы и приложения будут работать значительно быстрее. </a:t>
            </a:r>
            <a:endParaRPr lang="ru-RU" altLang="ru-RU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4DDAFA-371C-EADF-F048-CDF673DE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27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29118-84E3-6890-BB43-FFAE70BA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BB400E-E030-EBD7-DC89-DB8F2CD7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DE6D51-BEE4-9710-B633-EDEAAFCA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021EC86-D779-D2A5-051B-914D284B9D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1311466"/>
              </p:ext>
            </p:extLst>
          </p:nvPr>
        </p:nvGraphicFramePr>
        <p:xfrm>
          <a:off x="350837" y="1419224"/>
          <a:ext cx="8541643" cy="3007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863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B22DA-5E98-FB19-368F-0A17A12F3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528803-ED67-2336-AC01-36C339EF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20C71-652F-113C-B620-97D16A2B96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5203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B46E31-A4F0-55E0-DBAD-F27073743E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Архитектура СУБД </a:t>
            </a:r>
            <a:r>
              <a:rPr lang="en-US" dirty="0"/>
              <a:t>Caché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5B4D53-2186-4985-7BA7-E84B043C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735F057-43A4-048F-2536-5B8062669D3B}"/>
              </a:ext>
            </a:extLst>
          </p:cNvPr>
          <p:cNvGrpSpPr/>
          <p:nvPr/>
        </p:nvGrpSpPr>
        <p:grpSpPr>
          <a:xfrm>
            <a:off x="3275856" y="1951090"/>
            <a:ext cx="3312368" cy="2202980"/>
            <a:chOff x="3275856" y="1951090"/>
            <a:chExt cx="3312368" cy="22029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933ED6-E2CB-9549-759C-E4107E6DF3B4}"/>
                </a:ext>
              </a:extLst>
            </p:cNvPr>
            <p:cNvSpPr txBox="1"/>
            <p:nvPr/>
          </p:nvSpPr>
          <p:spPr>
            <a:xfrm>
              <a:off x="3275856" y="1951090"/>
              <a:ext cx="331236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ptos Narrow" panose="020B0004020202020204" pitchFamily="34" charset="0"/>
                </a:rPr>
                <a:t>Caché Server Pages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BB6AE64-C150-F794-83F1-B4D5371E7450}"/>
                </a:ext>
              </a:extLst>
            </p:cNvPr>
            <p:cNvGrpSpPr/>
            <p:nvPr/>
          </p:nvGrpSpPr>
          <p:grpSpPr>
            <a:xfrm>
              <a:off x="3436709" y="2643503"/>
              <a:ext cx="2972232" cy="646332"/>
              <a:chOff x="3436709" y="2643503"/>
              <a:chExt cx="2972232" cy="64633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03F657-41C4-BC6D-1F72-51CB63BD42CB}"/>
                  </a:ext>
                </a:extLst>
              </p:cNvPr>
              <p:cNvSpPr txBox="1"/>
              <p:nvPr/>
            </p:nvSpPr>
            <p:spPr>
              <a:xfrm>
                <a:off x="3436709" y="2643504"/>
                <a:ext cx="991275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Aptos Narrow" panose="020B0004020202020204" pitchFamily="34" charset="0"/>
                  </a:rPr>
                  <a:t>Caché Objects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31726E-7393-9672-3330-6FA99AF41BA8}"/>
                  </a:ext>
                </a:extLst>
              </p:cNvPr>
              <p:cNvSpPr txBox="1"/>
              <p:nvPr/>
            </p:nvSpPr>
            <p:spPr>
              <a:xfrm>
                <a:off x="4427984" y="2643503"/>
                <a:ext cx="991275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Aptos Narrow" panose="020B0004020202020204" pitchFamily="34" charset="0"/>
                  </a:rPr>
                  <a:t>Caché Direct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19E56C-0B6F-BD02-32D7-16D166FC901E}"/>
                  </a:ext>
                </a:extLst>
              </p:cNvPr>
              <p:cNvSpPr txBox="1"/>
              <p:nvPr/>
            </p:nvSpPr>
            <p:spPr>
              <a:xfrm>
                <a:off x="5417666" y="2643503"/>
                <a:ext cx="991275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Aptos Narrow" panose="020B0004020202020204" pitchFamily="34" charset="0"/>
                  </a:rPr>
                  <a:t>Caché SQL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1776E51-1672-805A-8A1A-65595BF49CD3}"/>
                </a:ext>
              </a:extLst>
            </p:cNvPr>
            <p:cNvGrpSpPr/>
            <p:nvPr/>
          </p:nvGrpSpPr>
          <p:grpSpPr>
            <a:xfrm>
              <a:off x="3275856" y="3507739"/>
              <a:ext cx="3312368" cy="646331"/>
              <a:chOff x="3275856" y="3507739"/>
              <a:chExt cx="3312368" cy="64633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4A17DE-03E6-FF1A-0307-8F7053A8B39B}"/>
                  </a:ext>
                </a:extLst>
              </p:cNvPr>
              <p:cNvSpPr txBox="1"/>
              <p:nvPr/>
            </p:nvSpPr>
            <p:spPr>
              <a:xfrm>
                <a:off x="3275856" y="3507739"/>
                <a:ext cx="2448272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>
                    <a:latin typeface="Aptos Narrow" panose="020B0004020202020204" pitchFamily="34" charset="0"/>
                  </a:rPr>
                  <a:t>Ядро СУБД </a:t>
                </a:r>
                <a:r>
                  <a:rPr lang="en-US" dirty="0">
                    <a:latin typeface="Aptos Narrow" panose="020B0004020202020204" pitchFamily="34" charset="0"/>
                  </a:rPr>
                  <a:t>Caché</a:t>
                </a:r>
                <a:br>
                  <a:rPr lang="ru-RU" dirty="0">
                    <a:latin typeface="Aptos Narrow" panose="020B0004020202020204" pitchFamily="34" charset="0"/>
                  </a:rPr>
                </a:br>
                <a:r>
                  <a:rPr lang="ru-RU" dirty="0">
                    <a:latin typeface="Aptos Narrow" panose="020B0004020202020204" pitchFamily="34" charset="0"/>
                  </a:rPr>
                  <a:t>(</a:t>
                </a:r>
                <a:r>
                  <a:rPr lang="en-US" dirty="0">
                    <a:latin typeface="Aptos Narrow" panose="020B0004020202020204" pitchFamily="34" charset="0"/>
                  </a:rPr>
                  <a:t>TMDM™)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CBF8F9-02F5-71E7-DB71-67F69483A498}"/>
                  </a:ext>
                </a:extLst>
              </p:cNvPr>
              <p:cNvSpPr txBox="1"/>
              <p:nvPr/>
            </p:nvSpPr>
            <p:spPr>
              <a:xfrm>
                <a:off x="5724128" y="3507739"/>
                <a:ext cx="864096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>
                    <a:latin typeface="Aptos Narrow" panose="020B0004020202020204" pitchFamily="34" charset="0"/>
                  </a:rPr>
                  <a:t>Другие БД</a:t>
                </a:r>
                <a:endParaRPr lang="en-US" dirty="0">
                  <a:latin typeface="Aptos Narrow" panose="020B0004020202020204" pitchFamily="34" charset="0"/>
                </a:endParaRPr>
              </a:p>
            </p:txBody>
          </p: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C790079-B066-FA27-E172-3A480E79C427}"/>
                </a:ext>
              </a:extLst>
            </p:cNvPr>
            <p:cNvCxnSpPr>
              <a:cxnSpLocks/>
              <a:stCxn id="7" idx="1"/>
              <a:endCxn id="11" idx="1"/>
            </p:cNvCxnSpPr>
            <p:nvPr/>
          </p:nvCxnSpPr>
          <p:spPr>
            <a:xfrm>
              <a:off x="3275856" y="2135756"/>
              <a:ext cx="0" cy="169514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590D78-C32F-0207-0717-01C080C9E75D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6588224" y="2135756"/>
              <a:ext cx="0" cy="169514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01D040B-AF81-2898-1E25-F6FB8B50D8F3}"/>
              </a:ext>
            </a:extLst>
          </p:cNvPr>
          <p:cNvSpPr txBox="1"/>
          <p:nvPr/>
        </p:nvSpPr>
        <p:spPr>
          <a:xfrm>
            <a:off x="1373733" y="2320337"/>
            <a:ext cx="9912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 Narrow" panose="020B0004020202020204" pitchFamily="34" charset="0"/>
              </a:rPr>
              <a:t>XML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94FFA0-0254-B4B2-0F90-116D7D358FBF}"/>
              </a:ext>
            </a:extLst>
          </p:cNvPr>
          <p:cNvSpPr txBox="1"/>
          <p:nvPr/>
        </p:nvSpPr>
        <p:spPr>
          <a:xfrm>
            <a:off x="1373733" y="2689669"/>
            <a:ext cx="9912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 Narrow" panose="020B0004020202020204" pitchFamily="34" charset="0"/>
              </a:rPr>
              <a:t>ActiveX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F84676-75C2-3EFC-E995-31D35EA9C4CF}"/>
              </a:ext>
            </a:extLst>
          </p:cNvPr>
          <p:cNvSpPr txBox="1"/>
          <p:nvPr/>
        </p:nvSpPr>
        <p:spPr>
          <a:xfrm>
            <a:off x="1373733" y="3059001"/>
            <a:ext cx="9912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 Narrow" panose="020B0004020202020204" pitchFamily="34" charset="0"/>
              </a:rPr>
              <a:t>Java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F2085F-E056-C98E-66C8-96C3C01BE519}"/>
              </a:ext>
            </a:extLst>
          </p:cNvPr>
          <p:cNvSpPr txBox="1"/>
          <p:nvPr/>
        </p:nvSpPr>
        <p:spPr>
          <a:xfrm>
            <a:off x="1373733" y="3428333"/>
            <a:ext cx="9912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 Narrow" panose="020B0004020202020204" pitchFamily="34" charset="0"/>
              </a:rPr>
              <a:t>C++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E143811-93DB-6CFB-428D-FB101953F8F2}"/>
              </a:ext>
            </a:extLst>
          </p:cNvPr>
          <p:cNvCxnSpPr>
            <a:stCxn id="23" idx="3"/>
          </p:cNvCxnSpPr>
          <p:nvPr/>
        </p:nvCxnSpPr>
        <p:spPr>
          <a:xfrm>
            <a:off x="2365008" y="2505003"/>
            <a:ext cx="1071701" cy="3693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5983592-DEB5-8CED-F2D2-F7D376E48170}"/>
              </a:ext>
            </a:extLst>
          </p:cNvPr>
          <p:cNvCxnSpPr>
            <a:cxnSpLocks/>
            <a:stCxn id="24" idx="3"/>
            <a:endCxn id="8" idx="1"/>
          </p:cNvCxnSpPr>
          <p:nvPr/>
        </p:nvCxnSpPr>
        <p:spPr>
          <a:xfrm>
            <a:off x="2365008" y="2874335"/>
            <a:ext cx="1071701" cy="923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769B0F0-C9DE-6637-0BBA-A277E0988295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2365008" y="3038475"/>
            <a:ext cx="1073517" cy="2051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25D9DC-ACDD-5768-6C5F-23647E753865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2365008" y="3138407"/>
            <a:ext cx="1071701" cy="4745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F09E646-9D74-CAED-3A82-ECF2006ADD0E}"/>
              </a:ext>
            </a:extLst>
          </p:cNvPr>
          <p:cNvSpPr txBox="1"/>
          <p:nvPr/>
        </p:nvSpPr>
        <p:spPr>
          <a:xfrm>
            <a:off x="6956683" y="2549881"/>
            <a:ext cx="9912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 Narrow" panose="020B0004020202020204" pitchFamily="34" charset="0"/>
              </a:rPr>
              <a:t>JDBC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B6B901-0955-D483-E5DB-63B58177F844}"/>
              </a:ext>
            </a:extLst>
          </p:cNvPr>
          <p:cNvSpPr txBox="1"/>
          <p:nvPr/>
        </p:nvSpPr>
        <p:spPr>
          <a:xfrm>
            <a:off x="6956683" y="3061081"/>
            <a:ext cx="9912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 Narrow" panose="020B0004020202020204" pitchFamily="34" charset="0"/>
              </a:rPr>
              <a:t>ODBC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E277AF6-34DE-A924-3BF8-664D42E43F56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6420832" y="2734547"/>
            <a:ext cx="535851" cy="1846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256FD89-A6DD-3F08-B871-0516AF0F470F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6408941" y="3144317"/>
            <a:ext cx="547742" cy="1014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547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75F9-6AC7-EAB2-E11D-61CFC3E7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92143E-5C0A-C128-5AC6-371C9718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D842F-B541-E191-8B31-2EB2285AA7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1"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3600" dirty="0"/>
              <a:t>Многомерное ядро </a:t>
            </a:r>
            <a:r>
              <a:rPr lang="ru-RU" sz="3600" dirty="0" err="1"/>
              <a:t>Cach</a:t>
            </a:r>
            <a:r>
              <a:rPr lang="en-US" sz="3600" dirty="0"/>
              <a:t>é</a:t>
            </a:r>
            <a:r>
              <a:rPr lang="ru-RU" sz="3600" dirty="0"/>
              <a:t>, ориентированное на работу с транзакциями.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3600" dirty="0"/>
              <a:t>Данные в </a:t>
            </a:r>
            <a:r>
              <a:rPr lang="ru-RU" sz="3600" dirty="0" err="1"/>
              <a:t>Cach</a:t>
            </a:r>
            <a:r>
              <a:rPr lang="en-US" sz="3600" dirty="0"/>
              <a:t>é </a:t>
            </a:r>
            <a:r>
              <a:rPr lang="ru-RU" sz="3600" dirty="0"/>
              <a:t>хранятся в виде разреженных массивов, носящих название «</a:t>
            </a:r>
            <a:r>
              <a:rPr lang="ru-RU" sz="3600" dirty="0" err="1"/>
              <a:t>глобалов</a:t>
            </a:r>
            <a:r>
              <a:rPr lang="ru-RU" sz="3600" dirty="0"/>
              <a:t>».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3600" dirty="0"/>
              <a:t>Количество индексов массива может быть произвольным, что позволяет описывать и хранить структуры данных произвольного уровня сложности.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3600" dirty="0"/>
              <a:t>Индексы </a:t>
            </a:r>
            <a:r>
              <a:rPr lang="ru-RU" sz="3600" dirty="0" err="1"/>
              <a:t>глобалов</a:t>
            </a:r>
            <a:r>
              <a:rPr lang="ru-RU" sz="3600" dirty="0"/>
              <a:t> не типизированы, т.е. они могут быть любого из литеральных типов данных.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CF39C-1FE1-21F4-4162-3D44AEF27C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Архитектура СУБД </a:t>
            </a:r>
            <a:r>
              <a:rPr lang="en-US" dirty="0"/>
              <a:t>Caché. TMDM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7FB45A-B8A4-B3C4-635E-597FE04E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93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ADA42-1005-F6A9-28FD-DD044CD5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7B0374-49C5-74C3-78D5-0509E1DF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636D-3E49-2F0A-CED5-0E0D36B81B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1"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4800" dirty="0"/>
              <a:t>Например, с помощью следующего </a:t>
            </a:r>
            <a:r>
              <a:rPr lang="ru-RU" sz="4800" dirty="0" err="1"/>
              <a:t>глобала</a:t>
            </a:r>
            <a:r>
              <a:rPr lang="ru-RU" sz="4800" dirty="0"/>
              <a:t> можно описать количество машин Mercedes SL600 черного цвета на складе: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^car("Mercedes","SL600","black")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10</a:t>
            </a:r>
            <a:endParaRPr lang="ru-RU" sz="48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4800" dirty="0"/>
              <a:t>Немного усложняя приведенную структуру описания данных, можно определить все доступные цвета для Mercedes SL600: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^car("Mercedes","SL600","colors")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</a:t>
            </a:r>
            <a:endParaRPr lang="ru-RU" sz="48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^car("Mercedes","SL600","colors",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1)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"black"</a:t>
            </a:r>
            <a:endParaRPr lang="ru-RU" sz="48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^car("Mercedes","SL600","colors",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2)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"blue"</a:t>
            </a:r>
            <a:endParaRPr lang="ru-RU" sz="48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^car("Mercedes","SL600","colors",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3)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</a:t>
            </a:r>
            <a:r>
              <a:rPr lang="ru-RU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4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"white"</a:t>
            </a:r>
            <a:endParaRPr lang="ru-RU" sz="48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4800" dirty="0"/>
              <a:t>Применение разреженных массивов позволяет оптимизировать использование объема жесткого диска и сократить время, требуемое на выполнение I/O операций и извлечение данных.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DC696-1EF6-C2AC-A84C-0B2B14F46E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Архитектура СУБД </a:t>
            </a:r>
            <a:r>
              <a:rPr lang="en-US" dirty="0"/>
              <a:t>Caché. </a:t>
            </a:r>
            <a:r>
              <a:rPr lang="ru-RU" dirty="0" err="1"/>
              <a:t>Глобалы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F6327C-F6AD-9E03-6185-ECA18433E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109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BA28-72C8-D02E-6F2C-A6D44C5B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D71044-CFF1-D911-701A-1600189C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F1781-A40F-4062-3CAC-D690CE208F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1">
            <a:normAutofit fontScale="4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4800" dirty="0"/>
              <a:t>В соответствии с ODMG, каждый объект </a:t>
            </a:r>
            <a:r>
              <a:rPr lang="ru-RU" sz="4800" dirty="0" err="1"/>
              <a:t>Cach</a:t>
            </a:r>
            <a:r>
              <a:rPr lang="en-US" sz="4800" dirty="0"/>
              <a:t>é</a:t>
            </a:r>
            <a:r>
              <a:rPr lang="ru-RU" sz="4800" dirty="0"/>
              <a:t> имеет определенный, единственный тип.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4800" dirty="0"/>
              <a:t>Поведение объекта определяется операциями (методами), а состояние объекта - значениями его свойств.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4800" dirty="0"/>
              <a:t>Свойства и операции составляют характеристики типа.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4800" dirty="0"/>
              <a:t>Тип определяется одним интерфейсом, которому может соответствовать одна или большее число реализаций. </a:t>
            </a:r>
            <a:endParaRPr lang="ru-RU" sz="6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B57ED-8B29-1F6D-05A5-E64F243218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Архитектура СУБД </a:t>
            </a:r>
            <a:r>
              <a:rPr lang="en-US" dirty="0"/>
              <a:t>Caché. </a:t>
            </a:r>
            <a:r>
              <a:rPr lang="ru-RU" dirty="0"/>
              <a:t>Сервер </a:t>
            </a:r>
            <a:r>
              <a:rPr lang="en-US" dirty="0"/>
              <a:t>Caché Objects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FD8A98-1DC2-9114-791F-0F2ED0E8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250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1FDC6-6370-DB04-CAC7-501D0BD63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6B78D1-AC7A-8FCE-A012-3DA51EF3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93A77-7A8E-1A18-716F-AC095C4CDA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73612"/>
          </a:xfrm>
        </p:spPr>
        <p:txBody>
          <a:bodyPr numCol="1">
            <a:normAutofit fontScale="47500" lnSpcReduction="20000"/>
          </a:bodyPr>
          <a:lstStyle/>
          <a:p>
            <a:pPr marL="266700" indent="-247650">
              <a:lnSpc>
                <a:spcPct val="120000"/>
              </a:lnSpc>
              <a:spcBef>
                <a:spcPts val="0"/>
              </a:spcBef>
            </a:pPr>
            <a:r>
              <a:rPr lang="ru-RU" sz="2800" dirty="0"/>
              <a:t>В соответствии со стандартом в </a:t>
            </a:r>
            <a:r>
              <a:rPr lang="ru-RU" sz="2800" dirty="0" err="1"/>
              <a:t>Cach</a:t>
            </a:r>
            <a:r>
              <a:rPr lang="en-US" sz="2800" dirty="0"/>
              <a:t>é </a:t>
            </a:r>
            <a:r>
              <a:rPr lang="ru-RU" sz="2800" dirty="0"/>
              <a:t>реализовано два типа классов: </a:t>
            </a:r>
          </a:p>
          <a:p>
            <a:pPr marL="542925" lvl="2" indent="-27622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500" dirty="0"/>
              <a:t>Классы типов данных (литералы). </a:t>
            </a:r>
          </a:p>
          <a:p>
            <a:pPr marL="542925" lvl="2" indent="-27622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500" dirty="0"/>
              <a:t>Классы объектов (объекты). </a:t>
            </a:r>
          </a:p>
          <a:p>
            <a:pPr marL="266700" indent="-266700">
              <a:lnSpc>
                <a:spcPct val="120000"/>
              </a:lnSpc>
              <a:spcBef>
                <a:spcPts val="0"/>
              </a:spcBef>
            </a:pPr>
            <a:r>
              <a:rPr lang="ru-RU" sz="2800" dirty="0"/>
              <a:t>Классы типов данных определяют допустимые значения констант (литералов) и позволяют их контролировать. </a:t>
            </a:r>
          </a:p>
          <a:p>
            <a:pPr marL="266700" indent="-266700">
              <a:lnSpc>
                <a:spcPct val="120000"/>
              </a:lnSpc>
              <a:spcBef>
                <a:spcPts val="0"/>
              </a:spcBef>
            </a:pPr>
            <a:r>
              <a:rPr lang="ru-RU" sz="2800" dirty="0"/>
              <a:t>Литерал не может существовать независимо от своего значения, в то время как объекты имеют уникальную идентификацию. </a:t>
            </a:r>
          </a:p>
          <a:p>
            <a:pPr marL="266700" indent="-266700">
              <a:lnSpc>
                <a:spcPct val="120000"/>
              </a:lnSpc>
              <a:spcBef>
                <a:spcPts val="0"/>
              </a:spcBef>
            </a:pPr>
            <a:r>
              <a:rPr lang="ru-RU" sz="2800" dirty="0"/>
              <a:t>Классы типов данных подразделяется на два подкласса типов: </a:t>
            </a:r>
          </a:p>
          <a:p>
            <a:pPr marL="542925" lvl="2" indent="-27622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500" dirty="0"/>
              <a:t>Атомарные </a:t>
            </a:r>
          </a:p>
          <a:p>
            <a:pPr marL="542925" lvl="2" indent="-27622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500" dirty="0"/>
              <a:t>Структурированные. </a:t>
            </a:r>
          </a:p>
          <a:p>
            <a:pPr marL="266700" indent="-266700">
              <a:lnSpc>
                <a:spcPct val="120000"/>
              </a:lnSpc>
              <a:spcBef>
                <a:spcPts val="0"/>
              </a:spcBef>
            </a:pPr>
            <a:r>
              <a:rPr lang="ru-RU" sz="2800" dirty="0"/>
              <a:t>Атомарными литеральными типами в </a:t>
            </a:r>
            <a:r>
              <a:rPr lang="ru-RU" sz="2800" dirty="0" err="1"/>
              <a:t>Cach</a:t>
            </a:r>
            <a:r>
              <a:rPr lang="en-US" sz="2800" dirty="0"/>
              <a:t>é</a:t>
            </a:r>
            <a:r>
              <a:rPr lang="ru-RU" sz="2800" dirty="0"/>
              <a:t> являются традиционные скалярные типы данных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(%</a:t>
            </a:r>
            <a:r>
              <a:rPr lang="ru-RU" sz="28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ru-RU" sz="2800" dirty="0"/>
              <a:t>,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%</a:t>
            </a:r>
            <a:r>
              <a:rPr lang="ru-RU" sz="28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Integer</a:t>
            </a:r>
            <a:r>
              <a:rPr lang="ru-RU" sz="2800" dirty="0"/>
              <a:t>,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%</a:t>
            </a:r>
            <a:r>
              <a:rPr lang="ru-RU" sz="28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Float</a:t>
            </a:r>
            <a:r>
              <a:rPr lang="ru-RU" sz="2800" dirty="0"/>
              <a:t>,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%</a:t>
            </a:r>
            <a:r>
              <a:rPr lang="ru-RU" sz="28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Date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/>
              <a:t>и др.). </a:t>
            </a:r>
          </a:p>
          <a:p>
            <a:pPr marL="266700" indent="-266700">
              <a:lnSpc>
                <a:spcPct val="120000"/>
              </a:lnSpc>
              <a:spcBef>
                <a:spcPts val="0"/>
              </a:spcBef>
            </a:pPr>
            <a:r>
              <a:rPr lang="ru-RU" sz="2800" dirty="0"/>
              <a:t>В </a:t>
            </a:r>
            <a:r>
              <a:rPr lang="ru-RU" sz="2800" dirty="0" err="1"/>
              <a:t>Cach</a:t>
            </a:r>
            <a:r>
              <a:rPr lang="en-US" sz="2800" dirty="0"/>
              <a:t>é</a:t>
            </a:r>
            <a:r>
              <a:rPr lang="ru-RU" sz="2800" dirty="0"/>
              <a:t> реализованы две структуры классов типов данных - </a:t>
            </a:r>
            <a:r>
              <a:rPr lang="ru-RU" sz="2800" b="1" dirty="0"/>
              <a:t>список</a:t>
            </a:r>
            <a:r>
              <a:rPr lang="ru-RU" sz="2800" dirty="0"/>
              <a:t> и </a:t>
            </a:r>
            <a:r>
              <a:rPr lang="ru-RU" sz="2800" b="1" dirty="0"/>
              <a:t>массив</a:t>
            </a:r>
            <a:r>
              <a:rPr lang="ru-RU" sz="2800" dirty="0"/>
              <a:t>. </a:t>
            </a:r>
          </a:p>
          <a:p>
            <a:pPr marL="266700" indent="-266700">
              <a:lnSpc>
                <a:spcPct val="120000"/>
              </a:lnSpc>
              <a:spcBef>
                <a:spcPts val="0"/>
              </a:spcBef>
            </a:pPr>
            <a:r>
              <a:rPr lang="ru-RU" sz="2800" dirty="0"/>
              <a:t>Каждый литерал уникально идентифицируется индексом в массиве и порядковым номером в списке.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9A7A1-32CC-036E-C0AF-ADA3EC743B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Сервер </a:t>
            </a:r>
            <a:r>
              <a:rPr lang="en-US" dirty="0"/>
              <a:t>Caché Objects</a:t>
            </a:r>
            <a:r>
              <a:rPr lang="ru-RU" dirty="0"/>
              <a:t>. Классы </a:t>
            </a:r>
            <a:r>
              <a:rPr lang="en-US" dirty="0"/>
              <a:t>Caché</a:t>
            </a:r>
            <a:r>
              <a:rPr lang="ru-RU" dirty="0"/>
              <a:t> (1)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CA4BD4-BFBE-633F-A4EA-1D57685F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68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18540-FF9A-72BC-4921-C16C2F33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318984-65DB-201D-D10E-34123B9EA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262E7-AFC7-B3EB-251B-5002736469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4581203" cy="3073612"/>
          </a:xfrm>
        </p:spPr>
        <p:txBody>
          <a:bodyPr numCol="1">
            <a:normAutofit fontScale="55000" lnSpcReduction="20000"/>
          </a:bodyPr>
          <a:lstStyle/>
          <a:p>
            <a:pPr marL="266700" indent="-247650">
              <a:lnSpc>
                <a:spcPct val="120000"/>
              </a:lnSpc>
              <a:spcBef>
                <a:spcPts val="600"/>
              </a:spcBef>
            </a:pPr>
            <a:r>
              <a:rPr lang="ru-RU" sz="2800" dirty="0"/>
              <a:t>Зарегистрированные классы обладают предопределенным поведением, т.е. набором методов, наследуемых из системного класса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%</a:t>
            </a:r>
            <a:r>
              <a:rPr lang="ru-RU" sz="28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RegisteredObject</a:t>
            </a:r>
            <a:r>
              <a:rPr lang="ru-RU" sz="2800" dirty="0"/>
              <a:t> и отвечающих за создание новых объектов и за управление размещением объектов в памяти. </a:t>
            </a:r>
          </a:p>
          <a:p>
            <a:pPr marL="266700" indent="-247650">
              <a:lnSpc>
                <a:spcPct val="120000"/>
              </a:lnSpc>
              <a:spcBef>
                <a:spcPts val="600"/>
              </a:spcBef>
            </a:pPr>
            <a:r>
              <a:rPr lang="ru-RU" sz="2800" dirty="0"/>
              <a:t>Незарегистрированные классы не обладают предопределенным поведением, разработка функций (методов) класса целиком и полностью возлагается на разработчика.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33CC2-EE7D-FE7F-1123-8EAECB9CEE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Сервер </a:t>
            </a:r>
            <a:r>
              <a:rPr lang="en-US" dirty="0"/>
              <a:t>Caché Objects</a:t>
            </a:r>
            <a:r>
              <a:rPr lang="ru-RU" dirty="0"/>
              <a:t>. Классы </a:t>
            </a:r>
            <a:r>
              <a:rPr lang="en-US" dirty="0"/>
              <a:t>Caché</a:t>
            </a:r>
            <a:r>
              <a:rPr lang="ru-RU" dirty="0"/>
              <a:t> (2)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53C7BF-47AE-C248-F22B-B72B5DB7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7B730-4771-7EA7-B4FC-EFE6845A93D4}"/>
              </a:ext>
            </a:extLst>
          </p:cNvPr>
          <p:cNvSpPr txBox="1"/>
          <p:nvPr/>
        </p:nvSpPr>
        <p:spPr>
          <a:xfrm>
            <a:off x="5066224" y="1821799"/>
            <a:ext cx="9912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Классы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4A7992-344B-2D4A-BDF2-40B84C03ACE1}"/>
              </a:ext>
            </a:extLst>
          </p:cNvPr>
          <p:cNvSpPr txBox="1"/>
          <p:nvPr/>
        </p:nvSpPr>
        <p:spPr>
          <a:xfrm>
            <a:off x="7338924" y="1683300"/>
            <a:ext cx="155355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Классы типов данных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7F8D8-AEC8-280D-4D6D-8B768498F74F}"/>
              </a:ext>
            </a:extLst>
          </p:cNvPr>
          <p:cNvSpPr txBox="1"/>
          <p:nvPr/>
        </p:nvSpPr>
        <p:spPr>
          <a:xfrm>
            <a:off x="4985797" y="2405407"/>
            <a:ext cx="115212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Классы объектов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094AC-8184-BDA2-CF0F-009C2918887B}"/>
              </a:ext>
            </a:extLst>
          </p:cNvPr>
          <p:cNvSpPr txBox="1"/>
          <p:nvPr/>
        </p:nvSpPr>
        <p:spPr>
          <a:xfrm>
            <a:off x="4406737" y="3239624"/>
            <a:ext cx="231024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ptos Narrow" panose="020B0004020202020204" pitchFamily="34" charset="0"/>
              </a:rPr>
              <a:t>Зарегистрированные</a:t>
            </a:r>
            <a:br>
              <a:rPr lang="ru-RU" b="1" dirty="0">
                <a:latin typeface="Aptos Narrow" panose="020B0004020202020204" pitchFamily="34" charset="0"/>
              </a:rPr>
            </a:br>
            <a:r>
              <a:rPr lang="ru-RU" b="1" dirty="0">
                <a:latin typeface="Aptos Narrow" panose="020B0004020202020204" pitchFamily="34" charset="0"/>
              </a:rPr>
              <a:t>классы</a:t>
            </a:r>
            <a:endParaRPr lang="en-US" b="1" dirty="0">
              <a:latin typeface="Aptos Narrow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C7DE94-06B2-0DD4-9FC7-7330C0ADF233}"/>
              </a:ext>
            </a:extLst>
          </p:cNvPr>
          <p:cNvSpPr txBox="1"/>
          <p:nvPr/>
        </p:nvSpPr>
        <p:spPr>
          <a:xfrm>
            <a:off x="4744169" y="4073841"/>
            <a:ext cx="163538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Встраиваемые 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классы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7566C-4683-AC9A-BAFF-1FE30F6E54DB}"/>
              </a:ext>
            </a:extLst>
          </p:cNvPr>
          <p:cNvSpPr txBox="1"/>
          <p:nvPr/>
        </p:nvSpPr>
        <p:spPr>
          <a:xfrm>
            <a:off x="7668344" y="3239624"/>
            <a:ext cx="121703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Хранимые классы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B2F03-CF6E-4496-C397-F2E12090A70E}"/>
              </a:ext>
            </a:extLst>
          </p:cNvPr>
          <p:cNvSpPr txBox="1"/>
          <p:nvPr/>
        </p:nvSpPr>
        <p:spPr>
          <a:xfrm>
            <a:off x="6300193" y="2405406"/>
            <a:ext cx="257738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Aptos Narrow" panose="020B0004020202020204" pitchFamily="34" charset="0"/>
              </a:rPr>
              <a:t>Незарегистрированные</a:t>
            </a:r>
            <a:br>
              <a:rPr lang="ru-RU" b="1" dirty="0">
                <a:latin typeface="Aptos Narrow" panose="020B0004020202020204" pitchFamily="34" charset="0"/>
              </a:rPr>
            </a:br>
            <a:r>
              <a:rPr lang="ru-RU" b="1" dirty="0">
                <a:latin typeface="Aptos Narrow" panose="020B0004020202020204" pitchFamily="34" charset="0"/>
              </a:rPr>
              <a:t>классы</a:t>
            </a:r>
            <a:endParaRPr lang="en-US" b="1" dirty="0">
              <a:latin typeface="Aptos Narrow" panose="020B00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E5B70F-C9ED-85D7-70C6-1EFA15B443A1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 flipV="1">
            <a:off x="6057499" y="2006465"/>
            <a:ext cx="128142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B3A3A52-A2C7-63F3-CBF3-721D092CC354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5561861" y="2191131"/>
            <a:ext cx="1" cy="214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868FC04-705F-08B4-7DFD-4B52F06A3AD0}"/>
              </a:ext>
            </a:extLst>
          </p:cNvPr>
          <p:cNvCxnSpPr>
            <a:cxnSpLocks/>
            <a:stCxn id="13" idx="1"/>
            <a:endCxn id="8" idx="3"/>
          </p:cNvCxnSpPr>
          <p:nvPr/>
        </p:nvCxnSpPr>
        <p:spPr>
          <a:xfrm flipH="1">
            <a:off x="6137925" y="2728572"/>
            <a:ext cx="16226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9782459-F2EA-F3B4-A1B2-3E667031DF96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H="1" flipV="1">
            <a:off x="5561861" y="3051738"/>
            <a:ext cx="1" cy="1878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6C64016-DF55-8B41-7509-D5B2D61D39CE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flipH="1">
            <a:off x="6716986" y="3562790"/>
            <a:ext cx="9513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693169E-AA73-0FEA-2280-746A0AA40DB5}"/>
              </a:ext>
            </a:extLst>
          </p:cNvPr>
          <p:cNvCxnSpPr>
            <a:cxnSpLocks/>
            <a:stCxn id="11" idx="0"/>
            <a:endCxn id="9" idx="2"/>
          </p:cNvCxnSpPr>
          <p:nvPr/>
        </p:nvCxnSpPr>
        <p:spPr>
          <a:xfrm flipV="1">
            <a:off x="5561861" y="3885955"/>
            <a:ext cx="1" cy="1878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28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4BCCF-C9E9-9D7B-A4A3-04B8EC2B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B7E266-35CA-20F7-33FC-8B30588C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BEB22-24D5-45F0-C58C-4CFAB9E158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4017508" cy="3073612"/>
          </a:xfrm>
        </p:spPr>
        <p:txBody>
          <a:bodyPr numCol="1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2800" dirty="0"/>
              <a:t>Зарегистрированные классы могут быть двух типов - </a:t>
            </a:r>
            <a:r>
              <a:rPr lang="ru-RU" sz="2800" b="1" dirty="0"/>
              <a:t>встраиваемые</a:t>
            </a:r>
            <a:r>
              <a:rPr lang="ru-RU" sz="2800" dirty="0"/>
              <a:t> и </a:t>
            </a:r>
            <a:r>
              <a:rPr lang="ru-RU" sz="2800" b="1" dirty="0"/>
              <a:t>хранимые</a:t>
            </a:r>
            <a:r>
              <a:rPr lang="ru-RU" sz="2800" dirty="0"/>
              <a:t>.</a:t>
            </a:r>
          </a:p>
          <a:p>
            <a:r>
              <a:rPr lang="ru-RU" sz="2800" b="1" dirty="0">
                <a:solidFill>
                  <a:srgbClr val="C00000"/>
                </a:solidFill>
              </a:rPr>
              <a:t>Встраиваемые классы </a:t>
            </a:r>
            <a:r>
              <a:rPr lang="ru-RU" sz="2800" dirty="0"/>
              <a:t>наследуют свое </a:t>
            </a:r>
            <a:br>
              <a:rPr lang="ru-RU" sz="2800" dirty="0"/>
            </a:br>
            <a:r>
              <a:rPr lang="ru-RU" sz="2800" dirty="0"/>
              <a:t>поведение от системного класса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%</a:t>
            </a:r>
            <a:r>
              <a:rPr lang="ru-RU" sz="28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SerialObject</a:t>
            </a:r>
            <a:r>
              <a:rPr lang="ru-RU" sz="2800" dirty="0"/>
              <a:t>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95694-72C1-1E57-07F6-83EE87BA2B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Сервер </a:t>
            </a:r>
            <a:r>
              <a:rPr lang="en-US" dirty="0"/>
              <a:t>Caché Objects</a:t>
            </a:r>
            <a:r>
              <a:rPr lang="ru-RU" dirty="0"/>
              <a:t>. Классы </a:t>
            </a:r>
            <a:r>
              <a:rPr lang="en-US" dirty="0"/>
              <a:t>Caché</a:t>
            </a:r>
            <a:r>
              <a:rPr lang="ru-RU" dirty="0"/>
              <a:t> (3)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FEA11D-AECD-91C0-D097-9CDDD7AB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F0181-FC22-C1E6-548C-5AD57FDD4251}"/>
              </a:ext>
            </a:extLst>
          </p:cNvPr>
          <p:cNvSpPr txBox="1"/>
          <p:nvPr/>
        </p:nvSpPr>
        <p:spPr>
          <a:xfrm>
            <a:off x="5066224" y="1821799"/>
            <a:ext cx="9912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Классы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338DC-D7A6-4B25-B676-3878A6203700}"/>
              </a:ext>
            </a:extLst>
          </p:cNvPr>
          <p:cNvSpPr txBox="1"/>
          <p:nvPr/>
        </p:nvSpPr>
        <p:spPr>
          <a:xfrm>
            <a:off x="7338924" y="1683300"/>
            <a:ext cx="155355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Классы типов данных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6FF1E-E497-6D24-11D4-16A0AA7E6D29}"/>
              </a:ext>
            </a:extLst>
          </p:cNvPr>
          <p:cNvSpPr txBox="1"/>
          <p:nvPr/>
        </p:nvSpPr>
        <p:spPr>
          <a:xfrm>
            <a:off x="4985797" y="2405407"/>
            <a:ext cx="115212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Классы объектов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488F4-AE79-EA81-420F-3CCD2111118D}"/>
              </a:ext>
            </a:extLst>
          </p:cNvPr>
          <p:cNvSpPr txBox="1"/>
          <p:nvPr/>
        </p:nvSpPr>
        <p:spPr>
          <a:xfrm>
            <a:off x="4406737" y="3239624"/>
            <a:ext cx="231024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ptos Narrow" panose="020B0004020202020204" pitchFamily="34" charset="0"/>
              </a:rPr>
              <a:t>Зарегистрированные</a:t>
            </a:r>
            <a:br>
              <a:rPr lang="ru-RU" b="1" dirty="0">
                <a:latin typeface="Aptos Narrow" panose="020B0004020202020204" pitchFamily="34" charset="0"/>
              </a:rPr>
            </a:br>
            <a:r>
              <a:rPr lang="ru-RU" b="1" dirty="0">
                <a:latin typeface="Aptos Narrow" panose="020B0004020202020204" pitchFamily="34" charset="0"/>
              </a:rPr>
              <a:t>классы</a:t>
            </a:r>
            <a:endParaRPr lang="en-US" b="1" dirty="0">
              <a:latin typeface="Aptos Narrow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66C929-5F55-3135-69FB-160039840638}"/>
              </a:ext>
            </a:extLst>
          </p:cNvPr>
          <p:cNvSpPr txBox="1"/>
          <p:nvPr/>
        </p:nvSpPr>
        <p:spPr>
          <a:xfrm>
            <a:off x="4716116" y="4073841"/>
            <a:ext cx="169149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ptos Narrow" panose="020B0004020202020204" pitchFamily="34" charset="0"/>
              </a:rPr>
              <a:t>Встраиваемые </a:t>
            </a:r>
            <a:br>
              <a:rPr lang="ru-RU" b="1" dirty="0">
                <a:latin typeface="Aptos Narrow" panose="020B0004020202020204" pitchFamily="34" charset="0"/>
              </a:rPr>
            </a:br>
            <a:r>
              <a:rPr lang="ru-RU" b="1" dirty="0">
                <a:latin typeface="Aptos Narrow" panose="020B0004020202020204" pitchFamily="34" charset="0"/>
              </a:rPr>
              <a:t>классы</a:t>
            </a:r>
            <a:endParaRPr lang="en-US" b="1" dirty="0">
              <a:latin typeface="Aptos Narrow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F2BB4-8AAB-9DDB-EED8-8DACBC7139CD}"/>
              </a:ext>
            </a:extLst>
          </p:cNvPr>
          <p:cNvSpPr txBox="1"/>
          <p:nvPr/>
        </p:nvSpPr>
        <p:spPr>
          <a:xfrm>
            <a:off x="7668344" y="3239624"/>
            <a:ext cx="121703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Хранимые классы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5CFBA-3311-9AB0-8FCB-512FE1583700}"/>
              </a:ext>
            </a:extLst>
          </p:cNvPr>
          <p:cNvSpPr txBox="1"/>
          <p:nvPr/>
        </p:nvSpPr>
        <p:spPr>
          <a:xfrm>
            <a:off x="6300197" y="2405406"/>
            <a:ext cx="257737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Незарегистрированные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классы</a:t>
            </a:r>
            <a:endParaRPr lang="en-US" dirty="0">
              <a:latin typeface="Aptos Narrow" panose="020B00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75A3602-0494-9F32-D5B2-5C4A64BAC3FF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 flipV="1">
            <a:off x="6057499" y="2006465"/>
            <a:ext cx="128142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DEC6D4-29A1-F075-F2D2-CF8CCA3C6E8D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5561861" y="2191131"/>
            <a:ext cx="1" cy="214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5752B7E-A1DA-D62E-E250-EAF8073BD086}"/>
              </a:ext>
            </a:extLst>
          </p:cNvPr>
          <p:cNvCxnSpPr>
            <a:cxnSpLocks/>
            <a:stCxn id="13" idx="1"/>
            <a:endCxn id="8" idx="3"/>
          </p:cNvCxnSpPr>
          <p:nvPr/>
        </p:nvCxnSpPr>
        <p:spPr>
          <a:xfrm flipH="1">
            <a:off x="6137925" y="2728572"/>
            <a:ext cx="16227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9A8B084-C7A2-EFB9-92B8-31A36A2CD823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H="1" flipV="1">
            <a:off x="5561861" y="3051738"/>
            <a:ext cx="1" cy="1878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6A0B83-929F-764A-DF3A-D55A3BD0EBF2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flipH="1">
            <a:off x="6716986" y="3562790"/>
            <a:ext cx="9513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F57C5B4-793B-8B6A-83CB-12B49AC07A86}"/>
              </a:ext>
            </a:extLst>
          </p:cNvPr>
          <p:cNvCxnSpPr>
            <a:cxnSpLocks/>
            <a:stCxn id="11" idx="0"/>
            <a:endCxn id="9" idx="2"/>
          </p:cNvCxnSpPr>
          <p:nvPr/>
        </p:nvCxnSpPr>
        <p:spPr>
          <a:xfrm flipV="1">
            <a:off x="5561861" y="3885955"/>
            <a:ext cx="1" cy="1878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221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266AF-45A1-E88C-BEEB-DAC6FCF8C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7B6B47-AD30-7AAC-5415-5CF26B18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BC77A-DBCE-3F86-0379-9A40F4C0DD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2394"/>
            <a:ext cx="4017508" cy="3073612"/>
          </a:xfrm>
        </p:spPr>
        <p:txBody>
          <a:bodyPr numCol="1"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ru-RU" sz="2400" b="1" dirty="0">
                <a:solidFill>
                  <a:srgbClr val="C00000"/>
                </a:solidFill>
              </a:rPr>
              <a:t>Хранимые классы </a:t>
            </a:r>
            <a:r>
              <a:rPr lang="ru-RU" sz="2400" dirty="0"/>
              <a:t>наследуют свое поведение от системного класса </a:t>
            </a:r>
            <a:r>
              <a:rPr lang="ru-RU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%</a:t>
            </a:r>
            <a:r>
              <a:rPr lang="ru-RU" sz="24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Persistent</a:t>
            </a:r>
            <a:endParaRPr lang="ru-RU" sz="2400" dirty="0"/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ru-RU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%</a:t>
            </a:r>
            <a:r>
              <a:rPr lang="ru-RU" sz="24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Persistent</a:t>
            </a:r>
            <a:r>
              <a:rPr lang="ru-RU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400" dirty="0"/>
              <a:t>предоставляет обширный набор функций своим наследникам, включающий: </a:t>
            </a:r>
          </a:p>
          <a:p>
            <a:pPr marL="742950" lvl="2" indent="-342900">
              <a:lnSpc>
                <a:spcPct val="120000"/>
              </a:lnSpc>
              <a:spcBef>
                <a:spcPts val="300"/>
              </a:spcBef>
              <a:buClr>
                <a:srgbClr val="FF0000"/>
              </a:buClr>
            </a:pPr>
            <a:r>
              <a:rPr lang="ru-RU" sz="2200" b="1" dirty="0"/>
              <a:t>создание объекта, </a:t>
            </a:r>
          </a:p>
          <a:p>
            <a:pPr marL="742950" lvl="2" indent="-342900">
              <a:lnSpc>
                <a:spcPct val="120000"/>
              </a:lnSpc>
              <a:spcBef>
                <a:spcPts val="300"/>
              </a:spcBef>
              <a:buClr>
                <a:srgbClr val="FF0000"/>
              </a:buClr>
            </a:pPr>
            <a:r>
              <a:rPr lang="ru-RU" sz="2200" b="1" dirty="0"/>
              <a:t>подкачку объекта из БД в память, </a:t>
            </a:r>
          </a:p>
          <a:p>
            <a:pPr marL="742950" lvl="2" indent="-342900">
              <a:lnSpc>
                <a:spcPct val="120000"/>
              </a:lnSpc>
              <a:spcBef>
                <a:spcPts val="300"/>
              </a:spcBef>
              <a:buClr>
                <a:srgbClr val="FF0000"/>
              </a:buClr>
            </a:pPr>
            <a:r>
              <a:rPr lang="ru-RU" sz="2200" b="1" dirty="0"/>
              <a:t>удаление объекта </a:t>
            </a:r>
            <a:r>
              <a:rPr lang="ru-RU" sz="2200" dirty="0"/>
              <a:t>и т.п.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AA42C-FFA8-CF53-E6A8-12670E5B2A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Сервер </a:t>
            </a:r>
            <a:r>
              <a:rPr lang="en-US" dirty="0"/>
              <a:t>Caché Objects</a:t>
            </a:r>
            <a:r>
              <a:rPr lang="ru-RU" dirty="0"/>
              <a:t>. Классы </a:t>
            </a:r>
            <a:r>
              <a:rPr lang="en-US" dirty="0"/>
              <a:t>Caché</a:t>
            </a:r>
            <a:r>
              <a:rPr lang="ru-RU" dirty="0"/>
              <a:t> (4)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569236-4B09-CA8B-F584-10155379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DB717-0CEA-256A-DE0B-EAC1C27E248E}"/>
              </a:ext>
            </a:extLst>
          </p:cNvPr>
          <p:cNvSpPr txBox="1"/>
          <p:nvPr/>
        </p:nvSpPr>
        <p:spPr>
          <a:xfrm>
            <a:off x="5066224" y="1821799"/>
            <a:ext cx="9912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Классы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3CB95-C043-B81B-1E00-CB967B5E5C70}"/>
              </a:ext>
            </a:extLst>
          </p:cNvPr>
          <p:cNvSpPr txBox="1"/>
          <p:nvPr/>
        </p:nvSpPr>
        <p:spPr>
          <a:xfrm>
            <a:off x="7338924" y="1683300"/>
            <a:ext cx="155355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Классы типов данных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3AB6D6-1D8B-61AB-BE36-95CC09F42C6B}"/>
              </a:ext>
            </a:extLst>
          </p:cNvPr>
          <p:cNvSpPr txBox="1"/>
          <p:nvPr/>
        </p:nvSpPr>
        <p:spPr>
          <a:xfrm>
            <a:off x="4985797" y="2405407"/>
            <a:ext cx="115212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Классы объектов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3738F0-1117-D06A-EBBB-80DF609E859F}"/>
              </a:ext>
            </a:extLst>
          </p:cNvPr>
          <p:cNvSpPr txBox="1"/>
          <p:nvPr/>
        </p:nvSpPr>
        <p:spPr>
          <a:xfrm>
            <a:off x="4442003" y="3239624"/>
            <a:ext cx="223971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Зарегистрированные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классы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DB5837-F3EF-8615-B8C8-7AA6FC212B2B}"/>
              </a:ext>
            </a:extLst>
          </p:cNvPr>
          <p:cNvSpPr txBox="1"/>
          <p:nvPr/>
        </p:nvSpPr>
        <p:spPr>
          <a:xfrm>
            <a:off x="4744169" y="4073841"/>
            <a:ext cx="163538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Встраиваемые 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классы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091F41-19DE-EBA2-03DD-4AD4EA04BB6D}"/>
              </a:ext>
            </a:extLst>
          </p:cNvPr>
          <p:cNvSpPr txBox="1"/>
          <p:nvPr/>
        </p:nvSpPr>
        <p:spPr>
          <a:xfrm>
            <a:off x="7668344" y="3239624"/>
            <a:ext cx="121703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Aptos Narrow" panose="020B0004020202020204" pitchFamily="34" charset="0"/>
              </a:rPr>
              <a:t>Хранимые классы</a:t>
            </a:r>
            <a:endParaRPr lang="en-US" b="1" dirty="0">
              <a:latin typeface="Aptos Narrow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55EC30-165D-EA1E-C7CD-CFE046B004C4}"/>
              </a:ext>
            </a:extLst>
          </p:cNvPr>
          <p:cNvSpPr txBox="1"/>
          <p:nvPr/>
        </p:nvSpPr>
        <p:spPr>
          <a:xfrm>
            <a:off x="6300197" y="2405406"/>
            <a:ext cx="257737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Narrow" panose="020B0004020202020204" pitchFamily="34" charset="0"/>
              </a:rPr>
              <a:t>Незарегистрированные</a:t>
            </a:r>
            <a:br>
              <a:rPr lang="ru-RU" dirty="0">
                <a:latin typeface="Aptos Narrow" panose="020B0004020202020204" pitchFamily="34" charset="0"/>
              </a:rPr>
            </a:br>
            <a:r>
              <a:rPr lang="ru-RU" dirty="0">
                <a:latin typeface="Aptos Narrow" panose="020B0004020202020204" pitchFamily="34" charset="0"/>
              </a:rPr>
              <a:t>классы</a:t>
            </a:r>
            <a:endParaRPr lang="en-US" dirty="0">
              <a:latin typeface="Aptos Narrow" panose="020B00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868729-EAB2-0CBD-C854-4A62AE321648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 flipV="1">
            <a:off x="6057499" y="2006465"/>
            <a:ext cx="128142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A106D5-9A4A-A27F-0A91-F12E69048436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5561861" y="2191131"/>
            <a:ext cx="1" cy="214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BA9512-C5A8-D490-E354-515472C34EA9}"/>
              </a:ext>
            </a:extLst>
          </p:cNvPr>
          <p:cNvCxnSpPr>
            <a:cxnSpLocks/>
            <a:stCxn id="13" idx="1"/>
            <a:endCxn id="8" idx="3"/>
          </p:cNvCxnSpPr>
          <p:nvPr/>
        </p:nvCxnSpPr>
        <p:spPr>
          <a:xfrm flipH="1">
            <a:off x="6137925" y="2728572"/>
            <a:ext cx="16227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669EB8-7B14-7B8E-9A31-0CB6172B803D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V="1">
            <a:off x="5561861" y="3051738"/>
            <a:ext cx="0" cy="1878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A24C9E3-5659-2E53-9573-6283E7004B70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flipH="1">
            <a:off x="6681719" y="3562790"/>
            <a:ext cx="9866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45C1A5-DD89-4A66-6CC9-D168795F96C4}"/>
              </a:ext>
            </a:extLst>
          </p:cNvPr>
          <p:cNvCxnSpPr>
            <a:cxnSpLocks/>
            <a:stCxn id="11" idx="0"/>
            <a:endCxn id="9" idx="2"/>
          </p:cNvCxnSpPr>
          <p:nvPr/>
        </p:nvCxnSpPr>
        <p:spPr>
          <a:xfrm flipV="1">
            <a:off x="5561861" y="3885955"/>
            <a:ext cx="0" cy="1878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893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D4E3-4CF3-8415-B6E0-18C5B2B7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444F9F-0CB8-3D51-07E2-6FE7CE64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7733A-8074-2E1F-9924-C8C90AAFAC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 spcCol="180000">
            <a:normAutofit/>
          </a:bodyPr>
          <a:lstStyle/>
          <a:p>
            <a:pPr marL="180975" indent="-180975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Наряду с реализацией в полном объеме основных принципов объектной технологии в СУБД </a:t>
            </a:r>
            <a:r>
              <a:rPr lang="ru-RU" sz="1200" dirty="0" err="1"/>
              <a:t>Cach</a:t>
            </a:r>
            <a:r>
              <a:rPr lang="en-US" sz="1200" dirty="0"/>
              <a:t>é </a:t>
            </a:r>
            <a:r>
              <a:rPr lang="ru-RU" sz="1200" b="1" dirty="0"/>
              <a:t>поддерживается также структурированный язык запросов SQL</a:t>
            </a:r>
            <a:r>
              <a:rPr lang="ru-RU" sz="1200" dirty="0"/>
              <a:t> для обеспечения выполнения запросов по стандарту, поддерживаемому многими инструментальными средствами.</a:t>
            </a:r>
          </a:p>
          <a:p>
            <a:pPr marL="180975" indent="-180975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Кроме этого, с помощью единой архитектуры данных </a:t>
            </a:r>
            <a:r>
              <a:rPr lang="en-US" sz="1200" dirty="0"/>
              <a:t>Caché</a:t>
            </a:r>
            <a:r>
              <a:rPr lang="ru-RU" sz="1200" dirty="0"/>
              <a:t> возможно </a:t>
            </a:r>
            <a:r>
              <a:rPr lang="ru-RU" sz="1200" b="1" dirty="0"/>
              <a:t>автоматическое преобразование </a:t>
            </a:r>
            <a:r>
              <a:rPr lang="ru-RU" sz="1200" dirty="0"/>
              <a:t>реляционных таблиц в классы объектов. </a:t>
            </a:r>
          </a:p>
          <a:p>
            <a:pPr marL="180975" indent="-180975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При этом, при поступлении на сервер </a:t>
            </a:r>
            <a:r>
              <a:rPr lang="en-US" sz="1200" dirty="0"/>
              <a:t>Cach</a:t>
            </a:r>
            <a:r>
              <a:rPr lang="en-US" sz="1200" dirty="0">
                <a:latin typeface="Arial"/>
                <a:cs typeface="Arial"/>
              </a:rPr>
              <a:t>é</a:t>
            </a:r>
            <a:r>
              <a:rPr lang="ru-RU" sz="1200" dirty="0">
                <a:latin typeface="Arial"/>
                <a:cs typeface="Arial"/>
              </a:rPr>
              <a:t> </a:t>
            </a:r>
            <a:r>
              <a:rPr lang="ru-RU" sz="1200" dirty="0"/>
              <a:t>DDL-описания реляционной таблицы </a:t>
            </a:r>
            <a:r>
              <a:rPr lang="ru-RU" sz="1200" dirty="0" err="1"/>
              <a:t>Cach</a:t>
            </a:r>
            <a:r>
              <a:rPr lang="en-US" sz="1200" dirty="0"/>
              <a:t>é</a:t>
            </a:r>
            <a:r>
              <a:rPr lang="ru-RU" sz="1200" dirty="0"/>
              <a:t> </a:t>
            </a:r>
            <a:r>
              <a:rPr lang="ru-RU" sz="1200" b="1" dirty="0"/>
              <a:t>автоматически преобразует DDL-описание во внутреннюю структуру хранения данных </a:t>
            </a:r>
            <a:r>
              <a:rPr lang="ru-RU" sz="1200" dirty="0"/>
              <a:t>и сохраняет полученную структуру в словаре данных. </a:t>
            </a:r>
          </a:p>
          <a:p>
            <a:pPr marL="180975" indent="-180975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Затем с помощью поставляемых в стандартной комплектации Java- или ODBC- драйверов производится </a:t>
            </a:r>
            <a:r>
              <a:rPr lang="ru-RU" sz="1200" b="1" dirty="0"/>
              <a:t>импорт данных из реляционных таблиц в многомерные структуры </a:t>
            </a:r>
            <a:r>
              <a:rPr lang="ru-RU" sz="1200" dirty="0"/>
              <a:t>ядра </a:t>
            </a:r>
            <a:r>
              <a:rPr lang="ru-RU" sz="1200" dirty="0" err="1"/>
              <a:t>Cache</a:t>
            </a:r>
            <a:r>
              <a:rPr lang="ru-RU" sz="1200" dirty="0"/>
              <a:t>'.</a:t>
            </a:r>
          </a:p>
          <a:p>
            <a:pPr marL="180975" indent="-180975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После чего </a:t>
            </a:r>
            <a:r>
              <a:rPr lang="ru-RU" sz="1200" dirty="0" err="1"/>
              <a:t>Cach</a:t>
            </a:r>
            <a:r>
              <a:rPr lang="en-US" sz="1200" dirty="0"/>
              <a:t>é </a:t>
            </a:r>
            <a:r>
              <a:rPr lang="ru-RU" sz="1200" dirty="0"/>
              <a:t>предоставляет возможность работы с данными, </a:t>
            </a:r>
            <a:r>
              <a:rPr lang="ru-RU" sz="1200" b="1" dirty="0"/>
              <a:t>как в виде реляционных таблиц, так и в виде классов </a:t>
            </a:r>
            <a:r>
              <a:rPr lang="ru-RU" sz="1200" dirty="0"/>
              <a:t>объектов. </a:t>
            </a:r>
          </a:p>
          <a:p>
            <a:pPr marL="180975" indent="-180975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Таким образом, при переходе с реляционной технологии на объектную технологию разработка не начинается с "нуля" - многое уже сделано </a:t>
            </a:r>
            <a:r>
              <a:rPr lang="ru-RU" sz="1200" dirty="0" err="1"/>
              <a:t>Cach</a:t>
            </a:r>
            <a:r>
              <a:rPr lang="en-US" sz="1200" dirty="0"/>
              <a:t>é</a:t>
            </a:r>
            <a:r>
              <a:rPr lang="ru-RU" sz="1200" dirty="0"/>
              <a:t> автоматически.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3C1C9-8C50-32EA-250F-EFE01088F0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Архитектура СУБД </a:t>
            </a:r>
            <a:r>
              <a:rPr lang="en-US" dirty="0"/>
              <a:t>Caché. </a:t>
            </a:r>
            <a:r>
              <a:rPr lang="ru-RU" dirty="0"/>
              <a:t>Сервер </a:t>
            </a:r>
            <a:r>
              <a:rPr lang="en-US" dirty="0"/>
              <a:t>Caché SQL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AF496B-3B4B-6E8C-D56D-D78A45A67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4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2DD3-6454-FA93-FA50-5806C983D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3746D-F49C-255F-8074-45318596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2EBCF-8F27-7AB6-1111-CB8B2A732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 spcCol="180000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200" dirty="0"/>
              <a:t>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CCBBE-76E1-89DB-AA27-3061B26D4B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Архитектура СУБД </a:t>
            </a:r>
            <a:r>
              <a:rPr lang="en-US" dirty="0"/>
              <a:t>Caché. </a:t>
            </a:r>
            <a:r>
              <a:rPr lang="ru-RU" dirty="0"/>
              <a:t>Сервер </a:t>
            </a:r>
            <a:r>
              <a:rPr lang="en-US" dirty="0"/>
              <a:t>Caché SQL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172FE0-6297-5E87-21CB-45C8D8D1F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B09F4E-0838-1D8C-732D-442316C9F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203063"/>
              </p:ext>
            </p:extLst>
          </p:nvPr>
        </p:nvGraphicFramePr>
        <p:xfrm>
          <a:off x="350836" y="1844985"/>
          <a:ext cx="7605540" cy="2845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02770">
                  <a:extLst>
                    <a:ext uri="{9D8B030D-6E8A-4147-A177-3AD203B41FA5}">
                      <a16:colId xmlns:a16="http://schemas.microsoft.com/office/drawing/2014/main" val="2083258586"/>
                    </a:ext>
                  </a:extLst>
                </a:gridCol>
                <a:gridCol w="3802770">
                  <a:extLst>
                    <a:ext uri="{9D8B030D-6E8A-4147-A177-3AD203B41FA5}">
                      <a16:colId xmlns:a16="http://schemas.microsoft.com/office/drawing/2014/main" val="4268917853"/>
                    </a:ext>
                  </a:extLst>
                </a:gridCol>
              </a:tblGrid>
              <a:tr h="188843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+mn-lt"/>
                        </a:rPr>
                        <a:t>Объектное понятие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+mn-lt"/>
                        </a:rPr>
                        <a:t>Реляционное понятие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115143338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Класс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Таблица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4096356944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Экземпляр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Строка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2968111415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Идентификатор объекта (OID)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ID-столбец в виде первичного ключа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1347870892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Свойство-константа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Столбец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1710945265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Ссылка на хранимый объект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Внешний ключ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500492684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Встраиваемый объект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Индивидуальные столбцы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4255657614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Коллекция-список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Столбец с полем-списком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3138298880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Коллекция-массив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Подтаблица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3190788205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Поток данных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BLOB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659789676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>
                          <a:effectLst/>
                          <a:latin typeface="+mn-lt"/>
                        </a:rPr>
                        <a:t>Индекс</a:t>
                      </a:r>
                      <a:endParaRPr lang="ru-RU" sz="1200" b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Индекс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3193931386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Запрос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Хранимая процедура или представление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1149921978"/>
                  </a:ext>
                </a:extLst>
              </a:tr>
              <a:tr h="188843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Метод класса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  <a:latin typeface="+mn-lt"/>
                        </a:rPr>
                        <a:t>Хранимая процедура</a:t>
                      </a:r>
                      <a:endParaRPr lang="ru-RU" sz="1200" b="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18000" marB="18000" anchor="ctr"/>
                </a:tc>
                <a:extLst>
                  <a:ext uri="{0D108BD9-81ED-4DB2-BD59-A6C34878D82A}">
                    <a16:rowId xmlns:a16="http://schemas.microsoft.com/office/drawing/2014/main" val="626451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871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8EF4-7E79-465E-D5E4-DF7695EB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F2E638-87D4-479E-F485-3C34AD5D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AE30B-D644-3C32-6A85-79D85260F4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 spcCol="180000"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2400" dirty="0"/>
              <a:t>СУБД </a:t>
            </a:r>
            <a:r>
              <a:rPr lang="ru-RU" sz="2400" dirty="0" err="1"/>
              <a:t>Cach</a:t>
            </a:r>
            <a:r>
              <a:rPr lang="en-US" sz="2400" dirty="0"/>
              <a:t>é </a:t>
            </a:r>
            <a:r>
              <a:rPr lang="ru-RU" sz="2400" dirty="0"/>
              <a:t>поддерживает все элементы ANSI-стандартов, реализованных для SQL и SQL-92.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2400" dirty="0"/>
              <a:t>Для облегчения разработки прикладных систем баз данных, </a:t>
            </a:r>
            <a:r>
              <a:rPr lang="ru-RU" sz="2400" dirty="0" err="1"/>
              <a:t>Cach</a:t>
            </a:r>
            <a:r>
              <a:rPr lang="en-US" sz="2400" dirty="0"/>
              <a:t>é </a:t>
            </a:r>
            <a:r>
              <a:rPr lang="ru-RU" sz="2400" dirty="0"/>
              <a:t>поддерживает встраивание SQL в методы и программы. Встроенный SQL может быть использован для решения следующих задач: </a:t>
            </a: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sz="2400" dirty="0"/>
              <a:t>Реализации сложных запросов к базам данных </a:t>
            </a: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sz="2400" dirty="0"/>
              <a:t>Представления полученных результатов запросов в качестве значений переменных встроенного языка разработки приложений </a:t>
            </a:r>
            <a:r>
              <a:rPr lang="ru-RU" sz="2400" dirty="0" err="1"/>
              <a:t>Cach</a:t>
            </a:r>
            <a:r>
              <a:rPr lang="en-US" sz="2400" dirty="0"/>
              <a:t>é </a:t>
            </a:r>
            <a:r>
              <a:rPr lang="ru-RU" sz="2400" dirty="0"/>
              <a:t>Object </a:t>
            </a:r>
            <a:r>
              <a:rPr lang="ru-RU" sz="2400" dirty="0" err="1"/>
              <a:t>Script</a:t>
            </a:r>
            <a:r>
              <a:rPr lang="ru-RU" sz="2400" dirty="0"/>
              <a:t> (COS).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2400" dirty="0"/>
              <a:t>Пример использования встроенного SQL запроса: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new id, Surname</a:t>
            </a:r>
            <a:endParaRPr lang="ru-RU" sz="24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 Surname="Ivanov"</a:t>
            </a:r>
            <a:endParaRPr lang="ru-RU" sz="24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447675" lvl="1" indent="952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&amp;</a:t>
            </a:r>
            <a:r>
              <a:rPr lang="en-US" sz="24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sql</a:t>
            </a:r>
            <a:r>
              <a:rPr lang="en-US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(SELECT Id into :id </a:t>
            </a:r>
            <a:br>
              <a:rPr lang="ru-RU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</a:t>
            </a:r>
            <a:r>
              <a:rPr lang="en-US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FROM Person</a:t>
            </a:r>
            <a:br>
              <a:rPr lang="ru-RU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</a:t>
            </a:r>
            <a:r>
              <a:rPr lang="en-US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WHERE Surname=:Surname)</a:t>
            </a:r>
            <a:endParaRPr lang="ru-RU" sz="24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76DBF-167F-7077-670B-22738DE373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Архитектура СУБД </a:t>
            </a:r>
            <a:r>
              <a:rPr lang="en-US" dirty="0"/>
              <a:t>Caché. </a:t>
            </a:r>
            <a:r>
              <a:rPr lang="ru-RU" dirty="0"/>
              <a:t>Сервер </a:t>
            </a:r>
            <a:r>
              <a:rPr lang="en-US" dirty="0"/>
              <a:t>Caché SQL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3C0CC2-9D9A-2B08-8B1D-594EF883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СУБД</a:t>
            </a:r>
            <a:r>
              <a:rPr lang="en-US" altLang="ru-RU" dirty="0"/>
              <a:t> Caché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10737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18907</TotalTime>
  <Words>1313</Words>
  <Application>Microsoft Office PowerPoint</Application>
  <PresentationFormat>On-screen Show (16:9)</PresentationFormat>
  <Paragraphs>181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 Narrow</vt:lpstr>
      <vt:lpstr>Acrom Bold</vt:lpstr>
      <vt:lpstr>Cascadia Code SemiBold</vt:lpstr>
      <vt:lpstr>Acrom ExtraBold</vt:lpstr>
      <vt:lpstr>Arial</vt:lpstr>
      <vt:lpstr>Acrom</vt:lpstr>
      <vt:lpstr>Calibri</vt:lpstr>
      <vt:lpstr>NSU Content</vt:lpstr>
      <vt:lpstr>NSU Captions</vt:lpstr>
      <vt:lpstr>БАЗЫ ДАННЫХ</vt:lpstr>
      <vt:lpstr>СУБД Caché</vt:lpstr>
      <vt:lpstr>СУБД Caché</vt:lpstr>
      <vt:lpstr>СУБД Caché</vt:lpstr>
      <vt:lpstr>СУБД Caché</vt:lpstr>
      <vt:lpstr>СУБД Caché</vt:lpstr>
      <vt:lpstr>СУБД Caché</vt:lpstr>
      <vt:lpstr>СУБД Caché</vt:lpstr>
      <vt:lpstr>СУБД Caché</vt:lpstr>
      <vt:lpstr>СУБД Caché</vt:lpstr>
      <vt:lpstr>СУБД Caché</vt:lpstr>
      <vt:lpstr>СУБД Caché</vt:lpstr>
      <vt:lpstr>СУБД Caché</vt:lpstr>
      <vt:lpstr>СУБД Caché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942</cp:revision>
  <dcterms:created xsi:type="dcterms:W3CDTF">2016-08-15T04:55:12Z</dcterms:created>
  <dcterms:modified xsi:type="dcterms:W3CDTF">2025-03-03T18:02:15Z</dcterms:modified>
</cp:coreProperties>
</file>