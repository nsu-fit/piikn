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26"/>
  </p:notesMasterIdLst>
  <p:sldIdLst>
    <p:sldId id="514" r:id="rId3"/>
    <p:sldId id="524" r:id="rId4"/>
    <p:sldId id="525" r:id="rId5"/>
    <p:sldId id="526" r:id="rId6"/>
    <p:sldId id="527" r:id="rId7"/>
    <p:sldId id="528" r:id="rId8"/>
    <p:sldId id="529" r:id="rId9"/>
    <p:sldId id="530" r:id="rId10"/>
    <p:sldId id="531" r:id="rId11"/>
    <p:sldId id="532" r:id="rId12"/>
    <p:sldId id="533" r:id="rId13"/>
    <p:sldId id="534" r:id="rId14"/>
    <p:sldId id="535" r:id="rId15"/>
    <p:sldId id="536" r:id="rId16"/>
    <p:sldId id="537" r:id="rId17"/>
    <p:sldId id="538" r:id="rId18"/>
    <p:sldId id="539" r:id="rId19"/>
    <p:sldId id="540" r:id="rId20"/>
    <p:sldId id="542" r:id="rId21"/>
    <p:sldId id="541" r:id="rId22"/>
    <p:sldId id="543" r:id="rId23"/>
    <p:sldId id="545" r:id="rId24"/>
    <p:sldId id="546" r:id="rId25"/>
  </p:sldIdLst>
  <p:sldSz cx="9144000" cy="5143500" type="screen16x9"/>
  <p:notesSz cx="6858000" cy="9144000"/>
  <p:embeddedFontLst>
    <p:embeddedFont>
      <p:font typeface="Acrom" panose="020B0604020202020204" charset="-52"/>
      <p:regular r:id="rId27"/>
    </p:embeddedFont>
    <p:embeddedFont>
      <p:font typeface="Acrom Bold" panose="020B0604020202020204" charset="-52"/>
      <p:bold r:id="rId28"/>
    </p:embeddedFont>
    <p:embeddedFont>
      <p:font typeface="Acrom ExtraBold" panose="020B0604020202020204" charset="-52"/>
      <p:bold r:id="rId29"/>
    </p:embeddedFont>
    <p:embeddedFont>
      <p:font typeface="Cascadia Mono SemiBold" panose="020B0609020000020004" pitchFamily="49" charset="0"/>
      <p:bold r:id="rId30"/>
      <p:boldItalic r:id="rId31"/>
    </p:embeddedFont>
    <p:embeddedFont>
      <p:font typeface="Cascadia Mono SemiLight" panose="020B0609020000020004" pitchFamily="49" charset="0"/>
      <p:regular r:id="rId32"/>
      <p:italic r:id="rId3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</p14:sldIdLst>
        </p14:section>
        <p14:section name="Literature" id="{B9960BE5-F3B4-48C0-BA4B-65F190ECCD4C}">
          <p14:sldIdLst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2"/>
            <p14:sldId id="541"/>
            <p14:sldId id="543"/>
            <p14:sldId id="545"/>
            <p14:sldId id="54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E5D6"/>
    <a:srgbClr val="F0F0F0"/>
    <a:srgbClr val="B8B8B8"/>
    <a:srgbClr val="FEFEFE"/>
    <a:srgbClr val="DBF2F3"/>
    <a:srgbClr val="D6D6FE"/>
    <a:srgbClr val="9292FB"/>
    <a:srgbClr val="C1F3FF"/>
    <a:srgbClr val="C20808"/>
    <a:srgbClr val="90D1D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3" autoAdjust="0"/>
    <p:restoredTop sz="83051" autoAdjust="0"/>
  </p:normalViewPr>
  <p:slideViewPr>
    <p:cSldViewPr>
      <p:cViewPr varScale="1">
        <p:scale>
          <a:sx n="116" d="100"/>
          <a:sy n="116" d="100"/>
        </p:scale>
        <p:origin x="852" y="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7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5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13.11.2024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7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99086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0F429-03AF-28B6-BEBA-41DA17A25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9E9FC5-2EFD-129C-A01E-BB69575DF1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BE43F5-61D1-24AB-D09C-09909340D1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3D7330-4D9A-272C-1D0C-4598BAB6D9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71892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BB5C91-87B6-29D6-5BE8-AEA341E54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7C8F1BE-8566-3B90-C61D-1238442AA2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7D5D65-8907-06FB-CE67-B9E3B05F9A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CAF9B9-AF7C-265C-C5F5-1483EE62D1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50077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B452D-ED62-075E-2883-3EFD224EB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046E40-4A90-8A98-B670-C7C636C349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650CD0-1C6F-E01C-B8A0-D7D674161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7954D-6B8E-BC4E-F0CD-C787139A7B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315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02564-9CB0-B1C7-C99D-F8E881B97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D24E8-F51B-1EB3-D825-B2B7CD083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15E454-38C2-A774-2FB9-5EAB9D03F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8B1F5A-C193-8534-8727-7C40CDD18F2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25143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24820-67E8-5692-097F-A1B6E1229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6493BB-1F34-C33A-1EE4-2DE5E1F309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460DD9-EB68-AB68-707C-E9AD7A3DC7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062E5-F6AC-599B-BF38-6B7ABD647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474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FF001-1ACE-9F2F-F331-AC9B03D27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B5AEC-3F26-1F8F-D2D0-C92E8D6B10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F7D8D8B-144A-8CE1-1259-91446D5A7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4F7644-58BB-1B74-BE01-CA9A9E07D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53947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57C86-2DE3-878D-C0BD-6726BFC4B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A22DB6-DE51-4672-69BE-2BB05E6B8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689D6B-BCBE-22BC-3133-7A1DA2AD2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18430C-B425-7D96-FC7E-5992D5219E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534207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6E95E-3CBE-BCE8-F647-F40FF503F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4A3BB3-B514-C56E-7CB2-C22A799414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272696-83B4-5378-C394-B3362FC5CF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D439C-29F6-D1BD-0BEF-E6D127DC7F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145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98F92-20BF-9BC9-E9AB-10412A0B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804FDE-58FB-3720-5D5C-D987FD60DE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A45173-85A0-2AB5-A3BE-28FF9D3BDA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6C1A5-DFA1-031E-EDBD-52BBA87495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8206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73107-09AA-327A-886B-BBACB9A7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E0D1BB-2AE3-7042-4C08-B2B54EC6BE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ED957E-D961-0140-C019-C82C4DFDB9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76D9B8-E273-B596-9BEB-9D94A09C7B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5950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5FB00-BBC5-600A-6C21-A3FE6FB77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6E009-DF0A-74A7-0B0E-67ABB52DC0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AC0281-C63D-D3E6-BBFB-0803497CC0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E53C3-4112-271E-CE90-D45B9B76BA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992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5182A-74A4-7E9E-7CD9-06C19ACFF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556356-F4BA-DA09-1D3E-8E7A34C94B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2A7AD4-D6FA-AE64-E7C3-B10CF3F54A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D88CB-C877-311A-A70D-8A55467885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16150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62906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B9AA8-AB73-6FE8-3E31-81679DEC2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323F0A-1998-672C-007D-432E17009C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6B8956-CDCF-5C5A-2A47-278E2352DC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0F3F30-AC7E-7C0F-F845-234F993541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3985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13.11.2024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13.11.2024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13.11.2024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13.11.2024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11/13/2024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РОССИЯ, 630090, НОВОСИБИРСК, УЛ. ПИРОГОВА, 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Relationship Id="rId14" Type="http://schemas.openxmlformats.org/officeDocument/2006/relationships/image" Target="../media/image6.png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theme" Target="../theme/theme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jpeg"/><Relationship Id="rId9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8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13.11.2024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inyurl.com/r37nptvc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524667"/>
            <a:ext cx="4332104" cy="1351339"/>
          </a:xfrm>
        </p:spPr>
        <p:txBody>
          <a:bodyPr>
            <a:normAutofit/>
          </a:bodyPr>
          <a:lstStyle/>
          <a:p>
            <a:r>
              <a:rPr lang="ru-RU" dirty="0"/>
              <a:t>Стандарт </a:t>
            </a:r>
            <a:r>
              <a:rPr lang="en-US" dirty="0"/>
              <a:t>SQL-92</a:t>
            </a:r>
            <a:br>
              <a:rPr lang="ru-RU" dirty="0"/>
            </a:br>
            <a:r>
              <a:rPr lang="ru-RU" dirty="0"/>
              <a:t>Представления (</a:t>
            </a:r>
            <a:r>
              <a:rPr lang="en-US" dirty="0"/>
              <a:t>VIEWS)</a:t>
            </a:r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4E3CA52-1F3B-C018-2341-70576F145395}"/>
              </a:ext>
            </a:extLst>
          </p:cNvPr>
          <p:cNvSpPr/>
          <p:nvPr/>
        </p:nvSpPr>
        <p:spPr>
          <a:xfrm>
            <a:off x="350838" y="2499742"/>
            <a:ext cx="1412850" cy="136815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eaLnBrk="1" hangingPunct="1"/>
            <a:r>
              <a:rPr lang="ru-RU" dirty="0"/>
              <a:t>М. Грабер, </a:t>
            </a:r>
            <a:r>
              <a:rPr lang="en-US" b="1" dirty="0"/>
              <a:t>SQL</a:t>
            </a:r>
            <a:r>
              <a:rPr lang="ru-RU" b="1" dirty="0"/>
              <a:t>. </a:t>
            </a:r>
            <a:r>
              <a:rPr lang="ru-RU" b="1" dirty="0">
                <a:solidFill>
                  <a:schemeClr val="tx1"/>
                </a:solidFill>
                <a:highlight>
                  <a:srgbClr val="00FFFF"/>
                </a:highlight>
              </a:rPr>
              <a:t>Глава 14</a:t>
            </a:r>
            <a:r>
              <a:rPr lang="ru-RU" sz="2000" dirty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  <a:highlight>
                <a:srgbClr val="C1F3FF"/>
              </a:highlight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026" name="Picture 2">
            <a:hlinkClick r:id="rId3"/>
            <a:extLst>
              <a:ext uri="{FF2B5EF4-FFF2-40B4-BE49-F238E27FC236}">
                <a16:creationId xmlns:a16="http://schemas.microsoft.com/office/drawing/2014/main" id="{BB42729A-EB57-CD83-B2FC-A0229A4FE8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2571750"/>
            <a:ext cx="1209675" cy="1209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01CFB2-17B4-05FD-D087-19F104B04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96B7959-0031-6E21-D871-BFC14D63FC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3168749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ru-RU" sz="1400" dirty="0">
                <a:solidFill>
                  <a:schemeClr val="accent1"/>
                </a:solidFill>
              </a:rPr>
              <a:t>VIEW (Представление) </a:t>
            </a:r>
            <a:r>
              <a:rPr lang="ru-RU" sz="1400" dirty="0"/>
              <a:t>– это именованная виртуальная таблица</a:t>
            </a:r>
            <a:endParaRPr lang="en-US" sz="1400" dirty="0"/>
          </a:p>
          <a:p>
            <a:pPr marL="0" indent="0">
              <a:buNone/>
            </a:pPr>
            <a:r>
              <a:rPr lang="ru-RU" sz="1400" dirty="0"/>
              <a:t>В отличие от базовых таблиц базы данных VIEW :</a:t>
            </a:r>
          </a:p>
          <a:p>
            <a:r>
              <a:rPr lang="ru-RU" sz="1400" dirty="0"/>
              <a:t>не содержит собственных данных, </a:t>
            </a:r>
          </a:p>
          <a:p>
            <a:r>
              <a:rPr lang="ru-RU" sz="1400" dirty="0"/>
              <a:t>посредством команды </a:t>
            </a:r>
            <a:r>
              <a:rPr lang="en-US" sz="14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400" dirty="0"/>
              <a:t> </a:t>
            </a:r>
            <a:r>
              <a:rPr lang="ru-RU" sz="1400" dirty="0"/>
              <a:t>может представлять данные из одной или нескольких таблиц,</a:t>
            </a:r>
          </a:p>
          <a:p>
            <a:r>
              <a:rPr lang="ru-RU" sz="1400" dirty="0"/>
              <a:t>для пользователей выглядит как обычная таблица, то есть имя </a:t>
            </a:r>
            <a:r>
              <a:rPr lang="ru-RU" sz="1400" dirty="0" err="1"/>
              <a:t>view</a:t>
            </a:r>
            <a:r>
              <a:rPr lang="ru-RU" sz="1400" dirty="0"/>
              <a:t> может использоваться вместо имени таблицы БД в любой команде</a:t>
            </a:r>
          </a:p>
          <a:p>
            <a:pPr marL="0" indent="0">
              <a:buNone/>
            </a:pPr>
            <a:r>
              <a:rPr lang="ru-RU" sz="1400" dirty="0">
                <a:solidFill>
                  <a:schemeClr val="accent1"/>
                </a:solidFill>
              </a:rPr>
              <a:t>Представление</a:t>
            </a:r>
            <a:r>
              <a:rPr lang="ru-RU" sz="1400" dirty="0"/>
              <a:t> – это запрос, который выполняется каждый раз, когда в операторе встречается имя представления</a:t>
            </a:r>
          </a:p>
          <a:p>
            <a:pPr marL="0" indent="0">
              <a:buNone/>
            </a:pPr>
            <a:r>
              <a:rPr lang="ru-RU" sz="1400" dirty="0"/>
              <a:t>Представление может быть </a:t>
            </a:r>
          </a:p>
          <a:p>
            <a:r>
              <a:rPr lang="ru-RU" sz="1400" dirty="0"/>
              <a:t>обновляемым</a:t>
            </a:r>
            <a:r>
              <a:rPr lang="en-US" sz="1400" dirty="0"/>
              <a:t>:</a:t>
            </a:r>
            <a:r>
              <a:rPr lang="ru-RU" sz="1400" dirty="0"/>
              <a:t> применимым в командах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</a:t>
            </a:r>
            <a:r>
              <a:rPr lang="en-US" sz="1400" dirty="0"/>
              <a:t>, </a:t>
            </a:r>
            <a:r>
              <a:rPr lang="ru-RU" sz="14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</a:t>
            </a:r>
            <a:r>
              <a:rPr lang="en-US" sz="1400" dirty="0"/>
              <a:t>, </a:t>
            </a:r>
            <a:r>
              <a:rPr lang="ru-RU" sz="14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</a:t>
            </a:r>
          </a:p>
          <a:p>
            <a:r>
              <a:rPr lang="ru-RU" sz="1400" dirty="0"/>
              <a:t>не обновляемым: применимым только в командах </a:t>
            </a:r>
            <a:r>
              <a:rPr lang="en-US" sz="14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194BC92-7801-21FE-33A1-32C6E288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</a:t>
            </a:r>
            <a:r>
              <a:rPr lang="en-US" dirty="0"/>
              <a:t>VIEW</a:t>
            </a:r>
          </a:p>
        </p:txBody>
      </p:sp>
    </p:spTree>
    <p:extLst>
      <p:ext uri="{BB962C8B-B14F-4D97-AF65-F5344CB8AC3E}">
        <p14:creationId xmlns:p14="http://schemas.microsoft.com/office/powerpoint/2010/main" val="18305731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161B65-C024-3F2C-02FC-B1CC96E26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5EB8A5-2828-CFDE-5224-DC137FF4D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B7B49C0-4165-1DAE-78F3-3264036746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38477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ru-RU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ПРЕДСТАВЛЕНИЕ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 ::=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ru-RU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CREATE</a:t>
            </a:r>
            <a:r>
              <a:rPr lang="en-US" altLang="ru-RU" sz="1400" dirty="0">
                <a:solidFill>
                  <a:schemeClr val="tx2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VIEW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&lt;</a:t>
            </a:r>
            <a:r>
              <a:rPr lang="ru-RU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 представления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</a:t>
            </a:r>
            <a:r>
              <a:rPr lang="ru-RU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[(&lt;</a:t>
            </a:r>
            <a:r>
              <a:rPr lang="ru-RU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 колонки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&gt;,</a:t>
            </a:r>
            <a:r>
              <a:rPr lang="ru-RU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…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)]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         </a:t>
            </a:r>
            <a:r>
              <a:rPr lang="en-US" altLang="ru-RU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SELECT_statement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</a:t>
            </a:r>
            <a:endParaRPr lang="ru-RU" altLang="ru-RU" sz="14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		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[</a:t>
            </a:r>
            <a:r>
              <a:rPr lang="en-US" altLang="ru-RU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WITH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[</a:t>
            </a:r>
            <a:r>
              <a:rPr lang="en-US" altLang="ru-RU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CASCADED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| </a:t>
            </a:r>
            <a:r>
              <a:rPr lang="en-US" altLang="ru-RU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LOCAL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] </a:t>
            </a:r>
            <a:r>
              <a:rPr lang="en-US" altLang="ru-RU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CHECK</a:t>
            </a:r>
            <a:r>
              <a:rPr lang="en-US" altLang="ru-RU" sz="1400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altLang="ru-RU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OPTION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]</a:t>
            </a:r>
            <a:endParaRPr lang="ru-RU" altLang="ru-RU" sz="14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ru-RU" altLang="ru-RU" sz="1400" dirty="0"/>
          </a:p>
          <a:p>
            <a:pPr marL="0"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altLang="ru-RU" sz="1400" dirty="0"/>
              <a:t>Фраза </a:t>
            </a:r>
            <a:r>
              <a:rPr lang="en-US" altLang="ru-RU" sz="1400" b="1" dirty="0"/>
              <a:t>CHECK OPTION</a:t>
            </a:r>
            <a:r>
              <a:rPr lang="ru-RU" altLang="ru-RU" sz="1400" b="1" dirty="0"/>
              <a:t> </a:t>
            </a:r>
            <a:r>
              <a:rPr lang="ru-RU" altLang="ru-RU" sz="1400" dirty="0"/>
              <a:t>указывает на необходимость проверки действий операторов </a:t>
            </a:r>
            <a:r>
              <a:rPr lang="en-US" altLang="ru-RU" sz="1400" dirty="0"/>
              <a:t>INSERT </a:t>
            </a:r>
            <a:r>
              <a:rPr lang="ru-RU" altLang="ru-RU" sz="1400" dirty="0"/>
              <a:t>и </a:t>
            </a:r>
            <a:r>
              <a:rPr lang="en-US" altLang="ru-RU" sz="1400" dirty="0"/>
              <a:t>UPDATE,</a:t>
            </a:r>
            <a:r>
              <a:rPr lang="ru-RU" altLang="ru-RU" sz="1400" dirty="0"/>
              <a:t> чтобы при их выполнении </a:t>
            </a:r>
            <a:r>
              <a:rPr lang="ru-RU" altLang="ru-RU" sz="1400" b="1" dirty="0"/>
              <a:t>не происходило вставки или изменений</a:t>
            </a:r>
            <a:r>
              <a:rPr lang="ru-RU" altLang="ru-RU" sz="1400" dirty="0"/>
              <a:t> в основной таблице</a:t>
            </a:r>
            <a:r>
              <a:rPr lang="en-US" altLang="ru-RU" sz="1400" dirty="0"/>
              <a:t>,</a:t>
            </a:r>
            <a:r>
              <a:rPr lang="ru-RU" altLang="ru-RU" sz="1400" dirty="0"/>
              <a:t> которые </a:t>
            </a:r>
            <a:r>
              <a:rPr lang="ru-RU" altLang="ru-RU" sz="1400" b="1" dirty="0"/>
              <a:t>затем будут исключены из представления</a:t>
            </a:r>
          </a:p>
          <a:p>
            <a:pPr indent="0"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ru-RU" altLang="ru-RU" sz="1400" dirty="0"/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en-US" sz="1400" dirty="0" err="1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SELECT_statement</a:t>
            </a:r>
            <a:r>
              <a:rPr lang="en-US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</a:t>
            </a:r>
            <a:r>
              <a:rPr lang="ru-RU" altLang="ru-RU" sz="1400" dirty="0"/>
              <a:t> может использовать </a:t>
            </a:r>
            <a:r>
              <a:rPr lang="en-US" altLang="ru-RU" sz="1400" dirty="0"/>
              <a:t>&lt;</a:t>
            </a:r>
            <a:r>
              <a:rPr lang="ru-RU" altLang="ru-RU" sz="1400" dirty="0"/>
              <a:t>имя представления</a:t>
            </a:r>
            <a:r>
              <a:rPr lang="en-US" altLang="ru-RU" sz="1400" dirty="0"/>
              <a:t>&gt; </a:t>
            </a:r>
            <a:r>
              <a:rPr lang="ru-RU" altLang="ru-RU" sz="1400" dirty="0"/>
              <a:t>в разделе </a:t>
            </a:r>
            <a:r>
              <a:rPr lang="en-US" altLang="ru-RU" sz="1400" dirty="0"/>
              <a:t>FROM</a:t>
            </a: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ru-RU" altLang="ru-RU" sz="1400" dirty="0"/>
              <a:t>То есть в определении </a:t>
            </a:r>
            <a:r>
              <a:rPr lang="en-US" altLang="ru-RU" sz="1400" dirty="0"/>
              <a:t>&lt;</a:t>
            </a:r>
            <a:r>
              <a:rPr lang="ru-RU" altLang="ru-RU" sz="1400" dirty="0"/>
              <a:t>представления</a:t>
            </a:r>
            <a:r>
              <a:rPr lang="en-US" altLang="ru-RU" sz="1400" dirty="0"/>
              <a:t>&gt;</a:t>
            </a:r>
            <a:r>
              <a:rPr lang="ru-RU" altLang="ru-RU" sz="1400" dirty="0"/>
              <a:t> может использоваться имя другого </a:t>
            </a:r>
            <a:r>
              <a:rPr lang="en-US" altLang="ru-RU" sz="1400" dirty="0"/>
              <a:t>&lt;</a:t>
            </a:r>
            <a:r>
              <a:rPr lang="ru-RU" altLang="ru-RU" sz="1400" dirty="0"/>
              <a:t>представления</a:t>
            </a:r>
            <a:r>
              <a:rPr lang="en-US" altLang="ru-RU" sz="1400" dirty="0"/>
              <a:t>&gt;</a:t>
            </a:r>
            <a:r>
              <a:rPr lang="ru-RU" altLang="ru-RU" sz="1400" dirty="0"/>
              <a:t> (</a:t>
            </a:r>
            <a:r>
              <a:rPr lang="ru-RU" altLang="ru-RU" sz="1400" dirty="0">
                <a:solidFill>
                  <a:schemeClr val="accent2"/>
                </a:solidFill>
              </a:rPr>
              <a:t>кроме самого себя</a:t>
            </a:r>
            <a:r>
              <a:rPr lang="ru-RU" altLang="ru-RU" sz="1400" dirty="0"/>
              <a:t>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4B1599F-E804-2573-4C2F-72164BADF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Создание </a:t>
            </a:r>
            <a:r>
              <a:rPr lang="en-US" dirty="0"/>
              <a:t>VIEW</a:t>
            </a:r>
            <a:r>
              <a:rPr lang="ru-RU" dirty="0"/>
              <a:t> (1/2)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73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373D9-8CDB-F146-184E-20D864135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921D45-286F-A399-F5A5-6E8EF939F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364D19E-7B3B-3077-105A-17C1743509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38477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altLang="ru-RU" sz="1400" dirty="0"/>
              <a:t>Заголовки колонок </a:t>
            </a:r>
            <a:r>
              <a:rPr lang="ru-RU" altLang="ru-RU" sz="1400" b="1" dirty="0"/>
              <a:t>должны</a:t>
            </a:r>
            <a:r>
              <a:rPr lang="ru-RU" altLang="ru-RU" sz="1400" dirty="0"/>
              <a:t> присутствовать, если:</a:t>
            </a:r>
          </a:p>
          <a:p>
            <a:pPr lvl="1">
              <a:lnSpc>
                <a:spcPct val="120000"/>
              </a:lnSpc>
              <a:defRPr/>
            </a:pPr>
            <a:r>
              <a:rPr lang="ru-RU" altLang="ru-RU" sz="1400" dirty="0"/>
              <a:t>в операторе </a:t>
            </a:r>
            <a:r>
              <a:rPr lang="en-US" altLang="ru-RU" sz="1400" dirty="0"/>
              <a:t>SELECT</a:t>
            </a:r>
            <a:r>
              <a:rPr lang="ru-RU" altLang="ru-RU" sz="1400" dirty="0"/>
              <a:t> </a:t>
            </a:r>
            <a:r>
              <a:rPr lang="en-US" altLang="ru-RU" sz="1400" dirty="0"/>
              <a:t> </a:t>
            </a:r>
            <a:r>
              <a:rPr lang="ru-RU" altLang="ru-RU" sz="1400" dirty="0"/>
              <a:t>два и более столбцов имеют одинаковые имена</a:t>
            </a:r>
          </a:p>
          <a:p>
            <a:pPr lvl="1">
              <a:lnSpc>
                <a:spcPct val="120000"/>
              </a:lnSpc>
              <a:defRPr/>
            </a:pPr>
            <a:r>
              <a:rPr lang="ru-RU" altLang="ru-RU" sz="1400" dirty="0"/>
              <a:t>столбцы содержат вычисляемые значения</a:t>
            </a:r>
          </a:p>
          <a:p>
            <a:pPr>
              <a:lnSpc>
                <a:spcPct val="120000"/>
              </a:lnSpc>
              <a:buFont typeface="Wingdings" panose="05000000000000000000" pitchFamily="2" charset="2"/>
              <a:buNone/>
              <a:defRPr/>
            </a:pPr>
            <a:r>
              <a:rPr lang="ru-RU" altLang="ru-RU" sz="1400" dirty="0"/>
              <a:t>Как обычный объект базы данных представления имеют ограничения:</a:t>
            </a:r>
          </a:p>
          <a:p>
            <a:pPr lvl="1">
              <a:lnSpc>
                <a:spcPct val="120000"/>
              </a:lnSpc>
              <a:defRPr/>
            </a:pPr>
            <a:r>
              <a:rPr lang="ru-RU" altLang="ru-RU" sz="1400" dirty="0"/>
              <a:t>Могут создаваться только ее владельцем</a:t>
            </a:r>
          </a:p>
          <a:p>
            <a:pPr lvl="1">
              <a:lnSpc>
                <a:spcPct val="120000"/>
              </a:lnSpc>
              <a:defRPr/>
            </a:pPr>
            <a:r>
              <a:rPr lang="ru-RU" altLang="ru-RU" sz="1400" dirty="0"/>
              <a:t>Имя представления должно отличаться от всех других имен в базе данных</a:t>
            </a:r>
          </a:p>
          <a:p>
            <a:pPr lvl="1">
              <a:lnSpc>
                <a:spcPct val="120000"/>
              </a:lnSpc>
              <a:defRPr/>
            </a:pPr>
            <a:r>
              <a:rPr lang="ru-RU" altLang="ru-RU" sz="1400" dirty="0"/>
              <a:t>Представление не может содержать динамических параметров</a:t>
            </a:r>
          </a:p>
          <a:p>
            <a:pPr lvl="1">
              <a:lnSpc>
                <a:spcPct val="120000"/>
              </a:lnSpc>
              <a:defRPr/>
            </a:pPr>
            <a:r>
              <a:rPr lang="ru-RU" altLang="ru-RU" sz="1400" dirty="0"/>
              <a:t>В представлении не может быть ссылки на «себя»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F8B181-94E4-B920-B470-F2D757DEC5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Создание </a:t>
            </a:r>
            <a:r>
              <a:rPr lang="en-US" dirty="0"/>
              <a:t>VIEW</a:t>
            </a:r>
            <a:r>
              <a:rPr lang="ru-RU" dirty="0"/>
              <a:t> (2/2)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91879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0528B7-E1A0-3962-D2FB-37D212770374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51213B0D-EF9C-1ED3-67A4-E6A2B20CB91C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1550891147"/>
              </p:ext>
            </p:extLst>
          </p:nvPr>
        </p:nvGraphicFramePr>
        <p:xfrm>
          <a:off x="4572000" y="1780621"/>
          <a:ext cx="4321172" cy="1874142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162283413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80231387"/>
                    </a:ext>
                  </a:extLst>
                </a:gridCol>
                <a:gridCol w="1368671">
                  <a:extLst>
                    <a:ext uri="{9D8B030D-6E8A-4147-A177-3AD203B41FA5}">
                      <a16:colId xmlns:a16="http://schemas.microsoft.com/office/drawing/2014/main" val="3579168203"/>
                    </a:ext>
                  </a:extLst>
                </a:gridCol>
                <a:gridCol w="1080293">
                  <a:extLst>
                    <a:ext uri="{9D8B030D-6E8A-4147-A177-3AD203B41FA5}">
                      <a16:colId xmlns:a16="http://schemas.microsoft.com/office/drawing/2014/main" val="3094240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Номер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Имя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Город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Комиссия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219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1001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Иванов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0.12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1843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Петров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Кемерово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0.13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7011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1004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Сидоров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0.11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77532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1007</a:t>
                      </a:r>
                      <a:endParaRPr kumimoji="0" 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Голубев</a:t>
                      </a:r>
                      <a:endParaRPr kumimoji="0" lang="ru-RU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Омск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0.15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266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1003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Кузнецов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Томск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0.10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441967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DE2007-C06B-126F-7581-050B0F5ABE7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442329"/>
            <a:ext cx="3933130" cy="25695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CREATE VIEW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ХорошиеПродавцы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*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&gt; </a:t>
            </a:r>
            <a:r>
              <a:rPr lang="ru-RU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0.11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D5C4F6F-23A1-BF86-87E7-2C056FE97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Создание </a:t>
            </a:r>
            <a:r>
              <a:rPr lang="en-US" dirty="0"/>
              <a:t>VIEW</a:t>
            </a:r>
            <a:r>
              <a:rPr lang="ru-RU" dirty="0"/>
              <a:t>: пример 1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EB16EA-D61F-00CE-FC4F-DC4D14346473}"/>
              </a:ext>
            </a:extLst>
          </p:cNvPr>
          <p:cNvSpPr txBox="1"/>
          <p:nvPr/>
        </p:nvSpPr>
        <p:spPr>
          <a:xfrm>
            <a:off x="4572000" y="1422515"/>
            <a:ext cx="432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" panose="020B0004020202020204" pitchFamily="34" charset="0"/>
              </a:rPr>
              <a:t>Продавцы</a:t>
            </a:r>
            <a:endParaRPr lang="en-US" dirty="0">
              <a:latin typeface="Aptos" panose="020B0004020202020204" pitchFamily="34" charset="0"/>
            </a:endParaRPr>
          </a:p>
        </p:txBody>
      </p:sp>
      <p:sp>
        <p:nvSpPr>
          <p:cNvPr id="11" name="Speech Bubble: Rectangle with Corners Rounded 10">
            <a:extLst>
              <a:ext uri="{FF2B5EF4-FFF2-40B4-BE49-F238E27FC236}">
                <a16:creationId xmlns:a16="http://schemas.microsoft.com/office/drawing/2014/main" id="{1E8C92E7-F12A-B539-97EF-899F358C8513}"/>
              </a:ext>
            </a:extLst>
          </p:cNvPr>
          <p:cNvSpPr/>
          <p:nvPr/>
        </p:nvSpPr>
        <p:spPr>
          <a:xfrm>
            <a:off x="2123728" y="1953792"/>
            <a:ext cx="3600398" cy="1731085"/>
          </a:xfrm>
          <a:prstGeom prst="wedgeRoundRectCallout">
            <a:avLst>
              <a:gd name="adj1" fmla="val -58814"/>
              <a:gd name="adj2" fmla="val -36549"/>
              <a:gd name="adj3" fmla="val 16667"/>
            </a:avLst>
          </a:prstGeom>
          <a:solidFill>
            <a:schemeClr val="bg1"/>
          </a:solidFill>
          <a:ln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chemeClr val="tx1"/>
                </a:solidFill>
              </a:rPr>
              <a:t>При изменении описания таблицы </a:t>
            </a:r>
            <a:r>
              <a:rPr lang="ru-RU" dirty="0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r>
              <a:rPr lang="ru-RU" dirty="0">
                <a:solidFill>
                  <a:schemeClr val="tx1"/>
                </a:solidFill>
              </a:rPr>
              <a:t> в представлении </a:t>
            </a:r>
            <a:r>
              <a:rPr lang="ru-RU" sz="1800" dirty="0" err="1">
                <a:solidFill>
                  <a:schemeClr val="accent1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ХорошиеПродавцы</a:t>
            </a:r>
            <a:r>
              <a:rPr lang="ru-RU" dirty="0">
                <a:solidFill>
                  <a:schemeClr val="tx1"/>
                </a:solidFill>
              </a:rPr>
              <a:t> появятся новые столбцы!</a:t>
            </a:r>
          </a:p>
        </p:txBody>
      </p:sp>
    </p:spTree>
    <p:extLst>
      <p:ext uri="{BB962C8B-B14F-4D97-AF65-F5344CB8AC3E}">
        <p14:creationId xmlns:p14="http://schemas.microsoft.com/office/powerpoint/2010/main" val="3807758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338E0-BAE9-FA6C-A4D1-6CD92A6E3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92C4268-211C-2C8E-0394-7EF0C8996559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B12833E3-5003-55C1-66EA-2B40DE8D50E8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4179624516"/>
              </p:ext>
            </p:extLst>
          </p:nvPr>
        </p:nvGraphicFramePr>
        <p:xfrm>
          <a:off x="4572000" y="1780621"/>
          <a:ext cx="4321172" cy="1874142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162283413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80231387"/>
                    </a:ext>
                  </a:extLst>
                </a:gridCol>
                <a:gridCol w="1368671">
                  <a:extLst>
                    <a:ext uri="{9D8B030D-6E8A-4147-A177-3AD203B41FA5}">
                      <a16:colId xmlns:a16="http://schemas.microsoft.com/office/drawing/2014/main" val="3579168203"/>
                    </a:ext>
                  </a:extLst>
                </a:gridCol>
                <a:gridCol w="1080293">
                  <a:extLst>
                    <a:ext uri="{9D8B030D-6E8A-4147-A177-3AD203B41FA5}">
                      <a16:colId xmlns:a16="http://schemas.microsoft.com/office/drawing/2014/main" val="3094240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Номер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Имя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Город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Комиссия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8219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1001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Иванов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0.12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81843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Петров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Кемерово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0.13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57011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1004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Сидоров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0.11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77532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1007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Голубев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Омск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0.15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4266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1003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Кузнецов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Томск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0.10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441967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FB85FB-17C3-ABD1-8591-AF428994DE5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442329"/>
            <a:ext cx="3933130" cy="256958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CREATE VIEW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ХорошиеПродавцы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Номер, Имя, Город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&gt; </a:t>
            </a:r>
            <a:r>
              <a:rPr lang="ru-RU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0.11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937B2F7-572C-2E26-B395-BF6479526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Создание </a:t>
            </a:r>
            <a:r>
              <a:rPr lang="en-US" dirty="0"/>
              <a:t>VIEW</a:t>
            </a:r>
            <a:r>
              <a:rPr lang="ru-RU" dirty="0"/>
              <a:t>: пример 2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A35AC1-4A83-D0DF-52E6-AE31BAAC4834}"/>
              </a:ext>
            </a:extLst>
          </p:cNvPr>
          <p:cNvSpPr txBox="1"/>
          <p:nvPr/>
        </p:nvSpPr>
        <p:spPr>
          <a:xfrm>
            <a:off x="4572000" y="1422515"/>
            <a:ext cx="432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" panose="020B0004020202020204" pitchFamily="34" charset="0"/>
              </a:rPr>
              <a:t>Продавцы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19930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CF68F-E476-A817-AAD9-D4344FC0E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A109F6-237D-C534-A72E-3FE3C1B6EFC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A8FF810-6FEB-2F12-82DE-5CCEF712B9C2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3134363420"/>
              </p:ext>
            </p:extLst>
          </p:nvPr>
        </p:nvGraphicFramePr>
        <p:xfrm>
          <a:off x="4572000" y="1780621"/>
          <a:ext cx="4321172" cy="1874142"/>
        </p:xfrm>
        <a:graphic>
          <a:graphicData uri="http://schemas.openxmlformats.org/drawingml/2006/table">
            <a:tbl>
              <a:tblPr firstRow="1">
                <a:tableStyleId>{F5AB1C69-6EDB-4FF4-983F-18BD219EF322}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162283413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80231387"/>
                    </a:ext>
                  </a:extLst>
                </a:gridCol>
                <a:gridCol w="1368671">
                  <a:extLst>
                    <a:ext uri="{9D8B030D-6E8A-4147-A177-3AD203B41FA5}">
                      <a16:colId xmlns:a16="http://schemas.microsoft.com/office/drawing/2014/main" val="3579168203"/>
                    </a:ext>
                  </a:extLst>
                </a:gridCol>
                <a:gridCol w="1080293">
                  <a:extLst>
                    <a:ext uri="{9D8B030D-6E8A-4147-A177-3AD203B41FA5}">
                      <a16:colId xmlns:a16="http://schemas.microsoft.com/office/drawing/2014/main" val="3094240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Номер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Имя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Город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Комиссия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318219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1001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Иванов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0.12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181843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Петров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Кемерово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0.13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4157011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1004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Сидоров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0.11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3977532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1007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Голубев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Омск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0.15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3864266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1003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Кузнецов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Томск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0.10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4085441967"/>
                  </a:ext>
                </a:extLst>
              </a:tr>
            </a:tbl>
          </a:graphicData>
        </a:graphic>
      </p:graphicFrame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A0F35A-4A02-C7FF-B22A-CA74291D8A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442329"/>
            <a:ext cx="3933130" cy="2569581"/>
          </a:xfrm>
        </p:spPr>
        <p:txBody>
          <a:bodyPr>
            <a:normAutofit fontScale="85000" lnSpcReduction="10000"/>
          </a:bodyPr>
          <a:lstStyle/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*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b="1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ХорошиеПродавцы</a:t>
            </a:r>
            <a:br>
              <a:rPr lang="en-US" sz="1800" b="1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&lt;&gt; 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Новосибирск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10000"/>
              </a:lnSpc>
              <a:buFont typeface="Wingdings" panose="05000000000000000000" pitchFamily="2" charset="2"/>
              <a:buNone/>
              <a:defRPr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b="1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ХП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.*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</a:t>
            </a:r>
            <a:r>
              <a:rPr lang="en-US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</a:t>
            </a:r>
            <a:r>
              <a:rPr lang="ru-RU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</a:t>
            </a:r>
            <a:r>
              <a:rPr lang="en-US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</a:t>
            </a:r>
            <a:r>
              <a:rPr lang="ru-RU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П</a:t>
            </a:r>
            <a:r>
              <a:rPr lang="en-US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</a:t>
            </a:r>
            <a:r>
              <a:rPr lang="ru-RU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Имя, П</a:t>
            </a:r>
            <a:r>
              <a:rPr lang="en-US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</a:t>
            </a:r>
            <a:r>
              <a:rPr lang="ru-RU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</a:t>
            </a:r>
            <a:br>
              <a:rPr lang="ru-RU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r>
              <a:rPr lang="en-US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</a:t>
            </a:r>
            <a:br>
              <a:rPr lang="ru-RU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Комм</a:t>
            </a:r>
            <a:r>
              <a:rPr lang="en-US" sz="1800" dirty="0"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&gt; </a:t>
            </a:r>
            <a:r>
              <a:rPr lang="ru-RU" sz="1800" dirty="0">
                <a:solidFill>
                  <a:schemeClr val="accent6">
                    <a:lumMod val="75000"/>
                  </a:schemeClr>
                </a:solidFill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</a:t>
            </a:r>
            <a:r>
              <a:rPr lang="ru-RU" sz="1800" dirty="0">
                <a:solidFill>
                  <a:schemeClr val="accent6">
                    <a:lumMod val="75000"/>
                  </a:schemeClr>
                </a:solidFill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highlight>
                  <a:srgbClr val="C1F3FF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 as </a:t>
            </a:r>
            <a:r>
              <a:rPr lang="ru-RU" sz="1800" b="1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ХП</a:t>
            </a:r>
            <a:br>
              <a:rPr lang="ru-RU" sz="1800" b="1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b="1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ХП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&lt;&gt; 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Новосибирск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ru-RU" sz="18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9FCA283-1E63-1A00-C36A-C20A1A344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Использование </a:t>
            </a:r>
            <a:r>
              <a:rPr lang="en-US" dirty="0"/>
              <a:t>VIEW</a:t>
            </a:r>
            <a:r>
              <a:rPr lang="ru-RU" dirty="0"/>
              <a:t> (пример 2)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976FCC-6D2F-2439-AC70-F0B21FE3FF4C}"/>
              </a:ext>
            </a:extLst>
          </p:cNvPr>
          <p:cNvSpPr txBox="1"/>
          <p:nvPr/>
        </p:nvSpPr>
        <p:spPr>
          <a:xfrm>
            <a:off x="4572000" y="1422515"/>
            <a:ext cx="4321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ptos" panose="020B0004020202020204" pitchFamily="34" charset="0"/>
              </a:rPr>
              <a:t>Продавцы</a:t>
            </a:r>
            <a:endParaRPr lang="en-US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9441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83421-4308-CC32-3803-EE3D2B1C2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CB2C62E-DFB4-C82D-1140-6D91DA6D6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5FFE662-899D-4707-683E-FC9B2FF24B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CREATE VIEW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РейтингПокупателей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Покупатель,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SUM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Сумма) 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СуммаИтого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Заказы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GROUP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BY </a:t>
            </a:r>
            <a:r>
              <a:rPr lang="ru-RU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</a:t>
            </a: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-- </a:t>
            </a:r>
            <a:r>
              <a:rPr lang="ru-RU" sz="1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НомерПокупателя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ORDER BY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2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DESC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 </a:t>
            </a: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-- </a:t>
            </a:r>
            <a:r>
              <a:rPr lang="ru-RU" sz="1800" i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СуммаИтого</a:t>
            </a:r>
            <a:endParaRPr lang="en-US" sz="18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+mn-lt"/>
                <a:cs typeface="Cascadia Mono SemiLight" panose="020B0609020000020004" pitchFamily="49" charset="0"/>
              </a:rPr>
              <a:t>Данное представление доступно с атрибутами </a:t>
            </a:r>
            <a:br>
              <a:rPr lang="ru-RU" sz="1800" dirty="0">
                <a:latin typeface="+mn-lt"/>
                <a:cs typeface="Cascadia Mono SemiLight" panose="020B0609020000020004" pitchFamily="49" charset="0"/>
              </a:rPr>
            </a:b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РейтингПокупателей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(Покупатель,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СуммаИтого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  <a:endParaRPr lang="ru-RU" sz="1800" dirty="0">
              <a:latin typeface="+mn-lt"/>
              <a:cs typeface="Cascadia Mono SemiLight" panose="020B06090200000200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EED6DA-3E6A-7D80-F6B4-5E98EB0FE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Создание </a:t>
            </a:r>
            <a:r>
              <a:rPr lang="en-US" dirty="0"/>
              <a:t>VIEW</a:t>
            </a:r>
            <a:r>
              <a:rPr lang="ru-RU" dirty="0"/>
              <a:t>: пример </a:t>
            </a:r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48127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05EF2-BC7A-F57D-3BFE-8826FC38B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5CA7CDA-7EAA-522C-020B-A7C1386FF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1907F7-E4FC-F842-D4E5-B7CE1FCCC2A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211181"/>
            <a:ext cx="8541643" cy="383169"/>
          </a:xfrm>
        </p:spPr>
        <p:txBody>
          <a:bodyPr/>
          <a:lstStyle/>
          <a:p>
            <a:r>
              <a:rPr lang="ru-RU" dirty="0"/>
              <a:t>Заказы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2BA6CF-C985-576A-45C8-CEC07CF3C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Создание </a:t>
            </a:r>
            <a:r>
              <a:rPr lang="en-US" dirty="0"/>
              <a:t>VIEW</a:t>
            </a:r>
            <a:r>
              <a:rPr lang="ru-RU" dirty="0"/>
              <a:t>: пример </a:t>
            </a:r>
            <a:r>
              <a:rPr lang="en-US" dirty="0"/>
              <a:t>3</a:t>
            </a:r>
          </a:p>
        </p:txBody>
      </p:sp>
      <p:graphicFrame>
        <p:nvGraphicFramePr>
          <p:cNvPr id="7" name="Group 362">
            <a:extLst>
              <a:ext uri="{FF2B5EF4-FFF2-40B4-BE49-F238E27FC236}">
                <a16:creationId xmlns:a16="http://schemas.microsoft.com/office/drawing/2014/main" id="{EE6F6698-2E46-6871-8300-7E4495387B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25349452"/>
              </p:ext>
            </p:extLst>
          </p:nvPr>
        </p:nvGraphicFramePr>
        <p:xfrm>
          <a:off x="350837" y="1522411"/>
          <a:ext cx="7605539" cy="3159697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8264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77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84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199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2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474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Номер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Сумма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ДатаЗаказа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Покупатель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Продавец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3001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18.69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2008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1007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3003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767.19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3002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1900.10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7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1004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3005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5160.45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2003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3006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1098.16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10/03/2000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2008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1007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3009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F2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1713.23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F2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10/04/2000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F2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2002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F2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1003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3007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75.75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10/04/2000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2004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3008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4723.00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10/05/2000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2006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3010</a:t>
                      </a:r>
                      <a:endParaRPr kumimoji="0" lang="en-US" sz="1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1309.95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2004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1002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3011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9891.88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10/06/2000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2006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1001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1763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DF6BFA-7E1F-6F01-0654-71CD7495F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39878C6-4272-58AC-F9C6-7D6121B3ADA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7" name="Group 362">
            <a:extLst>
              <a:ext uri="{FF2B5EF4-FFF2-40B4-BE49-F238E27FC236}">
                <a16:creationId xmlns:a16="http://schemas.microsoft.com/office/drawing/2014/main" id="{5C405F5D-D591-897C-D04D-3CC2B35B6700}"/>
              </a:ext>
            </a:extLst>
          </p:cNvPr>
          <p:cNvGraphicFramePr>
            <a:graphicFrameLocks noGrp="1"/>
          </p:cNvGraphicFramePr>
          <p:nvPr>
            <p:ph sz="quarter" idx="16"/>
            <p:extLst>
              <p:ext uri="{D42A27DB-BD31-4B8C-83A1-F6EECF244321}">
                <p14:modId xmlns:p14="http://schemas.microsoft.com/office/powerpoint/2010/main" val="1402902647"/>
              </p:ext>
            </p:extLst>
          </p:nvPr>
        </p:nvGraphicFramePr>
        <p:xfrm>
          <a:off x="312114" y="2283718"/>
          <a:ext cx="4149154" cy="2020761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07257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7657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474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Покупатель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СуммаИтого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2006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14614.88</a:t>
                      </a: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777539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5160.45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</a:t>
                      </a: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900</a:t>
                      </a: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.10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F2F3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1713.23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BF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2004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1385.70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2008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E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1116.85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6D6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398234-CA99-61D7-B4F7-11FAC17DB21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419225"/>
            <a:ext cx="3933130" cy="792485"/>
          </a:xfrm>
        </p:spPr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*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РейтингПокупателей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2C52FF-85B0-B2E6-7CF9-AFE1FEC60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Создание </a:t>
            </a:r>
            <a:r>
              <a:rPr lang="en-US" dirty="0"/>
              <a:t>VIEW</a:t>
            </a:r>
            <a:r>
              <a:rPr lang="ru-RU" dirty="0"/>
              <a:t>: пример </a:t>
            </a:r>
            <a:r>
              <a:rPr lang="en-US" dirty="0"/>
              <a:t>3</a:t>
            </a:r>
          </a:p>
        </p:txBody>
      </p:sp>
      <p:graphicFrame>
        <p:nvGraphicFramePr>
          <p:cNvPr id="6" name="Group 362">
            <a:extLst>
              <a:ext uri="{FF2B5EF4-FFF2-40B4-BE49-F238E27FC236}">
                <a16:creationId xmlns:a16="http://schemas.microsoft.com/office/drawing/2014/main" id="{0FA43E72-C2D5-D1FD-8C29-8A667BAA0B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22001506"/>
              </p:ext>
            </p:extLst>
          </p:nvPr>
        </p:nvGraphicFramePr>
        <p:xfrm>
          <a:off x="4638567" y="3423322"/>
          <a:ext cx="4109896" cy="881825"/>
        </p:xfrm>
        <a:graphic>
          <a:graphicData uri="http://schemas.openxmlformats.org/drawingml/2006/table">
            <a:tbl>
              <a:tblPr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tblPr>
              <a:tblGrid>
                <a:gridCol w="2054948">
                  <a:extLst>
                    <a:ext uri="{9D8B030D-6E8A-4147-A177-3AD203B41FA5}">
                      <a16:colId xmlns:a16="http://schemas.microsoft.com/office/drawing/2014/main" val="2456074108"/>
                    </a:ext>
                  </a:extLst>
                </a:gridCol>
                <a:gridCol w="20549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24748"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СуммаИтого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Покупатель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5160.45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197061"/>
                  </a:ext>
                </a:extLst>
              </a:tr>
              <a:tr h="204873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14614.88</a:t>
                      </a: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ysClr val="windowText" lastClr="000000"/>
                          </a:solidFill>
                          <a:effectLst/>
                          <a:latin typeface="Aptos" panose="020B0004020202020204" pitchFamily="34" charset="0"/>
                          <a:cs typeface="Times New Roman" pitchFamily="18" charset="0"/>
                        </a:rPr>
                        <a:t>2006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ysClr val="windowText" lastClr="000000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777539"/>
                  </a:ext>
                </a:extLst>
              </a:tr>
            </a:tbl>
          </a:graphicData>
        </a:graphic>
      </p:graphicFrame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B0354AED-C954-5973-F14A-0BCC463DB4C9}"/>
              </a:ext>
            </a:extLst>
          </p:cNvPr>
          <p:cNvSpPr txBox="1">
            <a:spLocks/>
          </p:cNvSpPr>
          <p:nvPr/>
        </p:nvSpPr>
        <p:spPr>
          <a:xfrm>
            <a:off x="4638566" y="1419225"/>
            <a:ext cx="4109897" cy="16271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9875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538163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808038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7791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254125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Tx/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СуммаИтого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Покупатель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РейтингПокупателей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СуммаИтого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&gt; </a:t>
            </a:r>
            <a:r>
              <a:rPr lang="ru-RU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2000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ORDER BY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Покупатель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ru-RU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8203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62328-204D-3146-FBB7-BAB209442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6B59B6-4F66-C643-AAF5-D391ABC6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5E56146-2178-5B97-9608-8D704EFCC5E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+mn-lt"/>
                <a:cs typeface="Cascadia Mono SemiLight" panose="020B0609020000020004" pitchFamily="49" charset="0"/>
              </a:rPr>
              <a:t>Для премирования выделить продавцов, обслуживших в какой-либо день покупателя с </a:t>
            </a:r>
            <a:r>
              <a:rPr lang="ru-RU" sz="1800" dirty="0">
                <a:solidFill>
                  <a:schemeClr val="accent2"/>
                </a:solidFill>
                <a:latin typeface="+mn-lt"/>
                <a:cs typeface="Cascadia Mono SemiLight" panose="020B0609020000020004" pitchFamily="49" charset="0"/>
              </a:rPr>
              <a:t>максимальным заказом</a:t>
            </a:r>
            <a:r>
              <a:rPr lang="ru-RU" sz="1800" dirty="0">
                <a:latin typeface="+mn-lt"/>
                <a:cs typeface="Cascadia Mono SemiLight" panose="020B0609020000020004" pitchFamily="49" charset="0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CREATE VIEW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Элита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Z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ДатаЗаказа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П.Номер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П.Имя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 П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INNER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JOIN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Заказы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Z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ON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Z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.Продавец =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П.Номер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Z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.Сумма = (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MAX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Сумма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          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Заказы 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Z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2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             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Z.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ДатаЗаказа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= 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Z2.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ДатаЗаказа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  <a:endParaRPr lang="en-US" sz="18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88C687-92D6-A50D-B11E-C48DB799D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Представления и подзапросы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3587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2CAE0-43AB-16D8-B8E4-786A7DA477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663E5E-1ACE-FEC8-07DA-DE3B7D0F2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D80BE96-2590-F2C0-7A79-E3FFD3CDE1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+mn-lt"/>
                <a:cs typeface="Cascadia Mono SemiLight" panose="020B0609020000020004" pitchFamily="49" charset="0"/>
              </a:rPr>
              <a:t>Пусть премия выдается продавцам только при получении ими максимального заказа </a:t>
            </a:r>
            <a:r>
              <a:rPr lang="ru-RU" sz="1800" dirty="0">
                <a:solidFill>
                  <a:schemeClr val="accent2"/>
                </a:solidFill>
                <a:latin typeface="+mn-lt"/>
                <a:cs typeface="Cascadia Mono SemiLight" panose="020B0609020000020004" pitchFamily="49" charset="0"/>
              </a:rPr>
              <a:t>не менее 10 раз</a:t>
            </a:r>
            <a:r>
              <a:rPr lang="ru-RU" sz="1800" dirty="0">
                <a:latin typeface="+mn-lt"/>
                <a:cs typeface="Cascadia Mono SemiLight" panose="020B0609020000020004" pitchFamily="49" charset="0"/>
              </a:rPr>
              <a:t>.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+mn-lt"/>
                <a:cs typeface="Cascadia Mono SemiLight" panose="020B0609020000020004" pitchFamily="49" charset="0"/>
              </a:rPr>
              <a:t>Сформируем новое представление, основанное на первом: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CREATE VIEW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Бонус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Номер, Имя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Элита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GROUP BY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Номер, Имя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HAVING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2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COUNT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(*) &gt;= 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8E372D-7C4D-4AD5-3843-ECA2A7701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Представления на основе Представлений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639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8E84E-DE0F-969D-7ADF-7E1F86B64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5E7FD99-7B11-F526-23EC-C1B0F486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B8A996-BC19-1FCE-DA22-C31236390AF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4221163" cy="338477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+mn-lt"/>
                <a:cs typeface="Cascadia Mono SemiLight" panose="020B0609020000020004" pitchFamily="49" charset="0"/>
              </a:rPr>
              <a:t>Давайте переведём всех хороших продавцов из Омска в Томск: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ХорошиеПродавцы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SET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 = 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Томск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 = 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Омск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’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-- </a:t>
            </a:r>
            <a:r>
              <a:rPr lang="ru-RU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эквивалентно: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highlight>
                  <a:srgbClr val="FBE5D6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SET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Город= 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Томск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highlight>
                  <a:srgbClr val="FBE5D6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&gt; </a:t>
            </a:r>
            <a:r>
              <a:rPr lang="ru-RU" sz="1800" dirty="0">
                <a:solidFill>
                  <a:schemeClr val="accent6">
                    <a:lumMod val="75000"/>
                  </a:schemeClr>
                </a:solidFill>
                <a:highlight>
                  <a:srgbClr val="FBE5D6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0.11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AND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 = 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Омск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800" dirty="0">
              <a:solidFill>
                <a:schemeClr val="accent6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EC06543-5087-8671-BFAE-55BBE10B6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Обновляемые Представления</a:t>
            </a:r>
            <a:r>
              <a:rPr lang="en-US" dirty="0"/>
              <a:t>: Update (1/2)</a:t>
            </a:r>
          </a:p>
        </p:txBody>
      </p:sp>
      <p:graphicFrame>
        <p:nvGraphicFramePr>
          <p:cNvPr id="7" name="Content Placeholder 8">
            <a:extLst>
              <a:ext uri="{FF2B5EF4-FFF2-40B4-BE49-F238E27FC236}">
                <a16:creationId xmlns:a16="http://schemas.microsoft.com/office/drawing/2014/main" id="{55A54236-9CDD-1813-0DC9-3E0BB5E16E6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7841532"/>
              </p:ext>
            </p:extLst>
          </p:nvPr>
        </p:nvGraphicFramePr>
        <p:xfrm>
          <a:off x="4672010" y="1491630"/>
          <a:ext cx="4321172" cy="1874142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162283413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80231387"/>
                    </a:ext>
                  </a:extLst>
                </a:gridCol>
                <a:gridCol w="1368671">
                  <a:extLst>
                    <a:ext uri="{9D8B030D-6E8A-4147-A177-3AD203B41FA5}">
                      <a16:colId xmlns:a16="http://schemas.microsoft.com/office/drawing/2014/main" val="3579168203"/>
                    </a:ext>
                  </a:extLst>
                </a:gridCol>
                <a:gridCol w="1080293">
                  <a:extLst>
                    <a:ext uri="{9D8B030D-6E8A-4147-A177-3AD203B41FA5}">
                      <a16:colId xmlns:a16="http://schemas.microsoft.com/office/drawing/2014/main" val="3094240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Номер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Имя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Город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Комиссия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8219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1001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Иванов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0.12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81843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Петров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Кемерово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0.13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57011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1004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Сидоров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0.11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77532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1007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Голубев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i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Омск </a:t>
                      </a: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Томск</a:t>
                      </a: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0.15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4266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1003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Кузнецов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Томск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0.10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441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64140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CAC27-627C-E9E3-9795-9102939F7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1170994-A2B3-03A2-A293-03D768804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6841743-9A1A-981F-B488-27806AD146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38477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+mn-lt"/>
                <a:cs typeface="Cascadia Mono SemiLight" panose="020B0609020000020004" pitchFamily="49" charset="0"/>
              </a:rPr>
              <a:t>Можно ли поднять хорошим продавцам комиссию?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ХорошиеПродавцы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SET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= Комиссия * </a:t>
            </a:r>
            <a:r>
              <a:rPr lang="ru-RU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1.5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-- </a:t>
            </a:r>
            <a:r>
              <a:rPr lang="ru-RU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Определение </a:t>
            </a: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View: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CREATE VIEW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ХорошиеПродавцы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Номер, Имя, Город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&gt; </a:t>
            </a:r>
            <a:r>
              <a:rPr lang="ru-RU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0.11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-- Oops!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9695FAB-3B87-BFFC-D28B-0E72701DC0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Обновляемые Представления</a:t>
            </a:r>
            <a:r>
              <a:rPr lang="en-US" dirty="0"/>
              <a:t>: Update (2/2)</a:t>
            </a:r>
          </a:p>
        </p:txBody>
      </p:sp>
    </p:spTree>
    <p:extLst>
      <p:ext uri="{BB962C8B-B14F-4D97-AF65-F5344CB8AC3E}">
        <p14:creationId xmlns:p14="http://schemas.microsoft.com/office/powerpoint/2010/main" val="2008519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7C5DE-B029-6FEF-8CA2-2B7CAAEE28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880819D-F408-CE98-DEC7-A5952B790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C9197A4-3ED6-83C6-D143-DB61117AE1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419224"/>
            <a:ext cx="4321172" cy="326288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+mn-lt"/>
                <a:cs typeface="Cascadia Mono SemiLight" panose="020B0609020000020004" pitchFamily="49" charset="0"/>
              </a:rPr>
              <a:t>Добавим «хорошего продавца»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 INTO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ХорошиеПродавцы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VALUES</a:t>
            </a:r>
            <a:b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1005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Зайцев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Томск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-- </a:t>
            </a:r>
            <a:r>
              <a:rPr lang="ru-RU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Эквивалентно</a:t>
            </a: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INSERT INTO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(Номер, Имя, Город)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VALUES</a:t>
            </a:r>
            <a:b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(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1005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 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Зайцев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,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Томск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);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6565594-C264-00F7-BBFF-81E1A5E93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Обновляемые Представления</a:t>
            </a:r>
            <a:r>
              <a:rPr lang="en-US" dirty="0"/>
              <a:t>: Insert</a:t>
            </a:r>
          </a:p>
        </p:txBody>
      </p:sp>
      <p:graphicFrame>
        <p:nvGraphicFramePr>
          <p:cNvPr id="3" name="Content Placeholder 8">
            <a:extLst>
              <a:ext uri="{FF2B5EF4-FFF2-40B4-BE49-F238E27FC236}">
                <a16:creationId xmlns:a16="http://schemas.microsoft.com/office/drawing/2014/main" id="{6506928F-976C-B995-0D5B-167037D679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49759438"/>
              </p:ext>
            </p:extLst>
          </p:nvPr>
        </p:nvGraphicFramePr>
        <p:xfrm>
          <a:off x="4672010" y="1491630"/>
          <a:ext cx="4321172" cy="2186499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162283413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80231387"/>
                    </a:ext>
                  </a:extLst>
                </a:gridCol>
                <a:gridCol w="1368671">
                  <a:extLst>
                    <a:ext uri="{9D8B030D-6E8A-4147-A177-3AD203B41FA5}">
                      <a16:colId xmlns:a16="http://schemas.microsoft.com/office/drawing/2014/main" val="3579168203"/>
                    </a:ext>
                  </a:extLst>
                </a:gridCol>
                <a:gridCol w="1080293">
                  <a:extLst>
                    <a:ext uri="{9D8B030D-6E8A-4147-A177-3AD203B41FA5}">
                      <a16:colId xmlns:a16="http://schemas.microsoft.com/office/drawing/2014/main" val="3094240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Номер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Имя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Город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Комиссия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318219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1001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Иванов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0.12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181843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Петров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Кемерово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0.13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4157011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1004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Сидоров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0.11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3977532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1007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Голубев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Томск</a:t>
                      </a: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0.15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3864266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1003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Кузнецов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Томск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0.10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4085441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1005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Зайцев</a:t>
                      </a:r>
                    </a:p>
                  </a:txBody>
                  <a:tcPr marL="45720" marR="45720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Томск</a:t>
                      </a:r>
                    </a:p>
                  </a:txBody>
                  <a:tcPr marL="45720" marR="45720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NULL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469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1498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1431B9-C345-FC6E-7EBC-7BCD7D7628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1E85FB0-DED2-F1A8-2C37-0089A102C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AE7CCB9-E822-C382-AAD1-1DBD4B8600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419224"/>
            <a:ext cx="4321172" cy="3262884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800" dirty="0">
                <a:latin typeface="+mn-lt"/>
                <a:cs typeface="Cascadia Mono SemiLight" panose="020B0609020000020004" pitchFamily="49" charset="0"/>
              </a:rPr>
              <a:t>Уволим всех хороших продавцов в Томске: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 FROM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ХорошиеПродавцы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WHERE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 = 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Томск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-- </a:t>
            </a:r>
            <a:r>
              <a:rPr lang="ru-RU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Эквивалентно</a:t>
            </a: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DELETE FROM </a:t>
            </a:r>
            <a:r>
              <a:rPr lang="ru-RU" sz="1800" dirty="0">
                <a:highlight>
                  <a:srgbClr val="FBE5D6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b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WHERE </a:t>
            </a:r>
            <a:r>
              <a:rPr lang="ru-RU" sz="1800" dirty="0">
                <a:highlight>
                  <a:srgbClr val="FBE5D6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&gt; </a:t>
            </a:r>
            <a:r>
              <a:rPr lang="ru-RU" sz="1800" dirty="0">
                <a:solidFill>
                  <a:schemeClr val="accent6">
                    <a:lumMod val="75000"/>
                  </a:schemeClr>
                </a:solidFill>
                <a:highlight>
                  <a:srgbClr val="FBE5D6"/>
                </a:highlight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0.11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b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AND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Город = 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ru-RU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Томск</a:t>
            </a:r>
            <a:r>
              <a:rPr lang="en-US" sz="1800" dirty="0">
                <a:solidFill>
                  <a:srgbClr val="7030A0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'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en-US" sz="1800" dirty="0">
              <a:solidFill>
                <a:schemeClr val="accent6">
                  <a:lumMod val="75000"/>
                </a:schemeClr>
              </a:solidFill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1CBCFA9-F22A-755C-7FD8-C8A94208F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Обновляемые Представления</a:t>
            </a:r>
            <a:r>
              <a:rPr lang="en-US" dirty="0"/>
              <a:t>: DELETE</a:t>
            </a:r>
          </a:p>
        </p:txBody>
      </p:sp>
      <p:graphicFrame>
        <p:nvGraphicFramePr>
          <p:cNvPr id="3" name="Content Placeholder 8">
            <a:extLst>
              <a:ext uri="{FF2B5EF4-FFF2-40B4-BE49-F238E27FC236}">
                <a16:creationId xmlns:a16="http://schemas.microsoft.com/office/drawing/2014/main" id="{86691071-9044-B782-EE8F-FF63CC76A1D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4761446"/>
              </p:ext>
            </p:extLst>
          </p:nvPr>
        </p:nvGraphicFramePr>
        <p:xfrm>
          <a:off x="4672010" y="1491630"/>
          <a:ext cx="4321172" cy="2186499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792088">
                  <a:extLst>
                    <a:ext uri="{9D8B030D-6E8A-4147-A177-3AD203B41FA5}">
                      <a16:colId xmlns:a16="http://schemas.microsoft.com/office/drawing/2014/main" val="162283413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3380231387"/>
                    </a:ext>
                  </a:extLst>
                </a:gridCol>
                <a:gridCol w="1368671">
                  <a:extLst>
                    <a:ext uri="{9D8B030D-6E8A-4147-A177-3AD203B41FA5}">
                      <a16:colId xmlns:a16="http://schemas.microsoft.com/office/drawing/2014/main" val="3579168203"/>
                    </a:ext>
                  </a:extLst>
                </a:gridCol>
                <a:gridCol w="1080293">
                  <a:extLst>
                    <a:ext uri="{9D8B030D-6E8A-4147-A177-3AD203B41FA5}">
                      <a16:colId xmlns:a16="http://schemas.microsoft.com/office/drawing/2014/main" val="30942409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Номер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Имя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Город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Комиссия</a:t>
                      </a:r>
                      <a:endParaRPr kumimoji="0" lang="en-U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3182191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1001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Иванов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0.12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1181843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1002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Петров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Кемерово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0.13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41570111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1004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Сидоров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0.11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3977532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1007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Голубев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Томск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0.15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42663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1003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Кузнецов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Томск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0.10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/>
                </a:tc>
                <a:extLst>
                  <a:ext uri="{0D108BD9-81ED-4DB2-BD59-A6C34878D82A}">
                    <a16:rowId xmlns:a16="http://schemas.microsoft.com/office/drawing/2014/main" val="40854419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1005</a:t>
                      </a:r>
                      <a:endParaRPr kumimoji="0" 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Зайцев</a:t>
                      </a: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Томск</a:t>
                      </a: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NULL</a:t>
                      </a:r>
                      <a:endParaRPr kumimoji="0" lang="ru-RU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64691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6776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4A679F-6410-D4D7-2E69-285AB8FE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11EAE7-1DFF-BF56-F588-4963CF3758E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38477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VIEW может использоваться в командах изменения данных ЕСЛИ:</a:t>
            </a:r>
          </a:p>
          <a:p>
            <a:pPr>
              <a:lnSpc>
                <a:spcPct val="110000"/>
              </a:lnSpc>
            </a:pPr>
            <a:r>
              <a:rPr lang="ru-RU" dirty="0"/>
              <a:t>SELECT не содержит DISTINCT</a:t>
            </a:r>
          </a:p>
          <a:p>
            <a:pPr>
              <a:lnSpc>
                <a:spcPct val="110000"/>
              </a:lnSpc>
            </a:pPr>
            <a:r>
              <a:rPr lang="ru-RU" dirty="0"/>
              <a:t>Элементы списка в SELECT содержат только имена атрибутов таблицы во фразе FROM </a:t>
            </a:r>
            <a:r>
              <a:rPr lang="ru-RU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(Зависит от диалекта)</a:t>
            </a:r>
            <a:r>
              <a:rPr lang="ru-RU" dirty="0"/>
              <a:t>. </a:t>
            </a:r>
          </a:p>
          <a:p>
            <a:pPr>
              <a:lnSpc>
                <a:spcPct val="110000"/>
              </a:lnSpc>
            </a:pPr>
            <a:r>
              <a:rPr lang="ru-RU" dirty="0"/>
              <a:t>Выражение FROM в определении VIEW не содержит JOIN / UNION / INTERSECT / EXCEPT</a:t>
            </a:r>
          </a:p>
          <a:p>
            <a:pPr>
              <a:lnSpc>
                <a:spcPct val="110000"/>
              </a:lnSpc>
            </a:pPr>
            <a:r>
              <a:rPr lang="ru-RU" dirty="0"/>
              <a:t>Выражение FROM содержит только </a:t>
            </a:r>
            <a:r>
              <a:rPr lang="ru-RU" dirty="0">
                <a:solidFill>
                  <a:schemeClr val="accent2"/>
                </a:solidFill>
              </a:rPr>
              <a:t>одну таблицу</a:t>
            </a:r>
          </a:p>
          <a:p>
            <a:pPr>
              <a:lnSpc>
                <a:spcPct val="110000"/>
              </a:lnSpc>
            </a:pPr>
            <a:r>
              <a:rPr lang="ru-RU" dirty="0"/>
              <a:t>Имя таблицы во фразе FROM является </a:t>
            </a:r>
            <a:r>
              <a:rPr lang="ru-RU" dirty="0">
                <a:solidFill>
                  <a:schemeClr val="accent2"/>
                </a:solidFill>
              </a:rPr>
              <a:t>базовой таблицей</a:t>
            </a:r>
            <a:r>
              <a:rPr lang="ru-RU" dirty="0"/>
              <a:t> или </a:t>
            </a:r>
            <a:r>
              <a:rPr lang="ru-RU" dirty="0" err="1">
                <a:solidFill>
                  <a:schemeClr val="accent2"/>
                </a:solidFill>
              </a:rPr>
              <a:t>updatable</a:t>
            </a:r>
            <a:r>
              <a:rPr lang="ru-RU" dirty="0">
                <a:solidFill>
                  <a:schemeClr val="accent2"/>
                </a:solidFill>
              </a:rPr>
              <a:t> VIEW</a:t>
            </a:r>
          </a:p>
          <a:p>
            <a:pPr>
              <a:lnSpc>
                <a:spcPct val="110000"/>
              </a:lnSpc>
            </a:pPr>
            <a:r>
              <a:rPr lang="ru-RU" dirty="0"/>
              <a:t>WHERE не содержит подзапросов</a:t>
            </a:r>
          </a:p>
          <a:p>
            <a:pPr>
              <a:lnSpc>
                <a:spcPct val="110000"/>
              </a:lnSpc>
            </a:pPr>
            <a:r>
              <a:rPr lang="ru-RU" dirty="0"/>
              <a:t>Команда не содержит GROUP BY / HAVING (в том числе и неявно – через агрегатные функции в </a:t>
            </a:r>
            <a:r>
              <a:rPr lang="en-US" dirty="0"/>
              <a:t>SELECT)</a:t>
            </a:r>
            <a:endParaRPr lang="ru-RU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8776AF0-682D-45D2-E2B9-AC5F06D2B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Ограничения на Обновляемые Представления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2873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646B2-BFF1-F7C1-41BE-00BFB9634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6C80724-93FB-34E1-C6CB-57AA22C5E0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C398EB-E0B6-DBED-3C46-C921A56DBB4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CREATE VIEW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НеплохиеПродавцы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*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11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CREATE VIEW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СредниеПродавцы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*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НеплохиеПродавцы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20</a:t>
            </a:r>
            <a:br>
              <a:rPr lang="ru-RU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WITH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LOCAL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CHECK OPTION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b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CREATE VIEW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ТочноСредниеПродавцы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b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ru-RU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*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НеплохиеПродавцы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WHERE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&lt;</a:t>
            </a:r>
            <a:r>
              <a:rPr lang="ru-RU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0.</a:t>
            </a: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20</a:t>
            </a:r>
            <a:br>
              <a:rPr lang="ru-RU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8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WITH 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CASCADED</a:t>
            </a:r>
            <a:r>
              <a:rPr lang="en-US" sz="18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CHECK OPTION</a:t>
            </a:r>
            <a:r>
              <a:rPr lang="en-US" sz="18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ru-RU" sz="18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ru-RU" sz="18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ABB604-788B-212A-5D00-C7F4E6F75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Обновляемые представления: </a:t>
            </a:r>
            <a:r>
              <a:rPr lang="en-US" dirty="0"/>
              <a:t>Check Option</a:t>
            </a:r>
          </a:p>
        </p:txBody>
      </p:sp>
    </p:spTree>
    <p:extLst>
      <p:ext uri="{BB962C8B-B14F-4D97-AF65-F5344CB8AC3E}">
        <p14:creationId xmlns:p14="http://schemas.microsoft.com/office/powerpoint/2010/main" val="8541580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4D3E306-EE6B-C9E9-D3CD-44111298C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48F051-2436-9FAD-C8BE-54AA7089B3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4001827" cy="1125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НеплохиеПродавцы</a:t>
            </a: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SET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= Комиссия -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</a:t>
            </a:r>
            <a:r>
              <a:rPr lang="ru-RU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СредниеПродавцы</a:t>
            </a: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SET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= Комиссия -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</a:t>
            </a:r>
            <a:r>
              <a:rPr lang="ru-RU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en-US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F51ABDF-C137-C000-D8F1-A71E9A3B2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Обновляемые представления: </a:t>
            </a:r>
            <a:r>
              <a:rPr lang="en-US" dirty="0"/>
              <a:t>Check Option</a:t>
            </a:r>
          </a:p>
        </p:txBody>
      </p:sp>
      <p:graphicFrame>
        <p:nvGraphicFramePr>
          <p:cNvPr id="5" name="Content Placeholder 8">
            <a:extLst>
              <a:ext uri="{FF2B5EF4-FFF2-40B4-BE49-F238E27FC236}">
                <a16:creationId xmlns:a16="http://schemas.microsoft.com/office/drawing/2014/main" id="{160C038B-0C9D-C851-F372-DA3E9CEB48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93063959"/>
              </p:ext>
            </p:extLst>
          </p:nvPr>
        </p:nvGraphicFramePr>
        <p:xfrm>
          <a:off x="354150" y="2598780"/>
          <a:ext cx="4001827" cy="1708404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733551">
                  <a:extLst>
                    <a:ext uri="{9D8B030D-6E8A-4147-A177-3AD203B41FA5}">
                      <a16:colId xmlns:a16="http://schemas.microsoft.com/office/drawing/2014/main" val="1622834132"/>
                    </a:ext>
                  </a:extLst>
                </a:gridCol>
                <a:gridCol w="1000296">
                  <a:extLst>
                    <a:ext uri="{9D8B030D-6E8A-4147-A177-3AD203B41FA5}">
                      <a16:colId xmlns:a16="http://schemas.microsoft.com/office/drawing/2014/main" val="3380231387"/>
                    </a:ext>
                  </a:extLst>
                </a:gridCol>
                <a:gridCol w="1267523">
                  <a:extLst>
                    <a:ext uri="{9D8B030D-6E8A-4147-A177-3AD203B41FA5}">
                      <a16:colId xmlns:a16="http://schemas.microsoft.com/office/drawing/2014/main" val="3579168203"/>
                    </a:ext>
                  </a:extLst>
                </a:gridCol>
                <a:gridCol w="1000457">
                  <a:extLst>
                    <a:ext uri="{9D8B030D-6E8A-4147-A177-3AD203B41FA5}">
                      <a16:colId xmlns:a16="http://schemas.microsoft.com/office/drawing/2014/main" val="3094240912"/>
                    </a:ext>
                  </a:extLst>
                </a:gridCol>
              </a:tblGrid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Номер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Имя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Город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Комиссия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82191193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Иванов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0.12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0.02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81843127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Петров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Кемерово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0.13 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0.03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57011144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1004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Сидоров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0.11 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77532622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Голубев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Томск</a:t>
                      </a: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0.15</a:t>
                      </a:r>
                      <a:r>
                        <a:rPr kumimoji="0" lang="ru-RU" sz="1400" b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0.05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4266388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1003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Кузнецов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Томск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441967"/>
                  </a:ext>
                </a:extLst>
              </a:tr>
            </a:tbl>
          </a:graphicData>
        </a:graphic>
      </p:graphicFrame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171B8FAA-FC64-E3F0-020C-AD3338C12A9B}"/>
              </a:ext>
            </a:extLst>
          </p:cNvPr>
          <p:cNvSpPr txBox="1">
            <a:spLocks/>
          </p:cNvSpPr>
          <p:nvPr/>
        </p:nvSpPr>
        <p:spPr>
          <a:xfrm>
            <a:off x="4762421" y="1419225"/>
            <a:ext cx="4001827" cy="11254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НеплохиеПродавцы</a:t>
            </a: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SET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= Комиссия +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</a:t>
            </a:r>
            <a:r>
              <a:rPr lang="ru-RU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</a:p>
          <a:p>
            <a:pPr marL="0" indent="0">
              <a:buFontTx/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СредниеПродавцы</a:t>
            </a: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SET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= Комиссия +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</a:t>
            </a:r>
            <a:r>
              <a:rPr lang="ru-RU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en-US" sz="16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42823E20-08B6-993C-2640-05365A56FB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1849980"/>
              </p:ext>
            </p:extLst>
          </p:nvPr>
        </p:nvGraphicFramePr>
        <p:xfrm>
          <a:off x="4765734" y="2598780"/>
          <a:ext cx="4001827" cy="1708404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733551">
                  <a:extLst>
                    <a:ext uri="{9D8B030D-6E8A-4147-A177-3AD203B41FA5}">
                      <a16:colId xmlns:a16="http://schemas.microsoft.com/office/drawing/2014/main" val="1622834132"/>
                    </a:ext>
                  </a:extLst>
                </a:gridCol>
                <a:gridCol w="1000296">
                  <a:extLst>
                    <a:ext uri="{9D8B030D-6E8A-4147-A177-3AD203B41FA5}">
                      <a16:colId xmlns:a16="http://schemas.microsoft.com/office/drawing/2014/main" val="3380231387"/>
                    </a:ext>
                  </a:extLst>
                </a:gridCol>
                <a:gridCol w="1267523">
                  <a:extLst>
                    <a:ext uri="{9D8B030D-6E8A-4147-A177-3AD203B41FA5}">
                      <a16:colId xmlns:a16="http://schemas.microsoft.com/office/drawing/2014/main" val="3579168203"/>
                    </a:ext>
                  </a:extLst>
                </a:gridCol>
                <a:gridCol w="1000457">
                  <a:extLst>
                    <a:ext uri="{9D8B030D-6E8A-4147-A177-3AD203B41FA5}">
                      <a16:colId xmlns:a16="http://schemas.microsoft.com/office/drawing/2014/main" val="3094240912"/>
                    </a:ext>
                  </a:extLst>
                </a:gridCol>
              </a:tblGrid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Номер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Имя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Город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Комиссия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82191193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Иванов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0.12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BE5D6"/>
                          </a:highlight>
                          <a:latin typeface="Aptos" panose="020B0004020202020204" pitchFamily="34" charset="0"/>
                        </a:rPr>
                        <a:t>0.22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BE5D6"/>
                        </a:highlight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81843127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Петров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Кемерово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0.13 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BE5D6"/>
                          </a:highlight>
                          <a:latin typeface="Aptos" panose="020B0004020202020204" pitchFamily="34" charset="0"/>
                        </a:rPr>
                        <a:t>0.23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BE5D6"/>
                        </a:highlight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57011144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1004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Сидоров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0.11 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77532622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Голубев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Томск</a:t>
                      </a: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0.15</a:t>
                      </a:r>
                      <a:r>
                        <a:rPr kumimoji="0" lang="ru-RU" sz="1400" b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BE5D6"/>
                          </a:highlight>
                          <a:latin typeface="Aptos" panose="020B0004020202020204" pitchFamily="34" charset="0"/>
                        </a:rPr>
                        <a:t>0.25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BE5D6"/>
                        </a:highlight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4266388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1003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Кузнецов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Томск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441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7233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77965C-CD8E-D592-8FF7-99B482629B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F224E-C255-5ABD-162B-77A0E4DBC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1AFE83-1839-BC0E-2C26-0806B67AD2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4001827" cy="112549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ТочноСредниеПродавцы</a:t>
            </a: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SET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= Комиссия -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</a:t>
            </a:r>
            <a:r>
              <a:rPr lang="ru-RU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en-US" sz="1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BC17DAD-1901-A977-1FCA-45FDF593A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Обновляемые представления: </a:t>
            </a:r>
            <a:r>
              <a:rPr lang="en-US" dirty="0"/>
              <a:t>Check Option</a:t>
            </a:r>
          </a:p>
        </p:txBody>
      </p:sp>
      <p:graphicFrame>
        <p:nvGraphicFramePr>
          <p:cNvPr id="5" name="Content Placeholder 8">
            <a:extLst>
              <a:ext uri="{FF2B5EF4-FFF2-40B4-BE49-F238E27FC236}">
                <a16:creationId xmlns:a16="http://schemas.microsoft.com/office/drawing/2014/main" id="{3E4CBCED-E6F7-DCD3-CFC8-94D921D4FFC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61508896"/>
              </p:ext>
            </p:extLst>
          </p:nvPr>
        </p:nvGraphicFramePr>
        <p:xfrm>
          <a:off x="354150" y="2598780"/>
          <a:ext cx="4001827" cy="1708404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733551">
                  <a:extLst>
                    <a:ext uri="{9D8B030D-6E8A-4147-A177-3AD203B41FA5}">
                      <a16:colId xmlns:a16="http://schemas.microsoft.com/office/drawing/2014/main" val="1622834132"/>
                    </a:ext>
                  </a:extLst>
                </a:gridCol>
                <a:gridCol w="1000296">
                  <a:extLst>
                    <a:ext uri="{9D8B030D-6E8A-4147-A177-3AD203B41FA5}">
                      <a16:colId xmlns:a16="http://schemas.microsoft.com/office/drawing/2014/main" val="3380231387"/>
                    </a:ext>
                  </a:extLst>
                </a:gridCol>
                <a:gridCol w="1267523">
                  <a:extLst>
                    <a:ext uri="{9D8B030D-6E8A-4147-A177-3AD203B41FA5}">
                      <a16:colId xmlns:a16="http://schemas.microsoft.com/office/drawing/2014/main" val="3579168203"/>
                    </a:ext>
                  </a:extLst>
                </a:gridCol>
                <a:gridCol w="1000457">
                  <a:extLst>
                    <a:ext uri="{9D8B030D-6E8A-4147-A177-3AD203B41FA5}">
                      <a16:colId xmlns:a16="http://schemas.microsoft.com/office/drawing/2014/main" val="3094240912"/>
                    </a:ext>
                  </a:extLst>
                </a:gridCol>
              </a:tblGrid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Номер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Имя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Город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Комиссия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82191193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Иванов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0.12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BE5D6"/>
                          </a:highlight>
                          <a:latin typeface="Aptos" panose="020B0004020202020204" pitchFamily="34" charset="0"/>
                        </a:rPr>
                        <a:t>0.02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BE5D6"/>
                        </a:highlight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81843127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Петров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Кемерово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0.13 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BE5D6"/>
                          </a:highlight>
                          <a:latin typeface="Aptos" panose="020B0004020202020204" pitchFamily="34" charset="0"/>
                        </a:rPr>
                        <a:t>0.03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BE5D6"/>
                        </a:highlight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57011144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1004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Сидоров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0.11 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77532622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Голубев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Томск</a:t>
                      </a: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0.15</a:t>
                      </a:r>
                      <a:r>
                        <a:rPr kumimoji="0" lang="ru-RU" sz="1400" b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BE5D6"/>
                          </a:highlight>
                          <a:latin typeface="Aptos" panose="020B0004020202020204" pitchFamily="34" charset="0"/>
                        </a:rPr>
                        <a:t>0.05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BE5D6"/>
                        </a:highlight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4266388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1003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Кузнецов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Томск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441967"/>
                  </a:ext>
                </a:extLst>
              </a:tr>
            </a:tbl>
          </a:graphicData>
        </a:graphic>
      </p:graphicFrame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A020A19-E247-AA5C-41F0-B50EEDFB850D}"/>
              </a:ext>
            </a:extLst>
          </p:cNvPr>
          <p:cNvSpPr txBox="1">
            <a:spLocks/>
          </p:cNvSpPr>
          <p:nvPr/>
        </p:nvSpPr>
        <p:spPr>
          <a:xfrm>
            <a:off x="4762421" y="1419225"/>
            <a:ext cx="4001827" cy="11254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Tx/>
              <a:buNone/>
            </a:pP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UPDATE </a:t>
            </a:r>
            <a:r>
              <a:rPr lang="ru-RU" sz="1600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ТочноСредниеПродавцы</a:t>
            </a: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SET </a:t>
            </a:r>
            <a:r>
              <a:rPr lang="ru-RU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Комиссия = Комиссия + 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0</a:t>
            </a:r>
            <a:r>
              <a:rPr lang="ru-RU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.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1</a:t>
            </a:r>
            <a:r>
              <a:rPr lang="en-US" sz="16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;</a:t>
            </a:r>
            <a:endParaRPr lang="en-US" sz="1600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24D06940-086F-0EEA-EF61-6496319C751F}"/>
              </a:ext>
            </a:extLst>
          </p:cNvPr>
          <p:cNvGraphicFramePr>
            <a:graphicFrameLocks/>
          </p:cNvGraphicFramePr>
          <p:nvPr/>
        </p:nvGraphicFramePr>
        <p:xfrm>
          <a:off x="4765734" y="2598780"/>
          <a:ext cx="4001827" cy="1708404"/>
        </p:xfrm>
        <a:graphic>
          <a:graphicData uri="http://schemas.openxmlformats.org/drawingml/2006/table">
            <a:tbl>
              <a:tblPr first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{F5AB1C69-6EDB-4FF4-983F-18BD219EF322}</a:tableStyleId>
              </a:tblPr>
              <a:tblGrid>
                <a:gridCol w="733551">
                  <a:extLst>
                    <a:ext uri="{9D8B030D-6E8A-4147-A177-3AD203B41FA5}">
                      <a16:colId xmlns:a16="http://schemas.microsoft.com/office/drawing/2014/main" val="1622834132"/>
                    </a:ext>
                  </a:extLst>
                </a:gridCol>
                <a:gridCol w="1000296">
                  <a:extLst>
                    <a:ext uri="{9D8B030D-6E8A-4147-A177-3AD203B41FA5}">
                      <a16:colId xmlns:a16="http://schemas.microsoft.com/office/drawing/2014/main" val="3380231387"/>
                    </a:ext>
                  </a:extLst>
                </a:gridCol>
                <a:gridCol w="1267523">
                  <a:extLst>
                    <a:ext uri="{9D8B030D-6E8A-4147-A177-3AD203B41FA5}">
                      <a16:colId xmlns:a16="http://schemas.microsoft.com/office/drawing/2014/main" val="3579168203"/>
                    </a:ext>
                  </a:extLst>
                </a:gridCol>
                <a:gridCol w="1000457">
                  <a:extLst>
                    <a:ext uri="{9D8B030D-6E8A-4147-A177-3AD203B41FA5}">
                      <a16:colId xmlns:a16="http://schemas.microsoft.com/office/drawing/2014/main" val="3094240912"/>
                    </a:ext>
                  </a:extLst>
                </a:gridCol>
              </a:tblGrid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Номер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Имя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Город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1" u="none" strike="noStrike" cap="none" normalizeH="0" baseline="0" dirty="0">
                          <a:ln>
                            <a:noFill/>
                          </a:ln>
                          <a:solidFill>
                            <a:schemeClr val="bg2">
                              <a:lumMod val="60000"/>
                              <a:lumOff val="4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Комиссия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2">
                            <a:lumMod val="60000"/>
                            <a:lumOff val="4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3182191193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1001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Иванов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0.12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BE5D6"/>
                          </a:highlight>
                          <a:latin typeface="Aptos" panose="020B0004020202020204" pitchFamily="34" charset="0"/>
                        </a:rPr>
                        <a:t>0.22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BE5D6"/>
                        </a:highlight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81843127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1002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Петров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Кемерово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0.13 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BE5D6"/>
                          </a:highlight>
                          <a:latin typeface="Aptos" panose="020B0004020202020204" pitchFamily="34" charset="0"/>
                        </a:rPr>
                        <a:t>0.23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BE5D6"/>
                        </a:highlight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57011144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1004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Сидоров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Новосибирск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0.11 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77532622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1007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Голубев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  <a:cs typeface="Arial" charset="0"/>
                        </a:rPr>
                        <a:t>Томск</a:t>
                      </a:r>
                    </a:p>
                  </a:txBody>
                  <a:tcPr marL="45720" marR="45720" horzOverflow="overflow"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0.15</a:t>
                      </a:r>
                      <a:r>
                        <a:rPr kumimoji="0" lang="ru-RU" sz="1400" b="0" u="none" strike="sng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ptos" panose="020B0004020202020204" pitchFamily="34" charset="0"/>
                        </a:rPr>
                        <a:t> </a:t>
                      </a: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highlight>
                            <a:srgbClr val="FBE5D6"/>
                          </a:highlight>
                          <a:latin typeface="Aptos" panose="020B0004020202020204" pitchFamily="34" charset="0"/>
                        </a:rPr>
                        <a:t>0.25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highlight>
                          <a:srgbClr val="FBE5D6"/>
                        </a:highlight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864266388"/>
                  </a:ext>
                </a:extLst>
              </a:tr>
              <a:tr h="15995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1003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Кузнецов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Томск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1400" b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Aptos" panose="020B0004020202020204" pitchFamily="34" charset="0"/>
                        </a:rPr>
                        <a:t>0.10</a:t>
                      </a:r>
                      <a:endParaRPr kumimoji="0" lang="ru-RU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Aptos" panose="020B0004020202020204" pitchFamily="34" charset="0"/>
                        <a:cs typeface="Arial" charset="0"/>
                      </a:endParaRPr>
                    </a:p>
                  </a:txBody>
                  <a:tcPr marL="45720" marR="45720" horzOverflow="overflow"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5441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95884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0DD87-2F9D-9B09-BCD7-C70FB2A6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E7C942F-2571-1947-820E-911B7D2BD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12E5AAC-331B-4A22-A01D-802D40030460}" type="slidenum">
              <a:rPr kumimoji="0" lang="en-US" sz="3400" b="0" i="0" u="none" strike="noStrike" kern="1200" cap="none" spc="0" normalizeH="0" baseline="0" noProof="0" smtClean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Acrom ExtraBold" panose="020B0604020202020204" charset="-52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34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crom ExtraBold" panose="020B0604020202020204" charset="-52"/>
              <a:ea typeface="+mn-ea"/>
              <a:cs typeface="+mn-cs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FAEA1015-7416-91D6-194C-97761C16F0F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384773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r>
              <a:rPr lang="en-US" altLang="ru-RU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DROP</a:t>
            </a:r>
            <a:r>
              <a:rPr lang="en-US" altLang="ru-RU" sz="1400" dirty="0">
                <a:solidFill>
                  <a:schemeClr val="tx2"/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VIEW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&lt;</a:t>
            </a:r>
            <a:r>
              <a:rPr lang="ru-RU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имя представления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&gt;</a:t>
            </a:r>
            <a:r>
              <a:rPr lang="ru-RU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[</a:t>
            </a:r>
            <a:r>
              <a:rPr lang="en-US" altLang="ru-RU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RESTRICT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| </a:t>
            </a:r>
            <a:r>
              <a:rPr lang="en-US" altLang="ru-RU" sz="1400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CASCADE</a:t>
            </a:r>
            <a:r>
              <a:rPr lang="en-US" altLang="ru-RU" sz="1400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]</a:t>
            </a:r>
            <a:endParaRPr lang="ru-RU" altLang="ru-RU" sz="1400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0"/>
              </a:spcBef>
              <a:buFont typeface="Wingdings" panose="05000000000000000000" pitchFamily="2" charset="2"/>
              <a:buNone/>
              <a:defRPr/>
            </a:pPr>
            <a:endParaRPr lang="ru-RU" altLang="ru-RU" sz="140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AFFA90C-B215-88A6-3E7C-55BAFAA40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удаление </a:t>
            </a:r>
            <a:r>
              <a:rPr lang="en-US" dirty="0"/>
              <a:t>VIEW</a:t>
            </a:r>
          </a:p>
        </p:txBody>
      </p:sp>
    </p:spTree>
    <p:extLst>
      <p:ext uri="{BB962C8B-B14F-4D97-AF65-F5344CB8AC3E}">
        <p14:creationId xmlns:p14="http://schemas.microsoft.com/office/powerpoint/2010/main" val="1785765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27D7A85-0FD9-F2F4-F087-FA3128B86B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A4CC8-AF2E-6B2F-53E9-BCC29544C5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4"/>
            <a:ext cx="8541643" cy="3262883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ru-RU" dirty="0"/>
              <a:t>Упрощение создания сложных запросов</a:t>
            </a:r>
          </a:p>
          <a:p>
            <a:pPr>
              <a:lnSpc>
                <a:spcPct val="100000"/>
              </a:lnSpc>
            </a:pPr>
            <a:r>
              <a:rPr lang="ru-RU" dirty="0"/>
              <a:t>Ограничение доступа</a:t>
            </a:r>
            <a:r>
              <a:rPr lang="en-US" dirty="0"/>
              <a:t> (</a:t>
            </a:r>
            <a:r>
              <a:rPr lang="ru-RU" dirty="0"/>
              <a:t>зависит от СУБД):</a:t>
            </a:r>
            <a:br>
              <a:rPr lang="ru-RU" dirty="0"/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DENY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/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REVOKE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ON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Продавцы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Public;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GRANT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ON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ХорошиеПродавцы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TO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Public;</a:t>
            </a:r>
            <a:endParaRPr lang="ru-RU" dirty="0">
              <a:latin typeface="Cascadia Mono SemiLight" panose="020B0609020000020004" pitchFamily="49" charset="0"/>
              <a:cs typeface="Cascadia Mono SemiLight" panose="020B0609020000020004" pitchFamily="49" charset="0"/>
            </a:endParaRPr>
          </a:p>
          <a:p>
            <a:pPr>
              <a:lnSpc>
                <a:spcPct val="100000"/>
              </a:lnSpc>
            </a:pPr>
            <a:r>
              <a:rPr lang="ru-RU" dirty="0" err="1"/>
              <a:t>Партиционирование</a:t>
            </a:r>
            <a:r>
              <a:rPr lang="ru-RU" dirty="0"/>
              <a:t> данных (зависит от СУБД)</a:t>
            </a:r>
            <a:br>
              <a:rPr lang="en-US" dirty="0"/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CREATE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VIEW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Заказы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AS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*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Заказы2024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UNION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ALL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*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Заказы2023</a:t>
            </a:r>
            <a:br>
              <a:rPr lang="ru-RU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UNION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ALL</a:t>
            </a:r>
            <a:b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</a:b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SELECT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* </a:t>
            </a:r>
            <a:r>
              <a:rPr lang="en-US" dirty="0">
                <a:solidFill>
                  <a:schemeClr val="accent1">
                    <a:lumMod val="75000"/>
                  </a:schemeClr>
                </a:solidFill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FROM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  <a:r>
              <a:rPr lang="ru-RU" dirty="0" err="1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ЗаказыАрхив</a:t>
            </a:r>
            <a:r>
              <a:rPr lang="en-US" dirty="0">
                <a:latin typeface="Cascadia Mono SemiLight" panose="020B0609020000020004" pitchFamily="49" charset="0"/>
                <a:cs typeface="Cascadia Mono SemiLight" panose="020B0609020000020004" pitchFamily="49" charset="0"/>
              </a:rPr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8833153-89E0-980C-C5D7-5FC0CEC9F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Сценарии использования представлений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1919480"/>
      </p:ext>
    </p:extLst>
  </p:cSld>
  <p:clrMapOvr>
    <a:masterClrMapping/>
  </p:clrMapOvr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16832</TotalTime>
  <Words>1573</Words>
  <Application>Microsoft Office PowerPoint</Application>
  <PresentationFormat>On-screen Show (16:9)</PresentationFormat>
  <Paragraphs>466</Paragraphs>
  <Slides>23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Cascadia Mono SemiBold</vt:lpstr>
      <vt:lpstr>Acrom</vt:lpstr>
      <vt:lpstr>Acrom Bold</vt:lpstr>
      <vt:lpstr>Cascadia Mono SemiLight</vt:lpstr>
      <vt:lpstr>Calibri</vt:lpstr>
      <vt:lpstr>Arial</vt:lpstr>
      <vt:lpstr>Aptos</vt:lpstr>
      <vt:lpstr>Acrom ExtraBold</vt:lpstr>
      <vt:lpstr>Wingdings</vt:lpstr>
      <vt:lpstr>NSU Content</vt:lpstr>
      <vt:lpstr>NSU Captions</vt:lpstr>
      <vt:lpstr>БАЗЫ ДАННЫХ</vt:lpstr>
      <vt:lpstr>PowerPoint Presentation</vt:lpstr>
      <vt:lpstr>Что такое VIEW</vt:lpstr>
      <vt:lpstr>Создание VIEW (1/2)</vt:lpstr>
      <vt:lpstr>Создание VIEW (2/2)</vt:lpstr>
      <vt:lpstr>Создание VIEW: пример 1</vt:lpstr>
      <vt:lpstr>Создание VIEW: пример 2</vt:lpstr>
      <vt:lpstr>Использование VIEW (пример 2)</vt:lpstr>
      <vt:lpstr>Создание VIEW: пример 3</vt:lpstr>
      <vt:lpstr>Создание VIEW: пример 3</vt:lpstr>
      <vt:lpstr>Создание VIEW: пример 3</vt:lpstr>
      <vt:lpstr>Представления и подзапросы</vt:lpstr>
      <vt:lpstr>Представления на основе Представлений</vt:lpstr>
      <vt:lpstr>Обновляемые Представления: Update (1/2)</vt:lpstr>
      <vt:lpstr>Обновляемые Представления: Update (2/2)</vt:lpstr>
      <vt:lpstr>Обновляемые Представления: Insert</vt:lpstr>
      <vt:lpstr>Обновляемые Представления: DELETE</vt:lpstr>
      <vt:lpstr>Ограничения на Обновляемые Представления</vt:lpstr>
      <vt:lpstr>Обновляемые представления: Check Option</vt:lpstr>
      <vt:lpstr>Обновляемые представления: Check Option</vt:lpstr>
      <vt:lpstr>Обновляемые представления: Check Option</vt:lpstr>
      <vt:lpstr>удаление VIEW</vt:lpstr>
      <vt:lpstr>Сценарии использования представлений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853</cp:revision>
  <dcterms:created xsi:type="dcterms:W3CDTF">2016-08-15T04:55:12Z</dcterms:created>
  <dcterms:modified xsi:type="dcterms:W3CDTF">2024-11-13T16:33:05Z</dcterms:modified>
</cp:coreProperties>
</file>