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37"/>
  </p:notesMasterIdLst>
  <p:sldIdLst>
    <p:sldId id="514" r:id="rId3"/>
    <p:sldId id="524" r:id="rId4"/>
    <p:sldId id="526" r:id="rId5"/>
    <p:sldId id="554" r:id="rId6"/>
    <p:sldId id="555" r:id="rId7"/>
    <p:sldId id="556" r:id="rId8"/>
    <p:sldId id="557" r:id="rId9"/>
    <p:sldId id="558" r:id="rId10"/>
    <p:sldId id="559" r:id="rId11"/>
    <p:sldId id="560" r:id="rId12"/>
    <p:sldId id="561" r:id="rId13"/>
    <p:sldId id="562" r:id="rId14"/>
    <p:sldId id="563" r:id="rId15"/>
    <p:sldId id="564" r:id="rId16"/>
    <p:sldId id="565" r:id="rId17"/>
    <p:sldId id="566" r:id="rId18"/>
    <p:sldId id="567" r:id="rId19"/>
    <p:sldId id="568" r:id="rId20"/>
    <p:sldId id="569" r:id="rId21"/>
    <p:sldId id="570" r:id="rId22"/>
    <p:sldId id="571" r:id="rId23"/>
    <p:sldId id="572" r:id="rId24"/>
    <p:sldId id="573" r:id="rId25"/>
    <p:sldId id="574" r:id="rId26"/>
    <p:sldId id="575" r:id="rId27"/>
    <p:sldId id="576" r:id="rId28"/>
    <p:sldId id="577" r:id="rId29"/>
    <p:sldId id="578" r:id="rId30"/>
    <p:sldId id="579" r:id="rId31"/>
    <p:sldId id="580" r:id="rId32"/>
    <p:sldId id="582" r:id="rId33"/>
    <p:sldId id="581" r:id="rId34"/>
    <p:sldId id="583" r:id="rId35"/>
    <p:sldId id="584" r:id="rId36"/>
  </p:sldIdLst>
  <p:sldSz cx="9144000" cy="5143500" type="screen16x9"/>
  <p:notesSz cx="6858000" cy="9144000"/>
  <p:embeddedFontLst>
    <p:embeddedFont>
      <p:font typeface="Acrom" panose="020B0604020202020204" charset="-52"/>
      <p:regular r:id="rId38"/>
    </p:embeddedFont>
    <p:embeddedFont>
      <p:font typeface="Acrom Bold" panose="020B0604020202020204" charset="-52"/>
      <p:bold r:id="rId39"/>
    </p:embeddedFont>
    <p:embeddedFont>
      <p:font typeface="Acrom ExtraBold" panose="020B0604020202020204" charset="-52"/>
      <p:bold r:id="rId40"/>
    </p:embeddedFont>
    <p:embeddedFont>
      <p:font typeface="Cambria Math" panose="02040503050406030204" pitchFamily="18" charset="0"/>
      <p:regular r:id="rId41"/>
    </p:embeddedFont>
    <p:embeddedFont>
      <p:font typeface="Cascadia Code SemiBold" panose="020B0609020000020004" pitchFamily="49" charset="0"/>
      <p:bold r:id="rId42"/>
      <p:boldItalic r:id="rId4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</p14:sldIdLst>
        </p14:section>
        <p14:section name="Literature" id="{B9960BE5-F3B4-48C0-BA4B-65F190ECCD4C}">
          <p14:sldIdLst>
            <p14:sldId id="524"/>
            <p14:sldId id="526"/>
            <p14:sldId id="554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2"/>
            <p14:sldId id="581"/>
            <p14:sldId id="583"/>
            <p14:sldId id="5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5D5DAE"/>
    <a:srgbClr val="C1F3FF"/>
    <a:srgbClr val="FF0000"/>
    <a:srgbClr val="C20808"/>
    <a:srgbClr val="90D1DC"/>
    <a:srgbClr val="8FAADC"/>
    <a:srgbClr val="E9EBF5"/>
    <a:srgbClr val="5F9E38"/>
    <a:srgbClr val="929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repeat"/>
          <m:brkBinSub m:val="+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73" autoAdjust="0"/>
    <p:restoredTop sz="83051" autoAdjust="0"/>
  </p:normalViewPr>
  <p:slideViewPr>
    <p:cSldViewPr>
      <p:cViewPr varScale="1">
        <p:scale>
          <a:sx n="116" d="100"/>
          <a:sy n="116" d="100"/>
        </p:scale>
        <p:origin x="852" y="-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14.04.2025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022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4BCFF-9E57-85CC-6220-1585A9E69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3694D-62F5-DD6C-FD4F-2C2955900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CD0E7-1FE2-3FC1-0AE6-5EFA7F985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E4279-66D9-8D9A-D2CD-AD4F8FF2A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08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4691-605D-CA59-C92F-36BF5FA1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3F1D9-BD8C-19C3-D533-104AA8EB6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BC0E3-DA74-182C-278C-EA8DD0846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40667-8268-EEE9-E051-E7F7F7876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198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D4287-33E2-A211-85B5-1D60E5F0C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04210-AA04-6601-4FAE-3E4AA5375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D8F81-362F-7F1C-0125-9A11CD2F4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98BA4-A04C-4659-3D59-629F123EB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176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4A2EA-A7B7-187C-69CB-F84126EBA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5609C-6A29-7470-C393-3F8AE783F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A8E47-181F-77DC-3413-18925EFD4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9DBAB-B796-D802-CF6E-FCB7749D1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460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2A3F3-A738-0F4B-0B7C-01A6F4908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0D53C-3E3C-667F-D5DC-2A0854BB5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58B01-717B-F55A-4B01-C47B36145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62288-621D-4B46-6AE9-CF817650A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773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1019C-8D4F-D199-A0E3-F772B699C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EC806-CD18-4FFB-307F-7F0D667C2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836C1-23F6-90C9-35BD-E080D305C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7D565-71FD-ADAE-86BA-B2F9A9347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579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1B9AB-2299-4E95-19AF-E020617D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AA75D-4CC6-BC06-8D7B-484A5C5CB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E3A01-0724-8545-0CDF-076AD05A8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7B3DA-5F99-2FF3-6A36-23A21BA47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537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07C1E-A3EE-DFB9-D44E-A83873E2B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904EF-9A44-66D5-5094-594BC8F48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5BBCF-4BCC-69F4-5260-7C73F63EE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A267E-87DB-0258-6AA4-65DB13BB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798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D4A1-4902-F0DB-6BD1-9D502D1CE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7CC33-DE08-F1E9-2678-775418EC7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07A46-1804-6249-D1A4-192B141FD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C1536-5A34-74BF-9531-A2695C9E0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160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B81E-C7F1-8989-EA2B-2270FD663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F3B21-8C90-7C81-E0B0-62B93D777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1B69C-1285-B753-A177-EA98F67DD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E9C86-0754-CF28-89A4-D1FCB7066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803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8035E-10B4-CC94-B72A-4E929D295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CCE4B-0B87-CC27-28F4-8B5C41EDC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AF790-ECD2-FED6-EABC-E3908C79B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FDC59-E891-BC5C-BE7F-1B59BFA48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665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1BF6E-B7CB-C073-8947-F86B3F658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76C77-0A2E-38CF-7D3D-EADAB35B6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2C64B1-8F27-7C0B-E31C-19093737E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F9D49-03AC-8AB0-EFF4-25494FCAF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329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BC493-8956-9234-DF16-84FB2FBE9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496D3-08E7-1410-7064-4DD421E66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CD119-09C1-29DD-9D16-91E82A604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71F48-8660-3EEB-DD59-C286B429E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611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EDA4-9DCA-DB0C-23B6-4C9258B1C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B06C0-6D6C-EDB2-D020-0E8A50B36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F72B88-7B2A-52CA-E6AA-D2846997C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42B44-B4C9-975B-6932-1A8CDAA23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341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60A2D-A570-4456-ED91-FBEDB1BD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0198C-7FA1-28BA-EAF4-F2471D8A3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6A844-0148-4DE4-CA75-447CDE015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B152D-D3C4-A8C8-6E61-63FB9B961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9502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A1AF2-1748-7B45-0FD5-D1DA7E075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08092-05B8-E079-5D9A-3CCB661B4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54B2E-C5B0-15E6-CB80-11EA4CBE6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D48FA-E5DC-1030-CC5B-DF267CF0E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554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63AAA-292B-89E7-11EB-6C23BB7A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D45C0-4989-35EA-EE0D-D5C64DF6A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2545D-5DFF-4D35-B8EB-7F06E103E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3B83C-E30E-0521-B5D0-5CE8F902B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3651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D91E2-81E1-A1DF-F674-B39F46F44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CC329-AD04-E1CD-68F8-3C94DBA01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5782F-78EB-054D-302A-981479911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70CA9-75E0-59EA-418E-518FDA037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953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CDFE6-CCBF-FC5D-D1C0-7C3D5403E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D3FE1-C55D-9FCB-DFBC-B4B717A4E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7F3FF-413E-C0D6-DC0F-68FCAF8AE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94D2D-BBB4-B7A4-A7D9-BC2623530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740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425A6-07B8-AC96-828A-59798B35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E84D6D-A477-E5DB-DCEC-3CEE918A9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8B16C-820E-5999-03D3-B5D6455E2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EF360-4C9A-5429-3A97-638306C70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3273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06037-162F-4F98-94A6-FBCD08BEE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C4A99-738A-5A23-D8B9-EFFBBD3A9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8CF33-FABF-BE5B-6C33-8662A3209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55DB4-1F90-031E-7FD1-7401C7CEB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2615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DDB9-E56F-3235-1979-67087F87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A30D3-D079-BB21-6E04-54C81746E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DC265-8EB8-E3CA-C325-AA8E138CD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F1D4B-F54F-F31D-0D3E-B7234BCE36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63467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03185-C38B-69EF-C500-76BC7B5C1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EBA61-BDE0-D96D-6F50-AB68BE9D5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8872B-6D60-5841-55C5-2C048A248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4E67C-1D3A-3558-D64F-A610F5687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6986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362F2-2403-1E73-79E0-A4A34EAF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C5B5A-A074-3285-6B05-90D7CA1D0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7DA10-E3FE-FC54-FB51-C5B1441F8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FE6D0-7F92-E6C8-DE14-7A5B18464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2955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09E0-E564-72FB-3D99-FF594B75B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D92E0-12D1-652D-1091-B5A6FAC58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2B5D9-95F1-7698-BEF3-4F0871861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2552D-9A94-B69C-DB3C-FB1CFA22B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9622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A53B-115D-465D-D5DF-4F3C7B9C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EA301-87C3-2E63-F87C-AA8CD938C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51B85-7411-80AD-DB11-F303BBB21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03A97-EAA4-FE12-40A5-12F0604B6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167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3B9BA-FEA8-B0A8-F1C5-411F542B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45AEF-7CE0-01F2-1637-DDD94B4C9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AE788-B8BD-D86F-2BE7-7F9B416ED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CDAAC-1A4A-5032-3007-5D5509544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1991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1743-07B4-C7A9-D758-6B1CEF28E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72EE7-FE74-BAF1-6782-26BB9924A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C18D99-1EBA-D3F5-DEBF-1EA3B561B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54A5E-C6CA-2257-20EA-5A3E590C7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3863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117FF-5E7F-E3C6-E3E4-F402930C1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970C8-BCEF-38D1-E771-0FF76A06A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0BF5B-81D0-2E04-A05D-B9BC85643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31BDC-90B5-E905-D5D7-383BFF3A5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6282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7B40D-80C3-349C-4BAE-9610FFC4C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143807-D8E3-11DC-CCC8-E36A8D568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D65E4-3DB7-85E8-8C10-05DC84AE7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5D6A4-577F-88C6-0035-10FE6CC57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3632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2C0E2-B701-7C3B-7AFE-2DD5400F5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70AB4-6BDF-1665-2C35-DDE425ABC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6C198-C382-4A2C-6A7D-7F2ACC28F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E7954-4DBB-A571-3C10-479328582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949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14.04.2025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14.04.2025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14.04.2025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14.04.2025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Relationship Id="rId14" Type="http://schemas.openxmlformats.org/officeDocument/2006/relationships/image" Target="../media/image6.png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theme" Target="../theme/theme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jpeg"/><Relationship Id="rId9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14.04.2025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524667"/>
            <a:ext cx="4332104" cy="1423347"/>
          </a:xfrm>
        </p:spPr>
        <p:txBody>
          <a:bodyPr>
            <a:normAutofit/>
          </a:bodyPr>
          <a:lstStyle/>
          <a:p>
            <a:r>
              <a:rPr lang="ru-RU" dirty="0"/>
              <a:t>Оптимизация запросов</a:t>
            </a:r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eaLnBrk="1" hangingPunct="1"/>
            <a:r>
              <a:rPr lang="ru-RU" dirty="0"/>
              <a:t>Дж. Ульман. </a:t>
            </a:r>
            <a:r>
              <a:rPr lang="ru-RU" b="1" dirty="0"/>
              <a:t>Основы систем баз данных</a:t>
            </a:r>
            <a:r>
              <a:rPr lang="ru-RU" dirty="0"/>
              <a:t>. </a:t>
            </a:r>
            <a:r>
              <a:rPr lang="ru-RU" dirty="0">
                <a:solidFill>
                  <a:schemeClr val="tx1"/>
                </a:solidFill>
                <a:highlight>
                  <a:srgbClr val="C1F3FF"/>
                </a:highlight>
              </a:rPr>
              <a:t>Глава 6</a:t>
            </a:r>
          </a:p>
          <a:p>
            <a:pPr eaLnBrk="1" hangingPunct="1"/>
            <a:r>
              <a:rPr lang="ru-RU" dirty="0"/>
              <a:t>К. Дж. </a:t>
            </a:r>
            <a:r>
              <a:rPr lang="ru-RU" dirty="0" err="1"/>
              <a:t>Дейт</a:t>
            </a:r>
            <a:r>
              <a:rPr lang="ru-RU" dirty="0"/>
              <a:t>. </a:t>
            </a:r>
            <a:r>
              <a:rPr lang="ru-RU" b="1" dirty="0"/>
              <a:t>Введение в системы баз данных</a:t>
            </a:r>
            <a:r>
              <a:rPr lang="ru-RU" dirty="0"/>
              <a:t>. </a:t>
            </a:r>
            <a:r>
              <a:rPr lang="ru-RU" dirty="0">
                <a:solidFill>
                  <a:schemeClr val="tx1"/>
                </a:solidFill>
                <a:highlight>
                  <a:srgbClr val="C1F3FF"/>
                </a:highlight>
              </a:rPr>
              <a:t>Глава 18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507D-5449-5BCC-9FCE-040831BBB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3BDF6E-7B66-7CE0-6FF4-5DE4C7B5E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DC26736-BDDE-AFF2-3CA5-E6EF0BD345A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buClrTx/>
                  <a:buSzPct val="75000"/>
                  <a:buFontTx/>
                  <a:buNone/>
                </a:pPr>
                <a:r>
                  <a:rPr lang="ru-RU" altLang="ru-RU" dirty="0"/>
                  <a:t>Почему некоторые запросы требуют много времени ?</a:t>
                </a:r>
              </a:p>
              <a:p>
                <a:pPr>
                  <a:buClrTx/>
                  <a:buSzPct val="75000"/>
                  <a:buFontTx/>
                  <a:buNone/>
                </a:pPr>
                <a:r>
                  <a:rPr lang="ru-RU" altLang="ru-RU" dirty="0"/>
                  <a:t>Пусть </a:t>
                </a:r>
                <a:r>
                  <a:rPr lang="en-US" altLang="ru-RU" dirty="0"/>
                  <a:t>R(A, B), S(C, D) </a:t>
                </a:r>
                <a:r>
                  <a:rPr lang="ru-RU" altLang="ru-RU" dirty="0"/>
                  <a:t>– отношения </a:t>
                </a:r>
              </a:p>
              <a:p>
                <a:pPr marL="0" lvl="2" indent="0">
                  <a:spcBef>
                    <a:spcPts val="800"/>
                  </a:spcBef>
                  <a:buClrTx/>
                  <a:buSzPct val="65000"/>
                  <a:buFontTx/>
                  <a:buNone/>
                </a:pPr>
                <a:r>
                  <a:rPr lang="en-US" altLang="ru-RU" sz="2200" dirty="0">
                    <a:solidFill>
                      <a:schemeClr val="accent1">
                        <a:lumMod val="75000"/>
                      </a:schemeClr>
                    </a:solidFill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select</a:t>
                </a:r>
                <a:r>
                  <a:rPr lang="en-US" altLang="ru-RU" sz="2200" dirty="0"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 A, B</a:t>
                </a:r>
                <a:r>
                  <a:rPr lang="ru-RU" altLang="ru-RU" sz="2200" dirty="0"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 </a:t>
                </a:r>
                <a:r>
                  <a:rPr lang="en-US" altLang="ru-RU" sz="2200" dirty="0">
                    <a:solidFill>
                      <a:schemeClr val="accent1">
                        <a:lumMod val="75000"/>
                      </a:schemeClr>
                    </a:solidFill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from</a:t>
                </a:r>
                <a:r>
                  <a:rPr lang="en-US" altLang="ru-RU" sz="2200" dirty="0"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 R, S</a:t>
                </a:r>
                <a:r>
                  <a:rPr lang="ru-RU" altLang="ru-RU" sz="2200" dirty="0"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 </a:t>
                </a:r>
                <a:r>
                  <a:rPr lang="en-US" altLang="ru-RU" sz="2200" dirty="0">
                    <a:solidFill>
                      <a:schemeClr val="accent1">
                        <a:lumMod val="75000"/>
                      </a:schemeClr>
                    </a:solidFill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where</a:t>
                </a:r>
                <a:r>
                  <a:rPr lang="en-US" altLang="ru-RU" sz="2200" dirty="0"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 A&gt;9 </a:t>
                </a:r>
                <a:r>
                  <a:rPr lang="en-US" altLang="ru-RU" sz="2200" dirty="0">
                    <a:solidFill>
                      <a:schemeClr val="accent1">
                        <a:lumMod val="75000"/>
                      </a:schemeClr>
                    </a:solidFill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and</a:t>
                </a:r>
                <a:r>
                  <a:rPr lang="en-US" altLang="ru-RU" sz="2200" dirty="0">
                    <a:latin typeface="Cascadia Code SemiBold" panose="020B0609020000020004" pitchFamily="49" charset="0"/>
                    <a:cs typeface="Cascadia Code SemiBold" panose="020B0609020000020004" pitchFamily="49" charset="0"/>
                  </a:rPr>
                  <a:t> B=D</a:t>
                </a:r>
              </a:p>
              <a:p>
                <a:pPr>
                  <a:buClrTx/>
                  <a:buSzPct val="75000"/>
                  <a:buFontTx/>
                  <a:buNone/>
                </a:pPr>
                <a:r>
                  <a:rPr lang="ru-RU" altLang="ru-RU" dirty="0">
                    <a:cs typeface="Times New Roman" panose="02020603050405020304" pitchFamily="18" charset="0"/>
                  </a:rPr>
                  <a:t>Исходя из семантики оператора</a:t>
                </a:r>
                <a:r>
                  <a:rPr lang="en-US" altLang="ru-RU" dirty="0">
                    <a:cs typeface="Times New Roman" panose="02020603050405020304" pitchFamily="18" charset="0"/>
                  </a:rPr>
                  <a:t> </a:t>
                </a:r>
                <a:r>
                  <a:rPr lang="en-US" altLang="ru-RU" b="1" dirty="0">
                    <a:solidFill>
                      <a:schemeClr val="accent1">
                        <a:lumMod val="75000"/>
                      </a:schemeClr>
                    </a:solidFill>
                    <a:cs typeface="Times New Roman" panose="02020603050405020304" pitchFamily="18" charset="0"/>
                  </a:rPr>
                  <a:t>select</a:t>
                </a:r>
                <a:r>
                  <a:rPr lang="en-US" altLang="ru-RU" dirty="0">
                    <a:cs typeface="Times New Roman" panose="02020603050405020304" pitchFamily="18" charset="0"/>
                  </a:rPr>
                  <a:t>, </a:t>
                </a:r>
                <a:r>
                  <a:rPr lang="ru-RU" altLang="ru-RU" dirty="0">
                    <a:cs typeface="Times New Roman" panose="02020603050405020304" pitchFamily="18" charset="0"/>
                  </a:rPr>
                  <a:t>имеем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  <a:buSzPct val="75000"/>
                  <a:buNone/>
                </a:pPr>
                <a:r>
                  <a:rPr lang="ru-RU" altLang="ru-RU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ru-RU" sz="4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ru-RU" sz="4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ru-RU" sz="4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4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ru-RU" sz="4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ru-RU" sz="4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ru-RU" sz="4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ru-RU" sz="4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sz="4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altLang="ru-RU" sz="4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ru-RU" sz="4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  <m:r>
                              <a:rPr lang="en-US" altLang="ru-RU" sz="4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&gt;9 ∧ </m:t>
                            </m:r>
                            <m:r>
                              <a:rPr lang="en-US" altLang="ru-RU" sz="4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  <m:r>
                              <a:rPr lang="en-US" altLang="ru-RU" sz="4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ru-RU" sz="4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  <m:d>
                          <m:dPr>
                            <m:ctrlPr>
                              <a:rPr lang="en-US" altLang="ru-RU" sz="4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4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ru-RU" sz="4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ru-RU" sz="4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e>
                    </m:d>
                  </m:oMath>
                </a14:m>
                <a:endParaRPr lang="en-US" altLang="ru-RU" sz="480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DC26736-BDDE-AFF2-3CA5-E6EF0BD34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l="-928" t="-3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E3899-87E1-1F59-C9F6-7AE85DC9D4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План запроса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1B5472-3844-5817-77E2-E1140EBFD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Оптимизация запросов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F0C8A6-2F5D-4CC1-76E9-D916717E3B49}"/>
              </a:ext>
            </a:extLst>
          </p:cNvPr>
          <p:cNvSpPr/>
          <p:nvPr/>
        </p:nvSpPr>
        <p:spPr>
          <a:xfrm>
            <a:off x="2411760" y="2715766"/>
            <a:ext cx="1512168" cy="43204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32E05B-EA45-2DBA-DAFC-7B88D2E16CED}"/>
              </a:ext>
            </a:extLst>
          </p:cNvPr>
          <p:cNvSpPr/>
          <p:nvPr/>
        </p:nvSpPr>
        <p:spPr>
          <a:xfrm>
            <a:off x="3995936" y="2715766"/>
            <a:ext cx="2952328" cy="432048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7C1CD4-0CC1-F305-6D25-DBA59C2F6BAF}"/>
              </a:ext>
            </a:extLst>
          </p:cNvPr>
          <p:cNvSpPr/>
          <p:nvPr/>
        </p:nvSpPr>
        <p:spPr>
          <a:xfrm>
            <a:off x="350837" y="2715766"/>
            <a:ext cx="1939282" cy="432048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007D99-0E69-4B92-5810-23E103346690}"/>
              </a:ext>
            </a:extLst>
          </p:cNvPr>
          <p:cNvSpPr/>
          <p:nvPr/>
        </p:nvSpPr>
        <p:spPr>
          <a:xfrm>
            <a:off x="6156176" y="3579862"/>
            <a:ext cx="1728192" cy="648072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508EFF-6582-CB4E-00CB-BA19C7D3BEB9}"/>
              </a:ext>
            </a:extLst>
          </p:cNvPr>
          <p:cNvSpPr/>
          <p:nvPr/>
        </p:nvSpPr>
        <p:spPr>
          <a:xfrm>
            <a:off x="3491880" y="3524234"/>
            <a:ext cx="4449396" cy="767679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91F9B-BC8F-E606-B792-CC3C5BA83592}"/>
              </a:ext>
            </a:extLst>
          </p:cNvPr>
          <p:cNvSpPr/>
          <p:nvPr/>
        </p:nvSpPr>
        <p:spPr>
          <a:xfrm>
            <a:off x="2432706" y="3471849"/>
            <a:ext cx="5739693" cy="900125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8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EDA7C-8EC1-925F-552B-7A652A9A6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4DA564-EC2A-C0E8-1159-6FC075C2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F6026-DBED-3BD8-9F36-46421854BB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9" y="2066925"/>
            <a:ext cx="4437186" cy="2305050"/>
          </a:xfrm>
        </p:spPr>
        <p:txBody>
          <a:bodyPr>
            <a:normAutofit fontScale="62500" lnSpcReduction="20000"/>
          </a:bodyPr>
          <a:lstStyle/>
          <a:p>
            <a:pPr marL="177800" indent="-1778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altLang="ru-RU" dirty="0"/>
              <a:t>Скачать в ОП как можно больше блоков R, оставив место для одного блока S</a:t>
            </a:r>
          </a:p>
          <a:p>
            <a:pPr marL="177800" indent="-1778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altLang="ru-RU" dirty="0"/>
              <a:t>Сделать конкатенацию каждой записи из блоков R в ОП с каждой записью из одного блока S </a:t>
            </a:r>
          </a:p>
          <a:p>
            <a:pPr marL="177800" indent="-1778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altLang="ru-RU" dirty="0"/>
              <a:t>Результат передать в следующую операцию</a:t>
            </a:r>
            <a:endParaRPr lang="en-US" altLang="ru-RU" dirty="0"/>
          </a:p>
          <a:p>
            <a:pPr marL="177800" indent="-1778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altLang="ru-RU" dirty="0"/>
              <a:t>Если в </a:t>
            </a:r>
            <a:r>
              <a:rPr lang="en-US" altLang="ru-RU" dirty="0"/>
              <a:t>S </a:t>
            </a:r>
            <a:r>
              <a:rPr lang="ru-RU" altLang="ru-RU" dirty="0"/>
              <a:t>ещё остались блоки: прочитать следующий блок </a:t>
            </a:r>
            <a:r>
              <a:rPr lang="en-US" altLang="ru-RU" dirty="0"/>
              <a:t>S </a:t>
            </a:r>
            <a:r>
              <a:rPr lang="ru-RU" altLang="ru-RU" dirty="0"/>
              <a:t>и перейти к п.2.</a:t>
            </a:r>
          </a:p>
          <a:p>
            <a:pPr marL="177800" indent="-1778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altLang="ru-RU" dirty="0"/>
              <a:t>Если в </a:t>
            </a:r>
            <a:r>
              <a:rPr lang="en-US" altLang="ru-RU" dirty="0"/>
              <a:t>R </a:t>
            </a:r>
            <a:r>
              <a:rPr lang="ru-RU" altLang="ru-RU" dirty="0"/>
              <a:t>ещё остались блоки: перейти к п.1</a:t>
            </a:r>
            <a:endParaRPr lang="en-US" alt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ru-RU" alt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E7FE4-61AE-E0C4-EECD-8E433FC2C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/>
          <a:lstStyle/>
          <a:p>
            <a:r>
              <a:rPr lang="ru-RU" dirty="0"/>
              <a:t>План </a:t>
            </a:r>
            <a:r>
              <a:rPr lang="ru-RU" dirty="0" err="1"/>
              <a:t>запросА</a:t>
            </a:r>
            <a:r>
              <a:rPr lang="ru-RU" dirty="0"/>
              <a:t> (1): декартово произведение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6C9A59-2AAD-C85C-C4B5-113FE389F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</a:t>
            </a:r>
            <a:endParaRPr lang="en-US" dirty="0"/>
          </a:p>
        </p:txBody>
      </p:sp>
      <p:graphicFrame>
        <p:nvGraphicFramePr>
          <p:cNvPr id="10" name="Group 4">
            <a:extLst>
              <a:ext uri="{FF2B5EF4-FFF2-40B4-BE49-F238E27FC236}">
                <a16:creationId xmlns:a16="http://schemas.microsoft.com/office/drawing/2014/main" id="{3732D533-DD5E-7897-A772-36AB3D9E8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668458"/>
              </p:ext>
            </p:extLst>
          </p:nvPr>
        </p:nvGraphicFramePr>
        <p:xfrm>
          <a:off x="5436096" y="2056098"/>
          <a:ext cx="852752" cy="2353437"/>
        </p:xfrm>
        <a:graphic>
          <a:graphicData uri="http://schemas.openxmlformats.org/drawingml/2006/table">
            <a:tbl>
              <a:tblPr/>
              <a:tblGrid>
                <a:gridCol w="852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32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2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2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2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2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2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2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2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2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Group 42">
            <a:extLst>
              <a:ext uri="{FF2B5EF4-FFF2-40B4-BE49-F238E27FC236}">
                <a16:creationId xmlns:a16="http://schemas.microsoft.com/office/drawing/2014/main" id="{8B42CB1D-C9A8-1D79-093B-AC1605619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839487"/>
              </p:ext>
            </p:extLst>
          </p:nvPr>
        </p:nvGraphicFramePr>
        <p:xfrm>
          <a:off x="6676524" y="2065339"/>
          <a:ext cx="892175" cy="1830451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ru-RU" alt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Блок</a:t>
                      </a:r>
                      <a:r>
                        <a:rPr kumimoji="0" lang="en-US" alt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R</a:t>
                      </a:r>
                      <a:r>
                        <a:rPr kumimoji="0" lang="ru-RU" alt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×</a:t>
                      </a:r>
                      <a:r>
                        <a:rPr kumimoji="0" lang="en-US" alt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Group 72">
            <a:extLst>
              <a:ext uri="{FF2B5EF4-FFF2-40B4-BE49-F238E27FC236}">
                <a16:creationId xmlns:a16="http://schemas.microsoft.com/office/drawing/2014/main" id="{05341F8D-5AD0-0ADE-6CFF-2E324A839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30126"/>
              </p:ext>
            </p:extLst>
          </p:nvPr>
        </p:nvGraphicFramePr>
        <p:xfrm>
          <a:off x="7956376" y="2065338"/>
          <a:ext cx="712391" cy="2091944"/>
        </p:xfrm>
        <a:graphic>
          <a:graphicData uri="http://schemas.openxmlformats.org/drawingml/2006/table">
            <a:tbl>
              <a:tblPr/>
              <a:tblGrid>
                <a:gridCol w="712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ru-RU" altLang="ru-RU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 Box 106">
            <a:extLst>
              <a:ext uri="{FF2B5EF4-FFF2-40B4-BE49-F238E27FC236}">
                <a16:creationId xmlns:a16="http://schemas.microsoft.com/office/drawing/2014/main" id="{F65CC912-6820-8B5E-EDA1-E0E1AEA77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096" y="1772683"/>
            <a:ext cx="840454" cy="28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anchor="b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700"/>
              </a:spcBef>
              <a:buClrTx/>
              <a:buSzPct val="75000"/>
              <a:buFontTx/>
              <a:buNone/>
            </a:pPr>
            <a:r>
              <a:rPr lang="en-US" altLang="ru-RU" sz="1400" dirty="0"/>
              <a:t>R</a:t>
            </a:r>
          </a:p>
        </p:txBody>
      </p:sp>
      <p:sp>
        <p:nvSpPr>
          <p:cNvPr id="14" name="Text Box 107">
            <a:extLst>
              <a:ext uri="{FF2B5EF4-FFF2-40B4-BE49-F238E27FC236}">
                <a16:creationId xmlns:a16="http://schemas.microsoft.com/office/drawing/2014/main" id="{A82C038C-DF9E-A41F-5BD1-FF6503A49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3213" y="1772683"/>
            <a:ext cx="725554" cy="28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anchor="b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700"/>
              </a:spcBef>
              <a:buClrTx/>
              <a:buSzPct val="75000"/>
              <a:buFontTx/>
              <a:buNone/>
            </a:pPr>
            <a:r>
              <a:rPr lang="en-US" altLang="ru-RU" sz="1400"/>
              <a:t>S</a:t>
            </a:r>
          </a:p>
        </p:txBody>
      </p:sp>
      <p:sp>
        <p:nvSpPr>
          <p:cNvPr id="15" name="Text Box 108">
            <a:extLst>
              <a:ext uri="{FF2B5EF4-FFF2-40B4-BE49-F238E27FC236}">
                <a16:creationId xmlns:a16="http://schemas.microsoft.com/office/drawing/2014/main" id="{D2A496B8-F8D3-2370-F3B5-4A84597E4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6524" y="1772683"/>
            <a:ext cx="892175" cy="28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anchor="b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700"/>
              </a:spcBef>
              <a:buClrTx/>
              <a:buSzPct val="75000"/>
              <a:buFontTx/>
              <a:buNone/>
            </a:pPr>
            <a:r>
              <a:rPr lang="ru-RU" altLang="ru-RU" sz="1400" dirty="0"/>
              <a:t>ОП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8FFE49-0E6D-85D0-99C6-81E4B021D6FB}"/>
              </a:ext>
            </a:extLst>
          </p:cNvPr>
          <p:cNvCxnSpPr>
            <a:cxnSpLocks/>
          </p:cNvCxnSpPr>
          <p:nvPr/>
        </p:nvCxnSpPr>
        <p:spPr>
          <a:xfrm>
            <a:off x="6288848" y="2056098"/>
            <a:ext cx="387676" cy="259283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84A8D97-CD13-868C-2B2E-26DF464B14E7}"/>
              </a:ext>
            </a:extLst>
          </p:cNvPr>
          <p:cNvCxnSpPr>
            <a:cxnSpLocks/>
          </p:cNvCxnSpPr>
          <p:nvPr/>
        </p:nvCxnSpPr>
        <p:spPr>
          <a:xfrm>
            <a:off x="6278236" y="3363838"/>
            <a:ext cx="387676" cy="259283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E7D167-F60A-F5C4-CF99-E83BB4BDC69C}"/>
              </a:ext>
            </a:extLst>
          </p:cNvPr>
          <p:cNvCxnSpPr/>
          <p:nvPr/>
        </p:nvCxnSpPr>
        <p:spPr>
          <a:xfrm flipH="1">
            <a:off x="7568699" y="2065338"/>
            <a:ext cx="387677" cy="1557783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EB31630-7710-B959-70CF-F8EEF09E0BD6}"/>
              </a:ext>
            </a:extLst>
          </p:cNvPr>
          <p:cNvCxnSpPr/>
          <p:nvPr/>
        </p:nvCxnSpPr>
        <p:spPr>
          <a:xfrm flipH="1">
            <a:off x="7562117" y="2338007"/>
            <a:ext cx="387677" cy="1557783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16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03D86-5CE2-D047-62A9-3758AB2A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C415F9-F132-12FE-36A8-8998DED65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4423C99A-DD31-649F-1F67-A2B79CBAE5C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7" y="1801813"/>
                <a:ext cx="8541643" cy="2570162"/>
              </a:xfrm>
            </p:spPr>
            <p:txBody>
              <a:bodyPr numCol="1">
                <a:normAutofit fontScale="70000" lnSpcReduction="20000"/>
              </a:bodyPr>
              <a:lstStyle/>
              <a:p>
                <a:pPr marL="177800" indent="-1778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ru-RU" dirty="0"/>
                  <a:t>Пусть в отношении R содержится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ru-RU" dirty="0"/>
                  <a:t> записей, а в S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ru-RU" dirty="0"/>
                  <a:t> записей</a:t>
                </a:r>
              </a:p>
              <a:p>
                <a:pPr marL="177800" indent="-1778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ru-RU" dirty="0"/>
                  <a:t>В одном блоке отношения R помещается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ru-RU" dirty="0"/>
                  <a:t> записей, а в одном блоке S –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 записей.</a:t>
                </a:r>
              </a:p>
              <a:p>
                <a:pPr marL="177800" indent="-1778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ru-RU" dirty="0"/>
                  <a:t>В основной памяти (ОП) может поместиться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 блоков</a:t>
                </a:r>
              </a:p>
              <a:p>
                <a:pPr marL="177800" indent="-1778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ru-RU" dirty="0"/>
                  <a:t>При указанном выше алгоритме общее число обращений к блокам составляет:</a:t>
                </a:r>
              </a:p>
              <a:p>
                <a:pPr marL="577850" lvl="1" indent="-1778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ru-RU" dirty="0"/>
                  <a:t>Для чтения  R –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, а для S –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обращений</a:t>
                </a:r>
              </a:p>
              <a:p>
                <a:pPr marL="577850" lvl="1" indent="-1778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ru-RU" dirty="0"/>
                  <a:t>Таким образом, всего 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(1+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  <a:p>
                <a:pPr marL="177800" indent="-1778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=10000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100</m:t>
                    </m:r>
                  </m:oMath>
                </a14:m>
                <a:r>
                  <a:rPr lang="ru-RU" dirty="0"/>
                  <a:t>, то общее число доступов =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42400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177800" indent="-1778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ru-RU" dirty="0"/>
                  <a:t>При быстродействии диска в 100 </a:t>
                </a:r>
                <a:r>
                  <a:rPr lang="en-US" dirty="0"/>
                  <a:t>IOPS</a:t>
                </a:r>
                <a:r>
                  <a:rPr lang="ru-RU" dirty="0"/>
                  <a:t> выполнение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 потребует </a:t>
                </a:r>
                <a:r>
                  <a:rPr lang="ru-RU" b="1" dirty="0">
                    <a:solidFill>
                      <a:srgbClr val="C00000"/>
                    </a:solidFill>
                  </a:rPr>
                  <a:t>7 мин</a:t>
                </a:r>
                <a:r>
                  <a:rPr lang="ru-RU" dirty="0"/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endParaRPr lang="en-US" dirty="0"/>
              </a:p>
            </p:txBody>
          </p:sp>
        </mc:Choice>
        <mc:Fallback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4423C99A-DD31-649F-1F67-A2B79CBAE5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7" y="1801813"/>
                <a:ext cx="8541643" cy="2570162"/>
              </a:xfrm>
              <a:blipFill>
                <a:blip r:embed="rId3"/>
                <a:stretch>
                  <a:fillRect t="-475" b="-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DF11F-6D8B-9E07-BD74-08C9D01A28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/>
          <a:lstStyle/>
          <a:p>
            <a:r>
              <a:rPr lang="ru-RU" dirty="0"/>
              <a:t>План запроса (1): декартово произведение. Оценка времени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C0BFDB-E29C-C0FE-70AD-DFAF8660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0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7BEBA-C702-A473-39E3-35E11231A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547D1A-BFB6-B698-223B-DF84136C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5076985C-C1F6-65D5-82AB-6E4D0BC620F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7" y="1801813"/>
                <a:ext cx="4149155" cy="2570162"/>
              </a:xfrm>
            </p:spPr>
            <p:txBody>
              <a:bodyPr numCol="2" spcCol="180000">
                <a:no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altLang="ru-RU" sz="24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ru-RU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ru-RU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ru-RU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ru-RU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ru-RU" sz="240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ru-RU" sz="2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ru-RU" sz="2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&gt;9 ∧ </m:t>
                              </m:r>
                              <m:r>
                                <a:rPr lang="en-US" altLang="ru-RU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en-US" altLang="ru-RU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ru-RU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ru-RU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altLang="ru-RU" sz="2400" b="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altLang="ru-RU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l-GR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ru-RU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ru-RU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en-US" altLang="ru-RU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ru-RU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lang="ru-RU" altLang="ru-RU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ru-RU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ru-RU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ru-RU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  <m:r>
                                    <a:rPr lang="en-US" altLang="ru-RU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&gt;9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ru-RU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ru-RU" sz="2400" i="1" dirty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ru-RU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ru-RU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ru-RU" altLang="ru-RU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altLang="ru-RU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l-GR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ru-RU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ru-RU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en-US" altLang="ru-RU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ru-RU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lang="ru-RU" altLang="ru-RU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ru-RU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ru-RU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ru-RU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  <m:r>
                                    <a:rPr lang="en-US" altLang="ru-RU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&gt;9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ru-RU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ru-RU" sz="2400" i="1" dirty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US" altLang="ru-RU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ru-RU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</m:d>
                      <m:r>
                        <a:rPr lang="ru-RU" altLang="ru-RU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altLang="ru-RU" sz="2400" b="0" dirty="0"/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4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l-GR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ru-RU" altLang="ru-RU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ru-RU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ru-RU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ru-RU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&gt;9 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ru-RU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ru-RU" sz="24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⋈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altLang="ru-RU" sz="24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ru-RU" altLang="ru-RU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ru-RU" sz="2400" dirty="0"/>
              </a:p>
            </p:txBody>
          </p:sp>
        </mc:Choice>
        <mc:Fallback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5076985C-C1F6-65D5-82AB-6E4D0BC62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7" y="1801813"/>
                <a:ext cx="4149155" cy="257016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85EEB-A370-8BF4-A267-08103967B4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План </a:t>
            </a:r>
            <a:r>
              <a:rPr lang="ru-RU" dirty="0" err="1"/>
              <a:t>запросА</a:t>
            </a:r>
            <a:r>
              <a:rPr lang="ru-RU" dirty="0"/>
              <a:t> (2): преобразование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639FC7-A682-A702-9A0C-81FE174B3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Placeholder 14">
                <a:extLst>
                  <a:ext uri="{FF2B5EF4-FFF2-40B4-BE49-F238E27FC236}">
                    <a16:creationId xmlns:a16="http://schemas.microsoft.com/office/drawing/2014/main" id="{B18F45D4-2678-FE79-AA7C-426DE5FE29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44010" y="1801812"/>
                <a:ext cx="3869939" cy="2880295"/>
              </a:xfrm>
              <a:prstGeom prst="rect">
                <a:avLst/>
              </a:prstGeom>
            </p:spPr>
            <p:txBody>
              <a:bodyPr vert="horz" lIns="91440" tIns="45720" rIns="91440" bIns="45720" numCol="1" spcCol="180000" rtlCol="0">
                <a:normAutofit fontScale="70000" lnSpcReduction="20000"/>
              </a:bodyPr>
              <a:lstStyle>
                <a:lvl1pPr marL="342900" indent="-3429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Tx/>
                  <a:buBlip>
                    <a:blip r:embed="rId4"/>
                  </a:buBlip>
                  <a:defRPr sz="2000" kern="1200">
                    <a:solidFill>
                      <a:schemeClr val="tx1"/>
                    </a:solidFill>
                    <a:latin typeface="Acrom" panose="00000500000000000000" pitchFamily="50" charset="-52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Blip>
                    <a:blip r:embed="rId4"/>
                  </a:buBlip>
                  <a:defRPr sz="1800" kern="1200">
                    <a:solidFill>
                      <a:schemeClr val="tx1"/>
                    </a:solidFill>
                    <a:latin typeface="Acrom" panose="00000500000000000000" pitchFamily="50" charset="-52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Blip>
                    <a:blip r:embed="rId4"/>
                  </a:buBlip>
                  <a:defRPr sz="1600" kern="1200">
                    <a:solidFill>
                      <a:schemeClr val="tx1"/>
                    </a:solidFill>
                    <a:latin typeface="Acrom" panose="00000500000000000000" pitchFamily="50" charset="-52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Blip>
                    <a:blip r:embed="rId4"/>
                  </a:buBlip>
                  <a:defRPr sz="1400" kern="1200">
                    <a:solidFill>
                      <a:schemeClr val="tx1"/>
                    </a:solidFill>
                    <a:latin typeface="Acrom" panose="00000500000000000000" pitchFamily="50" charset="-52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Tx/>
                  <a:buBlip>
                    <a:blip r:embed="rId4"/>
                  </a:buBlip>
                  <a:defRPr sz="1400" kern="1200">
                    <a:solidFill>
                      <a:schemeClr val="tx1"/>
                    </a:solidFill>
                    <a:latin typeface="Acrom" panose="00000500000000000000" pitchFamily="50" charset="-52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ru-RU" altLang="ru-RU" dirty="0"/>
                  <a:t>Если условие</a:t>
                </a:r>
                <a14:m>
                  <m:oMath xmlns:m="http://schemas.openxmlformats.org/officeDocument/2006/math">
                    <m:r>
                      <a:rPr lang="en-US" alt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ru-RU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&gt;9</m:t>
                    </m:r>
                  </m:oMath>
                </a14:m>
                <a:r>
                  <a:rPr lang="ru-RU" altLang="ru-RU" dirty="0"/>
                  <a:t> выполняется для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altLang="ru-RU" dirty="0"/>
                  <a:t> </a:t>
                </a:r>
                <a:r>
                  <a:rPr lang="ru-RU" altLang="ru-RU" dirty="0"/>
                  <a:t>записей, и</a:t>
                </a:r>
                <a:r>
                  <a:rPr lang="en-US" altLang="ru-RU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</m:den>
                    </m:f>
                    <m:r>
                      <a:rPr lang="en-US" altLang="ru-RU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ru-RU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ru-RU" dirty="0"/>
                  <a:t>, </a:t>
                </a:r>
                <a:r>
                  <a:rPr lang="ru-RU" altLang="ru-RU" dirty="0"/>
                  <a:t>то можно обойтись одним «просмотром» </a:t>
                </a:r>
                <a:r>
                  <a:rPr lang="en-US" altLang="ru-RU" dirty="0"/>
                  <a:t>S</a:t>
                </a:r>
                <a:r>
                  <a:rPr lang="ru-RU" altLang="ru-RU" dirty="0"/>
                  <a:t>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ru-RU" altLang="ru-RU" dirty="0"/>
                  <a:t>Общее количество обращений будет равно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altLang="ru-RU" dirty="0"/>
                  <a:t>.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ru-RU" altLang="ru-RU" dirty="0"/>
                  <a:t>В нашем случае, </a:t>
                </a:r>
                <a14:m>
                  <m:oMath xmlns:m="http://schemas.openxmlformats.org/officeDocument/2006/math">
                    <m:r>
                      <a:rPr lang="ru-RU" altLang="ru-RU" b="1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𝟐𝟎𝟎𝟎</m:t>
                    </m:r>
                  </m:oMath>
                </a14:m>
                <a:r>
                  <a:rPr lang="ru-RU" altLang="ru-RU" dirty="0"/>
                  <a:t>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ru-RU" altLang="ru-RU" dirty="0"/>
                  <a:t>Если </a:t>
                </a:r>
                <a:r>
                  <a:rPr lang="en-US" altLang="ru-RU" dirty="0"/>
                  <a:t>R </a:t>
                </a:r>
                <a:r>
                  <a:rPr lang="ru-RU" altLang="ru-RU" dirty="0"/>
                  <a:t>индексирован по </a:t>
                </a:r>
                <a:r>
                  <a:rPr lang="en-US" altLang="ru-RU" dirty="0"/>
                  <a:t>A,</a:t>
                </a:r>
                <a:r>
                  <a:rPr lang="ru-RU" altLang="ru-RU" dirty="0"/>
                  <a:t>то можно обойтись без полного просмотра</a:t>
                </a:r>
                <a:r>
                  <a:rPr lang="en-US" altLang="ru-RU" dirty="0"/>
                  <a:t> R </a:t>
                </a:r>
                <a:r>
                  <a:rPr lang="ru-RU" altLang="ru-RU" dirty="0"/>
                  <a:t>и ещё сильнее сократить количество обращений</a:t>
                </a:r>
                <a:endParaRPr lang="en-US" altLang="ru-RU" dirty="0"/>
              </a:p>
            </p:txBody>
          </p:sp>
        </mc:Choice>
        <mc:Fallback>
          <p:sp>
            <p:nvSpPr>
              <p:cNvPr id="7" name="Text Placeholder 14">
                <a:extLst>
                  <a:ext uri="{FF2B5EF4-FFF2-40B4-BE49-F238E27FC236}">
                    <a16:creationId xmlns:a16="http://schemas.microsoft.com/office/drawing/2014/main" id="{B18F45D4-2678-FE79-AA7C-426DE5FE2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10" y="1801812"/>
                <a:ext cx="3869939" cy="2880295"/>
              </a:xfrm>
              <a:prstGeom prst="rect">
                <a:avLst/>
              </a:prstGeom>
              <a:blipFill>
                <a:blip r:embed="rId5"/>
                <a:stretch>
                  <a:fillRect l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8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2C460-3D50-8DD5-257E-65942D8D1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w: Right 21">
            <a:extLst>
              <a:ext uri="{FF2B5EF4-FFF2-40B4-BE49-F238E27FC236}">
                <a16:creationId xmlns:a16="http://schemas.microsoft.com/office/drawing/2014/main" id="{DA341D2E-F204-BA65-99BC-0F1FF486D1F3}"/>
              </a:ext>
            </a:extLst>
          </p:cNvPr>
          <p:cNvSpPr/>
          <p:nvPr/>
        </p:nvSpPr>
        <p:spPr>
          <a:xfrm rot="16200000">
            <a:off x="4161932" y="3405252"/>
            <a:ext cx="1285324" cy="936103"/>
          </a:xfrm>
          <a:prstGeom prst="rightArrow">
            <a:avLst>
              <a:gd name="adj1" fmla="val 50000"/>
              <a:gd name="adj2" fmla="val 21743"/>
            </a:avLst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3F2A9E3-4FB2-FC04-4355-4ED0D245D7F6}"/>
              </a:ext>
            </a:extLst>
          </p:cNvPr>
          <p:cNvSpPr/>
          <p:nvPr/>
        </p:nvSpPr>
        <p:spPr>
          <a:xfrm>
            <a:off x="107504" y="2499742"/>
            <a:ext cx="9036496" cy="936103"/>
          </a:xfrm>
          <a:prstGeom prst="rightArrow">
            <a:avLst>
              <a:gd name="adj1" fmla="val 50000"/>
              <a:gd name="adj2" fmla="val 21743"/>
            </a:avLst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C71D15-C1AC-CD1E-0C4C-5A7712A4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25691-AF57-636F-78D5-7AD921449B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/>
          <a:lstStyle/>
          <a:p>
            <a:r>
              <a:rPr lang="ru-RU" dirty="0"/>
              <a:t>Схема процесса оптимизации и выполнения запроса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71C12AB-4824-B61D-099D-ACAF5B553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2204EF5-788A-6F29-A593-8E50CD142483}"/>
              </a:ext>
            </a:extLst>
          </p:cNvPr>
          <p:cNvSpPr/>
          <p:nvPr/>
        </p:nvSpPr>
        <p:spPr>
          <a:xfrm>
            <a:off x="251520" y="2670347"/>
            <a:ext cx="1244192" cy="5784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>
            <a:normAutofit/>
          </a:bodyPr>
          <a:lstStyle/>
          <a:p>
            <a:pPr algn="ctr"/>
            <a:r>
              <a:rPr lang="ru-RU" sz="1200" dirty="0"/>
              <a:t>Исходный запрос</a:t>
            </a:r>
            <a:endParaRPr lang="en-US" sz="1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E67B2C-FFC0-D2FB-D188-E8E3FFF45367}"/>
              </a:ext>
            </a:extLst>
          </p:cNvPr>
          <p:cNvSpPr/>
          <p:nvPr/>
        </p:nvSpPr>
        <p:spPr>
          <a:xfrm>
            <a:off x="2787663" y="2601170"/>
            <a:ext cx="1453466" cy="716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ru-RU" sz="1000" dirty="0"/>
              <a:t>Откомпилированный</a:t>
            </a:r>
            <a:br>
              <a:rPr lang="ru-RU" sz="1000" dirty="0"/>
            </a:br>
            <a:r>
              <a:rPr lang="ru-RU" sz="1000" dirty="0"/>
              <a:t>запрос</a:t>
            </a:r>
            <a:endParaRPr lang="en-US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E985C-0544-9F0B-E8C8-F7CC6BBA869A}"/>
              </a:ext>
            </a:extLst>
          </p:cNvPr>
          <p:cNvSpPr/>
          <p:nvPr/>
        </p:nvSpPr>
        <p:spPr>
          <a:xfrm>
            <a:off x="4324256" y="2702481"/>
            <a:ext cx="1007203" cy="514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sz="900" dirty="0"/>
              <a:t>Оптимизатор</a:t>
            </a:r>
            <a:endParaRPr lang="en-US" sz="9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97D2BB-9750-B86E-CBD5-C7EA7FE93CF4}"/>
              </a:ext>
            </a:extLst>
          </p:cNvPr>
          <p:cNvSpPr/>
          <p:nvPr/>
        </p:nvSpPr>
        <p:spPr>
          <a:xfrm>
            <a:off x="5414586" y="2614405"/>
            <a:ext cx="1178738" cy="6902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ru-RU" sz="1000" dirty="0"/>
              <a:t>План выполнения запроса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AA5B96-F7C5-2CD8-189A-A52F79BEB576}"/>
              </a:ext>
            </a:extLst>
          </p:cNvPr>
          <p:cNvSpPr/>
          <p:nvPr/>
        </p:nvSpPr>
        <p:spPr>
          <a:xfrm>
            <a:off x="6676451" y="2702481"/>
            <a:ext cx="1007203" cy="514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ru-RU" sz="1000" dirty="0"/>
              <a:t>Диспетчер выполнения</a:t>
            </a:r>
            <a:endParaRPr lang="en-US" sz="1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EC3A9A8-5CB1-C196-0893-E84A8103F3C9}"/>
              </a:ext>
            </a:extLst>
          </p:cNvPr>
          <p:cNvSpPr/>
          <p:nvPr/>
        </p:nvSpPr>
        <p:spPr>
          <a:xfrm>
            <a:off x="7766782" y="2737093"/>
            <a:ext cx="1125698" cy="4449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ru-RU" sz="1050" dirty="0"/>
              <a:t>Результат</a:t>
            </a:r>
            <a:endParaRPr lang="en-US" sz="10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C9B3D2-3BF9-2AC3-F26C-9C3701020E17}"/>
              </a:ext>
            </a:extLst>
          </p:cNvPr>
          <p:cNvSpPr/>
          <p:nvPr/>
        </p:nvSpPr>
        <p:spPr>
          <a:xfrm>
            <a:off x="1578839" y="2702481"/>
            <a:ext cx="1125697" cy="514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/>
            <a:r>
              <a:rPr lang="ru-RU" sz="800" dirty="0"/>
              <a:t>Процессор языка манипулирования данными</a:t>
            </a:r>
            <a:endParaRPr lang="en-U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8B3029-E375-E341-70A0-D71409A60CC3}"/>
              </a:ext>
            </a:extLst>
          </p:cNvPr>
          <p:cNvSpPr txBox="1"/>
          <p:nvPr/>
        </p:nvSpPr>
        <p:spPr>
          <a:xfrm>
            <a:off x="1578839" y="1970082"/>
            <a:ext cx="1125697" cy="700265"/>
          </a:xfrm>
          <a:prstGeom prst="rect">
            <a:avLst/>
          </a:prstGeom>
          <a:noFill/>
        </p:spPr>
        <p:txBody>
          <a:bodyPr wrap="square" lIns="36000" tIns="36000" rIns="36000" bIns="36000" rtlCol="0" anchor="b">
            <a:normAutofit lnSpcReduction="10000"/>
          </a:bodyPr>
          <a:lstStyle/>
          <a:p>
            <a:pPr algn="ctr"/>
            <a:r>
              <a:rPr lang="ru-RU" sz="900" dirty="0"/>
              <a:t>Синтаксический анализ, обработка представлений, трансляция</a:t>
            </a:r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25CB2B-9007-7FDF-ED2F-F7784DCD68AF}"/>
              </a:ext>
            </a:extLst>
          </p:cNvPr>
          <p:cNvSpPr txBox="1"/>
          <p:nvPr/>
        </p:nvSpPr>
        <p:spPr>
          <a:xfrm>
            <a:off x="2951547" y="2114455"/>
            <a:ext cx="1125697" cy="499950"/>
          </a:xfrm>
          <a:prstGeom prst="rect">
            <a:avLst/>
          </a:prstGeom>
          <a:noFill/>
        </p:spPr>
        <p:txBody>
          <a:bodyPr wrap="square" lIns="36000" tIns="36000" rIns="36000" bIns="36000" rtlCol="0" anchor="b">
            <a:normAutofit/>
          </a:bodyPr>
          <a:lstStyle/>
          <a:p>
            <a:pPr algn="ctr"/>
            <a:r>
              <a:rPr lang="ru-RU" sz="900" dirty="0"/>
              <a:t>Выражение реляционной алгебры</a:t>
            </a:r>
            <a:endParaRPr 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EF1A66-4E5F-760A-B12B-B9090C94B156}"/>
              </a:ext>
            </a:extLst>
          </p:cNvPr>
          <p:cNvSpPr txBox="1"/>
          <p:nvPr/>
        </p:nvSpPr>
        <p:spPr>
          <a:xfrm>
            <a:off x="4265008" y="1910430"/>
            <a:ext cx="1125697" cy="700265"/>
          </a:xfrm>
          <a:prstGeom prst="rect">
            <a:avLst/>
          </a:prstGeom>
          <a:noFill/>
        </p:spPr>
        <p:txBody>
          <a:bodyPr wrap="square" lIns="36000" tIns="36000" rIns="36000" bIns="36000" rtlCol="0" anchor="b">
            <a:normAutofit lnSpcReduction="10000"/>
          </a:bodyPr>
          <a:lstStyle/>
          <a:p>
            <a:pPr algn="ctr"/>
            <a:r>
              <a:rPr lang="ru-RU" sz="900" dirty="0"/>
              <a:t>Трансформация выражения, оценка стоимости выполнения, …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5E98C5-F977-C45F-4DE6-446BE96CD8B3}"/>
              </a:ext>
            </a:extLst>
          </p:cNvPr>
          <p:cNvSpPr txBox="1"/>
          <p:nvPr/>
        </p:nvSpPr>
        <p:spPr>
          <a:xfrm>
            <a:off x="5331459" y="2029145"/>
            <a:ext cx="1344992" cy="499950"/>
          </a:xfrm>
          <a:prstGeom prst="rect">
            <a:avLst/>
          </a:prstGeom>
          <a:noFill/>
        </p:spPr>
        <p:txBody>
          <a:bodyPr wrap="square" lIns="36000" tIns="36000" rIns="36000" bIns="36000" rtlCol="0" anchor="b">
            <a:normAutofit/>
          </a:bodyPr>
          <a:lstStyle/>
          <a:p>
            <a:pPr algn="ctr"/>
            <a:r>
              <a:rPr lang="ru-RU" sz="900" dirty="0"/>
              <a:t>Оптимизированный набор операций</a:t>
            </a:r>
            <a:endParaRPr lang="en-US" sz="900" dirty="0"/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6C052D09-41D0-75FD-2069-AE49C5F1722C}"/>
              </a:ext>
            </a:extLst>
          </p:cNvPr>
          <p:cNvSpPr/>
          <p:nvPr/>
        </p:nvSpPr>
        <p:spPr>
          <a:xfrm>
            <a:off x="4183065" y="4005498"/>
            <a:ext cx="1289581" cy="43204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Каталог</a:t>
            </a:r>
            <a:endParaRPr lang="en-US" sz="14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D62EAC0-2A83-0825-C25C-163F364D5931}"/>
              </a:ext>
            </a:extLst>
          </p:cNvPr>
          <p:cNvSpPr/>
          <p:nvPr/>
        </p:nvSpPr>
        <p:spPr>
          <a:xfrm>
            <a:off x="4324256" y="3397309"/>
            <a:ext cx="1007203" cy="4449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ru-RU" sz="1050" dirty="0"/>
              <a:t>Метаданные</a:t>
            </a:r>
            <a:endParaRPr lang="en-US" sz="1050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92399131-FC38-8483-5E81-CD59B8C9D8C8}"/>
              </a:ext>
            </a:extLst>
          </p:cNvPr>
          <p:cNvSpPr/>
          <p:nvPr/>
        </p:nvSpPr>
        <p:spPr>
          <a:xfrm rot="16200000">
            <a:off x="6542399" y="3392514"/>
            <a:ext cx="1285324" cy="936103"/>
          </a:xfrm>
          <a:prstGeom prst="rightArrow">
            <a:avLst>
              <a:gd name="adj1" fmla="val 50000"/>
              <a:gd name="adj2" fmla="val 21743"/>
            </a:avLst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E2E9F2A2-88D1-2AF2-13B7-76C949CEB749}"/>
              </a:ext>
            </a:extLst>
          </p:cNvPr>
          <p:cNvSpPr/>
          <p:nvPr/>
        </p:nvSpPr>
        <p:spPr>
          <a:xfrm>
            <a:off x="6563532" y="3992760"/>
            <a:ext cx="1289581" cy="43204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ru-RU" sz="1400" dirty="0"/>
              <a:t>База данных</a:t>
            </a:r>
            <a:endParaRPr lang="en-US" sz="14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4DE0B61-C5BB-015C-3AB6-787FA806257A}"/>
              </a:ext>
            </a:extLst>
          </p:cNvPr>
          <p:cNvSpPr/>
          <p:nvPr/>
        </p:nvSpPr>
        <p:spPr>
          <a:xfrm>
            <a:off x="6704723" y="3384571"/>
            <a:ext cx="1007203" cy="4449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ru-RU" sz="1050" dirty="0"/>
              <a:t>Данные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9056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9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6" grpId="0" animBg="1"/>
      <p:bldP spid="12" grpId="0"/>
      <p:bldP spid="16" grpId="0"/>
      <p:bldP spid="17" grpId="0"/>
      <p:bldP spid="18" grpId="0"/>
      <p:bldP spid="20" grpId="0" animBg="1"/>
      <p:bldP spid="21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593F8-93E2-A01C-1FFE-0095C98F7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CFDB52-875E-B6C1-6349-3B4E6A77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D3C784D-E112-56A8-AFAB-886213615D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1813"/>
            <a:ext cx="8541643" cy="2570162"/>
          </a:xfrm>
        </p:spPr>
        <p:txBody>
          <a:bodyPr numCol="1">
            <a:normAutofit/>
          </a:bodyPr>
          <a:lstStyle/>
          <a:p>
            <a:pPr>
              <a:lnSpc>
                <a:spcPct val="104000"/>
              </a:lnSpc>
              <a:buClr>
                <a:schemeClr val="accent6">
                  <a:lumMod val="75000"/>
                </a:schemeClr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ru-RU" altLang="ru-RU" dirty="0"/>
              <a:t>Преобразование запроса во внутреннюю форму</a:t>
            </a:r>
          </a:p>
          <a:p>
            <a:pPr>
              <a:lnSpc>
                <a:spcPct val="104000"/>
              </a:lnSpc>
              <a:buClr>
                <a:schemeClr val="accent6">
                  <a:lumMod val="75000"/>
                </a:schemeClr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ru-RU" altLang="ru-RU" dirty="0"/>
              <a:t>Преобразование в каноническую форму</a:t>
            </a:r>
          </a:p>
          <a:p>
            <a:pPr>
              <a:lnSpc>
                <a:spcPct val="114000"/>
              </a:lnSpc>
              <a:buClr>
                <a:schemeClr val="accent6">
                  <a:lumMod val="75000"/>
                </a:schemeClr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ru-RU" altLang="ru-RU" dirty="0"/>
              <a:t>Выбор потенциальных низкоуровневых процедур</a:t>
            </a:r>
          </a:p>
          <a:p>
            <a:pPr>
              <a:lnSpc>
                <a:spcPct val="104000"/>
              </a:lnSpc>
              <a:buClr>
                <a:schemeClr val="accent6">
                  <a:lumMod val="75000"/>
                </a:schemeClr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ru-RU" altLang="ru-RU" dirty="0"/>
              <a:t>Генерация планов вычисления запроса</a:t>
            </a:r>
          </a:p>
          <a:p>
            <a:pPr>
              <a:lnSpc>
                <a:spcPct val="104000"/>
              </a:lnSpc>
              <a:buClr>
                <a:schemeClr val="accent6">
                  <a:lumMod val="75000"/>
                </a:schemeClr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ru-RU" altLang="ru-RU" dirty="0"/>
              <a:t>Выбор плана с наименьшими затратами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78FC4-07CF-36DD-841B-FD788B1813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/>
          <a:lstStyle/>
          <a:p>
            <a:r>
              <a:rPr lang="ru-RU" dirty="0"/>
              <a:t>Стадии оптимизации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8D779A-923E-A8D1-348F-8261EFB25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1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BEE7B-A6D3-6343-2A91-61C485BE5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CF5675-DA6B-BA2F-886B-73D9465D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5941AC7-68E1-4AC9-D26E-D02FB2D13E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995686"/>
            <a:ext cx="8542337" cy="2685852"/>
          </a:xfrm>
        </p:spPr>
        <p:txBody>
          <a:bodyPr numCol="1">
            <a:normAutofit fontScale="85000" lnSpcReduction="2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/>
              <a:t>Преобразование запроса в представление, более удобное для машинной обработки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/>
              <a:t>Какой формализм? На выбор влияют: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altLang="ru-RU" dirty="0"/>
              <a:t>Полнота формализма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altLang="ru-RU" dirty="0"/>
              <a:t>Нейтральность по отношению к дальнейшим стадиям оптимизации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/>
              <a:t>Применяются: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altLang="ru-RU" dirty="0"/>
              <a:t>реляционная алгебра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altLang="ru-RU" dirty="0"/>
              <a:t>реляционное исчисление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altLang="ru-RU" b="1" dirty="0"/>
              <a:t>модификация абстрактного синтаксического дерева </a:t>
            </a:r>
            <a:r>
              <a:rPr lang="ru-RU" altLang="ru-RU" dirty="0"/>
              <a:t>(чаще всего)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D6FAF-8C19-12ED-E74E-9FD74B7A44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altLang="ru-RU" dirty="0"/>
              <a:t>1. Преобразование запроса во внутреннюю форму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A80A18-0EDF-D8D5-2A96-C05A39C0E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16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035C2-E36B-49E4-1B14-F0DE2E91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8620CF-E0F1-336C-71FD-28317C1CA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FA926F71-DD6F-CA9B-2781-E9581D55E0F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9" y="1995686"/>
                <a:ext cx="4077146" cy="2685852"/>
              </a:xfrm>
            </p:spPr>
            <p:txBody>
              <a:bodyPr numCol="1">
                <a:normAutofit/>
              </a:bodyPr>
              <a:lstStyle/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&gt;9 ∧ </m:t>
                            </m:r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  <m:d>
                          <m:dPr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ru-RU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e>
                    </m:d>
                  </m:oMath>
                </a14:m>
                <a:endParaRPr lang="ru-RU" altLang="ru-RU" dirty="0"/>
              </a:p>
            </p:txBody>
          </p:sp>
        </mc:Choice>
        <mc:Fallback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FA926F71-DD6F-CA9B-2781-E9581D55E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9" y="1995686"/>
                <a:ext cx="4077146" cy="268585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EB5ED-B4A3-23D0-6C55-34A4CC277A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altLang="ru-RU" dirty="0"/>
              <a:t>1. Преобразование запроса во внутреннюю форму. Пример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5A3D7B-F2D9-43A3-FC4D-1125E11DB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0D36E0-81F9-2475-EABF-4EECC1148C86}"/>
              </a:ext>
            </a:extLst>
          </p:cNvPr>
          <p:cNvSpPr txBox="1"/>
          <p:nvPr/>
        </p:nvSpPr>
        <p:spPr>
          <a:xfrm>
            <a:off x="5722599" y="4167788"/>
            <a:ext cx="324036" cy="349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35C96B-08C5-9D67-C9E3-57EE3611F5F6}"/>
              </a:ext>
            </a:extLst>
          </p:cNvPr>
          <p:cNvSpPr txBox="1"/>
          <p:nvPr/>
        </p:nvSpPr>
        <p:spPr>
          <a:xfrm>
            <a:off x="6837411" y="4172342"/>
            <a:ext cx="324036" cy="349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C2B62E-EEC0-889E-7BCA-E1185941EB14}"/>
              </a:ext>
            </a:extLst>
          </p:cNvPr>
          <p:cNvSpPr txBox="1"/>
          <p:nvPr/>
        </p:nvSpPr>
        <p:spPr>
          <a:xfrm>
            <a:off x="6256743" y="3468543"/>
            <a:ext cx="3705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×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28B26C-C7C0-B4F2-5A7C-D528C9AB0629}"/>
              </a:ext>
            </a:extLst>
          </p:cNvPr>
          <p:cNvCxnSpPr>
            <a:cxnSpLocks/>
            <a:stCxn id="12" idx="1"/>
            <a:endCxn id="10" idx="0"/>
          </p:cNvCxnSpPr>
          <p:nvPr/>
        </p:nvCxnSpPr>
        <p:spPr>
          <a:xfrm flipH="1">
            <a:off x="5884617" y="3653209"/>
            <a:ext cx="372126" cy="51457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AC965A-759A-60D1-6D6A-31A61DD2D8FC}"/>
              </a:ext>
            </a:extLst>
          </p:cNvPr>
          <p:cNvCxnSpPr>
            <a:cxnSpLocks/>
            <a:stCxn id="12" idx="3"/>
            <a:endCxn id="11" idx="0"/>
          </p:cNvCxnSpPr>
          <p:nvPr/>
        </p:nvCxnSpPr>
        <p:spPr>
          <a:xfrm>
            <a:off x="6627303" y="3653209"/>
            <a:ext cx="372126" cy="51913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33406E-692D-17FF-3FA4-D7FABC986B23}"/>
                  </a:ext>
                </a:extLst>
              </p:cNvPr>
              <p:cNvSpPr txBox="1"/>
              <p:nvPr/>
            </p:nvSpPr>
            <p:spPr>
              <a:xfrm>
                <a:off x="5651792" y="2769298"/>
                <a:ext cx="1580462" cy="47838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lIns="0" tIns="36000" rIns="0" bIns="7200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4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&gt;9 ∧ </m:t>
                          </m:r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33406E-692D-17FF-3FA4-D7FABC986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792" y="2769298"/>
                <a:ext cx="1580462" cy="4783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0B5075-90DA-0CFD-C45B-2328C123A8D8}"/>
              </a:ext>
            </a:extLst>
          </p:cNvPr>
          <p:cNvCxnSpPr>
            <a:cxnSpLocks/>
            <a:stCxn id="22" idx="2"/>
            <a:endCxn id="12" idx="0"/>
          </p:cNvCxnSpPr>
          <p:nvPr/>
        </p:nvCxnSpPr>
        <p:spPr>
          <a:xfrm>
            <a:off x="6442023" y="3247685"/>
            <a:ext cx="0" cy="22085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F161435-3808-08AE-6F42-587C300883B0}"/>
                  </a:ext>
                </a:extLst>
              </p:cNvPr>
              <p:cNvSpPr txBox="1"/>
              <p:nvPr/>
            </p:nvSpPr>
            <p:spPr>
              <a:xfrm>
                <a:off x="5865959" y="2053830"/>
                <a:ext cx="1152128" cy="4946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lIns="0" tIns="36000" rIns="0" bIns="7200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ru-RU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F161435-3808-08AE-6F42-587C30088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959" y="2053830"/>
                <a:ext cx="1152128" cy="4946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593D1F4-E6E0-2985-D54C-4B63208529D8}"/>
              </a:ext>
            </a:extLst>
          </p:cNvPr>
          <p:cNvCxnSpPr>
            <a:cxnSpLocks/>
            <a:stCxn id="35" idx="2"/>
            <a:endCxn id="22" idx="0"/>
          </p:cNvCxnSpPr>
          <p:nvPr/>
        </p:nvCxnSpPr>
        <p:spPr>
          <a:xfrm>
            <a:off x="6442023" y="2548439"/>
            <a:ext cx="0" cy="22085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9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22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96AB-C1D7-551C-C4A1-316B11FC6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CA7E71-3471-6933-9F94-BE64E7853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D0B9F387-E1A3-74CE-37C0-EA6A53EEA9D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8" y="1802394"/>
                <a:ext cx="8542337" cy="3001604"/>
              </a:xfrm>
            </p:spPr>
            <p:txBody>
              <a:bodyPr numCol="1">
                <a:normAutofit fontScale="70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ru-RU" altLang="ru-RU" dirty="0"/>
                  <a:t>Пусть </a:t>
                </a:r>
                <a14:m>
                  <m:oMath xmlns:m="http://schemas.openxmlformats.org/officeDocument/2006/math">
                    <m:r>
                      <a:rPr lang="ru-RU" altLang="ru-RU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altLang="ru-RU" dirty="0"/>
                  <a:t> — множество объектов (запросов)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ru-RU" altLang="ru-RU" dirty="0"/>
                  <a:t>Пусть существует понятие об их эквивалентности (а, именно, запросы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altLang="ru-RU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ru-RU" alt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altLang="ru-RU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altLang="ru-RU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ru-RU" altLang="ru-R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altLang="ru-RU" dirty="0"/>
                  <a:t> эквивалентны тогда и только тогда, когда дают идентичные результаты). 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ru-RU" altLang="ru-RU" dirty="0"/>
                  <a:t>Тогда подмножество </a:t>
                </a:r>
                <a14:m>
                  <m:oMath xmlns:m="http://schemas.openxmlformats.org/officeDocument/2006/math">
                    <m:r>
                      <a:rPr lang="ru-RU" altLang="ru-RU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ru-RU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ru-RU" altLang="ru-RU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ru-RU" alt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ru-RU" dirty="0"/>
                  <a:t> </a:t>
                </a:r>
                <a:r>
                  <a:rPr lang="ru-RU" altLang="ru-RU" dirty="0"/>
                  <a:t>является </a:t>
                </a:r>
                <a:r>
                  <a:rPr lang="ru-RU" altLang="ru-RU" b="1" dirty="0"/>
                  <a:t>множеством канонических форм для запросов из множества </a:t>
                </a:r>
                <a14:m>
                  <m:oMath xmlns:m="http://schemas.openxmlformats.org/officeDocument/2006/math">
                    <m:r>
                      <a:rPr lang="ru-RU" altLang="ru-RU" b="1" i="1" dirty="0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ru-RU" altLang="ru-RU" dirty="0"/>
                  <a:t> в смысле определенной выше эквивалентности тогда и только тогда, когда каждому объекту </a:t>
                </a:r>
                <a14:m>
                  <m:oMath xmlns:m="http://schemas.openxmlformats.org/officeDocument/2006/math">
                    <m:r>
                      <a:rPr lang="en-US" alt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u-RU" altLang="ru-RU" i="1" dirty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altLang="ru-RU" dirty="0"/>
                  <a:t> соответствует </a:t>
                </a:r>
                <a:r>
                  <a:rPr lang="ru-RU" altLang="ru-RU" b="1" dirty="0"/>
                  <a:t>только один </a:t>
                </a:r>
                <a:r>
                  <a:rPr lang="ru-RU" altLang="ru-RU" dirty="0"/>
                  <a:t>эквивалентный ему объект </a:t>
                </a:r>
                <a14:m>
                  <m:oMath xmlns:m="http://schemas.openxmlformats.org/officeDocument/2006/math">
                    <m:r>
                      <a:rPr lang="en-US" alt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ru-RU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ru-RU" dirty="0"/>
                  <a:t>.</a:t>
                </a:r>
                <a:r>
                  <a:rPr lang="ru-RU" altLang="ru-RU" dirty="0"/>
                  <a:t> </a:t>
                </a:r>
                <a:br>
                  <a:rPr lang="en-US" altLang="ru-RU" dirty="0"/>
                </a:br>
                <a:r>
                  <a:rPr lang="ru-RU" altLang="ru-RU" dirty="0"/>
                  <a:t>В этом случае говорят, что объект </a:t>
                </a:r>
                <a14:m>
                  <m:oMath xmlns:m="http://schemas.openxmlformats.org/officeDocument/2006/math">
                    <m:r>
                      <a:rPr lang="ru-RU" altLang="ru-RU" i="1" dirty="0" smtClean="0">
                        <a:latin typeface="Cambria Math" panose="02040503050406030204" pitchFamily="18" charset="0"/>
                      </a:rPr>
                      <m:t>с</m:t>
                    </m:r>
                  </m:oMath>
                </a14:m>
                <a:r>
                  <a:rPr lang="ru-RU" altLang="ru-RU" dirty="0"/>
                  <a:t> является </a:t>
                </a:r>
                <a:r>
                  <a:rPr lang="ru-RU" altLang="ru-RU" b="1" dirty="0"/>
                  <a:t>канонической формой</a:t>
                </a:r>
                <a:r>
                  <a:rPr lang="ru-RU" altLang="ru-RU" dirty="0"/>
                  <a:t> объекта </a:t>
                </a:r>
                <a14:m>
                  <m:oMath xmlns:m="http://schemas.openxmlformats.org/officeDocument/2006/math">
                    <m:r>
                      <a:rPr lang="ru-RU" altLang="ru-RU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altLang="ru-RU" dirty="0"/>
                  <a:t>. 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ru-RU" altLang="ru-RU" dirty="0"/>
                  <a:t>Все </a:t>
                </a:r>
                <a:r>
                  <a:rPr lang="ru-RU" altLang="ru-RU" i="1" dirty="0"/>
                  <a:t>интересующие нас</a:t>
                </a:r>
                <a:r>
                  <a:rPr lang="ru-RU" altLang="ru-RU" dirty="0"/>
                  <a:t> свойства, которыми обладает объект </a:t>
                </a:r>
                <a14:m>
                  <m:oMath xmlns:m="http://schemas.openxmlformats.org/officeDocument/2006/math">
                    <m:r>
                      <a:rPr lang="ru-RU" altLang="ru-RU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altLang="ru-RU" dirty="0"/>
                  <a:t>, присущи также объекту </a:t>
                </a:r>
                <a14:m>
                  <m:oMath xmlns:m="http://schemas.openxmlformats.org/officeDocument/2006/math">
                    <m:r>
                      <a:rPr lang="en-US" altLang="ru-R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altLang="ru-RU" dirty="0"/>
                  <a:t>.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ru-RU" altLang="ru-RU" dirty="0"/>
                  <a:t>Поэтому, чтобы доказать различные </a:t>
                </a:r>
                <a:r>
                  <a:rPr lang="ru-RU" altLang="ru-RU" i="1" dirty="0"/>
                  <a:t>интересующие нас</a:t>
                </a:r>
                <a:r>
                  <a:rPr lang="ru-RU" altLang="ru-RU" dirty="0"/>
                  <a:t> результаты, </a:t>
                </a:r>
                <a:r>
                  <a:rPr lang="ru-RU" altLang="ru-RU" i="1" dirty="0"/>
                  <a:t>достаточно изучить менее мощное</a:t>
                </a:r>
                <a:r>
                  <a:rPr lang="ru-RU" altLang="ru-RU" dirty="0"/>
                  <a:t> </a:t>
                </a:r>
                <a:r>
                  <a:rPr lang="ru-RU" altLang="ru-RU" i="1" dirty="0"/>
                  <a:t>множество</a:t>
                </a:r>
                <a:r>
                  <a:rPr lang="ru-RU" altLang="ru-RU" dirty="0"/>
                  <a:t> объектов </a:t>
                </a:r>
                <a14:m>
                  <m:oMath xmlns:m="http://schemas.openxmlformats.org/officeDocument/2006/math">
                    <m:r>
                      <a:rPr lang="en-US" altLang="ru-RU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altLang="ru-RU" dirty="0"/>
                  <a:t>, а не более мощное множество </a:t>
                </a:r>
                <a14:m>
                  <m:oMath xmlns:m="http://schemas.openxmlformats.org/officeDocument/2006/math">
                    <m:r>
                      <a:rPr lang="ru-RU" altLang="ru-RU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altLang="ru-RU" dirty="0"/>
                  <a:t>.</a:t>
                </a:r>
              </a:p>
            </p:txBody>
          </p:sp>
        </mc:Choice>
        <mc:Fallback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D0B9F387-E1A3-74CE-37C0-EA6A53EEA9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8" y="1802394"/>
                <a:ext cx="8542337" cy="3001604"/>
              </a:xfrm>
              <a:blipFill>
                <a:blip r:embed="rId3"/>
                <a:stretch>
                  <a:fillRect t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5F3F1-F35A-2650-E162-389934A699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en-US" altLang="ru-RU" dirty="0"/>
              <a:t>2</a:t>
            </a:r>
            <a:r>
              <a:rPr lang="ru-RU" altLang="ru-RU" dirty="0"/>
              <a:t>. Преобразование запроса в КАНОНИЧЕСКУЮ форму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CF406F-3713-8A9B-6994-AA688EB79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20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332B2-3EC3-1410-3DB6-DEB5A7AFB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F5F18-2DF2-19B1-C542-A005AC6D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E5467972-59EF-00F9-92C1-193A5AC248F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8" y="1802394"/>
                <a:ext cx="8542337" cy="3001604"/>
              </a:xfrm>
            </p:spPr>
            <p:txBody>
              <a:bodyPr numCol="2">
                <a:normAutofit/>
              </a:bodyPr>
              <a:lstStyle/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ru-RU" alt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ru-RU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u-RU" altLang="ru-R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ru-RU" dirty="0"/>
                  <a:t> </a:t>
                </a:r>
                <a:r>
                  <a:rPr lang="ru-RU" alt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u-RU" altLang="ru-RU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 altLang="ru-RU" dirty="0"/>
                  <a:t> - реляционные выражения</a:t>
                </a:r>
                <a:endParaRPr lang="en-US" altLang="ru-RU" dirty="0"/>
              </a:p>
              <a:p>
                <a:pPr marL="361950" indent="-361950">
                  <a:lnSpc>
                    <a:spcPct val="110000"/>
                  </a:lnSpc>
                  <a:spcBef>
                    <a:spcPts val="600"/>
                  </a:spcBef>
                  <a:buClr>
                    <a:schemeClr val="accent6"/>
                  </a:buClr>
                  <a:buFont typeface="+mj-lt"/>
                  <a:buAutoNum type="arabicPeriod"/>
                </a:pPr>
                <a:r>
                  <a:rPr lang="ru-RU" altLang="ru-RU" b="1" dirty="0"/>
                  <a:t>Коммутативность </a:t>
                </a:r>
                <a:r>
                  <a:rPr lang="ru-RU" altLang="ru-RU" dirty="0"/>
                  <a:t>соединений и произведений</a:t>
                </a:r>
                <a:endParaRPr lang="ru-RU" altLang="ru-RU" b="1" dirty="0"/>
              </a:p>
              <a:p>
                <a:pPr marL="534988" lvl="1" indent="-173038">
                  <a:lnSpc>
                    <a:spcPct val="11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sSub>
                      <m:sSubPr>
                        <m:ctrlP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ru-RU" dirty="0"/>
              </a:p>
              <a:p>
                <a:pPr marL="534988" lvl="1" indent="-173038">
                  <a:lnSpc>
                    <a:spcPct val="11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ru-RU" dirty="0"/>
              </a:p>
              <a:p>
                <a:pPr marL="534988" lvl="1" indent="-173038">
                  <a:lnSpc>
                    <a:spcPct val="11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ru-RU" dirty="0"/>
              </a:p>
              <a:p>
                <a:pPr marL="361950" indent="-361950">
                  <a:lnSpc>
                    <a:spcPct val="110000"/>
                  </a:lnSpc>
                  <a:spcBef>
                    <a:spcPts val="600"/>
                  </a:spcBef>
                  <a:buClr>
                    <a:schemeClr val="accent6"/>
                  </a:buClr>
                  <a:buFont typeface="+mj-lt"/>
                  <a:buAutoNum type="arabicPeriod"/>
                </a:pPr>
                <a:r>
                  <a:rPr lang="ru-RU" altLang="ru-RU" b="1" dirty="0"/>
                  <a:t>Ассоциативность </a:t>
                </a:r>
                <a:r>
                  <a:rPr lang="ru-RU" altLang="ru-RU" dirty="0"/>
                  <a:t>соединений и произведений</a:t>
                </a:r>
              </a:p>
              <a:p>
                <a:pPr marL="534988" lvl="1" indent="-173038">
                  <a:lnSpc>
                    <a:spcPct val="11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alt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b>
                    </m:sSub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ru-RU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b>
                    </m:sSub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endParaRPr lang="en-US" altLang="ru-RU" dirty="0"/>
              </a:p>
              <a:p>
                <a:pPr marL="534988" lvl="1" indent="-173038">
                  <a:lnSpc>
                    <a:spcPct val="11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endParaRPr lang="en-US" altLang="ru-RU" dirty="0"/>
              </a:p>
              <a:p>
                <a:pPr marL="534988" lvl="1" indent="-173038">
                  <a:lnSpc>
                    <a:spcPct val="11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ru-RU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ru-RU" dirty="0"/>
                  <a:t> </a:t>
                </a:r>
              </a:p>
            </p:txBody>
          </p:sp>
        </mc:Choice>
        <mc:Fallback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E5467972-59EF-00F9-92C1-193A5AC24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8" y="1802394"/>
                <a:ext cx="8542337" cy="3001604"/>
              </a:xfrm>
              <a:blipFill>
                <a:blip r:embed="rId3"/>
                <a:stretch>
                  <a:fillRect l="-785" t="-1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8FBC0-C26E-C6EE-4D53-C3F3A8F849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en-US" altLang="ru-RU" dirty="0"/>
              <a:t>2</a:t>
            </a:r>
            <a:r>
              <a:rPr lang="ru-RU" altLang="ru-RU" dirty="0"/>
              <a:t>. КАНОНИЧЕСКАЯ форма. Эквивалентные преобразования (1)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693B9E-5FDF-1600-92E1-0722AA0DB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09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C560D-0203-EB4C-06BC-C6436670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15BEE8-3D68-6A11-8BE6-F1E7EDD1D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08631142-1AE1-D42D-FF7E-6A2A154B776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8" y="1802394"/>
                <a:ext cx="8542337" cy="3001604"/>
              </a:xfrm>
            </p:spPr>
            <p:txBody>
              <a:bodyPr numCol="1">
                <a:normAutofit/>
              </a:bodyPr>
              <a:lstStyle/>
              <a:p>
                <a:pPr marL="361950" indent="-361950">
                  <a:lnSpc>
                    <a:spcPct val="110000"/>
                  </a:lnSpc>
                  <a:spcBef>
                    <a:spcPts val="600"/>
                  </a:spcBef>
                  <a:buClr>
                    <a:schemeClr val="accent6"/>
                  </a:buClr>
                  <a:buFont typeface="+mj-lt"/>
                  <a:buAutoNum type="arabicPeriod" startAt="3"/>
                </a:pPr>
                <a:r>
                  <a:rPr lang="ru-RU" altLang="ru-RU" b="1" dirty="0"/>
                  <a:t>Каскад проекций</a:t>
                </a:r>
                <a:br>
                  <a:rPr lang="en-US" altLang="ru-RU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altLang="ru-RU" dirty="0"/>
                  <a:t>, </a:t>
                </a:r>
                <a:r>
                  <a:rPr lang="ru-RU" altLang="ru-RU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ru-RU" altLang="ru-RU" dirty="0"/>
              </a:p>
              <a:p>
                <a:pPr marL="361950" indent="-361950">
                  <a:lnSpc>
                    <a:spcPct val="110000"/>
                  </a:lnSpc>
                  <a:spcBef>
                    <a:spcPts val="600"/>
                  </a:spcBef>
                  <a:buClr>
                    <a:schemeClr val="accent6"/>
                  </a:buClr>
                  <a:buFont typeface="+mj-lt"/>
                  <a:buAutoNum type="arabicPeriod" startAt="3"/>
                </a:pPr>
                <a:r>
                  <a:rPr lang="ru-RU" altLang="ru-RU" b="1" dirty="0"/>
                  <a:t>Каскад селекций</a:t>
                </a:r>
                <a:br>
                  <a:rPr lang="ru-RU" altLang="ru-RU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d>
                          <m:d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ru-RU" altLang="ru-RU" dirty="0">
                    <a:ea typeface="Cambria Math" panose="02040503050406030204" pitchFamily="18" charset="0"/>
                  </a:rPr>
                  <a:t>.</a:t>
                </a:r>
              </a:p>
              <a:p>
                <a:pPr marL="361950" indent="-361950">
                  <a:lnSpc>
                    <a:spcPct val="110000"/>
                  </a:lnSpc>
                  <a:spcBef>
                    <a:spcPts val="600"/>
                  </a:spcBef>
                  <a:buClr>
                    <a:schemeClr val="accent6"/>
                  </a:buClr>
                  <a:buFont typeface="+mj-lt"/>
                  <a:buAutoNum type="arabicPeriod" startAt="3"/>
                </a:pPr>
                <a:r>
                  <a:rPr lang="ru-RU" altLang="ru-RU" b="1" dirty="0"/>
                  <a:t>Перестановка</a:t>
                </a:r>
                <a:r>
                  <a:rPr lang="ru-RU" altLang="ru-RU" dirty="0"/>
                  <a:t> селекции и проекции</a:t>
                </a:r>
                <a:br>
                  <a:rPr lang="ru-RU" altLang="ru-RU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ru-RU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ru-RU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  <m:r>
                      <a:rPr lang="ru-RU" alt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d>
                          <m:d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ru-RU" dirty="0"/>
                  <a:t>, </a:t>
                </a:r>
                <a:br>
                  <a:rPr lang="ru-RU" altLang="ru-RU" dirty="0"/>
                </a:br>
                <a:r>
                  <a:rPr lang="ru-RU" altLang="ru-RU" dirty="0"/>
                  <a:t>если </a:t>
                </a:r>
                <a14:m>
                  <m:oMath xmlns:m="http://schemas.openxmlformats.org/officeDocument/2006/math"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altLang="ru-RU" dirty="0"/>
                  <a:t> содержит только атрибуты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ru-RU" dirty="0"/>
              </a:p>
            </p:txBody>
          </p:sp>
        </mc:Choice>
        <mc:Fallback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08631142-1AE1-D42D-FF7E-6A2A154B77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8" y="1802394"/>
                <a:ext cx="8542337" cy="3001604"/>
              </a:xfrm>
              <a:blipFill>
                <a:blip r:embed="rId3"/>
                <a:stretch>
                  <a:fillRect l="-785" t="-1016" b="-1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6B96F-2A57-1F7E-485A-EFAC948489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en-US" altLang="ru-RU" dirty="0"/>
              <a:t>2</a:t>
            </a:r>
            <a:r>
              <a:rPr lang="ru-RU" altLang="ru-RU" dirty="0"/>
              <a:t>. КАНОНИЧЕСКАЯ форма. Эквивалентные преобразования (</a:t>
            </a:r>
            <a:r>
              <a:rPr lang="en-US" altLang="ru-RU" dirty="0"/>
              <a:t>2</a:t>
            </a:r>
            <a:r>
              <a:rPr lang="ru-RU" altLang="ru-RU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98E4D8E-058A-81FC-E140-3A45E1BCA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17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3E63E-9F2C-F491-D32A-864698597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1FD046-4961-3318-DB87-BD9E868D6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094194C9-2751-0BD5-98E0-383E3521570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8" y="1802394"/>
                <a:ext cx="8542337" cy="3001604"/>
              </a:xfrm>
            </p:spPr>
            <p:txBody>
              <a:bodyPr numCol="1">
                <a:normAutofit fontScale="92500" lnSpcReduction="10000"/>
              </a:bodyPr>
              <a:lstStyle/>
              <a:p>
                <a:pPr marL="361950" indent="-361950">
                  <a:lnSpc>
                    <a:spcPct val="110000"/>
                  </a:lnSpc>
                  <a:spcBef>
                    <a:spcPts val="600"/>
                  </a:spcBef>
                  <a:buClr>
                    <a:schemeClr val="accent6"/>
                  </a:buClr>
                  <a:buFont typeface="+mj-lt"/>
                  <a:buAutoNum type="arabicPeriod" startAt="6"/>
                </a:pPr>
                <a:r>
                  <a:rPr lang="ru-RU" altLang="ru-RU" b="1" dirty="0"/>
                  <a:t>Перестановка селекции с декартовым произведением</a:t>
                </a:r>
                <a:br>
                  <a:rPr lang="en-US" altLang="ru-RU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ru-RU" dirty="0"/>
                  <a:t>, </a:t>
                </a:r>
                <a:r>
                  <a:rPr lang="ru-RU" altLang="ru-RU" dirty="0"/>
                  <a:t>если в </a:t>
                </a:r>
                <a14:m>
                  <m:oMath xmlns:m="http://schemas.openxmlformats.org/officeDocument/2006/math"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altLang="ru-RU" dirty="0"/>
                  <a:t> – только атрибуты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ru-RU" altLang="ru-RU" dirty="0"/>
                </a:br>
                <a:r>
                  <a:rPr lang="ru-RU" altLang="ru-RU" dirty="0"/>
                  <a:t>Полезное следствие:</a:t>
                </a:r>
                <a:r>
                  <a:rPr lang="en-US" altLang="ru-RU" dirty="0">
                    <a:ea typeface="Cambria Math" panose="02040503050406030204" pitchFamily="18" charset="0"/>
                  </a:rPr>
                  <a:t> </a:t>
                </a:r>
                <a:br>
                  <a:rPr lang="ru-RU" altLang="ru-RU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ru-RU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ru-RU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ru-RU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ru-RU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ru-RU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ru-RU" dirty="0"/>
                  <a:t>, </a:t>
                </a:r>
                <a:r>
                  <a:rPr lang="ru-RU" altLang="ru-RU" dirty="0"/>
                  <a:t>если </a:t>
                </a:r>
                <a14:m>
                  <m:oMath xmlns:m="http://schemas.openxmlformats.org/officeDocument/2006/math"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ru-RU" alt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ru-RU" dirty="0"/>
                  <a:t>,</a:t>
                </a:r>
                <a:r>
                  <a:rPr lang="ru-RU" altLang="ru-RU" dirty="0"/>
                  <a:t> где 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altLang="ru-RU" dirty="0"/>
                  <a:t> – только атрибуты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altLang="ru-RU" dirty="0"/>
                  <a:t>, а 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altLang="ru-RU" dirty="0"/>
                  <a:t>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u-RU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altLang="ru-RU" dirty="0"/>
              </a:p>
              <a:p>
                <a:pPr marL="361950" indent="-361950">
                  <a:lnSpc>
                    <a:spcPct val="110000"/>
                  </a:lnSpc>
                  <a:spcBef>
                    <a:spcPts val="600"/>
                  </a:spcBef>
                  <a:buClr>
                    <a:schemeClr val="accent6"/>
                  </a:buClr>
                  <a:buFont typeface="+mj-lt"/>
                  <a:buAutoNum type="arabicPeriod" startAt="6"/>
                </a:pPr>
                <a:r>
                  <a:rPr lang="ru-RU" altLang="ru-RU" b="1" dirty="0">
                    <a:cs typeface="Times New Roman" panose="02020603050405020304" pitchFamily="18" charset="0"/>
                  </a:rPr>
                  <a:t>Перестановка селекции с объединением</a:t>
                </a:r>
                <a:br>
                  <a:rPr lang="ru-RU" altLang="ru-RU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ru-RU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ru-RU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altLang="ru-RU" dirty="0">
                    <a:ea typeface="Cambria Math" panose="02040503050406030204" pitchFamily="18" charset="0"/>
                  </a:rPr>
                  <a:t>.</a:t>
                </a:r>
              </a:p>
              <a:p>
                <a:pPr marL="361950" indent="-361950">
                  <a:lnSpc>
                    <a:spcPct val="110000"/>
                  </a:lnSpc>
                  <a:spcBef>
                    <a:spcPts val="600"/>
                  </a:spcBef>
                  <a:buClr>
                    <a:schemeClr val="accent6"/>
                  </a:buClr>
                  <a:buFont typeface="+mj-lt"/>
                  <a:buAutoNum type="arabicPeriod" startAt="6"/>
                </a:pPr>
                <a:r>
                  <a:rPr lang="ru-RU" altLang="ru-RU" b="1" dirty="0">
                    <a:cs typeface="Times New Roman" panose="02020603050405020304" pitchFamily="18" charset="0"/>
                  </a:rPr>
                  <a:t>Перестановка селекции с разностью</a:t>
                </a:r>
                <a:br>
                  <a:rPr lang="ru-RU" altLang="ru-RU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u-RU" alt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ru-RU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altLang="ru-RU" dirty="0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094194C9-2751-0BD5-98E0-383E352157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8" y="1802394"/>
                <a:ext cx="8542337" cy="3001604"/>
              </a:xfrm>
              <a:blipFill>
                <a:blip r:embed="rId3"/>
                <a:stretch>
                  <a:fillRect l="-714" t="-1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50CBB-C6F7-F34D-FD34-89FF157F69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en-US" altLang="ru-RU" dirty="0"/>
              <a:t>2</a:t>
            </a:r>
            <a:r>
              <a:rPr lang="ru-RU" altLang="ru-RU" dirty="0"/>
              <a:t>. КАНОНИЧЕСКАЯ форма. Эквивалентные преобразования (3)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003EAC-85C6-FE89-0D76-9DE9C1767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57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CAF33-0AA4-8808-50F3-F0DBD482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BB1396-D0B4-3FD7-E320-43705F46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C40EEBBA-1A57-7E26-0BCB-271208EEF29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8" y="1802394"/>
                <a:ext cx="8542337" cy="3001604"/>
              </a:xfrm>
            </p:spPr>
            <p:txBody>
              <a:bodyPr numCol="1">
                <a:normAutofit/>
              </a:bodyPr>
              <a:lstStyle/>
              <a:p>
                <a:pPr marL="457200" indent="-457200">
                  <a:lnSpc>
                    <a:spcPct val="110000"/>
                  </a:lnSpc>
                  <a:spcBef>
                    <a:spcPts val="600"/>
                  </a:spcBef>
                  <a:buClr>
                    <a:schemeClr val="accent6"/>
                  </a:buClr>
                  <a:buFont typeface="+mj-lt"/>
                  <a:buAutoNum type="arabicPeriod" startAt="9"/>
                </a:pPr>
                <a:r>
                  <a:rPr lang="ru-RU" altLang="ru-RU" b="1" dirty="0">
                    <a:cs typeface="Times New Roman" panose="02020603050405020304" pitchFamily="18" charset="0"/>
                  </a:rPr>
                  <a:t>Перестановка проекции </a:t>
                </a:r>
                <a:r>
                  <a:rPr lang="ru-RU" altLang="ru-RU" b="1" dirty="0"/>
                  <a:t>с декартовым произведением</a:t>
                </a:r>
                <a:br>
                  <a:rPr lang="en-US" altLang="ru-RU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ru-RU" dirty="0"/>
                  <a:t>, </a:t>
                </a:r>
                <a:r>
                  <a:rPr lang="ru-RU" altLang="ru-RU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ru-RU" dirty="0"/>
                  <a:t> </a:t>
                </a:r>
                <a:r>
                  <a:rPr lang="ru-RU" alt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altLang="ru-RU" dirty="0"/>
              </a:p>
              <a:p>
                <a:pPr marL="457200" indent="-457200">
                  <a:lnSpc>
                    <a:spcPct val="110000"/>
                  </a:lnSpc>
                  <a:spcBef>
                    <a:spcPts val="600"/>
                  </a:spcBef>
                  <a:buClr>
                    <a:schemeClr val="accent6"/>
                  </a:buClr>
                  <a:buFont typeface="+mj-lt"/>
                  <a:buAutoNum type="arabicPeriod" startAt="9"/>
                </a:pPr>
                <a:r>
                  <a:rPr lang="ru-RU" altLang="ru-RU" b="1" dirty="0">
                    <a:cs typeface="Times New Roman" panose="02020603050405020304" pitchFamily="18" charset="0"/>
                  </a:rPr>
                  <a:t>Перестановка проекции </a:t>
                </a:r>
                <a:r>
                  <a:rPr lang="ru-RU" altLang="ru-RU" b="1" dirty="0"/>
                  <a:t>с</a:t>
                </a:r>
                <a:r>
                  <a:rPr lang="ru-RU" altLang="ru-RU" b="1" dirty="0">
                    <a:cs typeface="Times New Roman" panose="02020603050405020304" pitchFamily="18" charset="0"/>
                  </a:rPr>
                  <a:t> объединением</a:t>
                </a:r>
                <a:br>
                  <a:rPr lang="ru-RU" altLang="ru-RU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ru-RU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ru-RU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altLang="ru-RU" dirty="0">
                    <a:ea typeface="Cambria Math" panose="02040503050406030204" pitchFamily="18" charset="0"/>
                  </a:rPr>
                  <a:t>.</a:t>
                </a:r>
              </a:p>
              <a:p>
                <a:pPr marL="457200" indent="-457200">
                  <a:lnSpc>
                    <a:spcPct val="110000"/>
                  </a:lnSpc>
                  <a:spcBef>
                    <a:spcPts val="600"/>
                  </a:spcBef>
                  <a:buClr>
                    <a:schemeClr val="accent6"/>
                  </a:buClr>
                  <a:buFont typeface="+mj-lt"/>
                  <a:buAutoNum type="arabicPeriod" startAt="9"/>
                </a:pPr>
                <a:r>
                  <a:rPr lang="ru-RU" altLang="ru-RU" b="1" dirty="0">
                    <a:cs typeface="Times New Roman" panose="02020603050405020304" pitchFamily="18" charset="0"/>
                  </a:rPr>
                  <a:t>Перестановка проекции с разностью</a:t>
                </a:r>
                <a:br>
                  <a:rPr lang="ru-RU" altLang="ru-RU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u-RU" altLang="ru-R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ru-RU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altLang="ru-RU" dirty="0"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C40EEBBA-1A57-7E26-0BCB-271208EEF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8" y="1802394"/>
                <a:ext cx="8542337" cy="3001604"/>
              </a:xfrm>
              <a:blipFill>
                <a:blip r:embed="rId3"/>
                <a:stretch>
                  <a:fillRect l="-785" t="-1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6A491-29D6-4A92-E904-49B2615A71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en-US" altLang="ru-RU" dirty="0"/>
              <a:t>2</a:t>
            </a:r>
            <a:r>
              <a:rPr lang="ru-RU" altLang="ru-RU" dirty="0"/>
              <a:t>. КАНОНИЧЕСКАЯ форма. Эквивалентные преобразования (4)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B914D7-F535-AE55-29A9-376C61BC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10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6CC6E-91CF-FB35-D983-0BFE324D3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CAF86A-CBE4-FB9F-377D-729D7BA8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9A24BA-F915-073A-DE50-633A5A1CB9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3001604"/>
          </a:xfrm>
        </p:spPr>
        <p:txBody>
          <a:bodyPr numCol="2"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Выполнять операции селекции по возможности раньше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Целесообразно предварительно обрабатывать файлы перед соединением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Сортировка файлов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Создание индексов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Искать общие подвыражения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Подвыражения, использующие соединения, не изменяющееся при перемещении селекции вовнутрь его.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Собирать в каскады селекции и проекции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Комбинировать проекции с предшествующими и последующими двуместными операциями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Комбинировать некоторые селекции с предшествующим декартовым произведением и выполнять вместо них соединения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7F345-8176-4C92-1352-21C5F13B0C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en-US" altLang="ru-RU" dirty="0"/>
              <a:t>2</a:t>
            </a:r>
            <a:r>
              <a:rPr lang="ru-RU" altLang="ru-RU" dirty="0"/>
              <a:t>. КАНОНИЧЕСКАЯ форма. Общая стратегия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259C68-7A8A-DFC7-3D32-58C72090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37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1899D-D68B-36E2-9109-D20021C0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89A23-1B90-158F-6592-B8C91DE2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063CE973-15F2-1804-C783-D9B304CEBA5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0838" y="1802394"/>
                <a:ext cx="8542337" cy="3001604"/>
              </a:xfrm>
            </p:spPr>
            <p:txBody>
              <a:bodyPr numCol="2">
                <a:normAutofit fontScale="70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ru-RU" altLang="ru-RU" dirty="0">
                    <a:cs typeface="Times New Roman" panose="02020603050405020304" pitchFamily="18" charset="0"/>
                  </a:rPr>
                  <a:t>Представляем (по правилу 4) каждую селекцию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ru-RU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ru-RU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…∧</m:t>
                        </m:r>
                        <m:sSub>
                          <m:sSub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altLang="ru-RU" dirty="0">
                    <a:cs typeface="Times New Roman" panose="02020603050405020304" pitchFamily="18" charset="0"/>
                  </a:rPr>
                  <a:t> </a:t>
                </a:r>
                <a:r>
                  <a:rPr lang="ru-RU" altLang="ru-RU" dirty="0">
                    <a:cs typeface="Times New Roman" panose="02020603050405020304" pitchFamily="18" charset="0"/>
                  </a:rPr>
                  <a:t>в виде каскада селекций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ru-RU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ru-RU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alt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ru-RU" altLang="ru-RU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ru-RU" altLang="ru-RU" dirty="0">
                    <a:cs typeface="Times New Roman" panose="02020603050405020304" pitchFamily="18" charset="0"/>
                  </a:rPr>
                  <a:t>Перемещаем каждую селекцию, насколько это возможно</a:t>
                </a:r>
                <a:r>
                  <a:rPr lang="en-US" altLang="ru-RU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dirty="0">
                    <a:cs typeface="Times New Roman" panose="02020603050405020304" pitchFamily="18" charset="0"/>
                  </a:rPr>
                  <a:t> вниз по дереву, используя правила 4-8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ru-RU" altLang="ru-RU" dirty="0">
                    <a:cs typeface="Times New Roman" panose="02020603050405020304" pitchFamily="18" charset="0"/>
                  </a:rPr>
                  <a:t>Перемещаем каждую проекцию</a:t>
                </a:r>
                <a:r>
                  <a:rPr lang="en-US" altLang="ru-RU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dirty="0">
                    <a:cs typeface="Times New Roman" panose="02020603050405020304" pitchFamily="18" charset="0"/>
                  </a:rPr>
                  <a:t> насколько это возможно</a:t>
                </a:r>
                <a:r>
                  <a:rPr lang="en-US" altLang="ru-RU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dirty="0">
                    <a:cs typeface="Times New Roman" panose="02020603050405020304" pitchFamily="18" charset="0"/>
                  </a:rPr>
                  <a:t> вниз по дереву, используя правила 3, 9, 10 и 5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ru-RU" altLang="ru-RU" dirty="0">
                    <a:cs typeface="Times New Roman" panose="02020603050405020304" pitchFamily="18" charset="0"/>
                  </a:rPr>
                  <a:t>Комбинируем каждый каскад селекций и проекций в одиночную селекцию, одиночную проекцию или селекцию с последующей проекцией, используя правила 3 – 5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ru-RU" altLang="ru-RU" dirty="0">
                    <a:cs typeface="Times New Roman" panose="02020603050405020304" pitchFamily="18" charset="0"/>
                  </a:rPr>
                  <a:t>Разбиваем внутренние узлы полученного дерева на группы. Каждый внутренний узел представляющий двуместный оператор (×, </a:t>
                </a:r>
                <a14:m>
                  <m:oMath xmlns:m="http://schemas.openxmlformats.org/officeDocument/2006/math">
                    <m:r>
                      <a:rPr lang="ru-RU" alt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</m:oMath>
                </a14:m>
                <a:r>
                  <a:rPr lang="ru-RU" altLang="ru-RU" dirty="0">
                    <a:cs typeface="Times New Roman" panose="02020603050405020304" pitchFamily="18" charset="0"/>
                  </a:rPr>
                  <a:t>, </a:t>
                </a:r>
                <a:r>
                  <a:rPr lang="en-US" altLang="ru-RU" dirty="0">
                    <a:cs typeface="Times New Roman" panose="02020603050405020304" pitchFamily="18" charset="0"/>
                  </a:rPr>
                  <a:t>-</a:t>
                </a:r>
                <a:r>
                  <a:rPr lang="ru-RU" altLang="ru-RU" dirty="0">
                    <a:cs typeface="Times New Roman" panose="02020603050405020304" pitchFamily="18" charset="0"/>
                  </a:rPr>
                  <a:t>), принадлежит группе вместе с непосредственными предками, помеченными унарными операциями </a:t>
                </a:r>
                <a:br>
                  <a:rPr lang="en-US" altLang="ru-RU" dirty="0">
                    <a:cs typeface="Times New Roman" panose="02020603050405020304" pitchFamily="18" charset="0"/>
                  </a:rPr>
                </a:br>
                <a:r>
                  <a:rPr lang="ru-RU" altLang="ru-RU" dirty="0"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ru-RU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ru-RU" altLang="ru-RU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ru-RU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ru-RU" altLang="ru-RU" dirty="0"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>
          <p:sp>
            <p:nvSpPr>
              <p:cNvPr id="15" name="Text Placeholder 14">
                <a:extLst>
                  <a:ext uri="{FF2B5EF4-FFF2-40B4-BE49-F238E27FC236}">
                    <a16:creationId xmlns:a16="http://schemas.microsoft.com/office/drawing/2014/main" id="{063CE973-15F2-1804-C783-D9B304CEB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0838" y="1802394"/>
                <a:ext cx="8542337" cy="3001604"/>
              </a:xfrm>
              <a:blipFill>
                <a:blip r:embed="rId3"/>
                <a:stretch>
                  <a:fillRect t="-1220" r="-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88924-76DC-95F4-3401-1D4E3CBB6B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en-US" altLang="ru-RU" dirty="0"/>
              <a:t>2</a:t>
            </a:r>
            <a:r>
              <a:rPr lang="ru-RU" altLang="ru-RU" dirty="0"/>
              <a:t>. КАНОНИЧЕСКАЯ форма. Алгоритм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81B0BB-F7B8-D7F3-149C-BF67517AC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2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6DDF2-A488-AC9A-84DC-FBD92717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2517AD-F123-155D-4209-D4E6E3E8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5AE4896-9DA0-9FD8-BC4E-11626FF22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2785580"/>
          </a:xfrm>
        </p:spPr>
        <p:txBody>
          <a:bodyPr numCol="2" spcCol="180000"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После преобразования внутренней формы запроса в более подходящую (каноническую) форму, оптимизатор должен определить, как следует выполнять запрос, представленный в этой канонической форме. 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На данной стадии принимаются во внимание такие факторы как: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наличие индексов и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других физических путей доступа,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статистическое распределение существующих значений данных,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физическая кластеризация хранимых данных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и т.п. 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Обратите внимание на то, что на стадиях 1 и 2 этим аспектам совсем не уделялось внимания.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03894-6A94-6118-2251-7FE6B667A8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en-US" altLang="ru-RU" dirty="0"/>
              <a:t>3</a:t>
            </a:r>
            <a:r>
              <a:rPr lang="ru-RU" altLang="ru-RU" dirty="0"/>
              <a:t>. Выбор потенциальных низкоуровневых процедур</a:t>
            </a:r>
            <a:r>
              <a:rPr lang="en-US" altLang="ru-RU" dirty="0"/>
              <a:t> (1)</a:t>
            </a:r>
            <a:r>
              <a:rPr lang="ru-RU" altLang="ru-RU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6F2234-D4CD-B833-C10E-F0DCA310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2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84A4-37C3-8AB7-731B-0A3FFD3A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994F0B-D125-3A8F-789C-8333818C3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5B24B39-6BE0-D8AE-1FB0-0676A4E982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2785580"/>
          </a:xfrm>
        </p:spPr>
        <p:txBody>
          <a:bodyPr numCol="2" spcCol="180000"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Основная стратегия состоит в том, чтобы рассматривать выражение запроса как серию низкоуровневых операций (операций реляционной алгебры), </a:t>
            </a:r>
            <a:r>
              <a:rPr lang="ru-RU" altLang="ru-RU" b="1" dirty="0">
                <a:cs typeface="Times New Roman" panose="02020603050405020304" pitchFamily="18" charset="0"/>
              </a:rPr>
              <a:t>которые в определенной степени зависят одна от другой</a:t>
            </a:r>
            <a:r>
              <a:rPr lang="ru-RU" altLang="ru-RU" dirty="0"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При программной реализации операции проекции может потребоваться, чтобы считываемые кортежи следовали в определенном порядке; это позволяет </a:t>
            </a:r>
            <a:r>
              <a:rPr lang="ru-RU" altLang="ru-RU" b="1" dirty="0">
                <a:cs typeface="Times New Roman" panose="02020603050405020304" pitchFamily="18" charset="0"/>
              </a:rPr>
              <a:t>исключить дублирующиеся</a:t>
            </a:r>
            <a:r>
              <a:rPr lang="ru-RU" altLang="ru-RU" dirty="0">
                <a:cs typeface="Times New Roman" panose="02020603050405020304" pitchFamily="18" charset="0"/>
              </a:rPr>
              <a:t> результирующие кортежи.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altLang="ru-RU" dirty="0">
                <a:cs typeface="Times New Roman" panose="02020603050405020304" pitchFamily="18" charset="0"/>
              </a:rPr>
              <a:t>В свою очередь, это означает, что операция, выполняемая непосредственно перед операцией проекции, должна выдавать выходные кортежи именно </a:t>
            </a:r>
            <a:r>
              <a:rPr lang="ru-RU" altLang="ru-RU" b="1" dirty="0">
                <a:cs typeface="Times New Roman" panose="02020603050405020304" pitchFamily="18" charset="0"/>
              </a:rPr>
              <a:t>в такой, требуемой последовательности</a:t>
            </a:r>
            <a:r>
              <a:rPr lang="ru-RU" altLang="ru-RU" dirty="0"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A59EC-53C7-C692-6915-441DF43748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en-US" altLang="ru-RU" dirty="0"/>
              <a:t>3</a:t>
            </a:r>
            <a:r>
              <a:rPr lang="ru-RU" altLang="ru-RU" dirty="0"/>
              <a:t>. Выбор потенциальных низкоуровневых процедур</a:t>
            </a:r>
            <a:r>
              <a:rPr lang="en-US" altLang="ru-RU" dirty="0"/>
              <a:t> (2)</a:t>
            </a:r>
            <a:r>
              <a:rPr lang="ru-RU" altLang="ru-RU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EA1D4C-AB09-79B6-27F7-AB53ECA09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82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74E77-27BE-BB8B-B043-0848E8C42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A42B34-7464-4215-F6B2-76A9FC16A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5A8F6-49B6-8BAE-EAF0-F4C102AEF7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3001604"/>
          </a:xfrm>
        </p:spPr>
        <p:txBody>
          <a:bodyPr numCol="2" spcCol="180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Для каждой низкоуровневой операции (а также, возможно, для нескольких часто встречающихся комбинаций подобных операций) оптимизатор имеет </a:t>
            </a:r>
            <a:r>
              <a:rPr lang="ru-RU" altLang="ru-RU" sz="1400" b="1" dirty="0">
                <a:cs typeface="Times New Roman" panose="02020603050405020304" pitchFamily="18" charset="0"/>
              </a:rPr>
              <a:t>набор низкоуровневых процедур реализации</a:t>
            </a:r>
            <a:r>
              <a:rPr lang="ru-RU" altLang="ru-RU" sz="1400" dirty="0"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Например, существует набор процедур для реализации операции отбора: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>
                <a:cs typeface="Times New Roman" panose="02020603050405020304" pitchFamily="18" charset="0"/>
              </a:rPr>
              <a:t>по условию равенства определенному значению потенциального ключа;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>
                <a:cs typeface="Times New Roman" panose="02020603050405020304" pitchFamily="18" charset="0"/>
              </a:rPr>
              <a:t>на основе индексированного атрибута, по которому выполняется сокращение;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>
                <a:cs typeface="Times New Roman" panose="02020603050405020304" pitchFamily="18" charset="0"/>
              </a:rPr>
              <a:t>на основе </a:t>
            </a:r>
            <a:r>
              <a:rPr lang="ru-RU" altLang="ru-RU" sz="1200" dirty="0" err="1">
                <a:cs typeface="Times New Roman" panose="02020603050405020304" pitchFamily="18" charset="0"/>
              </a:rPr>
              <a:t>хэшированного</a:t>
            </a:r>
            <a:r>
              <a:rPr lang="ru-RU" altLang="ru-RU" sz="1200" dirty="0">
                <a:cs typeface="Times New Roman" panose="02020603050405020304" pitchFamily="18" charset="0"/>
              </a:rPr>
              <a:t> атрибута и т.д...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С каждой процедурой связана параметризованная </a:t>
            </a:r>
            <a:r>
              <a:rPr lang="ru-RU" altLang="ru-RU" sz="1400" b="1" dirty="0">
                <a:cs typeface="Times New Roman" panose="02020603050405020304" pitchFamily="18" charset="0"/>
              </a:rPr>
              <a:t>формула стоимости</a:t>
            </a:r>
            <a:r>
              <a:rPr lang="ru-RU" altLang="ru-RU" sz="1400" dirty="0">
                <a:cs typeface="Times New Roman" panose="02020603050405020304" pitchFamily="18" charset="0"/>
              </a:rPr>
              <a:t>, позволяющая оценить объем затрат на ее выполнение.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Чаще всего стоимость определяется путем подсчета количества необходимых дисковых операций ввода-вывода, но некоторые системы учитывают также время использования процессора и другие факторы.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0ECF87-2434-6CEE-4F5D-CA9A29A179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en-US" altLang="ru-RU" dirty="0"/>
              <a:t>3</a:t>
            </a:r>
            <a:r>
              <a:rPr lang="ru-RU" altLang="ru-RU" dirty="0"/>
              <a:t>. Выбор потенциальных низкоуровневых процедур</a:t>
            </a:r>
            <a:r>
              <a:rPr lang="en-US" altLang="ru-RU" dirty="0"/>
              <a:t> (</a:t>
            </a:r>
            <a:r>
              <a:rPr lang="ru-RU" altLang="ru-RU" dirty="0"/>
              <a:t>3</a:t>
            </a:r>
            <a:r>
              <a:rPr lang="en-US" altLang="ru-RU" dirty="0"/>
              <a:t>)</a:t>
            </a:r>
            <a:r>
              <a:rPr lang="ru-RU" altLang="ru-RU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57C9D2-F354-C659-8721-59027F7AB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72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06413-29AA-989D-3F28-FE04A87F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7A0BD9-E96E-B127-4FD0-8AEEAC14E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643ADE9-35BA-A343-806F-618463A235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3001604"/>
          </a:xfrm>
        </p:spPr>
        <p:txBody>
          <a:bodyPr numCol="2" spcCol="180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Для каждой низкоуровневой операции (а также, возможно, для нескольких часто встречающихся комбинаций подобных операций) оптимизатор имеет </a:t>
            </a:r>
            <a:r>
              <a:rPr lang="ru-RU" altLang="ru-RU" sz="1400" b="1" dirty="0">
                <a:cs typeface="Times New Roman" panose="02020603050405020304" pitchFamily="18" charset="0"/>
              </a:rPr>
              <a:t>набор низкоуровневых процедур реализации</a:t>
            </a:r>
            <a:r>
              <a:rPr lang="ru-RU" altLang="ru-RU" sz="1400" dirty="0"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Например, существует набор процедур для реализации операции отбора: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>
                <a:cs typeface="Times New Roman" panose="02020603050405020304" pitchFamily="18" charset="0"/>
              </a:rPr>
              <a:t>по условию равенства определенному значению потенциального ключа;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>
                <a:cs typeface="Times New Roman" panose="02020603050405020304" pitchFamily="18" charset="0"/>
              </a:rPr>
              <a:t>на основе индексированного атрибута, по которому выполняется сокращение;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>
                <a:cs typeface="Times New Roman" panose="02020603050405020304" pitchFamily="18" charset="0"/>
              </a:rPr>
              <a:t>на основе </a:t>
            </a:r>
            <a:r>
              <a:rPr lang="ru-RU" altLang="ru-RU" sz="1200" dirty="0" err="1">
                <a:cs typeface="Times New Roman" panose="02020603050405020304" pitchFamily="18" charset="0"/>
              </a:rPr>
              <a:t>хэшированного</a:t>
            </a:r>
            <a:r>
              <a:rPr lang="ru-RU" altLang="ru-RU" sz="1200" dirty="0">
                <a:cs typeface="Times New Roman" panose="02020603050405020304" pitchFamily="18" charset="0"/>
              </a:rPr>
              <a:t> атрибута и т.д...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С каждой процедурой связана параметризованная </a:t>
            </a:r>
            <a:r>
              <a:rPr lang="ru-RU" altLang="ru-RU" sz="1400" b="1" dirty="0">
                <a:cs typeface="Times New Roman" panose="02020603050405020304" pitchFamily="18" charset="0"/>
              </a:rPr>
              <a:t>формула стоимости</a:t>
            </a:r>
            <a:r>
              <a:rPr lang="ru-RU" altLang="ru-RU" sz="1400" dirty="0">
                <a:cs typeface="Times New Roman" panose="02020603050405020304" pitchFamily="18" charset="0"/>
              </a:rPr>
              <a:t>, позволяющая оценить объем затрат на ее выполнение.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Чаще всего стоимость определяется путем подсчета количества необходимых дисковых операций ввода-вывода, но некоторые системы учитывают также время использования процессора и другие факторы.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CBDE4-7CEA-DD2A-F824-3D3143D1C7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en-US" altLang="ru-RU" dirty="0"/>
              <a:t>3</a:t>
            </a:r>
            <a:r>
              <a:rPr lang="ru-RU" altLang="ru-RU" dirty="0"/>
              <a:t>. Выбор потенциальных низкоуровневых процедур</a:t>
            </a:r>
            <a:r>
              <a:rPr lang="en-US" altLang="ru-RU" dirty="0"/>
              <a:t> (</a:t>
            </a:r>
            <a:r>
              <a:rPr lang="ru-RU" altLang="ru-RU" dirty="0"/>
              <a:t>4</a:t>
            </a:r>
            <a:r>
              <a:rPr lang="en-US" altLang="ru-RU" dirty="0"/>
              <a:t>)</a:t>
            </a:r>
            <a:r>
              <a:rPr lang="ru-RU" altLang="ru-RU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5149E9-E972-0940-BE2A-34BF27356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1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E2D16-FF1C-9FBF-7F56-E5BE16476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EE2442-B36B-2FB8-EA8B-D96878CC4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32DC922-60E0-3262-4E58-FE88444C8D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3001604"/>
          </a:xfrm>
        </p:spPr>
        <p:txBody>
          <a:bodyPr numCol="2" spcCol="180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Каждый план выполнения запроса формируется как комбинация некоторого набора потенциальных процедур реализации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Причем каждой низкоуровневой операции в запросе соответствует одна процедура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Обычно для поступившего запроса может существовать много планов выполнения запроса (возможно, даже слишком много)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Не стоит генерировать все возможные планы запроса, так как одни из них могут быть комбинаторными версиями других планов выполнения этого же запроса, и сам процесс выбора наиболее эффективного плана может стать чрезмерно дорогостоящим.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Эвристические правила, позволяющие ограничить количество анализируемых планов запросов разумными пределами называют </a:t>
            </a:r>
            <a:r>
              <a:rPr lang="ru-RU" altLang="ru-RU" sz="1400" i="1" dirty="0">
                <a:cs typeface="Times New Roman" panose="02020603050405020304" pitchFamily="18" charset="0"/>
              </a:rPr>
              <a:t>сокращением пространства поиска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5C4A8-92BB-6F47-C0D8-ABD8F417BF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ru-RU" altLang="ru-RU" dirty="0"/>
              <a:t>4. Генерация планов вычисления запроса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2A4629-403F-FE0C-B367-B6D285E2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4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2E0C-6D3B-4770-87D7-C4AD6BACC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D84A58-09C4-0E97-1CC0-67CD79C9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0D6888-0CE0-9525-7964-85AE9380D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3001604"/>
          </a:xfrm>
        </p:spPr>
        <p:txBody>
          <a:bodyPr numCol="2" spcCol="180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Стоимость плана — это просто сумма стоимостей отдельных низкоуровневых процедур, входящих в его состав. Нам нужен план с наименьшей стоимостью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Основная проблема состоит в том, что стоимость выполнения процедуры зависит от размера отношения (или отношений), которое обрабатывает эта процедура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Поскольку все запросы, за исключением самых простых, требуют создания некоторых </a:t>
            </a:r>
            <a:r>
              <a:rPr lang="ru-RU" altLang="ru-RU" sz="1400" b="1" dirty="0">
                <a:cs typeface="Times New Roman" panose="02020603050405020304" pitchFamily="18" charset="0"/>
              </a:rPr>
              <a:t>промежуточных результатов выполнения </a:t>
            </a:r>
            <a:r>
              <a:rPr lang="ru-RU" altLang="ru-RU" sz="1400" dirty="0">
                <a:cs typeface="Times New Roman" panose="02020603050405020304" pitchFamily="18" charset="0"/>
              </a:rPr>
              <a:t>(по меньшей мере, концептуально), оптимизатор должен быть способен </a:t>
            </a:r>
            <a:r>
              <a:rPr lang="ru-RU" altLang="ru-RU" sz="1400" b="1" dirty="0">
                <a:cs typeface="Times New Roman" panose="02020603050405020304" pitchFamily="18" charset="0"/>
              </a:rPr>
              <a:t>оценить размер этих промежуточных результатов</a:t>
            </a:r>
            <a:r>
              <a:rPr lang="ru-RU" altLang="ru-RU" sz="1400" dirty="0">
                <a:cs typeface="Times New Roman" panose="02020603050405020304" pitchFamily="18" charset="0"/>
              </a:rPr>
              <a:t> и использовать полученные значения при вычислении формул стоимости.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К сожалению, размеры промежуточных наборов данных сильно зависят от конкретных значений хранимых данных, поэтому </a:t>
            </a:r>
            <a:r>
              <a:rPr lang="ru-RU" altLang="ru-RU" sz="1400" b="1" dirty="0">
                <a:cs typeface="Times New Roman" panose="02020603050405020304" pitchFamily="18" charset="0"/>
              </a:rPr>
              <a:t>точная оценка стоимости может оказаться достаточно сложной задачей</a:t>
            </a:r>
            <a:r>
              <a:rPr lang="ru-RU" altLang="ru-RU" sz="1400" dirty="0"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36A00-B4B0-C235-703F-BE9CA5029B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ru-RU" altLang="ru-RU" dirty="0"/>
              <a:t>5. выбор плана с наименьшими затратами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208FCE-71FB-73E2-5191-F73FA7B6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66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20400-BFA6-8F64-DD6C-2ED1DEDA3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BCD32E-CCC8-26D6-45BD-50E0138F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C296F2C-3384-601C-144E-5D13BDEC6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3001604"/>
          </a:xfrm>
        </p:spPr>
        <p:txBody>
          <a:bodyPr numCol="2" spcCol="180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В системе </a:t>
            </a:r>
            <a:r>
              <a:rPr lang="ru-RU" altLang="ru-RU" sz="1400" dirty="0" err="1">
                <a:cs typeface="Times New Roman" panose="02020603050405020304" pitchFamily="18" charset="0"/>
              </a:rPr>
              <a:t>Ingres</a:t>
            </a:r>
            <a:r>
              <a:rPr lang="ru-RU" altLang="ru-RU" sz="1400" dirty="0">
                <a:cs typeface="Times New Roman" panose="02020603050405020304" pitchFamily="18" charset="0"/>
              </a:rPr>
              <a:t> индекс рассматривается как частный случай хранимой таблицы. Поэтому приведенные ниже статистические показатели для базовых таблиц и столбцов вычисляются также для индексов.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Для каждой базовой таблицы фиксируются следующие показатели: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>
                <a:cs typeface="Times New Roman" panose="02020603050405020304" pitchFamily="18" charset="0"/>
              </a:rPr>
              <a:t>кардинальность;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>
                <a:cs typeface="Times New Roman" panose="02020603050405020304" pitchFamily="18" charset="0"/>
              </a:rPr>
              <a:t>количество первичных страниц для таблицы;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>
                <a:cs typeface="Times New Roman" panose="02020603050405020304" pitchFamily="18" charset="0"/>
              </a:rPr>
              <a:t>количество страниц переполнения для таблицы.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Для каждого столбца в каждой базовой таблице фиксируются следующие показатели: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>
                <a:cs typeface="Times New Roman" panose="02020603050405020304" pitchFamily="18" charset="0"/>
              </a:rPr>
              <a:t>количество различных значений в столбце;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>
                <a:cs typeface="Times New Roman" panose="02020603050405020304" pitchFamily="18" charset="0"/>
              </a:rPr>
              <a:t>максимальное, минимальное и среднее значения для столбца;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>
                <a:cs typeface="Times New Roman" panose="02020603050405020304" pitchFamily="18" charset="0"/>
              </a:rPr>
              <a:t>реальные значения в столбце и частота их вхождений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3DF5E-2164-EF6A-B315-B67AF20948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ru-RU" altLang="ru-RU" dirty="0"/>
              <a:t>5. Оценка размеров исходных данных. </a:t>
            </a:r>
            <a:r>
              <a:rPr lang="en-US" altLang="ru-RU" dirty="0"/>
              <a:t>Ingres</a:t>
            </a:r>
            <a:r>
              <a:rPr lang="ru-RU" altLang="ru-RU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AA1A0A-2803-CD8A-8960-EDF496C11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9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bldLvl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CE379-AD2C-3C0D-C10F-0C507BF22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915BA1-09C8-5189-64D1-F0258B98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D4ED065-3732-A4E9-46B6-A61BEDE86F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2713572"/>
          </a:xfrm>
        </p:spPr>
        <p:txBody>
          <a:bodyPr numCol="2" spcCol="180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Для каждой базовой таблицы (БТ)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кардинальное число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количество страниц, занятых таблицей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доля табл. пространства, занят. таблицей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Для каждого столбца каждой БТ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количество значений в столбце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второе наибольшее значение в столбце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второе наименьшее значение в столбце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10 чаще всего встречающихся значений (для индексированных)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Для каждого индекса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индикатор кластеризации индекса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количество базовых страниц в данном индексе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количество уровней в данном индексе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0B7F3-9CBD-0D72-7BAE-7D2D42AC93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ru-RU" altLang="ru-RU" dirty="0"/>
              <a:t>5. Оценка размеров исходных данных. </a:t>
            </a:r>
            <a:r>
              <a:rPr lang="en-US" altLang="ru-RU" dirty="0"/>
              <a:t>DB2</a:t>
            </a:r>
            <a:r>
              <a:rPr lang="ru-RU" altLang="ru-RU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3D5C8F-BE12-4E13-F2FA-B42FE959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Оптимизация запросов. Стадии оптимизации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72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bldLvl="2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7E9A7-039A-C94F-1436-4AFC650C3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A55037-92CE-9D66-90BC-1D8EABE3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E18AB9A-2858-9AD3-1075-2E31D21315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2713572"/>
          </a:xfrm>
        </p:spPr>
        <p:txBody>
          <a:bodyPr numCol="2" spcCol="180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Как правило, выполняется просмотр всего отношения.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Однако, если есть индексированный атрибут, то значение агрегатной функции вычисляется по индексу без доступа к отношению.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Так, функции SUM и COUNT вычисляются по любому индексу отношения.</a:t>
            </a:r>
            <a:br>
              <a:rPr lang="ru-RU" altLang="ru-RU" sz="1600" dirty="0">
                <a:cs typeface="Times New Roman" panose="02020603050405020304" pitchFamily="18" charset="0"/>
              </a:rPr>
            </a:br>
            <a:r>
              <a:rPr lang="ru-RU" altLang="ru-RU" sz="1600" dirty="0">
                <a:cs typeface="Times New Roman" panose="02020603050405020304" pitchFamily="18" charset="0"/>
              </a:rPr>
              <a:t>Рассмотрим отношение SP(S#,P#,QTY).</a:t>
            </a:r>
            <a:br>
              <a:rPr lang="ru-RU" altLang="ru-RU" sz="1600" dirty="0">
                <a:cs typeface="Times New Roman" panose="02020603050405020304" pitchFamily="18" charset="0"/>
              </a:rPr>
            </a:br>
            <a:r>
              <a:rPr lang="ru-RU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SELECT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AVG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(QTY) </a:t>
            </a:r>
            <a:r>
              <a:rPr lang="ru-RU" altLang="ru-RU" sz="16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as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Average</a:t>
            </a:r>
            <a:b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FROM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SP;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Если есть индекс по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QTY</a:t>
            </a:r>
            <a:r>
              <a:rPr lang="ru-RU" altLang="ru-RU" sz="1600" dirty="0">
                <a:cs typeface="Times New Roman" panose="02020603050405020304" pitchFamily="18" charset="0"/>
              </a:rPr>
              <a:t>, то по нему можно вычислить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SUM</a:t>
            </a:r>
            <a:r>
              <a:rPr lang="en-US" altLang="ru-RU" sz="1600" dirty="0">
                <a:latin typeface="+mn-lt"/>
                <a:cs typeface="Cascadia Code SemiBold" panose="020B0609020000020004" pitchFamily="49" charset="0"/>
              </a:rPr>
              <a:t> </a:t>
            </a:r>
            <a:r>
              <a:rPr lang="ru-RU" altLang="ru-RU" sz="1600" dirty="0">
                <a:latin typeface="+mn-lt"/>
                <a:cs typeface="Cascadia Code SemiBold" panose="020B0609020000020004" pitchFamily="49" charset="0"/>
              </a:rPr>
              <a:t>и</a:t>
            </a:r>
            <a:r>
              <a:rPr lang="en-US" altLang="ru-RU" sz="1600" dirty="0">
                <a:latin typeface="+mn-lt"/>
                <a:cs typeface="Cascadia Code SemiBold" panose="020B0609020000020004" pitchFamily="49" charset="0"/>
              </a:rPr>
              <a:t>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COUNT</a:t>
            </a:r>
            <a:r>
              <a:rPr lang="en-US" altLang="ru-RU" sz="1600" dirty="0">
                <a:latin typeface="+mn-lt"/>
                <a:cs typeface="Cascadia Code SemiBold" panose="020B0609020000020004" pitchFamily="49" charset="0"/>
              </a:rPr>
              <a:t> </a:t>
            </a:r>
            <a:r>
              <a:rPr lang="ru-RU" altLang="ru-RU" sz="1600" dirty="0">
                <a:latin typeface="+mn-lt"/>
                <a:cs typeface="Cascadia Code SemiBold" panose="020B0609020000020004" pitchFamily="49" charset="0"/>
              </a:rPr>
              <a:t>(а, значит, и</a:t>
            </a:r>
            <a:r>
              <a:rPr lang="en-US" altLang="ru-RU" sz="16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AVG</a:t>
            </a:r>
            <a:r>
              <a:rPr lang="ru-RU" altLang="ru-RU" sz="1600" dirty="0">
                <a:cs typeface="Times New Roman" panose="02020603050405020304" pitchFamily="18" charset="0"/>
              </a:rPr>
              <a:t>). А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MIN</a:t>
            </a:r>
            <a:r>
              <a:rPr lang="ru-RU" altLang="ru-RU" sz="1600" dirty="0">
                <a:cs typeface="Times New Roman" panose="02020603050405020304" pitchFamily="18" charset="0"/>
              </a:rPr>
              <a:t> и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MAX</a:t>
            </a:r>
            <a:r>
              <a:rPr lang="ru-RU" altLang="ru-RU" sz="1600" dirty="0">
                <a:latin typeface="+mn-lt"/>
                <a:cs typeface="Cascadia Code SemiBold" panose="020B0609020000020004" pitchFamily="49" charset="0"/>
              </a:rPr>
              <a:t> </a:t>
            </a:r>
            <a:r>
              <a:rPr lang="ru-RU" altLang="ru-RU" sz="1600" dirty="0">
                <a:cs typeface="Times New Roman" panose="02020603050405020304" pitchFamily="18" charset="0"/>
              </a:rPr>
              <a:t>можно найти за одно обращение к диску.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FCA9B-BADB-E864-5BBD-4FDF30CD42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ru-RU" altLang="ru-RU" dirty="0"/>
              <a:t>Агрегация без атрибутов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9A5BE0-9DB6-CE4F-2A56-264BCE234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altLang="ru-RU" dirty="0"/>
              <a:t>Реализация некоторых реляционных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198310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bldLvl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602E6-F1F2-F464-B74E-BA15F6709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071AD2-294E-23F6-A479-1BACD632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352B33F-1CA5-2B42-00D6-A323097C72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2713572"/>
          </a:xfrm>
        </p:spPr>
        <p:txBody>
          <a:bodyPr numCol="2" spcCol="180000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Для пользователей операции ниже абсолютно не похожи.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Агрегация как минимум по одному атрибуту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Проекция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Соединение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Но реализация операций имеет сходство, так как в каждом из случаев система должна сгруппировать кортежи на основе значений некоторых атрибутов или комбинации атрибутов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В проекции – группировка позволяет исключить дублирующие кортежи.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В соединении – найти соответствующие кортежи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400" dirty="0">
                <a:cs typeface="Times New Roman" panose="02020603050405020304" pitchFamily="18" charset="0"/>
              </a:rPr>
              <a:t>В агрегации – вычислить отдельные (например по группам) агрегатные значения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1905D-6AFE-D3A9-67E0-810C935B16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ru-RU" altLang="ru-RU" dirty="0"/>
              <a:t>Агрегация как минимум по одному атрибуту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B91585-D25E-8878-5F5E-A1AAD6DFE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altLang="ru-RU" dirty="0"/>
              <a:t>Реализация некоторых реляционных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335315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bldLvl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528E6-67D5-5AFD-F8D2-CADCED2D3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180886-74B9-8A75-F5ED-5C2253B3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D193904-FC03-A13D-FB20-D012F30E87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135756"/>
            <a:ext cx="8542337" cy="2380210"/>
          </a:xfrm>
        </p:spPr>
        <p:txBody>
          <a:bodyPr numCol="2" spcCol="180000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Прямой метод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Поиск по индексу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Поиск по хэш таблице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Слияние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Хэширование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Комбинация вышеуказанных методов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altLang="ru-RU" sz="1600" dirty="0">
                <a:cs typeface="Times New Roman" panose="02020603050405020304" pitchFamily="18" charset="0"/>
              </a:rPr>
              <a:t>Далее будут приведены псевдокоды процедур реализации перечисленных методов для операции реляционной алгебры «соединение»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48E56-4C39-CB70-6B7E-409F14CF4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ru-RU" altLang="ru-RU" dirty="0"/>
              <a:t>Методы выполнения  реляционных операций соединения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68B475-966D-54F9-2ECB-EC2E94C5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altLang="ru-RU" dirty="0"/>
              <a:t>Реализация некоторых реляционных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165415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bldLvl="2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D508-2047-CCF3-BC02-11BE2CC6A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11546A-83E2-8304-BFE8-91EA1B58D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65F5566-918D-1471-B960-EFCDA91C79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2713572"/>
          </a:xfrm>
        </p:spPr>
        <p:txBody>
          <a:bodyPr numCol="2" spcCol="180000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u="sng" dirty="0">
                <a:cs typeface="Times New Roman" panose="02020603050405020304" pitchFamily="18" charset="0"/>
              </a:rPr>
              <a:t>Прямой метод </a:t>
            </a:r>
            <a:r>
              <a:rPr lang="ru-RU" altLang="ru-RU" sz="1600" dirty="0">
                <a:cs typeface="Times New Roman" panose="02020603050405020304" pitchFamily="18" charset="0"/>
              </a:rPr>
              <a:t>– метод, согласно которому рассматриваются все возможные кортежи (т.е. каждый кортеж отношения R - в сочетании с каждым кортежем отношения S).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R[i]</a:t>
            </a:r>
            <a:r>
              <a:rPr lang="ru-RU" altLang="ru-RU" sz="1600" dirty="0">
                <a:cs typeface="Times New Roman" panose="02020603050405020304" pitchFamily="18" charset="0"/>
              </a:rPr>
              <a:t>,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S[j]</a:t>
            </a:r>
            <a:r>
              <a:rPr lang="ru-RU" altLang="ru-RU" sz="1600" dirty="0">
                <a:cs typeface="Times New Roman" panose="02020603050405020304" pitchFamily="18" charset="0"/>
              </a:rPr>
              <a:t> – кортежи отношений,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&lt;=m</a:t>
            </a:r>
            <a:r>
              <a:rPr lang="en-US" altLang="ru-RU" sz="1600" dirty="0">
                <a:cs typeface="Times New Roman" panose="02020603050405020304" pitchFamily="18" charset="0"/>
              </a:rPr>
              <a:t>,</a:t>
            </a:r>
            <a:r>
              <a:rPr lang="ru-RU" altLang="ru-RU" sz="1600" dirty="0">
                <a:cs typeface="Times New Roman" panose="02020603050405020304" pitchFamily="18" charset="0"/>
              </a:rPr>
              <a:t>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j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&lt;=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altLang="ru-RU" sz="1600" dirty="0">
                <a:cs typeface="Times New Roman" panose="02020603050405020304" pitchFamily="18" charset="0"/>
              </a:rPr>
              <a:t>. </a:t>
            </a:r>
            <a:br>
              <a:rPr lang="ru-RU" altLang="ru-RU" sz="1600" dirty="0">
                <a:cs typeface="Times New Roman" panose="02020603050405020304" pitchFamily="18" charset="0"/>
              </a:rPr>
            </a:b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</a:t>
            </a:r>
            <a:r>
              <a:rPr lang="ru-RU" altLang="ru-RU" sz="1600" dirty="0">
                <a:cs typeface="Times New Roman" panose="02020603050405020304" pitchFamily="18" charset="0"/>
              </a:rPr>
              <a:t> – общий атрибут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</a:t>
            </a:r>
            <a:r>
              <a:rPr lang="ru-RU" altLang="ru-RU" sz="1600" dirty="0">
                <a:cs typeface="Times New Roman" panose="02020603050405020304" pitchFamily="18" charset="0"/>
              </a:rPr>
              <a:t> и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</a:t>
            </a:r>
            <a:r>
              <a:rPr lang="ru-RU" altLang="ru-RU" sz="1600" dirty="0">
                <a:cs typeface="Times New Roman" panose="02020603050405020304" pitchFamily="18" charset="0"/>
              </a:rPr>
              <a:t>. </a:t>
            </a:r>
            <a:br>
              <a:rPr lang="ru-RU" altLang="ru-RU" sz="1600" dirty="0">
                <a:cs typeface="Times New Roman" panose="02020603050405020304" pitchFamily="18" charset="0"/>
              </a:rPr>
            </a:b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R[i]*S[j]</a:t>
            </a:r>
            <a:r>
              <a:rPr lang="ru-RU" altLang="ru-RU" sz="1600" dirty="0">
                <a:cs typeface="Times New Roman" panose="02020603050405020304" pitchFamily="18" charset="0"/>
              </a:rPr>
              <a:t> – результат  соединения кортежей.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Схема алгоритма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DO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i:=1 </a:t>
            </a:r>
            <a:r>
              <a:rPr lang="ru-RU" altLang="ru-RU" sz="16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m; 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внешний цикл</a:t>
            </a:r>
            <a:b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DO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j:=1 </a:t>
            </a:r>
            <a:r>
              <a:rPr lang="ru-RU" altLang="ru-RU" sz="16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n;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внутренний цикл</a:t>
            </a:r>
            <a:b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IF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R[i].C = S[j].C</a:t>
            </a:r>
            <a:r>
              <a:rPr lang="ru-RU" alt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br>
              <a:rPr lang="en-US" alt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THEN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1600" i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к результату добавить соединенный</a:t>
            </a:r>
            <a:r>
              <a:rPr lang="en-US" altLang="ru-RU" sz="1600" i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1600" i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кортеж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R[i]*S[j];</a:t>
            </a:r>
            <a:b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END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b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END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endParaRPr lang="en-US" altLang="ru-RU" sz="16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altLang="ru-RU" sz="16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altLang="ru-RU" sz="16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E2086-824C-3C6E-87A6-3D1F0B2E88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ru-RU" altLang="ru-RU" dirty="0"/>
              <a:t>Прямой Метод соединения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163905-989B-14BF-3B22-D6B36367A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altLang="ru-RU" dirty="0"/>
              <a:t>Реализация некоторых реляционных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134545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bldLvl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D8A7-511E-61F0-D2B0-199C2BF0F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E49549-4D4B-58A9-BF36-15A48BC3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354C715-FB14-D196-900C-1966F6C0E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2713572"/>
          </a:xfrm>
        </p:spPr>
        <p:txBody>
          <a:bodyPr numCol="2" spcCol="180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b="1" dirty="0">
                <a:cs typeface="Times New Roman" panose="02020603050405020304" pitchFamily="18" charset="0"/>
              </a:rPr>
              <a:t>Соединение многие-к-одному</a:t>
            </a:r>
            <a:br>
              <a:rPr lang="ru-RU" altLang="ru-RU" sz="1200" dirty="0">
                <a:cs typeface="Times New Roman" panose="02020603050405020304" pitchFamily="18" charset="0"/>
              </a:rPr>
            </a:br>
            <a:r>
              <a:rPr lang="ru-RU" altLang="ru-RU" sz="1200" dirty="0">
                <a:cs typeface="Times New Roman" panose="02020603050405020304" pitchFamily="18" charset="0"/>
              </a:rPr>
              <a:t>Кардинальное число результата точно совпадает с </a:t>
            </a:r>
            <a:r>
              <a:rPr lang="ru-RU" alt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</a:t>
            </a:r>
            <a:r>
              <a:rPr lang="ru-RU" altLang="ru-RU" sz="1200" dirty="0">
                <a:cs typeface="Times New Roman" panose="02020603050405020304" pitchFamily="18" charset="0"/>
              </a:rPr>
              <a:t> или </a:t>
            </a:r>
            <a:r>
              <a:rPr lang="ru-RU" alt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altLang="ru-RU" sz="1200" dirty="0">
                <a:cs typeface="Times New Roman" panose="02020603050405020304" pitchFamily="18" charset="0"/>
              </a:rPr>
              <a:t> в зависимости от того, какое отношение R или S представлено на стороне «многие».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b="1" dirty="0">
                <a:cs typeface="Times New Roman" panose="02020603050405020304" pitchFamily="18" charset="0"/>
              </a:rPr>
              <a:t>Соединение многие-ко-многим</a:t>
            </a:r>
            <a:br>
              <a:rPr lang="ru-RU" altLang="ru-RU" sz="1200" dirty="0">
                <a:cs typeface="Times New Roman" panose="02020603050405020304" pitchFamily="18" charset="0"/>
              </a:rPr>
            </a:br>
            <a:r>
              <a:rPr lang="ru-RU" altLang="ru-RU" sz="1200" dirty="0">
                <a:cs typeface="Times New Roman" panose="02020603050405020304" pitchFamily="18" charset="0"/>
              </a:rPr>
              <a:t>Пусть </a:t>
            </a:r>
            <a:r>
              <a:rPr lang="ru-RU" altLang="ru-RU" sz="12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dCR</a:t>
            </a:r>
            <a:r>
              <a:rPr lang="ru-RU" altLang="ru-RU" sz="1200" dirty="0">
                <a:cs typeface="Times New Roman" panose="02020603050405020304" pitchFamily="18" charset="0"/>
              </a:rPr>
              <a:t>, </a:t>
            </a:r>
            <a:r>
              <a:rPr lang="ru-RU" altLang="ru-RU" sz="12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dCS</a:t>
            </a:r>
            <a:r>
              <a:rPr lang="ru-RU" altLang="ru-RU" sz="1200" dirty="0">
                <a:cs typeface="Times New Roman" panose="02020603050405020304" pitchFamily="18" charset="0"/>
              </a:rPr>
              <a:t> – количество различных значений атрибута </a:t>
            </a:r>
            <a:r>
              <a:rPr lang="ru-RU" alt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</a:t>
            </a:r>
            <a:r>
              <a:rPr lang="ru-RU" altLang="ru-RU" sz="1200" dirty="0">
                <a:cs typeface="Times New Roman" panose="02020603050405020304" pitchFamily="18" charset="0"/>
              </a:rPr>
              <a:t> соответственно в отношении </a:t>
            </a:r>
            <a:r>
              <a:rPr lang="ru-RU" altLang="ru-RU" sz="1200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R</a:t>
            </a:r>
            <a:r>
              <a:rPr lang="ru-RU" altLang="ru-RU" sz="1200" dirty="0">
                <a:cs typeface="Times New Roman" panose="02020603050405020304" pitchFamily="18" charset="0"/>
              </a:rPr>
              <a:t> и </a:t>
            </a:r>
            <a:r>
              <a:rPr lang="ru-RU" altLang="ru-RU" sz="1200" dirty="0">
                <a:solidFill>
                  <a:schemeClr val="accent1">
                    <a:lumMod val="75000"/>
                  </a:schemeClr>
                </a:solidFill>
                <a:cs typeface="Times New Roman" panose="02020603050405020304" pitchFamily="18" charset="0"/>
              </a:rPr>
              <a:t>S</a:t>
            </a:r>
            <a:r>
              <a:rPr lang="ru-RU" altLang="ru-RU" sz="1200" dirty="0">
                <a:cs typeface="Times New Roman" panose="02020603050405020304" pitchFamily="18" charset="0"/>
              </a:rPr>
              <a:t>.</a:t>
            </a:r>
            <a:br>
              <a:rPr lang="ru-RU" altLang="ru-RU" sz="1200" dirty="0">
                <a:cs typeface="Times New Roman" panose="02020603050405020304" pitchFamily="18" charset="0"/>
              </a:rPr>
            </a:br>
            <a:r>
              <a:rPr lang="ru-RU" altLang="ru-RU" sz="1100" dirty="0">
                <a:cs typeface="Times New Roman" panose="02020603050405020304" pitchFamily="18" charset="0"/>
              </a:rPr>
              <a:t>Если предположить, что значение </a:t>
            </a:r>
            <a:r>
              <a:rPr lang="ru-RU" altLang="ru-RU" sz="1100" dirty="0" err="1">
                <a:cs typeface="Times New Roman" panose="02020603050405020304" pitchFamily="18" charset="0"/>
              </a:rPr>
              <a:t>атр</a:t>
            </a:r>
            <a:r>
              <a:rPr lang="ru-RU" altLang="ru-RU" sz="1100" dirty="0">
                <a:cs typeface="Times New Roman" panose="02020603050405020304" pitchFamily="18" charset="0"/>
              </a:rPr>
              <a:t>. </a:t>
            </a:r>
            <a:r>
              <a:rPr lang="ru-RU" altLang="ru-RU" sz="1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</a:t>
            </a:r>
            <a:r>
              <a:rPr lang="ru-RU" altLang="ru-RU" sz="1100" dirty="0">
                <a:cs typeface="Times New Roman" panose="02020603050405020304" pitchFamily="18" charset="0"/>
              </a:rPr>
              <a:t> распределено равномерно (встречается с равной вероятностью, что и в других атрибутах), то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100" dirty="0">
                <a:cs typeface="Times New Roman" panose="02020603050405020304" pitchFamily="18" charset="0"/>
              </a:rPr>
              <a:t>для  данного кортежа R существует </a:t>
            </a:r>
            <a:r>
              <a:rPr lang="ru-RU" altLang="ru-RU" sz="1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n/</a:t>
            </a:r>
            <a:r>
              <a:rPr lang="ru-RU" altLang="ru-RU" sz="11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dC</a:t>
            </a:r>
            <a:r>
              <a:rPr lang="ru-RU" altLang="ru-RU" sz="11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</a:t>
            </a:r>
            <a:r>
              <a:rPr lang="ru-RU" altLang="ru-RU" sz="1100" dirty="0">
                <a:cs typeface="Times New Roman" panose="02020603050405020304" pitchFamily="18" charset="0"/>
              </a:rPr>
              <a:t> кортежей из S, с равным значением этого атрибута в рассматриваемом кортеже из отношения R. Общее количество кортежей в соединении = </a:t>
            </a:r>
            <a:r>
              <a:rPr lang="ru-RU" altLang="ru-RU" sz="1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(m*n)/</a:t>
            </a:r>
            <a:r>
              <a:rPr lang="ru-RU" altLang="ru-RU" sz="11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dC</a:t>
            </a:r>
            <a:r>
              <a:rPr lang="ru-RU" altLang="ru-RU" sz="11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</a:t>
            </a:r>
            <a:r>
              <a:rPr lang="ru-RU" altLang="ru-RU" sz="1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altLang="ru-RU" sz="1100" dirty="0">
                <a:cs typeface="Times New Roman" panose="02020603050405020304" pitchFamily="18" charset="0"/>
              </a:rPr>
              <a:t>для  данного кортежа S существует </a:t>
            </a:r>
            <a:r>
              <a:rPr lang="ru-RU" altLang="ru-RU" sz="1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n/</a:t>
            </a:r>
            <a:r>
              <a:rPr lang="ru-RU" altLang="ru-RU" sz="11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dC</a:t>
            </a:r>
            <a:r>
              <a:rPr lang="ru-RU" altLang="ru-RU" sz="1100" dirty="0" err="1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</a:t>
            </a:r>
            <a:r>
              <a:rPr lang="ru-RU" altLang="ru-RU" sz="1100" dirty="0">
                <a:cs typeface="Times New Roman" panose="02020603050405020304" pitchFamily="18" charset="0"/>
              </a:rPr>
              <a:t> кортежей из R, с равным значением этого атрибута в рассматриваемом кортеже из отношения S. Общее количество кортежей в соединении = </a:t>
            </a:r>
            <a:r>
              <a:rPr lang="ru-RU" altLang="ru-RU" sz="1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(n*m)/</a:t>
            </a:r>
            <a:r>
              <a:rPr lang="ru-RU" altLang="ru-RU" sz="11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dC</a:t>
            </a:r>
            <a:r>
              <a:rPr lang="ru-RU" altLang="ru-RU" sz="1100" dirty="0" err="1">
                <a:solidFill>
                  <a:schemeClr val="accent2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</a:t>
            </a:r>
            <a:r>
              <a:rPr lang="ru-RU" altLang="ru-RU" sz="1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dirty="0">
                <a:cs typeface="Times New Roman" panose="02020603050405020304" pitchFamily="18" charset="0"/>
              </a:rPr>
              <a:t>то есть, в общем случае,  </a:t>
            </a:r>
            <a:r>
              <a:rPr lang="ru-RU" alt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(m*n)/</a:t>
            </a:r>
            <a:r>
              <a:rPr lang="en-US" altLang="ru-RU" sz="12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dCS</a:t>
            </a:r>
            <a:r>
              <a:rPr lang="ru-RU" alt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!= (n*m)/</a:t>
            </a:r>
            <a:r>
              <a:rPr lang="ru-RU" altLang="ru-RU" sz="12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dCR</a:t>
            </a: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altLang="ru-RU" sz="1200" b="1" dirty="0">
                <a:cs typeface="Times New Roman" panose="02020603050405020304" pitchFamily="18" charset="0"/>
              </a:rPr>
              <a:t>Вывод</a:t>
            </a:r>
            <a:r>
              <a:rPr lang="en-US" altLang="ru-RU" sz="1200" dirty="0">
                <a:cs typeface="Times New Roman" panose="02020603050405020304" pitchFamily="18" charset="0"/>
              </a:rPr>
              <a:t>:</a:t>
            </a:r>
            <a:r>
              <a:rPr lang="ru-RU" altLang="ru-RU" sz="1200" dirty="0">
                <a:cs typeface="Times New Roman" panose="02020603050405020304" pitchFamily="18" charset="0"/>
              </a:rPr>
              <a:t> В качестве внешнего отношения желательно использовать «меньшее» отношение (</a:t>
            </a:r>
            <a:r>
              <a:rPr lang="ru-RU" altLang="ru-RU" sz="1200" b="1" dirty="0">
                <a:cs typeface="Times New Roman" panose="02020603050405020304" pitchFamily="18" charset="0"/>
              </a:rPr>
              <a:t>с меньшим числом страниц</a:t>
            </a:r>
            <a:r>
              <a:rPr lang="ru-RU" altLang="ru-RU" sz="1200" dirty="0"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FA8803-13DB-ED1E-3018-3964BEAACD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ru-RU" altLang="ru-RU" dirty="0"/>
              <a:t>Прямой Метод соединения</a:t>
            </a:r>
            <a:r>
              <a:rPr lang="en-US" altLang="ru-RU" dirty="0"/>
              <a:t>. </a:t>
            </a:r>
            <a:r>
              <a:rPr lang="ru-RU" altLang="ru-RU" dirty="0"/>
              <a:t>Стоимость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526B5B-9B03-CAC4-3361-5B832EE5B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altLang="ru-RU" dirty="0"/>
              <a:t>Реализация некоторых реляционных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233286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bldLvl="2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B4DE-4C48-C472-D7C9-8A7CDF3B3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7EF147-2641-9B8E-38BC-2F881AC1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9E4B6A2-13BD-9293-69A1-A971B16B0A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2879714"/>
          </a:xfrm>
        </p:spPr>
        <p:txBody>
          <a:bodyPr numCol="2" spcCol="180000"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Преимущество поиска по индексу по сравнению с методом последовательного просмотра состоит в том, что благодаря наличию индекса X для данного кортежа внешнего отношения R возможен переход непосредственно к соответствующему кортежу внутреннего отношения S.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Предположим наличие индекса X, сформированного по атрибуту S.C</a:t>
            </a:r>
            <a:endParaRPr lang="en-US" altLang="ru-RU" sz="16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ru-RU" altLang="ru-RU" sz="1600" dirty="0"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Схема алгоритма соединения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DO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i := 1 </a:t>
            </a:r>
            <a:r>
              <a:rPr lang="ru-RU" altLang="ru-RU" sz="16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m 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Внешний цикл по </a:t>
            </a:r>
            <a:b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           // 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кортежам отношения R </a:t>
            </a:r>
            <a:b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Допустим, что имеется k записей</a:t>
            </a:r>
            <a:b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 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индекса</a:t>
            </a: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Х</a:t>
            </a: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со значением ключа</a:t>
            </a: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R[i].C</a:t>
            </a:r>
            <a:b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DO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j := 1 </a:t>
            </a:r>
            <a:r>
              <a:rPr lang="ru-RU" altLang="ru-RU" sz="16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k 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Внутренний цикл</a:t>
            </a:r>
            <a:b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altLang="ru-RU" sz="1600" i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добавить кортеж R[i] * S[j] к результату</a:t>
            </a:r>
            <a:b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END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b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END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2F06A-3ECB-78A0-F3BE-BB4C9C7DBE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ru-RU" altLang="ru-RU" dirty="0"/>
              <a:t>индексный Метод соединения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063069-E71B-3672-48F1-A6AF694B1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altLang="ru-RU" dirty="0"/>
              <a:t>Реализация некоторых реляционных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380845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F685-D6D4-E62B-E55F-784DB25A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FD0AEB-924F-4215-0355-52391D465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B22E5A-B83A-84F3-1F5E-F630F93B79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2713572"/>
          </a:xfrm>
        </p:spPr>
        <p:txBody>
          <a:bodyPr numCol="2" spcCol="180000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Общее количество операций чтения страниц для отношений R и S при наихудшем предположении, что каждая операция чтения кортежа из отношения S требует обращения к отдельной странице, составит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(m/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pR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 + (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mn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dCS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Но если кортежи отношения S хранятся в порядке значений атрибута соединения С, то количество операций чтения страницы сокращается до значения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(m/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pR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 + (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mn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dCS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)/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pS</a:t>
            </a:r>
            <a:r>
              <a:rPr lang="ru-RU" altLang="ru-RU" sz="1600" dirty="0"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Примеры </a:t>
            </a:r>
            <a:br>
              <a:rPr lang="ru-RU" altLang="ru-RU" sz="1600" dirty="0">
                <a:cs typeface="Times New Roman" panose="02020603050405020304" pitchFamily="18" charset="0"/>
              </a:rPr>
            </a:br>
            <a:r>
              <a:rPr lang="ru-RU" altLang="ru-RU" sz="1600" dirty="0">
                <a:cs typeface="Times New Roman" panose="02020603050405020304" pitchFamily="18" charset="0"/>
              </a:rPr>
              <a:t>предположим, что в отношениях R и S на странице помещается, соответственно, 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pR</a:t>
            </a:r>
            <a:r>
              <a:rPr lang="ru-RU" altLang="ru-RU" sz="1600" dirty="0">
                <a:cs typeface="Times New Roman" panose="02020603050405020304" pitchFamily="18" charset="0"/>
              </a:rPr>
              <a:t> и 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pS</a:t>
            </a:r>
            <a:r>
              <a:rPr lang="ru-RU" altLang="ru-RU" sz="1600" dirty="0">
                <a:cs typeface="Times New Roman" panose="02020603050405020304" pitchFamily="18" charset="0"/>
              </a:rPr>
              <a:t> кортежей (т.е. отношения занимают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m/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pR</a:t>
            </a:r>
            <a:r>
              <a:rPr lang="ru-RU" altLang="ru-RU" sz="1600" dirty="0">
                <a:latin typeface="+mn-lt"/>
                <a:cs typeface="Cascadia Code SemiBold" panose="020B0609020000020004" pitchFamily="49" charset="0"/>
              </a:rPr>
              <a:t> </a:t>
            </a:r>
            <a:r>
              <a:rPr lang="ru-RU" altLang="ru-RU" sz="1600" dirty="0">
                <a:cs typeface="Times New Roman" panose="02020603050405020304" pitchFamily="18" charset="0"/>
              </a:rPr>
              <a:t>и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n/p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</a:t>
            </a:r>
            <a:r>
              <a:rPr lang="ru-RU" altLang="ru-RU" sz="1600" dirty="0">
                <a:cs typeface="Times New Roman" panose="02020603050405020304" pitchFamily="18" charset="0"/>
              </a:rPr>
              <a:t> страниц, соответственно)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(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m=100, n=10000, 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pR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1, 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pS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10</a:t>
            </a:r>
            <a:r>
              <a:rPr lang="ru-RU" altLang="ru-RU" sz="1600" dirty="0">
                <a:cs typeface="Times New Roman" panose="02020603050405020304" pitchFamily="18" charset="0"/>
              </a:rPr>
              <a:t>), и предположив, что 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dCS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100</a:t>
            </a:r>
            <a:r>
              <a:rPr lang="ru-RU" altLang="ru-RU" sz="1600" dirty="0">
                <a:cs typeface="Times New Roman" panose="02020603050405020304" pitchFamily="18" charset="0"/>
              </a:rPr>
              <a:t>, получим в результате вычисления двух последних формул значения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10100</a:t>
            </a:r>
            <a:r>
              <a:rPr lang="ru-RU" altLang="ru-RU" sz="1600" dirty="0">
                <a:cs typeface="Times New Roman" panose="02020603050405020304" pitchFamily="18" charset="0"/>
              </a:rPr>
              <a:t> и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1100</a:t>
            </a:r>
            <a:r>
              <a:rPr lang="ru-RU" altLang="ru-RU" sz="1600" dirty="0">
                <a:cs typeface="Times New Roman" panose="02020603050405020304" pitchFamily="18" charset="0"/>
              </a:rPr>
              <a:t>, соответственно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Однако при оценке затрат следует учитывать и издержки, связанные с выполнением операций чтения в самом индексе X. Наихудшим является предположение, что при поиске соответствующих кортежей в отношении S для каждого кортежа в отношении R потребуется выполнить </a:t>
            </a:r>
            <a:r>
              <a:rPr lang="ru-RU" altLang="ru-RU" sz="1600" b="1" dirty="0">
                <a:cs typeface="Times New Roman" panose="02020603050405020304" pitchFamily="18" charset="0"/>
              </a:rPr>
              <a:t>непредвиденный поиск по индексу</a:t>
            </a:r>
            <a:r>
              <a:rPr lang="ru-RU" altLang="ru-RU" sz="1600" dirty="0">
                <a:cs typeface="Times New Roman" panose="02020603050405020304" pitchFamily="18" charset="0"/>
              </a:rPr>
              <a:t>, требующий чтения страницы для каждого уровня индекса.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668CB-4C5E-C087-A7F5-4783E11730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ru-RU" altLang="ru-RU" dirty="0"/>
              <a:t>индексный Метод соединения</a:t>
            </a:r>
            <a:r>
              <a:rPr lang="en-US" altLang="ru-RU" dirty="0"/>
              <a:t>. </a:t>
            </a:r>
            <a:r>
              <a:rPr lang="ru-RU" altLang="ru-RU" dirty="0"/>
              <a:t>Стоимость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D6223B-ECA1-A909-77E2-DD6FB5DEB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altLang="ru-RU" dirty="0"/>
              <a:t>Реализация некоторых реляционных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224913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bldLvl="2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75740-FEE0-BAF9-7C2E-858117E9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47CC2D-4FB9-C439-5708-115126EC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4DA4FE-937A-B943-0F86-6AA72765FB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2879714"/>
          </a:xfrm>
        </p:spPr>
        <p:txBody>
          <a:bodyPr numCol="1" spcCol="180000"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Поиск с помощью хэш-функции аналогичен поиску по индексу, за исключением того, что в качестве быстрого пути доступа к значениям атрибута соединения S.С внутреннего отношения S вместо индекса используется хэш-функция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Предполагается, что на основе атрибута S.C создана хэш-таблица Н</a:t>
            </a:r>
            <a:b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DO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i : = 1 </a:t>
            </a:r>
            <a:r>
              <a:rPr lang="ru-RU" altLang="ru-RU" sz="16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Внешний цикл</a:t>
            </a:r>
            <a:b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k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:= 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hash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(R[i].С);</a:t>
            </a:r>
            <a:b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Допустим, что нашлось h кортежей S[</a:t>
            </a: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], . ., S[h], хранимых в записях хэш-таблицы Н[</a:t>
            </a: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]</a:t>
            </a:r>
            <a:b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DO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j := 1 </a:t>
            </a:r>
            <a:r>
              <a:rPr lang="ru-RU" altLang="ru-RU" sz="16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h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r>
              <a:rPr lang="en-US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//</a:t>
            </a:r>
            <a:r>
              <a:rPr lang="ru-RU" alt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Внутренний цикл</a:t>
            </a:r>
            <a:b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IF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S[j].C = R[i]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 </a:t>
            </a: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THEN</a:t>
            </a:r>
            <a:b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ru-RU" altLang="ru-RU" sz="1600" i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добавить кортеж R[i] * S[j] к результату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b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END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b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END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Определение оценки затрат, связанных с выполнением данного метода,  в качестве упражнения.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40D00-5718-5ACA-BF78-53666E3A78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ru-RU" altLang="ru-RU" dirty="0"/>
              <a:t>Метод соединения</a:t>
            </a:r>
            <a:r>
              <a:rPr lang="en-US" altLang="ru-RU" dirty="0"/>
              <a:t> </a:t>
            </a:r>
            <a:r>
              <a:rPr lang="ru-RU" altLang="ru-RU" dirty="0"/>
              <a:t>на основе хэш-функции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257D2E-884D-0D7E-7319-DCBBADC10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altLang="ru-RU" dirty="0"/>
              <a:t>Реализация некоторых реляционных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328641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bldLvl="2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0A7EB-5486-E575-9684-B09548893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DC0FDF-8855-D1B9-A76A-31492C29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CC4B0BB-87DF-387C-ACFE-5622A9E6B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8542337" cy="2879714"/>
          </a:xfrm>
        </p:spPr>
        <p:txBody>
          <a:bodyPr numCol="1" spcCol="180000"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В методе слияния предполагается, что кортежи отношений R и S физически хранятся во внешней памяти в последовательности значений атрибута С, по которому выполняется соединение.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Два отношения можно будет просматривать в их физической последовательности, причем обе операции просмотра можно </a:t>
            </a:r>
            <a:r>
              <a:rPr lang="ru-RU" altLang="ru-RU" sz="1600" b="1" dirty="0">
                <a:cs typeface="Times New Roman" panose="02020603050405020304" pitchFamily="18" charset="0"/>
              </a:rPr>
              <a:t>синхронизировать</a:t>
            </a:r>
            <a:r>
              <a:rPr lang="ru-RU" altLang="ru-RU" sz="1600" dirty="0">
                <a:cs typeface="Times New Roman" panose="02020603050405020304" pitchFamily="18" charset="0"/>
              </a:rPr>
              <a:t>, в результате чего соединение может быть выполнено за один проход по данным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Это утверждение истинно, по крайней мере, для соединений типа "один ко многим", но </a:t>
            </a:r>
            <a:r>
              <a:rPr lang="ru-RU" altLang="ru-RU" sz="1600" b="1" dirty="0">
                <a:cs typeface="Times New Roman" panose="02020603050405020304" pitchFamily="18" charset="0"/>
              </a:rPr>
              <a:t>не всегда истинно </a:t>
            </a:r>
            <a:r>
              <a:rPr lang="ru-RU" altLang="ru-RU" sz="1600" dirty="0">
                <a:cs typeface="Times New Roman" panose="02020603050405020304" pitchFamily="18" charset="0"/>
              </a:rPr>
              <a:t>для соединений типа «многие ко многим»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Подобный метод будет оптимальным при соблюдении указанных допущений, поскольку каждая страница данных считывается всего один раз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altLang="ru-RU" sz="1600" dirty="0">
                <a:cs typeface="Times New Roman" panose="02020603050405020304" pitchFamily="18" charset="0"/>
              </a:rPr>
              <a:t>Операций чтения страниц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(m/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pR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 + (n/</a:t>
            </a:r>
            <a:r>
              <a:rPr lang="ru-RU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pS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49BC1-26F6-F7CC-9D85-5B82D7285B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13651" cy="383169"/>
          </a:xfrm>
        </p:spPr>
        <p:txBody>
          <a:bodyPr>
            <a:noAutofit/>
          </a:bodyPr>
          <a:lstStyle/>
          <a:p>
            <a:r>
              <a:rPr lang="ru-RU" altLang="ru-RU" dirty="0"/>
              <a:t>Метод соединения</a:t>
            </a:r>
            <a:r>
              <a:rPr lang="en-US" altLang="ru-RU" dirty="0"/>
              <a:t> </a:t>
            </a:r>
            <a:r>
              <a:rPr lang="ru-RU" altLang="ru-RU" dirty="0"/>
              <a:t>слиянием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7FB7D48-0DE2-1DB0-4537-C3BDDD41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altLang="ru-RU" dirty="0"/>
              <a:t>Реализация некоторых реляционных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346025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bldLvl="2"/>
    </p:bldLst>
  </p:timing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16875</TotalTime>
  <Words>3234</Words>
  <Application>Microsoft Office PowerPoint</Application>
  <PresentationFormat>On-screen Show (16:9)</PresentationFormat>
  <Paragraphs>338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Calibri</vt:lpstr>
      <vt:lpstr>Cambria Math</vt:lpstr>
      <vt:lpstr>Acrom Bold</vt:lpstr>
      <vt:lpstr>Acrom ExtraBold</vt:lpstr>
      <vt:lpstr>Cascadia Code SemiBold</vt:lpstr>
      <vt:lpstr>Acrom</vt:lpstr>
      <vt:lpstr>Arial</vt:lpstr>
      <vt:lpstr>Times New Roman</vt:lpstr>
      <vt:lpstr>NSU Content</vt:lpstr>
      <vt:lpstr>NSU Captions</vt:lpstr>
      <vt:lpstr>БАЗЫ ДАННЫХ</vt:lpstr>
      <vt:lpstr>PowerPoint Presentation</vt:lpstr>
      <vt:lpstr>Оптимизация запросов</vt:lpstr>
      <vt:lpstr>Оптимизация запросов</vt:lpstr>
      <vt:lpstr>Оптимизация запросов</vt:lpstr>
      <vt:lpstr>Оптимизация запросов</vt:lpstr>
      <vt:lpstr>Оптимизация запросов</vt:lpstr>
      <vt:lpstr>Оптимизация запросов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Оптимизация запросов. Стадии оптимизации </vt:lpstr>
      <vt:lpstr>Реализация некоторых реляционных операций</vt:lpstr>
      <vt:lpstr>Реализация некоторых реляционных операций</vt:lpstr>
      <vt:lpstr>Реализация некоторых реляционных операций</vt:lpstr>
      <vt:lpstr>Реализация некоторых реляционных операций</vt:lpstr>
      <vt:lpstr>Реализация некоторых реляционных операций</vt:lpstr>
      <vt:lpstr>Реализация некоторых реляционных операций</vt:lpstr>
      <vt:lpstr>Реализация некоторых реляционных операций</vt:lpstr>
      <vt:lpstr>Реализация некоторых реляционных операций</vt:lpstr>
      <vt:lpstr>Реализация некоторых реляционных операций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862</cp:revision>
  <dcterms:created xsi:type="dcterms:W3CDTF">2016-08-15T04:55:12Z</dcterms:created>
  <dcterms:modified xsi:type="dcterms:W3CDTF">2025-04-14T19:16:21Z</dcterms:modified>
</cp:coreProperties>
</file>