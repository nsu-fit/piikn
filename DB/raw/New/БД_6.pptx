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32"/>
  </p:notesMasterIdLst>
  <p:sldIdLst>
    <p:sldId id="256" r:id="rId2"/>
    <p:sldId id="273" r:id="rId3"/>
    <p:sldId id="276" r:id="rId4"/>
    <p:sldId id="274" r:id="rId5"/>
    <p:sldId id="290" r:id="rId6"/>
    <p:sldId id="291" r:id="rId7"/>
    <p:sldId id="275" r:id="rId8"/>
    <p:sldId id="259" r:id="rId9"/>
    <p:sldId id="282" r:id="rId10"/>
    <p:sldId id="257" r:id="rId11"/>
    <p:sldId id="287" r:id="rId12"/>
    <p:sldId id="288" r:id="rId13"/>
    <p:sldId id="286" r:id="rId14"/>
    <p:sldId id="258" r:id="rId15"/>
    <p:sldId id="278" r:id="rId16"/>
    <p:sldId id="283" r:id="rId17"/>
    <p:sldId id="277" r:id="rId18"/>
    <p:sldId id="281" r:id="rId19"/>
    <p:sldId id="271" r:id="rId20"/>
    <p:sldId id="261" r:id="rId21"/>
    <p:sldId id="272" r:id="rId22"/>
    <p:sldId id="262" r:id="rId23"/>
    <p:sldId id="285" r:id="rId24"/>
    <p:sldId id="284" r:id="rId25"/>
    <p:sldId id="264" r:id="rId26"/>
    <p:sldId id="265" r:id="rId27"/>
    <p:sldId id="266" r:id="rId28"/>
    <p:sldId id="267" r:id="rId29"/>
    <p:sldId id="268" r:id="rId30"/>
    <p:sldId id="269" r:id="rId31"/>
  </p:sldIdLst>
  <p:sldSz cx="9144000" cy="6858000" type="screen4x3"/>
  <p:notesSz cx="6858000" cy="9144000"/>
  <p:defaultTextStyle>
    <a:defPPr>
      <a:defRPr lang="ru-RU"/>
    </a:defPPr>
    <a:lvl1pPr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1pPr>
    <a:lvl2pPr marL="4572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2pPr>
    <a:lvl3pPr marL="9144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3pPr>
    <a:lvl4pPr marL="13716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4pPr>
    <a:lvl5pPr marL="18288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5pPr>
    <a:lvl6pPr marL="2286000" algn="l" defTabSz="914400" rtl="0" eaLnBrk="1" latinLnBrk="0" hangingPunct="1">
      <a:defRPr sz="2800" kern="1200">
        <a:solidFill>
          <a:schemeClr val="tx1"/>
        </a:solidFill>
        <a:latin typeface="Arial" charset="0"/>
        <a:ea typeface="+mn-ea"/>
        <a:cs typeface="Arial" charset="0"/>
      </a:defRPr>
    </a:lvl6pPr>
    <a:lvl7pPr marL="2743200" algn="l" defTabSz="914400" rtl="0" eaLnBrk="1" latinLnBrk="0" hangingPunct="1">
      <a:defRPr sz="2800" kern="1200">
        <a:solidFill>
          <a:schemeClr val="tx1"/>
        </a:solidFill>
        <a:latin typeface="Arial" charset="0"/>
        <a:ea typeface="+mn-ea"/>
        <a:cs typeface="Arial" charset="0"/>
      </a:defRPr>
    </a:lvl7pPr>
    <a:lvl8pPr marL="3200400" algn="l" defTabSz="914400" rtl="0" eaLnBrk="1" latinLnBrk="0" hangingPunct="1">
      <a:defRPr sz="2800" kern="1200">
        <a:solidFill>
          <a:schemeClr val="tx1"/>
        </a:solidFill>
        <a:latin typeface="Arial" charset="0"/>
        <a:ea typeface="+mn-ea"/>
        <a:cs typeface="Arial" charset="0"/>
      </a:defRPr>
    </a:lvl8pPr>
    <a:lvl9pPr marL="3657600" algn="l" defTabSz="914400" rtl="0" eaLnBrk="1" latinLnBrk="0" hangingPunct="1">
      <a:defRPr sz="28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3333FF"/>
    <a:srgbClr val="DE41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90" autoAdjust="0"/>
    <p:restoredTop sz="77952" autoAdjust="0"/>
  </p:normalViewPr>
  <p:slideViewPr>
    <p:cSldViewPr>
      <p:cViewPr varScale="1">
        <p:scale>
          <a:sx n="86" d="100"/>
          <a:sy n="86" d="100"/>
        </p:scale>
        <p:origin x="230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2" d="100"/>
          <a:sy n="42" d="100"/>
        </p:scale>
        <p:origin x="-1662" y="-10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959F35-7003-4CC1-B8CF-F115A18A7C7F}" type="datetimeFigureOut">
              <a:rPr lang="ru-RU" smtClean="0"/>
              <a:pPr/>
              <a:t>04.10.2023</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7A9172-A6D9-44C2-8D80-199B20AACF26}" type="slidenum">
              <a:rPr lang="ru-RU" smtClean="0"/>
              <a:pPr/>
              <a:t>‹#›</a:t>
            </a:fld>
            <a:endParaRPr lang="ru-RU"/>
          </a:p>
        </p:txBody>
      </p:sp>
    </p:spTree>
    <p:extLst>
      <p:ext uri="{BB962C8B-B14F-4D97-AF65-F5344CB8AC3E}">
        <p14:creationId xmlns:p14="http://schemas.microsoft.com/office/powerpoint/2010/main" val="364662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3" Type="http://schemas.openxmlformats.org/officeDocument/2006/relationships/hyperlink" Target="https://translated.turbopages.org/proxy_u/en-ru.ru.ec1d9768-643560d5-5098fbaa-74722d776562/https/en.wikipedia.org/wiki/Database_index" TargetMode="External"/><Relationship Id="rId18" Type="http://schemas.openxmlformats.org/officeDocument/2006/relationships/hyperlink" Target="https://translated.turbopages.org/proxy_u/en-ru.ru.ec1d9768-643560d5-5098fbaa-74722d776562/https/en.wikipedia.org/wiki/Data_definition_language" TargetMode="External"/><Relationship Id="rId26" Type="http://schemas.openxmlformats.org/officeDocument/2006/relationships/hyperlink" Target="https://translated.turbopages.org/proxy_u/en-ru.ru.ec1d9768-643560d5-5098fbaa-74722d776562/https/en.wikipedia.org/wiki/Relational_model" TargetMode="External"/><Relationship Id="rId39" Type="http://schemas.openxmlformats.org/officeDocument/2006/relationships/hyperlink" Target="https://translated.turbopages.org/proxy_u/en-ru.ru.ec1d9768-643560d5-5098fbaa-74722d776562/https/en.wikipedia.org/wiki/Ingres_(database)" TargetMode="External"/><Relationship Id="rId21" Type="http://schemas.openxmlformats.org/officeDocument/2006/relationships/hyperlink" Target="https://translated.turbopages.org/proxy_u/en-ru.ru.ec1d9768-643560d5-5098fbaa-74722d776562/https/en.wikipedia.org/wiki/Database_schema" TargetMode="External"/><Relationship Id="rId34" Type="http://schemas.openxmlformats.org/officeDocument/2006/relationships/hyperlink" Target="https://translated.turbopages.org/proxy_u/en-ru.ru.ec1d9768-643560d5-5098fbaa-74722d776562/https/en.wikipedia.org/wiki/Donald_D._Chamberlin" TargetMode="External"/><Relationship Id="rId42" Type="http://schemas.openxmlformats.org/officeDocument/2006/relationships/hyperlink" Target="https://translated.turbopages.org/proxy_u/en-ru.ru.ec1d9768-643560d5-5098fbaa-74722d776562/https/en.wikipedia.org/wiki/Hawker_Siddeley" TargetMode="External"/><Relationship Id="rId47" Type="http://schemas.openxmlformats.org/officeDocument/2006/relationships/hyperlink" Target="https://translated.turbopages.org/proxy_u/en-ru.ru.ec1d9768-643560d5-5098fbaa-74722d776562/https/en.wikipedia.org/wiki/Relational_database" TargetMode="External"/><Relationship Id="rId50" Type="http://schemas.openxmlformats.org/officeDocument/2006/relationships/hyperlink" Target="https://translated.turbopages.org/proxy_u/en-ru.ru.ec1d9768-643560d5-5098fbaa-74722d776562/https/en.wikipedia.org/wiki/Federal_government_of_the_United_States" TargetMode="External"/><Relationship Id="rId7" Type="http://schemas.openxmlformats.org/officeDocument/2006/relationships/hyperlink" Target="https://translated.turbopages.org/proxy_u/en-ru.ru.ec1d9768-643560d5-5098fbaa-74722d776562/https/en.wikipedia.org/wiki/Relational_database_management_system" TargetMode="External"/><Relationship Id="rId2" Type="http://schemas.openxmlformats.org/officeDocument/2006/relationships/slide" Target="../slides/slide2.xml"/><Relationship Id="rId16" Type="http://schemas.openxmlformats.org/officeDocument/2006/relationships/hyperlink" Target="https://translated.turbopages.org/proxy_u/en-ru.ru.ec1d9768-643560d5-5098fbaa-74722d776562/https/en.wikipedia.org/wiki/Sublanguage" TargetMode="External"/><Relationship Id="rId29" Type="http://schemas.openxmlformats.org/officeDocument/2006/relationships/hyperlink" Target="https://translated.turbopages.org/proxy_u/en-ru.ru.ec1d9768-643560d5-5098fbaa-74722d776562/https/en.wikipedia.org/wiki/American_National_Standards_Institute" TargetMode="External"/><Relationship Id="rId11" Type="http://schemas.openxmlformats.org/officeDocument/2006/relationships/hyperlink" Target="https://translated.turbopages.org/proxy_u/en-ru.ru.ec1d9768-643560d5-5098fbaa-74722d776562/https/en.wikipedia.org/wiki/ISAM" TargetMode="External"/><Relationship Id="rId24" Type="http://schemas.openxmlformats.org/officeDocument/2006/relationships/hyperlink" Target="https://translated.turbopages.org/proxy_u/en-ru.ru.ec1d9768-643560d5-5098fbaa-74722d776562/https/en.wikipedia.org/wiki/Procedural_programming" TargetMode="External"/><Relationship Id="rId32" Type="http://schemas.openxmlformats.org/officeDocument/2006/relationships/hyperlink" Target="https://translated.turbopages.org/proxy_u/en-ru.ru.ec1d9768-643560d5-5098fbaa-74722d776562/https/en.wikipedia.org/w/index.php?title=SQL&amp;action=edit&amp;section=1" TargetMode="External"/><Relationship Id="rId37" Type="http://schemas.openxmlformats.org/officeDocument/2006/relationships/hyperlink" Target="https://translated.turbopages.org/proxy_u/en-ru.ru.ec1d9768-643560d5-5098fbaa-74722d776562/https/en.wikipedia.org/wiki/IBM_Almaden_Research_Center" TargetMode="External"/><Relationship Id="rId40" Type="http://schemas.openxmlformats.org/officeDocument/2006/relationships/hyperlink" Target="https://translated.turbopages.org/proxy_u/en-ru.ru.ec1d9768-643560d5-5098fbaa-74722d776562/https/en.wikipedia.org/wiki/Trademark" TargetMode="External"/><Relationship Id="rId45" Type="http://schemas.openxmlformats.org/officeDocument/2006/relationships/hyperlink" Target="https://translated.turbopages.org/proxy_u/en-ru.ru.ec1d9768-643560d5-5098fbaa-74722d776562/https/en.wikipedia.org/wiki/IBM_Db2" TargetMode="External"/><Relationship Id="rId5" Type="http://schemas.openxmlformats.org/officeDocument/2006/relationships/hyperlink" Target="https://translated.turbopages.org/proxy_u/en-ru.ru.ec1d9768-643560d5-5098fbaa-74722d776562/https/en.wikipedia.org/wiki/SQL" TargetMode="External"/><Relationship Id="rId15" Type="http://schemas.openxmlformats.org/officeDocument/2006/relationships/hyperlink" Target="https://translated.turbopages.org/proxy_u/en-ru.ru.ec1d9768-643560d5-5098fbaa-74722d776562/https/en.wikipedia.org/wiki/Tuple_relational_calculus" TargetMode="External"/><Relationship Id="rId23" Type="http://schemas.openxmlformats.org/officeDocument/2006/relationships/hyperlink" Target="https://translated.turbopages.org/proxy_u/en-ru.ru.ec1d9768-643560d5-5098fbaa-74722d776562/https/en.wikipedia.org/wiki/4GL" TargetMode="External"/><Relationship Id="rId28" Type="http://schemas.openxmlformats.org/officeDocument/2006/relationships/hyperlink" Target="https://translated.turbopages.org/proxy_u/en-ru.ru.ec1d9768-643560d5-5098fbaa-74722d776562/https/en.wikipedia.org/wiki/Technical_standard" TargetMode="External"/><Relationship Id="rId36" Type="http://schemas.openxmlformats.org/officeDocument/2006/relationships/hyperlink" Target="https://translated.turbopages.org/proxy_u/en-ru.ru.ec1d9768-643560d5-5098fbaa-74722d776562/https/en.wikipedia.org/wiki/IBM_System_R" TargetMode="External"/><Relationship Id="rId49" Type="http://schemas.openxmlformats.org/officeDocument/2006/relationships/hyperlink" Target="https://translated.turbopages.org/proxy_u/en-ru.ru.ec1d9768-643560d5-5098fbaa-74722d776562/https/en.wikipedia.org/wiki/Central_Intelligence_Agency" TargetMode="External"/><Relationship Id="rId10" Type="http://schemas.openxmlformats.org/officeDocument/2006/relationships/hyperlink" Target="https://translated.turbopages.org/proxy_u/en-ru.ru.ec1d9768-643560d5-5098fbaa-74722d776562/https/en.wikipedia.org/wiki/API" TargetMode="External"/><Relationship Id="rId19" Type="http://schemas.openxmlformats.org/officeDocument/2006/relationships/hyperlink" Target="https://translated.turbopages.org/proxy_u/en-ru.ru.ec1d9768-643560d5-5098fbaa-74722d776562/https/en.wikipedia.org/wiki/Data_control_language" TargetMode="External"/><Relationship Id="rId31" Type="http://schemas.openxmlformats.org/officeDocument/2006/relationships/hyperlink" Target="https://translated.turbopages.org/proxy_u/en-ru.ru.ec1d9768-643560d5-5098fbaa-74722d776562/https/en.wikipedia.org/wiki/Database" TargetMode="External"/><Relationship Id="rId44" Type="http://schemas.openxmlformats.org/officeDocument/2006/relationships/hyperlink" Target="https://translated.turbopages.org/proxy_u/en-ru.ru.ec1d9768-643560d5-5098fbaa-74722d776562/https/en.wikipedia.org/wiki/IBM_SQL/DS" TargetMode="External"/><Relationship Id="rId52" Type="http://schemas.openxmlformats.org/officeDocument/2006/relationships/hyperlink" Target="https://translated.turbopages.org/proxy_u/en-ru.ru.ec1d9768-643560d5-5098fbaa-74722d776562/https/en.wikipedia.org/wiki/VAX" TargetMode="External"/><Relationship Id="rId4" Type="http://schemas.openxmlformats.org/officeDocument/2006/relationships/hyperlink" Target="https://upload.wikimedia.org/wikipedia/commons/5/5f/En-us-SQL.ogg" TargetMode="External"/><Relationship Id="rId9" Type="http://schemas.openxmlformats.org/officeDocument/2006/relationships/hyperlink" Target="https://translated.turbopages.org/proxy_u/en-ru.ru.ec1d9768-643560d5-5098fbaa-74722d776562/https/en.wikipedia.org/wiki/Data_model" TargetMode="External"/><Relationship Id="rId14" Type="http://schemas.openxmlformats.org/officeDocument/2006/relationships/hyperlink" Target="https://translated.turbopages.org/proxy_u/en-ru.ru.ec1d9768-643560d5-5098fbaa-74722d776562/https/en.wikipedia.org/wiki/Relational_algebra" TargetMode="External"/><Relationship Id="rId22" Type="http://schemas.openxmlformats.org/officeDocument/2006/relationships/hyperlink" Target="https://translated.turbopages.org/proxy_u/en-ru.ru.ec1d9768-643560d5-5098fbaa-74722d776562/https/en.wikipedia.org/wiki/Declarative_programming" TargetMode="External"/><Relationship Id="rId27" Type="http://schemas.openxmlformats.org/officeDocument/2006/relationships/hyperlink" Target="https://translated.turbopages.org/proxy_u/en-ru.ru.ec1d9768-643560d5-5098fbaa-74722d776562/https/en.wikipedia.org/wiki/Codd's_12_rules" TargetMode="External"/><Relationship Id="rId30" Type="http://schemas.openxmlformats.org/officeDocument/2006/relationships/hyperlink" Target="https://translated.turbopages.org/proxy_u/en-ru.ru.ec1d9768-643560d5-5098fbaa-74722d776562/https/en.wikipedia.org/wiki/International_Organization_for_Standardization" TargetMode="External"/><Relationship Id="rId35" Type="http://schemas.openxmlformats.org/officeDocument/2006/relationships/hyperlink" Target="https://translated.turbopages.org/proxy_u/en-ru.ru.ec1d9768-643560d5-5098fbaa-74722d776562/https/en.wikipedia.org/wiki/Raymond_F._Boyce" TargetMode="External"/><Relationship Id="rId43" Type="http://schemas.openxmlformats.org/officeDocument/2006/relationships/hyperlink" Target="https://translated.turbopages.org/proxy_u/en-ru.ru.ec1d9768-643560d5-5098fbaa-74722d776562/https/en.wikipedia.org/wiki/IBM_System/38" TargetMode="External"/><Relationship Id="rId48" Type="http://schemas.openxmlformats.org/officeDocument/2006/relationships/hyperlink" Target="https://translated.turbopages.org/proxy_u/en-ru.ru.ec1d9768-643560d5-5098fbaa-74722d776562/https/en.wikipedia.org/wiki/United_States_Navy" TargetMode="External"/><Relationship Id="rId8" Type="http://schemas.openxmlformats.org/officeDocument/2006/relationships/hyperlink" Target="https://translated.turbopages.org/proxy_u/en-ru.ru.ec1d9768-643560d5-5098fbaa-74722d776562/https/en.wikipedia.org/wiki/Relational_data_stream_management_system" TargetMode="External"/><Relationship Id="rId51" Type="http://schemas.openxmlformats.org/officeDocument/2006/relationships/hyperlink" Target="https://translated.turbopages.org/proxy_u/en-ru.ru.ec1d9768-643560d5-5098fbaa-74722d776562/https/en.wikipedia.org/wiki/Oracle_Database" TargetMode="External"/><Relationship Id="rId3" Type="http://schemas.openxmlformats.org/officeDocument/2006/relationships/hyperlink" Target="https://translated.turbopages.org/proxy_u/en-ru.ru.ec1d9768-643560d5-5098fbaa-74722d776562/https/en.wikipedia.org/wiki/Help:IPA/English" TargetMode="External"/><Relationship Id="rId12" Type="http://schemas.openxmlformats.org/officeDocument/2006/relationships/hyperlink" Target="https://translated.turbopages.org/proxy_u/en-ru.ru.ec1d9768-643560d5-5098fbaa-74722d776562/https/en.wikipedia.org/wiki/VSAM" TargetMode="External"/><Relationship Id="rId17" Type="http://schemas.openxmlformats.org/officeDocument/2006/relationships/hyperlink" Target="https://translated.turbopages.org/proxy_u/en-ru.ru.ec1d9768-643560d5-5098fbaa-74722d776562/https/en.wikipedia.org/wiki/Data_query_language" TargetMode="External"/><Relationship Id="rId25" Type="http://schemas.openxmlformats.org/officeDocument/2006/relationships/hyperlink" Target="https://translated.turbopages.org/proxy_u/en-ru.ru.ec1d9768-643560d5-5098fbaa-74722d776562/https/en.wikipedia.org/wiki/Edgar_F._Codd" TargetMode="External"/><Relationship Id="rId33" Type="http://schemas.openxmlformats.org/officeDocument/2006/relationships/hyperlink" Target="https://translated.turbopages.org/proxy_u/en-ru.ru.ec1d9768-643560d5-5098fbaa-74722d776562/https/en.wikipedia.org/wiki/IBM" TargetMode="External"/><Relationship Id="rId38" Type="http://schemas.openxmlformats.org/officeDocument/2006/relationships/hyperlink" Target="https://translated.turbopages.org/proxy_u/en-ru.ru.ec1d9768-643560d5-5098fbaa-74722d776562/https/en.wikipedia.org/wiki/QUEL_query_languages" TargetMode="External"/><Relationship Id="rId46" Type="http://schemas.openxmlformats.org/officeDocument/2006/relationships/hyperlink" Target="https://translated.turbopages.org/proxy_u/en-ru.ru.ec1d9768-643560d5-5098fbaa-74722d776562/https/en.wikipedia.org/wiki/Oracle_Corporation" TargetMode="External"/><Relationship Id="rId20" Type="http://schemas.openxmlformats.org/officeDocument/2006/relationships/hyperlink" Target="https://translated.turbopages.org/proxy_u/en-ru.ru.ec1d9768-643560d5-5098fbaa-74722d776562/https/en.wikipedia.org/wiki/Data_manipulation_language" TargetMode="External"/><Relationship Id="rId41" Type="http://schemas.openxmlformats.org/officeDocument/2006/relationships/hyperlink" Target="https://translated.turbopages.org/proxy_u/en-ru.ru.ec1d9768-643560d5-5098fbaa-74722d776562/https/en.wikipedia.org/wiki/United_Kingdom" TargetMode="External"/><Relationship Id="rId1" Type="http://schemas.openxmlformats.org/officeDocument/2006/relationships/notesMaster" Target="../notesMasters/notesMaster1.xml"/><Relationship Id="rId6" Type="http://schemas.openxmlformats.org/officeDocument/2006/relationships/hyperlink" Target="https://translated.turbopages.org/proxy_u/en-ru.ru.ec1d9768-643560d5-5098fbaa-74722d776562/https/en.wikipedia.org/wiki/Domain-specific_language" TargetMode="Externa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translated.turbopages.org/proxy_u/en-ru.ru.ec1d9768-643560d5-5098fbaa-74722d776562/https/en.wikipedia.org/wiki/Fortran" TargetMode="External"/><Relationship Id="rId13" Type="http://schemas.openxmlformats.org/officeDocument/2006/relationships/hyperlink" Target="https://translated.turbopages.org/proxy_u/en-ru.ru.ec1d9768-643560d5-5098fbaa-74722d776562/https/en.wikipedia.org/wiki/SQL/MED" TargetMode="External"/><Relationship Id="rId18" Type="http://schemas.openxmlformats.org/officeDocument/2006/relationships/hyperlink" Target="https://translated.turbopages.org/proxy_u/en-ru.ru.ec1d9768-643560d5-5098fbaa-74722d776562/https/en.wikipedia.org/wiki/Wikipedia:Citation_needed" TargetMode="External"/><Relationship Id="rId3" Type="http://schemas.openxmlformats.org/officeDocument/2006/relationships/hyperlink" Target="https://translated.turbopages.org/proxy_u/en-ru.ru.ec1d9768-643560d5-5098fbaa-74722d776562/https/en.wikipedia.org/w/index.php?title=SQL&amp;action=edit&amp;section=9" TargetMode="External"/><Relationship Id="rId21" Type="http://schemas.openxmlformats.org/officeDocument/2006/relationships/hyperlink" Target="https://translated.turbopages.org/proxy_u/en-ru.ru.ec1d9768-643560d5-5098fbaa-74722d776562/https/en.wikipedia.org/wiki/SQL/XML" TargetMode="External"/><Relationship Id="rId7" Type="http://schemas.openxmlformats.org/officeDocument/2006/relationships/hyperlink" Target="https://translated.turbopages.org/proxy_u/en-ru.ru.ec1d9768-643560d5-5098fbaa-74722d776562/https/en.wikipedia.org/wiki/COBOL" TargetMode="External"/><Relationship Id="rId12" Type="http://schemas.openxmlformats.org/officeDocument/2006/relationships/hyperlink" Target="https://translated.turbopages.org/proxy_u/en-ru.ru.ec1d9768-643560d5-5098fbaa-74722d776562/https/en.wikipedia.org/wiki/SQL/PSM" TargetMode="External"/><Relationship Id="rId17" Type="http://schemas.openxmlformats.org/officeDocument/2006/relationships/hyperlink" Target="https://translated.turbopages.org/proxy_u/en-ru.ru.ec1d9768-643560d5-5098fbaa-74722d776562/https/en.wikipedia.org/wiki/API" TargetMode="External"/><Relationship Id="rId2" Type="http://schemas.openxmlformats.org/officeDocument/2006/relationships/slide" Target="../slides/slide3.xml"/><Relationship Id="rId16" Type="http://schemas.openxmlformats.org/officeDocument/2006/relationships/hyperlink" Target="https://translated.turbopages.org/proxy_u/en-ru.ru.ec1d9768-643560d5-5098fbaa-74722d776562/https/en.wikipedia.org/wiki/JDBC" TargetMode="External"/><Relationship Id="rId20" Type="http://schemas.openxmlformats.org/officeDocument/2006/relationships/hyperlink" Target="https://translated.turbopages.org/proxy_u/en-ru.ru.ec1d9768-643560d5-5098fbaa-74722d776562/https/en.wikipedia.org/wiki/SQL/JRT" TargetMode="External"/><Relationship Id="rId1" Type="http://schemas.openxmlformats.org/officeDocument/2006/relationships/notesMaster" Target="../notesMasters/notesMaster1.xml"/><Relationship Id="rId6" Type="http://schemas.openxmlformats.org/officeDocument/2006/relationships/hyperlink" Target="https://translated.turbopages.org/proxy_u/en-ru.ru.ec1d9768-643560d5-5098fbaa-74722d776562/https/en.wikipedia.org/wiki/C++" TargetMode="External"/><Relationship Id="rId11" Type="http://schemas.openxmlformats.org/officeDocument/2006/relationships/hyperlink" Target="https://translated.turbopages.org/proxy_u/en-ru.ru.ec1d9768-643560d5-5098fbaa-74722d776562/https/en.wikipedia.org/wiki/Open_Database_Connectivity" TargetMode="External"/><Relationship Id="rId5" Type="http://schemas.openxmlformats.org/officeDocument/2006/relationships/hyperlink" Target="https://translated.turbopages.org/proxy_u/en-ru.ru.ec1d9768-643560d5-5098fbaa-74722d776562/https/en.wikipedia.org/wiki/SQL/CLI" TargetMode="External"/><Relationship Id="rId15" Type="http://schemas.openxmlformats.org/officeDocument/2006/relationships/hyperlink" Target="https://translated.turbopages.org/proxy_u/en-ru.ru.ec1d9768-643560d5-5098fbaa-74722d776562/https/en.wikipedia.org/wiki/SQLJ" TargetMode="External"/><Relationship Id="rId10" Type="http://schemas.openxmlformats.org/officeDocument/2006/relationships/hyperlink" Target="https://translated.turbopages.org/proxy_u/en-ru.ru.ec1d9768-643560d5-5098fbaa-74722d776562/https/en.wikipedia.org/wiki/Pascal_(programming_language)" TargetMode="External"/><Relationship Id="rId19" Type="http://schemas.openxmlformats.org/officeDocument/2006/relationships/hyperlink" Target="https://translated.turbopages.org/proxy_u/en-ru.ru.ec1d9768-643560d5-5098fbaa-74722d776562/https/en.wikipedia.org/wiki/SQL/Schemata" TargetMode="External"/><Relationship Id="rId4" Type="http://schemas.openxmlformats.org/officeDocument/2006/relationships/hyperlink" Target="https://translated.turbopages.org/proxy_u/en-ru.ru.ec1d9768-643560d5-5098fbaa-74722d776562/https/en.wikipedia.org/wiki/SQL" TargetMode="External"/><Relationship Id="rId9" Type="http://schemas.openxmlformats.org/officeDocument/2006/relationships/hyperlink" Target="https://translated.turbopages.org/proxy_u/en-ru.ru.ec1d9768-643560d5-5098fbaa-74722d776562/https/en.wikipedia.org/wiki/MUMPS" TargetMode="External"/><Relationship Id="rId14" Type="http://schemas.openxmlformats.org/officeDocument/2006/relationships/hyperlink" Target="https://translated.turbopages.org/proxy_u/en-ru.ru.ec1d9768-643560d5-5098fbaa-74722d776562/https/en.wikipedia.org/wiki/SQL/OLB"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ru.wikipedia.org/wiki/%D0%98%D0%BD%D1%84%D0%BE%D1%80%D0%BC%D0%B0%D1%86%D0%B8%D0%BE%D0%BD%D0%BD%D1%8B%D0%B5_%D1%82%D0%B5%D1%85%D0%BD%D0%BE%D0%BB%D0%BE%D0%B3%D0%B8%D0%B8"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ru.wikipedia.org/wiki/%D0%9D%D0%B0%D1%86%D0%B8%D0%BE%D0%BD%D0%B0%D0%BB%D1%8C%D0%BD%D1%8B%D0%B9_%D0%B8%D0%BD%D1%81%D1%82%D0%B8%D1%82%D1%83%D1%82_%D1%81%D1%82%D0%B0%D0%BD%D0%B4%D0%B0%D1%80%D1%82%D0%BE%D0%B2_%D0%B8_%D1%82%D0%B5%D1%85%D0%BD%D0%BE%D0%BB%D0%BE%D0%B3%D0%B8%D0%B9" TargetMode="External"/><Relationship Id="rId4" Type="http://schemas.openxmlformats.org/officeDocument/2006/relationships/hyperlink" Target="https://ru.wikipedia.org/wiki/1996_%D0%B3%D0%BE%D0%B4"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ru.wikipedia.org/wiki/%D0%94%D0%BE%D0%BA%D1%83%D0%BC%D0%B5%D0%BD%D1%82%D0%BE%D0%BE%D0%B1%D0%BE%D1%80%D0%BE%D1%82" TargetMode="External"/><Relationship Id="rId7" Type="http://schemas.openxmlformats.org/officeDocument/2006/relationships/hyperlink" Target="https://ru.wikipedia.org/wiki/DB2"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ru.wikipedia.org/wiki/Microsoft_SQL_Server" TargetMode="External"/><Relationship Id="rId5" Type="http://schemas.openxmlformats.org/officeDocument/2006/relationships/hyperlink" Target="https://ru.wikipedia.org/wiki/Oracle_Database" TargetMode="External"/><Relationship Id="rId4" Type="http://schemas.openxmlformats.org/officeDocument/2006/relationships/hyperlink" Target="https://ru.wikipedia.org/w/index.php?title=Documentum&amp;action=edit&amp;redlink=1" TargetMode="Externa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ru.wikipedia.org/w/index.php?title=%D0%A2%D1%80%D0%B5%D1%82%D0%B8%D0%B9_%D0%BC%D0%B0%D0%BD%D0%B8%D1%84%D0%B5%D1%81%D1%82&amp;action=edit&amp;redlink=1" TargetMode="External"/><Relationship Id="rId3" Type="http://schemas.openxmlformats.org/officeDocument/2006/relationships/hyperlink" Target="https://ru.wikipedia.org/wiki/%D0%9A%D0%BE%D0%B4%D0%B4,_%D0%AD%D0%B4%D0%B3%D0%B0%D1%80" TargetMode="External"/><Relationship Id="rId7" Type="http://schemas.openxmlformats.org/officeDocument/2006/relationships/hyperlink" Target="https://ru.wikipedia.org/w/index.php?title=%D0%94%D0%B0%D1%80%D0%B2%D0%B5%D0%BD,_%D0%A5%D1%8C%D1%8E&amp;action=edit&amp;redlink=1" TargetMode="External"/><Relationship Id="rId12" Type="http://schemas.openxmlformats.org/officeDocument/2006/relationships/hyperlink" Target="https://ru.wikipedia.org/wiki/Microsoft_SQL_Server"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ru.wikipedia.org/wiki/NULL_(SQL)" TargetMode="External"/><Relationship Id="rId11" Type="http://schemas.openxmlformats.org/officeDocument/2006/relationships/hyperlink" Target="https://ru.wikipedia.org/wiki/DB2" TargetMode="External"/><Relationship Id="rId5" Type="http://schemas.openxmlformats.org/officeDocument/2006/relationships/hyperlink" Target="https://ru.wikipedia.org/wiki/SQL" TargetMode="External"/><Relationship Id="rId10" Type="http://schemas.openxmlformats.org/officeDocument/2006/relationships/hyperlink" Target="https://ru.wikipedia.org/wiki/Oracle_Database" TargetMode="External"/><Relationship Id="rId4" Type="http://schemas.openxmlformats.org/officeDocument/2006/relationships/hyperlink" Target="https://ru.wikipedia.org/wiki/%D0%94%D0%B5%D0%B9%D1%82,_%D0%9A%D1%80%D0%B8%D1%81%D1%82%D0%BE%D1%84%D0%B5%D1%80" TargetMode="External"/><Relationship Id="rId9" Type="http://schemas.openxmlformats.org/officeDocument/2006/relationships/hyperlink" Target="https://ru.wikipedia.org/wiki/Tutorial_D"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a:t>Начальная страница</a:t>
            </a:r>
          </a:p>
        </p:txBody>
      </p:sp>
      <p:sp>
        <p:nvSpPr>
          <p:cNvPr id="4" name="Номер слайда 3"/>
          <p:cNvSpPr>
            <a:spLocks noGrp="1"/>
          </p:cNvSpPr>
          <p:nvPr>
            <p:ph type="sldNum" sz="quarter" idx="10"/>
          </p:nvPr>
        </p:nvSpPr>
        <p:spPr/>
        <p:txBody>
          <a:bodyPr/>
          <a:lstStyle/>
          <a:p>
            <a:fld id="{9F7A9172-A6D9-44C2-8D80-199B20AACF26}" type="slidenum">
              <a:rPr lang="ru-RU" smtClean="0"/>
              <a:pPr/>
              <a:t>1</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7500" lnSpcReduction="20000"/>
          </a:bodyPr>
          <a:lstStyle/>
          <a:p>
            <a:br>
              <a:rPr lang="ru-RU" b="0" dirty="0">
                <a:solidFill>
                  <a:srgbClr val="000000"/>
                </a:solidFill>
                <a:effectLst/>
                <a:latin typeface="Linux Libertine"/>
              </a:rPr>
            </a:br>
            <a:r>
              <a:rPr lang="ru-RU" b="0" dirty="0">
                <a:solidFill>
                  <a:srgbClr val="000000"/>
                </a:solidFill>
                <a:effectLst/>
                <a:latin typeface="Linux Libertine"/>
              </a:rPr>
              <a:t>SQL</a:t>
            </a:r>
          </a:p>
          <a:p>
            <a:pPr algn="l"/>
            <a:r>
              <a:rPr lang="ru-RU" b="0" i="0" dirty="0">
                <a:solidFill>
                  <a:srgbClr val="202122"/>
                </a:solidFill>
                <a:effectLst/>
                <a:latin typeface="Arial" panose="020B0604020202020204" pitchFamily="34" charset="0"/>
              </a:rPr>
              <a:t>Материал из Википедии — свободной энциклопедии</a:t>
            </a:r>
          </a:p>
          <a:p>
            <a:pPr algn="l" rtl="0"/>
            <a:r>
              <a:rPr lang="ru-RU" b="1" i="0" dirty="0">
                <a:solidFill>
                  <a:srgbClr val="202122"/>
                </a:solidFill>
                <a:effectLst/>
                <a:latin typeface="Arial" panose="020B0604020202020204" pitchFamily="34" charset="0"/>
              </a:rPr>
              <a:t>Язык структурированных запросов</a:t>
            </a:r>
            <a:r>
              <a:rPr lang="ru-RU" b="0" i="0" dirty="0">
                <a:solidFill>
                  <a:srgbClr val="202122"/>
                </a:solidFill>
                <a:effectLst/>
                <a:latin typeface="Arial" panose="020B0604020202020204" pitchFamily="34" charset="0"/>
              </a:rPr>
              <a:t>, сокращенно </a:t>
            </a:r>
            <a:r>
              <a:rPr lang="ru-RU" b="1" i="0" dirty="0">
                <a:solidFill>
                  <a:srgbClr val="202122"/>
                </a:solidFill>
                <a:effectLst/>
                <a:latin typeface="Arial" panose="020B0604020202020204" pitchFamily="34" charset="0"/>
              </a:rPr>
              <a:t>по SQL</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3" tooltip="Справка:IPA/Русский"/>
              </a:rPr>
              <a:t>/ˌ</a:t>
            </a:r>
            <a:r>
              <a:rPr lang="ru-RU" b="0" i="0" u="none" strike="noStrike" dirty="0" err="1">
                <a:solidFill>
                  <a:srgbClr val="3366CC"/>
                </a:solidFill>
                <a:effectLst/>
                <a:latin typeface="Arial" panose="020B0604020202020204" pitchFamily="34" charset="0"/>
                <a:hlinkClick r:id="rId3" tooltip="Справка:IPA/Русский"/>
              </a:rPr>
              <a:t>ɛсˌкju</a:t>
            </a:r>
            <a:r>
              <a:rPr lang="ru-RU" b="0" i="0" u="none" strike="noStrike" dirty="0">
                <a:solidFill>
                  <a:srgbClr val="3366CC"/>
                </a:solidFill>
                <a:effectLst/>
                <a:latin typeface="Arial" panose="020B0604020202020204" pitchFamily="34" charset="0"/>
                <a:hlinkClick r:id="rId3" tooltip="Справка:IPA/Русский"/>
              </a:rPr>
              <a:t>ːˈ</a:t>
            </a:r>
            <a:r>
              <a:rPr lang="ru-RU" b="0" i="0" u="none" strike="noStrike" dirty="0" err="1">
                <a:solidFill>
                  <a:srgbClr val="3366CC"/>
                </a:solidFill>
                <a:effectLst/>
                <a:latin typeface="Arial" panose="020B0604020202020204" pitchFamily="34" charset="0"/>
                <a:hlinkClick r:id="rId3" tooltip="Справка:IPA/Русский"/>
              </a:rPr>
              <a:t>ɛл</a:t>
            </a:r>
            <a:r>
              <a:rPr lang="ru-RU" b="0" i="0" u="none" strike="noStrike" dirty="0">
                <a:solidFill>
                  <a:srgbClr val="3366CC"/>
                </a:solidFill>
                <a:effectLst/>
                <a:latin typeface="Arial" panose="020B0604020202020204" pitchFamily="34" charset="0"/>
                <a:hlinkClick r:id="rId3" tooltip="Справка:IPA/Русский"/>
              </a:rPr>
              <a:t>/</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4" tooltip="Ru-us-SQL.ogg"/>
              </a:rPr>
              <a:t>слушать</a:t>
            </a:r>
            <a:r>
              <a:rPr lang="ru-RU" b="0" i="0" dirty="0">
                <a:solidFill>
                  <a:srgbClr val="202122"/>
                </a:solidFill>
                <a:effectLst/>
                <a:latin typeface="Arial" panose="020B0604020202020204" pitchFamily="34" charset="0"/>
              </a:rPr>
              <a:t>) </a:t>
            </a:r>
            <a:r>
              <a:rPr lang="ru-RU" b="0" i="1" dirty="0">
                <a:solidFill>
                  <a:srgbClr val="202122"/>
                </a:solidFill>
                <a:effectLst/>
                <a:latin typeface="Arial" panose="020B0604020202020204" pitchFamily="34" charset="0"/>
              </a:rPr>
              <a:t>с-М-Л</a:t>
            </a:r>
            <a:r>
              <a:rPr lang="ru-RU" b="0" i="0" dirty="0">
                <a:solidFill>
                  <a:srgbClr val="202122"/>
                </a:solidFill>
                <a:effectLst/>
                <a:latin typeface="Arial" panose="020B0604020202020204" pitchFamily="34" charset="0"/>
              </a:rPr>
              <a:t>, иногда </a:t>
            </a:r>
            <a:r>
              <a:rPr lang="ru-RU" b="0" i="0" u="none" strike="noStrike" dirty="0">
                <a:solidFill>
                  <a:srgbClr val="3366CC"/>
                </a:solidFill>
                <a:effectLst/>
                <a:latin typeface="Arial" panose="020B0604020202020204" pitchFamily="34" charset="0"/>
                <a:hlinkClick r:id="rId3" tooltip="Справка:IPA/Русский"/>
              </a:rPr>
              <a:t>/ˈ</a:t>
            </a:r>
            <a:r>
              <a:rPr lang="ru-RU" b="0" i="0" u="none" strike="noStrike" dirty="0" err="1">
                <a:solidFill>
                  <a:srgbClr val="3366CC"/>
                </a:solidFill>
                <a:effectLst/>
                <a:latin typeface="Arial" panose="020B0604020202020204" pitchFamily="34" charset="0"/>
                <a:hlinkClick r:id="rId3" tooltip="Справка:IPA/Русский"/>
              </a:rPr>
              <a:t>сiːкжәл</a:t>
            </a:r>
            <a:r>
              <a:rPr lang="ru-RU" b="0" i="0" u="none" strike="noStrike" dirty="0">
                <a:solidFill>
                  <a:srgbClr val="3366CC"/>
                </a:solidFill>
                <a:effectLst/>
                <a:latin typeface="Arial" panose="020B0604020202020204" pitchFamily="34" charset="0"/>
                <a:hlinkClick r:id="rId3" tooltip="Справка:IPA/Русский"/>
              </a:rPr>
              <a:t>/</a:t>
            </a:r>
            <a:r>
              <a:rPr lang="ru-RU" b="0" i="0" dirty="0">
                <a:solidFill>
                  <a:srgbClr val="202122"/>
                </a:solidFill>
                <a:effectLst/>
                <a:latin typeface="Arial" panose="020B0604020202020204" pitchFamily="34" charset="0"/>
              </a:rPr>
              <a:t> ", продолжение фильма" по историческим причинам),</a:t>
            </a:r>
            <a:r>
              <a:rPr lang="ru-RU" b="0" i="0" u="none" strike="noStrike" baseline="30000" dirty="0">
                <a:solidFill>
                  <a:srgbClr val="3366CC"/>
                </a:solidFill>
                <a:effectLst/>
                <a:latin typeface="Arial" panose="020B0604020202020204" pitchFamily="34" charset="0"/>
                <a:hlinkClick r:id="rId5"/>
              </a:rPr>
              <a:t>[4][5]</a:t>
            </a:r>
            <a:r>
              <a:rPr lang="ru-RU" b="0" i="0" dirty="0">
                <a:solidFill>
                  <a:srgbClr val="202122"/>
                </a:solidFill>
                <a:effectLst/>
                <a:latin typeface="Arial" panose="020B0604020202020204" pitchFamily="34" charset="0"/>
              </a:rPr>
              <a:t> это </a:t>
            </a:r>
            <a:r>
              <a:rPr lang="ru-RU" b="0" i="0" u="none" strike="noStrike" dirty="0">
                <a:solidFill>
                  <a:srgbClr val="3366CC"/>
                </a:solidFill>
                <a:effectLst/>
                <a:latin typeface="Arial" panose="020B0604020202020204" pitchFamily="34" charset="0"/>
                <a:hlinkClick r:id="rId6" tooltip="Язык, зависящий от домена"/>
              </a:rPr>
              <a:t>предметно-ориентированный язык</a:t>
            </a:r>
            <a:r>
              <a:rPr lang="ru-RU" b="0" i="0" dirty="0">
                <a:solidFill>
                  <a:srgbClr val="202122"/>
                </a:solidFill>
                <a:effectLst/>
                <a:latin typeface="Arial" panose="020B0604020202020204" pitchFamily="34" charset="0"/>
              </a:rPr>
              <a:t> , используемый в программировании и предназначена для управления данными, хранящимися в </a:t>
            </a:r>
            <a:r>
              <a:rPr lang="ru-RU" b="0" i="0" u="none" strike="noStrike" dirty="0">
                <a:solidFill>
                  <a:srgbClr val="3366CC"/>
                </a:solidFill>
                <a:effectLst/>
                <a:latin typeface="Arial" panose="020B0604020202020204" pitchFamily="34" charset="0"/>
                <a:hlinkClick r:id="rId7" tooltip="Система управления реляционными базами данных"/>
              </a:rPr>
              <a:t>реляционной системы управления базами данных</a:t>
            </a:r>
            <a:r>
              <a:rPr lang="ru-RU" b="0" i="0" dirty="0">
                <a:solidFill>
                  <a:srgbClr val="202122"/>
                </a:solidFill>
                <a:effectLst/>
                <a:latin typeface="Arial" panose="020B0604020202020204" pitchFamily="34" charset="0"/>
              </a:rPr>
              <a:t> (СУБД), или для потоковой обработки в </a:t>
            </a:r>
            <a:r>
              <a:rPr lang="ru-RU" b="0" i="0" u="none" strike="noStrike" dirty="0">
                <a:solidFill>
                  <a:srgbClr val="3366CC"/>
                </a:solidFill>
                <a:effectLst/>
                <a:latin typeface="Arial" panose="020B0604020202020204" pitchFamily="34" charset="0"/>
                <a:hlinkClick r:id="rId8" tooltip="Система управления реляционными потоками данных"/>
              </a:rPr>
              <a:t>реляционной поток данных системы управления</a:t>
            </a:r>
            <a:r>
              <a:rPr lang="ru-RU" b="0" i="0" dirty="0">
                <a:solidFill>
                  <a:srgbClr val="202122"/>
                </a:solidFill>
                <a:effectLst/>
                <a:latin typeface="Arial" panose="020B0604020202020204" pitchFamily="34" charset="0"/>
              </a:rPr>
              <a:t> (RDSMS). </a:t>
            </a:r>
            <a:endParaRPr lang="en-US" b="0" i="0" dirty="0">
              <a:solidFill>
                <a:srgbClr val="202122"/>
              </a:solidFill>
              <a:effectLst/>
              <a:latin typeface="Arial" panose="020B0604020202020204" pitchFamily="34" charset="0"/>
            </a:endParaRPr>
          </a:p>
          <a:p>
            <a:pPr algn="l" rtl="0"/>
            <a:r>
              <a:rPr lang="ru-RU" b="0" i="0" dirty="0">
                <a:solidFill>
                  <a:srgbClr val="202122"/>
                </a:solidFill>
                <a:effectLst/>
                <a:latin typeface="Arial" panose="020B0604020202020204" pitchFamily="34" charset="0"/>
              </a:rPr>
              <a:t>Это особенно полезно при обработке </a:t>
            </a:r>
            <a:r>
              <a:rPr lang="ru-RU" b="0" i="0" u="none" strike="noStrike" dirty="0">
                <a:solidFill>
                  <a:srgbClr val="3366CC"/>
                </a:solidFill>
                <a:effectLst/>
                <a:latin typeface="Arial" panose="020B0604020202020204" pitchFamily="34" charset="0"/>
                <a:hlinkClick r:id="rId9" tooltip="Модель данных"/>
              </a:rPr>
              <a:t>структурированных данных</a:t>
            </a:r>
            <a:r>
              <a:rPr lang="ru-RU" b="0" i="0" dirty="0">
                <a:solidFill>
                  <a:srgbClr val="202122"/>
                </a:solidFill>
                <a:effectLst/>
                <a:latin typeface="Arial" panose="020B0604020202020204" pitchFamily="34" charset="0"/>
              </a:rPr>
              <a:t>, т.е. Данных, включающих отношения между объектами и переменными.</a:t>
            </a:r>
          </a:p>
          <a:p>
            <a:pPr algn="l" rtl="0"/>
            <a:r>
              <a:rPr lang="ru-RU" b="0" i="0" dirty="0">
                <a:solidFill>
                  <a:srgbClr val="202122"/>
                </a:solidFill>
                <a:effectLst/>
                <a:latin typeface="Arial" panose="020B0604020202020204" pitchFamily="34" charset="0"/>
              </a:rPr>
              <a:t>SQL предлагает два основных преимущества по сравнению со старыми </a:t>
            </a:r>
            <a:r>
              <a:rPr lang="ru-RU" b="0" i="0" u="none" strike="noStrike" dirty="0">
                <a:solidFill>
                  <a:srgbClr val="3366CC"/>
                </a:solidFill>
                <a:effectLst/>
                <a:latin typeface="Arial" panose="020B0604020202020204" pitchFamily="34" charset="0"/>
                <a:hlinkClick r:id="rId10" tooltip="API"/>
              </a:rPr>
              <a:t>API</a:t>
            </a:r>
            <a:r>
              <a:rPr lang="ru-RU" b="0" i="0" dirty="0">
                <a:solidFill>
                  <a:srgbClr val="202122"/>
                </a:solidFill>
                <a:effectLst/>
                <a:latin typeface="Arial" panose="020B0604020202020204" pitchFamily="34" charset="0"/>
              </a:rPr>
              <a:t> для чтения и записи, такими как </a:t>
            </a:r>
            <a:r>
              <a:rPr lang="ru-RU" b="0" i="0" u="none" strike="noStrike" dirty="0">
                <a:solidFill>
                  <a:srgbClr val="3366CC"/>
                </a:solidFill>
                <a:effectLst/>
                <a:latin typeface="Arial" panose="020B0604020202020204" pitchFamily="34" charset="0"/>
                <a:hlinkClick r:id="rId11" tooltip="ISAM"/>
              </a:rPr>
              <a:t>ISAM</a:t>
            </a:r>
            <a:r>
              <a:rPr lang="ru-RU" b="0" i="0" dirty="0">
                <a:solidFill>
                  <a:srgbClr val="202122"/>
                </a:solidFill>
                <a:effectLst/>
                <a:latin typeface="Arial" panose="020B0604020202020204" pitchFamily="34" charset="0"/>
              </a:rPr>
              <a:t> или </a:t>
            </a:r>
            <a:r>
              <a:rPr lang="ru-RU" b="0" i="0" u="none" strike="noStrike" dirty="0">
                <a:solidFill>
                  <a:srgbClr val="3366CC"/>
                </a:solidFill>
                <a:effectLst/>
                <a:latin typeface="Arial" panose="020B0604020202020204" pitchFamily="34" charset="0"/>
                <a:hlinkClick r:id="rId12" tooltip="VSAM"/>
              </a:rPr>
              <a:t>VSAM</a:t>
            </a:r>
            <a:r>
              <a:rPr lang="ru-RU" b="0" i="0" dirty="0">
                <a:solidFill>
                  <a:srgbClr val="202122"/>
                </a:solidFill>
                <a:effectLst/>
                <a:latin typeface="Arial" panose="020B0604020202020204" pitchFamily="34" charset="0"/>
              </a:rPr>
              <a:t>. </a:t>
            </a:r>
            <a:endParaRPr lang="en-US" b="0" i="0" dirty="0">
              <a:solidFill>
                <a:srgbClr val="202122"/>
              </a:solidFill>
              <a:effectLst/>
              <a:latin typeface="Arial" panose="020B0604020202020204" pitchFamily="34" charset="0"/>
            </a:endParaRPr>
          </a:p>
          <a:p>
            <a:pPr algn="l" rtl="0"/>
            <a:r>
              <a:rPr lang="ru-RU" b="0" i="0" dirty="0">
                <a:solidFill>
                  <a:srgbClr val="202122"/>
                </a:solidFill>
                <a:effectLst/>
                <a:latin typeface="Arial" panose="020B0604020202020204" pitchFamily="34" charset="0"/>
              </a:rPr>
              <a:t>Во-первых, он ввел концепцию доступа ко многим записям с помощью одной команды. Во-вторых, это устраняет необходимость указывать, </a:t>
            </a:r>
            <a:r>
              <a:rPr lang="ru-RU" b="0" i="1" dirty="0">
                <a:solidFill>
                  <a:srgbClr val="202122"/>
                </a:solidFill>
                <a:effectLst/>
                <a:latin typeface="Arial" panose="020B0604020202020204" pitchFamily="34" charset="0"/>
              </a:rPr>
              <a:t>как</a:t>
            </a:r>
            <a:r>
              <a:rPr lang="ru-RU" b="0" i="0" dirty="0">
                <a:solidFill>
                  <a:srgbClr val="202122"/>
                </a:solidFill>
                <a:effectLst/>
                <a:latin typeface="Arial" panose="020B0604020202020204" pitchFamily="34" charset="0"/>
              </a:rPr>
              <a:t> получить доступ к записи, например, с </a:t>
            </a:r>
            <a:r>
              <a:rPr lang="ru-RU" b="0" i="0" u="none" strike="noStrike" dirty="0">
                <a:solidFill>
                  <a:srgbClr val="3366CC"/>
                </a:solidFill>
                <a:effectLst/>
                <a:latin typeface="Arial" panose="020B0604020202020204" pitchFamily="34" charset="0"/>
                <a:hlinkClick r:id="rId13" tooltip="Индекс базы данных"/>
              </a:rPr>
              <a:t>индексом</a:t>
            </a:r>
            <a:r>
              <a:rPr lang="ru-RU" b="0" i="0" dirty="0">
                <a:solidFill>
                  <a:srgbClr val="202122"/>
                </a:solidFill>
                <a:effectLst/>
                <a:latin typeface="Arial" panose="020B0604020202020204" pitchFamily="34" charset="0"/>
              </a:rPr>
              <a:t> или без него.</a:t>
            </a:r>
          </a:p>
          <a:p>
            <a:pPr algn="l" rtl="0"/>
            <a:r>
              <a:rPr lang="ru-RU" b="0" i="0" dirty="0">
                <a:solidFill>
                  <a:srgbClr val="202122"/>
                </a:solidFill>
                <a:effectLst/>
                <a:latin typeface="Arial" panose="020B0604020202020204" pitchFamily="34" charset="0"/>
              </a:rPr>
              <a:t>Изначально основанный на </a:t>
            </a:r>
            <a:r>
              <a:rPr lang="ru-RU" b="0" i="0" u="none" strike="noStrike" dirty="0">
                <a:solidFill>
                  <a:srgbClr val="3366CC"/>
                </a:solidFill>
                <a:effectLst/>
                <a:latin typeface="Arial" panose="020B0604020202020204" pitchFamily="34" charset="0"/>
                <a:hlinkClick r:id="rId14" tooltip="Реляционная алгебра"/>
              </a:rPr>
              <a:t>реляционной алгебре</a:t>
            </a:r>
            <a:r>
              <a:rPr lang="ru-RU" b="0" i="0" dirty="0">
                <a:solidFill>
                  <a:srgbClr val="202122"/>
                </a:solidFill>
                <a:effectLst/>
                <a:latin typeface="Arial" panose="020B0604020202020204" pitchFamily="34" charset="0"/>
              </a:rPr>
              <a:t> и </a:t>
            </a:r>
            <a:r>
              <a:rPr lang="ru-RU" b="0" i="0" u="none" strike="noStrike" dirty="0">
                <a:solidFill>
                  <a:srgbClr val="3366CC"/>
                </a:solidFill>
                <a:effectLst/>
                <a:latin typeface="Arial" panose="020B0604020202020204" pitchFamily="34" charset="0"/>
                <a:hlinkClick r:id="rId15" tooltip="Реляционное исчисление кортежей"/>
              </a:rPr>
              <a:t>исчислении кортежей</a:t>
            </a:r>
            <a:r>
              <a:rPr lang="ru-RU" b="0" i="0" dirty="0">
                <a:solidFill>
                  <a:srgbClr val="202122"/>
                </a:solidFill>
                <a:effectLst/>
                <a:latin typeface="Arial" panose="020B0604020202020204" pitchFamily="34" charset="0"/>
              </a:rPr>
              <a:t>, SQL состоит из множества типов операторов,</a:t>
            </a:r>
            <a:r>
              <a:rPr lang="ru-RU" b="0" i="0" u="none" strike="noStrike" baseline="30000" dirty="0">
                <a:solidFill>
                  <a:srgbClr val="3366CC"/>
                </a:solidFill>
                <a:effectLst/>
                <a:latin typeface="Arial" panose="020B0604020202020204" pitchFamily="34" charset="0"/>
                <a:hlinkClick r:id="rId5"/>
              </a:rPr>
              <a:t>[6]</a:t>
            </a:r>
            <a:r>
              <a:rPr lang="ru-RU" b="0" i="0" dirty="0">
                <a:solidFill>
                  <a:srgbClr val="202122"/>
                </a:solidFill>
                <a:effectLst/>
                <a:latin typeface="Arial" panose="020B0604020202020204" pitchFamily="34" charset="0"/>
              </a:rPr>
              <a:t> которые могут быть неофициально классифицированы как </a:t>
            </a:r>
            <a:r>
              <a:rPr lang="ru-RU" b="0" i="0" u="none" strike="noStrike" dirty="0">
                <a:solidFill>
                  <a:srgbClr val="3366CC"/>
                </a:solidFill>
                <a:effectLst/>
                <a:latin typeface="Arial" panose="020B0604020202020204" pitchFamily="34" charset="0"/>
                <a:hlinkClick r:id="rId16" tooltip="Подъязык"/>
              </a:rPr>
              <a:t>подъязыки</a:t>
            </a:r>
            <a:r>
              <a:rPr lang="ru-RU" b="0" i="0" dirty="0">
                <a:solidFill>
                  <a:srgbClr val="202122"/>
                </a:solidFill>
                <a:effectLst/>
                <a:latin typeface="Arial" panose="020B0604020202020204" pitchFamily="34" charset="0"/>
              </a:rPr>
              <a:t>, обычно: </a:t>
            </a:r>
            <a:r>
              <a:rPr lang="ru-RU" b="0" i="0" u="none" strike="noStrike" dirty="0">
                <a:solidFill>
                  <a:srgbClr val="3366CC"/>
                </a:solidFill>
                <a:effectLst/>
                <a:latin typeface="Arial" panose="020B0604020202020204" pitchFamily="34" charset="0"/>
                <a:hlinkClick r:id="rId17" tooltip="Язык запросов к данным"/>
              </a:rPr>
              <a:t>язык запросов данных</a:t>
            </a:r>
            <a:r>
              <a:rPr lang="ru-RU" b="0" i="0" dirty="0">
                <a:solidFill>
                  <a:srgbClr val="202122"/>
                </a:solidFill>
                <a:effectLst/>
                <a:latin typeface="Arial" panose="020B0604020202020204" pitchFamily="34" charset="0"/>
              </a:rPr>
              <a:t> (DQL),</a:t>
            </a:r>
            <a:r>
              <a:rPr lang="ru-RU" b="0" i="0" u="none" strike="noStrike" baseline="30000" dirty="0">
                <a:solidFill>
                  <a:srgbClr val="3366CC"/>
                </a:solidFill>
                <a:effectLst/>
                <a:latin typeface="Arial" panose="020B0604020202020204" pitchFamily="34" charset="0"/>
                <a:hlinkClick r:id="rId5"/>
              </a:rPr>
              <a:t>[a]</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18" tooltip="Язык определения данных"/>
              </a:rPr>
              <a:t>язык определения</a:t>
            </a:r>
            <a:r>
              <a:rPr lang="ru-RU" b="0" i="0" dirty="0">
                <a:solidFill>
                  <a:srgbClr val="202122"/>
                </a:solidFill>
                <a:effectLst/>
                <a:latin typeface="Arial" panose="020B0604020202020204" pitchFamily="34" charset="0"/>
              </a:rPr>
              <a:t> данных (DDL),</a:t>
            </a:r>
            <a:r>
              <a:rPr lang="ru-RU" b="0" i="0" u="none" strike="noStrike" baseline="30000" dirty="0">
                <a:solidFill>
                  <a:srgbClr val="3366CC"/>
                </a:solidFill>
                <a:effectLst/>
                <a:latin typeface="Arial" panose="020B0604020202020204" pitchFamily="34" charset="0"/>
                <a:hlinkClick r:id="rId5"/>
              </a:rPr>
              <a:t>[b]</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19" tooltip="Язык управления данными"/>
              </a:rPr>
              <a:t>язык управления данными</a:t>
            </a:r>
            <a:r>
              <a:rPr lang="ru-RU" b="0" i="0" dirty="0">
                <a:solidFill>
                  <a:srgbClr val="202122"/>
                </a:solidFill>
                <a:effectLst/>
                <a:latin typeface="Arial" panose="020B0604020202020204" pitchFamily="34" charset="0"/>
              </a:rPr>
              <a:t> (DCL) и </a:t>
            </a:r>
            <a:r>
              <a:rPr lang="ru-RU" b="0" i="0" u="none" strike="noStrike" dirty="0">
                <a:solidFill>
                  <a:srgbClr val="3366CC"/>
                </a:solidFill>
                <a:effectLst/>
                <a:latin typeface="Arial" panose="020B0604020202020204" pitchFamily="34" charset="0"/>
                <a:hlinkClick r:id="rId20" tooltip="Язык обработки данных"/>
              </a:rPr>
              <a:t>язык управления данными</a:t>
            </a:r>
            <a:r>
              <a:rPr lang="ru-RU" b="0" i="0" dirty="0">
                <a:solidFill>
                  <a:srgbClr val="202122"/>
                </a:solidFill>
                <a:effectLst/>
                <a:latin typeface="Arial" panose="020B0604020202020204" pitchFamily="34" charset="0"/>
              </a:rPr>
              <a:t> (DML).</a:t>
            </a:r>
            <a:r>
              <a:rPr lang="ru-RU" b="0" i="0" u="none" strike="noStrike" baseline="30000" dirty="0">
                <a:solidFill>
                  <a:srgbClr val="3366CC"/>
                </a:solidFill>
                <a:effectLst/>
                <a:latin typeface="Arial" panose="020B0604020202020204" pitchFamily="34" charset="0"/>
                <a:hlinkClick r:id="rId5"/>
              </a:rPr>
              <a:t>[c][7]</a:t>
            </a:r>
            <a:r>
              <a:rPr lang="ru-RU" b="0" i="0" dirty="0">
                <a:solidFill>
                  <a:srgbClr val="202122"/>
                </a:solidFill>
                <a:effectLst/>
                <a:latin typeface="Arial" panose="020B0604020202020204" pitchFamily="34" charset="0"/>
              </a:rPr>
              <a:t> Область применения SQL включает запрос данных, манипулирование данными (вставить , обновлять и удалять), определение данных (создание и модификация </a:t>
            </a:r>
            <a:r>
              <a:rPr lang="ru-RU" b="0" i="0" u="none" strike="noStrike" dirty="0">
                <a:solidFill>
                  <a:srgbClr val="3366CC"/>
                </a:solidFill>
                <a:effectLst/>
                <a:latin typeface="Arial" panose="020B0604020202020204" pitchFamily="34" charset="0"/>
                <a:hlinkClick r:id="rId21" tooltip="Схема базы данных"/>
              </a:rPr>
              <a:t>схемы</a:t>
            </a:r>
            <a:r>
              <a:rPr lang="ru-RU" b="0" i="0" dirty="0">
                <a:solidFill>
                  <a:srgbClr val="202122"/>
                </a:solidFill>
                <a:effectLst/>
                <a:latin typeface="Arial" panose="020B0604020202020204" pitchFamily="34" charset="0"/>
              </a:rPr>
              <a:t>) и управление доступом к данным. Хотя SQL по сути является </a:t>
            </a:r>
            <a:r>
              <a:rPr lang="ru-RU" b="0" i="0" u="none" strike="noStrike" dirty="0">
                <a:solidFill>
                  <a:srgbClr val="3366CC"/>
                </a:solidFill>
                <a:effectLst/>
                <a:latin typeface="Arial" panose="020B0604020202020204" pitchFamily="34" charset="0"/>
                <a:hlinkClick r:id="rId22" tooltip="Декларативное программирование"/>
              </a:rPr>
              <a:t>декларативным языком</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23" tooltip="4GL"/>
              </a:rPr>
              <a:t>4GL</a:t>
            </a:r>
            <a:r>
              <a:rPr lang="ru-RU" b="0" i="0" dirty="0">
                <a:solidFill>
                  <a:srgbClr val="202122"/>
                </a:solidFill>
                <a:effectLst/>
                <a:latin typeface="Arial" panose="020B0604020202020204" pitchFamily="34" charset="0"/>
              </a:rPr>
              <a:t>), он также включает в себя </a:t>
            </a:r>
            <a:r>
              <a:rPr lang="ru-RU" b="0" i="0" u="none" strike="noStrike" dirty="0">
                <a:solidFill>
                  <a:srgbClr val="3366CC"/>
                </a:solidFill>
                <a:effectLst/>
                <a:latin typeface="Arial" panose="020B0604020202020204" pitchFamily="34" charset="0"/>
                <a:hlinkClick r:id="rId24" tooltip="Процедурное программирование"/>
              </a:rPr>
              <a:t>процедурные</a:t>
            </a:r>
            <a:r>
              <a:rPr lang="ru-RU" b="0" i="0" dirty="0">
                <a:solidFill>
                  <a:srgbClr val="202122"/>
                </a:solidFill>
                <a:effectLst/>
                <a:latin typeface="Arial" panose="020B0604020202020204" pitchFamily="34" charset="0"/>
              </a:rPr>
              <a:t> элементы.</a:t>
            </a:r>
          </a:p>
          <a:p>
            <a:pPr algn="l" rtl="0"/>
            <a:r>
              <a:rPr lang="ru-RU" b="0" i="0" dirty="0">
                <a:solidFill>
                  <a:srgbClr val="202122"/>
                </a:solidFill>
                <a:effectLst/>
                <a:latin typeface="Arial" panose="020B0604020202020204" pitchFamily="34" charset="0"/>
              </a:rPr>
              <a:t>SQL был одним из первых коммерческих языков, который использовал </a:t>
            </a:r>
            <a:r>
              <a:rPr lang="ru-RU" b="0" i="0" u="none" strike="noStrike" dirty="0">
                <a:solidFill>
                  <a:srgbClr val="3366CC"/>
                </a:solidFill>
                <a:effectLst/>
                <a:latin typeface="Arial" panose="020B0604020202020204" pitchFamily="34" charset="0"/>
                <a:hlinkClick r:id="rId25" tooltip="Эдгар Ф. Кодд"/>
              </a:rPr>
              <a:t>реляционную модель</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26" tooltip="Реляционная модель"/>
              </a:rPr>
              <a:t>Эдгара Ф. Кодда</a:t>
            </a:r>
            <a:r>
              <a:rPr lang="ru-RU" b="0" i="0" dirty="0">
                <a:solidFill>
                  <a:srgbClr val="202122"/>
                </a:solidFill>
                <a:effectLst/>
                <a:latin typeface="Arial" panose="020B0604020202020204" pitchFamily="34" charset="0"/>
              </a:rPr>
              <a:t>. Модель была описана в его влиятельной статье 1970 года "Реляционная модель данных для больших совместно используемых банков данных".</a:t>
            </a:r>
            <a:r>
              <a:rPr lang="ru-RU" b="0" i="0" u="none" strike="noStrike" baseline="30000" dirty="0">
                <a:solidFill>
                  <a:srgbClr val="3366CC"/>
                </a:solidFill>
                <a:effectLst/>
                <a:latin typeface="Arial" panose="020B0604020202020204" pitchFamily="34" charset="0"/>
                <a:hlinkClick r:id="rId5"/>
              </a:rPr>
              <a:t>[8]</a:t>
            </a:r>
            <a:r>
              <a:rPr lang="ru-RU" b="0" i="0" dirty="0">
                <a:solidFill>
                  <a:srgbClr val="202122"/>
                </a:solidFill>
                <a:effectLst/>
                <a:latin typeface="Arial" panose="020B0604020202020204" pitchFamily="34" charset="0"/>
              </a:rPr>
              <a:t> Несмотря на то, что он не полностью соответствует </a:t>
            </a:r>
            <a:r>
              <a:rPr lang="ru-RU" b="0" i="0" u="none" strike="noStrike" dirty="0">
                <a:solidFill>
                  <a:srgbClr val="3366CC"/>
                </a:solidFill>
                <a:effectLst/>
                <a:latin typeface="Arial" panose="020B0604020202020204" pitchFamily="34" charset="0"/>
                <a:hlinkClick r:id="rId27" tooltip="12 правил Кодда"/>
              </a:rPr>
              <a:t>реляционной модели, описанной Коддом</a:t>
            </a:r>
            <a:r>
              <a:rPr lang="ru-RU" b="0" i="0" dirty="0">
                <a:solidFill>
                  <a:srgbClr val="202122"/>
                </a:solidFill>
                <a:effectLst/>
                <a:latin typeface="Arial" panose="020B0604020202020204" pitchFamily="34" charset="0"/>
              </a:rPr>
              <a:t>, он стал наиболее широко используемым языком баз данных.</a:t>
            </a:r>
            <a:r>
              <a:rPr lang="ru-RU" b="0" i="0" u="none" strike="noStrike" baseline="30000" dirty="0">
                <a:solidFill>
                  <a:srgbClr val="3366CC"/>
                </a:solidFill>
                <a:effectLst/>
                <a:latin typeface="Arial" panose="020B0604020202020204" pitchFamily="34" charset="0"/>
                <a:hlinkClick r:id="rId5"/>
              </a:rPr>
              <a:t>[9][10]</a:t>
            </a:r>
            <a:endParaRPr lang="ru-RU" b="0" i="0" dirty="0">
              <a:solidFill>
                <a:srgbClr val="202122"/>
              </a:solidFill>
              <a:effectLst/>
              <a:latin typeface="Arial" panose="020B0604020202020204" pitchFamily="34" charset="0"/>
            </a:endParaRPr>
          </a:p>
          <a:p>
            <a:pPr algn="l" rtl="0"/>
            <a:r>
              <a:rPr lang="ru-RU" b="0" i="0" dirty="0">
                <a:solidFill>
                  <a:srgbClr val="202122"/>
                </a:solidFill>
                <a:effectLst/>
                <a:latin typeface="Arial" panose="020B0604020202020204" pitchFamily="34" charset="0"/>
              </a:rPr>
              <a:t>SQL стал </a:t>
            </a:r>
            <a:r>
              <a:rPr lang="ru-RU" b="0" i="0" u="none" strike="noStrike" dirty="0">
                <a:solidFill>
                  <a:srgbClr val="3366CC"/>
                </a:solidFill>
                <a:effectLst/>
                <a:latin typeface="Arial" panose="020B0604020202020204" pitchFamily="34" charset="0"/>
                <a:hlinkClick r:id="rId28" tooltip="Технический стандарт"/>
              </a:rPr>
              <a:t>стандартом</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29" tooltip="Американский национальный институт стандартов"/>
              </a:rPr>
              <a:t>Американского национального института стандартов</a:t>
            </a:r>
            <a:r>
              <a:rPr lang="ru-RU" b="0" i="0" dirty="0">
                <a:solidFill>
                  <a:srgbClr val="202122"/>
                </a:solidFill>
                <a:effectLst/>
                <a:latin typeface="Arial" panose="020B0604020202020204" pitchFamily="34" charset="0"/>
              </a:rPr>
              <a:t> (ANSI) в 1986 году и </a:t>
            </a:r>
            <a:r>
              <a:rPr lang="ru-RU" b="0" i="0" u="none" strike="noStrike" dirty="0">
                <a:solidFill>
                  <a:srgbClr val="3366CC"/>
                </a:solidFill>
                <a:effectLst/>
                <a:latin typeface="Arial" panose="020B0604020202020204" pitchFamily="34" charset="0"/>
                <a:hlinkClick r:id="rId30" tooltip="Международная организация по стандартизации"/>
              </a:rPr>
              <a:t>Международной организации по стандартизации</a:t>
            </a:r>
            <a:r>
              <a:rPr lang="ru-RU" b="0" i="0" dirty="0">
                <a:solidFill>
                  <a:srgbClr val="202122"/>
                </a:solidFill>
                <a:effectLst/>
                <a:latin typeface="Arial" panose="020B0604020202020204" pitchFamily="34" charset="0"/>
              </a:rPr>
              <a:t> (ISO) в 1987 году.</a:t>
            </a:r>
            <a:r>
              <a:rPr lang="ru-RU" b="0" i="0" u="none" strike="noStrike" baseline="30000" dirty="0">
                <a:solidFill>
                  <a:srgbClr val="3366CC"/>
                </a:solidFill>
                <a:effectLst/>
                <a:latin typeface="Arial" panose="020B0604020202020204" pitchFamily="34" charset="0"/>
                <a:hlinkClick r:id="rId5"/>
              </a:rPr>
              <a:t>[11]</a:t>
            </a:r>
            <a:r>
              <a:rPr lang="ru-RU" b="0" i="0" dirty="0">
                <a:solidFill>
                  <a:srgbClr val="202122"/>
                </a:solidFill>
                <a:effectLst/>
                <a:latin typeface="Arial" panose="020B0604020202020204" pitchFamily="34" charset="0"/>
              </a:rPr>
              <a:t> С тех пор стандарт был пересмотрен, чтобы включить больший набор функций. Несмотря на существование стандартов, большая часть кода SQL требует, по крайней мере, некоторых изменений перед переносом в другие системы </a:t>
            </a:r>
            <a:r>
              <a:rPr lang="ru-RU" b="0" i="0" u="none" strike="noStrike" dirty="0">
                <a:solidFill>
                  <a:srgbClr val="3366CC"/>
                </a:solidFill>
                <a:effectLst/>
                <a:latin typeface="Arial" panose="020B0604020202020204" pitchFamily="34" charset="0"/>
                <a:hlinkClick r:id="rId31" tooltip="База данных"/>
              </a:rPr>
              <a:t>баз</a:t>
            </a:r>
            <a:r>
              <a:rPr lang="ru-RU" b="0" i="0" dirty="0">
                <a:solidFill>
                  <a:srgbClr val="202122"/>
                </a:solidFill>
                <a:effectLst/>
                <a:latin typeface="Arial" panose="020B0604020202020204" pitchFamily="34" charset="0"/>
              </a:rPr>
              <a:t> данных.</a:t>
            </a:r>
          </a:p>
          <a:p>
            <a:pPr algn="l" rtl="0"/>
            <a:r>
              <a:rPr lang="ru-RU" b="0" i="0" dirty="0">
                <a:solidFill>
                  <a:srgbClr val="000000"/>
                </a:solidFill>
                <a:effectLst/>
                <a:latin typeface="Linux Libertine"/>
              </a:rPr>
              <a:t>История</a:t>
            </a:r>
            <a:r>
              <a:rPr lang="ru-RU" b="0" i="0" dirty="0">
                <a:solidFill>
                  <a:srgbClr val="54595D"/>
                </a:solidFill>
                <a:effectLst/>
                <a:latin typeface="Arial" panose="020B0604020202020204" pitchFamily="34" charset="0"/>
              </a:rPr>
              <a:t>[</a:t>
            </a:r>
            <a:r>
              <a:rPr lang="ru-RU" b="0" i="0" u="none" strike="noStrike" dirty="0">
                <a:solidFill>
                  <a:srgbClr val="3366CC"/>
                </a:solidFill>
                <a:effectLst/>
                <a:latin typeface="Arial" panose="020B0604020202020204" pitchFamily="34" charset="0"/>
                <a:hlinkClick r:id="rId32" tooltip="Редактировать раздел: История"/>
              </a:rPr>
              <a:t>редактировать</a:t>
            </a:r>
            <a:r>
              <a:rPr lang="ru-RU" b="0" i="0" dirty="0">
                <a:solidFill>
                  <a:srgbClr val="54595D"/>
                </a:solidFill>
                <a:effectLst/>
                <a:latin typeface="Arial" panose="020B0604020202020204" pitchFamily="34" charset="0"/>
              </a:rPr>
              <a:t>]</a:t>
            </a:r>
            <a:endParaRPr lang="ru-RU" b="0" i="0" dirty="0">
              <a:solidFill>
                <a:srgbClr val="000000"/>
              </a:solidFill>
              <a:effectLst/>
              <a:latin typeface="Linux Libertine"/>
            </a:endParaRPr>
          </a:p>
          <a:p>
            <a:pPr algn="l" rtl="0"/>
            <a:r>
              <a:rPr lang="ru-RU" b="0" i="0" dirty="0">
                <a:solidFill>
                  <a:srgbClr val="202122"/>
                </a:solidFill>
                <a:effectLst/>
                <a:latin typeface="Arial" panose="020B0604020202020204" pitchFamily="34" charset="0"/>
              </a:rPr>
              <a:t>SQL был первоначально разработан в </a:t>
            </a:r>
            <a:r>
              <a:rPr lang="ru-RU" b="0" i="0" u="none" strike="noStrike" dirty="0">
                <a:solidFill>
                  <a:srgbClr val="3366CC"/>
                </a:solidFill>
                <a:effectLst/>
                <a:latin typeface="Arial" panose="020B0604020202020204" pitchFamily="34" charset="0"/>
                <a:hlinkClick r:id="rId33" tooltip="IBM"/>
              </a:rPr>
              <a:t>IBM</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34" tooltip="Дональд Д. Чемберлин"/>
              </a:rPr>
              <a:t>Дональдом Д. </a:t>
            </a:r>
            <a:r>
              <a:rPr lang="ru-RU" b="0" i="0" u="none" strike="noStrike" dirty="0" err="1">
                <a:solidFill>
                  <a:srgbClr val="3366CC"/>
                </a:solidFill>
                <a:effectLst/>
                <a:latin typeface="Arial" panose="020B0604020202020204" pitchFamily="34" charset="0"/>
                <a:hlinkClick r:id="rId34" tooltip="Дональд Д. Чемберлин"/>
              </a:rPr>
              <a:t>Чемберлином</a:t>
            </a:r>
            <a:r>
              <a:rPr lang="ru-RU" b="0" i="0" dirty="0">
                <a:solidFill>
                  <a:srgbClr val="202122"/>
                </a:solidFill>
                <a:effectLst/>
                <a:latin typeface="Arial" panose="020B0604020202020204" pitchFamily="34" charset="0"/>
              </a:rPr>
              <a:t> и </a:t>
            </a:r>
            <a:r>
              <a:rPr lang="ru-RU" b="0" i="0" u="none" strike="noStrike" dirty="0">
                <a:solidFill>
                  <a:srgbClr val="3366CC"/>
                </a:solidFill>
                <a:effectLst/>
                <a:latin typeface="Arial" panose="020B0604020202020204" pitchFamily="34" charset="0"/>
                <a:hlinkClick r:id="rId35" tooltip="Рэймонд Ф. Бойс"/>
              </a:rPr>
              <a:t>Рэймондом Ф. Бойсом</a:t>
            </a:r>
            <a:r>
              <a:rPr lang="ru-RU" b="0" i="0" dirty="0">
                <a:solidFill>
                  <a:srgbClr val="202122"/>
                </a:solidFill>
                <a:effectLst/>
                <a:latin typeface="Arial" panose="020B0604020202020204" pitchFamily="34" charset="0"/>
              </a:rPr>
              <a:t> после изучения реляционной модели от </a:t>
            </a:r>
            <a:r>
              <a:rPr lang="ru-RU" b="0" i="0" u="none" strike="noStrike" dirty="0">
                <a:solidFill>
                  <a:srgbClr val="3366CC"/>
                </a:solidFill>
                <a:effectLst/>
                <a:latin typeface="Arial" panose="020B0604020202020204" pitchFamily="34" charset="0"/>
                <a:hlinkClick r:id="rId25" tooltip="Эдгар Ф. Кодд"/>
              </a:rPr>
              <a:t>Эдгара Ф. Кодда</a:t>
            </a:r>
            <a:r>
              <a:rPr lang="ru-RU" b="0" i="0" u="none" strike="noStrike" baseline="30000" dirty="0">
                <a:solidFill>
                  <a:srgbClr val="3366CC"/>
                </a:solidFill>
                <a:effectLst/>
                <a:latin typeface="Arial" panose="020B0604020202020204" pitchFamily="34" charset="0"/>
                <a:hlinkClick r:id="rId5"/>
              </a:rPr>
              <a:t>[12]</a:t>
            </a:r>
            <a:r>
              <a:rPr lang="ru-RU" b="0" i="0" dirty="0">
                <a:solidFill>
                  <a:srgbClr val="202122"/>
                </a:solidFill>
                <a:effectLst/>
                <a:latin typeface="Arial" panose="020B0604020202020204" pitchFamily="34" charset="0"/>
              </a:rPr>
              <a:t> в начале 1970-х годов.</a:t>
            </a:r>
            <a:r>
              <a:rPr lang="ru-RU" b="0" i="0" u="none" strike="noStrike" baseline="30000" dirty="0">
                <a:solidFill>
                  <a:srgbClr val="3366CC"/>
                </a:solidFill>
                <a:effectLst/>
                <a:latin typeface="Arial" panose="020B0604020202020204" pitchFamily="34" charset="0"/>
                <a:hlinkClick r:id="rId5"/>
              </a:rPr>
              <a:t>[13]</a:t>
            </a:r>
            <a:r>
              <a:rPr lang="ru-RU" b="0" i="0" dirty="0">
                <a:solidFill>
                  <a:srgbClr val="202122"/>
                </a:solidFill>
                <a:effectLst/>
                <a:latin typeface="Arial" panose="020B0604020202020204" pitchFamily="34" charset="0"/>
              </a:rPr>
              <a:t> Эта версия, первоначально называвшаяся SEQUEL (</a:t>
            </a:r>
            <a:r>
              <a:rPr lang="ru-RU" b="0" i="0" dirty="0" err="1">
                <a:solidFill>
                  <a:srgbClr val="202122"/>
                </a:solidFill>
                <a:effectLst/>
                <a:latin typeface="Arial" panose="020B0604020202020204" pitchFamily="34" charset="0"/>
              </a:rPr>
              <a:t>Structured</a:t>
            </a:r>
            <a:r>
              <a:rPr lang="ru-RU" b="0" i="0" dirty="0">
                <a:solidFill>
                  <a:srgbClr val="202122"/>
                </a:solidFill>
                <a:effectLst/>
                <a:latin typeface="Arial" panose="020B0604020202020204" pitchFamily="34" charset="0"/>
              </a:rPr>
              <a:t> English </a:t>
            </a:r>
            <a:r>
              <a:rPr lang="ru-RU" b="0" i="0" dirty="0" err="1">
                <a:solidFill>
                  <a:srgbClr val="202122"/>
                </a:solidFill>
                <a:effectLst/>
                <a:latin typeface="Arial" panose="020B0604020202020204" pitchFamily="34" charset="0"/>
              </a:rPr>
              <a:t>Query</a:t>
            </a:r>
            <a:r>
              <a:rPr lang="ru-RU" b="0" i="0" dirty="0">
                <a:solidFill>
                  <a:srgbClr val="202122"/>
                </a:solidFill>
                <a:effectLst/>
                <a:latin typeface="Arial" panose="020B0604020202020204" pitchFamily="34" charset="0"/>
              </a:rPr>
              <a:t> Language), была предназначена для обработки и извлечения данных, хранящихся в оригинальной квазиреляционной системе управления базами данных IBM, </a:t>
            </a:r>
            <a:r>
              <a:rPr lang="ru-RU" b="0" i="0" u="none" strike="noStrike" dirty="0">
                <a:solidFill>
                  <a:srgbClr val="3366CC"/>
                </a:solidFill>
                <a:effectLst/>
                <a:latin typeface="Arial" panose="020B0604020202020204" pitchFamily="34" charset="0"/>
                <a:hlinkClick r:id="rId36" tooltip="IBM System R"/>
              </a:rPr>
              <a:t>System R</a:t>
            </a:r>
            <a:r>
              <a:rPr lang="ru-RU" b="0" i="0" dirty="0">
                <a:solidFill>
                  <a:srgbClr val="202122"/>
                </a:solidFill>
                <a:effectLst/>
                <a:latin typeface="Arial" panose="020B0604020202020204" pitchFamily="34" charset="0"/>
              </a:rPr>
              <a:t>, которую группа в </a:t>
            </a:r>
            <a:r>
              <a:rPr lang="ru-RU" b="0" i="0" u="none" strike="noStrike" dirty="0">
                <a:solidFill>
                  <a:srgbClr val="3366CC"/>
                </a:solidFill>
                <a:effectLst/>
                <a:latin typeface="Arial" panose="020B0604020202020204" pitchFamily="34" charset="0"/>
                <a:hlinkClick r:id="rId37" tooltip="Исследовательский центр IBM Almaden"/>
              </a:rPr>
              <a:t>исследовательской лаборатории IBM в Сан-Хосе</a:t>
            </a:r>
            <a:r>
              <a:rPr lang="ru-RU" b="0" i="0" dirty="0">
                <a:solidFill>
                  <a:srgbClr val="202122"/>
                </a:solidFill>
                <a:effectLst/>
                <a:latin typeface="Arial" panose="020B0604020202020204" pitchFamily="34" charset="0"/>
              </a:rPr>
              <a:t> разработала в 1970-х годах.</a:t>
            </a:r>
            <a:r>
              <a:rPr lang="ru-RU" b="0" i="0" u="none" strike="noStrike" baseline="30000" dirty="0">
                <a:solidFill>
                  <a:srgbClr val="3366CC"/>
                </a:solidFill>
                <a:effectLst/>
                <a:latin typeface="Arial" panose="020B0604020202020204" pitchFamily="34" charset="0"/>
                <a:hlinkClick r:id="rId5"/>
              </a:rPr>
              <a:t>[13]</a:t>
            </a:r>
            <a:endParaRPr lang="ru-RU" b="0" i="0" dirty="0">
              <a:solidFill>
                <a:srgbClr val="202122"/>
              </a:solidFill>
              <a:effectLst/>
              <a:latin typeface="Arial" panose="020B0604020202020204" pitchFamily="34" charset="0"/>
            </a:endParaRPr>
          </a:p>
          <a:p>
            <a:pPr algn="l" rtl="0"/>
            <a:r>
              <a:rPr lang="ru-RU" b="0" i="0" dirty="0">
                <a:solidFill>
                  <a:srgbClr val="202122"/>
                </a:solidFill>
                <a:effectLst/>
                <a:latin typeface="Arial" panose="020B0604020202020204" pitchFamily="34" charset="0"/>
              </a:rPr>
              <a:t>Первой попыткой </a:t>
            </a:r>
            <a:r>
              <a:rPr lang="ru-RU" b="0" i="0" dirty="0" err="1">
                <a:solidFill>
                  <a:srgbClr val="202122"/>
                </a:solidFill>
                <a:effectLst/>
                <a:latin typeface="Arial" panose="020B0604020202020204" pitchFamily="34" charset="0"/>
              </a:rPr>
              <a:t>Чемберлина</a:t>
            </a:r>
            <a:r>
              <a:rPr lang="ru-RU" b="0" i="0" dirty="0">
                <a:solidFill>
                  <a:srgbClr val="202122"/>
                </a:solidFill>
                <a:effectLst/>
                <a:latin typeface="Arial" panose="020B0604020202020204" pitchFamily="34" charset="0"/>
              </a:rPr>
              <a:t> и Бойса создать язык реляционной базы данных был SQUARE (для задания запросов в реляционной среде), но его было сложно использовать из-за подстрочных / надстрочных обозначений. После переезда в исследовательскую лабораторию Сан-Хосе в 1973 году они начали работу над продолжением SQUARE.</a:t>
            </a:r>
            <a:r>
              <a:rPr lang="ru-RU" b="0" i="0" u="none" strike="noStrike" baseline="30000" dirty="0">
                <a:solidFill>
                  <a:srgbClr val="3366CC"/>
                </a:solidFill>
                <a:effectLst/>
                <a:latin typeface="Arial" panose="020B0604020202020204" pitchFamily="34" charset="0"/>
                <a:hlinkClick r:id="rId5"/>
              </a:rPr>
              <a:t>[12]</a:t>
            </a:r>
            <a:r>
              <a:rPr lang="ru-RU" b="0" i="0" dirty="0">
                <a:solidFill>
                  <a:srgbClr val="202122"/>
                </a:solidFill>
                <a:effectLst/>
                <a:latin typeface="Arial" panose="020B0604020202020204" pitchFamily="34" charset="0"/>
              </a:rPr>
              <a:t> Первоначальное название SEQUEL, которое многие считают каламбуром на </a:t>
            </a:r>
            <a:r>
              <a:rPr lang="ru-RU" b="0" i="0" u="none" strike="noStrike" dirty="0">
                <a:solidFill>
                  <a:srgbClr val="3366CC"/>
                </a:solidFill>
                <a:effectLst/>
                <a:latin typeface="Arial" panose="020B0604020202020204" pitchFamily="34" charset="0"/>
                <a:hlinkClick r:id="rId38" tooltip="Языки запросов QUEL"/>
              </a:rPr>
              <a:t>QUEL</a:t>
            </a:r>
            <a:r>
              <a:rPr lang="ru-RU" b="0" i="0" dirty="0">
                <a:solidFill>
                  <a:srgbClr val="202122"/>
                </a:solidFill>
                <a:effectLst/>
                <a:latin typeface="Arial" panose="020B0604020202020204" pitchFamily="34" charset="0"/>
              </a:rPr>
              <a:t>, языке запросов </a:t>
            </a:r>
            <a:r>
              <a:rPr lang="ru-RU" b="0" i="0" u="none" strike="noStrike" dirty="0" err="1">
                <a:solidFill>
                  <a:srgbClr val="3366CC"/>
                </a:solidFill>
                <a:effectLst/>
                <a:latin typeface="Arial" panose="020B0604020202020204" pitchFamily="34" charset="0"/>
                <a:hlinkClick r:id="rId39" tooltip="Ingres (база данных)"/>
              </a:rPr>
              <a:t>Ingres</a:t>
            </a:r>
            <a:r>
              <a:rPr lang="ru-RU" b="0" i="0" dirty="0">
                <a:solidFill>
                  <a:srgbClr val="202122"/>
                </a:solidFill>
                <a:effectLst/>
                <a:latin typeface="Arial" panose="020B0604020202020204" pitchFamily="34" charset="0"/>
              </a:rPr>
              <a:t>,</a:t>
            </a:r>
            <a:r>
              <a:rPr lang="ru-RU" b="0" i="0" u="none" strike="noStrike" baseline="30000" dirty="0">
                <a:solidFill>
                  <a:srgbClr val="3366CC"/>
                </a:solidFill>
                <a:effectLst/>
                <a:latin typeface="Arial" panose="020B0604020202020204" pitchFamily="34" charset="0"/>
                <a:hlinkClick r:id="rId5"/>
              </a:rPr>
              <a:t>[14]</a:t>
            </a:r>
            <a:r>
              <a:rPr lang="ru-RU" b="0" i="0" dirty="0">
                <a:solidFill>
                  <a:srgbClr val="202122"/>
                </a:solidFill>
                <a:effectLst/>
                <a:latin typeface="Arial" panose="020B0604020202020204" pitchFamily="34" charset="0"/>
              </a:rPr>
              <a:t> позже было изменено на SQL (без гласных), потому что "SEQUEL" был </a:t>
            </a:r>
            <a:r>
              <a:rPr lang="ru-RU" b="0" i="0" u="none" strike="noStrike" dirty="0">
                <a:solidFill>
                  <a:srgbClr val="3366CC"/>
                </a:solidFill>
                <a:effectLst/>
                <a:latin typeface="Arial" panose="020B0604020202020204" pitchFamily="34" charset="0"/>
                <a:hlinkClick r:id="rId40" tooltip="Торговая марка"/>
              </a:rPr>
              <a:t>товарным знаком</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41" tooltip="Великобритания"/>
              </a:rPr>
              <a:t>британской</a:t>
            </a:r>
            <a:r>
              <a:rPr lang="ru-RU" b="0" i="0" dirty="0">
                <a:solidFill>
                  <a:srgbClr val="202122"/>
                </a:solidFill>
                <a:effectLst/>
                <a:latin typeface="Arial" panose="020B0604020202020204" pitchFamily="34" charset="0"/>
              </a:rPr>
              <a:t> </a:t>
            </a:r>
            <a:r>
              <a:rPr lang="ru-RU" b="0" i="0" u="none" strike="noStrike" dirty="0" err="1">
                <a:solidFill>
                  <a:srgbClr val="3366CC"/>
                </a:solidFill>
                <a:effectLst/>
                <a:latin typeface="Arial" panose="020B0604020202020204" pitchFamily="34" charset="0"/>
                <a:hlinkClick r:id="rId42" tooltip="Хокер Сиддели"/>
              </a:rPr>
              <a:t>Hawker</a:t>
            </a:r>
            <a:r>
              <a:rPr lang="ru-RU" b="0" i="0" u="none" strike="noStrike" dirty="0">
                <a:solidFill>
                  <a:srgbClr val="3366CC"/>
                </a:solidFill>
                <a:effectLst/>
                <a:latin typeface="Arial" panose="020B0604020202020204" pitchFamily="34" charset="0"/>
                <a:hlinkClick r:id="rId42" tooltip="Хокер Сиддели"/>
              </a:rPr>
              <a:t> </a:t>
            </a:r>
            <a:r>
              <a:rPr lang="ru-RU" b="0" i="0" u="none" strike="noStrike" dirty="0" err="1">
                <a:solidFill>
                  <a:srgbClr val="3366CC"/>
                </a:solidFill>
                <a:effectLst/>
                <a:latin typeface="Arial" panose="020B0604020202020204" pitchFamily="34" charset="0"/>
                <a:hlinkClick r:id="rId42" tooltip="Хокер Сиддели"/>
              </a:rPr>
              <a:t>Siddeley</a:t>
            </a:r>
            <a:r>
              <a:rPr lang="ru-RU" b="0" i="0" dirty="0">
                <a:solidFill>
                  <a:srgbClr val="202122"/>
                </a:solidFill>
                <a:effectLst/>
                <a:latin typeface="Arial" panose="020B0604020202020204" pitchFamily="34" charset="0"/>
              </a:rPr>
              <a:t> Dynamics Engineering Limited </a:t>
            </a:r>
            <a:r>
              <a:rPr lang="ru-RU" b="0" i="0" dirty="0" err="1">
                <a:solidFill>
                  <a:srgbClr val="202122"/>
                </a:solidFill>
                <a:effectLst/>
                <a:latin typeface="Arial" panose="020B0604020202020204" pitchFamily="34" charset="0"/>
              </a:rPr>
              <a:t>company</a:t>
            </a:r>
            <a:r>
              <a:rPr lang="ru-RU" b="0" i="0" dirty="0">
                <a:solidFill>
                  <a:srgbClr val="202122"/>
                </a:solidFill>
                <a:effectLst/>
                <a:latin typeface="Arial" panose="020B0604020202020204" pitchFamily="34" charset="0"/>
              </a:rPr>
              <a:t>.</a:t>
            </a:r>
            <a:r>
              <a:rPr lang="ru-RU" b="0" i="0" u="none" strike="noStrike" baseline="30000" dirty="0">
                <a:solidFill>
                  <a:srgbClr val="3366CC"/>
                </a:solidFill>
                <a:effectLst/>
                <a:latin typeface="Arial" panose="020B0604020202020204" pitchFamily="34" charset="0"/>
                <a:hlinkClick r:id="rId5"/>
              </a:rPr>
              <a:t>[15]</a:t>
            </a:r>
            <a:r>
              <a:rPr lang="ru-RU" b="0" i="0" dirty="0">
                <a:solidFill>
                  <a:srgbClr val="202122"/>
                </a:solidFill>
                <a:effectLst/>
                <a:latin typeface="Arial" panose="020B0604020202020204" pitchFamily="34" charset="0"/>
              </a:rPr>
              <a:t> Ярлык SQL позже стал аббревиатурой от </a:t>
            </a:r>
            <a:r>
              <a:rPr lang="ru-RU" b="0" i="0" dirty="0" err="1">
                <a:solidFill>
                  <a:srgbClr val="202122"/>
                </a:solidFill>
                <a:effectLst/>
                <a:latin typeface="Arial" panose="020B0604020202020204" pitchFamily="34" charset="0"/>
              </a:rPr>
              <a:t>Structured</a:t>
            </a:r>
            <a:r>
              <a:rPr lang="ru-RU" b="0" i="0" dirty="0">
                <a:solidFill>
                  <a:srgbClr val="202122"/>
                </a:solidFill>
                <a:effectLst/>
                <a:latin typeface="Arial" panose="020B0604020202020204" pitchFamily="34" charset="0"/>
              </a:rPr>
              <a:t> </a:t>
            </a:r>
            <a:r>
              <a:rPr lang="ru-RU" b="0" i="0" dirty="0" err="1">
                <a:solidFill>
                  <a:srgbClr val="202122"/>
                </a:solidFill>
                <a:effectLst/>
                <a:latin typeface="Arial" panose="020B0604020202020204" pitchFamily="34" charset="0"/>
              </a:rPr>
              <a:t>Query</a:t>
            </a:r>
            <a:r>
              <a:rPr lang="ru-RU" b="0" i="0" dirty="0">
                <a:solidFill>
                  <a:srgbClr val="202122"/>
                </a:solidFill>
                <a:effectLst/>
                <a:latin typeface="Arial" panose="020B0604020202020204" pitchFamily="34" charset="0"/>
              </a:rPr>
              <a:t> Language (Язык структурированных запросов).</a:t>
            </a:r>
          </a:p>
          <a:p>
            <a:pPr algn="l" rtl="0"/>
            <a:r>
              <a:rPr lang="ru-RU" b="0" i="0" dirty="0">
                <a:solidFill>
                  <a:srgbClr val="202122"/>
                </a:solidFill>
                <a:effectLst/>
                <a:latin typeface="Arial" panose="020B0604020202020204" pitchFamily="34" charset="0"/>
              </a:rPr>
              <a:t>После тестирования SQL на тестовых площадках заказчиков для определения полезности и практичности системы IBM начала разработку коммерческих продуктов на основе своего прототипа System R, включая </a:t>
            </a:r>
            <a:r>
              <a:rPr lang="ru-RU" b="0" i="0" u="none" strike="noStrike" dirty="0">
                <a:solidFill>
                  <a:srgbClr val="3366CC"/>
                </a:solidFill>
                <a:effectLst/>
                <a:latin typeface="Arial" panose="020B0604020202020204" pitchFamily="34" charset="0"/>
                <a:hlinkClick r:id="rId43" tooltip="IBM System/38"/>
              </a:rPr>
              <a:t>System /38</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44" tooltip="IBM SQL/DS"/>
              </a:rPr>
              <a:t>SQL/DS</a:t>
            </a:r>
            <a:r>
              <a:rPr lang="ru-RU" b="0" i="0" dirty="0">
                <a:solidFill>
                  <a:srgbClr val="202122"/>
                </a:solidFill>
                <a:effectLst/>
                <a:latin typeface="Arial" panose="020B0604020202020204" pitchFamily="34" charset="0"/>
              </a:rPr>
              <a:t> и </a:t>
            </a:r>
            <a:r>
              <a:rPr lang="ru-RU" b="0" i="0" u="none" strike="noStrike" dirty="0">
                <a:solidFill>
                  <a:srgbClr val="3366CC"/>
                </a:solidFill>
                <a:effectLst/>
                <a:latin typeface="Arial" panose="020B0604020202020204" pitchFamily="34" charset="0"/>
                <a:hlinkClick r:id="rId45" tooltip="IBM Db2"/>
              </a:rPr>
              <a:t>IBM Db2</a:t>
            </a:r>
            <a:r>
              <a:rPr lang="ru-RU" b="0" i="0" dirty="0">
                <a:solidFill>
                  <a:srgbClr val="202122"/>
                </a:solidFill>
                <a:effectLst/>
                <a:latin typeface="Arial" panose="020B0604020202020204" pitchFamily="34" charset="0"/>
              </a:rPr>
              <a:t>, которые были коммерчески доступны в 1979, 1981 и 1983 годах соответственно.</a:t>
            </a:r>
            <a:r>
              <a:rPr lang="ru-RU" b="0" i="0" u="none" strike="noStrike" baseline="30000" dirty="0">
                <a:solidFill>
                  <a:srgbClr val="3366CC"/>
                </a:solidFill>
                <a:effectLst/>
                <a:latin typeface="Arial" panose="020B0604020202020204" pitchFamily="34" charset="0"/>
                <a:hlinkClick r:id="rId5"/>
              </a:rPr>
              <a:t>[16]</a:t>
            </a:r>
            <a:endParaRPr lang="ru-RU" b="0" i="0" dirty="0">
              <a:solidFill>
                <a:srgbClr val="202122"/>
              </a:solidFill>
              <a:effectLst/>
              <a:latin typeface="Arial" panose="020B0604020202020204" pitchFamily="34" charset="0"/>
            </a:endParaRPr>
          </a:p>
          <a:p>
            <a:pPr algn="l" rtl="0"/>
            <a:r>
              <a:rPr lang="ru-RU" b="0" i="0" dirty="0">
                <a:solidFill>
                  <a:srgbClr val="202122"/>
                </a:solidFill>
                <a:effectLst/>
                <a:latin typeface="Arial" panose="020B0604020202020204" pitchFamily="34" charset="0"/>
              </a:rPr>
              <a:t>В конце 1970-х годов </a:t>
            </a:r>
            <a:r>
              <a:rPr lang="ru-RU" b="0" i="0" dirty="0" err="1">
                <a:solidFill>
                  <a:srgbClr val="202122"/>
                </a:solidFill>
                <a:effectLst/>
                <a:latin typeface="Arial" panose="020B0604020202020204" pitchFamily="34" charset="0"/>
              </a:rPr>
              <a:t>Relational</a:t>
            </a:r>
            <a:r>
              <a:rPr lang="ru-RU" b="0" i="0" dirty="0">
                <a:solidFill>
                  <a:srgbClr val="202122"/>
                </a:solidFill>
                <a:effectLst/>
                <a:latin typeface="Arial" panose="020B0604020202020204" pitchFamily="34" charset="0"/>
              </a:rPr>
              <a:t> Software, Inc. (ныне </a:t>
            </a:r>
            <a:r>
              <a:rPr lang="ru-RU" b="0" i="0" u="none" strike="noStrike" dirty="0">
                <a:solidFill>
                  <a:srgbClr val="3366CC"/>
                </a:solidFill>
                <a:effectLst/>
                <a:latin typeface="Arial" panose="020B0604020202020204" pitchFamily="34" charset="0"/>
                <a:hlinkClick r:id="rId46" tooltip="Корпорация Oracle"/>
              </a:rPr>
              <a:t>Oracle Corporation</a:t>
            </a:r>
            <a:r>
              <a:rPr lang="ru-RU" b="0" i="0" dirty="0">
                <a:solidFill>
                  <a:srgbClr val="202122"/>
                </a:solidFill>
                <a:effectLst/>
                <a:latin typeface="Arial" panose="020B0604020202020204" pitchFamily="34" charset="0"/>
              </a:rPr>
              <a:t>) увидела потенциал концепций, описанных Коддом, </a:t>
            </a:r>
            <a:r>
              <a:rPr lang="ru-RU" b="0" i="0" dirty="0" err="1">
                <a:solidFill>
                  <a:srgbClr val="202122"/>
                </a:solidFill>
                <a:effectLst/>
                <a:latin typeface="Arial" panose="020B0604020202020204" pitchFamily="34" charset="0"/>
              </a:rPr>
              <a:t>Чемберлином</a:t>
            </a:r>
            <a:r>
              <a:rPr lang="ru-RU" b="0" i="0" dirty="0">
                <a:solidFill>
                  <a:srgbClr val="202122"/>
                </a:solidFill>
                <a:effectLst/>
                <a:latin typeface="Arial" panose="020B0604020202020204" pitchFamily="34" charset="0"/>
              </a:rPr>
              <a:t> и Бойсом, и разработала свою собственную </a:t>
            </a:r>
            <a:r>
              <a:rPr lang="ru-RU" b="0" i="0" u="none" strike="noStrike" dirty="0">
                <a:solidFill>
                  <a:srgbClr val="3366CC"/>
                </a:solidFill>
                <a:effectLst/>
                <a:latin typeface="Arial" panose="020B0604020202020204" pitchFamily="34" charset="0"/>
                <a:hlinkClick r:id="rId47" tooltip="Реляционная база данных"/>
              </a:rPr>
              <a:t>СУБД</a:t>
            </a:r>
            <a:r>
              <a:rPr lang="ru-RU" b="0" i="0" dirty="0">
                <a:solidFill>
                  <a:srgbClr val="202122"/>
                </a:solidFill>
                <a:effectLst/>
                <a:latin typeface="Arial" panose="020B0604020202020204" pitchFamily="34" charset="0"/>
              </a:rPr>
              <a:t> на основе SQL с целью продажи ее </a:t>
            </a:r>
            <a:r>
              <a:rPr lang="ru-RU" b="0" i="0" u="none" strike="noStrike" dirty="0">
                <a:solidFill>
                  <a:srgbClr val="3366CC"/>
                </a:solidFill>
                <a:effectLst/>
                <a:latin typeface="Arial" panose="020B0604020202020204" pitchFamily="34" charset="0"/>
                <a:hlinkClick r:id="rId48" tooltip="Военно-морской флот Соединенных Штатов"/>
              </a:rPr>
              <a:t>Военно-морскому флоту</a:t>
            </a:r>
            <a:r>
              <a:rPr lang="ru-RU" b="0" i="0" dirty="0">
                <a:solidFill>
                  <a:srgbClr val="202122"/>
                </a:solidFill>
                <a:effectLst/>
                <a:latin typeface="Arial" panose="020B0604020202020204" pitchFamily="34" charset="0"/>
              </a:rPr>
              <a:t> США, </a:t>
            </a:r>
            <a:r>
              <a:rPr lang="ru-RU" b="0" i="0" u="none" strike="noStrike" dirty="0">
                <a:solidFill>
                  <a:srgbClr val="3366CC"/>
                </a:solidFill>
                <a:effectLst/>
                <a:latin typeface="Arial" panose="020B0604020202020204" pitchFamily="34" charset="0"/>
                <a:hlinkClick r:id="rId49" tooltip="Центральное разведывательное управление"/>
              </a:rPr>
              <a:t>Центральному разведывательному управлению</a:t>
            </a:r>
            <a:r>
              <a:rPr lang="ru-RU" b="0" i="0" dirty="0">
                <a:solidFill>
                  <a:srgbClr val="202122"/>
                </a:solidFill>
                <a:effectLst/>
                <a:latin typeface="Arial" panose="020B0604020202020204" pitchFamily="34" charset="0"/>
              </a:rPr>
              <a:t> и другим </a:t>
            </a:r>
            <a:r>
              <a:rPr lang="ru-RU" b="0" i="0" u="none" strike="noStrike" dirty="0">
                <a:solidFill>
                  <a:srgbClr val="3366CC"/>
                </a:solidFill>
                <a:effectLst/>
                <a:latin typeface="Arial" panose="020B0604020202020204" pitchFamily="34" charset="0"/>
                <a:hlinkClick r:id="rId50" tooltip="Федеральное правительство Соединенных Штатов"/>
              </a:rPr>
              <a:t>правительственным</a:t>
            </a:r>
            <a:r>
              <a:rPr lang="ru-RU" b="0" i="0" dirty="0">
                <a:solidFill>
                  <a:srgbClr val="202122"/>
                </a:solidFill>
                <a:effectLst/>
                <a:latin typeface="Arial" panose="020B0604020202020204" pitchFamily="34" charset="0"/>
              </a:rPr>
              <a:t> учреждениям США. В июне 1979 года </a:t>
            </a:r>
            <a:r>
              <a:rPr lang="ru-RU" b="0" i="0" dirty="0" err="1">
                <a:solidFill>
                  <a:srgbClr val="202122"/>
                </a:solidFill>
                <a:effectLst/>
                <a:latin typeface="Arial" panose="020B0604020202020204" pitchFamily="34" charset="0"/>
              </a:rPr>
              <a:t>Relational</a:t>
            </a:r>
            <a:r>
              <a:rPr lang="ru-RU" b="0" i="0" dirty="0">
                <a:solidFill>
                  <a:srgbClr val="202122"/>
                </a:solidFill>
                <a:effectLst/>
                <a:latin typeface="Arial" panose="020B0604020202020204" pitchFamily="34" charset="0"/>
              </a:rPr>
              <a:t> Software представила одну из первых коммерчески доступных реализаций SQL, </a:t>
            </a:r>
            <a:r>
              <a:rPr lang="ru-RU" b="0" i="0" u="none" strike="noStrike" dirty="0">
                <a:solidFill>
                  <a:srgbClr val="3366CC"/>
                </a:solidFill>
                <a:effectLst/>
                <a:latin typeface="Arial" panose="020B0604020202020204" pitchFamily="34" charset="0"/>
                <a:hlinkClick r:id="rId51" tooltip="База данных Oracle"/>
              </a:rPr>
              <a:t>Oracle</a:t>
            </a:r>
            <a:r>
              <a:rPr lang="ru-RU" b="0" i="0" dirty="0">
                <a:solidFill>
                  <a:srgbClr val="202122"/>
                </a:solidFill>
                <a:effectLst/>
                <a:latin typeface="Arial" panose="020B0604020202020204" pitchFamily="34" charset="0"/>
              </a:rPr>
              <a:t> V2 (Version2) для компьютеров </a:t>
            </a:r>
            <a:r>
              <a:rPr lang="ru-RU" b="0" i="0" u="none" strike="noStrike" dirty="0">
                <a:solidFill>
                  <a:srgbClr val="3366CC"/>
                </a:solidFill>
                <a:effectLst/>
                <a:latin typeface="Arial" panose="020B0604020202020204" pitchFamily="34" charset="0"/>
                <a:hlinkClick r:id="rId52" tooltip="VAX"/>
              </a:rPr>
              <a:t>VAX</a:t>
            </a:r>
            <a:r>
              <a:rPr lang="ru-RU" b="0" i="0" dirty="0">
                <a:solidFill>
                  <a:srgbClr val="202122"/>
                </a:solidFill>
                <a:effectLst/>
                <a:latin typeface="Arial" panose="020B0604020202020204" pitchFamily="34" charset="0"/>
              </a:rPr>
              <a:t>.</a:t>
            </a:r>
          </a:p>
          <a:p>
            <a:pPr algn="l" rtl="0"/>
            <a:r>
              <a:rPr lang="ru-RU" b="0" i="0" dirty="0">
                <a:solidFill>
                  <a:srgbClr val="202122"/>
                </a:solidFill>
                <a:effectLst/>
                <a:latin typeface="Arial" panose="020B0604020202020204" pitchFamily="34" charset="0"/>
              </a:rPr>
              <a:t>К 1986 году группы стандартов ANSI и ISO официально приняли стандартное определение языка "Язык базы данных SQL". Новые версии стандарта были опубликованы в 1989, 1992, 1996, 1999, 2003, 2006, 2008, 2011, </a:t>
            </a:r>
            <a:r>
              <a:rPr lang="ru-RU" b="0" i="0" u="none" strike="noStrike" baseline="30000" dirty="0">
                <a:solidFill>
                  <a:srgbClr val="3366CC"/>
                </a:solidFill>
                <a:effectLst/>
                <a:latin typeface="Arial" panose="020B0604020202020204" pitchFamily="34" charset="0"/>
                <a:hlinkClick r:id="rId5"/>
              </a:rPr>
              <a:t>[12]</a:t>
            </a:r>
            <a:r>
              <a:rPr lang="ru-RU" b="0" i="0" dirty="0">
                <a:solidFill>
                  <a:srgbClr val="202122"/>
                </a:solidFill>
                <a:effectLst/>
                <a:latin typeface="Arial" panose="020B0604020202020204" pitchFamily="34" charset="0"/>
              </a:rPr>
              <a:t> и совсем недавно, в 2016 году.</a:t>
            </a:r>
            <a:r>
              <a:rPr lang="ru-RU" b="0" i="0" u="none" strike="noStrike" baseline="30000" dirty="0">
                <a:solidFill>
                  <a:srgbClr val="3366CC"/>
                </a:solidFill>
                <a:effectLst/>
                <a:latin typeface="Arial" panose="020B0604020202020204" pitchFamily="34" charset="0"/>
                <a:hlinkClick r:id="rId5"/>
              </a:rPr>
              <a:t>[17]</a:t>
            </a:r>
            <a:endParaRPr lang="ru-RU" b="0" i="0" dirty="0">
              <a:solidFill>
                <a:srgbClr val="202122"/>
              </a:solidFill>
              <a:effectLst/>
              <a:latin typeface="Arial" panose="020B0604020202020204" pitchFamily="34" charset="0"/>
            </a:endParaRPr>
          </a:p>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2</a:t>
            </a:fld>
            <a:endParaRPr lang="ru-RU"/>
          </a:p>
        </p:txBody>
      </p:sp>
    </p:spTree>
    <p:extLst>
      <p:ext uri="{BB962C8B-B14F-4D97-AF65-F5344CB8AC3E}">
        <p14:creationId xmlns:p14="http://schemas.microsoft.com/office/powerpoint/2010/main" val="1932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55000" lnSpcReduction="20000"/>
          </a:bodyPr>
          <a:lstStyle/>
          <a:p>
            <a:r>
              <a:rPr lang="en-US" dirty="0"/>
              <a:t>https://translated.turbopages.org/proxy_u/en-ru.ru.ec1d9768-643560d5-5098fbaa-74722d776562/https/</a:t>
            </a:r>
            <a:r>
              <a:rPr lang="en-US" b="1" dirty="0"/>
              <a:t>en.wikipedia.org/wiki/SQL</a:t>
            </a:r>
            <a:r>
              <a:rPr lang="ru-RU" b="1" dirty="0"/>
              <a:t> </a:t>
            </a:r>
          </a:p>
          <a:p>
            <a:r>
              <a:rPr lang="ru-RU" b="1" dirty="0"/>
              <a:t>О последнем стандарте </a:t>
            </a:r>
            <a:r>
              <a:rPr lang="ru-RU" b="1" i="0" dirty="0">
                <a:solidFill>
                  <a:srgbClr val="202122"/>
                </a:solidFill>
                <a:effectLst/>
                <a:latin typeface="Arial" panose="020B0604020202020204" pitchFamily="34" charset="0"/>
              </a:rPr>
              <a:t>ISO/IEC 9075-1:2016 </a:t>
            </a:r>
            <a:r>
              <a:rPr lang="en-US" b="1" i="0" dirty="0">
                <a:solidFill>
                  <a:srgbClr val="202122"/>
                </a:solidFill>
                <a:effectLst/>
                <a:latin typeface="Arial" panose="020B0604020202020204" pitchFamily="34" charset="0"/>
              </a:rPr>
              <a:t>(SQL:2016) </a:t>
            </a:r>
            <a:r>
              <a:rPr lang="ru-RU" b="0" i="0" dirty="0">
                <a:solidFill>
                  <a:srgbClr val="202122"/>
                </a:solidFill>
                <a:effectLst/>
                <a:latin typeface="Arial" panose="020B0604020202020204" pitchFamily="34" charset="0"/>
              </a:rPr>
              <a:t>с добавлением </a:t>
            </a:r>
            <a:r>
              <a:rPr lang="ru-RU" b="1" i="0" dirty="0">
                <a:solidFill>
                  <a:srgbClr val="202122"/>
                </a:solidFill>
                <a:effectLst/>
                <a:latin typeface="Arial" panose="020B0604020202020204" pitchFamily="34" charset="0"/>
              </a:rPr>
              <a:t>изменений 2019 года</a:t>
            </a:r>
            <a:r>
              <a:rPr lang="ru-RU" b="1" dirty="0"/>
              <a:t>.</a:t>
            </a:r>
          </a:p>
          <a:p>
            <a:pPr algn="l"/>
            <a:r>
              <a:rPr lang="ru-RU" b="1" i="0" dirty="0">
                <a:solidFill>
                  <a:srgbClr val="000000"/>
                </a:solidFill>
                <a:effectLst/>
                <a:latin typeface="Arial" panose="020B0604020202020204" pitchFamily="34" charset="0"/>
              </a:rPr>
              <a:t>Анатомия стандарта SQL</a:t>
            </a:r>
            <a:r>
              <a:rPr lang="ru-RU" b="0" i="0" dirty="0">
                <a:solidFill>
                  <a:srgbClr val="54595D"/>
                </a:solidFill>
                <a:effectLst/>
                <a:latin typeface="Arial" panose="020B0604020202020204" pitchFamily="34" charset="0"/>
              </a:rPr>
              <a:t>[</a:t>
            </a:r>
            <a:r>
              <a:rPr lang="ru-RU" b="0" i="0" u="none" strike="noStrike" dirty="0">
                <a:solidFill>
                  <a:srgbClr val="3366CC"/>
                </a:solidFill>
                <a:effectLst/>
                <a:latin typeface="Arial" panose="020B0604020202020204" pitchFamily="34" charset="0"/>
                <a:hlinkClick r:id="rId3" tooltip="Редактировать раздел: Анатомия стандарта SQL"/>
              </a:rPr>
              <a:t>редактировать</a:t>
            </a:r>
            <a:r>
              <a:rPr lang="ru-RU" b="0" i="0" dirty="0">
                <a:solidFill>
                  <a:srgbClr val="54595D"/>
                </a:solidFill>
                <a:effectLst/>
                <a:latin typeface="Arial" panose="020B0604020202020204" pitchFamily="34" charset="0"/>
              </a:rPr>
              <a:t>]</a:t>
            </a:r>
            <a:endParaRPr lang="ru-RU" b="1" i="0" dirty="0">
              <a:solidFill>
                <a:srgbClr val="000000"/>
              </a:solidFill>
              <a:effectLst/>
              <a:latin typeface="Arial" panose="020B0604020202020204" pitchFamily="34" charset="0"/>
            </a:endParaRPr>
          </a:p>
          <a:p>
            <a:pPr algn="l"/>
            <a:r>
              <a:rPr lang="ru-RU" b="0" i="0" dirty="0">
                <a:solidFill>
                  <a:srgbClr val="202122"/>
                </a:solidFill>
                <a:effectLst/>
                <a:latin typeface="Arial" panose="020B0604020202020204" pitchFamily="34" charset="0"/>
              </a:rPr>
              <a:t>Стандарт SQL разделен на 10 частей, но с пробелами в нумерации из-за изъятия устаревших частей.</a:t>
            </a: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9075-1:2016 Часть 1: </a:t>
            </a:r>
            <a:r>
              <a:rPr lang="ru-RU" b="0" i="1" dirty="0">
                <a:solidFill>
                  <a:srgbClr val="202122"/>
                </a:solidFill>
                <a:effectLst/>
                <a:latin typeface="Arial" panose="020B0604020202020204" pitchFamily="34" charset="0"/>
              </a:rPr>
              <a:t>Фреймворк</a:t>
            </a:r>
            <a:r>
              <a:rPr lang="ru-RU" b="0" i="0" dirty="0">
                <a:solidFill>
                  <a:srgbClr val="202122"/>
                </a:solidFill>
                <a:effectLst/>
                <a:latin typeface="Arial" panose="020B0604020202020204" pitchFamily="34" charset="0"/>
              </a:rPr>
              <a:t> (SQL/Framework). Он предоставляет логические концепции.</a:t>
            </a:r>
            <a:r>
              <a:rPr lang="ru-RU" b="0" i="0" u="none" strike="noStrike" baseline="30000" dirty="0">
                <a:solidFill>
                  <a:srgbClr val="3366CC"/>
                </a:solidFill>
                <a:effectLst/>
                <a:latin typeface="Arial" panose="020B0604020202020204" pitchFamily="34" charset="0"/>
                <a:hlinkClick r:id="rId4"/>
              </a:rPr>
              <a:t>[42]</a:t>
            </a:r>
            <a:endParaRPr lang="ru-RU" b="0" i="0" dirty="0">
              <a:solidFill>
                <a:srgbClr val="202122"/>
              </a:solidFill>
              <a:effectLst/>
              <a:latin typeface="Arial" panose="020B0604020202020204" pitchFamily="34" charset="0"/>
            </a:endParaRP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9075-2:2016 Часть 2: </a:t>
            </a:r>
            <a:r>
              <a:rPr lang="ru-RU" b="0" i="1" dirty="0">
                <a:solidFill>
                  <a:srgbClr val="202122"/>
                </a:solidFill>
                <a:effectLst/>
                <a:latin typeface="Arial" panose="020B0604020202020204" pitchFamily="34" charset="0"/>
              </a:rPr>
              <a:t>Основа</a:t>
            </a:r>
            <a:r>
              <a:rPr lang="ru-RU" b="0" i="0" dirty="0">
                <a:solidFill>
                  <a:srgbClr val="202122"/>
                </a:solidFill>
                <a:effectLst/>
                <a:latin typeface="Arial" panose="020B0604020202020204" pitchFamily="34" charset="0"/>
              </a:rPr>
              <a:t> (SQL/Foundation). Он содержит наиболее важные элементы языка и состоит как из </a:t>
            </a:r>
            <a:r>
              <a:rPr lang="ru-RU" b="0" i="1" dirty="0">
                <a:solidFill>
                  <a:srgbClr val="202122"/>
                </a:solidFill>
                <a:effectLst/>
                <a:latin typeface="Arial" panose="020B0604020202020204" pitchFamily="34" charset="0"/>
              </a:rPr>
              <a:t>обязательных, так и необязательных</a:t>
            </a:r>
            <a:r>
              <a:rPr lang="ru-RU" b="0" i="0" dirty="0">
                <a:solidFill>
                  <a:srgbClr val="202122"/>
                </a:solidFill>
                <a:effectLst/>
                <a:latin typeface="Arial" panose="020B0604020202020204" pitchFamily="34" charset="0"/>
              </a:rPr>
              <a:t> функций.</a:t>
            </a:r>
            <a:r>
              <a:rPr lang="ru-RU" b="0" i="0" u="none" strike="noStrike" baseline="30000" dirty="0">
                <a:solidFill>
                  <a:srgbClr val="3366CC"/>
                </a:solidFill>
                <a:effectLst/>
                <a:latin typeface="Arial" panose="020B0604020202020204" pitchFamily="34" charset="0"/>
                <a:hlinkClick r:id="rId4"/>
              </a:rPr>
              <a:t>[43]</a:t>
            </a:r>
            <a:endParaRPr lang="ru-RU" b="0" i="0" dirty="0">
              <a:solidFill>
                <a:srgbClr val="202122"/>
              </a:solidFill>
              <a:effectLst/>
              <a:latin typeface="Arial" panose="020B0604020202020204" pitchFamily="34" charset="0"/>
            </a:endParaRP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9075-3:2016 Часть 3: </a:t>
            </a:r>
            <a:r>
              <a:rPr lang="ru-RU" b="0" i="1" dirty="0">
                <a:solidFill>
                  <a:srgbClr val="202122"/>
                </a:solidFill>
                <a:effectLst/>
                <a:latin typeface="Arial" panose="020B0604020202020204" pitchFamily="34" charset="0"/>
              </a:rPr>
              <a:t>Интерфейс уровня вызова</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5" tooltip="SQL/CLI"/>
              </a:rPr>
              <a:t>SQL / CLI</a:t>
            </a:r>
            <a:r>
              <a:rPr lang="ru-RU" b="0" i="0" dirty="0">
                <a:solidFill>
                  <a:srgbClr val="202122"/>
                </a:solidFill>
                <a:effectLst/>
                <a:latin typeface="Arial" panose="020B0604020202020204" pitchFamily="34" charset="0"/>
              </a:rPr>
              <a:t>). Он определяет взаимодействующие компоненты (структуры, процедуры, привязки переменных), которые могут использоваться для выполнения инструкций SQL из приложений, написанных на </a:t>
            </a:r>
            <a:r>
              <a:rPr lang="ru-RU" b="0" i="0" dirty="0" err="1">
                <a:solidFill>
                  <a:srgbClr val="202122"/>
                </a:solidFill>
                <a:effectLst/>
                <a:latin typeface="Arial" panose="020B0604020202020204" pitchFamily="34" charset="0"/>
              </a:rPr>
              <a:t>Ada</a:t>
            </a:r>
            <a:r>
              <a:rPr lang="ru-RU" b="0" i="0" dirty="0">
                <a:solidFill>
                  <a:srgbClr val="202122"/>
                </a:solidFill>
                <a:effectLst/>
                <a:latin typeface="Arial" panose="020B0604020202020204" pitchFamily="34" charset="0"/>
              </a:rPr>
              <a:t>, C соответственно на </a:t>
            </a:r>
            <a:r>
              <a:rPr lang="ru-RU" b="0" i="0" u="none" strike="noStrike" dirty="0">
                <a:solidFill>
                  <a:srgbClr val="3366CC"/>
                </a:solidFill>
                <a:effectLst/>
                <a:latin typeface="Arial" panose="020B0604020202020204" pitchFamily="34" charset="0"/>
                <a:hlinkClick r:id="rId6" tooltip="C++"/>
              </a:rPr>
              <a:t>C ++</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7" tooltip="COBOL"/>
              </a:rPr>
              <a:t>COBOL</a:t>
            </a:r>
            <a:r>
              <a:rPr lang="ru-RU" b="0" i="0" dirty="0">
                <a:solidFill>
                  <a:srgbClr val="202122"/>
                </a:solidFill>
                <a:effectLst/>
                <a:latin typeface="Arial" panose="020B0604020202020204" pitchFamily="34" charset="0"/>
              </a:rPr>
              <a:t>, </a:t>
            </a:r>
            <a:r>
              <a:rPr lang="ru-RU" b="0" i="0" u="none" strike="noStrike" dirty="0" err="1">
                <a:solidFill>
                  <a:srgbClr val="3366CC"/>
                </a:solidFill>
                <a:effectLst/>
                <a:latin typeface="Arial" panose="020B0604020202020204" pitchFamily="34" charset="0"/>
                <a:hlinkClick r:id="rId8" tooltip="Фортран"/>
              </a:rPr>
              <a:t>Fortran</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9" tooltip="СВИНКА"/>
              </a:rPr>
              <a:t>MUMPS</a:t>
            </a:r>
            <a:r>
              <a:rPr lang="ru-RU" b="0" i="0" dirty="0">
                <a:solidFill>
                  <a:srgbClr val="202122"/>
                </a:solidFill>
                <a:effectLst/>
                <a:latin typeface="Arial" panose="020B0604020202020204" pitchFamily="34" charset="0"/>
              </a:rPr>
              <a:t>, </a:t>
            </a:r>
            <a:r>
              <a:rPr lang="ru-RU" b="0" i="0" u="none" strike="noStrike" dirty="0" err="1">
                <a:solidFill>
                  <a:srgbClr val="3366CC"/>
                </a:solidFill>
                <a:effectLst/>
                <a:latin typeface="Arial" panose="020B0604020202020204" pitchFamily="34" charset="0"/>
                <a:hlinkClick r:id="rId10" tooltip="Паскаль (язык программирования)"/>
              </a:rPr>
              <a:t>Pascal</a:t>
            </a:r>
            <a:r>
              <a:rPr lang="ru-RU" b="0" i="0" dirty="0">
                <a:solidFill>
                  <a:srgbClr val="202122"/>
                </a:solidFill>
                <a:effectLst/>
                <a:latin typeface="Arial" panose="020B0604020202020204" pitchFamily="34" charset="0"/>
              </a:rPr>
              <a:t> или PL / I. (Для Java смотрите часть 10.) SQL / CLI определен таким образом, что инструкции SQL и вызовы процедур SQL / CLI обрабатываются отдельно от исходного кода вызывающего приложения. </a:t>
            </a:r>
            <a:r>
              <a:rPr lang="ru-RU" b="0" i="0" u="none" strike="noStrike" dirty="0">
                <a:solidFill>
                  <a:srgbClr val="3366CC"/>
                </a:solidFill>
                <a:effectLst/>
                <a:latin typeface="Arial" panose="020B0604020202020204" pitchFamily="34" charset="0"/>
                <a:hlinkClick r:id="rId11" tooltip="Открытое подключение к базе данных"/>
              </a:rPr>
              <a:t>Открытое подключение к базе данных</a:t>
            </a:r>
            <a:r>
              <a:rPr lang="ru-RU" b="0" i="0" dirty="0">
                <a:solidFill>
                  <a:srgbClr val="202122"/>
                </a:solidFill>
                <a:effectLst/>
                <a:latin typeface="Arial" panose="020B0604020202020204" pitchFamily="34" charset="0"/>
              </a:rPr>
              <a:t> - это хорошо известный надмножество SQL / CLI. Эта часть стандарта состоит исключительно из </a:t>
            </a:r>
            <a:r>
              <a:rPr lang="ru-RU" b="0" i="1" dirty="0">
                <a:solidFill>
                  <a:srgbClr val="202122"/>
                </a:solidFill>
                <a:effectLst/>
                <a:latin typeface="Arial" panose="020B0604020202020204" pitchFamily="34" charset="0"/>
              </a:rPr>
              <a:t>обязательных</a:t>
            </a:r>
            <a:r>
              <a:rPr lang="ru-RU" b="0" i="0" dirty="0">
                <a:solidFill>
                  <a:srgbClr val="202122"/>
                </a:solidFill>
                <a:effectLst/>
                <a:latin typeface="Arial" panose="020B0604020202020204" pitchFamily="34" charset="0"/>
              </a:rPr>
              <a:t> функций.</a:t>
            </a: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9075-4:2016 Часть 4: </a:t>
            </a:r>
            <a:r>
              <a:rPr lang="ru-RU" b="0" i="1" dirty="0">
                <a:solidFill>
                  <a:srgbClr val="202122"/>
                </a:solidFill>
                <a:effectLst/>
                <a:latin typeface="Arial" panose="020B0604020202020204" pitchFamily="34" charset="0"/>
              </a:rPr>
              <a:t>Постоянные хранимые модули</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12" tooltip="SQL/PSM"/>
              </a:rPr>
              <a:t>SQL/PSM</a:t>
            </a:r>
            <a:r>
              <a:rPr lang="ru-RU" b="0" i="0" dirty="0">
                <a:solidFill>
                  <a:srgbClr val="202122"/>
                </a:solidFill>
                <a:effectLst/>
                <a:latin typeface="Arial" panose="020B0604020202020204" pitchFamily="34" charset="0"/>
              </a:rPr>
              <a:t>). Он стандартизирует процедурные расширения для SQL, включая поток управления, обработку условий, сигналы состояния оператора и отказы, курсоры и локальные переменные, а также присвоение выражений переменным и параметрам. Кроме того, SQL/ PSM формализует объявление и обслуживание процедур языка постоянной базы данных (например, "хранимых процедур"). Эта часть стандарта состоит исключительно из </a:t>
            </a:r>
            <a:r>
              <a:rPr lang="ru-RU" b="0" i="1" dirty="0">
                <a:solidFill>
                  <a:srgbClr val="202122"/>
                </a:solidFill>
                <a:effectLst/>
                <a:latin typeface="Arial" panose="020B0604020202020204" pitchFamily="34" charset="0"/>
              </a:rPr>
              <a:t>необязательных</a:t>
            </a:r>
            <a:r>
              <a:rPr lang="ru-RU" b="0" i="0" dirty="0">
                <a:solidFill>
                  <a:srgbClr val="202122"/>
                </a:solidFill>
                <a:effectLst/>
                <a:latin typeface="Arial" panose="020B0604020202020204" pitchFamily="34" charset="0"/>
              </a:rPr>
              <a:t> функций.</a:t>
            </a: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9075-9:2016 Часть 9: </a:t>
            </a:r>
            <a:r>
              <a:rPr lang="ru-RU" b="0" i="1" dirty="0">
                <a:solidFill>
                  <a:srgbClr val="202122"/>
                </a:solidFill>
                <a:effectLst/>
                <a:latin typeface="Arial" panose="020B0604020202020204" pitchFamily="34" charset="0"/>
              </a:rPr>
              <a:t>Управление внешними данными</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13" tooltip="SQL/MED"/>
              </a:rPr>
              <a:t>SQL/MED</a:t>
            </a:r>
            <a:r>
              <a:rPr lang="ru-RU" b="0" i="0" dirty="0">
                <a:solidFill>
                  <a:srgbClr val="202122"/>
                </a:solidFill>
                <a:effectLst/>
                <a:latin typeface="Arial" panose="020B0604020202020204" pitchFamily="34" charset="0"/>
              </a:rPr>
              <a:t>). Он предоставляет расширения для SQL, которые определяют оболочки внешних данных и типы ссылок на данные, позволяющие SQL управлять внешними данными. Внешние данные - это данные, доступные СУБД на основе SQL, но не управляемые ими. Эта часть стандарта состоит исключительно из </a:t>
            </a:r>
            <a:r>
              <a:rPr lang="ru-RU" b="0" i="1" dirty="0">
                <a:solidFill>
                  <a:srgbClr val="202122"/>
                </a:solidFill>
                <a:effectLst/>
                <a:latin typeface="Arial" panose="020B0604020202020204" pitchFamily="34" charset="0"/>
              </a:rPr>
              <a:t>необязательных</a:t>
            </a:r>
            <a:r>
              <a:rPr lang="ru-RU" b="0" i="0" dirty="0">
                <a:solidFill>
                  <a:srgbClr val="202122"/>
                </a:solidFill>
                <a:effectLst/>
                <a:latin typeface="Arial" panose="020B0604020202020204" pitchFamily="34" charset="0"/>
              </a:rPr>
              <a:t> функций.</a:t>
            </a: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9075-10:2016 Часть 10: </a:t>
            </a:r>
            <a:r>
              <a:rPr lang="ru-RU" b="0" i="1" dirty="0">
                <a:solidFill>
                  <a:srgbClr val="202122"/>
                </a:solidFill>
                <a:effectLst/>
                <a:latin typeface="Arial" panose="020B0604020202020204" pitchFamily="34" charset="0"/>
              </a:rPr>
              <a:t>Привязки объектного языка</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14" tooltip="SQL/OLB"/>
              </a:rPr>
              <a:t>SQL/OLB</a:t>
            </a:r>
            <a:r>
              <a:rPr lang="ru-RU" b="0" i="0" dirty="0">
                <a:solidFill>
                  <a:srgbClr val="202122"/>
                </a:solidFill>
                <a:effectLst/>
                <a:latin typeface="Arial" panose="020B0604020202020204" pitchFamily="34" charset="0"/>
              </a:rPr>
              <a:t>). Он определяет синтаксис и семантику </a:t>
            </a:r>
            <a:r>
              <a:rPr lang="ru-RU" b="0" i="0" u="none" strike="noStrike" dirty="0">
                <a:solidFill>
                  <a:srgbClr val="3366CC"/>
                </a:solidFill>
                <a:effectLst/>
                <a:latin typeface="Arial" panose="020B0604020202020204" pitchFamily="34" charset="0"/>
                <a:hlinkClick r:id="rId15" tooltip="SQLJ"/>
              </a:rPr>
              <a:t>SQLJ</a:t>
            </a:r>
            <a:r>
              <a:rPr lang="ru-RU" b="0" i="0" dirty="0">
                <a:solidFill>
                  <a:srgbClr val="202122"/>
                </a:solidFill>
                <a:effectLst/>
                <a:latin typeface="Arial" panose="020B0604020202020204" pitchFamily="34" charset="0"/>
              </a:rPr>
              <a:t>, который является SQL, встроенным в Java (см. Также часть 3). Стандарт также описывает механизмы для обеспечения двоичной переносимости приложений SQLJ и определяет различные пакеты Java и содержащиеся в них классы. Эта часть стандарта состоит исключительно из </a:t>
            </a:r>
            <a:r>
              <a:rPr lang="ru-RU" b="0" i="1" dirty="0">
                <a:solidFill>
                  <a:srgbClr val="202122"/>
                </a:solidFill>
                <a:effectLst/>
                <a:latin typeface="Arial" panose="020B0604020202020204" pitchFamily="34" charset="0"/>
              </a:rPr>
              <a:t>необязательных</a:t>
            </a:r>
            <a:r>
              <a:rPr lang="ru-RU" b="0" i="0" dirty="0">
                <a:solidFill>
                  <a:srgbClr val="202122"/>
                </a:solidFill>
                <a:effectLst/>
                <a:latin typeface="Arial" panose="020B0604020202020204" pitchFamily="34" charset="0"/>
              </a:rPr>
              <a:t> функций. В отличие от SQL/ OLB, </a:t>
            </a:r>
            <a:r>
              <a:rPr lang="ru-RU" b="0" i="0" u="none" strike="noStrike" dirty="0">
                <a:solidFill>
                  <a:srgbClr val="3366CC"/>
                </a:solidFill>
                <a:effectLst/>
                <a:latin typeface="Arial" panose="020B0604020202020204" pitchFamily="34" charset="0"/>
                <a:hlinkClick r:id="rId16" tooltip="JDBC"/>
              </a:rPr>
              <a:t>JDBC</a:t>
            </a:r>
            <a:r>
              <a:rPr lang="ru-RU" b="0" i="0" dirty="0">
                <a:solidFill>
                  <a:srgbClr val="202122"/>
                </a:solidFill>
                <a:effectLst/>
                <a:latin typeface="Arial" panose="020B0604020202020204" pitchFamily="34" charset="0"/>
              </a:rPr>
              <a:t> определяет </a:t>
            </a:r>
            <a:r>
              <a:rPr lang="ru-RU" b="0" i="0" u="none" strike="noStrike" dirty="0">
                <a:solidFill>
                  <a:srgbClr val="3366CC"/>
                </a:solidFill>
                <a:effectLst/>
                <a:latin typeface="Arial" panose="020B0604020202020204" pitchFamily="34" charset="0"/>
                <a:hlinkClick r:id="rId17" tooltip="API"/>
              </a:rPr>
              <a:t>API</a:t>
            </a:r>
            <a:r>
              <a:rPr lang="ru-RU" b="0" i="0" dirty="0">
                <a:solidFill>
                  <a:srgbClr val="202122"/>
                </a:solidFill>
                <a:effectLst/>
                <a:latin typeface="Arial" panose="020B0604020202020204" pitchFamily="34" charset="0"/>
              </a:rPr>
              <a:t> и не является частью стандарта SQL.</a:t>
            </a:r>
            <a:r>
              <a:rPr lang="ru-RU" b="0" i="0" baseline="30000" dirty="0">
                <a:solidFill>
                  <a:srgbClr val="202122"/>
                </a:solidFill>
                <a:effectLst/>
                <a:latin typeface="Arial" panose="020B0604020202020204" pitchFamily="34" charset="0"/>
              </a:rPr>
              <a:t>[</a:t>
            </a:r>
            <a:r>
              <a:rPr lang="ru-RU" b="0" i="1" u="none" strike="noStrike" baseline="30000" dirty="0">
                <a:solidFill>
                  <a:srgbClr val="3366CC"/>
                </a:solidFill>
                <a:effectLst/>
                <a:latin typeface="Arial" panose="020B0604020202020204" pitchFamily="34" charset="0"/>
                <a:hlinkClick r:id="rId18" tooltip="Википедия: Требуется цитирование"/>
              </a:rPr>
              <a:t>требуется цитирование</a:t>
            </a:r>
            <a:r>
              <a:rPr lang="ru-RU" b="0" i="0" baseline="30000" dirty="0">
                <a:solidFill>
                  <a:srgbClr val="202122"/>
                </a:solidFill>
                <a:effectLst/>
                <a:latin typeface="Arial" panose="020B0604020202020204" pitchFamily="34" charset="0"/>
              </a:rPr>
              <a:t>]</a:t>
            </a:r>
            <a:endParaRPr lang="ru-RU" b="0" i="0" dirty="0">
              <a:solidFill>
                <a:srgbClr val="202122"/>
              </a:solidFill>
              <a:effectLst/>
              <a:latin typeface="Arial" panose="020B0604020202020204" pitchFamily="34" charset="0"/>
            </a:endParaRP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9075-11:2016 Часть 11: </a:t>
            </a:r>
            <a:r>
              <a:rPr lang="ru-RU" b="0" i="1" dirty="0">
                <a:solidFill>
                  <a:srgbClr val="202122"/>
                </a:solidFill>
                <a:effectLst/>
                <a:latin typeface="Arial" panose="020B0604020202020204" pitchFamily="34" charset="0"/>
              </a:rPr>
              <a:t>Схемы информации и определения</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19" tooltip="SQL/Schemata"/>
              </a:rPr>
              <a:t>SQL/</a:t>
            </a:r>
            <a:r>
              <a:rPr lang="ru-RU" b="0" i="0" u="none" strike="noStrike" dirty="0" err="1">
                <a:solidFill>
                  <a:srgbClr val="3366CC"/>
                </a:solidFill>
                <a:effectLst/>
                <a:latin typeface="Arial" panose="020B0604020202020204" pitchFamily="34" charset="0"/>
                <a:hlinkClick r:id="rId19" tooltip="SQL/Schemata"/>
              </a:rPr>
              <a:t>Schemata</a:t>
            </a:r>
            <a:r>
              <a:rPr lang="ru-RU" b="0" i="0" dirty="0">
                <a:solidFill>
                  <a:srgbClr val="202122"/>
                </a:solidFill>
                <a:effectLst/>
                <a:latin typeface="Arial" panose="020B0604020202020204" pitchFamily="34" charset="0"/>
              </a:rPr>
              <a:t>). Он определяет информационную схему и схему определения, предоставляя общий набор инструментов для </a:t>
            </a:r>
            <a:r>
              <a:rPr lang="ru-RU" b="0" i="0" dirty="0" err="1">
                <a:solidFill>
                  <a:srgbClr val="202122"/>
                </a:solidFill>
                <a:effectLst/>
                <a:latin typeface="Arial" panose="020B0604020202020204" pitchFamily="34" charset="0"/>
              </a:rPr>
              <a:t>самоописания</a:t>
            </a:r>
            <a:r>
              <a:rPr lang="ru-RU" b="0" i="0" dirty="0">
                <a:solidFill>
                  <a:srgbClr val="202122"/>
                </a:solidFill>
                <a:effectLst/>
                <a:latin typeface="Arial" panose="020B0604020202020204" pitchFamily="34" charset="0"/>
              </a:rPr>
              <a:t> баз данных и объектов SQL. Эти инструменты включают идентификатор объекта SQL, ограничения структуры и целостности, спецификации безопасности и авторизации, функции и пакеты ISO / IEC 9075, поддержку функций, предоставляемых реализациями СУБД на основе SQL, информацию о реализации СУБД на основе SQL и элементы определения размеров, а также значения, поддерживаемые реализациями СУБД.</a:t>
            </a:r>
            <a:r>
              <a:rPr lang="ru-RU" b="0" i="0" u="none" strike="noStrike" baseline="30000" dirty="0">
                <a:solidFill>
                  <a:srgbClr val="3366CC"/>
                </a:solidFill>
                <a:effectLst/>
                <a:latin typeface="Arial" panose="020B0604020202020204" pitchFamily="34" charset="0"/>
                <a:hlinkClick r:id="rId4"/>
              </a:rPr>
              <a:t>[44]</a:t>
            </a:r>
            <a:r>
              <a:rPr lang="ru-RU" b="0" i="0" dirty="0">
                <a:solidFill>
                  <a:srgbClr val="202122"/>
                </a:solidFill>
                <a:effectLst/>
                <a:latin typeface="Arial" panose="020B0604020202020204" pitchFamily="34" charset="0"/>
              </a:rPr>
              <a:t> Эта часть стандарта содержит как </a:t>
            </a:r>
            <a:r>
              <a:rPr lang="ru-RU" b="0" i="1" dirty="0">
                <a:solidFill>
                  <a:srgbClr val="202122"/>
                </a:solidFill>
                <a:effectLst/>
                <a:latin typeface="Arial" panose="020B0604020202020204" pitchFamily="34" charset="0"/>
              </a:rPr>
              <a:t>обязательные, так и необязательные</a:t>
            </a:r>
            <a:r>
              <a:rPr lang="ru-RU" b="0" i="0" dirty="0">
                <a:solidFill>
                  <a:srgbClr val="202122"/>
                </a:solidFill>
                <a:effectLst/>
                <a:latin typeface="Arial" panose="020B0604020202020204" pitchFamily="34" charset="0"/>
              </a:rPr>
              <a:t> функции.</a:t>
            </a: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9075-13:2016 Часть 13: </a:t>
            </a:r>
            <a:r>
              <a:rPr lang="ru-RU" b="0" i="1" dirty="0">
                <a:solidFill>
                  <a:srgbClr val="202122"/>
                </a:solidFill>
                <a:effectLst/>
                <a:latin typeface="Arial" panose="020B0604020202020204" pitchFamily="34" charset="0"/>
              </a:rPr>
              <a:t>Процедуры и типы SQL с использованием языка программирования Java TM</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20" tooltip="SQL/JRT"/>
              </a:rPr>
              <a:t>SQL /JRT</a:t>
            </a:r>
            <a:r>
              <a:rPr lang="ru-RU" b="0" i="0" dirty="0">
                <a:solidFill>
                  <a:srgbClr val="202122"/>
                </a:solidFill>
                <a:effectLst/>
                <a:latin typeface="Arial" panose="020B0604020202020204" pitchFamily="34" charset="0"/>
              </a:rPr>
              <a:t>). Он определяет возможность вызова статических методов Java в виде подпрограмм из приложений SQL ('Java-</a:t>
            </a:r>
            <a:r>
              <a:rPr lang="ru-RU" b="0" i="0" dirty="0" err="1">
                <a:solidFill>
                  <a:srgbClr val="202122"/>
                </a:solidFill>
                <a:effectLst/>
                <a:latin typeface="Arial" panose="020B0604020202020204" pitchFamily="34" charset="0"/>
              </a:rPr>
              <a:t>in</a:t>
            </a:r>
            <a:r>
              <a:rPr lang="ru-RU" b="0" i="0" dirty="0">
                <a:solidFill>
                  <a:srgbClr val="202122"/>
                </a:solidFill>
                <a:effectLst/>
                <a:latin typeface="Arial" panose="020B0604020202020204" pitchFamily="34" charset="0"/>
              </a:rPr>
              <a:t>-</a:t>
            </a:r>
            <a:r>
              <a:rPr lang="ru-RU" b="0" i="0" dirty="0" err="1">
                <a:solidFill>
                  <a:srgbClr val="202122"/>
                </a:solidFill>
                <a:effectLst/>
                <a:latin typeface="Arial" panose="020B0604020202020204" pitchFamily="34" charset="0"/>
              </a:rPr>
              <a:t>the-database</a:t>
            </a:r>
            <a:r>
              <a:rPr lang="ru-RU" b="0" i="0" dirty="0">
                <a:solidFill>
                  <a:srgbClr val="202122"/>
                </a:solidFill>
                <a:effectLst/>
                <a:latin typeface="Arial" panose="020B0604020202020204" pitchFamily="34" charset="0"/>
              </a:rPr>
              <a:t>'). Это также требует возможности использовать классы Java в качестве структурированных пользовательских типов SQL. Эта часть стандарта состоит исключительно из </a:t>
            </a:r>
            <a:r>
              <a:rPr lang="ru-RU" b="0" i="1" dirty="0">
                <a:solidFill>
                  <a:srgbClr val="202122"/>
                </a:solidFill>
                <a:effectLst/>
                <a:latin typeface="Arial" panose="020B0604020202020204" pitchFamily="34" charset="0"/>
              </a:rPr>
              <a:t>необязательных</a:t>
            </a:r>
            <a:r>
              <a:rPr lang="ru-RU" b="0" i="0" dirty="0">
                <a:solidFill>
                  <a:srgbClr val="202122"/>
                </a:solidFill>
                <a:effectLst/>
                <a:latin typeface="Arial" panose="020B0604020202020204" pitchFamily="34" charset="0"/>
              </a:rPr>
              <a:t> функций.</a:t>
            </a: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9075-14:2016 Часть 14: </a:t>
            </a:r>
            <a:r>
              <a:rPr lang="ru-RU" b="0" i="1" dirty="0">
                <a:solidFill>
                  <a:srgbClr val="202122"/>
                </a:solidFill>
                <a:effectLst/>
                <a:latin typeface="Arial" panose="020B0604020202020204" pitchFamily="34" charset="0"/>
              </a:rPr>
              <a:t>Спецификации, связанные с XML</a:t>
            </a:r>
            <a:r>
              <a:rPr lang="ru-RU" b="0" i="0" dirty="0">
                <a:solidFill>
                  <a:srgbClr val="202122"/>
                </a:solidFill>
                <a:effectLst/>
                <a:latin typeface="Arial" panose="020B0604020202020204" pitchFamily="34" charset="0"/>
              </a:rPr>
              <a:t> (</a:t>
            </a:r>
            <a:r>
              <a:rPr lang="ru-RU" b="0" i="0" u="none" strike="noStrike" dirty="0">
                <a:solidFill>
                  <a:srgbClr val="3366CC"/>
                </a:solidFill>
                <a:effectLst/>
                <a:latin typeface="Arial" panose="020B0604020202020204" pitchFamily="34" charset="0"/>
                <a:hlinkClick r:id="rId21" tooltip="SQL/XML"/>
              </a:rPr>
              <a:t>SQL/XML</a:t>
            </a:r>
            <a:r>
              <a:rPr lang="ru-RU" b="0" i="0" dirty="0">
                <a:solidFill>
                  <a:srgbClr val="202122"/>
                </a:solidFill>
                <a:effectLst/>
                <a:latin typeface="Arial" panose="020B0604020202020204" pitchFamily="34" charset="0"/>
              </a:rPr>
              <a:t>). Он определяет расширения на основе SQL для использования XML в сочетании с SQL. Вводится тип данных </a:t>
            </a:r>
            <a:r>
              <a:rPr lang="ru-RU" b="0" i="1" dirty="0">
                <a:solidFill>
                  <a:srgbClr val="202122"/>
                </a:solidFill>
                <a:effectLst/>
                <a:latin typeface="Arial" panose="020B0604020202020204" pitchFamily="34" charset="0"/>
              </a:rPr>
              <a:t>XML</a:t>
            </a:r>
            <a:r>
              <a:rPr lang="ru-RU" b="0" i="0" dirty="0">
                <a:solidFill>
                  <a:srgbClr val="202122"/>
                </a:solidFill>
                <a:effectLst/>
                <a:latin typeface="Arial" panose="020B0604020202020204" pitchFamily="34" charset="0"/>
              </a:rPr>
              <a:t>, а также несколько подпрограмм, функций и сопоставлений типов данных XML с SQL для поддержки обработки и хранения XML в базе данных SQL.</a:t>
            </a:r>
            <a:r>
              <a:rPr lang="ru-RU" b="0" i="0" u="none" strike="noStrike" baseline="30000" dirty="0">
                <a:solidFill>
                  <a:srgbClr val="3366CC"/>
                </a:solidFill>
                <a:effectLst/>
                <a:latin typeface="Arial" panose="020B0604020202020204" pitchFamily="34" charset="0"/>
                <a:hlinkClick r:id="rId4"/>
              </a:rPr>
              <a:t>[34]</a:t>
            </a:r>
            <a:r>
              <a:rPr lang="ru-RU" b="0" i="0" dirty="0">
                <a:solidFill>
                  <a:srgbClr val="202122"/>
                </a:solidFill>
                <a:effectLst/>
                <a:latin typeface="Arial" panose="020B0604020202020204" pitchFamily="34" charset="0"/>
              </a:rPr>
              <a:t> Эта часть стандарта состоит исключительно из </a:t>
            </a:r>
            <a:r>
              <a:rPr lang="ru-RU" b="0" i="1" dirty="0">
                <a:solidFill>
                  <a:srgbClr val="202122"/>
                </a:solidFill>
                <a:effectLst/>
                <a:latin typeface="Arial" panose="020B0604020202020204" pitchFamily="34" charset="0"/>
              </a:rPr>
              <a:t>необязательных</a:t>
            </a:r>
            <a:r>
              <a:rPr lang="ru-RU" b="0" i="0" dirty="0">
                <a:solidFill>
                  <a:srgbClr val="202122"/>
                </a:solidFill>
                <a:effectLst/>
                <a:latin typeface="Arial" panose="020B0604020202020204" pitchFamily="34" charset="0"/>
              </a:rPr>
              <a:t> функций.</a:t>
            </a:r>
            <a:r>
              <a:rPr lang="ru-RU" b="0" i="0" baseline="30000" dirty="0">
                <a:solidFill>
                  <a:srgbClr val="202122"/>
                </a:solidFill>
                <a:effectLst/>
                <a:latin typeface="Arial" panose="020B0604020202020204" pitchFamily="34" charset="0"/>
              </a:rPr>
              <a:t>[</a:t>
            </a:r>
            <a:r>
              <a:rPr lang="ru-RU" b="0" i="1" u="none" strike="noStrike" baseline="30000" dirty="0">
                <a:solidFill>
                  <a:srgbClr val="3366CC"/>
                </a:solidFill>
                <a:effectLst/>
                <a:latin typeface="Arial" panose="020B0604020202020204" pitchFamily="34" charset="0"/>
                <a:hlinkClick r:id="rId18" tooltip="Википедия: Требуется цитирование"/>
              </a:rPr>
              <a:t>требуется цитирование</a:t>
            </a:r>
            <a:r>
              <a:rPr lang="ru-RU" b="0" i="0" baseline="30000" dirty="0">
                <a:solidFill>
                  <a:srgbClr val="202122"/>
                </a:solidFill>
                <a:effectLst/>
                <a:latin typeface="Arial" panose="020B0604020202020204" pitchFamily="34" charset="0"/>
              </a:rPr>
              <a:t>]</a:t>
            </a:r>
            <a:endParaRPr lang="ru-RU" b="0" i="0" dirty="0">
              <a:solidFill>
                <a:srgbClr val="202122"/>
              </a:solidFill>
              <a:effectLst/>
              <a:latin typeface="Arial" panose="020B0604020202020204" pitchFamily="34" charset="0"/>
            </a:endParaRPr>
          </a:p>
          <a:p>
            <a:pPr algn="l">
              <a:buFont typeface="Arial" panose="020B0604020202020204" pitchFamily="34" charset="0"/>
              <a:buChar char="•"/>
            </a:pPr>
            <a:r>
              <a:rPr lang="ru-RU" b="0" i="0" dirty="0">
                <a:solidFill>
                  <a:srgbClr val="202122"/>
                </a:solidFill>
                <a:effectLst/>
                <a:latin typeface="Arial" panose="020B0604020202020204" pitchFamily="34" charset="0"/>
              </a:rPr>
              <a:t>ISO/IEC 9075-15:2019 Часть 15: </a:t>
            </a:r>
            <a:r>
              <a:rPr lang="ru-RU" b="0" i="1" dirty="0">
                <a:solidFill>
                  <a:srgbClr val="202122"/>
                </a:solidFill>
                <a:effectLst/>
                <a:latin typeface="Arial" panose="020B0604020202020204" pitchFamily="34" charset="0"/>
              </a:rPr>
              <a:t>Многомерные массивы</a:t>
            </a:r>
            <a:r>
              <a:rPr lang="ru-RU" b="0" i="0" dirty="0">
                <a:solidFill>
                  <a:srgbClr val="202122"/>
                </a:solidFill>
                <a:effectLst/>
                <a:latin typeface="Arial" panose="020B0604020202020204" pitchFamily="34" charset="0"/>
              </a:rPr>
              <a:t> (SQL/MDA). Он определяет тип многомерного массива (</a:t>
            </a:r>
            <a:r>
              <a:rPr lang="ru-RU" b="0" i="0" dirty="0" err="1">
                <a:solidFill>
                  <a:srgbClr val="202122"/>
                </a:solidFill>
                <a:effectLst/>
                <a:latin typeface="Arial" panose="020B0604020202020204" pitchFamily="34" charset="0"/>
              </a:rPr>
              <a:t>MDarray</a:t>
            </a:r>
            <a:r>
              <a:rPr lang="ru-RU" b="0" i="0" dirty="0">
                <a:solidFill>
                  <a:srgbClr val="202122"/>
                </a:solidFill>
                <a:effectLst/>
                <a:latin typeface="Arial" panose="020B0604020202020204" pitchFamily="34" charset="0"/>
              </a:rPr>
              <a:t>) для SQL, наряду с операциями над массивами MDARRAY, фрагментами </a:t>
            </a:r>
            <a:r>
              <a:rPr lang="ru-RU" b="0" i="0" dirty="0" err="1">
                <a:solidFill>
                  <a:srgbClr val="202122"/>
                </a:solidFill>
                <a:effectLst/>
                <a:latin typeface="Arial" panose="020B0604020202020204" pitchFamily="34" charset="0"/>
              </a:rPr>
              <a:t>MDarray</a:t>
            </a:r>
            <a:r>
              <a:rPr lang="ru-RU" b="0" i="0" dirty="0">
                <a:solidFill>
                  <a:srgbClr val="202122"/>
                </a:solidFill>
                <a:effectLst/>
                <a:latin typeface="Arial" panose="020B0604020202020204" pitchFamily="34" charset="0"/>
              </a:rPr>
              <a:t>, ячейками </a:t>
            </a:r>
            <a:r>
              <a:rPr lang="ru-RU" b="0" i="0" dirty="0" err="1">
                <a:solidFill>
                  <a:srgbClr val="202122"/>
                </a:solidFill>
                <a:effectLst/>
                <a:latin typeface="Arial" panose="020B0604020202020204" pitchFamily="34" charset="0"/>
              </a:rPr>
              <a:t>MDarray</a:t>
            </a:r>
            <a:r>
              <a:rPr lang="ru-RU" b="0" i="0" dirty="0">
                <a:solidFill>
                  <a:srgbClr val="202122"/>
                </a:solidFill>
                <a:effectLst/>
                <a:latin typeface="Arial" panose="020B0604020202020204" pitchFamily="34" charset="0"/>
              </a:rPr>
              <a:t> и связанными с ними функциями. Эта часть стандарта состоит исключительно из </a:t>
            </a:r>
            <a:r>
              <a:rPr lang="ru-RU" b="0" i="1" dirty="0">
                <a:solidFill>
                  <a:srgbClr val="202122"/>
                </a:solidFill>
                <a:effectLst/>
                <a:latin typeface="Arial" panose="020B0604020202020204" pitchFamily="34" charset="0"/>
              </a:rPr>
              <a:t>необязательных</a:t>
            </a:r>
            <a:r>
              <a:rPr lang="ru-RU" b="0" i="0" dirty="0">
                <a:solidFill>
                  <a:srgbClr val="202122"/>
                </a:solidFill>
                <a:effectLst/>
                <a:latin typeface="Arial" panose="020B0604020202020204" pitchFamily="34" charset="0"/>
              </a:rPr>
              <a:t> функций.</a:t>
            </a:r>
          </a:p>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3</a:t>
            </a:fld>
            <a:endParaRPr lang="ru-RU"/>
          </a:p>
        </p:txBody>
      </p:sp>
    </p:spTree>
    <p:extLst>
      <p:ext uri="{BB962C8B-B14F-4D97-AF65-F5344CB8AC3E}">
        <p14:creationId xmlns:p14="http://schemas.microsoft.com/office/powerpoint/2010/main" val="442282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20000"/>
          </a:bodyPr>
          <a:lstStyle/>
          <a:p>
            <a:pPr algn="l"/>
            <a:r>
              <a:rPr lang="ru-RU" b="0" i="0" dirty="0">
                <a:solidFill>
                  <a:srgbClr val="202122"/>
                </a:solidFill>
                <a:effectLst/>
                <a:latin typeface="Arial" panose="020B0604020202020204" pitchFamily="34" charset="0"/>
              </a:rPr>
              <a:t>По традиции, как и со многими стандартами в </a:t>
            </a:r>
            <a:r>
              <a:rPr lang="ru-RU" b="0" i="0" u="none" strike="noStrike" dirty="0">
                <a:solidFill>
                  <a:srgbClr val="0645AD"/>
                </a:solidFill>
                <a:effectLst/>
                <a:latin typeface="Arial" panose="020B0604020202020204" pitchFamily="34" charset="0"/>
                <a:hlinkClick r:id="rId3" tooltip="Информационные технологии"/>
              </a:rPr>
              <a:t>IT</a:t>
            </a:r>
            <a:r>
              <a:rPr lang="ru-RU" b="0" i="0" dirty="0">
                <a:solidFill>
                  <a:srgbClr val="202122"/>
                </a:solidFill>
                <a:effectLst/>
                <a:latin typeface="Arial" panose="020B0604020202020204" pitchFamily="34" charset="0"/>
              </a:rPr>
              <a:t>-индустрии, с языком SQL возникла проблема: на каком-то этапе многие производители использующего SQL программного обеспечения решили, что функциональность в текущей (на тот момент времени) версии стандарта недостаточна, и её желательно расширить. В результате у разных производителей систем управления базами данных (СУБД) стали использоваться разные диалекты SQL, в общем случае между собой несовместимые.</a:t>
            </a:r>
          </a:p>
          <a:p>
            <a:pPr algn="l"/>
            <a:r>
              <a:rPr lang="ru-RU" b="0" i="0" dirty="0">
                <a:solidFill>
                  <a:srgbClr val="202122"/>
                </a:solidFill>
                <a:effectLst/>
                <a:latin typeface="Arial" panose="020B0604020202020204" pitchFamily="34" charset="0"/>
              </a:rPr>
              <a:t>До </a:t>
            </a:r>
            <a:r>
              <a:rPr lang="ru-RU" b="0" i="0" u="none" strike="noStrike" dirty="0">
                <a:solidFill>
                  <a:srgbClr val="0645AD"/>
                </a:solidFill>
                <a:effectLst/>
                <a:latin typeface="Arial" panose="020B0604020202020204" pitchFamily="34" charset="0"/>
                <a:hlinkClick r:id="rId4" tooltip="1996 год"/>
              </a:rPr>
              <a:t>1996 года</a:t>
            </a:r>
            <a:r>
              <a:rPr lang="ru-RU" b="0" i="0" dirty="0">
                <a:solidFill>
                  <a:srgbClr val="202122"/>
                </a:solidFill>
                <a:effectLst/>
                <a:latin typeface="Arial" panose="020B0604020202020204" pitchFamily="34" charset="0"/>
              </a:rPr>
              <a:t> вопросами соответствия коммерческих реализаций SQL стандарту занимался в основном </a:t>
            </a:r>
            <a:r>
              <a:rPr lang="ru-RU" b="0" i="0" u="none" strike="noStrike" dirty="0">
                <a:solidFill>
                  <a:srgbClr val="0645AD"/>
                </a:solidFill>
                <a:effectLst/>
                <a:latin typeface="Arial" panose="020B0604020202020204" pitchFamily="34" charset="0"/>
                <a:hlinkClick r:id="rId5" tooltip="Национальный институт стандартов и технологий"/>
              </a:rPr>
              <a:t>Национальный институт стандартов и технологий</a:t>
            </a:r>
            <a:r>
              <a:rPr lang="ru-RU" b="0" i="0" dirty="0">
                <a:solidFill>
                  <a:srgbClr val="202122"/>
                </a:solidFill>
                <a:effectLst/>
                <a:latin typeface="Arial" panose="020B0604020202020204" pitchFamily="34" charset="0"/>
              </a:rPr>
              <a:t> (NIST), который и устанавливал уровень соответствия стандарту. </a:t>
            </a:r>
            <a:r>
              <a:rPr lang="ru-RU" b="0" i="0" dirty="0" err="1">
                <a:solidFill>
                  <a:srgbClr val="202122"/>
                </a:solidFill>
                <a:effectLst/>
                <a:latin typeface="Arial" panose="020B0604020202020204" pitchFamily="34" charset="0"/>
              </a:rPr>
              <a:t>Поздне́е</a:t>
            </a:r>
            <a:r>
              <a:rPr lang="ru-RU" b="0" i="0" dirty="0">
                <a:solidFill>
                  <a:srgbClr val="202122"/>
                </a:solidFill>
                <a:effectLst/>
                <a:latin typeface="Arial" panose="020B0604020202020204" pitchFamily="34" charset="0"/>
              </a:rPr>
              <a:t> подразделение, занимавшееся СУБД, было расформировано, и на текущий момент все усилия по проверке СУБД на соответствие стандарту ложатся на её производителя.</a:t>
            </a:r>
          </a:p>
          <a:p>
            <a:pPr algn="l"/>
            <a:r>
              <a:rPr lang="ru-RU" b="0" i="0" dirty="0">
                <a:solidFill>
                  <a:srgbClr val="202122"/>
                </a:solidFill>
                <a:effectLst/>
                <a:latin typeface="Arial" panose="020B0604020202020204" pitchFamily="34" charset="0"/>
              </a:rPr>
              <a:t>Впервые понятие «уровня соответствия» было предложено </a:t>
            </a:r>
            <a:r>
              <a:rPr lang="ru-RU" b="1" i="0" dirty="0">
                <a:solidFill>
                  <a:srgbClr val="202122"/>
                </a:solidFill>
                <a:effectLst/>
                <a:latin typeface="Arial" panose="020B0604020202020204" pitchFamily="34" charset="0"/>
              </a:rPr>
              <a:t>в стандарте SQL-92</a:t>
            </a:r>
            <a:r>
              <a:rPr lang="ru-RU" b="0" i="0" dirty="0">
                <a:solidFill>
                  <a:srgbClr val="202122"/>
                </a:solidFill>
                <a:effectLst/>
                <a:latin typeface="Arial" panose="020B0604020202020204" pitchFamily="34" charset="0"/>
              </a:rPr>
              <a:t>. </a:t>
            </a:r>
          </a:p>
          <a:p>
            <a:pPr algn="l"/>
            <a:r>
              <a:rPr lang="ru-RU" b="0" i="0" dirty="0">
                <a:solidFill>
                  <a:srgbClr val="202122"/>
                </a:solidFill>
                <a:effectLst/>
                <a:latin typeface="Arial" panose="020B0604020202020204" pitchFamily="34" charset="0"/>
              </a:rPr>
              <a:t>А именно, </a:t>
            </a:r>
            <a:r>
              <a:rPr lang="ru-RU" b="1" i="0" dirty="0">
                <a:solidFill>
                  <a:srgbClr val="202122"/>
                </a:solidFill>
                <a:effectLst/>
                <a:latin typeface="Arial" panose="020B0604020202020204" pitchFamily="34" charset="0"/>
              </a:rPr>
              <a:t>ANSI и NIST </a:t>
            </a:r>
            <a:r>
              <a:rPr lang="ru-RU" b="0" i="0" dirty="0">
                <a:solidFill>
                  <a:srgbClr val="202122"/>
                </a:solidFill>
                <a:effectLst/>
                <a:latin typeface="Arial" panose="020B0604020202020204" pitchFamily="34" charset="0"/>
              </a:rPr>
              <a:t>определяли четыре уровня соответствия реализации этому стандарту:</a:t>
            </a:r>
          </a:p>
          <a:p>
            <a:pPr algn="l">
              <a:buFont typeface="+mj-lt"/>
              <a:buAutoNum type="arabicPeriod"/>
            </a:pPr>
            <a:r>
              <a:rPr lang="ru-RU" b="0" i="1" dirty="0" err="1">
                <a:solidFill>
                  <a:srgbClr val="202122"/>
                </a:solidFill>
                <a:effectLst/>
                <a:latin typeface="Arial" panose="020B0604020202020204" pitchFamily="34" charset="0"/>
              </a:rPr>
              <a:t>Entry</a:t>
            </a:r>
            <a:r>
              <a:rPr lang="ru-RU" b="0" i="0" dirty="0">
                <a:solidFill>
                  <a:srgbClr val="202122"/>
                </a:solidFill>
                <a:effectLst/>
                <a:latin typeface="Arial" panose="020B0604020202020204" pitchFamily="34" charset="0"/>
              </a:rPr>
              <a:t> (базовый)</a:t>
            </a:r>
          </a:p>
          <a:p>
            <a:pPr algn="l">
              <a:buFont typeface="+mj-lt"/>
              <a:buAutoNum type="arabicPeriod"/>
            </a:pPr>
            <a:r>
              <a:rPr lang="ru-RU" b="0" i="1" dirty="0" err="1">
                <a:solidFill>
                  <a:srgbClr val="202122"/>
                </a:solidFill>
                <a:effectLst/>
                <a:latin typeface="Arial" panose="020B0604020202020204" pitchFamily="34" charset="0"/>
              </a:rPr>
              <a:t>Transitional</a:t>
            </a:r>
            <a:r>
              <a:rPr lang="ru-RU" b="0" i="0" dirty="0">
                <a:solidFill>
                  <a:srgbClr val="202122"/>
                </a:solidFill>
                <a:effectLst/>
                <a:latin typeface="Arial" panose="020B0604020202020204" pitchFamily="34" charset="0"/>
              </a:rPr>
              <a:t> (переходный) — проверку на соответствие этому уровню проводил только NIST</a:t>
            </a:r>
          </a:p>
          <a:p>
            <a:pPr algn="l">
              <a:buFont typeface="+mj-lt"/>
              <a:buAutoNum type="arabicPeriod"/>
            </a:pPr>
            <a:r>
              <a:rPr lang="ru-RU" b="0" i="1" dirty="0" err="1">
                <a:solidFill>
                  <a:srgbClr val="202122"/>
                </a:solidFill>
                <a:effectLst/>
                <a:latin typeface="Arial" panose="020B0604020202020204" pitchFamily="34" charset="0"/>
              </a:rPr>
              <a:t>Intermediate</a:t>
            </a:r>
            <a:r>
              <a:rPr lang="ru-RU" b="0" i="0" dirty="0">
                <a:solidFill>
                  <a:srgbClr val="202122"/>
                </a:solidFill>
                <a:effectLst/>
                <a:latin typeface="Arial" panose="020B0604020202020204" pitchFamily="34" charset="0"/>
              </a:rPr>
              <a:t> (промежуточный)</a:t>
            </a:r>
          </a:p>
          <a:p>
            <a:pPr algn="l">
              <a:buFont typeface="+mj-lt"/>
              <a:buAutoNum type="arabicPeriod"/>
            </a:pPr>
            <a:r>
              <a:rPr lang="ru-RU" b="0" i="1" dirty="0">
                <a:solidFill>
                  <a:srgbClr val="202122"/>
                </a:solidFill>
                <a:effectLst/>
                <a:latin typeface="Arial" panose="020B0604020202020204" pitchFamily="34" charset="0"/>
              </a:rPr>
              <a:t>Full</a:t>
            </a:r>
            <a:r>
              <a:rPr lang="ru-RU" b="0" i="0" dirty="0">
                <a:solidFill>
                  <a:srgbClr val="202122"/>
                </a:solidFill>
                <a:effectLst/>
                <a:latin typeface="Arial" panose="020B0604020202020204" pitchFamily="34" charset="0"/>
              </a:rPr>
              <a:t> (полный)</a:t>
            </a:r>
          </a:p>
          <a:p>
            <a:pPr algn="l"/>
            <a:r>
              <a:rPr lang="ru-RU" b="0" i="0" dirty="0">
                <a:solidFill>
                  <a:srgbClr val="202122"/>
                </a:solidFill>
                <a:effectLst/>
                <a:latin typeface="Arial" panose="020B0604020202020204" pitchFamily="34" charset="0"/>
              </a:rPr>
              <a:t>Легко можно понять, что каждый последующий уровень соответствия заведомо подразумевал соответствие предыдущему уровню. </a:t>
            </a:r>
          </a:p>
          <a:p>
            <a:pPr algn="l"/>
            <a:r>
              <a:rPr lang="ru-RU" b="0" i="0" dirty="0">
                <a:solidFill>
                  <a:srgbClr val="202122"/>
                </a:solidFill>
                <a:effectLst/>
                <a:latin typeface="Arial" panose="020B0604020202020204" pitchFamily="34" charset="0"/>
              </a:rPr>
              <a:t>Далее, согласно данной «лесенке» стандартов, любая СУБД, которая соответствовала уровню </a:t>
            </a:r>
            <a:r>
              <a:rPr lang="ru-RU" b="0" i="0" dirty="0" err="1">
                <a:solidFill>
                  <a:srgbClr val="202122"/>
                </a:solidFill>
                <a:effectLst/>
                <a:latin typeface="Arial" panose="020B0604020202020204" pitchFamily="34" charset="0"/>
              </a:rPr>
              <a:t>Entry</a:t>
            </a:r>
            <a:r>
              <a:rPr lang="ru-RU" b="0" i="0" dirty="0">
                <a:solidFill>
                  <a:srgbClr val="202122"/>
                </a:solidFill>
                <a:effectLst/>
                <a:latin typeface="Arial" panose="020B0604020202020204" pitchFamily="34" charset="0"/>
              </a:rPr>
              <a:t>, могла заявлять себя как «SQL-92 </a:t>
            </a:r>
            <a:r>
              <a:rPr lang="ru-RU" b="0" i="0" dirty="0" err="1">
                <a:solidFill>
                  <a:srgbClr val="202122"/>
                </a:solidFill>
                <a:effectLst/>
                <a:latin typeface="Arial" panose="020B0604020202020204" pitchFamily="34" charset="0"/>
              </a:rPr>
              <a:t>compliant</a:t>
            </a:r>
            <a:r>
              <a:rPr lang="ru-RU" b="0" i="0" dirty="0">
                <a:solidFill>
                  <a:srgbClr val="202122"/>
                </a:solidFill>
                <a:effectLst/>
                <a:latin typeface="Arial" panose="020B0604020202020204" pitchFamily="34" charset="0"/>
              </a:rPr>
              <a:t>» («совместимая с SQL-92»), хотя на самом деле переносимость и соответствие стандарту ограничивалось набором возможностей, входящих в этот уровень.</a:t>
            </a:r>
          </a:p>
          <a:p>
            <a:pPr algn="l"/>
            <a:r>
              <a:rPr lang="ru-RU" b="0" i="0" dirty="0">
                <a:solidFill>
                  <a:srgbClr val="202122"/>
                </a:solidFill>
                <a:effectLst/>
                <a:latin typeface="Arial" panose="020B0604020202020204" pitchFamily="34" charset="0"/>
              </a:rPr>
              <a:t>Положение изменилось с введением </a:t>
            </a:r>
            <a:r>
              <a:rPr lang="ru-RU" b="1" i="0" dirty="0">
                <a:solidFill>
                  <a:srgbClr val="202122"/>
                </a:solidFill>
                <a:effectLst/>
                <a:latin typeface="Arial" panose="020B0604020202020204" pitchFamily="34" charset="0"/>
              </a:rPr>
              <a:t>стандарта SQL:1999</a:t>
            </a:r>
            <a:r>
              <a:rPr lang="ru-RU" b="0" i="0" dirty="0">
                <a:solidFill>
                  <a:srgbClr val="202122"/>
                </a:solidFill>
                <a:effectLst/>
                <a:latin typeface="Arial" panose="020B0604020202020204" pitchFamily="34" charset="0"/>
              </a:rPr>
              <a:t>. Отныне стандарт приобрёл модульную структуру — основная часть стандарта была вынесена в раздел «SQL/Foundation», </a:t>
            </a:r>
          </a:p>
          <a:p>
            <a:pPr algn="l"/>
            <a:r>
              <a:rPr lang="ru-RU" b="0" i="0" dirty="0">
                <a:solidFill>
                  <a:srgbClr val="202122"/>
                </a:solidFill>
                <a:effectLst/>
                <a:latin typeface="Arial" panose="020B0604020202020204" pitchFamily="34" charset="0"/>
              </a:rPr>
              <a:t>все остальные были выведены в отдельные модули. </a:t>
            </a:r>
          </a:p>
          <a:p>
            <a:pPr algn="l"/>
            <a:r>
              <a:rPr lang="ru-RU" b="0" i="0" dirty="0">
                <a:solidFill>
                  <a:srgbClr val="202122"/>
                </a:solidFill>
                <a:effectLst/>
                <a:latin typeface="Arial" panose="020B0604020202020204" pitchFamily="34" charset="0"/>
              </a:rPr>
              <a:t>Соответственно, остался только один уровень совместимости — </a:t>
            </a:r>
            <a:r>
              <a:rPr lang="ru-RU" b="0" i="1" dirty="0">
                <a:solidFill>
                  <a:srgbClr val="202122"/>
                </a:solidFill>
                <a:effectLst/>
                <a:latin typeface="Arial" panose="020B0604020202020204" pitchFamily="34" charset="0"/>
              </a:rPr>
              <a:t>Core</a:t>
            </a:r>
            <a:r>
              <a:rPr lang="ru-RU" b="0" i="0" dirty="0">
                <a:solidFill>
                  <a:srgbClr val="202122"/>
                </a:solidFill>
                <a:effectLst/>
                <a:latin typeface="Arial" panose="020B0604020202020204" pitchFamily="34" charset="0"/>
              </a:rPr>
              <a:t>, что означало поддержку этой основной части. </a:t>
            </a:r>
          </a:p>
          <a:p>
            <a:pPr algn="l"/>
            <a:r>
              <a:rPr lang="ru-RU" b="0" i="0" dirty="0">
                <a:solidFill>
                  <a:srgbClr val="202122"/>
                </a:solidFill>
                <a:effectLst/>
                <a:latin typeface="Arial" panose="020B0604020202020204" pitchFamily="34" charset="0"/>
              </a:rPr>
              <a:t>Поддержка остальных возможностей оставлена на усмотрение производителей СУБД. </a:t>
            </a:r>
          </a:p>
          <a:p>
            <a:pPr algn="l"/>
            <a:r>
              <a:rPr lang="ru-RU" b="0" i="0" dirty="0">
                <a:solidFill>
                  <a:srgbClr val="202122"/>
                </a:solidFill>
                <a:effectLst/>
                <a:latin typeface="Arial" panose="020B0604020202020204" pitchFamily="34" charset="0"/>
              </a:rPr>
              <a:t>Аналогичное положение имело место и с последующими версиями стандарта.</a:t>
            </a:r>
          </a:p>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4</a:t>
            </a:fld>
            <a:endParaRPr lang="ru-RU"/>
          </a:p>
        </p:txBody>
      </p:sp>
    </p:spTree>
    <p:extLst>
      <p:ext uri="{BB962C8B-B14F-4D97-AF65-F5344CB8AC3E}">
        <p14:creationId xmlns:p14="http://schemas.microsoft.com/office/powerpoint/2010/main" val="2470966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a:bodyPr>
          <a:lstStyle/>
          <a:p>
            <a:pPr>
              <a:buClrTx/>
              <a:buSzTx/>
            </a:pPr>
            <a:r>
              <a:rPr kumimoji="0" lang="ru-RU" altLang="ru-RU" sz="1200" b="1" i="0" u="none" strike="noStrike" cap="none" normalizeH="0" baseline="0" dirty="0">
                <a:ln>
                  <a:noFill/>
                </a:ln>
                <a:solidFill>
                  <a:srgbClr val="202122"/>
                </a:solidFill>
                <a:effectLst/>
                <a:cs typeface="Arial" panose="020B0604020202020204" pitchFamily="34" charset="0"/>
              </a:rPr>
              <a:t>Независимость от конкретной СУБД</a:t>
            </a:r>
          </a:p>
          <a:p>
            <a:pPr marL="0" indent="0">
              <a:buClrTx/>
              <a:buSzTx/>
              <a:buNone/>
            </a:pPr>
            <a:r>
              <a:rPr kumimoji="0" lang="ru-RU" altLang="ru-RU" sz="1200" b="0" i="0" u="none" strike="noStrike" cap="none" normalizeH="0" baseline="0" dirty="0">
                <a:ln>
                  <a:noFill/>
                </a:ln>
                <a:solidFill>
                  <a:srgbClr val="202122"/>
                </a:solidFill>
                <a:effectLst/>
                <a:cs typeface="Arial" panose="020B0604020202020204" pitchFamily="34" charset="0"/>
              </a:rPr>
              <a:t>Несмотря на наличие диалектов и различий в синтаксисе, в большинстве своём тексты SQL-запросов, содержащие DDL и DML, могут быть достаточно легко перенесены из одной СУБД в другую. Существуют системы, разработчики которых изначально ориентировались на применение по меньшей мере нескольких СУБД (например: система электронного </a:t>
            </a:r>
            <a:r>
              <a:rPr kumimoji="0" lang="ru-RU" altLang="ru-RU" sz="1200" b="0" i="0" u="none" strike="noStrike" cap="none" normalizeH="0" baseline="0" dirty="0">
                <a:ln>
                  <a:noFill/>
                </a:ln>
                <a:solidFill>
                  <a:srgbClr val="0645AD"/>
                </a:solidFill>
                <a:effectLst/>
                <a:cs typeface="Arial" panose="020B0604020202020204" pitchFamily="34" charset="0"/>
                <a:hlinkClick r:id="rId3" tooltip="Документооборот"/>
              </a:rPr>
              <a:t>документооборота</a:t>
            </a:r>
            <a:r>
              <a:rPr kumimoji="0" lang="ru-RU" altLang="ru-RU" sz="1200" b="0" i="0" u="none" strike="noStrike" cap="none" normalizeH="0" baseline="0" dirty="0">
                <a:ln>
                  <a:noFill/>
                </a:ln>
                <a:solidFill>
                  <a:srgbClr val="202122"/>
                </a:solidFill>
                <a:effectLst/>
                <a:cs typeface="Arial" panose="020B0604020202020204" pitchFamily="34" charset="0"/>
              </a:rPr>
              <a:t> </a:t>
            </a:r>
            <a:r>
              <a:rPr kumimoji="0" lang="ru-RU" altLang="ru-RU" sz="1200" b="0" i="0" u="none" strike="noStrike" cap="none" normalizeH="0" baseline="0" dirty="0" err="1">
                <a:ln>
                  <a:noFill/>
                </a:ln>
                <a:solidFill>
                  <a:srgbClr val="BA0000"/>
                </a:solidFill>
                <a:effectLst/>
                <a:cs typeface="Arial" panose="020B0604020202020204" pitchFamily="34" charset="0"/>
                <a:hlinkClick r:id="rId4" tooltip="Documentum (страница отсутствует)"/>
              </a:rPr>
              <a:t>Documentum</a:t>
            </a:r>
            <a:r>
              <a:rPr kumimoji="0" lang="ru-RU" altLang="ru-RU" sz="1200" b="0" i="0" u="none" strike="noStrike" cap="none" normalizeH="0" baseline="0" dirty="0">
                <a:ln>
                  <a:noFill/>
                </a:ln>
                <a:solidFill>
                  <a:srgbClr val="202122"/>
                </a:solidFill>
                <a:effectLst/>
                <a:cs typeface="Arial" panose="020B0604020202020204" pitchFamily="34" charset="0"/>
              </a:rPr>
              <a:t> может работать как с </a:t>
            </a:r>
            <a:r>
              <a:rPr kumimoji="0" lang="ru-RU" altLang="ru-RU" sz="1200" b="0" i="0" u="none" strike="noStrike" cap="none" normalizeH="0" baseline="0" dirty="0">
                <a:ln>
                  <a:noFill/>
                </a:ln>
                <a:solidFill>
                  <a:srgbClr val="0645AD"/>
                </a:solidFill>
                <a:effectLst/>
                <a:cs typeface="Arial" panose="020B0604020202020204" pitchFamily="34" charset="0"/>
                <a:hlinkClick r:id="rId5" tooltip="Oracle Database"/>
              </a:rPr>
              <a:t>Oracle Database</a:t>
            </a:r>
            <a:r>
              <a:rPr kumimoji="0" lang="ru-RU" altLang="ru-RU" sz="1200" b="0" i="0" u="none" strike="noStrike" cap="none" normalizeH="0" baseline="0" dirty="0">
                <a:ln>
                  <a:noFill/>
                </a:ln>
                <a:solidFill>
                  <a:srgbClr val="202122"/>
                </a:solidFill>
                <a:effectLst/>
                <a:cs typeface="Arial" panose="020B0604020202020204" pitchFamily="34" charset="0"/>
              </a:rPr>
              <a:t>, так и с </a:t>
            </a:r>
            <a:r>
              <a:rPr kumimoji="0" lang="ru-RU" altLang="ru-RU" sz="1200" b="0" i="0" u="none" strike="noStrike" cap="none" normalizeH="0" baseline="0" dirty="0">
                <a:ln>
                  <a:noFill/>
                </a:ln>
                <a:solidFill>
                  <a:srgbClr val="0645AD"/>
                </a:solidFill>
                <a:effectLst/>
                <a:cs typeface="Arial" panose="020B0604020202020204" pitchFamily="34" charset="0"/>
                <a:hlinkClick r:id="rId6" tooltip="Microsoft SQL Server"/>
              </a:rPr>
              <a:t>Microsoft SQL Server</a:t>
            </a:r>
            <a:r>
              <a:rPr kumimoji="0" lang="ru-RU" altLang="ru-RU" sz="1200" b="0" i="0" u="none" strike="noStrike" cap="none" normalizeH="0" baseline="0" dirty="0">
                <a:ln>
                  <a:noFill/>
                </a:ln>
                <a:solidFill>
                  <a:srgbClr val="202122"/>
                </a:solidFill>
                <a:effectLst/>
                <a:cs typeface="Arial" panose="020B0604020202020204" pitchFamily="34" charset="0"/>
              </a:rPr>
              <a:t> и </a:t>
            </a:r>
            <a:r>
              <a:rPr kumimoji="0" lang="ru-RU" altLang="ru-RU" sz="1200" b="0" i="0" u="none" strike="noStrike" cap="none" normalizeH="0" baseline="0" dirty="0">
                <a:ln>
                  <a:noFill/>
                </a:ln>
                <a:solidFill>
                  <a:srgbClr val="0645AD"/>
                </a:solidFill>
                <a:effectLst/>
                <a:cs typeface="Arial" panose="020B0604020202020204" pitchFamily="34" charset="0"/>
                <a:hlinkClick r:id="rId7" tooltip="DB2"/>
              </a:rPr>
              <a:t>DB2</a:t>
            </a:r>
            <a:r>
              <a:rPr kumimoji="0" lang="ru-RU" altLang="ru-RU" sz="1200" b="0" i="0" u="none" strike="noStrike" cap="none" normalizeH="0" baseline="0" dirty="0">
                <a:ln>
                  <a:noFill/>
                </a:ln>
                <a:solidFill>
                  <a:srgbClr val="202122"/>
                </a:solidFill>
                <a:effectLst/>
                <a:cs typeface="Arial" panose="020B0604020202020204" pitchFamily="34" charset="0"/>
              </a:rPr>
              <a:t>). Естественно, что при применении некоторых специфичных для реализации возможностей такой переносимости добиться уже очень трудно.</a:t>
            </a:r>
            <a:endParaRPr kumimoji="0" lang="ru-RU" altLang="ru-RU" sz="1200" b="0" i="0" u="none" strike="noStrike" cap="none" normalizeH="0" baseline="0" dirty="0">
              <a:ln>
                <a:noFill/>
              </a:ln>
              <a:solidFill>
                <a:schemeClr val="tx1"/>
              </a:solidFill>
              <a:effectLst/>
            </a:endParaRPr>
          </a:p>
          <a:p>
            <a:pPr>
              <a:buClrTx/>
              <a:buSzTx/>
            </a:pPr>
            <a:r>
              <a:rPr kumimoji="0" lang="ru-RU" altLang="ru-RU" sz="1200" b="1" i="0" u="none" strike="noStrike" cap="none" normalizeH="0" baseline="0" dirty="0">
                <a:ln>
                  <a:noFill/>
                </a:ln>
                <a:solidFill>
                  <a:srgbClr val="202122"/>
                </a:solidFill>
                <a:effectLst/>
                <a:cs typeface="Arial" panose="020B0604020202020204" pitchFamily="34" charset="0"/>
              </a:rPr>
              <a:t>Наличие стандартов</a:t>
            </a:r>
          </a:p>
          <a:p>
            <a:pPr marL="0" indent="0">
              <a:buClrTx/>
              <a:buSzTx/>
              <a:buNone/>
            </a:pPr>
            <a:r>
              <a:rPr kumimoji="0" lang="ru-RU" altLang="ru-RU" sz="1200" b="0" i="0" u="none" strike="noStrike" cap="none" normalizeH="0" baseline="0" dirty="0">
                <a:ln>
                  <a:noFill/>
                </a:ln>
                <a:solidFill>
                  <a:srgbClr val="202122"/>
                </a:solidFill>
                <a:effectLst/>
                <a:cs typeface="Arial" panose="020B0604020202020204" pitchFamily="34" charset="0"/>
              </a:rPr>
              <a:t>Наличие стандартов и набора тестов для выявления совместимости и соответствия конкретной реализации SQL общепринятому стандарту только способствует «стабилизации» языка. Правда, стоит обратить внимание, что сам по себе стандарт местами чересчур формализован и раздут в размерах (например, базовая часть стандарта SQL:2003 состоит из более чем 1300 страниц текста).</a:t>
            </a:r>
            <a:endParaRPr kumimoji="0" lang="ru-RU" altLang="ru-RU" sz="1200" b="0" i="0" u="none" strike="noStrike" cap="none" normalizeH="0" baseline="0" dirty="0">
              <a:ln>
                <a:noFill/>
              </a:ln>
              <a:solidFill>
                <a:schemeClr val="tx1"/>
              </a:solidFill>
              <a:effectLst/>
            </a:endParaRPr>
          </a:p>
          <a:p>
            <a:pPr>
              <a:buClrTx/>
              <a:buSzTx/>
            </a:pPr>
            <a:r>
              <a:rPr kumimoji="0" lang="ru-RU" altLang="ru-RU" sz="1200" b="1" i="0" u="none" strike="noStrike" cap="none" normalizeH="0" baseline="0" dirty="0">
                <a:ln>
                  <a:noFill/>
                </a:ln>
                <a:solidFill>
                  <a:srgbClr val="202122"/>
                </a:solidFill>
                <a:effectLst/>
                <a:cs typeface="Arial" panose="020B0604020202020204" pitchFamily="34" charset="0"/>
              </a:rPr>
              <a:t>Декларативность</a:t>
            </a:r>
          </a:p>
          <a:p>
            <a:pPr marL="0" indent="0">
              <a:buClrTx/>
              <a:buSzTx/>
              <a:buNone/>
            </a:pPr>
            <a:r>
              <a:rPr kumimoji="0" lang="ru-RU" altLang="ru-RU" sz="1200" b="0" i="0" u="none" strike="noStrike" cap="none" normalizeH="0" baseline="0" dirty="0">
                <a:ln>
                  <a:noFill/>
                </a:ln>
                <a:solidFill>
                  <a:srgbClr val="202122"/>
                </a:solidFill>
                <a:effectLst/>
                <a:cs typeface="Arial" panose="020B0604020202020204" pitchFamily="34" charset="0"/>
              </a:rPr>
              <a:t>С помощью SQL программист описывает только то, какие данные нужно извлечь или модифицировать. То, каким образом это сделать, решает СУБД непосредственно при обработке SQL-запроса. Однако не стоит думать, что это полностью универсальный принцип — программист описывает набор данных для выборки или модификации, однако ему при этом полезно представлять, как СУБД будет разбирать текст его запроса. Чем сложнее сконструирован запрос, тем больше он допускает вариантов написания, различных по скорости выполнения, но одинаковых по итоговому набору данных.</a:t>
            </a:r>
            <a:endParaRPr kumimoji="0" lang="ru-RU" altLang="ru-RU" sz="1200" b="0" i="0" u="none" strike="noStrike" cap="none" normalizeH="0" baseline="0" dirty="0">
              <a:ln>
                <a:noFill/>
              </a:ln>
              <a:solidFill>
                <a:schemeClr val="tx1"/>
              </a:solidFill>
              <a:effectLst/>
            </a:endParaRPr>
          </a:p>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5</a:t>
            </a:fld>
            <a:endParaRPr lang="ru-RU"/>
          </a:p>
        </p:txBody>
      </p:sp>
    </p:spTree>
    <p:extLst>
      <p:ext uri="{BB962C8B-B14F-4D97-AF65-F5344CB8AC3E}">
        <p14:creationId xmlns:p14="http://schemas.microsoft.com/office/powerpoint/2010/main" val="511376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pPr algn="l"/>
            <a:r>
              <a:rPr lang="ru-RU" b="1" dirty="0"/>
              <a:t>Несоответствие реляционной модели данных</a:t>
            </a:r>
          </a:p>
          <a:p>
            <a:pPr algn="l"/>
            <a:r>
              <a:rPr lang="ru-RU" b="0" i="0" dirty="0">
                <a:solidFill>
                  <a:srgbClr val="202122"/>
                </a:solidFill>
                <a:effectLst/>
                <a:latin typeface="Arial" panose="020B0604020202020204" pitchFamily="34" charset="0"/>
              </a:rPr>
              <a:t>Создатели реляционной модели данных </a:t>
            </a:r>
            <a:r>
              <a:rPr lang="ru-RU" b="0" i="0" u="none" strike="noStrike" dirty="0">
                <a:solidFill>
                  <a:srgbClr val="0645AD"/>
                </a:solidFill>
                <a:effectLst/>
                <a:latin typeface="Arial" panose="020B0604020202020204" pitchFamily="34" charset="0"/>
                <a:hlinkClick r:id="rId3" tooltip="Кодд, Эдгар"/>
              </a:rPr>
              <a:t>Эдгар Кодд</a:t>
            </a:r>
            <a:r>
              <a:rPr lang="ru-RU" b="0" i="0" dirty="0">
                <a:solidFill>
                  <a:srgbClr val="202122"/>
                </a:solidFill>
                <a:effectLst/>
                <a:latin typeface="Arial" panose="020B0604020202020204" pitchFamily="34" charset="0"/>
              </a:rPr>
              <a:t>, </a:t>
            </a:r>
            <a:r>
              <a:rPr lang="ru-RU" b="0" i="0" u="none" strike="noStrike" dirty="0">
                <a:solidFill>
                  <a:srgbClr val="0645AD"/>
                </a:solidFill>
                <a:effectLst/>
                <a:latin typeface="Arial" panose="020B0604020202020204" pitchFamily="34" charset="0"/>
                <a:hlinkClick r:id="rId4" tooltip="Дейт, Кристофер"/>
              </a:rPr>
              <a:t>Кристофер </a:t>
            </a:r>
            <a:r>
              <a:rPr lang="ru-RU" b="0" i="0" u="none" strike="noStrike" dirty="0" err="1">
                <a:solidFill>
                  <a:srgbClr val="0645AD"/>
                </a:solidFill>
                <a:effectLst/>
                <a:latin typeface="Arial" panose="020B0604020202020204" pitchFamily="34" charset="0"/>
                <a:hlinkClick r:id="rId4" tooltip="Дейт, Кристофер"/>
              </a:rPr>
              <a:t>Дейт</a:t>
            </a:r>
            <a:r>
              <a:rPr lang="ru-RU" b="0" i="0" dirty="0">
                <a:solidFill>
                  <a:srgbClr val="202122"/>
                </a:solidFill>
                <a:effectLst/>
                <a:latin typeface="Arial" panose="020B0604020202020204" pitchFamily="34" charset="0"/>
              </a:rPr>
              <a:t> и их сторонники указывают на то, что SQL не является истинно реляционным языком. В частности, они указывают на следующие дефекты SQL с точки зрения реляционной теории</a:t>
            </a:r>
            <a:r>
              <a:rPr lang="ru-RU" b="0" i="0" u="none" strike="noStrike" baseline="30000" dirty="0">
                <a:solidFill>
                  <a:srgbClr val="0645AD"/>
                </a:solidFill>
                <a:effectLst/>
                <a:latin typeface="Arial" panose="020B0604020202020204" pitchFamily="34" charset="0"/>
                <a:hlinkClick r:id="rId5"/>
              </a:rPr>
              <a:t>[12]</a:t>
            </a:r>
            <a:r>
              <a:rPr lang="ru-RU" b="0" i="0" dirty="0">
                <a:solidFill>
                  <a:srgbClr val="202122"/>
                </a:solidFill>
                <a:effectLst/>
                <a:latin typeface="Arial" panose="020B0604020202020204" pitchFamily="34" charset="0"/>
              </a:rPr>
              <a:t>:</a:t>
            </a:r>
          </a:p>
          <a:p>
            <a:pPr algn="l">
              <a:buFont typeface="Arial" panose="020B0604020202020204" pitchFamily="34" charset="0"/>
              <a:buChar char="•"/>
            </a:pPr>
            <a:r>
              <a:rPr lang="ru-RU" b="0" i="0" dirty="0">
                <a:solidFill>
                  <a:srgbClr val="202122"/>
                </a:solidFill>
                <a:effectLst/>
                <a:latin typeface="Arial" panose="020B0604020202020204" pitchFamily="34" charset="0"/>
              </a:rPr>
              <a:t>допущение строк-дубликатов в таблицах и результатах выборок, что в рамках реляционной модели данных невозможно и недопустимо;</a:t>
            </a:r>
          </a:p>
          <a:p>
            <a:pPr algn="l">
              <a:buFont typeface="Arial" panose="020B0604020202020204" pitchFamily="34" charset="0"/>
              <a:buChar char="•"/>
            </a:pPr>
            <a:r>
              <a:rPr lang="ru-RU" b="0" i="0" dirty="0">
                <a:solidFill>
                  <a:srgbClr val="202122"/>
                </a:solidFill>
                <a:effectLst/>
                <a:latin typeface="Arial" panose="020B0604020202020204" pitchFamily="34" charset="0"/>
              </a:rPr>
              <a:t>поддержка неопределённых значений (</a:t>
            </a:r>
            <a:r>
              <a:rPr lang="ru-RU" b="0" i="0" u="none" strike="noStrike" dirty="0">
                <a:solidFill>
                  <a:srgbClr val="0645AD"/>
                </a:solidFill>
                <a:effectLst/>
                <a:latin typeface="Arial" panose="020B0604020202020204" pitchFamily="34" charset="0"/>
                <a:hlinkClick r:id="rId6" tooltip="NULL (SQL)"/>
              </a:rPr>
              <a:t>NULL</a:t>
            </a:r>
            <a:r>
              <a:rPr lang="ru-RU" b="0" i="0" dirty="0">
                <a:solidFill>
                  <a:srgbClr val="202122"/>
                </a:solidFill>
                <a:effectLst/>
                <a:latin typeface="Arial" panose="020B0604020202020204" pitchFamily="34" charset="0"/>
              </a:rPr>
              <a:t>), создающая фактически многозначную логику;</a:t>
            </a:r>
          </a:p>
          <a:p>
            <a:pPr algn="l">
              <a:buFont typeface="Arial" panose="020B0604020202020204" pitchFamily="34" charset="0"/>
              <a:buChar char="•"/>
            </a:pPr>
            <a:r>
              <a:rPr lang="ru-RU" b="0" i="0" dirty="0">
                <a:solidFill>
                  <a:srgbClr val="202122"/>
                </a:solidFill>
                <a:effectLst/>
                <a:latin typeface="Arial" panose="020B0604020202020204" pitchFamily="34" charset="0"/>
              </a:rPr>
              <a:t>значимость порядка столбцов, возможность ссылок на столбцы по номерам (в реляционной модели столбцы должны быть равноправны);</a:t>
            </a:r>
          </a:p>
          <a:p>
            <a:pPr algn="l">
              <a:buFont typeface="Arial" panose="020B0604020202020204" pitchFamily="34" charset="0"/>
              <a:buChar char="•"/>
            </a:pPr>
            <a:r>
              <a:rPr lang="ru-RU" b="0" i="0" dirty="0">
                <a:solidFill>
                  <a:srgbClr val="202122"/>
                </a:solidFill>
                <a:effectLst/>
                <a:latin typeface="Arial" panose="020B0604020202020204" pitchFamily="34" charset="0"/>
              </a:rPr>
              <a:t>допущение столбцов без имени, </a:t>
            </a:r>
            <a:r>
              <a:rPr lang="ru-RU" b="0" i="0" dirty="0" err="1">
                <a:solidFill>
                  <a:srgbClr val="202122"/>
                </a:solidFill>
                <a:effectLst/>
                <a:latin typeface="Arial" panose="020B0604020202020204" pitchFamily="34" charset="0"/>
              </a:rPr>
              <a:t>дублирующихся</a:t>
            </a:r>
            <a:r>
              <a:rPr lang="ru-RU" b="0" i="0" dirty="0">
                <a:solidFill>
                  <a:srgbClr val="202122"/>
                </a:solidFill>
                <a:effectLst/>
                <a:latin typeface="Arial" panose="020B0604020202020204" pitchFamily="34" charset="0"/>
              </a:rPr>
              <a:t> имён столбцов.</a:t>
            </a:r>
          </a:p>
          <a:p>
            <a:pPr algn="l"/>
            <a:r>
              <a:rPr lang="ru-RU" b="0" i="0" dirty="0">
                <a:solidFill>
                  <a:srgbClr val="202122"/>
                </a:solidFill>
                <a:effectLst/>
                <a:latin typeface="Arial" panose="020B0604020202020204" pitchFamily="34" charset="0"/>
              </a:rPr>
              <a:t>В опубликованном Кристофером </a:t>
            </a:r>
            <a:r>
              <a:rPr lang="ru-RU" b="0" i="0" dirty="0" err="1">
                <a:solidFill>
                  <a:srgbClr val="202122"/>
                </a:solidFill>
                <a:effectLst/>
                <a:latin typeface="Arial" panose="020B0604020202020204" pitchFamily="34" charset="0"/>
              </a:rPr>
              <a:t>Дейтом</a:t>
            </a:r>
            <a:r>
              <a:rPr lang="ru-RU" b="0" i="0" dirty="0">
                <a:solidFill>
                  <a:srgbClr val="202122"/>
                </a:solidFill>
                <a:effectLst/>
                <a:latin typeface="Arial" panose="020B0604020202020204" pitchFamily="34" charset="0"/>
              </a:rPr>
              <a:t> и </a:t>
            </a:r>
            <a:r>
              <a:rPr lang="ru-RU" b="0" i="0" u="none" strike="noStrike" dirty="0">
                <a:solidFill>
                  <a:srgbClr val="BA0000"/>
                </a:solidFill>
                <a:effectLst/>
                <a:latin typeface="Arial" panose="020B0604020202020204" pitchFamily="34" charset="0"/>
                <a:hlinkClick r:id="rId7" tooltip="Дарвен, Хью (страница отсутствует)"/>
              </a:rPr>
              <a:t>Хью </a:t>
            </a:r>
            <a:r>
              <a:rPr lang="ru-RU" b="0" i="0" u="none" strike="noStrike" dirty="0" err="1">
                <a:solidFill>
                  <a:srgbClr val="BA0000"/>
                </a:solidFill>
                <a:effectLst/>
                <a:latin typeface="Arial" panose="020B0604020202020204" pitchFamily="34" charset="0"/>
                <a:hlinkClick r:id="rId7" tooltip="Дарвен, Хью (страница отсутствует)"/>
              </a:rPr>
              <a:t>Дарвеном</a:t>
            </a:r>
            <a:r>
              <a:rPr lang="ru-RU" b="0" i="0" dirty="0">
                <a:solidFill>
                  <a:srgbClr val="202122"/>
                </a:solidFill>
                <a:effectLst/>
                <a:latin typeface="Arial" panose="020B0604020202020204" pitchFamily="34" charset="0"/>
              </a:rPr>
              <a:t> </a:t>
            </a:r>
            <a:r>
              <a:rPr lang="ru-RU" b="0" i="0" u="none" strike="noStrike" dirty="0">
                <a:solidFill>
                  <a:srgbClr val="BA0000"/>
                </a:solidFill>
                <a:effectLst/>
                <a:latin typeface="Arial" panose="020B0604020202020204" pitchFamily="34" charset="0"/>
                <a:hlinkClick r:id="rId8" tooltip="Третий манифест (страница отсутствует)"/>
              </a:rPr>
              <a:t>Третьем манифесте</a:t>
            </a:r>
            <a:r>
              <a:rPr lang="ru-RU" b="0" i="0" u="none" strike="noStrike" baseline="30000" dirty="0">
                <a:solidFill>
                  <a:srgbClr val="0645AD"/>
                </a:solidFill>
                <a:effectLst/>
                <a:latin typeface="Arial" panose="020B0604020202020204" pitchFamily="34" charset="0"/>
                <a:hlinkClick r:id="rId5"/>
              </a:rPr>
              <a:t>[13]</a:t>
            </a:r>
            <a:r>
              <a:rPr lang="ru-RU" b="0" i="0" dirty="0">
                <a:solidFill>
                  <a:srgbClr val="202122"/>
                </a:solidFill>
                <a:effectLst/>
                <a:latin typeface="Arial" panose="020B0604020202020204" pitchFamily="34" charset="0"/>
              </a:rPr>
              <a:t> они излагают принципы СУБД следующего поколения и предлагают язык </a:t>
            </a:r>
            <a:r>
              <a:rPr lang="ru-RU" b="0" i="0" u="none" strike="noStrike" dirty="0" err="1">
                <a:solidFill>
                  <a:srgbClr val="0645AD"/>
                </a:solidFill>
                <a:effectLst/>
                <a:latin typeface="Arial" panose="020B0604020202020204" pitchFamily="34" charset="0"/>
                <a:hlinkClick r:id="rId9" tooltip="Tutorial D"/>
              </a:rPr>
              <a:t>Tutorial</a:t>
            </a:r>
            <a:r>
              <a:rPr lang="ru-RU" b="0" i="0" u="none" strike="noStrike" dirty="0">
                <a:solidFill>
                  <a:srgbClr val="0645AD"/>
                </a:solidFill>
                <a:effectLst/>
                <a:latin typeface="Arial" panose="020B0604020202020204" pitchFamily="34" charset="0"/>
                <a:hlinkClick r:id="rId9" tooltip="Tutorial D"/>
              </a:rPr>
              <a:t> D</a:t>
            </a:r>
            <a:r>
              <a:rPr lang="ru-RU" b="0" i="0" dirty="0">
                <a:solidFill>
                  <a:srgbClr val="202122"/>
                </a:solidFill>
                <a:effectLst/>
                <a:latin typeface="Arial" panose="020B0604020202020204" pitchFamily="34" charset="0"/>
              </a:rPr>
              <a:t>, который является подлинно реляционным.</a:t>
            </a:r>
          </a:p>
          <a:p>
            <a:pPr algn="l"/>
            <a:r>
              <a:rPr lang="ru-RU" b="1" dirty="0"/>
              <a:t>Сложность</a:t>
            </a:r>
          </a:p>
          <a:p>
            <a:pPr algn="l"/>
            <a:r>
              <a:rPr lang="ru-RU" b="0" i="0" dirty="0">
                <a:solidFill>
                  <a:srgbClr val="202122"/>
                </a:solidFill>
                <a:effectLst/>
                <a:latin typeface="Arial" panose="020B0604020202020204" pitchFamily="34" charset="0"/>
              </a:rPr>
              <a:t>Хотя SQL и задумывался как средство работы конечного пользователя, позже он стал настолько сложным, что превратился в инструмент программиста.</a:t>
            </a:r>
          </a:p>
          <a:p>
            <a:pPr algn="l"/>
            <a:r>
              <a:rPr lang="ru-RU" b="1" dirty="0"/>
              <a:t>Отступления от стандартов</a:t>
            </a:r>
          </a:p>
          <a:p>
            <a:pPr algn="l"/>
            <a:r>
              <a:rPr lang="ru-RU" b="0" i="0" dirty="0">
                <a:solidFill>
                  <a:srgbClr val="202122"/>
                </a:solidFill>
                <a:effectLst/>
                <a:latin typeface="Arial" panose="020B0604020202020204" pitchFamily="34" charset="0"/>
              </a:rPr>
              <a:t>Несмотря на наличие международного стандарта ANSI SQL-92, многие разработчики СУБД вносят изменения в язык SQL, применяемый в разрабатываемой СУБД, тем самым отступая от стандарта. Таким образом появляются специфичные для каждой конкретной СУБД диалекты языка SQL.</a:t>
            </a:r>
          </a:p>
          <a:p>
            <a:pPr algn="l"/>
            <a:r>
              <a:rPr lang="ru-RU" b="1" dirty="0"/>
              <a:t>Сложность работы с иерархическими структурами</a:t>
            </a:r>
          </a:p>
          <a:p>
            <a:pPr algn="l"/>
            <a:r>
              <a:rPr lang="ru-RU" b="0" i="0" dirty="0">
                <a:solidFill>
                  <a:srgbClr val="202122"/>
                </a:solidFill>
                <a:effectLst/>
                <a:latin typeface="Arial" panose="020B0604020202020204" pitchFamily="34" charset="0"/>
              </a:rPr>
              <a:t>Ранее диалекты SQL большинства СУБД не предлагали способа манипуляции древовидными структурами. Некоторые поставщики СУБД предлагали свои решения (например, в </a:t>
            </a:r>
            <a:r>
              <a:rPr lang="ru-RU" b="0" i="0" u="none" strike="noStrike" dirty="0">
                <a:solidFill>
                  <a:srgbClr val="0645AD"/>
                </a:solidFill>
                <a:effectLst/>
                <a:latin typeface="Arial" panose="020B0604020202020204" pitchFamily="34" charset="0"/>
                <a:hlinkClick r:id="rId10" tooltip="Oracle Database"/>
              </a:rPr>
              <a:t>Oracle Database</a:t>
            </a:r>
            <a:r>
              <a:rPr lang="ru-RU" b="0" i="0" dirty="0">
                <a:solidFill>
                  <a:srgbClr val="202122"/>
                </a:solidFill>
                <a:effectLst/>
                <a:latin typeface="Arial" panose="020B0604020202020204" pitchFamily="34" charset="0"/>
              </a:rPr>
              <a:t> используется выражение </a:t>
            </a:r>
            <a:r>
              <a:rPr lang="ru-RU" b="0" i="1" dirty="0">
                <a:solidFill>
                  <a:srgbClr val="202122"/>
                </a:solidFill>
                <a:effectLst/>
                <a:latin typeface="Arial" panose="020B0604020202020204" pitchFamily="34" charset="0"/>
              </a:rPr>
              <a:t>CONNECT BY</a:t>
            </a:r>
            <a:r>
              <a:rPr lang="ru-RU" b="0" i="0" dirty="0">
                <a:solidFill>
                  <a:srgbClr val="202122"/>
                </a:solidFill>
                <a:effectLst/>
                <a:latin typeface="Arial" panose="020B0604020202020204" pitchFamily="34" charset="0"/>
              </a:rPr>
              <a:t>). В настоящее время в ANSI стандартизована рекурсивная конструкция </a:t>
            </a:r>
            <a:r>
              <a:rPr lang="ru-RU" b="0" i="1" dirty="0">
                <a:solidFill>
                  <a:srgbClr val="202122"/>
                </a:solidFill>
                <a:effectLst/>
                <a:latin typeface="Arial" panose="020B0604020202020204" pitchFamily="34" charset="0"/>
              </a:rPr>
              <a:t>WITH</a:t>
            </a:r>
            <a:r>
              <a:rPr lang="ru-RU" b="0" i="0" dirty="0">
                <a:solidFill>
                  <a:srgbClr val="202122"/>
                </a:solidFill>
                <a:effectLst/>
                <a:latin typeface="Arial" panose="020B0604020202020204" pitchFamily="34" charset="0"/>
              </a:rPr>
              <a:t> из диалекта SQL </a:t>
            </a:r>
            <a:r>
              <a:rPr lang="ru-RU" b="0" i="0" u="none" strike="noStrike" dirty="0">
                <a:solidFill>
                  <a:srgbClr val="0645AD"/>
                </a:solidFill>
                <a:effectLst/>
                <a:latin typeface="Arial" panose="020B0604020202020204" pitchFamily="34" charset="0"/>
                <a:hlinkClick r:id="rId11" tooltip="DB2"/>
              </a:rPr>
              <a:t>DB2</a:t>
            </a:r>
            <a:r>
              <a:rPr lang="ru-RU" b="0" i="0" dirty="0">
                <a:solidFill>
                  <a:srgbClr val="202122"/>
                </a:solidFill>
                <a:effectLst/>
                <a:latin typeface="Arial" panose="020B0604020202020204" pitchFamily="34" charset="0"/>
              </a:rPr>
              <a:t>. В </a:t>
            </a:r>
            <a:r>
              <a:rPr lang="ru-RU" b="0" i="0" u="none" strike="noStrike" dirty="0">
                <a:solidFill>
                  <a:srgbClr val="0645AD"/>
                </a:solidFill>
                <a:effectLst/>
                <a:latin typeface="Arial" panose="020B0604020202020204" pitchFamily="34" charset="0"/>
                <a:hlinkClick r:id="rId12" tooltip="Microsoft SQL Server"/>
              </a:rPr>
              <a:t>Microsoft SQL Server</a:t>
            </a:r>
            <a:r>
              <a:rPr lang="ru-RU" b="0" i="0" dirty="0">
                <a:solidFill>
                  <a:srgbClr val="202122"/>
                </a:solidFill>
                <a:effectLst/>
                <a:latin typeface="Arial" panose="020B0604020202020204" pitchFamily="34" charset="0"/>
              </a:rPr>
              <a:t> рекурсивные запросы (</a:t>
            </a:r>
            <a:r>
              <a:rPr lang="ru-RU" b="0" i="1" dirty="0" err="1">
                <a:solidFill>
                  <a:srgbClr val="202122"/>
                </a:solidFill>
                <a:effectLst/>
                <a:latin typeface="Arial" panose="020B0604020202020204" pitchFamily="34" charset="0"/>
              </a:rPr>
              <a:t>Recursive</a:t>
            </a:r>
            <a:r>
              <a:rPr lang="ru-RU" b="0" i="1" dirty="0">
                <a:solidFill>
                  <a:srgbClr val="202122"/>
                </a:solidFill>
                <a:effectLst/>
                <a:latin typeface="Arial" panose="020B0604020202020204" pitchFamily="34" charset="0"/>
              </a:rPr>
              <a:t> Common </a:t>
            </a:r>
            <a:r>
              <a:rPr lang="ru-RU" b="0" i="1" dirty="0" err="1">
                <a:solidFill>
                  <a:srgbClr val="202122"/>
                </a:solidFill>
                <a:effectLst/>
                <a:latin typeface="Arial" panose="020B0604020202020204" pitchFamily="34" charset="0"/>
              </a:rPr>
              <a:t>Table</a:t>
            </a:r>
            <a:r>
              <a:rPr lang="ru-RU" b="0" i="1" dirty="0">
                <a:solidFill>
                  <a:srgbClr val="202122"/>
                </a:solidFill>
                <a:effectLst/>
                <a:latin typeface="Arial" panose="020B0604020202020204" pitchFamily="34" charset="0"/>
              </a:rPr>
              <a:t> </a:t>
            </a:r>
            <a:r>
              <a:rPr lang="ru-RU" b="0" i="1" dirty="0" err="1">
                <a:solidFill>
                  <a:srgbClr val="202122"/>
                </a:solidFill>
                <a:effectLst/>
                <a:latin typeface="Arial" panose="020B0604020202020204" pitchFamily="34" charset="0"/>
              </a:rPr>
              <a:t>Expressions</a:t>
            </a:r>
            <a:r>
              <a:rPr lang="ru-RU" b="0" i="0" dirty="0">
                <a:solidFill>
                  <a:srgbClr val="202122"/>
                </a:solidFill>
                <a:effectLst/>
                <a:latin typeface="Arial" panose="020B0604020202020204" pitchFamily="34" charset="0"/>
              </a:rPr>
              <a:t>) появились с версии 2005</a:t>
            </a:r>
            <a:r>
              <a:rPr lang="ru-RU" b="0" i="0" u="none" strike="noStrike" baseline="30000" dirty="0">
                <a:solidFill>
                  <a:srgbClr val="0645AD"/>
                </a:solidFill>
                <a:effectLst/>
                <a:latin typeface="Arial" panose="020B0604020202020204" pitchFamily="34" charset="0"/>
                <a:hlinkClick r:id="rId5"/>
              </a:rPr>
              <a:t>[14]</a:t>
            </a:r>
            <a:r>
              <a:rPr lang="ru-RU" b="0" i="0" dirty="0">
                <a:solidFill>
                  <a:srgbClr val="202122"/>
                </a:solidFill>
                <a:effectLst/>
                <a:latin typeface="Arial" panose="020B0604020202020204" pitchFamily="34" charset="0"/>
              </a:rPr>
              <a:t>.</a:t>
            </a:r>
          </a:p>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6</a:t>
            </a:fld>
            <a:endParaRPr lang="ru-RU"/>
          </a:p>
        </p:txBody>
      </p:sp>
    </p:spTree>
    <p:extLst>
      <p:ext uri="{BB962C8B-B14F-4D97-AF65-F5344CB8AC3E}">
        <p14:creationId xmlns:p14="http://schemas.microsoft.com/office/powerpoint/2010/main" val="1290952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9</a:t>
            </a:fld>
            <a:endParaRPr lang="ru-RU"/>
          </a:p>
        </p:txBody>
      </p:sp>
    </p:spTree>
    <p:extLst>
      <p:ext uri="{BB962C8B-B14F-4D97-AF65-F5344CB8AC3E}">
        <p14:creationId xmlns:p14="http://schemas.microsoft.com/office/powerpoint/2010/main" val="3337054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10000"/>
          </a:bodyPr>
          <a:lstStyle/>
          <a:p>
            <a:r>
              <a:rPr lang="ru-RU" sz="1200" kern="1200" dirty="0">
                <a:solidFill>
                  <a:schemeClr val="tx1"/>
                </a:solidFill>
                <a:effectLst/>
                <a:latin typeface="+mn-lt"/>
                <a:ea typeface="+mn-ea"/>
                <a:cs typeface="+mn-cs"/>
              </a:rPr>
              <a:t>СУБД автоматически определяет одного или нескольких пользователей и как минимум одну схему по умолчанию, с которой можно установить соединение. Как правило, это суперпользователи базы данных, такие, как </a:t>
            </a:r>
            <a:r>
              <a:rPr lang="en-US" sz="1200" kern="1200" dirty="0">
                <a:solidFill>
                  <a:schemeClr val="tx1"/>
                </a:solidFill>
                <a:effectLst/>
                <a:latin typeface="+mn-lt"/>
                <a:ea typeface="+mn-ea"/>
                <a:cs typeface="+mn-cs"/>
              </a:rPr>
              <a:t>SYS</a:t>
            </a:r>
            <a:r>
              <a:rPr lang="ru-RU" sz="1200" kern="1200" dirty="0">
                <a:solidFill>
                  <a:schemeClr val="tx1"/>
                </a:solidFill>
                <a:effectLst/>
                <a:latin typeface="+mn-lt"/>
                <a:ea typeface="+mn-ea"/>
                <a:cs typeface="+mn-cs"/>
              </a:rPr>
              <a:t> (от </a:t>
            </a:r>
            <a:r>
              <a:rPr lang="en-US" sz="1200" kern="1200" dirty="0">
                <a:solidFill>
                  <a:schemeClr val="tx1"/>
                </a:solidFill>
                <a:effectLst/>
                <a:latin typeface="+mn-lt"/>
                <a:ea typeface="+mn-ea"/>
                <a:cs typeface="+mn-cs"/>
              </a:rPr>
              <a:t>System</a:t>
            </a:r>
            <a:r>
              <a:rPr lang="ru-RU" sz="1200" kern="1200" dirty="0">
                <a:solidFill>
                  <a:schemeClr val="tx1"/>
                </a:solidFill>
                <a:effectLst/>
                <a:latin typeface="+mn-lt"/>
                <a:ea typeface="+mn-ea"/>
                <a:cs typeface="+mn-cs"/>
              </a:rPr>
              <a:t>), имеющие пароль по умолчанию. Следовательно, сначала нужно соединиться с базой данных под именем ВУЗ:</a:t>
            </a:r>
          </a:p>
          <a:p>
            <a:r>
              <a:rPr lang="ru-RU" sz="1200" kern="1200" dirty="0">
                <a:solidFill>
                  <a:schemeClr val="tx1"/>
                </a:solidFill>
                <a:effectLst/>
                <a:latin typeface="+mn-lt"/>
                <a:ea typeface="+mn-ea"/>
                <a:cs typeface="+mn-cs"/>
              </a:rPr>
              <a:t>С</a:t>
            </a:r>
            <a:r>
              <a:rPr lang="en-US" sz="1200" kern="1200" dirty="0">
                <a:solidFill>
                  <a:schemeClr val="tx1"/>
                </a:solidFill>
                <a:effectLst/>
                <a:latin typeface="+mn-lt"/>
                <a:ea typeface="+mn-ea"/>
                <a:cs typeface="+mn-cs"/>
              </a:rPr>
              <a:t>ONN</a:t>
            </a:r>
            <a:r>
              <a:rPr lang="ru-RU" sz="1200" kern="1200" dirty="0">
                <a:solidFill>
                  <a:schemeClr val="tx1"/>
                </a:solidFill>
                <a:effectLst/>
                <a:latin typeface="+mn-lt"/>
                <a:ea typeface="+mn-ea"/>
                <a:cs typeface="+mn-cs"/>
              </a:rPr>
              <a:t>ЕСТ  ТО  </a:t>
            </a:r>
            <a:r>
              <a:rPr lang="en-US" sz="1200" kern="1200" dirty="0">
                <a:solidFill>
                  <a:schemeClr val="tx1"/>
                </a:solidFill>
                <a:effectLst/>
                <a:latin typeface="+mn-lt"/>
                <a:ea typeface="+mn-ea"/>
                <a:cs typeface="+mn-cs"/>
              </a:rPr>
              <a:t>DEFAULT</a:t>
            </a:r>
            <a:r>
              <a:rPr lang="ru-RU"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USER</a:t>
            </a:r>
            <a:r>
              <a:rPr lang="ru-RU"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SYS</a:t>
            </a:r>
            <a:r>
              <a:rPr lang="ru-RU"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SomePassword</a:t>
            </a:r>
            <a:r>
              <a:rPr lang="en-US" sz="1200" i="1" kern="1200" dirty="0">
                <a:solidFill>
                  <a:schemeClr val="tx1"/>
                </a:solidFill>
                <a:effectLst/>
                <a:latin typeface="+mn-lt"/>
                <a:ea typeface="+mn-ea"/>
                <a:cs typeface="+mn-cs"/>
              </a:rPr>
              <a:t>;</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После установления соединения можно приступить к созданию пользователей:</a:t>
            </a:r>
          </a:p>
          <a:p>
            <a:r>
              <a:rPr lang="en-US" sz="1200" kern="1200" dirty="0">
                <a:solidFill>
                  <a:schemeClr val="tx1"/>
                </a:solidFill>
                <a:effectLst/>
                <a:latin typeface="+mn-lt"/>
                <a:ea typeface="+mn-ea"/>
                <a:cs typeface="+mn-cs"/>
              </a:rPr>
              <a:t>CREATE   USER   </a:t>
            </a:r>
            <a:r>
              <a:rPr lang="ru-RU" sz="1200" kern="1200" dirty="0">
                <a:solidFill>
                  <a:schemeClr val="tx1"/>
                </a:solidFill>
                <a:effectLst/>
                <a:latin typeface="+mn-lt"/>
                <a:ea typeface="+mn-ea"/>
                <a:cs typeface="+mn-cs"/>
              </a:rPr>
              <a:t>Петров</a:t>
            </a:r>
            <a:r>
              <a:rPr lang="en-US" sz="1200" kern="1200" dirty="0">
                <a:solidFill>
                  <a:schemeClr val="tx1"/>
                </a:solidFill>
                <a:effectLst/>
                <a:latin typeface="+mn-lt"/>
                <a:ea typeface="+mn-ea"/>
                <a:cs typeface="+mn-cs"/>
              </a:rPr>
              <a:t> IDENTIFIED BY </a:t>
            </a:r>
            <a:r>
              <a:rPr lang="ru-RU" sz="1200" kern="1200" dirty="0">
                <a:solidFill>
                  <a:schemeClr val="tx1"/>
                </a:solidFill>
                <a:effectLst/>
                <a:latin typeface="+mn-lt"/>
                <a:ea typeface="+mn-ea"/>
                <a:cs typeface="+mn-cs"/>
              </a:rPr>
              <a:t>Венера;</a:t>
            </a:r>
          </a:p>
          <a:p>
            <a:r>
              <a:rPr lang="ru-RU" sz="1200" kern="1200" cap="small" dirty="0">
                <a:solidFill>
                  <a:schemeClr val="tx1"/>
                </a:solidFill>
                <a:effectLst/>
                <a:latin typeface="+mn-lt"/>
                <a:ea typeface="+mn-ea"/>
                <a:cs typeface="+mn-cs"/>
              </a:rPr>
              <a:t>Этот </a:t>
            </a:r>
            <a:r>
              <a:rPr lang="ru-RU" sz="1200" kern="1200" dirty="0">
                <a:solidFill>
                  <a:schemeClr val="tx1"/>
                </a:solidFill>
                <a:effectLst/>
                <a:latin typeface="+mn-lt"/>
                <a:ea typeface="+mn-ea"/>
                <a:cs typeface="+mn-cs"/>
              </a:rPr>
              <a:t>оператор создает нового пользователя с именем Петров и паролем Венера. Обратите внимание: хотя Петров и Венера представляют собой текстовые строки, они не заключены в одиночные кавычки. Дело в том, что они являются </a:t>
            </a:r>
            <a:r>
              <a:rPr lang="ru-RU" sz="1200" i="1" kern="1200" dirty="0">
                <a:solidFill>
                  <a:schemeClr val="tx1"/>
                </a:solidFill>
                <a:effectLst/>
                <a:latin typeface="+mn-lt"/>
                <a:ea typeface="+mn-ea"/>
                <a:cs typeface="+mn-cs"/>
              </a:rPr>
              <a:t>идентифи­каторами </a:t>
            </a:r>
            <a:r>
              <a:rPr lang="ru-RU"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identifiers</a:t>
            </a:r>
            <a:r>
              <a:rPr lang="ru-RU" sz="1200" kern="1200" dirty="0">
                <a:solidFill>
                  <a:schemeClr val="tx1"/>
                </a:solidFill>
                <a:effectLst/>
                <a:latin typeface="+mn-lt"/>
                <a:ea typeface="+mn-ea"/>
                <a:cs typeface="+mn-cs"/>
              </a:rPr>
              <a:t>), а не значениями данных </a:t>
            </a:r>
            <a:r>
              <a:rPr lang="en-US" sz="1200" kern="1200" dirty="0">
                <a:solidFill>
                  <a:schemeClr val="tx1"/>
                </a:solidFill>
                <a:effectLst/>
                <a:latin typeface="+mn-lt"/>
                <a:ea typeface="+mn-ea"/>
                <a:cs typeface="+mn-cs"/>
              </a:rPr>
              <a:t>SQL</a:t>
            </a:r>
            <a:r>
              <a:rPr lang="ru-RU" sz="1200" kern="1200" dirty="0">
                <a:solidFill>
                  <a:schemeClr val="tx1"/>
                </a:solidFill>
                <a:effectLst/>
                <a:latin typeface="+mn-lt"/>
                <a:ea typeface="+mn-ea"/>
                <a:cs typeface="+mn-cs"/>
              </a:rPr>
              <a:t>. Идентификатор — это имя, распознаваемое СУБД.</a:t>
            </a:r>
          </a:p>
          <a:p>
            <a:r>
              <a:rPr lang="ru-RU" sz="1200" kern="1200" dirty="0">
                <a:solidFill>
                  <a:schemeClr val="tx1"/>
                </a:solidFill>
                <a:effectLst/>
                <a:latin typeface="+mn-lt"/>
                <a:ea typeface="+mn-ea"/>
                <a:cs typeface="+mn-cs"/>
              </a:rPr>
              <a:t>В некоторых системах необходимо предоставить пользователю право на соеди­нение с СУБД (см. ниже). Для этого можно ввести, например, следующий оператор:</a:t>
            </a:r>
          </a:p>
          <a:p>
            <a:r>
              <a:rPr lang="en-US" sz="1200" kern="1200" dirty="0">
                <a:solidFill>
                  <a:schemeClr val="tx1"/>
                </a:solidFill>
                <a:effectLst/>
                <a:latin typeface="+mn-lt"/>
                <a:ea typeface="+mn-ea"/>
                <a:cs typeface="+mn-cs"/>
              </a:rPr>
              <a:t>GRANT  CONNECT</a:t>
            </a:r>
            <a:r>
              <a:rPr lang="ru-RU"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TO</a:t>
            </a:r>
            <a:r>
              <a:rPr lang="ru-RU" sz="1200" kern="1200" dirty="0">
                <a:solidFill>
                  <a:schemeClr val="tx1"/>
                </a:solidFill>
                <a:effectLst/>
                <a:latin typeface="+mn-lt"/>
                <a:ea typeface="+mn-ea"/>
                <a:cs typeface="+mn-cs"/>
              </a:rPr>
              <a:t>   Петров;</a:t>
            </a:r>
          </a:p>
          <a:p>
            <a:r>
              <a:rPr lang="ru-RU" sz="1200" kern="1200" dirty="0">
                <a:solidFill>
                  <a:schemeClr val="tx1"/>
                </a:solidFill>
                <a:effectLst/>
                <a:latin typeface="+mn-lt"/>
                <a:ea typeface="+mn-ea"/>
                <a:cs typeface="+mn-cs"/>
              </a:rPr>
              <a:t>Теперь, когда пользователь Петров создан, вы можете соединиться с базой данных под его именем:</a:t>
            </a:r>
          </a:p>
          <a:p>
            <a:r>
              <a:rPr lang="ru-RU" sz="1200" kern="1200" dirty="0">
                <a:solidFill>
                  <a:schemeClr val="tx1"/>
                </a:solidFill>
                <a:effectLst/>
                <a:latin typeface="+mn-lt"/>
                <a:ea typeface="+mn-ea"/>
                <a:cs typeface="+mn-cs"/>
              </a:rPr>
              <a:t>С</a:t>
            </a:r>
            <a:r>
              <a:rPr lang="en-US" sz="1200" kern="1200" dirty="0">
                <a:solidFill>
                  <a:schemeClr val="tx1"/>
                </a:solidFill>
                <a:effectLst/>
                <a:latin typeface="+mn-lt"/>
                <a:ea typeface="+mn-ea"/>
                <a:cs typeface="+mn-cs"/>
              </a:rPr>
              <a:t>ONN</a:t>
            </a:r>
            <a:r>
              <a:rPr lang="ru-RU" sz="1200" kern="1200" dirty="0">
                <a:solidFill>
                  <a:schemeClr val="tx1"/>
                </a:solidFill>
                <a:effectLst/>
                <a:latin typeface="+mn-lt"/>
                <a:ea typeface="+mn-ea"/>
                <a:cs typeface="+mn-cs"/>
              </a:rPr>
              <a:t>ЕСТ  ТО  </a:t>
            </a:r>
            <a:r>
              <a:rPr lang="en-US" sz="1200" kern="1200" dirty="0">
                <a:solidFill>
                  <a:schemeClr val="tx1"/>
                </a:solidFill>
                <a:effectLst/>
                <a:latin typeface="+mn-lt"/>
                <a:ea typeface="+mn-ea"/>
                <a:cs typeface="+mn-cs"/>
              </a:rPr>
              <a:t>DEFAULT</a:t>
            </a:r>
            <a:r>
              <a:rPr lang="ru-RU"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USER</a:t>
            </a:r>
            <a:r>
              <a:rPr lang="ru-RU" sz="1200" kern="1200" dirty="0">
                <a:solidFill>
                  <a:schemeClr val="tx1"/>
                </a:solidFill>
                <a:effectLst/>
                <a:latin typeface="+mn-lt"/>
                <a:ea typeface="+mn-ea"/>
                <a:cs typeface="+mn-cs"/>
              </a:rPr>
              <a:t>  Петров</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Венера</a:t>
            </a:r>
          </a:p>
          <a:p>
            <a:r>
              <a:rPr lang="ru-RU" sz="1200" kern="1200" dirty="0">
                <a:solidFill>
                  <a:schemeClr val="tx1"/>
                </a:solidFill>
                <a:effectLst/>
                <a:latin typeface="+mn-lt"/>
                <a:ea typeface="+mn-ea"/>
                <a:cs typeface="+mn-cs"/>
              </a:rPr>
              <a:t>Эта команда инициирует новый сеанс, в котором вы являетесь пользователем Петров. Ваш предыдущий сеанс будет завершен.</a:t>
            </a:r>
          </a:p>
          <a:p>
            <a:r>
              <a:rPr lang="ru-RU" sz="1200" kern="1200" dirty="0">
                <a:solidFill>
                  <a:schemeClr val="tx1"/>
                </a:solidFill>
                <a:effectLst/>
                <a:latin typeface="+mn-lt"/>
                <a:ea typeface="+mn-ea"/>
                <a:cs typeface="+mn-cs"/>
              </a:rPr>
              <a:t>При определении пользователя с именем Петров формируется схема по умолча­нию с именем Петров, в которой будут храниться объекты, создаваемые этим пользо­вателем. Схема изначально пуста, и у Петров, возможно, нет прав на помещение в нее объектов. Предоставление прав пользователю Петров рассматривается в главе 16. </a:t>
            </a:r>
          </a:p>
          <a:p>
            <a:r>
              <a:rPr lang="ru-RU" sz="1200" kern="1200" dirty="0">
                <a:solidFill>
                  <a:schemeClr val="tx1"/>
                </a:solidFill>
                <a:effectLst/>
                <a:latin typeface="+mn-lt"/>
                <a:ea typeface="+mn-ea"/>
                <a:cs typeface="+mn-cs"/>
              </a:rPr>
              <a:t>В некоторых системах (находящихся как минимум на промежуточном уровне соот­ветствия </a:t>
            </a:r>
            <a:r>
              <a:rPr lang="en-US" sz="1200" kern="1200" dirty="0">
                <a:solidFill>
                  <a:schemeClr val="tx1"/>
                </a:solidFill>
                <a:effectLst/>
                <a:latin typeface="+mn-lt"/>
                <a:ea typeface="+mn-ea"/>
                <a:cs typeface="+mn-cs"/>
              </a:rPr>
              <a:t>SQL</a:t>
            </a:r>
            <a:r>
              <a:rPr lang="ru-RU" sz="1200" kern="1200" dirty="0">
                <a:solidFill>
                  <a:schemeClr val="tx1"/>
                </a:solidFill>
                <a:effectLst/>
                <a:latin typeface="+mn-lt"/>
                <a:ea typeface="+mn-ea"/>
                <a:cs typeface="+mn-cs"/>
              </a:rPr>
              <a:t>92) пользователь Петров может иметь несколько схем, созданных как им самим, так и другими пользователями (см. раздел "С</a:t>
            </a:r>
            <a:r>
              <a:rPr lang="en-US" sz="1200" kern="1200" dirty="0">
                <a:solidFill>
                  <a:schemeClr val="tx1"/>
                </a:solidFill>
                <a:effectLst/>
                <a:latin typeface="+mn-lt"/>
                <a:ea typeface="+mn-ea"/>
                <a:cs typeface="+mn-cs"/>
              </a:rPr>
              <a:t>R</a:t>
            </a:r>
            <a:r>
              <a:rPr lang="ru-RU" sz="1200" kern="1200" dirty="0">
                <a:solidFill>
                  <a:schemeClr val="tx1"/>
                </a:solidFill>
                <a:effectLst/>
                <a:latin typeface="+mn-lt"/>
                <a:ea typeface="+mn-ea"/>
                <a:cs typeface="+mn-cs"/>
              </a:rPr>
              <a:t>ЕАТЕ </a:t>
            </a:r>
            <a:r>
              <a:rPr lang="en-US" sz="1200" kern="1200" dirty="0">
                <a:solidFill>
                  <a:schemeClr val="tx1"/>
                </a:solidFill>
                <a:effectLst/>
                <a:latin typeface="+mn-lt"/>
                <a:ea typeface="+mn-ea"/>
                <a:cs typeface="+mn-cs"/>
              </a:rPr>
              <a:t>S</a:t>
            </a:r>
            <a:r>
              <a:rPr lang="ru-RU" sz="1200" kern="1200" dirty="0">
                <a:solidFill>
                  <a:schemeClr val="tx1"/>
                </a:solidFill>
                <a:effectLst/>
                <a:latin typeface="+mn-lt"/>
                <a:ea typeface="+mn-ea"/>
                <a:cs typeface="+mn-cs"/>
              </a:rPr>
              <a:t>СНЕМА" справочника). </a:t>
            </a:r>
          </a:p>
          <a:p>
            <a:r>
              <a:rPr lang="ru-RU" sz="1200" kern="1200" dirty="0">
                <a:solidFill>
                  <a:schemeClr val="tx1"/>
                </a:solidFill>
                <a:effectLst/>
                <a:latin typeface="+mn-lt"/>
                <a:ea typeface="+mn-ea"/>
                <a:cs typeface="+mn-cs"/>
              </a:rPr>
              <a:t>Мы же будем предполагать, что для каждого пользователя создается только одна (возможно, пустая) схема, имеющая то же имя, что и пользователь. Это обычная ситуация, соответствующая требованиям ранних версий </a:t>
            </a:r>
            <a:r>
              <a:rPr lang="en-US" sz="1200" kern="1200" dirty="0">
                <a:solidFill>
                  <a:schemeClr val="tx1"/>
                </a:solidFill>
                <a:effectLst/>
                <a:latin typeface="+mn-lt"/>
                <a:ea typeface="+mn-ea"/>
                <a:cs typeface="+mn-cs"/>
              </a:rPr>
              <a:t>SQL</a:t>
            </a:r>
            <a:r>
              <a:rPr lang="ru-RU" sz="1200" kern="1200" dirty="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11</a:t>
            </a:fld>
            <a:endParaRPr lang="ru-RU"/>
          </a:p>
        </p:txBody>
      </p:sp>
    </p:spTree>
    <p:extLst>
      <p:ext uri="{BB962C8B-B14F-4D97-AF65-F5344CB8AC3E}">
        <p14:creationId xmlns:p14="http://schemas.microsoft.com/office/powerpoint/2010/main" val="217497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5"/>
          </p:nvPr>
        </p:nvSpPr>
        <p:spPr/>
        <p:txBody>
          <a:bodyPr/>
          <a:lstStyle/>
          <a:p>
            <a:fld id="{9F7A9172-A6D9-44C2-8D80-199B20AACF26}" type="slidenum">
              <a:rPr lang="ru-RU" smtClean="0"/>
              <a:pPr/>
              <a:t>12</a:t>
            </a:fld>
            <a:endParaRPr lang="ru-RU"/>
          </a:p>
        </p:txBody>
      </p:sp>
    </p:spTree>
    <p:extLst>
      <p:ext uri="{BB962C8B-B14F-4D97-AF65-F5344CB8AC3E}">
        <p14:creationId xmlns:p14="http://schemas.microsoft.com/office/powerpoint/2010/main" val="3657974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9F7A9172-A6D9-44C2-8D80-199B20AACF26}" type="slidenum">
              <a:rPr lang="ru-RU" smtClean="0"/>
              <a:pPr/>
              <a:t>15</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lnSpc>
                  <a:spcPct val="100000"/>
                </a:lnSpc>
                <a:spcBef>
                  <a:spcPct val="0"/>
                </a:spcBef>
                <a:buClrTx/>
                <a:buSzTx/>
                <a:buFontTx/>
                <a:buNone/>
                <a:defRPr/>
              </a:pPr>
              <a:endParaRPr lang="ru-RU"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ru-RU" noProof="0"/>
              <a:t>Образец заголовка</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ru-RU" noProof="0"/>
              <a:t>Образец подзаголовка</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ru-RU"/>
          </a:p>
        </p:txBody>
      </p:sp>
      <p:sp>
        <p:nvSpPr>
          <p:cNvPr id="19" name="Rectangle 17"/>
          <p:cNvSpPr>
            <a:spLocks noGrp="1" noChangeArrowheads="1"/>
          </p:cNvSpPr>
          <p:nvPr>
            <p:ph type="ftr" sz="quarter" idx="11"/>
          </p:nvPr>
        </p:nvSpPr>
        <p:spPr/>
        <p:txBody>
          <a:bodyPr/>
          <a:lstStyle>
            <a:lvl1pPr>
              <a:defRPr/>
            </a:lvl1pPr>
          </a:lstStyle>
          <a:p>
            <a:pPr>
              <a:defRPr/>
            </a:pPr>
            <a:endParaRPr lang="ru-RU"/>
          </a:p>
        </p:txBody>
      </p:sp>
      <p:sp>
        <p:nvSpPr>
          <p:cNvPr id="20" name="Rectangle 18"/>
          <p:cNvSpPr>
            <a:spLocks noGrp="1" noChangeArrowheads="1"/>
          </p:cNvSpPr>
          <p:nvPr>
            <p:ph type="sldNum" sz="quarter" idx="12"/>
          </p:nvPr>
        </p:nvSpPr>
        <p:spPr/>
        <p:txBody>
          <a:bodyPr/>
          <a:lstStyle>
            <a:lvl1pPr>
              <a:defRPr/>
            </a:lvl1pPr>
          </a:lstStyle>
          <a:p>
            <a:pPr>
              <a:defRPr/>
            </a:pPr>
            <a:fld id="{6AAD0C63-2D32-49CF-97B3-F30266E76D78}" type="slidenum">
              <a:rPr lang="ru-RU"/>
              <a:pPr>
                <a:defRPr/>
              </a:pPr>
              <a:t>‹#›</a:t>
            </a:fld>
            <a:endParaRPr lang="ru-RU"/>
          </a:p>
        </p:txBody>
      </p:sp>
    </p:spTree>
    <p:extLst>
      <p:ext uri="{BB962C8B-B14F-4D97-AF65-F5344CB8AC3E}">
        <p14:creationId xmlns:p14="http://schemas.microsoft.com/office/powerpoint/2010/main" val="210697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BEEC2694-874F-4CC5-9FE4-F16F3A164C5F}"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32215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445C39A4-7E40-4AF5-B91D-28266994BFD2}"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428234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66437DB2-CFE1-4652-9191-A6033F649619}" type="slidenum">
              <a:rPr lang="ru-RU"/>
              <a:pPr>
                <a:defRPr/>
              </a:pPr>
              <a:t>‹#›</a:t>
            </a:fld>
            <a:endParaRPr 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664897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2"/>
          <p:cNvSpPr>
            <a:spLocks noGrp="1" noChangeArrowheads="1"/>
          </p:cNvSpPr>
          <p:nvPr>
            <p:ph type="ftr" sz="quarter" idx="10"/>
          </p:nvPr>
        </p:nvSpPr>
        <p:spPr>
          <a:ln/>
        </p:spPr>
        <p:txBody>
          <a:bodyPr/>
          <a:lstStyle>
            <a:lvl1pPr>
              <a:defRPr/>
            </a:lvl1pPr>
          </a:lstStyle>
          <a:p>
            <a:pPr>
              <a:defRPr/>
            </a:pPr>
            <a:endParaRPr lang="ru-RU"/>
          </a:p>
        </p:txBody>
      </p:sp>
      <p:sp>
        <p:nvSpPr>
          <p:cNvPr id="8" name="Rectangle 3"/>
          <p:cNvSpPr>
            <a:spLocks noGrp="1" noChangeArrowheads="1"/>
          </p:cNvSpPr>
          <p:nvPr>
            <p:ph type="sldNum" sz="quarter" idx="11"/>
          </p:nvPr>
        </p:nvSpPr>
        <p:spPr>
          <a:ln/>
        </p:spPr>
        <p:txBody>
          <a:bodyPr/>
          <a:lstStyle>
            <a:lvl1pPr>
              <a:defRPr/>
            </a:lvl1pPr>
          </a:lstStyle>
          <a:p>
            <a:pPr>
              <a:defRPr/>
            </a:pPr>
            <a:fld id="{BDC21725-57CE-4915-8A62-9CA8C20690F5}" type="slidenum">
              <a:rPr lang="ru-RU"/>
              <a:pPr>
                <a:defRPr/>
              </a:pPr>
              <a:t>‹#›</a:t>
            </a:fld>
            <a:endParaRPr lang="ru-RU"/>
          </a:p>
        </p:txBody>
      </p:sp>
      <p:sp>
        <p:nvSpPr>
          <p:cNvPr id="9"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069869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2"/>
          <p:cNvSpPr>
            <a:spLocks noGrp="1" noChangeArrowheads="1"/>
          </p:cNvSpPr>
          <p:nvPr>
            <p:ph type="ftr" sz="quarter" idx="10"/>
          </p:nvPr>
        </p:nvSpPr>
        <p:spPr>
          <a:ln/>
        </p:spPr>
        <p:txBody>
          <a:bodyPr/>
          <a:lstStyle>
            <a:lvl1pPr>
              <a:defRPr/>
            </a:lvl1pPr>
          </a:lstStyle>
          <a:p>
            <a:pPr>
              <a:defRPr/>
            </a:pPr>
            <a:endParaRPr lang="ru-RU"/>
          </a:p>
        </p:txBody>
      </p:sp>
      <p:sp>
        <p:nvSpPr>
          <p:cNvPr id="4" name="Rectangle 3"/>
          <p:cNvSpPr>
            <a:spLocks noGrp="1" noChangeArrowheads="1"/>
          </p:cNvSpPr>
          <p:nvPr>
            <p:ph type="sldNum" sz="quarter" idx="11"/>
          </p:nvPr>
        </p:nvSpPr>
        <p:spPr>
          <a:ln/>
        </p:spPr>
        <p:txBody>
          <a:bodyPr/>
          <a:lstStyle>
            <a:lvl1pPr>
              <a:defRPr/>
            </a:lvl1pPr>
          </a:lstStyle>
          <a:p>
            <a:pPr>
              <a:defRPr/>
            </a:pPr>
            <a:fld id="{F834A76F-1B29-4FF0-95C3-F3A95A7EC975}" type="slidenum">
              <a:rPr lang="ru-RU"/>
              <a:pPr>
                <a:defRPr/>
              </a:pPr>
              <a:t>‹#›</a:t>
            </a:fld>
            <a:endParaRPr lang="ru-RU"/>
          </a:p>
        </p:txBody>
      </p:sp>
      <p:sp>
        <p:nvSpPr>
          <p:cNvPr id="5"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355215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ru-RU"/>
          </a:p>
        </p:txBody>
      </p:sp>
      <p:sp>
        <p:nvSpPr>
          <p:cNvPr id="3" name="Rectangle 3"/>
          <p:cNvSpPr>
            <a:spLocks noGrp="1" noChangeArrowheads="1"/>
          </p:cNvSpPr>
          <p:nvPr>
            <p:ph type="sldNum" sz="quarter" idx="11"/>
          </p:nvPr>
        </p:nvSpPr>
        <p:spPr>
          <a:ln/>
        </p:spPr>
        <p:txBody>
          <a:bodyPr/>
          <a:lstStyle>
            <a:lvl1pPr>
              <a:defRPr/>
            </a:lvl1pPr>
          </a:lstStyle>
          <a:p>
            <a:pPr>
              <a:defRPr/>
            </a:pPr>
            <a:fld id="{4F3C8FE2-35F2-4E37-B93D-040343316051}" type="slidenum">
              <a:rPr lang="ru-RU"/>
              <a:pPr>
                <a:defRPr/>
              </a:pPr>
              <a:t>‹#›</a:t>
            </a:fld>
            <a:endParaRPr lang="ru-RU"/>
          </a:p>
        </p:txBody>
      </p:sp>
      <p:sp>
        <p:nvSpPr>
          <p:cNvPr id="4"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77632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6B13F8DF-9536-47F4-B53F-4B4586661FE1}" type="slidenum">
              <a:rPr lang="ru-RU"/>
              <a:pPr>
                <a:defRPr/>
              </a:pPr>
              <a:t>‹#›</a:t>
            </a:fld>
            <a:endParaRPr 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833052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D94329B9-0620-468D-BA12-5C505606E115}" type="slidenum">
              <a:rPr lang="ru-RU"/>
              <a:pPr>
                <a:defRPr/>
              </a:pPr>
              <a:t>‹#›</a:t>
            </a:fld>
            <a:endParaRPr 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096313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AC6EAD82-3E6B-4215-BCEB-1E7E361F413F}"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78194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457200"/>
            <a:ext cx="2057400" cy="54102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457200"/>
            <a:ext cx="6019800" cy="54102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801ECBF1-6E93-4A15-9E53-A448CD4762EA}"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143615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a:t>Образец заголовка</a:t>
            </a:r>
          </a:p>
        </p:txBody>
      </p:sp>
      <p:sp>
        <p:nvSpPr>
          <p:cNvPr id="3" name="Таблица 2"/>
          <p:cNvSpPr>
            <a:spLocks noGrp="1"/>
          </p:cNvSpPr>
          <p:nvPr>
            <p:ph type="tbl" idx="1"/>
          </p:nvPr>
        </p:nvSpPr>
        <p:spPr>
          <a:xfrm>
            <a:off x="457200" y="1981200"/>
            <a:ext cx="8229600" cy="3886200"/>
          </a:xfrm>
        </p:spPr>
        <p:txBody>
          <a:bodyPr/>
          <a:lstStyle/>
          <a:p>
            <a:pPr lvl="0"/>
            <a:endParaRPr lang="ru-RU" noProof="0"/>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2C05EA3C-5D94-41AA-9652-5EF80A8A1ACD}"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60022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a:lnSpc>
                <a:spcPct val="100000"/>
              </a:lnSpc>
              <a:spcBef>
                <a:spcPct val="0"/>
              </a:spcBef>
              <a:buClrTx/>
              <a:buSzTx/>
              <a:buFontTx/>
              <a:buNone/>
              <a:defRPr sz="1200"/>
            </a:lvl1pPr>
          </a:lstStyle>
          <a:p>
            <a:pPr>
              <a:defRPr/>
            </a:pPr>
            <a:endParaRPr lang="ru-RU"/>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a:latin typeface="Arial Black" pitchFamily="34" charset="0"/>
              </a:defRPr>
            </a:lvl1pPr>
          </a:lstStyle>
          <a:p>
            <a:pPr>
              <a:defRPr/>
            </a:pPr>
            <a:fld id="{E8B54254-9089-48DC-A9FB-3DA0BEBB6760}" type="slidenum">
              <a:rPr lang="ru-RU"/>
              <a:pPr>
                <a:defRPr/>
              </a:pPr>
              <a:t>‹#›</a:t>
            </a:fld>
            <a:endParaRPr lang="ru-RU"/>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lnSpc>
                  <a:spcPct val="100000"/>
                </a:lnSpc>
                <a:spcBef>
                  <a:spcPct val="0"/>
                </a:spcBef>
                <a:buClrTx/>
                <a:buSzTx/>
                <a:buFontTx/>
                <a:buNone/>
                <a:defRPr/>
              </a:pPr>
              <a:endParaRPr lang="ru-RU"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a:lvl1pPr>
          </a:lstStyle>
          <a:p>
            <a:pPr>
              <a:defRPr/>
            </a:pPr>
            <a:endParaRPr lang="ru-RU"/>
          </a:p>
        </p:txBody>
      </p:sp>
    </p:spTree>
  </p:cSld>
  <p:clrMap bg1="lt1" tx1="dk1" bg2="lt2" tx2="dk2" accent1="accent1" accent2="accent2" accent3="accent3" accent4="accent4" accent5="accent5" accent6="accent6" hlink="hlink" folHlink="folHlink"/>
  <p:sldLayoutIdLst>
    <p:sldLayoutId id="2147483739"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isk.yandex.ru/i/lOO3caBfW9h_d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l.acm.org/doi/10.1145/800296.811515"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ru.wikipedia.org/wiki/%D0%9A%D0%BE%D0%B4%D0%B4,_%D0%AD%D0%B4%D0%B3%D0%B0%D1%8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ru.wikipedia.org/wiki/NULL_(SQL)" TargetMode="External"/><Relationship Id="rId4" Type="http://schemas.openxmlformats.org/officeDocument/2006/relationships/hyperlink" Target="https://ru.wikipedia.org/wiki/%D0%94%D0%B5%D0%B9%D1%82,_%D0%9A%D1%80%D0%B8%D1%81%D1%82%D0%BE%D1%84%D0%B5%D1%8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971800" y="2593885"/>
            <a:ext cx="6019800" cy="1330170"/>
          </a:xfrm>
        </p:spPr>
        <p:txBody>
          <a:bodyPr/>
          <a:lstStyle/>
          <a:p>
            <a:pPr algn="ctr" eaLnBrk="1" hangingPunct="1"/>
            <a:r>
              <a:rPr lang="ru-RU" dirty="0"/>
              <a:t>Стандарт </a:t>
            </a:r>
            <a:r>
              <a:rPr lang="en-US" dirty="0"/>
              <a:t>SQL-92</a:t>
            </a:r>
            <a:br>
              <a:rPr lang="en-US" dirty="0"/>
            </a:br>
            <a:endParaRPr lang="ru-RU" dirty="0"/>
          </a:p>
        </p:txBody>
      </p:sp>
      <p:sp>
        <p:nvSpPr>
          <p:cNvPr id="3075" name="Rectangle 3"/>
          <p:cNvSpPr>
            <a:spLocks noGrp="1" noChangeArrowheads="1"/>
          </p:cNvSpPr>
          <p:nvPr>
            <p:ph type="subTitle" idx="1"/>
          </p:nvPr>
        </p:nvSpPr>
        <p:spPr>
          <a:xfrm>
            <a:off x="1061610" y="4284095"/>
            <a:ext cx="7929990" cy="2025225"/>
          </a:xfrm>
        </p:spPr>
        <p:txBody>
          <a:bodyPr/>
          <a:lstStyle/>
          <a:p>
            <a:pPr eaLnBrk="1" hangingPunct="1"/>
            <a:r>
              <a:rPr lang="ru-RU" sz="2800" dirty="0"/>
              <a:t>М. </a:t>
            </a:r>
            <a:r>
              <a:rPr lang="ru-RU" sz="2800" dirty="0" err="1"/>
              <a:t>Грабер</a:t>
            </a:r>
            <a:r>
              <a:rPr lang="ru-RU" sz="2800" dirty="0"/>
              <a:t>  </a:t>
            </a:r>
            <a:endParaRPr lang="en-US" sz="2800" dirty="0"/>
          </a:p>
          <a:p>
            <a:pPr eaLnBrk="1" hangingPunct="1"/>
            <a:r>
              <a:rPr lang="en-US" sz="2800" b="1" dirty="0"/>
              <a:t>- SQL</a:t>
            </a:r>
            <a:r>
              <a:rPr lang="ru-RU" sz="2800" b="1" dirty="0"/>
              <a:t> </a:t>
            </a:r>
            <a:r>
              <a:rPr lang="ru-RU" sz="2800" dirty="0"/>
              <a:t>, M.: Лори, 2001</a:t>
            </a:r>
          </a:p>
          <a:p>
            <a:pPr eaLnBrk="1" hangingPunct="1"/>
            <a:r>
              <a:rPr lang="en-US" sz="2800" dirty="0">
                <a:hlinkClick r:id="rId3"/>
              </a:rPr>
              <a:t>https://disk.yandex.ru/i/lOO3caBfW9h_dA</a:t>
            </a:r>
            <a:r>
              <a:rPr lang="ru-RU" sz="28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Заголовок 1"/>
          <p:cNvSpPr>
            <a:spLocks noGrp="1"/>
          </p:cNvSpPr>
          <p:nvPr>
            <p:ph type="title"/>
          </p:nvPr>
        </p:nvSpPr>
        <p:spPr>
          <a:xfrm>
            <a:off x="179387" y="278650"/>
            <a:ext cx="8785225" cy="1371600"/>
          </a:xfrm>
        </p:spPr>
        <p:txBody>
          <a:bodyPr/>
          <a:lstStyle/>
          <a:p>
            <a:pPr algn="ctr"/>
            <a:r>
              <a:rPr lang="en-US" sz="4000" i="1" dirty="0">
                <a:solidFill>
                  <a:schemeClr val="bg2"/>
                </a:solidFill>
              </a:rPr>
              <a:t>SQL</a:t>
            </a:r>
            <a:r>
              <a:rPr lang="en-US" sz="4000" dirty="0">
                <a:solidFill>
                  <a:schemeClr val="bg2"/>
                </a:solidFill>
              </a:rPr>
              <a:t>- </a:t>
            </a:r>
            <a:r>
              <a:rPr lang="en-US" sz="4000" i="1" dirty="0">
                <a:solidFill>
                  <a:schemeClr val="bg2"/>
                </a:solidFill>
              </a:rPr>
              <a:t>Structured Query Language</a:t>
            </a:r>
            <a:br>
              <a:rPr lang="ru-RU" sz="4000" i="1" dirty="0">
                <a:solidFill>
                  <a:schemeClr val="bg2"/>
                </a:solidFill>
              </a:rPr>
            </a:br>
            <a:r>
              <a:rPr lang="en-US" sz="3200" dirty="0">
                <a:solidFill>
                  <a:schemeClr val="bg2"/>
                </a:solidFill>
              </a:rPr>
              <a:t>SEQUEL- </a:t>
            </a:r>
            <a:r>
              <a:rPr lang="en-US" sz="3200" i="1" dirty="0">
                <a:solidFill>
                  <a:schemeClr val="bg2"/>
                </a:solidFill>
              </a:rPr>
              <a:t>Structured English Query Language </a:t>
            </a:r>
            <a:endParaRPr lang="ru-RU" sz="3200" dirty="0">
              <a:solidFill>
                <a:schemeClr val="bg2"/>
              </a:solidFill>
            </a:endParaRPr>
          </a:p>
        </p:txBody>
      </p:sp>
      <p:sp>
        <p:nvSpPr>
          <p:cNvPr id="3" name="Объект 2"/>
          <p:cNvSpPr>
            <a:spLocks noGrp="1"/>
          </p:cNvSpPr>
          <p:nvPr>
            <p:ph idx="1"/>
          </p:nvPr>
        </p:nvSpPr>
        <p:spPr>
          <a:xfrm>
            <a:off x="179512" y="1628800"/>
            <a:ext cx="8856984" cy="5040560"/>
          </a:xfrm>
        </p:spPr>
        <p:txBody>
          <a:bodyPr>
            <a:normAutofit fontScale="77500" lnSpcReduction="20000"/>
          </a:bodyPr>
          <a:lstStyle/>
          <a:p>
            <a:pPr>
              <a:lnSpc>
                <a:spcPct val="110000"/>
              </a:lnSpc>
              <a:defRPr/>
            </a:pPr>
            <a:r>
              <a:rPr lang="ru-RU" sz="2800" dirty="0"/>
              <a:t>SEQUEL был разработан и частично реализован в рамках проекта экспериментальной реляционной СУБД </a:t>
            </a:r>
            <a:r>
              <a:rPr lang="ru-RU" sz="2800" dirty="0" err="1"/>
              <a:t>System</a:t>
            </a:r>
            <a:r>
              <a:rPr lang="ru-RU" sz="2800" dirty="0"/>
              <a:t> R</a:t>
            </a:r>
          </a:p>
          <a:p>
            <a:pPr>
              <a:lnSpc>
                <a:spcPct val="110000"/>
              </a:lnSpc>
              <a:defRPr/>
            </a:pPr>
            <a:r>
              <a:rPr lang="ru-RU" sz="2800" dirty="0"/>
              <a:t>Проект выполнялся с 1974 по 1979 гг. в научно-исследовательской лаборатории компании IBM в г. Сан-Хосе, Калифорния.</a:t>
            </a:r>
            <a:endParaRPr lang="en-US" sz="2800" dirty="0"/>
          </a:p>
          <a:p>
            <a:pPr>
              <a:lnSpc>
                <a:spcPct val="110000"/>
              </a:lnSpc>
              <a:defRPr/>
            </a:pPr>
            <a:r>
              <a:rPr lang="ru-RU" sz="2800" dirty="0"/>
              <a:t>В 1974 г. </a:t>
            </a:r>
            <a:r>
              <a:rPr lang="en-US" sz="2800" b="1" dirty="0"/>
              <a:t>Donald D. Chamberlin</a:t>
            </a:r>
            <a:r>
              <a:rPr lang="ru-RU" sz="2800" b="1" dirty="0"/>
              <a:t> и </a:t>
            </a:r>
            <a:r>
              <a:rPr lang="en-US" sz="2800" b="1" dirty="0"/>
              <a:t>Ray Boyce</a:t>
            </a:r>
            <a:r>
              <a:rPr lang="ru-RU" sz="2800" b="1" dirty="0"/>
              <a:t> опубликовали статью с описанием </a:t>
            </a:r>
            <a:r>
              <a:rPr lang="en-US" sz="2800" dirty="0">
                <a:solidFill>
                  <a:schemeClr val="bg2"/>
                </a:solidFill>
              </a:rPr>
              <a:t>SEQUEL</a:t>
            </a:r>
            <a:r>
              <a:rPr lang="ru-RU" sz="2800" dirty="0">
                <a:solidFill>
                  <a:schemeClr val="bg2"/>
                </a:solidFill>
              </a:rPr>
              <a:t> (</a:t>
            </a:r>
            <a:r>
              <a:rPr lang="en-US" sz="2800" dirty="0">
                <a:solidFill>
                  <a:schemeClr val="bg2"/>
                </a:solidFill>
                <a:hlinkClick r:id="rId3"/>
              </a:rPr>
              <a:t>https://dl.acm.org/doi/10.1145/800296.811515</a:t>
            </a:r>
            <a:r>
              <a:rPr lang="ru-RU" sz="2800" dirty="0">
                <a:solidFill>
                  <a:schemeClr val="bg2"/>
                </a:solidFill>
              </a:rPr>
              <a:t> ).</a:t>
            </a:r>
          </a:p>
          <a:p>
            <a:pPr>
              <a:lnSpc>
                <a:spcPct val="110000"/>
              </a:lnSpc>
              <a:defRPr/>
            </a:pPr>
            <a:r>
              <a:rPr lang="ru-RU" sz="2800" dirty="0"/>
              <a:t>Был еще </a:t>
            </a:r>
            <a:r>
              <a:rPr lang="en-US" sz="2800" dirty="0"/>
              <a:t>QUEL</a:t>
            </a:r>
            <a:r>
              <a:rPr lang="ru-RU" sz="2800" dirty="0"/>
              <a:t> для СУБД   </a:t>
            </a:r>
            <a:r>
              <a:rPr lang="en-US" sz="2800" dirty="0"/>
              <a:t>INGRES </a:t>
            </a:r>
            <a:r>
              <a:rPr lang="en-US" sz="2100" dirty="0"/>
              <a:t>(</a:t>
            </a:r>
            <a:r>
              <a:rPr lang="ru-RU" sz="2100" dirty="0"/>
              <a:t>Университет Беркли, Калифорния)</a:t>
            </a:r>
          </a:p>
          <a:p>
            <a:pPr>
              <a:lnSpc>
                <a:spcPct val="110000"/>
              </a:lnSpc>
              <a:defRPr/>
            </a:pPr>
            <a:r>
              <a:rPr lang="ru-RU" sz="2800" dirty="0"/>
              <a:t>в 1986 году первый стандарт языка </a:t>
            </a:r>
            <a:r>
              <a:rPr lang="en-US" sz="2800" dirty="0"/>
              <a:t>SQL </a:t>
            </a:r>
            <a:r>
              <a:rPr lang="ru-RU" sz="2800" dirty="0"/>
              <a:t>был </a:t>
            </a:r>
            <a:r>
              <a:rPr lang="ru-RU" sz="2800" cap="small" dirty="0"/>
              <a:t>принят </a:t>
            </a:r>
            <a:r>
              <a:rPr lang="en-US" sz="2800" u="sng" dirty="0"/>
              <a:t>ANSI</a:t>
            </a:r>
            <a:r>
              <a:rPr lang="ru-RU" sz="2800" dirty="0"/>
              <a:t> (</a:t>
            </a:r>
            <a:r>
              <a:rPr lang="en-US" sz="2800" dirty="0"/>
              <a:t>American National Standards Institute</a:t>
            </a:r>
            <a:r>
              <a:rPr lang="ru-RU" sz="2800" dirty="0"/>
              <a:t>), официальным произношением стало [,</a:t>
            </a:r>
            <a:r>
              <a:rPr lang="en-US" sz="2800" dirty="0" err="1"/>
              <a:t>es</a:t>
            </a:r>
            <a:r>
              <a:rPr lang="en-US" sz="2800" dirty="0"/>
              <a:t> </a:t>
            </a:r>
            <a:r>
              <a:rPr lang="en-US" sz="2800" dirty="0" err="1"/>
              <a:t>kju</a:t>
            </a:r>
            <a:r>
              <a:rPr lang="ru-RU" sz="2800" dirty="0"/>
              <a:t>:' </a:t>
            </a:r>
            <a:r>
              <a:rPr lang="en-US" sz="2800" dirty="0"/>
              <a:t>el</a:t>
            </a:r>
            <a:r>
              <a:rPr lang="ru-RU" sz="2800" dirty="0"/>
              <a:t>] — </a:t>
            </a:r>
            <a:r>
              <a:rPr lang="ru-RU" sz="2800" i="1" dirty="0"/>
              <a:t>эс-кью-эл. </a:t>
            </a:r>
            <a:endParaRPr lang="en-US" sz="2800" i="1" dirty="0"/>
          </a:p>
          <a:p>
            <a:pPr>
              <a:lnSpc>
                <a:spcPct val="110000"/>
              </a:lnSpc>
              <a:defRPr/>
            </a:pPr>
            <a:r>
              <a:rPr lang="ru-RU" sz="2800" dirty="0"/>
              <a:t>Несмотря на это, англоязычные специалисты по прежнему часто называют </a:t>
            </a:r>
            <a:r>
              <a:rPr lang="en-US" sz="2800" dirty="0"/>
              <a:t>SQL </a:t>
            </a:r>
            <a:r>
              <a:rPr lang="ru-RU" sz="2800" i="1" dirty="0"/>
              <a:t>сиквел, </a:t>
            </a:r>
            <a:r>
              <a:rPr lang="ru-RU" sz="2800" dirty="0"/>
              <a:t>вместо </a:t>
            </a:r>
            <a:r>
              <a:rPr lang="ru-RU" sz="2800" i="1" dirty="0"/>
              <a:t>эс-кью-эл </a:t>
            </a:r>
            <a:r>
              <a:rPr lang="ru-RU" sz="2800" dirty="0"/>
              <a:t>.</a:t>
            </a:r>
            <a:endParaRPr lang="en-US" sz="2800"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5857" y="70548"/>
            <a:ext cx="8229600" cy="523528"/>
          </a:xfrm>
        </p:spPr>
        <p:txBody>
          <a:bodyPr/>
          <a:lstStyle/>
          <a:p>
            <a:pPr algn="ctr"/>
            <a:r>
              <a:rPr lang="ru-RU" sz="3600" dirty="0">
                <a:solidFill>
                  <a:schemeClr val="bg2"/>
                </a:solidFill>
              </a:rPr>
              <a:t>Стандарты</a:t>
            </a:r>
            <a:r>
              <a:rPr lang="en-US" sz="3600" dirty="0">
                <a:solidFill>
                  <a:schemeClr val="bg2"/>
                </a:solidFill>
              </a:rPr>
              <a:t> SQL</a:t>
            </a:r>
            <a:endParaRPr lang="ru-RU" sz="3600" dirty="0"/>
          </a:p>
        </p:txBody>
      </p:sp>
      <p:graphicFrame>
        <p:nvGraphicFramePr>
          <p:cNvPr id="4" name="Таблица 3"/>
          <p:cNvGraphicFramePr>
            <a:graphicFrameLocks noGrp="1"/>
          </p:cNvGraphicFramePr>
          <p:nvPr>
            <p:extLst>
              <p:ext uri="{D42A27DB-BD31-4B8C-83A1-F6EECF244321}">
                <p14:modId xmlns:p14="http://schemas.microsoft.com/office/powerpoint/2010/main" val="1856479115"/>
              </p:ext>
            </p:extLst>
          </p:nvPr>
        </p:nvGraphicFramePr>
        <p:xfrm>
          <a:off x="340187" y="614383"/>
          <a:ext cx="8460940" cy="5647097"/>
        </p:xfrm>
        <a:graphic>
          <a:graphicData uri="http://schemas.openxmlformats.org/drawingml/2006/table">
            <a:tbl>
              <a:tblPr/>
              <a:tblGrid>
                <a:gridCol w="675075">
                  <a:extLst>
                    <a:ext uri="{9D8B030D-6E8A-4147-A177-3AD203B41FA5}">
                      <a16:colId xmlns:a16="http://schemas.microsoft.com/office/drawing/2014/main" val="20000"/>
                    </a:ext>
                  </a:extLst>
                </a:gridCol>
                <a:gridCol w="945105">
                  <a:extLst>
                    <a:ext uri="{9D8B030D-6E8A-4147-A177-3AD203B41FA5}">
                      <a16:colId xmlns:a16="http://schemas.microsoft.com/office/drawing/2014/main" val="20001"/>
                    </a:ext>
                  </a:extLst>
                </a:gridCol>
                <a:gridCol w="990110">
                  <a:extLst>
                    <a:ext uri="{9D8B030D-6E8A-4147-A177-3AD203B41FA5}">
                      <a16:colId xmlns:a16="http://schemas.microsoft.com/office/drawing/2014/main" val="20002"/>
                    </a:ext>
                  </a:extLst>
                </a:gridCol>
                <a:gridCol w="5850650">
                  <a:extLst>
                    <a:ext uri="{9D8B030D-6E8A-4147-A177-3AD203B41FA5}">
                      <a16:colId xmlns:a16="http://schemas.microsoft.com/office/drawing/2014/main" val="20003"/>
                    </a:ext>
                  </a:extLst>
                </a:gridCol>
              </a:tblGrid>
              <a:tr h="390291">
                <a:tc>
                  <a:txBody>
                    <a:bodyPr/>
                    <a:lstStyle/>
                    <a:p>
                      <a:pPr algn="ctr"/>
                      <a:r>
                        <a:rPr lang="ru-RU" sz="1200" dirty="0">
                          <a:effectLst/>
                          <a:latin typeface="+mn-lt"/>
                        </a:rPr>
                        <a:t>Год</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200" dirty="0">
                          <a:effectLst/>
                          <a:latin typeface="+mn-lt"/>
                        </a:rPr>
                        <a:t>Название</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200" dirty="0">
                          <a:effectLst/>
                          <a:latin typeface="+mn-lt"/>
                        </a:rPr>
                        <a:t>Иное название</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200" dirty="0">
                          <a:effectLst/>
                          <a:latin typeface="+mn-lt"/>
                        </a:rPr>
                        <a:t>Изменения</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7427">
                <a:tc>
                  <a:txBody>
                    <a:bodyPr/>
                    <a:lstStyle/>
                    <a:p>
                      <a:pPr algn="ctr"/>
                      <a:r>
                        <a:rPr lang="ru-RU" sz="1200" dirty="0">
                          <a:effectLst/>
                          <a:latin typeface="+mn-lt"/>
                        </a:rPr>
                        <a:t>1986</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n-lt"/>
                        </a:rPr>
                        <a:t>SQL-86</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200">
                          <a:effectLst/>
                          <a:latin typeface="+mn-lt"/>
                        </a:rPr>
                        <a:t>SQL-87</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ru-RU" sz="1200" dirty="0">
                          <a:effectLst/>
                          <a:latin typeface="+mn-lt"/>
                        </a:rPr>
                        <a:t>Первый вариант стандарта, принятый институтом ANSI и одобренный ISO в 1987 году.</a:t>
                      </a:r>
                      <a:r>
                        <a:rPr lang="en-US" sz="1200" b="0" i="1" kern="1200" dirty="0">
                          <a:solidFill>
                            <a:schemeClr val="tx1"/>
                          </a:solidFill>
                          <a:effectLst/>
                          <a:latin typeface="+mn-lt"/>
                          <a:ea typeface="+mn-ea"/>
                          <a:cs typeface="+mn-cs"/>
                        </a:rPr>
                        <a:t> (American National Standards Institute/ </a:t>
                      </a:r>
                      <a:r>
                        <a:rPr lang="en-US" sz="1200" b="0" i="0" kern="1200" dirty="0">
                          <a:solidFill>
                            <a:schemeClr val="tx1"/>
                          </a:solidFill>
                          <a:effectLst/>
                          <a:latin typeface="+mn-lt"/>
                          <a:ea typeface="+mn-ea"/>
                          <a:cs typeface="+mn-cs"/>
                        </a:rPr>
                        <a:t>International Organization for Standardization, ISO)</a:t>
                      </a:r>
                      <a:endParaRPr lang="ru-RU" sz="1200" b="0" dirty="0">
                        <a:effectLst/>
                        <a:latin typeface="+mn-lt"/>
                      </a:endParaRP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5296">
                <a:tc>
                  <a:txBody>
                    <a:bodyPr/>
                    <a:lstStyle/>
                    <a:p>
                      <a:pPr algn="ctr"/>
                      <a:r>
                        <a:rPr lang="ru-RU" sz="1200" dirty="0">
                          <a:effectLst/>
                          <a:latin typeface="+mn-lt"/>
                        </a:rPr>
                        <a:t>1989</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n-lt"/>
                        </a:rPr>
                        <a:t>SQL-89</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200" dirty="0">
                          <a:effectLst/>
                          <a:latin typeface="+mn-lt"/>
                        </a:rPr>
                        <a:t>FIPS 127-1</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ru-RU" sz="1200" dirty="0">
                          <a:effectLst/>
                          <a:latin typeface="+mn-lt"/>
                        </a:rPr>
                        <a:t>Немного доработанный вариант предыдущего стандарта</a:t>
                      </a:r>
                      <a:r>
                        <a:rPr lang="en-US" sz="1200" dirty="0">
                          <a:effectLst/>
                          <a:latin typeface="+mn-lt"/>
                        </a:rPr>
                        <a:t> (</a:t>
                      </a:r>
                      <a:r>
                        <a:rPr lang="en-US" sz="1200" b="0" i="1" kern="1200" dirty="0">
                          <a:solidFill>
                            <a:schemeClr val="tx1"/>
                          </a:solidFill>
                          <a:effectLst/>
                          <a:latin typeface="+mn-lt"/>
                          <a:ea typeface="+mn-ea"/>
                          <a:cs typeface="+mn-cs"/>
                        </a:rPr>
                        <a:t>Federal Information Processing Standards)</a:t>
                      </a:r>
                      <a:r>
                        <a:rPr lang="ru-RU" sz="1200" dirty="0">
                          <a:effectLst/>
                          <a:latin typeface="+mn-lt"/>
                        </a:rPr>
                        <a:t>.</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7452">
                <a:tc>
                  <a:txBody>
                    <a:bodyPr/>
                    <a:lstStyle/>
                    <a:p>
                      <a:pPr algn="ctr"/>
                      <a:r>
                        <a:rPr lang="ru-RU" sz="1200">
                          <a:effectLst/>
                          <a:latin typeface="+mn-lt"/>
                        </a:rPr>
                        <a:t>1992</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n-lt"/>
                        </a:rPr>
                        <a:t>SQL-92</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200" dirty="0">
                          <a:effectLst/>
                          <a:latin typeface="+mn-lt"/>
                        </a:rPr>
                        <a:t>SQL2, </a:t>
                      </a:r>
                      <a:br>
                        <a:rPr lang="ru-RU" sz="1200" dirty="0">
                          <a:effectLst/>
                          <a:latin typeface="+mn-lt"/>
                        </a:rPr>
                      </a:br>
                      <a:r>
                        <a:rPr lang="en-US" sz="1200" dirty="0">
                          <a:effectLst/>
                          <a:latin typeface="+mn-lt"/>
                        </a:rPr>
                        <a:t>FIPS 127-2</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ru-RU" sz="1200" dirty="0">
                          <a:effectLst/>
                          <a:latin typeface="+mn-lt"/>
                        </a:rPr>
                        <a:t>Значительные изменения (ISO 9075); уровень </a:t>
                      </a:r>
                      <a:r>
                        <a:rPr lang="ru-RU" sz="1200" dirty="0" err="1">
                          <a:effectLst/>
                          <a:latin typeface="+mn-lt"/>
                        </a:rPr>
                        <a:t>Entry</a:t>
                      </a:r>
                      <a:r>
                        <a:rPr lang="ru-RU" sz="1200" dirty="0">
                          <a:effectLst/>
                          <a:latin typeface="+mn-lt"/>
                        </a:rPr>
                        <a:t> </a:t>
                      </a:r>
                      <a:r>
                        <a:rPr lang="ru-RU" sz="1200" dirty="0" err="1">
                          <a:effectLst/>
                          <a:latin typeface="+mn-lt"/>
                        </a:rPr>
                        <a:t>Level</a:t>
                      </a:r>
                      <a:r>
                        <a:rPr lang="ru-RU" sz="1200" dirty="0">
                          <a:effectLst/>
                          <a:latin typeface="+mn-lt"/>
                        </a:rPr>
                        <a:t> стандарта SQL-92 был принят как стандарт FIPS 127-2.</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29814">
                <a:tc>
                  <a:txBody>
                    <a:bodyPr/>
                    <a:lstStyle/>
                    <a:p>
                      <a:pPr algn="ctr"/>
                      <a:r>
                        <a:rPr lang="ru-RU" sz="1200">
                          <a:effectLst/>
                          <a:latin typeface="+mn-lt"/>
                        </a:rPr>
                        <a:t>1999</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n-lt"/>
                        </a:rPr>
                        <a:t>SQL:1999</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200">
                          <a:effectLst/>
                          <a:latin typeface="+mn-lt"/>
                        </a:rPr>
                        <a:t>SQL3</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ru-RU" sz="1200" dirty="0">
                          <a:effectLst/>
                          <a:latin typeface="+mn-lt"/>
                        </a:rPr>
                        <a:t>Добавлена поддержка регулярных выражений, рекурсивных запросов, поддержка триггеров, базовые процедурные расширения, </a:t>
                      </a:r>
                      <a:r>
                        <a:rPr lang="ru-RU" sz="1200" dirty="0" err="1">
                          <a:effectLst/>
                          <a:latin typeface="+mn-lt"/>
                        </a:rPr>
                        <a:t>нескалярные</a:t>
                      </a:r>
                      <a:r>
                        <a:rPr lang="ru-RU" sz="1200" dirty="0">
                          <a:effectLst/>
                          <a:latin typeface="+mn-lt"/>
                        </a:rPr>
                        <a:t> типы данных и некоторые объектно-ориентированные возможности.</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37554">
                <a:tc>
                  <a:txBody>
                    <a:bodyPr/>
                    <a:lstStyle/>
                    <a:p>
                      <a:pPr algn="ctr"/>
                      <a:r>
                        <a:rPr lang="ru-RU" sz="1200">
                          <a:effectLst/>
                          <a:latin typeface="+mn-lt"/>
                        </a:rPr>
                        <a:t>2003</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n-lt"/>
                        </a:rPr>
                        <a:t>SQL:2003</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200">
                          <a:latin typeface="+mn-lt"/>
                        </a:rPr>
                        <a:t> </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ru-RU" sz="1200" dirty="0">
                          <a:effectLst/>
                          <a:latin typeface="+mn-lt"/>
                        </a:rPr>
                        <a:t>Введены расширения для работы с XML-данными, оконные функции (применяемые для работы с OLAP-базами данных), генераторы последовательностей и основанные на них типы данных.</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27427">
                <a:tc>
                  <a:txBody>
                    <a:bodyPr/>
                    <a:lstStyle/>
                    <a:p>
                      <a:pPr algn="ctr"/>
                      <a:r>
                        <a:rPr lang="ru-RU" sz="1200">
                          <a:effectLst/>
                          <a:latin typeface="+mn-lt"/>
                        </a:rPr>
                        <a:t>2006</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n-lt"/>
                        </a:rPr>
                        <a:t>SQL:2006</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200" dirty="0">
                          <a:latin typeface="+mn-lt"/>
                        </a:rPr>
                        <a:t> </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ru-RU" sz="1200" dirty="0">
                          <a:effectLst/>
                          <a:latin typeface="+mn-lt"/>
                        </a:rPr>
                        <a:t>Функциональность работы с XML-данными значительно расширена. Появилась возможность совместно использовать в запросах SQL и </a:t>
                      </a:r>
                      <a:r>
                        <a:rPr lang="ru-RU" sz="1200" dirty="0" err="1">
                          <a:effectLst/>
                          <a:latin typeface="+mn-lt"/>
                        </a:rPr>
                        <a:t>XQuery</a:t>
                      </a:r>
                      <a:r>
                        <a:rPr lang="ru-RU" sz="1200" dirty="0">
                          <a:effectLst/>
                          <a:latin typeface="+mn-lt"/>
                        </a:rPr>
                        <a:t>.</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35296">
                <a:tc>
                  <a:txBody>
                    <a:bodyPr/>
                    <a:lstStyle/>
                    <a:p>
                      <a:pPr algn="ctr"/>
                      <a:r>
                        <a:rPr lang="ru-RU" sz="1200" dirty="0">
                          <a:effectLst/>
                          <a:latin typeface="+mn-lt"/>
                        </a:rPr>
                        <a:t>2008</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n-lt"/>
                        </a:rPr>
                        <a:t>SQL:2008</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200">
                          <a:latin typeface="+mn-lt"/>
                        </a:rPr>
                        <a:t> </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ru-RU" sz="1200" dirty="0">
                          <a:effectLst/>
                          <a:latin typeface="+mn-lt"/>
                        </a:rPr>
                        <a:t>Улучшены возможности оконных функций, устранены некоторые неоднозначности стандарта SQL:2003</a:t>
                      </a:r>
                    </a:p>
                  </a:txBody>
                  <a:tcPr marL="24289" marR="24289" marT="24289" marB="242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38390">
                <a:tc>
                  <a:txBody>
                    <a:bodyPr/>
                    <a:lstStyle/>
                    <a:p>
                      <a:pPr algn="ctr"/>
                      <a:r>
                        <a:rPr lang="ru-RU" sz="1200" dirty="0">
                          <a:latin typeface="+mn-lt"/>
                        </a:rPr>
                        <a:t>2011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u="none" strike="noStrike" dirty="0">
                          <a:solidFill>
                            <a:schemeClr val="tx1"/>
                          </a:solidFill>
                          <a:latin typeface="+mn-lt"/>
                        </a:rPr>
                        <a:t>SQL:2011</a:t>
                      </a:r>
                      <a:endParaRPr lang="en-US" sz="12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sz="12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200" dirty="0">
                          <a:latin typeface="+mn-lt"/>
                        </a:rPr>
                        <a:t>Реализована поддержка </a:t>
                      </a:r>
                      <a:r>
                        <a:rPr lang="ru-RU" sz="1200" u="none" strike="noStrike" dirty="0">
                          <a:solidFill>
                            <a:srgbClr val="0B0080"/>
                          </a:solidFill>
                          <a:latin typeface="+mn-lt"/>
                        </a:rPr>
                        <a:t>хронологических баз данных</a:t>
                      </a:r>
                      <a:r>
                        <a:rPr lang="ru-RU" sz="1200" dirty="0">
                          <a:latin typeface="+mn-lt"/>
                        </a:rPr>
                        <a:t> (PERIOD FOR), поддержка конструкции FETCH.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06903">
                <a:tc>
                  <a:txBody>
                    <a:bodyPr/>
                    <a:lstStyle/>
                    <a:p>
                      <a:pPr marL="0" algn="ctr" defTabSz="914400" rtl="0" eaLnBrk="1" latinLnBrk="0" hangingPunct="1"/>
                      <a:r>
                        <a:rPr lang="ru-RU" sz="1200" kern="1200" dirty="0">
                          <a:solidFill>
                            <a:schemeClr val="tx1"/>
                          </a:solidFill>
                          <a:latin typeface="+mn-lt"/>
                          <a:ea typeface="+mn-ea"/>
                          <a:cs typeface="+mn-cs"/>
                        </a:rPr>
                        <a:t>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200" kern="1200" dirty="0">
                          <a:solidFill>
                            <a:schemeClr val="tx1"/>
                          </a:solidFill>
                          <a:latin typeface="+mn-lt"/>
                          <a:ea typeface="+mn-ea"/>
                          <a:cs typeface="+mn-cs"/>
                        </a:rPr>
                        <a:t>SQL:2016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lang="ru-RU" sz="12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ru-RU" sz="1200" kern="1200" dirty="0">
                          <a:solidFill>
                            <a:schemeClr val="tx1"/>
                          </a:solidFill>
                          <a:latin typeface="+mn-lt"/>
                          <a:ea typeface="+mn-ea"/>
                          <a:cs typeface="+mn-cs"/>
                        </a:rPr>
                        <a:t>Защита на уровне строк, полиморфные табличные функции, JSON.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algn="ctr" defTabSz="914400" rtl="0" eaLnBrk="1" latinLnBrk="0" hangingPunct="1"/>
                      <a:r>
                        <a:rPr lang="ru-RU" sz="1200" kern="1200" dirty="0">
                          <a:solidFill>
                            <a:schemeClr val="tx1"/>
                          </a:solidFill>
                          <a:latin typeface="+mn-lt"/>
                          <a:ea typeface="+mn-ea"/>
                          <a:cs typeface="+mn-cs"/>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SQL:201</a:t>
                      </a:r>
                      <a:r>
                        <a:rPr lang="ru-RU" sz="1200" kern="1200" dirty="0">
                          <a:solidFill>
                            <a:schemeClr val="tx1"/>
                          </a:solidFill>
                          <a:latin typeface="+mn-lt"/>
                          <a:ea typeface="+mn-ea"/>
                          <a:cs typeface="+mn-cs"/>
                        </a:rPr>
                        <a:t>9</a:t>
                      </a:r>
                      <a:endParaRPr lang="en-US" sz="12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lang="ru-RU" sz="12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ru-RU" sz="1200" kern="1200" dirty="0">
                          <a:solidFill>
                            <a:schemeClr val="tx1"/>
                          </a:solidFill>
                          <a:latin typeface="+mn-lt"/>
                          <a:ea typeface="+mn-ea"/>
                          <a:cs typeface="+mn-cs"/>
                        </a:rPr>
                        <a:t>Добавлены многомерные массивы (тип </a:t>
                      </a:r>
                      <a:r>
                        <a:rPr lang="ru-RU" sz="1200" kern="1200" dirty="0" err="1">
                          <a:solidFill>
                            <a:schemeClr val="tx1"/>
                          </a:solidFill>
                          <a:latin typeface="+mn-lt"/>
                          <a:ea typeface="+mn-ea"/>
                          <a:cs typeface="+mn-cs"/>
                        </a:rPr>
                        <a:t>MDarray</a:t>
                      </a:r>
                      <a:r>
                        <a:rPr lang="ru-RU" sz="1200" kern="1200" dirty="0">
                          <a:solidFill>
                            <a:schemeClr val="tx1"/>
                          </a:solidFill>
                          <a:latin typeface="+mn-lt"/>
                          <a:ea typeface="+mn-ea"/>
                          <a:cs typeface="+mn-cs"/>
                        </a:rPr>
                        <a:t> и операторы над </a:t>
                      </a:r>
                      <a:r>
                        <a:rPr lang="en-US" sz="1200" b="0" i="0" kern="1200" dirty="0">
                          <a:solidFill>
                            <a:schemeClr val="tx1"/>
                          </a:solidFill>
                          <a:effectLst/>
                          <a:latin typeface="+mn-lt"/>
                          <a:ea typeface="+mn-ea"/>
                          <a:cs typeface="+mn-cs"/>
                        </a:rPr>
                        <a:t>MDARRAY, </a:t>
                      </a:r>
                      <a:r>
                        <a:rPr lang="ru-RU" sz="1200" b="0" i="0" kern="1200" dirty="0">
                          <a:solidFill>
                            <a:schemeClr val="tx1"/>
                          </a:solidFill>
                          <a:effectLst/>
                          <a:latin typeface="+mn-lt"/>
                          <a:ea typeface="+mn-ea"/>
                          <a:cs typeface="+mn-cs"/>
                        </a:rPr>
                        <a:t>фрагментами </a:t>
                      </a:r>
                      <a:r>
                        <a:rPr lang="en-US" sz="1200" b="0" i="0" kern="1200" dirty="0" err="1">
                          <a:solidFill>
                            <a:schemeClr val="tx1"/>
                          </a:solidFill>
                          <a:effectLst/>
                          <a:latin typeface="+mn-lt"/>
                          <a:ea typeface="+mn-ea"/>
                          <a:cs typeface="+mn-cs"/>
                        </a:rPr>
                        <a:t>MDarray</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ячейками </a:t>
                      </a:r>
                      <a:r>
                        <a:rPr lang="en-US" sz="1200" b="0" i="0" kern="1200" dirty="0" err="1">
                          <a:solidFill>
                            <a:schemeClr val="tx1"/>
                          </a:solidFill>
                          <a:effectLst/>
                          <a:latin typeface="+mn-lt"/>
                          <a:ea typeface="+mn-ea"/>
                          <a:cs typeface="+mn-cs"/>
                        </a:rPr>
                        <a:t>MDarray</a:t>
                      </a:r>
                      <a:r>
                        <a:rPr lang="ru-RU" sz="1200" kern="1200" dirty="0">
                          <a:solidFill>
                            <a:schemeClr val="tx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35290"/>
                  </a:ext>
                </a:extLst>
              </a:tr>
            </a:tbl>
          </a:graphicData>
        </a:graphic>
      </p:graphicFrame>
      <p:sp>
        <p:nvSpPr>
          <p:cNvPr id="5" name="Номер слайда 4"/>
          <p:cNvSpPr>
            <a:spLocks noGrp="1"/>
          </p:cNvSpPr>
          <p:nvPr>
            <p:ph type="sldNum" sz="quarter" idx="11"/>
          </p:nvPr>
        </p:nvSpPr>
        <p:spPr/>
        <p:txBody>
          <a:bodyPr/>
          <a:lstStyle/>
          <a:p>
            <a:pPr>
              <a:defRPr/>
            </a:pPr>
            <a:fld id="{BEEC2694-874F-4CC5-9FE4-F16F3A164C5F}" type="slidenum">
              <a:rPr lang="ru-RU" smtClean="0"/>
              <a:pPr>
                <a:defRPr/>
              </a:pPr>
              <a:t>3</a:t>
            </a:fld>
            <a:endParaRPr lang="ru-RU"/>
          </a:p>
        </p:txBody>
      </p:sp>
      <p:sp>
        <p:nvSpPr>
          <p:cNvPr id="3" name="TextBox 2">
            <a:extLst>
              <a:ext uri="{FF2B5EF4-FFF2-40B4-BE49-F238E27FC236}">
                <a16:creationId xmlns:a16="http://schemas.microsoft.com/office/drawing/2014/main" id="{970892A4-EB7E-8FAA-2AC8-BEC946410C9B}"/>
              </a:ext>
            </a:extLst>
          </p:cNvPr>
          <p:cNvSpPr txBox="1"/>
          <p:nvPr/>
        </p:nvSpPr>
        <p:spPr>
          <a:xfrm>
            <a:off x="656565" y="6247887"/>
            <a:ext cx="7194485" cy="424732"/>
          </a:xfrm>
          <a:prstGeom prst="rect">
            <a:avLst/>
          </a:prstGeom>
          <a:noFill/>
        </p:spPr>
        <p:txBody>
          <a:bodyPr wrap="square" rtlCol="0">
            <a:spAutoFit/>
          </a:bodyPr>
          <a:lstStyle/>
          <a:p>
            <a:r>
              <a:rPr lang="ru-RU" sz="1200"/>
              <a:t>Стандарт обычно обозначается шаблоном: </a:t>
            </a:r>
            <a:r>
              <a:rPr lang="ru-RU" sz="1200" b="0" i="1">
                <a:solidFill>
                  <a:srgbClr val="202122"/>
                </a:solidFill>
                <a:effectLst/>
                <a:latin typeface="Arial" panose="020B0604020202020204" pitchFamily="34" charset="0"/>
              </a:rPr>
              <a:t>ISO /IEC DIS 9075-n: гггг Часть n: название</a:t>
            </a:r>
            <a:r>
              <a:rPr lang="ru-RU" sz="1200"/>
              <a:t> или, в качестве сокращения, </a:t>
            </a:r>
            <a:r>
              <a:rPr lang="ru-RU" sz="1200" b="0" i="1">
                <a:solidFill>
                  <a:srgbClr val="202122"/>
                </a:solidFill>
                <a:effectLst/>
                <a:latin typeface="Arial" panose="020B0604020202020204" pitchFamily="34" charset="0"/>
              </a:rPr>
              <a:t>ISO / IEC 9075</a:t>
            </a:r>
            <a:r>
              <a:rPr lang="ru-RU" sz="1200"/>
              <a:t> (термин "DIS" не используется в более старых версиях)</a:t>
            </a:r>
            <a:endParaRPr lang="ru-RU" sz="1200" dirty="0"/>
          </a:p>
        </p:txBody>
      </p:sp>
    </p:spTree>
    <p:extLst>
      <p:ext uri="{BB962C8B-B14F-4D97-AF65-F5344CB8AC3E}">
        <p14:creationId xmlns:p14="http://schemas.microsoft.com/office/powerpoint/2010/main" val="1966434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Заголовок 1"/>
          <p:cNvSpPr>
            <a:spLocks noGrp="1"/>
          </p:cNvSpPr>
          <p:nvPr>
            <p:ph type="title"/>
          </p:nvPr>
        </p:nvSpPr>
        <p:spPr>
          <a:xfrm>
            <a:off x="511877" y="278650"/>
            <a:ext cx="8120245" cy="766555"/>
          </a:xfrm>
        </p:spPr>
        <p:txBody>
          <a:bodyPr/>
          <a:lstStyle/>
          <a:p>
            <a:pPr algn="ctr"/>
            <a:r>
              <a:rPr lang="ru-RU" dirty="0">
                <a:solidFill>
                  <a:schemeClr val="bg2"/>
                </a:solidFill>
              </a:rPr>
              <a:t>Уровни соответствия</a:t>
            </a:r>
          </a:p>
        </p:txBody>
      </p:sp>
      <p:sp>
        <p:nvSpPr>
          <p:cNvPr id="3" name="Объект 2"/>
          <p:cNvSpPr>
            <a:spLocks noGrp="1"/>
          </p:cNvSpPr>
          <p:nvPr>
            <p:ph idx="1"/>
          </p:nvPr>
        </p:nvSpPr>
        <p:spPr>
          <a:xfrm>
            <a:off x="341530" y="1043735"/>
            <a:ext cx="8640960" cy="5355595"/>
          </a:xfrm>
        </p:spPr>
        <p:txBody>
          <a:bodyPr>
            <a:normAutofit fontScale="77500" lnSpcReduction="20000"/>
          </a:bodyPr>
          <a:lstStyle/>
          <a:p>
            <a:pPr marL="0" indent="0">
              <a:lnSpc>
                <a:spcPct val="120000"/>
              </a:lnSpc>
              <a:buFont typeface="Wingdings" pitchFamily="2" charset="2"/>
              <a:buNone/>
              <a:defRPr/>
            </a:pPr>
            <a:r>
              <a:rPr lang="ru-RU" dirty="0"/>
              <a:t>В стандарте SQL92 было определено три уровня соответствия: </a:t>
            </a:r>
          </a:p>
          <a:p>
            <a:pPr lvl="2">
              <a:lnSpc>
                <a:spcPct val="120000"/>
              </a:lnSpc>
              <a:spcBef>
                <a:spcPts val="1200"/>
              </a:spcBef>
              <a:buClr>
                <a:schemeClr val="bg2">
                  <a:lumMod val="60000"/>
                  <a:lumOff val="40000"/>
                </a:schemeClr>
              </a:buClr>
              <a:buFont typeface="Wingdings" pitchFamily="2" charset="2"/>
              <a:buChar char="v"/>
              <a:defRPr/>
            </a:pPr>
            <a:r>
              <a:rPr lang="ru-RU" sz="3200" dirty="0"/>
              <a:t> начальный</a:t>
            </a:r>
            <a:r>
              <a:rPr lang="en-US" sz="3200" dirty="0"/>
              <a:t> (</a:t>
            </a:r>
            <a:r>
              <a:rPr lang="en-US" sz="3200" b="1" dirty="0"/>
              <a:t>Entry</a:t>
            </a:r>
            <a:r>
              <a:rPr lang="en-US" sz="3200" dirty="0"/>
              <a:t>) </a:t>
            </a:r>
            <a:endParaRPr lang="ru-RU" sz="3200" dirty="0"/>
          </a:p>
          <a:p>
            <a:pPr lvl="2">
              <a:lnSpc>
                <a:spcPct val="120000"/>
              </a:lnSpc>
              <a:spcBef>
                <a:spcPts val="1200"/>
              </a:spcBef>
              <a:buClr>
                <a:schemeClr val="bg2">
                  <a:lumMod val="60000"/>
                  <a:lumOff val="40000"/>
                </a:schemeClr>
              </a:buClr>
              <a:buFont typeface="Wingdings" pitchFamily="2" charset="2"/>
              <a:buChar char="v"/>
              <a:defRPr/>
            </a:pPr>
            <a:r>
              <a:rPr lang="ru-RU" sz="3200" dirty="0"/>
              <a:t> промежуточный</a:t>
            </a:r>
            <a:r>
              <a:rPr lang="en-US" sz="3200" dirty="0"/>
              <a:t> (</a:t>
            </a:r>
            <a:r>
              <a:rPr lang="en-US" sz="3200" b="1" dirty="0"/>
              <a:t>Intermediate</a:t>
            </a:r>
            <a:r>
              <a:rPr lang="en-US" sz="3200" dirty="0"/>
              <a:t>)</a:t>
            </a:r>
            <a:endParaRPr lang="ru-RU" sz="3200" dirty="0"/>
          </a:p>
          <a:p>
            <a:pPr lvl="2">
              <a:lnSpc>
                <a:spcPct val="120000"/>
              </a:lnSpc>
              <a:spcBef>
                <a:spcPts val="1200"/>
              </a:spcBef>
              <a:buClr>
                <a:schemeClr val="bg2">
                  <a:lumMod val="60000"/>
                  <a:lumOff val="40000"/>
                </a:schemeClr>
              </a:buClr>
              <a:buFont typeface="Wingdings" pitchFamily="2" charset="2"/>
              <a:buChar char="v"/>
              <a:defRPr/>
            </a:pPr>
            <a:r>
              <a:rPr lang="ru-RU" sz="3200" dirty="0"/>
              <a:t> полный (</a:t>
            </a:r>
            <a:r>
              <a:rPr lang="ru-RU" sz="3200" b="1" dirty="0" err="1"/>
              <a:t>Full</a:t>
            </a:r>
            <a:r>
              <a:rPr lang="ru-RU" sz="3200"/>
              <a:t>)</a:t>
            </a:r>
            <a:endParaRPr lang="ru-RU" sz="3200" dirty="0"/>
          </a:p>
          <a:p>
            <a:pPr>
              <a:lnSpc>
                <a:spcPct val="120000"/>
              </a:lnSpc>
              <a:defRPr/>
            </a:pPr>
            <a:r>
              <a:rPr lang="ru-RU" dirty="0"/>
              <a:t>с 1999 года определяет большой список отдельных возможностей</a:t>
            </a:r>
          </a:p>
          <a:p>
            <a:pPr>
              <a:lnSpc>
                <a:spcPct val="120000"/>
              </a:lnSpc>
              <a:defRPr/>
            </a:pPr>
            <a:r>
              <a:rPr lang="ru-RU" dirty="0"/>
              <a:t>Большой подсписок этих возможностей представляет собой "</a:t>
            </a:r>
            <a:r>
              <a:rPr lang="ru-RU" dirty="0" err="1"/>
              <a:t>Core</a:t>
            </a:r>
            <a:r>
              <a:rPr lang="ru-RU" dirty="0"/>
              <a:t>" (основные) возможности</a:t>
            </a:r>
          </a:p>
          <a:p>
            <a:pPr>
              <a:lnSpc>
                <a:spcPct val="120000"/>
              </a:lnSpc>
              <a:defRPr/>
            </a:pPr>
            <a:r>
              <a:rPr lang="ru-RU" dirty="0"/>
              <a:t>Каждая из этих возможностей должна поддерживаться совместимой со стандартом реализацией SQL</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4</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down)">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122" name="Заголовок 1"/>
          <p:cNvSpPr>
            <a:spLocks noGrp="1"/>
          </p:cNvSpPr>
          <p:nvPr>
            <p:ph type="title"/>
          </p:nvPr>
        </p:nvSpPr>
        <p:spPr>
          <a:xfrm>
            <a:off x="511877" y="278650"/>
            <a:ext cx="8120245" cy="766555"/>
          </a:xfrm>
        </p:spPr>
        <p:txBody>
          <a:bodyPr/>
          <a:lstStyle/>
          <a:p>
            <a:pPr algn="ctr"/>
            <a:r>
              <a:rPr lang="ru-RU" dirty="0">
                <a:solidFill>
                  <a:schemeClr val="bg2"/>
                </a:solidFill>
              </a:rPr>
              <a:t>Преимущества</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5</a:t>
            </a:fld>
            <a:endParaRPr lang="ru-RU"/>
          </a:p>
        </p:txBody>
      </p:sp>
      <p:sp>
        <p:nvSpPr>
          <p:cNvPr id="5" name="Rectangle 3">
            <a:extLst>
              <a:ext uri="{FF2B5EF4-FFF2-40B4-BE49-F238E27FC236}">
                <a16:creationId xmlns:a16="http://schemas.microsoft.com/office/drawing/2014/main" id="{B62FA745-F308-71B8-218A-6E32CA0D31D9}"/>
              </a:ext>
            </a:extLst>
          </p:cNvPr>
          <p:cNvSpPr>
            <a:spLocks noGrp="1" noChangeArrowheads="1"/>
          </p:cNvSpPr>
          <p:nvPr>
            <p:ph idx="1"/>
          </p:nvPr>
        </p:nvSpPr>
        <p:spPr bwMode="auto">
          <a:xfrm>
            <a:off x="341313" y="1178750"/>
            <a:ext cx="8290809" cy="50696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15870" numCol="1" anchor="ctr" anchorCtr="0" compatLnSpc="1">
            <a:prstTxWarp prst="textNoShape">
              <a:avLst/>
            </a:prstTxWarp>
            <a:normAutofit/>
          </a:bodyPr>
          <a:lstStyle>
            <a:lvl1pPr eaLnBrk="0" hangingPunct="0">
              <a:spcBef>
                <a:spcPct val="0"/>
              </a:spcBef>
              <a:defRPr>
                <a:solidFill>
                  <a:schemeClr val="tx1"/>
                </a:solidFill>
                <a:latin typeface="Arial" panose="020B0604020202020204" pitchFamily="34" charset="0"/>
              </a:defRPr>
            </a:lvl1pPr>
            <a:lvl2pPr eaLnBrk="0" hangingPunct="0">
              <a:spcBef>
                <a:spcPct val="0"/>
              </a:spcBef>
              <a:defRPr>
                <a:solidFill>
                  <a:schemeClr val="tx1"/>
                </a:solidFill>
                <a:latin typeface="Arial" panose="020B0604020202020204" pitchFamily="34" charset="0"/>
              </a:defRPr>
            </a:lvl2pPr>
            <a:lvl3pPr eaLnBrk="0" hangingPunct="0">
              <a:spcBef>
                <a:spcPct val="0"/>
              </a:spcBef>
              <a:defRPr>
                <a:solidFill>
                  <a:schemeClr val="tx1"/>
                </a:solidFill>
                <a:latin typeface="Arial" panose="020B0604020202020204" pitchFamily="34" charset="0"/>
              </a:defRPr>
            </a:lvl3pPr>
            <a:lvl4pPr eaLnBrk="0" hangingPunct="0">
              <a:spcBef>
                <a:spcPct val="0"/>
              </a:spcBef>
              <a:defRPr>
                <a:solidFill>
                  <a:schemeClr val="tx1"/>
                </a:solidFill>
                <a:latin typeface="Arial" panose="020B0604020202020204" pitchFamily="34" charset="0"/>
              </a:defRPr>
            </a:lvl4pPr>
            <a:lvl5pPr eaLnBrk="0" hangingPunct="0">
              <a:spcBef>
                <a:spcPct val="0"/>
              </a:spcBef>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buClrTx/>
              <a:buSzTx/>
            </a:pPr>
            <a:r>
              <a:rPr kumimoji="0" lang="ru-RU" altLang="ru-RU" sz="2000" b="1" i="0" u="none" strike="noStrike" cap="none" normalizeH="0" baseline="0" dirty="0">
                <a:ln>
                  <a:noFill/>
                </a:ln>
                <a:solidFill>
                  <a:schemeClr val="accent5">
                    <a:lumMod val="25000"/>
                  </a:schemeClr>
                </a:solidFill>
                <a:effectLst/>
                <a:cs typeface="Arial" panose="020B0604020202020204" pitchFamily="34" charset="0"/>
              </a:rPr>
              <a:t>Независимость от конкретной СУБД</a:t>
            </a:r>
          </a:p>
          <a:p>
            <a:pPr marL="0" indent="0">
              <a:buClrTx/>
              <a:buSzTx/>
              <a:buNone/>
            </a:pPr>
            <a:r>
              <a:rPr kumimoji="0" lang="ru-RU" altLang="ru-RU" sz="2000" b="0" i="0" u="none" strike="noStrike" cap="none" normalizeH="0" baseline="0" dirty="0">
                <a:ln>
                  <a:noFill/>
                </a:ln>
                <a:solidFill>
                  <a:srgbClr val="202122"/>
                </a:solidFill>
                <a:effectLst/>
                <a:cs typeface="Arial" panose="020B0604020202020204" pitchFamily="34" charset="0"/>
              </a:rPr>
              <a:t>Несмотря на наличие диалектов и различий в синтаксисе, в большинстве своём тексты SQL-запросов, содержащие DDL и DML, могут быть </a:t>
            </a:r>
            <a:r>
              <a:rPr kumimoji="0" lang="ru-RU" altLang="ru-RU" sz="2000" b="0" i="0" u="sng" strike="noStrike" cap="none" normalizeH="0" baseline="0" dirty="0">
                <a:ln>
                  <a:noFill/>
                </a:ln>
                <a:solidFill>
                  <a:srgbClr val="202122"/>
                </a:solidFill>
                <a:effectLst/>
                <a:cs typeface="Arial" panose="020B0604020202020204" pitchFamily="34" charset="0"/>
              </a:rPr>
              <a:t>достаточно легко перенесены </a:t>
            </a:r>
            <a:r>
              <a:rPr kumimoji="0" lang="ru-RU" altLang="ru-RU" sz="2000" b="0" i="0" u="none" strike="noStrike" cap="none" normalizeH="0" baseline="0" dirty="0">
                <a:ln>
                  <a:noFill/>
                </a:ln>
                <a:solidFill>
                  <a:srgbClr val="202122"/>
                </a:solidFill>
                <a:effectLst/>
                <a:cs typeface="Arial" panose="020B0604020202020204" pitchFamily="34" charset="0"/>
              </a:rPr>
              <a:t>из одной СУБД в другую.</a:t>
            </a:r>
            <a:endParaRPr kumimoji="0" lang="ru-RU" altLang="ru-RU" sz="2000" b="0" i="0" u="none" strike="noStrike" cap="none" normalizeH="0" baseline="0" dirty="0">
              <a:ln>
                <a:noFill/>
              </a:ln>
              <a:solidFill>
                <a:schemeClr val="tx1"/>
              </a:solidFill>
              <a:effectLst/>
            </a:endParaRPr>
          </a:p>
          <a:p>
            <a:pPr>
              <a:buClrTx/>
              <a:buSzTx/>
            </a:pPr>
            <a:r>
              <a:rPr lang="ru-RU" altLang="ru-RU" sz="2000" b="1" dirty="0">
                <a:solidFill>
                  <a:schemeClr val="accent5">
                    <a:lumMod val="25000"/>
                  </a:schemeClr>
                </a:solidFill>
                <a:cs typeface="Arial" panose="020B0604020202020204" pitchFamily="34" charset="0"/>
              </a:rPr>
              <a:t>Наличие стандартов</a:t>
            </a:r>
          </a:p>
          <a:p>
            <a:pPr marL="0" indent="0">
              <a:buClrTx/>
              <a:buSzTx/>
              <a:buNone/>
            </a:pPr>
            <a:r>
              <a:rPr kumimoji="0" lang="ru-RU" altLang="ru-RU" sz="2000" b="0" i="0" u="none" strike="noStrike" cap="none" normalizeH="0" baseline="0" dirty="0">
                <a:ln>
                  <a:noFill/>
                </a:ln>
                <a:solidFill>
                  <a:srgbClr val="202122"/>
                </a:solidFill>
                <a:effectLst/>
                <a:cs typeface="Arial" panose="020B0604020202020204" pitchFamily="34" charset="0"/>
              </a:rPr>
              <a:t>Наличие стандартов и набора тестов для выявления совместимости и соответствия конкретной реализации SQL общепринятому стандарту только способствует «стабилизации» языка. Правда, сам по себе стандарт местами чересчур формализован и </a:t>
            </a:r>
            <a:r>
              <a:rPr kumimoji="0" lang="ru-RU" altLang="ru-RU" sz="2000" i="0" u="sng" strike="noStrike" cap="none" normalizeH="0" baseline="0" dirty="0">
                <a:ln>
                  <a:noFill/>
                </a:ln>
                <a:solidFill>
                  <a:srgbClr val="202122"/>
                </a:solidFill>
                <a:effectLst/>
                <a:cs typeface="Arial" panose="020B0604020202020204" pitchFamily="34" charset="0"/>
              </a:rPr>
              <a:t>раздут в размерах </a:t>
            </a:r>
            <a:r>
              <a:rPr kumimoji="0" lang="ru-RU" altLang="ru-RU" sz="2000" b="0" i="0" u="none" strike="noStrike" cap="none" normalizeH="0" baseline="0" dirty="0">
                <a:ln>
                  <a:noFill/>
                </a:ln>
                <a:solidFill>
                  <a:srgbClr val="202122"/>
                </a:solidFill>
                <a:effectLst/>
                <a:cs typeface="Arial" panose="020B0604020202020204" pitchFamily="34" charset="0"/>
              </a:rPr>
              <a:t>(например, базовая часть стандарта SQL:2003 состоит из более чем 1300 страниц текста).</a:t>
            </a:r>
            <a:endParaRPr kumimoji="0" lang="ru-RU" altLang="ru-RU" sz="2000" b="0" i="0" u="none" strike="noStrike" cap="none" normalizeH="0" baseline="0" dirty="0">
              <a:ln>
                <a:noFill/>
              </a:ln>
              <a:solidFill>
                <a:schemeClr val="tx1"/>
              </a:solidFill>
              <a:effectLst/>
            </a:endParaRPr>
          </a:p>
          <a:p>
            <a:pPr>
              <a:buClrTx/>
              <a:buSzTx/>
            </a:pPr>
            <a:r>
              <a:rPr lang="ru-RU" altLang="ru-RU" sz="2000" b="1" dirty="0">
                <a:solidFill>
                  <a:schemeClr val="accent5">
                    <a:lumMod val="25000"/>
                  </a:schemeClr>
                </a:solidFill>
                <a:cs typeface="Arial" panose="020B0604020202020204" pitchFamily="34" charset="0"/>
              </a:rPr>
              <a:t>Декларативность</a:t>
            </a:r>
          </a:p>
          <a:p>
            <a:pPr marL="0" indent="0">
              <a:buClrTx/>
              <a:buSzTx/>
              <a:buNone/>
            </a:pPr>
            <a:r>
              <a:rPr kumimoji="0" lang="ru-RU" altLang="ru-RU" sz="2000" b="0" i="0" u="none" strike="noStrike" cap="none" normalizeH="0" baseline="0" dirty="0">
                <a:ln>
                  <a:noFill/>
                </a:ln>
                <a:solidFill>
                  <a:srgbClr val="202122"/>
                </a:solidFill>
                <a:effectLst/>
                <a:cs typeface="Arial" panose="020B0604020202020204" pitchFamily="34" charset="0"/>
              </a:rPr>
              <a:t>С помощью SQL программист </a:t>
            </a:r>
            <a:r>
              <a:rPr kumimoji="0" lang="ru-RU" altLang="ru-RU" sz="2000" b="0" i="0" u="sng" strike="noStrike" cap="none" normalizeH="0" baseline="0" dirty="0">
                <a:ln>
                  <a:noFill/>
                </a:ln>
                <a:solidFill>
                  <a:srgbClr val="202122"/>
                </a:solidFill>
                <a:effectLst/>
                <a:cs typeface="Arial" panose="020B0604020202020204" pitchFamily="34" charset="0"/>
              </a:rPr>
              <a:t>описывает только то, какие данные нужно извлечь или модифицировать</a:t>
            </a:r>
            <a:r>
              <a:rPr kumimoji="0" lang="ru-RU" altLang="ru-RU" sz="2000" b="0" i="0" u="none" strike="noStrike" cap="none" normalizeH="0" baseline="0" dirty="0">
                <a:ln>
                  <a:noFill/>
                </a:ln>
                <a:solidFill>
                  <a:srgbClr val="202122"/>
                </a:solidFill>
                <a:effectLst/>
                <a:cs typeface="Arial" panose="020B0604020202020204" pitchFamily="34" charset="0"/>
              </a:rPr>
              <a:t>. То, каким образом это сделать, решает СУБД непосредственно при обработке SQL-запроса. </a:t>
            </a:r>
            <a:endParaRPr kumimoji="0" lang="ru-RU" altLang="ru-RU"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9434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up)">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up)">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up)">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wipe(up)">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up)">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wipe(up)">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wipe(up)">
                                      <p:cBhvr>
                                        <p:cTn id="3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122" name="Заголовок 1"/>
          <p:cNvSpPr>
            <a:spLocks noGrp="1"/>
          </p:cNvSpPr>
          <p:nvPr>
            <p:ph type="title"/>
          </p:nvPr>
        </p:nvSpPr>
        <p:spPr>
          <a:xfrm>
            <a:off x="511877" y="278650"/>
            <a:ext cx="8120245" cy="766555"/>
          </a:xfrm>
        </p:spPr>
        <p:txBody>
          <a:bodyPr/>
          <a:lstStyle/>
          <a:p>
            <a:pPr algn="ctr"/>
            <a:r>
              <a:rPr lang="ru-RU" dirty="0">
                <a:solidFill>
                  <a:schemeClr val="bg2"/>
                </a:solidFill>
              </a:rPr>
              <a:t>Недостатки </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6</a:t>
            </a:fld>
            <a:endParaRPr lang="ru-RU"/>
          </a:p>
        </p:txBody>
      </p:sp>
      <p:sp>
        <p:nvSpPr>
          <p:cNvPr id="5" name="Rectangle 3">
            <a:extLst>
              <a:ext uri="{FF2B5EF4-FFF2-40B4-BE49-F238E27FC236}">
                <a16:creationId xmlns:a16="http://schemas.microsoft.com/office/drawing/2014/main" id="{B62FA745-F308-71B8-218A-6E32CA0D31D9}"/>
              </a:ext>
            </a:extLst>
          </p:cNvPr>
          <p:cNvSpPr>
            <a:spLocks noGrp="1" noChangeArrowheads="1"/>
          </p:cNvSpPr>
          <p:nvPr>
            <p:ph idx="1"/>
          </p:nvPr>
        </p:nvSpPr>
        <p:spPr bwMode="auto">
          <a:xfrm>
            <a:off x="477975" y="953725"/>
            <a:ext cx="8324495" cy="55356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15870" numCol="1" anchor="ctr" anchorCtr="0" compatLnSpc="1">
            <a:prstTxWarp prst="textNoShape">
              <a:avLst/>
            </a:prstTxWarp>
            <a:normAutofit fontScale="85000" lnSpcReduction="20000"/>
          </a:bodyPr>
          <a:lstStyle>
            <a:lvl1pPr eaLnBrk="0" hangingPunct="0">
              <a:spcBef>
                <a:spcPct val="0"/>
              </a:spcBef>
              <a:defRPr>
                <a:solidFill>
                  <a:schemeClr val="tx1"/>
                </a:solidFill>
                <a:latin typeface="Arial" panose="020B0604020202020204" pitchFamily="34" charset="0"/>
              </a:defRPr>
            </a:lvl1pPr>
            <a:lvl2pPr eaLnBrk="0" hangingPunct="0">
              <a:spcBef>
                <a:spcPct val="0"/>
              </a:spcBef>
              <a:defRPr>
                <a:solidFill>
                  <a:schemeClr val="tx1"/>
                </a:solidFill>
                <a:latin typeface="Arial" panose="020B0604020202020204" pitchFamily="34" charset="0"/>
              </a:defRPr>
            </a:lvl2pPr>
            <a:lvl3pPr eaLnBrk="0" hangingPunct="0">
              <a:spcBef>
                <a:spcPct val="0"/>
              </a:spcBef>
              <a:defRPr>
                <a:solidFill>
                  <a:schemeClr val="tx1"/>
                </a:solidFill>
                <a:latin typeface="Arial" panose="020B0604020202020204" pitchFamily="34" charset="0"/>
              </a:defRPr>
            </a:lvl3pPr>
            <a:lvl4pPr eaLnBrk="0" hangingPunct="0">
              <a:spcBef>
                <a:spcPct val="0"/>
              </a:spcBef>
              <a:defRPr>
                <a:solidFill>
                  <a:schemeClr val="tx1"/>
                </a:solidFill>
                <a:latin typeface="Arial" panose="020B0604020202020204" pitchFamily="34" charset="0"/>
              </a:defRPr>
            </a:lvl4pPr>
            <a:lvl5pPr eaLnBrk="0" hangingPunct="0">
              <a:spcBef>
                <a:spcPct val="0"/>
              </a:spcBef>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20000"/>
              </a:lnSpc>
            </a:pPr>
            <a:r>
              <a:rPr lang="ru-RU" sz="2000" b="1" dirty="0">
                <a:solidFill>
                  <a:schemeClr val="accent5">
                    <a:lumMod val="25000"/>
                  </a:schemeClr>
                </a:solidFill>
              </a:rPr>
              <a:t>Несоответствие реляционной модели данных</a:t>
            </a:r>
          </a:p>
          <a:p>
            <a:pPr marL="0" indent="0">
              <a:lnSpc>
                <a:spcPct val="120000"/>
              </a:lnSpc>
              <a:buClrTx/>
              <a:buSzTx/>
              <a:buNone/>
            </a:pPr>
            <a:r>
              <a:rPr lang="ru-RU" sz="2000" dirty="0">
                <a:solidFill>
                  <a:srgbClr val="0645AD"/>
                </a:solidFill>
                <a:hlinkClick r:id="rId3" tooltip="Кодд, Эдгар"/>
              </a:rPr>
              <a:t>Эдгар Кодд</a:t>
            </a:r>
            <a:r>
              <a:rPr lang="ru-RU" sz="2000" dirty="0">
                <a:solidFill>
                  <a:srgbClr val="202122"/>
                </a:solidFill>
              </a:rPr>
              <a:t>, </a:t>
            </a:r>
            <a:r>
              <a:rPr lang="ru-RU" sz="2000" dirty="0">
                <a:solidFill>
                  <a:srgbClr val="0645AD"/>
                </a:solidFill>
                <a:hlinkClick r:id="rId4" tooltip="Дейт, Кристофер"/>
              </a:rPr>
              <a:t>Кристофер </a:t>
            </a:r>
            <a:r>
              <a:rPr lang="ru-RU" sz="2000" dirty="0" err="1">
                <a:solidFill>
                  <a:srgbClr val="0645AD"/>
                </a:solidFill>
                <a:hlinkClick r:id="rId4" tooltip="Дейт, Кристофер"/>
              </a:rPr>
              <a:t>Дейт</a:t>
            </a:r>
            <a:r>
              <a:rPr lang="ru-RU" sz="2000" dirty="0">
                <a:solidFill>
                  <a:srgbClr val="202122"/>
                </a:solidFill>
              </a:rPr>
              <a:t> и их сторонники указывают на то, что SQL не является истинно реляционным языком.</a:t>
            </a:r>
          </a:p>
          <a:p>
            <a:pPr marL="0" indent="0">
              <a:lnSpc>
                <a:spcPct val="120000"/>
              </a:lnSpc>
              <a:buClrTx/>
              <a:buSzTx/>
              <a:buNone/>
            </a:pPr>
            <a:r>
              <a:rPr lang="ru-RU" sz="2000" dirty="0">
                <a:solidFill>
                  <a:srgbClr val="202122"/>
                </a:solidFill>
              </a:rPr>
              <a:t>Дефекты SQL с точки зрения реляционной теории:</a:t>
            </a:r>
          </a:p>
          <a:p>
            <a:pPr lvl="1">
              <a:lnSpc>
                <a:spcPct val="120000"/>
              </a:lnSpc>
              <a:buClrTx/>
              <a:buSzTx/>
            </a:pPr>
            <a:r>
              <a:rPr lang="ru-RU" sz="1600" dirty="0">
                <a:solidFill>
                  <a:srgbClr val="202122"/>
                </a:solidFill>
              </a:rPr>
              <a:t>допущение строк-дубликатов в таблицах и результатах выборок,</a:t>
            </a:r>
          </a:p>
          <a:p>
            <a:pPr lvl="1">
              <a:lnSpc>
                <a:spcPct val="120000"/>
              </a:lnSpc>
              <a:buClrTx/>
              <a:buSzTx/>
            </a:pPr>
            <a:r>
              <a:rPr lang="ru-RU" sz="1600" dirty="0">
                <a:solidFill>
                  <a:srgbClr val="202122"/>
                </a:solidFill>
              </a:rPr>
              <a:t>поддержка неопределённых значений (</a:t>
            </a:r>
            <a:r>
              <a:rPr lang="ru-RU" sz="1600" dirty="0">
                <a:solidFill>
                  <a:srgbClr val="0645AD"/>
                </a:solidFill>
                <a:hlinkClick r:id="rId5" tooltip="NULL (SQL)"/>
              </a:rPr>
              <a:t>NULL</a:t>
            </a:r>
            <a:r>
              <a:rPr lang="ru-RU" sz="1600" dirty="0">
                <a:solidFill>
                  <a:srgbClr val="202122"/>
                </a:solidFill>
              </a:rPr>
              <a:t>), создающая фактически многозначную логику,</a:t>
            </a:r>
          </a:p>
          <a:p>
            <a:pPr lvl="1">
              <a:lnSpc>
                <a:spcPct val="120000"/>
              </a:lnSpc>
              <a:buClrTx/>
              <a:buSzTx/>
            </a:pPr>
            <a:r>
              <a:rPr lang="ru-RU" sz="1600" dirty="0">
                <a:solidFill>
                  <a:srgbClr val="202122"/>
                </a:solidFill>
              </a:rPr>
              <a:t>возможность ссылок на столбцы по номерам (в реляционной модели столбцы должны быть равноправны),</a:t>
            </a:r>
          </a:p>
          <a:p>
            <a:pPr lvl="1">
              <a:lnSpc>
                <a:spcPct val="120000"/>
              </a:lnSpc>
              <a:buClrTx/>
              <a:buSzTx/>
            </a:pPr>
            <a:r>
              <a:rPr lang="ru-RU" sz="1600" dirty="0">
                <a:solidFill>
                  <a:srgbClr val="202122"/>
                </a:solidFill>
              </a:rPr>
              <a:t>допущение столбцов без имени, </a:t>
            </a:r>
            <a:r>
              <a:rPr lang="ru-RU" sz="1600" dirty="0" err="1">
                <a:solidFill>
                  <a:srgbClr val="202122"/>
                </a:solidFill>
              </a:rPr>
              <a:t>дублирующихся</a:t>
            </a:r>
            <a:r>
              <a:rPr lang="ru-RU" sz="1600" dirty="0">
                <a:solidFill>
                  <a:srgbClr val="202122"/>
                </a:solidFill>
              </a:rPr>
              <a:t> имён столбцов</a:t>
            </a:r>
            <a:endParaRPr kumimoji="0" lang="ru-RU" altLang="ru-RU" sz="1600" b="0" i="0" u="none" strike="noStrike" cap="none" normalizeH="0" baseline="0" dirty="0">
              <a:ln>
                <a:noFill/>
              </a:ln>
              <a:solidFill>
                <a:schemeClr val="tx1"/>
              </a:solidFill>
              <a:effectLst/>
            </a:endParaRPr>
          </a:p>
          <a:p>
            <a:pPr>
              <a:lnSpc>
                <a:spcPct val="120000"/>
              </a:lnSpc>
            </a:pPr>
            <a:r>
              <a:rPr lang="ru-RU" sz="2000" b="1" dirty="0">
                <a:solidFill>
                  <a:schemeClr val="accent5">
                    <a:lumMod val="25000"/>
                  </a:schemeClr>
                </a:solidFill>
              </a:rPr>
              <a:t>Сложность</a:t>
            </a:r>
          </a:p>
          <a:p>
            <a:pPr marL="0" indent="0">
              <a:lnSpc>
                <a:spcPct val="120000"/>
              </a:lnSpc>
              <a:buClrTx/>
              <a:buSzTx/>
              <a:buNone/>
            </a:pPr>
            <a:r>
              <a:rPr lang="ru-RU" sz="2000" dirty="0">
                <a:solidFill>
                  <a:srgbClr val="202122"/>
                </a:solidFill>
              </a:rPr>
              <a:t>SQL и задумывался как средство работы конечного пользователя. Однако он стал настолько сложным, что превратился в инструмент программиста</a:t>
            </a:r>
            <a:r>
              <a:rPr kumimoji="0" lang="ru-RU" altLang="ru-RU" sz="2000" b="0" i="0" u="none" strike="noStrike" cap="none" normalizeH="0" baseline="0" dirty="0">
                <a:ln>
                  <a:noFill/>
                </a:ln>
                <a:solidFill>
                  <a:srgbClr val="202122"/>
                </a:solidFill>
                <a:effectLst/>
                <a:cs typeface="Arial" panose="020B0604020202020204" pitchFamily="34" charset="0"/>
              </a:rPr>
              <a:t>.</a:t>
            </a:r>
            <a:endParaRPr kumimoji="0" lang="ru-RU" altLang="ru-RU" sz="2000" b="0" i="0" u="none" strike="noStrike" cap="none" normalizeH="0" baseline="0" dirty="0">
              <a:ln>
                <a:noFill/>
              </a:ln>
              <a:solidFill>
                <a:schemeClr val="tx1"/>
              </a:solidFill>
              <a:effectLst/>
            </a:endParaRPr>
          </a:p>
          <a:p>
            <a:pPr>
              <a:lnSpc>
                <a:spcPct val="120000"/>
              </a:lnSpc>
            </a:pPr>
            <a:r>
              <a:rPr lang="ru-RU" sz="2000" b="1" dirty="0">
                <a:solidFill>
                  <a:schemeClr val="accent5">
                    <a:lumMod val="25000"/>
                  </a:schemeClr>
                </a:solidFill>
              </a:rPr>
              <a:t>Отступления от стандартов</a:t>
            </a:r>
          </a:p>
          <a:p>
            <a:pPr marL="0" indent="0">
              <a:lnSpc>
                <a:spcPct val="120000"/>
              </a:lnSpc>
              <a:buClrTx/>
              <a:buSzTx/>
              <a:buNone/>
            </a:pPr>
            <a:r>
              <a:rPr lang="ru-RU" sz="2000" dirty="0">
                <a:solidFill>
                  <a:srgbClr val="202122"/>
                </a:solidFill>
              </a:rPr>
              <a:t>Несмотря на наличие международного стандарта ANSI SQL-92 (другие), многие разработчики СУБД вносят изменения в язык SQL</a:t>
            </a:r>
            <a:r>
              <a:rPr kumimoji="0" lang="ru-RU" altLang="ru-RU" sz="2000" b="0" i="0" u="none" strike="noStrike" cap="none" normalizeH="0" baseline="0" dirty="0">
                <a:ln>
                  <a:noFill/>
                </a:ln>
                <a:solidFill>
                  <a:srgbClr val="202122"/>
                </a:solidFill>
                <a:effectLst/>
                <a:cs typeface="Arial" panose="020B0604020202020204" pitchFamily="34" charset="0"/>
              </a:rPr>
              <a:t>. И </a:t>
            </a:r>
            <a:r>
              <a:rPr kumimoji="0" lang="ru-RU" altLang="ru-RU" sz="2000" b="0" i="0" u="none" strike="noStrike" cap="none" normalizeH="0" baseline="0" dirty="0" err="1">
                <a:ln>
                  <a:noFill/>
                </a:ln>
                <a:solidFill>
                  <a:srgbClr val="202122"/>
                </a:solidFill>
                <a:effectLst/>
                <a:cs typeface="Arial" panose="020B0604020202020204" pitchFamily="34" charset="0"/>
              </a:rPr>
              <a:t>т.о</a:t>
            </a:r>
            <a:r>
              <a:rPr kumimoji="0" lang="ru-RU" altLang="ru-RU" sz="2000" b="0" i="0" u="none" strike="noStrike" cap="none" normalizeH="0" baseline="0" dirty="0">
                <a:ln>
                  <a:noFill/>
                </a:ln>
                <a:solidFill>
                  <a:srgbClr val="202122"/>
                </a:solidFill>
                <a:effectLst/>
                <a:cs typeface="Arial" panose="020B0604020202020204" pitchFamily="34" charset="0"/>
              </a:rPr>
              <a:t>. </a:t>
            </a:r>
            <a:r>
              <a:rPr lang="ru-RU" sz="2000" dirty="0">
                <a:solidFill>
                  <a:srgbClr val="202122"/>
                </a:solidFill>
              </a:rPr>
              <a:t>появляются специфичные для каждой конкретной СУБД диалекты языка SQL.</a:t>
            </a:r>
            <a:r>
              <a:rPr kumimoji="0" lang="ru-RU" altLang="ru-RU" sz="2000" b="0" i="0" u="none" strike="noStrike" cap="none" normalizeH="0" baseline="0" dirty="0">
                <a:ln>
                  <a:noFill/>
                </a:ln>
                <a:solidFill>
                  <a:srgbClr val="202122"/>
                </a:solidFill>
                <a:effectLst/>
                <a:cs typeface="Arial" panose="020B0604020202020204" pitchFamily="34" charset="0"/>
              </a:rPr>
              <a:t> </a:t>
            </a:r>
          </a:p>
          <a:p>
            <a:pPr>
              <a:lnSpc>
                <a:spcPct val="120000"/>
              </a:lnSpc>
            </a:pPr>
            <a:r>
              <a:rPr lang="ru-RU" sz="2000" b="1" dirty="0">
                <a:solidFill>
                  <a:schemeClr val="accent5">
                    <a:lumMod val="25000"/>
                  </a:schemeClr>
                </a:solidFill>
              </a:rPr>
              <a:t>Сложность работы с иерархическими структурами</a:t>
            </a:r>
          </a:p>
          <a:p>
            <a:pPr marL="0" indent="0">
              <a:lnSpc>
                <a:spcPct val="120000"/>
              </a:lnSpc>
              <a:buNone/>
            </a:pPr>
            <a:r>
              <a:rPr lang="ru-RU" sz="2000" dirty="0">
                <a:solidFill>
                  <a:srgbClr val="202122"/>
                </a:solidFill>
              </a:rPr>
              <a:t>Ранние версии SQL не предлагали способа манипуляции древовидными структурами. Но начиная с </a:t>
            </a:r>
            <a:r>
              <a:rPr lang="en-US" sz="2000" dirty="0">
                <a:solidFill>
                  <a:srgbClr val="202122"/>
                </a:solidFill>
              </a:rPr>
              <a:t>SQL:1999 </a:t>
            </a:r>
            <a:r>
              <a:rPr lang="ru-RU" sz="2000" dirty="0">
                <a:solidFill>
                  <a:srgbClr val="202122"/>
                </a:solidFill>
              </a:rPr>
              <a:t>в стандарт введены рекурсивные запросы, решающие эту проблему.</a:t>
            </a:r>
            <a:endParaRPr lang="ru-RU" sz="2000" b="1" dirty="0">
              <a:solidFill>
                <a:schemeClr val="accent5">
                  <a:lumMod val="25000"/>
                </a:schemeClr>
              </a:solidFill>
            </a:endParaRPr>
          </a:p>
        </p:txBody>
      </p:sp>
    </p:spTree>
    <p:extLst>
      <p:ext uri="{BB962C8B-B14F-4D97-AF65-F5344CB8AC3E}">
        <p14:creationId xmlns:p14="http://schemas.microsoft.com/office/powerpoint/2010/main" val="161270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up)">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up)">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up)">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wipe(up)">
                                      <p:cBhvr>
                                        <p:cTn id="22" dur="500"/>
                                        <p:tgtEl>
                                          <p:spTgt spid="5">
                                            <p:txEl>
                                              <p:pRg st="2" end="2"/>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wipe(up)">
                                      <p:cBhvr>
                                        <p:cTn id="25" dur="500"/>
                                        <p:tgtEl>
                                          <p:spTgt spid="5">
                                            <p:txEl>
                                              <p:pRg st="3" end="3"/>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wipe(up)">
                                      <p:cBhvr>
                                        <p:cTn id="28" dur="500"/>
                                        <p:tgtEl>
                                          <p:spTgt spid="5">
                                            <p:txEl>
                                              <p:pRg st="4" end="4"/>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wipe(up)">
                                      <p:cBhvr>
                                        <p:cTn id="31" dur="500"/>
                                        <p:tgtEl>
                                          <p:spTgt spid="5">
                                            <p:txEl>
                                              <p:pRg st="5" end="5"/>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wipe(up)">
                                      <p:cBhvr>
                                        <p:cTn id="34" dur="500"/>
                                        <p:tgtEl>
                                          <p:spTgt spid="5">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wipe(up)">
                                      <p:cBhvr>
                                        <p:cTn id="39" dur="500"/>
                                        <p:tgtEl>
                                          <p:spTgt spid="5">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5">
                                            <p:txEl>
                                              <p:pRg st="8" end="8"/>
                                            </p:txEl>
                                          </p:spTgt>
                                        </p:tgtEl>
                                        <p:attrNameLst>
                                          <p:attrName>style.visibility</p:attrName>
                                        </p:attrNameLst>
                                      </p:cBhvr>
                                      <p:to>
                                        <p:strVal val="visible"/>
                                      </p:to>
                                    </p:set>
                                    <p:animEffect transition="in" filter="wipe(up)">
                                      <p:cBhvr>
                                        <p:cTn id="44" dur="500"/>
                                        <p:tgtEl>
                                          <p:spTgt spid="5">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Effect transition="in" filter="wipe(up)">
                                      <p:cBhvr>
                                        <p:cTn id="49" dur="500"/>
                                        <p:tgtEl>
                                          <p:spTgt spid="5">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5">
                                            <p:txEl>
                                              <p:pRg st="10" end="10"/>
                                            </p:txEl>
                                          </p:spTgt>
                                        </p:tgtEl>
                                        <p:attrNameLst>
                                          <p:attrName>style.visibility</p:attrName>
                                        </p:attrNameLst>
                                      </p:cBhvr>
                                      <p:to>
                                        <p:strVal val="visible"/>
                                      </p:to>
                                    </p:set>
                                    <p:animEffect transition="in" filter="wipe(up)">
                                      <p:cBhvr>
                                        <p:cTn id="54" dur="500"/>
                                        <p:tgtEl>
                                          <p:spTgt spid="5">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5">
                                            <p:txEl>
                                              <p:pRg st="11" end="11"/>
                                            </p:txEl>
                                          </p:spTgt>
                                        </p:tgtEl>
                                        <p:attrNameLst>
                                          <p:attrName>style.visibility</p:attrName>
                                        </p:attrNameLst>
                                      </p:cBhvr>
                                      <p:to>
                                        <p:strVal val="visible"/>
                                      </p:to>
                                    </p:set>
                                    <p:animEffect transition="in" filter="wipe(up)">
                                      <p:cBhvr>
                                        <p:cTn id="59" dur="500"/>
                                        <p:tgtEl>
                                          <p:spTgt spid="5">
                                            <p:txEl>
                                              <p:pRg st="11" end="1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5">
                                            <p:txEl>
                                              <p:pRg st="12" end="12"/>
                                            </p:txEl>
                                          </p:spTgt>
                                        </p:tgtEl>
                                        <p:attrNameLst>
                                          <p:attrName>style.visibility</p:attrName>
                                        </p:attrNameLst>
                                      </p:cBhvr>
                                      <p:to>
                                        <p:strVal val="visible"/>
                                      </p:to>
                                    </p:set>
                                    <p:animEffect transition="in" filter="wipe(up)">
                                      <p:cBhvr>
                                        <p:cTn id="64"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a:xfrm>
            <a:off x="467544" y="548680"/>
            <a:ext cx="8229600" cy="288032"/>
          </a:xfrm>
        </p:spPr>
        <p:txBody>
          <a:bodyPr>
            <a:noAutofit/>
          </a:bodyPr>
          <a:lstStyle/>
          <a:p>
            <a:pPr algn="ctr"/>
            <a:r>
              <a:rPr lang="ru-RU" sz="3600" dirty="0">
                <a:solidFill>
                  <a:schemeClr val="bg2"/>
                </a:solidFill>
              </a:rPr>
              <a:t>Разновидности </a:t>
            </a:r>
            <a:r>
              <a:rPr lang="en-US" sz="3600" dirty="0">
                <a:solidFill>
                  <a:schemeClr val="bg2"/>
                </a:solidFill>
              </a:rPr>
              <a:t>SQL</a:t>
            </a:r>
          </a:p>
        </p:txBody>
      </p:sp>
      <p:sp>
        <p:nvSpPr>
          <p:cNvPr id="3" name="Объект 2"/>
          <p:cNvSpPr>
            <a:spLocks noGrp="1"/>
          </p:cNvSpPr>
          <p:nvPr>
            <p:ph idx="1"/>
          </p:nvPr>
        </p:nvSpPr>
        <p:spPr>
          <a:xfrm>
            <a:off x="107504" y="1124744"/>
            <a:ext cx="8928992" cy="5472608"/>
          </a:xfrm>
        </p:spPr>
        <p:txBody>
          <a:bodyPr>
            <a:normAutofit fontScale="77500" lnSpcReduction="20000"/>
          </a:bodyPr>
          <a:lstStyle/>
          <a:p>
            <a:pPr marL="0" indent="0">
              <a:lnSpc>
                <a:spcPct val="120000"/>
              </a:lnSpc>
              <a:buNone/>
              <a:defRPr/>
            </a:pPr>
            <a:r>
              <a:rPr lang="ru-RU" dirty="0"/>
              <a:t>Используются следующие технологии (режимы) работы с базой данных на языке SQL: </a:t>
            </a:r>
          </a:p>
          <a:p>
            <a:pPr>
              <a:lnSpc>
                <a:spcPct val="120000"/>
              </a:lnSpc>
              <a:defRPr/>
            </a:pPr>
            <a:r>
              <a:rPr lang="ru-RU" dirty="0"/>
              <a:t>формирование непосредственно пользователем запроса на языке SQL в интерактивном режиме </a:t>
            </a:r>
            <a:r>
              <a:rPr lang="en-US" dirty="0"/>
              <a:t>– </a:t>
            </a:r>
            <a:r>
              <a:rPr lang="ru-RU" b="1" dirty="0"/>
              <a:t>интерактивный</a:t>
            </a:r>
            <a:r>
              <a:rPr lang="en-US" b="1" dirty="0"/>
              <a:t> </a:t>
            </a:r>
            <a:r>
              <a:rPr lang="ru-RU" b="1" dirty="0"/>
              <a:t> SQL</a:t>
            </a:r>
            <a:endParaRPr lang="en-US" dirty="0"/>
          </a:p>
          <a:p>
            <a:pPr>
              <a:lnSpc>
                <a:spcPct val="120000"/>
              </a:lnSpc>
              <a:defRPr/>
            </a:pPr>
            <a:r>
              <a:rPr lang="ru-RU" dirty="0"/>
              <a:t>формирование запроса на языке SQL в прикладной программе (программный или </a:t>
            </a:r>
            <a:r>
              <a:rPr lang="ru-RU" b="1" dirty="0"/>
              <a:t>встроенный SQL</a:t>
            </a:r>
            <a:r>
              <a:rPr lang="ru-RU" dirty="0"/>
              <a:t>) </a:t>
            </a:r>
            <a:endParaRPr lang="en-US" dirty="0"/>
          </a:p>
          <a:p>
            <a:pPr lvl="1">
              <a:lnSpc>
                <a:spcPct val="120000"/>
              </a:lnSpc>
              <a:spcBef>
                <a:spcPts val="1200"/>
              </a:spcBef>
              <a:buClr>
                <a:srgbClr val="C00000"/>
              </a:buClr>
              <a:buFont typeface="Wingdings" pitchFamily="2" charset="2"/>
              <a:buChar char="Ø"/>
              <a:defRPr/>
            </a:pPr>
            <a:r>
              <a:rPr lang="ru-RU" dirty="0"/>
              <a:t>статическое формирование запроса (</a:t>
            </a:r>
            <a:r>
              <a:rPr lang="ru-RU" b="1" dirty="0"/>
              <a:t>статический SQL</a:t>
            </a:r>
            <a:r>
              <a:rPr lang="ru-RU" dirty="0"/>
              <a:t> );</a:t>
            </a:r>
            <a:endParaRPr lang="en-US" dirty="0"/>
          </a:p>
          <a:p>
            <a:pPr lvl="1">
              <a:lnSpc>
                <a:spcPct val="120000"/>
              </a:lnSpc>
              <a:spcBef>
                <a:spcPts val="1200"/>
              </a:spcBef>
              <a:buClr>
                <a:srgbClr val="C00000"/>
              </a:buClr>
              <a:buFont typeface="Wingdings" pitchFamily="2" charset="2"/>
              <a:buChar char="Ø"/>
              <a:defRPr/>
            </a:pPr>
            <a:r>
              <a:rPr lang="ru-RU" dirty="0"/>
              <a:t>динамическое формирование запроса (</a:t>
            </a:r>
            <a:r>
              <a:rPr lang="ru-RU" b="1" dirty="0"/>
              <a:t>динамический SQL</a:t>
            </a:r>
            <a:r>
              <a:rPr lang="ru-RU" dirty="0"/>
              <a:t>);</a:t>
            </a:r>
            <a:endParaRPr lang="en-US" dirty="0"/>
          </a:p>
          <a:p>
            <a:pPr lvl="1">
              <a:lnSpc>
                <a:spcPct val="120000"/>
              </a:lnSpc>
              <a:spcBef>
                <a:spcPts val="1200"/>
              </a:spcBef>
              <a:buClr>
                <a:srgbClr val="C00000"/>
              </a:buClr>
              <a:buFont typeface="Wingdings" pitchFamily="2" charset="2"/>
              <a:buChar char="Ø"/>
              <a:defRPr/>
            </a:pPr>
            <a:r>
              <a:rPr lang="ru-RU" dirty="0"/>
              <a:t>формирование запроса с помощью библиотек ( </a:t>
            </a:r>
            <a:r>
              <a:rPr lang="ru-RU" b="1" dirty="0"/>
              <a:t>API – интерфейсы вызова подпрограмм</a:t>
            </a:r>
            <a:r>
              <a:rPr lang="ru-RU" dirty="0"/>
              <a:t> ).</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7</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08050" y="6350"/>
            <a:ext cx="7264400" cy="574675"/>
          </a:xfrm>
        </p:spPr>
        <p:txBody>
          <a:bodyPr/>
          <a:lstStyle/>
          <a:p>
            <a:pPr algn="ctr" eaLnBrk="1" hangingPunct="1"/>
            <a:r>
              <a:rPr lang="ru-RU" sz="3200" dirty="0">
                <a:solidFill>
                  <a:schemeClr val="bg2"/>
                </a:solidFill>
              </a:rPr>
              <a:t>Обозначения</a:t>
            </a:r>
            <a:r>
              <a:rPr lang="en-US" sz="3200" dirty="0">
                <a:solidFill>
                  <a:schemeClr val="bg2"/>
                </a:solidFill>
              </a:rPr>
              <a:t> </a:t>
            </a:r>
            <a:endParaRPr lang="ru-RU" sz="3200" dirty="0">
              <a:solidFill>
                <a:srgbClr val="FF0000"/>
              </a:solidFill>
            </a:endParaRPr>
          </a:p>
        </p:txBody>
      </p:sp>
      <p:sp>
        <p:nvSpPr>
          <p:cNvPr id="8195" name="Rectangle 3"/>
          <p:cNvSpPr>
            <a:spLocks noGrp="1" noChangeArrowheads="1"/>
          </p:cNvSpPr>
          <p:nvPr>
            <p:ph type="body" idx="1"/>
          </p:nvPr>
        </p:nvSpPr>
        <p:spPr>
          <a:xfrm>
            <a:off x="107950" y="539750"/>
            <a:ext cx="8642350" cy="6057901"/>
          </a:xfrm>
        </p:spPr>
        <p:txBody>
          <a:bodyPr>
            <a:normAutofit fontScale="92500" lnSpcReduction="10000"/>
          </a:bodyPr>
          <a:lstStyle/>
          <a:p>
            <a:pPr marL="0" indent="0">
              <a:lnSpc>
                <a:spcPct val="110000"/>
              </a:lnSpc>
              <a:buNone/>
              <a:defRPr/>
            </a:pPr>
            <a:r>
              <a:rPr lang="ru-RU" sz="1600" dirty="0"/>
              <a:t>Для описания правильных предложений языка </a:t>
            </a:r>
            <a:r>
              <a:rPr lang="en-US" sz="1600" dirty="0"/>
              <a:t> SQL </a:t>
            </a:r>
            <a:r>
              <a:rPr lang="ru-RU" sz="1600" dirty="0"/>
              <a:t>используются </a:t>
            </a:r>
          </a:p>
          <a:p>
            <a:pPr marL="0" indent="0">
              <a:buNone/>
              <a:defRPr/>
            </a:pPr>
            <a:r>
              <a:rPr lang="ru-RU" sz="1600" b="1" i="1" dirty="0"/>
              <a:t>Стандартная форма Бэкуса-Наура</a:t>
            </a:r>
            <a:r>
              <a:rPr lang="en-US" sz="1600" b="1" i="1" dirty="0"/>
              <a:t> </a:t>
            </a:r>
            <a:r>
              <a:rPr lang="en-US" sz="1600" dirty="0"/>
              <a:t>(</a:t>
            </a:r>
            <a:r>
              <a:rPr lang="ru-RU" sz="1600" b="1" dirty="0"/>
              <a:t>БНФ</a:t>
            </a:r>
            <a:r>
              <a:rPr lang="en-US" sz="1600" dirty="0"/>
              <a:t>)</a:t>
            </a:r>
            <a:endParaRPr lang="ru-RU" sz="1600" dirty="0"/>
          </a:p>
          <a:p>
            <a:pPr marL="457200" indent="-457200">
              <a:buFont typeface="Wingdings" pitchFamily="2" charset="2"/>
              <a:buAutoNum type="arabicPeriod"/>
              <a:defRPr/>
            </a:pPr>
            <a:r>
              <a:rPr lang="ru-RU" sz="1600" i="1" u="sng" dirty="0"/>
              <a:t>Основные символы</a:t>
            </a:r>
            <a:r>
              <a:rPr lang="en-US" sz="1600" i="1" u="sng" dirty="0"/>
              <a:t> </a:t>
            </a:r>
            <a:r>
              <a:rPr lang="ru-RU" sz="1600" i="1" u="sng" dirty="0"/>
              <a:t> </a:t>
            </a:r>
            <a:r>
              <a:rPr lang="en-US" sz="1600" i="1" u="sng" dirty="0"/>
              <a:t>(</a:t>
            </a:r>
            <a:r>
              <a:rPr lang="ru-RU" sz="1600" i="1" u="sng" dirty="0"/>
              <a:t>терминальные символы)</a:t>
            </a:r>
          </a:p>
          <a:p>
            <a:pPr marL="857250" lvl="1" indent="-457200">
              <a:buClr>
                <a:schemeClr val="bg2"/>
              </a:buClr>
              <a:buFont typeface="Wingdings" pitchFamily="2" charset="2"/>
              <a:buChar char="v"/>
              <a:defRPr/>
            </a:pPr>
            <a:r>
              <a:rPr lang="ru-RU" sz="1600" dirty="0"/>
              <a:t>Ключевые ( служебные )слова</a:t>
            </a:r>
          </a:p>
          <a:p>
            <a:pPr marL="857250" lvl="1" indent="-457200">
              <a:buClr>
                <a:schemeClr val="bg2"/>
              </a:buClr>
              <a:buFont typeface="Wingdings" pitchFamily="2" charset="2"/>
              <a:buChar char="v"/>
              <a:defRPr/>
            </a:pPr>
            <a:r>
              <a:rPr lang="ru-RU" sz="1600" dirty="0"/>
              <a:t>Знаки операций</a:t>
            </a:r>
          </a:p>
          <a:p>
            <a:pPr marL="857250" lvl="1" indent="-457200">
              <a:buClr>
                <a:schemeClr val="bg2"/>
              </a:buClr>
              <a:buFont typeface="Wingdings" pitchFamily="2" charset="2"/>
              <a:buChar char="v"/>
              <a:defRPr/>
            </a:pPr>
            <a:r>
              <a:rPr lang="ru-RU" sz="1600" dirty="0"/>
              <a:t>Круглые скобки</a:t>
            </a:r>
          </a:p>
          <a:p>
            <a:pPr marL="857250" lvl="1" indent="-457200">
              <a:buFont typeface="Wingdings" pitchFamily="2" charset="2"/>
              <a:buAutoNum type="arabicPeriod"/>
              <a:defRPr/>
            </a:pPr>
            <a:endParaRPr lang="ru-RU" sz="1600" dirty="0"/>
          </a:p>
          <a:p>
            <a:pPr marL="457200" indent="-457200">
              <a:buFont typeface="Wingdings" pitchFamily="2" charset="2"/>
              <a:buAutoNum type="arabicPeriod"/>
              <a:defRPr/>
            </a:pPr>
            <a:r>
              <a:rPr lang="ru-RU" sz="1600" i="1" u="sng" dirty="0"/>
              <a:t>Металингвистические переменные (нетерминальные символы)</a:t>
            </a:r>
          </a:p>
          <a:p>
            <a:pPr marL="857250" lvl="1" indent="-457200">
              <a:buClr>
                <a:schemeClr val="bg2"/>
              </a:buClr>
              <a:buFont typeface="Wingdings" pitchFamily="2" charset="2"/>
              <a:buChar char="v"/>
              <a:defRPr/>
            </a:pPr>
            <a:r>
              <a:rPr lang="ru-RU" sz="1600" dirty="0"/>
              <a:t>их значениями являются цепочки основных символов</a:t>
            </a:r>
          </a:p>
          <a:p>
            <a:pPr marL="857250" lvl="1" indent="-457200">
              <a:buClr>
                <a:schemeClr val="bg2"/>
              </a:buClr>
              <a:buFont typeface="Wingdings" pitchFamily="2" charset="2"/>
              <a:buChar char="v"/>
              <a:defRPr/>
            </a:pPr>
            <a:r>
              <a:rPr lang="ru-RU" sz="1600" dirty="0"/>
              <a:t>изображаются словами (русскими или английскими), заключенными в угловые скобки ( &lt;...&gt; )</a:t>
            </a:r>
          </a:p>
          <a:p>
            <a:pPr marL="457200" indent="-457200">
              <a:buFont typeface="Wingdings" pitchFamily="2" charset="2"/>
              <a:buAutoNum type="arabicPeriod"/>
              <a:defRPr/>
            </a:pPr>
            <a:r>
              <a:rPr lang="ru-RU" sz="1600" i="1" u="sng" dirty="0"/>
              <a:t>Металингвистические связки</a:t>
            </a:r>
          </a:p>
          <a:p>
            <a:pPr marL="857250" lvl="1" indent="-457200">
              <a:buClr>
                <a:schemeClr val="bg2"/>
              </a:buClr>
              <a:buNone/>
              <a:defRPr/>
            </a:pPr>
            <a:r>
              <a:rPr lang="ru-RU" sz="1600" b="1" dirty="0">
                <a:solidFill>
                  <a:srgbClr val="FF0000"/>
                </a:solidFill>
              </a:rPr>
              <a:t>::=</a:t>
            </a:r>
            <a:r>
              <a:rPr lang="ru-RU" sz="1600" b="1" dirty="0"/>
              <a:t> </a:t>
            </a:r>
            <a:r>
              <a:rPr lang="en-US" sz="1600" dirty="0"/>
              <a:t> </a:t>
            </a:r>
            <a:r>
              <a:rPr lang="ru-RU" sz="1600" dirty="0"/>
              <a:t>	символ равенства по определению </a:t>
            </a:r>
          </a:p>
          <a:p>
            <a:pPr marL="857250" lvl="1" indent="-457200">
              <a:buClr>
                <a:schemeClr val="bg2"/>
              </a:buClr>
              <a:buNone/>
              <a:defRPr/>
            </a:pPr>
            <a:r>
              <a:rPr lang="ru-RU" sz="1600" b="1" dirty="0">
                <a:solidFill>
                  <a:srgbClr val="FF0000"/>
                </a:solidFill>
              </a:rPr>
              <a:t>| </a:t>
            </a:r>
            <a:r>
              <a:rPr lang="ru-RU" sz="1600" dirty="0"/>
              <a:t> 	вертикальная черта разделяет альтернативные элементы из списка</a:t>
            </a:r>
          </a:p>
          <a:p>
            <a:pPr marL="857250" lvl="1" indent="-457200">
              <a:buClr>
                <a:schemeClr val="bg2"/>
              </a:buClr>
              <a:buNone/>
              <a:defRPr/>
            </a:pPr>
            <a:r>
              <a:rPr lang="en-US" sz="1600" b="1" dirty="0">
                <a:solidFill>
                  <a:srgbClr val="FF0000"/>
                </a:solidFill>
              </a:rPr>
              <a:t>[ ] </a:t>
            </a:r>
            <a:r>
              <a:rPr lang="ru-RU" sz="1600" b="1" dirty="0">
                <a:solidFill>
                  <a:srgbClr val="FF0000"/>
                </a:solidFill>
              </a:rPr>
              <a:t> 	</a:t>
            </a:r>
            <a:r>
              <a:rPr lang="ru-RU" sz="1600" dirty="0"/>
              <a:t>необязательные элементы заключаются в квадратные скобки</a:t>
            </a:r>
          </a:p>
          <a:p>
            <a:pPr marL="457200" indent="-457200">
              <a:buFont typeface="Wingdings" pitchFamily="2" charset="2"/>
              <a:buChar char="v"/>
              <a:defRPr/>
            </a:pPr>
            <a:endParaRPr lang="ru-RU" sz="1600" dirty="0"/>
          </a:p>
          <a:p>
            <a:pPr marL="457200" indent="-457200">
              <a:buNone/>
              <a:defRPr/>
            </a:pPr>
            <a:r>
              <a:rPr lang="ru-RU" sz="1600" b="1" dirty="0"/>
              <a:t>Примеры описания</a:t>
            </a:r>
          </a:p>
          <a:p>
            <a:pPr marL="0" indent="0">
              <a:buNone/>
              <a:defRPr/>
            </a:pPr>
            <a:r>
              <a:rPr lang="ru-RU" sz="1600" b="1" dirty="0"/>
              <a:t>&lt;</a:t>
            </a:r>
            <a:r>
              <a:rPr lang="ru-RU" sz="1600" dirty="0"/>
              <a:t>условный оператор IF</a:t>
            </a:r>
            <a:r>
              <a:rPr lang="ru-RU" sz="1600" b="1" dirty="0"/>
              <a:t>&gt;</a:t>
            </a:r>
            <a:r>
              <a:rPr lang="ru-RU" sz="1600" dirty="0"/>
              <a:t> </a:t>
            </a:r>
            <a:r>
              <a:rPr lang="ru-RU" sz="1600" b="1" dirty="0"/>
              <a:t>::=</a:t>
            </a:r>
            <a:r>
              <a:rPr lang="ru-RU" sz="1600" dirty="0"/>
              <a:t> 	IF </a:t>
            </a:r>
            <a:r>
              <a:rPr lang="ru-RU" sz="1600" b="1" dirty="0"/>
              <a:t>&lt;</a:t>
            </a:r>
            <a:r>
              <a:rPr lang="ru-RU" sz="1600" dirty="0"/>
              <a:t>булево выражение</a:t>
            </a:r>
            <a:r>
              <a:rPr lang="ru-RU" sz="1600" b="1" dirty="0"/>
              <a:t>&gt;</a:t>
            </a:r>
            <a:r>
              <a:rPr lang="ru-RU" sz="1600" dirty="0"/>
              <a:t>  THEN </a:t>
            </a:r>
            <a:r>
              <a:rPr lang="ru-RU" sz="1600" b="1" dirty="0"/>
              <a:t>&lt;</a:t>
            </a:r>
            <a:r>
              <a:rPr lang="ru-RU" sz="1600" dirty="0"/>
              <a:t>оператор</a:t>
            </a:r>
            <a:r>
              <a:rPr lang="ru-RU" sz="1600" b="1" dirty="0"/>
              <a:t>&gt;</a:t>
            </a:r>
            <a:r>
              <a:rPr lang="ru-RU" sz="1600" dirty="0"/>
              <a:t>  [ELSE </a:t>
            </a:r>
            <a:r>
              <a:rPr lang="ru-RU" sz="1600" b="1" dirty="0"/>
              <a:t>&lt;</a:t>
            </a:r>
            <a:r>
              <a:rPr lang="ru-RU" sz="1600" dirty="0"/>
              <a:t>оператор</a:t>
            </a:r>
            <a:r>
              <a:rPr lang="ru-RU" sz="1600" b="1" dirty="0"/>
              <a:t>&gt;</a:t>
            </a:r>
            <a:r>
              <a:rPr lang="ru-RU" sz="1600" dirty="0"/>
              <a:t>] </a:t>
            </a:r>
            <a:endParaRPr lang="en-US" sz="1600" dirty="0"/>
          </a:p>
          <a:p>
            <a:pPr marL="0" indent="0">
              <a:buNone/>
              <a:defRPr/>
            </a:pPr>
            <a:r>
              <a:rPr lang="ru-RU" sz="1600" b="1" dirty="0"/>
              <a:t>&lt;</a:t>
            </a:r>
            <a:r>
              <a:rPr lang="ru-RU" sz="1600" dirty="0"/>
              <a:t>булево выражение</a:t>
            </a:r>
            <a:r>
              <a:rPr lang="ru-RU" sz="1600" b="1" dirty="0"/>
              <a:t>&gt;</a:t>
            </a:r>
            <a:r>
              <a:rPr lang="ru-RU" sz="1600" dirty="0"/>
              <a:t> </a:t>
            </a:r>
            <a:r>
              <a:rPr lang="ru-RU" sz="1600" b="1" dirty="0"/>
              <a:t>::=</a:t>
            </a:r>
            <a:r>
              <a:rPr lang="ru-RU" sz="1600" dirty="0"/>
              <a:t> </a:t>
            </a:r>
            <a:r>
              <a:rPr lang="ru-RU" sz="1600" b="1" dirty="0"/>
              <a:t>&lt;</a:t>
            </a:r>
            <a:r>
              <a:rPr lang="ru-RU" sz="1600" dirty="0"/>
              <a:t>булево выражение</a:t>
            </a:r>
            <a:r>
              <a:rPr lang="ru-RU" sz="1600" b="1" dirty="0"/>
              <a:t>&gt;</a:t>
            </a:r>
            <a:r>
              <a:rPr lang="ru-RU" sz="1600" dirty="0"/>
              <a:t> </a:t>
            </a:r>
            <a:r>
              <a:rPr lang="ru-RU" sz="1600" b="1" dirty="0"/>
              <a:t>&lt;</a:t>
            </a:r>
            <a:r>
              <a:rPr lang="ru-RU" sz="1600" dirty="0"/>
              <a:t>логический оператор</a:t>
            </a:r>
            <a:r>
              <a:rPr lang="ru-RU" sz="1600" b="1" dirty="0"/>
              <a:t>&gt;</a:t>
            </a:r>
            <a:r>
              <a:rPr lang="ru-RU" sz="1600" dirty="0"/>
              <a:t> </a:t>
            </a:r>
            <a:r>
              <a:rPr lang="ru-RU" sz="1600" b="1" dirty="0"/>
              <a:t>&lt;</a:t>
            </a:r>
            <a:r>
              <a:rPr lang="ru-RU" sz="1600" dirty="0"/>
              <a:t>булево выражение</a:t>
            </a:r>
            <a:r>
              <a:rPr lang="ru-RU" sz="1600" b="1" dirty="0"/>
              <a:t>&gt;</a:t>
            </a:r>
            <a:endParaRPr lang="en-US" sz="1600" b="1" dirty="0"/>
          </a:p>
          <a:p>
            <a:pPr marL="0" indent="0">
              <a:buNone/>
              <a:defRPr/>
            </a:pPr>
            <a:r>
              <a:rPr lang="ru-RU" sz="1600" b="1" dirty="0"/>
              <a:t>		         |</a:t>
            </a:r>
            <a:r>
              <a:rPr lang="ru-RU" sz="1600" dirty="0"/>
              <a:t> </a:t>
            </a:r>
            <a:r>
              <a:rPr lang="ru-RU" sz="1600" b="1" dirty="0"/>
              <a:t>&lt;</a:t>
            </a:r>
            <a:r>
              <a:rPr lang="ru-RU" sz="1600" dirty="0"/>
              <a:t>выражение</a:t>
            </a:r>
            <a:r>
              <a:rPr lang="ru-RU" sz="1600" b="1" dirty="0"/>
              <a:t>&gt;</a:t>
            </a:r>
            <a:r>
              <a:rPr lang="ru-RU" sz="1600" dirty="0"/>
              <a:t> </a:t>
            </a:r>
            <a:r>
              <a:rPr lang="ru-RU" sz="1600" b="1" dirty="0"/>
              <a:t>&lt;</a:t>
            </a:r>
            <a:r>
              <a:rPr lang="ru-RU" sz="1600" dirty="0"/>
              <a:t>арифметический оператор</a:t>
            </a:r>
            <a:r>
              <a:rPr lang="ru-RU" sz="1600" b="1" dirty="0"/>
              <a:t>&gt;</a:t>
            </a:r>
            <a:r>
              <a:rPr lang="ru-RU" sz="1600" dirty="0"/>
              <a:t> </a:t>
            </a:r>
            <a:r>
              <a:rPr lang="ru-RU" sz="1600" b="1" dirty="0"/>
              <a:t>&lt;</a:t>
            </a:r>
            <a:r>
              <a:rPr lang="ru-RU" sz="1600" dirty="0"/>
              <a:t>выражение</a:t>
            </a:r>
            <a:r>
              <a:rPr lang="ru-RU" sz="1600" b="1" dirty="0"/>
              <a:t>&gt;</a:t>
            </a:r>
            <a:r>
              <a:rPr lang="ru-RU" sz="1600" dirty="0"/>
              <a:t> </a:t>
            </a:r>
          </a:p>
          <a:p>
            <a:pPr marL="0" indent="0">
              <a:buNone/>
              <a:defRPr/>
            </a:pPr>
            <a:r>
              <a:rPr lang="ru-RU" sz="1600" b="1" dirty="0"/>
              <a:t>&lt;</a:t>
            </a:r>
            <a:r>
              <a:rPr lang="ru-RU" sz="1600" dirty="0"/>
              <a:t>логический оператор</a:t>
            </a:r>
            <a:r>
              <a:rPr lang="ru-RU" sz="1600" b="1" dirty="0"/>
              <a:t>&gt;</a:t>
            </a:r>
            <a:r>
              <a:rPr lang="ru-RU" sz="1600" dirty="0"/>
              <a:t> </a:t>
            </a:r>
            <a:r>
              <a:rPr lang="ru-RU" sz="1600" b="1" dirty="0"/>
              <a:t>::= </a:t>
            </a:r>
            <a:r>
              <a:rPr lang="en-US" sz="1600" b="1" dirty="0"/>
              <a:t>AND | OR | NOT</a:t>
            </a:r>
            <a:endParaRPr lang="ru-RU" sz="1600" dirty="0"/>
          </a:p>
          <a:p>
            <a:pPr marL="0" indent="0">
              <a:buNone/>
              <a:defRPr/>
            </a:pPr>
            <a:r>
              <a:rPr lang="ru-RU" sz="1600" b="1" dirty="0"/>
              <a:t>&lt;</a:t>
            </a:r>
            <a:r>
              <a:rPr lang="ru-RU" sz="1600" dirty="0"/>
              <a:t>арифметический оператор </a:t>
            </a:r>
            <a:r>
              <a:rPr lang="ru-RU" sz="1600" b="1" dirty="0"/>
              <a:t>::=</a:t>
            </a:r>
            <a:r>
              <a:rPr lang="ru-RU" sz="1600" dirty="0"/>
              <a:t> </a:t>
            </a:r>
            <a:r>
              <a:rPr lang="ru-RU" sz="1600" b="1" dirty="0"/>
              <a:t>&lt; | &gt;</a:t>
            </a:r>
            <a:r>
              <a:rPr lang="ru-RU" sz="1600" dirty="0"/>
              <a:t> </a:t>
            </a:r>
            <a:r>
              <a:rPr lang="ru-RU" sz="1600" b="1" dirty="0"/>
              <a:t>|</a:t>
            </a:r>
            <a:r>
              <a:rPr lang="ru-RU" sz="1600" dirty="0"/>
              <a:t> </a:t>
            </a:r>
            <a:r>
              <a:rPr lang="ru-RU" sz="1600" b="1" dirty="0"/>
              <a:t>=</a:t>
            </a:r>
            <a:r>
              <a:rPr lang="ru-RU" sz="1600" dirty="0"/>
              <a:t> </a:t>
            </a:r>
            <a:r>
              <a:rPr lang="en-US" sz="1600" dirty="0"/>
              <a:t> | </a:t>
            </a:r>
            <a:r>
              <a:rPr lang="ru-RU" sz="1600" dirty="0"/>
              <a:t>…</a:t>
            </a:r>
          </a:p>
          <a:p>
            <a:pPr marL="0" indent="0">
              <a:buNone/>
              <a:defRPr/>
            </a:pPr>
            <a:r>
              <a:rPr lang="ru-RU" sz="1600" b="1" dirty="0"/>
              <a:t>&lt;</a:t>
            </a:r>
            <a:r>
              <a:rPr lang="ru-RU" sz="1600" dirty="0"/>
              <a:t>выражение</a:t>
            </a:r>
            <a:r>
              <a:rPr lang="ru-RU" sz="1600" b="1" dirty="0"/>
              <a:t>&gt;</a:t>
            </a:r>
            <a:r>
              <a:rPr lang="ru-RU" sz="1600" dirty="0"/>
              <a:t> </a:t>
            </a:r>
            <a:r>
              <a:rPr lang="ru-RU" sz="1600" b="1" dirty="0"/>
              <a:t>::=</a:t>
            </a:r>
            <a:r>
              <a:rPr lang="ru-RU" sz="1600" dirty="0"/>
              <a:t> </a:t>
            </a:r>
            <a:r>
              <a:rPr lang="ru-RU" sz="1600" b="1" dirty="0"/>
              <a:t>&lt;</a:t>
            </a:r>
            <a:r>
              <a:rPr lang="ru-RU" sz="1600" dirty="0"/>
              <a:t>переменная</a:t>
            </a:r>
            <a:r>
              <a:rPr lang="ru-RU" sz="1600" b="1" dirty="0"/>
              <a:t>&gt;</a:t>
            </a:r>
            <a:r>
              <a:rPr lang="ru-RU" sz="1600" dirty="0"/>
              <a:t> </a:t>
            </a:r>
            <a:r>
              <a:rPr lang="ru-RU" sz="1600" b="1" dirty="0"/>
              <a:t>|</a:t>
            </a:r>
            <a:r>
              <a:rPr lang="ru-RU" sz="1600" dirty="0"/>
              <a:t> </a:t>
            </a:r>
            <a:r>
              <a:rPr lang="ru-RU" sz="1600" b="1" dirty="0"/>
              <a:t>&lt;</a:t>
            </a:r>
            <a:r>
              <a:rPr lang="ru-RU" sz="1600" dirty="0"/>
              <a:t>строка</a:t>
            </a:r>
            <a:r>
              <a:rPr lang="ru-RU" sz="1600" b="1" dirty="0"/>
              <a:t>&gt;</a:t>
            </a:r>
            <a:r>
              <a:rPr lang="ru-RU" sz="1600" dirty="0"/>
              <a:t> </a:t>
            </a:r>
            <a:r>
              <a:rPr lang="ru-RU" sz="1600" b="1" dirty="0"/>
              <a:t>|</a:t>
            </a:r>
            <a:r>
              <a:rPr lang="ru-RU" sz="1600" dirty="0"/>
              <a:t> </a:t>
            </a:r>
            <a:r>
              <a:rPr lang="ru-RU" sz="1600" b="1" dirty="0"/>
              <a:t>&lt;</a:t>
            </a:r>
            <a:r>
              <a:rPr lang="ru-RU" sz="1600" dirty="0"/>
              <a:t>символ</a:t>
            </a:r>
            <a:r>
              <a:rPr lang="ru-RU" sz="1600" b="1" dirty="0"/>
              <a:t>&gt;</a:t>
            </a:r>
            <a:endParaRPr lang="en-US" sz="1600"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8</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up)">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up)">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up)">
                                      <p:cBhvr>
                                        <p:cTn id="17" dur="500"/>
                                        <p:tgtEl>
                                          <p:spTgt spid="8195">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8195">
                                            <p:txEl>
                                              <p:pRg st="3" end="3"/>
                                            </p:txEl>
                                          </p:spTgt>
                                        </p:tgtEl>
                                        <p:attrNameLst>
                                          <p:attrName>style.visibility</p:attrName>
                                        </p:attrNameLst>
                                      </p:cBhvr>
                                      <p:to>
                                        <p:strVal val="visible"/>
                                      </p:to>
                                    </p:set>
                                    <p:animEffect transition="in" filter="wipe(up)">
                                      <p:cBhvr>
                                        <p:cTn id="20" dur="500"/>
                                        <p:tgtEl>
                                          <p:spTgt spid="8195">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animEffect transition="in" filter="wipe(up)">
                                      <p:cBhvr>
                                        <p:cTn id="23" dur="500"/>
                                        <p:tgtEl>
                                          <p:spTgt spid="8195">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8195">
                                            <p:txEl>
                                              <p:pRg st="5" end="5"/>
                                            </p:txEl>
                                          </p:spTgt>
                                        </p:tgtEl>
                                        <p:attrNameLst>
                                          <p:attrName>style.visibility</p:attrName>
                                        </p:attrNameLst>
                                      </p:cBhvr>
                                      <p:to>
                                        <p:strVal val="visible"/>
                                      </p:to>
                                    </p:set>
                                    <p:animEffect transition="in" filter="wipe(up)">
                                      <p:cBhvr>
                                        <p:cTn id="26" dur="500"/>
                                        <p:tgtEl>
                                          <p:spTgt spid="819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animEffect transition="in" filter="wipe(up)">
                                      <p:cBhvr>
                                        <p:cTn id="31" dur="500"/>
                                        <p:tgtEl>
                                          <p:spTgt spid="8195">
                                            <p:txEl>
                                              <p:pRg st="7" end="7"/>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8195">
                                            <p:txEl>
                                              <p:pRg st="8" end="8"/>
                                            </p:txEl>
                                          </p:spTgt>
                                        </p:tgtEl>
                                        <p:attrNameLst>
                                          <p:attrName>style.visibility</p:attrName>
                                        </p:attrNameLst>
                                      </p:cBhvr>
                                      <p:to>
                                        <p:strVal val="visible"/>
                                      </p:to>
                                    </p:set>
                                    <p:animEffect transition="in" filter="wipe(up)">
                                      <p:cBhvr>
                                        <p:cTn id="34" dur="500"/>
                                        <p:tgtEl>
                                          <p:spTgt spid="8195">
                                            <p:txEl>
                                              <p:pRg st="8" end="8"/>
                                            </p:txEl>
                                          </p:spTgt>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8195">
                                            <p:txEl>
                                              <p:pRg st="9" end="9"/>
                                            </p:txEl>
                                          </p:spTgt>
                                        </p:tgtEl>
                                        <p:attrNameLst>
                                          <p:attrName>style.visibility</p:attrName>
                                        </p:attrNameLst>
                                      </p:cBhvr>
                                      <p:to>
                                        <p:strVal val="visible"/>
                                      </p:to>
                                    </p:set>
                                    <p:animEffect transition="in" filter="wipe(up)">
                                      <p:cBhvr>
                                        <p:cTn id="37" dur="500"/>
                                        <p:tgtEl>
                                          <p:spTgt spid="8195">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8195">
                                            <p:txEl>
                                              <p:pRg st="10" end="10"/>
                                            </p:txEl>
                                          </p:spTgt>
                                        </p:tgtEl>
                                        <p:attrNameLst>
                                          <p:attrName>style.visibility</p:attrName>
                                        </p:attrNameLst>
                                      </p:cBhvr>
                                      <p:to>
                                        <p:strVal val="visible"/>
                                      </p:to>
                                    </p:set>
                                    <p:animEffect transition="in" filter="wipe(up)">
                                      <p:cBhvr>
                                        <p:cTn id="42" dur="500"/>
                                        <p:tgtEl>
                                          <p:spTgt spid="8195">
                                            <p:txEl>
                                              <p:pRg st="10" end="10"/>
                                            </p:txEl>
                                          </p:spTgt>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195">
                                            <p:txEl>
                                              <p:pRg st="11" end="11"/>
                                            </p:txEl>
                                          </p:spTgt>
                                        </p:tgtEl>
                                        <p:attrNameLst>
                                          <p:attrName>style.visibility</p:attrName>
                                        </p:attrNameLst>
                                      </p:cBhvr>
                                      <p:to>
                                        <p:strVal val="visible"/>
                                      </p:to>
                                    </p:set>
                                    <p:animEffect transition="in" filter="wipe(up)">
                                      <p:cBhvr>
                                        <p:cTn id="45" dur="500"/>
                                        <p:tgtEl>
                                          <p:spTgt spid="8195">
                                            <p:txEl>
                                              <p:pRg st="11" end="11"/>
                                            </p:txEl>
                                          </p:spTgt>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8195">
                                            <p:txEl>
                                              <p:pRg st="12" end="12"/>
                                            </p:txEl>
                                          </p:spTgt>
                                        </p:tgtEl>
                                        <p:attrNameLst>
                                          <p:attrName>style.visibility</p:attrName>
                                        </p:attrNameLst>
                                      </p:cBhvr>
                                      <p:to>
                                        <p:strVal val="visible"/>
                                      </p:to>
                                    </p:set>
                                    <p:animEffect transition="in" filter="wipe(up)">
                                      <p:cBhvr>
                                        <p:cTn id="48" dur="500"/>
                                        <p:tgtEl>
                                          <p:spTgt spid="8195">
                                            <p:txEl>
                                              <p:pRg st="12" end="12"/>
                                            </p:txEl>
                                          </p:spTgt>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8195">
                                            <p:txEl>
                                              <p:pRg st="13" end="13"/>
                                            </p:txEl>
                                          </p:spTgt>
                                        </p:tgtEl>
                                        <p:attrNameLst>
                                          <p:attrName>style.visibility</p:attrName>
                                        </p:attrNameLst>
                                      </p:cBhvr>
                                      <p:to>
                                        <p:strVal val="visible"/>
                                      </p:to>
                                    </p:set>
                                    <p:animEffect transition="in" filter="wipe(up)">
                                      <p:cBhvr>
                                        <p:cTn id="51" dur="500"/>
                                        <p:tgtEl>
                                          <p:spTgt spid="8195">
                                            <p:txEl>
                                              <p:pRg st="13" end="1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8195">
                                            <p:txEl>
                                              <p:pRg st="15" end="15"/>
                                            </p:txEl>
                                          </p:spTgt>
                                        </p:tgtEl>
                                        <p:attrNameLst>
                                          <p:attrName>style.visibility</p:attrName>
                                        </p:attrNameLst>
                                      </p:cBhvr>
                                      <p:to>
                                        <p:strVal val="visible"/>
                                      </p:to>
                                    </p:set>
                                    <p:animEffect transition="in" filter="wipe(up)">
                                      <p:cBhvr>
                                        <p:cTn id="56" dur="500"/>
                                        <p:tgtEl>
                                          <p:spTgt spid="8195">
                                            <p:txEl>
                                              <p:pRg st="15" end="1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8195">
                                            <p:txEl>
                                              <p:pRg st="16" end="16"/>
                                            </p:txEl>
                                          </p:spTgt>
                                        </p:tgtEl>
                                        <p:attrNameLst>
                                          <p:attrName>style.visibility</p:attrName>
                                        </p:attrNameLst>
                                      </p:cBhvr>
                                      <p:to>
                                        <p:strVal val="visible"/>
                                      </p:to>
                                    </p:set>
                                    <p:animEffect transition="in" filter="wipe(up)">
                                      <p:cBhvr>
                                        <p:cTn id="61" dur="500"/>
                                        <p:tgtEl>
                                          <p:spTgt spid="8195">
                                            <p:txEl>
                                              <p:pRg st="16" end="16"/>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8195">
                                            <p:txEl>
                                              <p:pRg st="17" end="17"/>
                                            </p:txEl>
                                          </p:spTgt>
                                        </p:tgtEl>
                                        <p:attrNameLst>
                                          <p:attrName>style.visibility</p:attrName>
                                        </p:attrNameLst>
                                      </p:cBhvr>
                                      <p:to>
                                        <p:strVal val="visible"/>
                                      </p:to>
                                    </p:set>
                                    <p:animEffect transition="in" filter="wipe(up)">
                                      <p:cBhvr>
                                        <p:cTn id="66" dur="500"/>
                                        <p:tgtEl>
                                          <p:spTgt spid="8195">
                                            <p:txEl>
                                              <p:pRg st="17" end="17"/>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8195">
                                            <p:txEl>
                                              <p:pRg st="18" end="18"/>
                                            </p:txEl>
                                          </p:spTgt>
                                        </p:tgtEl>
                                        <p:attrNameLst>
                                          <p:attrName>style.visibility</p:attrName>
                                        </p:attrNameLst>
                                      </p:cBhvr>
                                      <p:to>
                                        <p:strVal val="visible"/>
                                      </p:to>
                                    </p:set>
                                    <p:animEffect transition="in" filter="wipe(up)">
                                      <p:cBhvr>
                                        <p:cTn id="71" dur="500"/>
                                        <p:tgtEl>
                                          <p:spTgt spid="8195">
                                            <p:txEl>
                                              <p:pRg st="18" end="1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8195">
                                            <p:txEl>
                                              <p:pRg st="19" end="19"/>
                                            </p:txEl>
                                          </p:spTgt>
                                        </p:tgtEl>
                                        <p:attrNameLst>
                                          <p:attrName>style.visibility</p:attrName>
                                        </p:attrNameLst>
                                      </p:cBhvr>
                                      <p:to>
                                        <p:strVal val="visible"/>
                                      </p:to>
                                    </p:set>
                                    <p:animEffect transition="in" filter="wipe(up)">
                                      <p:cBhvr>
                                        <p:cTn id="76" dur="500"/>
                                        <p:tgtEl>
                                          <p:spTgt spid="8195">
                                            <p:txEl>
                                              <p:pRg st="19" end="19"/>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8195">
                                            <p:txEl>
                                              <p:pRg st="20" end="20"/>
                                            </p:txEl>
                                          </p:spTgt>
                                        </p:tgtEl>
                                        <p:attrNameLst>
                                          <p:attrName>style.visibility</p:attrName>
                                        </p:attrNameLst>
                                      </p:cBhvr>
                                      <p:to>
                                        <p:strVal val="visible"/>
                                      </p:to>
                                    </p:set>
                                    <p:animEffect transition="in" filter="wipe(up)">
                                      <p:cBhvr>
                                        <p:cTn id="81" dur="500"/>
                                        <p:tgtEl>
                                          <p:spTgt spid="8195">
                                            <p:txEl>
                                              <p:pRg st="20" end="2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8195">
                                            <p:txEl>
                                              <p:pRg st="21" end="21"/>
                                            </p:txEl>
                                          </p:spTgt>
                                        </p:tgtEl>
                                        <p:attrNameLst>
                                          <p:attrName>style.visibility</p:attrName>
                                        </p:attrNameLst>
                                      </p:cBhvr>
                                      <p:to>
                                        <p:strVal val="visible"/>
                                      </p:to>
                                    </p:set>
                                    <p:animEffect transition="in" filter="wipe(up)">
                                      <p:cBhvr>
                                        <p:cTn id="86" dur="500"/>
                                        <p:tgtEl>
                                          <p:spTgt spid="8195">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08050" y="333375"/>
            <a:ext cx="7264400" cy="574675"/>
          </a:xfrm>
        </p:spPr>
        <p:txBody>
          <a:bodyPr/>
          <a:lstStyle/>
          <a:p>
            <a:pPr algn="ctr" eaLnBrk="1" hangingPunct="1"/>
            <a:r>
              <a:rPr lang="ru-RU" sz="3600" dirty="0">
                <a:solidFill>
                  <a:schemeClr val="bg2"/>
                </a:solidFill>
              </a:rPr>
              <a:t>Обозначения (2) </a:t>
            </a:r>
          </a:p>
        </p:txBody>
      </p:sp>
      <p:sp>
        <p:nvSpPr>
          <p:cNvPr id="8195" name="Rectangle 3"/>
          <p:cNvSpPr>
            <a:spLocks noGrp="1" noChangeArrowheads="1"/>
          </p:cNvSpPr>
          <p:nvPr>
            <p:ph type="body" idx="1"/>
          </p:nvPr>
        </p:nvSpPr>
        <p:spPr>
          <a:xfrm>
            <a:off x="161510" y="908050"/>
            <a:ext cx="8775974" cy="5797549"/>
          </a:xfrm>
        </p:spPr>
        <p:txBody>
          <a:bodyPr>
            <a:normAutofit fontScale="92500" lnSpcReduction="20000"/>
          </a:bodyPr>
          <a:lstStyle/>
          <a:p>
            <a:pPr>
              <a:buNone/>
            </a:pPr>
            <a:r>
              <a:rPr lang="ru-RU" sz="1800" b="1" i="1" dirty="0"/>
              <a:t>Графическое представление</a:t>
            </a:r>
            <a:r>
              <a:rPr lang="ru-RU" sz="1800" b="1" dirty="0"/>
              <a:t> </a:t>
            </a:r>
            <a:r>
              <a:rPr lang="ru-RU" sz="1800" dirty="0"/>
              <a:t>. </a:t>
            </a:r>
          </a:p>
          <a:p>
            <a:r>
              <a:rPr lang="ru-RU" sz="1800" dirty="0"/>
              <a:t>Такое </a:t>
            </a:r>
            <a:r>
              <a:rPr lang="ru-RU" sz="1800" i="1" dirty="0"/>
              <a:t>представление</a:t>
            </a:r>
            <a:r>
              <a:rPr lang="ru-RU" sz="1800" dirty="0"/>
              <a:t> известно как синтаксические диаграммы (</a:t>
            </a:r>
            <a:r>
              <a:rPr lang="ru-RU" sz="1800" i="1" dirty="0" err="1"/>
              <a:t>syntax</a:t>
            </a:r>
            <a:r>
              <a:rPr lang="ru-RU" sz="1800" dirty="0"/>
              <a:t> </a:t>
            </a:r>
            <a:r>
              <a:rPr lang="ru-RU" sz="1800" dirty="0" err="1"/>
              <a:t>diagrams</a:t>
            </a:r>
            <a:r>
              <a:rPr lang="ru-RU" sz="1800" dirty="0"/>
              <a:t>) или синтаксические схемы (</a:t>
            </a:r>
            <a:r>
              <a:rPr lang="ru-RU" sz="1800" i="1" dirty="0" err="1"/>
              <a:t>syntax</a:t>
            </a:r>
            <a:r>
              <a:rPr lang="ru-RU" sz="1800" dirty="0"/>
              <a:t> </a:t>
            </a:r>
            <a:r>
              <a:rPr lang="ru-RU" sz="1800" dirty="0" err="1"/>
              <a:t>charts</a:t>
            </a:r>
            <a:r>
              <a:rPr lang="ru-RU" sz="1800" dirty="0"/>
              <a:t>). </a:t>
            </a:r>
          </a:p>
          <a:p>
            <a:r>
              <a:rPr lang="ru-RU" sz="1800" dirty="0"/>
              <a:t>Они использовались для определения синтаксиса языков </a:t>
            </a:r>
            <a:r>
              <a:rPr lang="ru-RU" sz="1800" i="1" dirty="0" err="1"/>
              <a:t>Pascal</a:t>
            </a:r>
            <a:r>
              <a:rPr lang="ru-RU" sz="1800" dirty="0"/>
              <a:t>, Modula-2. Имеют форму блок-схем (</a:t>
            </a:r>
            <a:r>
              <a:rPr lang="ru-RU" sz="1800" i="1" dirty="0" err="1"/>
              <a:t>flow</a:t>
            </a:r>
            <a:r>
              <a:rPr lang="ru-RU" sz="1800" dirty="0"/>
              <a:t> </a:t>
            </a:r>
            <a:r>
              <a:rPr lang="ru-RU" sz="1800" i="1" dirty="0" err="1"/>
              <a:t>diagram</a:t>
            </a:r>
            <a:r>
              <a:rPr lang="ru-RU" sz="1800" dirty="0"/>
              <a:t>).</a:t>
            </a:r>
          </a:p>
          <a:p>
            <a:pPr>
              <a:buNone/>
            </a:pPr>
            <a:r>
              <a:rPr lang="ru-RU" sz="1800" b="1" u="sng" dirty="0"/>
              <a:t>Пример</a:t>
            </a:r>
            <a:r>
              <a:rPr lang="ru-RU" sz="1800" u="sng" dirty="0"/>
              <a:t>.</a:t>
            </a:r>
            <a:r>
              <a:rPr lang="ru-RU" sz="1800" dirty="0"/>
              <a:t> Описание идентификатора</a:t>
            </a:r>
          </a:p>
          <a:p>
            <a:endParaRPr lang="ru-RU" sz="1800" dirty="0"/>
          </a:p>
          <a:p>
            <a:endParaRPr lang="ru-RU" sz="1800" dirty="0"/>
          </a:p>
          <a:p>
            <a:endParaRPr lang="ru-RU" sz="1800" dirty="0"/>
          </a:p>
          <a:p>
            <a:endParaRPr lang="ru-RU" sz="1800" dirty="0"/>
          </a:p>
          <a:p>
            <a:pPr marL="0" indent="0">
              <a:buNone/>
            </a:pPr>
            <a:endParaRPr lang="ru-RU" sz="1800" dirty="0"/>
          </a:p>
          <a:p>
            <a:pPr marL="0" indent="0">
              <a:buNone/>
            </a:pPr>
            <a:endParaRPr lang="en-US" sz="1800" dirty="0"/>
          </a:p>
          <a:p>
            <a:pPr marL="0" indent="0">
              <a:buNone/>
            </a:pPr>
            <a:endParaRPr lang="en-US" sz="1800" dirty="0"/>
          </a:p>
          <a:p>
            <a:pPr marL="0" indent="0">
              <a:buNone/>
            </a:pPr>
            <a:endParaRPr lang="ru-RU" sz="1800" dirty="0"/>
          </a:p>
          <a:p>
            <a:pPr marL="0" indent="0">
              <a:buNone/>
            </a:pPr>
            <a:r>
              <a:rPr lang="ru-RU" sz="1800" b="1" dirty="0"/>
              <a:t>Сравнить с записью в БНФ</a:t>
            </a:r>
            <a:endParaRPr lang="en-US" sz="1800" b="1" dirty="0"/>
          </a:p>
          <a:p>
            <a:r>
              <a:rPr lang="ru-RU" sz="1800" b="1" dirty="0"/>
              <a:t>&lt;</a:t>
            </a:r>
            <a:r>
              <a:rPr lang="en-US" sz="1800" dirty="0"/>
              <a:t>Identifier</a:t>
            </a:r>
            <a:r>
              <a:rPr lang="ru-RU" sz="1800" b="1" dirty="0"/>
              <a:t>&gt;</a:t>
            </a:r>
            <a:r>
              <a:rPr lang="ru-RU" sz="1800" dirty="0"/>
              <a:t> </a:t>
            </a:r>
            <a:r>
              <a:rPr lang="ru-RU" sz="1800" b="1" dirty="0"/>
              <a:t>::=</a:t>
            </a:r>
            <a:r>
              <a:rPr lang="ru-RU" sz="1800" dirty="0"/>
              <a:t> </a:t>
            </a:r>
            <a:r>
              <a:rPr lang="ru-RU" sz="1800" b="1" dirty="0"/>
              <a:t>&lt;</a:t>
            </a:r>
            <a:r>
              <a:rPr lang="en-US" sz="1800" dirty="0"/>
              <a:t>Letter</a:t>
            </a:r>
            <a:r>
              <a:rPr lang="ru-RU" sz="1800" b="1" dirty="0"/>
              <a:t>&gt;</a:t>
            </a:r>
            <a:r>
              <a:rPr lang="ru-RU" sz="1800" dirty="0"/>
              <a:t> </a:t>
            </a:r>
            <a:r>
              <a:rPr lang="ru-RU" sz="1800" b="1" dirty="0"/>
              <a:t>&lt;</a:t>
            </a:r>
            <a:r>
              <a:rPr lang="en-US" sz="1800" dirty="0"/>
              <a:t>Suffix</a:t>
            </a:r>
            <a:r>
              <a:rPr lang="ru-RU" sz="1800" b="1" dirty="0"/>
              <a:t>&gt;</a:t>
            </a:r>
            <a:r>
              <a:rPr lang="ru-RU" sz="1800" dirty="0"/>
              <a:t> </a:t>
            </a:r>
            <a:endParaRPr lang="en-US" sz="1800" dirty="0"/>
          </a:p>
          <a:p>
            <a:r>
              <a:rPr lang="ru-RU" sz="1800" b="1" dirty="0"/>
              <a:t>&lt;</a:t>
            </a:r>
            <a:r>
              <a:rPr lang="en-US" sz="1800" dirty="0"/>
              <a:t>Suffix</a:t>
            </a:r>
            <a:r>
              <a:rPr lang="ru-RU" sz="1800" b="1" dirty="0"/>
              <a:t>&gt;</a:t>
            </a:r>
            <a:r>
              <a:rPr lang="en-US" sz="1800" b="1" dirty="0"/>
              <a:t> </a:t>
            </a:r>
            <a:r>
              <a:rPr lang="ru-RU" sz="1800" b="1" dirty="0"/>
              <a:t>::=</a:t>
            </a:r>
            <a:r>
              <a:rPr lang="ru-RU" sz="1800" dirty="0"/>
              <a:t> </a:t>
            </a:r>
            <a:r>
              <a:rPr lang="ru-RU" sz="1800" b="1" dirty="0"/>
              <a:t>&lt;</a:t>
            </a:r>
            <a:r>
              <a:rPr lang="en-US" sz="1800" dirty="0"/>
              <a:t>Letter</a:t>
            </a:r>
            <a:r>
              <a:rPr lang="ru-RU" sz="1800" b="1" dirty="0"/>
              <a:t>&gt;</a:t>
            </a:r>
            <a:r>
              <a:rPr lang="ru-RU" sz="1800" dirty="0"/>
              <a:t> </a:t>
            </a:r>
            <a:r>
              <a:rPr lang="ru-RU" sz="1800" b="1" dirty="0"/>
              <a:t>&lt;</a:t>
            </a:r>
            <a:r>
              <a:rPr lang="en-US" sz="1800" dirty="0"/>
              <a:t>Suffix</a:t>
            </a:r>
            <a:r>
              <a:rPr lang="ru-RU" sz="1800" b="1" dirty="0"/>
              <a:t>&gt;</a:t>
            </a:r>
            <a:r>
              <a:rPr lang="ru-RU" sz="1800" dirty="0"/>
              <a:t> </a:t>
            </a:r>
            <a:r>
              <a:rPr lang="en-US" sz="1800" dirty="0"/>
              <a:t>| </a:t>
            </a:r>
            <a:r>
              <a:rPr lang="ru-RU" sz="1800" b="1" dirty="0"/>
              <a:t>&lt;</a:t>
            </a:r>
            <a:r>
              <a:rPr lang="en-US" sz="1800" dirty="0"/>
              <a:t>Digit</a:t>
            </a:r>
            <a:r>
              <a:rPr lang="ru-RU" sz="1800" b="1" dirty="0"/>
              <a:t>&gt;&lt;</a:t>
            </a:r>
            <a:r>
              <a:rPr lang="en-US" sz="1800" dirty="0"/>
              <a:t>Suffix</a:t>
            </a:r>
            <a:r>
              <a:rPr lang="ru-RU" sz="1800" b="1" dirty="0"/>
              <a:t>&gt;</a:t>
            </a:r>
            <a:r>
              <a:rPr lang="en-US" sz="1800" b="1" dirty="0"/>
              <a:t>| </a:t>
            </a:r>
            <a:r>
              <a:rPr lang="ru-RU" sz="1800" b="1" dirty="0"/>
              <a:t>&lt;</a:t>
            </a:r>
            <a:r>
              <a:rPr lang="en-US" sz="1800" dirty="0"/>
              <a:t>Letter</a:t>
            </a:r>
            <a:r>
              <a:rPr lang="ru-RU" sz="1800" b="1" dirty="0"/>
              <a:t>&gt;</a:t>
            </a:r>
            <a:r>
              <a:rPr lang="ru-RU" sz="1800" dirty="0"/>
              <a:t> </a:t>
            </a:r>
            <a:r>
              <a:rPr lang="en-US" sz="1800" dirty="0"/>
              <a:t>| </a:t>
            </a:r>
            <a:r>
              <a:rPr lang="ru-RU" sz="1800" b="1" dirty="0"/>
              <a:t>&lt;</a:t>
            </a:r>
            <a:r>
              <a:rPr lang="en-US" sz="1800" dirty="0"/>
              <a:t>Digit</a:t>
            </a:r>
            <a:r>
              <a:rPr lang="ru-RU" sz="1800" b="1" dirty="0"/>
              <a:t>&gt;</a:t>
            </a:r>
            <a:endParaRPr lang="en-US" sz="1800" b="1" dirty="0"/>
          </a:p>
          <a:p>
            <a:r>
              <a:rPr lang="ru-RU" sz="1800" b="1" dirty="0"/>
              <a:t>&lt;</a:t>
            </a:r>
            <a:r>
              <a:rPr lang="en-US" sz="1800" dirty="0"/>
              <a:t>Letter</a:t>
            </a:r>
            <a:r>
              <a:rPr lang="ru-RU" sz="1800" b="1" dirty="0"/>
              <a:t>&gt;</a:t>
            </a:r>
            <a:r>
              <a:rPr lang="en-US" sz="1800" b="1" dirty="0"/>
              <a:t> </a:t>
            </a:r>
            <a:r>
              <a:rPr lang="ru-RU" sz="1800" b="1" dirty="0"/>
              <a:t>::=</a:t>
            </a:r>
            <a:r>
              <a:rPr lang="en-US" sz="1800" b="1" dirty="0"/>
              <a:t> </a:t>
            </a:r>
            <a:r>
              <a:rPr lang="en-US" sz="1800" dirty="0"/>
              <a:t>&lt;English Alphabet&gt;| &lt;Russian Alphabet&gt; | &lt;Sings&gt;</a:t>
            </a:r>
          </a:p>
          <a:p>
            <a:r>
              <a:rPr lang="en-US" sz="1800" dirty="0"/>
              <a:t>&lt;English Alphabet&gt; </a:t>
            </a:r>
            <a:r>
              <a:rPr lang="ru-RU" sz="1800" b="1" dirty="0"/>
              <a:t>::=</a:t>
            </a:r>
            <a:r>
              <a:rPr lang="en-US" sz="1800" dirty="0"/>
              <a:t> </a:t>
            </a:r>
            <a:r>
              <a:rPr lang="en-US" sz="1800" b="1" dirty="0"/>
              <a:t>A|B|C|D|E|F|G|H|I|J|K|L|M|</a:t>
            </a:r>
            <a:r>
              <a:rPr lang="ru-RU" sz="1800" b="1" dirty="0"/>
              <a:t>…</a:t>
            </a:r>
            <a:endParaRPr lang="en-US" sz="1800" b="1" dirty="0"/>
          </a:p>
          <a:p>
            <a:r>
              <a:rPr lang="en-US" sz="1800" dirty="0"/>
              <a:t>&lt;Russian Alphabet&gt;</a:t>
            </a:r>
            <a:r>
              <a:rPr lang="en-US" sz="1800" b="1" dirty="0"/>
              <a:t>::= </a:t>
            </a:r>
            <a:r>
              <a:rPr lang="ru-RU" sz="1800" b="1" dirty="0"/>
              <a:t>А</a:t>
            </a:r>
            <a:r>
              <a:rPr lang="en-US" sz="1800" b="1" dirty="0"/>
              <a:t>|</a:t>
            </a:r>
            <a:r>
              <a:rPr lang="ru-RU" sz="1800" b="1" dirty="0"/>
              <a:t>Б</a:t>
            </a:r>
            <a:r>
              <a:rPr lang="en-US" sz="1800" b="1" dirty="0"/>
              <a:t>|</a:t>
            </a:r>
            <a:r>
              <a:rPr lang="ru-RU" sz="1800" b="1" dirty="0"/>
              <a:t>В</a:t>
            </a:r>
            <a:r>
              <a:rPr lang="en-US" sz="1800" b="1" dirty="0"/>
              <a:t>|</a:t>
            </a:r>
            <a:r>
              <a:rPr lang="ru-RU" sz="1800" b="1" dirty="0"/>
              <a:t>Г</a:t>
            </a:r>
            <a:r>
              <a:rPr lang="en-US" sz="1800" b="1" dirty="0"/>
              <a:t>|</a:t>
            </a:r>
            <a:r>
              <a:rPr lang="ru-RU" sz="1800" b="1" dirty="0"/>
              <a:t>Д</a:t>
            </a:r>
            <a:r>
              <a:rPr lang="en-US" sz="1800" b="1" dirty="0"/>
              <a:t>|</a:t>
            </a:r>
            <a:r>
              <a:rPr lang="ru-RU" sz="1800" b="1" dirty="0"/>
              <a:t>Е</a:t>
            </a:r>
            <a:r>
              <a:rPr lang="en-US" sz="1800" b="1" dirty="0"/>
              <a:t>|</a:t>
            </a:r>
            <a:r>
              <a:rPr lang="ru-RU" sz="1800" b="1" dirty="0"/>
              <a:t>Ё</a:t>
            </a:r>
            <a:r>
              <a:rPr lang="en-US" sz="1800" b="1" dirty="0"/>
              <a:t>|</a:t>
            </a:r>
            <a:r>
              <a:rPr lang="ru-RU" sz="1800" b="1" dirty="0"/>
              <a:t>Ж</a:t>
            </a:r>
            <a:r>
              <a:rPr lang="en-US" sz="1800" b="1" dirty="0"/>
              <a:t>|</a:t>
            </a:r>
            <a:r>
              <a:rPr lang="ru-RU" sz="1800" b="1" dirty="0"/>
              <a:t>З</a:t>
            </a:r>
            <a:r>
              <a:rPr lang="en-US" sz="1800" b="1" dirty="0"/>
              <a:t>|</a:t>
            </a:r>
            <a:r>
              <a:rPr lang="ru-RU" sz="1800" b="1" dirty="0"/>
              <a:t>И</a:t>
            </a:r>
            <a:r>
              <a:rPr lang="en-US" sz="1800" b="1" dirty="0"/>
              <a:t>|</a:t>
            </a:r>
            <a:r>
              <a:rPr lang="ru-RU" sz="1800" b="1" dirty="0"/>
              <a:t>Й</a:t>
            </a:r>
            <a:r>
              <a:rPr lang="en-US" sz="1800" b="1" dirty="0"/>
              <a:t>|</a:t>
            </a:r>
            <a:r>
              <a:rPr lang="ru-RU" sz="1800" b="1" dirty="0"/>
              <a:t>К</a:t>
            </a:r>
            <a:r>
              <a:rPr lang="en-US" sz="1800" b="1" dirty="0"/>
              <a:t>|</a:t>
            </a:r>
            <a:r>
              <a:rPr lang="ru-RU" sz="1800" b="1" dirty="0"/>
              <a:t>Л</a:t>
            </a:r>
            <a:r>
              <a:rPr lang="en-US" sz="1800" b="1" dirty="0"/>
              <a:t>|</a:t>
            </a:r>
            <a:r>
              <a:rPr lang="ru-RU" sz="1800" b="1" dirty="0"/>
              <a:t>М</a:t>
            </a:r>
            <a:r>
              <a:rPr lang="en-US" sz="1800" b="1" dirty="0"/>
              <a:t>|…</a:t>
            </a:r>
          </a:p>
          <a:p>
            <a:r>
              <a:rPr lang="en-US" sz="1800" dirty="0"/>
              <a:t>&lt;Sings&gt; </a:t>
            </a:r>
            <a:r>
              <a:rPr lang="ru-RU" sz="1800" b="1" dirty="0"/>
              <a:t>::=</a:t>
            </a:r>
            <a:r>
              <a:rPr lang="en-US" sz="1800" b="1" dirty="0"/>
              <a:t>_ |*|-|+|…</a:t>
            </a:r>
          </a:p>
          <a:p>
            <a:r>
              <a:rPr lang="en-US" sz="1800" dirty="0"/>
              <a:t>&lt;Digit&gt; </a:t>
            </a:r>
            <a:r>
              <a:rPr lang="en-US" sz="1800" b="1" dirty="0"/>
              <a:t>::= 1|2|3|4|5|6|7|8|9|0</a:t>
            </a:r>
            <a:endParaRPr lang="ru-RU" sz="1800" b="1" dirty="0"/>
          </a:p>
          <a:p>
            <a:endParaRPr lang="ru-RU" sz="1800"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9</a:t>
            </a:fld>
            <a:endParaRPr lang="ru-RU"/>
          </a:p>
        </p:txBody>
      </p:sp>
      <p:pic>
        <p:nvPicPr>
          <p:cNvPr id="1026" name="Picture 2"/>
          <p:cNvPicPr>
            <a:picLocks noChangeAspect="1" noChangeArrowheads="1"/>
          </p:cNvPicPr>
          <p:nvPr/>
        </p:nvPicPr>
        <p:blipFill>
          <a:blip r:embed="rId3" cstate="print"/>
          <a:srcRect/>
          <a:stretch>
            <a:fillRect/>
          </a:stretch>
        </p:blipFill>
        <p:spPr bwMode="auto">
          <a:xfrm>
            <a:off x="908050" y="2843935"/>
            <a:ext cx="6930770" cy="140444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down)">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down)">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down)">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195">
                                            <p:txEl>
                                              <p:pRg st="12" end="12"/>
                                            </p:txEl>
                                          </p:spTgt>
                                        </p:tgtEl>
                                        <p:attrNameLst>
                                          <p:attrName>style.visibility</p:attrName>
                                        </p:attrNameLst>
                                      </p:cBhvr>
                                      <p:to>
                                        <p:strVal val="visible"/>
                                      </p:to>
                                    </p:set>
                                    <p:animEffect transition="in" filter="wipe(down)">
                                      <p:cBhvr>
                                        <p:cTn id="27" dur="500"/>
                                        <p:tgtEl>
                                          <p:spTgt spid="8195">
                                            <p:txEl>
                                              <p:pRg st="12" end="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195">
                                            <p:txEl>
                                              <p:pRg st="13" end="13"/>
                                            </p:txEl>
                                          </p:spTgt>
                                        </p:tgtEl>
                                        <p:attrNameLst>
                                          <p:attrName>style.visibility</p:attrName>
                                        </p:attrNameLst>
                                      </p:cBhvr>
                                      <p:to>
                                        <p:strVal val="visible"/>
                                      </p:to>
                                    </p:set>
                                    <p:animEffect transition="in" filter="wipe(down)">
                                      <p:cBhvr>
                                        <p:cTn id="32" dur="500"/>
                                        <p:tgtEl>
                                          <p:spTgt spid="8195">
                                            <p:txEl>
                                              <p:pRg st="13" end="1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195">
                                            <p:txEl>
                                              <p:pRg st="14" end="14"/>
                                            </p:txEl>
                                          </p:spTgt>
                                        </p:tgtEl>
                                        <p:attrNameLst>
                                          <p:attrName>style.visibility</p:attrName>
                                        </p:attrNameLst>
                                      </p:cBhvr>
                                      <p:to>
                                        <p:strVal val="visible"/>
                                      </p:to>
                                    </p:set>
                                    <p:animEffect transition="in" filter="wipe(down)">
                                      <p:cBhvr>
                                        <p:cTn id="37" dur="500"/>
                                        <p:tgtEl>
                                          <p:spTgt spid="8195">
                                            <p:txEl>
                                              <p:pRg st="14" end="1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195">
                                            <p:txEl>
                                              <p:pRg st="15" end="15"/>
                                            </p:txEl>
                                          </p:spTgt>
                                        </p:tgtEl>
                                        <p:attrNameLst>
                                          <p:attrName>style.visibility</p:attrName>
                                        </p:attrNameLst>
                                      </p:cBhvr>
                                      <p:to>
                                        <p:strVal val="visible"/>
                                      </p:to>
                                    </p:set>
                                    <p:animEffect transition="in" filter="wipe(down)">
                                      <p:cBhvr>
                                        <p:cTn id="42" dur="500"/>
                                        <p:tgtEl>
                                          <p:spTgt spid="8195">
                                            <p:txEl>
                                              <p:pRg st="15" end="1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195">
                                            <p:txEl>
                                              <p:pRg st="16" end="16"/>
                                            </p:txEl>
                                          </p:spTgt>
                                        </p:tgtEl>
                                        <p:attrNameLst>
                                          <p:attrName>style.visibility</p:attrName>
                                        </p:attrNameLst>
                                      </p:cBhvr>
                                      <p:to>
                                        <p:strVal val="visible"/>
                                      </p:to>
                                    </p:set>
                                    <p:animEffect transition="in" filter="wipe(down)">
                                      <p:cBhvr>
                                        <p:cTn id="47" dur="500"/>
                                        <p:tgtEl>
                                          <p:spTgt spid="8195">
                                            <p:txEl>
                                              <p:pRg st="16" end="1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195">
                                            <p:txEl>
                                              <p:pRg st="17" end="17"/>
                                            </p:txEl>
                                          </p:spTgt>
                                        </p:tgtEl>
                                        <p:attrNameLst>
                                          <p:attrName>style.visibility</p:attrName>
                                        </p:attrNameLst>
                                      </p:cBhvr>
                                      <p:to>
                                        <p:strVal val="visible"/>
                                      </p:to>
                                    </p:set>
                                    <p:animEffect transition="in" filter="wipe(down)">
                                      <p:cBhvr>
                                        <p:cTn id="52" dur="500"/>
                                        <p:tgtEl>
                                          <p:spTgt spid="8195">
                                            <p:txEl>
                                              <p:pRg st="17" end="1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8195">
                                            <p:txEl>
                                              <p:pRg st="18" end="18"/>
                                            </p:txEl>
                                          </p:spTgt>
                                        </p:tgtEl>
                                        <p:attrNameLst>
                                          <p:attrName>style.visibility</p:attrName>
                                        </p:attrNameLst>
                                      </p:cBhvr>
                                      <p:to>
                                        <p:strVal val="visible"/>
                                      </p:to>
                                    </p:set>
                                    <p:animEffect transition="in" filter="wipe(down)">
                                      <p:cBhvr>
                                        <p:cTn id="57" dur="500"/>
                                        <p:tgtEl>
                                          <p:spTgt spid="8195">
                                            <p:txEl>
                                              <p:pRg st="18" end="1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8195">
                                            <p:txEl>
                                              <p:pRg st="19" end="19"/>
                                            </p:txEl>
                                          </p:spTgt>
                                        </p:tgtEl>
                                        <p:attrNameLst>
                                          <p:attrName>style.visibility</p:attrName>
                                        </p:attrNameLst>
                                      </p:cBhvr>
                                      <p:to>
                                        <p:strVal val="visible"/>
                                      </p:to>
                                    </p:set>
                                    <p:animEffect transition="in" filter="wipe(down)">
                                      <p:cBhvr>
                                        <p:cTn id="62" dur="500"/>
                                        <p:tgtEl>
                                          <p:spTgt spid="8195">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31540" y="115888"/>
            <a:ext cx="7740910" cy="720725"/>
          </a:xfrm>
        </p:spPr>
        <p:txBody>
          <a:bodyPr/>
          <a:lstStyle/>
          <a:p>
            <a:pPr algn="ctr" eaLnBrk="1" hangingPunct="1"/>
            <a:r>
              <a:rPr lang="ru-RU" sz="4000" dirty="0">
                <a:solidFill>
                  <a:schemeClr val="bg2"/>
                </a:solidFill>
              </a:rPr>
              <a:t>Пользователи, схемы и сеансы</a:t>
            </a:r>
          </a:p>
        </p:txBody>
      </p:sp>
      <p:sp>
        <p:nvSpPr>
          <p:cNvPr id="4099" name="Rectangle 3"/>
          <p:cNvSpPr>
            <a:spLocks noGrp="1" noChangeArrowheads="1"/>
          </p:cNvSpPr>
          <p:nvPr>
            <p:ph type="body" idx="1"/>
          </p:nvPr>
        </p:nvSpPr>
        <p:spPr>
          <a:xfrm>
            <a:off x="179388" y="765175"/>
            <a:ext cx="9036050" cy="5616575"/>
          </a:xfrm>
        </p:spPr>
        <p:txBody>
          <a:bodyPr>
            <a:normAutofit fontScale="92500" lnSpcReduction="10000"/>
          </a:bodyPr>
          <a:lstStyle/>
          <a:p>
            <a:pPr eaLnBrk="1" hangingPunct="1">
              <a:defRPr/>
            </a:pPr>
            <a:r>
              <a:rPr lang="ru-RU" sz="2400" dirty="0"/>
              <a:t>Все данные содержатся в таблицах</a:t>
            </a:r>
          </a:p>
          <a:p>
            <a:pPr eaLnBrk="1" hangingPunct="1">
              <a:defRPr/>
            </a:pPr>
            <a:r>
              <a:rPr lang="ru-RU" sz="2400" dirty="0"/>
              <a:t>Таблицы сгруппированы в СХЕМЫ</a:t>
            </a:r>
          </a:p>
          <a:p>
            <a:pPr eaLnBrk="1" hangingPunct="1">
              <a:defRPr/>
            </a:pPr>
            <a:r>
              <a:rPr lang="ru-RU" sz="2400" dirty="0"/>
              <a:t>Схемы располагаются в КАТАЛОГАХ</a:t>
            </a:r>
          </a:p>
          <a:p>
            <a:pPr eaLnBrk="1" hangingPunct="1">
              <a:defRPr/>
            </a:pPr>
            <a:r>
              <a:rPr lang="ru-RU" sz="2400" dirty="0"/>
              <a:t>В дальнейшем каталоги могут быть сгруппированы в КЛАСТЕРЫ</a:t>
            </a:r>
          </a:p>
          <a:p>
            <a:pPr eaLnBrk="1" hangingPunct="1">
              <a:defRPr/>
            </a:pPr>
            <a:r>
              <a:rPr lang="ru-RU" sz="2400" dirty="0"/>
              <a:t>Согласно стандарту субъект, который создает </a:t>
            </a:r>
            <a:r>
              <a:rPr lang="en-US" sz="2400" dirty="0"/>
              <a:t>SQL</a:t>
            </a:r>
            <a:r>
              <a:rPr lang="ru-RU" sz="2400" dirty="0"/>
              <a:t>-операторы называется </a:t>
            </a:r>
            <a:r>
              <a:rPr lang="en-US" sz="2400" i="1" dirty="0"/>
              <a:t>SQL</a:t>
            </a:r>
            <a:r>
              <a:rPr lang="ru-RU" sz="2400" i="1" dirty="0"/>
              <a:t>-агент</a:t>
            </a:r>
          </a:p>
          <a:p>
            <a:pPr eaLnBrk="1" hangingPunct="1">
              <a:defRPr/>
            </a:pPr>
            <a:r>
              <a:rPr lang="en-US" sz="2400" i="1" dirty="0"/>
              <a:t>SQL</a:t>
            </a:r>
            <a:r>
              <a:rPr lang="ru-RU" sz="2400" i="1" dirty="0"/>
              <a:t>-агент </a:t>
            </a:r>
            <a:r>
              <a:rPr lang="ru-RU" sz="2400" dirty="0"/>
              <a:t>связывается с идентификатором авторизации пользователя (</a:t>
            </a:r>
            <a:r>
              <a:rPr lang="en-US" sz="2400" dirty="0"/>
              <a:t>Authorization ID)</a:t>
            </a:r>
            <a:r>
              <a:rPr lang="ru-RU" sz="2400" dirty="0"/>
              <a:t>, имеющим группу привилегий.</a:t>
            </a:r>
          </a:p>
          <a:p>
            <a:pPr eaLnBrk="1" hangingPunct="1">
              <a:defRPr/>
            </a:pPr>
            <a:r>
              <a:rPr lang="en-US" sz="2400" dirty="0"/>
              <a:t>Authorization ID</a:t>
            </a:r>
            <a:r>
              <a:rPr lang="ru-RU" sz="2400" dirty="0"/>
              <a:t> устанавливает связь с СУБД</a:t>
            </a:r>
          </a:p>
          <a:p>
            <a:pPr eaLnBrk="1" hangingPunct="1">
              <a:defRPr/>
            </a:pPr>
            <a:r>
              <a:rPr lang="ru-RU" sz="2400" dirty="0"/>
              <a:t>Установление такой связи определяет начало сеанса.</a:t>
            </a:r>
          </a:p>
          <a:p>
            <a:pPr eaLnBrk="1" hangingPunct="1">
              <a:defRPr/>
            </a:pPr>
            <a:r>
              <a:rPr lang="en-US" sz="2400" i="1" dirty="0"/>
              <a:t>SQL</a:t>
            </a:r>
            <a:r>
              <a:rPr lang="ru-RU" sz="2400" i="1" dirty="0"/>
              <a:t>-агенту </a:t>
            </a:r>
            <a:r>
              <a:rPr lang="ru-RU" sz="2400" dirty="0"/>
              <a:t>разрешено в ряде случаев переключаться на другие соединения и сеансы в виде другого </a:t>
            </a:r>
            <a:r>
              <a:rPr lang="en-US" sz="2400" dirty="0"/>
              <a:t>Authorization ID</a:t>
            </a:r>
            <a:endParaRPr lang="ru-RU" sz="2400" dirty="0"/>
          </a:p>
          <a:p>
            <a:pPr eaLnBrk="1" hangingPunct="1">
              <a:defRPr/>
            </a:pPr>
            <a:r>
              <a:rPr lang="ru-RU" sz="2400" dirty="0"/>
              <a:t>Тем не менее </a:t>
            </a:r>
            <a:r>
              <a:rPr lang="en-US" sz="2400" i="1" dirty="0"/>
              <a:t>SQL</a:t>
            </a:r>
            <a:r>
              <a:rPr lang="ru-RU" sz="2400" i="1" dirty="0"/>
              <a:t>-агент</a:t>
            </a:r>
            <a:r>
              <a:rPr lang="en-US" sz="2400" i="1" dirty="0"/>
              <a:t> </a:t>
            </a:r>
            <a:r>
              <a:rPr lang="ru-RU" sz="2400" i="1" dirty="0"/>
              <a:t>и </a:t>
            </a:r>
            <a:r>
              <a:rPr lang="en-US" sz="2400" dirty="0"/>
              <a:t>Authorization ID</a:t>
            </a:r>
            <a:r>
              <a:rPr lang="ru-RU" sz="2400" dirty="0"/>
              <a:t> – не синонимы. Переключения соединений определяются реализацией</a:t>
            </a:r>
          </a:p>
          <a:p>
            <a:pPr eaLnBrk="1" hangingPunct="1">
              <a:buNone/>
              <a:defRPr/>
            </a:pPr>
            <a:endParaRPr lang="ru-RU" sz="2400"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10</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up)">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ipe(up)">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ipe(up)">
                                      <p:cBhvr>
                                        <p:cTn id="17" dur="5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wipe(up)">
                                      <p:cBhvr>
                                        <p:cTn id="22" dur="500"/>
                                        <p:tgtEl>
                                          <p:spTgt spid="40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wipe(up)">
                                      <p:cBhvr>
                                        <p:cTn id="27" dur="500"/>
                                        <p:tgtEl>
                                          <p:spTgt spid="40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wipe(up)">
                                      <p:cBhvr>
                                        <p:cTn id="32" dur="500"/>
                                        <p:tgtEl>
                                          <p:spTgt spid="40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wipe(up)">
                                      <p:cBhvr>
                                        <p:cTn id="37" dur="500"/>
                                        <p:tgtEl>
                                          <p:spTgt spid="409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099">
                                            <p:txEl>
                                              <p:pRg st="7" end="7"/>
                                            </p:txEl>
                                          </p:spTgt>
                                        </p:tgtEl>
                                        <p:attrNameLst>
                                          <p:attrName>style.visibility</p:attrName>
                                        </p:attrNameLst>
                                      </p:cBhvr>
                                      <p:to>
                                        <p:strVal val="visible"/>
                                      </p:to>
                                    </p:set>
                                    <p:animEffect transition="in" filter="wipe(up)">
                                      <p:cBhvr>
                                        <p:cTn id="42" dur="500"/>
                                        <p:tgtEl>
                                          <p:spTgt spid="409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099">
                                            <p:txEl>
                                              <p:pRg st="8" end="8"/>
                                            </p:txEl>
                                          </p:spTgt>
                                        </p:tgtEl>
                                        <p:attrNameLst>
                                          <p:attrName>style.visibility</p:attrName>
                                        </p:attrNameLst>
                                      </p:cBhvr>
                                      <p:to>
                                        <p:strVal val="visible"/>
                                      </p:to>
                                    </p:set>
                                    <p:animEffect transition="in" filter="wipe(up)">
                                      <p:cBhvr>
                                        <p:cTn id="47" dur="500"/>
                                        <p:tgtEl>
                                          <p:spTgt spid="409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099">
                                            <p:txEl>
                                              <p:pRg st="9" end="9"/>
                                            </p:txEl>
                                          </p:spTgt>
                                        </p:tgtEl>
                                        <p:attrNameLst>
                                          <p:attrName>style.visibility</p:attrName>
                                        </p:attrNameLst>
                                      </p:cBhvr>
                                      <p:to>
                                        <p:strVal val="visible"/>
                                      </p:to>
                                    </p:set>
                                    <p:animEffect transition="in" filter="wipe(up)">
                                      <p:cBhvr>
                                        <p:cTn id="52" dur="500"/>
                                        <p:tgtEl>
                                          <p:spTgt spid="40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31540" y="115888"/>
            <a:ext cx="7740910" cy="720725"/>
          </a:xfrm>
        </p:spPr>
        <p:txBody>
          <a:bodyPr/>
          <a:lstStyle/>
          <a:p>
            <a:pPr algn="ctr" eaLnBrk="1" hangingPunct="1"/>
            <a:r>
              <a:rPr lang="ru-RU" sz="4000" dirty="0">
                <a:solidFill>
                  <a:schemeClr val="bg2"/>
                </a:solidFill>
              </a:rPr>
              <a:t>Пользователи, схемы и сеансы</a:t>
            </a:r>
          </a:p>
        </p:txBody>
      </p:sp>
      <p:sp>
        <p:nvSpPr>
          <p:cNvPr id="4099" name="Rectangle 3"/>
          <p:cNvSpPr>
            <a:spLocks noGrp="1" noChangeArrowheads="1"/>
          </p:cNvSpPr>
          <p:nvPr>
            <p:ph type="body" idx="1"/>
          </p:nvPr>
        </p:nvSpPr>
        <p:spPr>
          <a:xfrm>
            <a:off x="0" y="765173"/>
            <a:ext cx="9144000" cy="5976939"/>
          </a:xfrm>
        </p:spPr>
        <p:txBody>
          <a:bodyPr>
            <a:normAutofit fontScale="85000" lnSpcReduction="20000"/>
          </a:bodyPr>
          <a:lstStyle/>
          <a:p>
            <a:pPr eaLnBrk="1" hangingPunct="1">
              <a:lnSpc>
                <a:spcPct val="120000"/>
              </a:lnSpc>
              <a:defRPr/>
            </a:pPr>
            <a:r>
              <a:rPr lang="ru-RU" sz="2000" kern="1200" dirty="0"/>
              <a:t>СУБД автоматически определяет одного или нескольких пользователей  и как минимум одну схему по умолчанию, с которой можно установить соединение</a:t>
            </a:r>
            <a:endParaRPr lang="en-US" sz="2000" kern="1200" dirty="0"/>
          </a:p>
          <a:p>
            <a:pPr eaLnBrk="1" hangingPunct="1">
              <a:lnSpc>
                <a:spcPct val="120000"/>
              </a:lnSpc>
              <a:defRPr/>
            </a:pPr>
            <a:r>
              <a:rPr lang="ru-RU" sz="2000" kern="1200" dirty="0"/>
              <a:t>Как правило, это суперпользователи базы данных, такие, как </a:t>
            </a:r>
            <a:r>
              <a:rPr lang="en-US" sz="2000" kern="1200" dirty="0"/>
              <a:t>SYS</a:t>
            </a:r>
            <a:r>
              <a:rPr lang="ru-RU" sz="2000" kern="1200" dirty="0"/>
              <a:t> (от </a:t>
            </a:r>
            <a:r>
              <a:rPr lang="en-US" sz="2000" kern="1200" dirty="0"/>
              <a:t>System</a:t>
            </a:r>
            <a:r>
              <a:rPr lang="ru-RU" sz="2000" kern="1200" dirty="0"/>
              <a:t>), имеющие пароль по умолчанию</a:t>
            </a:r>
            <a:r>
              <a:rPr lang="ru-RU" sz="2000" dirty="0"/>
              <a:t>. </a:t>
            </a:r>
            <a:br>
              <a:rPr lang="ru-RU" sz="2000" dirty="0"/>
            </a:br>
            <a:r>
              <a:rPr lang="ru-RU" sz="2000" kern="1200" dirty="0">
                <a:solidFill>
                  <a:schemeClr val="bg2">
                    <a:lumMod val="40000"/>
                    <a:lumOff val="60000"/>
                  </a:schemeClr>
                </a:solidFill>
              </a:rPr>
              <a:t>С</a:t>
            </a:r>
            <a:r>
              <a:rPr lang="en-US" sz="2000" kern="1200" dirty="0">
                <a:solidFill>
                  <a:schemeClr val="bg2">
                    <a:lumMod val="40000"/>
                    <a:lumOff val="60000"/>
                  </a:schemeClr>
                </a:solidFill>
              </a:rPr>
              <a:t>ONN</a:t>
            </a:r>
            <a:r>
              <a:rPr lang="ru-RU" sz="2000" kern="1200" dirty="0">
                <a:solidFill>
                  <a:schemeClr val="bg2">
                    <a:lumMod val="40000"/>
                    <a:lumOff val="60000"/>
                  </a:schemeClr>
                </a:solidFill>
              </a:rPr>
              <a:t>ЕСТ  ТО  </a:t>
            </a:r>
            <a:r>
              <a:rPr lang="en-US" sz="2000" kern="1200" dirty="0">
                <a:solidFill>
                  <a:schemeClr val="bg2">
                    <a:lumMod val="40000"/>
                    <a:lumOff val="60000"/>
                  </a:schemeClr>
                </a:solidFill>
              </a:rPr>
              <a:t>DEFAULT</a:t>
            </a:r>
            <a:r>
              <a:rPr lang="ru-RU" sz="2000" kern="1200" dirty="0">
                <a:solidFill>
                  <a:schemeClr val="bg2">
                    <a:lumMod val="40000"/>
                    <a:lumOff val="60000"/>
                  </a:schemeClr>
                </a:solidFill>
              </a:rPr>
              <a:t>  </a:t>
            </a:r>
            <a:r>
              <a:rPr lang="en-US" sz="2000" kern="1200" dirty="0">
                <a:solidFill>
                  <a:schemeClr val="bg2">
                    <a:lumMod val="40000"/>
                    <a:lumOff val="60000"/>
                  </a:schemeClr>
                </a:solidFill>
              </a:rPr>
              <a:t>USER</a:t>
            </a:r>
            <a:r>
              <a:rPr lang="ru-RU" sz="2000" kern="1200" dirty="0">
                <a:solidFill>
                  <a:schemeClr val="bg2">
                    <a:lumMod val="40000"/>
                    <a:lumOff val="60000"/>
                  </a:schemeClr>
                </a:solidFill>
              </a:rPr>
              <a:t>  </a:t>
            </a:r>
            <a:r>
              <a:rPr lang="en-US" sz="2000" kern="1200" dirty="0">
                <a:solidFill>
                  <a:schemeClr val="bg2">
                    <a:lumMod val="40000"/>
                    <a:lumOff val="60000"/>
                  </a:schemeClr>
                </a:solidFill>
              </a:rPr>
              <a:t>SYS</a:t>
            </a:r>
            <a:r>
              <a:rPr lang="ru-RU" sz="2000" i="1" kern="1200" dirty="0">
                <a:solidFill>
                  <a:schemeClr val="bg2">
                    <a:lumMod val="40000"/>
                    <a:lumOff val="60000"/>
                  </a:schemeClr>
                </a:solidFill>
              </a:rPr>
              <a:t>/</a:t>
            </a:r>
            <a:r>
              <a:rPr lang="en-US" sz="2000" i="1" kern="1200" dirty="0" err="1">
                <a:solidFill>
                  <a:schemeClr val="bg2">
                    <a:lumMod val="40000"/>
                    <a:lumOff val="60000"/>
                  </a:schemeClr>
                </a:solidFill>
              </a:rPr>
              <a:t>SomePassword</a:t>
            </a:r>
            <a:r>
              <a:rPr lang="en-US" sz="2000" i="1" kern="1200" dirty="0"/>
              <a:t>;</a:t>
            </a:r>
            <a:endParaRPr lang="ru-RU" sz="2000" dirty="0"/>
          </a:p>
          <a:p>
            <a:pPr>
              <a:lnSpc>
                <a:spcPct val="120000"/>
              </a:lnSpc>
            </a:pPr>
            <a:r>
              <a:rPr lang="ru-RU" sz="2000" kern="1200" dirty="0"/>
              <a:t>После установления соединения можно приступить к созданию пользователей </a:t>
            </a:r>
            <a:r>
              <a:rPr lang="ru-RU" sz="2000" dirty="0"/>
              <a:t>(</a:t>
            </a:r>
            <a:r>
              <a:rPr lang="en-US" sz="2000" dirty="0"/>
              <a:t>Authorization ID) </a:t>
            </a:r>
            <a:r>
              <a:rPr lang="ru-RU" sz="2000" kern="1200" dirty="0"/>
              <a:t>:</a:t>
            </a:r>
          </a:p>
          <a:p>
            <a:pPr marL="400050" lvl="1" indent="0">
              <a:lnSpc>
                <a:spcPct val="120000"/>
              </a:lnSpc>
              <a:buNone/>
            </a:pPr>
            <a:r>
              <a:rPr lang="en-US" sz="2000" kern="1200" dirty="0">
                <a:solidFill>
                  <a:schemeClr val="bg2">
                    <a:lumMod val="40000"/>
                    <a:lumOff val="60000"/>
                  </a:schemeClr>
                </a:solidFill>
              </a:rPr>
              <a:t>CREATE   USER   </a:t>
            </a:r>
            <a:r>
              <a:rPr lang="ru-RU" sz="2000" kern="1200" dirty="0">
                <a:solidFill>
                  <a:schemeClr val="bg2">
                    <a:lumMod val="40000"/>
                    <a:lumOff val="60000"/>
                  </a:schemeClr>
                </a:solidFill>
              </a:rPr>
              <a:t>Петров</a:t>
            </a:r>
            <a:r>
              <a:rPr lang="en-US" sz="2000" kern="1200" dirty="0">
                <a:solidFill>
                  <a:schemeClr val="bg2">
                    <a:lumMod val="40000"/>
                    <a:lumOff val="60000"/>
                  </a:schemeClr>
                </a:solidFill>
              </a:rPr>
              <a:t> IDENTIFIED BY </a:t>
            </a:r>
            <a:r>
              <a:rPr lang="ru-RU" sz="2000" kern="1200" dirty="0">
                <a:solidFill>
                  <a:schemeClr val="bg2">
                    <a:lumMod val="40000"/>
                    <a:lumOff val="60000"/>
                  </a:schemeClr>
                </a:solidFill>
              </a:rPr>
              <a:t>Венера</a:t>
            </a:r>
            <a:r>
              <a:rPr lang="ru-RU" sz="2000" kern="1200" dirty="0"/>
              <a:t>; </a:t>
            </a:r>
            <a:br>
              <a:rPr lang="ru-RU" sz="2000" kern="1200" dirty="0"/>
            </a:br>
            <a:r>
              <a:rPr lang="ru-RU" sz="2000" kern="1200" cap="small" dirty="0">
                <a:latin typeface="Arial" panose="020B0604020202020204" pitchFamily="34" charset="0"/>
                <a:cs typeface="Arial" panose="020B0604020202020204" pitchFamily="34" charset="0"/>
              </a:rPr>
              <a:t>Э</a:t>
            </a:r>
            <a:r>
              <a:rPr lang="ru-RU" sz="2000" kern="1200" dirty="0">
                <a:latin typeface="Arial" panose="020B0604020202020204" pitchFamily="34" charset="0"/>
                <a:cs typeface="Arial" panose="020B0604020202020204" pitchFamily="34" charset="0"/>
              </a:rPr>
              <a:t>тот</a:t>
            </a:r>
            <a:r>
              <a:rPr lang="ru-RU" sz="2000" kern="1200" cap="small" dirty="0">
                <a:latin typeface="Arial" panose="020B0604020202020204" pitchFamily="34" charset="0"/>
                <a:cs typeface="Arial" panose="020B0604020202020204" pitchFamily="34" charset="0"/>
              </a:rPr>
              <a:t> </a:t>
            </a:r>
            <a:r>
              <a:rPr lang="ru-RU" sz="2000" kern="1200" dirty="0">
                <a:latin typeface="Arial" panose="020B0604020202020204" pitchFamily="34" charset="0"/>
                <a:cs typeface="Arial" panose="020B0604020202020204" pitchFamily="34" charset="0"/>
              </a:rPr>
              <a:t>оператор создает нового пользователя с именем Петров и паролем Венера. </a:t>
            </a:r>
            <a:br>
              <a:rPr lang="ru-RU" sz="2000" kern="1200" dirty="0"/>
            </a:br>
            <a:r>
              <a:rPr lang="ru-RU" sz="2000" u="sng" kern="1200" dirty="0"/>
              <a:t>Внимание</a:t>
            </a:r>
            <a:r>
              <a:rPr lang="ru-RU" sz="2000" kern="1200" dirty="0"/>
              <a:t>: хотя Петров и Венера представляют собой текстовые строки, они не заключены в одиночные кавычки. Дело в том, что они являются </a:t>
            </a:r>
            <a:r>
              <a:rPr lang="ru-RU" sz="2000" i="1" kern="1200" dirty="0"/>
              <a:t>идентифи­каторами </a:t>
            </a:r>
            <a:r>
              <a:rPr lang="ru-RU" sz="2000" kern="1200" dirty="0"/>
              <a:t>(</a:t>
            </a:r>
            <a:r>
              <a:rPr lang="en-US" sz="2000" kern="1200" dirty="0"/>
              <a:t>identifiers</a:t>
            </a:r>
            <a:r>
              <a:rPr lang="ru-RU" sz="2000" kern="1200" dirty="0"/>
              <a:t>), а не значениями данных </a:t>
            </a:r>
            <a:r>
              <a:rPr lang="en-US" sz="2000" kern="1200" dirty="0"/>
              <a:t>SQL</a:t>
            </a:r>
            <a:r>
              <a:rPr lang="ru-RU" sz="2000" kern="1200" dirty="0"/>
              <a:t>. Идентификатор — это имя, распознаваемое СУБД.</a:t>
            </a:r>
          </a:p>
          <a:p>
            <a:pPr>
              <a:lnSpc>
                <a:spcPct val="120000"/>
              </a:lnSpc>
            </a:pPr>
            <a:r>
              <a:rPr lang="ru-RU" sz="2000" kern="1200" dirty="0"/>
              <a:t>В некоторых системах необходимо предоставить пользователю право на соеди­нение с СУБД. Для этого можно ввести, например, следующий оператор:</a:t>
            </a:r>
          </a:p>
          <a:p>
            <a:pPr marL="400050" lvl="1" indent="0">
              <a:lnSpc>
                <a:spcPct val="120000"/>
              </a:lnSpc>
              <a:buNone/>
            </a:pPr>
            <a:r>
              <a:rPr lang="en-US" sz="2000" kern="1200" dirty="0">
                <a:solidFill>
                  <a:schemeClr val="bg2">
                    <a:lumMod val="40000"/>
                    <a:lumOff val="60000"/>
                  </a:schemeClr>
                </a:solidFill>
              </a:rPr>
              <a:t>GRANT  CONNECT</a:t>
            </a:r>
            <a:r>
              <a:rPr lang="ru-RU" sz="2000" kern="1200" dirty="0">
                <a:solidFill>
                  <a:schemeClr val="bg2">
                    <a:lumMod val="40000"/>
                    <a:lumOff val="60000"/>
                  </a:schemeClr>
                </a:solidFill>
              </a:rPr>
              <a:t>  </a:t>
            </a:r>
            <a:r>
              <a:rPr lang="en-US" sz="2000" kern="1200" dirty="0">
                <a:solidFill>
                  <a:schemeClr val="bg2">
                    <a:lumMod val="40000"/>
                    <a:lumOff val="60000"/>
                  </a:schemeClr>
                </a:solidFill>
              </a:rPr>
              <a:t>TO</a:t>
            </a:r>
            <a:r>
              <a:rPr lang="ru-RU" sz="2000" kern="1200" dirty="0">
                <a:solidFill>
                  <a:schemeClr val="bg2">
                    <a:lumMod val="40000"/>
                    <a:lumOff val="60000"/>
                  </a:schemeClr>
                </a:solidFill>
              </a:rPr>
              <a:t> Петров;</a:t>
            </a:r>
          </a:p>
          <a:p>
            <a:pPr>
              <a:lnSpc>
                <a:spcPct val="120000"/>
              </a:lnSpc>
            </a:pPr>
            <a:r>
              <a:rPr lang="ru-RU" sz="2000" kern="1200" dirty="0"/>
              <a:t>Теперь, когда пользователь Петров создан, вы можете соединиться с базой данных под его именем:</a:t>
            </a:r>
          </a:p>
          <a:p>
            <a:pPr marL="0" indent="0">
              <a:lnSpc>
                <a:spcPct val="120000"/>
              </a:lnSpc>
              <a:buNone/>
            </a:pPr>
            <a:r>
              <a:rPr lang="ru-RU" sz="2000" kern="1200" dirty="0"/>
              <a:t>     </a:t>
            </a:r>
            <a:r>
              <a:rPr lang="ru-RU" sz="2000" kern="1200" dirty="0">
                <a:solidFill>
                  <a:schemeClr val="bg2">
                    <a:lumMod val="40000"/>
                    <a:lumOff val="60000"/>
                  </a:schemeClr>
                </a:solidFill>
              </a:rPr>
              <a:t>С</a:t>
            </a:r>
            <a:r>
              <a:rPr lang="en-US" sz="2000" kern="1200" dirty="0">
                <a:solidFill>
                  <a:schemeClr val="bg2">
                    <a:lumMod val="40000"/>
                    <a:lumOff val="60000"/>
                  </a:schemeClr>
                </a:solidFill>
              </a:rPr>
              <a:t>ONN</a:t>
            </a:r>
            <a:r>
              <a:rPr lang="ru-RU" sz="2000" kern="1200" dirty="0">
                <a:solidFill>
                  <a:schemeClr val="bg2">
                    <a:lumMod val="40000"/>
                    <a:lumOff val="60000"/>
                  </a:schemeClr>
                </a:solidFill>
              </a:rPr>
              <a:t>ЕСТ  ТО  </a:t>
            </a:r>
            <a:r>
              <a:rPr lang="en-US" sz="2000" kern="1200" dirty="0">
                <a:solidFill>
                  <a:schemeClr val="bg2">
                    <a:lumMod val="40000"/>
                    <a:lumOff val="60000"/>
                  </a:schemeClr>
                </a:solidFill>
              </a:rPr>
              <a:t>DEFAULT</a:t>
            </a:r>
            <a:r>
              <a:rPr lang="ru-RU" sz="2000" kern="1200" dirty="0">
                <a:solidFill>
                  <a:schemeClr val="bg2">
                    <a:lumMod val="40000"/>
                    <a:lumOff val="60000"/>
                  </a:schemeClr>
                </a:solidFill>
              </a:rPr>
              <a:t>  </a:t>
            </a:r>
            <a:r>
              <a:rPr lang="en-US" sz="2000" kern="1200" dirty="0">
                <a:solidFill>
                  <a:schemeClr val="bg2">
                    <a:lumMod val="40000"/>
                    <a:lumOff val="60000"/>
                  </a:schemeClr>
                </a:solidFill>
              </a:rPr>
              <a:t>USER</a:t>
            </a:r>
            <a:r>
              <a:rPr lang="ru-RU" sz="2000" kern="1200" dirty="0">
                <a:solidFill>
                  <a:schemeClr val="bg2">
                    <a:lumMod val="40000"/>
                    <a:lumOff val="60000"/>
                  </a:schemeClr>
                </a:solidFill>
              </a:rPr>
              <a:t> Петров</a:t>
            </a:r>
            <a:r>
              <a:rPr lang="en-US" sz="2000" kern="1200" dirty="0">
                <a:solidFill>
                  <a:schemeClr val="bg2">
                    <a:lumMod val="40000"/>
                    <a:lumOff val="60000"/>
                  </a:schemeClr>
                </a:solidFill>
              </a:rPr>
              <a:t>/</a:t>
            </a:r>
            <a:r>
              <a:rPr lang="ru-RU" sz="2000" kern="1200" dirty="0">
                <a:solidFill>
                  <a:schemeClr val="bg2">
                    <a:lumMod val="40000"/>
                    <a:lumOff val="60000"/>
                  </a:schemeClr>
                </a:solidFill>
              </a:rPr>
              <a:t> Венера</a:t>
            </a:r>
            <a:br>
              <a:rPr lang="ru-RU" sz="2000" kern="1200" dirty="0">
                <a:solidFill>
                  <a:schemeClr val="bg2">
                    <a:lumMod val="40000"/>
                    <a:lumOff val="60000"/>
                  </a:schemeClr>
                </a:solidFill>
              </a:rPr>
            </a:br>
            <a:r>
              <a:rPr lang="ru-RU" sz="2000" kern="1200" dirty="0">
                <a:solidFill>
                  <a:schemeClr val="bg2">
                    <a:lumMod val="40000"/>
                    <a:lumOff val="60000"/>
                  </a:schemeClr>
                </a:solidFill>
              </a:rPr>
              <a:t>     </a:t>
            </a:r>
            <a:r>
              <a:rPr lang="ru-RU" sz="2000" kern="1200" dirty="0"/>
              <a:t>Это соединение с БД </a:t>
            </a:r>
            <a:r>
              <a:rPr lang="ru-RU" sz="2000" u="sng" kern="1200" dirty="0"/>
              <a:t>по умолчанию</a:t>
            </a:r>
            <a:r>
              <a:rPr lang="ru-RU" sz="2000" kern="1200" dirty="0"/>
              <a:t>, как правило системной базой данных</a:t>
            </a:r>
          </a:p>
          <a:p>
            <a:pPr eaLnBrk="1" hangingPunct="1">
              <a:lnSpc>
                <a:spcPct val="120000"/>
              </a:lnSpc>
              <a:buNone/>
              <a:defRPr/>
            </a:pPr>
            <a:endParaRPr lang="ru-RU" sz="2000" dirty="0"/>
          </a:p>
        </p:txBody>
      </p:sp>
      <p:sp>
        <p:nvSpPr>
          <p:cNvPr id="4" name="Номер слайда 3"/>
          <p:cNvSpPr>
            <a:spLocks noGrp="1"/>
          </p:cNvSpPr>
          <p:nvPr>
            <p:ph type="sldNum" sz="quarter" idx="11"/>
          </p:nvPr>
        </p:nvSpPr>
        <p:spPr>
          <a:xfrm>
            <a:off x="8172450" y="6248400"/>
            <a:ext cx="514350" cy="457200"/>
          </a:xfrm>
        </p:spPr>
        <p:txBody>
          <a:bodyPr/>
          <a:lstStyle/>
          <a:p>
            <a:pPr>
              <a:defRPr/>
            </a:pPr>
            <a:fld id="{BEEC2694-874F-4CC5-9FE4-F16F3A164C5F}" type="slidenum">
              <a:rPr lang="ru-RU" smtClean="0"/>
              <a:pPr>
                <a:defRPr/>
              </a:pPr>
              <a:t>11</a:t>
            </a:fld>
            <a:endParaRPr lang="ru-RU" dirty="0"/>
          </a:p>
        </p:txBody>
      </p:sp>
    </p:spTree>
    <p:extLst>
      <p:ext uri="{BB962C8B-B14F-4D97-AF65-F5344CB8AC3E}">
        <p14:creationId xmlns:p14="http://schemas.microsoft.com/office/powerpoint/2010/main" val="76587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up)">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ipe(up)">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ipe(up)">
                                      <p:cBhvr>
                                        <p:cTn id="17" dur="500"/>
                                        <p:tgtEl>
                                          <p:spTgt spid="4099">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wipe(up)">
                                      <p:cBhvr>
                                        <p:cTn id="20" dur="500"/>
                                        <p:tgtEl>
                                          <p:spTgt spid="409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Effect transition="in" filter="wipe(up)">
                                      <p:cBhvr>
                                        <p:cTn id="25" dur="500"/>
                                        <p:tgtEl>
                                          <p:spTgt spid="4099">
                                            <p:txEl>
                                              <p:pRg st="4" end="4"/>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4099">
                                            <p:txEl>
                                              <p:pRg st="5" end="5"/>
                                            </p:txEl>
                                          </p:spTgt>
                                        </p:tgtEl>
                                        <p:attrNameLst>
                                          <p:attrName>style.visibility</p:attrName>
                                        </p:attrNameLst>
                                      </p:cBhvr>
                                      <p:to>
                                        <p:strVal val="visible"/>
                                      </p:to>
                                    </p:set>
                                    <p:animEffect transition="in" filter="wipe(up)">
                                      <p:cBhvr>
                                        <p:cTn id="28" dur="500"/>
                                        <p:tgtEl>
                                          <p:spTgt spid="4099">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099">
                                            <p:txEl>
                                              <p:pRg st="6" end="6"/>
                                            </p:txEl>
                                          </p:spTgt>
                                        </p:tgtEl>
                                        <p:attrNameLst>
                                          <p:attrName>style.visibility</p:attrName>
                                        </p:attrNameLst>
                                      </p:cBhvr>
                                      <p:to>
                                        <p:strVal val="visible"/>
                                      </p:to>
                                    </p:set>
                                    <p:animEffect transition="in" filter="wipe(up)">
                                      <p:cBhvr>
                                        <p:cTn id="33" dur="500"/>
                                        <p:tgtEl>
                                          <p:spTgt spid="409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4099">
                                            <p:txEl>
                                              <p:pRg st="7" end="7"/>
                                            </p:txEl>
                                          </p:spTgt>
                                        </p:tgtEl>
                                        <p:attrNameLst>
                                          <p:attrName>style.visibility</p:attrName>
                                        </p:attrNameLst>
                                      </p:cBhvr>
                                      <p:to>
                                        <p:strVal val="visible"/>
                                      </p:to>
                                    </p:set>
                                    <p:animEffect transition="in" filter="wipe(up)">
                                      <p:cBhvr>
                                        <p:cTn id="38" dur="500"/>
                                        <p:tgtEl>
                                          <p:spTgt spid="40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31540" y="115888"/>
            <a:ext cx="7740910" cy="720725"/>
          </a:xfrm>
        </p:spPr>
        <p:txBody>
          <a:bodyPr/>
          <a:lstStyle/>
          <a:p>
            <a:pPr algn="ctr" eaLnBrk="1" hangingPunct="1"/>
            <a:r>
              <a:rPr lang="ru-RU" sz="2800" dirty="0">
                <a:solidFill>
                  <a:schemeClr val="bg2"/>
                </a:solidFill>
              </a:rPr>
              <a:t>Создание пользователя. СУБД </a:t>
            </a:r>
            <a:r>
              <a:rPr lang="en-US" sz="2800" dirty="0">
                <a:solidFill>
                  <a:schemeClr val="bg2"/>
                </a:solidFill>
              </a:rPr>
              <a:t>Oracle.</a:t>
            </a:r>
            <a:endParaRPr lang="ru-RU" sz="2800" dirty="0">
              <a:solidFill>
                <a:schemeClr val="bg2"/>
              </a:solidFill>
            </a:endParaRPr>
          </a:p>
        </p:txBody>
      </p:sp>
      <p:sp>
        <p:nvSpPr>
          <p:cNvPr id="4" name="Номер слайда 3"/>
          <p:cNvSpPr>
            <a:spLocks noGrp="1"/>
          </p:cNvSpPr>
          <p:nvPr>
            <p:ph type="sldNum" sz="quarter" idx="11"/>
          </p:nvPr>
        </p:nvSpPr>
        <p:spPr>
          <a:xfrm>
            <a:off x="8172450" y="6248400"/>
            <a:ext cx="514350" cy="457200"/>
          </a:xfrm>
        </p:spPr>
        <p:txBody>
          <a:bodyPr/>
          <a:lstStyle/>
          <a:p>
            <a:pPr>
              <a:defRPr/>
            </a:pPr>
            <a:fld id="{BEEC2694-874F-4CC5-9FE4-F16F3A164C5F}" type="slidenum">
              <a:rPr lang="ru-RU" smtClean="0"/>
              <a:pPr>
                <a:defRPr/>
              </a:pPr>
              <a:t>12</a:t>
            </a:fld>
            <a:endParaRPr lang="ru-RU" dirty="0"/>
          </a:p>
        </p:txBody>
      </p:sp>
      <p:pic>
        <p:nvPicPr>
          <p:cNvPr id="5" name="Рисунок 4" descr="Изображение выглядит как текст&#10;&#10;Автоматически созданное описание">
            <a:extLst>
              <a:ext uri="{FF2B5EF4-FFF2-40B4-BE49-F238E27FC236}">
                <a16:creationId xmlns:a16="http://schemas.microsoft.com/office/drawing/2014/main" id="{F46B0B5B-743D-4B7F-BE62-4C8E787DC8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4097" y="785335"/>
            <a:ext cx="7747509" cy="5920265"/>
          </a:xfrm>
          <a:prstGeom prst="rect">
            <a:avLst/>
          </a:prstGeom>
        </p:spPr>
      </p:pic>
    </p:spTree>
    <p:extLst>
      <p:ext uri="{BB962C8B-B14F-4D97-AF65-F5344CB8AC3E}">
        <p14:creationId xmlns:p14="http://schemas.microsoft.com/office/powerpoint/2010/main" val="653544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55650" y="115888"/>
            <a:ext cx="7416800" cy="649287"/>
          </a:xfrm>
        </p:spPr>
        <p:txBody>
          <a:bodyPr/>
          <a:lstStyle/>
          <a:p>
            <a:pPr algn="ctr" eaLnBrk="1" hangingPunct="1"/>
            <a:r>
              <a:rPr lang="ru-RU" sz="3200" dirty="0">
                <a:solidFill>
                  <a:schemeClr val="bg2"/>
                </a:solidFill>
              </a:rPr>
              <a:t>Создание схемы БД</a:t>
            </a:r>
          </a:p>
        </p:txBody>
      </p:sp>
      <p:sp>
        <p:nvSpPr>
          <p:cNvPr id="4099" name="Rectangle 3"/>
          <p:cNvSpPr>
            <a:spLocks noGrp="1" noChangeArrowheads="1"/>
          </p:cNvSpPr>
          <p:nvPr>
            <p:ph type="body" idx="1"/>
          </p:nvPr>
        </p:nvSpPr>
        <p:spPr>
          <a:xfrm>
            <a:off x="116506" y="765175"/>
            <a:ext cx="9027494" cy="6092825"/>
          </a:xfrm>
        </p:spPr>
        <p:txBody>
          <a:bodyPr>
            <a:noAutofit/>
          </a:bodyPr>
          <a:lstStyle/>
          <a:p>
            <a:pPr marL="0" indent="0">
              <a:buNone/>
              <a:defRPr/>
            </a:pPr>
            <a:r>
              <a:rPr lang="ru-RU" sz="1600" dirty="0"/>
              <a:t>Созданный пользователь может (при наличии полномочий) создавать свою базу данных.</a:t>
            </a:r>
          </a:p>
          <a:p>
            <a:pPr marL="0" indent="0">
              <a:buNone/>
              <a:defRPr/>
            </a:pPr>
            <a:r>
              <a:rPr lang="ru-RU" sz="1600" dirty="0"/>
              <a:t>Для этого он должен определить структуру базы данных – схему базы данных.</a:t>
            </a:r>
          </a:p>
          <a:p>
            <a:pPr marL="0" indent="0">
              <a:buNone/>
              <a:defRPr/>
            </a:pPr>
            <a:r>
              <a:rPr lang="ru-RU" sz="1600" b="1" dirty="0"/>
              <a:t>Схемой </a:t>
            </a:r>
            <a:r>
              <a:rPr lang="ru-RU" sz="1600" dirty="0"/>
              <a:t>называется именованный набор (множество) объектов БД, управляемых одним </a:t>
            </a:r>
            <a:r>
              <a:rPr lang="en-US" sz="1600" dirty="0"/>
              <a:t>Authorization ID</a:t>
            </a:r>
            <a:r>
              <a:rPr lang="ru-RU" sz="1600" dirty="0"/>
              <a:t>.</a:t>
            </a:r>
          </a:p>
          <a:p>
            <a:pPr marL="0" indent="0">
              <a:buNone/>
              <a:defRPr/>
            </a:pPr>
            <a:r>
              <a:rPr lang="ru-RU" sz="1600" dirty="0"/>
              <a:t>Стандарт допускает работу с несколькими схемами и содержит операторы создания и исключения не только таблиц но и схем.</a:t>
            </a:r>
          </a:p>
          <a:p>
            <a:pPr marL="0" indent="0">
              <a:buNone/>
              <a:defRPr/>
            </a:pPr>
            <a:r>
              <a:rPr lang="ru-RU" sz="1600" dirty="0"/>
              <a:t> </a:t>
            </a:r>
          </a:p>
          <a:p>
            <a:pPr marL="0" indent="0">
              <a:buFont typeface="Wingdings" pitchFamily="2" charset="2"/>
              <a:buNone/>
              <a:defRPr/>
            </a:pPr>
            <a:r>
              <a:rPr lang="en-US" sz="1600" b="1" dirty="0"/>
              <a:t>CREATE SCHEMA</a:t>
            </a:r>
            <a:r>
              <a:rPr lang="ru-RU" sz="1600" dirty="0"/>
              <a:t>   &lt; предложение определяющее имя   								схемы&gt;</a:t>
            </a:r>
          </a:p>
          <a:p>
            <a:pPr marL="0" indent="0">
              <a:buFont typeface="Wingdings" pitchFamily="2" charset="2"/>
              <a:buNone/>
              <a:defRPr/>
            </a:pPr>
            <a:r>
              <a:rPr lang="en-US" sz="1600" dirty="0"/>
              <a:t>[ DEFAULT CHARACTER SET &lt;</a:t>
            </a:r>
            <a:r>
              <a:rPr lang="ru-RU" sz="1600" dirty="0"/>
              <a:t>набор символов</a:t>
            </a:r>
            <a:r>
              <a:rPr lang="en-US" sz="1600" dirty="0"/>
              <a:t>&gt; ]</a:t>
            </a:r>
            <a:endParaRPr lang="ru-RU" sz="1600" dirty="0"/>
          </a:p>
          <a:p>
            <a:pPr marL="0" indent="0">
              <a:buFont typeface="Wingdings" pitchFamily="2" charset="2"/>
              <a:buNone/>
              <a:defRPr/>
            </a:pPr>
            <a:r>
              <a:rPr lang="en-US" sz="1600" dirty="0">
                <a:solidFill>
                  <a:srgbClr val="FF0000"/>
                </a:solidFill>
              </a:rPr>
              <a:t>[ </a:t>
            </a:r>
            <a:r>
              <a:rPr lang="en-US" sz="1600" dirty="0"/>
              <a:t>{ </a:t>
            </a:r>
            <a:r>
              <a:rPr lang="ru-RU" sz="1600" dirty="0"/>
              <a:t>	</a:t>
            </a:r>
          </a:p>
          <a:p>
            <a:pPr marL="0" indent="0">
              <a:buFont typeface="Wingdings" pitchFamily="2" charset="2"/>
              <a:buNone/>
              <a:defRPr/>
            </a:pPr>
            <a:r>
              <a:rPr lang="ru-RU" sz="1600" dirty="0"/>
              <a:t>	оператор </a:t>
            </a:r>
            <a:r>
              <a:rPr lang="en-US" sz="1600" b="1" dirty="0"/>
              <a:t>CREATE DOMAIN</a:t>
            </a:r>
            <a:endParaRPr lang="ru-RU" sz="1600" dirty="0"/>
          </a:p>
          <a:p>
            <a:pPr marL="0" indent="0">
              <a:buFont typeface="Wingdings" pitchFamily="2" charset="2"/>
              <a:buNone/>
              <a:defRPr/>
            </a:pPr>
            <a:r>
              <a:rPr lang="en-US" sz="1600" dirty="0"/>
              <a:t>	| </a:t>
            </a:r>
            <a:r>
              <a:rPr lang="ru-RU" sz="1600" dirty="0"/>
              <a:t>оператор </a:t>
            </a:r>
            <a:r>
              <a:rPr lang="en-US" sz="1600" b="1" dirty="0"/>
              <a:t>CREATE TABLE</a:t>
            </a:r>
            <a:endParaRPr lang="ru-RU" sz="1600" dirty="0"/>
          </a:p>
          <a:p>
            <a:pPr marL="0" indent="0">
              <a:buFont typeface="Wingdings" pitchFamily="2" charset="2"/>
              <a:buNone/>
              <a:defRPr/>
            </a:pPr>
            <a:r>
              <a:rPr lang="en-US" sz="1600" dirty="0"/>
              <a:t>	| </a:t>
            </a:r>
            <a:r>
              <a:rPr lang="ru-RU" sz="1600" dirty="0"/>
              <a:t>оператор </a:t>
            </a:r>
            <a:r>
              <a:rPr lang="en-US" sz="1600" b="1" dirty="0"/>
              <a:t>CREATE VIEW</a:t>
            </a:r>
            <a:endParaRPr lang="ru-RU" sz="1600" dirty="0"/>
          </a:p>
          <a:p>
            <a:pPr marL="0" indent="0">
              <a:buFont typeface="Wingdings" pitchFamily="2" charset="2"/>
              <a:buNone/>
              <a:defRPr/>
            </a:pPr>
            <a:r>
              <a:rPr lang="en-US" sz="1600" dirty="0"/>
              <a:t>	| </a:t>
            </a:r>
            <a:r>
              <a:rPr lang="ru-RU" sz="1600" dirty="0"/>
              <a:t>оператор </a:t>
            </a:r>
            <a:r>
              <a:rPr lang="en-US" sz="1600" b="1" dirty="0"/>
              <a:t>GRANT</a:t>
            </a:r>
            <a:endParaRPr lang="ru-RU" sz="1600" dirty="0"/>
          </a:p>
          <a:p>
            <a:pPr marL="0" indent="0">
              <a:buFont typeface="Wingdings" pitchFamily="2" charset="2"/>
              <a:buNone/>
              <a:defRPr/>
            </a:pPr>
            <a:r>
              <a:rPr lang="en-US" sz="1600" dirty="0"/>
              <a:t>	| </a:t>
            </a:r>
            <a:r>
              <a:rPr lang="ru-RU" sz="1600" dirty="0"/>
              <a:t>оператор </a:t>
            </a:r>
            <a:r>
              <a:rPr lang="en-US" sz="1600" b="1" dirty="0"/>
              <a:t>CREATE ASSERTION</a:t>
            </a:r>
            <a:endParaRPr lang="ru-RU" sz="1600" dirty="0"/>
          </a:p>
          <a:p>
            <a:pPr marL="0" indent="0">
              <a:buFont typeface="Wingdings" pitchFamily="2" charset="2"/>
              <a:buNone/>
              <a:defRPr/>
            </a:pPr>
            <a:r>
              <a:rPr lang="en-US" sz="1600" dirty="0"/>
              <a:t>	| </a:t>
            </a:r>
            <a:r>
              <a:rPr lang="ru-RU" sz="1600" dirty="0"/>
              <a:t>оператор </a:t>
            </a:r>
            <a:r>
              <a:rPr lang="en-US" sz="1600" b="1" dirty="0"/>
              <a:t>CREATE CHARACTER SET</a:t>
            </a:r>
            <a:endParaRPr lang="ru-RU" sz="1600" dirty="0"/>
          </a:p>
          <a:p>
            <a:pPr marL="0" indent="0">
              <a:buFont typeface="Wingdings" pitchFamily="2" charset="2"/>
              <a:buNone/>
              <a:defRPr/>
            </a:pPr>
            <a:r>
              <a:rPr lang="en-US" sz="1600" dirty="0"/>
              <a:t>	| </a:t>
            </a:r>
            <a:r>
              <a:rPr lang="ru-RU" sz="1600" dirty="0"/>
              <a:t>оператор </a:t>
            </a:r>
            <a:r>
              <a:rPr lang="en-US" sz="1600" b="1" dirty="0"/>
              <a:t>CREATE  COLLATION</a:t>
            </a:r>
            <a:endParaRPr lang="ru-RU" sz="1600" dirty="0"/>
          </a:p>
          <a:p>
            <a:pPr marL="0" indent="0">
              <a:buFont typeface="Wingdings" pitchFamily="2" charset="2"/>
              <a:buNone/>
              <a:defRPr/>
            </a:pPr>
            <a:r>
              <a:rPr lang="en-US" sz="1600" dirty="0"/>
              <a:t>	</a:t>
            </a:r>
            <a:r>
              <a:rPr lang="ru-RU" sz="1600" dirty="0"/>
              <a:t>| оператор </a:t>
            </a:r>
            <a:r>
              <a:rPr lang="en-US" sz="1600" b="1" dirty="0"/>
              <a:t>CREATE TRANSLATION</a:t>
            </a:r>
            <a:r>
              <a:rPr lang="ru-RU" sz="1600" dirty="0"/>
              <a:t> </a:t>
            </a:r>
          </a:p>
          <a:p>
            <a:pPr marL="0" indent="0">
              <a:buFont typeface="Wingdings" pitchFamily="2" charset="2"/>
              <a:buNone/>
              <a:defRPr/>
            </a:pPr>
            <a:r>
              <a:rPr lang="ru-RU" sz="1600" dirty="0"/>
              <a:t>			[ набор символов ] </a:t>
            </a:r>
          </a:p>
          <a:p>
            <a:pPr marL="0" indent="0">
              <a:buFont typeface="Wingdings" pitchFamily="2" charset="2"/>
              <a:buNone/>
              <a:defRPr/>
            </a:pPr>
            <a:r>
              <a:rPr lang="ru-RU" sz="1600" dirty="0"/>
              <a:t>} </a:t>
            </a:r>
            <a:r>
              <a:rPr lang="ru-RU" sz="1600" dirty="0">
                <a:solidFill>
                  <a:srgbClr val="FF0000"/>
                </a:solidFill>
              </a:rPr>
              <a:t>] </a:t>
            </a:r>
            <a:r>
              <a:rPr lang="ru-RU" sz="1600" dirty="0"/>
              <a:t>… ;</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13</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up)">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ipe(up)">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ipe(up)">
                                      <p:cBhvr>
                                        <p:cTn id="17" dur="5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wipe(up)">
                                      <p:cBhvr>
                                        <p:cTn id="22" dur="500"/>
                                        <p:tgtEl>
                                          <p:spTgt spid="40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wipe(up)">
                                      <p:cBhvr>
                                        <p:cTn id="27" dur="500"/>
                                        <p:tgtEl>
                                          <p:spTgt spid="40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wipe(up)">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wipe(up)">
                                      <p:cBhvr>
                                        <p:cTn id="37" dur="500"/>
                                        <p:tgtEl>
                                          <p:spTgt spid="40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099">
                                            <p:txEl>
                                              <p:pRg st="7" end="7"/>
                                            </p:txEl>
                                          </p:spTgt>
                                        </p:tgtEl>
                                        <p:attrNameLst>
                                          <p:attrName>style.visibility</p:attrName>
                                        </p:attrNameLst>
                                      </p:cBhvr>
                                      <p:to>
                                        <p:strVal val="visible"/>
                                      </p:to>
                                    </p:set>
                                    <p:animEffect transition="in" filter="wipe(up)">
                                      <p:cBhvr>
                                        <p:cTn id="42" dur="500"/>
                                        <p:tgtEl>
                                          <p:spTgt spid="409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099">
                                            <p:txEl>
                                              <p:pRg st="8" end="8"/>
                                            </p:txEl>
                                          </p:spTgt>
                                        </p:tgtEl>
                                        <p:attrNameLst>
                                          <p:attrName>style.visibility</p:attrName>
                                        </p:attrNameLst>
                                      </p:cBhvr>
                                      <p:to>
                                        <p:strVal val="visible"/>
                                      </p:to>
                                    </p:set>
                                    <p:animEffect transition="in" filter="wipe(up)">
                                      <p:cBhvr>
                                        <p:cTn id="47" dur="500"/>
                                        <p:tgtEl>
                                          <p:spTgt spid="409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099">
                                            <p:txEl>
                                              <p:pRg st="9" end="9"/>
                                            </p:txEl>
                                          </p:spTgt>
                                        </p:tgtEl>
                                        <p:attrNameLst>
                                          <p:attrName>style.visibility</p:attrName>
                                        </p:attrNameLst>
                                      </p:cBhvr>
                                      <p:to>
                                        <p:strVal val="visible"/>
                                      </p:to>
                                    </p:set>
                                    <p:animEffect transition="in" filter="wipe(up)">
                                      <p:cBhvr>
                                        <p:cTn id="52" dur="500"/>
                                        <p:tgtEl>
                                          <p:spTgt spid="4099">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099">
                                            <p:txEl>
                                              <p:pRg st="10" end="10"/>
                                            </p:txEl>
                                          </p:spTgt>
                                        </p:tgtEl>
                                        <p:attrNameLst>
                                          <p:attrName>style.visibility</p:attrName>
                                        </p:attrNameLst>
                                      </p:cBhvr>
                                      <p:to>
                                        <p:strVal val="visible"/>
                                      </p:to>
                                    </p:set>
                                    <p:animEffect transition="in" filter="wipe(up)">
                                      <p:cBhvr>
                                        <p:cTn id="57" dur="500"/>
                                        <p:tgtEl>
                                          <p:spTgt spid="4099">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4099">
                                            <p:txEl>
                                              <p:pRg st="11" end="11"/>
                                            </p:txEl>
                                          </p:spTgt>
                                        </p:tgtEl>
                                        <p:attrNameLst>
                                          <p:attrName>style.visibility</p:attrName>
                                        </p:attrNameLst>
                                      </p:cBhvr>
                                      <p:to>
                                        <p:strVal val="visible"/>
                                      </p:to>
                                    </p:set>
                                    <p:animEffect transition="in" filter="wipe(up)">
                                      <p:cBhvr>
                                        <p:cTn id="62" dur="500"/>
                                        <p:tgtEl>
                                          <p:spTgt spid="4099">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4099">
                                            <p:txEl>
                                              <p:pRg st="12" end="12"/>
                                            </p:txEl>
                                          </p:spTgt>
                                        </p:tgtEl>
                                        <p:attrNameLst>
                                          <p:attrName>style.visibility</p:attrName>
                                        </p:attrNameLst>
                                      </p:cBhvr>
                                      <p:to>
                                        <p:strVal val="visible"/>
                                      </p:to>
                                    </p:set>
                                    <p:animEffect transition="in" filter="wipe(up)">
                                      <p:cBhvr>
                                        <p:cTn id="67" dur="500"/>
                                        <p:tgtEl>
                                          <p:spTgt spid="4099">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4099">
                                            <p:txEl>
                                              <p:pRg st="13" end="13"/>
                                            </p:txEl>
                                          </p:spTgt>
                                        </p:tgtEl>
                                        <p:attrNameLst>
                                          <p:attrName>style.visibility</p:attrName>
                                        </p:attrNameLst>
                                      </p:cBhvr>
                                      <p:to>
                                        <p:strVal val="visible"/>
                                      </p:to>
                                    </p:set>
                                    <p:animEffect transition="in" filter="wipe(up)">
                                      <p:cBhvr>
                                        <p:cTn id="72" dur="500"/>
                                        <p:tgtEl>
                                          <p:spTgt spid="4099">
                                            <p:txEl>
                                              <p:pRg st="13" end="1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4099">
                                            <p:txEl>
                                              <p:pRg st="14" end="14"/>
                                            </p:txEl>
                                          </p:spTgt>
                                        </p:tgtEl>
                                        <p:attrNameLst>
                                          <p:attrName>style.visibility</p:attrName>
                                        </p:attrNameLst>
                                      </p:cBhvr>
                                      <p:to>
                                        <p:strVal val="visible"/>
                                      </p:to>
                                    </p:set>
                                    <p:animEffect transition="in" filter="wipe(up)">
                                      <p:cBhvr>
                                        <p:cTn id="77" dur="500"/>
                                        <p:tgtEl>
                                          <p:spTgt spid="4099">
                                            <p:txEl>
                                              <p:pRg st="14" end="14"/>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4099">
                                            <p:txEl>
                                              <p:pRg st="15" end="15"/>
                                            </p:txEl>
                                          </p:spTgt>
                                        </p:tgtEl>
                                        <p:attrNameLst>
                                          <p:attrName>style.visibility</p:attrName>
                                        </p:attrNameLst>
                                      </p:cBhvr>
                                      <p:to>
                                        <p:strVal val="visible"/>
                                      </p:to>
                                    </p:set>
                                    <p:animEffect transition="in" filter="wipe(up)">
                                      <p:cBhvr>
                                        <p:cTn id="82" dur="500"/>
                                        <p:tgtEl>
                                          <p:spTgt spid="4099">
                                            <p:txEl>
                                              <p:pRg st="15" end="15"/>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4099">
                                            <p:txEl>
                                              <p:pRg st="16" end="16"/>
                                            </p:txEl>
                                          </p:spTgt>
                                        </p:tgtEl>
                                        <p:attrNameLst>
                                          <p:attrName>style.visibility</p:attrName>
                                        </p:attrNameLst>
                                      </p:cBhvr>
                                      <p:to>
                                        <p:strVal val="visible"/>
                                      </p:to>
                                    </p:set>
                                    <p:animEffect transition="in" filter="wipe(up)">
                                      <p:cBhvr>
                                        <p:cTn id="87" dur="500"/>
                                        <p:tgtEl>
                                          <p:spTgt spid="4099">
                                            <p:txEl>
                                              <p:pRg st="16" end="16"/>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4099">
                                            <p:txEl>
                                              <p:pRg st="17" end="17"/>
                                            </p:txEl>
                                          </p:spTgt>
                                        </p:tgtEl>
                                        <p:attrNameLst>
                                          <p:attrName>style.visibility</p:attrName>
                                        </p:attrNameLst>
                                      </p:cBhvr>
                                      <p:to>
                                        <p:strVal val="visible"/>
                                      </p:to>
                                    </p:set>
                                    <p:animEffect transition="in" filter="wipe(up)">
                                      <p:cBhvr>
                                        <p:cTn id="92" dur="500"/>
                                        <p:tgtEl>
                                          <p:spTgt spid="4099">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42888" y="1125538"/>
            <a:ext cx="8784607" cy="5273792"/>
          </a:xfrm>
        </p:spPr>
        <p:txBody>
          <a:bodyPr>
            <a:normAutofit fontScale="92500" lnSpcReduction="10000"/>
          </a:bodyPr>
          <a:lstStyle/>
          <a:p>
            <a:pPr marL="0" indent="0">
              <a:buFont typeface="Wingdings" pitchFamily="2" charset="2"/>
              <a:buNone/>
            </a:pPr>
            <a:r>
              <a:rPr lang="ru-RU" sz="2400" dirty="0"/>
              <a:t>&lt; предложение определяющее имя схемы&gt; ::= </a:t>
            </a:r>
            <a:br>
              <a:rPr lang="ru-RU" sz="2400" dirty="0"/>
            </a:br>
            <a:r>
              <a:rPr lang="ru-RU" sz="2400" dirty="0"/>
              <a:t>  </a:t>
            </a:r>
            <a:r>
              <a:rPr lang="ru-RU" sz="2600" dirty="0"/>
              <a:t>имя схемы</a:t>
            </a:r>
          </a:p>
          <a:p>
            <a:pPr marL="0" indent="0">
              <a:buFont typeface="Wingdings" pitchFamily="2" charset="2"/>
              <a:buNone/>
            </a:pPr>
            <a:r>
              <a:rPr lang="ru-RU" sz="2800" dirty="0"/>
              <a:t> </a:t>
            </a:r>
            <a:r>
              <a:rPr lang="ru-RU" sz="2400" dirty="0"/>
              <a:t>| </a:t>
            </a:r>
            <a:r>
              <a:rPr lang="en-US" sz="2600" dirty="0"/>
              <a:t>AUTHORIZATION </a:t>
            </a:r>
            <a:r>
              <a:rPr lang="ru-RU" sz="2600" dirty="0"/>
              <a:t>идентификатор авторизации</a:t>
            </a:r>
          </a:p>
          <a:p>
            <a:pPr marL="0" indent="0">
              <a:buFont typeface="Wingdings" pitchFamily="2" charset="2"/>
              <a:buNone/>
            </a:pPr>
            <a:r>
              <a:rPr lang="ru-RU" sz="2600" dirty="0"/>
              <a:t> | имя схемы </a:t>
            </a:r>
            <a:r>
              <a:rPr lang="en-US" sz="2600" dirty="0"/>
              <a:t>AUTHORIZATION</a:t>
            </a:r>
            <a:r>
              <a:rPr lang="ru-RU" sz="2600" dirty="0"/>
              <a:t> идентификатор авторизации</a:t>
            </a:r>
          </a:p>
          <a:p>
            <a:r>
              <a:rPr lang="ru-RU" sz="1800" kern="1200" dirty="0"/>
              <a:t>Если предложение </a:t>
            </a:r>
            <a:r>
              <a:rPr lang="en-US" sz="2600" dirty="0"/>
              <a:t>AUTHORIZATION</a:t>
            </a:r>
            <a:r>
              <a:rPr lang="en-US" sz="1800" dirty="0"/>
              <a:t> </a:t>
            </a:r>
            <a:r>
              <a:rPr lang="ru-RU" sz="1800" kern="1200" dirty="0"/>
              <a:t>не указывается, то владельцем базы данных </a:t>
            </a:r>
            <a:r>
              <a:rPr lang="ru-RU" sz="2600" dirty="0"/>
              <a:t>имя схемы </a:t>
            </a:r>
            <a:r>
              <a:rPr lang="ru-RU" sz="1800" kern="1200" dirty="0"/>
              <a:t>будет пользователь выполнивший команду </a:t>
            </a:r>
            <a:r>
              <a:rPr lang="en-US" sz="1800" kern="1200" dirty="0"/>
              <a:t>CREATE SCHEMA</a:t>
            </a:r>
            <a:r>
              <a:rPr lang="ru-RU" sz="1800" kern="1200" dirty="0"/>
              <a:t>.</a:t>
            </a:r>
            <a:endParaRPr lang="en-US" sz="1800" kern="1200" dirty="0"/>
          </a:p>
          <a:p>
            <a:r>
              <a:rPr lang="ru-RU" sz="1800" kern="1200" dirty="0"/>
              <a:t>Если</a:t>
            </a:r>
            <a:r>
              <a:rPr lang="en-US" sz="1800" kern="1200" dirty="0"/>
              <a:t> </a:t>
            </a:r>
            <a:r>
              <a:rPr lang="ru-RU" sz="1800" kern="1200" dirty="0"/>
              <a:t>не указано ИМЯ СХЕМЫ, но присутствует фраза </a:t>
            </a:r>
            <a:r>
              <a:rPr lang="en-US" sz="1800" dirty="0"/>
              <a:t>AUTHORIZATION</a:t>
            </a:r>
            <a:r>
              <a:rPr lang="ru-RU" sz="1800" dirty="0"/>
              <a:t>,</a:t>
            </a:r>
            <a:r>
              <a:rPr lang="ru-RU" sz="1800" kern="1200" dirty="0"/>
              <a:t> то создается схема с именем </a:t>
            </a:r>
            <a:r>
              <a:rPr lang="ru-RU" sz="2600" dirty="0"/>
              <a:t>идентификатор авторизации</a:t>
            </a:r>
            <a:endParaRPr lang="ru-RU" sz="2600" kern="1200" dirty="0"/>
          </a:p>
          <a:p>
            <a:pPr marL="0" indent="0">
              <a:buFont typeface="Wingdings" pitchFamily="2" charset="2"/>
              <a:buNone/>
            </a:pPr>
            <a:endParaRPr lang="ru-RU" sz="2400" dirty="0"/>
          </a:p>
          <a:p>
            <a:pPr marL="0" indent="0">
              <a:buFont typeface="Wingdings" pitchFamily="2" charset="2"/>
              <a:buNone/>
            </a:pPr>
            <a:r>
              <a:rPr lang="ru-RU" sz="2400" i="1" u="sng" dirty="0"/>
              <a:t>Пример</a:t>
            </a:r>
          </a:p>
          <a:p>
            <a:pPr marL="0" indent="0" algn="ctr">
              <a:buFont typeface="Wingdings" pitchFamily="2" charset="2"/>
              <a:buNone/>
            </a:pPr>
            <a:endParaRPr lang="ru-RU" sz="2400" dirty="0"/>
          </a:p>
          <a:p>
            <a:pPr marL="0" indent="0">
              <a:buFont typeface="Wingdings" pitchFamily="2" charset="2"/>
              <a:buNone/>
            </a:pPr>
            <a:r>
              <a:rPr lang="en-US" sz="2400" b="1" i="1" dirty="0"/>
              <a:t>CREATE SCHEMA   </a:t>
            </a:r>
            <a:r>
              <a:rPr lang="ru-RU" sz="2400" dirty="0"/>
              <a:t>НГУ  </a:t>
            </a:r>
            <a:r>
              <a:rPr lang="en-US" sz="2400" b="1" i="1" dirty="0"/>
              <a:t>AUTHORIZATION</a:t>
            </a:r>
            <a:r>
              <a:rPr lang="en-US" sz="2400" dirty="0"/>
              <a:t> </a:t>
            </a:r>
            <a:r>
              <a:rPr lang="ru-RU" sz="2400" dirty="0"/>
              <a:t>Иванов</a:t>
            </a:r>
          </a:p>
          <a:p>
            <a:pPr marL="0" indent="0">
              <a:buNone/>
            </a:pPr>
            <a:r>
              <a:rPr lang="ru-RU" sz="2400" dirty="0"/>
              <a:t>Создается база данных </a:t>
            </a:r>
            <a:r>
              <a:rPr lang="ru-RU" sz="2400" b="1" dirty="0"/>
              <a:t>со схемой </a:t>
            </a:r>
            <a:r>
              <a:rPr lang="ru-RU" sz="2400" b="1" dirty="0">
                <a:solidFill>
                  <a:schemeClr val="accent1">
                    <a:lumMod val="50000"/>
                  </a:schemeClr>
                </a:solidFill>
              </a:rPr>
              <a:t>НГУ</a:t>
            </a:r>
            <a:r>
              <a:rPr lang="ru-RU" sz="2400" dirty="0"/>
              <a:t> и </a:t>
            </a:r>
            <a:r>
              <a:rPr lang="ru-RU" sz="2400" b="1" dirty="0"/>
              <a:t>владельцем</a:t>
            </a:r>
            <a:r>
              <a:rPr lang="ru-RU" sz="2400" dirty="0"/>
              <a:t> </a:t>
            </a:r>
            <a:r>
              <a:rPr lang="ru-RU" sz="2400" b="1" dirty="0">
                <a:solidFill>
                  <a:schemeClr val="accent1">
                    <a:lumMod val="50000"/>
                  </a:schemeClr>
                </a:solidFill>
              </a:rPr>
              <a:t>Иванов</a:t>
            </a:r>
          </a:p>
          <a:p>
            <a:pPr marL="0" indent="0">
              <a:buNone/>
            </a:pPr>
            <a:endParaRPr lang="ru-RU" sz="2400" dirty="0"/>
          </a:p>
          <a:p>
            <a:pPr marL="0" indent="0">
              <a:buFont typeface="Wingdings" pitchFamily="2" charset="2"/>
              <a:buNone/>
            </a:pPr>
            <a:endParaRPr lang="ru-RU" sz="2400" dirty="0"/>
          </a:p>
          <a:p>
            <a:pPr marL="0" indent="0" eaLnBrk="1" hangingPunct="1">
              <a:lnSpc>
                <a:spcPct val="90000"/>
              </a:lnSpc>
              <a:buFont typeface="Wingdings" pitchFamily="2" charset="2"/>
              <a:buNone/>
            </a:pPr>
            <a:endParaRPr lang="ru-RU" sz="2800" dirty="0"/>
          </a:p>
        </p:txBody>
      </p:sp>
      <p:sp>
        <p:nvSpPr>
          <p:cNvPr id="8195" name="Rectangle 2"/>
          <p:cNvSpPr txBox="1">
            <a:spLocks noChangeArrowheads="1"/>
          </p:cNvSpPr>
          <p:nvPr/>
        </p:nvSpPr>
        <p:spPr bwMode="auto">
          <a:xfrm>
            <a:off x="746575" y="0"/>
            <a:ext cx="74168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algn="ctr" eaLnBrk="1" hangingPunct="1">
              <a:spcBef>
                <a:spcPct val="0"/>
              </a:spcBef>
            </a:pPr>
            <a:r>
              <a:rPr lang="ru-RU" sz="4000" dirty="0">
                <a:solidFill>
                  <a:schemeClr val="bg2"/>
                </a:solidFill>
              </a:rPr>
              <a:t>Создание </a:t>
            </a:r>
            <a:r>
              <a:rPr lang="ru-RU" sz="3200" dirty="0">
                <a:solidFill>
                  <a:schemeClr val="bg2"/>
                </a:solidFill>
              </a:rPr>
              <a:t>схемы</a:t>
            </a:r>
            <a:r>
              <a:rPr lang="ru-RU" sz="4000" dirty="0">
                <a:solidFill>
                  <a:schemeClr val="bg2"/>
                </a:solidFill>
              </a:rPr>
              <a:t> БД</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14</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wipe(down)">
                                      <p:cBhvr>
                                        <p:cTn id="7" dur="500"/>
                                        <p:tgtEl>
                                          <p:spTgt spid="5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wipe(down)">
                                      <p:cBhvr>
                                        <p:cTn id="12" dur="500"/>
                                        <p:tgtEl>
                                          <p:spTgt spid="51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wipe(down)">
                                      <p:cBhvr>
                                        <p:cTn id="17" dur="500"/>
                                        <p:tgtEl>
                                          <p:spTgt spid="51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123">
                                            <p:txEl>
                                              <p:pRg st="6" end="6"/>
                                            </p:txEl>
                                          </p:spTgt>
                                        </p:tgtEl>
                                        <p:attrNameLst>
                                          <p:attrName>style.visibility</p:attrName>
                                        </p:attrNameLst>
                                      </p:cBhvr>
                                      <p:to>
                                        <p:strVal val="visible"/>
                                      </p:to>
                                    </p:set>
                                    <p:animEffect transition="in" filter="wipe(down)">
                                      <p:cBhvr>
                                        <p:cTn id="22" dur="500"/>
                                        <p:tgtEl>
                                          <p:spTgt spid="512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123">
                                            <p:txEl>
                                              <p:pRg st="8" end="8"/>
                                            </p:txEl>
                                          </p:spTgt>
                                        </p:tgtEl>
                                        <p:attrNameLst>
                                          <p:attrName>style.visibility</p:attrName>
                                        </p:attrNameLst>
                                      </p:cBhvr>
                                      <p:to>
                                        <p:strVal val="visible"/>
                                      </p:to>
                                    </p:set>
                                    <p:animEffect transition="in" filter="wipe(down)">
                                      <p:cBhvr>
                                        <p:cTn id="27" dur="500"/>
                                        <p:tgtEl>
                                          <p:spTgt spid="51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123">
                                            <p:txEl>
                                              <p:pRg st="9" end="9"/>
                                            </p:txEl>
                                          </p:spTgt>
                                        </p:tgtEl>
                                        <p:attrNameLst>
                                          <p:attrName>style.visibility</p:attrName>
                                        </p:attrNameLst>
                                      </p:cBhvr>
                                      <p:to>
                                        <p:strVal val="visible"/>
                                      </p:to>
                                    </p:set>
                                    <p:animEffect transition="in" filter="wipe(down)">
                                      <p:cBhvr>
                                        <p:cTn id="32" dur="500"/>
                                        <p:tgtEl>
                                          <p:spTgt spid="512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61510" y="584200"/>
            <a:ext cx="8766590" cy="6085160"/>
          </a:xfrm>
        </p:spPr>
        <p:txBody>
          <a:bodyPr>
            <a:normAutofit fontScale="47500" lnSpcReduction="20000"/>
          </a:bodyPr>
          <a:lstStyle/>
          <a:p>
            <a:pPr>
              <a:lnSpc>
                <a:spcPct val="120000"/>
              </a:lnSpc>
            </a:pPr>
            <a:r>
              <a:rPr lang="ru-RU" dirty="0"/>
              <a:t>Типы данных </a:t>
            </a:r>
            <a:r>
              <a:rPr lang="ru-RU" dirty="0">
                <a:solidFill>
                  <a:schemeClr val="accent1">
                    <a:lumMod val="75000"/>
                  </a:schemeClr>
                </a:solidFill>
              </a:rPr>
              <a:t>DECIMAL, NUMERIC, INTEGER и SMALLINT </a:t>
            </a:r>
            <a:r>
              <a:rPr lang="ru-RU" dirty="0"/>
              <a:t>называются типами данных точных чисел. </a:t>
            </a:r>
          </a:p>
          <a:p>
            <a:pPr lvl="1">
              <a:lnSpc>
                <a:spcPct val="120000"/>
              </a:lnSpc>
              <a:buClr>
                <a:srgbClr val="C00000"/>
              </a:buClr>
              <a:buFont typeface="Wingdings" pitchFamily="2" charset="2"/>
              <a:buChar char="Ø"/>
            </a:pPr>
            <a:r>
              <a:rPr lang="en-US" sz="2900" dirty="0">
                <a:solidFill>
                  <a:schemeClr val="accent1">
                    <a:lumMod val="75000"/>
                  </a:schemeClr>
                </a:solidFill>
              </a:rPr>
              <a:t>NUMERIC  </a:t>
            </a:r>
            <a:r>
              <a:rPr lang="en-US" sz="2900" dirty="0"/>
              <a:t>[(</a:t>
            </a:r>
            <a:r>
              <a:rPr lang="ru-RU" sz="2900" dirty="0">
                <a:solidFill>
                  <a:schemeClr val="bg2">
                    <a:lumMod val="60000"/>
                    <a:lumOff val="40000"/>
                  </a:schemeClr>
                </a:solidFill>
              </a:rPr>
              <a:t>точность</a:t>
            </a:r>
            <a:r>
              <a:rPr lang="en-US" sz="2900" dirty="0"/>
              <a:t>[,</a:t>
            </a:r>
            <a:r>
              <a:rPr lang="ru-RU" sz="2900" dirty="0"/>
              <a:t> </a:t>
            </a:r>
            <a:r>
              <a:rPr lang="ru-RU" sz="2900" dirty="0">
                <a:solidFill>
                  <a:schemeClr val="bg2">
                    <a:lumMod val="60000"/>
                    <a:lumOff val="40000"/>
                  </a:schemeClr>
                </a:solidFill>
              </a:rPr>
              <a:t>масштаб</a:t>
            </a:r>
            <a:r>
              <a:rPr lang="en-US" sz="2900" dirty="0"/>
              <a:t>])]</a:t>
            </a:r>
            <a:r>
              <a:rPr lang="ru-RU" sz="2900" dirty="0"/>
              <a:t>, </a:t>
            </a:r>
            <a:r>
              <a:rPr lang="en-US" sz="2900" dirty="0">
                <a:solidFill>
                  <a:schemeClr val="accent1">
                    <a:lumMod val="75000"/>
                  </a:schemeClr>
                </a:solidFill>
              </a:rPr>
              <a:t>DECIMAL </a:t>
            </a:r>
            <a:r>
              <a:rPr lang="en-US" sz="2900" dirty="0"/>
              <a:t>[(</a:t>
            </a:r>
            <a:r>
              <a:rPr lang="ru-RU" sz="2900" dirty="0">
                <a:solidFill>
                  <a:schemeClr val="bg2">
                    <a:lumMod val="60000"/>
                    <a:lumOff val="40000"/>
                  </a:schemeClr>
                </a:solidFill>
              </a:rPr>
              <a:t>точность</a:t>
            </a:r>
            <a:r>
              <a:rPr lang="en-US" sz="2900" dirty="0"/>
              <a:t>[,</a:t>
            </a:r>
            <a:r>
              <a:rPr lang="ru-RU" sz="2900" dirty="0"/>
              <a:t> </a:t>
            </a:r>
            <a:r>
              <a:rPr lang="ru-RU" sz="2900" dirty="0">
                <a:solidFill>
                  <a:schemeClr val="bg2">
                    <a:lumMod val="60000"/>
                    <a:lumOff val="40000"/>
                  </a:schemeClr>
                </a:solidFill>
              </a:rPr>
              <a:t>масштаб</a:t>
            </a:r>
            <a:r>
              <a:rPr lang="en-US" sz="2900" dirty="0"/>
              <a:t>])] </a:t>
            </a:r>
            <a:r>
              <a:rPr lang="ru-RU" sz="2900" dirty="0">
                <a:solidFill>
                  <a:schemeClr val="accent1">
                    <a:lumMod val="75000"/>
                  </a:schemeClr>
                </a:solidFill>
              </a:rPr>
              <a:t>. </a:t>
            </a:r>
            <a:br>
              <a:rPr lang="ru-RU" sz="2900" dirty="0"/>
            </a:br>
            <a:r>
              <a:rPr lang="ru-RU" sz="2900" dirty="0">
                <a:solidFill>
                  <a:schemeClr val="bg2">
                    <a:lumMod val="60000"/>
                    <a:lumOff val="40000"/>
                  </a:schemeClr>
                </a:solidFill>
              </a:rPr>
              <a:t> 	точность</a:t>
            </a:r>
            <a:r>
              <a:rPr lang="ru-RU" sz="2900" dirty="0"/>
              <a:t> - количество отводимых под число символов (макс- 64, в </a:t>
            </a:r>
            <a:r>
              <a:rPr lang="en-US" sz="2900" dirty="0" err="1"/>
              <a:t>MySQL</a:t>
            </a:r>
            <a:r>
              <a:rPr lang="en-US" sz="2900" dirty="0"/>
              <a:t>)</a:t>
            </a:r>
            <a:br>
              <a:rPr lang="ru-RU" sz="2900" dirty="0"/>
            </a:br>
            <a:r>
              <a:rPr lang="ru-RU" sz="2900" dirty="0">
                <a:solidFill>
                  <a:schemeClr val="bg2">
                    <a:lumMod val="60000"/>
                    <a:lumOff val="40000"/>
                  </a:schemeClr>
                </a:solidFill>
              </a:rPr>
              <a:t> 	масштаб</a:t>
            </a:r>
            <a:r>
              <a:rPr lang="ru-RU" sz="2900" dirty="0"/>
              <a:t> - количество знаков после запятой (макс- 30 , в </a:t>
            </a:r>
            <a:r>
              <a:rPr lang="en-US" sz="2900" dirty="0" err="1"/>
              <a:t>MySQL</a:t>
            </a:r>
            <a:r>
              <a:rPr lang="en-US" sz="2900" dirty="0"/>
              <a:t>)</a:t>
            </a:r>
            <a:br>
              <a:rPr lang="en-US" sz="2900" dirty="0"/>
            </a:br>
            <a:r>
              <a:rPr lang="en-US" sz="2900" dirty="0">
                <a:solidFill>
                  <a:schemeClr val="accent1">
                    <a:lumMod val="75000"/>
                  </a:schemeClr>
                </a:solidFill>
              </a:rPr>
              <a:t>DECIMAL </a:t>
            </a:r>
            <a:r>
              <a:rPr lang="ru-RU" sz="2900" dirty="0"/>
              <a:t>отличается </a:t>
            </a:r>
            <a:r>
              <a:rPr lang="en-US" sz="2900" dirty="0">
                <a:solidFill>
                  <a:schemeClr val="accent1">
                    <a:lumMod val="75000"/>
                  </a:schemeClr>
                </a:solidFill>
              </a:rPr>
              <a:t> </a:t>
            </a:r>
            <a:r>
              <a:rPr lang="ru-RU" sz="2900" dirty="0"/>
              <a:t>от </a:t>
            </a:r>
            <a:r>
              <a:rPr lang="en-US" sz="2900" dirty="0">
                <a:solidFill>
                  <a:schemeClr val="accent1">
                    <a:lumMod val="75000"/>
                  </a:schemeClr>
                </a:solidFill>
              </a:rPr>
              <a:t>NUMERIC </a:t>
            </a:r>
            <a:r>
              <a:rPr lang="ru-RU" sz="2900" dirty="0"/>
              <a:t>тем, что задает минимальную точность (реализована может быть больше)</a:t>
            </a:r>
          </a:p>
          <a:p>
            <a:pPr lvl="1">
              <a:lnSpc>
                <a:spcPct val="120000"/>
              </a:lnSpc>
              <a:buClr>
                <a:srgbClr val="C00000"/>
              </a:buClr>
              <a:buFont typeface="Wingdings" pitchFamily="2" charset="2"/>
              <a:buChar char="Ø"/>
            </a:pPr>
            <a:r>
              <a:rPr lang="ru-RU" sz="2900" dirty="0">
                <a:solidFill>
                  <a:schemeClr val="accent1">
                    <a:lumMod val="75000"/>
                  </a:schemeClr>
                </a:solidFill>
              </a:rPr>
              <a:t>INTEGER</a:t>
            </a:r>
            <a:r>
              <a:rPr lang="ru-RU" dirty="0"/>
              <a:t> - хранит любое число в диапазоне от -2 147 683 648 до 2 147 683 648.</a:t>
            </a:r>
            <a:endParaRPr lang="en-US" dirty="0"/>
          </a:p>
          <a:p>
            <a:pPr lvl="1">
              <a:lnSpc>
                <a:spcPct val="120000"/>
              </a:lnSpc>
              <a:buClr>
                <a:srgbClr val="C00000"/>
              </a:buClr>
              <a:buFont typeface="Wingdings" pitchFamily="2" charset="2"/>
              <a:buChar char="Ø"/>
            </a:pPr>
            <a:r>
              <a:rPr lang="ru-RU" sz="2900" dirty="0">
                <a:solidFill>
                  <a:schemeClr val="accent1">
                    <a:lumMod val="75000"/>
                  </a:schemeClr>
                </a:solidFill>
              </a:rPr>
              <a:t>SMALLINT</a:t>
            </a:r>
            <a:r>
              <a:rPr lang="ru-RU" sz="2700" dirty="0">
                <a:solidFill>
                  <a:schemeClr val="accent1">
                    <a:lumMod val="75000"/>
                  </a:schemeClr>
                </a:solidFill>
              </a:rPr>
              <a:t> </a:t>
            </a:r>
            <a:r>
              <a:rPr lang="ru-RU" sz="2700" dirty="0"/>
              <a:t>- хранит любое число в диапазоне от -32 768 до 32 767.</a:t>
            </a:r>
          </a:p>
          <a:p>
            <a:pPr>
              <a:lnSpc>
                <a:spcPct val="120000"/>
              </a:lnSpc>
            </a:pPr>
            <a:r>
              <a:rPr lang="ru-RU" dirty="0"/>
              <a:t>Типы данных </a:t>
            </a:r>
            <a:r>
              <a:rPr lang="ru-RU" dirty="0">
                <a:solidFill>
                  <a:schemeClr val="accent1">
                    <a:lumMod val="75000"/>
                  </a:schemeClr>
                </a:solidFill>
              </a:rPr>
              <a:t>FLOAT, REAL и DOUBLEPRECISION </a:t>
            </a:r>
            <a:r>
              <a:rPr lang="ru-RU" dirty="0"/>
              <a:t>представляют собой запись в научном формате: мантисса-порядок.</a:t>
            </a:r>
          </a:p>
          <a:p>
            <a:pPr lvl="1">
              <a:lnSpc>
                <a:spcPct val="120000"/>
              </a:lnSpc>
              <a:buClr>
                <a:srgbClr val="C00000"/>
              </a:buClr>
              <a:buFont typeface="Wingdings" pitchFamily="2" charset="2"/>
              <a:buChar char="Ø"/>
            </a:pPr>
            <a:r>
              <a:rPr lang="ru-RU" dirty="0">
                <a:solidFill>
                  <a:schemeClr val="accent1">
                    <a:lumMod val="75000"/>
                  </a:schemeClr>
                </a:solidFill>
              </a:rPr>
              <a:t>FLOAT</a:t>
            </a:r>
            <a:r>
              <a:rPr lang="en-US" dirty="0"/>
              <a:t> [(</a:t>
            </a:r>
            <a:r>
              <a:rPr lang="ru-RU" dirty="0">
                <a:solidFill>
                  <a:schemeClr val="bg2">
                    <a:lumMod val="60000"/>
                    <a:lumOff val="40000"/>
                  </a:schemeClr>
                </a:solidFill>
              </a:rPr>
              <a:t>точность</a:t>
            </a:r>
            <a:r>
              <a:rPr lang="ru-RU" dirty="0"/>
              <a:t>)</a:t>
            </a:r>
            <a:r>
              <a:rPr lang="en-US" dirty="0"/>
              <a:t>]</a:t>
            </a:r>
            <a:r>
              <a:rPr lang="ru-RU" dirty="0">
                <a:solidFill>
                  <a:schemeClr val="accent1">
                    <a:lumMod val="75000"/>
                  </a:schemeClr>
                </a:solidFill>
              </a:rPr>
              <a:t> </a:t>
            </a:r>
            <a:r>
              <a:rPr lang="ru-RU" dirty="0"/>
              <a:t>Вещественное число (с плавающей точкой). Специфицируются приблизительные числа с двоичной </a:t>
            </a:r>
            <a:r>
              <a:rPr lang="ru-RU" dirty="0">
                <a:solidFill>
                  <a:schemeClr val="bg2">
                    <a:lumMod val="60000"/>
                    <a:lumOff val="40000"/>
                  </a:schemeClr>
                </a:solidFill>
              </a:rPr>
              <a:t>точностью</a:t>
            </a:r>
            <a:r>
              <a:rPr lang="ru-RU" dirty="0"/>
              <a:t>. </a:t>
            </a:r>
            <a:br>
              <a:rPr lang="ru-RU" dirty="0"/>
            </a:br>
            <a:r>
              <a:rPr lang="ru-RU" dirty="0">
                <a:solidFill>
                  <a:schemeClr val="bg2">
                    <a:lumMod val="60000"/>
                    <a:lumOff val="40000"/>
                  </a:schemeClr>
                </a:solidFill>
              </a:rPr>
              <a:t> точность</a:t>
            </a:r>
            <a:r>
              <a:rPr lang="en-US" dirty="0"/>
              <a:t> - </a:t>
            </a:r>
            <a:r>
              <a:rPr lang="ru-RU" dirty="0"/>
              <a:t>это количество битов, используемых для хранения мантиссы числа при экспоненциальном представлении. Порядок определяется реализацией.</a:t>
            </a:r>
            <a:endParaRPr lang="en-US" dirty="0"/>
          </a:p>
          <a:p>
            <a:pPr lvl="1">
              <a:lnSpc>
                <a:spcPct val="120000"/>
              </a:lnSpc>
              <a:buClr>
                <a:srgbClr val="C00000"/>
              </a:buClr>
              <a:buFont typeface="Wingdings" pitchFamily="2" charset="2"/>
              <a:buChar char="Ø"/>
            </a:pPr>
            <a:r>
              <a:rPr lang="ru-RU" dirty="0">
                <a:solidFill>
                  <a:schemeClr val="bg2">
                    <a:lumMod val="40000"/>
                    <a:lumOff val="60000"/>
                  </a:schemeClr>
                </a:solidFill>
              </a:rPr>
              <a:t>REAL </a:t>
            </a:r>
            <a:r>
              <a:rPr lang="ru-RU" dirty="0"/>
              <a:t>специфицирует тип данных с точностью, определенной в реализации.</a:t>
            </a:r>
            <a:endParaRPr lang="en-US" dirty="0"/>
          </a:p>
          <a:p>
            <a:pPr lvl="1">
              <a:lnSpc>
                <a:spcPct val="120000"/>
              </a:lnSpc>
              <a:buClr>
                <a:srgbClr val="C00000"/>
              </a:buClr>
              <a:buFont typeface="Wingdings" pitchFamily="2" charset="2"/>
              <a:buChar char="Ø"/>
            </a:pPr>
            <a:r>
              <a:rPr lang="ru-RU" dirty="0">
                <a:solidFill>
                  <a:schemeClr val="bg2">
                    <a:lumMod val="40000"/>
                    <a:lumOff val="60000"/>
                  </a:schemeClr>
                </a:solidFill>
              </a:rPr>
              <a:t>DOUBLE PRECISION </a:t>
            </a:r>
            <a:r>
              <a:rPr lang="ru-RU" dirty="0"/>
              <a:t>специфицирует тип данных с точностью, определенной в реализации и большей, чем точность типа REAL.</a:t>
            </a:r>
            <a:endParaRPr lang="en-US" dirty="0"/>
          </a:p>
          <a:p>
            <a:pPr marL="342900" lvl="1" indent="-342900">
              <a:lnSpc>
                <a:spcPct val="120000"/>
              </a:lnSpc>
              <a:buClr>
                <a:schemeClr val="bg2"/>
              </a:buClr>
              <a:buSzPct val="75000"/>
              <a:buFont typeface="Wingdings" pitchFamily="2" charset="2"/>
              <a:buChar char="n"/>
            </a:pPr>
            <a:r>
              <a:rPr lang="ru-RU" sz="3300" dirty="0">
                <a:ea typeface="+mn-ea"/>
              </a:rPr>
              <a:t>Имеется соответствие между типами данных </a:t>
            </a:r>
            <a:r>
              <a:rPr lang="en-US" sz="3300" dirty="0">
                <a:ea typeface="+mn-ea"/>
              </a:rPr>
              <a:t>SQL </a:t>
            </a:r>
            <a:r>
              <a:rPr lang="ru-RU" sz="3300" dirty="0">
                <a:ea typeface="+mn-ea"/>
              </a:rPr>
              <a:t>и типами данных языка С: </a:t>
            </a:r>
          </a:p>
          <a:p>
            <a:pPr marL="742950" lvl="2" indent="-342900">
              <a:lnSpc>
                <a:spcPct val="120000"/>
              </a:lnSpc>
              <a:buClr>
                <a:srgbClr val="C00000"/>
              </a:buClr>
              <a:buSzPct val="75000"/>
              <a:buFont typeface="Wingdings" pitchFamily="2" charset="2"/>
              <a:buChar char="Ø"/>
            </a:pPr>
            <a:r>
              <a:rPr lang="en-US" sz="2900" dirty="0">
                <a:ea typeface="+mn-ea"/>
              </a:rPr>
              <a:t>CHARACTER </a:t>
            </a:r>
            <a:r>
              <a:rPr lang="ru-RU" sz="2900" dirty="0">
                <a:ea typeface="+mn-ea"/>
              </a:rPr>
              <a:t>соответствует строкам С;</a:t>
            </a:r>
          </a:p>
          <a:p>
            <a:pPr marL="742950" lvl="2" indent="-342900">
              <a:lnSpc>
                <a:spcPct val="120000"/>
              </a:lnSpc>
              <a:buClr>
                <a:srgbClr val="C00000"/>
              </a:buClr>
              <a:buSzPct val="75000"/>
              <a:buFont typeface="Wingdings" pitchFamily="2" charset="2"/>
              <a:buChar char="Ø"/>
            </a:pPr>
            <a:r>
              <a:rPr lang="en-US" sz="2900" dirty="0">
                <a:ea typeface="+mn-ea"/>
              </a:rPr>
              <a:t>INTEGER </a:t>
            </a:r>
            <a:r>
              <a:rPr lang="ru-RU" sz="2900" dirty="0">
                <a:ea typeface="+mn-ea"/>
              </a:rPr>
              <a:t>соответствует </a:t>
            </a:r>
            <a:r>
              <a:rPr lang="en-US" sz="2900" dirty="0">
                <a:ea typeface="+mn-ea"/>
              </a:rPr>
              <a:t>long; </a:t>
            </a:r>
            <a:endParaRPr lang="ru-RU" sz="2900" dirty="0">
              <a:ea typeface="+mn-ea"/>
            </a:endParaRPr>
          </a:p>
          <a:p>
            <a:pPr marL="742950" lvl="2" indent="-342900">
              <a:lnSpc>
                <a:spcPct val="120000"/>
              </a:lnSpc>
              <a:buClr>
                <a:srgbClr val="C00000"/>
              </a:buClr>
              <a:buSzPct val="75000"/>
              <a:buFont typeface="Wingdings" pitchFamily="2" charset="2"/>
              <a:buChar char="Ø"/>
            </a:pPr>
            <a:r>
              <a:rPr lang="en-US" sz="2900" dirty="0">
                <a:ea typeface="+mn-ea"/>
              </a:rPr>
              <a:t>SMALLINT </a:t>
            </a:r>
            <a:r>
              <a:rPr lang="ru-RU" sz="2900" dirty="0">
                <a:ea typeface="+mn-ea"/>
              </a:rPr>
              <a:t>соответствует </a:t>
            </a:r>
            <a:r>
              <a:rPr lang="en-US" sz="2900" dirty="0">
                <a:ea typeface="+mn-ea"/>
              </a:rPr>
              <a:t>short; </a:t>
            </a:r>
            <a:endParaRPr lang="ru-RU" sz="2900" dirty="0">
              <a:ea typeface="+mn-ea"/>
            </a:endParaRPr>
          </a:p>
          <a:p>
            <a:pPr marL="742950" lvl="2" indent="-342900">
              <a:lnSpc>
                <a:spcPct val="120000"/>
              </a:lnSpc>
              <a:buClr>
                <a:srgbClr val="C00000"/>
              </a:buClr>
              <a:buSzPct val="75000"/>
              <a:buFont typeface="Wingdings" pitchFamily="2" charset="2"/>
              <a:buChar char="Ø"/>
            </a:pPr>
            <a:r>
              <a:rPr lang="en-US" sz="2900" dirty="0">
                <a:ea typeface="+mn-ea"/>
              </a:rPr>
              <a:t>REAL </a:t>
            </a:r>
            <a:r>
              <a:rPr lang="ru-RU" sz="2900" dirty="0">
                <a:ea typeface="+mn-ea"/>
              </a:rPr>
              <a:t>соответствует </a:t>
            </a:r>
            <a:r>
              <a:rPr lang="en-US" sz="2900" dirty="0">
                <a:ea typeface="+mn-ea"/>
              </a:rPr>
              <a:t>float; </a:t>
            </a:r>
            <a:endParaRPr lang="ru-RU" sz="2900" dirty="0">
              <a:ea typeface="+mn-ea"/>
            </a:endParaRPr>
          </a:p>
          <a:p>
            <a:pPr marL="742950" lvl="2" indent="-342900">
              <a:lnSpc>
                <a:spcPct val="120000"/>
              </a:lnSpc>
              <a:buClr>
                <a:srgbClr val="C00000"/>
              </a:buClr>
              <a:buSzPct val="75000"/>
              <a:buFont typeface="Wingdings" pitchFamily="2" charset="2"/>
              <a:buChar char="Ø"/>
            </a:pPr>
            <a:r>
              <a:rPr lang="en-US" sz="2900" dirty="0">
                <a:ea typeface="+mn-ea"/>
              </a:rPr>
              <a:t>DOUBLE PRECISION </a:t>
            </a:r>
            <a:r>
              <a:rPr lang="ru-RU" sz="2900" dirty="0">
                <a:ea typeface="+mn-ea"/>
              </a:rPr>
              <a:t>соответствует </a:t>
            </a:r>
            <a:r>
              <a:rPr lang="en-US" sz="2900" dirty="0">
                <a:ea typeface="+mn-ea"/>
              </a:rPr>
              <a:t>double</a:t>
            </a:r>
          </a:p>
        </p:txBody>
      </p:sp>
      <p:sp>
        <p:nvSpPr>
          <p:cNvPr id="4" name="Заголовок 1"/>
          <p:cNvSpPr>
            <a:spLocks noGrp="1"/>
          </p:cNvSpPr>
          <p:nvPr>
            <p:ph type="title"/>
          </p:nvPr>
        </p:nvSpPr>
        <p:spPr>
          <a:xfrm>
            <a:off x="457200" y="50800"/>
            <a:ext cx="8229600" cy="523528"/>
          </a:xfrm>
        </p:spPr>
        <p:txBody>
          <a:bodyPr/>
          <a:lstStyle/>
          <a:p>
            <a:pPr algn="ctr"/>
            <a:r>
              <a:rPr lang="ru-RU" sz="3200" dirty="0">
                <a:solidFill>
                  <a:schemeClr val="bg2"/>
                </a:solidFill>
              </a:rPr>
              <a:t>Числовые типы данных</a:t>
            </a:r>
          </a:p>
        </p:txBody>
      </p:sp>
      <p:sp>
        <p:nvSpPr>
          <p:cNvPr id="5" name="Номер слайда 4"/>
          <p:cNvSpPr>
            <a:spLocks noGrp="1"/>
          </p:cNvSpPr>
          <p:nvPr>
            <p:ph type="sldNum" sz="quarter" idx="11"/>
          </p:nvPr>
        </p:nvSpPr>
        <p:spPr/>
        <p:txBody>
          <a:bodyPr/>
          <a:lstStyle/>
          <a:p>
            <a:pPr>
              <a:defRPr/>
            </a:pPr>
            <a:fld id="{BEEC2694-874F-4CC5-9FE4-F16F3A164C5F}" type="slidenum">
              <a:rPr lang="ru-RU" smtClean="0"/>
              <a:pPr>
                <a:defRPr/>
              </a:pPr>
              <a:t>15</a:t>
            </a:fld>
            <a:endParaRPr lang="ru-RU"/>
          </a:p>
        </p:txBody>
      </p:sp>
    </p:spTree>
    <p:extLst>
      <p:ext uri="{BB962C8B-B14F-4D97-AF65-F5344CB8AC3E}">
        <p14:creationId xmlns:p14="http://schemas.microsoft.com/office/powerpoint/2010/main" val="272744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down)">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wipe(down)">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wipe(down)">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wipe(down)">
                                      <p:cBhvr>
                                        <p:cTn id="7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6505" y="762000"/>
            <a:ext cx="8910990" cy="5943600"/>
          </a:xfrm>
        </p:spPr>
        <p:txBody>
          <a:bodyPr>
            <a:normAutofit fontScale="70000" lnSpcReduction="20000"/>
          </a:bodyPr>
          <a:lstStyle/>
          <a:p>
            <a:pPr>
              <a:lnSpc>
                <a:spcPct val="120000"/>
              </a:lnSpc>
            </a:pPr>
            <a:r>
              <a:rPr lang="ru-RU" sz="2600" dirty="0"/>
              <a:t>Типы данных </a:t>
            </a:r>
            <a:r>
              <a:rPr lang="ru-RU" sz="2600" dirty="0">
                <a:solidFill>
                  <a:schemeClr val="accent1">
                    <a:lumMod val="75000"/>
                  </a:schemeClr>
                </a:solidFill>
              </a:rPr>
              <a:t>DATE, TIME и TIMESTAMP </a:t>
            </a:r>
            <a:r>
              <a:rPr lang="ru-RU" sz="2600" dirty="0"/>
              <a:t>называются типами даты-времени. Значения типов даты-времени называются "дата-время".</a:t>
            </a:r>
          </a:p>
          <a:p>
            <a:pPr>
              <a:lnSpc>
                <a:spcPct val="120000"/>
              </a:lnSpc>
            </a:pPr>
            <a:r>
              <a:rPr lang="ru-RU" sz="2600" dirty="0">
                <a:solidFill>
                  <a:schemeClr val="accent1">
                    <a:lumMod val="75000"/>
                  </a:schemeClr>
                </a:solidFill>
              </a:rPr>
              <a:t>DATE </a:t>
            </a:r>
            <a:r>
              <a:rPr lang="ru-RU" sz="2600" dirty="0"/>
              <a:t>ХХХХ(год)</a:t>
            </a:r>
            <a:r>
              <a:rPr lang="en-US" sz="2600" dirty="0"/>
              <a:t>,</a:t>
            </a:r>
            <a:r>
              <a:rPr lang="ru-RU" sz="2600" dirty="0"/>
              <a:t>ХХ(месяц)</a:t>
            </a:r>
            <a:r>
              <a:rPr lang="en-US" sz="2600" dirty="0"/>
              <a:t>,</a:t>
            </a:r>
            <a:r>
              <a:rPr lang="ru-RU" sz="2600" dirty="0"/>
              <a:t>ХХ(день)</a:t>
            </a:r>
            <a:r>
              <a:rPr lang="en-US" sz="2600" dirty="0"/>
              <a:t> </a:t>
            </a:r>
            <a:r>
              <a:rPr lang="en-US" sz="2600" dirty="0" err="1">
                <a:solidFill>
                  <a:schemeClr val="bg2">
                    <a:lumMod val="60000"/>
                    <a:lumOff val="40000"/>
                  </a:schemeClr>
                </a:solidFill>
              </a:rPr>
              <a:t>yyyy</a:t>
            </a:r>
            <a:r>
              <a:rPr lang="en-US" sz="2600" dirty="0">
                <a:solidFill>
                  <a:schemeClr val="bg2">
                    <a:lumMod val="60000"/>
                    <a:lumOff val="40000"/>
                  </a:schemeClr>
                </a:solidFill>
              </a:rPr>
              <a:t>-mm-</a:t>
            </a:r>
            <a:r>
              <a:rPr lang="en-US" sz="2600" dirty="0" err="1">
                <a:solidFill>
                  <a:schemeClr val="bg2">
                    <a:lumMod val="60000"/>
                    <a:lumOff val="40000"/>
                  </a:schemeClr>
                </a:solidFill>
              </a:rPr>
              <a:t>dd</a:t>
            </a:r>
            <a:r>
              <a:rPr lang="ru-RU" sz="2600" dirty="0">
                <a:solidFill>
                  <a:schemeClr val="bg2">
                    <a:lumMod val="60000"/>
                    <a:lumOff val="40000"/>
                  </a:schemeClr>
                </a:solidFill>
              </a:rPr>
              <a:t> </a:t>
            </a:r>
            <a:r>
              <a:rPr lang="ru-RU" sz="2600" dirty="0"/>
              <a:t>(10 позиций)</a:t>
            </a:r>
            <a:endParaRPr lang="en-US" sz="2600" dirty="0"/>
          </a:p>
          <a:p>
            <a:pPr marL="0" indent="0">
              <a:lnSpc>
                <a:spcPct val="120000"/>
              </a:lnSpc>
              <a:buNone/>
            </a:pPr>
            <a:r>
              <a:rPr lang="en-US" sz="2400" dirty="0"/>
              <a:t>'2002</a:t>
            </a:r>
            <a:r>
              <a:rPr lang="ru-RU" sz="2400" dirty="0"/>
              <a:t>-</a:t>
            </a:r>
            <a:r>
              <a:rPr lang="en-US" sz="2400" dirty="0"/>
              <a:t>12</a:t>
            </a:r>
            <a:r>
              <a:rPr lang="ru-RU" sz="2400" dirty="0"/>
              <a:t>-</a:t>
            </a:r>
            <a:r>
              <a:rPr lang="en-US" sz="2400" dirty="0"/>
              <a:t>20’  – </a:t>
            </a:r>
            <a:r>
              <a:rPr lang="ru-RU" sz="2400" dirty="0"/>
              <a:t>изображение литерала даты. </a:t>
            </a:r>
          </a:p>
          <a:p>
            <a:pPr marL="0" indent="0">
              <a:lnSpc>
                <a:spcPct val="120000"/>
              </a:lnSpc>
              <a:buNone/>
            </a:pPr>
            <a:r>
              <a:rPr lang="ru-RU" sz="2400" dirty="0"/>
              <a:t>В разных СУБД могут быть </a:t>
            </a:r>
            <a:r>
              <a:rPr lang="en-US" sz="2400" dirty="0"/>
              <a:t>’20.12.2002’ </a:t>
            </a:r>
            <a:r>
              <a:rPr lang="ru-RU" sz="2400" dirty="0"/>
              <a:t>или в </a:t>
            </a:r>
            <a:r>
              <a:rPr lang="en-US" sz="2400" dirty="0"/>
              <a:t>“</a:t>
            </a:r>
            <a:r>
              <a:rPr lang="ru-RU" sz="2400" dirty="0"/>
              <a:t> </a:t>
            </a:r>
            <a:r>
              <a:rPr lang="en-US" sz="2400" dirty="0"/>
              <a:t>” </a:t>
            </a:r>
            <a:r>
              <a:rPr lang="ru-RU" sz="2400" dirty="0"/>
              <a:t>кавычках.</a:t>
            </a:r>
          </a:p>
          <a:p>
            <a:pPr>
              <a:lnSpc>
                <a:spcPct val="120000"/>
              </a:lnSpc>
            </a:pPr>
            <a:r>
              <a:rPr lang="ru-RU" sz="2600" dirty="0">
                <a:solidFill>
                  <a:schemeClr val="accent1">
                    <a:lumMod val="75000"/>
                  </a:schemeClr>
                </a:solidFill>
              </a:rPr>
              <a:t>TIME</a:t>
            </a:r>
            <a:r>
              <a:rPr lang="en-US" sz="2600" dirty="0"/>
              <a:t> [</a:t>
            </a:r>
            <a:r>
              <a:rPr lang="ru-RU" sz="2600" dirty="0"/>
              <a:t>(</a:t>
            </a:r>
            <a:r>
              <a:rPr lang="ru-RU" sz="2600" dirty="0">
                <a:solidFill>
                  <a:schemeClr val="bg2">
                    <a:lumMod val="60000"/>
                    <a:lumOff val="40000"/>
                  </a:schemeClr>
                </a:solidFill>
              </a:rPr>
              <a:t>точность</a:t>
            </a:r>
            <a:r>
              <a:rPr lang="ru-RU" sz="2600" dirty="0"/>
              <a:t>)</a:t>
            </a:r>
            <a:r>
              <a:rPr lang="en-US" sz="2600" dirty="0"/>
              <a:t>][</a:t>
            </a:r>
            <a:r>
              <a:rPr lang="en-US" sz="2600" dirty="0">
                <a:solidFill>
                  <a:schemeClr val="bg2">
                    <a:lumMod val="60000"/>
                    <a:lumOff val="40000"/>
                  </a:schemeClr>
                </a:solidFill>
              </a:rPr>
              <a:t>WITH</a:t>
            </a:r>
            <a:r>
              <a:rPr lang="en-US" sz="2600" dirty="0"/>
              <a:t> </a:t>
            </a:r>
            <a:r>
              <a:rPr lang="en-US" sz="2600" dirty="0">
                <a:solidFill>
                  <a:schemeClr val="bg2">
                    <a:lumMod val="60000"/>
                    <a:lumOff val="40000"/>
                  </a:schemeClr>
                </a:solidFill>
              </a:rPr>
              <a:t>TIME ZONE</a:t>
            </a:r>
            <a:r>
              <a:rPr lang="en-US" sz="2600" dirty="0"/>
              <a:t>]</a:t>
            </a:r>
            <a:r>
              <a:rPr lang="ru-RU" sz="2600" dirty="0"/>
              <a:t> </a:t>
            </a:r>
            <a:r>
              <a:rPr lang="en-US" sz="2600" dirty="0" err="1"/>
              <a:t>hh</a:t>
            </a:r>
            <a:r>
              <a:rPr lang="en-US" sz="2600" dirty="0"/>
              <a:t>-mm-</a:t>
            </a:r>
            <a:r>
              <a:rPr lang="en-US" sz="2600" dirty="0" err="1"/>
              <a:t>ss</a:t>
            </a:r>
            <a:r>
              <a:rPr lang="en-US" sz="2600" dirty="0"/>
              <a:t> (8 </a:t>
            </a:r>
            <a:r>
              <a:rPr lang="ru-RU" sz="2600" dirty="0"/>
              <a:t>позиций)</a:t>
            </a:r>
          </a:p>
          <a:p>
            <a:pPr>
              <a:lnSpc>
                <a:spcPct val="120000"/>
              </a:lnSpc>
            </a:pPr>
            <a:r>
              <a:rPr lang="en-US" sz="2600" dirty="0">
                <a:solidFill>
                  <a:schemeClr val="bg2">
                    <a:lumMod val="60000"/>
                    <a:lumOff val="40000"/>
                  </a:schemeClr>
                </a:solidFill>
              </a:rPr>
              <a:t>TIMESTAMP</a:t>
            </a:r>
            <a:r>
              <a:rPr lang="en-US" sz="2600" dirty="0"/>
              <a:t> [</a:t>
            </a:r>
            <a:r>
              <a:rPr lang="ru-RU" sz="2600" dirty="0"/>
              <a:t>(</a:t>
            </a:r>
            <a:r>
              <a:rPr lang="ru-RU" sz="2600" dirty="0">
                <a:solidFill>
                  <a:schemeClr val="bg2">
                    <a:lumMod val="60000"/>
                    <a:lumOff val="40000"/>
                  </a:schemeClr>
                </a:solidFill>
              </a:rPr>
              <a:t>точность</a:t>
            </a:r>
            <a:r>
              <a:rPr lang="ru-RU" sz="2600" dirty="0"/>
              <a:t>)</a:t>
            </a:r>
            <a:r>
              <a:rPr lang="en-US" sz="2600" dirty="0"/>
              <a:t>][</a:t>
            </a:r>
            <a:r>
              <a:rPr lang="en-US" sz="2600" dirty="0">
                <a:solidFill>
                  <a:schemeClr val="bg2">
                    <a:lumMod val="60000"/>
                    <a:lumOff val="40000"/>
                  </a:schemeClr>
                </a:solidFill>
              </a:rPr>
              <a:t>WITH</a:t>
            </a:r>
            <a:r>
              <a:rPr lang="en-US" sz="2600" dirty="0"/>
              <a:t> </a:t>
            </a:r>
            <a:r>
              <a:rPr lang="en-US" sz="2600" dirty="0">
                <a:solidFill>
                  <a:schemeClr val="bg2">
                    <a:lumMod val="60000"/>
                    <a:lumOff val="40000"/>
                  </a:schemeClr>
                </a:solidFill>
              </a:rPr>
              <a:t>TIME ZONE</a:t>
            </a:r>
            <a:r>
              <a:rPr lang="en-US" sz="2600" dirty="0"/>
              <a:t>]</a:t>
            </a:r>
            <a:r>
              <a:rPr lang="ru-RU" sz="2600" dirty="0"/>
              <a:t> комбинация данных типа </a:t>
            </a:r>
            <a:r>
              <a:rPr lang="ru-RU" sz="2600" dirty="0">
                <a:solidFill>
                  <a:schemeClr val="accent1">
                    <a:lumMod val="75000"/>
                  </a:schemeClr>
                </a:solidFill>
              </a:rPr>
              <a:t>DATE</a:t>
            </a:r>
            <a:r>
              <a:rPr lang="en-US" sz="2600" dirty="0">
                <a:solidFill>
                  <a:schemeClr val="accent1">
                    <a:lumMod val="75000"/>
                  </a:schemeClr>
                </a:solidFill>
              </a:rPr>
              <a:t> </a:t>
            </a:r>
            <a:r>
              <a:rPr lang="ru-RU" sz="2600" dirty="0"/>
              <a:t>и </a:t>
            </a:r>
            <a:r>
              <a:rPr lang="ru-RU" sz="2600" dirty="0">
                <a:solidFill>
                  <a:schemeClr val="accent1">
                    <a:lumMod val="75000"/>
                  </a:schemeClr>
                </a:solidFill>
              </a:rPr>
              <a:t>TIME</a:t>
            </a:r>
            <a:r>
              <a:rPr lang="en-US" sz="2600" dirty="0"/>
              <a:t> </a:t>
            </a:r>
            <a:endParaRPr lang="ru-RU" sz="2600" dirty="0"/>
          </a:p>
          <a:p>
            <a:pPr>
              <a:lnSpc>
                <a:spcPct val="120000"/>
              </a:lnSpc>
            </a:pPr>
            <a:r>
              <a:rPr lang="ru-RU" sz="2600" dirty="0"/>
              <a:t>Тип данных </a:t>
            </a:r>
            <a:r>
              <a:rPr lang="ru-RU" sz="2600" dirty="0">
                <a:solidFill>
                  <a:schemeClr val="accent1">
                    <a:lumMod val="75000"/>
                  </a:schemeClr>
                </a:solidFill>
              </a:rPr>
              <a:t>INTERVAL</a:t>
            </a:r>
            <a:r>
              <a:rPr lang="ru-RU" sz="2600" dirty="0"/>
              <a:t> называется интервальным типом.</a:t>
            </a:r>
          </a:p>
          <a:p>
            <a:pPr>
              <a:lnSpc>
                <a:spcPct val="120000"/>
              </a:lnSpc>
            </a:pPr>
            <a:r>
              <a:rPr lang="ru-RU" sz="2600" dirty="0"/>
              <a:t>Различают 2 типа интервалов:</a:t>
            </a:r>
          </a:p>
          <a:p>
            <a:pPr lvl="1">
              <a:lnSpc>
                <a:spcPct val="120000"/>
              </a:lnSpc>
              <a:buClr>
                <a:srgbClr val="C00000"/>
              </a:buClr>
              <a:buFont typeface="Wingdings" pitchFamily="2" charset="2"/>
              <a:buChar char="Ø"/>
            </a:pPr>
            <a:r>
              <a:rPr lang="ru-RU" dirty="0"/>
              <a:t>Интервал </a:t>
            </a:r>
            <a:r>
              <a:rPr lang="en-US" dirty="0"/>
              <a:t>YEAR</a:t>
            </a:r>
            <a:r>
              <a:rPr lang="ru-RU" dirty="0"/>
              <a:t> – </a:t>
            </a:r>
            <a:r>
              <a:rPr lang="en-US" dirty="0"/>
              <a:t>MONTH</a:t>
            </a:r>
            <a:r>
              <a:rPr lang="ru-RU" dirty="0"/>
              <a:t> </a:t>
            </a:r>
            <a:r>
              <a:rPr lang="en-US" dirty="0"/>
              <a:t>(YEAR, MONTH)</a:t>
            </a:r>
          </a:p>
          <a:p>
            <a:pPr lvl="2">
              <a:lnSpc>
                <a:spcPct val="120000"/>
              </a:lnSpc>
              <a:buClr>
                <a:srgbClr val="C00000"/>
              </a:buClr>
              <a:buFont typeface="Wingdings" panose="05000000000000000000" pitchFamily="2" charset="2"/>
              <a:buChar char="v"/>
            </a:pPr>
            <a:r>
              <a:rPr lang="ru-RU" b="1" dirty="0"/>
              <a:t>INTERVAL '99' YEAR</a:t>
            </a:r>
            <a:r>
              <a:rPr lang="en-US" b="1" dirty="0"/>
              <a:t> </a:t>
            </a:r>
            <a:r>
              <a:rPr lang="ru-RU" dirty="0"/>
              <a:t>-- интервал в 99 лет</a:t>
            </a:r>
            <a:r>
              <a:rPr lang="en-US" dirty="0"/>
              <a:t>, </a:t>
            </a:r>
            <a:endParaRPr lang="ru-RU" dirty="0"/>
          </a:p>
          <a:p>
            <a:pPr lvl="2">
              <a:lnSpc>
                <a:spcPct val="120000"/>
              </a:lnSpc>
              <a:buClr>
                <a:srgbClr val="C00000"/>
              </a:buClr>
              <a:buFont typeface="Wingdings" panose="05000000000000000000" pitchFamily="2" charset="2"/>
              <a:buChar char="v"/>
            </a:pPr>
            <a:r>
              <a:rPr lang="ru-RU" b="1" dirty="0"/>
              <a:t>INTERVAL '-99-2' YEAR TO MONTH</a:t>
            </a:r>
            <a:endParaRPr lang="en-US" b="1" dirty="0"/>
          </a:p>
          <a:p>
            <a:pPr marL="914400" lvl="2" indent="0">
              <a:lnSpc>
                <a:spcPct val="120000"/>
              </a:lnSpc>
              <a:buClr>
                <a:srgbClr val="C00000"/>
              </a:buClr>
              <a:buNone/>
            </a:pPr>
            <a:r>
              <a:rPr lang="ru-RU" dirty="0"/>
              <a:t>-- интервал в 99 лет и два месяца</a:t>
            </a:r>
          </a:p>
          <a:p>
            <a:pPr marL="914400" lvl="2" indent="0">
              <a:lnSpc>
                <a:spcPct val="120000"/>
              </a:lnSpc>
              <a:buClr>
                <a:srgbClr val="C00000"/>
              </a:buClr>
              <a:buNone/>
            </a:pPr>
            <a:r>
              <a:rPr lang="ru-RU" dirty="0"/>
              <a:t>-- это отрицательный интервал</a:t>
            </a:r>
          </a:p>
          <a:p>
            <a:pPr lvl="1">
              <a:lnSpc>
                <a:spcPct val="120000"/>
              </a:lnSpc>
              <a:buClr>
                <a:srgbClr val="C00000"/>
              </a:buClr>
              <a:buFont typeface="Wingdings" pitchFamily="2" charset="2"/>
              <a:buChar char="Ø"/>
            </a:pPr>
            <a:r>
              <a:rPr lang="ru-RU" dirty="0"/>
              <a:t>Интервал </a:t>
            </a:r>
            <a:r>
              <a:rPr lang="en-US" dirty="0"/>
              <a:t>DAY –TIME (DAY, HOUR, MINUTE, and SECOND)</a:t>
            </a:r>
            <a:endParaRPr lang="ru-RU" dirty="0"/>
          </a:p>
          <a:p>
            <a:pPr>
              <a:lnSpc>
                <a:spcPct val="120000"/>
              </a:lnSpc>
            </a:pPr>
            <a:r>
              <a:rPr lang="ru-RU" dirty="0"/>
              <a:t>Операция с интервалом </a:t>
            </a:r>
          </a:p>
          <a:p>
            <a:pPr marL="0" indent="0">
              <a:lnSpc>
                <a:spcPct val="120000"/>
              </a:lnSpc>
              <a:buNone/>
            </a:pPr>
            <a:r>
              <a:rPr lang="ru-RU" sz="2600" dirty="0"/>
              <a:t>	</a:t>
            </a:r>
            <a:r>
              <a:rPr lang="en-US" sz="2600" dirty="0"/>
              <a:t>'2009-01-01' + </a:t>
            </a:r>
            <a:r>
              <a:rPr lang="en-US" sz="2600" b="1" dirty="0"/>
              <a:t>INTERVAL</a:t>
            </a:r>
            <a:r>
              <a:rPr lang="en-US" sz="2600" dirty="0"/>
              <a:t> '3 7:07:05' day to second</a:t>
            </a:r>
          </a:p>
          <a:p>
            <a:pPr lvl="1">
              <a:lnSpc>
                <a:spcPct val="120000"/>
              </a:lnSpc>
              <a:buClr>
                <a:srgbClr val="C00000"/>
              </a:buClr>
              <a:buFont typeface="Wingdings" pitchFamily="2" charset="2"/>
              <a:buChar char="Ø"/>
            </a:pPr>
            <a:endParaRPr lang="ru-RU" dirty="0"/>
          </a:p>
          <a:p>
            <a:pPr lvl="1">
              <a:lnSpc>
                <a:spcPct val="120000"/>
              </a:lnSpc>
              <a:buClr>
                <a:srgbClr val="C00000"/>
              </a:buClr>
              <a:buFont typeface="Wingdings" pitchFamily="2" charset="2"/>
              <a:buChar char="Ø"/>
            </a:pPr>
            <a:endParaRPr lang="en-US" dirty="0"/>
          </a:p>
          <a:p>
            <a:pPr lvl="1">
              <a:lnSpc>
                <a:spcPct val="120000"/>
              </a:lnSpc>
              <a:buClr>
                <a:srgbClr val="C00000"/>
              </a:buClr>
              <a:buFont typeface="Wingdings" pitchFamily="2" charset="2"/>
              <a:buChar char="Ø"/>
            </a:pPr>
            <a:endParaRPr lang="ru-RU" dirty="0"/>
          </a:p>
        </p:txBody>
      </p:sp>
      <p:sp>
        <p:nvSpPr>
          <p:cNvPr id="4" name="Заголовок 1"/>
          <p:cNvSpPr>
            <a:spLocks noGrp="1"/>
          </p:cNvSpPr>
          <p:nvPr>
            <p:ph type="title"/>
          </p:nvPr>
        </p:nvSpPr>
        <p:spPr>
          <a:xfrm>
            <a:off x="457200" y="184150"/>
            <a:ext cx="8229600" cy="523528"/>
          </a:xfrm>
        </p:spPr>
        <p:txBody>
          <a:bodyPr/>
          <a:lstStyle/>
          <a:p>
            <a:pPr algn="ctr"/>
            <a:r>
              <a:rPr lang="ru-RU" sz="3600" dirty="0">
                <a:solidFill>
                  <a:schemeClr val="bg2"/>
                </a:solidFill>
              </a:rPr>
              <a:t>Типы данных для времени</a:t>
            </a:r>
          </a:p>
        </p:txBody>
      </p:sp>
      <p:sp>
        <p:nvSpPr>
          <p:cNvPr id="5" name="Номер слайда 4"/>
          <p:cNvSpPr>
            <a:spLocks noGrp="1"/>
          </p:cNvSpPr>
          <p:nvPr>
            <p:ph type="sldNum" sz="quarter" idx="11"/>
          </p:nvPr>
        </p:nvSpPr>
        <p:spPr/>
        <p:txBody>
          <a:bodyPr/>
          <a:lstStyle/>
          <a:p>
            <a:pPr>
              <a:defRPr/>
            </a:pPr>
            <a:fld id="{BEEC2694-874F-4CC5-9FE4-F16F3A164C5F}" type="slidenum">
              <a:rPr lang="ru-RU" smtClean="0"/>
              <a:pPr>
                <a:defRPr/>
              </a:pPr>
              <a:t>16</a:t>
            </a:fld>
            <a:endParaRPr lang="ru-RU"/>
          </a:p>
        </p:txBody>
      </p:sp>
    </p:spTree>
    <p:extLst>
      <p:ext uri="{BB962C8B-B14F-4D97-AF65-F5344CB8AC3E}">
        <p14:creationId xmlns:p14="http://schemas.microsoft.com/office/powerpoint/2010/main" val="272744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wipe(down)">
                                      <p:cBhvr>
                                        <p:cTn id="45" dur="500"/>
                                        <p:tgtEl>
                                          <p:spTgt spid="3">
                                            <p:txEl>
                                              <p:pRg st="8" end="8"/>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wipe(down)">
                                      <p:cBhvr>
                                        <p:cTn id="48" dur="500"/>
                                        <p:tgtEl>
                                          <p:spTgt spid="3">
                                            <p:txEl>
                                              <p:pRg st="9" end="9"/>
                                            </p:tx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wipe(down)">
                                      <p:cBhvr>
                                        <p:cTn id="51" dur="500"/>
                                        <p:tgtEl>
                                          <p:spTgt spid="3">
                                            <p:txEl>
                                              <p:pRg st="10" end="10"/>
                                            </p:tx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wipe(down)">
                                      <p:cBhvr>
                                        <p:cTn id="54" dur="500"/>
                                        <p:tgtEl>
                                          <p:spTgt spid="3">
                                            <p:txEl>
                                              <p:pRg st="11" end="11"/>
                                            </p:txEl>
                                          </p:spTgt>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wipe(down)">
                                      <p:cBhvr>
                                        <p:cTn id="57" dur="500"/>
                                        <p:tgtEl>
                                          <p:spTgt spid="3">
                                            <p:txEl>
                                              <p:pRg st="12" end="12"/>
                                            </p:txEl>
                                          </p:spTgt>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
                                            <p:txEl>
                                              <p:pRg st="13" end="13"/>
                                            </p:txEl>
                                          </p:spTgt>
                                        </p:tgtEl>
                                        <p:attrNameLst>
                                          <p:attrName>style.visibility</p:attrName>
                                        </p:attrNameLst>
                                      </p:cBhvr>
                                      <p:to>
                                        <p:strVal val="visible"/>
                                      </p:to>
                                    </p:set>
                                    <p:animEffect transition="in" filter="wipe(down)">
                                      <p:cBhvr>
                                        <p:cTn id="60" dur="500"/>
                                        <p:tgtEl>
                                          <p:spTgt spid="3">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
                                            <p:txEl>
                                              <p:pRg st="14" end="14"/>
                                            </p:txEl>
                                          </p:spTgt>
                                        </p:tgtEl>
                                        <p:attrNameLst>
                                          <p:attrName>style.visibility</p:attrName>
                                        </p:attrNameLst>
                                      </p:cBhvr>
                                      <p:to>
                                        <p:strVal val="visible"/>
                                      </p:to>
                                    </p:set>
                                    <p:animEffect transition="in" filter="wipe(down)">
                                      <p:cBhvr>
                                        <p:cTn id="65" dur="500"/>
                                        <p:tgtEl>
                                          <p:spTgt spid="3">
                                            <p:txEl>
                                              <p:pRg st="14" end="1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3">
                                            <p:txEl>
                                              <p:pRg st="15" end="15"/>
                                            </p:txEl>
                                          </p:spTgt>
                                        </p:tgtEl>
                                        <p:attrNameLst>
                                          <p:attrName>style.visibility</p:attrName>
                                        </p:attrNameLst>
                                      </p:cBhvr>
                                      <p:to>
                                        <p:strVal val="visible"/>
                                      </p:to>
                                    </p:set>
                                    <p:animEffect transition="in" filter="wipe(down)">
                                      <p:cBhvr>
                                        <p:cTn id="70" dur="500"/>
                                        <p:tgtEl>
                                          <p:spTgt spid="3">
                                            <p:txEl>
                                              <p:pRg st="15" end="1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1" nodeType="clickEffect">
                                  <p:stCondLst>
                                    <p:cond delay="0"/>
                                  </p:stCondLst>
                                  <p:childTnLst>
                                    <p:set>
                                      <p:cBhvr>
                                        <p:cTn id="74" dur="1" fill="hold">
                                          <p:stCondLst>
                                            <p:cond delay="0"/>
                                          </p:stCondLst>
                                        </p:cTn>
                                        <p:tgtEl>
                                          <p:spTgt spid="3">
                                            <p:txEl>
                                              <p:pRg st="0" end="0"/>
                                            </p:txEl>
                                          </p:spTgt>
                                        </p:tgtEl>
                                        <p:attrNameLst>
                                          <p:attrName>style.visibility</p:attrName>
                                        </p:attrNameLst>
                                      </p:cBhvr>
                                      <p:to>
                                        <p:strVal val="visible"/>
                                      </p:to>
                                    </p:set>
                                    <p:animEffect transition="in" filter="wipe(up)">
                                      <p:cBhvr>
                                        <p:cTn id="75" dur="500"/>
                                        <p:tgtEl>
                                          <p:spTgt spid="3">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1" nodeType="clickEffect">
                                  <p:stCondLst>
                                    <p:cond delay="0"/>
                                  </p:stCondLst>
                                  <p:childTnLst>
                                    <p:set>
                                      <p:cBhvr>
                                        <p:cTn id="79" dur="1" fill="hold">
                                          <p:stCondLst>
                                            <p:cond delay="0"/>
                                          </p:stCondLst>
                                        </p:cTn>
                                        <p:tgtEl>
                                          <p:spTgt spid="3">
                                            <p:txEl>
                                              <p:pRg st="1" end="1"/>
                                            </p:txEl>
                                          </p:spTgt>
                                        </p:tgtEl>
                                        <p:attrNameLst>
                                          <p:attrName>style.visibility</p:attrName>
                                        </p:attrNameLst>
                                      </p:cBhvr>
                                      <p:to>
                                        <p:strVal val="visible"/>
                                      </p:to>
                                    </p:set>
                                    <p:animEffect transition="in" filter="wipe(up)">
                                      <p:cBhvr>
                                        <p:cTn id="80" dur="500"/>
                                        <p:tgtEl>
                                          <p:spTgt spid="3">
                                            <p:txEl>
                                              <p:pRg st="1" end="1"/>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1" nodeType="clickEffect">
                                  <p:stCondLst>
                                    <p:cond delay="0"/>
                                  </p:stCondLst>
                                  <p:childTnLst>
                                    <p:set>
                                      <p:cBhvr>
                                        <p:cTn id="84" dur="1" fill="hold">
                                          <p:stCondLst>
                                            <p:cond delay="0"/>
                                          </p:stCondLst>
                                        </p:cTn>
                                        <p:tgtEl>
                                          <p:spTgt spid="3">
                                            <p:txEl>
                                              <p:pRg st="2" end="2"/>
                                            </p:txEl>
                                          </p:spTgt>
                                        </p:tgtEl>
                                        <p:attrNameLst>
                                          <p:attrName>style.visibility</p:attrName>
                                        </p:attrNameLst>
                                      </p:cBhvr>
                                      <p:to>
                                        <p:strVal val="visible"/>
                                      </p:to>
                                    </p:set>
                                    <p:animEffect transition="in" filter="wipe(up)">
                                      <p:cBhvr>
                                        <p:cTn id="85" dur="500"/>
                                        <p:tgtEl>
                                          <p:spTgt spid="3">
                                            <p:txEl>
                                              <p:pRg st="2" end="2"/>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1" nodeType="clickEffect">
                                  <p:stCondLst>
                                    <p:cond delay="0"/>
                                  </p:stCondLst>
                                  <p:childTnLst>
                                    <p:set>
                                      <p:cBhvr>
                                        <p:cTn id="89" dur="1" fill="hold">
                                          <p:stCondLst>
                                            <p:cond delay="0"/>
                                          </p:stCondLst>
                                        </p:cTn>
                                        <p:tgtEl>
                                          <p:spTgt spid="3">
                                            <p:txEl>
                                              <p:pRg st="3" end="3"/>
                                            </p:txEl>
                                          </p:spTgt>
                                        </p:tgtEl>
                                        <p:attrNameLst>
                                          <p:attrName>style.visibility</p:attrName>
                                        </p:attrNameLst>
                                      </p:cBhvr>
                                      <p:to>
                                        <p:strVal val="visible"/>
                                      </p:to>
                                    </p:set>
                                    <p:animEffect transition="in" filter="wipe(up)">
                                      <p:cBhvr>
                                        <p:cTn id="90" dur="500"/>
                                        <p:tgtEl>
                                          <p:spTgt spid="3">
                                            <p:txEl>
                                              <p:pRg st="3" end="3"/>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1" nodeType="clickEffect">
                                  <p:stCondLst>
                                    <p:cond delay="0"/>
                                  </p:stCondLst>
                                  <p:childTnLst>
                                    <p:set>
                                      <p:cBhvr>
                                        <p:cTn id="94" dur="1" fill="hold">
                                          <p:stCondLst>
                                            <p:cond delay="0"/>
                                          </p:stCondLst>
                                        </p:cTn>
                                        <p:tgtEl>
                                          <p:spTgt spid="3">
                                            <p:txEl>
                                              <p:pRg st="4" end="4"/>
                                            </p:txEl>
                                          </p:spTgt>
                                        </p:tgtEl>
                                        <p:attrNameLst>
                                          <p:attrName>style.visibility</p:attrName>
                                        </p:attrNameLst>
                                      </p:cBhvr>
                                      <p:to>
                                        <p:strVal val="visible"/>
                                      </p:to>
                                    </p:set>
                                    <p:animEffect transition="in" filter="wipe(up)">
                                      <p:cBhvr>
                                        <p:cTn id="95" dur="500"/>
                                        <p:tgtEl>
                                          <p:spTgt spid="3">
                                            <p:txEl>
                                              <p:pRg st="4" end="4"/>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1" nodeType="clickEffect">
                                  <p:stCondLst>
                                    <p:cond delay="0"/>
                                  </p:stCondLst>
                                  <p:childTnLst>
                                    <p:set>
                                      <p:cBhvr>
                                        <p:cTn id="99" dur="1" fill="hold">
                                          <p:stCondLst>
                                            <p:cond delay="0"/>
                                          </p:stCondLst>
                                        </p:cTn>
                                        <p:tgtEl>
                                          <p:spTgt spid="3">
                                            <p:txEl>
                                              <p:pRg st="5" end="5"/>
                                            </p:txEl>
                                          </p:spTgt>
                                        </p:tgtEl>
                                        <p:attrNameLst>
                                          <p:attrName>style.visibility</p:attrName>
                                        </p:attrNameLst>
                                      </p:cBhvr>
                                      <p:to>
                                        <p:strVal val="visible"/>
                                      </p:to>
                                    </p:set>
                                    <p:animEffect transition="in" filter="wipe(up)">
                                      <p:cBhvr>
                                        <p:cTn id="100" dur="500"/>
                                        <p:tgtEl>
                                          <p:spTgt spid="3">
                                            <p:txEl>
                                              <p:pRg st="5" end="5"/>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1" nodeType="clickEffect">
                                  <p:stCondLst>
                                    <p:cond delay="0"/>
                                  </p:stCondLst>
                                  <p:childTnLst>
                                    <p:set>
                                      <p:cBhvr>
                                        <p:cTn id="104" dur="1" fill="hold">
                                          <p:stCondLst>
                                            <p:cond delay="0"/>
                                          </p:stCondLst>
                                        </p:cTn>
                                        <p:tgtEl>
                                          <p:spTgt spid="3">
                                            <p:txEl>
                                              <p:pRg st="6" end="6"/>
                                            </p:txEl>
                                          </p:spTgt>
                                        </p:tgtEl>
                                        <p:attrNameLst>
                                          <p:attrName>style.visibility</p:attrName>
                                        </p:attrNameLst>
                                      </p:cBhvr>
                                      <p:to>
                                        <p:strVal val="visible"/>
                                      </p:to>
                                    </p:set>
                                    <p:animEffect transition="in" filter="wipe(up)">
                                      <p:cBhvr>
                                        <p:cTn id="105" dur="500"/>
                                        <p:tgtEl>
                                          <p:spTgt spid="3">
                                            <p:txEl>
                                              <p:pRg st="6" end="6"/>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grpId="1" nodeType="clickEffect">
                                  <p:stCondLst>
                                    <p:cond delay="0"/>
                                  </p:stCondLst>
                                  <p:childTnLst>
                                    <p:set>
                                      <p:cBhvr>
                                        <p:cTn id="109" dur="1" fill="hold">
                                          <p:stCondLst>
                                            <p:cond delay="0"/>
                                          </p:stCondLst>
                                        </p:cTn>
                                        <p:tgtEl>
                                          <p:spTgt spid="3">
                                            <p:txEl>
                                              <p:pRg st="7" end="7"/>
                                            </p:txEl>
                                          </p:spTgt>
                                        </p:tgtEl>
                                        <p:attrNameLst>
                                          <p:attrName>style.visibility</p:attrName>
                                        </p:attrNameLst>
                                      </p:cBhvr>
                                      <p:to>
                                        <p:strVal val="visible"/>
                                      </p:to>
                                    </p:set>
                                    <p:animEffect transition="in" filter="wipe(up)">
                                      <p:cBhvr>
                                        <p:cTn id="110" dur="500"/>
                                        <p:tgtEl>
                                          <p:spTgt spid="3">
                                            <p:txEl>
                                              <p:pRg st="7" end="7"/>
                                            </p:txEl>
                                          </p:spTgt>
                                        </p:tgtEl>
                                      </p:cBhvr>
                                    </p:animEffect>
                                  </p:childTnLst>
                                </p:cTn>
                              </p:par>
                              <p:par>
                                <p:cTn id="111" presetID="22" presetClass="entr" presetSubtype="1" fill="hold" grpId="1" nodeType="withEffect">
                                  <p:stCondLst>
                                    <p:cond delay="0"/>
                                  </p:stCondLst>
                                  <p:childTnLst>
                                    <p:set>
                                      <p:cBhvr>
                                        <p:cTn id="112" dur="1" fill="hold">
                                          <p:stCondLst>
                                            <p:cond delay="0"/>
                                          </p:stCondLst>
                                        </p:cTn>
                                        <p:tgtEl>
                                          <p:spTgt spid="3">
                                            <p:txEl>
                                              <p:pRg st="8" end="8"/>
                                            </p:txEl>
                                          </p:spTgt>
                                        </p:tgtEl>
                                        <p:attrNameLst>
                                          <p:attrName>style.visibility</p:attrName>
                                        </p:attrNameLst>
                                      </p:cBhvr>
                                      <p:to>
                                        <p:strVal val="visible"/>
                                      </p:to>
                                    </p:set>
                                    <p:animEffect transition="in" filter="wipe(up)">
                                      <p:cBhvr>
                                        <p:cTn id="113" dur="500"/>
                                        <p:tgtEl>
                                          <p:spTgt spid="3">
                                            <p:txEl>
                                              <p:pRg st="8" end="8"/>
                                            </p:txEl>
                                          </p:spTgt>
                                        </p:tgtEl>
                                      </p:cBhvr>
                                    </p:animEffect>
                                  </p:childTnLst>
                                </p:cTn>
                              </p:par>
                              <p:par>
                                <p:cTn id="114" presetID="22" presetClass="entr" presetSubtype="1" fill="hold" grpId="1" nodeType="withEffect">
                                  <p:stCondLst>
                                    <p:cond delay="0"/>
                                  </p:stCondLst>
                                  <p:childTnLst>
                                    <p:set>
                                      <p:cBhvr>
                                        <p:cTn id="115" dur="1" fill="hold">
                                          <p:stCondLst>
                                            <p:cond delay="0"/>
                                          </p:stCondLst>
                                        </p:cTn>
                                        <p:tgtEl>
                                          <p:spTgt spid="3">
                                            <p:txEl>
                                              <p:pRg st="9" end="9"/>
                                            </p:txEl>
                                          </p:spTgt>
                                        </p:tgtEl>
                                        <p:attrNameLst>
                                          <p:attrName>style.visibility</p:attrName>
                                        </p:attrNameLst>
                                      </p:cBhvr>
                                      <p:to>
                                        <p:strVal val="visible"/>
                                      </p:to>
                                    </p:set>
                                    <p:animEffect transition="in" filter="wipe(up)">
                                      <p:cBhvr>
                                        <p:cTn id="116" dur="500"/>
                                        <p:tgtEl>
                                          <p:spTgt spid="3">
                                            <p:txEl>
                                              <p:pRg st="9" end="9"/>
                                            </p:txEl>
                                          </p:spTgt>
                                        </p:tgtEl>
                                      </p:cBhvr>
                                    </p:animEffect>
                                  </p:childTnLst>
                                </p:cTn>
                              </p:par>
                              <p:par>
                                <p:cTn id="117" presetID="22" presetClass="entr" presetSubtype="1" fill="hold" grpId="1" nodeType="withEffect">
                                  <p:stCondLst>
                                    <p:cond delay="0"/>
                                  </p:stCondLst>
                                  <p:childTnLst>
                                    <p:set>
                                      <p:cBhvr>
                                        <p:cTn id="118" dur="1" fill="hold">
                                          <p:stCondLst>
                                            <p:cond delay="0"/>
                                          </p:stCondLst>
                                        </p:cTn>
                                        <p:tgtEl>
                                          <p:spTgt spid="3">
                                            <p:txEl>
                                              <p:pRg st="10" end="10"/>
                                            </p:txEl>
                                          </p:spTgt>
                                        </p:tgtEl>
                                        <p:attrNameLst>
                                          <p:attrName>style.visibility</p:attrName>
                                        </p:attrNameLst>
                                      </p:cBhvr>
                                      <p:to>
                                        <p:strVal val="visible"/>
                                      </p:to>
                                    </p:set>
                                    <p:animEffect transition="in" filter="wipe(up)">
                                      <p:cBhvr>
                                        <p:cTn id="119" dur="500"/>
                                        <p:tgtEl>
                                          <p:spTgt spid="3">
                                            <p:txEl>
                                              <p:pRg st="10" end="10"/>
                                            </p:txEl>
                                          </p:spTgt>
                                        </p:tgtEl>
                                      </p:cBhvr>
                                    </p:animEffect>
                                  </p:childTnLst>
                                </p:cTn>
                              </p:par>
                              <p:par>
                                <p:cTn id="120" presetID="22" presetClass="entr" presetSubtype="1" fill="hold" grpId="1" nodeType="withEffect">
                                  <p:stCondLst>
                                    <p:cond delay="0"/>
                                  </p:stCondLst>
                                  <p:childTnLst>
                                    <p:set>
                                      <p:cBhvr>
                                        <p:cTn id="121" dur="1" fill="hold">
                                          <p:stCondLst>
                                            <p:cond delay="0"/>
                                          </p:stCondLst>
                                        </p:cTn>
                                        <p:tgtEl>
                                          <p:spTgt spid="3">
                                            <p:txEl>
                                              <p:pRg st="11" end="11"/>
                                            </p:txEl>
                                          </p:spTgt>
                                        </p:tgtEl>
                                        <p:attrNameLst>
                                          <p:attrName>style.visibility</p:attrName>
                                        </p:attrNameLst>
                                      </p:cBhvr>
                                      <p:to>
                                        <p:strVal val="visible"/>
                                      </p:to>
                                    </p:set>
                                    <p:animEffect transition="in" filter="wipe(up)">
                                      <p:cBhvr>
                                        <p:cTn id="122" dur="500"/>
                                        <p:tgtEl>
                                          <p:spTgt spid="3">
                                            <p:txEl>
                                              <p:pRg st="11" end="11"/>
                                            </p:txEl>
                                          </p:spTgt>
                                        </p:tgtEl>
                                      </p:cBhvr>
                                    </p:animEffect>
                                  </p:childTnLst>
                                </p:cTn>
                              </p:par>
                              <p:par>
                                <p:cTn id="123" presetID="22" presetClass="entr" presetSubtype="1" fill="hold" grpId="1" nodeType="withEffect">
                                  <p:stCondLst>
                                    <p:cond delay="0"/>
                                  </p:stCondLst>
                                  <p:childTnLst>
                                    <p:set>
                                      <p:cBhvr>
                                        <p:cTn id="124" dur="1" fill="hold">
                                          <p:stCondLst>
                                            <p:cond delay="0"/>
                                          </p:stCondLst>
                                        </p:cTn>
                                        <p:tgtEl>
                                          <p:spTgt spid="3">
                                            <p:txEl>
                                              <p:pRg st="12" end="12"/>
                                            </p:txEl>
                                          </p:spTgt>
                                        </p:tgtEl>
                                        <p:attrNameLst>
                                          <p:attrName>style.visibility</p:attrName>
                                        </p:attrNameLst>
                                      </p:cBhvr>
                                      <p:to>
                                        <p:strVal val="visible"/>
                                      </p:to>
                                    </p:set>
                                    <p:animEffect transition="in" filter="wipe(up)">
                                      <p:cBhvr>
                                        <p:cTn id="125" dur="500"/>
                                        <p:tgtEl>
                                          <p:spTgt spid="3">
                                            <p:txEl>
                                              <p:pRg st="12" end="12"/>
                                            </p:txEl>
                                          </p:spTgt>
                                        </p:tgtEl>
                                      </p:cBhvr>
                                    </p:animEffect>
                                  </p:childTnLst>
                                </p:cTn>
                              </p:par>
                              <p:par>
                                <p:cTn id="126" presetID="22" presetClass="entr" presetSubtype="1" fill="hold" grpId="1" nodeType="withEffect">
                                  <p:stCondLst>
                                    <p:cond delay="0"/>
                                  </p:stCondLst>
                                  <p:childTnLst>
                                    <p:set>
                                      <p:cBhvr>
                                        <p:cTn id="127" dur="1" fill="hold">
                                          <p:stCondLst>
                                            <p:cond delay="0"/>
                                          </p:stCondLst>
                                        </p:cTn>
                                        <p:tgtEl>
                                          <p:spTgt spid="3">
                                            <p:txEl>
                                              <p:pRg st="13" end="13"/>
                                            </p:txEl>
                                          </p:spTgt>
                                        </p:tgtEl>
                                        <p:attrNameLst>
                                          <p:attrName>style.visibility</p:attrName>
                                        </p:attrNameLst>
                                      </p:cBhvr>
                                      <p:to>
                                        <p:strVal val="visible"/>
                                      </p:to>
                                    </p:set>
                                    <p:animEffect transition="in" filter="wipe(up)">
                                      <p:cBhvr>
                                        <p:cTn id="128" dur="500"/>
                                        <p:tgtEl>
                                          <p:spTgt spid="3">
                                            <p:txEl>
                                              <p:pRg st="13" end="13"/>
                                            </p:txEl>
                                          </p:spTgt>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grpId="1" nodeType="clickEffect">
                                  <p:stCondLst>
                                    <p:cond delay="0"/>
                                  </p:stCondLst>
                                  <p:childTnLst>
                                    <p:set>
                                      <p:cBhvr>
                                        <p:cTn id="132" dur="1" fill="hold">
                                          <p:stCondLst>
                                            <p:cond delay="0"/>
                                          </p:stCondLst>
                                        </p:cTn>
                                        <p:tgtEl>
                                          <p:spTgt spid="3">
                                            <p:txEl>
                                              <p:pRg st="14" end="14"/>
                                            </p:txEl>
                                          </p:spTgt>
                                        </p:tgtEl>
                                        <p:attrNameLst>
                                          <p:attrName>style.visibility</p:attrName>
                                        </p:attrNameLst>
                                      </p:cBhvr>
                                      <p:to>
                                        <p:strVal val="visible"/>
                                      </p:to>
                                    </p:set>
                                    <p:animEffect transition="in" filter="wipe(up)">
                                      <p:cBhvr>
                                        <p:cTn id="133" dur="500"/>
                                        <p:tgtEl>
                                          <p:spTgt spid="3">
                                            <p:txEl>
                                              <p:pRg st="14" end="14"/>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1" fill="hold" grpId="1" nodeType="clickEffect">
                                  <p:stCondLst>
                                    <p:cond delay="0"/>
                                  </p:stCondLst>
                                  <p:childTnLst>
                                    <p:set>
                                      <p:cBhvr>
                                        <p:cTn id="137" dur="1" fill="hold">
                                          <p:stCondLst>
                                            <p:cond delay="0"/>
                                          </p:stCondLst>
                                        </p:cTn>
                                        <p:tgtEl>
                                          <p:spTgt spid="3">
                                            <p:txEl>
                                              <p:pRg st="15" end="15"/>
                                            </p:txEl>
                                          </p:spTgt>
                                        </p:tgtEl>
                                        <p:attrNameLst>
                                          <p:attrName>style.visibility</p:attrName>
                                        </p:attrNameLst>
                                      </p:cBhvr>
                                      <p:to>
                                        <p:strVal val="visible"/>
                                      </p:to>
                                    </p:set>
                                    <p:animEffect transition="in" filter="wipe(up)">
                                      <p:cBhvr>
                                        <p:cTn id="138"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523528"/>
          </a:xfrm>
        </p:spPr>
        <p:txBody>
          <a:bodyPr/>
          <a:lstStyle/>
          <a:p>
            <a:pPr algn="ctr"/>
            <a:r>
              <a:rPr lang="ru-RU" sz="3600" dirty="0">
                <a:solidFill>
                  <a:schemeClr val="bg2"/>
                </a:solidFill>
              </a:rPr>
              <a:t>Строковые типы данных</a:t>
            </a:r>
          </a:p>
        </p:txBody>
      </p:sp>
      <p:sp>
        <p:nvSpPr>
          <p:cNvPr id="3" name="Объект 2"/>
          <p:cNvSpPr>
            <a:spLocks noGrp="1"/>
          </p:cNvSpPr>
          <p:nvPr>
            <p:ph idx="1"/>
          </p:nvPr>
        </p:nvSpPr>
        <p:spPr>
          <a:xfrm>
            <a:off x="251520" y="1196752"/>
            <a:ext cx="8445624" cy="5112568"/>
          </a:xfrm>
        </p:spPr>
        <p:txBody>
          <a:bodyPr>
            <a:normAutofit fontScale="92500"/>
          </a:bodyPr>
          <a:lstStyle/>
          <a:p>
            <a:r>
              <a:rPr lang="ru-RU" b="1" dirty="0"/>
              <a:t>Символьные строки. </a:t>
            </a:r>
            <a:r>
              <a:rPr lang="ru-RU" dirty="0"/>
              <a:t>Тип данных символьных строк может содержать строки постоянной (</a:t>
            </a:r>
            <a:r>
              <a:rPr lang="ru-RU" dirty="0">
                <a:solidFill>
                  <a:schemeClr val="accent1">
                    <a:lumMod val="75000"/>
                  </a:schemeClr>
                </a:solidFill>
              </a:rPr>
              <a:t>CHARACTER</a:t>
            </a:r>
            <a:r>
              <a:rPr lang="ru-RU" dirty="0"/>
              <a:t>) или переменной (</a:t>
            </a:r>
            <a:r>
              <a:rPr lang="ru-RU" dirty="0">
                <a:solidFill>
                  <a:schemeClr val="accent1">
                    <a:lumMod val="75000"/>
                  </a:schemeClr>
                </a:solidFill>
              </a:rPr>
              <a:t>CHARACTERVARYING</a:t>
            </a:r>
            <a:r>
              <a:rPr lang="ru-RU" dirty="0"/>
              <a:t>) длины. </a:t>
            </a:r>
            <a:endParaRPr lang="en-US" dirty="0"/>
          </a:p>
          <a:p>
            <a:pPr lvl="1"/>
            <a:r>
              <a:rPr lang="ru-RU" dirty="0"/>
              <a:t>Для конкретного типа CHARACTER(</a:t>
            </a:r>
            <a:r>
              <a:rPr lang="en-US" dirty="0"/>
              <a:t>N) </a:t>
            </a:r>
            <a:r>
              <a:rPr lang="ru-RU" dirty="0"/>
              <a:t>указывается </a:t>
            </a:r>
            <a:r>
              <a:rPr lang="en-US" dirty="0"/>
              <a:t>N – </a:t>
            </a:r>
            <a:r>
              <a:rPr lang="ru-RU" dirty="0"/>
              <a:t>фиксированная длина строк этого типа; </a:t>
            </a:r>
            <a:endParaRPr lang="en-US" dirty="0"/>
          </a:p>
          <a:p>
            <a:pPr lvl="1"/>
            <a:r>
              <a:rPr lang="ru-RU" dirty="0"/>
              <a:t>В случае CHARACTERVARYING (</a:t>
            </a:r>
            <a:r>
              <a:rPr lang="en-US" dirty="0"/>
              <a:t>N), </a:t>
            </a:r>
            <a:br>
              <a:rPr lang="en-US" dirty="0"/>
            </a:br>
            <a:r>
              <a:rPr lang="en-US" dirty="0"/>
              <a:t>N</a:t>
            </a:r>
            <a:r>
              <a:rPr lang="ru-RU" dirty="0"/>
              <a:t> - максимальная длина.</a:t>
            </a:r>
            <a:endParaRPr lang="en-US" dirty="0"/>
          </a:p>
          <a:p>
            <a:r>
              <a:rPr lang="ru-RU" b="1" dirty="0"/>
              <a:t>Битовые строки</a:t>
            </a:r>
            <a:r>
              <a:rPr lang="en-US" b="1" dirty="0"/>
              <a:t>. </a:t>
            </a:r>
            <a:r>
              <a:rPr lang="en-US" dirty="0">
                <a:solidFill>
                  <a:schemeClr val="accent1">
                    <a:lumMod val="75000"/>
                  </a:schemeClr>
                </a:solidFill>
              </a:rPr>
              <a:t>BIT(N)</a:t>
            </a:r>
            <a:r>
              <a:rPr lang="en-US" dirty="0"/>
              <a:t>, </a:t>
            </a:r>
            <a:r>
              <a:rPr lang="en-US" dirty="0">
                <a:solidFill>
                  <a:schemeClr val="accent1">
                    <a:lumMod val="75000"/>
                  </a:schemeClr>
                </a:solidFill>
              </a:rPr>
              <a:t>BIT</a:t>
            </a:r>
            <a:r>
              <a:rPr lang="ru-RU" dirty="0">
                <a:solidFill>
                  <a:schemeClr val="accent1">
                    <a:lumMod val="75000"/>
                  </a:schemeClr>
                </a:solidFill>
              </a:rPr>
              <a:t>VARYING</a:t>
            </a:r>
            <a:r>
              <a:rPr lang="en-US" dirty="0">
                <a:solidFill>
                  <a:schemeClr val="accent1">
                    <a:lumMod val="75000"/>
                  </a:schemeClr>
                </a:solidFill>
              </a:rPr>
              <a:t>(N)</a:t>
            </a:r>
            <a:endParaRPr lang="ru-RU" dirty="0">
              <a:solidFill>
                <a:schemeClr val="accent1">
                  <a:lumMod val="75000"/>
                </a:schemeClr>
              </a:solidFill>
            </a:endParaRPr>
          </a:p>
          <a:p>
            <a:endParaRPr lang="ru-RU"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17</a:t>
            </a:fld>
            <a:endParaRPr lang="ru-RU"/>
          </a:p>
        </p:txBody>
      </p:sp>
    </p:spTree>
    <p:extLst>
      <p:ext uri="{BB962C8B-B14F-4D97-AF65-F5344CB8AC3E}">
        <p14:creationId xmlns:p14="http://schemas.microsoft.com/office/powerpoint/2010/main" val="169857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08050" y="333375"/>
            <a:ext cx="7264400" cy="574675"/>
          </a:xfrm>
        </p:spPr>
        <p:txBody>
          <a:bodyPr/>
          <a:lstStyle/>
          <a:p>
            <a:pPr algn="ctr" eaLnBrk="1" hangingPunct="1"/>
            <a:r>
              <a:rPr lang="en-US" sz="3600">
                <a:solidFill>
                  <a:schemeClr val="bg2"/>
                </a:solidFill>
              </a:rPr>
              <a:t>CREATE DOMAIN</a:t>
            </a:r>
            <a:endParaRPr lang="ru-RU" sz="3600">
              <a:solidFill>
                <a:schemeClr val="bg2"/>
              </a:solidFill>
            </a:endParaRPr>
          </a:p>
        </p:txBody>
      </p:sp>
      <p:sp>
        <p:nvSpPr>
          <p:cNvPr id="8195" name="Rectangle 3"/>
          <p:cNvSpPr>
            <a:spLocks noGrp="1" noChangeArrowheads="1"/>
          </p:cNvSpPr>
          <p:nvPr>
            <p:ph type="body" idx="1"/>
          </p:nvPr>
        </p:nvSpPr>
        <p:spPr>
          <a:xfrm>
            <a:off x="107950" y="1268413"/>
            <a:ext cx="8642350" cy="5329237"/>
          </a:xfrm>
        </p:spPr>
        <p:txBody>
          <a:bodyPr/>
          <a:lstStyle/>
          <a:p>
            <a:pPr marL="0" indent="0">
              <a:buNone/>
              <a:defRPr/>
            </a:pPr>
            <a:r>
              <a:rPr lang="ru-RU" sz="2400" dirty="0"/>
              <a:t>оператор </a:t>
            </a:r>
            <a:r>
              <a:rPr lang="en-US" sz="2400" b="1" dirty="0"/>
              <a:t>CREATE DOMAIN := </a:t>
            </a:r>
          </a:p>
          <a:p>
            <a:pPr marL="0" indent="0">
              <a:buNone/>
              <a:defRPr/>
            </a:pPr>
            <a:r>
              <a:rPr lang="en-US" sz="2400" b="1" dirty="0"/>
              <a:t>CREATE DOMAIN </a:t>
            </a:r>
            <a:r>
              <a:rPr lang="ru-RU" sz="2400" dirty="0" err="1"/>
              <a:t>имя_домена</a:t>
            </a:r>
            <a:r>
              <a:rPr lang="ru-RU" sz="2400" dirty="0"/>
              <a:t> [</a:t>
            </a:r>
            <a:r>
              <a:rPr lang="en-US" sz="2400" dirty="0"/>
              <a:t>AS</a:t>
            </a:r>
            <a:r>
              <a:rPr lang="ru-RU" sz="2400" dirty="0"/>
              <a:t>] </a:t>
            </a:r>
            <a:r>
              <a:rPr lang="ru-RU" sz="2400" dirty="0">
                <a:solidFill>
                  <a:schemeClr val="bg2">
                    <a:lumMod val="60000"/>
                    <a:lumOff val="40000"/>
                  </a:schemeClr>
                </a:solidFill>
              </a:rPr>
              <a:t>ТИП ДАННЫХ</a:t>
            </a:r>
          </a:p>
          <a:p>
            <a:pPr marL="0" indent="0">
              <a:buFont typeface="Wingdings" pitchFamily="2" charset="2"/>
              <a:buNone/>
              <a:defRPr/>
            </a:pPr>
            <a:r>
              <a:rPr lang="ru-RU" sz="2400" dirty="0"/>
              <a:t>	[</a:t>
            </a:r>
            <a:r>
              <a:rPr lang="en-US" sz="2400" dirty="0"/>
              <a:t>DEFAULT </a:t>
            </a:r>
            <a:r>
              <a:rPr lang="ru-RU" sz="2400" dirty="0"/>
              <a:t>значение по умолчанию]</a:t>
            </a:r>
          </a:p>
          <a:p>
            <a:pPr marL="0" indent="0">
              <a:buFont typeface="Wingdings" pitchFamily="2" charset="2"/>
              <a:buNone/>
              <a:defRPr/>
            </a:pPr>
            <a:r>
              <a:rPr lang="ru-RU" sz="2400" dirty="0"/>
              <a:t>	[&lt;определение ограничения&gt; …]</a:t>
            </a:r>
          </a:p>
          <a:p>
            <a:pPr marL="0" indent="0">
              <a:buFont typeface="Wingdings" pitchFamily="2" charset="2"/>
              <a:buNone/>
              <a:defRPr/>
            </a:pPr>
            <a:r>
              <a:rPr lang="ru-RU" sz="2400" dirty="0"/>
              <a:t>	[</a:t>
            </a:r>
            <a:r>
              <a:rPr lang="en-US" sz="2400" dirty="0"/>
              <a:t>COLLATE </a:t>
            </a:r>
            <a:r>
              <a:rPr lang="ru-RU" sz="2400" dirty="0"/>
              <a:t>имя сравнения]</a:t>
            </a:r>
          </a:p>
          <a:p>
            <a:pPr marL="0" indent="0">
              <a:buFont typeface="Wingdings" pitchFamily="2" charset="2"/>
              <a:buNone/>
              <a:defRPr/>
            </a:pPr>
            <a:endParaRPr lang="ru-RU" sz="2400" dirty="0"/>
          </a:p>
          <a:p>
            <a:pPr marL="0" indent="0">
              <a:buFont typeface="Wingdings" pitchFamily="2" charset="2"/>
              <a:buNone/>
              <a:defRPr/>
            </a:pPr>
            <a:r>
              <a:rPr lang="ru-RU" sz="2400" i="1" u="sng" dirty="0"/>
              <a:t>Пример</a:t>
            </a:r>
            <a:endParaRPr lang="ru-RU" sz="2400" dirty="0"/>
          </a:p>
          <a:p>
            <a:pPr marL="0" indent="0">
              <a:buFont typeface="Wingdings" pitchFamily="2" charset="2"/>
              <a:buNone/>
              <a:defRPr/>
            </a:pPr>
            <a:r>
              <a:rPr lang="en-US" sz="2400" b="1" dirty="0"/>
              <a:t>CREATE DOMAIN </a:t>
            </a:r>
            <a:r>
              <a:rPr lang="en-US" sz="2400" dirty="0" err="1"/>
              <a:t>id_nums</a:t>
            </a:r>
            <a:r>
              <a:rPr lang="en-US" sz="2400" dirty="0"/>
              <a:t> AS INTEGER CHECK( value &gt;0)</a:t>
            </a:r>
            <a:endParaRPr lang="ru-RU" sz="2400" dirty="0"/>
          </a:p>
          <a:p>
            <a:pPr algn="ctr" eaLnBrk="1" hangingPunct="1">
              <a:lnSpc>
                <a:spcPct val="80000"/>
              </a:lnSpc>
              <a:buFont typeface="Wingdings" pitchFamily="2" charset="2"/>
              <a:buNone/>
              <a:defRPr/>
            </a:pPr>
            <a:endParaRPr lang="en-US" sz="2800"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18</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down)">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down)">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down)">
                                      <p:cBhvr>
                                        <p:cTn id="22" dur="500"/>
                                        <p:tgtEl>
                                          <p:spTgt spid="8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wipe(down)">
                                      <p:cBhvr>
                                        <p:cTn id="27" dur="500"/>
                                        <p:tgtEl>
                                          <p:spTgt spid="81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195">
                                            <p:txEl>
                                              <p:pRg st="6" end="6"/>
                                            </p:txEl>
                                          </p:spTgt>
                                        </p:tgtEl>
                                        <p:attrNameLst>
                                          <p:attrName>style.visibility</p:attrName>
                                        </p:attrNameLst>
                                      </p:cBhvr>
                                      <p:to>
                                        <p:strVal val="visible"/>
                                      </p:to>
                                    </p:set>
                                    <p:animEffect transition="in" filter="wipe(down)">
                                      <p:cBhvr>
                                        <p:cTn id="32" dur="500"/>
                                        <p:tgtEl>
                                          <p:spTgt spid="819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195">
                                            <p:txEl>
                                              <p:pRg st="7" end="7"/>
                                            </p:txEl>
                                          </p:spTgt>
                                        </p:tgtEl>
                                        <p:attrNameLst>
                                          <p:attrName>style.visibility</p:attrName>
                                        </p:attrNameLst>
                                      </p:cBhvr>
                                      <p:to>
                                        <p:strVal val="visible"/>
                                      </p:to>
                                    </p:set>
                                    <p:animEffect transition="in" filter="wipe(down)">
                                      <p:cBhvr>
                                        <p:cTn id="37" dur="500"/>
                                        <p:tgtEl>
                                          <p:spTgt spid="81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0" y="1125538"/>
            <a:ext cx="9144000" cy="5589587"/>
          </a:xfrm>
        </p:spPr>
        <p:txBody>
          <a:bodyPr/>
          <a:lstStyle/>
          <a:p>
            <a:pPr marL="0" indent="0">
              <a:buFont typeface="Wingdings" pitchFamily="2" charset="2"/>
              <a:buNone/>
              <a:defRPr/>
            </a:pPr>
            <a:r>
              <a:rPr lang="en-US" sz="2800" b="1" i="1" dirty="0">
                <a:solidFill>
                  <a:srgbClr val="0070C0"/>
                </a:solidFill>
                <a:latin typeface="Times New Roman" pitchFamily="18" charset="0"/>
                <a:cs typeface="Times New Roman" pitchFamily="18" charset="0"/>
              </a:rPr>
              <a:t>CREATE</a:t>
            </a:r>
            <a:r>
              <a:rPr lang="en-US" sz="2800" dirty="0"/>
              <a:t> TABLE</a:t>
            </a:r>
            <a:r>
              <a:rPr lang="ru-RU" sz="2800" dirty="0"/>
              <a:t>, </a:t>
            </a:r>
            <a:r>
              <a:rPr lang="en-US" sz="2800" b="1" i="1" dirty="0">
                <a:solidFill>
                  <a:srgbClr val="0070C0"/>
                </a:solidFill>
                <a:latin typeface="Times New Roman" pitchFamily="18" charset="0"/>
                <a:cs typeface="Times New Roman" pitchFamily="18" charset="0"/>
              </a:rPr>
              <a:t>ALTER</a:t>
            </a:r>
            <a:r>
              <a:rPr lang="en-US" sz="2800" dirty="0"/>
              <a:t> TABLE</a:t>
            </a:r>
            <a:r>
              <a:rPr lang="ru-RU" sz="2800" dirty="0"/>
              <a:t>, </a:t>
            </a:r>
            <a:r>
              <a:rPr lang="en-US" sz="2800" b="1" i="1" dirty="0">
                <a:solidFill>
                  <a:srgbClr val="0070C0"/>
                </a:solidFill>
                <a:latin typeface="Times New Roman" pitchFamily="18" charset="0"/>
                <a:cs typeface="Times New Roman" pitchFamily="18" charset="0"/>
              </a:rPr>
              <a:t>DROP</a:t>
            </a:r>
            <a:r>
              <a:rPr lang="en-US" sz="2800" dirty="0"/>
              <a:t> TABLE</a:t>
            </a:r>
            <a:endParaRPr lang="ru-RU" sz="2800" dirty="0"/>
          </a:p>
          <a:p>
            <a:pPr marL="0" indent="0">
              <a:buFont typeface="Wingdings" pitchFamily="2" charset="2"/>
              <a:buNone/>
              <a:defRPr/>
            </a:pPr>
            <a:r>
              <a:rPr lang="en-US" sz="2400" b="1" dirty="0"/>
              <a:t>CREATE</a:t>
            </a:r>
            <a:r>
              <a:rPr lang="en-US" sz="2400" dirty="0"/>
              <a:t> [ {GLOBAL| LOCAL} TEMPORARY ] </a:t>
            </a:r>
            <a:r>
              <a:rPr lang="ru-RU" sz="2400" dirty="0"/>
              <a:t>	</a:t>
            </a:r>
            <a:r>
              <a:rPr lang="en-US" sz="2400" b="1" dirty="0"/>
              <a:t>TABLE</a:t>
            </a:r>
            <a:r>
              <a:rPr lang="en-US" sz="2400" dirty="0"/>
              <a:t> </a:t>
            </a:r>
            <a:r>
              <a:rPr lang="ru-RU" sz="1800" dirty="0"/>
              <a:t>имя таблицы</a:t>
            </a:r>
          </a:p>
          <a:p>
            <a:pPr marL="0" indent="0">
              <a:buFont typeface="Wingdings" pitchFamily="2" charset="2"/>
              <a:buNone/>
              <a:defRPr/>
            </a:pPr>
            <a:r>
              <a:rPr lang="en-US" sz="2400" b="1" dirty="0">
                <a:solidFill>
                  <a:schemeClr val="bg2">
                    <a:lumMod val="60000"/>
                    <a:lumOff val="40000"/>
                  </a:schemeClr>
                </a:solidFill>
              </a:rPr>
              <a:t>(</a:t>
            </a:r>
            <a:r>
              <a:rPr lang="en-US" sz="2400" dirty="0"/>
              <a:t> { &lt;</a:t>
            </a:r>
            <a:r>
              <a:rPr lang="ru-RU" sz="2400" dirty="0"/>
              <a:t>определение столбца</a:t>
            </a:r>
            <a:r>
              <a:rPr lang="en-US" sz="2400" dirty="0"/>
              <a:t>&gt;</a:t>
            </a:r>
            <a:endParaRPr lang="ru-RU" sz="2400" dirty="0"/>
          </a:p>
          <a:p>
            <a:pPr marL="0" indent="0">
              <a:buFont typeface="Wingdings" pitchFamily="2" charset="2"/>
              <a:buNone/>
              <a:defRPr/>
            </a:pPr>
            <a:r>
              <a:rPr lang="ru-RU" sz="2400" dirty="0"/>
              <a:t>  </a:t>
            </a:r>
            <a:r>
              <a:rPr lang="en-US" sz="2400" dirty="0"/>
              <a:t>| [&lt;</a:t>
            </a:r>
            <a:r>
              <a:rPr lang="ru-RU" sz="2400" dirty="0"/>
              <a:t>ограничение таблицы</a:t>
            </a:r>
            <a:r>
              <a:rPr lang="en-US" sz="2400" dirty="0"/>
              <a:t>&gt;] } , …</a:t>
            </a:r>
            <a:endParaRPr lang="ru-RU" sz="2400" dirty="0"/>
          </a:p>
          <a:p>
            <a:pPr marL="0" indent="0">
              <a:buFont typeface="Wingdings" pitchFamily="2" charset="2"/>
              <a:buNone/>
              <a:defRPr/>
            </a:pPr>
            <a:r>
              <a:rPr lang="ru-RU" sz="2400" dirty="0"/>
              <a:t>    </a:t>
            </a:r>
            <a:r>
              <a:rPr lang="en-US" sz="2400" dirty="0"/>
              <a:t>[ ON C</a:t>
            </a:r>
            <a:r>
              <a:rPr lang="ru-RU" sz="2400" dirty="0" err="1"/>
              <a:t>омм</a:t>
            </a:r>
            <a:r>
              <a:rPr lang="en-US" sz="2400"/>
              <a:t>it </a:t>
            </a:r>
            <a:r>
              <a:rPr lang="en-US" sz="2400" dirty="0"/>
              <a:t>{DELETE | PRESERVE } ROWS ]</a:t>
            </a:r>
            <a:endParaRPr lang="ru-RU" sz="2400" dirty="0"/>
          </a:p>
          <a:p>
            <a:pPr marL="0" indent="0">
              <a:buFont typeface="Wingdings" pitchFamily="2" charset="2"/>
              <a:buNone/>
              <a:defRPr/>
            </a:pPr>
            <a:r>
              <a:rPr lang="en-US" sz="2400" b="1" dirty="0">
                <a:solidFill>
                  <a:schemeClr val="bg2">
                    <a:lumMod val="60000"/>
                    <a:lumOff val="40000"/>
                  </a:schemeClr>
                </a:solidFill>
              </a:rPr>
              <a:t>)</a:t>
            </a:r>
            <a:endParaRPr lang="ru-RU" sz="2400" b="1" dirty="0">
              <a:solidFill>
                <a:schemeClr val="bg2">
                  <a:lumMod val="60000"/>
                  <a:lumOff val="40000"/>
                </a:schemeClr>
              </a:solidFill>
            </a:endParaRPr>
          </a:p>
          <a:p>
            <a:pPr marL="0" indent="0">
              <a:buFont typeface="Wingdings" pitchFamily="2" charset="2"/>
              <a:buNone/>
              <a:defRPr/>
            </a:pPr>
            <a:r>
              <a:rPr lang="ru-RU" sz="2400" dirty="0"/>
              <a:t>&lt;определение столбца&gt;::=</a:t>
            </a:r>
          </a:p>
          <a:p>
            <a:pPr marL="0" indent="0">
              <a:buFont typeface="Wingdings" pitchFamily="2" charset="2"/>
              <a:buNone/>
              <a:defRPr/>
            </a:pPr>
            <a:r>
              <a:rPr lang="ru-RU" sz="2400" dirty="0"/>
              <a:t>имя столбца { имя домена | тип данных [размер] } </a:t>
            </a:r>
          </a:p>
          <a:p>
            <a:pPr marL="0" indent="0">
              <a:buFont typeface="Wingdings" pitchFamily="2" charset="2"/>
              <a:buNone/>
              <a:defRPr/>
            </a:pPr>
            <a:r>
              <a:rPr lang="ru-RU" sz="2400" dirty="0"/>
              <a:t>		[ &lt;ограничение столбца&gt; …]</a:t>
            </a:r>
          </a:p>
          <a:p>
            <a:pPr marL="0" indent="0">
              <a:buFont typeface="Wingdings" pitchFamily="2" charset="2"/>
              <a:buNone/>
              <a:defRPr/>
            </a:pPr>
            <a:r>
              <a:rPr lang="ru-RU" sz="2400" dirty="0"/>
              <a:t>		[</a:t>
            </a:r>
            <a:r>
              <a:rPr lang="en-US" sz="2400" dirty="0"/>
              <a:t>DEFAULT </a:t>
            </a:r>
            <a:r>
              <a:rPr lang="ru-RU" sz="2400" dirty="0"/>
              <a:t>значение по умолчанию]</a:t>
            </a:r>
          </a:p>
          <a:p>
            <a:pPr marL="0" indent="0">
              <a:buFont typeface="Wingdings" pitchFamily="2" charset="2"/>
              <a:buNone/>
              <a:defRPr/>
            </a:pPr>
            <a:r>
              <a:rPr lang="ru-RU" sz="2400" dirty="0"/>
              <a:t>		[</a:t>
            </a:r>
            <a:r>
              <a:rPr lang="en-US" sz="2400" dirty="0"/>
              <a:t>COLLATE </a:t>
            </a:r>
            <a:r>
              <a:rPr lang="ru-RU" sz="2400" dirty="0"/>
              <a:t>имя сравнения]</a:t>
            </a:r>
          </a:p>
        </p:txBody>
      </p:sp>
      <p:sp>
        <p:nvSpPr>
          <p:cNvPr id="10243" name="Rectangle 4"/>
          <p:cNvSpPr>
            <a:spLocks noChangeArrowheads="1"/>
          </p:cNvSpPr>
          <p:nvPr/>
        </p:nvSpPr>
        <p:spPr bwMode="auto">
          <a:xfrm>
            <a:off x="1187450" y="333375"/>
            <a:ext cx="56181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ctr"/>
            <a:r>
              <a:rPr lang="ru-RU" sz="3600">
                <a:solidFill>
                  <a:schemeClr val="bg2"/>
                </a:solidFill>
              </a:rPr>
              <a:t>Работа</a:t>
            </a:r>
            <a:r>
              <a:rPr lang="en-US" sz="3600">
                <a:solidFill>
                  <a:schemeClr val="bg2"/>
                </a:solidFill>
              </a:rPr>
              <a:t> с </a:t>
            </a:r>
            <a:r>
              <a:rPr lang="ru-RU" sz="3600">
                <a:solidFill>
                  <a:schemeClr val="bg2"/>
                </a:solidFill>
              </a:rPr>
              <a:t>таблицами</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19</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down)">
                                      <p:cBhvr>
                                        <p:cTn id="7" dur="500"/>
                                        <p:tgtEl>
                                          <p:spTgt spid="32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wipe(down)">
                                      <p:cBhvr>
                                        <p:cTn id="12" dur="500"/>
                                        <p:tgtEl>
                                          <p:spTgt spid="327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2771">
                                            <p:txEl>
                                              <p:pRg st="2" end="2"/>
                                            </p:txEl>
                                          </p:spTgt>
                                        </p:tgtEl>
                                        <p:attrNameLst>
                                          <p:attrName>style.visibility</p:attrName>
                                        </p:attrNameLst>
                                      </p:cBhvr>
                                      <p:to>
                                        <p:strVal val="visible"/>
                                      </p:to>
                                    </p:set>
                                    <p:animEffect transition="in" filter="wipe(down)">
                                      <p:cBhvr>
                                        <p:cTn id="17" dur="500"/>
                                        <p:tgtEl>
                                          <p:spTgt spid="327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2771">
                                            <p:txEl>
                                              <p:pRg st="3" end="3"/>
                                            </p:txEl>
                                          </p:spTgt>
                                        </p:tgtEl>
                                        <p:attrNameLst>
                                          <p:attrName>style.visibility</p:attrName>
                                        </p:attrNameLst>
                                      </p:cBhvr>
                                      <p:to>
                                        <p:strVal val="visible"/>
                                      </p:to>
                                    </p:set>
                                    <p:animEffect transition="in" filter="wipe(down)">
                                      <p:cBhvr>
                                        <p:cTn id="22" dur="500"/>
                                        <p:tgtEl>
                                          <p:spTgt spid="327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2771">
                                            <p:txEl>
                                              <p:pRg st="4" end="4"/>
                                            </p:txEl>
                                          </p:spTgt>
                                        </p:tgtEl>
                                        <p:attrNameLst>
                                          <p:attrName>style.visibility</p:attrName>
                                        </p:attrNameLst>
                                      </p:cBhvr>
                                      <p:to>
                                        <p:strVal val="visible"/>
                                      </p:to>
                                    </p:set>
                                    <p:animEffect transition="in" filter="wipe(down)">
                                      <p:cBhvr>
                                        <p:cTn id="27" dur="500"/>
                                        <p:tgtEl>
                                          <p:spTgt spid="327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2771">
                                            <p:txEl>
                                              <p:pRg st="5" end="5"/>
                                            </p:txEl>
                                          </p:spTgt>
                                        </p:tgtEl>
                                        <p:attrNameLst>
                                          <p:attrName>style.visibility</p:attrName>
                                        </p:attrNameLst>
                                      </p:cBhvr>
                                      <p:to>
                                        <p:strVal val="visible"/>
                                      </p:to>
                                    </p:set>
                                    <p:animEffect transition="in" filter="wipe(down)">
                                      <p:cBhvr>
                                        <p:cTn id="32" dur="500"/>
                                        <p:tgtEl>
                                          <p:spTgt spid="3277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2771">
                                            <p:txEl>
                                              <p:pRg st="6" end="6"/>
                                            </p:txEl>
                                          </p:spTgt>
                                        </p:tgtEl>
                                        <p:attrNameLst>
                                          <p:attrName>style.visibility</p:attrName>
                                        </p:attrNameLst>
                                      </p:cBhvr>
                                      <p:to>
                                        <p:strVal val="visible"/>
                                      </p:to>
                                    </p:set>
                                    <p:animEffect transition="in" filter="wipe(down)">
                                      <p:cBhvr>
                                        <p:cTn id="37" dur="500"/>
                                        <p:tgtEl>
                                          <p:spTgt spid="3277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2771">
                                            <p:txEl>
                                              <p:pRg st="7" end="7"/>
                                            </p:txEl>
                                          </p:spTgt>
                                        </p:tgtEl>
                                        <p:attrNameLst>
                                          <p:attrName>style.visibility</p:attrName>
                                        </p:attrNameLst>
                                      </p:cBhvr>
                                      <p:to>
                                        <p:strVal val="visible"/>
                                      </p:to>
                                    </p:set>
                                    <p:animEffect transition="in" filter="wipe(down)">
                                      <p:cBhvr>
                                        <p:cTn id="42" dur="500"/>
                                        <p:tgtEl>
                                          <p:spTgt spid="3277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2771">
                                            <p:txEl>
                                              <p:pRg st="8" end="8"/>
                                            </p:txEl>
                                          </p:spTgt>
                                        </p:tgtEl>
                                        <p:attrNameLst>
                                          <p:attrName>style.visibility</p:attrName>
                                        </p:attrNameLst>
                                      </p:cBhvr>
                                      <p:to>
                                        <p:strVal val="visible"/>
                                      </p:to>
                                    </p:set>
                                    <p:animEffect transition="in" filter="wipe(down)">
                                      <p:cBhvr>
                                        <p:cTn id="47" dur="500"/>
                                        <p:tgtEl>
                                          <p:spTgt spid="3277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2771">
                                            <p:txEl>
                                              <p:pRg st="9" end="9"/>
                                            </p:txEl>
                                          </p:spTgt>
                                        </p:tgtEl>
                                        <p:attrNameLst>
                                          <p:attrName>style.visibility</p:attrName>
                                        </p:attrNameLst>
                                      </p:cBhvr>
                                      <p:to>
                                        <p:strVal val="visible"/>
                                      </p:to>
                                    </p:set>
                                    <p:animEffect transition="in" filter="wipe(down)">
                                      <p:cBhvr>
                                        <p:cTn id="52" dur="500"/>
                                        <p:tgtEl>
                                          <p:spTgt spid="3277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2771">
                                            <p:txEl>
                                              <p:pRg st="10" end="10"/>
                                            </p:txEl>
                                          </p:spTgt>
                                        </p:tgtEl>
                                        <p:attrNameLst>
                                          <p:attrName>style.visibility</p:attrName>
                                        </p:attrNameLst>
                                      </p:cBhvr>
                                      <p:to>
                                        <p:strVal val="visible"/>
                                      </p:to>
                                    </p:set>
                                    <p:animEffect transition="in" filter="wipe(down)">
                                      <p:cBhvr>
                                        <p:cTn id="57" dur="500"/>
                                        <p:tgtEl>
                                          <p:spTgt spid="3277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457200" y="457200"/>
            <a:ext cx="8218488" cy="523875"/>
          </a:xfrm>
          <a:noFill/>
        </p:spPr>
        <p:txBody>
          <a:bodyPr/>
          <a:lstStyle/>
          <a:p>
            <a:pPr algn="ctr" eaLnBrk="1" hangingPunct="1"/>
            <a:r>
              <a:rPr lang="ru-RU" sz="3600">
                <a:solidFill>
                  <a:schemeClr val="bg2"/>
                </a:solidFill>
              </a:rPr>
              <a:t>Ограничение столбца</a:t>
            </a:r>
          </a:p>
        </p:txBody>
      </p:sp>
      <p:sp>
        <p:nvSpPr>
          <p:cNvPr id="8195" name="Rectangle 5"/>
          <p:cNvSpPr>
            <a:spLocks noGrp="1" noChangeArrowheads="1"/>
          </p:cNvSpPr>
          <p:nvPr>
            <p:ph type="body" idx="1"/>
          </p:nvPr>
        </p:nvSpPr>
        <p:spPr>
          <a:xfrm>
            <a:off x="468313" y="1196975"/>
            <a:ext cx="8229600" cy="5400675"/>
          </a:xfrm>
          <a:noFill/>
        </p:spPr>
        <p:txBody>
          <a:bodyPr/>
          <a:lstStyle/>
          <a:p>
            <a:pPr marL="0" indent="0">
              <a:buFont typeface="Wingdings" pitchFamily="2" charset="2"/>
              <a:buNone/>
            </a:pPr>
            <a:r>
              <a:rPr lang="ru-RU" sz="2400" dirty="0"/>
              <a:t>&lt;ограничение столбца&gt;::=</a:t>
            </a:r>
          </a:p>
          <a:p>
            <a:pPr marL="0" indent="0">
              <a:buFont typeface="Wingdings" pitchFamily="2" charset="2"/>
              <a:buNone/>
            </a:pPr>
            <a:r>
              <a:rPr lang="ru-RU" sz="2400" dirty="0"/>
              <a:t>	[</a:t>
            </a:r>
            <a:r>
              <a:rPr lang="en-US" sz="2400" dirty="0"/>
              <a:t>CONSTRAINT</a:t>
            </a:r>
            <a:r>
              <a:rPr lang="ru-RU" sz="2400" dirty="0"/>
              <a:t>  имя ограничения ]</a:t>
            </a:r>
          </a:p>
          <a:p>
            <a:pPr marL="0" indent="0">
              <a:buFont typeface="Wingdings" pitchFamily="2" charset="2"/>
              <a:buNone/>
            </a:pPr>
            <a:r>
              <a:rPr lang="ru-RU" sz="2400" dirty="0"/>
              <a:t>	</a:t>
            </a:r>
            <a:r>
              <a:rPr lang="en-US" sz="2400" b="1" dirty="0"/>
              <a:t>|</a:t>
            </a:r>
            <a:r>
              <a:rPr lang="ru-RU" sz="2400" b="1" dirty="0"/>
              <a:t> </a:t>
            </a:r>
            <a:r>
              <a:rPr lang="ru-RU" sz="2400" dirty="0"/>
              <a:t>{</a:t>
            </a:r>
            <a:r>
              <a:rPr lang="en-US" sz="2400" dirty="0"/>
              <a:t>NOT NULL</a:t>
            </a:r>
            <a:r>
              <a:rPr lang="ru-RU" sz="2400" dirty="0"/>
              <a:t>}</a:t>
            </a:r>
          </a:p>
          <a:p>
            <a:pPr marL="0" indent="0">
              <a:buFont typeface="Wingdings" pitchFamily="2" charset="2"/>
              <a:buNone/>
            </a:pPr>
            <a:r>
              <a:rPr lang="ru-RU" sz="2400" b="1" dirty="0"/>
              <a:t>	</a:t>
            </a:r>
            <a:r>
              <a:rPr lang="en-US" sz="2400" b="1" dirty="0"/>
              <a:t>| </a:t>
            </a:r>
            <a:r>
              <a:rPr lang="en-US" sz="2400" dirty="0"/>
              <a:t>{ PRIMARY KEY }</a:t>
            </a:r>
            <a:endParaRPr lang="ru-RU" sz="2400" dirty="0"/>
          </a:p>
          <a:p>
            <a:pPr marL="0" indent="0">
              <a:buFont typeface="Wingdings" pitchFamily="2" charset="2"/>
              <a:buNone/>
            </a:pPr>
            <a:r>
              <a:rPr lang="ru-RU" sz="2400" b="1" dirty="0"/>
              <a:t>	</a:t>
            </a:r>
            <a:r>
              <a:rPr lang="en-US" sz="2400" b="1" dirty="0"/>
              <a:t>|</a:t>
            </a:r>
            <a:r>
              <a:rPr lang="en-US" sz="2400" dirty="0"/>
              <a:t> {UNIQUE}</a:t>
            </a:r>
            <a:endParaRPr lang="ru-RU" sz="2400" dirty="0"/>
          </a:p>
          <a:p>
            <a:pPr marL="0" indent="0">
              <a:buFont typeface="Wingdings" pitchFamily="2" charset="2"/>
              <a:buNone/>
            </a:pPr>
            <a:r>
              <a:rPr lang="ru-RU" sz="2400" b="1" dirty="0"/>
              <a:t>	</a:t>
            </a:r>
            <a:r>
              <a:rPr lang="en-US" sz="2400" b="1" dirty="0"/>
              <a:t>|</a:t>
            </a:r>
            <a:r>
              <a:rPr lang="en-US" sz="2400" dirty="0"/>
              <a:t> REFERENCES </a:t>
            </a:r>
            <a:r>
              <a:rPr lang="ru-RU" sz="2400" dirty="0"/>
              <a:t>имя таблицы </a:t>
            </a:r>
            <a:r>
              <a:rPr lang="en-US" sz="2400" dirty="0"/>
              <a:t>[ (</a:t>
            </a:r>
            <a:r>
              <a:rPr lang="ru-RU" sz="2400" dirty="0"/>
              <a:t>имя столбца</a:t>
            </a:r>
            <a:r>
              <a:rPr lang="en-US" sz="2400" dirty="0"/>
              <a:t>) ]</a:t>
            </a:r>
            <a:endParaRPr lang="ru-RU" sz="2400" dirty="0"/>
          </a:p>
          <a:p>
            <a:pPr marL="0" indent="0">
              <a:buFont typeface="Wingdings" pitchFamily="2" charset="2"/>
              <a:buNone/>
            </a:pPr>
            <a:r>
              <a:rPr lang="en-US" sz="2400" dirty="0"/>
              <a:t>	</a:t>
            </a:r>
            <a:r>
              <a:rPr lang="ru-RU" sz="2400" dirty="0"/>
              <a:t>			</a:t>
            </a:r>
            <a:r>
              <a:rPr lang="en-US" sz="2400" dirty="0"/>
              <a:t>[&lt;</a:t>
            </a:r>
            <a:r>
              <a:rPr lang="ru-RU" sz="2400" dirty="0">
                <a:solidFill>
                  <a:schemeClr val="bg2">
                    <a:lumMod val="60000"/>
                    <a:lumOff val="40000"/>
                  </a:schemeClr>
                </a:solidFill>
              </a:rPr>
              <a:t>ссылочная спецификация</a:t>
            </a:r>
            <a:r>
              <a:rPr lang="en-US" sz="2400" dirty="0"/>
              <a:t>&gt;]</a:t>
            </a:r>
            <a:endParaRPr lang="ru-RU" sz="2400" dirty="0"/>
          </a:p>
          <a:p>
            <a:pPr marL="0" indent="0">
              <a:buFont typeface="Wingdings" pitchFamily="2" charset="2"/>
              <a:buNone/>
            </a:pPr>
            <a:r>
              <a:rPr lang="ru-RU" sz="2400" b="1" dirty="0"/>
              <a:t>	</a:t>
            </a:r>
            <a:r>
              <a:rPr lang="en-US" sz="2400" b="1" dirty="0"/>
              <a:t>|</a:t>
            </a:r>
            <a:r>
              <a:rPr lang="en-US" sz="2400" dirty="0"/>
              <a:t> {CHECK </a:t>
            </a:r>
            <a:r>
              <a:rPr lang="ru-RU" sz="2400" dirty="0"/>
              <a:t>предикат</a:t>
            </a:r>
            <a:r>
              <a:rPr lang="en-US" sz="2400" dirty="0"/>
              <a:t>}</a:t>
            </a:r>
            <a:endParaRPr lang="ru-RU" sz="2400" dirty="0"/>
          </a:p>
          <a:p>
            <a:pPr marL="0" indent="0">
              <a:buFont typeface="Wingdings" pitchFamily="2" charset="2"/>
              <a:buNone/>
            </a:pPr>
            <a:r>
              <a:rPr lang="en-US" sz="2400" dirty="0"/>
              <a:t>[ [ INITIALLY DEFERRED ] | INITIALLY IMMEDIATE]</a:t>
            </a:r>
            <a:endParaRPr lang="ru-RU" sz="2400" dirty="0"/>
          </a:p>
          <a:p>
            <a:pPr marL="0" indent="0">
              <a:buFont typeface="Wingdings" pitchFamily="2" charset="2"/>
              <a:buNone/>
            </a:pPr>
            <a:r>
              <a:rPr lang="en-US" sz="2400" dirty="0"/>
              <a:t>[[NOT] DEFERRABLE ]</a:t>
            </a:r>
            <a:endParaRPr lang="ru-RU" sz="2400" dirty="0"/>
          </a:p>
          <a:p>
            <a:pPr lvl="1" eaLnBrk="1" hangingPunct="1">
              <a:buFont typeface="Wingdings" pitchFamily="2" charset="2"/>
              <a:buNone/>
            </a:pPr>
            <a:endParaRPr lang="en-US" sz="2300"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20</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down)">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down)">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down)">
                                      <p:cBhvr>
                                        <p:cTn id="22" dur="500"/>
                                        <p:tgtEl>
                                          <p:spTgt spid="8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wipe(down)">
                                      <p:cBhvr>
                                        <p:cTn id="27" dur="500"/>
                                        <p:tgtEl>
                                          <p:spTgt spid="81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wipe(down)">
                                      <p:cBhvr>
                                        <p:cTn id="32" dur="500"/>
                                        <p:tgtEl>
                                          <p:spTgt spid="819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wipe(down)">
                                      <p:cBhvr>
                                        <p:cTn id="37" dur="500"/>
                                        <p:tgtEl>
                                          <p:spTgt spid="819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wipe(down)">
                                      <p:cBhvr>
                                        <p:cTn id="42" dur="500"/>
                                        <p:tgtEl>
                                          <p:spTgt spid="819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wipe(down)">
                                      <p:cBhvr>
                                        <p:cTn id="47" dur="500"/>
                                        <p:tgtEl>
                                          <p:spTgt spid="819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195">
                                            <p:txEl>
                                              <p:pRg st="9" end="9"/>
                                            </p:txEl>
                                          </p:spTgt>
                                        </p:tgtEl>
                                        <p:attrNameLst>
                                          <p:attrName>style.visibility</p:attrName>
                                        </p:attrNameLst>
                                      </p:cBhvr>
                                      <p:to>
                                        <p:strVal val="visible"/>
                                      </p:to>
                                    </p:set>
                                    <p:animEffect transition="in" filter="wipe(down)">
                                      <p:cBhvr>
                                        <p:cTn id="52" dur="500"/>
                                        <p:tgtEl>
                                          <p:spTgt spid="81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39750" y="115888"/>
            <a:ext cx="8229600" cy="884237"/>
          </a:xfrm>
        </p:spPr>
        <p:txBody>
          <a:bodyPr/>
          <a:lstStyle/>
          <a:p>
            <a:pPr algn="ctr"/>
            <a:r>
              <a:rPr lang="ru-RU" sz="3600">
                <a:solidFill>
                  <a:schemeClr val="bg2"/>
                </a:solidFill>
              </a:rPr>
              <a:t>Ограничение таблицы</a:t>
            </a:r>
          </a:p>
        </p:txBody>
      </p:sp>
      <p:sp>
        <p:nvSpPr>
          <p:cNvPr id="33795" name="Rectangle 3"/>
          <p:cNvSpPr>
            <a:spLocks noGrp="1" noChangeArrowheads="1"/>
          </p:cNvSpPr>
          <p:nvPr>
            <p:ph type="body" idx="1"/>
          </p:nvPr>
        </p:nvSpPr>
        <p:spPr>
          <a:xfrm>
            <a:off x="250825" y="1052513"/>
            <a:ext cx="8713788" cy="5689600"/>
          </a:xfrm>
        </p:spPr>
        <p:txBody>
          <a:bodyPr/>
          <a:lstStyle/>
          <a:p>
            <a:pPr marL="0" indent="0">
              <a:buFont typeface="Wingdings" pitchFamily="2" charset="2"/>
              <a:buNone/>
              <a:defRPr/>
            </a:pPr>
            <a:r>
              <a:rPr lang="en-US" dirty="0"/>
              <a:t>&lt;</a:t>
            </a:r>
            <a:r>
              <a:rPr lang="ru-RU" dirty="0"/>
              <a:t>ограничение таблицы</a:t>
            </a:r>
            <a:r>
              <a:rPr lang="en-US" dirty="0"/>
              <a:t>&gt; ::= </a:t>
            </a:r>
            <a:endParaRPr lang="ru-RU" dirty="0"/>
          </a:p>
          <a:p>
            <a:pPr marL="0" indent="0">
              <a:buFont typeface="Wingdings" pitchFamily="2" charset="2"/>
              <a:buNone/>
              <a:defRPr/>
            </a:pPr>
            <a:r>
              <a:rPr lang="ru-RU" sz="2800" dirty="0"/>
              <a:t>	</a:t>
            </a:r>
            <a:r>
              <a:rPr lang="en-US" sz="2800" dirty="0"/>
              <a:t>[CONSTRAINT  </a:t>
            </a:r>
            <a:r>
              <a:rPr lang="ru-RU" sz="2800" dirty="0"/>
              <a:t>имя ограничения</a:t>
            </a:r>
            <a:r>
              <a:rPr lang="en-US" sz="2800" dirty="0"/>
              <a:t> ]</a:t>
            </a:r>
            <a:endParaRPr lang="ru-RU" sz="2800" dirty="0"/>
          </a:p>
          <a:p>
            <a:pPr marL="0" indent="0">
              <a:buFont typeface="Wingdings" pitchFamily="2" charset="2"/>
              <a:buNone/>
              <a:defRPr/>
            </a:pPr>
            <a:r>
              <a:rPr lang="ru-RU" sz="2800" dirty="0"/>
              <a:t>	</a:t>
            </a:r>
            <a:r>
              <a:rPr lang="en-US" sz="2800" dirty="0"/>
              <a:t>{ PRIMARY KEY (</a:t>
            </a:r>
            <a:r>
              <a:rPr lang="ru-RU" sz="2800" dirty="0"/>
              <a:t>имя столбца</a:t>
            </a:r>
            <a:r>
              <a:rPr lang="en-US" sz="2800" dirty="0"/>
              <a:t>, … )}</a:t>
            </a:r>
            <a:endParaRPr lang="ru-RU" sz="2800" dirty="0"/>
          </a:p>
          <a:p>
            <a:pPr marL="0" indent="0">
              <a:buFont typeface="Wingdings" pitchFamily="2" charset="2"/>
              <a:buNone/>
              <a:defRPr/>
            </a:pPr>
            <a:r>
              <a:rPr lang="ru-RU" sz="2800" b="1" dirty="0"/>
              <a:t>	</a:t>
            </a:r>
            <a:r>
              <a:rPr lang="en-US" sz="2800" b="1" dirty="0"/>
              <a:t>|</a:t>
            </a:r>
            <a:r>
              <a:rPr lang="en-US" sz="2800" dirty="0"/>
              <a:t> {UNIQUE (</a:t>
            </a:r>
            <a:r>
              <a:rPr lang="ru-RU" sz="2800" dirty="0"/>
              <a:t>имя столбца</a:t>
            </a:r>
            <a:r>
              <a:rPr lang="en-US" sz="2800" dirty="0"/>
              <a:t>, … )}</a:t>
            </a:r>
            <a:endParaRPr lang="ru-RU" sz="2800" dirty="0"/>
          </a:p>
          <a:p>
            <a:pPr marL="0" indent="0">
              <a:buFont typeface="Wingdings" pitchFamily="2" charset="2"/>
              <a:buNone/>
              <a:defRPr/>
            </a:pPr>
            <a:r>
              <a:rPr lang="ru-RU" sz="2800" b="1" dirty="0"/>
              <a:t>	</a:t>
            </a:r>
            <a:r>
              <a:rPr lang="en-US" sz="2800" b="1" dirty="0"/>
              <a:t>|</a:t>
            </a:r>
            <a:r>
              <a:rPr lang="en-US" sz="2800" dirty="0"/>
              <a:t> FOREIGN KEY (</a:t>
            </a:r>
            <a:r>
              <a:rPr lang="ru-RU" sz="2800" dirty="0"/>
              <a:t>имя столбца</a:t>
            </a:r>
            <a:r>
              <a:rPr lang="en-US" sz="2800" dirty="0"/>
              <a:t>, … ) </a:t>
            </a:r>
            <a:endParaRPr lang="ru-RU" sz="2800" dirty="0"/>
          </a:p>
          <a:p>
            <a:pPr marL="0" indent="0">
              <a:buFont typeface="Wingdings" pitchFamily="2" charset="2"/>
              <a:buNone/>
              <a:defRPr/>
            </a:pPr>
            <a:r>
              <a:rPr lang="en-US" sz="2800" dirty="0"/>
              <a:t>REFERENCES </a:t>
            </a:r>
            <a:r>
              <a:rPr lang="ru-RU" sz="2800" dirty="0"/>
              <a:t>имя таблицы </a:t>
            </a:r>
            <a:r>
              <a:rPr lang="en-US" sz="2800" dirty="0"/>
              <a:t>[(</a:t>
            </a:r>
            <a:r>
              <a:rPr lang="ru-RU" sz="2800" dirty="0"/>
              <a:t>имя столбца</a:t>
            </a:r>
            <a:r>
              <a:rPr lang="en-US" sz="2800" dirty="0"/>
              <a:t>, … )]</a:t>
            </a:r>
            <a:endParaRPr lang="ru-RU" sz="2800" dirty="0"/>
          </a:p>
          <a:p>
            <a:pPr marL="0" indent="0">
              <a:buFont typeface="Wingdings" pitchFamily="2" charset="2"/>
              <a:buNone/>
              <a:defRPr/>
            </a:pPr>
            <a:r>
              <a:rPr lang="en-US" sz="2800" dirty="0"/>
              <a:t>	</a:t>
            </a:r>
            <a:r>
              <a:rPr lang="ru-RU" sz="2800" dirty="0"/>
              <a:t>		</a:t>
            </a:r>
            <a:r>
              <a:rPr lang="en-US" sz="2800" dirty="0"/>
              <a:t>[&lt;</a:t>
            </a:r>
            <a:r>
              <a:rPr lang="ru-RU" sz="2800" dirty="0">
                <a:solidFill>
                  <a:schemeClr val="bg2">
                    <a:lumMod val="60000"/>
                    <a:lumOff val="40000"/>
                  </a:schemeClr>
                </a:solidFill>
              </a:rPr>
              <a:t>ссылочная спецификация</a:t>
            </a:r>
            <a:r>
              <a:rPr lang="en-US" sz="2800" dirty="0"/>
              <a:t>&gt;]</a:t>
            </a:r>
            <a:endParaRPr lang="ru-RU" sz="2800" dirty="0"/>
          </a:p>
          <a:p>
            <a:pPr marL="0" indent="0">
              <a:buFont typeface="Wingdings" pitchFamily="2" charset="2"/>
              <a:buNone/>
              <a:defRPr/>
            </a:pPr>
            <a:r>
              <a:rPr lang="ru-RU" sz="2800" b="1" dirty="0"/>
              <a:t>	</a:t>
            </a:r>
            <a:r>
              <a:rPr lang="en-US" sz="2800" b="1" dirty="0"/>
              <a:t>|</a:t>
            </a:r>
            <a:r>
              <a:rPr lang="en-US" sz="2800" dirty="0"/>
              <a:t> {CHECK </a:t>
            </a:r>
            <a:r>
              <a:rPr lang="ru-RU" sz="2800" dirty="0"/>
              <a:t>предикат</a:t>
            </a:r>
            <a:r>
              <a:rPr lang="en-US" sz="2800" dirty="0"/>
              <a:t>} [[NOT] DEFERRABLE ]</a:t>
            </a:r>
            <a:endParaRPr lang="ru-RU" sz="2800" dirty="0"/>
          </a:p>
          <a:p>
            <a:pPr marL="609600" indent="-609600">
              <a:buFont typeface="Wingdings" pitchFamily="2" charset="2"/>
              <a:buNone/>
              <a:defRPr/>
            </a:pPr>
            <a:r>
              <a:rPr lang="ru-RU" baseline="30000" dirty="0"/>
              <a:t> </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21</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down)">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wipe(down)">
                                      <p:cBhvr>
                                        <p:cTn id="12" dur="500"/>
                                        <p:tgtEl>
                                          <p:spTgt spid="337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wipe(down)">
                                      <p:cBhvr>
                                        <p:cTn id="17" dur="500"/>
                                        <p:tgtEl>
                                          <p:spTgt spid="337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wipe(down)">
                                      <p:cBhvr>
                                        <p:cTn id="22" dur="500"/>
                                        <p:tgtEl>
                                          <p:spTgt spid="337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3795">
                                            <p:txEl>
                                              <p:pRg st="4" end="4"/>
                                            </p:txEl>
                                          </p:spTgt>
                                        </p:tgtEl>
                                        <p:attrNameLst>
                                          <p:attrName>style.visibility</p:attrName>
                                        </p:attrNameLst>
                                      </p:cBhvr>
                                      <p:to>
                                        <p:strVal val="visible"/>
                                      </p:to>
                                    </p:set>
                                    <p:animEffect transition="in" filter="wipe(down)">
                                      <p:cBhvr>
                                        <p:cTn id="27" dur="500"/>
                                        <p:tgtEl>
                                          <p:spTgt spid="337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wipe(down)">
                                      <p:cBhvr>
                                        <p:cTn id="32" dur="500"/>
                                        <p:tgtEl>
                                          <p:spTgt spid="3379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3795">
                                            <p:txEl>
                                              <p:pRg st="6" end="6"/>
                                            </p:txEl>
                                          </p:spTgt>
                                        </p:tgtEl>
                                        <p:attrNameLst>
                                          <p:attrName>style.visibility</p:attrName>
                                        </p:attrNameLst>
                                      </p:cBhvr>
                                      <p:to>
                                        <p:strVal val="visible"/>
                                      </p:to>
                                    </p:set>
                                    <p:animEffect transition="in" filter="wipe(down)">
                                      <p:cBhvr>
                                        <p:cTn id="37" dur="500"/>
                                        <p:tgtEl>
                                          <p:spTgt spid="3379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3795">
                                            <p:txEl>
                                              <p:pRg st="7" end="7"/>
                                            </p:txEl>
                                          </p:spTgt>
                                        </p:tgtEl>
                                        <p:attrNameLst>
                                          <p:attrName>style.visibility</p:attrName>
                                        </p:attrNameLst>
                                      </p:cBhvr>
                                      <p:to>
                                        <p:strVal val="visible"/>
                                      </p:to>
                                    </p:set>
                                    <p:animEffect transition="in" filter="wipe(down)">
                                      <p:cBhvr>
                                        <p:cTn id="42" dur="500"/>
                                        <p:tgtEl>
                                          <p:spTgt spid="3379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3795">
                                            <p:txEl>
                                              <p:pRg st="8" end="8"/>
                                            </p:txEl>
                                          </p:spTgt>
                                        </p:tgtEl>
                                        <p:attrNameLst>
                                          <p:attrName>style.visibility</p:attrName>
                                        </p:attrNameLst>
                                      </p:cBhvr>
                                      <p:to>
                                        <p:strVal val="visible"/>
                                      </p:to>
                                    </p:set>
                                    <p:animEffect transition="in" filter="wipe(down)">
                                      <p:cBhvr>
                                        <p:cTn id="47" dur="500"/>
                                        <p:tgtEl>
                                          <p:spTgt spid="337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a:spLocks noChangeArrowheads="1"/>
          </p:cNvSpPr>
          <p:nvPr/>
        </p:nvSpPr>
        <p:spPr bwMode="auto">
          <a:xfrm>
            <a:off x="827088" y="1484313"/>
            <a:ext cx="7273925"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t>&lt;</a:t>
            </a:r>
            <a:r>
              <a:rPr lang="ru-RU">
                <a:solidFill>
                  <a:schemeClr val="bg2">
                    <a:lumMod val="60000"/>
                    <a:lumOff val="40000"/>
                  </a:schemeClr>
                </a:solidFill>
              </a:rPr>
              <a:t>ссылочная спецификация</a:t>
            </a:r>
            <a:r>
              <a:rPr lang="en-US"/>
              <a:t>&gt; </a:t>
            </a:r>
            <a:r>
              <a:rPr lang="en-US" dirty="0"/>
              <a:t>::=</a:t>
            </a:r>
            <a:endParaRPr lang="ru-RU" dirty="0"/>
          </a:p>
          <a:p>
            <a:r>
              <a:rPr lang="en-US" dirty="0"/>
              <a:t>[MATCH {FULL| PARTIAL}]</a:t>
            </a:r>
            <a:endParaRPr lang="ru-RU" dirty="0"/>
          </a:p>
          <a:p>
            <a:r>
              <a:rPr lang="en-US" dirty="0"/>
              <a:t>[ON UPDATE { CASCADE</a:t>
            </a:r>
            <a:endParaRPr lang="ru-RU" dirty="0"/>
          </a:p>
          <a:p>
            <a:r>
              <a:rPr lang="ru-RU" dirty="0"/>
              <a:t>		      </a:t>
            </a:r>
            <a:r>
              <a:rPr lang="en-US" dirty="0"/>
              <a:t>| SET NULL</a:t>
            </a:r>
            <a:endParaRPr lang="ru-RU" dirty="0"/>
          </a:p>
          <a:p>
            <a:r>
              <a:rPr lang="ru-RU" dirty="0"/>
              <a:t>		      </a:t>
            </a:r>
            <a:r>
              <a:rPr lang="en-US" dirty="0"/>
              <a:t>| SET DEFAULT</a:t>
            </a:r>
            <a:endParaRPr lang="ru-RU" dirty="0"/>
          </a:p>
          <a:p>
            <a:r>
              <a:rPr lang="ru-RU" dirty="0"/>
              <a:t>		      </a:t>
            </a:r>
            <a:r>
              <a:rPr lang="en-US" dirty="0"/>
              <a:t>| NO ACTION } ]</a:t>
            </a:r>
            <a:endParaRPr lang="ru-RU" dirty="0"/>
          </a:p>
          <a:p>
            <a:r>
              <a:rPr lang="en-US" dirty="0"/>
              <a:t>[ON DELETE { CASCADE</a:t>
            </a:r>
            <a:endParaRPr lang="ru-RU" dirty="0"/>
          </a:p>
          <a:p>
            <a:r>
              <a:rPr lang="ru-RU" dirty="0"/>
              <a:t>		      </a:t>
            </a:r>
            <a:r>
              <a:rPr lang="en-US" dirty="0"/>
              <a:t>| SET NULL</a:t>
            </a:r>
            <a:endParaRPr lang="ru-RU" dirty="0"/>
          </a:p>
          <a:p>
            <a:r>
              <a:rPr lang="ru-RU" dirty="0"/>
              <a:t>		      </a:t>
            </a:r>
            <a:r>
              <a:rPr lang="en-US" dirty="0"/>
              <a:t>| SET DEFAULT</a:t>
            </a:r>
            <a:endParaRPr lang="ru-RU" dirty="0"/>
          </a:p>
          <a:p>
            <a:r>
              <a:rPr lang="ru-RU" dirty="0"/>
              <a:t>		      </a:t>
            </a:r>
            <a:r>
              <a:rPr lang="en-US" dirty="0"/>
              <a:t>| NO ACTION } ]</a:t>
            </a:r>
            <a:endParaRPr lang="ru-RU" dirty="0"/>
          </a:p>
        </p:txBody>
      </p:sp>
      <p:sp>
        <p:nvSpPr>
          <p:cNvPr id="13315" name="TextBox 2"/>
          <p:cNvSpPr txBox="1">
            <a:spLocks noChangeArrowheads="1"/>
          </p:cNvSpPr>
          <p:nvPr/>
        </p:nvSpPr>
        <p:spPr bwMode="auto">
          <a:xfrm>
            <a:off x="1835150" y="311150"/>
            <a:ext cx="61214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3600">
                <a:solidFill>
                  <a:schemeClr val="bg2"/>
                </a:solidFill>
              </a:rPr>
              <a:t>Ссылочная спецификация</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22</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down)">
                                      <p:cBhvr>
                                        <p:cTn id="27" dur="500"/>
                                        <p:tgtEl>
                                          <p:spTgt spid="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down)">
                                      <p:cBhvr>
                                        <p:cTn id="32" dur="500"/>
                                        <p:tgtEl>
                                          <p:spTgt spid="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down)">
                                      <p:cBhvr>
                                        <p:cTn id="37" dur="500"/>
                                        <p:tgtEl>
                                          <p:spTgt spid="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down)">
                                      <p:cBhvr>
                                        <p:cTn id="42" dur="500"/>
                                        <p:tgtEl>
                                          <p:spTgt spid="2">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down)">
                                      <p:cBhvr>
                                        <p:cTn id="47" dur="500"/>
                                        <p:tgtEl>
                                          <p:spTgt spid="2">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wipe(down)">
                                      <p:cBhvr>
                                        <p:cTn id="5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27050" y="317500"/>
            <a:ext cx="8229600" cy="527050"/>
          </a:xfrm>
        </p:spPr>
        <p:txBody>
          <a:bodyPr/>
          <a:lstStyle/>
          <a:p>
            <a:r>
              <a:rPr lang="ru-RU" dirty="0">
                <a:solidFill>
                  <a:schemeClr val="bg2"/>
                </a:solidFill>
              </a:rPr>
              <a:t>Примеры на создание таблиц</a:t>
            </a:r>
            <a:endParaRPr lang="ru-RU" dirty="0"/>
          </a:p>
        </p:txBody>
      </p:sp>
      <p:sp>
        <p:nvSpPr>
          <p:cNvPr id="3" name="Содержимое 2"/>
          <p:cNvSpPr>
            <a:spLocks noGrp="1"/>
          </p:cNvSpPr>
          <p:nvPr>
            <p:ph idx="1"/>
          </p:nvPr>
        </p:nvSpPr>
        <p:spPr>
          <a:xfrm>
            <a:off x="0" y="1028700"/>
            <a:ext cx="9144000" cy="5645150"/>
          </a:xfrm>
        </p:spPr>
        <p:txBody>
          <a:bodyPr>
            <a:normAutofit fontScale="62500" lnSpcReduction="20000"/>
          </a:bodyPr>
          <a:lstStyle/>
          <a:p>
            <a:pPr>
              <a:lnSpc>
                <a:spcPct val="120000"/>
              </a:lnSpc>
            </a:pPr>
            <a:r>
              <a:rPr lang="ru-RU" dirty="0"/>
              <a:t>Пусть необходимо разработать информационную систему для торговли</a:t>
            </a:r>
          </a:p>
          <a:p>
            <a:pPr>
              <a:lnSpc>
                <a:spcPct val="120000"/>
              </a:lnSpc>
            </a:pPr>
            <a:r>
              <a:rPr lang="ru-RU" dirty="0"/>
              <a:t>В системе выделили следующие сущности:</a:t>
            </a:r>
          </a:p>
          <a:p>
            <a:pPr lvl="1">
              <a:lnSpc>
                <a:spcPct val="120000"/>
              </a:lnSpc>
              <a:buClr>
                <a:srgbClr val="C00000"/>
              </a:buClr>
              <a:buFont typeface="Wingdings" pitchFamily="2" charset="2"/>
              <a:buChar char="v"/>
            </a:pPr>
            <a:r>
              <a:rPr lang="ru-RU" dirty="0"/>
              <a:t>ПРОДАВЦЫ</a:t>
            </a:r>
          </a:p>
          <a:p>
            <a:pPr lvl="1">
              <a:lnSpc>
                <a:spcPct val="120000"/>
              </a:lnSpc>
              <a:buClr>
                <a:srgbClr val="C00000"/>
              </a:buClr>
              <a:buFont typeface="Wingdings" pitchFamily="2" charset="2"/>
              <a:buChar char="v"/>
            </a:pPr>
            <a:r>
              <a:rPr lang="ru-RU" dirty="0"/>
              <a:t>ПОКУПАТЕЛИ</a:t>
            </a:r>
          </a:p>
          <a:p>
            <a:pPr lvl="1">
              <a:lnSpc>
                <a:spcPct val="120000"/>
              </a:lnSpc>
              <a:buClr>
                <a:srgbClr val="C00000"/>
              </a:buClr>
              <a:buFont typeface="Wingdings" pitchFamily="2" charset="2"/>
              <a:buChar char="v"/>
            </a:pPr>
            <a:r>
              <a:rPr lang="ru-RU" dirty="0"/>
              <a:t>ЗАКАЗЫ</a:t>
            </a:r>
          </a:p>
          <a:p>
            <a:pPr>
              <a:lnSpc>
                <a:spcPct val="120000"/>
              </a:lnSpc>
            </a:pPr>
            <a:r>
              <a:rPr lang="ru-RU" dirty="0"/>
              <a:t>О продавце нужно хранить данные о его </a:t>
            </a:r>
            <a:r>
              <a:rPr lang="ru-RU" b="1" dirty="0"/>
              <a:t>имени</a:t>
            </a:r>
            <a:r>
              <a:rPr lang="ru-RU" dirty="0"/>
              <a:t>, </a:t>
            </a:r>
            <a:r>
              <a:rPr lang="ru-RU" b="1" dirty="0"/>
              <a:t>городе</a:t>
            </a:r>
            <a:r>
              <a:rPr lang="ru-RU" dirty="0"/>
              <a:t> в котором он работает, </a:t>
            </a:r>
            <a:r>
              <a:rPr lang="ru-RU" b="1" dirty="0"/>
              <a:t>уровень комиссионных </a:t>
            </a:r>
            <a:r>
              <a:rPr lang="ru-RU" dirty="0"/>
              <a:t>(его активность)</a:t>
            </a:r>
          </a:p>
          <a:p>
            <a:pPr>
              <a:lnSpc>
                <a:spcPct val="120000"/>
              </a:lnSpc>
            </a:pPr>
            <a:r>
              <a:rPr lang="ru-RU" dirty="0"/>
              <a:t>О покупателе нужно хранить данные о его </a:t>
            </a:r>
            <a:r>
              <a:rPr lang="ru-RU" b="1" dirty="0"/>
              <a:t>имени</a:t>
            </a:r>
            <a:r>
              <a:rPr lang="ru-RU" dirty="0"/>
              <a:t>, </a:t>
            </a:r>
            <a:r>
              <a:rPr lang="ru-RU" b="1" dirty="0"/>
              <a:t>городе</a:t>
            </a:r>
            <a:r>
              <a:rPr lang="ru-RU" dirty="0"/>
              <a:t> в котором он проживает, его </a:t>
            </a:r>
            <a:r>
              <a:rPr lang="ru-RU" b="1" dirty="0"/>
              <a:t>персональном рейтинге </a:t>
            </a:r>
            <a:r>
              <a:rPr lang="ru-RU" dirty="0"/>
              <a:t>(его активность), </a:t>
            </a:r>
            <a:r>
              <a:rPr lang="ru-RU" b="1" dirty="0"/>
              <a:t>данные о продавце</a:t>
            </a:r>
            <a:r>
              <a:rPr lang="ru-RU" dirty="0"/>
              <a:t>, к которому он приписан</a:t>
            </a:r>
          </a:p>
          <a:p>
            <a:pPr>
              <a:lnSpc>
                <a:spcPct val="120000"/>
              </a:lnSpc>
            </a:pPr>
            <a:r>
              <a:rPr lang="ru-RU" dirty="0"/>
              <a:t>В информации о заказе отражается: </a:t>
            </a:r>
          </a:p>
          <a:p>
            <a:pPr lvl="1">
              <a:lnSpc>
                <a:spcPct val="120000"/>
              </a:lnSpc>
              <a:buClr>
                <a:srgbClr val="C00000"/>
              </a:buClr>
              <a:buFont typeface="Wingdings" pitchFamily="2" charset="2"/>
              <a:buChar char="v"/>
            </a:pPr>
            <a:r>
              <a:rPr lang="ru-RU" dirty="0"/>
              <a:t>количество проданного товара, </a:t>
            </a:r>
          </a:p>
          <a:p>
            <a:pPr lvl="1">
              <a:lnSpc>
                <a:spcPct val="120000"/>
              </a:lnSpc>
              <a:buClr>
                <a:srgbClr val="C00000"/>
              </a:buClr>
              <a:buFont typeface="Wingdings" pitchFamily="2" charset="2"/>
              <a:buChar char="v"/>
            </a:pPr>
            <a:r>
              <a:rPr lang="ru-RU" dirty="0"/>
              <a:t>дата </a:t>
            </a:r>
            <a:r>
              <a:rPr lang="ru-RU" dirty="0" err="1"/>
              <a:t>ЗАКАЗа</a:t>
            </a:r>
            <a:r>
              <a:rPr lang="ru-RU" dirty="0"/>
              <a:t>, </a:t>
            </a:r>
          </a:p>
          <a:p>
            <a:pPr lvl="1">
              <a:lnSpc>
                <a:spcPct val="120000"/>
              </a:lnSpc>
              <a:buClr>
                <a:srgbClr val="C00000"/>
              </a:buClr>
              <a:buFont typeface="Wingdings" pitchFamily="2" charset="2"/>
              <a:buChar char="v"/>
            </a:pPr>
            <a:r>
              <a:rPr lang="ru-RU" dirty="0"/>
              <a:t>продавец, </a:t>
            </a:r>
          </a:p>
          <a:p>
            <a:pPr lvl="1">
              <a:lnSpc>
                <a:spcPct val="120000"/>
              </a:lnSpc>
              <a:buClr>
                <a:srgbClr val="C00000"/>
              </a:buClr>
              <a:buFont typeface="Wingdings" pitchFamily="2" charset="2"/>
              <a:buChar char="v"/>
            </a:pPr>
            <a:r>
              <a:rPr lang="ru-RU" dirty="0"/>
              <a:t>покупатель совершившие куплю-продажу</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23</a:t>
            </a:fld>
            <a:endParaRPr lang="ru-RU"/>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Заголовок 1"/>
          <p:cNvSpPr>
            <a:spLocks noGrp="1"/>
          </p:cNvSpPr>
          <p:nvPr>
            <p:ph type="title"/>
          </p:nvPr>
        </p:nvSpPr>
        <p:spPr>
          <a:xfrm>
            <a:off x="1835150" y="260350"/>
            <a:ext cx="5184775" cy="576263"/>
          </a:xfrm>
        </p:spPr>
        <p:txBody>
          <a:bodyPr/>
          <a:lstStyle/>
          <a:p>
            <a:pPr algn="ctr" eaLnBrk="1" hangingPunct="1"/>
            <a:r>
              <a:rPr lang="ru-RU" sz="3600">
                <a:solidFill>
                  <a:schemeClr val="bg2"/>
                </a:solidFill>
              </a:rPr>
              <a:t>Пример (1)</a:t>
            </a:r>
            <a:endParaRPr lang="ru-RU" sz="3600">
              <a:solidFill>
                <a:srgbClr val="7030A0"/>
              </a:solidFill>
            </a:endParaRPr>
          </a:p>
        </p:txBody>
      </p:sp>
      <p:sp>
        <p:nvSpPr>
          <p:cNvPr id="10243" name="Объект 2"/>
          <p:cNvSpPr>
            <a:spLocks noGrp="1"/>
          </p:cNvSpPr>
          <p:nvPr>
            <p:ph idx="1"/>
          </p:nvPr>
        </p:nvSpPr>
        <p:spPr>
          <a:xfrm>
            <a:off x="296525" y="1412875"/>
            <a:ext cx="8847475" cy="4041350"/>
          </a:xfrm>
        </p:spPr>
        <p:txBody>
          <a:bodyPr/>
          <a:lstStyle/>
          <a:p>
            <a:pPr marL="0" indent="0">
              <a:buFont typeface="Wingdings" pitchFamily="2" charset="2"/>
              <a:buNone/>
              <a:defRPr/>
            </a:pPr>
            <a:r>
              <a:rPr lang="en-US" sz="2800" b="1" dirty="0"/>
              <a:t>CREATE TABLE</a:t>
            </a:r>
            <a:r>
              <a:rPr lang="en-US" sz="2800" dirty="0"/>
              <a:t> </a:t>
            </a:r>
            <a:r>
              <a:rPr lang="ru-RU" sz="2800" dirty="0"/>
              <a:t>   </a:t>
            </a:r>
            <a:r>
              <a:rPr lang="ru-RU" sz="2800" b="1" dirty="0">
                <a:solidFill>
                  <a:schemeClr val="bg2"/>
                </a:solidFill>
              </a:rPr>
              <a:t>ПРОДАВЦЫ</a:t>
            </a:r>
          </a:p>
          <a:p>
            <a:pPr marL="0" indent="0">
              <a:buFont typeface="Wingdings" pitchFamily="2" charset="2"/>
              <a:buNone/>
              <a:defRPr/>
            </a:pPr>
            <a:r>
              <a:rPr lang="en-US" sz="2800" dirty="0"/>
              <a:t> </a:t>
            </a:r>
            <a:r>
              <a:rPr lang="en-US" sz="2800" b="1" dirty="0">
                <a:solidFill>
                  <a:srgbClr val="00B050"/>
                </a:solidFill>
              </a:rPr>
              <a:t>(</a:t>
            </a:r>
            <a:r>
              <a:rPr lang="ru-RU" sz="2800" dirty="0" err="1"/>
              <a:t>Н_прод</a:t>
            </a:r>
            <a:r>
              <a:rPr lang="en-US" sz="2800" dirty="0"/>
              <a:t> INTEGER NOT NULL PRIMARY KEY,</a:t>
            </a:r>
            <a:endParaRPr lang="ru-RU" sz="2800" dirty="0"/>
          </a:p>
          <a:p>
            <a:pPr marL="0" indent="0">
              <a:buFont typeface="Wingdings" pitchFamily="2" charset="2"/>
              <a:buNone/>
              <a:defRPr/>
            </a:pPr>
            <a:r>
              <a:rPr lang="en-US" sz="2800" dirty="0"/>
              <a:t>   </a:t>
            </a:r>
            <a:r>
              <a:rPr lang="ru-RU" sz="2800" dirty="0" err="1"/>
              <a:t>Имя_прод</a:t>
            </a:r>
            <a:r>
              <a:rPr lang="en-US" sz="2800" dirty="0"/>
              <a:t> </a:t>
            </a:r>
            <a:r>
              <a:rPr lang="ru-RU" sz="2800" dirty="0"/>
              <a:t>	</a:t>
            </a:r>
            <a:r>
              <a:rPr lang="en-US" sz="2800" dirty="0"/>
              <a:t>CHAR(10) </a:t>
            </a:r>
            <a:r>
              <a:rPr lang="ru-RU" sz="2800" dirty="0"/>
              <a:t>	</a:t>
            </a:r>
            <a:r>
              <a:rPr lang="en-US" sz="2800" dirty="0"/>
              <a:t>NOT NULL,</a:t>
            </a:r>
            <a:endParaRPr lang="ru-RU" sz="2800" dirty="0"/>
          </a:p>
          <a:p>
            <a:pPr marL="0" indent="0">
              <a:buFont typeface="Wingdings" pitchFamily="2" charset="2"/>
              <a:buNone/>
              <a:defRPr/>
            </a:pPr>
            <a:r>
              <a:rPr lang="en-US" sz="2800" dirty="0"/>
              <a:t>   </a:t>
            </a:r>
            <a:r>
              <a:rPr lang="ru-RU" sz="2800" dirty="0"/>
              <a:t>Город</a:t>
            </a:r>
            <a:r>
              <a:rPr lang="en-US" sz="2800" dirty="0"/>
              <a:t> </a:t>
            </a:r>
            <a:r>
              <a:rPr lang="ru-RU" sz="2800" dirty="0"/>
              <a:t>	</a:t>
            </a:r>
            <a:r>
              <a:rPr lang="en-US" sz="2800" dirty="0"/>
              <a:t>CHAR(10),</a:t>
            </a:r>
            <a:endParaRPr lang="ru-RU" sz="2800" dirty="0"/>
          </a:p>
          <a:p>
            <a:pPr marL="0" indent="0">
              <a:buFont typeface="Wingdings" pitchFamily="2" charset="2"/>
              <a:buNone/>
              <a:defRPr/>
            </a:pPr>
            <a:r>
              <a:rPr lang="en-US" sz="2800" dirty="0"/>
              <a:t>   </a:t>
            </a:r>
            <a:r>
              <a:rPr lang="ru-RU" sz="2800" dirty="0"/>
              <a:t>Комм</a:t>
            </a:r>
            <a:r>
              <a:rPr lang="en-US" sz="2800" dirty="0"/>
              <a:t> </a:t>
            </a:r>
            <a:r>
              <a:rPr lang="ru-RU" sz="2800" dirty="0"/>
              <a:t>	</a:t>
            </a:r>
            <a:r>
              <a:rPr lang="en-US" sz="2800" dirty="0"/>
              <a:t>DECIMAL   </a:t>
            </a:r>
            <a:r>
              <a:rPr lang="ru-RU" sz="2800" dirty="0"/>
              <a:t>	</a:t>
            </a:r>
            <a:r>
              <a:rPr lang="en-US" sz="2800" dirty="0"/>
              <a:t>CHECK(</a:t>
            </a:r>
            <a:r>
              <a:rPr lang="ru-RU" sz="2800" dirty="0"/>
              <a:t>Комм</a:t>
            </a:r>
            <a:r>
              <a:rPr lang="en-US" sz="2800" dirty="0"/>
              <a:t> &lt; 1)</a:t>
            </a:r>
            <a:endParaRPr lang="ru-RU" sz="2800" dirty="0"/>
          </a:p>
          <a:p>
            <a:pPr marL="0" indent="0">
              <a:buFont typeface="Wingdings" pitchFamily="2" charset="2"/>
              <a:buNone/>
              <a:defRPr/>
            </a:pPr>
            <a:r>
              <a:rPr lang="ru-RU" sz="2800" dirty="0"/>
              <a:t> </a:t>
            </a:r>
            <a:r>
              <a:rPr lang="en-US" sz="2800" b="1" dirty="0">
                <a:solidFill>
                  <a:srgbClr val="00B050"/>
                </a:solidFill>
              </a:rPr>
              <a:t>)</a:t>
            </a:r>
            <a:r>
              <a:rPr lang="en-US" sz="2800" dirty="0"/>
              <a:t>;</a:t>
            </a:r>
            <a:endParaRPr lang="ru-RU" sz="2800" dirty="0"/>
          </a:p>
          <a:p>
            <a:pPr eaLnBrk="1" hangingPunct="1">
              <a:defRPr/>
            </a:pPr>
            <a:endParaRPr lang="ru-RU" sz="2800" dirty="0"/>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24</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down)">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down)">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wipe(down)">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wipe(down)">
                                      <p:cBhvr>
                                        <p:cTn id="22" dur="500"/>
                                        <p:tgtEl>
                                          <p:spTgt spid="10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wipe(down)">
                                      <p:cBhvr>
                                        <p:cTn id="27" dur="500"/>
                                        <p:tgtEl>
                                          <p:spTgt spid="102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243">
                                            <p:txEl>
                                              <p:pRg st="5" end="5"/>
                                            </p:txEl>
                                          </p:spTgt>
                                        </p:tgtEl>
                                        <p:attrNameLst>
                                          <p:attrName>style.visibility</p:attrName>
                                        </p:attrNameLst>
                                      </p:cBhvr>
                                      <p:to>
                                        <p:strVal val="visible"/>
                                      </p:to>
                                    </p:set>
                                    <p:animEffect transition="in" filter="wipe(down)">
                                      <p:cBhvr>
                                        <p:cTn id="32" dur="500"/>
                                        <p:tgtEl>
                                          <p:spTgt spid="102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836613"/>
            <a:ext cx="9252520" cy="5688011"/>
          </a:xfrm>
        </p:spPr>
        <p:txBody>
          <a:bodyPr/>
          <a:lstStyle/>
          <a:p>
            <a:pPr marL="0" indent="0">
              <a:buFont typeface="Wingdings" pitchFamily="2" charset="2"/>
              <a:buNone/>
              <a:defRPr/>
            </a:pPr>
            <a:r>
              <a:rPr lang="en-US" b="1" dirty="0"/>
              <a:t>CREATE TABLE</a:t>
            </a:r>
            <a:r>
              <a:rPr lang="en-US" dirty="0"/>
              <a:t> </a:t>
            </a:r>
            <a:r>
              <a:rPr lang="ru-RU" dirty="0"/>
              <a:t>    </a:t>
            </a:r>
            <a:r>
              <a:rPr lang="ru-RU" b="1" dirty="0">
                <a:solidFill>
                  <a:schemeClr val="bg2"/>
                </a:solidFill>
              </a:rPr>
              <a:t>ПОКУПАТЕЛИ</a:t>
            </a:r>
          </a:p>
          <a:p>
            <a:pPr marL="0" indent="0">
              <a:buFont typeface="Wingdings" pitchFamily="2" charset="2"/>
              <a:buNone/>
              <a:defRPr/>
            </a:pPr>
            <a:r>
              <a:rPr lang="en-US" dirty="0"/>
              <a:t> </a:t>
            </a:r>
            <a:r>
              <a:rPr lang="en-US" dirty="0">
                <a:solidFill>
                  <a:srgbClr val="00B050"/>
                </a:solidFill>
              </a:rPr>
              <a:t> (</a:t>
            </a:r>
            <a:r>
              <a:rPr lang="ru-RU" dirty="0" err="1"/>
              <a:t>Н_покуп</a:t>
            </a:r>
            <a:r>
              <a:rPr lang="en-US" dirty="0"/>
              <a:t> INTEGER NOT NULL PRIMARY KEY,</a:t>
            </a:r>
            <a:endParaRPr lang="ru-RU" dirty="0"/>
          </a:p>
          <a:p>
            <a:pPr marL="0" indent="0">
              <a:buFont typeface="Wingdings" pitchFamily="2" charset="2"/>
              <a:buNone/>
              <a:defRPr/>
            </a:pPr>
            <a:r>
              <a:rPr lang="en-US" dirty="0"/>
              <a:t>   </a:t>
            </a:r>
            <a:r>
              <a:rPr lang="ru-RU" dirty="0" err="1"/>
              <a:t>Имя_покуп</a:t>
            </a:r>
            <a:r>
              <a:rPr lang="en-US" dirty="0"/>
              <a:t> </a:t>
            </a:r>
            <a:r>
              <a:rPr lang="ru-RU" dirty="0"/>
              <a:t>	</a:t>
            </a:r>
            <a:r>
              <a:rPr lang="en-US" dirty="0"/>
              <a:t>CHAR(10) </a:t>
            </a:r>
            <a:r>
              <a:rPr lang="ru-RU" dirty="0"/>
              <a:t>	</a:t>
            </a:r>
            <a:r>
              <a:rPr lang="en-US" dirty="0"/>
              <a:t>NOT NULL,</a:t>
            </a:r>
            <a:endParaRPr lang="ru-RU" dirty="0"/>
          </a:p>
          <a:p>
            <a:pPr marL="0" indent="0">
              <a:buFont typeface="Wingdings" pitchFamily="2" charset="2"/>
              <a:buNone/>
              <a:defRPr/>
            </a:pPr>
            <a:r>
              <a:rPr lang="en-US" dirty="0"/>
              <a:t>   </a:t>
            </a:r>
            <a:r>
              <a:rPr lang="ru-RU" dirty="0"/>
              <a:t>Город</a:t>
            </a:r>
            <a:r>
              <a:rPr lang="en-US" dirty="0"/>
              <a:t> </a:t>
            </a:r>
            <a:r>
              <a:rPr lang="ru-RU" dirty="0"/>
              <a:t>		</a:t>
            </a:r>
            <a:r>
              <a:rPr lang="en-US" dirty="0"/>
              <a:t>CHAR(10),</a:t>
            </a:r>
            <a:endParaRPr lang="ru-RU" dirty="0"/>
          </a:p>
          <a:p>
            <a:pPr marL="0" indent="0">
              <a:buFont typeface="Wingdings" pitchFamily="2" charset="2"/>
              <a:buNone/>
              <a:defRPr/>
            </a:pPr>
            <a:r>
              <a:rPr lang="en-US" dirty="0"/>
              <a:t>   </a:t>
            </a:r>
            <a:r>
              <a:rPr lang="ru-RU" dirty="0"/>
              <a:t>Рейтинг</a:t>
            </a:r>
            <a:r>
              <a:rPr lang="en-US" dirty="0"/>
              <a:t> </a:t>
            </a:r>
            <a:r>
              <a:rPr lang="ru-RU" dirty="0"/>
              <a:t>	</a:t>
            </a:r>
            <a:r>
              <a:rPr lang="en-US" dirty="0"/>
              <a:t>INTEGER,</a:t>
            </a:r>
            <a:endParaRPr lang="ru-RU" dirty="0"/>
          </a:p>
          <a:p>
            <a:pPr marL="0" indent="0">
              <a:buFont typeface="Wingdings" pitchFamily="2" charset="2"/>
              <a:buNone/>
              <a:defRPr/>
            </a:pPr>
            <a:r>
              <a:rPr lang="en-US" dirty="0"/>
              <a:t>   </a:t>
            </a:r>
            <a:r>
              <a:rPr lang="ru-RU" dirty="0" err="1"/>
              <a:t>Н_прод</a:t>
            </a:r>
            <a:r>
              <a:rPr lang="en-US" dirty="0"/>
              <a:t> </a:t>
            </a:r>
            <a:r>
              <a:rPr lang="ru-RU" dirty="0"/>
              <a:t>	</a:t>
            </a:r>
            <a:r>
              <a:rPr lang="en-US" dirty="0"/>
              <a:t>INTEGER,</a:t>
            </a:r>
            <a:endParaRPr lang="ru-RU" dirty="0"/>
          </a:p>
          <a:p>
            <a:pPr marL="0" indent="0">
              <a:buFont typeface="Wingdings" pitchFamily="2" charset="2"/>
              <a:buNone/>
              <a:defRPr/>
            </a:pPr>
            <a:r>
              <a:rPr lang="en-US" dirty="0"/>
              <a:t>  </a:t>
            </a:r>
            <a:r>
              <a:rPr lang="ru-RU" dirty="0"/>
              <a:t> </a:t>
            </a:r>
            <a:r>
              <a:rPr lang="en-US" dirty="0"/>
              <a:t>FOREIGN KEY (</a:t>
            </a:r>
            <a:r>
              <a:rPr lang="ru-RU" dirty="0" err="1"/>
              <a:t>Н_прод</a:t>
            </a:r>
            <a:r>
              <a:rPr lang="en-US" dirty="0"/>
              <a:t>) </a:t>
            </a:r>
            <a:r>
              <a:rPr lang="ru-RU" dirty="0" err="1"/>
              <a:t>Покуп</a:t>
            </a:r>
            <a:r>
              <a:rPr lang="ru-RU" dirty="0"/>
              <a:t>-Продавец</a:t>
            </a:r>
            <a:r>
              <a:rPr lang="en-US" dirty="0"/>
              <a:t> </a:t>
            </a:r>
            <a:r>
              <a:rPr lang="ru-RU" dirty="0"/>
              <a:t>			</a:t>
            </a:r>
            <a:r>
              <a:rPr lang="en-US" dirty="0"/>
              <a:t>REFERENCES </a:t>
            </a:r>
            <a:r>
              <a:rPr lang="ru-RU" b="1" dirty="0">
                <a:solidFill>
                  <a:schemeClr val="bg2"/>
                </a:solidFill>
              </a:rPr>
              <a:t>ПРОДАВЦЫ</a:t>
            </a:r>
          </a:p>
          <a:p>
            <a:pPr marL="0" indent="0">
              <a:buFont typeface="Wingdings" pitchFamily="2" charset="2"/>
              <a:buNone/>
              <a:defRPr/>
            </a:pPr>
            <a:r>
              <a:rPr lang="ru-RU" dirty="0"/>
              <a:t>   </a:t>
            </a:r>
            <a:r>
              <a:rPr lang="en-US" dirty="0">
                <a:solidFill>
                  <a:srgbClr val="00B050"/>
                </a:solidFill>
              </a:rPr>
              <a:t>)</a:t>
            </a:r>
            <a:r>
              <a:rPr lang="en-US" dirty="0"/>
              <a:t>;</a:t>
            </a:r>
            <a:endParaRPr lang="ru-RU" dirty="0"/>
          </a:p>
          <a:p>
            <a:pPr>
              <a:defRPr/>
            </a:pPr>
            <a:endParaRPr lang="ru-RU" dirty="0"/>
          </a:p>
        </p:txBody>
      </p:sp>
      <p:sp>
        <p:nvSpPr>
          <p:cNvPr id="15363" name="Заголовок 1"/>
          <p:cNvSpPr txBox="1">
            <a:spLocks/>
          </p:cNvSpPr>
          <p:nvPr/>
        </p:nvSpPr>
        <p:spPr bwMode="auto">
          <a:xfrm>
            <a:off x="1835150" y="260350"/>
            <a:ext cx="51847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algn="ctr" eaLnBrk="1" hangingPunct="1">
              <a:spcBef>
                <a:spcPct val="0"/>
              </a:spcBef>
            </a:pPr>
            <a:r>
              <a:rPr lang="ru-RU" sz="3600">
                <a:solidFill>
                  <a:schemeClr val="bg2"/>
                </a:solidFill>
              </a:rPr>
              <a:t>Пример (2)</a:t>
            </a:r>
            <a:endParaRPr lang="ru-RU" sz="3600">
              <a:solidFill>
                <a:srgbClr val="7030A0"/>
              </a:solidFill>
            </a:endParaRP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25</a:t>
            </a:fld>
            <a:endParaRPr lang="ru-RU"/>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down)">
                                      <p:cBhvr>
                                        <p:cTn id="27" dur="500"/>
                                        <p:tgtEl>
                                          <p:spTgt spid="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down)">
                                      <p:cBhvr>
                                        <p:cTn id="32" dur="500"/>
                                        <p:tgtEl>
                                          <p:spTgt spid="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down)">
                                      <p:cBhvr>
                                        <p:cTn id="37" dur="500"/>
                                        <p:tgtEl>
                                          <p:spTgt spid="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down)">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107950" y="981075"/>
            <a:ext cx="8964613" cy="5688013"/>
          </a:xfrm>
        </p:spPr>
        <p:txBody>
          <a:bodyPr/>
          <a:lstStyle/>
          <a:p>
            <a:pPr marL="0" indent="0">
              <a:buFont typeface="Wingdings" pitchFamily="2" charset="2"/>
              <a:buNone/>
            </a:pPr>
            <a:r>
              <a:rPr lang="en-US" b="1" dirty="0"/>
              <a:t>CREATE TABLE</a:t>
            </a:r>
            <a:r>
              <a:rPr lang="en-US" dirty="0"/>
              <a:t> </a:t>
            </a:r>
            <a:r>
              <a:rPr lang="ru-RU" dirty="0"/>
              <a:t>   </a:t>
            </a:r>
            <a:r>
              <a:rPr lang="ru-RU" b="1" dirty="0">
                <a:solidFill>
                  <a:schemeClr val="bg2"/>
                </a:solidFill>
              </a:rPr>
              <a:t>ЗАКАЗЫ</a:t>
            </a:r>
          </a:p>
          <a:p>
            <a:pPr marL="0" indent="0">
              <a:buFont typeface="Wingdings" pitchFamily="2" charset="2"/>
              <a:buNone/>
            </a:pPr>
            <a:r>
              <a:rPr lang="en-US" dirty="0"/>
              <a:t>  </a:t>
            </a:r>
            <a:r>
              <a:rPr lang="en-US" sz="2800" dirty="0"/>
              <a:t>(</a:t>
            </a:r>
            <a:r>
              <a:rPr lang="ru-RU" sz="2800" dirty="0" err="1"/>
              <a:t>Н_зак</a:t>
            </a:r>
            <a:r>
              <a:rPr lang="en-US" sz="2800" dirty="0"/>
              <a:t> </a:t>
            </a:r>
            <a:r>
              <a:rPr lang="ru-RU" sz="2800" dirty="0"/>
              <a:t>	</a:t>
            </a:r>
            <a:r>
              <a:rPr lang="en-US" sz="2800" dirty="0"/>
              <a:t>INTEGER NOT NULL PRIMARY KEY,</a:t>
            </a:r>
            <a:endParaRPr lang="ru-RU" sz="2800" dirty="0"/>
          </a:p>
          <a:p>
            <a:pPr marL="0" indent="0">
              <a:buFont typeface="Wingdings" pitchFamily="2" charset="2"/>
              <a:buNone/>
            </a:pPr>
            <a:r>
              <a:rPr lang="en-US" sz="2800" dirty="0"/>
              <a:t>   </a:t>
            </a:r>
            <a:r>
              <a:rPr lang="ru-RU" sz="2800" dirty="0"/>
              <a:t>Сумма</a:t>
            </a:r>
            <a:r>
              <a:rPr lang="en-US" sz="2800" dirty="0"/>
              <a:t> </a:t>
            </a:r>
            <a:r>
              <a:rPr lang="ru-RU" sz="2800" dirty="0"/>
              <a:t>	</a:t>
            </a:r>
            <a:r>
              <a:rPr lang="en-US" sz="2800" dirty="0"/>
              <a:t>DECIMAL,</a:t>
            </a:r>
            <a:endParaRPr lang="ru-RU" sz="2800" dirty="0"/>
          </a:p>
          <a:p>
            <a:pPr marL="0" indent="0">
              <a:buFont typeface="Wingdings" pitchFamily="2" charset="2"/>
              <a:buNone/>
            </a:pPr>
            <a:r>
              <a:rPr lang="en-US" sz="2800" dirty="0"/>
              <a:t>   </a:t>
            </a:r>
            <a:r>
              <a:rPr lang="ru-RU" sz="2800" dirty="0" err="1"/>
              <a:t>Дата_з</a:t>
            </a:r>
            <a:r>
              <a:rPr lang="en-US" sz="2800" dirty="0"/>
              <a:t> </a:t>
            </a:r>
            <a:r>
              <a:rPr lang="ru-RU" sz="2800" dirty="0"/>
              <a:t>	</a:t>
            </a:r>
            <a:r>
              <a:rPr lang="en-US" sz="2800" dirty="0"/>
              <a:t>DATE </a:t>
            </a:r>
            <a:r>
              <a:rPr lang="ru-RU" sz="2800" dirty="0"/>
              <a:t>		</a:t>
            </a:r>
            <a:r>
              <a:rPr lang="en-US" sz="2800" dirty="0"/>
              <a:t>NOT NULL,</a:t>
            </a:r>
            <a:endParaRPr lang="ru-RU" sz="2800" dirty="0"/>
          </a:p>
          <a:p>
            <a:pPr marL="0" indent="0">
              <a:buFont typeface="Wingdings" pitchFamily="2" charset="2"/>
              <a:buNone/>
            </a:pPr>
            <a:r>
              <a:rPr lang="en-US" sz="2800" dirty="0"/>
              <a:t>   </a:t>
            </a:r>
            <a:r>
              <a:rPr lang="ru-RU" sz="2800" dirty="0" err="1">
                <a:solidFill>
                  <a:srgbClr val="008000"/>
                </a:solidFill>
              </a:rPr>
              <a:t>Н_покуп</a:t>
            </a:r>
            <a:r>
              <a:rPr lang="en-US" sz="2800" dirty="0"/>
              <a:t> </a:t>
            </a:r>
            <a:r>
              <a:rPr lang="ru-RU" sz="2800" dirty="0"/>
              <a:t>	</a:t>
            </a:r>
            <a:r>
              <a:rPr lang="en-US" sz="2800" dirty="0"/>
              <a:t>INTEGER </a:t>
            </a:r>
            <a:r>
              <a:rPr lang="ru-RU" sz="2800" dirty="0"/>
              <a:t>	</a:t>
            </a:r>
            <a:r>
              <a:rPr lang="en-US" sz="2800" dirty="0"/>
              <a:t>NOT NULL,</a:t>
            </a:r>
            <a:endParaRPr lang="ru-RU" sz="2800" dirty="0"/>
          </a:p>
          <a:p>
            <a:pPr marL="0" indent="0">
              <a:buFont typeface="Wingdings" pitchFamily="2" charset="2"/>
              <a:buNone/>
            </a:pPr>
            <a:r>
              <a:rPr lang="en-US" sz="2800" dirty="0"/>
              <a:t>   </a:t>
            </a:r>
            <a:r>
              <a:rPr lang="ru-RU" sz="2800" dirty="0" err="1">
                <a:solidFill>
                  <a:schemeClr val="bg2">
                    <a:lumMod val="60000"/>
                    <a:lumOff val="40000"/>
                  </a:schemeClr>
                </a:solidFill>
              </a:rPr>
              <a:t>Н_прод</a:t>
            </a:r>
            <a:r>
              <a:rPr lang="en-US" sz="2800" dirty="0"/>
              <a:t> </a:t>
            </a:r>
            <a:r>
              <a:rPr lang="ru-RU" sz="2800" dirty="0"/>
              <a:t>	</a:t>
            </a:r>
            <a:r>
              <a:rPr lang="en-US" sz="2800" dirty="0"/>
              <a:t>INTEGER </a:t>
            </a:r>
            <a:r>
              <a:rPr lang="ru-RU" sz="2800" dirty="0"/>
              <a:t>	</a:t>
            </a:r>
            <a:r>
              <a:rPr lang="en-US" sz="2800" dirty="0"/>
              <a:t>NOT NULL,</a:t>
            </a:r>
            <a:endParaRPr lang="ru-RU" sz="2800" dirty="0"/>
          </a:p>
          <a:p>
            <a:pPr marL="0" indent="0">
              <a:buFont typeface="Wingdings" pitchFamily="2" charset="2"/>
              <a:buNone/>
            </a:pPr>
            <a:r>
              <a:rPr lang="en-US" sz="2800" dirty="0"/>
              <a:t>FOREIGN KEY (</a:t>
            </a:r>
            <a:r>
              <a:rPr lang="ru-RU" sz="2800" dirty="0" err="1">
                <a:solidFill>
                  <a:srgbClr val="008000"/>
                </a:solidFill>
              </a:rPr>
              <a:t>Н_покуп</a:t>
            </a:r>
            <a:r>
              <a:rPr lang="en-US" sz="2800" dirty="0"/>
              <a:t>) </a:t>
            </a:r>
            <a:r>
              <a:rPr lang="ru-RU" sz="2800" dirty="0"/>
              <a:t>Заказ-Покупатель</a:t>
            </a:r>
            <a:r>
              <a:rPr lang="en-US" sz="2800" dirty="0"/>
              <a:t>   </a:t>
            </a:r>
            <a:r>
              <a:rPr lang="ru-RU" sz="2800" dirty="0"/>
              <a:t>				</a:t>
            </a:r>
            <a:r>
              <a:rPr lang="en-US" sz="2800" dirty="0"/>
              <a:t>REFERENCES </a:t>
            </a:r>
            <a:r>
              <a:rPr lang="ru-RU" sz="2800" dirty="0"/>
              <a:t> </a:t>
            </a:r>
            <a:r>
              <a:rPr lang="ru-RU" sz="2800" b="1" dirty="0">
                <a:solidFill>
                  <a:schemeClr val="bg2"/>
                </a:solidFill>
              </a:rPr>
              <a:t>ПОКУПАТЕЛИ</a:t>
            </a:r>
            <a:r>
              <a:rPr lang="en-US" sz="2800" dirty="0"/>
              <a:t>,</a:t>
            </a:r>
            <a:endParaRPr lang="ru-RU" sz="2800" dirty="0"/>
          </a:p>
          <a:p>
            <a:pPr marL="0" indent="0">
              <a:buNone/>
            </a:pPr>
            <a:r>
              <a:rPr lang="en-US" sz="2800" dirty="0"/>
              <a:t>FOREIGN KEY (</a:t>
            </a:r>
            <a:r>
              <a:rPr lang="ru-RU" sz="2800" dirty="0" err="1">
                <a:solidFill>
                  <a:schemeClr val="bg2">
                    <a:lumMod val="60000"/>
                    <a:lumOff val="40000"/>
                  </a:schemeClr>
                </a:solidFill>
              </a:rPr>
              <a:t>Н_прод</a:t>
            </a:r>
            <a:r>
              <a:rPr lang="en-US" sz="2800" dirty="0"/>
              <a:t>) </a:t>
            </a:r>
            <a:r>
              <a:rPr lang="ru-RU" sz="2800" dirty="0"/>
              <a:t>Заказ-Продавец				</a:t>
            </a:r>
            <a:r>
              <a:rPr lang="en-US" sz="2800" dirty="0"/>
              <a:t>REFERENCES </a:t>
            </a:r>
            <a:r>
              <a:rPr lang="ru-RU" sz="2800" dirty="0"/>
              <a:t> </a:t>
            </a:r>
            <a:r>
              <a:rPr lang="ru-RU" sz="2800" b="1" dirty="0">
                <a:solidFill>
                  <a:schemeClr val="bg2"/>
                </a:solidFill>
              </a:rPr>
              <a:t>ПРОДАВЦЫ</a:t>
            </a:r>
            <a:endParaRPr lang="en-US" sz="2800" b="1" dirty="0">
              <a:solidFill>
                <a:schemeClr val="bg2"/>
              </a:solidFill>
            </a:endParaRPr>
          </a:p>
          <a:p>
            <a:pPr marL="0" indent="0">
              <a:buNone/>
            </a:pPr>
            <a:r>
              <a:rPr lang="en-US" sz="2800" dirty="0"/>
              <a:t> </a:t>
            </a:r>
            <a:r>
              <a:rPr lang="ru-RU" sz="2800" dirty="0"/>
              <a:t> </a:t>
            </a:r>
            <a:r>
              <a:rPr lang="en-US" sz="2800" dirty="0"/>
              <a:t>);</a:t>
            </a:r>
            <a:endParaRPr lang="ru-RU" sz="2800" dirty="0"/>
          </a:p>
          <a:p>
            <a:pPr marL="1371600" lvl="2" indent="-457200">
              <a:lnSpc>
                <a:spcPct val="90000"/>
              </a:lnSpc>
            </a:pPr>
            <a:endParaRPr lang="ru-RU" dirty="0">
              <a:latin typeface="Times New Roman" pitchFamily="18" charset="0"/>
              <a:sym typeface="Symbol" pitchFamily="18" charset="2"/>
            </a:endParaRPr>
          </a:p>
        </p:txBody>
      </p:sp>
      <p:sp>
        <p:nvSpPr>
          <p:cNvPr id="16387" name="Заголовок 1"/>
          <p:cNvSpPr txBox="1">
            <a:spLocks/>
          </p:cNvSpPr>
          <p:nvPr/>
        </p:nvSpPr>
        <p:spPr bwMode="auto">
          <a:xfrm>
            <a:off x="1835150" y="260350"/>
            <a:ext cx="51847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algn="ctr" eaLnBrk="1" hangingPunct="1">
              <a:spcBef>
                <a:spcPct val="0"/>
              </a:spcBef>
            </a:pPr>
            <a:r>
              <a:rPr lang="ru-RU" sz="3600">
                <a:solidFill>
                  <a:schemeClr val="bg2"/>
                </a:solidFill>
              </a:rPr>
              <a:t>Пример (3-1)</a:t>
            </a:r>
            <a:endParaRPr lang="ru-RU" sz="3600">
              <a:solidFill>
                <a:srgbClr val="7030A0"/>
              </a:solidFill>
            </a:endParaRP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26</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down)">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down)">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wipe(down)">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wipe(down)">
                                      <p:cBhvr>
                                        <p:cTn id="22" dur="500"/>
                                        <p:tgtEl>
                                          <p:spTgt spid="12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wipe(down)">
                                      <p:cBhvr>
                                        <p:cTn id="27" dur="500"/>
                                        <p:tgtEl>
                                          <p:spTgt spid="12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wipe(down)">
                                      <p:cBhvr>
                                        <p:cTn id="32" dur="500"/>
                                        <p:tgtEl>
                                          <p:spTgt spid="12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wipe(down)">
                                      <p:cBhvr>
                                        <p:cTn id="37" dur="500"/>
                                        <p:tgtEl>
                                          <p:spTgt spid="122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2291">
                                            <p:txEl>
                                              <p:pRg st="7" end="7"/>
                                            </p:txEl>
                                          </p:spTgt>
                                        </p:tgtEl>
                                        <p:attrNameLst>
                                          <p:attrName>style.visibility</p:attrName>
                                        </p:attrNameLst>
                                      </p:cBhvr>
                                      <p:to>
                                        <p:strVal val="visible"/>
                                      </p:to>
                                    </p:set>
                                    <p:animEffect transition="in" filter="wipe(down)">
                                      <p:cBhvr>
                                        <p:cTn id="42" dur="500"/>
                                        <p:tgtEl>
                                          <p:spTgt spid="122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291">
                                            <p:txEl>
                                              <p:pRg st="8" end="8"/>
                                            </p:txEl>
                                          </p:spTgt>
                                        </p:tgtEl>
                                        <p:attrNameLst>
                                          <p:attrName>style.visibility</p:attrName>
                                        </p:attrNameLst>
                                      </p:cBhvr>
                                      <p:to>
                                        <p:strVal val="visible"/>
                                      </p:to>
                                    </p:set>
                                    <p:animEffect transition="in" filter="wipe(down)">
                                      <p:cBhvr>
                                        <p:cTn id="47" dur="500"/>
                                        <p:tgtEl>
                                          <p:spTgt spid="122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a:xfrm>
            <a:off x="107950" y="440530"/>
            <a:ext cx="9036050" cy="6417469"/>
          </a:xfrm>
        </p:spPr>
        <p:txBody>
          <a:bodyPr/>
          <a:lstStyle/>
          <a:p>
            <a:pPr marL="0" indent="0">
              <a:buFont typeface="Wingdings" pitchFamily="2" charset="2"/>
              <a:buNone/>
            </a:pPr>
            <a:r>
              <a:rPr lang="en-US" sz="2800" b="1" dirty="0"/>
              <a:t>CREATE TABLE</a:t>
            </a:r>
            <a:r>
              <a:rPr lang="en-US" sz="2800" dirty="0"/>
              <a:t> </a:t>
            </a:r>
            <a:r>
              <a:rPr lang="ru-RU" sz="2800" dirty="0"/>
              <a:t>   </a:t>
            </a:r>
            <a:r>
              <a:rPr lang="ru-RU" sz="2800" b="1" dirty="0">
                <a:solidFill>
                  <a:schemeClr val="bg2"/>
                </a:solidFill>
              </a:rPr>
              <a:t>ЗАКАЗЫ</a:t>
            </a:r>
          </a:p>
          <a:p>
            <a:pPr marL="0" indent="0">
              <a:buFont typeface="Wingdings" pitchFamily="2" charset="2"/>
              <a:buNone/>
            </a:pPr>
            <a:r>
              <a:rPr lang="en-US" sz="2800" dirty="0"/>
              <a:t>(</a:t>
            </a:r>
            <a:r>
              <a:rPr lang="ru-RU" sz="2800" dirty="0" err="1"/>
              <a:t>Н_зак</a:t>
            </a:r>
            <a:r>
              <a:rPr lang="en-US" sz="2800" dirty="0"/>
              <a:t> </a:t>
            </a:r>
            <a:r>
              <a:rPr lang="ru-RU" sz="2800" dirty="0"/>
              <a:t>	</a:t>
            </a:r>
            <a:r>
              <a:rPr lang="en-US" sz="2800" dirty="0"/>
              <a:t>INTEGER NOT NULL PRIMARY KEY,</a:t>
            </a:r>
            <a:endParaRPr lang="ru-RU" sz="2800" dirty="0"/>
          </a:p>
          <a:p>
            <a:pPr marL="0" indent="0">
              <a:buFont typeface="Wingdings" pitchFamily="2" charset="2"/>
              <a:buNone/>
            </a:pPr>
            <a:r>
              <a:rPr lang="en-US" sz="2800" dirty="0"/>
              <a:t> </a:t>
            </a:r>
            <a:r>
              <a:rPr lang="ru-RU" sz="2800" dirty="0"/>
              <a:t>Сумма</a:t>
            </a:r>
            <a:r>
              <a:rPr lang="en-US" sz="2800" dirty="0"/>
              <a:t> </a:t>
            </a:r>
            <a:r>
              <a:rPr lang="ru-RU" sz="2800" dirty="0"/>
              <a:t>		</a:t>
            </a:r>
            <a:r>
              <a:rPr lang="en-US" sz="2800" dirty="0"/>
              <a:t>DECIMAL,</a:t>
            </a:r>
            <a:endParaRPr lang="ru-RU" sz="2800" dirty="0"/>
          </a:p>
          <a:p>
            <a:pPr marL="0" indent="0">
              <a:buFont typeface="Wingdings" pitchFamily="2" charset="2"/>
              <a:buNone/>
            </a:pPr>
            <a:r>
              <a:rPr lang="en-US" sz="2800" dirty="0"/>
              <a:t> </a:t>
            </a:r>
            <a:r>
              <a:rPr lang="ru-RU" sz="2800" dirty="0" err="1"/>
              <a:t>Дата_з</a:t>
            </a:r>
            <a:r>
              <a:rPr lang="en-US" sz="2800" dirty="0"/>
              <a:t> </a:t>
            </a:r>
            <a:r>
              <a:rPr lang="ru-RU" sz="2800" dirty="0"/>
              <a:t>	</a:t>
            </a:r>
            <a:r>
              <a:rPr lang="en-US" sz="2800" dirty="0"/>
              <a:t>DATE NOT NULL,</a:t>
            </a:r>
            <a:endParaRPr lang="ru-RU" sz="2800" dirty="0"/>
          </a:p>
          <a:p>
            <a:pPr marL="0" indent="0">
              <a:buFont typeface="Wingdings" pitchFamily="2" charset="2"/>
              <a:buNone/>
            </a:pPr>
            <a:r>
              <a:rPr lang="en-US" sz="2800" dirty="0"/>
              <a:t> </a:t>
            </a:r>
            <a:r>
              <a:rPr lang="ru-RU" sz="2800" dirty="0" err="1"/>
              <a:t>Н_покуп</a:t>
            </a:r>
            <a:r>
              <a:rPr lang="en-US" sz="2800" dirty="0"/>
              <a:t> </a:t>
            </a:r>
            <a:r>
              <a:rPr lang="ru-RU" sz="2800" dirty="0"/>
              <a:t>	</a:t>
            </a:r>
            <a:r>
              <a:rPr lang="en-US" sz="2800" dirty="0"/>
              <a:t>INTEGER NOT NULL REFERENCES </a:t>
            </a:r>
            <a:r>
              <a:rPr lang="ru-RU" sz="2800" dirty="0"/>
              <a:t>							</a:t>
            </a:r>
            <a:r>
              <a:rPr lang="ru-RU" sz="2800" b="1" dirty="0">
                <a:solidFill>
                  <a:schemeClr val="bg2"/>
                </a:solidFill>
              </a:rPr>
              <a:t>ПОКУПАТЕЛИ</a:t>
            </a:r>
            <a:r>
              <a:rPr lang="en-US" sz="2800" dirty="0"/>
              <a:t> </a:t>
            </a:r>
            <a:endParaRPr lang="ru-RU" sz="2800" dirty="0"/>
          </a:p>
          <a:p>
            <a:pPr marL="0" indent="0">
              <a:buFont typeface="Wingdings" pitchFamily="2" charset="2"/>
              <a:buNone/>
            </a:pPr>
            <a:r>
              <a:rPr lang="ru-RU" sz="2800" dirty="0"/>
              <a:t>		</a:t>
            </a:r>
            <a:r>
              <a:rPr lang="en-US" sz="2800" dirty="0">
                <a:solidFill>
                  <a:srgbClr val="FF0000"/>
                </a:solidFill>
              </a:rPr>
              <a:t>ON UPDATE CASCADE      </a:t>
            </a:r>
            <a:endParaRPr lang="ru-RU" sz="2800" dirty="0">
              <a:solidFill>
                <a:srgbClr val="FF0000"/>
              </a:solidFill>
            </a:endParaRPr>
          </a:p>
          <a:p>
            <a:pPr marL="0" indent="0">
              <a:buFont typeface="Wingdings" pitchFamily="2" charset="2"/>
              <a:buNone/>
            </a:pPr>
            <a:r>
              <a:rPr lang="ru-RU" sz="2800" dirty="0">
                <a:solidFill>
                  <a:srgbClr val="FF0000"/>
                </a:solidFill>
              </a:rPr>
              <a:t>		</a:t>
            </a:r>
            <a:r>
              <a:rPr lang="en-US" sz="2800" dirty="0">
                <a:solidFill>
                  <a:srgbClr val="FF0000"/>
                </a:solidFill>
              </a:rPr>
              <a:t>ON DELETE   CASCADE</a:t>
            </a:r>
            <a:r>
              <a:rPr lang="en-US" sz="2800" dirty="0">
                <a:solidFill>
                  <a:schemeClr val="bg2">
                    <a:lumMod val="60000"/>
                    <a:lumOff val="40000"/>
                  </a:schemeClr>
                </a:solidFill>
              </a:rPr>
              <a:t>,</a:t>
            </a:r>
            <a:endParaRPr lang="ru-RU" sz="2800" dirty="0">
              <a:solidFill>
                <a:schemeClr val="bg2">
                  <a:lumMod val="60000"/>
                  <a:lumOff val="40000"/>
                </a:schemeClr>
              </a:solidFill>
            </a:endParaRPr>
          </a:p>
          <a:p>
            <a:pPr marL="0" indent="0">
              <a:buFont typeface="Wingdings" pitchFamily="2" charset="2"/>
              <a:buNone/>
            </a:pPr>
            <a:r>
              <a:rPr lang="en-US" sz="2800" dirty="0"/>
              <a:t> </a:t>
            </a:r>
            <a:r>
              <a:rPr lang="ru-RU" sz="2800" dirty="0" err="1"/>
              <a:t>Н_прод</a:t>
            </a:r>
            <a:r>
              <a:rPr lang="en-US" sz="2800" dirty="0"/>
              <a:t> </a:t>
            </a:r>
            <a:r>
              <a:rPr lang="ru-RU" sz="2800" dirty="0"/>
              <a:t>	</a:t>
            </a:r>
            <a:r>
              <a:rPr lang="en-US" sz="2800" dirty="0"/>
              <a:t>INTEGER NOT NULL  REFERENCES </a:t>
            </a:r>
            <a:r>
              <a:rPr lang="ru-RU" sz="2800" dirty="0"/>
              <a:t>							</a:t>
            </a:r>
            <a:r>
              <a:rPr lang="ru-RU" sz="2800" b="1" dirty="0">
                <a:solidFill>
                  <a:schemeClr val="bg2"/>
                </a:solidFill>
              </a:rPr>
              <a:t>ПРОДАВЦЫ</a:t>
            </a:r>
          </a:p>
          <a:p>
            <a:pPr marL="0" indent="0">
              <a:buFont typeface="Wingdings" pitchFamily="2" charset="2"/>
              <a:buNone/>
            </a:pPr>
            <a:r>
              <a:rPr lang="ru-RU" sz="2800" dirty="0"/>
              <a:t>		</a:t>
            </a:r>
            <a:r>
              <a:rPr lang="en-US" sz="2800" dirty="0">
                <a:solidFill>
                  <a:srgbClr val="FF0000"/>
                </a:solidFill>
              </a:rPr>
              <a:t>ON UPDATE CASCADE      </a:t>
            </a:r>
            <a:endParaRPr lang="ru-RU" sz="2800" dirty="0">
              <a:solidFill>
                <a:srgbClr val="FF0000"/>
              </a:solidFill>
            </a:endParaRPr>
          </a:p>
          <a:p>
            <a:pPr marL="0" indent="0">
              <a:buFont typeface="Wingdings" pitchFamily="2" charset="2"/>
              <a:buNone/>
            </a:pPr>
            <a:r>
              <a:rPr lang="ru-RU" sz="2800" dirty="0">
                <a:solidFill>
                  <a:srgbClr val="FF0000"/>
                </a:solidFill>
              </a:rPr>
              <a:t>		</a:t>
            </a:r>
            <a:r>
              <a:rPr lang="en-US" sz="2800" dirty="0">
                <a:solidFill>
                  <a:srgbClr val="FF0000"/>
                </a:solidFill>
              </a:rPr>
              <a:t>ON DELETE  SET NULL </a:t>
            </a:r>
            <a:endParaRPr lang="ru-RU" sz="2800" dirty="0">
              <a:solidFill>
                <a:srgbClr val="FF0000"/>
              </a:solidFill>
            </a:endParaRPr>
          </a:p>
          <a:p>
            <a:pPr marL="0" indent="0">
              <a:buFont typeface="Wingdings" pitchFamily="2" charset="2"/>
              <a:buNone/>
            </a:pPr>
            <a:r>
              <a:rPr lang="en-US" sz="2800" dirty="0"/>
              <a:t>);</a:t>
            </a:r>
            <a:endParaRPr lang="ru-RU" sz="2800" dirty="0"/>
          </a:p>
        </p:txBody>
      </p:sp>
      <p:sp>
        <p:nvSpPr>
          <p:cNvPr id="17411" name="Заголовок 1"/>
          <p:cNvSpPr txBox="1">
            <a:spLocks/>
          </p:cNvSpPr>
          <p:nvPr/>
        </p:nvSpPr>
        <p:spPr bwMode="auto">
          <a:xfrm>
            <a:off x="1835150" y="12212"/>
            <a:ext cx="51847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algn="ctr" eaLnBrk="1" hangingPunct="1">
              <a:spcBef>
                <a:spcPct val="0"/>
              </a:spcBef>
            </a:pPr>
            <a:r>
              <a:rPr lang="ru-RU" sz="3600" dirty="0">
                <a:solidFill>
                  <a:schemeClr val="bg2"/>
                </a:solidFill>
              </a:rPr>
              <a:t>Пример (3-2)</a:t>
            </a:r>
            <a:endParaRPr lang="ru-RU" sz="3600" dirty="0">
              <a:solidFill>
                <a:srgbClr val="7030A0"/>
              </a:solidFill>
            </a:endParaRP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27</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wipe(down)">
                                      <p:cBhvr>
                                        <p:cTn id="7" dur="500"/>
                                        <p:tgtEl>
                                          <p:spTgt spid="133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314">
                                            <p:txEl>
                                              <p:pRg st="1" end="1"/>
                                            </p:txEl>
                                          </p:spTgt>
                                        </p:tgtEl>
                                        <p:attrNameLst>
                                          <p:attrName>style.visibility</p:attrName>
                                        </p:attrNameLst>
                                      </p:cBhvr>
                                      <p:to>
                                        <p:strVal val="visible"/>
                                      </p:to>
                                    </p:set>
                                    <p:animEffect transition="in" filter="wipe(down)">
                                      <p:cBhvr>
                                        <p:cTn id="12" dur="500"/>
                                        <p:tgtEl>
                                          <p:spTgt spid="1331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314">
                                            <p:txEl>
                                              <p:pRg st="2" end="2"/>
                                            </p:txEl>
                                          </p:spTgt>
                                        </p:tgtEl>
                                        <p:attrNameLst>
                                          <p:attrName>style.visibility</p:attrName>
                                        </p:attrNameLst>
                                      </p:cBhvr>
                                      <p:to>
                                        <p:strVal val="visible"/>
                                      </p:to>
                                    </p:set>
                                    <p:animEffect transition="in" filter="wipe(down)">
                                      <p:cBhvr>
                                        <p:cTn id="17" dur="500"/>
                                        <p:tgtEl>
                                          <p:spTgt spid="1331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314">
                                            <p:txEl>
                                              <p:pRg st="3" end="3"/>
                                            </p:txEl>
                                          </p:spTgt>
                                        </p:tgtEl>
                                        <p:attrNameLst>
                                          <p:attrName>style.visibility</p:attrName>
                                        </p:attrNameLst>
                                      </p:cBhvr>
                                      <p:to>
                                        <p:strVal val="visible"/>
                                      </p:to>
                                    </p:set>
                                    <p:animEffect transition="in" filter="wipe(down)">
                                      <p:cBhvr>
                                        <p:cTn id="22" dur="500"/>
                                        <p:tgtEl>
                                          <p:spTgt spid="1331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314">
                                            <p:txEl>
                                              <p:pRg st="4" end="4"/>
                                            </p:txEl>
                                          </p:spTgt>
                                        </p:tgtEl>
                                        <p:attrNameLst>
                                          <p:attrName>style.visibility</p:attrName>
                                        </p:attrNameLst>
                                      </p:cBhvr>
                                      <p:to>
                                        <p:strVal val="visible"/>
                                      </p:to>
                                    </p:set>
                                    <p:animEffect transition="in" filter="wipe(down)">
                                      <p:cBhvr>
                                        <p:cTn id="27" dur="500"/>
                                        <p:tgtEl>
                                          <p:spTgt spid="1331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314">
                                            <p:txEl>
                                              <p:pRg st="5" end="5"/>
                                            </p:txEl>
                                          </p:spTgt>
                                        </p:tgtEl>
                                        <p:attrNameLst>
                                          <p:attrName>style.visibility</p:attrName>
                                        </p:attrNameLst>
                                      </p:cBhvr>
                                      <p:to>
                                        <p:strVal val="visible"/>
                                      </p:to>
                                    </p:set>
                                    <p:animEffect transition="in" filter="wipe(down)">
                                      <p:cBhvr>
                                        <p:cTn id="32" dur="500"/>
                                        <p:tgtEl>
                                          <p:spTgt spid="1331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314">
                                            <p:txEl>
                                              <p:pRg st="6" end="6"/>
                                            </p:txEl>
                                          </p:spTgt>
                                        </p:tgtEl>
                                        <p:attrNameLst>
                                          <p:attrName>style.visibility</p:attrName>
                                        </p:attrNameLst>
                                      </p:cBhvr>
                                      <p:to>
                                        <p:strVal val="visible"/>
                                      </p:to>
                                    </p:set>
                                    <p:animEffect transition="in" filter="wipe(down)">
                                      <p:cBhvr>
                                        <p:cTn id="37" dur="500"/>
                                        <p:tgtEl>
                                          <p:spTgt spid="1331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314">
                                            <p:txEl>
                                              <p:pRg st="7" end="7"/>
                                            </p:txEl>
                                          </p:spTgt>
                                        </p:tgtEl>
                                        <p:attrNameLst>
                                          <p:attrName>style.visibility</p:attrName>
                                        </p:attrNameLst>
                                      </p:cBhvr>
                                      <p:to>
                                        <p:strVal val="visible"/>
                                      </p:to>
                                    </p:set>
                                    <p:animEffect transition="in" filter="wipe(down)">
                                      <p:cBhvr>
                                        <p:cTn id="42" dur="500"/>
                                        <p:tgtEl>
                                          <p:spTgt spid="13314">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3314">
                                            <p:txEl>
                                              <p:pRg st="8" end="8"/>
                                            </p:txEl>
                                          </p:spTgt>
                                        </p:tgtEl>
                                        <p:attrNameLst>
                                          <p:attrName>style.visibility</p:attrName>
                                        </p:attrNameLst>
                                      </p:cBhvr>
                                      <p:to>
                                        <p:strVal val="visible"/>
                                      </p:to>
                                    </p:set>
                                    <p:animEffect transition="in" filter="wipe(down)">
                                      <p:cBhvr>
                                        <p:cTn id="47" dur="500"/>
                                        <p:tgtEl>
                                          <p:spTgt spid="13314">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3314">
                                            <p:txEl>
                                              <p:pRg st="9" end="9"/>
                                            </p:txEl>
                                          </p:spTgt>
                                        </p:tgtEl>
                                        <p:attrNameLst>
                                          <p:attrName>style.visibility</p:attrName>
                                        </p:attrNameLst>
                                      </p:cBhvr>
                                      <p:to>
                                        <p:strVal val="visible"/>
                                      </p:to>
                                    </p:set>
                                    <p:animEffect transition="in" filter="wipe(down)">
                                      <p:cBhvr>
                                        <p:cTn id="52" dur="500"/>
                                        <p:tgtEl>
                                          <p:spTgt spid="1331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3314">
                                            <p:txEl>
                                              <p:pRg st="10" end="10"/>
                                            </p:txEl>
                                          </p:spTgt>
                                        </p:tgtEl>
                                        <p:attrNameLst>
                                          <p:attrName>style.visibility</p:attrName>
                                        </p:attrNameLst>
                                      </p:cBhvr>
                                      <p:to>
                                        <p:strVal val="visible"/>
                                      </p:to>
                                    </p:set>
                                    <p:animEffect transition="in" filter="wipe(down)">
                                      <p:cBhvr>
                                        <p:cTn id="57" dur="500"/>
                                        <p:tgtEl>
                                          <p:spTgt spid="1331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0" y="1196975"/>
            <a:ext cx="9144000" cy="5111750"/>
          </a:xfrm>
        </p:spPr>
        <p:txBody>
          <a:bodyPr/>
          <a:lstStyle/>
          <a:p>
            <a:pPr marL="0" indent="0">
              <a:buFont typeface="Wingdings" pitchFamily="2" charset="2"/>
              <a:buNone/>
              <a:defRPr/>
            </a:pPr>
            <a:r>
              <a:rPr lang="ru-RU" b="1" u="sng" dirty="0"/>
              <a:t>Рекурсия внешних ключей</a:t>
            </a:r>
            <a:endParaRPr lang="ru-RU" dirty="0"/>
          </a:p>
          <a:p>
            <a:pPr marL="0" indent="0">
              <a:buFont typeface="Wingdings" pitchFamily="2" charset="2"/>
              <a:buNone/>
              <a:defRPr/>
            </a:pPr>
            <a:endParaRPr lang="ru-RU" b="1" dirty="0"/>
          </a:p>
          <a:p>
            <a:pPr marL="0" indent="0">
              <a:buFont typeface="Wingdings" pitchFamily="2" charset="2"/>
              <a:buNone/>
              <a:defRPr/>
            </a:pPr>
            <a:r>
              <a:rPr lang="en-US" b="1" dirty="0"/>
              <a:t>CREATE TABLE</a:t>
            </a:r>
            <a:r>
              <a:rPr lang="en-US" dirty="0"/>
              <a:t> </a:t>
            </a:r>
            <a:r>
              <a:rPr lang="ru-RU" dirty="0"/>
              <a:t> </a:t>
            </a:r>
            <a:r>
              <a:rPr lang="ru-RU" b="1" dirty="0">
                <a:solidFill>
                  <a:schemeClr val="bg2">
                    <a:lumMod val="60000"/>
                    <a:lumOff val="40000"/>
                  </a:schemeClr>
                </a:solidFill>
              </a:rPr>
              <a:t>СОТРУДНИКИ</a:t>
            </a:r>
          </a:p>
          <a:p>
            <a:pPr marL="0" indent="0">
              <a:buFont typeface="Wingdings" pitchFamily="2" charset="2"/>
              <a:buNone/>
              <a:defRPr/>
            </a:pPr>
            <a:r>
              <a:rPr lang="en-US" dirty="0"/>
              <a:t>(</a:t>
            </a:r>
            <a:r>
              <a:rPr lang="en-US" dirty="0" err="1"/>
              <a:t>empno</a:t>
            </a:r>
            <a:r>
              <a:rPr lang="en-US" dirty="0"/>
              <a:t>  </a:t>
            </a:r>
            <a:r>
              <a:rPr lang="ru-RU" dirty="0"/>
              <a:t>	</a:t>
            </a:r>
            <a:r>
              <a:rPr lang="en-US" dirty="0"/>
              <a:t>INTEGER NOT NULL PRIMARY KEY,</a:t>
            </a:r>
            <a:endParaRPr lang="ru-RU" dirty="0"/>
          </a:p>
          <a:p>
            <a:pPr marL="0" indent="0">
              <a:buFont typeface="Wingdings" pitchFamily="2" charset="2"/>
              <a:buNone/>
              <a:defRPr/>
            </a:pPr>
            <a:r>
              <a:rPr lang="ru-RU" dirty="0"/>
              <a:t> </a:t>
            </a:r>
            <a:r>
              <a:rPr lang="en-US" dirty="0"/>
              <a:t>name </a:t>
            </a:r>
            <a:r>
              <a:rPr lang="ru-RU" dirty="0"/>
              <a:t>	</a:t>
            </a:r>
            <a:r>
              <a:rPr lang="en-US" dirty="0"/>
              <a:t>CHAR(10) NOT NULL,</a:t>
            </a:r>
            <a:endParaRPr lang="ru-RU" dirty="0"/>
          </a:p>
          <a:p>
            <a:pPr marL="0" indent="0">
              <a:buNone/>
              <a:defRPr/>
            </a:pPr>
            <a:r>
              <a:rPr lang="en-US" dirty="0"/>
              <a:t>manager </a:t>
            </a:r>
            <a:r>
              <a:rPr lang="ru-RU" dirty="0"/>
              <a:t>	</a:t>
            </a:r>
            <a:r>
              <a:rPr lang="en-US" dirty="0"/>
              <a:t>INTEGER   </a:t>
            </a:r>
            <a:r>
              <a:rPr lang="en-US" sz="2800" dirty="0">
                <a:solidFill>
                  <a:schemeClr val="bg2">
                    <a:lumMod val="60000"/>
                    <a:lumOff val="40000"/>
                  </a:schemeClr>
                </a:solidFill>
              </a:rPr>
              <a:t>REFERENCES </a:t>
            </a:r>
            <a:r>
              <a:rPr lang="ru-RU" sz="2800" b="1" dirty="0">
                <a:solidFill>
                  <a:schemeClr val="bg2">
                    <a:lumMod val="60000"/>
                    <a:lumOff val="40000"/>
                  </a:schemeClr>
                </a:solidFill>
              </a:rPr>
              <a:t>СОТРУДНИКИ</a:t>
            </a:r>
            <a:endParaRPr lang="ru-RU" sz="2800" dirty="0">
              <a:solidFill>
                <a:schemeClr val="bg2">
                  <a:lumMod val="60000"/>
                  <a:lumOff val="40000"/>
                </a:schemeClr>
              </a:solidFill>
            </a:endParaRPr>
          </a:p>
          <a:p>
            <a:pPr marL="0" indent="0">
              <a:buFont typeface="Wingdings" pitchFamily="2" charset="2"/>
              <a:buNone/>
              <a:defRPr/>
            </a:pPr>
            <a:r>
              <a:rPr lang="en-US" sz="2800" dirty="0"/>
              <a:t> );</a:t>
            </a:r>
            <a:endParaRPr lang="ru-RU" sz="2800" dirty="0"/>
          </a:p>
          <a:p>
            <a:pPr>
              <a:buFont typeface="Wingdings" pitchFamily="2" charset="2"/>
              <a:buNone/>
              <a:defRPr/>
            </a:pPr>
            <a:endParaRPr lang="el-GR" dirty="0"/>
          </a:p>
        </p:txBody>
      </p:sp>
      <p:sp>
        <p:nvSpPr>
          <p:cNvPr id="18435" name="Заголовок 1"/>
          <p:cNvSpPr txBox="1">
            <a:spLocks/>
          </p:cNvSpPr>
          <p:nvPr/>
        </p:nvSpPr>
        <p:spPr bwMode="auto">
          <a:xfrm>
            <a:off x="1835150" y="115888"/>
            <a:ext cx="51847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algn="ctr" eaLnBrk="1" hangingPunct="1">
              <a:spcBef>
                <a:spcPct val="0"/>
              </a:spcBef>
            </a:pPr>
            <a:r>
              <a:rPr lang="ru-RU" sz="3600">
                <a:solidFill>
                  <a:schemeClr val="bg2"/>
                </a:solidFill>
              </a:rPr>
              <a:t>Пример (4)</a:t>
            </a:r>
            <a:endParaRPr lang="ru-RU" sz="3600">
              <a:solidFill>
                <a:srgbClr val="7030A0"/>
              </a:solidFill>
            </a:endParaRP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28</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down)">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wipe(down)">
                                      <p:cBhvr>
                                        <p:cTn id="12" dur="500"/>
                                        <p:tgtEl>
                                          <p:spTgt spid="143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wipe(down)">
                                      <p:cBhvr>
                                        <p:cTn id="17" dur="500"/>
                                        <p:tgtEl>
                                          <p:spTgt spid="143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339">
                                            <p:txEl>
                                              <p:pRg st="4" end="4"/>
                                            </p:txEl>
                                          </p:spTgt>
                                        </p:tgtEl>
                                        <p:attrNameLst>
                                          <p:attrName>style.visibility</p:attrName>
                                        </p:attrNameLst>
                                      </p:cBhvr>
                                      <p:to>
                                        <p:strVal val="visible"/>
                                      </p:to>
                                    </p:set>
                                    <p:animEffect transition="in" filter="wipe(down)">
                                      <p:cBhvr>
                                        <p:cTn id="22" dur="500"/>
                                        <p:tgtEl>
                                          <p:spTgt spid="1433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339">
                                            <p:txEl>
                                              <p:pRg st="5" end="5"/>
                                            </p:txEl>
                                          </p:spTgt>
                                        </p:tgtEl>
                                        <p:attrNameLst>
                                          <p:attrName>style.visibility</p:attrName>
                                        </p:attrNameLst>
                                      </p:cBhvr>
                                      <p:to>
                                        <p:strVal val="visible"/>
                                      </p:to>
                                    </p:set>
                                    <p:animEffect transition="in" filter="wipe(down)">
                                      <p:cBhvr>
                                        <p:cTn id="27" dur="500"/>
                                        <p:tgtEl>
                                          <p:spTgt spid="1433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4339">
                                            <p:txEl>
                                              <p:pRg st="6" end="6"/>
                                            </p:txEl>
                                          </p:spTgt>
                                        </p:tgtEl>
                                        <p:attrNameLst>
                                          <p:attrName>style.visibility</p:attrName>
                                        </p:attrNameLst>
                                      </p:cBhvr>
                                      <p:to>
                                        <p:strVal val="visible"/>
                                      </p:to>
                                    </p:set>
                                    <p:animEffect transition="in" filter="wipe(down)">
                                      <p:cBhvr>
                                        <p:cTn id="32" dur="500"/>
                                        <p:tgtEl>
                                          <p:spTgt spid="14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a:xfrm>
            <a:off x="107950" y="981075"/>
            <a:ext cx="9036050" cy="5400675"/>
          </a:xfrm>
        </p:spPr>
        <p:txBody>
          <a:bodyPr/>
          <a:lstStyle/>
          <a:p>
            <a:pPr marL="0" indent="0">
              <a:buFont typeface="Wingdings" pitchFamily="2" charset="2"/>
              <a:buNone/>
              <a:defRPr/>
            </a:pPr>
            <a:r>
              <a:rPr lang="en-US" sz="2400" dirty="0"/>
              <a:t>ALTER TABLE </a:t>
            </a:r>
            <a:r>
              <a:rPr lang="ru-RU" sz="2400" dirty="0"/>
              <a:t>имя таблицы</a:t>
            </a:r>
          </a:p>
          <a:p>
            <a:pPr marL="0" indent="0">
              <a:buFont typeface="Wingdings" pitchFamily="2" charset="2"/>
              <a:buNone/>
              <a:defRPr/>
            </a:pPr>
            <a:r>
              <a:rPr lang="ru-RU" sz="2400" dirty="0"/>
              <a:t>{ </a:t>
            </a:r>
            <a:r>
              <a:rPr lang="en-US" sz="2400" dirty="0"/>
              <a:t>ADD</a:t>
            </a:r>
            <a:r>
              <a:rPr lang="ru-RU" sz="2400" dirty="0"/>
              <a:t> [ </a:t>
            </a:r>
            <a:r>
              <a:rPr lang="en-US" sz="2400" dirty="0"/>
              <a:t>COLUMN</a:t>
            </a:r>
            <a:r>
              <a:rPr lang="ru-RU" sz="2400" dirty="0"/>
              <a:t>] имя столбца &lt;определение колонки&gt; }</a:t>
            </a:r>
          </a:p>
          <a:p>
            <a:pPr marL="0" indent="0">
              <a:buFont typeface="Wingdings" pitchFamily="2" charset="2"/>
              <a:buNone/>
              <a:defRPr/>
            </a:pPr>
            <a:r>
              <a:rPr lang="ru-RU" sz="2400" dirty="0"/>
              <a:t>	| { </a:t>
            </a:r>
            <a:r>
              <a:rPr lang="en-US" sz="2400" dirty="0"/>
              <a:t>ALTER</a:t>
            </a:r>
            <a:r>
              <a:rPr lang="ru-RU" sz="2400" dirty="0"/>
              <a:t>  [</a:t>
            </a:r>
            <a:r>
              <a:rPr lang="en-US" sz="2400" dirty="0"/>
              <a:t>COLUMN</a:t>
            </a:r>
            <a:r>
              <a:rPr lang="ru-RU" sz="2400" dirty="0"/>
              <a:t>] } имя столбца &lt;</a:t>
            </a:r>
            <a:r>
              <a:rPr lang="ru-RU" sz="2400" dirty="0">
                <a:solidFill>
                  <a:schemeClr val="bg2">
                    <a:lumMod val="60000"/>
                    <a:lumOff val="40000"/>
                  </a:schemeClr>
                </a:solidFill>
              </a:rPr>
              <a:t>изменяющее действие</a:t>
            </a:r>
            <a:r>
              <a:rPr lang="ru-RU" sz="2400" dirty="0"/>
              <a:t>&gt; }</a:t>
            </a:r>
          </a:p>
          <a:p>
            <a:pPr marL="0" indent="0">
              <a:buFont typeface="Wingdings" pitchFamily="2" charset="2"/>
              <a:buNone/>
              <a:defRPr/>
            </a:pPr>
            <a:r>
              <a:rPr lang="ru-RU" sz="2400" dirty="0"/>
              <a:t>	| { </a:t>
            </a:r>
            <a:r>
              <a:rPr lang="en-US" sz="2400" dirty="0"/>
              <a:t>DROP</a:t>
            </a:r>
            <a:r>
              <a:rPr lang="ru-RU" sz="2400" dirty="0"/>
              <a:t>  [</a:t>
            </a:r>
            <a:r>
              <a:rPr lang="en-US" sz="2400" dirty="0"/>
              <a:t>COLUMN</a:t>
            </a:r>
            <a:r>
              <a:rPr lang="ru-RU" sz="2400" dirty="0"/>
              <a:t>] имя столбца </a:t>
            </a:r>
            <a:r>
              <a:rPr lang="en-US" sz="2400" dirty="0"/>
              <a:t>RESTRICT</a:t>
            </a:r>
            <a:r>
              <a:rPr lang="ru-RU" sz="2400" dirty="0"/>
              <a:t> | </a:t>
            </a:r>
            <a:r>
              <a:rPr lang="en-US" sz="2400" dirty="0"/>
              <a:t>CASCADE </a:t>
            </a:r>
            <a:r>
              <a:rPr lang="ru-RU" sz="2400" dirty="0"/>
              <a:t>}</a:t>
            </a:r>
          </a:p>
          <a:p>
            <a:pPr marL="0" indent="0">
              <a:buFont typeface="Wingdings" pitchFamily="2" charset="2"/>
              <a:buNone/>
              <a:defRPr/>
            </a:pPr>
            <a:r>
              <a:rPr lang="ru-RU" sz="2400" dirty="0"/>
              <a:t>	| { </a:t>
            </a:r>
            <a:r>
              <a:rPr lang="en-US" sz="2400" dirty="0"/>
              <a:t>ADD</a:t>
            </a:r>
            <a:r>
              <a:rPr lang="ru-RU" sz="2400" dirty="0"/>
              <a:t> &lt;определение ограничения для таблицы&gt; }</a:t>
            </a:r>
          </a:p>
          <a:p>
            <a:pPr marL="0" indent="0">
              <a:buFont typeface="Wingdings" pitchFamily="2" charset="2"/>
              <a:buNone/>
              <a:defRPr/>
            </a:pPr>
            <a:r>
              <a:rPr lang="ru-RU" sz="2400" dirty="0"/>
              <a:t>	| { </a:t>
            </a:r>
            <a:r>
              <a:rPr lang="en-US" sz="2400" dirty="0"/>
              <a:t>DROP</a:t>
            </a:r>
            <a:r>
              <a:rPr lang="ru-RU" sz="2400" dirty="0"/>
              <a:t>  </a:t>
            </a:r>
            <a:r>
              <a:rPr lang="en-US" sz="2400" dirty="0"/>
              <a:t>CONSTRAINT </a:t>
            </a:r>
            <a:r>
              <a:rPr lang="ru-RU" sz="2400" dirty="0"/>
              <a:t>имя ограничения </a:t>
            </a:r>
            <a:r>
              <a:rPr lang="en-US" sz="2400" dirty="0"/>
              <a:t>RESTRICT</a:t>
            </a:r>
            <a:r>
              <a:rPr lang="ru-RU" sz="2400" dirty="0"/>
              <a:t> | </a:t>
            </a:r>
            <a:r>
              <a:rPr lang="en-US" sz="2400" dirty="0"/>
              <a:t>CASCADE </a:t>
            </a:r>
            <a:r>
              <a:rPr lang="ru-RU" sz="2400" dirty="0"/>
              <a:t>}</a:t>
            </a:r>
          </a:p>
          <a:p>
            <a:pPr marL="0" indent="0">
              <a:buFont typeface="Wingdings" pitchFamily="2" charset="2"/>
              <a:buNone/>
              <a:defRPr/>
            </a:pPr>
            <a:endParaRPr lang="ru-RU" sz="2400" dirty="0"/>
          </a:p>
          <a:p>
            <a:pPr marL="0" indent="0">
              <a:buFont typeface="Wingdings" pitchFamily="2" charset="2"/>
              <a:buNone/>
              <a:defRPr/>
            </a:pPr>
            <a:r>
              <a:rPr lang="ru-RU" sz="2400" dirty="0"/>
              <a:t>&lt; </a:t>
            </a:r>
            <a:r>
              <a:rPr lang="ru-RU" sz="2400" dirty="0">
                <a:solidFill>
                  <a:schemeClr val="bg2">
                    <a:lumMod val="60000"/>
                    <a:lumOff val="40000"/>
                  </a:schemeClr>
                </a:solidFill>
              </a:rPr>
              <a:t>изменяющее действие</a:t>
            </a:r>
            <a:r>
              <a:rPr lang="ru-RU" sz="2400" b="1" dirty="0"/>
              <a:t>&gt; ::=</a:t>
            </a:r>
            <a:endParaRPr lang="ru-RU" sz="2400" dirty="0"/>
          </a:p>
          <a:p>
            <a:pPr marL="0" indent="0">
              <a:buFont typeface="Wingdings" pitchFamily="2" charset="2"/>
              <a:buNone/>
              <a:defRPr/>
            </a:pPr>
            <a:r>
              <a:rPr lang="ru-RU" sz="2400" dirty="0"/>
              <a:t>      { </a:t>
            </a:r>
            <a:r>
              <a:rPr lang="en-US" sz="2400" dirty="0"/>
              <a:t>SET DEFAULT </a:t>
            </a:r>
            <a:r>
              <a:rPr lang="ru-RU" sz="2400" dirty="0"/>
              <a:t>значение по умолчанию }</a:t>
            </a:r>
          </a:p>
          <a:p>
            <a:pPr marL="0" indent="0">
              <a:buFont typeface="Wingdings" pitchFamily="2" charset="2"/>
              <a:buNone/>
              <a:defRPr/>
            </a:pPr>
            <a:r>
              <a:rPr lang="ru-RU" sz="2400" dirty="0"/>
              <a:t>       | { </a:t>
            </a:r>
            <a:r>
              <a:rPr lang="en-US" sz="2400" dirty="0"/>
              <a:t>DROP DEFAULT </a:t>
            </a:r>
            <a:r>
              <a:rPr lang="ru-RU" sz="2400" dirty="0"/>
              <a:t>} </a:t>
            </a:r>
          </a:p>
          <a:p>
            <a:pPr marL="0" indent="0">
              <a:buFont typeface="Wingdings" pitchFamily="2" charset="2"/>
              <a:buNone/>
              <a:defRPr/>
            </a:pPr>
            <a:endParaRPr lang="ru-RU" sz="2400" dirty="0"/>
          </a:p>
          <a:p>
            <a:pPr>
              <a:buFont typeface="Wingdings" pitchFamily="2" charset="2"/>
              <a:buNone/>
              <a:defRPr/>
            </a:pPr>
            <a:r>
              <a:rPr lang="en-US" dirty="0"/>
              <a:t>	</a:t>
            </a:r>
            <a:endParaRPr lang="ru-RU" dirty="0"/>
          </a:p>
        </p:txBody>
      </p:sp>
      <p:sp>
        <p:nvSpPr>
          <p:cNvPr id="19459" name="Rectangle 4"/>
          <p:cNvSpPr>
            <a:spLocks noGrp="1" noChangeArrowheads="1"/>
          </p:cNvSpPr>
          <p:nvPr>
            <p:ph type="title"/>
          </p:nvPr>
        </p:nvSpPr>
        <p:spPr>
          <a:xfrm>
            <a:off x="539750" y="260350"/>
            <a:ext cx="8229600" cy="595313"/>
          </a:xfrm>
          <a:noFill/>
        </p:spPr>
        <p:txBody>
          <a:bodyPr/>
          <a:lstStyle/>
          <a:p>
            <a:pPr algn="ctr"/>
            <a:r>
              <a:rPr lang="ru-RU" sz="3600">
                <a:solidFill>
                  <a:schemeClr val="bg2"/>
                </a:solidFill>
              </a:rPr>
              <a:t>Изменение структуры таблицы</a:t>
            </a:r>
          </a:p>
        </p:txBody>
      </p:sp>
      <p:sp>
        <p:nvSpPr>
          <p:cNvPr id="4" name="Номер слайда 3"/>
          <p:cNvSpPr>
            <a:spLocks noGrp="1"/>
          </p:cNvSpPr>
          <p:nvPr>
            <p:ph type="sldNum" sz="quarter" idx="11"/>
          </p:nvPr>
        </p:nvSpPr>
        <p:spPr/>
        <p:txBody>
          <a:bodyPr/>
          <a:lstStyle/>
          <a:p>
            <a:pPr>
              <a:defRPr/>
            </a:pPr>
            <a:fld id="{BEEC2694-874F-4CC5-9FE4-F16F3A164C5F}" type="slidenum">
              <a:rPr lang="ru-RU" smtClean="0"/>
              <a:pPr>
                <a:defRPr/>
              </a:pPr>
              <a:t>29</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wipe(down)">
                                      <p:cBhvr>
                                        <p:cTn id="7" dur="500"/>
                                        <p:tgtEl>
                                          <p:spTgt spid="153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362">
                                            <p:txEl>
                                              <p:pRg st="1" end="1"/>
                                            </p:txEl>
                                          </p:spTgt>
                                        </p:tgtEl>
                                        <p:attrNameLst>
                                          <p:attrName>style.visibility</p:attrName>
                                        </p:attrNameLst>
                                      </p:cBhvr>
                                      <p:to>
                                        <p:strVal val="visible"/>
                                      </p:to>
                                    </p:set>
                                    <p:animEffect transition="in" filter="wipe(down)">
                                      <p:cBhvr>
                                        <p:cTn id="12" dur="500"/>
                                        <p:tgtEl>
                                          <p:spTgt spid="1536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362">
                                            <p:txEl>
                                              <p:pRg st="2" end="2"/>
                                            </p:txEl>
                                          </p:spTgt>
                                        </p:tgtEl>
                                        <p:attrNameLst>
                                          <p:attrName>style.visibility</p:attrName>
                                        </p:attrNameLst>
                                      </p:cBhvr>
                                      <p:to>
                                        <p:strVal val="visible"/>
                                      </p:to>
                                    </p:set>
                                    <p:animEffect transition="in" filter="wipe(down)">
                                      <p:cBhvr>
                                        <p:cTn id="17" dur="500"/>
                                        <p:tgtEl>
                                          <p:spTgt spid="1536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5362">
                                            <p:txEl>
                                              <p:pRg st="3" end="3"/>
                                            </p:txEl>
                                          </p:spTgt>
                                        </p:tgtEl>
                                        <p:attrNameLst>
                                          <p:attrName>style.visibility</p:attrName>
                                        </p:attrNameLst>
                                      </p:cBhvr>
                                      <p:to>
                                        <p:strVal val="visible"/>
                                      </p:to>
                                    </p:set>
                                    <p:animEffect transition="in" filter="wipe(down)">
                                      <p:cBhvr>
                                        <p:cTn id="22" dur="500"/>
                                        <p:tgtEl>
                                          <p:spTgt spid="1536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5362">
                                            <p:txEl>
                                              <p:pRg st="4" end="4"/>
                                            </p:txEl>
                                          </p:spTgt>
                                        </p:tgtEl>
                                        <p:attrNameLst>
                                          <p:attrName>style.visibility</p:attrName>
                                        </p:attrNameLst>
                                      </p:cBhvr>
                                      <p:to>
                                        <p:strVal val="visible"/>
                                      </p:to>
                                    </p:set>
                                    <p:animEffect transition="in" filter="wipe(down)">
                                      <p:cBhvr>
                                        <p:cTn id="27" dur="500"/>
                                        <p:tgtEl>
                                          <p:spTgt spid="1536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5362">
                                            <p:txEl>
                                              <p:pRg st="5" end="5"/>
                                            </p:txEl>
                                          </p:spTgt>
                                        </p:tgtEl>
                                        <p:attrNameLst>
                                          <p:attrName>style.visibility</p:attrName>
                                        </p:attrNameLst>
                                      </p:cBhvr>
                                      <p:to>
                                        <p:strVal val="visible"/>
                                      </p:to>
                                    </p:set>
                                    <p:animEffect transition="in" filter="wipe(down)">
                                      <p:cBhvr>
                                        <p:cTn id="32" dur="500"/>
                                        <p:tgtEl>
                                          <p:spTgt spid="1536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5362">
                                            <p:txEl>
                                              <p:pRg st="7" end="7"/>
                                            </p:txEl>
                                          </p:spTgt>
                                        </p:tgtEl>
                                        <p:attrNameLst>
                                          <p:attrName>style.visibility</p:attrName>
                                        </p:attrNameLst>
                                      </p:cBhvr>
                                      <p:to>
                                        <p:strVal val="visible"/>
                                      </p:to>
                                    </p:set>
                                    <p:animEffect transition="in" filter="wipe(down)">
                                      <p:cBhvr>
                                        <p:cTn id="37" dur="500"/>
                                        <p:tgtEl>
                                          <p:spTgt spid="15362">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5362">
                                            <p:txEl>
                                              <p:pRg st="8" end="8"/>
                                            </p:txEl>
                                          </p:spTgt>
                                        </p:tgtEl>
                                        <p:attrNameLst>
                                          <p:attrName>style.visibility</p:attrName>
                                        </p:attrNameLst>
                                      </p:cBhvr>
                                      <p:to>
                                        <p:strVal val="visible"/>
                                      </p:to>
                                    </p:set>
                                    <p:animEffect transition="in" filter="wipe(down)">
                                      <p:cBhvr>
                                        <p:cTn id="42" dur="500"/>
                                        <p:tgtEl>
                                          <p:spTgt spid="15362">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5362">
                                            <p:txEl>
                                              <p:pRg st="9" end="9"/>
                                            </p:txEl>
                                          </p:spTgt>
                                        </p:tgtEl>
                                        <p:attrNameLst>
                                          <p:attrName>style.visibility</p:attrName>
                                        </p:attrNameLst>
                                      </p:cBhvr>
                                      <p:to>
                                        <p:strVal val="visible"/>
                                      </p:to>
                                    </p:set>
                                    <p:animEffect transition="in" filter="wipe(down)">
                                      <p:cBhvr>
                                        <p:cTn id="47" dur="500"/>
                                        <p:tgtEl>
                                          <p:spTgt spid="15362">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5362">
                                            <p:txEl>
                                              <p:pRg st="11" end="11"/>
                                            </p:txEl>
                                          </p:spTgt>
                                        </p:tgtEl>
                                        <p:attrNameLst>
                                          <p:attrName>style.visibility</p:attrName>
                                        </p:attrNameLst>
                                      </p:cBhvr>
                                      <p:to>
                                        <p:strVal val="visible"/>
                                      </p:to>
                                    </p:set>
                                    <p:animEffect transition="in" filter="wipe(down)">
                                      <p:cBhvr>
                                        <p:cTn id="52" dur="500"/>
                                        <p:tgtEl>
                                          <p:spTgt spid="1536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323850" y="404813"/>
            <a:ext cx="8675688" cy="6264275"/>
          </a:xfrm>
        </p:spPr>
        <p:txBody>
          <a:bodyPr/>
          <a:lstStyle/>
          <a:p>
            <a:pPr marL="0" indent="0">
              <a:buFont typeface="Wingdings" pitchFamily="2" charset="2"/>
              <a:buNone/>
              <a:defRPr/>
            </a:pPr>
            <a:r>
              <a:rPr lang="ru-RU" sz="2400" dirty="0">
                <a:solidFill>
                  <a:schemeClr val="bg2">
                    <a:lumMod val="60000"/>
                    <a:lumOff val="40000"/>
                  </a:schemeClr>
                </a:solidFill>
              </a:rPr>
              <a:t>Пример</a:t>
            </a:r>
            <a:endParaRPr lang="en-US" sz="2400" dirty="0">
              <a:solidFill>
                <a:schemeClr val="bg2">
                  <a:lumMod val="60000"/>
                  <a:lumOff val="40000"/>
                </a:schemeClr>
              </a:solidFill>
            </a:endParaRPr>
          </a:p>
          <a:p>
            <a:pPr marL="0" indent="0">
              <a:buFont typeface="Wingdings" pitchFamily="2" charset="2"/>
              <a:buNone/>
              <a:defRPr/>
            </a:pPr>
            <a:r>
              <a:rPr lang="en-US" sz="2800" b="1" dirty="0"/>
              <a:t>ALTER TABLE </a:t>
            </a:r>
            <a:r>
              <a:rPr lang="ru-RU" sz="2800" b="1" dirty="0"/>
              <a:t>  </a:t>
            </a:r>
            <a:r>
              <a:rPr lang="ru-RU" sz="2800" b="1" dirty="0">
                <a:solidFill>
                  <a:schemeClr val="bg2"/>
                </a:solidFill>
              </a:rPr>
              <a:t>ПОКУПАТЕЛИ</a:t>
            </a:r>
            <a:r>
              <a:rPr lang="en-US" sz="2800" dirty="0"/>
              <a:t> </a:t>
            </a:r>
          </a:p>
          <a:p>
            <a:pPr marL="0" indent="0">
              <a:buFont typeface="Wingdings" pitchFamily="2" charset="2"/>
              <a:buNone/>
              <a:defRPr/>
            </a:pPr>
            <a:r>
              <a:rPr lang="en-US" sz="2800" dirty="0"/>
              <a:t>	ADD country CHAR(10) DEFAULT = ‘RUSSIA’;</a:t>
            </a:r>
            <a:endParaRPr lang="ru-RU" sz="2800" dirty="0"/>
          </a:p>
          <a:p>
            <a:pPr marL="0" indent="0">
              <a:buFont typeface="Wingdings" pitchFamily="2" charset="2"/>
              <a:buNone/>
              <a:defRPr/>
            </a:pPr>
            <a:endParaRPr lang="en-US" sz="2800" dirty="0">
              <a:solidFill>
                <a:schemeClr val="bg2"/>
              </a:solidFill>
            </a:endParaRPr>
          </a:p>
          <a:p>
            <a:pPr marL="0" indent="0" algn="ctr">
              <a:buFont typeface="Wingdings" pitchFamily="2" charset="2"/>
              <a:buNone/>
              <a:defRPr/>
            </a:pPr>
            <a:r>
              <a:rPr lang="ru-RU" dirty="0">
                <a:solidFill>
                  <a:schemeClr val="bg2"/>
                </a:solidFill>
              </a:rPr>
              <a:t>Удаление таблицы</a:t>
            </a:r>
          </a:p>
          <a:p>
            <a:pPr marL="0" indent="0">
              <a:buFont typeface="Wingdings" pitchFamily="2" charset="2"/>
              <a:buNone/>
              <a:defRPr/>
            </a:pPr>
            <a:r>
              <a:rPr lang="en-US" sz="2800" b="1" dirty="0"/>
              <a:t>DROP</a:t>
            </a:r>
            <a:r>
              <a:rPr lang="en-US" sz="2800" dirty="0"/>
              <a:t> </a:t>
            </a:r>
            <a:r>
              <a:rPr lang="en-US" sz="2800" b="1" dirty="0"/>
              <a:t>TABLE </a:t>
            </a:r>
            <a:r>
              <a:rPr lang="ru-RU" sz="2800" dirty="0"/>
              <a:t>имя таблицы</a:t>
            </a:r>
            <a:r>
              <a:rPr lang="en-US" sz="2800" dirty="0"/>
              <a:t> RESTRICT | CASCADE</a:t>
            </a:r>
            <a:endParaRPr lang="ru-RU" sz="2800" dirty="0"/>
          </a:p>
          <a:p>
            <a:pPr marL="0" indent="0">
              <a:buFont typeface="Wingdings" pitchFamily="2" charset="2"/>
              <a:buNone/>
              <a:defRPr/>
            </a:pPr>
            <a:endParaRPr lang="ru-RU" sz="2800" dirty="0"/>
          </a:p>
          <a:p>
            <a:pPr marL="0" indent="0">
              <a:buFont typeface="Wingdings" pitchFamily="2" charset="2"/>
              <a:buNone/>
              <a:defRPr/>
            </a:pPr>
            <a:r>
              <a:rPr lang="en-US" sz="2400" dirty="0"/>
              <a:t>RESTRICT </a:t>
            </a:r>
            <a:r>
              <a:rPr lang="ru-RU" sz="2400" dirty="0"/>
              <a:t>требует чтобы НЕ БЫЛО ссылок на удаляемую таблицу.</a:t>
            </a:r>
          </a:p>
          <a:p>
            <a:pPr marL="0" indent="0">
              <a:buFont typeface="Wingdings" pitchFamily="2" charset="2"/>
              <a:buNone/>
              <a:defRPr/>
            </a:pPr>
            <a:r>
              <a:rPr lang="en-US" sz="2400" dirty="0"/>
              <a:t>CASCADE</a:t>
            </a:r>
            <a:r>
              <a:rPr lang="ru-RU" sz="2400" dirty="0"/>
              <a:t> удаляет ВСЕ ОБЪЕКТЫ, ссылающие на удаляемую таблицу.</a:t>
            </a:r>
          </a:p>
          <a:p>
            <a:pPr marL="0" indent="0">
              <a:buFont typeface="Wingdings" pitchFamily="2" charset="2"/>
              <a:buNone/>
              <a:defRPr/>
            </a:pPr>
            <a:r>
              <a:rPr lang="ru-RU" sz="2800" dirty="0">
                <a:solidFill>
                  <a:schemeClr val="bg2">
                    <a:lumMod val="60000"/>
                    <a:lumOff val="40000"/>
                  </a:schemeClr>
                </a:solidFill>
              </a:rPr>
              <a:t>Пример</a:t>
            </a:r>
            <a:endParaRPr lang="en-US" sz="2800" dirty="0">
              <a:solidFill>
                <a:schemeClr val="bg2">
                  <a:lumMod val="60000"/>
                  <a:lumOff val="40000"/>
                </a:schemeClr>
              </a:solidFill>
            </a:endParaRPr>
          </a:p>
          <a:p>
            <a:pPr marL="0" indent="0">
              <a:buFont typeface="Wingdings" pitchFamily="2" charset="2"/>
              <a:buNone/>
              <a:defRPr/>
            </a:pPr>
            <a:r>
              <a:rPr lang="en-US" sz="2800" b="1" dirty="0"/>
              <a:t>DROP</a:t>
            </a:r>
            <a:r>
              <a:rPr lang="en-US" sz="2800" dirty="0"/>
              <a:t> </a:t>
            </a:r>
            <a:r>
              <a:rPr lang="en-US" sz="2800" b="1" dirty="0"/>
              <a:t>TABLE </a:t>
            </a:r>
            <a:r>
              <a:rPr lang="ru-RU" sz="2800" b="1" dirty="0"/>
              <a:t> </a:t>
            </a:r>
            <a:r>
              <a:rPr lang="ru-RU" sz="2800" b="1" dirty="0">
                <a:solidFill>
                  <a:schemeClr val="bg2"/>
                </a:solidFill>
              </a:rPr>
              <a:t>ЗАКАЗЫ</a:t>
            </a:r>
            <a:r>
              <a:rPr lang="ru-RU" sz="2800" dirty="0"/>
              <a:t>  </a:t>
            </a:r>
            <a:r>
              <a:rPr lang="en-US" sz="2800" dirty="0"/>
              <a:t>Restrict</a:t>
            </a:r>
            <a:endParaRPr lang="ru-RU" sz="2800" dirty="0"/>
          </a:p>
        </p:txBody>
      </p:sp>
      <p:sp>
        <p:nvSpPr>
          <p:cNvPr id="3" name="Номер слайда 2"/>
          <p:cNvSpPr>
            <a:spLocks noGrp="1"/>
          </p:cNvSpPr>
          <p:nvPr>
            <p:ph type="sldNum" sz="quarter" idx="11"/>
          </p:nvPr>
        </p:nvSpPr>
        <p:spPr/>
        <p:txBody>
          <a:bodyPr/>
          <a:lstStyle/>
          <a:p>
            <a:pPr>
              <a:defRPr/>
            </a:pPr>
            <a:fld id="{BEEC2694-874F-4CC5-9FE4-F16F3A164C5F}" type="slidenum">
              <a:rPr lang="ru-RU" smtClean="0"/>
              <a:pPr>
                <a:defRPr/>
              </a:pPr>
              <a:t>30</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down)">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down)">
                                      <p:cBhvr>
                                        <p:cTn id="12" dur="500"/>
                                        <p:tgtEl>
                                          <p:spTgt spid="16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wipe(down)">
                                      <p:cBhvr>
                                        <p:cTn id="17" dur="500"/>
                                        <p:tgtEl>
                                          <p:spTgt spid="16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387">
                                            <p:txEl>
                                              <p:pRg st="4" end="4"/>
                                            </p:txEl>
                                          </p:spTgt>
                                        </p:tgtEl>
                                        <p:attrNameLst>
                                          <p:attrName>style.visibility</p:attrName>
                                        </p:attrNameLst>
                                      </p:cBhvr>
                                      <p:to>
                                        <p:strVal val="visible"/>
                                      </p:to>
                                    </p:set>
                                    <p:animEffect transition="in" filter="wipe(down)">
                                      <p:cBhvr>
                                        <p:cTn id="22" dur="500"/>
                                        <p:tgtEl>
                                          <p:spTgt spid="1638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animEffect transition="in" filter="wipe(down)">
                                      <p:cBhvr>
                                        <p:cTn id="27" dur="500"/>
                                        <p:tgtEl>
                                          <p:spTgt spid="1638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6387">
                                            <p:txEl>
                                              <p:pRg st="7" end="7"/>
                                            </p:txEl>
                                          </p:spTgt>
                                        </p:tgtEl>
                                        <p:attrNameLst>
                                          <p:attrName>style.visibility</p:attrName>
                                        </p:attrNameLst>
                                      </p:cBhvr>
                                      <p:to>
                                        <p:strVal val="visible"/>
                                      </p:to>
                                    </p:set>
                                    <p:animEffect transition="in" filter="wipe(down)">
                                      <p:cBhvr>
                                        <p:cTn id="32" dur="500"/>
                                        <p:tgtEl>
                                          <p:spTgt spid="16387">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6387">
                                            <p:txEl>
                                              <p:pRg st="8" end="8"/>
                                            </p:txEl>
                                          </p:spTgt>
                                        </p:tgtEl>
                                        <p:attrNameLst>
                                          <p:attrName>style.visibility</p:attrName>
                                        </p:attrNameLst>
                                      </p:cBhvr>
                                      <p:to>
                                        <p:strVal val="visible"/>
                                      </p:to>
                                    </p:set>
                                    <p:animEffect transition="in" filter="wipe(down)">
                                      <p:cBhvr>
                                        <p:cTn id="37" dur="500"/>
                                        <p:tgtEl>
                                          <p:spTgt spid="16387">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6387">
                                            <p:txEl>
                                              <p:pRg st="9" end="9"/>
                                            </p:txEl>
                                          </p:spTgt>
                                        </p:tgtEl>
                                        <p:attrNameLst>
                                          <p:attrName>style.visibility</p:attrName>
                                        </p:attrNameLst>
                                      </p:cBhvr>
                                      <p:to>
                                        <p:strVal val="visible"/>
                                      </p:to>
                                    </p:set>
                                    <p:animEffect transition="in" filter="wipe(down)">
                                      <p:cBhvr>
                                        <p:cTn id="42" dur="500"/>
                                        <p:tgtEl>
                                          <p:spTgt spid="16387">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6387">
                                            <p:txEl>
                                              <p:pRg st="10" end="10"/>
                                            </p:txEl>
                                          </p:spTgt>
                                        </p:tgtEl>
                                        <p:attrNameLst>
                                          <p:attrName>style.visibility</p:attrName>
                                        </p:attrNameLst>
                                      </p:cBhvr>
                                      <p:to>
                                        <p:strVal val="visible"/>
                                      </p:to>
                                    </p:set>
                                    <p:animEffect transition="in" filter="wipe(down)">
                                      <p:cBhvr>
                                        <p:cTn id="47" dur="500"/>
                                        <p:tgtEl>
                                          <p:spTgt spid="1638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theme/theme1.xml><?xml version="1.0" encoding="utf-8"?>
<a:theme xmlns:a="http://schemas.openxmlformats.org/drawingml/2006/main" name="Пиксел">
  <a:themeElements>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Пиксел">
      <a:majorFont>
        <a:latin typeface="Arial"/>
        <a:ea typeface=""/>
        <a:cs typeface="Arial"/>
      </a:majorFont>
      <a:minorFont>
        <a:latin typeface="Arial"/>
        <a:ea typeface=""/>
        <a:cs typeface="Arial"/>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иксел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Пиксел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Пиксел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Пиксел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Пиксел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Пиксел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Пиксел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Пиксел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Пиксел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Пиксел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Пиксел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4993</TotalTime>
  <Words>5819</Words>
  <Application>Microsoft Office PowerPoint</Application>
  <PresentationFormat>Экран (4:3)</PresentationFormat>
  <Paragraphs>476</Paragraphs>
  <Slides>30</Slides>
  <Notes>10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30</vt:i4>
      </vt:variant>
    </vt:vector>
  </HeadingPairs>
  <TitlesOfParts>
    <vt:vector size="37" baseType="lpstr">
      <vt:lpstr>Arial</vt:lpstr>
      <vt:lpstr>Arial Black</vt:lpstr>
      <vt:lpstr>Calibri</vt:lpstr>
      <vt:lpstr>Linux Libertine</vt:lpstr>
      <vt:lpstr>Times New Roman</vt:lpstr>
      <vt:lpstr>Wingdings</vt:lpstr>
      <vt:lpstr>Пиксел</vt:lpstr>
      <vt:lpstr>Стандарт SQL-92 </vt:lpstr>
      <vt:lpstr>SQL- Structured Query Language SEQUEL- Structured English Query Language </vt:lpstr>
      <vt:lpstr>Стандарты SQL</vt:lpstr>
      <vt:lpstr>Уровни соответствия</vt:lpstr>
      <vt:lpstr>Преимущества</vt:lpstr>
      <vt:lpstr>Недостатки </vt:lpstr>
      <vt:lpstr>Разновидности SQL</vt:lpstr>
      <vt:lpstr>Обозначения </vt:lpstr>
      <vt:lpstr>Обозначения (2) </vt:lpstr>
      <vt:lpstr>Пользователи, схемы и сеансы</vt:lpstr>
      <vt:lpstr>Пользователи, схемы и сеансы</vt:lpstr>
      <vt:lpstr>Создание пользователя. СУБД Oracle.</vt:lpstr>
      <vt:lpstr>Создание схемы БД</vt:lpstr>
      <vt:lpstr>Презентация PowerPoint</vt:lpstr>
      <vt:lpstr>Числовые типы данных</vt:lpstr>
      <vt:lpstr>Типы данных для времени</vt:lpstr>
      <vt:lpstr>Строковые типы данных</vt:lpstr>
      <vt:lpstr>CREATE DOMAIN</vt:lpstr>
      <vt:lpstr>Презентация PowerPoint</vt:lpstr>
      <vt:lpstr>Ограничение столбца</vt:lpstr>
      <vt:lpstr>Ограничение таблицы</vt:lpstr>
      <vt:lpstr>Презентация PowerPoint</vt:lpstr>
      <vt:lpstr>Примеры на создание таблиц</vt:lpstr>
      <vt:lpstr>Пример (1)</vt:lpstr>
      <vt:lpstr>Презентация PowerPoint</vt:lpstr>
      <vt:lpstr>Презентация PowerPoint</vt:lpstr>
      <vt:lpstr>Презентация PowerPoint</vt:lpstr>
      <vt:lpstr>Презентация PowerPoint</vt:lpstr>
      <vt:lpstr>Изменение структуры таблицы</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Реляционная модель</dc:title>
  <dc:creator>Борис</dc:creator>
  <cp:lastModifiedBy>Борис Николаевич Пищик</cp:lastModifiedBy>
  <cp:revision>167</cp:revision>
  <dcterms:created xsi:type="dcterms:W3CDTF">2012-10-04T16:47:37Z</dcterms:created>
  <dcterms:modified xsi:type="dcterms:W3CDTF">2023-10-04T18:07:17Z</dcterms:modified>
</cp:coreProperties>
</file>