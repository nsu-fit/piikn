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7"/>
  </p:notesMasterIdLst>
  <p:sldIdLst>
    <p:sldId id="256" r:id="rId2"/>
    <p:sldId id="278" r:id="rId3"/>
    <p:sldId id="312" r:id="rId4"/>
    <p:sldId id="314" r:id="rId5"/>
    <p:sldId id="313" r:id="rId6"/>
    <p:sldId id="315" r:id="rId7"/>
    <p:sldId id="300" r:id="rId8"/>
    <p:sldId id="273" r:id="rId9"/>
    <p:sldId id="299" r:id="rId10"/>
    <p:sldId id="275" r:id="rId11"/>
    <p:sldId id="298" r:id="rId12"/>
    <p:sldId id="290" r:id="rId13"/>
    <p:sldId id="274" r:id="rId14"/>
    <p:sldId id="301" r:id="rId15"/>
    <p:sldId id="279" r:id="rId16"/>
    <p:sldId id="302" r:id="rId17"/>
    <p:sldId id="303" r:id="rId18"/>
    <p:sldId id="304" r:id="rId19"/>
    <p:sldId id="309" r:id="rId20"/>
    <p:sldId id="306" r:id="rId21"/>
    <p:sldId id="308" r:id="rId22"/>
    <p:sldId id="307" r:id="rId23"/>
    <p:sldId id="305" r:id="rId24"/>
    <p:sldId id="311" r:id="rId25"/>
    <p:sldId id="310" r:id="rId26"/>
  </p:sldIdLst>
  <p:sldSz cx="9144000" cy="6858000" type="screen4x3"/>
  <p:notesSz cx="6858000" cy="9144000"/>
  <p:defaultTextStyle>
    <a:defPPr>
      <a:defRPr lang="ru-RU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008000"/>
    <a:srgbClr val="3333FF"/>
    <a:srgbClr val="DE4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65991" autoAdjust="0"/>
  </p:normalViewPr>
  <p:slideViewPr>
    <p:cSldViewPr showGuides="1">
      <p:cViewPr varScale="1">
        <p:scale>
          <a:sx n="68" d="100"/>
          <a:sy n="68" d="100"/>
        </p:scale>
        <p:origin x="120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DFD065-2FBA-4234-BCF8-C925B281711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7872EB-5D7C-4735-9901-5B74061F9283}">
      <dgm:prSet phldrT="[Text]" custT="1"/>
      <dgm:spPr>
        <a:solidFill>
          <a:srgbClr val="2C95DD"/>
        </a:solidFill>
      </dgm:spPr>
      <dgm:t>
        <a:bodyPr/>
        <a:lstStyle/>
        <a:p>
          <a:pPr algn="ctr"/>
          <a:r>
            <a:rPr lang="ru-RU" sz="1600" b="1" i="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Накопитель на магнитных дисках</a:t>
          </a:r>
        </a:p>
      </dgm:t>
    </dgm:pt>
    <dgm:pt modelId="{36B15B97-CAD3-4E39-B95A-3CF0985499F7}" type="parTrans" cxnId="{F3E12819-DFDD-4E41-8672-0FB9C51129EC}">
      <dgm:prSet/>
      <dgm:spPr/>
      <dgm:t>
        <a:bodyPr/>
        <a:lstStyle/>
        <a:p>
          <a:endParaRPr lang="en-US"/>
        </a:p>
      </dgm:t>
    </dgm:pt>
    <dgm:pt modelId="{ADBBD08F-67ED-4848-BBF9-9053C6957265}" type="sibTrans" cxnId="{F3E12819-DFDD-4E41-8672-0FB9C51129EC}">
      <dgm:prSet/>
      <dgm:spPr/>
      <dgm:t>
        <a:bodyPr/>
        <a:lstStyle/>
        <a:p>
          <a:endParaRPr lang="en-US"/>
        </a:p>
      </dgm:t>
    </dgm:pt>
    <dgm:pt modelId="{1570FD84-DE20-4D45-A3DB-278A6B897D58}">
      <dgm:prSet phldrT="[Text]" custT="1"/>
      <dgm:spPr/>
      <dgm:t>
        <a:bodyPr lIns="109728" tIns="54864" rIns="109728" bIns="54864"/>
        <a:lstStyle/>
        <a:p>
          <a:pPr marL="104775" indent="-104775">
            <a:lnSpc>
              <a:spcPct val="100000"/>
            </a:lnSpc>
          </a:pPr>
          <a:r>
            <a:rPr lang="ru-RU" sz="1400" b="0" i="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Возможность однократной записи и многократного чтения: CD, DVD, BD</a:t>
          </a:r>
        </a:p>
      </dgm:t>
    </dgm:pt>
    <dgm:pt modelId="{838439EE-3214-41F9-AC38-30FD25FDBCB5}">
      <dgm:prSet phldrT="[Text]" custT="1"/>
      <dgm:spPr>
        <a:solidFill>
          <a:srgbClr val="2C95DD"/>
        </a:solidFill>
      </dgm:spPr>
      <dgm:t>
        <a:bodyPr/>
        <a:lstStyle/>
        <a:p>
          <a:pPr algn="ctr"/>
          <a:r>
            <a:rPr lang="ru-RU" sz="1600" b="1" i="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Оптический</a:t>
          </a:r>
          <a:r>
            <a:rPr lang="ru-RU" sz="1600" b="1" i="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 </a:t>
          </a:r>
          <a:r>
            <a:rPr lang="ru-RU" sz="1600" b="1" i="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дисковод</a:t>
          </a:r>
        </a:p>
      </dgm:t>
    </dgm:pt>
    <dgm:pt modelId="{5D2514EA-A986-4147-AB9D-A386E2D6A16E}" type="sibTrans" cxnId="{95A49458-6A1C-4126-AB6D-01B0BF9D545D}">
      <dgm:prSet/>
      <dgm:spPr/>
      <dgm:t>
        <a:bodyPr/>
        <a:lstStyle/>
        <a:p>
          <a:endParaRPr lang="en-US"/>
        </a:p>
      </dgm:t>
    </dgm:pt>
    <dgm:pt modelId="{350A0F01-3D89-456B-B852-8132A7C9D6B8}" type="parTrans" cxnId="{95A49458-6A1C-4126-AB6D-01B0BF9D545D}">
      <dgm:prSet/>
      <dgm:spPr/>
      <dgm:t>
        <a:bodyPr/>
        <a:lstStyle/>
        <a:p>
          <a:endParaRPr lang="en-US"/>
        </a:p>
      </dgm:t>
    </dgm:pt>
    <dgm:pt modelId="{3253797F-8417-4DC8-96E4-CCBB03A7DFDB}" type="sibTrans" cxnId="{C13B32A0-3B0B-45CB-A0B1-AF577E92E163}">
      <dgm:prSet/>
      <dgm:spPr/>
      <dgm:t>
        <a:bodyPr/>
        <a:lstStyle/>
        <a:p>
          <a:endParaRPr lang="en-US"/>
        </a:p>
      </dgm:t>
    </dgm:pt>
    <dgm:pt modelId="{7DA2F3D6-091B-43A0-9C11-8E9756B41878}" type="parTrans" cxnId="{C13B32A0-3B0B-45CB-A0B1-AF577E92E163}">
      <dgm:prSet/>
      <dgm:spPr/>
      <dgm:t>
        <a:bodyPr/>
        <a:lstStyle/>
        <a:p>
          <a:endParaRPr lang="en-US"/>
        </a:p>
      </dgm:t>
    </dgm:pt>
    <dgm:pt modelId="{F754AC32-DFAE-4B7B-A984-8811DD077048}">
      <dgm:prSet phldrT="[Text]" custT="1"/>
      <dgm:spPr/>
      <dgm:t>
        <a:bodyPr lIns="109728" tIns="54864" rIns="109728" bIns="54864"/>
        <a:lstStyle/>
        <a:p>
          <a:pPr marL="104775" indent="-104775">
            <a:lnSpc>
              <a:spcPct val="100000"/>
            </a:lnSpc>
          </a:pPr>
          <a:r>
            <a:rPr lang="ru-RU" sz="1400" b="0" i="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Обеспечивает только последовательный доступ к данным</a:t>
          </a:r>
        </a:p>
      </dgm:t>
    </dgm:pt>
    <dgm:pt modelId="{AC398641-F75B-49B0-AAA0-3FDD29796580}">
      <dgm:prSet phldrT="[Text]" custT="1"/>
      <dgm:spPr>
        <a:solidFill>
          <a:srgbClr val="2C95DD"/>
        </a:solidFill>
      </dgm:spPr>
      <dgm:t>
        <a:bodyPr/>
        <a:lstStyle/>
        <a:p>
          <a:pPr algn="ctr"/>
          <a:r>
            <a:rPr lang="ru-RU" sz="1600" b="1" i="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Магнитный ленточный накопитель</a:t>
          </a:r>
        </a:p>
      </dgm:t>
    </dgm:pt>
    <dgm:pt modelId="{07D91BC0-2E2A-461D-A121-5A51D4452482}" type="sibTrans" cxnId="{E7F166A4-0568-478E-AB87-2D7540EC0F6D}">
      <dgm:prSet/>
      <dgm:spPr/>
      <dgm:t>
        <a:bodyPr/>
        <a:lstStyle/>
        <a:p>
          <a:endParaRPr lang="en-US"/>
        </a:p>
      </dgm:t>
    </dgm:pt>
    <dgm:pt modelId="{1C207FBA-52A1-4559-8466-99CBB9692A60}" type="parTrans" cxnId="{E7F166A4-0568-478E-AB87-2D7540EC0F6D}">
      <dgm:prSet/>
      <dgm:spPr/>
      <dgm:t>
        <a:bodyPr/>
        <a:lstStyle/>
        <a:p>
          <a:endParaRPr lang="en-US"/>
        </a:p>
      </dgm:t>
    </dgm:pt>
    <dgm:pt modelId="{300ED5A2-22C4-458D-9DBF-C3E1020F7AC0}" type="sibTrans" cxnId="{079F9D88-B995-4A80-9149-74E2C602F0BF}">
      <dgm:prSet/>
      <dgm:spPr/>
      <dgm:t>
        <a:bodyPr/>
        <a:lstStyle/>
        <a:p>
          <a:endParaRPr lang="en-US"/>
        </a:p>
      </dgm:t>
    </dgm:pt>
    <dgm:pt modelId="{AC735B69-BAFE-4B81-8A96-4E3027624B57}" type="parTrans" cxnId="{079F9D88-B995-4A80-9149-74E2C602F0BF}">
      <dgm:prSet/>
      <dgm:spPr/>
      <dgm:t>
        <a:bodyPr/>
        <a:lstStyle/>
        <a:p>
          <a:endParaRPr lang="en-US"/>
        </a:p>
      </dgm:t>
    </dgm:pt>
    <dgm:pt modelId="{C743FFC3-A49F-457E-A1CC-A4D8CB253EDF}">
      <dgm:prSet phldrT="[Text]" custT="1"/>
      <dgm:spPr/>
      <dgm:t>
        <a:bodyPr lIns="109728" tIns="54864" rIns="109728" bIns="54864"/>
        <a:lstStyle/>
        <a:p>
          <a:pPr marL="104775" indent="-104775">
            <a:lnSpc>
              <a:spcPct val="100000"/>
            </a:lnSpc>
          </a:pPr>
          <a:r>
            <a:rPr lang="ru-RU" sz="1400" b="0" i="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Данные хранятся в памяти на основе полупроводников</a:t>
          </a:r>
        </a:p>
      </dgm:t>
    </dgm:pt>
    <dgm:pt modelId="{CAAE5DB7-5AD0-4C3C-941D-80F392827B3F}">
      <dgm:prSet phldrT="[Text]" custT="1"/>
      <dgm:spPr>
        <a:solidFill>
          <a:srgbClr val="2C95DD"/>
        </a:solidFill>
      </dgm:spPr>
      <dgm:t>
        <a:bodyPr/>
        <a:lstStyle/>
        <a:p>
          <a:pPr algn="ctr"/>
          <a:r>
            <a:rPr lang="ru-RU" sz="1600" b="1" i="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Твердотельный диск (флэш-диск)</a:t>
          </a:r>
        </a:p>
      </dgm:t>
    </dgm:pt>
    <dgm:pt modelId="{930CFCDD-17F1-4EEE-857C-550DD99ABC4B}" type="sibTrans" cxnId="{DD6CF901-000B-4F0D-8469-9CB7712D941A}">
      <dgm:prSet/>
      <dgm:spPr/>
      <dgm:t>
        <a:bodyPr/>
        <a:lstStyle/>
        <a:p>
          <a:endParaRPr lang="en-US"/>
        </a:p>
      </dgm:t>
    </dgm:pt>
    <dgm:pt modelId="{EDFB1E03-1CA6-4920-AF8C-9D77FDFB231A}" type="parTrans" cxnId="{DD6CF901-000B-4F0D-8469-9CB7712D941A}">
      <dgm:prSet/>
      <dgm:spPr/>
      <dgm:t>
        <a:bodyPr/>
        <a:lstStyle/>
        <a:p>
          <a:endParaRPr lang="en-US"/>
        </a:p>
      </dgm:t>
    </dgm:pt>
    <dgm:pt modelId="{EA0306B6-9F98-4FDB-AD0A-60204F7FB0BA}" type="sibTrans" cxnId="{75A21059-086D-43E1-A661-9D2C12984236}">
      <dgm:prSet/>
      <dgm:spPr/>
      <dgm:t>
        <a:bodyPr/>
        <a:lstStyle/>
        <a:p>
          <a:endParaRPr lang="en-US"/>
        </a:p>
      </dgm:t>
    </dgm:pt>
    <dgm:pt modelId="{C1B007B0-5FF2-4D81-869A-A2E40CF26344}" type="parTrans" cxnId="{75A21059-086D-43E1-A661-9D2C12984236}">
      <dgm:prSet/>
      <dgm:spPr/>
      <dgm:t>
        <a:bodyPr/>
        <a:lstStyle/>
        <a:p>
          <a:endParaRPr lang="en-US"/>
        </a:p>
      </dgm:t>
    </dgm:pt>
    <dgm:pt modelId="{D28A0571-94AD-4A8C-8022-8A98D5EA9FC0}">
      <dgm:prSet phldrT="[Text]" custT="1"/>
      <dgm:spPr/>
      <dgm:t>
        <a:bodyPr lIns="109728" tIns="54864" rIns="109728" bIns="54864"/>
        <a:lstStyle/>
        <a:p>
          <a:pPr marL="104775" indent="-104775">
            <a:lnSpc>
              <a:spcPct val="100000"/>
            </a:lnSpc>
          </a:pPr>
          <a:r>
            <a:rPr lang="ru-RU" sz="1400" b="0" i="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Обеспечивает произвольный доступ для чтения и записи</a:t>
          </a:r>
        </a:p>
      </dgm:t>
    </dgm:pt>
    <dgm:pt modelId="{ED0AF154-C7D4-44B1-8188-AC9B1E78AFFA}" type="sibTrans" cxnId="{CD6A9B65-BBF3-4962-9A12-A1FA8858E054}">
      <dgm:prSet/>
      <dgm:spPr/>
      <dgm:t>
        <a:bodyPr/>
        <a:lstStyle/>
        <a:p>
          <a:endParaRPr lang="en-US"/>
        </a:p>
      </dgm:t>
    </dgm:pt>
    <dgm:pt modelId="{3EF951F3-D35F-457B-81D9-709A140FDCD1}" type="parTrans" cxnId="{CD6A9B65-BBF3-4962-9A12-A1FA8858E054}">
      <dgm:prSet/>
      <dgm:spPr/>
      <dgm:t>
        <a:bodyPr/>
        <a:lstStyle/>
        <a:p>
          <a:endParaRPr lang="en-US"/>
        </a:p>
      </dgm:t>
    </dgm:pt>
    <dgm:pt modelId="{27055167-B399-46DE-8742-467157225895}">
      <dgm:prSet custT="1"/>
      <dgm:spPr/>
      <dgm:t>
        <a:bodyPr lIns="109728" tIns="54864" rIns="109728" bIns="54864"/>
        <a:lstStyle/>
        <a:p>
          <a:pPr marL="104775" indent="-104775">
            <a:lnSpc>
              <a:spcPct val="100000"/>
            </a:lnSpc>
          </a:pPr>
          <a:r>
            <a:rPr lang="ru-RU" sz="1400" b="0" i="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Самое популярное устройство хранения данных с большой емкостью хранения</a:t>
          </a:r>
        </a:p>
      </dgm:t>
    </dgm:pt>
    <dgm:pt modelId="{5DD10E72-C65F-4964-BA11-44A0B42A69EC}" type="parTrans" cxnId="{15EC1F3C-4F33-4385-87B7-B618D4B2AB5C}">
      <dgm:prSet/>
      <dgm:spPr/>
      <dgm:t>
        <a:bodyPr/>
        <a:lstStyle/>
        <a:p>
          <a:endParaRPr lang="en-US"/>
        </a:p>
      </dgm:t>
    </dgm:pt>
    <dgm:pt modelId="{A78E6A5D-BBEC-4E71-AD86-2A6E158104BC}" type="sibTrans" cxnId="{15EC1F3C-4F33-4385-87B7-B618D4B2AB5C}">
      <dgm:prSet/>
      <dgm:spPr/>
      <dgm:t>
        <a:bodyPr/>
        <a:lstStyle/>
        <a:p>
          <a:endParaRPr lang="en-US"/>
        </a:p>
      </dgm:t>
    </dgm:pt>
    <dgm:pt modelId="{705F8D8F-ACF0-4269-AA89-E924B28030DA}">
      <dgm:prSet custT="1"/>
      <dgm:spPr/>
      <dgm:t>
        <a:bodyPr lIns="109728" tIns="54864" rIns="109728" bIns="54864"/>
        <a:lstStyle/>
        <a:p>
          <a:pPr marL="104775" indent="-104775">
            <a:lnSpc>
              <a:spcPct val="100000"/>
            </a:lnSpc>
          </a:pPr>
          <a:r>
            <a:rPr lang="ru-RU" sz="1400" b="0" i="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Чрезвычайно малые задержки операций ввода-вывода, низкое энергопотребление и очень высокая пропускная способность</a:t>
          </a:r>
        </a:p>
      </dgm:t>
    </dgm:pt>
    <dgm:pt modelId="{61F36A74-2FD7-4186-B2AB-7A55A4D65966}" type="parTrans" cxnId="{F525306B-6A7B-4ECC-946D-75873ACEBCEE}">
      <dgm:prSet/>
      <dgm:spPr/>
      <dgm:t>
        <a:bodyPr/>
        <a:lstStyle/>
        <a:p>
          <a:endParaRPr lang="en-US"/>
        </a:p>
      </dgm:t>
    </dgm:pt>
    <dgm:pt modelId="{6CCA1139-8160-4736-8545-5196490B03C6}" type="sibTrans" cxnId="{F525306B-6A7B-4ECC-946D-75873ACEBCEE}">
      <dgm:prSet/>
      <dgm:spPr/>
      <dgm:t>
        <a:bodyPr/>
        <a:lstStyle/>
        <a:p>
          <a:endParaRPr lang="en-US"/>
        </a:p>
      </dgm:t>
    </dgm:pt>
    <dgm:pt modelId="{BBF8A57F-8386-4F80-BBFF-AD366C111471}">
      <dgm:prSet custT="1"/>
      <dgm:spPr/>
      <dgm:t>
        <a:bodyPr lIns="109728" tIns="54864" rIns="109728" bIns="54864"/>
        <a:lstStyle/>
        <a:p>
          <a:pPr marL="104775" indent="-104775">
            <a:lnSpc>
              <a:spcPct val="100000"/>
            </a:lnSpc>
          </a:pPr>
          <a:r>
            <a:rPr lang="ru-RU" sz="1400" b="0" i="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Недорогое решение для длительного хранения данных</a:t>
          </a:r>
        </a:p>
      </dgm:t>
    </dgm:pt>
    <dgm:pt modelId="{7BFB447E-C5A7-42D8-9604-C072AC3F9A9C}" type="parTrans" cxnId="{43AA1164-BDBF-4BDA-8397-7F023E85F2D1}">
      <dgm:prSet/>
      <dgm:spPr/>
      <dgm:t>
        <a:bodyPr/>
        <a:lstStyle/>
        <a:p>
          <a:endParaRPr lang="en-US"/>
        </a:p>
      </dgm:t>
    </dgm:pt>
    <dgm:pt modelId="{C3A2FF8E-CFBF-4083-9900-F73049C89E4C}" type="sibTrans" cxnId="{43AA1164-BDBF-4BDA-8397-7F023E85F2D1}">
      <dgm:prSet/>
      <dgm:spPr/>
      <dgm:t>
        <a:bodyPr/>
        <a:lstStyle/>
        <a:p>
          <a:endParaRPr lang="en-US"/>
        </a:p>
      </dgm:t>
    </dgm:pt>
    <dgm:pt modelId="{B584D601-7C22-4DBB-9722-B7B73F1E0307}">
      <dgm:prSet custT="1"/>
      <dgm:spPr/>
      <dgm:t>
        <a:bodyPr lIns="109728" tIns="54864" rIns="109728" bIns="54864"/>
        <a:lstStyle/>
        <a:p>
          <a:pPr marL="104775" indent="-104775">
            <a:lnSpc>
              <a:spcPct val="100000"/>
            </a:lnSpc>
          </a:pPr>
          <a:r>
            <a:rPr lang="ru-RU" sz="1400" b="0" i="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Недорогое решение для длительного хранения данных</a:t>
          </a:r>
        </a:p>
      </dgm:t>
    </dgm:pt>
    <dgm:pt modelId="{858FBE9B-5EAC-4A77-B5B8-4D2EA2102FB4}" type="parTrans" cxnId="{8C164936-32A6-4114-9359-8B0E6C736600}">
      <dgm:prSet/>
      <dgm:spPr/>
      <dgm:t>
        <a:bodyPr/>
        <a:lstStyle/>
        <a:p>
          <a:endParaRPr lang="en-US"/>
        </a:p>
      </dgm:t>
    </dgm:pt>
    <dgm:pt modelId="{48D68964-44D1-43E8-B21F-DAB2B2D6D692}" type="sibTrans" cxnId="{8C164936-32A6-4114-9359-8B0E6C736600}">
      <dgm:prSet/>
      <dgm:spPr/>
      <dgm:t>
        <a:bodyPr/>
        <a:lstStyle/>
        <a:p>
          <a:endParaRPr lang="en-US"/>
        </a:p>
      </dgm:t>
    </dgm:pt>
    <dgm:pt modelId="{E2EED1A9-89AD-437B-9C19-5C8882ECA18B}">
      <dgm:prSet phldrT="[Text]" custT="1"/>
      <dgm:spPr/>
      <dgm:t>
        <a:bodyPr lIns="109728" tIns="54864" rIns="109728" bIns="54864"/>
        <a:lstStyle/>
        <a:p>
          <a:pPr marL="104775" indent="-104775">
            <a:lnSpc>
              <a:spcPct val="100000"/>
            </a:lnSpc>
          </a:pPr>
          <a:r>
            <a:rPr lang="ru-RU" sz="1400" b="0" i="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Данные хранятся на вращающемся диске с ферромагнитным покрытием</a:t>
          </a:r>
        </a:p>
      </dgm:t>
    </dgm:pt>
    <dgm:pt modelId="{9164A035-3F52-426A-BC60-2F7CA5B272F3}" type="parTrans" cxnId="{E1982276-CD2B-481A-8D15-C1D39EAEB987}">
      <dgm:prSet/>
      <dgm:spPr/>
      <dgm:t>
        <a:bodyPr/>
        <a:lstStyle/>
        <a:p>
          <a:endParaRPr lang="en-US"/>
        </a:p>
      </dgm:t>
    </dgm:pt>
    <dgm:pt modelId="{9E108158-DD11-4376-9735-0F270D020E29}" type="sibTrans" cxnId="{E1982276-CD2B-481A-8D15-C1D39EAEB987}">
      <dgm:prSet/>
      <dgm:spPr/>
      <dgm:t>
        <a:bodyPr/>
        <a:lstStyle/>
        <a:p>
          <a:endParaRPr lang="en-US"/>
        </a:p>
      </dgm:t>
    </dgm:pt>
    <dgm:pt modelId="{B0657416-D910-4161-AD55-3F63F47B6E69}">
      <dgm:prSet phldrT="[Text]" custT="1"/>
      <dgm:spPr/>
      <dgm:t>
        <a:bodyPr lIns="109728" tIns="54864" rIns="109728" bIns="54864"/>
        <a:lstStyle/>
        <a:p>
          <a:pPr marL="104775" indent="-104775">
            <a:lnSpc>
              <a:spcPct val="100000"/>
            </a:lnSpc>
          </a:pPr>
          <a:r>
            <a:rPr lang="ru-RU" sz="1400" b="0" i="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Данные хранятся на пластиковой пленке с магнитным покрытием</a:t>
          </a:r>
        </a:p>
      </dgm:t>
    </dgm:pt>
    <dgm:pt modelId="{5366F5E4-F50D-4118-9062-6D8269084ED1}" type="parTrans" cxnId="{E73B62EE-64FC-41A3-8C08-91346E5525A1}">
      <dgm:prSet/>
      <dgm:spPr/>
      <dgm:t>
        <a:bodyPr/>
        <a:lstStyle/>
        <a:p>
          <a:endParaRPr lang="en-US"/>
        </a:p>
      </dgm:t>
    </dgm:pt>
    <dgm:pt modelId="{36EA7470-1D42-4E23-B954-4E3DEF9C284E}" type="sibTrans" cxnId="{E73B62EE-64FC-41A3-8C08-91346E5525A1}">
      <dgm:prSet/>
      <dgm:spPr/>
      <dgm:t>
        <a:bodyPr/>
        <a:lstStyle/>
        <a:p>
          <a:endParaRPr lang="en-US"/>
        </a:p>
      </dgm:t>
    </dgm:pt>
    <dgm:pt modelId="{EA7F3E3B-5AAB-465F-AB24-FA24D1A7AA5E}">
      <dgm:prSet phldrT="[Text]" custT="1"/>
      <dgm:spPr/>
      <dgm:t>
        <a:bodyPr lIns="109728" tIns="54864" rIns="109728" bIns="54864"/>
        <a:lstStyle/>
        <a:p>
          <a:pPr marL="104775" indent="-104775">
            <a:lnSpc>
              <a:spcPct val="100000"/>
            </a:lnSpc>
          </a:pPr>
          <a:r>
            <a:rPr lang="ru-RU" sz="1400" b="0" i="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Данные хранятся на поликарбонатном диске с отражающим покрытием</a:t>
          </a:r>
        </a:p>
      </dgm:t>
    </dgm:pt>
    <dgm:pt modelId="{079E5796-4C7F-4D6B-AC9C-1EC2FD41008B}" type="parTrans" cxnId="{867A3C8C-9E81-4E70-A192-81F62240694B}">
      <dgm:prSet/>
      <dgm:spPr/>
      <dgm:t>
        <a:bodyPr/>
        <a:lstStyle/>
        <a:p>
          <a:endParaRPr lang="en-US"/>
        </a:p>
      </dgm:t>
    </dgm:pt>
    <dgm:pt modelId="{0D8ABCCD-D636-4F1C-8721-36F13E9F2D28}" type="sibTrans" cxnId="{867A3C8C-9E81-4E70-A192-81F62240694B}">
      <dgm:prSet/>
      <dgm:spPr/>
      <dgm:t>
        <a:bodyPr/>
        <a:lstStyle/>
        <a:p>
          <a:endParaRPr lang="en-US"/>
        </a:p>
      </dgm:t>
    </dgm:pt>
    <dgm:pt modelId="{5B1E25DB-39E0-4933-BD74-0510C0D66099}" type="pres">
      <dgm:prSet presAssocID="{A4DFD065-2FBA-4234-BCF8-C925B2817114}" presName="Name0" presStyleCnt="0">
        <dgm:presLayoutVars>
          <dgm:dir/>
          <dgm:animLvl val="lvl"/>
          <dgm:resizeHandles val="exact"/>
        </dgm:presLayoutVars>
      </dgm:prSet>
      <dgm:spPr/>
    </dgm:pt>
    <dgm:pt modelId="{BCD07672-96E6-4763-A3C8-B049BBD0191B}" type="pres">
      <dgm:prSet presAssocID="{9C7872EB-5D7C-4735-9901-5B74061F9283}" presName="linNode" presStyleCnt="0"/>
      <dgm:spPr/>
    </dgm:pt>
    <dgm:pt modelId="{E1C507B0-CE90-4E03-B4DF-959306DBB7D4}" type="pres">
      <dgm:prSet presAssocID="{9C7872EB-5D7C-4735-9901-5B74061F9283}" presName="parentText" presStyleLbl="node1" presStyleIdx="0" presStyleCnt="4" custScaleX="80556" custScaleY="85212">
        <dgm:presLayoutVars>
          <dgm:chMax val="1"/>
          <dgm:bulletEnabled val="1"/>
        </dgm:presLayoutVars>
      </dgm:prSet>
      <dgm:spPr/>
    </dgm:pt>
    <dgm:pt modelId="{3B0AC266-B5BD-49ED-992C-2AC7D9193D50}" type="pres">
      <dgm:prSet presAssocID="{9C7872EB-5D7C-4735-9901-5B74061F9283}" presName="descendantText" presStyleLbl="alignAccFollowNode1" presStyleIdx="0" presStyleCnt="4" custScaleX="122903" custScaleY="107750">
        <dgm:presLayoutVars>
          <dgm:bulletEnabled val="1"/>
        </dgm:presLayoutVars>
      </dgm:prSet>
      <dgm:spPr/>
    </dgm:pt>
    <dgm:pt modelId="{56EB9B2A-DE28-4701-AC59-5E5AD3297FFA}" type="pres">
      <dgm:prSet presAssocID="{ADBBD08F-67ED-4848-BBF9-9053C6957265}" presName="sp" presStyleCnt="0"/>
      <dgm:spPr/>
    </dgm:pt>
    <dgm:pt modelId="{82E8703B-9389-4707-9CD6-8F7B7455816D}" type="pres">
      <dgm:prSet presAssocID="{CAAE5DB7-5AD0-4C3C-941D-80F392827B3F}" presName="linNode" presStyleCnt="0"/>
      <dgm:spPr/>
    </dgm:pt>
    <dgm:pt modelId="{F5F5DCD5-B94E-4374-9972-CB76AD36F8A2}" type="pres">
      <dgm:prSet presAssocID="{CAAE5DB7-5AD0-4C3C-941D-80F392827B3F}" presName="parentText" presStyleLbl="node1" presStyleIdx="1" presStyleCnt="4" custScaleX="81481" custScaleY="72533">
        <dgm:presLayoutVars>
          <dgm:chMax val="1"/>
          <dgm:bulletEnabled val="1"/>
        </dgm:presLayoutVars>
      </dgm:prSet>
      <dgm:spPr/>
    </dgm:pt>
    <dgm:pt modelId="{227BF414-BF92-4AC7-8B37-F08BED37A5BA}" type="pres">
      <dgm:prSet presAssocID="{CAAE5DB7-5AD0-4C3C-941D-80F392827B3F}" presName="descendantText" presStyleLbl="alignAccFollowNode1" presStyleIdx="1" presStyleCnt="4" custScaleX="125063" custScaleY="87318">
        <dgm:presLayoutVars>
          <dgm:bulletEnabled val="1"/>
        </dgm:presLayoutVars>
      </dgm:prSet>
      <dgm:spPr/>
    </dgm:pt>
    <dgm:pt modelId="{D728C519-5F74-4EE9-A664-FAA27C5B3C95}" type="pres">
      <dgm:prSet presAssocID="{930CFCDD-17F1-4EEE-857C-550DD99ABC4B}" presName="sp" presStyleCnt="0"/>
      <dgm:spPr/>
    </dgm:pt>
    <dgm:pt modelId="{CB0A9CEC-4970-4E9A-8D2C-D5476F2E81BE}" type="pres">
      <dgm:prSet presAssocID="{AC398641-F75B-49B0-AAA0-3FDD29796580}" presName="linNode" presStyleCnt="0"/>
      <dgm:spPr/>
    </dgm:pt>
    <dgm:pt modelId="{E8197B1A-9EDC-44B3-B9A6-A286E453E106}" type="pres">
      <dgm:prSet presAssocID="{AC398641-F75B-49B0-AAA0-3FDD29796580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17FDFF8D-5754-40A6-90C0-1FF65591B9FB}" type="pres">
      <dgm:prSet presAssocID="{AC398641-F75B-49B0-AAA0-3FDD29796580}" presName="descendantText" presStyleLbl="alignAccFollowNode1" presStyleIdx="2" presStyleCnt="4" custScaleX="153670" custScaleY="98215">
        <dgm:presLayoutVars>
          <dgm:bulletEnabled val="1"/>
        </dgm:presLayoutVars>
      </dgm:prSet>
      <dgm:spPr/>
    </dgm:pt>
    <dgm:pt modelId="{B445CC07-F0B6-49C0-8116-9323DF1CFDC9}" type="pres">
      <dgm:prSet presAssocID="{07D91BC0-2E2A-461D-A121-5A51D4452482}" presName="sp" presStyleCnt="0"/>
      <dgm:spPr/>
    </dgm:pt>
    <dgm:pt modelId="{17D0205F-3ACB-4715-9A8B-A9A596954293}" type="pres">
      <dgm:prSet presAssocID="{838439EE-3214-41F9-AC38-30FD25FDBCB5}" presName="linNode" presStyleCnt="0"/>
      <dgm:spPr/>
    </dgm:pt>
    <dgm:pt modelId="{6B00BC4D-46E6-49C4-8822-FDB71BC59661}" type="pres">
      <dgm:prSet presAssocID="{838439EE-3214-41F9-AC38-30FD25FDBCB5}" presName="parentText" presStyleLbl="node1" presStyleIdx="3" presStyleCnt="4" custScaleX="85186" custScaleY="85428">
        <dgm:presLayoutVars>
          <dgm:chMax val="1"/>
          <dgm:bulletEnabled val="1"/>
        </dgm:presLayoutVars>
      </dgm:prSet>
      <dgm:spPr/>
    </dgm:pt>
    <dgm:pt modelId="{89459BF7-18C8-4DF4-A462-781838CCED8C}" type="pres">
      <dgm:prSet presAssocID="{838439EE-3214-41F9-AC38-30FD25FDBCB5}" presName="descendantText" presStyleLbl="alignAccFollowNode1" presStyleIdx="3" presStyleCnt="4" custScaleX="128683" custScaleY="69003">
        <dgm:presLayoutVars>
          <dgm:bulletEnabled val="1"/>
        </dgm:presLayoutVars>
      </dgm:prSet>
      <dgm:spPr/>
    </dgm:pt>
  </dgm:ptLst>
  <dgm:cxnLst>
    <dgm:cxn modelId="{DD6CF901-000B-4F0D-8469-9CB7712D941A}" srcId="{A4DFD065-2FBA-4234-BCF8-C925B2817114}" destId="{CAAE5DB7-5AD0-4C3C-941D-80F392827B3F}" srcOrd="1" destOrd="0" parTransId="{EDFB1E03-1CA6-4920-AF8C-9D77FDFB231A}" sibTransId="{930CFCDD-17F1-4EEE-857C-550DD99ABC4B}"/>
    <dgm:cxn modelId="{9C54F402-D901-4A05-918E-EC5C2B759B00}" type="presOf" srcId="{27055167-B399-46DE-8742-467157225895}" destId="{3B0AC266-B5BD-49ED-992C-2AC7D9193D50}" srcOrd="0" destOrd="2" presId="urn:microsoft.com/office/officeart/2005/8/layout/vList5"/>
    <dgm:cxn modelId="{F3E12819-DFDD-4E41-8672-0FB9C51129EC}" srcId="{A4DFD065-2FBA-4234-BCF8-C925B2817114}" destId="{9C7872EB-5D7C-4735-9901-5B74061F9283}" srcOrd="0" destOrd="0" parTransId="{36B15B97-CAD3-4E39-B95A-3CF0985499F7}" sibTransId="{ADBBD08F-67ED-4848-BBF9-9053C6957265}"/>
    <dgm:cxn modelId="{1599AB1B-A964-45C1-8CF0-C6D41D810408}" type="presOf" srcId="{705F8D8F-ACF0-4269-AA89-E924B28030DA}" destId="{227BF414-BF92-4AC7-8B37-F08BED37A5BA}" srcOrd="0" destOrd="1" presId="urn:microsoft.com/office/officeart/2005/8/layout/vList5"/>
    <dgm:cxn modelId="{FE14102C-F90E-41E0-881B-35F7B75D2CB2}" type="presOf" srcId="{C743FFC3-A49F-457E-A1CC-A4D8CB253EDF}" destId="{227BF414-BF92-4AC7-8B37-F08BED37A5BA}" srcOrd="0" destOrd="0" presId="urn:microsoft.com/office/officeart/2005/8/layout/vList5"/>
    <dgm:cxn modelId="{374BA42D-C939-4B4B-8E6C-474DD048B83B}" type="presOf" srcId="{EA7F3E3B-5AAB-465F-AB24-FA24D1A7AA5E}" destId="{89459BF7-18C8-4DF4-A462-781838CCED8C}" srcOrd="0" destOrd="0" presId="urn:microsoft.com/office/officeart/2005/8/layout/vList5"/>
    <dgm:cxn modelId="{8C164936-32A6-4114-9359-8B0E6C736600}" srcId="{838439EE-3214-41F9-AC38-30FD25FDBCB5}" destId="{B584D601-7C22-4DBB-9722-B7B73F1E0307}" srcOrd="2" destOrd="0" parTransId="{858FBE9B-5EAC-4A77-B5B8-4D2EA2102FB4}" sibTransId="{48D68964-44D1-43E8-B21F-DAB2B2D6D692}"/>
    <dgm:cxn modelId="{486BC73A-7D5B-4E5D-A5B1-B2ADFD8053B9}" type="presOf" srcId="{AC398641-F75B-49B0-AAA0-3FDD29796580}" destId="{E8197B1A-9EDC-44B3-B9A6-A286E453E106}" srcOrd="0" destOrd="0" presId="urn:microsoft.com/office/officeart/2005/8/layout/vList5"/>
    <dgm:cxn modelId="{15EC1F3C-4F33-4385-87B7-B618D4B2AB5C}" srcId="{9C7872EB-5D7C-4735-9901-5B74061F9283}" destId="{27055167-B399-46DE-8742-467157225895}" srcOrd="2" destOrd="0" parTransId="{5DD10E72-C65F-4964-BA11-44A0B42A69EC}" sibTransId="{A78E6A5D-BBEC-4E71-AD86-2A6E158104BC}"/>
    <dgm:cxn modelId="{57CF9642-2BF4-4974-84CE-98D77ED66B0D}" type="presOf" srcId="{9C7872EB-5D7C-4735-9901-5B74061F9283}" destId="{E1C507B0-CE90-4E03-B4DF-959306DBB7D4}" srcOrd="0" destOrd="0" presId="urn:microsoft.com/office/officeart/2005/8/layout/vList5"/>
    <dgm:cxn modelId="{43AA1164-BDBF-4BDA-8397-7F023E85F2D1}" srcId="{AC398641-F75B-49B0-AAA0-3FDD29796580}" destId="{BBF8A57F-8386-4F80-BBFF-AD366C111471}" srcOrd="2" destOrd="0" parTransId="{7BFB447E-C5A7-42D8-9604-C072AC3F9A9C}" sibTransId="{C3A2FF8E-CFBF-4083-9900-F73049C89E4C}"/>
    <dgm:cxn modelId="{CD6A9B65-BBF3-4962-9A12-A1FA8858E054}" srcId="{9C7872EB-5D7C-4735-9901-5B74061F9283}" destId="{D28A0571-94AD-4A8C-8022-8A98D5EA9FC0}" srcOrd="1" destOrd="0" parTransId="{3EF951F3-D35F-457B-81D9-709A140FDCD1}" sibTransId="{ED0AF154-C7D4-44B1-8188-AC9B1E78AFFA}"/>
    <dgm:cxn modelId="{F4B53866-6379-4D47-9B20-C674FEC7F11E}" type="presOf" srcId="{B0657416-D910-4161-AD55-3F63F47B6E69}" destId="{17FDFF8D-5754-40A6-90C0-1FF65591B9FB}" srcOrd="0" destOrd="0" presId="urn:microsoft.com/office/officeart/2005/8/layout/vList5"/>
    <dgm:cxn modelId="{D2B50D49-5FDF-49E7-9E4C-9883E1152E9E}" type="presOf" srcId="{B584D601-7C22-4DBB-9722-B7B73F1E0307}" destId="{89459BF7-18C8-4DF4-A462-781838CCED8C}" srcOrd="0" destOrd="2" presId="urn:microsoft.com/office/officeart/2005/8/layout/vList5"/>
    <dgm:cxn modelId="{F525306B-6A7B-4ECC-946D-75873ACEBCEE}" srcId="{CAAE5DB7-5AD0-4C3C-941D-80F392827B3F}" destId="{705F8D8F-ACF0-4269-AA89-E924B28030DA}" srcOrd="1" destOrd="0" parTransId="{61F36A74-2FD7-4186-B2AB-7A55A4D65966}" sibTransId="{6CCA1139-8160-4736-8545-5196490B03C6}"/>
    <dgm:cxn modelId="{71B4E850-F238-419E-B366-9979E502F663}" type="presOf" srcId="{838439EE-3214-41F9-AC38-30FD25FDBCB5}" destId="{6B00BC4D-46E6-49C4-8822-FDB71BC59661}" srcOrd="0" destOrd="0" presId="urn:microsoft.com/office/officeart/2005/8/layout/vList5"/>
    <dgm:cxn modelId="{9E5F8E74-16F3-42E7-A206-4C5733C92F2B}" type="presOf" srcId="{CAAE5DB7-5AD0-4C3C-941D-80F392827B3F}" destId="{F5F5DCD5-B94E-4374-9972-CB76AD36F8A2}" srcOrd="0" destOrd="0" presId="urn:microsoft.com/office/officeart/2005/8/layout/vList5"/>
    <dgm:cxn modelId="{E1982276-CD2B-481A-8D15-C1D39EAEB987}" srcId="{9C7872EB-5D7C-4735-9901-5B74061F9283}" destId="{E2EED1A9-89AD-437B-9C19-5C8882ECA18B}" srcOrd="0" destOrd="0" parTransId="{9164A035-3F52-426A-BC60-2F7CA5B272F3}" sibTransId="{9E108158-DD11-4376-9735-0F270D020E29}"/>
    <dgm:cxn modelId="{A1189478-81AD-49C5-9324-00F9533EBCE6}" type="presOf" srcId="{BBF8A57F-8386-4F80-BBFF-AD366C111471}" destId="{17FDFF8D-5754-40A6-90C0-1FF65591B9FB}" srcOrd="0" destOrd="2" presId="urn:microsoft.com/office/officeart/2005/8/layout/vList5"/>
    <dgm:cxn modelId="{95A49458-6A1C-4126-AB6D-01B0BF9D545D}" srcId="{A4DFD065-2FBA-4234-BCF8-C925B2817114}" destId="{838439EE-3214-41F9-AC38-30FD25FDBCB5}" srcOrd="3" destOrd="0" parTransId="{350A0F01-3D89-456B-B852-8132A7C9D6B8}" sibTransId="{5D2514EA-A986-4147-AB9D-A386E2D6A16E}"/>
    <dgm:cxn modelId="{75A21059-086D-43E1-A661-9D2C12984236}" srcId="{CAAE5DB7-5AD0-4C3C-941D-80F392827B3F}" destId="{C743FFC3-A49F-457E-A1CC-A4D8CB253EDF}" srcOrd="0" destOrd="0" parTransId="{C1B007B0-5FF2-4D81-869A-A2E40CF26344}" sibTransId="{EA0306B6-9F98-4FDB-AD0A-60204F7FB0BA}"/>
    <dgm:cxn modelId="{202AFE7A-D8D9-4C26-801C-0D511ADE7478}" type="presOf" srcId="{F754AC32-DFAE-4B7B-A984-8811DD077048}" destId="{17FDFF8D-5754-40A6-90C0-1FF65591B9FB}" srcOrd="0" destOrd="1" presId="urn:microsoft.com/office/officeart/2005/8/layout/vList5"/>
    <dgm:cxn modelId="{079F9D88-B995-4A80-9149-74E2C602F0BF}" srcId="{AC398641-F75B-49B0-AAA0-3FDD29796580}" destId="{F754AC32-DFAE-4B7B-A984-8811DD077048}" srcOrd="1" destOrd="0" parTransId="{AC735B69-BAFE-4B81-8A96-4E3027624B57}" sibTransId="{300ED5A2-22C4-458D-9DBF-C3E1020F7AC0}"/>
    <dgm:cxn modelId="{867A3C8C-9E81-4E70-A192-81F62240694B}" srcId="{838439EE-3214-41F9-AC38-30FD25FDBCB5}" destId="{EA7F3E3B-5AAB-465F-AB24-FA24D1A7AA5E}" srcOrd="0" destOrd="0" parTransId="{079E5796-4C7F-4D6B-AC9C-1EC2FD41008B}" sibTransId="{0D8ABCCD-D636-4F1C-8721-36F13E9F2D28}"/>
    <dgm:cxn modelId="{951E3C93-6AEE-4DAB-8485-2502BDBE2A4E}" type="presOf" srcId="{1570FD84-DE20-4D45-A3DB-278A6B897D58}" destId="{89459BF7-18C8-4DF4-A462-781838CCED8C}" srcOrd="0" destOrd="1" presId="urn:microsoft.com/office/officeart/2005/8/layout/vList5"/>
    <dgm:cxn modelId="{C13B32A0-3B0B-45CB-A0B1-AF577E92E163}" srcId="{838439EE-3214-41F9-AC38-30FD25FDBCB5}" destId="{1570FD84-DE20-4D45-A3DB-278A6B897D58}" srcOrd="1" destOrd="0" parTransId="{7DA2F3D6-091B-43A0-9C11-8E9756B41878}" sibTransId="{3253797F-8417-4DC8-96E4-CCBB03A7DFDB}"/>
    <dgm:cxn modelId="{E7F166A4-0568-478E-AB87-2D7540EC0F6D}" srcId="{A4DFD065-2FBA-4234-BCF8-C925B2817114}" destId="{AC398641-F75B-49B0-AAA0-3FDD29796580}" srcOrd="2" destOrd="0" parTransId="{1C207FBA-52A1-4559-8466-99CBB9692A60}" sibTransId="{07D91BC0-2E2A-461D-A121-5A51D4452482}"/>
    <dgm:cxn modelId="{4F338BD7-C964-45D9-80D2-F3C6ADEAFE3B}" type="presOf" srcId="{D28A0571-94AD-4A8C-8022-8A98D5EA9FC0}" destId="{3B0AC266-B5BD-49ED-992C-2AC7D9193D50}" srcOrd="0" destOrd="1" presId="urn:microsoft.com/office/officeart/2005/8/layout/vList5"/>
    <dgm:cxn modelId="{B661D2E8-F2A0-4855-890A-DFEB58ABF7D0}" type="presOf" srcId="{E2EED1A9-89AD-437B-9C19-5C8882ECA18B}" destId="{3B0AC266-B5BD-49ED-992C-2AC7D9193D50}" srcOrd="0" destOrd="0" presId="urn:microsoft.com/office/officeart/2005/8/layout/vList5"/>
    <dgm:cxn modelId="{545806EA-E9C3-4E4E-AD05-C09A19FB1609}" type="presOf" srcId="{A4DFD065-2FBA-4234-BCF8-C925B2817114}" destId="{5B1E25DB-39E0-4933-BD74-0510C0D66099}" srcOrd="0" destOrd="0" presId="urn:microsoft.com/office/officeart/2005/8/layout/vList5"/>
    <dgm:cxn modelId="{E73B62EE-64FC-41A3-8C08-91346E5525A1}" srcId="{AC398641-F75B-49B0-AAA0-3FDD29796580}" destId="{B0657416-D910-4161-AD55-3F63F47B6E69}" srcOrd="0" destOrd="0" parTransId="{5366F5E4-F50D-4118-9062-6D8269084ED1}" sibTransId="{36EA7470-1D42-4E23-B954-4E3DEF9C284E}"/>
    <dgm:cxn modelId="{DEB26F38-D26F-42A9-9168-D9A7E533D24C}" type="presParOf" srcId="{5B1E25DB-39E0-4933-BD74-0510C0D66099}" destId="{BCD07672-96E6-4763-A3C8-B049BBD0191B}" srcOrd="0" destOrd="0" presId="urn:microsoft.com/office/officeart/2005/8/layout/vList5"/>
    <dgm:cxn modelId="{9DFD3F1C-8100-4660-84A4-3993A1843E45}" type="presParOf" srcId="{BCD07672-96E6-4763-A3C8-B049BBD0191B}" destId="{E1C507B0-CE90-4E03-B4DF-959306DBB7D4}" srcOrd="0" destOrd="0" presId="urn:microsoft.com/office/officeart/2005/8/layout/vList5"/>
    <dgm:cxn modelId="{2A1D98F1-863D-410F-92A6-94659E72000C}" type="presParOf" srcId="{BCD07672-96E6-4763-A3C8-B049BBD0191B}" destId="{3B0AC266-B5BD-49ED-992C-2AC7D9193D50}" srcOrd="1" destOrd="0" presId="urn:microsoft.com/office/officeart/2005/8/layout/vList5"/>
    <dgm:cxn modelId="{1217A9F4-D9EA-49A7-8BF1-0FFB37F0BDE7}" type="presParOf" srcId="{5B1E25DB-39E0-4933-BD74-0510C0D66099}" destId="{56EB9B2A-DE28-4701-AC59-5E5AD3297FFA}" srcOrd="1" destOrd="0" presId="urn:microsoft.com/office/officeart/2005/8/layout/vList5"/>
    <dgm:cxn modelId="{F014C01E-8E0B-4E20-B592-14B7375E2C48}" type="presParOf" srcId="{5B1E25DB-39E0-4933-BD74-0510C0D66099}" destId="{82E8703B-9389-4707-9CD6-8F7B7455816D}" srcOrd="2" destOrd="0" presId="urn:microsoft.com/office/officeart/2005/8/layout/vList5"/>
    <dgm:cxn modelId="{4C89ADDA-6F8C-46B7-A380-74A3FCFB713E}" type="presParOf" srcId="{82E8703B-9389-4707-9CD6-8F7B7455816D}" destId="{F5F5DCD5-B94E-4374-9972-CB76AD36F8A2}" srcOrd="0" destOrd="0" presId="urn:microsoft.com/office/officeart/2005/8/layout/vList5"/>
    <dgm:cxn modelId="{AA41F8FE-BA5D-4F2E-AB19-A918AC1B718F}" type="presParOf" srcId="{82E8703B-9389-4707-9CD6-8F7B7455816D}" destId="{227BF414-BF92-4AC7-8B37-F08BED37A5BA}" srcOrd="1" destOrd="0" presId="urn:microsoft.com/office/officeart/2005/8/layout/vList5"/>
    <dgm:cxn modelId="{BBCC6E23-0F1F-4922-9B56-3FCBE941D36D}" type="presParOf" srcId="{5B1E25DB-39E0-4933-BD74-0510C0D66099}" destId="{D728C519-5F74-4EE9-A664-FAA27C5B3C95}" srcOrd="3" destOrd="0" presId="urn:microsoft.com/office/officeart/2005/8/layout/vList5"/>
    <dgm:cxn modelId="{E20F58A4-40DC-4F0C-B760-8CCE2E009A39}" type="presParOf" srcId="{5B1E25DB-39E0-4933-BD74-0510C0D66099}" destId="{CB0A9CEC-4970-4E9A-8D2C-D5476F2E81BE}" srcOrd="4" destOrd="0" presId="urn:microsoft.com/office/officeart/2005/8/layout/vList5"/>
    <dgm:cxn modelId="{75ED9780-2392-45A9-A03E-8C9B7747CD5B}" type="presParOf" srcId="{CB0A9CEC-4970-4E9A-8D2C-D5476F2E81BE}" destId="{E8197B1A-9EDC-44B3-B9A6-A286E453E106}" srcOrd="0" destOrd="0" presId="urn:microsoft.com/office/officeart/2005/8/layout/vList5"/>
    <dgm:cxn modelId="{72EF8818-22B4-4D66-BEC9-EDFF099EA0E1}" type="presParOf" srcId="{CB0A9CEC-4970-4E9A-8D2C-D5476F2E81BE}" destId="{17FDFF8D-5754-40A6-90C0-1FF65591B9FB}" srcOrd="1" destOrd="0" presId="urn:microsoft.com/office/officeart/2005/8/layout/vList5"/>
    <dgm:cxn modelId="{010BE9DA-347A-49C8-BD65-0259EECBF986}" type="presParOf" srcId="{5B1E25DB-39E0-4933-BD74-0510C0D66099}" destId="{B445CC07-F0B6-49C0-8116-9323DF1CFDC9}" srcOrd="5" destOrd="0" presId="urn:microsoft.com/office/officeart/2005/8/layout/vList5"/>
    <dgm:cxn modelId="{C9A9430B-84BD-46C5-A00F-9380A305CCE8}" type="presParOf" srcId="{5B1E25DB-39E0-4933-BD74-0510C0D66099}" destId="{17D0205F-3ACB-4715-9A8B-A9A596954293}" srcOrd="6" destOrd="0" presId="urn:microsoft.com/office/officeart/2005/8/layout/vList5"/>
    <dgm:cxn modelId="{98D7A0EA-7FAC-4546-9461-D470C929A702}" type="presParOf" srcId="{17D0205F-3ACB-4715-9A8B-A9A596954293}" destId="{6B00BC4D-46E6-49C4-8822-FDB71BC59661}" srcOrd="0" destOrd="0" presId="urn:microsoft.com/office/officeart/2005/8/layout/vList5"/>
    <dgm:cxn modelId="{AE87F147-BF02-41D4-A38C-A916430D6D1D}" type="presParOf" srcId="{17D0205F-3ACB-4715-9A8B-A9A596954293}" destId="{89459BF7-18C8-4DF4-A462-781838CCED8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0AC266-B5BD-49ED-992C-2AC7D9193D50}">
      <dsp:nvSpPr>
        <dsp:cNvPr id="0" name=""/>
        <dsp:cNvSpPr/>
      </dsp:nvSpPr>
      <dsp:spPr>
        <a:xfrm rot="5400000">
          <a:off x="4922200" y="-2573924"/>
          <a:ext cx="1216857" cy="636664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728" tIns="54864" rIns="109728" bIns="54864" numCol="1" spcCol="1270" anchor="ctr" anchorCtr="0">
          <a:noAutofit/>
        </a:bodyPr>
        <a:lstStyle/>
        <a:p>
          <a:pPr marL="104775" lvl="1" indent="-104775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b="0" i="0" kern="120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Данные хранятся на вращающемся диске с ферромагнитным покрытием</a:t>
          </a:r>
        </a:p>
        <a:p>
          <a:pPr marL="104775" lvl="1" indent="-104775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b="0" i="0" kern="120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Обеспечивает произвольный доступ для чтения и записи</a:t>
          </a:r>
        </a:p>
        <a:p>
          <a:pPr marL="104775" lvl="1" indent="-104775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b="0" i="0" kern="120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Самое популярное устройство хранения данных с большой емкостью хранения</a:t>
          </a:r>
        </a:p>
      </dsp:txBody>
      <dsp:txXfrm rot="-5400000">
        <a:off x="2347307" y="60371"/>
        <a:ext cx="6307241" cy="1098053"/>
      </dsp:txXfrm>
    </dsp:sp>
    <dsp:sp modelId="{E1C507B0-CE90-4E03-B4DF-959306DBB7D4}">
      <dsp:nvSpPr>
        <dsp:cNvPr id="0" name=""/>
        <dsp:cNvSpPr/>
      </dsp:nvSpPr>
      <dsp:spPr>
        <a:xfrm>
          <a:off x="7" y="7942"/>
          <a:ext cx="2347299" cy="1202910"/>
        </a:xfrm>
        <a:prstGeom prst="roundRect">
          <a:avLst/>
        </a:prstGeom>
        <a:solidFill>
          <a:srgbClr val="2C95D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Накопитель на магнитных дисках</a:t>
          </a:r>
        </a:p>
      </dsp:txBody>
      <dsp:txXfrm>
        <a:off x="58728" y="66663"/>
        <a:ext cx="2229857" cy="1085468"/>
      </dsp:txXfrm>
    </dsp:sp>
    <dsp:sp modelId="{227BF414-BF92-4AC7-8B37-F08BED37A5BA}">
      <dsp:nvSpPr>
        <dsp:cNvPr id="0" name=""/>
        <dsp:cNvSpPr/>
      </dsp:nvSpPr>
      <dsp:spPr>
        <a:xfrm rot="5400000">
          <a:off x="5031931" y="-1387803"/>
          <a:ext cx="986112" cy="637635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728" tIns="54864" rIns="109728" bIns="54864" numCol="1" spcCol="1270" anchor="ctr" anchorCtr="0">
          <a:noAutofit/>
        </a:bodyPr>
        <a:lstStyle/>
        <a:p>
          <a:pPr marL="104775" lvl="1" indent="-104775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b="0" i="0" kern="120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Данные хранятся в памяти на основе полупроводников</a:t>
          </a:r>
        </a:p>
        <a:p>
          <a:pPr marL="104775" lvl="1" indent="-104775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b="0" i="0" kern="120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Чрезвычайно малые задержки операций ввода-вывода, низкое энергопотребление и очень высокая пропускная способность</a:t>
          </a:r>
        </a:p>
      </dsp:txBody>
      <dsp:txXfrm rot="-5400000">
        <a:off x="2336812" y="1355454"/>
        <a:ext cx="6328213" cy="889836"/>
      </dsp:txXfrm>
    </dsp:sp>
    <dsp:sp modelId="{F5F5DCD5-B94E-4374-9972-CB76AD36F8A2}">
      <dsp:nvSpPr>
        <dsp:cNvPr id="0" name=""/>
        <dsp:cNvSpPr/>
      </dsp:nvSpPr>
      <dsp:spPr>
        <a:xfrm>
          <a:off x="7" y="1288409"/>
          <a:ext cx="2336803" cy="1023925"/>
        </a:xfrm>
        <a:prstGeom prst="roundRect">
          <a:avLst/>
        </a:prstGeom>
        <a:solidFill>
          <a:srgbClr val="2C95D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Твердотельный диск (флэш-диск)</a:t>
          </a:r>
        </a:p>
      </dsp:txBody>
      <dsp:txXfrm>
        <a:off x="49991" y="1338393"/>
        <a:ext cx="2236835" cy="923957"/>
      </dsp:txXfrm>
    </dsp:sp>
    <dsp:sp modelId="{17FDFF8D-5754-40A6-90C0-1FF65591B9FB}">
      <dsp:nvSpPr>
        <dsp:cNvPr id="0" name=""/>
        <dsp:cNvSpPr/>
      </dsp:nvSpPr>
      <dsp:spPr>
        <a:xfrm rot="5400000">
          <a:off x="4969393" y="-100446"/>
          <a:ext cx="1109175" cy="637839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728" tIns="54864" rIns="109728" bIns="54864" numCol="1" spcCol="1270" anchor="ctr" anchorCtr="0">
          <a:noAutofit/>
        </a:bodyPr>
        <a:lstStyle/>
        <a:p>
          <a:pPr marL="104775" lvl="1" indent="-104775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b="0" i="0" kern="120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Данные хранятся на пластиковой пленке с магнитным покрытием</a:t>
          </a:r>
        </a:p>
        <a:p>
          <a:pPr marL="104775" lvl="1" indent="-104775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b="0" i="0" kern="120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Обеспечивает только последовательный доступ к данным</a:t>
          </a:r>
        </a:p>
        <a:p>
          <a:pPr marL="104775" lvl="1" indent="-104775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b="0" i="0" kern="120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Недорогое решение для длительного хранения данных</a:t>
          </a:r>
        </a:p>
      </dsp:txBody>
      <dsp:txXfrm rot="-5400000">
        <a:off x="2334783" y="2588309"/>
        <a:ext cx="6324252" cy="1000885"/>
      </dsp:txXfrm>
    </dsp:sp>
    <dsp:sp modelId="{E8197B1A-9EDC-44B3-B9A6-A286E453E106}">
      <dsp:nvSpPr>
        <dsp:cNvPr id="0" name=""/>
        <dsp:cNvSpPr/>
      </dsp:nvSpPr>
      <dsp:spPr>
        <a:xfrm>
          <a:off x="7" y="2382918"/>
          <a:ext cx="2334775" cy="1411667"/>
        </a:xfrm>
        <a:prstGeom prst="roundRect">
          <a:avLst/>
        </a:prstGeom>
        <a:solidFill>
          <a:srgbClr val="2C95D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Магнитный ленточный накопитель</a:t>
          </a:r>
        </a:p>
      </dsp:txBody>
      <dsp:txXfrm>
        <a:off x="68919" y="2451830"/>
        <a:ext cx="2196951" cy="1273843"/>
      </dsp:txXfrm>
    </dsp:sp>
    <dsp:sp modelId="{89459BF7-18C8-4DF4-A462-781838CCED8C}">
      <dsp:nvSpPr>
        <dsp:cNvPr id="0" name=""/>
        <dsp:cNvSpPr/>
      </dsp:nvSpPr>
      <dsp:spPr>
        <a:xfrm rot="5400000">
          <a:off x="5150443" y="1292833"/>
          <a:ext cx="779274" cy="635063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728" tIns="54864" rIns="109728" bIns="54864" numCol="1" spcCol="1270" anchor="ctr" anchorCtr="0">
          <a:noAutofit/>
        </a:bodyPr>
        <a:lstStyle/>
        <a:p>
          <a:pPr marL="104775" lvl="1" indent="-104775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b="0" i="0" kern="120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Данные хранятся на поликарбонатном диске с отражающим покрытием</a:t>
          </a:r>
        </a:p>
        <a:p>
          <a:pPr marL="104775" lvl="1" indent="-104775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b="0" i="0" kern="120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Возможность однократной записи и многократного чтения: CD, DVD, BD</a:t>
          </a:r>
        </a:p>
        <a:p>
          <a:pPr marL="104775" lvl="1" indent="-104775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b="0" i="0" kern="120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Недорогое решение для длительного хранения данных</a:t>
          </a:r>
        </a:p>
      </dsp:txBody>
      <dsp:txXfrm rot="-5400000">
        <a:off x="2364765" y="4116553"/>
        <a:ext cx="6312590" cy="703192"/>
      </dsp:txXfrm>
    </dsp:sp>
    <dsp:sp modelId="{6B00BC4D-46E6-49C4-8822-FDB71BC59661}">
      <dsp:nvSpPr>
        <dsp:cNvPr id="0" name=""/>
        <dsp:cNvSpPr/>
      </dsp:nvSpPr>
      <dsp:spPr>
        <a:xfrm>
          <a:off x="7" y="3865169"/>
          <a:ext cx="2364756" cy="1205959"/>
        </a:xfrm>
        <a:prstGeom prst="roundRect">
          <a:avLst/>
        </a:prstGeom>
        <a:solidFill>
          <a:srgbClr val="2C95D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Оптический</a:t>
          </a:r>
          <a:r>
            <a:rPr lang="ru-RU" sz="1600" b="1" i="0" kern="1200" dirty="0">
              <a:solidFill>
                <a:srgbClr val="000000"/>
              </a:solidFill>
              <a:latin typeface="Arial" pitchFamily="34" charset="0"/>
              <a:cs typeface="Arial" pitchFamily="34" charset="0"/>
            </a:rPr>
            <a:t> </a:t>
          </a:r>
          <a:r>
            <a:rPr lang="ru-RU" sz="1600" b="1" i="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дисковод</a:t>
          </a:r>
        </a:p>
      </dsp:txBody>
      <dsp:txXfrm>
        <a:off x="58877" y="3924039"/>
        <a:ext cx="2247016" cy="10882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79FEBDF-E43D-4B37-B025-FAB2CC0F5AC8}" type="datetimeFigureOut">
              <a:rPr lang="ru-RU"/>
              <a:pPr>
                <a:defRPr/>
              </a:pPr>
              <a:t>18.02.2021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60B65B9-4B84-43D3-90A1-1E887051AA1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ru-RU" b="1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Магнитный диск </a:t>
            </a: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представляет собой вращающийся носитель данных из немагнитного материала (обычно сплава), покрытый </a:t>
            </a:r>
            <a:r>
              <a:rPr lang="ru-RU" b="0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ферромагнитным</a:t>
            </a: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материалом. </a:t>
            </a:r>
          </a:p>
          <a:p>
            <a:pPr>
              <a:spcBef>
                <a:spcPts val="600"/>
              </a:spcBef>
            </a:pP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Данные хранятся на обеих поверхностях магнитного диска (верхней и нижней), а их запись производится путем поляризации части поверхности диска. </a:t>
            </a:r>
          </a:p>
          <a:p>
            <a:pPr>
              <a:spcBef>
                <a:spcPts val="600"/>
              </a:spcBef>
            </a:pP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Дисковый накопитель представляет собой устройство с несколькими вращающимися магнитными дисками, называемыми пластинами и расположенными вертикально внутри металлического или пластикового корпуса. </a:t>
            </a:r>
          </a:p>
          <a:p>
            <a:pPr>
              <a:spcBef>
                <a:spcPts val="600"/>
              </a:spcBef>
            </a:pP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Каждая пластина снабжена быстро перемещающимся рычагом привода магнитных головок для чтения данных с диска и записи на диск. </a:t>
            </a:r>
          </a:p>
          <a:p>
            <a:pPr>
              <a:spcBef>
                <a:spcPts val="600"/>
              </a:spcBef>
            </a:pP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В настоящее время дисковые накопители — самые популярные носители информации, используемые для хранения данных и получения к ним доступа в приложениях с высокими требованиями к производительности. Диски поддерживают быстрый доступ к данным, расположенным в произвольных местах, и обеспечивают возможность быстрой записи или извлечения данных для нескольких одновременно работающих пользователей или приложений. </a:t>
            </a:r>
          </a:p>
          <a:p>
            <a:pPr>
              <a:spcBef>
                <a:spcPts val="600"/>
              </a:spcBef>
            </a:pP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Дисковые накопители используют стандартные протоколы, например, </a:t>
            </a:r>
            <a:r>
              <a:rPr lang="ru-RU" b="0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Advanced</a:t>
            </a: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Technology</a:t>
            </a: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Attachment</a:t>
            </a: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(ATA), </a:t>
            </a:r>
            <a:r>
              <a:rPr lang="ru-RU" b="0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Serial</a:t>
            </a: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ATA (SATA), </a:t>
            </a:r>
            <a:r>
              <a:rPr lang="ru-RU" b="0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Small</a:t>
            </a: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Computer</a:t>
            </a: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System</a:t>
            </a: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Interface</a:t>
            </a: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(SCSI), </a:t>
            </a:r>
            <a:r>
              <a:rPr lang="ru-RU" b="0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Serial</a:t>
            </a: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Attached</a:t>
            </a: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SCSI (SAS) и </a:t>
            </a:r>
            <a:r>
              <a:rPr lang="ru-RU" b="0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Fibre</a:t>
            </a: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Channel</a:t>
            </a: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(FC). </a:t>
            </a:r>
          </a:p>
          <a:p>
            <a:pPr>
              <a:spcBef>
                <a:spcPts val="600"/>
              </a:spcBef>
            </a:pP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Эти протоколы хранятся в контроллерах дискового интерфейса, которые обычно встроены в дисковые накопители. Каждый протокол обеспечивает уникальное сочетание характеристик производительности, стоимости и емкости дисков. </a:t>
            </a:r>
          </a:p>
          <a:p>
            <a:pPr>
              <a:spcBef>
                <a:spcPts val="600"/>
              </a:spcBef>
            </a:pPr>
            <a:r>
              <a:rPr lang="ru-RU" b="1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Твердотельный диск </a:t>
            </a: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(SSD) использует для хранения данных память на основе полупроводников, например, микросхемы NAND и NOR. Твердотельные диски, известные также как «</a:t>
            </a:r>
            <a:r>
              <a:rPr lang="ru-RU" b="0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флэш-диски</a:t>
            </a: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», обеспечивают сверхвысокое быстродействие, необходимое для приложений с высокими требованиями к производительности. </a:t>
            </a:r>
          </a:p>
          <a:p>
            <a:pPr>
              <a:spcBef>
                <a:spcPts val="600"/>
              </a:spcBef>
            </a:pP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В отличие от обычных механических дисковых накопителей эти устройства не содержат движущихся частей, и в них отсутствуют задержки, связанные с перемещением головок чтения-записи и вращением дисков. </a:t>
            </a:r>
          </a:p>
          <a:p>
            <a:pPr>
              <a:spcBef>
                <a:spcPts val="600"/>
              </a:spcBef>
            </a:pP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По сравнению с другими доступными устройствами хранения данных твердотельные диски обеспечивают относительно высокое число операций ввода-вывода в секунду (IOPS) с очень малым временем отклика. </a:t>
            </a:r>
          </a:p>
          <a:p>
            <a:pPr>
              <a:spcBef>
                <a:spcPts val="600"/>
              </a:spcBef>
            </a:pP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Кроме того, они потребляют меньше энергии и обычно имеют более длительный срок службы по сравнению с механическими дисковыми накопителями. Тем не менее, </a:t>
            </a:r>
            <a:r>
              <a:rPr lang="ru-RU" b="0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флэш-диски</a:t>
            </a:r>
            <a:r>
              <a:rPr lang="ru-RU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имеют самую высокую стоимость в расчете на гигабайт ($/Гбайт).</a:t>
            </a:r>
            <a:endParaRPr lang="en-US" b="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ru-RU" b="1" i="1" dirty="0">
                <a:latin typeface="Arial" pitchFamily="34" charset="0"/>
                <a:cs typeface="Arial" pitchFamily="34" charset="0"/>
              </a:rPr>
              <a:t>Магнитная лента </a:t>
            </a:r>
            <a:r>
              <a:rPr lang="ru-RU" dirty="0">
                <a:latin typeface="Arial" pitchFamily="34" charset="0"/>
                <a:cs typeface="Arial" pitchFamily="34" charset="0"/>
              </a:rPr>
              <a:t>представляет собой тонкую длинную полосу пластиковой пленки, покрытую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ферромагнитным</a:t>
            </a:r>
            <a:r>
              <a:rPr lang="ru-RU" dirty="0">
                <a:latin typeface="Arial" pitchFamily="34" charset="0"/>
                <a:cs typeface="Arial" pitchFamily="34" charset="0"/>
              </a:rPr>
              <a:t> материалом, например, ферритом бария. Эта лента упаковывается в пластиковые кассеты и картриджи. 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Arial" pitchFamily="34" charset="0"/>
                <a:cs typeface="Arial" pitchFamily="34" charset="0"/>
              </a:rPr>
              <a:t>Ленточный накопитель — это устройство для записи данных на магнитную ленту и их извлечения. Ленточные накопители обеспечивают линейный последовательный доступ к данным для чтения и записи. 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Arial" pitchFamily="34" charset="0"/>
                <a:cs typeface="Arial" pitchFamily="34" charset="0"/>
              </a:rPr>
              <a:t>Ленточный накопитель может быть автономным или входить в состав ленточной библиотеки. Ленточная библиотека включает один или несколько ленточных накопителей и ресурс хранения с рядом картриджей с магнитной лентой, вставленных в гнезда. Благодаря сравнительно низкой стоимости и удобству переноски лента часто используется в качестве носителя для долгосрочного хранения данных. 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Arial" pitchFamily="34" charset="0"/>
                <a:cs typeface="Arial" pitchFamily="34" charset="0"/>
              </a:rPr>
              <a:t>Ленточные накопители обычно используются организациями для хранения больших объемов данных, например, </a:t>
            </a:r>
            <a:r>
              <a:rPr lang="ru-RU" b="1" dirty="0">
                <a:latin typeface="Arial" pitchFamily="34" charset="0"/>
                <a:cs typeface="Arial" pitchFamily="34" charset="0"/>
              </a:rPr>
              <a:t>для резервного копирования, создания автономных архивов и аварийного восстановления</a:t>
            </a:r>
            <a:r>
              <a:rPr lang="ru-RU" dirty="0">
                <a:latin typeface="Arial" pitchFamily="34" charset="0"/>
                <a:cs typeface="Arial" pitchFamily="34" charset="0"/>
              </a:rPr>
              <a:t>. 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Arial" pitchFamily="34" charset="0"/>
                <a:cs typeface="Arial" pitchFamily="34" charset="0"/>
              </a:rPr>
              <a:t>Основными ограничивающими факторами при использовании ленты служат низкая скорость доступа к данным, обусловленная последовательным механизмом доступа, отсутствие возможности одновременного доступа к ленте нескольких приложений и ухудшение свойств поверхности ленты из-за постоянного контакта с головкой чтения-записи.</a:t>
            </a:r>
          </a:p>
          <a:p>
            <a:pPr>
              <a:spcBef>
                <a:spcPts val="600"/>
              </a:spcBef>
            </a:pPr>
            <a:r>
              <a:rPr lang="ru-RU" b="1" i="1" dirty="0">
                <a:latin typeface="Arial" pitchFamily="34" charset="0"/>
                <a:cs typeface="Arial" pitchFamily="34" charset="0"/>
              </a:rPr>
              <a:t>Оптический диск </a:t>
            </a:r>
            <a:r>
              <a:rPr lang="ru-RU" dirty="0">
                <a:latin typeface="Arial" pitchFamily="34" charset="0"/>
                <a:cs typeface="Arial" pitchFamily="34" charset="0"/>
              </a:rPr>
              <a:t>— это плоский круглый носитель информации, изготовленный из поликарбоната, одна из поверхностей которого имеет специальное отражающее покрытие (например, алюминиевое). Оптический дисковод использует </a:t>
            </a:r>
            <a:r>
              <a:rPr lang="ru-RU" b="1" dirty="0">
                <a:latin typeface="Arial" pitchFamily="34" charset="0"/>
                <a:cs typeface="Arial" pitchFamily="34" charset="0"/>
              </a:rPr>
              <a:t>записывающий лазер </a:t>
            </a:r>
            <a:r>
              <a:rPr lang="ru-RU" dirty="0">
                <a:latin typeface="Arial" pitchFamily="34" charset="0"/>
                <a:cs typeface="Arial" pitchFamily="34" charset="0"/>
              </a:rPr>
              <a:t>для записи данных на диск в виде микроскопических </a:t>
            </a:r>
            <a:r>
              <a:rPr lang="ru-RU" i="1" u="sng" dirty="0">
                <a:latin typeface="Arial" pitchFamily="34" charset="0"/>
                <a:cs typeface="Arial" pitchFamily="34" charset="0"/>
              </a:rPr>
              <a:t>светлых и темных точек</a:t>
            </a:r>
            <a:r>
              <a:rPr lang="ru-RU" dirty="0">
                <a:latin typeface="Arial" pitchFamily="34" charset="0"/>
                <a:cs typeface="Arial" pitchFamily="34" charset="0"/>
              </a:rPr>
              <a:t>. </a:t>
            </a:r>
            <a:r>
              <a:rPr lang="ru-RU" b="1" dirty="0">
                <a:latin typeface="Arial" pitchFamily="34" charset="0"/>
                <a:cs typeface="Arial" pitchFamily="34" charset="0"/>
              </a:rPr>
              <a:t>Считывающий лазер </a:t>
            </a:r>
            <a:r>
              <a:rPr lang="ru-RU" dirty="0">
                <a:latin typeface="Arial" pitchFamily="34" charset="0"/>
                <a:cs typeface="Arial" pitchFamily="34" charset="0"/>
              </a:rPr>
              <a:t>считывает эти точки и генерирует электрические сигналы, представляющие эти данные. К самым распространенным типам оптических дисков относятся компакт-диски (CD), универсальные цифровые диски (DVD) и диски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Blu-ray</a:t>
            </a:r>
            <a:r>
              <a:rPr lang="ru-RU" dirty="0">
                <a:latin typeface="Arial" pitchFamily="34" charset="0"/>
                <a:cs typeface="Arial" pitchFamily="34" charset="0"/>
              </a:rPr>
              <a:t> (BD). Эти диски могут </a:t>
            </a:r>
            <a:r>
              <a:rPr lang="ru-RU" b="1" dirty="0">
                <a:latin typeface="Arial" pitchFamily="34" charset="0"/>
                <a:cs typeface="Arial" pitchFamily="34" charset="0"/>
              </a:rPr>
              <a:t>записываемыми или перезаписываемыми</a:t>
            </a:r>
            <a:r>
              <a:rPr lang="ru-RU" dirty="0">
                <a:latin typeface="Arial" pitchFamily="34" charset="0"/>
                <a:cs typeface="Arial" pitchFamily="34" charset="0"/>
              </a:rPr>
              <a:t>. Записываемые или ROM-диски используют схему «одна запись, многократное чтение» и обычно применяются в качестве распространяемого носителя для приложений или как средство передачи небольших объемов данных из одной системы в другую. Ограниченная емкость и скорость оптических дисков сдерживают их использование в качестве универсального решения для хранения данных предприятия. Тем не менее, оптические диски высокой плотности иногда используют в качестве решения для хранения данных фиксированного содержания и архивных данных. Некоторые поставщики, использующие модель «хранение данных как услуга», предлагают возможность копирования файлов резервных копий на зашифрованные оптические диски и последующей отправки их потребителям.</a:t>
            </a:r>
            <a:endParaRPr lang="ru-RU" sz="1200" b="1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1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Compact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)-оптический носитель информации в виде пластикового диска с отверстием в центре, процесс записи/считывания информации на/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который осуществляется при помощи лазера.</a:t>
            </a:r>
          </a:p>
          <a:p>
            <a:endParaRPr lang="ru-RU" sz="1200" b="1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DVD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Digital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Versatile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ранее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Digital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Video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т. е. многоцелевой цифровой диск – тип компакт-дисков, хранящий от 4,7 до 17 Гбайт информации, что вполне достаточно для полнометражного фильма.</a:t>
            </a:r>
          </a:p>
          <a:p>
            <a:endParaRPr lang="ru-RU" sz="1200" b="1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BD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Blu-ray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англ.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blue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ray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синий луч и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диск) — формат оптического носителя, используемый для записи и хранения цифровых данных, включая видео высокой чёткости с повышенной плотностью. Стандарт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Blu-ray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был совместно разработан консорциумом BDA.В новой технологии появились кардинальные изменения в логической структуре диска, стоимости и других параметрах. Длина волны синего лазера укоротилась до 405 нм, что позволило позиционировать луч намного точнее, а следовательно, и размещать данные на диске с большей плотностью. Более короткая длина волны сине-фиолетового лазера позволяет хранить больше информации на 12 см дисках того же размера, что и у CD/DVD.BD является продуктом нового поколения, наиболее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прогрессивным,отвечающим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"требованиям нашего времени", чем CD и DVD.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0B65B9-4B84-43D3-90A1-1E887051AA1D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spcBef>
                <a:spcPts val="600"/>
              </a:spcBef>
            </a:pPr>
            <a:r>
              <a:rPr lang="ru-RU" b="1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Жесткий диск 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— это постоянное устройство хранения, где данные хранятся и извлекаются с помощью быстро вращающихся дисков (пластин), покрытых магнитным материалом. Ключевые компоненты жесткого диска (HDD) — это пластина, шпиндель, головка чтения и записи, блок приводного рычага и плата контроллера. Операции ввода-вывода на жестком диске выполняются путем быстрого перемещения рычага между вращающимися плоскими пластинами, покрытыми магнитным материалом. Данные передаются между дисковым контроллером и магнитными пластинами через головку чтения и записи, подключенную к рычагу. Данные могут быть записаны и стерты с магнитных пластин любое количество раз. </a:t>
            </a:r>
          </a:p>
          <a:p>
            <a:pPr marL="181240" indent="-18124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Пластина. 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Обычный жесткий диск состоит из одного или нескольких плоских круглых дисков, именуемых пластинами. Данные записываются на эти пластины в виде бинарных кодов (ноли и единицы). Набор вращающихся пластин запаян в корпус, который называется блок дисков с головками (HDA). Пластина — это жесткий круглый диск, покрытый магнитным материалом с обеих сторон (внешней и внутренней). Данные шифруются путем поляризации магнитной области или секторов поверхности диска. Данные можно записывать и считывать с обеих поверхностей пластины. Количество пластин и емкость хранения каждой пластины определяют общую емкость диска.</a:t>
            </a:r>
          </a:p>
          <a:p>
            <a:pPr marL="181240" indent="-18124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Шпиндель. 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Шпиндель соединяет все пластины и подключается к приводу. Привод шпинделя вращается с постоянной скоростью. Пластина диска вращается со скоростью несколько тысяч оборотов в минуту (об/мин). Шпиндель может вращаться со скоростью 5400 об/мин, 7200 об/мин, 10 000 об/мин и 15 000 об/мин. Скорость пластины увеличивается с усовершенствованием технологии, хотя улучшение имеет свои границы.</a:t>
            </a:r>
            <a:endParaRPr lang="en-US" b="0" i="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marL="181240" indent="-18124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00000"/>
                </a:solidFill>
              </a:rPr>
              <a:t>Головка чтения/записи: </a:t>
            </a:r>
            <a:r>
              <a:rPr lang="ru-RU" dirty="0">
                <a:solidFill>
                  <a:srgbClr val="000000"/>
                </a:solidFill>
              </a:rPr>
              <a:t>Головки чтения/записи, чтение и запись данных с/на пластины. Дисководы оснащены двумя головками чтения/записи на каждой пластине, по одной с каждой стороны пластины. Головка чтения/записи изменяет магнитную поляризацию на поверхности пластины во время записи данных. Во время чтения данных головка определяет магнитную поляризацию на поверхности пластины. При чтении и записи головка чтения/записи распознает магнитную поляризацию и никогда не касается поверхности пластины. </a:t>
            </a:r>
          </a:p>
          <a:p>
            <a:pPr marL="181240" indent="-18124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</a:rPr>
              <a:t>Во время вращения шпинделя между головками чтения/записи и пластинами появляется микроскопический воздушный промежуток, известный как высота зависания головки. Воздушный промежуток исчезает когда шпиндель перестает вращаться, а головка чтения/записи находится в состоянии покоя в специальной зоне на пластине около шпинделя. Эта зона называется зоной парковки. Зона парковки покрыта смазкой для уменьшения трения между головкой и пластиной. </a:t>
            </a:r>
            <a:endParaRPr lang="ru-RU">
              <a:solidFill>
                <a:srgbClr val="000000"/>
              </a:solidFill>
            </a:endParaRPr>
          </a:p>
          <a:p>
            <a:pPr marL="181240" indent="-18124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>
                <a:solidFill>
                  <a:srgbClr val="000000"/>
                </a:solidFill>
              </a:rPr>
              <a:t>Логика </a:t>
            </a:r>
            <a:r>
              <a:rPr lang="ru-RU" dirty="0">
                <a:solidFill>
                  <a:srgbClr val="000000"/>
                </a:solidFill>
              </a:rPr>
              <a:t>дискового накопителя обеспечивает перемещение головок в зону парковки до того, как они коснутся поверхности. Если диск неисправен и головка чтения/записи случайно касается поверхности пластины за пределами зоны парковки, происходит разрушение головки. В случае разрушения головки магнитное покрытие пластины царапается и может повредить головку чтения/записи. Обычно разрушение головки приводит к потере данных.</a:t>
            </a:r>
          </a:p>
          <a:p>
            <a:pPr marL="181240" indent="-18124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00000"/>
                </a:solidFill>
              </a:rPr>
              <a:t>Блок приводного рычага. </a:t>
            </a:r>
            <a:r>
              <a:rPr lang="ru-RU" dirty="0">
                <a:solidFill>
                  <a:srgbClr val="000000"/>
                </a:solidFill>
              </a:rPr>
              <a:t>Головки чтения/записи монтируются на блок приводного рычага, который позиционирует головку чтения/записи на пластине в том месте, где нужно записать или прочитать данные. Головки чтения/записи для всех пластин дисковода подключены к одному блоку приводного рычага и перемещаются между пластинами одновременно. </a:t>
            </a:r>
          </a:p>
          <a:p>
            <a:pPr marL="181240" indent="-18124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00000"/>
                </a:solidFill>
              </a:rPr>
              <a:t>Плата контроллера диска. </a:t>
            </a:r>
            <a:r>
              <a:rPr lang="ru-RU" dirty="0">
                <a:solidFill>
                  <a:srgbClr val="000000"/>
                </a:solidFill>
              </a:rPr>
              <a:t>Контроллер — это печатная плата, смонтированная в нижней части дискового накопителя. Он состоит из микропроцессора, внутренней памяти, микросхем и встроенного ПО. Встроенное ПО контролирует питание, которое подается на привод шпинделя, а также контролирует скорость двигателя. Контроллер управляет связью между диском и вычислительной системой. Кроме того, он контролирует операции чтения/записи, перемещая приводной рычаг и переключая головки чтения/записи, а также оптимизирует доступ к данным.</a:t>
            </a:r>
          </a:p>
          <a:p>
            <a:pPr marL="181240" indent="-18124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0B65B9-4B84-43D3-90A1-1E887051AA1D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Данные записываются на диск в виде </a:t>
            </a:r>
            <a:r>
              <a:rPr lang="ru-RU" b="1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дорожек</a:t>
            </a:r>
            <a:r>
              <a:rPr lang="ru-RU" b="1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 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— концентрических колец на </a:t>
            </a:r>
            <a:r>
              <a:rPr lang="ru-RU" b="1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пластине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вокруг </a:t>
            </a:r>
            <a:r>
              <a:rPr lang="ru-RU" b="1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шпинделя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>
              <a:spcBef>
                <a:spcPts val="600"/>
              </a:spcBef>
            </a:pP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Дорожки пронумерованы с наружного края пластины (начиная с нуля). </a:t>
            </a:r>
          </a:p>
          <a:p>
            <a:pPr>
              <a:spcBef>
                <a:spcPts val="600"/>
              </a:spcBef>
            </a:pP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Количество </a:t>
            </a:r>
            <a:r>
              <a:rPr lang="ru-RU" b="0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дорожек на дюйм 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(TPI) пластины (или </a:t>
            </a:r>
            <a:r>
              <a:rPr lang="ru-RU" b="0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плотность дорожек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) измеряет, насколько плотно дорожки расположены на пластине.</a:t>
            </a:r>
          </a:p>
          <a:p>
            <a:pPr>
              <a:spcBef>
                <a:spcPts val="600"/>
              </a:spcBef>
            </a:pP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Каждая дорожка разделена на более мелкие единицы — </a:t>
            </a:r>
            <a:r>
              <a:rPr lang="ru-RU" b="1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сектора</a:t>
            </a:r>
            <a:r>
              <a:rPr lang="ru-RU" b="1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Сектор — это наименьшая единица системы хранения с индивидуальной адресацией. </a:t>
            </a:r>
          </a:p>
          <a:p>
            <a:pPr>
              <a:spcBef>
                <a:spcPts val="600"/>
              </a:spcBef>
            </a:pP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Структура дорожки и сектора записывается на пластину производителем диска с использованием операции форматирования низкого уровня. Количество секторов на дорожке может быть разным в зависимости от типа диска. </a:t>
            </a:r>
          </a:p>
          <a:p>
            <a:pPr>
              <a:spcBef>
                <a:spcPts val="600"/>
              </a:spcBef>
            </a:pP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В зависимости от физических размеров и плотности записи, на пластине могут быть тысячи дорожек.</a:t>
            </a:r>
          </a:p>
          <a:p>
            <a:pPr>
              <a:spcBef>
                <a:spcPts val="600"/>
              </a:spcBef>
            </a:pP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Обычно сектор содержит 512 байт пользовательских данных, хотя некоторые диски могут быть отформатированы с большими размерами сектора. Помимо пользовательских данных в секторе также хранится другая информация: номер сектора, номер головки или пластины, а также номер дорожки. С помощью этой информации контроллер размещает данные на диске.</a:t>
            </a:r>
          </a:p>
          <a:p>
            <a:pPr>
              <a:spcBef>
                <a:spcPts val="600"/>
              </a:spcBef>
            </a:pPr>
            <a:r>
              <a:rPr lang="ru-RU" b="1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Цилиндр 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— это набор идентичных дорожек на обеих поверхностях каждой пластины диска. Размещение головок чтения/записи указывается в номере цилиндра, а не дорожки.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0B65B9-4B84-43D3-90A1-1E887051AA1D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Раньше диски использовали физические адреса, состоящие из номера </a:t>
            </a:r>
            <a:r>
              <a:rPr lang="ru-RU" b="1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цилиндра, головки и сектора </a:t>
            </a:r>
            <a:r>
              <a:rPr lang="ru-RU" b="0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(CH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ru-RU" b="0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для ссылки на конкретные местоположения на диске, а ОС </a:t>
            </a:r>
            <a:r>
              <a:rPr lang="ru-RU" b="1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нужно было уведомлять о геометрии каждого используемого диска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>
              <a:spcBef>
                <a:spcPts val="600"/>
              </a:spcBef>
            </a:pPr>
            <a:r>
              <a:rPr lang="ru-RU" b="1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Адресация логического блока 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(LBA) упростила адресацию использованием линейного адреса для доступа к физическим блокам данных. </a:t>
            </a:r>
          </a:p>
          <a:p>
            <a:pPr>
              <a:spcBef>
                <a:spcPts val="600"/>
              </a:spcBef>
            </a:pP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Дисковый контроллер переводит адрес LBA в адрес CHS, а вычислительной системе нужно знать только размер дискового накопителя относительно количества блоков. </a:t>
            </a:r>
          </a:p>
          <a:p>
            <a:pPr>
              <a:spcBef>
                <a:spcPts val="600"/>
              </a:spcBef>
            </a:pP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Установлено соответствие логических блоков с физическими секторами в отношении 1:1.</a:t>
            </a:r>
          </a:p>
          <a:p>
            <a:pPr>
              <a:spcBef>
                <a:spcPts val="600"/>
              </a:spcBef>
            </a:pP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На этом слайде диск имеет восемь секторов на каждой дорожке, шесть головок и четыре цилиндра. </a:t>
            </a:r>
          </a:p>
          <a:p>
            <a:pPr>
              <a:spcBef>
                <a:spcPts val="600"/>
              </a:spcBef>
            </a:pP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Таким образом, </a:t>
            </a:r>
            <a:r>
              <a:rPr lang="ru-RU" b="1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общее количество блоков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: 8 × 6 × 4 = 192, а номер блока от 0 до 191. </a:t>
            </a:r>
          </a:p>
          <a:p>
            <a:pPr>
              <a:spcBef>
                <a:spcPts val="600"/>
              </a:spcBef>
            </a:pP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Каждый блок имеет свой уникальный адрес. </a:t>
            </a:r>
          </a:p>
          <a:p>
            <a:pPr>
              <a:spcBef>
                <a:spcPts val="600"/>
              </a:spcBef>
            </a:pP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При условии, что сектор содержит 512 байт, диск на 500 Гбайт с форматированной емкостью 465,7 Гбайт имеет 976 000 000 избыточных блоков.</a:t>
            </a:r>
          </a:p>
          <a:p>
            <a:pPr>
              <a:spcBef>
                <a:spcPts val="600"/>
              </a:spcBef>
            </a:pPr>
            <a:endParaRPr lang="ru-RU" dirty="0">
              <a:latin typeface="Arial" pitchFamily="34" charset="0"/>
              <a:cs typeface="Arial" pitchFamily="34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0B65B9-4B84-43D3-90A1-1E887051AA1D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/>
              <a:t>Например, если файл находится на нескольких дисковых устройствах, мы могли бы организовать его так, чтобы все записи на первом дисковом устройстве имели значения ключа, предшествующие значениям ключа на втором устройстве, которые, в свою очередь, предшествовали бы значениям</a:t>
            </a:r>
          </a:p>
          <a:p>
            <a:r>
              <a:rPr lang="ru-RU"/>
              <a:t>Рис. 2.10. Иерархия индексов</a:t>
            </a:r>
          </a:p>
          <a:p>
            <a:r>
              <a:rPr lang="ru-RU"/>
              <a:t> </a:t>
            </a:r>
          </a:p>
          <a:p>
            <a:r>
              <a:rPr lang="ru-RU"/>
              <a:t>ключа на третьем устройстве, и. т.д. Индекс первого уровня дает первое значение ключа на каждом устройстве. Аналогично упорядочиваются цилиндры в устройствах, и индекс второго уровня дает первые значения ключа на всех цилиндрах. Точно так же мы можем далее упорядочить дорожки в цилиндрах и использовать индекс третьего уровня, который даст первое значение ключа по каждой дорожке. Дорожки подразделяются на блоки  и создается четвертый уровень индекса.  Если применяется такая организация то при инициализации файла полезно оставлять свободные блоки на всех дорожках, свободные дорожки на всех цилиндрах, и т. д., что позволит базе данных существовать длительное время без реорганизации.</a:t>
            </a:r>
          </a:p>
          <a:p>
            <a:endParaRPr lang="ru-RU"/>
          </a:p>
        </p:txBody>
      </p:sp>
      <p:sp>
        <p:nvSpPr>
          <p:cNvPr id="2355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FADAC26-FB61-4CB7-A17C-3D41DF90F535}" type="slidenum">
              <a:rPr lang="ru-RU" smtClean="0"/>
              <a:pPr/>
              <a:t>17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endParaRPr lang="ru-RU" dirty="0"/>
          </a:p>
        </p:txBody>
      </p:sp>
      <p:sp>
        <p:nvSpPr>
          <p:cNvPr id="2458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B27F5B0-FF3F-43A8-B484-1D561616E184}" type="slidenum">
              <a:rPr lang="ru-RU" smtClean="0"/>
              <a:pPr/>
              <a:t>19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endParaRPr lang="ru-RU" dirty="0"/>
          </a:p>
        </p:txBody>
      </p:sp>
      <p:sp>
        <p:nvSpPr>
          <p:cNvPr id="2560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5AE6BE3-0309-4EED-B652-54661C26DA14}" type="slidenum">
              <a:rPr lang="ru-RU" smtClean="0"/>
              <a:pPr/>
              <a:t>20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endParaRPr lang="ru-RU" dirty="0"/>
          </a:p>
        </p:txBody>
      </p:sp>
      <p:sp>
        <p:nvSpPr>
          <p:cNvPr id="2662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98CA52B-C360-4E89-BFE4-7C044B4967AF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endParaRPr lang="ru-RU" dirty="0"/>
          </a:p>
        </p:txBody>
      </p:sp>
      <p:sp>
        <p:nvSpPr>
          <p:cNvPr id="2765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1EA719F-A066-40C8-BCFB-DFC4FA1D08F4}" type="slidenum">
              <a:rPr lang="ru-RU" smtClean="0"/>
              <a:pPr/>
              <a:t>22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endParaRPr lang="ru-RU" dirty="0"/>
          </a:p>
        </p:txBody>
      </p:sp>
      <p:sp>
        <p:nvSpPr>
          <p:cNvPr id="2867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F26E60C-F261-4E51-99FC-672581D27226}" type="slidenum">
              <a:rPr lang="ru-RU" smtClean="0"/>
              <a:pPr/>
              <a:t>23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endParaRPr lang="ru-RU" dirty="0"/>
          </a:p>
        </p:txBody>
      </p:sp>
      <p:sp>
        <p:nvSpPr>
          <p:cNvPr id="2867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F26E60C-F261-4E51-99FC-672581D27226}" type="slidenum">
              <a:rPr lang="ru-RU" smtClean="0"/>
              <a:pPr/>
              <a:t>24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endParaRPr lang="ru-RU" dirty="0"/>
          </a:p>
        </p:txBody>
      </p:sp>
      <p:sp>
        <p:nvSpPr>
          <p:cNvPr id="2867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F26E60C-F261-4E51-99FC-672581D27226}" type="slidenum">
              <a:rPr lang="ru-RU" smtClean="0"/>
              <a:pPr/>
              <a:t>25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78180E-8AB3-4193-830F-B55B130FB29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5662F0-372C-4868-A206-9DBBB319260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B87C46-0E74-4D3B-B809-D32BA3C3104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3CE517-3FF5-471C-93CD-EAE59CA0359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734BB-DF5A-43AA-B2F5-7EB64658E33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8A8B07-AA4D-46C2-ABC2-C06C4787515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56FFF-8A41-46FF-8D87-F5CB5C84559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1AED5D-5F23-44F9-A865-8F92E3FEF6F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1E7C3B-3184-4DDD-8EE4-BDACD17D7AD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407573-BFB0-41CA-8841-05DF47C0D43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4DA8E4-6029-4DC0-8984-53317760AC9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7228CB-D435-4414-9D65-0F709D36FA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C4DD91-E298-4415-8A2A-F267EB8577C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E41121EC-BB7C-4EEA-8FDD-A7FB133D4E5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1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emf"/><Relationship Id="rId21" Type="http://schemas.openxmlformats.org/officeDocument/2006/relationships/image" Target="../media/image22.png"/><Relationship Id="rId34" Type="http://schemas.openxmlformats.org/officeDocument/2006/relationships/image" Target="../media/image3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7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4.wmf"/><Relationship Id="rId4" Type="http://schemas.openxmlformats.org/officeDocument/2006/relationships/oleObject" Target="../embeddings/oleObject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11288" y="1844675"/>
            <a:ext cx="7732712" cy="2305050"/>
          </a:xfrm>
        </p:spPr>
        <p:txBody>
          <a:bodyPr/>
          <a:lstStyle/>
          <a:p>
            <a:pPr algn="ctr" eaLnBrk="1" hangingPunct="1">
              <a:spcAft>
                <a:spcPct val="150000"/>
              </a:spcAft>
            </a:pPr>
            <a:r>
              <a:rPr lang="ru-RU"/>
              <a:t>Модель</a:t>
            </a:r>
            <a:br>
              <a:rPr lang="ru-RU"/>
            </a:br>
            <a:r>
              <a:rPr lang="ru-RU" sz="4000"/>
              <a:t>внешней памяти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28750" y="4292600"/>
            <a:ext cx="7715250" cy="1752600"/>
          </a:xfrm>
        </p:spPr>
        <p:txBody>
          <a:bodyPr/>
          <a:lstStyle/>
          <a:p>
            <a:pPr eaLnBrk="1" hangingPunct="1"/>
            <a:r>
              <a:rPr lang="ru-RU"/>
              <a:t>Дж. Ульман </a:t>
            </a:r>
          </a:p>
          <a:p>
            <a:pPr eaLnBrk="1" hangingPunct="1"/>
            <a:r>
              <a:rPr lang="ru-RU"/>
              <a:t>Основы систем баз данных. Глава 2</a:t>
            </a:r>
          </a:p>
          <a:p>
            <a:pPr eaLnBrk="1" hangingPunct="1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57200"/>
            <a:ext cx="8750300" cy="828675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Типы устройств хранения данных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357313"/>
            <a:ext cx="8784976" cy="5096023"/>
          </a:xfrm>
        </p:spPr>
        <p:txBody>
          <a:bodyPr>
            <a:normAutofit/>
          </a:bodyPr>
          <a:lstStyle/>
          <a:p>
            <a:pPr marL="609600" indent="-609600">
              <a:lnSpc>
                <a:spcPct val="90000"/>
              </a:lnSpc>
              <a:buFont typeface="Wingdings" pitchFamily="2" charset="2"/>
              <a:buNone/>
              <a:defRPr/>
            </a:pPr>
            <a:endParaRPr lang="ru-RU" sz="2800" dirty="0"/>
          </a:p>
          <a:p>
            <a:pPr marL="609600" indent="0">
              <a:buFont typeface="Wingdings" pitchFamily="2" charset="2"/>
              <a:buNone/>
              <a:defRPr/>
            </a:pPr>
            <a:endParaRPr lang="ru-RU" sz="2400" dirty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A014065-CDA3-4740-B8BB-B0E05C9B1597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4101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3377455"/>
              </p:ext>
            </p:extLst>
          </p:nvPr>
        </p:nvGraphicFramePr>
        <p:xfrm>
          <a:off x="142876" y="1285860"/>
          <a:ext cx="8715404" cy="50720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57200"/>
            <a:ext cx="8750300" cy="828675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  <a:latin typeface="Arial" pitchFamily="34" charset="0"/>
                <a:cs typeface="Arial" pitchFamily="34" charset="0"/>
              </a:rPr>
              <a:t>Компоненты жестких дисков</a:t>
            </a:r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A014065-CDA3-4740-B8BB-B0E05C9B1597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4101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" name="Содержимое 5"/>
          <p:cNvSpPr>
            <a:spLocks noGrp="1"/>
          </p:cNvSpPr>
          <p:nvPr>
            <p:ph idx="1"/>
          </p:nvPr>
        </p:nvSpPr>
        <p:spPr>
          <a:xfrm>
            <a:off x="285720" y="1571612"/>
            <a:ext cx="8572560" cy="4572032"/>
          </a:xfrm>
        </p:spPr>
        <p:txBody>
          <a:bodyPr/>
          <a:lstStyle/>
          <a:p>
            <a:endParaRPr lang="ru-RU" dirty="0"/>
          </a:p>
        </p:txBody>
      </p:sp>
      <p:grpSp>
        <p:nvGrpSpPr>
          <p:cNvPr id="7" name="Group 5"/>
          <p:cNvGrpSpPr/>
          <p:nvPr/>
        </p:nvGrpSpPr>
        <p:grpSpPr>
          <a:xfrm>
            <a:off x="571472" y="1428736"/>
            <a:ext cx="7929618" cy="4643470"/>
            <a:chOff x="317202" y="1235112"/>
            <a:chExt cx="8322548" cy="4869427"/>
          </a:xfrm>
        </p:grpSpPr>
        <p:pic>
          <p:nvPicPr>
            <p:cNvPr id="8" name="Picture 60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9210" y="3581571"/>
              <a:ext cx="3348380" cy="1876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609"/>
            <p:cNvSpPr>
              <a:spLocks noChangeArrowheads="1"/>
            </p:cNvSpPr>
            <p:nvPr/>
          </p:nvSpPr>
          <p:spPr bwMode="auto">
            <a:xfrm>
              <a:off x="7208022" y="5257798"/>
              <a:ext cx="1027091" cy="2458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354013" indent="-354013" algn="ctr" defTabSz="941388"/>
              <a:r>
                <a:rPr lang="ru-RU" sz="12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Интерфейс</a:t>
              </a:r>
            </a:p>
          </p:txBody>
        </p:sp>
        <p:sp>
          <p:nvSpPr>
            <p:cNvPr id="10" name="Freeform 610"/>
            <p:cNvSpPr>
              <a:spLocks/>
            </p:cNvSpPr>
            <p:nvPr/>
          </p:nvSpPr>
          <p:spPr bwMode="auto">
            <a:xfrm>
              <a:off x="6570729" y="3726133"/>
              <a:ext cx="809819" cy="206670"/>
            </a:xfrm>
            <a:custGeom>
              <a:avLst/>
              <a:gdLst>
                <a:gd name="T0" fmla="*/ 0 w 2582"/>
                <a:gd name="T1" fmla="*/ 581 h 581"/>
                <a:gd name="T2" fmla="*/ 833 w 2582"/>
                <a:gd name="T3" fmla="*/ 0 h 581"/>
                <a:gd name="T4" fmla="*/ 2582 w 2582"/>
                <a:gd name="T5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82" h="581">
                  <a:moveTo>
                    <a:pt x="0" y="581"/>
                  </a:moveTo>
                  <a:lnTo>
                    <a:pt x="833" y="0"/>
                  </a:lnTo>
                  <a:lnTo>
                    <a:pt x="2582" y="0"/>
                  </a:ln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Freeform 611"/>
            <p:cNvSpPr>
              <a:spLocks/>
            </p:cNvSpPr>
            <p:nvPr/>
          </p:nvSpPr>
          <p:spPr bwMode="auto">
            <a:xfrm>
              <a:off x="6511474" y="3854632"/>
              <a:ext cx="125094" cy="124216"/>
            </a:xfrm>
            <a:custGeom>
              <a:avLst/>
              <a:gdLst>
                <a:gd name="T0" fmla="*/ 243 w 399"/>
                <a:gd name="T1" fmla="*/ 180 h 348"/>
                <a:gd name="T2" fmla="*/ 399 w 399"/>
                <a:gd name="T3" fmla="*/ 270 h 348"/>
                <a:gd name="T4" fmla="*/ 0 w 399"/>
                <a:gd name="T5" fmla="*/ 348 h 348"/>
                <a:gd name="T6" fmla="*/ 210 w 399"/>
                <a:gd name="T7" fmla="*/ 0 h 348"/>
                <a:gd name="T8" fmla="*/ 243 w 399"/>
                <a:gd name="T9" fmla="*/ 18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9" h="348">
                  <a:moveTo>
                    <a:pt x="243" y="180"/>
                  </a:moveTo>
                  <a:lnTo>
                    <a:pt x="399" y="270"/>
                  </a:lnTo>
                  <a:lnTo>
                    <a:pt x="0" y="348"/>
                  </a:lnTo>
                  <a:lnTo>
                    <a:pt x="210" y="0"/>
                  </a:lnTo>
                  <a:lnTo>
                    <a:pt x="243" y="1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Rectangle 612"/>
            <p:cNvSpPr>
              <a:spLocks noChangeArrowheads="1"/>
            </p:cNvSpPr>
            <p:nvPr/>
          </p:nvSpPr>
          <p:spPr bwMode="auto">
            <a:xfrm>
              <a:off x="7026426" y="3530337"/>
              <a:ext cx="1613324" cy="491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r" defTabSz="941388"/>
              <a:r>
                <a:rPr lang="ru-RU" sz="12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Плата контроллера</a:t>
              </a:r>
            </a:p>
          </p:txBody>
        </p:sp>
        <p:sp>
          <p:nvSpPr>
            <p:cNvPr id="13" name="Line 613"/>
            <p:cNvSpPr>
              <a:spLocks noChangeShapeType="1"/>
            </p:cNvSpPr>
            <p:nvPr/>
          </p:nvSpPr>
          <p:spPr bwMode="auto">
            <a:xfrm>
              <a:off x="6430586" y="4984355"/>
              <a:ext cx="0" cy="60394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Freeform 614"/>
            <p:cNvSpPr>
              <a:spLocks/>
            </p:cNvSpPr>
            <p:nvPr/>
          </p:nvSpPr>
          <p:spPr bwMode="auto">
            <a:xfrm>
              <a:off x="6379796" y="4915822"/>
              <a:ext cx="102521" cy="131712"/>
            </a:xfrm>
            <a:custGeom>
              <a:avLst/>
              <a:gdLst>
                <a:gd name="T0" fmla="*/ 165 w 328"/>
                <a:gd name="T1" fmla="*/ 294 h 369"/>
                <a:gd name="T2" fmla="*/ 328 w 328"/>
                <a:gd name="T3" fmla="*/ 368 h 369"/>
                <a:gd name="T4" fmla="*/ 164 w 328"/>
                <a:gd name="T5" fmla="*/ 0 h 369"/>
                <a:gd name="T6" fmla="*/ 0 w 328"/>
                <a:gd name="T7" fmla="*/ 369 h 369"/>
                <a:gd name="T8" fmla="*/ 165 w 328"/>
                <a:gd name="T9" fmla="*/ 29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8" h="369">
                  <a:moveTo>
                    <a:pt x="165" y="294"/>
                  </a:moveTo>
                  <a:lnTo>
                    <a:pt x="328" y="368"/>
                  </a:lnTo>
                  <a:lnTo>
                    <a:pt x="164" y="0"/>
                  </a:lnTo>
                  <a:lnTo>
                    <a:pt x="0" y="369"/>
                  </a:lnTo>
                  <a:lnTo>
                    <a:pt x="165" y="2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" name="Line 615"/>
            <p:cNvSpPr>
              <a:spLocks noChangeShapeType="1"/>
            </p:cNvSpPr>
            <p:nvPr/>
          </p:nvSpPr>
          <p:spPr bwMode="auto">
            <a:xfrm flipH="1">
              <a:off x="5115688" y="4513191"/>
              <a:ext cx="39503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Freeform 616"/>
            <p:cNvSpPr>
              <a:spLocks/>
            </p:cNvSpPr>
            <p:nvPr/>
          </p:nvSpPr>
          <p:spPr bwMode="auto">
            <a:xfrm>
              <a:off x="5447705" y="4455366"/>
              <a:ext cx="116629" cy="116720"/>
            </a:xfrm>
            <a:custGeom>
              <a:avLst/>
              <a:gdLst>
                <a:gd name="T0" fmla="*/ 76 w 370"/>
                <a:gd name="T1" fmla="*/ 165 h 328"/>
                <a:gd name="T2" fmla="*/ 1 w 370"/>
                <a:gd name="T3" fmla="*/ 328 h 328"/>
                <a:gd name="T4" fmla="*/ 370 w 370"/>
                <a:gd name="T5" fmla="*/ 164 h 328"/>
                <a:gd name="T6" fmla="*/ 0 w 370"/>
                <a:gd name="T7" fmla="*/ 0 h 328"/>
                <a:gd name="T8" fmla="*/ 76 w 370"/>
                <a:gd name="T9" fmla="*/ 165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0" h="328">
                  <a:moveTo>
                    <a:pt x="76" y="165"/>
                  </a:moveTo>
                  <a:lnTo>
                    <a:pt x="1" y="328"/>
                  </a:lnTo>
                  <a:lnTo>
                    <a:pt x="370" y="164"/>
                  </a:lnTo>
                  <a:lnTo>
                    <a:pt x="0" y="0"/>
                  </a:lnTo>
                  <a:lnTo>
                    <a:pt x="76" y="1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Rectangle 617"/>
            <p:cNvSpPr>
              <a:spLocks noChangeArrowheads="1"/>
            </p:cNvSpPr>
            <p:nvPr/>
          </p:nvSpPr>
          <p:spPr bwMode="auto">
            <a:xfrm>
              <a:off x="5539620" y="5612841"/>
              <a:ext cx="1817652" cy="491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354013" indent="-354013" algn="ctr" defTabSz="941388"/>
              <a:r>
                <a:rPr lang="ru-RU" sz="12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Разъемы для питания</a:t>
              </a:r>
              <a:r>
                <a:rPr lang="ru-RU" sz="10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  <p:sp>
          <p:nvSpPr>
            <p:cNvPr id="18" name="Rectangle 619"/>
            <p:cNvSpPr>
              <a:spLocks noChangeArrowheads="1"/>
            </p:cNvSpPr>
            <p:nvPr/>
          </p:nvSpPr>
          <p:spPr bwMode="auto">
            <a:xfrm>
              <a:off x="4665695" y="4379950"/>
              <a:ext cx="395388" cy="2458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354013" indent="-354013" defTabSz="941388"/>
              <a:r>
                <a:rPr lang="ru-RU" sz="12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HDA</a:t>
              </a:r>
            </a:p>
          </p:txBody>
        </p:sp>
        <p:sp>
          <p:nvSpPr>
            <p:cNvPr id="19" name="Line 613"/>
            <p:cNvSpPr>
              <a:spLocks noChangeShapeType="1"/>
            </p:cNvSpPr>
            <p:nvPr/>
          </p:nvSpPr>
          <p:spPr bwMode="auto">
            <a:xfrm>
              <a:off x="7720669" y="4670223"/>
              <a:ext cx="0" cy="60394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Freeform 614"/>
            <p:cNvSpPr>
              <a:spLocks/>
            </p:cNvSpPr>
            <p:nvPr/>
          </p:nvSpPr>
          <p:spPr bwMode="auto">
            <a:xfrm>
              <a:off x="7669879" y="4601690"/>
              <a:ext cx="102521" cy="131712"/>
            </a:xfrm>
            <a:custGeom>
              <a:avLst/>
              <a:gdLst>
                <a:gd name="T0" fmla="*/ 165 w 328"/>
                <a:gd name="T1" fmla="*/ 294 h 369"/>
                <a:gd name="T2" fmla="*/ 328 w 328"/>
                <a:gd name="T3" fmla="*/ 368 h 369"/>
                <a:gd name="T4" fmla="*/ 164 w 328"/>
                <a:gd name="T5" fmla="*/ 0 h 369"/>
                <a:gd name="T6" fmla="*/ 0 w 328"/>
                <a:gd name="T7" fmla="*/ 369 h 369"/>
                <a:gd name="T8" fmla="*/ 165 w 328"/>
                <a:gd name="T9" fmla="*/ 29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8" h="369">
                  <a:moveTo>
                    <a:pt x="165" y="294"/>
                  </a:moveTo>
                  <a:lnTo>
                    <a:pt x="328" y="368"/>
                  </a:lnTo>
                  <a:lnTo>
                    <a:pt x="164" y="0"/>
                  </a:lnTo>
                  <a:lnTo>
                    <a:pt x="0" y="369"/>
                  </a:lnTo>
                  <a:lnTo>
                    <a:pt x="165" y="2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40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21" name="Straight Arrow Connector 19"/>
            <p:cNvCxnSpPr/>
            <p:nvPr/>
          </p:nvCxnSpPr>
          <p:spPr>
            <a:xfrm>
              <a:off x="4206415" y="3860498"/>
              <a:ext cx="0" cy="1321102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" name="Freeform 614"/>
            <p:cNvSpPr>
              <a:spLocks/>
            </p:cNvSpPr>
            <p:nvPr/>
          </p:nvSpPr>
          <p:spPr bwMode="auto">
            <a:xfrm>
              <a:off x="4164679" y="3804986"/>
              <a:ext cx="102521" cy="131712"/>
            </a:xfrm>
            <a:custGeom>
              <a:avLst/>
              <a:gdLst>
                <a:gd name="T0" fmla="*/ 165 w 328"/>
                <a:gd name="T1" fmla="*/ 294 h 369"/>
                <a:gd name="T2" fmla="*/ 328 w 328"/>
                <a:gd name="T3" fmla="*/ 368 h 369"/>
                <a:gd name="T4" fmla="*/ 164 w 328"/>
                <a:gd name="T5" fmla="*/ 0 h 369"/>
                <a:gd name="T6" fmla="*/ 0 w 328"/>
                <a:gd name="T7" fmla="*/ 369 h 369"/>
                <a:gd name="T8" fmla="*/ 165 w 328"/>
                <a:gd name="T9" fmla="*/ 29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8" h="369">
                  <a:moveTo>
                    <a:pt x="165" y="294"/>
                  </a:moveTo>
                  <a:lnTo>
                    <a:pt x="328" y="368"/>
                  </a:lnTo>
                  <a:lnTo>
                    <a:pt x="164" y="0"/>
                  </a:lnTo>
                  <a:lnTo>
                    <a:pt x="0" y="369"/>
                  </a:lnTo>
                  <a:lnTo>
                    <a:pt x="165" y="2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Rectangle 619"/>
            <p:cNvSpPr>
              <a:spLocks noChangeArrowheads="1"/>
            </p:cNvSpPr>
            <p:nvPr/>
          </p:nvSpPr>
          <p:spPr bwMode="auto">
            <a:xfrm>
              <a:off x="3235635" y="5191521"/>
              <a:ext cx="1978659" cy="491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defTabSz="941388"/>
              <a:r>
                <a:rPr lang="ru-RU" sz="12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Пластина и головка чтения/записи</a:t>
              </a:r>
            </a:p>
          </p:txBody>
        </p:sp>
        <p:grpSp>
          <p:nvGrpSpPr>
            <p:cNvPr id="24" name="Group 3"/>
            <p:cNvGrpSpPr>
              <a:grpSpLocks/>
            </p:cNvGrpSpPr>
            <p:nvPr/>
          </p:nvGrpSpPr>
          <p:grpSpPr bwMode="auto">
            <a:xfrm>
              <a:off x="317202" y="1235112"/>
              <a:ext cx="4952999" cy="3620422"/>
              <a:chOff x="887" y="700"/>
              <a:chExt cx="4350" cy="3380"/>
            </a:xfrm>
          </p:grpSpPr>
          <p:pic>
            <p:nvPicPr>
              <p:cNvPr id="25" name="Picture 4" descr="inside_disk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7" y="700"/>
                <a:ext cx="2870" cy="33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Freeform 5"/>
              <p:cNvSpPr>
                <a:spLocks/>
              </p:cNvSpPr>
              <p:nvPr/>
            </p:nvSpPr>
            <p:spPr bwMode="auto">
              <a:xfrm>
                <a:off x="2538" y="1266"/>
                <a:ext cx="1566" cy="1776"/>
              </a:xfrm>
              <a:custGeom>
                <a:avLst/>
                <a:gdLst>
                  <a:gd name="T0" fmla="*/ 0 w 1566"/>
                  <a:gd name="T1" fmla="*/ 978 h 1776"/>
                  <a:gd name="T2" fmla="*/ 1212 w 1566"/>
                  <a:gd name="T3" fmla="*/ 0 h 1776"/>
                  <a:gd name="T4" fmla="*/ 1566 w 1566"/>
                  <a:gd name="T5" fmla="*/ 1776 h 1776"/>
                  <a:gd name="T6" fmla="*/ 36 w 1566"/>
                  <a:gd name="T7" fmla="*/ 1146 h 1776"/>
                  <a:gd name="T8" fmla="*/ 0 w 1566"/>
                  <a:gd name="T9" fmla="*/ 978 h 17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66" h="1776">
                    <a:moveTo>
                      <a:pt x="0" y="978"/>
                    </a:moveTo>
                    <a:lnTo>
                      <a:pt x="1212" y="0"/>
                    </a:lnTo>
                    <a:lnTo>
                      <a:pt x="1566" y="1776"/>
                    </a:lnTo>
                    <a:lnTo>
                      <a:pt x="36" y="1146"/>
                    </a:lnTo>
                    <a:lnTo>
                      <a:pt x="0" y="978"/>
                    </a:lnTo>
                    <a:close/>
                  </a:path>
                </a:pathLst>
              </a:custGeom>
              <a:solidFill>
                <a:srgbClr val="6F9995">
                  <a:alpha val="25000"/>
                </a:srgbClr>
              </a:solidFill>
              <a:ln w="6350" cap="flat" cmpd="sng">
                <a:solidFill>
                  <a:srgbClr val="6F9995"/>
                </a:solidFill>
                <a:prstDash val="dash"/>
                <a:round/>
                <a:headEnd type="none" w="med" len="med"/>
                <a:tailEnd type="none" w="lg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en-US" sz="1400">
                  <a:latin typeface="Arial" pitchFamily="34" charset="0"/>
                  <a:cs typeface="Arial" pitchFamily="34" charset="0"/>
                </a:endParaRPr>
              </a:p>
            </p:txBody>
          </p:sp>
          <p:pic>
            <p:nvPicPr>
              <p:cNvPr id="27" name="Picture 6" descr="close_upreadwrite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-21600000">
                <a:off x="3323" y="1130"/>
                <a:ext cx="1914" cy="19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8" name="Oval 7"/>
              <p:cNvSpPr>
                <a:spLocks noChangeArrowheads="1"/>
              </p:cNvSpPr>
              <p:nvPr/>
            </p:nvSpPr>
            <p:spPr bwMode="auto">
              <a:xfrm>
                <a:off x="2520" y="2202"/>
                <a:ext cx="222" cy="222"/>
              </a:xfrm>
              <a:prstGeom prst="ellipse">
                <a:avLst/>
              </a:prstGeom>
              <a:noFill/>
              <a:ln w="25400" algn="ctr">
                <a:solidFill>
                  <a:srgbClr val="000610"/>
                </a:solidFill>
                <a:round/>
                <a:headEnd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en-US" sz="140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9" name="Oval 8"/>
              <p:cNvSpPr>
                <a:spLocks noChangeArrowheads="1"/>
              </p:cNvSpPr>
              <p:nvPr/>
            </p:nvSpPr>
            <p:spPr bwMode="auto">
              <a:xfrm rot="-21600000">
                <a:off x="3322" y="1129"/>
                <a:ext cx="1914" cy="1914"/>
              </a:xfrm>
              <a:prstGeom prst="ellipse">
                <a:avLst/>
              </a:prstGeom>
              <a:noFill/>
              <a:ln w="38100" algn="ctr">
                <a:solidFill>
                  <a:srgbClr val="080808"/>
                </a:solidFill>
                <a:round/>
                <a:headEnd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en-US" sz="1400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57200"/>
            <a:ext cx="8750300" cy="828675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  <a:latin typeface="Arial" pitchFamily="34" charset="0"/>
                <a:cs typeface="Arial" pitchFamily="34" charset="0"/>
              </a:rPr>
              <a:t>Структура физического диска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A014065-CDA3-4740-B8BB-B0E05C9B1597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4101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grpSp>
        <p:nvGrpSpPr>
          <p:cNvPr id="7" name="Group 5"/>
          <p:cNvGrpSpPr/>
          <p:nvPr/>
        </p:nvGrpSpPr>
        <p:grpSpPr>
          <a:xfrm>
            <a:off x="785786" y="1285860"/>
            <a:ext cx="8001056" cy="4929222"/>
            <a:chOff x="-24199" y="1000125"/>
            <a:chExt cx="8757573" cy="5019675"/>
          </a:xfrm>
        </p:grpSpPr>
        <p:pic>
          <p:nvPicPr>
            <p:cNvPr id="8" name="Picture 12" descr="platter"/>
            <p:cNvPicPr preferRelativeResize="0"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8400" y="2027238"/>
              <a:ext cx="3138488" cy="28146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Line 13"/>
            <p:cNvSpPr>
              <a:spLocks noChangeShapeType="1"/>
            </p:cNvSpPr>
            <p:nvPr/>
          </p:nvSpPr>
          <p:spPr bwMode="auto">
            <a:xfrm flipH="1">
              <a:off x="7177088" y="1862138"/>
              <a:ext cx="323850" cy="403225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Line 14"/>
            <p:cNvSpPr>
              <a:spLocks noChangeShapeType="1"/>
            </p:cNvSpPr>
            <p:nvPr/>
          </p:nvSpPr>
          <p:spPr bwMode="auto">
            <a:xfrm>
              <a:off x="7497763" y="1862138"/>
              <a:ext cx="390525" cy="1587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Text Box 15"/>
            <p:cNvSpPr txBox="1">
              <a:spLocks noChangeArrowheads="1"/>
            </p:cNvSpPr>
            <p:nvPr/>
          </p:nvSpPr>
          <p:spPr bwMode="auto">
            <a:xfrm>
              <a:off x="7942262" y="1725613"/>
              <a:ext cx="791112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FF00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marL="354013" indent="-354013"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ru-RU" sz="1100" b="1" i="0" dirty="0">
                  <a:solidFill>
                    <a:srgbClr val="080808"/>
                  </a:solidFill>
                  <a:latin typeface="Arial" pitchFamily="34" charset="0"/>
                  <a:cs typeface="Arial" pitchFamily="34" charset="0"/>
                </a:rPr>
                <a:t>Сектор</a:t>
              </a:r>
            </a:p>
          </p:txBody>
        </p:sp>
        <p:sp>
          <p:nvSpPr>
            <p:cNvPr id="12" name="Text Box 16"/>
            <p:cNvSpPr txBox="1">
              <a:spLocks noChangeArrowheads="1"/>
            </p:cNvSpPr>
            <p:nvPr/>
          </p:nvSpPr>
          <p:spPr bwMode="auto">
            <a:xfrm>
              <a:off x="7720013" y="4838527"/>
              <a:ext cx="917124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FF00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marL="354013" indent="-354013"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ru-RU" sz="1100" b="1" i="0" dirty="0">
                  <a:solidFill>
                    <a:srgbClr val="080808"/>
                  </a:solidFill>
                  <a:latin typeface="Arial" pitchFamily="34" charset="0"/>
                  <a:cs typeface="Arial" pitchFamily="34" charset="0"/>
                </a:rPr>
                <a:t>Дорожка</a:t>
              </a:r>
            </a:p>
          </p:txBody>
        </p:sp>
        <p:sp>
          <p:nvSpPr>
            <p:cNvPr id="13" name="Line 17"/>
            <p:cNvSpPr>
              <a:spLocks noChangeShapeType="1"/>
            </p:cNvSpPr>
            <p:nvPr/>
          </p:nvSpPr>
          <p:spPr bwMode="auto">
            <a:xfrm flipH="1" flipV="1">
              <a:off x="7102475" y="4210050"/>
              <a:ext cx="617538" cy="617538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Text Box 19"/>
            <p:cNvSpPr txBox="1">
              <a:spLocks noChangeArrowheads="1"/>
            </p:cNvSpPr>
            <p:nvPr/>
          </p:nvSpPr>
          <p:spPr bwMode="auto">
            <a:xfrm>
              <a:off x="6050766" y="5345144"/>
              <a:ext cx="1009651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FF00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marL="354013" indent="-354013"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ru-RU" sz="11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Пластина</a:t>
              </a:r>
            </a:p>
          </p:txBody>
        </p:sp>
        <p:sp>
          <p:nvSpPr>
            <p:cNvPr id="15" name="AutoShape 537"/>
            <p:cNvSpPr>
              <a:spLocks noChangeAspect="1" noChangeArrowheads="1" noTextEdit="1"/>
            </p:cNvSpPr>
            <p:nvPr/>
          </p:nvSpPr>
          <p:spPr bwMode="auto">
            <a:xfrm>
              <a:off x="1522413" y="1000125"/>
              <a:ext cx="2154237" cy="5019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6" name="Picture 56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4337050"/>
              <a:ext cx="2146300" cy="1073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Freeform 567"/>
            <p:cNvSpPr>
              <a:spLocks/>
            </p:cNvSpPr>
            <p:nvPr/>
          </p:nvSpPr>
          <p:spPr bwMode="auto">
            <a:xfrm>
              <a:off x="1533525" y="4356100"/>
              <a:ext cx="2135188" cy="1036638"/>
            </a:xfrm>
            <a:custGeom>
              <a:avLst/>
              <a:gdLst>
                <a:gd name="T0" fmla="*/ 778 w 779"/>
                <a:gd name="T1" fmla="*/ 161 h 380"/>
                <a:gd name="T2" fmla="*/ 388 w 779"/>
                <a:gd name="T3" fmla="*/ 0 h 380"/>
                <a:gd name="T4" fmla="*/ 0 w 779"/>
                <a:gd name="T5" fmla="*/ 176 h 380"/>
                <a:gd name="T6" fmla="*/ 0 w 779"/>
                <a:gd name="T7" fmla="*/ 187 h 380"/>
                <a:gd name="T8" fmla="*/ 386 w 779"/>
                <a:gd name="T9" fmla="*/ 379 h 380"/>
                <a:gd name="T10" fmla="*/ 779 w 779"/>
                <a:gd name="T11" fmla="*/ 183 h 380"/>
                <a:gd name="T12" fmla="*/ 778 w 779"/>
                <a:gd name="T13" fmla="*/ 16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9" h="380">
                  <a:moveTo>
                    <a:pt x="778" y="161"/>
                  </a:moveTo>
                  <a:cubicBezTo>
                    <a:pt x="778" y="64"/>
                    <a:pt x="602" y="0"/>
                    <a:pt x="388" y="0"/>
                  </a:cubicBezTo>
                  <a:cubicBezTo>
                    <a:pt x="174" y="0"/>
                    <a:pt x="0" y="79"/>
                    <a:pt x="0" y="176"/>
                  </a:cubicBezTo>
                  <a:cubicBezTo>
                    <a:pt x="0" y="183"/>
                    <a:pt x="0" y="184"/>
                    <a:pt x="0" y="187"/>
                  </a:cubicBezTo>
                  <a:cubicBezTo>
                    <a:pt x="4" y="265"/>
                    <a:pt x="148" y="380"/>
                    <a:pt x="386" y="379"/>
                  </a:cubicBezTo>
                  <a:cubicBezTo>
                    <a:pt x="658" y="378"/>
                    <a:pt x="777" y="252"/>
                    <a:pt x="779" y="183"/>
                  </a:cubicBezTo>
                  <a:cubicBezTo>
                    <a:pt x="779" y="183"/>
                    <a:pt x="778" y="165"/>
                    <a:pt x="778" y="161"/>
                  </a:cubicBezTo>
                  <a:close/>
                </a:path>
              </a:pathLst>
            </a:custGeom>
            <a:noFill/>
            <a:ln w="111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8" name="Picture 56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4241800"/>
              <a:ext cx="2146300" cy="1130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Oval 569"/>
            <p:cNvSpPr>
              <a:spLocks noChangeArrowheads="1"/>
            </p:cNvSpPr>
            <p:nvPr/>
          </p:nvSpPr>
          <p:spPr bwMode="auto">
            <a:xfrm>
              <a:off x="1536700" y="4262438"/>
              <a:ext cx="2120900" cy="1092200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0" name="Picture 570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7350" y="4313238"/>
              <a:ext cx="1884363" cy="974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Oval 571"/>
            <p:cNvSpPr>
              <a:spLocks noChangeArrowheads="1"/>
            </p:cNvSpPr>
            <p:nvPr/>
          </p:nvSpPr>
          <p:spPr bwMode="auto">
            <a:xfrm>
              <a:off x="1676400" y="4330700"/>
              <a:ext cx="1844675" cy="939800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Oval 572"/>
            <p:cNvSpPr>
              <a:spLocks noChangeArrowheads="1"/>
            </p:cNvSpPr>
            <p:nvPr/>
          </p:nvSpPr>
          <p:spPr bwMode="auto">
            <a:xfrm>
              <a:off x="1816100" y="4398963"/>
              <a:ext cx="1565275" cy="781050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3" name="Picture 573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5800" y="4462463"/>
              <a:ext cx="1282700" cy="655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Oval 574"/>
            <p:cNvSpPr>
              <a:spLocks noChangeArrowheads="1"/>
            </p:cNvSpPr>
            <p:nvPr/>
          </p:nvSpPr>
          <p:spPr bwMode="auto">
            <a:xfrm>
              <a:off x="1971675" y="4478338"/>
              <a:ext cx="1252538" cy="622300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5" name="Picture 575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7250" y="4549775"/>
              <a:ext cx="944563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Oval 576"/>
            <p:cNvSpPr>
              <a:spLocks noChangeArrowheads="1"/>
            </p:cNvSpPr>
            <p:nvPr/>
          </p:nvSpPr>
          <p:spPr bwMode="auto">
            <a:xfrm>
              <a:off x="2141538" y="4564063"/>
              <a:ext cx="909637" cy="452437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7" name="Picture 577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5" y="5002213"/>
              <a:ext cx="412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Line 578"/>
            <p:cNvSpPr>
              <a:spLocks noChangeShapeType="1"/>
            </p:cNvSpPr>
            <p:nvPr/>
          </p:nvSpPr>
          <p:spPr bwMode="auto">
            <a:xfrm flipH="1">
              <a:off x="2590800" y="5016500"/>
              <a:ext cx="7938" cy="33813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9" name="Picture 579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1750" y="4244975"/>
              <a:ext cx="33338" cy="334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Line 580"/>
            <p:cNvSpPr>
              <a:spLocks noChangeShapeType="1"/>
            </p:cNvSpPr>
            <p:nvPr/>
          </p:nvSpPr>
          <p:spPr bwMode="auto">
            <a:xfrm>
              <a:off x="2589213" y="4262438"/>
              <a:ext cx="0" cy="30162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31" name="Picture 581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1650" y="4773613"/>
              <a:ext cx="631825" cy="33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Line 582"/>
            <p:cNvSpPr>
              <a:spLocks noChangeShapeType="1"/>
            </p:cNvSpPr>
            <p:nvPr/>
          </p:nvSpPr>
          <p:spPr bwMode="auto">
            <a:xfrm>
              <a:off x="3057525" y="4789488"/>
              <a:ext cx="608013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33" name="Picture 583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4772025"/>
              <a:ext cx="633413" cy="33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Line 584"/>
            <p:cNvSpPr>
              <a:spLocks noChangeShapeType="1"/>
            </p:cNvSpPr>
            <p:nvPr/>
          </p:nvSpPr>
          <p:spPr bwMode="auto">
            <a:xfrm>
              <a:off x="1533525" y="4789488"/>
              <a:ext cx="608013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Line 585"/>
            <p:cNvSpPr>
              <a:spLocks noChangeShapeType="1"/>
            </p:cNvSpPr>
            <p:nvPr/>
          </p:nvSpPr>
          <p:spPr bwMode="auto">
            <a:xfrm flipH="1">
              <a:off x="1835150" y="4959350"/>
              <a:ext cx="454025" cy="23177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36" name="Picture 586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3063" y="4410075"/>
              <a:ext cx="4603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Line 587"/>
            <p:cNvSpPr>
              <a:spLocks noChangeShapeType="1"/>
            </p:cNvSpPr>
            <p:nvPr/>
          </p:nvSpPr>
          <p:spPr bwMode="auto">
            <a:xfrm flipH="1">
              <a:off x="2930525" y="4424363"/>
              <a:ext cx="430213" cy="2159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38" name="Picture 588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6263" y="4395788"/>
              <a:ext cx="460375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Line 589"/>
            <p:cNvSpPr>
              <a:spLocks noChangeShapeType="1"/>
            </p:cNvSpPr>
            <p:nvPr/>
          </p:nvSpPr>
          <p:spPr bwMode="auto">
            <a:xfrm flipH="1" flipV="1">
              <a:off x="1862138" y="4410075"/>
              <a:ext cx="430212" cy="2159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0" name="Line 590"/>
            <p:cNvSpPr>
              <a:spLocks noChangeShapeType="1"/>
            </p:cNvSpPr>
            <p:nvPr/>
          </p:nvSpPr>
          <p:spPr bwMode="auto">
            <a:xfrm>
              <a:off x="2936875" y="4943475"/>
              <a:ext cx="454025" cy="22542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" name="Freeform 591"/>
            <p:cNvSpPr>
              <a:spLocks/>
            </p:cNvSpPr>
            <p:nvPr/>
          </p:nvSpPr>
          <p:spPr bwMode="auto">
            <a:xfrm>
              <a:off x="2593975" y="4262438"/>
              <a:ext cx="758825" cy="204787"/>
            </a:xfrm>
            <a:custGeom>
              <a:avLst/>
              <a:gdLst>
                <a:gd name="T0" fmla="*/ 0 w 277"/>
                <a:gd name="T1" fmla="*/ 0 h 75"/>
                <a:gd name="T2" fmla="*/ 1 w 277"/>
                <a:gd name="T3" fmla="*/ 23 h 75"/>
                <a:gd name="T4" fmla="*/ 246 w 277"/>
                <a:gd name="T5" fmla="*/ 75 h 75"/>
                <a:gd name="T6" fmla="*/ 277 w 277"/>
                <a:gd name="T7" fmla="*/ 58 h 75"/>
                <a:gd name="T8" fmla="*/ 0 w 277"/>
                <a:gd name="T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75">
                  <a:moveTo>
                    <a:pt x="0" y="0"/>
                  </a:moveTo>
                  <a:cubicBezTo>
                    <a:pt x="0" y="0"/>
                    <a:pt x="1" y="15"/>
                    <a:pt x="1" y="23"/>
                  </a:cubicBezTo>
                  <a:cubicBezTo>
                    <a:pt x="44" y="23"/>
                    <a:pt x="149" y="27"/>
                    <a:pt x="246" y="75"/>
                  </a:cubicBezTo>
                  <a:cubicBezTo>
                    <a:pt x="260" y="67"/>
                    <a:pt x="277" y="58"/>
                    <a:pt x="277" y="58"/>
                  </a:cubicBezTo>
                  <a:cubicBezTo>
                    <a:pt x="277" y="58"/>
                    <a:pt x="17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42" name="Picture 592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9988" y="4022725"/>
              <a:ext cx="320675" cy="860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Freeform 593"/>
            <p:cNvSpPr>
              <a:spLocks/>
            </p:cNvSpPr>
            <p:nvPr/>
          </p:nvSpPr>
          <p:spPr bwMode="auto">
            <a:xfrm>
              <a:off x="2457450" y="4037013"/>
              <a:ext cx="287338" cy="828675"/>
            </a:xfrm>
            <a:custGeom>
              <a:avLst/>
              <a:gdLst>
                <a:gd name="T0" fmla="*/ 104 w 105"/>
                <a:gd name="T1" fmla="*/ 264 h 304"/>
                <a:gd name="T2" fmla="*/ 104 w 105"/>
                <a:gd name="T3" fmla="*/ 0 h 304"/>
                <a:gd name="T4" fmla="*/ 0 w 105"/>
                <a:gd name="T5" fmla="*/ 0 h 304"/>
                <a:gd name="T6" fmla="*/ 0 w 105"/>
                <a:gd name="T7" fmla="*/ 274 h 304"/>
                <a:gd name="T8" fmla="*/ 0 w 105"/>
                <a:gd name="T9" fmla="*/ 274 h 304"/>
                <a:gd name="T10" fmla="*/ 52 w 105"/>
                <a:gd name="T11" fmla="*/ 304 h 304"/>
                <a:gd name="T12" fmla="*/ 105 w 105"/>
                <a:gd name="T13" fmla="*/ 270 h 304"/>
                <a:gd name="T14" fmla="*/ 104 w 105"/>
                <a:gd name="T15" fmla="*/ 26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" h="304">
                  <a:moveTo>
                    <a:pt x="104" y="264"/>
                  </a:moveTo>
                  <a:cubicBezTo>
                    <a:pt x="104" y="0"/>
                    <a:pt x="104" y="0"/>
                    <a:pt x="1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4"/>
                    <a:pt x="0" y="274"/>
                    <a:pt x="0" y="274"/>
                  </a:cubicBezTo>
                  <a:cubicBezTo>
                    <a:pt x="0" y="274"/>
                    <a:pt x="0" y="274"/>
                    <a:pt x="0" y="274"/>
                  </a:cubicBezTo>
                  <a:cubicBezTo>
                    <a:pt x="3" y="291"/>
                    <a:pt x="25" y="304"/>
                    <a:pt x="52" y="304"/>
                  </a:cubicBezTo>
                  <a:cubicBezTo>
                    <a:pt x="81" y="304"/>
                    <a:pt x="105" y="289"/>
                    <a:pt x="105" y="270"/>
                  </a:cubicBezTo>
                  <a:cubicBezTo>
                    <a:pt x="105" y="268"/>
                    <a:pt x="104" y="266"/>
                    <a:pt x="104" y="264"/>
                  </a:cubicBezTo>
                  <a:close/>
                </a:path>
              </a:pathLst>
            </a:custGeom>
            <a:noFill/>
            <a:ln w="11113" cap="flat">
              <a:solidFill>
                <a:srgbClr val="A0BAB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44" name="Picture 594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3141663"/>
              <a:ext cx="2146300" cy="1073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Freeform 595"/>
            <p:cNvSpPr>
              <a:spLocks/>
            </p:cNvSpPr>
            <p:nvPr/>
          </p:nvSpPr>
          <p:spPr bwMode="auto">
            <a:xfrm>
              <a:off x="1533525" y="3160713"/>
              <a:ext cx="2135188" cy="1036637"/>
            </a:xfrm>
            <a:custGeom>
              <a:avLst/>
              <a:gdLst>
                <a:gd name="T0" fmla="*/ 778 w 779"/>
                <a:gd name="T1" fmla="*/ 161 h 380"/>
                <a:gd name="T2" fmla="*/ 388 w 779"/>
                <a:gd name="T3" fmla="*/ 0 h 380"/>
                <a:gd name="T4" fmla="*/ 0 w 779"/>
                <a:gd name="T5" fmla="*/ 176 h 380"/>
                <a:gd name="T6" fmla="*/ 0 w 779"/>
                <a:gd name="T7" fmla="*/ 187 h 380"/>
                <a:gd name="T8" fmla="*/ 386 w 779"/>
                <a:gd name="T9" fmla="*/ 379 h 380"/>
                <a:gd name="T10" fmla="*/ 779 w 779"/>
                <a:gd name="T11" fmla="*/ 183 h 380"/>
                <a:gd name="T12" fmla="*/ 778 w 779"/>
                <a:gd name="T13" fmla="*/ 16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9" h="380">
                  <a:moveTo>
                    <a:pt x="778" y="161"/>
                  </a:moveTo>
                  <a:cubicBezTo>
                    <a:pt x="778" y="64"/>
                    <a:pt x="602" y="0"/>
                    <a:pt x="388" y="0"/>
                  </a:cubicBezTo>
                  <a:cubicBezTo>
                    <a:pt x="174" y="0"/>
                    <a:pt x="0" y="79"/>
                    <a:pt x="0" y="176"/>
                  </a:cubicBezTo>
                  <a:cubicBezTo>
                    <a:pt x="0" y="183"/>
                    <a:pt x="0" y="184"/>
                    <a:pt x="0" y="187"/>
                  </a:cubicBezTo>
                  <a:cubicBezTo>
                    <a:pt x="4" y="265"/>
                    <a:pt x="148" y="380"/>
                    <a:pt x="386" y="379"/>
                  </a:cubicBezTo>
                  <a:cubicBezTo>
                    <a:pt x="658" y="378"/>
                    <a:pt x="777" y="252"/>
                    <a:pt x="779" y="183"/>
                  </a:cubicBezTo>
                  <a:cubicBezTo>
                    <a:pt x="779" y="183"/>
                    <a:pt x="778" y="165"/>
                    <a:pt x="778" y="161"/>
                  </a:cubicBezTo>
                  <a:close/>
                </a:path>
              </a:pathLst>
            </a:custGeom>
            <a:noFill/>
            <a:ln w="111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46" name="Picture 596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3046413"/>
              <a:ext cx="2146300" cy="1130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" name="Oval 597"/>
            <p:cNvSpPr>
              <a:spLocks noChangeArrowheads="1"/>
            </p:cNvSpPr>
            <p:nvPr/>
          </p:nvSpPr>
          <p:spPr bwMode="auto">
            <a:xfrm>
              <a:off x="1536700" y="3067050"/>
              <a:ext cx="2120900" cy="1092200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48" name="Picture 598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7350" y="3117850"/>
              <a:ext cx="1884363" cy="974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Oval 599"/>
            <p:cNvSpPr>
              <a:spLocks noChangeArrowheads="1"/>
            </p:cNvSpPr>
            <p:nvPr/>
          </p:nvSpPr>
          <p:spPr bwMode="auto">
            <a:xfrm>
              <a:off x="1676400" y="3135313"/>
              <a:ext cx="1844675" cy="939800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0" name="Oval 600"/>
            <p:cNvSpPr>
              <a:spLocks noChangeArrowheads="1"/>
            </p:cNvSpPr>
            <p:nvPr/>
          </p:nvSpPr>
          <p:spPr bwMode="auto">
            <a:xfrm>
              <a:off x="1816100" y="3203575"/>
              <a:ext cx="1565275" cy="781050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51" name="Picture 601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5800" y="3267075"/>
              <a:ext cx="1282700" cy="655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" name="Oval 602"/>
            <p:cNvSpPr>
              <a:spLocks noChangeArrowheads="1"/>
            </p:cNvSpPr>
            <p:nvPr/>
          </p:nvSpPr>
          <p:spPr bwMode="auto">
            <a:xfrm>
              <a:off x="1971675" y="3282950"/>
              <a:ext cx="1252538" cy="622300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53" name="Picture 603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7250" y="3354388"/>
              <a:ext cx="944563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" name="Oval 604"/>
            <p:cNvSpPr>
              <a:spLocks noChangeArrowheads="1"/>
            </p:cNvSpPr>
            <p:nvPr/>
          </p:nvSpPr>
          <p:spPr bwMode="auto">
            <a:xfrm>
              <a:off x="2141538" y="3367088"/>
              <a:ext cx="909637" cy="454025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55" name="Picture 605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5" y="3806825"/>
              <a:ext cx="4127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" name="Line 606"/>
            <p:cNvSpPr>
              <a:spLocks noChangeShapeType="1"/>
            </p:cNvSpPr>
            <p:nvPr/>
          </p:nvSpPr>
          <p:spPr bwMode="auto">
            <a:xfrm flipH="1">
              <a:off x="2590800" y="3821113"/>
              <a:ext cx="7938" cy="33813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57" name="Picture 607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1750" y="3048000"/>
              <a:ext cx="333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" name="Line 608"/>
            <p:cNvSpPr>
              <a:spLocks noChangeShapeType="1"/>
            </p:cNvSpPr>
            <p:nvPr/>
          </p:nvSpPr>
          <p:spPr bwMode="auto">
            <a:xfrm>
              <a:off x="2589213" y="3067050"/>
              <a:ext cx="0" cy="30003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59" name="Picture 609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1650" y="3578225"/>
              <a:ext cx="631825" cy="33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" name="Line 610"/>
            <p:cNvSpPr>
              <a:spLocks noChangeShapeType="1"/>
            </p:cNvSpPr>
            <p:nvPr/>
          </p:nvSpPr>
          <p:spPr bwMode="auto">
            <a:xfrm>
              <a:off x="3057525" y="3594100"/>
              <a:ext cx="608013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61" name="Picture 611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3576638"/>
              <a:ext cx="633413" cy="33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" name="Line 612"/>
            <p:cNvSpPr>
              <a:spLocks noChangeShapeType="1"/>
            </p:cNvSpPr>
            <p:nvPr/>
          </p:nvSpPr>
          <p:spPr bwMode="auto">
            <a:xfrm>
              <a:off x="1533525" y="3594100"/>
              <a:ext cx="608013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3" name="Line 613"/>
            <p:cNvSpPr>
              <a:spLocks noChangeShapeType="1"/>
            </p:cNvSpPr>
            <p:nvPr/>
          </p:nvSpPr>
          <p:spPr bwMode="auto">
            <a:xfrm flipH="1">
              <a:off x="1835150" y="3763963"/>
              <a:ext cx="454025" cy="23177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64" name="Picture 614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3063" y="3214688"/>
              <a:ext cx="4603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" name="Line 615"/>
            <p:cNvSpPr>
              <a:spLocks noChangeShapeType="1"/>
            </p:cNvSpPr>
            <p:nvPr/>
          </p:nvSpPr>
          <p:spPr bwMode="auto">
            <a:xfrm flipH="1">
              <a:off x="2930525" y="3228975"/>
              <a:ext cx="430213" cy="2159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66" name="Picture 616"/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6263" y="3200400"/>
              <a:ext cx="4603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" name="Line 617"/>
            <p:cNvSpPr>
              <a:spLocks noChangeShapeType="1"/>
            </p:cNvSpPr>
            <p:nvPr/>
          </p:nvSpPr>
          <p:spPr bwMode="auto">
            <a:xfrm flipH="1" flipV="1">
              <a:off x="1862138" y="3214688"/>
              <a:ext cx="430212" cy="2159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8" name="Line 618"/>
            <p:cNvSpPr>
              <a:spLocks noChangeShapeType="1"/>
            </p:cNvSpPr>
            <p:nvPr/>
          </p:nvSpPr>
          <p:spPr bwMode="auto">
            <a:xfrm>
              <a:off x="2936875" y="3746500"/>
              <a:ext cx="454025" cy="22701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9" name="Freeform 619"/>
            <p:cNvSpPr>
              <a:spLocks/>
            </p:cNvSpPr>
            <p:nvPr/>
          </p:nvSpPr>
          <p:spPr bwMode="auto">
            <a:xfrm>
              <a:off x="2593975" y="3067050"/>
              <a:ext cx="758825" cy="204788"/>
            </a:xfrm>
            <a:custGeom>
              <a:avLst/>
              <a:gdLst>
                <a:gd name="T0" fmla="*/ 0 w 277"/>
                <a:gd name="T1" fmla="*/ 0 h 75"/>
                <a:gd name="T2" fmla="*/ 1 w 277"/>
                <a:gd name="T3" fmla="*/ 23 h 75"/>
                <a:gd name="T4" fmla="*/ 246 w 277"/>
                <a:gd name="T5" fmla="*/ 75 h 75"/>
                <a:gd name="T6" fmla="*/ 277 w 277"/>
                <a:gd name="T7" fmla="*/ 58 h 75"/>
                <a:gd name="T8" fmla="*/ 0 w 277"/>
                <a:gd name="T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75">
                  <a:moveTo>
                    <a:pt x="0" y="0"/>
                  </a:moveTo>
                  <a:cubicBezTo>
                    <a:pt x="0" y="0"/>
                    <a:pt x="1" y="15"/>
                    <a:pt x="1" y="23"/>
                  </a:cubicBezTo>
                  <a:cubicBezTo>
                    <a:pt x="44" y="23"/>
                    <a:pt x="149" y="27"/>
                    <a:pt x="246" y="75"/>
                  </a:cubicBezTo>
                  <a:cubicBezTo>
                    <a:pt x="260" y="67"/>
                    <a:pt x="277" y="58"/>
                    <a:pt x="277" y="58"/>
                  </a:cubicBezTo>
                  <a:cubicBezTo>
                    <a:pt x="277" y="58"/>
                    <a:pt x="17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0" name="Picture 620"/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9988" y="2824163"/>
              <a:ext cx="320675" cy="860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621"/>
            <p:cNvSpPr>
              <a:spLocks/>
            </p:cNvSpPr>
            <p:nvPr/>
          </p:nvSpPr>
          <p:spPr bwMode="auto">
            <a:xfrm>
              <a:off x="2457450" y="2838450"/>
              <a:ext cx="287338" cy="830263"/>
            </a:xfrm>
            <a:custGeom>
              <a:avLst/>
              <a:gdLst>
                <a:gd name="T0" fmla="*/ 104 w 105"/>
                <a:gd name="T1" fmla="*/ 264 h 304"/>
                <a:gd name="T2" fmla="*/ 104 w 105"/>
                <a:gd name="T3" fmla="*/ 0 h 304"/>
                <a:gd name="T4" fmla="*/ 0 w 105"/>
                <a:gd name="T5" fmla="*/ 0 h 304"/>
                <a:gd name="T6" fmla="*/ 0 w 105"/>
                <a:gd name="T7" fmla="*/ 274 h 304"/>
                <a:gd name="T8" fmla="*/ 0 w 105"/>
                <a:gd name="T9" fmla="*/ 274 h 304"/>
                <a:gd name="T10" fmla="*/ 52 w 105"/>
                <a:gd name="T11" fmla="*/ 304 h 304"/>
                <a:gd name="T12" fmla="*/ 105 w 105"/>
                <a:gd name="T13" fmla="*/ 270 h 304"/>
                <a:gd name="T14" fmla="*/ 104 w 105"/>
                <a:gd name="T15" fmla="*/ 26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" h="304">
                  <a:moveTo>
                    <a:pt x="104" y="264"/>
                  </a:moveTo>
                  <a:cubicBezTo>
                    <a:pt x="104" y="0"/>
                    <a:pt x="104" y="0"/>
                    <a:pt x="1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4"/>
                    <a:pt x="0" y="274"/>
                    <a:pt x="0" y="274"/>
                  </a:cubicBezTo>
                  <a:cubicBezTo>
                    <a:pt x="0" y="274"/>
                    <a:pt x="0" y="274"/>
                    <a:pt x="0" y="274"/>
                  </a:cubicBezTo>
                  <a:cubicBezTo>
                    <a:pt x="3" y="291"/>
                    <a:pt x="25" y="304"/>
                    <a:pt x="52" y="304"/>
                  </a:cubicBezTo>
                  <a:cubicBezTo>
                    <a:pt x="81" y="304"/>
                    <a:pt x="105" y="289"/>
                    <a:pt x="105" y="270"/>
                  </a:cubicBezTo>
                  <a:cubicBezTo>
                    <a:pt x="105" y="268"/>
                    <a:pt x="104" y="266"/>
                    <a:pt x="104" y="264"/>
                  </a:cubicBezTo>
                  <a:close/>
                </a:path>
              </a:pathLst>
            </a:custGeom>
            <a:noFill/>
            <a:ln w="11113" cap="flat">
              <a:solidFill>
                <a:srgbClr val="A0BAB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2" name="Picture 622"/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1936750"/>
              <a:ext cx="2146300" cy="1073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" name="Freeform 623"/>
            <p:cNvSpPr>
              <a:spLocks/>
            </p:cNvSpPr>
            <p:nvPr/>
          </p:nvSpPr>
          <p:spPr bwMode="auto">
            <a:xfrm>
              <a:off x="1533525" y="1955800"/>
              <a:ext cx="2135188" cy="1038225"/>
            </a:xfrm>
            <a:custGeom>
              <a:avLst/>
              <a:gdLst>
                <a:gd name="T0" fmla="*/ 778 w 779"/>
                <a:gd name="T1" fmla="*/ 161 h 380"/>
                <a:gd name="T2" fmla="*/ 388 w 779"/>
                <a:gd name="T3" fmla="*/ 0 h 380"/>
                <a:gd name="T4" fmla="*/ 0 w 779"/>
                <a:gd name="T5" fmla="*/ 176 h 380"/>
                <a:gd name="T6" fmla="*/ 0 w 779"/>
                <a:gd name="T7" fmla="*/ 187 h 380"/>
                <a:gd name="T8" fmla="*/ 386 w 779"/>
                <a:gd name="T9" fmla="*/ 379 h 380"/>
                <a:gd name="T10" fmla="*/ 779 w 779"/>
                <a:gd name="T11" fmla="*/ 183 h 380"/>
                <a:gd name="T12" fmla="*/ 778 w 779"/>
                <a:gd name="T13" fmla="*/ 16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9" h="380">
                  <a:moveTo>
                    <a:pt x="778" y="161"/>
                  </a:moveTo>
                  <a:cubicBezTo>
                    <a:pt x="778" y="64"/>
                    <a:pt x="602" y="0"/>
                    <a:pt x="388" y="0"/>
                  </a:cubicBezTo>
                  <a:cubicBezTo>
                    <a:pt x="174" y="0"/>
                    <a:pt x="0" y="79"/>
                    <a:pt x="0" y="176"/>
                  </a:cubicBezTo>
                  <a:cubicBezTo>
                    <a:pt x="0" y="183"/>
                    <a:pt x="0" y="183"/>
                    <a:pt x="0" y="187"/>
                  </a:cubicBezTo>
                  <a:cubicBezTo>
                    <a:pt x="4" y="265"/>
                    <a:pt x="148" y="380"/>
                    <a:pt x="386" y="379"/>
                  </a:cubicBezTo>
                  <a:cubicBezTo>
                    <a:pt x="658" y="378"/>
                    <a:pt x="777" y="252"/>
                    <a:pt x="779" y="183"/>
                  </a:cubicBezTo>
                  <a:cubicBezTo>
                    <a:pt x="779" y="182"/>
                    <a:pt x="778" y="165"/>
                    <a:pt x="778" y="161"/>
                  </a:cubicBezTo>
                  <a:close/>
                </a:path>
              </a:pathLst>
            </a:custGeom>
            <a:noFill/>
            <a:ln w="111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4" name="Picture 624"/>
            <p:cNvPicPr>
              <a:picLocks noChangeAspect="1" noChangeArrowheads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1843088"/>
              <a:ext cx="2146300" cy="1128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Oval 625"/>
            <p:cNvSpPr>
              <a:spLocks noChangeArrowheads="1"/>
            </p:cNvSpPr>
            <p:nvPr/>
          </p:nvSpPr>
          <p:spPr bwMode="auto">
            <a:xfrm>
              <a:off x="1536700" y="1863725"/>
              <a:ext cx="2120900" cy="1092200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6" name="Picture 626"/>
            <p:cNvPicPr>
              <a:picLocks noChangeAspect="1" noChangeArrowheads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7350" y="1912938"/>
              <a:ext cx="1884363" cy="974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Oval 627"/>
            <p:cNvSpPr>
              <a:spLocks noChangeArrowheads="1"/>
            </p:cNvSpPr>
            <p:nvPr/>
          </p:nvSpPr>
          <p:spPr bwMode="auto">
            <a:xfrm>
              <a:off x="1676400" y="1931988"/>
              <a:ext cx="1844675" cy="938212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8" name="Oval 628"/>
            <p:cNvSpPr>
              <a:spLocks noChangeArrowheads="1"/>
            </p:cNvSpPr>
            <p:nvPr/>
          </p:nvSpPr>
          <p:spPr bwMode="auto">
            <a:xfrm>
              <a:off x="1816100" y="2000250"/>
              <a:ext cx="1565275" cy="781050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9" name="Picture 629"/>
            <p:cNvPicPr>
              <a:picLocks noChangeAspect="1" noChangeArrowheads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5800" y="2062163"/>
              <a:ext cx="1282700" cy="655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" name="Oval 630"/>
            <p:cNvSpPr>
              <a:spLocks noChangeArrowheads="1"/>
            </p:cNvSpPr>
            <p:nvPr/>
          </p:nvSpPr>
          <p:spPr bwMode="auto">
            <a:xfrm>
              <a:off x="1971675" y="2079625"/>
              <a:ext cx="1252538" cy="622300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81" name="Picture 631"/>
            <p:cNvPicPr>
              <a:picLocks noChangeAspect="1" noChangeArrowheads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7250" y="2149475"/>
              <a:ext cx="944563" cy="484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" name="Oval 632"/>
            <p:cNvSpPr>
              <a:spLocks noChangeArrowheads="1"/>
            </p:cNvSpPr>
            <p:nvPr/>
          </p:nvSpPr>
          <p:spPr bwMode="auto">
            <a:xfrm>
              <a:off x="2141538" y="2163763"/>
              <a:ext cx="909637" cy="454025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83" name="Picture 633"/>
            <p:cNvPicPr>
              <a:picLocks noChangeAspect="1" noChangeArrowheads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5" y="2603500"/>
              <a:ext cx="4127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4" name="Line 634"/>
            <p:cNvSpPr>
              <a:spLocks noChangeShapeType="1"/>
            </p:cNvSpPr>
            <p:nvPr/>
          </p:nvSpPr>
          <p:spPr bwMode="auto">
            <a:xfrm flipH="1">
              <a:off x="2590800" y="2617788"/>
              <a:ext cx="7938" cy="33813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85" name="Picture 635"/>
            <p:cNvPicPr>
              <a:picLocks noChangeAspect="1" noChangeArrowheads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1750" y="1844675"/>
              <a:ext cx="33338" cy="334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" name="Line 636"/>
            <p:cNvSpPr>
              <a:spLocks noChangeShapeType="1"/>
            </p:cNvSpPr>
            <p:nvPr/>
          </p:nvSpPr>
          <p:spPr bwMode="auto">
            <a:xfrm>
              <a:off x="2589213" y="1863725"/>
              <a:ext cx="0" cy="30003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87" name="Picture 637"/>
            <p:cNvPicPr>
              <a:picLocks noChangeAspect="1" noChangeArrowheads="1"/>
            </p:cNvPicPr>
            <p:nvPr/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1650" y="2373313"/>
              <a:ext cx="631825" cy="33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" name="Line 638"/>
            <p:cNvSpPr>
              <a:spLocks noChangeShapeType="1"/>
            </p:cNvSpPr>
            <p:nvPr/>
          </p:nvSpPr>
          <p:spPr bwMode="auto">
            <a:xfrm>
              <a:off x="3057525" y="2390775"/>
              <a:ext cx="608013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89" name="Picture 639"/>
            <p:cNvPicPr>
              <a:picLocks noChangeAspect="1" noChangeArrowheads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2373313"/>
              <a:ext cx="633413" cy="31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" name="Line 640"/>
            <p:cNvSpPr>
              <a:spLocks noChangeShapeType="1"/>
            </p:cNvSpPr>
            <p:nvPr/>
          </p:nvSpPr>
          <p:spPr bwMode="auto">
            <a:xfrm>
              <a:off x="1533525" y="2387600"/>
              <a:ext cx="608013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1" name="Line 641"/>
            <p:cNvSpPr>
              <a:spLocks noChangeShapeType="1"/>
            </p:cNvSpPr>
            <p:nvPr/>
          </p:nvSpPr>
          <p:spPr bwMode="auto">
            <a:xfrm flipH="1">
              <a:off x="1835150" y="2559050"/>
              <a:ext cx="454025" cy="23336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92" name="Picture 642"/>
            <p:cNvPicPr>
              <a:picLocks noChangeAspect="1" noChangeArrowheads="1"/>
            </p:cNvPicPr>
            <p:nvPr/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3063" y="2009775"/>
              <a:ext cx="460375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" name="Line 643"/>
            <p:cNvSpPr>
              <a:spLocks noChangeShapeType="1"/>
            </p:cNvSpPr>
            <p:nvPr/>
          </p:nvSpPr>
          <p:spPr bwMode="auto">
            <a:xfrm flipH="1">
              <a:off x="2930525" y="2024063"/>
              <a:ext cx="430213" cy="21431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94" name="Picture 644"/>
            <p:cNvPicPr>
              <a:picLocks noChangeAspect="1" noChangeArrowheads="1"/>
            </p:cNvPicPr>
            <p:nvPr/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6263" y="1995488"/>
              <a:ext cx="460375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" name="Line 645"/>
            <p:cNvSpPr>
              <a:spLocks noChangeShapeType="1"/>
            </p:cNvSpPr>
            <p:nvPr/>
          </p:nvSpPr>
          <p:spPr bwMode="auto">
            <a:xfrm flipH="1" flipV="1">
              <a:off x="1862138" y="2011363"/>
              <a:ext cx="430212" cy="21272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6" name="Line 646"/>
            <p:cNvSpPr>
              <a:spLocks noChangeShapeType="1"/>
            </p:cNvSpPr>
            <p:nvPr/>
          </p:nvSpPr>
          <p:spPr bwMode="auto">
            <a:xfrm>
              <a:off x="2936875" y="2543175"/>
              <a:ext cx="454025" cy="22701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7" name="Freeform 647"/>
            <p:cNvSpPr>
              <a:spLocks/>
            </p:cNvSpPr>
            <p:nvPr/>
          </p:nvSpPr>
          <p:spPr bwMode="auto">
            <a:xfrm>
              <a:off x="2593975" y="1863725"/>
              <a:ext cx="758825" cy="204788"/>
            </a:xfrm>
            <a:custGeom>
              <a:avLst/>
              <a:gdLst>
                <a:gd name="T0" fmla="*/ 0 w 277"/>
                <a:gd name="T1" fmla="*/ 0 h 75"/>
                <a:gd name="T2" fmla="*/ 1 w 277"/>
                <a:gd name="T3" fmla="*/ 23 h 75"/>
                <a:gd name="T4" fmla="*/ 246 w 277"/>
                <a:gd name="T5" fmla="*/ 75 h 75"/>
                <a:gd name="T6" fmla="*/ 277 w 277"/>
                <a:gd name="T7" fmla="*/ 58 h 75"/>
                <a:gd name="T8" fmla="*/ 0 w 277"/>
                <a:gd name="T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75">
                  <a:moveTo>
                    <a:pt x="0" y="0"/>
                  </a:moveTo>
                  <a:cubicBezTo>
                    <a:pt x="0" y="0"/>
                    <a:pt x="1" y="15"/>
                    <a:pt x="1" y="23"/>
                  </a:cubicBezTo>
                  <a:cubicBezTo>
                    <a:pt x="44" y="23"/>
                    <a:pt x="149" y="27"/>
                    <a:pt x="246" y="75"/>
                  </a:cubicBezTo>
                  <a:cubicBezTo>
                    <a:pt x="260" y="67"/>
                    <a:pt x="277" y="58"/>
                    <a:pt x="277" y="58"/>
                  </a:cubicBezTo>
                  <a:cubicBezTo>
                    <a:pt x="277" y="58"/>
                    <a:pt x="17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98" name="Picture 648"/>
            <p:cNvPicPr>
              <a:picLocks noChangeAspect="1" noChangeArrowheads="1"/>
            </p:cNvPicPr>
            <p:nvPr/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9988" y="1651000"/>
              <a:ext cx="320675" cy="868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" name="Freeform 649"/>
            <p:cNvSpPr>
              <a:spLocks/>
            </p:cNvSpPr>
            <p:nvPr/>
          </p:nvSpPr>
          <p:spPr bwMode="auto">
            <a:xfrm>
              <a:off x="2457450" y="1663700"/>
              <a:ext cx="287338" cy="838200"/>
            </a:xfrm>
            <a:custGeom>
              <a:avLst/>
              <a:gdLst>
                <a:gd name="T0" fmla="*/ 104 w 105"/>
                <a:gd name="T1" fmla="*/ 269 h 307"/>
                <a:gd name="T2" fmla="*/ 104 w 105"/>
                <a:gd name="T3" fmla="*/ 0 h 307"/>
                <a:gd name="T4" fmla="*/ 0 w 105"/>
                <a:gd name="T5" fmla="*/ 0 h 307"/>
                <a:gd name="T6" fmla="*/ 0 w 105"/>
                <a:gd name="T7" fmla="*/ 269 h 307"/>
                <a:gd name="T8" fmla="*/ 0 w 105"/>
                <a:gd name="T9" fmla="*/ 273 h 307"/>
                <a:gd name="T10" fmla="*/ 52 w 105"/>
                <a:gd name="T11" fmla="*/ 307 h 307"/>
                <a:gd name="T12" fmla="*/ 105 w 105"/>
                <a:gd name="T13" fmla="*/ 273 h 307"/>
                <a:gd name="T14" fmla="*/ 104 w 105"/>
                <a:gd name="T15" fmla="*/ 269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" h="307">
                  <a:moveTo>
                    <a:pt x="104" y="269"/>
                  </a:moveTo>
                  <a:cubicBezTo>
                    <a:pt x="104" y="0"/>
                    <a:pt x="104" y="0"/>
                    <a:pt x="1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69"/>
                    <a:pt x="0" y="269"/>
                    <a:pt x="0" y="269"/>
                  </a:cubicBezTo>
                  <a:cubicBezTo>
                    <a:pt x="0" y="271"/>
                    <a:pt x="0" y="272"/>
                    <a:pt x="0" y="273"/>
                  </a:cubicBezTo>
                  <a:cubicBezTo>
                    <a:pt x="0" y="292"/>
                    <a:pt x="23" y="307"/>
                    <a:pt x="52" y="307"/>
                  </a:cubicBezTo>
                  <a:cubicBezTo>
                    <a:pt x="81" y="307"/>
                    <a:pt x="105" y="292"/>
                    <a:pt x="105" y="273"/>
                  </a:cubicBezTo>
                  <a:cubicBezTo>
                    <a:pt x="105" y="272"/>
                    <a:pt x="105" y="271"/>
                    <a:pt x="104" y="269"/>
                  </a:cubicBezTo>
                  <a:close/>
                </a:path>
              </a:pathLst>
            </a:custGeom>
            <a:noFill/>
            <a:ln w="11113" cap="flat">
              <a:solidFill>
                <a:srgbClr val="A0BAB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0" name="Freeform 650"/>
            <p:cNvSpPr>
              <a:spLocks/>
            </p:cNvSpPr>
            <p:nvPr/>
          </p:nvSpPr>
          <p:spPr bwMode="auto">
            <a:xfrm>
              <a:off x="2328863" y="1590675"/>
              <a:ext cx="550862" cy="284163"/>
            </a:xfrm>
            <a:custGeom>
              <a:avLst/>
              <a:gdLst>
                <a:gd name="T0" fmla="*/ 199 w 201"/>
                <a:gd name="T1" fmla="*/ 55 h 104"/>
                <a:gd name="T2" fmla="*/ 94 w 201"/>
                <a:gd name="T3" fmla="*/ 104 h 104"/>
                <a:gd name="T4" fmla="*/ 0 w 201"/>
                <a:gd name="T5" fmla="*/ 52 h 104"/>
                <a:gd name="T6" fmla="*/ 94 w 201"/>
                <a:gd name="T7" fmla="*/ 0 h 104"/>
                <a:gd name="T8" fmla="*/ 199 w 201"/>
                <a:gd name="T9" fmla="*/ 5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104">
                  <a:moveTo>
                    <a:pt x="199" y="55"/>
                  </a:moveTo>
                  <a:cubicBezTo>
                    <a:pt x="201" y="95"/>
                    <a:pt x="146" y="104"/>
                    <a:pt x="94" y="104"/>
                  </a:cubicBezTo>
                  <a:cubicBezTo>
                    <a:pt x="42" y="104"/>
                    <a:pt x="0" y="81"/>
                    <a:pt x="0" y="52"/>
                  </a:cubicBezTo>
                  <a:cubicBezTo>
                    <a:pt x="0" y="23"/>
                    <a:pt x="42" y="0"/>
                    <a:pt x="94" y="0"/>
                  </a:cubicBezTo>
                  <a:cubicBezTo>
                    <a:pt x="146" y="0"/>
                    <a:pt x="198" y="26"/>
                    <a:pt x="199" y="55"/>
                  </a:cubicBezTo>
                  <a:close/>
                </a:path>
              </a:pathLst>
            </a:custGeom>
            <a:solidFill>
              <a:srgbClr val="000000"/>
            </a:solidFill>
            <a:ln w="1111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1" name="Picture 651"/>
            <p:cNvPicPr>
              <a:picLocks noChangeAspect="1" noChangeArrowheads="1"/>
            </p:cNvPicPr>
            <p:nvPr/>
          </p:nvPicPr>
          <p:blipFill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9813" y="1574800"/>
              <a:ext cx="584200" cy="303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" name="Freeform 652"/>
            <p:cNvSpPr>
              <a:spLocks/>
            </p:cNvSpPr>
            <p:nvPr/>
          </p:nvSpPr>
          <p:spPr bwMode="auto">
            <a:xfrm>
              <a:off x="2325688" y="1579563"/>
              <a:ext cx="550862" cy="280987"/>
            </a:xfrm>
            <a:custGeom>
              <a:avLst/>
              <a:gdLst>
                <a:gd name="T0" fmla="*/ 199 w 201"/>
                <a:gd name="T1" fmla="*/ 54 h 103"/>
                <a:gd name="T2" fmla="*/ 94 w 201"/>
                <a:gd name="T3" fmla="*/ 103 h 103"/>
                <a:gd name="T4" fmla="*/ 0 w 201"/>
                <a:gd name="T5" fmla="*/ 51 h 103"/>
                <a:gd name="T6" fmla="*/ 94 w 201"/>
                <a:gd name="T7" fmla="*/ 0 h 103"/>
                <a:gd name="T8" fmla="*/ 199 w 201"/>
                <a:gd name="T9" fmla="*/ 54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103">
                  <a:moveTo>
                    <a:pt x="199" y="54"/>
                  </a:moveTo>
                  <a:cubicBezTo>
                    <a:pt x="201" y="94"/>
                    <a:pt x="146" y="103"/>
                    <a:pt x="94" y="103"/>
                  </a:cubicBezTo>
                  <a:cubicBezTo>
                    <a:pt x="42" y="103"/>
                    <a:pt x="0" y="80"/>
                    <a:pt x="0" y="51"/>
                  </a:cubicBezTo>
                  <a:cubicBezTo>
                    <a:pt x="0" y="23"/>
                    <a:pt x="42" y="0"/>
                    <a:pt x="94" y="0"/>
                  </a:cubicBezTo>
                  <a:cubicBezTo>
                    <a:pt x="146" y="0"/>
                    <a:pt x="198" y="26"/>
                    <a:pt x="199" y="54"/>
                  </a:cubicBezTo>
                  <a:close/>
                </a:path>
              </a:pathLst>
            </a:custGeom>
            <a:noFill/>
            <a:ln w="111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3" name="Picture 653"/>
            <p:cNvPicPr>
              <a:picLocks noChangeAspect="1" noChangeArrowheads="1"/>
            </p:cNvPicPr>
            <p:nvPr/>
          </p:nvPicPr>
          <p:blipFill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5700" y="1570038"/>
              <a:ext cx="336550" cy="163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4" name="Freeform 654"/>
            <p:cNvSpPr>
              <a:spLocks/>
            </p:cNvSpPr>
            <p:nvPr/>
          </p:nvSpPr>
          <p:spPr bwMode="auto">
            <a:xfrm>
              <a:off x="2439988" y="1585913"/>
              <a:ext cx="301625" cy="130175"/>
            </a:xfrm>
            <a:custGeom>
              <a:avLst/>
              <a:gdLst>
                <a:gd name="T0" fmla="*/ 110 w 110"/>
                <a:gd name="T1" fmla="*/ 25 h 48"/>
                <a:gd name="T2" fmla="*/ 55 w 110"/>
                <a:gd name="T3" fmla="*/ 48 h 48"/>
                <a:gd name="T4" fmla="*/ 0 w 110"/>
                <a:gd name="T5" fmla="*/ 25 h 48"/>
                <a:gd name="T6" fmla="*/ 55 w 110"/>
                <a:gd name="T7" fmla="*/ 0 h 48"/>
                <a:gd name="T8" fmla="*/ 110 w 110"/>
                <a:gd name="T9" fmla="*/ 25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48">
                  <a:moveTo>
                    <a:pt x="110" y="25"/>
                  </a:moveTo>
                  <a:cubicBezTo>
                    <a:pt x="110" y="38"/>
                    <a:pt x="86" y="48"/>
                    <a:pt x="55" y="48"/>
                  </a:cubicBezTo>
                  <a:cubicBezTo>
                    <a:pt x="25" y="48"/>
                    <a:pt x="0" y="38"/>
                    <a:pt x="0" y="25"/>
                  </a:cubicBezTo>
                  <a:cubicBezTo>
                    <a:pt x="0" y="12"/>
                    <a:pt x="24" y="0"/>
                    <a:pt x="55" y="0"/>
                  </a:cubicBezTo>
                  <a:cubicBezTo>
                    <a:pt x="85" y="0"/>
                    <a:pt x="110" y="12"/>
                    <a:pt x="110" y="25"/>
                  </a:cubicBezTo>
                  <a:close/>
                </a:path>
              </a:pathLst>
            </a:custGeom>
            <a:noFill/>
            <a:ln w="111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5" name="Picture 655"/>
            <p:cNvPicPr>
              <a:picLocks noChangeAspect="1" noChangeArrowheads="1"/>
            </p:cNvPicPr>
            <p:nvPr/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1593850"/>
              <a:ext cx="155575" cy="98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" name="Oval 656"/>
            <p:cNvSpPr>
              <a:spLocks noChangeArrowheads="1"/>
            </p:cNvSpPr>
            <p:nvPr/>
          </p:nvSpPr>
          <p:spPr bwMode="auto">
            <a:xfrm>
              <a:off x="2530475" y="1609725"/>
              <a:ext cx="123825" cy="65088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" name="Line 657"/>
            <p:cNvSpPr>
              <a:spLocks noChangeShapeType="1"/>
            </p:cNvSpPr>
            <p:nvPr/>
          </p:nvSpPr>
          <p:spPr bwMode="auto">
            <a:xfrm flipV="1">
              <a:off x="1816101" y="2400300"/>
              <a:ext cx="12700" cy="238839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" name="Line 658"/>
            <p:cNvSpPr>
              <a:spLocks noChangeShapeType="1"/>
            </p:cNvSpPr>
            <p:nvPr/>
          </p:nvSpPr>
          <p:spPr bwMode="auto">
            <a:xfrm flipV="1">
              <a:off x="1979613" y="2400299"/>
              <a:ext cx="0" cy="239077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" name="Line 659"/>
            <p:cNvSpPr>
              <a:spLocks noChangeShapeType="1"/>
            </p:cNvSpPr>
            <p:nvPr/>
          </p:nvSpPr>
          <p:spPr bwMode="auto">
            <a:xfrm flipH="1" flipV="1">
              <a:off x="3214715" y="2400299"/>
              <a:ext cx="9498" cy="239077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" name="Line 660"/>
            <p:cNvSpPr>
              <a:spLocks noChangeShapeType="1"/>
            </p:cNvSpPr>
            <p:nvPr/>
          </p:nvSpPr>
          <p:spPr bwMode="auto">
            <a:xfrm flipV="1">
              <a:off x="3369482" y="2400300"/>
              <a:ext cx="7171" cy="240823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" name="Line 661"/>
            <p:cNvSpPr>
              <a:spLocks noChangeShapeType="1"/>
            </p:cNvSpPr>
            <p:nvPr/>
          </p:nvSpPr>
          <p:spPr bwMode="auto">
            <a:xfrm flipH="1">
              <a:off x="3541713" y="1984375"/>
              <a:ext cx="315913" cy="330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" name="Rectangle 662"/>
            <p:cNvSpPr>
              <a:spLocks noChangeArrowheads="1"/>
            </p:cNvSpPr>
            <p:nvPr/>
          </p:nvSpPr>
          <p:spPr bwMode="auto">
            <a:xfrm>
              <a:off x="3923275" y="1682202"/>
              <a:ext cx="830079" cy="196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354013" indent="-354013" algn="ctr" defTabSz="941388"/>
              <a:r>
                <a:rPr lang="ru-RU" sz="11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Сектор</a:t>
              </a:r>
            </a:p>
          </p:txBody>
        </p:sp>
        <p:sp>
          <p:nvSpPr>
            <p:cNvPr id="113" name="Line 663"/>
            <p:cNvSpPr>
              <a:spLocks noChangeShapeType="1"/>
            </p:cNvSpPr>
            <p:nvPr/>
          </p:nvSpPr>
          <p:spPr bwMode="auto">
            <a:xfrm>
              <a:off x="1330963" y="2264725"/>
              <a:ext cx="631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4" name="Rectangle 664"/>
            <p:cNvSpPr>
              <a:spLocks noChangeArrowheads="1"/>
            </p:cNvSpPr>
            <p:nvPr/>
          </p:nvSpPr>
          <p:spPr bwMode="auto">
            <a:xfrm>
              <a:off x="360749" y="2119301"/>
              <a:ext cx="852245" cy="196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354013" indent="-354013" algn="ctr" defTabSz="941388"/>
              <a:r>
                <a:rPr lang="ru-RU" sz="11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Дорожка</a:t>
              </a:r>
            </a:p>
          </p:txBody>
        </p:sp>
        <p:sp>
          <p:nvSpPr>
            <p:cNvPr id="115" name="Line 665"/>
            <p:cNvSpPr>
              <a:spLocks noChangeShapeType="1"/>
            </p:cNvSpPr>
            <p:nvPr/>
          </p:nvSpPr>
          <p:spPr bwMode="auto">
            <a:xfrm>
              <a:off x="912813" y="4305300"/>
              <a:ext cx="8429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6" name="Rectangle 666"/>
            <p:cNvSpPr>
              <a:spLocks noChangeArrowheads="1"/>
            </p:cNvSpPr>
            <p:nvPr/>
          </p:nvSpPr>
          <p:spPr bwMode="auto">
            <a:xfrm>
              <a:off x="-24199" y="4168730"/>
              <a:ext cx="962371" cy="196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354013" indent="-354013" algn="ctr" defTabSz="941388"/>
              <a:r>
                <a:rPr lang="ru-RU" sz="11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Цилиндр</a:t>
              </a:r>
            </a:p>
          </p:txBody>
        </p:sp>
        <p:sp>
          <p:nvSpPr>
            <p:cNvPr id="117" name="Rectangle 667"/>
            <p:cNvSpPr>
              <a:spLocks noChangeArrowheads="1"/>
            </p:cNvSpPr>
            <p:nvPr/>
          </p:nvSpPr>
          <p:spPr bwMode="auto">
            <a:xfrm>
              <a:off x="72038" y="1638733"/>
              <a:ext cx="1258925" cy="196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354013" indent="-354013" algn="ctr" defTabSz="941388"/>
              <a:r>
                <a:rPr lang="ru-RU" sz="11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Шпиндель</a:t>
              </a:r>
            </a:p>
          </p:txBody>
        </p:sp>
        <p:sp>
          <p:nvSpPr>
            <p:cNvPr id="118" name="Line 668"/>
            <p:cNvSpPr>
              <a:spLocks noChangeShapeType="1"/>
            </p:cNvSpPr>
            <p:nvPr/>
          </p:nvSpPr>
          <p:spPr bwMode="auto">
            <a:xfrm>
              <a:off x="1334295" y="1778000"/>
              <a:ext cx="116601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57200"/>
            <a:ext cx="8750300" cy="828675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  <a:latin typeface="Arial" pitchFamily="34" charset="0"/>
                <a:cs typeface="Arial" pitchFamily="34" charset="0"/>
              </a:rPr>
              <a:t>Адресация логического блока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A014065-CDA3-4740-B8BB-B0E05C9B1597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4101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grpSp>
        <p:nvGrpSpPr>
          <p:cNvPr id="7" name="Group 2"/>
          <p:cNvGrpSpPr/>
          <p:nvPr/>
        </p:nvGrpSpPr>
        <p:grpSpPr>
          <a:xfrm>
            <a:off x="500034" y="1357298"/>
            <a:ext cx="8215370" cy="4857784"/>
            <a:chOff x="1049272" y="824739"/>
            <a:chExt cx="6914161" cy="4126896"/>
          </a:xfrm>
        </p:grpSpPr>
        <p:sp>
          <p:nvSpPr>
            <p:cNvPr id="8" name="Freeform 696"/>
            <p:cNvSpPr>
              <a:spLocks/>
            </p:cNvSpPr>
            <p:nvPr/>
          </p:nvSpPr>
          <p:spPr bwMode="auto">
            <a:xfrm>
              <a:off x="2481556" y="2777197"/>
              <a:ext cx="1305" cy="0"/>
            </a:xfrm>
            <a:custGeom>
              <a:avLst/>
              <a:gdLst>
                <a:gd name="T0" fmla="*/ 4 w 4"/>
                <a:gd name="T1" fmla="*/ 1 h 1"/>
                <a:gd name="T2" fmla="*/ 1 w 4"/>
                <a:gd name="T3" fmla="*/ 0 h 1"/>
                <a:gd name="T4" fmla="*/ 0 w 4"/>
                <a:gd name="T5" fmla="*/ 1 h 1"/>
                <a:gd name="T6" fmla="*/ 4 w 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1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Freeform 697"/>
            <p:cNvSpPr>
              <a:spLocks/>
            </p:cNvSpPr>
            <p:nvPr/>
          </p:nvSpPr>
          <p:spPr bwMode="auto">
            <a:xfrm>
              <a:off x="2563780" y="2751094"/>
              <a:ext cx="1306" cy="1305"/>
            </a:xfrm>
            <a:custGeom>
              <a:avLst/>
              <a:gdLst>
                <a:gd name="T0" fmla="*/ 1 w 4"/>
                <a:gd name="T1" fmla="*/ 3 h 3"/>
                <a:gd name="T2" fmla="*/ 4 w 4"/>
                <a:gd name="T3" fmla="*/ 2 h 3"/>
                <a:gd name="T4" fmla="*/ 0 w 4"/>
                <a:gd name="T5" fmla="*/ 0 h 3"/>
                <a:gd name="T6" fmla="*/ 1 w 4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3">
                  <a:moveTo>
                    <a:pt x="1" y="3"/>
                  </a:moveTo>
                  <a:lnTo>
                    <a:pt x="4" y="2"/>
                  </a:lnTo>
                  <a:lnTo>
                    <a:pt x="0" y="0"/>
                  </a:lnTo>
                  <a:lnTo>
                    <a:pt x="1" y="3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Freeform 698"/>
            <p:cNvSpPr>
              <a:spLocks/>
            </p:cNvSpPr>
            <p:nvPr/>
          </p:nvSpPr>
          <p:spPr bwMode="auto">
            <a:xfrm>
              <a:off x="3139353" y="2396092"/>
              <a:ext cx="5221" cy="1305"/>
            </a:xfrm>
            <a:custGeom>
              <a:avLst/>
              <a:gdLst>
                <a:gd name="T0" fmla="*/ 12 w 12"/>
                <a:gd name="T1" fmla="*/ 4 h 4"/>
                <a:gd name="T2" fmla="*/ 0 w 12"/>
                <a:gd name="T3" fmla="*/ 0 h 4"/>
                <a:gd name="T4" fmla="*/ 11 w 12"/>
                <a:gd name="T5" fmla="*/ 4 h 4"/>
                <a:gd name="T6" fmla="*/ 12 w 12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4">
                  <a:moveTo>
                    <a:pt x="12" y="4"/>
                  </a:moveTo>
                  <a:lnTo>
                    <a:pt x="0" y="0"/>
                  </a:lnTo>
                  <a:lnTo>
                    <a:pt x="11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Freeform 699"/>
            <p:cNvSpPr>
              <a:spLocks/>
            </p:cNvSpPr>
            <p:nvPr/>
          </p:nvSpPr>
          <p:spPr bwMode="auto">
            <a:xfrm>
              <a:off x="3144574" y="2397397"/>
              <a:ext cx="0" cy="1306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0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Freeform 700"/>
            <p:cNvSpPr>
              <a:spLocks/>
            </p:cNvSpPr>
            <p:nvPr/>
          </p:nvSpPr>
          <p:spPr bwMode="auto">
            <a:xfrm>
              <a:off x="3084537" y="2431331"/>
              <a:ext cx="1305" cy="0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Freeform 701"/>
            <p:cNvSpPr>
              <a:spLocks/>
            </p:cNvSpPr>
            <p:nvPr/>
          </p:nvSpPr>
          <p:spPr bwMode="auto">
            <a:xfrm>
              <a:off x="3102809" y="2777197"/>
              <a:ext cx="0" cy="1305"/>
            </a:xfrm>
            <a:custGeom>
              <a:avLst/>
              <a:gdLst>
                <a:gd name="T0" fmla="*/ 2 w 2"/>
                <a:gd name="T1" fmla="*/ 4 h 4"/>
                <a:gd name="T2" fmla="*/ 2 w 2"/>
                <a:gd name="T3" fmla="*/ 0 h 4"/>
                <a:gd name="T4" fmla="*/ 0 w 2"/>
                <a:gd name="T5" fmla="*/ 2 h 4"/>
                <a:gd name="T6" fmla="*/ 2 w 2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Freeform 702"/>
            <p:cNvSpPr>
              <a:spLocks/>
            </p:cNvSpPr>
            <p:nvPr/>
          </p:nvSpPr>
          <p:spPr bwMode="auto">
            <a:xfrm>
              <a:off x="3102809" y="2777197"/>
              <a:ext cx="2610" cy="0"/>
            </a:xfrm>
            <a:custGeom>
              <a:avLst/>
              <a:gdLst>
                <a:gd name="T0" fmla="*/ 2 w 4"/>
                <a:gd name="T1" fmla="*/ 0 h 1"/>
                <a:gd name="T2" fmla="*/ 0 w 4"/>
                <a:gd name="T3" fmla="*/ 1 h 1"/>
                <a:gd name="T4" fmla="*/ 4 w 4"/>
                <a:gd name="T5" fmla="*/ 1 h 1"/>
                <a:gd name="T6" fmla="*/ 2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2" y="0"/>
                  </a:moveTo>
                  <a:lnTo>
                    <a:pt x="0" y="1"/>
                  </a:lnTo>
                  <a:lnTo>
                    <a:pt x="4" y="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" name="Freeform 703"/>
            <p:cNvSpPr>
              <a:spLocks/>
            </p:cNvSpPr>
            <p:nvPr/>
          </p:nvSpPr>
          <p:spPr bwMode="auto">
            <a:xfrm>
              <a:off x="2794792" y="2623189"/>
              <a:ext cx="1305" cy="0"/>
            </a:xfrm>
            <a:custGeom>
              <a:avLst/>
              <a:gdLst>
                <a:gd name="T0" fmla="*/ 0 w 3"/>
                <a:gd name="T1" fmla="*/ 1 h 1"/>
                <a:gd name="T2" fmla="*/ 3 w 3"/>
                <a:gd name="T3" fmla="*/ 1 h 1"/>
                <a:gd name="T4" fmla="*/ 0 w 3"/>
                <a:gd name="T5" fmla="*/ 0 h 1"/>
                <a:gd name="T6" fmla="*/ 0 w 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lnTo>
                    <a:pt x="3" y="1"/>
                  </a:ln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Rectangle 1293"/>
            <p:cNvSpPr>
              <a:spLocks noChangeArrowheads="1"/>
            </p:cNvSpPr>
            <p:nvPr/>
          </p:nvSpPr>
          <p:spPr bwMode="auto">
            <a:xfrm>
              <a:off x="2117497" y="4400550"/>
              <a:ext cx="1929499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354013" indent="-354013" algn="ctr" defTabSz="941388"/>
              <a:r>
                <a:rPr lang="ru-RU" sz="11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Физический адрес = CHS</a:t>
              </a:r>
            </a:p>
          </p:txBody>
        </p:sp>
        <p:pic>
          <p:nvPicPr>
            <p:cNvPr id="17" name="Picture 132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2253" y="3316225"/>
              <a:ext cx="1764568" cy="882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Freeform 1324"/>
            <p:cNvSpPr>
              <a:spLocks/>
            </p:cNvSpPr>
            <p:nvPr/>
          </p:nvSpPr>
          <p:spPr bwMode="auto">
            <a:xfrm>
              <a:off x="2207473" y="3331887"/>
              <a:ext cx="1755431" cy="852266"/>
            </a:xfrm>
            <a:custGeom>
              <a:avLst/>
              <a:gdLst>
                <a:gd name="T0" fmla="*/ 778 w 779"/>
                <a:gd name="T1" fmla="*/ 161 h 380"/>
                <a:gd name="T2" fmla="*/ 388 w 779"/>
                <a:gd name="T3" fmla="*/ 0 h 380"/>
                <a:gd name="T4" fmla="*/ 0 w 779"/>
                <a:gd name="T5" fmla="*/ 176 h 380"/>
                <a:gd name="T6" fmla="*/ 0 w 779"/>
                <a:gd name="T7" fmla="*/ 187 h 380"/>
                <a:gd name="T8" fmla="*/ 386 w 779"/>
                <a:gd name="T9" fmla="*/ 379 h 380"/>
                <a:gd name="T10" fmla="*/ 779 w 779"/>
                <a:gd name="T11" fmla="*/ 183 h 380"/>
                <a:gd name="T12" fmla="*/ 778 w 779"/>
                <a:gd name="T13" fmla="*/ 16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9" h="380">
                  <a:moveTo>
                    <a:pt x="778" y="161"/>
                  </a:moveTo>
                  <a:cubicBezTo>
                    <a:pt x="778" y="64"/>
                    <a:pt x="602" y="0"/>
                    <a:pt x="388" y="0"/>
                  </a:cubicBezTo>
                  <a:cubicBezTo>
                    <a:pt x="174" y="0"/>
                    <a:pt x="0" y="79"/>
                    <a:pt x="0" y="176"/>
                  </a:cubicBezTo>
                  <a:cubicBezTo>
                    <a:pt x="0" y="183"/>
                    <a:pt x="0" y="184"/>
                    <a:pt x="0" y="187"/>
                  </a:cubicBezTo>
                  <a:cubicBezTo>
                    <a:pt x="4" y="265"/>
                    <a:pt x="148" y="380"/>
                    <a:pt x="386" y="379"/>
                  </a:cubicBezTo>
                  <a:cubicBezTo>
                    <a:pt x="658" y="378"/>
                    <a:pt x="777" y="252"/>
                    <a:pt x="779" y="183"/>
                  </a:cubicBezTo>
                  <a:cubicBezTo>
                    <a:pt x="779" y="183"/>
                    <a:pt x="778" y="165"/>
                    <a:pt x="778" y="161"/>
                  </a:cubicBezTo>
                  <a:close/>
                </a:path>
              </a:pathLst>
            </a:custGeom>
            <a:noFill/>
            <a:ln w="111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9" name="Picture 132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2253" y="3237916"/>
              <a:ext cx="1764568" cy="929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Oval 1326"/>
            <p:cNvSpPr>
              <a:spLocks noChangeArrowheads="1"/>
            </p:cNvSpPr>
            <p:nvPr/>
          </p:nvSpPr>
          <p:spPr bwMode="auto">
            <a:xfrm>
              <a:off x="2210084" y="3254883"/>
              <a:ext cx="1743685" cy="897946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1" name="Picture 1327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9275" y="3296648"/>
              <a:ext cx="1549217" cy="801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Oval 1328"/>
            <p:cNvSpPr>
              <a:spLocks noChangeArrowheads="1"/>
            </p:cNvSpPr>
            <p:nvPr/>
          </p:nvSpPr>
          <p:spPr bwMode="auto">
            <a:xfrm>
              <a:off x="2324937" y="3311005"/>
              <a:ext cx="1516589" cy="772651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Oval 1329"/>
            <p:cNvSpPr>
              <a:spLocks noChangeArrowheads="1"/>
            </p:cNvSpPr>
            <p:nvPr/>
          </p:nvSpPr>
          <p:spPr bwMode="auto">
            <a:xfrm>
              <a:off x="2439791" y="3367127"/>
              <a:ext cx="1286882" cy="642136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4" name="Picture 1330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4644" y="3419333"/>
              <a:ext cx="1054564" cy="539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Oval 1331"/>
            <p:cNvSpPr>
              <a:spLocks noChangeArrowheads="1"/>
            </p:cNvSpPr>
            <p:nvPr/>
          </p:nvSpPr>
          <p:spPr bwMode="auto">
            <a:xfrm>
              <a:off x="2567696" y="3432384"/>
              <a:ext cx="1029766" cy="511620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6" name="Picture 133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5601" y="3491116"/>
              <a:ext cx="776566" cy="396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Oval 1333"/>
            <p:cNvSpPr>
              <a:spLocks noChangeArrowheads="1"/>
            </p:cNvSpPr>
            <p:nvPr/>
          </p:nvSpPr>
          <p:spPr bwMode="auto">
            <a:xfrm>
              <a:off x="2707347" y="3502863"/>
              <a:ext cx="747854" cy="371968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8" name="Picture 1334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3654" y="3863085"/>
              <a:ext cx="33934" cy="304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Line 1335"/>
            <p:cNvSpPr>
              <a:spLocks noChangeShapeType="1"/>
            </p:cNvSpPr>
            <p:nvPr/>
          </p:nvSpPr>
          <p:spPr bwMode="auto">
            <a:xfrm flipH="1">
              <a:off x="3076706" y="3874831"/>
              <a:ext cx="6525" cy="27799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30" name="Picture 1336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1044" y="3240526"/>
              <a:ext cx="27408" cy="275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" name="Line 1337"/>
            <p:cNvSpPr>
              <a:spLocks noChangeShapeType="1"/>
            </p:cNvSpPr>
            <p:nvPr/>
          </p:nvSpPr>
          <p:spPr bwMode="auto">
            <a:xfrm>
              <a:off x="3075400" y="3254883"/>
              <a:ext cx="0" cy="24797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32" name="Picture 1338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7369" y="3675143"/>
              <a:ext cx="519451" cy="27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Line 1339"/>
            <p:cNvSpPr>
              <a:spLocks noChangeShapeType="1"/>
            </p:cNvSpPr>
            <p:nvPr/>
          </p:nvSpPr>
          <p:spPr bwMode="auto">
            <a:xfrm>
              <a:off x="3460421" y="3688194"/>
              <a:ext cx="499874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34" name="Picture 1340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2253" y="3673837"/>
              <a:ext cx="520756" cy="27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Line 1341"/>
            <p:cNvSpPr>
              <a:spLocks noChangeShapeType="1"/>
            </p:cNvSpPr>
            <p:nvPr/>
          </p:nvSpPr>
          <p:spPr bwMode="auto">
            <a:xfrm>
              <a:off x="2207473" y="3688194"/>
              <a:ext cx="499874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Line 1342"/>
            <p:cNvSpPr>
              <a:spLocks noChangeShapeType="1"/>
            </p:cNvSpPr>
            <p:nvPr/>
          </p:nvSpPr>
          <p:spPr bwMode="auto">
            <a:xfrm flipH="1">
              <a:off x="2455452" y="3827845"/>
              <a:ext cx="373274" cy="19055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37" name="Picture 1343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1652" y="3376262"/>
              <a:ext cx="378495" cy="200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Line 1344"/>
            <p:cNvSpPr>
              <a:spLocks noChangeShapeType="1"/>
            </p:cNvSpPr>
            <p:nvPr/>
          </p:nvSpPr>
          <p:spPr bwMode="auto">
            <a:xfrm flipH="1">
              <a:off x="3356009" y="3388009"/>
              <a:ext cx="353696" cy="17750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39" name="Picture 1345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4588" y="3364516"/>
              <a:ext cx="378495" cy="202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Line 1346"/>
            <p:cNvSpPr>
              <a:spLocks noChangeShapeType="1"/>
            </p:cNvSpPr>
            <p:nvPr/>
          </p:nvSpPr>
          <p:spPr bwMode="auto">
            <a:xfrm flipH="1" flipV="1">
              <a:off x="2477640" y="3376262"/>
              <a:ext cx="353697" cy="17750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" name="Line 1347"/>
            <p:cNvSpPr>
              <a:spLocks noChangeShapeType="1"/>
            </p:cNvSpPr>
            <p:nvPr/>
          </p:nvSpPr>
          <p:spPr bwMode="auto">
            <a:xfrm>
              <a:off x="3361229" y="3814794"/>
              <a:ext cx="373274" cy="18533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2" name="Freeform 1348"/>
            <p:cNvSpPr>
              <a:spLocks/>
            </p:cNvSpPr>
            <p:nvPr/>
          </p:nvSpPr>
          <p:spPr bwMode="auto">
            <a:xfrm>
              <a:off x="3079316" y="3254883"/>
              <a:ext cx="623864" cy="168364"/>
            </a:xfrm>
            <a:custGeom>
              <a:avLst/>
              <a:gdLst>
                <a:gd name="T0" fmla="*/ 0 w 277"/>
                <a:gd name="T1" fmla="*/ 0 h 75"/>
                <a:gd name="T2" fmla="*/ 1 w 277"/>
                <a:gd name="T3" fmla="*/ 23 h 75"/>
                <a:gd name="T4" fmla="*/ 246 w 277"/>
                <a:gd name="T5" fmla="*/ 75 h 75"/>
                <a:gd name="T6" fmla="*/ 277 w 277"/>
                <a:gd name="T7" fmla="*/ 58 h 75"/>
                <a:gd name="T8" fmla="*/ 0 w 277"/>
                <a:gd name="T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75">
                  <a:moveTo>
                    <a:pt x="0" y="0"/>
                  </a:moveTo>
                  <a:cubicBezTo>
                    <a:pt x="0" y="0"/>
                    <a:pt x="1" y="15"/>
                    <a:pt x="1" y="23"/>
                  </a:cubicBezTo>
                  <a:cubicBezTo>
                    <a:pt x="44" y="23"/>
                    <a:pt x="149" y="27"/>
                    <a:pt x="246" y="75"/>
                  </a:cubicBezTo>
                  <a:cubicBezTo>
                    <a:pt x="260" y="67"/>
                    <a:pt x="277" y="58"/>
                    <a:pt x="277" y="58"/>
                  </a:cubicBezTo>
                  <a:cubicBezTo>
                    <a:pt x="277" y="58"/>
                    <a:pt x="17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43" name="Picture 1349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2716" y="3057805"/>
              <a:ext cx="263641" cy="707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Freeform 1350"/>
            <p:cNvSpPr>
              <a:spLocks/>
            </p:cNvSpPr>
            <p:nvPr/>
          </p:nvSpPr>
          <p:spPr bwMode="auto">
            <a:xfrm>
              <a:off x="2967073" y="3069552"/>
              <a:ext cx="236232" cy="681290"/>
            </a:xfrm>
            <a:custGeom>
              <a:avLst/>
              <a:gdLst>
                <a:gd name="T0" fmla="*/ 104 w 105"/>
                <a:gd name="T1" fmla="*/ 264 h 304"/>
                <a:gd name="T2" fmla="*/ 104 w 105"/>
                <a:gd name="T3" fmla="*/ 0 h 304"/>
                <a:gd name="T4" fmla="*/ 0 w 105"/>
                <a:gd name="T5" fmla="*/ 0 h 304"/>
                <a:gd name="T6" fmla="*/ 0 w 105"/>
                <a:gd name="T7" fmla="*/ 274 h 304"/>
                <a:gd name="T8" fmla="*/ 0 w 105"/>
                <a:gd name="T9" fmla="*/ 274 h 304"/>
                <a:gd name="T10" fmla="*/ 52 w 105"/>
                <a:gd name="T11" fmla="*/ 304 h 304"/>
                <a:gd name="T12" fmla="*/ 105 w 105"/>
                <a:gd name="T13" fmla="*/ 270 h 304"/>
                <a:gd name="T14" fmla="*/ 104 w 105"/>
                <a:gd name="T15" fmla="*/ 26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" h="304">
                  <a:moveTo>
                    <a:pt x="104" y="264"/>
                  </a:moveTo>
                  <a:cubicBezTo>
                    <a:pt x="104" y="0"/>
                    <a:pt x="104" y="0"/>
                    <a:pt x="1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4"/>
                    <a:pt x="0" y="274"/>
                    <a:pt x="0" y="274"/>
                  </a:cubicBezTo>
                  <a:cubicBezTo>
                    <a:pt x="0" y="274"/>
                    <a:pt x="0" y="274"/>
                    <a:pt x="0" y="274"/>
                  </a:cubicBezTo>
                  <a:cubicBezTo>
                    <a:pt x="3" y="291"/>
                    <a:pt x="25" y="304"/>
                    <a:pt x="52" y="304"/>
                  </a:cubicBezTo>
                  <a:cubicBezTo>
                    <a:pt x="81" y="304"/>
                    <a:pt x="105" y="289"/>
                    <a:pt x="105" y="270"/>
                  </a:cubicBezTo>
                  <a:cubicBezTo>
                    <a:pt x="105" y="268"/>
                    <a:pt x="104" y="266"/>
                    <a:pt x="104" y="264"/>
                  </a:cubicBezTo>
                  <a:close/>
                </a:path>
              </a:pathLst>
            </a:custGeom>
            <a:noFill/>
            <a:ln w="11113" cap="flat">
              <a:solidFill>
                <a:srgbClr val="A0BAB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45" name="Picture 1351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2253" y="2333445"/>
              <a:ext cx="1764568" cy="882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" name="Freeform 1352"/>
            <p:cNvSpPr>
              <a:spLocks/>
            </p:cNvSpPr>
            <p:nvPr/>
          </p:nvSpPr>
          <p:spPr bwMode="auto">
            <a:xfrm>
              <a:off x="2207473" y="2349107"/>
              <a:ext cx="1755431" cy="852265"/>
            </a:xfrm>
            <a:custGeom>
              <a:avLst/>
              <a:gdLst>
                <a:gd name="T0" fmla="*/ 778 w 779"/>
                <a:gd name="T1" fmla="*/ 161 h 380"/>
                <a:gd name="T2" fmla="*/ 388 w 779"/>
                <a:gd name="T3" fmla="*/ 0 h 380"/>
                <a:gd name="T4" fmla="*/ 0 w 779"/>
                <a:gd name="T5" fmla="*/ 176 h 380"/>
                <a:gd name="T6" fmla="*/ 0 w 779"/>
                <a:gd name="T7" fmla="*/ 187 h 380"/>
                <a:gd name="T8" fmla="*/ 386 w 779"/>
                <a:gd name="T9" fmla="*/ 379 h 380"/>
                <a:gd name="T10" fmla="*/ 779 w 779"/>
                <a:gd name="T11" fmla="*/ 183 h 380"/>
                <a:gd name="T12" fmla="*/ 778 w 779"/>
                <a:gd name="T13" fmla="*/ 16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9" h="380">
                  <a:moveTo>
                    <a:pt x="778" y="161"/>
                  </a:moveTo>
                  <a:cubicBezTo>
                    <a:pt x="778" y="64"/>
                    <a:pt x="602" y="0"/>
                    <a:pt x="388" y="0"/>
                  </a:cubicBezTo>
                  <a:cubicBezTo>
                    <a:pt x="174" y="0"/>
                    <a:pt x="0" y="79"/>
                    <a:pt x="0" y="176"/>
                  </a:cubicBezTo>
                  <a:cubicBezTo>
                    <a:pt x="0" y="183"/>
                    <a:pt x="0" y="184"/>
                    <a:pt x="0" y="187"/>
                  </a:cubicBezTo>
                  <a:cubicBezTo>
                    <a:pt x="4" y="265"/>
                    <a:pt x="148" y="380"/>
                    <a:pt x="386" y="379"/>
                  </a:cubicBezTo>
                  <a:cubicBezTo>
                    <a:pt x="658" y="378"/>
                    <a:pt x="777" y="252"/>
                    <a:pt x="779" y="183"/>
                  </a:cubicBezTo>
                  <a:cubicBezTo>
                    <a:pt x="779" y="183"/>
                    <a:pt x="778" y="165"/>
                    <a:pt x="778" y="161"/>
                  </a:cubicBezTo>
                  <a:close/>
                </a:path>
              </a:pathLst>
            </a:custGeom>
            <a:noFill/>
            <a:ln w="111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47" name="Picture 1353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2253" y="2255136"/>
              <a:ext cx="1764568" cy="929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" name="Oval 1354"/>
            <p:cNvSpPr>
              <a:spLocks noChangeArrowheads="1"/>
            </p:cNvSpPr>
            <p:nvPr/>
          </p:nvSpPr>
          <p:spPr bwMode="auto">
            <a:xfrm>
              <a:off x="2210084" y="2272102"/>
              <a:ext cx="1743685" cy="897946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49" name="Picture 1355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9275" y="2313867"/>
              <a:ext cx="1549217" cy="801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Oval 1356"/>
            <p:cNvSpPr>
              <a:spLocks noChangeArrowheads="1"/>
            </p:cNvSpPr>
            <p:nvPr/>
          </p:nvSpPr>
          <p:spPr bwMode="auto">
            <a:xfrm>
              <a:off x="2324937" y="2328224"/>
              <a:ext cx="1516589" cy="772651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" name="Oval 1357"/>
            <p:cNvSpPr>
              <a:spLocks noChangeArrowheads="1"/>
            </p:cNvSpPr>
            <p:nvPr/>
          </p:nvSpPr>
          <p:spPr bwMode="auto">
            <a:xfrm>
              <a:off x="2439791" y="2384345"/>
              <a:ext cx="1286882" cy="642136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52" name="Picture 1358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4644" y="2436552"/>
              <a:ext cx="1054564" cy="539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" name="Oval 1359"/>
            <p:cNvSpPr>
              <a:spLocks noChangeArrowheads="1"/>
            </p:cNvSpPr>
            <p:nvPr/>
          </p:nvSpPr>
          <p:spPr bwMode="auto">
            <a:xfrm>
              <a:off x="2567696" y="2449603"/>
              <a:ext cx="1029766" cy="511620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54" name="Picture 1360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5601" y="2508335"/>
              <a:ext cx="776566" cy="396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Oval 1361"/>
            <p:cNvSpPr>
              <a:spLocks noChangeArrowheads="1"/>
            </p:cNvSpPr>
            <p:nvPr/>
          </p:nvSpPr>
          <p:spPr bwMode="auto">
            <a:xfrm>
              <a:off x="2707347" y="2518777"/>
              <a:ext cx="747854" cy="373274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56" name="Picture 136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3654" y="2880304"/>
              <a:ext cx="33934" cy="302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" name="Line 1363"/>
            <p:cNvSpPr>
              <a:spLocks noChangeShapeType="1"/>
            </p:cNvSpPr>
            <p:nvPr/>
          </p:nvSpPr>
          <p:spPr bwMode="auto">
            <a:xfrm flipH="1">
              <a:off x="3076706" y="2892051"/>
              <a:ext cx="6525" cy="27799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58" name="Picture 1364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1044" y="2256440"/>
              <a:ext cx="27408" cy="276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" name="Line 1365"/>
            <p:cNvSpPr>
              <a:spLocks noChangeShapeType="1"/>
            </p:cNvSpPr>
            <p:nvPr/>
          </p:nvSpPr>
          <p:spPr bwMode="auto">
            <a:xfrm>
              <a:off x="3075400" y="2272102"/>
              <a:ext cx="0" cy="24667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60" name="Picture 1366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7369" y="2692362"/>
              <a:ext cx="519451" cy="27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" name="Line 1367"/>
            <p:cNvSpPr>
              <a:spLocks noChangeShapeType="1"/>
            </p:cNvSpPr>
            <p:nvPr/>
          </p:nvSpPr>
          <p:spPr bwMode="auto">
            <a:xfrm>
              <a:off x="3460421" y="2705413"/>
              <a:ext cx="499874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62" name="Picture 1368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2253" y="2691057"/>
              <a:ext cx="520756" cy="27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" name="Line 1369"/>
            <p:cNvSpPr>
              <a:spLocks noChangeShapeType="1"/>
            </p:cNvSpPr>
            <p:nvPr/>
          </p:nvSpPr>
          <p:spPr bwMode="auto">
            <a:xfrm>
              <a:off x="2207473" y="2705413"/>
              <a:ext cx="499874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Line 1370"/>
            <p:cNvSpPr>
              <a:spLocks noChangeShapeType="1"/>
            </p:cNvSpPr>
            <p:nvPr/>
          </p:nvSpPr>
          <p:spPr bwMode="auto">
            <a:xfrm flipH="1">
              <a:off x="2455452" y="2845065"/>
              <a:ext cx="373274" cy="19055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65" name="Picture 1371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1652" y="2393482"/>
              <a:ext cx="378495" cy="200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Line 1372"/>
            <p:cNvSpPr>
              <a:spLocks noChangeShapeType="1"/>
            </p:cNvSpPr>
            <p:nvPr/>
          </p:nvSpPr>
          <p:spPr bwMode="auto">
            <a:xfrm flipH="1">
              <a:off x="3356009" y="2405228"/>
              <a:ext cx="353696" cy="17750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67" name="Picture 1373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4588" y="2381735"/>
              <a:ext cx="378495" cy="200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" name="Line 1374"/>
            <p:cNvSpPr>
              <a:spLocks noChangeShapeType="1"/>
            </p:cNvSpPr>
            <p:nvPr/>
          </p:nvSpPr>
          <p:spPr bwMode="auto">
            <a:xfrm flipH="1" flipV="1">
              <a:off x="2477640" y="2393482"/>
              <a:ext cx="353697" cy="17750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9" name="Line 1375"/>
            <p:cNvSpPr>
              <a:spLocks noChangeShapeType="1"/>
            </p:cNvSpPr>
            <p:nvPr/>
          </p:nvSpPr>
          <p:spPr bwMode="auto">
            <a:xfrm>
              <a:off x="3361229" y="2830708"/>
              <a:ext cx="373274" cy="18663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0" name="Freeform 1376"/>
            <p:cNvSpPr>
              <a:spLocks/>
            </p:cNvSpPr>
            <p:nvPr/>
          </p:nvSpPr>
          <p:spPr bwMode="auto">
            <a:xfrm>
              <a:off x="3079316" y="2272102"/>
              <a:ext cx="623864" cy="168365"/>
            </a:xfrm>
            <a:custGeom>
              <a:avLst/>
              <a:gdLst>
                <a:gd name="T0" fmla="*/ 0 w 277"/>
                <a:gd name="T1" fmla="*/ 0 h 75"/>
                <a:gd name="T2" fmla="*/ 1 w 277"/>
                <a:gd name="T3" fmla="*/ 23 h 75"/>
                <a:gd name="T4" fmla="*/ 246 w 277"/>
                <a:gd name="T5" fmla="*/ 75 h 75"/>
                <a:gd name="T6" fmla="*/ 277 w 277"/>
                <a:gd name="T7" fmla="*/ 58 h 75"/>
                <a:gd name="T8" fmla="*/ 0 w 277"/>
                <a:gd name="T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75">
                  <a:moveTo>
                    <a:pt x="0" y="0"/>
                  </a:moveTo>
                  <a:cubicBezTo>
                    <a:pt x="0" y="0"/>
                    <a:pt x="1" y="15"/>
                    <a:pt x="1" y="23"/>
                  </a:cubicBezTo>
                  <a:cubicBezTo>
                    <a:pt x="44" y="23"/>
                    <a:pt x="149" y="27"/>
                    <a:pt x="246" y="75"/>
                  </a:cubicBezTo>
                  <a:cubicBezTo>
                    <a:pt x="260" y="67"/>
                    <a:pt x="277" y="58"/>
                    <a:pt x="277" y="58"/>
                  </a:cubicBezTo>
                  <a:cubicBezTo>
                    <a:pt x="277" y="58"/>
                    <a:pt x="17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1" name="Picture 1377"/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2716" y="2072414"/>
              <a:ext cx="263641" cy="707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" name="Freeform 1378"/>
            <p:cNvSpPr>
              <a:spLocks/>
            </p:cNvSpPr>
            <p:nvPr/>
          </p:nvSpPr>
          <p:spPr bwMode="auto">
            <a:xfrm>
              <a:off x="2967073" y="2084160"/>
              <a:ext cx="236232" cy="682596"/>
            </a:xfrm>
            <a:custGeom>
              <a:avLst/>
              <a:gdLst>
                <a:gd name="T0" fmla="*/ 104 w 105"/>
                <a:gd name="T1" fmla="*/ 264 h 304"/>
                <a:gd name="T2" fmla="*/ 104 w 105"/>
                <a:gd name="T3" fmla="*/ 0 h 304"/>
                <a:gd name="T4" fmla="*/ 0 w 105"/>
                <a:gd name="T5" fmla="*/ 0 h 304"/>
                <a:gd name="T6" fmla="*/ 0 w 105"/>
                <a:gd name="T7" fmla="*/ 274 h 304"/>
                <a:gd name="T8" fmla="*/ 0 w 105"/>
                <a:gd name="T9" fmla="*/ 274 h 304"/>
                <a:gd name="T10" fmla="*/ 52 w 105"/>
                <a:gd name="T11" fmla="*/ 304 h 304"/>
                <a:gd name="T12" fmla="*/ 105 w 105"/>
                <a:gd name="T13" fmla="*/ 270 h 304"/>
                <a:gd name="T14" fmla="*/ 104 w 105"/>
                <a:gd name="T15" fmla="*/ 26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" h="304">
                  <a:moveTo>
                    <a:pt x="104" y="264"/>
                  </a:moveTo>
                  <a:cubicBezTo>
                    <a:pt x="104" y="0"/>
                    <a:pt x="104" y="0"/>
                    <a:pt x="1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4"/>
                    <a:pt x="0" y="274"/>
                    <a:pt x="0" y="274"/>
                  </a:cubicBezTo>
                  <a:cubicBezTo>
                    <a:pt x="0" y="274"/>
                    <a:pt x="0" y="274"/>
                    <a:pt x="0" y="274"/>
                  </a:cubicBezTo>
                  <a:cubicBezTo>
                    <a:pt x="3" y="291"/>
                    <a:pt x="25" y="304"/>
                    <a:pt x="52" y="304"/>
                  </a:cubicBezTo>
                  <a:cubicBezTo>
                    <a:pt x="81" y="304"/>
                    <a:pt x="105" y="289"/>
                    <a:pt x="105" y="270"/>
                  </a:cubicBezTo>
                  <a:cubicBezTo>
                    <a:pt x="105" y="268"/>
                    <a:pt x="104" y="266"/>
                    <a:pt x="104" y="264"/>
                  </a:cubicBezTo>
                  <a:close/>
                </a:path>
              </a:pathLst>
            </a:custGeom>
            <a:noFill/>
            <a:ln w="11113" cap="flat">
              <a:solidFill>
                <a:srgbClr val="A0BAB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3" name="Picture 1379"/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2253" y="1342833"/>
              <a:ext cx="1764568" cy="882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" name="Freeform 1380"/>
            <p:cNvSpPr>
              <a:spLocks/>
            </p:cNvSpPr>
            <p:nvPr/>
          </p:nvSpPr>
          <p:spPr bwMode="auto">
            <a:xfrm>
              <a:off x="2207473" y="1358495"/>
              <a:ext cx="1755431" cy="853571"/>
            </a:xfrm>
            <a:custGeom>
              <a:avLst/>
              <a:gdLst>
                <a:gd name="T0" fmla="*/ 778 w 779"/>
                <a:gd name="T1" fmla="*/ 161 h 380"/>
                <a:gd name="T2" fmla="*/ 388 w 779"/>
                <a:gd name="T3" fmla="*/ 0 h 380"/>
                <a:gd name="T4" fmla="*/ 0 w 779"/>
                <a:gd name="T5" fmla="*/ 176 h 380"/>
                <a:gd name="T6" fmla="*/ 0 w 779"/>
                <a:gd name="T7" fmla="*/ 187 h 380"/>
                <a:gd name="T8" fmla="*/ 386 w 779"/>
                <a:gd name="T9" fmla="*/ 379 h 380"/>
                <a:gd name="T10" fmla="*/ 779 w 779"/>
                <a:gd name="T11" fmla="*/ 183 h 380"/>
                <a:gd name="T12" fmla="*/ 778 w 779"/>
                <a:gd name="T13" fmla="*/ 16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9" h="380">
                  <a:moveTo>
                    <a:pt x="778" y="161"/>
                  </a:moveTo>
                  <a:cubicBezTo>
                    <a:pt x="778" y="64"/>
                    <a:pt x="602" y="0"/>
                    <a:pt x="388" y="0"/>
                  </a:cubicBezTo>
                  <a:cubicBezTo>
                    <a:pt x="174" y="0"/>
                    <a:pt x="0" y="79"/>
                    <a:pt x="0" y="176"/>
                  </a:cubicBezTo>
                  <a:cubicBezTo>
                    <a:pt x="0" y="183"/>
                    <a:pt x="0" y="183"/>
                    <a:pt x="0" y="187"/>
                  </a:cubicBezTo>
                  <a:cubicBezTo>
                    <a:pt x="4" y="265"/>
                    <a:pt x="148" y="380"/>
                    <a:pt x="386" y="379"/>
                  </a:cubicBezTo>
                  <a:cubicBezTo>
                    <a:pt x="658" y="378"/>
                    <a:pt x="777" y="252"/>
                    <a:pt x="779" y="183"/>
                  </a:cubicBezTo>
                  <a:cubicBezTo>
                    <a:pt x="779" y="182"/>
                    <a:pt x="778" y="165"/>
                    <a:pt x="778" y="161"/>
                  </a:cubicBezTo>
                  <a:close/>
                </a:path>
              </a:pathLst>
            </a:custGeom>
            <a:noFill/>
            <a:ln w="111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5" name="Picture 1381"/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2253" y="1265829"/>
              <a:ext cx="1764568" cy="9279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Oval 1382"/>
            <p:cNvSpPr>
              <a:spLocks noChangeArrowheads="1"/>
            </p:cNvSpPr>
            <p:nvPr/>
          </p:nvSpPr>
          <p:spPr bwMode="auto">
            <a:xfrm>
              <a:off x="2210084" y="1282796"/>
              <a:ext cx="1743685" cy="897946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7" name="Picture 1383"/>
            <p:cNvPicPr>
              <a:picLocks noChangeAspect="1" noChangeArrowheads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9275" y="1323256"/>
              <a:ext cx="1549217" cy="801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" name="Oval 1384"/>
            <p:cNvSpPr>
              <a:spLocks noChangeArrowheads="1"/>
            </p:cNvSpPr>
            <p:nvPr/>
          </p:nvSpPr>
          <p:spPr bwMode="auto">
            <a:xfrm>
              <a:off x="2324937" y="1338918"/>
              <a:ext cx="1516589" cy="771345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9" name="Oval 1385"/>
            <p:cNvSpPr>
              <a:spLocks noChangeArrowheads="1"/>
            </p:cNvSpPr>
            <p:nvPr/>
          </p:nvSpPr>
          <p:spPr bwMode="auto">
            <a:xfrm>
              <a:off x="2439791" y="1395039"/>
              <a:ext cx="1286882" cy="642136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80" name="Picture 1386"/>
            <p:cNvPicPr>
              <a:picLocks noChangeAspect="1" noChangeArrowheads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4644" y="1445940"/>
              <a:ext cx="1054564" cy="539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Oval 1387"/>
            <p:cNvSpPr>
              <a:spLocks noChangeArrowheads="1"/>
            </p:cNvSpPr>
            <p:nvPr/>
          </p:nvSpPr>
          <p:spPr bwMode="auto">
            <a:xfrm>
              <a:off x="2567696" y="1460297"/>
              <a:ext cx="1029766" cy="511620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82" name="Picture 1388"/>
            <p:cNvPicPr>
              <a:picLocks noChangeAspect="1" noChangeArrowheads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5601" y="1517723"/>
              <a:ext cx="776566" cy="398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" name="Oval 1389"/>
            <p:cNvSpPr>
              <a:spLocks noChangeArrowheads="1"/>
            </p:cNvSpPr>
            <p:nvPr/>
          </p:nvSpPr>
          <p:spPr bwMode="auto">
            <a:xfrm>
              <a:off x="2707347" y="1529470"/>
              <a:ext cx="747854" cy="373274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84" name="Picture 1390"/>
            <p:cNvPicPr>
              <a:picLocks noChangeAspect="1" noChangeArrowheads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3654" y="1890997"/>
              <a:ext cx="33934" cy="302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" name="Line 1391"/>
            <p:cNvSpPr>
              <a:spLocks noChangeShapeType="1"/>
            </p:cNvSpPr>
            <p:nvPr/>
          </p:nvSpPr>
          <p:spPr bwMode="auto">
            <a:xfrm flipH="1">
              <a:off x="3076706" y="1902744"/>
              <a:ext cx="6525" cy="27799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86" name="Picture 1392"/>
            <p:cNvPicPr>
              <a:picLocks noChangeAspect="1" noChangeArrowheads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1044" y="1267134"/>
              <a:ext cx="27408" cy="275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" name="Line 1393"/>
            <p:cNvSpPr>
              <a:spLocks noChangeShapeType="1"/>
            </p:cNvSpPr>
            <p:nvPr/>
          </p:nvSpPr>
          <p:spPr bwMode="auto">
            <a:xfrm>
              <a:off x="3075400" y="1282796"/>
              <a:ext cx="0" cy="24667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88" name="Picture 1394"/>
            <p:cNvPicPr>
              <a:picLocks noChangeAspect="1" noChangeArrowheads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7369" y="1701750"/>
              <a:ext cx="519451" cy="27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Line 1395"/>
            <p:cNvSpPr>
              <a:spLocks noChangeShapeType="1"/>
            </p:cNvSpPr>
            <p:nvPr/>
          </p:nvSpPr>
          <p:spPr bwMode="auto">
            <a:xfrm>
              <a:off x="3460421" y="1716107"/>
              <a:ext cx="499874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90" name="Picture 1396"/>
            <p:cNvPicPr>
              <a:picLocks noChangeAspect="1" noChangeArrowheads="1"/>
            </p:cNvPicPr>
            <p:nvPr/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2253" y="1701750"/>
              <a:ext cx="520756" cy="26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" name="Line 1397"/>
            <p:cNvSpPr>
              <a:spLocks noChangeShapeType="1"/>
            </p:cNvSpPr>
            <p:nvPr/>
          </p:nvSpPr>
          <p:spPr bwMode="auto">
            <a:xfrm>
              <a:off x="2207473" y="1713496"/>
              <a:ext cx="499874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2" name="Line 1398"/>
            <p:cNvSpPr>
              <a:spLocks noChangeShapeType="1"/>
            </p:cNvSpPr>
            <p:nvPr/>
          </p:nvSpPr>
          <p:spPr bwMode="auto">
            <a:xfrm flipH="1">
              <a:off x="2455452" y="1854453"/>
              <a:ext cx="373274" cy="19185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93" name="Picture 1399"/>
            <p:cNvPicPr>
              <a:picLocks noChangeAspect="1" noChangeArrowheads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1652" y="1402870"/>
              <a:ext cx="378495" cy="202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" name="Line 1400"/>
            <p:cNvSpPr>
              <a:spLocks noChangeShapeType="1"/>
            </p:cNvSpPr>
            <p:nvPr/>
          </p:nvSpPr>
          <p:spPr bwMode="auto">
            <a:xfrm flipH="1">
              <a:off x="3356009" y="1414617"/>
              <a:ext cx="353696" cy="17619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95" name="Picture 1401"/>
            <p:cNvPicPr>
              <a:picLocks noChangeAspect="1" noChangeArrowheads="1"/>
            </p:cNvPicPr>
            <p:nvPr/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4588" y="1391124"/>
              <a:ext cx="378495" cy="202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6" name="Line 1402"/>
            <p:cNvSpPr>
              <a:spLocks noChangeShapeType="1"/>
            </p:cNvSpPr>
            <p:nvPr/>
          </p:nvSpPr>
          <p:spPr bwMode="auto">
            <a:xfrm flipH="1" flipV="1">
              <a:off x="2477640" y="1404175"/>
              <a:ext cx="353697" cy="17489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7" name="Line 1403"/>
            <p:cNvSpPr>
              <a:spLocks noChangeShapeType="1"/>
            </p:cNvSpPr>
            <p:nvPr/>
          </p:nvSpPr>
          <p:spPr bwMode="auto">
            <a:xfrm>
              <a:off x="3361229" y="1841402"/>
              <a:ext cx="373274" cy="18663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8" name="Freeform 1404"/>
            <p:cNvSpPr>
              <a:spLocks/>
            </p:cNvSpPr>
            <p:nvPr/>
          </p:nvSpPr>
          <p:spPr bwMode="auto">
            <a:xfrm>
              <a:off x="3079316" y="1282796"/>
              <a:ext cx="623864" cy="168365"/>
            </a:xfrm>
            <a:custGeom>
              <a:avLst/>
              <a:gdLst>
                <a:gd name="T0" fmla="*/ 0 w 277"/>
                <a:gd name="T1" fmla="*/ 0 h 75"/>
                <a:gd name="T2" fmla="*/ 1 w 277"/>
                <a:gd name="T3" fmla="*/ 23 h 75"/>
                <a:gd name="T4" fmla="*/ 246 w 277"/>
                <a:gd name="T5" fmla="*/ 75 h 75"/>
                <a:gd name="T6" fmla="*/ 277 w 277"/>
                <a:gd name="T7" fmla="*/ 58 h 75"/>
                <a:gd name="T8" fmla="*/ 0 w 277"/>
                <a:gd name="T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75">
                  <a:moveTo>
                    <a:pt x="0" y="0"/>
                  </a:moveTo>
                  <a:cubicBezTo>
                    <a:pt x="0" y="0"/>
                    <a:pt x="1" y="15"/>
                    <a:pt x="1" y="23"/>
                  </a:cubicBezTo>
                  <a:cubicBezTo>
                    <a:pt x="44" y="23"/>
                    <a:pt x="149" y="27"/>
                    <a:pt x="246" y="75"/>
                  </a:cubicBezTo>
                  <a:cubicBezTo>
                    <a:pt x="260" y="67"/>
                    <a:pt x="277" y="58"/>
                    <a:pt x="277" y="58"/>
                  </a:cubicBezTo>
                  <a:cubicBezTo>
                    <a:pt x="277" y="58"/>
                    <a:pt x="17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99" name="Picture 1405"/>
            <p:cNvPicPr>
              <a:picLocks noChangeAspect="1" noChangeArrowheads="1"/>
            </p:cNvPicPr>
            <p:nvPr/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2716" y="1107905"/>
              <a:ext cx="263641" cy="713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0" name="Freeform 1406"/>
            <p:cNvSpPr>
              <a:spLocks/>
            </p:cNvSpPr>
            <p:nvPr/>
          </p:nvSpPr>
          <p:spPr bwMode="auto">
            <a:xfrm>
              <a:off x="2967073" y="1118346"/>
              <a:ext cx="236232" cy="689121"/>
            </a:xfrm>
            <a:custGeom>
              <a:avLst/>
              <a:gdLst>
                <a:gd name="T0" fmla="*/ 104 w 105"/>
                <a:gd name="T1" fmla="*/ 269 h 307"/>
                <a:gd name="T2" fmla="*/ 104 w 105"/>
                <a:gd name="T3" fmla="*/ 0 h 307"/>
                <a:gd name="T4" fmla="*/ 0 w 105"/>
                <a:gd name="T5" fmla="*/ 0 h 307"/>
                <a:gd name="T6" fmla="*/ 0 w 105"/>
                <a:gd name="T7" fmla="*/ 269 h 307"/>
                <a:gd name="T8" fmla="*/ 0 w 105"/>
                <a:gd name="T9" fmla="*/ 273 h 307"/>
                <a:gd name="T10" fmla="*/ 52 w 105"/>
                <a:gd name="T11" fmla="*/ 307 h 307"/>
                <a:gd name="T12" fmla="*/ 105 w 105"/>
                <a:gd name="T13" fmla="*/ 273 h 307"/>
                <a:gd name="T14" fmla="*/ 104 w 105"/>
                <a:gd name="T15" fmla="*/ 269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" h="307">
                  <a:moveTo>
                    <a:pt x="104" y="269"/>
                  </a:moveTo>
                  <a:cubicBezTo>
                    <a:pt x="104" y="0"/>
                    <a:pt x="104" y="0"/>
                    <a:pt x="1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69"/>
                    <a:pt x="0" y="269"/>
                    <a:pt x="0" y="269"/>
                  </a:cubicBezTo>
                  <a:cubicBezTo>
                    <a:pt x="0" y="271"/>
                    <a:pt x="0" y="272"/>
                    <a:pt x="0" y="273"/>
                  </a:cubicBezTo>
                  <a:cubicBezTo>
                    <a:pt x="0" y="292"/>
                    <a:pt x="23" y="307"/>
                    <a:pt x="52" y="307"/>
                  </a:cubicBezTo>
                  <a:cubicBezTo>
                    <a:pt x="81" y="307"/>
                    <a:pt x="105" y="292"/>
                    <a:pt x="105" y="273"/>
                  </a:cubicBezTo>
                  <a:cubicBezTo>
                    <a:pt x="105" y="272"/>
                    <a:pt x="105" y="271"/>
                    <a:pt x="104" y="269"/>
                  </a:cubicBezTo>
                  <a:close/>
                </a:path>
              </a:pathLst>
            </a:custGeom>
            <a:noFill/>
            <a:ln w="11113" cap="flat">
              <a:solidFill>
                <a:srgbClr val="A0BAB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1" name="Freeform 1407"/>
            <p:cNvSpPr>
              <a:spLocks/>
            </p:cNvSpPr>
            <p:nvPr/>
          </p:nvSpPr>
          <p:spPr bwMode="auto">
            <a:xfrm>
              <a:off x="2861355" y="1058309"/>
              <a:ext cx="452889" cy="233623"/>
            </a:xfrm>
            <a:custGeom>
              <a:avLst/>
              <a:gdLst>
                <a:gd name="T0" fmla="*/ 199 w 201"/>
                <a:gd name="T1" fmla="*/ 55 h 104"/>
                <a:gd name="T2" fmla="*/ 94 w 201"/>
                <a:gd name="T3" fmla="*/ 104 h 104"/>
                <a:gd name="T4" fmla="*/ 0 w 201"/>
                <a:gd name="T5" fmla="*/ 52 h 104"/>
                <a:gd name="T6" fmla="*/ 94 w 201"/>
                <a:gd name="T7" fmla="*/ 0 h 104"/>
                <a:gd name="T8" fmla="*/ 199 w 201"/>
                <a:gd name="T9" fmla="*/ 5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104">
                  <a:moveTo>
                    <a:pt x="199" y="55"/>
                  </a:moveTo>
                  <a:cubicBezTo>
                    <a:pt x="201" y="95"/>
                    <a:pt x="146" y="104"/>
                    <a:pt x="94" y="104"/>
                  </a:cubicBezTo>
                  <a:cubicBezTo>
                    <a:pt x="42" y="104"/>
                    <a:pt x="0" y="81"/>
                    <a:pt x="0" y="52"/>
                  </a:cubicBezTo>
                  <a:cubicBezTo>
                    <a:pt x="0" y="23"/>
                    <a:pt x="42" y="0"/>
                    <a:pt x="94" y="0"/>
                  </a:cubicBezTo>
                  <a:cubicBezTo>
                    <a:pt x="146" y="0"/>
                    <a:pt x="198" y="26"/>
                    <a:pt x="199" y="55"/>
                  </a:cubicBezTo>
                  <a:close/>
                </a:path>
              </a:pathLst>
            </a:custGeom>
            <a:solidFill>
              <a:srgbClr val="000000"/>
            </a:solidFill>
            <a:ln w="1111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" name="Picture 1408"/>
            <p:cNvPicPr>
              <a:picLocks noChangeAspect="1" noChangeArrowheads="1"/>
            </p:cNvPicPr>
            <p:nvPr/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5693" y="1045258"/>
              <a:ext cx="480297" cy="249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" name="Freeform 1409"/>
            <p:cNvSpPr>
              <a:spLocks/>
            </p:cNvSpPr>
            <p:nvPr/>
          </p:nvSpPr>
          <p:spPr bwMode="auto">
            <a:xfrm>
              <a:off x="2858745" y="1049174"/>
              <a:ext cx="452889" cy="231012"/>
            </a:xfrm>
            <a:custGeom>
              <a:avLst/>
              <a:gdLst>
                <a:gd name="T0" fmla="*/ 199 w 201"/>
                <a:gd name="T1" fmla="*/ 54 h 103"/>
                <a:gd name="T2" fmla="*/ 94 w 201"/>
                <a:gd name="T3" fmla="*/ 103 h 103"/>
                <a:gd name="T4" fmla="*/ 0 w 201"/>
                <a:gd name="T5" fmla="*/ 51 h 103"/>
                <a:gd name="T6" fmla="*/ 94 w 201"/>
                <a:gd name="T7" fmla="*/ 0 h 103"/>
                <a:gd name="T8" fmla="*/ 199 w 201"/>
                <a:gd name="T9" fmla="*/ 54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103">
                  <a:moveTo>
                    <a:pt x="199" y="54"/>
                  </a:moveTo>
                  <a:cubicBezTo>
                    <a:pt x="201" y="94"/>
                    <a:pt x="146" y="103"/>
                    <a:pt x="94" y="103"/>
                  </a:cubicBezTo>
                  <a:cubicBezTo>
                    <a:pt x="42" y="103"/>
                    <a:pt x="0" y="80"/>
                    <a:pt x="0" y="51"/>
                  </a:cubicBezTo>
                  <a:cubicBezTo>
                    <a:pt x="0" y="23"/>
                    <a:pt x="42" y="0"/>
                    <a:pt x="94" y="0"/>
                  </a:cubicBezTo>
                  <a:cubicBezTo>
                    <a:pt x="146" y="0"/>
                    <a:pt x="198" y="26"/>
                    <a:pt x="199" y="54"/>
                  </a:cubicBezTo>
                  <a:close/>
                </a:path>
              </a:pathLst>
            </a:custGeom>
            <a:noFill/>
            <a:ln w="111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4" name="Picture 1410"/>
            <p:cNvPicPr>
              <a:picLocks noChangeAspect="1" noChangeArrowheads="1"/>
            </p:cNvPicPr>
            <p:nvPr/>
          </p:nvPicPr>
          <p:blipFill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0970" y="1041343"/>
              <a:ext cx="276693" cy="134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" name="Freeform 1411"/>
            <p:cNvSpPr>
              <a:spLocks/>
            </p:cNvSpPr>
            <p:nvPr/>
          </p:nvSpPr>
          <p:spPr bwMode="auto">
            <a:xfrm>
              <a:off x="2952716" y="1054394"/>
              <a:ext cx="247979" cy="107023"/>
            </a:xfrm>
            <a:custGeom>
              <a:avLst/>
              <a:gdLst>
                <a:gd name="T0" fmla="*/ 110 w 110"/>
                <a:gd name="T1" fmla="*/ 25 h 48"/>
                <a:gd name="T2" fmla="*/ 55 w 110"/>
                <a:gd name="T3" fmla="*/ 48 h 48"/>
                <a:gd name="T4" fmla="*/ 0 w 110"/>
                <a:gd name="T5" fmla="*/ 25 h 48"/>
                <a:gd name="T6" fmla="*/ 55 w 110"/>
                <a:gd name="T7" fmla="*/ 0 h 48"/>
                <a:gd name="T8" fmla="*/ 110 w 110"/>
                <a:gd name="T9" fmla="*/ 25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48">
                  <a:moveTo>
                    <a:pt x="110" y="25"/>
                  </a:moveTo>
                  <a:cubicBezTo>
                    <a:pt x="110" y="38"/>
                    <a:pt x="86" y="48"/>
                    <a:pt x="55" y="48"/>
                  </a:cubicBezTo>
                  <a:cubicBezTo>
                    <a:pt x="25" y="48"/>
                    <a:pt x="0" y="38"/>
                    <a:pt x="0" y="25"/>
                  </a:cubicBezTo>
                  <a:cubicBezTo>
                    <a:pt x="0" y="12"/>
                    <a:pt x="24" y="0"/>
                    <a:pt x="55" y="0"/>
                  </a:cubicBezTo>
                  <a:cubicBezTo>
                    <a:pt x="85" y="0"/>
                    <a:pt x="110" y="12"/>
                    <a:pt x="110" y="25"/>
                  </a:cubicBezTo>
                  <a:close/>
                </a:path>
              </a:pathLst>
            </a:custGeom>
            <a:noFill/>
            <a:ln w="111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6" name="Picture 1412"/>
            <p:cNvPicPr>
              <a:picLocks noChangeAspect="1" noChangeArrowheads="1"/>
            </p:cNvPicPr>
            <p:nvPr/>
          </p:nvPicPr>
          <p:blipFill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4058" y="1060920"/>
              <a:ext cx="127905" cy="80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Oval 1413"/>
            <p:cNvSpPr>
              <a:spLocks noChangeArrowheads="1"/>
            </p:cNvSpPr>
            <p:nvPr/>
          </p:nvSpPr>
          <p:spPr bwMode="auto">
            <a:xfrm>
              <a:off x="3027110" y="1073971"/>
              <a:ext cx="101802" cy="53512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" name="Line 1414"/>
            <p:cNvSpPr>
              <a:spLocks noChangeShapeType="1"/>
            </p:cNvSpPr>
            <p:nvPr/>
          </p:nvSpPr>
          <p:spPr bwMode="auto">
            <a:xfrm flipV="1">
              <a:off x="2448926" y="1723938"/>
              <a:ext cx="1306" cy="1979919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" name="Line 1415"/>
            <p:cNvSpPr>
              <a:spLocks noChangeShapeType="1"/>
            </p:cNvSpPr>
            <p:nvPr/>
          </p:nvSpPr>
          <p:spPr bwMode="auto">
            <a:xfrm flipV="1">
              <a:off x="2574221" y="1723938"/>
              <a:ext cx="0" cy="197339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" name="Line 1416"/>
            <p:cNvSpPr>
              <a:spLocks noChangeShapeType="1"/>
            </p:cNvSpPr>
            <p:nvPr/>
          </p:nvSpPr>
          <p:spPr bwMode="auto">
            <a:xfrm flipH="1" flipV="1">
              <a:off x="3592241" y="1713496"/>
              <a:ext cx="5221" cy="196164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" name="Line 1417"/>
            <p:cNvSpPr>
              <a:spLocks noChangeShapeType="1"/>
            </p:cNvSpPr>
            <p:nvPr/>
          </p:nvSpPr>
          <p:spPr bwMode="auto">
            <a:xfrm flipV="1">
              <a:off x="3720144" y="1708929"/>
              <a:ext cx="6527" cy="198057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" name="Line 1418"/>
            <p:cNvSpPr>
              <a:spLocks noChangeShapeType="1"/>
            </p:cNvSpPr>
            <p:nvPr/>
          </p:nvSpPr>
          <p:spPr bwMode="auto">
            <a:xfrm>
              <a:off x="1947747" y="1723938"/>
              <a:ext cx="50117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3" name="Rectangle 1419"/>
            <p:cNvSpPr>
              <a:spLocks noChangeArrowheads="1"/>
            </p:cNvSpPr>
            <p:nvPr/>
          </p:nvSpPr>
          <p:spPr bwMode="auto">
            <a:xfrm>
              <a:off x="1049272" y="2162687"/>
              <a:ext cx="855728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354013" indent="-354013" algn="ctr" defTabSz="941388"/>
              <a:r>
                <a:rPr lang="ru-RU" sz="11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Цилиндр 1</a:t>
              </a:r>
            </a:p>
          </p:txBody>
        </p:sp>
        <p:sp>
          <p:nvSpPr>
            <p:cNvPr id="114" name="Oval 1420"/>
            <p:cNvSpPr>
              <a:spLocks noChangeArrowheads="1"/>
            </p:cNvSpPr>
            <p:nvPr/>
          </p:nvSpPr>
          <p:spPr bwMode="auto">
            <a:xfrm>
              <a:off x="2448926" y="1661290"/>
              <a:ext cx="125295" cy="125295"/>
            </a:xfrm>
            <a:prstGeom prst="ellipse">
              <a:avLst/>
            </a:prstGeom>
            <a:solidFill>
              <a:srgbClr val="000000"/>
            </a:solidFill>
            <a:ln w="15875" cap="rnd" algn="ctr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" name="Oval 1421"/>
            <p:cNvSpPr>
              <a:spLocks noChangeArrowheads="1"/>
            </p:cNvSpPr>
            <p:nvPr/>
          </p:nvSpPr>
          <p:spPr bwMode="auto">
            <a:xfrm>
              <a:off x="2448926" y="2601001"/>
              <a:ext cx="125295" cy="125295"/>
            </a:xfrm>
            <a:prstGeom prst="ellipse">
              <a:avLst/>
            </a:prstGeom>
            <a:solidFill>
              <a:srgbClr val="000000"/>
            </a:solidFill>
            <a:ln w="15875" cap="rnd" algn="ctr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6" name="Line 1422"/>
            <p:cNvSpPr>
              <a:spLocks noChangeShapeType="1"/>
            </p:cNvSpPr>
            <p:nvPr/>
          </p:nvSpPr>
          <p:spPr bwMode="auto">
            <a:xfrm flipH="1">
              <a:off x="2343209" y="1701750"/>
              <a:ext cx="83530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7" name="Rectangle 1423"/>
            <p:cNvSpPr>
              <a:spLocks noChangeArrowheads="1"/>
            </p:cNvSpPr>
            <p:nvPr/>
          </p:nvSpPr>
          <p:spPr bwMode="auto">
            <a:xfrm>
              <a:off x="1066801" y="1597670"/>
              <a:ext cx="83820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354013" indent="-354013" algn="ctr" defTabSz="941388"/>
              <a:r>
                <a:rPr lang="ru-RU" sz="11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Головка 0</a:t>
              </a:r>
            </a:p>
          </p:txBody>
        </p:sp>
        <p:sp>
          <p:nvSpPr>
            <p:cNvPr id="118" name="Oval 1424"/>
            <p:cNvSpPr>
              <a:spLocks noChangeArrowheads="1"/>
            </p:cNvSpPr>
            <p:nvPr/>
          </p:nvSpPr>
          <p:spPr bwMode="auto">
            <a:xfrm>
              <a:off x="2448926" y="3603359"/>
              <a:ext cx="125295" cy="125295"/>
            </a:xfrm>
            <a:prstGeom prst="ellipse">
              <a:avLst/>
            </a:prstGeom>
            <a:solidFill>
              <a:srgbClr val="000000"/>
            </a:solidFill>
            <a:ln w="15875" cap="rnd" algn="ctr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9" name="Line 1426"/>
            <p:cNvSpPr>
              <a:spLocks noChangeShapeType="1"/>
            </p:cNvSpPr>
            <p:nvPr/>
          </p:nvSpPr>
          <p:spPr bwMode="auto">
            <a:xfrm>
              <a:off x="1947747" y="2287764"/>
              <a:ext cx="50117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0" name="Line 1427"/>
            <p:cNvSpPr>
              <a:spLocks noChangeShapeType="1"/>
            </p:cNvSpPr>
            <p:nvPr/>
          </p:nvSpPr>
          <p:spPr bwMode="auto">
            <a:xfrm flipH="1">
              <a:off x="3388637" y="1034817"/>
              <a:ext cx="187942" cy="43853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1" name="Line 1428"/>
            <p:cNvSpPr>
              <a:spLocks noChangeShapeType="1"/>
            </p:cNvSpPr>
            <p:nvPr/>
          </p:nvSpPr>
          <p:spPr bwMode="auto">
            <a:xfrm flipH="1">
              <a:off x="3576579" y="1034817"/>
              <a:ext cx="3132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2" name="Rectangle 1429"/>
            <p:cNvSpPr>
              <a:spLocks noChangeArrowheads="1"/>
            </p:cNvSpPr>
            <p:nvPr/>
          </p:nvSpPr>
          <p:spPr bwMode="auto">
            <a:xfrm>
              <a:off x="3943244" y="913456"/>
              <a:ext cx="846433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354013" indent="-354013" algn="ctr" defTabSz="941388"/>
              <a:r>
                <a:rPr lang="ru-RU" sz="11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Сектор 8</a:t>
              </a:r>
            </a:p>
          </p:txBody>
        </p:sp>
        <p:sp>
          <p:nvSpPr>
            <p:cNvPr id="123" name="AutoShape 1432"/>
            <p:cNvSpPr>
              <a:spLocks noChangeAspect="1" noChangeArrowheads="1" noTextEdit="1"/>
            </p:cNvSpPr>
            <p:nvPr/>
          </p:nvSpPr>
          <p:spPr bwMode="auto">
            <a:xfrm>
              <a:off x="5700066" y="824739"/>
              <a:ext cx="1771094" cy="41268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24" name="Picture 146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1830" y="3368432"/>
              <a:ext cx="1764568" cy="882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Freeform 1462"/>
            <p:cNvSpPr>
              <a:spLocks/>
            </p:cNvSpPr>
            <p:nvPr/>
          </p:nvSpPr>
          <p:spPr bwMode="auto">
            <a:xfrm>
              <a:off x="5747050" y="3384094"/>
              <a:ext cx="1755432" cy="852266"/>
            </a:xfrm>
            <a:custGeom>
              <a:avLst/>
              <a:gdLst>
                <a:gd name="T0" fmla="*/ 778 w 779"/>
                <a:gd name="T1" fmla="*/ 161 h 380"/>
                <a:gd name="T2" fmla="*/ 388 w 779"/>
                <a:gd name="T3" fmla="*/ 0 h 380"/>
                <a:gd name="T4" fmla="*/ 0 w 779"/>
                <a:gd name="T5" fmla="*/ 176 h 380"/>
                <a:gd name="T6" fmla="*/ 0 w 779"/>
                <a:gd name="T7" fmla="*/ 187 h 380"/>
                <a:gd name="T8" fmla="*/ 386 w 779"/>
                <a:gd name="T9" fmla="*/ 379 h 380"/>
                <a:gd name="T10" fmla="*/ 779 w 779"/>
                <a:gd name="T11" fmla="*/ 183 h 380"/>
                <a:gd name="T12" fmla="*/ 778 w 779"/>
                <a:gd name="T13" fmla="*/ 16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9" h="380">
                  <a:moveTo>
                    <a:pt x="778" y="161"/>
                  </a:moveTo>
                  <a:cubicBezTo>
                    <a:pt x="778" y="64"/>
                    <a:pt x="602" y="0"/>
                    <a:pt x="388" y="0"/>
                  </a:cubicBezTo>
                  <a:cubicBezTo>
                    <a:pt x="174" y="0"/>
                    <a:pt x="0" y="79"/>
                    <a:pt x="0" y="176"/>
                  </a:cubicBezTo>
                  <a:cubicBezTo>
                    <a:pt x="0" y="183"/>
                    <a:pt x="0" y="184"/>
                    <a:pt x="0" y="187"/>
                  </a:cubicBezTo>
                  <a:cubicBezTo>
                    <a:pt x="4" y="265"/>
                    <a:pt x="148" y="380"/>
                    <a:pt x="386" y="379"/>
                  </a:cubicBezTo>
                  <a:cubicBezTo>
                    <a:pt x="658" y="378"/>
                    <a:pt x="777" y="252"/>
                    <a:pt x="779" y="183"/>
                  </a:cubicBezTo>
                  <a:cubicBezTo>
                    <a:pt x="779" y="183"/>
                    <a:pt x="778" y="165"/>
                    <a:pt x="778" y="161"/>
                  </a:cubicBezTo>
                  <a:close/>
                </a:path>
              </a:pathLst>
            </a:custGeom>
            <a:noFill/>
            <a:ln w="111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26" name="Picture 146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1830" y="3290123"/>
              <a:ext cx="1764568" cy="929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7" name="Oval 1464"/>
            <p:cNvSpPr>
              <a:spLocks noChangeArrowheads="1"/>
            </p:cNvSpPr>
            <p:nvPr/>
          </p:nvSpPr>
          <p:spPr bwMode="auto">
            <a:xfrm>
              <a:off x="5749661" y="3307090"/>
              <a:ext cx="1743685" cy="897946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28" name="Picture 146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8852" y="3348854"/>
              <a:ext cx="1549218" cy="801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9" name="Oval 1466"/>
            <p:cNvSpPr>
              <a:spLocks noChangeArrowheads="1"/>
            </p:cNvSpPr>
            <p:nvPr/>
          </p:nvSpPr>
          <p:spPr bwMode="auto">
            <a:xfrm>
              <a:off x="5864514" y="3363212"/>
              <a:ext cx="1516589" cy="772651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" name="Oval 1467"/>
            <p:cNvSpPr>
              <a:spLocks noChangeArrowheads="1"/>
            </p:cNvSpPr>
            <p:nvPr/>
          </p:nvSpPr>
          <p:spPr bwMode="auto">
            <a:xfrm>
              <a:off x="5979368" y="3419333"/>
              <a:ext cx="1286882" cy="642136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31" name="Picture 1468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221" y="3471539"/>
              <a:ext cx="1054564" cy="539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2" name="Oval 1469"/>
            <p:cNvSpPr>
              <a:spLocks noChangeArrowheads="1"/>
            </p:cNvSpPr>
            <p:nvPr/>
          </p:nvSpPr>
          <p:spPr bwMode="auto">
            <a:xfrm>
              <a:off x="6107273" y="3484590"/>
              <a:ext cx="1029767" cy="511620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33" name="Picture 1470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5178" y="3543323"/>
              <a:ext cx="776567" cy="396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4" name="Oval 1471"/>
            <p:cNvSpPr>
              <a:spLocks noChangeArrowheads="1"/>
            </p:cNvSpPr>
            <p:nvPr/>
          </p:nvSpPr>
          <p:spPr bwMode="auto">
            <a:xfrm>
              <a:off x="6246925" y="3555069"/>
              <a:ext cx="747854" cy="371969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35" name="Picture 147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3231" y="3915291"/>
              <a:ext cx="33934" cy="304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6" name="Line 1473"/>
            <p:cNvSpPr>
              <a:spLocks noChangeShapeType="1"/>
            </p:cNvSpPr>
            <p:nvPr/>
          </p:nvSpPr>
          <p:spPr bwMode="auto">
            <a:xfrm flipH="1">
              <a:off x="6616283" y="3927038"/>
              <a:ext cx="6526" cy="27799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37" name="Picture 1474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0621" y="3292733"/>
              <a:ext cx="27409" cy="275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8" name="Line 1475"/>
            <p:cNvSpPr>
              <a:spLocks noChangeShapeType="1"/>
            </p:cNvSpPr>
            <p:nvPr/>
          </p:nvSpPr>
          <p:spPr bwMode="auto">
            <a:xfrm>
              <a:off x="6614978" y="3307090"/>
              <a:ext cx="0" cy="24797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39" name="Picture 1476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6947" y="3727349"/>
              <a:ext cx="519451" cy="27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0" name="Line 1477"/>
            <p:cNvSpPr>
              <a:spLocks noChangeShapeType="1"/>
            </p:cNvSpPr>
            <p:nvPr/>
          </p:nvSpPr>
          <p:spPr bwMode="auto">
            <a:xfrm>
              <a:off x="6999998" y="3740401"/>
              <a:ext cx="499874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41" name="Picture 1478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1830" y="3726044"/>
              <a:ext cx="520757" cy="27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2" name="Line 1479"/>
            <p:cNvSpPr>
              <a:spLocks noChangeShapeType="1"/>
            </p:cNvSpPr>
            <p:nvPr/>
          </p:nvSpPr>
          <p:spPr bwMode="auto">
            <a:xfrm>
              <a:off x="5747050" y="3740401"/>
              <a:ext cx="499874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3" name="Line 1480"/>
            <p:cNvSpPr>
              <a:spLocks noChangeShapeType="1"/>
            </p:cNvSpPr>
            <p:nvPr/>
          </p:nvSpPr>
          <p:spPr bwMode="auto">
            <a:xfrm flipH="1">
              <a:off x="5995030" y="3880052"/>
              <a:ext cx="373274" cy="19055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44" name="Picture 1481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1230" y="3428469"/>
              <a:ext cx="378495" cy="200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5" name="Line 1482"/>
            <p:cNvSpPr>
              <a:spLocks noChangeShapeType="1"/>
            </p:cNvSpPr>
            <p:nvPr/>
          </p:nvSpPr>
          <p:spPr bwMode="auto">
            <a:xfrm flipH="1">
              <a:off x="6895586" y="3440215"/>
              <a:ext cx="353697" cy="17750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46" name="Picture 1483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4166" y="3416722"/>
              <a:ext cx="378495" cy="202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7" name="Line 1484"/>
            <p:cNvSpPr>
              <a:spLocks noChangeShapeType="1"/>
            </p:cNvSpPr>
            <p:nvPr/>
          </p:nvSpPr>
          <p:spPr bwMode="auto">
            <a:xfrm flipH="1" flipV="1">
              <a:off x="6017218" y="3428469"/>
              <a:ext cx="353697" cy="17750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8" name="Line 1485"/>
            <p:cNvSpPr>
              <a:spLocks noChangeShapeType="1"/>
            </p:cNvSpPr>
            <p:nvPr/>
          </p:nvSpPr>
          <p:spPr bwMode="auto">
            <a:xfrm>
              <a:off x="6900806" y="3867001"/>
              <a:ext cx="373274" cy="18533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9" name="Freeform 1486"/>
            <p:cNvSpPr>
              <a:spLocks/>
            </p:cNvSpPr>
            <p:nvPr/>
          </p:nvSpPr>
          <p:spPr bwMode="auto">
            <a:xfrm>
              <a:off x="6618893" y="3307090"/>
              <a:ext cx="623864" cy="168365"/>
            </a:xfrm>
            <a:custGeom>
              <a:avLst/>
              <a:gdLst>
                <a:gd name="T0" fmla="*/ 0 w 277"/>
                <a:gd name="T1" fmla="*/ 0 h 75"/>
                <a:gd name="T2" fmla="*/ 1 w 277"/>
                <a:gd name="T3" fmla="*/ 23 h 75"/>
                <a:gd name="T4" fmla="*/ 246 w 277"/>
                <a:gd name="T5" fmla="*/ 75 h 75"/>
                <a:gd name="T6" fmla="*/ 277 w 277"/>
                <a:gd name="T7" fmla="*/ 58 h 75"/>
                <a:gd name="T8" fmla="*/ 0 w 277"/>
                <a:gd name="T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75">
                  <a:moveTo>
                    <a:pt x="0" y="0"/>
                  </a:moveTo>
                  <a:cubicBezTo>
                    <a:pt x="0" y="0"/>
                    <a:pt x="1" y="15"/>
                    <a:pt x="1" y="23"/>
                  </a:cubicBezTo>
                  <a:cubicBezTo>
                    <a:pt x="44" y="23"/>
                    <a:pt x="149" y="27"/>
                    <a:pt x="246" y="75"/>
                  </a:cubicBezTo>
                  <a:cubicBezTo>
                    <a:pt x="260" y="67"/>
                    <a:pt x="277" y="58"/>
                    <a:pt x="277" y="58"/>
                  </a:cubicBezTo>
                  <a:cubicBezTo>
                    <a:pt x="277" y="58"/>
                    <a:pt x="17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50" name="Picture 1487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2294" y="3110012"/>
              <a:ext cx="263641" cy="707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Freeform 1488"/>
            <p:cNvSpPr>
              <a:spLocks/>
            </p:cNvSpPr>
            <p:nvPr/>
          </p:nvSpPr>
          <p:spPr bwMode="auto">
            <a:xfrm>
              <a:off x="6506650" y="3121758"/>
              <a:ext cx="236233" cy="681290"/>
            </a:xfrm>
            <a:custGeom>
              <a:avLst/>
              <a:gdLst>
                <a:gd name="T0" fmla="*/ 104 w 105"/>
                <a:gd name="T1" fmla="*/ 264 h 304"/>
                <a:gd name="T2" fmla="*/ 104 w 105"/>
                <a:gd name="T3" fmla="*/ 0 h 304"/>
                <a:gd name="T4" fmla="*/ 0 w 105"/>
                <a:gd name="T5" fmla="*/ 0 h 304"/>
                <a:gd name="T6" fmla="*/ 0 w 105"/>
                <a:gd name="T7" fmla="*/ 274 h 304"/>
                <a:gd name="T8" fmla="*/ 0 w 105"/>
                <a:gd name="T9" fmla="*/ 274 h 304"/>
                <a:gd name="T10" fmla="*/ 52 w 105"/>
                <a:gd name="T11" fmla="*/ 304 h 304"/>
                <a:gd name="T12" fmla="*/ 105 w 105"/>
                <a:gd name="T13" fmla="*/ 270 h 304"/>
                <a:gd name="T14" fmla="*/ 104 w 105"/>
                <a:gd name="T15" fmla="*/ 26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" h="304">
                  <a:moveTo>
                    <a:pt x="104" y="264"/>
                  </a:moveTo>
                  <a:cubicBezTo>
                    <a:pt x="104" y="0"/>
                    <a:pt x="104" y="0"/>
                    <a:pt x="1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4"/>
                    <a:pt x="0" y="274"/>
                    <a:pt x="0" y="274"/>
                  </a:cubicBezTo>
                  <a:cubicBezTo>
                    <a:pt x="0" y="274"/>
                    <a:pt x="0" y="274"/>
                    <a:pt x="0" y="274"/>
                  </a:cubicBezTo>
                  <a:cubicBezTo>
                    <a:pt x="3" y="291"/>
                    <a:pt x="25" y="304"/>
                    <a:pt x="52" y="304"/>
                  </a:cubicBezTo>
                  <a:cubicBezTo>
                    <a:pt x="81" y="304"/>
                    <a:pt x="105" y="289"/>
                    <a:pt x="105" y="270"/>
                  </a:cubicBezTo>
                  <a:cubicBezTo>
                    <a:pt x="105" y="268"/>
                    <a:pt x="104" y="266"/>
                    <a:pt x="104" y="264"/>
                  </a:cubicBezTo>
                  <a:close/>
                </a:path>
              </a:pathLst>
            </a:custGeom>
            <a:noFill/>
            <a:ln w="11113" cap="flat">
              <a:solidFill>
                <a:srgbClr val="A0BAB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52" name="Picture 1489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1830" y="2385651"/>
              <a:ext cx="1764568" cy="882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" name="Freeform 1490"/>
            <p:cNvSpPr>
              <a:spLocks/>
            </p:cNvSpPr>
            <p:nvPr/>
          </p:nvSpPr>
          <p:spPr bwMode="auto">
            <a:xfrm>
              <a:off x="5747050" y="2401313"/>
              <a:ext cx="1755432" cy="852266"/>
            </a:xfrm>
            <a:custGeom>
              <a:avLst/>
              <a:gdLst>
                <a:gd name="T0" fmla="*/ 778 w 779"/>
                <a:gd name="T1" fmla="*/ 161 h 380"/>
                <a:gd name="T2" fmla="*/ 388 w 779"/>
                <a:gd name="T3" fmla="*/ 0 h 380"/>
                <a:gd name="T4" fmla="*/ 0 w 779"/>
                <a:gd name="T5" fmla="*/ 176 h 380"/>
                <a:gd name="T6" fmla="*/ 0 w 779"/>
                <a:gd name="T7" fmla="*/ 187 h 380"/>
                <a:gd name="T8" fmla="*/ 386 w 779"/>
                <a:gd name="T9" fmla="*/ 379 h 380"/>
                <a:gd name="T10" fmla="*/ 779 w 779"/>
                <a:gd name="T11" fmla="*/ 183 h 380"/>
                <a:gd name="T12" fmla="*/ 778 w 779"/>
                <a:gd name="T13" fmla="*/ 16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9" h="380">
                  <a:moveTo>
                    <a:pt x="778" y="161"/>
                  </a:moveTo>
                  <a:cubicBezTo>
                    <a:pt x="778" y="64"/>
                    <a:pt x="602" y="0"/>
                    <a:pt x="388" y="0"/>
                  </a:cubicBezTo>
                  <a:cubicBezTo>
                    <a:pt x="174" y="0"/>
                    <a:pt x="0" y="79"/>
                    <a:pt x="0" y="176"/>
                  </a:cubicBezTo>
                  <a:cubicBezTo>
                    <a:pt x="0" y="183"/>
                    <a:pt x="0" y="184"/>
                    <a:pt x="0" y="187"/>
                  </a:cubicBezTo>
                  <a:cubicBezTo>
                    <a:pt x="4" y="265"/>
                    <a:pt x="148" y="380"/>
                    <a:pt x="386" y="379"/>
                  </a:cubicBezTo>
                  <a:cubicBezTo>
                    <a:pt x="658" y="378"/>
                    <a:pt x="777" y="252"/>
                    <a:pt x="779" y="183"/>
                  </a:cubicBezTo>
                  <a:cubicBezTo>
                    <a:pt x="779" y="183"/>
                    <a:pt x="778" y="165"/>
                    <a:pt x="778" y="161"/>
                  </a:cubicBezTo>
                  <a:close/>
                </a:path>
              </a:pathLst>
            </a:custGeom>
            <a:noFill/>
            <a:ln w="111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54" name="Picture 1491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1830" y="2307342"/>
              <a:ext cx="1764568" cy="929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Oval 1492"/>
            <p:cNvSpPr>
              <a:spLocks noChangeArrowheads="1"/>
            </p:cNvSpPr>
            <p:nvPr/>
          </p:nvSpPr>
          <p:spPr bwMode="auto">
            <a:xfrm>
              <a:off x="5749661" y="2324309"/>
              <a:ext cx="1743685" cy="897946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56" name="Picture 1493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8852" y="2366074"/>
              <a:ext cx="1549218" cy="801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7" name="Oval 1494"/>
            <p:cNvSpPr>
              <a:spLocks noChangeArrowheads="1"/>
            </p:cNvSpPr>
            <p:nvPr/>
          </p:nvSpPr>
          <p:spPr bwMode="auto">
            <a:xfrm>
              <a:off x="5864514" y="2380430"/>
              <a:ext cx="1516589" cy="772651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8" name="Oval 1495"/>
            <p:cNvSpPr>
              <a:spLocks noChangeArrowheads="1"/>
            </p:cNvSpPr>
            <p:nvPr/>
          </p:nvSpPr>
          <p:spPr bwMode="auto">
            <a:xfrm>
              <a:off x="5979368" y="2436552"/>
              <a:ext cx="1286882" cy="642136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59" name="Picture 1496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221" y="2488759"/>
              <a:ext cx="1054564" cy="539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0" name="Oval 1497"/>
            <p:cNvSpPr>
              <a:spLocks noChangeArrowheads="1"/>
            </p:cNvSpPr>
            <p:nvPr/>
          </p:nvSpPr>
          <p:spPr bwMode="auto">
            <a:xfrm>
              <a:off x="6107273" y="2501810"/>
              <a:ext cx="1029767" cy="511620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61" name="Picture 1498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5178" y="2560542"/>
              <a:ext cx="776567" cy="396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2" name="Oval 1499"/>
            <p:cNvSpPr>
              <a:spLocks noChangeArrowheads="1"/>
            </p:cNvSpPr>
            <p:nvPr/>
          </p:nvSpPr>
          <p:spPr bwMode="auto">
            <a:xfrm>
              <a:off x="6246925" y="2570983"/>
              <a:ext cx="747854" cy="373274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63" name="Picture 1500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3231" y="2932511"/>
              <a:ext cx="33934" cy="302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" name="Line 1501"/>
            <p:cNvSpPr>
              <a:spLocks noChangeShapeType="1"/>
            </p:cNvSpPr>
            <p:nvPr/>
          </p:nvSpPr>
          <p:spPr bwMode="auto">
            <a:xfrm flipH="1">
              <a:off x="6616283" y="2944257"/>
              <a:ext cx="6526" cy="27799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65" name="Picture 1502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0621" y="2308647"/>
              <a:ext cx="27409" cy="276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6" name="Line 1503"/>
            <p:cNvSpPr>
              <a:spLocks noChangeShapeType="1"/>
            </p:cNvSpPr>
            <p:nvPr/>
          </p:nvSpPr>
          <p:spPr bwMode="auto">
            <a:xfrm>
              <a:off x="6614978" y="2324309"/>
              <a:ext cx="0" cy="24667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67" name="Picture 1504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6947" y="2744569"/>
              <a:ext cx="519451" cy="27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8" name="Line 1505"/>
            <p:cNvSpPr>
              <a:spLocks noChangeShapeType="1"/>
            </p:cNvSpPr>
            <p:nvPr/>
          </p:nvSpPr>
          <p:spPr bwMode="auto">
            <a:xfrm>
              <a:off x="6999998" y="2757620"/>
              <a:ext cx="499874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69" name="Picture 1506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1830" y="2743263"/>
              <a:ext cx="520757" cy="27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0" name="Line 1507"/>
            <p:cNvSpPr>
              <a:spLocks noChangeShapeType="1"/>
            </p:cNvSpPr>
            <p:nvPr/>
          </p:nvSpPr>
          <p:spPr bwMode="auto">
            <a:xfrm>
              <a:off x="5747050" y="2757620"/>
              <a:ext cx="499874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1" name="Line 1508"/>
            <p:cNvSpPr>
              <a:spLocks noChangeShapeType="1"/>
            </p:cNvSpPr>
            <p:nvPr/>
          </p:nvSpPr>
          <p:spPr bwMode="auto">
            <a:xfrm flipH="1">
              <a:off x="5995030" y="2897271"/>
              <a:ext cx="373274" cy="19055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72" name="Picture 1509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1230" y="2445688"/>
              <a:ext cx="378495" cy="200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3" name="Line 1510"/>
            <p:cNvSpPr>
              <a:spLocks noChangeShapeType="1"/>
            </p:cNvSpPr>
            <p:nvPr/>
          </p:nvSpPr>
          <p:spPr bwMode="auto">
            <a:xfrm flipH="1">
              <a:off x="6895586" y="2457435"/>
              <a:ext cx="353697" cy="17750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74" name="Picture 1511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4166" y="2433942"/>
              <a:ext cx="378495" cy="200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5" name="Line 1512"/>
            <p:cNvSpPr>
              <a:spLocks noChangeShapeType="1"/>
            </p:cNvSpPr>
            <p:nvPr/>
          </p:nvSpPr>
          <p:spPr bwMode="auto">
            <a:xfrm flipH="1" flipV="1">
              <a:off x="6017218" y="2445688"/>
              <a:ext cx="353697" cy="17750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6" name="Line 1513"/>
            <p:cNvSpPr>
              <a:spLocks noChangeShapeType="1"/>
            </p:cNvSpPr>
            <p:nvPr/>
          </p:nvSpPr>
          <p:spPr bwMode="auto">
            <a:xfrm>
              <a:off x="6900806" y="2882915"/>
              <a:ext cx="373274" cy="18663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7" name="Freeform 1514"/>
            <p:cNvSpPr>
              <a:spLocks/>
            </p:cNvSpPr>
            <p:nvPr/>
          </p:nvSpPr>
          <p:spPr bwMode="auto">
            <a:xfrm>
              <a:off x="6618893" y="2324309"/>
              <a:ext cx="623864" cy="168365"/>
            </a:xfrm>
            <a:custGeom>
              <a:avLst/>
              <a:gdLst>
                <a:gd name="T0" fmla="*/ 0 w 277"/>
                <a:gd name="T1" fmla="*/ 0 h 75"/>
                <a:gd name="T2" fmla="*/ 1 w 277"/>
                <a:gd name="T3" fmla="*/ 23 h 75"/>
                <a:gd name="T4" fmla="*/ 246 w 277"/>
                <a:gd name="T5" fmla="*/ 75 h 75"/>
                <a:gd name="T6" fmla="*/ 277 w 277"/>
                <a:gd name="T7" fmla="*/ 58 h 75"/>
                <a:gd name="T8" fmla="*/ 0 w 277"/>
                <a:gd name="T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75">
                  <a:moveTo>
                    <a:pt x="0" y="0"/>
                  </a:moveTo>
                  <a:cubicBezTo>
                    <a:pt x="0" y="0"/>
                    <a:pt x="1" y="15"/>
                    <a:pt x="1" y="23"/>
                  </a:cubicBezTo>
                  <a:cubicBezTo>
                    <a:pt x="44" y="23"/>
                    <a:pt x="149" y="27"/>
                    <a:pt x="246" y="75"/>
                  </a:cubicBezTo>
                  <a:cubicBezTo>
                    <a:pt x="260" y="67"/>
                    <a:pt x="277" y="58"/>
                    <a:pt x="277" y="58"/>
                  </a:cubicBezTo>
                  <a:cubicBezTo>
                    <a:pt x="277" y="58"/>
                    <a:pt x="17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78" name="Picture 1515"/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2294" y="2124620"/>
              <a:ext cx="263641" cy="707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9" name="Freeform 1516"/>
            <p:cNvSpPr>
              <a:spLocks/>
            </p:cNvSpPr>
            <p:nvPr/>
          </p:nvSpPr>
          <p:spPr bwMode="auto">
            <a:xfrm>
              <a:off x="6506650" y="2136367"/>
              <a:ext cx="236233" cy="682596"/>
            </a:xfrm>
            <a:custGeom>
              <a:avLst/>
              <a:gdLst>
                <a:gd name="T0" fmla="*/ 104 w 105"/>
                <a:gd name="T1" fmla="*/ 264 h 304"/>
                <a:gd name="T2" fmla="*/ 104 w 105"/>
                <a:gd name="T3" fmla="*/ 0 h 304"/>
                <a:gd name="T4" fmla="*/ 0 w 105"/>
                <a:gd name="T5" fmla="*/ 0 h 304"/>
                <a:gd name="T6" fmla="*/ 0 w 105"/>
                <a:gd name="T7" fmla="*/ 274 h 304"/>
                <a:gd name="T8" fmla="*/ 0 w 105"/>
                <a:gd name="T9" fmla="*/ 274 h 304"/>
                <a:gd name="T10" fmla="*/ 52 w 105"/>
                <a:gd name="T11" fmla="*/ 304 h 304"/>
                <a:gd name="T12" fmla="*/ 105 w 105"/>
                <a:gd name="T13" fmla="*/ 270 h 304"/>
                <a:gd name="T14" fmla="*/ 104 w 105"/>
                <a:gd name="T15" fmla="*/ 26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" h="304">
                  <a:moveTo>
                    <a:pt x="104" y="264"/>
                  </a:moveTo>
                  <a:cubicBezTo>
                    <a:pt x="104" y="0"/>
                    <a:pt x="104" y="0"/>
                    <a:pt x="1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4"/>
                    <a:pt x="0" y="274"/>
                    <a:pt x="0" y="274"/>
                  </a:cubicBezTo>
                  <a:cubicBezTo>
                    <a:pt x="0" y="274"/>
                    <a:pt x="0" y="274"/>
                    <a:pt x="0" y="274"/>
                  </a:cubicBezTo>
                  <a:cubicBezTo>
                    <a:pt x="3" y="291"/>
                    <a:pt x="25" y="304"/>
                    <a:pt x="52" y="304"/>
                  </a:cubicBezTo>
                  <a:cubicBezTo>
                    <a:pt x="81" y="304"/>
                    <a:pt x="105" y="289"/>
                    <a:pt x="105" y="270"/>
                  </a:cubicBezTo>
                  <a:cubicBezTo>
                    <a:pt x="105" y="268"/>
                    <a:pt x="104" y="266"/>
                    <a:pt x="104" y="264"/>
                  </a:cubicBezTo>
                  <a:close/>
                </a:path>
              </a:pathLst>
            </a:custGeom>
            <a:noFill/>
            <a:ln w="11113" cap="flat">
              <a:solidFill>
                <a:srgbClr val="A0BAB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80" name="Picture 1517"/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1830" y="1395040"/>
              <a:ext cx="1764568" cy="882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" name="Freeform 1518"/>
            <p:cNvSpPr>
              <a:spLocks/>
            </p:cNvSpPr>
            <p:nvPr/>
          </p:nvSpPr>
          <p:spPr bwMode="auto">
            <a:xfrm>
              <a:off x="5747050" y="1410702"/>
              <a:ext cx="1755432" cy="853571"/>
            </a:xfrm>
            <a:custGeom>
              <a:avLst/>
              <a:gdLst>
                <a:gd name="T0" fmla="*/ 778 w 779"/>
                <a:gd name="T1" fmla="*/ 161 h 380"/>
                <a:gd name="T2" fmla="*/ 388 w 779"/>
                <a:gd name="T3" fmla="*/ 0 h 380"/>
                <a:gd name="T4" fmla="*/ 0 w 779"/>
                <a:gd name="T5" fmla="*/ 176 h 380"/>
                <a:gd name="T6" fmla="*/ 0 w 779"/>
                <a:gd name="T7" fmla="*/ 187 h 380"/>
                <a:gd name="T8" fmla="*/ 386 w 779"/>
                <a:gd name="T9" fmla="*/ 379 h 380"/>
                <a:gd name="T10" fmla="*/ 779 w 779"/>
                <a:gd name="T11" fmla="*/ 183 h 380"/>
                <a:gd name="T12" fmla="*/ 778 w 779"/>
                <a:gd name="T13" fmla="*/ 16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9" h="380">
                  <a:moveTo>
                    <a:pt x="778" y="161"/>
                  </a:moveTo>
                  <a:cubicBezTo>
                    <a:pt x="778" y="64"/>
                    <a:pt x="602" y="0"/>
                    <a:pt x="388" y="0"/>
                  </a:cubicBezTo>
                  <a:cubicBezTo>
                    <a:pt x="174" y="0"/>
                    <a:pt x="0" y="79"/>
                    <a:pt x="0" y="176"/>
                  </a:cubicBezTo>
                  <a:cubicBezTo>
                    <a:pt x="0" y="183"/>
                    <a:pt x="0" y="183"/>
                    <a:pt x="0" y="187"/>
                  </a:cubicBezTo>
                  <a:cubicBezTo>
                    <a:pt x="4" y="265"/>
                    <a:pt x="148" y="380"/>
                    <a:pt x="386" y="379"/>
                  </a:cubicBezTo>
                  <a:cubicBezTo>
                    <a:pt x="658" y="378"/>
                    <a:pt x="777" y="252"/>
                    <a:pt x="779" y="183"/>
                  </a:cubicBezTo>
                  <a:cubicBezTo>
                    <a:pt x="779" y="182"/>
                    <a:pt x="778" y="165"/>
                    <a:pt x="778" y="161"/>
                  </a:cubicBezTo>
                  <a:close/>
                </a:path>
              </a:pathLst>
            </a:custGeom>
            <a:noFill/>
            <a:ln w="111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82" name="Picture 1519"/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1830" y="1318035"/>
              <a:ext cx="1764568" cy="9279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" name="Oval 1520"/>
            <p:cNvSpPr>
              <a:spLocks noChangeArrowheads="1"/>
            </p:cNvSpPr>
            <p:nvPr/>
          </p:nvSpPr>
          <p:spPr bwMode="auto">
            <a:xfrm>
              <a:off x="5749661" y="1335003"/>
              <a:ext cx="1743685" cy="897946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84" name="Picture 1521"/>
            <p:cNvPicPr>
              <a:picLocks noChangeAspect="1" noChangeArrowheads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8852" y="1375462"/>
              <a:ext cx="1549218" cy="801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5" name="Oval 1522"/>
            <p:cNvSpPr>
              <a:spLocks noChangeArrowheads="1"/>
            </p:cNvSpPr>
            <p:nvPr/>
          </p:nvSpPr>
          <p:spPr bwMode="auto">
            <a:xfrm>
              <a:off x="5864514" y="1391124"/>
              <a:ext cx="1516589" cy="771346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6" name="Oval 1523"/>
            <p:cNvSpPr>
              <a:spLocks noChangeArrowheads="1"/>
            </p:cNvSpPr>
            <p:nvPr/>
          </p:nvSpPr>
          <p:spPr bwMode="auto">
            <a:xfrm>
              <a:off x="5979368" y="1447246"/>
              <a:ext cx="1286882" cy="642136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87" name="Picture 1524"/>
            <p:cNvPicPr>
              <a:picLocks noChangeAspect="1" noChangeArrowheads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221" y="1498146"/>
              <a:ext cx="1054564" cy="539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" name="Oval 1525"/>
            <p:cNvSpPr>
              <a:spLocks noChangeArrowheads="1"/>
            </p:cNvSpPr>
            <p:nvPr/>
          </p:nvSpPr>
          <p:spPr bwMode="auto">
            <a:xfrm>
              <a:off x="6107273" y="1512504"/>
              <a:ext cx="1029767" cy="511620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89" name="Picture 1526"/>
            <p:cNvPicPr>
              <a:picLocks noChangeAspect="1" noChangeArrowheads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5178" y="1569930"/>
              <a:ext cx="776567" cy="398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0" name="Oval 1527"/>
            <p:cNvSpPr>
              <a:spLocks noChangeArrowheads="1"/>
            </p:cNvSpPr>
            <p:nvPr/>
          </p:nvSpPr>
          <p:spPr bwMode="auto">
            <a:xfrm>
              <a:off x="6246925" y="1581676"/>
              <a:ext cx="747854" cy="373274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91" name="Picture 1528"/>
            <p:cNvPicPr>
              <a:picLocks noChangeAspect="1" noChangeArrowheads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3231" y="1943204"/>
              <a:ext cx="33934" cy="302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2" name="Line 1529"/>
            <p:cNvSpPr>
              <a:spLocks noChangeShapeType="1"/>
            </p:cNvSpPr>
            <p:nvPr/>
          </p:nvSpPr>
          <p:spPr bwMode="auto">
            <a:xfrm flipH="1">
              <a:off x="6616283" y="1954950"/>
              <a:ext cx="6526" cy="27799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93" name="Picture 1530"/>
            <p:cNvPicPr>
              <a:picLocks noChangeAspect="1" noChangeArrowheads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0621" y="1319341"/>
              <a:ext cx="27409" cy="275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" name="Line 1531"/>
            <p:cNvSpPr>
              <a:spLocks noChangeShapeType="1"/>
            </p:cNvSpPr>
            <p:nvPr/>
          </p:nvSpPr>
          <p:spPr bwMode="auto">
            <a:xfrm>
              <a:off x="6614978" y="1335003"/>
              <a:ext cx="0" cy="24667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95" name="Picture 1532"/>
            <p:cNvPicPr>
              <a:picLocks noChangeAspect="1" noChangeArrowheads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6947" y="1753957"/>
              <a:ext cx="519451" cy="27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6" name="Line 1533"/>
            <p:cNvSpPr>
              <a:spLocks noChangeShapeType="1"/>
            </p:cNvSpPr>
            <p:nvPr/>
          </p:nvSpPr>
          <p:spPr bwMode="auto">
            <a:xfrm>
              <a:off x="6999998" y="1768314"/>
              <a:ext cx="499874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97" name="Picture 1534"/>
            <p:cNvPicPr>
              <a:picLocks noChangeAspect="1" noChangeArrowheads="1"/>
            </p:cNvPicPr>
            <p:nvPr/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1830" y="1753957"/>
              <a:ext cx="520757" cy="26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8" name="Line 1535"/>
            <p:cNvSpPr>
              <a:spLocks noChangeShapeType="1"/>
            </p:cNvSpPr>
            <p:nvPr/>
          </p:nvSpPr>
          <p:spPr bwMode="auto">
            <a:xfrm>
              <a:off x="5747050" y="1765703"/>
              <a:ext cx="499874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9" name="Line 1536"/>
            <p:cNvSpPr>
              <a:spLocks noChangeShapeType="1"/>
            </p:cNvSpPr>
            <p:nvPr/>
          </p:nvSpPr>
          <p:spPr bwMode="auto">
            <a:xfrm flipH="1">
              <a:off x="5995030" y="1906660"/>
              <a:ext cx="373274" cy="19185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00" name="Picture 1537"/>
            <p:cNvPicPr>
              <a:picLocks noChangeAspect="1" noChangeArrowheads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1230" y="1455077"/>
              <a:ext cx="378495" cy="202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1" name="Line 1538"/>
            <p:cNvSpPr>
              <a:spLocks noChangeShapeType="1"/>
            </p:cNvSpPr>
            <p:nvPr/>
          </p:nvSpPr>
          <p:spPr bwMode="auto">
            <a:xfrm flipH="1">
              <a:off x="6895586" y="1466823"/>
              <a:ext cx="353697" cy="17619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02" name="Picture 1539"/>
            <p:cNvPicPr>
              <a:picLocks noChangeAspect="1" noChangeArrowheads="1"/>
            </p:cNvPicPr>
            <p:nvPr/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4166" y="1443330"/>
              <a:ext cx="378495" cy="202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3" name="Line 1540"/>
            <p:cNvSpPr>
              <a:spLocks noChangeShapeType="1"/>
            </p:cNvSpPr>
            <p:nvPr/>
          </p:nvSpPr>
          <p:spPr bwMode="auto">
            <a:xfrm flipH="1" flipV="1">
              <a:off x="6017218" y="1456382"/>
              <a:ext cx="353697" cy="17489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4" name="Line 1541"/>
            <p:cNvSpPr>
              <a:spLocks noChangeShapeType="1"/>
            </p:cNvSpPr>
            <p:nvPr/>
          </p:nvSpPr>
          <p:spPr bwMode="auto">
            <a:xfrm>
              <a:off x="6900806" y="1893608"/>
              <a:ext cx="373274" cy="18663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" name="Freeform 1542"/>
            <p:cNvSpPr>
              <a:spLocks/>
            </p:cNvSpPr>
            <p:nvPr/>
          </p:nvSpPr>
          <p:spPr bwMode="auto">
            <a:xfrm>
              <a:off x="6618893" y="1335003"/>
              <a:ext cx="623864" cy="168365"/>
            </a:xfrm>
            <a:custGeom>
              <a:avLst/>
              <a:gdLst>
                <a:gd name="T0" fmla="*/ 0 w 277"/>
                <a:gd name="T1" fmla="*/ 0 h 75"/>
                <a:gd name="T2" fmla="*/ 1 w 277"/>
                <a:gd name="T3" fmla="*/ 23 h 75"/>
                <a:gd name="T4" fmla="*/ 246 w 277"/>
                <a:gd name="T5" fmla="*/ 75 h 75"/>
                <a:gd name="T6" fmla="*/ 277 w 277"/>
                <a:gd name="T7" fmla="*/ 58 h 75"/>
                <a:gd name="T8" fmla="*/ 0 w 277"/>
                <a:gd name="T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75">
                  <a:moveTo>
                    <a:pt x="0" y="0"/>
                  </a:moveTo>
                  <a:cubicBezTo>
                    <a:pt x="0" y="0"/>
                    <a:pt x="1" y="15"/>
                    <a:pt x="1" y="23"/>
                  </a:cubicBezTo>
                  <a:cubicBezTo>
                    <a:pt x="44" y="23"/>
                    <a:pt x="149" y="27"/>
                    <a:pt x="246" y="75"/>
                  </a:cubicBezTo>
                  <a:cubicBezTo>
                    <a:pt x="260" y="67"/>
                    <a:pt x="277" y="58"/>
                    <a:pt x="277" y="58"/>
                  </a:cubicBezTo>
                  <a:cubicBezTo>
                    <a:pt x="277" y="58"/>
                    <a:pt x="17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06" name="Picture 1543"/>
            <p:cNvPicPr>
              <a:picLocks noChangeAspect="1" noChangeArrowheads="1"/>
            </p:cNvPicPr>
            <p:nvPr/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2294" y="1160112"/>
              <a:ext cx="263641" cy="713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7" name="Freeform 1544"/>
            <p:cNvSpPr>
              <a:spLocks/>
            </p:cNvSpPr>
            <p:nvPr/>
          </p:nvSpPr>
          <p:spPr bwMode="auto">
            <a:xfrm>
              <a:off x="6506650" y="1170553"/>
              <a:ext cx="236233" cy="689121"/>
            </a:xfrm>
            <a:custGeom>
              <a:avLst/>
              <a:gdLst>
                <a:gd name="T0" fmla="*/ 104 w 105"/>
                <a:gd name="T1" fmla="*/ 269 h 307"/>
                <a:gd name="T2" fmla="*/ 104 w 105"/>
                <a:gd name="T3" fmla="*/ 0 h 307"/>
                <a:gd name="T4" fmla="*/ 0 w 105"/>
                <a:gd name="T5" fmla="*/ 0 h 307"/>
                <a:gd name="T6" fmla="*/ 0 w 105"/>
                <a:gd name="T7" fmla="*/ 269 h 307"/>
                <a:gd name="T8" fmla="*/ 0 w 105"/>
                <a:gd name="T9" fmla="*/ 273 h 307"/>
                <a:gd name="T10" fmla="*/ 52 w 105"/>
                <a:gd name="T11" fmla="*/ 307 h 307"/>
                <a:gd name="T12" fmla="*/ 105 w 105"/>
                <a:gd name="T13" fmla="*/ 273 h 307"/>
                <a:gd name="T14" fmla="*/ 104 w 105"/>
                <a:gd name="T15" fmla="*/ 269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" h="307">
                  <a:moveTo>
                    <a:pt x="104" y="269"/>
                  </a:moveTo>
                  <a:cubicBezTo>
                    <a:pt x="104" y="0"/>
                    <a:pt x="104" y="0"/>
                    <a:pt x="1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69"/>
                    <a:pt x="0" y="269"/>
                    <a:pt x="0" y="269"/>
                  </a:cubicBezTo>
                  <a:cubicBezTo>
                    <a:pt x="0" y="271"/>
                    <a:pt x="0" y="272"/>
                    <a:pt x="0" y="273"/>
                  </a:cubicBezTo>
                  <a:cubicBezTo>
                    <a:pt x="0" y="292"/>
                    <a:pt x="23" y="307"/>
                    <a:pt x="52" y="307"/>
                  </a:cubicBezTo>
                  <a:cubicBezTo>
                    <a:pt x="81" y="307"/>
                    <a:pt x="105" y="292"/>
                    <a:pt x="105" y="273"/>
                  </a:cubicBezTo>
                  <a:cubicBezTo>
                    <a:pt x="105" y="272"/>
                    <a:pt x="105" y="271"/>
                    <a:pt x="104" y="269"/>
                  </a:cubicBezTo>
                  <a:close/>
                </a:path>
              </a:pathLst>
            </a:custGeom>
            <a:noFill/>
            <a:ln w="11113" cap="flat">
              <a:solidFill>
                <a:srgbClr val="A0BAB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" name="Freeform 1545"/>
            <p:cNvSpPr>
              <a:spLocks/>
            </p:cNvSpPr>
            <p:nvPr/>
          </p:nvSpPr>
          <p:spPr bwMode="auto">
            <a:xfrm>
              <a:off x="6400933" y="1110516"/>
              <a:ext cx="452889" cy="233623"/>
            </a:xfrm>
            <a:custGeom>
              <a:avLst/>
              <a:gdLst>
                <a:gd name="T0" fmla="*/ 199 w 201"/>
                <a:gd name="T1" fmla="*/ 55 h 104"/>
                <a:gd name="T2" fmla="*/ 94 w 201"/>
                <a:gd name="T3" fmla="*/ 104 h 104"/>
                <a:gd name="T4" fmla="*/ 0 w 201"/>
                <a:gd name="T5" fmla="*/ 52 h 104"/>
                <a:gd name="T6" fmla="*/ 94 w 201"/>
                <a:gd name="T7" fmla="*/ 0 h 104"/>
                <a:gd name="T8" fmla="*/ 199 w 201"/>
                <a:gd name="T9" fmla="*/ 5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104">
                  <a:moveTo>
                    <a:pt x="199" y="55"/>
                  </a:moveTo>
                  <a:cubicBezTo>
                    <a:pt x="201" y="95"/>
                    <a:pt x="146" y="104"/>
                    <a:pt x="94" y="104"/>
                  </a:cubicBezTo>
                  <a:cubicBezTo>
                    <a:pt x="42" y="104"/>
                    <a:pt x="0" y="81"/>
                    <a:pt x="0" y="52"/>
                  </a:cubicBezTo>
                  <a:cubicBezTo>
                    <a:pt x="0" y="23"/>
                    <a:pt x="42" y="0"/>
                    <a:pt x="94" y="0"/>
                  </a:cubicBezTo>
                  <a:cubicBezTo>
                    <a:pt x="146" y="0"/>
                    <a:pt x="198" y="26"/>
                    <a:pt x="199" y="55"/>
                  </a:cubicBezTo>
                  <a:close/>
                </a:path>
              </a:pathLst>
            </a:custGeom>
            <a:solidFill>
              <a:srgbClr val="000000"/>
            </a:solidFill>
            <a:ln w="1111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09" name="Picture 1546"/>
            <p:cNvPicPr>
              <a:picLocks noChangeAspect="1" noChangeArrowheads="1"/>
            </p:cNvPicPr>
            <p:nvPr/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85271" y="1097465"/>
              <a:ext cx="480297" cy="249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0" name="Freeform 1547"/>
            <p:cNvSpPr>
              <a:spLocks/>
            </p:cNvSpPr>
            <p:nvPr/>
          </p:nvSpPr>
          <p:spPr bwMode="auto">
            <a:xfrm>
              <a:off x="6398323" y="1101380"/>
              <a:ext cx="452889" cy="231013"/>
            </a:xfrm>
            <a:custGeom>
              <a:avLst/>
              <a:gdLst>
                <a:gd name="T0" fmla="*/ 199 w 201"/>
                <a:gd name="T1" fmla="*/ 54 h 103"/>
                <a:gd name="T2" fmla="*/ 94 w 201"/>
                <a:gd name="T3" fmla="*/ 103 h 103"/>
                <a:gd name="T4" fmla="*/ 0 w 201"/>
                <a:gd name="T5" fmla="*/ 51 h 103"/>
                <a:gd name="T6" fmla="*/ 94 w 201"/>
                <a:gd name="T7" fmla="*/ 0 h 103"/>
                <a:gd name="T8" fmla="*/ 199 w 201"/>
                <a:gd name="T9" fmla="*/ 54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103">
                  <a:moveTo>
                    <a:pt x="199" y="54"/>
                  </a:moveTo>
                  <a:cubicBezTo>
                    <a:pt x="201" y="94"/>
                    <a:pt x="146" y="103"/>
                    <a:pt x="94" y="103"/>
                  </a:cubicBezTo>
                  <a:cubicBezTo>
                    <a:pt x="42" y="103"/>
                    <a:pt x="0" y="80"/>
                    <a:pt x="0" y="51"/>
                  </a:cubicBezTo>
                  <a:cubicBezTo>
                    <a:pt x="0" y="23"/>
                    <a:pt x="42" y="0"/>
                    <a:pt x="94" y="0"/>
                  </a:cubicBezTo>
                  <a:cubicBezTo>
                    <a:pt x="146" y="0"/>
                    <a:pt x="198" y="26"/>
                    <a:pt x="199" y="54"/>
                  </a:cubicBezTo>
                  <a:close/>
                </a:path>
              </a:pathLst>
            </a:custGeom>
            <a:noFill/>
            <a:ln w="111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11" name="Picture 1548"/>
            <p:cNvPicPr>
              <a:picLocks noChangeAspect="1" noChangeArrowheads="1"/>
            </p:cNvPicPr>
            <p:nvPr/>
          </p:nvPicPr>
          <p:blipFill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80547" y="1093549"/>
              <a:ext cx="276693" cy="134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2" name="Freeform 1549"/>
            <p:cNvSpPr>
              <a:spLocks/>
            </p:cNvSpPr>
            <p:nvPr/>
          </p:nvSpPr>
          <p:spPr bwMode="auto">
            <a:xfrm>
              <a:off x="6492294" y="1106600"/>
              <a:ext cx="247979" cy="107023"/>
            </a:xfrm>
            <a:custGeom>
              <a:avLst/>
              <a:gdLst>
                <a:gd name="T0" fmla="*/ 110 w 110"/>
                <a:gd name="T1" fmla="*/ 25 h 48"/>
                <a:gd name="T2" fmla="*/ 55 w 110"/>
                <a:gd name="T3" fmla="*/ 48 h 48"/>
                <a:gd name="T4" fmla="*/ 0 w 110"/>
                <a:gd name="T5" fmla="*/ 25 h 48"/>
                <a:gd name="T6" fmla="*/ 55 w 110"/>
                <a:gd name="T7" fmla="*/ 0 h 48"/>
                <a:gd name="T8" fmla="*/ 110 w 110"/>
                <a:gd name="T9" fmla="*/ 25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48">
                  <a:moveTo>
                    <a:pt x="110" y="25"/>
                  </a:moveTo>
                  <a:cubicBezTo>
                    <a:pt x="110" y="38"/>
                    <a:pt x="86" y="48"/>
                    <a:pt x="55" y="48"/>
                  </a:cubicBezTo>
                  <a:cubicBezTo>
                    <a:pt x="25" y="48"/>
                    <a:pt x="0" y="38"/>
                    <a:pt x="0" y="25"/>
                  </a:cubicBezTo>
                  <a:cubicBezTo>
                    <a:pt x="0" y="12"/>
                    <a:pt x="24" y="0"/>
                    <a:pt x="55" y="0"/>
                  </a:cubicBezTo>
                  <a:cubicBezTo>
                    <a:pt x="85" y="0"/>
                    <a:pt x="110" y="12"/>
                    <a:pt x="110" y="25"/>
                  </a:cubicBezTo>
                  <a:close/>
                </a:path>
              </a:pathLst>
            </a:custGeom>
            <a:noFill/>
            <a:ln w="111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13" name="Picture 1550"/>
            <p:cNvPicPr>
              <a:picLocks noChangeAspect="1" noChangeArrowheads="1"/>
            </p:cNvPicPr>
            <p:nvPr/>
          </p:nvPicPr>
          <p:blipFill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3635" y="1113127"/>
              <a:ext cx="127905" cy="80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4" name="Oval 1551"/>
            <p:cNvSpPr>
              <a:spLocks noChangeArrowheads="1"/>
            </p:cNvSpPr>
            <p:nvPr/>
          </p:nvSpPr>
          <p:spPr bwMode="auto">
            <a:xfrm>
              <a:off x="6566687" y="1126178"/>
              <a:ext cx="101802" cy="53512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" name="Line 1552"/>
            <p:cNvSpPr>
              <a:spLocks noChangeShapeType="1"/>
            </p:cNvSpPr>
            <p:nvPr/>
          </p:nvSpPr>
          <p:spPr bwMode="auto">
            <a:xfrm>
              <a:off x="5518585" y="1780591"/>
              <a:ext cx="313237" cy="12529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" name="Line 1556"/>
            <p:cNvSpPr>
              <a:spLocks noChangeShapeType="1"/>
            </p:cNvSpPr>
            <p:nvPr/>
          </p:nvSpPr>
          <p:spPr bwMode="auto">
            <a:xfrm>
              <a:off x="5299383" y="2791554"/>
              <a:ext cx="50117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" name="Rectangle 1557"/>
            <p:cNvSpPr>
              <a:spLocks noChangeArrowheads="1"/>
            </p:cNvSpPr>
            <p:nvPr/>
          </p:nvSpPr>
          <p:spPr bwMode="auto">
            <a:xfrm>
              <a:off x="4503155" y="2662597"/>
              <a:ext cx="714693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354013" indent="-354013" algn="ctr" defTabSz="941388"/>
              <a:r>
                <a:rPr lang="ru-RU" sz="11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Блок 64</a:t>
              </a:r>
            </a:p>
          </p:txBody>
        </p:sp>
        <p:sp>
          <p:nvSpPr>
            <p:cNvPr id="218" name="Line 1559"/>
            <p:cNvSpPr>
              <a:spLocks noChangeShapeType="1"/>
            </p:cNvSpPr>
            <p:nvPr/>
          </p:nvSpPr>
          <p:spPr bwMode="auto">
            <a:xfrm>
              <a:off x="5299389" y="3793926"/>
              <a:ext cx="50118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n-US" sz="11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" name="Rectangle 1560"/>
            <p:cNvSpPr>
              <a:spLocks noChangeArrowheads="1"/>
            </p:cNvSpPr>
            <p:nvPr/>
          </p:nvSpPr>
          <p:spPr bwMode="auto">
            <a:xfrm>
              <a:off x="4343400" y="3667528"/>
              <a:ext cx="874448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354013" indent="-354013" algn="ctr" defTabSz="941388"/>
              <a:r>
                <a:rPr lang="ru-RU" sz="11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Блок 128</a:t>
              </a:r>
            </a:p>
          </p:txBody>
        </p:sp>
        <p:sp>
          <p:nvSpPr>
            <p:cNvPr id="220" name="Rectangle 1561"/>
            <p:cNvSpPr>
              <a:spLocks noChangeArrowheads="1"/>
            </p:cNvSpPr>
            <p:nvPr/>
          </p:nvSpPr>
          <p:spPr bwMode="auto">
            <a:xfrm>
              <a:off x="5284959" y="4442571"/>
              <a:ext cx="2678474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354013" indent="-354013" algn="ctr" defTabSz="941388"/>
              <a:r>
                <a:rPr lang="ru-RU" sz="11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Адрес логического блока = Блок #</a:t>
              </a:r>
            </a:p>
          </p:txBody>
        </p:sp>
        <p:sp>
          <p:nvSpPr>
            <p:cNvPr id="221" name="Rectangle 1562"/>
            <p:cNvSpPr>
              <a:spLocks noChangeArrowheads="1"/>
            </p:cNvSpPr>
            <p:nvPr/>
          </p:nvSpPr>
          <p:spPr bwMode="auto">
            <a:xfrm>
              <a:off x="4599039" y="1657350"/>
              <a:ext cx="650069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354013" indent="-354013" algn="ctr" defTabSz="941388"/>
              <a:r>
                <a:rPr lang="ru-RU" sz="11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Блок 0</a:t>
              </a:r>
            </a:p>
          </p:txBody>
        </p:sp>
        <p:sp>
          <p:nvSpPr>
            <p:cNvPr id="222" name="Line 1563"/>
            <p:cNvSpPr>
              <a:spLocks noChangeShapeType="1"/>
            </p:cNvSpPr>
            <p:nvPr/>
          </p:nvSpPr>
          <p:spPr bwMode="auto">
            <a:xfrm flipV="1">
              <a:off x="5487325" y="2026734"/>
              <a:ext cx="375884" cy="18794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3" name="Line 1564"/>
            <p:cNvSpPr>
              <a:spLocks noChangeShapeType="1"/>
            </p:cNvSpPr>
            <p:nvPr/>
          </p:nvSpPr>
          <p:spPr bwMode="auto">
            <a:xfrm flipV="1">
              <a:off x="5205348" y="1780591"/>
              <a:ext cx="3132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4" name="Line 1565"/>
            <p:cNvSpPr>
              <a:spLocks noChangeShapeType="1"/>
            </p:cNvSpPr>
            <p:nvPr/>
          </p:nvSpPr>
          <p:spPr bwMode="auto">
            <a:xfrm flipV="1">
              <a:off x="5174088" y="2214676"/>
              <a:ext cx="3132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n-US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5" name="Rectangle 1566"/>
            <p:cNvSpPr>
              <a:spLocks noChangeArrowheads="1"/>
            </p:cNvSpPr>
            <p:nvPr/>
          </p:nvSpPr>
          <p:spPr bwMode="auto">
            <a:xfrm>
              <a:off x="4493481" y="2093499"/>
              <a:ext cx="724367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354013" indent="-354013" algn="ctr" defTabSz="941388"/>
              <a:r>
                <a:rPr lang="ru-RU" sz="1100" b="1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Блок 32</a:t>
              </a:r>
            </a:p>
          </p:txBody>
        </p:sp>
        <p:sp>
          <p:nvSpPr>
            <p:cNvPr id="226" name="Rectangle 1567"/>
            <p:cNvSpPr>
              <a:spLocks noChangeArrowheads="1"/>
            </p:cNvSpPr>
            <p:nvPr/>
          </p:nvSpPr>
          <p:spPr bwMode="auto">
            <a:xfrm>
              <a:off x="4147195" y="1428750"/>
              <a:ext cx="155828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354013" indent="-354013" algn="ctr" defTabSz="941388"/>
              <a:r>
                <a:rPr lang="ru-RU" sz="1100" b="0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(верхняя поверхность)</a:t>
              </a:r>
            </a:p>
          </p:txBody>
        </p:sp>
        <p:sp>
          <p:nvSpPr>
            <p:cNvPr id="227" name="Rectangle 1568"/>
            <p:cNvSpPr>
              <a:spLocks noChangeArrowheads="1"/>
            </p:cNvSpPr>
            <p:nvPr/>
          </p:nvSpPr>
          <p:spPr bwMode="auto">
            <a:xfrm>
              <a:off x="4019550" y="2303427"/>
              <a:ext cx="167640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354013" indent="-354013" algn="ctr" defTabSz="941388"/>
              <a:r>
                <a:rPr lang="ru-RU" sz="1100" b="0" i="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(нижняя поверхность)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57200"/>
            <a:ext cx="8750300" cy="828675"/>
          </a:xfrm>
        </p:spPr>
        <p:txBody>
          <a:bodyPr/>
          <a:lstStyle/>
          <a:p>
            <a:pPr algn="ctr"/>
            <a:r>
              <a:rPr lang="ru-RU" sz="3600">
                <a:solidFill>
                  <a:schemeClr val="bg2"/>
                </a:solidFill>
              </a:rPr>
              <a:t>Модель организации внешней памяти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357313"/>
            <a:ext cx="8784976" cy="5096023"/>
          </a:xfrm>
        </p:spPr>
        <p:txBody>
          <a:bodyPr>
            <a:normAutofit/>
          </a:bodyPr>
          <a:lstStyle/>
          <a:p>
            <a:pPr marL="609600" indent="-60960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ru-RU" sz="2800" dirty="0">
                <a:solidFill>
                  <a:schemeClr val="bg2"/>
                </a:solidFill>
              </a:rPr>
              <a:t>Физические блоки</a:t>
            </a:r>
            <a:r>
              <a:rPr lang="ru-RU" sz="2800" b="1" dirty="0"/>
              <a:t> – </a:t>
            </a:r>
            <a:r>
              <a:rPr lang="ru-RU" sz="2800" dirty="0"/>
              <a:t>секторы диска, 2</a:t>
            </a:r>
            <a:r>
              <a:rPr lang="ru-RU" sz="2800" baseline="30000" dirty="0"/>
              <a:t>9</a:t>
            </a:r>
            <a:r>
              <a:rPr lang="ru-RU" sz="2800" dirty="0"/>
              <a:t> – 2</a:t>
            </a:r>
            <a:r>
              <a:rPr lang="ru-RU" sz="2800" baseline="30000" dirty="0"/>
              <a:t>12 </a:t>
            </a:r>
            <a:r>
              <a:rPr lang="ru-RU" sz="2800" dirty="0"/>
              <a:t>байт</a:t>
            </a:r>
            <a:endParaRPr lang="en-US" sz="2800" dirty="0"/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ru-RU" sz="2800" dirty="0"/>
              <a:t>Физический блок (</a:t>
            </a:r>
            <a:r>
              <a:rPr lang="ru-RU" sz="2800" dirty="0" err="1"/>
              <a:t>блок</a:t>
            </a:r>
            <a:r>
              <a:rPr lang="ru-RU" sz="2800" dirty="0"/>
              <a:t>) имеет адрес на диске.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  <a:defRPr/>
            </a:pPr>
            <a:endParaRPr lang="ru-RU" sz="2400" dirty="0"/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ru-RU" sz="2800" b="1" dirty="0"/>
              <a:t>Файл </a:t>
            </a:r>
            <a:r>
              <a:rPr lang="ru-RU" sz="2800" dirty="0"/>
              <a:t>– хранится в одном или более </a:t>
            </a:r>
            <a:r>
              <a:rPr lang="ru-RU" sz="2800" b="1" dirty="0"/>
              <a:t>блока</a:t>
            </a:r>
            <a:r>
              <a:rPr lang="ru-RU" sz="2800" dirty="0"/>
              <a:t>х.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ru-RU" sz="2800" b="1" dirty="0"/>
              <a:t>Файл </a:t>
            </a:r>
            <a:r>
              <a:rPr lang="ru-RU" sz="2800" dirty="0"/>
              <a:t>состоит из </a:t>
            </a:r>
            <a:r>
              <a:rPr lang="ru-RU" sz="2800" b="1" dirty="0"/>
              <a:t>записей. 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ru-RU" sz="2800" dirty="0"/>
              <a:t>В каждом </a:t>
            </a:r>
            <a:r>
              <a:rPr lang="ru-RU" sz="2800" b="1" dirty="0"/>
              <a:t>блоке</a:t>
            </a:r>
            <a:r>
              <a:rPr lang="ru-RU" sz="2800" dirty="0"/>
              <a:t> может храниться ЦЕЛОЕ количество </a:t>
            </a:r>
            <a:r>
              <a:rPr lang="ru-RU" sz="2800" b="1" dirty="0"/>
              <a:t>записей.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ru-RU" sz="2800" dirty="0"/>
              <a:t>Запись имеет адрес: 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Char char="v"/>
              <a:defRPr/>
            </a:pPr>
            <a:r>
              <a:rPr lang="ru-RU" sz="2800" dirty="0"/>
              <a:t>абсолютный адрес ее первого байта,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Char char="v"/>
              <a:defRPr/>
            </a:pPr>
            <a:r>
              <a:rPr lang="ru-RU" sz="2800" dirty="0"/>
              <a:t>адрес блока + смещение (число байтов предшествующих началу записи)</a:t>
            </a:r>
            <a:endParaRPr lang="ru-RU" sz="2800" b="1" dirty="0"/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  <a:defRPr/>
            </a:pPr>
            <a:endParaRPr lang="ru-RU" sz="2800" dirty="0"/>
          </a:p>
          <a:p>
            <a:pPr marL="609600" indent="0">
              <a:buFont typeface="Wingdings" pitchFamily="2" charset="2"/>
              <a:buNone/>
              <a:defRPr/>
            </a:pPr>
            <a:endParaRPr lang="ru-RU" sz="2400" dirty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A014065-CDA3-4740-B8BB-B0E05C9B1597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4101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Заголовок 1"/>
          <p:cNvSpPr>
            <a:spLocks noGrp="1"/>
          </p:cNvSpPr>
          <p:nvPr>
            <p:ph type="title"/>
          </p:nvPr>
        </p:nvSpPr>
        <p:spPr>
          <a:xfrm>
            <a:off x="214313" y="457200"/>
            <a:ext cx="8472487" cy="757238"/>
          </a:xfrm>
        </p:spPr>
        <p:txBody>
          <a:bodyPr/>
          <a:lstStyle/>
          <a:p>
            <a:r>
              <a:rPr lang="ru-RU" sz="3600">
                <a:solidFill>
                  <a:schemeClr val="bg2"/>
                </a:solidFill>
              </a:rPr>
              <a:t>Модель организации внешней памяти</a:t>
            </a:r>
            <a:endParaRPr lang="ru-RU" sz="360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1500174"/>
            <a:ext cx="8186766" cy="4857764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ru-RU" dirty="0">
                <a:solidFill>
                  <a:schemeClr val="accent1">
                    <a:lumMod val="25000"/>
                  </a:schemeClr>
                </a:solidFill>
              </a:rPr>
              <a:t>ЗАПИСЬ</a:t>
            </a:r>
            <a:r>
              <a:rPr lang="ru-RU" dirty="0"/>
              <a:t> состоит из </a:t>
            </a:r>
            <a:r>
              <a:rPr lang="ru-RU" b="1" dirty="0">
                <a:solidFill>
                  <a:schemeClr val="accent1">
                    <a:lumMod val="25000"/>
                  </a:schemeClr>
                </a:solidFill>
              </a:rPr>
              <a:t>полей</a:t>
            </a:r>
            <a:r>
              <a:rPr lang="ru-RU" dirty="0"/>
              <a:t>. Поля имеют тип и размер.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ru-RU" dirty="0"/>
              <a:t>Выделенное поле – </a:t>
            </a:r>
            <a:r>
              <a:rPr lang="ru-RU" b="1" dirty="0">
                <a:solidFill>
                  <a:schemeClr val="accent1">
                    <a:lumMod val="25000"/>
                  </a:schemeClr>
                </a:solidFill>
              </a:rPr>
              <a:t>ключ</a:t>
            </a:r>
            <a:r>
              <a:rPr lang="ru-RU" dirty="0"/>
              <a:t>.</a:t>
            </a:r>
          </a:p>
          <a:p>
            <a:pPr>
              <a:buFont typeface="Wingdings" pitchFamily="2" charset="2"/>
              <a:buNone/>
              <a:defRPr/>
            </a:pPr>
            <a:r>
              <a:rPr lang="ru-RU" dirty="0"/>
              <a:t>Оценка скорости выполнения операции над записью – количество считанных блоков для выполнения операции</a:t>
            </a:r>
          </a:p>
          <a:p>
            <a:pPr>
              <a:buFont typeface="Wingdings" pitchFamily="2" charset="2"/>
              <a:buNone/>
              <a:defRPr/>
            </a:pPr>
            <a:r>
              <a:rPr lang="ru-RU" dirty="0">
                <a:solidFill>
                  <a:schemeClr val="accent1">
                    <a:lumMod val="25000"/>
                  </a:schemeClr>
                </a:solidFill>
              </a:rPr>
              <a:t>Операции</a:t>
            </a:r>
            <a:r>
              <a:rPr lang="ru-RU" dirty="0"/>
              <a:t> – </a:t>
            </a:r>
            <a:r>
              <a:rPr lang="ru-RU" b="1" dirty="0"/>
              <a:t>поиск, вставка, удаление, редактирование</a:t>
            </a:r>
          </a:p>
        </p:txBody>
      </p:sp>
      <p:sp>
        <p:nvSpPr>
          <p:cNvPr id="5124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1F36050-CDCD-4F8E-98C9-44AB57154257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5125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179388" y="457200"/>
            <a:ext cx="8785225" cy="668338"/>
          </a:xfrm>
        </p:spPr>
        <p:txBody>
          <a:bodyPr/>
          <a:lstStyle/>
          <a:p>
            <a:pPr algn="ctr"/>
            <a:r>
              <a:rPr lang="ru-RU" sz="3600">
                <a:solidFill>
                  <a:schemeClr val="bg2"/>
                </a:solidFill>
              </a:rPr>
              <a:t>Куча</a:t>
            </a:r>
            <a:endParaRPr lang="ru-RU" sz="3600" i="1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1268413"/>
            <a:ext cx="9144000" cy="5589587"/>
          </a:xfrm>
        </p:spPr>
        <p:txBody>
          <a:bodyPr/>
          <a:lstStyle/>
          <a:p>
            <a:pPr>
              <a:buFontTx/>
              <a:buChar char="-"/>
            </a:pPr>
            <a:r>
              <a:rPr lang="ru-RU" sz="2800" u="sng"/>
              <a:t>Вставка.</a:t>
            </a:r>
            <a:r>
              <a:rPr lang="ru-RU" sz="2800"/>
              <a:t> Последовательный просмотр  блоков файла с целью поиска свободного места в блоке.</a:t>
            </a:r>
          </a:p>
          <a:p>
            <a:pPr>
              <a:buFontTx/>
              <a:buChar char="-"/>
            </a:pPr>
            <a:r>
              <a:rPr lang="ru-RU" sz="2800" u="sng"/>
              <a:t>Удаление.</a:t>
            </a:r>
            <a:r>
              <a:rPr lang="ru-RU" sz="2800"/>
              <a:t> Поиск  записи по значению поля (ключу) с помощью последовательного просмотра  блоков файла.  Удаление записи в блоке. (шкала, длина блока)</a:t>
            </a:r>
          </a:p>
          <a:p>
            <a:pPr>
              <a:buFontTx/>
              <a:buChar char="-"/>
            </a:pPr>
            <a:r>
              <a:rPr lang="ru-RU" sz="2800" u="sng"/>
              <a:t>Поиск.</a:t>
            </a:r>
            <a:r>
              <a:rPr lang="ru-RU" sz="2800"/>
              <a:t> Последовательный просмотр блоков.</a:t>
            </a:r>
          </a:p>
          <a:p>
            <a:pPr>
              <a:buFontTx/>
              <a:buChar char="-"/>
            </a:pPr>
            <a:r>
              <a:rPr lang="ru-RU" sz="2800" u="sng"/>
              <a:t>Редактирование.</a:t>
            </a:r>
            <a:r>
              <a:rPr lang="ru-RU" sz="2800"/>
              <a:t> Удаление и вставка.</a:t>
            </a:r>
          </a:p>
          <a:p>
            <a:pPr>
              <a:buFontTx/>
              <a:buChar char="-"/>
            </a:pPr>
            <a:endParaRPr lang="ru-RU" sz="2800"/>
          </a:p>
          <a:p>
            <a:pPr>
              <a:buFont typeface="Wingdings" pitchFamily="2" charset="2"/>
              <a:buNone/>
            </a:pPr>
            <a:endParaRPr lang="ru-RU" sz="2800"/>
          </a:p>
        </p:txBody>
      </p:sp>
      <p:sp>
        <p:nvSpPr>
          <p:cNvPr id="4" name="Прямоугольник 3"/>
          <p:cNvSpPr/>
          <p:nvPr/>
        </p:nvSpPr>
        <p:spPr>
          <a:xfrm>
            <a:off x="1143000" y="5357813"/>
            <a:ext cx="1143000" cy="1285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786063" y="5357813"/>
            <a:ext cx="1143000" cy="1285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4429125" y="5357813"/>
            <a:ext cx="1143000" cy="1285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072188" y="5357813"/>
            <a:ext cx="1143000" cy="1285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" name="Круговая стрелка 7"/>
          <p:cNvSpPr/>
          <p:nvPr/>
        </p:nvSpPr>
        <p:spPr>
          <a:xfrm>
            <a:off x="2286000" y="5072063"/>
            <a:ext cx="571500" cy="500062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Круговая стрелка 8"/>
          <p:cNvSpPr/>
          <p:nvPr/>
        </p:nvSpPr>
        <p:spPr>
          <a:xfrm>
            <a:off x="3929063" y="5072063"/>
            <a:ext cx="571500" cy="500062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Круговая стрелка 9"/>
          <p:cNvSpPr/>
          <p:nvPr/>
        </p:nvSpPr>
        <p:spPr>
          <a:xfrm>
            <a:off x="5500688" y="5072063"/>
            <a:ext cx="571500" cy="500062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6155" name="TextBox 11"/>
          <p:cNvSpPr txBox="1">
            <a:spLocks noChangeArrowheads="1"/>
          </p:cNvSpPr>
          <p:nvPr/>
        </p:nvSpPr>
        <p:spPr bwMode="auto">
          <a:xfrm>
            <a:off x="1143000" y="5500688"/>
            <a:ext cx="1143000" cy="341312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800"/>
              <a:t>Запись 1 </a:t>
            </a:r>
          </a:p>
        </p:txBody>
      </p:sp>
      <p:sp>
        <p:nvSpPr>
          <p:cNvPr id="6156" name="TextBox 12"/>
          <p:cNvSpPr txBox="1">
            <a:spLocks noChangeArrowheads="1"/>
          </p:cNvSpPr>
          <p:nvPr/>
        </p:nvSpPr>
        <p:spPr bwMode="auto">
          <a:xfrm>
            <a:off x="1143000" y="5857875"/>
            <a:ext cx="1143000" cy="341313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800"/>
              <a:t>Запись 2</a:t>
            </a:r>
          </a:p>
        </p:txBody>
      </p:sp>
      <p:sp>
        <p:nvSpPr>
          <p:cNvPr id="6157" name="TextBox 13"/>
          <p:cNvSpPr txBox="1">
            <a:spLocks noChangeArrowheads="1"/>
          </p:cNvSpPr>
          <p:nvPr/>
        </p:nvSpPr>
        <p:spPr bwMode="auto">
          <a:xfrm>
            <a:off x="1143000" y="6286500"/>
            <a:ext cx="1143000" cy="341313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800"/>
              <a:t>Запись</a:t>
            </a:r>
            <a:r>
              <a:rPr lang="en-US" sz="1800"/>
              <a:t>N</a:t>
            </a:r>
            <a:r>
              <a:rPr lang="ru-RU" sz="1800"/>
              <a:t> </a:t>
            </a:r>
          </a:p>
        </p:txBody>
      </p:sp>
      <p:sp>
        <p:nvSpPr>
          <p:cNvPr id="615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3E204C7-A7BF-4E5C-8CB4-E4E83C646609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6159" name="Нижний колонтитул 1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28675"/>
          </a:xfrm>
        </p:spPr>
        <p:txBody>
          <a:bodyPr/>
          <a:lstStyle/>
          <a:p>
            <a:pPr algn="ctr"/>
            <a:r>
              <a:rPr lang="ru-RU" sz="4000">
                <a:solidFill>
                  <a:schemeClr val="bg2"/>
                </a:solidFill>
              </a:rPr>
              <a:t>Куча. Свойства</a:t>
            </a:r>
            <a:endParaRPr lang="ru-RU" sz="4000"/>
          </a:p>
        </p:txBody>
      </p:sp>
      <p:sp>
        <p:nvSpPr>
          <p:cNvPr id="7171" name="Содержимое 2"/>
          <p:cNvSpPr>
            <a:spLocks noGrp="1"/>
          </p:cNvSpPr>
          <p:nvPr>
            <p:ph idx="1"/>
          </p:nvPr>
        </p:nvSpPr>
        <p:spPr>
          <a:xfrm>
            <a:off x="428625" y="1357313"/>
            <a:ext cx="8229600" cy="51435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/>
              <a:t>Блоки файла фиксированной длины</a:t>
            </a:r>
          </a:p>
          <a:p>
            <a:pPr>
              <a:lnSpc>
                <a:spcPct val="150000"/>
              </a:lnSpc>
            </a:pPr>
            <a:r>
              <a:rPr lang="ru-RU"/>
              <a:t>Записи не закреплены</a:t>
            </a:r>
          </a:p>
          <a:p>
            <a:pPr>
              <a:lnSpc>
                <a:spcPct val="150000"/>
              </a:lnSpc>
            </a:pPr>
            <a:r>
              <a:rPr lang="ru-RU"/>
              <a:t>Блоки файла неупорядочены</a:t>
            </a:r>
          </a:p>
          <a:p>
            <a:pPr>
              <a:lnSpc>
                <a:spcPct val="150000"/>
              </a:lnSpc>
            </a:pPr>
            <a:r>
              <a:rPr lang="ru-RU"/>
              <a:t> Возможность плотно хранить записи</a:t>
            </a:r>
          </a:p>
          <a:p>
            <a:pPr>
              <a:lnSpc>
                <a:spcPct val="150000"/>
              </a:lnSpc>
            </a:pPr>
            <a:r>
              <a:rPr lang="ru-RU"/>
              <a:t>Последовательный доступ</a:t>
            </a:r>
          </a:p>
          <a:p>
            <a:r>
              <a:rPr lang="ru-RU"/>
              <a:t>Оценка доступа для кучи – </a:t>
            </a:r>
            <a:r>
              <a:rPr lang="en-US"/>
              <a:t>N/2</a:t>
            </a:r>
            <a:r>
              <a:rPr lang="ru-RU"/>
              <a:t>, </a:t>
            </a:r>
            <a:br>
              <a:rPr lang="en-US"/>
            </a:br>
            <a:r>
              <a:rPr lang="ru-RU"/>
              <a:t>где </a:t>
            </a:r>
            <a:r>
              <a:rPr lang="en-US"/>
              <a:t>N – </a:t>
            </a:r>
            <a:r>
              <a:rPr lang="ru-RU"/>
              <a:t>количество блоков в файле</a:t>
            </a:r>
          </a:p>
        </p:txBody>
      </p:sp>
      <p:sp>
        <p:nvSpPr>
          <p:cNvPr id="717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BB6D841-2CA7-4AC8-98FF-C4953623DC78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7173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14363"/>
          </a:xfrm>
        </p:spPr>
        <p:txBody>
          <a:bodyPr/>
          <a:lstStyle/>
          <a:p>
            <a:pPr algn="ctr">
              <a:defRPr/>
            </a:pPr>
            <a:r>
              <a:rPr lang="ru-RU" sz="3600" dirty="0" err="1">
                <a:solidFill>
                  <a:schemeClr val="accent1">
                    <a:lumMod val="25000"/>
                  </a:schemeClr>
                </a:solidFill>
              </a:rPr>
              <a:t>Хэш</a:t>
            </a:r>
            <a:r>
              <a:rPr lang="ru-RU" sz="3600" dirty="0">
                <a:solidFill>
                  <a:schemeClr val="accent1">
                    <a:lumMod val="25000"/>
                  </a:schemeClr>
                </a:solidFill>
              </a:rPr>
              <a:t> файл. </a:t>
            </a:r>
            <a:r>
              <a:rPr lang="en-US" sz="3600" dirty="0">
                <a:solidFill>
                  <a:schemeClr val="accent1">
                    <a:lumMod val="25000"/>
                  </a:schemeClr>
                </a:solidFill>
              </a:rPr>
              <a:t>Hash file.</a:t>
            </a:r>
            <a:endParaRPr lang="ru-RU" sz="3600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8195" name="TextBox 3"/>
          <p:cNvSpPr txBox="1">
            <a:spLocks noChangeArrowheads="1"/>
          </p:cNvSpPr>
          <p:nvPr/>
        </p:nvSpPr>
        <p:spPr bwMode="auto">
          <a:xfrm>
            <a:off x="0" y="1285875"/>
            <a:ext cx="8715375" cy="1341438"/>
          </a:xfrm>
          <a:prstGeom prst="rect">
            <a:avLst/>
          </a:prstGeom>
          <a:noFill/>
          <a:ln w="0">
            <a:noFill/>
            <a:round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 Идея – разбиение  всех блоков файла на </a:t>
            </a:r>
            <a:r>
              <a:rPr lang="ru-RU" b="1"/>
              <a:t>участки</a:t>
            </a:r>
            <a:r>
              <a:rPr lang="ru-RU"/>
              <a:t>.</a:t>
            </a:r>
          </a:p>
          <a:p>
            <a:r>
              <a:rPr lang="ru-RU"/>
              <a:t> Помещать записи в участки в зависимости от </a:t>
            </a:r>
            <a:r>
              <a:rPr lang="ru-RU" b="1"/>
              <a:t>значения хэш </a:t>
            </a:r>
            <a:r>
              <a:rPr lang="ru-RU"/>
              <a:t>функции на </a:t>
            </a:r>
            <a:r>
              <a:rPr lang="ru-RU" b="1"/>
              <a:t>ключе</a:t>
            </a:r>
            <a:r>
              <a:rPr lang="ru-RU"/>
              <a:t> записи.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43000" y="3214688"/>
            <a:ext cx="1143000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57500" y="3214688"/>
            <a:ext cx="1143000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429125" y="3214688"/>
            <a:ext cx="1143000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143000" y="4071938"/>
            <a:ext cx="1143000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2857500" y="4071938"/>
            <a:ext cx="1143000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143000" y="4929188"/>
            <a:ext cx="1143000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2857500" y="4929188"/>
            <a:ext cx="1143000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4429125" y="4929188"/>
            <a:ext cx="1143000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6072188" y="4929188"/>
            <a:ext cx="1143000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1143000" y="6000750"/>
            <a:ext cx="1143000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" name="Круговая стрелка 16"/>
          <p:cNvSpPr/>
          <p:nvPr/>
        </p:nvSpPr>
        <p:spPr>
          <a:xfrm>
            <a:off x="2286000" y="3857625"/>
            <a:ext cx="571500" cy="500063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18" name="Круговая стрелка 17"/>
          <p:cNvSpPr/>
          <p:nvPr/>
        </p:nvSpPr>
        <p:spPr>
          <a:xfrm>
            <a:off x="2286000" y="3000375"/>
            <a:ext cx="571500" cy="500063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Круговая стрелка 18"/>
          <p:cNvSpPr/>
          <p:nvPr/>
        </p:nvSpPr>
        <p:spPr>
          <a:xfrm>
            <a:off x="2286000" y="4643438"/>
            <a:ext cx="571500" cy="500062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20" name="Круговая стрелка 19"/>
          <p:cNvSpPr/>
          <p:nvPr/>
        </p:nvSpPr>
        <p:spPr>
          <a:xfrm>
            <a:off x="3929063" y="4643438"/>
            <a:ext cx="571500" cy="500062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Круговая стрелка 20"/>
          <p:cNvSpPr/>
          <p:nvPr/>
        </p:nvSpPr>
        <p:spPr>
          <a:xfrm>
            <a:off x="5500688" y="4643438"/>
            <a:ext cx="571500" cy="500062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22" name="Круговая стрелка 21"/>
          <p:cNvSpPr/>
          <p:nvPr/>
        </p:nvSpPr>
        <p:spPr>
          <a:xfrm>
            <a:off x="3929063" y="2928938"/>
            <a:ext cx="571500" cy="500062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8212" name="TextBox 22"/>
          <p:cNvSpPr txBox="1">
            <a:spLocks noChangeArrowheads="1"/>
          </p:cNvSpPr>
          <p:nvPr/>
        </p:nvSpPr>
        <p:spPr bwMode="auto">
          <a:xfrm>
            <a:off x="142875" y="3214688"/>
            <a:ext cx="857250" cy="3268662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/>
              <a:t>0</a:t>
            </a:r>
            <a:endParaRPr lang="ru-RU" sz="2400"/>
          </a:p>
          <a:p>
            <a:pPr algn="ctr"/>
            <a:endParaRPr lang="ru-RU" sz="2400"/>
          </a:p>
          <a:p>
            <a:pPr algn="ctr"/>
            <a:r>
              <a:rPr lang="en-US" sz="2400"/>
              <a:t>1</a:t>
            </a:r>
            <a:endParaRPr lang="ru-RU" sz="2400"/>
          </a:p>
          <a:p>
            <a:pPr algn="ctr"/>
            <a:endParaRPr lang="ru-RU" sz="2400"/>
          </a:p>
          <a:p>
            <a:pPr algn="ctr"/>
            <a:r>
              <a:rPr lang="en-US" sz="2400"/>
              <a:t>2</a:t>
            </a:r>
            <a:endParaRPr lang="ru-RU" sz="2400"/>
          </a:p>
          <a:p>
            <a:pPr algn="ctr"/>
            <a:r>
              <a:rPr lang="ru-RU" sz="2400"/>
              <a:t>.</a:t>
            </a:r>
          </a:p>
          <a:p>
            <a:pPr algn="ctr"/>
            <a:r>
              <a:rPr lang="ru-RU" sz="2400"/>
              <a:t>.</a:t>
            </a:r>
          </a:p>
          <a:p>
            <a:pPr algn="ctr"/>
            <a:r>
              <a:rPr lang="en-US" sz="2400"/>
              <a:t>N-1</a:t>
            </a:r>
            <a:endParaRPr lang="ru-RU" sz="2400"/>
          </a:p>
        </p:txBody>
      </p:sp>
      <p:sp>
        <p:nvSpPr>
          <p:cNvPr id="8213" name="TextBox 23"/>
          <p:cNvSpPr txBox="1">
            <a:spLocks noChangeArrowheads="1"/>
          </p:cNvSpPr>
          <p:nvPr/>
        </p:nvSpPr>
        <p:spPr bwMode="auto">
          <a:xfrm>
            <a:off x="5715000" y="3429000"/>
            <a:ext cx="3286125" cy="134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H = Mod( F(K)/</a:t>
            </a:r>
            <a:r>
              <a:rPr lang="ru-RU"/>
              <a:t> </a:t>
            </a:r>
            <a:r>
              <a:rPr lang="en-US"/>
              <a:t>N )</a:t>
            </a:r>
            <a:r>
              <a:rPr lang="ru-RU"/>
              <a:t>,</a:t>
            </a:r>
          </a:p>
          <a:p>
            <a:pPr algn="ctr"/>
            <a:r>
              <a:rPr lang="ru-RU">
                <a:solidFill>
                  <a:srgbClr val="008000"/>
                </a:solidFill>
              </a:rPr>
              <a:t>Оптимизация числа участков</a:t>
            </a:r>
          </a:p>
        </p:txBody>
      </p:sp>
      <p:sp>
        <p:nvSpPr>
          <p:cNvPr id="8214" name="TextBox 24"/>
          <p:cNvSpPr txBox="1">
            <a:spLocks noChangeArrowheads="1"/>
          </p:cNvSpPr>
          <p:nvPr/>
        </p:nvSpPr>
        <p:spPr bwMode="auto">
          <a:xfrm>
            <a:off x="2643188" y="5857875"/>
            <a:ext cx="61436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Оценка доступа = 2 + </a:t>
            </a:r>
            <a:r>
              <a:rPr lang="ru-RU" sz="1800" b="1"/>
              <a:t>сред длина участка</a:t>
            </a:r>
          </a:p>
        </p:txBody>
      </p:sp>
      <p:sp>
        <p:nvSpPr>
          <p:cNvPr id="8215" name="Номер слайда 2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D6DBEB4-59EE-467B-AF67-7434D6BF4882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8216" name="Нижний колонтитул 2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57238"/>
          </a:xfrm>
        </p:spPr>
        <p:txBody>
          <a:bodyPr/>
          <a:lstStyle/>
          <a:p>
            <a:pPr algn="ctr">
              <a:defRPr/>
            </a:pPr>
            <a:r>
              <a:rPr lang="ru-RU" sz="3600" dirty="0" err="1">
                <a:solidFill>
                  <a:schemeClr val="accent1">
                    <a:lumMod val="25000"/>
                  </a:schemeClr>
                </a:solidFill>
              </a:rPr>
              <a:t>Хэш</a:t>
            </a:r>
            <a:r>
              <a:rPr lang="ru-RU" sz="3600" dirty="0">
                <a:solidFill>
                  <a:schemeClr val="accent1">
                    <a:lumMod val="25000"/>
                  </a:schemeClr>
                </a:solidFill>
              </a:rPr>
              <a:t> файл. Свойства.</a:t>
            </a:r>
          </a:p>
        </p:txBody>
      </p:sp>
      <p:sp>
        <p:nvSpPr>
          <p:cNvPr id="9219" name="Содержимое 2"/>
          <p:cNvSpPr>
            <a:spLocks noGrp="1"/>
          </p:cNvSpPr>
          <p:nvPr>
            <p:ph idx="1"/>
          </p:nvPr>
        </p:nvSpPr>
        <p:spPr>
          <a:xfrm>
            <a:off x="142875" y="1357313"/>
            <a:ext cx="9001125" cy="4857750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ru-RU"/>
              <a:t>Блоки файла фиксированной длины</a:t>
            </a:r>
          </a:p>
          <a:p>
            <a:pPr>
              <a:lnSpc>
                <a:spcPct val="114000"/>
              </a:lnSpc>
            </a:pPr>
            <a:r>
              <a:rPr lang="ru-RU"/>
              <a:t>Записи не закреплены</a:t>
            </a:r>
          </a:p>
          <a:p>
            <a:pPr>
              <a:lnSpc>
                <a:spcPct val="114000"/>
              </a:lnSpc>
            </a:pPr>
            <a:r>
              <a:rPr lang="ru-RU"/>
              <a:t>Блоки файла неупорядочены</a:t>
            </a:r>
          </a:p>
          <a:p>
            <a:pPr>
              <a:lnSpc>
                <a:spcPct val="114000"/>
              </a:lnSpc>
            </a:pPr>
            <a:r>
              <a:rPr lang="ru-RU"/>
              <a:t>Доступ по значению Хэш функции от ключа</a:t>
            </a:r>
          </a:p>
          <a:p>
            <a:pPr>
              <a:lnSpc>
                <a:spcPct val="114000"/>
              </a:lnSpc>
            </a:pPr>
            <a:r>
              <a:rPr lang="ru-RU"/>
              <a:t>Оценка доступа = 2 + </a:t>
            </a:r>
            <a:r>
              <a:rPr lang="ru-RU" sz="2800" b="1"/>
              <a:t>сред длина участка</a:t>
            </a:r>
          </a:p>
          <a:p>
            <a:pPr>
              <a:lnSpc>
                <a:spcPct val="114000"/>
              </a:lnSpc>
            </a:pPr>
            <a:r>
              <a:rPr lang="ru-RU"/>
              <a:t>Можно изменять Хэш функцию, улучшая скорость доступа</a:t>
            </a:r>
          </a:p>
          <a:p>
            <a:endParaRPr lang="ru-RU"/>
          </a:p>
          <a:p>
            <a:endParaRPr lang="ru-RU"/>
          </a:p>
        </p:txBody>
      </p:sp>
      <p:sp>
        <p:nvSpPr>
          <p:cNvPr id="922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5F0E780-B5AD-4306-9D90-415DA56B7807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9221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Заголовок 1"/>
          <p:cNvSpPr>
            <a:spLocks noGrp="1"/>
          </p:cNvSpPr>
          <p:nvPr>
            <p:ph type="title"/>
          </p:nvPr>
        </p:nvSpPr>
        <p:spPr>
          <a:xfrm>
            <a:off x="468313" y="476250"/>
            <a:ext cx="8229600" cy="668338"/>
          </a:xfrm>
        </p:spPr>
        <p:txBody>
          <a:bodyPr/>
          <a:lstStyle/>
          <a:p>
            <a:pPr algn="ctr"/>
            <a:r>
              <a:rPr lang="ru-RU" sz="3600">
                <a:solidFill>
                  <a:schemeClr val="bg2"/>
                </a:solidFill>
              </a:rPr>
              <a:t>Индексный файл</a:t>
            </a:r>
            <a:endParaRPr lang="ru-RU" sz="36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5750" y="1143000"/>
            <a:ext cx="8374063" cy="5256213"/>
          </a:xfrm>
        </p:spPr>
        <p:txBody>
          <a:bodyPr/>
          <a:lstStyle/>
          <a:p>
            <a:pPr marL="0" indent="0">
              <a:buFont typeface="Wingdings" pitchFamily="2" charset="2"/>
              <a:buChar char="v"/>
              <a:defRPr/>
            </a:pPr>
            <a:r>
              <a:rPr lang="en-US" sz="2800" dirty="0"/>
              <a:t> </a:t>
            </a:r>
            <a:r>
              <a:rPr lang="ru-RU" sz="2800" dirty="0"/>
              <a:t>Разреженный индекс</a:t>
            </a:r>
          </a:p>
          <a:p>
            <a:pPr marL="0" indent="0">
              <a:buFont typeface="Wingdings" pitchFamily="2" charset="2"/>
              <a:buChar char="v"/>
              <a:defRPr/>
            </a:pPr>
            <a:r>
              <a:rPr lang="en-US" sz="2800" dirty="0"/>
              <a:t> </a:t>
            </a:r>
            <a:r>
              <a:rPr lang="ru-RU" sz="2800" dirty="0"/>
              <a:t>Плотный индекс</a:t>
            </a:r>
            <a:endParaRPr lang="ru-RU" sz="2400" dirty="0"/>
          </a:p>
          <a:p>
            <a:pPr marL="0" indent="0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ru-RU" sz="2800" dirty="0"/>
              <a:t>Разреженный индекс - </a:t>
            </a:r>
            <a:r>
              <a:rPr lang="ru-RU" sz="2800" b="1" dirty="0" err="1"/>
              <a:t>индекс</a:t>
            </a:r>
            <a:endParaRPr lang="en-US" sz="2800" b="1" dirty="0"/>
          </a:p>
          <a:p>
            <a:pPr marL="0" indent="0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ru-RU" sz="2400" dirty="0"/>
              <a:t>Состоит из 2 типов файлов:</a:t>
            </a:r>
          </a:p>
          <a:p>
            <a:pPr marL="0" indent="0">
              <a:lnSpc>
                <a:spcPct val="114000"/>
              </a:lnSpc>
              <a:defRPr/>
            </a:pPr>
            <a:r>
              <a:rPr lang="en-US" sz="2400" dirty="0"/>
              <a:t> </a:t>
            </a:r>
            <a:r>
              <a:rPr lang="ru-RU" sz="2400" dirty="0"/>
              <a:t>Основной файл, содержащий записи с информацией о предметной области</a:t>
            </a:r>
          </a:p>
          <a:p>
            <a:pPr marL="0" indent="0">
              <a:lnSpc>
                <a:spcPct val="114000"/>
              </a:lnSpc>
              <a:defRPr/>
            </a:pPr>
            <a:r>
              <a:rPr lang="en-US" sz="2400" dirty="0"/>
              <a:t> </a:t>
            </a:r>
            <a:r>
              <a:rPr lang="ru-RU" sz="2400" dirty="0"/>
              <a:t>Файл индекса, содержащий пары </a:t>
            </a:r>
            <a:r>
              <a:rPr lang="en-US" sz="2400" dirty="0"/>
              <a:t>&lt; </a:t>
            </a:r>
            <a:r>
              <a:rPr lang="ru-RU" sz="2400" dirty="0"/>
              <a:t>ключ, адрес </a:t>
            </a:r>
            <a:r>
              <a:rPr lang="en-US" sz="2400" dirty="0"/>
              <a:t>&gt;</a:t>
            </a:r>
          </a:p>
          <a:p>
            <a:pPr marL="0" indent="0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ru-RU" sz="2400" b="1" dirty="0">
                <a:solidFill>
                  <a:schemeClr val="accent1">
                    <a:lumMod val="25000"/>
                  </a:schemeClr>
                </a:solidFill>
              </a:rPr>
              <a:t>Ключ </a:t>
            </a:r>
            <a:r>
              <a:rPr lang="ru-RU" sz="2400" dirty="0"/>
              <a:t>– значение ключа записи, представителя блока (старший ключ)</a:t>
            </a:r>
          </a:p>
          <a:p>
            <a:pPr marL="0" indent="0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ru-RU" sz="2400" b="1" dirty="0">
                <a:solidFill>
                  <a:schemeClr val="accent1">
                    <a:lumMod val="25000"/>
                  </a:schemeClr>
                </a:solidFill>
              </a:rPr>
              <a:t>Адрес </a:t>
            </a:r>
            <a:r>
              <a:rPr lang="ru-RU" sz="2400" dirty="0"/>
              <a:t>– </a:t>
            </a:r>
            <a:r>
              <a:rPr lang="ru-RU" sz="2400" dirty="0" err="1"/>
              <a:t>адрес</a:t>
            </a:r>
            <a:r>
              <a:rPr lang="ru-RU" sz="2400" dirty="0"/>
              <a:t> блока файла, содержащий первую запись с соответствующим значением ключа</a:t>
            </a:r>
            <a:endParaRPr lang="en-US" sz="2400" dirty="0"/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6EFA77C-5E74-4BEA-A033-5A84518ACB6C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10245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Соединительная линия уступом 12"/>
          <p:cNvCxnSpPr/>
          <p:nvPr/>
        </p:nvCxnSpPr>
        <p:spPr>
          <a:xfrm flipV="1">
            <a:off x="1643063" y="1714500"/>
            <a:ext cx="2928937" cy="1357313"/>
          </a:xfrm>
          <a:prstGeom prst="bentConnector3">
            <a:avLst>
              <a:gd name="adj1" fmla="val 85542"/>
            </a:avLst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67" name="Заголовок 1"/>
          <p:cNvSpPr>
            <a:spLocks noGrp="1"/>
          </p:cNvSpPr>
          <p:nvPr>
            <p:ph type="title"/>
          </p:nvPr>
        </p:nvSpPr>
        <p:spPr>
          <a:xfrm>
            <a:off x="500063" y="0"/>
            <a:ext cx="8229600" cy="668338"/>
          </a:xfrm>
        </p:spPr>
        <p:txBody>
          <a:bodyPr/>
          <a:lstStyle/>
          <a:p>
            <a:pPr algn="ctr"/>
            <a:r>
              <a:rPr lang="ru-RU" sz="4000">
                <a:solidFill>
                  <a:schemeClr val="bg2"/>
                </a:solidFill>
              </a:rPr>
              <a:t>Пример</a:t>
            </a:r>
            <a:r>
              <a:rPr lang="ru-RU" sz="4000"/>
              <a:t> </a:t>
            </a:r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idx="1"/>
          </p:nvPr>
        </p:nvGraphicFramePr>
        <p:xfrm>
          <a:off x="357188" y="2428875"/>
          <a:ext cx="1285875" cy="29463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0914">
                <a:tc>
                  <a:txBody>
                    <a:bodyPr/>
                    <a:lstStyle/>
                    <a:p>
                      <a:r>
                        <a:rPr lang="en-US" sz="1800" dirty="0"/>
                        <a:t>&lt;1,</a:t>
                      </a:r>
                      <a:r>
                        <a:rPr lang="en-US" sz="1800" baseline="0" dirty="0"/>
                        <a:t> b</a:t>
                      </a:r>
                      <a:r>
                        <a:rPr lang="en-US" sz="1800" baseline="-25000" dirty="0"/>
                        <a:t>1</a:t>
                      </a:r>
                      <a:r>
                        <a:rPr lang="en-US" sz="1800" baseline="0" dirty="0"/>
                        <a:t>&gt;</a:t>
                      </a:r>
                      <a:endParaRPr lang="ru-RU" sz="1800" dirty="0"/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914">
                <a:tc>
                  <a:txBody>
                    <a:bodyPr/>
                    <a:lstStyle/>
                    <a:p>
                      <a:r>
                        <a:rPr lang="en-US" sz="1800" dirty="0"/>
                        <a:t>&lt;7, b</a:t>
                      </a:r>
                      <a:r>
                        <a:rPr lang="en-US" sz="1800" baseline="-25000" dirty="0"/>
                        <a:t>2</a:t>
                      </a:r>
                      <a:r>
                        <a:rPr lang="en-US" sz="1800" dirty="0"/>
                        <a:t>&gt;</a:t>
                      </a:r>
                      <a:endParaRPr lang="ru-RU" sz="1800" dirty="0"/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914">
                <a:tc>
                  <a:txBody>
                    <a:bodyPr/>
                    <a:lstStyle/>
                    <a:p>
                      <a:r>
                        <a:rPr lang="en-US" sz="1800" dirty="0"/>
                        <a:t>&lt;15, b</a:t>
                      </a:r>
                      <a:r>
                        <a:rPr lang="en-US" sz="1800" baseline="-25000" dirty="0"/>
                        <a:t>3</a:t>
                      </a:r>
                      <a:r>
                        <a:rPr lang="en-US" sz="1800" dirty="0"/>
                        <a:t>&gt;</a:t>
                      </a:r>
                      <a:endParaRPr lang="ru-RU" sz="1800" dirty="0"/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914">
                <a:tc>
                  <a:txBody>
                    <a:bodyPr/>
                    <a:lstStyle/>
                    <a:p>
                      <a:r>
                        <a:rPr lang="en-US" sz="1800" dirty="0"/>
                        <a:t>…</a:t>
                      </a:r>
                      <a:endParaRPr lang="ru-RU" sz="1800" dirty="0"/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914">
                <a:tc>
                  <a:txBody>
                    <a:bodyPr/>
                    <a:lstStyle/>
                    <a:p>
                      <a:r>
                        <a:rPr lang="en-US" sz="1800" dirty="0"/>
                        <a:t>….</a:t>
                      </a:r>
                      <a:endParaRPr lang="ru-RU" sz="1800" dirty="0"/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914"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914">
                <a:tc>
                  <a:txBody>
                    <a:bodyPr/>
                    <a:lstStyle/>
                    <a:p>
                      <a:r>
                        <a:rPr lang="en-US" sz="1800" dirty="0"/>
                        <a:t>&lt;171, </a:t>
                      </a:r>
                      <a:r>
                        <a:rPr lang="en-US" sz="1800" dirty="0" err="1"/>
                        <a:t>b</a:t>
                      </a:r>
                      <a:r>
                        <a:rPr lang="en-US" sz="1800" baseline="-25000" dirty="0" err="1"/>
                        <a:t>N</a:t>
                      </a:r>
                      <a:r>
                        <a:rPr lang="en-US" sz="1800" dirty="0"/>
                        <a:t>&gt;</a:t>
                      </a:r>
                      <a:endParaRPr lang="ru-RU" sz="1800" dirty="0"/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4500563" y="1428750"/>
          <a:ext cx="1214437" cy="3214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2680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7</a:t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</a:rPr>
                        <a:t>Козлов</a:t>
                      </a:r>
                      <a:br>
                        <a:rPr lang="ru-RU" sz="1800" baseline="0" dirty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800" baseline="0" dirty="0">
                          <a:solidFill>
                            <a:schemeClr val="tx1"/>
                          </a:solidFill>
                        </a:rPr>
                        <a:t>… 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2680">
                <a:tc>
                  <a:txBody>
                    <a:bodyPr/>
                    <a:lstStyle/>
                    <a:p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8</a:t>
                      </a:r>
                      <a:br>
                        <a:rPr lang="en-US" sz="18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800" b="1" baseline="0" dirty="0">
                          <a:solidFill>
                            <a:schemeClr val="tx1"/>
                          </a:solidFill>
                        </a:rPr>
                        <a:t>Фирсов</a:t>
                      </a:r>
                      <a:br>
                        <a:rPr lang="ru-RU" sz="1800" b="1" baseline="0" dirty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800" b="1" baseline="0" dirty="0">
                          <a:solidFill>
                            <a:schemeClr val="tx1"/>
                          </a:solidFill>
                        </a:rPr>
                        <a:t>… 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648"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26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11</a:t>
                      </a:r>
                      <a:br>
                        <a:rPr lang="en-US" sz="18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800" b="1" baseline="0" dirty="0">
                          <a:solidFill>
                            <a:schemeClr val="tx1"/>
                          </a:solidFill>
                        </a:rPr>
                        <a:t>Фомин</a:t>
                      </a:r>
                      <a:br>
                        <a:rPr lang="ru-RU" sz="1800" b="1" baseline="0" dirty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800" b="1" baseline="0" dirty="0">
                          <a:solidFill>
                            <a:schemeClr val="tx1"/>
                          </a:solidFill>
                        </a:rPr>
                        <a:t>… </a:t>
                      </a:r>
                      <a:endParaRPr lang="ru-RU" sz="1800" dirty="0"/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1" name="Соединительная линия уступом 10"/>
          <p:cNvCxnSpPr/>
          <p:nvPr/>
        </p:nvCxnSpPr>
        <p:spPr>
          <a:xfrm flipV="1">
            <a:off x="1643063" y="1714500"/>
            <a:ext cx="1071562" cy="928688"/>
          </a:xfrm>
          <a:prstGeom prst="bentConnector3">
            <a:avLst>
              <a:gd name="adj1" fmla="val 50000"/>
            </a:avLst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2714625" y="1428750"/>
          <a:ext cx="1214438" cy="3118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1428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</a:rPr>
                        <a:t>Иванов</a:t>
                      </a:r>
                      <a:br>
                        <a:rPr lang="ru-RU" sz="1800" baseline="0" dirty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800" baseline="0" dirty="0">
                          <a:solidFill>
                            <a:schemeClr val="tx1"/>
                          </a:solidFill>
                        </a:rPr>
                        <a:t>… 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283">
                <a:tc>
                  <a:txBody>
                    <a:bodyPr/>
                    <a:lstStyle/>
                    <a:p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8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800" b="1" baseline="0" dirty="0">
                          <a:solidFill>
                            <a:schemeClr val="tx1"/>
                          </a:solidFill>
                        </a:rPr>
                        <a:t>Петров</a:t>
                      </a:r>
                      <a:br>
                        <a:rPr lang="ru-RU" sz="1800" b="1" baseline="0" dirty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800" b="1" baseline="0" dirty="0">
                          <a:solidFill>
                            <a:schemeClr val="tx1"/>
                          </a:solidFill>
                        </a:rPr>
                        <a:t>… 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01"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91439" marR="91439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28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br>
                        <a:rPr lang="en-US" sz="18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800" b="1" baseline="0" dirty="0">
                          <a:solidFill>
                            <a:schemeClr val="tx1"/>
                          </a:solidFill>
                        </a:rPr>
                        <a:t>Попов</a:t>
                      </a:r>
                      <a:br>
                        <a:rPr lang="ru-RU" sz="1800" b="1" baseline="0" dirty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800" b="1" baseline="0" dirty="0">
                          <a:solidFill>
                            <a:schemeClr val="tx1"/>
                          </a:solidFill>
                        </a:rPr>
                        <a:t>… </a:t>
                      </a:r>
                      <a:endParaRPr lang="ru-RU" sz="1800" dirty="0"/>
                    </a:p>
                  </a:txBody>
                  <a:tcPr marL="91439" marR="91439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311" name="TextBox 20"/>
          <p:cNvSpPr txBox="1">
            <a:spLocks noChangeArrowheads="1"/>
          </p:cNvSpPr>
          <p:nvPr/>
        </p:nvSpPr>
        <p:spPr bwMode="auto">
          <a:xfrm>
            <a:off x="2428875" y="857250"/>
            <a:ext cx="71437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b</a:t>
            </a:r>
            <a:r>
              <a:rPr lang="en-US" baseline="-25000"/>
              <a:t>1</a:t>
            </a:r>
            <a:endParaRPr lang="ru-RU"/>
          </a:p>
        </p:txBody>
      </p:sp>
      <p:sp>
        <p:nvSpPr>
          <p:cNvPr id="11312" name="TextBox 21"/>
          <p:cNvSpPr txBox="1">
            <a:spLocks noChangeArrowheads="1"/>
          </p:cNvSpPr>
          <p:nvPr/>
        </p:nvSpPr>
        <p:spPr bwMode="auto">
          <a:xfrm>
            <a:off x="4357688" y="857250"/>
            <a:ext cx="71437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b</a:t>
            </a:r>
            <a:r>
              <a:rPr lang="en-US" baseline="-25000"/>
              <a:t>2</a:t>
            </a:r>
            <a:endParaRPr lang="ru-RU"/>
          </a:p>
        </p:txBody>
      </p:sp>
      <p:graphicFrame>
        <p:nvGraphicFramePr>
          <p:cNvPr id="23" name="Таблица 22"/>
          <p:cNvGraphicFramePr>
            <a:graphicFrameLocks noGrp="1"/>
          </p:cNvGraphicFramePr>
          <p:nvPr/>
        </p:nvGraphicFramePr>
        <p:xfrm>
          <a:off x="6429375" y="1500188"/>
          <a:ext cx="1214438" cy="3214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268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</a:t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</a:rPr>
                        <a:t>Фокин</a:t>
                      </a:r>
                      <a:br>
                        <a:rPr lang="ru-RU" sz="1800" baseline="0" dirty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800" baseline="0" dirty="0">
                          <a:solidFill>
                            <a:schemeClr val="tx1"/>
                          </a:solidFill>
                        </a:rPr>
                        <a:t>… 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2680">
                <a:tc>
                  <a:txBody>
                    <a:bodyPr/>
                    <a:lstStyle/>
                    <a:p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16</a:t>
                      </a:r>
                      <a:br>
                        <a:rPr lang="en-US" sz="18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800" b="1" baseline="0" dirty="0">
                          <a:solidFill>
                            <a:schemeClr val="tx1"/>
                          </a:solidFill>
                        </a:rPr>
                        <a:t>Клюев</a:t>
                      </a:r>
                      <a:br>
                        <a:rPr lang="ru-RU" sz="1800" b="1" baseline="0" dirty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800" b="1" baseline="0" dirty="0">
                          <a:solidFill>
                            <a:schemeClr val="tx1"/>
                          </a:solidFill>
                        </a:rPr>
                        <a:t>… 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647"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26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  <a:br>
                        <a:rPr lang="en-US" sz="18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800" b="1" baseline="0" dirty="0" err="1">
                          <a:solidFill>
                            <a:schemeClr val="tx1"/>
                          </a:solidFill>
                        </a:rPr>
                        <a:t>Мирнов</a:t>
                      </a:r>
                      <a:br>
                        <a:rPr lang="ru-RU" sz="1800" b="1" baseline="0" dirty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800" b="1" baseline="0" dirty="0">
                          <a:solidFill>
                            <a:schemeClr val="tx1"/>
                          </a:solidFill>
                        </a:rPr>
                        <a:t>… </a:t>
                      </a:r>
                      <a:endParaRPr lang="ru-RU" sz="1800" dirty="0"/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4" name="Соединительная линия уступом 23"/>
          <p:cNvCxnSpPr/>
          <p:nvPr/>
        </p:nvCxnSpPr>
        <p:spPr>
          <a:xfrm flipV="1">
            <a:off x="1643063" y="1714500"/>
            <a:ext cx="4786312" cy="1785938"/>
          </a:xfrm>
          <a:prstGeom prst="bentConnector3">
            <a:avLst>
              <a:gd name="adj1" fmla="val 90560"/>
            </a:avLst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26" name="TextBox 28"/>
          <p:cNvSpPr txBox="1">
            <a:spLocks noChangeArrowheads="1"/>
          </p:cNvSpPr>
          <p:nvPr/>
        </p:nvSpPr>
        <p:spPr bwMode="auto">
          <a:xfrm>
            <a:off x="6215063" y="928688"/>
            <a:ext cx="71437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b</a:t>
            </a:r>
            <a:r>
              <a:rPr lang="ru-RU" baseline="-25000"/>
              <a:t>3</a:t>
            </a:r>
            <a:endParaRPr lang="ru-RU"/>
          </a:p>
        </p:txBody>
      </p:sp>
      <p:graphicFrame>
        <p:nvGraphicFramePr>
          <p:cNvPr id="30" name="Таблица 29"/>
          <p:cNvGraphicFramePr>
            <a:graphicFrameLocks noGrp="1"/>
          </p:cNvGraphicFramePr>
          <p:nvPr/>
        </p:nvGraphicFramePr>
        <p:xfrm>
          <a:off x="2714625" y="5000625"/>
          <a:ext cx="1714500" cy="1709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286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171 …</a:t>
                      </a:r>
                    </a:p>
                  </a:txBody>
                  <a:tcPr marL="91439" marR="91439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286">
                <a:tc>
                  <a:txBody>
                    <a:bodyPr/>
                    <a:lstStyle/>
                    <a:p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09"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91439" marR="91439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2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dirty="0"/>
                    </a:p>
                  </a:txBody>
                  <a:tcPr marL="91439" marR="91439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339" name="TextBox 30"/>
          <p:cNvSpPr txBox="1">
            <a:spLocks noChangeArrowheads="1"/>
          </p:cNvSpPr>
          <p:nvPr/>
        </p:nvSpPr>
        <p:spPr bwMode="auto">
          <a:xfrm>
            <a:off x="2071688" y="4572000"/>
            <a:ext cx="71437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b</a:t>
            </a:r>
            <a:r>
              <a:rPr lang="en-US" baseline="-25000"/>
              <a:t>N</a:t>
            </a:r>
            <a:endParaRPr lang="ru-RU"/>
          </a:p>
        </p:txBody>
      </p:sp>
      <p:cxnSp>
        <p:nvCxnSpPr>
          <p:cNvPr id="32" name="Соединительная линия уступом 31"/>
          <p:cNvCxnSpPr/>
          <p:nvPr/>
        </p:nvCxnSpPr>
        <p:spPr>
          <a:xfrm>
            <a:off x="1643063" y="5214938"/>
            <a:ext cx="1071562" cy="142875"/>
          </a:xfrm>
          <a:prstGeom prst="bentConnector3">
            <a:avLst>
              <a:gd name="adj1" fmla="val 50000"/>
            </a:avLst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41" name="Номер слайда 15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99627AD-C9EF-49D8-8282-4B44833994C3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11342" name="Нижний колонтитул 16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471488"/>
          </a:xfrm>
        </p:spPr>
        <p:txBody>
          <a:bodyPr/>
          <a:lstStyle/>
          <a:p>
            <a:pPr algn="ctr">
              <a:defRPr/>
            </a:pPr>
            <a:r>
              <a:rPr lang="ru-RU" sz="3600" dirty="0">
                <a:solidFill>
                  <a:schemeClr val="accent1">
                    <a:lumMod val="25000"/>
                  </a:schemeClr>
                </a:solidFill>
              </a:rPr>
              <a:t>Операции. Поиск.</a:t>
            </a:r>
          </a:p>
        </p:txBody>
      </p:sp>
      <p:sp>
        <p:nvSpPr>
          <p:cNvPr id="12291" name="Содержимое 2"/>
          <p:cNvSpPr>
            <a:spLocks noGrp="1"/>
          </p:cNvSpPr>
          <p:nvPr>
            <p:ph idx="1"/>
          </p:nvPr>
        </p:nvSpPr>
        <p:spPr>
          <a:xfrm>
            <a:off x="285750" y="1071563"/>
            <a:ext cx="8643938" cy="54292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ru-RU"/>
              <a:t>Пусть требуется найти запись с ключем </a:t>
            </a:r>
            <a:r>
              <a:rPr lang="en-US" i="1"/>
              <a:t>k</a:t>
            </a:r>
            <a:r>
              <a:rPr lang="en-US" i="1" baseline="-25000"/>
              <a:t>1.</a:t>
            </a:r>
          </a:p>
          <a:p>
            <a:pPr>
              <a:buFont typeface="Wingdings" pitchFamily="2" charset="2"/>
              <a:buNone/>
            </a:pPr>
            <a:r>
              <a:rPr lang="ru-RU"/>
              <a:t>Тогда возникает задача найти блок </a:t>
            </a:r>
            <a:r>
              <a:rPr lang="en-US"/>
              <a:t>B</a:t>
            </a:r>
            <a:r>
              <a:rPr lang="ru-RU"/>
              <a:t> с этой записью.</a:t>
            </a:r>
          </a:p>
          <a:p>
            <a:pPr>
              <a:buFont typeface="Wingdings" pitchFamily="2" charset="2"/>
              <a:buNone/>
            </a:pPr>
            <a:r>
              <a:rPr lang="ru-RU"/>
              <a:t>Мы знаем, что в индексе есть пары </a:t>
            </a:r>
            <a:r>
              <a:rPr lang="en-US"/>
              <a:t>&lt;k,B&gt;</a:t>
            </a:r>
            <a:r>
              <a:rPr lang="ru-RU"/>
              <a:t>, отсортированные по </a:t>
            </a:r>
            <a:r>
              <a:rPr lang="en-US"/>
              <a:t>k</a:t>
            </a:r>
            <a:r>
              <a:rPr lang="ru-RU"/>
              <a:t>.</a:t>
            </a:r>
          </a:p>
          <a:p>
            <a:pPr>
              <a:buFont typeface="Wingdings" pitchFamily="2" charset="2"/>
              <a:buNone/>
            </a:pPr>
            <a:r>
              <a:rPr lang="ru-RU"/>
              <a:t>Следовательно, будем искать в индексе запись </a:t>
            </a:r>
            <a:r>
              <a:rPr lang="en-US"/>
              <a:t>&lt;</a:t>
            </a:r>
            <a:r>
              <a:rPr lang="en-US" i="1"/>
              <a:t>k</a:t>
            </a:r>
            <a:r>
              <a:rPr lang="ru-RU" i="1" baseline="-25000"/>
              <a:t>2</a:t>
            </a:r>
            <a:r>
              <a:rPr lang="en-US" i="1"/>
              <a:t>,B</a:t>
            </a:r>
            <a:r>
              <a:rPr lang="en-US"/>
              <a:t>&gt;</a:t>
            </a:r>
            <a:r>
              <a:rPr lang="ru-RU"/>
              <a:t>, такую, что </a:t>
            </a:r>
            <a:r>
              <a:rPr lang="en-US" i="1"/>
              <a:t>k</a:t>
            </a:r>
            <a:r>
              <a:rPr lang="en-US" i="1" baseline="-25000"/>
              <a:t>2 </a:t>
            </a:r>
            <a:r>
              <a:rPr lang="en-US" i="1"/>
              <a:t>&lt;= k</a:t>
            </a:r>
            <a:r>
              <a:rPr lang="en-US" i="1" baseline="-25000"/>
              <a:t>1 </a:t>
            </a:r>
            <a:r>
              <a:rPr lang="ru-RU"/>
              <a:t>и либо </a:t>
            </a:r>
            <a:r>
              <a:rPr lang="en-US"/>
              <a:t>&lt;</a:t>
            </a:r>
            <a:r>
              <a:rPr lang="en-US" i="1"/>
              <a:t>k</a:t>
            </a:r>
            <a:r>
              <a:rPr lang="ru-RU" i="1" baseline="-25000"/>
              <a:t>2</a:t>
            </a:r>
            <a:r>
              <a:rPr lang="en-US" i="1"/>
              <a:t>,B</a:t>
            </a:r>
            <a:r>
              <a:rPr lang="en-US"/>
              <a:t>&gt;</a:t>
            </a:r>
            <a:r>
              <a:rPr lang="ru-RU"/>
              <a:t> последняя запись в блоке, либо следующая запись </a:t>
            </a:r>
            <a:r>
              <a:rPr lang="en-US"/>
              <a:t>&lt;</a:t>
            </a:r>
            <a:r>
              <a:rPr lang="en-US" i="1"/>
              <a:t>k</a:t>
            </a:r>
            <a:r>
              <a:rPr lang="ru-RU" i="1" baseline="-25000"/>
              <a:t>3</a:t>
            </a:r>
            <a:r>
              <a:rPr lang="en-US" i="1"/>
              <a:t>,B&gt; </a:t>
            </a:r>
            <a:r>
              <a:rPr lang="ru-RU"/>
              <a:t>удовлетворяет условию </a:t>
            </a:r>
            <a:r>
              <a:rPr lang="en-US" i="1"/>
              <a:t>k</a:t>
            </a:r>
            <a:r>
              <a:rPr lang="en-US" i="1" baseline="-25000"/>
              <a:t>1</a:t>
            </a:r>
            <a:r>
              <a:rPr lang="ru-RU" i="1" baseline="-25000"/>
              <a:t> </a:t>
            </a:r>
            <a:r>
              <a:rPr lang="en-US"/>
              <a:t>&lt; </a:t>
            </a:r>
            <a:r>
              <a:rPr lang="en-US" i="1"/>
              <a:t>k</a:t>
            </a:r>
            <a:r>
              <a:rPr lang="ru-RU" i="1" baseline="-25000"/>
              <a:t>3</a:t>
            </a:r>
            <a:r>
              <a:rPr lang="en-US" i="1" baseline="-25000"/>
              <a:t>.</a:t>
            </a:r>
            <a:endParaRPr lang="en-US"/>
          </a:p>
          <a:p>
            <a:pPr>
              <a:buFont typeface="Wingdings" pitchFamily="2" charset="2"/>
              <a:buNone/>
            </a:pPr>
            <a:endParaRPr lang="ru-RU"/>
          </a:p>
        </p:txBody>
      </p:sp>
      <p:sp>
        <p:nvSpPr>
          <p:cNvPr id="1229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6E366AE-0328-43F8-90B3-059405CF0BB2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12293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9600" cy="738188"/>
          </a:xfrm>
        </p:spPr>
        <p:txBody>
          <a:bodyPr/>
          <a:lstStyle/>
          <a:p>
            <a:pPr algn="ctr"/>
            <a:r>
              <a:rPr lang="ru-RU" sz="3600">
                <a:solidFill>
                  <a:schemeClr val="bg2"/>
                </a:solidFill>
              </a:rPr>
              <a:t>Индексный файл</a:t>
            </a:r>
            <a:r>
              <a:rPr lang="en-US" sz="3600">
                <a:solidFill>
                  <a:schemeClr val="bg2"/>
                </a:solidFill>
              </a:rPr>
              <a:t>. </a:t>
            </a:r>
            <a:r>
              <a:rPr lang="ru-RU" sz="3600">
                <a:solidFill>
                  <a:schemeClr val="bg2"/>
                </a:solidFill>
              </a:rPr>
              <a:t>Свойства.</a:t>
            </a:r>
            <a:endParaRPr lang="ru-RU" sz="3600"/>
          </a:p>
        </p:txBody>
      </p:sp>
      <p:sp>
        <p:nvSpPr>
          <p:cNvPr id="6" name="Содержимое 2"/>
          <p:cNvSpPr txBox="1">
            <a:spLocks/>
          </p:cNvSpPr>
          <p:nvPr/>
        </p:nvSpPr>
        <p:spPr bwMode="auto">
          <a:xfrm>
            <a:off x="428625" y="1357313"/>
            <a:ext cx="82296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14000"/>
              </a:lnSpc>
              <a:buFont typeface="Wingdings" pitchFamily="2" charset="2"/>
              <a:buChar char="n"/>
              <a:defRPr/>
            </a:pPr>
            <a:r>
              <a:rPr lang="ru-RU" sz="3200" kern="0" dirty="0">
                <a:latin typeface="+mn-lt"/>
                <a:cs typeface="+mn-cs"/>
              </a:rPr>
              <a:t>Блоки файла фиксированной длины</a:t>
            </a:r>
          </a:p>
          <a:p>
            <a:pPr marL="342900" indent="-342900" eaLnBrk="0" hangingPunct="0">
              <a:lnSpc>
                <a:spcPct val="114000"/>
              </a:lnSpc>
              <a:buFont typeface="Wingdings" pitchFamily="2" charset="2"/>
              <a:buChar char="n"/>
              <a:defRPr/>
            </a:pPr>
            <a:r>
              <a:rPr lang="ru-RU" sz="3200" kern="0" dirty="0">
                <a:latin typeface="+mn-lt"/>
                <a:cs typeface="+mn-cs"/>
              </a:rPr>
              <a:t>Записи файла индекса не закреплены</a:t>
            </a:r>
          </a:p>
          <a:p>
            <a:pPr marL="342900" indent="-342900" eaLnBrk="0" hangingPunct="0">
              <a:lnSpc>
                <a:spcPct val="114000"/>
              </a:lnSpc>
              <a:buFont typeface="Wingdings" pitchFamily="2" charset="2"/>
              <a:buChar char="n"/>
              <a:defRPr/>
            </a:pPr>
            <a:r>
              <a:rPr lang="ru-RU" sz="3200" kern="0" dirty="0">
                <a:latin typeface="+mn-lt"/>
                <a:cs typeface="+mn-cs"/>
              </a:rPr>
              <a:t>Блоки основного файла и файла индекса упорядочены по ключу</a:t>
            </a:r>
          </a:p>
          <a:p>
            <a:pPr marL="342900" indent="-342900" eaLnBrk="0" hangingPunct="0">
              <a:lnSpc>
                <a:spcPct val="114000"/>
              </a:lnSpc>
              <a:buFont typeface="Wingdings" pitchFamily="2" charset="2"/>
              <a:buChar char="n"/>
              <a:defRPr/>
            </a:pPr>
            <a:r>
              <a:rPr lang="ru-RU" sz="3200" kern="0" dirty="0">
                <a:latin typeface="+mn-lt"/>
                <a:cs typeface="+mn-cs"/>
              </a:rPr>
              <a:t> Д</a:t>
            </a:r>
            <a:r>
              <a:rPr lang="ru-RU" sz="3200" kern="0" dirty="0" err="1">
                <a:latin typeface="+mn-lt"/>
                <a:cs typeface="+mn-cs"/>
              </a:rPr>
              <a:t>оступ</a:t>
            </a:r>
            <a:r>
              <a:rPr lang="ru-RU" sz="3200" kern="0" dirty="0">
                <a:latin typeface="+mn-lt"/>
                <a:cs typeface="+mn-cs"/>
              </a:rPr>
              <a:t> по сортированному индексу</a:t>
            </a:r>
          </a:p>
          <a:p>
            <a:pPr marL="342900" indent="-342900" eaLnBrk="0" hangingPunct="0">
              <a:lnSpc>
                <a:spcPct val="114000"/>
              </a:lnSpc>
              <a:buFont typeface="Wingdings" pitchFamily="2" charset="2"/>
              <a:buChar char="n"/>
              <a:defRPr/>
            </a:pPr>
            <a:r>
              <a:rPr lang="ru-RU" sz="3200" kern="0" dirty="0">
                <a:latin typeface="+mn-lt"/>
                <a:cs typeface="+mn-cs"/>
              </a:rPr>
              <a:t>Оценка доступа – </a:t>
            </a:r>
            <a:r>
              <a:rPr lang="en-US" sz="3200" kern="0" dirty="0">
                <a:latin typeface="+mn-lt"/>
                <a:cs typeface="+mn-cs"/>
              </a:rPr>
              <a:t>Log</a:t>
            </a:r>
            <a:r>
              <a:rPr lang="en-US" sz="3200" kern="0" baseline="-25000" dirty="0">
                <a:latin typeface="+mn-lt"/>
                <a:cs typeface="+mn-cs"/>
              </a:rPr>
              <a:t>2</a:t>
            </a:r>
            <a:r>
              <a:rPr lang="en-US" sz="3200" kern="0" dirty="0">
                <a:latin typeface="+mn-lt"/>
                <a:cs typeface="+mn-cs"/>
              </a:rPr>
              <a:t>(N) +</a:t>
            </a:r>
            <a:r>
              <a:rPr lang="ru-RU" sz="3200" kern="0" dirty="0">
                <a:latin typeface="+mn-lt"/>
                <a:cs typeface="+mn-cs"/>
              </a:rPr>
              <a:t>3, </a:t>
            </a:r>
            <a:br>
              <a:rPr lang="en-US" sz="3200" kern="0" dirty="0">
                <a:latin typeface="+mn-lt"/>
                <a:cs typeface="+mn-cs"/>
              </a:rPr>
            </a:br>
            <a:r>
              <a:rPr lang="ru-RU" sz="3200" kern="0" dirty="0">
                <a:latin typeface="+mn-lt"/>
                <a:cs typeface="+mn-cs"/>
              </a:rPr>
              <a:t>где </a:t>
            </a:r>
            <a:r>
              <a:rPr lang="en-US" sz="3200" kern="0" dirty="0">
                <a:latin typeface="+mn-lt"/>
                <a:cs typeface="+mn-cs"/>
              </a:rPr>
              <a:t>N – </a:t>
            </a:r>
            <a:r>
              <a:rPr lang="ru-RU" sz="3200" kern="0" dirty="0">
                <a:latin typeface="+mn-lt"/>
                <a:cs typeface="+mn-cs"/>
              </a:rPr>
              <a:t>количество блоков в файле</a:t>
            </a:r>
          </a:p>
        </p:txBody>
      </p:sp>
      <p:sp>
        <p:nvSpPr>
          <p:cNvPr id="13316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246997B-B718-40D4-910D-3C2635A04257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13317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9600" cy="738188"/>
          </a:xfrm>
        </p:spPr>
        <p:txBody>
          <a:bodyPr/>
          <a:lstStyle/>
          <a:p>
            <a:pPr algn="ctr"/>
            <a:r>
              <a:rPr lang="ru-RU" sz="3600">
                <a:solidFill>
                  <a:schemeClr val="bg2"/>
                </a:solidFill>
              </a:rPr>
              <a:t>Иерархия индексов</a:t>
            </a:r>
            <a:endParaRPr lang="ru-RU" sz="3600"/>
          </a:p>
        </p:txBody>
      </p:sp>
      <p:sp>
        <p:nvSpPr>
          <p:cNvPr id="6" name="Содержимое 2"/>
          <p:cNvSpPr txBox="1">
            <a:spLocks/>
          </p:cNvSpPr>
          <p:nvPr/>
        </p:nvSpPr>
        <p:spPr bwMode="auto">
          <a:xfrm>
            <a:off x="357188" y="928688"/>
            <a:ext cx="8301037" cy="557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pPr marL="342900" indent="-342900" eaLnBrk="0" hangingPunct="0">
              <a:lnSpc>
                <a:spcPct val="114000"/>
              </a:lnSpc>
              <a:buFont typeface="Wingdings" pitchFamily="2" charset="2"/>
              <a:buChar char="n"/>
              <a:defRPr/>
            </a:pPr>
            <a:r>
              <a:rPr lang="ru-RU" sz="3200" dirty="0"/>
              <a:t>Индекс представляет собой не что иное, как файл с незакрепленными записями</a:t>
            </a:r>
          </a:p>
          <a:p>
            <a:pPr marL="342900" indent="-342900" eaLnBrk="0" hangingPunct="0">
              <a:lnSpc>
                <a:spcPct val="114000"/>
              </a:lnSpc>
              <a:buFont typeface="Wingdings" pitchFamily="2" charset="2"/>
              <a:buChar char="n"/>
              <a:defRPr/>
            </a:pPr>
            <a:r>
              <a:rPr lang="ru-RU" sz="3200" dirty="0"/>
              <a:t>Можно использовать не только индекс, но индекс этого индекса и т. д., пока индекс не вместится в один блок</a:t>
            </a:r>
          </a:p>
          <a:p>
            <a:pPr marL="342900" indent="-342900" eaLnBrk="0" hangingPunct="0">
              <a:lnSpc>
                <a:spcPct val="114000"/>
              </a:lnSpc>
              <a:buFont typeface="Wingdings" pitchFamily="2" charset="2"/>
              <a:buChar char="n"/>
              <a:defRPr/>
            </a:pPr>
            <a:r>
              <a:rPr lang="ru-RU" sz="3200" dirty="0"/>
              <a:t>Такая организация может быть значительно более эффективной, чем файл с единственным уровнем индексирования</a:t>
            </a:r>
          </a:p>
          <a:p>
            <a:pPr marL="342900" indent="-342900" eaLnBrk="0" hangingPunct="0">
              <a:lnSpc>
                <a:spcPct val="114000"/>
              </a:lnSpc>
              <a:buFont typeface="Wingdings" pitchFamily="2" charset="2"/>
              <a:buChar char="n"/>
              <a:defRPr/>
            </a:pPr>
            <a:r>
              <a:rPr lang="ru-RU" sz="3200" dirty="0"/>
              <a:t>Общая схема для очень больших файлов основана на иерархии индексов, соответствующей иерархической природе устройств внешней памяти, на которых размещается файл</a:t>
            </a: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03AB1F2-71BA-4E31-8EC2-7FF471890DED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14341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49E71A2-0FA0-44A8-A3DB-94EB47C59382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15363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pic>
        <p:nvPicPr>
          <p:cNvPr id="15364" name="Picture 2" descr="C:\Users\Boris\Pictures\B-дерево\рис 5_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9575" y="1214438"/>
            <a:ext cx="8324850" cy="518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57200" y="333375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ru-RU" sz="3600" kern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Иерархия индексов и дисков</a:t>
            </a:r>
            <a:endParaRPr lang="ru-RU" sz="3600" kern="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42875"/>
            <a:ext cx="8229600" cy="523875"/>
          </a:xfrm>
        </p:spPr>
        <p:txBody>
          <a:bodyPr/>
          <a:lstStyle/>
          <a:p>
            <a:pPr algn="ctr"/>
            <a:r>
              <a:rPr lang="ru-RU" sz="3200">
                <a:solidFill>
                  <a:schemeClr val="bg2"/>
                </a:solidFill>
              </a:rPr>
              <a:t>В-дерево</a:t>
            </a:r>
            <a:endParaRPr lang="ru-RU" sz="3200"/>
          </a:p>
        </p:txBody>
      </p:sp>
      <p:sp>
        <p:nvSpPr>
          <p:cNvPr id="6" name="Содержимое 2"/>
          <p:cNvSpPr txBox="1">
            <a:spLocks/>
          </p:cNvSpPr>
          <p:nvPr/>
        </p:nvSpPr>
        <p:spPr bwMode="auto">
          <a:xfrm>
            <a:off x="214313" y="642938"/>
            <a:ext cx="8643937" cy="600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36000" rIns="36000" bIns="36000">
            <a:normAutofit fontScale="92500" lnSpcReduction="20000"/>
          </a:bodyPr>
          <a:lstStyle/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Метод выполнения операций поиска, модификации, включения и удаления над многоуровневыми индексами является простым обобщением ранее рассмотренных методов. 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Проблема возникает в том случае когда индекс первого уровня превышает емкость блока. 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Очевидно, что принцип многоуровневого индекса не зависит от числа уровней. Поэтому имеется возможность добавить еще один уровень к индексу, который ранее находился на первом уровне и превысил размер блока. 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Приходим к идее </a:t>
            </a:r>
            <a:r>
              <a:rPr lang="ru-RU" sz="2400" i="1" dirty="0"/>
              <a:t>B</a:t>
            </a:r>
            <a:r>
              <a:rPr lang="ru-RU" sz="2400" dirty="0"/>
              <a:t>-дерева (сбалансированного дерева), структура которого подобна структуре, показанной на предыдущем слайде..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>
                <a:solidFill>
                  <a:schemeClr val="bg2"/>
                </a:solidFill>
              </a:rPr>
              <a:t>Дерево называется </a:t>
            </a:r>
            <a:r>
              <a:rPr lang="ru-RU" sz="2400" b="1" dirty="0">
                <a:solidFill>
                  <a:schemeClr val="bg2"/>
                </a:solidFill>
              </a:rPr>
              <a:t>В-деревом </a:t>
            </a:r>
            <a:r>
              <a:rPr lang="ru-RU" sz="2400" dirty="0">
                <a:solidFill>
                  <a:schemeClr val="bg2"/>
                </a:solidFill>
              </a:rPr>
              <a:t> или </a:t>
            </a:r>
            <a:r>
              <a:rPr lang="ru-RU" sz="2400" b="1" i="1" dirty="0">
                <a:solidFill>
                  <a:schemeClr val="bg2"/>
                </a:solidFill>
              </a:rPr>
              <a:t>сбалансированным</a:t>
            </a:r>
            <a:r>
              <a:rPr lang="ru-RU" sz="2400" dirty="0">
                <a:solidFill>
                  <a:schemeClr val="bg2"/>
                </a:solidFill>
              </a:rPr>
              <a:t>, если. каждый путь от корня (блока индекса первого уровня) до какого-либо листа имеет одну и ту же длину.</a:t>
            </a:r>
          </a:p>
        </p:txBody>
      </p:sp>
      <p:sp>
        <p:nvSpPr>
          <p:cNvPr id="16388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215313" y="6248400"/>
            <a:ext cx="471487" cy="395288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B6930283-50AC-40B7-AEC6-E954A17F1DEE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42875"/>
            <a:ext cx="8229600" cy="523875"/>
          </a:xfrm>
        </p:spPr>
        <p:txBody>
          <a:bodyPr/>
          <a:lstStyle/>
          <a:p>
            <a:pPr algn="ctr"/>
            <a:r>
              <a:rPr lang="ru-RU" sz="3200">
                <a:solidFill>
                  <a:schemeClr val="bg2"/>
                </a:solidFill>
              </a:rPr>
              <a:t>В-дерево</a:t>
            </a:r>
            <a:endParaRPr lang="ru-RU" sz="3200"/>
          </a:p>
        </p:txBody>
      </p:sp>
      <p:sp>
        <p:nvSpPr>
          <p:cNvPr id="6" name="Содержимое 2"/>
          <p:cNvSpPr txBox="1">
            <a:spLocks/>
          </p:cNvSpPr>
          <p:nvPr/>
        </p:nvSpPr>
        <p:spPr bwMode="auto">
          <a:xfrm>
            <a:off x="214313" y="642938"/>
            <a:ext cx="8643937" cy="600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36000" rIns="36000" bIns="36000">
            <a:normAutofit fontScale="85000" lnSpcReduction="10000"/>
          </a:bodyPr>
          <a:lstStyle/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Будем предполагать, что записи главного файла являются незакрепленными. 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Блоки главного файла трактуются как часть </a:t>
            </a:r>
            <a:r>
              <a:rPr lang="ru-RU" sz="2400" i="1" dirty="0"/>
              <a:t>B</a:t>
            </a:r>
            <a:r>
              <a:rPr lang="ru-RU" sz="2400" dirty="0"/>
              <a:t>-дерева 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Для операций включения и удаления над </a:t>
            </a:r>
            <a:r>
              <a:rPr lang="ru-RU" sz="2400" i="1" dirty="0"/>
              <a:t>B</a:t>
            </a:r>
            <a:r>
              <a:rPr lang="ru-RU" sz="2400" dirty="0"/>
              <a:t>-деревом можно было бы использовать ту же стратегию, что и для индексного файла, применяя операции включения и удаления к узлам (блокам) дерева на всех уровнях. 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Тогда узлы содержали бы от одной записи до максимально возможного их числа 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>
                <a:solidFill>
                  <a:schemeClr val="bg2"/>
                </a:solidFill>
              </a:rPr>
              <a:t>Для </a:t>
            </a:r>
            <a:r>
              <a:rPr lang="ru-RU" sz="2400" i="1" dirty="0">
                <a:solidFill>
                  <a:schemeClr val="bg2"/>
                </a:solidFill>
              </a:rPr>
              <a:t>В</a:t>
            </a:r>
            <a:r>
              <a:rPr lang="ru-RU" sz="2400" dirty="0">
                <a:solidFill>
                  <a:schemeClr val="bg2"/>
                </a:solidFill>
              </a:rPr>
              <a:t>-деревьев обычно применяется, однако, иная стратегия включения и удаления, которая обеспечивает заполненность всех узлов (за исключением, возможно, корня) </a:t>
            </a:r>
            <a:r>
              <a:rPr lang="ru-RU" sz="2400" b="1" dirty="0">
                <a:solidFill>
                  <a:schemeClr val="bg2"/>
                </a:solidFill>
              </a:rPr>
              <a:t>не менее чем </a:t>
            </a:r>
            <a:r>
              <a:rPr lang="ru-RU" sz="2400" dirty="0">
                <a:solidFill>
                  <a:schemeClr val="bg2"/>
                </a:solidFill>
              </a:rPr>
              <a:t>наполовину. 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Для удобства будем полагать, что число записей индекса и число записей главного файла - </a:t>
            </a:r>
            <a:r>
              <a:rPr lang="ru-RU" sz="2400" b="1" dirty="0"/>
              <a:t>нечетно</a:t>
            </a:r>
            <a:r>
              <a:rPr lang="ru-RU" sz="2400" dirty="0"/>
              <a:t> </a:t>
            </a:r>
            <a:r>
              <a:rPr lang="en-US" sz="2400" dirty="0"/>
              <a:t>(</a:t>
            </a:r>
            <a:r>
              <a:rPr lang="ru-RU" sz="2400" dirty="0"/>
              <a:t>2</a:t>
            </a:r>
            <a:r>
              <a:rPr lang="ru-RU" sz="2400" i="1" dirty="0"/>
              <a:t>е</a:t>
            </a:r>
            <a:r>
              <a:rPr lang="ru-RU" sz="2400" dirty="0"/>
              <a:t> — 1</a:t>
            </a:r>
            <a:r>
              <a:rPr lang="en-US" sz="2400" dirty="0"/>
              <a:t> </a:t>
            </a:r>
            <a:r>
              <a:rPr lang="ru-RU" sz="2400" dirty="0"/>
              <a:t> ≥ 3</a:t>
            </a:r>
            <a:r>
              <a:rPr lang="en-US" sz="2400" dirty="0"/>
              <a:t>)</a:t>
            </a:r>
            <a:endParaRPr lang="ru-RU" sz="2400" dirty="0">
              <a:solidFill>
                <a:schemeClr val="bg2"/>
              </a:solidFill>
            </a:endParaRP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В блоках индекса </a:t>
            </a:r>
            <a:r>
              <a:rPr lang="ru-RU" sz="2400" i="1" dirty="0"/>
              <a:t>B</a:t>
            </a:r>
            <a:r>
              <a:rPr lang="ru-RU" sz="2400" dirty="0"/>
              <a:t>-дерева </a:t>
            </a:r>
            <a:r>
              <a:rPr lang="ru-RU" sz="2400" b="1" dirty="0"/>
              <a:t>значение ключа в первой записи опускается</a:t>
            </a:r>
            <a:r>
              <a:rPr lang="ru-RU" sz="2400" dirty="0"/>
              <a:t> для экономии пространства.</a:t>
            </a:r>
            <a:endParaRPr lang="ru-RU" sz="2400" dirty="0">
              <a:solidFill>
                <a:schemeClr val="bg2"/>
              </a:solidFill>
            </a:endParaRPr>
          </a:p>
        </p:txBody>
      </p:sp>
      <p:sp>
        <p:nvSpPr>
          <p:cNvPr id="17412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215313" y="6248400"/>
            <a:ext cx="471487" cy="395288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C89DCEA1-DE4D-4B01-9465-6F4BDB3F9929}" type="slidenum">
              <a:rPr lang="ru-RU" smtClean="0"/>
              <a:pPr/>
              <a:t>19</a:t>
            </a:fld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42875"/>
            <a:ext cx="8229600" cy="523875"/>
          </a:xfrm>
        </p:spPr>
        <p:txBody>
          <a:bodyPr/>
          <a:lstStyle/>
          <a:p>
            <a:pPr algn="ctr"/>
            <a:r>
              <a:rPr lang="ru-RU" sz="3200">
                <a:solidFill>
                  <a:schemeClr val="bg2"/>
                </a:solidFill>
              </a:rPr>
              <a:t>Пример В-дерева</a:t>
            </a:r>
            <a:endParaRPr lang="ru-RU" sz="3200"/>
          </a:p>
        </p:txBody>
      </p:sp>
      <p:sp>
        <p:nvSpPr>
          <p:cNvPr id="6" name="Содержимое 2"/>
          <p:cNvSpPr txBox="1">
            <a:spLocks/>
          </p:cNvSpPr>
          <p:nvPr/>
        </p:nvSpPr>
        <p:spPr bwMode="auto">
          <a:xfrm>
            <a:off x="214313" y="642938"/>
            <a:ext cx="8572500" cy="1071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36000" rIns="36000" bIns="36000">
            <a:normAutofit fontScale="85000" lnSpcReduction="20000"/>
          </a:bodyPr>
          <a:lstStyle/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Предположим, что нам требуется вставить запись со значением ключа 32. 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Находим, что это блок </a:t>
            </a:r>
            <a:r>
              <a:rPr lang="ru-RU" sz="2400" i="1" dirty="0"/>
              <a:t>В</a:t>
            </a:r>
            <a:r>
              <a:rPr lang="ru-RU" sz="2400" i="1" baseline="-25000" dirty="0"/>
              <a:t>7</a:t>
            </a:r>
            <a:endParaRPr lang="ru-RU" sz="2400" dirty="0"/>
          </a:p>
        </p:txBody>
      </p:sp>
      <p:sp>
        <p:nvSpPr>
          <p:cNvPr id="18436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215313" y="6248400"/>
            <a:ext cx="471487" cy="395288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F87AE4AE-31F6-4D25-9819-B38BF4797FB4}" type="slidenum">
              <a:rPr lang="ru-RU" smtClean="0"/>
              <a:pPr/>
              <a:t>20</a:t>
            </a:fld>
            <a:endParaRPr lang="ru-RU"/>
          </a:p>
        </p:txBody>
      </p:sp>
      <p:pic>
        <p:nvPicPr>
          <p:cNvPr id="18437" name="Picture 3" descr="C:\Users\Boris\Pictures\B-дерево\рис 1_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6863" y="1857375"/>
            <a:ext cx="8704262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42875"/>
            <a:ext cx="8229600" cy="523875"/>
          </a:xfrm>
        </p:spPr>
        <p:txBody>
          <a:bodyPr/>
          <a:lstStyle/>
          <a:p>
            <a:pPr algn="ctr"/>
            <a:r>
              <a:rPr lang="ru-RU" sz="3200">
                <a:solidFill>
                  <a:schemeClr val="bg2"/>
                </a:solidFill>
              </a:rPr>
              <a:t>В-дерево после вставки</a:t>
            </a:r>
            <a:endParaRPr lang="ru-RU" sz="3200"/>
          </a:p>
        </p:txBody>
      </p:sp>
      <p:sp>
        <p:nvSpPr>
          <p:cNvPr id="19459" name="Содержимое 2"/>
          <p:cNvSpPr txBox="1">
            <a:spLocks/>
          </p:cNvSpPr>
          <p:nvPr/>
        </p:nvSpPr>
        <p:spPr bwMode="auto">
          <a:xfrm>
            <a:off x="214313" y="642938"/>
            <a:ext cx="8572500" cy="121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sz="2000"/>
              <a:t>Но так как в блоке уже 3 записи добавляется блок В12.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sz="2000"/>
              <a:t>Записи со значениями ключей 25 и 32 помещаем  в </a:t>
            </a:r>
            <a:r>
              <a:rPr lang="ru-RU" sz="2000" i="1"/>
              <a:t>В</a:t>
            </a:r>
            <a:r>
              <a:rPr lang="ru-RU" sz="2000" i="1" baseline="-25000"/>
              <a:t>7</a:t>
            </a:r>
            <a:r>
              <a:rPr lang="ru-RU" sz="2000"/>
              <a:t>, а со значениями 36 и 49 — в </a:t>
            </a:r>
            <a:r>
              <a:rPr lang="ru-RU" sz="2000" i="1"/>
              <a:t>В</a:t>
            </a:r>
            <a:r>
              <a:rPr lang="ru-RU" sz="2000" i="1" baseline="-25000"/>
              <a:t>12</a:t>
            </a:r>
            <a:r>
              <a:rPr lang="ru-RU" sz="2000"/>
              <a:t>. Далее добавляются блоки </a:t>
            </a:r>
            <a:r>
              <a:rPr lang="ru-RU" sz="2000" i="1"/>
              <a:t>В</a:t>
            </a:r>
            <a:r>
              <a:rPr lang="ru-RU" sz="2000" i="1" baseline="-25000"/>
              <a:t>13</a:t>
            </a:r>
            <a:r>
              <a:rPr lang="ru-RU" sz="2000" i="1"/>
              <a:t>,</a:t>
            </a:r>
            <a:r>
              <a:rPr lang="ru-RU" sz="2000" i="1" baseline="-25000"/>
              <a:t> </a:t>
            </a:r>
            <a:r>
              <a:rPr lang="ru-RU" sz="2000" i="1"/>
              <a:t>В</a:t>
            </a:r>
            <a:r>
              <a:rPr lang="ru-RU" sz="2000" i="1" baseline="-25000"/>
              <a:t>14</a:t>
            </a:r>
            <a:r>
              <a:rPr lang="ru-RU" sz="2000"/>
              <a:t> и </a:t>
            </a:r>
            <a:r>
              <a:rPr lang="ru-RU" sz="2000" i="1"/>
              <a:t>В</a:t>
            </a:r>
            <a:r>
              <a:rPr lang="ru-RU" sz="2000" i="1" baseline="-25000"/>
              <a:t>15</a:t>
            </a:r>
          </a:p>
        </p:txBody>
      </p:sp>
      <p:sp>
        <p:nvSpPr>
          <p:cNvPr id="19460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215313" y="6248400"/>
            <a:ext cx="471487" cy="395288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B6B034E5-1C75-429D-BCAB-394241F16DC7}" type="slidenum">
              <a:rPr lang="ru-RU" smtClean="0"/>
              <a:pPr/>
              <a:t>21</a:t>
            </a:fld>
            <a:endParaRPr lang="ru-RU"/>
          </a:p>
        </p:txBody>
      </p:sp>
      <p:pic>
        <p:nvPicPr>
          <p:cNvPr id="19461" name="Picture 2" descr="C:\Users\Boris\Pictures\B-дерево\рис 2_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313" y="2143125"/>
            <a:ext cx="8707437" cy="38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42875"/>
            <a:ext cx="8229600" cy="523875"/>
          </a:xfrm>
        </p:spPr>
        <p:txBody>
          <a:bodyPr/>
          <a:lstStyle/>
          <a:p>
            <a:pPr algn="ctr"/>
            <a:r>
              <a:rPr lang="ru-RU" sz="3200">
                <a:solidFill>
                  <a:schemeClr val="bg2"/>
                </a:solidFill>
              </a:rPr>
              <a:t>В-дерево после удаления</a:t>
            </a:r>
            <a:endParaRPr lang="ru-RU" sz="3200"/>
          </a:p>
        </p:txBody>
      </p:sp>
      <p:sp>
        <p:nvSpPr>
          <p:cNvPr id="20483" name="Содержимое 2"/>
          <p:cNvSpPr txBox="1">
            <a:spLocks/>
          </p:cNvSpPr>
          <p:nvPr/>
        </p:nvSpPr>
        <p:spPr bwMode="auto">
          <a:xfrm>
            <a:off x="214313" y="642938"/>
            <a:ext cx="8643937" cy="1928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sz="2000" dirty="0"/>
              <a:t>Пусть еще необходимо удалить запись с ключом 64.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sz="2000" dirty="0"/>
              <a:t>Удаляем из </a:t>
            </a:r>
            <a:r>
              <a:rPr lang="ru-RU" sz="2000" i="1" dirty="0"/>
              <a:t>В</a:t>
            </a:r>
            <a:r>
              <a:rPr lang="ru-RU" sz="2000" i="1" baseline="-25000" dirty="0"/>
              <a:t>8</a:t>
            </a:r>
            <a:r>
              <a:rPr lang="ru-RU" sz="2000" dirty="0"/>
              <a:t> запись, которая, как выясняется, была первой в этом блоке.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sz="2000" dirty="0"/>
              <a:t>Далее проверяем соседние блоки, чтобы  в блок был заполнен не менее чем на </a:t>
            </a:r>
          </a:p>
        </p:txBody>
      </p:sp>
      <p:sp>
        <p:nvSpPr>
          <p:cNvPr id="2048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215313" y="6248400"/>
            <a:ext cx="471487" cy="395288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4C291EDC-FC8E-4369-9231-C2191DDC543E}" type="slidenum">
              <a:rPr lang="ru-RU" smtClean="0"/>
              <a:pPr/>
              <a:t>22</a:t>
            </a:fld>
            <a:endParaRPr lang="ru-RU"/>
          </a:p>
        </p:txBody>
      </p:sp>
      <p:pic>
        <p:nvPicPr>
          <p:cNvPr id="20485" name="Picture 4" descr="C:\Users\Boris\Pictures\B-дерево\рис 3_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" y="2880890"/>
            <a:ext cx="8958263" cy="35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Объект 5"/>
          <p:cNvGraphicFramePr>
            <a:graphicFrameLocks noChangeAspect="1"/>
          </p:cNvGraphicFramePr>
          <p:nvPr/>
        </p:nvGraphicFramePr>
        <p:xfrm>
          <a:off x="2267744" y="2204864"/>
          <a:ext cx="216023" cy="55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4" imgW="152280" imgH="393480" progId="Equation.3">
                  <p:embed/>
                </p:oleObj>
              </mc:Choice>
              <mc:Fallback>
                <p:oleObj name="Формула" r:id="rId4" imgW="152280" imgH="3934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2204864"/>
                        <a:ext cx="216023" cy="55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42875"/>
            <a:ext cx="8229600" cy="523875"/>
          </a:xfrm>
        </p:spPr>
        <p:txBody>
          <a:bodyPr/>
          <a:lstStyle/>
          <a:p>
            <a:pPr algn="ctr"/>
            <a:r>
              <a:rPr lang="ru-RU" sz="3200">
                <a:solidFill>
                  <a:schemeClr val="bg2"/>
                </a:solidFill>
              </a:rPr>
              <a:t>Временные характеристики В-дерева</a:t>
            </a:r>
            <a:endParaRPr lang="ru-RU" sz="3200"/>
          </a:p>
        </p:txBody>
      </p:sp>
      <p:sp>
        <p:nvSpPr>
          <p:cNvPr id="6" name="Содержимое 2"/>
          <p:cNvSpPr txBox="1">
            <a:spLocks/>
          </p:cNvSpPr>
          <p:nvPr/>
        </p:nvSpPr>
        <p:spPr bwMode="auto">
          <a:xfrm>
            <a:off x="214313" y="857250"/>
            <a:ext cx="8643937" cy="600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36000" rIns="36000" bIns="36000">
            <a:normAutofit fontScale="92500" lnSpcReduction="20000"/>
          </a:bodyPr>
          <a:lstStyle/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Рассмотрим файл с </a:t>
            </a:r>
            <a:r>
              <a:rPr lang="en-US" sz="2400" i="1" dirty="0"/>
              <a:t>n</a:t>
            </a:r>
            <a:r>
              <a:rPr lang="ru-RU" sz="2400" dirty="0"/>
              <a:t> записями, организованный в виде </a:t>
            </a:r>
            <a:r>
              <a:rPr lang="ru-RU" sz="2400" i="1" dirty="0"/>
              <a:t>В</a:t>
            </a:r>
            <a:r>
              <a:rPr lang="ru-RU" sz="2400" dirty="0"/>
              <a:t>-дерева с параметрами </a:t>
            </a:r>
            <a:r>
              <a:rPr lang="ru-RU" sz="2400" i="1" dirty="0"/>
              <a:t>d – </a:t>
            </a:r>
            <a:r>
              <a:rPr lang="ru-RU" sz="2200" i="1" dirty="0"/>
              <a:t>количество записей в блоке индекса </a:t>
            </a:r>
            <a:r>
              <a:rPr lang="ru-RU" sz="2400" dirty="0"/>
              <a:t>и </a:t>
            </a:r>
            <a:r>
              <a:rPr lang="ru-RU" sz="2400" i="1" dirty="0"/>
              <a:t>е - </a:t>
            </a:r>
            <a:r>
              <a:rPr lang="ru-RU" sz="2200" i="1" dirty="0"/>
              <a:t>количество записей в блоке основного файла</a:t>
            </a:r>
            <a:r>
              <a:rPr lang="ru-RU" sz="2400" dirty="0"/>
              <a:t>. 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В этом дереве не более </a:t>
            </a:r>
            <a:r>
              <a:rPr lang="en-US" sz="2400" i="1" dirty="0"/>
              <a:t>n</a:t>
            </a:r>
            <a:r>
              <a:rPr lang="ru-RU" sz="2400" i="1" dirty="0"/>
              <a:t>/е</a:t>
            </a:r>
            <a:r>
              <a:rPr lang="ru-RU" sz="2400" dirty="0"/>
              <a:t> листьев, не более </a:t>
            </a:r>
            <a:r>
              <a:rPr lang="ru-RU" sz="2400" i="1" dirty="0" err="1"/>
              <a:t>n</a:t>
            </a:r>
            <a:r>
              <a:rPr lang="ru-RU" sz="2400" i="1" dirty="0"/>
              <a:t>/</a:t>
            </a:r>
            <a:r>
              <a:rPr lang="ru-RU" sz="2400" i="1" dirty="0" err="1"/>
              <a:t>de</a:t>
            </a:r>
            <a:r>
              <a:rPr lang="ru-RU" sz="2400" dirty="0"/>
              <a:t> отцов листьев </a:t>
            </a:r>
            <a:r>
              <a:rPr lang="ru-RU" sz="2400" i="1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/d</a:t>
            </a:r>
            <a:r>
              <a:rPr lang="ru-RU" sz="2400" i="1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2400" dirty="0"/>
              <a:t> отцов </a:t>
            </a:r>
            <a:r>
              <a:rPr lang="ru-RU" sz="2400" dirty="0" err="1"/>
              <a:t>отцов</a:t>
            </a:r>
            <a:r>
              <a:rPr lang="ru-RU" sz="2400" dirty="0"/>
              <a:t> листьев и т. д. 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Если на путях от корня к листьям имеется </a:t>
            </a:r>
            <a:r>
              <a:rPr lang="en-US" sz="2400" i="1" dirty="0" err="1"/>
              <a:t>i</a:t>
            </a:r>
            <a:r>
              <a:rPr lang="ru-RU" sz="2400" dirty="0"/>
              <a:t> узлов, то </a:t>
            </a:r>
            <a:r>
              <a:rPr lang="ru-RU" sz="2400" i="1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 ≥ </a:t>
            </a:r>
            <a:r>
              <a:rPr lang="ru-RU" sz="2400" i="1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i="1" baseline="30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i="1" baseline="30000" dirty="0">
                <a:latin typeface="Times New Roman" pitchFamily="18" charset="0"/>
                <a:cs typeface="Times New Roman" pitchFamily="18" charset="0"/>
              </a:rPr>
              <a:t>–1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2400" dirty="0"/>
              <a:t>, так как в противном случае было бы менее одного узла на уровне корня, что невозможно. </a:t>
            </a:r>
            <a:endParaRPr lang="en-US" sz="2400" i="1" baseline="30000" dirty="0">
              <a:latin typeface="Times New Roman" pitchFamily="18" charset="0"/>
              <a:cs typeface="Times New Roman" pitchFamily="18" charset="0"/>
            </a:endParaRPr>
          </a:p>
          <a:p>
            <a:pPr eaLnBrk="0" hangingPunct="0">
              <a:lnSpc>
                <a:spcPct val="120000"/>
              </a:lnSpc>
              <a:defRPr/>
            </a:pPr>
            <a:endParaRPr lang="ru-RU" sz="2400" dirty="0"/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Тогда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endParaRPr lang="ru-RU" sz="2400" dirty="0"/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Чтобы выполнить поиск, достаточно </a:t>
            </a:r>
            <a:r>
              <a:rPr lang="ru-RU" sz="2400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dirty="0"/>
              <a:t> операций чтения. 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Для операций включения, удаления или модификации обычно необходимо записать лишь один блок — лист, содержащий участвующую в операции запись. 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Итого число операций чтения/записи =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ru-RU" sz="2400" i="1" dirty="0" err="1">
                <a:latin typeface="Times New Roman" pitchFamily="18" charset="0"/>
                <a:cs typeface="Times New Roman" pitchFamily="18" charset="0"/>
              </a:rPr>
              <a:t>log</a:t>
            </a:r>
            <a:r>
              <a:rPr lang="ru-RU" sz="2400" i="1" baseline="-25000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/е</a:t>
            </a:r>
            <a:r>
              <a:rPr lang="ru-RU" sz="2400" i="1" dirty="0"/>
              <a:t>)</a:t>
            </a:r>
            <a:endParaRPr lang="ru-RU" sz="2400" dirty="0"/>
          </a:p>
        </p:txBody>
      </p:sp>
      <p:sp>
        <p:nvSpPr>
          <p:cNvPr id="21508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215313" y="6248400"/>
            <a:ext cx="471487" cy="395288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7FD60C10-ADED-4944-8B28-409E3D807C48}" type="slidenum">
              <a:rPr lang="ru-RU" smtClean="0"/>
              <a:pPr/>
              <a:t>23</a:t>
            </a:fld>
            <a:endParaRPr lang="ru-RU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647626"/>
              </p:ext>
            </p:extLst>
          </p:nvPr>
        </p:nvGraphicFramePr>
        <p:xfrm>
          <a:off x="2123728" y="3717032"/>
          <a:ext cx="4550444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1752480" imgH="545760" progId="Equation.3">
                  <p:embed/>
                </p:oleObj>
              </mc:Choice>
              <mc:Fallback>
                <p:oleObj name="Формула" r:id="rId3" imgW="1752480" imgH="5457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717032"/>
                        <a:ext cx="4550444" cy="1039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42875"/>
            <a:ext cx="8229600" cy="523875"/>
          </a:xfrm>
        </p:spPr>
        <p:txBody>
          <a:bodyPr/>
          <a:lstStyle/>
          <a:p>
            <a:pPr algn="ctr"/>
            <a:r>
              <a:rPr lang="ru-RU" sz="3200">
                <a:solidFill>
                  <a:schemeClr val="bg2"/>
                </a:solidFill>
              </a:rPr>
              <a:t>Временные характеристики В-дерева</a:t>
            </a:r>
            <a:endParaRPr lang="ru-RU" sz="3200"/>
          </a:p>
        </p:txBody>
      </p:sp>
      <p:sp>
        <p:nvSpPr>
          <p:cNvPr id="6" name="Содержимое 2"/>
          <p:cNvSpPr txBox="1">
            <a:spLocks/>
          </p:cNvSpPr>
          <p:nvPr/>
        </p:nvSpPr>
        <p:spPr bwMode="auto">
          <a:xfrm>
            <a:off x="214313" y="857250"/>
            <a:ext cx="8606159" cy="538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36000" rIns="36000" bIns="36000">
            <a:normAutofit/>
          </a:bodyPr>
          <a:lstStyle/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Рассмотрим файл с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n =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i="1" dirty="0">
                <a:latin typeface="Times New Roman" pitchFamily="18" charset="0"/>
                <a:cs typeface="Times New Roman" pitchFamily="18" charset="0"/>
              </a:rPr>
              <a:t>1000000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/>
              <a:t>записями, организованный в виде </a:t>
            </a:r>
            <a:r>
              <a:rPr lang="ru-RU" sz="2400" i="1" dirty="0"/>
              <a:t>В</a:t>
            </a:r>
            <a:r>
              <a:rPr lang="ru-RU" sz="2400" dirty="0"/>
              <a:t>-дерева с параметрами </a:t>
            </a:r>
            <a:br>
              <a:rPr lang="en-US" sz="2400" dirty="0"/>
            </a:br>
            <a:r>
              <a:rPr lang="ru-RU" b="1" i="1" dirty="0">
                <a:latin typeface="Times New Roman" pitchFamily="18" charset="0"/>
                <a:cs typeface="Times New Roman" pitchFamily="18" charset="0"/>
              </a:rPr>
              <a:t>е=5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i="1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b="1" i="1" dirty="0">
                <a:latin typeface="Times New Roman" pitchFamily="18" charset="0"/>
                <a:cs typeface="Times New Roman" pitchFamily="18" charset="0"/>
              </a:rPr>
              <a:t> =50</a:t>
            </a:r>
            <a:r>
              <a:rPr lang="ru-RU" sz="2400" dirty="0"/>
              <a:t>. 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/>
              <a:t>Тогда число операций чтения/записи </a:t>
            </a:r>
            <a:br>
              <a:rPr lang="ru-RU" sz="2400" dirty="0"/>
            </a:br>
            <a:r>
              <a:rPr lang="ru-RU" sz="2400" dirty="0"/>
              <a:t>=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ru-RU" b="1" i="1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ru-RU" b="1" i="1" dirty="0" err="1">
                <a:latin typeface="Times New Roman" pitchFamily="18" charset="0"/>
                <a:cs typeface="Times New Roman" pitchFamily="18" charset="0"/>
              </a:rPr>
              <a:t>log</a:t>
            </a:r>
            <a:r>
              <a:rPr lang="ru-RU" b="1" i="1" baseline="-25000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b="1" i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b="1" i="1" dirty="0">
                <a:latin typeface="Times New Roman" pitchFamily="18" charset="0"/>
                <a:cs typeface="Times New Roman" pitchFamily="18" charset="0"/>
              </a:rPr>
              <a:t>/е) = 2 + log</a:t>
            </a:r>
            <a:r>
              <a:rPr lang="ru-RU" b="1" i="1" baseline="-25000" dirty="0">
                <a:latin typeface="Times New Roman" pitchFamily="18" charset="0"/>
                <a:cs typeface="Times New Roman" pitchFamily="18" charset="0"/>
              </a:rPr>
              <a:t>50</a:t>
            </a:r>
            <a:r>
              <a:rPr lang="ru-RU" b="1" i="1" dirty="0">
                <a:latin typeface="Times New Roman" pitchFamily="18" charset="0"/>
                <a:cs typeface="Times New Roman" pitchFamily="18" charset="0"/>
              </a:rPr>
              <a:t> (200000) </a:t>
            </a:r>
            <a:r>
              <a:rPr lang="ru-RU" b="1" i="1" dirty="0">
                <a:latin typeface="Times New Roman" pitchFamily="18" charset="0"/>
                <a:cs typeface="Times New Roman" pitchFamily="18" charset="0"/>
                <a:sym typeface="Symbol"/>
              </a:rPr>
              <a:t> 6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>
                <a:latin typeface="+mn-lt"/>
                <a:cs typeface="Times New Roman" pitchFamily="18" charset="0"/>
              </a:rPr>
              <a:t>Это хуже чем ХЭШ = около 3, но лучше чем индексация с одним уровнем 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log</a:t>
            </a:r>
            <a:r>
              <a:rPr lang="ru-RU" sz="2400" b="1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(1000000) = 19,93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  <a:defRPr/>
            </a:pPr>
            <a:r>
              <a:rPr lang="ru-RU" sz="2400" dirty="0">
                <a:latin typeface="+mn-lt"/>
                <a:cs typeface="Times New Roman" pitchFamily="18" charset="0"/>
              </a:rPr>
              <a:t>Преимущество в том, что </a:t>
            </a:r>
          </a:p>
          <a:p>
            <a:pPr marL="800100" lvl="1" indent="-342900" eaLnBrk="0" hangingPunct="0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 поиск быстрый </a:t>
            </a:r>
          </a:p>
          <a:p>
            <a:pPr marL="800100" lvl="1" indent="-342900" eaLnBrk="0" hangingPunct="0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 можно перечислять сортированном порядке</a:t>
            </a:r>
            <a:r>
              <a:rPr lang="ru-RU" sz="2400" dirty="0">
                <a:latin typeface="+mn-lt"/>
                <a:cs typeface="Times New Roman" pitchFamily="18" charset="0"/>
              </a:rPr>
              <a:t>.</a:t>
            </a:r>
          </a:p>
        </p:txBody>
      </p:sp>
      <p:sp>
        <p:nvSpPr>
          <p:cNvPr id="21508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215313" y="6248400"/>
            <a:ext cx="471487" cy="395288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7FD60C10-ADED-4944-8B28-409E3D807C48}" type="slidenum">
              <a:rPr lang="ru-RU" smtClean="0"/>
              <a:pPr/>
              <a:t>24</a:t>
            </a:fld>
            <a:endParaRPr lang="ru-R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42875"/>
            <a:ext cx="8229600" cy="523875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Общая таблица </a:t>
            </a:r>
            <a:endParaRPr lang="ru-RU" sz="3200" dirty="0"/>
          </a:p>
        </p:txBody>
      </p:sp>
      <p:sp>
        <p:nvSpPr>
          <p:cNvPr id="21508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215313" y="6248400"/>
            <a:ext cx="471487" cy="395288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7FD60C10-ADED-4944-8B28-409E3D807C48}" type="slidenum">
              <a:rPr lang="ru-RU" smtClean="0"/>
              <a:pPr/>
              <a:t>25</a:t>
            </a:fld>
            <a:endParaRPr lang="ru-RU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539552" y="836713"/>
          <a:ext cx="7704856" cy="5472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2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2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9621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Вид файла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Оценка доступа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4501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Куча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96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Хэш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файл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itchFamily="18" charset="0"/>
                          <a:cs typeface="Times New Roman" pitchFamily="18" charset="0"/>
                        </a:rPr>
                        <a:t>≥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96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Разреженный индекс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~ 2 + </a:t>
                      </a:r>
                      <a:r>
                        <a:rPr lang="ru-RU" sz="2400" b="0" i="0" dirty="0">
                          <a:latin typeface="Times New Roman" pitchFamily="18" charset="0"/>
                          <a:cs typeface="Times New Roman" pitchFamily="18" charset="0"/>
                        </a:rPr>
                        <a:t>log</a:t>
                      </a:r>
                      <a:r>
                        <a:rPr lang="ru-RU" sz="2400" b="0" i="1" baseline="-25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ru-RU" sz="2400" b="0" i="1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i="0" dirty="0"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en-US" sz="2400" b="0" i="1" dirty="0"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ru-RU" sz="2400" b="0" i="0" dirty="0">
                          <a:latin typeface="Times New Roman" pitchFamily="18" charset="0"/>
                          <a:cs typeface="Times New Roman" pitchFamily="18" charset="0"/>
                        </a:rPr>
                        <a:t>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96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– дерево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96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Плотный индекс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itchFamily="18" charset="0"/>
                          <a:cs typeface="Times New Roman" pitchFamily="18" charset="0"/>
                        </a:rPr>
                        <a:t>≤</a:t>
                      </a:r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dirty="0">
                          <a:latin typeface="Times New Roman" pitchFamily="18" charset="0"/>
                          <a:cs typeface="Times New Roman" pitchFamily="18" charset="0"/>
                        </a:rPr>
                        <a:t>2+ время над индексом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Объект 6"/>
          <p:cNvGraphicFramePr>
            <a:graphicFrameLocks noChangeAspect="1"/>
          </p:cNvGraphicFramePr>
          <p:nvPr/>
        </p:nvGraphicFramePr>
        <p:xfrm>
          <a:off x="6038850" y="1898650"/>
          <a:ext cx="377825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177480" imgH="342720" progId="Equation.3">
                  <p:embed/>
                </p:oleObj>
              </mc:Choice>
              <mc:Fallback>
                <p:oleObj name="Формула" r:id="rId3" imgW="177480" imgH="3427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1898650"/>
                        <a:ext cx="377825" cy="728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7"/>
          <p:cNvGraphicFramePr>
            <a:graphicFrameLocks noChangeAspect="1"/>
          </p:cNvGraphicFramePr>
          <p:nvPr/>
        </p:nvGraphicFramePr>
        <p:xfrm>
          <a:off x="5397500" y="4708525"/>
          <a:ext cx="194945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5" imgW="888840" imgH="342720" progId="Equation.3">
                  <p:embed/>
                </p:oleObj>
              </mc:Choice>
              <mc:Fallback>
                <p:oleObj name="Формула" r:id="rId5" imgW="888840" imgH="3427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0" y="4708525"/>
                        <a:ext cx="1949450" cy="75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HILD_ITEM_TEXT1" val="Данные хранятся на вращающемся диске с ферромагнитным покрытием&#10;Обеспечивает произвольный доступ для чтения и записи&#10;Самое популярное устройство хранения данных с большой емкостью хранения"/>
  <p:tag name="CHILD_ITEM_TEXT2" val="Накопитель на магнитных дисках"/>
  <p:tag name="CHILD_ITEM_TEXT3" val="Данные хранятся в памяти на основе полупроводников&#10;Чрезвычайно малые задержки операций ввода-вывода, низкое энергопотребление и очень высокая пропускная способность"/>
  <p:tag name="CHILD_ITEM_TEXT4" val="Твердотельный диск (флэш-диск)"/>
  <p:tag name="CHILD_ITEM_TEXT5" val="Данные хранятся на пластиковой пленке с магнитным покрытием&#10;Обеспечивает только последовательный доступ к данным&#10;Недорогое решение для длительного хранения данных"/>
  <p:tag name="CHILD_ITEM_TEXT6" val="Магнитный ленточный накопитель"/>
  <p:tag name="CHILD_ITEM_TEXT7" val="Данные хранятся на поликарбонатном диске с отражающим покрытием&#10;Возможность однократной записи и многократного чтения: CD, DVD, BD&#10;Недорогое решение для длительного хранения данных"/>
  <p:tag name="CHILD_ITEM_TEXT8" val="Оптический дисковод"/>
</p:tagLst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2136</TotalTime>
  <Words>3528</Words>
  <Application>Microsoft Office PowerPoint</Application>
  <PresentationFormat>Экран (4:3)</PresentationFormat>
  <Paragraphs>283</Paragraphs>
  <Slides>25</Slides>
  <Notes>12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2" baseType="lpstr">
      <vt:lpstr>Arial</vt:lpstr>
      <vt:lpstr>Arial Black</vt:lpstr>
      <vt:lpstr>Calibri</vt:lpstr>
      <vt:lpstr>Times New Roman</vt:lpstr>
      <vt:lpstr>Wingdings</vt:lpstr>
      <vt:lpstr>Пиксел</vt:lpstr>
      <vt:lpstr>Формула</vt:lpstr>
      <vt:lpstr>Модель внешней памяти</vt:lpstr>
      <vt:lpstr>Типы устройств хранения данных</vt:lpstr>
      <vt:lpstr>Компоненты жестких дисков</vt:lpstr>
      <vt:lpstr>Структура физического диска</vt:lpstr>
      <vt:lpstr>Адресация логического блока</vt:lpstr>
      <vt:lpstr>Модель организации внешней памяти</vt:lpstr>
      <vt:lpstr>Модель организации внешней памяти</vt:lpstr>
      <vt:lpstr>Куча</vt:lpstr>
      <vt:lpstr>Куча. Свойства</vt:lpstr>
      <vt:lpstr>Хэш файл. Hash file.</vt:lpstr>
      <vt:lpstr>Хэш файл. Свойства.</vt:lpstr>
      <vt:lpstr>Индексный файл</vt:lpstr>
      <vt:lpstr>Пример </vt:lpstr>
      <vt:lpstr>Операции. Поиск.</vt:lpstr>
      <vt:lpstr>Индексный файл. Свойства.</vt:lpstr>
      <vt:lpstr>Иерархия индексов</vt:lpstr>
      <vt:lpstr>Презентация PowerPoint</vt:lpstr>
      <vt:lpstr>В-дерево</vt:lpstr>
      <vt:lpstr>В-дерево</vt:lpstr>
      <vt:lpstr>Пример В-дерева</vt:lpstr>
      <vt:lpstr>В-дерево после вставки</vt:lpstr>
      <vt:lpstr>В-дерево после удаления</vt:lpstr>
      <vt:lpstr>Временные характеристики В-дерева</vt:lpstr>
      <vt:lpstr>Временные характеристики В-дерева</vt:lpstr>
      <vt:lpstr>Общая таблица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Борис Николаевич Пищик</cp:lastModifiedBy>
  <cp:revision>183</cp:revision>
  <dcterms:created xsi:type="dcterms:W3CDTF">2012-10-04T16:47:37Z</dcterms:created>
  <dcterms:modified xsi:type="dcterms:W3CDTF">2021-02-18T05:16:51Z</dcterms:modified>
</cp:coreProperties>
</file>