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5.xml" ContentType="application/vnd.openxmlformats-officedocument.presentationml.notesSlide+xml"/>
  <Override PartName="/ppt/tags/tag57.xml" ContentType="application/vnd.openxmlformats-officedocument.presentationml.tags+xml"/>
  <Override PartName="/ppt/notesSlides/notesSlide6.xml" ContentType="application/vnd.openxmlformats-officedocument.presentationml.notesSlide+xml"/>
  <Override PartName="/ppt/tags/tag58.xml" ContentType="application/vnd.openxmlformats-officedocument.presentationml.tags+xml"/>
  <Override PartName="/ppt/notesSlides/notesSlide7.xml" ContentType="application/vnd.openxmlformats-officedocument.presentationml.notesSlide+xml"/>
  <Override PartName="/ppt/tags/tag59.xml" ContentType="application/vnd.openxmlformats-officedocument.presentationml.tags+xml"/>
  <Override PartName="/ppt/notesSlides/notesSlide8.xml" ContentType="application/vnd.openxmlformats-officedocument.presentationml.notesSlide+xml"/>
  <Override PartName="/ppt/tags/tag60.xml" ContentType="application/vnd.openxmlformats-officedocument.presentationml.tags+xml"/>
  <Override PartName="/ppt/notesSlides/notesSlide9.xml" ContentType="application/vnd.openxmlformats-officedocument.presentationml.notesSlide+xml"/>
  <Override PartName="/ppt/tags/tag61.xml" ContentType="application/vnd.openxmlformats-officedocument.presentationml.tags+xml"/>
  <Override PartName="/ppt/notesSlides/notesSlide10.xml" ContentType="application/vnd.openxmlformats-officedocument.presentationml.notesSlide+xml"/>
  <Override PartName="/ppt/tags/tag62.xml" ContentType="application/vnd.openxmlformats-officedocument.presentationml.tags+xml"/>
  <Override PartName="/ppt/notesSlides/notesSlide1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3.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4.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5.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6.xml" ContentType="application/vnd.openxmlformats-officedocument.presentationml.notesSlide+xml"/>
  <Override PartName="/ppt/tags/tag112.xml" ContentType="application/vnd.openxmlformats-officedocument.presentationml.tags+xml"/>
  <Override PartName="/ppt/notesSlides/notesSlide17.xml" ContentType="application/vnd.openxmlformats-officedocument.presentationml.notesSlide+xml"/>
  <Override PartName="/ppt/tags/tag113.xml" ContentType="application/vnd.openxmlformats-officedocument.presentationml.tags+xml"/>
  <Override PartName="/ppt/notesSlides/notesSlide18.xml" ContentType="application/vnd.openxmlformats-officedocument.presentationml.notesSlide+xml"/>
  <Override PartName="/ppt/tags/tag114.xml" ContentType="application/vnd.openxmlformats-officedocument.presentationml.tags+xml"/>
  <Override PartName="/ppt/notesSlides/notesSlide19.xml" ContentType="application/vnd.openxmlformats-officedocument.presentationml.notesSlide+xml"/>
  <Override PartName="/ppt/tags/tag115.xml" ContentType="application/vnd.openxmlformats-officedocument.presentationml.tags+xml"/>
  <Override PartName="/ppt/notesSlides/notesSlide20.xml" ContentType="application/vnd.openxmlformats-officedocument.presentationml.notesSlide+xml"/>
  <Override PartName="/ppt/tags/tag116.xml" ContentType="application/vnd.openxmlformats-officedocument.presentationml.tags+xml"/>
  <Override PartName="/ppt/notesSlides/notesSlide21.xml" ContentType="application/vnd.openxmlformats-officedocument.presentationml.notesSlide+xml"/>
  <Override PartName="/ppt/tags/tag117.xml" ContentType="application/vnd.openxmlformats-officedocument.presentationml.tags+xml"/>
  <Override PartName="/ppt/notesSlides/notesSlide22.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23.xml" ContentType="application/vnd.openxmlformats-officedocument.presentationml.notesSlide+xml"/>
  <Override PartName="/ppt/tags/tag125.xml" ContentType="application/vnd.openxmlformats-officedocument.presentationml.tags+xml"/>
  <Override PartName="/ppt/notesSlides/notesSlide24.xml" ContentType="application/vnd.openxmlformats-officedocument.presentationml.notesSlide+xml"/>
  <Override PartName="/ppt/tags/tag126.xml" ContentType="application/vnd.openxmlformats-officedocument.presentationml.tags+xml"/>
  <Override PartName="/ppt/notesSlides/notesSlide25.xml" ContentType="application/vnd.openxmlformats-officedocument.presentationml.notesSlide+xml"/>
  <Override PartName="/ppt/tags/tag127.xml" ContentType="application/vnd.openxmlformats-officedocument.presentationml.tags+xml"/>
  <Override PartName="/ppt/notesSlides/notesSlide26.xml" ContentType="application/vnd.openxmlformats-officedocument.presentationml.notesSlide+xml"/>
  <Override PartName="/ppt/tags/tag128.xml" ContentType="application/vnd.openxmlformats-officedocument.presentationml.tags+xml"/>
  <Override PartName="/ppt/notesSlides/notesSlide27.xml" ContentType="application/vnd.openxmlformats-officedocument.presentationml.notesSlide+xml"/>
  <Override PartName="/ppt/tags/tag129.xml" ContentType="application/vnd.openxmlformats-officedocument.presentationml.tags+xml"/>
  <Override PartName="/ppt/notesSlides/notesSlide28.xml" ContentType="application/vnd.openxmlformats-officedocument.presentationml.notesSlide+xml"/>
  <Override PartName="/ppt/tags/tag130.xml" ContentType="application/vnd.openxmlformats-officedocument.presentationml.tags+xml"/>
  <Override PartName="/ppt/notesSlides/notesSlide29.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30.xml" ContentType="application/vnd.openxmlformats-officedocument.presentationml.notesSlide+xml"/>
  <Override PartName="/ppt/tags/tag138.xml" ContentType="application/vnd.openxmlformats-officedocument.presentationml.tags+xml"/>
  <Override PartName="/ppt/notesSlides/notesSlide31.xml" ContentType="application/vnd.openxmlformats-officedocument.presentationml.notesSlide+xml"/>
  <Override PartName="/ppt/tags/tag139.xml" ContentType="application/vnd.openxmlformats-officedocument.presentationml.tags+xml"/>
  <Override PartName="/ppt/notesSlides/notesSlide32.xml" ContentType="application/vnd.openxmlformats-officedocument.presentationml.notesSlide+xml"/>
  <Override PartName="/ppt/tags/tag140.xml" ContentType="application/vnd.openxmlformats-officedocument.presentationml.tags+xml"/>
  <Override PartName="/ppt/notesSlides/notesSlide33.xml" ContentType="application/vnd.openxmlformats-officedocument.presentationml.notesSlide+xml"/>
  <Override PartName="/ppt/tags/tag141.xml" ContentType="application/vnd.openxmlformats-officedocument.presentationml.tags+xml"/>
  <Override PartName="/ppt/notesSlides/notesSlide34.xml" ContentType="application/vnd.openxmlformats-officedocument.presentationml.notesSlide+xml"/>
  <Override PartName="/ppt/tags/tag142.xml" ContentType="application/vnd.openxmlformats-officedocument.presentationml.tags+xml"/>
  <Override PartName="/ppt/notesSlides/notesSlide35.xml" ContentType="application/vnd.openxmlformats-officedocument.presentationml.notesSlide+xml"/>
  <Override PartName="/ppt/tags/tag143.xml" ContentType="application/vnd.openxmlformats-officedocument.presentationml.tags+xml"/>
  <Override PartName="/ppt/notesSlides/notesSlide36.xml" ContentType="application/vnd.openxmlformats-officedocument.presentationml.notesSlide+xml"/>
  <Override PartName="/ppt/tags/tag144.xml" ContentType="application/vnd.openxmlformats-officedocument.presentationml.tags+xml"/>
  <Override PartName="/ppt/notesSlides/notesSlide37.xml" ContentType="application/vnd.openxmlformats-officedocument.presentationml.notesSlide+xml"/>
  <Override PartName="/ppt/tags/tag145.xml" ContentType="application/vnd.openxmlformats-officedocument.presentationml.tags+xml"/>
  <Override PartName="/ppt/notesSlides/notesSlide38.xml" ContentType="application/vnd.openxmlformats-officedocument.presentationml.notesSlide+xml"/>
  <Override PartName="/ppt/tags/tag146.xml" ContentType="application/vnd.openxmlformats-officedocument.presentationml.tags+xml"/>
  <Override PartName="/ppt/notesSlides/notesSlide39.xml" ContentType="application/vnd.openxmlformats-officedocument.presentationml.notesSlide+xml"/>
  <Override PartName="/ppt/tags/tag147.xml" ContentType="application/vnd.openxmlformats-officedocument.presentationml.tags+xml"/>
  <Override PartName="/ppt/notesSlides/notesSlide40.xml" ContentType="application/vnd.openxmlformats-officedocument.presentationml.notesSlide+xml"/>
  <Override PartName="/ppt/tags/tag148.xml" ContentType="application/vnd.openxmlformats-officedocument.presentationml.tags+xml"/>
  <Override PartName="/ppt/notesSlides/notesSlide41.xml" ContentType="application/vnd.openxmlformats-officedocument.presentationml.notesSlide+xml"/>
  <Override PartName="/ppt/tags/tag149.xml" ContentType="application/vnd.openxmlformats-officedocument.presentationml.tags+xml"/>
  <Override PartName="/ppt/notesSlides/notesSlide42.xml" ContentType="application/vnd.openxmlformats-officedocument.presentationml.notesSlide+xml"/>
  <Override PartName="/ppt/tags/tag150.xml" ContentType="application/vnd.openxmlformats-officedocument.presentationml.tags+xml"/>
  <Override PartName="/ppt/notesSlides/notesSlide43.xml" ContentType="application/vnd.openxmlformats-officedocument.presentationml.notesSlide+xml"/>
  <Override PartName="/ppt/tags/tag151.xml" ContentType="application/vnd.openxmlformats-officedocument.presentationml.tags+xml"/>
  <Override PartName="/ppt/notesSlides/notesSlide44.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45.xml" ContentType="application/vnd.openxmlformats-officedocument.presentationml.notesSlide+xml"/>
  <Override PartName="/ppt/tags/tag156.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 id="2147483776" r:id="rId2"/>
  </p:sldMasterIdLst>
  <p:notesMasterIdLst>
    <p:notesMasterId r:id="rId49"/>
  </p:notesMasterIdLst>
  <p:handoutMasterIdLst>
    <p:handoutMasterId r:id="rId50"/>
  </p:handoutMasterIdLst>
  <p:sldIdLst>
    <p:sldId id="367" r:id="rId3"/>
    <p:sldId id="368" r:id="rId4"/>
    <p:sldId id="314" r:id="rId5"/>
    <p:sldId id="315" r:id="rId6"/>
    <p:sldId id="316" r:id="rId7"/>
    <p:sldId id="317" r:id="rId8"/>
    <p:sldId id="318" r:id="rId9"/>
    <p:sldId id="319" r:id="rId10"/>
    <p:sldId id="320" r:id="rId11"/>
    <p:sldId id="321" r:id="rId12"/>
    <p:sldId id="322" r:id="rId13"/>
    <p:sldId id="323" r:id="rId14"/>
    <p:sldId id="324" r:id="rId15"/>
    <p:sldId id="326" r:id="rId16"/>
    <p:sldId id="327" r:id="rId17"/>
    <p:sldId id="328" r:id="rId18"/>
    <p:sldId id="329" r:id="rId19"/>
    <p:sldId id="331" r:id="rId20"/>
    <p:sldId id="332" r:id="rId21"/>
    <p:sldId id="333" r:id="rId22"/>
    <p:sldId id="335" r:id="rId23"/>
    <p:sldId id="337" r:id="rId24"/>
    <p:sldId id="338" r:id="rId25"/>
    <p:sldId id="340" r:id="rId26"/>
    <p:sldId id="341" r:id="rId27"/>
    <p:sldId id="342" r:id="rId28"/>
    <p:sldId id="343" r:id="rId29"/>
    <p:sldId id="345" r:id="rId30"/>
    <p:sldId id="346" r:id="rId31"/>
    <p:sldId id="347" r:id="rId32"/>
    <p:sldId id="348" r:id="rId33"/>
    <p:sldId id="349" r:id="rId34"/>
    <p:sldId id="351" r:id="rId35"/>
    <p:sldId id="352" r:id="rId36"/>
    <p:sldId id="353" r:id="rId37"/>
    <p:sldId id="354" r:id="rId38"/>
    <p:sldId id="355" r:id="rId39"/>
    <p:sldId id="357" r:id="rId40"/>
    <p:sldId id="359" r:id="rId41"/>
    <p:sldId id="361" r:id="rId42"/>
    <p:sldId id="362" r:id="rId43"/>
    <p:sldId id="363" r:id="rId44"/>
    <p:sldId id="365" r:id="rId45"/>
    <p:sldId id="369" r:id="rId46"/>
    <p:sldId id="372" r:id="rId47"/>
    <p:sldId id="371" r:id="rId48"/>
  </p:sldIdLst>
  <p:sldSz cx="9144000" cy="5143500" type="screen16x9"/>
  <p:notesSz cx="6858000" cy="91440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6">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717074"/>
    <a:srgbClr val="4891DC"/>
    <a:srgbClr val="CDDDF2"/>
    <a:srgbClr val="E8EFF9"/>
    <a:srgbClr val="339933"/>
    <a:srgbClr val="BA3030"/>
    <a:srgbClr val="8E908F"/>
    <a:srgbClr val="9D9FA2"/>
    <a:srgbClr val="828381"/>
    <a:srgbClr val="A5A6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175" autoAdjust="0"/>
    <p:restoredTop sz="71949" autoAdjust="0"/>
  </p:normalViewPr>
  <p:slideViewPr>
    <p:cSldViewPr showGuides="1">
      <p:cViewPr varScale="1">
        <p:scale>
          <a:sx n="100" d="100"/>
          <a:sy n="100" d="100"/>
        </p:scale>
        <p:origin x="2478" y="66"/>
      </p:cViewPr>
      <p:guideLst>
        <p:guide orient="horz" pos="3156"/>
        <p:guide orient="horz" pos="229"/>
        <p:guide pos="2879"/>
      </p:guideLst>
    </p:cSldViewPr>
  </p:slideViewPr>
  <p:outlineViewPr>
    <p:cViewPr>
      <p:scale>
        <a:sx n="33" d="100"/>
        <a:sy n="33" d="100"/>
      </p:scale>
      <p:origin x="0" y="648"/>
    </p:cViewPr>
  </p:outlineViewPr>
  <p:notesTextViewPr>
    <p:cViewPr>
      <p:scale>
        <a:sx n="100" d="100"/>
        <a:sy n="100" d="100"/>
      </p:scale>
      <p:origin x="0" y="-576"/>
    </p:cViewPr>
  </p:notesTextViewPr>
  <p:sorterViewPr>
    <p:cViewPr>
      <p:scale>
        <a:sx n="158" d="100"/>
        <a:sy n="158" d="100"/>
      </p:scale>
      <p:origin x="0" y="19806"/>
    </p:cViewPr>
  </p:sorterViewPr>
  <p:notesViewPr>
    <p:cSldViewPr snapToObjects="1" showGuides="1">
      <p:cViewPr>
        <p:scale>
          <a:sx n="66" d="100"/>
          <a:sy n="66" d="100"/>
        </p:scale>
        <p:origin x="-2760" y="-144"/>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tags" Target="tags/tag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609600" y="3886200"/>
            <a:ext cx="5943600" cy="48006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46051" y="8915400"/>
            <a:ext cx="309700"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ru-RU" sz="800" smtClean="0">
                <a:latin typeface="Arial"/>
              </a:rPr>
              <a:pPr marL="0" marR="0" indent="0" algn="ctr" defTabSz="457200" rtl="0" eaLnBrk="1" fontAlgn="auto" latinLnBrk="0" hangingPunct="1">
                <a:lnSpc>
                  <a:spcPct val="100000"/>
                </a:lnSpc>
                <a:spcBef>
                  <a:spcPts val="0"/>
                </a:spcBef>
                <a:spcAft>
                  <a:spcPts val="0"/>
                </a:spcAft>
                <a:buClrTx/>
                <a:buSzTx/>
                <a:buFontTx/>
                <a:buNone/>
                <a:tabLst/>
                <a:defRPr/>
              </a:pPr>
              <a:t>‹#›</a:t>
            </a:fld>
            <a:endParaRPr lang="ru-RU" sz="800" dirty="0">
              <a:latin typeface="Arial"/>
            </a:endParaRPr>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sp>
        <p:nvSpPr>
          <p:cNvPr id="6" name="Slide Image Placeholder 5"/>
          <p:cNvSpPr>
            <a:spLocks noGrp="1" noRot="1" noChangeAspect="1"/>
          </p:cNvSpPr>
          <p:nvPr>
            <p:ph type="sldImg" idx="2"/>
          </p:nvPr>
        </p:nvSpPr>
        <p:spPr>
          <a:xfrm>
            <a:off x="609600" y="381001"/>
            <a:ext cx="5943600" cy="3343275"/>
          </a:xfrm>
          <a:prstGeom prst="rect">
            <a:avLst/>
          </a:prstGeom>
          <a:noFill/>
          <a:ln w="12700">
            <a:solidFill>
              <a:prstClr val="black"/>
            </a:solidFill>
          </a:ln>
        </p:spPr>
        <p:txBody>
          <a:bodyPr vert="horz" lIns="91440" tIns="45720" rIns="91440" bIns="45720" rtlCol="0" anchor="ctr"/>
          <a:lstStyle/>
          <a:p>
            <a:endParaRPr lang="en-US"/>
          </a:p>
        </p:txBody>
      </p:sp>
      <p:sp>
        <p:nvSpPr>
          <p:cNvPr id="7" name="Rectangle 6"/>
          <p:cNvSpPr/>
          <p:nvPr/>
        </p:nvSpPr>
        <p:spPr>
          <a:xfrm>
            <a:off x="3062287" y="8923020"/>
            <a:ext cx="3338513" cy="215444"/>
          </a:xfrm>
          <a:prstGeom prst="rect">
            <a:avLst/>
          </a:prstGeom>
        </p:spPr>
        <p:txBody>
          <a:bodyPr wrap="square">
            <a:spAutoFit/>
          </a:bodyPr>
          <a:lstStyle/>
          <a:p>
            <a:pPr algn="r" rtl="0"/>
            <a:r>
              <a:rPr lang="ru-RU" sz="800" kern="1200" baseline="0" dirty="0">
                <a:solidFill>
                  <a:schemeClr val="tx1"/>
                </a:solidFill>
                <a:latin typeface="Arial" pitchFamily="34" charset="0"/>
                <a:ea typeface="+mn-ea"/>
                <a:cs typeface="Arial" pitchFamily="34" charset="0"/>
              </a:rPr>
              <a:t>ISM v3 модуль 2: технологии третьей платформы</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fontAlgn="base"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fontAlgn="base"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fontAlgn="base"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fontAlgn="base"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fontAlgn="base"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www.vmware.com/" TargetMode="External"/><Relationship Id="rId2" Type="http://schemas.openxmlformats.org/officeDocument/2006/relationships/slide" Target="../slides/slide41.xml"/><Relationship Id="rId1" Type="http://schemas.openxmlformats.org/officeDocument/2006/relationships/notesMaster" Target="../notesMasters/notesMaster1.xml"/><Relationship Id="rId5" Type="http://schemas.openxmlformats.org/officeDocument/2006/relationships/hyperlink" Target="http://www.syncplicity.com/" TargetMode="External"/><Relationship Id="rId4" Type="http://schemas.openxmlformats.org/officeDocument/2006/relationships/hyperlink" Target="http://www.pivotal.io/"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defTabSz="457200" rtl="0" eaLnBrk="1" fontAlgn="auto" latinLnBrk="0" hangingPunct="1">
              <a:spcBef>
                <a:spcPts val="600"/>
              </a:spcBef>
              <a:buClrTx/>
              <a:buSzTx/>
              <a:buFontTx/>
              <a:buNone/>
              <a:tabLst/>
              <a:defRPr/>
            </a:pPr>
            <a:r>
              <a:rPr lang="ru-RU" sz="700" b="0" i="0" dirty="0">
                <a:solidFill>
                  <a:srgbClr val="000000"/>
                </a:solidFill>
                <a:latin typeface="Arial" pitchFamily="34" charset="0"/>
                <a:cs typeface="Arial" pitchFamily="34" charset="0"/>
              </a:rPr>
              <a:t>Добро пожаловать в модуль «Технологии третьей платформы»! </a:t>
            </a:r>
          </a:p>
          <a:p>
            <a:pPr marL="0" marR="0" lvl="0" indent="0" defTabSz="457200" rtl="0" eaLnBrk="1" fontAlgn="auto" latinLnBrk="0" hangingPunct="1">
              <a:spcBef>
                <a:spcPts val="600"/>
              </a:spcBef>
              <a:buClrTx/>
              <a:buSzTx/>
              <a:buFontTx/>
              <a:buNone/>
              <a:tabLst/>
              <a:defRPr/>
            </a:pPr>
            <a:r>
              <a:rPr lang="ru-RU" sz="700" b="0" i="0" dirty="0">
                <a:solidFill>
                  <a:srgbClr val="000000"/>
                </a:solidFill>
                <a:latin typeface="Arial" pitchFamily="34" charset="0"/>
                <a:cs typeface="Arial" pitchFamily="34" charset="0"/>
              </a:rPr>
              <a:t>Перейдите на вкладку «Ресурсы», чтобы загрузить версию данного электронного модуля в формате PDF.</a:t>
            </a:r>
          </a:p>
          <a:p>
            <a:pPr marL="0" marR="0" lvl="0" indent="0" defTabSz="457200" rtl="0" eaLnBrk="1" fontAlgn="auto" latinLnBrk="0" hangingPunct="1">
              <a:spcBef>
                <a:spcPts val="600"/>
              </a:spcBef>
              <a:buClrTx/>
              <a:buSzTx/>
              <a:buFontTx/>
              <a:buNone/>
              <a:tabLst/>
              <a:defRPr/>
            </a:pPr>
            <a:r>
              <a:rPr lang="ru-RU" sz="700" b="0" i="0" dirty="0">
                <a:solidFill>
                  <a:srgbClr val="000000"/>
                </a:solidFill>
                <a:latin typeface="Arial" pitchFamily="34" charset="0"/>
                <a:cs typeface="Arial" pitchFamily="34" charset="0"/>
              </a:rPr>
              <a:t>Этот модуль — часть курса ISM v3, состоящего из 16 модулей. </a:t>
            </a:r>
          </a:p>
          <a:p>
            <a:pPr lvl="0">
              <a:spcBef>
                <a:spcPts val="600"/>
              </a:spcBef>
            </a:pPr>
            <a:r>
              <a:rPr lang="ru-RU" sz="700" b="0" i="0" dirty="0">
                <a:solidFill>
                  <a:srgbClr val="000000"/>
                </a:solidFill>
                <a:latin typeface="Arial" pitchFamily="34" charset="0"/>
                <a:cs typeface="Arial" pitchFamily="34" charset="0"/>
              </a:rPr>
              <a:t>© Корпорация EMC, 2015 г. Все права защищены. Опубликовано в России. По сведениям ЕМС информация, содержащаяся в данной публикации, является правильной на дату публикации. Данная информация может измениться без уведомления. </a:t>
            </a:r>
          </a:p>
          <a:p>
            <a:pPr lvl="0">
              <a:spcBef>
                <a:spcPts val="600"/>
              </a:spcBef>
            </a:pPr>
            <a:r>
              <a:rPr lang="ru-RU" sz="700" b="0" i="0" dirty="0">
                <a:solidFill>
                  <a:srgbClr val="000000"/>
                </a:solidFill>
                <a:latin typeface="Arial" pitchFamily="34" charset="0"/>
                <a:cs typeface="Arial" pitchFamily="34" charset="0"/>
              </a:rPr>
              <a:t>СОДЕРЖАЩАЯСЯ В ДАННОЙ ПУБЛИКАЦИИ ИНФОРМАЦИЯ ПРЕДОСТАВЛЯЕТСЯ НА УСЛОВИЯХ «КАК ЕСТЬ». КОРПОРАЦИЯ EMC НЕ ПРЕДОСТАВЛЯЕТ НИКАКИХ УСЛОВИЙ ИЛИ ГАРАНТИЙ В ОТНОШЕНИИ УКАЗАННОЙ ИНФОРМАЦИИ И ОТКАЗЫВАЕТСЯ ОТ ПОДРАЗУМЕВАЕМЫХ ГАРАНТИЙ КОММЕРЧЕСКОЙ ЦЕННОСТИ И ПРИГОДНОСТИ ДЛЯ ОПРЕДЕЛЕННОЙ ЦЕЛИ.</a:t>
            </a:r>
          </a:p>
          <a:p>
            <a:pPr lvl="0">
              <a:spcBef>
                <a:spcPts val="600"/>
              </a:spcBef>
            </a:pPr>
            <a:r>
              <a:rPr lang="ru-RU" sz="700" b="0" i="0" dirty="0">
                <a:solidFill>
                  <a:srgbClr val="000000"/>
                </a:solidFill>
                <a:latin typeface="Arial" pitchFamily="34" charset="0"/>
                <a:cs typeface="Arial" pitchFamily="34" charset="0"/>
              </a:rPr>
              <a:t>Использование, копирование и распространение любых продуктов ЕМС, описанных в данной публикации, требует наличия соответствующей лицензии. Товарные знаки, логотипы и сервисные знаки (совокупно «Товарные знаки»), упоминаемые в настоящей публикации, являются собственностью корпорации EMC и других лиц. Никакие положения, содержащиеся в данной публикации, не должны рассматриваться, как предоставление каких-либо лицензий или прав на использование любого Товарного знака без предварительного письменного разрешения владельца данного Товарного знака.</a:t>
            </a:r>
          </a:p>
          <a:p>
            <a:pPr lvl="0">
              <a:spcBef>
                <a:spcPts val="600"/>
              </a:spcBef>
            </a:pPr>
            <a:r>
              <a:rPr lang="ru-RU" sz="700" b="0" i="0" dirty="0">
                <a:solidFill>
                  <a:srgbClr val="000000"/>
                </a:solidFill>
                <a:latin typeface="Arial" pitchFamily="34" charset="0"/>
                <a:cs typeface="Arial" pitchFamily="34" charset="0"/>
              </a:rPr>
              <a:t>EMC, EMC² AccessAnywhere Access Logix, AdvantEdge, AlphaStor, AppSync ApplicationXtender, ArchiveXtender, Atmos, Authentica, Authentic Problems, Automated Resource Manager, AutoStart, AutoSwap, AVALONidm, Avamar, Bus-Tech, Captiva, Catalog Solution, C-Clip, Celerra, Celerra Replicator, Centera, CenterStage, CentraStar, EMC CertTracker. CIO Connect, ClaimPack, ClaimsEditor, Claralert, </a:t>
            </a:r>
            <a:r>
              <a:rPr lang="ru-RU" sz="700" b="0" i="0" dirty="0">
                <a:solidFill>
                  <a:srgbClr val="494848"/>
                </a:solidFill>
                <a:latin typeface="Arial" pitchFamily="34" charset="0"/>
                <a:cs typeface="Arial" pitchFamily="34" charset="0"/>
              </a:rPr>
              <a:t>c</a:t>
            </a:r>
            <a:r>
              <a:rPr lang="ru-RU" sz="700" b="0" i="0" dirty="0">
                <a:solidFill>
                  <a:srgbClr val="000000"/>
                </a:solidFill>
                <a:latin typeface="Arial" pitchFamily="34" charset="0"/>
                <a:cs typeface="Arial" pitchFamily="34" charset="0"/>
              </a:rPr>
              <a:t>LARiiON, ClientPak, CloudArray, Codebook Correlation Technology, Common Information Model, Compuset, Compute Anywhere, Configuration Intelligence, Configuresoft, Connectrix, Constellation Computing, EMC ControlCenter, CopyCross, CopyPoint, CX, DataBridge, Data Protection Suite. Data Protection Advisor, DBClassify, DD Boost, Dantz, DatabaseXtender, Data Domain, Direct Matrix Architecture, DiskXtender, DiskXtender 2000, DLS ECO, Document Sciences, Documentum, DR Anywhere, ECS, elnput, E-Lab, Elastic Cloud Storage, EmailXaminer, EmailXtender, EMC Centera, EMC ControlCenter, EMC LifeLine, EMCTV, Enginuity, EPFM. eRoom, Event Explorer, FAST, FarPoint, FirstPass, FLARE, FormWare, Geosynchrony, Global File Virtualization, Graphic Visualization, Greenplum, HighRoad, HomeBase, Illuminator, InfoArchive, InfoMover, Infoscape, Infra, Input</a:t>
            </a:r>
            <a:r>
              <a:rPr lang="ru-RU" sz="700" b="0" i="1" dirty="0">
                <a:solidFill>
                  <a:srgbClr val="000000"/>
                </a:solidFill>
                <a:latin typeface="Arial" pitchFamily="34" charset="0"/>
                <a:cs typeface="Arial" pitchFamily="34" charset="0"/>
              </a:rPr>
              <a:t>Accel</a:t>
            </a:r>
            <a:r>
              <a:rPr lang="ru-RU" sz="700" b="0" i="0" dirty="0">
                <a:solidFill>
                  <a:srgbClr val="000000"/>
                </a:solidFill>
                <a:latin typeface="Arial" pitchFamily="34" charset="0"/>
                <a:cs typeface="Arial" pitchFamily="34" charset="0"/>
              </a:rPr>
              <a:t>, Input</a:t>
            </a:r>
            <a:r>
              <a:rPr lang="ru-RU" sz="700" b="0" i="1" dirty="0">
                <a:solidFill>
                  <a:srgbClr val="000000"/>
                </a:solidFill>
                <a:latin typeface="Arial" pitchFamily="34" charset="0"/>
                <a:cs typeface="Arial" pitchFamily="34" charset="0"/>
              </a:rPr>
              <a:t>Accel</a:t>
            </a:r>
            <a:r>
              <a:rPr lang="ru-RU" sz="700" b="0" i="0" dirty="0">
                <a:solidFill>
                  <a:srgbClr val="000000"/>
                </a:solidFill>
                <a:latin typeface="Arial" pitchFamily="34" charset="0"/>
                <a:cs typeface="Arial" pitchFamily="34" charset="0"/>
              </a:rPr>
              <a:t> Express, Invista, Ionix, ISIS,Kazeon, EMC LifeLine, Mainframe Appliance for Storage, Mainframe Data Library, Max Retriever, MCx, MediaStor, Metro, MetroPoint, MirrorView, Multi-Band Deduplication,Navisphere, Netstorage, NetWorker, nLayers, EMC OnCourse, OnAlert, OpenScale, Petrocloud, PixTools, Powerlink, PowerPath, PowerSnap, ProSphere, ProtectEverywhere, ProtectPoint, EMC Proven, EMC Proven Professional, QuickScan, RAPIDPath, EMC RecoverPoint, Rainfinity, RepliCare, RepliStor, ResourcePak, Retrospect, RSA, логотип RSA, SafeLine, SAN Advisor, SAN Copy, SAN Manager, ScaleIO Smarts, EMC Snap, SnapImage, SnapSure, SnapView, SourceOne, SRDF, EMC Storage Administrator, StorageScope, SupportMate, SymmAPI, SymmEnabler, Symmetrix, Symmetrix DMX, Symmetrix VMAX, TimeFinder, TwinStrata, UltraFlex, UltraPoint, UltraScale, Unisphere, Universal Data Consistency, Vblock, Velocity, Viewlets, ViPR, Virtual Matrix, Virtual Matrix Architecture, Virtual Provisioning, Virtualize Everything, Compromise Nothing, Virtuent, VMAX, VMAXe, VNX, VNXe, Voyence, VPLEX, VSAM-Assist, VSAM I/O PLUS, VSET, VSPEX, Watch4net, WebXtender, xPression, xPresso, Xtrem, XtremCache, XtremSF, XtremSW, XtremIO, YottaYotta, Zero-Friction Enterprise Storage.</a:t>
            </a:r>
          </a:p>
          <a:p>
            <a:pPr lvl="0">
              <a:spcBef>
                <a:spcPts val="600"/>
              </a:spcBef>
            </a:pPr>
            <a:r>
              <a:rPr lang="ru-RU" sz="700" b="0" i="0" dirty="0">
                <a:solidFill>
                  <a:srgbClr val="000000"/>
                </a:solidFill>
                <a:latin typeface="Arial" pitchFamily="34" charset="0"/>
                <a:cs typeface="Arial" pitchFamily="34" charset="0"/>
              </a:rPr>
              <a:t>Дата выпуска: август 2015 г. </a:t>
            </a:r>
          </a:p>
          <a:p>
            <a:pPr lvl="0">
              <a:spcBef>
                <a:spcPts val="600"/>
              </a:spcBef>
            </a:pPr>
            <a:r>
              <a:rPr lang="ru-RU" sz="700" b="0" i="0" dirty="0">
                <a:solidFill>
                  <a:srgbClr val="000000"/>
                </a:solidFill>
                <a:latin typeface="Arial" pitchFamily="34" charset="0"/>
                <a:cs typeface="Arial" pitchFamily="34" charset="0"/>
              </a:rPr>
              <a:t>Номер выпуска: MR-1WP-ISMv3TPT</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69369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модуле приводится обзор четырех технологий, которые составляют третью платформу: облаков, больших данных, социальных сетей и мобильных технологий. В этом модуле также рассматриваются облачные технологи и их основные характеристики. Кроме того, в нем приводятся сведения о моделях облачных услуг и моделях развертывания облаков. Также в рамках этого модуля рассматривается аналитика больших данных. Затем в нем рассматриваются работа в социальных сетях и мобильные технологии. Наконец, в этом модуле приводятся ключевые характеристики инфраструктуры третьей платформы и основные требования для перехода к третьей платформе. </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511676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этом уроке приводится определение облачных технологий и рассматриваются их ключевые характеристики. Кроме того, в рамках данного урока описываются модели облачных услуг и модели развертывания облаков.</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Национальный институт стандартов и технологии США (NIST), подразделение Министерства торговли США, опубликовал документ Special Publication 800-145, в котором приводится определение </a:t>
            </a:r>
            <a:r>
              <a:rPr lang="ru-RU" b="0" i="1" dirty="0">
                <a:solidFill>
                  <a:srgbClr val="000000"/>
                </a:solidFill>
                <a:latin typeface="Arial" pitchFamily="34" charset="0"/>
                <a:cs typeface="Arial" pitchFamily="34" charset="0"/>
              </a:rPr>
              <a:t>облачных технологий</a:t>
            </a:r>
            <a:r>
              <a:rPr lang="ru-RU" b="0" i="0" dirty="0">
                <a:solidFill>
                  <a:srgbClr val="000000"/>
                </a:solidFill>
                <a:latin typeface="Arial" pitchFamily="34" charset="0"/>
                <a:cs typeface="Arial" pitchFamily="34" charset="0"/>
              </a:rPr>
              <a:t>. Согласно этому определению, облачные технологии — это «модель, которая по требованию обеспечивает удобный сетевой доступ к общему пулу настраиваемых вычислительных ресурсов (сетей, серверов, СХД, приложений, сервисов и т. п.), которые можно быстро выделять и освобождать с минимальными трудозатратами на управление или минимальным взаимодействием с поставщиком услуг». </a:t>
            </a:r>
          </a:p>
          <a:p>
            <a:pPr>
              <a:spcBef>
                <a:spcPts val="600"/>
              </a:spcBef>
              <a:defRPr/>
            </a:pPr>
            <a:r>
              <a:rPr lang="ru-RU" b="0" i="0" dirty="0">
                <a:solidFill>
                  <a:srgbClr val="000000"/>
                </a:solidFill>
                <a:latin typeface="Arial" pitchFamily="34" charset="0"/>
                <a:cs typeface="Arial" pitchFamily="34" charset="0"/>
              </a:rPr>
              <a:t>Термин «облако» происходит от похожих на облака пузырьков, которые часто используются в диаграммах технической архитектуры для представления системы, например Интернета, сети или вычислительного кластера. В облачных технологиях </a:t>
            </a:r>
            <a:r>
              <a:rPr lang="ru-RU" b="0" i="1" dirty="0">
                <a:solidFill>
                  <a:srgbClr val="000000"/>
                </a:solidFill>
                <a:latin typeface="Arial" pitchFamily="34" charset="0"/>
                <a:cs typeface="Arial" pitchFamily="34" charset="0"/>
              </a:rPr>
              <a:t>облако</a:t>
            </a:r>
            <a:r>
              <a:rPr lang="ru-RU" b="0" i="0" dirty="0">
                <a:solidFill>
                  <a:srgbClr val="000000"/>
                </a:solidFill>
                <a:latin typeface="Arial" pitchFamily="34" charset="0"/>
                <a:cs typeface="Arial" pitchFamily="34" charset="0"/>
              </a:rPr>
              <a:t> — это </a:t>
            </a:r>
            <a:r>
              <a:rPr lang="ru-RU" b="0" i="0" u="sng" dirty="0">
                <a:solidFill>
                  <a:srgbClr val="000000"/>
                </a:solidFill>
                <a:latin typeface="Arial" pitchFamily="34" charset="0"/>
                <a:cs typeface="Arial" pitchFamily="34" charset="0"/>
              </a:rPr>
              <a:t>набор ИТ-ресурсов (аппаратных и программных), </a:t>
            </a:r>
            <a:r>
              <a:rPr lang="ru-RU" b="0" i="0" dirty="0">
                <a:solidFill>
                  <a:srgbClr val="000000"/>
                </a:solidFill>
                <a:latin typeface="Arial" pitchFamily="34" charset="0"/>
                <a:cs typeface="Arial" pitchFamily="34" charset="0"/>
              </a:rPr>
              <a:t>развернутый в </a:t>
            </a:r>
            <a:r>
              <a:rPr lang="ru-RU" b="0" i="0" u="sng" dirty="0">
                <a:solidFill>
                  <a:srgbClr val="000000"/>
                </a:solidFill>
                <a:latin typeface="Arial" pitchFamily="34" charset="0"/>
                <a:cs typeface="Arial" pitchFamily="34" charset="0"/>
              </a:rPr>
              <a:t>едином центре обработки данных </a:t>
            </a:r>
            <a:r>
              <a:rPr lang="ru-RU" b="0" i="0" dirty="0">
                <a:solidFill>
                  <a:srgbClr val="000000"/>
                </a:solidFill>
                <a:latin typeface="Arial" pitchFamily="34" charset="0"/>
                <a:cs typeface="Arial" pitchFamily="34" charset="0"/>
              </a:rPr>
              <a:t>или в </a:t>
            </a:r>
            <a:r>
              <a:rPr lang="ru-RU" b="0" i="0" u="sng" dirty="0">
                <a:solidFill>
                  <a:srgbClr val="000000"/>
                </a:solidFill>
                <a:latin typeface="Arial" pitchFamily="34" charset="0"/>
                <a:cs typeface="Arial" pitchFamily="34" charset="0"/>
              </a:rPr>
              <a:t>нескольких географически рассредоточенных центрах обработки данных, соединенных по сети</a:t>
            </a:r>
            <a:r>
              <a:rPr lang="ru-RU" b="0" i="0" dirty="0">
                <a:solidFill>
                  <a:srgbClr val="000000"/>
                </a:solidFill>
                <a:latin typeface="Arial" pitchFamily="34" charset="0"/>
                <a:cs typeface="Arial" pitchFamily="34" charset="0"/>
              </a:rPr>
              <a:t>. </a:t>
            </a:r>
          </a:p>
          <a:p>
            <a:pPr>
              <a:spcBef>
                <a:spcPts val="600"/>
              </a:spcBef>
              <a:defRPr/>
            </a:pPr>
            <a:r>
              <a:rPr lang="ru-RU" b="0" i="0" dirty="0">
                <a:solidFill>
                  <a:srgbClr val="000000"/>
                </a:solidFill>
                <a:latin typeface="Arial" pitchFamily="34" charset="0"/>
                <a:cs typeface="Arial" pitchFamily="34" charset="0"/>
              </a:rPr>
              <a:t>Облачную инфраструктуру создает, эксплуатирует и администрирует поставщик облачных услуг. Модель облачных технологий позволяет пользователям получать от поставщика ИТ-ресурсы в виде услуг. </a:t>
            </a:r>
          </a:p>
          <a:p>
            <a:pPr>
              <a:spcBef>
                <a:spcPts val="600"/>
              </a:spcBef>
              <a:defRPr/>
            </a:pPr>
            <a:r>
              <a:rPr lang="ru-RU" b="0" i="1" dirty="0">
                <a:solidFill>
                  <a:srgbClr val="000000"/>
                </a:solidFill>
                <a:latin typeface="Arial" pitchFamily="34" charset="0"/>
                <a:cs typeface="Arial" pitchFamily="34" charset="0"/>
              </a:rPr>
              <a:t>Облачная услуга</a:t>
            </a:r>
            <a:r>
              <a:rPr lang="ru-RU" b="0" i="0" dirty="0">
                <a:solidFill>
                  <a:srgbClr val="000000"/>
                </a:solidFill>
                <a:latin typeface="Arial" pitchFamily="34" charset="0"/>
                <a:cs typeface="Arial" pitchFamily="34" charset="0"/>
              </a:rPr>
              <a:t> — это набор аппаратных и программных ресурсов, которые поставщик предоставляет пользователям. Облачная инфраструктура содержит пулы ИТ-ресурсов, из которых ресурсы выделяются пользователям как услуги по сети, например по Интернету или внутренней сети. После того как пользователи завершают работу с ресурсами, те возвращаются в пул.</a:t>
            </a:r>
          </a:p>
        </p:txBody>
      </p:sp>
    </p:spTree>
    <p:extLst>
      <p:ext uri="{BB962C8B-B14F-4D97-AF65-F5344CB8AC3E}">
        <p14:creationId xmlns:p14="http://schemas.microsoft.com/office/powerpoint/2010/main" val="487142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8013" y="381000"/>
            <a:ext cx="5945187" cy="3344863"/>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Облачная модель аналогична коммунальным услугам, например электро- и водоснабжению или телефонной связи. Когда потребители пользуются этими услугами, они обычно не знают, каким образом эти услуги производятся и распределяются. Потребители периодически оплачивают услуги в зависимости от их использования. </a:t>
            </a:r>
          </a:p>
          <a:p>
            <a:pPr>
              <a:spcBef>
                <a:spcPts val="600"/>
              </a:spcBef>
            </a:pPr>
            <a:r>
              <a:rPr lang="ru-RU" b="0" i="0" dirty="0">
                <a:solidFill>
                  <a:srgbClr val="000000"/>
                </a:solidFill>
                <a:latin typeface="Arial" pitchFamily="34" charset="0"/>
                <a:cs typeface="Arial" pitchFamily="34" charset="0"/>
              </a:rPr>
              <a:t>Аналогично, в сфере облачных технологий облако представляет собой обобщенный образ ИТ-инфраструктуры. Пользователи просто на время получают ИТ-ресурсы в качестве услуг из облака без рисков и затрат, связанных с владением этими ресурсами на постоянной основе. </a:t>
            </a:r>
          </a:p>
          <a:p>
            <a:pPr>
              <a:spcBef>
                <a:spcPts val="600"/>
              </a:spcBef>
            </a:pPr>
            <a:r>
              <a:rPr lang="ru-RU" b="0" i="0" dirty="0">
                <a:solidFill>
                  <a:srgbClr val="000000"/>
                </a:solidFill>
                <a:latin typeface="Arial" pitchFamily="34" charset="0"/>
                <a:cs typeface="Arial" pitchFamily="34" charset="0"/>
              </a:rPr>
              <a:t>Доступ к облачным услугам можно получить из клиентских устройств различных типов через проводное или беспроводное сетевое соединение. Пользователи платят только за используемые услуги. Размер платы зависит от подписки или потребления ресурсов.</a:t>
            </a:r>
          </a:p>
          <a:p>
            <a:pPr>
              <a:spcBef>
                <a:spcPts val="600"/>
              </a:spcBef>
            </a:pPr>
            <a:r>
              <a:rPr lang="ru-RU" b="0" i="0" dirty="0">
                <a:solidFill>
                  <a:srgbClr val="000000"/>
                </a:solidFill>
                <a:latin typeface="Arial" pitchFamily="34" charset="0"/>
                <a:cs typeface="Arial" pitchFamily="34" charset="0"/>
              </a:rPr>
              <a:t>Если организации используют облачные услуги, их задачи по управлению ИТ-инфраструктурой сводятся к управлению только теми ресурсами, которые необходимы для доступа к облачным услугам. Облачная инфраструктура управляется поставщиком. Кроме того, поставщик выполняет задачи по обновлению ПО, продлению лицензий и т. п. На рисунке на данном слайде показана типовая среда облачных технологий. </a:t>
            </a:r>
          </a:p>
          <a:p>
            <a:pPr>
              <a:spcBef>
                <a:spcPts val="600"/>
              </a:spcBef>
              <a:defRPr/>
            </a:pPr>
            <a:r>
              <a:rPr lang="ru-RU" b="0" i="0" dirty="0">
                <a:solidFill>
                  <a:srgbClr val="000000"/>
                </a:solidFill>
                <a:latin typeface="Arial" pitchFamily="34" charset="0"/>
                <a:cs typeface="Arial" pitchFamily="34" charset="0"/>
              </a:rPr>
              <a:t>На рисунке на данном слайде показана типовая среда облачных технологий. Облако предоставляет различные типы аппаратных и программных услуг, доступ к которым пользователи могут осуществлять из клиентских устройств разных типов через проводное или беспроводное сетевое соединение. Для более точного представления в рисунок включены некоторые важные виртуальные компоненты.</a:t>
            </a:r>
            <a:r>
              <a:rPr lang="ru-RU" b="0" i="0" dirty="0">
                <a:solidFill>
                  <a:srgbClr val="FF0000"/>
                </a:solidFill>
                <a:latin typeface="Arial" pitchFamily="34" charset="0"/>
                <a:cs typeface="Arial" pitchFamily="34" charset="0"/>
              </a:rPr>
              <a:t> </a:t>
            </a:r>
            <a:r>
              <a:rPr lang="ru-RU" b="0" i="0" dirty="0">
                <a:solidFill>
                  <a:srgbClr val="000000"/>
                </a:solidFill>
                <a:latin typeface="Arial" pitchFamily="34" charset="0"/>
                <a:cs typeface="Arial" pitchFamily="34" charset="0"/>
              </a:rPr>
              <a:t>Виртуализация будет рассмотрена в модуле 3, «Среда центра обработки данных», а также подробно описана в соответствующих разделах последующих модулей. </a:t>
            </a:r>
          </a:p>
        </p:txBody>
      </p:sp>
    </p:spTree>
    <p:extLst>
      <p:ext uri="{BB962C8B-B14F-4D97-AF65-F5344CB8AC3E}">
        <p14:creationId xmlns:p14="http://schemas.microsoft.com/office/powerpoint/2010/main" val="161487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sz="900" b="0" i="0" dirty="0">
                <a:solidFill>
                  <a:srgbClr val="000000"/>
                </a:solidFill>
                <a:latin typeface="Arial" pitchFamily="34" charset="0"/>
                <a:cs typeface="Arial" pitchFamily="34" charset="0"/>
              </a:rPr>
              <a:t>В документе NIST SP 800-145 указано, что облачная инфраструктура должна иметь пять основных характеристик. Эти характеристики описаны ниже. </a:t>
            </a:r>
          </a:p>
          <a:p>
            <a:pPr marL="171450" indent="-171450">
              <a:spcBef>
                <a:spcPts val="600"/>
              </a:spcBef>
              <a:buFont typeface="Arial" panose="020B0604020202020204" pitchFamily="34" charset="0"/>
              <a:buChar char="•"/>
            </a:pPr>
            <a:r>
              <a:rPr lang="ru-RU" sz="900" b="1" i="0" dirty="0">
                <a:solidFill>
                  <a:srgbClr val="000000"/>
                </a:solidFill>
                <a:latin typeface="Arial" pitchFamily="34" charset="0"/>
                <a:cs typeface="Arial" pitchFamily="34" charset="0"/>
              </a:rPr>
              <a:t>Самообслуживание по требованию — </a:t>
            </a:r>
            <a:r>
              <a:rPr lang="ru-RU" sz="900" b="0" i="0" dirty="0">
                <a:solidFill>
                  <a:srgbClr val="000000"/>
                </a:solidFill>
                <a:latin typeface="Arial" pitchFamily="34" charset="0"/>
                <a:cs typeface="Arial" pitchFamily="34" charset="0"/>
              </a:rPr>
              <a:t>«позволяет заказчикам в одностороннем порядке выделять вычислительные ресурсы (например, серверное время и сетевые ресурсы хранения данных) в автоматическом режиме по мере необходимости. При этом не требуется вмешательство представителя поставщика услуг», — NIST</a:t>
            </a:r>
          </a:p>
          <a:p>
            <a:pPr marL="171450" indent="-171450">
              <a:spcBef>
                <a:spcPts val="600"/>
              </a:spcBef>
              <a:buFont typeface="Arial" panose="020B0604020202020204" pitchFamily="34" charset="0"/>
              <a:buChar char="•"/>
            </a:pPr>
            <a:r>
              <a:rPr lang="ru-RU" sz="900" b="1" i="0" dirty="0">
                <a:solidFill>
                  <a:srgbClr val="000000"/>
                </a:solidFill>
                <a:latin typeface="Arial" pitchFamily="34" charset="0"/>
                <a:cs typeface="Arial" pitchFamily="34" charset="0"/>
              </a:rPr>
              <a:t>Широкополосный сетевой доступ — </a:t>
            </a:r>
            <a:r>
              <a:rPr lang="ru-RU" sz="900" b="0" i="0" dirty="0">
                <a:solidFill>
                  <a:srgbClr val="000000"/>
                </a:solidFill>
                <a:latin typeface="Arial" pitchFamily="34" charset="0"/>
                <a:cs typeface="Arial" pitchFamily="34" charset="0"/>
              </a:rPr>
              <a:t>«осуществляется через сеть с использованием стандартных механизмов, которые позволяют применять однородные «тонкие» или «толстые» клиентские платформы (например, мобильные телефоны, планшеты, ноутбуки и рабочие станции)», — NIST</a:t>
            </a:r>
          </a:p>
          <a:p>
            <a:pPr marL="171450" indent="-171450">
              <a:spcBef>
                <a:spcPts val="600"/>
              </a:spcBef>
              <a:buFont typeface="Arial" panose="020B0604020202020204" pitchFamily="34" charset="0"/>
              <a:buChar char="•"/>
            </a:pPr>
            <a:r>
              <a:rPr lang="ru-RU" sz="900" b="1" i="0" dirty="0">
                <a:solidFill>
                  <a:srgbClr val="000000"/>
                </a:solidFill>
                <a:latin typeface="Arial" pitchFamily="34" charset="0"/>
                <a:cs typeface="Arial" pitchFamily="34" charset="0"/>
              </a:rPr>
              <a:t>Объединение ресурсов в пулы — </a:t>
            </a:r>
            <a:r>
              <a:rPr lang="ru-RU" sz="900" b="0" i="0" dirty="0">
                <a:solidFill>
                  <a:srgbClr val="000000"/>
                </a:solidFill>
                <a:latin typeface="Arial" pitchFamily="34" charset="0"/>
                <a:cs typeface="Arial" pitchFamily="34" charset="0"/>
              </a:rPr>
              <a:t>«позволяет поставщику, используя ресурсы, объединенные в пулы, обслуживать несколько заказчиков с помощью многопользовательской модели, в которой различные физические и виртуальные ресурсы динамически назначаются и переназначаются с учетом запросов пользователей. Кроме того, обеспечивается определенная независимость от местонахождения, так как заказчик обычно не знает точного местоположения предоставленных ресурсов и не может ими управлять, но может указать местоположение на более высоком уровне абстрагирования,</a:t>
            </a:r>
            <a:r>
              <a:rPr lang="ru-RU" sz="900" b="0" i="0" dirty="0">
                <a:solidFill>
                  <a:srgbClr val="FF0000"/>
                </a:solidFill>
                <a:latin typeface="Arial" pitchFamily="34" charset="0"/>
                <a:cs typeface="Arial" pitchFamily="34" charset="0"/>
              </a:rPr>
              <a:t> </a:t>
            </a:r>
            <a:r>
              <a:rPr lang="ru-RU" sz="900" b="0" i="0" dirty="0">
                <a:solidFill>
                  <a:srgbClr val="000000"/>
                </a:solidFill>
                <a:latin typeface="Arial" pitchFamily="34" charset="0"/>
                <a:cs typeface="Arial" pitchFamily="34" charset="0"/>
              </a:rPr>
              <a:t>например страну, область или центр обработки данных.</a:t>
            </a:r>
            <a:r>
              <a:rPr lang="ru-RU" sz="900" b="0" i="0" dirty="0">
                <a:solidFill>
                  <a:srgbClr val="FF0000"/>
                </a:solidFill>
                <a:latin typeface="Arial" pitchFamily="34" charset="0"/>
                <a:cs typeface="Arial" pitchFamily="34" charset="0"/>
              </a:rPr>
              <a:t> </a:t>
            </a:r>
            <a:r>
              <a:rPr lang="ru-RU" sz="900" b="0" i="0" dirty="0">
                <a:solidFill>
                  <a:srgbClr val="000000"/>
                </a:solidFill>
                <a:latin typeface="Arial" pitchFamily="34" charset="0"/>
                <a:cs typeface="Arial" pitchFamily="34" charset="0"/>
              </a:rPr>
              <a:t>Примеры ресурсов: ресурсы хранения, процессорные ресурсы, память и полоса пропускания сети», — NIST</a:t>
            </a:r>
          </a:p>
          <a:p>
            <a:pPr marL="171450" indent="-171450">
              <a:spcBef>
                <a:spcPts val="600"/>
              </a:spcBef>
              <a:buFont typeface="Arial" panose="020B0604020202020204" pitchFamily="34" charset="0"/>
              <a:buChar char="•"/>
            </a:pPr>
            <a:r>
              <a:rPr lang="ru-RU" sz="900" b="1" i="0" dirty="0">
                <a:solidFill>
                  <a:srgbClr val="000000"/>
                </a:solidFill>
                <a:latin typeface="Arial" pitchFamily="34" charset="0"/>
                <a:cs typeface="Arial" pitchFamily="34" charset="0"/>
              </a:rPr>
              <a:t>Оперативность и гибкость — </a:t>
            </a:r>
            <a:r>
              <a:rPr lang="ru-RU" sz="900" b="0" i="0" dirty="0">
                <a:solidFill>
                  <a:srgbClr val="000000"/>
                </a:solidFill>
                <a:latin typeface="Arial" pitchFamily="34" charset="0"/>
                <a:cs typeface="Arial" pitchFamily="34" charset="0"/>
              </a:rPr>
              <a:t>«позволяют быстро выделять ресурсы (в некоторых случаях автоматически), чтобы масштабировать внешнюю и внутреннюю инфраструктуру с учетом запросов пользователей. С точки зрения пользователей ресурсы, доступные для выделения, часто кажутся неограниченными, так как можно выделить любое количество ресурсов в любой момент времени», — NIST</a:t>
            </a:r>
          </a:p>
          <a:p>
            <a:pPr marL="171450" indent="-171450">
              <a:spcBef>
                <a:spcPts val="600"/>
              </a:spcBef>
              <a:buFont typeface="Arial" panose="020B0604020202020204" pitchFamily="34" charset="0"/>
              <a:buChar char="•"/>
            </a:pPr>
            <a:r>
              <a:rPr lang="ru-RU" sz="900" b="1" i="0" dirty="0">
                <a:solidFill>
                  <a:srgbClr val="000000"/>
                </a:solidFill>
                <a:latin typeface="Arial" pitchFamily="34" charset="0"/>
                <a:cs typeface="Arial" pitchFamily="34" charset="0"/>
              </a:rPr>
              <a:t>Измеряемые показатели обслуживания —</a:t>
            </a:r>
            <a:r>
              <a:rPr lang="ru-RU" sz="900" b="0" i="0" dirty="0">
                <a:solidFill>
                  <a:srgbClr val="000000"/>
                </a:solidFill>
                <a:latin typeface="Arial" pitchFamily="34" charset="0"/>
                <a:cs typeface="Arial" pitchFamily="34" charset="0"/>
              </a:rPr>
              <a:t> «позволяют облачным системам автоматически оптимизировать использование ресурсов и управлять ими за счет измерения показателей на определенном уровне абстрагирования в зависимости от типа услуги (например, системы хранения данных, системы обработки данных, полосы пропускания и активных учетных записей пользователей). Использование ресурсов можно отслеживать; также можно управлять использованием ресурсов и составлять соответствующие отчеты. Это обеспечивает прозрачность для поставщика и пользователя услуги», — NIST</a:t>
            </a:r>
          </a:p>
        </p:txBody>
      </p:sp>
    </p:spTree>
    <p:extLst>
      <p:ext uri="{BB962C8B-B14F-4D97-AF65-F5344CB8AC3E}">
        <p14:creationId xmlns:p14="http://schemas.microsoft.com/office/powerpoint/2010/main" val="3689530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Модель облачных услуг определяет услуги и возможности, предоставляемые пользователям. В документе NIST SP 800-145 предложения облачных услуг распределены на три основных модели, приведенные ниже. </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Инфраструктура как услуга (IaaS)</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Платформа как услуга (PaaS)</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Программное обеспечение как услуга (SaaS)</a:t>
            </a:r>
          </a:p>
          <a:p>
            <a:pPr>
              <a:spcBef>
                <a:spcPts val="600"/>
              </a:spcBef>
            </a:pPr>
            <a:r>
              <a:rPr lang="ru-RU" b="0" i="0" dirty="0">
                <a:solidFill>
                  <a:srgbClr val="000000"/>
                </a:solidFill>
                <a:latin typeface="Arial" pitchFamily="34" charset="0"/>
                <a:cs typeface="Arial" pitchFamily="34" charset="0"/>
              </a:rPr>
              <a:t>Администраторы или архитекторы облачных сред оценивают и определяют потенциальные предложения облачных услуг. В частности, они оценивают услуги, которые требуется создать и модернизировать, необходимый набор функциональностей этих услуг и </a:t>
            </a:r>
            <a:r>
              <a:rPr lang="ru-RU" b="0" i="1" dirty="0">
                <a:solidFill>
                  <a:srgbClr val="000000"/>
                </a:solidFill>
                <a:latin typeface="Arial" pitchFamily="34" charset="0"/>
                <a:cs typeface="Arial" pitchFamily="34" charset="0"/>
              </a:rPr>
              <a:t>целевые уровни обслуживания</a:t>
            </a:r>
            <a:r>
              <a:rPr lang="ru-RU" b="0" i="0" dirty="0">
                <a:solidFill>
                  <a:srgbClr val="000000"/>
                </a:solidFill>
                <a:latin typeface="Arial" pitchFamily="34" charset="0"/>
                <a:cs typeface="Arial" pitchFamily="34" charset="0"/>
              </a:rPr>
              <a:t> для каждой услуги в соответствии с потребностями заказчиков и условиями рынка. </a:t>
            </a:r>
          </a:p>
          <a:p>
            <a:pPr>
              <a:spcBef>
                <a:spcPts val="600"/>
              </a:spcBef>
            </a:pPr>
            <a:r>
              <a:rPr lang="ru-RU" b="0" i="0" dirty="0">
                <a:solidFill>
                  <a:srgbClr val="000000"/>
                </a:solidFill>
                <a:latin typeface="Arial" pitchFamily="34" charset="0"/>
                <a:cs typeface="Arial" pitchFamily="34" charset="0"/>
              </a:rPr>
              <a:t>Целевые уровни обслуживания — это определенные измеряемые характеристики, например доступность, пропускная способность, частота и время отклика. Они позволяют измерять производительность поставщика услуг. Целевые уровни обслуживания — это ключевые компоненты </a:t>
            </a:r>
            <a:r>
              <a:rPr lang="ru-RU" b="0" i="1" dirty="0">
                <a:solidFill>
                  <a:srgbClr val="000000"/>
                </a:solidFill>
                <a:latin typeface="Arial" pitchFamily="34" charset="0"/>
                <a:cs typeface="Arial" pitchFamily="34" charset="0"/>
              </a:rPr>
              <a:t>соглашений об уровне обслуживания</a:t>
            </a:r>
            <a:r>
              <a:rPr lang="ru-RU" b="0" i="0" dirty="0">
                <a:solidFill>
                  <a:srgbClr val="000000"/>
                </a:solidFill>
                <a:latin typeface="Arial" pitchFamily="34" charset="0"/>
                <a:cs typeface="Arial" pitchFamily="34" charset="0"/>
              </a:rPr>
              <a:t>. Такое соглашение представляет собой юридический документ, в котором описывается, какой уровень обслуживания будет предоставлен, каким образом он будет поддерживаться, а также указывается, где эта услуга будет предоставляться, и приводятся обязанности заказчика и поставщика.</a:t>
            </a:r>
          </a:p>
          <a:p>
            <a:pPr>
              <a:spcBef>
                <a:spcPts val="600"/>
              </a:spcBef>
            </a:pPr>
            <a:r>
              <a:rPr lang="ru-RU" b="0" i="1" dirty="0">
                <a:solidFill>
                  <a:srgbClr val="000000"/>
                </a:solidFill>
                <a:latin typeface="Arial" pitchFamily="34" charset="0"/>
                <a:cs typeface="Arial" pitchFamily="34" charset="0"/>
              </a:rPr>
              <a:t>Примечание. В различных публикациях разных отраслевых групп приводятся определения многих альтернативных моделей облачных услуг на базе моделей IaaS, PaaS и SaaS. Эти модели услуг определяются облачными услугами и возможностями, которые предоставляются заказчикам. Примеры таких моделей услуг: «резервное копирование как услуга» (BaaS), «рабочее место как услуга» (DaaS), «тестовая среда как услуга» (TEaaS) и «аварийное восстановление как услуга» (DRaaS). Однако все эти модели можно отнести к одной из трех основных моделей облачных услуг.</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331766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defTabSz="914400" rtl="0" eaLnBrk="0" fontAlgn="base" latinLnBrk="0" hangingPunct="0">
              <a:spcBef>
                <a:spcPts val="600"/>
              </a:spcBef>
              <a:buClrTx/>
              <a:buSzTx/>
              <a:buFontTx/>
              <a:buNone/>
              <a:tabLst/>
              <a:defRPr/>
            </a:pPr>
            <a:r>
              <a:rPr lang="ru-RU" b="1" i="0" dirty="0">
                <a:solidFill>
                  <a:srgbClr val="000000"/>
                </a:solidFill>
                <a:latin typeface="Arial" pitchFamily="34" charset="0"/>
                <a:cs typeface="Arial" pitchFamily="34" charset="0"/>
              </a:rPr>
              <a:t>Модель «инфраструктура как услуга».</a:t>
            </a:r>
            <a:r>
              <a:rPr lang="ru-RU" b="0" i="0" dirty="0">
                <a:solidFill>
                  <a:srgbClr val="000000"/>
                </a:solidFill>
                <a:latin typeface="Arial" pitchFamily="34" charset="0"/>
                <a:cs typeface="Arial" pitchFamily="34" charset="0"/>
              </a:rPr>
              <a:t> «Пользователь может выделять </a:t>
            </a:r>
            <a:r>
              <a:rPr lang="ru-RU" b="0" i="0" u="sng" dirty="0">
                <a:solidFill>
                  <a:srgbClr val="000000"/>
                </a:solidFill>
                <a:latin typeface="Arial" pitchFamily="34" charset="0"/>
                <a:cs typeface="Arial" pitchFamily="34" charset="0"/>
              </a:rPr>
              <a:t>процессорные ресурсы, системы хранения данных, сети и другие базовые вычислительные ресурсы, на базе которых можно развертывать и запускать произвольное программное обеспечение, например операционные системы и приложения</a:t>
            </a:r>
            <a:r>
              <a:rPr lang="ru-RU" b="0" i="0" dirty="0">
                <a:solidFill>
                  <a:srgbClr val="000000"/>
                </a:solidFill>
                <a:latin typeface="Arial" pitchFamily="34" charset="0"/>
                <a:cs typeface="Arial" pitchFamily="34" charset="0"/>
              </a:rPr>
              <a:t>. Пользователь </a:t>
            </a:r>
            <a:r>
              <a:rPr lang="ru-RU" b="1" i="0" dirty="0">
                <a:solidFill>
                  <a:srgbClr val="000000"/>
                </a:solidFill>
                <a:latin typeface="Arial" pitchFamily="34" charset="0"/>
                <a:cs typeface="Arial" pitchFamily="34" charset="0"/>
              </a:rPr>
              <a:t>не управляет базовой облачной инфраструктурой</a:t>
            </a:r>
            <a:r>
              <a:rPr lang="ru-RU" b="0" i="0" dirty="0">
                <a:solidFill>
                  <a:srgbClr val="000000"/>
                </a:solidFill>
                <a:latin typeface="Arial" pitchFamily="34" charset="0"/>
                <a:cs typeface="Arial" pitchFamily="34" charset="0"/>
              </a:rPr>
              <a:t>, однако </a:t>
            </a:r>
            <a:r>
              <a:rPr lang="ru-RU" b="0" i="0" u="sng" dirty="0">
                <a:solidFill>
                  <a:srgbClr val="000000"/>
                </a:solidFill>
                <a:latin typeface="Arial" pitchFamily="34" charset="0"/>
                <a:cs typeface="Arial" pitchFamily="34" charset="0"/>
              </a:rPr>
              <a:t>может управлять операционными системами и развернутыми приложениями</a:t>
            </a:r>
            <a:r>
              <a:rPr lang="ru-RU" b="0" i="0" dirty="0">
                <a:solidFill>
                  <a:srgbClr val="000000"/>
                </a:solidFill>
                <a:latin typeface="Arial" pitchFamily="34" charset="0"/>
                <a:cs typeface="Arial" pitchFamily="34" charset="0"/>
              </a:rPr>
              <a:t>. Кроме того, он может ограниченно влиять на отдельные сетевые компоненты (например, брандмауэры на хостах)», — NIST</a:t>
            </a:r>
          </a:p>
          <a:p>
            <a:pPr>
              <a:spcBef>
                <a:spcPts val="600"/>
              </a:spcBef>
            </a:pPr>
            <a:r>
              <a:rPr lang="ru-RU" b="0" i="0" dirty="0">
                <a:solidFill>
                  <a:srgbClr val="000000"/>
                </a:solidFill>
                <a:latin typeface="Arial" pitchFamily="34" charset="0"/>
                <a:cs typeface="Arial" pitchFamily="34" charset="0"/>
              </a:rPr>
              <a:t>Стоимость предоставления модели IaaS может зависеть от подписки или использования ресурсов. Поставщик объединяет в пулы основные ИТ-ресурсы, и обычно их совместно используют несколько пользователей по многопользовательской модели. Модель «инфраструктура как услуга» можно внедрить внутри организации, при этом управление ресурсами и услугами осуществляется внутренней ИТ-службой.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929667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defTabSz="914400" rtl="0" eaLnBrk="0" fontAlgn="base" latinLnBrk="0" hangingPunct="0">
              <a:spcBef>
                <a:spcPts val="600"/>
              </a:spcBef>
              <a:buClrTx/>
              <a:buSzTx/>
              <a:buFontTx/>
              <a:buNone/>
              <a:tabLst/>
              <a:defRPr/>
            </a:pPr>
            <a:r>
              <a:rPr lang="ru-RU" b="1" i="0" dirty="0">
                <a:solidFill>
                  <a:srgbClr val="000000"/>
                </a:solidFill>
                <a:latin typeface="Arial" pitchFamily="34" charset="0"/>
                <a:cs typeface="Arial" pitchFamily="34" charset="0"/>
              </a:rPr>
              <a:t>Модель «платформа как услуга».</a:t>
            </a:r>
            <a:r>
              <a:rPr lang="ru-RU" b="0" i="0" dirty="0">
                <a:solidFill>
                  <a:srgbClr val="000000"/>
                </a:solidFill>
                <a:latin typeface="Arial" pitchFamily="34" charset="0"/>
                <a:cs typeface="Arial" pitchFamily="34" charset="0"/>
              </a:rPr>
              <a:t> «Пользователь может развертывать на базе облачной инфраструктуры собственные или приобретенные приложения, созданные с использованием языков программирования, библиотек, услуг и инструментов, которые поддерживаются поставщиком услуг. Пользователь не может управлять базовой облачной инфраструктурой, включая сеть, серверы, операционные системы или системы хранения данных, однако может управлять развернутыми приложениями и влиять на настройки конфигурации для среды приложений», — NIST</a:t>
            </a:r>
          </a:p>
          <a:p>
            <a:pPr>
              <a:spcBef>
                <a:spcPts val="600"/>
              </a:spcBef>
            </a:pPr>
            <a:r>
              <a:rPr lang="ru-RU" b="0" i="0" dirty="0">
                <a:solidFill>
                  <a:srgbClr val="000000"/>
                </a:solidFill>
                <a:latin typeface="Arial" pitchFamily="34" charset="0"/>
                <a:cs typeface="Arial" pitchFamily="34" charset="0"/>
              </a:rPr>
              <a:t>В модели «платформа как услуга» (PaaS) облачная услуга включает вычислительные и сетевые ресурсы, а также ресурсы хранения и платформенное ПО. Платформенное ПО включает различное программное обеспечение, например ОС, базы данных, средства программирования, межплатформенное ПО и инструменты для разработки, тестирования, развертывания приложений и управления ими. </a:t>
            </a:r>
          </a:p>
          <a:p>
            <a:pPr>
              <a:spcBef>
                <a:spcPts val="600"/>
              </a:spcBef>
            </a:pPr>
            <a:r>
              <a:rPr lang="ru-RU" b="0" i="0" dirty="0">
                <a:solidFill>
                  <a:srgbClr val="000000"/>
                </a:solidFill>
                <a:latin typeface="Arial" pitchFamily="34" charset="0"/>
                <a:cs typeface="Arial" pitchFamily="34" charset="0"/>
              </a:rPr>
              <a:t>Большинство предложений модели PaaS поддерживают несколько операционных систем и средств программирования для разработки и развертывания приложений. Плата за использование услуг по модели PaaS обычно рассчитывается на основе ряда факторов, среди которых количество пользователей, типы пользователей (разработчики, испытатели и т. д.), время использования платформы, а также вычислительные, сетевые ресурсы или ресурсы хранения, использованные платформой.</a:t>
            </a:r>
          </a:p>
        </p:txBody>
      </p:sp>
    </p:spTree>
    <p:extLst>
      <p:ext uri="{BB962C8B-B14F-4D97-AF65-F5344CB8AC3E}">
        <p14:creationId xmlns:p14="http://schemas.microsoft.com/office/powerpoint/2010/main" val="1138319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1" i="0" dirty="0">
                <a:solidFill>
                  <a:srgbClr val="000000"/>
                </a:solidFill>
                <a:latin typeface="Arial" pitchFamily="34" charset="0"/>
                <a:cs typeface="Arial" pitchFamily="34" charset="0"/>
              </a:rPr>
              <a:t>Модель «программное обеспечение как услуга»</a:t>
            </a:r>
            <a:r>
              <a:rPr lang="ru-RU" b="0" i="0" dirty="0">
                <a:solidFill>
                  <a:srgbClr val="000000"/>
                </a:solidFill>
                <a:latin typeface="Arial" pitchFamily="34" charset="0"/>
                <a:cs typeface="Arial" pitchFamily="34" charset="0"/>
              </a:rPr>
              <a:t> «Пользователь может использовать приложения поставщика, которые работают на базе облачной инфраструктуры. Приложения доступны с различных клиентских устройств через интерфейс «тонкого» клиента, например веб-браузер (электронная почта на основе веб-интерфейса), или через программный интерфейс. Пользователь не может управлять базовой облачной инфраструктурой, включая сеть, серверы, операционные системы, системы хранения данных или даже отдельные функции приложений, однако может ограниченно влиять на пользовательские настройки конфигурации приложений», — NIST</a:t>
            </a:r>
          </a:p>
          <a:p>
            <a:pPr>
              <a:spcBef>
                <a:spcPts val="600"/>
              </a:spcBef>
            </a:pPr>
            <a:r>
              <a:rPr lang="ru-RU" b="0" i="0" dirty="0">
                <a:solidFill>
                  <a:srgbClr val="000000"/>
                </a:solidFill>
                <a:latin typeface="Arial" pitchFamily="34" charset="0"/>
                <a:cs typeface="Arial" pitchFamily="34" charset="0"/>
              </a:rPr>
              <a:t>В модели «ПО как услуга» (SaaS) поставщик предоставляет нескольким пользователям приложение, размещенное в облаке, в качестве услуги. </a:t>
            </a:r>
          </a:p>
          <a:p>
            <a:pPr>
              <a:spcBef>
                <a:spcPts val="600"/>
              </a:spcBef>
            </a:pPr>
            <a:r>
              <a:rPr lang="ru-RU" b="0" i="0" dirty="0">
                <a:solidFill>
                  <a:srgbClr val="000000"/>
                </a:solidFill>
                <a:latin typeface="Arial" pitchFamily="34" charset="0"/>
                <a:cs typeface="Arial" pitchFamily="34" charset="0"/>
              </a:rPr>
              <a:t>Пользователи не владеют и не управляют ни одним из аспектов облачной инфраструктуры. </a:t>
            </a:r>
          </a:p>
          <a:p>
            <a:pPr>
              <a:spcBef>
                <a:spcPts val="600"/>
              </a:spcBef>
            </a:pPr>
            <a:r>
              <a:rPr lang="ru-RU" b="0" i="0" dirty="0">
                <a:solidFill>
                  <a:srgbClr val="000000"/>
                </a:solidFill>
                <a:latin typeface="Arial" pitchFamily="34" charset="0"/>
                <a:cs typeface="Arial" pitchFamily="34" charset="0"/>
              </a:rPr>
              <a:t>В модели SaaS конкретная версия приложения с определенной конфигурацией (оборудования и ПО) обычно предоставляет услуги нескольким пользователям путем разделения их отдельных сессий и данных. </a:t>
            </a:r>
          </a:p>
          <a:p>
            <a:pPr>
              <a:spcBef>
                <a:spcPts val="600"/>
              </a:spcBef>
            </a:pPr>
            <a:r>
              <a:rPr lang="ru-RU" b="0" i="0" dirty="0">
                <a:solidFill>
                  <a:srgbClr val="000000"/>
                </a:solidFill>
                <a:latin typeface="Arial" pitchFamily="34" charset="0"/>
                <a:cs typeface="Arial" pitchFamily="34" charset="0"/>
              </a:rPr>
              <a:t>Приложения, предоставляемые по модели SaaS, работают в облаке и обычно не требуют установки на конечных устройствах. Это позволяет пользователю получать доступ к приложению по требованию из любого местоположения и использовать его с помощью веб-браузера на различных конечных устройствах. </a:t>
            </a:r>
          </a:p>
          <a:p>
            <a:pPr>
              <a:spcBef>
                <a:spcPts val="600"/>
              </a:spcBef>
            </a:pPr>
            <a:r>
              <a:rPr lang="ru-RU" b="0" i="0" dirty="0">
                <a:solidFill>
                  <a:srgbClr val="000000"/>
                </a:solidFill>
                <a:latin typeface="Arial" pitchFamily="34" charset="0"/>
                <a:cs typeface="Arial" pitchFamily="34" charset="0"/>
              </a:rPr>
              <a:t>Для некоторых приложений, предоставляемых по модели SaaS, может требоваться локальная установка клиентского интерфейса на конечном устройстве. В качестве примеров приложений, предоставляемых по модели SaaS, можно привести приложения для управления отношениями с заказчиками (CRM), электронной почты и планирования ресурсов предприятия (ERP), а также офисные пакеты. </a:t>
            </a:r>
          </a:p>
        </p:txBody>
      </p:sp>
    </p:spTree>
    <p:extLst>
      <p:ext uri="{BB962C8B-B14F-4D97-AF65-F5344CB8AC3E}">
        <p14:creationId xmlns:p14="http://schemas.microsoft.com/office/powerpoint/2010/main" val="2798322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Модель развертывания облака обеспечивает основу для создания и управления облачной инфраструктурой и доступа к ней. В документе NIST SP 800-145 описаны четыре основные модели развертывания облака, перечисленные ниже. </a:t>
            </a:r>
          </a:p>
          <a:p>
            <a:pPr marL="171450" lvl="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Публичное облако</a:t>
            </a:r>
          </a:p>
          <a:p>
            <a:pPr marL="171450" lvl="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ЧАСТНОЕ ОБЛАКО</a:t>
            </a:r>
          </a:p>
          <a:p>
            <a:pPr marL="171450" lvl="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Гибридные облака</a:t>
            </a:r>
          </a:p>
          <a:p>
            <a:pPr marL="171450" lvl="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Облако сообщества</a:t>
            </a:r>
          </a:p>
          <a:p>
            <a:pPr>
              <a:spcBef>
                <a:spcPts val="600"/>
              </a:spcBef>
            </a:pPr>
            <a:r>
              <a:rPr lang="ru-RU" b="0" i="0" dirty="0">
                <a:solidFill>
                  <a:srgbClr val="000000"/>
                </a:solidFill>
                <a:latin typeface="Arial" pitchFamily="34" charset="0"/>
                <a:cs typeface="Arial" pitchFamily="34" charset="0"/>
              </a:rPr>
              <a:t>Любую модель развертывания облака можно использовать для любой из моделей облачных услуг: «инфраструктура как услуга», «платформа как услуга» и «ПО как услуга».</a:t>
            </a:r>
            <a:r>
              <a:rPr lang="ru-RU" b="0" i="0" dirty="0">
                <a:solidFill>
                  <a:srgbClr val="FF0000"/>
                </a:solidFill>
                <a:latin typeface="Arial" pitchFamily="34" charset="0"/>
                <a:cs typeface="Arial" pitchFamily="34" charset="0"/>
              </a:rPr>
              <a:t> </a:t>
            </a:r>
            <a:r>
              <a:rPr lang="ru-RU" b="0" i="0" dirty="0">
                <a:solidFill>
                  <a:srgbClr val="000000"/>
                </a:solidFill>
                <a:latin typeface="Arial" pitchFamily="34" charset="0"/>
                <a:cs typeface="Arial" pitchFamily="34" charset="0"/>
              </a:rPr>
              <a:t>Различные модели развертывания предоставляют ряд преимуществ в отношении управления, масштабируемости, стоимости и доступности ресурсов.</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531829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1" i="0" dirty="0">
                <a:solidFill>
                  <a:srgbClr val="000000"/>
                </a:solidFill>
                <a:latin typeface="Arial" pitchFamily="34" charset="0"/>
                <a:cs typeface="Arial" pitchFamily="34" charset="0"/>
              </a:rPr>
              <a:t>Публичное облако. </a:t>
            </a:r>
            <a:r>
              <a:rPr lang="ru-RU" b="0" i="0" dirty="0">
                <a:solidFill>
                  <a:srgbClr val="000000"/>
                </a:solidFill>
                <a:latin typeface="Arial" pitchFamily="34" charset="0"/>
                <a:cs typeface="Arial" pitchFamily="34" charset="0"/>
              </a:rPr>
              <a:t>«Облачная инфраструктура предоставляется для открытого использования и доступна широкому кругу пользователей. Владельцем, управляющим и пользователем такой инфраструктуры может быть коммерческая компания, образовательное учреждение или правительственная организация либо их сочетание. Данная инфраструктура развертывается на базе ресурсов поставщика услуг», — NIST</a:t>
            </a:r>
          </a:p>
          <a:p>
            <a:pPr>
              <a:spcBef>
                <a:spcPts val="600"/>
              </a:spcBef>
            </a:pPr>
            <a:r>
              <a:rPr lang="ru-RU" b="0" i="0" dirty="0">
                <a:solidFill>
                  <a:srgbClr val="000000"/>
                </a:solidFill>
                <a:latin typeface="Arial" pitchFamily="34" charset="0"/>
                <a:cs typeface="Arial" pitchFamily="34" charset="0"/>
              </a:rPr>
              <a:t>Услуги публичного облака могут быть бесплатными либо оплачиваться по подписке или по мере их потребления. Публичное облако обеспечивает низкие предварительные расходы на ИТ-ресурсы и высокую масштабируемость.</a:t>
            </a:r>
            <a:r>
              <a:rPr lang="ru-RU" b="0" i="0" dirty="0">
                <a:solidFill>
                  <a:srgbClr val="FF0000"/>
                </a:solidFill>
                <a:latin typeface="Arial" pitchFamily="34" charset="0"/>
                <a:cs typeface="Arial" pitchFamily="34" charset="0"/>
              </a:rPr>
              <a:t> </a:t>
            </a:r>
            <a:r>
              <a:rPr lang="ru-RU" b="0" i="0" dirty="0">
                <a:solidFill>
                  <a:srgbClr val="000000"/>
                </a:solidFill>
                <a:latin typeface="Arial" pitchFamily="34" charset="0"/>
                <a:cs typeface="Arial" pitchFamily="34" charset="0"/>
              </a:rPr>
              <a:t>Однако заказчики могут столкнуться с некоторыми проблемами, связанными с сетевой доступностью, рисками, с которыми сопряжена работа в многопользовательской среде, визуализацией и управлением облачными ресурсами и данными, а также ограниченными уровнями обслуживания, заданными по умолчанию.</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4087691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1" i="0" dirty="0">
                <a:solidFill>
                  <a:srgbClr val="000000"/>
                </a:solidFill>
                <a:latin typeface="Arial" pitchFamily="34" charset="0"/>
                <a:cs typeface="Arial" pitchFamily="34" charset="0"/>
              </a:rPr>
              <a:t>Частное облако. </a:t>
            </a:r>
            <a:r>
              <a:rPr lang="ru-RU" b="0" i="0" dirty="0">
                <a:solidFill>
                  <a:srgbClr val="000000"/>
                </a:solidFill>
                <a:latin typeface="Arial" pitchFamily="34" charset="0"/>
                <a:cs typeface="Arial" pitchFamily="34" charset="0"/>
              </a:rPr>
              <a:t>«Облачная инфраструктура предоставляется в исключительное пользование одной организации, которая включает большое количество пользователей (например, бизнес-подразделения). Владельцем, управляющим и пользователем такой инфраструктуры может быть сама эта организация, сторонняя компания или их определенные сочетания. Кроме того, сама инфраструктура может развертываться локально или на удаленной площадке», — NIST</a:t>
            </a:r>
          </a:p>
          <a:p>
            <a:pPr>
              <a:spcBef>
                <a:spcPts val="600"/>
              </a:spcBef>
            </a:pPr>
            <a:r>
              <a:rPr lang="ru-RU" b="0" i="0" dirty="0">
                <a:solidFill>
                  <a:srgbClr val="000000"/>
                </a:solidFill>
                <a:latin typeface="Arial" pitchFamily="34" charset="0"/>
                <a:cs typeface="Arial" pitchFamily="34" charset="0"/>
              </a:rPr>
              <a:t>Многие организации могут отказаться от использования публичных облаков из-за опасений, связанных с конфиденциальностью, внешними угрозами и недостаточно широкими возможностями контроля ИТ-ресурсов и данных. По сравнению с публичным облаком частное облако предоставляет организациям более высокий уровень конфиденциальности и больше возможностей управления облачной инфраструктурой, приложениями и данными.</a:t>
            </a:r>
            <a:r>
              <a:rPr lang="ru-RU" b="0" i="0" dirty="0">
                <a:solidFill>
                  <a:srgbClr val="FF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Существует два варианта частного облака: локальное и внешнее, как показано на слайде на рис. 1 и рис. 2 соответственно. </a:t>
            </a:r>
            <a:r>
              <a:rPr lang="ru-RU" b="0" i="1" dirty="0">
                <a:solidFill>
                  <a:srgbClr val="000000"/>
                </a:solidFill>
                <a:latin typeface="Arial" pitchFamily="34" charset="0"/>
                <a:cs typeface="Arial" pitchFamily="34" charset="0"/>
              </a:rPr>
              <a:t>Локальное частное облако</a:t>
            </a:r>
            <a:r>
              <a:rPr lang="ru-RU" b="0" i="0" dirty="0">
                <a:solidFill>
                  <a:srgbClr val="000000"/>
                </a:solidFill>
                <a:latin typeface="Arial" pitchFamily="34" charset="0"/>
                <a:cs typeface="Arial" pitchFamily="34" charset="0"/>
              </a:rPr>
              <a:t> развертывается организацией в центре обработки данных на собственной площадке. В модели </a:t>
            </a:r>
            <a:r>
              <a:rPr lang="ru-RU" b="0" i="1" dirty="0">
                <a:solidFill>
                  <a:srgbClr val="000000"/>
                </a:solidFill>
                <a:latin typeface="Arial" pitchFamily="34" charset="0"/>
                <a:cs typeface="Arial" pitchFamily="34" charset="0"/>
              </a:rPr>
              <a:t>внешнего частного облака</a:t>
            </a:r>
            <a:r>
              <a:rPr lang="ru-RU" b="0" i="0" dirty="0">
                <a:solidFill>
                  <a:srgbClr val="000000"/>
                </a:solidFill>
                <a:latin typeface="Arial" pitchFamily="34" charset="0"/>
                <a:cs typeface="Arial" pitchFamily="34" charset="0"/>
              </a:rPr>
              <a:t> (или частного облака на удаленной площадке) организация использует для внедрения частного облака услуги внешнего поставщика облачных услуг. Облачная инфраструктура размещается на площадке поставщика и может совместно использоваться несколькими клиентами. Но ресурсы частного облака организации надежно отделены от других клиентов облака политиками доступа, установленными поставщиком. </a:t>
            </a:r>
          </a:p>
        </p:txBody>
      </p:sp>
    </p:spTree>
    <p:extLst>
      <p:ext uri="{BB962C8B-B14F-4D97-AF65-F5344CB8AC3E}">
        <p14:creationId xmlns:p14="http://schemas.microsoft.com/office/powerpoint/2010/main" val="3819560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1" i="0" dirty="0">
                <a:solidFill>
                  <a:srgbClr val="000000"/>
                </a:solidFill>
                <a:latin typeface="Arial" pitchFamily="34" charset="0"/>
                <a:cs typeface="Arial" pitchFamily="34" charset="0"/>
              </a:rPr>
              <a:t>Облако сообщества. </a:t>
            </a:r>
            <a:r>
              <a:rPr lang="ru-RU" b="0" i="0" dirty="0">
                <a:solidFill>
                  <a:srgbClr val="000000"/>
                </a:solidFill>
                <a:latin typeface="Arial" pitchFamily="34" charset="0"/>
                <a:cs typeface="Arial" pitchFamily="34" charset="0"/>
              </a:rPr>
              <a:t>«Облачная инфраструктура выделяется в исключительное пользование определенному сообществу пользователей из организаций, которые занимаются общими проблемами (например, выполняют общие задачи, имеют общие требования к безопасности, политики или должны соблюдать общие требования регуляторов). Владельцем, управляющим и пользователем такой инфраструктуры может быть одна или несколько организаций в рамках сообщества, сторонняя компания или их определенные сочетания. Кроме того, сама инфраструктура может развертываться локально или на удаленной площадке», — NIST</a:t>
            </a:r>
          </a:p>
          <a:p>
            <a:pPr>
              <a:spcBef>
                <a:spcPts val="600"/>
              </a:spcBef>
            </a:pPr>
            <a:r>
              <a:rPr lang="ru-RU" b="0" i="0" dirty="0">
                <a:solidFill>
                  <a:srgbClr val="000000"/>
                </a:solidFill>
                <a:latin typeface="Arial" pitchFamily="34" charset="0"/>
                <a:cs typeface="Arial" pitchFamily="34" charset="0"/>
              </a:rPr>
              <a:t>Организации, использующие облако сообщества, обычно разделяют затраты на развертывание облака и предоставление облачных услуг. Это позволяет им снизить индивидуальные инвестиции. Поскольку затраты разделяются между меньшим количеством пользователей, чем в публичном облаке, этот вариант может быть более дорогостоящим. Однако облако сообщества может обеспечивать более высокий уровень контроля и защиты по сравнению с публичным облаком. Как и в случае с частным облаком, существует два варианта облака сообщества:</a:t>
            </a:r>
            <a:r>
              <a:rPr lang="ru-RU" b="0" i="0" dirty="0">
                <a:solidFill>
                  <a:srgbClr val="FF0000"/>
                </a:solidFill>
                <a:latin typeface="Arial" pitchFamily="34" charset="0"/>
                <a:cs typeface="Arial" pitchFamily="34" charset="0"/>
              </a:rPr>
              <a:t> </a:t>
            </a:r>
            <a:r>
              <a:rPr lang="ru-RU" b="0" i="0" dirty="0">
                <a:solidFill>
                  <a:srgbClr val="000000"/>
                </a:solidFill>
                <a:latin typeface="Arial" pitchFamily="34" charset="0"/>
                <a:cs typeface="Arial" pitchFamily="34" charset="0"/>
              </a:rPr>
              <a:t>локальное и внешнее. </a:t>
            </a:r>
          </a:p>
          <a:p>
            <a:pPr defTabSz="914400" eaLnBrk="0" fontAlgn="base" hangingPunct="0">
              <a:spcBef>
                <a:spcPts val="600"/>
              </a:spcBef>
              <a:defRPr/>
            </a:pPr>
            <a:r>
              <a:rPr lang="ru-RU" b="0" i="0" dirty="0">
                <a:solidFill>
                  <a:srgbClr val="000000"/>
                </a:solidFill>
                <a:latin typeface="Arial" pitchFamily="34" charset="0"/>
                <a:cs typeface="Arial" pitchFamily="34" charset="0"/>
              </a:rPr>
              <a:t>В </a:t>
            </a:r>
            <a:r>
              <a:rPr lang="ru-RU" b="0" i="1" dirty="0">
                <a:solidFill>
                  <a:srgbClr val="000000"/>
                </a:solidFill>
                <a:latin typeface="Arial" pitchFamily="34" charset="0"/>
                <a:cs typeface="Arial" pitchFamily="34" charset="0"/>
              </a:rPr>
              <a:t>локальном облаке сообщества</a:t>
            </a:r>
            <a:r>
              <a:rPr lang="ru-RU" b="0" i="0" dirty="0">
                <a:solidFill>
                  <a:srgbClr val="000000"/>
                </a:solidFill>
                <a:latin typeface="Arial" pitchFamily="34" charset="0"/>
                <a:cs typeface="Arial" pitchFamily="34" charset="0"/>
              </a:rPr>
              <a:t> одна или несколько организаций предоставляют облачные услуги, которые используются сообществом. Облачная инфраструктура развертывается на площадке организаций, предоставляющих облачные услуги. Организации, которые используют облачные услуги, подключаются к облаку сообщества по безопасной сети. На рисунке на данном слайде изображен пример локального облака сообщества.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353674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модели </a:t>
            </a:r>
            <a:r>
              <a:rPr lang="ru-RU" b="0" i="1" dirty="0">
                <a:solidFill>
                  <a:srgbClr val="000000"/>
                </a:solidFill>
                <a:latin typeface="Arial" pitchFamily="34" charset="0"/>
                <a:cs typeface="Arial" pitchFamily="34" charset="0"/>
              </a:rPr>
              <a:t>внешнего облака сообщества</a:t>
            </a:r>
            <a:r>
              <a:rPr lang="ru-RU" b="0" i="0" dirty="0">
                <a:solidFill>
                  <a:srgbClr val="000000"/>
                </a:solidFill>
                <a:latin typeface="Arial" pitchFamily="34" charset="0"/>
                <a:cs typeface="Arial" pitchFamily="34" charset="0"/>
              </a:rPr>
              <a:t> организации сообщества используют услуги внешнего поставщика облачных услуг для внедрения облака сообщества. Облачная инфраструктура размещается на площадке этого поставщика, а не на площадке одной из организаций сообщества. Поставщик управляет облачной инфраструктурой и создает индивидуальную среду облака сообщества для организаций. </a:t>
            </a:r>
          </a:p>
          <a:p>
            <a:pPr>
              <a:spcBef>
                <a:spcPts val="600"/>
              </a:spcBef>
            </a:pPr>
            <a:r>
              <a:rPr lang="ru-RU" b="0" i="0" dirty="0">
                <a:solidFill>
                  <a:srgbClr val="000000"/>
                </a:solidFill>
                <a:latin typeface="Arial" pitchFamily="34" charset="0"/>
                <a:cs typeface="Arial" pitchFamily="34" charset="0"/>
              </a:rPr>
              <a:t>ИТ-инфраструктура каждой организации подключается к внешнему облаку сообщества по безопасной сети. Облачная инфраструктура может использоваться совместно несколькими клиентами. Однако ресурсы облака сообщества надежно отделены от других клиентов облака политиками доступа, установленными поставщиком.</a:t>
            </a:r>
          </a:p>
        </p:txBody>
      </p:sp>
    </p:spTree>
    <p:extLst>
      <p:ext uri="{BB962C8B-B14F-4D97-AF65-F5344CB8AC3E}">
        <p14:creationId xmlns:p14="http://schemas.microsoft.com/office/powerpoint/2010/main" val="1962164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1" i="0" dirty="0">
                <a:solidFill>
                  <a:srgbClr val="000000"/>
                </a:solidFill>
                <a:latin typeface="Arial" pitchFamily="34" charset="0"/>
                <a:cs typeface="Arial" pitchFamily="34" charset="0"/>
              </a:rPr>
              <a:t>Гибридное облако.</a:t>
            </a:r>
            <a:r>
              <a:rPr lang="ru-RU" b="0" i="0" dirty="0">
                <a:solidFill>
                  <a:srgbClr val="000000"/>
                </a:solidFill>
                <a:latin typeface="Arial" pitchFamily="34" charset="0"/>
                <a:cs typeface="Arial" pitchFamily="34" charset="0"/>
              </a:rPr>
              <a:t> «В этой модели облачная инфраструктура — это комбинация двух или более отдельных облачных инфраструктур (частных, публичных или принадлежащих сообществам), которые остаются уникальными объектами, но связаны между собой с использованием стандартных или проприетарных технологий, обеспечивающих портативность данных и приложений (например, резкое увеличение размера облака, чтобы обеспечить балансировку нагрузки между облаками)», — NIST</a:t>
            </a:r>
          </a:p>
          <a:p>
            <a:pPr>
              <a:spcBef>
                <a:spcPts val="600"/>
              </a:spcBef>
            </a:pPr>
            <a:r>
              <a:rPr lang="ru-RU" b="0" i="0" dirty="0">
                <a:solidFill>
                  <a:srgbClr val="000000"/>
                </a:solidFill>
                <a:latin typeface="Arial" pitchFamily="34" charset="0"/>
                <a:cs typeface="Arial" pitchFamily="34" charset="0"/>
              </a:rPr>
              <a:t>На рисунке на данном слайде показано гибридное облако, состоящее из локального частного облака, развернутого предприятием P, и публичного облака, которое обслуживает предприятие P и других корпоративных и индивидуальных пользователей. </a:t>
            </a:r>
          </a:p>
        </p:txBody>
      </p:sp>
    </p:spTree>
    <p:extLst>
      <p:ext uri="{BB962C8B-B14F-4D97-AF65-F5344CB8AC3E}">
        <p14:creationId xmlns:p14="http://schemas.microsoft.com/office/powerpoint/2010/main" val="2392843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u="none" dirty="0">
                <a:solidFill>
                  <a:srgbClr val="000000"/>
                </a:solidFill>
                <a:latin typeface="Arial" pitchFamily="34" charset="0"/>
                <a:cs typeface="Arial" pitchFamily="34" charset="0"/>
              </a:rPr>
              <a:t>Множество организаций используют модель гибридного облака. </a:t>
            </a:r>
            <a:r>
              <a:rPr lang="ru-RU" b="0" i="0" dirty="0">
                <a:solidFill>
                  <a:srgbClr val="000000"/>
                </a:solidFill>
                <a:latin typeface="Arial" pitchFamily="34" charset="0"/>
                <a:cs typeface="Arial" pitchFamily="34" charset="0"/>
              </a:rPr>
              <a:t>Некоторые сценарии использования модели гибридного облака описаны ниже.</a:t>
            </a:r>
          </a:p>
          <a:p>
            <a:pPr>
              <a:spcBef>
                <a:spcPts val="600"/>
              </a:spcBef>
              <a:defRPr/>
            </a:pPr>
            <a:r>
              <a:rPr lang="ru-RU" b="1" i="0" dirty="0">
                <a:solidFill>
                  <a:srgbClr val="000000"/>
                </a:solidFill>
                <a:latin typeface="Arial" pitchFamily="34" charset="0"/>
                <a:cs typeface="Arial" pitchFamily="34" charset="0"/>
              </a:rPr>
              <a:t>Расширение облака.</a:t>
            </a:r>
            <a:r>
              <a:rPr lang="ru-RU" b="0" i="0" dirty="0">
                <a:solidFill>
                  <a:srgbClr val="000000"/>
                </a:solidFill>
                <a:latin typeface="Arial" pitchFamily="34" charset="0"/>
                <a:cs typeface="Arial" pitchFamily="34" charset="0"/>
              </a:rPr>
              <a:t> Расширение облака — это распространенный сценарий для гибридного облака. При расширении облака организация использует частное облако для обычных рабочих нагрузок, но по желанию может получать доступ к публичному облаку для соответствия временным более высоким требованиям к рабочим нагрузкам. Например, приложение может получать дополнительные ресурсы из публичного облака на ограниченный период времени для обработки рабочих нагрузок в пиковые периоды. </a:t>
            </a:r>
          </a:p>
          <a:p>
            <a:pPr fontAlgn="t">
              <a:spcBef>
                <a:spcPts val="600"/>
              </a:spcBef>
            </a:pPr>
            <a:r>
              <a:rPr lang="ru-RU" b="1" i="0" u="none" dirty="0">
                <a:solidFill>
                  <a:srgbClr val="000000"/>
                </a:solidFill>
                <a:latin typeface="Arial" pitchFamily="34" charset="0"/>
                <a:cs typeface="Arial" pitchFamily="34" charset="0"/>
              </a:rPr>
              <a:t>Размещение веб-приложений.</a:t>
            </a:r>
            <a:r>
              <a:rPr lang="ru-RU" b="0" i="0" u="none"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Организация может использовать модель гибридного облака для размещения веб-приложений. Организация может размещать критически важные приложения в частном облаке, а менее важные — в публичном. Развертывая менее важные приложения в публичном облаке, организация может использовать масштабируемость и экономичность этого облака. Например, приложения для электронной торговли используют публичные веб-ресурсы за пределами брандмауэра и могут размещаться в публичном облаке.</a:t>
            </a:r>
          </a:p>
          <a:p>
            <a:pPr fontAlgn="t">
              <a:spcBef>
                <a:spcPts val="600"/>
              </a:spcBef>
            </a:pPr>
            <a:r>
              <a:rPr lang="ru-RU" b="1" i="0" u="none" dirty="0">
                <a:solidFill>
                  <a:srgbClr val="000000"/>
                </a:solidFill>
                <a:latin typeface="Arial" pitchFamily="34" charset="0"/>
                <a:cs typeface="Arial" pitchFamily="34" charset="0"/>
              </a:rPr>
              <a:t>Готовые приложения. </a:t>
            </a:r>
            <a:r>
              <a:rPr lang="ru-RU" b="0" i="0" dirty="0">
                <a:solidFill>
                  <a:srgbClr val="000000"/>
                </a:solidFill>
                <a:latin typeface="Arial" pitchFamily="34" charset="0"/>
                <a:cs typeface="Arial" pitchFamily="34" charset="0"/>
              </a:rPr>
              <a:t>Организация также может перенести стандартные готовые приложения, например приложения для электронной почты и ПО для совместной работы, из частного облака в публичное. Это позволяет высвободить внутренние ИТ-ресурсы для более значимых проектов и приложений.</a:t>
            </a:r>
          </a:p>
          <a:p>
            <a:pPr fontAlgn="t">
              <a:spcBef>
                <a:spcPts val="600"/>
              </a:spcBef>
            </a:pPr>
            <a:r>
              <a:rPr lang="ru-RU" b="1" i="0" dirty="0">
                <a:solidFill>
                  <a:srgbClr val="000000"/>
                </a:solidFill>
                <a:latin typeface="Arial" pitchFamily="34" charset="0"/>
                <a:cs typeface="Arial" pitchFamily="34" charset="0"/>
              </a:rPr>
              <a:t>Разработка и тестирование приложений.</a:t>
            </a:r>
            <a:r>
              <a:rPr lang="ru-RU" b="0" i="0" dirty="0">
                <a:solidFill>
                  <a:srgbClr val="000000"/>
                </a:solidFill>
                <a:latin typeface="Arial" pitchFamily="34" charset="0"/>
                <a:cs typeface="Arial" pitchFamily="34" charset="0"/>
              </a:rPr>
              <a:t> Организация также может использовать модель гибридного облака для разработки и тестирования приложений. Приложение можно протестировать на масштабируемость и работоспособность в условиях высоких рабочих нагрузок, используя ресурсы публичного облака, прежде чем вкладывать средства в развертывание этого приложения в производственной среде. После того как организация разработает стабильный режим рабочих нагрузок для приложения и обеспечит его длительный срок службы, она может перенести это приложение в среду частного облака.</a:t>
            </a:r>
          </a:p>
        </p:txBody>
      </p:sp>
    </p:spTree>
    <p:extLst>
      <p:ext uri="{BB962C8B-B14F-4D97-AF65-F5344CB8AC3E}">
        <p14:creationId xmlns:p14="http://schemas.microsoft.com/office/powerpoint/2010/main" val="2723564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было приведено определение облачных технологий и рассмотрены их ключевые характеристики. Кроме того, в рамках урока были описаны модели облачных услуг и модели развертывания облаков.</a:t>
            </a: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рамках этого урока рассматривается определение больших данных, а также приводятся их ключевые характеристики. Кроме того, в этом уроке описываются компоненты решения для аналитики больших данных. Наконец, в рамках данного урока рассматриваются некоторые сценарии использования аналитики больших данных.</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8013" y="381000"/>
            <a:ext cx="5945187" cy="3344863"/>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Большие данные</a:t>
            </a:r>
            <a:r>
              <a:rPr lang="ru-RU" b="0" i="0" dirty="0">
                <a:solidFill>
                  <a:srgbClr val="000000"/>
                </a:solidFill>
                <a:latin typeface="Arial" pitchFamily="34" charset="0"/>
                <a:cs typeface="Arial" pitchFamily="34" charset="0"/>
              </a:rPr>
              <a:t> представляют собой информационные ресурсы, большие объемы, высокая скорость и разнообразие которых обуславливают использование новой технической архитектуры и аналитических методов для получения сведений и преимуществ для бизнеса.</a:t>
            </a:r>
          </a:p>
          <a:p>
            <a:pPr>
              <a:spcBef>
                <a:spcPts val="600"/>
              </a:spcBef>
            </a:pPr>
            <a:r>
              <a:rPr lang="ru-RU" b="0" i="0" dirty="0">
                <a:solidFill>
                  <a:srgbClr val="000000"/>
                </a:solidFill>
                <a:latin typeface="Arial" pitchFamily="34" charset="0"/>
                <a:cs typeface="Arial" pitchFamily="34" charset="0"/>
              </a:rPr>
              <a:t>Определение больших данных включает три основных аспекта: характеристики данных, требования к обработке данных и преимущество для бизнеса.</a:t>
            </a:r>
          </a:p>
          <a:p>
            <a:pPr>
              <a:spcBef>
                <a:spcPts val="600"/>
              </a:spcBef>
            </a:pPr>
            <a:r>
              <a:rPr lang="ru-RU" b="1" i="0" dirty="0">
                <a:solidFill>
                  <a:srgbClr val="000000"/>
                </a:solidFill>
                <a:latin typeface="Arial" pitchFamily="34" charset="0"/>
                <a:cs typeface="Arial" pitchFamily="34" charset="0"/>
              </a:rPr>
              <a:t>Характеристики данных</a:t>
            </a:r>
            <a:r>
              <a:rPr lang="ru-RU" b="0" i="0" dirty="0">
                <a:solidFill>
                  <a:srgbClr val="000000"/>
                </a:solidFill>
                <a:latin typeface="Arial" pitchFamily="34" charset="0"/>
                <a:cs typeface="Arial" pitchFamily="34" charset="0"/>
              </a:rPr>
              <a:t>. Большие данные включают наборы данных значительных размеров, содержащие структурированные и неструктурированные цифровые данные. Помимо размера, эти данные отличаются скоростью создания и изменения. Кроме того, они поступают из разнообразных источников. Эти и другие характеристики больших данных будут рассмотрены ниже.</a:t>
            </a:r>
          </a:p>
          <a:p>
            <a:pPr>
              <a:spcBef>
                <a:spcPts val="600"/>
              </a:spcBef>
            </a:pPr>
            <a:r>
              <a:rPr lang="ru-RU" b="1" i="0" dirty="0">
                <a:solidFill>
                  <a:srgbClr val="000000"/>
                </a:solidFill>
                <a:latin typeface="Arial" pitchFamily="34" charset="0"/>
                <a:cs typeface="Arial" pitchFamily="34" charset="0"/>
              </a:rPr>
              <a:t>Требования к обработке данных</a:t>
            </a:r>
            <a:r>
              <a:rPr lang="ru-RU" b="0" i="0" dirty="0">
                <a:solidFill>
                  <a:srgbClr val="000000"/>
                </a:solidFill>
                <a:latin typeface="Arial" pitchFamily="34" charset="0"/>
                <a:cs typeface="Arial" pitchFamily="34" charset="0"/>
              </a:rPr>
              <a:t>. Большие данные требуют больше емкости хранения и более широких возможностей обработки, чем могут предоставить традиционные ИТ-инфраструктуры и программные системы. Эти данные требуют не только наличия высокомасштабируемой архитектуры для эффективного хранения, но и применения инновационных технологий и методов для обработки. Эти технологии, как правило, используют платформы распределенной обработки, параллельной обработки больших объемов данных и машинного обучения. </a:t>
            </a:r>
            <a:r>
              <a:rPr lang="ru-RU" b="0" i="1" dirty="0">
                <a:solidFill>
                  <a:srgbClr val="000000"/>
                </a:solidFill>
                <a:latin typeface="Arial" pitchFamily="34" charset="0"/>
                <a:cs typeface="Arial" pitchFamily="34" charset="0"/>
              </a:rPr>
              <a:t>Наука о данных</a:t>
            </a:r>
            <a:r>
              <a:rPr lang="ru-RU" b="0" i="0" dirty="0">
                <a:solidFill>
                  <a:srgbClr val="000000"/>
                </a:solidFill>
                <a:latin typeface="Arial" pitchFamily="34" charset="0"/>
                <a:cs typeface="Arial" pitchFamily="34" charset="0"/>
              </a:rPr>
              <a:t> — это новая дисциплина, которая представляет собой синтез нескольких существующих дисциплин — статистики, математики, визуализации данных и информатики — для аналитики больших данных. </a:t>
            </a:r>
          </a:p>
          <a:p>
            <a:pPr>
              <a:spcBef>
                <a:spcPts val="600"/>
              </a:spcBef>
            </a:pPr>
            <a:r>
              <a:rPr lang="ru-RU" b="1" i="0" dirty="0">
                <a:solidFill>
                  <a:srgbClr val="000000"/>
                </a:solidFill>
                <a:latin typeface="Arial" pitchFamily="34" charset="0"/>
                <a:cs typeface="Arial" pitchFamily="34" charset="0"/>
              </a:rPr>
              <a:t>Преимущество для бизнеса</a:t>
            </a:r>
            <a:r>
              <a:rPr lang="ru-RU" b="0" i="0" dirty="0">
                <a:solidFill>
                  <a:srgbClr val="000000"/>
                </a:solidFill>
                <a:latin typeface="Arial" pitchFamily="34" charset="0"/>
                <a:cs typeface="Arial" pitchFamily="34" charset="0"/>
              </a:rPr>
              <a:t>. Большие данные чрезвычайно важны для успешной работы организаций. Поиск и агрегирование больших наборов данных и создание для них перекрестных ссылок в режиме реального времени или близком к реальному времени позволяет получить из данных полезные сведения. Это обеспечивает принятие более эффективных информированных решений.</a:t>
            </a:r>
          </a:p>
          <a:p>
            <a:pPr>
              <a:spcBef>
                <a:spcPts val="600"/>
              </a:spcBef>
            </a:pPr>
            <a:r>
              <a:rPr lang="ru-RU" b="0" i="0" dirty="0">
                <a:solidFill>
                  <a:srgbClr val="000000"/>
                </a:solidFill>
                <a:latin typeface="Arial" pitchFamily="34" charset="0"/>
                <a:cs typeface="Arial" pitchFamily="34" charset="0"/>
              </a:rPr>
              <a:t>Множество организаций, среди которых правительственные учреждения, розничные магазины, компании в сфере телекоммуникаций и здравоохранения, социальные сети, банки и страховые компании, применяют методы науки о данных, чтобы использовать преимущества аналитики больших данных.</a:t>
            </a:r>
          </a:p>
        </p:txBody>
      </p:sp>
    </p:spTree>
    <p:extLst>
      <p:ext uri="{BB962C8B-B14F-4D97-AF65-F5344CB8AC3E}">
        <p14:creationId xmlns:p14="http://schemas.microsoft.com/office/powerpoint/2010/main" val="2390447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Помимо объема, скорости и многообразия, большие данные имеют еще три характеристики: изменчивость, достоверность и значимость.</a:t>
            </a:r>
          </a:p>
          <a:p>
            <a:pPr>
              <a:spcBef>
                <a:spcPts val="600"/>
              </a:spcBef>
            </a:pPr>
            <a:r>
              <a:rPr lang="ru-RU" b="1" i="0" dirty="0">
                <a:solidFill>
                  <a:srgbClr val="000000"/>
                </a:solidFill>
                <a:latin typeface="Arial" pitchFamily="34" charset="0"/>
                <a:cs typeface="Arial" pitchFamily="34" charset="0"/>
              </a:rPr>
              <a:t>Объем</a:t>
            </a:r>
            <a:r>
              <a:rPr lang="ru-RU" b="0" i="0" dirty="0">
                <a:solidFill>
                  <a:srgbClr val="000000"/>
                </a:solidFill>
                <a:latin typeface="Arial" pitchFamily="34" charset="0"/>
                <a:cs typeface="Arial" pitchFamily="34" charset="0"/>
              </a:rPr>
              <a:t>. Слово «большие» в термине «большие данные» подразумевает большие объемы данных. Организации сталкиваются с непрерывным ростом объемов данных всех типов: сохраненных данных о транзакциях за несколько лет, данных датчиков, неструктурированных данных из социальных сетей и других. Объемы данных достигают масштабов в несколько петабайт или даже экзабайт. Большие объемы данных не только требуют экономичного хранения, но и создают сложности, связанные с их анализом.</a:t>
            </a:r>
          </a:p>
          <a:p>
            <a:pPr>
              <a:spcBef>
                <a:spcPts val="600"/>
              </a:spcBef>
            </a:pPr>
            <a:r>
              <a:rPr lang="ru-RU" b="1" i="0" dirty="0">
                <a:solidFill>
                  <a:srgbClr val="000000"/>
                </a:solidFill>
                <a:latin typeface="Arial" pitchFamily="34" charset="0"/>
                <a:cs typeface="Arial" pitchFamily="34" charset="0"/>
              </a:rPr>
              <a:t>Скорость</a:t>
            </a:r>
            <a:r>
              <a:rPr lang="ru-RU" b="0" i="0" dirty="0">
                <a:solidFill>
                  <a:srgbClr val="000000"/>
                </a:solidFill>
                <a:latin typeface="Arial" pitchFamily="34" charset="0"/>
                <a:cs typeface="Arial" pitchFamily="34" charset="0"/>
              </a:rPr>
              <a:t>. Под скоростью данных подразумевается скорость создания и изменения данных, а также скорость обработки данных, которую необходимо обеспечить для соответствия бизнес-требованиям. В настоящее время данные создаются с невероятной скоростью, что усложняет их анализ в режиме реального времени или близком к реальному времени для многих организаций. Очень важно обеспечить быструю обработку и анализ данных, а также своевременное предоставление результатов этих операций. Это необходимо, например, для распознавания лиц в режиме реального времени с целью проверки пассажиров в аэропортах.</a:t>
            </a:r>
          </a:p>
          <a:p>
            <a:pPr>
              <a:spcBef>
                <a:spcPts val="600"/>
              </a:spcBef>
            </a:pPr>
            <a:r>
              <a:rPr lang="ru-RU" b="1" i="0" dirty="0">
                <a:solidFill>
                  <a:srgbClr val="000000"/>
                </a:solidFill>
                <a:latin typeface="Arial" pitchFamily="34" charset="0"/>
                <a:cs typeface="Arial" pitchFamily="34" charset="0"/>
              </a:rPr>
              <a:t>Многообразие</a:t>
            </a:r>
            <a:r>
              <a:rPr lang="ru-RU" b="0" i="0" dirty="0">
                <a:solidFill>
                  <a:srgbClr val="000000"/>
                </a:solidFill>
                <a:latin typeface="Arial" pitchFamily="34" charset="0"/>
                <a:cs typeface="Arial" pitchFamily="34" charset="0"/>
              </a:rPr>
              <a:t>. Под многообразием подразумевается разнообразие форматов и типов данных. Данные генерируются многочисленными источниками в различных структурированных и неструктурированных формах. Организации сталкиваются со сложностями, связанными с управлением различными типами данных, их объединением и анализом с минимальными затратами. Сочетание разноформатных данных из различных источников — ключевое требование в аналитике больших данных. Такое требование, в частности, возникает при необходимости объединить большое количество изменяющихся записей определенного пациента с опубликованными результатами различных медицинских исследований для поиска самого эффективного пути лечения.</a:t>
            </a:r>
            <a:endParaRPr lang="en-US" b="0" i="0" dirty="0">
              <a:solidFill>
                <a:srgbClr val="000000"/>
              </a:solidFill>
              <a:latin typeface="Arial" pitchFamily="34" charset="0"/>
              <a:cs typeface="Arial" pitchFamily="34" charset="0"/>
            </a:endParaRPr>
          </a:p>
          <a:p>
            <a:r>
              <a:rPr lang="ru-RU" b="1" dirty="0">
                <a:latin typeface="Arial" pitchFamily="34" charset="0"/>
                <a:cs typeface="Arial" pitchFamily="34" charset="0"/>
              </a:rPr>
              <a:t>Изменчивость. </a:t>
            </a:r>
            <a:r>
              <a:rPr lang="ru-RU" dirty="0">
                <a:latin typeface="Arial" pitchFamily="34" charset="0"/>
                <a:cs typeface="Arial" pitchFamily="34" charset="0"/>
              </a:rPr>
              <a:t>Под изменчивостью понимается постоянное изменение значений данных. Например, для анализа естественно-языкового поиска и записей в социальных сетях требуется интерпретация сложных и крайне изменчивых грамматических конструкций. Несогласованность значений данных создает сложности, связанные со сбором данных и интерпретацией их контекста.</a:t>
            </a:r>
          </a:p>
          <a:p>
            <a:r>
              <a:rPr lang="ru-RU" b="1" dirty="0">
                <a:latin typeface="Arial" pitchFamily="34" charset="0"/>
                <a:cs typeface="Arial" pitchFamily="34" charset="0"/>
              </a:rPr>
              <a:t>Достоверность. </a:t>
            </a:r>
            <a:r>
              <a:rPr lang="ru-RU" dirty="0">
                <a:latin typeface="Arial" pitchFamily="34" charset="0"/>
                <a:cs typeface="Arial" pitchFamily="34" charset="0"/>
              </a:rPr>
              <a:t>Достоверность обозначает различное качество и надежность данных. Качество собираемых данных может существенно различаться, а точность анализа зависит от достоверности источника данных. Обеспечение достоверности больших данных представляет собой значительную проблему, поскольку по мере роста разнообразия и количества источников данных увеличивается вероятность искажений и ошибок. Поэтому часто необходимо затрачивать значительные усилия на устранение искажений и ошибок для создания наборов достоверных данных, прежде чем их анализировать. Например, организация розничной торговли может собирать данные о поведении заказчиков из различных систем для анализа моделей покупок тех или иных продуктов и прогнозирования покупательских намерений. Этой организации потребуется устранить ошибки и трансформировать данные, чтобы обеспечить их согласованность и надежность.</a:t>
            </a:r>
          </a:p>
          <a:p>
            <a:r>
              <a:rPr lang="ru-RU" b="1" dirty="0">
                <a:latin typeface="Arial" pitchFamily="34" charset="0"/>
                <a:cs typeface="Arial" pitchFamily="34" charset="0"/>
              </a:rPr>
              <a:t>Преимущество. </a:t>
            </a:r>
            <a:r>
              <a:rPr lang="ru-RU" dirty="0">
                <a:latin typeface="Arial" pitchFamily="34" charset="0"/>
                <a:cs typeface="Arial" pitchFamily="34" charset="0"/>
              </a:rPr>
              <a:t>Под значимостью понимается экономичность используемой технологии аналитики больших данных и преимущество для бизнеса, которое она обеспечивает. Многие крупные организации в течение многих лет работают с большими репозиториями данных, например хранилищами данных, и неструктурированными данными, анализируя данные в режиме реального времени. В связи с тем, что оборудование и программное обеспечение становятся все более доступными и появляется все больше новых поставщиков, технологии аналитики больших данных теперь доступны для более широкого рынка. Кроме того, организации получают дополнительные преимущества: усовершенствование бизнес-процессов, увеличение выручки и повышение эффективности принятия решений.</a:t>
            </a:r>
          </a:p>
          <a:p>
            <a:pPr>
              <a:spcBef>
                <a:spcPts val="600"/>
              </a:spcBef>
            </a:pPr>
            <a:endParaRPr lang="ru-RU"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0581745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Данные для аналитики обычно берутся из репозиториев, например корпоративных хранилищ и «озер данных». </a:t>
            </a:r>
          </a:p>
          <a:p>
            <a:pPr>
              <a:spcBef>
                <a:spcPts val="600"/>
              </a:spcBef>
            </a:pPr>
            <a:r>
              <a:rPr lang="ru-RU" b="0" i="1" dirty="0">
                <a:solidFill>
                  <a:srgbClr val="000000"/>
                </a:solidFill>
                <a:latin typeface="Arial" pitchFamily="34" charset="0"/>
                <a:cs typeface="Arial" pitchFamily="34" charset="0"/>
              </a:rPr>
              <a:t>Хранилище данных</a:t>
            </a:r>
            <a:r>
              <a:rPr lang="ru-RU" b="0" i="0" dirty="0">
                <a:solidFill>
                  <a:srgbClr val="000000"/>
                </a:solidFill>
                <a:latin typeface="Arial" pitchFamily="34" charset="0"/>
                <a:cs typeface="Arial" pitchFamily="34" charset="0"/>
              </a:rPr>
              <a:t> — это централизованное хранилище интегрированных данных, собранных из множества различных источников. В нем хранятся текущие и исторические данные в структурированном формате. Оно предназначено для запросов и анализа с целью поддержки процесса принятия решений в организации. Например, хранилище данных может содержать текущие и исторические данные о продажах, используемые для создания отчетов о тенденциях с целью сравнения показателей продаж. </a:t>
            </a:r>
          </a:p>
          <a:p>
            <a:pPr>
              <a:spcBef>
                <a:spcPts val="600"/>
              </a:spcBef>
            </a:pPr>
            <a:r>
              <a:rPr lang="ru-RU" b="0" i="1" dirty="0">
                <a:solidFill>
                  <a:srgbClr val="000000"/>
                </a:solidFill>
                <a:latin typeface="Arial" pitchFamily="34" charset="0"/>
                <a:cs typeface="Arial" pitchFamily="34" charset="0"/>
              </a:rPr>
              <a:t>«Озеро данных» (Data Lake)</a:t>
            </a:r>
            <a:r>
              <a:rPr lang="ru-RU" b="0" i="0" dirty="0">
                <a:solidFill>
                  <a:srgbClr val="000000"/>
                </a:solidFill>
                <a:latin typeface="Arial" pitchFamily="34" charset="0"/>
                <a:cs typeface="Arial" pitchFamily="34" charset="0"/>
              </a:rPr>
              <a:t> — это набор структурированных и неструктурированных данных, которые хранятся в виде точных или почти точных копий данных исходных форматов. В архитектуре «озера данных» воплощен подход к большим данным, при котором все типы данных хранятся в одном расположении. В отличие от традиционных хранилищ данных, данные не классифицируются, когда сохраняются в таком репозитории, поскольку их значимость может быть изначально не определена. Кроме того, данные не упорядочиваются по определенной схеме и хранятся с использованием объектной архитектуры хранения. В результате устраняется необходимость в подготовке данных, что делает «озера данных» менее структурированными, чем хранилища данных. Данные классифицируются, упорядочиваются и анализируются только после получения к ним доступа. При возникновении определенной потребности бизнеса «озеру данных» отправляется соответствующий запрос. Подмножество данных, полученное в ответ на этот запрос, затем анализируется для поиска решения. «Озера данных» предназначены для представления необработанных данных высококвалифицированным аналитикам. Они позволяют этим аналитикам использовать собственные методы уточнения и анализа данных.</a:t>
            </a:r>
          </a:p>
        </p:txBody>
      </p:sp>
    </p:spTree>
    <p:extLst>
      <p:ext uri="{BB962C8B-B14F-4D97-AF65-F5344CB8AC3E}">
        <p14:creationId xmlns:p14="http://schemas.microsoft.com/office/powerpoint/2010/main" val="2802167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Решение для аналитики больших данных включает следующие уровни технологий: СХД, технологии MapReduce и технологии обработки запросов. Совокупность этих компонентов называется «SMAQ-стеком».</a:t>
            </a:r>
          </a:p>
          <a:p>
            <a:pPr>
              <a:spcBef>
                <a:spcPts val="600"/>
              </a:spcBef>
            </a:pPr>
            <a:r>
              <a:rPr lang="ru-RU" b="0" i="0" dirty="0">
                <a:solidFill>
                  <a:srgbClr val="000000"/>
                </a:solidFill>
                <a:latin typeface="Arial" pitchFamily="34" charset="0"/>
                <a:cs typeface="Arial" pitchFamily="34" charset="0"/>
              </a:rPr>
              <a:t>Система хранения — это базовый уровень стека. Она имеет распределенную архитектуру с преимущественно неструктурированным содержанием в нереляционной форме.</a:t>
            </a:r>
          </a:p>
          <a:p>
            <a:pPr>
              <a:spcBef>
                <a:spcPts val="600"/>
              </a:spcBef>
            </a:pPr>
            <a:r>
              <a:rPr lang="ru-RU" b="0" i="0" dirty="0">
                <a:solidFill>
                  <a:srgbClr val="000000"/>
                </a:solidFill>
                <a:latin typeface="Arial" pitchFamily="34" charset="0"/>
                <a:cs typeface="Arial" pitchFamily="34" charset="0"/>
              </a:rPr>
              <a:t>Средний уровень состоит из технологий MapReduce, которые обеспечивают распределение вычислительных операций между несколькими вычислительными системами для параллельной обработки данных. Кроме того, эта технология поддерживает модель пакетной обработки операций по извлечению данных и вычислениям, в отличие от большинства баз данных SQL, ориентированных на наборы записей.</a:t>
            </a:r>
          </a:p>
          <a:p>
            <a:pPr>
              <a:spcBef>
                <a:spcPts val="600"/>
              </a:spcBef>
            </a:pPr>
            <a:r>
              <a:rPr lang="ru-RU" b="0" i="0" dirty="0">
                <a:solidFill>
                  <a:srgbClr val="000000"/>
                </a:solidFill>
                <a:latin typeface="Arial" pitchFamily="34" charset="0"/>
                <a:cs typeface="Arial" pitchFamily="34" charset="0"/>
              </a:rPr>
              <a:t>На уровне запросов обычно используется база данных NoSQL для хранения, извлечения и обработки данных. На этом уровне также предоставляется удобная платформа для аналитики и отчетности.</a:t>
            </a:r>
          </a:p>
          <a:p>
            <a:pPr>
              <a:spcBef>
                <a:spcPts val="600"/>
              </a:spcBef>
              <a:defRPr/>
            </a:pPr>
            <a:r>
              <a:rPr lang="ru-RU" b="0" i="0" dirty="0">
                <a:solidFill>
                  <a:srgbClr val="000000"/>
                </a:solidFill>
                <a:latin typeface="Arial" pitchFamily="34" charset="0"/>
                <a:cs typeface="Arial" pitchFamily="34" charset="0"/>
              </a:rPr>
              <a:t>Решения SMAQ можно внедрять в качестве сочетания многокомпонентных систем или предоставлять как комплексный продукт с автономной системой, состоящей их системы хранения, MapReduce и запросов.</a:t>
            </a:r>
          </a:p>
        </p:txBody>
      </p:sp>
    </p:spTree>
    <p:extLst>
      <p:ext uri="{BB962C8B-B14F-4D97-AF65-F5344CB8AC3E}">
        <p14:creationId xmlns:p14="http://schemas.microsoft.com/office/powerpoint/2010/main" val="4241644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MapReduce</a:t>
            </a:r>
            <a:r>
              <a:rPr lang="ru-RU" b="0" i="0" dirty="0">
                <a:solidFill>
                  <a:srgbClr val="000000"/>
                </a:solidFill>
                <a:latin typeface="Arial" pitchFamily="34" charset="0"/>
                <a:cs typeface="Arial" pitchFamily="34" charset="0"/>
              </a:rPr>
              <a:t> — это движущая сила большинства решений для обработки больших данных. Это средство параллельного программирования, предназначенное для обработки больших наборов данных в вычислительном кластере. Ключевая инновация MapReduce заключается в возможности запросить набор данных, разделить его и параллельно запустить его обработку в нескольких вычислительных системах или узлах. Это распределение устраняет проблему обработки данных, объем которых слишком велик для обработки одной машиной.</a:t>
            </a:r>
          </a:p>
          <a:p>
            <a:pPr>
              <a:spcBef>
                <a:spcPts val="600"/>
              </a:spcBef>
            </a:pPr>
            <a:r>
              <a:rPr lang="ru-RU" b="0" i="0" dirty="0">
                <a:solidFill>
                  <a:srgbClr val="000000"/>
                </a:solidFill>
                <a:latin typeface="Arial" pitchFamily="34" charset="0"/>
                <a:cs typeface="Arial" pitchFamily="34" charset="0"/>
              </a:rPr>
              <a:t>Работа MapReduce состоит из двух этапов: «установки соответствия» и «сокращения». Входной набор данных разделяется на независимые фрагменты, которые распределяются между несколькими вычислительными системами. Функция установки соответствия обрабатывает эти фрагменты параллельно и трансформирует их в множество небольших промежуточных наборов данных. Функция сокращения сжимает промежуточные результаты и сокращает их до сводного набора данных, который и представляет собой необходимый конечный результат. Обычно и входной, и выходной наборы данных хранятся в файловой системе. Платформа MapReduce отличается высокой масштабируемостью и поддерживает добавление узлов для обработки фрагментов. Apache Hadoop MapReduce — это самый распространенный вариант MapReduce на базе Java с открытым кодом.</a:t>
            </a:r>
          </a:p>
          <a:p>
            <a:pPr>
              <a:spcBef>
                <a:spcPts val="600"/>
              </a:spcBef>
            </a:pPr>
            <a:r>
              <a:rPr lang="ru-RU" b="0" i="0" dirty="0">
                <a:solidFill>
                  <a:srgbClr val="000000"/>
                </a:solidFill>
                <a:latin typeface="Arial" pitchFamily="34" charset="0"/>
                <a:cs typeface="Arial" pitchFamily="34" charset="0"/>
              </a:rPr>
              <a:t>На рисунке на данном слайде подано общее представление работы технологии MapReduce и приведены различные примеры ее использования. Классический пример использования MapReduce — выполнение задачи по подсчету количества уникальных слов в наборе из нескольких миллионов документов. На этапе установки соответствия каждое слово идентифицируется и ему присваивается значение 1. На этапе сокращения показатели для каждого слова суммируются. Другой пример: задача по объединению записей заказчиков в наборе данных в несколько возрастных групп, например 20—30, 30—40, 40—50 лет и т. д. На этапе установки соответствия записи разделяются и обрабатываются параллельно для создания промежуточных групп записей. На этапе сокращения промежуточные наборы данных суммируются для получения отдельных групп записей заказчиков (на рисунке обозначены группами разных цветов).</a:t>
            </a:r>
          </a:p>
        </p:txBody>
      </p:sp>
    </p:spTree>
    <p:extLst>
      <p:ext uri="{BB962C8B-B14F-4D97-AF65-F5344CB8AC3E}">
        <p14:creationId xmlns:p14="http://schemas.microsoft.com/office/powerpoint/2010/main" val="42416446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MapReduce получает наборы данных и сохраняет результаты вычислений в системе хранения. Данные должны быть доступны и распределены, чтобы обслуживать каждый узел обработки. Архитектура и функциональность уровня системы хранения важны не только для взаимодействия с MapReduce. Они также обеспечивают простоту загрузки данных, извлечения результатов вычисления и поиска среди этих результатов необходимых сведений. </a:t>
            </a:r>
          </a:p>
          <a:p>
            <a:pPr>
              <a:spcBef>
                <a:spcPts val="600"/>
              </a:spcBef>
            </a:pPr>
            <a:r>
              <a:rPr lang="ru-RU" b="0" i="0" dirty="0">
                <a:solidFill>
                  <a:srgbClr val="000000"/>
                </a:solidFill>
                <a:latin typeface="Arial" pitchFamily="34" charset="0"/>
                <a:cs typeface="Arial" pitchFamily="34" charset="0"/>
              </a:rPr>
              <a:t>Система хранения в SMAQ-стеке базируется на проприетарной распределенной файловой системе или системе с открытым кодом, например Hadoop Distributed File System (HDFS). Система хранения также может поддерживать несколько файловых систем для клиентского доступа. Система хранения состоит из нескольких узлов, совокупность которых называется кластером, а файловая система распределена между всеми узлами в кластере. Каждый узел в кластере имеет как вычислительные ресурсы, так и емкость хранения. Эта система имеет высокомасштабируемую архитектуру. Для соответствия требованиям к рабочим нагрузкам и емкости можно динамически добавлять дополнительные узлы.</a:t>
            </a:r>
          </a:p>
          <a:p>
            <a:pPr>
              <a:spcBef>
                <a:spcPts val="600"/>
              </a:spcBef>
            </a:pPr>
            <a:r>
              <a:rPr lang="ru-RU" b="0" i="0" dirty="0">
                <a:solidFill>
                  <a:srgbClr val="000000"/>
                </a:solidFill>
                <a:latin typeface="Arial" pitchFamily="34" charset="0"/>
                <a:cs typeface="Arial" pitchFamily="34" charset="0"/>
              </a:rPr>
              <a:t>Распределенные файловые системы, например HDFS, обычно предоставляют только интерфейс, аналогичный интерфейсам обычных файловых систем. В отличие от базы данных, они могут только хранить и извлекать данные, но не индексировать их (индексирование необходимо для быстрого извлечения данных). Чтобы устранить эту проблему и получить преимущества системы базы данных, в решение SMAQ можно внедрить базу данных NoSQL поверх распределенной файловой системы. Базы данных NoSQL могут иметь встроенную функциональность MapReduce, которая позволяет выполнять параллельную обработку данных в их хранилищах данных. Во многих приложениях основной источник данных — реляционная база данных. Поэтому решения SMAQ могут также поддерживать взаимодействие между MapReduce и системами реляционных баз данных.</a:t>
            </a:r>
          </a:p>
        </p:txBody>
      </p:sp>
    </p:spTree>
    <p:extLst>
      <p:ext uri="{BB962C8B-B14F-4D97-AF65-F5344CB8AC3E}">
        <p14:creationId xmlns:p14="http://schemas.microsoft.com/office/powerpoint/2010/main" val="4241644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Указывать задачи MapReduce, выражая их только с помощью четких функций установки соответствия и сокращения на языке программирования, сложно и неудобно. Чтобы устранить эту проблему, системы SMAQ содержат верхний уровень запросов, который упрощает указание операций MapReduce и анализ их результатов. На уровне запросов используются высокоуровневые языки программирования, которые позволяют пользователям описывать, запускать и отслеживать выполнение задач MapReduce. Эти языки предназначены не только для обработки, но и для загрузки и сохранения данных из кластера MapReduce и в него. Эти языки обычно поддерживают интеграцию с базами данных NoSQL, развернутыми в кластере MapReduce.</a:t>
            </a:r>
          </a:p>
        </p:txBody>
      </p:sp>
    </p:spTree>
    <p:extLst>
      <p:ext uri="{BB962C8B-B14F-4D97-AF65-F5344CB8AC3E}">
        <p14:creationId xmlns:p14="http://schemas.microsoft.com/office/powerpoint/2010/main" val="3133583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fontAlgn="base">
              <a:spcBef>
                <a:spcPts val="600"/>
              </a:spcBef>
            </a:pPr>
            <a:r>
              <a:rPr lang="ru-RU" b="0" i="0" dirty="0">
                <a:solidFill>
                  <a:srgbClr val="000000"/>
                </a:solidFill>
                <a:latin typeface="Arial" pitchFamily="34" charset="0"/>
                <a:cs typeface="Arial" pitchFamily="34" charset="0"/>
              </a:rPr>
              <a:t>Решения для анализа больших данных создали множество новых возможностей для государственных учреждений и организаций в сферах здравоохранения, финансов, торговли и т. д.</a:t>
            </a:r>
          </a:p>
          <a:p>
            <a:pPr fontAlgn="base">
              <a:spcBef>
                <a:spcPts val="600"/>
              </a:spcBef>
            </a:pPr>
            <a:r>
              <a:rPr lang="ru-RU" b="1" i="0" dirty="0">
                <a:solidFill>
                  <a:srgbClr val="000000"/>
                </a:solidFill>
                <a:latin typeface="Arial" pitchFamily="34" charset="0"/>
                <a:cs typeface="Arial" pitchFamily="34" charset="0"/>
              </a:rPr>
              <a:t>Здравоохранение:</a:t>
            </a:r>
            <a:r>
              <a:rPr lang="ru-RU" b="0" i="0" dirty="0">
                <a:solidFill>
                  <a:srgbClr val="000000"/>
                </a:solidFill>
                <a:latin typeface="Arial" pitchFamily="34" charset="0"/>
                <a:cs typeface="Arial" pitchFamily="34" charset="0"/>
              </a:rPr>
              <a:t> В сфере здравоохранения решения для аналитики больших данных предоставляют консолидированную диагностическую информацию и позволяют организациям здравоохранения анализировать данные о пациентах, повысить качество операций, услуг и обслуживания пациентов, улучшить результаты лечения, минимизировать количество ошибок и повысить вовлеченность пациентов. Кроме того, эти решения позволяют организациям здравоохранения отслеживать состояние пациентов и анализировать качество их обслуживания в режиме реального времени. </a:t>
            </a:r>
          </a:p>
          <a:p>
            <a:pPr fontAlgn="base">
              <a:spcBef>
                <a:spcPts val="600"/>
              </a:spcBef>
            </a:pPr>
            <a:r>
              <a:rPr lang="ru-RU" b="1" i="0" dirty="0">
                <a:solidFill>
                  <a:srgbClr val="000000"/>
                </a:solidFill>
                <a:latin typeface="Arial" pitchFamily="34" charset="0"/>
                <a:cs typeface="Arial" pitchFamily="34" charset="0"/>
              </a:rPr>
              <a:t>Финансы. </a:t>
            </a:r>
            <a:r>
              <a:rPr lang="ru-RU" b="0" i="0" dirty="0">
                <a:solidFill>
                  <a:srgbClr val="000000"/>
                </a:solidFill>
                <a:latin typeface="Arial" pitchFamily="34" charset="0"/>
                <a:cs typeface="Arial" pitchFamily="34" charset="0"/>
              </a:rPr>
              <a:t>В финансовом секторе организации используют аналитику больших данных для различных операций, например для сопоставления историй покупок, создания профилей заказчиков и анализа их поведения в социальных сетях. Эта аналитика также позволяет управлять затратами на привлечение новых заказчиков и повышать эффективность промопрограмм продаж. Аналитика больших данных также широко используется для выявления случаев мошенничества с кредитными картами.</a:t>
            </a:r>
          </a:p>
          <a:p>
            <a:pPr fontAlgn="base">
              <a:spcBef>
                <a:spcPts val="600"/>
              </a:spcBef>
            </a:pPr>
            <a:r>
              <a:rPr lang="ru-RU" b="1" i="0" dirty="0">
                <a:solidFill>
                  <a:srgbClr val="000000"/>
                </a:solidFill>
                <a:latin typeface="Arial" pitchFamily="34" charset="0"/>
                <a:cs typeface="Arial" pitchFamily="34" charset="0"/>
              </a:rPr>
              <a:t>Торговля:</a:t>
            </a:r>
            <a:r>
              <a:rPr lang="ru-RU" b="0" i="0" dirty="0">
                <a:solidFill>
                  <a:srgbClr val="000000"/>
                </a:solidFill>
                <a:latin typeface="Arial" pitchFamily="34" charset="0"/>
                <a:cs typeface="Arial" pitchFamily="34" charset="0"/>
              </a:rPr>
              <a:t> В сфере торговли организации используют аналитику больших данных, чтобы получать важные сведения для конкурентного ценообразования, прогнозирования будущих уровней спроса, проведения эффективных маркетинговых кампаний, оптимизации ассортимента запасов и повышения эффективности дистрибуции. Это позволяет предоставлять заказчикам качественные услуги по оптимальным ценам, а также повысить эффективность операций и выручку.</a:t>
            </a:r>
          </a:p>
          <a:p>
            <a:pPr fontAlgn="base">
              <a:spcBef>
                <a:spcPts val="600"/>
              </a:spcBef>
            </a:pPr>
            <a:r>
              <a:rPr lang="ru-RU" b="1" i="0" dirty="0">
                <a:solidFill>
                  <a:srgbClr val="000000"/>
                </a:solidFill>
                <a:latin typeface="Arial" pitchFamily="34" charset="0"/>
                <a:cs typeface="Arial" pitchFamily="34" charset="0"/>
              </a:rPr>
              <a:t>Государственные органы:</a:t>
            </a:r>
            <a:r>
              <a:rPr lang="ru-RU" b="0" i="0" dirty="0">
                <a:solidFill>
                  <a:srgbClr val="000000"/>
                </a:solidFill>
                <a:latin typeface="Arial" pitchFamily="34" charset="0"/>
                <a:cs typeface="Arial" pitchFamily="34" charset="0"/>
              </a:rPr>
              <a:t> В правительственных учреждениях аналитика больших данных позволяет повысить продуктивность и эффективность работы в различных сферах, среди которых социальные услуги, образование, оборонная отрасль, национальная безопасность, борьба с преступностью, транспорт, соблюдение налогового законодательства и управление выручкой. </a:t>
            </a:r>
          </a:p>
        </p:txBody>
      </p:sp>
    </p:spTree>
    <p:extLst>
      <p:ext uri="{BB962C8B-B14F-4D97-AF65-F5344CB8AC3E}">
        <p14:creationId xmlns:p14="http://schemas.microsoft.com/office/powerpoint/2010/main" val="2257993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рамках этого урока было рассмотрено определение больших данных, а также были приведены их ключевые характеристики. Кроме того, в этом уроке были описаны компоненты решения для аналитики больших данных: СХД, MapReduce и запрос. Наконец, в рамках данного урока были рассмотрены некоторые сценарии использования аналитики больших данных.</a:t>
            </a: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рамках данного урока рассматриваются социальные сети, их анализ и сценарии использования. Кроме того, в этом уроке рассматриваются мобильные технологии и сценарии их использования.</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marL="0" indent="0">
              <a:spcBef>
                <a:spcPts val="600"/>
              </a:spcBef>
              <a:buFont typeface="Arial" panose="020B0604020202020204" pitchFamily="34" charset="0"/>
              <a:buNone/>
            </a:pPr>
            <a:r>
              <a:rPr lang="ru-RU" b="0" i="1" dirty="0">
                <a:solidFill>
                  <a:srgbClr val="000000"/>
                </a:solidFill>
                <a:latin typeface="Arial" pitchFamily="34" charset="0"/>
                <a:cs typeface="Arial" pitchFamily="34" charset="0"/>
              </a:rPr>
              <a:t>Работа в социальных сетях</a:t>
            </a:r>
            <a:r>
              <a:rPr lang="ru-RU" b="0" i="0" dirty="0">
                <a:solidFill>
                  <a:srgbClr val="000000"/>
                </a:solidFill>
                <a:latin typeface="Arial" pitchFamily="34" charset="0"/>
                <a:cs typeface="Arial" pitchFamily="34" charset="0"/>
              </a:rPr>
              <a:t> позволяет людям налаживать связи с другими пользователями сети для расширения общественных и/или деловых контактов. В результате такого взаимодействия появляется </a:t>
            </a:r>
            <a:r>
              <a:rPr lang="ru-RU" b="0" i="1" dirty="0">
                <a:solidFill>
                  <a:srgbClr val="000000"/>
                </a:solidFill>
                <a:latin typeface="Arial" pitchFamily="34" charset="0"/>
                <a:cs typeface="Arial" pitchFamily="34" charset="0"/>
              </a:rPr>
              <a:t>социальная сеть</a:t>
            </a:r>
            <a:r>
              <a:rPr lang="ru-RU" b="0" i="0" dirty="0">
                <a:solidFill>
                  <a:srgbClr val="000000"/>
                </a:solidFill>
                <a:latin typeface="Arial" pitchFamily="34" charset="0"/>
                <a:cs typeface="Arial" pitchFamily="34" charset="0"/>
              </a:rPr>
              <a:t> — структура взаимосвязей людей по принципу «многие-ко-многим», которая позволяет отдельным лицам и группам пользователей налаживать связи и обмениваться данными. Социальные сети позволяют делиться информацией со всеми пользователями сети или отдельных ее фрагментов. </a:t>
            </a:r>
          </a:p>
          <a:p>
            <a:pPr>
              <a:spcBef>
                <a:spcPts val="600"/>
              </a:spcBef>
            </a:pPr>
            <a:r>
              <a:rPr lang="ru-RU" b="0" i="0" dirty="0">
                <a:solidFill>
                  <a:srgbClr val="000000"/>
                </a:solidFill>
                <a:latin typeface="Arial" pitchFamily="34" charset="0"/>
                <a:cs typeface="Arial" pitchFamily="34" charset="0"/>
              </a:rPr>
              <a:t>Множество различных онлайн-сервисов предоставляют глобальную платформу на основе веб-интерфейса для создания социальных сетей для людей (и организаций) с общими интересами, задачами и связями. За последние несколько десятков лет количество пользователей социальных сетей существенно выросло благодаря распространению Интернета и мобильных устройств. Социальные сети обеспечивают возможность создания, обнаружения, совместного использования, продвижения, распространения и потребления различного цифрового содержания для общественной и социальной деятельности в различных географических расположениях. Большинство социальных сетей позволяют отдельным пользователям и организациям создавать личные профили и связываться друг с другом. Кроме того, они обычно позволяют обмениваться мнениями, сообщениями, изображениями, видеозаписями и другими медиафайлами, вести совместную деятельность, организовывать мероприятия и вести блоги. Некоторые социальные сети предоставляют специализированные наборы функций, например возможность связи с коллегами в организации, специалистами из других областей и потенциальными работодателями. Среди самых популярных социальных сетей можно выделить Facebook, Twitter, LinkedIn, Pinterest, Instagram и Google+.</a:t>
            </a:r>
          </a:p>
        </p:txBody>
      </p:sp>
    </p:spTree>
    <p:extLst>
      <p:ext uri="{BB962C8B-B14F-4D97-AF65-F5344CB8AC3E}">
        <p14:creationId xmlns:p14="http://schemas.microsoft.com/office/powerpoint/2010/main" val="1614877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Рост количества пользователей социальных сетей привел к существенному увеличению объемов данных в цифровой вселенной. Огромные объемы данных очень важны для организаций. Используя аналитику больших данных, организации могут получать полезную информацию из данных, созданных в социальных сетях. Анализ социальных сетей — это процесс анализа моделей взаимосвязей в социальных сетях. Этот анализ включает в себя сбор данных из многочисленных источников (например, записей в социальных сетях, опросов, сообщений электронной почты, блогов и других результатов деятельности пользователей социальных сетей), использование аналитики данных для определения взаимоотношений и поиск среди этих данных новой информации. Анализ полезно применять для изучения социальной структуры, информационных потоков и взаимозависимостей (или схем организации работы) отдельных лиц и организаций. Средства анализа социальных сетей сканируют социальные сети, чтобы определить качество или эффективность взаимосвязей, идентифицировать влиятельных людей, ассоциации и тенденции. </a:t>
            </a:r>
          </a:p>
          <a:p>
            <a:pPr>
              <a:spcBef>
                <a:spcPts val="600"/>
              </a:spcBef>
            </a:pPr>
            <a:r>
              <a:rPr lang="ru-RU" b="0" i="0" dirty="0">
                <a:solidFill>
                  <a:srgbClr val="000000"/>
                </a:solidFill>
                <a:latin typeface="Arial" pitchFamily="34" charset="0"/>
                <a:cs typeface="Arial" pitchFamily="34" charset="0"/>
              </a:rPr>
              <a:t>Анализ социальных сетей позволяет выполнять идентификацию и обнаружение комплексных моделей динамики, роста и развития в социальных сетях, используя подходы машинного обучения и интеллектуального поиска и анализа данных. В анализе социальных сетей используется междисциплинарный подход, включающий использование широкого спектра методов из общественных наук, математики, статистики, физики, науки о сетевых технологиях и информатики. Анализ социальных сетей позволяет выполнять обнаружение и анализ сообществ, персонализацию индивидуальных операций (например, поисковых запросов) и социальных действий (например, поиска потенциальных друзей), анализ поведения пользователей на открытых форумах (например, на обычных сайтах, в блогах и сообществах) и коммерческих платформах (например, в электронной торговле). Анализ социальных сетей имеет широкий диапазон областей применения, включая инженерию, науку, экономику, обеспечение национальной безопасности, криминологию, обнаружение мошенничества и электронную торговлю.</a:t>
            </a:r>
          </a:p>
        </p:txBody>
      </p:sp>
    </p:spTree>
    <p:extLst>
      <p:ext uri="{BB962C8B-B14F-4D97-AF65-F5344CB8AC3E}">
        <p14:creationId xmlns:p14="http://schemas.microsoft.com/office/powerpoint/2010/main" val="15049434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sz="900" b="0" i="0" dirty="0">
                <a:solidFill>
                  <a:srgbClr val="000000"/>
                </a:solidFill>
                <a:latin typeface="Arial" pitchFamily="34" charset="0"/>
                <a:cs typeface="Arial" pitchFamily="34" charset="0"/>
              </a:rPr>
              <a:t>Помимо предоставления платформы для связи людей и организаций, социальные сети также имеют множество применений в различных сферах, например в образовании, науке, решении задач, торговле и маркетинге. Некоторые сценарии использования социальных сетей описаны ниже.</a:t>
            </a:r>
          </a:p>
          <a:p>
            <a:pPr>
              <a:spcBef>
                <a:spcPts val="600"/>
              </a:spcBef>
            </a:pPr>
            <a:r>
              <a:rPr lang="ru-RU" sz="900" b="1" i="0" dirty="0">
                <a:solidFill>
                  <a:srgbClr val="000000"/>
                </a:solidFill>
                <a:latin typeface="Arial" pitchFamily="34" charset="0"/>
                <a:cs typeface="Arial" pitchFamily="34" charset="0"/>
              </a:rPr>
              <a:t>Продвижение бренда в сети. </a:t>
            </a:r>
            <a:r>
              <a:rPr lang="ru-RU" sz="900" b="0" i="0" dirty="0">
                <a:solidFill>
                  <a:srgbClr val="000000"/>
                </a:solidFill>
                <a:latin typeface="Arial" pitchFamily="34" charset="0"/>
                <a:cs typeface="Arial" pitchFamily="34" charset="0"/>
              </a:rPr>
              <a:t>Продвижение</a:t>
            </a:r>
            <a:r>
              <a:rPr lang="ru-RU" sz="900" b="1" i="0" dirty="0">
                <a:solidFill>
                  <a:srgbClr val="000000"/>
                </a:solidFill>
                <a:latin typeface="Arial" pitchFamily="34" charset="0"/>
                <a:cs typeface="Arial" pitchFamily="34" charset="0"/>
              </a:rPr>
              <a:t> </a:t>
            </a:r>
            <a:r>
              <a:rPr lang="ru-RU" sz="900" b="0" i="0" dirty="0">
                <a:solidFill>
                  <a:srgbClr val="000000"/>
                </a:solidFill>
                <a:latin typeface="Arial" pitchFamily="34" charset="0"/>
                <a:cs typeface="Arial" pitchFamily="34" charset="0"/>
              </a:rPr>
              <a:t>заключается в использовании социальных сетей для предоставления заказчикам платформы интересующего их содержания, связанного с определенным брендом. Организации занимаются продвижением брендов в сети, создавая в социальных сетях страницы и сообщества для демонстрации продуктов, предоставления сведений о рекламных мероприятиях и предложениях и взаимодействия с заказчиками. Продвижение бренда в сети гарантирует высокий уровень взаимодействия и вовлеченности заказчиков, обеспечивает глобальную узнаваемость брендов и позволяет расширить базу заказчиков. Активно работая в социальных сетях, организации также стремятся повысить свою видимость в поисковых системах. Используя средства аналитики, организации также могут получить важные сведения о своих заказчиках для проведения более эффективных кампаний продаж. </a:t>
            </a:r>
          </a:p>
          <a:p>
            <a:pPr>
              <a:spcBef>
                <a:spcPts val="600"/>
              </a:spcBef>
            </a:pPr>
            <a:r>
              <a:rPr lang="ru-RU" sz="900" b="1" i="0" dirty="0">
                <a:solidFill>
                  <a:srgbClr val="000000"/>
                </a:solidFill>
                <a:latin typeface="Arial" pitchFamily="34" charset="0"/>
                <a:cs typeface="Arial" pitchFamily="34" charset="0"/>
              </a:rPr>
              <a:t>Взаимодействие внутри предприятия. </a:t>
            </a:r>
            <a:r>
              <a:rPr lang="ru-RU" sz="900" b="0" i="0" dirty="0">
                <a:solidFill>
                  <a:srgbClr val="000000"/>
                </a:solidFill>
                <a:latin typeface="Arial" pitchFamily="34" charset="0"/>
                <a:cs typeface="Arial" pitchFamily="34" charset="0"/>
              </a:rPr>
              <a:t>Совместная работа доступна организациям за счет использования корпоративных социальных сетей, позволяющих сотрудникам взаимодействовать и обмениваться информацией. Эти сети позволяют сотрудникам вести более эффективную совместную работу, обмениваться идеями и информацией. По сути, корпоративные социальные сети предоставляют все функции и преимущества обычных социальных интернет-сетей с дополнительными специальными функциями и расширенными возможностями контроля. </a:t>
            </a:r>
          </a:p>
          <a:p>
            <a:pPr>
              <a:spcBef>
                <a:spcPts val="600"/>
              </a:spcBef>
              <a:defRPr/>
            </a:pPr>
            <a:r>
              <a:rPr lang="ru-RU" sz="900" b="1" i="0" dirty="0">
                <a:solidFill>
                  <a:srgbClr val="000000"/>
                </a:solidFill>
                <a:latin typeface="Arial" pitchFamily="34" charset="0"/>
                <a:cs typeface="Arial" pitchFamily="34" charset="0"/>
              </a:rPr>
              <a:t>Маркетинг. </a:t>
            </a:r>
            <a:r>
              <a:rPr lang="ru-RU" sz="900" b="0" i="0" dirty="0">
                <a:solidFill>
                  <a:srgbClr val="000000"/>
                </a:solidFill>
                <a:latin typeface="Arial" pitchFamily="34" charset="0"/>
                <a:cs typeface="Arial" pitchFamily="34" charset="0"/>
              </a:rPr>
              <a:t>Использование социальных сетей становится стандартным подходом в маркетинге. Маркетинг в социальных сетях позволяет повысить уровень продаж и выручку. Организации рекламируют свои продукты и услуги на страницах пользователей, при этом рекламные ссылки ведут либо на страницу организации в социальной сети, либо на ее веб-сайт продаж. Кроме того, организации могут анализировать содержание социальных сетей, чтобы определять потенциальных покупателей. Это помогает им эффективнее находить новую целевую аудиторию для маркетинга.</a:t>
            </a:r>
          </a:p>
          <a:p>
            <a:pPr>
              <a:spcBef>
                <a:spcPts val="600"/>
              </a:spcBef>
              <a:defRPr/>
            </a:pPr>
            <a:r>
              <a:rPr lang="ru-RU" sz="900" b="1" i="0" dirty="0">
                <a:solidFill>
                  <a:srgbClr val="000000"/>
                </a:solidFill>
                <a:latin typeface="Arial" pitchFamily="34" charset="0"/>
                <a:cs typeface="Arial" pitchFamily="34" charset="0"/>
              </a:rPr>
              <a:t>Обслуживание заказчиков. </a:t>
            </a:r>
            <a:r>
              <a:rPr lang="ru-RU" sz="900" b="0" i="0" dirty="0">
                <a:solidFill>
                  <a:srgbClr val="000000"/>
                </a:solidFill>
                <a:latin typeface="Arial" pitchFamily="34" charset="0"/>
                <a:cs typeface="Arial" pitchFamily="34" charset="0"/>
              </a:rPr>
              <a:t>Кроме того, организации все чаще используют социальные сети для привлечения заказчиков, предлагая им расширенные и оперативные услуги поддержки. Путем отслеживания комментариев заказчиков в социальных сетях организации заранее определяют и устраняют проблемы, которые могут возникнуть у заказчиков.</a:t>
            </a:r>
          </a:p>
        </p:txBody>
      </p:sp>
    </p:spTree>
    <p:extLst>
      <p:ext uri="{BB962C8B-B14F-4D97-AF65-F5344CB8AC3E}">
        <p14:creationId xmlns:p14="http://schemas.microsoft.com/office/powerpoint/2010/main" val="38522114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Мобильное устройство</a:t>
            </a:r>
            <a:r>
              <a:rPr lang="ru-RU" b="0" i="0" dirty="0">
                <a:solidFill>
                  <a:srgbClr val="000000"/>
                </a:solidFill>
                <a:latin typeface="Arial" pitchFamily="34" charset="0"/>
                <a:cs typeface="Arial" pitchFamily="34" charset="0"/>
              </a:rPr>
              <a:t> — это портативная вычислительная система с дисплеем для сенсорного ввода и/или ввода с аппаратной клавиатуры. Стандартные функции мобильных устройств включают голосовые вызовы, Bluetooth и/или средство коммуникации ближнего поля для обмена файлами, Wi-Fi и/или сервисы управления данными (например, HSPA+ и LTE) для подключения к Интернету, GPS и функции воспроизведения и записи аудио и видео. Примеры мобильных устройств: ноутбуки, планшеты, смартфоны и КПК. </a:t>
            </a:r>
            <a:r>
              <a:rPr lang="ru-RU" b="0" i="1" dirty="0">
                <a:solidFill>
                  <a:srgbClr val="000000"/>
                </a:solidFill>
                <a:latin typeface="Arial" pitchFamily="34" charset="0"/>
                <a:cs typeface="Arial" pitchFamily="34" charset="0"/>
              </a:rPr>
              <a:t>Использование мобильных технологий</a:t>
            </a:r>
            <a:r>
              <a:rPr lang="ru-RU" b="0" i="0" dirty="0">
                <a:solidFill>
                  <a:srgbClr val="000000"/>
                </a:solidFill>
                <a:latin typeface="Arial" pitchFamily="34" charset="0"/>
                <a:cs typeface="Arial" pitchFamily="34" charset="0"/>
              </a:rPr>
              <a:t> подразумевает использование мобильных устройств для доступа к приложениям и/или информации «на ходу» по беспроводной сети. </a:t>
            </a:r>
          </a:p>
          <a:p>
            <a:pPr>
              <a:spcBef>
                <a:spcPts val="600"/>
              </a:spcBef>
            </a:pPr>
            <a:r>
              <a:rPr lang="ru-RU" b="0" i="0" dirty="0">
                <a:solidFill>
                  <a:srgbClr val="000000"/>
                </a:solidFill>
                <a:latin typeface="Arial" pitchFamily="34" charset="0"/>
                <a:cs typeface="Arial" pitchFamily="34" charset="0"/>
              </a:rPr>
              <a:t>Объединение беспроводных технологий, инновационной электроники и Интернета привело к появлению «всепроникающей компьютеризации» (также называемой повсеместной компьютеризацией) и Интернета вещей. </a:t>
            </a:r>
            <a:r>
              <a:rPr lang="ru-RU" b="0" i="1" dirty="0">
                <a:solidFill>
                  <a:srgbClr val="000000"/>
                </a:solidFill>
                <a:latin typeface="Arial" pitchFamily="34" charset="0"/>
                <a:cs typeface="Arial" pitchFamily="34" charset="0"/>
              </a:rPr>
              <a:t>Всепроникающая компьютеризация</a:t>
            </a:r>
            <a:r>
              <a:rPr lang="ru-RU" b="0" i="0" dirty="0">
                <a:solidFill>
                  <a:srgbClr val="000000"/>
                </a:solidFill>
                <a:latin typeface="Arial" pitchFamily="34" charset="0"/>
                <a:cs typeface="Arial" pitchFamily="34" charset="0"/>
              </a:rPr>
              <a:t> — это развивающаяся тенденция к внедрению процессоров в устройства, например датчики и носимые гаджеты, и обеспечению их взаимосвязи через Интернет. Устройства всепроникающей компьютеризации постоянно подключены к Интернету и доступны. Их распространение способствует росту экосистемы мобильных технологий.</a:t>
            </a:r>
          </a:p>
          <a:p>
            <a:pPr>
              <a:spcBef>
                <a:spcPts val="600"/>
              </a:spcBef>
            </a:pPr>
            <a:r>
              <a:rPr lang="ru-RU" b="0" i="0" dirty="0">
                <a:solidFill>
                  <a:srgbClr val="000000"/>
                </a:solidFill>
                <a:latin typeface="Arial" pitchFamily="34" charset="0"/>
                <a:cs typeface="Arial" pitchFamily="34" charset="0"/>
              </a:rPr>
              <a:t>На рисунке на данном слайде изображен сервер приложений в корпоративном центре обработки данных или облаке, доступ к которому осуществляют различные мобильные клиенты через беспроводные соединения по Интернету или частной сети, например беспроводной локальной сети (WLAN).</a:t>
            </a:r>
          </a:p>
        </p:txBody>
      </p:sp>
    </p:spTree>
    <p:extLst>
      <p:ext uri="{BB962C8B-B14F-4D97-AF65-F5344CB8AC3E}">
        <p14:creationId xmlns:p14="http://schemas.microsoft.com/office/powerpoint/2010/main" val="2193326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Мобильные технологии широко применяются во многих отраслях и сферах деятельности. Ниже описаны некоторые сценарии использования мобильных технологий.</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Корпоративная мобильность</a:t>
            </a:r>
            <a:r>
              <a:rPr lang="ru-RU" b="0" i="0" dirty="0">
                <a:solidFill>
                  <a:srgbClr val="000000"/>
                </a:solidFill>
                <a:latin typeface="Arial" pitchFamily="34" charset="0"/>
                <a:cs typeface="Arial" pitchFamily="34" charset="0"/>
              </a:rPr>
              <a:t>. Быстрое распространение интеллектуальных мобильных устройств меняет способы взаимодействия и сотрудничества отдельных лиц и организаций. Все больше организаций предоставляют сотрудникам повсеместный доступ к информации и бизнес-приложениям через мобильные устройства. Это позволяет сотрудникам получать необходимые сведения и выполнять бизнес-операции независимо от местоположения. Таким образом расширяются возможности совместной работы и повышается производительность персонала. Кроме того, все больше организаций внедряют практику использования собственных устройств на рабочем месте, разрешая своим сотрудникам использовать не предоставленные компанией устройства, например ноутбуки и планшеты, для бизнес-задач. Эта практика позволяет сотрудникам получать доступ к приложениям и информации из своих личных устройств в мобильном режиме. Кроме того, она позволяет уменьшить затраты на приобретение и операционные издержки. </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Продукты и услуги на базе мобильных технологий</a:t>
            </a:r>
            <a:r>
              <a:rPr lang="ru-RU" b="0" i="0" dirty="0">
                <a:solidFill>
                  <a:srgbClr val="000000"/>
                </a:solidFill>
                <a:latin typeface="Arial" pitchFamily="34" charset="0"/>
                <a:cs typeface="Arial" pitchFamily="34" charset="0"/>
              </a:rPr>
              <a:t>. Организации и поставщики услуг предлагают заказчикам широкий спектр приложений на базе мобильных технологий. Они обеспечивают повсеместную доступность программных продуктов и услуги для заказчиков, повышают качество обслуживания заказчиков, расширяют присутствие организации на рынке и в перспективе позволяют увеличить прибыль. Множество решений на базе мобильных технологий, например социальные сети, мобильный банкинг, мобильная электронная торговля, геолокационные услуги, облачное хранение, оформление билетов по мобильному телефону и мобильный маркетинг, получили широкое распространение во всем мире.</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Мобильные облачные технологии</a:t>
            </a:r>
            <a:r>
              <a:rPr lang="ru-RU" b="0" i="0" dirty="0">
                <a:solidFill>
                  <a:srgbClr val="000000"/>
                </a:solidFill>
                <a:latin typeface="Arial" pitchFamily="34" charset="0"/>
                <a:cs typeface="Arial" pitchFamily="34" charset="0"/>
              </a:rPr>
              <a:t>. Мобильные облачные технологии представляют собой сочетание облачных технологий, Интернета и беспроводных технологий. Со стремительным распространением мобильных устройств все больше поставщиков облачных услуг предоставляют мобильный доступ к своим услугам. Например, современные поставщики облачных услуг по модели «ПО как услуга» предлагают широкий спектр мобильных приложений для облачного хранения, управления дорожными расходами и другими затратами и управления взаимосвязями с заказчиками. Мобильные облачные технологии также широко используются в организациях, ИТ-службы которых обеспечивают доступность корпоративных облачных услуг для мобильных сотрудников.</a:t>
            </a:r>
          </a:p>
        </p:txBody>
      </p:sp>
    </p:spTree>
    <p:extLst>
      <p:ext uri="{BB962C8B-B14F-4D97-AF65-F5344CB8AC3E}">
        <p14:creationId xmlns:p14="http://schemas.microsoft.com/office/powerpoint/2010/main" val="1675645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рамках данного урока были рассмотрены социальные сети, их анализ и сценарии использования. Кроме того, в этом уроке были рассмотрены мобильные технологии и сценарии их использования.</a:t>
            </a: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рамках этого урока рассматриваются ключевые факторы перехода к третьей платформе, характеристики инфраструктуры третьей платформы, а также условия для бизнеса и ИТ, необходимые для перехода к третьей платформе.</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i="0" dirty="0">
                <a:solidFill>
                  <a:srgbClr val="000000"/>
                </a:solidFill>
                <a:latin typeface="Arial" pitchFamily="34" charset="0"/>
                <a:cs typeface="Arial" pitchFamily="34" charset="0"/>
              </a:rPr>
              <a:t>Для организаций по всему миру существует ряд факторов, которые обуславливают переход к третьей платформе. Некоторые из них описаны ниже.</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Новые и улучшенные бизнес-модели. </a:t>
            </a:r>
            <a:r>
              <a:rPr lang="ru-RU" i="0" dirty="0">
                <a:solidFill>
                  <a:srgbClr val="000000"/>
                </a:solidFill>
                <a:latin typeface="Arial" pitchFamily="34" charset="0"/>
                <a:cs typeface="Arial" pitchFamily="34" charset="0"/>
              </a:rPr>
              <a:t>Организации постоянно стремятся создавать новые бизнес-модели, предложения и структуры затрат, чтобы повышать выручку и получать дополнительные преимущества. Технологии третьей платформы позволяют организациям улучшать существующие бизнес-модели и разрабатывать новые, чтобы создавать дополнительные преимущества для пользователей и заказчиков, оценивать конъюнктуру рынка и динамически реагировать на изменение потребностей пользователей и заказчиков. Например, аналитики извлекают из данных важные сведения, которые могут существенно повысить эффективность принятия решений и реагирования на новые возможности и угрозы.</a:t>
            </a:r>
          </a:p>
          <a:p>
            <a:pPr>
              <a:spcBef>
                <a:spcPts val="600"/>
              </a:spcBef>
              <a:defRPr/>
            </a:pPr>
            <a:r>
              <a:rPr lang="ru-RU" b="1" i="0" dirty="0">
                <a:solidFill>
                  <a:srgbClr val="000000"/>
                </a:solidFill>
                <a:latin typeface="Arial" pitchFamily="34" charset="0"/>
                <a:cs typeface="Arial" pitchFamily="34" charset="0"/>
              </a:rPr>
              <a:t>Оперативность и инновации. </a:t>
            </a:r>
            <a:r>
              <a:rPr lang="ru-RU" i="0" dirty="0">
                <a:solidFill>
                  <a:srgbClr val="000000"/>
                </a:solidFill>
                <a:latin typeface="Arial" pitchFamily="34" charset="0"/>
                <a:cs typeface="Arial" pitchFamily="34" charset="0"/>
              </a:rPr>
              <a:t>В современных условиях высокой конкуренции организации стремятся обеспечить оперативность своих операций и сократить время до выхода на рынок своих продуктов и услуг. Технологии третьей платформы позволяют организациям повышать оперативность своей деятельности и внедрять инновации. Например, вместо того, чтобы следовать традиционному процессу приобретения ресурсов, организационная группа по разработке приложений может выделять вычислительные ресурсы из облачного портала самообслуживания по требованию. Такая оперативность обеспечивает быструю разработку приложений, сокращает время до выхода на рынок и способствует внедрению инноваций и экспериментальных технологий, необходимых для разработки новых продуктов и услуг.</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Интеллектуальные операции. </a:t>
            </a:r>
            <a:r>
              <a:rPr lang="ru-RU" i="0" dirty="0">
                <a:solidFill>
                  <a:srgbClr val="000000"/>
                </a:solidFill>
                <a:latin typeface="Arial" pitchFamily="34" charset="0"/>
                <a:cs typeface="Arial" pitchFamily="34" charset="0"/>
              </a:rPr>
              <a:t>Эффективная работа организаций по всему миру зависит от оптимального сочетания специалистов и технологий. Неэффективные процессы, низкое качество данных и неэффективность связи и совместной работы групп сотрудников могут существенно снизить эффективность операций организации. Использование технологий третьей платформы постоянно создает новые возможности повышения эффективности и продуктивности операций. Например, аналитика позволяет организациям разрабатывать эффективные и экономичные стратегии технического обслуживания и замены оборудования. С помощью технологий третьей платформы можно выполнять мониторинг оборудования, а средства аналитики могут обрабатывать данные в режиме реального времени, чтобы выявлять и прогнозировать сбои устройств. Это также снижает время простоев, связанных со сбоями оборудования.</a:t>
            </a:r>
          </a:p>
          <a:p>
            <a:r>
              <a:rPr lang="ru-RU" b="1" dirty="0">
                <a:latin typeface="Arial" pitchFamily="34" charset="0"/>
                <a:cs typeface="Arial" pitchFamily="34" charset="0"/>
              </a:rPr>
              <a:t>Новые продукты и услуги.</a:t>
            </a:r>
            <a:r>
              <a:rPr lang="ru-RU" dirty="0">
                <a:latin typeface="Arial" pitchFamily="34" charset="0"/>
                <a:cs typeface="Arial" pitchFamily="34" charset="0"/>
              </a:rPr>
              <a:t> Создание новых продуктов и услуг — очень важный процесс для обеспечения непрерывного роста бизнеса и прибыльности организаций. Технологии третьей платформы дают организациям возможность создавать новые и дополнительные продукты и услуги помимо традиционных продуктов. Это позволяет им монетизировать новые предложения, а следовательно, создавать новые возможности для увеличения выручки. В частности, производители используют данные, полученные из датчиков, встроенных в продукты, чтобы предоставлять заказчикам инновационные послепродажные услуги, например упреждающее обслуживание для предотвращения сбоев продукции. Аналитика также позволяет организациям точнее определять предпочтения своих заказчиков и предлагать им специализированные продукты и услуги.</a:t>
            </a:r>
          </a:p>
          <a:p>
            <a:r>
              <a:rPr lang="ru-RU" b="1" dirty="0">
                <a:latin typeface="Arial" pitchFamily="34" charset="0"/>
                <a:cs typeface="Arial" pitchFamily="34" charset="0"/>
              </a:rPr>
              <a:t>Мобильность. </a:t>
            </a:r>
            <a:r>
              <a:rPr lang="ru-RU" dirty="0">
                <a:latin typeface="Arial" pitchFamily="34" charset="0"/>
                <a:cs typeface="Arial" pitchFamily="34" charset="0"/>
              </a:rPr>
              <a:t>Современные сотрудники и заказчики имеют повсеместный доступ к информации и бизнес-приложениям с мобильных устройств. Это повышает эффективность совместной работы и продуктивность сотрудников, а потенциально — и проникновение на рынок и прибыльность.</a:t>
            </a:r>
          </a:p>
          <a:p>
            <a:r>
              <a:rPr lang="ru-RU" b="1" dirty="0">
                <a:latin typeface="Arial" pitchFamily="34" charset="0"/>
                <a:cs typeface="Arial" pitchFamily="34" charset="0"/>
              </a:rPr>
              <a:t>Социальные сети. </a:t>
            </a:r>
            <a:r>
              <a:rPr lang="ru-RU" dirty="0">
                <a:latin typeface="Arial" pitchFamily="34" charset="0"/>
                <a:cs typeface="Arial" pitchFamily="34" charset="0"/>
              </a:rPr>
              <a:t>Организации, ориентированные на взаимодействие с заказчиками, активно работают в социальных сетях. Например, многие организации розничной торговли используют социальные сети для рекламы своих продуктов и услуг и повышения глобальной узнаваемости бренда. Социальные сети делают организации более доступными для новых заказчиков, а также позволяют существующим заказчикам получать больше сведений об этих организациях. Использование социальных сетей становится стандартным подходом к привлечению заказчиков, маркетингу и обеспечению более высокого уровня обслуживания заказчиков. Организации также анализируют социальные сети, чтобы получить полезные сведения о существующих и потенциальных заказчиках. Это помогает им предоставлять более качественные услуги существующим заказчикам и находить новую целевую аудиторию для расширения базы заказчиков. Работа с социальными сетями также зачастую гарантирует организациям более высокую лояльность заказчиков.</a:t>
            </a:r>
          </a:p>
          <a:p>
            <a:pPr fontAlgn="auto">
              <a:spcBef>
                <a:spcPts val="600"/>
              </a:spcBef>
              <a:defRPr/>
            </a:pPr>
            <a:endParaRPr lang="ru-RU"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4982122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914400" eaLnBrk="0" hangingPunct="0">
              <a:defRPr/>
            </a:pPr>
            <a:r>
              <a:rPr lang="ru-RU" dirty="0">
                <a:solidFill>
                  <a:srgbClr val="000000"/>
                </a:solidFill>
                <a:latin typeface="Arial" pitchFamily="34" charset="0"/>
                <a:cs typeface="Arial" pitchFamily="34" charset="0"/>
              </a:rPr>
              <a:t>В модуле 1 «Введение в системы хранения информации» были описаны ключевые характеристики центра обработки данных. Хотя инфраструктура третьей платформы имеет похожие ключевые характеристики, существуют дополнительные требования к инфраструктуре для поддержки ряда возможностей, среди которых мобильность, социальное взаимодействие, аналитика и предоставление ИТ-ресурсов по модели «как услуга» с минимальными затратами. Некоторые ключевые характеристики инфраструктуры третьей платформы описаны ниже.</a:t>
            </a:r>
          </a:p>
          <a:p>
            <a:pPr marL="0" lvl="1" indent="0">
              <a:spcBef>
                <a:spcPts val="1200"/>
              </a:spcBef>
              <a:buNone/>
              <a:defRPr/>
            </a:pPr>
            <a:r>
              <a:rPr lang="ru-RU" b="1" dirty="0">
                <a:solidFill>
                  <a:srgbClr val="000000"/>
                </a:solidFill>
                <a:latin typeface="Arial" pitchFamily="34" charset="0"/>
                <a:cs typeface="Arial" pitchFamily="34" charset="0"/>
              </a:rPr>
              <a:t>Доступность.</a:t>
            </a:r>
            <a:r>
              <a:rPr lang="ru-RU" dirty="0">
                <a:solidFill>
                  <a:srgbClr val="000000"/>
                </a:solidFill>
                <a:latin typeface="Arial" pitchFamily="34" charset="0"/>
                <a:cs typeface="Arial" pitchFamily="34" charset="0"/>
              </a:rPr>
              <a:t> Отказоустойчивость компонентов инфраструктуры и приложений позволяет гарантировать высокую доступность приложений и информации. Отказоустойчивость определяется возможностью инфраструктуры эффективно предоставлять критически важные услуги после сбоя. Для обеспечения защиты и возможности восстановления после плановых простоев, сбоев системы и стихийных бедствий используются различные методы, среди которых резервирование компонентов, кластеризация, создание зон доступности услуг и архитектура приложений с гибкими связями. Эти и другие методы будут описаны далее в этом курсе. </a:t>
            </a:r>
          </a:p>
          <a:p>
            <a:pPr marL="0" lvl="1" indent="0">
              <a:spcBef>
                <a:spcPts val="1200"/>
              </a:spcBef>
              <a:buNone/>
              <a:defRPr/>
            </a:pPr>
            <a:r>
              <a:rPr lang="ru-RU" b="1" dirty="0">
                <a:solidFill>
                  <a:srgbClr val="000000"/>
                </a:solidFill>
                <a:latin typeface="Arial" pitchFamily="34" charset="0"/>
                <a:cs typeface="Arial" pitchFamily="34" charset="0"/>
              </a:rPr>
              <a:t>Безопасность. </a:t>
            </a:r>
            <a:r>
              <a:rPr lang="ru-RU" dirty="0">
                <a:solidFill>
                  <a:srgbClr val="000000"/>
                </a:solidFill>
                <a:latin typeface="Arial" pitchFamily="34" charset="0"/>
                <a:cs typeface="Arial" pitchFamily="34" charset="0"/>
              </a:rPr>
              <a:t>Использование технологий третьей платформы сопряжено с рядом проблем безопасности, среди которых несанкционированный доступ к данным, потери данных, взломы, вредоносное ПО, владение данными и несоответствие требованиям регуляторов и нормам стратегического управления. Для обеспечения безопасности при использовании нескольких технологий третьей платформы используется ряд механизмов безопасности: аутентификация, контроль доступа, брандмауэр, шифрование и т. д. Эти и другие методы будут описаны далее в этом курсе. Средства обеспечения безопасности также могут поддерживать обнаружение угроз, реагирование на инциденты безопасности, ведение отчетности о соответствии требованиям регуляторов и расследование инцидентов путем сбора данных о событиях безопасности из широкого спектра событий и контекстуальных источников данных и их исторического анализа в режиме реального времени.</a:t>
            </a:r>
          </a:p>
          <a:p>
            <a:pPr marL="0" lvl="1" indent="0">
              <a:spcBef>
                <a:spcPts val="1200"/>
              </a:spcBef>
              <a:buNone/>
            </a:pPr>
            <a:r>
              <a:rPr lang="ru-RU" b="1" dirty="0">
                <a:solidFill>
                  <a:srgbClr val="000000"/>
                </a:solidFill>
                <a:latin typeface="Arial" pitchFamily="34" charset="0"/>
                <a:cs typeface="Arial" pitchFamily="34" charset="0"/>
              </a:rPr>
              <a:t>Масштабируемость.</a:t>
            </a:r>
            <a:r>
              <a:rPr lang="ru-RU" dirty="0">
                <a:solidFill>
                  <a:srgbClr val="000000"/>
                </a:solidFill>
                <a:latin typeface="Arial" pitchFamily="34" charset="0"/>
                <a:cs typeface="Arial" pitchFamily="34" charset="0"/>
              </a:rPr>
              <a:t> Инфраструктура третьей платформы обычно отличается высокой масштабируемостью. Такая инфраструктура может без прерывания работы адаптироваться к изменениям рабочих нагрузок приложений и объемов данных. Например, в аналитике больших данных обычно используется горизонтально масштабируемая архитектура (которая будет рассмотрена далее в рамках этого курса), в которой можно добавлять узлы в кластер при повышении требований к обработке и хранению данных. Затем выполняется балансировка рабочей нагрузки и данных между доступными ресурсами.</a:t>
            </a:r>
            <a:endParaRPr lang="en-US" dirty="0">
              <a:latin typeface="Arial" pitchFamily="34" charset="0"/>
              <a:cs typeface="Arial" pitchFamily="34" charset="0"/>
            </a:endParaRPr>
          </a:p>
          <a:p>
            <a:pPr marL="0" lvl="1" indent="0">
              <a:spcBef>
                <a:spcPts val="1200"/>
              </a:spcBef>
              <a:buNone/>
            </a:pPr>
            <a:r>
              <a:rPr lang="ru-RU" b="1" dirty="0">
                <a:solidFill>
                  <a:srgbClr val="000000"/>
                </a:solidFill>
                <a:latin typeface="Arial" pitchFamily="34" charset="0"/>
                <a:cs typeface="Arial" pitchFamily="34" charset="0"/>
              </a:rPr>
              <a:t>Производительность.</a:t>
            </a:r>
            <a:r>
              <a:rPr lang="ru-RU" dirty="0">
                <a:solidFill>
                  <a:srgbClr val="000000"/>
                </a:solidFill>
                <a:latin typeface="Arial" pitchFamily="34" charset="0"/>
                <a:cs typeface="Arial" pitchFamily="34" charset="0"/>
              </a:rPr>
              <a:t> В инфраструктуре третьей платформы возникают смешанные рабочие нагрузки, которые могут состоять из различных сочетаний последовательных или произвольных операций чтения и/или записи, например операций обработки транзакций, аналитики, резервного копирования и восстановления. Некоторые приложения, например решения для аналитики больших данных, используют пакетную обработку и требуют возможности обработки данных в режиме реального времени или близком к реальному времени. Инфраструктура должна поддерживать оптимальный уровень производительности приложений, обеспечивая при этом высокую пропускную способность и низкую задержку. Помимо установки высокопроизводительных компонентов для обеспечения производительности, необходимой для соответствия уровням обслуживания, используется ряд методов, в частности балансировка нагрузки, кэширование и многоуровневое хранение. Эти и другие методы будут описаны далее в этом курсе.</a:t>
            </a:r>
          </a:p>
          <a:p>
            <a:pPr marL="0" lvl="1" indent="0">
              <a:spcBef>
                <a:spcPts val="1200"/>
              </a:spcBef>
              <a:buNone/>
              <a:defRPr/>
            </a:pPr>
            <a:r>
              <a:rPr lang="ru-RU" b="1" dirty="0">
                <a:solidFill>
                  <a:srgbClr val="000000"/>
                </a:solidFill>
                <a:latin typeface="Arial" pitchFamily="34" charset="0"/>
                <a:cs typeface="Arial" pitchFamily="34" charset="0"/>
              </a:rPr>
              <a:t>Простота доступа.</a:t>
            </a:r>
            <a:r>
              <a:rPr lang="ru-RU" dirty="0">
                <a:solidFill>
                  <a:srgbClr val="000000"/>
                </a:solidFill>
                <a:latin typeface="Arial" pitchFamily="34" charset="0"/>
                <a:cs typeface="Arial" pitchFamily="34" charset="0"/>
              </a:rPr>
              <a:t> Один из ключевых факторов для перехода к третьей платформе — возможность доступа к приложениям и информации из любого местоположения с помощью мобильных устройств. Организациям необходимы инфраструктура, программное обеспечение и платформы для разработки приложений, обеспечивающие мобильный доступ к существующим и новым приложениям и информации. </a:t>
            </a:r>
          </a:p>
          <a:p>
            <a:pPr marL="0" lvl="1" indent="0">
              <a:spcBef>
                <a:spcPts val="1200"/>
              </a:spcBef>
              <a:buNone/>
              <a:defRPr/>
            </a:pPr>
            <a:r>
              <a:rPr lang="ru-RU" b="1" dirty="0">
                <a:solidFill>
                  <a:srgbClr val="000000"/>
                </a:solidFill>
                <a:latin typeface="Arial" pitchFamily="34" charset="0"/>
                <a:cs typeface="Arial" pitchFamily="34" charset="0"/>
              </a:rPr>
              <a:t>Функциональная совместимость.</a:t>
            </a:r>
            <a:r>
              <a:rPr lang="ru-RU" dirty="0">
                <a:solidFill>
                  <a:srgbClr val="000000"/>
                </a:solidFill>
                <a:latin typeface="Arial" pitchFamily="34" charset="0"/>
                <a:cs typeface="Arial" pitchFamily="34" charset="0"/>
              </a:rPr>
              <a:t> В среде третьей платформы многочисленные технологии и гетерогенные аппаратные и программные компоненты интегрируются для предоставления услуг конечным пользователям. Функциональная совместимость — это возможность двух или более систем или компонентов совместно использовать информацию и услуги и обмениваться ими. Службы интеграции для обеспечения функциональной совместимости включают детальную разработку и внедрение услуг, которые связывают между собой ИТ-инфраструктуру, данные и функциональность приложений (специализированного и/или коммерческого ПО). Отдельные операции могут включать планирование и управление проектами, детальную разработку и внедрение программных интерфейсов (API), веб-сервисов или межплатформенного ПО.</a:t>
            </a:r>
          </a:p>
          <a:p>
            <a:pPr marL="0" lvl="1" indent="0">
              <a:spcBef>
                <a:spcPts val="1200"/>
              </a:spcBef>
              <a:buNone/>
            </a:pPr>
            <a:r>
              <a:rPr lang="ru-RU" b="1" dirty="0">
                <a:solidFill>
                  <a:srgbClr val="000000"/>
                </a:solidFill>
                <a:latin typeface="Arial" pitchFamily="34" charset="0"/>
                <a:cs typeface="Arial" pitchFamily="34" charset="0"/>
              </a:rPr>
              <a:t>Управляемость.</a:t>
            </a:r>
            <a:r>
              <a:rPr lang="ru-RU" dirty="0">
                <a:solidFill>
                  <a:srgbClr val="000000"/>
                </a:solidFill>
                <a:latin typeface="Arial" pitchFamily="34" charset="0"/>
                <a:cs typeface="Arial" pitchFamily="34" charset="0"/>
              </a:rPr>
              <a:t> В среде третьей платформы очень важны простота и гибкость управления инфраструктурой. Средства управления предоставляют единую панель для выполнения всех процессов управления в инфраструктуре. Средства, которые позволяют выполнять задачи многосторонней оркестрации и автоматизации, развертываются для повышения эффективности и ускорения выделения ресурсов. Автоматизация и оркестрация услуг также поддерживают самообслуживание (которое обеспечивает оперативность) и измерение показателей обслуживания. Предварительно интегрированные или стандартные компоненты также широко используются для упрощения установки и управления. Процессы управления будут рассмотрены далее в этом курсе.</a:t>
            </a:r>
          </a:p>
          <a:p>
            <a:pPr marL="0" lvl="1" indent="0">
              <a:spcBef>
                <a:spcPts val="1200"/>
              </a:spcBef>
              <a:buNone/>
            </a:pPr>
            <a:endParaRPr lang="ru-RU"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194126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dirty="0">
                <a:solidFill>
                  <a:srgbClr val="000000"/>
                </a:solidFill>
                <a:latin typeface="Arial" pitchFamily="34" charset="0"/>
                <a:cs typeface="Arial" pitchFamily="34" charset="0"/>
              </a:rPr>
              <a:t>В настоящее время с появлением третьей платформы ИТ-директора и руководители бизнес-подразделений в организациях получают беспрецедентные возможности. Третья платформа способствует внедрению инноваций и росту предприятий, а также позволяет получать значительные конкурентные преимущества за счет продуманного использования технологий третьей платформы. Для внедрения третьей платформы организациям необходимо трансформировать взаимодействие со своими сотрудниками и заказчиками, оперативность предоставления продуктов и услуг, а также эффективность и отказоустойчивость операций. Организациям необходимо поддерживать распространение новых устройств на рабочих местах, гарантировать соответствие требованиям мобильного персонала, управлять быстрорастущими объемами данных и обеспечить значимость и безопасность информации в многочисленных источниках данных на предприятии и за его пределами. Все это трансформирует традиционную ИТ-среду и изменяет роли ИТ-специалистов.</a:t>
            </a:r>
          </a:p>
          <a:p>
            <a:pPr>
              <a:spcBef>
                <a:spcPts val="600"/>
              </a:spcBef>
            </a:pPr>
            <a:r>
              <a:rPr lang="ru-RU" dirty="0">
                <a:solidFill>
                  <a:srgbClr val="000000"/>
                </a:solidFill>
                <a:latin typeface="Arial" pitchFamily="34" charset="0"/>
                <a:cs typeface="Arial" pitchFamily="34" charset="0"/>
              </a:rPr>
              <a:t>Некоторые ключевые требования, которым должны соответствовать организации для перехода к третьей платформе, описаны ниже.</a:t>
            </a:r>
          </a:p>
          <a:p>
            <a:pPr marR="0" defTabSz="457200" rtl="0" eaLnBrk="1" fontAlgn="t" latinLnBrk="0" hangingPunct="1">
              <a:spcBef>
                <a:spcPts val="600"/>
              </a:spcBef>
              <a:buClrTx/>
              <a:buSzTx/>
              <a:tabLst/>
              <a:defRPr/>
            </a:pPr>
            <a:r>
              <a:rPr lang="ru-RU" u="none" dirty="0">
                <a:solidFill>
                  <a:srgbClr val="000000"/>
                </a:solidFill>
                <a:latin typeface="Arial" pitchFamily="34" charset="0"/>
                <a:cs typeface="Arial" pitchFamily="34" charset="0"/>
              </a:rPr>
              <a:t>Трансформация операционной модели. Традиционно запросы, связанные с ИТ, проходят длительный процесс утверждения и обработки, что снижает оперативность и препятствует инновациям. Внедрение операционной модели «ИТ как услуга» (ITaaS) </a:t>
            </a:r>
            <a:r>
              <a:rPr lang="ru-RU" dirty="0">
                <a:solidFill>
                  <a:srgbClr val="000000"/>
                </a:solidFill>
                <a:latin typeface="Arial" pitchFamily="34" charset="0"/>
                <a:cs typeface="Arial" pitchFamily="34" charset="0"/>
              </a:rPr>
              <a:t>трансформирует традиционные методы предоставления ИТ-ресурсов, переводя их в парадигму услуг</a:t>
            </a:r>
            <a:r>
              <a:rPr lang="ru-RU" u="none" dirty="0">
                <a:solidFill>
                  <a:srgbClr val="000000"/>
                </a:solidFill>
                <a:latin typeface="Arial" pitchFamily="34" charset="0"/>
                <a:cs typeface="Arial" pitchFamily="34" charset="0"/>
              </a:rPr>
              <a:t>. ИТ-ресурсы находят применение в бизнесе, а для удобного использования услуг выполняется их объединение в пакеты и оркестрация. ИТ-услуги находятся в каталоге услуг, что позволяет бизнес-подразделениям выделять ресурсы или развертывать новые приложения в режиме самообслуживания. Это позволяет организациям обеспечивать оперативность бизнеса. Модель «ИТ как услуга» (ITaaS) предоставляет гибкую модель затрат, снижает фиксированные затраты и позволяет использовать несколько вариантов источников ресурсов. Доступность множества средств и технологий обеспечивает возможность </a:t>
            </a:r>
            <a:r>
              <a:rPr lang="ru-RU" dirty="0">
                <a:solidFill>
                  <a:srgbClr val="000000"/>
                </a:solidFill>
                <a:latin typeface="Arial" pitchFamily="34" charset="0"/>
                <a:cs typeface="Arial" pitchFamily="34" charset="0"/>
              </a:rPr>
              <a:t>предоставлять ИТ-ресурсы как услугу, создавая модель «все как услуга» (XaaS).</a:t>
            </a:r>
            <a:r>
              <a:rPr lang="ru-RU" u="none" dirty="0">
                <a:solidFill>
                  <a:srgbClr val="000000"/>
                </a:solidFill>
                <a:latin typeface="Arial" pitchFamily="34" charset="0"/>
                <a:cs typeface="Arial" pitchFamily="34" charset="0"/>
              </a:rPr>
              <a:t> Модель ITaaS представляет собой важное средство обеспечения необходимых организациям возможностей реагирования и экономичности. Сюда входит значительная автоматизация рутинных ИТ-задач, представление услуг на портале самообслуживания и оптимизация производственных процессов. </a:t>
            </a:r>
          </a:p>
          <a:p>
            <a:r>
              <a:rPr lang="ru-RU" b="1" dirty="0">
                <a:latin typeface="Arial" pitchFamily="34" charset="0"/>
                <a:cs typeface="Arial" pitchFamily="34" charset="0"/>
              </a:rPr>
              <a:t>Трансформация организации. </a:t>
            </a:r>
            <a:r>
              <a:rPr lang="ru-RU" dirty="0">
                <a:latin typeface="Arial" pitchFamily="34" charset="0"/>
                <a:cs typeface="Arial" pitchFamily="34" charset="0"/>
              </a:rPr>
              <a:t>При трансформации организации основное внимание уделяется изменению ИТ-службы и ролей ее сотрудников при переходе к третьей платформе. В связи с необходимостью предоставлять услуги вместо технологий и управлять этими услугами возникают новые роли и обязанности. Эти новые роли включают выполнение задач, связанных с определением и созданием услуг, администрирование услуг и управление ими, стратегическое управление, создание политик услуг, а также управление потребителями услуг. Например, ИТ-ресурсы можно переместить из центра затрат в среду стратегического бизнес-партнера в организации, а ИТ-руководители могут выполнять обязанности консультантов по вопросам облачных технологий или финансовых менеджеров компании, предоставляющей ИТ-услуги. Примеры новых ролей в среде третьей платформы: менеджер по предоставлению услуг, менеджер по работе с заказчиками, архитектор облачных систем, специалист по планированию емкости и руководитель сервисных операций.</a:t>
            </a:r>
          </a:p>
          <a:p>
            <a:r>
              <a:rPr lang="ru-RU" b="1" dirty="0">
                <a:latin typeface="Arial" pitchFamily="34" charset="0"/>
                <a:cs typeface="Arial" pitchFamily="34" charset="0"/>
              </a:rPr>
              <a:t>Трансформация технологий. </a:t>
            </a:r>
            <a:r>
              <a:rPr lang="ru-RU" dirty="0">
                <a:latin typeface="Arial" pitchFamily="34" charset="0"/>
                <a:cs typeface="Arial" pitchFamily="34" charset="0"/>
              </a:rPr>
              <a:t>Трансформация технологий имеет два аспекта: трансформация приложений и трансформация инфраструктуры. </a:t>
            </a:r>
            <a:r>
              <a:rPr lang="ru-RU" i="1" dirty="0">
                <a:latin typeface="Arial" pitchFamily="34" charset="0"/>
                <a:cs typeface="Arial" pitchFamily="34" charset="0"/>
              </a:rPr>
              <a:t>Трансформация приложений</a:t>
            </a:r>
            <a:r>
              <a:rPr lang="ru-RU" dirty="0">
                <a:latin typeface="Arial" pitchFamily="34" charset="0"/>
                <a:cs typeface="Arial" pitchFamily="34" charset="0"/>
              </a:rPr>
              <a:t> включает согласование предоставления приложений в облаке и расширение функциональности приложений за счет возможностей аналитики и мобильного предоставления. Варианты облачных источников ПО позволяют консолидировать похожие приложения. Организации также могут выбрать в качестве источника каждого типа приложений одно частное или публичное облако, при этом оставляя некоторые приложения в устаревшей инфраструктуре. Выбор подходящих источников приложений для оптимальной облачной модели снижает количество точек интеграции для ИТ и обеспечивает более высокий уровень стандартизации и операционной эффективности. </a:t>
            </a:r>
            <a:r>
              <a:rPr lang="ru-RU" i="1" dirty="0">
                <a:latin typeface="Arial" pitchFamily="34" charset="0"/>
                <a:cs typeface="Arial" pitchFamily="34" charset="0"/>
              </a:rPr>
              <a:t>Трансформация инфраструктуры </a:t>
            </a:r>
            <a:r>
              <a:rPr lang="ru-RU" dirty="0">
                <a:latin typeface="Arial" pitchFamily="34" charset="0"/>
                <a:cs typeface="Arial" pitchFamily="34" charset="0"/>
              </a:rPr>
              <a:t>включает создание стандартизованной, экономичной и оперативной инфраструктуры третьей платформы с возможностью поддержки существующих и трансформированных приложений и создания основы для автоматизации. Этого можно добиться за счет виртуализации и использования программно-определяемых технологий (они будут рассмотрены далее в рамках данного курса). Эти технологии позволяют ИТ-службам консолидировать ресурсы и оптимизировать их использование, устранить изолированные точки хранения в ИТ-инфраструктуре и уменьшить длительное время циклов реагирования на новые бизнес-запросы.</a:t>
            </a:r>
          </a:p>
          <a:p>
            <a:r>
              <a:rPr lang="ru-RU" b="1" dirty="0">
                <a:latin typeface="Arial" pitchFamily="34" charset="0"/>
                <a:cs typeface="Arial" pitchFamily="34" charset="0"/>
              </a:rPr>
              <a:t>Трансформация навыков. </a:t>
            </a:r>
            <a:r>
              <a:rPr lang="ru-RU" dirty="0">
                <a:latin typeface="Arial" pitchFamily="34" charset="0"/>
                <a:cs typeface="Arial" pitchFamily="34" charset="0"/>
              </a:rPr>
              <a:t>Из-за изменения ролей ИТ-специалистов им необходимо приобретать навыки работы с новыми технологиями, а также ориентированные на бизнес навыки коммуникации, маркетинга и управления обслуживанием. Многие организации построены вокруг технологий второй платформы, а внедрение инновационных решений третьей платформы требует наличия новых навыков и экспертных знаний. Навыки в работы с облаками, большими данными, социальными сетями и мобильными технологиями, согласно прогнозам IDC, в течение следующих двадцати лет станут новыми ключевыми навыками ИТ-специалистов. Помимо технических навыков, также важны личные качества, например коммуникабельность, умение работать в коллективе и в сети, творческий подход, умение налаживать взаимосвязи и решать проблемы. Организации могут также внедрить гибридный подход к выработке специфических навыков у своих внутренних специалистов, акцентируя внимание на их ключевой компетенции и при этом передавая мене важные задачи партнерам, поставщикам и сторонним поставщикам услуг. </a:t>
            </a:r>
          </a:p>
          <a:p>
            <a:pPr marR="0" defTabSz="457200" rtl="0" eaLnBrk="1" fontAlgn="t" latinLnBrk="0" hangingPunct="1">
              <a:spcBef>
                <a:spcPts val="600"/>
              </a:spcBef>
              <a:buClrTx/>
              <a:buSzTx/>
              <a:tabLst/>
              <a:defRPr/>
            </a:pPr>
            <a:endParaRPr lang="ru-RU"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32766845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i="0" dirty="0">
                <a:solidFill>
                  <a:srgbClr val="000000"/>
                </a:solidFill>
                <a:latin typeface="Arial" pitchFamily="34" charset="0"/>
                <a:cs typeface="Arial" pitchFamily="34" charset="0"/>
              </a:rPr>
              <a:t>В рамках этого урока были рассмотрены ключевые факторы перехода к третьей платформе, характеристики инфраструктуры третьей платформы, а также необходимые условия для перехода к третьей платформе.</a:t>
            </a:r>
            <a:endParaRPr lang="en-US" i="0" dirty="0">
              <a:solidFill>
                <a:srgbClr val="000000"/>
              </a:solidFill>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разделе «Практическая реализация концепций» рассматриваются решения VMware vCloud Air, Pivotal Cloud Foundry, EMC Syncplicity, Pivotal GemFire и Pivotal Greenplum Database.</a:t>
            </a:r>
          </a:p>
          <a:p>
            <a:pPr>
              <a:spcBef>
                <a:spcPts val="600"/>
              </a:spcBef>
            </a:pPr>
            <a:r>
              <a:rPr lang="ru-RU" b="0" i="1" dirty="0">
                <a:solidFill>
                  <a:srgbClr val="000000"/>
                </a:solidFill>
                <a:latin typeface="Arial" pitchFamily="34" charset="0"/>
                <a:cs typeface="Arial" pitchFamily="34" charset="0"/>
              </a:rPr>
              <a:t>Примечание.</a:t>
            </a:r>
          </a:p>
          <a:p>
            <a:pPr>
              <a:spcBef>
                <a:spcPts val="600"/>
              </a:spcBef>
            </a:pPr>
            <a:r>
              <a:rPr lang="ru-RU" b="0" i="1" dirty="0">
                <a:solidFill>
                  <a:srgbClr val="000000"/>
                </a:solidFill>
                <a:latin typeface="Arial" pitchFamily="34" charset="0"/>
                <a:cs typeface="Arial" pitchFamily="34" charset="0"/>
              </a:rPr>
              <a:t>Актуальную информацию о продуктах VMware см. на сайте </a:t>
            </a:r>
            <a:r>
              <a:rPr lang="ru-RU" b="0" i="1" dirty="0">
                <a:solidFill>
                  <a:srgbClr val="000000"/>
                </a:solidFill>
                <a:latin typeface="Arial" pitchFamily="34" charset="0"/>
                <a:cs typeface="Arial" pitchFamily="34" charset="0"/>
                <a:hlinkClick r:id="rId3"/>
              </a:rPr>
              <a:t>http://www.vmware.com/ru/</a:t>
            </a:r>
            <a:r>
              <a:rPr lang="ru-RU" b="0" i="1" dirty="0">
                <a:solidFill>
                  <a:srgbClr val="000000"/>
                </a:solidFill>
                <a:latin typeface="Arial" pitchFamily="34" charset="0"/>
                <a:cs typeface="Arial" pitchFamily="34" charset="0"/>
              </a:rPr>
              <a:t>.</a:t>
            </a:r>
          </a:p>
          <a:p>
            <a:pPr>
              <a:spcBef>
                <a:spcPts val="600"/>
              </a:spcBef>
            </a:pPr>
            <a:r>
              <a:rPr lang="ru-RU" b="0" i="1" dirty="0">
                <a:solidFill>
                  <a:srgbClr val="000000"/>
                </a:solidFill>
                <a:latin typeface="Arial" pitchFamily="34" charset="0"/>
                <a:cs typeface="Arial" pitchFamily="34" charset="0"/>
              </a:rPr>
              <a:t>Актуальную информацию о продуктах Pivotal см. на сайте </a:t>
            </a:r>
            <a:r>
              <a:rPr lang="ru-RU" b="0" i="1" dirty="0">
                <a:solidFill>
                  <a:srgbClr val="000000"/>
                </a:solidFill>
                <a:latin typeface="Arial" pitchFamily="34" charset="0"/>
                <a:cs typeface="Arial" pitchFamily="34" charset="0"/>
                <a:hlinkClick r:id="rId4"/>
              </a:rPr>
              <a:t>www.pivotal.io</a:t>
            </a:r>
            <a:r>
              <a:rPr lang="ru-RU" b="0" i="1" dirty="0">
                <a:solidFill>
                  <a:srgbClr val="000000"/>
                </a:solidFill>
                <a:latin typeface="Arial" pitchFamily="34" charset="0"/>
                <a:cs typeface="Arial" pitchFamily="34" charset="0"/>
              </a:rPr>
              <a:t>.</a:t>
            </a:r>
          </a:p>
          <a:p>
            <a:pPr marL="0" marR="0" indent="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Актуальную информацию о продуктах EMC Syncplicity см. на сайте </a:t>
            </a:r>
            <a:r>
              <a:rPr lang="ru-RU" b="0" i="1" dirty="0">
                <a:solidFill>
                  <a:srgbClr val="000000"/>
                </a:solidFill>
                <a:latin typeface="Arial" pitchFamily="34" charset="0"/>
                <a:cs typeface="Arial" pitchFamily="34" charset="0"/>
                <a:hlinkClick r:id="rId5"/>
              </a:rPr>
              <a:t>www.syncplicity.com</a:t>
            </a:r>
            <a:r>
              <a:rPr lang="ru-RU" b="0" i="1" dirty="0">
                <a:solidFill>
                  <a:srgbClr val="000000"/>
                </a:solidFill>
                <a:latin typeface="Arial" pitchFamily="34" charset="0"/>
                <a:cs typeface="Arial" pitchFamily="34" charset="0"/>
              </a:rPr>
              <a:t>.</a:t>
            </a:r>
          </a:p>
          <a:p>
            <a:pPr marL="0" marR="0" indent="0" defTabSz="457200" rtl="0" eaLnBrk="1" fontAlgn="auto" latinLnBrk="0" hangingPunct="1">
              <a:spcBef>
                <a:spcPts val="600"/>
              </a:spcBef>
              <a:buClrTx/>
              <a:buSzTx/>
              <a:buFontTx/>
              <a:buNone/>
              <a:tabLst/>
              <a:defRPr/>
            </a:pPr>
            <a:endParaRPr lang="ru-RU" i="1"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1" i="0" dirty="0">
                <a:solidFill>
                  <a:srgbClr val="000000"/>
                </a:solidFill>
                <a:latin typeface="Arial" pitchFamily="34" charset="0"/>
                <a:cs typeface="Arial" pitchFamily="34" charset="0"/>
              </a:rPr>
              <a:t>VMware vCloud Air </a:t>
            </a:r>
            <a:r>
              <a:rPr lang="ru-RU" i="0" dirty="0">
                <a:solidFill>
                  <a:srgbClr val="000000"/>
                </a:solidFill>
                <a:latin typeface="Arial" pitchFamily="34" charset="0"/>
                <a:cs typeface="Arial" pitchFamily="34" charset="0"/>
              </a:rPr>
              <a:t>— это защищенное публичное облако, которым владеет и управляет компания VMware, предоставляющая модель «инфраструктура как услуга» для корпоративных сценариев использования, среди которых передача существующих рабочих нагрузок центра обработки данных в публичное облако, миграция приложений из локальных облаков в публичное облако, разработка новых приложений и аварийное восстановление. Оно создано на основе vSphere и совместимо с существующими локальными облаками VMware. Это решение позволяет организациям внедрять модель гибридного облака путем бесперебойного расширения своих локальных облаков в частное облако. vCloud Air обеспечивает работу существующих приложений в публичном облаке без необходимости их перезаписи или изменения архитектуры. Организации могут использовать те же средства, навыки и политики для работы в социальных сетях, обеспечения безопасности и управления, которые они используют в своих локальных средах. Консолидированное представление распределенных ресурсов позволяет администраторам управлять использованием ресурсов. vCloud Air включает три основных предложения услуг (в будущем их станет больше): Dedicated Cloud (однопользовательский, физически изолированный облачный сервис), Virtual Private Cloud (логически изолированный многопользовательский облачный сервис) и Disaster Recovery (облачный сервис аварийного восстановления). vCloud Air предоставляет варианты оплаты по подписке на определенный период времени или платы за фактическое использование.</a:t>
            </a:r>
          </a:p>
          <a:p>
            <a:pPr>
              <a:spcBef>
                <a:spcPts val="600"/>
              </a:spcBef>
            </a:pPr>
            <a:r>
              <a:rPr lang="ru-RU" b="1" i="0" dirty="0">
                <a:solidFill>
                  <a:srgbClr val="000000"/>
                </a:solidFill>
                <a:latin typeface="Arial" pitchFamily="34" charset="0"/>
                <a:cs typeface="Arial" pitchFamily="34" charset="0"/>
              </a:rPr>
              <a:t>Pivotal Cloud Foundry (CF) </a:t>
            </a:r>
            <a:r>
              <a:rPr lang="ru-RU" i="0" dirty="0">
                <a:solidFill>
                  <a:srgbClr val="000000"/>
                </a:solidFill>
                <a:latin typeface="Arial" pitchFamily="34" charset="0"/>
                <a:cs typeface="Arial" pitchFamily="34" charset="0"/>
              </a:rPr>
              <a:t>— это корпоративная платформа, предоставляемая как услуга, которая создана на базе проекта Cloud Foundry модели PaaS с открытым исходным кодом. Проект Cloud Foundry с открытым исходным кодом поддерживается организацией Cloud Foundry Foundation, в которой состоят множество глобальных предприятий. Pivotal CF на базе Cloud Foundry обеспечивает простую разработку, развертывание и эксплуатацию приложений как в частном, так и в публичном облаке. Это решение поддерживает несколько языков и средств программирования, включая Java, Ruby, Node.js, PHP и Python. Оно поддерживает оперативную разработку приложений и позволяет разработчикам непрерывно обновлять и горизонтально масштабировать веб-приложения и приложения третьей платформы без простоев. Разработчики могут быстро разрабатывать и развертывать приложения без необходимости настройки или управления базовой облачной инфраструктурой. Pivotal CF также поддерживает несколько ведущих сервисов управления данными, например Jenkins, MongoDB, MySQL, Redis и Hadoop. Использование открытых стандартов позволяет выполнять миграцию приложений между совместимыми публичными и частными облаками. Pivotal CF предоставляет унифицированную консоль управления для всей платформы, которая позволяет осуществлять тщательный мониторинг приложений и инфраструктуры.</a:t>
            </a:r>
          </a:p>
          <a:p>
            <a:pPr>
              <a:spcBef>
                <a:spcPts val="600"/>
              </a:spcBef>
            </a:pPr>
            <a:r>
              <a:rPr lang="ru-RU" b="1" dirty="0">
                <a:latin typeface="Arial" pitchFamily="34" charset="0"/>
                <a:cs typeface="Arial" pitchFamily="34" charset="0"/>
              </a:rPr>
              <a:t>EMC Syncplicity </a:t>
            </a:r>
            <a:r>
              <a:rPr lang="ru-RU" dirty="0">
                <a:latin typeface="Arial" pitchFamily="34" charset="0"/>
                <a:cs typeface="Arial" pitchFamily="34" charset="0"/>
              </a:rPr>
              <a:t>— это решение корпоративного класса, созданное по модели «ПО как услуга», для общего онлайн-доступа к файлам, совместной работы и защиты данных. Оно позволяет бизнес-пользователям предоставлять общий доступ к файлам и папкам и вести совместную работу с другими пользователями. Оно поддерживает мобильный и веб-доступ к файлам с любого устройства. Кроме того, файлы доступны в автономном режиме. Это решение синхронизирует изменения файлов на всех устройствах в режиме реального времени, что гарантирует постоянную защиту документов и их доступность на любом устройстве. В случае сбоя устройства доступ к файлам можно будет осуществлять с других устройств. Это позволяет сотрудникам использовать для работы личные устройства, при этом обеспечивая контроль доступа, единый вход, шифрование данных и другие функции корпоративного класса. В настоящее время существует четыре предложения Syncplicity: Personal Edition (для отдельных лиц), Business Edition (для предприятий малого и среднего бизнеса), Department Edition (для отделов предприятий) и Enterprise Edition. Версия Enterprise Edition поддерживает варианты публичного, локального и гибридного развертываний.</a:t>
            </a:r>
          </a:p>
        </p:txBody>
      </p:sp>
    </p:spTree>
    <p:extLst>
      <p:ext uri="{BB962C8B-B14F-4D97-AF65-F5344CB8AC3E}">
        <p14:creationId xmlns:p14="http://schemas.microsoft.com/office/powerpoint/2010/main" val="16148772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a:spcBef>
                <a:spcPts val="600"/>
              </a:spcBef>
              <a:defRPr/>
            </a:pPr>
            <a:r>
              <a:rPr lang="ru-RU" sz="900" b="1" i="0" dirty="0">
                <a:solidFill>
                  <a:srgbClr val="000000"/>
                </a:solidFill>
                <a:latin typeface="Arial" pitchFamily="34" charset="0"/>
                <a:cs typeface="Arial" pitchFamily="34" charset="0"/>
              </a:rPr>
              <a:t>Pivotal GemFire</a:t>
            </a:r>
            <a:r>
              <a:rPr lang="ru-RU" sz="900" b="0" i="0" dirty="0">
                <a:solidFill>
                  <a:srgbClr val="000000"/>
                </a:solidFill>
                <a:latin typeface="Arial" pitchFamily="34" charset="0"/>
                <a:cs typeface="Arial" pitchFamily="34" charset="0"/>
              </a:rPr>
              <a:t> — это распределенная размещаемая в памяти база данных для высокопроизводительных приложений NoSQL. GemFire хранит все операционные данные в ОЗУ в распределенных узлах для обеспечения быстрого доступа к данным, минимизируя потери производительности при считывании с устройств хранения. Это обеспечивает для приложений доступ к данным с низкой задержкой при большом масштабе и множестве параллельных транзакций, задействующих терабайты операционных данных. Решение GemFire предназначено для обеспечения согласованности параллельных операций в распределенных узлах данных и поддерживает транзакции, отвечающие требованиям ACID (атомарность, непротиворечивость, выявление, долговечность), для крупномасштабных приложений, например в сферах биржевой торговли, финансовых платежей и продажи билетов, где каждый день осуществляются миллионы транзакций. GemFire обеспечивает линейную масштабируемость, которая позволяет предсказуемо увеличивать емкость и объемы хранимых данных за счет добавления дополнительных узлов в кластер. Распределение данных и использование ресурсов системы автоматически регулируются по мере добавления или удаления узлов, что упрощает горизонтальное и вертикальное масштабирование для быстрого реагирования на ожидаемые и неожиданные пики спроса. GemFire предоставляет встроенные кластеры для аварийного переключения на резервный ресурс и отказоустойчивые кластеры самовосстановления, позволяющие разработчикам обеспечить соответствие самым строгим требованиям к уровням обслуживания в отношении доступности данных. Это решение имеет встроенную поддержку языков программирования Java, C++ и C#, а приложения, написанные на других языках программирования, поддерживаются с помощью программного интерфейса REST API.</a:t>
            </a:r>
          </a:p>
          <a:p>
            <a:pPr marL="0" marR="0" indent="0" defTabSz="457200" rtl="0" eaLnBrk="1" fontAlgn="auto" latinLnBrk="0" hangingPunct="1">
              <a:spcBef>
                <a:spcPts val="600"/>
              </a:spcBef>
              <a:buClrTx/>
              <a:buSzTx/>
              <a:buFontTx/>
              <a:buNone/>
              <a:tabLst/>
              <a:defRPr/>
            </a:pPr>
            <a:r>
              <a:rPr lang="ru-RU" sz="900" b="1" i="0" dirty="0">
                <a:solidFill>
                  <a:srgbClr val="000000"/>
                </a:solidFill>
                <a:latin typeface="Arial" pitchFamily="34" charset="0"/>
                <a:cs typeface="Arial" pitchFamily="34" charset="0"/>
              </a:rPr>
              <a:t>Pivotal Greenplum Database</a:t>
            </a:r>
            <a:r>
              <a:rPr lang="ru-RU" sz="900" b="0" i="0" dirty="0">
                <a:solidFill>
                  <a:srgbClr val="000000"/>
                </a:solidFill>
                <a:latin typeface="Arial" pitchFamily="34" charset="0"/>
                <a:cs typeface="Arial" pitchFamily="34" charset="0"/>
              </a:rPr>
              <a:t> — это комплексное решение SMAQ, предназначенное для бизнес-аналитики и аналитики больших данных. Это решение имеет линейно масштабируемую архитектуру с массовым параллелизмом (MPP), которая позволяет хранить и анализировать терабайты и даже петабайты данных. В этой архитектуре каждый узел сервера функционирует как автономная система управления базами данных, которая владеет и управляет четко определенным сегментом данных. Она обеспечивает автоматическую параллелизацию без необходимости ручного разделения на сегменты или настройки. Система автоматически распределяет данные и обеспечивает параллельную обработку рабочих нагрузок запросов на всем доступном оборудовании. Аналитика в базе данных осуществляется благодаря поддержке высокопроизводительного и гибкого обмена данными между Hadoop и Greenplum Database. Это решение имеет встроенную поддержку SQL, MapReduce и программируемой аналитики. Кроме того, оно предоставляет средства для управления базами данных, резервного копирования и аварийного восстановления.</a:t>
            </a:r>
          </a:p>
        </p:txBody>
      </p:sp>
    </p:spTree>
    <p:extLst>
      <p:ext uri="{BB962C8B-B14F-4D97-AF65-F5344CB8AC3E}">
        <p14:creationId xmlns:p14="http://schemas.microsoft.com/office/powerpoint/2010/main" val="16148772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модуле были рассмотрены облачные технологи и их основные характеристики. Кроме того, в рамках данного модуля были описаны модели облачных услуг и модели развертывания облаков. Затем в этом модуле была рассмотрена аналитика больших данных. В нем также были описаны работа в социальных сетях и мобильные технологии. Наконец, в этом модуле были приведены ключевые характеристики инфраструктуры третьей платформы и основные требования для перехода к третьей платформе.</a:t>
            </a:r>
          </a:p>
          <a:p>
            <a:pPr>
              <a:spcBef>
                <a:spcPts val="600"/>
              </a:spcBef>
            </a:pPr>
            <a:r>
              <a:rPr lang="ru-RU" b="0" i="0" dirty="0">
                <a:solidFill>
                  <a:srgbClr val="000000"/>
                </a:solidFill>
                <a:latin typeface="Arial" pitchFamily="34" charset="0"/>
                <a:cs typeface="Arial" pitchFamily="34" charset="0"/>
              </a:rPr>
              <a:t>Модуль завершен.</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7037498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8972343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5"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028807" y="3105151"/>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0" name="Text Box 78"/>
          <p:cNvSpPr txBox="1">
            <a:spLocks noChangeArrowheads="1"/>
          </p:cNvSpPr>
          <p:nvPr/>
        </p:nvSpPr>
        <p:spPr bwMode="auto">
          <a:xfrm>
            <a:off x="3352800" y="4933950"/>
            <a:ext cx="4343402" cy="153888"/>
          </a:xfrm>
          <a:prstGeom prst="rect">
            <a:avLst/>
          </a:prstGeom>
          <a:noFill/>
          <a:ln w="9525">
            <a:noFill/>
            <a:miter lim="800000"/>
            <a:headEnd/>
            <a:tailEnd/>
          </a:ln>
        </p:spPr>
        <p:txBody>
          <a:bodyPr wrap="square" lIns="0" tIns="0" rIns="0" bIns="0">
            <a:spAutoFit/>
          </a:bodyPr>
          <a:lstStyle/>
          <a:p>
            <a:pPr algn="r">
              <a:spcBef>
                <a:spcPts val="600"/>
              </a:spcBef>
            </a:pPr>
            <a:r>
              <a:rPr lang="en-US" sz="1000" b="0" i="0" baseline="0" noProof="0" dirty="0" err="1">
                <a:solidFill>
                  <a:srgbClr val="10100F"/>
                </a:solidFill>
                <a:latin typeface="Arial" pitchFamily="34" charset="0"/>
                <a:cs typeface="Arial" pitchFamily="34" charset="0"/>
              </a:rPr>
              <a:t>Контактное</a:t>
            </a:r>
            <a:r>
              <a:rPr lang="en-US" sz="1000" b="0" i="0" baseline="0" noProof="0" dirty="0">
                <a:solidFill>
                  <a:srgbClr val="10100F"/>
                </a:solidFill>
                <a:latin typeface="Arial" pitchFamily="34" charset="0"/>
                <a:cs typeface="Arial" pitchFamily="34" charset="0"/>
              </a:rPr>
              <a:t> </a:t>
            </a:r>
            <a:r>
              <a:rPr lang="en-US" sz="1000" b="0" i="0" baseline="0" noProof="0" dirty="0" err="1">
                <a:solidFill>
                  <a:srgbClr val="10100F"/>
                </a:solidFill>
                <a:latin typeface="Arial" pitchFamily="34" charset="0"/>
                <a:cs typeface="Arial" pitchFamily="34" charset="0"/>
              </a:rPr>
              <a:t>лицо</a:t>
            </a:r>
            <a:r>
              <a:rPr lang="en-US" sz="1000" b="0" i="0" baseline="0" noProof="0" dirty="0">
                <a:solidFill>
                  <a:srgbClr val="10100F"/>
                </a:solidFill>
                <a:latin typeface="Arial" pitchFamily="34" charset="0"/>
                <a:cs typeface="Arial" pitchFamily="34" charset="0"/>
              </a:rPr>
              <a:t> </a:t>
            </a:r>
            <a:r>
              <a:rPr lang="en-US" sz="1000" b="0" i="0" baseline="0" noProof="0" dirty="0" err="1">
                <a:solidFill>
                  <a:srgbClr val="10100F"/>
                </a:solidFill>
                <a:latin typeface="Arial" pitchFamily="34" charset="0"/>
                <a:cs typeface="Arial" pitchFamily="34" charset="0"/>
              </a:rPr>
              <a:t>по</a:t>
            </a:r>
            <a:r>
              <a:rPr lang="en-US" sz="1000" b="0" i="0" baseline="0" noProof="0" dirty="0">
                <a:solidFill>
                  <a:srgbClr val="10100F"/>
                </a:solidFill>
                <a:latin typeface="Arial" pitchFamily="34" charset="0"/>
                <a:cs typeface="Arial" pitchFamily="34" charset="0"/>
              </a:rPr>
              <a:t> </a:t>
            </a:r>
            <a:r>
              <a:rPr lang="en-US" sz="1000" b="0" i="0" baseline="0" noProof="0" dirty="0" err="1">
                <a:solidFill>
                  <a:srgbClr val="10100F"/>
                </a:solidFill>
                <a:latin typeface="Arial" pitchFamily="34" charset="0"/>
                <a:cs typeface="Arial" pitchFamily="34" charset="0"/>
              </a:rPr>
              <a:t>поддержке</a:t>
            </a:r>
            <a:r>
              <a:rPr lang="en-US" sz="1000" b="0" i="0" baseline="0" noProof="0" dirty="0">
                <a:solidFill>
                  <a:srgbClr val="10100F"/>
                </a:solidFill>
                <a:latin typeface="Arial" pitchFamily="34" charset="0"/>
                <a:cs typeface="Arial" pitchFamily="34" charset="0"/>
              </a:rPr>
              <a:t>: </a:t>
            </a:r>
            <a:r>
              <a:rPr lang="en-US" sz="1000" b="0" i="0" baseline="0" noProof="0" dirty="0">
                <a:solidFill>
                  <a:srgbClr val="000000"/>
                </a:solidFill>
                <a:latin typeface="Arial" pitchFamily="34" charset="0"/>
                <a:cs typeface="Arial" pitchFamily="34" charset="0"/>
                <a:hlinkClick r:id="rId3"/>
              </a:rPr>
              <a:t>EMC Education Services</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9913" y="4100959"/>
            <a:ext cx="813087" cy="106159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TextBox 4"/>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TextBox 5"/>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TextBox 7"/>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5" name="TextBox 4"/>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5"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TextBox 6"/>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Box 8"/>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6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9"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9"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6"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xercis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750084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left blank">
    <p:spTree>
      <p:nvGrpSpPr>
        <p:cNvPr id="1" name=""/>
        <p:cNvGrpSpPr/>
        <p:nvPr/>
      </p:nvGrpSpPr>
      <p:grpSpPr>
        <a:xfrm>
          <a:off x="0" y="0"/>
          <a:ext cx="0" cy="0"/>
          <a:chOff x="0" y="0"/>
          <a:chExt cx="0" cy="0"/>
        </a:xfrm>
      </p:grpSpPr>
      <p:sp>
        <p:nvSpPr>
          <p:cNvPr id="4" name="TextBox 3"/>
          <p:cNvSpPr txBox="1"/>
          <p:nvPr/>
        </p:nvSpPr>
        <p:spPr>
          <a:xfrm>
            <a:off x="381000" y="2126218"/>
            <a:ext cx="8458200" cy="369332"/>
          </a:xfrm>
          <a:prstGeom prst="rect">
            <a:avLst/>
          </a:prstGeom>
          <a:noFill/>
        </p:spPr>
        <p:txBody>
          <a:bodyPr wrap="square" rtlCol="0">
            <a:spAutoFit/>
          </a:bodyPr>
          <a:lstStyle/>
          <a:p>
            <a:pPr algn="ctr"/>
            <a:r>
              <a:rPr lang="en-US" sz="1800" dirty="0">
                <a:solidFill>
                  <a:schemeClr val="tx1"/>
                </a:solidFill>
              </a:rPr>
              <a:t>This slide intentionally left blank.</a:t>
            </a:r>
          </a:p>
        </p:txBody>
      </p:sp>
      <p:sp>
        <p:nvSpPr>
          <p:cNvPr id="5" name="TextBox 4"/>
          <p:cNvSpPr txBox="1"/>
          <p:nvPr userDrawn="1"/>
        </p:nvSpPr>
        <p:spPr bwMode="gray">
          <a:xfrm>
            <a:off x="62484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02998"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3886200" y="4933950"/>
            <a:ext cx="3733800" cy="1538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 Services</a:t>
            </a:r>
          </a:p>
        </p:txBody>
      </p:sp>
      <p:sp>
        <p:nvSpPr>
          <p:cNvPr id="5" name="Slide Number Placeholder 4"/>
          <p:cNvSpPr>
            <a:spLocks noGrp="1"/>
          </p:cNvSpPr>
          <p:nvPr>
            <p:ph type="sldNum" sz="quarter" idx="11"/>
          </p:nvPr>
        </p:nvSpPr>
        <p:spPr/>
        <p:txBody>
          <a:bodyPr/>
          <a:lstStyle>
            <a:lvl1pPr>
              <a:defRPr>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96200" y="4086561"/>
            <a:ext cx="923925" cy="1080641"/>
          </a:xfrm>
          <a:prstGeom prst="rect">
            <a:avLst/>
          </a:prstGeom>
        </p:spPr>
      </p:pic>
    </p:spTree>
    <p:custDataLst>
      <p:tags r:id="rId1"/>
    </p:custDataLst>
    <p:extLst>
      <p:ext uri="{BB962C8B-B14F-4D97-AF65-F5344CB8AC3E}">
        <p14:creationId xmlns:p14="http://schemas.microsoft.com/office/powerpoint/2010/main" val="11621603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8690028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6836748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945110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a:xfrm>
            <a:off x="8610600" y="4887913"/>
            <a:ext cx="381000" cy="274637"/>
          </a:xfrm>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extBox 5"/>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5652281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7" name="TextBox 6"/>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475248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6692835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769856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34522926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302041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9313877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9065480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1162237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19718038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eedback  ">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pic>
        <p:nvPicPr>
          <p:cNvPr id="6" name="Picture 10"/>
          <p:cNvPicPr>
            <a:picLocks noChangeAspect="1" noChangeArrowheads="1"/>
          </p:cNvPicPr>
          <p:nvPr userDrawn="1"/>
        </p:nvPicPr>
        <p:blipFill>
          <a:blip r:embed="rId3" cstate="print">
            <a:lum bright="70000" contrast="-70000"/>
          </a:blip>
          <a:srcRect/>
          <a:stretch>
            <a:fillRect/>
          </a:stretch>
        </p:blipFill>
        <p:spPr bwMode="auto">
          <a:xfrm>
            <a:off x="1828800" y="1123950"/>
            <a:ext cx="3754579" cy="2514600"/>
          </a:xfrm>
          <a:prstGeom prst="rect">
            <a:avLst/>
          </a:prstGeom>
          <a:noFill/>
          <a:ln w="28575" algn="ctr">
            <a:noFill/>
            <a:miter lim="800000"/>
            <a:headEnd/>
            <a:tailEnd/>
          </a:ln>
        </p:spPr>
      </p:pic>
      <p:sp>
        <p:nvSpPr>
          <p:cNvPr id="8" name="Rounded Rectangle 7"/>
          <p:cNvSpPr/>
          <p:nvPr userDrawn="1"/>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b="0" i="0" dirty="0">
                <a:solidFill>
                  <a:srgbClr val="FFFFFF"/>
                </a:solidFill>
                <a:latin typeface="Arial" pitchFamily="18" charset="0"/>
              </a:rPr>
              <a:t>Отправить отзыв</a:t>
            </a:r>
          </a:p>
        </p:txBody>
      </p:sp>
      <p:sp>
        <p:nvSpPr>
          <p:cNvPr id="9"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22334697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409541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
        <p:nvSpPr>
          <p:cNvPr id="5" name="TextBox 4"/>
          <p:cNvSpPr txBox="1"/>
          <p:nvPr userDrawn="1"/>
        </p:nvSpPr>
        <p:spPr bwMode="gray">
          <a:xfrm>
            <a:off x="6096000" y="4974967"/>
            <a:ext cx="1785745"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2: технологии третьей платформы</a:t>
            </a:r>
          </a:p>
        </p:txBody>
      </p:sp>
    </p:spTree>
    <p:custDataLst>
      <p:tags r:id="rId1"/>
    </p:custDataLst>
    <p:extLst>
      <p:ext uri="{BB962C8B-B14F-4D97-AF65-F5344CB8AC3E}">
        <p14:creationId xmlns:p14="http://schemas.microsoft.com/office/powerpoint/2010/main" val="596672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ags" Target="../tags/tag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5"/>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pic>
        <p:nvPicPr>
          <p:cNvPr id="9" name="Picture 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229162" y="4448396"/>
            <a:ext cx="533838" cy="709502"/>
          </a:xfrm>
          <a:prstGeom prst="rect">
            <a:avLst/>
          </a:prstGeom>
        </p:spPr>
      </p:pic>
    </p:spTree>
    <p:custDataLst>
      <p:tags r:id="rId19"/>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5" r:id="rId15"/>
    <p:sldLayoutId id="2147483771" r:id="rId16"/>
    <p:sldLayoutId id="2147483768"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1"/>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sp>
        <p:nvSpPr>
          <p:cNvPr id="4" name="Slide Number Placeholder 3"/>
          <p:cNvSpPr>
            <a:spLocks noGrp="1"/>
          </p:cNvSpPr>
          <p:nvPr>
            <p:ph type="sldNum" sz="quarter" idx="4"/>
          </p:nvPr>
        </p:nvSpPr>
        <p:spPr>
          <a:xfrm>
            <a:off x="8686800" y="4887913"/>
            <a:ext cx="381000" cy="274637"/>
          </a:xfrm>
          <a:prstGeom prst="rect">
            <a:avLst/>
          </a:prstGeom>
        </p:spPr>
        <p:txBody>
          <a:bodyPr vert="horz" lIns="91440" tIns="45720" rIns="91440" bIns="45720" rtlCol="0" anchor="ctr"/>
          <a:lstStyle>
            <a:lvl1pPr algn="r">
              <a:defRPr sz="600">
                <a:solidFill>
                  <a:schemeClr val="tx1">
                    <a:tint val="75000"/>
                  </a:schemeClr>
                </a:solidFill>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Tree>
    <p:custDataLst>
      <p:tags r:id="rId19"/>
    </p:custDataLst>
    <p:extLst>
      <p:ext uri="{BB962C8B-B14F-4D97-AF65-F5344CB8AC3E}">
        <p14:creationId xmlns:p14="http://schemas.microsoft.com/office/powerpoint/2010/main" val="325673527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image" Target="../media/image5.png"/><Relationship Id="rId26" Type="http://schemas.openxmlformats.org/officeDocument/2006/relationships/image" Target="../media/image13.png"/><Relationship Id="rId3" Type="http://schemas.openxmlformats.org/officeDocument/2006/relationships/tags" Target="../tags/tag44.xml"/><Relationship Id="rId21" Type="http://schemas.openxmlformats.org/officeDocument/2006/relationships/image" Target="../media/image8.png"/><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notesSlide" Target="../notesSlides/notesSlide5.xml"/><Relationship Id="rId25" Type="http://schemas.openxmlformats.org/officeDocument/2006/relationships/image" Target="../media/image12.png"/><Relationship Id="rId2" Type="http://schemas.openxmlformats.org/officeDocument/2006/relationships/tags" Target="../tags/tag43.xml"/><Relationship Id="rId16" Type="http://schemas.openxmlformats.org/officeDocument/2006/relationships/slideLayout" Target="../slideLayouts/slideLayout2.xml"/><Relationship Id="rId20" Type="http://schemas.openxmlformats.org/officeDocument/2006/relationships/image" Target="../media/image7.png"/><Relationship Id="rId29" Type="http://schemas.openxmlformats.org/officeDocument/2006/relationships/image" Target="../media/image16.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image" Target="../media/image11.png"/><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image" Target="../media/image10.png"/><Relationship Id="rId28" Type="http://schemas.openxmlformats.org/officeDocument/2006/relationships/image" Target="../media/image15.png"/><Relationship Id="rId10" Type="http://schemas.openxmlformats.org/officeDocument/2006/relationships/tags" Target="../tags/tag51.xml"/><Relationship Id="rId19" Type="http://schemas.openxmlformats.org/officeDocument/2006/relationships/image" Target="../media/image6.jpeg"/><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image" Target="../media/image9.png"/><Relationship Id="rId27"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6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3" Type="http://schemas.openxmlformats.org/officeDocument/2006/relationships/tags" Target="../tags/tag65.xml"/><Relationship Id="rId7" Type="http://schemas.openxmlformats.org/officeDocument/2006/relationships/image" Target="../media/image7.png"/><Relationship Id="rId12" Type="http://schemas.openxmlformats.org/officeDocument/2006/relationships/image" Target="../media/image20.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12.xml"/><Relationship Id="rId11" Type="http://schemas.openxmlformats.org/officeDocument/2006/relationships/image" Target="../media/image19.png"/><Relationship Id="rId5" Type="http://schemas.openxmlformats.org/officeDocument/2006/relationships/slideLayout" Target="../slideLayouts/slideLayout2.xml"/><Relationship Id="rId10" Type="http://schemas.openxmlformats.org/officeDocument/2006/relationships/image" Target="../media/image18.png"/><Relationship Id="rId4" Type="http://schemas.openxmlformats.org/officeDocument/2006/relationships/tags" Target="../tags/tag66.xml"/><Relationship Id="rId9" Type="http://schemas.openxmlformats.org/officeDocument/2006/relationships/image" Target="../media/image10.png"/><Relationship Id="rId1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3" Type="http://schemas.openxmlformats.org/officeDocument/2006/relationships/tags" Target="../tags/tag69.xml"/><Relationship Id="rId7" Type="http://schemas.openxmlformats.org/officeDocument/2006/relationships/image" Target="../media/image7.png"/><Relationship Id="rId12" Type="http://schemas.openxmlformats.org/officeDocument/2006/relationships/image" Target="../media/image20.png"/><Relationship Id="rId17" Type="http://schemas.openxmlformats.org/officeDocument/2006/relationships/image" Target="../media/image26.png"/><Relationship Id="rId2" Type="http://schemas.openxmlformats.org/officeDocument/2006/relationships/tags" Target="../tags/tag68.xml"/><Relationship Id="rId16" Type="http://schemas.openxmlformats.org/officeDocument/2006/relationships/image" Target="../media/image25.png"/><Relationship Id="rId1" Type="http://schemas.openxmlformats.org/officeDocument/2006/relationships/tags" Target="../tags/tag67.xml"/><Relationship Id="rId6" Type="http://schemas.openxmlformats.org/officeDocument/2006/relationships/notesSlide" Target="../notesSlides/notesSlide13.xml"/><Relationship Id="rId11" Type="http://schemas.openxmlformats.org/officeDocument/2006/relationships/image" Target="../media/image19.png"/><Relationship Id="rId5" Type="http://schemas.openxmlformats.org/officeDocument/2006/relationships/slideLayout" Target="../slideLayouts/slideLayout2.xml"/><Relationship Id="rId15" Type="http://schemas.openxmlformats.org/officeDocument/2006/relationships/image" Target="../media/image24.png"/><Relationship Id="rId10" Type="http://schemas.openxmlformats.org/officeDocument/2006/relationships/image" Target="../media/image18.png"/><Relationship Id="rId4" Type="http://schemas.openxmlformats.org/officeDocument/2006/relationships/tags" Target="../tags/tag70.xml"/><Relationship Id="rId9" Type="http://schemas.openxmlformats.org/officeDocument/2006/relationships/image" Target="../media/image10.png"/><Relationship Id="rId1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tags" Target="../tags/tag88.xml"/><Relationship Id="rId26" Type="http://schemas.openxmlformats.org/officeDocument/2006/relationships/image" Target="../media/image10.png"/><Relationship Id="rId3" Type="http://schemas.openxmlformats.org/officeDocument/2006/relationships/tags" Target="../tags/tag73.xml"/><Relationship Id="rId21" Type="http://schemas.openxmlformats.org/officeDocument/2006/relationships/slideLayout" Target="../slideLayouts/slideLayout6.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5" Type="http://schemas.openxmlformats.org/officeDocument/2006/relationships/image" Target="../media/image9.png"/><Relationship Id="rId2" Type="http://schemas.openxmlformats.org/officeDocument/2006/relationships/tags" Target="../tags/tag72.xml"/><Relationship Id="rId16" Type="http://schemas.openxmlformats.org/officeDocument/2006/relationships/tags" Target="../tags/tag86.xml"/><Relationship Id="rId20" Type="http://schemas.openxmlformats.org/officeDocument/2006/relationships/tags" Target="../tags/tag90.xml"/><Relationship Id="rId29" Type="http://schemas.openxmlformats.org/officeDocument/2006/relationships/image" Target="../media/image17.png"/><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24" Type="http://schemas.openxmlformats.org/officeDocument/2006/relationships/image" Target="../media/image8.png"/><Relationship Id="rId5" Type="http://schemas.openxmlformats.org/officeDocument/2006/relationships/tags" Target="../tags/tag75.xml"/><Relationship Id="rId15" Type="http://schemas.openxmlformats.org/officeDocument/2006/relationships/tags" Target="../tags/tag85.xml"/><Relationship Id="rId23" Type="http://schemas.openxmlformats.org/officeDocument/2006/relationships/image" Target="../media/image7.png"/><Relationship Id="rId28" Type="http://schemas.openxmlformats.org/officeDocument/2006/relationships/image" Target="../media/image12.png"/><Relationship Id="rId10" Type="http://schemas.openxmlformats.org/officeDocument/2006/relationships/tags" Target="../tags/tag80.xml"/><Relationship Id="rId19" Type="http://schemas.openxmlformats.org/officeDocument/2006/relationships/tags" Target="../tags/tag89.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 Id="rId22" Type="http://schemas.openxmlformats.org/officeDocument/2006/relationships/notesSlide" Target="../notesSlides/notesSlide14.xml"/><Relationship Id="rId27"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6.xml"/><Relationship Id="rId13" Type="http://schemas.openxmlformats.org/officeDocument/2006/relationships/image" Target="../media/image24.png"/><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image" Target="../media/image23.png"/><Relationship Id="rId2" Type="http://schemas.openxmlformats.org/officeDocument/2006/relationships/tags" Target="../tags/tag92.xml"/><Relationship Id="rId16" Type="http://schemas.openxmlformats.org/officeDocument/2006/relationships/image" Target="../media/image17.png"/><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image" Target="../media/image10.png"/><Relationship Id="rId5" Type="http://schemas.openxmlformats.org/officeDocument/2006/relationships/tags" Target="../tags/tag95.xml"/><Relationship Id="rId15" Type="http://schemas.openxmlformats.org/officeDocument/2006/relationships/image" Target="../media/image26.png"/><Relationship Id="rId10" Type="http://schemas.openxmlformats.org/officeDocument/2006/relationships/image" Target="../media/image7.png"/><Relationship Id="rId4" Type="http://schemas.openxmlformats.org/officeDocument/2006/relationships/tags" Target="../tags/tag94.xml"/><Relationship Id="rId9" Type="http://schemas.openxmlformats.org/officeDocument/2006/relationships/notesSlide" Target="../notesSlides/notesSlide15.xml"/><Relationship Id="rId1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image" Target="../media/image17.png"/><Relationship Id="rId3" Type="http://schemas.openxmlformats.org/officeDocument/2006/relationships/tags" Target="../tags/tag100.xml"/><Relationship Id="rId21" Type="http://schemas.openxmlformats.org/officeDocument/2006/relationships/image" Target="../media/image19.png"/><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image" Target="../media/image7.png"/><Relationship Id="rId2" Type="http://schemas.openxmlformats.org/officeDocument/2006/relationships/tags" Target="../tags/tag99.xml"/><Relationship Id="rId16" Type="http://schemas.openxmlformats.org/officeDocument/2006/relationships/notesSlide" Target="../notesSlides/notesSlide16.xml"/><Relationship Id="rId20" Type="http://schemas.openxmlformats.org/officeDocument/2006/relationships/image" Target="../media/image18.png"/><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24" Type="http://schemas.openxmlformats.org/officeDocument/2006/relationships/image" Target="../media/image22.png"/><Relationship Id="rId5" Type="http://schemas.openxmlformats.org/officeDocument/2006/relationships/tags" Target="../tags/tag102.xml"/><Relationship Id="rId15" Type="http://schemas.openxmlformats.org/officeDocument/2006/relationships/slideLayout" Target="../slideLayouts/slideLayout2.xml"/><Relationship Id="rId23" Type="http://schemas.openxmlformats.org/officeDocument/2006/relationships/image" Target="../media/image21.png"/><Relationship Id="rId10" Type="http://schemas.openxmlformats.org/officeDocument/2006/relationships/tags" Target="../tags/tag107.xml"/><Relationship Id="rId19" Type="http://schemas.openxmlformats.org/officeDocument/2006/relationships/image" Target="../media/image10.png"/><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1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2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notesSlide" Target="../notesSlides/notesSlide21.xml"/><Relationship Id="rId7"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16.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jpeg"/><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0.xml"/><Relationship Id="rId7" Type="http://schemas.openxmlformats.org/officeDocument/2006/relationships/tags" Target="../tags/tag124.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1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30.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36.png"/><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image" Target="../media/image35.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image" Target="../media/image34.png"/><Relationship Id="rId5" Type="http://schemas.openxmlformats.org/officeDocument/2006/relationships/tags" Target="../tags/tag135.xml"/><Relationship Id="rId15" Type="http://schemas.openxmlformats.org/officeDocument/2006/relationships/image" Target="../media/image38.jpeg"/><Relationship Id="rId10" Type="http://schemas.openxmlformats.org/officeDocument/2006/relationships/image" Target="../media/image33.png"/><Relationship Id="rId4" Type="http://schemas.openxmlformats.org/officeDocument/2006/relationships/tags" Target="../tags/tag134.xml"/><Relationship Id="rId9" Type="http://schemas.openxmlformats.org/officeDocument/2006/relationships/notesSlide" Target="../notesSlides/notesSlide30.xml"/><Relationship Id="rId1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3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3.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40.xml"/><Relationship Id="rId6" Type="http://schemas.openxmlformats.org/officeDocument/2006/relationships/image" Target="../media/image6.jpeg"/><Relationship Id="rId5" Type="http://schemas.openxmlformats.org/officeDocument/2006/relationships/image" Target="../media/image14.jpeg"/><Relationship Id="rId10" Type="http://schemas.openxmlformats.org/officeDocument/2006/relationships/image" Target="../media/image39.png"/><Relationship Id="rId4" Type="http://schemas.openxmlformats.org/officeDocument/2006/relationships/image" Target="../media/image13.png"/><Relationship Id="rId9"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4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4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4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14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45.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tags" Target="../tags/tag154.xml"/><Relationship Id="rId7" Type="http://schemas.openxmlformats.org/officeDocument/2006/relationships/image" Target="../media/image40.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notesSlide" Target="../notesSlides/notesSlide45.xml"/><Relationship Id="rId5" Type="http://schemas.openxmlformats.org/officeDocument/2006/relationships/slideLayout" Target="../slideLayouts/slideLayout34.xml"/><Relationship Id="rId10" Type="http://schemas.openxmlformats.org/officeDocument/2006/relationships/image" Target="../media/image43.png"/><Relationship Id="rId4" Type="http://schemas.openxmlformats.org/officeDocument/2006/relationships/tags" Target="../tags/tag155.xml"/><Relationship Id="rId9"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9.xml"/><Relationship Id="rId1" Type="http://schemas.openxmlformats.org/officeDocument/2006/relationships/tags" Target="../tags/tag156.xml"/><Relationship Id="rId5" Type="http://schemas.openxmlformats.org/officeDocument/2006/relationships/hyperlink" Target="https://secure.testcraft.com/emc/assess.aspx?aid=MR-1SP-ISMV3TPT&amp;apass=PASSWORD"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dirty="0"/>
              <a:t>ISM v3 модуль 2: технологии третьей платформы</a:t>
            </a:r>
            <a:endParaRPr lang="ru-RU" sz="2800" b="0" i="0" dirty="0">
              <a:solidFill>
                <a:srgbClr val="2C95DD"/>
              </a:solidFill>
              <a:latin typeface="Arial" pitchFamily="34" charset="0"/>
              <a:cs typeface="Arial" pitchFamily="34" charset="0"/>
            </a:endParaRPr>
          </a:p>
        </p:txBody>
      </p:sp>
      <p:sp>
        <p:nvSpPr>
          <p:cNvPr id="3" name="TextBox 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811868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ru-RU" sz="2800" b="0" i="0" dirty="0">
                <a:solidFill>
                  <a:srgbClr val="2C95DD"/>
                </a:solidFill>
                <a:latin typeface="Arial"/>
              </a:rPr>
              <a:t>Обзор</a:t>
            </a:r>
            <a:r>
              <a:rPr lang="ru-RU" sz="2800" b="0" i="0" dirty="0">
                <a:solidFill>
                  <a:srgbClr val="2C95DD"/>
                </a:solidFill>
              </a:rPr>
              <a:t> </a:t>
            </a:r>
            <a:r>
              <a:rPr lang="ru-RU" sz="2800" b="0" i="0" dirty="0">
                <a:solidFill>
                  <a:srgbClr val="2C95DD"/>
                </a:solidFill>
                <a:latin typeface="Arial"/>
              </a:rPr>
              <a:t>модуля</a:t>
            </a:r>
          </a:p>
        </p:txBody>
      </p:sp>
      <p:graphicFrame>
        <p:nvGraphicFramePr>
          <p:cNvPr id="8" name="Content Placeholder 7"/>
          <p:cNvGraphicFramePr>
            <a:graphicFrameLocks noGrp="1"/>
          </p:cNvGraphicFramePr>
          <p:nvPr>
            <p:ph sz="quarter" idx="10"/>
            <p:extLst>
              <p:ext uri="{D42A27DB-BD31-4B8C-83A1-F6EECF244321}">
                <p14:modId xmlns:p14="http://schemas.microsoft.com/office/powerpoint/2010/main" val="552532359"/>
              </p:ext>
            </p:extLst>
          </p:nvPr>
        </p:nvGraphicFramePr>
        <p:xfrm>
          <a:off x="379413" y="990600"/>
          <a:ext cx="8458200" cy="2748280"/>
        </p:xfrm>
        <a:graphic>
          <a:graphicData uri="http://schemas.openxmlformats.org/drawingml/2006/table">
            <a:tbl>
              <a:tblPr firstCol="1" bandRow="1">
                <a:tableStyleId>{5C22544A-7EE6-4342-B048-85BDC9FD1C3A}</a:tableStyleId>
              </a:tblPr>
              <a:tblGrid>
                <a:gridCol w="1373187">
                  <a:extLst>
                    <a:ext uri="{9D8B030D-6E8A-4147-A177-3AD203B41FA5}">
                      <a16:colId xmlns:a16="http://schemas.microsoft.com/office/drawing/2014/main" val="20000"/>
                    </a:ext>
                  </a:extLst>
                </a:gridCol>
                <a:gridCol w="7085013">
                  <a:extLst>
                    <a:ext uri="{9D8B030D-6E8A-4147-A177-3AD203B41FA5}">
                      <a16:colId xmlns:a16="http://schemas.microsoft.com/office/drawing/2014/main" val="2000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latin typeface="Arial" pitchFamily="34" charset="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Описание</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Arial" pitchFamily="34" charset="0"/>
                        <a:ea typeface="+mn-ea"/>
                        <a:cs typeface="Arial" pitchFamily="34" charset="0"/>
                      </a:endParaRPr>
                    </a:p>
                  </a:txBody>
                  <a:tcPr anchor="ctr">
                    <a:gradFill>
                      <a:gsLst>
                        <a:gs pos="0">
                          <a:schemeClr val="tx2">
                            <a:lumMod val="75000"/>
                          </a:schemeClr>
                        </a:gs>
                        <a:gs pos="100000">
                          <a:schemeClr val="tx2"/>
                        </a:gs>
                      </a:gsLst>
                      <a:lin ang="2700000" scaled="1"/>
                    </a:gradFill>
                  </a:tcPr>
                </a:tc>
                <a:tc>
                  <a:txBody>
                    <a:bodyPr/>
                    <a:lstStyle/>
                    <a:p>
                      <a:pPr marL="171450" marR="0" lvl="0" indent="0" algn="l" defTabSz="457200" rtl="0" eaLnBrk="1" fontAlgn="auto" latinLnBrk="0" hangingPunct="1">
                        <a:lnSpc>
                          <a:spcPct val="100000"/>
                        </a:lnSpc>
                        <a:spcBef>
                          <a:spcPts val="0"/>
                        </a:spcBef>
                        <a:spcAft>
                          <a:spcPts val="0"/>
                        </a:spcAft>
                        <a:buClrTx/>
                        <a:buSzTx/>
                        <a:buFontTx/>
                        <a:buNone/>
                        <a:tabLst/>
                        <a:defRPr/>
                      </a:pPr>
                      <a:r>
                        <a:rPr lang="ru-RU" sz="1200" b="0" i="0" dirty="0">
                          <a:solidFill>
                            <a:srgbClr val="000000"/>
                          </a:solidFill>
                          <a:latin typeface="Arial" pitchFamily="34" charset="0"/>
                          <a:cs typeface="Arial" pitchFamily="34" charset="0"/>
                        </a:rPr>
                        <a:t>Этот модуль знакомит слушателей с технологиями третьей платформы. В рамках этого курса приводится обзор четырех технологий, которые составляют третью платформу: облако, большие данные, социальные сети и мобильные технологии. В нем также приводятся характеристики инфраструктуры третьей платформы. Кроме того, в рамках этого модуля описаны необходимые условия для перехода к третьей платформе.</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0"/>
                  </a:ext>
                </a:extLst>
              </a:tr>
              <a:tr h="370840">
                <a:tc>
                  <a:txBody>
                    <a:bodyPr/>
                    <a:lstStyle/>
                    <a:p>
                      <a:pPr algn="l"/>
                      <a:r>
                        <a:rPr lang="ru-RU" sz="1400" b="1" i="0" dirty="0">
                          <a:solidFill>
                            <a:srgbClr val="FFFFFF"/>
                          </a:solidFill>
                          <a:latin typeface="Arial" pitchFamily="34" charset="0"/>
                          <a:cs typeface="Arial" pitchFamily="34" charset="0"/>
                        </a:rPr>
                        <a:t>Аудитория</a:t>
                      </a:r>
                    </a:p>
                  </a:txBody>
                  <a:tcPr anchor="ctr">
                    <a:gradFill>
                      <a:gsLst>
                        <a:gs pos="0">
                          <a:schemeClr val="tx2">
                            <a:lumMod val="75000"/>
                          </a:schemeClr>
                        </a:gs>
                        <a:gs pos="100000">
                          <a:schemeClr val="tx2"/>
                        </a:gs>
                      </a:gsLst>
                      <a:lin ang="2700000" scaled="1"/>
                    </a:gradFill>
                  </a:tcPr>
                </a:tc>
                <a:tc>
                  <a:txBody>
                    <a:bodyPr/>
                    <a:lstStyle/>
                    <a:p>
                      <a:pPr marL="114300" marR="251460" lvl="0" indent="44450" algn="l" defTabSz="914400" rtl="0" eaLnBrk="1" fontAlgn="auto" latinLnBrk="0" hangingPunct="1">
                        <a:lnSpc>
                          <a:spcPct val="115000"/>
                        </a:lnSpc>
                        <a:spcBef>
                          <a:spcPts val="0"/>
                        </a:spcBef>
                        <a:spcAft>
                          <a:spcPts val="1000"/>
                        </a:spcAft>
                        <a:buClrTx/>
                        <a:buSzTx/>
                        <a:buFontTx/>
                        <a:buNone/>
                        <a:tabLst>
                          <a:tab pos="2743200" algn="ctr"/>
                          <a:tab pos="5486400" algn="r"/>
                        </a:tabLst>
                        <a:defRPr/>
                      </a:pPr>
                      <a:r>
                        <a:rPr lang="ru-RU" sz="1200" b="0" i="0" u="none" dirty="0">
                          <a:solidFill>
                            <a:srgbClr val="000000"/>
                          </a:solidFill>
                          <a:latin typeface="Arial" pitchFamily="34" charset="0"/>
                          <a:cs typeface="Arial" pitchFamily="34" charset="0"/>
                        </a:rPr>
                        <a:t>Заказчики, партнеры, сотрудники EMC и отраслевые специалисты (включая студентов)</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Цели</a:t>
                      </a:r>
                    </a:p>
                  </a:txBody>
                  <a:tcPr anchor="ctr">
                    <a:gradFill>
                      <a:gsLst>
                        <a:gs pos="0">
                          <a:schemeClr val="tx2">
                            <a:lumMod val="75000"/>
                          </a:schemeClr>
                        </a:gs>
                        <a:gs pos="100000">
                          <a:schemeClr val="tx2"/>
                        </a:gs>
                      </a:gsLst>
                      <a:lin ang="2700000" scaled="1"/>
                    </a:gradFill>
                  </a:tcPr>
                </a:tc>
                <a:tc>
                  <a:txBody>
                    <a:bodyPr/>
                    <a:lstStyle/>
                    <a:p>
                      <a:pPr marL="342900" marR="0" lvl="0" indent="-171450" algn="l" defTabSz="914400" rtl="0" eaLnBrk="1" fontAlgn="base" latinLnBrk="0" hangingPunct="1">
                        <a:lnSpc>
                          <a:spcPct val="100000"/>
                        </a:lnSpc>
                        <a:spcBef>
                          <a:spcPct val="0"/>
                        </a:spcBef>
                        <a:spcAft>
                          <a:spcPct val="0"/>
                        </a:spcAft>
                        <a:buClrTx/>
                        <a:buSzTx/>
                        <a:buFontTx/>
                        <a:buNone/>
                        <a:tabLst/>
                        <a:defRPr/>
                      </a:pPr>
                      <a:r>
                        <a:rPr lang="ru-RU" sz="1200" b="0" i="0" u="none" dirty="0">
                          <a:solidFill>
                            <a:srgbClr val="000000"/>
                          </a:solidFill>
                          <a:latin typeface="Arial" pitchFamily="34" charset="0"/>
                          <a:cs typeface="Arial" pitchFamily="34" charset="0"/>
                        </a:rPr>
                        <a:t>По окончании этого модуля вы должны уметь:</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облачные технологии и их основные характеристики;</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модели облачных услуг и модели развертывания облаков;</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понимать принципы аналитики больших данных;</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понимать особенности работы с социальными сетями и мобильными технологиями;</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характеристики инфраструктуры третьей платформы;</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необходимые условия для перехода к третьей платформе.</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2"/>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06255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Облачные технологии</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Определение облачных технологий</a:t>
            </a:r>
          </a:p>
          <a:p>
            <a:pPr>
              <a:defRPr/>
            </a:pPr>
            <a:r>
              <a:rPr lang="ru-RU" sz="2000" b="0" i="0" dirty="0">
                <a:solidFill>
                  <a:srgbClr val="000000"/>
                </a:solidFill>
                <a:latin typeface="Arial" pitchFamily="34" charset="0"/>
                <a:cs typeface="Arial" pitchFamily="34" charset="0"/>
              </a:rPr>
              <a:t>Ключевые характеристики облачных технологий</a:t>
            </a:r>
          </a:p>
          <a:p>
            <a:pPr>
              <a:defRPr/>
            </a:pPr>
            <a:r>
              <a:rPr lang="ru-RU" sz="2000" b="0" i="0" dirty="0">
                <a:solidFill>
                  <a:srgbClr val="000000"/>
                </a:solidFill>
                <a:latin typeface="Arial" pitchFamily="34" charset="0"/>
                <a:cs typeface="Arial" pitchFamily="34" charset="0"/>
              </a:rPr>
              <a:t>Модели облачных сервисов</a:t>
            </a:r>
          </a:p>
          <a:p>
            <a:pPr>
              <a:defRPr/>
            </a:pPr>
            <a:r>
              <a:rPr lang="ru-RU" sz="2000" b="0" i="0" dirty="0">
                <a:solidFill>
                  <a:srgbClr val="000000"/>
                </a:solidFill>
                <a:latin typeface="Arial" pitchFamily="34" charset="0"/>
                <a:cs typeface="Arial" pitchFamily="34" charset="0"/>
              </a:rPr>
              <a:t>Модели развертывания облака</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02690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a:rPr>
              <a:t>Что</a:t>
            </a:r>
            <a:r>
              <a:rPr lang="ru-RU" sz="2800" b="0" i="0" dirty="0">
                <a:solidFill>
                  <a:srgbClr val="2C95DD"/>
                </a:solidFill>
              </a:rPr>
              <a:t> </a:t>
            </a:r>
            <a:r>
              <a:rPr lang="ru-RU" sz="2800" b="0" i="0" dirty="0">
                <a:solidFill>
                  <a:srgbClr val="2C95DD"/>
                </a:solidFill>
                <a:latin typeface="Arial"/>
              </a:rPr>
              <a:t>такое</a:t>
            </a:r>
            <a:r>
              <a:rPr lang="ru-RU" sz="2800" b="0" i="0" dirty="0">
                <a:solidFill>
                  <a:srgbClr val="2C95DD"/>
                </a:solidFill>
              </a:rPr>
              <a:t> </a:t>
            </a:r>
            <a:r>
              <a:rPr lang="ru-RU" sz="2800" b="0" i="0" dirty="0">
                <a:solidFill>
                  <a:srgbClr val="2C95DD"/>
                </a:solidFill>
                <a:latin typeface="Arial"/>
              </a:rPr>
              <a:t>облачные</a:t>
            </a:r>
            <a:r>
              <a:rPr lang="ru-RU" sz="2800" b="0" i="0" dirty="0">
                <a:solidFill>
                  <a:srgbClr val="2C95DD"/>
                </a:solidFill>
              </a:rPr>
              <a:t> </a:t>
            </a:r>
            <a:r>
              <a:rPr lang="ru-RU" sz="2800" b="0" i="0" dirty="0">
                <a:solidFill>
                  <a:srgbClr val="2C95DD"/>
                </a:solidFill>
                <a:latin typeface="Arial"/>
              </a:rPr>
              <a:t>вычисления</a:t>
            </a:r>
            <a:r>
              <a:rPr lang="ru-RU" sz="2800" b="0" i="0" dirty="0">
                <a:solidFill>
                  <a:srgbClr val="2C95DD"/>
                </a:solidFill>
              </a:rPr>
              <a:t>?</a:t>
            </a:r>
          </a:p>
        </p:txBody>
      </p:sp>
      <p:sp>
        <p:nvSpPr>
          <p:cNvPr id="3" name="Content Placeholder 2"/>
          <p:cNvSpPr>
            <a:spLocks noGrp="1"/>
          </p:cNvSpPr>
          <p:nvPr>
            <p:ph sz="quarter" idx="10"/>
          </p:nvPr>
        </p:nvSpPr>
        <p:spPr>
          <a:xfrm>
            <a:off x="379414" y="2859782"/>
            <a:ext cx="8458200" cy="1559818"/>
          </a:xfrm>
        </p:spPr>
        <p:txBody>
          <a:bodyPr/>
          <a:lstStyle/>
          <a:p>
            <a:r>
              <a:rPr lang="ru-RU" sz="1800" b="0" i="0" dirty="0">
                <a:solidFill>
                  <a:srgbClr val="000000"/>
                </a:solidFill>
                <a:latin typeface="Arial"/>
              </a:rPr>
              <a:t>Облако</a:t>
            </a:r>
            <a:r>
              <a:rPr lang="ru-RU" sz="1800" b="0" i="0" dirty="0">
                <a:solidFill>
                  <a:srgbClr val="000000"/>
                </a:solidFill>
              </a:rPr>
              <a:t> </a:t>
            </a:r>
            <a:r>
              <a:rPr lang="ru-RU" sz="1800" b="0" i="0" dirty="0">
                <a:solidFill>
                  <a:srgbClr val="000000"/>
                </a:solidFill>
                <a:latin typeface="Arial"/>
              </a:rPr>
              <a:t>—</a:t>
            </a:r>
            <a:r>
              <a:rPr lang="ru-RU" sz="1800" b="0" i="0" dirty="0">
                <a:solidFill>
                  <a:srgbClr val="000000"/>
                </a:solidFill>
              </a:rPr>
              <a:t> </a:t>
            </a:r>
            <a:r>
              <a:rPr lang="ru-RU" sz="1800" b="0" i="0" dirty="0">
                <a:solidFill>
                  <a:srgbClr val="000000"/>
                </a:solidFill>
                <a:latin typeface="Arial"/>
              </a:rPr>
              <a:t>это</a:t>
            </a:r>
            <a:r>
              <a:rPr lang="ru-RU" sz="1800" b="0" i="0" dirty="0">
                <a:solidFill>
                  <a:srgbClr val="000000"/>
                </a:solidFill>
              </a:rPr>
              <a:t> </a:t>
            </a:r>
            <a:r>
              <a:rPr lang="ru-RU" sz="1800" b="0" i="0" dirty="0">
                <a:solidFill>
                  <a:srgbClr val="000000"/>
                </a:solidFill>
                <a:latin typeface="Arial"/>
              </a:rPr>
              <a:t>совокупность</a:t>
            </a:r>
            <a:r>
              <a:rPr lang="ru-RU" sz="1800" b="0" i="0" dirty="0">
                <a:solidFill>
                  <a:srgbClr val="000000"/>
                </a:solidFill>
              </a:rPr>
              <a:t> </a:t>
            </a:r>
            <a:r>
              <a:rPr lang="ru-RU" sz="1800" b="0" i="0" dirty="0">
                <a:solidFill>
                  <a:srgbClr val="000000"/>
                </a:solidFill>
                <a:latin typeface="Arial"/>
              </a:rPr>
              <a:t>аппаратных</a:t>
            </a:r>
            <a:r>
              <a:rPr lang="ru-RU" sz="1800" b="0" i="0" dirty="0">
                <a:solidFill>
                  <a:srgbClr val="000000"/>
                </a:solidFill>
              </a:rPr>
              <a:t> </a:t>
            </a:r>
            <a:r>
              <a:rPr lang="ru-RU" sz="1800" b="0" i="0" dirty="0">
                <a:solidFill>
                  <a:srgbClr val="000000"/>
                </a:solidFill>
                <a:latin typeface="Arial"/>
              </a:rPr>
              <a:t>и</a:t>
            </a:r>
            <a:r>
              <a:rPr lang="ru-RU" sz="1800" b="0" i="0" dirty="0">
                <a:solidFill>
                  <a:srgbClr val="000000"/>
                </a:solidFill>
              </a:rPr>
              <a:t> </a:t>
            </a:r>
            <a:r>
              <a:rPr lang="ru-RU" sz="1800" b="0" i="0" dirty="0">
                <a:solidFill>
                  <a:srgbClr val="000000"/>
                </a:solidFill>
                <a:latin typeface="Arial"/>
              </a:rPr>
              <a:t>программных</a:t>
            </a:r>
            <a:r>
              <a:rPr lang="ru-RU" sz="1800" b="0" i="0" dirty="0">
                <a:solidFill>
                  <a:srgbClr val="000000"/>
                </a:solidFill>
              </a:rPr>
              <a:t> </a:t>
            </a:r>
            <a:r>
              <a:rPr lang="ru-RU" sz="1800" b="0" i="0" dirty="0">
                <a:solidFill>
                  <a:srgbClr val="000000"/>
                </a:solidFill>
                <a:latin typeface="Arial"/>
              </a:rPr>
              <a:t>ресурсов</a:t>
            </a:r>
            <a:r>
              <a:rPr lang="ru-RU" sz="1800" b="0" i="0" dirty="0">
                <a:solidFill>
                  <a:srgbClr val="000000"/>
                </a:solidFill>
              </a:rPr>
              <a:t>, </a:t>
            </a:r>
            <a:r>
              <a:rPr lang="ru-RU" sz="1800" b="0" i="0" dirty="0">
                <a:solidFill>
                  <a:srgbClr val="000000"/>
                </a:solidFill>
                <a:latin typeface="Arial"/>
              </a:rPr>
              <a:t>доступных</a:t>
            </a:r>
            <a:r>
              <a:rPr lang="ru-RU" sz="1800" b="0" i="0" dirty="0">
                <a:solidFill>
                  <a:srgbClr val="000000"/>
                </a:solidFill>
              </a:rPr>
              <a:t> </a:t>
            </a:r>
            <a:r>
              <a:rPr lang="ru-RU" sz="1800" b="0" i="0" dirty="0">
                <a:solidFill>
                  <a:srgbClr val="000000"/>
                </a:solidFill>
                <a:latin typeface="Arial"/>
              </a:rPr>
              <a:t>по</a:t>
            </a:r>
            <a:r>
              <a:rPr lang="ru-RU" sz="1800" b="0" i="0" dirty="0">
                <a:solidFill>
                  <a:srgbClr val="000000"/>
                </a:solidFill>
              </a:rPr>
              <a:t> </a:t>
            </a:r>
            <a:r>
              <a:rPr lang="ru-RU" sz="1800" b="0" i="0" dirty="0">
                <a:solidFill>
                  <a:srgbClr val="000000"/>
                </a:solidFill>
                <a:latin typeface="Arial"/>
              </a:rPr>
              <a:t>сети</a:t>
            </a:r>
            <a:r>
              <a:rPr lang="ru-RU" sz="1800" b="0" i="0" dirty="0">
                <a:solidFill>
                  <a:srgbClr val="000000"/>
                </a:solidFill>
              </a:rPr>
              <a:t>.</a:t>
            </a:r>
          </a:p>
          <a:p>
            <a:pPr lvl="1"/>
            <a:r>
              <a:rPr lang="ru-RU" sz="1600" b="0" i="0" dirty="0">
                <a:solidFill>
                  <a:srgbClr val="000000"/>
                </a:solidFill>
                <a:latin typeface="Arial"/>
              </a:rPr>
              <a:t>Оно</a:t>
            </a:r>
            <a:r>
              <a:rPr lang="ru-RU" sz="1600" b="0" i="0" dirty="0">
                <a:solidFill>
                  <a:srgbClr val="000000"/>
                </a:solidFill>
              </a:rPr>
              <a:t> </a:t>
            </a:r>
            <a:r>
              <a:rPr lang="ru-RU" sz="1600" b="0" i="0" dirty="0">
                <a:solidFill>
                  <a:srgbClr val="000000"/>
                </a:solidFill>
                <a:latin typeface="Arial"/>
              </a:rPr>
              <a:t>состоит</a:t>
            </a:r>
            <a:r>
              <a:rPr lang="ru-RU" sz="1600" b="0" i="0" dirty="0">
                <a:solidFill>
                  <a:srgbClr val="000000"/>
                </a:solidFill>
              </a:rPr>
              <a:t> </a:t>
            </a:r>
            <a:r>
              <a:rPr lang="ru-RU" sz="1600" b="0" i="0" dirty="0">
                <a:solidFill>
                  <a:srgbClr val="000000"/>
                </a:solidFill>
                <a:latin typeface="Arial"/>
              </a:rPr>
              <a:t>из</a:t>
            </a:r>
            <a:r>
              <a:rPr lang="ru-RU" sz="1600" b="0" i="0" dirty="0">
                <a:solidFill>
                  <a:srgbClr val="000000"/>
                </a:solidFill>
              </a:rPr>
              <a:t> </a:t>
            </a:r>
            <a:r>
              <a:rPr lang="ru-RU" sz="1600" b="0" i="0" dirty="0">
                <a:solidFill>
                  <a:srgbClr val="000000"/>
                </a:solidFill>
                <a:latin typeface="Arial"/>
              </a:rPr>
              <a:t>пулов</a:t>
            </a:r>
            <a:r>
              <a:rPr lang="ru-RU" sz="1600" b="0" i="0" dirty="0">
                <a:solidFill>
                  <a:srgbClr val="000000"/>
                </a:solidFill>
              </a:rPr>
              <a:t> </a:t>
            </a:r>
            <a:r>
              <a:rPr lang="ru-RU" sz="1600" b="0" i="0" dirty="0">
                <a:solidFill>
                  <a:srgbClr val="000000"/>
                </a:solidFill>
                <a:latin typeface="Arial"/>
              </a:rPr>
              <a:t>ИТ</a:t>
            </a:r>
            <a:r>
              <a:rPr lang="ru-RU" sz="1600" b="0" i="0" dirty="0">
                <a:solidFill>
                  <a:srgbClr val="000000"/>
                </a:solidFill>
              </a:rPr>
              <a:t>-</a:t>
            </a:r>
            <a:r>
              <a:rPr lang="ru-RU" sz="1600" b="0" i="0" dirty="0">
                <a:solidFill>
                  <a:srgbClr val="000000"/>
                </a:solidFill>
                <a:latin typeface="Arial"/>
              </a:rPr>
              <a:t>ресурсов</a:t>
            </a:r>
            <a:r>
              <a:rPr lang="ru-RU" sz="1600" b="0" i="0" dirty="0">
                <a:solidFill>
                  <a:srgbClr val="000000"/>
                </a:solidFill>
              </a:rPr>
              <a:t>, </a:t>
            </a:r>
            <a:r>
              <a:rPr lang="ru-RU" sz="1600" b="0" i="0" dirty="0">
                <a:solidFill>
                  <a:srgbClr val="000000"/>
                </a:solidFill>
                <a:latin typeface="Arial"/>
              </a:rPr>
              <a:t>развернутых</a:t>
            </a:r>
            <a:r>
              <a:rPr lang="ru-RU" sz="1600" b="0" i="0" dirty="0">
                <a:solidFill>
                  <a:srgbClr val="000000"/>
                </a:solidFill>
              </a:rPr>
              <a:t> </a:t>
            </a:r>
            <a:r>
              <a:rPr lang="ru-RU" sz="1600" b="0" i="0" dirty="0">
                <a:solidFill>
                  <a:srgbClr val="000000"/>
                </a:solidFill>
                <a:latin typeface="Arial"/>
              </a:rPr>
              <a:t>в</a:t>
            </a:r>
            <a:r>
              <a:rPr lang="ru-RU" sz="1600" b="0" i="0" dirty="0">
                <a:solidFill>
                  <a:srgbClr val="000000"/>
                </a:solidFill>
              </a:rPr>
              <a:t> </a:t>
            </a:r>
            <a:r>
              <a:rPr lang="ru-RU" sz="1600" b="0" i="0" dirty="0">
                <a:solidFill>
                  <a:srgbClr val="000000"/>
                </a:solidFill>
                <a:latin typeface="Arial"/>
              </a:rPr>
              <a:t>центрах</a:t>
            </a:r>
            <a:r>
              <a:rPr lang="ru-RU" sz="1600" b="0" i="0" dirty="0">
                <a:solidFill>
                  <a:srgbClr val="000000"/>
                </a:solidFill>
              </a:rPr>
              <a:t> </a:t>
            </a:r>
            <a:r>
              <a:rPr lang="ru-RU" sz="1600" b="0" i="0" dirty="0">
                <a:solidFill>
                  <a:srgbClr val="000000"/>
                </a:solidFill>
                <a:latin typeface="Arial"/>
              </a:rPr>
              <a:t>обработки</a:t>
            </a:r>
            <a:r>
              <a:rPr lang="ru-RU" sz="1600" b="0" i="0" dirty="0">
                <a:solidFill>
                  <a:srgbClr val="000000"/>
                </a:solidFill>
              </a:rPr>
              <a:t> </a:t>
            </a:r>
            <a:r>
              <a:rPr lang="ru-RU" sz="1600" b="0" i="0" dirty="0">
                <a:solidFill>
                  <a:srgbClr val="000000"/>
                </a:solidFill>
                <a:latin typeface="Arial"/>
              </a:rPr>
              <a:t>данных</a:t>
            </a:r>
          </a:p>
          <a:p>
            <a:r>
              <a:rPr lang="ru-RU" sz="1800" b="0" i="0" dirty="0">
                <a:solidFill>
                  <a:srgbClr val="000000"/>
                </a:solidFill>
                <a:latin typeface="Arial"/>
              </a:rPr>
              <a:t>Облачная</a:t>
            </a:r>
            <a:r>
              <a:rPr lang="ru-RU" sz="1800" b="0" i="0" dirty="0">
                <a:solidFill>
                  <a:srgbClr val="000000"/>
                </a:solidFill>
              </a:rPr>
              <a:t> </a:t>
            </a:r>
            <a:r>
              <a:rPr lang="ru-RU" sz="1800" b="0" i="0" dirty="0">
                <a:solidFill>
                  <a:srgbClr val="000000"/>
                </a:solidFill>
                <a:latin typeface="Arial"/>
              </a:rPr>
              <a:t>модель</a:t>
            </a:r>
            <a:r>
              <a:rPr lang="ru-RU" sz="1800" b="0" i="0" dirty="0">
                <a:solidFill>
                  <a:srgbClr val="000000"/>
                </a:solidFill>
              </a:rPr>
              <a:t> </a:t>
            </a:r>
            <a:r>
              <a:rPr lang="ru-RU" sz="1800" b="0" i="0" dirty="0">
                <a:solidFill>
                  <a:srgbClr val="000000"/>
                </a:solidFill>
                <a:latin typeface="Arial"/>
              </a:rPr>
              <a:t>позволяет</a:t>
            </a:r>
            <a:r>
              <a:rPr lang="ru-RU" sz="1800" b="0" i="0" dirty="0">
                <a:solidFill>
                  <a:srgbClr val="000000"/>
                </a:solidFill>
              </a:rPr>
              <a:t> </a:t>
            </a:r>
            <a:r>
              <a:rPr lang="ru-RU" sz="1800" b="0" i="0" dirty="0">
                <a:solidFill>
                  <a:srgbClr val="000000"/>
                </a:solidFill>
                <a:latin typeface="Arial"/>
              </a:rPr>
              <a:t>потребителям</a:t>
            </a:r>
            <a:r>
              <a:rPr lang="ru-RU" sz="1800" b="0" i="0" dirty="0">
                <a:solidFill>
                  <a:srgbClr val="000000"/>
                </a:solidFill>
              </a:rPr>
              <a:t> </a:t>
            </a:r>
            <a:r>
              <a:rPr lang="ru-RU" sz="1800" b="0" i="0" dirty="0">
                <a:solidFill>
                  <a:srgbClr val="000000"/>
                </a:solidFill>
                <a:latin typeface="Arial"/>
              </a:rPr>
              <a:t>получать</a:t>
            </a:r>
            <a:r>
              <a:rPr lang="ru-RU" sz="1800" b="0" i="0" dirty="0">
                <a:solidFill>
                  <a:srgbClr val="000000"/>
                </a:solidFill>
              </a:rPr>
              <a:t> </a:t>
            </a:r>
            <a:r>
              <a:rPr lang="ru-RU" sz="1800" b="0" i="0" dirty="0">
                <a:solidFill>
                  <a:srgbClr val="000000"/>
                </a:solidFill>
                <a:latin typeface="Arial"/>
              </a:rPr>
              <a:t>ИТ</a:t>
            </a:r>
            <a:r>
              <a:rPr lang="ru-RU" sz="1800" b="0" i="0" dirty="0">
                <a:solidFill>
                  <a:srgbClr val="000000"/>
                </a:solidFill>
              </a:rPr>
              <a:t>-</a:t>
            </a:r>
            <a:r>
              <a:rPr lang="ru-RU" sz="1800" b="0" i="0" dirty="0">
                <a:solidFill>
                  <a:srgbClr val="000000"/>
                </a:solidFill>
                <a:latin typeface="Arial"/>
              </a:rPr>
              <a:t>ресурсы</a:t>
            </a:r>
            <a:r>
              <a:rPr lang="ru-RU" sz="1800" b="0" i="0" dirty="0">
                <a:solidFill>
                  <a:srgbClr val="000000"/>
                </a:solidFill>
              </a:rPr>
              <a:t> </a:t>
            </a:r>
            <a:r>
              <a:rPr lang="ru-RU" sz="1800" b="0" i="0" dirty="0">
                <a:solidFill>
                  <a:srgbClr val="000000"/>
                </a:solidFill>
                <a:latin typeface="Arial"/>
              </a:rPr>
              <a:t>как</a:t>
            </a:r>
            <a:r>
              <a:rPr lang="ru-RU" sz="1800" b="0" i="0" dirty="0">
                <a:solidFill>
                  <a:srgbClr val="000000"/>
                </a:solidFill>
              </a:rPr>
              <a:t> </a:t>
            </a:r>
            <a:r>
              <a:rPr lang="ru-RU" sz="1800" b="0" i="0" dirty="0">
                <a:solidFill>
                  <a:srgbClr val="000000"/>
                </a:solidFill>
                <a:latin typeface="Arial"/>
              </a:rPr>
              <a:t>услуги</a:t>
            </a:r>
          </a:p>
        </p:txBody>
      </p:sp>
      <p:grpSp>
        <p:nvGrpSpPr>
          <p:cNvPr id="5" name="Group 4"/>
          <p:cNvGrpSpPr/>
          <p:nvPr/>
        </p:nvGrpSpPr>
        <p:grpSpPr>
          <a:xfrm>
            <a:off x="334134" y="990000"/>
            <a:ext cx="8486338" cy="1725766"/>
            <a:chOff x="299409" y="798190"/>
            <a:chExt cx="8486338" cy="1725766"/>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614992" y="996920"/>
              <a:ext cx="8170755" cy="152703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400" b="0" i="0" dirty="0">
                  <a:solidFill>
                    <a:srgbClr val="000000"/>
                  </a:solidFill>
                  <a:latin typeface="Arial" pitchFamily="34" charset="0"/>
                  <a:cs typeface="Arial" pitchFamily="34" charset="0"/>
                </a:rPr>
                <a:t>Модель, которая по требованию обеспечивает удобный повсеместный сетевой доступ к общему пулу настраиваемых вычислительных ресурсов (например, серверов, СХД, сетей, приложений и сервисов), которые можно быстро выделять и освобождать с минимальными трудозатратами на управление или минимальным взаимодействием с поставщиком услуг.</a:t>
              </a:r>
            </a:p>
            <a:p>
              <a:endParaRPr lang="en-US" sz="300" dirty="0">
                <a:solidFill>
                  <a:schemeClr val="tx1"/>
                </a:solidFill>
                <a:latin typeface="Arial" pitchFamily="34" charset="0"/>
                <a:cs typeface="Arial" pitchFamily="34" charset="0"/>
              </a:endParaRPr>
            </a:p>
            <a:p>
              <a:pPr algn="r"/>
              <a:r>
                <a:rPr lang="ru-RU" sz="1000" b="0" i="1" dirty="0">
                  <a:solidFill>
                    <a:srgbClr val="000000"/>
                  </a:solidFill>
                  <a:latin typeface="Arial" pitchFamily="34" charset="0"/>
                  <a:cs typeface="Arial" pitchFamily="34" charset="0"/>
                </a:rPr>
                <a:t>— Национальный институт стандартов и технологий США, Special Publication 800-145)</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400" b="1" i="0" dirty="0">
                  <a:solidFill>
                    <a:srgbClr val="FFFFFF"/>
                  </a:solidFill>
                  <a:latin typeface="Arial"/>
                </a:rPr>
                <a:t>Облачные</a:t>
              </a:r>
              <a:r>
                <a:rPr lang="ru-RU" sz="1400" b="1" i="0" dirty="0">
                  <a:solidFill>
                    <a:srgbClr val="FFFFFF"/>
                  </a:solidFill>
                </a:rPr>
                <a:t> </a:t>
              </a:r>
              <a:r>
                <a:rPr lang="ru-RU" sz="1400" b="1" i="0" dirty="0">
                  <a:solidFill>
                    <a:srgbClr val="FFFFFF"/>
                  </a:solidFill>
                  <a:latin typeface="Arial"/>
                </a:rPr>
                <a:t>технологии</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111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облачные вычисления? (Продолжение)</a:t>
            </a:r>
          </a:p>
        </p:txBody>
      </p:sp>
      <p:cxnSp>
        <p:nvCxnSpPr>
          <p:cNvPr id="86" name="Straight Connector 85"/>
          <p:cNvCxnSpPr>
            <a:endCxn id="71" idx="2"/>
          </p:cNvCxnSpPr>
          <p:nvPr/>
        </p:nvCxnSpPr>
        <p:spPr>
          <a:xfrm flipV="1">
            <a:off x="1321203" y="2974104"/>
            <a:ext cx="1146921" cy="730722"/>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30" idx="3"/>
            <a:endCxn id="71" idx="0"/>
          </p:cNvCxnSpPr>
          <p:nvPr/>
        </p:nvCxnSpPr>
        <p:spPr>
          <a:xfrm>
            <a:off x="1222222" y="1958577"/>
            <a:ext cx="1245902" cy="80008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2796070" y="2865184"/>
            <a:ext cx="46800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30" name="Picture 6" descr="C:\Users\patils1\Desktop\2013 Projects\CIS v2\CIS Slide Deck_Based on Book\Colored Graphics\Client.pn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08278" y="1670577"/>
            <a:ext cx="513944" cy="57600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Users\prasap1\Desktop\wireless.jp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503297" y="3362825"/>
            <a:ext cx="325351" cy="28800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4365" y="986833"/>
            <a:ext cx="5712385" cy="29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41"/>
          <p:cNvSpPr txBox="1">
            <a:spLocks noChangeArrowheads="1"/>
          </p:cNvSpPr>
          <p:nvPr/>
        </p:nvSpPr>
        <p:spPr bwMode="auto">
          <a:xfrm>
            <a:off x="4488777" y="1123950"/>
            <a:ext cx="2075953" cy="646331"/>
          </a:xfrm>
          <a:prstGeom prst="rect">
            <a:avLst/>
          </a:prstGeom>
          <a:noFill/>
        </p:spPr>
        <p:txBody>
          <a:bodyPr wrap="none" rtlCol="0">
            <a:spAutoFit/>
          </a:bodyPr>
          <a:lstStyle>
            <a:defPPr>
              <a:defRPr lang="en-US"/>
            </a:defPPr>
            <a:lvl1pPr algn="ctr">
              <a:defRPr sz="1200" b="1">
                <a:solidFill>
                  <a:schemeClr val="bg2"/>
                </a:solidFill>
              </a:defRPr>
            </a:lvl1pPr>
          </a:lstStyle>
          <a:p>
            <a:r>
              <a:rPr lang="ru-RU" sz="1800" i="0" dirty="0">
                <a:solidFill>
                  <a:srgbClr val="000000"/>
                </a:solidFill>
                <a:latin typeface="Arial" pitchFamily="34" charset="0"/>
                <a:cs typeface="Arial" pitchFamily="34" charset="0"/>
              </a:rPr>
              <a:t>Облачная</a:t>
            </a:r>
            <a:br>
              <a:rPr lang="en-US" sz="1800" i="0" dirty="0">
                <a:solidFill>
                  <a:srgbClr val="FF00FF"/>
                </a:solidFill>
                <a:latin typeface="Arial" pitchFamily="34" charset="0"/>
                <a:cs typeface="Arial" pitchFamily="34" charset="0"/>
              </a:rPr>
            </a:br>
            <a:r>
              <a:rPr lang="ru-RU" sz="1800" i="0" dirty="0">
                <a:solidFill>
                  <a:srgbClr val="000000"/>
                </a:solidFill>
                <a:latin typeface="Arial" pitchFamily="34" charset="0"/>
                <a:cs typeface="Arial" pitchFamily="34" charset="0"/>
              </a:rPr>
              <a:t>инфраструктура</a:t>
            </a:r>
          </a:p>
        </p:txBody>
      </p:sp>
      <p:grpSp>
        <p:nvGrpSpPr>
          <p:cNvPr id="6144" name="Group 6143"/>
          <p:cNvGrpSpPr/>
          <p:nvPr/>
        </p:nvGrpSpPr>
        <p:grpSpPr>
          <a:xfrm>
            <a:off x="6051790" y="2318649"/>
            <a:ext cx="1177091" cy="1105887"/>
            <a:chOff x="3898775" y="1779662"/>
            <a:chExt cx="1177091" cy="1105887"/>
          </a:xfrm>
        </p:grpSpPr>
        <p:sp>
          <p:nvSpPr>
            <p:cNvPr id="10" name="Text Box 38"/>
            <p:cNvSpPr txBox="1">
              <a:spLocks noChangeArrowheads="1"/>
            </p:cNvSpPr>
            <p:nvPr>
              <p:custDataLst>
                <p:tags r:id="rId12"/>
              </p:custDataLst>
            </p:nvPr>
          </p:nvSpPr>
          <p:spPr bwMode="auto">
            <a:xfrm>
              <a:off x="3984305" y="2639328"/>
              <a:ext cx="1000595" cy="246221"/>
            </a:xfrm>
            <a:prstGeom prst="rect">
              <a:avLst/>
            </a:prstGeom>
            <a:noFill/>
            <a:ln w="9525">
              <a:noFill/>
              <a:miter lim="800000"/>
              <a:headEnd/>
              <a:tailEnd/>
            </a:ln>
          </p:spPr>
          <p:txBody>
            <a:bodyPr wrap="none">
              <a:spAutoFit/>
            </a:bodyPr>
            <a:lstStyle/>
            <a:p>
              <a:r>
                <a:rPr lang="ru-RU" sz="1000" b="1" i="0" dirty="0">
                  <a:solidFill>
                    <a:srgbClr val="000000"/>
                  </a:solidFill>
                  <a:latin typeface="Arial" pitchFamily="34" charset="0"/>
                  <a:cs typeface="Arial" pitchFamily="34" charset="0"/>
                </a:rPr>
                <a:t>Приложения</a:t>
              </a:r>
            </a:p>
          </p:txBody>
        </p:sp>
        <p:grpSp>
          <p:nvGrpSpPr>
            <p:cNvPr id="18" name="Group 17"/>
            <p:cNvGrpSpPr>
              <a:grpSpLocks noChangeAspect="1"/>
            </p:cNvGrpSpPr>
            <p:nvPr/>
          </p:nvGrpSpPr>
          <p:grpSpPr>
            <a:xfrm>
              <a:off x="3898775" y="1779662"/>
              <a:ext cx="1177091" cy="842371"/>
              <a:chOff x="8283166" y="4313278"/>
              <a:chExt cx="998444" cy="842370"/>
            </a:xfrm>
          </p:grpSpPr>
          <p:sp>
            <p:nvSpPr>
              <p:cNvPr id="19" name="Rectangle 18"/>
              <p:cNvSpPr/>
              <p:nvPr>
                <p:custDataLst>
                  <p:tags r:id="rId13"/>
                </p:custDataLst>
              </p:nvPr>
            </p:nvSpPr>
            <p:spPr>
              <a:xfrm rot="933880">
                <a:off x="8283166" y="46199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20" name="Rectangle 19"/>
              <p:cNvSpPr/>
              <p:nvPr>
                <p:custDataLst>
                  <p:tags r:id="rId14"/>
                </p:custDataLst>
              </p:nvPr>
            </p:nvSpPr>
            <p:spPr>
              <a:xfrm rot="933880">
                <a:off x="8283166" y="44675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21" name="Rectangle 20"/>
              <p:cNvSpPr/>
              <p:nvPr>
                <p:custDataLst>
                  <p:tags r:id="rId15"/>
                </p:custDataLst>
              </p:nvPr>
            </p:nvSpPr>
            <p:spPr>
              <a:xfrm rot="933880">
                <a:off x="8283166" y="4313278"/>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grpSp>
      <p:grpSp>
        <p:nvGrpSpPr>
          <p:cNvPr id="6145" name="Group 6144"/>
          <p:cNvGrpSpPr/>
          <p:nvPr/>
        </p:nvGrpSpPr>
        <p:grpSpPr>
          <a:xfrm>
            <a:off x="7086600" y="2570745"/>
            <a:ext cx="1196161" cy="853791"/>
            <a:chOff x="4943609" y="2031758"/>
            <a:chExt cx="1196161" cy="853791"/>
          </a:xfrm>
        </p:grpSpPr>
        <p:grpSp>
          <p:nvGrpSpPr>
            <p:cNvPr id="22" name="Group 21"/>
            <p:cNvGrpSpPr>
              <a:grpSpLocks noChangeAspect="1"/>
            </p:cNvGrpSpPr>
            <p:nvPr/>
          </p:nvGrpSpPr>
          <p:grpSpPr>
            <a:xfrm>
              <a:off x="5292080" y="2031758"/>
              <a:ext cx="487688" cy="648000"/>
              <a:chOff x="5943600" y="3145772"/>
              <a:chExt cx="514697" cy="683887"/>
            </a:xfrm>
          </p:grpSpPr>
          <p:sp>
            <p:nvSpPr>
              <p:cNvPr id="23" name="Cube 22"/>
              <p:cNvSpPr/>
              <p:nvPr>
                <p:custDataLst>
                  <p:tags r:id="rId10"/>
                </p:custDataLst>
              </p:nvPr>
            </p:nvSpPr>
            <p:spPr>
              <a:xfrm>
                <a:off x="5943600" y="3145772"/>
                <a:ext cx="457200" cy="63573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24" name="Oval 23"/>
              <p:cNvSpPr/>
              <p:nvPr>
                <p:custDataLst>
                  <p:tags r:id="rId11"/>
                </p:custDataLst>
              </p:nvPr>
            </p:nvSpPr>
            <p:spPr>
              <a:xfrm>
                <a:off x="6172200" y="3534811"/>
                <a:ext cx="286097" cy="294848"/>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25" name="Oval 24"/>
              <p:cNvSpPr/>
              <p:nvPr/>
            </p:nvSpPr>
            <p:spPr>
              <a:xfrm>
                <a:off x="6243724" y="3605537"/>
                <a:ext cx="143048" cy="153397"/>
              </a:xfrm>
              <a:prstGeom prst="ellipse">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26" name="Oval 25"/>
              <p:cNvSpPr/>
              <p:nvPr/>
            </p:nvSpPr>
            <p:spPr>
              <a:xfrm>
                <a:off x="6279486" y="3643493"/>
                <a:ext cx="71524" cy="77485"/>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sp>
          <p:nvSpPr>
            <p:cNvPr id="27" name="Text Box 38"/>
            <p:cNvSpPr txBox="1">
              <a:spLocks noChangeArrowheads="1"/>
            </p:cNvSpPr>
            <p:nvPr>
              <p:custDataLst>
                <p:tags r:id="rId9"/>
              </p:custDataLst>
            </p:nvPr>
          </p:nvSpPr>
          <p:spPr bwMode="auto">
            <a:xfrm>
              <a:off x="4943609" y="2639328"/>
              <a:ext cx="1196161" cy="246221"/>
            </a:xfrm>
            <a:prstGeom prst="rect">
              <a:avLst/>
            </a:prstGeom>
            <a:noFill/>
            <a:ln w="9525">
              <a:noFill/>
              <a:miter lim="800000"/>
              <a:headEnd/>
              <a:tailEnd/>
            </a:ln>
          </p:spPr>
          <p:txBody>
            <a:bodyPr wrap="none">
              <a:spAutoFit/>
            </a:bodyPr>
            <a:lstStyle/>
            <a:p>
              <a:r>
                <a:rPr lang="ru-RU" sz="1000" b="1" i="0" dirty="0">
                  <a:solidFill>
                    <a:srgbClr val="000000"/>
                  </a:solidFill>
                  <a:latin typeface="Arial" pitchFamily="34" charset="0"/>
                  <a:cs typeface="Arial" pitchFamily="34" charset="0"/>
                </a:rPr>
                <a:t>ПО платформы</a:t>
              </a:r>
            </a:p>
          </p:txBody>
        </p:sp>
      </p:grpSp>
      <p:grpSp>
        <p:nvGrpSpPr>
          <p:cNvPr id="62" name="Group 61"/>
          <p:cNvGrpSpPr/>
          <p:nvPr/>
        </p:nvGrpSpPr>
        <p:grpSpPr>
          <a:xfrm>
            <a:off x="4546489" y="2332380"/>
            <a:ext cx="637482" cy="1092156"/>
            <a:chOff x="2282474" y="1793393"/>
            <a:chExt cx="637482" cy="1092156"/>
          </a:xfrm>
        </p:grpSpPr>
        <p:sp>
          <p:nvSpPr>
            <p:cNvPr id="12" name="Text Box 40"/>
            <p:cNvSpPr txBox="1">
              <a:spLocks noChangeArrowheads="1"/>
            </p:cNvSpPr>
            <p:nvPr>
              <p:custDataLst>
                <p:tags r:id="rId6"/>
              </p:custDataLst>
            </p:nvPr>
          </p:nvSpPr>
          <p:spPr bwMode="auto">
            <a:xfrm>
              <a:off x="2353203" y="2639328"/>
              <a:ext cx="494046" cy="246221"/>
            </a:xfrm>
            <a:prstGeom prst="rect">
              <a:avLst/>
            </a:prstGeom>
            <a:noFill/>
            <a:ln w="9525">
              <a:noFill/>
              <a:miter lim="800000"/>
              <a:headEnd/>
              <a:tailEnd/>
            </a:ln>
          </p:spPr>
          <p:txBody>
            <a:bodyPr wrap="none">
              <a:spAutoFit/>
            </a:bodyPr>
            <a:lstStyle/>
            <a:p>
              <a:r>
                <a:rPr lang="ru-RU" sz="1000" b="1" i="0" dirty="0">
                  <a:solidFill>
                    <a:srgbClr val="000000"/>
                  </a:solidFill>
                  <a:latin typeface="Arial" pitchFamily="34" charset="0"/>
                  <a:cs typeface="Arial" pitchFamily="34" charset="0"/>
                </a:rPr>
                <a:t>Сеть</a:t>
              </a:r>
            </a:p>
          </p:txBody>
        </p:sp>
        <p:pic>
          <p:nvPicPr>
            <p:cNvPr id="49" name="Picture 13" descr="C:\Users\patils1\Desktop\2013 Projects\CIS v2\CIS Slide Deck_Based on Book\Colored Graphics\Ethernet Switch.png"/>
            <p:cNvPicPr>
              <a:picLocks noChangeAspect="1" noChangeArrowheads="1"/>
            </p:cNvPicPr>
            <p:nvPr>
              <p:custDataLst>
                <p:tags r:id="rId7"/>
              </p:custDataLst>
            </p:nvPr>
          </p:nvPicPr>
          <p:blipFill>
            <a:blip r:embed="rId21">
              <a:extLst>
                <a:ext uri="{28A0092B-C50C-407E-A947-70E740481C1C}">
                  <a14:useLocalDpi xmlns:a14="http://schemas.microsoft.com/office/drawing/2010/main" val="0"/>
                </a:ext>
              </a:extLst>
            </a:blip>
            <a:srcRect/>
            <a:stretch>
              <a:fillRect/>
            </a:stretch>
          </p:blipFill>
          <p:spPr bwMode="auto">
            <a:xfrm>
              <a:off x="2282474" y="1793393"/>
              <a:ext cx="634085" cy="39600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16" descr="C:\Users\patils1\Desktop\2013 Projects\CIS v2\CIS Slide Deck_Based on Book\Colored Graphics\FC Switch.png"/>
            <p:cNvPicPr>
              <a:picLocks noChangeAspect="1" noChangeArrowheads="1"/>
            </p:cNvPicPr>
            <p:nvPr>
              <p:custDataLst>
                <p:tags r:id="rId8"/>
              </p:custDataLst>
            </p:nvPr>
          </p:nvPicPr>
          <p:blipFill>
            <a:blip r:embed="rId22">
              <a:extLst>
                <a:ext uri="{28A0092B-C50C-407E-A947-70E740481C1C}">
                  <a14:useLocalDpi xmlns:a14="http://schemas.microsoft.com/office/drawing/2010/main" val="0"/>
                </a:ext>
              </a:extLst>
            </a:blip>
            <a:srcRect/>
            <a:stretch>
              <a:fillRect/>
            </a:stretch>
          </p:blipFill>
          <p:spPr bwMode="auto">
            <a:xfrm>
              <a:off x="2285870" y="2250337"/>
              <a:ext cx="634086" cy="396000"/>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Text Box 38"/>
          <p:cNvSpPr txBox="1">
            <a:spLocks noChangeArrowheads="1"/>
          </p:cNvSpPr>
          <p:nvPr/>
        </p:nvSpPr>
        <p:spPr bwMode="auto">
          <a:xfrm>
            <a:off x="3566521" y="3178315"/>
            <a:ext cx="900000" cy="507831"/>
          </a:xfrm>
          <a:prstGeom prst="rect">
            <a:avLst/>
          </a:prstGeom>
          <a:noFill/>
          <a:ln w="9525">
            <a:noFill/>
            <a:miter lim="800000"/>
            <a:headEnd/>
            <a:tailEnd/>
          </a:ln>
        </p:spPr>
        <p:txBody>
          <a:bodyPr wrap="square">
            <a:spAutoFit/>
          </a:bodyPr>
          <a:lstStyle/>
          <a:p>
            <a:pPr algn="ctr">
              <a:lnSpc>
                <a:spcPct val="90000"/>
              </a:lnSpc>
            </a:pPr>
            <a:r>
              <a:rPr lang="ru-RU" sz="1000" b="1" i="0" dirty="0">
                <a:solidFill>
                  <a:srgbClr val="000000"/>
                </a:solidFill>
                <a:latin typeface="Arial" pitchFamily="34" charset="0"/>
                <a:cs typeface="Arial" pitchFamily="34" charset="0"/>
              </a:rPr>
              <a:t>Вычислительные ресурсы</a:t>
            </a:r>
          </a:p>
        </p:txBody>
      </p:sp>
      <p:pic>
        <p:nvPicPr>
          <p:cNvPr id="51" name="Picture 28" descr="C:\Users\patils1\Desktop\2013 Projects\CIS v2\CIS Slide Deck_Based on Book\Colored Graphics\Physical Compute System With Hypervisor.png"/>
          <p:cNvPicPr>
            <a:picLocks noChangeAspect="1" noChangeArrowheads="1"/>
          </p:cNvPicPr>
          <p:nvPr/>
        </p:nvPicPr>
        <p:blipFill>
          <a:blip r:embed="rId23"/>
          <a:stretch>
            <a:fillRect/>
          </a:stretch>
        </p:blipFill>
        <p:spPr bwMode="auto">
          <a:xfrm>
            <a:off x="3598703" y="2134380"/>
            <a:ext cx="816000" cy="79200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9" descr="C:\Users\patils1\Desktop\2013 Projects\CIS v2\CIS Slide Deck_Based on Book\Colored Graphics\Physical Compute System.png"/>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97873" y="3001414"/>
            <a:ext cx="817200" cy="183910"/>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p:cNvGrpSpPr/>
          <p:nvPr/>
        </p:nvGrpSpPr>
        <p:grpSpPr>
          <a:xfrm>
            <a:off x="5314672" y="1889324"/>
            <a:ext cx="608670" cy="1535212"/>
            <a:chOff x="3123726" y="1350337"/>
            <a:chExt cx="608670" cy="1535212"/>
          </a:xfrm>
        </p:grpSpPr>
        <p:sp>
          <p:nvSpPr>
            <p:cNvPr id="17" name="Text Box 38"/>
            <p:cNvSpPr txBox="1">
              <a:spLocks noChangeArrowheads="1"/>
            </p:cNvSpPr>
            <p:nvPr>
              <p:custDataLst>
                <p:tags r:id="rId4"/>
              </p:custDataLst>
            </p:nvPr>
          </p:nvSpPr>
          <p:spPr bwMode="auto">
            <a:xfrm>
              <a:off x="3202388" y="2639328"/>
              <a:ext cx="453970" cy="246221"/>
            </a:xfrm>
            <a:prstGeom prst="rect">
              <a:avLst/>
            </a:prstGeom>
            <a:noFill/>
            <a:ln w="9525">
              <a:noFill/>
              <a:miter lim="800000"/>
              <a:headEnd/>
              <a:tailEnd/>
            </a:ln>
          </p:spPr>
          <p:txBody>
            <a:bodyPr wrap="none">
              <a:spAutoFit/>
            </a:bodyPr>
            <a:lstStyle/>
            <a:p>
              <a:r>
                <a:rPr lang="ru-RU" sz="1000" b="1" i="0" dirty="0">
                  <a:solidFill>
                    <a:srgbClr val="000000"/>
                  </a:solidFill>
                  <a:latin typeface="Arial" pitchFamily="34" charset="0"/>
                  <a:cs typeface="Arial" pitchFamily="34" charset="0"/>
                </a:rPr>
                <a:t>СХД</a:t>
              </a:r>
            </a:p>
          </p:txBody>
        </p:sp>
        <p:pic>
          <p:nvPicPr>
            <p:cNvPr id="53" name="Picture 9" descr="C:\Users\patils1\Desktop\2013 Projects\CIS v2\CIS Slide Deck_Based on Book\Colored Graphics\Storage System.png"/>
            <p:cNvPicPr>
              <a:picLocks noChangeAspect="1" noChangeArrowheads="1"/>
            </p:cNvPicPr>
            <p:nvPr>
              <p:custDataLst>
                <p:tags r:id="rId5"/>
              </p:custDataLst>
            </p:nvPr>
          </p:nvPicPr>
          <p:blipFill>
            <a:blip r:embed="rId25">
              <a:extLst>
                <a:ext uri="{28A0092B-C50C-407E-A947-70E740481C1C}">
                  <a14:useLocalDpi xmlns:a14="http://schemas.microsoft.com/office/drawing/2010/main" val="0"/>
                </a:ext>
              </a:extLst>
            </a:blip>
            <a:srcRect/>
            <a:stretch>
              <a:fillRect/>
            </a:stretch>
          </p:blipFill>
          <p:spPr bwMode="auto">
            <a:xfrm>
              <a:off x="3123726" y="1350337"/>
              <a:ext cx="608670" cy="1296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2" name="Straight Connector 81"/>
          <p:cNvCxnSpPr/>
          <p:nvPr/>
        </p:nvCxnSpPr>
        <p:spPr>
          <a:xfrm>
            <a:off x="1215973" y="2865184"/>
            <a:ext cx="900000" cy="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grpSp>
        <p:nvGrpSpPr>
          <p:cNvPr id="6148" name="Group 6147"/>
          <p:cNvGrpSpPr/>
          <p:nvPr/>
        </p:nvGrpSpPr>
        <p:grpSpPr>
          <a:xfrm>
            <a:off x="2077990" y="2613724"/>
            <a:ext cx="779870" cy="502920"/>
            <a:chOff x="8002852" y="2406509"/>
            <a:chExt cx="779870" cy="502920"/>
          </a:xfrm>
        </p:grpSpPr>
        <p:pic>
          <p:nvPicPr>
            <p:cNvPr id="70" name="Picture 3" descr="C:\Users\patils1\Desktop\2013 Projects\CIS v2\CIS Slide Deck_Based on Book\Colored Graphics\LAN-WAN.png"/>
            <p:cNvPicPr>
              <a:picLocks noChangeAspect="1" noChangeArrowheads="1"/>
            </p:cNvPicPr>
            <p:nvPr>
              <p:custDataLst>
                <p:tags r:id="rId2"/>
              </p:custDataLst>
            </p:nvPr>
          </p:nvPicPr>
          <p:blipFill>
            <a:blip r:embed="rId26">
              <a:extLst>
                <a:ext uri="{28A0092B-C50C-407E-A947-70E740481C1C}">
                  <a14:useLocalDpi xmlns:a14="http://schemas.microsoft.com/office/drawing/2010/main" val="0"/>
                </a:ext>
              </a:extLst>
            </a:blip>
            <a:srcRect/>
            <a:stretch>
              <a:fillRect/>
            </a:stretch>
          </p:blipFill>
          <p:spPr bwMode="auto">
            <a:xfrm>
              <a:off x="8002852" y="2406509"/>
              <a:ext cx="779870" cy="502920"/>
            </a:xfrm>
            <a:prstGeom prst="rect">
              <a:avLst/>
            </a:prstGeom>
            <a:noFill/>
            <a:extLst>
              <a:ext uri="{909E8E84-426E-40DD-AFC4-6F175D3DCCD1}">
                <a14:hiddenFill xmlns:a14="http://schemas.microsoft.com/office/drawing/2010/main">
                  <a:solidFill>
                    <a:srgbClr val="FFFFFF"/>
                  </a:solidFill>
                </a14:hiddenFill>
              </a:ext>
            </a:extLst>
          </p:spPr>
        </p:pic>
        <p:sp>
          <p:nvSpPr>
            <p:cNvPr id="71" name="Text Box 38"/>
            <p:cNvSpPr txBox="1">
              <a:spLocks noChangeArrowheads="1"/>
            </p:cNvSpPr>
            <p:nvPr>
              <p:custDataLst>
                <p:tags r:id="rId3"/>
              </p:custDataLst>
            </p:nvPr>
          </p:nvSpPr>
          <p:spPr bwMode="auto">
            <a:xfrm>
              <a:off x="8061805" y="2551445"/>
              <a:ext cx="662361" cy="215444"/>
            </a:xfrm>
            <a:prstGeom prst="rect">
              <a:avLst/>
            </a:prstGeom>
            <a:noFill/>
            <a:ln w="9525">
              <a:noFill/>
              <a:miter lim="800000"/>
              <a:headEnd/>
              <a:tailEnd/>
            </a:ln>
          </p:spPr>
          <p:txBody>
            <a:bodyPr wrap="none">
              <a:spAutoFit/>
            </a:bodyPr>
            <a:lstStyle/>
            <a:p>
              <a:r>
                <a:rPr lang="ru-RU" sz="800" b="1" i="0" dirty="0">
                  <a:solidFill>
                    <a:srgbClr val="000000"/>
                  </a:solidFill>
                  <a:latin typeface="Arial" pitchFamily="34" charset="0"/>
                  <a:cs typeface="Arial" pitchFamily="34" charset="0"/>
                </a:rPr>
                <a:t>LAN/</a:t>
              </a:r>
              <a:r>
                <a:rPr lang="ru-RU" sz="800" b="0" i="0" dirty="0">
                  <a:solidFill>
                    <a:srgbClr val="000000"/>
                  </a:solidFill>
                  <a:latin typeface="Arial" pitchFamily="34" charset="0"/>
                  <a:cs typeface="Arial" pitchFamily="34" charset="0"/>
                </a:rPr>
                <a:t>WAN</a:t>
              </a:r>
            </a:p>
          </p:txBody>
        </p:sp>
      </p:grpSp>
      <p:sp>
        <p:nvSpPr>
          <p:cNvPr id="89" name="Text Box 38"/>
          <p:cNvSpPr txBox="1">
            <a:spLocks noChangeArrowheads="1"/>
          </p:cNvSpPr>
          <p:nvPr/>
        </p:nvSpPr>
        <p:spPr bwMode="auto">
          <a:xfrm>
            <a:off x="573592" y="3138033"/>
            <a:ext cx="795411" cy="246221"/>
          </a:xfrm>
          <a:prstGeom prst="rect">
            <a:avLst/>
          </a:prstGeom>
          <a:noFill/>
          <a:ln w="9525">
            <a:noFill/>
            <a:miter lim="800000"/>
            <a:headEnd/>
            <a:tailEnd/>
          </a:ln>
        </p:spPr>
        <p:txBody>
          <a:bodyPr wrap="none">
            <a:spAutoFit/>
          </a:bodyPr>
          <a:lstStyle/>
          <a:p>
            <a:r>
              <a:rPr lang="ru-RU" sz="1000" b="1" i="0" dirty="0">
                <a:solidFill>
                  <a:srgbClr val="000000"/>
                </a:solidFill>
                <a:latin typeface="Arial" pitchFamily="34" charset="0"/>
                <a:cs typeface="Arial" pitchFamily="34" charset="0"/>
              </a:rPr>
              <a:t>Ноутбуки</a:t>
            </a:r>
          </a:p>
        </p:txBody>
      </p:sp>
      <p:sp>
        <p:nvSpPr>
          <p:cNvPr id="90" name="Text Box 38"/>
          <p:cNvSpPr txBox="1">
            <a:spLocks noChangeArrowheads="1"/>
          </p:cNvSpPr>
          <p:nvPr/>
        </p:nvSpPr>
        <p:spPr bwMode="auto">
          <a:xfrm>
            <a:off x="-258744" y="3925729"/>
            <a:ext cx="2439750" cy="400110"/>
          </a:xfrm>
          <a:prstGeom prst="rect">
            <a:avLst/>
          </a:prstGeom>
          <a:noFill/>
          <a:ln w="9525">
            <a:noFill/>
            <a:miter lim="800000"/>
            <a:headEnd/>
            <a:tailEnd/>
          </a:ln>
        </p:spPr>
        <p:txBody>
          <a:bodyPr wrap="square">
            <a:spAutoFit/>
          </a:bodyPr>
          <a:lstStyle/>
          <a:p>
            <a:pPr algn="ctr"/>
            <a:r>
              <a:rPr lang="ru-RU" sz="1000" b="1" i="0" dirty="0">
                <a:solidFill>
                  <a:srgbClr val="000000"/>
                </a:solidFill>
                <a:latin typeface="Arial" pitchFamily="34" charset="0"/>
                <a:cs typeface="Arial" pitchFamily="34" charset="0"/>
              </a:rPr>
              <a:t>Планшеты и мобильные</a:t>
            </a:r>
            <a:br>
              <a:rPr lang="en-US" sz="1000" b="1" i="0" dirty="0">
                <a:solidFill>
                  <a:srgbClr val="FF00FF"/>
                </a:solidFill>
                <a:latin typeface="Arial" pitchFamily="34" charset="0"/>
                <a:cs typeface="Arial" pitchFamily="34" charset="0"/>
              </a:rPr>
            </a:br>
            <a:r>
              <a:rPr lang="ru-RU" sz="1000" b="1" i="0" dirty="0">
                <a:solidFill>
                  <a:srgbClr val="000000"/>
                </a:solidFill>
                <a:latin typeface="Arial" pitchFamily="34" charset="0"/>
                <a:cs typeface="Arial" pitchFamily="34" charset="0"/>
              </a:rPr>
              <a:t>телефоны</a:t>
            </a:r>
          </a:p>
        </p:txBody>
      </p:sp>
      <p:sp>
        <p:nvSpPr>
          <p:cNvPr id="91" name="Text Box 38"/>
          <p:cNvSpPr txBox="1">
            <a:spLocks noChangeArrowheads="1"/>
          </p:cNvSpPr>
          <p:nvPr/>
        </p:nvSpPr>
        <p:spPr bwMode="auto">
          <a:xfrm>
            <a:off x="370952" y="2247538"/>
            <a:ext cx="1154483" cy="246221"/>
          </a:xfrm>
          <a:prstGeom prst="rect">
            <a:avLst/>
          </a:prstGeom>
          <a:noFill/>
          <a:ln w="9525">
            <a:noFill/>
            <a:miter lim="800000"/>
            <a:headEnd/>
            <a:tailEnd/>
          </a:ln>
        </p:spPr>
        <p:txBody>
          <a:bodyPr wrap="none">
            <a:spAutoFit/>
          </a:bodyPr>
          <a:lstStyle/>
          <a:p>
            <a:r>
              <a:rPr lang="ru-RU" sz="1000" b="1" i="0" dirty="0">
                <a:solidFill>
                  <a:srgbClr val="000000"/>
                </a:solidFill>
                <a:latin typeface="Arial" pitchFamily="34" charset="0"/>
                <a:cs typeface="Arial" pitchFamily="34" charset="0"/>
              </a:rPr>
              <a:t>Рабочее место</a:t>
            </a:r>
          </a:p>
        </p:txBody>
      </p:sp>
      <p:pic>
        <p:nvPicPr>
          <p:cNvPr id="45" name="Picture 4" descr="C:\Users\prasap1\Desktop\wifi.jpg"/>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492799" y="2740761"/>
            <a:ext cx="345391" cy="2880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1_Projects\1_ISM\ISM V3\Modules PPT\Module 2\Images\laptop4.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41250" y="2612747"/>
            <a:ext cx="648000" cy="566247"/>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1_Projects\1_ISM\ISM V3\Modules PPT\Module 2\Images\tablet and phone_1.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86354" y="3545164"/>
            <a:ext cx="557792" cy="396000"/>
          </a:xfrm>
          <a:prstGeom prst="rect">
            <a:avLst/>
          </a:prstGeom>
          <a:noFill/>
          <a:extLst>
            <a:ext uri="{909E8E84-426E-40DD-AFC4-6F175D3DCCD1}">
              <a14:hiddenFill xmlns:a14="http://schemas.microsoft.com/office/drawing/2010/main">
                <a:solidFill>
                  <a:srgbClr val="FFFFFF"/>
                </a:solidFill>
              </a14:hiddenFill>
            </a:ext>
          </a:extLst>
        </p:spPr>
      </p:pic>
      <p:sp>
        <p:nvSpPr>
          <p:cNvPr id="47" name="Text Box 38"/>
          <p:cNvSpPr txBox="1">
            <a:spLocks noChangeArrowheads="1"/>
          </p:cNvSpPr>
          <p:nvPr/>
        </p:nvSpPr>
        <p:spPr bwMode="auto">
          <a:xfrm>
            <a:off x="3436882" y="2540081"/>
            <a:ext cx="1143000" cy="215444"/>
          </a:xfrm>
          <a:prstGeom prst="rect">
            <a:avLst/>
          </a:prstGeom>
          <a:noFill/>
          <a:ln w="9525">
            <a:noFill/>
            <a:miter lim="800000"/>
            <a:headEnd/>
            <a:tailEnd/>
          </a:ln>
        </p:spPr>
        <p:txBody>
          <a:bodyPr wrap="square">
            <a:spAutoFit/>
          </a:bodyPr>
          <a:lstStyle/>
          <a:p>
            <a:pPr algn="ctr"/>
            <a:r>
              <a:rPr lang="ru-RU" sz="800" b="1" i="0" dirty="0">
                <a:solidFill>
                  <a:srgbClr val="000000"/>
                </a:solidFill>
                <a:latin typeface="Arial" pitchFamily="34" charset="0"/>
                <a:cs typeface="Arial" pitchFamily="34" charset="0"/>
              </a:rPr>
              <a:t>Гипервизор</a:t>
            </a:r>
          </a:p>
        </p:txBody>
      </p:sp>
      <p:sp>
        <p:nvSpPr>
          <p:cNvPr id="44" name="TextBox 4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3706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Основные характеристики облака </a:t>
            </a:r>
          </a:p>
        </p:txBody>
      </p:sp>
      <p:grpSp>
        <p:nvGrpSpPr>
          <p:cNvPr id="13" name="Group 12"/>
          <p:cNvGrpSpPr/>
          <p:nvPr/>
        </p:nvGrpSpPr>
        <p:grpSpPr>
          <a:xfrm>
            <a:off x="1286716" y="830799"/>
            <a:ext cx="6570569" cy="3481902"/>
            <a:chOff x="1259632" y="830799"/>
            <a:chExt cx="6570569" cy="3481902"/>
          </a:xfrm>
        </p:grpSpPr>
        <p:grpSp>
          <p:nvGrpSpPr>
            <p:cNvPr id="10" name="Group 9"/>
            <p:cNvGrpSpPr/>
            <p:nvPr/>
          </p:nvGrpSpPr>
          <p:grpSpPr>
            <a:xfrm>
              <a:off x="5723601" y="1783993"/>
              <a:ext cx="2106600" cy="837024"/>
              <a:chOff x="6317608" y="2175078"/>
              <a:chExt cx="2106600" cy="837024"/>
            </a:xfrm>
          </p:grpSpPr>
          <p:sp>
            <p:nvSpPr>
              <p:cNvPr id="23" name="Rounded Rectangle 22"/>
              <p:cNvSpPr/>
              <p:nvPr/>
            </p:nvSpPr>
            <p:spPr>
              <a:xfrm>
                <a:off x="6444208" y="2292102"/>
                <a:ext cx="198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Объединение ресурсов в пулы</a:t>
                </a:r>
              </a:p>
            </p:txBody>
          </p:sp>
          <p:sp>
            <p:nvSpPr>
              <p:cNvPr id="26" name="Oval 25"/>
              <p:cNvSpPr/>
              <p:nvPr/>
            </p:nvSpPr>
            <p:spPr>
              <a:xfrm>
                <a:off x="6317608" y="2175078"/>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3</a:t>
                </a:r>
              </a:p>
            </p:txBody>
          </p:sp>
        </p:grpSp>
        <p:grpSp>
          <p:nvGrpSpPr>
            <p:cNvPr id="11" name="Group 10"/>
            <p:cNvGrpSpPr/>
            <p:nvPr/>
          </p:nvGrpSpPr>
          <p:grpSpPr>
            <a:xfrm>
              <a:off x="5730725" y="3472535"/>
              <a:ext cx="2092352" cy="840166"/>
              <a:chOff x="5755792" y="3459696"/>
              <a:chExt cx="2092352" cy="840166"/>
            </a:xfrm>
          </p:grpSpPr>
          <p:sp>
            <p:nvSpPr>
              <p:cNvPr id="17" name="Rounded Rectangle 16"/>
              <p:cNvSpPr/>
              <p:nvPr/>
            </p:nvSpPr>
            <p:spPr>
              <a:xfrm>
                <a:off x="5868144" y="3579862"/>
                <a:ext cx="198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Измеряемые показатели обслуживания</a:t>
                </a:r>
              </a:p>
            </p:txBody>
          </p:sp>
          <p:sp>
            <p:nvSpPr>
              <p:cNvPr id="27" name="Oval 26"/>
              <p:cNvSpPr/>
              <p:nvPr/>
            </p:nvSpPr>
            <p:spPr>
              <a:xfrm>
                <a:off x="5755792" y="3459696"/>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5</a:t>
                </a:r>
              </a:p>
            </p:txBody>
          </p:sp>
        </p:grpSp>
        <p:grpSp>
          <p:nvGrpSpPr>
            <p:cNvPr id="9" name="Group 8"/>
            <p:cNvGrpSpPr/>
            <p:nvPr/>
          </p:nvGrpSpPr>
          <p:grpSpPr>
            <a:xfrm>
              <a:off x="1259632" y="3473869"/>
              <a:ext cx="2106000" cy="837499"/>
              <a:chOff x="1502908" y="3462363"/>
              <a:chExt cx="2106000" cy="837499"/>
            </a:xfrm>
          </p:grpSpPr>
          <p:sp>
            <p:nvSpPr>
              <p:cNvPr id="16" name="Rounded Rectangle 15"/>
              <p:cNvSpPr/>
              <p:nvPr/>
            </p:nvSpPr>
            <p:spPr>
              <a:xfrm>
                <a:off x="1628908" y="3579862"/>
                <a:ext cx="198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Оперативность и гибкость</a:t>
                </a:r>
              </a:p>
            </p:txBody>
          </p:sp>
          <p:sp>
            <p:nvSpPr>
              <p:cNvPr id="28" name="Oval 27"/>
              <p:cNvSpPr/>
              <p:nvPr/>
            </p:nvSpPr>
            <p:spPr>
              <a:xfrm>
                <a:off x="1502908" y="3462363"/>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4</a:t>
                </a:r>
              </a:p>
            </p:txBody>
          </p:sp>
        </p:grpSp>
        <p:grpSp>
          <p:nvGrpSpPr>
            <p:cNvPr id="8" name="Group 7"/>
            <p:cNvGrpSpPr/>
            <p:nvPr/>
          </p:nvGrpSpPr>
          <p:grpSpPr>
            <a:xfrm>
              <a:off x="1322632" y="1787214"/>
              <a:ext cx="1980000" cy="830582"/>
              <a:chOff x="564392" y="2029120"/>
              <a:chExt cx="1980000" cy="830582"/>
            </a:xfrm>
          </p:grpSpPr>
          <p:sp>
            <p:nvSpPr>
              <p:cNvPr id="6" name="Rounded Rectangle 5"/>
              <p:cNvSpPr/>
              <p:nvPr/>
            </p:nvSpPr>
            <p:spPr>
              <a:xfrm>
                <a:off x="564392" y="2139702"/>
                <a:ext cx="198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Широкополосный сетевой доступ</a:t>
                </a:r>
              </a:p>
            </p:txBody>
          </p:sp>
          <p:sp>
            <p:nvSpPr>
              <p:cNvPr id="29" name="Oval 28"/>
              <p:cNvSpPr/>
              <p:nvPr/>
            </p:nvSpPr>
            <p:spPr>
              <a:xfrm>
                <a:off x="571216" y="2029120"/>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2</a:t>
                </a:r>
              </a:p>
            </p:txBody>
          </p:sp>
        </p:grpSp>
        <p:cxnSp>
          <p:nvCxnSpPr>
            <p:cNvPr id="37" name="Straight Connector 36"/>
            <p:cNvCxnSpPr/>
            <p:nvPr/>
          </p:nvCxnSpPr>
          <p:spPr>
            <a:xfrm>
              <a:off x="4466859" y="1631593"/>
              <a:ext cx="0" cy="684216"/>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23" idx="1"/>
              <a:endCxn id="16" idx="3"/>
            </p:cNvCxnSpPr>
            <p:nvPr/>
          </p:nvCxnSpPr>
          <p:spPr>
            <a:xfrm flipH="1">
              <a:off x="3365632" y="2261017"/>
              <a:ext cx="2484569" cy="169035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p:cNvCxnSpPr>
              <a:stCxn id="6" idx="3"/>
              <a:endCxn id="17" idx="1"/>
            </p:cNvCxnSpPr>
            <p:nvPr/>
          </p:nvCxnSpPr>
          <p:spPr>
            <a:xfrm>
              <a:off x="3302632" y="2257796"/>
              <a:ext cx="2540445" cy="1694905"/>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grpSp>
          <p:nvGrpSpPr>
            <p:cNvPr id="7" name="Group 6"/>
            <p:cNvGrpSpPr/>
            <p:nvPr/>
          </p:nvGrpSpPr>
          <p:grpSpPr>
            <a:xfrm>
              <a:off x="3524644" y="830799"/>
              <a:ext cx="2087288" cy="832352"/>
              <a:chOff x="3192881" y="803214"/>
              <a:chExt cx="2087288" cy="832352"/>
            </a:xfrm>
          </p:grpSpPr>
          <p:sp>
            <p:nvSpPr>
              <p:cNvPr id="24" name="Rounded Rectangle 23"/>
              <p:cNvSpPr/>
              <p:nvPr/>
            </p:nvSpPr>
            <p:spPr>
              <a:xfrm>
                <a:off x="3300169" y="915566"/>
                <a:ext cx="198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Самообслуживание по требованию.</a:t>
                </a:r>
              </a:p>
            </p:txBody>
          </p:sp>
          <p:sp>
            <p:nvSpPr>
              <p:cNvPr id="25" name="Oval 24"/>
              <p:cNvSpPr/>
              <p:nvPr/>
            </p:nvSpPr>
            <p:spPr>
              <a:xfrm>
                <a:off x="3192881" y="803214"/>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1</a:t>
                </a:r>
              </a:p>
            </p:txBody>
          </p:sp>
        </p:gr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904" y="2315809"/>
              <a:ext cx="2408833" cy="1260000"/>
            </a:xfrm>
            <a:prstGeom prst="snip1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Text Box 41"/>
            <p:cNvSpPr txBox="1">
              <a:spLocks noChangeArrowheads="1"/>
            </p:cNvSpPr>
            <p:nvPr/>
          </p:nvSpPr>
          <p:spPr bwMode="auto">
            <a:xfrm>
              <a:off x="3706716" y="2724151"/>
              <a:ext cx="1527004" cy="461665"/>
            </a:xfrm>
            <a:prstGeom prst="rect">
              <a:avLst/>
            </a:prstGeom>
            <a:noFill/>
          </p:spPr>
          <p:txBody>
            <a:bodyPr wrap="square" rtlCol="0">
              <a:spAutoFit/>
            </a:bodyPr>
            <a:lstStyle>
              <a:defPPr>
                <a:defRPr lang="en-US"/>
              </a:defPPr>
              <a:lvl1pPr>
                <a:defRPr>
                  <a:solidFill>
                    <a:schemeClr val="bg2"/>
                  </a:solidFill>
                </a:defRPr>
              </a:lvl1pPr>
            </a:lstStyle>
            <a:p>
              <a:pPr algn="ctr"/>
              <a:r>
                <a:rPr lang="ru-RU" sz="1200" b="1" i="0" dirty="0">
                  <a:solidFill>
                    <a:srgbClr val="000000"/>
                  </a:solidFill>
                  <a:latin typeface="Arial" pitchFamily="34" charset="0"/>
                  <a:cs typeface="Arial" pitchFamily="34" charset="0"/>
                </a:rPr>
                <a:t>Облачная инфраструктура</a:t>
              </a:r>
            </a:p>
          </p:txBody>
        </p:sp>
      </p:grpSp>
      <p:sp>
        <p:nvSpPr>
          <p:cNvPr id="30" name="TextBox 2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95609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Модели облачных услуг</a:t>
            </a:r>
          </a:p>
        </p:txBody>
      </p:sp>
      <p:grpSp>
        <p:nvGrpSpPr>
          <p:cNvPr id="5" name="Group 4"/>
          <p:cNvGrpSpPr/>
          <p:nvPr/>
        </p:nvGrpSpPr>
        <p:grpSpPr>
          <a:xfrm>
            <a:off x="287524" y="987574"/>
            <a:ext cx="8018276" cy="3240360"/>
            <a:chOff x="323528" y="1047617"/>
            <a:chExt cx="8018276" cy="3240360"/>
          </a:xfrm>
        </p:grpSpPr>
        <p:grpSp>
          <p:nvGrpSpPr>
            <p:cNvPr id="7" name="Group 6"/>
            <p:cNvGrpSpPr/>
            <p:nvPr/>
          </p:nvGrpSpPr>
          <p:grpSpPr>
            <a:xfrm>
              <a:off x="5904148" y="3447811"/>
              <a:ext cx="2437656" cy="840166"/>
              <a:chOff x="5880653" y="3434972"/>
              <a:chExt cx="2437656" cy="840166"/>
            </a:xfrm>
          </p:grpSpPr>
          <p:sp>
            <p:nvSpPr>
              <p:cNvPr id="22" name="Rounded Rectangle 21"/>
              <p:cNvSpPr/>
              <p:nvPr/>
            </p:nvSpPr>
            <p:spPr>
              <a:xfrm>
                <a:off x="5993003" y="3555138"/>
                <a:ext cx="2325306"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200" b="1" i="0" dirty="0">
                    <a:solidFill>
                      <a:srgbClr val="FFFFFF"/>
                    </a:solidFill>
                    <a:latin typeface="Arial" pitchFamily="34" charset="0"/>
                    <a:cs typeface="Arial" pitchFamily="34" charset="0"/>
                  </a:rPr>
                  <a:t>Программное обеспечение как услуга (SaaS)</a:t>
                </a:r>
              </a:p>
            </p:txBody>
          </p:sp>
          <p:sp>
            <p:nvSpPr>
              <p:cNvPr id="23" name="Oval 22"/>
              <p:cNvSpPr/>
              <p:nvPr/>
            </p:nvSpPr>
            <p:spPr>
              <a:xfrm>
                <a:off x="5880653" y="3434972"/>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3</a:t>
                </a:r>
              </a:p>
            </p:txBody>
          </p:sp>
        </p:grpSp>
        <p:grpSp>
          <p:nvGrpSpPr>
            <p:cNvPr id="8" name="Group 7"/>
            <p:cNvGrpSpPr/>
            <p:nvPr/>
          </p:nvGrpSpPr>
          <p:grpSpPr>
            <a:xfrm>
              <a:off x="323528" y="3449145"/>
              <a:ext cx="2684276" cy="837499"/>
              <a:chOff x="471199" y="3437639"/>
              <a:chExt cx="2684276" cy="837499"/>
            </a:xfrm>
          </p:grpSpPr>
          <p:sp>
            <p:nvSpPr>
              <p:cNvPr id="20" name="Rounded Rectangle 19"/>
              <p:cNvSpPr/>
              <p:nvPr/>
            </p:nvSpPr>
            <p:spPr>
              <a:xfrm>
                <a:off x="574270" y="3555138"/>
                <a:ext cx="2581205"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200" b="1" i="0" dirty="0">
                    <a:solidFill>
                      <a:srgbClr val="FFFFFF"/>
                    </a:solidFill>
                    <a:latin typeface="Arial" pitchFamily="34" charset="0"/>
                    <a:cs typeface="Arial" pitchFamily="34" charset="0"/>
                  </a:rPr>
                  <a:t>Платформа как услуга (PaaS)</a:t>
                </a:r>
              </a:p>
            </p:txBody>
          </p:sp>
          <p:sp>
            <p:nvSpPr>
              <p:cNvPr id="21" name="Oval 20"/>
              <p:cNvSpPr/>
              <p:nvPr/>
            </p:nvSpPr>
            <p:spPr>
              <a:xfrm>
                <a:off x="471199" y="3437639"/>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2</a:t>
                </a:r>
              </a:p>
            </p:txBody>
          </p:sp>
        </p:grpSp>
        <p:cxnSp>
          <p:nvCxnSpPr>
            <p:cNvPr id="10" name="Straight Connector 9"/>
            <p:cNvCxnSpPr>
              <a:stCxn id="16" idx="2"/>
            </p:cNvCxnSpPr>
            <p:nvPr/>
          </p:nvCxnSpPr>
          <p:spPr>
            <a:xfrm>
              <a:off x="4458753" y="1879969"/>
              <a:ext cx="8292" cy="909859"/>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15" idx="0"/>
              <a:endCxn id="20" idx="3"/>
            </p:cNvCxnSpPr>
            <p:nvPr/>
          </p:nvCxnSpPr>
          <p:spPr>
            <a:xfrm flipH="1">
              <a:off x="3007804" y="2707993"/>
              <a:ext cx="1399874" cy="121865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a:stCxn id="15" idx="0"/>
              <a:endCxn id="22" idx="1"/>
            </p:cNvCxnSpPr>
            <p:nvPr/>
          </p:nvCxnSpPr>
          <p:spPr>
            <a:xfrm>
              <a:off x="4407678" y="2707993"/>
              <a:ext cx="1608820" cy="1219984"/>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2951820" y="1047617"/>
              <a:ext cx="2892933" cy="832352"/>
              <a:chOff x="2620057" y="1020032"/>
              <a:chExt cx="2892933" cy="832352"/>
            </a:xfrm>
          </p:grpSpPr>
          <p:sp>
            <p:nvSpPr>
              <p:cNvPr id="16" name="Rounded Rectangle 15"/>
              <p:cNvSpPr/>
              <p:nvPr/>
            </p:nvSpPr>
            <p:spPr>
              <a:xfrm>
                <a:off x="2740990" y="1132384"/>
                <a:ext cx="2772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200" b="1" i="0" dirty="0">
                    <a:solidFill>
                      <a:srgbClr val="FFFFFF"/>
                    </a:solidFill>
                    <a:latin typeface="Arial" pitchFamily="34" charset="0"/>
                    <a:cs typeface="Arial" pitchFamily="34" charset="0"/>
                  </a:rPr>
                  <a:t>Инфраструктура как услуга (IaaS)</a:t>
                </a:r>
              </a:p>
            </p:txBody>
          </p:sp>
          <p:sp>
            <p:nvSpPr>
              <p:cNvPr id="17" name="Oval 16"/>
              <p:cNvSpPr/>
              <p:nvPr/>
            </p:nvSpPr>
            <p:spPr>
              <a:xfrm>
                <a:off x="2620057" y="1020032"/>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1</a:t>
                </a:r>
              </a:p>
            </p:txBody>
          </p:sp>
        </p:grp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3132" y="2315809"/>
              <a:ext cx="2408833" cy="1260000"/>
            </a:xfrm>
            <a:prstGeom prst="snip1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41"/>
            <p:cNvSpPr txBox="1">
              <a:spLocks noChangeArrowheads="1"/>
            </p:cNvSpPr>
            <p:nvPr/>
          </p:nvSpPr>
          <p:spPr bwMode="auto">
            <a:xfrm>
              <a:off x="3673508" y="2707993"/>
              <a:ext cx="1468340" cy="461665"/>
            </a:xfrm>
            <a:prstGeom prst="rect">
              <a:avLst/>
            </a:prstGeom>
            <a:noFill/>
          </p:spPr>
          <p:txBody>
            <a:bodyPr wrap="square" rtlCol="0">
              <a:spAutoFit/>
            </a:bodyPr>
            <a:lstStyle>
              <a:defPPr>
                <a:defRPr lang="en-US"/>
              </a:defPPr>
              <a:lvl1pPr>
                <a:defRPr>
                  <a:solidFill>
                    <a:schemeClr val="bg2"/>
                  </a:solidFill>
                </a:defRPr>
              </a:lvl1pPr>
            </a:lstStyle>
            <a:p>
              <a:pPr algn="ctr"/>
              <a:r>
                <a:rPr lang="ru-RU" sz="1200" b="1" i="0" dirty="0">
                  <a:solidFill>
                    <a:srgbClr val="000000"/>
                  </a:solidFill>
                  <a:latin typeface="Arial" pitchFamily="34" charset="0"/>
                  <a:cs typeface="Arial" pitchFamily="34" charset="0"/>
                </a:rPr>
                <a:t>Облачная инфраструктура</a:t>
              </a:r>
            </a:p>
          </p:txBody>
        </p:sp>
      </p:grpSp>
      <p:sp>
        <p:nvSpPr>
          <p:cNvPr id="18" name="TextBox 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455187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Инфраструктура как услуга</a:t>
            </a:r>
          </a:p>
        </p:txBody>
      </p:sp>
      <p:grpSp>
        <p:nvGrpSpPr>
          <p:cNvPr id="26" name="Group 25"/>
          <p:cNvGrpSpPr/>
          <p:nvPr/>
        </p:nvGrpSpPr>
        <p:grpSpPr>
          <a:xfrm>
            <a:off x="182400" y="990000"/>
            <a:ext cx="4770600" cy="3673574"/>
            <a:chOff x="290991" y="914400"/>
            <a:chExt cx="4770600" cy="3673574"/>
          </a:xfrm>
        </p:grpSpPr>
        <p:sp>
          <p:nvSpPr>
            <p:cNvPr id="25" name="Rectangle 24"/>
            <p:cNvSpPr/>
            <p:nvPr/>
          </p:nvSpPr>
          <p:spPr>
            <a:xfrm>
              <a:off x="290991" y="1047199"/>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nvGrpSpPr>
            <p:cNvPr id="5" name="Group 4"/>
            <p:cNvGrpSpPr/>
            <p:nvPr/>
          </p:nvGrpSpPr>
          <p:grpSpPr>
            <a:xfrm>
              <a:off x="343787" y="914400"/>
              <a:ext cx="4717804" cy="3673574"/>
              <a:chOff x="343787" y="914400"/>
              <a:chExt cx="4717804" cy="3673574"/>
            </a:xfrm>
          </p:grpSpPr>
          <p:sp>
            <p:nvSpPr>
              <p:cNvPr id="6" name="Rectangle 5"/>
              <p:cNvSpPr/>
              <p:nvPr/>
            </p:nvSpPr>
            <p:spPr>
              <a:xfrm>
                <a:off x="609599" y="1113130"/>
                <a:ext cx="4451992" cy="347484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300" b="0" i="0" dirty="0">
                    <a:solidFill>
                      <a:srgbClr val="000000"/>
                    </a:solidFill>
                    <a:latin typeface="Arial" pitchFamily="34" charset="0"/>
                    <a:cs typeface="Arial" pitchFamily="34" charset="0"/>
                  </a:rPr>
                  <a:t>Пользователь может выделять</a:t>
                </a:r>
                <a:br>
                  <a:rPr lang="en-US" sz="1300" b="0" i="0" dirty="0">
                    <a:solidFill>
                      <a:srgbClr val="FF00FF"/>
                    </a:solidFill>
                    <a:latin typeface="Arial" pitchFamily="34" charset="0"/>
                    <a:cs typeface="Arial" pitchFamily="34" charset="0"/>
                  </a:rPr>
                </a:br>
                <a:r>
                  <a:rPr lang="ru-RU" sz="1300" b="0" i="0" dirty="0">
                    <a:solidFill>
                      <a:srgbClr val="000000"/>
                    </a:solidFill>
                    <a:latin typeface="Arial" pitchFamily="34" charset="0"/>
                    <a:cs typeface="Arial" pitchFamily="34" charset="0"/>
                  </a:rPr>
                  <a:t>процессорные ресурсы, системы хранения данных, сети и другие базовые вычислительные ресурсы,</a:t>
                </a:r>
                <a:br>
                  <a:rPr lang="en-US" sz="1300" dirty="0">
                    <a:solidFill>
                      <a:srgbClr val="FF00FF"/>
                    </a:solidFill>
                    <a:latin typeface="Arial" pitchFamily="34" charset="0"/>
                    <a:cs typeface="Arial" pitchFamily="34" charset="0"/>
                  </a:rPr>
                </a:br>
                <a:r>
                  <a:rPr lang="ru-RU" sz="1300" b="0" i="0" dirty="0">
                    <a:solidFill>
                      <a:srgbClr val="000000"/>
                    </a:solidFill>
                    <a:latin typeface="Arial" pitchFamily="34" charset="0"/>
                    <a:cs typeface="Arial" pitchFamily="34" charset="0"/>
                  </a:rPr>
                  <a:t>на базе которых можно развертывать и запускать произвольное программное обеспечение,</a:t>
                </a:r>
                <a:br>
                  <a:rPr lang="en-US" sz="1300" b="0" i="0" dirty="0">
                    <a:solidFill>
                      <a:srgbClr val="FF00FF"/>
                    </a:solidFill>
                    <a:latin typeface="Arial" pitchFamily="34" charset="0"/>
                    <a:cs typeface="Arial" pitchFamily="34" charset="0"/>
                  </a:rPr>
                </a:br>
                <a:r>
                  <a:rPr lang="ru-RU" sz="1300" b="0" i="0" dirty="0">
                    <a:solidFill>
                      <a:srgbClr val="000000"/>
                    </a:solidFill>
                    <a:latin typeface="Arial" pitchFamily="34" charset="0"/>
                    <a:cs typeface="Arial" pitchFamily="34" charset="0"/>
                  </a:rPr>
                  <a:t>например операционные системы и приложения. Пользователь не управляет базовой</a:t>
                </a:r>
                <a:br>
                  <a:rPr lang="en-US" sz="1300" b="0" i="0" dirty="0">
                    <a:solidFill>
                      <a:srgbClr val="FF00FF"/>
                    </a:solidFill>
                    <a:latin typeface="Arial" pitchFamily="34" charset="0"/>
                    <a:cs typeface="Arial" pitchFamily="34" charset="0"/>
                  </a:rPr>
                </a:br>
                <a:r>
                  <a:rPr lang="ru-RU" sz="1300" b="0" i="0" dirty="0">
                    <a:solidFill>
                      <a:srgbClr val="000000"/>
                    </a:solidFill>
                    <a:latin typeface="Arial" pitchFamily="34" charset="0"/>
                    <a:cs typeface="Arial" pitchFamily="34" charset="0"/>
                  </a:rPr>
                  <a:t>облачной инфраструктурой, однако может управлять операционными системами и развернутыми приложениями. Кроме того,</a:t>
                </a:r>
                <a:br>
                  <a:rPr lang="en-US" sz="1300" b="0" i="0" dirty="0">
                    <a:solidFill>
                      <a:srgbClr val="FF00FF"/>
                    </a:solidFill>
                    <a:latin typeface="Arial" pitchFamily="34" charset="0"/>
                    <a:cs typeface="Arial" pitchFamily="34" charset="0"/>
                  </a:rPr>
                </a:br>
                <a:r>
                  <a:rPr lang="ru-RU" sz="1300" b="0" i="0" dirty="0">
                    <a:solidFill>
                      <a:srgbClr val="000000"/>
                    </a:solidFill>
                    <a:latin typeface="Arial" pitchFamily="34" charset="0"/>
                    <a:cs typeface="Arial" pitchFamily="34" charset="0"/>
                  </a:rPr>
                  <a:t>он может ограниченно влиять на отдельные сетевые компоненты (например,</a:t>
                </a:r>
                <a:r>
                  <a:rPr lang="ru-RU" sz="1300" b="0" i="0" dirty="0">
                    <a:solidFill>
                      <a:srgbClr val="FF0000"/>
                    </a:solidFill>
                    <a:latin typeface="Arial" pitchFamily="34" charset="0"/>
                    <a:cs typeface="Arial" pitchFamily="34" charset="0"/>
                  </a:rPr>
                  <a:t> </a:t>
                </a:r>
                <a:r>
                  <a:rPr lang="ru-RU" sz="1300" b="0" i="0" dirty="0">
                    <a:solidFill>
                      <a:srgbClr val="000000"/>
                    </a:solidFill>
                    <a:latin typeface="Arial" pitchFamily="34" charset="0"/>
                    <a:cs typeface="Arial" pitchFamily="34" charset="0"/>
                  </a:rPr>
                  <a:t>брандмауэры на хостах).</a:t>
                </a:r>
              </a:p>
              <a:p>
                <a:endParaRPr lang="en-US" sz="300" dirty="0">
                  <a:solidFill>
                    <a:schemeClr val="tx1"/>
                  </a:solidFill>
                  <a:latin typeface="Arial" pitchFamily="34" charset="0"/>
                  <a:cs typeface="Arial" pitchFamily="34" charset="0"/>
                </a:endParaRPr>
              </a:p>
              <a:p>
                <a:pPr algn="r"/>
                <a:r>
                  <a:rPr lang="ru-RU" sz="900" b="0" i="1" dirty="0">
                    <a:solidFill>
                      <a:srgbClr val="000000"/>
                    </a:solidFill>
                    <a:latin typeface="Arial" pitchFamily="34" charset="0"/>
                    <a:cs typeface="Arial" pitchFamily="34" charset="0"/>
                  </a:rPr>
                  <a:t>— Национальный институт стандартов и технологий США, </a:t>
                </a:r>
                <a:br>
                  <a:rPr lang="en-US" sz="900" b="0" i="1" dirty="0">
                    <a:solidFill>
                      <a:srgbClr val="FF00FF"/>
                    </a:solidFill>
                    <a:latin typeface="Arial" pitchFamily="34" charset="0"/>
                    <a:cs typeface="Arial" pitchFamily="34" charset="0"/>
                  </a:rPr>
                </a:br>
                <a:r>
                  <a:rPr lang="ru-RU" sz="900" b="0" i="1" dirty="0">
                    <a:solidFill>
                      <a:srgbClr val="000000"/>
                    </a:solidFill>
                    <a:latin typeface="Arial" pitchFamily="34" charset="0"/>
                    <a:cs typeface="Arial" pitchFamily="34" charset="0"/>
                  </a:rPr>
                  <a:t>Special Publication 800-145</a:t>
                </a:r>
              </a:p>
            </p:txBody>
          </p:sp>
          <p:sp>
            <p:nvSpPr>
              <p:cNvPr id="7" name="Rectangle 6"/>
              <p:cNvSpPr/>
              <p:nvPr/>
            </p:nvSpPr>
            <p:spPr>
              <a:xfrm>
                <a:off x="343787" y="914400"/>
                <a:ext cx="34200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ru-RU" sz="1500" b="1" i="0" dirty="0">
                    <a:solidFill>
                      <a:srgbClr val="FFFFFF"/>
                    </a:solidFill>
                    <a:latin typeface="Arial" pitchFamily="34" charset="0"/>
                    <a:cs typeface="Arial" pitchFamily="34" charset="0"/>
                  </a:rPr>
                  <a:t>Инфраструктура как услуга</a:t>
                </a:r>
              </a:p>
            </p:txBody>
          </p:sp>
        </p:grpSp>
      </p:grpSp>
      <p:grpSp>
        <p:nvGrpSpPr>
          <p:cNvPr id="8" name="Group 7"/>
          <p:cNvGrpSpPr/>
          <p:nvPr/>
        </p:nvGrpSpPr>
        <p:grpSpPr>
          <a:xfrm>
            <a:off x="5004048" y="1707187"/>
            <a:ext cx="3758953" cy="2088000"/>
            <a:chOff x="5134909" y="1635878"/>
            <a:chExt cx="3987553" cy="2088000"/>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132" y="2025817"/>
              <a:ext cx="2982606" cy="15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161"/>
            <p:cNvSpPr txBox="1">
              <a:spLocks noChangeArrowheads="1"/>
            </p:cNvSpPr>
            <p:nvPr/>
          </p:nvSpPr>
          <p:spPr bwMode="auto">
            <a:xfrm>
              <a:off x="7598462" y="2878464"/>
              <a:ext cx="1524000" cy="276999"/>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900" b="1" i="0" dirty="0">
                  <a:solidFill>
                    <a:srgbClr val="000000"/>
                  </a:solidFill>
                  <a:latin typeface="Arial" pitchFamily="34" charset="0"/>
                  <a:cs typeface="Arial" pitchFamily="34" charset="0"/>
                </a:rPr>
                <a:t>Облачная инфраструктура</a:t>
              </a:r>
            </a:p>
          </p:txBody>
        </p:sp>
        <p:sp>
          <p:nvSpPr>
            <p:cNvPr id="11" name="Text Box 161"/>
            <p:cNvSpPr txBox="1">
              <a:spLocks noChangeArrowheads="1"/>
            </p:cNvSpPr>
            <p:nvPr/>
          </p:nvSpPr>
          <p:spPr bwMode="auto">
            <a:xfrm>
              <a:off x="5180593" y="3105633"/>
              <a:ext cx="1122468" cy="246221"/>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800" b="1" i="0" dirty="0">
                  <a:solidFill>
                    <a:srgbClr val="000000"/>
                  </a:solidFill>
                  <a:latin typeface="Arial" pitchFamily="34" charset="0"/>
                  <a:cs typeface="Arial" pitchFamily="34" charset="0"/>
                </a:rPr>
                <a:t>Ресурсы поставщика</a:t>
              </a:r>
            </a:p>
          </p:txBody>
        </p:sp>
        <p:sp>
          <p:nvSpPr>
            <p:cNvPr id="12" name="Text Box 161"/>
            <p:cNvSpPr txBox="1">
              <a:spLocks noChangeArrowheads="1"/>
            </p:cNvSpPr>
            <p:nvPr/>
          </p:nvSpPr>
          <p:spPr bwMode="auto">
            <a:xfrm>
              <a:off x="5134909" y="2068897"/>
              <a:ext cx="1168152" cy="246221"/>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800" b="1" i="0" dirty="0">
                  <a:solidFill>
                    <a:srgbClr val="000000"/>
                  </a:solidFill>
                  <a:latin typeface="Arial" pitchFamily="34" charset="0"/>
                  <a:cs typeface="Arial" pitchFamily="34" charset="0"/>
                </a:rPr>
                <a:t>Ресурсы пользователя </a:t>
              </a:r>
            </a:p>
          </p:txBody>
        </p:sp>
        <p:sp>
          <p:nvSpPr>
            <p:cNvPr id="13" name="Left Bracket 12"/>
            <p:cNvSpPr/>
            <p:nvPr/>
          </p:nvSpPr>
          <p:spPr>
            <a:xfrm>
              <a:off x="6628208" y="2866132"/>
              <a:ext cx="144016" cy="756000"/>
            </a:xfrm>
            <a:prstGeom prst="leftBracket">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sp>
          <p:nvSpPr>
            <p:cNvPr id="14" name="Left Bracket 13"/>
            <p:cNvSpPr/>
            <p:nvPr/>
          </p:nvSpPr>
          <p:spPr>
            <a:xfrm>
              <a:off x="6628208" y="1667396"/>
              <a:ext cx="144016" cy="1080000"/>
            </a:xfrm>
            <a:prstGeom prst="leftBracket">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cxnSp>
          <p:nvCxnSpPr>
            <p:cNvPr id="15" name="Straight Connector 14"/>
            <p:cNvCxnSpPr>
              <a:stCxn id="14" idx="1"/>
              <a:endCxn id="12" idx="3"/>
            </p:cNvCxnSpPr>
            <p:nvPr/>
          </p:nvCxnSpPr>
          <p:spPr>
            <a:xfrm flipH="1" flipV="1">
              <a:off x="6303061" y="2192008"/>
              <a:ext cx="325147" cy="15388"/>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3" idx="1"/>
              <a:endCxn id="11" idx="3"/>
            </p:cNvCxnSpPr>
            <p:nvPr/>
          </p:nvCxnSpPr>
          <p:spPr>
            <a:xfrm flipH="1" flipV="1">
              <a:off x="6303061" y="3228744"/>
              <a:ext cx="325147" cy="15388"/>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p:cNvGrpSpPr>
              <a:grpSpLocks noChangeAspect="1"/>
            </p:cNvGrpSpPr>
            <p:nvPr/>
          </p:nvGrpSpPr>
          <p:grpSpPr>
            <a:xfrm>
              <a:off x="6823063" y="1635878"/>
              <a:ext cx="867345" cy="2088000"/>
              <a:chOff x="4708975" y="2024888"/>
              <a:chExt cx="1296000" cy="3119936"/>
            </a:xfrm>
          </p:grpSpPr>
          <p:sp>
            <p:nvSpPr>
              <p:cNvPr id="18" name="Rounded Rectangle 17"/>
              <p:cNvSpPr>
                <a:spLocks noChangeArrowheads="1"/>
              </p:cNvSpPr>
              <p:nvPr/>
            </p:nvSpPr>
            <p:spPr bwMode="auto">
              <a:xfrm>
                <a:off x="4708975" y="2024888"/>
                <a:ext cx="1296000" cy="396000"/>
              </a:xfrm>
              <a:prstGeom prst="roundRect">
                <a:avLst/>
              </a:prstGeom>
              <a:solidFill>
                <a:srgbClr val="E57C09"/>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Приложение</a:t>
                </a:r>
              </a:p>
            </p:txBody>
          </p:sp>
          <p:sp>
            <p:nvSpPr>
              <p:cNvPr id="19" name="Rectangle 40"/>
              <p:cNvSpPr>
                <a:spLocks noChangeArrowheads="1"/>
              </p:cNvSpPr>
              <p:nvPr/>
            </p:nvSpPr>
            <p:spPr bwMode="auto">
              <a:xfrm>
                <a:off x="4708975" y="3840844"/>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Вычислительные ресурсы</a:t>
                </a:r>
              </a:p>
            </p:txBody>
          </p:sp>
          <p:sp>
            <p:nvSpPr>
              <p:cNvPr id="20" name="Rectangle 40"/>
              <p:cNvSpPr>
                <a:spLocks noChangeArrowheads="1"/>
              </p:cNvSpPr>
              <p:nvPr/>
            </p:nvSpPr>
            <p:spPr bwMode="auto">
              <a:xfrm>
                <a:off x="4708975" y="4294833"/>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СХД</a:t>
                </a:r>
              </a:p>
            </p:txBody>
          </p:sp>
          <p:sp>
            <p:nvSpPr>
              <p:cNvPr id="21" name="Rounded Rectangle 20"/>
              <p:cNvSpPr>
                <a:spLocks noChangeArrowheads="1"/>
              </p:cNvSpPr>
              <p:nvPr/>
            </p:nvSpPr>
            <p:spPr bwMode="auto">
              <a:xfrm>
                <a:off x="4708975" y="4748824"/>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Сеть</a:t>
                </a:r>
              </a:p>
            </p:txBody>
          </p:sp>
          <p:sp>
            <p:nvSpPr>
              <p:cNvPr id="22" name="Rectangle 40"/>
              <p:cNvSpPr>
                <a:spLocks noChangeArrowheads="1"/>
              </p:cNvSpPr>
              <p:nvPr/>
            </p:nvSpPr>
            <p:spPr bwMode="auto">
              <a:xfrm>
                <a:off x="4708975" y="2478877"/>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База данных</a:t>
                </a:r>
              </a:p>
            </p:txBody>
          </p:sp>
          <p:sp>
            <p:nvSpPr>
              <p:cNvPr id="23" name="Rectangle 40"/>
              <p:cNvSpPr>
                <a:spLocks noChangeArrowheads="1"/>
              </p:cNvSpPr>
              <p:nvPr/>
            </p:nvSpPr>
            <p:spPr bwMode="auto">
              <a:xfrm>
                <a:off x="4708975" y="3386855"/>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ОС</a:t>
                </a:r>
              </a:p>
            </p:txBody>
          </p:sp>
          <p:sp>
            <p:nvSpPr>
              <p:cNvPr id="24" name="Rectangle 40"/>
              <p:cNvSpPr>
                <a:spLocks noChangeArrowheads="1"/>
              </p:cNvSpPr>
              <p:nvPr/>
            </p:nvSpPr>
            <p:spPr bwMode="auto">
              <a:xfrm>
                <a:off x="4708975" y="2932866"/>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Средство программирования</a:t>
                </a:r>
              </a:p>
            </p:txBody>
          </p:sp>
        </p:grpSp>
      </p:grpSp>
      <p:sp>
        <p:nvSpPr>
          <p:cNvPr id="27" name="TextBox 2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85195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Модель «платформа как услуга»</a:t>
            </a:r>
          </a:p>
        </p:txBody>
      </p:sp>
      <p:grpSp>
        <p:nvGrpSpPr>
          <p:cNvPr id="8" name="Group 7"/>
          <p:cNvGrpSpPr/>
          <p:nvPr/>
        </p:nvGrpSpPr>
        <p:grpSpPr>
          <a:xfrm>
            <a:off x="5004048" y="1694954"/>
            <a:ext cx="3911829" cy="2100233"/>
            <a:chOff x="5134909" y="1623645"/>
            <a:chExt cx="3911829" cy="2100233"/>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132" y="2025817"/>
              <a:ext cx="2982606" cy="15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161"/>
            <p:cNvSpPr txBox="1">
              <a:spLocks noChangeArrowheads="1"/>
            </p:cNvSpPr>
            <p:nvPr/>
          </p:nvSpPr>
          <p:spPr bwMode="auto">
            <a:xfrm>
              <a:off x="7674661" y="2860481"/>
              <a:ext cx="1081112" cy="276999"/>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900" b="1" i="0" dirty="0">
                  <a:solidFill>
                    <a:srgbClr val="000000"/>
                  </a:solidFill>
                  <a:latin typeface="Arial" pitchFamily="34" charset="0"/>
                  <a:cs typeface="Arial" pitchFamily="34" charset="0"/>
                </a:rPr>
                <a:t>Облачная инфраструктура</a:t>
              </a:r>
            </a:p>
          </p:txBody>
        </p:sp>
        <p:sp>
          <p:nvSpPr>
            <p:cNvPr id="11" name="Text Box 161"/>
            <p:cNvSpPr txBox="1">
              <a:spLocks noChangeArrowheads="1"/>
            </p:cNvSpPr>
            <p:nvPr/>
          </p:nvSpPr>
          <p:spPr bwMode="auto">
            <a:xfrm>
              <a:off x="5180593" y="2660486"/>
              <a:ext cx="817668" cy="246221"/>
            </a:xfrm>
            <a:prstGeom prst="rect">
              <a:avLst/>
            </a:prstGeom>
            <a:noFill/>
            <a:ln w="25400" algn="ctr">
              <a:noFill/>
              <a:miter lim="800000"/>
              <a:headEnd/>
              <a:tailEnd type="none" w="lg" len="med"/>
            </a:ln>
          </p:spPr>
          <p:txBody>
            <a:bodyPr wrap="square" lIns="0" tIns="0" rIns="0" bIns="0">
              <a:spAutoFit/>
            </a:bodyPr>
            <a:lstStyle/>
            <a:p>
              <a:pPr defTabSz="941388" fontAlgn="base">
                <a:spcBef>
                  <a:spcPct val="0"/>
                </a:spcBef>
                <a:spcAft>
                  <a:spcPct val="0"/>
                </a:spcAft>
              </a:pPr>
              <a:r>
                <a:rPr lang="ru-RU" sz="800" b="1" i="0" dirty="0">
                  <a:solidFill>
                    <a:srgbClr val="000000"/>
                  </a:solidFill>
                  <a:latin typeface="Arial" pitchFamily="34" charset="0"/>
                  <a:cs typeface="Arial" pitchFamily="34" charset="0"/>
                </a:rPr>
                <a:t>Ресурсы поставщика</a:t>
              </a:r>
            </a:p>
          </p:txBody>
        </p:sp>
        <p:sp>
          <p:nvSpPr>
            <p:cNvPr id="12" name="Text Box 161"/>
            <p:cNvSpPr txBox="1">
              <a:spLocks noChangeArrowheads="1"/>
            </p:cNvSpPr>
            <p:nvPr/>
          </p:nvSpPr>
          <p:spPr bwMode="auto">
            <a:xfrm>
              <a:off x="5134909" y="1623645"/>
              <a:ext cx="939552" cy="246221"/>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800" b="1" i="0" dirty="0">
                  <a:solidFill>
                    <a:srgbClr val="000000"/>
                  </a:solidFill>
                  <a:latin typeface="Arial" pitchFamily="34" charset="0"/>
                  <a:cs typeface="Arial" pitchFamily="34" charset="0"/>
                </a:rPr>
                <a:t>Ресурсы пользователя </a:t>
              </a:r>
            </a:p>
          </p:txBody>
        </p:sp>
        <p:sp>
          <p:nvSpPr>
            <p:cNvPr id="13" name="Left Bracket 12"/>
            <p:cNvSpPr/>
            <p:nvPr/>
          </p:nvSpPr>
          <p:spPr>
            <a:xfrm>
              <a:off x="6628208" y="1970985"/>
              <a:ext cx="144016" cy="1656000"/>
            </a:xfrm>
            <a:prstGeom prst="leftBracket">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sp>
          <p:nvSpPr>
            <p:cNvPr id="14" name="Left Bracket 13"/>
            <p:cNvSpPr/>
            <p:nvPr/>
          </p:nvSpPr>
          <p:spPr>
            <a:xfrm>
              <a:off x="6628208" y="1672144"/>
              <a:ext cx="144016" cy="180000"/>
            </a:xfrm>
            <a:prstGeom prst="leftBracket">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cxnSp>
          <p:nvCxnSpPr>
            <p:cNvPr id="15" name="Straight Connector 14"/>
            <p:cNvCxnSpPr>
              <a:stCxn id="14" idx="1"/>
              <a:endCxn id="12" idx="3"/>
            </p:cNvCxnSpPr>
            <p:nvPr/>
          </p:nvCxnSpPr>
          <p:spPr>
            <a:xfrm flipH="1" flipV="1">
              <a:off x="6074461" y="1746756"/>
              <a:ext cx="553747" cy="1538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3" idx="1"/>
              <a:endCxn id="11" idx="3"/>
            </p:cNvCxnSpPr>
            <p:nvPr/>
          </p:nvCxnSpPr>
          <p:spPr>
            <a:xfrm flipH="1" flipV="1">
              <a:off x="5998261" y="2783597"/>
              <a:ext cx="629947" cy="1538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p:cNvGrpSpPr>
              <a:grpSpLocks noChangeAspect="1"/>
            </p:cNvGrpSpPr>
            <p:nvPr/>
          </p:nvGrpSpPr>
          <p:grpSpPr>
            <a:xfrm>
              <a:off x="6823063" y="1635878"/>
              <a:ext cx="867345" cy="2088000"/>
              <a:chOff x="4708975" y="2024888"/>
              <a:chExt cx="1296000" cy="3119936"/>
            </a:xfrm>
          </p:grpSpPr>
          <p:sp>
            <p:nvSpPr>
              <p:cNvPr id="18" name="Rounded Rectangle 17"/>
              <p:cNvSpPr>
                <a:spLocks noChangeArrowheads="1"/>
              </p:cNvSpPr>
              <p:nvPr/>
            </p:nvSpPr>
            <p:spPr bwMode="auto">
              <a:xfrm>
                <a:off x="4708975" y="2024888"/>
                <a:ext cx="1296000" cy="396000"/>
              </a:xfrm>
              <a:prstGeom prst="roundRect">
                <a:avLst/>
              </a:prstGeom>
              <a:solidFill>
                <a:srgbClr val="E57C09"/>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Приложение</a:t>
                </a:r>
              </a:p>
            </p:txBody>
          </p:sp>
          <p:sp>
            <p:nvSpPr>
              <p:cNvPr id="19" name="Rectangle 40"/>
              <p:cNvSpPr>
                <a:spLocks noChangeArrowheads="1"/>
              </p:cNvSpPr>
              <p:nvPr/>
            </p:nvSpPr>
            <p:spPr bwMode="auto">
              <a:xfrm>
                <a:off x="4708975" y="3840844"/>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Вычислительные ресурсы</a:t>
                </a:r>
              </a:p>
            </p:txBody>
          </p:sp>
          <p:sp>
            <p:nvSpPr>
              <p:cNvPr id="20" name="Rectangle 40"/>
              <p:cNvSpPr>
                <a:spLocks noChangeArrowheads="1"/>
              </p:cNvSpPr>
              <p:nvPr/>
            </p:nvSpPr>
            <p:spPr bwMode="auto">
              <a:xfrm>
                <a:off x="4708975" y="4294833"/>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СХД</a:t>
                </a:r>
              </a:p>
            </p:txBody>
          </p:sp>
          <p:sp>
            <p:nvSpPr>
              <p:cNvPr id="21" name="Rounded Rectangle 20"/>
              <p:cNvSpPr>
                <a:spLocks noChangeArrowheads="1"/>
              </p:cNvSpPr>
              <p:nvPr/>
            </p:nvSpPr>
            <p:spPr bwMode="auto">
              <a:xfrm>
                <a:off x="4708975" y="4748824"/>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Сеть</a:t>
                </a:r>
              </a:p>
            </p:txBody>
          </p:sp>
          <p:sp>
            <p:nvSpPr>
              <p:cNvPr id="22" name="Rectangle 40"/>
              <p:cNvSpPr>
                <a:spLocks noChangeArrowheads="1"/>
              </p:cNvSpPr>
              <p:nvPr/>
            </p:nvSpPr>
            <p:spPr bwMode="auto">
              <a:xfrm>
                <a:off x="4708975" y="2478877"/>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База данных</a:t>
                </a:r>
              </a:p>
            </p:txBody>
          </p:sp>
          <p:sp>
            <p:nvSpPr>
              <p:cNvPr id="23" name="Rectangle 40"/>
              <p:cNvSpPr>
                <a:spLocks noChangeArrowheads="1"/>
              </p:cNvSpPr>
              <p:nvPr/>
            </p:nvSpPr>
            <p:spPr bwMode="auto">
              <a:xfrm>
                <a:off x="4708975" y="3386855"/>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ОС</a:t>
                </a:r>
              </a:p>
            </p:txBody>
          </p:sp>
          <p:sp>
            <p:nvSpPr>
              <p:cNvPr id="24" name="Rectangle 40"/>
              <p:cNvSpPr>
                <a:spLocks noChangeArrowheads="1"/>
              </p:cNvSpPr>
              <p:nvPr/>
            </p:nvSpPr>
            <p:spPr bwMode="auto">
              <a:xfrm>
                <a:off x="4708975" y="2932866"/>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Средство программирования</a:t>
                </a:r>
              </a:p>
            </p:txBody>
          </p:sp>
        </p:grpSp>
      </p:grpSp>
      <p:grpSp>
        <p:nvGrpSpPr>
          <p:cNvPr id="25" name="Group 24"/>
          <p:cNvGrpSpPr/>
          <p:nvPr/>
        </p:nvGrpSpPr>
        <p:grpSpPr>
          <a:xfrm>
            <a:off x="307759" y="990000"/>
            <a:ext cx="4569041" cy="3453958"/>
            <a:chOff x="290991" y="914400"/>
            <a:chExt cx="4569041" cy="3453958"/>
          </a:xfrm>
        </p:grpSpPr>
        <p:sp>
          <p:nvSpPr>
            <p:cNvPr id="26" name="Rectangle 25"/>
            <p:cNvSpPr/>
            <p:nvPr/>
          </p:nvSpPr>
          <p:spPr>
            <a:xfrm>
              <a:off x="290991" y="1047199"/>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nvGrpSpPr>
            <p:cNvPr id="27" name="Group 26"/>
            <p:cNvGrpSpPr/>
            <p:nvPr/>
          </p:nvGrpSpPr>
          <p:grpSpPr>
            <a:xfrm>
              <a:off x="343787" y="914400"/>
              <a:ext cx="4516245" cy="3453958"/>
              <a:chOff x="343787" y="914400"/>
              <a:chExt cx="4516245" cy="3453958"/>
            </a:xfrm>
          </p:grpSpPr>
          <p:sp>
            <p:nvSpPr>
              <p:cNvPr id="28" name="Rectangle 27"/>
              <p:cNvSpPr/>
              <p:nvPr/>
            </p:nvSpPr>
            <p:spPr>
              <a:xfrm>
                <a:off x="609600" y="1113130"/>
                <a:ext cx="4250432" cy="325522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300" b="0" i="0" dirty="0">
                    <a:solidFill>
                      <a:srgbClr val="000000"/>
                    </a:solidFill>
                    <a:latin typeface="Arial" pitchFamily="34" charset="0"/>
                    <a:cs typeface="Arial" pitchFamily="34" charset="0"/>
                  </a:rPr>
                  <a:t>Пользователь может развертывать на базе облачной инфраструктуры собственные или приобретенные приложения, созданные с использованием языков программирования, библиотек, сервисов и инструментов, которые поддерживаются поставщиком услуг. Пользователь не может управлять базовой облачной инфраструктурой, включая сеть, серверы, операционные системы или системы хранения данных, однако может управлять развернутыми приложениями и влиять на настройки конфигурации для среды приложений.</a:t>
                </a:r>
              </a:p>
              <a:p>
                <a:endParaRPr lang="en-US" sz="300" dirty="0">
                  <a:solidFill>
                    <a:schemeClr val="tx1"/>
                  </a:solidFill>
                  <a:latin typeface="Arial" pitchFamily="34" charset="0"/>
                  <a:cs typeface="Arial" pitchFamily="34" charset="0"/>
                </a:endParaRPr>
              </a:p>
              <a:p>
                <a:pPr algn="r"/>
                <a:r>
                  <a:rPr lang="ru-RU" sz="900" b="0" i="1" dirty="0">
                    <a:solidFill>
                      <a:srgbClr val="000000"/>
                    </a:solidFill>
                    <a:latin typeface="Arial" pitchFamily="34" charset="0"/>
                    <a:cs typeface="Arial" pitchFamily="34" charset="0"/>
                  </a:rPr>
                  <a:t>— Национальный институт стандартов и технологий США, </a:t>
                </a:r>
                <a:br>
                  <a:rPr lang="en-US" sz="900" b="0" i="1" dirty="0">
                    <a:solidFill>
                      <a:srgbClr val="FF00FF"/>
                    </a:solidFill>
                    <a:latin typeface="Arial" pitchFamily="34" charset="0"/>
                    <a:cs typeface="Arial" pitchFamily="34" charset="0"/>
                  </a:rPr>
                </a:br>
                <a:r>
                  <a:rPr lang="ru-RU" sz="900" b="0" i="1" dirty="0">
                    <a:solidFill>
                      <a:srgbClr val="000000"/>
                    </a:solidFill>
                    <a:latin typeface="Arial" pitchFamily="34" charset="0"/>
                    <a:cs typeface="Arial" pitchFamily="34" charset="0"/>
                  </a:rPr>
                  <a:t>Special Publication 800-145</a:t>
                </a:r>
              </a:p>
            </p:txBody>
          </p:sp>
          <p:sp>
            <p:nvSpPr>
              <p:cNvPr id="29" name="Rectangle 28"/>
              <p:cNvSpPr/>
              <p:nvPr/>
            </p:nvSpPr>
            <p:spPr>
              <a:xfrm>
                <a:off x="343787" y="914400"/>
                <a:ext cx="34200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ru-RU" sz="1500" b="1" i="0" dirty="0">
                    <a:solidFill>
                      <a:srgbClr val="FFFFFF"/>
                    </a:solidFill>
                    <a:latin typeface="Arial" pitchFamily="34" charset="0"/>
                    <a:cs typeface="Arial" pitchFamily="34" charset="0"/>
                  </a:rPr>
                  <a:t>Модель «платформа как услуга»</a:t>
                </a:r>
              </a:p>
            </p:txBody>
          </p:sp>
        </p:grpSp>
      </p:grpSp>
      <p:sp>
        <p:nvSpPr>
          <p:cNvPr id="30" name="TextBox 2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53550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Программное обеспечение как услуга</a:t>
            </a:r>
          </a:p>
        </p:txBody>
      </p:sp>
      <p:grpSp>
        <p:nvGrpSpPr>
          <p:cNvPr id="8" name="Group 7"/>
          <p:cNvGrpSpPr/>
          <p:nvPr/>
        </p:nvGrpSpPr>
        <p:grpSpPr>
          <a:xfrm>
            <a:off x="5076056" y="1707187"/>
            <a:ext cx="3839821" cy="2088000"/>
            <a:chOff x="5206917" y="1635878"/>
            <a:chExt cx="3839821" cy="2088000"/>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132" y="2025817"/>
              <a:ext cx="2982606" cy="15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161"/>
            <p:cNvSpPr txBox="1">
              <a:spLocks noChangeArrowheads="1"/>
            </p:cNvSpPr>
            <p:nvPr/>
          </p:nvSpPr>
          <p:spPr bwMode="auto">
            <a:xfrm>
              <a:off x="7965149" y="2805241"/>
              <a:ext cx="1081112" cy="276999"/>
            </a:xfrm>
            <a:prstGeom prst="rect">
              <a:avLst/>
            </a:prstGeom>
            <a:noFill/>
            <a:ln w="25400" algn="ctr">
              <a:noFill/>
              <a:miter lim="800000"/>
              <a:headEnd/>
              <a:tailEnd type="none" w="lg" len="med"/>
            </a:ln>
          </p:spPr>
          <p:txBody>
            <a:bodyPr wrap="square" lIns="0" tIns="0" rIns="0" bIns="0">
              <a:spAutoFit/>
            </a:bodyPr>
            <a:lstStyle/>
            <a:p>
              <a:pPr defTabSz="941388" fontAlgn="base">
                <a:spcBef>
                  <a:spcPct val="0"/>
                </a:spcBef>
                <a:spcAft>
                  <a:spcPct val="0"/>
                </a:spcAft>
              </a:pPr>
              <a:r>
                <a:rPr lang="ru-RU" sz="900" b="1" i="0" dirty="0">
                  <a:solidFill>
                    <a:srgbClr val="000000"/>
                  </a:solidFill>
                  <a:latin typeface="Arial" pitchFamily="34" charset="0"/>
                  <a:cs typeface="Arial" pitchFamily="34" charset="0"/>
                </a:rPr>
                <a:t>Облачная инфраструктура</a:t>
              </a:r>
            </a:p>
          </p:txBody>
        </p:sp>
        <p:sp>
          <p:nvSpPr>
            <p:cNvPr id="11" name="Text Box 161"/>
            <p:cNvSpPr txBox="1">
              <a:spLocks noChangeArrowheads="1"/>
            </p:cNvSpPr>
            <p:nvPr/>
          </p:nvSpPr>
          <p:spPr bwMode="auto">
            <a:xfrm>
              <a:off x="5206917" y="2506038"/>
              <a:ext cx="791344" cy="246221"/>
            </a:xfrm>
            <a:prstGeom prst="rect">
              <a:avLst/>
            </a:prstGeom>
            <a:noFill/>
            <a:ln w="25400" algn="ctr">
              <a:noFill/>
              <a:miter lim="800000"/>
              <a:headEnd/>
              <a:tailEnd type="none" w="lg" len="med"/>
            </a:ln>
          </p:spPr>
          <p:txBody>
            <a:bodyPr wrap="square" lIns="0" tIns="0" rIns="0" bIns="0">
              <a:spAutoFit/>
            </a:bodyPr>
            <a:lstStyle/>
            <a:p>
              <a:pPr defTabSz="941388" fontAlgn="base">
                <a:spcBef>
                  <a:spcPct val="0"/>
                </a:spcBef>
                <a:spcAft>
                  <a:spcPct val="0"/>
                </a:spcAft>
              </a:pPr>
              <a:r>
                <a:rPr lang="ru-RU" sz="800" b="1" i="0" dirty="0">
                  <a:solidFill>
                    <a:srgbClr val="000000"/>
                  </a:solidFill>
                  <a:latin typeface="Arial" pitchFamily="34" charset="0"/>
                  <a:cs typeface="Arial" pitchFamily="34" charset="0"/>
                </a:rPr>
                <a:t>Ресурсы поставщика</a:t>
              </a:r>
            </a:p>
          </p:txBody>
        </p:sp>
        <p:sp>
          <p:nvSpPr>
            <p:cNvPr id="12" name="Left Bracket 11"/>
            <p:cNvSpPr/>
            <p:nvPr/>
          </p:nvSpPr>
          <p:spPr>
            <a:xfrm>
              <a:off x="6628208" y="1672537"/>
              <a:ext cx="144016" cy="1944000"/>
            </a:xfrm>
            <a:prstGeom prst="leftBracket">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cxnSp>
          <p:nvCxnSpPr>
            <p:cNvPr id="13" name="Straight Connector 12"/>
            <p:cNvCxnSpPr>
              <a:stCxn id="12" idx="1"/>
              <a:endCxn id="11" idx="3"/>
            </p:cNvCxnSpPr>
            <p:nvPr/>
          </p:nvCxnSpPr>
          <p:spPr>
            <a:xfrm flipH="1" flipV="1">
              <a:off x="5998261" y="2629149"/>
              <a:ext cx="629947" cy="1538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a:grpSpLocks noChangeAspect="1"/>
            </p:cNvGrpSpPr>
            <p:nvPr/>
          </p:nvGrpSpPr>
          <p:grpSpPr>
            <a:xfrm>
              <a:off x="6823063" y="1635878"/>
              <a:ext cx="867345" cy="2088000"/>
              <a:chOff x="4708975" y="2024888"/>
              <a:chExt cx="1296000" cy="3119936"/>
            </a:xfrm>
          </p:grpSpPr>
          <p:sp>
            <p:nvSpPr>
              <p:cNvPr id="15" name="Rounded Rectangle 14"/>
              <p:cNvSpPr>
                <a:spLocks noChangeArrowheads="1"/>
              </p:cNvSpPr>
              <p:nvPr/>
            </p:nvSpPr>
            <p:spPr bwMode="auto">
              <a:xfrm>
                <a:off x="4708975" y="2024888"/>
                <a:ext cx="1296000" cy="396000"/>
              </a:xfrm>
              <a:prstGeom prst="roundRect">
                <a:avLst/>
              </a:prstGeom>
              <a:solidFill>
                <a:srgbClr val="E57C09"/>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Приложение</a:t>
                </a:r>
              </a:p>
            </p:txBody>
          </p:sp>
          <p:sp>
            <p:nvSpPr>
              <p:cNvPr id="16" name="Rectangle 40"/>
              <p:cNvSpPr>
                <a:spLocks noChangeArrowheads="1"/>
              </p:cNvSpPr>
              <p:nvPr/>
            </p:nvSpPr>
            <p:spPr bwMode="auto">
              <a:xfrm>
                <a:off x="4708975" y="3840844"/>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Вычислительные ресурсы</a:t>
                </a:r>
              </a:p>
            </p:txBody>
          </p:sp>
          <p:sp>
            <p:nvSpPr>
              <p:cNvPr id="17" name="Rectangle 40"/>
              <p:cNvSpPr>
                <a:spLocks noChangeArrowheads="1"/>
              </p:cNvSpPr>
              <p:nvPr/>
            </p:nvSpPr>
            <p:spPr bwMode="auto">
              <a:xfrm>
                <a:off x="4708975" y="4294833"/>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СХД</a:t>
                </a:r>
              </a:p>
            </p:txBody>
          </p:sp>
          <p:sp>
            <p:nvSpPr>
              <p:cNvPr id="18" name="Rounded Rectangle 17"/>
              <p:cNvSpPr>
                <a:spLocks noChangeArrowheads="1"/>
              </p:cNvSpPr>
              <p:nvPr/>
            </p:nvSpPr>
            <p:spPr bwMode="auto">
              <a:xfrm>
                <a:off x="4708975" y="4748824"/>
                <a:ext cx="1296000" cy="396000"/>
              </a:xfrm>
              <a:prstGeom prst="roundRect">
                <a:avLst/>
              </a:prstGeom>
              <a:solidFill>
                <a:schemeClr val="accent2">
                  <a:lumMod val="75000"/>
                </a:schemeClr>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Сеть</a:t>
                </a:r>
              </a:p>
            </p:txBody>
          </p:sp>
          <p:sp>
            <p:nvSpPr>
              <p:cNvPr id="19" name="Rectangle 40"/>
              <p:cNvSpPr>
                <a:spLocks noChangeArrowheads="1"/>
              </p:cNvSpPr>
              <p:nvPr/>
            </p:nvSpPr>
            <p:spPr bwMode="auto">
              <a:xfrm>
                <a:off x="4708975" y="2478877"/>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База данных</a:t>
                </a:r>
              </a:p>
            </p:txBody>
          </p:sp>
          <p:sp>
            <p:nvSpPr>
              <p:cNvPr id="20" name="Rectangle 40"/>
              <p:cNvSpPr>
                <a:spLocks noChangeArrowheads="1"/>
              </p:cNvSpPr>
              <p:nvPr/>
            </p:nvSpPr>
            <p:spPr bwMode="auto">
              <a:xfrm>
                <a:off x="4708975" y="3386855"/>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ОС</a:t>
                </a:r>
              </a:p>
            </p:txBody>
          </p:sp>
          <p:sp>
            <p:nvSpPr>
              <p:cNvPr id="21" name="Rectangle 40"/>
              <p:cNvSpPr>
                <a:spLocks noChangeArrowheads="1"/>
              </p:cNvSpPr>
              <p:nvPr/>
            </p:nvSpPr>
            <p:spPr bwMode="auto">
              <a:xfrm>
                <a:off x="4708975" y="2932866"/>
                <a:ext cx="1296000" cy="396000"/>
              </a:xfrm>
              <a:prstGeom prst="roundRect">
                <a:avLst/>
              </a:prstGeom>
              <a:solidFill>
                <a:srgbClr val="8E908F"/>
              </a:solidFill>
              <a:ln w="25400" algn="ctr">
                <a:noFill/>
                <a:miter lim="800000"/>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anchor="ctr"/>
              <a:lstStyle/>
              <a:p>
                <a:pPr algn="ctr" fontAlgn="base">
                  <a:spcBef>
                    <a:spcPct val="0"/>
                  </a:spcBef>
                  <a:spcAft>
                    <a:spcPct val="0"/>
                  </a:spcAft>
                </a:pPr>
                <a:r>
                  <a:rPr lang="ru-RU" sz="500" b="1" i="0" dirty="0">
                    <a:solidFill>
                      <a:srgbClr val="FFFFFF"/>
                    </a:solidFill>
                    <a:latin typeface="Arial" pitchFamily="34" charset="0"/>
                    <a:cs typeface="Arial" pitchFamily="34" charset="0"/>
                  </a:rPr>
                  <a:t>Средство программирования</a:t>
                </a:r>
              </a:p>
            </p:txBody>
          </p:sp>
        </p:grpSp>
      </p:grpSp>
      <p:grpSp>
        <p:nvGrpSpPr>
          <p:cNvPr id="22" name="Group 21"/>
          <p:cNvGrpSpPr/>
          <p:nvPr/>
        </p:nvGrpSpPr>
        <p:grpSpPr>
          <a:xfrm>
            <a:off x="334800" y="895350"/>
            <a:ext cx="4569041" cy="3768224"/>
            <a:chOff x="290991" y="819750"/>
            <a:chExt cx="4569041" cy="3768224"/>
          </a:xfrm>
        </p:grpSpPr>
        <p:sp>
          <p:nvSpPr>
            <p:cNvPr id="23" name="Rectangle 22"/>
            <p:cNvSpPr/>
            <p:nvPr/>
          </p:nvSpPr>
          <p:spPr>
            <a:xfrm>
              <a:off x="290991" y="1047199"/>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nvGrpSpPr>
            <p:cNvPr id="24" name="Group 23"/>
            <p:cNvGrpSpPr/>
            <p:nvPr/>
          </p:nvGrpSpPr>
          <p:grpSpPr>
            <a:xfrm>
              <a:off x="343787" y="819750"/>
              <a:ext cx="4516245" cy="3768224"/>
              <a:chOff x="343787" y="819750"/>
              <a:chExt cx="4516245" cy="3768224"/>
            </a:xfrm>
          </p:grpSpPr>
          <p:sp>
            <p:nvSpPr>
              <p:cNvPr id="25" name="Rectangle 24"/>
              <p:cNvSpPr/>
              <p:nvPr/>
            </p:nvSpPr>
            <p:spPr>
              <a:xfrm>
                <a:off x="609600" y="1113130"/>
                <a:ext cx="4250432" cy="3474844"/>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300" b="0" i="0" dirty="0">
                    <a:solidFill>
                      <a:srgbClr val="000000"/>
                    </a:solidFill>
                    <a:latin typeface="Arial" pitchFamily="34" charset="0"/>
                    <a:cs typeface="Arial" pitchFamily="34" charset="0"/>
                  </a:rPr>
                  <a:t>Пользователь может использовать приложения поставщика, которые работают на базе облачной инфраструктуры. Приложения доступны с различных клиентских устройств через интерфейс «тонкого» клиента, например веб-браузера</a:t>
                </a:r>
                <a:r>
                  <a:rPr lang="ru-RU" sz="1300" b="0" i="0" dirty="0">
                    <a:solidFill>
                      <a:srgbClr val="FF0000"/>
                    </a:solidFill>
                    <a:latin typeface="Arial" pitchFamily="34" charset="0"/>
                    <a:cs typeface="Arial" pitchFamily="34" charset="0"/>
                  </a:rPr>
                  <a:t> </a:t>
                </a:r>
                <a:r>
                  <a:rPr lang="ru-RU" sz="1300" b="0" i="0" dirty="0">
                    <a:solidFill>
                      <a:srgbClr val="000000"/>
                    </a:solidFill>
                    <a:latin typeface="Arial" pitchFamily="34" charset="0"/>
                    <a:cs typeface="Arial" pitchFamily="34" charset="0"/>
                  </a:rPr>
                  <a:t>(электронная почта на основе веб-интерфейса), или через программный интерфейс. Пользователь не может управлять базовой облачной инфраструктурой, включая сеть, серверы, операционные системы, системы хранения данных или даже отдельные функции приложений, однако может ограниченно влиять на пользовательские настройки конфигурации приложений.</a:t>
                </a:r>
              </a:p>
              <a:p>
                <a:endParaRPr lang="en-US" sz="300" dirty="0">
                  <a:solidFill>
                    <a:schemeClr val="tx1"/>
                  </a:solidFill>
                  <a:latin typeface="Arial" pitchFamily="34" charset="0"/>
                  <a:cs typeface="Arial" pitchFamily="34" charset="0"/>
                </a:endParaRPr>
              </a:p>
              <a:p>
                <a:pPr algn="r"/>
                <a:r>
                  <a:rPr lang="ru-RU" sz="900" b="0" i="1" dirty="0">
                    <a:solidFill>
                      <a:srgbClr val="000000"/>
                    </a:solidFill>
                    <a:latin typeface="Arial" pitchFamily="34" charset="0"/>
                    <a:cs typeface="Arial" pitchFamily="34" charset="0"/>
                  </a:rPr>
                  <a:t>— Национальный институт стандартов и технологий США,</a:t>
                </a:r>
                <a:br>
                  <a:rPr lang="en-US" sz="900" b="0" i="1" dirty="0">
                    <a:solidFill>
                      <a:srgbClr val="FF00FF"/>
                    </a:solidFill>
                    <a:latin typeface="Arial" pitchFamily="34" charset="0"/>
                    <a:cs typeface="Arial" pitchFamily="34" charset="0"/>
                  </a:rPr>
                </a:br>
                <a:r>
                  <a:rPr lang="ru-RU" sz="900" b="0" i="1" dirty="0">
                    <a:solidFill>
                      <a:srgbClr val="000000"/>
                    </a:solidFill>
                    <a:latin typeface="Arial" pitchFamily="34" charset="0"/>
                    <a:cs typeface="Arial" pitchFamily="34" charset="0"/>
                  </a:rPr>
                  <a:t> Special Publication 800-145</a:t>
                </a:r>
              </a:p>
            </p:txBody>
          </p:sp>
          <p:sp>
            <p:nvSpPr>
              <p:cNvPr id="26" name="Rectangle 25"/>
              <p:cNvSpPr/>
              <p:nvPr/>
            </p:nvSpPr>
            <p:spPr>
              <a:xfrm>
                <a:off x="343787" y="819750"/>
                <a:ext cx="3420000" cy="533400"/>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ru-RU" sz="1500" b="1" i="0" dirty="0">
                    <a:solidFill>
                      <a:srgbClr val="FFFFFF"/>
                    </a:solidFill>
                    <a:latin typeface="Arial" pitchFamily="34" charset="0"/>
                    <a:cs typeface="Arial" pitchFamily="34" charset="0"/>
                  </a:rPr>
                  <a:t>Программное обеспечение как услуга</a:t>
                </a:r>
              </a:p>
            </p:txBody>
          </p:sp>
        </p:grpSp>
      </p:grpSp>
      <p:sp>
        <p:nvSpPr>
          <p:cNvPr id="27" name="TextBox 2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718089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Модели развертывания облака</a:t>
            </a:r>
          </a:p>
        </p:txBody>
      </p:sp>
      <p:grpSp>
        <p:nvGrpSpPr>
          <p:cNvPr id="27" name="Group 26"/>
          <p:cNvGrpSpPr/>
          <p:nvPr/>
        </p:nvGrpSpPr>
        <p:grpSpPr>
          <a:xfrm>
            <a:off x="1355237" y="1307396"/>
            <a:ext cx="6433526" cy="2528708"/>
            <a:chOff x="1355237" y="1783993"/>
            <a:chExt cx="6433526" cy="2528708"/>
          </a:xfrm>
        </p:grpSpPr>
        <p:grpSp>
          <p:nvGrpSpPr>
            <p:cNvPr id="28" name="Group 27"/>
            <p:cNvGrpSpPr/>
            <p:nvPr/>
          </p:nvGrpSpPr>
          <p:grpSpPr>
            <a:xfrm>
              <a:off x="5682163" y="1783993"/>
              <a:ext cx="2106600" cy="837024"/>
              <a:chOff x="6317608" y="2175078"/>
              <a:chExt cx="2106600" cy="837024"/>
            </a:xfrm>
          </p:grpSpPr>
          <p:sp>
            <p:nvSpPr>
              <p:cNvPr id="46" name="Rounded Rectangle 45"/>
              <p:cNvSpPr/>
              <p:nvPr/>
            </p:nvSpPr>
            <p:spPr>
              <a:xfrm>
                <a:off x="6444208" y="2292102"/>
                <a:ext cx="198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Частное облако</a:t>
                </a:r>
              </a:p>
            </p:txBody>
          </p:sp>
          <p:sp>
            <p:nvSpPr>
              <p:cNvPr id="47" name="Oval 46"/>
              <p:cNvSpPr/>
              <p:nvPr/>
            </p:nvSpPr>
            <p:spPr>
              <a:xfrm>
                <a:off x="6317608" y="2175078"/>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2</a:t>
                </a:r>
              </a:p>
            </p:txBody>
          </p:sp>
        </p:grpSp>
        <p:grpSp>
          <p:nvGrpSpPr>
            <p:cNvPr id="29" name="Group 28"/>
            <p:cNvGrpSpPr/>
            <p:nvPr/>
          </p:nvGrpSpPr>
          <p:grpSpPr>
            <a:xfrm>
              <a:off x="5779287" y="3472535"/>
              <a:ext cx="1912352" cy="840166"/>
              <a:chOff x="5755792" y="3459696"/>
              <a:chExt cx="1912352" cy="840166"/>
            </a:xfrm>
          </p:grpSpPr>
          <p:sp>
            <p:nvSpPr>
              <p:cNvPr id="44" name="Rounded Rectangle 43"/>
              <p:cNvSpPr/>
              <p:nvPr/>
            </p:nvSpPr>
            <p:spPr>
              <a:xfrm>
                <a:off x="5868144" y="3579862"/>
                <a:ext cx="180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Гибридное облако</a:t>
                </a:r>
              </a:p>
            </p:txBody>
          </p:sp>
          <p:sp>
            <p:nvSpPr>
              <p:cNvPr id="45" name="Oval 44"/>
              <p:cNvSpPr/>
              <p:nvPr/>
            </p:nvSpPr>
            <p:spPr>
              <a:xfrm>
                <a:off x="5755792" y="3459696"/>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4</a:t>
                </a:r>
              </a:p>
            </p:txBody>
          </p:sp>
        </p:grpSp>
        <p:grpSp>
          <p:nvGrpSpPr>
            <p:cNvPr id="30" name="Group 29"/>
            <p:cNvGrpSpPr/>
            <p:nvPr/>
          </p:nvGrpSpPr>
          <p:grpSpPr>
            <a:xfrm>
              <a:off x="1355237" y="3473869"/>
              <a:ext cx="1926000" cy="837499"/>
              <a:chOff x="1502908" y="3462363"/>
              <a:chExt cx="1926000" cy="837499"/>
            </a:xfrm>
          </p:grpSpPr>
          <p:sp>
            <p:nvSpPr>
              <p:cNvPr id="42" name="Rounded Rectangle 41"/>
              <p:cNvSpPr/>
              <p:nvPr/>
            </p:nvSpPr>
            <p:spPr>
              <a:xfrm>
                <a:off x="1628908" y="3579862"/>
                <a:ext cx="180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Облако </a:t>
                </a:r>
                <a:r>
                  <a:rPr lang="ru-RU" sz="1600" b="0" i="0" dirty="0">
                    <a:solidFill>
                      <a:srgbClr val="FFFFFF"/>
                    </a:solidFill>
                    <a:latin typeface="Arial" pitchFamily="34" charset="0"/>
                    <a:cs typeface="Arial" pitchFamily="34" charset="0"/>
                  </a:rPr>
                  <a:t>
</a:t>
                </a:r>
                <a:r>
                  <a:rPr lang="ru-RU" sz="1600" b="1" i="0" dirty="0">
                    <a:solidFill>
                      <a:srgbClr val="FFFFFF"/>
                    </a:solidFill>
                    <a:latin typeface="Arial" pitchFamily="34" charset="0"/>
                    <a:cs typeface="Arial" pitchFamily="34" charset="0"/>
                  </a:rPr>
                  <a:t>сообщества</a:t>
                </a:r>
              </a:p>
            </p:txBody>
          </p:sp>
          <p:sp>
            <p:nvSpPr>
              <p:cNvPr id="43" name="Oval 42"/>
              <p:cNvSpPr/>
              <p:nvPr/>
            </p:nvSpPr>
            <p:spPr>
              <a:xfrm>
                <a:off x="1502908" y="3462363"/>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3</a:t>
                </a:r>
              </a:p>
            </p:txBody>
          </p:sp>
        </p:grpSp>
        <p:grpSp>
          <p:nvGrpSpPr>
            <p:cNvPr id="31" name="Group 30"/>
            <p:cNvGrpSpPr/>
            <p:nvPr/>
          </p:nvGrpSpPr>
          <p:grpSpPr>
            <a:xfrm>
              <a:off x="1362061" y="1787214"/>
              <a:ext cx="1912352" cy="830582"/>
              <a:chOff x="571216" y="2029120"/>
              <a:chExt cx="1912352" cy="830582"/>
            </a:xfrm>
          </p:grpSpPr>
          <p:sp>
            <p:nvSpPr>
              <p:cNvPr id="40" name="Rounded Rectangle 39"/>
              <p:cNvSpPr/>
              <p:nvPr/>
            </p:nvSpPr>
            <p:spPr>
              <a:xfrm>
                <a:off x="683568" y="2139702"/>
                <a:ext cx="1800000" cy="720000"/>
              </a:xfrm>
              <a:prstGeom prst="roundRect">
                <a:avLst/>
              </a:prstGeom>
              <a:ln>
                <a:no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7524" tIns="77524" rIns="77524" bIns="77524" numCol="1" spcCol="1270" anchor="ctr" anchorCtr="0">
                <a:noAutofit/>
              </a:bodyPr>
              <a:lstStyle/>
              <a:p>
                <a:pPr algn="ctr" defTabSz="533400">
                  <a:lnSpc>
                    <a:spcPct val="90000"/>
                  </a:lnSpc>
                  <a:spcBef>
                    <a:spcPct val="0"/>
                  </a:spcBef>
                  <a:spcAft>
                    <a:spcPct val="35000"/>
                  </a:spcAft>
                </a:pPr>
                <a:r>
                  <a:rPr lang="ru-RU" sz="1600" b="1" i="0" dirty="0">
                    <a:solidFill>
                      <a:srgbClr val="FFFFFF"/>
                    </a:solidFill>
                    <a:latin typeface="Arial" pitchFamily="34" charset="0"/>
                    <a:cs typeface="Arial" pitchFamily="34" charset="0"/>
                  </a:rPr>
                  <a:t>Публичное облако</a:t>
                </a:r>
              </a:p>
            </p:txBody>
          </p:sp>
          <p:sp>
            <p:nvSpPr>
              <p:cNvPr id="41" name="Oval 40"/>
              <p:cNvSpPr/>
              <p:nvPr/>
            </p:nvSpPr>
            <p:spPr>
              <a:xfrm>
                <a:off x="571216" y="2029120"/>
                <a:ext cx="252000" cy="252000"/>
              </a:xfrm>
              <a:prstGeom prst="ellipse">
                <a:avLst/>
              </a:prstGeom>
              <a:solidFill>
                <a:schemeClr val="accent4">
                  <a:lumMod val="20000"/>
                  <a:lumOff val="8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000" b="1" i="0" dirty="0">
                    <a:solidFill>
                      <a:srgbClr val="717074"/>
                    </a:solidFill>
                    <a:latin typeface="Arial" pitchFamily="34" charset="0"/>
                    <a:cs typeface="Arial" pitchFamily="34" charset="0"/>
                  </a:rPr>
                  <a:t>1</a:t>
                </a:r>
              </a:p>
            </p:txBody>
          </p:sp>
        </p:grpSp>
        <p:cxnSp>
          <p:nvCxnSpPr>
            <p:cNvPr id="33" name="Straight Connector 32"/>
            <p:cNvCxnSpPr>
              <a:stCxn id="46" idx="1"/>
              <a:endCxn id="42" idx="3"/>
            </p:cNvCxnSpPr>
            <p:nvPr/>
          </p:nvCxnSpPr>
          <p:spPr>
            <a:xfrm flipH="1">
              <a:off x="3281237" y="2261017"/>
              <a:ext cx="2527526" cy="169035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40" idx="3"/>
              <a:endCxn id="44" idx="1"/>
            </p:cNvCxnSpPr>
            <p:nvPr/>
          </p:nvCxnSpPr>
          <p:spPr>
            <a:xfrm>
              <a:off x="3274413" y="2257796"/>
              <a:ext cx="2617226" cy="1694905"/>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3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904" y="2315809"/>
              <a:ext cx="2408833" cy="1260000"/>
            </a:xfrm>
            <a:prstGeom prst="snip1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 Box 41"/>
            <p:cNvSpPr txBox="1">
              <a:spLocks noChangeArrowheads="1"/>
            </p:cNvSpPr>
            <p:nvPr/>
          </p:nvSpPr>
          <p:spPr bwMode="auto">
            <a:xfrm>
              <a:off x="3657600" y="2717965"/>
              <a:ext cx="1554088" cy="461665"/>
            </a:xfrm>
            <a:prstGeom prst="rect">
              <a:avLst/>
            </a:prstGeom>
            <a:noFill/>
          </p:spPr>
          <p:txBody>
            <a:bodyPr wrap="square" rtlCol="0">
              <a:spAutoFit/>
            </a:bodyPr>
            <a:lstStyle>
              <a:defPPr>
                <a:defRPr lang="en-US"/>
              </a:defPPr>
              <a:lvl1pPr>
                <a:defRPr>
                  <a:solidFill>
                    <a:schemeClr val="bg2"/>
                  </a:solidFill>
                </a:defRPr>
              </a:lvl1pPr>
            </a:lstStyle>
            <a:p>
              <a:pPr algn="ctr"/>
              <a:r>
                <a:rPr lang="ru-RU" sz="1200" b="1" i="0" dirty="0">
                  <a:solidFill>
                    <a:srgbClr val="000000"/>
                  </a:solidFill>
                  <a:latin typeface="Arial" pitchFamily="34" charset="0"/>
                  <a:cs typeface="Arial" pitchFamily="34" charset="0"/>
                </a:rPr>
                <a:t>Облачная инфраструктура</a:t>
              </a:r>
            </a:p>
          </p:txBody>
        </p:sp>
      </p:grpSp>
      <p:sp>
        <p:nvSpPr>
          <p:cNvPr id="20" name="TextBox 1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99083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Публичное облако</a:t>
            </a:r>
          </a:p>
        </p:txBody>
      </p:sp>
      <p:sp>
        <p:nvSpPr>
          <p:cNvPr id="89" name="Arc 31"/>
          <p:cNvSpPr>
            <a:spLocks/>
          </p:cNvSpPr>
          <p:nvPr/>
        </p:nvSpPr>
        <p:spPr bwMode="auto">
          <a:xfrm flipH="1">
            <a:off x="5773171" y="2071831"/>
            <a:ext cx="643576" cy="208874"/>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sp>
        <p:nvSpPr>
          <p:cNvPr id="88" name="Arc 32"/>
          <p:cNvSpPr>
            <a:spLocks/>
          </p:cNvSpPr>
          <p:nvPr/>
        </p:nvSpPr>
        <p:spPr bwMode="auto">
          <a:xfrm>
            <a:off x="2641397" y="2027190"/>
            <a:ext cx="789348" cy="307893"/>
          </a:xfrm>
          <a:custGeom>
            <a:avLst/>
            <a:gdLst>
              <a:gd name="T0" fmla="*/ 0 w 21600"/>
              <a:gd name="T1" fmla="*/ 0 h 21600"/>
              <a:gd name="T2" fmla="*/ 1143000 w 21600"/>
              <a:gd name="T3" fmla="*/ 457200 h 21600"/>
              <a:gd name="T4" fmla="*/ 0 w 21600"/>
              <a:gd name="T5" fmla="*/ 457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sp>
        <p:nvSpPr>
          <p:cNvPr id="86" name="Arc 37"/>
          <p:cNvSpPr>
            <a:spLocks/>
          </p:cNvSpPr>
          <p:nvPr/>
        </p:nvSpPr>
        <p:spPr bwMode="auto">
          <a:xfrm flipV="1">
            <a:off x="2421517" y="3408766"/>
            <a:ext cx="905558" cy="354932"/>
          </a:xfrm>
          <a:custGeom>
            <a:avLst/>
            <a:gdLst>
              <a:gd name="T0" fmla="*/ 0 w 23227"/>
              <a:gd name="T1" fmla="*/ 1077 h 29843"/>
              <a:gd name="T2" fmla="*/ 1218971 w 23227"/>
              <a:gd name="T3" fmla="*/ 527050 h 29843"/>
              <a:gd name="T4" fmla="*/ 91852 w 23227"/>
              <a:gd name="T5" fmla="*/ 381472 h 29843"/>
              <a:gd name="T6" fmla="*/ 0 60000 65536"/>
              <a:gd name="T7" fmla="*/ 0 60000 65536"/>
              <a:gd name="T8" fmla="*/ 0 60000 65536"/>
              <a:gd name="T9" fmla="*/ 0 w 23227"/>
              <a:gd name="T10" fmla="*/ 0 h 29843"/>
              <a:gd name="T11" fmla="*/ 23227 w 23227"/>
              <a:gd name="T12" fmla="*/ 29843 h 29843"/>
            </a:gdLst>
            <a:ahLst/>
            <a:cxnLst>
              <a:cxn ang="T6">
                <a:pos x="T0" y="T1"/>
              </a:cxn>
              <a:cxn ang="T7">
                <a:pos x="T2" y="T3"/>
              </a:cxn>
              <a:cxn ang="T8">
                <a:pos x="T4" y="T5"/>
              </a:cxn>
            </a:cxnLst>
            <a:rect l="T9" t="T10" r="T11" b="T12"/>
            <a:pathLst>
              <a:path w="23227" h="29843" fill="none" extrusionOk="0">
                <a:moveTo>
                  <a:pt x="0" y="61"/>
                </a:moveTo>
                <a:cubicBezTo>
                  <a:pt x="541" y="20"/>
                  <a:pt x="1084" y="-1"/>
                  <a:pt x="1627" y="0"/>
                </a:cubicBezTo>
                <a:cubicBezTo>
                  <a:pt x="13556" y="0"/>
                  <a:pt x="23227" y="9670"/>
                  <a:pt x="23227" y="21600"/>
                </a:cubicBezTo>
                <a:cubicBezTo>
                  <a:pt x="23227" y="24428"/>
                  <a:pt x="22671" y="27228"/>
                  <a:pt x="21592" y="29843"/>
                </a:cubicBezTo>
              </a:path>
              <a:path w="23227" h="29843" stroke="0" extrusionOk="0">
                <a:moveTo>
                  <a:pt x="0" y="61"/>
                </a:moveTo>
                <a:cubicBezTo>
                  <a:pt x="541" y="20"/>
                  <a:pt x="1084" y="-1"/>
                  <a:pt x="1627" y="0"/>
                </a:cubicBezTo>
                <a:cubicBezTo>
                  <a:pt x="13556" y="0"/>
                  <a:pt x="23227" y="9670"/>
                  <a:pt x="23227" y="21600"/>
                </a:cubicBezTo>
                <a:cubicBezTo>
                  <a:pt x="23227" y="24428"/>
                  <a:pt x="22671" y="27228"/>
                  <a:pt x="21592" y="29843"/>
                </a:cubicBezTo>
                <a:lnTo>
                  <a:pt x="1627"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pic>
        <p:nvPicPr>
          <p:cNvPr id="6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2218" y="1454971"/>
            <a:ext cx="4468231" cy="2279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 name="Text Box 38"/>
          <p:cNvSpPr txBox="1">
            <a:spLocks noChangeArrowheads="1"/>
          </p:cNvSpPr>
          <p:nvPr/>
        </p:nvSpPr>
        <p:spPr bwMode="auto">
          <a:xfrm>
            <a:off x="1854010" y="1089102"/>
            <a:ext cx="1181734"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P</a:t>
            </a:r>
          </a:p>
        </p:txBody>
      </p:sp>
      <p:pic>
        <p:nvPicPr>
          <p:cNvPr id="69" name="Picture 68" descr="enterprise"/>
          <p:cNvPicPr>
            <a:picLocks noChangeAspect="1" noChangeArrowheads="1"/>
          </p:cNvPicPr>
          <p:nvPr/>
        </p:nvPicPr>
        <p:blipFill>
          <a:blip r:embed="rId8" cstate="print"/>
          <a:srcRect/>
          <a:stretch>
            <a:fillRect/>
          </a:stretch>
        </p:blipFill>
        <p:spPr bwMode="auto">
          <a:xfrm>
            <a:off x="1940234" y="1335938"/>
            <a:ext cx="934062" cy="907643"/>
          </a:xfrm>
          <a:prstGeom prst="rect">
            <a:avLst/>
          </a:prstGeom>
          <a:noFill/>
        </p:spPr>
      </p:pic>
      <p:sp>
        <p:nvSpPr>
          <p:cNvPr id="70" name="Text Box 41"/>
          <p:cNvSpPr txBox="1">
            <a:spLocks noChangeArrowheads="1"/>
          </p:cNvSpPr>
          <p:nvPr/>
        </p:nvSpPr>
        <p:spPr bwMode="auto">
          <a:xfrm>
            <a:off x="3961068" y="1606851"/>
            <a:ext cx="1481539" cy="600164"/>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100" b="1" i="0" dirty="0">
                <a:solidFill>
                  <a:srgbClr val="000000"/>
                </a:solidFill>
                <a:latin typeface="Arial" pitchFamily="34" charset="0"/>
                <a:cs typeface="Arial" pitchFamily="34" charset="0"/>
              </a:rPr>
              <a:t>Ресурсы поставщика облачных услуг</a:t>
            </a:r>
          </a:p>
        </p:txBody>
      </p:sp>
      <p:pic>
        <p:nvPicPr>
          <p:cNvPr id="72" name="Picture 28" descr="C:\Users\patils1\Desktop\2013 Projects\CIS v2\CIS Slide Deck_Based on Book\Colored Graphics\Physical Compute System With Hypervisor.png"/>
          <p:cNvPicPr>
            <a:picLocks noChangeAspect="1" noChangeArrowheads="1"/>
          </p:cNvPicPr>
          <p:nvPr/>
        </p:nvPicPr>
        <p:blipFill>
          <a:blip r:embed="rId9"/>
          <a:stretch>
            <a:fillRect/>
          </a:stretch>
        </p:blipFill>
        <p:spPr bwMode="auto">
          <a:xfrm>
            <a:off x="3444200" y="2402268"/>
            <a:ext cx="685435" cy="665276"/>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9" descr="C:\Users\patils1\Desktop\2013 Projects\CIS v2\CIS Slide Deck_Based on Book\Colored Graphics\Physical Compute System.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430552" y="3149243"/>
            <a:ext cx="711596" cy="15431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3" descr="C:\Users\patils1\Desktop\2013 Projects\CIS v2\CIS Slide Deck_Based on Book\Colored Graphics\Ethernet Switch.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214850" y="2954384"/>
            <a:ext cx="580231" cy="349172"/>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16" descr="C:\Users\patils1\Desktop\2013 Projects\CIS v2\CIS Slide Deck_Based on Book\Colored Graphics\FC Switch.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16822" y="2402268"/>
            <a:ext cx="577911" cy="347775"/>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C:\Users\patils1\Desktop\2013 Projects\CIS v2\CIS Slide Deck_Based on Book\Colored Graphics\Storage System.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866647" y="2196531"/>
            <a:ext cx="539564" cy="1107025"/>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up 76"/>
          <p:cNvGrpSpPr/>
          <p:nvPr/>
        </p:nvGrpSpPr>
        <p:grpSpPr>
          <a:xfrm>
            <a:off x="6406114" y="2763556"/>
            <a:ext cx="396000" cy="540000"/>
            <a:chOff x="5943600" y="3145772"/>
            <a:chExt cx="514697" cy="683887"/>
          </a:xfrm>
        </p:grpSpPr>
        <p:sp>
          <p:nvSpPr>
            <p:cNvPr id="82" name="Cube 81"/>
            <p:cNvSpPr/>
            <p:nvPr/>
          </p:nvSpPr>
          <p:spPr>
            <a:xfrm>
              <a:off x="5943600" y="3145772"/>
              <a:ext cx="457200" cy="63573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83" name="Oval 82"/>
            <p:cNvSpPr/>
            <p:nvPr/>
          </p:nvSpPr>
          <p:spPr>
            <a:xfrm>
              <a:off x="6172200" y="3534811"/>
              <a:ext cx="286097" cy="294848"/>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84" name="Oval 83"/>
            <p:cNvSpPr/>
            <p:nvPr/>
          </p:nvSpPr>
          <p:spPr>
            <a:xfrm>
              <a:off x="6243724" y="3605537"/>
              <a:ext cx="143048" cy="153397"/>
            </a:xfrm>
            <a:prstGeom prst="ellipse">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85" name="Oval 84"/>
            <p:cNvSpPr/>
            <p:nvPr/>
          </p:nvSpPr>
          <p:spPr>
            <a:xfrm>
              <a:off x="6279486" y="3643493"/>
              <a:ext cx="71524" cy="77485"/>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grpSp>
        <p:nvGrpSpPr>
          <p:cNvPr id="78" name="Group 77"/>
          <p:cNvGrpSpPr/>
          <p:nvPr/>
        </p:nvGrpSpPr>
        <p:grpSpPr>
          <a:xfrm>
            <a:off x="5492163" y="2799556"/>
            <a:ext cx="828000" cy="504000"/>
            <a:chOff x="8283166" y="4313278"/>
            <a:chExt cx="998444" cy="842370"/>
          </a:xfrm>
        </p:grpSpPr>
        <p:sp>
          <p:nvSpPr>
            <p:cNvPr id="79" name="Rectangle 78"/>
            <p:cNvSpPr/>
            <p:nvPr>
              <p:custDataLst>
                <p:tags r:id="rId2"/>
              </p:custDataLst>
            </p:nvPr>
          </p:nvSpPr>
          <p:spPr>
            <a:xfrm rot="933880">
              <a:off x="8283166" y="46199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80" name="Rectangle 79"/>
            <p:cNvSpPr/>
            <p:nvPr>
              <p:custDataLst>
                <p:tags r:id="rId3"/>
              </p:custDataLst>
            </p:nvPr>
          </p:nvSpPr>
          <p:spPr>
            <a:xfrm rot="933880">
              <a:off x="8283166" y="44675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81" name="Rectangle 80"/>
            <p:cNvSpPr/>
            <p:nvPr>
              <p:custDataLst>
                <p:tags r:id="rId4"/>
              </p:custDataLst>
            </p:nvPr>
          </p:nvSpPr>
          <p:spPr>
            <a:xfrm rot="933880">
              <a:off x="8283166" y="4313278"/>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pic>
        <p:nvPicPr>
          <p:cNvPr id="87" name="Picture 26" descr="Peep_Black_Male.png"/>
          <p:cNvPicPr>
            <a:picLocks noChangeAspect="1"/>
          </p:cNvPicPr>
          <p:nvPr/>
        </p:nvPicPr>
        <p:blipFill rotWithShape="1">
          <a:blip r:embed="rId14" cstate="print"/>
          <a:srcRect b="19656"/>
          <a:stretch/>
        </p:blipFill>
        <p:spPr bwMode="auto">
          <a:xfrm>
            <a:off x="1866400" y="3226399"/>
            <a:ext cx="935047" cy="828000"/>
          </a:xfrm>
          <a:prstGeom prst="rect">
            <a:avLst/>
          </a:prstGeom>
          <a:noFill/>
          <a:ln w="9525">
            <a:noFill/>
            <a:miter lim="800000"/>
            <a:headEnd/>
            <a:tailEnd/>
          </a:ln>
        </p:spPr>
      </p:pic>
      <p:pic>
        <p:nvPicPr>
          <p:cNvPr id="90" name="Picture 89" descr="enterprise"/>
          <p:cNvPicPr>
            <a:picLocks noChangeAspect="1" noChangeArrowheads="1"/>
          </p:cNvPicPr>
          <p:nvPr/>
        </p:nvPicPr>
        <p:blipFill>
          <a:blip r:embed="rId8" cstate="print"/>
          <a:srcRect/>
          <a:stretch>
            <a:fillRect/>
          </a:stretch>
        </p:blipFill>
        <p:spPr bwMode="auto">
          <a:xfrm>
            <a:off x="6335083" y="1335938"/>
            <a:ext cx="934062" cy="907643"/>
          </a:xfrm>
          <a:prstGeom prst="rect">
            <a:avLst/>
          </a:prstGeom>
          <a:noFill/>
        </p:spPr>
      </p:pic>
      <p:sp>
        <p:nvSpPr>
          <p:cNvPr id="91" name="Text Box 38"/>
          <p:cNvSpPr txBox="1">
            <a:spLocks noChangeArrowheads="1"/>
          </p:cNvSpPr>
          <p:nvPr/>
        </p:nvSpPr>
        <p:spPr bwMode="auto">
          <a:xfrm>
            <a:off x="6268955" y="1089102"/>
            <a:ext cx="1196161"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Q</a:t>
            </a:r>
          </a:p>
        </p:txBody>
      </p:sp>
      <p:sp>
        <p:nvSpPr>
          <p:cNvPr id="92" name="Text Box 38"/>
          <p:cNvSpPr txBox="1">
            <a:spLocks noChangeArrowheads="1"/>
          </p:cNvSpPr>
          <p:nvPr/>
        </p:nvSpPr>
        <p:spPr bwMode="auto">
          <a:xfrm>
            <a:off x="1856417" y="2820446"/>
            <a:ext cx="942887" cy="400110"/>
          </a:xfrm>
          <a:prstGeom prst="rect">
            <a:avLst/>
          </a:prstGeom>
          <a:noFill/>
          <a:ln w="9525">
            <a:noFill/>
            <a:miter lim="800000"/>
            <a:headEnd/>
            <a:tailEnd/>
          </a:ln>
        </p:spPr>
        <p:txBody>
          <a:bodyPr wrap="none">
            <a:spAutoFit/>
          </a:bodyPr>
          <a:lstStyle/>
          <a:p>
            <a:pPr algn="ctr" fontAlgn="base">
              <a:spcBef>
                <a:spcPct val="0"/>
              </a:spcBef>
              <a:spcAft>
                <a:spcPct val="0"/>
              </a:spcAft>
            </a:pPr>
            <a:r>
              <a:rPr lang="ru-RU" sz="1000" b="1" i="0" dirty="0">
                <a:solidFill>
                  <a:srgbClr val="000000"/>
                </a:solidFill>
                <a:latin typeface="Arial" pitchFamily="34" charset="0"/>
                <a:cs typeface="Arial" pitchFamily="34" charset="0"/>
              </a:rPr>
              <a:t>Физическое</a:t>
            </a:r>
            <a:br>
              <a:rPr lang="en-US" sz="1000" b="1" i="0" dirty="0">
                <a:solidFill>
                  <a:srgbClr val="FF00FF"/>
                </a:solidFill>
                <a:latin typeface="Arial" pitchFamily="34" charset="0"/>
                <a:cs typeface="Arial" pitchFamily="34" charset="0"/>
              </a:rPr>
            </a:br>
            <a:r>
              <a:rPr lang="ru-RU" sz="1000" b="1" i="0" dirty="0">
                <a:solidFill>
                  <a:srgbClr val="000000"/>
                </a:solidFill>
                <a:latin typeface="Arial" pitchFamily="34" charset="0"/>
                <a:cs typeface="Arial" pitchFamily="34" charset="0"/>
              </a:rPr>
              <a:t>лицо R</a:t>
            </a:r>
          </a:p>
        </p:txBody>
      </p:sp>
      <p:sp>
        <p:nvSpPr>
          <p:cNvPr id="31" name="Text Box 38"/>
          <p:cNvSpPr txBox="1">
            <a:spLocks noChangeArrowheads="1"/>
          </p:cNvSpPr>
          <p:nvPr/>
        </p:nvSpPr>
        <p:spPr bwMode="auto">
          <a:xfrm>
            <a:off x="3222810" y="2719376"/>
            <a:ext cx="1143000" cy="200055"/>
          </a:xfrm>
          <a:prstGeom prst="rect">
            <a:avLst/>
          </a:prstGeom>
          <a:noFill/>
          <a:ln w="9525">
            <a:noFill/>
            <a:miter lim="800000"/>
            <a:headEnd/>
            <a:tailEnd/>
          </a:ln>
        </p:spPr>
        <p:txBody>
          <a:bodyPr wrap="square">
            <a:spAutoFit/>
          </a:bodyPr>
          <a:lstStyle/>
          <a:p>
            <a:pPr algn="ctr"/>
            <a:r>
              <a:rPr lang="ru-RU" sz="700" b="1" i="0" dirty="0">
                <a:solidFill>
                  <a:srgbClr val="000000"/>
                </a:solidFill>
                <a:latin typeface="Arial" pitchFamily="34" charset="0"/>
                <a:cs typeface="Arial" pitchFamily="34" charset="0"/>
              </a:rPr>
              <a:t>Гипервизор</a:t>
            </a:r>
          </a:p>
        </p:txBody>
      </p:sp>
      <p:sp>
        <p:nvSpPr>
          <p:cNvPr id="29" name="TextBox 2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12</a:t>
            </a:fld>
            <a:endParaRPr lang="ru-RU" dirty="0">
              <a:solidFill>
                <a:schemeClr val="bg2"/>
              </a:solidFill>
              <a:latin typeface="Arial"/>
            </a:endParaRPr>
          </a:p>
        </p:txBody>
      </p:sp>
      <p:sp>
        <p:nvSpPr>
          <p:cNvPr id="30" name="TextBox 29"/>
          <p:cNvSpPr txBox="1"/>
          <p:nvPr/>
        </p:nvSpPr>
        <p:spPr>
          <a:xfrm>
            <a:off x="8915401" y="51464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568731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Частное облако</a:t>
            </a:r>
          </a:p>
        </p:txBody>
      </p:sp>
      <p:pic>
        <p:nvPicPr>
          <p:cNvPr id="4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777" y="2164813"/>
            <a:ext cx="4468231" cy="2279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 name="Text Box 38"/>
          <p:cNvSpPr txBox="1">
            <a:spLocks noChangeArrowheads="1"/>
          </p:cNvSpPr>
          <p:nvPr/>
        </p:nvSpPr>
        <p:spPr bwMode="auto">
          <a:xfrm>
            <a:off x="265406" y="1890776"/>
            <a:ext cx="1181734"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P</a:t>
            </a:r>
          </a:p>
        </p:txBody>
      </p:sp>
      <p:pic>
        <p:nvPicPr>
          <p:cNvPr id="49" name="Picture 48" descr="enterprise"/>
          <p:cNvPicPr>
            <a:picLocks noChangeAspect="1" noChangeArrowheads="1"/>
          </p:cNvPicPr>
          <p:nvPr/>
        </p:nvPicPr>
        <p:blipFill>
          <a:blip r:embed="rId8" cstate="print"/>
          <a:srcRect/>
          <a:stretch>
            <a:fillRect/>
          </a:stretch>
        </p:blipFill>
        <p:spPr bwMode="auto">
          <a:xfrm>
            <a:off x="331534" y="2128312"/>
            <a:ext cx="934062" cy="907643"/>
          </a:xfrm>
          <a:prstGeom prst="rect">
            <a:avLst/>
          </a:prstGeom>
          <a:noFill/>
        </p:spPr>
      </p:pic>
      <p:sp>
        <p:nvSpPr>
          <p:cNvPr id="50" name="Text Box 41"/>
          <p:cNvSpPr txBox="1">
            <a:spLocks noChangeArrowheads="1"/>
          </p:cNvSpPr>
          <p:nvPr/>
        </p:nvSpPr>
        <p:spPr bwMode="auto">
          <a:xfrm>
            <a:off x="1430542" y="2305893"/>
            <a:ext cx="1152000" cy="400110"/>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000" b="1" i="0" dirty="0">
                <a:solidFill>
                  <a:srgbClr val="000000"/>
                </a:solidFill>
                <a:latin typeface="Arial" pitchFamily="34" charset="0"/>
                <a:cs typeface="Arial" pitchFamily="34" charset="0"/>
              </a:rPr>
              <a:t>Ресурсы предприятия P</a:t>
            </a:r>
          </a:p>
        </p:txBody>
      </p:sp>
      <p:pic>
        <p:nvPicPr>
          <p:cNvPr id="52" name="Picture 28" descr="C:\Users\patils1\Desktop\2013 Projects\CIS v2\CIS Slide Deck_Based on Book\Colored Graphics\Physical Compute System With Hypervisor.png"/>
          <p:cNvPicPr>
            <a:picLocks noChangeAspect="1" noChangeArrowheads="1"/>
          </p:cNvPicPr>
          <p:nvPr/>
        </p:nvPicPr>
        <p:blipFill>
          <a:blip r:embed="rId9"/>
          <a:stretch>
            <a:fillRect/>
          </a:stretch>
        </p:blipFill>
        <p:spPr bwMode="auto">
          <a:xfrm>
            <a:off x="737759" y="3112110"/>
            <a:ext cx="685435" cy="66527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9" descr="C:\Users\patils1\Desktop\2013 Projects\CIS v2\CIS Slide Deck_Based on Book\Colored Graphics\Physical Compute System.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4111" y="3859085"/>
            <a:ext cx="711596" cy="1543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3" descr="C:\Users\patils1\Desktop\2013 Projects\CIS v2\CIS Slide Deck_Based on Book\Colored Graphics\Ethernet Switch.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508409" y="3664226"/>
            <a:ext cx="580231" cy="34917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6" descr="C:\Users\patils1\Desktop\2013 Projects\CIS v2\CIS Slide Deck_Based on Book\Colored Graphics\FC Switch.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510381" y="3112110"/>
            <a:ext cx="577911" cy="347775"/>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9" descr="C:\Users\patils1\Desktop\2013 Projects\CIS v2\CIS Slide Deck_Based on Book\Colored Graphics\Storage System.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160206" y="2906373"/>
            <a:ext cx="539564" cy="110702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oup 56"/>
          <p:cNvGrpSpPr/>
          <p:nvPr/>
        </p:nvGrpSpPr>
        <p:grpSpPr>
          <a:xfrm>
            <a:off x="3699673" y="3473398"/>
            <a:ext cx="396000" cy="540000"/>
            <a:chOff x="5943600" y="3145772"/>
            <a:chExt cx="514697" cy="683887"/>
          </a:xfrm>
        </p:grpSpPr>
        <p:sp>
          <p:nvSpPr>
            <p:cNvPr id="62" name="Cube 61"/>
            <p:cNvSpPr/>
            <p:nvPr/>
          </p:nvSpPr>
          <p:spPr>
            <a:xfrm>
              <a:off x="5943600" y="3145772"/>
              <a:ext cx="457200" cy="63573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63" name="Oval 62"/>
            <p:cNvSpPr/>
            <p:nvPr/>
          </p:nvSpPr>
          <p:spPr>
            <a:xfrm>
              <a:off x="6172200" y="3534811"/>
              <a:ext cx="286097" cy="294848"/>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64" name="Oval 63"/>
            <p:cNvSpPr/>
            <p:nvPr/>
          </p:nvSpPr>
          <p:spPr>
            <a:xfrm>
              <a:off x="6243724" y="3605537"/>
              <a:ext cx="143048" cy="153397"/>
            </a:xfrm>
            <a:prstGeom prst="ellipse">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65" name="Oval 64"/>
            <p:cNvSpPr/>
            <p:nvPr/>
          </p:nvSpPr>
          <p:spPr>
            <a:xfrm>
              <a:off x="6279486" y="3643493"/>
              <a:ext cx="71524" cy="77485"/>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grpSp>
        <p:nvGrpSpPr>
          <p:cNvPr id="58" name="Group 57"/>
          <p:cNvGrpSpPr/>
          <p:nvPr/>
        </p:nvGrpSpPr>
        <p:grpSpPr>
          <a:xfrm>
            <a:off x="2785722" y="3509398"/>
            <a:ext cx="828000" cy="504000"/>
            <a:chOff x="8283166" y="4313278"/>
            <a:chExt cx="998444" cy="842370"/>
          </a:xfrm>
        </p:grpSpPr>
        <p:sp>
          <p:nvSpPr>
            <p:cNvPr id="59" name="Rectangle 58"/>
            <p:cNvSpPr/>
            <p:nvPr>
              <p:custDataLst>
                <p:tags r:id="rId2"/>
              </p:custDataLst>
            </p:nvPr>
          </p:nvSpPr>
          <p:spPr>
            <a:xfrm rot="933880">
              <a:off x="8283166" y="46199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60" name="Rectangle 59"/>
            <p:cNvSpPr/>
            <p:nvPr>
              <p:custDataLst>
                <p:tags r:id="rId3"/>
              </p:custDataLst>
            </p:nvPr>
          </p:nvSpPr>
          <p:spPr>
            <a:xfrm rot="933880">
              <a:off x="8283166" y="44675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61" name="Rectangle 60"/>
            <p:cNvSpPr/>
            <p:nvPr>
              <p:custDataLst>
                <p:tags r:id="rId4"/>
              </p:custDataLst>
            </p:nvPr>
          </p:nvSpPr>
          <p:spPr>
            <a:xfrm rot="933880">
              <a:off x="8283166" y="4313278"/>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sp>
        <p:nvSpPr>
          <p:cNvPr id="68" name="Text Box 41"/>
          <p:cNvSpPr txBox="1">
            <a:spLocks noChangeArrowheads="1"/>
          </p:cNvSpPr>
          <p:nvPr/>
        </p:nvSpPr>
        <p:spPr bwMode="auto">
          <a:xfrm>
            <a:off x="947966" y="4458759"/>
            <a:ext cx="2759938" cy="276999"/>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200" b="1" i="0" dirty="0">
                <a:solidFill>
                  <a:srgbClr val="000000"/>
                </a:solidFill>
                <a:latin typeface="Arial" pitchFamily="34" charset="0"/>
                <a:cs typeface="Arial" pitchFamily="34" charset="0"/>
              </a:rPr>
              <a:t>1) Локальное частное облако</a:t>
            </a:r>
          </a:p>
        </p:txBody>
      </p:sp>
      <p:sp>
        <p:nvSpPr>
          <p:cNvPr id="27" name="Arc 31"/>
          <p:cNvSpPr>
            <a:spLocks/>
          </p:cNvSpPr>
          <p:nvPr/>
        </p:nvSpPr>
        <p:spPr bwMode="auto">
          <a:xfrm flipH="1">
            <a:off x="7289932" y="1439822"/>
            <a:ext cx="787997" cy="386378"/>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pic>
        <p:nvPicPr>
          <p:cNvPr id="2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71674" y="870902"/>
            <a:ext cx="4582789" cy="233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Text Box 41"/>
          <p:cNvSpPr txBox="1">
            <a:spLocks noChangeArrowheads="1"/>
          </p:cNvSpPr>
          <p:nvPr/>
        </p:nvSpPr>
        <p:spPr bwMode="auto">
          <a:xfrm>
            <a:off x="5500078" y="1032315"/>
            <a:ext cx="1549897" cy="600164"/>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100" b="1" i="0" dirty="0">
                <a:solidFill>
                  <a:srgbClr val="000000"/>
                </a:solidFill>
                <a:latin typeface="Arial" pitchFamily="34" charset="0"/>
                <a:cs typeface="Arial" pitchFamily="34" charset="0"/>
              </a:rPr>
              <a:t>Ресурсы поставщика облачных услуг</a:t>
            </a:r>
          </a:p>
        </p:txBody>
      </p:sp>
      <p:pic>
        <p:nvPicPr>
          <p:cNvPr id="42" name="Picture 28" descr="C:\Users\patils1\Desktop\2013 Projects\CIS v2\CIS Slide Deck_Based on Book\Colored Graphics\Physical Compute System With Hypervisor.png"/>
          <p:cNvPicPr>
            <a:picLocks noChangeAspect="1" noChangeArrowheads="1"/>
          </p:cNvPicPr>
          <p:nvPr/>
        </p:nvPicPr>
        <p:blipFill>
          <a:blip r:embed="rId9"/>
          <a:stretch>
            <a:fillRect/>
          </a:stretch>
        </p:blipFill>
        <p:spPr bwMode="auto">
          <a:xfrm>
            <a:off x="6319614" y="2062926"/>
            <a:ext cx="526313" cy="51083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9" descr="C:\Users\patils1\Desktop\2013 Projects\CIS v2\CIS Slide Deck_Based on Book\Colored Graphics\Physical Compute System.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311067" y="2636493"/>
            <a:ext cx="542542" cy="11849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3" descr="C:\Users\patils1\Desktop\2013 Projects\CIS v2\CIS Slide Deck_Based on Book\Colored Graphics\Ethernet Switch.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909039" y="2486870"/>
            <a:ext cx="442385" cy="26811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6" descr="C:\Users\patils1\Desktop\2013 Projects\CIS v2\CIS Slide Deck_Based on Book\Colored Graphics\FC Switch.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910542" y="2062926"/>
            <a:ext cx="440616" cy="26704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9" descr="C:\Users\patils1\Desktop\2013 Projects\CIS v2\CIS Slide Deck_Based on Book\Colored Graphics\Storage System.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405987" y="1904950"/>
            <a:ext cx="411379" cy="850033"/>
          </a:xfrm>
          <a:prstGeom prst="rect">
            <a:avLst/>
          </a:prstGeom>
          <a:noFill/>
          <a:extLst>
            <a:ext uri="{909E8E84-426E-40DD-AFC4-6F175D3DCCD1}">
              <a14:hiddenFill xmlns:a14="http://schemas.microsoft.com/office/drawing/2010/main">
                <a:solidFill>
                  <a:srgbClr val="FFFFFF"/>
                </a:solidFill>
              </a14:hiddenFill>
            </a:ext>
          </a:extLst>
        </p:spPr>
      </p:pic>
      <p:sp>
        <p:nvSpPr>
          <p:cNvPr id="31" name="Text Box 41"/>
          <p:cNvSpPr txBox="1">
            <a:spLocks noChangeArrowheads="1"/>
          </p:cNvSpPr>
          <p:nvPr/>
        </p:nvSpPr>
        <p:spPr bwMode="auto">
          <a:xfrm>
            <a:off x="7889574" y="2312336"/>
            <a:ext cx="1077589" cy="369332"/>
          </a:xfrm>
          <a:prstGeom prst="rect">
            <a:avLst/>
          </a:prstGeom>
          <a:noFill/>
          <a:ln w="9525">
            <a:noFill/>
            <a:miter lim="800000"/>
            <a:headEnd/>
            <a:tailEnd/>
          </a:ln>
        </p:spPr>
        <p:txBody>
          <a:bodyPr wrap="square" anchor="ctr">
            <a:spAutoFit/>
          </a:bodyPr>
          <a:lstStyle/>
          <a:p>
            <a:pPr fontAlgn="base">
              <a:spcBef>
                <a:spcPct val="0"/>
              </a:spcBef>
              <a:spcAft>
                <a:spcPct val="0"/>
              </a:spcAft>
            </a:pPr>
            <a:r>
              <a:rPr lang="ru-RU" sz="900" b="1" i="0" dirty="0">
                <a:solidFill>
                  <a:srgbClr val="000000"/>
                </a:solidFill>
                <a:latin typeface="Arial" pitchFamily="34" charset="0"/>
                <a:cs typeface="Arial" pitchFamily="34" charset="0"/>
              </a:rPr>
              <a:t>Выделено для предприятия P</a:t>
            </a:r>
          </a:p>
        </p:txBody>
      </p:sp>
      <p:sp>
        <p:nvSpPr>
          <p:cNvPr id="32" name="Rectangular Callout 31"/>
          <p:cNvSpPr/>
          <p:nvPr/>
        </p:nvSpPr>
        <p:spPr>
          <a:xfrm>
            <a:off x="6256015" y="1836681"/>
            <a:ext cx="1608064" cy="960509"/>
          </a:xfrm>
          <a:prstGeom prst="wedgeRectCallout">
            <a:avLst>
              <a:gd name="adj1" fmla="val 55723"/>
              <a:gd name="adj2" fmla="val 19224"/>
            </a:avLst>
          </a:prstGeom>
          <a:noFill/>
          <a:ln>
            <a:solidFill>
              <a:srgbClr val="E109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100">
              <a:solidFill>
                <a:srgbClr val="FFFFFF"/>
              </a:solidFill>
              <a:latin typeface="Arial" pitchFamily="34" charset="0"/>
              <a:ea typeface="Verdana" panose="020B0604030504040204" pitchFamily="34" charset="0"/>
              <a:cs typeface="Arial" pitchFamily="34" charset="0"/>
            </a:endParaRPr>
          </a:p>
        </p:txBody>
      </p:sp>
      <p:pic>
        <p:nvPicPr>
          <p:cNvPr id="37" name="Picture 28" descr="C:\Users\patils1\Desktop\2013 Projects\CIS v2\CIS Slide Deck_Based on Book\Colored Graphics\Physical Compute System With Hypervisor.png"/>
          <p:cNvPicPr>
            <a:picLocks noChangeAspect="1" noChangeArrowheads="1"/>
          </p:cNvPicPr>
          <p:nvPr/>
        </p:nvPicPr>
        <p:blipFill>
          <a:blip r:embed="rId9"/>
          <a:stretch>
            <a:fillRect/>
          </a:stretch>
        </p:blipFill>
        <p:spPr bwMode="auto">
          <a:xfrm>
            <a:off x="4621521" y="2062926"/>
            <a:ext cx="526313" cy="51083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9" descr="C:\Users\patils1\Desktop\2013 Projects\CIS v2\CIS Slide Deck_Based on Book\Colored Graphics\Physical Compute System.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612974" y="2636493"/>
            <a:ext cx="542542" cy="11849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3" descr="C:\Users\patils1\Desktop\2013 Projects\CIS v2\CIS Slide Deck_Based on Book\Colored Graphics\Ethernet Switch.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210946" y="2486870"/>
            <a:ext cx="442385" cy="2681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6" descr="C:\Users\patils1\Desktop\2013 Projects\CIS v2\CIS Slide Deck_Based on Book\Colored Graphics\FC Switch.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212449" y="2062926"/>
            <a:ext cx="440616" cy="26704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9" descr="C:\Users\patils1\Desktop\2013 Projects\CIS v2\CIS Slide Deck_Based on Book\Colored Graphics\Storage System.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707894" y="1904950"/>
            <a:ext cx="411379" cy="850033"/>
          </a:xfrm>
          <a:prstGeom prst="rect">
            <a:avLst/>
          </a:prstGeom>
          <a:noFill/>
          <a:extLst>
            <a:ext uri="{909E8E84-426E-40DD-AFC4-6F175D3DCCD1}">
              <a14:hiddenFill xmlns:a14="http://schemas.microsoft.com/office/drawing/2010/main">
                <a:solidFill>
                  <a:srgbClr val="FFFFFF"/>
                </a:solidFill>
              </a14:hiddenFill>
            </a:ext>
          </a:extLst>
        </p:spPr>
      </p:pic>
      <p:sp>
        <p:nvSpPr>
          <p:cNvPr id="35" name="Text Box 38"/>
          <p:cNvSpPr txBox="1">
            <a:spLocks noChangeArrowheads="1"/>
          </p:cNvSpPr>
          <p:nvPr/>
        </p:nvSpPr>
        <p:spPr bwMode="auto">
          <a:xfrm>
            <a:off x="7610138" y="555526"/>
            <a:ext cx="1181734"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P</a:t>
            </a:r>
          </a:p>
        </p:txBody>
      </p:sp>
      <p:pic>
        <p:nvPicPr>
          <p:cNvPr id="67" name="Picture 66" descr="enterprise"/>
          <p:cNvPicPr>
            <a:picLocks noChangeAspect="1" noChangeArrowheads="1"/>
          </p:cNvPicPr>
          <p:nvPr/>
        </p:nvPicPr>
        <p:blipFill>
          <a:blip r:embed="rId8" cstate="print"/>
          <a:srcRect/>
          <a:stretch>
            <a:fillRect/>
          </a:stretch>
        </p:blipFill>
        <p:spPr bwMode="auto">
          <a:xfrm>
            <a:off x="7676266" y="766251"/>
            <a:ext cx="934062" cy="907643"/>
          </a:xfrm>
          <a:prstGeom prst="rect">
            <a:avLst/>
          </a:prstGeom>
          <a:noFill/>
        </p:spPr>
      </p:pic>
      <p:sp>
        <p:nvSpPr>
          <p:cNvPr id="69" name="Text Box 41"/>
          <p:cNvSpPr txBox="1">
            <a:spLocks noChangeArrowheads="1"/>
          </p:cNvSpPr>
          <p:nvPr/>
        </p:nvSpPr>
        <p:spPr bwMode="auto">
          <a:xfrm>
            <a:off x="5076056" y="3219822"/>
            <a:ext cx="3390256" cy="276999"/>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200" b="1" i="0" dirty="0">
                <a:solidFill>
                  <a:srgbClr val="000000"/>
                </a:solidFill>
                <a:latin typeface="Arial" pitchFamily="34" charset="0"/>
                <a:cs typeface="Arial" pitchFamily="34" charset="0"/>
              </a:rPr>
              <a:t>2) Внешнее частное облако</a:t>
            </a:r>
          </a:p>
        </p:txBody>
      </p:sp>
      <p:sp>
        <p:nvSpPr>
          <p:cNvPr id="66" name="Text Box 38"/>
          <p:cNvSpPr txBox="1">
            <a:spLocks noChangeArrowheads="1"/>
          </p:cNvSpPr>
          <p:nvPr/>
        </p:nvSpPr>
        <p:spPr bwMode="auto">
          <a:xfrm>
            <a:off x="533400" y="3427880"/>
            <a:ext cx="1143000" cy="200055"/>
          </a:xfrm>
          <a:prstGeom prst="rect">
            <a:avLst/>
          </a:prstGeom>
          <a:noFill/>
          <a:ln w="9525">
            <a:noFill/>
            <a:miter lim="800000"/>
            <a:headEnd/>
            <a:tailEnd/>
          </a:ln>
        </p:spPr>
        <p:txBody>
          <a:bodyPr wrap="square">
            <a:spAutoFit/>
          </a:bodyPr>
          <a:lstStyle/>
          <a:p>
            <a:pPr algn="ctr"/>
            <a:r>
              <a:rPr lang="ru-RU" sz="700" b="1" i="0" dirty="0">
                <a:solidFill>
                  <a:srgbClr val="000000"/>
                </a:solidFill>
                <a:latin typeface="Arial" pitchFamily="34" charset="0"/>
                <a:cs typeface="Arial" pitchFamily="34" charset="0"/>
              </a:rPr>
              <a:t>Гипервизор</a:t>
            </a:r>
          </a:p>
        </p:txBody>
      </p:sp>
      <p:sp>
        <p:nvSpPr>
          <p:cNvPr id="70" name="Text Box 38"/>
          <p:cNvSpPr txBox="1">
            <a:spLocks noChangeArrowheads="1"/>
          </p:cNvSpPr>
          <p:nvPr/>
        </p:nvSpPr>
        <p:spPr bwMode="auto">
          <a:xfrm>
            <a:off x="4312025" y="2302810"/>
            <a:ext cx="1143000" cy="169277"/>
          </a:xfrm>
          <a:prstGeom prst="rect">
            <a:avLst/>
          </a:prstGeom>
          <a:noFill/>
          <a:ln w="9525">
            <a:noFill/>
            <a:miter lim="800000"/>
            <a:headEnd/>
            <a:tailEnd/>
          </a:ln>
        </p:spPr>
        <p:txBody>
          <a:bodyPr wrap="square">
            <a:spAutoFit/>
          </a:bodyPr>
          <a:lstStyle/>
          <a:p>
            <a:pPr algn="ctr"/>
            <a:r>
              <a:rPr lang="ru-RU" sz="500" b="1" i="0" dirty="0">
                <a:solidFill>
                  <a:srgbClr val="000000"/>
                </a:solidFill>
                <a:latin typeface="Arial" pitchFamily="34" charset="0"/>
                <a:cs typeface="Arial" pitchFamily="34" charset="0"/>
              </a:rPr>
              <a:t>Гипервизор</a:t>
            </a:r>
          </a:p>
        </p:txBody>
      </p:sp>
      <p:sp>
        <p:nvSpPr>
          <p:cNvPr id="71" name="Text Box 38"/>
          <p:cNvSpPr txBox="1">
            <a:spLocks noChangeArrowheads="1"/>
          </p:cNvSpPr>
          <p:nvPr/>
        </p:nvSpPr>
        <p:spPr bwMode="auto">
          <a:xfrm>
            <a:off x="6010835" y="2298325"/>
            <a:ext cx="1143000" cy="169277"/>
          </a:xfrm>
          <a:prstGeom prst="rect">
            <a:avLst/>
          </a:prstGeom>
          <a:noFill/>
          <a:ln w="9525">
            <a:noFill/>
            <a:miter lim="800000"/>
            <a:headEnd/>
            <a:tailEnd/>
          </a:ln>
        </p:spPr>
        <p:txBody>
          <a:bodyPr wrap="square">
            <a:spAutoFit/>
          </a:bodyPr>
          <a:lstStyle/>
          <a:p>
            <a:pPr algn="ctr"/>
            <a:r>
              <a:rPr lang="ru-RU" sz="500" b="1" i="0" dirty="0">
                <a:solidFill>
                  <a:srgbClr val="000000"/>
                </a:solidFill>
                <a:latin typeface="Arial" pitchFamily="34" charset="0"/>
                <a:cs typeface="Arial" pitchFamily="34" charset="0"/>
              </a:rPr>
              <a:t>Гипервизор</a:t>
            </a:r>
          </a:p>
        </p:txBody>
      </p:sp>
      <p:sp>
        <p:nvSpPr>
          <p:cNvPr id="51" name="TextBox 5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768904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Облако сообщества</a:t>
            </a:r>
          </a:p>
        </p:txBody>
      </p:sp>
      <p:sp>
        <p:nvSpPr>
          <p:cNvPr id="5" name="Subtitle 4"/>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Локальное облако сообщества</a:t>
            </a:r>
          </a:p>
        </p:txBody>
      </p:sp>
      <p:sp>
        <p:nvSpPr>
          <p:cNvPr id="142" name="Isosceles Triangle 141"/>
          <p:cNvSpPr/>
          <p:nvPr/>
        </p:nvSpPr>
        <p:spPr>
          <a:xfrm rot="10800000">
            <a:off x="3397866" y="2527786"/>
            <a:ext cx="2382797" cy="1692000"/>
          </a:xfrm>
          <a:prstGeom prst="triangle">
            <a:avLst/>
          </a:prstGeom>
          <a:noFill/>
          <a:ln w="254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pic>
        <p:nvPicPr>
          <p:cNvPr id="95" name="Picture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7326" y="1591458"/>
            <a:ext cx="2982606" cy="15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6" name="Group 95"/>
          <p:cNvGrpSpPr/>
          <p:nvPr/>
        </p:nvGrpSpPr>
        <p:grpSpPr>
          <a:xfrm>
            <a:off x="1220025" y="2076973"/>
            <a:ext cx="2413782" cy="734204"/>
            <a:chOff x="3598378" y="2016447"/>
            <a:chExt cx="2413782" cy="734204"/>
          </a:xfrm>
        </p:grpSpPr>
        <p:grpSp>
          <p:nvGrpSpPr>
            <p:cNvPr id="106" name="Group 105"/>
            <p:cNvGrpSpPr>
              <a:grpSpLocks noChangeAspect="1"/>
            </p:cNvGrpSpPr>
            <p:nvPr/>
          </p:nvGrpSpPr>
          <p:grpSpPr>
            <a:xfrm>
              <a:off x="4897550" y="2185291"/>
              <a:ext cx="754570" cy="540000"/>
              <a:chOff x="6051790" y="2318649"/>
              <a:chExt cx="1177091" cy="842371"/>
            </a:xfrm>
          </p:grpSpPr>
          <p:sp>
            <p:nvSpPr>
              <p:cNvPr id="116" name="Rectangle 115"/>
              <p:cNvSpPr/>
              <p:nvPr>
                <p:custDataLst>
                  <p:tags r:id="rId18"/>
                </p:custDataLst>
              </p:nvPr>
            </p:nvSpPr>
            <p:spPr>
              <a:xfrm rot="933880">
                <a:off x="6051790" y="2625303"/>
                <a:ext cx="1177091" cy="535717"/>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6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117" name="Rectangle 116"/>
              <p:cNvSpPr/>
              <p:nvPr>
                <p:custDataLst>
                  <p:tags r:id="rId19"/>
                </p:custDataLst>
              </p:nvPr>
            </p:nvSpPr>
            <p:spPr>
              <a:xfrm rot="933880">
                <a:off x="6051790" y="2472903"/>
                <a:ext cx="1177091" cy="535717"/>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6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118" name="Rectangle 117"/>
              <p:cNvSpPr/>
              <p:nvPr>
                <p:custDataLst>
                  <p:tags r:id="rId20"/>
                </p:custDataLst>
              </p:nvPr>
            </p:nvSpPr>
            <p:spPr>
              <a:xfrm rot="933880">
                <a:off x="6051790" y="2318649"/>
                <a:ext cx="1177091" cy="535717"/>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6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pic>
          <p:nvPicPr>
            <p:cNvPr id="107" name="Picture 13" descr="C:\Users\patils1\Desktop\2013 Projects\CIS v2\CIS Slide Deck_Based on Book\Colored Graphics\Ethernet Switch.png"/>
            <p:cNvPicPr>
              <a:picLocks noChangeAspect="1" noChangeArrowheads="1"/>
            </p:cNvPicPr>
            <p:nvPr>
              <p:custDataLst>
                <p:tags r:id="rId11"/>
              </p:custDataLst>
            </p:nvPr>
          </p:nvPicPr>
          <p:blipFill>
            <a:blip r:embed="rId24">
              <a:extLst>
                <a:ext uri="{28A0092B-C50C-407E-A947-70E740481C1C}">
                  <a14:useLocalDpi xmlns:a14="http://schemas.microsoft.com/office/drawing/2010/main" val="0"/>
                </a:ext>
              </a:extLst>
            </a:blip>
            <a:srcRect/>
            <a:stretch>
              <a:fillRect/>
            </a:stretch>
          </p:blipFill>
          <p:spPr bwMode="auto">
            <a:xfrm>
              <a:off x="4119342" y="2182865"/>
              <a:ext cx="345865"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16" descr="C:\Users\patils1\Desktop\2013 Projects\CIS v2\CIS Slide Deck_Based on Book\Colored Graphics\FC Switch.png"/>
            <p:cNvPicPr>
              <a:picLocks noChangeAspect="1" noChangeArrowheads="1"/>
            </p:cNvPicPr>
            <p:nvPr>
              <p:custDataLst>
                <p:tags r:id="rId12"/>
              </p:custDataLst>
            </p:nvPr>
          </p:nvPicPr>
          <p:blipFill>
            <a:blip r:embed="rId25">
              <a:extLst>
                <a:ext uri="{28A0092B-C50C-407E-A947-70E740481C1C}">
                  <a14:useLocalDpi xmlns:a14="http://schemas.microsoft.com/office/drawing/2010/main" val="0"/>
                </a:ext>
              </a:extLst>
            </a:blip>
            <a:srcRect/>
            <a:stretch>
              <a:fillRect/>
            </a:stretch>
          </p:blipFill>
          <p:spPr bwMode="auto">
            <a:xfrm>
              <a:off x="4111056" y="2520447"/>
              <a:ext cx="345866"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8" descr="C:\Users\patils1\Desktop\2013 Projects\CIS v2\CIS Slide Deck_Based on Book\Colored Graphics\Physical Compute System With Hypervisor.png"/>
            <p:cNvPicPr>
              <a:picLocks noChangeAspect="1" noChangeArrowheads="1"/>
            </p:cNvPicPr>
            <p:nvPr>
              <p:custDataLst>
                <p:tags r:id="rId13"/>
              </p:custDataLst>
            </p:nvPr>
          </p:nvPicPr>
          <p:blipFill>
            <a:blip r:embed="rId26"/>
            <a:stretch>
              <a:fillRect/>
            </a:stretch>
          </p:blipFill>
          <p:spPr bwMode="auto">
            <a:xfrm>
              <a:off x="3598378" y="2134380"/>
              <a:ext cx="482181" cy="46800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9" descr="C:\Users\patils1\Desktop\2013 Projects\CIS v2\CIS Slide Deck_Based on Book\Colored Graphics\Physical Compute System.png"/>
            <p:cNvPicPr>
              <a:picLocks noChangeAspect="1" noChangeArrowheads="1"/>
            </p:cNvPicPr>
            <p:nvPr>
              <p:custDataLst>
                <p:tags r:id="rId14"/>
              </p:custDataLst>
            </p:nvPr>
          </p:nvPicPr>
          <p:blipFill>
            <a:blip r:embed="rId27">
              <a:extLst>
                <a:ext uri="{28A0092B-C50C-407E-A947-70E740481C1C}">
                  <a14:useLocalDpi xmlns:a14="http://schemas.microsoft.com/office/drawing/2010/main" val="0"/>
                </a:ext>
              </a:extLst>
            </a:blip>
            <a:srcRect/>
            <a:stretch>
              <a:fillRect/>
            </a:stretch>
          </p:blipFill>
          <p:spPr bwMode="auto">
            <a:xfrm>
              <a:off x="3598632" y="2627883"/>
              <a:ext cx="482400" cy="108564"/>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9" descr="C:\Users\patils1\Desktop\2013 Projects\CIS v2\CIS Slide Deck_Based on Book\Colored Graphics\Storage System.png"/>
            <p:cNvPicPr>
              <a:picLocks noChangeAspect="1" noChangeArrowheads="1"/>
            </p:cNvPicPr>
            <p:nvPr>
              <p:custDataLst>
                <p:tags r:id="rId15"/>
              </p:custDataLst>
            </p:nvPr>
          </p:nvPicPr>
          <p:blipFill>
            <a:blip r:embed="rId28">
              <a:extLst>
                <a:ext uri="{28A0092B-C50C-407E-A947-70E740481C1C}">
                  <a14:useLocalDpi xmlns:a14="http://schemas.microsoft.com/office/drawing/2010/main" val="0"/>
                </a:ext>
              </a:extLst>
            </a:blip>
            <a:srcRect/>
            <a:stretch>
              <a:fillRect/>
            </a:stretch>
          </p:blipFill>
          <p:spPr bwMode="auto">
            <a:xfrm>
              <a:off x="4501212" y="2016447"/>
              <a:ext cx="338150" cy="720000"/>
            </a:xfrm>
            <a:prstGeom prst="rect">
              <a:avLst/>
            </a:prstGeom>
            <a:noFill/>
            <a:extLst>
              <a:ext uri="{909E8E84-426E-40DD-AFC4-6F175D3DCCD1}">
                <a14:hiddenFill xmlns:a14="http://schemas.microsoft.com/office/drawing/2010/main">
                  <a:solidFill>
                    <a:srgbClr val="FFFFFF"/>
                  </a:solidFill>
                </a14:hiddenFill>
              </a:ext>
            </a:extLst>
          </p:spPr>
        </p:pic>
        <p:grpSp>
          <p:nvGrpSpPr>
            <p:cNvPr id="112" name="Group 111"/>
            <p:cNvGrpSpPr>
              <a:grpSpLocks noChangeAspect="1"/>
            </p:cNvGrpSpPr>
            <p:nvPr/>
          </p:nvGrpSpPr>
          <p:grpSpPr>
            <a:xfrm>
              <a:off x="5741224" y="2390651"/>
              <a:ext cx="270936" cy="360000"/>
              <a:chOff x="7435071" y="2570745"/>
              <a:chExt cx="487688" cy="648000"/>
            </a:xfrm>
          </p:grpSpPr>
          <p:sp>
            <p:nvSpPr>
              <p:cNvPr id="113" name="Cube 112"/>
              <p:cNvSpPr/>
              <p:nvPr>
                <p:custDataLst>
                  <p:tags r:id="rId16"/>
                </p:custDataLst>
              </p:nvPr>
            </p:nvSpPr>
            <p:spPr>
              <a:xfrm>
                <a:off x="7435071" y="2570745"/>
                <a:ext cx="433208" cy="60237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14" name="Oval 113"/>
              <p:cNvSpPr/>
              <p:nvPr>
                <p:custDataLst>
                  <p:tags r:id="rId17"/>
                </p:custDataLst>
              </p:nvPr>
            </p:nvSpPr>
            <p:spPr>
              <a:xfrm>
                <a:off x="7651675" y="2939369"/>
                <a:ext cx="271084" cy="279376"/>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15" name="Oval 114"/>
              <p:cNvSpPr/>
              <p:nvPr/>
            </p:nvSpPr>
            <p:spPr>
              <a:xfrm>
                <a:off x="7753331" y="3042348"/>
                <a:ext cx="67771" cy="73419"/>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grpSp>
      <p:sp>
        <p:nvSpPr>
          <p:cNvPr id="97" name="Text Box 161"/>
          <p:cNvSpPr txBox="1">
            <a:spLocks noChangeArrowheads="1"/>
          </p:cNvSpPr>
          <p:nvPr/>
        </p:nvSpPr>
        <p:spPr bwMode="auto">
          <a:xfrm>
            <a:off x="1600200" y="1733550"/>
            <a:ext cx="1284781" cy="276999"/>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900" b="1" i="0" dirty="0">
                <a:solidFill>
                  <a:srgbClr val="000000"/>
                </a:solidFill>
                <a:latin typeface="Arial" pitchFamily="34" charset="0"/>
                <a:cs typeface="Arial" pitchFamily="34" charset="0"/>
              </a:rPr>
              <a:t>Ресурсы</a:t>
            </a:r>
            <a:br>
              <a:rPr lang="en-US" sz="900" b="1" i="0" dirty="0">
                <a:solidFill>
                  <a:srgbClr val="FF00FF"/>
                </a:solidFill>
                <a:latin typeface="Arial" pitchFamily="34" charset="0"/>
                <a:cs typeface="Arial" pitchFamily="34" charset="0"/>
              </a:rPr>
            </a:br>
            <a:r>
              <a:rPr lang="ru-RU" sz="900" b="1" i="0" dirty="0">
                <a:solidFill>
                  <a:srgbClr val="000000"/>
                </a:solidFill>
                <a:latin typeface="Arial" pitchFamily="34" charset="0"/>
                <a:cs typeface="Arial" pitchFamily="34" charset="0"/>
              </a:rPr>
              <a:t>предприятия P</a:t>
            </a:r>
          </a:p>
        </p:txBody>
      </p:sp>
      <p:grpSp>
        <p:nvGrpSpPr>
          <p:cNvPr id="100" name="Group 99"/>
          <p:cNvGrpSpPr/>
          <p:nvPr/>
        </p:nvGrpSpPr>
        <p:grpSpPr>
          <a:xfrm>
            <a:off x="899583" y="1332225"/>
            <a:ext cx="1181734" cy="794193"/>
            <a:chOff x="2600533" y="779610"/>
            <a:chExt cx="1181734" cy="794193"/>
          </a:xfrm>
        </p:grpSpPr>
        <p:sp>
          <p:nvSpPr>
            <p:cNvPr id="104" name="Text Box 38"/>
            <p:cNvSpPr txBox="1">
              <a:spLocks noChangeArrowheads="1"/>
            </p:cNvSpPr>
            <p:nvPr>
              <p:custDataLst>
                <p:tags r:id="rId9"/>
              </p:custDataLst>
            </p:nvPr>
          </p:nvSpPr>
          <p:spPr bwMode="auto">
            <a:xfrm>
              <a:off x="2600533" y="779610"/>
              <a:ext cx="1181734"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P</a:t>
              </a:r>
            </a:p>
          </p:txBody>
        </p:sp>
        <p:pic>
          <p:nvPicPr>
            <p:cNvPr id="105" name="Picture 104" descr="enterprise"/>
            <p:cNvPicPr>
              <a:picLocks noChangeAspect="1" noChangeArrowheads="1"/>
            </p:cNvPicPr>
            <p:nvPr>
              <p:custDataLst>
                <p:tags r:id="rId10"/>
              </p:custDataLst>
            </p:nvPr>
          </p:nvPicPr>
          <p:blipFill>
            <a:blip r:embed="rId29" cstate="print"/>
            <a:srcRect/>
            <a:stretch>
              <a:fillRect/>
            </a:stretch>
          </p:blipFill>
          <p:spPr bwMode="auto">
            <a:xfrm>
              <a:off x="2875930" y="1033803"/>
              <a:ext cx="555717" cy="540000"/>
            </a:xfrm>
            <a:prstGeom prst="rect">
              <a:avLst/>
            </a:prstGeom>
            <a:noFill/>
          </p:spPr>
        </p:pic>
      </p:grpSp>
      <p:pic>
        <p:nvPicPr>
          <p:cNvPr id="119" name="Picture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41715" y="1572238"/>
            <a:ext cx="2982606" cy="15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1" name="Group 120"/>
          <p:cNvGrpSpPr>
            <a:grpSpLocks noChangeAspect="1"/>
          </p:cNvGrpSpPr>
          <p:nvPr/>
        </p:nvGrpSpPr>
        <p:grpSpPr>
          <a:xfrm>
            <a:off x="6783586" y="2226597"/>
            <a:ext cx="754570" cy="540000"/>
            <a:chOff x="6051790" y="2318649"/>
            <a:chExt cx="1177091" cy="842371"/>
          </a:xfrm>
        </p:grpSpPr>
        <p:sp>
          <p:nvSpPr>
            <p:cNvPr id="131" name="Rectangle 130"/>
            <p:cNvSpPr/>
            <p:nvPr>
              <p:custDataLst>
                <p:tags r:id="rId6"/>
              </p:custDataLst>
            </p:nvPr>
          </p:nvSpPr>
          <p:spPr>
            <a:xfrm rot="933880">
              <a:off x="6051790" y="2625303"/>
              <a:ext cx="1177091" cy="535717"/>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6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132" name="Rectangle 131"/>
            <p:cNvSpPr/>
            <p:nvPr>
              <p:custDataLst>
                <p:tags r:id="rId7"/>
              </p:custDataLst>
            </p:nvPr>
          </p:nvSpPr>
          <p:spPr>
            <a:xfrm rot="933880">
              <a:off x="6051790" y="2472903"/>
              <a:ext cx="1177091" cy="535717"/>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6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133" name="Rectangle 132"/>
            <p:cNvSpPr/>
            <p:nvPr>
              <p:custDataLst>
                <p:tags r:id="rId8"/>
              </p:custDataLst>
            </p:nvPr>
          </p:nvSpPr>
          <p:spPr>
            <a:xfrm rot="933880">
              <a:off x="6051790" y="2318649"/>
              <a:ext cx="1177091" cy="535717"/>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6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pic>
        <p:nvPicPr>
          <p:cNvPr id="122" name="Picture 13" descr="C:\Users\patils1\Desktop\2013 Projects\CIS v2\CIS Slide Deck_Based on Book\Colored Graphics\Ethernet Switch.png"/>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05378" y="2224171"/>
            <a:ext cx="345865" cy="216000"/>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6" descr="C:\Users\patils1\Desktop\2013 Projects\CIS v2\CIS Slide Deck_Based on Book\Colored Graphics\FC Switch.png"/>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997092" y="2561753"/>
            <a:ext cx="345866" cy="216000"/>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28" descr="C:\Users\patils1\Desktop\2013 Projects\CIS v2\CIS Slide Deck_Based on Book\Colored Graphics\Physical Compute System With Hypervisor.png"/>
          <p:cNvPicPr>
            <a:picLocks noChangeAspect="1" noChangeArrowheads="1"/>
          </p:cNvPicPr>
          <p:nvPr/>
        </p:nvPicPr>
        <p:blipFill>
          <a:blip r:embed="rId26"/>
          <a:stretch>
            <a:fillRect/>
          </a:stretch>
        </p:blipFill>
        <p:spPr bwMode="auto">
          <a:xfrm>
            <a:off x="5484414" y="2175686"/>
            <a:ext cx="482181" cy="468000"/>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29" descr="C:\Users\patils1\Desktop\2013 Projects\CIS v2\CIS Slide Deck_Based on Book\Colored Graphics\Physical Compute System.png"/>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484668" y="2669189"/>
            <a:ext cx="482400" cy="108564"/>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9" descr="C:\Users\patils1\Desktop\2013 Projects\CIS v2\CIS Slide Deck_Based on Book\Colored Graphics\Storage System.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387248" y="2057753"/>
            <a:ext cx="338150" cy="720000"/>
          </a:xfrm>
          <a:prstGeom prst="rect">
            <a:avLst/>
          </a:prstGeom>
          <a:noFill/>
          <a:extLst>
            <a:ext uri="{909E8E84-426E-40DD-AFC4-6F175D3DCCD1}">
              <a14:hiddenFill xmlns:a14="http://schemas.microsoft.com/office/drawing/2010/main">
                <a:solidFill>
                  <a:srgbClr val="FFFFFF"/>
                </a:solidFill>
              </a14:hiddenFill>
            </a:ext>
          </a:extLst>
        </p:spPr>
      </p:pic>
      <p:grpSp>
        <p:nvGrpSpPr>
          <p:cNvPr id="127" name="Group 126"/>
          <p:cNvGrpSpPr>
            <a:grpSpLocks noChangeAspect="1"/>
          </p:cNvGrpSpPr>
          <p:nvPr/>
        </p:nvGrpSpPr>
        <p:grpSpPr>
          <a:xfrm>
            <a:off x="7627260" y="2431957"/>
            <a:ext cx="270936" cy="360000"/>
            <a:chOff x="7435071" y="2570745"/>
            <a:chExt cx="487688" cy="648000"/>
          </a:xfrm>
        </p:grpSpPr>
        <p:sp>
          <p:nvSpPr>
            <p:cNvPr id="128" name="Cube 127"/>
            <p:cNvSpPr/>
            <p:nvPr/>
          </p:nvSpPr>
          <p:spPr>
            <a:xfrm>
              <a:off x="7435071" y="2570745"/>
              <a:ext cx="433208" cy="60237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29" name="Oval 128"/>
            <p:cNvSpPr/>
            <p:nvPr/>
          </p:nvSpPr>
          <p:spPr>
            <a:xfrm>
              <a:off x="7651675" y="2939369"/>
              <a:ext cx="271084" cy="279376"/>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30" name="Oval 129"/>
            <p:cNvSpPr/>
            <p:nvPr/>
          </p:nvSpPr>
          <p:spPr>
            <a:xfrm>
              <a:off x="7753331" y="3042348"/>
              <a:ext cx="67771" cy="73419"/>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sp>
        <p:nvSpPr>
          <p:cNvPr id="134" name="Text Box 161"/>
          <p:cNvSpPr txBox="1">
            <a:spLocks noChangeArrowheads="1"/>
          </p:cNvSpPr>
          <p:nvPr/>
        </p:nvSpPr>
        <p:spPr bwMode="auto">
          <a:xfrm>
            <a:off x="6017555" y="1733550"/>
            <a:ext cx="1058997" cy="276999"/>
          </a:xfrm>
          <a:prstGeom prst="rect">
            <a:avLst/>
          </a:prstGeom>
          <a:noFill/>
          <a:ln w="25400" algn="ctr">
            <a:noFill/>
            <a:miter lim="800000"/>
            <a:headEnd/>
            <a:tailEnd type="none" w="lg" len="med"/>
          </a:ln>
        </p:spPr>
        <p:txBody>
          <a:bodyPr wrap="square" lIns="0" tIns="0" rIns="0" bIns="0">
            <a:spAutoFit/>
          </a:bodyPr>
          <a:lstStyle/>
          <a:p>
            <a:pPr algn="ctr" defTabSz="941388" fontAlgn="base">
              <a:spcBef>
                <a:spcPct val="0"/>
              </a:spcBef>
              <a:spcAft>
                <a:spcPct val="0"/>
              </a:spcAft>
            </a:pPr>
            <a:r>
              <a:rPr lang="ru-RU" sz="900" b="1" i="0" dirty="0">
                <a:solidFill>
                  <a:srgbClr val="000000"/>
                </a:solidFill>
                <a:latin typeface="Arial" pitchFamily="34" charset="0"/>
                <a:cs typeface="Arial" pitchFamily="34" charset="0"/>
              </a:rPr>
              <a:t>Ресурсы предприятия Q</a:t>
            </a:r>
          </a:p>
        </p:txBody>
      </p:sp>
      <p:grpSp>
        <p:nvGrpSpPr>
          <p:cNvPr id="135" name="Group 134"/>
          <p:cNvGrpSpPr/>
          <p:nvPr/>
        </p:nvGrpSpPr>
        <p:grpSpPr>
          <a:xfrm>
            <a:off x="5184068" y="1313005"/>
            <a:ext cx="1196161" cy="794193"/>
            <a:chOff x="2620629" y="779610"/>
            <a:chExt cx="1196161" cy="794193"/>
          </a:xfrm>
        </p:grpSpPr>
        <p:sp>
          <p:nvSpPr>
            <p:cNvPr id="136" name="Text Box 38"/>
            <p:cNvSpPr txBox="1">
              <a:spLocks noChangeArrowheads="1"/>
            </p:cNvSpPr>
            <p:nvPr>
              <p:custDataLst>
                <p:tags r:id="rId4"/>
              </p:custDataLst>
            </p:nvPr>
          </p:nvSpPr>
          <p:spPr bwMode="auto">
            <a:xfrm>
              <a:off x="2620629" y="779610"/>
              <a:ext cx="1196161"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Q</a:t>
              </a:r>
            </a:p>
          </p:txBody>
        </p:sp>
        <p:pic>
          <p:nvPicPr>
            <p:cNvPr id="137" name="Picture 136" descr="enterprise"/>
            <p:cNvPicPr>
              <a:picLocks noChangeAspect="1" noChangeArrowheads="1"/>
            </p:cNvPicPr>
            <p:nvPr>
              <p:custDataLst>
                <p:tags r:id="rId5"/>
              </p:custDataLst>
            </p:nvPr>
          </p:nvPicPr>
          <p:blipFill>
            <a:blip r:embed="rId29" cstate="print"/>
            <a:srcRect/>
            <a:stretch>
              <a:fillRect/>
            </a:stretch>
          </p:blipFill>
          <p:spPr bwMode="auto">
            <a:xfrm>
              <a:off x="2883143" y="1033803"/>
              <a:ext cx="555717" cy="540000"/>
            </a:xfrm>
            <a:prstGeom prst="rect">
              <a:avLst/>
            </a:prstGeom>
            <a:noFill/>
          </p:spPr>
        </p:pic>
      </p:grpSp>
      <p:grpSp>
        <p:nvGrpSpPr>
          <p:cNvPr id="139" name="Group 138"/>
          <p:cNvGrpSpPr/>
          <p:nvPr/>
        </p:nvGrpSpPr>
        <p:grpSpPr>
          <a:xfrm>
            <a:off x="4056624" y="3729745"/>
            <a:ext cx="1188146" cy="786221"/>
            <a:chOff x="4170317" y="2787774"/>
            <a:chExt cx="1188146" cy="786221"/>
          </a:xfrm>
        </p:grpSpPr>
        <p:sp>
          <p:nvSpPr>
            <p:cNvPr id="140" name="Text Box 38"/>
            <p:cNvSpPr txBox="1">
              <a:spLocks noChangeArrowheads="1"/>
            </p:cNvSpPr>
            <p:nvPr>
              <p:custDataLst>
                <p:tags r:id="rId2"/>
              </p:custDataLst>
            </p:nvPr>
          </p:nvSpPr>
          <p:spPr bwMode="auto">
            <a:xfrm>
              <a:off x="4170317" y="3327774"/>
              <a:ext cx="1188146"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R</a:t>
              </a:r>
            </a:p>
          </p:txBody>
        </p:sp>
        <p:pic>
          <p:nvPicPr>
            <p:cNvPr id="141" name="Picture 140" descr="enterprise"/>
            <p:cNvPicPr>
              <a:picLocks noChangeAspect="1" noChangeArrowheads="1"/>
            </p:cNvPicPr>
            <p:nvPr>
              <p:custDataLst>
                <p:tags r:id="rId3"/>
              </p:custDataLst>
            </p:nvPr>
          </p:nvPicPr>
          <p:blipFill>
            <a:blip r:embed="rId29" cstate="print"/>
            <a:srcRect/>
            <a:stretch>
              <a:fillRect/>
            </a:stretch>
          </p:blipFill>
          <p:spPr bwMode="auto">
            <a:xfrm>
              <a:off x="4421239" y="2787774"/>
              <a:ext cx="555717" cy="540000"/>
            </a:xfrm>
            <a:prstGeom prst="rect">
              <a:avLst/>
            </a:prstGeom>
            <a:noFill/>
          </p:spPr>
        </p:pic>
      </p:grpSp>
      <p:sp>
        <p:nvSpPr>
          <p:cNvPr id="51" name="Text Box 38"/>
          <p:cNvSpPr txBox="1">
            <a:spLocks noChangeArrowheads="1"/>
          </p:cNvSpPr>
          <p:nvPr/>
        </p:nvSpPr>
        <p:spPr bwMode="auto">
          <a:xfrm>
            <a:off x="896470" y="2410385"/>
            <a:ext cx="1143000" cy="169277"/>
          </a:xfrm>
          <a:prstGeom prst="rect">
            <a:avLst/>
          </a:prstGeom>
          <a:noFill/>
          <a:ln w="9525">
            <a:noFill/>
            <a:miter lim="800000"/>
            <a:headEnd/>
            <a:tailEnd/>
          </a:ln>
        </p:spPr>
        <p:txBody>
          <a:bodyPr wrap="square">
            <a:spAutoFit/>
          </a:bodyPr>
          <a:lstStyle/>
          <a:p>
            <a:pPr algn="ctr"/>
            <a:r>
              <a:rPr lang="ru-RU" sz="500" b="1" i="0" dirty="0">
                <a:solidFill>
                  <a:srgbClr val="000000"/>
                </a:solidFill>
                <a:latin typeface="Arial" pitchFamily="34" charset="0"/>
                <a:cs typeface="Arial" pitchFamily="34" charset="0"/>
              </a:rPr>
              <a:t>Гипервизор</a:t>
            </a:r>
          </a:p>
        </p:txBody>
      </p:sp>
      <p:sp>
        <p:nvSpPr>
          <p:cNvPr id="52" name="Text Box 38"/>
          <p:cNvSpPr txBox="1">
            <a:spLocks noChangeArrowheads="1"/>
          </p:cNvSpPr>
          <p:nvPr/>
        </p:nvSpPr>
        <p:spPr bwMode="auto">
          <a:xfrm>
            <a:off x="5181600" y="2383490"/>
            <a:ext cx="1143000" cy="169277"/>
          </a:xfrm>
          <a:prstGeom prst="rect">
            <a:avLst/>
          </a:prstGeom>
          <a:noFill/>
          <a:ln w="9525">
            <a:noFill/>
            <a:miter lim="800000"/>
            <a:headEnd/>
            <a:tailEnd/>
          </a:ln>
        </p:spPr>
        <p:txBody>
          <a:bodyPr wrap="square">
            <a:spAutoFit/>
          </a:bodyPr>
          <a:lstStyle/>
          <a:p>
            <a:pPr algn="ctr"/>
            <a:r>
              <a:rPr lang="ru-RU" sz="500" b="1" i="0" dirty="0">
                <a:solidFill>
                  <a:srgbClr val="000000"/>
                </a:solidFill>
                <a:latin typeface="Arial" pitchFamily="34" charset="0"/>
                <a:cs typeface="Arial" pitchFamily="34" charset="0"/>
              </a:rPr>
              <a:t>Гипервизор</a:t>
            </a:r>
          </a:p>
        </p:txBody>
      </p:sp>
      <p:sp>
        <p:nvSpPr>
          <p:cNvPr id="47" name="TextBox 4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513027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Облако</a:t>
            </a:r>
            <a:r>
              <a:rPr lang="en-US" sz="2800" b="0" i="0" dirty="0">
                <a:solidFill>
                  <a:srgbClr val="2C95DD"/>
                </a:solidFill>
                <a:latin typeface="Arial" pitchFamily="34" charset="0"/>
                <a:cs typeface="Arial" pitchFamily="34" charset="0"/>
              </a:rPr>
              <a:t> </a:t>
            </a:r>
            <a:r>
              <a:rPr lang="ru-RU" sz="2800" b="0" i="0" dirty="0">
                <a:solidFill>
                  <a:srgbClr val="2C95DD"/>
                </a:solidFill>
                <a:latin typeface="Arial" pitchFamily="34" charset="0"/>
                <a:cs typeface="Arial" pitchFamily="34" charset="0"/>
              </a:rPr>
              <a:t>сообщества</a:t>
            </a:r>
          </a:p>
        </p:txBody>
      </p:sp>
      <p:sp>
        <p:nvSpPr>
          <p:cNvPr id="5" name="Subtitle 4"/>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Внешнее облако сообщества</a:t>
            </a:r>
          </a:p>
        </p:txBody>
      </p:sp>
      <p:sp>
        <p:nvSpPr>
          <p:cNvPr id="36" name="Arc 31"/>
          <p:cNvSpPr>
            <a:spLocks/>
          </p:cNvSpPr>
          <p:nvPr/>
        </p:nvSpPr>
        <p:spPr bwMode="auto">
          <a:xfrm rot="4427959">
            <a:off x="4986205" y="1646171"/>
            <a:ext cx="753659" cy="1816359"/>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sp>
        <p:nvSpPr>
          <p:cNvPr id="37" name="Arc 31"/>
          <p:cNvSpPr>
            <a:spLocks/>
          </p:cNvSpPr>
          <p:nvPr/>
        </p:nvSpPr>
        <p:spPr bwMode="auto">
          <a:xfrm rot="2382096">
            <a:off x="4604757" y="1890501"/>
            <a:ext cx="365887" cy="1434940"/>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sp>
        <p:nvSpPr>
          <p:cNvPr id="38" name="Arc 31"/>
          <p:cNvSpPr>
            <a:spLocks/>
          </p:cNvSpPr>
          <p:nvPr/>
        </p:nvSpPr>
        <p:spPr bwMode="auto">
          <a:xfrm rot="2382096">
            <a:off x="3607229" y="2259665"/>
            <a:ext cx="1216440" cy="589370"/>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pic>
        <p:nvPicPr>
          <p:cNvPr id="8"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0140" y="2311062"/>
            <a:ext cx="4582789" cy="233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41"/>
          <p:cNvSpPr txBox="1">
            <a:spLocks noChangeArrowheads="1"/>
          </p:cNvSpPr>
          <p:nvPr/>
        </p:nvSpPr>
        <p:spPr bwMode="auto">
          <a:xfrm>
            <a:off x="2291224" y="2515646"/>
            <a:ext cx="1644514" cy="600164"/>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100" b="1" i="0" dirty="0">
                <a:solidFill>
                  <a:srgbClr val="000000"/>
                </a:solidFill>
                <a:latin typeface="Arial" pitchFamily="34" charset="0"/>
                <a:cs typeface="Arial" pitchFamily="34" charset="0"/>
              </a:rPr>
              <a:t>Ресурсы поставщика облачных услуг</a:t>
            </a:r>
          </a:p>
        </p:txBody>
      </p:sp>
      <p:pic>
        <p:nvPicPr>
          <p:cNvPr id="22" name="Picture 28" descr="C:\Users\patils1\Desktop\2013 Projects\CIS v2\CIS Slide Deck_Based on Book\Colored Graphics\Physical Compute System With Hypervisor.png"/>
          <p:cNvPicPr>
            <a:picLocks noChangeAspect="1" noChangeArrowheads="1"/>
          </p:cNvPicPr>
          <p:nvPr/>
        </p:nvPicPr>
        <p:blipFill>
          <a:blip r:embed="rId11"/>
          <a:stretch>
            <a:fillRect/>
          </a:stretch>
        </p:blipFill>
        <p:spPr bwMode="auto">
          <a:xfrm>
            <a:off x="3137739" y="3503086"/>
            <a:ext cx="526313" cy="51083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9" descr="C:\Users\patils1\Desktop\2013 Projects\CIS v2\CIS Slide Deck_Based on Book\Colored Graphics\Physical Compute System.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129192" y="4076653"/>
            <a:ext cx="542542" cy="11849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3" descr="C:\Users\patils1\Desktop\2013 Projects\CIS v2\CIS Slide Deck_Based on Book\Colored Graphics\Ethernet Switch.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727164" y="3927030"/>
            <a:ext cx="442385" cy="2681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 descr="C:\Users\patils1\Desktop\2013 Projects\CIS v2\CIS Slide Deck_Based on Book\Colored Graphics\FC Switch.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728667" y="3503086"/>
            <a:ext cx="440616" cy="2670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9" descr="C:\Users\patils1\Desktop\2013 Projects\CIS v2\CIS Slide Deck_Based on Book\Colored Graphics\Storage System.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224112" y="3345110"/>
            <a:ext cx="411379" cy="850033"/>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41"/>
          <p:cNvSpPr txBox="1">
            <a:spLocks noChangeArrowheads="1"/>
          </p:cNvSpPr>
          <p:nvPr/>
        </p:nvSpPr>
        <p:spPr bwMode="auto">
          <a:xfrm>
            <a:off x="4751488" y="3752496"/>
            <a:ext cx="1192112" cy="369332"/>
          </a:xfrm>
          <a:prstGeom prst="rect">
            <a:avLst/>
          </a:prstGeom>
          <a:noFill/>
          <a:ln w="9525">
            <a:noFill/>
            <a:miter lim="800000"/>
            <a:headEnd/>
            <a:tailEnd/>
          </a:ln>
        </p:spPr>
        <p:txBody>
          <a:bodyPr wrap="square" anchor="ctr">
            <a:spAutoFit/>
          </a:bodyPr>
          <a:lstStyle/>
          <a:p>
            <a:pPr fontAlgn="base">
              <a:spcBef>
                <a:spcPct val="0"/>
              </a:spcBef>
              <a:spcAft>
                <a:spcPct val="0"/>
              </a:spcAft>
            </a:pPr>
            <a:r>
              <a:rPr lang="ru-RU" sz="900" b="1" i="0" dirty="0">
                <a:solidFill>
                  <a:srgbClr val="000000"/>
                </a:solidFill>
                <a:latin typeface="Arial" pitchFamily="34" charset="0"/>
                <a:cs typeface="Arial" pitchFamily="34" charset="0"/>
              </a:rPr>
              <a:t>Выделено для сообщества</a:t>
            </a:r>
          </a:p>
        </p:txBody>
      </p:sp>
      <p:sp>
        <p:nvSpPr>
          <p:cNvPr id="12" name="Rectangular Callout 11"/>
          <p:cNvSpPr/>
          <p:nvPr/>
        </p:nvSpPr>
        <p:spPr>
          <a:xfrm>
            <a:off x="3074140" y="3276841"/>
            <a:ext cx="1608064" cy="960509"/>
          </a:xfrm>
          <a:prstGeom prst="wedgeRectCallout">
            <a:avLst>
              <a:gd name="adj1" fmla="val 55723"/>
              <a:gd name="adj2" fmla="val 19224"/>
            </a:avLst>
          </a:prstGeom>
          <a:noFill/>
          <a:ln>
            <a:solidFill>
              <a:srgbClr val="E109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100">
              <a:solidFill>
                <a:srgbClr val="FFFFFF"/>
              </a:solidFill>
              <a:latin typeface="Arial" pitchFamily="34" charset="0"/>
              <a:ea typeface="Verdana" panose="020B0604030504040204" pitchFamily="34" charset="0"/>
              <a:cs typeface="Arial" pitchFamily="34" charset="0"/>
            </a:endParaRPr>
          </a:p>
        </p:txBody>
      </p:sp>
      <p:pic>
        <p:nvPicPr>
          <p:cNvPr id="17" name="Picture 28" descr="C:\Users\patils1\Desktop\2013 Projects\CIS v2\CIS Slide Deck_Based on Book\Colored Graphics\Physical Compute System With Hypervisor.png"/>
          <p:cNvPicPr>
            <a:picLocks noChangeAspect="1" noChangeArrowheads="1"/>
          </p:cNvPicPr>
          <p:nvPr/>
        </p:nvPicPr>
        <p:blipFill>
          <a:blip r:embed="rId11"/>
          <a:stretch>
            <a:fillRect/>
          </a:stretch>
        </p:blipFill>
        <p:spPr bwMode="auto">
          <a:xfrm>
            <a:off x="1479987" y="3503086"/>
            <a:ext cx="526313" cy="5108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9" descr="C:\Users\patils1\Desktop\2013 Projects\CIS v2\CIS Slide Deck_Based on Book\Colored Graphics\Physical Compute System.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471440" y="4076653"/>
            <a:ext cx="542542" cy="11849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3" descr="C:\Users\patils1\Desktop\2013 Projects\CIS v2\CIS Slide Deck_Based on Book\Colored Graphics\Ethernet Switch.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069412" y="3927030"/>
            <a:ext cx="442385" cy="2681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 descr="C:\Users\patils1\Desktop\2013 Projects\CIS v2\CIS Slide Deck_Based on Book\Colored Graphics\FC Switch.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070915" y="3503086"/>
            <a:ext cx="440616" cy="26704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9" descr="C:\Users\patils1\Desktop\2013 Projects\CIS v2\CIS Slide Deck_Based on Book\Colored Graphics\Storage System.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566360" y="3345110"/>
            <a:ext cx="411379" cy="850033"/>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p:cNvGrpSpPr/>
          <p:nvPr/>
        </p:nvGrpSpPr>
        <p:grpSpPr>
          <a:xfrm>
            <a:off x="3585728" y="1354211"/>
            <a:ext cx="1053494" cy="803299"/>
            <a:chOff x="2620629" y="806504"/>
            <a:chExt cx="1053494" cy="803299"/>
          </a:xfrm>
        </p:grpSpPr>
        <p:sp>
          <p:nvSpPr>
            <p:cNvPr id="15" name="Text Box 38"/>
            <p:cNvSpPr txBox="1">
              <a:spLocks noChangeArrowheads="1"/>
            </p:cNvSpPr>
            <p:nvPr>
              <p:custDataLst>
                <p:tags r:id="rId6"/>
              </p:custDataLst>
            </p:nvPr>
          </p:nvSpPr>
          <p:spPr bwMode="auto">
            <a:xfrm>
              <a:off x="2620629" y="806504"/>
              <a:ext cx="1053494" cy="230832"/>
            </a:xfrm>
            <a:prstGeom prst="rect">
              <a:avLst/>
            </a:prstGeom>
            <a:noFill/>
            <a:ln w="9525">
              <a:noFill/>
              <a:miter lim="800000"/>
              <a:headEnd/>
              <a:tailEnd/>
            </a:ln>
          </p:spPr>
          <p:txBody>
            <a:bodyPr wrap="none">
              <a:spAutoFit/>
            </a:bodyPr>
            <a:lstStyle/>
            <a:p>
              <a:pPr fontAlgn="base">
                <a:spcBef>
                  <a:spcPct val="0"/>
                </a:spcBef>
                <a:spcAft>
                  <a:spcPct val="0"/>
                </a:spcAft>
              </a:pPr>
              <a:r>
                <a:rPr lang="ru-RU" sz="900" b="1" i="0" dirty="0">
                  <a:solidFill>
                    <a:srgbClr val="000000"/>
                  </a:solidFill>
                  <a:latin typeface="Arial" pitchFamily="34" charset="0"/>
                  <a:cs typeface="Arial" pitchFamily="34" charset="0"/>
                </a:rPr>
                <a:t>Предприятие P</a:t>
              </a:r>
            </a:p>
          </p:txBody>
        </p:sp>
        <p:pic>
          <p:nvPicPr>
            <p:cNvPr id="16" name="Picture 15" descr="enterprise"/>
            <p:cNvPicPr>
              <a:picLocks noChangeAspect="1" noChangeArrowheads="1"/>
            </p:cNvPicPr>
            <p:nvPr>
              <p:custDataLst>
                <p:tags r:id="rId7"/>
              </p:custDataLst>
            </p:nvPr>
          </p:nvPicPr>
          <p:blipFill>
            <a:blip r:embed="rId16" cstate="print"/>
            <a:srcRect/>
            <a:stretch>
              <a:fillRect/>
            </a:stretch>
          </p:blipFill>
          <p:spPr bwMode="auto">
            <a:xfrm>
              <a:off x="2833451" y="1033803"/>
              <a:ext cx="592765" cy="576000"/>
            </a:xfrm>
            <a:prstGeom prst="rect">
              <a:avLst/>
            </a:prstGeom>
            <a:noFill/>
          </p:spPr>
        </p:pic>
      </p:grpSp>
      <p:grpSp>
        <p:nvGrpSpPr>
          <p:cNvPr id="27" name="Group 26"/>
          <p:cNvGrpSpPr/>
          <p:nvPr/>
        </p:nvGrpSpPr>
        <p:grpSpPr>
          <a:xfrm>
            <a:off x="4596055" y="1354211"/>
            <a:ext cx="1066318" cy="803299"/>
            <a:chOff x="2620629" y="806504"/>
            <a:chExt cx="1066318" cy="803299"/>
          </a:xfrm>
        </p:grpSpPr>
        <p:sp>
          <p:nvSpPr>
            <p:cNvPr id="28" name="Text Box 38"/>
            <p:cNvSpPr txBox="1">
              <a:spLocks noChangeArrowheads="1"/>
            </p:cNvSpPr>
            <p:nvPr>
              <p:custDataLst>
                <p:tags r:id="rId4"/>
              </p:custDataLst>
            </p:nvPr>
          </p:nvSpPr>
          <p:spPr bwMode="auto">
            <a:xfrm>
              <a:off x="2620629" y="806504"/>
              <a:ext cx="1066318" cy="230832"/>
            </a:xfrm>
            <a:prstGeom prst="rect">
              <a:avLst/>
            </a:prstGeom>
            <a:noFill/>
            <a:ln w="9525">
              <a:noFill/>
              <a:miter lim="800000"/>
              <a:headEnd/>
              <a:tailEnd/>
            </a:ln>
          </p:spPr>
          <p:txBody>
            <a:bodyPr wrap="none">
              <a:spAutoFit/>
            </a:bodyPr>
            <a:lstStyle/>
            <a:p>
              <a:pPr fontAlgn="base">
                <a:spcBef>
                  <a:spcPct val="0"/>
                </a:spcBef>
                <a:spcAft>
                  <a:spcPct val="0"/>
                </a:spcAft>
              </a:pPr>
              <a:r>
                <a:rPr lang="ru-RU" sz="900" b="1" i="0" dirty="0">
                  <a:solidFill>
                    <a:srgbClr val="000000"/>
                  </a:solidFill>
                  <a:latin typeface="Arial" pitchFamily="34" charset="0"/>
                  <a:cs typeface="Arial" pitchFamily="34" charset="0"/>
                </a:rPr>
                <a:t>Предприятие Q</a:t>
              </a:r>
            </a:p>
          </p:txBody>
        </p:sp>
        <p:pic>
          <p:nvPicPr>
            <p:cNvPr id="29" name="Picture 28" descr="enterprise"/>
            <p:cNvPicPr>
              <a:picLocks noChangeAspect="1" noChangeArrowheads="1"/>
            </p:cNvPicPr>
            <p:nvPr>
              <p:custDataLst>
                <p:tags r:id="rId5"/>
              </p:custDataLst>
            </p:nvPr>
          </p:nvPicPr>
          <p:blipFill>
            <a:blip r:embed="rId16" cstate="print"/>
            <a:srcRect/>
            <a:stretch>
              <a:fillRect/>
            </a:stretch>
          </p:blipFill>
          <p:spPr bwMode="auto">
            <a:xfrm>
              <a:off x="2833451" y="1033803"/>
              <a:ext cx="592765" cy="576000"/>
            </a:xfrm>
            <a:prstGeom prst="rect">
              <a:avLst/>
            </a:prstGeom>
            <a:noFill/>
          </p:spPr>
        </p:pic>
      </p:grpSp>
      <p:grpSp>
        <p:nvGrpSpPr>
          <p:cNvPr id="30" name="Group 29"/>
          <p:cNvGrpSpPr/>
          <p:nvPr/>
        </p:nvGrpSpPr>
        <p:grpSpPr>
          <a:xfrm>
            <a:off x="5630858" y="1354211"/>
            <a:ext cx="1059906" cy="803299"/>
            <a:chOff x="2630677" y="806504"/>
            <a:chExt cx="1059906" cy="803299"/>
          </a:xfrm>
        </p:grpSpPr>
        <p:sp>
          <p:nvSpPr>
            <p:cNvPr id="31" name="Text Box 38"/>
            <p:cNvSpPr txBox="1">
              <a:spLocks noChangeArrowheads="1"/>
            </p:cNvSpPr>
            <p:nvPr>
              <p:custDataLst>
                <p:tags r:id="rId2"/>
              </p:custDataLst>
            </p:nvPr>
          </p:nvSpPr>
          <p:spPr bwMode="auto">
            <a:xfrm>
              <a:off x="2630677" y="806504"/>
              <a:ext cx="1059906" cy="230832"/>
            </a:xfrm>
            <a:prstGeom prst="rect">
              <a:avLst/>
            </a:prstGeom>
            <a:noFill/>
            <a:ln w="9525">
              <a:noFill/>
              <a:miter lim="800000"/>
              <a:headEnd/>
              <a:tailEnd/>
            </a:ln>
          </p:spPr>
          <p:txBody>
            <a:bodyPr wrap="none">
              <a:spAutoFit/>
            </a:bodyPr>
            <a:lstStyle/>
            <a:p>
              <a:pPr fontAlgn="base">
                <a:spcBef>
                  <a:spcPct val="0"/>
                </a:spcBef>
                <a:spcAft>
                  <a:spcPct val="0"/>
                </a:spcAft>
              </a:pPr>
              <a:r>
                <a:rPr lang="ru-RU" sz="900" b="1" i="0" dirty="0">
                  <a:solidFill>
                    <a:srgbClr val="000000"/>
                  </a:solidFill>
                  <a:latin typeface="Arial" pitchFamily="34" charset="0"/>
                  <a:cs typeface="Arial" pitchFamily="34" charset="0"/>
                </a:rPr>
                <a:t>Предприятие R</a:t>
              </a:r>
            </a:p>
          </p:txBody>
        </p:sp>
        <p:pic>
          <p:nvPicPr>
            <p:cNvPr id="32" name="Picture 31" descr="enterprise"/>
            <p:cNvPicPr>
              <a:picLocks noChangeAspect="1" noChangeArrowheads="1"/>
            </p:cNvPicPr>
            <p:nvPr>
              <p:custDataLst>
                <p:tags r:id="rId3"/>
              </p:custDataLst>
            </p:nvPr>
          </p:nvPicPr>
          <p:blipFill>
            <a:blip r:embed="rId16" cstate="print"/>
            <a:srcRect/>
            <a:stretch>
              <a:fillRect/>
            </a:stretch>
          </p:blipFill>
          <p:spPr bwMode="auto">
            <a:xfrm>
              <a:off x="2833451" y="1033803"/>
              <a:ext cx="592765" cy="576000"/>
            </a:xfrm>
            <a:prstGeom prst="rect">
              <a:avLst/>
            </a:prstGeom>
            <a:noFill/>
          </p:spPr>
        </p:pic>
      </p:grpSp>
      <p:sp>
        <p:nvSpPr>
          <p:cNvPr id="33" name="Text Box 41"/>
          <p:cNvSpPr txBox="1">
            <a:spLocks noChangeArrowheads="1"/>
          </p:cNvSpPr>
          <p:nvPr/>
        </p:nvSpPr>
        <p:spPr bwMode="auto">
          <a:xfrm>
            <a:off x="6836272" y="1754434"/>
            <a:ext cx="1077589" cy="369332"/>
          </a:xfrm>
          <a:prstGeom prst="rect">
            <a:avLst/>
          </a:prstGeom>
          <a:noFill/>
          <a:ln w="9525">
            <a:noFill/>
            <a:miter lim="800000"/>
            <a:headEnd/>
            <a:tailEnd/>
          </a:ln>
        </p:spPr>
        <p:txBody>
          <a:bodyPr wrap="square" anchor="ctr">
            <a:spAutoFit/>
          </a:bodyPr>
          <a:lstStyle/>
          <a:p>
            <a:pPr algn="ctr" fontAlgn="base">
              <a:spcBef>
                <a:spcPct val="0"/>
              </a:spcBef>
              <a:spcAft>
                <a:spcPct val="0"/>
              </a:spcAft>
            </a:pPr>
            <a:r>
              <a:rPr lang="ru-RU" sz="900" b="1" i="0" dirty="0">
                <a:solidFill>
                  <a:srgbClr val="000000"/>
                </a:solidFill>
                <a:latin typeface="Arial" pitchFamily="34" charset="0"/>
                <a:cs typeface="Arial" pitchFamily="34" charset="0"/>
              </a:rPr>
              <a:t>Пользователи сообщества</a:t>
            </a:r>
          </a:p>
        </p:txBody>
      </p:sp>
      <p:sp>
        <p:nvSpPr>
          <p:cNvPr id="34" name="Rectangular Callout 33"/>
          <p:cNvSpPr/>
          <p:nvPr/>
        </p:nvSpPr>
        <p:spPr>
          <a:xfrm>
            <a:off x="3585728" y="1275606"/>
            <a:ext cx="3115202" cy="960509"/>
          </a:xfrm>
          <a:prstGeom prst="wedgeRectCallout">
            <a:avLst>
              <a:gd name="adj1" fmla="val 55723"/>
              <a:gd name="adj2" fmla="val 19224"/>
            </a:avLst>
          </a:prstGeom>
          <a:noFill/>
          <a:ln>
            <a:solidFill>
              <a:srgbClr val="E109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100">
              <a:solidFill>
                <a:srgbClr val="FFFFFF"/>
              </a:solidFill>
              <a:latin typeface="Arial" pitchFamily="34" charset="0"/>
              <a:ea typeface="Verdana" panose="020B0604030504040204" pitchFamily="34" charset="0"/>
              <a:cs typeface="Arial" pitchFamily="34" charset="0"/>
            </a:endParaRPr>
          </a:p>
        </p:txBody>
      </p:sp>
      <p:sp>
        <p:nvSpPr>
          <p:cNvPr id="39" name="Text Box 38"/>
          <p:cNvSpPr txBox="1">
            <a:spLocks noChangeArrowheads="1"/>
          </p:cNvSpPr>
          <p:nvPr/>
        </p:nvSpPr>
        <p:spPr bwMode="auto">
          <a:xfrm>
            <a:off x="1174375" y="3746125"/>
            <a:ext cx="1143000" cy="169277"/>
          </a:xfrm>
          <a:prstGeom prst="rect">
            <a:avLst/>
          </a:prstGeom>
          <a:noFill/>
          <a:ln w="9525">
            <a:noFill/>
            <a:miter lim="800000"/>
            <a:headEnd/>
            <a:tailEnd/>
          </a:ln>
        </p:spPr>
        <p:txBody>
          <a:bodyPr wrap="square">
            <a:spAutoFit/>
          </a:bodyPr>
          <a:lstStyle/>
          <a:p>
            <a:pPr algn="ctr"/>
            <a:r>
              <a:rPr lang="ru-RU" sz="500" b="1" i="0" dirty="0">
                <a:solidFill>
                  <a:srgbClr val="000000"/>
                </a:solidFill>
                <a:latin typeface="Arial" pitchFamily="34" charset="0"/>
                <a:cs typeface="Arial" pitchFamily="34" charset="0"/>
              </a:rPr>
              <a:t>Гипервизор</a:t>
            </a:r>
          </a:p>
        </p:txBody>
      </p:sp>
      <p:sp>
        <p:nvSpPr>
          <p:cNvPr id="40" name="Text Box 38"/>
          <p:cNvSpPr txBox="1">
            <a:spLocks noChangeArrowheads="1"/>
          </p:cNvSpPr>
          <p:nvPr/>
        </p:nvSpPr>
        <p:spPr bwMode="auto">
          <a:xfrm>
            <a:off x="2832845" y="3747178"/>
            <a:ext cx="1143000" cy="169277"/>
          </a:xfrm>
          <a:prstGeom prst="rect">
            <a:avLst/>
          </a:prstGeom>
          <a:noFill/>
          <a:ln w="9525">
            <a:noFill/>
            <a:miter lim="800000"/>
            <a:headEnd/>
            <a:tailEnd/>
          </a:ln>
        </p:spPr>
        <p:txBody>
          <a:bodyPr wrap="square">
            <a:spAutoFit/>
          </a:bodyPr>
          <a:lstStyle/>
          <a:p>
            <a:pPr algn="ctr"/>
            <a:r>
              <a:rPr lang="ru-RU" sz="500" b="1" i="0" dirty="0">
                <a:solidFill>
                  <a:srgbClr val="000000"/>
                </a:solidFill>
                <a:latin typeface="Arial" pitchFamily="34" charset="0"/>
                <a:cs typeface="Arial" pitchFamily="34" charset="0"/>
              </a:rPr>
              <a:t>Гипервизор</a:t>
            </a:r>
          </a:p>
        </p:txBody>
      </p:sp>
      <p:sp>
        <p:nvSpPr>
          <p:cNvPr id="35" name="TextBox 3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774407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Гибридное облако</a:t>
            </a:r>
          </a:p>
        </p:txBody>
      </p:sp>
      <p:sp>
        <p:nvSpPr>
          <p:cNvPr id="186" name="Arc 31"/>
          <p:cNvSpPr>
            <a:spLocks/>
          </p:cNvSpPr>
          <p:nvPr/>
        </p:nvSpPr>
        <p:spPr bwMode="auto">
          <a:xfrm flipH="1">
            <a:off x="3128493" y="2205260"/>
            <a:ext cx="1429858" cy="903641"/>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pic>
        <p:nvPicPr>
          <p:cNvPr id="145" name="Picture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4137" y="2241761"/>
            <a:ext cx="4468231" cy="2279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 name="Text Box 38"/>
          <p:cNvSpPr txBox="1">
            <a:spLocks noChangeArrowheads="1"/>
          </p:cNvSpPr>
          <p:nvPr/>
        </p:nvSpPr>
        <p:spPr bwMode="auto">
          <a:xfrm>
            <a:off x="323766" y="1967724"/>
            <a:ext cx="1181734"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P</a:t>
            </a:r>
          </a:p>
        </p:txBody>
      </p:sp>
      <p:pic>
        <p:nvPicPr>
          <p:cNvPr id="147" name="Picture 146" descr="enterprise"/>
          <p:cNvPicPr>
            <a:picLocks noChangeAspect="1" noChangeArrowheads="1"/>
          </p:cNvPicPr>
          <p:nvPr/>
        </p:nvPicPr>
        <p:blipFill>
          <a:blip r:embed="rId18" cstate="print"/>
          <a:srcRect/>
          <a:stretch>
            <a:fillRect/>
          </a:stretch>
        </p:blipFill>
        <p:spPr bwMode="auto">
          <a:xfrm>
            <a:off x="389894" y="2205260"/>
            <a:ext cx="934062" cy="907643"/>
          </a:xfrm>
          <a:prstGeom prst="rect">
            <a:avLst/>
          </a:prstGeom>
          <a:noFill/>
        </p:spPr>
      </p:pic>
      <p:sp>
        <p:nvSpPr>
          <p:cNvPr id="148" name="Text Box 41"/>
          <p:cNvSpPr txBox="1">
            <a:spLocks noChangeArrowheads="1"/>
          </p:cNvSpPr>
          <p:nvPr/>
        </p:nvSpPr>
        <p:spPr bwMode="auto">
          <a:xfrm>
            <a:off x="1344886" y="2414885"/>
            <a:ext cx="1413266" cy="461665"/>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200" b="1" i="0" dirty="0">
                <a:solidFill>
                  <a:srgbClr val="000000"/>
                </a:solidFill>
                <a:latin typeface="Arial" pitchFamily="34" charset="0"/>
                <a:cs typeface="Arial" pitchFamily="34" charset="0"/>
              </a:rPr>
              <a:t>Ресурсы предприятия P</a:t>
            </a:r>
          </a:p>
        </p:txBody>
      </p:sp>
      <p:grpSp>
        <p:nvGrpSpPr>
          <p:cNvPr id="149" name="Group 148"/>
          <p:cNvGrpSpPr/>
          <p:nvPr/>
        </p:nvGrpSpPr>
        <p:grpSpPr>
          <a:xfrm>
            <a:off x="782471" y="2983321"/>
            <a:ext cx="3371562" cy="1107025"/>
            <a:chOff x="3504694" y="4365104"/>
            <a:chExt cx="3371562" cy="1107025"/>
          </a:xfrm>
        </p:grpSpPr>
        <p:pic>
          <p:nvPicPr>
            <p:cNvPr id="151" name="Picture 28" descr="C:\Users\patils1\Desktop\2013 Projects\CIS v2\CIS Slide Deck_Based on Book\Colored Graphics\Physical Compute System With Hypervisor.png"/>
            <p:cNvPicPr>
              <a:picLocks noChangeAspect="1" noChangeArrowheads="1"/>
            </p:cNvPicPr>
            <p:nvPr>
              <p:custDataLst>
                <p:tags r:id="rId5"/>
              </p:custDataLst>
            </p:nvPr>
          </p:nvPicPr>
          <p:blipFill>
            <a:blip r:embed="rId19"/>
            <a:stretch>
              <a:fillRect/>
            </a:stretch>
          </p:blipFill>
          <p:spPr bwMode="auto">
            <a:xfrm>
              <a:off x="3518342" y="4570841"/>
              <a:ext cx="685435" cy="665276"/>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29" descr="C:\Users\patils1\Desktop\2013 Projects\CIS v2\CIS Slide Deck_Based on Book\Colored Graphics\Physical Compute System.png"/>
            <p:cNvPicPr>
              <a:picLocks noChangeAspect="1" noChangeArrowheads="1"/>
            </p:cNvPicPr>
            <p:nvPr>
              <p:custDataLst>
                <p:tags r:id="rId6"/>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3504694" y="5317816"/>
              <a:ext cx="711596" cy="15431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13" descr="C:\Users\patils1\Desktop\2013 Projects\CIS v2\CIS Slide Deck_Based on Book\Colored Graphics\Ethernet Switch.png"/>
            <p:cNvPicPr>
              <a:picLocks noChangeAspect="1" noChangeArrowheads="1"/>
            </p:cNvPicPr>
            <p:nvPr>
              <p:custDataLst>
                <p:tags r:id="rId7"/>
              </p:custDataLst>
            </p:nvPr>
          </p:nvPicPr>
          <p:blipFill>
            <a:blip r:embed="rId21" cstate="print">
              <a:extLst>
                <a:ext uri="{28A0092B-C50C-407E-A947-70E740481C1C}">
                  <a14:useLocalDpi xmlns:a14="http://schemas.microsoft.com/office/drawing/2010/main" val="0"/>
                </a:ext>
              </a:extLst>
            </a:blip>
            <a:srcRect/>
            <a:stretch>
              <a:fillRect/>
            </a:stretch>
          </p:blipFill>
          <p:spPr bwMode="auto">
            <a:xfrm>
              <a:off x="4288992" y="5122957"/>
              <a:ext cx="580231" cy="349172"/>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6" descr="C:\Users\patils1\Desktop\2013 Projects\CIS v2\CIS Slide Deck_Based on Book\Colored Graphics\FC Switch.png"/>
            <p:cNvPicPr>
              <a:picLocks noChangeAspect="1" noChangeArrowheads="1"/>
            </p:cNvPicPr>
            <p:nvPr>
              <p:custDataLst>
                <p:tags r:id="rId8"/>
              </p:custDataLst>
            </p:nvPr>
          </p:nvPicPr>
          <p:blipFill>
            <a:blip r:embed="rId22" cstate="print">
              <a:extLst>
                <a:ext uri="{28A0092B-C50C-407E-A947-70E740481C1C}">
                  <a14:useLocalDpi xmlns:a14="http://schemas.microsoft.com/office/drawing/2010/main" val="0"/>
                </a:ext>
              </a:extLst>
            </a:blip>
            <a:srcRect/>
            <a:stretch>
              <a:fillRect/>
            </a:stretch>
          </p:blipFill>
          <p:spPr bwMode="auto">
            <a:xfrm>
              <a:off x="4290964" y="4570841"/>
              <a:ext cx="577911" cy="347775"/>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9" descr="C:\Users\patils1\Desktop\2013 Projects\CIS v2\CIS Slide Deck_Based on Book\Colored Graphics\Storage System.png"/>
            <p:cNvPicPr>
              <a:picLocks noChangeAspect="1" noChangeArrowheads="1"/>
            </p:cNvPicPr>
            <p:nvPr>
              <p:custDataLst>
                <p:tags r:id="rId9"/>
              </p:custDataLst>
            </p:nvPr>
          </p:nvPicPr>
          <p:blipFill>
            <a:blip r:embed="rId23" cstate="print">
              <a:extLst>
                <a:ext uri="{28A0092B-C50C-407E-A947-70E740481C1C}">
                  <a14:useLocalDpi xmlns:a14="http://schemas.microsoft.com/office/drawing/2010/main" val="0"/>
                </a:ext>
              </a:extLst>
            </a:blip>
            <a:srcRect/>
            <a:stretch>
              <a:fillRect/>
            </a:stretch>
          </p:blipFill>
          <p:spPr bwMode="auto">
            <a:xfrm>
              <a:off x="4940789" y="4365104"/>
              <a:ext cx="539564" cy="1107025"/>
            </a:xfrm>
            <a:prstGeom prst="rect">
              <a:avLst/>
            </a:prstGeom>
            <a:noFill/>
            <a:extLst>
              <a:ext uri="{909E8E84-426E-40DD-AFC4-6F175D3DCCD1}">
                <a14:hiddenFill xmlns:a14="http://schemas.microsoft.com/office/drawing/2010/main">
                  <a:solidFill>
                    <a:srgbClr val="FFFFFF"/>
                  </a:solidFill>
                </a14:hiddenFill>
              </a:ext>
            </a:extLst>
          </p:spPr>
        </p:pic>
        <p:grpSp>
          <p:nvGrpSpPr>
            <p:cNvPr id="156" name="Group 155"/>
            <p:cNvGrpSpPr/>
            <p:nvPr/>
          </p:nvGrpSpPr>
          <p:grpSpPr>
            <a:xfrm>
              <a:off x="6480256" y="4932129"/>
              <a:ext cx="396000" cy="540000"/>
              <a:chOff x="5943600" y="3145772"/>
              <a:chExt cx="514697" cy="683887"/>
            </a:xfrm>
          </p:grpSpPr>
          <p:sp>
            <p:nvSpPr>
              <p:cNvPr id="161" name="Cube 160"/>
              <p:cNvSpPr/>
              <p:nvPr>
                <p:custDataLst>
                  <p:tags r:id="rId13"/>
                </p:custDataLst>
              </p:nvPr>
            </p:nvSpPr>
            <p:spPr>
              <a:xfrm>
                <a:off x="5943600" y="3145772"/>
                <a:ext cx="457200" cy="63573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62" name="Oval 161"/>
              <p:cNvSpPr/>
              <p:nvPr>
                <p:custDataLst>
                  <p:tags r:id="rId14"/>
                </p:custDataLst>
              </p:nvPr>
            </p:nvSpPr>
            <p:spPr>
              <a:xfrm>
                <a:off x="6172200" y="3534811"/>
                <a:ext cx="286097" cy="294848"/>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63" name="Oval 162"/>
              <p:cNvSpPr/>
              <p:nvPr/>
            </p:nvSpPr>
            <p:spPr>
              <a:xfrm>
                <a:off x="6243724" y="3605537"/>
                <a:ext cx="143048" cy="153397"/>
              </a:xfrm>
              <a:prstGeom prst="ellipse">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164" name="Oval 163"/>
              <p:cNvSpPr/>
              <p:nvPr/>
            </p:nvSpPr>
            <p:spPr>
              <a:xfrm>
                <a:off x="6279486" y="3643493"/>
                <a:ext cx="71524" cy="77485"/>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grpSp>
          <p:nvGrpSpPr>
            <p:cNvPr id="157" name="Group 156"/>
            <p:cNvGrpSpPr/>
            <p:nvPr/>
          </p:nvGrpSpPr>
          <p:grpSpPr>
            <a:xfrm>
              <a:off x="5566305" y="4968129"/>
              <a:ext cx="828000" cy="504000"/>
              <a:chOff x="8283166" y="4313278"/>
              <a:chExt cx="998444" cy="842370"/>
            </a:xfrm>
          </p:grpSpPr>
          <p:sp>
            <p:nvSpPr>
              <p:cNvPr id="158" name="Rectangle 157"/>
              <p:cNvSpPr/>
              <p:nvPr>
                <p:custDataLst>
                  <p:tags r:id="rId10"/>
                </p:custDataLst>
              </p:nvPr>
            </p:nvSpPr>
            <p:spPr>
              <a:xfrm rot="933880">
                <a:off x="8283166" y="46199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159" name="Rectangle 158"/>
              <p:cNvSpPr/>
              <p:nvPr>
                <p:custDataLst>
                  <p:tags r:id="rId11"/>
                </p:custDataLst>
              </p:nvPr>
            </p:nvSpPr>
            <p:spPr>
              <a:xfrm rot="933880">
                <a:off x="8283166" y="44675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160" name="Rectangle 159"/>
              <p:cNvSpPr/>
              <p:nvPr>
                <p:custDataLst>
                  <p:tags r:id="rId12"/>
                </p:custDataLst>
              </p:nvPr>
            </p:nvSpPr>
            <p:spPr>
              <a:xfrm rot="933880">
                <a:off x="8283166" y="4313278"/>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grpSp>
      <p:sp>
        <p:nvSpPr>
          <p:cNvPr id="55" name="Arc 37"/>
          <p:cNvSpPr>
            <a:spLocks/>
          </p:cNvSpPr>
          <p:nvPr/>
        </p:nvSpPr>
        <p:spPr bwMode="auto">
          <a:xfrm flipH="1" flipV="1">
            <a:off x="6492192" y="3044206"/>
            <a:ext cx="1383534" cy="794694"/>
          </a:xfrm>
          <a:custGeom>
            <a:avLst/>
            <a:gdLst>
              <a:gd name="T0" fmla="*/ 0 w 23227"/>
              <a:gd name="T1" fmla="*/ 1077 h 29843"/>
              <a:gd name="T2" fmla="*/ 1218971 w 23227"/>
              <a:gd name="T3" fmla="*/ 527050 h 29843"/>
              <a:gd name="T4" fmla="*/ 91852 w 23227"/>
              <a:gd name="T5" fmla="*/ 381472 h 29843"/>
              <a:gd name="T6" fmla="*/ 0 60000 65536"/>
              <a:gd name="T7" fmla="*/ 0 60000 65536"/>
              <a:gd name="T8" fmla="*/ 0 60000 65536"/>
              <a:gd name="T9" fmla="*/ 0 w 23227"/>
              <a:gd name="T10" fmla="*/ 0 h 29843"/>
              <a:gd name="T11" fmla="*/ 23227 w 23227"/>
              <a:gd name="T12" fmla="*/ 29843 h 29843"/>
            </a:gdLst>
            <a:ahLst/>
            <a:cxnLst>
              <a:cxn ang="T6">
                <a:pos x="T0" y="T1"/>
              </a:cxn>
              <a:cxn ang="T7">
                <a:pos x="T2" y="T3"/>
              </a:cxn>
              <a:cxn ang="T8">
                <a:pos x="T4" y="T5"/>
              </a:cxn>
            </a:cxnLst>
            <a:rect l="T9" t="T10" r="T11" b="T12"/>
            <a:pathLst>
              <a:path w="23227" h="29843" fill="none" extrusionOk="0">
                <a:moveTo>
                  <a:pt x="0" y="61"/>
                </a:moveTo>
                <a:cubicBezTo>
                  <a:pt x="541" y="20"/>
                  <a:pt x="1084" y="-1"/>
                  <a:pt x="1627" y="0"/>
                </a:cubicBezTo>
                <a:cubicBezTo>
                  <a:pt x="13556" y="0"/>
                  <a:pt x="23227" y="9670"/>
                  <a:pt x="23227" y="21600"/>
                </a:cubicBezTo>
                <a:cubicBezTo>
                  <a:pt x="23227" y="24428"/>
                  <a:pt x="22671" y="27228"/>
                  <a:pt x="21592" y="29843"/>
                </a:cubicBezTo>
              </a:path>
              <a:path w="23227" h="29843" stroke="0" extrusionOk="0">
                <a:moveTo>
                  <a:pt x="0" y="61"/>
                </a:moveTo>
                <a:cubicBezTo>
                  <a:pt x="541" y="20"/>
                  <a:pt x="1084" y="-1"/>
                  <a:pt x="1627" y="0"/>
                </a:cubicBezTo>
                <a:cubicBezTo>
                  <a:pt x="13556" y="0"/>
                  <a:pt x="23227" y="9670"/>
                  <a:pt x="23227" y="21600"/>
                </a:cubicBezTo>
                <a:cubicBezTo>
                  <a:pt x="23227" y="24428"/>
                  <a:pt x="22671" y="27228"/>
                  <a:pt x="21592" y="29843"/>
                </a:cubicBezTo>
                <a:lnTo>
                  <a:pt x="1627"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pic>
        <p:nvPicPr>
          <p:cNvPr id="105" name="Picture 26" descr="Peep_Black_Male.png"/>
          <p:cNvPicPr>
            <a:picLocks noChangeAspect="1"/>
          </p:cNvPicPr>
          <p:nvPr/>
        </p:nvPicPr>
        <p:blipFill rotWithShape="1">
          <a:blip r:embed="rId24" cstate="print"/>
          <a:srcRect b="19656"/>
          <a:stretch/>
        </p:blipFill>
        <p:spPr bwMode="auto">
          <a:xfrm flipH="1">
            <a:off x="7272974" y="3309679"/>
            <a:ext cx="935047" cy="828000"/>
          </a:xfrm>
          <a:prstGeom prst="rect">
            <a:avLst/>
          </a:prstGeom>
          <a:noFill/>
          <a:ln w="9525">
            <a:noFill/>
            <a:miter lim="800000"/>
            <a:headEnd/>
            <a:tailEnd/>
          </a:ln>
        </p:spPr>
      </p:pic>
      <p:sp>
        <p:nvSpPr>
          <p:cNvPr id="108" name="Text Box 38"/>
          <p:cNvSpPr txBox="1">
            <a:spLocks noChangeArrowheads="1"/>
          </p:cNvSpPr>
          <p:nvPr/>
        </p:nvSpPr>
        <p:spPr bwMode="auto">
          <a:xfrm>
            <a:off x="7056456" y="4088858"/>
            <a:ext cx="1423788"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Физическое лицо R</a:t>
            </a:r>
          </a:p>
        </p:txBody>
      </p:sp>
      <p:sp>
        <p:nvSpPr>
          <p:cNvPr id="166" name="Arc 31"/>
          <p:cNvSpPr>
            <a:spLocks/>
          </p:cNvSpPr>
          <p:nvPr/>
        </p:nvSpPr>
        <p:spPr bwMode="auto">
          <a:xfrm flipH="1">
            <a:off x="7348292" y="1516770"/>
            <a:ext cx="787997" cy="386378"/>
          </a:xfrm>
          <a:custGeom>
            <a:avLst/>
            <a:gdLst>
              <a:gd name="T0" fmla="*/ 0 w 24036"/>
              <a:gd name="T1" fmla="*/ 4382 h 21600"/>
              <a:gd name="T2" fmla="*/ 1357312 w 24036"/>
              <a:gd name="T3" fmla="*/ 685800 h 21600"/>
              <a:gd name="T4" fmla="*/ 137561 w 24036"/>
              <a:gd name="T5" fmla="*/ 685800 h 21600"/>
              <a:gd name="T6" fmla="*/ 0 60000 65536"/>
              <a:gd name="T7" fmla="*/ 0 60000 65536"/>
              <a:gd name="T8" fmla="*/ 0 60000 65536"/>
              <a:gd name="T9" fmla="*/ 0 w 24036"/>
              <a:gd name="T10" fmla="*/ 0 h 21600"/>
              <a:gd name="T11" fmla="*/ 24036 w 24036"/>
              <a:gd name="T12" fmla="*/ 21600 h 21600"/>
            </a:gdLst>
            <a:ahLst/>
            <a:cxnLst>
              <a:cxn ang="T6">
                <a:pos x="T0" y="T1"/>
              </a:cxn>
              <a:cxn ang="T7">
                <a:pos x="T2" y="T3"/>
              </a:cxn>
              <a:cxn ang="T8">
                <a:pos x="T4" y="T5"/>
              </a:cxn>
            </a:cxnLst>
            <a:rect l="T9" t="T10" r="T11" b="T12"/>
            <a:pathLst>
              <a:path w="24036" h="21600" fill="none" extrusionOk="0">
                <a:moveTo>
                  <a:pt x="-1" y="137"/>
                </a:moveTo>
                <a:cubicBezTo>
                  <a:pt x="808" y="46"/>
                  <a:pt x="1622" y="-1"/>
                  <a:pt x="2436" y="0"/>
                </a:cubicBezTo>
                <a:cubicBezTo>
                  <a:pt x="14365" y="0"/>
                  <a:pt x="24036" y="9670"/>
                  <a:pt x="24036" y="21600"/>
                </a:cubicBezTo>
              </a:path>
              <a:path w="24036" h="21600" stroke="0" extrusionOk="0">
                <a:moveTo>
                  <a:pt x="-1" y="137"/>
                </a:moveTo>
                <a:cubicBezTo>
                  <a:pt x="808" y="46"/>
                  <a:pt x="1622" y="-1"/>
                  <a:pt x="2436" y="0"/>
                </a:cubicBezTo>
                <a:cubicBezTo>
                  <a:pt x="14365" y="0"/>
                  <a:pt x="24036" y="9670"/>
                  <a:pt x="24036" y="21600"/>
                </a:cubicBezTo>
                <a:lnTo>
                  <a:pt x="2436" y="21600"/>
                </a:lnTo>
                <a:close/>
              </a:path>
            </a:pathLst>
          </a:custGeom>
          <a:noFill/>
          <a:ln w="25400">
            <a:solidFill>
              <a:schemeClr val="tx1"/>
            </a:solidFill>
            <a:round/>
            <a:headEnd/>
            <a:tailEnd/>
          </a:ln>
        </p:spPr>
        <p:txBody>
          <a:bodyPr wrap="none" anchor="ctr"/>
          <a:lstStyle/>
          <a:p>
            <a:pPr fontAlgn="base">
              <a:spcBef>
                <a:spcPct val="0"/>
              </a:spcBef>
              <a:spcAft>
                <a:spcPct val="0"/>
              </a:spcAft>
            </a:pPr>
            <a:endParaRPr lang="en-US" sz="1100">
              <a:solidFill>
                <a:srgbClr val="000000"/>
              </a:solidFill>
              <a:latin typeface="Arial" pitchFamily="34" charset="0"/>
              <a:ea typeface="Verdana" panose="020B0604030504040204" pitchFamily="34" charset="0"/>
              <a:cs typeface="Arial" pitchFamily="34" charset="0"/>
            </a:endParaRPr>
          </a:p>
        </p:txBody>
      </p:sp>
      <p:pic>
        <p:nvPicPr>
          <p:cNvPr id="174" name="Picture 173" descr="enterprise"/>
          <p:cNvPicPr>
            <a:picLocks noChangeAspect="1" noChangeArrowheads="1"/>
          </p:cNvPicPr>
          <p:nvPr/>
        </p:nvPicPr>
        <p:blipFill>
          <a:blip r:embed="rId18" cstate="print"/>
          <a:srcRect/>
          <a:stretch>
            <a:fillRect/>
          </a:stretch>
        </p:blipFill>
        <p:spPr bwMode="auto">
          <a:xfrm>
            <a:off x="7785772" y="843199"/>
            <a:ext cx="934062" cy="907643"/>
          </a:xfrm>
          <a:prstGeom prst="rect">
            <a:avLst/>
          </a:prstGeom>
          <a:noFill/>
        </p:spPr>
      </p:pic>
      <p:pic>
        <p:nvPicPr>
          <p:cNvPr id="191" name="Picture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41632" y="1070351"/>
            <a:ext cx="4468231" cy="2279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 name="Text Box 41"/>
          <p:cNvSpPr txBox="1">
            <a:spLocks noChangeArrowheads="1"/>
          </p:cNvSpPr>
          <p:nvPr/>
        </p:nvSpPr>
        <p:spPr bwMode="auto">
          <a:xfrm>
            <a:off x="5422448" y="1149910"/>
            <a:ext cx="1663477" cy="646331"/>
          </a:xfrm>
          <a:prstGeom prst="rect">
            <a:avLst/>
          </a:prstGeom>
          <a:noFill/>
          <a:ln w="9525">
            <a:noFill/>
            <a:miter lim="800000"/>
            <a:headEnd/>
            <a:tailEnd/>
          </a:ln>
        </p:spPr>
        <p:txBody>
          <a:bodyPr wrap="square">
            <a:spAutoFit/>
          </a:bodyPr>
          <a:lstStyle/>
          <a:p>
            <a:pPr algn="ctr" fontAlgn="base">
              <a:spcBef>
                <a:spcPct val="0"/>
              </a:spcBef>
              <a:spcAft>
                <a:spcPct val="0"/>
              </a:spcAft>
            </a:pPr>
            <a:r>
              <a:rPr lang="ru-RU" sz="1200" b="1" i="0" dirty="0">
                <a:solidFill>
                  <a:srgbClr val="000000"/>
                </a:solidFill>
                <a:latin typeface="Arial" pitchFamily="34" charset="0"/>
                <a:cs typeface="Arial" pitchFamily="34" charset="0"/>
              </a:rPr>
              <a:t>Ресурсы поставщика облачных услуг</a:t>
            </a:r>
          </a:p>
        </p:txBody>
      </p:sp>
      <p:pic>
        <p:nvPicPr>
          <p:cNvPr id="200" name="Picture 28" descr="C:\Users\patils1\Desktop\2013 Projects\CIS v2\CIS Slide Deck_Based on Book\Colored Graphics\Physical Compute System With Hypervisor.png"/>
          <p:cNvPicPr>
            <a:picLocks noChangeAspect="1" noChangeArrowheads="1"/>
          </p:cNvPicPr>
          <p:nvPr/>
        </p:nvPicPr>
        <p:blipFill>
          <a:blip r:embed="rId19"/>
          <a:stretch>
            <a:fillRect/>
          </a:stretch>
        </p:blipFill>
        <p:spPr bwMode="auto">
          <a:xfrm>
            <a:off x="5003614" y="2017648"/>
            <a:ext cx="685435" cy="665276"/>
          </a:xfrm>
          <a:prstGeom prst="rect">
            <a:avLst/>
          </a:prstGeom>
          <a:noFill/>
          <a:extLst>
            <a:ext uri="{909E8E84-426E-40DD-AFC4-6F175D3DCCD1}">
              <a14:hiddenFill xmlns:a14="http://schemas.microsoft.com/office/drawing/2010/main">
                <a:solidFill>
                  <a:srgbClr val="FFFFFF"/>
                </a:solidFill>
              </a14:hiddenFill>
            </a:ext>
          </a:extLst>
        </p:spPr>
      </p:pic>
      <p:pic>
        <p:nvPicPr>
          <p:cNvPr id="201" name="Picture 29" descr="C:\Users\patils1\Desktop\2013 Projects\CIS v2\CIS Slide Deck_Based on Book\Colored Graphics\Physical Compute System.png"/>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989966" y="2764623"/>
            <a:ext cx="711596" cy="154313"/>
          </a:xfrm>
          <a:prstGeom prst="rect">
            <a:avLst/>
          </a:prstGeom>
          <a:noFill/>
          <a:extLst>
            <a:ext uri="{909E8E84-426E-40DD-AFC4-6F175D3DCCD1}">
              <a14:hiddenFill xmlns:a14="http://schemas.microsoft.com/office/drawing/2010/main">
                <a:solidFill>
                  <a:srgbClr val="FFFFFF"/>
                </a:solidFill>
              </a14:hiddenFill>
            </a:ext>
          </a:extLst>
        </p:spPr>
      </p:pic>
      <p:pic>
        <p:nvPicPr>
          <p:cNvPr id="202" name="Picture 13" descr="C:\Users\patils1\Desktop\2013 Projects\CIS v2\CIS Slide Deck_Based on Book\Colored Graphics\Ethernet Switch.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774264" y="2569764"/>
            <a:ext cx="580231" cy="349172"/>
          </a:xfrm>
          <a:prstGeom prst="rect">
            <a:avLst/>
          </a:prstGeom>
          <a:noFill/>
          <a:extLst>
            <a:ext uri="{909E8E84-426E-40DD-AFC4-6F175D3DCCD1}">
              <a14:hiddenFill xmlns:a14="http://schemas.microsoft.com/office/drawing/2010/main">
                <a:solidFill>
                  <a:srgbClr val="FFFFFF"/>
                </a:solidFill>
              </a14:hiddenFill>
            </a:ext>
          </a:extLst>
        </p:spPr>
      </p:pic>
      <p:pic>
        <p:nvPicPr>
          <p:cNvPr id="203" name="Picture 16" descr="C:\Users\patils1\Desktop\2013 Projects\CIS v2\CIS Slide Deck_Based on Book\Colored Graphics\FC Switch.png"/>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5776236" y="2017648"/>
            <a:ext cx="577911" cy="347775"/>
          </a:xfrm>
          <a:prstGeom prst="rect">
            <a:avLst/>
          </a:prstGeom>
          <a:noFill/>
          <a:extLst>
            <a:ext uri="{909E8E84-426E-40DD-AFC4-6F175D3DCCD1}">
              <a14:hiddenFill xmlns:a14="http://schemas.microsoft.com/office/drawing/2010/main">
                <a:solidFill>
                  <a:srgbClr val="FFFFFF"/>
                </a:solidFill>
              </a14:hiddenFill>
            </a:ext>
          </a:extLst>
        </p:spPr>
      </p:pic>
      <p:pic>
        <p:nvPicPr>
          <p:cNvPr id="204" name="Picture 9" descr="C:\Users\patils1\Desktop\2013 Projects\CIS v2\CIS Slide Deck_Based on Book\Colored Graphics\Storage System.png"/>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6426061" y="1811911"/>
            <a:ext cx="539564" cy="1107025"/>
          </a:xfrm>
          <a:prstGeom prst="rect">
            <a:avLst/>
          </a:prstGeom>
          <a:noFill/>
          <a:extLst>
            <a:ext uri="{909E8E84-426E-40DD-AFC4-6F175D3DCCD1}">
              <a14:hiddenFill xmlns:a14="http://schemas.microsoft.com/office/drawing/2010/main">
                <a:solidFill>
                  <a:srgbClr val="FFFFFF"/>
                </a:solidFill>
              </a14:hiddenFill>
            </a:ext>
          </a:extLst>
        </p:spPr>
      </p:pic>
      <p:grpSp>
        <p:nvGrpSpPr>
          <p:cNvPr id="205" name="Group 204"/>
          <p:cNvGrpSpPr/>
          <p:nvPr/>
        </p:nvGrpSpPr>
        <p:grpSpPr>
          <a:xfrm>
            <a:off x="7965528" y="2378936"/>
            <a:ext cx="396000" cy="540000"/>
            <a:chOff x="5943600" y="3145772"/>
            <a:chExt cx="514697" cy="683887"/>
          </a:xfrm>
        </p:grpSpPr>
        <p:sp>
          <p:nvSpPr>
            <p:cNvPr id="210" name="Cube 209"/>
            <p:cNvSpPr/>
            <p:nvPr/>
          </p:nvSpPr>
          <p:spPr>
            <a:xfrm>
              <a:off x="5943600" y="3145772"/>
              <a:ext cx="457200" cy="635738"/>
            </a:xfrm>
            <a:prstGeom prst="cube">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5400000" scaled="1"/>
              <a:tileRect/>
            </a:gradFill>
            <a:ln>
              <a:solidFill>
                <a:srgbClr val="2C9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211" name="Oval 210"/>
            <p:cNvSpPr/>
            <p:nvPr/>
          </p:nvSpPr>
          <p:spPr>
            <a:xfrm>
              <a:off x="6172200" y="3534811"/>
              <a:ext cx="286097" cy="294848"/>
            </a:xfrm>
            <a:prstGeom prst="ellipse">
              <a:avLst/>
            </a:prstGeom>
            <a:gradFill flip="none" rotWithShape="1">
              <a:gsLst>
                <a:gs pos="0">
                  <a:srgbClr val="2C95DD">
                    <a:shade val="30000"/>
                    <a:satMod val="115000"/>
                  </a:srgbClr>
                </a:gs>
                <a:gs pos="50000">
                  <a:srgbClr val="2C95DD">
                    <a:shade val="67500"/>
                    <a:satMod val="115000"/>
                  </a:srgbClr>
                </a:gs>
                <a:gs pos="100000">
                  <a:srgbClr val="2C95DD">
                    <a:shade val="100000"/>
                    <a:satMod val="115000"/>
                  </a:srgbClr>
                </a:gs>
              </a:gsLst>
              <a:lin ang="16200000" scaled="1"/>
              <a:tileRect/>
            </a:gra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212" name="Oval 211"/>
            <p:cNvSpPr/>
            <p:nvPr/>
          </p:nvSpPr>
          <p:spPr>
            <a:xfrm>
              <a:off x="6243724" y="3605537"/>
              <a:ext cx="143048" cy="153397"/>
            </a:xfrm>
            <a:prstGeom prst="ellipse">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sp>
          <p:nvSpPr>
            <p:cNvPr id="213" name="Oval 212"/>
            <p:cNvSpPr/>
            <p:nvPr/>
          </p:nvSpPr>
          <p:spPr>
            <a:xfrm>
              <a:off x="6279486" y="3643493"/>
              <a:ext cx="71524" cy="77485"/>
            </a:xfrm>
            <a:prstGeom prst="ellipse">
              <a:avLst/>
            </a:prstGeom>
            <a:solidFill>
              <a:schemeClr val="bg1"/>
            </a:solidFill>
            <a:ln w="6350">
              <a:solidFill>
                <a:srgbClr val="BAB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Arial" pitchFamily="34" charset="0"/>
                <a:ea typeface="Verdana" panose="020B0604030504040204" pitchFamily="34" charset="0"/>
                <a:cs typeface="Arial" pitchFamily="34" charset="0"/>
              </a:endParaRPr>
            </a:p>
          </p:txBody>
        </p:sp>
      </p:grpSp>
      <p:grpSp>
        <p:nvGrpSpPr>
          <p:cNvPr id="206" name="Group 205"/>
          <p:cNvGrpSpPr/>
          <p:nvPr/>
        </p:nvGrpSpPr>
        <p:grpSpPr>
          <a:xfrm>
            <a:off x="7051577" y="2414936"/>
            <a:ext cx="828000" cy="504000"/>
            <a:chOff x="8283166" y="4313278"/>
            <a:chExt cx="998444" cy="842370"/>
          </a:xfrm>
        </p:grpSpPr>
        <p:sp>
          <p:nvSpPr>
            <p:cNvPr id="207" name="Rectangle 206"/>
            <p:cNvSpPr/>
            <p:nvPr>
              <p:custDataLst>
                <p:tags r:id="rId2"/>
              </p:custDataLst>
            </p:nvPr>
          </p:nvSpPr>
          <p:spPr>
            <a:xfrm rot="933880">
              <a:off x="8283166" y="46199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208" name="Rectangle 207"/>
            <p:cNvSpPr/>
            <p:nvPr>
              <p:custDataLst>
                <p:tags r:id="rId3"/>
              </p:custDataLst>
            </p:nvPr>
          </p:nvSpPr>
          <p:spPr>
            <a:xfrm rot="933880">
              <a:off x="8283166" y="4467532"/>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sp>
          <p:nvSpPr>
            <p:cNvPr id="209" name="Rectangle 208"/>
            <p:cNvSpPr/>
            <p:nvPr>
              <p:custDataLst>
                <p:tags r:id="rId4"/>
              </p:custDataLst>
            </p:nvPr>
          </p:nvSpPr>
          <p:spPr>
            <a:xfrm rot="933880">
              <a:off x="8283166" y="4313278"/>
              <a:ext cx="998444" cy="535716"/>
            </a:xfrm>
            <a:prstGeom prst="rect">
              <a:avLst/>
            </a:prstGeom>
            <a:gradFill flip="none" rotWithShape="1">
              <a:gsLst>
                <a:gs pos="0">
                  <a:srgbClr val="2C95DD">
                    <a:shade val="30000"/>
                    <a:satMod val="115000"/>
                    <a:alpha val="45000"/>
                  </a:srgbClr>
                </a:gs>
                <a:gs pos="50000">
                  <a:srgbClr val="2C95DD">
                    <a:shade val="67500"/>
                    <a:satMod val="115000"/>
                  </a:srgbClr>
                </a:gs>
                <a:gs pos="100000">
                  <a:srgbClr val="2C95DD">
                    <a:shade val="100000"/>
                    <a:satMod val="115000"/>
                  </a:srgbClr>
                </a:gs>
              </a:gsLst>
              <a:lin ang="2700000" scaled="1"/>
              <a:tileRect/>
            </a:gradFill>
            <a:ln>
              <a:solidFill>
                <a:srgbClr val="BABCBE"/>
              </a:solid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Приложения</a:t>
              </a:r>
            </a:p>
          </p:txBody>
        </p:sp>
      </p:grpSp>
      <p:sp>
        <p:nvSpPr>
          <p:cNvPr id="198" name="Text Box 38"/>
          <p:cNvSpPr txBox="1">
            <a:spLocks noChangeArrowheads="1"/>
          </p:cNvSpPr>
          <p:nvPr/>
        </p:nvSpPr>
        <p:spPr bwMode="auto">
          <a:xfrm>
            <a:off x="7712431" y="622594"/>
            <a:ext cx="1196161" cy="246221"/>
          </a:xfrm>
          <a:prstGeom prst="rect">
            <a:avLst/>
          </a:prstGeom>
          <a:noFill/>
          <a:ln w="9525">
            <a:noFill/>
            <a:miter lim="800000"/>
            <a:headEnd/>
            <a:tailEnd/>
          </a:ln>
        </p:spPr>
        <p:txBody>
          <a:bodyPr wrap="none">
            <a:spAutoFit/>
          </a:bodyPr>
          <a:lstStyle/>
          <a:p>
            <a:pPr fontAlgn="base">
              <a:spcBef>
                <a:spcPct val="0"/>
              </a:spcBef>
              <a:spcAft>
                <a:spcPct val="0"/>
              </a:spcAft>
            </a:pPr>
            <a:r>
              <a:rPr lang="ru-RU" sz="1000" b="1" i="0" dirty="0">
                <a:solidFill>
                  <a:srgbClr val="000000"/>
                </a:solidFill>
                <a:latin typeface="Arial" pitchFamily="34" charset="0"/>
                <a:cs typeface="Arial" pitchFamily="34" charset="0"/>
              </a:rPr>
              <a:t>Предприятие Q</a:t>
            </a:r>
          </a:p>
        </p:txBody>
      </p:sp>
      <p:sp>
        <p:nvSpPr>
          <p:cNvPr id="51" name="Text Box 38"/>
          <p:cNvSpPr txBox="1">
            <a:spLocks noChangeArrowheads="1"/>
          </p:cNvSpPr>
          <p:nvPr/>
        </p:nvSpPr>
        <p:spPr bwMode="auto">
          <a:xfrm>
            <a:off x="551330" y="3530975"/>
            <a:ext cx="1143000" cy="184666"/>
          </a:xfrm>
          <a:prstGeom prst="rect">
            <a:avLst/>
          </a:prstGeom>
          <a:noFill/>
          <a:ln w="9525">
            <a:noFill/>
            <a:miter lim="800000"/>
            <a:headEnd/>
            <a:tailEnd/>
          </a:ln>
        </p:spPr>
        <p:txBody>
          <a:bodyPr wrap="square">
            <a:spAutoFit/>
          </a:bodyPr>
          <a:lstStyle/>
          <a:p>
            <a:pPr algn="ctr"/>
            <a:r>
              <a:rPr lang="ru-RU" sz="600" b="1" i="0" dirty="0">
                <a:solidFill>
                  <a:srgbClr val="000000"/>
                </a:solidFill>
                <a:latin typeface="Arial" pitchFamily="34" charset="0"/>
                <a:cs typeface="Arial" pitchFamily="34" charset="0"/>
              </a:rPr>
              <a:t>Гипервизор</a:t>
            </a:r>
          </a:p>
        </p:txBody>
      </p:sp>
      <p:sp>
        <p:nvSpPr>
          <p:cNvPr id="52" name="Text Box 38"/>
          <p:cNvSpPr txBox="1">
            <a:spLocks noChangeArrowheads="1"/>
          </p:cNvSpPr>
          <p:nvPr/>
        </p:nvSpPr>
        <p:spPr bwMode="auto">
          <a:xfrm>
            <a:off x="4769225" y="2352115"/>
            <a:ext cx="1143000" cy="184666"/>
          </a:xfrm>
          <a:prstGeom prst="rect">
            <a:avLst/>
          </a:prstGeom>
          <a:noFill/>
          <a:ln w="9525">
            <a:noFill/>
            <a:miter lim="800000"/>
            <a:headEnd/>
            <a:tailEnd/>
          </a:ln>
        </p:spPr>
        <p:txBody>
          <a:bodyPr wrap="square">
            <a:spAutoFit/>
          </a:bodyPr>
          <a:lstStyle/>
          <a:p>
            <a:pPr algn="ctr"/>
            <a:r>
              <a:rPr lang="ru-RU" sz="600" b="1" i="0" dirty="0">
                <a:solidFill>
                  <a:srgbClr val="000000"/>
                </a:solidFill>
                <a:latin typeface="Arial" pitchFamily="34" charset="0"/>
                <a:cs typeface="Arial" pitchFamily="34" charset="0"/>
              </a:rPr>
              <a:t>Гипервизор</a:t>
            </a:r>
          </a:p>
        </p:txBody>
      </p:sp>
      <p:sp>
        <p:nvSpPr>
          <p:cNvPr id="47" name="TextBox 4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959282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0"/>
            <a:ext cx="8916986" cy="457200"/>
          </a:xfrm>
        </p:spPr>
        <p:txBody>
          <a:bodyPr/>
          <a:lstStyle/>
          <a:p>
            <a:r>
              <a:rPr lang="ru-RU" sz="2800" b="0" i="0" dirty="0">
                <a:solidFill>
                  <a:srgbClr val="2C95DD"/>
                </a:solidFill>
                <a:latin typeface="Arial" pitchFamily="34" charset="0"/>
                <a:cs typeface="Arial" pitchFamily="34" charset="0"/>
              </a:rPr>
              <a:t>Сценарии использования модели гибридного облака</a:t>
            </a:r>
          </a:p>
        </p:txBody>
      </p:sp>
      <p:graphicFrame>
        <p:nvGraphicFramePr>
          <p:cNvPr id="5" name="Content Placeholder 4"/>
          <p:cNvGraphicFramePr>
            <a:graphicFrameLocks/>
          </p:cNvGraphicFramePr>
          <p:nvPr>
            <p:extLst>
              <p:ext uri="{D42A27DB-BD31-4B8C-83A1-F6EECF244321}">
                <p14:modId xmlns:p14="http://schemas.microsoft.com/office/powerpoint/2010/main" val="3674551382"/>
              </p:ext>
            </p:extLst>
          </p:nvPr>
        </p:nvGraphicFramePr>
        <p:xfrm>
          <a:off x="342900" y="819150"/>
          <a:ext cx="8458200" cy="3601374"/>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20000"/>
                    </a:ext>
                  </a:extLst>
                </a:gridCol>
                <a:gridCol w="5219700">
                  <a:extLst>
                    <a:ext uri="{9D8B030D-6E8A-4147-A177-3AD203B41FA5}">
                      <a16:colId xmlns:a16="http://schemas.microsoft.com/office/drawing/2014/main" val="20001"/>
                    </a:ext>
                  </a:extLst>
                </a:gridCol>
              </a:tblGrid>
              <a:tr h="41868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700" b="1" i="0" dirty="0">
                          <a:solidFill>
                            <a:srgbClr val="FFFFFF"/>
                          </a:solidFill>
                          <a:effectLst>
                            <a:outerShdw blurRad="38100" dist="38100" dir="2700000" algn="tl">
                              <a:srgbClr val="000000">
                                <a:alpha val="43137"/>
                              </a:srgbClr>
                            </a:outerShdw>
                          </a:effectLst>
                          <a:latin typeface="Arial" pitchFamily="34" charset="0"/>
                          <a:cs typeface="Arial" pitchFamily="34" charset="0"/>
                        </a:rPr>
                        <a:t>Сценарий использования</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700" b="1" i="0" dirty="0">
                          <a:solidFill>
                            <a:srgbClr val="FFFFFF"/>
                          </a:solidFill>
                          <a:effectLst>
                            <a:outerShdw blurRad="38100" dist="38100" dir="2700000" algn="tl">
                              <a:srgbClr val="000000">
                                <a:alpha val="43137"/>
                              </a:srgbClr>
                            </a:outerShdw>
                          </a:effectLst>
                          <a:latin typeface="Arial" pitchFamily="34" charset="0"/>
                          <a:cs typeface="Arial" pitchFamily="34" charset="0"/>
                        </a:rPr>
                        <a:t>Описание</a:t>
                      </a:r>
                    </a:p>
                  </a:txBody>
                  <a:tcPr/>
                </a:tc>
                <a:extLst>
                  <a:ext uri="{0D108BD9-81ED-4DB2-BD59-A6C34878D82A}">
                    <a16:rowId xmlns:a16="http://schemas.microsoft.com/office/drawing/2014/main" val="10000"/>
                  </a:ext>
                </a:extLst>
              </a:tr>
              <a:tr h="722664">
                <a:tc>
                  <a:txBody>
                    <a:bodyPr/>
                    <a:lstStyle/>
                    <a:p>
                      <a:r>
                        <a:rPr lang="ru-RU" sz="1700" b="0" i="0" dirty="0">
                          <a:solidFill>
                            <a:srgbClr val="000000"/>
                          </a:solidFill>
                          <a:latin typeface="Arial" pitchFamily="34" charset="0"/>
                          <a:cs typeface="Arial" pitchFamily="34" charset="0"/>
                        </a:rPr>
                        <a:t>Расширение облака</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1700" b="0" i="0" dirty="0">
                          <a:solidFill>
                            <a:srgbClr val="000000"/>
                          </a:solidFill>
                          <a:latin typeface="Arial" pitchFamily="34" charset="0"/>
                          <a:cs typeface="Arial" pitchFamily="34" charset="0"/>
                        </a:rPr>
                        <a:t>Выделение ресурсов в течение ограниченного периода времени из публичного облака для обработки пиковых рабочих нагрузок</a:t>
                      </a:r>
                    </a:p>
                  </a:txBody>
                  <a:tcPr/>
                </a:tc>
                <a:extLst>
                  <a:ext uri="{0D108BD9-81ED-4DB2-BD59-A6C34878D82A}">
                    <a16:rowId xmlns:a16="http://schemas.microsoft.com/office/drawing/2014/main" val="10001"/>
                  </a:ext>
                </a:extLst>
              </a:tr>
              <a:tr h="722664">
                <a:tc>
                  <a:txBody>
                    <a:bodyPr/>
                    <a:lstStyle/>
                    <a:p>
                      <a:r>
                        <a:rPr lang="ru-RU" sz="1700" b="0" i="0" dirty="0">
                          <a:solidFill>
                            <a:srgbClr val="000000"/>
                          </a:solidFill>
                          <a:latin typeface="Arial" pitchFamily="34" charset="0"/>
                          <a:cs typeface="Arial" pitchFamily="34" charset="0"/>
                        </a:rPr>
                        <a:t>Размещение веб-приложений</a:t>
                      </a:r>
                    </a:p>
                  </a:txBody>
                  <a:tcPr/>
                </a:tc>
                <a:tc>
                  <a:txBody>
                    <a:bodyPr/>
                    <a:lstStyle/>
                    <a:p>
                      <a:pPr marL="0" indent="0">
                        <a:buFont typeface="Arial" panose="020B0604020202020204" pitchFamily="34" charset="0"/>
                        <a:buNone/>
                      </a:pPr>
                      <a:r>
                        <a:rPr lang="ru-RU" sz="1700" b="0" i="0" u="none" dirty="0">
                          <a:solidFill>
                            <a:srgbClr val="000000"/>
                          </a:solidFill>
                          <a:latin typeface="Arial" pitchFamily="34" charset="0"/>
                          <a:cs typeface="Arial" pitchFamily="34" charset="0"/>
                        </a:rPr>
                        <a:t>Размещение менее важных приложений в публичном облаке</a:t>
                      </a:r>
                    </a:p>
                  </a:txBody>
                  <a:tcPr/>
                </a:tc>
                <a:extLst>
                  <a:ext uri="{0D108BD9-81ED-4DB2-BD59-A6C34878D82A}">
                    <a16:rowId xmlns:a16="http://schemas.microsoft.com/office/drawing/2014/main" val="10002"/>
                  </a:ext>
                </a:extLst>
              </a:tr>
              <a:tr h="722664">
                <a:tc>
                  <a:txBody>
                    <a:bodyPr/>
                    <a:lstStyle/>
                    <a:p>
                      <a:r>
                        <a:rPr lang="ru-RU" sz="1700" b="0" i="0" dirty="0">
                          <a:solidFill>
                            <a:srgbClr val="000000"/>
                          </a:solidFill>
                          <a:latin typeface="Arial" pitchFamily="34" charset="0"/>
                          <a:cs typeface="Arial" pitchFamily="34" charset="0"/>
                        </a:rPr>
                        <a:t>Миграция готовых приложений</a:t>
                      </a:r>
                    </a:p>
                  </a:txBody>
                  <a:tcPr/>
                </a:tc>
                <a:tc>
                  <a:txBody>
                    <a:bodyPr/>
                    <a:lstStyle/>
                    <a:p>
                      <a:pPr marL="0" indent="0">
                        <a:buFont typeface="Arial" panose="020B0604020202020204" pitchFamily="34" charset="0"/>
                        <a:buNone/>
                      </a:pPr>
                      <a:r>
                        <a:rPr lang="ru-RU" sz="1700" b="0" i="0" dirty="0">
                          <a:solidFill>
                            <a:srgbClr val="000000"/>
                          </a:solidFill>
                          <a:latin typeface="Arial" pitchFamily="34" charset="0"/>
                          <a:cs typeface="Arial" pitchFamily="34" charset="0"/>
                        </a:rPr>
                        <a:t>Миграция стандартных готовых приложений, например приложений электронной почты,</a:t>
                      </a:r>
                      <a:br>
                        <a:rPr lang="en-US" sz="1700" b="0" i="0" dirty="0">
                          <a:solidFill>
                            <a:srgbClr val="FF00FF"/>
                          </a:solidFill>
                          <a:latin typeface="Arial" pitchFamily="34" charset="0"/>
                          <a:cs typeface="Arial" pitchFamily="34" charset="0"/>
                        </a:rPr>
                      </a:br>
                      <a:r>
                        <a:rPr lang="ru-RU" sz="1700" b="0" i="0" dirty="0">
                          <a:solidFill>
                            <a:srgbClr val="000000"/>
                          </a:solidFill>
                          <a:latin typeface="Arial" pitchFamily="34" charset="0"/>
                          <a:cs typeface="Arial" pitchFamily="34" charset="0"/>
                        </a:rPr>
                        <a:t>в </a:t>
                      </a:r>
                      <a:r>
                        <a:rPr lang="ru-RU" sz="1700" b="0" i="0" u="none" dirty="0">
                          <a:solidFill>
                            <a:srgbClr val="000000"/>
                          </a:solidFill>
                          <a:latin typeface="Arial" pitchFamily="34" charset="0"/>
                          <a:cs typeface="Arial" pitchFamily="34" charset="0"/>
                        </a:rPr>
                        <a:t>публичное облако</a:t>
                      </a:r>
                    </a:p>
                  </a:txBody>
                  <a:tcPr/>
                </a:tc>
                <a:extLst>
                  <a:ext uri="{0D108BD9-81ED-4DB2-BD59-A6C34878D82A}">
                    <a16:rowId xmlns:a16="http://schemas.microsoft.com/office/drawing/2014/main" val="10003"/>
                  </a:ext>
                </a:extLst>
              </a:tr>
              <a:tr h="72266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700" b="0" i="0" dirty="0">
                          <a:solidFill>
                            <a:srgbClr val="000000"/>
                          </a:solidFill>
                          <a:latin typeface="Arial" pitchFamily="34" charset="0"/>
                          <a:cs typeface="Arial" pitchFamily="34" charset="0"/>
                        </a:rPr>
                        <a:t>Разработка и тестирование приложений</a:t>
                      </a:r>
                    </a:p>
                  </a:txBody>
                  <a:tcPr/>
                </a:tc>
                <a:tc>
                  <a:txBody>
                    <a:bodyPr/>
                    <a:lstStyle/>
                    <a:p>
                      <a:pPr marL="0" indent="0">
                        <a:buFont typeface="Arial" panose="020B0604020202020204" pitchFamily="34" charset="0"/>
                        <a:buNone/>
                      </a:pPr>
                      <a:r>
                        <a:rPr lang="ru-RU" sz="1700" b="0" i="0" dirty="0">
                          <a:solidFill>
                            <a:srgbClr val="000000"/>
                          </a:solidFill>
                          <a:latin typeface="Arial" pitchFamily="34" charset="0"/>
                          <a:cs typeface="Arial" pitchFamily="34" charset="0"/>
                        </a:rPr>
                        <a:t>Разработка и тестирование приложений в публичном облаке перед их запуском</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020465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Определение облачных технологий</a:t>
            </a:r>
          </a:p>
          <a:p>
            <a:pPr>
              <a:defRPr/>
            </a:pPr>
            <a:r>
              <a:rPr lang="ru-RU" sz="2000" b="0" i="0" dirty="0">
                <a:solidFill>
                  <a:srgbClr val="000000"/>
                </a:solidFill>
                <a:latin typeface="Arial" pitchFamily="34" charset="0"/>
                <a:cs typeface="Arial" pitchFamily="34" charset="0"/>
              </a:rPr>
              <a:t>Ключевые характеристики облачных технологий</a:t>
            </a:r>
          </a:p>
          <a:p>
            <a:r>
              <a:rPr lang="ru-RU" sz="2000" b="0" i="0" dirty="0">
                <a:solidFill>
                  <a:srgbClr val="000000"/>
                </a:solidFill>
                <a:latin typeface="Arial" pitchFamily="34" charset="0"/>
                <a:cs typeface="Arial" pitchFamily="34" charset="0"/>
              </a:rPr>
              <a:t>Модели облачных услуг: «инфраструктура как услуга» (IaaS), «платформа как услуга» (PaaS) и «ПО как услуга» (SaaS)</a:t>
            </a:r>
          </a:p>
          <a:p>
            <a:r>
              <a:rPr lang="ru-RU" sz="2000" b="0" i="0" dirty="0">
                <a:solidFill>
                  <a:srgbClr val="000000"/>
                </a:solidFill>
                <a:latin typeface="Arial" pitchFamily="34" charset="0"/>
                <a:cs typeface="Arial" pitchFamily="34" charset="0"/>
              </a:rPr>
              <a:t>Модели развертывания облака: публичное облако, частное облако, облако сообщества и гибридное облако</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89895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Аналитика больших данных</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Определение больших данных </a:t>
            </a:r>
          </a:p>
          <a:p>
            <a:pPr>
              <a:defRPr/>
            </a:pPr>
            <a:r>
              <a:rPr lang="ru-RU" sz="2000" b="0" i="0" dirty="0">
                <a:solidFill>
                  <a:srgbClr val="000000"/>
                </a:solidFill>
                <a:latin typeface="Arial" pitchFamily="34" charset="0"/>
                <a:cs typeface="Arial" pitchFamily="34" charset="0"/>
              </a:rPr>
              <a:t>Ключевые характеристики больших данных </a:t>
            </a:r>
          </a:p>
          <a:p>
            <a:pPr>
              <a:defRPr/>
            </a:pPr>
            <a:r>
              <a:rPr lang="ru-RU" sz="2000" b="0" i="0" dirty="0">
                <a:solidFill>
                  <a:srgbClr val="000000"/>
                </a:solidFill>
                <a:latin typeface="Arial" pitchFamily="34" charset="0"/>
                <a:cs typeface="Arial" pitchFamily="34" charset="0"/>
              </a:rPr>
              <a:t>Компоненты решения для аналитики больших данных</a:t>
            </a:r>
          </a:p>
          <a:p>
            <a:pPr>
              <a:defRPr/>
            </a:pPr>
            <a:r>
              <a:rPr lang="ru-RU" sz="2000" b="0" i="0" dirty="0">
                <a:solidFill>
                  <a:srgbClr val="000000"/>
                </a:solidFill>
                <a:latin typeface="Arial" pitchFamily="34" charset="0"/>
                <a:cs typeface="Arial" pitchFamily="34" charset="0"/>
              </a:rPr>
              <a:t>Сценарии использования аналитики больших данных</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18063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большие данные?</a:t>
            </a:r>
          </a:p>
        </p:txBody>
      </p:sp>
      <p:sp>
        <p:nvSpPr>
          <p:cNvPr id="3" name="Content Placeholder 2"/>
          <p:cNvSpPr>
            <a:spLocks noGrp="1"/>
          </p:cNvSpPr>
          <p:nvPr>
            <p:ph sz="quarter" idx="10"/>
          </p:nvPr>
        </p:nvSpPr>
        <p:spPr>
          <a:xfrm>
            <a:off x="379413" y="2427734"/>
            <a:ext cx="8458200" cy="1991866"/>
          </a:xfrm>
        </p:spPr>
        <p:txBody>
          <a:bodyPr/>
          <a:lstStyle/>
          <a:p>
            <a:r>
              <a:rPr lang="ru-RU" sz="2000" b="0" i="0" dirty="0">
                <a:solidFill>
                  <a:srgbClr val="000000"/>
                </a:solidFill>
                <a:latin typeface="Arial" pitchFamily="34" charset="0"/>
                <a:cs typeface="Arial" pitchFamily="34" charset="0"/>
              </a:rPr>
              <a:t>Включают структурированные и неструктурированные данные</a:t>
            </a:r>
          </a:p>
          <a:p>
            <a:r>
              <a:rPr lang="ru-RU" sz="2000" b="0" i="0" dirty="0">
                <a:solidFill>
                  <a:srgbClr val="000000"/>
                </a:solidFill>
                <a:latin typeface="Arial" pitchFamily="34" charset="0"/>
                <a:cs typeface="Arial" pitchFamily="34" charset="0"/>
              </a:rPr>
              <a:t>Для их обработки требуются высокомасштабируемая архитектура хранения и новые инструменты</a:t>
            </a:r>
          </a:p>
          <a:p>
            <a:r>
              <a:rPr lang="ru-RU" sz="2000" b="0" i="0" dirty="0">
                <a:solidFill>
                  <a:srgbClr val="000000"/>
                </a:solidFill>
                <a:latin typeface="Arial" pitchFamily="34" charset="0"/>
                <a:cs typeface="Arial" pitchFamily="34" charset="0"/>
              </a:rPr>
              <a:t>Аналитика повышает эффективность принятия решений </a:t>
            </a:r>
          </a:p>
        </p:txBody>
      </p:sp>
      <p:grpSp>
        <p:nvGrpSpPr>
          <p:cNvPr id="13" name="Group 12"/>
          <p:cNvGrpSpPr/>
          <p:nvPr/>
        </p:nvGrpSpPr>
        <p:grpSpPr>
          <a:xfrm>
            <a:off x="334134" y="990000"/>
            <a:ext cx="8486338" cy="1293718"/>
            <a:chOff x="299409" y="798190"/>
            <a:chExt cx="8486338" cy="1293718"/>
          </a:xfrm>
        </p:grpSpPr>
        <p:sp>
          <p:nvSpPr>
            <p:cNvPr id="14" name="Rectangle 13"/>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5" name="Rectangle 14"/>
            <p:cNvSpPr/>
            <p:nvPr/>
          </p:nvSpPr>
          <p:spPr>
            <a:xfrm>
              <a:off x="614992" y="996920"/>
              <a:ext cx="8170755" cy="109498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Информационные ресурсы, большие объемы, высокая скорость и разнообразие которых обуславливают использование новой технической архитектуры и аналитических методов для получения сведений и преимуществ для бизнеса.</a:t>
              </a:r>
            </a:p>
          </p:txBody>
        </p:sp>
        <p:sp>
          <p:nvSpPr>
            <p:cNvPr id="16" name="Rectangle 15"/>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Большие данные</a:t>
              </a:r>
            </a:p>
          </p:txBody>
        </p:sp>
      </p:gr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6831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Характеристики больших данных</a:t>
            </a:r>
          </a:p>
        </p:txBody>
      </p:sp>
      <p:grpSp>
        <p:nvGrpSpPr>
          <p:cNvPr id="3" name="Group 2"/>
          <p:cNvGrpSpPr/>
          <p:nvPr/>
        </p:nvGrpSpPr>
        <p:grpSpPr>
          <a:xfrm>
            <a:off x="379516" y="915566"/>
            <a:ext cx="8457993" cy="3429000"/>
            <a:chOff x="379516" y="915566"/>
            <a:chExt cx="8457993" cy="3429000"/>
          </a:xfrm>
        </p:grpSpPr>
        <p:sp>
          <p:nvSpPr>
            <p:cNvPr id="9" name="Freeform 8"/>
            <p:cNvSpPr/>
            <p:nvPr/>
          </p:nvSpPr>
          <p:spPr>
            <a:xfrm>
              <a:off x="379516" y="915566"/>
              <a:ext cx="1375283" cy="3429000"/>
            </a:xfrm>
            <a:custGeom>
              <a:avLst/>
              <a:gdLst>
                <a:gd name="connsiteX0" fmla="*/ 0 w 1375283"/>
                <a:gd name="connsiteY0" fmla="*/ 137528 h 3429000"/>
                <a:gd name="connsiteX1" fmla="*/ 137528 w 1375283"/>
                <a:gd name="connsiteY1" fmla="*/ 0 h 3429000"/>
                <a:gd name="connsiteX2" fmla="*/ 1237755 w 1375283"/>
                <a:gd name="connsiteY2" fmla="*/ 0 h 3429000"/>
                <a:gd name="connsiteX3" fmla="*/ 1375283 w 1375283"/>
                <a:gd name="connsiteY3" fmla="*/ 137528 h 3429000"/>
                <a:gd name="connsiteX4" fmla="*/ 1375283 w 1375283"/>
                <a:gd name="connsiteY4" fmla="*/ 3291472 h 3429000"/>
                <a:gd name="connsiteX5" fmla="*/ 1237755 w 1375283"/>
                <a:gd name="connsiteY5" fmla="*/ 3429000 h 3429000"/>
                <a:gd name="connsiteX6" fmla="*/ 137528 w 1375283"/>
                <a:gd name="connsiteY6" fmla="*/ 3429000 h 3429000"/>
                <a:gd name="connsiteX7" fmla="*/ 0 w 1375283"/>
                <a:gd name="connsiteY7" fmla="*/ 3291472 h 3429000"/>
                <a:gd name="connsiteX8" fmla="*/ 0 w 1375283"/>
                <a:gd name="connsiteY8" fmla="*/ 13752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283" h="3429000">
                  <a:moveTo>
                    <a:pt x="0" y="137528"/>
                  </a:moveTo>
                  <a:cubicBezTo>
                    <a:pt x="0" y="61573"/>
                    <a:pt x="61573" y="0"/>
                    <a:pt x="137528" y="0"/>
                  </a:cubicBezTo>
                  <a:lnTo>
                    <a:pt x="1237755" y="0"/>
                  </a:lnTo>
                  <a:cubicBezTo>
                    <a:pt x="1313710" y="0"/>
                    <a:pt x="1375283" y="61573"/>
                    <a:pt x="1375283" y="137528"/>
                  </a:cubicBezTo>
                  <a:lnTo>
                    <a:pt x="1375283" y="3291472"/>
                  </a:lnTo>
                  <a:cubicBezTo>
                    <a:pt x="1375283" y="3367427"/>
                    <a:pt x="1313710" y="3429000"/>
                    <a:pt x="1237755" y="3429000"/>
                  </a:cubicBezTo>
                  <a:lnTo>
                    <a:pt x="137528" y="3429000"/>
                  </a:lnTo>
                  <a:cubicBezTo>
                    <a:pt x="61573" y="3429000"/>
                    <a:pt x="0" y="3367427"/>
                    <a:pt x="0" y="3291472"/>
                  </a:cubicBezTo>
                  <a:lnTo>
                    <a:pt x="0" y="137528"/>
                  </a:lnTo>
                  <a:close/>
                </a:path>
              </a:pathLst>
            </a:custGeom>
            <a:solidFill>
              <a:srgbClr val="114569"/>
            </a:solidFill>
            <a:ln>
              <a:noFill/>
            </a:ln>
            <a:effectLst>
              <a:outerShdw blurRad="50800" dist="38100" dir="5400000" algn="t" rotWithShape="0">
                <a:prstClr val="black">
                  <a:alpha val="40000"/>
                </a:prstClr>
              </a:outerShdw>
            </a:effectLst>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99568" tIns="1471168" rIns="99568" bIns="785368" numCol="1" spcCol="1270" anchor="t" anchorCtr="1">
              <a:noAutofit/>
            </a:bodyPr>
            <a:lstStyle/>
            <a:p>
              <a:pPr lvl="0" algn="l" defTabSz="622300">
                <a:lnSpc>
                  <a:spcPct val="90000"/>
                </a:lnSpc>
                <a:spcBef>
                  <a:spcPct val="0"/>
                </a:spcBef>
                <a:spcAft>
                  <a:spcPct val="35000"/>
                </a:spcAft>
              </a:pPr>
              <a:r>
                <a:rPr lang="ru-RU" sz="1200" b="1" i="0" dirty="0">
                  <a:solidFill>
                    <a:srgbClr val="FFFFFF"/>
                  </a:solidFill>
                  <a:latin typeface="Arial" pitchFamily="34" charset="0"/>
                  <a:cs typeface="Arial" pitchFamily="34" charset="0"/>
                </a:rPr>
                <a:t>Объем</a:t>
              </a: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Большие объемы данных</a:t>
              </a:r>
            </a:p>
            <a:p>
              <a:pPr marL="0" lvl="1" algn="l" defTabSz="533400">
                <a:lnSpc>
                  <a:spcPct val="90000"/>
                </a:lnSpc>
                <a:spcBef>
                  <a:spcPct val="0"/>
                </a:spcBef>
                <a:spcAft>
                  <a:spcPct val="15000"/>
                </a:spcAft>
              </a:pPr>
              <a:endParaRPr lang="en-US" sz="1000" kern="1200" dirty="0">
                <a:latin typeface="Arial" pitchFamily="34" charset="0"/>
                <a:cs typeface="Arial" pitchFamily="34" charset="0"/>
              </a:endParaRP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Сложности, связанные с хранением и анализом</a:t>
              </a:r>
            </a:p>
          </p:txBody>
        </p:sp>
        <p:sp>
          <p:nvSpPr>
            <p:cNvPr id="10" name="Oval 9"/>
            <p:cNvSpPr/>
            <p:nvPr/>
          </p:nvSpPr>
          <p:spPr>
            <a:xfrm>
              <a:off x="496229" y="1121306"/>
              <a:ext cx="1141857" cy="1141857"/>
            </a:xfrm>
            <a:prstGeom prst="ellipse">
              <a:avLst/>
            </a:prstGeom>
            <a:blipFill dpi="0" rotWithShape="1">
              <a:blip r:embed="rId4">
                <a:extLst>
                  <a:ext uri="{28A0092B-C50C-407E-A947-70E740481C1C}">
                    <a14:useLocalDpi xmlns:a14="http://schemas.microsoft.com/office/drawing/2010/main" val="0"/>
                  </a:ext>
                </a:extLst>
              </a:blip>
              <a:srcRect/>
              <a:stretch>
                <a:fillRect l="-25033" r="-25033"/>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11" name="Freeform 10"/>
            <p:cNvSpPr/>
            <p:nvPr/>
          </p:nvSpPr>
          <p:spPr>
            <a:xfrm>
              <a:off x="1796058" y="915566"/>
              <a:ext cx="1375283" cy="3429000"/>
            </a:xfrm>
            <a:custGeom>
              <a:avLst/>
              <a:gdLst>
                <a:gd name="connsiteX0" fmla="*/ 0 w 1375283"/>
                <a:gd name="connsiteY0" fmla="*/ 137528 h 3429000"/>
                <a:gd name="connsiteX1" fmla="*/ 137528 w 1375283"/>
                <a:gd name="connsiteY1" fmla="*/ 0 h 3429000"/>
                <a:gd name="connsiteX2" fmla="*/ 1237755 w 1375283"/>
                <a:gd name="connsiteY2" fmla="*/ 0 h 3429000"/>
                <a:gd name="connsiteX3" fmla="*/ 1375283 w 1375283"/>
                <a:gd name="connsiteY3" fmla="*/ 137528 h 3429000"/>
                <a:gd name="connsiteX4" fmla="*/ 1375283 w 1375283"/>
                <a:gd name="connsiteY4" fmla="*/ 3291472 h 3429000"/>
                <a:gd name="connsiteX5" fmla="*/ 1237755 w 1375283"/>
                <a:gd name="connsiteY5" fmla="*/ 3429000 h 3429000"/>
                <a:gd name="connsiteX6" fmla="*/ 137528 w 1375283"/>
                <a:gd name="connsiteY6" fmla="*/ 3429000 h 3429000"/>
                <a:gd name="connsiteX7" fmla="*/ 0 w 1375283"/>
                <a:gd name="connsiteY7" fmla="*/ 3291472 h 3429000"/>
                <a:gd name="connsiteX8" fmla="*/ 0 w 1375283"/>
                <a:gd name="connsiteY8" fmla="*/ 13752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283" h="3429000">
                  <a:moveTo>
                    <a:pt x="0" y="137528"/>
                  </a:moveTo>
                  <a:cubicBezTo>
                    <a:pt x="0" y="61573"/>
                    <a:pt x="61573" y="0"/>
                    <a:pt x="137528" y="0"/>
                  </a:cubicBezTo>
                  <a:lnTo>
                    <a:pt x="1237755" y="0"/>
                  </a:lnTo>
                  <a:cubicBezTo>
                    <a:pt x="1313710" y="0"/>
                    <a:pt x="1375283" y="61573"/>
                    <a:pt x="1375283" y="137528"/>
                  </a:cubicBezTo>
                  <a:lnTo>
                    <a:pt x="1375283" y="3291472"/>
                  </a:lnTo>
                  <a:cubicBezTo>
                    <a:pt x="1375283" y="3367427"/>
                    <a:pt x="1313710" y="3429000"/>
                    <a:pt x="1237755" y="3429000"/>
                  </a:cubicBezTo>
                  <a:lnTo>
                    <a:pt x="137528" y="3429000"/>
                  </a:lnTo>
                  <a:cubicBezTo>
                    <a:pt x="61573" y="3429000"/>
                    <a:pt x="0" y="3367427"/>
                    <a:pt x="0" y="3291472"/>
                  </a:cubicBezTo>
                  <a:lnTo>
                    <a:pt x="0" y="137528"/>
                  </a:lnTo>
                  <a:close/>
                </a:path>
              </a:pathLst>
            </a:custGeom>
            <a:solidFill>
              <a:schemeClr val="tx2">
                <a:lumMod val="75000"/>
              </a:schemeClr>
            </a:solidFill>
            <a:ln>
              <a:noFill/>
            </a:ln>
            <a:effectLst>
              <a:outerShdw blurRad="50800" dist="38100" dir="5400000" algn="t" rotWithShape="0">
                <a:prstClr val="black">
                  <a:alpha val="40000"/>
                </a:prstClr>
              </a:outerShdw>
            </a:effectLst>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99568" tIns="1471168" rIns="99568" bIns="785368" numCol="1" spcCol="1270" anchor="t" anchorCtr="1">
              <a:noAutofit/>
            </a:bodyPr>
            <a:lstStyle/>
            <a:p>
              <a:pPr lvl="0" algn="l" defTabSz="622300">
                <a:lnSpc>
                  <a:spcPct val="90000"/>
                </a:lnSpc>
                <a:spcBef>
                  <a:spcPct val="0"/>
                </a:spcBef>
                <a:spcAft>
                  <a:spcPct val="35000"/>
                </a:spcAft>
              </a:pPr>
              <a:r>
                <a:rPr lang="ru-RU" sz="1200" b="1" i="0" dirty="0">
                  <a:solidFill>
                    <a:srgbClr val="FFFFFF"/>
                  </a:solidFill>
                  <a:latin typeface="Arial" pitchFamily="34" charset="0"/>
                  <a:cs typeface="Arial" pitchFamily="34" charset="0"/>
                </a:rPr>
                <a:t>Скорость</a:t>
              </a: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Быстро изменяющиеся данные</a:t>
              </a:r>
            </a:p>
            <a:p>
              <a:pPr marL="0" lvl="1" algn="l" defTabSz="533400">
                <a:lnSpc>
                  <a:spcPct val="90000"/>
                </a:lnSpc>
                <a:spcBef>
                  <a:spcPct val="0"/>
                </a:spcBef>
                <a:spcAft>
                  <a:spcPct val="15000"/>
                </a:spcAft>
              </a:pPr>
              <a:endParaRPr lang="en-US" sz="1000" kern="1200" dirty="0">
                <a:solidFill>
                  <a:schemeClr val="bg1"/>
                </a:solidFill>
                <a:latin typeface="Arial" pitchFamily="34" charset="0"/>
                <a:cs typeface="Arial" pitchFamily="34" charset="0"/>
              </a:endParaRP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Сложности при анализе в режиме реального времени</a:t>
              </a:r>
            </a:p>
          </p:txBody>
        </p:sp>
        <p:sp>
          <p:nvSpPr>
            <p:cNvPr id="12" name="Oval 11"/>
            <p:cNvSpPr/>
            <p:nvPr/>
          </p:nvSpPr>
          <p:spPr>
            <a:xfrm>
              <a:off x="1912771" y="1121306"/>
              <a:ext cx="1141857" cy="1141857"/>
            </a:xfrm>
            <a:prstGeom prst="ellipse">
              <a:avLst/>
            </a:prstGeom>
            <a:blipFill dpi="0" rotWithShape="1">
              <a:blip r:embed="rId5">
                <a:extLst>
                  <a:ext uri="{28A0092B-C50C-407E-A947-70E740481C1C}">
                    <a14:useLocalDpi xmlns:a14="http://schemas.microsoft.com/office/drawing/2010/main" val="0"/>
                  </a:ext>
                </a:extLst>
              </a:blip>
              <a:srcRect/>
              <a:stretch>
                <a:fillRect l="-19361" r="-19361"/>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13" name="Freeform 12"/>
            <p:cNvSpPr/>
            <p:nvPr/>
          </p:nvSpPr>
          <p:spPr>
            <a:xfrm>
              <a:off x="3212600" y="915566"/>
              <a:ext cx="1375283" cy="3429000"/>
            </a:xfrm>
            <a:custGeom>
              <a:avLst/>
              <a:gdLst>
                <a:gd name="connsiteX0" fmla="*/ 0 w 1375283"/>
                <a:gd name="connsiteY0" fmla="*/ 137528 h 3429000"/>
                <a:gd name="connsiteX1" fmla="*/ 137528 w 1375283"/>
                <a:gd name="connsiteY1" fmla="*/ 0 h 3429000"/>
                <a:gd name="connsiteX2" fmla="*/ 1237755 w 1375283"/>
                <a:gd name="connsiteY2" fmla="*/ 0 h 3429000"/>
                <a:gd name="connsiteX3" fmla="*/ 1375283 w 1375283"/>
                <a:gd name="connsiteY3" fmla="*/ 137528 h 3429000"/>
                <a:gd name="connsiteX4" fmla="*/ 1375283 w 1375283"/>
                <a:gd name="connsiteY4" fmla="*/ 3291472 h 3429000"/>
                <a:gd name="connsiteX5" fmla="*/ 1237755 w 1375283"/>
                <a:gd name="connsiteY5" fmla="*/ 3429000 h 3429000"/>
                <a:gd name="connsiteX6" fmla="*/ 137528 w 1375283"/>
                <a:gd name="connsiteY6" fmla="*/ 3429000 h 3429000"/>
                <a:gd name="connsiteX7" fmla="*/ 0 w 1375283"/>
                <a:gd name="connsiteY7" fmla="*/ 3291472 h 3429000"/>
                <a:gd name="connsiteX8" fmla="*/ 0 w 1375283"/>
                <a:gd name="connsiteY8" fmla="*/ 13752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283" h="3429000">
                  <a:moveTo>
                    <a:pt x="0" y="137528"/>
                  </a:moveTo>
                  <a:cubicBezTo>
                    <a:pt x="0" y="61573"/>
                    <a:pt x="61573" y="0"/>
                    <a:pt x="137528" y="0"/>
                  </a:cubicBezTo>
                  <a:lnTo>
                    <a:pt x="1237755" y="0"/>
                  </a:lnTo>
                  <a:cubicBezTo>
                    <a:pt x="1313710" y="0"/>
                    <a:pt x="1375283" y="61573"/>
                    <a:pt x="1375283" y="137528"/>
                  </a:cubicBezTo>
                  <a:lnTo>
                    <a:pt x="1375283" y="3291472"/>
                  </a:lnTo>
                  <a:cubicBezTo>
                    <a:pt x="1375283" y="3367427"/>
                    <a:pt x="1313710" y="3429000"/>
                    <a:pt x="1237755" y="3429000"/>
                  </a:cubicBezTo>
                  <a:lnTo>
                    <a:pt x="137528" y="3429000"/>
                  </a:lnTo>
                  <a:cubicBezTo>
                    <a:pt x="61573" y="3429000"/>
                    <a:pt x="0" y="3367427"/>
                    <a:pt x="0" y="3291472"/>
                  </a:cubicBezTo>
                  <a:lnTo>
                    <a:pt x="0" y="137528"/>
                  </a:lnTo>
                  <a:close/>
                </a:path>
              </a:pathLst>
            </a:custGeom>
            <a:solidFill>
              <a:srgbClr val="2582C1"/>
            </a:solidFill>
            <a:ln>
              <a:noFill/>
            </a:ln>
            <a:effectLst>
              <a:outerShdw blurRad="50800" dist="38100" dir="5400000" algn="t" rotWithShape="0">
                <a:prstClr val="black">
                  <a:alpha val="40000"/>
                </a:prstClr>
              </a:outerShdw>
            </a:effectLst>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99568" tIns="1471168" rIns="99568" bIns="785368" numCol="1" spcCol="1270" anchor="t" anchorCtr="1">
              <a:noAutofit/>
            </a:bodyPr>
            <a:lstStyle/>
            <a:p>
              <a:pPr lvl="0" algn="l" defTabSz="622300">
                <a:lnSpc>
                  <a:spcPct val="90000"/>
                </a:lnSpc>
                <a:spcBef>
                  <a:spcPct val="0"/>
                </a:spcBef>
                <a:spcAft>
                  <a:spcPct val="35000"/>
                </a:spcAft>
              </a:pPr>
              <a:r>
                <a:rPr lang="ru-RU" sz="1200" b="1" i="0" dirty="0">
                  <a:solidFill>
                    <a:srgbClr val="FFFFFF"/>
                  </a:solidFill>
                  <a:latin typeface="Arial" pitchFamily="34" charset="0"/>
                  <a:cs typeface="Arial" pitchFamily="34" charset="0"/>
                </a:rPr>
                <a:t>Многообразие</a:t>
              </a: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Разнообразные данные из многочисленных источников</a:t>
              </a:r>
            </a:p>
            <a:p>
              <a:pPr marL="0" lvl="1" algn="l" defTabSz="533400">
                <a:lnSpc>
                  <a:spcPct val="90000"/>
                </a:lnSpc>
                <a:spcBef>
                  <a:spcPct val="0"/>
                </a:spcBef>
                <a:spcAft>
                  <a:spcPct val="15000"/>
                </a:spcAft>
              </a:pPr>
              <a:endParaRPr lang="en-US" sz="1000" kern="1200" dirty="0">
                <a:latin typeface="Arial" pitchFamily="34" charset="0"/>
                <a:cs typeface="Arial" pitchFamily="34" charset="0"/>
              </a:endParaRP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Сложности интеграции и анализа</a:t>
              </a:r>
            </a:p>
          </p:txBody>
        </p:sp>
        <p:sp>
          <p:nvSpPr>
            <p:cNvPr id="14" name="Oval 13"/>
            <p:cNvSpPr/>
            <p:nvPr/>
          </p:nvSpPr>
          <p:spPr>
            <a:xfrm>
              <a:off x="3329313" y="1121306"/>
              <a:ext cx="1141857" cy="1141857"/>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15" name="Freeform 14"/>
            <p:cNvSpPr/>
            <p:nvPr/>
          </p:nvSpPr>
          <p:spPr>
            <a:xfrm>
              <a:off x="4629142" y="915566"/>
              <a:ext cx="1375283" cy="3429000"/>
            </a:xfrm>
            <a:custGeom>
              <a:avLst/>
              <a:gdLst>
                <a:gd name="connsiteX0" fmla="*/ 0 w 1375283"/>
                <a:gd name="connsiteY0" fmla="*/ 137528 h 3429000"/>
                <a:gd name="connsiteX1" fmla="*/ 137528 w 1375283"/>
                <a:gd name="connsiteY1" fmla="*/ 0 h 3429000"/>
                <a:gd name="connsiteX2" fmla="*/ 1237755 w 1375283"/>
                <a:gd name="connsiteY2" fmla="*/ 0 h 3429000"/>
                <a:gd name="connsiteX3" fmla="*/ 1375283 w 1375283"/>
                <a:gd name="connsiteY3" fmla="*/ 137528 h 3429000"/>
                <a:gd name="connsiteX4" fmla="*/ 1375283 w 1375283"/>
                <a:gd name="connsiteY4" fmla="*/ 3291472 h 3429000"/>
                <a:gd name="connsiteX5" fmla="*/ 1237755 w 1375283"/>
                <a:gd name="connsiteY5" fmla="*/ 3429000 h 3429000"/>
                <a:gd name="connsiteX6" fmla="*/ 137528 w 1375283"/>
                <a:gd name="connsiteY6" fmla="*/ 3429000 h 3429000"/>
                <a:gd name="connsiteX7" fmla="*/ 0 w 1375283"/>
                <a:gd name="connsiteY7" fmla="*/ 3291472 h 3429000"/>
                <a:gd name="connsiteX8" fmla="*/ 0 w 1375283"/>
                <a:gd name="connsiteY8" fmla="*/ 13752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283" h="3429000">
                  <a:moveTo>
                    <a:pt x="0" y="137528"/>
                  </a:moveTo>
                  <a:cubicBezTo>
                    <a:pt x="0" y="61573"/>
                    <a:pt x="61573" y="0"/>
                    <a:pt x="137528" y="0"/>
                  </a:cubicBezTo>
                  <a:lnTo>
                    <a:pt x="1237755" y="0"/>
                  </a:lnTo>
                  <a:cubicBezTo>
                    <a:pt x="1313710" y="0"/>
                    <a:pt x="1375283" y="61573"/>
                    <a:pt x="1375283" y="137528"/>
                  </a:cubicBezTo>
                  <a:lnTo>
                    <a:pt x="1375283" y="3291472"/>
                  </a:lnTo>
                  <a:cubicBezTo>
                    <a:pt x="1375283" y="3367427"/>
                    <a:pt x="1313710" y="3429000"/>
                    <a:pt x="1237755" y="3429000"/>
                  </a:cubicBezTo>
                  <a:lnTo>
                    <a:pt x="137528" y="3429000"/>
                  </a:lnTo>
                  <a:cubicBezTo>
                    <a:pt x="61573" y="3429000"/>
                    <a:pt x="0" y="3367427"/>
                    <a:pt x="0" y="3291472"/>
                  </a:cubicBezTo>
                  <a:lnTo>
                    <a:pt x="0" y="137528"/>
                  </a:lnTo>
                  <a:close/>
                </a:path>
              </a:pathLst>
            </a:custGeom>
            <a:solidFill>
              <a:srgbClr val="3691D7"/>
            </a:solidFill>
            <a:ln>
              <a:noFill/>
            </a:ln>
            <a:effectLst>
              <a:outerShdw blurRad="50800" dist="38100" dir="5400000" algn="t" rotWithShape="0">
                <a:prstClr val="black">
                  <a:alpha val="40000"/>
                </a:prstClr>
              </a:outerShdw>
            </a:effectLst>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99568" tIns="1471168" rIns="99568" bIns="785368" numCol="1" spcCol="1270" anchor="t" anchorCtr="1">
              <a:noAutofit/>
            </a:bodyPr>
            <a:lstStyle/>
            <a:p>
              <a:pPr lvl="0" algn="l" defTabSz="622300">
                <a:lnSpc>
                  <a:spcPct val="90000"/>
                </a:lnSpc>
                <a:spcBef>
                  <a:spcPct val="0"/>
                </a:spcBef>
                <a:spcAft>
                  <a:spcPct val="35000"/>
                </a:spcAft>
              </a:pPr>
              <a:r>
                <a:rPr lang="ru-RU" sz="1200" b="1" i="0" dirty="0">
                  <a:solidFill>
                    <a:srgbClr val="FFFFFF"/>
                  </a:solidFill>
                  <a:latin typeface="Arial" pitchFamily="34" charset="0"/>
                  <a:cs typeface="Arial" pitchFamily="34" charset="0"/>
                </a:rPr>
                <a:t>Изменчивость</a:t>
              </a: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Постоянно изменяющееся значение данных</a:t>
              </a:r>
            </a:p>
            <a:p>
              <a:pPr marL="0" lvl="1" algn="l" defTabSz="533400">
                <a:lnSpc>
                  <a:spcPct val="90000"/>
                </a:lnSpc>
                <a:spcBef>
                  <a:spcPct val="0"/>
                </a:spcBef>
                <a:spcAft>
                  <a:spcPct val="15000"/>
                </a:spcAft>
              </a:pPr>
              <a:endParaRPr lang="en-US" sz="1000" kern="1200" dirty="0">
                <a:solidFill>
                  <a:schemeClr val="bg1"/>
                </a:solidFill>
                <a:latin typeface="Arial" pitchFamily="34" charset="0"/>
                <a:cs typeface="Arial" pitchFamily="34" charset="0"/>
              </a:endParaRP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Сложности сбора и интерпретации</a:t>
              </a:r>
            </a:p>
          </p:txBody>
        </p:sp>
        <p:sp>
          <p:nvSpPr>
            <p:cNvPr id="16" name="Oval 15"/>
            <p:cNvSpPr/>
            <p:nvPr/>
          </p:nvSpPr>
          <p:spPr>
            <a:xfrm>
              <a:off x="4745855" y="1121306"/>
              <a:ext cx="1141857" cy="1141857"/>
            </a:xfrm>
            <a:prstGeom prst="ellipse">
              <a:avLst/>
            </a:prstGeom>
            <a:blipFill dpi="0" rotWithShape="1">
              <a:blip r:embed="rId7">
                <a:extLst>
                  <a:ext uri="{28A0092B-C50C-407E-A947-70E740481C1C}">
                    <a14:useLocalDpi xmlns:a14="http://schemas.microsoft.com/office/drawing/2010/main" val="0"/>
                  </a:ext>
                </a:extLst>
              </a:blip>
              <a:srcRect/>
              <a:stretch>
                <a:fillRect l="-5661" r="-5661"/>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17" name="Freeform 16"/>
            <p:cNvSpPr/>
            <p:nvPr/>
          </p:nvSpPr>
          <p:spPr>
            <a:xfrm>
              <a:off x="6045684" y="915566"/>
              <a:ext cx="1375283" cy="3429000"/>
            </a:xfrm>
            <a:custGeom>
              <a:avLst/>
              <a:gdLst>
                <a:gd name="connsiteX0" fmla="*/ 0 w 1375283"/>
                <a:gd name="connsiteY0" fmla="*/ 137528 h 3429000"/>
                <a:gd name="connsiteX1" fmla="*/ 137528 w 1375283"/>
                <a:gd name="connsiteY1" fmla="*/ 0 h 3429000"/>
                <a:gd name="connsiteX2" fmla="*/ 1237755 w 1375283"/>
                <a:gd name="connsiteY2" fmla="*/ 0 h 3429000"/>
                <a:gd name="connsiteX3" fmla="*/ 1375283 w 1375283"/>
                <a:gd name="connsiteY3" fmla="*/ 137528 h 3429000"/>
                <a:gd name="connsiteX4" fmla="*/ 1375283 w 1375283"/>
                <a:gd name="connsiteY4" fmla="*/ 3291472 h 3429000"/>
                <a:gd name="connsiteX5" fmla="*/ 1237755 w 1375283"/>
                <a:gd name="connsiteY5" fmla="*/ 3429000 h 3429000"/>
                <a:gd name="connsiteX6" fmla="*/ 137528 w 1375283"/>
                <a:gd name="connsiteY6" fmla="*/ 3429000 h 3429000"/>
                <a:gd name="connsiteX7" fmla="*/ 0 w 1375283"/>
                <a:gd name="connsiteY7" fmla="*/ 3291472 h 3429000"/>
                <a:gd name="connsiteX8" fmla="*/ 0 w 1375283"/>
                <a:gd name="connsiteY8" fmla="*/ 13752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283" h="3429000">
                  <a:moveTo>
                    <a:pt x="0" y="137528"/>
                  </a:moveTo>
                  <a:cubicBezTo>
                    <a:pt x="0" y="61573"/>
                    <a:pt x="61573" y="0"/>
                    <a:pt x="137528" y="0"/>
                  </a:cubicBezTo>
                  <a:lnTo>
                    <a:pt x="1237755" y="0"/>
                  </a:lnTo>
                  <a:cubicBezTo>
                    <a:pt x="1313710" y="0"/>
                    <a:pt x="1375283" y="61573"/>
                    <a:pt x="1375283" y="137528"/>
                  </a:cubicBezTo>
                  <a:lnTo>
                    <a:pt x="1375283" y="3291472"/>
                  </a:lnTo>
                  <a:cubicBezTo>
                    <a:pt x="1375283" y="3367427"/>
                    <a:pt x="1313710" y="3429000"/>
                    <a:pt x="1237755" y="3429000"/>
                  </a:cubicBezTo>
                  <a:lnTo>
                    <a:pt x="137528" y="3429000"/>
                  </a:lnTo>
                  <a:cubicBezTo>
                    <a:pt x="61573" y="3429000"/>
                    <a:pt x="0" y="3367427"/>
                    <a:pt x="0" y="3291472"/>
                  </a:cubicBezTo>
                  <a:lnTo>
                    <a:pt x="0" y="137528"/>
                  </a:lnTo>
                  <a:close/>
                </a:path>
              </a:pathLst>
            </a:custGeom>
            <a:solidFill>
              <a:srgbClr val="4F9ADB"/>
            </a:solidFill>
            <a:ln>
              <a:noFill/>
            </a:ln>
            <a:effectLst>
              <a:outerShdw blurRad="50800" dist="38100" dir="5400000" algn="t" rotWithShape="0">
                <a:prstClr val="black">
                  <a:alpha val="40000"/>
                </a:prstClr>
              </a:outerShdw>
            </a:effectLst>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99568" tIns="1471168" rIns="99568" bIns="785368" numCol="1" spcCol="1270" anchor="t" anchorCtr="1">
              <a:noAutofit/>
            </a:bodyPr>
            <a:lstStyle/>
            <a:p>
              <a:pPr lvl="0" algn="l" defTabSz="622300">
                <a:lnSpc>
                  <a:spcPct val="90000"/>
                </a:lnSpc>
                <a:spcBef>
                  <a:spcPct val="0"/>
                </a:spcBef>
                <a:spcAft>
                  <a:spcPct val="35000"/>
                </a:spcAft>
              </a:pPr>
              <a:r>
                <a:rPr lang="ru-RU" sz="1200" b="1" i="0" dirty="0">
                  <a:solidFill>
                    <a:srgbClr val="FFFFFF"/>
                  </a:solidFill>
                  <a:latin typeface="Arial" pitchFamily="34" charset="0"/>
                  <a:cs typeface="Arial" pitchFamily="34" charset="0"/>
                </a:rPr>
                <a:t>Достоверность</a:t>
              </a:r>
            </a:p>
            <a:p>
              <a:pPr marL="114300" lvl="1" indent="-114300"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Различное качество и надежность данных</a:t>
              </a:r>
            </a:p>
            <a:p>
              <a:pPr marL="0" lvl="1" algn="l" defTabSz="533400">
                <a:lnSpc>
                  <a:spcPct val="90000"/>
                </a:lnSpc>
                <a:spcBef>
                  <a:spcPct val="0"/>
                </a:spcBef>
                <a:spcAft>
                  <a:spcPct val="15000"/>
                </a:spcAft>
              </a:pPr>
              <a:endParaRPr lang="en-US" sz="1000" b="1" kern="1200" dirty="0">
                <a:latin typeface="Arial" pitchFamily="34" charset="0"/>
                <a:cs typeface="Arial" pitchFamily="34" charset="0"/>
              </a:endParaRP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Сложности при трансформации и обеспечении защиты данных</a:t>
              </a:r>
            </a:p>
          </p:txBody>
        </p:sp>
        <p:sp>
          <p:nvSpPr>
            <p:cNvPr id="18" name="Oval 17"/>
            <p:cNvSpPr/>
            <p:nvPr/>
          </p:nvSpPr>
          <p:spPr>
            <a:xfrm>
              <a:off x="6162397" y="1121306"/>
              <a:ext cx="1141857" cy="1141857"/>
            </a:xfrm>
            <a:prstGeom prst="ellipse">
              <a:avLst/>
            </a:prstGeom>
            <a:blipFill>
              <a:blip r:embed="rId8">
                <a:extLst>
                  <a:ext uri="{28A0092B-C50C-407E-A947-70E740481C1C}">
                    <a14:useLocalDpi xmlns:a14="http://schemas.microsoft.com/office/drawing/2010/main" val="0"/>
                  </a:ext>
                </a:extLst>
              </a:blip>
              <a:srcRect/>
              <a:stretch>
                <a:fillRect/>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19" name="Freeform 18"/>
            <p:cNvSpPr/>
            <p:nvPr/>
          </p:nvSpPr>
          <p:spPr>
            <a:xfrm>
              <a:off x="7462226" y="915566"/>
              <a:ext cx="1375283" cy="3429000"/>
            </a:xfrm>
            <a:custGeom>
              <a:avLst/>
              <a:gdLst>
                <a:gd name="connsiteX0" fmla="*/ 0 w 1375283"/>
                <a:gd name="connsiteY0" fmla="*/ 137528 h 3429000"/>
                <a:gd name="connsiteX1" fmla="*/ 137528 w 1375283"/>
                <a:gd name="connsiteY1" fmla="*/ 0 h 3429000"/>
                <a:gd name="connsiteX2" fmla="*/ 1237755 w 1375283"/>
                <a:gd name="connsiteY2" fmla="*/ 0 h 3429000"/>
                <a:gd name="connsiteX3" fmla="*/ 1375283 w 1375283"/>
                <a:gd name="connsiteY3" fmla="*/ 137528 h 3429000"/>
                <a:gd name="connsiteX4" fmla="*/ 1375283 w 1375283"/>
                <a:gd name="connsiteY4" fmla="*/ 3291472 h 3429000"/>
                <a:gd name="connsiteX5" fmla="*/ 1237755 w 1375283"/>
                <a:gd name="connsiteY5" fmla="*/ 3429000 h 3429000"/>
                <a:gd name="connsiteX6" fmla="*/ 137528 w 1375283"/>
                <a:gd name="connsiteY6" fmla="*/ 3429000 h 3429000"/>
                <a:gd name="connsiteX7" fmla="*/ 0 w 1375283"/>
                <a:gd name="connsiteY7" fmla="*/ 3291472 h 3429000"/>
                <a:gd name="connsiteX8" fmla="*/ 0 w 1375283"/>
                <a:gd name="connsiteY8" fmla="*/ 13752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283" h="3429000">
                  <a:moveTo>
                    <a:pt x="0" y="137528"/>
                  </a:moveTo>
                  <a:cubicBezTo>
                    <a:pt x="0" y="61573"/>
                    <a:pt x="61573" y="0"/>
                    <a:pt x="137528" y="0"/>
                  </a:cubicBezTo>
                  <a:lnTo>
                    <a:pt x="1237755" y="0"/>
                  </a:lnTo>
                  <a:cubicBezTo>
                    <a:pt x="1313710" y="0"/>
                    <a:pt x="1375283" y="61573"/>
                    <a:pt x="1375283" y="137528"/>
                  </a:cubicBezTo>
                  <a:lnTo>
                    <a:pt x="1375283" y="3291472"/>
                  </a:lnTo>
                  <a:cubicBezTo>
                    <a:pt x="1375283" y="3367427"/>
                    <a:pt x="1313710" y="3429000"/>
                    <a:pt x="1237755" y="3429000"/>
                  </a:cubicBezTo>
                  <a:lnTo>
                    <a:pt x="137528" y="3429000"/>
                  </a:lnTo>
                  <a:cubicBezTo>
                    <a:pt x="61573" y="3429000"/>
                    <a:pt x="0" y="3367427"/>
                    <a:pt x="0" y="3291472"/>
                  </a:cubicBezTo>
                  <a:lnTo>
                    <a:pt x="0" y="137528"/>
                  </a:lnTo>
                  <a:close/>
                </a:path>
              </a:pathLst>
            </a:custGeom>
            <a:solidFill>
              <a:srgbClr val="68A5DF"/>
            </a:solidFill>
            <a:ln>
              <a:noFill/>
            </a:ln>
            <a:effectLst>
              <a:outerShdw blurRad="50800" dist="38100" dir="5400000" algn="t" rotWithShape="0">
                <a:prstClr val="black">
                  <a:alpha val="40000"/>
                </a:prstClr>
              </a:outerShdw>
            </a:effectLst>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99568" tIns="1471168" rIns="99568" bIns="785368" numCol="1" spcCol="1270" anchor="t" anchorCtr="1">
              <a:noAutofit/>
            </a:bodyPr>
            <a:lstStyle/>
            <a:p>
              <a:pPr lvl="0" algn="l" defTabSz="622300">
                <a:lnSpc>
                  <a:spcPct val="90000"/>
                </a:lnSpc>
                <a:spcBef>
                  <a:spcPct val="0"/>
                </a:spcBef>
                <a:spcAft>
                  <a:spcPct val="35000"/>
                </a:spcAft>
              </a:pPr>
              <a:r>
                <a:rPr lang="ru-RU" sz="1200" b="1" i="0" dirty="0">
                  <a:solidFill>
                    <a:srgbClr val="FFFFFF"/>
                  </a:solidFill>
                  <a:latin typeface="Arial" pitchFamily="34" charset="0"/>
                  <a:cs typeface="Arial" pitchFamily="34" charset="0"/>
                </a:rPr>
                <a:t>Значение</a:t>
              </a:r>
            </a:p>
            <a:p>
              <a:pPr marL="114300" lvl="1" indent="-114300" algn="l" defTabSz="533400">
                <a:lnSpc>
                  <a:spcPct val="90000"/>
                </a:lnSpc>
                <a:spcBef>
                  <a:spcPct val="0"/>
                </a:spcBef>
                <a:spcAft>
                  <a:spcPct val="15000"/>
                </a:spcAft>
                <a:buChar char="••"/>
              </a:pPr>
              <a:r>
                <a:rPr lang="ru-RU" sz="1000" b="0" i="0" dirty="0">
                  <a:solidFill>
                    <a:srgbClr val="FFFFFF"/>
                  </a:solidFill>
                  <a:latin typeface="Arial" pitchFamily="34" charset="0"/>
                  <a:cs typeface="Arial" pitchFamily="34" charset="0"/>
                </a:rPr>
                <a:t>Экономичность и преимущества для бизнеса</a:t>
              </a:r>
            </a:p>
          </p:txBody>
        </p:sp>
        <p:sp>
          <p:nvSpPr>
            <p:cNvPr id="20" name="Oval 19"/>
            <p:cNvSpPr/>
            <p:nvPr/>
          </p:nvSpPr>
          <p:spPr>
            <a:xfrm>
              <a:off x="7578939" y="1121306"/>
              <a:ext cx="1141857" cy="1141857"/>
            </a:xfrm>
            <a:prstGeom prst="ellipse">
              <a:avLst/>
            </a:prstGeom>
            <a:blipFill dpi="0" rotWithShape="1">
              <a:blip r:embed="rId9">
                <a:extLst>
                  <a:ext uri="{28A0092B-C50C-407E-A947-70E740481C1C}">
                    <a14:useLocalDpi xmlns:a14="http://schemas.microsoft.com/office/drawing/2010/main" val="0"/>
                  </a:ext>
                </a:extLst>
              </a:blip>
              <a:srcRect/>
              <a:stretch>
                <a:fillRect t="-280" b="-28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
        <p:nvSpPr>
          <p:cNvPr id="21" name="TextBox 2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944820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a:rPr>
              <a:t>Репозитории</a:t>
            </a:r>
            <a:r>
              <a:rPr lang="ru-RU" sz="2800" b="0" i="0" dirty="0">
                <a:solidFill>
                  <a:srgbClr val="2C95DD"/>
                </a:solidFill>
              </a:rPr>
              <a:t> </a:t>
            </a:r>
            <a:r>
              <a:rPr lang="ru-RU" sz="2800" b="0" i="0" dirty="0">
                <a:solidFill>
                  <a:srgbClr val="2C95DD"/>
                </a:solidFill>
                <a:latin typeface="Arial"/>
              </a:rPr>
              <a:t>данных</a:t>
            </a:r>
          </a:p>
        </p:txBody>
      </p:sp>
      <p:sp>
        <p:nvSpPr>
          <p:cNvPr id="3" name="Content Placeholder 2"/>
          <p:cNvSpPr>
            <a:spLocks noGrp="1"/>
          </p:cNvSpPr>
          <p:nvPr>
            <p:ph sz="quarter" idx="10"/>
          </p:nvPr>
        </p:nvSpPr>
        <p:spPr>
          <a:xfrm>
            <a:off x="182544" y="990600"/>
            <a:ext cx="8829152" cy="3429000"/>
          </a:xfrm>
        </p:spPr>
        <p:txBody>
          <a:bodyPr/>
          <a:lstStyle/>
          <a:p>
            <a:r>
              <a:rPr lang="ru-RU" sz="1800" b="0" i="0" dirty="0">
                <a:solidFill>
                  <a:srgbClr val="000000"/>
                </a:solidFill>
                <a:latin typeface="Arial"/>
              </a:rPr>
              <a:t>Данные</a:t>
            </a:r>
            <a:r>
              <a:rPr lang="ru-RU" sz="1800" b="0" i="0" dirty="0">
                <a:solidFill>
                  <a:srgbClr val="000000"/>
                </a:solidFill>
              </a:rPr>
              <a:t> </a:t>
            </a:r>
            <a:r>
              <a:rPr lang="ru-RU" sz="1800" b="0" i="0" dirty="0">
                <a:solidFill>
                  <a:srgbClr val="000000"/>
                </a:solidFill>
                <a:latin typeface="Arial"/>
              </a:rPr>
              <a:t>для</a:t>
            </a:r>
            <a:r>
              <a:rPr lang="ru-RU" sz="1800" b="0" i="0" dirty="0">
                <a:solidFill>
                  <a:srgbClr val="000000"/>
                </a:solidFill>
              </a:rPr>
              <a:t> </a:t>
            </a:r>
            <a:r>
              <a:rPr lang="ru-RU" sz="1800" b="0" i="0" dirty="0">
                <a:solidFill>
                  <a:srgbClr val="000000"/>
                </a:solidFill>
                <a:latin typeface="Arial"/>
              </a:rPr>
              <a:t>аналитики</a:t>
            </a:r>
            <a:r>
              <a:rPr lang="ru-RU" sz="1800" b="0" i="0" dirty="0">
                <a:solidFill>
                  <a:srgbClr val="000000"/>
                </a:solidFill>
              </a:rPr>
              <a:t> </a:t>
            </a:r>
            <a:r>
              <a:rPr lang="ru-RU" sz="1800" b="0" i="0" dirty="0">
                <a:solidFill>
                  <a:srgbClr val="000000"/>
                </a:solidFill>
                <a:latin typeface="Arial"/>
              </a:rPr>
              <a:t>обычно</a:t>
            </a:r>
            <a:r>
              <a:rPr lang="ru-RU" sz="1800" b="0" i="0" dirty="0">
                <a:solidFill>
                  <a:srgbClr val="000000"/>
                </a:solidFill>
              </a:rPr>
              <a:t> </a:t>
            </a:r>
            <a:r>
              <a:rPr lang="ru-RU" sz="1800" b="0" i="0" dirty="0">
                <a:solidFill>
                  <a:srgbClr val="000000"/>
                </a:solidFill>
                <a:latin typeface="Arial"/>
              </a:rPr>
              <a:t>берутся</a:t>
            </a:r>
            <a:r>
              <a:rPr lang="ru-RU" sz="1800" b="0" i="0" dirty="0">
                <a:solidFill>
                  <a:srgbClr val="000000"/>
                </a:solidFill>
              </a:rPr>
              <a:t> </a:t>
            </a:r>
            <a:r>
              <a:rPr lang="ru-RU" sz="1800" b="0" i="0" dirty="0">
                <a:solidFill>
                  <a:srgbClr val="000000"/>
                </a:solidFill>
                <a:latin typeface="Arial"/>
              </a:rPr>
              <a:t>из</a:t>
            </a:r>
            <a:r>
              <a:rPr lang="ru-RU" sz="1800" b="0" i="0" dirty="0">
                <a:solidFill>
                  <a:srgbClr val="000000"/>
                </a:solidFill>
              </a:rPr>
              <a:t> </a:t>
            </a:r>
            <a:r>
              <a:rPr lang="ru-RU" sz="1800" b="0" i="0" dirty="0">
                <a:solidFill>
                  <a:srgbClr val="000000"/>
                </a:solidFill>
                <a:latin typeface="Arial"/>
              </a:rPr>
              <a:t>хранилищ</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 </a:t>
            </a:r>
            <a:r>
              <a:rPr lang="ru-RU" sz="1800" b="0" i="0" dirty="0">
                <a:solidFill>
                  <a:srgbClr val="000000"/>
                </a:solidFill>
                <a:latin typeface="Arial"/>
              </a:rPr>
              <a:t>и</a:t>
            </a:r>
            <a:r>
              <a:rPr lang="ru-RU" sz="1800" b="0" i="0" dirty="0">
                <a:solidFill>
                  <a:srgbClr val="000000"/>
                </a:solidFill>
              </a:rPr>
              <a:t> «</a:t>
            </a:r>
            <a:r>
              <a:rPr lang="ru-RU" sz="1800" b="0" i="0" dirty="0">
                <a:solidFill>
                  <a:srgbClr val="000000"/>
                </a:solidFill>
                <a:latin typeface="Arial"/>
              </a:rPr>
              <a:t>озер</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a:t>
            </a:r>
          </a:p>
          <a:p>
            <a:r>
              <a:rPr lang="ru-RU" sz="1800" b="0" i="0" dirty="0">
                <a:solidFill>
                  <a:srgbClr val="000000"/>
                </a:solidFill>
                <a:latin typeface="Arial"/>
              </a:rPr>
              <a:t>Хранилище</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 </a:t>
            </a:r>
            <a:r>
              <a:rPr lang="ru-RU" sz="1800" b="0" i="0" dirty="0">
                <a:solidFill>
                  <a:srgbClr val="000000"/>
                </a:solidFill>
                <a:latin typeface="Arial"/>
              </a:rPr>
              <a:t>—</a:t>
            </a:r>
            <a:r>
              <a:rPr lang="ru-RU" sz="1800" b="0" i="0" dirty="0">
                <a:solidFill>
                  <a:srgbClr val="000000"/>
                </a:solidFill>
              </a:rPr>
              <a:t> </a:t>
            </a:r>
            <a:r>
              <a:rPr lang="ru-RU" sz="1800" b="0" i="0" dirty="0">
                <a:solidFill>
                  <a:srgbClr val="000000"/>
                </a:solidFill>
                <a:latin typeface="Arial"/>
              </a:rPr>
              <a:t>это</a:t>
            </a:r>
            <a:r>
              <a:rPr lang="ru-RU" sz="1800" b="0" i="0" dirty="0">
                <a:solidFill>
                  <a:srgbClr val="000000"/>
                </a:solidFill>
              </a:rPr>
              <a:t> </a:t>
            </a:r>
            <a:r>
              <a:rPr lang="ru-RU" sz="1800" b="0" i="0" dirty="0">
                <a:solidFill>
                  <a:srgbClr val="000000"/>
                </a:solidFill>
                <a:latin typeface="Arial"/>
              </a:rPr>
              <a:t>централизованное</a:t>
            </a:r>
            <a:r>
              <a:rPr lang="ru-RU" sz="1800" b="0" i="0" dirty="0">
                <a:solidFill>
                  <a:srgbClr val="000000"/>
                </a:solidFill>
              </a:rPr>
              <a:t> </a:t>
            </a:r>
            <a:r>
              <a:rPr lang="ru-RU" sz="1800" b="0" i="0" dirty="0">
                <a:solidFill>
                  <a:srgbClr val="000000"/>
                </a:solidFill>
                <a:latin typeface="Arial"/>
              </a:rPr>
              <a:t>хранилище</a:t>
            </a:r>
            <a:r>
              <a:rPr lang="ru-RU" sz="1800" b="0" i="0" dirty="0">
                <a:solidFill>
                  <a:srgbClr val="000000"/>
                </a:solidFill>
              </a:rPr>
              <a:t> </a:t>
            </a:r>
            <a:r>
              <a:rPr lang="ru-RU" sz="1800" b="0" i="0" dirty="0">
                <a:solidFill>
                  <a:srgbClr val="000000"/>
                </a:solidFill>
                <a:latin typeface="Arial"/>
              </a:rPr>
              <a:t>интегрированных</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 </a:t>
            </a:r>
            <a:r>
              <a:rPr lang="ru-RU" sz="1800" b="0" i="0" dirty="0">
                <a:solidFill>
                  <a:srgbClr val="000000"/>
                </a:solidFill>
                <a:latin typeface="Arial"/>
              </a:rPr>
              <a:t>собранных</a:t>
            </a:r>
            <a:r>
              <a:rPr lang="ru-RU" sz="1800" b="0" i="0" dirty="0">
                <a:solidFill>
                  <a:srgbClr val="000000"/>
                </a:solidFill>
              </a:rPr>
              <a:t> </a:t>
            </a:r>
            <a:r>
              <a:rPr lang="ru-RU" sz="1800" b="0" i="0" dirty="0">
                <a:solidFill>
                  <a:srgbClr val="000000"/>
                </a:solidFill>
                <a:latin typeface="Arial"/>
              </a:rPr>
              <a:t>из</a:t>
            </a:r>
            <a:r>
              <a:rPr lang="ru-RU" sz="1800" b="0" i="0" dirty="0">
                <a:solidFill>
                  <a:srgbClr val="000000"/>
                </a:solidFill>
              </a:rPr>
              <a:t> </a:t>
            </a:r>
            <a:r>
              <a:rPr lang="ru-RU" sz="1800" b="0" i="0" dirty="0">
                <a:solidFill>
                  <a:srgbClr val="000000"/>
                </a:solidFill>
                <a:latin typeface="Arial"/>
              </a:rPr>
              <a:t>различных</a:t>
            </a:r>
            <a:r>
              <a:rPr lang="ru-RU" sz="1800" b="0" i="0" dirty="0">
                <a:solidFill>
                  <a:srgbClr val="000000"/>
                </a:solidFill>
              </a:rPr>
              <a:t> </a:t>
            </a:r>
            <a:r>
              <a:rPr lang="ru-RU" sz="1800" b="0" i="0" dirty="0">
                <a:solidFill>
                  <a:srgbClr val="000000"/>
                </a:solidFill>
                <a:latin typeface="Arial"/>
              </a:rPr>
              <a:t>источников</a:t>
            </a:r>
          </a:p>
          <a:p>
            <a:pPr lvl="1"/>
            <a:r>
              <a:rPr lang="ru-RU" sz="1600" b="0" i="0" dirty="0">
                <a:solidFill>
                  <a:srgbClr val="000000"/>
                </a:solidFill>
                <a:latin typeface="Arial"/>
              </a:rPr>
              <a:t>Хранит</a:t>
            </a:r>
            <a:r>
              <a:rPr lang="ru-RU" sz="1600" b="0" i="0" dirty="0">
                <a:solidFill>
                  <a:srgbClr val="000000"/>
                </a:solidFill>
              </a:rPr>
              <a:t> </a:t>
            </a:r>
            <a:r>
              <a:rPr lang="ru-RU" sz="1600" b="0" i="0" dirty="0">
                <a:solidFill>
                  <a:srgbClr val="000000"/>
                </a:solidFill>
                <a:latin typeface="Arial"/>
              </a:rPr>
              <a:t>текущие</a:t>
            </a:r>
            <a:r>
              <a:rPr lang="ru-RU" sz="1600" b="0" i="0" dirty="0">
                <a:solidFill>
                  <a:srgbClr val="000000"/>
                </a:solidFill>
              </a:rPr>
              <a:t> </a:t>
            </a:r>
            <a:r>
              <a:rPr lang="ru-RU" sz="1600" b="0" i="0" dirty="0">
                <a:solidFill>
                  <a:srgbClr val="000000"/>
                </a:solidFill>
                <a:latin typeface="Arial"/>
              </a:rPr>
              <a:t>и</a:t>
            </a:r>
            <a:r>
              <a:rPr lang="ru-RU" sz="1600" b="0" i="0" dirty="0">
                <a:solidFill>
                  <a:srgbClr val="000000"/>
                </a:solidFill>
              </a:rPr>
              <a:t> </a:t>
            </a:r>
            <a:r>
              <a:rPr lang="ru-RU" sz="1600" b="0" i="0" dirty="0">
                <a:solidFill>
                  <a:srgbClr val="000000"/>
                </a:solidFill>
                <a:latin typeface="Arial"/>
              </a:rPr>
              <a:t>исторические</a:t>
            </a:r>
            <a:r>
              <a:rPr lang="ru-RU" sz="1600" b="0" i="0" dirty="0">
                <a:solidFill>
                  <a:srgbClr val="000000"/>
                </a:solidFill>
              </a:rPr>
              <a:t> </a:t>
            </a:r>
            <a:r>
              <a:rPr lang="ru-RU" sz="1600" b="0" i="0" dirty="0">
                <a:solidFill>
                  <a:srgbClr val="000000"/>
                </a:solidFill>
                <a:latin typeface="Arial"/>
              </a:rPr>
              <a:t>данные</a:t>
            </a:r>
            <a:r>
              <a:rPr lang="ru-RU" sz="1600" b="0" i="0" dirty="0">
                <a:solidFill>
                  <a:srgbClr val="000000"/>
                </a:solidFill>
              </a:rPr>
              <a:t> </a:t>
            </a:r>
            <a:r>
              <a:rPr lang="ru-RU" sz="1600" b="0" i="0" dirty="0">
                <a:solidFill>
                  <a:srgbClr val="000000"/>
                </a:solidFill>
                <a:latin typeface="Arial"/>
              </a:rPr>
              <a:t>в</a:t>
            </a:r>
            <a:r>
              <a:rPr lang="ru-RU" sz="1600" b="0" i="0" dirty="0">
                <a:solidFill>
                  <a:srgbClr val="000000"/>
                </a:solidFill>
              </a:rPr>
              <a:t> </a:t>
            </a:r>
            <a:r>
              <a:rPr lang="ru-RU" sz="1600" b="0" i="0" dirty="0">
                <a:solidFill>
                  <a:srgbClr val="000000"/>
                </a:solidFill>
                <a:latin typeface="Arial"/>
              </a:rPr>
              <a:t>структурированном</a:t>
            </a:r>
            <a:r>
              <a:rPr lang="ru-RU" sz="1600" b="0" i="0" dirty="0">
                <a:solidFill>
                  <a:srgbClr val="000000"/>
                </a:solidFill>
              </a:rPr>
              <a:t> </a:t>
            </a:r>
            <a:r>
              <a:rPr lang="ru-RU" sz="1600" b="0" i="0" dirty="0">
                <a:solidFill>
                  <a:srgbClr val="000000"/>
                </a:solidFill>
                <a:latin typeface="Arial"/>
              </a:rPr>
              <a:t>формате</a:t>
            </a:r>
          </a:p>
          <a:p>
            <a:pPr lvl="1"/>
            <a:r>
              <a:rPr lang="ru-RU" sz="1600" b="0" i="0" dirty="0">
                <a:solidFill>
                  <a:srgbClr val="000000"/>
                </a:solidFill>
                <a:latin typeface="Arial"/>
              </a:rPr>
              <a:t>Предназначено</a:t>
            </a:r>
            <a:r>
              <a:rPr lang="ru-RU" sz="1600" b="0" i="0" dirty="0">
                <a:solidFill>
                  <a:srgbClr val="000000"/>
                </a:solidFill>
              </a:rPr>
              <a:t> </a:t>
            </a:r>
            <a:r>
              <a:rPr lang="ru-RU" sz="1600" b="0" i="0" dirty="0">
                <a:solidFill>
                  <a:srgbClr val="000000"/>
                </a:solidFill>
                <a:latin typeface="Arial"/>
              </a:rPr>
              <a:t>для</a:t>
            </a:r>
            <a:r>
              <a:rPr lang="ru-RU" sz="1600" b="0" i="0" dirty="0">
                <a:solidFill>
                  <a:srgbClr val="000000"/>
                </a:solidFill>
              </a:rPr>
              <a:t> </a:t>
            </a:r>
            <a:r>
              <a:rPr lang="ru-RU" sz="1600" b="0" i="0" dirty="0">
                <a:solidFill>
                  <a:srgbClr val="000000"/>
                </a:solidFill>
                <a:latin typeface="Arial"/>
              </a:rPr>
              <a:t>запросов</a:t>
            </a:r>
            <a:r>
              <a:rPr lang="ru-RU" sz="1600" b="0" i="0" dirty="0">
                <a:solidFill>
                  <a:srgbClr val="000000"/>
                </a:solidFill>
              </a:rPr>
              <a:t> </a:t>
            </a:r>
            <a:r>
              <a:rPr lang="ru-RU" sz="1600" b="0" i="0" dirty="0">
                <a:solidFill>
                  <a:srgbClr val="000000"/>
                </a:solidFill>
                <a:latin typeface="Arial"/>
              </a:rPr>
              <a:t>и</a:t>
            </a:r>
            <a:r>
              <a:rPr lang="ru-RU" sz="1600" b="0" i="0" dirty="0">
                <a:solidFill>
                  <a:srgbClr val="000000"/>
                </a:solidFill>
              </a:rPr>
              <a:t> </a:t>
            </a:r>
            <a:r>
              <a:rPr lang="ru-RU" sz="1600" b="0" i="0" dirty="0">
                <a:solidFill>
                  <a:srgbClr val="000000"/>
                </a:solidFill>
                <a:latin typeface="Arial"/>
              </a:rPr>
              <a:t>анализа</a:t>
            </a:r>
            <a:r>
              <a:rPr lang="ru-RU" sz="1600" b="0" i="0" dirty="0">
                <a:solidFill>
                  <a:srgbClr val="000000"/>
                </a:solidFill>
              </a:rPr>
              <a:t> </a:t>
            </a:r>
            <a:r>
              <a:rPr lang="ru-RU" sz="1600" b="0" i="0" dirty="0">
                <a:solidFill>
                  <a:srgbClr val="000000"/>
                </a:solidFill>
                <a:latin typeface="Arial"/>
              </a:rPr>
              <a:t>с</a:t>
            </a:r>
            <a:r>
              <a:rPr lang="ru-RU" sz="1600" b="0" i="0" dirty="0">
                <a:solidFill>
                  <a:srgbClr val="000000"/>
                </a:solidFill>
              </a:rPr>
              <a:t> </a:t>
            </a:r>
            <a:r>
              <a:rPr lang="ru-RU" sz="1600" b="0" i="0" dirty="0">
                <a:solidFill>
                  <a:srgbClr val="000000"/>
                </a:solidFill>
                <a:latin typeface="Arial"/>
              </a:rPr>
              <a:t>целью</a:t>
            </a:r>
            <a:r>
              <a:rPr lang="ru-RU" sz="1600" b="0" i="0" dirty="0">
                <a:solidFill>
                  <a:srgbClr val="000000"/>
                </a:solidFill>
              </a:rPr>
              <a:t> </a:t>
            </a:r>
            <a:r>
              <a:rPr lang="ru-RU" sz="1600" b="0" i="0" dirty="0">
                <a:solidFill>
                  <a:srgbClr val="000000"/>
                </a:solidFill>
                <a:latin typeface="Arial"/>
              </a:rPr>
              <a:t>принятия</a:t>
            </a:r>
            <a:r>
              <a:rPr lang="ru-RU" sz="1600" b="0" i="0" dirty="0">
                <a:solidFill>
                  <a:srgbClr val="000000"/>
                </a:solidFill>
              </a:rPr>
              <a:t> </a:t>
            </a:r>
            <a:r>
              <a:rPr lang="ru-RU" sz="1600" b="0" i="0" dirty="0">
                <a:solidFill>
                  <a:srgbClr val="000000"/>
                </a:solidFill>
                <a:latin typeface="Arial"/>
              </a:rPr>
              <a:t>решений</a:t>
            </a:r>
          </a:p>
          <a:p>
            <a:r>
              <a:rPr lang="ru-RU" sz="1800" b="0" i="0" dirty="0">
                <a:solidFill>
                  <a:srgbClr val="000000"/>
                </a:solidFill>
              </a:rPr>
              <a:t>«</a:t>
            </a:r>
            <a:r>
              <a:rPr lang="ru-RU" sz="1800" b="0" i="0" dirty="0">
                <a:solidFill>
                  <a:srgbClr val="000000"/>
                </a:solidFill>
                <a:latin typeface="Arial"/>
              </a:rPr>
              <a:t>Озеро</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 </a:t>
            </a:r>
            <a:r>
              <a:rPr lang="ru-RU" sz="1800" b="0" i="0" dirty="0">
                <a:solidFill>
                  <a:srgbClr val="000000"/>
                </a:solidFill>
                <a:latin typeface="Arial"/>
              </a:rPr>
              <a:t>—</a:t>
            </a:r>
            <a:r>
              <a:rPr lang="ru-RU" sz="1800" b="0" i="0" dirty="0">
                <a:solidFill>
                  <a:srgbClr val="000000"/>
                </a:solidFill>
              </a:rPr>
              <a:t> </a:t>
            </a:r>
            <a:r>
              <a:rPr lang="ru-RU" sz="1800" b="0" i="0" dirty="0">
                <a:solidFill>
                  <a:srgbClr val="000000"/>
                </a:solidFill>
                <a:latin typeface="Arial"/>
              </a:rPr>
              <a:t>это</a:t>
            </a:r>
            <a:r>
              <a:rPr lang="ru-RU" sz="1800" b="0" i="0" dirty="0">
                <a:solidFill>
                  <a:srgbClr val="000000"/>
                </a:solidFill>
              </a:rPr>
              <a:t> </a:t>
            </a:r>
            <a:r>
              <a:rPr lang="ru-RU" sz="1800" b="0" i="0" dirty="0">
                <a:solidFill>
                  <a:srgbClr val="000000"/>
                </a:solidFill>
                <a:latin typeface="Arial"/>
              </a:rPr>
              <a:t>набор</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 </a:t>
            </a:r>
            <a:r>
              <a:rPr lang="ru-RU" sz="1800" b="0" i="0" dirty="0">
                <a:solidFill>
                  <a:srgbClr val="000000"/>
                </a:solidFill>
                <a:latin typeface="Arial"/>
              </a:rPr>
              <a:t>которые</a:t>
            </a:r>
            <a:r>
              <a:rPr lang="ru-RU" sz="1800" b="0" i="0" dirty="0">
                <a:solidFill>
                  <a:srgbClr val="000000"/>
                </a:solidFill>
              </a:rPr>
              <a:t> </a:t>
            </a:r>
            <a:r>
              <a:rPr lang="ru-RU" sz="1800" b="0" i="0" dirty="0">
                <a:solidFill>
                  <a:srgbClr val="000000"/>
                </a:solidFill>
                <a:latin typeface="Arial"/>
              </a:rPr>
              <a:t>хранятся</a:t>
            </a:r>
            <a:r>
              <a:rPr lang="ru-RU" sz="1800" b="0" i="0" dirty="0">
                <a:solidFill>
                  <a:srgbClr val="000000"/>
                </a:solidFill>
              </a:rPr>
              <a:t> </a:t>
            </a:r>
            <a:r>
              <a:rPr lang="ru-RU" sz="1800" b="0" i="0" dirty="0">
                <a:solidFill>
                  <a:srgbClr val="000000"/>
                </a:solidFill>
                <a:latin typeface="Arial"/>
              </a:rPr>
              <a:t>в</a:t>
            </a:r>
            <a:r>
              <a:rPr lang="ru-RU" sz="1800" b="0" i="0" dirty="0">
                <a:solidFill>
                  <a:srgbClr val="000000"/>
                </a:solidFill>
              </a:rPr>
              <a:t> </a:t>
            </a:r>
            <a:r>
              <a:rPr lang="ru-RU" sz="1800" b="0" i="0" dirty="0">
                <a:solidFill>
                  <a:srgbClr val="000000"/>
                </a:solidFill>
                <a:latin typeface="Arial"/>
              </a:rPr>
              <a:t>виде</a:t>
            </a:r>
            <a:r>
              <a:rPr lang="ru-RU" sz="1800" b="0" i="0" dirty="0">
                <a:solidFill>
                  <a:srgbClr val="000000"/>
                </a:solidFill>
              </a:rPr>
              <a:t> </a:t>
            </a:r>
            <a:r>
              <a:rPr lang="ru-RU" sz="1800" b="0" i="0" dirty="0">
                <a:solidFill>
                  <a:srgbClr val="000000"/>
                </a:solidFill>
                <a:latin typeface="Arial"/>
              </a:rPr>
              <a:t>почти</a:t>
            </a:r>
            <a:r>
              <a:rPr lang="ru-RU" sz="1800" b="0" i="0" dirty="0">
                <a:solidFill>
                  <a:srgbClr val="000000"/>
                </a:solidFill>
              </a:rPr>
              <a:t> </a:t>
            </a:r>
            <a:r>
              <a:rPr lang="ru-RU" sz="1800" b="0" i="0" dirty="0">
                <a:solidFill>
                  <a:srgbClr val="000000"/>
                </a:solidFill>
                <a:latin typeface="Arial"/>
              </a:rPr>
              <a:t>точной</a:t>
            </a:r>
            <a:r>
              <a:rPr lang="ru-RU" sz="1800" b="0" i="0" dirty="0">
                <a:solidFill>
                  <a:srgbClr val="000000"/>
                </a:solidFill>
              </a:rPr>
              <a:t> </a:t>
            </a:r>
            <a:r>
              <a:rPr lang="ru-RU" sz="1800" b="0" i="0" dirty="0">
                <a:solidFill>
                  <a:srgbClr val="000000"/>
                </a:solidFill>
                <a:latin typeface="Arial"/>
              </a:rPr>
              <a:t>копии</a:t>
            </a:r>
            <a:r>
              <a:rPr lang="ru-RU" sz="1800" b="0" i="0" dirty="0">
                <a:solidFill>
                  <a:srgbClr val="000000"/>
                </a:solidFill>
              </a:rPr>
              <a:t> </a:t>
            </a:r>
            <a:r>
              <a:rPr lang="ru-RU" sz="1800" b="0" i="0" dirty="0">
                <a:solidFill>
                  <a:srgbClr val="000000"/>
                </a:solidFill>
                <a:latin typeface="Arial"/>
              </a:rPr>
              <a:t>данных</a:t>
            </a:r>
            <a:r>
              <a:rPr lang="ru-RU" sz="1800" b="0" i="0" dirty="0">
                <a:solidFill>
                  <a:srgbClr val="000000"/>
                </a:solidFill>
              </a:rPr>
              <a:t> </a:t>
            </a:r>
            <a:r>
              <a:rPr lang="ru-RU" sz="1800" b="0" i="0" dirty="0">
                <a:solidFill>
                  <a:srgbClr val="000000"/>
                </a:solidFill>
                <a:latin typeface="Arial"/>
              </a:rPr>
              <a:t>исходного</a:t>
            </a:r>
            <a:r>
              <a:rPr lang="ru-RU" sz="1800" b="0" i="0" dirty="0">
                <a:solidFill>
                  <a:srgbClr val="000000"/>
                </a:solidFill>
              </a:rPr>
              <a:t> </a:t>
            </a:r>
            <a:r>
              <a:rPr lang="ru-RU" sz="1800" b="0" i="0" dirty="0">
                <a:solidFill>
                  <a:srgbClr val="000000"/>
                </a:solidFill>
                <a:latin typeface="Arial"/>
              </a:rPr>
              <a:t>формата</a:t>
            </a:r>
          </a:p>
          <a:p>
            <a:pPr lvl="1"/>
            <a:r>
              <a:rPr lang="ru-RU" sz="1600" b="0" i="0" dirty="0">
                <a:solidFill>
                  <a:srgbClr val="000000"/>
                </a:solidFill>
                <a:latin typeface="Arial"/>
              </a:rPr>
              <a:t>Данные</a:t>
            </a:r>
            <a:r>
              <a:rPr lang="ru-RU" sz="1600" b="0" i="0" dirty="0">
                <a:solidFill>
                  <a:srgbClr val="000000"/>
                </a:solidFill>
              </a:rPr>
              <a:t> </a:t>
            </a:r>
            <a:r>
              <a:rPr lang="ru-RU" sz="1600" b="0" i="0" dirty="0">
                <a:solidFill>
                  <a:srgbClr val="000000"/>
                </a:solidFill>
                <a:latin typeface="Arial"/>
              </a:rPr>
              <a:t>классифицируются</a:t>
            </a:r>
            <a:r>
              <a:rPr lang="ru-RU" sz="1600" b="0" i="0" dirty="0">
                <a:solidFill>
                  <a:srgbClr val="000000"/>
                </a:solidFill>
              </a:rPr>
              <a:t>, </a:t>
            </a:r>
            <a:r>
              <a:rPr lang="ru-RU" sz="1600" b="0" i="0" dirty="0">
                <a:solidFill>
                  <a:srgbClr val="000000"/>
                </a:solidFill>
                <a:latin typeface="Arial"/>
              </a:rPr>
              <a:t>упорядочиваются</a:t>
            </a:r>
            <a:r>
              <a:rPr lang="ru-RU" sz="1600" b="0" i="0" dirty="0">
                <a:solidFill>
                  <a:srgbClr val="000000"/>
                </a:solidFill>
              </a:rPr>
              <a:t> </a:t>
            </a:r>
            <a:r>
              <a:rPr lang="ru-RU" sz="1600" b="0" i="0" dirty="0">
                <a:solidFill>
                  <a:srgbClr val="000000"/>
                </a:solidFill>
                <a:latin typeface="Arial"/>
              </a:rPr>
              <a:t>и</a:t>
            </a:r>
            <a:r>
              <a:rPr lang="ru-RU" sz="1600" b="0" i="0" dirty="0">
                <a:solidFill>
                  <a:srgbClr val="000000"/>
                </a:solidFill>
              </a:rPr>
              <a:t> </a:t>
            </a:r>
            <a:r>
              <a:rPr lang="ru-RU" sz="1600" b="0" i="0" dirty="0">
                <a:solidFill>
                  <a:srgbClr val="000000"/>
                </a:solidFill>
                <a:latin typeface="Arial"/>
              </a:rPr>
              <a:t>анализируются</a:t>
            </a:r>
            <a:r>
              <a:rPr lang="ru-RU" sz="1600" b="0" i="0" dirty="0">
                <a:solidFill>
                  <a:srgbClr val="000000"/>
                </a:solidFill>
              </a:rPr>
              <a:t> </a:t>
            </a:r>
            <a:r>
              <a:rPr lang="ru-RU" sz="1600" b="0" i="0" dirty="0">
                <a:solidFill>
                  <a:srgbClr val="000000"/>
                </a:solidFill>
                <a:latin typeface="Arial"/>
              </a:rPr>
              <a:t>только</a:t>
            </a:r>
            <a:r>
              <a:rPr lang="ru-RU" sz="1600" b="0" i="0" dirty="0">
                <a:solidFill>
                  <a:srgbClr val="000000"/>
                </a:solidFill>
              </a:rPr>
              <a:t> </a:t>
            </a:r>
            <a:r>
              <a:rPr lang="ru-RU" sz="1600" b="0" i="0" dirty="0">
                <a:solidFill>
                  <a:srgbClr val="000000"/>
                </a:solidFill>
                <a:latin typeface="Arial"/>
              </a:rPr>
              <a:t>после</a:t>
            </a:r>
            <a:r>
              <a:rPr lang="ru-RU" sz="1600" b="0" i="0" dirty="0">
                <a:solidFill>
                  <a:srgbClr val="000000"/>
                </a:solidFill>
              </a:rPr>
              <a:t> </a:t>
            </a:r>
            <a:r>
              <a:rPr lang="ru-RU" sz="1600" b="0" i="0" dirty="0">
                <a:solidFill>
                  <a:srgbClr val="000000"/>
                </a:solidFill>
                <a:latin typeface="Arial"/>
              </a:rPr>
              <a:t>получения</a:t>
            </a:r>
            <a:r>
              <a:rPr lang="ru-RU" sz="1600" b="0" i="0" dirty="0">
                <a:solidFill>
                  <a:srgbClr val="000000"/>
                </a:solidFill>
              </a:rPr>
              <a:t> </a:t>
            </a:r>
            <a:r>
              <a:rPr lang="ru-RU" sz="1600" b="0" i="0" dirty="0">
                <a:solidFill>
                  <a:srgbClr val="000000"/>
                </a:solidFill>
                <a:latin typeface="Arial"/>
              </a:rPr>
              <a:t>к</a:t>
            </a:r>
            <a:r>
              <a:rPr lang="ru-RU" sz="1600" b="0" i="0" dirty="0">
                <a:solidFill>
                  <a:srgbClr val="000000"/>
                </a:solidFill>
              </a:rPr>
              <a:t> </a:t>
            </a:r>
            <a:r>
              <a:rPr lang="ru-RU" sz="1600" b="0" i="0" dirty="0">
                <a:solidFill>
                  <a:srgbClr val="000000"/>
                </a:solidFill>
                <a:latin typeface="Arial"/>
              </a:rPr>
              <a:t>ним</a:t>
            </a:r>
            <a:r>
              <a:rPr lang="ru-RU" sz="1600" b="0" i="0" dirty="0">
                <a:solidFill>
                  <a:srgbClr val="000000"/>
                </a:solidFill>
              </a:rPr>
              <a:t> </a:t>
            </a:r>
            <a:r>
              <a:rPr lang="ru-RU" sz="1600" b="0" i="0" dirty="0">
                <a:solidFill>
                  <a:srgbClr val="000000"/>
                </a:solidFill>
                <a:latin typeface="Arial"/>
              </a:rPr>
              <a:t>доступа</a:t>
            </a:r>
          </a:p>
          <a:p>
            <a:pPr lvl="1"/>
            <a:r>
              <a:rPr lang="ru-RU" sz="1600" b="0" i="0" dirty="0">
                <a:solidFill>
                  <a:srgbClr val="000000"/>
                </a:solidFill>
              </a:rPr>
              <a:t>«</a:t>
            </a:r>
            <a:r>
              <a:rPr lang="ru-RU" sz="1600" b="0" i="0" dirty="0">
                <a:solidFill>
                  <a:srgbClr val="000000"/>
                </a:solidFill>
                <a:latin typeface="Arial"/>
              </a:rPr>
              <a:t>Озеро</a:t>
            </a:r>
            <a:r>
              <a:rPr lang="ru-RU" sz="1600" b="0" i="0" dirty="0">
                <a:solidFill>
                  <a:srgbClr val="000000"/>
                </a:solidFill>
              </a:rPr>
              <a:t> </a:t>
            </a:r>
            <a:r>
              <a:rPr lang="ru-RU" sz="1600" b="0" i="0" dirty="0">
                <a:solidFill>
                  <a:srgbClr val="000000"/>
                </a:solidFill>
                <a:latin typeface="Arial"/>
              </a:rPr>
              <a:t>данных</a:t>
            </a:r>
            <a:r>
              <a:rPr lang="ru-RU" sz="1600" b="0" i="0" dirty="0">
                <a:solidFill>
                  <a:srgbClr val="000000"/>
                </a:solidFill>
              </a:rPr>
              <a:t>» </a:t>
            </a:r>
            <a:r>
              <a:rPr lang="ru-RU" sz="1600" b="0" i="0" dirty="0">
                <a:solidFill>
                  <a:srgbClr val="000000"/>
                </a:solidFill>
                <a:latin typeface="Arial"/>
              </a:rPr>
              <a:t>позволяет</a:t>
            </a:r>
            <a:r>
              <a:rPr lang="ru-RU" sz="1600" b="0" i="0" dirty="0">
                <a:solidFill>
                  <a:srgbClr val="000000"/>
                </a:solidFill>
              </a:rPr>
              <a:t> </a:t>
            </a:r>
            <a:r>
              <a:rPr lang="ru-RU" sz="1600" b="0" i="0" dirty="0">
                <a:solidFill>
                  <a:srgbClr val="000000"/>
                </a:solidFill>
                <a:latin typeface="Arial"/>
              </a:rPr>
              <a:t>аналитикам</a:t>
            </a:r>
            <a:r>
              <a:rPr lang="ru-RU" sz="1600" b="0" i="0" dirty="0">
                <a:solidFill>
                  <a:srgbClr val="000000"/>
                </a:solidFill>
              </a:rPr>
              <a:t> </a:t>
            </a:r>
            <a:r>
              <a:rPr lang="ru-RU" sz="1600" b="0" i="0" dirty="0">
                <a:solidFill>
                  <a:srgbClr val="000000"/>
                </a:solidFill>
                <a:latin typeface="Arial"/>
              </a:rPr>
              <a:t>использовать</a:t>
            </a:r>
            <a:r>
              <a:rPr lang="ru-RU" sz="1600" b="0" i="0" dirty="0">
                <a:solidFill>
                  <a:srgbClr val="000000"/>
                </a:solidFill>
              </a:rPr>
              <a:t> </a:t>
            </a:r>
            <a:r>
              <a:rPr lang="ru-RU" sz="1600" b="0" i="0" dirty="0">
                <a:solidFill>
                  <a:srgbClr val="000000"/>
                </a:solidFill>
                <a:latin typeface="Arial"/>
              </a:rPr>
              <a:t>собственные</a:t>
            </a:r>
            <a:r>
              <a:rPr lang="ru-RU" sz="1600" b="0" i="0" dirty="0">
                <a:solidFill>
                  <a:srgbClr val="000000"/>
                </a:solidFill>
              </a:rPr>
              <a:t> </a:t>
            </a:r>
            <a:r>
              <a:rPr lang="ru-RU" sz="1600" b="0" i="0" dirty="0">
                <a:solidFill>
                  <a:srgbClr val="000000"/>
                </a:solidFill>
                <a:latin typeface="Arial"/>
              </a:rPr>
              <a:t>методы</a:t>
            </a:r>
            <a:r>
              <a:rPr lang="ru-RU" sz="1600" b="0" i="0" dirty="0">
                <a:solidFill>
                  <a:srgbClr val="000000"/>
                </a:solidFill>
              </a:rPr>
              <a:t> </a:t>
            </a:r>
            <a:r>
              <a:rPr lang="ru-RU" sz="1600" b="0" i="0" dirty="0">
                <a:solidFill>
                  <a:srgbClr val="000000"/>
                </a:solidFill>
                <a:latin typeface="Arial"/>
              </a:rPr>
              <a:t>анализа</a:t>
            </a:r>
          </a:p>
          <a:p>
            <a:pPr lvl="1"/>
            <a:endParaRPr lang="en-US" dirty="0"/>
          </a:p>
          <a:p>
            <a:pPr lvl="1"/>
            <a:endParaRPr lang="en-US" dirty="0"/>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553230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Компоненты решения для аналитики больших данных</a:t>
            </a:r>
          </a:p>
        </p:txBody>
      </p:sp>
      <p:grpSp>
        <p:nvGrpSpPr>
          <p:cNvPr id="3" name="Group 2"/>
          <p:cNvGrpSpPr/>
          <p:nvPr/>
        </p:nvGrpSpPr>
        <p:grpSpPr>
          <a:xfrm>
            <a:off x="379413" y="1012370"/>
            <a:ext cx="8458200" cy="3425650"/>
            <a:chOff x="379413" y="992274"/>
            <a:chExt cx="8458200" cy="3425650"/>
          </a:xfrm>
        </p:grpSpPr>
        <p:sp>
          <p:nvSpPr>
            <p:cNvPr id="6" name="Freeform 5"/>
            <p:cNvSpPr/>
            <p:nvPr>
              <p:custDataLst>
                <p:tags r:id="rId2"/>
              </p:custDataLst>
            </p:nvPr>
          </p:nvSpPr>
          <p:spPr>
            <a:xfrm>
              <a:off x="3424364" y="1102779"/>
              <a:ext cx="5413249" cy="884040"/>
            </a:xfrm>
            <a:custGeom>
              <a:avLst/>
              <a:gdLst>
                <a:gd name="connsiteX0" fmla="*/ 147343 w 884039"/>
                <a:gd name="connsiteY0" fmla="*/ 0 h 5413248"/>
                <a:gd name="connsiteX1" fmla="*/ 736696 w 884039"/>
                <a:gd name="connsiteY1" fmla="*/ 0 h 5413248"/>
                <a:gd name="connsiteX2" fmla="*/ 884039 w 884039"/>
                <a:gd name="connsiteY2" fmla="*/ 147343 h 5413248"/>
                <a:gd name="connsiteX3" fmla="*/ 884039 w 884039"/>
                <a:gd name="connsiteY3" fmla="*/ 5413248 h 5413248"/>
                <a:gd name="connsiteX4" fmla="*/ 884039 w 884039"/>
                <a:gd name="connsiteY4" fmla="*/ 5413248 h 5413248"/>
                <a:gd name="connsiteX5" fmla="*/ 0 w 884039"/>
                <a:gd name="connsiteY5" fmla="*/ 5413248 h 5413248"/>
                <a:gd name="connsiteX6" fmla="*/ 0 w 884039"/>
                <a:gd name="connsiteY6" fmla="*/ 5413248 h 5413248"/>
                <a:gd name="connsiteX7" fmla="*/ 0 w 884039"/>
                <a:gd name="connsiteY7" fmla="*/ 147343 h 5413248"/>
                <a:gd name="connsiteX8" fmla="*/ 147343 w 88403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039" h="5413248">
                  <a:moveTo>
                    <a:pt x="884039" y="902229"/>
                  </a:moveTo>
                  <a:lnTo>
                    <a:pt x="884039" y="4511019"/>
                  </a:lnTo>
                  <a:cubicBezTo>
                    <a:pt x="884039" y="5009303"/>
                    <a:pt x="873266" y="5413245"/>
                    <a:pt x="859976" y="5413245"/>
                  </a:cubicBezTo>
                  <a:lnTo>
                    <a:pt x="0" y="5413245"/>
                  </a:lnTo>
                  <a:lnTo>
                    <a:pt x="0" y="5413245"/>
                  </a:lnTo>
                  <a:lnTo>
                    <a:pt x="0" y="3"/>
                  </a:lnTo>
                  <a:lnTo>
                    <a:pt x="0" y="3"/>
                  </a:lnTo>
                  <a:lnTo>
                    <a:pt x="859976" y="3"/>
                  </a:lnTo>
                  <a:cubicBezTo>
                    <a:pt x="873266" y="3"/>
                    <a:pt x="884039" y="403945"/>
                    <a:pt x="884039"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6980" rIns="290805" bIns="166981" numCol="1" spcCol="1270" anchor="ctr" anchorCtr="0">
              <a:noAutofit/>
            </a:bodyPr>
            <a:lstStyle/>
            <a:p>
              <a:pPr marL="171450" lvl="1" indent="-171450" algn="l" defTabSz="711200">
                <a:lnSpc>
                  <a:spcPct val="90000"/>
                </a:lnSpc>
                <a:spcBef>
                  <a:spcPct val="0"/>
                </a:spcBef>
                <a:spcAft>
                  <a:spcPct val="15000"/>
                </a:spcAft>
                <a:buChar char="••"/>
              </a:pPr>
              <a:r>
                <a:rPr lang="ru-RU" sz="1600" b="0" i="0" dirty="0">
                  <a:solidFill>
                    <a:srgbClr val="000000"/>
                  </a:solidFill>
                  <a:latin typeface="Arial" pitchFamily="34" charset="0"/>
                  <a:cs typeface="Arial" pitchFamily="34" charset="0"/>
                </a:rPr>
                <a:t>Эффективный способ обработки, хранения и извлечения данных</a:t>
              </a:r>
            </a:p>
            <a:p>
              <a:pPr marL="171450" lvl="1" indent="-171450" algn="l" defTabSz="711200">
                <a:lnSpc>
                  <a:spcPct val="90000"/>
                </a:lnSpc>
                <a:spcBef>
                  <a:spcPct val="0"/>
                </a:spcBef>
                <a:spcAft>
                  <a:spcPct val="15000"/>
                </a:spcAft>
                <a:buChar char="••"/>
              </a:pPr>
              <a:r>
                <a:rPr lang="ru-RU" sz="1600" b="0" i="0" dirty="0">
                  <a:solidFill>
                    <a:srgbClr val="000000"/>
                  </a:solidFill>
                  <a:latin typeface="Arial" pitchFamily="34" charset="0"/>
                  <a:cs typeface="Arial" pitchFamily="34" charset="0"/>
                </a:rPr>
                <a:t>Платформа для удобных систем аналитики</a:t>
              </a:r>
            </a:p>
          </p:txBody>
        </p:sp>
        <p:sp>
          <p:nvSpPr>
            <p:cNvPr id="7" name="Freeform 6"/>
            <p:cNvSpPr/>
            <p:nvPr>
              <p:custDataLst>
                <p:tags r:id="rId3"/>
              </p:custDataLst>
            </p:nvPr>
          </p:nvSpPr>
          <p:spPr>
            <a:xfrm>
              <a:off x="379413" y="992274"/>
              <a:ext cx="3044952" cy="1105048"/>
            </a:xfrm>
            <a:custGeom>
              <a:avLst/>
              <a:gdLst>
                <a:gd name="connsiteX0" fmla="*/ 0 w 3044952"/>
                <a:gd name="connsiteY0" fmla="*/ 184178 h 1105048"/>
                <a:gd name="connsiteX1" fmla="*/ 184178 w 3044952"/>
                <a:gd name="connsiteY1" fmla="*/ 0 h 1105048"/>
                <a:gd name="connsiteX2" fmla="*/ 2860774 w 3044952"/>
                <a:gd name="connsiteY2" fmla="*/ 0 h 1105048"/>
                <a:gd name="connsiteX3" fmla="*/ 3044952 w 3044952"/>
                <a:gd name="connsiteY3" fmla="*/ 184178 h 1105048"/>
                <a:gd name="connsiteX4" fmla="*/ 3044952 w 3044952"/>
                <a:gd name="connsiteY4" fmla="*/ 920870 h 1105048"/>
                <a:gd name="connsiteX5" fmla="*/ 2860774 w 3044952"/>
                <a:gd name="connsiteY5" fmla="*/ 1105048 h 1105048"/>
                <a:gd name="connsiteX6" fmla="*/ 184178 w 3044952"/>
                <a:gd name="connsiteY6" fmla="*/ 1105048 h 1105048"/>
                <a:gd name="connsiteX7" fmla="*/ 0 w 3044952"/>
                <a:gd name="connsiteY7" fmla="*/ 920870 h 1105048"/>
                <a:gd name="connsiteX8" fmla="*/ 0 w 3044952"/>
                <a:gd name="connsiteY8" fmla="*/ 184178 h 110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1105048">
                  <a:moveTo>
                    <a:pt x="0" y="184178"/>
                  </a:moveTo>
                  <a:cubicBezTo>
                    <a:pt x="0" y="82459"/>
                    <a:pt x="82459" y="0"/>
                    <a:pt x="184178" y="0"/>
                  </a:cubicBezTo>
                  <a:lnTo>
                    <a:pt x="2860774" y="0"/>
                  </a:lnTo>
                  <a:cubicBezTo>
                    <a:pt x="2962493" y="0"/>
                    <a:pt x="3044952" y="82459"/>
                    <a:pt x="3044952" y="184178"/>
                  </a:cubicBezTo>
                  <a:lnTo>
                    <a:pt x="3044952" y="920870"/>
                  </a:lnTo>
                  <a:cubicBezTo>
                    <a:pt x="3044952" y="1022589"/>
                    <a:pt x="2962493" y="1105048"/>
                    <a:pt x="2860774" y="1105048"/>
                  </a:cubicBezTo>
                  <a:lnTo>
                    <a:pt x="184178" y="1105048"/>
                  </a:lnTo>
                  <a:cubicBezTo>
                    <a:pt x="82459" y="1105048"/>
                    <a:pt x="0" y="1022589"/>
                    <a:pt x="0" y="920870"/>
                  </a:cubicBezTo>
                  <a:lnTo>
                    <a:pt x="0" y="184178"/>
                  </a:lnTo>
                  <a:close/>
                </a:path>
              </a:pathLst>
            </a:custGeom>
            <a:solidFill>
              <a:schemeClr val="accent6">
                <a:lumMod val="75000"/>
              </a:schemeClr>
            </a:solidFill>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2524" tIns="88234" rIns="122524" bIns="88234" numCol="1" spcCol="1270" anchor="ctr" anchorCtr="0">
              <a:noAutofit/>
            </a:bodyPr>
            <a:lstStyle/>
            <a:p>
              <a:pPr lvl="0" algn="ctr" defTabSz="800100">
                <a:lnSpc>
                  <a:spcPct val="90000"/>
                </a:lnSpc>
                <a:spcBef>
                  <a:spcPct val="0"/>
                </a:spcBef>
                <a:spcAft>
                  <a:spcPct val="35000"/>
                </a:spcAft>
              </a:pPr>
              <a:r>
                <a:rPr lang="ru-RU" sz="1800" b="1" i="0" dirty="0">
                  <a:solidFill>
                    <a:srgbClr val="FFFFFF"/>
                  </a:solidFill>
                  <a:latin typeface="Arial" pitchFamily="34" charset="0"/>
                  <a:cs typeface="Arial" pitchFamily="34" charset="0"/>
                </a:rPr>
                <a:t>Запросы</a:t>
              </a:r>
            </a:p>
          </p:txBody>
        </p:sp>
        <p:sp>
          <p:nvSpPr>
            <p:cNvPr id="8" name="Freeform 7"/>
            <p:cNvSpPr/>
            <p:nvPr>
              <p:custDataLst>
                <p:tags r:id="rId4"/>
              </p:custDataLst>
            </p:nvPr>
          </p:nvSpPr>
          <p:spPr>
            <a:xfrm>
              <a:off x="3424364" y="2263080"/>
              <a:ext cx="5413249" cy="884040"/>
            </a:xfrm>
            <a:custGeom>
              <a:avLst/>
              <a:gdLst>
                <a:gd name="connsiteX0" fmla="*/ 147343 w 884039"/>
                <a:gd name="connsiteY0" fmla="*/ 0 h 5413248"/>
                <a:gd name="connsiteX1" fmla="*/ 736696 w 884039"/>
                <a:gd name="connsiteY1" fmla="*/ 0 h 5413248"/>
                <a:gd name="connsiteX2" fmla="*/ 884039 w 884039"/>
                <a:gd name="connsiteY2" fmla="*/ 147343 h 5413248"/>
                <a:gd name="connsiteX3" fmla="*/ 884039 w 884039"/>
                <a:gd name="connsiteY3" fmla="*/ 5413248 h 5413248"/>
                <a:gd name="connsiteX4" fmla="*/ 884039 w 884039"/>
                <a:gd name="connsiteY4" fmla="*/ 5413248 h 5413248"/>
                <a:gd name="connsiteX5" fmla="*/ 0 w 884039"/>
                <a:gd name="connsiteY5" fmla="*/ 5413248 h 5413248"/>
                <a:gd name="connsiteX6" fmla="*/ 0 w 884039"/>
                <a:gd name="connsiteY6" fmla="*/ 5413248 h 5413248"/>
                <a:gd name="connsiteX7" fmla="*/ 0 w 884039"/>
                <a:gd name="connsiteY7" fmla="*/ 147343 h 5413248"/>
                <a:gd name="connsiteX8" fmla="*/ 147343 w 88403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039" h="5413248">
                  <a:moveTo>
                    <a:pt x="884039" y="902229"/>
                  </a:moveTo>
                  <a:lnTo>
                    <a:pt x="884039" y="4511019"/>
                  </a:lnTo>
                  <a:cubicBezTo>
                    <a:pt x="884039" y="5009303"/>
                    <a:pt x="873266" y="5413245"/>
                    <a:pt x="859976" y="5413245"/>
                  </a:cubicBezTo>
                  <a:lnTo>
                    <a:pt x="0" y="5413245"/>
                  </a:lnTo>
                  <a:lnTo>
                    <a:pt x="0" y="5413245"/>
                  </a:lnTo>
                  <a:lnTo>
                    <a:pt x="0" y="3"/>
                  </a:lnTo>
                  <a:lnTo>
                    <a:pt x="0" y="3"/>
                  </a:lnTo>
                  <a:lnTo>
                    <a:pt x="859976" y="3"/>
                  </a:lnTo>
                  <a:cubicBezTo>
                    <a:pt x="873266" y="3"/>
                    <a:pt x="884039" y="403945"/>
                    <a:pt x="884039"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6980" rIns="290805" bIns="166981" numCol="1" spcCol="1270" anchor="ctr" anchorCtr="0">
              <a:noAutofit/>
            </a:bodyPr>
            <a:lstStyle/>
            <a:p>
              <a:pPr marL="171450" lvl="1" indent="-171450" algn="l" defTabSz="711200">
                <a:lnSpc>
                  <a:spcPct val="90000"/>
                </a:lnSpc>
                <a:spcBef>
                  <a:spcPct val="0"/>
                </a:spcBef>
                <a:spcAft>
                  <a:spcPct val="15000"/>
                </a:spcAft>
                <a:buChar char="••"/>
              </a:pPr>
              <a:r>
                <a:rPr lang="ru-RU" sz="1600" b="0" i="0" dirty="0">
                  <a:solidFill>
                    <a:srgbClr val="000000"/>
                  </a:solidFill>
                  <a:latin typeface="Arial" pitchFamily="34" charset="0"/>
                  <a:cs typeface="Arial" pitchFamily="34" charset="0"/>
                </a:rPr>
                <a:t>Параллельные вычисления на нескольких серверах</a:t>
              </a:r>
            </a:p>
            <a:p>
              <a:pPr marL="171450" lvl="1" indent="-171450" algn="l" defTabSz="711200">
                <a:lnSpc>
                  <a:spcPct val="90000"/>
                </a:lnSpc>
                <a:spcBef>
                  <a:spcPct val="0"/>
                </a:spcBef>
                <a:spcAft>
                  <a:spcPct val="15000"/>
                </a:spcAft>
                <a:buChar char="••"/>
              </a:pPr>
              <a:r>
                <a:rPr lang="ru-RU" sz="1600" b="0" i="0" dirty="0">
                  <a:solidFill>
                    <a:srgbClr val="000000"/>
                  </a:solidFill>
                  <a:latin typeface="Arial" pitchFamily="34" charset="0"/>
                  <a:cs typeface="Arial" pitchFamily="34" charset="0"/>
                </a:rPr>
                <a:t>Модель пакетной обработки</a:t>
              </a:r>
            </a:p>
          </p:txBody>
        </p:sp>
        <p:sp>
          <p:nvSpPr>
            <p:cNvPr id="9" name="Freeform 8"/>
            <p:cNvSpPr/>
            <p:nvPr>
              <p:custDataLst>
                <p:tags r:id="rId5"/>
              </p:custDataLst>
            </p:nvPr>
          </p:nvSpPr>
          <p:spPr>
            <a:xfrm>
              <a:off x="379413" y="2152575"/>
              <a:ext cx="3044952" cy="1105048"/>
            </a:xfrm>
            <a:custGeom>
              <a:avLst/>
              <a:gdLst>
                <a:gd name="connsiteX0" fmla="*/ 0 w 3044952"/>
                <a:gd name="connsiteY0" fmla="*/ 184178 h 1105048"/>
                <a:gd name="connsiteX1" fmla="*/ 184178 w 3044952"/>
                <a:gd name="connsiteY1" fmla="*/ 0 h 1105048"/>
                <a:gd name="connsiteX2" fmla="*/ 2860774 w 3044952"/>
                <a:gd name="connsiteY2" fmla="*/ 0 h 1105048"/>
                <a:gd name="connsiteX3" fmla="*/ 3044952 w 3044952"/>
                <a:gd name="connsiteY3" fmla="*/ 184178 h 1105048"/>
                <a:gd name="connsiteX4" fmla="*/ 3044952 w 3044952"/>
                <a:gd name="connsiteY4" fmla="*/ 920870 h 1105048"/>
                <a:gd name="connsiteX5" fmla="*/ 2860774 w 3044952"/>
                <a:gd name="connsiteY5" fmla="*/ 1105048 h 1105048"/>
                <a:gd name="connsiteX6" fmla="*/ 184178 w 3044952"/>
                <a:gd name="connsiteY6" fmla="*/ 1105048 h 1105048"/>
                <a:gd name="connsiteX7" fmla="*/ 0 w 3044952"/>
                <a:gd name="connsiteY7" fmla="*/ 920870 h 1105048"/>
                <a:gd name="connsiteX8" fmla="*/ 0 w 3044952"/>
                <a:gd name="connsiteY8" fmla="*/ 184178 h 110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1105048">
                  <a:moveTo>
                    <a:pt x="0" y="184178"/>
                  </a:moveTo>
                  <a:cubicBezTo>
                    <a:pt x="0" y="82459"/>
                    <a:pt x="82459" y="0"/>
                    <a:pt x="184178" y="0"/>
                  </a:cubicBezTo>
                  <a:lnTo>
                    <a:pt x="2860774" y="0"/>
                  </a:lnTo>
                  <a:cubicBezTo>
                    <a:pt x="2962493" y="0"/>
                    <a:pt x="3044952" y="82459"/>
                    <a:pt x="3044952" y="184178"/>
                  </a:cubicBezTo>
                  <a:lnTo>
                    <a:pt x="3044952" y="920870"/>
                  </a:lnTo>
                  <a:cubicBezTo>
                    <a:pt x="3044952" y="1022589"/>
                    <a:pt x="2962493" y="1105048"/>
                    <a:pt x="2860774" y="1105048"/>
                  </a:cubicBezTo>
                  <a:lnTo>
                    <a:pt x="184178" y="1105048"/>
                  </a:lnTo>
                  <a:cubicBezTo>
                    <a:pt x="82459" y="1105048"/>
                    <a:pt x="0" y="1022589"/>
                    <a:pt x="0" y="920870"/>
                  </a:cubicBezTo>
                  <a:lnTo>
                    <a:pt x="0" y="184178"/>
                  </a:lnTo>
                  <a:close/>
                </a:path>
              </a:pathLst>
            </a:custGeom>
            <a:solidFill>
              <a:schemeClr val="tx2">
                <a:lumMod val="75000"/>
              </a:schemeClr>
            </a:solidFill>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2524" tIns="88234" rIns="122524" bIns="88234" numCol="1" spcCol="1270" anchor="ctr" anchorCtr="0">
              <a:noAutofit/>
            </a:bodyPr>
            <a:lstStyle/>
            <a:p>
              <a:pPr lvl="0" algn="ctr" defTabSz="800100">
                <a:lnSpc>
                  <a:spcPct val="90000"/>
                </a:lnSpc>
                <a:spcBef>
                  <a:spcPct val="0"/>
                </a:spcBef>
                <a:spcAft>
                  <a:spcPct val="35000"/>
                </a:spcAft>
              </a:pPr>
              <a:r>
                <a:rPr lang="ru-RU" sz="1800" b="1" i="0" dirty="0">
                  <a:solidFill>
                    <a:srgbClr val="FFFFFF"/>
                  </a:solidFill>
                  <a:latin typeface="Arial" pitchFamily="34" charset="0"/>
                  <a:cs typeface="Arial" pitchFamily="34" charset="0"/>
                </a:rPr>
                <a:t>MapReduce</a:t>
              </a:r>
            </a:p>
          </p:txBody>
        </p:sp>
        <p:sp>
          <p:nvSpPr>
            <p:cNvPr id="10" name="Freeform 9"/>
            <p:cNvSpPr/>
            <p:nvPr>
              <p:custDataLst>
                <p:tags r:id="rId6"/>
              </p:custDataLst>
            </p:nvPr>
          </p:nvSpPr>
          <p:spPr>
            <a:xfrm>
              <a:off x="3424364" y="3423381"/>
              <a:ext cx="5413249" cy="884040"/>
            </a:xfrm>
            <a:custGeom>
              <a:avLst/>
              <a:gdLst>
                <a:gd name="connsiteX0" fmla="*/ 147343 w 884039"/>
                <a:gd name="connsiteY0" fmla="*/ 0 h 5413248"/>
                <a:gd name="connsiteX1" fmla="*/ 736696 w 884039"/>
                <a:gd name="connsiteY1" fmla="*/ 0 h 5413248"/>
                <a:gd name="connsiteX2" fmla="*/ 884039 w 884039"/>
                <a:gd name="connsiteY2" fmla="*/ 147343 h 5413248"/>
                <a:gd name="connsiteX3" fmla="*/ 884039 w 884039"/>
                <a:gd name="connsiteY3" fmla="*/ 5413248 h 5413248"/>
                <a:gd name="connsiteX4" fmla="*/ 884039 w 884039"/>
                <a:gd name="connsiteY4" fmla="*/ 5413248 h 5413248"/>
                <a:gd name="connsiteX5" fmla="*/ 0 w 884039"/>
                <a:gd name="connsiteY5" fmla="*/ 5413248 h 5413248"/>
                <a:gd name="connsiteX6" fmla="*/ 0 w 884039"/>
                <a:gd name="connsiteY6" fmla="*/ 5413248 h 5413248"/>
                <a:gd name="connsiteX7" fmla="*/ 0 w 884039"/>
                <a:gd name="connsiteY7" fmla="*/ 147343 h 5413248"/>
                <a:gd name="connsiteX8" fmla="*/ 147343 w 88403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039" h="5413248">
                  <a:moveTo>
                    <a:pt x="884039" y="902229"/>
                  </a:moveTo>
                  <a:lnTo>
                    <a:pt x="884039" y="4511019"/>
                  </a:lnTo>
                  <a:cubicBezTo>
                    <a:pt x="884039" y="5009303"/>
                    <a:pt x="873266" y="5413245"/>
                    <a:pt x="859976" y="5413245"/>
                  </a:cubicBezTo>
                  <a:lnTo>
                    <a:pt x="0" y="5413245"/>
                  </a:lnTo>
                  <a:lnTo>
                    <a:pt x="0" y="5413245"/>
                  </a:lnTo>
                  <a:lnTo>
                    <a:pt x="0" y="3"/>
                  </a:lnTo>
                  <a:lnTo>
                    <a:pt x="0" y="3"/>
                  </a:lnTo>
                  <a:lnTo>
                    <a:pt x="859976" y="3"/>
                  </a:lnTo>
                  <a:cubicBezTo>
                    <a:pt x="873266" y="3"/>
                    <a:pt x="884039" y="403945"/>
                    <a:pt x="884039"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66981" rIns="290805" bIns="166980" numCol="1" spcCol="1270" anchor="ctr" anchorCtr="0">
              <a:noAutofit/>
            </a:bodyPr>
            <a:lstStyle/>
            <a:p>
              <a:pPr marL="171450" lvl="1" indent="-171450" algn="l" defTabSz="711200">
                <a:lnSpc>
                  <a:spcPct val="90000"/>
                </a:lnSpc>
                <a:spcBef>
                  <a:spcPct val="0"/>
                </a:spcBef>
                <a:spcAft>
                  <a:spcPct val="15000"/>
                </a:spcAft>
                <a:buChar char="••"/>
              </a:pPr>
              <a:r>
                <a:rPr lang="ru-RU" sz="1600" b="0" i="0" dirty="0">
                  <a:solidFill>
                    <a:srgbClr val="000000"/>
                  </a:solidFill>
                  <a:latin typeface="Arial" pitchFamily="34" charset="0"/>
                  <a:cs typeface="Arial" pitchFamily="34" charset="0"/>
                </a:rPr>
                <a:t>Распределенная архитектура</a:t>
              </a:r>
            </a:p>
            <a:p>
              <a:pPr marL="171450" lvl="1" indent="-171450" algn="l" defTabSz="711200">
                <a:lnSpc>
                  <a:spcPct val="90000"/>
                </a:lnSpc>
                <a:spcBef>
                  <a:spcPct val="0"/>
                </a:spcBef>
                <a:spcAft>
                  <a:spcPct val="15000"/>
                </a:spcAft>
                <a:buChar char="••"/>
              </a:pPr>
              <a:r>
                <a:rPr lang="ru-RU" sz="1600" b="0" i="0" dirty="0">
                  <a:solidFill>
                    <a:srgbClr val="000000"/>
                  </a:solidFill>
                  <a:latin typeface="Arial" pitchFamily="34" charset="0"/>
                  <a:cs typeface="Arial" pitchFamily="34" charset="0"/>
                </a:rPr>
                <a:t>Нереляционные, неструктурированные данные</a:t>
              </a:r>
            </a:p>
          </p:txBody>
        </p:sp>
        <p:sp>
          <p:nvSpPr>
            <p:cNvPr id="11" name="Freeform 10"/>
            <p:cNvSpPr/>
            <p:nvPr>
              <p:custDataLst>
                <p:tags r:id="rId7"/>
              </p:custDataLst>
            </p:nvPr>
          </p:nvSpPr>
          <p:spPr>
            <a:xfrm>
              <a:off x="379413" y="3312876"/>
              <a:ext cx="3044952" cy="1105048"/>
            </a:xfrm>
            <a:custGeom>
              <a:avLst/>
              <a:gdLst>
                <a:gd name="connsiteX0" fmla="*/ 0 w 3044952"/>
                <a:gd name="connsiteY0" fmla="*/ 184178 h 1105048"/>
                <a:gd name="connsiteX1" fmla="*/ 184178 w 3044952"/>
                <a:gd name="connsiteY1" fmla="*/ 0 h 1105048"/>
                <a:gd name="connsiteX2" fmla="*/ 2860774 w 3044952"/>
                <a:gd name="connsiteY2" fmla="*/ 0 h 1105048"/>
                <a:gd name="connsiteX3" fmla="*/ 3044952 w 3044952"/>
                <a:gd name="connsiteY3" fmla="*/ 184178 h 1105048"/>
                <a:gd name="connsiteX4" fmla="*/ 3044952 w 3044952"/>
                <a:gd name="connsiteY4" fmla="*/ 920870 h 1105048"/>
                <a:gd name="connsiteX5" fmla="*/ 2860774 w 3044952"/>
                <a:gd name="connsiteY5" fmla="*/ 1105048 h 1105048"/>
                <a:gd name="connsiteX6" fmla="*/ 184178 w 3044952"/>
                <a:gd name="connsiteY6" fmla="*/ 1105048 h 1105048"/>
                <a:gd name="connsiteX7" fmla="*/ 0 w 3044952"/>
                <a:gd name="connsiteY7" fmla="*/ 920870 h 1105048"/>
                <a:gd name="connsiteX8" fmla="*/ 0 w 3044952"/>
                <a:gd name="connsiteY8" fmla="*/ 184178 h 110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1105048">
                  <a:moveTo>
                    <a:pt x="0" y="184178"/>
                  </a:moveTo>
                  <a:cubicBezTo>
                    <a:pt x="0" y="82459"/>
                    <a:pt x="82459" y="0"/>
                    <a:pt x="184178" y="0"/>
                  </a:cubicBezTo>
                  <a:lnTo>
                    <a:pt x="2860774" y="0"/>
                  </a:lnTo>
                  <a:cubicBezTo>
                    <a:pt x="2962493" y="0"/>
                    <a:pt x="3044952" y="82459"/>
                    <a:pt x="3044952" y="184178"/>
                  </a:cubicBezTo>
                  <a:lnTo>
                    <a:pt x="3044952" y="920870"/>
                  </a:lnTo>
                  <a:cubicBezTo>
                    <a:pt x="3044952" y="1022589"/>
                    <a:pt x="2962493" y="1105048"/>
                    <a:pt x="2860774" y="1105048"/>
                  </a:cubicBezTo>
                  <a:lnTo>
                    <a:pt x="184178" y="1105048"/>
                  </a:lnTo>
                  <a:cubicBezTo>
                    <a:pt x="82459" y="1105048"/>
                    <a:pt x="0" y="1022589"/>
                    <a:pt x="0" y="920870"/>
                  </a:cubicBezTo>
                  <a:lnTo>
                    <a:pt x="0" y="184178"/>
                  </a:lnTo>
                  <a:close/>
                </a:path>
              </a:pathLst>
            </a:custGeom>
            <a:solidFill>
              <a:srgbClr val="CA6E08"/>
            </a:solidFill>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2524" tIns="88234" rIns="122524" bIns="88234" numCol="1" spcCol="1270" anchor="ctr" anchorCtr="0">
              <a:noAutofit/>
            </a:bodyPr>
            <a:lstStyle/>
            <a:p>
              <a:pPr algn="ctr" defTabSz="800100">
                <a:lnSpc>
                  <a:spcPct val="90000"/>
                </a:lnSpc>
                <a:spcBef>
                  <a:spcPct val="0"/>
                </a:spcBef>
                <a:spcAft>
                  <a:spcPct val="35000"/>
                </a:spcAft>
              </a:pPr>
              <a:r>
                <a:rPr lang="ru-RU" sz="1800" b="1" i="0" dirty="0">
                  <a:solidFill>
                    <a:srgbClr val="FFFFFF"/>
                  </a:solidFill>
                  <a:latin typeface="Arial" pitchFamily="34" charset="0"/>
                  <a:cs typeface="Arial" pitchFamily="34" charset="0"/>
                </a:rPr>
                <a:t>СХД</a:t>
              </a:r>
            </a:p>
          </p:txBody>
        </p:sp>
      </p:grpSp>
      <p:sp>
        <p:nvSpPr>
          <p:cNvPr id="12" name="TextBox 11"/>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044258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6479808" y="896516"/>
            <a:ext cx="1152128" cy="3456384"/>
          </a:xfrm>
          <a:prstGeom prst="rect">
            <a:avLst/>
          </a:prstGeom>
          <a:solidFill>
            <a:schemeClr val="bg1">
              <a:lumMod val="75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b"/>
          <a:lstStyle/>
          <a:p>
            <a:pPr algn="ctr"/>
            <a:endParaRPr lang="en-US" sz="1100" dirty="0">
              <a:latin typeface="Arial" pitchFamily="34" charset="0"/>
              <a:cs typeface="Arial" pitchFamily="34" charset="0"/>
            </a:endParaRPr>
          </a:p>
        </p:txBody>
      </p:sp>
      <p:sp>
        <p:nvSpPr>
          <p:cNvPr id="3" name="Rectangle 2"/>
          <p:cNvSpPr/>
          <p:nvPr/>
        </p:nvSpPr>
        <p:spPr>
          <a:xfrm>
            <a:off x="1259632" y="896517"/>
            <a:ext cx="1152128" cy="3456384"/>
          </a:xfrm>
          <a:prstGeom prst="rect">
            <a:avLst/>
          </a:prstGeom>
          <a:solidFill>
            <a:schemeClr val="bg1">
              <a:lumMod val="75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b"/>
          <a:lstStyle/>
          <a:p>
            <a:pPr algn="ctr"/>
            <a:endParaRPr lang="en-US" sz="1100" dirty="0">
              <a:latin typeface="Arial" pitchFamily="34" charset="0"/>
              <a:cs typeface="Arial" pitchFamily="34" charset="0"/>
            </a:endParaRPr>
          </a:p>
        </p:txBody>
      </p:sp>
      <p:sp>
        <p:nvSpPr>
          <p:cNvPr id="2" name="Title 1"/>
          <p:cNvSpPr>
            <a:spLocks noGrp="1"/>
          </p:cNvSpPr>
          <p:nvPr>
            <p:ph type="ctrTitle"/>
          </p:nvPr>
        </p:nvSpPr>
        <p:spPr>
          <a:xfrm>
            <a:off x="379414" y="209550"/>
            <a:ext cx="8458200" cy="457200"/>
          </a:xfrm>
        </p:spPr>
        <p:txBody>
          <a:bodyPr/>
          <a:lstStyle/>
          <a:p>
            <a:r>
              <a:rPr lang="ru-RU" sz="2800" b="0" i="0" dirty="0">
                <a:solidFill>
                  <a:srgbClr val="2C95DD"/>
                </a:solidFill>
                <a:latin typeface="Arial" pitchFamily="34" charset="0"/>
                <a:cs typeface="Arial" pitchFamily="34" charset="0"/>
              </a:rPr>
              <a:t>MapReduce</a:t>
            </a:r>
          </a:p>
        </p:txBody>
      </p:sp>
      <p:graphicFrame>
        <p:nvGraphicFramePr>
          <p:cNvPr id="14" name="Table 13"/>
          <p:cNvGraphicFramePr>
            <a:graphicFrameLocks noGrp="1"/>
          </p:cNvGraphicFramePr>
          <p:nvPr>
            <p:extLst>
              <p:ext uri="{D42A27DB-BD31-4B8C-83A1-F6EECF244321}">
                <p14:modId xmlns:p14="http://schemas.microsoft.com/office/powerpoint/2010/main" val="3525021774"/>
              </p:ext>
            </p:extLst>
          </p:nvPr>
        </p:nvGraphicFramePr>
        <p:xfrm>
          <a:off x="1439652" y="1040564"/>
          <a:ext cx="792088" cy="720078"/>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2"/>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4"/>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5"/>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072140439"/>
              </p:ext>
            </p:extLst>
          </p:nvPr>
        </p:nvGraphicFramePr>
        <p:xfrm>
          <a:off x="1439652" y="2270220"/>
          <a:ext cx="792088" cy="720078"/>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2"/>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4"/>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5"/>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087779034"/>
              </p:ext>
            </p:extLst>
          </p:nvPr>
        </p:nvGraphicFramePr>
        <p:xfrm>
          <a:off x="1439652" y="3473093"/>
          <a:ext cx="792088" cy="720078"/>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2"/>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4"/>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5"/>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597520424"/>
              </p:ext>
            </p:extLst>
          </p:nvPr>
        </p:nvGraphicFramePr>
        <p:xfrm>
          <a:off x="6659828" y="1040564"/>
          <a:ext cx="792088" cy="720078"/>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4"/>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5"/>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1891015115"/>
              </p:ext>
            </p:extLst>
          </p:nvPr>
        </p:nvGraphicFramePr>
        <p:xfrm>
          <a:off x="6659828" y="2270220"/>
          <a:ext cx="792088" cy="720078"/>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2"/>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3"/>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4"/>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5"/>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532031425"/>
              </p:ext>
            </p:extLst>
          </p:nvPr>
        </p:nvGraphicFramePr>
        <p:xfrm>
          <a:off x="6659828" y="3465473"/>
          <a:ext cx="792088" cy="734936"/>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tblGrid>
              <a:tr h="134871">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1"/>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2"/>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3"/>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4"/>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5"/>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171813377"/>
              </p:ext>
            </p:extLst>
          </p:nvPr>
        </p:nvGraphicFramePr>
        <p:xfrm>
          <a:off x="4104320" y="896516"/>
          <a:ext cx="576064" cy="24002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3298197958"/>
              </p:ext>
            </p:extLst>
          </p:nvPr>
        </p:nvGraphicFramePr>
        <p:xfrm>
          <a:off x="4104320" y="1280590"/>
          <a:ext cx="576064" cy="24002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1723349523"/>
              </p:ext>
            </p:extLst>
          </p:nvPr>
        </p:nvGraphicFramePr>
        <p:xfrm>
          <a:off x="4104320" y="1657310"/>
          <a:ext cx="576064" cy="254884"/>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34871">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1"/>
                  </a:ext>
                </a:extLst>
              </a:tr>
            </a:tbl>
          </a:graphicData>
        </a:graphic>
      </p:graphicFrame>
      <p:sp>
        <p:nvSpPr>
          <p:cNvPr id="41" name="Oval 40"/>
          <p:cNvSpPr/>
          <p:nvPr/>
        </p:nvSpPr>
        <p:spPr>
          <a:xfrm>
            <a:off x="2977592" y="1256603"/>
            <a:ext cx="288000" cy="288000"/>
          </a:xfrm>
          <a:prstGeom prst="ellipse">
            <a:avLst/>
          </a:prstGeom>
          <a:solidFill>
            <a:schemeClr val="accent6">
              <a:lumMod val="75000"/>
            </a:schemeClr>
          </a:solidFill>
          <a:ln w="1270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4" name="Oval 43"/>
          <p:cNvSpPr/>
          <p:nvPr/>
        </p:nvSpPr>
        <p:spPr>
          <a:xfrm>
            <a:off x="2977592" y="2486259"/>
            <a:ext cx="288000" cy="288000"/>
          </a:xfrm>
          <a:prstGeom prst="ellipse">
            <a:avLst/>
          </a:prstGeom>
          <a:solidFill>
            <a:schemeClr val="accent6">
              <a:lumMod val="75000"/>
            </a:schemeClr>
          </a:solidFill>
          <a:ln w="1270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5" name="Oval 44"/>
          <p:cNvSpPr/>
          <p:nvPr/>
        </p:nvSpPr>
        <p:spPr>
          <a:xfrm>
            <a:off x="2977592" y="3688941"/>
            <a:ext cx="288000" cy="288000"/>
          </a:xfrm>
          <a:prstGeom prst="ellipse">
            <a:avLst/>
          </a:prstGeom>
          <a:solidFill>
            <a:schemeClr val="accent6">
              <a:lumMod val="75000"/>
            </a:schemeClr>
          </a:solidFill>
          <a:ln w="1270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6" name="Oval 45"/>
          <p:cNvSpPr/>
          <p:nvPr/>
        </p:nvSpPr>
        <p:spPr>
          <a:xfrm>
            <a:off x="5580112" y="1256603"/>
            <a:ext cx="288000" cy="288000"/>
          </a:xfrm>
          <a:prstGeom prst="ellipse">
            <a:avLst/>
          </a:prstGeom>
          <a:solidFill>
            <a:schemeClr val="accent6">
              <a:lumMod val="75000"/>
            </a:schemeClr>
          </a:solidFill>
          <a:ln w="1270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7" name="Oval 46"/>
          <p:cNvSpPr/>
          <p:nvPr/>
        </p:nvSpPr>
        <p:spPr>
          <a:xfrm>
            <a:off x="5580112" y="2486259"/>
            <a:ext cx="288000" cy="288000"/>
          </a:xfrm>
          <a:prstGeom prst="ellipse">
            <a:avLst/>
          </a:prstGeom>
          <a:solidFill>
            <a:schemeClr val="accent6">
              <a:lumMod val="75000"/>
            </a:schemeClr>
          </a:solidFill>
          <a:ln w="1270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8" name="Oval 47"/>
          <p:cNvSpPr/>
          <p:nvPr/>
        </p:nvSpPr>
        <p:spPr>
          <a:xfrm>
            <a:off x="5580112" y="3688941"/>
            <a:ext cx="288000" cy="288000"/>
          </a:xfrm>
          <a:prstGeom prst="ellipse">
            <a:avLst/>
          </a:prstGeom>
          <a:solidFill>
            <a:schemeClr val="accent6">
              <a:lumMod val="75000"/>
            </a:schemeClr>
          </a:solidFill>
          <a:ln w="1270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cxnSp>
        <p:nvCxnSpPr>
          <p:cNvPr id="63" name="Straight Connector 62"/>
          <p:cNvCxnSpPr>
            <a:stCxn id="41" idx="2"/>
            <a:endCxn id="14" idx="3"/>
          </p:cNvCxnSpPr>
          <p:nvPr/>
        </p:nvCxnSpPr>
        <p:spPr>
          <a:xfrm flipH="1">
            <a:off x="2231740" y="1400603"/>
            <a:ext cx="745852"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4" idx="2"/>
            <a:endCxn id="15" idx="3"/>
          </p:cNvCxnSpPr>
          <p:nvPr/>
        </p:nvCxnSpPr>
        <p:spPr>
          <a:xfrm flipH="1">
            <a:off x="2231740" y="2630259"/>
            <a:ext cx="745852"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p:cNvCxnSpPr>
            <a:stCxn id="45" idx="2"/>
            <a:endCxn id="16" idx="3"/>
          </p:cNvCxnSpPr>
          <p:nvPr/>
        </p:nvCxnSpPr>
        <p:spPr>
          <a:xfrm flipH="1">
            <a:off x="2231740" y="3832941"/>
            <a:ext cx="745852" cy="19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34" idx="1"/>
            <a:endCxn id="41" idx="6"/>
          </p:cNvCxnSpPr>
          <p:nvPr/>
        </p:nvCxnSpPr>
        <p:spPr>
          <a:xfrm flipH="1">
            <a:off x="3265592" y="1400603"/>
            <a:ext cx="838728"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p:cNvCxnSpPr>
            <a:stCxn id="33" idx="1"/>
            <a:endCxn id="41" idx="6"/>
          </p:cNvCxnSpPr>
          <p:nvPr/>
        </p:nvCxnSpPr>
        <p:spPr>
          <a:xfrm flipH="1">
            <a:off x="3265592" y="1016529"/>
            <a:ext cx="838728" cy="384074"/>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p:cNvCxnSpPr>
            <a:stCxn id="35" idx="1"/>
            <a:endCxn id="41" idx="6"/>
          </p:cNvCxnSpPr>
          <p:nvPr/>
        </p:nvCxnSpPr>
        <p:spPr>
          <a:xfrm flipH="1" flipV="1">
            <a:off x="3265592" y="1400603"/>
            <a:ext cx="838728" cy="384149"/>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graphicFrame>
        <p:nvGraphicFramePr>
          <p:cNvPr id="79" name="Table 78"/>
          <p:cNvGraphicFramePr>
            <a:graphicFrameLocks noGrp="1"/>
          </p:cNvGraphicFramePr>
          <p:nvPr>
            <p:extLst>
              <p:ext uri="{D42A27DB-BD31-4B8C-83A1-F6EECF244321}">
                <p14:modId xmlns:p14="http://schemas.microsoft.com/office/powerpoint/2010/main" val="2733619475"/>
              </p:ext>
            </p:extLst>
          </p:nvPr>
        </p:nvGraphicFramePr>
        <p:xfrm>
          <a:off x="4104320" y="2136076"/>
          <a:ext cx="576064" cy="24002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bl>
          </a:graphicData>
        </a:graphic>
      </p:graphicFrame>
      <p:graphicFrame>
        <p:nvGraphicFramePr>
          <p:cNvPr id="80" name="Table 79"/>
          <p:cNvGraphicFramePr>
            <a:graphicFrameLocks noGrp="1"/>
          </p:cNvGraphicFramePr>
          <p:nvPr>
            <p:extLst>
              <p:ext uri="{D42A27DB-BD31-4B8C-83A1-F6EECF244321}">
                <p14:modId xmlns:p14="http://schemas.microsoft.com/office/powerpoint/2010/main" val="2017810343"/>
              </p:ext>
            </p:extLst>
          </p:nvPr>
        </p:nvGraphicFramePr>
        <p:xfrm>
          <a:off x="4104320" y="2510246"/>
          <a:ext cx="576064" cy="24002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bl>
          </a:graphicData>
        </a:graphic>
      </p:graphicFrame>
      <p:graphicFrame>
        <p:nvGraphicFramePr>
          <p:cNvPr id="81" name="Table 80"/>
          <p:cNvGraphicFramePr>
            <a:graphicFrameLocks noGrp="1"/>
          </p:cNvGraphicFramePr>
          <p:nvPr>
            <p:extLst>
              <p:ext uri="{D42A27DB-BD31-4B8C-83A1-F6EECF244321}">
                <p14:modId xmlns:p14="http://schemas.microsoft.com/office/powerpoint/2010/main" val="1099699367"/>
              </p:ext>
            </p:extLst>
          </p:nvPr>
        </p:nvGraphicFramePr>
        <p:xfrm>
          <a:off x="4104320" y="2871470"/>
          <a:ext cx="576064" cy="254884"/>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34871">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1"/>
                  </a:ext>
                </a:extLst>
              </a:tr>
            </a:tbl>
          </a:graphicData>
        </a:graphic>
      </p:graphicFrame>
      <p:cxnSp>
        <p:nvCxnSpPr>
          <p:cNvPr id="82" name="Straight Connector 81"/>
          <p:cNvCxnSpPr>
            <a:stCxn id="80" idx="1"/>
            <a:endCxn id="44" idx="6"/>
          </p:cNvCxnSpPr>
          <p:nvPr/>
        </p:nvCxnSpPr>
        <p:spPr>
          <a:xfrm flipH="1">
            <a:off x="3265592" y="2630259"/>
            <a:ext cx="838728"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9" idx="1"/>
            <a:endCxn id="44" idx="6"/>
          </p:cNvCxnSpPr>
          <p:nvPr/>
        </p:nvCxnSpPr>
        <p:spPr>
          <a:xfrm flipH="1">
            <a:off x="3265592" y="2256089"/>
            <a:ext cx="838728" cy="37417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84" name="Straight Connector 83"/>
          <p:cNvCxnSpPr>
            <a:stCxn id="81" idx="1"/>
            <a:endCxn id="44" idx="6"/>
          </p:cNvCxnSpPr>
          <p:nvPr/>
        </p:nvCxnSpPr>
        <p:spPr>
          <a:xfrm flipH="1" flipV="1">
            <a:off x="3265592" y="2630259"/>
            <a:ext cx="838728" cy="368653"/>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graphicFrame>
        <p:nvGraphicFramePr>
          <p:cNvPr id="88" name="Table 87"/>
          <p:cNvGraphicFramePr>
            <a:graphicFrameLocks noGrp="1"/>
          </p:cNvGraphicFramePr>
          <p:nvPr>
            <p:extLst>
              <p:ext uri="{D42A27DB-BD31-4B8C-83A1-F6EECF244321}">
                <p14:modId xmlns:p14="http://schemas.microsoft.com/office/powerpoint/2010/main" val="690881556"/>
              </p:ext>
            </p:extLst>
          </p:nvPr>
        </p:nvGraphicFramePr>
        <p:xfrm>
          <a:off x="4104320" y="3347512"/>
          <a:ext cx="576064" cy="24002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bl>
          </a:graphicData>
        </a:graphic>
      </p:graphicFrame>
      <p:graphicFrame>
        <p:nvGraphicFramePr>
          <p:cNvPr id="89" name="Table 88"/>
          <p:cNvGraphicFramePr>
            <a:graphicFrameLocks noGrp="1"/>
          </p:cNvGraphicFramePr>
          <p:nvPr>
            <p:extLst>
              <p:ext uri="{D42A27DB-BD31-4B8C-83A1-F6EECF244321}">
                <p14:modId xmlns:p14="http://schemas.microsoft.com/office/powerpoint/2010/main" val="3254648865"/>
              </p:ext>
            </p:extLst>
          </p:nvPr>
        </p:nvGraphicFramePr>
        <p:xfrm>
          <a:off x="4104320" y="3712928"/>
          <a:ext cx="576064" cy="240026"/>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1"/>
                  </a:ext>
                </a:extLst>
              </a:tr>
            </a:tbl>
          </a:graphicData>
        </a:graphic>
      </p:graphicFrame>
      <p:graphicFrame>
        <p:nvGraphicFramePr>
          <p:cNvPr id="90" name="Table 89"/>
          <p:cNvGraphicFramePr>
            <a:graphicFrameLocks noGrp="1"/>
          </p:cNvGraphicFramePr>
          <p:nvPr>
            <p:extLst>
              <p:ext uri="{D42A27DB-BD31-4B8C-83A1-F6EECF244321}">
                <p14:modId xmlns:p14="http://schemas.microsoft.com/office/powerpoint/2010/main" val="3476586107"/>
              </p:ext>
            </p:extLst>
          </p:nvPr>
        </p:nvGraphicFramePr>
        <p:xfrm>
          <a:off x="4104320" y="4082906"/>
          <a:ext cx="576064" cy="254884"/>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tblGrid>
              <a:tr h="134871">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0"/>
                  </a:ext>
                </a:extLst>
              </a:tr>
              <a:tr h="120013">
                <a:tc>
                  <a:txBody>
                    <a:bodyPr/>
                    <a:lstStyle/>
                    <a:p>
                      <a:endParaRPr lang="en-US"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A277"/>
                    </a:solidFill>
                  </a:tcPr>
                </a:tc>
                <a:extLst>
                  <a:ext uri="{0D108BD9-81ED-4DB2-BD59-A6C34878D82A}">
                    <a16:rowId xmlns:a16="http://schemas.microsoft.com/office/drawing/2014/main" val="10001"/>
                  </a:ext>
                </a:extLst>
              </a:tr>
            </a:tbl>
          </a:graphicData>
        </a:graphic>
      </p:graphicFrame>
      <p:cxnSp>
        <p:nvCxnSpPr>
          <p:cNvPr id="91" name="Straight Connector 90"/>
          <p:cNvCxnSpPr>
            <a:stCxn id="89" idx="1"/>
            <a:endCxn id="45" idx="6"/>
          </p:cNvCxnSpPr>
          <p:nvPr/>
        </p:nvCxnSpPr>
        <p:spPr>
          <a:xfrm flipH="1">
            <a:off x="3265592" y="3832941"/>
            <a:ext cx="838728"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a:stCxn id="88" idx="1"/>
            <a:endCxn id="45" idx="6"/>
          </p:cNvCxnSpPr>
          <p:nvPr/>
        </p:nvCxnSpPr>
        <p:spPr>
          <a:xfrm flipH="1">
            <a:off x="3265592" y="3467525"/>
            <a:ext cx="838728" cy="365416"/>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93" name="Straight Connector 92"/>
          <p:cNvCxnSpPr>
            <a:stCxn id="90" idx="1"/>
            <a:endCxn id="45" idx="6"/>
          </p:cNvCxnSpPr>
          <p:nvPr/>
        </p:nvCxnSpPr>
        <p:spPr>
          <a:xfrm flipH="1" flipV="1">
            <a:off x="3265592" y="3832941"/>
            <a:ext cx="838728" cy="377407"/>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p:cNvCxnSpPr>
            <a:stCxn id="46" idx="2"/>
            <a:endCxn id="33" idx="3"/>
          </p:cNvCxnSpPr>
          <p:nvPr/>
        </p:nvCxnSpPr>
        <p:spPr>
          <a:xfrm flipH="1" flipV="1">
            <a:off x="4680384" y="1016529"/>
            <a:ext cx="899728" cy="384074"/>
          </a:xfrm>
          <a:prstGeom prst="line">
            <a:avLst/>
          </a:prstGeom>
          <a:ln w="12700" cmpd="sng">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a:stCxn id="46" idx="2"/>
            <a:endCxn id="79" idx="3"/>
          </p:cNvCxnSpPr>
          <p:nvPr/>
        </p:nvCxnSpPr>
        <p:spPr>
          <a:xfrm flipH="1">
            <a:off x="4680384" y="1400603"/>
            <a:ext cx="899728" cy="855486"/>
          </a:xfrm>
          <a:prstGeom prst="line">
            <a:avLst/>
          </a:prstGeom>
          <a:ln w="12700" cmpd="sng">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a:stCxn id="46" idx="2"/>
            <a:endCxn id="88" idx="3"/>
          </p:cNvCxnSpPr>
          <p:nvPr/>
        </p:nvCxnSpPr>
        <p:spPr>
          <a:xfrm flipH="1">
            <a:off x="4680384" y="1400603"/>
            <a:ext cx="899728" cy="2066922"/>
          </a:xfrm>
          <a:prstGeom prst="line">
            <a:avLst/>
          </a:prstGeom>
          <a:ln w="12700" cmpd="sng">
            <a:solidFill>
              <a:srgbClr val="FFC000"/>
            </a:solidFill>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p:cNvCxnSpPr>
            <a:stCxn id="47" idx="2"/>
            <a:endCxn id="34" idx="3"/>
          </p:cNvCxnSpPr>
          <p:nvPr/>
        </p:nvCxnSpPr>
        <p:spPr>
          <a:xfrm flipH="1" flipV="1">
            <a:off x="4680384" y="1400603"/>
            <a:ext cx="899728" cy="1229656"/>
          </a:xfrm>
          <a:prstGeom prst="line">
            <a:avLst/>
          </a:prstGeom>
          <a:ln w="12700" cmpd="sng">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a:stCxn id="47" idx="2"/>
            <a:endCxn id="80" idx="3"/>
          </p:cNvCxnSpPr>
          <p:nvPr/>
        </p:nvCxnSpPr>
        <p:spPr>
          <a:xfrm flipH="1">
            <a:off x="4680384" y="2630259"/>
            <a:ext cx="899728" cy="0"/>
          </a:xfrm>
          <a:prstGeom prst="line">
            <a:avLst/>
          </a:prstGeom>
          <a:ln w="12700" cmpd="sng">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p:cNvCxnSpPr>
            <a:stCxn id="47" idx="2"/>
            <a:endCxn id="89" idx="3"/>
          </p:cNvCxnSpPr>
          <p:nvPr/>
        </p:nvCxnSpPr>
        <p:spPr>
          <a:xfrm flipH="1">
            <a:off x="4680384" y="2630259"/>
            <a:ext cx="899728" cy="1202682"/>
          </a:xfrm>
          <a:prstGeom prst="line">
            <a:avLst/>
          </a:prstGeom>
          <a:ln w="12700" cmpd="sng">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23" name="Straight Connector 122"/>
          <p:cNvCxnSpPr>
            <a:stCxn id="48" idx="2"/>
            <a:endCxn id="35" idx="3"/>
          </p:cNvCxnSpPr>
          <p:nvPr/>
        </p:nvCxnSpPr>
        <p:spPr>
          <a:xfrm flipH="1" flipV="1">
            <a:off x="4680384" y="1784752"/>
            <a:ext cx="899728" cy="2048189"/>
          </a:xfrm>
          <a:prstGeom prst="line">
            <a:avLst/>
          </a:prstGeom>
          <a:ln w="12700" cmpd="sng">
            <a:solidFill>
              <a:srgbClr val="22A277"/>
            </a:solidFill>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48" idx="2"/>
            <a:endCxn id="81" idx="3"/>
          </p:cNvCxnSpPr>
          <p:nvPr/>
        </p:nvCxnSpPr>
        <p:spPr>
          <a:xfrm flipH="1" flipV="1">
            <a:off x="4680384" y="2998912"/>
            <a:ext cx="899728" cy="834029"/>
          </a:xfrm>
          <a:prstGeom prst="line">
            <a:avLst/>
          </a:prstGeom>
          <a:ln w="12700" cmpd="sng">
            <a:solidFill>
              <a:srgbClr val="22A277"/>
            </a:solidFill>
          </a:ln>
          <a:effectLst/>
        </p:spPr>
        <p:style>
          <a:lnRef idx="2">
            <a:schemeClr val="accent1"/>
          </a:lnRef>
          <a:fillRef idx="0">
            <a:schemeClr val="accent1"/>
          </a:fillRef>
          <a:effectRef idx="1">
            <a:schemeClr val="accent1"/>
          </a:effectRef>
          <a:fontRef idx="minor">
            <a:schemeClr val="tx1"/>
          </a:fontRef>
        </p:style>
      </p:cxnSp>
      <p:cxnSp>
        <p:nvCxnSpPr>
          <p:cNvPr id="129" name="Straight Connector 128"/>
          <p:cNvCxnSpPr>
            <a:stCxn id="48" idx="2"/>
            <a:endCxn id="90" idx="3"/>
          </p:cNvCxnSpPr>
          <p:nvPr/>
        </p:nvCxnSpPr>
        <p:spPr>
          <a:xfrm flipH="1">
            <a:off x="4680384" y="3832941"/>
            <a:ext cx="899728" cy="377407"/>
          </a:xfrm>
          <a:prstGeom prst="line">
            <a:avLst/>
          </a:prstGeom>
          <a:ln w="12700" cmpd="sng">
            <a:solidFill>
              <a:srgbClr val="22A277"/>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p:cNvCxnSpPr>
            <a:stCxn id="29" idx="1"/>
            <a:endCxn id="46" idx="6"/>
          </p:cNvCxnSpPr>
          <p:nvPr/>
        </p:nvCxnSpPr>
        <p:spPr>
          <a:xfrm flipH="1">
            <a:off x="5868112" y="1400603"/>
            <a:ext cx="791716"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p:cNvCxnSpPr>
            <a:stCxn id="31" idx="1"/>
            <a:endCxn id="47" idx="6"/>
          </p:cNvCxnSpPr>
          <p:nvPr/>
        </p:nvCxnSpPr>
        <p:spPr>
          <a:xfrm flipH="1">
            <a:off x="5868112" y="2630259"/>
            <a:ext cx="791716"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p:cNvCxnSpPr>
            <a:stCxn id="32" idx="1"/>
            <a:endCxn id="48" idx="6"/>
          </p:cNvCxnSpPr>
          <p:nvPr/>
        </p:nvCxnSpPr>
        <p:spPr>
          <a:xfrm flipH="1">
            <a:off x="5868112" y="3832941"/>
            <a:ext cx="791716"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2392283" y="4507949"/>
            <a:ext cx="1808765" cy="276999"/>
          </a:xfrm>
          <a:prstGeom prst="rect">
            <a:avLst/>
          </a:prstGeom>
          <a:noFill/>
        </p:spPr>
        <p:txBody>
          <a:bodyPr wrap="none" rtlCol="0">
            <a:spAutoFit/>
          </a:bodyPr>
          <a:lstStyle/>
          <a:p>
            <a:r>
              <a:rPr lang="ru-RU" sz="1200" b="1" i="0" dirty="0">
                <a:solidFill>
                  <a:srgbClr val="000000"/>
                </a:solidFill>
                <a:latin typeface="Arial" pitchFamily="34" charset="0"/>
                <a:cs typeface="Arial" pitchFamily="34" charset="0"/>
              </a:rPr>
              <a:t>Этап сопоставления</a:t>
            </a:r>
          </a:p>
        </p:txBody>
      </p:sp>
      <p:sp>
        <p:nvSpPr>
          <p:cNvPr id="143" name="TextBox 142"/>
          <p:cNvSpPr txBox="1"/>
          <p:nvPr/>
        </p:nvSpPr>
        <p:spPr>
          <a:xfrm>
            <a:off x="4866752" y="4507949"/>
            <a:ext cx="1576072" cy="276999"/>
          </a:xfrm>
          <a:prstGeom prst="rect">
            <a:avLst/>
          </a:prstGeom>
          <a:noFill/>
        </p:spPr>
        <p:txBody>
          <a:bodyPr wrap="none" rtlCol="0">
            <a:spAutoFit/>
          </a:bodyPr>
          <a:lstStyle/>
          <a:p>
            <a:r>
              <a:rPr lang="ru-RU" sz="1200" b="1" i="0" dirty="0">
                <a:solidFill>
                  <a:srgbClr val="000000"/>
                </a:solidFill>
                <a:latin typeface="Arial" pitchFamily="34" charset="0"/>
                <a:cs typeface="Arial" pitchFamily="34" charset="0"/>
              </a:rPr>
              <a:t>Этап сокращения</a:t>
            </a:r>
          </a:p>
        </p:txBody>
      </p:sp>
      <p:sp>
        <p:nvSpPr>
          <p:cNvPr id="52" name="TextBox 51"/>
          <p:cNvSpPr txBox="1"/>
          <p:nvPr/>
        </p:nvSpPr>
        <p:spPr>
          <a:xfrm>
            <a:off x="1189056" y="650296"/>
            <a:ext cx="1310548" cy="246221"/>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Входные данные</a:t>
            </a:r>
          </a:p>
        </p:txBody>
      </p:sp>
      <p:sp>
        <p:nvSpPr>
          <p:cNvPr id="55" name="TextBox 54"/>
          <p:cNvSpPr txBox="1"/>
          <p:nvPr/>
        </p:nvSpPr>
        <p:spPr>
          <a:xfrm>
            <a:off x="6334648" y="650296"/>
            <a:ext cx="1444992" cy="246221"/>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Выходные данные</a:t>
            </a:r>
          </a:p>
        </p:txBody>
      </p:sp>
      <p:cxnSp>
        <p:nvCxnSpPr>
          <p:cNvPr id="6" name="Straight Connector 5"/>
          <p:cNvCxnSpPr/>
          <p:nvPr/>
        </p:nvCxnSpPr>
        <p:spPr>
          <a:xfrm>
            <a:off x="1846006" y="4507949"/>
            <a:ext cx="2448000" cy="0"/>
          </a:xfrm>
          <a:prstGeom prst="line">
            <a:avLst/>
          </a:prstGeom>
          <a:ln w="31750" cmpd="sng">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4499992" y="4507949"/>
            <a:ext cx="2520000" cy="0"/>
          </a:xfrm>
          <a:prstGeom prst="line">
            <a:avLst/>
          </a:prstGeom>
          <a:ln w="31750" cmpd="sng">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946546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СХД</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Системы хранения состоят из нескольких узлов, совокупность которых называется кластером</a:t>
            </a:r>
          </a:p>
          <a:p>
            <a:pPr lvl="1"/>
            <a:r>
              <a:rPr lang="ru-RU" sz="1800" b="0" i="0" dirty="0">
                <a:solidFill>
                  <a:srgbClr val="000000"/>
                </a:solidFill>
                <a:latin typeface="Arial" pitchFamily="34" charset="0"/>
                <a:cs typeface="Arial" pitchFamily="34" charset="0"/>
              </a:rPr>
              <a:t>СХД создаются на базе распределенных файловых систем</a:t>
            </a:r>
          </a:p>
          <a:p>
            <a:pPr lvl="1"/>
            <a:r>
              <a:rPr lang="ru-RU" sz="1800" b="0" i="0" dirty="0">
                <a:solidFill>
                  <a:srgbClr val="000000"/>
                </a:solidFill>
                <a:latin typeface="Arial" pitchFamily="34" charset="0"/>
                <a:cs typeface="Arial" pitchFamily="34" charset="0"/>
              </a:rPr>
              <a:t>Каждый узел имеет функциональность для обработки данных и емкость хранения</a:t>
            </a:r>
          </a:p>
          <a:p>
            <a:pPr lvl="1"/>
            <a:r>
              <a:rPr lang="ru-RU" sz="1800" b="0" i="0" dirty="0">
                <a:solidFill>
                  <a:srgbClr val="000000"/>
                </a:solidFill>
                <a:latin typeface="Arial" pitchFamily="34" charset="0"/>
                <a:cs typeface="Arial" pitchFamily="34" charset="0"/>
              </a:rPr>
              <a:t>Высокомасштабируемая архитектура</a:t>
            </a:r>
          </a:p>
          <a:p>
            <a:r>
              <a:rPr lang="ru-RU" sz="2000" b="0" i="0" dirty="0">
                <a:solidFill>
                  <a:srgbClr val="000000"/>
                </a:solidFill>
                <a:latin typeface="Arial" pitchFamily="34" charset="0"/>
                <a:cs typeface="Arial" pitchFamily="34" charset="0"/>
              </a:rPr>
              <a:t>Поверх распределенной файловой системы можно внедрить базу данных NoSQL</a:t>
            </a:r>
          </a:p>
          <a:p>
            <a:pPr lvl="1"/>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861945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Запросы</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Упрощают указание операций MapReduce, а также получение и анализ результатов </a:t>
            </a:r>
          </a:p>
          <a:p>
            <a:pPr lvl="1"/>
            <a:r>
              <a:rPr lang="ru-RU" sz="1800" b="0" i="0" dirty="0">
                <a:solidFill>
                  <a:srgbClr val="000000"/>
                </a:solidFill>
                <a:latin typeface="Arial" pitchFamily="34" charset="0"/>
                <a:cs typeface="Arial" pitchFamily="34" charset="0"/>
              </a:rPr>
              <a:t>Предназначены для извлечения и обработки больших объемов неструктурированных данных</a:t>
            </a:r>
          </a:p>
          <a:p>
            <a:pPr lvl="1"/>
            <a:r>
              <a:rPr lang="ru-RU" sz="1800" b="0" i="0" dirty="0">
                <a:solidFill>
                  <a:srgbClr val="000000"/>
                </a:solidFill>
                <a:latin typeface="Arial" pitchFamily="34" charset="0"/>
                <a:cs typeface="Arial" pitchFamily="34" charset="0"/>
              </a:rPr>
              <a:t>Предоставляют поддержку для аналитики и отчетности</a:t>
            </a:r>
          </a:p>
          <a:p>
            <a:pPr lvl="1"/>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054686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612186" cy="457200"/>
          </a:xfrm>
        </p:spPr>
        <p:txBody>
          <a:bodyPr/>
          <a:lstStyle/>
          <a:p>
            <a:r>
              <a:rPr lang="ru-RU" sz="2700" b="0" i="0" dirty="0">
                <a:solidFill>
                  <a:srgbClr val="2C95DD"/>
                </a:solidFill>
                <a:latin typeface="Arial" pitchFamily="34" charset="0"/>
                <a:cs typeface="Arial" pitchFamily="34" charset="0"/>
              </a:rPr>
              <a:t>Сценарии использования аналитики больших данных</a:t>
            </a:r>
          </a:p>
        </p:txBody>
      </p:sp>
      <p:graphicFrame>
        <p:nvGraphicFramePr>
          <p:cNvPr id="6" name="Content Placeholder 4"/>
          <p:cNvGraphicFramePr>
            <a:graphicFrameLocks noGrp="1"/>
          </p:cNvGraphicFramePr>
          <p:nvPr>
            <p:ph sz="quarter" idx="10"/>
            <p:extLst>
              <p:ext uri="{D42A27DB-BD31-4B8C-83A1-F6EECF244321}">
                <p14:modId xmlns:p14="http://schemas.microsoft.com/office/powerpoint/2010/main" val="1258670001"/>
              </p:ext>
            </p:extLst>
          </p:nvPr>
        </p:nvGraphicFramePr>
        <p:xfrm>
          <a:off x="379413" y="990600"/>
          <a:ext cx="8458200" cy="3230880"/>
        </p:xfrm>
        <a:graphic>
          <a:graphicData uri="http://schemas.openxmlformats.org/drawingml/2006/table">
            <a:tbl>
              <a:tblPr firstRow="1" bandRow="1">
                <a:tableStyleId>{5C22544A-7EE6-4342-B048-85BDC9FD1C3A}</a:tableStyleId>
              </a:tblPr>
              <a:tblGrid>
                <a:gridCol w="1744315">
                  <a:extLst>
                    <a:ext uri="{9D8B030D-6E8A-4147-A177-3AD203B41FA5}">
                      <a16:colId xmlns:a16="http://schemas.microsoft.com/office/drawing/2014/main" val="20000"/>
                    </a:ext>
                  </a:extLst>
                </a:gridCol>
                <a:gridCol w="6713885">
                  <a:extLst>
                    <a:ext uri="{9D8B030D-6E8A-4147-A177-3AD203B41FA5}">
                      <a16:colId xmlns:a16="http://schemas.microsoft.com/office/drawing/2014/main" val="20001"/>
                    </a:ext>
                  </a:extLst>
                </a:gridCol>
              </a:tblGrid>
              <a:tr h="370840">
                <a:tc>
                  <a:txBody>
                    <a:bodyPr/>
                    <a:lstStyle/>
                    <a:p>
                      <a:r>
                        <a:rPr lang="ru-RU" sz="1300" b="1" i="0" dirty="0">
                          <a:solidFill>
                            <a:srgbClr val="FFFFFF"/>
                          </a:solidFill>
                          <a:latin typeface="Arial" pitchFamily="34" charset="0"/>
                          <a:cs typeface="Arial" pitchFamily="34" charset="0"/>
                        </a:rPr>
                        <a:t>Сценарий использования</a:t>
                      </a:r>
                    </a:p>
                  </a:txBody>
                  <a:tcPr/>
                </a:tc>
                <a:tc>
                  <a:txBody>
                    <a:bodyPr/>
                    <a:lstStyle/>
                    <a:p>
                      <a:r>
                        <a:rPr lang="ru-RU" sz="13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300" b="0" i="0" dirty="0">
                          <a:solidFill>
                            <a:srgbClr val="000000"/>
                          </a:solidFill>
                          <a:latin typeface="Arial" pitchFamily="34" charset="0"/>
                          <a:cs typeface="Arial" pitchFamily="34" charset="0"/>
                        </a:rPr>
                        <a:t>Здравоохранение</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Анализ консолидированной диагностической информации </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Отслеживание состояния здоровья пациентов в режиме реального времени</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Повышение качества обслуживания пациентов</a:t>
                      </a:r>
                    </a:p>
                  </a:txBody>
                  <a:tcPr/>
                </a:tc>
                <a:extLst>
                  <a:ext uri="{0D108BD9-81ED-4DB2-BD59-A6C34878D82A}">
                    <a16:rowId xmlns:a16="http://schemas.microsoft.com/office/drawing/2014/main" val="10001"/>
                  </a:ext>
                </a:extLst>
              </a:tr>
              <a:tr h="370840">
                <a:tc>
                  <a:txBody>
                    <a:bodyPr/>
                    <a:lstStyle/>
                    <a:p>
                      <a:r>
                        <a:rPr lang="ru-RU" sz="1300" b="0" i="0" dirty="0">
                          <a:solidFill>
                            <a:srgbClr val="000000"/>
                          </a:solidFill>
                          <a:latin typeface="Arial" pitchFamily="34" charset="0"/>
                          <a:cs typeface="Arial" pitchFamily="34" charset="0"/>
                        </a:rPr>
                        <a:t>Финансы</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Анализ истории покупок и создание профилей заказчиков </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Повышение эффективности промопрограмм по продажам</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Обнаружение мошенничества</a:t>
                      </a:r>
                    </a:p>
                  </a:txBody>
                  <a:tcPr/>
                </a:tc>
                <a:extLst>
                  <a:ext uri="{0D108BD9-81ED-4DB2-BD59-A6C34878D82A}">
                    <a16:rowId xmlns:a16="http://schemas.microsoft.com/office/drawing/2014/main" val="10002"/>
                  </a:ext>
                </a:extLst>
              </a:tr>
              <a:tr h="370840">
                <a:tc>
                  <a:txBody>
                    <a:bodyPr/>
                    <a:lstStyle/>
                    <a:p>
                      <a:r>
                        <a:rPr lang="ru-RU" sz="1300" b="0" i="0" dirty="0">
                          <a:solidFill>
                            <a:srgbClr val="000000"/>
                          </a:solidFill>
                          <a:latin typeface="Arial" pitchFamily="34" charset="0"/>
                          <a:cs typeface="Arial" pitchFamily="34" charset="0"/>
                        </a:rPr>
                        <a:t>Торговля</a:t>
                      </a:r>
                    </a:p>
                  </a:txBody>
                  <a:tcPr/>
                </a:tc>
                <a:tc>
                  <a:txBody>
                    <a:bodyPr/>
                    <a:lstStyle/>
                    <a:p>
                      <a:pPr marL="285750" indent="-285750">
                        <a:buFont typeface="Arial" panose="020B0604020202020204" pitchFamily="34" charset="0"/>
                        <a:buChar char="•"/>
                      </a:pPr>
                      <a:r>
                        <a:rPr lang="ru-RU" sz="1300" b="0" i="0">
                          <a:solidFill>
                            <a:srgbClr val="000000"/>
                          </a:solidFill>
                          <a:latin typeface="Arial" pitchFamily="34" charset="0"/>
                          <a:cs typeface="Arial" pitchFamily="34" charset="0"/>
                        </a:rPr>
                        <a:t>Анализ выполненных транзакций, ценообразования и поведения заказчиков</a:t>
                      </a:r>
                    </a:p>
                    <a:p>
                      <a:pPr marL="285750" indent="-285750">
                        <a:buFont typeface="Arial" panose="020B0604020202020204" pitchFamily="34" charset="0"/>
                        <a:buChar char="•"/>
                      </a:pPr>
                      <a:r>
                        <a:rPr lang="ru-RU" sz="1300" b="0" i="0">
                          <a:solidFill>
                            <a:srgbClr val="000000"/>
                          </a:solidFill>
                          <a:latin typeface="Arial" pitchFamily="34" charset="0"/>
                          <a:cs typeface="Arial" pitchFamily="34" charset="0"/>
                        </a:rPr>
                        <a:t>Оптимизация ценообразования, прогнозирование спроса, повышение качества маркетинга и управление запасами</a:t>
                      </a:r>
                      <a:endParaRPr lang="ru-RU" sz="1300" b="0" i="0" dirty="0">
                        <a:solidFill>
                          <a:srgbClr val="000000"/>
                        </a:solidFill>
                        <a:latin typeface="Arial" pitchFamily="34" charset="0"/>
                        <a:cs typeface="Arial" pitchFamily="34" charset="0"/>
                      </a:endParaRPr>
                    </a:p>
                  </a:txBody>
                  <a:tcPr/>
                </a:tc>
                <a:extLst>
                  <a:ext uri="{0D108BD9-81ED-4DB2-BD59-A6C34878D82A}">
                    <a16:rowId xmlns:a16="http://schemas.microsoft.com/office/drawing/2014/main" val="10003"/>
                  </a:ext>
                </a:extLst>
              </a:tr>
              <a:tr h="370840">
                <a:tc>
                  <a:txBody>
                    <a:bodyPr/>
                    <a:lstStyle/>
                    <a:p>
                      <a:r>
                        <a:rPr lang="ru-RU" sz="1300" b="0" i="0" dirty="0">
                          <a:solidFill>
                            <a:srgbClr val="000000"/>
                          </a:solidFill>
                          <a:latin typeface="Arial" pitchFamily="34" charset="0"/>
                          <a:cs typeface="Arial" pitchFamily="34" charset="0"/>
                        </a:rPr>
                        <a:t>Правительственный сектор</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Управление большими данными и использование их для социальных служб, борьбы с преступностью, в сфере образования, оборонной и финансовой отраслях</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33814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Определение больших данных </a:t>
            </a:r>
          </a:p>
          <a:p>
            <a:pPr>
              <a:defRPr/>
            </a:pPr>
            <a:r>
              <a:rPr lang="ru-RU" sz="2000" b="0" i="0" dirty="0">
                <a:solidFill>
                  <a:srgbClr val="000000"/>
                </a:solidFill>
                <a:latin typeface="Arial" pitchFamily="34" charset="0"/>
                <a:cs typeface="Arial" pitchFamily="34" charset="0"/>
              </a:rPr>
              <a:t>Ключевые характеристики больших данных </a:t>
            </a:r>
          </a:p>
          <a:p>
            <a:pPr>
              <a:defRPr/>
            </a:pPr>
            <a:r>
              <a:rPr lang="ru-RU" sz="2000" b="0" i="0" dirty="0">
                <a:solidFill>
                  <a:srgbClr val="000000"/>
                </a:solidFill>
                <a:latin typeface="Arial" pitchFamily="34" charset="0"/>
                <a:cs typeface="Arial" pitchFamily="34" charset="0"/>
              </a:rPr>
              <a:t>Компоненты решения для аналитики больших данных: система хранения, MapReduce и запросы</a:t>
            </a:r>
          </a:p>
          <a:p>
            <a:pPr>
              <a:defRPr/>
            </a:pPr>
            <a:r>
              <a:rPr lang="ru-RU" sz="2000" b="0" i="0" dirty="0">
                <a:solidFill>
                  <a:srgbClr val="000000"/>
                </a:solidFill>
                <a:latin typeface="Arial" pitchFamily="34" charset="0"/>
                <a:cs typeface="Arial" pitchFamily="34" charset="0"/>
              </a:rPr>
              <a:t>Сценарии использования аналитики больших данных</a:t>
            </a:r>
          </a:p>
          <a:p>
            <a:pPr>
              <a:defRPr/>
            </a:pPr>
            <a:endParaRPr lang="en-US" dirty="0">
              <a:latin typeface="Arial" pitchFamily="34" charset="0"/>
              <a:cs typeface="Arial" pitchFamily="34" charset="0"/>
            </a:endParaRPr>
          </a:p>
          <a:p>
            <a:pPr marL="0" indent="0">
              <a:buNone/>
            </a:pPr>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84288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Социальные сети и мобильные технологии</a:t>
            </a:r>
          </a:p>
        </p:txBody>
      </p:sp>
      <p:sp>
        <p:nvSpPr>
          <p:cNvPr id="5" name="Content Placeholder 4"/>
          <p:cNvSpPr>
            <a:spLocks noGrp="1"/>
          </p:cNvSpPr>
          <p:nvPr>
            <p:ph sz="quarter" idx="10"/>
          </p:nvPr>
        </p:nvSpPr>
        <p:spPr>
          <a:xfrm>
            <a:off x="533402" y="1426464"/>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Социальные сети, их анализ и сценарии использования</a:t>
            </a:r>
          </a:p>
          <a:p>
            <a:pPr>
              <a:defRPr/>
            </a:pPr>
            <a:r>
              <a:rPr lang="ru-RU" sz="2000" b="0" i="0" dirty="0">
                <a:solidFill>
                  <a:srgbClr val="000000"/>
                </a:solidFill>
                <a:latin typeface="Arial" pitchFamily="34" charset="0"/>
                <a:cs typeface="Arial" pitchFamily="34" charset="0"/>
              </a:rPr>
              <a:t>Мобильные технологии и сценарии их использования</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328760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154986" cy="457200"/>
          </a:xfrm>
        </p:spPr>
        <p:txBody>
          <a:bodyPr/>
          <a:lstStyle/>
          <a:p>
            <a:r>
              <a:rPr lang="ru-RU" sz="2800" b="0" i="0" dirty="0">
                <a:solidFill>
                  <a:srgbClr val="2C95DD"/>
                </a:solidFill>
                <a:latin typeface="Arial" pitchFamily="34" charset="0"/>
                <a:cs typeface="Arial" pitchFamily="34" charset="0"/>
              </a:rPr>
              <a:t>Что собой представляет работа в социальных</a:t>
            </a:r>
            <a:r>
              <a:rPr lang="en-US" sz="2800" b="0" i="0" dirty="0">
                <a:solidFill>
                  <a:srgbClr val="2C95DD"/>
                </a:solidFill>
                <a:latin typeface="Arial" pitchFamily="34" charset="0"/>
                <a:cs typeface="Arial" pitchFamily="34" charset="0"/>
              </a:rPr>
              <a:t> </a:t>
            </a:r>
            <a:r>
              <a:rPr lang="ru-RU" sz="2800" b="0" i="0" dirty="0">
                <a:solidFill>
                  <a:srgbClr val="2C95DD"/>
                </a:solidFill>
                <a:latin typeface="Arial" pitchFamily="34" charset="0"/>
                <a:cs typeface="Arial" pitchFamily="34" charset="0"/>
              </a:rPr>
              <a:t>сетях?</a:t>
            </a:r>
          </a:p>
        </p:txBody>
      </p:sp>
      <p:sp>
        <p:nvSpPr>
          <p:cNvPr id="5" name="Content Placeholder 4"/>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Налаживание связей с другими пользователями сети для расширения общественных и/или деловых контактов</a:t>
            </a:r>
          </a:p>
          <a:p>
            <a:pPr lvl="1"/>
            <a:r>
              <a:rPr lang="ru-RU" sz="1800" b="0" i="0" dirty="0">
                <a:solidFill>
                  <a:srgbClr val="000000"/>
                </a:solidFill>
                <a:latin typeface="Arial" pitchFamily="34" charset="0"/>
                <a:cs typeface="Arial" pitchFamily="34" charset="0"/>
              </a:rPr>
              <a:t>В результате такого взаимодействия появляется социальная сеть — структура взаимосвязей людей по принципу «многие-ко-многим» </a:t>
            </a:r>
          </a:p>
          <a:p>
            <a:r>
              <a:rPr lang="ru-RU" sz="2000" b="0" i="0" dirty="0">
                <a:solidFill>
                  <a:srgbClr val="000000"/>
                </a:solidFill>
                <a:latin typeface="Arial" pitchFamily="34" charset="0"/>
                <a:cs typeface="Arial" pitchFamily="34" charset="0"/>
              </a:rPr>
              <a:t>Онлайн-сервисы для работы в сети предоставляют глобальную платформу на основе веб-интерфейса для создания социальных сетей</a:t>
            </a:r>
          </a:p>
          <a:p>
            <a:pPr lvl="1"/>
            <a:r>
              <a:rPr lang="ru-RU" sz="1800" b="0" i="0" dirty="0">
                <a:solidFill>
                  <a:srgbClr val="000000"/>
                </a:solidFill>
                <a:latin typeface="Arial" pitchFamily="34" charset="0"/>
                <a:cs typeface="Arial" pitchFamily="34" charset="0"/>
              </a:rPr>
              <a:t>Социальные сети позволяют отдельным лицам или организациям связываться друг с другом и обмениваться цифровым содержанием</a:t>
            </a:r>
          </a:p>
        </p:txBody>
      </p:sp>
      <p:grpSp>
        <p:nvGrpSpPr>
          <p:cNvPr id="11" name="Group 10"/>
          <p:cNvGrpSpPr/>
          <p:nvPr/>
        </p:nvGrpSpPr>
        <p:grpSpPr>
          <a:xfrm>
            <a:off x="2692217" y="4048950"/>
            <a:ext cx="3759567" cy="504000"/>
            <a:chOff x="2972625" y="3867950"/>
            <a:chExt cx="3759567" cy="504000"/>
          </a:xfrm>
        </p:grpSpPr>
        <p:pic>
          <p:nvPicPr>
            <p:cNvPr id="4" name="Picture 3"/>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2972625" y="3903950"/>
              <a:ext cx="432000" cy="432000"/>
            </a:xfrm>
            <a:prstGeom prst="rect">
              <a:avLst/>
            </a:prstGeom>
          </p:spPr>
        </p:pic>
        <p:pic>
          <p:nvPicPr>
            <p:cNvPr id="6" name="Picture 5"/>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6300192" y="3903950"/>
              <a:ext cx="432000" cy="432000"/>
            </a:xfrm>
            <a:prstGeom prst="rect">
              <a:avLst/>
            </a:prstGeom>
          </p:spPr>
        </p:pic>
        <p:pic>
          <p:nvPicPr>
            <p:cNvPr id="7" name="Picture 6"/>
            <p:cNvPicPr>
              <a:picLocks noChangeAspect="1"/>
            </p:cNvPicPr>
            <p:nvPr>
              <p:custDataLst>
                <p:tags r:id="rId4"/>
              </p:custDataLst>
            </p:nvPr>
          </p:nvPicPr>
          <p:blipFill rotWithShape="1">
            <a:blip r:embed="rId12">
              <a:extLst>
                <a:ext uri="{28A0092B-C50C-407E-A947-70E740481C1C}">
                  <a14:useLocalDpi xmlns:a14="http://schemas.microsoft.com/office/drawing/2010/main" val="0"/>
                </a:ext>
              </a:extLst>
            </a:blip>
            <a:srcRect r="11140"/>
            <a:stretch/>
          </p:blipFill>
          <p:spPr>
            <a:xfrm>
              <a:off x="4336743" y="3903950"/>
              <a:ext cx="432534" cy="432000"/>
            </a:xfrm>
            <a:prstGeom prst="rect">
              <a:avLst/>
            </a:prstGeom>
          </p:spPr>
        </p:pic>
        <p:pic>
          <p:nvPicPr>
            <p:cNvPr id="8" name="Picture 7"/>
            <p:cNvPicPr>
              <a:picLocks noChangeAspect="1"/>
            </p:cNvPicPr>
            <p:nvPr>
              <p:custDataLst>
                <p:tags r:id="rId5"/>
              </p:custDataLst>
            </p:nvPr>
          </p:nvPicPr>
          <p:blipFill rotWithShape="1">
            <a:blip r:embed="rId13">
              <a:extLst>
                <a:ext uri="{28A0092B-C50C-407E-A947-70E740481C1C}">
                  <a14:useLocalDpi xmlns:a14="http://schemas.microsoft.com/office/drawing/2010/main" val="0"/>
                </a:ext>
              </a:extLst>
            </a:blip>
            <a:srcRect l="10017" t="10534" r="9781" b="9678"/>
            <a:stretch/>
          </p:blipFill>
          <p:spPr>
            <a:xfrm>
              <a:off x="4969490" y="3867950"/>
              <a:ext cx="506610" cy="504000"/>
            </a:xfrm>
            <a:prstGeom prst="rect">
              <a:avLst/>
            </a:prstGeom>
          </p:spPr>
        </p:pic>
        <p:pic>
          <p:nvPicPr>
            <p:cNvPr id="9" name="Picture 8"/>
            <p:cNvPicPr>
              <a:picLocks noChangeAspect="1"/>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3604838" y="3903950"/>
              <a:ext cx="531692" cy="432000"/>
            </a:xfrm>
            <a:prstGeom prst="rect">
              <a:avLst/>
            </a:prstGeom>
          </p:spPr>
        </p:pic>
        <p:pic>
          <p:nvPicPr>
            <p:cNvPr id="1026" name="Picture 2" descr="C:\Users\prasap1\Desktop\ig-logo.jpg"/>
            <p:cNvPicPr>
              <a:picLocks noChangeAspect="1" noChangeArrowheads="1"/>
            </p:cNvPicPr>
            <p:nvPr>
              <p:custDataLst>
                <p:tags r:id="rId7"/>
              </p:custDataLst>
            </p:nvPr>
          </p:nvPicPr>
          <p:blipFill rotWithShape="1">
            <a:blip r:embed="rId15">
              <a:extLst>
                <a:ext uri="{28A0092B-C50C-407E-A947-70E740481C1C}">
                  <a14:useLocalDpi xmlns:a14="http://schemas.microsoft.com/office/drawing/2010/main" val="0"/>
                </a:ext>
              </a:extLst>
            </a:blip>
            <a:srcRect l="15797" r="16028"/>
            <a:stretch/>
          </p:blipFill>
          <p:spPr bwMode="auto">
            <a:xfrm>
              <a:off x="5676313" y="3903950"/>
              <a:ext cx="423667" cy="432000"/>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416493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Анализ социальных сетей</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Процесс анализа моделей взаимосвязей в социальных сетях для получения полезных сведений</a:t>
            </a:r>
          </a:p>
          <a:p>
            <a:pPr lvl="1"/>
            <a:r>
              <a:rPr lang="ru-RU" sz="1800" b="0" i="0" dirty="0">
                <a:solidFill>
                  <a:srgbClr val="000000"/>
                </a:solidFill>
                <a:latin typeface="Arial" pitchFamily="34" charset="0"/>
                <a:cs typeface="Arial" pitchFamily="34" charset="0"/>
              </a:rPr>
              <a:t>Включает сбор данных из многочисленных источников, определение взаимосвязей и получение новой информации</a:t>
            </a:r>
          </a:p>
          <a:p>
            <a:r>
              <a:rPr lang="ru-RU" sz="2000" b="0" i="0" dirty="0">
                <a:solidFill>
                  <a:srgbClr val="000000"/>
                </a:solidFill>
                <a:latin typeface="Arial" pitchFamily="34" charset="0"/>
                <a:cs typeface="Arial" pitchFamily="34" charset="0"/>
              </a:rPr>
              <a:t>Позволяет определять эффективность взаимосвязей, идентифицировать влиятельных людей, ассоциации и тенденции</a:t>
            </a:r>
          </a:p>
          <a:p>
            <a:r>
              <a:rPr lang="ru-RU" sz="2000" b="0" i="0" dirty="0">
                <a:solidFill>
                  <a:srgbClr val="000000"/>
                </a:solidFill>
                <a:latin typeface="Arial" pitchFamily="34" charset="0"/>
                <a:cs typeface="Arial" pitchFamily="34" charset="0"/>
              </a:rPr>
              <a:t>Использует методы общественных наук, математики, статистики и информатики</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18985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Сценарии использования социальных сетей</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2666882020"/>
              </p:ext>
            </p:extLst>
          </p:nvPr>
        </p:nvGraphicFramePr>
        <p:xfrm>
          <a:off x="387475" y="990600"/>
          <a:ext cx="8369051" cy="3017520"/>
        </p:xfrm>
        <a:graphic>
          <a:graphicData uri="http://schemas.openxmlformats.org/drawingml/2006/table">
            <a:tbl>
              <a:tblPr firstRow="1" bandRow="1">
                <a:tableStyleId>{5C22544A-7EE6-4342-B048-85BDC9FD1C3A}</a:tableStyleId>
              </a:tblPr>
              <a:tblGrid>
                <a:gridCol w="2032347">
                  <a:extLst>
                    <a:ext uri="{9D8B030D-6E8A-4147-A177-3AD203B41FA5}">
                      <a16:colId xmlns:a16="http://schemas.microsoft.com/office/drawing/2014/main" val="20000"/>
                    </a:ext>
                  </a:extLst>
                </a:gridCol>
                <a:gridCol w="6336704">
                  <a:extLst>
                    <a:ext uri="{9D8B030D-6E8A-4147-A177-3AD203B41FA5}">
                      <a16:colId xmlns:a16="http://schemas.microsoft.com/office/drawing/2014/main" val="20001"/>
                    </a:ext>
                  </a:extLst>
                </a:gridCol>
              </a:tblGrid>
              <a:tr h="370840">
                <a:tc>
                  <a:txBody>
                    <a:bodyPr/>
                    <a:lstStyle/>
                    <a:p>
                      <a:r>
                        <a:rPr lang="ru-RU" sz="1400" b="1" i="0" dirty="0">
                          <a:solidFill>
                            <a:srgbClr val="FFFFFF"/>
                          </a:solidFill>
                          <a:latin typeface="Arial" pitchFamily="34" charset="0"/>
                          <a:cs typeface="Arial" pitchFamily="34" charset="0"/>
                        </a:rPr>
                        <a:t>Сценарий использования</a:t>
                      </a:r>
                    </a:p>
                  </a:txBody>
                  <a:tcPr/>
                </a:tc>
                <a:tc>
                  <a:txBody>
                    <a:bodyPr/>
                    <a:lstStyle/>
                    <a:p>
                      <a:r>
                        <a:rPr lang="ru-RU" sz="14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400" b="0" i="0" dirty="0">
                          <a:solidFill>
                            <a:srgbClr val="000000"/>
                          </a:solidFill>
                          <a:latin typeface="Arial" pitchFamily="34" charset="0"/>
                          <a:cs typeface="Arial" pitchFamily="34" charset="0"/>
                        </a:rPr>
                        <a:t>Продвижение бренда в сети</a:t>
                      </a:r>
                    </a:p>
                  </a:txBody>
                  <a:tcPr/>
                </a:tc>
                <a:tc>
                  <a:txBody>
                    <a:bodyPr/>
                    <a:lstStyle/>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Демонстрация продуктов и взаимодействие с заказчиками</a:t>
                      </a:r>
                    </a:p>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Повышение узнаваемости бренда</a:t>
                      </a:r>
                    </a:p>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Получение новых сведений о заказчиках по результатам аналитики</a:t>
                      </a:r>
                    </a:p>
                  </a:txBody>
                  <a:tcPr/>
                </a:tc>
                <a:extLst>
                  <a:ext uri="{0D108BD9-81ED-4DB2-BD59-A6C34878D82A}">
                    <a16:rowId xmlns:a16="http://schemas.microsoft.com/office/drawing/2014/main" val="10001"/>
                  </a:ext>
                </a:extLst>
              </a:tr>
              <a:tr h="370840">
                <a:tc>
                  <a:txBody>
                    <a:bodyPr/>
                    <a:lstStyle/>
                    <a:p>
                      <a:r>
                        <a:rPr lang="ru-RU" sz="1400" b="0" i="0" dirty="0">
                          <a:solidFill>
                            <a:srgbClr val="000000"/>
                          </a:solidFill>
                          <a:latin typeface="Arial" pitchFamily="34" charset="0"/>
                          <a:cs typeface="Arial" pitchFamily="34" charset="0"/>
                        </a:rPr>
                        <a:t>Сотрудничество между предприятиями</a:t>
                      </a:r>
                    </a:p>
                  </a:txBody>
                  <a:tcPr/>
                </a:tc>
                <a:tc>
                  <a:txBody>
                    <a:bodyPr/>
                    <a:lstStyle/>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Обеспечение связи и совместной работы сотрудников</a:t>
                      </a:r>
                    </a:p>
                  </a:txBody>
                  <a:tcPr/>
                </a:tc>
                <a:extLst>
                  <a:ext uri="{0D108BD9-81ED-4DB2-BD59-A6C34878D82A}">
                    <a16:rowId xmlns:a16="http://schemas.microsoft.com/office/drawing/2014/main" val="10002"/>
                  </a:ext>
                </a:extLst>
              </a:tr>
              <a:tr h="370840">
                <a:tc>
                  <a:txBody>
                    <a:bodyPr/>
                    <a:lstStyle/>
                    <a:p>
                      <a:r>
                        <a:rPr lang="ru-RU" sz="1400" b="0" i="0" dirty="0">
                          <a:solidFill>
                            <a:srgbClr val="000000"/>
                          </a:solidFill>
                          <a:latin typeface="Arial" pitchFamily="34" charset="0"/>
                          <a:cs typeface="Arial" pitchFamily="34" charset="0"/>
                        </a:rPr>
                        <a:t>Аналитическая информация</a:t>
                      </a:r>
                    </a:p>
                  </a:txBody>
                  <a:tcPr/>
                </a:tc>
                <a:tc>
                  <a:txBody>
                    <a:bodyPr/>
                    <a:lstStyle/>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Реклама продуктов на страницах отдельных пользователей</a:t>
                      </a:r>
                    </a:p>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Определение потенциальных заказчиков по результатам аналитики</a:t>
                      </a:r>
                    </a:p>
                  </a:txBody>
                  <a:tcPr/>
                </a:tc>
                <a:extLst>
                  <a:ext uri="{0D108BD9-81ED-4DB2-BD59-A6C34878D82A}">
                    <a16:rowId xmlns:a16="http://schemas.microsoft.com/office/drawing/2014/main" val="10003"/>
                  </a:ext>
                </a:extLst>
              </a:tr>
              <a:tr h="370840">
                <a:tc>
                  <a:txBody>
                    <a:bodyPr/>
                    <a:lstStyle/>
                    <a:p>
                      <a:r>
                        <a:rPr lang="ru-RU" sz="1400" b="0" i="0" dirty="0">
                          <a:solidFill>
                            <a:srgbClr val="000000"/>
                          </a:solidFill>
                          <a:latin typeface="Arial" pitchFamily="34" charset="0"/>
                          <a:cs typeface="Arial" pitchFamily="34" charset="0"/>
                        </a:rPr>
                        <a:t>Обслуживание заказчиков</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400" b="0" i="0" dirty="0">
                          <a:solidFill>
                            <a:srgbClr val="000000"/>
                          </a:solidFill>
                          <a:latin typeface="Arial" pitchFamily="34" charset="0"/>
                          <a:cs typeface="Arial" pitchFamily="34" charset="0"/>
                        </a:rPr>
                        <a:t>Отслеживание отзывов потребителей и устранение проблем</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09458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собой представляет работа с мобильными технологиями?</a:t>
            </a:r>
          </a:p>
        </p:txBody>
      </p:sp>
      <p:sp>
        <p:nvSpPr>
          <p:cNvPr id="3" name="Content Placeholder 2"/>
          <p:cNvSpPr>
            <a:spLocks noGrp="1"/>
          </p:cNvSpPr>
          <p:nvPr>
            <p:ph sz="quarter" idx="10"/>
          </p:nvPr>
        </p:nvSpPr>
        <p:spPr>
          <a:xfrm>
            <a:off x="379414" y="990600"/>
            <a:ext cx="4624634" cy="3429000"/>
          </a:xfrm>
        </p:spPr>
        <p:txBody>
          <a:bodyPr/>
          <a:lstStyle/>
          <a:p>
            <a:r>
              <a:rPr lang="ru-RU" sz="2000" b="0" i="0" dirty="0">
                <a:solidFill>
                  <a:srgbClr val="000000"/>
                </a:solidFill>
                <a:latin typeface="Arial" pitchFamily="34" charset="0"/>
                <a:cs typeface="Arial" pitchFamily="34" charset="0"/>
              </a:rPr>
              <a:t>Использование мобильных устройств для удаленного доступа</a:t>
            </a:r>
            <a:br>
              <a:rPr lang="en-US" sz="2000" b="0" i="0" dirty="0">
                <a:solidFill>
                  <a:srgbClr val="FF00FF"/>
                </a:solidFill>
                <a:latin typeface="Arial" pitchFamily="34" charset="0"/>
                <a:cs typeface="Arial" pitchFamily="34" charset="0"/>
              </a:rPr>
            </a:br>
            <a:r>
              <a:rPr lang="ru-RU" sz="2000" b="0" i="0" dirty="0">
                <a:solidFill>
                  <a:srgbClr val="000000"/>
                </a:solidFill>
                <a:latin typeface="Arial" pitchFamily="34" charset="0"/>
                <a:cs typeface="Arial" pitchFamily="34" charset="0"/>
              </a:rPr>
              <a:t> к приложениям и информации из любого местоположения по беспроводной сети</a:t>
            </a:r>
          </a:p>
          <a:p>
            <a:pPr lvl="1"/>
            <a:r>
              <a:rPr lang="ru-RU" sz="1800" b="0" i="0" dirty="0">
                <a:solidFill>
                  <a:srgbClr val="000000"/>
                </a:solidFill>
                <a:latin typeface="Arial" pitchFamily="34" charset="0"/>
                <a:cs typeface="Arial" pitchFamily="34" charset="0"/>
              </a:rPr>
              <a:t>К мобильным устройствам относятся ноутбуки, планшеты, смартфоны и КПК</a:t>
            </a:r>
          </a:p>
        </p:txBody>
      </p:sp>
      <p:grpSp>
        <p:nvGrpSpPr>
          <p:cNvPr id="41" name="Group 40"/>
          <p:cNvGrpSpPr/>
          <p:nvPr/>
        </p:nvGrpSpPr>
        <p:grpSpPr>
          <a:xfrm>
            <a:off x="5104909" y="1059582"/>
            <a:ext cx="3540794" cy="3409742"/>
            <a:chOff x="5104909" y="1059582"/>
            <a:chExt cx="3540794" cy="3409742"/>
          </a:xfrm>
        </p:grpSpPr>
        <p:cxnSp>
          <p:nvCxnSpPr>
            <p:cNvPr id="55" name="Straight Connector 54"/>
            <p:cNvCxnSpPr/>
            <p:nvPr/>
          </p:nvCxnSpPr>
          <p:spPr>
            <a:xfrm flipV="1">
              <a:off x="6781882" y="3011325"/>
              <a:ext cx="1618015" cy="1"/>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6783875" y="1282217"/>
              <a:ext cx="1618015" cy="1"/>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5104909" y="1720354"/>
              <a:ext cx="1473033" cy="828000"/>
            </a:xfrm>
            <a:prstGeom prst="roundRect">
              <a:avLst/>
            </a:prstGeom>
            <a:solidFill>
              <a:schemeClr val="accent4">
                <a:lumMod val="40000"/>
                <a:lumOff val="60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t"/>
            <a:lstStyle/>
            <a:p>
              <a:endParaRPr lang="en-US" sz="600" b="1" dirty="0">
                <a:solidFill>
                  <a:schemeClr val="tx1"/>
                </a:solidFill>
                <a:latin typeface="Arial" pitchFamily="34" charset="0"/>
                <a:cs typeface="Arial" pitchFamily="34" charset="0"/>
              </a:endParaRPr>
            </a:p>
          </p:txBody>
        </p:sp>
        <p:cxnSp>
          <p:nvCxnSpPr>
            <p:cNvPr id="7" name="Straight Connector 6"/>
            <p:cNvCxnSpPr>
              <a:endCxn id="23" idx="2"/>
            </p:cNvCxnSpPr>
            <p:nvPr/>
          </p:nvCxnSpPr>
          <p:spPr>
            <a:xfrm flipV="1">
              <a:off x="6461497" y="1504854"/>
              <a:ext cx="1" cy="578066"/>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461497" y="2202858"/>
              <a:ext cx="0" cy="57808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398123" y="1282218"/>
              <a:ext cx="788" cy="75600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pic>
          <p:nvPicPr>
            <p:cNvPr id="11" name="Picture 3" descr="C:\Users\patils1\Desktop\2013 Projects\CIS v2\CIS Slide Deck_Based on Book\Colored Graphics\LAN-WA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1591" y="2780939"/>
              <a:ext cx="690475" cy="44527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C:\Users\prasap1\Desktop\wifi.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04156" y="2875735"/>
              <a:ext cx="305800" cy="254987"/>
            </a:xfrm>
            <a:prstGeom prst="rect">
              <a:avLst/>
            </a:prstGeom>
            <a:noFill/>
            <a:extLst>
              <a:ext uri="{909E8E84-426E-40DD-AFC4-6F175D3DCCD1}">
                <a14:hiddenFill xmlns:a14="http://schemas.microsoft.com/office/drawing/2010/main">
                  <a:solidFill>
                    <a:srgbClr val="FFFFFF"/>
                  </a:solidFill>
                </a14:hiddenFill>
              </a:ext>
            </a:extLst>
          </p:spPr>
        </p:pic>
        <p:sp>
          <p:nvSpPr>
            <p:cNvPr id="22" name="Text Box 38"/>
            <p:cNvSpPr txBox="1">
              <a:spLocks noChangeArrowheads="1"/>
            </p:cNvSpPr>
            <p:nvPr/>
          </p:nvSpPr>
          <p:spPr bwMode="auto">
            <a:xfrm>
              <a:off x="6170305" y="2883452"/>
              <a:ext cx="601447" cy="200055"/>
            </a:xfrm>
            <a:prstGeom prst="rect">
              <a:avLst/>
            </a:prstGeom>
            <a:noFill/>
            <a:ln w="9525">
              <a:noFill/>
              <a:miter lim="800000"/>
              <a:headEnd/>
              <a:tailEnd/>
            </a:ln>
          </p:spPr>
          <p:txBody>
            <a:bodyPr wrap="none">
              <a:spAutoFit/>
            </a:bodyPr>
            <a:lstStyle/>
            <a:p>
              <a:r>
                <a:rPr lang="ru-RU" sz="700" b="1" i="0" dirty="0">
                  <a:solidFill>
                    <a:srgbClr val="000000"/>
                  </a:solidFill>
                  <a:latin typeface="Arial" pitchFamily="34" charset="0"/>
                  <a:cs typeface="Arial" pitchFamily="34" charset="0"/>
                </a:rPr>
                <a:t>LAN/</a:t>
              </a:r>
              <a:r>
                <a:rPr lang="ru-RU" sz="700" b="0" i="0" dirty="0">
                  <a:solidFill>
                    <a:srgbClr val="000000"/>
                  </a:solidFill>
                  <a:latin typeface="Arial" pitchFamily="34" charset="0"/>
                  <a:cs typeface="Arial" pitchFamily="34" charset="0"/>
                </a:rPr>
                <a:t>WAN</a:t>
              </a:r>
            </a:p>
          </p:txBody>
        </p:sp>
        <p:pic>
          <p:nvPicPr>
            <p:cNvPr id="23" name="Picture 3" descr="C:\Users\patils1\Desktop\2013 Projects\CIS v2\CIS Slide Deck_Based on Book\Colored Graphics\LAN-WA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260" y="1059582"/>
              <a:ext cx="690475" cy="445272"/>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p:cNvCxnSpPr/>
            <p:nvPr/>
          </p:nvCxnSpPr>
          <p:spPr>
            <a:xfrm>
              <a:off x="7817386" y="1282218"/>
              <a:ext cx="7210" cy="82420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pic>
          <p:nvPicPr>
            <p:cNvPr id="31" name="Picture 2" descr="C:\Users\prasap1\Desktop\wireless.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3028" y="1154724"/>
              <a:ext cx="288057" cy="254987"/>
            </a:xfrm>
            <a:prstGeom prst="rect">
              <a:avLst/>
            </a:prstGeom>
            <a:noFill/>
            <a:extLst>
              <a:ext uri="{909E8E84-426E-40DD-AFC4-6F175D3DCCD1}">
                <a14:hiddenFill xmlns:a14="http://schemas.microsoft.com/office/drawing/2010/main">
                  <a:solidFill>
                    <a:srgbClr val="FFFFFF"/>
                  </a:solidFill>
                </a14:hiddenFill>
              </a:ext>
            </a:extLst>
          </p:spPr>
        </p:pic>
        <p:sp>
          <p:nvSpPr>
            <p:cNvPr id="32" name="Text Box 38"/>
            <p:cNvSpPr txBox="1">
              <a:spLocks noChangeArrowheads="1"/>
            </p:cNvSpPr>
            <p:nvPr/>
          </p:nvSpPr>
          <p:spPr bwMode="auto">
            <a:xfrm>
              <a:off x="6166814" y="1182191"/>
              <a:ext cx="612668" cy="200055"/>
            </a:xfrm>
            <a:prstGeom prst="rect">
              <a:avLst/>
            </a:prstGeom>
            <a:noFill/>
            <a:ln w="9525">
              <a:noFill/>
              <a:miter lim="800000"/>
              <a:headEnd/>
              <a:tailEnd/>
            </a:ln>
          </p:spPr>
          <p:txBody>
            <a:bodyPr wrap="none">
              <a:spAutoFit/>
            </a:bodyPr>
            <a:lstStyle/>
            <a:p>
              <a:r>
                <a:rPr lang="ru-RU" sz="700" b="1" i="0" dirty="0">
                  <a:solidFill>
                    <a:srgbClr val="000000"/>
                  </a:solidFill>
                  <a:latin typeface="Arial" pitchFamily="34" charset="0"/>
                  <a:cs typeface="Arial" pitchFamily="34" charset="0"/>
                </a:rPr>
                <a:t>Интернет</a:t>
              </a:r>
            </a:p>
          </p:txBody>
        </p:sp>
        <p:sp>
          <p:nvSpPr>
            <p:cNvPr id="33" name="Text Box 38"/>
            <p:cNvSpPr txBox="1">
              <a:spLocks noChangeArrowheads="1"/>
            </p:cNvSpPr>
            <p:nvPr/>
          </p:nvSpPr>
          <p:spPr bwMode="auto">
            <a:xfrm>
              <a:off x="5191648" y="2221422"/>
              <a:ext cx="1289285" cy="215444"/>
            </a:xfrm>
            <a:prstGeom prst="rect">
              <a:avLst/>
            </a:prstGeom>
            <a:noFill/>
            <a:ln w="9525">
              <a:noFill/>
              <a:miter lim="800000"/>
              <a:headEnd/>
              <a:tailEnd/>
            </a:ln>
          </p:spPr>
          <p:txBody>
            <a:bodyPr wrap="square">
              <a:spAutoFit/>
            </a:bodyPr>
            <a:lstStyle/>
            <a:p>
              <a:pPr algn="ctr"/>
              <a:r>
                <a:rPr lang="ru-RU" sz="800" b="1" i="0" dirty="0">
                  <a:solidFill>
                    <a:srgbClr val="000000"/>
                  </a:solidFill>
                  <a:latin typeface="Arial" pitchFamily="34" charset="0"/>
                  <a:cs typeface="Arial" pitchFamily="34" charset="0"/>
                </a:rPr>
                <a:t>Сервер приложений</a:t>
              </a:r>
            </a:p>
          </p:txBody>
        </p:sp>
        <p:cxnSp>
          <p:nvCxnSpPr>
            <p:cNvPr id="43" name="Straight Connector 42"/>
            <p:cNvCxnSpPr/>
            <p:nvPr/>
          </p:nvCxnSpPr>
          <p:spPr>
            <a:xfrm>
              <a:off x="5993049" y="2082919"/>
              <a:ext cx="474149"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5993048" y="2201279"/>
              <a:ext cx="474149"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49" name="Text Box 38"/>
            <p:cNvSpPr txBox="1">
              <a:spLocks noChangeArrowheads="1"/>
            </p:cNvSpPr>
            <p:nvPr/>
          </p:nvSpPr>
          <p:spPr bwMode="auto">
            <a:xfrm>
              <a:off x="7335296" y="2429288"/>
              <a:ext cx="1008000" cy="338554"/>
            </a:xfrm>
            <a:prstGeom prst="rect">
              <a:avLst/>
            </a:prstGeom>
            <a:noFill/>
            <a:ln w="9525">
              <a:noFill/>
              <a:miter lim="800000"/>
              <a:headEnd/>
              <a:tailEnd/>
            </a:ln>
          </p:spPr>
          <p:txBody>
            <a:bodyPr wrap="square">
              <a:spAutoFit/>
            </a:bodyPr>
            <a:lstStyle/>
            <a:p>
              <a:pPr algn="ctr"/>
              <a:r>
                <a:rPr lang="ru-RU" sz="800" b="1" i="0" dirty="0">
                  <a:solidFill>
                    <a:srgbClr val="000000"/>
                  </a:solidFill>
                  <a:latin typeface="Arial" pitchFamily="34" charset="0"/>
                  <a:cs typeface="Arial" pitchFamily="34" charset="0"/>
                </a:rPr>
                <a:t>Клиентские устройства</a:t>
              </a:r>
            </a:p>
          </p:txBody>
        </p:sp>
        <p:sp>
          <p:nvSpPr>
            <p:cNvPr id="50" name="Text Box 38"/>
            <p:cNvSpPr txBox="1">
              <a:spLocks noChangeArrowheads="1"/>
            </p:cNvSpPr>
            <p:nvPr/>
          </p:nvSpPr>
          <p:spPr bwMode="auto">
            <a:xfrm>
              <a:off x="7325248" y="4130770"/>
              <a:ext cx="1008000" cy="338554"/>
            </a:xfrm>
            <a:prstGeom prst="rect">
              <a:avLst/>
            </a:prstGeom>
            <a:noFill/>
            <a:ln w="9525">
              <a:noFill/>
              <a:miter lim="800000"/>
              <a:headEnd/>
              <a:tailEnd/>
            </a:ln>
          </p:spPr>
          <p:txBody>
            <a:bodyPr wrap="square">
              <a:spAutoFit/>
            </a:bodyPr>
            <a:lstStyle/>
            <a:p>
              <a:pPr algn="ctr"/>
              <a:r>
                <a:rPr lang="ru-RU" sz="800" b="1" i="0" dirty="0">
                  <a:solidFill>
                    <a:srgbClr val="000000"/>
                  </a:solidFill>
                  <a:latin typeface="Arial" pitchFamily="34" charset="0"/>
                  <a:cs typeface="Arial" pitchFamily="34" charset="0"/>
                </a:rPr>
                <a:t>Клиентские устройства</a:t>
              </a:r>
            </a:p>
          </p:txBody>
        </p:sp>
        <p:sp>
          <p:nvSpPr>
            <p:cNvPr id="53" name="Text Box 38"/>
            <p:cNvSpPr txBox="1">
              <a:spLocks noChangeArrowheads="1"/>
            </p:cNvSpPr>
            <p:nvPr/>
          </p:nvSpPr>
          <p:spPr bwMode="auto">
            <a:xfrm>
              <a:off x="5255490" y="2514072"/>
              <a:ext cx="1125214" cy="584775"/>
            </a:xfrm>
            <a:prstGeom prst="rect">
              <a:avLst/>
            </a:prstGeom>
            <a:noFill/>
            <a:ln w="9525">
              <a:noFill/>
              <a:miter lim="800000"/>
              <a:headEnd/>
              <a:tailEnd/>
            </a:ln>
          </p:spPr>
          <p:txBody>
            <a:bodyPr wrap="square">
              <a:spAutoFit/>
            </a:bodyPr>
            <a:lstStyle/>
            <a:p>
              <a:r>
                <a:rPr lang="ru-RU" sz="800" b="1" i="0" dirty="0">
                  <a:solidFill>
                    <a:srgbClr val="000000"/>
                  </a:solidFill>
                  <a:latin typeface="Arial" pitchFamily="34" charset="0"/>
                  <a:cs typeface="Arial" pitchFamily="34" charset="0"/>
                </a:rPr>
                <a:t>Корпоративный центр обработки данных или облако</a:t>
              </a:r>
            </a:p>
          </p:txBody>
        </p:sp>
        <p:pic>
          <p:nvPicPr>
            <p:cNvPr id="6" name="Picture 29" descr="C:\Users\patils1\Desktop\2013 Projects\CIS v2\CIS Slide Deck_Based on Book\Colored Graphics\Physical Compute Syst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7727" y="2043456"/>
              <a:ext cx="827396" cy="18620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1_Projects\1_ISM\ISM V3\Modules PPT\Module 2\Images\tablet and phone_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95339" y="2106418"/>
              <a:ext cx="451304" cy="320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1_Projects\1_ISM\ISM V3\Modules PPT\Module 2\Images\laptop4.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51332" y="1994818"/>
              <a:ext cx="494371" cy="432000"/>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Straight Connector 45"/>
            <p:cNvCxnSpPr/>
            <p:nvPr/>
          </p:nvCxnSpPr>
          <p:spPr>
            <a:xfrm>
              <a:off x="7302944" y="1274899"/>
              <a:ext cx="1" cy="791919"/>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8398123" y="3011326"/>
              <a:ext cx="788" cy="75600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7817386" y="3011326"/>
              <a:ext cx="7210" cy="824200"/>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pic>
          <p:nvPicPr>
            <p:cNvPr id="59" name="Picture 3" descr="C:\1_Projects\1_ISM\ISM V3\Modules PPT\Module 2\Images\tablet and phone_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95339" y="3835526"/>
              <a:ext cx="451304" cy="32040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4" descr="C:\1_Projects\1_ISM\ISM V3\Modules PPT\Module 2\Images\laptop4.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51332" y="3723926"/>
              <a:ext cx="494371" cy="432000"/>
            </a:xfrm>
            <a:prstGeom prst="rect">
              <a:avLst/>
            </a:prstGeom>
            <a:noFill/>
            <a:extLst>
              <a:ext uri="{909E8E84-426E-40DD-AFC4-6F175D3DCCD1}">
                <a14:hiddenFill xmlns:a14="http://schemas.microsoft.com/office/drawing/2010/main">
                  <a:solidFill>
                    <a:srgbClr val="FFFFFF"/>
                  </a:solidFill>
                </a14:hiddenFill>
              </a:ext>
            </a:extLst>
          </p:spPr>
        </p:pic>
        <p:cxnSp>
          <p:nvCxnSpPr>
            <p:cNvPr id="61" name="Straight Connector 60"/>
            <p:cNvCxnSpPr/>
            <p:nvPr/>
          </p:nvCxnSpPr>
          <p:spPr>
            <a:xfrm>
              <a:off x="7302944" y="3004007"/>
              <a:ext cx="1" cy="791919"/>
            </a:xfrm>
            <a:prstGeom prst="line">
              <a:avLst/>
            </a:prstGeom>
            <a:ln w="12700">
              <a:solidFill>
                <a:srgbClr val="0000FF"/>
              </a:solidFill>
              <a:prstDash val="dash"/>
            </a:ln>
          </p:spPr>
          <p:style>
            <a:lnRef idx="1">
              <a:schemeClr val="accent1"/>
            </a:lnRef>
            <a:fillRef idx="0">
              <a:schemeClr val="accent1"/>
            </a:fillRef>
            <a:effectRef idx="0">
              <a:schemeClr val="accent1"/>
            </a:effectRef>
            <a:fontRef idx="minor">
              <a:schemeClr val="tx1"/>
            </a:fontRef>
          </p:style>
        </p:cxnSp>
        <p:pic>
          <p:nvPicPr>
            <p:cNvPr id="1029" name="Picture 5" descr="C:\1_Projects\1_ISM\ISM V3\Modules PPT\Module 2\Images\PDA.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6344" y="2066818"/>
              <a:ext cx="1932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5" descr="C:\1_Projects\1_ISM\ISM V3\Modules PPT\Module 2\Images\PDA.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6344" y="3795926"/>
              <a:ext cx="193200" cy="360000"/>
            </a:xfrm>
            <a:prstGeom prst="rect">
              <a:avLst/>
            </a:prstGeom>
            <a:noFill/>
            <a:extLst>
              <a:ext uri="{909E8E84-426E-40DD-AFC4-6F175D3DCCD1}">
                <a14:hiddenFill xmlns:a14="http://schemas.microsoft.com/office/drawing/2010/main">
                  <a:solidFill>
                    <a:srgbClr val="FFFFFF"/>
                  </a:solidFill>
                </a14:hiddenFill>
              </a:ext>
            </a:extLst>
          </p:spPr>
        </p:pic>
      </p:grpSp>
      <p:sp>
        <p:nvSpPr>
          <p:cNvPr id="35" name="TextBox 3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69282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Сценарии использования мобильных технологий</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853810220"/>
              </p:ext>
            </p:extLst>
          </p:nvPr>
        </p:nvGraphicFramePr>
        <p:xfrm>
          <a:off x="412527" y="905510"/>
          <a:ext cx="8360989" cy="3418840"/>
        </p:xfrm>
        <a:graphic>
          <a:graphicData uri="http://schemas.openxmlformats.org/drawingml/2006/table">
            <a:tbl>
              <a:tblPr firstRow="1" bandRow="1">
                <a:tableStyleId>{5C22544A-7EE6-4342-B048-85BDC9FD1C3A}</a:tableStyleId>
              </a:tblPr>
              <a:tblGrid>
                <a:gridCol w="2431281">
                  <a:extLst>
                    <a:ext uri="{9D8B030D-6E8A-4147-A177-3AD203B41FA5}">
                      <a16:colId xmlns:a16="http://schemas.microsoft.com/office/drawing/2014/main" val="20000"/>
                    </a:ext>
                  </a:extLst>
                </a:gridCol>
                <a:gridCol w="5929708">
                  <a:extLst>
                    <a:ext uri="{9D8B030D-6E8A-4147-A177-3AD203B41FA5}">
                      <a16:colId xmlns:a16="http://schemas.microsoft.com/office/drawing/2014/main" val="20001"/>
                    </a:ext>
                  </a:extLst>
                </a:gridCol>
              </a:tblGrid>
              <a:tr h="370840">
                <a:tc>
                  <a:txBody>
                    <a:bodyPr/>
                    <a:lstStyle/>
                    <a:p>
                      <a:r>
                        <a:rPr lang="ru-RU" sz="1300" b="1" i="0" dirty="0">
                          <a:solidFill>
                            <a:srgbClr val="FFFFFF"/>
                          </a:solidFill>
                          <a:latin typeface="Arial" pitchFamily="34" charset="0"/>
                          <a:cs typeface="Arial" pitchFamily="34" charset="0"/>
                        </a:rPr>
                        <a:t>Сценарий использования</a:t>
                      </a:r>
                    </a:p>
                  </a:txBody>
                  <a:tcPr/>
                </a:tc>
                <a:tc>
                  <a:txBody>
                    <a:bodyPr/>
                    <a:lstStyle/>
                    <a:p>
                      <a:r>
                        <a:rPr lang="ru-RU" sz="13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300" b="0" i="0" dirty="0">
                          <a:solidFill>
                            <a:srgbClr val="000000"/>
                          </a:solidFill>
                          <a:latin typeface="Arial" pitchFamily="34" charset="0"/>
                          <a:cs typeface="Arial" pitchFamily="34" charset="0"/>
                        </a:rPr>
                        <a:t>Корпоративная мобильность</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Обеспечивает сотрудникам повсеместный доступ к информации и приложениям</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Повышает эффективность совместной работы и производительность</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Обеспечивает возможность использования собственных устройств в рабочих целях</a:t>
                      </a:r>
                    </a:p>
                  </a:txBody>
                  <a:tcPr/>
                </a:tc>
                <a:extLst>
                  <a:ext uri="{0D108BD9-81ED-4DB2-BD59-A6C34878D82A}">
                    <a16:rowId xmlns:a16="http://schemas.microsoft.com/office/drawing/2014/main" val="10001"/>
                  </a:ext>
                </a:extLst>
              </a:tr>
              <a:tr h="370840">
                <a:tc>
                  <a:txBody>
                    <a:bodyPr/>
                    <a:lstStyle/>
                    <a:p>
                      <a:r>
                        <a:rPr lang="ru-RU" sz="1300" b="0" i="0" dirty="0">
                          <a:solidFill>
                            <a:srgbClr val="000000"/>
                          </a:solidFill>
                          <a:latin typeface="Arial" pitchFamily="34" charset="0"/>
                          <a:cs typeface="Arial" pitchFamily="34" charset="0"/>
                        </a:rPr>
                        <a:t>Продукты и услуги на базе мобильных технологий</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Предоставляют заказчикам повсеместный доступ к мобильным решениям </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Примеры: социальные сети, банковские операции, электронная торговля и геолокационные услуги</a:t>
                      </a:r>
                    </a:p>
                  </a:txBody>
                  <a:tcPr/>
                </a:tc>
                <a:extLst>
                  <a:ext uri="{0D108BD9-81ED-4DB2-BD59-A6C34878D82A}">
                    <a16:rowId xmlns:a16="http://schemas.microsoft.com/office/drawing/2014/main" val="10002"/>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300" b="0" i="0" dirty="0">
                          <a:solidFill>
                            <a:srgbClr val="000000"/>
                          </a:solidFill>
                          <a:latin typeface="Arial" pitchFamily="34" charset="0"/>
                          <a:cs typeface="Arial" pitchFamily="34" charset="0"/>
                        </a:rPr>
                        <a:t>Мобильные облачные технологии</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Позволяют получать доступ к облачным услугам с помощью мобильных устройств</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Примеры: облачные системы хранения, управление дорожными расходами и другими затратами, управление взаимосвязями с заказчиками</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323317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r>
              <a:rPr lang="ru-RU" sz="2000" b="0" i="0" dirty="0">
                <a:solidFill>
                  <a:srgbClr val="000000"/>
                </a:solidFill>
                <a:latin typeface="Arial" pitchFamily="34" charset="0"/>
                <a:cs typeface="Arial" pitchFamily="34" charset="0"/>
              </a:rPr>
              <a:t>Социальные сети, их анализ и сценарии использования</a:t>
            </a:r>
          </a:p>
          <a:p>
            <a:r>
              <a:rPr lang="ru-RU" sz="2000" b="0" i="0" dirty="0">
                <a:solidFill>
                  <a:srgbClr val="000000"/>
                </a:solidFill>
                <a:latin typeface="Arial" pitchFamily="34" charset="0"/>
                <a:cs typeface="Arial" pitchFamily="34" charset="0"/>
              </a:rPr>
              <a:t>Мобильные технологии и сценарии их использования</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798038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4. Переход к третьей платформе</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Ключевые факторы, обуславливающие переход к третьей платформе</a:t>
            </a:r>
          </a:p>
          <a:p>
            <a:pPr>
              <a:defRPr/>
            </a:pPr>
            <a:r>
              <a:rPr lang="ru-RU" sz="2000" b="0" i="0" dirty="0">
                <a:solidFill>
                  <a:srgbClr val="000000"/>
                </a:solidFill>
                <a:latin typeface="Arial" pitchFamily="34" charset="0"/>
                <a:cs typeface="Arial" pitchFamily="34" charset="0"/>
              </a:rPr>
              <a:t>Характеристики инфраструктуры третьей платформы</a:t>
            </a:r>
          </a:p>
          <a:p>
            <a:pPr>
              <a:defRPr/>
            </a:pPr>
            <a:r>
              <a:rPr lang="ru-RU" sz="2000" b="0" i="0" dirty="0">
                <a:solidFill>
                  <a:srgbClr val="000000"/>
                </a:solidFill>
                <a:latin typeface="Arial" pitchFamily="34" charset="0"/>
                <a:cs typeface="Arial" pitchFamily="34" charset="0"/>
              </a:rPr>
              <a:t>Необходимые условия для перехода к третьей платформе</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258484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700" b="0" i="0" dirty="0">
                <a:solidFill>
                  <a:srgbClr val="2C95DD"/>
                </a:solidFill>
                <a:latin typeface="Arial" pitchFamily="34" charset="0"/>
                <a:cs typeface="Arial" pitchFamily="34" charset="0"/>
              </a:rPr>
              <a:t>Факторы, обуславливающие переход к третьей платформе</a:t>
            </a:r>
          </a:p>
        </p:txBody>
      </p:sp>
      <p:graphicFrame>
        <p:nvGraphicFramePr>
          <p:cNvPr id="6" name="Content Placeholder 5"/>
          <p:cNvGraphicFramePr>
            <a:graphicFrameLocks/>
          </p:cNvGraphicFramePr>
          <p:nvPr>
            <p:extLst>
              <p:ext uri="{D42A27DB-BD31-4B8C-83A1-F6EECF244321}">
                <p14:modId xmlns:p14="http://schemas.microsoft.com/office/powerpoint/2010/main" val="888585568"/>
              </p:ext>
            </p:extLst>
          </p:nvPr>
        </p:nvGraphicFramePr>
        <p:xfrm>
          <a:off x="404813" y="1205230"/>
          <a:ext cx="8369051" cy="3042920"/>
        </p:xfrm>
        <a:graphic>
          <a:graphicData uri="http://schemas.openxmlformats.org/drawingml/2006/table">
            <a:tbl>
              <a:tblPr firstRow="1" bandRow="1">
                <a:tableStyleId>{5C22544A-7EE6-4342-B048-85BDC9FD1C3A}</a:tableStyleId>
              </a:tblPr>
              <a:tblGrid>
                <a:gridCol w="2222971">
                  <a:extLst>
                    <a:ext uri="{9D8B030D-6E8A-4147-A177-3AD203B41FA5}">
                      <a16:colId xmlns:a16="http://schemas.microsoft.com/office/drawing/2014/main" val="20000"/>
                    </a:ext>
                  </a:extLst>
                </a:gridCol>
                <a:gridCol w="6146080">
                  <a:extLst>
                    <a:ext uri="{9D8B030D-6E8A-4147-A177-3AD203B41FA5}">
                      <a16:colId xmlns:a16="http://schemas.microsoft.com/office/drawing/2014/main" val="20001"/>
                    </a:ext>
                  </a:extLst>
                </a:gridCol>
              </a:tblGrid>
              <a:tr h="370840">
                <a:tc>
                  <a:txBody>
                    <a:bodyPr/>
                    <a:lstStyle/>
                    <a:p>
                      <a:r>
                        <a:rPr lang="ru-RU" sz="1100" b="1" i="0" dirty="0">
                          <a:solidFill>
                            <a:srgbClr val="FFFFFF"/>
                          </a:solidFill>
                          <a:latin typeface="Arial" pitchFamily="34" charset="0"/>
                          <a:cs typeface="Arial" pitchFamily="34" charset="0"/>
                        </a:rPr>
                        <a:t>Фактор </a:t>
                      </a:r>
                    </a:p>
                  </a:txBody>
                  <a:tcPr/>
                </a:tc>
                <a:tc>
                  <a:txBody>
                    <a:bodyPr/>
                    <a:lstStyle/>
                    <a:p>
                      <a:r>
                        <a:rPr lang="ru-RU" sz="11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100" b="0" i="0" dirty="0">
                          <a:solidFill>
                            <a:srgbClr val="000000"/>
                          </a:solidFill>
                          <a:latin typeface="Arial" pitchFamily="34" charset="0"/>
                          <a:cs typeface="Arial" pitchFamily="34" charset="0"/>
                        </a:rPr>
                        <a:t>Новые бизнес-модели</a:t>
                      </a:r>
                    </a:p>
                  </a:txBody>
                  <a:tcPr/>
                </a:tc>
                <a:tc>
                  <a:txBody>
                    <a:bodyPr/>
                    <a:lstStyle/>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Создание новых или улучшение существующих бизнес-моделей</a:t>
                      </a:r>
                    </a:p>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Повышение эффективности принятия решений за счет получения полезных сведений из данных </a:t>
                      </a:r>
                    </a:p>
                  </a:txBody>
                  <a:tcPr marL="92411" marR="92411"/>
                </a:tc>
                <a:extLst>
                  <a:ext uri="{0D108BD9-81ED-4DB2-BD59-A6C34878D82A}">
                    <a16:rowId xmlns:a16="http://schemas.microsoft.com/office/drawing/2014/main" val="10001"/>
                  </a:ext>
                </a:extLst>
              </a:tr>
              <a:tr h="370840">
                <a:tc>
                  <a:txBody>
                    <a:bodyPr/>
                    <a:lstStyle/>
                    <a:p>
                      <a:r>
                        <a:rPr lang="ru-RU" sz="1100" b="0" i="0" dirty="0">
                          <a:solidFill>
                            <a:srgbClr val="000000"/>
                          </a:solidFill>
                          <a:latin typeface="Arial" pitchFamily="34" charset="0"/>
                          <a:cs typeface="Arial" pitchFamily="34" charset="0"/>
                        </a:rPr>
                        <a:t>Оперативность</a:t>
                      </a:r>
                    </a:p>
                  </a:txBody>
                  <a:tcPr/>
                </a:tc>
                <a:tc>
                  <a:txBody>
                    <a:bodyPr/>
                    <a:lstStyle/>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Повышение оперативности операций и внедрение инноваций</a:t>
                      </a:r>
                    </a:p>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Сокращение времени до выхода на рынок </a:t>
                      </a:r>
                    </a:p>
                  </a:txBody>
                  <a:tcPr marL="92411" marR="92411"/>
                </a:tc>
                <a:extLst>
                  <a:ext uri="{0D108BD9-81ED-4DB2-BD59-A6C34878D82A}">
                    <a16:rowId xmlns:a16="http://schemas.microsoft.com/office/drawing/2014/main" val="10002"/>
                  </a:ext>
                </a:extLst>
              </a:tr>
              <a:tr h="370840">
                <a:tc>
                  <a:txBody>
                    <a:bodyPr/>
                    <a:lstStyle/>
                    <a:p>
                      <a:r>
                        <a:rPr lang="ru-RU" sz="1100" b="0" i="0" dirty="0">
                          <a:solidFill>
                            <a:srgbClr val="000000"/>
                          </a:solidFill>
                          <a:latin typeface="Arial" pitchFamily="34" charset="0"/>
                          <a:cs typeface="Arial" pitchFamily="34" charset="0"/>
                        </a:rPr>
                        <a:t>Интеллектуальные операции</a:t>
                      </a:r>
                    </a:p>
                  </a:txBody>
                  <a:tcPr/>
                </a:tc>
                <a:tc>
                  <a:txBody>
                    <a:bodyPr/>
                    <a:lstStyle/>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Повышение эффективности операций за счет использования интеллектуальных инструментов и стратегий</a:t>
                      </a:r>
                    </a:p>
                  </a:txBody>
                  <a:tcPr marL="92411" marR="92411"/>
                </a:tc>
                <a:extLst>
                  <a:ext uri="{0D108BD9-81ED-4DB2-BD59-A6C34878D82A}">
                    <a16:rowId xmlns:a16="http://schemas.microsoft.com/office/drawing/2014/main" val="10003"/>
                  </a:ext>
                </a:extLst>
              </a:tr>
              <a:tr h="370840">
                <a:tc>
                  <a:txBody>
                    <a:bodyPr/>
                    <a:lstStyle/>
                    <a:p>
                      <a:r>
                        <a:rPr lang="ru-RU" sz="1100" b="0" i="0" dirty="0">
                          <a:solidFill>
                            <a:srgbClr val="000000"/>
                          </a:solidFill>
                          <a:latin typeface="Arial" pitchFamily="34" charset="0"/>
                          <a:cs typeface="Arial" pitchFamily="34" charset="0"/>
                        </a:rPr>
                        <a:t>Новые продукты и услуги</a:t>
                      </a:r>
                    </a:p>
                  </a:txBody>
                  <a:tcPr/>
                </a:tc>
                <a:tc>
                  <a:txBody>
                    <a:bodyPr/>
                    <a:lstStyle/>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Создание новых или дополнительных продуктов и услуг</a:t>
                      </a:r>
                    </a:p>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Создание новых возможностей для увеличения выручки</a:t>
                      </a:r>
                    </a:p>
                  </a:txBody>
                  <a:tcPr marL="92411" marR="92411"/>
                </a:tc>
                <a:extLst>
                  <a:ext uri="{0D108BD9-81ED-4DB2-BD59-A6C34878D82A}">
                    <a16:rowId xmlns:a16="http://schemas.microsoft.com/office/drawing/2014/main" val="10004"/>
                  </a:ext>
                </a:extLst>
              </a:tr>
              <a:tr h="370840">
                <a:tc>
                  <a:txBody>
                    <a:bodyPr/>
                    <a:lstStyle/>
                    <a:p>
                      <a:r>
                        <a:rPr lang="ru-RU" sz="1100" b="0" dirty="0">
                          <a:latin typeface="Arial" pitchFamily="34" charset="0"/>
                          <a:cs typeface="Arial" pitchFamily="34" charset="0"/>
                        </a:rPr>
                        <a:t>Мобильность</a:t>
                      </a:r>
                      <a:endParaRPr lang="ru-RU" sz="1100" b="0" i="0" dirty="0">
                        <a:solidFill>
                          <a:srgbClr val="000000"/>
                        </a:solidFill>
                        <a:latin typeface="Arial" pitchFamily="34" charset="0"/>
                        <a:cs typeface="Arial" pitchFamily="34" charset="0"/>
                      </a:endParaRPr>
                    </a:p>
                  </a:txBody>
                  <a:tcPr/>
                </a:tc>
                <a:tc>
                  <a:txBody>
                    <a:bodyPr/>
                    <a:lstStyle/>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Обеспечение повсеместного доступа к приложениям и информации</a:t>
                      </a:r>
                    </a:p>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Повышение эффективности совместной работы, производительности и прибыльности</a:t>
                      </a:r>
                    </a:p>
                  </a:txBody>
                  <a:tcPr marL="92411" marR="92411"/>
                </a:tc>
                <a:extLst>
                  <a:ext uri="{0D108BD9-81ED-4DB2-BD59-A6C34878D82A}">
                    <a16:rowId xmlns:a16="http://schemas.microsoft.com/office/drawing/2014/main" val="10005"/>
                  </a:ext>
                </a:extLst>
              </a:tr>
              <a:tr h="370840">
                <a:tc>
                  <a:txBody>
                    <a:bodyPr/>
                    <a:lstStyle/>
                    <a:p>
                      <a:r>
                        <a:rPr lang="ru-RU" sz="1100" b="0" i="0" dirty="0">
                          <a:solidFill>
                            <a:srgbClr val="000000"/>
                          </a:solidFill>
                          <a:latin typeface="Arial" pitchFamily="34" charset="0"/>
                          <a:cs typeface="Arial" pitchFamily="34" charset="0"/>
                        </a:rPr>
                        <a:t>Социальные сети</a:t>
                      </a:r>
                    </a:p>
                  </a:txBody>
                  <a:tcPr/>
                </a:tc>
                <a:tc>
                  <a:txBody>
                    <a:bodyPr/>
                    <a:lstStyle/>
                    <a:p>
                      <a:pPr marL="285750" indent="-285750">
                        <a:buFont typeface="Arial" panose="020B0604020202020204" pitchFamily="34" charset="0"/>
                        <a:buChar char="•"/>
                      </a:pPr>
                      <a:r>
                        <a:rPr lang="ru-RU" sz="1100" b="0" i="0" dirty="0">
                          <a:solidFill>
                            <a:srgbClr val="000000"/>
                          </a:solidFill>
                          <a:latin typeface="Arial" pitchFamily="34" charset="0"/>
                          <a:cs typeface="Arial" pitchFamily="34" charset="0"/>
                        </a:rPr>
                        <a:t>Повышение узнаваемости бренда, исследование рынка и повышение качества услуг</a:t>
                      </a:r>
                    </a:p>
                  </a:txBody>
                  <a:tcPr marL="92411" marR="92411"/>
                </a:tc>
                <a:extLst>
                  <a:ext uri="{0D108BD9-81ED-4DB2-BD59-A6C34878D82A}">
                    <a16:rowId xmlns:a16="http://schemas.microsoft.com/office/drawing/2014/main" val="10006"/>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640937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Характеристики инфраструктуры третьей платформы</a:t>
            </a:r>
          </a:p>
        </p:txBody>
      </p:sp>
      <p:graphicFrame>
        <p:nvGraphicFramePr>
          <p:cNvPr id="6" name="Content Placeholder 4"/>
          <p:cNvGraphicFramePr>
            <a:graphicFrameLocks noGrp="1"/>
          </p:cNvGraphicFramePr>
          <p:nvPr>
            <p:ph sz="quarter" idx="10"/>
            <p:extLst>
              <p:ext uri="{D42A27DB-BD31-4B8C-83A1-F6EECF244321}">
                <p14:modId xmlns:p14="http://schemas.microsoft.com/office/powerpoint/2010/main" val="2664458842"/>
              </p:ext>
            </p:extLst>
          </p:nvPr>
        </p:nvGraphicFramePr>
        <p:xfrm>
          <a:off x="395536" y="1103630"/>
          <a:ext cx="8366576" cy="3220720"/>
        </p:xfrm>
        <a:graphic>
          <a:graphicData uri="http://schemas.openxmlformats.org/drawingml/2006/table">
            <a:tbl>
              <a:tblPr firstRow="1" bandRow="1">
                <a:tableStyleId>{5C22544A-7EE6-4342-B048-85BDC9FD1C3A}</a:tableStyleId>
              </a:tblPr>
              <a:tblGrid>
                <a:gridCol w="1741840">
                  <a:extLst>
                    <a:ext uri="{9D8B030D-6E8A-4147-A177-3AD203B41FA5}">
                      <a16:colId xmlns:a16="http://schemas.microsoft.com/office/drawing/2014/main" val="20000"/>
                    </a:ext>
                  </a:extLst>
                </a:gridCol>
                <a:gridCol w="6624736">
                  <a:extLst>
                    <a:ext uri="{9D8B030D-6E8A-4147-A177-3AD203B41FA5}">
                      <a16:colId xmlns:a16="http://schemas.microsoft.com/office/drawing/2014/main" val="20001"/>
                    </a:ext>
                  </a:extLst>
                </a:gridCol>
              </a:tblGrid>
              <a:tr h="370840">
                <a:tc>
                  <a:txBody>
                    <a:bodyPr/>
                    <a:lstStyle/>
                    <a:p>
                      <a:r>
                        <a:rPr lang="ru-RU" sz="1000" b="1" i="0" dirty="0">
                          <a:solidFill>
                            <a:srgbClr val="FFFFFF"/>
                          </a:solidFill>
                          <a:latin typeface="Arial" pitchFamily="34" charset="0"/>
                          <a:cs typeface="Arial" pitchFamily="34" charset="0"/>
                        </a:rPr>
                        <a:t>Характеристика</a:t>
                      </a:r>
                    </a:p>
                  </a:txBody>
                  <a:tcPr/>
                </a:tc>
                <a:tc>
                  <a:txBody>
                    <a:bodyPr/>
                    <a:lstStyle/>
                    <a:p>
                      <a:r>
                        <a:rPr lang="ru-RU" sz="10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000" b="0" i="0" dirty="0">
                          <a:solidFill>
                            <a:srgbClr val="000000"/>
                          </a:solidFill>
                          <a:latin typeface="Arial" pitchFamily="34" charset="0"/>
                          <a:cs typeface="Arial" pitchFamily="34" charset="0"/>
                        </a:rPr>
                        <a:t>Доступность</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Критически важные услуги сохраняют доступность после прерывания работы</a:t>
                      </a:r>
                    </a:p>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Отказоустойчивость инфраструктуры и приложений</a:t>
                      </a:r>
                    </a:p>
                  </a:txBody>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000" b="0" i="0" dirty="0">
                          <a:solidFill>
                            <a:srgbClr val="000000"/>
                          </a:solidFill>
                          <a:latin typeface="Arial" pitchFamily="34" charset="0"/>
                          <a:cs typeface="Arial" pitchFamily="34" charset="0"/>
                        </a:rPr>
                        <a:t>Безопасность</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Сложности, связанные с несанкционированным доступом, владением данными, вредоносным ПО, стратегическим управлением и обеспечением соответствия требованиям регуляторов</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Обеспечение безопасности в средах, где используется несколько технологий третьей платформы</a:t>
                      </a:r>
                    </a:p>
                  </a:txBody>
                  <a:tcPr/>
                </a:tc>
                <a:extLst>
                  <a:ext uri="{0D108BD9-81ED-4DB2-BD59-A6C34878D82A}">
                    <a16:rowId xmlns:a16="http://schemas.microsoft.com/office/drawing/2014/main" val="10002"/>
                  </a:ext>
                </a:extLst>
              </a:tr>
              <a:tr h="370840">
                <a:tc>
                  <a:txBody>
                    <a:bodyPr/>
                    <a:lstStyle/>
                    <a:p>
                      <a:r>
                        <a:rPr lang="ru-RU" sz="1000" b="0" i="0" dirty="0">
                          <a:solidFill>
                            <a:srgbClr val="000000"/>
                          </a:solidFill>
                          <a:latin typeface="Arial" pitchFamily="34" charset="0"/>
                          <a:cs typeface="Arial" pitchFamily="34" charset="0"/>
                        </a:rPr>
                        <a:t>Масштабируемость</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Высокая масштабируемость для соответствия изменениям рабочих нагрузок и объемов данных</a:t>
                      </a:r>
                    </a:p>
                  </a:txBody>
                  <a:tcPr/>
                </a:tc>
                <a:extLst>
                  <a:ext uri="{0D108BD9-81ED-4DB2-BD59-A6C34878D82A}">
                    <a16:rowId xmlns:a16="http://schemas.microsoft.com/office/drawing/2014/main" val="10003"/>
                  </a:ext>
                </a:extLst>
              </a:tr>
              <a:tr h="370840">
                <a:tc>
                  <a:txBody>
                    <a:bodyPr/>
                    <a:lstStyle/>
                    <a:p>
                      <a:r>
                        <a:rPr lang="ru-RU" sz="1000" b="0" i="0" dirty="0">
                          <a:solidFill>
                            <a:srgbClr val="000000"/>
                          </a:solidFill>
                          <a:latin typeface="Arial" pitchFamily="34" charset="0"/>
                          <a:cs typeface="Arial" pitchFamily="34" charset="0"/>
                        </a:rPr>
                        <a:t>Производительность</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Обеспечение оптимальной производительности для смешанных рабочих нагрузок</a:t>
                      </a:r>
                    </a:p>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Обеспечение высокой пропускной способности и низкой задержки</a:t>
                      </a:r>
                    </a:p>
                  </a:txBody>
                  <a:tcPr/>
                </a:tc>
                <a:extLst>
                  <a:ext uri="{0D108BD9-81ED-4DB2-BD59-A6C34878D82A}">
                    <a16:rowId xmlns:a16="http://schemas.microsoft.com/office/drawing/2014/main" val="10004"/>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000" b="0" i="0" dirty="0">
                          <a:solidFill>
                            <a:srgbClr val="000000"/>
                          </a:solidFill>
                          <a:latin typeface="Arial" pitchFamily="34" charset="0"/>
                          <a:cs typeface="Arial" pitchFamily="34" charset="0"/>
                        </a:rPr>
                        <a:t>Простота доступа</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Доступ к приложениям и информации из любого местоположения с помощью мобильных устройств</a:t>
                      </a:r>
                    </a:p>
                  </a:txBody>
                  <a:tcPr/>
                </a:tc>
                <a:extLst>
                  <a:ext uri="{0D108BD9-81ED-4DB2-BD59-A6C34878D82A}">
                    <a16:rowId xmlns:a16="http://schemas.microsoft.com/office/drawing/2014/main" val="10005"/>
                  </a:ext>
                </a:extLst>
              </a:tr>
              <a:tr h="370840">
                <a:tc>
                  <a:txBody>
                    <a:bodyPr/>
                    <a:lstStyle/>
                    <a:p>
                      <a:r>
                        <a:rPr lang="ru-RU" sz="1000" b="0" i="0" dirty="0">
                          <a:solidFill>
                            <a:srgbClr val="000000"/>
                          </a:solidFill>
                          <a:latin typeface="Arial" pitchFamily="34" charset="0"/>
                          <a:cs typeface="Arial" pitchFamily="34" charset="0"/>
                        </a:rPr>
                        <a:t>СОВМЕСТИМОСТЬ</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Несколько систем или компонентов совместно используют информацию и услуги через программные интерфейсы, веб-сервисы или межплатформенное ПО</a:t>
                      </a:r>
                    </a:p>
                  </a:txBody>
                  <a:tcPr/>
                </a:tc>
                <a:extLst>
                  <a:ext uri="{0D108BD9-81ED-4DB2-BD59-A6C34878D82A}">
                    <a16:rowId xmlns:a16="http://schemas.microsoft.com/office/drawing/2014/main" val="10006"/>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000" b="0" i="0" dirty="0">
                          <a:solidFill>
                            <a:srgbClr val="000000"/>
                          </a:solidFill>
                          <a:latin typeface="Arial" pitchFamily="34" charset="0"/>
                          <a:cs typeface="Arial" pitchFamily="34" charset="0"/>
                        </a:rPr>
                        <a:t>Управляемость</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000" b="0" i="0" dirty="0">
                          <a:solidFill>
                            <a:srgbClr val="000000"/>
                          </a:solidFill>
                          <a:latin typeface="Arial" pitchFamily="34" charset="0"/>
                          <a:cs typeface="Arial" pitchFamily="34" charset="0"/>
                        </a:rPr>
                        <a:t>Единая панель для управления, автоматизации и многосторонней оркестрации</a:t>
                      </a:r>
                    </a:p>
                  </a:txBody>
                  <a:tcPr/>
                </a:tc>
                <a:extLst>
                  <a:ext uri="{0D108BD9-81ED-4DB2-BD59-A6C34878D82A}">
                    <a16:rowId xmlns:a16="http://schemas.microsoft.com/office/drawing/2014/main" val="10007"/>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053337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Необходимые условия для перехода к третьей платформе</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103913171"/>
              </p:ext>
            </p:extLst>
          </p:nvPr>
        </p:nvGraphicFramePr>
        <p:xfrm>
          <a:off x="379413" y="1220470"/>
          <a:ext cx="8369051" cy="3027680"/>
        </p:xfrm>
        <a:graphic>
          <a:graphicData uri="http://schemas.openxmlformats.org/drawingml/2006/table">
            <a:tbl>
              <a:tblPr firstRow="1" bandRow="1">
                <a:tableStyleId>{5C22544A-7EE6-4342-B048-85BDC9FD1C3A}</a:tableStyleId>
              </a:tblPr>
              <a:tblGrid>
                <a:gridCol w="2032347">
                  <a:extLst>
                    <a:ext uri="{9D8B030D-6E8A-4147-A177-3AD203B41FA5}">
                      <a16:colId xmlns:a16="http://schemas.microsoft.com/office/drawing/2014/main" val="20000"/>
                    </a:ext>
                  </a:extLst>
                </a:gridCol>
                <a:gridCol w="6336704">
                  <a:extLst>
                    <a:ext uri="{9D8B030D-6E8A-4147-A177-3AD203B41FA5}">
                      <a16:colId xmlns:a16="http://schemas.microsoft.com/office/drawing/2014/main" val="20001"/>
                    </a:ext>
                  </a:extLst>
                </a:gridCol>
              </a:tblGrid>
              <a:tr h="370840">
                <a:tc>
                  <a:txBody>
                    <a:bodyPr/>
                    <a:lstStyle/>
                    <a:p>
                      <a:r>
                        <a:rPr lang="ru-RU" sz="1200" b="1" i="0" dirty="0">
                          <a:solidFill>
                            <a:srgbClr val="FFFFFF"/>
                          </a:solidFill>
                          <a:latin typeface="Arial" pitchFamily="34" charset="0"/>
                          <a:cs typeface="Arial" pitchFamily="34" charset="0"/>
                        </a:rPr>
                        <a:t>Условие</a:t>
                      </a:r>
                    </a:p>
                  </a:txBody>
                  <a:tcPr/>
                </a:tc>
                <a:tc>
                  <a:txBody>
                    <a:bodyPr/>
                    <a:lstStyle/>
                    <a:p>
                      <a:r>
                        <a:rPr lang="ru-RU" sz="12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200" b="0" i="0" dirty="0">
                          <a:solidFill>
                            <a:srgbClr val="000000"/>
                          </a:solidFill>
                          <a:latin typeface="Arial" pitchFamily="34" charset="0"/>
                          <a:cs typeface="Arial" pitchFamily="34" charset="0"/>
                        </a:rPr>
                        <a:t>Трансформация операционной модели</a:t>
                      </a:r>
                    </a:p>
                  </a:txBody>
                  <a:tcPr/>
                </a:tc>
                <a:tc>
                  <a:txBody>
                    <a:bodyPr/>
                    <a:lstStyle/>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Внедрение модели «ИТ как услуга» </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Выделение ИТ-ресурсов бизнес-подразделениями через портал самообслуживания</a:t>
                      </a:r>
                    </a:p>
                  </a:txBody>
                  <a:tcPr/>
                </a:tc>
                <a:extLst>
                  <a:ext uri="{0D108BD9-81ED-4DB2-BD59-A6C34878D82A}">
                    <a16:rowId xmlns:a16="http://schemas.microsoft.com/office/drawing/2014/main" val="10001"/>
                  </a:ext>
                </a:extLst>
              </a:tr>
              <a:tr h="370840">
                <a:tc>
                  <a:txBody>
                    <a:bodyPr/>
                    <a:lstStyle/>
                    <a:p>
                      <a:r>
                        <a:rPr lang="ru-RU" sz="1200" b="0" i="0" dirty="0">
                          <a:solidFill>
                            <a:srgbClr val="000000"/>
                          </a:solidFill>
                          <a:latin typeface="Arial" pitchFamily="34" charset="0"/>
                          <a:cs typeface="Arial" pitchFamily="34" charset="0"/>
                        </a:rPr>
                        <a:t>Трансформация организации</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Появление новых ролей и обязанностей в сфере предоставления услуг и управления ими</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Примеры: </a:t>
                      </a:r>
                      <a:r>
                        <a:rPr lang="ru-RU" sz="1200" b="0" i="0" u="none" dirty="0">
                          <a:solidFill>
                            <a:srgbClr val="000000"/>
                          </a:solidFill>
                          <a:latin typeface="Arial" pitchFamily="34" charset="0"/>
                          <a:cs typeface="Arial" pitchFamily="34" charset="0"/>
                        </a:rPr>
                        <a:t>менеджер по предоставлению услуг, архитектор облачных систем, специалист по планированию емкости и руководитель сервисных операций</a:t>
                      </a:r>
                    </a:p>
                  </a:txBody>
                  <a:tcPr/>
                </a:tc>
                <a:extLst>
                  <a:ext uri="{0D108BD9-81ED-4DB2-BD59-A6C34878D82A}">
                    <a16:rowId xmlns:a16="http://schemas.microsoft.com/office/drawing/2014/main" val="10002"/>
                  </a:ext>
                </a:extLst>
              </a:tr>
              <a:tr h="370840">
                <a:tc>
                  <a:txBody>
                    <a:bodyPr/>
                    <a:lstStyle/>
                    <a:p>
                      <a:r>
                        <a:rPr lang="ru-RU" sz="1200" b="0" i="0" dirty="0">
                          <a:solidFill>
                            <a:srgbClr val="000000"/>
                          </a:solidFill>
                          <a:latin typeface="Arial" pitchFamily="34" charset="0"/>
                          <a:cs typeface="Arial" pitchFamily="34" charset="0"/>
                        </a:rPr>
                        <a:t>Трансформация технологий</a:t>
                      </a:r>
                    </a:p>
                  </a:txBody>
                  <a:tcPr/>
                </a:tc>
                <a:tc>
                  <a:txBody>
                    <a:bodyPr/>
                    <a:lstStyle/>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Трансформация приложений: предоставление </a:t>
                      </a:r>
                      <a:r>
                        <a:rPr lang="ru-RU" sz="1200" b="0" i="0" u="none" dirty="0">
                          <a:solidFill>
                            <a:srgbClr val="000000"/>
                          </a:solidFill>
                          <a:latin typeface="Arial" pitchFamily="34" charset="0"/>
                          <a:cs typeface="Arial" pitchFamily="34" charset="0"/>
                        </a:rPr>
                        <a:t>облачных услуг, возможности </a:t>
                      </a:r>
                      <a:r>
                        <a:rPr lang="ru-RU" sz="1200" b="0" i="0" dirty="0">
                          <a:solidFill>
                            <a:srgbClr val="000000"/>
                          </a:solidFill>
                          <a:latin typeface="Arial" pitchFamily="34" charset="0"/>
                          <a:cs typeface="Arial" pitchFamily="34" charset="0"/>
                        </a:rPr>
                        <a:t>аналитики и мобильность</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Трансформация инфраструктуры: стандартизация, консолидация и автоматизация</a:t>
                      </a:r>
                    </a:p>
                  </a:txBody>
                  <a:tcPr/>
                </a:tc>
                <a:extLst>
                  <a:ext uri="{0D108BD9-81ED-4DB2-BD59-A6C34878D82A}">
                    <a16:rowId xmlns:a16="http://schemas.microsoft.com/office/drawing/2014/main" val="10003"/>
                  </a:ext>
                </a:extLst>
              </a:tr>
              <a:tr h="370840">
                <a:tc>
                  <a:txBody>
                    <a:bodyPr/>
                    <a:lstStyle/>
                    <a:p>
                      <a:r>
                        <a:rPr lang="ru-RU" sz="1200" b="0" i="0" dirty="0">
                          <a:solidFill>
                            <a:srgbClr val="000000"/>
                          </a:solidFill>
                          <a:latin typeface="Arial" pitchFamily="34" charset="0"/>
                          <a:cs typeface="Arial" pitchFamily="34" charset="0"/>
                        </a:rPr>
                        <a:t>Трансформация навыков</a:t>
                      </a:r>
                    </a:p>
                  </a:txBody>
                  <a:tcPr/>
                </a:tc>
                <a:tc>
                  <a:txBody>
                    <a:bodyPr/>
                    <a:lstStyle/>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Необходимость развития новых технических навыков и навыков по работе с ПО</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1906239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4.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r>
              <a:rPr lang="ru-RU" sz="2000" b="0" i="0" dirty="0">
                <a:solidFill>
                  <a:srgbClr val="000000"/>
                </a:solidFill>
                <a:latin typeface="Arial" pitchFamily="34" charset="0"/>
                <a:cs typeface="Arial" pitchFamily="34" charset="0"/>
              </a:rPr>
              <a:t>Ключевые факторы, обуславливающие переход к третьей платформе</a:t>
            </a:r>
          </a:p>
          <a:p>
            <a:r>
              <a:rPr lang="ru-RU" sz="2000" b="0" i="0" dirty="0">
                <a:solidFill>
                  <a:srgbClr val="000000"/>
                </a:solidFill>
                <a:latin typeface="Arial" pitchFamily="34" charset="0"/>
                <a:cs typeface="Arial" pitchFamily="34" charset="0"/>
              </a:rPr>
              <a:t>Характеристики инфраструктуры третьей платформы</a:t>
            </a:r>
          </a:p>
          <a:p>
            <a:r>
              <a:rPr lang="ru-RU" sz="2000" b="0" i="0" dirty="0">
                <a:solidFill>
                  <a:srgbClr val="000000"/>
                </a:solidFill>
                <a:latin typeface="Arial" pitchFamily="34" charset="0"/>
                <a:cs typeface="Arial" pitchFamily="34" charset="0"/>
              </a:rPr>
              <a:t>Необходимые условия для перехода к третьей платформе</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832337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Практическая реализация концепций </a:t>
            </a:r>
          </a:p>
        </p:txBody>
      </p:sp>
      <p:sp>
        <p:nvSpPr>
          <p:cNvPr id="5" name="Content Placeholder 4"/>
          <p:cNvSpPr>
            <a:spLocks noGrp="1"/>
          </p:cNvSpPr>
          <p:nvPr>
            <p:ph sz="quarter" idx="10"/>
          </p:nvPr>
        </p:nvSpPr>
        <p:spPr/>
        <p:txBody>
          <a:bodyPr/>
          <a:lstStyle/>
          <a:p>
            <a:pPr>
              <a:defRPr/>
            </a:pPr>
            <a:r>
              <a:rPr lang="ru-RU" sz="2000" b="0" i="0" dirty="0">
                <a:solidFill>
                  <a:srgbClr val="000000"/>
                </a:solidFill>
                <a:latin typeface="Arial" pitchFamily="34" charset="0"/>
                <a:cs typeface="Arial" pitchFamily="34" charset="0"/>
              </a:rPr>
              <a:t>VMware vCloud Air</a:t>
            </a:r>
          </a:p>
          <a:p>
            <a:pPr>
              <a:defRPr/>
            </a:pPr>
            <a:r>
              <a:rPr lang="ru-RU" sz="2000" b="0" i="0" dirty="0">
                <a:solidFill>
                  <a:srgbClr val="000000"/>
                </a:solidFill>
                <a:latin typeface="Arial" pitchFamily="34" charset="0"/>
                <a:cs typeface="Arial" pitchFamily="34" charset="0"/>
              </a:rPr>
              <a:t>Pivotal Cloud Foundry</a:t>
            </a:r>
          </a:p>
          <a:p>
            <a:pPr>
              <a:defRPr/>
            </a:pPr>
            <a:r>
              <a:rPr lang="ru-RU" sz="2000" b="0" i="0" dirty="0">
                <a:solidFill>
                  <a:srgbClr val="000000"/>
                </a:solidFill>
                <a:latin typeface="Arial" pitchFamily="34" charset="0"/>
                <a:cs typeface="Arial" pitchFamily="34" charset="0"/>
              </a:rPr>
              <a:t>EMC Syncplicity</a:t>
            </a:r>
          </a:p>
          <a:p>
            <a:pPr>
              <a:defRPr/>
            </a:pPr>
            <a:r>
              <a:rPr lang="ru-RU" sz="2000" b="0" i="0" dirty="0">
                <a:solidFill>
                  <a:srgbClr val="000000"/>
                </a:solidFill>
                <a:latin typeface="Arial" pitchFamily="34" charset="0"/>
                <a:cs typeface="Arial" pitchFamily="34" charset="0"/>
              </a:rPr>
              <a:t>Pivotal GemFire</a:t>
            </a:r>
          </a:p>
          <a:p>
            <a:pPr>
              <a:defRPr/>
            </a:pPr>
            <a:r>
              <a:rPr lang="ru-RU" sz="2000" b="0" i="0" dirty="0">
                <a:solidFill>
                  <a:srgbClr val="000000"/>
                </a:solidFill>
                <a:latin typeface="Arial" pitchFamily="34" charset="0"/>
                <a:cs typeface="Arial" pitchFamily="34" charset="0"/>
              </a:rPr>
              <a:t>Pivotal Greenplum Database</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098988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VMware vCloud Air, Pivotal Cloud Foundry и EMC Syncplicity</a:t>
            </a:r>
          </a:p>
        </p:txBody>
      </p:sp>
      <p:graphicFrame>
        <p:nvGraphicFramePr>
          <p:cNvPr id="6" name="Content Placeholder 4"/>
          <p:cNvGraphicFramePr>
            <a:graphicFrameLocks/>
          </p:cNvGraphicFramePr>
          <p:nvPr>
            <p:extLst>
              <p:ext uri="{D42A27DB-BD31-4B8C-83A1-F6EECF244321}">
                <p14:modId xmlns:p14="http://schemas.microsoft.com/office/powerpoint/2010/main" val="1856838530"/>
              </p:ext>
            </p:extLst>
          </p:nvPr>
        </p:nvGraphicFramePr>
        <p:xfrm>
          <a:off x="379413" y="1113902"/>
          <a:ext cx="8369051" cy="3151520"/>
        </p:xfrm>
        <a:graphic>
          <a:graphicData uri="http://schemas.openxmlformats.org/drawingml/2006/table">
            <a:tbl>
              <a:tblPr firstRow="1" bandRow="1">
                <a:tableStyleId>{5C22544A-7EE6-4342-B048-85BDC9FD1C3A}</a:tableStyleId>
              </a:tblPr>
              <a:tblGrid>
                <a:gridCol w="2592387">
                  <a:extLst>
                    <a:ext uri="{9D8B030D-6E8A-4147-A177-3AD203B41FA5}">
                      <a16:colId xmlns:a16="http://schemas.microsoft.com/office/drawing/2014/main" val="20000"/>
                    </a:ext>
                  </a:extLst>
                </a:gridCol>
                <a:gridCol w="232048">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gridCol w="216024">
                  <a:extLst>
                    <a:ext uri="{9D8B030D-6E8A-4147-A177-3AD203B41FA5}">
                      <a16:colId xmlns:a16="http://schemas.microsoft.com/office/drawing/2014/main" val="20003"/>
                    </a:ext>
                  </a:extLst>
                </a:gridCol>
                <a:gridCol w="2664296">
                  <a:extLst>
                    <a:ext uri="{9D8B030D-6E8A-4147-A177-3AD203B41FA5}">
                      <a16:colId xmlns:a16="http://schemas.microsoft.com/office/drawing/2014/main" val="20004"/>
                    </a:ext>
                  </a:extLst>
                </a:gridCol>
              </a:tblGrid>
              <a:tr h="31840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300" b="1" i="0" dirty="0">
                          <a:solidFill>
                            <a:srgbClr val="FFFFFF"/>
                          </a:solidFill>
                          <a:latin typeface="Arial" pitchFamily="34" charset="0"/>
                          <a:cs typeface="Arial" pitchFamily="34" charset="0"/>
                        </a:rPr>
                        <a:t>vCloud Air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1" kern="12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300" b="1" i="0" dirty="0">
                          <a:solidFill>
                            <a:srgbClr val="FFFFFF"/>
                          </a:solidFill>
                          <a:latin typeface="Arial" pitchFamily="34" charset="0"/>
                          <a:cs typeface="Arial" pitchFamily="34" charset="0"/>
                        </a:rPr>
                        <a:t>Cloud Foundry</a:t>
                      </a:r>
                    </a:p>
                  </a:txBody>
                  <a:tcPr/>
                </a:tc>
                <a:tc>
                  <a:txBody>
                    <a:bodyPr/>
                    <a:lstStyle/>
                    <a:p>
                      <a:endParaRPr lang="en-US" sz="13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300" b="1" i="0" dirty="0">
                          <a:solidFill>
                            <a:srgbClr val="FFFFFF"/>
                          </a:solidFill>
                          <a:latin typeface="Arial" pitchFamily="34" charset="0"/>
                          <a:cs typeface="Arial" pitchFamily="34" charset="0"/>
                        </a:rPr>
                        <a:t>Syncplicity</a:t>
                      </a:r>
                    </a:p>
                  </a:txBody>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Публичное облако с моделью «инфраструктура как услуга»</a:t>
                      </a:r>
                    </a:p>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Возможность внедрить модель гибридного облака для:</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100" b="0" i="0" dirty="0">
                          <a:solidFill>
                            <a:srgbClr val="000000"/>
                          </a:solidFill>
                          <a:latin typeface="Arial" pitchFamily="34" charset="0"/>
                          <a:cs typeface="Arial" pitchFamily="34" charset="0"/>
                        </a:rPr>
                        <a:t>расширения/миграции существующих рабочих нагрузок; </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100" b="0" i="0" dirty="0">
                          <a:solidFill>
                            <a:srgbClr val="000000"/>
                          </a:solidFill>
                          <a:latin typeface="Arial" pitchFamily="34" charset="0"/>
                          <a:cs typeface="Arial" pitchFamily="34" charset="0"/>
                        </a:rPr>
                        <a:t>разработки новых приложений;</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100" b="0" i="0" dirty="0">
                          <a:solidFill>
                            <a:srgbClr val="000000"/>
                          </a:solidFill>
                          <a:latin typeface="Arial" pitchFamily="34" charset="0"/>
                          <a:cs typeface="Arial" pitchFamily="34" charset="0"/>
                        </a:rPr>
                        <a:t>Аварийное восстановление</a:t>
                      </a:r>
                    </a:p>
                  </a:txBody>
                  <a:tcPr>
                    <a:solidFill>
                      <a:srgbClr val="BABCBE"/>
                    </a:solidFill>
                  </a:tcPr>
                </a:tc>
                <a:tc>
                  <a:txBody>
                    <a:bodyPr/>
                    <a:lstStyle/>
                    <a:p>
                      <a:pPr marL="742950" lvl="2" indent="-285750" algn="l" defTabSz="800100">
                        <a:lnSpc>
                          <a:spcPct val="90000"/>
                        </a:lnSpc>
                        <a:spcBef>
                          <a:spcPct val="0"/>
                        </a:spcBef>
                        <a:spcAft>
                          <a:spcPct val="15000"/>
                        </a:spcAft>
                        <a:buFont typeface="Wingdings" panose="05000000000000000000" pitchFamily="2" charset="2"/>
                        <a:buChar char="§"/>
                      </a:pPr>
                      <a:endParaRPr lang="en-US" sz="1400" kern="12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Предложение модели «платформа как услуга» (PaaS) на базе отраслевого проекта с открытым исходным кодом</a:t>
                      </a:r>
                    </a:p>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Обеспечение упрощенной и оперативной разработки приложений</a:t>
                      </a:r>
                    </a:p>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Поддержка нескольких платформ программирования и сервисов управления данными</a:t>
                      </a:r>
                    </a:p>
                  </a:txBody>
                  <a:tcPr>
                    <a:solidFill>
                      <a:srgbClr val="BABCBE"/>
                    </a:solidFill>
                  </a:tcPr>
                </a:tc>
                <a:tc>
                  <a:txBody>
                    <a:bodyPr/>
                    <a:lstStyle/>
                    <a:p>
                      <a:endParaRPr lang="en-US" sz="16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Решение с моделью «ПО как услуга» (SaaS) для совместного использования файлов и защиты данных</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100" b="0" i="0" dirty="0">
                          <a:solidFill>
                            <a:srgbClr val="000000"/>
                          </a:solidFill>
                          <a:latin typeface="Arial" pitchFamily="34" charset="0"/>
                          <a:cs typeface="Arial" pitchFamily="34" charset="0"/>
                        </a:rPr>
                        <a:t>Обеспечивает мобильный и веб-доступ</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100" b="0" i="0" dirty="0">
                          <a:solidFill>
                            <a:srgbClr val="000000"/>
                          </a:solidFill>
                          <a:latin typeface="Arial" pitchFamily="34" charset="0"/>
                          <a:cs typeface="Arial" pitchFamily="34" charset="0"/>
                        </a:rPr>
                        <a:t>Позволяет использовать личные устройства в рабочих целях</a:t>
                      </a:r>
                    </a:p>
                    <a:p>
                      <a:pPr marL="171450" lvl="1" indent="-171450" algn="l" defTabSz="800100">
                        <a:lnSpc>
                          <a:spcPct val="100000"/>
                        </a:lnSpc>
                        <a:spcBef>
                          <a:spcPts val="1200"/>
                        </a:spcBef>
                        <a:spcAft>
                          <a:spcPct val="15000"/>
                        </a:spcAft>
                        <a:buChar char="••"/>
                      </a:pPr>
                      <a:r>
                        <a:rPr lang="ru-RU" sz="1300" b="0" i="0" dirty="0">
                          <a:solidFill>
                            <a:srgbClr val="000000"/>
                          </a:solidFill>
                          <a:latin typeface="Arial" pitchFamily="34" charset="0"/>
                          <a:cs typeface="Arial" pitchFamily="34" charset="0"/>
                        </a:rPr>
                        <a:t>Синхронизация файлов на нескольких устройствах в режиме реального времени</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203578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Pivotal GemFire и Pivotal Greenplum Database</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565859244"/>
              </p:ext>
            </p:extLst>
          </p:nvPr>
        </p:nvGraphicFramePr>
        <p:xfrm>
          <a:off x="379413" y="879438"/>
          <a:ext cx="8458200" cy="3416240"/>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408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GemFire</a:t>
                      </a:r>
                    </a:p>
                  </a:txBody>
                  <a:tcPr/>
                </a:tc>
                <a:tc>
                  <a:txBody>
                    <a:bodyPr/>
                    <a:lstStyle/>
                    <a:p>
                      <a:endParaRPr lang="en-US" sz="14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Greenplum </a:t>
                      </a:r>
                      <a:r>
                        <a:rPr lang="ru-RU" sz="1400" b="0" i="0" dirty="0">
                          <a:solidFill>
                            <a:srgbClr val="FFFFFF"/>
                          </a:solidFill>
                          <a:latin typeface="Arial" pitchFamily="34" charset="0"/>
                          <a:cs typeface="Arial" pitchFamily="34" charset="0"/>
                        </a:rPr>
                        <a:t>Database</a:t>
                      </a:r>
                    </a:p>
                  </a:txBody>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ru-RU" sz="1400" b="0" i="0" dirty="0">
                          <a:solidFill>
                            <a:srgbClr val="000000"/>
                          </a:solidFill>
                          <a:latin typeface="Arial" pitchFamily="34" charset="0"/>
                          <a:cs typeface="Arial" pitchFamily="34" charset="0"/>
                        </a:rPr>
                        <a:t>Распределенная размещаемая в памяти база данных для высокопроизводительных приложений NoSQL</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200" b="0" i="0" dirty="0">
                          <a:solidFill>
                            <a:srgbClr val="000000"/>
                          </a:solidFill>
                          <a:latin typeface="Arial" pitchFamily="34" charset="0"/>
                          <a:cs typeface="Arial" pitchFamily="34" charset="0"/>
                        </a:rPr>
                        <a:t>Предоставляет доступ к данным с низкой задержкой для приложений при большом масштабе </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200" b="0" i="0" dirty="0">
                          <a:solidFill>
                            <a:srgbClr val="000000"/>
                          </a:solidFill>
                          <a:latin typeface="Arial" pitchFamily="34" charset="0"/>
                          <a:cs typeface="Arial" pitchFamily="34" charset="0"/>
                        </a:rPr>
                        <a:t>Поддерживает аналитику в режиме реального времени</a:t>
                      </a:r>
                    </a:p>
                    <a:p>
                      <a:pPr marL="171450" lvl="1" indent="-171450" algn="l" defTabSz="800100">
                        <a:lnSpc>
                          <a:spcPct val="100000"/>
                        </a:lnSpc>
                        <a:spcBef>
                          <a:spcPts val="1200"/>
                        </a:spcBef>
                        <a:spcAft>
                          <a:spcPct val="15000"/>
                        </a:spcAft>
                        <a:buChar char="••"/>
                      </a:pPr>
                      <a:r>
                        <a:rPr lang="ru-RU" sz="1400" b="0" i="0" dirty="0">
                          <a:solidFill>
                            <a:srgbClr val="000000"/>
                          </a:solidFill>
                          <a:latin typeface="Arial" pitchFamily="34" charset="0"/>
                          <a:cs typeface="Arial" pitchFamily="34" charset="0"/>
                        </a:rPr>
                        <a:t>Автоматическое распределение данных в кластере</a:t>
                      </a:r>
                    </a:p>
                    <a:p>
                      <a:pPr marL="171450" lvl="1" indent="-171450" algn="l" defTabSz="800100">
                        <a:lnSpc>
                          <a:spcPct val="100000"/>
                        </a:lnSpc>
                        <a:spcBef>
                          <a:spcPts val="1200"/>
                        </a:spcBef>
                        <a:spcAft>
                          <a:spcPct val="15000"/>
                        </a:spcAft>
                        <a:buChar char="••"/>
                      </a:pPr>
                      <a:r>
                        <a:rPr lang="ru-RU" sz="1400" b="0" i="0" dirty="0">
                          <a:solidFill>
                            <a:srgbClr val="000000"/>
                          </a:solidFill>
                          <a:latin typeface="Arial" pitchFamily="34" charset="0"/>
                          <a:cs typeface="Arial" pitchFamily="34" charset="0"/>
                        </a:rPr>
                        <a:t>Поддержка нескольких языков программирования</a:t>
                      </a:r>
                    </a:p>
                  </a:txBody>
                  <a:tcPr>
                    <a:solidFill>
                      <a:srgbClr val="BABCBE"/>
                    </a:solidFill>
                  </a:tcPr>
                </a:tc>
                <a:tc>
                  <a:txBody>
                    <a:bodyPr/>
                    <a:lstStyle/>
                    <a:p>
                      <a:endParaRPr lang="en-US" sz="16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400" b="0" i="0" dirty="0">
                          <a:solidFill>
                            <a:srgbClr val="000000"/>
                          </a:solidFill>
                          <a:latin typeface="Arial" pitchFamily="34" charset="0"/>
                          <a:cs typeface="Arial" pitchFamily="34" charset="0"/>
                        </a:rPr>
                        <a:t>Комплексное решение SMAQ для бизнес-аналитики</a:t>
                      </a:r>
                    </a:p>
                    <a:p>
                      <a:pPr marL="171450" lvl="1" indent="-171450" algn="l" defTabSz="800100">
                        <a:lnSpc>
                          <a:spcPct val="100000"/>
                        </a:lnSpc>
                        <a:spcBef>
                          <a:spcPts val="1200"/>
                        </a:spcBef>
                        <a:spcAft>
                          <a:spcPct val="15000"/>
                        </a:spcAft>
                        <a:buChar char="••"/>
                      </a:pPr>
                      <a:r>
                        <a:rPr lang="ru-RU" sz="1400" b="0" i="0" dirty="0">
                          <a:solidFill>
                            <a:srgbClr val="000000"/>
                          </a:solidFill>
                          <a:latin typeface="Arial" pitchFamily="34" charset="0"/>
                          <a:cs typeface="Arial" pitchFamily="34" charset="0"/>
                        </a:rPr>
                        <a:t>Высокая линейная масштабируемость и возможности параллельной обработки данных </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200" b="0" i="0" dirty="0">
                          <a:solidFill>
                            <a:srgbClr val="000000"/>
                          </a:solidFill>
                          <a:latin typeface="Arial" pitchFamily="34" charset="0"/>
                          <a:cs typeface="Arial" pitchFamily="34" charset="0"/>
                        </a:rPr>
                        <a:t>Автоматическая параллелизация рабочих нагрузок и распределение данных в кластере</a:t>
                      </a:r>
                    </a:p>
                    <a:p>
                      <a:pPr marL="171450" marR="0" lvl="1" indent="-171450" algn="l" defTabSz="800100" rtl="0" eaLnBrk="1" fontAlgn="auto" latinLnBrk="0" hangingPunct="1">
                        <a:lnSpc>
                          <a:spcPct val="100000"/>
                        </a:lnSpc>
                        <a:spcBef>
                          <a:spcPts val="1200"/>
                        </a:spcBef>
                        <a:spcAft>
                          <a:spcPct val="15000"/>
                        </a:spcAft>
                        <a:buClrTx/>
                        <a:buSzTx/>
                        <a:buFont typeface="Verdana" panose="020B0604030504040204" pitchFamily="34" charset="0"/>
                        <a:buChar char="••"/>
                        <a:tabLst/>
                        <a:defRPr/>
                      </a:pPr>
                      <a:r>
                        <a:rPr lang="ru-RU" sz="1400" b="0" i="0" dirty="0">
                          <a:solidFill>
                            <a:srgbClr val="000000"/>
                          </a:solidFill>
                          <a:latin typeface="Arial" pitchFamily="34" charset="0"/>
                          <a:cs typeface="Arial" pitchFamily="34" charset="0"/>
                        </a:rPr>
                        <a:t>Поддержка SQL, Hadoop, MapReduce и программируемой аналитики</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741118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Модуль 2. Резюме</a:t>
            </a:r>
          </a:p>
        </p:txBody>
      </p:sp>
      <p:sp>
        <p:nvSpPr>
          <p:cNvPr id="7" name="Content Placeholder 6"/>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модуле были рассмотрены следующие ключевые вопросы:</a:t>
            </a:r>
          </a:p>
          <a:p>
            <a:r>
              <a:rPr lang="ru-RU" sz="2000" b="0" i="0" dirty="0">
                <a:solidFill>
                  <a:srgbClr val="000000"/>
                </a:solidFill>
                <a:latin typeface="Arial" pitchFamily="34" charset="0"/>
                <a:cs typeface="Arial" pitchFamily="34" charset="0"/>
              </a:rPr>
              <a:t>Облачные технологии и их основные характеристики</a:t>
            </a:r>
          </a:p>
          <a:p>
            <a:r>
              <a:rPr lang="ru-RU" sz="2000" b="0" i="0" dirty="0">
                <a:solidFill>
                  <a:srgbClr val="000000"/>
                </a:solidFill>
                <a:latin typeface="Arial" pitchFamily="34" charset="0"/>
                <a:cs typeface="Arial" pitchFamily="34" charset="0"/>
              </a:rPr>
              <a:t>Модели облачных услуг и модели развертывания облаков</a:t>
            </a:r>
          </a:p>
          <a:p>
            <a:r>
              <a:rPr lang="ru-RU" sz="2000" b="0" i="0" dirty="0">
                <a:solidFill>
                  <a:srgbClr val="000000"/>
                </a:solidFill>
                <a:latin typeface="Arial" pitchFamily="34" charset="0"/>
                <a:cs typeface="Arial" pitchFamily="34" charset="0"/>
              </a:rPr>
              <a:t>Аналитика больших данных</a:t>
            </a:r>
          </a:p>
          <a:p>
            <a:r>
              <a:rPr lang="ru-RU" sz="2000" b="0" i="0" dirty="0">
                <a:solidFill>
                  <a:srgbClr val="000000"/>
                </a:solidFill>
                <a:latin typeface="Arial" pitchFamily="34" charset="0"/>
                <a:cs typeface="Arial" pitchFamily="34" charset="0"/>
              </a:rPr>
              <a:t>Социальные сети и мобильные технологии</a:t>
            </a:r>
          </a:p>
          <a:p>
            <a:r>
              <a:rPr lang="ru-RU" sz="2000" b="0" i="0" dirty="0">
                <a:solidFill>
                  <a:srgbClr val="000000"/>
                </a:solidFill>
                <a:latin typeface="Arial" pitchFamily="34" charset="0"/>
                <a:cs typeface="Arial" pitchFamily="34" charset="0"/>
              </a:rPr>
              <a:t>Характеристики инфраструктуры третьей платформы</a:t>
            </a:r>
          </a:p>
          <a:p>
            <a:r>
              <a:rPr lang="ru-RU" sz="2000" b="0" i="0" dirty="0">
                <a:solidFill>
                  <a:srgbClr val="000000"/>
                </a:solidFill>
                <a:latin typeface="Arial" pitchFamily="34" charset="0"/>
                <a:cs typeface="Arial" pitchFamily="34" charset="0"/>
              </a:rPr>
              <a:t>Необходимые условия для перехода к третьей платформе</a:t>
            </a:r>
          </a:p>
          <a:p>
            <a:pPr marL="457200" lvl="1" indent="0">
              <a:buNone/>
            </a:pPr>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174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blipFill>
          <a:blip r:embed="rId7"/>
          <a:stretch>
            <a:fillRect/>
          </a:stretch>
        </a:blip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ru-RU"/>
              <a:t>ISM v3 модуль 2: технологии третьей платформы — тест</a:t>
            </a:r>
            <a:endParaRPr lang="en-US"/>
          </a:p>
        </p:txBody>
      </p:sp>
      <p:sp>
        <p:nvSpPr>
          <p:cNvPr id="3" name="Slide Number Placeholder 2" hidden="1"/>
          <p:cNvSpPr>
            <a:spLocks noGrp="1"/>
          </p:cNvSpPr>
          <p:nvPr>
            <p:ph type="sldNum" sz="quarter" idx="10"/>
          </p:nvPr>
        </p:nvSpPr>
        <p:spPr/>
        <p:txBody>
          <a:bodyPr/>
          <a:lstStyle/>
          <a:p>
            <a:fld id="{B7FCCBDA-9680-4DD4-B999-2854C48CD6AB}" type="slidenum">
              <a:rPr lang="en-US" smtClean="0">
                <a:solidFill>
                  <a:srgbClr val="000000">
                    <a:tint val="75000"/>
                  </a:srgbClr>
                </a:solidFill>
              </a:rPr>
              <a:pPr/>
              <a:t>45</a:t>
            </a:fld>
            <a:endParaRPr lang="en-US" dirty="0">
              <a:solidFill>
                <a:srgbClr val="000000">
                  <a:tint val="75000"/>
                </a:srgbClr>
              </a:solidFill>
            </a:endParaRPr>
          </a:p>
        </p:txBody>
      </p:sp>
      <p:sp>
        <p:nvSpPr>
          <p:cNvPr id="7" name="TextBox 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45</a:t>
            </a:fld>
            <a:endParaRPr lang="ru-RU" dirty="0">
              <a:solidFill>
                <a:schemeClr val="bg2"/>
              </a:solidFill>
              <a:latin typeface="Arial"/>
            </a:endParaRPr>
          </a:p>
        </p:txBody>
      </p:sp>
      <p:pic>
        <p:nvPicPr>
          <p:cNvPr id="25" name="Picture 24" descr="~t191335.emf"/>
          <p:cNvPicPr>
            <a:picLocks/>
          </p:cNvPicPr>
          <p:nvPr>
            <p:custDataLst>
              <p:tags r:id="rId2"/>
            </p:custDataLst>
          </p:nvPr>
        </p:nvPicPr>
        <p:blipFill>
          <a:blip r:embed="rId8"/>
          <a:stretch>
            <a:fillRect/>
          </a:stretch>
        </p:blipFill>
        <p:spPr>
          <a:xfrm>
            <a:off x="660400" y="2362200"/>
            <a:ext cx="5740400" cy="2346424"/>
          </a:xfrm>
          <a:prstGeom prst="rect">
            <a:avLst/>
          </a:prstGeom>
        </p:spPr>
      </p:pic>
      <p:pic>
        <p:nvPicPr>
          <p:cNvPr id="26" name="Picture 25" descr="qmb.png"/>
          <p:cNvPicPr>
            <a:picLocks/>
          </p:cNvPicPr>
          <p:nvPr>
            <p:custDataLst>
              <p:tags r:id="rId3"/>
            </p:custDataLst>
          </p:nvPr>
        </p:nvPicPr>
        <p:blipFill>
          <a:blip r:embed="rId9"/>
          <a:stretch>
            <a:fillRect/>
          </a:stretch>
        </p:blipFill>
        <p:spPr>
          <a:xfrm>
            <a:off x="5842000" y="3030423"/>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pic>
        <p:nvPicPr>
          <p:cNvPr id="27" name="Picture 26" descr="enga.png"/>
          <p:cNvPicPr>
            <a:picLocks/>
          </p:cNvPicPr>
          <p:nvPr>
            <p:custDataLst>
              <p:tags r:id="rId4"/>
            </p:custDataLst>
          </p:nvPr>
        </p:nvPicPr>
        <p:blipFill>
          <a:blip r:embed="rId10"/>
          <a:stretch>
            <a:fillRect/>
          </a:stretch>
        </p:blipFill>
        <p:spPr>
          <a:xfrm>
            <a:off x="5842000" y="3873500"/>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Отзыв о курсе </a:t>
            </a:r>
          </a:p>
        </p:txBody>
      </p:sp>
      <p:pic>
        <p:nvPicPr>
          <p:cNvPr id="5" name="Picture 10"/>
          <p:cNvPicPr>
            <a:picLocks noGrp="1" noChangeAspect="1" noChangeArrowheads="1"/>
          </p:cNvPicPr>
          <p:nvPr>
            <p:ph sz="quarter" idx="10"/>
          </p:nvPr>
        </p:nvPicPr>
        <p:blipFill>
          <a:blip r:embed="rId4" cstate="print">
            <a:lum bright="70000" contrast="-70000"/>
          </a:blip>
          <a:srcRect/>
          <a:stretch>
            <a:fillRect/>
          </a:stretch>
        </p:blipFill>
        <p:spPr bwMode="auto">
          <a:xfrm>
            <a:off x="1981200" y="1047750"/>
            <a:ext cx="3754579" cy="2514600"/>
          </a:xfrm>
          <a:prstGeom prst="rect">
            <a:avLst/>
          </a:prstGeom>
          <a:noFill/>
          <a:ln w="28575" algn="ctr">
            <a:noFill/>
            <a:miter lim="800000"/>
            <a:headEnd/>
            <a:tailEnd/>
          </a:ln>
        </p:spPr>
      </p:pic>
      <p:sp>
        <p:nvSpPr>
          <p:cNvPr id="6" name="Rounded Rectangle 7">
            <a:hlinkClick r:id="rId5"/>
          </p:cNvPr>
          <p:cNvSpPr/>
          <p:nvPr/>
        </p:nvSpPr>
        <p:spPr bwMode="auto">
          <a:xfrm>
            <a:off x="4876800" y="3257550"/>
            <a:ext cx="2386013" cy="457200"/>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sz="1800" b="0" i="0" dirty="0">
                <a:solidFill>
                  <a:srgbClr val="FFFFFF"/>
                </a:solidFill>
                <a:latin typeface="Arial" pitchFamily="34" charset="0"/>
                <a:cs typeface="Arial" pitchFamily="34" charset="0"/>
              </a:rPr>
              <a:t>Отправить отзыв</a:t>
            </a:r>
          </a:p>
        </p:txBody>
      </p:sp>
      <p:sp>
        <p:nvSpPr>
          <p:cNvPr id="3" name="Slide Number Placeholder 2"/>
          <p:cNvSpPr>
            <a:spLocks noGrp="1"/>
          </p:cNvSpPr>
          <p:nvPr>
            <p:ph type="sldNum" sz="quarter" idx="4"/>
          </p:nvPr>
        </p:nvSpPr>
        <p:spPr/>
        <p:txBody>
          <a:bodyPr/>
          <a:lstStyle/>
          <a:p>
            <a:fld id="{B7FCCBDA-9680-4DD4-B999-2854C48CD6AB}" type="slidenum">
              <a:rPr lang="en-US" smtClean="0">
                <a:solidFill>
                  <a:srgbClr val="000000">
                    <a:tint val="75000"/>
                  </a:srgbClr>
                </a:solidFill>
                <a:latin typeface="Arial" pitchFamily="34" charset="0"/>
                <a:cs typeface="Arial" pitchFamily="34" charset="0"/>
              </a:rPr>
              <a:pPr/>
              <a:t>46</a:t>
            </a:fld>
            <a:endParaRPr lang="en-US" dirty="0">
              <a:solidFill>
                <a:srgbClr val="000000">
                  <a:tint val="75000"/>
                </a:srgbClr>
              </a:solidFill>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184543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4b5fa172-ba20-4f98-a752-073b71a501e0"/>
  <p:tag name="ARTICULATE_PRESENTATION_ID" val="11110"/>
  <p:tag name="ARTICULATE_SLIDE_COUNT" val="46"/>
  <p:tag name="ARTICULATE_PROJECT_OPEN" val="1"/>
  <p:tag name="ARTICULATE_REFERENCE_TYPE_1" val="1"/>
  <p:tag name="ARTICULATE_REFERENCE_1" val="Z:\E\Project_MEW\C15038509011_SE15319_BPP_Tech_ISMv3_eLearning_CM\DTP\RU\Batch1\DTP\2\New folder (2)\ISM v3 Module 2_eLearning_SRG.pdf"/>
  <p:tag name="ARTICULATE_REFERENCE_TITLE_1" val="Student Guide"/>
  <p:tag name="ARTICULATE_REFERENCE_ID_1" val="dc906cf1-5369-497b-be88-695539050b97"/>
  <p:tag name="ARTICULATE_REFERENCE_COUNT" val="1"/>
  <p:tag name="ARTICULATE_REFERENCE_DESCRIPTION" val="Ниже указаны полезные ссылки и документы."/>
  <p:tag name="ARTICULATE_PLAYER_GLOSSARY_XML" val="&lt;?xml version=&quot;1.0&quot; encoding=&quot;utf-16&quot;?&gt;&lt;glossary xmlns:xsi=&quot;http://www.w3.org/2001/XMLSchema-instance&quot; xmlns:xsd=&quot;http://www.w3.org/2001/XMLSchema&quot;&gt;&lt;terms /&gt;&lt;/glossary&gt;"/>
  <p:tag name="ARTICULATE_META_COURSE_ID" val="5rOu4NNlJBs_course_id"/>
  <p:tag name="ARTICULATE_META_NAME" val="CSOFT"/>
  <p:tag name="ARTICULATE_META_NAME_SET" val="True"/>
  <p:tag name="TAG_BACKING_FORM_KEY" val="1770100-z:\e\project_mew\c15038509011_se15319_bpp_tech_ismv3_elearning_cm\dtp\ru\batch1\dtp\2\ism v3 module 2_elearning_srg-microsoft powerpoint (with notes)-ru-ru#dtp_evnv#.pptx"/>
  <p:tag name="ARTICULATE_PRESENTER_VERSION" val="7"/>
  <p:tag name="ARTICULATE_USED_PAGE_ORIENTATION" val="1"/>
  <p:tag name="ARTICULATE_USED_PAGE_SIZE" val="1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UDIO_ID" val="367"/>
  <p:tag name="ORIGINAL_AUDIO_FILEPATH" val="Z:\E\Project_MEW\C15038509011_SE15319_BPP_Tech_ISMv3_eLearning_CM\DTP\RU\Batch1\DTP\audios\2\001.mp3"/>
  <p:tag name="ELAPSEDTIME" val="16.00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1"/>
</p:tagLst>
</file>

<file path=ppt/tags/tag39.xml><?xml version="1.0" encoding="utf-8"?>
<p:tagLst xmlns:a="http://schemas.openxmlformats.org/drawingml/2006/main" xmlns:r="http://schemas.openxmlformats.org/officeDocument/2006/relationships" xmlns:p="http://schemas.openxmlformats.org/presentationml/2006/main">
  <p:tag name="AUDIO_ID" val="368"/>
  <p:tag name="ORIGINAL_AUDIO_FILEPATH" val="Z:\E\Project_MEW\C15038509011_SE15319_BPP_Tech_ISMv3_eLearning_CM\DTP\RU\Batch1\DTP\audios\2\002.mp3"/>
  <p:tag name="ELAPSEDTIME" val="39.24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0.xml><?xml version="1.0" encoding="utf-8"?>
<p:tagLst xmlns:a="http://schemas.openxmlformats.org/drawingml/2006/main" xmlns:r="http://schemas.openxmlformats.org/officeDocument/2006/relationships" xmlns:p="http://schemas.openxmlformats.org/presentationml/2006/main">
  <p:tag name="AUDIO_ID" val="314"/>
  <p:tag name="ORIGINAL_AUDIO_FILEPATH" val="Z:\E\Project_MEW\C15038509011_SE15319_BPP_Tech_ISMv3_eLearning_CM\DTP\RU\Batch1\DTP\audios\2\003.mp3"/>
  <p:tag name="ELAPSEDTIME" val="12.21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41.xml><?xml version="1.0" encoding="utf-8"?>
<p:tagLst xmlns:a="http://schemas.openxmlformats.org/drawingml/2006/main" xmlns:r="http://schemas.openxmlformats.org/officeDocument/2006/relationships" xmlns:p="http://schemas.openxmlformats.org/presentationml/2006/main">
  <p:tag name="AUDIO_ID" val="315"/>
  <p:tag name="ORIGINAL_AUDIO_FILEPATH" val="Z:\E\Project_MEW\C15038509011_SE15319_BPP_Tech_ISMv3_eLearning_CM\DTP\RU\Batch1\DTP\audios\2\004.mp3"/>
  <p:tag name="ELAPSEDTIME" val="102.39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2.xml><?xml version="1.0" encoding="utf-8"?>
<p:tagLst xmlns:a="http://schemas.openxmlformats.org/drawingml/2006/main" xmlns:r="http://schemas.openxmlformats.org/officeDocument/2006/relationships" xmlns:p="http://schemas.openxmlformats.org/presentationml/2006/main">
  <p:tag name="AUDIO_ID" val="316"/>
  <p:tag name="ORIGINAL_AUDIO_FILEPATH" val="Z:\E\Project_MEW\C15038509011_SE15319_BPP_Tech_ISMv3_eLearning_CM\DTP\RU\Batch1\DTP\audios\2\005.mp3"/>
  <p:tag name="ELAPSEDTIME" val="105.09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3.xml><?xml version="1.0" encoding="utf-8"?>
<p:tagLst xmlns:a="http://schemas.openxmlformats.org/drawingml/2006/main" xmlns:r="http://schemas.openxmlformats.org/officeDocument/2006/relationships" xmlns:p="http://schemas.openxmlformats.org/presentationml/2006/main">
  <p:tag name="DUPLICATEID" val="5fab53eba297438fb67e0e90f1ed1c3f"/>
</p:tagLst>
</file>

<file path=ppt/tags/tag44.xml><?xml version="1.0" encoding="utf-8"?>
<p:tagLst xmlns:a="http://schemas.openxmlformats.org/drawingml/2006/main" xmlns:r="http://schemas.openxmlformats.org/officeDocument/2006/relationships" xmlns:p="http://schemas.openxmlformats.org/presentationml/2006/main">
  <p:tag name="DUPLICATEID" val="dbdae90c59bf43d39fcaf3594e37c66b"/>
</p:tagLst>
</file>

<file path=ppt/tags/tag45.xml><?xml version="1.0" encoding="utf-8"?>
<p:tagLst xmlns:a="http://schemas.openxmlformats.org/drawingml/2006/main" xmlns:r="http://schemas.openxmlformats.org/officeDocument/2006/relationships" xmlns:p="http://schemas.openxmlformats.org/presentationml/2006/main">
  <p:tag name="DUPLICATEID" val="9709af956e3440b399937228c8983196"/>
</p:tagLst>
</file>

<file path=ppt/tags/tag46.xml><?xml version="1.0" encoding="utf-8"?>
<p:tagLst xmlns:a="http://schemas.openxmlformats.org/drawingml/2006/main" xmlns:r="http://schemas.openxmlformats.org/officeDocument/2006/relationships" xmlns:p="http://schemas.openxmlformats.org/presentationml/2006/main">
  <p:tag name="DUPLICATEID" val="dbf3b39ebb464533b95fbd52c2675f9a"/>
</p:tagLst>
</file>

<file path=ppt/tags/tag47.xml><?xml version="1.0" encoding="utf-8"?>
<p:tagLst xmlns:a="http://schemas.openxmlformats.org/drawingml/2006/main" xmlns:r="http://schemas.openxmlformats.org/officeDocument/2006/relationships" xmlns:p="http://schemas.openxmlformats.org/presentationml/2006/main">
  <p:tag name="DUPLICATEID" val="ef42e55aee4245d58d36facc67d41ce3"/>
</p:tagLst>
</file>

<file path=ppt/tags/tag48.xml><?xml version="1.0" encoding="utf-8"?>
<p:tagLst xmlns:a="http://schemas.openxmlformats.org/drawingml/2006/main" xmlns:r="http://schemas.openxmlformats.org/officeDocument/2006/relationships" xmlns:p="http://schemas.openxmlformats.org/presentationml/2006/main">
  <p:tag name="DUPLICATEID" val="49d7f562e94d4fe5bae5da116fc50349"/>
</p:tagLst>
</file>

<file path=ppt/tags/tag49.xml><?xml version="1.0" encoding="utf-8"?>
<p:tagLst xmlns:a="http://schemas.openxmlformats.org/drawingml/2006/main" xmlns:r="http://schemas.openxmlformats.org/officeDocument/2006/relationships" xmlns:p="http://schemas.openxmlformats.org/presentationml/2006/main">
  <p:tag name="DUPLICATEID" val="0fd8d2ab37ce48d8943cf503804c89ca"/>
</p:tagLst>
</file>

<file path=ppt/tags/tag50.xml><?xml version="1.0" encoding="utf-8"?>
<p:tagLst xmlns:a="http://schemas.openxmlformats.org/drawingml/2006/main" xmlns:r="http://schemas.openxmlformats.org/officeDocument/2006/relationships" xmlns:p="http://schemas.openxmlformats.org/presentationml/2006/main">
  <p:tag name="DUPLICATEID" val="99b2c224239a4b3e9038866a406953a2"/>
</p:tagLst>
</file>

<file path=ppt/tags/tag51.xml><?xml version="1.0" encoding="utf-8"?>
<p:tagLst xmlns:a="http://schemas.openxmlformats.org/drawingml/2006/main" xmlns:r="http://schemas.openxmlformats.org/officeDocument/2006/relationships" xmlns:p="http://schemas.openxmlformats.org/presentationml/2006/main">
  <p:tag name="DUPLICATEID" val="11b27cc450014699af46b05d5dd3ff92"/>
</p:tagLst>
</file>

<file path=ppt/tags/tag52.xml><?xml version="1.0" encoding="utf-8"?>
<p:tagLst xmlns:a="http://schemas.openxmlformats.org/drawingml/2006/main" xmlns:r="http://schemas.openxmlformats.org/officeDocument/2006/relationships" xmlns:p="http://schemas.openxmlformats.org/presentationml/2006/main">
  <p:tag name="DUPLICATEID" val="ff23f3ec43e74cda94a11e56b713adf6"/>
</p:tagLst>
</file>

<file path=ppt/tags/tag53.xml><?xml version="1.0" encoding="utf-8"?>
<p:tagLst xmlns:a="http://schemas.openxmlformats.org/drawingml/2006/main" xmlns:r="http://schemas.openxmlformats.org/officeDocument/2006/relationships" xmlns:p="http://schemas.openxmlformats.org/presentationml/2006/main">
  <p:tag name="DUPLICATEID" val="aa4c117ac76b41d185be21715c1e418a"/>
</p:tagLst>
</file>

<file path=ppt/tags/tag54.xml><?xml version="1.0" encoding="utf-8"?>
<p:tagLst xmlns:a="http://schemas.openxmlformats.org/drawingml/2006/main" xmlns:r="http://schemas.openxmlformats.org/officeDocument/2006/relationships" xmlns:p="http://schemas.openxmlformats.org/presentationml/2006/main">
  <p:tag name="DUPLICATEID" val="7605b0b4067e4383a4d9ac841f6345fb"/>
</p:tagLst>
</file>

<file path=ppt/tags/tag55.xml><?xml version="1.0" encoding="utf-8"?>
<p:tagLst xmlns:a="http://schemas.openxmlformats.org/drawingml/2006/main" xmlns:r="http://schemas.openxmlformats.org/officeDocument/2006/relationships" xmlns:p="http://schemas.openxmlformats.org/presentationml/2006/main">
  <p:tag name="DUPLICATEID" val="dad0c11534524808b2933b0a74099427"/>
</p:tagLst>
</file>

<file path=ppt/tags/tag56.xml><?xml version="1.0" encoding="utf-8"?>
<p:tagLst xmlns:a="http://schemas.openxmlformats.org/drawingml/2006/main" xmlns:r="http://schemas.openxmlformats.org/officeDocument/2006/relationships" xmlns:p="http://schemas.openxmlformats.org/presentationml/2006/main">
  <p:tag name="DUPLICATEID" val="5a993b7ca40441dd8f81dfd4c3693ead"/>
</p:tagLst>
</file>

<file path=ppt/tags/tag57.xml><?xml version="1.0" encoding="utf-8"?>
<p:tagLst xmlns:a="http://schemas.openxmlformats.org/drawingml/2006/main" xmlns:r="http://schemas.openxmlformats.org/officeDocument/2006/relationships" xmlns:p="http://schemas.openxmlformats.org/presentationml/2006/main">
  <p:tag name="AUDIO_ID" val="317"/>
  <p:tag name="ORIGINAL_AUDIO_FILEPATH" val="Z:\E\Project_MEW\C15038509011_SE15319_BPP_Tech_ISMv3_eLearning_CM\DTP\RU\Batch1\DTP\audios\2\006.mp3"/>
  <p:tag name="ELAPSEDTIME" val="155.5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8.xml><?xml version="1.0" encoding="utf-8"?>
<p:tagLst xmlns:a="http://schemas.openxmlformats.org/drawingml/2006/main" xmlns:r="http://schemas.openxmlformats.org/officeDocument/2006/relationships" xmlns:p="http://schemas.openxmlformats.org/presentationml/2006/main">
  <p:tag name="AUDIO_ID" val="318"/>
  <p:tag name="ORIGINAL_AUDIO_FILEPATH" val="Z:\E\Project_MEW\C15038509011_SE15319_BPP_Tech_ISMv3_eLearning_CM\DTP\RU\Batch1\DTP\audios\2\007.mp3"/>
  <p:tag name="ELAPSEDTIME" val="123.28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9.xml><?xml version="1.0" encoding="utf-8"?>
<p:tagLst xmlns:a="http://schemas.openxmlformats.org/drawingml/2006/main" xmlns:r="http://schemas.openxmlformats.org/officeDocument/2006/relationships" xmlns:p="http://schemas.openxmlformats.org/presentationml/2006/main">
  <p:tag name="AUDIO_ID" val="319"/>
  <p:tag name="ORIGINAL_AUDIO_FILEPATH" val="Z:\E\Project_MEW\C15038509011_SE15319_BPP_Tech_ISMv3_eLearning_CM\DTP\RU\Batch1\DTP\audios\2\008.mp3"/>
  <p:tag name="ELAPSEDTIME" val="59.35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0.xml><?xml version="1.0" encoding="utf-8"?>
<p:tagLst xmlns:a="http://schemas.openxmlformats.org/drawingml/2006/main" xmlns:r="http://schemas.openxmlformats.org/officeDocument/2006/relationships" xmlns:p="http://schemas.openxmlformats.org/presentationml/2006/main">
  <p:tag name="AUDIO_ID" val="320"/>
  <p:tag name="ORIGINAL_AUDIO_FILEPATH" val="Z:\E\Project_MEW\C15038509011_SE15319_BPP_Tech_ISMv3_eLearning_CM\DTP\RU\Batch1\DTP\audios\2\009.mp3"/>
  <p:tag name="ELAPSEDTIME" val="88.27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1.xml><?xml version="1.0" encoding="utf-8"?>
<p:tagLst xmlns:a="http://schemas.openxmlformats.org/drawingml/2006/main" xmlns:r="http://schemas.openxmlformats.org/officeDocument/2006/relationships" xmlns:p="http://schemas.openxmlformats.org/presentationml/2006/main">
  <p:tag name="AUDIO_ID" val="321"/>
  <p:tag name="ORIGINAL_AUDIO_FILEPATH" val="Z:\E\Project_MEW\C15038509011_SE15319_BPP_Tech_ISMv3_eLearning_CM\DTP\RU\Batch1\DTP\audios\2\010.mp3"/>
  <p:tag name="ELAPSEDTIME" val="108.57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2.xml><?xml version="1.0" encoding="utf-8"?>
<p:tagLst xmlns:a="http://schemas.openxmlformats.org/drawingml/2006/main" xmlns:r="http://schemas.openxmlformats.org/officeDocument/2006/relationships" xmlns:p="http://schemas.openxmlformats.org/presentationml/2006/main">
  <p:tag name="AUDIO_ID" val="322"/>
  <p:tag name="ORIGINAL_AUDIO_FILEPATH" val="Z:\E\Project_MEW\C15038509011_SE15319_BPP_Tech_ISMv3_eLearning_CM\DTP\RU\Batch1\DTP\audios\2\011.mp3"/>
  <p:tag name="ELAPSEDTIME" val="41.80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3.xml><?xml version="1.0" encoding="utf-8"?>
<p:tagLst xmlns:a="http://schemas.openxmlformats.org/drawingml/2006/main" xmlns:r="http://schemas.openxmlformats.org/officeDocument/2006/relationships" xmlns:p="http://schemas.openxmlformats.org/presentationml/2006/main">
  <p:tag name="AUDIO_ID" val="323"/>
  <p:tag name="ORIGINAL_AUDIO_FILEPATH" val="Z:\E\Project_MEW\C15038509011_SE15319_BPP_Tech_ISMv3_eLearning_CM\DTP\RU\Batch1\DTP\audios\2\012.mp3"/>
  <p:tag name="ELAPSEDTIME" val="56.6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4.xml><?xml version="1.0" encoding="utf-8"?>
<p:tagLst xmlns:a="http://schemas.openxmlformats.org/drawingml/2006/main" xmlns:r="http://schemas.openxmlformats.org/officeDocument/2006/relationships" xmlns:p="http://schemas.openxmlformats.org/presentationml/2006/main">
  <p:tag name="DUPLICATEID" val="e507f30475f94840bd08a6a2406e5f3f"/>
</p:tagLst>
</file>

<file path=ppt/tags/tag65.xml><?xml version="1.0" encoding="utf-8"?>
<p:tagLst xmlns:a="http://schemas.openxmlformats.org/drawingml/2006/main" xmlns:r="http://schemas.openxmlformats.org/officeDocument/2006/relationships" xmlns:p="http://schemas.openxmlformats.org/presentationml/2006/main">
  <p:tag name="DUPLICATEID" val="66ade6e396fe4670ba7188593fcea9ee"/>
</p:tagLst>
</file>

<file path=ppt/tags/tag66.xml><?xml version="1.0" encoding="utf-8"?>
<p:tagLst xmlns:a="http://schemas.openxmlformats.org/drawingml/2006/main" xmlns:r="http://schemas.openxmlformats.org/officeDocument/2006/relationships" xmlns:p="http://schemas.openxmlformats.org/presentationml/2006/main">
  <p:tag name="DUPLICATEID" val="0e96ac5c468545a3b3540e3067a85d76"/>
</p:tagLst>
</file>

<file path=ppt/tags/tag67.xml><?xml version="1.0" encoding="utf-8"?>
<p:tagLst xmlns:a="http://schemas.openxmlformats.org/drawingml/2006/main" xmlns:r="http://schemas.openxmlformats.org/officeDocument/2006/relationships" xmlns:p="http://schemas.openxmlformats.org/presentationml/2006/main">
  <p:tag name="AUDIO_ID" val="324"/>
  <p:tag name="ORIGINAL_AUDIO_FILEPATH" val="Z:\E\Project_MEW\C15038509011_SE15319_BPP_Tech_ISMv3_eLearning_CM\DTP\RU\Batch1\DTP\audios\2\013.mp3"/>
  <p:tag name="ELAPSEDTIME" val="96.48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8.xml><?xml version="1.0" encoding="utf-8"?>
<p:tagLst xmlns:a="http://schemas.openxmlformats.org/drawingml/2006/main" xmlns:r="http://schemas.openxmlformats.org/officeDocument/2006/relationships" xmlns:p="http://schemas.openxmlformats.org/presentationml/2006/main">
  <p:tag name="DUPLICATEID" val="700454f3ff84410696ee9c38f573a20b"/>
</p:tagLst>
</file>

<file path=ppt/tags/tag69.xml><?xml version="1.0" encoding="utf-8"?>
<p:tagLst xmlns:a="http://schemas.openxmlformats.org/drawingml/2006/main" xmlns:r="http://schemas.openxmlformats.org/officeDocument/2006/relationships" xmlns:p="http://schemas.openxmlformats.org/presentationml/2006/main">
  <p:tag name="DUPLICATEID" val="fadb09befced4415a500a9836dc04ad6"/>
</p:tagLst>
</file>

<file path=ppt/tags/tag70.xml><?xml version="1.0" encoding="utf-8"?>
<p:tagLst xmlns:a="http://schemas.openxmlformats.org/drawingml/2006/main" xmlns:r="http://schemas.openxmlformats.org/officeDocument/2006/relationships" xmlns:p="http://schemas.openxmlformats.org/presentationml/2006/main">
  <p:tag name="DUPLICATEID" val="ac42044625cf4ee292bcd77792da80a6"/>
</p:tagLst>
</file>

<file path=ppt/tags/tag71.xml><?xml version="1.0" encoding="utf-8"?>
<p:tagLst xmlns:a="http://schemas.openxmlformats.org/drawingml/2006/main" xmlns:r="http://schemas.openxmlformats.org/officeDocument/2006/relationships" xmlns:p="http://schemas.openxmlformats.org/presentationml/2006/main">
  <p:tag name="AUDIO_ID" val="326"/>
  <p:tag name="ORIGINAL_AUDIO_FILEPATH" val="Z:\E\Project_MEW\C15038509011_SE15319_BPP_Tech_ISMv3_eLearning_CM\DTP\RU\Batch1\DTP\audios\2\014.mp3"/>
  <p:tag name="ELAPSEDTIME" val="97.92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6"/>
</p:tagLst>
</file>

<file path=ppt/tags/tag72.xml><?xml version="1.0" encoding="utf-8"?>
<p:tagLst xmlns:a="http://schemas.openxmlformats.org/drawingml/2006/main" xmlns:r="http://schemas.openxmlformats.org/officeDocument/2006/relationships" xmlns:p="http://schemas.openxmlformats.org/presentationml/2006/main">
  <p:tag name="DUPLICATEID" val="e2ce1f80f2344cb1bf5f1d3c69d36c6d"/>
</p:tagLst>
</file>

<file path=ppt/tags/tag73.xml><?xml version="1.0" encoding="utf-8"?>
<p:tagLst xmlns:a="http://schemas.openxmlformats.org/drawingml/2006/main" xmlns:r="http://schemas.openxmlformats.org/officeDocument/2006/relationships" xmlns:p="http://schemas.openxmlformats.org/presentationml/2006/main">
  <p:tag name="DUPLICATEID" val="b4d49f1cb2814992b7ab4ddcd6a246d0"/>
</p:tagLst>
</file>

<file path=ppt/tags/tag74.xml><?xml version="1.0" encoding="utf-8"?>
<p:tagLst xmlns:a="http://schemas.openxmlformats.org/drawingml/2006/main" xmlns:r="http://schemas.openxmlformats.org/officeDocument/2006/relationships" xmlns:p="http://schemas.openxmlformats.org/presentationml/2006/main">
  <p:tag name="DUPLICATEID" val="b65b4d83b95742f7b7f60a858d5522c6"/>
</p:tagLst>
</file>

<file path=ppt/tags/tag75.xml><?xml version="1.0" encoding="utf-8"?>
<p:tagLst xmlns:a="http://schemas.openxmlformats.org/drawingml/2006/main" xmlns:r="http://schemas.openxmlformats.org/officeDocument/2006/relationships" xmlns:p="http://schemas.openxmlformats.org/presentationml/2006/main">
  <p:tag name="DUPLICATEID" val="c4a39475d52e46f9b9808d4306480a9b"/>
</p:tagLst>
</file>

<file path=ppt/tags/tag76.xml><?xml version="1.0" encoding="utf-8"?>
<p:tagLst xmlns:a="http://schemas.openxmlformats.org/drawingml/2006/main" xmlns:r="http://schemas.openxmlformats.org/officeDocument/2006/relationships" xmlns:p="http://schemas.openxmlformats.org/presentationml/2006/main">
  <p:tag name="DUPLICATEID" val="04bf7ec0de2e4508a97b07b89554d620"/>
</p:tagLst>
</file>

<file path=ppt/tags/tag77.xml><?xml version="1.0" encoding="utf-8"?>
<p:tagLst xmlns:a="http://schemas.openxmlformats.org/drawingml/2006/main" xmlns:r="http://schemas.openxmlformats.org/officeDocument/2006/relationships" xmlns:p="http://schemas.openxmlformats.org/presentationml/2006/main">
  <p:tag name="DUPLICATEID" val="3bfd7317bb7d45f8ab546f3ca1ed1bc2"/>
</p:tagLst>
</file>

<file path=ppt/tags/tag78.xml><?xml version="1.0" encoding="utf-8"?>
<p:tagLst xmlns:a="http://schemas.openxmlformats.org/drawingml/2006/main" xmlns:r="http://schemas.openxmlformats.org/officeDocument/2006/relationships" xmlns:p="http://schemas.openxmlformats.org/presentationml/2006/main">
  <p:tag name="DUPLICATEID" val="43f418dae3ed45948c5cdf1b4cdb4fb0"/>
</p:tagLst>
</file>

<file path=ppt/tags/tag79.xml><?xml version="1.0" encoding="utf-8"?>
<p:tagLst xmlns:a="http://schemas.openxmlformats.org/drawingml/2006/main" xmlns:r="http://schemas.openxmlformats.org/officeDocument/2006/relationships" xmlns:p="http://schemas.openxmlformats.org/presentationml/2006/main">
  <p:tag name="DUPLICATEID" val="63ecf4df44aa4f9ca9d41fe2df4ca96c"/>
</p:tagLst>
</file>

<file path=ppt/tags/tag80.xml><?xml version="1.0" encoding="utf-8"?>
<p:tagLst xmlns:a="http://schemas.openxmlformats.org/drawingml/2006/main" xmlns:r="http://schemas.openxmlformats.org/officeDocument/2006/relationships" xmlns:p="http://schemas.openxmlformats.org/presentationml/2006/main">
  <p:tag name="DUPLICATEID" val="b70b8f43d5ee4ed18309b368ad424ecd"/>
</p:tagLst>
</file>

<file path=ppt/tags/tag81.xml><?xml version="1.0" encoding="utf-8"?>
<p:tagLst xmlns:a="http://schemas.openxmlformats.org/drawingml/2006/main" xmlns:r="http://schemas.openxmlformats.org/officeDocument/2006/relationships" xmlns:p="http://schemas.openxmlformats.org/presentationml/2006/main">
  <p:tag name="DUPLICATEID" val="b152f2b59a9e477e91739c2622b6a2ff"/>
</p:tagLst>
</file>

<file path=ppt/tags/tag82.xml><?xml version="1.0" encoding="utf-8"?>
<p:tagLst xmlns:a="http://schemas.openxmlformats.org/drawingml/2006/main" xmlns:r="http://schemas.openxmlformats.org/officeDocument/2006/relationships" xmlns:p="http://schemas.openxmlformats.org/presentationml/2006/main">
  <p:tag name="DUPLICATEID" val="f2b9b31420084c19a18b0c1f20f4f212"/>
</p:tagLst>
</file>

<file path=ppt/tags/tag83.xml><?xml version="1.0" encoding="utf-8"?>
<p:tagLst xmlns:a="http://schemas.openxmlformats.org/drawingml/2006/main" xmlns:r="http://schemas.openxmlformats.org/officeDocument/2006/relationships" xmlns:p="http://schemas.openxmlformats.org/presentationml/2006/main">
  <p:tag name="DUPLICATEID" val="243619c1835d429f8b782afccf6a64f7"/>
</p:tagLst>
</file>

<file path=ppt/tags/tag84.xml><?xml version="1.0" encoding="utf-8"?>
<p:tagLst xmlns:a="http://schemas.openxmlformats.org/drawingml/2006/main" xmlns:r="http://schemas.openxmlformats.org/officeDocument/2006/relationships" xmlns:p="http://schemas.openxmlformats.org/presentationml/2006/main">
  <p:tag name="DUPLICATEID" val="7c9d75eb36bd402aafd59a3d9be08af8"/>
</p:tagLst>
</file>

<file path=ppt/tags/tag85.xml><?xml version="1.0" encoding="utf-8"?>
<p:tagLst xmlns:a="http://schemas.openxmlformats.org/drawingml/2006/main" xmlns:r="http://schemas.openxmlformats.org/officeDocument/2006/relationships" xmlns:p="http://schemas.openxmlformats.org/presentationml/2006/main">
  <p:tag name="DUPLICATEID" val="18fc511323b944d7aa8bf23c2932096f"/>
</p:tagLst>
</file>

<file path=ppt/tags/tag86.xml><?xml version="1.0" encoding="utf-8"?>
<p:tagLst xmlns:a="http://schemas.openxmlformats.org/drawingml/2006/main" xmlns:r="http://schemas.openxmlformats.org/officeDocument/2006/relationships" xmlns:p="http://schemas.openxmlformats.org/presentationml/2006/main">
  <p:tag name="DUPLICATEID" val="cebc6426f45b43ceb156a5454ad96b66"/>
</p:tagLst>
</file>

<file path=ppt/tags/tag87.xml><?xml version="1.0" encoding="utf-8"?>
<p:tagLst xmlns:a="http://schemas.openxmlformats.org/drawingml/2006/main" xmlns:r="http://schemas.openxmlformats.org/officeDocument/2006/relationships" xmlns:p="http://schemas.openxmlformats.org/presentationml/2006/main">
  <p:tag name="DUPLICATEID" val="5e5a9a724f7b4409888e901b9df46d00"/>
</p:tagLst>
</file>

<file path=ppt/tags/tag88.xml><?xml version="1.0" encoding="utf-8"?>
<p:tagLst xmlns:a="http://schemas.openxmlformats.org/drawingml/2006/main" xmlns:r="http://schemas.openxmlformats.org/officeDocument/2006/relationships" xmlns:p="http://schemas.openxmlformats.org/presentationml/2006/main">
  <p:tag name="DUPLICATEID" val="db953738f5174971ae6a001793aa1b09"/>
</p:tagLst>
</file>

<file path=ppt/tags/tag89.xml><?xml version="1.0" encoding="utf-8"?>
<p:tagLst xmlns:a="http://schemas.openxmlformats.org/drawingml/2006/main" xmlns:r="http://schemas.openxmlformats.org/officeDocument/2006/relationships" xmlns:p="http://schemas.openxmlformats.org/presentationml/2006/main">
  <p:tag name="DUPLICATEID" val="b9a28b473d1145cba5f0a657924b6e90"/>
</p:tagLst>
</file>

<file path=ppt/tags/tag90.xml><?xml version="1.0" encoding="utf-8"?>
<p:tagLst xmlns:a="http://schemas.openxmlformats.org/drawingml/2006/main" xmlns:r="http://schemas.openxmlformats.org/officeDocument/2006/relationships" xmlns:p="http://schemas.openxmlformats.org/presentationml/2006/main">
  <p:tag name="DUPLICATEID" val="a7e7f1ed7afb4ba3b3f40ac9235faa6a"/>
</p:tagLst>
</file>

<file path=ppt/tags/tag91.xml><?xml version="1.0" encoding="utf-8"?>
<p:tagLst xmlns:a="http://schemas.openxmlformats.org/drawingml/2006/main" xmlns:r="http://schemas.openxmlformats.org/officeDocument/2006/relationships" xmlns:p="http://schemas.openxmlformats.org/presentationml/2006/main">
  <p:tag name="AUDIO_ID" val="327"/>
  <p:tag name="ORIGINAL_AUDIO_FILEPATH" val="Z:\E\Project_MEW\C15038509011_SE15319_BPP_Tech_ISMv3_eLearning_CM\DTP\RU\Batch1\DTP\audios\2\015.mp3"/>
  <p:tag name="ELAPSEDTIME" val="45.2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6"/>
</p:tagLst>
</file>

<file path=ppt/tags/tag92.xml><?xml version="1.0" encoding="utf-8"?>
<p:tagLst xmlns:a="http://schemas.openxmlformats.org/drawingml/2006/main" xmlns:r="http://schemas.openxmlformats.org/officeDocument/2006/relationships" xmlns:p="http://schemas.openxmlformats.org/presentationml/2006/main">
  <p:tag name="DUPLICATEID" val="e6cdd8bc7d99413a9c1ece5f5da35bcf"/>
</p:tagLst>
</file>

<file path=ppt/tags/tag93.xml><?xml version="1.0" encoding="utf-8"?>
<p:tagLst xmlns:a="http://schemas.openxmlformats.org/drawingml/2006/main" xmlns:r="http://schemas.openxmlformats.org/officeDocument/2006/relationships" xmlns:p="http://schemas.openxmlformats.org/presentationml/2006/main">
  <p:tag name="DUPLICATEID" val="818251ae93fa410ca95a3c26ca378eeb"/>
</p:tagLst>
</file>

<file path=ppt/tags/tag94.xml><?xml version="1.0" encoding="utf-8"?>
<p:tagLst xmlns:a="http://schemas.openxmlformats.org/drawingml/2006/main" xmlns:r="http://schemas.openxmlformats.org/officeDocument/2006/relationships" xmlns:p="http://schemas.openxmlformats.org/presentationml/2006/main">
  <p:tag name="DUPLICATEID" val="3c1220606e614c84bfecd7eba2f43c95"/>
</p:tagLst>
</file>

<file path=ppt/tags/tag95.xml><?xml version="1.0" encoding="utf-8"?>
<p:tagLst xmlns:a="http://schemas.openxmlformats.org/drawingml/2006/main" xmlns:r="http://schemas.openxmlformats.org/officeDocument/2006/relationships" xmlns:p="http://schemas.openxmlformats.org/presentationml/2006/main">
  <p:tag name="DUPLICATEID" val="6c32acede3254315a58761fcae358243"/>
</p:tagLst>
</file>

<file path=ppt/tags/tag96.xml><?xml version="1.0" encoding="utf-8"?>
<p:tagLst xmlns:a="http://schemas.openxmlformats.org/drawingml/2006/main" xmlns:r="http://schemas.openxmlformats.org/officeDocument/2006/relationships" xmlns:p="http://schemas.openxmlformats.org/presentationml/2006/main">
  <p:tag name="DUPLICATEID" val="21849bf5c12544ac8bf3e8c9a9649c16"/>
</p:tagLst>
</file>

<file path=ppt/tags/tag97.xml><?xml version="1.0" encoding="utf-8"?>
<p:tagLst xmlns:a="http://schemas.openxmlformats.org/drawingml/2006/main" xmlns:r="http://schemas.openxmlformats.org/officeDocument/2006/relationships" xmlns:p="http://schemas.openxmlformats.org/presentationml/2006/main">
  <p:tag name="DUPLICATEID" val="f8c198425f904b958480ea32f4c8cbc9"/>
</p:tagLst>
</file>

<file path=ppt/tags/tag98.xml><?xml version="1.0" encoding="utf-8"?>
<p:tagLst xmlns:a="http://schemas.openxmlformats.org/drawingml/2006/main" xmlns:r="http://schemas.openxmlformats.org/officeDocument/2006/relationships" xmlns:p="http://schemas.openxmlformats.org/presentationml/2006/main">
  <p:tag name="AUDIO_ID" val="328"/>
  <p:tag name="ORIGINAL_AUDIO_FILEPATH" val="Z:\E\Project_MEW\C15038509011_SE15319_BPP_Tech_ISMv3_eLearning_CM\DTP\RU\Batch1\DTP\audios\2\016.mp3"/>
  <p:tag name="ELAPSEDTIME" val="46.3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9.xml><?xml version="1.0" encoding="utf-8"?>
<p:tagLst xmlns:a="http://schemas.openxmlformats.org/drawingml/2006/main" xmlns:r="http://schemas.openxmlformats.org/officeDocument/2006/relationships" xmlns:p="http://schemas.openxmlformats.org/presentationml/2006/main">
  <p:tag name="DUPLICATEID" val="494ecb03dd0b44eaa6242aeb50165c5a"/>
</p:tagLst>
</file>

<file path=ppt/tags/tag100.xml><?xml version="1.0" encoding="utf-8"?>
<p:tagLst xmlns:a="http://schemas.openxmlformats.org/drawingml/2006/main" xmlns:r="http://schemas.openxmlformats.org/officeDocument/2006/relationships" xmlns:p="http://schemas.openxmlformats.org/presentationml/2006/main">
  <p:tag name="DUPLICATEID" val="438b2088091b47beb1bea76316a6d58e"/>
</p:tagLst>
</file>

<file path=ppt/tags/tag101.xml><?xml version="1.0" encoding="utf-8"?>
<p:tagLst xmlns:a="http://schemas.openxmlformats.org/drawingml/2006/main" xmlns:r="http://schemas.openxmlformats.org/officeDocument/2006/relationships" xmlns:p="http://schemas.openxmlformats.org/presentationml/2006/main">
  <p:tag name="DUPLICATEID" val="54b4d1a7067141c6ac7bcc12a2d27c7e"/>
</p:tagLst>
</file>

<file path=ppt/tags/tag102.xml><?xml version="1.0" encoding="utf-8"?>
<p:tagLst xmlns:a="http://schemas.openxmlformats.org/drawingml/2006/main" xmlns:r="http://schemas.openxmlformats.org/officeDocument/2006/relationships" xmlns:p="http://schemas.openxmlformats.org/presentationml/2006/main">
  <p:tag name="DUPLICATEID" val="f1f1133cb4cb45c4affd94009afc1d2b"/>
</p:tagLst>
</file>

<file path=ppt/tags/tag103.xml><?xml version="1.0" encoding="utf-8"?>
<p:tagLst xmlns:a="http://schemas.openxmlformats.org/drawingml/2006/main" xmlns:r="http://schemas.openxmlformats.org/officeDocument/2006/relationships" xmlns:p="http://schemas.openxmlformats.org/presentationml/2006/main">
  <p:tag name="DUPLICATEID" val="d8e5b82b4148483e8c4e6f6706506240"/>
</p:tagLst>
</file>

<file path=ppt/tags/tag104.xml><?xml version="1.0" encoding="utf-8"?>
<p:tagLst xmlns:a="http://schemas.openxmlformats.org/drawingml/2006/main" xmlns:r="http://schemas.openxmlformats.org/officeDocument/2006/relationships" xmlns:p="http://schemas.openxmlformats.org/presentationml/2006/main">
  <p:tag name="DUPLICATEID" val="35e038a7fbcf4dbb8134f4c69f29a910"/>
</p:tagLst>
</file>

<file path=ppt/tags/tag105.xml><?xml version="1.0" encoding="utf-8"?>
<p:tagLst xmlns:a="http://schemas.openxmlformats.org/drawingml/2006/main" xmlns:r="http://schemas.openxmlformats.org/officeDocument/2006/relationships" xmlns:p="http://schemas.openxmlformats.org/presentationml/2006/main">
  <p:tag name="DUPLICATEID" val="56c7cbf92b1046909e7f377f25931913"/>
</p:tagLst>
</file>

<file path=ppt/tags/tag106.xml><?xml version="1.0" encoding="utf-8"?>
<p:tagLst xmlns:a="http://schemas.openxmlformats.org/drawingml/2006/main" xmlns:r="http://schemas.openxmlformats.org/officeDocument/2006/relationships" xmlns:p="http://schemas.openxmlformats.org/presentationml/2006/main">
  <p:tag name="DUPLICATEID" val="76c7d86e85d94aed9019397bd1b50867"/>
</p:tagLst>
</file>

<file path=ppt/tags/tag107.xml><?xml version="1.0" encoding="utf-8"?>
<p:tagLst xmlns:a="http://schemas.openxmlformats.org/drawingml/2006/main" xmlns:r="http://schemas.openxmlformats.org/officeDocument/2006/relationships" xmlns:p="http://schemas.openxmlformats.org/presentationml/2006/main">
  <p:tag name="DUPLICATEID" val="228303d2e40f44cd85c059ab9c5affca"/>
</p:tagLst>
</file>

<file path=ppt/tags/tag108.xml><?xml version="1.0" encoding="utf-8"?>
<p:tagLst xmlns:a="http://schemas.openxmlformats.org/drawingml/2006/main" xmlns:r="http://schemas.openxmlformats.org/officeDocument/2006/relationships" xmlns:p="http://schemas.openxmlformats.org/presentationml/2006/main">
  <p:tag name="DUPLICATEID" val="a685c76ae7b54f46b750a291c975f213"/>
</p:tagLst>
</file>

<file path=ppt/tags/tag109.xml><?xml version="1.0" encoding="utf-8"?>
<p:tagLst xmlns:a="http://schemas.openxmlformats.org/drawingml/2006/main" xmlns:r="http://schemas.openxmlformats.org/officeDocument/2006/relationships" xmlns:p="http://schemas.openxmlformats.org/presentationml/2006/main">
  <p:tag name="DUPLICATEID" val="7d9e80e91e384a25b2b20197239799ea"/>
</p:tagLst>
</file>

<file path=ppt/tags/tag110.xml><?xml version="1.0" encoding="utf-8"?>
<p:tagLst xmlns:a="http://schemas.openxmlformats.org/drawingml/2006/main" xmlns:r="http://schemas.openxmlformats.org/officeDocument/2006/relationships" xmlns:p="http://schemas.openxmlformats.org/presentationml/2006/main">
  <p:tag name="DUPLICATEID" val="1f81d244567d434ebb081573fb1759b1"/>
</p:tagLst>
</file>

<file path=ppt/tags/tag111.xml><?xml version="1.0" encoding="utf-8"?>
<p:tagLst xmlns:a="http://schemas.openxmlformats.org/drawingml/2006/main" xmlns:r="http://schemas.openxmlformats.org/officeDocument/2006/relationships" xmlns:p="http://schemas.openxmlformats.org/presentationml/2006/main">
  <p:tag name="DUPLICATEID" val="6d8141bd768749a4a55543b3e9729190"/>
</p:tagLst>
</file>

<file path=ppt/tags/tag112.xml><?xml version="1.0" encoding="utf-8"?>
<p:tagLst xmlns:a="http://schemas.openxmlformats.org/drawingml/2006/main" xmlns:r="http://schemas.openxmlformats.org/officeDocument/2006/relationships" xmlns:p="http://schemas.openxmlformats.org/presentationml/2006/main">
  <p:tag name="AUDIO_ID" val="329"/>
  <p:tag name="ORIGINAL_AUDIO_FILEPATH" val="Z:\E\Project_MEW\C15038509011_SE15319_BPP_Tech_ISMv3_eLearning_CM\DTP\RU\Batch1\DTP\audios\2\017.mp3"/>
  <p:tag name="ELAPSEDTIME" val="126.7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3.xml><?xml version="1.0" encoding="utf-8"?>
<p:tagLst xmlns:a="http://schemas.openxmlformats.org/drawingml/2006/main" xmlns:r="http://schemas.openxmlformats.org/officeDocument/2006/relationships" xmlns:p="http://schemas.openxmlformats.org/presentationml/2006/main">
  <p:tag name="AUDIO_ID" val="331"/>
  <p:tag name="ORIGINAL_AUDIO_FILEPATH" val="Z:\E\Project_MEW\C15038509011_SE15319_BPP_Tech_ISMv3_eLearning_CM\DTP\RU\Batch1\DTP\audios\2\018.mp3"/>
  <p:tag name="ELAPSEDTIME" val="11.66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14.xml><?xml version="1.0" encoding="utf-8"?>
<p:tagLst xmlns:a="http://schemas.openxmlformats.org/drawingml/2006/main" xmlns:r="http://schemas.openxmlformats.org/officeDocument/2006/relationships" xmlns:p="http://schemas.openxmlformats.org/presentationml/2006/main">
  <p:tag name="AUDIO_ID" val="332"/>
  <p:tag name="ORIGINAL_AUDIO_FILEPATH" val="Z:\E\Project_MEW\C15038509011_SE15319_BPP_Tech_ISMv3_eLearning_CM\DTP\RU\Batch1\DTP\audios\2\019.mp3"/>
  <p:tag name="ELAPSEDTIME" val="17.30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15.xml><?xml version="1.0" encoding="utf-8"?>
<p:tagLst xmlns:a="http://schemas.openxmlformats.org/drawingml/2006/main" xmlns:r="http://schemas.openxmlformats.org/officeDocument/2006/relationships" xmlns:p="http://schemas.openxmlformats.org/presentationml/2006/main">
  <p:tag name="AUDIO_ID" val="333"/>
  <p:tag name="ORIGINAL_AUDIO_FILEPATH" val="Z:\E\Project_MEW\C15038509011_SE15319_BPP_Tech_ISMv3_eLearning_CM\DTP\RU\Batch1\DTP\audios\2\020.mp3"/>
  <p:tag name="ELAPSEDTIME" val="136.08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6.xml><?xml version="1.0" encoding="utf-8"?>
<p:tagLst xmlns:a="http://schemas.openxmlformats.org/drawingml/2006/main" xmlns:r="http://schemas.openxmlformats.org/officeDocument/2006/relationships" xmlns:p="http://schemas.openxmlformats.org/presentationml/2006/main">
  <p:tag name="AUDIO_ID" val="335"/>
  <p:tag name="ORIGINAL_AUDIO_FILEPATH" val="Z:\E\Project_MEW\C15038509011_SE15319_BPP_Tech_ISMv3_eLearning_CM\DTP\RU\Batch1\DTP\audios\2\21_22.wav"/>
  <p:tag name="ELAPSEDTIME" val="250.20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7.xml><?xml version="1.0" encoding="utf-8"?>
<p:tagLst xmlns:a="http://schemas.openxmlformats.org/drawingml/2006/main" xmlns:r="http://schemas.openxmlformats.org/officeDocument/2006/relationships" xmlns:p="http://schemas.openxmlformats.org/presentationml/2006/main">
  <p:tag name="AUDIO_ID" val="337"/>
  <p:tag name="ORIGINAL_AUDIO_FILEPATH" val="Z:\E\Project_MEW\C15038509011_SE15319_BPP_Tech_ISMv3_eLearning_CM\DTP\RU\Batch1\DTP\audios\2\023.mp3"/>
  <p:tag name="ELAPSEDTIME" val="113.5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8.xml><?xml version="1.0" encoding="utf-8"?>
<p:tagLst xmlns:a="http://schemas.openxmlformats.org/drawingml/2006/main" xmlns:r="http://schemas.openxmlformats.org/officeDocument/2006/relationships" xmlns:p="http://schemas.openxmlformats.org/presentationml/2006/main">
  <p:tag name="AUDIO_ID" val="338"/>
  <p:tag name="ORIGINAL_AUDIO_FILEPATH" val="Z:\E\Project_MEW\C15038509011_SE15319_BPP_Tech_ISMv3_eLearning_CM\DTP\RU\Batch1\DTP\audios\2\023.mp3"/>
  <p:tag name="ELAPSEDTIME" val="113.5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9.xml><?xml version="1.0" encoding="utf-8"?>
<p:tagLst xmlns:a="http://schemas.openxmlformats.org/drawingml/2006/main" xmlns:r="http://schemas.openxmlformats.org/officeDocument/2006/relationships" xmlns:p="http://schemas.openxmlformats.org/presentationml/2006/main">
  <p:tag name="DUPLICATEID" val="43c95b6e3d104f3f9c4523a3a6e2ae33"/>
</p:tagLst>
</file>

<file path=ppt/tags/tag120.xml><?xml version="1.0" encoding="utf-8"?>
<p:tagLst xmlns:a="http://schemas.openxmlformats.org/drawingml/2006/main" xmlns:r="http://schemas.openxmlformats.org/officeDocument/2006/relationships" xmlns:p="http://schemas.openxmlformats.org/presentationml/2006/main">
  <p:tag name="DUPLICATEID" val="39fb3cccf3204c9da7b0ce3902aa017f"/>
</p:tagLst>
</file>

<file path=ppt/tags/tag121.xml><?xml version="1.0" encoding="utf-8"?>
<p:tagLst xmlns:a="http://schemas.openxmlformats.org/drawingml/2006/main" xmlns:r="http://schemas.openxmlformats.org/officeDocument/2006/relationships" xmlns:p="http://schemas.openxmlformats.org/presentationml/2006/main">
  <p:tag name="DUPLICATEID" val="9ade522401794dc3b5b5b8ce2f924f94"/>
</p:tagLst>
</file>

<file path=ppt/tags/tag122.xml><?xml version="1.0" encoding="utf-8"?>
<p:tagLst xmlns:a="http://schemas.openxmlformats.org/drawingml/2006/main" xmlns:r="http://schemas.openxmlformats.org/officeDocument/2006/relationships" xmlns:p="http://schemas.openxmlformats.org/presentationml/2006/main">
  <p:tag name="DUPLICATEID" val="2c007208e97446359435afd70b5637d4"/>
</p:tagLst>
</file>

<file path=ppt/tags/tag123.xml><?xml version="1.0" encoding="utf-8"?>
<p:tagLst xmlns:a="http://schemas.openxmlformats.org/drawingml/2006/main" xmlns:r="http://schemas.openxmlformats.org/officeDocument/2006/relationships" xmlns:p="http://schemas.openxmlformats.org/presentationml/2006/main">
  <p:tag name="DUPLICATEID" val="47926d7e497346cd8f83cd8b07f1ebe6"/>
</p:tagLst>
</file>

<file path=ppt/tags/tag124.xml><?xml version="1.0" encoding="utf-8"?>
<p:tagLst xmlns:a="http://schemas.openxmlformats.org/drawingml/2006/main" xmlns:r="http://schemas.openxmlformats.org/officeDocument/2006/relationships" xmlns:p="http://schemas.openxmlformats.org/presentationml/2006/main">
  <p:tag name="DUPLICATEID" val="ec6a8d661ab5487e8c4b48bfb92b89e0"/>
</p:tagLst>
</file>

<file path=ppt/tags/tag125.xml><?xml version="1.0" encoding="utf-8"?>
<p:tagLst xmlns:a="http://schemas.openxmlformats.org/drawingml/2006/main" xmlns:r="http://schemas.openxmlformats.org/officeDocument/2006/relationships" xmlns:p="http://schemas.openxmlformats.org/presentationml/2006/main">
  <p:tag name="AUDIO_ID" val="340"/>
  <p:tag name="ORIGINAL_AUDIO_FILEPATH" val="Z:\E\Project_MEW\C15038509011_SE15319_BPP_Tech_ISMv3_eLearning_CM\DTP\RU\Batch1\DTP\audios\2\024.mp3"/>
  <p:tag name="ELAPSEDTIME" val="74.71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26.xml><?xml version="1.0" encoding="utf-8"?>
<p:tagLst xmlns:a="http://schemas.openxmlformats.org/drawingml/2006/main" xmlns:r="http://schemas.openxmlformats.org/officeDocument/2006/relationships" xmlns:p="http://schemas.openxmlformats.org/presentationml/2006/main">
  <p:tag name="AUDIO_ID" val="341"/>
  <p:tag name="ORIGINAL_AUDIO_FILEPATH" val="Z:\E\Project_MEW\C15038509011_SE15319_BPP_Tech_ISMv3_eLearning_CM\DTP\RU\Batch1\DTP\audios\2\025.mp3"/>
  <p:tag name="ELAPSEDTIME" val="147.41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27.xml><?xml version="1.0" encoding="utf-8"?>
<p:tagLst xmlns:a="http://schemas.openxmlformats.org/drawingml/2006/main" xmlns:r="http://schemas.openxmlformats.org/officeDocument/2006/relationships" xmlns:p="http://schemas.openxmlformats.org/presentationml/2006/main">
  <p:tag name="AUDIO_ID" val="342"/>
  <p:tag name="ORIGINAL_AUDIO_FILEPATH" val="Z:\E\Project_MEW\C15038509011_SE15319_BPP_Tech_ISMv3_eLearning_CM\DTP\RU\Batch1\DTP\audios\2\026.mp3"/>
  <p:tag name="ELAPSEDTIME" val="126.55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28.xml><?xml version="1.0" encoding="utf-8"?>
<p:tagLst xmlns:a="http://schemas.openxmlformats.org/drawingml/2006/main" xmlns:r="http://schemas.openxmlformats.org/officeDocument/2006/relationships" xmlns:p="http://schemas.openxmlformats.org/presentationml/2006/main">
  <p:tag name="AUDIO_ID" val="343"/>
  <p:tag name="ORIGINAL_AUDIO_FILEPATH" val="Z:\E\Project_MEW\C15038509011_SE15319_BPP_Tech_ISMv3_eLearning_CM\DTP\RU\Batch1\DTP\audios\2\027.mp3"/>
  <p:tag name="ELAPSEDTIME" val="48.14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29.xml><?xml version="1.0" encoding="utf-8"?>
<p:tagLst xmlns:a="http://schemas.openxmlformats.org/drawingml/2006/main" xmlns:r="http://schemas.openxmlformats.org/officeDocument/2006/relationships" xmlns:p="http://schemas.openxmlformats.org/presentationml/2006/main">
  <p:tag name="AUDIO_ID" val="345"/>
  <p:tag name="ORIGINAL_AUDIO_FILEPATH" val="Z:\E\Project_MEW\C15038509011_SE15319_BPP_Tech_ISMv3_eLearning_CM\DTP\RU\Batch1\DTP\audios\2\028.mp3"/>
  <p:tag name="ELAPSEDTIME" val="129.62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30.xml><?xml version="1.0" encoding="utf-8"?>
<p:tagLst xmlns:a="http://schemas.openxmlformats.org/drawingml/2006/main" xmlns:r="http://schemas.openxmlformats.org/officeDocument/2006/relationships" xmlns:p="http://schemas.openxmlformats.org/presentationml/2006/main">
  <p:tag name="AUDIO_ID" val="346"/>
  <p:tag name="ORIGINAL_AUDIO_FILEPATH" val="Z:\E\Project_MEW\C15038509011_SE15319_BPP_Tech_ISMv3_eLearning_CM\DTP\RU\Batch1\DTP\audios\2\029.mp3"/>
  <p:tag name="ELAPSEDTIME" val="23.12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31.xml><?xml version="1.0" encoding="utf-8"?>
<p:tagLst xmlns:a="http://schemas.openxmlformats.org/drawingml/2006/main" xmlns:r="http://schemas.openxmlformats.org/officeDocument/2006/relationships" xmlns:p="http://schemas.openxmlformats.org/presentationml/2006/main">
  <p:tag name="AUDIO_ID" val="347"/>
  <p:tag name="ORIGINAL_AUDIO_FILEPATH" val="Z:\E\Project_MEW\C15038509011_SE15319_BPP_Tech_ISMv3_eLearning_CM\DTP\RU\Batch1\DTP\audios\2\030.mp3"/>
  <p:tag name="ELAPSEDTIME" val="13.00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32.xml><?xml version="1.0" encoding="utf-8"?>
<p:tagLst xmlns:a="http://schemas.openxmlformats.org/drawingml/2006/main" xmlns:r="http://schemas.openxmlformats.org/officeDocument/2006/relationships" xmlns:p="http://schemas.openxmlformats.org/presentationml/2006/main">
  <p:tag name="DUPLICATEID" val="b5c03ce258d24f3ea8fa874b2526b04a"/>
</p:tagLst>
</file>

<file path=ppt/tags/tag133.xml><?xml version="1.0" encoding="utf-8"?>
<p:tagLst xmlns:a="http://schemas.openxmlformats.org/drawingml/2006/main" xmlns:r="http://schemas.openxmlformats.org/officeDocument/2006/relationships" xmlns:p="http://schemas.openxmlformats.org/presentationml/2006/main">
  <p:tag name="DUPLICATEID" val="25e2ebd515cd4772a73e25da45ef8c5b"/>
</p:tagLst>
</file>

<file path=ppt/tags/tag134.xml><?xml version="1.0" encoding="utf-8"?>
<p:tagLst xmlns:a="http://schemas.openxmlformats.org/drawingml/2006/main" xmlns:r="http://schemas.openxmlformats.org/officeDocument/2006/relationships" xmlns:p="http://schemas.openxmlformats.org/presentationml/2006/main">
  <p:tag name="DUPLICATEID" val="fcee0bba9a8342a5bcdb2b19356a61b3"/>
</p:tagLst>
</file>

<file path=ppt/tags/tag135.xml><?xml version="1.0" encoding="utf-8"?>
<p:tagLst xmlns:a="http://schemas.openxmlformats.org/drawingml/2006/main" xmlns:r="http://schemas.openxmlformats.org/officeDocument/2006/relationships" xmlns:p="http://schemas.openxmlformats.org/presentationml/2006/main">
  <p:tag name="DUPLICATEID" val="2ee07594652b49ee90828042e0f653b8"/>
</p:tagLst>
</file>

<file path=ppt/tags/tag136.xml><?xml version="1.0" encoding="utf-8"?>
<p:tagLst xmlns:a="http://schemas.openxmlformats.org/drawingml/2006/main" xmlns:r="http://schemas.openxmlformats.org/officeDocument/2006/relationships" xmlns:p="http://schemas.openxmlformats.org/presentationml/2006/main">
  <p:tag name="DUPLICATEID" val="1ae1859fa1df4195b266c7f7948e320a"/>
</p:tagLst>
</file>

<file path=ppt/tags/tag137.xml><?xml version="1.0" encoding="utf-8"?>
<p:tagLst xmlns:a="http://schemas.openxmlformats.org/drawingml/2006/main" xmlns:r="http://schemas.openxmlformats.org/officeDocument/2006/relationships" xmlns:p="http://schemas.openxmlformats.org/presentationml/2006/main">
  <p:tag name="DUPLICATEID" val="5c0764726d71427eae7a16ea70f07410"/>
</p:tagLst>
</file>

<file path=ppt/tags/tag138.xml><?xml version="1.0" encoding="utf-8"?>
<p:tagLst xmlns:a="http://schemas.openxmlformats.org/drawingml/2006/main" xmlns:r="http://schemas.openxmlformats.org/officeDocument/2006/relationships" xmlns:p="http://schemas.openxmlformats.org/presentationml/2006/main">
  <p:tag name="AUDIO_ID" val="348"/>
  <p:tag name="ORIGINAL_AUDIO_FILEPATH" val="Z:\E\Project_MEW\C15038509011_SE15319_BPP_Tech_ISMv3_eLearning_CM\DTP\RU\Batch1\DTP\audios\2\031.mp3"/>
  <p:tag name="ELAPSEDTIME" val="113.42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39.xml><?xml version="1.0" encoding="utf-8"?>
<p:tagLst xmlns:a="http://schemas.openxmlformats.org/drawingml/2006/main" xmlns:r="http://schemas.openxmlformats.org/officeDocument/2006/relationships" xmlns:p="http://schemas.openxmlformats.org/presentationml/2006/main">
  <p:tag name="AUDIO_ID" val="349"/>
  <p:tag name="ORIGINAL_AUDIO_FILEPATH" val="Z:\E\Project_MEW\C15038509011_SE15319_BPP_Tech_ISMv3_eLearning_CM\DTP\RU\Batch1\DTP\audios\2\032.mp3"/>
  <p:tag name="ELAPSEDTIME" val="137.35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0.xml><?xml version="1.0" encoding="utf-8"?>
<p:tagLst xmlns:a="http://schemas.openxmlformats.org/drawingml/2006/main" xmlns:r="http://schemas.openxmlformats.org/officeDocument/2006/relationships" xmlns:p="http://schemas.openxmlformats.org/presentationml/2006/main">
  <p:tag name="AUDIO_ID" val="351"/>
  <p:tag name="ORIGINAL_AUDIO_FILEPATH" val="Z:\E\Project_MEW\C15038509011_SE15319_BPP_Tech_ISMv3_eLearning_CM\DTP\RU\Batch1\DTP\audios\2\033.mp3"/>
  <p:tag name="ELAPSEDTIME" val="159.38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1.xml><?xml version="1.0" encoding="utf-8"?>
<p:tagLst xmlns:a="http://schemas.openxmlformats.org/drawingml/2006/main" xmlns:r="http://schemas.openxmlformats.org/officeDocument/2006/relationships" xmlns:p="http://schemas.openxmlformats.org/presentationml/2006/main">
  <p:tag name="AUDIO_ID" val="352"/>
  <p:tag name="ORIGINAL_AUDIO_FILEPATH" val="Z:\E\Project_MEW\C15038509011_SE15319_BPP_Tech_ISMv3_eLearning_CM\DTP\RU\Batch1\DTP\audios\2\034.mp3"/>
  <p:tag name="ELAPSEDTIME" val="99.77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2.xml><?xml version="1.0" encoding="utf-8"?>
<p:tagLst xmlns:a="http://schemas.openxmlformats.org/drawingml/2006/main" xmlns:r="http://schemas.openxmlformats.org/officeDocument/2006/relationships" xmlns:p="http://schemas.openxmlformats.org/presentationml/2006/main">
  <p:tag name="AUDIO_ID" val="353"/>
  <p:tag name="ORIGINAL_AUDIO_FILEPATH" val="Z:\E\Project_MEW\C15038509011_SE15319_BPP_Tech_ISMv3_eLearning_CM\DTP\RU\Batch1\DTP\audios\2\035.mp3"/>
  <p:tag name="ELAPSEDTIME" val="159.00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43.xml><?xml version="1.0" encoding="utf-8"?>
<p:tagLst xmlns:a="http://schemas.openxmlformats.org/drawingml/2006/main" xmlns:r="http://schemas.openxmlformats.org/officeDocument/2006/relationships" xmlns:p="http://schemas.openxmlformats.org/presentationml/2006/main">
  <p:tag name="AUDIO_ID" val="354"/>
  <p:tag name="ORIGINAL_AUDIO_FILEPATH" val="Z:\E\Project_MEW\C15038509011_SE15319_BPP_Tech_ISMv3_eLearning_CM\DTP\RU\Batch1\DTP\audios\2\036.mp3"/>
  <p:tag name="ELAPSEDTIME" val="11.83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44.xml><?xml version="1.0" encoding="utf-8"?>
<p:tagLst xmlns:a="http://schemas.openxmlformats.org/drawingml/2006/main" xmlns:r="http://schemas.openxmlformats.org/officeDocument/2006/relationships" xmlns:p="http://schemas.openxmlformats.org/presentationml/2006/main">
  <p:tag name="AUDIO_ID" val="355"/>
  <p:tag name="ORIGINAL_AUDIO_FILEPATH" val="Z:\E\Project_MEW\C15038509011_SE15319_BPP_Tech_ISMv3_eLearning_CM\DTP\RU\Batch1\DTP\audios\2\037.mp3"/>
  <p:tag name="ELAPSEDTIME" val="13.39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5.xml><?xml version="1.0" encoding="utf-8"?>
<p:tagLst xmlns:a="http://schemas.openxmlformats.org/drawingml/2006/main" xmlns:r="http://schemas.openxmlformats.org/officeDocument/2006/relationships" xmlns:p="http://schemas.openxmlformats.org/presentationml/2006/main">
  <p:tag name="AUDIO_ID" val="357"/>
  <p:tag name="ORIGINAL_AUDIO_FILEPATH" val="Z:\E\Project_MEW\C15038509011_SE15319_BPP_Tech_ISMv3_eLearning_CM\DTP\RU\Batch1\DTP\audios\2\38_39.wav"/>
  <p:tag name="ELAPSEDTIME" val="284.08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6.xml><?xml version="1.0" encoding="utf-8"?>
<p:tagLst xmlns:a="http://schemas.openxmlformats.org/drawingml/2006/main" xmlns:r="http://schemas.openxmlformats.org/officeDocument/2006/relationships" xmlns:p="http://schemas.openxmlformats.org/presentationml/2006/main">
  <p:tag name="AUDIO_ID" val="359"/>
  <p:tag name="ORIGINAL_AUDIO_FILEPATH" val="Z:\E\Project_MEW\C15038509011_SE15319_BPP_Tech_ISMv3_eLearning_CM\DTP\RU\Batch1\DTP\audios\2\42_43.wav"/>
  <p:tag name="ELAPSEDTIME" val="382.92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7.xml><?xml version="1.0" encoding="utf-8"?>
<p:tagLst xmlns:a="http://schemas.openxmlformats.org/drawingml/2006/main" xmlns:r="http://schemas.openxmlformats.org/officeDocument/2006/relationships" xmlns:p="http://schemas.openxmlformats.org/presentationml/2006/main">
  <p:tag name="AUDIO_ID" val="361"/>
  <p:tag name="ORIGINAL_AUDIO_FILEPATH" val="Z:\E\Project_MEW\C15038509011_SE15319_BPP_Tech_ISMv3_eLearning_CM\DTP\RU\Batch1\DTP\audios\2\40_41.wav"/>
  <p:tag name="ELAPSEDTIME" val="347.522"/>
  <p:tag name="ARTICULATE_NAV_LEVEL" val="2"/>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48.xml><?xml version="1.0" encoding="utf-8"?>
<p:tagLst xmlns:a="http://schemas.openxmlformats.org/drawingml/2006/main" xmlns:r="http://schemas.openxmlformats.org/officeDocument/2006/relationships" xmlns:p="http://schemas.openxmlformats.org/presentationml/2006/main">
  <p:tag name="AUDIO_ID" val="362"/>
  <p:tag name="ORIGINAL_AUDIO_FILEPATH" val="Z:\E\Project_MEW\C15038509011_SE15319_BPP_Tech_ISMv3_eLearning_CM\DTP\RU\Batch1\DTP\audios\2\045.mp3"/>
  <p:tag name="ELAPSEDTIME" val="42.96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49.xml><?xml version="1.0" encoding="utf-8"?>
<p:tagLst xmlns:a="http://schemas.openxmlformats.org/drawingml/2006/main" xmlns:r="http://schemas.openxmlformats.org/officeDocument/2006/relationships" xmlns:p="http://schemas.openxmlformats.org/presentationml/2006/main">
  <p:tag name="AUDIO_ID" val="363"/>
  <p:tag name="ORIGINAL_AUDIO_FILEPATH" val="Z:\E\Project_MEW\C15038509011_SE15319_BPP_Tech_ISMv3_eLearning_CM\DTP\RU\Batch1\DTP\audios\2\42_43.wav"/>
  <p:tag name="ELAPSEDTIME" val="382.92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50.xml><?xml version="1.0" encoding="utf-8"?>
<p:tagLst xmlns:a="http://schemas.openxmlformats.org/drawingml/2006/main" xmlns:r="http://schemas.openxmlformats.org/officeDocument/2006/relationships" xmlns:p="http://schemas.openxmlformats.org/presentationml/2006/main">
  <p:tag name="AUDIO_ID" val="365"/>
  <p:tag name="ORIGINAL_AUDIO_FILEPATH" val="Z:\E\Project_MEW\C15038509011_SE15319_BPP_Tech_ISMv3_eLearning_CM\DTP\RU\Batch1\DTP\audios\2\048.mp3"/>
  <p:tag name="ELAPSEDTIME" val="185.40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51.xml><?xml version="1.0" encoding="utf-8"?>
<p:tagLst xmlns:a="http://schemas.openxmlformats.org/drawingml/2006/main" xmlns:r="http://schemas.openxmlformats.org/officeDocument/2006/relationships" xmlns:p="http://schemas.openxmlformats.org/presentationml/2006/main">
  <p:tag name="AUDIO_ID" val="369"/>
  <p:tag name="ORIGINAL_AUDIO_FILEPATH" val="Z:\E\Project_MEW\C15038509011_SE15319_BPP_Tech_ISMv3_eLearning_CM\DTP\RU\Batch1\DTP\audios\2\044.mp3"/>
  <p:tag name="ELAPSEDTIME" val="11.42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52.xml><?xml version="1.0" encoding="utf-8"?>
<p:tagLst xmlns:a="http://schemas.openxmlformats.org/drawingml/2006/main" xmlns:r="http://schemas.openxmlformats.org/officeDocument/2006/relationships" xmlns:p="http://schemas.openxmlformats.org/presentationml/2006/main">
  <p:tag name="QUIZMAKER_QUIZ_FILENAME" val="Z:\E\Project_MEW\C15038509011_SE15319_BPP_Tech_ISMv3_eLearning_CM\DTP\RU\Batch1\DTP\2\Module 2 Third Platform Technologies Quiz.quiz"/>
  <p:tag name="ARTICULATE_SHOW_IN_MENU" val="multipleitems"/>
  <p:tag name="AQP_PASS_ACTION" val="2"/>
  <p:tag name="AQP_FAIL_ACTION" val="0"/>
  <p:tag name="AUDIO_ID" val="372"/>
  <p:tag name="OVERRIDE" val="QUIZMAKER_QUIZ_SLIDE"/>
  <p:tag name="QUIZMAKER_QUIZ_TITLE" val="ISM v3 модуль 2: технологии третьей платформы — тест"/>
  <p:tag name="ARTICULATE_DESCRIPTION" val="Quiz - 5 questions"/>
  <p:tag name="QUIZMAKER_QUIZ_SLIDE_ID" val="372"/>
  <p:tag name="QUIZMAKER_QUIZ_FORCE_UPDATE" val="0"/>
  <p:tag name="AQP_PASS_SCORE" val="80"/>
  <p:tag name="QUIZMAKER_LAST_MODIFY_DATE" val="42319.7114351852"/>
  <p:tag name="EMBEDDEDCONTENT_LASTWRITETIMEUTC" val="2015-11-11 09:04:28Z"/>
  <p:tag name="ORIGINAL_AUDIO_FILEPATH" val="Z:\E\Project_MEW\C15038509011_SE15319_BPP_Tech_ISMv3_eLearning_CM\DTP\RU\Batch1\DTP\audios\2\045.mp3"/>
  <p:tag name="ELAPSEDTIME" val="42.962"/>
  <p:tag name="ARTICULATE_NAV_LEVEL" val="1"/>
  <p:tag name="ARTICULATE_SLIDE_PRESENTER_GUID" val="23ce81fb-346c-417d-adab-5576b70773f7"/>
  <p:tag name="ARTICULATE_SLIDE_PAUSE" val="1"/>
  <p:tag name="ARTICULATE_LOCK_SLIDE" val="1"/>
  <p:tag name="ARTICULATE_HIDE_SLIDE" val="0"/>
  <p:tag name="ARTICULATE_PLAYER_CONTROL_PREVIOUS" val="True"/>
  <p:tag name="ARTICULATE_PLAYER_CONTROL_NEXT" val="True"/>
  <p:tag name="ARTICULATE_PLAYER_SEEKBAR" val="False"/>
  <p:tag name="ARTICULATE_PLAYER_CONTROL_PLAYPAUSE" val="False"/>
  <p:tag name="ARTICULATE_USED_LAYOUT" val="17"/>
</p:tagLst>
</file>

<file path=ppt/tags/tag153.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154.xml><?xml version="1.0" encoding="utf-8"?>
<p:tagLst xmlns:a="http://schemas.openxmlformats.org/drawingml/2006/main" xmlns:r="http://schemas.openxmlformats.org/officeDocument/2006/relationships" xmlns:p="http://schemas.openxmlformats.org/presentationml/2006/main">
  <p:tag name="QM_PROPERTY" val="1"/>
  <p:tag name="ART_QM_B" val="1"/>
</p:tagLst>
</file>

<file path=ppt/tags/tag155.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156.xml><?xml version="1.0" encoding="utf-8"?>
<p:tagLst xmlns:a="http://schemas.openxmlformats.org/drawingml/2006/main" xmlns:r="http://schemas.openxmlformats.org/officeDocument/2006/relationships" xmlns:p="http://schemas.openxmlformats.org/presentationml/2006/main">
  <p:tag name="AUDIO_ID" val="371"/>
  <p:tag name="ORIGINAL_AUDIO_FILEPATH" val="Z:\E\Project_MEW\C15038509011_SE15319_BPP_Tech_ISMv3_eLearning_CM\DTP\RU\Batch1\DTP\audios\2\46_47.wav"/>
  <p:tag name="ELAPSEDTIME" val="268.942"/>
  <p:tag name="ARTICULATE_NAV_LEVEL" val="1"/>
  <p:tag name="ARTICULATE_SLIDE_PRESENTER_GUID" val="23ce81fb-346c-417d-adab-5576b70773f7"/>
  <p:tag name="ARTICULATE_SLIDE_PAUSE" val="1"/>
  <p:tag name="ARTICULATE_LOCK_SLIDE" val="0"/>
  <p:tag name="ARTICULATE_HIDE_SLIDE" val="0"/>
  <p:tag name="ARTICULATE_PLAYER_CONTROL_PREVIOUS" val="True"/>
  <p:tag name="ARTICULATE_PLAYER_CONTROL_NEXT" val="True"/>
  <p:tag name="ARTICULATE_USED_LAYOUT" val="2"/>
</p:tagLst>
</file>

<file path=ppt/theme/theme1.xml><?xml version="1.0" encoding="utf-8"?>
<a:theme xmlns:a="http://schemas.openxmlformats.org/drawingml/2006/main" name="D311-16x9_ILT OILT VILT Template_OPEN Curriculum-2015140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07_Module 7">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D311-16x9_ILT OILT VILT Template_OPEN Curriculum-20151401</Template>
  <TotalTime>2316</TotalTime>
  <Words>12825</Words>
  <Application>Microsoft Office PowerPoint</Application>
  <PresentationFormat>On-screen Show (16:9)</PresentationFormat>
  <Paragraphs>655</Paragraphs>
  <Slides>46</Slides>
  <Notes>46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46</vt:i4>
      </vt:variant>
    </vt:vector>
  </HeadingPairs>
  <TitlesOfParts>
    <vt:vector size="52" baseType="lpstr">
      <vt:lpstr>Arial</vt:lpstr>
      <vt:lpstr>Lucida Grande</vt:lpstr>
      <vt:lpstr>Verdana</vt:lpstr>
      <vt:lpstr>Wingdings</vt:lpstr>
      <vt:lpstr>D311-16x9_ILT OILT VILT Template_OPEN Curriculum-20151401</vt:lpstr>
      <vt:lpstr>07_Module 7</vt:lpstr>
      <vt:lpstr>ISM v3 модуль 2: технологии третьей платформы</vt:lpstr>
      <vt:lpstr>Обзор модуля</vt:lpstr>
      <vt:lpstr>Урок 1. Облачные технологии</vt:lpstr>
      <vt:lpstr>Что такое облачные вычисления?</vt:lpstr>
      <vt:lpstr>Что такое облачные вычисления? (Продолжение)</vt:lpstr>
      <vt:lpstr>Основные характеристики облака </vt:lpstr>
      <vt:lpstr>Модели облачных услуг</vt:lpstr>
      <vt:lpstr>Инфраструктура как услуга</vt:lpstr>
      <vt:lpstr>Модель «платформа как услуга»</vt:lpstr>
      <vt:lpstr>Программное обеспечение как услуга</vt:lpstr>
      <vt:lpstr>Модели развертывания облака</vt:lpstr>
      <vt:lpstr>Публичное облако</vt:lpstr>
      <vt:lpstr>Частное облако</vt:lpstr>
      <vt:lpstr>Облако сообщества</vt:lpstr>
      <vt:lpstr>Облако сообщества</vt:lpstr>
      <vt:lpstr>Гибридное облако</vt:lpstr>
      <vt:lpstr>Сценарии использования модели гибридного облака</vt:lpstr>
      <vt:lpstr>Урок 1. Резюме</vt:lpstr>
      <vt:lpstr>Урок 2. Аналитика больших данных</vt:lpstr>
      <vt:lpstr>Что такое большие данные?</vt:lpstr>
      <vt:lpstr>Характеристики больших данных</vt:lpstr>
      <vt:lpstr>Репозитории данных</vt:lpstr>
      <vt:lpstr>Компоненты решения для аналитики больших данных</vt:lpstr>
      <vt:lpstr>MapReduce</vt:lpstr>
      <vt:lpstr>СХД</vt:lpstr>
      <vt:lpstr>Запросы</vt:lpstr>
      <vt:lpstr>Сценарии использования аналитики больших данных</vt:lpstr>
      <vt:lpstr>Урок 2. Резюме</vt:lpstr>
      <vt:lpstr>Урок 3. Социальные сети и мобильные технологии</vt:lpstr>
      <vt:lpstr>Что собой представляет работа в социальных сетях?</vt:lpstr>
      <vt:lpstr>Анализ социальных сетей</vt:lpstr>
      <vt:lpstr>Сценарии использования социальных сетей</vt:lpstr>
      <vt:lpstr>Что собой представляет работа с мобильными технологиями?</vt:lpstr>
      <vt:lpstr>Сценарии использования мобильных технологий</vt:lpstr>
      <vt:lpstr>Урок 3. Резюме</vt:lpstr>
      <vt:lpstr>Урок 4. Переход к третьей платформе</vt:lpstr>
      <vt:lpstr>Факторы, обуславливающие переход к третьей платформе</vt:lpstr>
      <vt:lpstr>Характеристики инфраструктуры третьей платформы</vt:lpstr>
      <vt:lpstr>Необходимые условия для перехода к третьей платформе</vt:lpstr>
      <vt:lpstr>Урок 4. Резюме</vt:lpstr>
      <vt:lpstr>Практическая реализация концепций </vt:lpstr>
      <vt:lpstr>VMware vCloud Air, Pivotal Cloud Foundry и EMC Syncplicity</vt:lpstr>
      <vt:lpstr>Pivotal GemFire и Pivotal Greenplum Database</vt:lpstr>
      <vt:lpstr>Модуль 2. Резюме</vt:lpstr>
      <vt:lpstr>ISM v3 модуль 2: технологии третьей платформы — тест</vt:lpstr>
      <vt:lpstr>Отзыв о курсе </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Pramod Prasad</dc:creator>
  <cp:lastModifiedBy>Anton Zlygostev</cp:lastModifiedBy>
  <cp:revision>407</cp:revision>
  <cp:lastPrinted>2013-12-05T19:23:46Z</cp:lastPrinted>
  <dcterms:created xsi:type="dcterms:W3CDTF">2015-01-29T09:11:34Z</dcterms:created>
  <dcterms:modified xsi:type="dcterms:W3CDTF">2025-03-17T11:55:29Z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2014 Template</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DE65E8ED-62D3-4C30-9A79-7DD33D7B1908</vt:lpwstr>
  </property>
  <property fmtid="{D5CDD505-2E9C-101B-9397-08002B2CF9AE}" pid="6" name="ArticulateProjectFull">
    <vt:lpwstr>Z:\E\Project_MEW\C15038509011_SE15319_BPP_Tech_ISMv3_eLearning_CM\DTP\RU\Batch1\DTP\2\ISM v3 Module 2_eLearning_SRG-Microsoft PowerPoint (With Notes)-ru-RU#DTP_EVNV#.ppta</vt:lpwstr>
  </property>
</Properties>
</file>