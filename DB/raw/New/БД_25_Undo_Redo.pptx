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38"/>
  </p:notesMasterIdLst>
  <p:sldIdLst>
    <p:sldId id="256" r:id="rId2"/>
    <p:sldId id="300" r:id="rId3"/>
    <p:sldId id="278" r:id="rId4"/>
    <p:sldId id="273" r:id="rId5"/>
    <p:sldId id="299" r:id="rId6"/>
    <p:sldId id="275" r:id="rId7"/>
    <p:sldId id="328" r:id="rId8"/>
    <p:sldId id="290" r:id="rId9"/>
    <p:sldId id="313" r:id="rId10"/>
    <p:sldId id="298" r:id="rId11"/>
    <p:sldId id="315" r:id="rId12"/>
    <p:sldId id="301" r:id="rId13"/>
    <p:sldId id="314" r:id="rId14"/>
    <p:sldId id="316" r:id="rId15"/>
    <p:sldId id="302" r:id="rId16"/>
    <p:sldId id="303" r:id="rId17"/>
    <p:sldId id="304" r:id="rId18"/>
    <p:sldId id="305" r:id="rId19"/>
    <p:sldId id="306" r:id="rId20"/>
    <p:sldId id="323" r:id="rId21"/>
    <p:sldId id="307" r:id="rId22"/>
    <p:sldId id="317" r:id="rId23"/>
    <p:sldId id="318" r:id="rId24"/>
    <p:sldId id="319" r:id="rId25"/>
    <p:sldId id="320" r:id="rId26"/>
    <p:sldId id="325" r:id="rId27"/>
    <p:sldId id="326" r:id="rId28"/>
    <p:sldId id="308" r:id="rId29"/>
    <p:sldId id="310" r:id="rId30"/>
    <p:sldId id="311" r:id="rId31"/>
    <p:sldId id="327" r:id="rId32"/>
    <p:sldId id="309" r:id="rId33"/>
    <p:sldId id="312" r:id="rId34"/>
    <p:sldId id="321" r:id="rId35"/>
    <p:sldId id="322" r:id="rId36"/>
    <p:sldId id="324" r:id="rId37"/>
  </p:sldIdLst>
  <p:sldSz cx="9144000" cy="6858000" type="screen4x3"/>
  <p:notesSz cx="6858000" cy="9144000"/>
  <p:defaultTextStyle>
    <a:defPPr>
      <a:defRPr lang="ru-RU"/>
    </a:defPPr>
    <a:lvl1pPr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Борис Николаевич Пищик" initials="БНП" lastIdx="1" clrIdx="0">
    <p:extLst>
      <p:ext uri="{19B8F6BF-5375-455C-9EA6-DF929625EA0E}">
        <p15:presenceInfo xmlns:p15="http://schemas.microsoft.com/office/powerpoint/2012/main" userId="9d2a148a1d10c1a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00CC00"/>
    <a:srgbClr val="3333FF"/>
    <a:srgbClr val="FF5050"/>
    <a:srgbClr val="DE41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-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28" autoAdjust="0"/>
    <p:restoredTop sz="78598" autoAdjust="0"/>
  </p:normalViewPr>
  <p:slideViewPr>
    <p:cSldViewPr snapToGrid="0" showGuides="1">
      <p:cViewPr varScale="1">
        <p:scale>
          <a:sx n="61" d="100"/>
          <a:sy n="61" d="100"/>
        </p:scale>
        <p:origin x="182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45005" cy="45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ommentAuthors" Target="commentAuthor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AD195D6C-8515-4AD4-ACD0-9A86638E16B3}" type="datetimeFigureOut">
              <a:rPr lang="ru-RU"/>
              <a:pPr>
                <a:defRPr/>
              </a:pPr>
              <a:t>31.03.2022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0DDF6F30-BE18-42A7-8693-14D70F9A8541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2383078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91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dirty="0"/>
          </a:p>
        </p:txBody>
      </p:sp>
      <p:sp>
        <p:nvSpPr>
          <p:cNvPr id="12292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89DCC797-B0A0-45EB-914B-B5FC2139F045}" type="slidenum">
              <a:rPr lang="ru-RU" smtClean="0"/>
              <a:pPr/>
              <a:t>2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15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316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6607AF46-0A1A-4860-B217-2FFB225E3B59}" type="slidenum">
              <a:rPr lang="ru-RU" smtClean="0"/>
              <a:pPr/>
              <a:t>3</a:t>
            </a:fld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DF6F30-BE18-42A7-8693-14D70F9A8541}" type="slidenum">
              <a:rPr lang="ru-RU" smtClean="0"/>
              <a:pPr>
                <a:defRPr/>
              </a:pPr>
              <a:t>6</a:t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DF6F30-BE18-42A7-8693-14D70F9A8541}" type="slidenum">
              <a:rPr lang="ru-RU" smtClean="0"/>
              <a:pPr>
                <a:defRPr/>
              </a:pPr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342653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dirty="0">
                <a:solidFill>
                  <a:schemeClr val="bg2"/>
                </a:solidFill>
              </a:rPr>
              <a:t>- Интерактивная часть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DF6F30-BE18-42A7-8693-14D70F9A8541}" type="slidenum">
              <a:rPr lang="ru-RU" smtClean="0"/>
              <a:pPr>
                <a:defRPr/>
              </a:pPr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23768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DF6F30-BE18-42A7-8693-14D70F9A8541}" type="slidenum">
              <a:rPr lang="ru-RU" smtClean="0"/>
              <a:pPr>
                <a:defRPr/>
              </a:pPr>
              <a:t>11</a:t>
            </a:fld>
            <a:endParaRPr lang="ru-RU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DF6F30-BE18-42A7-8693-14D70F9A8541}" type="slidenum">
              <a:rPr lang="ru-RU" smtClean="0"/>
              <a:pPr>
                <a:defRPr/>
              </a:pPr>
              <a:t>15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698436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DF6F30-BE18-42A7-8693-14D70F9A8541}" type="slidenum">
              <a:rPr lang="ru-RU" smtClean="0"/>
              <a:pPr>
                <a:defRPr/>
              </a:pPr>
              <a:t>18</a:t>
            </a:fld>
            <a:endParaRPr lang="ru-RU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DF6F30-BE18-42A7-8693-14D70F9A8541}" type="slidenum">
              <a:rPr lang="ru-RU" smtClean="0"/>
              <a:pPr>
                <a:defRPr/>
              </a:pPr>
              <a:t>29</a:t>
            </a:fld>
            <a:endParaRPr lang="ru-RU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2400" dirty="0">
                <a:latin typeface="Times New Roman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2400" dirty="0">
                <a:latin typeface="Times New Roman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 dirty="0">
                  <a:latin typeface="Times New Roman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 dirty="0">
                  <a:latin typeface="Times New Roman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 dirty="0">
                  <a:latin typeface="Times New Roman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 dirty="0">
                  <a:latin typeface="Times New Roman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 dirty="0">
                  <a:latin typeface="Times New Roman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 dirty="0">
                  <a:latin typeface="Times New Roman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 dirty="0">
                  <a:latin typeface="Times New Roman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 dirty="0">
                  <a:latin typeface="Times New Roman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 dirty="0">
                  <a:latin typeface="Times New Roman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 dirty="0">
                  <a:latin typeface="Times New Roman" pitchFamily="18" charset="0"/>
                </a:endParaRPr>
              </a:p>
            </p:txBody>
          </p:sp>
        </p:grpSp>
      </p:grpSp>
      <p:sp>
        <p:nvSpPr>
          <p:cNvPr id="513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noProof="0"/>
              <a:t>Образец заголовка</a:t>
            </a:r>
          </a:p>
        </p:txBody>
      </p:sp>
      <p:sp>
        <p:nvSpPr>
          <p:cNvPr id="514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ru-RU" noProof="0"/>
              <a:t>Образец подзаголовка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BBF1D1-2711-4C80-94E9-219138BD1D16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9F688F-E6B0-4FD2-A40D-BE0C1EDDAA0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8E019D-5F85-4D8F-BF7A-168D41BDB76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55EDA0-98DC-4413-988B-11537E048CF5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8FE011-F693-4457-94DD-D56638FAEBA5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DE2CE7-7B03-4EE5-BB5A-EC4A6DF26301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D642F1-B3DF-4261-9749-15A733FD3BCB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25268D-0FE8-4ABA-BDB0-8213701DC692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DFAC00-5A93-4F29-8B8C-043C501DBFF1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326052-DDA3-49DA-BAE8-4652EFC91788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D1FE25-230F-4EA2-BC86-4E1C45F25FDA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аблица 2"/>
          <p:cNvSpPr>
            <a:spLocks noGrp="1"/>
          </p:cNvSpPr>
          <p:nvPr>
            <p:ph type="tbl" idx="1"/>
          </p:nvPr>
        </p:nvSpPr>
        <p:spPr>
          <a:xfrm>
            <a:off x="457200" y="1981200"/>
            <a:ext cx="8229600" cy="3886200"/>
          </a:xfr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E8FF21-CD04-44DD-8081-9BF91E63D77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Заголовок, 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27A4B4-4934-4B9B-9557-A52EE1E68412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 Black" pitchFamily="34" charset="0"/>
              </a:defRPr>
            </a:lvl1pPr>
          </a:lstStyle>
          <a:p>
            <a:pPr>
              <a:defRPr/>
            </a:pPr>
            <a:fld id="{94E9485A-49C4-487C-8E4F-F1D0F490B652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2400" dirty="0">
                <a:latin typeface="Times New Roman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2400" dirty="0">
                <a:latin typeface="Times New Roman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1800" dirty="0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1800" dirty="0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1800" dirty="0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1800" dirty="0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2400" dirty="0">
                <a:latin typeface="Times New Roman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1800" dirty="0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1800" dirty="0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11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7" r:id="rId1"/>
    <p:sldLayoutId id="2147483855" r:id="rId2"/>
    <p:sldLayoutId id="2147483856" r:id="rId3"/>
    <p:sldLayoutId id="2147483857" r:id="rId4"/>
    <p:sldLayoutId id="2147483858" r:id="rId5"/>
    <p:sldLayoutId id="2147483859" r:id="rId6"/>
    <p:sldLayoutId id="2147483860" r:id="rId7"/>
    <p:sldLayoutId id="2147483861" r:id="rId8"/>
    <p:sldLayoutId id="2147483862" r:id="rId9"/>
    <p:sldLayoutId id="2147483863" r:id="rId10"/>
    <p:sldLayoutId id="2147483864" r:id="rId11"/>
    <p:sldLayoutId id="2147483865" r:id="rId12"/>
    <p:sldLayoutId id="2147483866" r:id="rId1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411288" y="1844675"/>
            <a:ext cx="7732712" cy="2305050"/>
          </a:xfrm>
        </p:spPr>
        <p:txBody>
          <a:bodyPr/>
          <a:lstStyle/>
          <a:p>
            <a:pPr algn="ctr" eaLnBrk="1" hangingPunct="1">
              <a:spcAft>
                <a:spcPct val="150000"/>
              </a:spcAft>
            </a:pPr>
            <a:r>
              <a:rPr lang="ru-RU" dirty="0"/>
              <a:t>Профилактика и устранение последствий системных отказов</a:t>
            </a:r>
            <a:endParaRPr lang="ru-RU" sz="4000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52625" y="4865688"/>
            <a:ext cx="6821488" cy="1114425"/>
          </a:xfrm>
        </p:spPr>
        <p:txBody>
          <a:bodyPr>
            <a:normAutofit fontScale="92500"/>
          </a:bodyPr>
          <a:lstStyle/>
          <a:p>
            <a:pPr eaLnBrk="1" hangingPunct="1">
              <a:defRPr/>
            </a:pPr>
            <a:r>
              <a:rPr lang="ru-RU" sz="2800" dirty="0"/>
              <a:t>Г.Гарсия-Молина, Дж. Ульман, Дж. </a:t>
            </a:r>
            <a:r>
              <a:rPr lang="ru-RU" sz="2800" dirty="0" err="1"/>
              <a:t>Уидом</a:t>
            </a:r>
            <a:r>
              <a:rPr lang="ru-RU" sz="2800" dirty="0"/>
              <a:t> </a:t>
            </a:r>
          </a:p>
          <a:p>
            <a:pPr eaLnBrk="1" hangingPunct="1">
              <a:defRPr/>
            </a:pPr>
            <a:r>
              <a:rPr lang="ru-RU" sz="2800" dirty="0"/>
              <a:t>	Системы баз данных. Глава 17</a:t>
            </a:r>
          </a:p>
          <a:p>
            <a:pPr eaLnBrk="1" hangingPunct="1">
              <a:defRPr/>
            </a:pP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Заголовок 1"/>
          <p:cNvSpPr>
            <a:spLocks noGrp="1"/>
          </p:cNvSpPr>
          <p:nvPr>
            <p:ph type="title"/>
          </p:nvPr>
        </p:nvSpPr>
        <p:spPr>
          <a:xfrm>
            <a:off x="177800" y="214313"/>
            <a:ext cx="8788400" cy="730232"/>
          </a:xfrm>
        </p:spPr>
        <p:txBody>
          <a:bodyPr lIns="36000" tIns="36000" rIns="36000" bIns="36000"/>
          <a:lstStyle/>
          <a:p>
            <a:pPr algn="ctr"/>
            <a:r>
              <a:rPr lang="ru-RU" sz="3600" dirty="0">
                <a:solidFill>
                  <a:schemeClr val="bg2"/>
                </a:solidFill>
              </a:rPr>
              <a:t>Виды отказов</a:t>
            </a:r>
            <a:endParaRPr lang="en-US" sz="3600" dirty="0">
              <a:solidFill>
                <a:schemeClr val="bg2"/>
              </a:solidFill>
            </a:endParaRPr>
          </a:p>
        </p:txBody>
      </p:sp>
      <p:sp>
        <p:nvSpPr>
          <p:cNvPr id="4099" name="Содержимое 2"/>
          <p:cNvSpPr>
            <a:spLocks noGrp="1"/>
          </p:cNvSpPr>
          <p:nvPr>
            <p:ph idx="1"/>
          </p:nvPr>
        </p:nvSpPr>
        <p:spPr>
          <a:xfrm>
            <a:off x="200968" y="844063"/>
            <a:ext cx="8756764" cy="537047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ru-RU" sz="3600" dirty="0"/>
              <a:t>Наиболее общие нештатные ситуации</a:t>
            </a:r>
          </a:p>
          <a:p>
            <a:pPr>
              <a:lnSpc>
                <a:spcPct val="150000"/>
              </a:lnSpc>
            </a:pPr>
            <a:r>
              <a:rPr lang="ru-RU" sz="3600" dirty="0"/>
              <a:t>Ошибочные элементы данных</a:t>
            </a:r>
          </a:p>
          <a:p>
            <a:pPr>
              <a:lnSpc>
                <a:spcPct val="150000"/>
              </a:lnSpc>
            </a:pPr>
            <a:r>
              <a:rPr lang="ru-RU" sz="3600" dirty="0"/>
              <a:t>Разрушение носителя</a:t>
            </a:r>
            <a:endParaRPr lang="en-US" sz="3600" dirty="0"/>
          </a:p>
          <a:p>
            <a:pPr>
              <a:lnSpc>
                <a:spcPct val="150000"/>
              </a:lnSpc>
            </a:pPr>
            <a:r>
              <a:rPr lang="ru-RU" sz="3600" dirty="0"/>
              <a:t>Катастрофа</a:t>
            </a:r>
          </a:p>
          <a:p>
            <a:pPr>
              <a:lnSpc>
                <a:spcPct val="150000"/>
              </a:lnSpc>
            </a:pPr>
            <a:r>
              <a:rPr lang="ru-RU" sz="3600" dirty="0"/>
              <a:t>Сбой системы</a:t>
            </a:r>
          </a:p>
        </p:txBody>
      </p:sp>
      <p:sp>
        <p:nvSpPr>
          <p:cNvPr id="410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FFF23E21-5538-41BD-A3D5-78865E07F970}" type="slidenum">
              <a:rPr lang="ru-RU" smtClean="0"/>
              <a:pPr/>
              <a:t>2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96850" y="214313"/>
            <a:ext cx="8750300" cy="828675"/>
          </a:xfrm>
        </p:spPr>
        <p:txBody>
          <a:bodyPr/>
          <a:lstStyle/>
          <a:p>
            <a:pPr algn="ctr"/>
            <a:r>
              <a:rPr lang="ru-RU" sz="3600" dirty="0">
                <a:solidFill>
                  <a:schemeClr val="bg2"/>
                </a:solidFill>
              </a:rPr>
              <a:t>Ошибочные элементы данных</a:t>
            </a:r>
          </a:p>
        </p:txBody>
      </p:sp>
      <p:sp>
        <p:nvSpPr>
          <p:cNvPr id="5123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4956A2D-15F4-46D2-8176-B70B57CC9E9B}" type="slidenum">
              <a:rPr lang="ru-RU" smtClean="0"/>
              <a:pPr/>
              <a:t>3</a:t>
            </a:fld>
            <a:endParaRPr lang="ru-RU"/>
          </a:p>
        </p:txBody>
      </p:sp>
      <p:sp>
        <p:nvSpPr>
          <p:cNvPr id="5125" name="Содержимое 26"/>
          <p:cNvSpPr>
            <a:spLocks noGrp="1"/>
          </p:cNvSpPr>
          <p:nvPr>
            <p:ph idx="1"/>
          </p:nvPr>
        </p:nvSpPr>
        <p:spPr>
          <a:xfrm>
            <a:off x="220134" y="965200"/>
            <a:ext cx="8923866" cy="5520267"/>
          </a:xfrm>
        </p:spPr>
        <p:txBody>
          <a:bodyPr lIns="36000" tIns="36000" rIns="36000" bIns="36000"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ru-RU" sz="3500" dirty="0"/>
              <a:t>Средства СУБД для выявления ошибок – ограничения  базы данных</a:t>
            </a:r>
          </a:p>
          <a:p>
            <a:pPr lvl="1">
              <a:lnSpc>
                <a:spcPct val="120000"/>
              </a:lnSpc>
              <a:buClr>
                <a:schemeClr val="bg2"/>
              </a:buClr>
              <a:buFont typeface="Wingdings" pitchFamily="2" charset="2"/>
              <a:buChar char="v"/>
            </a:pPr>
            <a:r>
              <a:rPr lang="ru-RU" sz="3200" dirty="0"/>
              <a:t>Тип данных</a:t>
            </a:r>
          </a:p>
          <a:p>
            <a:pPr lvl="1">
              <a:lnSpc>
                <a:spcPct val="120000"/>
              </a:lnSpc>
              <a:buClr>
                <a:schemeClr val="bg2"/>
              </a:buClr>
              <a:buFont typeface="Wingdings" pitchFamily="2" charset="2"/>
              <a:buChar char="v"/>
            </a:pPr>
            <a:r>
              <a:rPr lang="ru-RU" sz="3200" dirty="0"/>
              <a:t>Шаблон представления</a:t>
            </a:r>
          </a:p>
          <a:p>
            <a:pPr lvl="1">
              <a:lnSpc>
                <a:spcPct val="120000"/>
              </a:lnSpc>
              <a:buClr>
                <a:schemeClr val="bg2"/>
              </a:buClr>
              <a:buFont typeface="Wingdings" pitchFamily="2" charset="2"/>
              <a:buChar char="v"/>
            </a:pPr>
            <a:r>
              <a:rPr lang="en-US" sz="3200" dirty="0"/>
              <a:t>Primary key</a:t>
            </a:r>
          </a:p>
          <a:p>
            <a:pPr lvl="1">
              <a:lnSpc>
                <a:spcPct val="120000"/>
              </a:lnSpc>
              <a:buClr>
                <a:schemeClr val="bg2"/>
              </a:buClr>
              <a:buFont typeface="Wingdings" pitchFamily="2" charset="2"/>
              <a:buChar char="v"/>
            </a:pPr>
            <a:r>
              <a:rPr lang="en-US" sz="3200" dirty="0"/>
              <a:t>Foreign key</a:t>
            </a:r>
            <a:endParaRPr lang="ru-RU" sz="3200" dirty="0"/>
          </a:p>
          <a:p>
            <a:pPr lvl="1">
              <a:lnSpc>
                <a:spcPct val="120000"/>
              </a:lnSpc>
              <a:buClr>
                <a:schemeClr val="bg2"/>
              </a:buClr>
              <a:buFont typeface="Wingdings" pitchFamily="2" charset="2"/>
              <a:buChar char="v"/>
            </a:pPr>
            <a:r>
              <a:rPr lang="en-US" sz="3200" dirty="0"/>
              <a:t>Check ()</a:t>
            </a:r>
          </a:p>
          <a:p>
            <a:pPr lvl="1">
              <a:lnSpc>
                <a:spcPct val="120000"/>
              </a:lnSpc>
              <a:buClr>
                <a:schemeClr val="bg2"/>
              </a:buClr>
              <a:buFont typeface="Wingdings" pitchFamily="2" charset="2"/>
              <a:buChar char="v"/>
            </a:pPr>
            <a:r>
              <a:rPr lang="en-US" sz="3200" dirty="0"/>
              <a:t>Assertions</a:t>
            </a:r>
          </a:p>
          <a:p>
            <a:pPr lvl="1">
              <a:lnSpc>
                <a:spcPct val="120000"/>
              </a:lnSpc>
              <a:buClr>
                <a:schemeClr val="bg2"/>
              </a:buClr>
              <a:buFont typeface="Wingdings" pitchFamily="2" charset="2"/>
              <a:buChar char="v"/>
            </a:pPr>
            <a:r>
              <a:rPr lang="en-US" sz="3200" dirty="0"/>
              <a:t>Triggers </a:t>
            </a:r>
            <a:endParaRPr lang="ru-RU" sz="3200" dirty="0"/>
          </a:p>
          <a:p>
            <a:pPr>
              <a:lnSpc>
                <a:spcPct val="120000"/>
              </a:lnSpc>
            </a:pPr>
            <a:r>
              <a:rPr lang="ru-RU" b="1" dirty="0"/>
              <a:t>Некоторые ошибки </a:t>
            </a:r>
            <a:r>
              <a:rPr lang="ru-RU" dirty="0"/>
              <a:t>в данных </a:t>
            </a:r>
            <a:r>
              <a:rPr lang="ru-RU" b="1" dirty="0"/>
              <a:t>выявить автоматизированным способом невозможно:</a:t>
            </a:r>
          </a:p>
          <a:p>
            <a:pPr lvl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"/>
            </a:pPr>
            <a:r>
              <a:rPr lang="ru-RU" dirty="0"/>
              <a:t>неправильно введенный в БД телефонный номер,</a:t>
            </a:r>
          </a:p>
          <a:p>
            <a:pPr lvl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"/>
            </a:pPr>
            <a:r>
              <a:rPr lang="ru-RU" dirty="0"/>
              <a:t> ошибка в текстовом поле – фамилия, описание объекта хранения и т.д.</a:t>
            </a:r>
          </a:p>
          <a:p>
            <a:pPr>
              <a:lnSpc>
                <a:spcPct val="120000"/>
              </a:lnSpc>
            </a:pPr>
            <a:r>
              <a:rPr lang="ru-RU" dirty="0"/>
              <a:t> Ограничения БД выполнены , но …</a:t>
            </a:r>
          </a:p>
          <a:p>
            <a:pPr>
              <a:lnSpc>
                <a:spcPct val="120000"/>
              </a:lnSpc>
            </a:pPr>
            <a:endParaRPr lang="ru-RU" dirty="0"/>
          </a:p>
          <a:p>
            <a:pPr>
              <a:lnSpc>
                <a:spcPct val="120000"/>
              </a:lnSpc>
            </a:pPr>
            <a:endParaRPr lang="ru-RU" dirty="0"/>
          </a:p>
          <a:p>
            <a:pPr>
              <a:lnSpc>
                <a:spcPct val="120000"/>
              </a:lnSpc>
            </a:pPr>
            <a:endParaRPr lang="en-US" dirty="0"/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endParaRPr lang="ru-RU" dirty="0"/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endParaRPr lang="ru-RU" sz="4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1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1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51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51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51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512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512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512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596831" y="144304"/>
            <a:ext cx="7950338" cy="671444"/>
          </a:xfrm>
        </p:spPr>
        <p:txBody>
          <a:bodyPr/>
          <a:lstStyle/>
          <a:p>
            <a:pPr algn="ctr"/>
            <a:r>
              <a:rPr lang="ru-RU" sz="3600" dirty="0">
                <a:solidFill>
                  <a:schemeClr val="bg2"/>
                </a:solidFill>
              </a:rPr>
              <a:t>Разрушения носителя</a:t>
            </a:r>
          </a:p>
        </p:txBody>
      </p:sp>
      <p:sp>
        <p:nvSpPr>
          <p:cNvPr id="6147" name="Объект 2"/>
          <p:cNvSpPr>
            <a:spLocks noGrp="1"/>
          </p:cNvSpPr>
          <p:nvPr>
            <p:ph idx="1"/>
          </p:nvPr>
        </p:nvSpPr>
        <p:spPr>
          <a:xfrm>
            <a:off x="0" y="846671"/>
            <a:ext cx="9144000" cy="5560758"/>
          </a:xfrm>
        </p:spPr>
        <p:txBody>
          <a:bodyPr>
            <a:normAutofit fontScale="92500"/>
          </a:bodyPr>
          <a:lstStyle/>
          <a:p>
            <a:pPr>
              <a:lnSpc>
                <a:spcPct val="110000"/>
              </a:lnSpc>
              <a:defRPr/>
            </a:pPr>
            <a:r>
              <a:rPr lang="ru-RU" dirty="0"/>
              <a:t>Локальное разрушение носителя – проверка контрольных сумм</a:t>
            </a:r>
          </a:p>
          <a:p>
            <a:pPr>
              <a:lnSpc>
                <a:spcPct val="110000"/>
              </a:lnSpc>
              <a:defRPr/>
            </a:pPr>
            <a:r>
              <a:rPr lang="ru-RU" dirty="0"/>
              <a:t>Последствия серьезных повреждений (поломка головок, повреждение большой поверхности)</a:t>
            </a:r>
          </a:p>
          <a:p>
            <a:pPr lvl="1">
              <a:lnSpc>
                <a:spcPct val="110000"/>
              </a:lnSpc>
              <a:buClr>
                <a:srgbClr val="C00000"/>
              </a:buClr>
              <a:buFont typeface="Wingdings" pitchFamily="2" charset="2"/>
              <a:buChar char="v"/>
              <a:defRPr/>
            </a:pPr>
            <a:r>
              <a:rPr lang="ru-RU" dirty="0"/>
              <a:t>Применение </a:t>
            </a:r>
            <a:r>
              <a:rPr lang="en-US" dirty="0"/>
              <a:t>RAID</a:t>
            </a:r>
            <a:r>
              <a:rPr lang="ru-RU" dirty="0"/>
              <a:t> массивов</a:t>
            </a:r>
            <a:endParaRPr lang="en-US" dirty="0"/>
          </a:p>
          <a:p>
            <a:pPr lvl="1">
              <a:lnSpc>
                <a:spcPct val="110000"/>
              </a:lnSpc>
              <a:buClr>
                <a:srgbClr val="C00000"/>
              </a:buClr>
              <a:buFont typeface="Wingdings" pitchFamily="2" charset="2"/>
              <a:buChar char="v"/>
              <a:defRPr/>
            </a:pPr>
            <a:r>
              <a:rPr lang="ru-RU" dirty="0"/>
              <a:t>Ведение  архива – копия БД на третичных устройствах хранения (ленты, оптические диски), </a:t>
            </a:r>
            <a:r>
              <a:rPr lang="ru-RU" b="1" dirty="0"/>
              <a:t>регламент ведения архива</a:t>
            </a:r>
          </a:p>
          <a:p>
            <a:pPr lvl="1">
              <a:lnSpc>
                <a:spcPct val="110000"/>
              </a:lnSpc>
              <a:buClr>
                <a:srgbClr val="C00000"/>
              </a:buClr>
              <a:buFont typeface="Wingdings" pitchFamily="2" charset="2"/>
              <a:buChar char="v"/>
              <a:defRPr/>
            </a:pPr>
            <a:r>
              <a:rPr lang="ru-RU" dirty="0"/>
              <a:t>Сохранение дополнительных копий БД, распределяемых по нескольким точкам локальной или глобальной сети в режиме </a:t>
            </a:r>
            <a:r>
              <a:rPr lang="en-US" i="1" dirty="0"/>
              <a:t>on-line</a:t>
            </a:r>
            <a:r>
              <a:rPr lang="ru-RU" i="1" dirty="0"/>
              <a:t> </a:t>
            </a:r>
            <a:r>
              <a:rPr lang="ru-RU" b="1" i="1" dirty="0"/>
              <a:t>репликации</a:t>
            </a:r>
            <a:endParaRPr lang="ru-RU" b="1" dirty="0"/>
          </a:p>
        </p:txBody>
      </p:sp>
      <p:sp>
        <p:nvSpPr>
          <p:cNvPr id="6148" name="Номер слайда 1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C7C7959-7F65-4F01-9D82-EDC21A55D3B9}" type="slidenum">
              <a:rPr lang="ru-RU" smtClean="0"/>
              <a:pPr/>
              <a:t>4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AED9A557-8EC9-42D6-9A60-E48A81B1A8CF}" type="slidenum">
              <a:rPr lang="ru-RU" smtClean="0"/>
              <a:pPr/>
              <a:t>5</a:t>
            </a:fld>
            <a:endParaRPr lang="ru-RU"/>
          </a:p>
        </p:txBody>
      </p:sp>
      <p:sp>
        <p:nvSpPr>
          <p:cNvPr id="10" name="Заголовок 1"/>
          <p:cNvSpPr>
            <a:spLocks noGrp="1"/>
          </p:cNvSpPr>
          <p:nvPr>
            <p:ph type="title"/>
          </p:nvPr>
        </p:nvSpPr>
        <p:spPr>
          <a:xfrm>
            <a:off x="358775" y="203200"/>
            <a:ext cx="8785225" cy="668337"/>
          </a:xfrm>
        </p:spPr>
        <p:txBody>
          <a:bodyPr/>
          <a:lstStyle/>
          <a:p>
            <a:pPr algn="ctr"/>
            <a:r>
              <a:rPr lang="ru-RU" sz="3600" dirty="0">
                <a:solidFill>
                  <a:schemeClr val="bg2"/>
                </a:solidFill>
              </a:rPr>
              <a:t>Катастрофа </a:t>
            </a:r>
          </a:p>
        </p:txBody>
      </p:sp>
      <p:sp>
        <p:nvSpPr>
          <p:cNvPr id="14" name="Объект 2"/>
          <p:cNvSpPr>
            <a:spLocks noGrp="1"/>
          </p:cNvSpPr>
          <p:nvPr>
            <p:ph idx="1"/>
          </p:nvPr>
        </p:nvSpPr>
        <p:spPr>
          <a:xfrm>
            <a:off x="107156" y="863600"/>
            <a:ext cx="9036844" cy="59944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  <a:defRPr/>
            </a:pPr>
            <a:r>
              <a:rPr lang="ru-RU" dirty="0"/>
              <a:t>Отказы системы, обусловленные полной потерей носителя с базой банных</a:t>
            </a:r>
          </a:p>
          <a:p>
            <a:pPr lvl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  <a:defRPr/>
            </a:pPr>
            <a:r>
              <a:rPr lang="ru-RU" sz="3200" dirty="0"/>
              <a:t>Взрыв</a:t>
            </a:r>
          </a:p>
          <a:p>
            <a:pPr lvl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  <a:defRPr/>
            </a:pPr>
            <a:r>
              <a:rPr lang="ru-RU" sz="3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Пожар</a:t>
            </a:r>
          </a:p>
          <a:p>
            <a:pPr lvl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  <a:defRPr/>
            </a:pPr>
            <a:r>
              <a:rPr lang="ru-RU" sz="3200" dirty="0"/>
              <a:t>Наводнение </a:t>
            </a:r>
          </a:p>
          <a:p>
            <a:pPr lvl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  <a:defRPr/>
            </a:pPr>
            <a:r>
              <a:rPr lang="ru-RU" sz="3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Акты вандализма</a:t>
            </a:r>
          </a:p>
          <a:p>
            <a:pPr>
              <a:lnSpc>
                <a:spcPct val="120000"/>
              </a:lnSpc>
              <a:defRPr/>
            </a:pPr>
            <a:r>
              <a:rPr lang="en-US" dirty="0"/>
              <a:t>RAID</a:t>
            </a:r>
            <a:r>
              <a:rPr lang="ru-RU" dirty="0"/>
              <a:t> не состоятелен, так как теряются все носители</a:t>
            </a:r>
          </a:p>
          <a:p>
            <a:pPr>
              <a:lnSpc>
                <a:spcPct val="120000"/>
              </a:lnSpc>
              <a:defRPr/>
            </a:pPr>
            <a:r>
              <a:rPr lang="ru-RU" dirty="0"/>
              <a:t>Архив и распределенные копии все еще способны помочь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3"/>
          <p:cNvSpPr txBox="1">
            <a:spLocks noChangeArrowheads="1"/>
          </p:cNvSpPr>
          <p:nvPr/>
        </p:nvSpPr>
        <p:spPr bwMode="auto">
          <a:xfrm>
            <a:off x="152397" y="626163"/>
            <a:ext cx="8885583" cy="5893905"/>
          </a:xfrm>
          <a:prstGeom prst="rect">
            <a:avLst/>
          </a:prstGeom>
          <a:noFill/>
          <a:ln w="0">
            <a:noFill/>
            <a:round/>
            <a:headEnd/>
            <a:tailEnd/>
          </a:ln>
        </p:spPr>
        <p:txBody>
          <a:bodyPr>
            <a:noAutofit/>
          </a:bodyPr>
          <a:lstStyle/>
          <a:p>
            <a:pPr marL="342900" indent="-342900" eaLnBrk="0" hangingPunct="0">
              <a:lnSpc>
                <a:spcPct val="114000"/>
              </a:lnSpc>
              <a:buFont typeface="Wingdings" panose="05000000000000000000" pitchFamily="2" charset="2"/>
              <a:buChar char="q"/>
              <a:defRPr/>
            </a:pPr>
            <a:r>
              <a:rPr lang="ru-RU" sz="2400" dirty="0">
                <a:latin typeface="+mn-lt"/>
                <a:cs typeface="+mn-cs"/>
              </a:rPr>
              <a:t>Причины сбоев системы (</a:t>
            </a:r>
            <a:r>
              <a:rPr lang="en-US" sz="2400" dirty="0">
                <a:latin typeface="+mn-lt"/>
                <a:cs typeface="+mn-cs"/>
              </a:rPr>
              <a:t>system failure)</a:t>
            </a:r>
          </a:p>
          <a:p>
            <a:pPr marL="800100" lvl="1" indent="-342900" eaLnBrk="0" hangingPunct="0">
              <a:lnSpc>
                <a:spcPct val="114000"/>
              </a:lnSpc>
              <a:buBlip>
                <a:blip r:embed="rId3"/>
              </a:buBlip>
              <a:defRPr/>
            </a:pPr>
            <a:r>
              <a:rPr lang="ru-RU" sz="2400" dirty="0">
                <a:latin typeface="+mn-lt"/>
                <a:cs typeface="+mn-cs"/>
              </a:rPr>
              <a:t>Потеря электропитания</a:t>
            </a:r>
          </a:p>
          <a:p>
            <a:pPr marL="800100" lvl="1" indent="-342900" eaLnBrk="0" hangingPunct="0">
              <a:lnSpc>
                <a:spcPct val="114000"/>
              </a:lnSpc>
              <a:buBlip>
                <a:blip r:embed="rId3"/>
              </a:buBlip>
              <a:defRPr/>
            </a:pPr>
            <a:r>
              <a:rPr lang="ru-RU" sz="2400" dirty="0">
                <a:latin typeface="+mn-lt"/>
                <a:cs typeface="+mn-cs"/>
              </a:rPr>
              <a:t>Ошибки в программном обеспечении (деление на ноль и др.)</a:t>
            </a:r>
          </a:p>
          <a:p>
            <a:pPr marL="342900" indent="-342900" eaLnBrk="0" hangingPunct="0">
              <a:lnSpc>
                <a:spcPct val="114000"/>
              </a:lnSpc>
              <a:buFont typeface="Wingdings" panose="05000000000000000000" pitchFamily="2" charset="2"/>
              <a:buChar char="q"/>
              <a:defRPr/>
            </a:pPr>
            <a:r>
              <a:rPr lang="ru-RU" sz="2400" dirty="0">
                <a:latin typeface="+mn-lt"/>
                <a:cs typeface="+mn-cs"/>
              </a:rPr>
              <a:t>Транзакции – как единицы целостности данных в БД.</a:t>
            </a:r>
          </a:p>
          <a:p>
            <a:pPr marL="342900" indent="-342900" eaLnBrk="0" hangingPunct="0">
              <a:lnSpc>
                <a:spcPct val="114000"/>
              </a:lnSpc>
              <a:buFont typeface="Wingdings" panose="05000000000000000000" pitchFamily="2" charset="2"/>
              <a:buChar char="q"/>
              <a:defRPr/>
            </a:pPr>
            <a:r>
              <a:rPr lang="ru-RU" sz="2400" dirty="0">
                <a:latin typeface="+mn-lt"/>
                <a:cs typeface="+mn-cs"/>
              </a:rPr>
              <a:t>Промежуточные данные транзакций хранятся в ОП. При сбоях они теряются.</a:t>
            </a:r>
          </a:p>
          <a:p>
            <a:pPr marL="342900" indent="-342900" eaLnBrk="0" hangingPunct="0">
              <a:lnSpc>
                <a:spcPct val="114000"/>
              </a:lnSpc>
              <a:buFont typeface="Wingdings" panose="05000000000000000000" pitchFamily="2" charset="2"/>
              <a:buChar char="q"/>
              <a:defRPr/>
            </a:pPr>
            <a:r>
              <a:rPr lang="ru-RU" sz="2400" dirty="0">
                <a:latin typeface="+mn-lt"/>
                <a:cs typeface="+mn-cs"/>
              </a:rPr>
              <a:t>Трудно понять какая часть транзакции выполнилась и сохранена на диске.</a:t>
            </a:r>
          </a:p>
          <a:p>
            <a:pPr marL="342900" indent="-342900" eaLnBrk="0" hangingPunct="0">
              <a:lnSpc>
                <a:spcPct val="114000"/>
              </a:lnSpc>
              <a:buFont typeface="Wingdings" panose="05000000000000000000" pitchFamily="2" charset="2"/>
              <a:buChar char="q"/>
              <a:defRPr/>
            </a:pPr>
            <a:r>
              <a:rPr lang="ru-RU" sz="2400" dirty="0">
                <a:latin typeface="+mn-lt"/>
                <a:cs typeface="+mn-cs"/>
              </a:rPr>
              <a:t>Основная стратегия преодоления последствий системных сбоев – ведение </a:t>
            </a:r>
            <a:r>
              <a:rPr lang="ru-RU" sz="2400" b="1" u="sng" dirty="0">
                <a:solidFill>
                  <a:srgbClr val="FF0000"/>
                </a:solidFill>
                <a:latin typeface="+mn-lt"/>
                <a:cs typeface="+mn-cs"/>
              </a:rPr>
              <a:t>протокола</a:t>
            </a:r>
            <a:r>
              <a:rPr lang="ru-RU" sz="2400" b="1" dirty="0">
                <a:solidFill>
                  <a:srgbClr val="FF0000"/>
                </a:solidFill>
                <a:latin typeface="+mn-lt"/>
                <a:cs typeface="+mn-cs"/>
              </a:rPr>
              <a:t> всех изменений </a:t>
            </a:r>
            <a:r>
              <a:rPr lang="ru-RU" sz="2400" dirty="0">
                <a:latin typeface="+mn-lt"/>
                <a:cs typeface="+mn-cs"/>
              </a:rPr>
              <a:t>в БД, используя </a:t>
            </a:r>
            <a:r>
              <a:rPr lang="ru-RU" sz="2400" b="1" dirty="0">
                <a:latin typeface="+mn-lt"/>
                <a:cs typeface="+mn-cs"/>
              </a:rPr>
              <a:t>отдельный файл на энергонезависимом носителе – </a:t>
            </a:r>
            <a:r>
              <a:rPr lang="ru-RU" sz="2400" dirty="0">
                <a:latin typeface="+mn-lt"/>
                <a:cs typeface="+mn-cs"/>
              </a:rPr>
              <a:t>(системный)</a:t>
            </a:r>
            <a:r>
              <a:rPr lang="ru-RU" sz="2400" b="1" dirty="0">
                <a:latin typeface="+mn-lt"/>
                <a:cs typeface="+mn-cs"/>
              </a:rPr>
              <a:t> </a:t>
            </a:r>
            <a:r>
              <a:rPr lang="ru-RU" sz="2400" b="1" dirty="0">
                <a:solidFill>
                  <a:srgbClr val="FF0000"/>
                </a:solidFill>
                <a:latin typeface="+mn-lt"/>
                <a:cs typeface="+mn-cs"/>
              </a:rPr>
              <a:t>журнал транзакций</a:t>
            </a:r>
          </a:p>
        </p:txBody>
      </p:sp>
      <p:sp>
        <p:nvSpPr>
          <p:cNvPr id="8196" name="Номер слайда 22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6E6670DD-E7F4-46C2-9366-78D15383F4FC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306387" y="0"/>
            <a:ext cx="8531225" cy="558800"/>
          </a:xfrm>
        </p:spPr>
        <p:txBody>
          <a:bodyPr/>
          <a:lstStyle/>
          <a:p>
            <a:pPr algn="ctr"/>
            <a:r>
              <a:rPr lang="ru-RU" sz="3200" dirty="0">
                <a:solidFill>
                  <a:schemeClr val="bg2"/>
                </a:solidFill>
              </a:rPr>
              <a:t>Сбой системы</a:t>
            </a:r>
            <a:endParaRPr lang="ru-RU" sz="3200" i="1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571499" y="0"/>
            <a:ext cx="8229600" cy="662152"/>
          </a:xfrm>
        </p:spPr>
        <p:txBody>
          <a:bodyPr/>
          <a:lstStyle/>
          <a:p>
            <a:pPr algn="ctr"/>
            <a:r>
              <a:rPr lang="ru-RU" sz="2800" dirty="0">
                <a:solidFill>
                  <a:schemeClr val="bg2"/>
                </a:solidFill>
              </a:rPr>
              <a:t>Структура СУБД</a:t>
            </a:r>
          </a:p>
        </p:txBody>
      </p:sp>
      <p:sp>
        <p:nvSpPr>
          <p:cNvPr id="13316" name="Номер слайда 2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8612963-D6F5-4ABB-AED0-6576D3967645}" type="slidenum">
              <a:rPr lang="ru-RU" sz="1600" smtClean="0"/>
              <a:pPr/>
              <a:t>7</a:t>
            </a:fld>
            <a:endParaRPr lang="ru-RU" sz="1600"/>
          </a:p>
        </p:txBody>
      </p:sp>
      <p:sp>
        <p:nvSpPr>
          <p:cNvPr id="6" name="TextBox 5"/>
          <p:cNvSpPr txBox="1"/>
          <p:nvPr/>
        </p:nvSpPr>
        <p:spPr>
          <a:xfrm>
            <a:off x="293905" y="605968"/>
            <a:ext cx="3233059" cy="384478"/>
          </a:xfrm>
          <a:prstGeom prst="rect">
            <a:avLst/>
          </a:prstGeom>
          <a:noFill/>
        </p:spPr>
        <p:txBody>
          <a:bodyPr wrap="square" lIns="0" tIns="18000" rIns="0" bIns="18000" rtlCol="0">
            <a:normAutofit/>
          </a:bodyPr>
          <a:lstStyle/>
          <a:p>
            <a:pPr algn="ctr"/>
            <a:r>
              <a:rPr lang="ru-RU" sz="1600" b="1" dirty="0"/>
              <a:t>Пользователь</a:t>
            </a:r>
            <a:r>
              <a:rPr lang="en-US" sz="1600" b="1" dirty="0"/>
              <a:t>/</a:t>
            </a:r>
            <a:r>
              <a:rPr lang="ru-RU" sz="1600" b="1" dirty="0"/>
              <a:t>приложение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6723" y="556981"/>
            <a:ext cx="3497038" cy="384478"/>
          </a:xfrm>
          <a:prstGeom prst="rect">
            <a:avLst/>
          </a:prstGeom>
          <a:noFill/>
        </p:spPr>
        <p:txBody>
          <a:bodyPr wrap="square" lIns="0" tIns="0" rIns="0" bIns="0" rtlCol="0">
            <a:normAutofit fontScale="62500" lnSpcReduction="20000"/>
          </a:bodyPr>
          <a:lstStyle/>
          <a:p>
            <a:r>
              <a:rPr lang="ru-RU" b="1" dirty="0"/>
              <a:t>Администратор базы данных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441" y="1219052"/>
            <a:ext cx="2160000" cy="57600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lIns="0" tIns="18000" rIns="0" bIns="18000" rtlCol="0">
            <a:normAutofit/>
          </a:bodyPr>
          <a:lstStyle/>
          <a:p>
            <a:pPr algn="ctr"/>
            <a:r>
              <a:rPr lang="ru-RU" sz="1600" b="1" dirty="0"/>
              <a:t>Компилятор запросов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7441" y="2133450"/>
            <a:ext cx="2160000" cy="57600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lIns="0" tIns="18000" rIns="0" bIns="18000" rtlCol="0">
            <a:normAutofit/>
          </a:bodyPr>
          <a:lstStyle/>
          <a:p>
            <a:pPr algn="ctr"/>
            <a:r>
              <a:rPr lang="ru-RU" sz="1600" b="1" dirty="0"/>
              <a:t>Исполняющая машина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7441" y="3067812"/>
            <a:ext cx="2160000" cy="57600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lIns="0" tIns="18000" rIns="0" bIns="18000" rtlCol="0">
            <a:normAutofit/>
          </a:bodyPr>
          <a:lstStyle/>
          <a:p>
            <a:pPr algn="ctr"/>
            <a:r>
              <a:rPr lang="ru-RU" sz="1600" b="1" dirty="0"/>
              <a:t>Менеджер ресурсов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7441" y="4011239"/>
            <a:ext cx="2160000" cy="57600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lIns="0" tIns="18000" rIns="0" bIns="18000" rtlCol="0">
            <a:normAutofit/>
          </a:bodyPr>
          <a:lstStyle/>
          <a:p>
            <a:pPr algn="ctr"/>
            <a:r>
              <a:rPr lang="ru-RU" sz="1600" b="1" dirty="0"/>
              <a:t>Менеджер буферов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3770" y="4974623"/>
            <a:ext cx="2160000" cy="57600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lIns="0" tIns="18000" rIns="0" bIns="18000" rtlCol="0">
            <a:normAutofit/>
          </a:bodyPr>
          <a:lstStyle/>
          <a:p>
            <a:pPr algn="ctr"/>
            <a:r>
              <a:rPr lang="ru-RU" sz="1600" b="1" dirty="0"/>
              <a:t>Менеджер хранения данных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00505" y="1219052"/>
            <a:ext cx="1632857" cy="598862"/>
          </a:xfrm>
          <a:prstGeom prst="rect">
            <a:avLst/>
          </a:prstGeom>
          <a:noFill/>
          <a:ln w="25400">
            <a:solidFill>
              <a:srgbClr val="00CC00"/>
            </a:solidFill>
          </a:ln>
        </p:spPr>
        <p:txBody>
          <a:bodyPr wrap="square" lIns="0" tIns="18000" rIns="0" bIns="18000" rtlCol="0">
            <a:normAutofit/>
          </a:bodyPr>
          <a:lstStyle/>
          <a:p>
            <a:pPr algn="ctr"/>
            <a:r>
              <a:rPr lang="ru-RU" sz="1600" b="1" dirty="0">
                <a:solidFill>
                  <a:srgbClr val="00CC00"/>
                </a:solidFill>
              </a:rPr>
              <a:t>Менеджер транзакций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04556" y="2565396"/>
            <a:ext cx="2160000" cy="792000"/>
          </a:xfrm>
          <a:prstGeom prst="rect">
            <a:avLst/>
          </a:prstGeom>
          <a:noFill/>
          <a:ln w="25400">
            <a:solidFill>
              <a:srgbClr val="00B050"/>
            </a:solidFill>
          </a:ln>
        </p:spPr>
        <p:txBody>
          <a:bodyPr wrap="square" lIns="0" tIns="18000" rIns="0" bIns="18000" rtlCol="0">
            <a:normAutofit/>
          </a:bodyPr>
          <a:lstStyle/>
          <a:p>
            <a:pPr algn="ctr"/>
            <a:r>
              <a:rPr lang="ru-RU" sz="1600" b="1" dirty="0">
                <a:solidFill>
                  <a:srgbClr val="00CC00"/>
                </a:solidFill>
              </a:rPr>
              <a:t>Менеджер протоколирования и восстановления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97772" y="5045545"/>
            <a:ext cx="1586596" cy="582238"/>
          </a:xfrm>
          <a:prstGeom prst="rect">
            <a:avLst/>
          </a:prstGeom>
          <a:noFill/>
          <a:ln w="101600" cmpd="dbl">
            <a:solidFill>
              <a:srgbClr val="008000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ru-RU" sz="1600" b="1" dirty="0">
                <a:solidFill>
                  <a:srgbClr val="00CC00"/>
                </a:solidFill>
              </a:rPr>
              <a:t>Буферы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1426" y="1224491"/>
            <a:ext cx="2160000" cy="57600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lIns="0" tIns="18000" rIns="0" bIns="18000" rtlCol="0" anchor="ctr">
            <a:normAutofit/>
          </a:bodyPr>
          <a:lstStyle/>
          <a:p>
            <a:pPr algn="ctr"/>
            <a:r>
              <a:rPr lang="ru-RU" sz="1600" b="1" dirty="0"/>
              <a:t>Компилятор </a:t>
            </a:r>
            <a:r>
              <a:rPr lang="en-US" sz="1600" b="1" dirty="0"/>
              <a:t>DDL</a:t>
            </a:r>
            <a:endParaRPr lang="ru-RU" sz="16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6645726" y="2523376"/>
            <a:ext cx="1730831" cy="677024"/>
          </a:xfrm>
          <a:prstGeom prst="rect">
            <a:avLst/>
          </a:prstGeom>
          <a:noFill/>
          <a:ln w="25400">
            <a:solidFill>
              <a:srgbClr val="008000"/>
            </a:solidFill>
          </a:ln>
        </p:spPr>
        <p:txBody>
          <a:bodyPr wrap="square" lIns="0" tIns="18000" rIns="0" bIns="18000" rtlCol="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ru-RU" sz="1600" b="1" dirty="0">
                <a:solidFill>
                  <a:srgbClr val="00CC00"/>
                </a:solidFill>
              </a:rPr>
              <a:t>Планировщик заданий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4645" y="3807344"/>
            <a:ext cx="1586596" cy="582238"/>
          </a:xfrm>
          <a:prstGeom prst="rect">
            <a:avLst/>
          </a:prstGeom>
          <a:noFill/>
          <a:ln w="101600" cmpd="dbl">
            <a:solidFill>
              <a:schemeClr val="tx1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ru-RU" sz="1600" b="1" dirty="0"/>
              <a:t>Таблицы блокировок</a:t>
            </a:r>
          </a:p>
        </p:txBody>
      </p:sp>
      <p:cxnSp>
        <p:nvCxnSpPr>
          <p:cNvPr id="21" name="Прямая со стрелкой 20"/>
          <p:cNvCxnSpPr/>
          <p:nvPr/>
        </p:nvCxnSpPr>
        <p:spPr>
          <a:xfrm rot="5400000">
            <a:off x="1727489" y="1080000"/>
            <a:ext cx="360000" cy="5893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/>
          <p:cNvCxnSpPr/>
          <p:nvPr/>
        </p:nvCxnSpPr>
        <p:spPr>
          <a:xfrm rot="5400000">
            <a:off x="1716599" y="1934547"/>
            <a:ext cx="360000" cy="5893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/>
          <p:cNvCxnSpPr/>
          <p:nvPr/>
        </p:nvCxnSpPr>
        <p:spPr>
          <a:xfrm rot="5400000">
            <a:off x="1705709" y="2854410"/>
            <a:ext cx="360000" cy="5893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/>
          <p:cNvCxnSpPr/>
          <p:nvPr/>
        </p:nvCxnSpPr>
        <p:spPr>
          <a:xfrm rot="5400000">
            <a:off x="1694819" y="3806931"/>
            <a:ext cx="360000" cy="5893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/>
          <p:cNvCxnSpPr/>
          <p:nvPr/>
        </p:nvCxnSpPr>
        <p:spPr>
          <a:xfrm rot="5400000">
            <a:off x="1666726" y="4792385"/>
            <a:ext cx="410292" cy="1588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 стрелкой 26"/>
          <p:cNvCxnSpPr/>
          <p:nvPr/>
        </p:nvCxnSpPr>
        <p:spPr>
          <a:xfrm rot="5400000">
            <a:off x="1673039" y="5744631"/>
            <a:ext cx="360000" cy="5893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Группа 28"/>
          <p:cNvGrpSpPr/>
          <p:nvPr/>
        </p:nvGrpSpPr>
        <p:grpSpPr>
          <a:xfrm>
            <a:off x="930738" y="5861957"/>
            <a:ext cx="1975758" cy="843643"/>
            <a:chOff x="930738" y="5861957"/>
            <a:chExt cx="1975758" cy="843643"/>
          </a:xfrm>
        </p:grpSpPr>
        <p:sp>
          <p:nvSpPr>
            <p:cNvPr id="14" name="Цилиндр 13"/>
            <p:cNvSpPr/>
            <p:nvPr/>
          </p:nvSpPr>
          <p:spPr>
            <a:xfrm>
              <a:off x="963389" y="5861957"/>
              <a:ext cx="1763487" cy="843643"/>
            </a:xfrm>
            <a:prstGeom prst="can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60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930738" y="6248400"/>
              <a:ext cx="1975758" cy="3139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600" dirty="0"/>
                <a:t>Носитель данных</a:t>
              </a:r>
            </a:p>
          </p:txBody>
        </p:sp>
      </p:grpSp>
      <p:cxnSp>
        <p:nvCxnSpPr>
          <p:cNvPr id="30" name="Прямая со стрелкой 29"/>
          <p:cNvCxnSpPr>
            <a:endCxn id="13" idx="0"/>
          </p:cNvCxnSpPr>
          <p:nvPr/>
        </p:nvCxnSpPr>
        <p:spPr>
          <a:xfrm>
            <a:off x="1943568" y="924715"/>
            <a:ext cx="2873366" cy="294337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/>
          <p:cNvCxnSpPr/>
          <p:nvPr/>
        </p:nvCxnSpPr>
        <p:spPr>
          <a:xfrm rot="5400000">
            <a:off x="4431867" y="2174828"/>
            <a:ext cx="775246" cy="589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/>
          <p:cNvCxnSpPr>
            <a:endCxn id="18" idx="0"/>
          </p:cNvCxnSpPr>
          <p:nvPr/>
        </p:nvCxnSpPr>
        <p:spPr>
          <a:xfrm>
            <a:off x="5238749" y="1817914"/>
            <a:ext cx="2272393" cy="705462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/>
          <p:cNvCxnSpPr/>
          <p:nvPr/>
        </p:nvCxnSpPr>
        <p:spPr>
          <a:xfrm rot="10800000" flipV="1">
            <a:off x="2726876" y="1817914"/>
            <a:ext cx="4790160" cy="315536"/>
          </a:xfrm>
          <a:prstGeom prst="straightConnector1">
            <a:avLst/>
          </a:prstGeom>
          <a:ln w="25400">
            <a:solidFill>
              <a:srgbClr val="008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Дуга 90"/>
          <p:cNvSpPr/>
          <p:nvPr/>
        </p:nvSpPr>
        <p:spPr>
          <a:xfrm rot="11136805">
            <a:off x="2671625" y="2215086"/>
            <a:ext cx="4516053" cy="1511466"/>
          </a:xfrm>
          <a:prstGeom prst="arc">
            <a:avLst>
              <a:gd name="adj1" fmla="val 10752409"/>
              <a:gd name="adj2" fmla="val 27615"/>
            </a:avLst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sz="1600"/>
          </a:p>
        </p:txBody>
      </p:sp>
      <p:cxnSp>
        <p:nvCxnSpPr>
          <p:cNvPr id="92" name="Прямая со стрелкой 91"/>
          <p:cNvCxnSpPr>
            <a:stCxn id="18" idx="2"/>
            <a:endCxn id="19" idx="0"/>
          </p:cNvCxnSpPr>
          <p:nvPr/>
        </p:nvCxnSpPr>
        <p:spPr>
          <a:xfrm rot="16200000" flipH="1">
            <a:off x="7211070" y="3500471"/>
            <a:ext cx="606944" cy="6801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Скругленная соединительная линия 96"/>
          <p:cNvCxnSpPr>
            <a:endCxn id="16" idx="3"/>
          </p:cNvCxnSpPr>
          <p:nvPr/>
        </p:nvCxnSpPr>
        <p:spPr>
          <a:xfrm rot="5400000">
            <a:off x="5221090" y="2181193"/>
            <a:ext cx="3518749" cy="2792192"/>
          </a:xfrm>
          <a:prstGeom prst="curvedConnector2">
            <a:avLst/>
          </a:prstGeom>
          <a:ln w="25400"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6972300" y="2019261"/>
            <a:ext cx="1714500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метаданные</a:t>
            </a:r>
          </a:p>
        </p:txBody>
      </p:sp>
      <p:cxnSp>
        <p:nvCxnSpPr>
          <p:cNvPr id="114" name="Скругленная соединительная линия 96"/>
          <p:cNvCxnSpPr/>
          <p:nvPr/>
        </p:nvCxnSpPr>
        <p:spPr>
          <a:xfrm rot="16200000" flipH="1">
            <a:off x="2057413" y="2427377"/>
            <a:ext cx="3216697" cy="1812477"/>
          </a:xfrm>
          <a:prstGeom prst="curvedConnector3">
            <a:avLst>
              <a:gd name="adj1" fmla="val 50000"/>
            </a:avLst>
          </a:prstGeom>
          <a:ln w="25400"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Скругленная соединительная линия 96"/>
          <p:cNvCxnSpPr/>
          <p:nvPr/>
        </p:nvCxnSpPr>
        <p:spPr>
          <a:xfrm rot="16200000" flipH="1">
            <a:off x="2155104" y="2987877"/>
            <a:ext cx="2368189" cy="1747145"/>
          </a:xfrm>
          <a:prstGeom prst="curvedConnector3">
            <a:avLst>
              <a:gd name="adj1" fmla="val 50000"/>
            </a:avLst>
          </a:prstGeom>
          <a:ln w="25400"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Прямая со стрелкой 121"/>
          <p:cNvCxnSpPr>
            <a:stCxn id="15" idx="2"/>
          </p:cNvCxnSpPr>
          <p:nvPr/>
        </p:nvCxnSpPr>
        <p:spPr>
          <a:xfrm rot="16200000" flipH="1">
            <a:off x="4092272" y="4149679"/>
            <a:ext cx="1584569" cy="1"/>
          </a:xfrm>
          <a:prstGeom prst="straightConnector1">
            <a:avLst/>
          </a:prstGeom>
          <a:ln w="25400"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TextBox 123"/>
          <p:cNvSpPr txBox="1"/>
          <p:nvPr/>
        </p:nvSpPr>
        <p:spPr>
          <a:xfrm>
            <a:off x="4571999" y="3807344"/>
            <a:ext cx="1392557" cy="74239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ru-RU" sz="16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Страницы протокола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2927441" y="4018384"/>
            <a:ext cx="1392557" cy="742395"/>
          </a:xfrm>
          <a:prstGeom prst="rect">
            <a:avLst/>
          </a:prstGeom>
          <a:noFill/>
        </p:spPr>
        <p:txBody>
          <a:bodyPr wrap="square" rtlCol="0">
            <a:normAutofit fontScale="92500"/>
          </a:bodyPr>
          <a:lstStyle/>
          <a:p>
            <a:pPr algn="ctr"/>
            <a:r>
              <a:rPr lang="ru-RU" sz="16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Данные, индексы, метаданные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654206" y="1823003"/>
            <a:ext cx="1745515" cy="74239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ru-RU" sz="16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Метаданные, статистика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61248" y="892057"/>
            <a:ext cx="1126681" cy="33823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ru-RU" sz="1600" b="1" dirty="0">
                <a:solidFill>
                  <a:srgbClr val="FF0000"/>
                </a:solidFill>
              </a:rPr>
              <a:t>Запросы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63273" y="1806911"/>
            <a:ext cx="1556187" cy="408184"/>
          </a:xfrm>
          <a:prstGeom prst="rect">
            <a:avLst/>
          </a:prstGeom>
          <a:noFill/>
        </p:spPr>
        <p:txBody>
          <a:bodyPr wrap="square" lIns="0" tIns="18000" rIns="0" bIns="18000" rtlCol="0">
            <a:normAutofit fontScale="62500" lnSpcReduction="20000"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План запроса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52644" y="2710013"/>
            <a:ext cx="1556187" cy="408184"/>
          </a:xfrm>
          <a:prstGeom prst="rect">
            <a:avLst/>
          </a:prstGeom>
          <a:noFill/>
        </p:spPr>
        <p:txBody>
          <a:bodyPr wrap="square" lIns="0" tIns="18000" rIns="0" bIns="18000" rtlCol="0">
            <a:normAutofit fontScale="47500" lnSpcReduction="20000"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Запросы индексов файлов записей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52644" y="3629876"/>
            <a:ext cx="1708338" cy="408184"/>
          </a:xfrm>
          <a:prstGeom prst="rect">
            <a:avLst/>
          </a:prstGeom>
          <a:noFill/>
        </p:spPr>
        <p:txBody>
          <a:bodyPr wrap="square" lIns="0" tIns="18000" rIns="0" bIns="18000" rtlCol="0">
            <a:normAutofit fontScale="55000" lnSpcReduction="20000"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Страничные команды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495710" y="886259"/>
            <a:ext cx="1387048" cy="332793"/>
          </a:xfrm>
          <a:prstGeom prst="rect">
            <a:avLst/>
          </a:prstGeom>
          <a:noFill/>
        </p:spPr>
        <p:txBody>
          <a:bodyPr wrap="square" lIns="0" tIns="18000" rIns="0" bIns="18000" rtlCol="0" anchor="ctr">
            <a:normAutofit fontScale="55000" lnSpcReduction="20000"/>
          </a:bodyPr>
          <a:lstStyle/>
          <a:p>
            <a:pPr algn="ctr"/>
            <a:r>
              <a:rPr lang="ru-RU" b="1" dirty="0">
                <a:solidFill>
                  <a:srgbClr val="FF0000"/>
                </a:solidFill>
              </a:rPr>
              <a:t>Команды </a:t>
            </a:r>
            <a:r>
              <a:rPr lang="en-US" b="1" dirty="0">
                <a:solidFill>
                  <a:srgbClr val="FF0000"/>
                </a:solidFill>
              </a:rPr>
              <a:t>DDL</a:t>
            </a:r>
            <a:endParaRPr lang="ru-RU" b="1" dirty="0">
              <a:solidFill>
                <a:srgbClr val="FF0000"/>
              </a:solidFill>
            </a:endParaRPr>
          </a:p>
        </p:txBody>
      </p:sp>
      <p:cxnSp>
        <p:nvCxnSpPr>
          <p:cNvPr id="133" name="Прямая со стрелкой 132"/>
          <p:cNvCxnSpPr/>
          <p:nvPr/>
        </p:nvCxnSpPr>
        <p:spPr>
          <a:xfrm rot="5400000">
            <a:off x="7252130" y="1052781"/>
            <a:ext cx="360000" cy="5893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TextBox 133"/>
          <p:cNvSpPr txBox="1"/>
          <p:nvPr/>
        </p:nvSpPr>
        <p:spPr>
          <a:xfrm>
            <a:off x="261248" y="4589345"/>
            <a:ext cx="1708338" cy="408184"/>
          </a:xfrm>
          <a:prstGeom prst="rect">
            <a:avLst/>
          </a:prstGeom>
          <a:noFill/>
        </p:spPr>
        <p:txBody>
          <a:bodyPr wrap="square" lIns="0" tIns="18000" rIns="0" bIns="18000" rtlCol="0">
            <a:normAutofit fontScale="92500" lnSpcReduction="10000"/>
          </a:bodyPr>
          <a:lstStyle/>
          <a:p>
            <a:r>
              <a:rPr lang="ru-RU" sz="1600" b="1" dirty="0">
                <a:solidFill>
                  <a:srgbClr val="FF0000"/>
                </a:solidFill>
              </a:rPr>
              <a:t>Чтение, запись страниц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304247" y="824049"/>
            <a:ext cx="2032476" cy="332793"/>
          </a:xfrm>
          <a:prstGeom prst="rect">
            <a:avLst/>
          </a:prstGeom>
          <a:noFill/>
        </p:spPr>
        <p:txBody>
          <a:bodyPr wrap="square" lIns="0" tIns="18000" rIns="0" bIns="18000" rtlCol="0" anchor="ctr">
            <a:noAutofit/>
          </a:bodyPr>
          <a:lstStyle/>
          <a:p>
            <a:pPr algn="ctr"/>
            <a:r>
              <a:rPr lang="ru-RU" sz="1600" b="1" dirty="0">
                <a:solidFill>
                  <a:srgbClr val="FF0000"/>
                </a:solidFill>
              </a:rPr>
              <a:t>Команды транзакций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Заголовок 1"/>
          <p:cNvSpPr>
            <a:spLocks noGrp="1"/>
          </p:cNvSpPr>
          <p:nvPr>
            <p:ph type="title"/>
          </p:nvPr>
        </p:nvSpPr>
        <p:spPr>
          <a:xfrm>
            <a:off x="457200" y="238539"/>
            <a:ext cx="8229600" cy="668338"/>
          </a:xfrm>
        </p:spPr>
        <p:txBody>
          <a:bodyPr/>
          <a:lstStyle/>
          <a:p>
            <a:pPr algn="ctr"/>
            <a:r>
              <a:rPr lang="ru-RU" sz="3600" dirty="0">
                <a:solidFill>
                  <a:schemeClr val="bg2"/>
                </a:solidFill>
              </a:rPr>
              <a:t>Взаимодействие компонент СУБД</a:t>
            </a:r>
          </a:p>
        </p:txBody>
      </p:sp>
      <p:sp>
        <p:nvSpPr>
          <p:cNvPr id="10244" name="Номер слайда 3"/>
          <p:cNvSpPr>
            <a:spLocks noGrp="1"/>
          </p:cNvSpPr>
          <p:nvPr>
            <p:ph type="sldNum" sz="quarter" idx="11"/>
          </p:nvPr>
        </p:nvSpPr>
        <p:spPr>
          <a:xfrm>
            <a:off x="8017328" y="6248400"/>
            <a:ext cx="669471" cy="457200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fld id="{23F1C8BE-85E6-4FFB-BF2D-31D6ED28687A}" type="slidenum">
              <a:rPr lang="ru-RU" smtClean="0"/>
              <a:pPr/>
              <a:t>8</a:t>
            </a:fld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414508" y="2162521"/>
            <a:ext cx="1789044" cy="757130"/>
          </a:xfrm>
          <a:prstGeom prst="rect">
            <a:avLst/>
          </a:prstGeom>
          <a:noFill/>
          <a:ln w="508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2400" dirty="0"/>
              <a:t>Процессор запросов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57533" y="2174577"/>
            <a:ext cx="2332382" cy="757130"/>
          </a:xfrm>
          <a:prstGeom prst="rect">
            <a:avLst/>
          </a:prstGeom>
          <a:solidFill>
            <a:srgbClr val="FFFF00"/>
          </a:solidFill>
          <a:ln w="508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2400" dirty="0"/>
              <a:t>Менеджер транзакций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07082" y="3474894"/>
            <a:ext cx="2039317" cy="757130"/>
          </a:xfrm>
          <a:prstGeom prst="rect">
            <a:avLst/>
          </a:prstGeom>
          <a:noFill/>
          <a:ln w="508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2400" dirty="0"/>
              <a:t>Менеджер буферов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09694" y="1083425"/>
            <a:ext cx="2897875" cy="757130"/>
          </a:xfrm>
          <a:prstGeom prst="rect">
            <a:avLst/>
          </a:prstGeom>
          <a:noFill/>
          <a:ln w="476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2400" dirty="0"/>
              <a:t>Планировщик заданий</a:t>
            </a:r>
          </a:p>
        </p:txBody>
      </p:sp>
      <p:grpSp>
        <p:nvGrpSpPr>
          <p:cNvPr id="41" name="Группа 40">
            <a:extLst>
              <a:ext uri="{FF2B5EF4-FFF2-40B4-BE49-F238E27FC236}">
                <a16:creationId xmlns:a16="http://schemas.microsoft.com/office/drawing/2014/main" id="{A5C7287F-1D83-44CF-A335-9165994B97FC}"/>
              </a:ext>
            </a:extLst>
          </p:cNvPr>
          <p:cNvGrpSpPr/>
          <p:nvPr/>
        </p:nvGrpSpPr>
        <p:grpSpPr>
          <a:xfrm>
            <a:off x="4381932" y="5590367"/>
            <a:ext cx="1630017" cy="781879"/>
            <a:chOff x="4381932" y="5590367"/>
            <a:chExt cx="1630017" cy="781879"/>
          </a:xfrm>
        </p:grpSpPr>
        <p:sp>
          <p:nvSpPr>
            <p:cNvPr id="14" name="Блок-схема: магнитный диск 13"/>
            <p:cNvSpPr/>
            <p:nvPr/>
          </p:nvSpPr>
          <p:spPr>
            <a:xfrm>
              <a:off x="4381932" y="5590367"/>
              <a:ext cx="1630017" cy="781879"/>
            </a:xfrm>
            <a:prstGeom prst="flowChartMagneticDisk">
              <a:avLst/>
            </a:prstGeom>
            <a:noFill/>
            <a:ln w="38100" cmpd="dbl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417870" y="5820972"/>
              <a:ext cx="1535890" cy="424732"/>
            </a:xfrm>
            <a:prstGeom prst="rect">
              <a:avLst/>
            </a:prstGeom>
            <a:noFill/>
            <a:ln cmpd="dbl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ru-RU" sz="2400" dirty="0"/>
                <a:t>протокол</a:t>
              </a:r>
            </a:p>
          </p:txBody>
        </p:sp>
      </p:grpSp>
      <p:cxnSp>
        <p:nvCxnSpPr>
          <p:cNvPr id="18" name="Прямая со стрелкой 17"/>
          <p:cNvCxnSpPr>
            <a:stCxn id="6" idx="2"/>
            <a:endCxn id="10" idx="1"/>
          </p:cNvCxnSpPr>
          <p:nvPr/>
        </p:nvCxnSpPr>
        <p:spPr>
          <a:xfrm>
            <a:off x="1309030" y="2919651"/>
            <a:ext cx="1698052" cy="933808"/>
          </a:xfrm>
          <a:prstGeom prst="straightConnector1">
            <a:avLst/>
          </a:prstGeom>
          <a:ln w="381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/>
          <p:cNvCxnSpPr>
            <a:stCxn id="8" idx="2"/>
            <a:endCxn id="10" idx="0"/>
          </p:cNvCxnSpPr>
          <p:nvPr/>
        </p:nvCxnSpPr>
        <p:spPr>
          <a:xfrm>
            <a:off x="4023724" y="2931707"/>
            <a:ext cx="3017" cy="543187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>
            <a:stCxn id="8" idx="1"/>
            <a:endCxn id="6" idx="3"/>
          </p:cNvCxnSpPr>
          <p:nvPr/>
        </p:nvCxnSpPr>
        <p:spPr>
          <a:xfrm flipH="1" flipV="1">
            <a:off x="2203552" y="2541086"/>
            <a:ext cx="653981" cy="12056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/>
          <p:cNvCxnSpPr>
            <a:cxnSpLocks/>
            <a:stCxn id="8" idx="3"/>
            <a:endCxn id="26" idx="1"/>
          </p:cNvCxnSpPr>
          <p:nvPr/>
        </p:nvCxnSpPr>
        <p:spPr>
          <a:xfrm>
            <a:off x="5189915" y="2553142"/>
            <a:ext cx="919780" cy="635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>
            <a:cxnSpLocks/>
            <a:stCxn id="11" idx="1"/>
            <a:endCxn id="8" idx="3"/>
          </p:cNvCxnSpPr>
          <p:nvPr/>
        </p:nvCxnSpPr>
        <p:spPr>
          <a:xfrm flipH="1">
            <a:off x="5189915" y="1461990"/>
            <a:ext cx="919779" cy="1091152"/>
          </a:xfrm>
          <a:prstGeom prst="straightConnector1">
            <a:avLst/>
          </a:prstGeom>
          <a:ln w="381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 стрелкой 53"/>
          <p:cNvCxnSpPr>
            <a:cxnSpLocks/>
            <a:endCxn id="10" idx="3"/>
          </p:cNvCxnSpPr>
          <p:nvPr/>
        </p:nvCxnSpPr>
        <p:spPr>
          <a:xfrm flipH="1">
            <a:off x="5046399" y="2567045"/>
            <a:ext cx="1063297" cy="1286414"/>
          </a:xfrm>
          <a:prstGeom prst="straightConnector1">
            <a:avLst/>
          </a:prstGeom>
          <a:ln w="38100">
            <a:solidFill>
              <a:schemeClr val="tx1"/>
            </a:solidFill>
            <a:headEnd type="arrow" w="lg" len="me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Прямая со стрелкой 101"/>
          <p:cNvCxnSpPr>
            <a:stCxn id="27" idx="2"/>
            <a:endCxn id="12" idx="1"/>
          </p:cNvCxnSpPr>
          <p:nvPr/>
        </p:nvCxnSpPr>
        <p:spPr>
          <a:xfrm flipH="1">
            <a:off x="2836397" y="4962078"/>
            <a:ext cx="1215580" cy="534976"/>
          </a:xfrm>
          <a:prstGeom prst="straightConnector1">
            <a:avLst/>
          </a:prstGeom>
          <a:ln w="317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109695" y="2014732"/>
            <a:ext cx="2902225" cy="1089529"/>
          </a:xfrm>
          <a:prstGeom prst="rect">
            <a:avLst/>
          </a:prstGeom>
          <a:noFill/>
          <a:ln w="508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2400" dirty="0"/>
              <a:t>Менеджер протоколирования и восстановления</a:t>
            </a:r>
          </a:p>
        </p:txBody>
      </p: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EF731F4E-7AE4-460D-A7B5-D92F57057024}"/>
              </a:ext>
            </a:extLst>
          </p:cNvPr>
          <p:cNvGrpSpPr/>
          <p:nvPr/>
        </p:nvGrpSpPr>
        <p:grpSpPr>
          <a:xfrm>
            <a:off x="2021388" y="5497054"/>
            <a:ext cx="1630017" cy="1152939"/>
            <a:chOff x="2021388" y="5497054"/>
            <a:chExt cx="1630017" cy="1152939"/>
          </a:xfrm>
        </p:grpSpPr>
        <p:sp>
          <p:nvSpPr>
            <p:cNvPr id="13" name="TextBox 12"/>
            <p:cNvSpPr txBox="1"/>
            <p:nvPr/>
          </p:nvSpPr>
          <p:spPr>
            <a:xfrm>
              <a:off x="2214810" y="5982500"/>
              <a:ext cx="1311965" cy="424732"/>
            </a:xfrm>
            <a:prstGeom prst="rect">
              <a:avLst/>
            </a:prstGeom>
            <a:noFill/>
            <a:ln cmpd="dbl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ru-RU" sz="2400" dirty="0"/>
                <a:t>данные</a:t>
              </a:r>
            </a:p>
          </p:txBody>
        </p:sp>
        <p:sp>
          <p:nvSpPr>
            <p:cNvPr id="12" name="Блок-схема: магнитный диск 11"/>
            <p:cNvSpPr/>
            <p:nvPr/>
          </p:nvSpPr>
          <p:spPr>
            <a:xfrm>
              <a:off x="2021388" y="5497054"/>
              <a:ext cx="1630017" cy="1152939"/>
            </a:xfrm>
            <a:prstGeom prst="flowChartMagneticDisk">
              <a:avLst/>
            </a:prstGeom>
            <a:noFill/>
            <a:ln w="38100" cmpd="dbl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cxnSp>
        <p:nvCxnSpPr>
          <p:cNvPr id="66" name="Прямая со стрелкой 65"/>
          <p:cNvCxnSpPr>
            <a:cxnSpLocks/>
          </p:cNvCxnSpPr>
          <p:nvPr/>
        </p:nvCxnSpPr>
        <p:spPr>
          <a:xfrm>
            <a:off x="4105292" y="4973365"/>
            <a:ext cx="1097605" cy="730054"/>
          </a:xfrm>
          <a:prstGeom prst="straightConnector1">
            <a:avLst/>
          </a:prstGeom>
          <a:ln w="317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Группа 61">
            <a:extLst>
              <a:ext uri="{FF2B5EF4-FFF2-40B4-BE49-F238E27FC236}">
                <a16:creationId xmlns:a16="http://schemas.microsoft.com/office/drawing/2014/main" id="{018D1159-C229-4254-9E7D-54EE70B6C4C3}"/>
              </a:ext>
            </a:extLst>
          </p:cNvPr>
          <p:cNvGrpSpPr/>
          <p:nvPr/>
        </p:nvGrpSpPr>
        <p:grpSpPr>
          <a:xfrm>
            <a:off x="2253340" y="916619"/>
            <a:ext cx="3552649" cy="537823"/>
            <a:chOff x="2367643" y="916619"/>
            <a:chExt cx="3552649" cy="537823"/>
          </a:xfrm>
        </p:grpSpPr>
        <p:sp>
          <p:nvSpPr>
            <p:cNvPr id="74" name="Загнутый угол 73"/>
            <p:cNvSpPr/>
            <p:nvPr/>
          </p:nvSpPr>
          <p:spPr>
            <a:xfrm>
              <a:off x="2367643" y="916619"/>
              <a:ext cx="3552649" cy="537823"/>
            </a:xfrm>
            <a:prstGeom prst="foldedCorner">
              <a:avLst/>
            </a:prstGeom>
            <a:noFill/>
            <a:ln w="25400" cmpd="dbl">
              <a:solidFill>
                <a:schemeClr val="accent1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2445393" y="942153"/>
              <a:ext cx="3397148" cy="480131"/>
            </a:xfrm>
            <a:prstGeom prst="rect">
              <a:avLst/>
            </a:prstGeom>
            <a:noFill/>
            <a:ln w="25400" cmpd="dbl">
              <a:solidFill>
                <a:schemeClr val="accent1">
                  <a:lumMod val="2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b="1" dirty="0"/>
                <a:t>Адресное пространство транзакции</a:t>
              </a:r>
              <a:br>
                <a:rPr lang="ru-RU" sz="1400" b="1" dirty="0"/>
              </a:br>
              <a:r>
                <a:rPr lang="ru-RU" sz="1400" b="1" dirty="0"/>
                <a:t>(в прикладной программе)</a:t>
              </a:r>
            </a:p>
          </p:txBody>
        </p:sp>
      </p:grpSp>
      <p:cxnSp>
        <p:nvCxnSpPr>
          <p:cNvPr id="91" name="Прямая со стрелкой 90"/>
          <p:cNvCxnSpPr>
            <a:cxnSpLocks/>
            <a:stCxn id="8" idx="0"/>
            <a:endCxn id="76" idx="2"/>
          </p:cNvCxnSpPr>
          <p:nvPr/>
        </p:nvCxnSpPr>
        <p:spPr>
          <a:xfrm flipV="1">
            <a:off x="4023724" y="1422284"/>
            <a:ext cx="5940" cy="752293"/>
          </a:xfrm>
          <a:prstGeom prst="straightConnector1">
            <a:avLst/>
          </a:prstGeom>
          <a:ln w="381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258679" y="4379840"/>
            <a:ext cx="1586596" cy="582238"/>
          </a:xfrm>
          <a:prstGeom prst="rect">
            <a:avLst/>
          </a:prstGeom>
          <a:noFill/>
          <a:ln w="101600" cmpd="dbl">
            <a:solidFill>
              <a:srgbClr val="008000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ru-RU" sz="1600" b="1" dirty="0">
                <a:solidFill>
                  <a:srgbClr val="00CC00"/>
                </a:solidFill>
              </a:rPr>
              <a:t>Буферы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  <p:bldP spid="11" grpId="0" animBg="1"/>
      <p:bldP spid="2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Содержимое 2"/>
          <p:cNvSpPr>
            <a:spLocks noGrp="1"/>
          </p:cNvSpPr>
          <p:nvPr>
            <p:ph idx="1"/>
          </p:nvPr>
        </p:nvSpPr>
        <p:spPr>
          <a:xfrm>
            <a:off x="135467" y="558800"/>
            <a:ext cx="9008533" cy="6231467"/>
          </a:xfrm>
        </p:spPr>
        <p:txBody>
          <a:bodyPr lIns="36000" tIns="36000" rIns="36000" bIns="36000">
            <a:normAutofit fontScale="77500" lnSpcReduction="20000"/>
          </a:bodyPr>
          <a:lstStyle/>
          <a:p>
            <a:pPr>
              <a:lnSpc>
                <a:spcPct val="120000"/>
              </a:lnSpc>
              <a:defRPr/>
            </a:pPr>
            <a:r>
              <a:rPr lang="ru-RU" dirty="0"/>
              <a:t>Ответственность за корректное поведение транзакций возлагается на </a:t>
            </a:r>
            <a:r>
              <a:rPr lang="ru-RU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менеджер транзакций</a:t>
            </a:r>
          </a:p>
          <a:p>
            <a:pPr>
              <a:lnSpc>
                <a:spcPct val="120000"/>
              </a:lnSpc>
              <a:defRPr/>
            </a:pPr>
            <a:r>
              <a:rPr lang="ru-RU" dirty="0"/>
              <a:t>Менеджер транзакций выполняет ряд функций и взаимодействует</a:t>
            </a:r>
          </a:p>
          <a:p>
            <a:pPr lvl="1">
              <a:lnSpc>
                <a:spcPct val="120000"/>
              </a:lnSpc>
              <a:buClr>
                <a:schemeClr val="bg2"/>
              </a:buClr>
              <a:buFont typeface="Wingdings" pitchFamily="2" charset="2"/>
              <a:buChar char="Ø"/>
              <a:defRPr/>
            </a:pPr>
            <a:r>
              <a:rPr lang="ru-RU" dirty="0"/>
              <a:t>с </a:t>
            </a:r>
            <a:r>
              <a:rPr lang="ru-RU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менеджером протоколирования </a:t>
            </a:r>
            <a:r>
              <a:rPr lang="ru-RU" dirty="0"/>
              <a:t>(в результате пополняется файл протокола – </a:t>
            </a:r>
            <a:r>
              <a:rPr lang="ru-RU" b="1" dirty="0">
                <a:solidFill>
                  <a:srgbClr val="FF0000"/>
                </a:solidFill>
              </a:rPr>
              <a:t>системный журнал</a:t>
            </a:r>
            <a:r>
              <a:rPr lang="ru-RU" dirty="0"/>
              <a:t>),</a:t>
            </a:r>
            <a:endParaRPr lang="en-US" dirty="0"/>
          </a:p>
          <a:p>
            <a:pPr lvl="1">
              <a:lnSpc>
                <a:spcPct val="120000"/>
              </a:lnSpc>
              <a:buClr>
                <a:schemeClr val="bg2"/>
              </a:buClr>
              <a:buFont typeface="Wingdings" pitchFamily="2" charset="2"/>
              <a:buChar char="Ø"/>
              <a:defRPr/>
            </a:pPr>
            <a:r>
              <a:rPr lang="ru-RU" dirty="0"/>
              <a:t>с </a:t>
            </a:r>
            <a:r>
              <a:rPr lang="ru-RU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планировщиком заданий</a:t>
            </a:r>
            <a:r>
              <a:rPr lang="ru-RU" dirty="0"/>
              <a:t>, гарантирующим единовременное безошибочное выполнение нескольких транзакций.</a:t>
            </a:r>
          </a:p>
          <a:p>
            <a:pPr>
              <a:lnSpc>
                <a:spcPct val="120000"/>
              </a:lnSpc>
              <a:defRPr/>
            </a:pPr>
            <a:r>
              <a:rPr lang="ru-RU" dirty="0"/>
              <a:t>Менеджер транзакций  </a:t>
            </a:r>
          </a:p>
          <a:p>
            <a:pPr lvl="1">
              <a:lnSpc>
                <a:spcPct val="120000"/>
              </a:lnSpc>
              <a:buClr>
                <a:schemeClr val="bg2"/>
              </a:buClr>
              <a:buFont typeface="Wingdings" pitchFamily="2" charset="2"/>
              <a:buChar char="Ø"/>
              <a:defRPr/>
            </a:pPr>
            <a:r>
              <a:rPr lang="ru-RU" dirty="0"/>
              <a:t>обращается к </a:t>
            </a:r>
            <a:r>
              <a:rPr lang="ru-RU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процессору  запросов </a:t>
            </a:r>
            <a:r>
              <a:rPr lang="ru-RU" dirty="0"/>
              <a:t>с требованиями выполнения операций, составляющих транзакцию,</a:t>
            </a:r>
          </a:p>
          <a:p>
            <a:pPr lvl="1">
              <a:lnSpc>
                <a:spcPct val="120000"/>
              </a:lnSpc>
              <a:buClr>
                <a:schemeClr val="bg2"/>
              </a:buClr>
              <a:buFont typeface="Wingdings" pitchFamily="2" charset="2"/>
              <a:buChar char="Ø"/>
              <a:defRPr/>
            </a:pPr>
            <a:r>
              <a:rPr lang="ru-RU" dirty="0"/>
              <a:t>отсылает </a:t>
            </a:r>
            <a:r>
              <a:rPr lang="ru-RU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менеджеру протоколирования </a:t>
            </a:r>
            <a:r>
              <a:rPr lang="ru-RU" dirty="0"/>
              <a:t>сообщения о результатах этих операций,</a:t>
            </a:r>
          </a:p>
          <a:p>
            <a:pPr lvl="1">
              <a:lnSpc>
                <a:spcPct val="120000"/>
              </a:lnSpc>
              <a:buClr>
                <a:schemeClr val="bg2"/>
              </a:buClr>
              <a:buFont typeface="Wingdings" pitchFamily="2" charset="2"/>
              <a:buChar char="Ø"/>
              <a:defRPr/>
            </a:pPr>
            <a:r>
              <a:rPr lang="ru-RU" dirty="0"/>
              <a:t>запрашивает  данные с диска и возвращает содержимое буферов СУБД из ОП на диске при посредничестве </a:t>
            </a:r>
            <a:r>
              <a:rPr lang="ru-RU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менеджера буферов.</a:t>
            </a:r>
          </a:p>
          <a:p>
            <a:pPr>
              <a:lnSpc>
                <a:spcPct val="120000"/>
              </a:lnSpc>
              <a:defRPr/>
            </a:pPr>
            <a:endParaRPr lang="ru-RU" dirty="0"/>
          </a:p>
        </p:txBody>
      </p:sp>
      <p:sp>
        <p:nvSpPr>
          <p:cNvPr id="922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57682170-C053-4CAE-8747-7DB4F0CA5209}" type="slidenum">
              <a:rPr lang="ru-RU" smtClean="0"/>
              <a:pPr/>
              <a:t>9</a:t>
            </a:fld>
            <a:endParaRPr lang="ru-RU" dirty="0"/>
          </a:p>
        </p:txBody>
      </p:sp>
      <p:sp>
        <p:nvSpPr>
          <p:cNvPr id="8" name="Заголовок 1"/>
          <p:cNvSpPr>
            <a:spLocks noGrp="1"/>
          </p:cNvSpPr>
          <p:nvPr>
            <p:ph type="title"/>
          </p:nvPr>
        </p:nvSpPr>
        <p:spPr>
          <a:xfrm>
            <a:off x="1374756" y="-16928"/>
            <a:ext cx="6380692" cy="668337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chemeClr val="bg2"/>
                </a:solidFill>
              </a:rPr>
              <a:t>Менеджер транзакций</a:t>
            </a:r>
            <a:endParaRPr lang="ru-RU" sz="3200" i="1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Содержимое 2"/>
          <p:cNvSpPr>
            <a:spLocks noGrp="1"/>
          </p:cNvSpPr>
          <p:nvPr>
            <p:ph idx="1"/>
          </p:nvPr>
        </p:nvSpPr>
        <p:spPr>
          <a:xfrm>
            <a:off x="135467" y="687017"/>
            <a:ext cx="9008533" cy="5960530"/>
          </a:xfrm>
        </p:spPr>
        <p:txBody>
          <a:bodyPr lIns="36000" tIns="36000" rIns="36000" bIns="36000">
            <a:normAutofit fontScale="77500" lnSpcReduction="20000"/>
          </a:bodyPr>
          <a:lstStyle/>
          <a:p>
            <a:pPr>
              <a:lnSpc>
                <a:spcPct val="120000"/>
              </a:lnSpc>
              <a:defRPr/>
            </a:pPr>
            <a:r>
              <a:rPr lang="ru-RU" dirty="0"/>
              <a:t>Транзакция – </a:t>
            </a:r>
            <a:r>
              <a:rPr lang="ru-RU" b="1" dirty="0"/>
              <a:t>неделимая единица </a:t>
            </a:r>
            <a:r>
              <a:rPr lang="ru-RU" dirty="0"/>
              <a:t>работы, изменяющая содержимое БД</a:t>
            </a:r>
            <a:r>
              <a:rPr lang="en-US" dirty="0"/>
              <a:t>.</a:t>
            </a:r>
            <a:endParaRPr lang="ru-RU" dirty="0"/>
          </a:p>
          <a:p>
            <a:pPr>
              <a:lnSpc>
                <a:spcPct val="120000"/>
              </a:lnSpc>
              <a:defRPr/>
            </a:pPr>
            <a:r>
              <a:rPr lang="ru-RU" dirty="0"/>
              <a:t>В </a:t>
            </a:r>
            <a:r>
              <a:rPr lang="en-US" sz="2800" i="1" dirty="0"/>
              <a:t>Embedded</a:t>
            </a:r>
            <a:r>
              <a:rPr lang="en-US" dirty="0"/>
              <a:t> </a:t>
            </a:r>
            <a:r>
              <a:rPr lang="en-US" i="1" dirty="0"/>
              <a:t>SQL </a:t>
            </a:r>
            <a:r>
              <a:rPr lang="ru-RU" dirty="0"/>
              <a:t>программист сам контролирует границы транзакции, которая может включать как действия операторов включающего языка, так и </a:t>
            </a:r>
            <a:r>
              <a:rPr lang="en-US" dirty="0"/>
              <a:t>SQL</a:t>
            </a:r>
            <a:r>
              <a:rPr lang="ru-RU" dirty="0"/>
              <a:t> операторы над БД.</a:t>
            </a:r>
          </a:p>
          <a:p>
            <a:pPr>
              <a:lnSpc>
                <a:spcPct val="120000"/>
              </a:lnSpc>
              <a:defRPr/>
            </a:pPr>
            <a:r>
              <a:rPr lang="ru-RU" dirty="0"/>
              <a:t>В типичной реализации </a:t>
            </a:r>
            <a:r>
              <a:rPr lang="en-US" i="1" dirty="0"/>
              <a:t>Embedded</a:t>
            </a:r>
            <a:r>
              <a:rPr lang="en-US" dirty="0"/>
              <a:t> </a:t>
            </a:r>
            <a:r>
              <a:rPr lang="en-US" i="1" dirty="0"/>
              <a:t>SQL </a:t>
            </a:r>
            <a:r>
              <a:rPr lang="ru-RU" i="1" dirty="0"/>
              <a:t> </a:t>
            </a:r>
            <a:r>
              <a:rPr lang="ru-RU" dirty="0"/>
              <a:t>транзакция</a:t>
            </a:r>
            <a:r>
              <a:rPr lang="ru-RU" i="1" dirty="0"/>
              <a:t> </a:t>
            </a:r>
            <a:r>
              <a:rPr lang="ru-RU" dirty="0"/>
              <a:t>активизируется любой операцией на БД и заканчивается операторами </a:t>
            </a:r>
            <a:r>
              <a:rPr lang="en-US" dirty="0"/>
              <a:t>COMMIT </a:t>
            </a:r>
            <a:r>
              <a:rPr lang="ru-RU" dirty="0"/>
              <a:t>или </a:t>
            </a:r>
            <a:r>
              <a:rPr lang="en-US" dirty="0"/>
              <a:t>ROLLBACK</a:t>
            </a:r>
            <a:r>
              <a:rPr lang="ru-RU" dirty="0"/>
              <a:t> </a:t>
            </a:r>
          </a:p>
          <a:p>
            <a:pPr>
              <a:lnSpc>
                <a:spcPct val="120000"/>
              </a:lnSpc>
              <a:defRPr/>
            </a:pPr>
            <a:r>
              <a:rPr lang="ru-RU" dirty="0"/>
              <a:t>Транзакции обязана действовать следующим образом:</a:t>
            </a:r>
          </a:p>
          <a:p>
            <a:pPr lvl="1">
              <a:lnSpc>
                <a:spcPct val="120000"/>
              </a:lnSpc>
              <a:buClr>
                <a:schemeClr val="bg2"/>
              </a:buClr>
              <a:buFont typeface="Wingdings" pitchFamily="2" charset="2"/>
              <a:buChar char="Ø"/>
              <a:defRPr/>
            </a:pPr>
            <a:r>
              <a:rPr lang="ru-RU" b="1" dirty="0">
                <a:solidFill>
                  <a:srgbClr val="C00000"/>
                </a:solidFill>
              </a:rPr>
              <a:t>Атомарным образом (</a:t>
            </a:r>
            <a:r>
              <a:rPr lang="en-US" b="1" dirty="0">
                <a:solidFill>
                  <a:srgbClr val="C00000"/>
                </a:solidFill>
              </a:rPr>
              <a:t>Atomicity)</a:t>
            </a:r>
          </a:p>
          <a:p>
            <a:pPr lvl="1">
              <a:lnSpc>
                <a:spcPct val="120000"/>
              </a:lnSpc>
              <a:buClr>
                <a:schemeClr val="bg2"/>
              </a:buClr>
              <a:buFont typeface="Wingdings" pitchFamily="2" charset="2"/>
              <a:buChar char="Ø"/>
              <a:defRPr/>
            </a:pPr>
            <a:r>
              <a:rPr lang="ru-RU" b="1" dirty="0">
                <a:solidFill>
                  <a:srgbClr val="C00000"/>
                </a:solidFill>
              </a:rPr>
              <a:t>Согласованно (</a:t>
            </a:r>
            <a:r>
              <a:rPr lang="en-US" b="1" dirty="0">
                <a:solidFill>
                  <a:srgbClr val="C00000"/>
                </a:solidFill>
              </a:rPr>
              <a:t>Consistency)</a:t>
            </a:r>
          </a:p>
          <a:p>
            <a:pPr lvl="1">
              <a:lnSpc>
                <a:spcPct val="120000"/>
              </a:lnSpc>
              <a:buClr>
                <a:schemeClr val="bg2"/>
              </a:buClr>
              <a:buFont typeface="Wingdings" pitchFamily="2" charset="2"/>
              <a:buChar char="Ø"/>
              <a:defRPr/>
            </a:pPr>
            <a:r>
              <a:rPr lang="ru-RU" dirty="0"/>
              <a:t>Изолированно (</a:t>
            </a:r>
            <a:r>
              <a:rPr lang="en-US" dirty="0"/>
              <a:t>Isolation)</a:t>
            </a:r>
          </a:p>
          <a:p>
            <a:pPr lvl="1">
              <a:lnSpc>
                <a:spcPct val="120000"/>
              </a:lnSpc>
              <a:buClr>
                <a:schemeClr val="bg2"/>
              </a:buClr>
              <a:buFont typeface="Wingdings" pitchFamily="2" charset="2"/>
              <a:buChar char="Ø"/>
              <a:defRPr/>
            </a:pPr>
            <a:r>
              <a:rPr lang="ru-RU" dirty="0"/>
              <a:t>Долговечно (</a:t>
            </a:r>
            <a:r>
              <a:rPr lang="en-US" dirty="0"/>
              <a:t>Durability)</a:t>
            </a:r>
            <a:endParaRPr lang="ru-RU" dirty="0"/>
          </a:p>
          <a:p>
            <a:pPr>
              <a:lnSpc>
                <a:spcPct val="120000"/>
              </a:lnSpc>
              <a:defRPr/>
            </a:pPr>
            <a:endParaRPr lang="ru-RU" dirty="0"/>
          </a:p>
          <a:p>
            <a:pPr>
              <a:lnSpc>
                <a:spcPct val="120000"/>
              </a:lnSpc>
              <a:defRPr/>
            </a:pPr>
            <a:endParaRPr lang="ru-RU" dirty="0"/>
          </a:p>
        </p:txBody>
      </p:sp>
      <p:sp>
        <p:nvSpPr>
          <p:cNvPr id="922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57682170-C053-4CAE-8747-7DB4F0CA5209}" type="slidenum">
              <a:rPr lang="ru-RU" smtClean="0"/>
              <a:pPr/>
              <a:t>10</a:t>
            </a:fld>
            <a:endParaRPr lang="ru-RU" dirty="0"/>
          </a:p>
        </p:txBody>
      </p:sp>
      <p:sp>
        <p:nvSpPr>
          <p:cNvPr id="8" name="Заголовок 1"/>
          <p:cNvSpPr>
            <a:spLocks noGrp="1"/>
          </p:cNvSpPr>
          <p:nvPr>
            <p:ph type="title"/>
          </p:nvPr>
        </p:nvSpPr>
        <p:spPr>
          <a:xfrm>
            <a:off x="1374756" y="50804"/>
            <a:ext cx="6380692" cy="668337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chemeClr val="bg2"/>
                </a:solidFill>
              </a:rPr>
              <a:t>Транзакции</a:t>
            </a:r>
            <a:endParaRPr lang="ru-RU" sz="3200" i="1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745069"/>
            <a:ext cx="9144000" cy="5994399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ru-RU" dirty="0"/>
              <a:t>Что значит </a:t>
            </a:r>
            <a:r>
              <a:rPr lang="ru-RU" i="1" dirty="0"/>
              <a:t>корректное</a:t>
            </a:r>
            <a:r>
              <a:rPr lang="ru-RU" dirty="0"/>
              <a:t> выполнение транзакции ?</a:t>
            </a:r>
          </a:p>
          <a:p>
            <a:pPr>
              <a:lnSpc>
                <a:spcPct val="120000"/>
              </a:lnSpc>
            </a:pPr>
            <a:r>
              <a:rPr lang="ru-RU" dirty="0"/>
              <a:t>Будем считать, что БД состоит из «</a:t>
            </a:r>
            <a:r>
              <a:rPr lang="ru-RU" b="1" dirty="0"/>
              <a:t>элементов</a:t>
            </a:r>
            <a:r>
              <a:rPr lang="ru-RU" dirty="0"/>
              <a:t>», которые обладают </a:t>
            </a:r>
            <a:r>
              <a:rPr lang="ru-RU" b="1" dirty="0"/>
              <a:t>значениями</a:t>
            </a:r>
            <a:r>
              <a:rPr lang="ru-RU" dirty="0"/>
              <a:t> и которые могут считываться и </a:t>
            </a:r>
            <a:r>
              <a:rPr lang="ru-RU" b="1" dirty="0"/>
              <a:t>обрабатываться транзакциями</a:t>
            </a:r>
            <a:r>
              <a:rPr lang="ru-RU" dirty="0"/>
              <a:t>.</a:t>
            </a:r>
          </a:p>
          <a:p>
            <a:pPr>
              <a:lnSpc>
                <a:spcPct val="120000"/>
              </a:lnSpc>
            </a:pPr>
            <a:r>
              <a:rPr lang="ru-RU" dirty="0"/>
              <a:t>В разных системах это:</a:t>
            </a:r>
          </a:p>
          <a:p>
            <a:pPr lvl="1">
              <a:lnSpc>
                <a:spcPct val="120000"/>
              </a:lnSpc>
              <a:buClr>
                <a:schemeClr val="bg2"/>
              </a:buClr>
              <a:buFont typeface="Wingdings" pitchFamily="2" charset="2"/>
              <a:buChar char="ü"/>
            </a:pPr>
            <a:r>
              <a:rPr lang="ru-RU" dirty="0"/>
              <a:t>Отношение или класс</a:t>
            </a:r>
          </a:p>
          <a:p>
            <a:pPr lvl="1">
              <a:lnSpc>
                <a:spcPct val="120000"/>
              </a:lnSpc>
              <a:buClr>
                <a:schemeClr val="bg2"/>
              </a:buClr>
              <a:buFont typeface="Wingdings" pitchFamily="2" charset="2"/>
              <a:buChar char="ü"/>
            </a:pPr>
            <a:r>
              <a:rPr lang="ru-RU" dirty="0"/>
              <a:t>Дисковый блок или страница</a:t>
            </a:r>
          </a:p>
          <a:p>
            <a:pPr lvl="1">
              <a:lnSpc>
                <a:spcPct val="120000"/>
              </a:lnSpc>
              <a:buClr>
                <a:schemeClr val="bg2"/>
              </a:buClr>
              <a:buFont typeface="Wingdings" pitchFamily="2" charset="2"/>
              <a:buChar char="ü"/>
            </a:pPr>
            <a:r>
              <a:rPr lang="ru-RU" dirty="0"/>
              <a:t>Отдельный кортеж отношения или объект класса</a:t>
            </a:r>
          </a:p>
          <a:p>
            <a:pPr>
              <a:lnSpc>
                <a:spcPct val="120000"/>
              </a:lnSpc>
            </a:pPr>
            <a:r>
              <a:rPr lang="ru-RU" dirty="0"/>
              <a:t>База данных имеет </a:t>
            </a:r>
            <a:r>
              <a:rPr lang="ru-RU" b="1" dirty="0"/>
              <a:t>состояние</a:t>
            </a:r>
            <a:r>
              <a:rPr lang="ru-RU" dirty="0"/>
              <a:t> – совокупность значений всех ее элементов</a:t>
            </a:r>
          </a:p>
          <a:p>
            <a:pPr>
              <a:lnSpc>
                <a:spcPct val="120000"/>
              </a:lnSpc>
            </a:pPr>
            <a:r>
              <a:rPr lang="ru-RU" dirty="0"/>
              <a:t>Одни </a:t>
            </a:r>
            <a:r>
              <a:rPr lang="ru-RU" b="1" dirty="0"/>
              <a:t>состояния</a:t>
            </a:r>
            <a:r>
              <a:rPr lang="ru-RU" dirty="0"/>
              <a:t> трактуются как </a:t>
            </a:r>
            <a:r>
              <a:rPr lang="ru-RU" b="1" dirty="0"/>
              <a:t>согласованные (удовлетворяют всем ограничениям БД)</a:t>
            </a:r>
            <a:r>
              <a:rPr lang="ru-RU" dirty="0"/>
              <a:t>, другие – </a:t>
            </a:r>
            <a:r>
              <a:rPr lang="ru-RU" b="1" dirty="0"/>
              <a:t>нет.</a:t>
            </a:r>
          </a:p>
          <a:p>
            <a:pPr>
              <a:lnSpc>
                <a:spcPct val="120000"/>
              </a:lnSpc>
            </a:pPr>
            <a:r>
              <a:rPr lang="ru-RU" dirty="0"/>
              <a:t>Существует очевидная опасность </a:t>
            </a:r>
            <a:r>
              <a:rPr lang="ru-RU" b="1" dirty="0">
                <a:solidFill>
                  <a:srgbClr val="C00000"/>
                </a:solidFill>
              </a:rPr>
              <a:t>нарушения свойства согласованности</a:t>
            </a:r>
            <a:r>
              <a:rPr lang="ru-RU" dirty="0"/>
              <a:t> при выполнении операций</a:t>
            </a:r>
          </a:p>
          <a:p>
            <a:pPr>
              <a:lnSpc>
                <a:spcPct val="120000"/>
              </a:lnSpc>
            </a:pPr>
            <a:r>
              <a:rPr lang="ru-RU" dirty="0"/>
              <a:t>Выполнение транзакции можно считать </a:t>
            </a:r>
            <a:r>
              <a:rPr lang="ru-RU" b="1" dirty="0"/>
              <a:t>корректным</a:t>
            </a:r>
            <a:r>
              <a:rPr lang="ru-RU" dirty="0"/>
              <a:t>, если после завершения транзакции  </a:t>
            </a:r>
            <a:r>
              <a:rPr lang="ru-RU" b="1" dirty="0"/>
              <a:t>БД</a:t>
            </a:r>
            <a:r>
              <a:rPr lang="ru-RU" dirty="0"/>
              <a:t> находится в </a:t>
            </a:r>
            <a:r>
              <a:rPr lang="ru-RU" b="1" dirty="0"/>
              <a:t>согласованном состоянии 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49F688F-E6B0-4FD2-A40D-BE0C1EDDAA0C}" type="slidenum">
              <a:rPr lang="ru-RU" smtClean="0"/>
              <a:pPr>
                <a:defRPr/>
              </a:pPr>
              <a:t>11</a:t>
            </a:fld>
            <a:endParaRPr lang="ru-RU" dirty="0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457200" y="49241"/>
            <a:ext cx="8229600" cy="668338"/>
          </a:xfrm>
        </p:spPr>
        <p:txBody>
          <a:bodyPr/>
          <a:lstStyle/>
          <a:p>
            <a:pPr algn="ctr"/>
            <a:r>
              <a:rPr lang="ru-RU" sz="3600" dirty="0">
                <a:solidFill>
                  <a:schemeClr val="bg2"/>
                </a:solidFill>
              </a:rPr>
              <a:t>Условия выполнения транзакций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979713"/>
            <a:ext cx="9144000" cy="566782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ru-RU" dirty="0"/>
              <a:t>В процессе выполнения транзакция имеет дело с тремя адресными пространствами</a:t>
            </a:r>
          </a:p>
          <a:p>
            <a:pPr lvl="1">
              <a:lnSpc>
                <a:spcPct val="120000"/>
              </a:lnSpc>
              <a:buClr>
                <a:schemeClr val="bg2"/>
              </a:buClr>
              <a:buFont typeface="Wingdings" pitchFamily="2" charset="2"/>
              <a:buChar char="ü"/>
            </a:pPr>
            <a:r>
              <a:rPr lang="ru-RU" dirty="0"/>
              <a:t>Пространство</a:t>
            </a:r>
            <a:r>
              <a:rPr lang="ru-RU" b="1" dirty="0"/>
              <a:t> </a:t>
            </a:r>
            <a:r>
              <a:rPr lang="ru-RU" b="1" dirty="0">
                <a:solidFill>
                  <a:srgbClr val="FF0000"/>
                </a:solidFill>
              </a:rPr>
              <a:t>дисковых блоков</a:t>
            </a:r>
            <a:r>
              <a:rPr lang="ru-RU" dirty="0"/>
              <a:t>, содержащее элементы базы данных</a:t>
            </a:r>
          </a:p>
          <a:p>
            <a:pPr lvl="1">
              <a:lnSpc>
                <a:spcPct val="120000"/>
              </a:lnSpc>
              <a:buClr>
                <a:schemeClr val="bg2"/>
              </a:buClr>
              <a:buFont typeface="Wingdings" pitchFamily="2" charset="2"/>
              <a:buChar char="ü"/>
            </a:pPr>
            <a:r>
              <a:rPr lang="ru-RU" dirty="0"/>
              <a:t>Пространство</a:t>
            </a:r>
            <a:r>
              <a:rPr lang="ru-RU" b="1" dirty="0"/>
              <a:t> </a:t>
            </a:r>
            <a:r>
              <a:rPr lang="ru-RU" b="1" dirty="0">
                <a:solidFill>
                  <a:srgbClr val="008000"/>
                </a:solidFill>
              </a:rPr>
              <a:t>адресов оперативной или виртуальной памяти </a:t>
            </a:r>
            <a:r>
              <a:rPr lang="ru-RU" dirty="0"/>
              <a:t>(</a:t>
            </a:r>
            <a:r>
              <a:rPr lang="ru-RU" dirty="0">
                <a:solidFill>
                  <a:srgbClr val="008000"/>
                </a:solidFill>
              </a:rPr>
              <a:t>буферы СУБД</a:t>
            </a:r>
            <a:r>
              <a:rPr lang="ru-RU" dirty="0"/>
              <a:t>), управляемое менеджером буферов</a:t>
            </a:r>
          </a:p>
          <a:p>
            <a:pPr lvl="1">
              <a:lnSpc>
                <a:spcPct val="120000"/>
              </a:lnSpc>
              <a:buClr>
                <a:schemeClr val="bg2"/>
              </a:buClr>
              <a:buFont typeface="Wingdings" pitchFamily="2" charset="2"/>
              <a:buChar char="ü"/>
            </a:pPr>
            <a:r>
              <a:rPr lang="ru-RU" dirty="0"/>
              <a:t>Собственное </a:t>
            </a:r>
            <a:r>
              <a:rPr lang="ru-RU" b="1" dirty="0">
                <a:solidFill>
                  <a:schemeClr val="accent1">
                    <a:lumMod val="50000"/>
                  </a:schemeClr>
                </a:solidFill>
              </a:rPr>
              <a:t>локальное</a:t>
            </a:r>
            <a:r>
              <a:rPr lang="ru-RU" dirty="0"/>
              <a:t> адресное пространство транзакции (в прикладной программе)</a:t>
            </a:r>
          </a:p>
          <a:p>
            <a:pPr>
              <a:lnSpc>
                <a:spcPct val="120000"/>
              </a:lnSpc>
              <a:buNone/>
            </a:pP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49F688F-E6B0-4FD2-A40D-BE0C1EDDAA0C}" type="slidenum">
              <a:rPr lang="ru-RU" smtClean="0"/>
              <a:pPr>
                <a:defRPr/>
              </a:pPr>
              <a:t>12</a:t>
            </a:fld>
            <a:endParaRPr lang="ru-RU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457200" y="116973"/>
            <a:ext cx="8229600" cy="668338"/>
          </a:xfrm>
        </p:spPr>
        <p:txBody>
          <a:bodyPr/>
          <a:lstStyle/>
          <a:p>
            <a:pPr algn="ctr"/>
            <a:r>
              <a:rPr lang="ru-RU" sz="3600" dirty="0">
                <a:solidFill>
                  <a:schemeClr val="bg2"/>
                </a:solidFill>
              </a:rPr>
              <a:t>Перемещение данных транзакцией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032933"/>
            <a:ext cx="9144000" cy="5498495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INPUT(</a:t>
            </a:r>
            <a:r>
              <a:rPr lang="ru-RU" dirty="0">
                <a:solidFill>
                  <a:srgbClr val="FF0000"/>
                </a:solidFill>
              </a:rPr>
              <a:t>Х</a:t>
            </a:r>
            <a:r>
              <a:rPr lang="en-US" dirty="0"/>
              <a:t>) – </a:t>
            </a:r>
            <a:r>
              <a:rPr lang="ru-RU" b="1" dirty="0"/>
              <a:t>копировать дисковый блок</a:t>
            </a:r>
            <a:r>
              <a:rPr lang="ru-RU" dirty="0"/>
              <a:t>, содержащий элемент базы данных </a:t>
            </a:r>
            <a:r>
              <a:rPr lang="ru-RU" dirty="0">
                <a:solidFill>
                  <a:srgbClr val="FF0000"/>
                </a:solidFill>
              </a:rPr>
              <a:t>Х</a:t>
            </a:r>
            <a:r>
              <a:rPr lang="ru-RU" dirty="0"/>
              <a:t>, </a:t>
            </a:r>
            <a:r>
              <a:rPr lang="ru-RU" b="1" dirty="0"/>
              <a:t>в буфер ОП СУБД</a:t>
            </a:r>
          </a:p>
          <a:p>
            <a:pPr>
              <a:lnSpc>
                <a:spcPct val="120000"/>
              </a:lnSpc>
            </a:pPr>
            <a:r>
              <a:rPr lang="en-US" dirty="0"/>
              <a:t>READ(</a:t>
            </a:r>
            <a:r>
              <a:rPr lang="en-US" dirty="0">
                <a:solidFill>
                  <a:srgbClr val="FF0000"/>
                </a:solidFill>
              </a:rPr>
              <a:t>X,</a:t>
            </a:r>
            <a:r>
              <a:rPr lang="ru-RU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t</a:t>
            </a:r>
            <a:r>
              <a:rPr lang="en-US" dirty="0"/>
              <a:t>) – </a:t>
            </a:r>
            <a:r>
              <a:rPr lang="ru-RU" b="1" dirty="0"/>
              <a:t>копировать элемент базы данных </a:t>
            </a:r>
            <a:r>
              <a:rPr lang="ru-RU" dirty="0">
                <a:solidFill>
                  <a:srgbClr val="FF0000"/>
                </a:solidFill>
              </a:rPr>
              <a:t>Х</a:t>
            </a:r>
            <a:r>
              <a:rPr lang="ru-RU" b="1" dirty="0">
                <a:solidFill>
                  <a:srgbClr val="FF0000"/>
                </a:solidFill>
              </a:rPr>
              <a:t> </a:t>
            </a:r>
            <a:r>
              <a:rPr lang="ru-RU" b="1" dirty="0"/>
              <a:t>в локальную переменную </a:t>
            </a:r>
            <a:r>
              <a:rPr lang="en-US" dirty="0">
                <a:solidFill>
                  <a:srgbClr val="FF0000"/>
                </a:solidFill>
              </a:rPr>
              <a:t>t</a:t>
            </a:r>
            <a:r>
              <a:rPr lang="en-US" b="1" dirty="0"/>
              <a:t> </a:t>
            </a:r>
            <a:r>
              <a:rPr lang="ru-RU" dirty="0"/>
              <a:t>транзакции; если блок с элементом Х еще не загружен в буфер ОП, то вначале выполнить </a:t>
            </a:r>
            <a:r>
              <a:rPr lang="en-US" dirty="0"/>
              <a:t>INPUT(</a:t>
            </a:r>
            <a:r>
              <a:rPr lang="ru-RU" dirty="0"/>
              <a:t>Х</a:t>
            </a:r>
            <a:r>
              <a:rPr lang="en-US" dirty="0"/>
              <a:t>)</a:t>
            </a:r>
            <a:endParaRPr lang="ru-RU" dirty="0"/>
          </a:p>
          <a:p>
            <a:pPr>
              <a:lnSpc>
                <a:spcPct val="120000"/>
              </a:lnSpc>
            </a:pPr>
            <a:r>
              <a:rPr lang="en-US" dirty="0"/>
              <a:t>WRITE(</a:t>
            </a:r>
            <a:r>
              <a:rPr lang="en-US" dirty="0">
                <a:solidFill>
                  <a:srgbClr val="FF0000"/>
                </a:solidFill>
              </a:rPr>
              <a:t>X,</a:t>
            </a:r>
            <a:r>
              <a:rPr lang="ru-RU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t</a:t>
            </a:r>
            <a:r>
              <a:rPr lang="en-US" dirty="0"/>
              <a:t>) – </a:t>
            </a:r>
            <a:r>
              <a:rPr lang="ru-RU" b="1" dirty="0"/>
              <a:t>копировать</a:t>
            </a:r>
            <a:r>
              <a:rPr lang="en-US" b="1" dirty="0"/>
              <a:t> </a:t>
            </a:r>
            <a:r>
              <a:rPr lang="ru-RU" b="1" dirty="0"/>
              <a:t>значение локальной переменной </a:t>
            </a:r>
            <a:r>
              <a:rPr lang="en-US" dirty="0">
                <a:solidFill>
                  <a:srgbClr val="FF0000"/>
                </a:solidFill>
              </a:rPr>
              <a:t>t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ru-RU" b="1" dirty="0"/>
              <a:t>в буфер памяти</a:t>
            </a:r>
            <a:r>
              <a:rPr lang="ru-RU" dirty="0"/>
              <a:t>, соответствующий элементу </a:t>
            </a:r>
            <a:r>
              <a:rPr lang="ru-RU" dirty="0">
                <a:solidFill>
                  <a:srgbClr val="FF0000"/>
                </a:solidFill>
              </a:rPr>
              <a:t>Х</a:t>
            </a:r>
            <a:r>
              <a:rPr lang="ru-RU" dirty="0"/>
              <a:t>; если блок с элементом Х еще не загружен в буфер ОП, то вначале выполнить </a:t>
            </a:r>
            <a:r>
              <a:rPr lang="en-US" dirty="0"/>
              <a:t>INPUT(</a:t>
            </a:r>
            <a:r>
              <a:rPr lang="ru-RU" dirty="0"/>
              <a:t>Х</a:t>
            </a:r>
            <a:r>
              <a:rPr lang="en-US" dirty="0"/>
              <a:t>)</a:t>
            </a:r>
            <a:r>
              <a:rPr lang="ru-RU" dirty="0"/>
              <a:t>, а затем присвоить значение </a:t>
            </a:r>
            <a:r>
              <a:rPr lang="en-US" dirty="0"/>
              <a:t>t </a:t>
            </a:r>
            <a:r>
              <a:rPr lang="ru-RU" dirty="0"/>
              <a:t>элементу Х</a:t>
            </a:r>
          </a:p>
          <a:p>
            <a:pPr>
              <a:lnSpc>
                <a:spcPct val="120000"/>
              </a:lnSpc>
            </a:pPr>
            <a:r>
              <a:rPr lang="en-US" dirty="0"/>
              <a:t>OUTPUT (</a:t>
            </a:r>
            <a:r>
              <a:rPr lang="en-US" dirty="0">
                <a:solidFill>
                  <a:srgbClr val="FF0000"/>
                </a:solidFill>
              </a:rPr>
              <a:t>X</a:t>
            </a:r>
            <a:r>
              <a:rPr lang="en-US" dirty="0"/>
              <a:t>) – </a:t>
            </a:r>
            <a:r>
              <a:rPr lang="ru-RU" b="1" dirty="0"/>
              <a:t>копировать блок с элементом базы данных </a:t>
            </a:r>
            <a:r>
              <a:rPr lang="ru-RU" dirty="0">
                <a:solidFill>
                  <a:srgbClr val="FF0000"/>
                </a:solidFill>
              </a:rPr>
              <a:t>Х</a:t>
            </a:r>
            <a:r>
              <a:rPr lang="ru-RU" dirty="0"/>
              <a:t> </a:t>
            </a:r>
            <a:r>
              <a:rPr lang="ru-RU" b="1" dirty="0"/>
              <a:t>из буфера ОП СУБД на диск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49F688F-E6B0-4FD2-A40D-BE0C1EDDAA0C}" type="slidenum">
              <a:rPr lang="ru-RU" smtClean="0"/>
              <a:pPr>
                <a:defRPr/>
              </a:pPr>
              <a:t>13</a:t>
            </a:fld>
            <a:endParaRPr lang="ru-RU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457200" y="201638"/>
            <a:ext cx="8229600" cy="668338"/>
          </a:xfrm>
        </p:spPr>
        <p:txBody>
          <a:bodyPr/>
          <a:lstStyle/>
          <a:p>
            <a:pPr algn="ctr"/>
            <a:r>
              <a:rPr lang="ru-RU" sz="3600" dirty="0">
                <a:solidFill>
                  <a:schemeClr val="bg2"/>
                </a:solidFill>
              </a:rPr>
              <a:t>Базовые операции транзакций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863600"/>
            <a:ext cx="9144000" cy="5994399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  <a:buNone/>
            </a:pPr>
            <a:r>
              <a:rPr lang="ru-RU" sz="3100" dirty="0"/>
              <a:t>   Механизм протоколирования обязан </a:t>
            </a:r>
            <a:r>
              <a:rPr lang="ru-RU" sz="3100" u="sng" dirty="0"/>
              <a:t>гарантировать выполнение следующего условия.</a:t>
            </a:r>
          </a:p>
          <a:p>
            <a:pPr>
              <a:lnSpc>
                <a:spcPct val="120000"/>
              </a:lnSpc>
            </a:pPr>
            <a:r>
              <a:rPr lang="ru-RU" sz="3100" dirty="0"/>
              <a:t>Транзакция считается </a:t>
            </a:r>
            <a:r>
              <a:rPr lang="ru-RU" sz="3100" b="1" u="sng" dirty="0"/>
              <a:t>завершенной</a:t>
            </a:r>
            <a:r>
              <a:rPr lang="ru-RU" sz="3100" dirty="0"/>
              <a:t> только в том случае, если значение Х </a:t>
            </a:r>
            <a:r>
              <a:rPr lang="ru-RU" sz="31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сохранено атомарным способом:</a:t>
            </a:r>
            <a:r>
              <a:rPr lang="ru-RU" sz="31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</a:t>
            </a:r>
            <a:r>
              <a:rPr lang="ru-RU" sz="3100" dirty="0"/>
              <a:t>либо на диск </a:t>
            </a:r>
            <a:r>
              <a:rPr lang="ru-RU" sz="3100" b="1" dirty="0"/>
              <a:t>записаны все блоки </a:t>
            </a:r>
            <a:r>
              <a:rPr lang="ru-RU" sz="3100" dirty="0"/>
              <a:t>Х, либо </a:t>
            </a:r>
            <a:r>
              <a:rPr lang="ru-RU" sz="3100" b="1" dirty="0"/>
              <a:t>не записан ни один</a:t>
            </a:r>
            <a:r>
              <a:rPr lang="ru-RU" sz="3100" dirty="0"/>
              <a:t>.</a:t>
            </a:r>
          </a:p>
          <a:p>
            <a:pPr>
              <a:lnSpc>
                <a:spcPct val="120000"/>
              </a:lnSpc>
            </a:pPr>
            <a:r>
              <a:rPr lang="ru-RU" sz="3100" dirty="0"/>
              <a:t>Будем считать, что размер элемента данных не превосходит ОДНОГО блока</a:t>
            </a:r>
          </a:p>
          <a:p>
            <a:pPr>
              <a:lnSpc>
                <a:spcPct val="120000"/>
              </a:lnSpc>
            </a:pPr>
            <a:r>
              <a:rPr lang="ru-RU" sz="3100" dirty="0"/>
              <a:t>Команды активизируются </a:t>
            </a:r>
            <a:r>
              <a:rPr lang="ru-RU" sz="3100" b="1" dirty="0"/>
              <a:t>различными подсистемами </a:t>
            </a:r>
            <a:r>
              <a:rPr lang="ru-RU" sz="3100" dirty="0"/>
              <a:t>СУБД: </a:t>
            </a:r>
          </a:p>
          <a:p>
            <a:pPr lvl="1">
              <a:lnSpc>
                <a:spcPct val="120000"/>
              </a:lnSpc>
              <a:buClr>
                <a:schemeClr val="bg2"/>
              </a:buClr>
              <a:buFont typeface="Wingdings" panose="05000000000000000000" pitchFamily="2" charset="2"/>
              <a:buChar char="v"/>
            </a:pPr>
            <a:r>
              <a:rPr lang="en-US" dirty="0"/>
              <a:t>READ</a:t>
            </a:r>
            <a:r>
              <a:rPr lang="ru-RU" dirty="0"/>
              <a:t>,</a:t>
            </a:r>
            <a:r>
              <a:rPr lang="en-US" dirty="0"/>
              <a:t> WRITE</a:t>
            </a:r>
            <a:r>
              <a:rPr lang="ru-RU" dirty="0"/>
              <a:t> в теле транзакции, </a:t>
            </a:r>
          </a:p>
          <a:p>
            <a:pPr lvl="1">
              <a:lnSpc>
                <a:spcPct val="120000"/>
              </a:lnSpc>
              <a:buClr>
                <a:schemeClr val="bg2"/>
              </a:buClr>
              <a:buFont typeface="Wingdings" panose="05000000000000000000" pitchFamily="2" charset="2"/>
              <a:buChar char="v"/>
            </a:pPr>
            <a:r>
              <a:rPr lang="en-US" dirty="0"/>
              <a:t>INPUT, OUTPUT – </a:t>
            </a:r>
            <a:r>
              <a:rPr lang="ru-RU" dirty="0"/>
              <a:t>менеджером буферов </a:t>
            </a:r>
          </a:p>
          <a:p>
            <a:pPr lvl="1">
              <a:lnSpc>
                <a:spcPct val="120000"/>
              </a:lnSpc>
              <a:buClr>
                <a:schemeClr val="bg2"/>
              </a:buClr>
              <a:buFont typeface="Wingdings" panose="05000000000000000000" pitchFamily="2" charset="2"/>
              <a:buChar char="v"/>
            </a:pPr>
            <a:r>
              <a:rPr lang="en-US" dirty="0"/>
              <a:t>OUTPUT </a:t>
            </a:r>
            <a:r>
              <a:rPr lang="ru-RU" dirty="0"/>
              <a:t>– менеджером  буферов, в отдельных случаях и менеджером протоколирования 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49F688F-E6B0-4FD2-A40D-BE0C1EDDAA0C}" type="slidenum">
              <a:rPr lang="ru-RU" smtClean="0"/>
              <a:pPr>
                <a:defRPr/>
              </a:pPr>
              <a:t>14</a:t>
            </a:fld>
            <a:endParaRPr lang="ru-RU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457200" y="201638"/>
            <a:ext cx="8229600" cy="668338"/>
          </a:xfrm>
        </p:spPr>
        <p:txBody>
          <a:bodyPr/>
          <a:lstStyle/>
          <a:p>
            <a:pPr algn="ctr"/>
            <a:r>
              <a:rPr lang="ru-RU" sz="3600" dirty="0">
                <a:solidFill>
                  <a:schemeClr val="bg2"/>
                </a:solidFill>
              </a:rPr>
              <a:t>Базовые операции транзакций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>
          <a:xfrm>
            <a:off x="8510946" y="6248400"/>
            <a:ext cx="386862" cy="442546"/>
          </a:xfrm>
        </p:spPr>
        <p:txBody>
          <a:bodyPr/>
          <a:lstStyle/>
          <a:p>
            <a:pPr>
              <a:defRPr/>
            </a:pPr>
            <a:fld id="{149F688F-E6B0-4FD2-A40D-BE0C1EDDAA0C}" type="slidenum">
              <a:rPr lang="ru-RU" smtClean="0"/>
              <a:pPr>
                <a:defRPr/>
              </a:pPr>
              <a:t>15</a:t>
            </a:fld>
            <a:endParaRPr lang="ru-RU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1687489" y="-31740"/>
            <a:ext cx="5729287" cy="626828"/>
          </a:xfrm>
        </p:spPr>
        <p:txBody>
          <a:bodyPr/>
          <a:lstStyle/>
          <a:p>
            <a:pPr algn="ctr"/>
            <a:r>
              <a:rPr lang="ru-RU" sz="2800" dirty="0">
                <a:solidFill>
                  <a:schemeClr val="bg2"/>
                </a:solidFill>
              </a:rPr>
              <a:t>Пример</a:t>
            </a:r>
            <a:endParaRPr lang="ru-RU" sz="2800" dirty="0"/>
          </a:p>
        </p:txBody>
      </p:sp>
      <p:sp>
        <p:nvSpPr>
          <p:cNvPr id="8" name="Содержимое 2"/>
          <p:cNvSpPr>
            <a:spLocks noGrp="1"/>
          </p:cNvSpPr>
          <p:nvPr>
            <p:ph idx="1"/>
          </p:nvPr>
        </p:nvSpPr>
        <p:spPr>
          <a:xfrm>
            <a:off x="0" y="551550"/>
            <a:ext cx="9336505" cy="2121312"/>
          </a:xfrm>
        </p:spPr>
        <p:txBody>
          <a:bodyPr>
            <a:normAutofit fontScale="47500" lnSpcReduction="20000"/>
          </a:bodyPr>
          <a:lstStyle/>
          <a:p>
            <a:pPr>
              <a:lnSpc>
                <a:spcPct val="120000"/>
              </a:lnSpc>
            </a:pPr>
            <a:r>
              <a:rPr lang="ru-RU" dirty="0"/>
              <a:t>Пусть транзакция Т состоит из следующих операций:</a:t>
            </a:r>
          </a:p>
          <a:p>
            <a:pPr lvl="1">
              <a:lnSpc>
                <a:spcPct val="120000"/>
              </a:lnSpc>
              <a:buClr>
                <a:schemeClr val="bg2"/>
              </a:buClr>
              <a:buFont typeface="Wingdings" panose="05000000000000000000" pitchFamily="2" charset="2"/>
              <a:buChar char="v"/>
            </a:pPr>
            <a:r>
              <a:rPr lang="ru-RU" dirty="0"/>
              <a:t>А := А * 2;</a:t>
            </a:r>
          </a:p>
          <a:p>
            <a:pPr lvl="1">
              <a:lnSpc>
                <a:spcPct val="120000"/>
              </a:lnSpc>
              <a:buClr>
                <a:schemeClr val="bg2"/>
              </a:buClr>
              <a:buFont typeface="Wingdings" panose="05000000000000000000" pitchFamily="2" charset="2"/>
              <a:buChar char="v"/>
            </a:pPr>
            <a:r>
              <a:rPr lang="ru-RU" dirty="0"/>
              <a:t>В := В * 2;</a:t>
            </a:r>
          </a:p>
          <a:p>
            <a:pPr>
              <a:lnSpc>
                <a:spcPct val="120000"/>
              </a:lnSpc>
            </a:pPr>
            <a:r>
              <a:rPr lang="ru-RU" dirty="0"/>
              <a:t>Транзакцию можно представить в виде последовательности базовых операций:</a:t>
            </a:r>
          </a:p>
          <a:p>
            <a:pPr lvl="1">
              <a:lnSpc>
                <a:spcPct val="120000"/>
              </a:lnSpc>
              <a:buClr>
                <a:schemeClr val="bg2"/>
              </a:buClr>
              <a:buFont typeface="Wingdings" panose="05000000000000000000" pitchFamily="2" charset="2"/>
              <a:buChar char="v"/>
            </a:pPr>
            <a:r>
              <a:rPr lang="en-US" sz="2900" dirty="0"/>
              <a:t>INPUT(A); INPUT(B);</a:t>
            </a:r>
          </a:p>
          <a:p>
            <a:pPr lvl="1">
              <a:lnSpc>
                <a:spcPct val="120000"/>
              </a:lnSpc>
              <a:buClr>
                <a:schemeClr val="bg2"/>
              </a:buClr>
              <a:buFont typeface="Wingdings" panose="05000000000000000000" pitchFamily="2" charset="2"/>
              <a:buChar char="v"/>
            </a:pPr>
            <a:r>
              <a:rPr lang="en-US" sz="2900" dirty="0"/>
              <a:t>READ(</a:t>
            </a:r>
            <a:r>
              <a:rPr lang="ru-RU" sz="2900" dirty="0"/>
              <a:t> А</a:t>
            </a:r>
            <a:r>
              <a:rPr lang="en-US" sz="2900" dirty="0"/>
              <a:t>,</a:t>
            </a:r>
            <a:r>
              <a:rPr lang="ru-RU" sz="2900" dirty="0"/>
              <a:t> </a:t>
            </a:r>
            <a:r>
              <a:rPr lang="en-US" sz="2900" dirty="0"/>
              <a:t>t</a:t>
            </a:r>
            <a:r>
              <a:rPr lang="ru-RU" sz="2900" dirty="0"/>
              <a:t> </a:t>
            </a:r>
            <a:r>
              <a:rPr lang="en-US" sz="2900" dirty="0"/>
              <a:t>)</a:t>
            </a:r>
            <a:r>
              <a:rPr lang="ru-RU" sz="2900" dirty="0"/>
              <a:t>; </a:t>
            </a:r>
            <a:r>
              <a:rPr lang="en-US" sz="2900" dirty="0"/>
              <a:t>t</a:t>
            </a:r>
            <a:r>
              <a:rPr lang="ru-RU" sz="2900" dirty="0"/>
              <a:t> :=</a:t>
            </a:r>
            <a:r>
              <a:rPr lang="en-US" sz="2900" dirty="0"/>
              <a:t>t</a:t>
            </a:r>
            <a:r>
              <a:rPr lang="ru-RU" sz="2900" dirty="0"/>
              <a:t> * 2; </a:t>
            </a:r>
            <a:r>
              <a:rPr lang="en-US" sz="2900" dirty="0"/>
              <a:t>WRITE</a:t>
            </a:r>
            <a:r>
              <a:rPr lang="ru-RU" sz="2900" dirty="0"/>
              <a:t> </a:t>
            </a:r>
            <a:r>
              <a:rPr lang="en-US" sz="2900" dirty="0"/>
              <a:t>(</a:t>
            </a:r>
            <a:r>
              <a:rPr lang="ru-RU" sz="2900" dirty="0"/>
              <a:t>А</a:t>
            </a:r>
            <a:r>
              <a:rPr lang="en-US" sz="2900" dirty="0"/>
              <a:t>,</a:t>
            </a:r>
            <a:r>
              <a:rPr lang="ru-RU" sz="2900" dirty="0"/>
              <a:t> </a:t>
            </a:r>
            <a:r>
              <a:rPr lang="en-US" sz="2900" dirty="0"/>
              <a:t>t</a:t>
            </a:r>
            <a:r>
              <a:rPr lang="ru-RU" sz="2900" dirty="0"/>
              <a:t> </a:t>
            </a:r>
            <a:r>
              <a:rPr lang="en-US" sz="2900" dirty="0"/>
              <a:t>)</a:t>
            </a:r>
            <a:r>
              <a:rPr lang="ru-RU" sz="2900" dirty="0"/>
              <a:t>;</a:t>
            </a:r>
          </a:p>
          <a:p>
            <a:pPr lvl="1">
              <a:lnSpc>
                <a:spcPct val="120000"/>
              </a:lnSpc>
              <a:buClr>
                <a:schemeClr val="bg2"/>
              </a:buClr>
              <a:buFont typeface="Wingdings" panose="05000000000000000000" pitchFamily="2" charset="2"/>
              <a:buChar char="v"/>
            </a:pPr>
            <a:r>
              <a:rPr lang="en-US" sz="2900" dirty="0"/>
              <a:t>READ(</a:t>
            </a:r>
            <a:r>
              <a:rPr lang="ru-RU" sz="2900" dirty="0"/>
              <a:t> В</a:t>
            </a:r>
            <a:r>
              <a:rPr lang="en-US" sz="2900" dirty="0"/>
              <a:t>,</a:t>
            </a:r>
            <a:r>
              <a:rPr lang="ru-RU" sz="2900" dirty="0"/>
              <a:t> </a:t>
            </a:r>
            <a:r>
              <a:rPr lang="en-US" sz="2900" dirty="0"/>
              <a:t>t</a:t>
            </a:r>
            <a:r>
              <a:rPr lang="ru-RU" sz="2900" dirty="0"/>
              <a:t> </a:t>
            </a:r>
            <a:r>
              <a:rPr lang="en-US" sz="2900" dirty="0"/>
              <a:t>)</a:t>
            </a:r>
            <a:r>
              <a:rPr lang="ru-RU" sz="2900" dirty="0"/>
              <a:t>; </a:t>
            </a:r>
            <a:r>
              <a:rPr lang="en-US" sz="2900" dirty="0"/>
              <a:t>t</a:t>
            </a:r>
            <a:r>
              <a:rPr lang="ru-RU" sz="2900" dirty="0"/>
              <a:t> :=</a:t>
            </a:r>
            <a:r>
              <a:rPr lang="en-US" sz="2900" dirty="0"/>
              <a:t>t</a:t>
            </a:r>
            <a:r>
              <a:rPr lang="ru-RU" sz="2900" dirty="0"/>
              <a:t> * 2; </a:t>
            </a:r>
            <a:r>
              <a:rPr lang="en-US" sz="2900" dirty="0"/>
              <a:t>WRITE</a:t>
            </a:r>
            <a:r>
              <a:rPr lang="ru-RU" sz="2900" dirty="0"/>
              <a:t> </a:t>
            </a:r>
            <a:r>
              <a:rPr lang="en-US" sz="2900" dirty="0"/>
              <a:t>(</a:t>
            </a:r>
            <a:r>
              <a:rPr lang="ru-RU" sz="2900" dirty="0"/>
              <a:t>В</a:t>
            </a:r>
            <a:r>
              <a:rPr lang="en-US" sz="2900" dirty="0"/>
              <a:t>,</a:t>
            </a:r>
            <a:r>
              <a:rPr lang="ru-RU" sz="2900" dirty="0"/>
              <a:t> </a:t>
            </a:r>
            <a:r>
              <a:rPr lang="en-US" sz="2900" dirty="0"/>
              <a:t>t</a:t>
            </a:r>
            <a:r>
              <a:rPr lang="ru-RU" sz="2900" dirty="0"/>
              <a:t> </a:t>
            </a:r>
            <a:r>
              <a:rPr lang="en-US" sz="2900" dirty="0"/>
              <a:t>)</a:t>
            </a:r>
            <a:r>
              <a:rPr lang="ru-RU" sz="2900" dirty="0"/>
              <a:t>;</a:t>
            </a:r>
          </a:p>
          <a:p>
            <a:pPr>
              <a:lnSpc>
                <a:spcPct val="120000"/>
              </a:lnSpc>
            </a:pPr>
            <a:r>
              <a:rPr lang="ru-RU" dirty="0"/>
              <a:t>Менеджер буферов должен  в нужный момент выполнить </a:t>
            </a:r>
            <a:r>
              <a:rPr lang="en-US" dirty="0"/>
              <a:t>OUTPUT(A), OUTPUT(B)</a:t>
            </a:r>
            <a:endParaRPr lang="ru-RU" dirty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2213102"/>
              </p:ext>
            </p:extLst>
          </p:nvPr>
        </p:nvGraphicFramePr>
        <p:xfrm>
          <a:off x="395663" y="2708038"/>
          <a:ext cx="8105253" cy="40544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90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64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87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80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51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078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8587">
                <a:tc>
                  <a:txBody>
                    <a:bodyPr/>
                    <a:lstStyle/>
                    <a:p>
                      <a:r>
                        <a:rPr lang="ru-RU" sz="1600" b="1" dirty="0"/>
                        <a:t>Операция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1" dirty="0"/>
                        <a:t>t</a:t>
                      </a:r>
                      <a:r>
                        <a:rPr lang="ru-RU" sz="1600" b="1" i="1" dirty="0"/>
                        <a:t> </a:t>
                      </a:r>
                      <a:r>
                        <a:rPr lang="ru-RU" sz="1600" b="0" i="0" dirty="0"/>
                        <a:t>в</a:t>
                      </a:r>
                      <a:r>
                        <a:rPr lang="ru-RU" sz="1600" b="0" i="0" baseline="0" dirty="0"/>
                        <a:t> памяти Т</a:t>
                      </a:r>
                      <a:endParaRPr lang="ru-RU" sz="1600" b="0" i="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i="1" dirty="0"/>
                        <a:t>А</a:t>
                      </a:r>
                      <a:r>
                        <a:rPr lang="ru-RU" sz="1600" b="1" dirty="0"/>
                        <a:t> в буфере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1" i="1" dirty="0"/>
                        <a:t>В</a:t>
                      </a:r>
                      <a:r>
                        <a:rPr lang="ru-RU" sz="1600" b="1" dirty="0"/>
                        <a:t> </a:t>
                      </a:r>
                      <a:r>
                        <a:rPr lang="ru-RU" sz="1600" b="1" dirty="0" err="1"/>
                        <a:t>в</a:t>
                      </a:r>
                      <a:r>
                        <a:rPr lang="ru-RU" sz="1600" b="1" dirty="0"/>
                        <a:t> буфере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i="1" dirty="0"/>
                        <a:t>А</a:t>
                      </a:r>
                      <a:r>
                        <a:rPr lang="ru-RU" sz="1600" b="1" dirty="0"/>
                        <a:t> на диске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i="1" dirty="0"/>
                        <a:t>В</a:t>
                      </a:r>
                      <a:r>
                        <a:rPr lang="ru-RU" sz="1600" b="1" dirty="0"/>
                        <a:t> на диске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587">
                <a:tc>
                  <a:txBody>
                    <a:bodyPr/>
                    <a:lstStyle/>
                    <a:p>
                      <a:r>
                        <a:rPr lang="en-US" sz="1800" b="1" dirty="0"/>
                        <a:t>INPUT(A)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  <a:endParaRPr lang="ru-RU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587">
                <a:tc>
                  <a:txBody>
                    <a:bodyPr/>
                    <a:lstStyle/>
                    <a:p>
                      <a:r>
                        <a:rPr lang="en-US" sz="1800" b="1" dirty="0"/>
                        <a:t>INPUT(B)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8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/>
                        <a:t>5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  <a:endParaRPr lang="ru-RU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587">
                <a:tc>
                  <a:txBody>
                    <a:bodyPr/>
                    <a:lstStyle/>
                    <a:p>
                      <a:r>
                        <a:rPr lang="en-US" sz="1800" b="1"/>
                        <a:t>READ(</a:t>
                      </a:r>
                      <a:r>
                        <a:rPr lang="ru-RU" sz="1800" b="1"/>
                        <a:t> А</a:t>
                      </a:r>
                      <a:r>
                        <a:rPr lang="en-US" sz="1800" b="1"/>
                        <a:t>,</a:t>
                      </a:r>
                      <a:r>
                        <a:rPr lang="ru-RU" sz="1800" b="1"/>
                        <a:t> </a:t>
                      </a:r>
                      <a:r>
                        <a:rPr lang="en-US" sz="1800" b="1"/>
                        <a:t>t</a:t>
                      </a:r>
                      <a:r>
                        <a:rPr lang="ru-RU" sz="1800" b="1"/>
                        <a:t> </a:t>
                      </a:r>
                      <a:r>
                        <a:rPr lang="en-US" sz="1800" b="1"/>
                        <a:t>)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/>
                        <a:t>5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  <a:endParaRPr lang="ru-RU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587">
                <a:tc>
                  <a:txBody>
                    <a:bodyPr/>
                    <a:lstStyle/>
                    <a:p>
                      <a:r>
                        <a:rPr lang="en-US" sz="1800" b="1" dirty="0"/>
                        <a:t>t</a:t>
                      </a:r>
                      <a:r>
                        <a:rPr lang="ru-RU" sz="1800" b="1" dirty="0"/>
                        <a:t> :=</a:t>
                      </a:r>
                      <a:r>
                        <a:rPr lang="en-US" sz="1800" b="1" dirty="0"/>
                        <a:t> t</a:t>
                      </a:r>
                      <a:r>
                        <a:rPr lang="en-US" sz="1800" b="1" baseline="0" dirty="0"/>
                        <a:t> * </a:t>
                      </a:r>
                      <a:r>
                        <a:rPr lang="ru-RU" sz="1800" b="1" dirty="0"/>
                        <a:t>2; 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/>
                        <a:t>5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  <a:endParaRPr lang="ru-RU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8587">
                <a:tc>
                  <a:txBody>
                    <a:bodyPr/>
                    <a:lstStyle/>
                    <a:p>
                      <a:r>
                        <a:rPr lang="en-US" sz="1800" b="1" dirty="0"/>
                        <a:t>WRITE</a:t>
                      </a:r>
                      <a:r>
                        <a:rPr lang="ru-RU" sz="1800" b="1" dirty="0"/>
                        <a:t> </a:t>
                      </a:r>
                      <a:r>
                        <a:rPr lang="en-US" sz="1800" b="1" dirty="0"/>
                        <a:t>(</a:t>
                      </a:r>
                      <a:r>
                        <a:rPr lang="ru-RU" sz="1800" b="1" dirty="0"/>
                        <a:t>А</a:t>
                      </a:r>
                      <a:r>
                        <a:rPr lang="en-US" sz="1800" b="1" dirty="0"/>
                        <a:t>,</a:t>
                      </a:r>
                      <a:r>
                        <a:rPr lang="ru-RU" sz="1800" b="1" dirty="0"/>
                        <a:t> </a:t>
                      </a:r>
                      <a:r>
                        <a:rPr lang="en-US" sz="1800" b="1" dirty="0"/>
                        <a:t>t</a:t>
                      </a:r>
                      <a:r>
                        <a:rPr lang="ru-RU" sz="1800" b="1" dirty="0"/>
                        <a:t> </a:t>
                      </a:r>
                      <a:r>
                        <a:rPr lang="en-US" sz="1800" b="1" dirty="0"/>
                        <a:t>)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/>
                        <a:t>5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  <a:endParaRPr lang="ru-RU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8587">
                <a:tc>
                  <a:txBody>
                    <a:bodyPr/>
                    <a:lstStyle/>
                    <a:p>
                      <a:r>
                        <a:rPr lang="en-US" sz="1800" b="1" dirty="0"/>
                        <a:t>READ(</a:t>
                      </a:r>
                      <a:r>
                        <a:rPr lang="ru-RU" sz="1800" b="1" dirty="0"/>
                        <a:t> </a:t>
                      </a:r>
                      <a:r>
                        <a:rPr lang="en-US" sz="1800" b="1" dirty="0"/>
                        <a:t>B,</a:t>
                      </a:r>
                      <a:r>
                        <a:rPr lang="ru-RU" sz="1800" b="1" dirty="0"/>
                        <a:t> </a:t>
                      </a:r>
                      <a:r>
                        <a:rPr lang="en-US" sz="1800" b="1" dirty="0"/>
                        <a:t>t</a:t>
                      </a:r>
                      <a:r>
                        <a:rPr lang="ru-RU" sz="1800" b="1" dirty="0"/>
                        <a:t> </a:t>
                      </a:r>
                      <a:r>
                        <a:rPr lang="en-US" sz="1800" b="1" dirty="0"/>
                        <a:t>)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/>
                        <a:t>10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/>
                        <a:t>5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  <a:endParaRPr lang="ru-RU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8587">
                <a:tc>
                  <a:txBody>
                    <a:bodyPr/>
                    <a:lstStyle/>
                    <a:p>
                      <a:r>
                        <a:rPr lang="en-US" sz="1800" b="1" dirty="0"/>
                        <a:t>t</a:t>
                      </a:r>
                      <a:r>
                        <a:rPr lang="ru-RU" sz="1800" b="1" dirty="0"/>
                        <a:t> :=</a:t>
                      </a:r>
                      <a:r>
                        <a:rPr lang="en-US" sz="1800" b="1" dirty="0"/>
                        <a:t> t</a:t>
                      </a:r>
                      <a:r>
                        <a:rPr lang="en-US" sz="1800" b="1" baseline="0" dirty="0"/>
                        <a:t> * </a:t>
                      </a:r>
                      <a:r>
                        <a:rPr lang="ru-RU" sz="1800" b="1" dirty="0"/>
                        <a:t>2; 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16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/>
                        <a:t>10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/>
                        <a:t>5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  <a:endParaRPr lang="ru-RU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8587">
                <a:tc>
                  <a:txBody>
                    <a:bodyPr/>
                    <a:lstStyle/>
                    <a:p>
                      <a:r>
                        <a:rPr lang="en-US" sz="1800" b="1" dirty="0"/>
                        <a:t>WRITE</a:t>
                      </a:r>
                      <a:r>
                        <a:rPr lang="ru-RU" sz="1800" b="1" dirty="0"/>
                        <a:t> </a:t>
                      </a:r>
                      <a:r>
                        <a:rPr lang="en-US" sz="1800" b="1" dirty="0"/>
                        <a:t>(B,</a:t>
                      </a:r>
                      <a:r>
                        <a:rPr lang="ru-RU" sz="1800" b="1" dirty="0"/>
                        <a:t> </a:t>
                      </a:r>
                      <a:r>
                        <a:rPr lang="en-US" sz="1800" b="1" dirty="0"/>
                        <a:t>t</a:t>
                      </a:r>
                      <a:r>
                        <a:rPr lang="ru-RU" sz="1800" b="1" dirty="0"/>
                        <a:t> </a:t>
                      </a:r>
                      <a:r>
                        <a:rPr lang="en-US" sz="1800" b="1" dirty="0"/>
                        <a:t>)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16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/>
                        <a:t>10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16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  <a:endParaRPr lang="ru-RU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8587">
                <a:tc>
                  <a:txBody>
                    <a:bodyPr/>
                    <a:lstStyle/>
                    <a:p>
                      <a:r>
                        <a:rPr lang="en-US" b="1" dirty="0"/>
                        <a:t>OUTPUT (</a:t>
                      </a:r>
                      <a:r>
                        <a:rPr lang="en-US" b="1" baseline="0" dirty="0"/>
                        <a:t> </a:t>
                      </a:r>
                      <a:r>
                        <a:rPr lang="en-US" b="1" dirty="0"/>
                        <a:t>A )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16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/>
                        <a:t>10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16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  <a:endParaRPr lang="ru-RU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858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OUTPUT ( B )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16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16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16</a:t>
                      </a:r>
                      <a:endParaRPr lang="ru-RU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49F688F-E6B0-4FD2-A40D-BE0C1EDDAA0C}" type="slidenum">
              <a:rPr lang="ru-RU" smtClean="0"/>
              <a:pPr>
                <a:defRPr/>
              </a:pPr>
              <a:t>16</a:t>
            </a:fld>
            <a:endParaRPr lang="ru-RU" dirty="0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468313" y="287568"/>
            <a:ext cx="8229600" cy="668338"/>
          </a:xfrm>
        </p:spPr>
        <p:txBody>
          <a:bodyPr/>
          <a:lstStyle/>
          <a:p>
            <a:pPr algn="ctr"/>
            <a:r>
              <a:rPr lang="ru-RU" sz="3600" dirty="0">
                <a:solidFill>
                  <a:schemeClr val="bg2"/>
                </a:solidFill>
              </a:rPr>
              <a:t>Протоколирование в режиме </a:t>
            </a:r>
            <a:r>
              <a:rPr lang="en-US" sz="3600" dirty="0">
                <a:solidFill>
                  <a:schemeClr val="bg2"/>
                </a:solidFill>
              </a:rPr>
              <a:t>“UNDO”</a:t>
            </a:r>
            <a:endParaRPr lang="ru-RU" sz="3600" dirty="0"/>
          </a:p>
        </p:txBody>
      </p:sp>
      <p:sp>
        <p:nvSpPr>
          <p:cNvPr id="8" name="Содержимое 2"/>
          <p:cNvSpPr>
            <a:spLocks noGrp="1"/>
          </p:cNvSpPr>
          <p:nvPr>
            <p:ph idx="1"/>
          </p:nvPr>
        </p:nvSpPr>
        <p:spPr>
          <a:xfrm>
            <a:off x="0" y="1065874"/>
            <a:ext cx="9144000" cy="5625211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ru-RU" dirty="0"/>
              <a:t>Протокол или </a:t>
            </a:r>
            <a:r>
              <a:rPr lang="ru-RU" dirty="0">
                <a:solidFill>
                  <a:srgbClr val="FF0000"/>
                </a:solidFill>
              </a:rPr>
              <a:t>журнал транзакций</a:t>
            </a:r>
            <a:r>
              <a:rPr lang="ru-RU" dirty="0"/>
              <a:t> (</a:t>
            </a:r>
            <a:r>
              <a:rPr lang="en-US" dirty="0"/>
              <a:t>log)</a:t>
            </a:r>
            <a:r>
              <a:rPr lang="ru-RU" dirty="0"/>
              <a:t> – файл, </a:t>
            </a:r>
            <a:r>
              <a:rPr lang="ru-RU" dirty="0">
                <a:solidFill>
                  <a:srgbClr val="FF0000"/>
                </a:solidFill>
              </a:rPr>
              <a:t>открытый только для пополнения</a:t>
            </a:r>
          </a:p>
          <a:p>
            <a:pPr>
              <a:lnSpc>
                <a:spcPct val="120000"/>
              </a:lnSpc>
            </a:pPr>
            <a:r>
              <a:rPr lang="ru-RU" dirty="0"/>
              <a:t>Менеджер протоколирования сохраняет в журнале информацию о каждом событии при исполнении транзакций</a:t>
            </a:r>
          </a:p>
          <a:p>
            <a:pPr>
              <a:lnSpc>
                <a:spcPct val="120000"/>
              </a:lnSpc>
            </a:pPr>
            <a:r>
              <a:rPr lang="ru-RU" dirty="0"/>
              <a:t>Блок протокола сначала создается в ОП и обрабатывается менеджером буферов, как и все другие блоки. Сохранение происходит в наиболее «подходящие» моменты времени.</a:t>
            </a:r>
          </a:p>
          <a:p>
            <a:pPr>
              <a:lnSpc>
                <a:spcPct val="120000"/>
              </a:lnSpc>
            </a:pPr>
            <a:r>
              <a:rPr lang="ru-RU" dirty="0"/>
              <a:t>Записи протокола: </a:t>
            </a:r>
          </a:p>
          <a:p>
            <a:pPr marL="434250" lvl="1" indent="0">
              <a:lnSpc>
                <a:spcPct val="120000"/>
              </a:lnSpc>
              <a:spcBef>
                <a:spcPts val="500"/>
              </a:spcBef>
              <a:buClr>
                <a:schemeClr val="bg2"/>
              </a:buClr>
              <a:buNone/>
            </a:pPr>
            <a:r>
              <a:rPr lang="en-US" dirty="0"/>
              <a:t>&lt;</a:t>
            </a:r>
            <a:r>
              <a:rPr lang="en-US" sz="2600" dirty="0"/>
              <a:t>START </a:t>
            </a:r>
            <a:r>
              <a:rPr lang="en-US" b="1" dirty="0"/>
              <a:t>T</a:t>
            </a:r>
            <a:r>
              <a:rPr lang="en-US" dirty="0"/>
              <a:t>&gt; – </a:t>
            </a:r>
            <a:r>
              <a:rPr lang="ru-RU" dirty="0"/>
              <a:t>выполнение транзакции Т </a:t>
            </a:r>
            <a:r>
              <a:rPr lang="ru-RU" b="1" dirty="0"/>
              <a:t>начато</a:t>
            </a:r>
            <a:endParaRPr lang="en-US" b="1" dirty="0"/>
          </a:p>
          <a:p>
            <a:pPr marL="434250" lvl="1" indent="0">
              <a:lnSpc>
                <a:spcPct val="120000"/>
              </a:lnSpc>
              <a:spcBef>
                <a:spcPts val="500"/>
              </a:spcBef>
              <a:buClr>
                <a:schemeClr val="bg2"/>
              </a:buClr>
              <a:buNone/>
            </a:pPr>
            <a:r>
              <a:rPr lang="en-US" dirty="0"/>
              <a:t>&lt;</a:t>
            </a:r>
            <a:r>
              <a:rPr lang="en-US" sz="2600" dirty="0"/>
              <a:t>COMMIT</a:t>
            </a:r>
            <a:r>
              <a:rPr lang="en-US" dirty="0"/>
              <a:t> </a:t>
            </a:r>
            <a:r>
              <a:rPr lang="en-US" b="1" dirty="0"/>
              <a:t>T</a:t>
            </a:r>
            <a:r>
              <a:rPr lang="en-US" dirty="0"/>
              <a:t>&gt;</a:t>
            </a:r>
            <a:r>
              <a:rPr lang="ru-RU" dirty="0"/>
              <a:t> </a:t>
            </a:r>
            <a:r>
              <a:rPr lang="en-US" dirty="0"/>
              <a:t>–</a:t>
            </a:r>
            <a:r>
              <a:rPr lang="ru-RU" dirty="0"/>
              <a:t> транзакция Т успешно </a:t>
            </a:r>
            <a:r>
              <a:rPr lang="ru-RU" b="1" dirty="0"/>
              <a:t>завершена</a:t>
            </a:r>
            <a:endParaRPr lang="en-US" b="1" dirty="0"/>
          </a:p>
          <a:p>
            <a:pPr marL="434250" lvl="1" indent="0">
              <a:lnSpc>
                <a:spcPct val="120000"/>
              </a:lnSpc>
              <a:spcBef>
                <a:spcPts val="500"/>
              </a:spcBef>
              <a:buClr>
                <a:schemeClr val="bg2"/>
              </a:buClr>
              <a:buNone/>
            </a:pPr>
            <a:r>
              <a:rPr lang="en-US" dirty="0"/>
              <a:t>&lt;</a:t>
            </a:r>
            <a:r>
              <a:rPr lang="en-US" sz="2600" dirty="0"/>
              <a:t>ABORT </a:t>
            </a:r>
            <a:r>
              <a:rPr lang="en-US" b="1" dirty="0"/>
              <a:t>T</a:t>
            </a:r>
            <a:r>
              <a:rPr lang="en-US" dirty="0"/>
              <a:t>&gt;  – </a:t>
            </a:r>
            <a:r>
              <a:rPr lang="ru-RU" dirty="0"/>
              <a:t>выполнение транзакции Т </a:t>
            </a:r>
            <a:r>
              <a:rPr lang="ru-RU" b="1" dirty="0"/>
              <a:t>преждевременно остановлено</a:t>
            </a:r>
          </a:p>
          <a:p>
            <a:pPr marL="491400" indent="-457200">
              <a:lnSpc>
                <a:spcPct val="120000"/>
              </a:lnSpc>
              <a:spcBef>
                <a:spcPts val="500"/>
              </a:spcBef>
              <a:buSzPct val="150000"/>
              <a:buFont typeface="Wingdings" panose="05000000000000000000" pitchFamily="2" charset="2"/>
              <a:buChar char="§"/>
            </a:pPr>
            <a:r>
              <a:rPr lang="ru-RU" dirty="0"/>
              <a:t>Записи обновления </a:t>
            </a:r>
            <a:r>
              <a:rPr lang="en-US" dirty="0"/>
              <a:t>&lt;</a:t>
            </a:r>
            <a:r>
              <a:rPr lang="en-US" b="1" dirty="0"/>
              <a:t>T</a:t>
            </a:r>
            <a:r>
              <a:rPr lang="en-US" dirty="0"/>
              <a:t>, </a:t>
            </a:r>
            <a:r>
              <a:rPr lang="en-US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X</a:t>
            </a:r>
            <a:r>
              <a:rPr lang="en-US" dirty="0"/>
              <a:t>, </a:t>
            </a:r>
            <a:r>
              <a:rPr lang="en-US" sz="3800" b="1" i="1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dirty="0"/>
              <a:t>&gt;</a:t>
            </a:r>
            <a:r>
              <a:rPr lang="ru-RU" dirty="0"/>
              <a:t>. </a:t>
            </a:r>
            <a:br>
              <a:rPr lang="ru-RU" dirty="0"/>
            </a:br>
            <a:r>
              <a:rPr lang="ru-RU" dirty="0"/>
              <a:t>Смысл – транзакция </a:t>
            </a:r>
            <a:r>
              <a:rPr lang="ru-RU" b="1" dirty="0"/>
              <a:t>Т</a:t>
            </a:r>
            <a:r>
              <a:rPr lang="ru-RU" dirty="0"/>
              <a:t> изменила </a:t>
            </a:r>
            <a:r>
              <a:rPr lang="ru-RU" b="1" dirty="0">
                <a:solidFill>
                  <a:srgbClr val="FF0000"/>
                </a:solidFill>
              </a:rPr>
              <a:t>прежнее</a:t>
            </a:r>
            <a:r>
              <a:rPr lang="ru-RU" dirty="0">
                <a:solidFill>
                  <a:srgbClr val="FF0000"/>
                </a:solidFill>
              </a:rPr>
              <a:t> </a:t>
            </a:r>
            <a:r>
              <a:rPr lang="ru-RU" b="1" dirty="0">
                <a:solidFill>
                  <a:srgbClr val="FF0000"/>
                </a:solidFill>
              </a:rPr>
              <a:t>значение</a:t>
            </a:r>
            <a:r>
              <a:rPr lang="ru-RU" dirty="0">
                <a:solidFill>
                  <a:srgbClr val="FF0000"/>
                </a:solidFill>
              </a:rPr>
              <a:t> </a:t>
            </a:r>
            <a:r>
              <a:rPr lang="en-US" sz="4600" b="1" i="1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dirty="0"/>
              <a:t> </a:t>
            </a:r>
            <a:r>
              <a:rPr lang="ru-RU" dirty="0"/>
              <a:t>элемента базы данных </a:t>
            </a:r>
            <a:r>
              <a:rPr lang="ru-RU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Х</a:t>
            </a:r>
          </a:p>
        </p:txBody>
      </p:sp>
    </p:spTree>
    <p:extLst>
      <p:ext uri="{BB962C8B-B14F-4D97-AF65-F5344CB8AC3E}">
        <p14:creationId xmlns:p14="http://schemas.microsoft.com/office/powerpoint/2010/main" val="4061184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49F688F-E6B0-4FD2-A40D-BE0C1EDDAA0C}" type="slidenum">
              <a:rPr lang="ru-RU" smtClean="0"/>
              <a:pPr>
                <a:defRPr/>
              </a:pPr>
              <a:t>17</a:t>
            </a:fld>
            <a:endParaRPr lang="ru-RU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457200" y="182341"/>
            <a:ext cx="8229600" cy="668338"/>
          </a:xfrm>
        </p:spPr>
        <p:txBody>
          <a:bodyPr>
            <a:normAutofit/>
          </a:bodyPr>
          <a:lstStyle/>
          <a:p>
            <a:pPr algn="ctr"/>
            <a:r>
              <a:rPr lang="ru-RU" sz="2800" dirty="0">
                <a:solidFill>
                  <a:schemeClr val="bg2"/>
                </a:solidFill>
              </a:rPr>
              <a:t>Правила протоколирования в режиме </a:t>
            </a:r>
            <a:r>
              <a:rPr lang="en-US" sz="2800" dirty="0">
                <a:solidFill>
                  <a:schemeClr val="bg2"/>
                </a:solidFill>
              </a:rPr>
              <a:t>“UNDO”</a:t>
            </a:r>
            <a:endParaRPr lang="ru-RU" sz="2800" dirty="0"/>
          </a:p>
        </p:txBody>
      </p:sp>
      <p:sp>
        <p:nvSpPr>
          <p:cNvPr id="8" name="Содержимое 2"/>
          <p:cNvSpPr>
            <a:spLocks noGrp="1"/>
          </p:cNvSpPr>
          <p:nvPr>
            <p:ph idx="1"/>
          </p:nvPr>
        </p:nvSpPr>
        <p:spPr>
          <a:xfrm>
            <a:off x="0" y="928912"/>
            <a:ext cx="9144000" cy="5776685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ru-RU" dirty="0"/>
              <a:t>Правила регламентируют деятельность менеджера буферов</a:t>
            </a:r>
          </a:p>
          <a:p>
            <a:pPr>
              <a:lnSpc>
                <a:spcPct val="120000"/>
              </a:lnSpc>
              <a:buNone/>
            </a:pPr>
            <a:r>
              <a:rPr lang="en-US" dirty="0">
                <a:solidFill>
                  <a:srgbClr val="C00000"/>
                </a:solidFill>
              </a:rPr>
              <a:t>U1: </a:t>
            </a:r>
            <a:r>
              <a:rPr lang="ru-RU" dirty="0"/>
              <a:t>Если транзакция </a:t>
            </a:r>
            <a:r>
              <a:rPr lang="en-US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T</a:t>
            </a:r>
            <a:r>
              <a:rPr lang="ru-RU" dirty="0"/>
              <a:t> модифицирует элемент базы данных - Х, запись обновления вида </a:t>
            </a:r>
            <a:r>
              <a:rPr lang="en-US" dirty="0"/>
              <a:t>&lt;</a:t>
            </a:r>
            <a:r>
              <a:rPr lang="en-US" sz="3400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3400" i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3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3400" i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3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dirty="0"/>
              <a:t>&gt; </a:t>
            </a:r>
            <a:r>
              <a:rPr lang="ru-RU" dirty="0"/>
              <a:t>должна быть занесена в протокол </a:t>
            </a:r>
            <a:r>
              <a:rPr lang="ru-RU" b="1" dirty="0"/>
              <a:t>до</a:t>
            </a:r>
            <a:r>
              <a:rPr lang="ru-RU" dirty="0"/>
              <a:t> </a:t>
            </a:r>
            <a:r>
              <a:rPr lang="ru-RU" b="1" dirty="0"/>
              <a:t>сохранения</a:t>
            </a:r>
            <a:r>
              <a:rPr lang="ru-RU" dirty="0"/>
              <a:t> нового значения элемента Х </a:t>
            </a:r>
            <a:r>
              <a:rPr lang="ru-RU" b="1" dirty="0"/>
              <a:t>на диске.</a:t>
            </a:r>
          </a:p>
          <a:p>
            <a:pPr>
              <a:lnSpc>
                <a:spcPct val="120000"/>
              </a:lnSpc>
              <a:buNone/>
            </a:pPr>
            <a:r>
              <a:rPr lang="en-US" dirty="0">
                <a:solidFill>
                  <a:srgbClr val="C00000"/>
                </a:solidFill>
              </a:rPr>
              <a:t>U2: </a:t>
            </a:r>
            <a:r>
              <a:rPr lang="ru-RU" dirty="0"/>
              <a:t>При фиксации результатов транзакции </a:t>
            </a:r>
            <a:r>
              <a:rPr lang="ru-RU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Т</a:t>
            </a:r>
            <a:r>
              <a:rPr lang="ru-RU" dirty="0"/>
              <a:t> запись </a:t>
            </a:r>
            <a:r>
              <a:rPr lang="en-US" dirty="0"/>
              <a:t>&lt;</a:t>
            </a:r>
            <a:r>
              <a:rPr lang="en-US" sz="2900" dirty="0">
                <a:solidFill>
                  <a:srgbClr val="C00000"/>
                </a:solidFill>
              </a:rPr>
              <a:t>COMMIT</a:t>
            </a:r>
            <a:r>
              <a:rPr lang="en-US" dirty="0"/>
              <a:t> </a:t>
            </a:r>
            <a:r>
              <a:rPr lang="en-US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T</a:t>
            </a:r>
            <a:r>
              <a:rPr lang="en-US" dirty="0"/>
              <a:t>&gt;</a:t>
            </a:r>
            <a:r>
              <a:rPr lang="ru-RU" dirty="0"/>
              <a:t> следует помещать в протокол </a:t>
            </a:r>
            <a:r>
              <a:rPr lang="ru-RU" b="1" u="sng" dirty="0"/>
              <a:t>только после </a:t>
            </a:r>
            <a:r>
              <a:rPr lang="ru-RU" dirty="0"/>
              <a:t>«</a:t>
            </a:r>
            <a:r>
              <a:rPr lang="ru-RU" b="1" dirty="0"/>
              <a:t>сбрасывания</a:t>
            </a:r>
            <a:r>
              <a:rPr lang="ru-RU" dirty="0"/>
              <a:t>» всех измененных значений элементов базы данных на диск.</a:t>
            </a:r>
            <a:r>
              <a:rPr lang="en-US" dirty="0"/>
              <a:t> </a:t>
            </a:r>
            <a:r>
              <a:rPr lang="ru-RU" dirty="0"/>
              <a:t>Интервал между дисковыми операциями сохранения данных и записи </a:t>
            </a:r>
            <a:r>
              <a:rPr lang="en-US" dirty="0"/>
              <a:t>&lt;COMMIT </a:t>
            </a:r>
            <a:r>
              <a:rPr lang="en-US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T</a:t>
            </a:r>
            <a:r>
              <a:rPr lang="en-US" dirty="0"/>
              <a:t>&gt;</a:t>
            </a:r>
            <a:r>
              <a:rPr lang="ru-RU" dirty="0"/>
              <a:t> должен быть настолько </a:t>
            </a:r>
            <a:r>
              <a:rPr lang="ru-RU" b="1" u="sng" dirty="0"/>
              <a:t>КОРОТКИМ </a:t>
            </a:r>
            <a:r>
              <a:rPr lang="ru-RU" dirty="0"/>
              <a:t>насколько это возможно.</a:t>
            </a:r>
          </a:p>
          <a:p>
            <a:pPr>
              <a:lnSpc>
                <a:spcPct val="120000"/>
              </a:lnSpc>
            </a:pPr>
            <a:r>
              <a:rPr lang="ru-RU" dirty="0"/>
              <a:t>Таким образом, информация, имеющая отношение к действиям в рамках одной транзакции должна </a:t>
            </a:r>
            <a:r>
              <a:rPr lang="ru-RU" b="1" dirty="0"/>
              <a:t>сохраняться на диске </a:t>
            </a:r>
            <a:r>
              <a:rPr lang="ru-RU" dirty="0"/>
              <a:t>в следующем порядке:</a:t>
            </a:r>
          </a:p>
          <a:p>
            <a:pPr lvl="1">
              <a:lnSpc>
                <a:spcPct val="120000"/>
              </a:lnSpc>
              <a:buClr>
                <a:schemeClr val="bg2"/>
              </a:buClr>
              <a:buFont typeface="Wingdings" panose="05000000000000000000" pitchFamily="2" charset="2"/>
              <a:buChar char="ü"/>
            </a:pPr>
            <a:r>
              <a:rPr lang="ru-RU" sz="2700" dirty="0"/>
              <a:t>Записи протокола, свидетельствующие об изменениях, внесенных в БД</a:t>
            </a:r>
          </a:p>
          <a:p>
            <a:pPr lvl="1">
              <a:lnSpc>
                <a:spcPct val="120000"/>
              </a:lnSpc>
              <a:buClr>
                <a:schemeClr val="bg2"/>
              </a:buClr>
              <a:buFont typeface="Wingdings" panose="05000000000000000000" pitchFamily="2" charset="2"/>
              <a:buChar char="ü"/>
            </a:pPr>
            <a:r>
              <a:rPr lang="ru-RU" sz="2700" dirty="0"/>
              <a:t>Новые значения элементов БД как таковых</a:t>
            </a:r>
          </a:p>
          <a:p>
            <a:pPr lvl="1">
              <a:lnSpc>
                <a:spcPct val="120000"/>
              </a:lnSpc>
              <a:buClr>
                <a:schemeClr val="bg2"/>
              </a:buClr>
              <a:buFont typeface="Wingdings" panose="05000000000000000000" pitchFamily="2" charset="2"/>
              <a:buChar char="ü"/>
            </a:pPr>
            <a:r>
              <a:rPr lang="ru-RU" sz="2700" dirty="0"/>
              <a:t>Запись  :</a:t>
            </a:r>
            <a:r>
              <a:rPr lang="en-US" sz="2700" dirty="0"/>
              <a:t> &lt;COMMIT </a:t>
            </a:r>
            <a:r>
              <a:rPr lang="en-US" sz="27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T</a:t>
            </a:r>
            <a:r>
              <a:rPr lang="en-US" sz="2700" dirty="0"/>
              <a:t>&gt;</a:t>
            </a:r>
            <a:r>
              <a:rPr lang="ru-RU" sz="2700" dirty="0"/>
              <a:t>  протокола</a:t>
            </a:r>
          </a:p>
          <a:p>
            <a:pPr lvl="1">
              <a:lnSpc>
                <a:spcPct val="120000"/>
              </a:lnSpc>
              <a:buClr>
                <a:schemeClr val="bg2"/>
              </a:buClr>
              <a:buFont typeface="Wingdings" panose="05000000000000000000" pitchFamily="2" charset="2"/>
              <a:buChar char="ü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61184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49F688F-E6B0-4FD2-A40D-BE0C1EDDAA0C}" type="slidenum">
              <a:rPr lang="ru-RU" smtClean="0"/>
              <a:pPr>
                <a:defRPr/>
              </a:pPr>
              <a:t>18</a:t>
            </a:fld>
            <a:endParaRPr lang="ru-RU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349135" y="117885"/>
            <a:ext cx="8495607" cy="626828"/>
          </a:xfrm>
        </p:spPr>
        <p:txBody>
          <a:bodyPr/>
          <a:lstStyle/>
          <a:p>
            <a:pPr algn="ctr"/>
            <a:r>
              <a:rPr lang="ru-RU" sz="2800" dirty="0">
                <a:solidFill>
                  <a:schemeClr val="bg2"/>
                </a:solidFill>
              </a:rPr>
              <a:t>Пример</a:t>
            </a:r>
            <a:r>
              <a:rPr lang="en-US" sz="2800" dirty="0">
                <a:solidFill>
                  <a:schemeClr val="bg2"/>
                </a:solidFill>
              </a:rPr>
              <a:t> </a:t>
            </a:r>
            <a:r>
              <a:rPr lang="ru-RU" sz="2800" dirty="0">
                <a:solidFill>
                  <a:schemeClr val="bg2"/>
                </a:solidFill>
              </a:rPr>
              <a:t>протоколирования в режиме </a:t>
            </a:r>
            <a:r>
              <a:rPr lang="en-US" sz="2800" dirty="0">
                <a:solidFill>
                  <a:schemeClr val="bg2"/>
                </a:solidFill>
              </a:rPr>
              <a:t>“UNDO </a:t>
            </a:r>
            <a:endParaRPr lang="ru-RU" sz="2800" dirty="0"/>
          </a:p>
        </p:txBody>
      </p:sp>
      <p:sp>
        <p:nvSpPr>
          <p:cNvPr id="8" name="Содержимое 2"/>
          <p:cNvSpPr>
            <a:spLocks noGrp="1"/>
          </p:cNvSpPr>
          <p:nvPr>
            <p:ph idx="1"/>
          </p:nvPr>
        </p:nvSpPr>
        <p:spPr>
          <a:xfrm>
            <a:off x="0" y="947651"/>
            <a:ext cx="9144000" cy="615142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endParaRPr lang="ru-RU" dirty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2213102"/>
              </p:ext>
            </p:extLst>
          </p:nvPr>
        </p:nvGraphicFramePr>
        <p:xfrm>
          <a:off x="424870" y="870384"/>
          <a:ext cx="8187116" cy="56053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6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62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08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71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6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15197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54207"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Шаг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Операция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1"/>
                        <a:t>t</a:t>
                      </a:r>
                      <a:r>
                        <a:rPr lang="en-US" sz="1600" b="1" i="1" baseline="0"/>
                        <a:t> </a:t>
                      </a:r>
                      <a:r>
                        <a:rPr lang="ru-RU" sz="1600" b="1" i="1"/>
                        <a:t>(Т)</a:t>
                      </a:r>
                      <a:endParaRPr lang="ru-RU" sz="1600" b="1" i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i="1" dirty="0"/>
                        <a:t>А-П</a:t>
                      </a:r>
                      <a:endParaRPr lang="ru-RU" sz="1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1" i="1" dirty="0"/>
                        <a:t>В-П</a:t>
                      </a:r>
                      <a:endParaRPr lang="ru-RU" sz="1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i="1" dirty="0"/>
                        <a:t>А-Д</a:t>
                      </a:r>
                      <a:endParaRPr lang="ru-RU" sz="1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i="1" dirty="0"/>
                        <a:t>В-Д</a:t>
                      </a:r>
                      <a:endParaRPr lang="ru-RU" sz="1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Протокол</a:t>
                      </a:r>
                      <a:r>
                        <a:rPr lang="en-US" sz="1600" b="1" dirty="0"/>
                        <a:t> (LOG)</a:t>
                      </a:r>
                      <a:endParaRPr lang="ru-RU" sz="1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073"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&lt; </a:t>
                      </a:r>
                      <a:r>
                        <a:rPr lang="en-US" sz="1800" b="1" cap="small" normalizeH="0" baseline="0" dirty="0"/>
                        <a:t>START</a:t>
                      </a:r>
                      <a:r>
                        <a:rPr lang="en-US" sz="1800" b="0" i="1" cap="small" normalizeH="0" baseline="0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 </a:t>
                      </a:r>
                      <a:r>
                        <a:rPr lang="en-US" sz="2000" b="1" i="1" dirty="0">
                          <a:solidFill>
                            <a:schemeClr val="tx1"/>
                          </a:solidFill>
                        </a:rPr>
                        <a:t>T</a:t>
                      </a:r>
                      <a:r>
                        <a:rPr lang="en-US" b="1" dirty="0"/>
                        <a:t> </a:t>
                      </a:r>
                      <a:r>
                        <a:rPr lang="en-US" b="1" i="1" dirty="0"/>
                        <a:t>&gt;</a:t>
                      </a:r>
                      <a:endParaRPr lang="ru-RU" b="1" i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073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INPUT (</a:t>
                      </a:r>
                      <a:r>
                        <a:rPr lang="en-US" b="1" baseline="0" dirty="0"/>
                        <a:t> </a:t>
                      </a:r>
                      <a:r>
                        <a:rPr lang="en-US" b="1" dirty="0"/>
                        <a:t>A )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i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073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INPUT ( B )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/>
                        <a:t>5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i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073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READ(</a:t>
                      </a:r>
                      <a:r>
                        <a:rPr lang="ru-RU" sz="1800" b="1" dirty="0"/>
                        <a:t> А</a:t>
                      </a:r>
                      <a:r>
                        <a:rPr lang="en-US" sz="1800" b="1" dirty="0"/>
                        <a:t>,</a:t>
                      </a:r>
                      <a:r>
                        <a:rPr lang="ru-RU" sz="1800" b="1" dirty="0"/>
                        <a:t> </a:t>
                      </a:r>
                      <a:r>
                        <a:rPr lang="en-US" sz="1800" b="1" dirty="0"/>
                        <a:t>t</a:t>
                      </a:r>
                      <a:r>
                        <a:rPr lang="ru-RU" sz="1800" b="1" dirty="0"/>
                        <a:t> </a:t>
                      </a:r>
                      <a:r>
                        <a:rPr lang="en-US" sz="1800" b="1" dirty="0"/>
                        <a:t>)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8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/>
                        <a:t>5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073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t</a:t>
                      </a:r>
                      <a:r>
                        <a:rPr lang="ru-RU" sz="1800" b="1" dirty="0"/>
                        <a:t> :=</a:t>
                      </a:r>
                      <a:r>
                        <a:rPr lang="en-US" sz="1800" b="1" dirty="0"/>
                        <a:t> t</a:t>
                      </a:r>
                      <a:r>
                        <a:rPr lang="en-US" sz="1800" b="1" baseline="0" dirty="0"/>
                        <a:t> * </a:t>
                      </a:r>
                      <a:r>
                        <a:rPr lang="ru-RU" sz="1800" b="1" dirty="0"/>
                        <a:t>2; 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r>
                        <a:rPr lang="ru-RU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/>
                        <a:t>5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073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6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WRITE</a:t>
                      </a:r>
                      <a:r>
                        <a:rPr lang="ru-RU" sz="1800" b="1" dirty="0"/>
                        <a:t> </a:t>
                      </a:r>
                      <a:r>
                        <a:rPr lang="en-US" sz="1800" b="1" dirty="0"/>
                        <a:t>(</a:t>
                      </a:r>
                      <a:r>
                        <a:rPr lang="ru-RU" sz="1800" b="1" dirty="0"/>
                        <a:t>А</a:t>
                      </a:r>
                      <a:r>
                        <a:rPr lang="en-US" sz="1800" b="1" dirty="0"/>
                        <a:t>,</a:t>
                      </a:r>
                      <a:r>
                        <a:rPr lang="ru-RU" sz="1800" b="1" dirty="0"/>
                        <a:t> </a:t>
                      </a:r>
                      <a:r>
                        <a:rPr lang="en-US" sz="1800" b="1" dirty="0"/>
                        <a:t>t</a:t>
                      </a:r>
                      <a:r>
                        <a:rPr lang="ru-RU" sz="1800" b="1" dirty="0"/>
                        <a:t> </a:t>
                      </a:r>
                      <a:r>
                        <a:rPr lang="en-US" sz="1800" b="1" dirty="0"/>
                        <a:t>)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r>
                        <a:rPr lang="ru-RU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r>
                        <a:rPr lang="ru-RU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8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/>
                        <a:t>5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&lt; T, A, </a:t>
                      </a:r>
                      <a:r>
                        <a:rPr lang="ru-RU" b="1" dirty="0"/>
                        <a:t>5</a:t>
                      </a:r>
                      <a:r>
                        <a:rPr lang="en-US" b="1" dirty="0"/>
                        <a:t> &gt;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1073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7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READ(</a:t>
                      </a:r>
                      <a:r>
                        <a:rPr lang="ru-RU" sz="1800" b="1" dirty="0"/>
                        <a:t> </a:t>
                      </a:r>
                      <a:r>
                        <a:rPr lang="en-US" sz="1800" b="1" dirty="0"/>
                        <a:t>B,</a:t>
                      </a:r>
                      <a:r>
                        <a:rPr lang="ru-RU" sz="1800" b="1" dirty="0"/>
                        <a:t> </a:t>
                      </a:r>
                      <a:r>
                        <a:rPr lang="en-US" sz="1800" b="1" dirty="0"/>
                        <a:t>t</a:t>
                      </a:r>
                      <a:r>
                        <a:rPr lang="ru-RU" sz="1800" b="1" dirty="0"/>
                        <a:t> </a:t>
                      </a:r>
                      <a:r>
                        <a:rPr lang="en-US" sz="1800" b="1" dirty="0"/>
                        <a:t>)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r>
                        <a:rPr lang="ru-RU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/>
                        <a:t>5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1073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t</a:t>
                      </a:r>
                      <a:r>
                        <a:rPr lang="ru-RU" sz="1800" b="1" dirty="0"/>
                        <a:t> :=</a:t>
                      </a:r>
                      <a:r>
                        <a:rPr lang="en-US" sz="1800" b="1" dirty="0"/>
                        <a:t> t</a:t>
                      </a:r>
                      <a:r>
                        <a:rPr lang="en-US" sz="1800" b="1" baseline="0" dirty="0"/>
                        <a:t> * </a:t>
                      </a:r>
                      <a:r>
                        <a:rPr lang="ru-RU" sz="1800" b="1" dirty="0"/>
                        <a:t>2; 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16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r>
                        <a:rPr lang="ru-RU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/>
                        <a:t>5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1073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9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WRITE</a:t>
                      </a:r>
                      <a:r>
                        <a:rPr lang="ru-RU" sz="1800" b="1" dirty="0"/>
                        <a:t> </a:t>
                      </a:r>
                      <a:r>
                        <a:rPr lang="en-US" sz="1800" b="1" dirty="0"/>
                        <a:t>(B,</a:t>
                      </a:r>
                      <a:r>
                        <a:rPr lang="ru-RU" sz="1800" b="1" dirty="0"/>
                        <a:t> </a:t>
                      </a:r>
                      <a:r>
                        <a:rPr lang="en-US" sz="1800" b="1" dirty="0"/>
                        <a:t>t</a:t>
                      </a:r>
                      <a:r>
                        <a:rPr lang="ru-RU" sz="1800" b="1" dirty="0"/>
                        <a:t> </a:t>
                      </a:r>
                      <a:r>
                        <a:rPr lang="en-US" sz="1800" b="1" dirty="0"/>
                        <a:t>)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16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r>
                        <a:rPr lang="ru-RU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16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&lt; T, B, 8 &gt;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107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10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FLUSH</a:t>
                      </a:r>
                      <a:r>
                        <a:rPr lang="en-US" b="1" baseline="0" dirty="0">
                          <a:solidFill>
                            <a:srgbClr val="FF0000"/>
                          </a:solidFill>
                        </a:rPr>
                        <a:t>   LOG</a:t>
                      </a:r>
                      <a:endParaRPr lang="ru-RU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107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11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OUTPUT (</a:t>
                      </a:r>
                      <a:r>
                        <a:rPr lang="en-US" b="1" baseline="0" dirty="0"/>
                        <a:t> </a:t>
                      </a:r>
                      <a:r>
                        <a:rPr lang="en-US" b="1" dirty="0"/>
                        <a:t>A )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16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r>
                        <a:rPr lang="ru-RU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16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107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12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OUTPUT ( B )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16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r>
                        <a:rPr lang="ru-RU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16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16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0199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13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/>
                        <a:t>&lt; </a:t>
                      </a:r>
                      <a:r>
                        <a:rPr lang="en-US" sz="1800" b="1" cap="small" normalizeH="0" baseline="0" dirty="0"/>
                        <a:t>COMMIT </a:t>
                      </a:r>
                      <a:r>
                        <a:rPr lang="en-US" sz="2000" b="1" i="1" dirty="0">
                          <a:solidFill>
                            <a:schemeClr val="tx1"/>
                          </a:solidFill>
                        </a:rPr>
                        <a:t>T</a:t>
                      </a:r>
                      <a:r>
                        <a:rPr lang="en-US" sz="1800" b="1" dirty="0"/>
                        <a:t> </a:t>
                      </a:r>
                      <a:r>
                        <a:rPr lang="en-US" sz="1800" b="1" i="1" dirty="0"/>
                        <a:t>&gt;</a:t>
                      </a:r>
                      <a:endParaRPr lang="ru-RU" sz="1800" b="1" i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107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14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FLUSH</a:t>
                      </a:r>
                      <a:r>
                        <a:rPr lang="en-US" b="1" baseline="0" dirty="0">
                          <a:solidFill>
                            <a:srgbClr val="FF0000"/>
                          </a:solidFill>
                        </a:rPr>
                        <a:t>   LOG</a:t>
                      </a:r>
                      <a:endParaRPr lang="ru-RU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49F688F-E6B0-4FD2-A40D-BE0C1EDDAA0C}" type="slidenum">
              <a:rPr lang="ru-RU" smtClean="0"/>
              <a:pPr>
                <a:defRPr/>
              </a:pPr>
              <a:t>19</a:t>
            </a:fld>
            <a:endParaRPr lang="ru-RU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130628" y="174168"/>
            <a:ext cx="9144000" cy="668338"/>
          </a:xfrm>
        </p:spPr>
        <p:txBody>
          <a:bodyPr>
            <a:noAutofit/>
          </a:bodyPr>
          <a:lstStyle/>
          <a:p>
            <a:pPr algn="ctr"/>
            <a:r>
              <a:rPr lang="ru-RU" sz="2800" dirty="0">
                <a:solidFill>
                  <a:srgbClr val="FF0000"/>
                </a:solidFill>
              </a:rPr>
              <a:t>Восстановление с применением </a:t>
            </a:r>
            <a:r>
              <a:rPr lang="ru-RU" sz="2800" dirty="0">
                <a:solidFill>
                  <a:schemeClr val="bg2"/>
                </a:solidFill>
              </a:rPr>
              <a:t>протокола </a:t>
            </a:r>
            <a:r>
              <a:rPr lang="en-US" sz="2800" dirty="0">
                <a:solidFill>
                  <a:schemeClr val="bg2"/>
                </a:solidFill>
              </a:rPr>
              <a:t>“UNDO”</a:t>
            </a:r>
            <a:endParaRPr lang="ru-RU" sz="2800" dirty="0"/>
          </a:p>
        </p:txBody>
      </p:sp>
      <p:sp>
        <p:nvSpPr>
          <p:cNvPr id="8" name="Содержимое 2"/>
          <p:cNvSpPr>
            <a:spLocks noGrp="1"/>
          </p:cNvSpPr>
          <p:nvPr>
            <p:ph idx="1"/>
          </p:nvPr>
        </p:nvSpPr>
        <p:spPr>
          <a:xfrm>
            <a:off x="76200" y="907137"/>
            <a:ext cx="9144000" cy="5580749"/>
          </a:xfrm>
        </p:spPr>
        <p:txBody>
          <a:bodyPr lIns="36000" tIns="36000" rIns="36000" bIns="36000"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ru-RU" dirty="0"/>
              <a:t>Задача </a:t>
            </a:r>
            <a:r>
              <a:rPr lang="ru-RU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менеджера восстановления </a:t>
            </a:r>
            <a:r>
              <a:rPr lang="ru-RU" dirty="0"/>
              <a:t>– распределить транзакции по 2-ум категориям: </a:t>
            </a:r>
          </a:p>
          <a:p>
            <a:pPr lvl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ru-RU" dirty="0"/>
              <a:t>зафиксированные (</a:t>
            </a:r>
            <a:r>
              <a:rPr lang="en-US" dirty="0"/>
              <a:t>committed)</a:t>
            </a:r>
            <a:endParaRPr lang="ru-RU" dirty="0"/>
          </a:p>
          <a:p>
            <a:pPr lvl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ru-RU" dirty="0"/>
              <a:t>не зафиксированные (</a:t>
            </a:r>
            <a:r>
              <a:rPr lang="en-US" dirty="0"/>
              <a:t>uncommitted)</a:t>
            </a:r>
            <a:r>
              <a:rPr lang="ru-RU" dirty="0"/>
              <a:t> 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ru-RU" dirty="0"/>
              <a:t>Если в журнале есть запись </a:t>
            </a:r>
            <a:r>
              <a:rPr lang="en-US" dirty="0"/>
              <a:t>&lt;</a:t>
            </a:r>
            <a:r>
              <a:rPr lang="en-US" sz="2800" dirty="0"/>
              <a:t>COMMIT</a:t>
            </a:r>
            <a:r>
              <a:rPr lang="en-US" dirty="0"/>
              <a:t> </a:t>
            </a:r>
            <a:r>
              <a:rPr lang="en-US" sz="3300" b="1" dirty="0"/>
              <a:t>T</a:t>
            </a:r>
            <a:r>
              <a:rPr lang="en-US" dirty="0"/>
              <a:t>&gt;</a:t>
            </a:r>
            <a:r>
              <a:rPr lang="ru-RU" dirty="0"/>
              <a:t>, то на основании правила </a:t>
            </a:r>
            <a:r>
              <a:rPr lang="en-US" dirty="0"/>
              <a:t>U2</a:t>
            </a:r>
            <a:r>
              <a:rPr lang="ru-RU" dirty="0"/>
              <a:t> можно утверждать, что все изменения Т сохранены на диске</a:t>
            </a:r>
          </a:p>
          <a:p>
            <a:pPr>
              <a:lnSpc>
                <a:spcPct val="120000"/>
              </a:lnSpc>
            </a:pPr>
            <a:r>
              <a:rPr lang="ru-RU" dirty="0"/>
              <a:t>Если запись </a:t>
            </a:r>
            <a:r>
              <a:rPr lang="en-US" dirty="0"/>
              <a:t>&lt;</a:t>
            </a:r>
            <a:r>
              <a:rPr lang="en-US" sz="3100" dirty="0"/>
              <a:t>START</a:t>
            </a:r>
            <a:r>
              <a:rPr lang="en-US" dirty="0"/>
              <a:t> </a:t>
            </a:r>
            <a:r>
              <a:rPr lang="en-US" sz="3600" b="1" dirty="0"/>
              <a:t>T</a:t>
            </a:r>
            <a:r>
              <a:rPr lang="en-US" dirty="0"/>
              <a:t>&gt; </a:t>
            </a:r>
            <a:r>
              <a:rPr lang="ru-RU" dirty="0"/>
              <a:t>есть, но нет </a:t>
            </a:r>
            <a:r>
              <a:rPr lang="en-US" dirty="0"/>
              <a:t>&lt;COMMIT </a:t>
            </a:r>
            <a:r>
              <a:rPr lang="en-US" sz="3700" b="1" dirty="0"/>
              <a:t>T</a:t>
            </a:r>
            <a:r>
              <a:rPr lang="en-US" dirty="0"/>
              <a:t>&gt;</a:t>
            </a:r>
            <a:r>
              <a:rPr lang="ru-RU" dirty="0"/>
              <a:t>. Транзакция расценивается как незавершенная и подлежит отмене (</a:t>
            </a:r>
            <a:r>
              <a:rPr lang="en-US" dirty="0"/>
              <a:t>UNDO)</a:t>
            </a:r>
          </a:p>
          <a:p>
            <a:pPr>
              <a:lnSpc>
                <a:spcPct val="120000"/>
              </a:lnSpc>
            </a:pPr>
            <a:r>
              <a:rPr lang="ru-RU" dirty="0"/>
              <a:t>При этом по правилу </a:t>
            </a:r>
            <a:r>
              <a:rPr lang="en-US" dirty="0"/>
              <a:t>U1</a:t>
            </a:r>
            <a:r>
              <a:rPr lang="ru-RU" dirty="0"/>
              <a:t>, если Т изменяла данные, то в протоколе есть запись </a:t>
            </a:r>
            <a:r>
              <a:rPr lang="en-US" dirty="0"/>
              <a:t>&lt;T, X, </a:t>
            </a:r>
            <a:r>
              <a:rPr lang="en-US" sz="3800" b="1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v </a:t>
            </a:r>
            <a:r>
              <a:rPr lang="en-US" dirty="0"/>
              <a:t>&gt;</a:t>
            </a:r>
            <a:r>
              <a:rPr lang="ru-RU" dirty="0"/>
              <a:t> и можно вернуть в БД старое значение Х равное </a:t>
            </a:r>
            <a:r>
              <a:rPr lang="en-US" sz="3800" b="1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dirty="0"/>
              <a:t>.</a:t>
            </a:r>
          </a:p>
          <a:p>
            <a:pPr>
              <a:lnSpc>
                <a:spcPct val="120000"/>
              </a:lnSpc>
            </a:pPr>
            <a:endParaRPr lang="ru-RU" dirty="0"/>
          </a:p>
          <a:p>
            <a:pPr>
              <a:lnSpc>
                <a:spcPct val="120000"/>
              </a:lnSpc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61184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49F688F-E6B0-4FD2-A40D-BE0C1EDDAA0C}" type="slidenum">
              <a:rPr lang="ru-RU" smtClean="0"/>
              <a:pPr>
                <a:defRPr/>
              </a:pPr>
              <a:t>20</a:t>
            </a:fld>
            <a:endParaRPr lang="ru-RU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0" y="231209"/>
            <a:ext cx="9144000" cy="668338"/>
          </a:xfrm>
        </p:spPr>
        <p:txBody>
          <a:bodyPr>
            <a:noAutofit/>
          </a:bodyPr>
          <a:lstStyle/>
          <a:p>
            <a:pPr algn="ctr"/>
            <a:r>
              <a:rPr lang="ru-RU" sz="2800" dirty="0">
                <a:solidFill>
                  <a:schemeClr val="bg2"/>
                </a:solidFill>
              </a:rPr>
              <a:t>Восстановление с применением протокола </a:t>
            </a:r>
            <a:r>
              <a:rPr lang="en-US" sz="2800" dirty="0">
                <a:solidFill>
                  <a:schemeClr val="bg2"/>
                </a:solidFill>
              </a:rPr>
              <a:t>“UNDO”</a:t>
            </a:r>
            <a:endParaRPr lang="ru-RU" sz="2800" dirty="0"/>
          </a:p>
        </p:txBody>
      </p:sp>
      <p:sp>
        <p:nvSpPr>
          <p:cNvPr id="8" name="Содержимое 2"/>
          <p:cNvSpPr>
            <a:spLocks noGrp="1"/>
          </p:cNvSpPr>
          <p:nvPr>
            <p:ph idx="1"/>
          </p:nvPr>
        </p:nvSpPr>
        <p:spPr>
          <a:xfrm>
            <a:off x="0" y="1117599"/>
            <a:ext cx="9144000" cy="5648961"/>
          </a:xfrm>
        </p:spPr>
        <p:txBody>
          <a:bodyPr lIns="36000" tIns="36000" rIns="36000" bIns="36000">
            <a:normAutofit/>
          </a:bodyPr>
          <a:lstStyle/>
          <a:p>
            <a:pPr>
              <a:lnSpc>
                <a:spcPct val="120000"/>
              </a:lnSpc>
            </a:pPr>
            <a:r>
              <a:rPr lang="ru-RU" sz="28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Менеджер восстановления </a:t>
            </a:r>
            <a:r>
              <a:rPr lang="ru-RU" sz="2800" dirty="0"/>
              <a:t>сканирует журнал </a:t>
            </a:r>
            <a:r>
              <a:rPr lang="ru-RU" sz="2800" b="1" dirty="0">
                <a:solidFill>
                  <a:srgbClr val="FF0000"/>
                </a:solidFill>
              </a:rPr>
              <a:t>от конца, перемещаясь к началу.</a:t>
            </a:r>
          </a:p>
          <a:p>
            <a:pPr lvl="1">
              <a:lnSpc>
                <a:spcPct val="120000"/>
              </a:lnSpc>
              <a:buClr>
                <a:srgbClr val="FF0000"/>
              </a:buClr>
              <a:buFont typeface="Wingdings" pitchFamily="2" charset="2"/>
              <a:buChar char="v"/>
            </a:pPr>
            <a:r>
              <a:rPr lang="ru-RU" sz="2400" dirty="0"/>
              <a:t>Менеджер </a:t>
            </a:r>
            <a:r>
              <a:rPr lang="ru-RU" sz="2400" dirty="0">
                <a:solidFill>
                  <a:srgbClr val="008000"/>
                </a:solidFill>
              </a:rPr>
              <a:t>«запоминает» </a:t>
            </a:r>
            <a:r>
              <a:rPr lang="ru-RU" sz="2400" dirty="0"/>
              <a:t>какие транзакции помечены </a:t>
            </a:r>
            <a:r>
              <a:rPr lang="en-US" sz="2400" dirty="0"/>
              <a:t>&lt;COMMIT</a:t>
            </a:r>
            <a:r>
              <a:rPr lang="ru-RU" sz="2400" dirty="0"/>
              <a:t> </a:t>
            </a:r>
            <a:r>
              <a:rPr lang="en-US" sz="2400" dirty="0"/>
              <a:t> </a:t>
            </a:r>
            <a:r>
              <a:rPr lang="en-US" sz="3200" b="1" dirty="0"/>
              <a:t>T</a:t>
            </a:r>
            <a:r>
              <a:rPr lang="en-US" sz="2400" dirty="0"/>
              <a:t>&gt;</a:t>
            </a:r>
            <a:r>
              <a:rPr lang="ru-RU" sz="2400" dirty="0"/>
              <a:t> или </a:t>
            </a:r>
            <a:r>
              <a:rPr lang="en-US" sz="2400" dirty="0"/>
              <a:t>&lt;ABORT </a:t>
            </a:r>
            <a:r>
              <a:rPr lang="en-US" sz="3200" b="1" dirty="0"/>
              <a:t>T</a:t>
            </a:r>
            <a:r>
              <a:rPr lang="en-US" sz="2400" dirty="0"/>
              <a:t>&gt;</a:t>
            </a:r>
            <a:r>
              <a:rPr lang="ru-RU" sz="2400" dirty="0"/>
              <a:t> </a:t>
            </a:r>
            <a:endParaRPr lang="en-US" sz="2400" dirty="0"/>
          </a:p>
          <a:p>
            <a:pPr lvl="1">
              <a:lnSpc>
                <a:spcPct val="120000"/>
              </a:lnSpc>
              <a:buClr>
                <a:srgbClr val="FF0000"/>
              </a:buClr>
              <a:buFont typeface="Wingdings" pitchFamily="2" charset="2"/>
              <a:buChar char="v"/>
            </a:pPr>
            <a:r>
              <a:rPr lang="ru-RU" sz="2400" dirty="0"/>
              <a:t>Встречая запись вида </a:t>
            </a:r>
            <a:r>
              <a:rPr lang="en-US" sz="2400" dirty="0"/>
              <a:t>&lt;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dirty="0"/>
              <a:t>, </a:t>
            </a:r>
            <a:r>
              <a:rPr lang="en-US" sz="2900" b="1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v </a:t>
            </a:r>
            <a:r>
              <a:rPr lang="en-US" sz="2400" dirty="0"/>
              <a:t>&gt; </a:t>
            </a:r>
            <a:r>
              <a:rPr lang="ru-RU" sz="2400" dirty="0"/>
              <a:t> он делает следующее:</a:t>
            </a:r>
          </a:p>
          <a:p>
            <a:pPr lvl="2">
              <a:lnSpc>
                <a:spcPct val="120000"/>
              </a:lnSpc>
              <a:buSzPct val="80000"/>
              <a:buFont typeface="Wingdings" panose="05000000000000000000" pitchFamily="2" charset="2"/>
              <a:buChar char="Ø"/>
            </a:pPr>
            <a:r>
              <a:rPr lang="ru-RU" dirty="0"/>
              <a:t>если </a:t>
            </a:r>
            <a:r>
              <a:rPr lang="ru-RU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</a:t>
            </a:r>
            <a:r>
              <a:rPr lang="ru-RU" dirty="0"/>
              <a:t> соответствует </a:t>
            </a:r>
            <a:r>
              <a:rPr lang="en-US" dirty="0"/>
              <a:t>&lt;COMMIT </a:t>
            </a:r>
            <a:r>
              <a:rPr lang="en-US" sz="3200" b="1" dirty="0"/>
              <a:t>T</a:t>
            </a:r>
            <a:r>
              <a:rPr lang="en-US" dirty="0"/>
              <a:t>&gt;</a:t>
            </a:r>
            <a:r>
              <a:rPr lang="ru-RU" b="1" dirty="0"/>
              <a:t> </a:t>
            </a:r>
            <a:r>
              <a:rPr lang="ru-RU" dirty="0"/>
              <a:t>, то ничего не делает</a:t>
            </a:r>
          </a:p>
          <a:p>
            <a:pPr lvl="2">
              <a:lnSpc>
                <a:spcPct val="120000"/>
              </a:lnSpc>
              <a:buSzPct val="80000"/>
              <a:buFont typeface="Wingdings" panose="05000000000000000000" pitchFamily="2" charset="2"/>
              <a:buChar char="Ø"/>
            </a:pPr>
            <a:r>
              <a:rPr lang="ru-RU" dirty="0"/>
              <a:t>в противном случае </a:t>
            </a:r>
            <a:r>
              <a:rPr lang="ru-RU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</a:t>
            </a:r>
            <a:r>
              <a:rPr lang="ru-RU" sz="2600" dirty="0"/>
              <a:t> </a:t>
            </a:r>
            <a:r>
              <a:rPr lang="ru-RU" dirty="0"/>
              <a:t>трактуется как незавершенная и значение</a:t>
            </a:r>
            <a:r>
              <a:rPr lang="en-US" dirty="0"/>
              <a:t> </a:t>
            </a:r>
            <a:r>
              <a:rPr lang="en-US" sz="3200" b="1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v </a:t>
            </a:r>
            <a:r>
              <a:rPr lang="ru-RU" dirty="0">
                <a:cs typeface="Times New Roman" pitchFamily="18" charset="0"/>
              </a:rPr>
              <a:t>должно </a:t>
            </a:r>
            <a:r>
              <a:rPr lang="ru-RU" dirty="0"/>
              <a:t> быть возвращено элементу </a:t>
            </a:r>
            <a:r>
              <a:rPr lang="ru-RU" sz="2800" b="1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</a:t>
            </a:r>
            <a:endParaRPr lang="en-US" sz="2800" b="1" i="1" dirty="0">
              <a:solidFill>
                <a:schemeClr val="bg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endParaRPr lang="ru-RU" dirty="0"/>
          </a:p>
          <a:p>
            <a:pPr>
              <a:lnSpc>
                <a:spcPct val="120000"/>
              </a:lnSpc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79933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49F688F-E6B0-4FD2-A40D-BE0C1EDDAA0C}" type="slidenum">
              <a:rPr lang="ru-RU" smtClean="0"/>
              <a:pPr>
                <a:defRPr/>
              </a:pPr>
              <a:t>21</a:t>
            </a:fld>
            <a:endParaRPr lang="ru-RU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468313" y="113400"/>
            <a:ext cx="8229600" cy="668338"/>
          </a:xfrm>
        </p:spPr>
        <p:txBody>
          <a:bodyPr/>
          <a:lstStyle/>
          <a:p>
            <a:pPr algn="ctr"/>
            <a:r>
              <a:rPr lang="ru-RU" sz="3600" dirty="0">
                <a:solidFill>
                  <a:schemeClr val="bg2"/>
                </a:solidFill>
              </a:rPr>
              <a:t>Введение контрольных точек</a:t>
            </a:r>
            <a:endParaRPr lang="ru-RU" sz="3600" dirty="0"/>
          </a:p>
        </p:txBody>
      </p:sp>
      <p:sp>
        <p:nvSpPr>
          <p:cNvPr id="8" name="Содержимое 2"/>
          <p:cNvSpPr>
            <a:spLocks noGrp="1"/>
          </p:cNvSpPr>
          <p:nvPr>
            <p:ph idx="1"/>
          </p:nvPr>
        </p:nvSpPr>
        <p:spPr>
          <a:xfrm>
            <a:off x="0" y="964277"/>
            <a:ext cx="9144000" cy="5480068"/>
          </a:xfrm>
        </p:spPr>
        <p:txBody>
          <a:bodyPr lIns="0" tIns="0" rIns="0" bIns="0"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ru-RU" dirty="0"/>
              <a:t>Удобный способ распутывания проблем – введение контрольных точек (</a:t>
            </a:r>
            <a:r>
              <a:rPr lang="en-US" i="1" dirty="0">
                <a:solidFill>
                  <a:srgbClr val="7030A0"/>
                </a:solidFill>
              </a:rPr>
              <a:t>check pointing</a:t>
            </a:r>
            <a:r>
              <a:rPr lang="en-US" dirty="0"/>
              <a:t>)</a:t>
            </a:r>
            <a:endParaRPr lang="ru-RU" dirty="0"/>
          </a:p>
          <a:p>
            <a:pPr>
              <a:lnSpc>
                <a:spcPct val="120000"/>
              </a:lnSpc>
            </a:pPr>
            <a:r>
              <a:rPr lang="ru-RU" dirty="0"/>
              <a:t>В самом простом случае для ввода КТ нужно:</a:t>
            </a:r>
          </a:p>
          <a:p>
            <a:pPr lvl="1">
              <a:lnSpc>
                <a:spcPct val="120000"/>
              </a:lnSpc>
              <a:buClr>
                <a:schemeClr val="bg2"/>
              </a:buClr>
              <a:buFont typeface="Wingdings" panose="05000000000000000000" pitchFamily="2" charset="2"/>
              <a:buChar char="ü"/>
            </a:pPr>
            <a:r>
              <a:rPr lang="ru-RU" dirty="0"/>
              <a:t>Приостановить прием запросов на активацию новых транзакций</a:t>
            </a:r>
          </a:p>
          <a:p>
            <a:pPr lvl="1">
              <a:lnSpc>
                <a:spcPct val="120000"/>
              </a:lnSpc>
              <a:buClr>
                <a:schemeClr val="bg2"/>
              </a:buClr>
              <a:buFont typeface="Wingdings" panose="05000000000000000000" pitchFamily="2" charset="2"/>
              <a:buChar char="ü"/>
            </a:pPr>
            <a:r>
              <a:rPr lang="ru-RU" dirty="0"/>
              <a:t>Дождаться пока все действующие транзакции не выполнят операции фиксации или прерывания и не сохранят в протоколе записи </a:t>
            </a:r>
            <a:r>
              <a:rPr lang="en-US" dirty="0"/>
              <a:t/>
            </a:r>
            <a:br>
              <a:rPr lang="en-US" dirty="0"/>
            </a:br>
            <a:r>
              <a:rPr lang="en-US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&lt;COMMIT …&gt; </a:t>
            </a:r>
            <a:r>
              <a:rPr lang="ru-RU" dirty="0"/>
              <a:t>или </a:t>
            </a:r>
            <a:r>
              <a:rPr lang="en-US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&lt;ABORT…&gt;</a:t>
            </a:r>
            <a:endParaRPr lang="ru-RU" b="1" dirty="0">
              <a:solidFill>
                <a:schemeClr val="bg2"/>
              </a:solidFill>
              <a:latin typeface="Courier New" pitchFamily="49" charset="0"/>
              <a:cs typeface="Courier New" pitchFamily="49" charset="0"/>
            </a:endParaRPr>
          </a:p>
          <a:p>
            <a:pPr lvl="1">
              <a:lnSpc>
                <a:spcPct val="120000"/>
              </a:lnSpc>
              <a:buClr>
                <a:schemeClr val="bg2"/>
              </a:buClr>
              <a:buFont typeface="Wingdings" panose="05000000000000000000" pitchFamily="2" charset="2"/>
              <a:buChar char="ü"/>
            </a:pPr>
            <a:r>
              <a:rPr lang="ru-RU" dirty="0"/>
              <a:t>Осуществить «сброс» протокола </a:t>
            </a:r>
            <a:r>
              <a:rPr lang="ru-RU" dirty="0" smtClean="0"/>
              <a:t>из буферов на </a:t>
            </a:r>
            <a:r>
              <a:rPr lang="ru-RU" dirty="0"/>
              <a:t>диск командой </a:t>
            </a:r>
            <a:r>
              <a:rPr lang="en-US" b="1" dirty="0" smtClean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FLUSH</a:t>
            </a:r>
            <a:r>
              <a:rPr lang="ru-RU" b="1" dirty="0" smtClean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LOG</a:t>
            </a:r>
            <a:r>
              <a:rPr lang="ru-RU" b="1" dirty="0" smtClean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 </a:t>
            </a:r>
            <a:endParaRPr lang="ru-RU" b="1" dirty="0">
              <a:solidFill>
                <a:schemeClr val="bg2"/>
              </a:solidFill>
              <a:latin typeface="Courier New" pitchFamily="49" charset="0"/>
              <a:cs typeface="Courier New" pitchFamily="49" charset="0"/>
            </a:endParaRPr>
          </a:p>
          <a:p>
            <a:pPr lvl="1">
              <a:lnSpc>
                <a:spcPct val="120000"/>
              </a:lnSpc>
              <a:buClr>
                <a:schemeClr val="bg2"/>
              </a:buClr>
              <a:buFont typeface="Wingdings" panose="05000000000000000000" pitchFamily="2" charset="2"/>
              <a:buChar char="ü"/>
            </a:pPr>
            <a:r>
              <a:rPr lang="ru-RU" dirty="0"/>
              <a:t>Внести в протокол запись вида </a:t>
            </a:r>
            <a:r>
              <a:rPr lang="en-US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&lt;CKPT&gt;  </a:t>
            </a:r>
          </a:p>
          <a:p>
            <a:pPr lvl="1">
              <a:lnSpc>
                <a:spcPct val="120000"/>
              </a:lnSpc>
              <a:buClr>
                <a:schemeClr val="bg2"/>
              </a:buClr>
              <a:buFont typeface="Wingdings" panose="05000000000000000000" pitchFamily="2" charset="2"/>
              <a:buChar char="ü"/>
            </a:pPr>
            <a:r>
              <a:rPr lang="ru-RU" dirty="0">
                <a:cs typeface="Courier New" pitchFamily="49" charset="0"/>
              </a:rPr>
              <a:t>Возобновить прием транзакций</a:t>
            </a:r>
          </a:p>
          <a:p>
            <a:pPr>
              <a:lnSpc>
                <a:spcPct val="120000"/>
              </a:lnSpc>
            </a:pPr>
            <a:r>
              <a:rPr lang="ru-RU" sz="3100" dirty="0"/>
              <a:t>Любая транзакция приступившая к работе </a:t>
            </a:r>
            <a:r>
              <a:rPr lang="ru-RU" sz="3100" b="1" dirty="0"/>
              <a:t>до введения </a:t>
            </a:r>
            <a:r>
              <a:rPr lang="ru-RU" sz="3100" dirty="0"/>
              <a:t>КТ будет </a:t>
            </a:r>
            <a:r>
              <a:rPr lang="ru-RU" sz="3100" b="1" dirty="0"/>
              <a:t>гарантированно завершена </a:t>
            </a:r>
            <a:r>
              <a:rPr lang="ru-RU" sz="3100" dirty="0"/>
              <a:t>– правило </a:t>
            </a:r>
            <a:r>
              <a:rPr lang="en-US" sz="3100" dirty="0"/>
              <a:t>U2</a:t>
            </a:r>
            <a:r>
              <a:rPr lang="ru-RU" sz="3100" dirty="0"/>
              <a:t>.</a:t>
            </a:r>
          </a:p>
          <a:p>
            <a:pPr>
              <a:lnSpc>
                <a:spcPct val="120000"/>
              </a:lnSpc>
            </a:pPr>
            <a:r>
              <a:rPr lang="ru-RU" sz="3100" dirty="0"/>
              <a:t>Протокол после записи </a:t>
            </a:r>
            <a:r>
              <a:rPr lang="en-US" sz="3100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&lt;CKPT&gt; </a:t>
            </a:r>
            <a:r>
              <a:rPr lang="ru-RU" sz="3100" dirty="0">
                <a:cs typeface="Courier New" pitchFamily="49" charset="0"/>
              </a:rPr>
              <a:t>будет содержать только записи, относящиеся к «новым» транзакциям.</a:t>
            </a:r>
          </a:p>
          <a:p>
            <a:pPr>
              <a:lnSpc>
                <a:spcPct val="120000"/>
              </a:lnSpc>
            </a:pPr>
            <a:r>
              <a:rPr lang="ru-RU" sz="3100" dirty="0">
                <a:solidFill>
                  <a:srgbClr val="C00000"/>
                </a:solidFill>
                <a:cs typeface="Courier New" pitchFamily="49" charset="0"/>
              </a:rPr>
              <a:t>Часть протокола до записи </a:t>
            </a:r>
            <a:r>
              <a:rPr lang="en-US" sz="3100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&lt;CKPT&gt; </a:t>
            </a:r>
            <a:r>
              <a:rPr lang="ru-RU" sz="3100" dirty="0">
                <a:solidFill>
                  <a:srgbClr val="C00000"/>
                </a:solidFill>
                <a:cs typeface="Courier New" pitchFamily="49" charset="0"/>
              </a:rPr>
              <a:t>может быть удалена</a:t>
            </a:r>
            <a:endParaRPr lang="en-US" sz="3100" dirty="0">
              <a:solidFill>
                <a:srgbClr val="C00000"/>
              </a:solidFill>
            </a:endParaRPr>
          </a:p>
          <a:p>
            <a:pPr lvl="1">
              <a:lnSpc>
                <a:spcPct val="120000"/>
              </a:lnSpc>
              <a:buClr>
                <a:schemeClr val="bg2"/>
              </a:buClr>
              <a:buFont typeface="Wingdings" panose="05000000000000000000" pitchFamily="2" charset="2"/>
              <a:buChar char="ü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61184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49F688F-E6B0-4FD2-A40D-BE0C1EDDAA0C}" type="slidenum">
              <a:rPr lang="ru-RU" smtClean="0"/>
              <a:pPr>
                <a:defRPr/>
              </a:pPr>
              <a:t>22</a:t>
            </a:fld>
            <a:endParaRPr lang="ru-RU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468313" y="287568"/>
            <a:ext cx="8229600" cy="668338"/>
          </a:xfrm>
        </p:spPr>
        <p:txBody>
          <a:bodyPr/>
          <a:lstStyle/>
          <a:p>
            <a:pPr algn="ctr"/>
            <a:r>
              <a:rPr lang="ru-RU" sz="3600" dirty="0">
                <a:solidFill>
                  <a:schemeClr val="bg2"/>
                </a:solidFill>
              </a:rPr>
              <a:t>Введение контрольных точек</a:t>
            </a:r>
            <a:endParaRPr lang="ru-RU" sz="3600" dirty="0"/>
          </a:p>
        </p:txBody>
      </p:sp>
      <p:sp>
        <p:nvSpPr>
          <p:cNvPr id="8" name="Содержимое 2"/>
          <p:cNvSpPr>
            <a:spLocks noGrp="1"/>
          </p:cNvSpPr>
          <p:nvPr>
            <p:ph idx="1"/>
          </p:nvPr>
        </p:nvSpPr>
        <p:spPr>
          <a:xfrm>
            <a:off x="0" y="964277"/>
            <a:ext cx="9144000" cy="5480068"/>
          </a:xfrm>
        </p:spPr>
        <p:txBody>
          <a:bodyPr lIns="0" tIns="0" rIns="0" bIns="0"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ru-RU" sz="3100" dirty="0"/>
              <a:t>Пусть начало протокола такое:</a:t>
            </a:r>
          </a:p>
          <a:p>
            <a:pPr>
              <a:lnSpc>
                <a:spcPct val="120000"/>
              </a:lnSpc>
              <a:buNone/>
            </a:pPr>
            <a:r>
              <a:rPr lang="ru-RU" sz="3100" dirty="0"/>
              <a:t>		</a:t>
            </a:r>
            <a:r>
              <a:rPr lang="en-US" sz="3100" dirty="0"/>
              <a:t>&lt;START  T</a:t>
            </a:r>
            <a:r>
              <a:rPr lang="en-US" sz="3100" baseline="-25000" dirty="0"/>
              <a:t>1</a:t>
            </a:r>
            <a:r>
              <a:rPr lang="en-US" sz="3100" dirty="0"/>
              <a:t>&gt;</a:t>
            </a:r>
          </a:p>
          <a:p>
            <a:pPr>
              <a:lnSpc>
                <a:spcPct val="120000"/>
              </a:lnSpc>
              <a:buNone/>
            </a:pPr>
            <a:r>
              <a:rPr lang="ru-RU" sz="3100" dirty="0"/>
              <a:t>			</a:t>
            </a:r>
            <a:r>
              <a:rPr lang="en-US" sz="3100" dirty="0"/>
              <a:t>&lt;T</a:t>
            </a:r>
            <a:r>
              <a:rPr lang="en-US" sz="3100" baseline="-25000" dirty="0"/>
              <a:t>1</a:t>
            </a:r>
            <a:r>
              <a:rPr lang="en-US" sz="3100" dirty="0"/>
              <a:t>, A, 5&gt;</a:t>
            </a:r>
          </a:p>
          <a:p>
            <a:pPr>
              <a:lnSpc>
                <a:spcPct val="120000"/>
              </a:lnSpc>
              <a:buNone/>
            </a:pPr>
            <a:r>
              <a:rPr lang="ru-RU" sz="3100" dirty="0"/>
              <a:t>		</a:t>
            </a:r>
            <a:r>
              <a:rPr lang="en-US" sz="3100" dirty="0"/>
              <a:t>&lt;START  T</a:t>
            </a:r>
            <a:r>
              <a:rPr lang="en-US" sz="3100" baseline="-25000" dirty="0"/>
              <a:t>2</a:t>
            </a:r>
            <a:r>
              <a:rPr lang="en-US" sz="3100" dirty="0"/>
              <a:t>&gt;</a:t>
            </a:r>
          </a:p>
          <a:p>
            <a:pPr>
              <a:lnSpc>
                <a:spcPct val="120000"/>
              </a:lnSpc>
              <a:buNone/>
            </a:pPr>
            <a:r>
              <a:rPr lang="ru-RU" sz="3100" dirty="0"/>
              <a:t>			</a:t>
            </a:r>
            <a:r>
              <a:rPr lang="en-US" sz="3100" dirty="0"/>
              <a:t>&lt;T</a:t>
            </a:r>
            <a:r>
              <a:rPr lang="en-US" sz="3100" baseline="-25000" dirty="0"/>
              <a:t>2</a:t>
            </a:r>
            <a:r>
              <a:rPr lang="en-US" sz="3100" dirty="0"/>
              <a:t>, B, 10&gt;</a:t>
            </a:r>
            <a:endParaRPr lang="ru-RU" sz="3100" dirty="0"/>
          </a:p>
          <a:p>
            <a:pPr>
              <a:lnSpc>
                <a:spcPct val="120000"/>
              </a:lnSpc>
            </a:pPr>
            <a:r>
              <a:rPr lang="ru-RU" sz="3100" dirty="0"/>
              <a:t>В текущий момент система принимает решение ввести контрольную точку.</a:t>
            </a:r>
          </a:p>
          <a:p>
            <a:pPr>
              <a:lnSpc>
                <a:spcPct val="120000"/>
              </a:lnSpc>
            </a:pPr>
            <a:r>
              <a:rPr lang="ru-RU" sz="3100" dirty="0"/>
              <a:t>Так как </a:t>
            </a:r>
            <a:r>
              <a:rPr lang="en-US" sz="3100" dirty="0"/>
              <a:t>T</a:t>
            </a:r>
            <a:r>
              <a:rPr lang="en-US" sz="3100" baseline="-25000" dirty="0"/>
              <a:t>1</a:t>
            </a:r>
            <a:r>
              <a:rPr lang="ru-RU" sz="3100" dirty="0"/>
              <a:t> и </a:t>
            </a:r>
            <a:r>
              <a:rPr lang="en-US" sz="3100" dirty="0"/>
              <a:t>T</a:t>
            </a:r>
            <a:r>
              <a:rPr lang="en-US" sz="3100" baseline="-25000" dirty="0"/>
              <a:t>2</a:t>
            </a:r>
            <a:r>
              <a:rPr lang="ru-RU" sz="3100" dirty="0"/>
              <a:t> являются активными и их выполнение не завершено, то прежде чем внести в журнал </a:t>
            </a:r>
            <a:r>
              <a:rPr lang="en-US" sz="3100" dirty="0"/>
              <a:t>&lt;CKPT&gt;</a:t>
            </a:r>
            <a:r>
              <a:rPr lang="ru-RU" sz="3100" dirty="0"/>
              <a:t> нужно дождаться окончания их работы.</a:t>
            </a:r>
            <a:endParaRPr lang="en-US" sz="3100" dirty="0"/>
          </a:p>
          <a:p>
            <a:pPr>
              <a:lnSpc>
                <a:spcPct val="120000"/>
              </a:lnSpc>
              <a:buNone/>
            </a:pPr>
            <a:endParaRPr lang="en-US" sz="3100" dirty="0"/>
          </a:p>
          <a:p>
            <a:pPr>
              <a:lnSpc>
                <a:spcPct val="120000"/>
              </a:lnSpc>
            </a:pPr>
            <a:endParaRPr lang="en-US" sz="3100" dirty="0"/>
          </a:p>
          <a:p>
            <a:pPr lvl="1">
              <a:lnSpc>
                <a:spcPct val="120000"/>
              </a:lnSpc>
              <a:buClr>
                <a:schemeClr val="bg2"/>
              </a:buClr>
              <a:buFont typeface="Wingdings" panose="05000000000000000000" pitchFamily="2" charset="2"/>
              <a:buChar char="ü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61184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49F688F-E6B0-4FD2-A40D-BE0C1EDDAA0C}" type="slidenum">
              <a:rPr lang="ru-RU" smtClean="0"/>
              <a:pPr>
                <a:defRPr/>
              </a:pPr>
              <a:t>23</a:t>
            </a:fld>
            <a:endParaRPr lang="ru-RU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468313" y="33573"/>
            <a:ext cx="8229600" cy="668338"/>
          </a:xfrm>
        </p:spPr>
        <p:txBody>
          <a:bodyPr/>
          <a:lstStyle/>
          <a:p>
            <a:pPr algn="ctr"/>
            <a:r>
              <a:rPr lang="ru-RU" sz="3200" dirty="0">
                <a:solidFill>
                  <a:schemeClr val="bg2"/>
                </a:solidFill>
              </a:rPr>
              <a:t>Введение контрольных точек</a:t>
            </a:r>
            <a:endParaRPr lang="ru-RU" sz="3200" dirty="0"/>
          </a:p>
        </p:txBody>
      </p:sp>
      <p:sp>
        <p:nvSpPr>
          <p:cNvPr id="8" name="Содержимое 2"/>
          <p:cNvSpPr>
            <a:spLocks noGrp="1"/>
          </p:cNvSpPr>
          <p:nvPr>
            <p:ph idx="1"/>
          </p:nvPr>
        </p:nvSpPr>
        <p:spPr>
          <a:xfrm>
            <a:off x="524933" y="609600"/>
            <a:ext cx="7552268" cy="5834745"/>
          </a:xfrm>
        </p:spPr>
        <p:txBody>
          <a:bodyPr lIns="0" tIns="0" rIns="0" bIns="0"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ru-RU" sz="3100" dirty="0"/>
              <a:t>Возможный вариант развития событий:</a:t>
            </a:r>
          </a:p>
          <a:p>
            <a:pPr lvl="1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00B050"/>
                </a:solidFill>
              </a:rPr>
              <a:t>&lt;START  T</a:t>
            </a:r>
            <a:r>
              <a:rPr lang="en-US" sz="2700" b="1" baseline="-25000" dirty="0">
                <a:solidFill>
                  <a:srgbClr val="00B050"/>
                </a:solidFill>
              </a:rPr>
              <a:t>1</a:t>
            </a:r>
            <a:r>
              <a:rPr lang="en-US" sz="2700" b="1" dirty="0">
                <a:solidFill>
                  <a:srgbClr val="00B050"/>
                </a:solidFill>
              </a:rPr>
              <a:t>&gt;</a:t>
            </a:r>
          </a:p>
          <a:p>
            <a:pPr lvl="1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00B050"/>
                </a:solidFill>
              </a:rPr>
              <a:t>&lt;T</a:t>
            </a:r>
            <a:r>
              <a:rPr lang="en-US" sz="2700" b="1" baseline="-25000" dirty="0">
                <a:solidFill>
                  <a:srgbClr val="00B050"/>
                </a:solidFill>
              </a:rPr>
              <a:t>1</a:t>
            </a:r>
            <a:r>
              <a:rPr lang="en-US" sz="2700" b="1" dirty="0">
                <a:solidFill>
                  <a:srgbClr val="00B050"/>
                </a:solidFill>
              </a:rPr>
              <a:t>, A, 5&gt;</a:t>
            </a:r>
          </a:p>
          <a:p>
            <a:pPr lvl="1">
              <a:lnSpc>
                <a:spcPct val="120000"/>
              </a:lnSpc>
              <a:buNone/>
            </a:pPr>
            <a:r>
              <a:rPr lang="en-US" sz="2700" b="1" dirty="0">
                <a:solidFill>
                  <a:schemeClr val="accent1">
                    <a:lumMod val="75000"/>
                  </a:schemeClr>
                </a:solidFill>
              </a:rPr>
              <a:t>&lt;START  T</a:t>
            </a:r>
            <a:r>
              <a:rPr lang="en-US" sz="2700" b="1" baseline="-25000" dirty="0">
                <a:solidFill>
                  <a:schemeClr val="accent1">
                    <a:lumMod val="75000"/>
                  </a:schemeClr>
                </a:solidFill>
              </a:rPr>
              <a:t>2</a:t>
            </a:r>
            <a:r>
              <a:rPr lang="en-US" sz="2700" b="1" dirty="0">
                <a:solidFill>
                  <a:schemeClr val="accent1">
                    <a:lumMod val="75000"/>
                  </a:schemeClr>
                </a:solidFill>
              </a:rPr>
              <a:t>&gt;</a:t>
            </a:r>
          </a:p>
          <a:p>
            <a:pPr lvl="1">
              <a:lnSpc>
                <a:spcPct val="120000"/>
              </a:lnSpc>
              <a:buNone/>
            </a:pPr>
            <a:r>
              <a:rPr lang="en-US" sz="2700" b="1" dirty="0">
                <a:solidFill>
                  <a:schemeClr val="accent1">
                    <a:lumMod val="75000"/>
                  </a:schemeClr>
                </a:solidFill>
              </a:rPr>
              <a:t>&lt;T</a:t>
            </a:r>
            <a:r>
              <a:rPr lang="en-US" sz="2700" b="1" baseline="-25000" dirty="0">
                <a:solidFill>
                  <a:schemeClr val="accent1">
                    <a:lumMod val="75000"/>
                  </a:schemeClr>
                </a:solidFill>
              </a:rPr>
              <a:t>2</a:t>
            </a:r>
            <a:r>
              <a:rPr lang="en-US" sz="2700" b="1" dirty="0">
                <a:solidFill>
                  <a:schemeClr val="accent1">
                    <a:lumMod val="75000"/>
                  </a:schemeClr>
                </a:solidFill>
              </a:rPr>
              <a:t>, B, 10&gt;</a:t>
            </a:r>
            <a:endParaRPr lang="ru-RU" sz="2700" b="1" dirty="0">
              <a:solidFill>
                <a:schemeClr val="accent1">
                  <a:lumMod val="75000"/>
                </a:schemeClr>
              </a:solidFill>
            </a:endParaRPr>
          </a:p>
          <a:p>
            <a:pPr lvl="1">
              <a:lnSpc>
                <a:spcPct val="120000"/>
              </a:lnSpc>
              <a:buNone/>
            </a:pPr>
            <a:r>
              <a:rPr lang="en-US" sz="2700" b="1" dirty="0">
                <a:solidFill>
                  <a:schemeClr val="accent1">
                    <a:lumMod val="75000"/>
                  </a:schemeClr>
                </a:solidFill>
              </a:rPr>
              <a:t>&lt;T</a:t>
            </a:r>
            <a:r>
              <a:rPr lang="en-US" sz="2700" b="1" baseline="-25000" dirty="0">
                <a:solidFill>
                  <a:schemeClr val="accent1">
                    <a:lumMod val="75000"/>
                  </a:schemeClr>
                </a:solidFill>
              </a:rPr>
              <a:t>2</a:t>
            </a:r>
            <a:r>
              <a:rPr lang="en-US" sz="2700" b="1" dirty="0">
                <a:solidFill>
                  <a:schemeClr val="accent1">
                    <a:lumMod val="75000"/>
                  </a:schemeClr>
                </a:solidFill>
              </a:rPr>
              <a:t>, C, 15&gt;</a:t>
            </a:r>
            <a:endParaRPr lang="ru-RU" sz="2700" b="1" dirty="0">
              <a:solidFill>
                <a:schemeClr val="accent1">
                  <a:lumMod val="75000"/>
                </a:schemeClr>
              </a:solidFill>
            </a:endParaRPr>
          </a:p>
          <a:p>
            <a:pPr lvl="1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00B050"/>
                </a:solidFill>
              </a:rPr>
              <a:t>&lt;T</a:t>
            </a:r>
            <a:r>
              <a:rPr lang="en-US" sz="2700" b="1" baseline="-25000" dirty="0">
                <a:solidFill>
                  <a:srgbClr val="00B050"/>
                </a:solidFill>
              </a:rPr>
              <a:t>1</a:t>
            </a:r>
            <a:r>
              <a:rPr lang="en-US" sz="2700" b="1" dirty="0">
                <a:solidFill>
                  <a:srgbClr val="00B050"/>
                </a:solidFill>
              </a:rPr>
              <a:t>, D, 20&gt;</a:t>
            </a:r>
            <a:endParaRPr lang="ru-RU" sz="2700" b="1" dirty="0">
              <a:solidFill>
                <a:srgbClr val="00B050"/>
              </a:solidFill>
            </a:endParaRPr>
          </a:p>
          <a:p>
            <a:pPr lvl="1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00B050"/>
                </a:solidFill>
              </a:rPr>
              <a:t>&lt;COMMIT  T</a:t>
            </a:r>
            <a:r>
              <a:rPr lang="en-US" sz="2700" b="1" baseline="-25000" dirty="0">
                <a:solidFill>
                  <a:srgbClr val="00B050"/>
                </a:solidFill>
              </a:rPr>
              <a:t>1</a:t>
            </a:r>
            <a:r>
              <a:rPr lang="en-US" sz="2700" b="1" dirty="0">
                <a:solidFill>
                  <a:srgbClr val="00B050"/>
                </a:solidFill>
              </a:rPr>
              <a:t>&gt;</a:t>
            </a:r>
          </a:p>
          <a:p>
            <a:pPr lvl="1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3333FF"/>
                </a:solidFill>
              </a:rPr>
              <a:t>&lt;COMMIT  T</a:t>
            </a:r>
            <a:r>
              <a:rPr lang="en-US" sz="2700" b="1" baseline="-25000" dirty="0">
                <a:solidFill>
                  <a:srgbClr val="3333FF"/>
                </a:solidFill>
              </a:rPr>
              <a:t>2</a:t>
            </a:r>
            <a:r>
              <a:rPr lang="en-US" sz="2700" b="1" dirty="0">
                <a:solidFill>
                  <a:srgbClr val="3333FF"/>
                </a:solidFill>
              </a:rPr>
              <a:t>&gt;</a:t>
            </a:r>
          </a:p>
          <a:p>
            <a:pPr lvl="1">
              <a:lnSpc>
                <a:spcPct val="120000"/>
              </a:lnSpc>
              <a:buNone/>
            </a:pPr>
            <a:r>
              <a:rPr lang="en-US" sz="2700" b="1" dirty="0"/>
              <a:t>&lt;CKPT&gt;</a:t>
            </a:r>
          </a:p>
          <a:p>
            <a:pPr lvl="1">
              <a:lnSpc>
                <a:spcPct val="120000"/>
              </a:lnSpc>
              <a:buNone/>
            </a:pPr>
            <a:r>
              <a:rPr lang="en-US" sz="2700" dirty="0"/>
              <a:t>&lt;START  T</a:t>
            </a:r>
            <a:r>
              <a:rPr lang="en-US" sz="2700" baseline="-25000" dirty="0"/>
              <a:t>3</a:t>
            </a:r>
            <a:r>
              <a:rPr lang="en-US" sz="2700" dirty="0"/>
              <a:t>&gt;</a:t>
            </a:r>
          </a:p>
          <a:p>
            <a:pPr lvl="1">
              <a:lnSpc>
                <a:spcPct val="120000"/>
              </a:lnSpc>
              <a:buNone/>
            </a:pPr>
            <a:r>
              <a:rPr lang="en-US" sz="2700" dirty="0"/>
              <a:t>&lt;T</a:t>
            </a:r>
            <a:r>
              <a:rPr lang="en-US" sz="2700" baseline="-25000" dirty="0"/>
              <a:t>3</a:t>
            </a:r>
            <a:r>
              <a:rPr lang="en-US" sz="2700" dirty="0"/>
              <a:t>, E, 25&gt;</a:t>
            </a:r>
          </a:p>
          <a:p>
            <a:pPr lvl="1">
              <a:lnSpc>
                <a:spcPct val="120000"/>
              </a:lnSpc>
              <a:buNone/>
            </a:pPr>
            <a:r>
              <a:rPr lang="en-US" sz="2700" dirty="0"/>
              <a:t>&lt;T</a:t>
            </a:r>
            <a:r>
              <a:rPr lang="en-US" sz="2700" baseline="-25000" dirty="0"/>
              <a:t>3</a:t>
            </a:r>
            <a:r>
              <a:rPr lang="en-US" sz="2700" dirty="0"/>
              <a:t>, F, 30&gt;</a:t>
            </a:r>
          </a:p>
          <a:p>
            <a:pPr>
              <a:lnSpc>
                <a:spcPct val="120000"/>
              </a:lnSpc>
              <a:buNone/>
            </a:pPr>
            <a:r>
              <a:rPr lang="ru-RU" sz="3100" b="1" dirty="0">
                <a:solidFill>
                  <a:srgbClr val="FF0000"/>
                </a:solidFill>
              </a:rPr>
              <a:t>ОТКАЗ СИСТЕМЫ</a:t>
            </a:r>
            <a:endParaRPr lang="en-US" sz="3100" b="1" dirty="0">
              <a:solidFill>
                <a:srgbClr val="FF0000"/>
              </a:solidFill>
            </a:endParaRPr>
          </a:p>
          <a:p>
            <a:pPr marL="0" indent="342900">
              <a:lnSpc>
                <a:spcPct val="120000"/>
              </a:lnSpc>
              <a:buNone/>
            </a:pPr>
            <a:r>
              <a:rPr lang="ru-RU" sz="3100" dirty="0"/>
              <a:t>Сканируя журнал </a:t>
            </a:r>
            <a:r>
              <a:rPr lang="ru-RU" sz="31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от конца к началу</a:t>
            </a:r>
            <a:r>
              <a:rPr lang="ru-RU" sz="3100" dirty="0"/>
              <a:t>, менеджер обнаружит что </a:t>
            </a:r>
            <a:r>
              <a:rPr lang="en-US" sz="3100" b="1" dirty="0"/>
              <a:t>T</a:t>
            </a:r>
            <a:r>
              <a:rPr lang="en-US" sz="3100" b="1" baseline="-25000" dirty="0"/>
              <a:t>3</a:t>
            </a:r>
            <a:r>
              <a:rPr lang="ru-RU" sz="3100" b="1" baseline="-25000" dirty="0"/>
              <a:t>    </a:t>
            </a:r>
            <a:r>
              <a:rPr lang="ru-RU" sz="3100" dirty="0"/>
              <a:t>является </a:t>
            </a:r>
            <a:r>
              <a:rPr lang="ru-RU" sz="3100" b="1" dirty="0"/>
              <a:t>единственной незафиксированной </a:t>
            </a:r>
            <a:r>
              <a:rPr lang="ru-RU" sz="3100" dirty="0"/>
              <a:t>транзакцией и </a:t>
            </a:r>
            <a:r>
              <a:rPr lang="ru-RU" sz="31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восстановит прежние значения </a:t>
            </a:r>
            <a:r>
              <a:rPr lang="en-US" sz="31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E = 25 </a:t>
            </a:r>
            <a:r>
              <a:rPr lang="ru-RU" sz="31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и </a:t>
            </a:r>
            <a:r>
              <a:rPr lang="en-US" sz="31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F = 30 </a:t>
            </a:r>
            <a:r>
              <a:rPr lang="ru-RU" sz="3100" dirty="0"/>
              <a:t>в БД</a:t>
            </a:r>
            <a:r>
              <a:rPr lang="en-US" sz="3100" dirty="0"/>
              <a:t> </a:t>
            </a:r>
            <a:endParaRPr lang="ru-RU" sz="3100" dirty="0"/>
          </a:p>
          <a:p>
            <a:pPr marL="0" indent="342900">
              <a:lnSpc>
                <a:spcPct val="120000"/>
              </a:lnSpc>
              <a:buNone/>
            </a:pPr>
            <a:endParaRPr lang="en-US" sz="3100" dirty="0"/>
          </a:p>
          <a:p>
            <a:pPr>
              <a:lnSpc>
                <a:spcPct val="120000"/>
              </a:lnSpc>
            </a:pPr>
            <a:endParaRPr lang="en-US" sz="3100" dirty="0"/>
          </a:p>
          <a:p>
            <a:pPr lvl="1">
              <a:lnSpc>
                <a:spcPct val="120000"/>
              </a:lnSpc>
              <a:buClr>
                <a:schemeClr val="bg2"/>
              </a:buClr>
              <a:buFont typeface="Wingdings" panose="05000000000000000000" pitchFamily="2" charset="2"/>
              <a:buChar char="ü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61184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49F688F-E6B0-4FD2-A40D-BE0C1EDDAA0C}" type="slidenum">
              <a:rPr lang="ru-RU" smtClean="0"/>
              <a:pPr>
                <a:defRPr/>
              </a:pPr>
              <a:t>24</a:t>
            </a:fld>
            <a:endParaRPr lang="ru-RU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468313" y="287568"/>
            <a:ext cx="8229600" cy="668338"/>
          </a:xfrm>
        </p:spPr>
        <p:txBody>
          <a:bodyPr/>
          <a:lstStyle/>
          <a:p>
            <a:pPr algn="ctr"/>
            <a:r>
              <a:rPr lang="ru-RU" sz="2800" dirty="0">
                <a:solidFill>
                  <a:schemeClr val="bg2"/>
                </a:solidFill>
              </a:rPr>
              <a:t>Введение динамических контрольных точек</a:t>
            </a:r>
            <a:endParaRPr lang="ru-RU" sz="2800" dirty="0"/>
          </a:p>
        </p:txBody>
      </p:sp>
      <p:sp>
        <p:nvSpPr>
          <p:cNvPr id="8" name="Содержимое 2"/>
          <p:cNvSpPr>
            <a:spLocks noGrp="1"/>
          </p:cNvSpPr>
          <p:nvPr>
            <p:ph idx="1"/>
          </p:nvPr>
        </p:nvSpPr>
        <p:spPr>
          <a:xfrm>
            <a:off x="95098" y="964276"/>
            <a:ext cx="8829446" cy="5721817"/>
          </a:xfrm>
        </p:spPr>
        <p:txBody>
          <a:bodyPr lIns="0" tIns="0" rIns="0" bIns="0"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ru-RU" dirty="0"/>
              <a:t>У предыдущей схемы введения контрольных точек есть один недостаток – </a:t>
            </a:r>
            <a:r>
              <a:rPr lang="ru-RU" b="1" dirty="0"/>
              <a:t>приостановка работы системы</a:t>
            </a:r>
            <a:r>
              <a:rPr lang="ru-RU" dirty="0"/>
              <a:t>. Зависание </a:t>
            </a:r>
            <a:r>
              <a:rPr lang="ru-RU" dirty="0">
                <a:sym typeface="Wingdings" pitchFamily="2" charset="2"/>
              </a:rPr>
              <a:t></a:t>
            </a:r>
            <a:endParaRPr lang="ru-RU" dirty="0"/>
          </a:p>
          <a:p>
            <a:pPr>
              <a:lnSpc>
                <a:spcPct val="120000"/>
              </a:lnSpc>
            </a:pPr>
            <a:r>
              <a:rPr lang="ru-RU" dirty="0"/>
              <a:t>На практике обычно применяется техника </a:t>
            </a:r>
            <a:r>
              <a:rPr lang="ru-RU" b="1" dirty="0"/>
              <a:t>динамических контрольных точек:</a:t>
            </a:r>
          </a:p>
          <a:p>
            <a:pPr marL="971550" lvl="1" indent="-514350">
              <a:lnSpc>
                <a:spcPct val="120000"/>
              </a:lnSpc>
              <a:buClr>
                <a:schemeClr val="bg2"/>
              </a:buClr>
              <a:buFont typeface="+mj-lt"/>
              <a:buAutoNum type="arabicPeriod"/>
            </a:pPr>
            <a:r>
              <a:rPr lang="ru-RU" dirty="0"/>
              <a:t>Внести в протокол запись </a:t>
            </a:r>
            <a:r>
              <a:rPr lang="en-US" dirty="0"/>
              <a:t>&lt;START CKPT (T</a:t>
            </a:r>
            <a:r>
              <a:rPr lang="ru-RU" baseline="-25000" dirty="0"/>
              <a:t>1</a:t>
            </a:r>
            <a:r>
              <a:rPr lang="en-US" dirty="0"/>
              <a:t> , </a:t>
            </a:r>
            <a:r>
              <a:rPr lang="ru-RU" dirty="0"/>
              <a:t>… </a:t>
            </a:r>
            <a:r>
              <a:rPr lang="en-US" dirty="0"/>
              <a:t>,</a:t>
            </a:r>
            <a:r>
              <a:rPr lang="en-US" dirty="0" err="1"/>
              <a:t>T</a:t>
            </a:r>
            <a:r>
              <a:rPr lang="en-US" baseline="-25000" dirty="0" err="1"/>
              <a:t>k</a:t>
            </a:r>
            <a:r>
              <a:rPr lang="en-US" dirty="0"/>
              <a:t>)&gt; </a:t>
            </a:r>
            <a:r>
              <a:rPr lang="ru-RU" dirty="0"/>
              <a:t> и посредством команды </a:t>
            </a:r>
            <a:r>
              <a:rPr lang="en-US" dirty="0"/>
              <a:t>FLUSH </a:t>
            </a:r>
            <a:r>
              <a:rPr lang="ru-RU" dirty="0"/>
              <a:t> </a:t>
            </a:r>
            <a:r>
              <a:rPr lang="en-US" dirty="0"/>
              <a:t>LOG</a:t>
            </a:r>
            <a:r>
              <a:rPr lang="ru-RU" dirty="0"/>
              <a:t> «сбросить» протокол на диск. </a:t>
            </a:r>
            <a:r>
              <a:rPr lang="en-US" dirty="0"/>
              <a:t>T</a:t>
            </a:r>
            <a:r>
              <a:rPr lang="ru-RU" baseline="-25000" dirty="0"/>
              <a:t>1</a:t>
            </a:r>
            <a:r>
              <a:rPr lang="en-US" dirty="0"/>
              <a:t> , </a:t>
            </a:r>
            <a:r>
              <a:rPr lang="ru-RU" dirty="0"/>
              <a:t>… </a:t>
            </a:r>
            <a:r>
              <a:rPr lang="en-US" dirty="0"/>
              <a:t>,</a:t>
            </a:r>
            <a:r>
              <a:rPr lang="en-US" dirty="0" err="1"/>
              <a:t>T</a:t>
            </a:r>
            <a:r>
              <a:rPr lang="en-US" baseline="-25000" dirty="0" err="1"/>
              <a:t>k</a:t>
            </a:r>
            <a:r>
              <a:rPr lang="ru-RU" dirty="0"/>
              <a:t>  - имена  транзакций еще на зафиксировавшие свои результаты на диске.</a:t>
            </a:r>
          </a:p>
          <a:p>
            <a:pPr marL="971550" lvl="1" indent="-514350">
              <a:lnSpc>
                <a:spcPct val="120000"/>
              </a:lnSpc>
              <a:buClr>
                <a:schemeClr val="bg2"/>
              </a:buClr>
              <a:buFont typeface="+mj-lt"/>
              <a:buAutoNum type="arabicPeriod"/>
            </a:pPr>
            <a:r>
              <a:rPr lang="ru-RU" dirty="0"/>
              <a:t>Дождаться момента фиксации (</a:t>
            </a:r>
            <a:r>
              <a:rPr lang="en-US" dirty="0"/>
              <a:t>commit) </a:t>
            </a:r>
            <a:r>
              <a:rPr lang="ru-RU" dirty="0"/>
              <a:t>или прерывания (</a:t>
            </a:r>
            <a:r>
              <a:rPr lang="en-US" dirty="0"/>
              <a:t>abort</a:t>
            </a:r>
            <a:r>
              <a:rPr lang="ru-RU" dirty="0"/>
              <a:t>)</a:t>
            </a:r>
            <a:r>
              <a:rPr lang="en-US" dirty="0"/>
              <a:t> </a:t>
            </a:r>
            <a:r>
              <a:rPr lang="ru-RU" dirty="0"/>
              <a:t>всех транзакций </a:t>
            </a:r>
            <a:r>
              <a:rPr lang="en-US" dirty="0"/>
              <a:t>T</a:t>
            </a:r>
            <a:r>
              <a:rPr lang="ru-RU" baseline="-25000" dirty="0"/>
              <a:t>1</a:t>
            </a:r>
            <a:r>
              <a:rPr lang="en-US" dirty="0"/>
              <a:t> , </a:t>
            </a:r>
            <a:r>
              <a:rPr lang="ru-RU" dirty="0"/>
              <a:t>… </a:t>
            </a:r>
            <a:r>
              <a:rPr lang="en-US" dirty="0"/>
              <a:t>,</a:t>
            </a:r>
            <a:r>
              <a:rPr lang="en-US" dirty="0" err="1"/>
              <a:t>T</a:t>
            </a:r>
            <a:r>
              <a:rPr lang="en-US" baseline="-25000" dirty="0" err="1"/>
              <a:t>k</a:t>
            </a:r>
            <a:r>
              <a:rPr lang="ru-RU" baseline="-25000" dirty="0"/>
              <a:t> </a:t>
            </a:r>
            <a:r>
              <a:rPr lang="ru-RU" dirty="0"/>
              <a:t>, </a:t>
            </a:r>
            <a:r>
              <a:rPr lang="ru-RU" b="1" dirty="0">
                <a:cs typeface="Courier New" pitchFamily="49" charset="0"/>
              </a:rPr>
              <a:t>не запрещая возможности старта новых </a:t>
            </a:r>
            <a:r>
              <a:rPr lang="ru-RU" dirty="0">
                <a:cs typeface="Courier New" pitchFamily="49" charset="0"/>
              </a:rPr>
              <a:t>транзакций</a:t>
            </a:r>
          </a:p>
          <a:p>
            <a:pPr marL="971550" lvl="1" indent="-514350">
              <a:lnSpc>
                <a:spcPct val="120000"/>
              </a:lnSpc>
              <a:buClr>
                <a:schemeClr val="bg2"/>
              </a:buClr>
              <a:buFont typeface="+mj-lt"/>
              <a:buAutoNum type="arabicPeriod"/>
            </a:pPr>
            <a:r>
              <a:rPr lang="ru-RU" dirty="0"/>
              <a:t>По завершении работы всех транзакций </a:t>
            </a:r>
            <a:r>
              <a:rPr lang="en-US" dirty="0"/>
              <a:t>T</a:t>
            </a:r>
            <a:r>
              <a:rPr lang="ru-RU" baseline="-25000" dirty="0"/>
              <a:t>1</a:t>
            </a:r>
            <a:r>
              <a:rPr lang="en-US" dirty="0"/>
              <a:t> , </a:t>
            </a:r>
            <a:r>
              <a:rPr lang="ru-RU" dirty="0"/>
              <a:t>… </a:t>
            </a:r>
            <a:r>
              <a:rPr lang="en-US" dirty="0"/>
              <a:t>,</a:t>
            </a:r>
            <a:r>
              <a:rPr lang="en-US" dirty="0" err="1"/>
              <a:t>T</a:t>
            </a:r>
            <a:r>
              <a:rPr lang="en-US" baseline="-25000" dirty="0" err="1"/>
              <a:t>k</a:t>
            </a:r>
            <a:r>
              <a:rPr lang="ru-RU" dirty="0"/>
              <a:t>  сохранить в протоколе запись </a:t>
            </a:r>
            <a:r>
              <a:rPr lang="en-US" dirty="0"/>
              <a:t>&lt;END   CKPT&gt; </a:t>
            </a:r>
            <a:r>
              <a:rPr lang="ru-RU" dirty="0"/>
              <a:t> и инициировать команду </a:t>
            </a:r>
            <a:r>
              <a:rPr lang="en-US" dirty="0"/>
              <a:t>FLUSH </a:t>
            </a:r>
            <a:r>
              <a:rPr lang="ru-RU" dirty="0"/>
              <a:t> </a:t>
            </a:r>
            <a:r>
              <a:rPr lang="en-US" dirty="0"/>
              <a:t>LOG</a:t>
            </a:r>
            <a:r>
              <a:rPr lang="ru-RU" dirty="0"/>
              <a:t> </a:t>
            </a:r>
            <a:endParaRPr lang="ru-RU" dirty="0">
              <a:cs typeface="Courier New" pitchFamily="49" charset="0"/>
            </a:endParaRPr>
          </a:p>
          <a:p>
            <a:pPr lvl="1">
              <a:lnSpc>
                <a:spcPct val="120000"/>
              </a:lnSpc>
              <a:buClr>
                <a:schemeClr val="bg2"/>
              </a:buClr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61184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49F688F-E6B0-4FD2-A40D-BE0C1EDDAA0C}" type="slidenum">
              <a:rPr lang="ru-RU" smtClean="0"/>
              <a:pPr>
                <a:defRPr/>
              </a:pPr>
              <a:t>25</a:t>
            </a:fld>
            <a:endParaRPr lang="ru-RU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468313" y="119928"/>
            <a:ext cx="8229600" cy="668338"/>
          </a:xfrm>
        </p:spPr>
        <p:txBody>
          <a:bodyPr/>
          <a:lstStyle/>
          <a:p>
            <a:pPr algn="ctr"/>
            <a:r>
              <a:rPr lang="ru-RU" sz="2800" dirty="0">
                <a:solidFill>
                  <a:schemeClr val="bg2"/>
                </a:solidFill>
              </a:rPr>
              <a:t>Восстановление  по протоколу </a:t>
            </a:r>
            <a:r>
              <a:rPr lang="en-US" sz="2800" dirty="0">
                <a:solidFill>
                  <a:schemeClr val="bg2"/>
                </a:solidFill>
              </a:rPr>
              <a:t>UNDO </a:t>
            </a:r>
            <a:r>
              <a:rPr lang="ru-RU" sz="2800" dirty="0">
                <a:solidFill>
                  <a:schemeClr val="bg2"/>
                </a:solidFill>
              </a:rPr>
              <a:t>и ДКТ</a:t>
            </a:r>
            <a:endParaRPr lang="ru-RU" sz="2800" dirty="0"/>
          </a:p>
        </p:txBody>
      </p:sp>
      <p:sp>
        <p:nvSpPr>
          <p:cNvPr id="8" name="Содержимое 2"/>
          <p:cNvSpPr>
            <a:spLocks noGrp="1"/>
          </p:cNvSpPr>
          <p:nvPr>
            <p:ph idx="1"/>
          </p:nvPr>
        </p:nvSpPr>
        <p:spPr>
          <a:xfrm>
            <a:off x="1" y="777239"/>
            <a:ext cx="9143999" cy="5878741"/>
          </a:xfrm>
        </p:spPr>
        <p:txBody>
          <a:bodyPr lIns="0" tIns="0" rIns="0" bIns="0">
            <a:normAutofit fontScale="85000" lnSpcReduction="10000"/>
          </a:bodyPr>
          <a:lstStyle/>
          <a:p>
            <a:pPr>
              <a:lnSpc>
                <a:spcPct val="134000"/>
              </a:lnSpc>
              <a:spcBef>
                <a:spcPts val="600"/>
              </a:spcBef>
            </a:pPr>
            <a:r>
              <a:rPr lang="ru-RU" sz="2000" dirty="0"/>
              <a:t>Как обычно менеджер восстановления сканирует журнал </a:t>
            </a:r>
            <a:r>
              <a:rPr lang="ru-RU" sz="2000" b="1" dirty="0"/>
              <a:t>от конца к началу</a:t>
            </a:r>
            <a:r>
              <a:rPr lang="ru-RU" sz="2000" dirty="0"/>
              <a:t>. </a:t>
            </a:r>
          </a:p>
          <a:p>
            <a:pPr>
              <a:lnSpc>
                <a:spcPct val="134000"/>
              </a:lnSpc>
              <a:spcBef>
                <a:spcPts val="600"/>
              </a:spcBef>
              <a:buNone/>
            </a:pPr>
            <a:r>
              <a:rPr lang="ru-RU" sz="2000" dirty="0"/>
              <a:t>	Заслуживают внимания </a:t>
            </a:r>
            <a:r>
              <a:rPr lang="ru-RU" sz="2000" u="sng" dirty="0"/>
              <a:t>2 ситуации</a:t>
            </a:r>
            <a:r>
              <a:rPr lang="ru-RU" sz="2000" dirty="0"/>
              <a:t>:</a:t>
            </a:r>
          </a:p>
          <a:p>
            <a:pPr>
              <a:lnSpc>
                <a:spcPct val="134000"/>
              </a:lnSpc>
              <a:spcBef>
                <a:spcPts val="600"/>
              </a:spcBef>
            </a:pPr>
            <a:r>
              <a:rPr lang="ru-RU" sz="2000" b="1" dirty="0"/>
              <a:t>Первой</a:t>
            </a:r>
            <a:r>
              <a:rPr lang="ru-RU" sz="2000" dirty="0"/>
              <a:t> встречается запись </a:t>
            </a:r>
            <a:r>
              <a:rPr lang="en-US" sz="2000" b="1" dirty="0"/>
              <a:t>&lt;END CKPT&gt;</a:t>
            </a:r>
            <a:r>
              <a:rPr lang="en-US" sz="2000" dirty="0"/>
              <a:t>.</a:t>
            </a:r>
            <a:r>
              <a:rPr lang="ru-RU" sz="2000" dirty="0"/>
              <a:t> Значит все незавершенные транзакции начали выполняться после внесения записи </a:t>
            </a:r>
            <a:r>
              <a:rPr lang="en-US" sz="2000" dirty="0"/>
              <a:t> &lt;START CKPT (T</a:t>
            </a:r>
            <a:r>
              <a:rPr lang="ru-RU" sz="2000" baseline="-25000" dirty="0"/>
              <a:t>1</a:t>
            </a:r>
            <a:r>
              <a:rPr lang="en-US" sz="2000" dirty="0"/>
              <a:t> , </a:t>
            </a:r>
            <a:r>
              <a:rPr lang="ru-RU" sz="2000" dirty="0"/>
              <a:t>… </a:t>
            </a:r>
            <a:r>
              <a:rPr lang="en-US" sz="2000" dirty="0"/>
              <a:t>,</a:t>
            </a:r>
            <a:r>
              <a:rPr lang="en-US" sz="2000" dirty="0" err="1"/>
              <a:t>T</a:t>
            </a:r>
            <a:r>
              <a:rPr lang="en-US" sz="2000" baseline="-25000" dirty="0" err="1"/>
              <a:t>k</a:t>
            </a:r>
            <a:r>
              <a:rPr lang="en-US" sz="2000" dirty="0"/>
              <a:t>) &gt;</a:t>
            </a:r>
            <a:r>
              <a:rPr lang="ru-RU" sz="2000" dirty="0"/>
              <a:t>. </a:t>
            </a:r>
          </a:p>
          <a:p>
            <a:pPr>
              <a:lnSpc>
                <a:spcPct val="134000"/>
              </a:lnSpc>
              <a:spcBef>
                <a:spcPts val="600"/>
              </a:spcBef>
              <a:buNone/>
            </a:pPr>
            <a:r>
              <a:rPr lang="ru-RU" sz="2000" dirty="0"/>
              <a:t>	Следовательно достаточно просканировать журнал до записи </a:t>
            </a:r>
            <a:br>
              <a:rPr lang="ru-RU" sz="2000" dirty="0"/>
            </a:br>
            <a:r>
              <a:rPr lang="en-US" sz="2000" dirty="0"/>
              <a:t>&lt;START CKPT (T</a:t>
            </a:r>
            <a:r>
              <a:rPr lang="ru-RU" sz="2000" baseline="-25000" dirty="0"/>
              <a:t>1</a:t>
            </a:r>
            <a:r>
              <a:rPr lang="en-US" sz="2000" dirty="0"/>
              <a:t> , </a:t>
            </a:r>
            <a:r>
              <a:rPr lang="ru-RU" sz="2000" dirty="0"/>
              <a:t>… </a:t>
            </a:r>
            <a:r>
              <a:rPr lang="en-US" sz="2000" dirty="0"/>
              <a:t>,</a:t>
            </a:r>
            <a:r>
              <a:rPr lang="en-US" sz="2000" dirty="0" err="1"/>
              <a:t>T</a:t>
            </a:r>
            <a:r>
              <a:rPr lang="en-US" sz="2000" baseline="-25000" dirty="0" err="1"/>
              <a:t>k</a:t>
            </a:r>
            <a:r>
              <a:rPr lang="en-US" sz="2000" dirty="0"/>
              <a:t>) &gt;</a:t>
            </a:r>
            <a:r>
              <a:rPr lang="ru-RU" sz="2000" dirty="0"/>
              <a:t> и восстановить значения элементов данных, измененные незавершенными транзакциями </a:t>
            </a:r>
            <a:r>
              <a:rPr lang="en-US" sz="2000" b="1" i="1" dirty="0">
                <a:cs typeface="Times New Roman" panose="02020603050405020304" pitchFamily="18" charset="0"/>
              </a:rPr>
              <a:t>T</a:t>
            </a:r>
            <a:r>
              <a:rPr lang="en-US" sz="2000" b="1" i="1" baseline="-25000" dirty="0">
                <a:cs typeface="Times New Roman" panose="02020603050405020304" pitchFamily="18" charset="0"/>
              </a:rPr>
              <a:t>i </a:t>
            </a:r>
            <a:r>
              <a:rPr lang="en-US" sz="2000" b="1" i="1" dirty="0">
                <a:cs typeface="Times New Roman" panose="02020603050405020304" pitchFamily="18" charset="0"/>
              </a:rPr>
              <a:t> ( </a:t>
            </a:r>
            <a:r>
              <a:rPr lang="en-US" sz="2000" b="1" i="1" dirty="0" err="1">
                <a:cs typeface="Times New Roman" panose="02020603050405020304" pitchFamily="18" charset="0"/>
              </a:rPr>
              <a:t>i</a:t>
            </a:r>
            <a:r>
              <a:rPr lang="en-US" sz="2000" b="1" i="1" dirty="0">
                <a:cs typeface="Times New Roman" panose="02020603050405020304" pitchFamily="18" charset="0"/>
              </a:rPr>
              <a:t> &gt; k ) </a:t>
            </a:r>
            <a:r>
              <a:rPr lang="ru-RU" sz="2000" dirty="0"/>
              <a:t>, запущенными после этой записи (см.п.2 протокола ДКТ).</a:t>
            </a:r>
          </a:p>
          <a:p>
            <a:pPr>
              <a:lnSpc>
                <a:spcPct val="134000"/>
              </a:lnSpc>
              <a:spcBef>
                <a:spcPts val="600"/>
              </a:spcBef>
            </a:pPr>
            <a:r>
              <a:rPr lang="ru-RU" sz="2000" b="1" dirty="0"/>
              <a:t>Первой</a:t>
            </a:r>
            <a:r>
              <a:rPr lang="ru-RU" sz="2000" dirty="0"/>
              <a:t> встречается запись </a:t>
            </a:r>
            <a:r>
              <a:rPr lang="en-US" sz="2000" b="1" dirty="0"/>
              <a:t>&lt;START CKPT (T</a:t>
            </a:r>
            <a:r>
              <a:rPr lang="ru-RU" sz="2000" b="1" baseline="-25000" dirty="0"/>
              <a:t>1</a:t>
            </a:r>
            <a:r>
              <a:rPr lang="en-US" sz="2000" b="1" dirty="0"/>
              <a:t> , </a:t>
            </a:r>
            <a:r>
              <a:rPr lang="ru-RU" sz="2000" b="1" dirty="0"/>
              <a:t>… </a:t>
            </a:r>
            <a:r>
              <a:rPr lang="en-US" sz="2000" b="1" dirty="0"/>
              <a:t>,</a:t>
            </a:r>
            <a:r>
              <a:rPr lang="en-US" sz="2000" b="1" dirty="0" err="1"/>
              <a:t>T</a:t>
            </a:r>
            <a:r>
              <a:rPr lang="en-US" sz="2000" b="1" baseline="-25000" dirty="0" err="1"/>
              <a:t>k</a:t>
            </a:r>
            <a:r>
              <a:rPr lang="en-US" sz="2000" b="1" dirty="0"/>
              <a:t>)&gt;</a:t>
            </a:r>
            <a:r>
              <a:rPr lang="ru-RU" sz="2000" dirty="0"/>
              <a:t>. </a:t>
            </a:r>
            <a:br>
              <a:rPr lang="ru-RU" sz="2000" dirty="0"/>
            </a:br>
            <a:r>
              <a:rPr lang="ru-RU" sz="2000" dirty="0"/>
              <a:t>Следовательно сбой произошел в </a:t>
            </a:r>
            <a:r>
              <a:rPr lang="ru-RU" sz="2000" b="1" dirty="0"/>
              <a:t>момент введения контрольной точки</a:t>
            </a:r>
            <a:r>
              <a:rPr lang="ru-RU" sz="2000" dirty="0"/>
              <a:t>. Незавершенными окажутся только такие из числа </a:t>
            </a:r>
            <a:r>
              <a:rPr lang="en-US" sz="2000" dirty="0"/>
              <a:t>T</a:t>
            </a:r>
            <a:r>
              <a:rPr lang="ru-RU" sz="2000" baseline="-25000" dirty="0"/>
              <a:t>1</a:t>
            </a:r>
            <a:r>
              <a:rPr lang="en-US" sz="2000" dirty="0"/>
              <a:t> , </a:t>
            </a:r>
            <a:r>
              <a:rPr lang="ru-RU" sz="2000" dirty="0"/>
              <a:t>… </a:t>
            </a:r>
            <a:r>
              <a:rPr lang="en-US" sz="2000" dirty="0"/>
              <a:t>,</a:t>
            </a:r>
            <a:r>
              <a:rPr lang="en-US" sz="2000" dirty="0" err="1"/>
              <a:t>T</a:t>
            </a:r>
            <a:r>
              <a:rPr lang="en-US" sz="2000" baseline="-25000" dirty="0" err="1"/>
              <a:t>k</a:t>
            </a:r>
            <a:r>
              <a:rPr lang="ru-RU" sz="2000" baseline="-25000" dirty="0"/>
              <a:t> </a:t>
            </a:r>
            <a:r>
              <a:rPr lang="ru-RU" sz="2000" dirty="0"/>
              <a:t> , которые упоминались в записях журнала до </a:t>
            </a:r>
            <a:r>
              <a:rPr lang="en-US" sz="2000" dirty="0"/>
              <a:t>&lt;START CKPT (T</a:t>
            </a:r>
            <a:r>
              <a:rPr lang="ru-RU" sz="2000" baseline="-25000" dirty="0"/>
              <a:t>1</a:t>
            </a:r>
            <a:r>
              <a:rPr lang="en-US" sz="2000" dirty="0"/>
              <a:t> , </a:t>
            </a:r>
            <a:r>
              <a:rPr lang="ru-RU" sz="2000" dirty="0"/>
              <a:t>… </a:t>
            </a:r>
            <a:r>
              <a:rPr lang="en-US" sz="2000" dirty="0"/>
              <a:t>,</a:t>
            </a:r>
            <a:r>
              <a:rPr lang="en-US" sz="2000" dirty="0" err="1"/>
              <a:t>T</a:t>
            </a:r>
            <a:r>
              <a:rPr lang="en-US" sz="2000" baseline="-25000" dirty="0" err="1"/>
              <a:t>k</a:t>
            </a:r>
            <a:r>
              <a:rPr lang="en-US" sz="2000" dirty="0"/>
              <a:t>) &gt;</a:t>
            </a:r>
            <a:r>
              <a:rPr lang="ru-RU" sz="2000" dirty="0"/>
              <a:t> и не успели фиксировать свои результаты. Поэтому восстановление ведем только до самой первой записи в журнале самой первой транзакции из </a:t>
            </a:r>
            <a:r>
              <a:rPr lang="en-US" sz="2000" dirty="0"/>
              <a:t>T</a:t>
            </a:r>
            <a:r>
              <a:rPr lang="ru-RU" sz="2000" baseline="-25000" dirty="0"/>
              <a:t>1</a:t>
            </a:r>
            <a:r>
              <a:rPr lang="en-US" sz="2000" dirty="0"/>
              <a:t> , </a:t>
            </a:r>
            <a:r>
              <a:rPr lang="ru-RU" sz="2000" dirty="0"/>
              <a:t>… </a:t>
            </a:r>
            <a:r>
              <a:rPr lang="en-US" sz="2000" dirty="0"/>
              <a:t>,</a:t>
            </a:r>
            <a:r>
              <a:rPr lang="en-US" sz="2000" dirty="0" err="1"/>
              <a:t>T</a:t>
            </a:r>
            <a:r>
              <a:rPr lang="en-US" sz="2000" baseline="-25000" dirty="0" err="1"/>
              <a:t>k</a:t>
            </a:r>
            <a:r>
              <a:rPr lang="en-US" sz="2000" dirty="0"/>
              <a:t> </a:t>
            </a:r>
            <a:endParaRPr lang="ru-RU" sz="2000" dirty="0"/>
          </a:p>
          <a:p>
            <a:pPr>
              <a:lnSpc>
                <a:spcPct val="134000"/>
              </a:lnSpc>
              <a:spcBef>
                <a:spcPts val="600"/>
              </a:spcBef>
            </a:pPr>
            <a:r>
              <a:rPr lang="ru-RU" sz="2000" dirty="0"/>
              <a:t>Уместно заметить, что как только в протоколе сохранена запись </a:t>
            </a:r>
            <a:br>
              <a:rPr lang="ru-RU" sz="2000" dirty="0"/>
            </a:br>
            <a:r>
              <a:rPr lang="en-US" sz="2000" dirty="0"/>
              <a:t>&lt;END CKPT&gt;</a:t>
            </a:r>
            <a:r>
              <a:rPr lang="ru-RU" sz="2000" dirty="0"/>
              <a:t> часть протокола до ПРЕДЫДУЩЕЙ записи </a:t>
            </a:r>
            <a:r>
              <a:rPr lang="en-US" sz="2000" dirty="0"/>
              <a:t>&lt;START CKPT </a:t>
            </a:r>
            <a:r>
              <a:rPr lang="ru-RU" sz="2000" dirty="0"/>
              <a:t>…</a:t>
            </a:r>
            <a:r>
              <a:rPr lang="en-US" sz="2000" dirty="0"/>
              <a:t>&gt; </a:t>
            </a:r>
            <a:r>
              <a:rPr lang="ru-RU" sz="2000" dirty="0"/>
              <a:t>может быть безбоязненно удалена</a:t>
            </a:r>
            <a:r>
              <a:rPr lang="en-US" sz="2000" dirty="0"/>
              <a:t>.</a:t>
            </a:r>
            <a:r>
              <a:rPr lang="ru-RU" sz="2000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061184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49F688F-E6B0-4FD2-A40D-BE0C1EDDAA0C}" type="slidenum">
              <a:rPr lang="ru-RU" smtClean="0"/>
              <a:pPr>
                <a:defRPr/>
              </a:pPr>
              <a:t>26</a:t>
            </a:fld>
            <a:endParaRPr lang="ru-RU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468313" y="58968"/>
            <a:ext cx="8229600" cy="668338"/>
          </a:xfrm>
        </p:spPr>
        <p:txBody>
          <a:bodyPr/>
          <a:lstStyle/>
          <a:p>
            <a:pPr algn="ctr"/>
            <a:r>
              <a:rPr lang="ru-RU" sz="2800" dirty="0">
                <a:solidFill>
                  <a:schemeClr val="bg2"/>
                </a:solidFill>
              </a:rPr>
              <a:t>Восстановление  по протоколу </a:t>
            </a:r>
            <a:r>
              <a:rPr lang="en-US" sz="2800" dirty="0">
                <a:solidFill>
                  <a:schemeClr val="bg2"/>
                </a:solidFill>
              </a:rPr>
              <a:t>UNDO </a:t>
            </a:r>
            <a:r>
              <a:rPr lang="ru-RU" sz="2800" dirty="0">
                <a:solidFill>
                  <a:schemeClr val="bg2"/>
                </a:solidFill>
              </a:rPr>
              <a:t>и ДКТ</a:t>
            </a:r>
            <a:endParaRPr lang="ru-RU" sz="2800" dirty="0"/>
          </a:p>
        </p:txBody>
      </p:sp>
      <p:sp>
        <p:nvSpPr>
          <p:cNvPr id="8" name="Содержимое 2"/>
          <p:cNvSpPr>
            <a:spLocks noGrp="1"/>
          </p:cNvSpPr>
          <p:nvPr>
            <p:ph idx="1"/>
          </p:nvPr>
        </p:nvSpPr>
        <p:spPr>
          <a:xfrm>
            <a:off x="198120" y="777240"/>
            <a:ext cx="6385560" cy="5985933"/>
          </a:xfrm>
        </p:spPr>
        <p:txBody>
          <a:bodyPr lIns="0" tIns="0" rIns="0" bIns="0"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ru-RU" u="sng" dirty="0"/>
              <a:t>Пример 1.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b="1" dirty="0">
                <a:solidFill>
                  <a:srgbClr val="00B050"/>
                </a:solidFill>
              </a:rPr>
              <a:t>	</a:t>
            </a:r>
            <a:r>
              <a:rPr lang="en-US" b="1" dirty="0">
                <a:solidFill>
                  <a:srgbClr val="00B050"/>
                </a:solidFill>
              </a:rPr>
              <a:t>&lt;START  T</a:t>
            </a:r>
            <a:r>
              <a:rPr lang="en-US" b="1" baseline="-25000" dirty="0">
                <a:solidFill>
                  <a:srgbClr val="00B050"/>
                </a:solidFill>
              </a:rPr>
              <a:t>1</a:t>
            </a:r>
            <a:r>
              <a:rPr lang="en-US" b="1" dirty="0">
                <a:solidFill>
                  <a:srgbClr val="00B050"/>
                </a:solidFill>
              </a:rPr>
              <a:t>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b="1" dirty="0">
                <a:solidFill>
                  <a:srgbClr val="00B050"/>
                </a:solidFill>
              </a:rPr>
              <a:t>	</a:t>
            </a:r>
            <a:r>
              <a:rPr lang="en-US" b="1" dirty="0">
                <a:solidFill>
                  <a:srgbClr val="00B050"/>
                </a:solidFill>
              </a:rPr>
              <a:t>&lt;T</a:t>
            </a:r>
            <a:r>
              <a:rPr lang="en-US" b="1" baseline="-25000" dirty="0">
                <a:solidFill>
                  <a:srgbClr val="00B050"/>
                </a:solidFill>
              </a:rPr>
              <a:t>1</a:t>
            </a:r>
            <a:r>
              <a:rPr lang="en-US" b="1" dirty="0">
                <a:solidFill>
                  <a:srgbClr val="00B050"/>
                </a:solidFill>
              </a:rPr>
              <a:t>, A, 5&gt;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b="1" dirty="0">
                <a:solidFill>
                  <a:srgbClr val="00B050"/>
                </a:solidFill>
              </a:rPr>
              <a:t>	</a:t>
            </a:r>
            <a:r>
              <a:rPr lang="en-US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&lt;START  T</a:t>
            </a:r>
            <a:r>
              <a:rPr lang="en-US" b="1" baseline="-250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2</a:t>
            </a:r>
            <a:r>
              <a:rPr lang="en-US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	</a:t>
            </a:r>
            <a:r>
              <a:rPr lang="en-US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&lt;T</a:t>
            </a:r>
            <a:r>
              <a:rPr lang="en-US" b="1" baseline="-250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2</a:t>
            </a:r>
            <a:r>
              <a:rPr lang="en-US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, B, 10&gt;</a:t>
            </a:r>
            <a:endParaRPr lang="ru-RU" b="1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ru-RU" b="1" dirty="0"/>
              <a:t>	</a:t>
            </a:r>
            <a:r>
              <a:rPr lang="en-US" b="1" dirty="0">
                <a:solidFill>
                  <a:srgbClr val="7030A0"/>
                </a:solidFill>
              </a:rPr>
              <a:t>&lt;START CKPT (T</a:t>
            </a:r>
            <a:r>
              <a:rPr lang="ru-RU" b="1" baseline="-25000" dirty="0">
                <a:solidFill>
                  <a:srgbClr val="7030A0"/>
                </a:solidFill>
              </a:rPr>
              <a:t>1</a:t>
            </a:r>
            <a:r>
              <a:rPr lang="en-US" b="1" dirty="0">
                <a:solidFill>
                  <a:srgbClr val="7030A0"/>
                </a:solidFill>
              </a:rPr>
              <a:t> </a:t>
            </a:r>
            <a:r>
              <a:rPr lang="ru-RU" b="1" dirty="0">
                <a:solidFill>
                  <a:srgbClr val="7030A0"/>
                </a:solidFill>
              </a:rPr>
              <a:t>,</a:t>
            </a:r>
            <a:r>
              <a:rPr lang="en-US" b="1" dirty="0">
                <a:solidFill>
                  <a:srgbClr val="7030A0"/>
                </a:solidFill>
              </a:rPr>
              <a:t>T</a:t>
            </a:r>
            <a:r>
              <a:rPr lang="ru-RU" b="1" baseline="-25000" dirty="0">
                <a:solidFill>
                  <a:srgbClr val="7030A0"/>
                </a:solidFill>
              </a:rPr>
              <a:t>2</a:t>
            </a:r>
            <a:r>
              <a:rPr lang="en-US" b="1" dirty="0">
                <a:solidFill>
                  <a:srgbClr val="7030A0"/>
                </a:solidFill>
              </a:rPr>
              <a:t>)&gt;</a:t>
            </a:r>
            <a:r>
              <a:rPr lang="ru-RU" dirty="0">
                <a:solidFill>
                  <a:srgbClr val="7030A0"/>
                </a:solidFill>
              </a:rPr>
              <a:t> - инициация ДКТ</a:t>
            </a:r>
            <a:br>
              <a:rPr lang="ru-RU" dirty="0">
                <a:solidFill>
                  <a:srgbClr val="7030A0"/>
                </a:solidFill>
              </a:rPr>
            </a:br>
            <a:r>
              <a:rPr lang="ru-RU" dirty="0"/>
              <a:t>	</a:t>
            </a:r>
            <a:r>
              <a:rPr lang="en-US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&lt;T</a:t>
            </a:r>
            <a:r>
              <a:rPr lang="en-US" b="1" baseline="-250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2</a:t>
            </a:r>
            <a:r>
              <a:rPr lang="en-US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, C, 15&gt;</a:t>
            </a:r>
            <a:endParaRPr lang="ru-RU" b="1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ru-RU" b="1" dirty="0"/>
              <a:t>	</a:t>
            </a:r>
            <a:r>
              <a:rPr lang="en-US" b="1" dirty="0">
                <a:solidFill>
                  <a:srgbClr val="DE4110"/>
                </a:solidFill>
              </a:rPr>
              <a:t>&lt;START  T</a:t>
            </a:r>
            <a:r>
              <a:rPr lang="en-US" b="1" baseline="-25000" dirty="0">
                <a:solidFill>
                  <a:srgbClr val="DE4110"/>
                </a:solidFill>
              </a:rPr>
              <a:t>3</a:t>
            </a:r>
            <a:r>
              <a:rPr lang="en-US" b="1" dirty="0">
                <a:solidFill>
                  <a:srgbClr val="DE4110"/>
                </a:solidFill>
              </a:rPr>
              <a:t>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b="1" dirty="0"/>
              <a:t>	</a:t>
            </a:r>
            <a:r>
              <a:rPr lang="en-US" b="1" dirty="0">
                <a:solidFill>
                  <a:srgbClr val="00B050"/>
                </a:solidFill>
              </a:rPr>
              <a:t>&lt;T</a:t>
            </a:r>
            <a:r>
              <a:rPr lang="en-US" b="1" baseline="-25000" dirty="0">
                <a:solidFill>
                  <a:srgbClr val="00B050"/>
                </a:solidFill>
              </a:rPr>
              <a:t>1</a:t>
            </a:r>
            <a:r>
              <a:rPr lang="en-US" b="1" dirty="0">
                <a:solidFill>
                  <a:srgbClr val="00B050"/>
                </a:solidFill>
              </a:rPr>
              <a:t>, D, 20&gt;</a:t>
            </a:r>
            <a:endParaRPr lang="ru-RU" b="1" dirty="0">
              <a:solidFill>
                <a:srgbClr val="00B050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ru-RU" dirty="0"/>
              <a:t>	</a:t>
            </a:r>
            <a:r>
              <a:rPr lang="en-US" sz="3100" b="1" dirty="0">
                <a:solidFill>
                  <a:srgbClr val="00B050"/>
                </a:solidFill>
              </a:rPr>
              <a:t>&lt;COMMIT  T</a:t>
            </a:r>
            <a:r>
              <a:rPr lang="en-US" sz="3100" b="1" baseline="-25000" dirty="0">
                <a:solidFill>
                  <a:srgbClr val="00B050"/>
                </a:solidFill>
              </a:rPr>
              <a:t>1</a:t>
            </a:r>
            <a:r>
              <a:rPr lang="en-US" sz="3100" b="1" dirty="0">
                <a:solidFill>
                  <a:srgbClr val="00B050"/>
                </a:solidFill>
              </a:rPr>
              <a:t>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dirty="0"/>
              <a:t>	</a:t>
            </a:r>
            <a:r>
              <a:rPr lang="en-US" b="1" dirty="0">
                <a:solidFill>
                  <a:srgbClr val="DE4110"/>
                </a:solidFill>
              </a:rPr>
              <a:t>&lt;T</a:t>
            </a:r>
            <a:r>
              <a:rPr lang="en-US" b="1" baseline="-25000" dirty="0">
                <a:solidFill>
                  <a:srgbClr val="DE4110"/>
                </a:solidFill>
              </a:rPr>
              <a:t>3</a:t>
            </a:r>
            <a:r>
              <a:rPr lang="en-US" b="1" dirty="0">
                <a:solidFill>
                  <a:srgbClr val="DE4110"/>
                </a:solidFill>
              </a:rPr>
              <a:t>, E, 25&gt;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b="1" dirty="0"/>
              <a:t>	</a:t>
            </a:r>
            <a:r>
              <a:rPr lang="en-US" b="1" dirty="0">
                <a:solidFill>
                  <a:srgbClr val="3333FF"/>
                </a:solidFill>
              </a:rPr>
              <a:t>&lt;COMMIT  T</a:t>
            </a:r>
            <a:r>
              <a:rPr lang="en-US" b="1" baseline="-25000" dirty="0">
                <a:solidFill>
                  <a:srgbClr val="3333FF"/>
                </a:solidFill>
              </a:rPr>
              <a:t>2</a:t>
            </a:r>
            <a:r>
              <a:rPr lang="en-US" b="1" dirty="0">
                <a:solidFill>
                  <a:srgbClr val="3333FF"/>
                </a:solidFill>
              </a:rPr>
              <a:t>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b="1" dirty="0"/>
              <a:t>	</a:t>
            </a:r>
            <a:r>
              <a:rPr lang="en-US" b="1" dirty="0">
                <a:solidFill>
                  <a:srgbClr val="7030A0"/>
                </a:solidFill>
              </a:rPr>
              <a:t>&lt;END CKPT&gt;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dirty="0"/>
              <a:t>	</a:t>
            </a:r>
            <a:r>
              <a:rPr lang="en-US" b="1" dirty="0">
                <a:solidFill>
                  <a:srgbClr val="DE4110"/>
                </a:solidFill>
              </a:rPr>
              <a:t>&lt;T</a:t>
            </a:r>
            <a:r>
              <a:rPr lang="en-US" b="1" baseline="-25000" dirty="0">
                <a:solidFill>
                  <a:srgbClr val="DE4110"/>
                </a:solidFill>
              </a:rPr>
              <a:t>3</a:t>
            </a:r>
            <a:r>
              <a:rPr lang="en-US" b="1" dirty="0">
                <a:solidFill>
                  <a:srgbClr val="DE4110"/>
                </a:solidFill>
              </a:rPr>
              <a:t>, F, 30&gt;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b="1" dirty="0">
                <a:solidFill>
                  <a:srgbClr val="FF0000"/>
                </a:solidFill>
              </a:rPr>
              <a:t>	ОТКАЗ СИСТЕМЫ</a:t>
            </a:r>
          </a:p>
        </p:txBody>
      </p:sp>
      <p:sp>
        <p:nvSpPr>
          <p:cNvPr id="2" name="Стрелка вверх 1"/>
          <p:cNvSpPr/>
          <p:nvPr/>
        </p:nvSpPr>
        <p:spPr>
          <a:xfrm>
            <a:off x="388620" y="5684520"/>
            <a:ext cx="289560" cy="85344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3596640" y="3215640"/>
            <a:ext cx="5425440" cy="3582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Сканируя журнал обнаруживаем, что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ru-RU" sz="2000" dirty="0"/>
              <a:t>Транзакция </a:t>
            </a:r>
            <a:r>
              <a:rPr lang="ru-RU" sz="2000" b="1" dirty="0"/>
              <a:t>Т</a:t>
            </a:r>
            <a:r>
              <a:rPr lang="ru-RU" sz="2000" b="1" baseline="-25000" dirty="0"/>
              <a:t>3</a:t>
            </a:r>
            <a:r>
              <a:rPr lang="ru-RU" sz="2000" b="1" dirty="0"/>
              <a:t>  не завершена и подлежит отмене. </a:t>
            </a:r>
            <a:r>
              <a:rPr lang="en-US" sz="2000" b="1" dirty="0">
                <a:solidFill>
                  <a:srgbClr val="DE4110"/>
                </a:solidFill>
              </a:rPr>
              <a:t>F</a:t>
            </a:r>
            <a:r>
              <a:rPr lang="ru-RU" sz="2000" b="1" dirty="0">
                <a:solidFill>
                  <a:srgbClr val="DE4110"/>
                </a:solidFill>
              </a:rPr>
              <a:t> возвращаем </a:t>
            </a:r>
            <a:r>
              <a:rPr lang="en-US" sz="2000" b="1" dirty="0">
                <a:solidFill>
                  <a:srgbClr val="DE4110"/>
                </a:solidFill>
              </a:rPr>
              <a:t>30</a:t>
            </a:r>
            <a:endParaRPr lang="ru-RU" sz="20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ru-RU" sz="2000" dirty="0"/>
              <a:t>Так как первая встретившая запись ДКТ</a:t>
            </a:r>
            <a:br>
              <a:rPr lang="ru-RU" sz="2000" dirty="0"/>
            </a:br>
            <a:r>
              <a:rPr lang="en-US" sz="2000" b="1" dirty="0">
                <a:solidFill>
                  <a:srgbClr val="7030A0"/>
                </a:solidFill>
              </a:rPr>
              <a:t>&lt;END CKPT&gt;</a:t>
            </a:r>
            <a:r>
              <a:rPr lang="ru-RU" sz="2000" b="1" dirty="0">
                <a:solidFill>
                  <a:srgbClr val="7030A0"/>
                </a:solidFill>
              </a:rPr>
              <a:t>, </a:t>
            </a:r>
            <a:r>
              <a:rPr lang="ru-RU" sz="2000" dirty="0"/>
              <a:t>то остальные незафиксированные транзакции стартовали после </a:t>
            </a:r>
            <a:r>
              <a:rPr lang="en-US" sz="2000" b="1" dirty="0">
                <a:solidFill>
                  <a:srgbClr val="7030A0"/>
                </a:solidFill>
              </a:rPr>
              <a:t>&lt;START CKPT (T</a:t>
            </a:r>
            <a:r>
              <a:rPr lang="ru-RU" sz="2000" b="1" baseline="-25000" dirty="0">
                <a:solidFill>
                  <a:srgbClr val="7030A0"/>
                </a:solidFill>
              </a:rPr>
              <a:t>1</a:t>
            </a:r>
            <a:r>
              <a:rPr lang="ru-RU" sz="2000" b="1" dirty="0">
                <a:solidFill>
                  <a:srgbClr val="7030A0"/>
                </a:solidFill>
              </a:rPr>
              <a:t>,</a:t>
            </a:r>
            <a:r>
              <a:rPr lang="en-US" sz="2000" b="1" dirty="0">
                <a:solidFill>
                  <a:srgbClr val="7030A0"/>
                </a:solidFill>
              </a:rPr>
              <a:t>T</a:t>
            </a:r>
            <a:r>
              <a:rPr lang="ru-RU" sz="2000" b="1" baseline="-25000" dirty="0">
                <a:solidFill>
                  <a:srgbClr val="7030A0"/>
                </a:solidFill>
              </a:rPr>
              <a:t>2</a:t>
            </a:r>
            <a:r>
              <a:rPr lang="en-US" sz="2000" b="1" dirty="0">
                <a:solidFill>
                  <a:srgbClr val="7030A0"/>
                </a:solidFill>
              </a:rPr>
              <a:t>)&gt;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ru-RU" sz="2000" dirty="0"/>
              <a:t>Сканируем до </a:t>
            </a:r>
            <a:r>
              <a:rPr lang="en-US" sz="2000" b="1" dirty="0">
                <a:solidFill>
                  <a:srgbClr val="7030A0"/>
                </a:solidFill>
              </a:rPr>
              <a:t>&lt;START CKPT (T</a:t>
            </a:r>
            <a:r>
              <a:rPr lang="ru-RU" sz="2000" b="1" baseline="-25000" dirty="0">
                <a:solidFill>
                  <a:srgbClr val="7030A0"/>
                </a:solidFill>
              </a:rPr>
              <a:t>1</a:t>
            </a:r>
            <a:r>
              <a:rPr lang="en-US" sz="2000" b="1" dirty="0">
                <a:solidFill>
                  <a:srgbClr val="7030A0"/>
                </a:solidFill>
              </a:rPr>
              <a:t> </a:t>
            </a:r>
            <a:r>
              <a:rPr lang="ru-RU" sz="2000" b="1" dirty="0">
                <a:solidFill>
                  <a:srgbClr val="7030A0"/>
                </a:solidFill>
              </a:rPr>
              <a:t>,</a:t>
            </a:r>
            <a:r>
              <a:rPr lang="en-US" sz="2000" b="1" dirty="0">
                <a:solidFill>
                  <a:srgbClr val="7030A0"/>
                </a:solidFill>
              </a:rPr>
              <a:t>T</a:t>
            </a:r>
            <a:r>
              <a:rPr lang="ru-RU" sz="2000" b="1" baseline="-25000" dirty="0">
                <a:solidFill>
                  <a:srgbClr val="7030A0"/>
                </a:solidFill>
              </a:rPr>
              <a:t>2</a:t>
            </a:r>
            <a:r>
              <a:rPr lang="en-US" sz="2000" b="1" dirty="0">
                <a:solidFill>
                  <a:srgbClr val="7030A0"/>
                </a:solidFill>
              </a:rPr>
              <a:t>)&gt;</a:t>
            </a:r>
            <a:endParaRPr lang="ru-RU" sz="2000" b="1" dirty="0">
              <a:solidFill>
                <a:srgbClr val="7030A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ru-RU" sz="2000" b="1" dirty="0"/>
              <a:t>Восстанавливает </a:t>
            </a:r>
            <a:r>
              <a:rPr lang="en-US" sz="2000" b="1" dirty="0">
                <a:solidFill>
                  <a:srgbClr val="DE4110"/>
                </a:solidFill>
              </a:rPr>
              <a:t>E</a:t>
            </a:r>
            <a:r>
              <a:rPr lang="ru-RU" sz="2000" b="1" dirty="0">
                <a:solidFill>
                  <a:srgbClr val="DE4110"/>
                </a:solidFill>
              </a:rPr>
              <a:t> =</a:t>
            </a:r>
            <a:r>
              <a:rPr lang="en-US" sz="2000" b="1" dirty="0">
                <a:solidFill>
                  <a:srgbClr val="DE4110"/>
                </a:solidFill>
              </a:rPr>
              <a:t> 25</a:t>
            </a:r>
            <a:endParaRPr lang="ru-RU" sz="2000" b="1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ru-RU" sz="2000" dirty="0"/>
              <a:t>Обнаруживаем, что других кроме </a:t>
            </a:r>
            <a:r>
              <a:rPr lang="ru-RU" sz="2000" b="1" dirty="0"/>
              <a:t>Т</a:t>
            </a:r>
            <a:r>
              <a:rPr lang="ru-RU" sz="2000" b="1" baseline="-25000" dirty="0"/>
              <a:t>3 </a:t>
            </a:r>
            <a:r>
              <a:rPr lang="ru-RU" sz="2000" b="1" dirty="0"/>
              <a:t>незавершенных транзакций нет.</a:t>
            </a:r>
          </a:p>
        </p:txBody>
      </p:sp>
      <p:sp>
        <p:nvSpPr>
          <p:cNvPr id="7" name="Стрелка вверх 6"/>
          <p:cNvSpPr/>
          <p:nvPr/>
        </p:nvSpPr>
        <p:spPr>
          <a:xfrm>
            <a:off x="388620" y="2987040"/>
            <a:ext cx="297180" cy="355092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8348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2" grpId="0" animBg="1"/>
      <p:bldP spid="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49F688F-E6B0-4FD2-A40D-BE0C1EDDAA0C}" type="slidenum">
              <a:rPr lang="ru-RU" smtClean="0"/>
              <a:pPr>
                <a:defRPr/>
              </a:pPr>
              <a:t>27</a:t>
            </a:fld>
            <a:endParaRPr lang="ru-RU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468313" y="58968"/>
            <a:ext cx="8229600" cy="668338"/>
          </a:xfrm>
        </p:spPr>
        <p:txBody>
          <a:bodyPr/>
          <a:lstStyle/>
          <a:p>
            <a:pPr algn="ctr"/>
            <a:r>
              <a:rPr lang="ru-RU" sz="2800" dirty="0">
                <a:solidFill>
                  <a:schemeClr val="bg2"/>
                </a:solidFill>
              </a:rPr>
              <a:t>Восстановление  по протоколу </a:t>
            </a:r>
            <a:r>
              <a:rPr lang="en-US" sz="2800" dirty="0">
                <a:solidFill>
                  <a:schemeClr val="bg2"/>
                </a:solidFill>
              </a:rPr>
              <a:t>UNDO </a:t>
            </a:r>
            <a:r>
              <a:rPr lang="ru-RU" sz="2800" dirty="0">
                <a:solidFill>
                  <a:schemeClr val="bg2"/>
                </a:solidFill>
              </a:rPr>
              <a:t>и ДКТ</a:t>
            </a:r>
            <a:endParaRPr lang="ru-RU" sz="2800" dirty="0"/>
          </a:p>
        </p:txBody>
      </p:sp>
      <p:sp>
        <p:nvSpPr>
          <p:cNvPr id="8" name="Содержимое 2"/>
          <p:cNvSpPr>
            <a:spLocks noGrp="1"/>
          </p:cNvSpPr>
          <p:nvPr>
            <p:ph idx="1"/>
          </p:nvPr>
        </p:nvSpPr>
        <p:spPr>
          <a:xfrm>
            <a:off x="198120" y="777240"/>
            <a:ext cx="7162800" cy="5985933"/>
          </a:xfrm>
        </p:spPr>
        <p:txBody>
          <a:bodyPr lIns="0" tIns="0" rIns="0" bIns="0"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ru-RU" sz="2200" u="sng" dirty="0"/>
              <a:t>Пример 2.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0B050"/>
                </a:solidFill>
              </a:rPr>
              <a:t>&lt;START  T</a:t>
            </a:r>
            <a:r>
              <a:rPr lang="en-US" sz="2200" b="1" baseline="-25000" dirty="0">
                <a:solidFill>
                  <a:srgbClr val="00B050"/>
                </a:solidFill>
              </a:rPr>
              <a:t>1</a:t>
            </a:r>
            <a:r>
              <a:rPr lang="en-US" sz="2200" b="1" dirty="0">
                <a:solidFill>
                  <a:srgbClr val="00B050"/>
                </a:solidFill>
              </a:rPr>
              <a:t>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0B050"/>
                </a:solidFill>
              </a:rPr>
              <a:t>&lt;T</a:t>
            </a:r>
            <a:r>
              <a:rPr lang="en-US" sz="2200" b="1" baseline="-25000" dirty="0">
                <a:solidFill>
                  <a:srgbClr val="00B050"/>
                </a:solidFill>
              </a:rPr>
              <a:t>1</a:t>
            </a:r>
            <a:r>
              <a:rPr lang="en-US" sz="2200" b="1" dirty="0">
                <a:solidFill>
                  <a:srgbClr val="00B050"/>
                </a:solidFill>
              </a:rPr>
              <a:t>, A, 5&gt;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2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&lt;START  T</a:t>
            </a:r>
            <a:r>
              <a:rPr lang="en-US" sz="2200" b="1" baseline="-250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2</a:t>
            </a:r>
            <a:r>
              <a:rPr lang="en-US" sz="22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2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&lt;T</a:t>
            </a:r>
            <a:r>
              <a:rPr lang="en-US" sz="2200" b="1" baseline="-250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2</a:t>
            </a:r>
            <a:r>
              <a:rPr lang="en-US" sz="22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, B, 10&gt;</a:t>
            </a:r>
            <a:endParaRPr lang="ru-RU" sz="2200" b="1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7030A0"/>
                </a:solidFill>
              </a:rPr>
              <a:t>&lt;START CKPT (T</a:t>
            </a:r>
            <a:r>
              <a:rPr lang="ru-RU" sz="2200" b="1" baseline="-25000" dirty="0">
                <a:solidFill>
                  <a:srgbClr val="7030A0"/>
                </a:solidFill>
              </a:rPr>
              <a:t>1</a:t>
            </a:r>
            <a:r>
              <a:rPr lang="en-US" sz="2200" b="1" dirty="0">
                <a:solidFill>
                  <a:srgbClr val="7030A0"/>
                </a:solidFill>
              </a:rPr>
              <a:t> </a:t>
            </a:r>
            <a:r>
              <a:rPr lang="ru-RU" sz="2200" b="1" dirty="0">
                <a:solidFill>
                  <a:srgbClr val="7030A0"/>
                </a:solidFill>
              </a:rPr>
              <a:t>,</a:t>
            </a:r>
            <a:r>
              <a:rPr lang="en-US" sz="2200" b="1" dirty="0">
                <a:solidFill>
                  <a:srgbClr val="7030A0"/>
                </a:solidFill>
              </a:rPr>
              <a:t>T</a:t>
            </a:r>
            <a:r>
              <a:rPr lang="ru-RU" sz="2200" b="1" baseline="-25000" dirty="0">
                <a:solidFill>
                  <a:srgbClr val="7030A0"/>
                </a:solidFill>
              </a:rPr>
              <a:t>2</a:t>
            </a:r>
            <a:r>
              <a:rPr lang="en-US" sz="2200" b="1" dirty="0">
                <a:solidFill>
                  <a:srgbClr val="7030A0"/>
                </a:solidFill>
              </a:rPr>
              <a:t>)&gt;</a:t>
            </a:r>
            <a:r>
              <a:rPr lang="ru-RU" sz="2200" dirty="0">
                <a:solidFill>
                  <a:srgbClr val="7030A0"/>
                </a:solidFill>
              </a:rPr>
              <a:t/>
            </a:r>
            <a:br>
              <a:rPr lang="ru-RU" sz="2200" dirty="0">
                <a:solidFill>
                  <a:srgbClr val="7030A0"/>
                </a:solidFill>
              </a:rPr>
            </a:br>
            <a:r>
              <a:rPr lang="en-US" sz="22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&lt;T</a:t>
            </a:r>
            <a:r>
              <a:rPr lang="en-US" sz="2200" b="1" baseline="-250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2</a:t>
            </a:r>
            <a:r>
              <a:rPr lang="en-US" sz="22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, C, 15&gt;</a:t>
            </a:r>
            <a:endParaRPr lang="ru-RU" sz="2200" b="1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DE4110"/>
                </a:solidFill>
              </a:rPr>
              <a:t>&lt;START  T</a:t>
            </a:r>
            <a:r>
              <a:rPr lang="en-US" sz="2200" b="1" baseline="-25000" dirty="0">
                <a:solidFill>
                  <a:srgbClr val="DE4110"/>
                </a:solidFill>
              </a:rPr>
              <a:t>3</a:t>
            </a:r>
            <a:r>
              <a:rPr lang="en-US" sz="2200" b="1" dirty="0">
                <a:solidFill>
                  <a:srgbClr val="DE4110"/>
                </a:solidFill>
              </a:rPr>
              <a:t>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0B050"/>
                </a:solidFill>
              </a:rPr>
              <a:t>&lt;T</a:t>
            </a:r>
            <a:r>
              <a:rPr lang="en-US" sz="2200" b="1" baseline="-25000" dirty="0">
                <a:solidFill>
                  <a:srgbClr val="00B050"/>
                </a:solidFill>
              </a:rPr>
              <a:t>1</a:t>
            </a:r>
            <a:r>
              <a:rPr lang="en-US" sz="2200" b="1" dirty="0">
                <a:solidFill>
                  <a:srgbClr val="00B050"/>
                </a:solidFill>
              </a:rPr>
              <a:t>, D, 20&gt;</a:t>
            </a:r>
            <a:endParaRPr lang="ru-RU" sz="2200" b="1" dirty="0">
              <a:solidFill>
                <a:srgbClr val="00B050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0B050"/>
                </a:solidFill>
              </a:rPr>
              <a:t>&lt;COMMIT  T</a:t>
            </a:r>
            <a:r>
              <a:rPr lang="en-US" sz="2200" b="1" baseline="-25000" dirty="0">
                <a:solidFill>
                  <a:srgbClr val="00B050"/>
                </a:solidFill>
              </a:rPr>
              <a:t>1</a:t>
            </a:r>
            <a:r>
              <a:rPr lang="en-US" sz="2200" b="1" dirty="0">
                <a:solidFill>
                  <a:srgbClr val="00B050"/>
                </a:solidFill>
              </a:rPr>
              <a:t>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DE4110"/>
                </a:solidFill>
              </a:rPr>
              <a:t>&lt;T</a:t>
            </a:r>
            <a:r>
              <a:rPr lang="en-US" sz="2200" b="1" baseline="-25000" dirty="0">
                <a:solidFill>
                  <a:srgbClr val="DE4110"/>
                </a:solidFill>
              </a:rPr>
              <a:t>3</a:t>
            </a:r>
            <a:r>
              <a:rPr lang="en-US" sz="2200" b="1" dirty="0">
                <a:solidFill>
                  <a:srgbClr val="DE4110"/>
                </a:solidFill>
              </a:rPr>
              <a:t>, E, 25&gt;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sz="2200" b="1" dirty="0">
                <a:solidFill>
                  <a:srgbClr val="FF0000"/>
                </a:solidFill>
              </a:rPr>
              <a:t>ОТКАЗ СИСТЕМЫ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44240" y="1026914"/>
            <a:ext cx="5547360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Сканируя журнал обнаруживаем, что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ru-RU" sz="2000" dirty="0"/>
              <a:t>Транзакция </a:t>
            </a:r>
            <a:r>
              <a:rPr lang="ru-RU" sz="2000" b="1" dirty="0"/>
              <a:t>Т</a:t>
            </a:r>
            <a:r>
              <a:rPr lang="ru-RU" sz="2000" b="1" baseline="-25000" dirty="0"/>
              <a:t>3 </a:t>
            </a:r>
            <a:r>
              <a:rPr lang="ru-RU" sz="2000" dirty="0"/>
              <a:t>и</a:t>
            </a:r>
            <a:r>
              <a:rPr lang="ru-RU" sz="2000" b="1" baseline="-25000" dirty="0"/>
              <a:t> </a:t>
            </a:r>
            <a:r>
              <a:rPr lang="en-US" sz="2000" b="1" dirty="0"/>
              <a:t>T</a:t>
            </a:r>
            <a:r>
              <a:rPr lang="ru-RU" sz="2000" b="1" baseline="-25000" dirty="0"/>
              <a:t>2</a:t>
            </a:r>
            <a:r>
              <a:rPr lang="ru-RU" sz="2000" b="1" dirty="0"/>
              <a:t>  не завершены и подлежат отмене. </a:t>
            </a:r>
            <a:br>
              <a:rPr lang="ru-RU" sz="2000" b="1" dirty="0"/>
            </a:br>
            <a:r>
              <a:rPr lang="ru-RU" sz="2000" b="1" dirty="0"/>
              <a:t>Возвращаем</a:t>
            </a:r>
            <a:r>
              <a:rPr lang="ru-RU" sz="2000" dirty="0"/>
              <a:t> </a:t>
            </a:r>
            <a:r>
              <a:rPr lang="en-US" sz="2000" b="1" dirty="0">
                <a:solidFill>
                  <a:srgbClr val="DE4110"/>
                </a:solidFill>
              </a:rPr>
              <a:t>E</a:t>
            </a:r>
            <a:r>
              <a:rPr lang="ru-RU" sz="2000" b="1" dirty="0">
                <a:solidFill>
                  <a:srgbClr val="DE4110"/>
                </a:solidFill>
              </a:rPr>
              <a:t> =</a:t>
            </a:r>
            <a:r>
              <a:rPr lang="en-US" sz="2000" b="1" dirty="0">
                <a:solidFill>
                  <a:srgbClr val="DE4110"/>
                </a:solidFill>
              </a:rPr>
              <a:t> 25</a:t>
            </a:r>
            <a:r>
              <a:rPr lang="ru-RU" sz="2000" b="1" dirty="0">
                <a:solidFill>
                  <a:srgbClr val="DE4110"/>
                </a:solidFill>
              </a:rPr>
              <a:t> </a:t>
            </a:r>
            <a:r>
              <a:rPr lang="ru-RU" sz="2000" b="1" dirty="0"/>
              <a:t>и </a:t>
            </a:r>
            <a:r>
              <a:rPr lang="ru-RU" sz="2000" b="1" dirty="0">
                <a:solidFill>
                  <a:srgbClr val="3333FF"/>
                </a:solidFill>
              </a:rPr>
              <a:t>С = 15</a:t>
            </a:r>
            <a:endParaRPr lang="ru-RU" sz="2000" dirty="0">
              <a:solidFill>
                <a:srgbClr val="3333F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ru-RU" sz="2000" dirty="0"/>
              <a:t>Так как первая встретившая запись ДКТ</a:t>
            </a:r>
            <a:br>
              <a:rPr lang="ru-RU" sz="2000" dirty="0"/>
            </a:br>
            <a:r>
              <a:rPr lang="en-US" sz="2000" b="1" dirty="0">
                <a:solidFill>
                  <a:srgbClr val="7030A0"/>
                </a:solidFill>
              </a:rPr>
              <a:t>&lt;START CKPT (T</a:t>
            </a:r>
            <a:r>
              <a:rPr lang="ru-RU" sz="2000" b="1" baseline="-25000" dirty="0">
                <a:solidFill>
                  <a:srgbClr val="7030A0"/>
                </a:solidFill>
              </a:rPr>
              <a:t>1</a:t>
            </a:r>
            <a:r>
              <a:rPr lang="ru-RU" sz="2000" b="1" dirty="0">
                <a:solidFill>
                  <a:srgbClr val="7030A0"/>
                </a:solidFill>
              </a:rPr>
              <a:t>,</a:t>
            </a:r>
            <a:r>
              <a:rPr lang="en-US" sz="2000" b="1" dirty="0">
                <a:solidFill>
                  <a:srgbClr val="7030A0"/>
                </a:solidFill>
              </a:rPr>
              <a:t>T</a:t>
            </a:r>
            <a:r>
              <a:rPr lang="ru-RU" sz="2000" b="1" baseline="-25000" dirty="0">
                <a:solidFill>
                  <a:srgbClr val="7030A0"/>
                </a:solidFill>
              </a:rPr>
              <a:t>2</a:t>
            </a:r>
            <a:r>
              <a:rPr lang="en-US" sz="2000" b="1" dirty="0">
                <a:solidFill>
                  <a:srgbClr val="7030A0"/>
                </a:solidFill>
              </a:rPr>
              <a:t>)&gt;</a:t>
            </a:r>
            <a:r>
              <a:rPr lang="ru-RU" sz="2000" b="1" dirty="0">
                <a:solidFill>
                  <a:srgbClr val="7030A0"/>
                </a:solidFill>
              </a:rPr>
              <a:t>, </a:t>
            </a:r>
            <a:r>
              <a:rPr lang="ru-RU" sz="2000" dirty="0"/>
              <a:t>то </a:t>
            </a:r>
            <a:r>
              <a:rPr lang="ru-RU" sz="2000" b="1" dirty="0"/>
              <a:t>анализируем транзакции</a:t>
            </a:r>
            <a:r>
              <a:rPr lang="ru-RU" sz="2000" dirty="0"/>
              <a:t> </a:t>
            </a:r>
            <a:r>
              <a:rPr lang="en-US" sz="2000" b="1" dirty="0">
                <a:solidFill>
                  <a:srgbClr val="00B050"/>
                </a:solidFill>
              </a:rPr>
              <a:t>T</a:t>
            </a:r>
            <a:r>
              <a:rPr lang="ru-RU" sz="2000" b="1" baseline="-25000" dirty="0">
                <a:solidFill>
                  <a:srgbClr val="00B050"/>
                </a:solidFill>
              </a:rPr>
              <a:t>1 </a:t>
            </a:r>
            <a:r>
              <a:rPr lang="ru-RU" sz="2000" dirty="0"/>
              <a:t>и</a:t>
            </a:r>
            <a:r>
              <a:rPr lang="en-US" sz="2000" b="1" dirty="0">
                <a:solidFill>
                  <a:srgbClr val="3333FF"/>
                </a:solidFill>
              </a:rPr>
              <a:t>T</a:t>
            </a:r>
            <a:r>
              <a:rPr lang="ru-RU" sz="2000" b="1" baseline="-25000" dirty="0">
                <a:solidFill>
                  <a:srgbClr val="3333FF"/>
                </a:solidFill>
              </a:rPr>
              <a:t>2</a:t>
            </a:r>
            <a:endParaRPr lang="en-US" sz="2000" b="1" dirty="0">
              <a:solidFill>
                <a:srgbClr val="3333F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rgbClr val="00B050"/>
                </a:solidFill>
              </a:rPr>
              <a:t>T</a:t>
            </a:r>
            <a:r>
              <a:rPr lang="ru-RU" sz="2000" b="1" baseline="-25000" dirty="0">
                <a:solidFill>
                  <a:srgbClr val="00B050"/>
                </a:solidFill>
              </a:rPr>
              <a:t>1 </a:t>
            </a:r>
            <a:r>
              <a:rPr lang="ru-RU" sz="2000" b="1" dirty="0">
                <a:solidFill>
                  <a:srgbClr val="7030A0"/>
                </a:solidFill>
              </a:rPr>
              <a:t> </a:t>
            </a:r>
            <a:r>
              <a:rPr lang="ru-RU" sz="2000" b="1" dirty="0"/>
              <a:t>завершена</a:t>
            </a:r>
            <a:r>
              <a:rPr lang="ru-RU" sz="2000" dirty="0"/>
              <a:t>, так как был </a:t>
            </a:r>
            <a:r>
              <a:rPr lang="en-US" sz="2000" b="1" dirty="0">
                <a:solidFill>
                  <a:srgbClr val="00B050"/>
                </a:solidFill>
              </a:rPr>
              <a:t>&lt;COMMIT  T</a:t>
            </a:r>
            <a:r>
              <a:rPr lang="en-US" sz="2000" b="1" baseline="-25000" dirty="0">
                <a:solidFill>
                  <a:srgbClr val="00B050"/>
                </a:solidFill>
              </a:rPr>
              <a:t>1</a:t>
            </a:r>
            <a:r>
              <a:rPr lang="en-US" sz="2000" b="1" dirty="0">
                <a:solidFill>
                  <a:srgbClr val="00B050"/>
                </a:solidFill>
              </a:rPr>
              <a:t>&gt;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ru-RU" sz="2000" dirty="0"/>
              <a:t>Осталось </a:t>
            </a:r>
            <a:r>
              <a:rPr lang="ru-RU" sz="2000" b="1" dirty="0"/>
              <a:t>понять, что с </a:t>
            </a:r>
            <a:r>
              <a:rPr lang="en-US" sz="2000" b="1" dirty="0">
                <a:solidFill>
                  <a:srgbClr val="3333FF"/>
                </a:solidFill>
              </a:rPr>
              <a:t>T</a:t>
            </a:r>
            <a:r>
              <a:rPr lang="ru-RU" sz="2000" b="1" baseline="-25000" dirty="0">
                <a:solidFill>
                  <a:srgbClr val="3333FF"/>
                </a:solidFill>
              </a:rPr>
              <a:t>2</a:t>
            </a:r>
            <a:r>
              <a:rPr lang="ru-RU" sz="2000" b="1" dirty="0">
                <a:solidFill>
                  <a:srgbClr val="3333FF"/>
                </a:solidFill>
              </a:rPr>
              <a:t> . </a:t>
            </a:r>
            <a:r>
              <a:rPr lang="ru-RU" sz="2000" dirty="0"/>
              <a:t>Сканируем дальше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ru-RU" sz="2000" b="1" dirty="0"/>
              <a:t>Возвращаем</a:t>
            </a:r>
            <a:r>
              <a:rPr lang="ru-RU" sz="2000" dirty="0"/>
              <a:t> </a:t>
            </a:r>
            <a:r>
              <a:rPr lang="en-US" sz="2000" b="1" dirty="0">
                <a:solidFill>
                  <a:srgbClr val="3333FF"/>
                </a:solidFill>
              </a:rPr>
              <a:t>B</a:t>
            </a:r>
            <a:r>
              <a:rPr lang="ru-RU" sz="2000" b="1" dirty="0">
                <a:solidFill>
                  <a:srgbClr val="3333FF"/>
                </a:solidFill>
              </a:rPr>
              <a:t> </a:t>
            </a:r>
            <a:r>
              <a:rPr lang="ru-RU" sz="2000" b="1">
                <a:solidFill>
                  <a:srgbClr val="3333FF"/>
                </a:solidFill>
              </a:rPr>
              <a:t>= 10 </a:t>
            </a:r>
            <a:endParaRPr lang="ru-RU" sz="2000" b="1" dirty="0">
              <a:solidFill>
                <a:srgbClr val="3333F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ru-RU" sz="2000" b="1" dirty="0"/>
              <a:t>Встретили</a:t>
            </a:r>
            <a:r>
              <a:rPr lang="ru-RU" sz="2000" dirty="0"/>
              <a:t> </a:t>
            </a:r>
            <a:r>
              <a:rPr lang="en-US" sz="20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&lt;START  T</a:t>
            </a:r>
            <a:r>
              <a:rPr lang="en-US" sz="2000" b="1" baseline="-250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2</a:t>
            </a:r>
            <a:r>
              <a:rPr lang="en-US" sz="20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&gt;</a:t>
            </a:r>
            <a:r>
              <a:rPr lang="ru-RU" sz="2000" b="1" dirty="0"/>
              <a:t>.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ru-RU" sz="2000" b="1" dirty="0"/>
              <a:t>Дальше сканировать нет смысла, </a:t>
            </a:r>
            <a:r>
              <a:rPr lang="ru-RU" sz="2000" dirty="0"/>
              <a:t>так как по условию введения </a:t>
            </a:r>
            <a:r>
              <a:rPr lang="ru-RU" sz="2000" b="1" dirty="0"/>
              <a:t>КТ все транзакции до ее введения должны быть зафиксированы.</a:t>
            </a:r>
          </a:p>
        </p:txBody>
      </p:sp>
      <p:sp>
        <p:nvSpPr>
          <p:cNvPr id="7" name="Стрелка вверх 6"/>
          <p:cNvSpPr/>
          <p:nvPr/>
        </p:nvSpPr>
        <p:spPr>
          <a:xfrm>
            <a:off x="2636520" y="3596640"/>
            <a:ext cx="297180" cy="21336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7800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49F688F-E6B0-4FD2-A40D-BE0C1EDDAA0C}" type="slidenum">
              <a:rPr lang="ru-RU" smtClean="0"/>
              <a:pPr>
                <a:defRPr/>
              </a:pPr>
              <a:t>28</a:t>
            </a:fld>
            <a:endParaRPr lang="ru-RU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468313" y="287568"/>
            <a:ext cx="8229600" cy="668338"/>
          </a:xfrm>
        </p:spPr>
        <p:txBody>
          <a:bodyPr/>
          <a:lstStyle/>
          <a:p>
            <a:pPr algn="ctr"/>
            <a:r>
              <a:rPr lang="ru-RU" sz="3600" dirty="0">
                <a:solidFill>
                  <a:schemeClr val="bg2"/>
                </a:solidFill>
              </a:rPr>
              <a:t>Протоколирование в режиме </a:t>
            </a:r>
            <a:r>
              <a:rPr lang="en-US" sz="3600" dirty="0">
                <a:solidFill>
                  <a:schemeClr val="bg2"/>
                </a:solidFill>
              </a:rPr>
              <a:t>“REDO”</a:t>
            </a:r>
            <a:endParaRPr lang="ru-RU" sz="3600" dirty="0"/>
          </a:p>
        </p:txBody>
      </p:sp>
      <p:sp>
        <p:nvSpPr>
          <p:cNvPr id="8" name="Содержимое 2"/>
          <p:cNvSpPr>
            <a:spLocks noGrp="1"/>
          </p:cNvSpPr>
          <p:nvPr>
            <p:ph idx="1"/>
          </p:nvPr>
        </p:nvSpPr>
        <p:spPr>
          <a:xfrm>
            <a:off x="0" y="964277"/>
            <a:ext cx="9144000" cy="5480068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ru-RU" dirty="0"/>
              <a:t>Требование </a:t>
            </a:r>
            <a:r>
              <a:rPr lang="ru-RU" b="1" u="sng" dirty="0"/>
              <a:t>НЕЗАМЕДЛИТЕЛЬНОЙ</a:t>
            </a:r>
            <a:r>
              <a:rPr lang="ru-RU" dirty="0"/>
              <a:t> фиксации изменений на диске можно обойти при использовании режима «</a:t>
            </a:r>
            <a:r>
              <a:rPr lang="en-US" dirty="0"/>
              <a:t>REDO</a:t>
            </a:r>
            <a:r>
              <a:rPr lang="ru-RU" dirty="0"/>
              <a:t>» </a:t>
            </a:r>
          </a:p>
          <a:p>
            <a:pPr>
              <a:lnSpc>
                <a:spcPct val="120000"/>
              </a:lnSpc>
            </a:pPr>
            <a:r>
              <a:rPr lang="ru-RU" dirty="0"/>
              <a:t>Записи протокола: </a:t>
            </a:r>
          </a:p>
          <a:p>
            <a:pPr lvl="1">
              <a:lnSpc>
                <a:spcPct val="120000"/>
              </a:lnSpc>
              <a:buClr>
                <a:schemeClr val="bg2"/>
              </a:buClr>
              <a:buFont typeface="Wingdings" panose="05000000000000000000" pitchFamily="2" charset="2"/>
              <a:buChar char="ü"/>
            </a:pPr>
            <a:r>
              <a:rPr lang="ru-RU" dirty="0"/>
              <a:t>Записи обновления </a:t>
            </a:r>
            <a:r>
              <a:rPr lang="en-US" dirty="0"/>
              <a:t>&lt;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T, X</a:t>
            </a:r>
            <a:r>
              <a:rPr lang="en-US" dirty="0"/>
              <a:t>, </a:t>
            </a:r>
            <a:r>
              <a:rPr lang="en-US" sz="3800" b="1" i="1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ru-RU" sz="3000" b="1" i="1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/>
              <a:t>&gt;</a:t>
            </a:r>
            <a:r>
              <a:rPr lang="ru-RU" dirty="0"/>
              <a:t>. Смысл – </a:t>
            </a:r>
            <a:r>
              <a:rPr lang="ru-RU" dirty="0">
                <a:solidFill>
                  <a:schemeClr val="accent5">
                    <a:lumMod val="75000"/>
                  </a:schemeClr>
                </a:solidFill>
              </a:rPr>
              <a:t>Т</a:t>
            </a:r>
            <a:r>
              <a:rPr lang="ru-RU" dirty="0"/>
              <a:t> сохранила </a:t>
            </a:r>
            <a:r>
              <a:rPr lang="ru-RU" b="1" dirty="0">
                <a:solidFill>
                  <a:srgbClr val="C00000"/>
                </a:solidFill>
              </a:rPr>
              <a:t>новое</a:t>
            </a:r>
            <a:r>
              <a:rPr lang="ru-RU" b="1" dirty="0"/>
              <a:t> </a:t>
            </a:r>
            <a:r>
              <a:rPr lang="ru-RU" dirty="0"/>
              <a:t>значение </a:t>
            </a:r>
            <a:r>
              <a:rPr lang="en-US" sz="3800" b="1" i="1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dirty="0"/>
              <a:t> </a:t>
            </a:r>
            <a:r>
              <a:rPr lang="ru-RU" dirty="0"/>
              <a:t>элемента базы данных </a:t>
            </a:r>
            <a:r>
              <a:rPr lang="ru-RU" dirty="0">
                <a:solidFill>
                  <a:schemeClr val="accent5">
                    <a:lumMod val="75000"/>
                  </a:schemeClr>
                </a:solidFill>
              </a:rPr>
              <a:t>Х</a:t>
            </a:r>
          </a:p>
          <a:p>
            <a:pPr marL="342900" lvl="1" indent="-342900">
              <a:lnSpc>
                <a:spcPct val="120000"/>
              </a:lnSpc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ru-RU" sz="3200" dirty="0">
                <a:ea typeface="+mn-ea"/>
              </a:rPr>
              <a:t>Правило протоколирования в режиме «</a:t>
            </a:r>
            <a:r>
              <a:rPr lang="en-US" sz="3200" dirty="0">
                <a:ea typeface="+mn-ea"/>
              </a:rPr>
              <a:t>REDO</a:t>
            </a:r>
            <a:r>
              <a:rPr lang="ru-RU" sz="3200" dirty="0">
                <a:ea typeface="+mn-ea"/>
              </a:rPr>
              <a:t>» </a:t>
            </a:r>
          </a:p>
          <a:p>
            <a:pPr marL="342900" lvl="1" indent="-342900">
              <a:lnSpc>
                <a:spcPct val="120000"/>
              </a:lnSpc>
              <a:buClr>
                <a:schemeClr val="bg2"/>
              </a:buClr>
              <a:buSzPct val="75000"/>
              <a:buNone/>
            </a:pPr>
            <a:r>
              <a:rPr lang="ru-RU" sz="3200" dirty="0">
                <a:ea typeface="+mn-ea"/>
              </a:rPr>
              <a:t>	</a:t>
            </a:r>
            <a:r>
              <a:rPr lang="en-US" sz="3200" dirty="0">
                <a:solidFill>
                  <a:srgbClr val="C00000"/>
                </a:solidFill>
                <a:ea typeface="+mn-ea"/>
              </a:rPr>
              <a:t>R1:</a:t>
            </a:r>
            <a:r>
              <a:rPr lang="ru-RU" sz="3200" dirty="0">
                <a:solidFill>
                  <a:srgbClr val="C00000"/>
                </a:solidFill>
                <a:ea typeface="+mn-ea"/>
              </a:rPr>
              <a:t> Прежде чем </a:t>
            </a:r>
            <a:r>
              <a:rPr lang="ru-RU" sz="3200" dirty="0">
                <a:ea typeface="+mn-ea"/>
              </a:rPr>
              <a:t>транзакция </a:t>
            </a:r>
            <a:r>
              <a:rPr lang="ru-RU" sz="3200" dirty="0">
                <a:solidFill>
                  <a:schemeClr val="accent5">
                    <a:lumMod val="75000"/>
                  </a:schemeClr>
                </a:solidFill>
                <a:ea typeface="+mn-ea"/>
              </a:rPr>
              <a:t>Т</a:t>
            </a:r>
            <a:r>
              <a:rPr lang="ru-RU" sz="3200" dirty="0">
                <a:ea typeface="+mn-ea"/>
              </a:rPr>
              <a:t> сможет модифицировать элемент </a:t>
            </a:r>
            <a:r>
              <a:rPr lang="ru-RU" sz="3200" dirty="0">
                <a:solidFill>
                  <a:schemeClr val="accent5">
                    <a:lumMod val="75000"/>
                  </a:schemeClr>
                </a:solidFill>
                <a:ea typeface="+mn-ea"/>
              </a:rPr>
              <a:t>Х</a:t>
            </a:r>
            <a:r>
              <a:rPr lang="ru-RU" sz="3200" dirty="0">
                <a:ea typeface="+mn-ea"/>
              </a:rPr>
              <a:t> базы данных </a:t>
            </a:r>
            <a:r>
              <a:rPr lang="ru-RU" sz="3200" dirty="0">
                <a:solidFill>
                  <a:srgbClr val="C00000"/>
                </a:solidFill>
                <a:ea typeface="+mn-ea"/>
              </a:rPr>
              <a:t>на диске</a:t>
            </a:r>
            <a:r>
              <a:rPr lang="ru-RU" sz="3200" dirty="0">
                <a:ea typeface="+mn-ea"/>
              </a:rPr>
              <a:t>, необходимо внести в копию протокола на диске </a:t>
            </a:r>
            <a:r>
              <a:rPr lang="ru-RU" sz="3200" dirty="0">
                <a:solidFill>
                  <a:schemeClr val="accent5">
                    <a:lumMod val="75000"/>
                  </a:schemeClr>
                </a:solidFill>
                <a:ea typeface="+mn-ea"/>
              </a:rPr>
              <a:t>все записи</a:t>
            </a:r>
            <a:r>
              <a:rPr lang="ru-RU" sz="3200" dirty="0">
                <a:ea typeface="+mn-ea"/>
              </a:rPr>
              <a:t>, имеющие отношение к операции модификации  </a:t>
            </a:r>
            <a:r>
              <a:rPr lang="ru-RU" sz="3200" dirty="0">
                <a:solidFill>
                  <a:schemeClr val="accent5">
                    <a:lumMod val="75000"/>
                  </a:schemeClr>
                </a:solidFill>
                <a:ea typeface="+mn-ea"/>
              </a:rPr>
              <a:t>Х</a:t>
            </a:r>
            <a:r>
              <a:rPr lang="ru-RU" sz="3200" dirty="0">
                <a:ea typeface="+mn-ea"/>
              </a:rPr>
              <a:t>: </a:t>
            </a:r>
            <a:r>
              <a:rPr lang="ru-RU" sz="2900" dirty="0">
                <a:ea typeface="+mn-ea"/>
              </a:rPr>
              <a:t>записи обновления вида</a:t>
            </a:r>
            <a:r>
              <a:rPr lang="en-US" sz="2900" dirty="0">
                <a:ea typeface="+mn-ea"/>
              </a:rPr>
              <a:t> </a:t>
            </a:r>
            <a:r>
              <a:rPr lang="en-US" sz="2900" dirty="0"/>
              <a:t>&lt;</a:t>
            </a:r>
            <a:r>
              <a:rPr lang="en-US" sz="2900" dirty="0">
                <a:solidFill>
                  <a:schemeClr val="accent5">
                    <a:lumMod val="75000"/>
                  </a:schemeClr>
                </a:solidFill>
              </a:rPr>
              <a:t>T, X</a:t>
            </a:r>
            <a:r>
              <a:rPr lang="en-US" sz="2900" dirty="0"/>
              <a:t>, </a:t>
            </a:r>
            <a:r>
              <a:rPr lang="en-US" sz="2900" b="1" i="1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ru-RU" sz="2900" b="1" i="1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900" dirty="0"/>
              <a:t>&gt;</a:t>
            </a:r>
            <a:r>
              <a:rPr lang="ru-RU" sz="2900" dirty="0"/>
              <a:t> </a:t>
            </a:r>
            <a:r>
              <a:rPr lang="ru-RU" sz="2900"/>
              <a:t>и </a:t>
            </a:r>
            <a:r>
              <a:rPr lang="ru-RU" sz="2900" dirty="0"/>
              <a:t>запись фиксации </a:t>
            </a:r>
            <a:r>
              <a:rPr lang="en-US" sz="2900" dirty="0"/>
              <a:t>&lt;</a:t>
            </a:r>
            <a:r>
              <a:rPr lang="en-US" sz="2500" dirty="0">
                <a:solidFill>
                  <a:srgbClr val="C00000"/>
                </a:solidFill>
              </a:rPr>
              <a:t>COMMIT</a:t>
            </a:r>
            <a:r>
              <a:rPr lang="en-US" sz="2900" dirty="0"/>
              <a:t> </a:t>
            </a:r>
            <a:r>
              <a:rPr lang="en-US" sz="2900" dirty="0">
                <a:solidFill>
                  <a:schemeClr val="accent5">
                    <a:lumMod val="75000"/>
                  </a:schemeClr>
                </a:solidFill>
              </a:rPr>
              <a:t>T</a:t>
            </a:r>
            <a:r>
              <a:rPr lang="en-US" sz="2900" dirty="0"/>
              <a:t>&gt;</a:t>
            </a:r>
            <a:r>
              <a:rPr lang="ru-RU" sz="2900" dirty="0"/>
              <a:t> .</a:t>
            </a:r>
          </a:p>
          <a:p>
            <a:pPr marL="342900" lvl="1" indent="-342900">
              <a:lnSpc>
                <a:spcPct val="120000"/>
              </a:lnSpc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ru-RU" sz="3100" dirty="0">
                <a:ea typeface="+mn-ea"/>
              </a:rPr>
              <a:t>Таким образом, информация, имеющая отношение к действиям в рамках одной транзакции должна сохраняться на диске в следующем порядке:</a:t>
            </a:r>
          </a:p>
          <a:p>
            <a:pPr marL="720000" lvl="1" indent="-514350">
              <a:lnSpc>
                <a:spcPct val="120000"/>
              </a:lnSpc>
              <a:buClr>
                <a:schemeClr val="bg2"/>
              </a:buClr>
              <a:buSzPct val="90000"/>
              <a:buFont typeface="+mj-lt"/>
              <a:buAutoNum type="arabicPeriod"/>
            </a:pPr>
            <a:r>
              <a:rPr lang="ru-RU" sz="3100" dirty="0">
                <a:ea typeface="+mn-ea"/>
              </a:rPr>
              <a:t>Записи обновления, отображающие изменения, которым должны подвергнуться элементы базы данных</a:t>
            </a:r>
          </a:p>
          <a:p>
            <a:pPr marL="720000" lvl="1" indent="-514350">
              <a:lnSpc>
                <a:spcPct val="120000"/>
              </a:lnSpc>
              <a:buClr>
                <a:schemeClr val="bg2"/>
              </a:buClr>
              <a:buSzPct val="90000"/>
              <a:buFont typeface="+mj-lt"/>
              <a:buAutoNum type="arabicPeriod"/>
            </a:pPr>
            <a:r>
              <a:rPr lang="ru-RU" sz="3100" dirty="0">
                <a:ea typeface="+mn-ea"/>
              </a:rPr>
              <a:t>Запись </a:t>
            </a:r>
            <a:r>
              <a:rPr lang="en-US" sz="3200" dirty="0"/>
              <a:t>&lt;COMMIT T&gt;</a:t>
            </a:r>
            <a:r>
              <a:rPr lang="ru-RU" sz="3200" dirty="0"/>
              <a:t> </a:t>
            </a:r>
          </a:p>
          <a:p>
            <a:pPr marL="720000" lvl="1" indent="-514350">
              <a:lnSpc>
                <a:spcPct val="120000"/>
              </a:lnSpc>
              <a:buClr>
                <a:schemeClr val="bg2"/>
              </a:buClr>
              <a:buSzPct val="90000"/>
              <a:buFont typeface="+mj-lt"/>
              <a:buAutoNum type="arabicPeriod"/>
            </a:pPr>
            <a:r>
              <a:rPr lang="ru-RU" sz="3000" dirty="0">
                <a:ea typeface="+mn-ea"/>
              </a:rPr>
              <a:t>Модифицированные значения элементов базы данных как таковые</a:t>
            </a:r>
          </a:p>
          <a:p>
            <a:pPr marL="342900" lvl="1" indent="-342900">
              <a:lnSpc>
                <a:spcPct val="120000"/>
              </a:lnSpc>
              <a:buClr>
                <a:schemeClr val="bg2"/>
              </a:buClr>
              <a:buSzPct val="75000"/>
              <a:buNone/>
            </a:pPr>
            <a:endParaRPr lang="ru-RU" sz="3100" dirty="0"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61184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49F688F-E6B0-4FD2-A40D-BE0C1EDDAA0C}" type="slidenum">
              <a:rPr lang="ru-RU" smtClean="0"/>
              <a:pPr>
                <a:defRPr/>
              </a:pPr>
              <a:t>29</a:t>
            </a:fld>
            <a:endParaRPr lang="ru-RU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349135" y="117885"/>
            <a:ext cx="8495607" cy="626828"/>
          </a:xfrm>
        </p:spPr>
        <p:txBody>
          <a:bodyPr/>
          <a:lstStyle/>
          <a:p>
            <a:pPr algn="ctr"/>
            <a:r>
              <a:rPr lang="ru-RU" sz="2800" dirty="0">
                <a:solidFill>
                  <a:schemeClr val="bg2"/>
                </a:solidFill>
              </a:rPr>
              <a:t>Пример</a:t>
            </a:r>
            <a:r>
              <a:rPr lang="en-US" sz="2800" dirty="0">
                <a:solidFill>
                  <a:schemeClr val="bg2"/>
                </a:solidFill>
              </a:rPr>
              <a:t> </a:t>
            </a:r>
            <a:r>
              <a:rPr lang="ru-RU" sz="2800" dirty="0">
                <a:solidFill>
                  <a:schemeClr val="bg2"/>
                </a:solidFill>
              </a:rPr>
              <a:t>протоколирования в режиме </a:t>
            </a:r>
            <a:r>
              <a:rPr lang="en-US" sz="2800" dirty="0">
                <a:solidFill>
                  <a:schemeClr val="bg2"/>
                </a:solidFill>
              </a:rPr>
              <a:t>“REDO </a:t>
            </a:r>
            <a:endParaRPr lang="ru-RU" sz="2800" dirty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0067506"/>
              </p:ext>
            </p:extLst>
          </p:nvPr>
        </p:nvGraphicFramePr>
        <p:xfrm>
          <a:off x="424870" y="1463039"/>
          <a:ext cx="8187116" cy="52033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6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62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08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71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6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15197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54207"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Шаг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Операция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1" dirty="0"/>
                        <a:t>t</a:t>
                      </a:r>
                      <a:r>
                        <a:rPr lang="ru-RU" sz="1600" b="1" i="1" dirty="0"/>
                        <a:t> (Т)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i="1" dirty="0"/>
                        <a:t>А-П</a:t>
                      </a:r>
                      <a:endParaRPr lang="ru-RU" sz="1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1" i="1" dirty="0"/>
                        <a:t>В-П</a:t>
                      </a:r>
                      <a:endParaRPr lang="ru-RU" sz="1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i="1" dirty="0"/>
                        <a:t>А-Д</a:t>
                      </a:r>
                      <a:endParaRPr lang="ru-RU" sz="1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i="1" dirty="0"/>
                        <a:t>В-Д</a:t>
                      </a:r>
                      <a:endParaRPr lang="ru-RU" sz="1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Протокол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073"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&lt; </a:t>
                      </a:r>
                      <a:r>
                        <a:rPr lang="en-US" sz="1600" b="1" cap="small" normalizeH="0" baseline="0" dirty="0"/>
                        <a:t>START</a:t>
                      </a:r>
                      <a:r>
                        <a:rPr lang="en-US" sz="1600" b="0" i="1" cap="small" normalizeH="0" baseline="0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 </a:t>
                      </a:r>
                      <a:r>
                        <a:rPr lang="en-US" sz="1800" b="1" i="1" dirty="0">
                          <a:solidFill>
                            <a:schemeClr val="tx1"/>
                          </a:solidFill>
                        </a:rPr>
                        <a:t>T</a:t>
                      </a:r>
                      <a:r>
                        <a:rPr lang="en-US" b="1" dirty="0"/>
                        <a:t> </a:t>
                      </a:r>
                      <a:r>
                        <a:rPr lang="en-US" b="1" i="1" dirty="0"/>
                        <a:t>&gt;</a:t>
                      </a:r>
                      <a:endParaRPr lang="ru-RU" b="1" i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073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INPUT (</a:t>
                      </a:r>
                      <a:r>
                        <a:rPr lang="en-US" b="1" baseline="0" dirty="0"/>
                        <a:t> </a:t>
                      </a:r>
                      <a:r>
                        <a:rPr lang="en-US" b="1" dirty="0"/>
                        <a:t>A )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073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INPUT ( B )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/>
                        <a:t>5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073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READ(</a:t>
                      </a:r>
                      <a:r>
                        <a:rPr lang="ru-RU" sz="1800" b="1"/>
                        <a:t> А</a:t>
                      </a:r>
                      <a:r>
                        <a:rPr lang="en-US" sz="1800" b="1"/>
                        <a:t>,</a:t>
                      </a:r>
                      <a:r>
                        <a:rPr lang="ru-RU" sz="1800" b="1"/>
                        <a:t> </a:t>
                      </a:r>
                      <a:r>
                        <a:rPr lang="en-US" sz="1800" b="1"/>
                        <a:t>t</a:t>
                      </a:r>
                      <a:r>
                        <a:rPr lang="ru-RU" sz="1800" b="1"/>
                        <a:t> </a:t>
                      </a:r>
                      <a:r>
                        <a:rPr lang="en-US" sz="1800" b="1"/>
                        <a:t>)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/>
                        <a:t>5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8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073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t</a:t>
                      </a:r>
                      <a:r>
                        <a:rPr lang="ru-RU" sz="1800" b="1" dirty="0"/>
                        <a:t> :=</a:t>
                      </a:r>
                      <a:r>
                        <a:rPr lang="en-US" sz="1800" b="1" dirty="0"/>
                        <a:t> t</a:t>
                      </a:r>
                      <a:r>
                        <a:rPr lang="en-US" sz="1800" b="1" baseline="0" dirty="0"/>
                        <a:t> * </a:t>
                      </a:r>
                      <a:r>
                        <a:rPr lang="ru-RU" sz="1800" b="1" dirty="0"/>
                        <a:t>2; 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r>
                        <a:rPr lang="ru-RU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/>
                        <a:t>5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073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6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WRITE</a:t>
                      </a:r>
                      <a:r>
                        <a:rPr lang="ru-RU" sz="1800" b="1" dirty="0"/>
                        <a:t> </a:t>
                      </a:r>
                      <a:r>
                        <a:rPr lang="en-US" sz="1800" b="1" dirty="0"/>
                        <a:t>(</a:t>
                      </a:r>
                      <a:r>
                        <a:rPr lang="ru-RU" sz="1800" b="1" dirty="0"/>
                        <a:t>А</a:t>
                      </a:r>
                      <a:r>
                        <a:rPr lang="en-US" sz="1800" b="1" dirty="0"/>
                        <a:t>,</a:t>
                      </a:r>
                      <a:r>
                        <a:rPr lang="ru-RU" sz="1800" b="1" dirty="0"/>
                        <a:t> </a:t>
                      </a:r>
                      <a:r>
                        <a:rPr lang="en-US" sz="1800" b="1" dirty="0"/>
                        <a:t>t</a:t>
                      </a:r>
                      <a:r>
                        <a:rPr lang="ru-RU" sz="1800" b="1" dirty="0"/>
                        <a:t> </a:t>
                      </a:r>
                      <a:r>
                        <a:rPr lang="en-US" sz="1800" b="1" dirty="0"/>
                        <a:t>)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r>
                        <a:rPr lang="ru-RU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r>
                        <a:rPr lang="ru-RU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/>
                        <a:t>5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&lt; T, A, </a:t>
                      </a:r>
                      <a:r>
                        <a:rPr lang="en-US" b="1" dirty="0" smtClean="0"/>
                        <a:t>1</a:t>
                      </a:r>
                      <a:r>
                        <a:rPr lang="ru-RU" b="1" smtClean="0"/>
                        <a:t>0</a:t>
                      </a:r>
                      <a:r>
                        <a:rPr lang="en-US" b="1" smtClean="0"/>
                        <a:t>&gt;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1073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7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READ(</a:t>
                      </a:r>
                      <a:r>
                        <a:rPr lang="ru-RU" sz="1800" b="1" dirty="0"/>
                        <a:t> </a:t>
                      </a:r>
                      <a:r>
                        <a:rPr lang="en-US" sz="1800" b="1" dirty="0"/>
                        <a:t>B,</a:t>
                      </a:r>
                      <a:r>
                        <a:rPr lang="ru-RU" sz="1800" b="1" dirty="0"/>
                        <a:t> </a:t>
                      </a:r>
                      <a:r>
                        <a:rPr lang="en-US" sz="1800" b="1" dirty="0"/>
                        <a:t>t</a:t>
                      </a:r>
                      <a:r>
                        <a:rPr lang="ru-RU" sz="1800" b="1" dirty="0"/>
                        <a:t> </a:t>
                      </a:r>
                      <a:r>
                        <a:rPr lang="en-US" sz="1800" b="1" dirty="0"/>
                        <a:t>)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1</a:t>
                      </a:r>
                      <a:r>
                        <a:rPr lang="ru-RU" b="1"/>
                        <a:t>0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/>
                        <a:t>5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107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8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t</a:t>
                      </a:r>
                      <a:r>
                        <a:rPr lang="ru-RU" sz="1800" b="1" dirty="0"/>
                        <a:t> :=</a:t>
                      </a:r>
                      <a:r>
                        <a:rPr lang="en-US" sz="1800" b="1" dirty="0"/>
                        <a:t> t</a:t>
                      </a:r>
                      <a:r>
                        <a:rPr lang="en-US" sz="1800" b="1" baseline="0" dirty="0"/>
                        <a:t> * </a:t>
                      </a:r>
                      <a:r>
                        <a:rPr lang="ru-RU" sz="1800" b="1" dirty="0"/>
                        <a:t>2; 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16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1</a:t>
                      </a:r>
                      <a:r>
                        <a:rPr lang="ru-RU" b="1"/>
                        <a:t>0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/>
                        <a:t>5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1073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9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WRITE</a:t>
                      </a:r>
                      <a:r>
                        <a:rPr lang="ru-RU" sz="1800" b="1" dirty="0"/>
                        <a:t> </a:t>
                      </a:r>
                      <a:r>
                        <a:rPr lang="en-US" sz="1800" b="1" dirty="0"/>
                        <a:t>(B,</a:t>
                      </a:r>
                      <a:r>
                        <a:rPr lang="ru-RU" sz="1800" b="1" dirty="0"/>
                        <a:t> </a:t>
                      </a:r>
                      <a:r>
                        <a:rPr lang="en-US" sz="1800" b="1" dirty="0"/>
                        <a:t>t</a:t>
                      </a:r>
                      <a:r>
                        <a:rPr lang="ru-RU" sz="1800" b="1" dirty="0"/>
                        <a:t> </a:t>
                      </a:r>
                      <a:r>
                        <a:rPr lang="en-US" sz="1800" b="1" dirty="0"/>
                        <a:t>)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16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r>
                        <a:rPr lang="ru-RU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16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&lt; T, B, 16 &gt;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1073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10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&lt; </a:t>
                      </a:r>
                      <a:r>
                        <a:rPr lang="en-US" sz="1600" b="1" cap="small" normalizeH="0" baseline="0" dirty="0"/>
                        <a:t>COMMIT </a:t>
                      </a:r>
                      <a:r>
                        <a:rPr lang="en-US" sz="2000" b="1" i="1" dirty="0">
                          <a:solidFill>
                            <a:schemeClr val="tx1"/>
                          </a:solidFill>
                        </a:rPr>
                        <a:t>T</a:t>
                      </a:r>
                      <a:r>
                        <a:rPr lang="en-US" b="1" dirty="0"/>
                        <a:t> </a:t>
                      </a:r>
                      <a:r>
                        <a:rPr lang="en-US" b="1" i="1" dirty="0"/>
                        <a:t>&gt;</a:t>
                      </a:r>
                      <a:endParaRPr lang="ru-RU" b="1" i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107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11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FLUSH</a:t>
                      </a:r>
                      <a:r>
                        <a:rPr lang="en-US" b="1" baseline="0" dirty="0">
                          <a:solidFill>
                            <a:srgbClr val="FF0000"/>
                          </a:solidFill>
                        </a:rPr>
                        <a:t>   LOG</a:t>
                      </a:r>
                      <a:endParaRPr lang="ru-RU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1073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r>
                        <a:rPr lang="ru-RU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OUTPUT (</a:t>
                      </a:r>
                      <a:r>
                        <a:rPr lang="en-US" b="1" baseline="0" dirty="0"/>
                        <a:t> </a:t>
                      </a:r>
                      <a:r>
                        <a:rPr lang="en-US" b="1" dirty="0"/>
                        <a:t>A )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16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1</a:t>
                      </a:r>
                      <a:r>
                        <a:rPr lang="ru-RU" b="1"/>
                        <a:t>0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16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r>
                        <a:rPr lang="ru-RU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107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1</a:t>
                      </a:r>
                      <a:r>
                        <a:rPr lang="ru-RU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OUTPUT ( B )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16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r>
                        <a:rPr lang="ru-RU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16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r>
                        <a:rPr lang="ru-RU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16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49F688F-E6B0-4FD2-A40D-BE0C1EDDAA0C}" type="slidenum">
              <a:rPr lang="ru-RU" smtClean="0"/>
              <a:pPr>
                <a:defRPr/>
              </a:pPr>
              <a:t>30</a:t>
            </a:fld>
            <a:endParaRPr lang="ru-RU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457200" y="254911"/>
            <a:ext cx="8229600" cy="668338"/>
          </a:xfrm>
        </p:spPr>
        <p:txBody>
          <a:bodyPr>
            <a:noAutofit/>
          </a:bodyPr>
          <a:lstStyle/>
          <a:p>
            <a:pPr algn="ctr"/>
            <a:r>
              <a:rPr lang="ru-RU" sz="2800" dirty="0">
                <a:solidFill>
                  <a:schemeClr val="bg2"/>
                </a:solidFill>
              </a:rPr>
              <a:t>Восстановление с применением протокола </a:t>
            </a:r>
            <a:r>
              <a:rPr lang="en-US" sz="2800" dirty="0">
                <a:solidFill>
                  <a:schemeClr val="bg2"/>
                </a:solidFill>
              </a:rPr>
              <a:t>“REDO”</a:t>
            </a:r>
            <a:endParaRPr lang="ru-RU" sz="2800" dirty="0"/>
          </a:p>
        </p:txBody>
      </p:sp>
      <p:sp>
        <p:nvSpPr>
          <p:cNvPr id="8" name="Содержимое 2"/>
          <p:cNvSpPr>
            <a:spLocks noGrp="1"/>
          </p:cNvSpPr>
          <p:nvPr>
            <p:ph idx="1"/>
          </p:nvPr>
        </p:nvSpPr>
        <p:spPr>
          <a:xfrm>
            <a:off x="0" y="931026"/>
            <a:ext cx="9144000" cy="5860474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ru-RU" dirty="0"/>
              <a:t>Важное следствие правила </a:t>
            </a:r>
            <a:r>
              <a:rPr lang="en-US" dirty="0"/>
              <a:t>R1 (REDO)</a:t>
            </a:r>
            <a:r>
              <a:rPr lang="ru-RU" dirty="0"/>
              <a:t> состоит в следующем: пока в журнал не записано </a:t>
            </a:r>
            <a:r>
              <a:rPr lang="en-US" dirty="0"/>
              <a:t>&lt;</a:t>
            </a:r>
            <a:r>
              <a:rPr lang="en-US" sz="2900" dirty="0">
                <a:solidFill>
                  <a:srgbClr val="C00000"/>
                </a:solidFill>
              </a:rPr>
              <a:t>COMMIT</a:t>
            </a:r>
            <a:r>
              <a:rPr lang="en-US" dirty="0"/>
              <a:t>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T</a:t>
            </a:r>
            <a:r>
              <a:rPr lang="en-US" dirty="0"/>
              <a:t>&gt;</a:t>
            </a:r>
            <a:r>
              <a:rPr lang="ru-RU" dirty="0"/>
              <a:t> можно с уверенностью сказать, что никакие изменения, внесенные </a:t>
            </a:r>
            <a:r>
              <a:rPr lang="ru-RU" dirty="0">
                <a:solidFill>
                  <a:schemeClr val="accent5">
                    <a:lumMod val="75000"/>
                  </a:schemeClr>
                </a:solidFill>
              </a:rPr>
              <a:t>Т</a:t>
            </a:r>
            <a:r>
              <a:rPr lang="ru-RU" dirty="0"/>
              <a:t>, не отображены на диска БД.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ru-RU" dirty="0"/>
              <a:t>В ходе восстановления БД в режиме </a:t>
            </a:r>
            <a:r>
              <a:rPr lang="en-US" dirty="0"/>
              <a:t>REDO</a:t>
            </a:r>
            <a:r>
              <a:rPr lang="ru-RU" dirty="0"/>
              <a:t> </a:t>
            </a:r>
          </a:p>
          <a:p>
            <a:pPr lvl="1">
              <a:lnSpc>
                <a:spcPct val="120000"/>
              </a:lnSpc>
              <a:buClr>
                <a:schemeClr val="bg2"/>
              </a:buClr>
              <a:buFont typeface="Wingdings" pitchFamily="2" charset="2"/>
              <a:buChar char="v"/>
            </a:pPr>
            <a:r>
              <a:rPr lang="ru-RU" dirty="0"/>
              <a:t>незавершенные транзакции трактуются как и не существовавшие вовсе</a:t>
            </a:r>
          </a:p>
          <a:p>
            <a:pPr lvl="1">
              <a:lnSpc>
                <a:spcPct val="120000"/>
              </a:lnSpc>
              <a:buClr>
                <a:schemeClr val="bg2"/>
              </a:buClr>
              <a:buFont typeface="Wingdings" pitchFamily="2" charset="2"/>
              <a:buChar char="v"/>
            </a:pPr>
            <a:r>
              <a:rPr lang="ru-RU" dirty="0"/>
              <a:t>для завершенных транзакций новые значения затронутых транзакцией элементов воссоздаются на диске, не зависимо от того делалось ли это прежде</a:t>
            </a:r>
          </a:p>
          <a:p>
            <a:pPr>
              <a:lnSpc>
                <a:spcPct val="120000"/>
              </a:lnSpc>
            </a:pPr>
            <a:r>
              <a:rPr lang="ru-RU" dirty="0"/>
              <a:t>Для восстановления данных с помощью </a:t>
            </a:r>
            <a:r>
              <a:rPr lang="en-US" dirty="0"/>
              <a:t>REDO</a:t>
            </a:r>
            <a:endParaRPr lang="ru-RU" b="1" dirty="0"/>
          </a:p>
          <a:p>
            <a:pPr lvl="1">
              <a:lnSpc>
                <a:spcPct val="120000"/>
              </a:lnSpc>
              <a:buClr>
                <a:schemeClr val="bg2"/>
              </a:buClr>
              <a:buFont typeface="Wingdings" pitchFamily="2" charset="2"/>
              <a:buChar char="v"/>
            </a:pPr>
            <a:r>
              <a:rPr lang="ru-RU" sz="2600" dirty="0"/>
              <a:t>Идентифицировать все зафиксированные транзакции</a:t>
            </a:r>
            <a:endParaRPr lang="en-US" sz="2600" dirty="0"/>
          </a:p>
          <a:p>
            <a:pPr lvl="1">
              <a:lnSpc>
                <a:spcPct val="120000"/>
              </a:lnSpc>
              <a:buClr>
                <a:schemeClr val="bg2"/>
              </a:buClr>
              <a:buFont typeface="Wingdings" pitchFamily="2" charset="2"/>
              <a:buChar char="v"/>
            </a:pPr>
            <a:r>
              <a:rPr lang="ru-RU" sz="2600" dirty="0"/>
              <a:t>Сканировать протокол </a:t>
            </a:r>
            <a:r>
              <a:rPr lang="ru-RU" sz="2600" b="1" dirty="0"/>
              <a:t>от начала к концу. </a:t>
            </a:r>
            <a:r>
              <a:rPr lang="ru-RU" sz="2600" dirty="0"/>
              <a:t>Встречая  очередную запись обновления </a:t>
            </a:r>
            <a:r>
              <a:rPr lang="en-US" sz="2600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2600" dirty="0"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T, X,</a:t>
            </a:r>
            <a:r>
              <a:rPr lang="en-US" sz="2900" dirty="0"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9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600" dirty="0">
                <a:latin typeface="Courier New" pitchFamily="49" charset="0"/>
                <a:cs typeface="Courier New" pitchFamily="49" charset="0"/>
              </a:rPr>
              <a:t>&gt; </a:t>
            </a:r>
            <a:r>
              <a:rPr lang="ru-RU" sz="2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600" dirty="0"/>
              <a:t>:</a:t>
            </a:r>
          </a:p>
          <a:p>
            <a:pPr lvl="2">
              <a:lnSpc>
                <a:spcPct val="120000"/>
              </a:lnSpc>
              <a:buFont typeface="Wingdings" pitchFamily="2" charset="2"/>
              <a:buChar char="v"/>
            </a:pPr>
            <a:r>
              <a:rPr lang="ru-RU" sz="2600" dirty="0"/>
              <a:t>игнорировать ее, если Т  является незавершенной транзакцией</a:t>
            </a:r>
          </a:p>
          <a:p>
            <a:pPr lvl="2">
              <a:lnSpc>
                <a:spcPct val="120000"/>
              </a:lnSpc>
              <a:buFont typeface="Wingdings" pitchFamily="2" charset="2"/>
              <a:buChar char="v"/>
            </a:pPr>
            <a:r>
              <a:rPr lang="ru-RU" sz="2600" dirty="0"/>
              <a:t>сохранять на диске значение</a:t>
            </a:r>
            <a:r>
              <a:rPr lang="en-US" sz="2600" dirty="0"/>
              <a:t> </a:t>
            </a:r>
            <a:r>
              <a:rPr lang="en-US" sz="29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6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600" dirty="0"/>
              <a:t>элемента Х, если Т завершена</a:t>
            </a:r>
          </a:p>
          <a:p>
            <a:pPr marL="342900" lvl="1" indent="-342900">
              <a:lnSpc>
                <a:spcPct val="120000"/>
              </a:lnSpc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ru-RU" sz="3200" dirty="0">
                <a:ea typeface="+mn-ea"/>
              </a:rPr>
              <a:t>Для каждой незафиксированной транзакции Т сохранить в журнале запись </a:t>
            </a:r>
            <a:r>
              <a:rPr lang="en-US" sz="3200" dirty="0">
                <a:latin typeface="Courier New" pitchFamily="49" charset="0"/>
                <a:ea typeface="+mn-ea"/>
                <a:cs typeface="Courier New" pitchFamily="49" charset="0"/>
              </a:rPr>
              <a:t>&lt;</a:t>
            </a:r>
            <a:r>
              <a:rPr lang="en-US" sz="3200" dirty="0">
                <a:solidFill>
                  <a:srgbClr val="C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ABORT</a:t>
            </a:r>
            <a:r>
              <a:rPr lang="en-US" sz="3200" dirty="0">
                <a:latin typeface="Times New Roman" pitchFamily="18" charset="0"/>
                <a:ea typeface="+mn-ea"/>
                <a:cs typeface="Times New Roman" pitchFamily="18" charset="0"/>
              </a:rPr>
              <a:t> T</a:t>
            </a:r>
            <a:r>
              <a:rPr lang="en-US" sz="3200" dirty="0">
                <a:latin typeface="Courier New" pitchFamily="49" charset="0"/>
                <a:ea typeface="+mn-ea"/>
                <a:cs typeface="Courier New" pitchFamily="49" charset="0"/>
              </a:rPr>
              <a:t>&gt;</a:t>
            </a:r>
            <a:r>
              <a:rPr lang="en-US" sz="3200" dirty="0">
                <a:ea typeface="+mn-ea"/>
              </a:rPr>
              <a:t> </a:t>
            </a:r>
            <a:r>
              <a:rPr lang="ru-RU" sz="3200" dirty="0">
                <a:ea typeface="+mn-ea"/>
              </a:rPr>
              <a:t>и выполнить команду </a:t>
            </a:r>
            <a:r>
              <a:rPr lang="en-US" sz="3200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3200" dirty="0"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FLUSH  LOG</a:t>
            </a:r>
            <a:r>
              <a:rPr lang="en-US" sz="3200" dirty="0">
                <a:latin typeface="Times New Roman" pitchFamily="18" charset="0"/>
                <a:ea typeface="+mn-ea"/>
                <a:cs typeface="Times New Roman" pitchFamily="18" charset="0"/>
              </a:rPr>
              <a:t>&gt;</a:t>
            </a:r>
          </a:p>
          <a:p>
            <a:pPr>
              <a:lnSpc>
                <a:spcPct val="120000"/>
              </a:lnSpc>
            </a:pPr>
            <a:endParaRPr lang="ru-RU" dirty="0"/>
          </a:p>
          <a:p>
            <a:pPr>
              <a:lnSpc>
                <a:spcPct val="120000"/>
              </a:lnSpc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61184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49F688F-E6B0-4FD2-A40D-BE0C1EDDAA0C}" type="slidenum">
              <a:rPr lang="ru-RU" smtClean="0"/>
              <a:pPr>
                <a:defRPr/>
              </a:pPr>
              <a:t>31</a:t>
            </a:fld>
            <a:endParaRPr lang="ru-RU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149625" y="237693"/>
            <a:ext cx="8697913" cy="668338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600" dirty="0">
                <a:solidFill>
                  <a:schemeClr val="bg2"/>
                </a:solidFill>
              </a:rPr>
              <a:t>Протоколирование в режиме </a:t>
            </a:r>
            <a:r>
              <a:rPr lang="en-US" sz="3600" dirty="0">
                <a:solidFill>
                  <a:schemeClr val="bg2"/>
                </a:solidFill>
              </a:rPr>
              <a:t>“UDDO/REDO”</a:t>
            </a:r>
            <a:endParaRPr lang="ru-RU" sz="3600" dirty="0"/>
          </a:p>
        </p:txBody>
      </p:sp>
      <p:sp>
        <p:nvSpPr>
          <p:cNvPr id="8" name="Содержимое 2"/>
          <p:cNvSpPr>
            <a:spLocks noGrp="1"/>
          </p:cNvSpPr>
          <p:nvPr>
            <p:ph idx="1"/>
          </p:nvPr>
        </p:nvSpPr>
        <p:spPr>
          <a:xfrm>
            <a:off x="85058" y="1102500"/>
            <a:ext cx="8995144" cy="5266402"/>
          </a:xfrm>
        </p:spPr>
        <p:txBody>
          <a:bodyPr lIns="36000" tIns="36000" rIns="36000" bIns="36000">
            <a:normAutofit fontScale="70000" lnSpcReduction="20000"/>
          </a:bodyPr>
          <a:lstStyle/>
          <a:p>
            <a:pPr marL="216000" indent="-216000">
              <a:lnSpc>
                <a:spcPct val="120000"/>
              </a:lnSpc>
              <a:spcBef>
                <a:spcPts val="600"/>
              </a:spcBef>
            </a:pPr>
            <a:r>
              <a:rPr lang="ru-RU" sz="2400" dirty="0"/>
              <a:t>Режим «</a:t>
            </a:r>
            <a:r>
              <a:rPr lang="en-US" sz="2400" dirty="0"/>
              <a:t>UNDO</a:t>
            </a:r>
            <a:r>
              <a:rPr lang="ru-RU" sz="2400" dirty="0"/>
              <a:t>» (отмена) требует, чтобы измененные данные сохранялись на диске непосредственно после завершения транзакции. Что может вызвать увеличение количества операций ввода/вывода</a:t>
            </a:r>
          </a:p>
          <a:p>
            <a:pPr marL="216000" indent="-216000">
              <a:lnSpc>
                <a:spcPct val="120000"/>
              </a:lnSpc>
              <a:spcBef>
                <a:spcPts val="600"/>
              </a:spcBef>
            </a:pPr>
            <a:r>
              <a:rPr lang="ru-RU" sz="2400" dirty="0"/>
              <a:t>Режим «</a:t>
            </a:r>
            <a:r>
              <a:rPr lang="en-US" sz="2400" dirty="0"/>
              <a:t>REDO</a:t>
            </a:r>
            <a:r>
              <a:rPr lang="ru-RU" sz="2400" dirty="0"/>
              <a:t>» (повторение) предполагает хранение модифицированных блоков на буферах до фиксации транзакции (</a:t>
            </a:r>
            <a:r>
              <a:rPr lang="en-US" sz="2400" dirty="0"/>
              <a:t>commit)</a:t>
            </a:r>
            <a:r>
              <a:rPr lang="ru-RU" sz="2400" dirty="0"/>
              <a:t> и </a:t>
            </a:r>
            <a:r>
              <a:rPr lang="en-US" sz="2400" dirty="0"/>
              <a:t>“</a:t>
            </a:r>
            <a:r>
              <a:rPr lang="ru-RU" sz="2400" dirty="0"/>
              <a:t>сброса</a:t>
            </a:r>
            <a:r>
              <a:rPr lang="en-US" sz="2400" dirty="0"/>
              <a:t>”</a:t>
            </a:r>
            <a:r>
              <a:rPr lang="ru-RU" sz="2400" dirty="0"/>
              <a:t> записей протокола на диск. Что может вызвать увеличение количества буферов, используемых транзакциями.</a:t>
            </a:r>
          </a:p>
          <a:p>
            <a:pPr marL="216000" indent="-216000">
              <a:lnSpc>
                <a:spcPct val="120000"/>
              </a:lnSpc>
              <a:spcBef>
                <a:spcPts val="600"/>
              </a:spcBef>
            </a:pPr>
            <a:r>
              <a:rPr lang="ru-RU" sz="2400" dirty="0"/>
              <a:t>Использование обоих режимов может быть вызвано необходимостью удовлетворения противоречивых требований управления буферами в ходе сеанса введения контрольной точки (если только элементы базы данных не являются полными блоками).</a:t>
            </a:r>
          </a:p>
          <a:p>
            <a:pPr marL="216000" indent="-216000">
              <a:lnSpc>
                <a:spcPct val="120000"/>
              </a:lnSpc>
              <a:spcBef>
                <a:spcPts val="600"/>
              </a:spcBef>
            </a:pPr>
            <a:r>
              <a:rPr lang="ru-RU" sz="2400" dirty="0"/>
              <a:t>Например, если некоторый буфер содержит одновременно:</a:t>
            </a:r>
          </a:p>
          <a:p>
            <a:pPr marL="616050" lvl="2" indent="-216000">
              <a:lnSpc>
                <a:spcPct val="120000"/>
              </a:lnSpc>
              <a:spcBef>
                <a:spcPts val="600"/>
              </a:spcBef>
            </a:pPr>
            <a:r>
              <a:rPr lang="ru-RU" sz="1800" dirty="0"/>
              <a:t>Элемент А, модифицированный </a:t>
            </a:r>
            <a:r>
              <a:rPr lang="ru-RU" sz="1800" dirty="0">
                <a:solidFill>
                  <a:srgbClr val="C00000"/>
                </a:solidFill>
              </a:rPr>
              <a:t>зафиксированной</a:t>
            </a:r>
            <a:r>
              <a:rPr lang="ru-RU" sz="1800" dirty="0"/>
              <a:t> транзакцией </a:t>
            </a:r>
            <a:r>
              <a:rPr lang="en-US" sz="1800" dirty="0"/>
              <a:t>T</a:t>
            </a:r>
            <a:r>
              <a:rPr lang="en-US" sz="1800" baseline="-25000" dirty="0"/>
              <a:t>1</a:t>
            </a:r>
            <a:r>
              <a:rPr lang="ru-RU" sz="1800" dirty="0"/>
              <a:t>,</a:t>
            </a:r>
          </a:p>
          <a:p>
            <a:pPr marL="616050" lvl="2" indent="-216000">
              <a:lnSpc>
                <a:spcPct val="120000"/>
              </a:lnSpc>
              <a:spcBef>
                <a:spcPts val="600"/>
              </a:spcBef>
            </a:pPr>
            <a:r>
              <a:rPr lang="ru-RU" sz="1800" dirty="0"/>
              <a:t>Элемент В, измененный транзакцией</a:t>
            </a:r>
            <a:r>
              <a:rPr lang="en-US" sz="1800" dirty="0"/>
              <a:t> T</a:t>
            </a:r>
            <a:r>
              <a:rPr lang="en-US" sz="1800" baseline="-25000" dirty="0"/>
              <a:t>2</a:t>
            </a:r>
            <a:r>
              <a:rPr lang="ru-RU" sz="1800" dirty="0"/>
              <a:t>, которая еще </a:t>
            </a:r>
            <a:r>
              <a:rPr lang="ru-RU" sz="1800" dirty="0">
                <a:solidFill>
                  <a:srgbClr val="C00000"/>
                </a:solidFill>
              </a:rPr>
              <a:t>не сохранила на диске </a:t>
            </a:r>
            <a:br>
              <a:rPr lang="ru-RU" sz="1800" dirty="0">
                <a:solidFill>
                  <a:srgbClr val="C00000"/>
                </a:solidFill>
              </a:rPr>
            </a:br>
            <a:r>
              <a:rPr lang="ru-RU" sz="1800" dirty="0"/>
              <a:t>соответствующую </a:t>
            </a:r>
            <a:r>
              <a:rPr lang="ru-RU" sz="1800" dirty="0">
                <a:solidFill>
                  <a:srgbClr val="C00000"/>
                </a:solidFill>
              </a:rPr>
              <a:t>запись</a:t>
            </a:r>
            <a:r>
              <a:rPr lang="ru-RU" sz="1800" dirty="0"/>
              <a:t> </a:t>
            </a:r>
            <a:r>
              <a:rPr lang="en-US" sz="1800" dirty="0"/>
              <a:t>&lt;COMMIT …&gt;</a:t>
            </a:r>
            <a:r>
              <a:rPr lang="ru-RU" sz="1800" dirty="0"/>
              <a:t> </a:t>
            </a:r>
            <a:r>
              <a:rPr lang="ru-RU" sz="1800" dirty="0">
                <a:solidFill>
                  <a:srgbClr val="C00000"/>
                </a:solidFill>
              </a:rPr>
              <a:t>протокола</a:t>
            </a:r>
            <a:endParaRPr lang="ru-RU" sz="1800" dirty="0"/>
          </a:p>
          <a:p>
            <a:pPr marL="216000" indent="-216000">
              <a:lnSpc>
                <a:spcPct val="120000"/>
              </a:lnSpc>
              <a:spcBef>
                <a:spcPts val="600"/>
              </a:spcBef>
            </a:pPr>
            <a:r>
              <a:rPr lang="ru-RU" sz="2400" dirty="0"/>
              <a:t>Тогда этот буфер</a:t>
            </a:r>
            <a:r>
              <a:rPr lang="en-US" sz="2400" dirty="0"/>
              <a:t> </a:t>
            </a:r>
            <a:r>
              <a:rPr lang="ru-RU" sz="2400" dirty="0"/>
              <a:t>с точки зрения транзакции </a:t>
            </a:r>
            <a:r>
              <a:rPr lang="en-US" sz="2400" dirty="0"/>
              <a:t>T</a:t>
            </a:r>
            <a:r>
              <a:rPr lang="en-US" sz="2400" baseline="-25000" dirty="0"/>
              <a:t>1</a:t>
            </a:r>
            <a:r>
              <a:rPr lang="ru-RU" sz="2400" dirty="0"/>
              <a:t> подлежит сохранению на диске, но вместе с тем это противоречит правилу </a:t>
            </a:r>
            <a:r>
              <a:rPr lang="en-US" sz="2400" dirty="0"/>
              <a:t>R1 </a:t>
            </a:r>
            <a:r>
              <a:rPr lang="ru-RU" sz="2400" dirty="0"/>
              <a:t>протоколирования в режиме</a:t>
            </a:r>
            <a:r>
              <a:rPr lang="en-US" sz="2400" dirty="0"/>
              <a:t> “redo”</a:t>
            </a:r>
            <a:r>
              <a:rPr lang="ru-RU" sz="2400" dirty="0"/>
              <a:t> (</a:t>
            </a:r>
            <a:r>
              <a:rPr lang="ru-RU" sz="2400" dirty="0">
                <a:solidFill>
                  <a:srgbClr val="C00000"/>
                </a:solidFill>
              </a:rPr>
              <a:t>сначала</a:t>
            </a:r>
            <a:r>
              <a:rPr lang="ru-RU" sz="2400" dirty="0"/>
              <a:t> </a:t>
            </a:r>
            <a:r>
              <a:rPr lang="en-US" sz="2400" dirty="0"/>
              <a:t>“</a:t>
            </a:r>
            <a:r>
              <a:rPr lang="ru-RU" sz="2400" dirty="0"/>
              <a:t>сброс</a:t>
            </a:r>
            <a:r>
              <a:rPr lang="en-US" sz="2400" dirty="0"/>
              <a:t>”</a:t>
            </a:r>
            <a:r>
              <a:rPr lang="ru-RU" sz="2400" dirty="0"/>
              <a:t> записи </a:t>
            </a:r>
            <a:r>
              <a:rPr lang="en-US" sz="2400" dirty="0"/>
              <a:t>&lt;COMMIT …&gt;</a:t>
            </a:r>
            <a:r>
              <a:rPr lang="ru-RU" sz="2400" dirty="0"/>
              <a:t> протокола</a:t>
            </a:r>
            <a:r>
              <a:rPr lang="ru-RU" sz="2400" dirty="0">
                <a:solidFill>
                  <a:srgbClr val="C00000"/>
                </a:solidFill>
              </a:rPr>
              <a:t>, затем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ru-RU" sz="2400" dirty="0"/>
              <a:t>фиксация элементов данных БД )</a:t>
            </a:r>
          </a:p>
        </p:txBody>
      </p:sp>
    </p:spTree>
    <p:extLst>
      <p:ext uri="{BB962C8B-B14F-4D97-AF65-F5344CB8AC3E}">
        <p14:creationId xmlns:p14="http://schemas.microsoft.com/office/powerpoint/2010/main" val="4061184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49F688F-E6B0-4FD2-A40D-BE0C1EDDAA0C}" type="slidenum">
              <a:rPr lang="ru-RU" smtClean="0"/>
              <a:pPr>
                <a:defRPr/>
              </a:pPr>
              <a:t>32</a:t>
            </a:fld>
            <a:endParaRPr lang="ru-RU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149625" y="237693"/>
            <a:ext cx="8697913" cy="668338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600" dirty="0">
                <a:solidFill>
                  <a:schemeClr val="bg2"/>
                </a:solidFill>
              </a:rPr>
              <a:t>Протоколирование в режиме </a:t>
            </a:r>
            <a:r>
              <a:rPr lang="en-US" sz="3600" dirty="0">
                <a:solidFill>
                  <a:schemeClr val="bg2"/>
                </a:solidFill>
              </a:rPr>
              <a:t>“UDDO/REDO”</a:t>
            </a:r>
            <a:endParaRPr lang="ru-RU" sz="3600" dirty="0"/>
          </a:p>
        </p:txBody>
      </p:sp>
      <p:sp>
        <p:nvSpPr>
          <p:cNvPr id="8" name="Содержимое 2"/>
          <p:cNvSpPr>
            <a:spLocks noGrp="1"/>
          </p:cNvSpPr>
          <p:nvPr>
            <p:ph idx="1"/>
          </p:nvPr>
        </p:nvSpPr>
        <p:spPr>
          <a:xfrm>
            <a:off x="0" y="964277"/>
            <a:ext cx="9250680" cy="5480068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ru-RU" sz="2400" dirty="0"/>
              <a:t>Протокол «</a:t>
            </a:r>
            <a:r>
              <a:rPr lang="en-US" sz="2400" dirty="0"/>
              <a:t>UNDO/REDO</a:t>
            </a:r>
            <a:r>
              <a:rPr lang="ru-RU" sz="2400" dirty="0"/>
              <a:t>» содержит записи с информацией, что и протоколы «</a:t>
            </a:r>
            <a:r>
              <a:rPr lang="en-US" sz="2400" dirty="0"/>
              <a:t>REDO</a:t>
            </a:r>
            <a:r>
              <a:rPr lang="ru-RU" sz="2400" dirty="0"/>
              <a:t>» и «</a:t>
            </a:r>
            <a:r>
              <a:rPr lang="en-US" sz="2400" dirty="0"/>
              <a:t>UNDO</a:t>
            </a:r>
            <a:r>
              <a:rPr lang="ru-RU" sz="2400" dirty="0"/>
              <a:t>» одновременно.</a:t>
            </a:r>
          </a:p>
          <a:p>
            <a:pPr marL="342900" lvl="1" indent="-342900">
              <a:lnSpc>
                <a:spcPct val="110000"/>
              </a:lnSpc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ru-RU" sz="2400" dirty="0">
                <a:ea typeface="+mn-ea"/>
              </a:rPr>
              <a:t>Записи обновления </a:t>
            </a:r>
            <a:r>
              <a:rPr lang="en-US" sz="2400" dirty="0">
                <a:ea typeface="+mn-ea"/>
              </a:rPr>
              <a:t>&lt;T, X, </a:t>
            </a:r>
            <a:r>
              <a:rPr lang="en-US" sz="26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400" dirty="0">
                <a:ea typeface="+mn-ea"/>
              </a:rPr>
              <a:t>, </a:t>
            </a:r>
            <a:r>
              <a:rPr lang="en-US" sz="2600" b="1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w </a:t>
            </a:r>
            <a:r>
              <a:rPr lang="en-US" sz="2400" dirty="0">
                <a:ea typeface="+mn-ea"/>
              </a:rPr>
              <a:t>&gt;</a:t>
            </a:r>
            <a:r>
              <a:rPr lang="ru-RU" sz="2400" dirty="0">
                <a:ea typeface="+mn-ea"/>
              </a:rPr>
              <a:t>. Смысл – Т изменила прежнее значение</a:t>
            </a:r>
            <a:r>
              <a:rPr lang="ru-RU" sz="2600" dirty="0">
                <a:ea typeface="+mn-ea"/>
              </a:rPr>
              <a:t> </a:t>
            </a:r>
            <a:r>
              <a:rPr lang="en-US" sz="2600" b="1" i="1" dirty="0">
                <a:solidFill>
                  <a:srgbClr val="FF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v </a:t>
            </a:r>
            <a:r>
              <a:rPr lang="ru-RU" sz="2400" dirty="0">
                <a:ea typeface="+mn-ea"/>
              </a:rPr>
              <a:t>элемента базы данных Х</a:t>
            </a:r>
            <a:r>
              <a:rPr lang="en-US" sz="2400" dirty="0">
                <a:ea typeface="+mn-ea"/>
              </a:rPr>
              <a:t> </a:t>
            </a:r>
            <a:r>
              <a:rPr lang="ru-RU" sz="2400" dirty="0">
                <a:ea typeface="+mn-ea"/>
              </a:rPr>
              <a:t>на новое </a:t>
            </a:r>
            <a:r>
              <a:rPr lang="en-US" sz="2600" b="1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w</a:t>
            </a:r>
            <a:r>
              <a:rPr lang="ru-RU" sz="2400" dirty="0">
                <a:ea typeface="+mn-ea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ru-RU" sz="2400" b="1" u="sng" dirty="0"/>
              <a:t>Правило </a:t>
            </a:r>
            <a:r>
              <a:rPr lang="en-US" sz="2400" b="1" u="sng" dirty="0"/>
              <a:t>UR1: </a:t>
            </a:r>
            <a:r>
              <a:rPr lang="ru-RU" sz="2400" dirty="0"/>
              <a:t>прежде чем транзакция Т сможет модифицировать элемент базы данных Х  на диске , необходимо внести в копию протокола на диске соответствующую запись обновления </a:t>
            </a:r>
            <a:r>
              <a:rPr lang="en-US" sz="2400" dirty="0"/>
              <a:t>&lt;T, X, </a:t>
            </a:r>
            <a:r>
              <a:rPr lang="en-US" sz="26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4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/>
              <a:t>,</a:t>
            </a:r>
            <a:r>
              <a:rPr lang="en-US" sz="2600" dirty="0"/>
              <a:t> </a:t>
            </a:r>
            <a:r>
              <a:rPr lang="en-US" sz="2600" b="1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sz="2600" dirty="0"/>
              <a:t> </a:t>
            </a:r>
            <a:r>
              <a:rPr lang="en-US" sz="2400" dirty="0"/>
              <a:t>&gt;</a:t>
            </a:r>
            <a:r>
              <a:rPr lang="ru-RU" sz="2400" dirty="0"/>
              <a:t>. </a:t>
            </a:r>
          </a:p>
          <a:p>
            <a:pPr>
              <a:lnSpc>
                <a:spcPct val="110000"/>
              </a:lnSpc>
            </a:pPr>
            <a:r>
              <a:rPr lang="ru-RU" sz="2400" dirty="0"/>
              <a:t>Правило </a:t>
            </a:r>
            <a:r>
              <a:rPr lang="en-US" sz="2400" dirty="0"/>
              <a:t>UR</a:t>
            </a:r>
            <a:r>
              <a:rPr lang="ru-RU" sz="2400" dirty="0"/>
              <a:t>1, таким образом, поддерживает ограничения, действующие одновременно в режимах «</a:t>
            </a:r>
            <a:r>
              <a:rPr lang="en-US" sz="2400" dirty="0"/>
              <a:t>REDO</a:t>
            </a:r>
            <a:r>
              <a:rPr lang="ru-RU" sz="2400" dirty="0"/>
              <a:t>» и «</a:t>
            </a:r>
            <a:r>
              <a:rPr lang="en-US" sz="2400" dirty="0"/>
              <a:t>UNDO</a:t>
            </a:r>
            <a:r>
              <a:rPr lang="ru-RU" sz="2400" dirty="0"/>
              <a:t>».</a:t>
            </a:r>
          </a:p>
          <a:p>
            <a:pPr>
              <a:lnSpc>
                <a:spcPct val="110000"/>
              </a:lnSpc>
            </a:pPr>
            <a:r>
              <a:rPr lang="ru-RU" sz="2400" dirty="0"/>
              <a:t>Так запись </a:t>
            </a:r>
            <a:r>
              <a:rPr lang="en-US" sz="2400" dirty="0"/>
              <a:t>&lt;COMMIT T&gt;</a:t>
            </a:r>
            <a:r>
              <a:rPr lang="ru-RU" sz="2400" dirty="0"/>
              <a:t>  допускается включать в протокол</a:t>
            </a:r>
            <a:br>
              <a:rPr lang="ru-RU" sz="2400" dirty="0"/>
            </a:br>
            <a:r>
              <a:rPr lang="ru-RU" sz="26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до</a:t>
            </a:r>
            <a:r>
              <a:rPr lang="ru-RU" sz="2600" b="1" dirty="0">
                <a:solidFill>
                  <a:srgbClr val="FF0000"/>
                </a:solidFill>
              </a:rPr>
              <a:t> </a:t>
            </a:r>
            <a:r>
              <a:rPr lang="ru-RU" sz="2200" dirty="0"/>
              <a:t>и </a:t>
            </a:r>
            <a:r>
              <a:rPr lang="ru-RU" sz="26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после </a:t>
            </a:r>
            <a:r>
              <a:rPr lang="ru-RU" sz="2400" dirty="0">
                <a:cs typeface="Times New Roman" pitchFamily="18" charset="0"/>
              </a:rPr>
              <a:t>з</a:t>
            </a:r>
            <a:r>
              <a:rPr lang="ru-RU" sz="2400" dirty="0"/>
              <a:t>аписей подтверждающих изменения, внесенные в содержимое элементов базы данных</a:t>
            </a:r>
          </a:p>
        </p:txBody>
      </p:sp>
    </p:spTree>
    <p:extLst>
      <p:ext uri="{BB962C8B-B14F-4D97-AF65-F5344CB8AC3E}">
        <p14:creationId xmlns:p14="http://schemas.microsoft.com/office/powerpoint/2010/main" val="4061184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49F688F-E6B0-4FD2-A40D-BE0C1EDDAA0C}" type="slidenum">
              <a:rPr lang="ru-RU" smtClean="0"/>
              <a:pPr>
                <a:defRPr/>
              </a:pPr>
              <a:t>33</a:t>
            </a:fld>
            <a:endParaRPr lang="ru-RU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0" y="117885"/>
            <a:ext cx="9143999" cy="626828"/>
          </a:xfrm>
        </p:spPr>
        <p:txBody>
          <a:bodyPr/>
          <a:lstStyle/>
          <a:p>
            <a:pPr algn="ctr"/>
            <a:r>
              <a:rPr lang="ru-RU" sz="2800" dirty="0">
                <a:solidFill>
                  <a:schemeClr val="bg2"/>
                </a:solidFill>
              </a:rPr>
              <a:t>Пример</a:t>
            </a:r>
            <a:r>
              <a:rPr lang="en-US" sz="2800" dirty="0">
                <a:solidFill>
                  <a:schemeClr val="bg2"/>
                </a:solidFill>
              </a:rPr>
              <a:t> </a:t>
            </a:r>
            <a:r>
              <a:rPr lang="ru-RU" sz="2800" dirty="0">
                <a:solidFill>
                  <a:schemeClr val="bg2"/>
                </a:solidFill>
              </a:rPr>
              <a:t>протоколирования в режиме «</a:t>
            </a:r>
            <a:r>
              <a:rPr lang="en-US" sz="2800" dirty="0">
                <a:solidFill>
                  <a:schemeClr val="bg2"/>
                </a:solidFill>
              </a:rPr>
              <a:t>UNDO/REDO</a:t>
            </a:r>
            <a:r>
              <a:rPr lang="ru-RU" sz="2800" dirty="0">
                <a:solidFill>
                  <a:schemeClr val="bg2"/>
                </a:solidFill>
              </a:rPr>
              <a:t>»</a:t>
            </a:r>
            <a:endParaRPr lang="ru-RU" sz="2800" dirty="0"/>
          </a:p>
        </p:txBody>
      </p:sp>
      <p:sp>
        <p:nvSpPr>
          <p:cNvPr id="8" name="Содержимое 2"/>
          <p:cNvSpPr>
            <a:spLocks noGrp="1"/>
          </p:cNvSpPr>
          <p:nvPr>
            <p:ph idx="1"/>
          </p:nvPr>
        </p:nvSpPr>
        <p:spPr>
          <a:xfrm>
            <a:off x="0" y="764771"/>
            <a:ext cx="9144000" cy="615142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ru-RU" sz="2400" dirty="0"/>
              <a:t>Вариант упорядочения операций</a:t>
            </a: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4675473"/>
              </p:ext>
            </p:extLst>
          </p:nvPr>
        </p:nvGraphicFramePr>
        <p:xfrm>
          <a:off x="457527" y="1201782"/>
          <a:ext cx="8187116" cy="52033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6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62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08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71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6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15197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54207"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Шаг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Операция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1" dirty="0"/>
                        <a:t>t</a:t>
                      </a:r>
                      <a:endParaRPr lang="ru-RU" sz="1600" b="1" i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i="1" dirty="0"/>
                        <a:t>А-П</a:t>
                      </a:r>
                      <a:endParaRPr lang="ru-RU" sz="1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1" i="1" dirty="0"/>
                        <a:t>В-П</a:t>
                      </a:r>
                      <a:endParaRPr lang="ru-RU" sz="1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i="1" dirty="0"/>
                        <a:t>А-Д</a:t>
                      </a:r>
                      <a:endParaRPr lang="ru-RU" sz="1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i="1" dirty="0"/>
                        <a:t>В-Д</a:t>
                      </a:r>
                      <a:endParaRPr lang="ru-RU" sz="1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Протокол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073"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ru-RU" b="1" dirty="0"/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&lt; </a:t>
                      </a:r>
                      <a:r>
                        <a:rPr lang="en-US" sz="1600" b="1" cap="small" normalizeH="0" baseline="0" dirty="0"/>
                        <a:t>START</a:t>
                      </a:r>
                      <a:r>
                        <a:rPr lang="en-US" sz="1600" b="0" i="1" cap="small" normalizeH="0" baseline="0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 </a:t>
                      </a:r>
                      <a:r>
                        <a:rPr lang="en-US" sz="1800" b="1" i="1" dirty="0">
                          <a:solidFill>
                            <a:schemeClr val="tx1"/>
                          </a:solidFill>
                        </a:rPr>
                        <a:t>T</a:t>
                      </a:r>
                      <a:r>
                        <a:rPr lang="en-US" b="1" dirty="0"/>
                        <a:t> </a:t>
                      </a:r>
                      <a:r>
                        <a:rPr lang="en-US" b="1" i="1" dirty="0"/>
                        <a:t>&gt;</a:t>
                      </a:r>
                      <a:endParaRPr lang="ru-RU" b="1" i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073"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ru-RU" b="1" dirty="0"/>
                        <a:t>2.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INPUT (</a:t>
                      </a:r>
                      <a:r>
                        <a:rPr lang="en-US" b="1" baseline="0" dirty="0"/>
                        <a:t> </a:t>
                      </a:r>
                      <a:r>
                        <a:rPr lang="en-US" b="1" dirty="0"/>
                        <a:t>A )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i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073"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ru-RU" b="1" dirty="0"/>
                        <a:t>3.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INPUT (</a:t>
                      </a:r>
                      <a:r>
                        <a:rPr lang="en-US" b="1" baseline="0" dirty="0"/>
                        <a:t> B </a:t>
                      </a:r>
                      <a:r>
                        <a:rPr lang="en-US" b="1" dirty="0"/>
                        <a:t>)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/>
                        <a:t>5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i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073"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ru-RU" b="1" dirty="0"/>
                        <a:t>4.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READ(</a:t>
                      </a:r>
                      <a:r>
                        <a:rPr lang="ru-RU" sz="1800" b="1" dirty="0"/>
                        <a:t> А</a:t>
                      </a:r>
                      <a:r>
                        <a:rPr lang="en-US" sz="1800" b="1" dirty="0"/>
                        <a:t>,</a:t>
                      </a:r>
                      <a:r>
                        <a:rPr lang="ru-RU" sz="1800" b="1" dirty="0"/>
                        <a:t> </a:t>
                      </a:r>
                      <a:r>
                        <a:rPr lang="en-US" sz="1800" b="1" dirty="0"/>
                        <a:t>t</a:t>
                      </a:r>
                      <a:r>
                        <a:rPr lang="ru-RU" sz="1800" b="1" dirty="0"/>
                        <a:t> </a:t>
                      </a:r>
                      <a:r>
                        <a:rPr lang="en-US" sz="1800" b="1" dirty="0"/>
                        <a:t>)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/>
                        <a:t>5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073"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ru-RU" b="1" dirty="0"/>
                        <a:t>5.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t</a:t>
                      </a:r>
                      <a:r>
                        <a:rPr lang="ru-RU" sz="1800" b="1" dirty="0"/>
                        <a:t> :=</a:t>
                      </a:r>
                      <a:r>
                        <a:rPr lang="en-US" sz="1800" b="1" dirty="0"/>
                        <a:t> t</a:t>
                      </a:r>
                      <a:r>
                        <a:rPr lang="en-US" sz="1800" b="1" baseline="0" dirty="0"/>
                        <a:t> * </a:t>
                      </a:r>
                      <a:r>
                        <a:rPr lang="ru-RU" sz="1800" b="1" dirty="0"/>
                        <a:t>2; 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r>
                        <a:rPr lang="ru-RU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/>
                        <a:t>5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073"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ru-RU" b="1" dirty="0"/>
                        <a:t>6.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WRITE</a:t>
                      </a:r>
                      <a:r>
                        <a:rPr lang="ru-RU" sz="1800" b="1" dirty="0"/>
                        <a:t> </a:t>
                      </a:r>
                      <a:r>
                        <a:rPr lang="en-US" sz="1800" b="1" dirty="0"/>
                        <a:t>(</a:t>
                      </a:r>
                      <a:r>
                        <a:rPr lang="ru-RU" sz="1800" b="1" dirty="0"/>
                        <a:t>А</a:t>
                      </a:r>
                      <a:r>
                        <a:rPr lang="en-US" sz="1800" b="1" dirty="0"/>
                        <a:t>,</a:t>
                      </a:r>
                      <a:r>
                        <a:rPr lang="ru-RU" sz="1800" b="1" dirty="0"/>
                        <a:t> </a:t>
                      </a:r>
                      <a:r>
                        <a:rPr lang="en-US" sz="1800" b="1" dirty="0"/>
                        <a:t>t</a:t>
                      </a:r>
                      <a:r>
                        <a:rPr lang="ru-RU" sz="1800" b="1" dirty="0"/>
                        <a:t> </a:t>
                      </a:r>
                      <a:r>
                        <a:rPr lang="en-US" sz="1800" b="1" dirty="0"/>
                        <a:t>)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r>
                        <a:rPr lang="ru-RU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/>
                        <a:t>5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&lt; T, A, 5</a:t>
                      </a:r>
                      <a:r>
                        <a:rPr lang="ru-RU" b="1" dirty="0"/>
                        <a:t>, </a:t>
                      </a:r>
                      <a:r>
                        <a:rPr lang="en-US" b="1" dirty="0"/>
                        <a:t>10 &gt;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1073"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ru-RU" b="1" dirty="0"/>
                        <a:t>7.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READ(</a:t>
                      </a:r>
                      <a:r>
                        <a:rPr lang="ru-RU" sz="1800" b="1" dirty="0"/>
                        <a:t> </a:t>
                      </a:r>
                      <a:r>
                        <a:rPr lang="en-US" sz="1800" b="1" dirty="0"/>
                        <a:t>B,</a:t>
                      </a:r>
                      <a:r>
                        <a:rPr lang="ru-RU" sz="1800" b="1" dirty="0"/>
                        <a:t> </a:t>
                      </a:r>
                      <a:r>
                        <a:rPr lang="en-US" sz="1800" b="1" dirty="0"/>
                        <a:t>t</a:t>
                      </a:r>
                      <a:r>
                        <a:rPr lang="ru-RU" sz="1800" b="1" dirty="0"/>
                        <a:t> </a:t>
                      </a:r>
                      <a:r>
                        <a:rPr lang="en-US" sz="1800" b="1" dirty="0"/>
                        <a:t>)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/>
                        <a:t>10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/>
                        <a:t>5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1073"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ru-RU" b="1" dirty="0"/>
                        <a:t>8.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t</a:t>
                      </a:r>
                      <a:r>
                        <a:rPr lang="ru-RU" sz="1800" b="1" dirty="0"/>
                        <a:t> :=</a:t>
                      </a:r>
                      <a:r>
                        <a:rPr lang="en-US" sz="1800" b="1" dirty="0"/>
                        <a:t> t</a:t>
                      </a:r>
                      <a:r>
                        <a:rPr lang="en-US" sz="1800" b="1" baseline="0" dirty="0"/>
                        <a:t> * </a:t>
                      </a:r>
                      <a:r>
                        <a:rPr lang="ru-RU" sz="1800" b="1" dirty="0"/>
                        <a:t>2; 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16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/>
                        <a:t>10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/>
                        <a:t>5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1073"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ru-RU" b="1" dirty="0"/>
                        <a:t>9.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WRITE</a:t>
                      </a:r>
                      <a:r>
                        <a:rPr lang="ru-RU" sz="1800" b="1" dirty="0"/>
                        <a:t> </a:t>
                      </a:r>
                      <a:r>
                        <a:rPr lang="en-US" sz="1800" b="1" dirty="0"/>
                        <a:t>(B,</a:t>
                      </a:r>
                      <a:r>
                        <a:rPr lang="ru-RU" sz="1800" b="1" dirty="0"/>
                        <a:t> </a:t>
                      </a:r>
                      <a:r>
                        <a:rPr lang="en-US" sz="1800" b="1" dirty="0"/>
                        <a:t>t</a:t>
                      </a:r>
                      <a:r>
                        <a:rPr lang="ru-RU" sz="1800" b="1" dirty="0"/>
                        <a:t> </a:t>
                      </a:r>
                      <a:r>
                        <a:rPr lang="en-US" sz="1800" b="1" dirty="0"/>
                        <a:t>)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16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16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&lt; T, B,</a:t>
                      </a:r>
                      <a:r>
                        <a:rPr lang="ru-RU" b="1" dirty="0"/>
                        <a:t> 8,</a:t>
                      </a:r>
                      <a:r>
                        <a:rPr lang="en-US" b="1" dirty="0"/>
                        <a:t> 16 &gt;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1073"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ru-RU" b="1" dirty="0"/>
                        <a:t>10.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FLUSH</a:t>
                      </a:r>
                      <a:r>
                        <a:rPr lang="en-US" b="1" baseline="0" dirty="0">
                          <a:solidFill>
                            <a:srgbClr val="C00000"/>
                          </a:solidFill>
                        </a:rPr>
                        <a:t>   LOG</a:t>
                      </a:r>
                      <a:endParaRPr lang="ru-RU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1073"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ru-RU" b="1" dirty="0"/>
                        <a:t>11.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OUTPUT (</a:t>
                      </a:r>
                      <a:r>
                        <a:rPr lang="en-US" b="1" baseline="0" dirty="0"/>
                        <a:t> </a:t>
                      </a:r>
                      <a:r>
                        <a:rPr lang="en-US" b="1" dirty="0"/>
                        <a:t>A )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16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16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r>
                        <a:rPr lang="ru-RU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107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/>
                        <a:t>12.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&lt; </a:t>
                      </a:r>
                      <a:r>
                        <a:rPr lang="en-US" sz="1600" b="1" cap="small" normalizeH="0" baseline="0" dirty="0">
                          <a:solidFill>
                            <a:srgbClr val="C00000"/>
                          </a:solidFill>
                        </a:rPr>
                        <a:t>COMMIT </a:t>
                      </a:r>
                      <a:r>
                        <a:rPr lang="en-US" sz="2000" b="1" i="1" dirty="0">
                          <a:solidFill>
                            <a:srgbClr val="C00000"/>
                          </a:solidFill>
                        </a:rPr>
                        <a:t>T</a:t>
                      </a:r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 </a:t>
                      </a:r>
                      <a:r>
                        <a:rPr lang="en-US" b="1" i="1" dirty="0">
                          <a:solidFill>
                            <a:srgbClr val="C00000"/>
                          </a:solidFill>
                        </a:rPr>
                        <a:t>&gt;</a:t>
                      </a:r>
                      <a:endParaRPr lang="ru-RU" b="1" i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107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dirty="0"/>
                        <a:t>13.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OUTPUT ( B )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16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16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r>
                        <a:rPr lang="ru-RU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16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49F688F-E6B0-4FD2-A40D-BE0C1EDDAA0C}" type="slidenum">
              <a:rPr lang="ru-RU" smtClean="0"/>
              <a:pPr>
                <a:defRPr/>
              </a:pPr>
              <a:t>34</a:t>
            </a:fld>
            <a:endParaRPr lang="ru-RU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0" y="117885"/>
            <a:ext cx="9143999" cy="626828"/>
          </a:xfrm>
        </p:spPr>
        <p:txBody>
          <a:bodyPr/>
          <a:lstStyle/>
          <a:p>
            <a:pPr algn="ctr"/>
            <a:r>
              <a:rPr lang="ru-RU" sz="2800" dirty="0">
                <a:solidFill>
                  <a:schemeClr val="bg2"/>
                </a:solidFill>
              </a:rPr>
              <a:t>Пример</a:t>
            </a:r>
            <a:r>
              <a:rPr lang="en-US" sz="2800" dirty="0">
                <a:solidFill>
                  <a:schemeClr val="bg2"/>
                </a:solidFill>
              </a:rPr>
              <a:t> </a:t>
            </a:r>
            <a:r>
              <a:rPr lang="ru-RU" sz="2800" dirty="0">
                <a:solidFill>
                  <a:schemeClr val="bg2"/>
                </a:solidFill>
              </a:rPr>
              <a:t>протоколирования в режиме «</a:t>
            </a:r>
            <a:r>
              <a:rPr lang="en-US" sz="2800" dirty="0">
                <a:solidFill>
                  <a:schemeClr val="bg2"/>
                </a:solidFill>
              </a:rPr>
              <a:t>UNDO/REDO</a:t>
            </a:r>
            <a:r>
              <a:rPr lang="ru-RU" sz="2800" dirty="0">
                <a:solidFill>
                  <a:schemeClr val="bg2"/>
                </a:solidFill>
              </a:rPr>
              <a:t>»</a:t>
            </a:r>
            <a:endParaRPr lang="ru-RU" sz="2800" dirty="0"/>
          </a:p>
        </p:txBody>
      </p:sp>
      <p:sp>
        <p:nvSpPr>
          <p:cNvPr id="8" name="Содержимое 2"/>
          <p:cNvSpPr>
            <a:spLocks noGrp="1"/>
          </p:cNvSpPr>
          <p:nvPr>
            <p:ph idx="1"/>
          </p:nvPr>
        </p:nvSpPr>
        <p:spPr>
          <a:xfrm>
            <a:off x="0" y="764771"/>
            <a:ext cx="9144000" cy="615142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ru-RU" sz="2400" dirty="0"/>
              <a:t>Вариант упорядочения операций</a:t>
            </a: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7336394"/>
              </p:ext>
            </p:extLst>
          </p:nvPr>
        </p:nvGraphicFramePr>
        <p:xfrm>
          <a:off x="457527" y="1201782"/>
          <a:ext cx="8187116" cy="52642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6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62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08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71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6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15197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54207"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Шаг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Операция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1" dirty="0"/>
                        <a:t>t</a:t>
                      </a:r>
                      <a:endParaRPr lang="ru-RU" sz="1600" b="1" i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i="1" dirty="0"/>
                        <a:t>А-П</a:t>
                      </a:r>
                      <a:endParaRPr lang="ru-RU" sz="1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1" i="1" dirty="0"/>
                        <a:t>В-П</a:t>
                      </a:r>
                      <a:endParaRPr lang="ru-RU" sz="1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i="1" dirty="0"/>
                        <a:t>А-Д</a:t>
                      </a:r>
                      <a:endParaRPr lang="ru-RU" sz="1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i="1" dirty="0"/>
                        <a:t>В-Д</a:t>
                      </a:r>
                      <a:endParaRPr lang="ru-RU" sz="1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Протокол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073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ru-RU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&lt; </a:t>
                      </a:r>
                      <a:r>
                        <a:rPr lang="en-US" sz="1600" b="1" cap="small" normalizeH="0" baseline="0" dirty="0"/>
                        <a:t>START</a:t>
                      </a:r>
                      <a:r>
                        <a:rPr lang="en-US" sz="1600" b="0" i="1" cap="small" normalizeH="0" baseline="0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 </a:t>
                      </a:r>
                      <a:r>
                        <a:rPr lang="en-US" sz="1800" b="1" i="1" dirty="0">
                          <a:solidFill>
                            <a:schemeClr val="tx1"/>
                          </a:solidFill>
                        </a:rPr>
                        <a:t>T</a:t>
                      </a:r>
                      <a:r>
                        <a:rPr lang="en-US" b="1" dirty="0"/>
                        <a:t> </a:t>
                      </a:r>
                      <a:r>
                        <a:rPr lang="en-US" b="1" i="1" dirty="0"/>
                        <a:t>&gt;</a:t>
                      </a:r>
                      <a:endParaRPr lang="ru-RU" b="1" i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073">
                <a:tc>
                  <a:txBody>
                    <a:bodyPr/>
                    <a:lstStyle/>
                    <a:p>
                      <a:pPr marL="342900" indent="-342900" algn="ctr">
                        <a:buFont typeface="+mj-lt"/>
                        <a:buNone/>
                      </a:pPr>
                      <a:r>
                        <a:rPr lang="ru-RU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INPUT (</a:t>
                      </a:r>
                      <a:r>
                        <a:rPr lang="en-US" b="1" baseline="0" dirty="0"/>
                        <a:t> </a:t>
                      </a:r>
                      <a:r>
                        <a:rPr lang="en-US" b="1" dirty="0"/>
                        <a:t>A )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i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073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ru-RU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INPUT (</a:t>
                      </a:r>
                      <a:r>
                        <a:rPr lang="en-US" b="1" baseline="0" dirty="0"/>
                        <a:t> B </a:t>
                      </a:r>
                      <a:r>
                        <a:rPr lang="en-US" b="1" dirty="0"/>
                        <a:t>)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/>
                        <a:t>5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/>
                        <a:t>5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i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073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ru-RU" b="1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READ(</a:t>
                      </a:r>
                      <a:r>
                        <a:rPr lang="ru-RU" sz="1800" b="1" dirty="0"/>
                        <a:t> А</a:t>
                      </a:r>
                      <a:r>
                        <a:rPr lang="en-US" sz="1800" b="1" dirty="0"/>
                        <a:t>,</a:t>
                      </a:r>
                      <a:r>
                        <a:rPr lang="ru-RU" sz="1800" b="1" dirty="0"/>
                        <a:t> </a:t>
                      </a:r>
                      <a:r>
                        <a:rPr lang="en-US" sz="1800" b="1" dirty="0"/>
                        <a:t>t</a:t>
                      </a:r>
                      <a:r>
                        <a:rPr lang="ru-RU" sz="1800" b="1" dirty="0"/>
                        <a:t> </a:t>
                      </a:r>
                      <a:r>
                        <a:rPr lang="en-US" sz="1800" b="1" dirty="0"/>
                        <a:t>)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/>
                        <a:t>5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/>
                        <a:t>5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073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ru-RU" b="1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t</a:t>
                      </a:r>
                      <a:r>
                        <a:rPr lang="ru-RU" sz="1800" b="1" dirty="0"/>
                        <a:t> :=</a:t>
                      </a:r>
                      <a:r>
                        <a:rPr lang="en-US" sz="1800" b="1" dirty="0"/>
                        <a:t> t</a:t>
                      </a:r>
                      <a:r>
                        <a:rPr lang="en-US" sz="1800" b="1" baseline="0" dirty="0"/>
                        <a:t> * </a:t>
                      </a:r>
                      <a:r>
                        <a:rPr lang="ru-RU" sz="1800" b="1" dirty="0"/>
                        <a:t>2; 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r>
                        <a:rPr lang="ru-RU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/>
                        <a:t>5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073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ru-RU" b="1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WRITE</a:t>
                      </a:r>
                      <a:r>
                        <a:rPr lang="ru-RU" sz="1800" b="1" dirty="0"/>
                        <a:t> </a:t>
                      </a:r>
                      <a:r>
                        <a:rPr lang="en-US" sz="1800" b="1" dirty="0"/>
                        <a:t>(</a:t>
                      </a:r>
                      <a:r>
                        <a:rPr lang="ru-RU" sz="1800" b="1" dirty="0"/>
                        <a:t>А</a:t>
                      </a:r>
                      <a:r>
                        <a:rPr lang="en-US" sz="1800" b="1" dirty="0"/>
                        <a:t>,</a:t>
                      </a:r>
                      <a:r>
                        <a:rPr lang="ru-RU" sz="1800" b="1" dirty="0"/>
                        <a:t> </a:t>
                      </a:r>
                      <a:r>
                        <a:rPr lang="en-US" sz="1800" b="1" dirty="0"/>
                        <a:t>t</a:t>
                      </a:r>
                      <a:r>
                        <a:rPr lang="ru-RU" sz="1800" b="1" dirty="0"/>
                        <a:t> </a:t>
                      </a:r>
                      <a:r>
                        <a:rPr lang="en-US" sz="1800" b="1" dirty="0"/>
                        <a:t>)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r>
                        <a:rPr lang="ru-RU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r>
                        <a:rPr lang="ru-RU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/>
                        <a:t>5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&lt; T, A, 5</a:t>
                      </a:r>
                      <a:r>
                        <a:rPr lang="ru-RU" b="1" dirty="0"/>
                        <a:t>, </a:t>
                      </a:r>
                      <a:r>
                        <a:rPr lang="en-US" b="1"/>
                        <a:t>10 </a:t>
                      </a:r>
                      <a:r>
                        <a:rPr lang="en-US" b="1" dirty="0"/>
                        <a:t>&gt;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1073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ru-RU" b="1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READ(</a:t>
                      </a:r>
                      <a:r>
                        <a:rPr lang="ru-RU" sz="1800" b="1" dirty="0"/>
                        <a:t> </a:t>
                      </a:r>
                      <a:r>
                        <a:rPr lang="en-US" sz="1800" b="1" dirty="0"/>
                        <a:t>B,</a:t>
                      </a:r>
                      <a:r>
                        <a:rPr lang="ru-RU" sz="1800" b="1" dirty="0"/>
                        <a:t> </a:t>
                      </a:r>
                      <a:r>
                        <a:rPr lang="en-US" sz="1800" b="1" dirty="0"/>
                        <a:t>t</a:t>
                      </a:r>
                      <a:r>
                        <a:rPr lang="ru-RU" sz="1800" b="1" dirty="0"/>
                        <a:t> </a:t>
                      </a:r>
                      <a:r>
                        <a:rPr lang="en-US" sz="1800" b="1" dirty="0"/>
                        <a:t>)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1</a:t>
                      </a:r>
                      <a:r>
                        <a:rPr lang="ru-RU" b="1"/>
                        <a:t>0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/>
                        <a:t>5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1073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ru-RU" b="1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t</a:t>
                      </a:r>
                      <a:r>
                        <a:rPr lang="ru-RU" sz="1800" b="1" dirty="0"/>
                        <a:t> :=</a:t>
                      </a:r>
                      <a:r>
                        <a:rPr lang="en-US" sz="1800" b="1" dirty="0"/>
                        <a:t> t</a:t>
                      </a:r>
                      <a:r>
                        <a:rPr lang="en-US" sz="1800" b="1" baseline="0" dirty="0"/>
                        <a:t> * </a:t>
                      </a:r>
                      <a:r>
                        <a:rPr lang="ru-RU" sz="1800" b="1" dirty="0"/>
                        <a:t>2; 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16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1</a:t>
                      </a:r>
                      <a:r>
                        <a:rPr lang="ru-RU" b="1"/>
                        <a:t>0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/>
                        <a:t>5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1073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ru-RU" b="1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WRITE</a:t>
                      </a:r>
                      <a:r>
                        <a:rPr lang="ru-RU" sz="1800" b="1" dirty="0"/>
                        <a:t> </a:t>
                      </a:r>
                      <a:r>
                        <a:rPr lang="en-US" sz="1800" b="1" dirty="0"/>
                        <a:t>(B,</a:t>
                      </a:r>
                      <a:r>
                        <a:rPr lang="ru-RU" sz="1800" b="1" dirty="0"/>
                        <a:t> </a:t>
                      </a:r>
                      <a:r>
                        <a:rPr lang="en-US" sz="1800" b="1" dirty="0"/>
                        <a:t>t</a:t>
                      </a:r>
                      <a:r>
                        <a:rPr lang="ru-RU" sz="1800" b="1" dirty="0"/>
                        <a:t> </a:t>
                      </a:r>
                      <a:r>
                        <a:rPr lang="en-US" sz="1800" b="1" dirty="0"/>
                        <a:t>)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16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r>
                        <a:rPr lang="ru-RU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16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&lt; T, B,</a:t>
                      </a:r>
                      <a:r>
                        <a:rPr lang="ru-RU" b="1" dirty="0"/>
                        <a:t> 8,</a:t>
                      </a:r>
                      <a:r>
                        <a:rPr lang="en-US" b="1" dirty="0"/>
                        <a:t> 16 &gt;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1073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ru-RU" b="1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FLUSH</a:t>
                      </a:r>
                      <a:r>
                        <a:rPr lang="en-US" b="1" baseline="0" dirty="0">
                          <a:solidFill>
                            <a:srgbClr val="C00000"/>
                          </a:solidFill>
                        </a:rPr>
                        <a:t>   LOG</a:t>
                      </a:r>
                      <a:endParaRPr lang="ru-RU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1073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ru-RU" b="1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OUTPUT (</a:t>
                      </a:r>
                      <a:r>
                        <a:rPr lang="en-US" b="1" baseline="0" dirty="0"/>
                        <a:t> </a:t>
                      </a:r>
                      <a:r>
                        <a:rPr lang="en-US" b="1" dirty="0"/>
                        <a:t>A )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16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1</a:t>
                      </a:r>
                      <a:r>
                        <a:rPr lang="ru-RU" b="1"/>
                        <a:t>0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16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r>
                        <a:rPr lang="ru-RU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107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ru-RU" b="1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OUTPUT ( B )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16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r>
                        <a:rPr lang="ru-RU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16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r>
                        <a:rPr lang="ru-RU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16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1073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ru-RU" b="1" dirty="0"/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&lt; </a:t>
                      </a:r>
                      <a:r>
                        <a:rPr lang="en-US" sz="1800" b="1" cap="small" normalizeH="0" baseline="0" dirty="0">
                          <a:solidFill>
                            <a:srgbClr val="C00000"/>
                          </a:solidFill>
                        </a:rPr>
                        <a:t>COMMIT </a:t>
                      </a:r>
                      <a:r>
                        <a:rPr lang="en-US" sz="2400" b="1" i="1" dirty="0">
                          <a:solidFill>
                            <a:srgbClr val="C00000"/>
                          </a:solidFill>
                        </a:rPr>
                        <a:t>T</a:t>
                      </a:r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 </a:t>
                      </a:r>
                      <a:r>
                        <a:rPr lang="en-US" b="1" i="1" dirty="0">
                          <a:solidFill>
                            <a:srgbClr val="C00000"/>
                          </a:solidFill>
                        </a:rPr>
                        <a:t>&gt;</a:t>
                      </a:r>
                      <a:endParaRPr lang="ru-RU" b="1" i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49F688F-E6B0-4FD2-A40D-BE0C1EDDAA0C}" type="slidenum">
              <a:rPr lang="ru-RU" smtClean="0"/>
              <a:pPr>
                <a:defRPr/>
              </a:pPr>
              <a:t>35</a:t>
            </a:fld>
            <a:endParaRPr lang="ru-RU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149625" y="237693"/>
            <a:ext cx="8697913" cy="668338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600" dirty="0">
                <a:solidFill>
                  <a:schemeClr val="bg2"/>
                </a:solidFill>
              </a:rPr>
              <a:t>Восстановление в режиме </a:t>
            </a:r>
            <a:r>
              <a:rPr lang="en-US" sz="3600" dirty="0">
                <a:solidFill>
                  <a:schemeClr val="bg2"/>
                </a:solidFill>
              </a:rPr>
              <a:t>“UDDO/REDO”</a:t>
            </a:r>
            <a:endParaRPr lang="ru-RU" sz="3600" dirty="0"/>
          </a:p>
        </p:txBody>
      </p:sp>
      <p:sp>
        <p:nvSpPr>
          <p:cNvPr id="8" name="Содержимое 2"/>
          <p:cNvSpPr>
            <a:spLocks noGrp="1"/>
          </p:cNvSpPr>
          <p:nvPr>
            <p:ph idx="1"/>
          </p:nvPr>
        </p:nvSpPr>
        <p:spPr>
          <a:xfrm>
            <a:off x="0" y="964277"/>
            <a:ext cx="9144000" cy="5480068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ru-RU" sz="2400" dirty="0"/>
              <a:t>Стратегия восстановления в режиме </a:t>
            </a:r>
            <a:r>
              <a:rPr lang="en-US" sz="2400" dirty="0"/>
              <a:t>“undo/redo” </a:t>
            </a:r>
            <a:r>
              <a:rPr lang="ru-RU" sz="2400" dirty="0"/>
              <a:t>состоит в следующем:</a:t>
            </a:r>
          </a:p>
          <a:p>
            <a:pPr lvl="1">
              <a:lnSpc>
                <a:spcPct val="110000"/>
              </a:lnSpc>
              <a:buClr>
                <a:srgbClr val="C00000"/>
              </a:buClr>
              <a:buFont typeface="Arial" pitchFamily="34" charset="0"/>
              <a:buChar char="►"/>
            </a:pPr>
            <a:r>
              <a:rPr lang="ru-RU" sz="2000" dirty="0"/>
              <a:t>повторить операции всех зафиксированных транзакций в порядке от более ранних к более поздним;</a:t>
            </a:r>
          </a:p>
          <a:p>
            <a:pPr lvl="1">
              <a:lnSpc>
                <a:spcPct val="110000"/>
              </a:lnSpc>
              <a:buClr>
                <a:srgbClr val="C00000"/>
              </a:buClr>
              <a:buFont typeface="Arial" pitchFamily="34" charset="0"/>
              <a:buChar char="►"/>
            </a:pPr>
            <a:r>
              <a:rPr lang="ru-RU" sz="2000" dirty="0"/>
              <a:t>отменить результаты всех </a:t>
            </a:r>
            <a:r>
              <a:rPr lang="ru-RU" sz="2000" dirty="0" err="1"/>
              <a:t>назавершенных</a:t>
            </a:r>
            <a:r>
              <a:rPr lang="ru-RU" sz="2000" dirty="0"/>
              <a:t> транзакций в обратном порядке</a:t>
            </a:r>
          </a:p>
          <a:p>
            <a:pPr>
              <a:lnSpc>
                <a:spcPct val="110000"/>
              </a:lnSpc>
            </a:pPr>
            <a:r>
              <a:rPr lang="ru-RU" sz="2400" dirty="0"/>
              <a:t>Обе группы операций одинаково важны. </a:t>
            </a:r>
            <a:endParaRPr lang="en-US" sz="2400" dirty="0"/>
          </a:p>
          <a:p>
            <a:pPr>
              <a:lnSpc>
                <a:spcPct val="110000"/>
              </a:lnSpc>
            </a:pPr>
            <a:r>
              <a:rPr lang="ru-RU" sz="2400" dirty="0"/>
              <a:t>Протокол разрешает гибкое изменение порядка взаимной очередности поступления на диск записей </a:t>
            </a:r>
            <a:r>
              <a:rPr lang="en-US" sz="2400" dirty="0"/>
              <a:t>&lt;COMMIT…&gt;</a:t>
            </a:r>
            <a:r>
              <a:rPr lang="ru-RU" sz="2400" dirty="0"/>
              <a:t>, поэтому могут быть:</a:t>
            </a:r>
          </a:p>
          <a:p>
            <a:pPr lvl="1">
              <a:lnSpc>
                <a:spcPct val="110000"/>
              </a:lnSpc>
              <a:buClr>
                <a:srgbClr val="C00000"/>
              </a:buClr>
              <a:buFont typeface="Arial" pitchFamily="34" charset="0"/>
              <a:buChar char="►"/>
            </a:pPr>
            <a:r>
              <a:rPr lang="ru-RU" sz="2000" dirty="0">
                <a:solidFill>
                  <a:srgbClr val="7030A0"/>
                </a:solidFill>
              </a:rPr>
              <a:t>ЗАФИКСИРОВАННЫЕ</a:t>
            </a:r>
            <a:r>
              <a:rPr lang="en-US" sz="2000" dirty="0"/>
              <a:t> </a:t>
            </a:r>
            <a:r>
              <a:rPr lang="ru-RU" sz="2000" dirty="0"/>
              <a:t>транзакции, у которых </a:t>
            </a:r>
            <a:r>
              <a:rPr lang="ru-RU" sz="2000" dirty="0">
                <a:solidFill>
                  <a:srgbClr val="7030A0"/>
                </a:solidFill>
              </a:rPr>
              <a:t>не все результаты отображены на ДИСК</a:t>
            </a:r>
          </a:p>
          <a:p>
            <a:pPr lvl="1">
              <a:lnSpc>
                <a:spcPct val="110000"/>
              </a:lnSpc>
              <a:buClr>
                <a:srgbClr val="C00000"/>
              </a:buClr>
              <a:buFont typeface="Arial" pitchFamily="34" charset="0"/>
              <a:buChar char="►"/>
            </a:pPr>
            <a:r>
              <a:rPr lang="ru-RU" sz="2000" dirty="0">
                <a:solidFill>
                  <a:srgbClr val="7030A0"/>
                </a:solidFill>
              </a:rPr>
              <a:t>НЕЗАВЕРШЕННЫЕ </a:t>
            </a:r>
            <a:r>
              <a:rPr lang="ru-RU" sz="2000" dirty="0"/>
              <a:t>транзакции, у которых </a:t>
            </a:r>
            <a:r>
              <a:rPr lang="ru-RU" sz="2000" dirty="0">
                <a:solidFill>
                  <a:srgbClr val="7030A0"/>
                </a:solidFill>
              </a:rPr>
              <a:t>наоборот все изменения уже сохранены на ДИСК</a:t>
            </a:r>
          </a:p>
        </p:txBody>
      </p:sp>
    </p:spTree>
    <p:extLst>
      <p:ext uri="{BB962C8B-B14F-4D97-AF65-F5344CB8AC3E}">
        <p14:creationId xmlns:p14="http://schemas.microsoft.com/office/powerpoint/2010/main" val="4061184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49F688F-E6B0-4FD2-A40D-BE0C1EDDAA0C}" type="slidenum">
              <a:rPr lang="ru-RU" smtClean="0"/>
              <a:pPr>
                <a:defRPr/>
              </a:pPr>
              <a:t>36</a:t>
            </a:fld>
            <a:endParaRPr lang="ru-RU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149625" y="237693"/>
            <a:ext cx="8697913" cy="668338"/>
          </a:xfrm>
        </p:spPr>
        <p:txBody>
          <a:bodyPr>
            <a:normAutofit/>
          </a:bodyPr>
          <a:lstStyle/>
          <a:p>
            <a:pPr algn="ctr"/>
            <a:r>
              <a:rPr lang="ru-RU" sz="3600" dirty="0">
                <a:solidFill>
                  <a:schemeClr val="bg2"/>
                </a:solidFill>
              </a:rPr>
              <a:t>Отказы во время восстановления</a:t>
            </a:r>
            <a:endParaRPr lang="ru-RU" sz="3600" dirty="0"/>
          </a:p>
        </p:txBody>
      </p:sp>
      <p:sp>
        <p:nvSpPr>
          <p:cNvPr id="8" name="Содержимое 2"/>
          <p:cNvSpPr>
            <a:spLocks noGrp="1"/>
          </p:cNvSpPr>
          <p:nvPr>
            <p:ph idx="1"/>
          </p:nvPr>
        </p:nvSpPr>
        <p:spPr>
          <a:xfrm>
            <a:off x="0" y="964276"/>
            <a:ext cx="9144000" cy="5893723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10000"/>
              </a:lnSpc>
            </a:pPr>
            <a:r>
              <a:rPr lang="ru-RU" sz="2400" dirty="0"/>
              <a:t>Во время восстановления система может вновь выйти из строя. Возникает </a:t>
            </a:r>
            <a:r>
              <a:rPr lang="ru-RU" sz="2400" b="1" dirty="0"/>
              <a:t>вопрос о корректности </a:t>
            </a:r>
            <a:r>
              <a:rPr lang="ru-RU" sz="2400" dirty="0"/>
              <a:t>в этом случае </a:t>
            </a:r>
            <a:r>
              <a:rPr lang="ru-RU" sz="2400" b="1" dirty="0"/>
              <a:t>процедур</a:t>
            </a:r>
            <a:r>
              <a:rPr lang="ru-RU" sz="2400" dirty="0"/>
              <a:t> </a:t>
            </a:r>
            <a:r>
              <a:rPr lang="ru-RU" sz="2400" b="1" dirty="0"/>
              <a:t>восстановления</a:t>
            </a:r>
            <a:r>
              <a:rPr lang="ru-RU" sz="2400" dirty="0"/>
              <a:t>.</a:t>
            </a:r>
          </a:p>
          <a:p>
            <a:pPr>
              <a:lnSpc>
                <a:spcPct val="110000"/>
              </a:lnSpc>
            </a:pPr>
            <a:r>
              <a:rPr lang="ru-RU" sz="2400" dirty="0"/>
              <a:t>Оказывается, что </a:t>
            </a:r>
            <a:r>
              <a:rPr lang="ru-RU" sz="2400" b="1" dirty="0"/>
              <a:t>процедуры восстановления </a:t>
            </a:r>
            <a:r>
              <a:rPr lang="ru-RU" sz="2400" dirty="0"/>
              <a:t>в этом случае можно просто </a:t>
            </a:r>
            <a:r>
              <a:rPr lang="ru-RU" sz="2400" b="1" dirty="0"/>
              <a:t>повторить</a:t>
            </a:r>
            <a:r>
              <a:rPr lang="ru-RU" sz="2400" dirty="0"/>
              <a:t>.</a:t>
            </a:r>
          </a:p>
          <a:p>
            <a:pPr>
              <a:lnSpc>
                <a:spcPct val="110000"/>
              </a:lnSpc>
            </a:pPr>
            <a:r>
              <a:rPr lang="ru-RU" sz="2400" dirty="0"/>
              <a:t>Свойства </a:t>
            </a:r>
            <a:r>
              <a:rPr lang="ru-RU" sz="2400" b="1" dirty="0">
                <a:solidFill>
                  <a:srgbClr val="FF0000"/>
                </a:solidFill>
              </a:rPr>
              <a:t>всех протоколов </a:t>
            </a:r>
            <a:r>
              <a:rPr lang="ru-RU" sz="2400" dirty="0"/>
              <a:t>таковы, что соответствующие процедуры восстановления </a:t>
            </a:r>
            <a:r>
              <a:rPr lang="ru-RU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идемпотентны</a:t>
            </a:r>
            <a:r>
              <a:rPr lang="ru-RU" sz="2400" dirty="0"/>
              <a:t>, то есть их повторное применение приводит к тем же результатам, что и однократное выполнение.</a:t>
            </a:r>
          </a:p>
          <a:p>
            <a:pPr marL="457200" indent="-457200">
              <a:lnSpc>
                <a:spcPct val="110000"/>
              </a:lnSpc>
              <a:buSzPct val="90000"/>
              <a:buFont typeface="+mj-lt"/>
              <a:buAutoNum type="arabicPeriod"/>
            </a:pPr>
            <a:r>
              <a:rPr lang="ru-RU" sz="2400" i="1" u="sng" dirty="0"/>
              <a:t>Например</a:t>
            </a:r>
            <a:r>
              <a:rPr lang="ru-RU" sz="2400" u="sng" dirty="0"/>
              <a:t>, протокол </a:t>
            </a:r>
            <a:r>
              <a:rPr lang="en-US" sz="2400" u="sng" dirty="0"/>
              <a:t>“UNDO”</a:t>
            </a:r>
            <a:r>
              <a:rPr lang="ru-RU" sz="2400" dirty="0"/>
              <a:t>. Он сохраняет предыдущие значения элементов данных </a:t>
            </a:r>
          </a:p>
          <a:p>
            <a:pPr marL="457200" indent="-457200">
              <a:lnSpc>
                <a:spcPct val="110000"/>
              </a:lnSpc>
              <a:buSzPct val="90000"/>
              <a:buFont typeface="+mj-lt"/>
              <a:buAutoNum type="arabicPeriod"/>
            </a:pPr>
            <a:r>
              <a:rPr lang="ru-RU" sz="2400" dirty="0"/>
              <a:t>Если файл-протокол во время сбоя не пострадал, то процедуру восстановления можно повторить. </a:t>
            </a:r>
          </a:p>
          <a:p>
            <a:pPr marL="457200" indent="-457200">
              <a:lnSpc>
                <a:spcPct val="110000"/>
              </a:lnSpc>
              <a:buSzPct val="90000"/>
              <a:buFont typeface="+mj-lt"/>
              <a:buAutoNum type="arabicPeriod"/>
            </a:pPr>
            <a:r>
              <a:rPr lang="ru-RU" sz="2400" dirty="0"/>
              <a:t>По значению записи </a:t>
            </a:r>
            <a:r>
              <a:rPr lang="en-US" sz="2400" dirty="0"/>
              <a:t>&lt; 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T, X, v </a:t>
            </a:r>
            <a:r>
              <a:rPr lang="en-US" sz="2400" dirty="0"/>
              <a:t>&gt; </a:t>
            </a:r>
            <a:r>
              <a:rPr lang="ru-RU" sz="2400" dirty="0"/>
              <a:t>в протоколе менеджер восстановления в праве присвоить элементу</a:t>
            </a:r>
            <a:r>
              <a:rPr lang="ru-RU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Х </a:t>
            </a:r>
            <a:r>
              <a:rPr lang="ru-RU" sz="2400" dirty="0"/>
              <a:t>значение 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u-RU" sz="2400" dirty="0"/>
              <a:t>, не принимая во внимание, что </a:t>
            </a:r>
            <a:r>
              <a:rPr lang="ru-RU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</a:t>
            </a:r>
            <a:r>
              <a:rPr lang="ru-RU" sz="2400" dirty="0"/>
              <a:t> уже содержит это значение.</a:t>
            </a:r>
          </a:p>
          <a:p>
            <a:pPr marL="457200" indent="-457200">
              <a:lnSpc>
                <a:spcPct val="110000"/>
              </a:lnSpc>
              <a:buSzPct val="90000"/>
              <a:buFont typeface="+mj-lt"/>
              <a:buAutoNum type="arabicPeriod"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198682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theme/theme1.xml><?xml version="1.0" encoding="utf-8"?>
<a:theme xmlns:a="http://schemas.openxmlformats.org/drawingml/2006/main" name="Пиксел">
  <a:themeElements>
    <a:clrScheme name="Пиксел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Пиксел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Пиксел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4219</TotalTime>
  <Words>4012</Words>
  <Application>Microsoft Office PowerPoint</Application>
  <PresentationFormat>Экран (4:3)</PresentationFormat>
  <Paragraphs>749</Paragraphs>
  <Slides>36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36</vt:i4>
      </vt:variant>
    </vt:vector>
  </HeadingPairs>
  <TitlesOfParts>
    <vt:vector size="43" baseType="lpstr">
      <vt:lpstr>Arial</vt:lpstr>
      <vt:lpstr>Arial Black</vt:lpstr>
      <vt:lpstr>Calibri</vt:lpstr>
      <vt:lpstr>Courier New</vt:lpstr>
      <vt:lpstr>Times New Roman</vt:lpstr>
      <vt:lpstr>Wingdings</vt:lpstr>
      <vt:lpstr>Пиксел</vt:lpstr>
      <vt:lpstr>Профилактика и устранение последствий системных отказов</vt:lpstr>
      <vt:lpstr>Виды отказов</vt:lpstr>
      <vt:lpstr>Ошибочные элементы данных</vt:lpstr>
      <vt:lpstr>Разрушения носителя</vt:lpstr>
      <vt:lpstr>Катастрофа </vt:lpstr>
      <vt:lpstr>Сбой системы</vt:lpstr>
      <vt:lpstr>Структура СУБД</vt:lpstr>
      <vt:lpstr>Взаимодействие компонент СУБД</vt:lpstr>
      <vt:lpstr>Менеджер транзакций</vt:lpstr>
      <vt:lpstr>Транзакции</vt:lpstr>
      <vt:lpstr>Условия выполнения транзакций</vt:lpstr>
      <vt:lpstr>Перемещение данных транзакцией</vt:lpstr>
      <vt:lpstr>Базовые операции транзакций</vt:lpstr>
      <vt:lpstr>Базовые операции транзакций</vt:lpstr>
      <vt:lpstr>Пример</vt:lpstr>
      <vt:lpstr>Протоколирование в режиме “UNDO”</vt:lpstr>
      <vt:lpstr>Правила протоколирования в режиме “UNDO”</vt:lpstr>
      <vt:lpstr>Пример протоколирования в режиме “UNDO </vt:lpstr>
      <vt:lpstr>Восстановление с применением протокола “UNDO”</vt:lpstr>
      <vt:lpstr>Восстановление с применением протокола “UNDO”</vt:lpstr>
      <vt:lpstr>Введение контрольных точек</vt:lpstr>
      <vt:lpstr>Введение контрольных точек</vt:lpstr>
      <vt:lpstr>Введение контрольных точек</vt:lpstr>
      <vt:lpstr>Введение динамических контрольных точек</vt:lpstr>
      <vt:lpstr>Восстановление  по протоколу UNDO и ДКТ</vt:lpstr>
      <vt:lpstr>Восстановление  по протоколу UNDO и ДКТ</vt:lpstr>
      <vt:lpstr>Восстановление  по протоколу UNDO и ДКТ</vt:lpstr>
      <vt:lpstr>Протоколирование в режиме “REDO”</vt:lpstr>
      <vt:lpstr>Пример протоколирования в режиме “REDO </vt:lpstr>
      <vt:lpstr>Восстановление с применением протокола “REDO”</vt:lpstr>
      <vt:lpstr>Протоколирование в режиме “UDDO/REDO”</vt:lpstr>
      <vt:lpstr>Протоколирование в режиме “UDDO/REDO”</vt:lpstr>
      <vt:lpstr>Пример протоколирования в режиме «UNDO/REDO»</vt:lpstr>
      <vt:lpstr>Пример протоколирования в режиме «UNDO/REDO»</vt:lpstr>
      <vt:lpstr>Восстановление в режиме “UDDO/REDO”</vt:lpstr>
      <vt:lpstr>Отказы во время восстановления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Реляционная модель</dc:title>
  <dc:creator>Борис</dc:creator>
  <cp:lastModifiedBy>Казаков Виталий Геннадьевич</cp:lastModifiedBy>
  <cp:revision>415</cp:revision>
  <dcterms:created xsi:type="dcterms:W3CDTF">2012-10-04T16:47:37Z</dcterms:created>
  <dcterms:modified xsi:type="dcterms:W3CDTF">2022-03-31T04:42:17Z</dcterms:modified>
</cp:coreProperties>
</file>