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bookmarkIdSeed="2">
  <p:sldMasterIdLst>
    <p:sldMasterId id="2147483649" r:id="rId1"/>
  </p:sldMasterIdLst>
  <p:notesMasterIdLst>
    <p:notesMasterId r:id="rId43"/>
  </p:notesMasterIdLst>
  <p:sldIdLst>
    <p:sldId id="256" r:id="rId2"/>
    <p:sldId id="278" r:id="rId3"/>
    <p:sldId id="273" r:id="rId4"/>
    <p:sldId id="274" r:id="rId5"/>
    <p:sldId id="300" r:id="rId6"/>
    <p:sldId id="289" r:id="rId7"/>
    <p:sldId id="288" r:id="rId8"/>
    <p:sldId id="277" r:id="rId9"/>
    <p:sldId id="302" r:id="rId10"/>
    <p:sldId id="281" r:id="rId11"/>
    <p:sldId id="282" r:id="rId12"/>
    <p:sldId id="279" r:id="rId13"/>
    <p:sldId id="285" r:id="rId14"/>
    <p:sldId id="310" r:id="rId15"/>
    <p:sldId id="283" r:id="rId16"/>
    <p:sldId id="290" r:id="rId17"/>
    <p:sldId id="301" r:id="rId18"/>
    <p:sldId id="275" r:id="rId19"/>
    <p:sldId id="291" r:id="rId20"/>
    <p:sldId id="304" r:id="rId21"/>
    <p:sldId id="276" r:id="rId22"/>
    <p:sldId id="284" r:id="rId23"/>
    <p:sldId id="308" r:id="rId24"/>
    <p:sldId id="309" r:id="rId25"/>
    <p:sldId id="312" r:id="rId26"/>
    <p:sldId id="315" r:id="rId27"/>
    <p:sldId id="287" r:id="rId28"/>
    <p:sldId id="286" r:id="rId29"/>
    <p:sldId id="298" r:id="rId30"/>
    <p:sldId id="299" r:id="rId31"/>
    <p:sldId id="295" r:id="rId32"/>
    <p:sldId id="297" r:id="rId33"/>
    <p:sldId id="296" r:id="rId34"/>
    <p:sldId id="305" r:id="rId35"/>
    <p:sldId id="292" r:id="rId36"/>
    <p:sldId id="311" r:id="rId37"/>
    <p:sldId id="294" r:id="rId38"/>
    <p:sldId id="306" r:id="rId39"/>
    <p:sldId id="307" r:id="rId40"/>
    <p:sldId id="313" r:id="rId41"/>
    <p:sldId id="314" r:id="rId42"/>
  </p:sldIdLst>
  <p:sldSz cx="9144000" cy="6858000" type="screen4x3"/>
  <p:notesSz cx="6858000" cy="9144000"/>
  <p:defaultTextStyle>
    <a:defPPr>
      <a:defRPr lang="ru-RU"/>
    </a:defPPr>
    <a:lvl1pPr algn="l" rtl="0" eaLnBrk="0" fontAlgn="base" hangingPunct="0">
      <a:spcBef>
        <a:spcPct val="0"/>
      </a:spcBef>
      <a:spcAft>
        <a:spcPct val="0"/>
      </a:spcAft>
      <a:defRPr sz="28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sz="28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sz="28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sz="28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sz="28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2800"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sz="2800"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sz="2800"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sz="2800"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0D0F0"/>
    <a:srgbClr val="990099"/>
    <a:srgbClr val="996600"/>
    <a:srgbClr val="3333FF"/>
    <a:srgbClr val="008000"/>
    <a:srgbClr val="DE411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Средний стиль 2 - акцент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36" autoAdjust="0"/>
  </p:normalViewPr>
  <p:slideViewPr>
    <p:cSldViewPr>
      <p:cViewPr varScale="1">
        <p:scale>
          <a:sx n="88" d="100"/>
          <a:sy n="88" d="100"/>
        </p:scale>
        <p:origin x="1291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1161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lnSpc>
                <a:spcPct val="9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None/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lnSpc>
                <a:spcPct val="9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None/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6E18B315-6861-4762-9BE5-FA865E35DD72}" type="datetimeFigureOut">
              <a:rPr lang="ru-RU"/>
              <a:pPr>
                <a:defRPr/>
              </a:pPr>
              <a:t>06.10.2022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ru-RU" noProof="0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noProof="0"/>
              <a:t>Образец текста</a:t>
            </a:r>
          </a:p>
          <a:p>
            <a:pPr lvl="1"/>
            <a:r>
              <a:rPr lang="ru-RU" noProof="0"/>
              <a:t>Второй уровень</a:t>
            </a:r>
          </a:p>
          <a:p>
            <a:pPr lvl="2"/>
            <a:r>
              <a:rPr lang="ru-RU" noProof="0"/>
              <a:t>Третий уровень</a:t>
            </a:r>
          </a:p>
          <a:p>
            <a:pPr lvl="3"/>
            <a:r>
              <a:rPr lang="ru-RU" noProof="0"/>
              <a:t>Четвертый уровень</a:t>
            </a:r>
          </a:p>
          <a:p>
            <a:pPr lvl="4"/>
            <a:r>
              <a:rPr lang="ru-RU" noProof="0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lnSpc>
                <a:spcPct val="9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None/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lnSpc>
                <a:spcPct val="9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  <a:defRPr sz="1200"/>
            </a:lvl1pPr>
          </a:lstStyle>
          <a:p>
            <a:pPr>
              <a:defRPr/>
            </a:pPr>
            <a:fld id="{08F3EDC6-1BAC-415B-B3AE-9942A734E133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Образ слайда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4819" name="Заметки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34820" name="Номер слайда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F8AE2434-4872-4AC8-8EAA-97C3279BB212}" type="slidenum">
              <a:rPr lang="ru-RU" altLang="ru-RU" smtClean="0"/>
              <a:pPr/>
              <a:t>20</a:t>
            </a:fld>
            <a:endParaRPr lang="ru-RU" altLang="ru-RU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sp>
          <p:nvSpPr>
            <p:cNvPr id="5" name="Rectangle 3"/>
            <p:cNvSpPr>
              <a:spLocks noChangeArrowheads="1"/>
            </p:cNvSpPr>
            <p:nvPr/>
          </p:nvSpPr>
          <p:spPr bwMode="hidden">
            <a:xfrm>
              <a:off x="0" y="0"/>
              <a:ext cx="2208" cy="4320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 wrap="none" anchor="ctr"/>
            <a:lstStyle>
              <a:lvl1pPr eaLnBrk="0" hangingPunct="0"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itchFamily="2" charset="2"/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itchFamily="2" charset="2"/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itchFamily="2" charset="2"/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itchFamily="2" charset="2"/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>
                <a:defRPr/>
              </a:pPr>
              <a:endParaRPr lang="ru-RU" altLang="ru-RU" sz="2400">
                <a:latin typeface="Times New Roman" pitchFamily="18" charset="0"/>
              </a:endParaRPr>
            </a:p>
          </p:txBody>
        </p:sp>
        <p:sp>
          <p:nvSpPr>
            <p:cNvPr id="6" name="Rectangle 4"/>
            <p:cNvSpPr>
              <a:spLocks noChangeArrowheads="1"/>
            </p:cNvSpPr>
            <p:nvPr/>
          </p:nvSpPr>
          <p:spPr bwMode="hidden">
            <a:xfrm>
              <a:off x="1081" y="1065"/>
              <a:ext cx="4679" cy="1596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txBody>
            <a:bodyPr/>
            <a:lstStyle>
              <a:lvl1pPr eaLnBrk="0" hangingPunct="0"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itchFamily="2" charset="2"/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itchFamily="2" charset="2"/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itchFamily="2" charset="2"/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itchFamily="2" charset="2"/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ru-RU" altLang="ru-RU" sz="2400">
                <a:latin typeface="Times New Roman" pitchFamily="18" charset="0"/>
              </a:endParaRPr>
            </a:p>
          </p:txBody>
        </p:sp>
        <p:grpSp>
          <p:nvGrpSpPr>
            <p:cNvPr id="7" name="Group 5"/>
            <p:cNvGrpSpPr>
              <a:grpSpLocks/>
            </p:cNvGrpSpPr>
            <p:nvPr/>
          </p:nvGrpSpPr>
          <p:grpSpPr bwMode="auto">
            <a:xfrm>
              <a:off x="0" y="672"/>
              <a:ext cx="1806" cy="1989"/>
              <a:chOff x="0" y="672"/>
              <a:chExt cx="1806" cy="1989"/>
            </a:xfrm>
          </p:grpSpPr>
          <p:sp>
            <p:nvSpPr>
              <p:cNvPr id="8" name="Rectangle 6"/>
              <p:cNvSpPr>
                <a:spLocks noChangeArrowheads="1"/>
              </p:cNvSpPr>
              <p:nvPr userDrawn="1"/>
            </p:nvSpPr>
            <p:spPr bwMode="auto">
              <a:xfrm>
                <a:off x="361" y="2257"/>
                <a:ext cx="363" cy="404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/>
              <a:lstStyle>
                <a:lvl1pPr eaLnBrk="0" hangingPunct="0">
                  <a:defRPr sz="28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 sz="28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 sz="28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 sz="28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 sz="28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75000"/>
                  <a:buFont typeface="Wingdings" pitchFamily="2" charset="2"/>
                  <a:defRPr sz="28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75000"/>
                  <a:buFont typeface="Wingdings" pitchFamily="2" charset="2"/>
                  <a:defRPr sz="28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75000"/>
                  <a:buFont typeface="Wingdings" pitchFamily="2" charset="2"/>
                  <a:defRPr sz="28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75000"/>
                  <a:buFont typeface="Wingdings" pitchFamily="2" charset="2"/>
                  <a:defRPr sz="28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ru-RU" altLang="ru-RU" sz="2400">
                  <a:latin typeface="Times New Roman" pitchFamily="18" charset="0"/>
                </a:endParaRPr>
              </a:p>
            </p:txBody>
          </p:sp>
          <p:sp>
            <p:nvSpPr>
              <p:cNvPr id="9" name="Rectangle 7"/>
              <p:cNvSpPr>
                <a:spLocks noChangeArrowheads="1"/>
              </p:cNvSpPr>
              <p:nvPr userDrawn="1"/>
            </p:nvSpPr>
            <p:spPr bwMode="auto">
              <a:xfrm>
                <a:off x="1081" y="1065"/>
                <a:ext cx="362" cy="405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/>
              <a:lstStyle>
                <a:lvl1pPr eaLnBrk="0" hangingPunct="0">
                  <a:defRPr sz="28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 sz="28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 sz="28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 sz="28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 sz="28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75000"/>
                  <a:buFont typeface="Wingdings" pitchFamily="2" charset="2"/>
                  <a:defRPr sz="28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75000"/>
                  <a:buFont typeface="Wingdings" pitchFamily="2" charset="2"/>
                  <a:defRPr sz="28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75000"/>
                  <a:buFont typeface="Wingdings" pitchFamily="2" charset="2"/>
                  <a:defRPr sz="28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75000"/>
                  <a:buFont typeface="Wingdings" pitchFamily="2" charset="2"/>
                  <a:defRPr sz="28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ru-RU" altLang="ru-RU" sz="2400">
                  <a:latin typeface="Times New Roman" pitchFamily="18" charset="0"/>
                </a:endParaRPr>
              </a:p>
            </p:txBody>
          </p:sp>
          <p:sp>
            <p:nvSpPr>
              <p:cNvPr id="10" name="Rectangle 8"/>
              <p:cNvSpPr>
                <a:spLocks noChangeArrowheads="1"/>
              </p:cNvSpPr>
              <p:nvPr userDrawn="1"/>
            </p:nvSpPr>
            <p:spPr bwMode="auto">
              <a:xfrm>
                <a:off x="1437" y="672"/>
                <a:ext cx="369" cy="400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/>
              <a:lstStyle>
                <a:lvl1pPr eaLnBrk="0" hangingPunct="0">
                  <a:defRPr sz="28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 sz="28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 sz="28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 sz="28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 sz="28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75000"/>
                  <a:buFont typeface="Wingdings" pitchFamily="2" charset="2"/>
                  <a:defRPr sz="28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75000"/>
                  <a:buFont typeface="Wingdings" pitchFamily="2" charset="2"/>
                  <a:defRPr sz="28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75000"/>
                  <a:buFont typeface="Wingdings" pitchFamily="2" charset="2"/>
                  <a:defRPr sz="28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75000"/>
                  <a:buFont typeface="Wingdings" pitchFamily="2" charset="2"/>
                  <a:defRPr sz="28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ru-RU" altLang="ru-RU" sz="2400">
                  <a:latin typeface="Times New Roman" pitchFamily="18" charset="0"/>
                </a:endParaRPr>
              </a:p>
            </p:txBody>
          </p:sp>
          <p:sp>
            <p:nvSpPr>
              <p:cNvPr id="11" name="Rectangle 9"/>
              <p:cNvSpPr>
                <a:spLocks noChangeArrowheads="1"/>
              </p:cNvSpPr>
              <p:nvPr userDrawn="1"/>
            </p:nvSpPr>
            <p:spPr bwMode="auto">
              <a:xfrm>
                <a:off x="719" y="2257"/>
                <a:ext cx="368" cy="404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/>
              <a:lstStyle>
                <a:lvl1pPr eaLnBrk="0" hangingPunct="0">
                  <a:defRPr sz="28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 sz="28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 sz="28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 sz="28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 sz="28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75000"/>
                  <a:buFont typeface="Wingdings" pitchFamily="2" charset="2"/>
                  <a:defRPr sz="28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75000"/>
                  <a:buFont typeface="Wingdings" pitchFamily="2" charset="2"/>
                  <a:defRPr sz="28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75000"/>
                  <a:buFont typeface="Wingdings" pitchFamily="2" charset="2"/>
                  <a:defRPr sz="28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75000"/>
                  <a:buFont typeface="Wingdings" pitchFamily="2" charset="2"/>
                  <a:defRPr sz="28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ru-RU" altLang="ru-RU" sz="2400">
                  <a:latin typeface="Times New Roman" pitchFamily="18" charset="0"/>
                </a:endParaRPr>
              </a:p>
            </p:txBody>
          </p:sp>
          <p:sp>
            <p:nvSpPr>
              <p:cNvPr id="12" name="Rectangle 10"/>
              <p:cNvSpPr>
                <a:spLocks noChangeArrowheads="1"/>
              </p:cNvSpPr>
              <p:nvPr userDrawn="1"/>
            </p:nvSpPr>
            <p:spPr bwMode="auto">
              <a:xfrm>
                <a:off x="1437" y="1065"/>
                <a:ext cx="369" cy="405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/>
              <a:lstStyle>
                <a:lvl1pPr eaLnBrk="0" hangingPunct="0">
                  <a:defRPr sz="28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 sz="28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 sz="28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 sz="28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 sz="28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75000"/>
                  <a:buFont typeface="Wingdings" pitchFamily="2" charset="2"/>
                  <a:defRPr sz="28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75000"/>
                  <a:buFont typeface="Wingdings" pitchFamily="2" charset="2"/>
                  <a:defRPr sz="28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75000"/>
                  <a:buFont typeface="Wingdings" pitchFamily="2" charset="2"/>
                  <a:defRPr sz="28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75000"/>
                  <a:buFont typeface="Wingdings" pitchFamily="2" charset="2"/>
                  <a:defRPr sz="28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ru-RU" altLang="ru-RU" sz="2400">
                  <a:latin typeface="Times New Roman" pitchFamily="18" charset="0"/>
                </a:endParaRPr>
              </a:p>
            </p:txBody>
          </p:sp>
          <p:sp>
            <p:nvSpPr>
              <p:cNvPr id="13" name="Rectangle 11"/>
              <p:cNvSpPr>
                <a:spLocks noChangeArrowheads="1"/>
              </p:cNvSpPr>
              <p:nvPr userDrawn="1"/>
            </p:nvSpPr>
            <p:spPr bwMode="auto">
              <a:xfrm>
                <a:off x="719" y="1464"/>
                <a:ext cx="368" cy="399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/>
              <a:lstStyle>
                <a:lvl1pPr eaLnBrk="0" hangingPunct="0">
                  <a:defRPr sz="28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 sz="28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 sz="28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 sz="28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 sz="28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75000"/>
                  <a:buFont typeface="Wingdings" pitchFamily="2" charset="2"/>
                  <a:defRPr sz="28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75000"/>
                  <a:buFont typeface="Wingdings" pitchFamily="2" charset="2"/>
                  <a:defRPr sz="28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75000"/>
                  <a:buFont typeface="Wingdings" pitchFamily="2" charset="2"/>
                  <a:defRPr sz="28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75000"/>
                  <a:buFont typeface="Wingdings" pitchFamily="2" charset="2"/>
                  <a:defRPr sz="28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ru-RU" altLang="ru-RU" sz="2400">
                  <a:latin typeface="Times New Roman" pitchFamily="18" charset="0"/>
                </a:endParaRPr>
              </a:p>
            </p:txBody>
          </p:sp>
          <p:sp>
            <p:nvSpPr>
              <p:cNvPr id="14" name="Rectangle 12"/>
              <p:cNvSpPr>
                <a:spLocks noChangeArrowheads="1"/>
              </p:cNvSpPr>
              <p:nvPr userDrawn="1"/>
            </p:nvSpPr>
            <p:spPr bwMode="auto">
              <a:xfrm>
                <a:off x="0" y="1464"/>
                <a:ext cx="367" cy="399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/>
              <a:lstStyle>
                <a:lvl1pPr eaLnBrk="0" hangingPunct="0">
                  <a:defRPr sz="28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 sz="28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 sz="28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 sz="28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 sz="28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75000"/>
                  <a:buFont typeface="Wingdings" pitchFamily="2" charset="2"/>
                  <a:defRPr sz="28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75000"/>
                  <a:buFont typeface="Wingdings" pitchFamily="2" charset="2"/>
                  <a:defRPr sz="28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75000"/>
                  <a:buFont typeface="Wingdings" pitchFamily="2" charset="2"/>
                  <a:defRPr sz="28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75000"/>
                  <a:buFont typeface="Wingdings" pitchFamily="2" charset="2"/>
                  <a:defRPr sz="28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ru-RU" altLang="ru-RU" sz="2400">
                  <a:latin typeface="Times New Roman" pitchFamily="18" charset="0"/>
                </a:endParaRPr>
              </a:p>
            </p:txBody>
          </p:sp>
          <p:sp>
            <p:nvSpPr>
              <p:cNvPr id="15" name="Rectangle 13"/>
              <p:cNvSpPr>
                <a:spLocks noChangeArrowheads="1"/>
              </p:cNvSpPr>
              <p:nvPr userDrawn="1"/>
            </p:nvSpPr>
            <p:spPr bwMode="auto">
              <a:xfrm>
                <a:off x="1081" y="1464"/>
                <a:ext cx="362" cy="399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/>
              <a:lstStyle>
                <a:lvl1pPr eaLnBrk="0" hangingPunct="0">
                  <a:defRPr sz="28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 sz="28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 sz="28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 sz="28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 sz="28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75000"/>
                  <a:buFont typeface="Wingdings" pitchFamily="2" charset="2"/>
                  <a:defRPr sz="28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75000"/>
                  <a:buFont typeface="Wingdings" pitchFamily="2" charset="2"/>
                  <a:defRPr sz="28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75000"/>
                  <a:buFont typeface="Wingdings" pitchFamily="2" charset="2"/>
                  <a:defRPr sz="28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75000"/>
                  <a:buFont typeface="Wingdings" pitchFamily="2" charset="2"/>
                  <a:defRPr sz="28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ru-RU" altLang="ru-RU" sz="2400">
                  <a:latin typeface="Times New Roman" pitchFamily="18" charset="0"/>
                </a:endParaRPr>
              </a:p>
            </p:txBody>
          </p:sp>
          <p:sp>
            <p:nvSpPr>
              <p:cNvPr id="16" name="Rectangle 14"/>
              <p:cNvSpPr>
                <a:spLocks noChangeArrowheads="1"/>
              </p:cNvSpPr>
              <p:nvPr userDrawn="1"/>
            </p:nvSpPr>
            <p:spPr bwMode="auto">
              <a:xfrm>
                <a:off x="361" y="1857"/>
                <a:ext cx="363" cy="406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/>
              <a:lstStyle>
                <a:lvl1pPr eaLnBrk="0" hangingPunct="0">
                  <a:defRPr sz="28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 sz="28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 sz="28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 sz="28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 sz="28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75000"/>
                  <a:buFont typeface="Wingdings" pitchFamily="2" charset="2"/>
                  <a:defRPr sz="28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75000"/>
                  <a:buFont typeface="Wingdings" pitchFamily="2" charset="2"/>
                  <a:defRPr sz="28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75000"/>
                  <a:buFont typeface="Wingdings" pitchFamily="2" charset="2"/>
                  <a:defRPr sz="28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75000"/>
                  <a:buFont typeface="Wingdings" pitchFamily="2" charset="2"/>
                  <a:defRPr sz="28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ru-RU" altLang="ru-RU" sz="2400">
                  <a:latin typeface="Times New Roman" pitchFamily="18" charset="0"/>
                </a:endParaRPr>
              </a:p>
            </p:txBody>
          </p:sp>
          <p:sp>
            <p:nvSpPr>
              <p:cNvPr id="17" name="Rectangle 15"/>
              <p:cNvSpPr>
                <a:spLocks noChangeArrowheads="1"/>
              </p:cNvSpPr>
              <p:nvPr userDrawn="1"/>
            </p:nvSpPr>
            <p:spPr bwMode="auto">
              <a:xfrm>
                <a:off x="719" y="1857"/>
                <a:ext cx="368" cy="406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/>
              <a:lstStyle>
                <a:lvl1pPr eaLnBrk="0" hangingPunct="0">
                  <a:defRPr sz="28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 sz="28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 sz="28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 sz="28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 sz="28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75000"/>
                  <a:buFont typeface="Wingdings" pitchFamily="2" charset="2"/>
                  <a:defRPr sz="28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75000"/>
                  <a:buFont typeface="Wingdings" pitchFamily="2" charset="2"/>
                  <a:defRPr sz="28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75000"/>
                  <a:buFont typeface="Wingdings" pitchFamily="2" charset="2"/>
                  <a:defRPr sz="28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75000"/>
                  <a:buFont typeface="Wingdings" pitchFamily="2" charset="2"/>
                  <a:defRPr sz="28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ru-RU" altLang="ru-RU" sz="2400">
                  <a:latin typeface="Times New Roman" pitchFamily="18" charset="0"/>
                </a:endParaRPr>
              </a:p>
            </p:txBody>
          </p:sp>
        </p:grpSp>
      </p:grpSp>
      <p:sp>
        <p:nvSpPr>
          <p:cNvPr id="5139" name="Rectangle 19"/>
          <p:cNvSpPr>
            <a:spLocks noGrp="1" noChangeArrowheads="1"/>
          </p:cNvSpPr>
          <p:nvPr>
            <p:ph type="ctrTitle"/>
          </p:nvPr>
        </p:nvSpPr>
        <p:spPr>
          <a:xfrm>
            <a:off x="2971800" y="1828800"/>
            <a:ext cx="6019800" cy="2209800"/>
          </a:xfrm>
        </p:spPr>
        <p:txBody>
          <a:bodyPr/>
          <a:lstStyle>
            <a:lvl1pPr>
              <a:defRPr sz="5000">
                <a:solidFill>
                  <a:srgbClr val="FFFFFF"/>
                </a:solidFill>
              </a:defRPr>
            </a:lvl1pPr>
          </a:lstStyle>
          <a:p>
            <a:pPr lvl="0"/>
            <a:r>
              <a:rPr lang="ru-RU" noProof="0"/>
              <a:t>Образец заголовка</a:t>
            </a:r>
          </a:p>
        </p:txBody>
      </p:sp>
      <p:sp>
        <p:nvSpPr>
          <p:cNvPr id="5140" name="Rectangle 20"/>
          <p:cNvSpPr>
            <a:spLocks noGrp="1" noChangeArrowheads="1"/>
          </p:cNvSpPr>
          <p:nvPr>
            <p:ph type="subTitle" idx="1"/>
          </p:nvPr>
        </p:nvSpPr>
        <p:spPr>
          <a:xfrm>
            <a:off x="2971800" y="4267200"/>
            <a:ext cx="60198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3400"/>
            </a:lvl1pPr>
          </a:lstStyle>
          <a:p>
            <a:pPr lvl="0"/>
            <a:r>
              <a:rPr lang="ru-RU" noProof="0"/>
              <a:t>Образец подзаголовка</a:t>
            </a:r>
          </a:p>
        </p:txBody>
      </p:sp>
      <p:sp>
        <p:nvSpPr>
          <p:cNvPr id="18" name="Rectangle 16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84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9" name="Rectangle 1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20" name="Rectangle 1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66B959A-3BE5-4463-BE0C-D9AADAD159AF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3B561E8-F9B6-45B6-9E09-856DDB05A2D6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A7ACC3B-4333-481B-B3F0-A1A763E0ED5C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57200" y="1981200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E8B9E0-9BC8-4D02-9EE0-CFD1D84B7F34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8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4BCB1B4-DF8C-4CB6-ACCC-60157C35D3AD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  <p:sp>
        <p:nvSpPr>
          <p:cNvPr id="9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2029322-F4A4-426D-9BE5-E7AD70AAAB09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  <p:sp>
        <p:nvSpPr>
          <p:cNvPr id="5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3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8B5A306-A59C-4AE3-A8E5-84E04EB30601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  <p:sp>
        <p:nvSpPr>
          <p:cNvPr id="4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2A1C684-49D7-4DED-9668-871938B3244B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ru-RU" noProof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7357A63-4201-4C81-9743-AB70E552BDB5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0F3E0A1-FF98-4DA2-AD2E-3906048047C4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457200"/>
            <a:ext cx="2057400" cy="5410200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457200"/>
            <a:ext cx="6019800" cy="5410200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3F5BB04-5109-4F94-931A-C9E72AD58811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Заголовок и таблиц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371600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аблица 2"/>
          <p:cNvSpPr>
            <a:spLocks noGrp="1"/>
          </p:cNvSpPr>
          <p:nvPr>
            <p:ph type="tbl" idx="1"/>
          </p:nvPr>
        </p:nvSpPr>
        <p:spPr>
          <a:xfrm>
            <a:off x="457200" y="1981200"/>
            <a:ext cx="8229600" cy="3886200"/>
          </a:xfrm>
        </p:spPr>
        <p:txBody>
          <a:bodyPr/>
          <a:lstStyle/>
          <a:p>
            <a:pPr lvl="0"/>
            <a:endParaRPr lang="ru-RU" noProof="0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C2EB3B3-5D6A-4F94-8BED-928A35716375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 Black" pitchFamily="34" charset="0"/>
              </a:defRPr>
            </a:lvl1pPr>
          </a:lstStyle>
          <a:p>
            <a:pPr>
              <a:defRPr/>
            </a:pPr>
            <a:fld id="{C10EF93B-77E2-456A-B5D1-14604A487884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  <p:grpSp>
        <p:nvGrpSpPr>
          <p:cNvPr id="1028" name="Group 4"/>
          <p:cNvGrpSpPr>
            <a:grpSpLocks/>
          </p:cNvGrpSpPr>
          <p:nvPr/>
        </p:nvGrpSpPr>
        <p:grpSpPr bwMode="auto">
          <a:xfrm>
            <a:off x="0" y="0"/>
            <a:ext cx="9144000" cy="546100"/>
            <a:chOff x="0" y="0"/>
            <a:chExt cx="5760" cy="344"/>
          </a:xfrm>
        </p:grpSpPr>
        <p:sp>
          <p:nvSpPr>
            <p:cNvPr id="1032" name="Rectangle 5"/>
            <p:cNvSpPr>
              <a:spLocks noChangeArrowheads="1"/>
            </p:cNvSpPr>
            <p:nvPr/>
          </p:nvSpPr>
          <p:spPr bwMode="auto">
            <a:xfrm>
              <a:off x="0" y="0"/>
              <a:ext cx="180" cy="336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 wrap="none" anchor="ctr"/>
            <a:lstStyle>
              <a:lvl1pPr eaLnBrk="0" hangingPunct="0"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itchFamily="2" charset="2"/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itchFamily="2" charset="2"/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itchFamily="2" charset="2"/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itchFamily="2" charset="2"/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>
                <a:defRPr/>
              </a:pPr>
              <a:endParaRPr lang="ru-RU" altLang="ru-RU" sz="2400">
                <a:latin typeface="Times New Roman" pitchFamily="18" charset="0"/>
              </a:endParaRPr>
            </a:p>
          </p:txBody>
        </p:sp>
        <p:sp>
          <p:nvSpPr>
            <p:cNvPr id="1033" name="Rectangle 6"/>
            <p:cNvSpPr>
              <a:spLocks noChangeArrowheads="1"/>
            </p:cNvSpPr>
            <p:nvPr/>
          </p:nvSpPr>
          <p:spPr bwMode="auto">
            <a:xfrm>
              <a:off x="260" y="85"/>
              <a:ext cx="5500" cy="173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/>
            <a:lstStyle>
              <a:lvl1pPr eaLnBrk="0" hangingPunct="0"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itchFamily="2" charset="2"/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itchFamily="2" charset="2"/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itchFamily="2" charset="2"/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itchFamily="2" charset="2"/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ru-RU" altLang="ru-RU" sz="2400">
                <a:latin typeface="Times New Roman" pitchFamily="18" charset="0"/>
              </a:endParaRPr>
            </a:p>
          </p:txBody>
        </p:sp>
        <p:sp>
          <p:nvSpPr>
            <p:cNvPr id="1034" name="Rectangle 7"/>
            <p:cNvSpPr>
              <a:spLocks noChangeArrowheads="1"/>
            </p:cNvSpPr>
            <p:nvPr/>
          </p:nvSpPr>
          <p:spPr bwMode="auto">
            <a:xfrm>
              <a:off x="258" y="85"/>
              <a:ext cx="87" cy="89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</p:spPr>
          <p:txBody>
            <a:bodyPr/>
            <a:lstStyle>
              <a:lvl1pPr eaLnBrk="0" hangingPunct="0"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itchFamily="2" charset="2"/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itchFamily="2" charset="2"/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itchFamily="2" charset="2"/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itchFamily="2" charset="2"/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ru-RU" altLang="ru-RU" sz="1800">
                <a:solidFill>
                  <a:schemeClr val="hlink"/>
                </a:solidFill>
              </a:endParaRPr>
            </a:p>
          </p:txBody>
        </p:sp>
        <p:sp>
          <p:nvSpPr>
            <p:cNvPr id="1035" name="Rectangle 8"/>
            <p:cNvSpPr>
              <a:spLocks noChangeArrowheads="1"/>
            </p:cNvSpPr>
            <p:nvPr/>
          </p:nvSpPr>
          <p:spPr bwMode="auto">
            <a:xfrm>
              <a:off x="345" y="0"/>
              <a:ext cx="88" cy="8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</p:spPr>
          <p:txBody>
            <a:bodyPr/>
            <a:lstStyle>
              <a:lvl1pPr eaLnBrk="0" hangingPunct="0"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itchFamily="2" charset="2"/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itchFamily="2" charset="2"/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itchFamily="2" charset="2"/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itchFamily="2" charset="2"/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ru-RU" altLang="ru-RU" sz="1800">
                <a:solidFill>
                  <a:schemeClr val="hlink"/>
                </a:solidFill>
              </a:endParaRPr>
            </a:p>
          </p:txBody>
        </p:sp>
        <p:sp>
          <p:nvSpPr>
            <p:cNvPr id="1036" name="Rectangle 9"/>
            <p:cNvSpPr>
              <a:spLocks noChangeArrowheads="1"/>
            </p:cNvSpPr>
            <p:nvPr/>
          </p:nvSpPr>
          <p:spPr bwMode="auto">
            <a:xfrm>
              <a:off x="345" y="85"/>
              <a:ext cx="88" cy="8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>
              <a:lvl1pPr eaLnBrk="0" hangingPunct="0"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itchFamily="2" charset="2"/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itchFamily="2" charset="2"/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itchFamily="2" charset="2"/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itchFamily="2" charset="2"/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ru-RU" altLang="ru-RU" sz="1800">
                <a:solidFill>
                  <a:schemeClr val="accent2"/>
                </a:solidFill>
              </a:endParaRPr>
            </a:p>
          </p:txBody>
        </p:sp>
        <p:sp>
          <p:nvSpPr>
            <p:cNvPr id="1037" name="Rectangle 10"/>
            <p:cNvSpPr>
              <a:spLocks noChangeArrowheads="1"/>
            </p:cNvSpPr>
            <p:nvPr/>
          </p:nvSpPr>
          <p:spPr bwMode="auto">
            <a:xfrm>
              <a:off x="173" y="173"/>
              <a:ext cx="86" cy="8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</p:spPr>
          <p:txBody>
            <a:bodyPr/>
            <a:lstStyle>
              <a:lvl1pPr eaLnBrk="0" hangingPunct="0"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itchFamily="2" charset="2"/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itchFamily="2" charset="2"/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itchFamily="2" charset="2"/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itchFamily="2" charset="2"/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ru-RU" altLang="ru-RU" sz="1800">
                <a:solidFill>
                  <a:schemeClr val="hlink"/>
                </a:solidFill>
              </a:endParaRPr>
            </a:p>
          </p:txBody>
        </p:sp>
        <p:sp>
          <p:nvSpPr>
            <p:cNvPr id="1038" name="Rectangle 11"/>
            <p:cNvSpPr>
              <a:spLocks noChangeArrowheads="1"/>
            </p:cNvSpPr>
            <p:nvPr/>
          </p:nvSpPr>
          <p:spPr bwMode="auto">
            <a:xfrm>
              <a:off x="83" y="86"/>
              <a:ext cx="89" cy="87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txBody>
            <a:bodyPr/>
            <a:lstStyle>
              <a:lvl1pPr eaLnBrk="0" hangingPunct="0"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itchFamily="2" charset="2"/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itchFamily="2" charset="2"/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itchFamily="2" charset="2"/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itchFamily="2" charset="2"/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ru-RU" altLang="ru-RU" sz="2400">
                <a:latin typeface="Times New Roman" pitchFamily="18" charset="0"/>
              </a:endParaRPr>
            </a:p>
          </p:txBody>
        </p:sp>
        <p:sp>
          <p:nvSpPr>
            <p:cNvPr id="1039" name="Rectangle 12"/>
            <p:cNvSpPr>
              <a:spLocks noChangeArrowheads="1"/>
            </p:cNvSpPr>
            <p:nvPr/>
          </p:nvSpPr>
          <p:spPr bwMode="auto">
            <a:xfrm>
              <a:off x="258" y="171"/>
              <a:ext cx="87" cy="87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>
              <a:lvl1pPr eaLnBrk="0" hangingPunct="0"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itchFamily="2" charset="2"/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itchFamily="2" charset="2"/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itchFamily="2" charset="2"/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itchFamily="2" charset="2"/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ru-RU" altLang="ru-RU" sz="1800">
                <a:solidFill>
                  <a:schemeClr val="accent2"/>
                </a:solidFill>
              </a:endParaRPr>
            </a:p>
          </p:txBody>
        </p:sp>
        <p:sp>
          <p:nvSpPr>
            <p:cNvPr id="1040" name="Rectangle 13"/>
            <p:cNvSpPr>
              <a:spLocks noChangeArrowheads="1"/>
            </p:cNvSpPr>
            <p:nvPr/>
          </p:nvSpPr>
          <p:spPr bwMode="auto">
            <a:xfrm>
              <a:off x="173" y="258"/>
              <a:ext cx="86" cy="8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>
              <a:lvl1pPr eaLnBrk="0" hangingPunct="0"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itchFamily="2" charset="2"/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itchFamily="2" charset="2"/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itchFamily="2" charset="2"/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itchFamily="2" charset="2"/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ru-RU" altLang="ru-RU" sz="1800">
                <a:solidFill>
                  <a:schemeClr val="accent2"/>
                </a:solidFill>
              </a:endParaRPr>
            </a:p>
          </p:txBody>
        </p:sp>
      </p:grpSp>
      <p:sp>
        <p:nvSpPr>
          <p:cNvPr id="1029" name="Rectangle 14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457200"/>
            <a:ext cx="82296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ru-RU" altLang="ru-RU"/>
              <a:t>Образец заголовка</a:t>
            </a:r>
          </a:p>
        </p:txBody>
      </p:sp>
      <p:sp>
        <p:nvSpPr>
          <p:cNvPr id="1030" name="Rectangle 1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981200"/>
            <a:ext cx="8229600" cy="3886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u-RU" altLang="ru-RU"/>
              <a:t>Образец текста</a:t>
            </a:r>
          </a:p>
          <a:p>
            <a:pPr lvl="1"/>
            <a:r>
              <a:rPr lang="ru-RU" altLang="ru-RU"/>
              <a:t>Второй уровень</a:t>
            </a:r>
          </a:p>
          <a:p>
            <a:pPr lvl="2"/>
            <a:r>
              <a:rPr lang="ru-RU" altLang="ru-RU"/>
              <a:t>Третий уровень</a:t>
            </a:r>
          </a:p>
          <a:p>
            <a:pPr lvl="3"/>
            <a:r>
              <a:rPr lang="ru-RU" altLang="ru-RU"/>
              <a:t>Четвертый уровень</a:t>
            </a:r>
          </a:p>
          <a:p>
            <a:pPr lvl="4"/>
            <a:r>
              <a:rPr lang="ru-RU" altLang="ru-RU"/>
              <a:t>Пятый уровень</a:t>
            </a:r>
          </a:p>
        </p:txBody>
      </p:sp>
      <p:sp>
        <p:nvSpPr>
          <p:cNvPr id="4112" name="Rectangle 1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47" r:id="rId1"/>
    <p:sldLayoutId id="2147483936" r:id="rId2"/>
    <p:sldLayoutId id="2147483937" r:id="rId3"/>
    <p:sldLayoutId id="2147483938" r:id="rId4"/>
    <p:sldLayoutId id="2147483939" r:id="rId5"/>
    <p:sldLayoutId id="2147483940" r:id="rId6"/>
    <p:sldLayoutId id="2147483941" r:id="rId7"/>
    <p:sldLayoutId id="2147483942" r:id="rId8"/>
    <p:sldLayoutId id="2147483943" r:id="rId9"/>
    <p:sldLayoutId id="2147483944" r:id="rId10"/>
    <p:sldLayoutId id="2147483945" r:id="rId11"/>
    <p:sldLayoutId id="2147483946" r:id="rId12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cs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itchFamily="2" charset="2"/>
        <a:buChar char="¨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itchFamily="2" charset="2"/>
        <a:buChar char="n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¨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411288" y="1844675"/>
            <a:ext cx="7732712" cy="2305050"/>
          </a:xfrm>
        </p:spPr>
        <p:txBody>
          <a:bodyPr/>
          <a:lstStyle/>
          <a:p>
            <a:pPr algn="ctr" eaLnBrk="1" hangingPunct="1">
              <a:spcAft>
                <a:spcPct val="150000"/>
              </a:spcAft>
              <a:defRPr/>
            </a:pPr>
            <a:r>
              <a:rPr lang="en-US" dirty="0"/>
              <a:t>SQL-92</a:t>
            </a:r>
            <a:r>
              <a:rPr lang="ru-RU" dirty="0"/>
              <a:t/>
            </a:r>
            <a:br>
              <a:rPr lang="ru-RU" dirty="0"/>
            </a:br>
            <a:r>
              <a:rPr lang="ru-RU" sz="4000" dirty="0">
                <a:latin typeface="+mn-lt"/>
              </a:rPr>
              <a:t>Манипулирование данными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619250" y="4267200"/>
            <a:ext cx="7372350" cy="1752600"/>
          </a:xfrm>
        </p:spPr>
        <p:txBody>
          <a:bodyPr/>
          <a:lstStyle/>
          <a:p>
            <a:pPr eaLnBrk="1" hangingPunct="1"/>
            <a:r>
              <a:rPr lang="ru-RU" altLang="ru-RU" dirty="0"/>
              <a:t>М. </a:t>
            </a:r>
            <a:r>
              <a:rPr lang="ru-RU" altLang="ru-RU" dirty="0" err="1"/>
              <a:t>Грабер</a:t>
            </a:r>
            <a:r>
              <a:rPr lang="ru-RU" altLang="ru-RU" dirty="0"/>
              <a:t>  </a:t>
            </a:r>
            <a:r>
              <a:rPr lang="en-US" altLang="ru-RU" dirty="0"/>
              <a:t>SQL</a:t>
            </a:r>
            <a:r>
              <a:rPr lang="ru-RU" altLang="ru-RU" dirty="0"/>
              <a:t>. Главы 6-12</a:t>
            </a:r>
          </a:p>
          <a:p>
            <a:pPr eaLnBrk="1" hangingPunct="1"/>
            <a:endParaRPr lang="ru-RU" altLang="ru-RU" dirty="0"/>
          </a:p>
          <a:p>
            <a:pPr eaLnBrk="1" hangingPunct="1"/>
            <a:endParaRPr lang="ru-RU" alt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altLang="ru-RU" sz="4000">
                <a:solidFill>
                  <a:schemeClr val="bg2"/>
                </a:solidFill>
              </a:rPr>
              <a:t>Операторы манипулирования</a:t>
            </a:r>
          </a:p>
        </p:txBody>
      </p:sp>
      <p:sp>
        <p:nvSpPr>
          <p:cNvPr id="399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9388" y="1981200"/>
            <a:ext cx="8507412" cy="3176588"/>
          </a:xfrm>
        </p:spPr>
        <p:txBody>
          <a:bodyPr/>
          <a:lstStyle/>
          <a:p>
            <a:pPr marL="609600" indent="-609600">
              <a:spcBef>
                <a:spcPts val="2400"/>
              </a:spcBef>
            </a:pPr>
            <a:r>
              <a:rPr lang="en-US" altLang="ru-RU" b="1"/>
              <a:t>INSERT</a:t>
            </a:r>
            <a:r>
              <a:rPr lang="ru-RU" altLang="ru-RU" b="1"/>
              <a:t> – </a:t>
            </a:r>
            <a:r>
              <a:rPr lang="ru-RU" altLang="ru-RU" sz="2800"/>
              <a:t>ввод данных в таблицу БД</a:t>
            </a:r>
            <a:endParaRPr lang="en-US" altLang="ru-RU" sz="2800"/>
          </a:p>
          <a:p>
            <a:pPr marL="609600" indent="-609600">
              <a:spcBef>
                <a:spcPts val="2400"/>
              </a:spcBef>
            </a:pPr>
            <a:r>
              <a:rPr lang="en-US" altLang="ru-RU" b="1"/>
              <a:t>DELETE </a:t>
            </a:r>
            <a:r>
              <a:rPr lang="ru-RU" altLang="ru-RU" b="1"/>
              <a:t>– </a:t>
            </a:r>
            <a:r>
              <a:rPr lang="ru-RU" altLang="ru-RU" sz="2800"/>
              <a:t>удаление данных из таблицы БД</a:t>
            </a:r>
          </a:p>
          <a:p>
            <a:pPr marL="609600" indent="-609600">
              <a:spcBef>
                <a:spcPts val="2400"/>
              </a:spcBef>
            </a:pPr>
            <a:r>
              <a:rPr lang="en-US" altLang="ru-RU" b="1"/>
              <a:t>UPDATE </a:t>
            </a:r>
            <a:r>
              <a:rPr lang="ru-RU" altLang="ru-RU" b="1"/>
              <a:t>– </a:t>
            </a:r>
            <a:r>
              <a:rPr lang="ru-RU" altLang="ru-RU" sz="2800"/>
              <a:t>изменение данных в таблице БД</a:t>
            </a:r>
          </a:p>
          <a:p>
            <a:pPr marL="609600" indent="-609600">
              <a:spcBef>
                <a:spcPts val="2400"/>
              </a:spcBef>
            </a:pPr>
            <a:r>
              <a:rPr lang="en-US" altLang="ru-RU" b="1"/>
              <a:t>SELECT </a:t>
            </a:r>
            <a:r>
              <a:rPr lang="ru-RU" altLang="ru-RU" b="1"/>
              <a:t>– поиск данных в БД</a:t>
            </a:r>
          </a:p>
          <a:p>
            <a:pPr marL="609600" indent="-609600">
              <a:spcBef>
                <a:spcPts val="2400"/>
              </a:spcBef>
            </a:pPr>
            <a:endParaRPr lang="ru-RU" altLang="ru-RU"/>
          </a:p>
          <a:p>
            <a:pPr marL="609600" indent="-609600"/>
            <a:endParaRPr lang="ru-RU" altLang="ru-RU" sz="2800"/>
          </a:p>
        </p:txBody>
      </p:sp>
      <p:sp>
        <p:nvSpPr>
          <p:cNvPr id="4100" name="Номер слайда 3"/>
          <p:cNvSpPr>
            <a:spLocks noGrp="1"/>
          </p:cNvSpPr>
          <p:nvPr>
            <p:ph type="sldNum" sz="quarter" idx="11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A64B8F54-D562-4DD4-8716-18BEC818701F}" type="slidenum">
              <a:rPr lang="ru-RU" altLang="ru-RU" smtClean="0"/>
              <a:pPr/>
              <a:t>2</a:t>
            </a:fld>
            <a:endParaRPr lang="ru-RU" altLang="ru-RU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99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99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99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99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939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Заголовок 1"/>
          <p:cNvSpPr>
            <a:spLocks noGrp="1"/>
          </p:cNvSpPr>
          <p:nvPr>
            <p:ph type="title"/>
          </p:nvPr>
        </p:nvSpPr>
        <p:spPr>
          <a:xfrm>
            <a:off x="179388" y="115888"/>
            <a:ext cx="8785225" cy="668337"/>
          </a:xfrm>
        </p:spPr>
        <p:txBody>
          <a:bodyPr/>
          <a:lstStyle/>
          <a:p>
            <a:pPr algn="ctr"/>
            <a:r>
              <a:rPr lang="en-US" altLang="ru-RU" sz="3600" dirty="0">
                <a:solidFill>
                  <a:schemeClr val="bg2"/>
                </a:solidFill>
              </a:rPr>
              <a:t>INSERT</a:t>
            </a:r>
            <a:endParaRPr lang="ru-RU" altLang="ru-RU" sz="3600" i="1" dirty="0">
              <a:solidFill>
                <a:schemeClr val="bg2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07504" y="836712"/>
            <a:ext cx="8946009" cy="5688632"/>
          </a:xfrm>
        </p:spPr>
        <p:txBody>
          <a:bodyPr>
            <a:normAutofit fontScale="92500" lnSpcReduction="20000"/>
          </a:bodyPr>
          <a:lstStyle/>
          <a:p>
            <a:pPr marL="0">
              <a:lnSpc>
                <a:spcPct val="110000"/>
              </a:lnSpc>
              <a:spcBef>
                <a:spcPts val="1200"/>
              </a:spcBef>
              <a:buFont typeface="Wingdings" pitchFamily="2" charset="2"/>
              <a:buNone/>
              <a:defRPr/>
            </a:pPr>
            <a:r>
              <a:rPr lang="ru-RU" altLang="ru-RU" sz="2800" dirty="0"/>
              <a:t>Для ввода данных в таблицы базы данных </a:t>
            </a:r>
            <a:br>
              <a:rPr lang="ru-RU" altLang="ru-RU" sz="2800" dirty="0"/>
            </a:br>
            <a:endParaRPr lang="ru-RU" altLang="ru-RU" sz="2800" dirty="0"/>
          </a:p>
          <a:p>
            <a:pPr marL="0">
              <a:lnSpc>
                <a:spcPct val="110000"/>
              </a:lnSpc>
              <a:spcBef>
                <a:spcPts val="1200"/>
              </a:spcBef>
              <a:buFont typeface="Wingdings" pitchFamily="2" charset="2"/>
              <a:buNone/>
              <a:defRPr/>
            </a:pPr>
            <a:r>
              <a:rPr lang="ru-RU" altLang="ru-RU" sz="2600" dirty="0"/>
              <a:t>а) используются 2 варианта оператора INSERT:</a:t>
            </a:r>
          </a:p>
          <a:p>
            <a:pPr>
              <a:lnSpc>
                <a:spcPct val="110000"/>
              </a:lnSpc>
              <a:buFont typeface="Wingdings" pitchFamily="2" charset="2"/>
              <a:buNone/>
              <a:defRPr/>
            </a:pPr>
            <a:r>
              <a:rPr lang="ru-RU" altLang="ru-RU" sz="2800" dirty="0">
                <a:solidFill>
                  <a:schemeClr val="bg2"/>
                </a:solidFill>
              </a:rPr>
              <a:t>INSERT INTO</a:t>
            </a:r>
            <a:r>
              <a:rPr lang="ru-RU" altLang="ru-RU" sz="2800" dirty="0"/>
              <a:t> </a:t>
            </a:r>
            <a:r>
              <a:rPr lang="en-US" altLang="ru-RU" sz="2800" dirty="0"/>
              <a:t>&lt;</a:t>
            </a:r>
            <a:r>
              <a:rPr lang="ru-RU" altLang="ru-RU" sz="2800" dirty="0" err="1"/>
              <a:t>имя-таблицы</a:t>
            </a:r>
            <a:r>
              <a:rPr lang="en-US" altLang="ru-RU" sz="2800" dirty="0"/>
              <a:t>&gt;</a:t>
            </a:r>
            <a:r>
              <a:rPr lang="ru-RU" altLang="ru-RU" sz="2800" dirty="0"/>
              <a:t> [( имя-колонки, ... )] </a:t>
            </a:r>
            <a:r>
              <a:rPr lang="en-US" altLang="ru-RU" sz="2800" dirty="0"/>
              <a:t>                       	</a:t>
            </a:r>
            <a:r>
              <a:rPr lang="ru-RU" altLang="ru-RU" sz="2800" dirty="0">
                <a:solidFill>
                  <a:schemeClr val="bg2"/>
                </a:solidFill>
              </a:rPr>
              <a:t>VALUES</a:t>
            </a:r>
            <a:r>
              <a:rPr lang="ru-RU" altLang="ru-RU" sz="2800" dirty="0"/>
              <a:t> ( выражение | DEFAULT,...)</a:t>
            </a:r>
          </a:p>
          <a:p>
            <a:pPr>
              <a:lnSpc>
                <a:spcPct val="110000"/>
              </a:lnSpc>
              <a:buFont typeface="Wingdings" pitchFamily="2" charset="2"/>
              <a:buNone/>
              <a:defRPr/>
            </a:pPr>
            <a:r>
              <a:rPr lang="ru-RU" altLang="ru-RU" sz="2800" dirty="0">
                <a:solidFill>
                  <a:schemeClr val="bg2"/>
                </a:solidFill>
              </a:rPr>
              <a:t>INSERT INTO</a:t>
            </a:r>
            <a:r>
              <a:rPr lang="ru-RU" altLang="ru-RU" sz="2800" dirty="0"/>
              <a:t> </a:t>
            </a:r>
            <a:r>
              <a:rPr lang="en-US" altLang="ru-RU" sz="2800" dirty="0"/>
              <a:t>&lt;</a:t>
            </a:r>
            <a:r>
              <a:rPr lang="ru-RU" altLang="ru-RU" sz="2800" dirty="0" err="1"/>
              <a:t>имя-таблицы</a:t>
            </a:r>
            <a:r>
              <a:rPr lang="en-US" altLang="ru-RU" sz="2800" dirty="0"/>
              <a:t>&gt;</a:t>
            </a:r>
            <a:r>
              <a:rPr lang="ru-RU" altLang="ru-RU" sz="2800" dirty="0"/>
              <a:t> [( имя-колонки, ... )] </a:t>
            </a:r>
            <a:r>
              <a:rPr lang="en-US" altLang="ru-RU" sz="2800" dirty="0"/>
              <a:t>	</a:t>
            </a:r>
            <a:r>
              <a:rPr lang="ru-RU" altLang="ru-RU" sz="2800" dirty="0">
                <a:solidFill>
                  <a:schemeClr val="bg2"/>
                </a:solidFill>
              </a:rPr>
              <a:t>SELECT-оператор</a:t>
            </a:r>
          </a:p>
          <a:p>
            <a:pPr>
              <a:lnSpc>
                <a:spcPct val="110000"/>
              </a:lnSpc>
              <a:buFont typeface="Wingdings" pitchFamily="2" charset="2"/>
              <a:buNone/>
              <a:defRPr/>
            </a:pPr>
            <a:r>
              <a:rPr lang="en-US" altLang="ru-RU" sz="1900" dirty="0"/>
              <a:t>&lt;</a:t>
            </a:r>
            <a:r>
              <a:rPr lang="ru-RU" altLang="ru-RU" sz="1900" dirty="0" err="1"/>
              <a:t>имя-таблицы</a:t>
            </a:r>
            <a:r>
              <a:rPr lang="en-US" altLang="ru-RU" sz="1900" dirty="0"/>
              <a:t>&gt;</a:t>
            </a:r>
            <a:r>
              <a:rPr lang="ru-RU" altLang="ru-RU" sz="1900" dirty="0"/>
              <a:t> – имя базовой таблицы или обновляемого представления (</a:t>
            </a:r>
            <a:r>
              <a:rPr lang="en-US" altLang="ru-RU" sz="1900" dirty="0"/>
              <a:t>VIEW)</a:t>
            </a:r>
            <a:endParaRPr lang="ru-RU" altLang="ru-RU" sz="1900" dirty="0">
              <a:solidFill>
                <a:schemeClr val="bg2"/>
              </a:solidFill>
            </a:endParaRPr>
          </a:p>
          <a:p>
            <a:pPr>
              <a:lnSpc>
                <a:spcPct val="110000"/>
              </a:lnSpc>
              <a:spcBef>
                <a:spcPts val="1200"/>
              </a:spcBef>
              <a:buFont typeface="Wingdings" pitchFamily="2" charset="2"/>
              <a:buNone/>
              <a:defRPr/>
            </a:pPr>
            <a:r>
              <a:rPr lang="ru-RU" altLang="ru-RU" sz="2600" dirty="0"/>
              <a:t>б) утилиты СУБД </a:t>
            </a:r>
            <a:r>
              <a:rPr lang="ru-RU" altLang="ru-RU" sz="3000" dirty="0">
                <a:solidFill>
                  <a:schemeClr val="bg2"/>
                </a:solidFill>
              </a:rPr>
              <a:t/>
            </a:r>
            <a:br>
              <a:rPr lang="ru-RU" altLang="ru-RU" sz="3000" dirty="0">
                <a:solidFill>
                  <a:schemeClr val="bg2"/>
                </a:solidFill>
              </a:rPr>
            </a:br>
            <a:r>
              <a:rPr lang="en-US" altLang="ru-RU" dirty="0">
                <a:solidFill>
                  <a:schemeClr val="bg2"/>
                </a:solidFill>
              </a:rPr>
              <a:t>Load/Unload Data Utilities</a:t>
            </a:r>
            <a:r>
              <a:rPr lang="ru-RU" altLang="ru-RU" dirty="0">
                <a:solidFill>
                  <a:schemeClr val="bg2"/>
                </a:solidFill>
              </a:rPr>
              <a:t>, </a:t>
            </a:r>
            <a:r>
              <a:rPr lang="ru-RU" altLang="ru-RU" sz="2600" dirty="0"/>
              <a:t>где в качестве параметров могут быть:</a:t>
            </a:r>
            <a:endParaRPr lang="en-US" altLang="ru-RU" sz="2600" dirty="0"/>
          </a:p>
          <a:p>
            <a:pPr>
              <a:lnSpc>
                <a:spcPct val="110000"/>
              </a:lnSpc>
              <a:defRPr/>
            </a:pPr>
            <a:r>
              <a:rPr lang="ru-RU" altLang="ru-RU" sz="2000" dirty="0"/>
              <a:t>Текстовый файл с символами-разделителями (запятая, точка с запятой, знак табуляции и др.)</a:t>
            </a:r>
          </a:p>
          <a:p>
            <a:pPr>
              <a:lnSpc>
                <a:spcPct val="110000"/>
              </a:lnSpc>
              <a:defRPr/>
            </a:pPr>
            <a:r>
              <a:rPr lang="ru-RU" altLang="ru-RU" sz="2000" dirty="0"/>
              <a:t>XML файлы</a:t>
            </a:r>
          </a:p>
          <a:p>
            <a:pPr>
              <a:lnSpc>
                <a:spcPct val="110000"/>
              </a:lnSpc>
              <a:defRPr/>
            </a:pPr>
            <a:r>
              <a:rPr lang="ru-RU" altLang="ru-RU" sz="2000" dirty="0"/>
              <a:t>Данные из электронных таблиц </a:t>
            </a:r>
            <a:r>
              <a:rPr lang="en-US" altLang="ru-RU" sz="2000" dirty="0"/>
              <a:t>(spreadsheet)</a:t>
            </a:r>
            <a:endParaRPr lang="ru-RU" altLang="ru-RU" sz="2800" dirty="0">
              <a:solidFill>
                <a:schemeClr val="bg2"/>
              </a:solidFill>
            </a:endParaRPr>
          </a:p>
        </p:txBody>
      </p:sp>
      <p:sp>
        <p:nvSpPr>
          <p:cNvPr id="5124" name="Номер слайда 3"/>
          <p:cNvSpPr>
            <a:spLocks noGrp="1"/>
          </p:cNvSpPr>
          <p:nvPr>
            <p:ph type="sldNum" sz="quarter" idx="11"/>
          </p:nvPr>
        </p:nvSpPr>
        <p:spPr>
          <a:xfrm>
            <a:off x="7884368" y="6248400"/>
            <a:ext cx="802432" cy="457200"/>
          </a:xfrm>
          <a:noFill/>
          <a:ln>
            <a:miter lim="800000"/>
            <a:headEnd/>
            <a:tailEnd/>
          </a:ln>
        </p:spPr>
        <p:txBody>
          <a:bodyPr/>
          <a:lstStyle/>
          <a:p>
            <a:fld id="{32AE58A8-90E6-4D05-AF93-39C8B2A289D9}" type="slidenum">
              <a:rPr lang="ru-RU" altLang="ru-RU" smtClean="0"/>
              <a:pPr/>
              <a:t>3</a:t>
            </a:fld>
            <a:endParaRPr lang="ru-RU" altLang="ru-RU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Заголовок 1"/>
          <p:cNvSpPr>
            <a:spLocks noGrp="1"/>
          </p:cNvSpPr>
          <p:nvPr>
            <p:ph type="title"/>
          </p:nvPr>
        </p:nvSpPr>
        <p:spPr>
          <a:xfrm>
            <a:off x="539750" y="0"/>
            <a:ext cx="8229600" cy="576263"/>
          </a:xfrm>
        </p:spPr>
        <p:txBody>
          <a:bodyPr/>
          <a:lstStyle/>
          <a:p>
            <a:pPr algn="ctr"/>
            <a:r>
              <a:rPr lang="en-US" altLang="ru-RU" sz="4000" dirty="0">
                <a:solidFill>
                  <a:schemeClr val="bg2"/>
                </a:solidFill>
              </a:rPr>
              <a:t>INSERT.</a:t>
            </a:r>
            <a:r>
              <a:rPr lang="ru-RU" altLang="ru-RU" sz="4000" dirty="0">
                <a:solidFill>
                  <a:schemeClr val="bg2"/>
                </a:solidFill>
              </a:rPr>
              <a:t>Пример</a:t>
            </a:r>
            <a:r>
              <a:rPr lang="ru-RU" altLang="ru-RU" sz="4000" dirty="0"/>
              <a:t> 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0" y="620713"/>
            <a:ext cx="9144000" cy="5976937"/>
          </a:xfrm>
        </p:spPr>
        <p:txBody>
          <a:bodyPr>
            <a:normAutofit lnSpcReduction="10000"/>
          </a:bodyPr>
          <a:lstStyle/>
          <a:p>
            <a:pPr marL="0" indent="0">
              <a:buClr>
                <a:srgbClr val="C00000"/>
              </a:buClr>
              <a:buFont typeface="Wingdings" pitchFamily="2" charset="2"/>
              <a:buNone/>
              <a:defRPr/>
            </a:pPr>
            <a:r>
              <a:rPr lang="ru-RU" altLang="ru-RU" sz="2400" dirty="0">
                <a:solidFill>
                  <a:schemeClr val="bg2"/>
                </a:solidFill>
              </a:rPr>
              <a:t>Если необходимо ввести данные в таблицу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ru-RU" altLang="ru-RU" sz="2400" dirty="0"/>
              <a:t>  ПРОДАВЦЫ </a:t>
            </a:r>
            <a:r>
              <a:rPr lang="en-US" altLang="ru-RU" sz="2400" dirty="0"/>
              <a:t> (</a:t>
            </a:r>
            <a:r>
              <a:rPr lang="ru-RU" altLang="ru-RU" sz="2400" dirty="0" err="1"/>
              <a:t>НомПР</a:t>
            </a:r>
            <a:r>
              <a:rPr lang="en-US" altLang="ru-RU" sz="2400" dirty="0"/>
              <a:t>,</a:t>
            </a:r>
            <a:r>
              <a:rPr lang="ru-RU" altLang="ru-RU" sz="2400" dirty="0"/>
              <a:t> </a:t>
            </a:r>
            <a:r>
              <a:rPr lang="ru-RU" altLang="ru-RU" sz="2400" dirty="0" err="1"/>
              <a:t>ИмяПР</a:t>
            </a:r>
            <a:r>
              <a:rPr lang="en-US" altLang="ru-RU" sz="2400" dirty="0"/>
              <a:t>,</a:t>
            </a:r>
            <a:r>
              <a:rPr lang="ru-RU" altLang="ru-RU" sz="2400" dirty="0"/>
              <a:t> Город</a:t>
            </a:r>
            <a:r>
              <a:rPr lang="en-US" altLang="ru-RU" sz="2400" dirty="0"/>
              <a:t>,</a:t>
            </a:r>
            <a:r>
              <a:rPr lang="ru-RU" altLang="ru-RU" sz="2400" dirty="0"/>
              <a:t> Комм</a:t>
            </a:r>
            <a:r>
              <a:rPr lang="en-US" altLang="ru-RU" sz="2400" dirty="0"/>
              <a:t> )</a:t>
            </a:r>
            <a:r>
              <a:rPr lang="ru-RU" altLang="ru-RU" sz="2400" dirty="0"/>
              <a:t>, </a:t>
            </a:r>
            <a:r>
              <a:rPr lang="ru-RU" altLang="ru-RU" sz="2000" dirty="0"/>
              <a:t>то это можно сделать </a:t>
            </a:r>
          </a:p>
          <a:p>
            <a:pPr marL="342900" lvl="1" indent="-342900">
              <a:spcBef>
                <a:spcPts val="1800"/>
              </a:spcBef>
              <a:buClr>
                <a:srgbClr val="C00000"/>
              </a:buClr>
              <a:buSzPct val="75000"/>
              <a:buFont typeface="Wingdings" pitchFamily="2" charset="2"/>
              <a:buChar char="v"/>
              <a:defRPr/>
            </a:pPr>
            <a:r>
              <a:rPr lang="ru-RU" altLang="ru-RU" sz="2400" dirty="0">
                <a:solidFill>
                  <a:schemeClr val="bg2"/>
                </a:solidFill>
                <a:ea typeface="+mn-ea"/>
              </a:rPr>
              <a:t>несколькими способами оператором </a:t>
            </a:r>
            <a:r>
              <a:rPr lang="en-US" altLang="ru-RU" sz="2400" dirty="0">
                <a:solidFill>
                  <a:schemeClr val="bg2"/>
                </a:solidFill>
                <a:ea typeface="+mn-ea"/>
              </a:rPr>
              <a:t>INSERT</a:t>
            </a:r>
            <a:r>
              <a:rPr lang="ru-RU" altLang="ru-RU" sz="2400" dirty="0">
                <a:solidFill>
                  <a:schemeClr val="bg2"/>
                </a:solidFill>
                <a:ea typeface="+mn-ea"/>
              </a:rPr>
              <a:t>:</a:t>
            </a:r>
          </a:p>
          <a:p>
            <a:pPr marL="457200" indent="-457200">
              <a:lnSpc>
                <a:spcPct val="110000"/>
              </a:lnSpc>
              <a:spcBef>
                <a:spcPts val="0"/>
              </a:spcBef>
              <a:buFont typeface="Wingdings" pitchFamily="2" charset="2"/>
              <a:buNone/>
              <a:defRPr/>
            </a:pPr>
            <a:r>
              <a:rPr lang="ru-RU" altLang="ru-RU" sz="1600" dirty="0">
                <a:solidFill>
                  <a:schemeClr val="bg2"/>
                </a:solidFill>
              </a:rPr>
              <a:t>1. </a:t>
            </a:r>
            <a:r>
              <a:rPr lang="ru-RU" altLang="ru-RU" sz="2000" dirty="0">
                <a:solidFill>
                  <a:schemeClr val="bg2"/>
                </a:solidFill>
              </a:rPr>
              <a:t>INSERT INTO</a:t>
            </a:r>
            <a:r>
              <a:rPr lang="ru-RU" altLang="ru-RU" sz="2000" dirty="0"/>
              <a:t> ПРОДАВЦЫ</a:t>
            </a:r>
            <a:r>
              <a:rPr lang="en-US" altLang="ru-RU" sz="2000" dirty="0"/>
              <a:t>(</a:t>
            </a:r>
            <a:r>
              <a:rPr lang="ru-RU" altLang="ru-RU" sz="2000" dirty="0" err="1"/>
              <a:t>НомПР</a:t>
            </a:r>
            <a:r>
              <a:rPr lang="en-US" altLang="ru-RU" sz="2000" dirty="0"/>
              <a:t>,</a:t>
            </a:r>
            <a:r>
              <a:rPr lang="ru-RU" altLang="ru-RU" sz="2000" dirty="0"/>
              <a:t> </a:t>
            </a:r>
            <a:r>
              <a:rPr lang="ru-RU" altLang="ru-RU" sz="2000" dirty="0" err="1"/>
              <a:t>ИмяПР</a:t>
            </a:r>
            <a:r>
              <a:rPr lang="en-US" altLang="ru-RU" sz="2000" dirty="0"/>
              <a:t>,</a:t>
            </a:r>
            <a:r>
              <a:rPr lang="ru-RU" altLang="ru-RU" sz="2000" dirty="0"/>
              <a:t> Город</a:t>
            </a:r>
            <a:r>
              <a:rPr lang="en-US" altLang="ru-RU" sz="2000" dirty="0"/>
              <a:t>,</a:t>
            </a:r>
            <a:r>
              <a:rPr lang="ru-RU" altLang="ru-RU" sz="2000" dirty="0"/>
              <a:t> Комм</a:t>
            </a:r>
            <a:r>
              <a:rPr lang="en-US" altLang="ru-RU" sz="2000" dirty="0"/>
              <a:t> )</a:t>
            </a:r>
            <a:r>
              <a:rPr lang="ru-RU" altLang="ru-RU" sz="2000" dirty="0"/>
              <a:t> 	</a:t>
            </a:r>
          </a:p>
          <a:p>
            <a:pPr marL="457200" indent="-457200">
              <a:lnSpc>
                <a:spcPct val="110000"/>
              </a:lnSpc>
              <a:spcBef>
                <a:spcPts val="0"/>
              </a:spcBef>
              <a:buFont typeface="Wingdings" pitchFamily="2" charset="2"/>
              <a:buNone/>
              <a:defRPr/>
            </a:pPr>
            <a:r>
              <a:rPr lang="ru-RU" altLang="ru-RU" sz="2000" dirty="0">
                <a:solidFill>
                  <a:schemeClr val="bg2"/>
                </a:solidFill>
              </a:rPr>
              <a:t>			VALUES</a:t>
            </a:r>
            <a:r>
              <a:rPr lang="ru-RU" altLang="ru-RU" sz="2000" dirty="0"/>
              <a:t> ( </a:t>
            </a:r>
            <a:r>
              <a:rPr lang="en-US" altLang="ru-RU" sz="2000" dirty="0"/>
              <a:t>1001</a:t>
            </a:r>
            <a:r>
              <a:rPr lang="ru-RU" altLang="ru-RU" sz="2000" dirty="0"/>
              <a:t>,</a:t>
            </a:r>
            <a:r>
              <a:rPr lang="en-US" altLang="ru-RU" sz="2000" dirty="0"/>
              <a:t> ‘</a:t>
            </a:r>
            <a:r>
              <a:rPr lang="ru-RU" altLang="ru-RU" sz="2000" dirty="0"/>
              <a:t>Иванов</a:t>
            </a:r>
            <a:r>
              <a:rPr lang="en-US" altLang="ru-RU" sz="2000" dirty="0"/>
              <a:t>’</a:t>
            </a:r>
            <a:r>
              <a:rPr lang="ru-RU" altLang="ru-RU" sz="2000" dirty="0"/>
              <a:t>, </a:t>
            </a:r>
            <a:r>
              <a:rPr lang="en-US" altLang="ru-RU" sz="2000" dirty="0"/>
              <a:t>‘</a:t>
            </a:r>
            <a:r>
              <a:rPr lang="ru-RU" altLang="ru-RU" sz="2000" dirty="0"/>
              <a:t>Новосибирск</a:t>
            </a:r>
            <a:r>
              <a:rPr lang="en-US" altLang="ru-RU" sz="2000" dirty="0"/>
              <a:t>’</a:t>
            </a:r>
            <a:r>
              <a:rPr lang="ru-RU" altLang="ru-RU" sz="2000" dirty="0"/>
              <a:t>, 0.12)</a:t>
            </a:r>
          </a:p>
          <a:p>
            <a:pPr marL="0" indent="0">
              <a:lnSpc>
                <a:spcPct val="110000"/>
              </a:lnSpc>
              <a:spcBef>
                <a:spcPts val="1200"/>
              </a:spcBef>
              <a:buFont typeface="Wingdings" pitchFamily="2" charset="2"/>
              <a:buNone/>
              <a:defRPr/>
            </a:pPr>
            <a:r>
              <a:rPr lang="ru-RU" altLang="ru-RU" sz="1600" dirty="0">
                <a:solidFill>
                  <a:schemeClr val="bg2"/>
                </a:solidFill>
              </a:rPr>
              <a:t>2. </a:t>
            </a:r>
            <a:r>
              <a:rPr lang="ru-RU" altLang="ru-RU" sz="2000" dirty="0">
                <a:solidFill>
                  <a:schemeClr val="bg2"/>
                </a:solidFill>
              </a:rPr>
              <a:t>INSERT INTO</a:t>
            </a:r>
            <a:r>
              <a:rPr lang="ru-RU" altLang="ru-RU" sz="2000" dirty="0"/>
              <a:t> ПРОДАВЦЫ </a:t>
            </a:r>
            <a:r>
              <a:rPr lang="en-US" altLang="ru-RU" sz="2000" dirty="0"/>
              <a:t> </a:t>
            </a:r>
            <a:br>
              <a:rPr lang="en-US" altLang="ru-RU" sz="2000" dirty="0"/>
            </a:br>
            <a:r>
              <a:rPr lang="en-US" altLang="ru-RU" sz="2000" dirty="0"/>
              <a:t>		</a:t>
            </a:r>
            <a:r>
              <a:rPr lang="ru-RU" altLang="ru-RU" sz="2000" dirty="0">
                <a:solidFill>
                  <a:schemeClr val="bg2"/>
                </a:solidFill>
              </a:rPr>
              <a:t>VALUES</a:t>
            </a:r>
            <a:r>
              <a:rPr lang="ru-RU" altLang="ru-RU" sz="2000" dirty="0"/>
              <a:t> ( </a:t>
            </a:r>
            <a:r>
              <a:rPr lang="en-US" altLang="ru-RU" sz="2000" dirty="0"/>
              <a:t>1001</a:t>
            </a:r>
            <a:r>
              <a:rPr lang="ru-RU" altLang="ru-RU" sz="2000" dirty="0"/>
              <a:t>,</a:t>
            </a:r>
            <a:r>
              <a:rPr lang="en-US" altLang="ru-RU" sz="2000" dirty="0"/>
              <a:t> ‘</a:t>
            </a:r>
            <a:r>
              <a:rPr lang="ru-RU" altLang="ru-RU" sz="2000" dirty="0"/>
              <a:t>Иванов</a:t>
            </a:r>
            <a:r>
              <a:rPr lang="en-US" altLang="ru-RU" sz="2000" dirty="0"/>
              <a:t>’</a:t>
            </a:r>
            <a:r>
              <a:rPr lang="ru-RU" altLang="ru-RU" sz="2000" dirty="0"/>
              <a:t>, </a:t>
            </a:r>
            <a:r>
              <a:rPr lang="en-US" altLang="ru-RU" sz="2000" dirty="0"/>
              <a:t>‘</a:t>
            </a:r>
            <a:r>
              <a:rPr lang="ru-RU" altLang="ru-RU" sz="2000" dirty="0"/>
              <a:t>Новосибирск</a:t>
            </a:r>
            <a:r>
              <a:rPr lang="en-US" altLang="ru-RU" sz="2000" dirty="0"/>
              <a:t>’</a:t>
            </a:r>
            <a:r>
              <a:rPr lang="ru-RU" altLang="ru-RU" sz="2000" dirty="0"/>
              <a:t>, 0.12)</a:t>
            </a:r>
          </a:p>
          <a:p>
            <a:pPr marL="0" indent="0">
              <a:spcBef>
                <a:spcPts val="1200"/>
              </a:spcBef>
              <a:buFont typeface="Wingdings" pitchFamily="2" charset="2"/>
              <a:buNone/>
              <a:defRPr/>
            </a:pPr>
            <a:r>
              <a:rPr lang="ru-RU" altLang="ru-RU" sz="1600" dirty="0">
                <a:solidFill>
                  <a:schemeClr val="bg2"/>
                </a:solidFill>
              </a:rPr>
              <a:t>3. </a:t>
            </a:r>
            <a:r>
              <a:rPr lang="ru-RU" altLang="ru-RU" sz="2000" dirty="0">
                <a:solidFill>
                  <a:schemeClr val="bg2"/>
                </a:solidFill>
              </a:rPr>
              <a:t>INSERT INTO</a:t>
            </a:r>
            <a:r>
              <a:rPr lang="ru-RU" altLang="ru-RU" sz="2000" dirty="0"/>
              <a:t> ПРОДАВЦЫ </a:t>
            </a:r>
            <a:r>
              <a:rPr lang="en-US" altLang="ru-RU" sz="2000" dirty="0"/>
              <a:t> (</a:t>
            </a:r>
            <a:r>
              <a:rPr lang="ru-RU" altLang="ru-RU" sz="2000" b="1" dirty="0" err="1">
                <a:solidFill>
                  <a:srgbClr val="008000"/>
                </a:solidFill>
              </a:rPr>
              <a:t>НомПР</a:t>
            </a:r>
            <a:r>
              <a:rPr lang="en-US" altLang="ru-RU" sz="2000" b="1" dirty="0">
                <a:solidFill>
                  <a:srgbClr val="008000"/>
                </a:solidFill>
              </a:rPr>
              <a:t>,</a:t>
            </a:r>
            <a:r>
              <a:rPr lang="ru-RU" altLang="ru-RU" sz="2000" b="1" dirty="0">
                <a:solidFill>
                  <a:srgbClr val="008000"/>
                </a:solidFill>
              </a:rPr>
              <a:t> </a:t>
            </a:r>
            <a:r>
              <a:rPr lang="ru-RU" altLang="ru-RU" sz="2000" b="1" dirty="0" err="1">
                <a:solidFill>
                  <a:srgbClr val="008000"/>
                </a:solidFill>
              </a:rPr>
              <a:t>ИмяПР</a:t>
            </a:r>
            <a:r>
              <a:rPr lang="en-US" altLang="ru-RU" sz="2000" dirty="0"/>
              <a:t>)</a:t>
            </a:r>
            <a:r>
              <a:rPr lang="ru-RU" altLang="ru-RU" sz="2000" dirty="0"/>
              <a:t> </a:t>
            </a:r>
            <a:r>
              <a:rPr lang="ru-RU" altLang="ru-RU" sz="2000" dirty="0">
                <a:solidFill>
                  <a:schemeClr val="bg2"/>
                </a:solidFill>
              </a:rPr>
              <a:t>VALUES</a:t>
            </a:r>
            <a:r>
              <a:rPr lang="ru-RU" altLang="ru-RU" sz="2000" dirty="0"/>
              <a:t> ( </a:t>
            </a:r>
            <a:r>
              <a:rPr lang="en-US" altLang="ru-RU" sz="2000" b="1" dirty="0">
                <a:solidFill>
                  <a:srgbClr val="008000"/>
                </a:solidFill>
              </a:rPr>
              <a:t>1001</a:t>
            </a:r>
            <a:r>
              <a:rPr lang="ru-RU" altLang="ru-RU" sz="2000" b="1" dirty="0">
                <a:solidFill>
                  <a:srgbClr val="008000"/>
                </a:solidFill>
              </a:rPr>
              <a:t>,</a:t>
            </a:r>
            <a:r>
              <a:rPr lang="en-US" altLang="ru-RU" sz="2000" b="1" dirty="0">
                <a:solidFill>
                  <a:srgbClr val="008000"/>
                </a:solidFill>
              </a:rPr>
              <a:t> ‘</a:t>
            </a:r>
            <a:r>
              <a:rPr lang="ru-RU" altLang="ru-RU" sz="2000" b="1" dirty="0">
                <a:solidFill>
                  <a:srgbClr val="008000"/>
                </a:solidFill>
              </a:rPr>
              <a:t>Иванов</a:t>
            </a:r>
            <a:r>
              <a:rPr lang="en-US" altLang="ru-RU" sz="2000" b="1" dirty="0">
                <a:solidFill>
                  <a:srgbClr val="008000"/>
                </a:solidFill>
              </a:rPr>
              <a:t>’</a:t>
            </a:r>
            <a:r>
              <a:rPr lang="ru-RU" altLang="ru-RU" sz="2000" dirty="0"/>
              <a:t>)</a:t>
            </a:r>
          </a:p>
          <a:p>
            <a:pPr marL="0" indent="0">
              <a:spcBef>
                <a:spcPts val="1200"/>
              </a:spcBef>
              <a:buFont typeface="Wingdings" pitchFamily="2" charset="2"/>
              <a:buNone/>
              <a:defRPr/>
            </a:pPr>
            <a:r>
              <a:rPr lang="ru-RU" altLang="ru-RU" sz="1600" dirty="0">
                <a:solidFill>
                  <a:schemeClr val="bg2"/>
                </a:solidFill>
              </a:rPr>
              <a:t>4. </a:t>
            </a:r>
            <a:r>
              <a:rPr lang="ru-RU" altLang="ru-RU" sz="2000" dirty="0">
                <a:solidFill>
                  <a:schemeClr val="bg2"/>
                </a:solidFill>
              </a:rPr>
              <a:t>INSERT INTO</a:t>
            </a:r>
            <a:r>
              <a:rPr lang="ru-RU" altLang="ru-RU" sz="2000" dirty="0"/>
              <a:t> ПРОДАВЦЫ </a:t>
            </a:r>
            <a:r>
              <a:rPr lang="ru-RU" altLang="ru-RU" sz="2000" dirty="0">
                <a:solidFill>
                  <a:schemeClr val="bg2"/>
                </a:solidFill>
              </a:rPr>
              <a:t>VALUES</a:t>
            </a:r>
            <a:r>
              <a:rPr lang="ru-RU" altLang="ru-RU" sz="2000" dirty="0"/>
              <a:t> ( </a:t>
            </a:r>
            <a:r>
              <a:rPr lang="en-US" altLang="ru-RU" sz="2000" dirty="0"/>
              <a:t>1001</a:t>
            </a:r>
            <a:r>
              <a:rPr lang="ru-RU" altLang="ru-RU" sz="2000" dirty="0"/>
              <a:t>,</a:t>
            </a:r>
            <a:r>
              <a:rPr lang="en-US" altLang="ru-RU" sz="2000" dirty="0"/>
              <a:t> ‘</a:t>
            </a:r>
            <a:r>
              <a:rPr lang="ru-RU" altLang="ru-RU" sz="2000" dirty="0"/>
              <a:t>Иванов</a:t>
            </a:r>
            <a:r>
              <a:rPr lang="en-US" altLang="ru-RU" sz="2000" dirty="0"/>
              <a:t>’</a:t>
            </a:r>
            <a:r>
              <a:rPr lang="ru-RU" altLang="ru-RU" sz="2000" b="1" dirty="0"/>
              <a:t>,</a:t>
            </a:r>
            <a:r>
              <a:rPr lang="en-US" altLang="ru-RU" sz="2000" b="1" dirty="0">
                <a:solidFill>
                  <a:srgbClr val="DE4110"/>
                </a:solidFill>
              </a:rPr>
              <a:t>NULL</a:t>
            </a:r>
            <a:r>
              <a:rPr lang="ru-RU" altLang="ru-RU" sz="2000" b="1" dirty="0"/>
              <a:t>,</a:t>
            </a:r>
            <a:r>
              <a:rPr lang="ru-RU" altLang="ru-RU" sz="2000" dirty="0"/>
              <a:t>)</a:t>
            </a:r>
            <a:r>
              <a:rPr lang="en-US" altLang="ru-RU" sz="2000" dirty="0"/>
              <a:t> </a:t>
            </a:r>
            <a:r>
              <a:rPr lang="en-US" altLang="ru-RU" sz="2000" u="sng" dirty="0"/>
              <a:t>NULL – </a:t>
            </a:r>
            <a:r>
              <a:rPr lang="ru-RU" altLang="ru-RU" sz="2000" u="sng" dirty="0"/>
              <a:t>без </a:t>
            </a:r>
            <a:r>
              <a:rPr lang="en-US" altLang="ru-RU" sz="2000" u="sng" dirty="0"/>
              <a:t>‘</a:t>
            </a:r>
            <a:r>
              <a:rPr lang="ru-RU" altLang="ru-RU" sz="2000" u="sng" dirty="0"/>
              <a:t>,</a:t>
            </a:r>
            <a:r>
              <a:rPr lang="en-US" altLang="ru-RU" sz="2000" u="sng" dirty="0"/>
              <a:t>’</a:t>
            </a:r>
            <a:r>
              <a:rPr lang="ru-RU" altLang="ru-RU" sz="2000" u="sng" dirty="0"/>
              <a:t> </a:t>
            </a:r>
          </a:p>
          <a:p>
            <a:pPr marL="0" indent="0">
              <a:spcBef>
                <a:spcPts val="1200"/>
              </a:spcBef>
              <a:buFont typeface="Wingdings" pitchFamily="2" charset="2"/>
              <a:buNone/>
              <a:defRPr/>
            </a:pPr>
            <a:r>
              <a:rPr lang="ru-RU" altLang="ru-RU" sz="1600" dirty="0">
                <a:solidFill>
                  <a:schemeClr val="bg2"/>
                </a:solidFill>
              </a:rPr>
              <a:t>5. </a:t>
            </a:r>
            <a:r>
              <a:rPr lang="ru-RU" altLang="ru-RU" sz="2000" dirty="0">
                <a:solidFill>
                  <a:schemeClr val="bg2"/>
                </a:solidFill>
              </a:rPr>
              <a:t>INSERT INTO</a:t>
            </a:r>
            <a:r>
              <a:rPr lang="ru-RU" altLang="ru-RU" sz="2000" dirty="0"/>
              <a:t> ПРОДАВЦЫ </a:t>
            </a:r>
            <a:r>
              <a:rPr lang="en-US" altLang="ru-RU" sz="2000" dirty="0"/>
              <a:t> </a:t>
            </a:r>
            <a:r>
              <a:rPr lang="ru-RU" altLang="ru-RU" sz="2000" dirty="0">
                <a:solidFill>
                  <a:schemeClr val="bg2"/>
                </a:solidFill>
              </a:rPr>
              <a:t>VALUES</a:t>
            </a:r>
            <a:r>
              <a:rPr lang="ru-RU" altLang="ru-RU" sz="2000" dirty="0"/>
              <a:t> ( </a:t>
            </a:r>
            <a:r>
              <a:rPr lang="en-US" altLang="ru-RU" sz="2000" dirty="0"/>
              <a:t>1001</a:t>
            </a:r>
            <a:r>
              <a:rPr lang="ru-RU" altLang="ru-RU" sz="2000" dirty="0"/>
              <a:t>,</a:t>
            </a:r>
            <a:r>
              <a:rPr lang="en-US" altLang="ru-RU" sz="2000" dirty="0"/>
              <a:t> ‘</a:t>
            </a:r>
            <a:r>
              <a:rPr lang="ru-RU" altLang="ru-RU" sz="2000" dirty="0"/>
              <a:t>Иванов</a:t>
            </a:r>
            <a:r>
              <a:rPr lang="en-US" altLang="ru-RU" sz="2000" dirty="0"/>
              <a:t>’</a:t>
            </a:r>
            <a:r>
              <a:rPr lang="ru-RU" altLang="ru-RU" sz="2000" b="1" dirty="0">
                <a:solidFill>
                  <a:srgbClr val="DE4110"/>
                </a:solidFill>
              </a:rPr>
              <a:t>, ,</a:t>
            </a:r>
            <a:r>
              <a:rPr lang="ru-RU" altLang="ru-RU" sz="2000" dirty="0"/>
              <a:t>)</a:t>
            </a:r>
          </a:p>
          <a:p>
            <a:pPr marL="342900" lvl="1" indent="-342900">
              <a:spcBef>
                <a:spcPts val="1800"/>
              </a:spcBef>
              <a:buClr>
                <a:srgbClr val="C00000"/>
              </a:buClr>
              <a:buSzPct val="75000"/>
              <a:buFont typeface="Wingdings" pitchFamily="2" charset="2"/>
              <a:buChar char="v"/>
              <a:defRPr/>
            </a:pPr>
            <a:r>
              <a:rPr lang="ru-RU" altLang="ru-RU" sz="2400" dirty="0">
                <a:solidFill>
                  <a:schemeClr val="bg2"/>
                </a:solidFill>
                <a:ea typeface="+mn-ea"/>
              </a:rPr>
              <a:t>или системной утилитой, например,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US" altLang="ru-RU" sz="2800" dirty="0">
                <a:solidFill>
                  <a:schemeClr val="bg2"/>
                </a:solidFill>
              </a:rPr>
              <a:t>LOAD</a:t>
            </a:r>
            <a:r>
              <a:rPr lang="en-US" altLang="ru-RU" sz="2800" dirty="0"/>
              <a:t>( </a:t>
            </a:r>
            <a:r>
              <a:rPr lang="ru-RU" altLang="ru-RU" sz="2800" dirty="0"/>
              <a:t>файл</a:t>
            </a:r>
            <a:r>
              <a:rPr lang="en-US" altLang="ru-RU" sz="2800" dirty="0"/>
              <a:t>, </a:t>
            </a:r>
            <a:r>
              <a:rPr lang="ru-RU" altLang="ru-RU" sz="2800" dirty="0"/>
              <a:t>разделитель</a:t>
            </a:r>
            <a:r>
              <a:rPr lang="en-US" altLang="ru-RU" sz="2800" dirty="0"/>
              <a:t>, [</a:t>
            </a:r>
            <a:r>
              <a:rPr lang="ru-RU" altLang="ru-RU" sz="2800" dirty="0"/>
              <a:t>ФОРМАТ</a:t>
            </a:r>
            <a:r>
              <a:rPr lang="en-US" altLang="ru-RU" sz="2800" dirty="0"/>
              <a:t>] ASCII)) </a:t>
            </a:r>
            <a:r>
              <a:rPr lang="ru-RU" altLang="ru-RU" sz="2800" dirty="0"/>
              <a:t/>
            </a:r>
            <a:br>
              <a:rPr lang="ru-RU" altLang="ru-RU" sz="2800" dirty="0"/>
            </a:br>
            <a:r>
              <a:rPr lang="ru-RU" altLang="ru-RU" sz="2800" dirty="0"/>
              <a:t>	</a:t>
            </a:r>
            <a:r>
              <a:rPr lang="en-US" altLang="ru-RU" sz="2800" dirty="0"/>
              <a:t>ASCII</a:t>
            </a:r>
            <a:r>
              <a:rPr lang="ru-RU" altLang="ru-RU" sz="2800" dirty="0"/>
              <a:t> -</a:t>
            </a:r>
            <a:r>
              <a:rPr lang="en-US" altLang="ru-RU" sz="2400" dirty="0"/>
              <a:t> </a:t>
            </a:r>
            <a:r>
              <a:rPr lang="en-US" altLang="ru-RU" sz="2000" dirty="0">
                <a:solidFill>
                  <a:srgbClr val="3333FF"/>
                </a:solidFill>
              </a:rPr>
              <a:t>A</a:t>
            </a:r>
            <a:r>
              <a:rPr lang="en-US" altLang="ru-RU" sz="2000" dirty="0"/>
              <a:t>merican </a:t>
            </a:r>
            <a:r>
              <a:rPr lang="en-US" altLang="ru-RU" sz="2000" dirty="0">
                <a:solidFill>
                  <a:srgbClr val="3333FF"/>
                </a:solidFill>
              </a:rPr>
              <a:t>S</a:t>
            </a:r>
            <a:r>
              <a:rPr lang="en-US" altLang="ru-RU" sz="2000" dirty="0"/>
              <a:t>tandard </a:t>
            </a:r>
            <a:r>
              <a:rPr lang="en-US" altLang="ru-RU" sz="2000" dirty="0">
                <a:solidFill>
                  <a:srgbClr val="3333FF"/>
                </a:solidFill>
              </a:rPr>
              <a:t>C</a:t>
            </a:r>
            <a:r>
              <a:rPr lang="en-US" altLang="ru-RU" sz="2000" dirty="0"/>
              <a:t>ode for </a:t>
            </a:r>
            <a:r>
              <a:rPr lang="en-US" altLang="ru-RU" sz="2000" dirty="0">
                <a:solidFill>
                  <a:srgbClr val="3333FF"/>
                </a:solidFill>
              </a:rPr>
              <a:t>I</a:t>
            </a:r>
            <a:r>
              <a:rPr lang="en-US" altLang="ru-RU" sz="2000" dirty="0"/>
              <a:t>nformation </a:t>
            </a:r>
            <a:r>
              <a:rPr lang="en-US" altLang="ru-RU" sz="2000" dirty="0">
                <a:solidFill>
                  <a:srgbClr val="3333FF"/>
                </a:solidFill>
              </a:rPr>
              <a:t>I</a:t>
            </a:r>
            <a:r>
              <a:rPr lang="en-US" altLang="ru-RU" sz="2000" dirty="0"/>
              <a:t>nterchange</a:t>
            </a:r>
            <a:endParaRPr lang="ru-RU" altLang="ru-RU" sz="2000" dirty="0"/>
          </a:p>
        </p:txBody>
      </p:sp>
      <p:sp>
        <p:nvSpPr>
          <p:cNvPr id="6148" name="Номер слайда 3"/>
          <p:cNvSpPr>
            <a:spLocks noGrp="1"/>
          </p:cNvSpPr>
          <p:nvPr>
            <p:ph type="sldNum" sz="quarter" idx="11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F511C8B8-53BD-4E2A-A202-DD0911395171}" type="slidenum">
              <a:rPr lang="ru-RU" altLang="ru-RU" smtClean="0"/>
              <a:pPr/>
              <a:t>4</a:t>
            </a:fld>
            <a:endParaRPr lang="ru-RU" altLang="ru-RU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" dur="1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5" dur="1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Заголовок 1"/>
          <p:cNvSpPr>
            <a:spLocks noGrp="1"/>
          </p:cNvSpPr>
          <p:nvPr>
            <p:ph type="title"/>
          </p:nvPr>
        </p:nvSpPr>
        <p:spPr>
          <a:xfrm>
            <a:off x="539750" y="0"/>
            <a:ext cx="8229600" cy="576263"/>
          </a:xfrm>
        </p:spPr>
        <p:txBody>
          <a:bodyPr/>
          <a:lstStyle/>
          <a:p>
            <a:pPr algn="ctr"/>
            <a:r>
              <a:rPr lang="en-US" altLang="ru-RU" sz="4000" dirty="0">
                <a:solidFill>
                  <a:schemeClr val="bg2"/>
                </a:solidFill>
              </a:rPr>
              <a:t>INSERT. </a:t>
            </a:r>
            <a:r>
              <a:rPr lang="ru-RU" altLang="ru-RU" sz="4000" dirty="0">
                <a:solidFill>
                  <a:schemeClr val="bg2"/>
                </a:solidFill>
              </a:rPr>
              <a:t>Пример</a:t>
            </a:r>
            <a:r>
              <a:rPr lang="ru-RU" altLang="ru-RU" sz="4000" dirty="0"/>
              <a:t> 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0" y="620713"/>
            <a:ext cx="9144000" cy="5976937"/>
          </a:xfrm>
        </p:spPr>
        <p:txBody>
          <a:bodyPr>
            <a:normAutofit fontScale="92500" lnSpcReduction="20000"/>
          </a:bodyPr>
          <a:lstStyle/>
          <a:p>
            <a:pPr marL="457200" indent="-457200">
              <a:lnSpc>
                <a:spcPct val="110000"/>
              </a:lnSpc>
              <a:spcBef>
                <a:spcPts val="1200"/>
              </a:spcBef>
              <a:defRPr/>
            </a:pPr>
            <a:r>
              <a:rPr lang="ru-RU" altLang="ru-RU" sz="2000" dirty="0"/>
              <a:t>Можно сделать вставку результата запроса (пример 1)</a:t>
            </a:r>
          </a:p>
          <a:p>
            <a:pPr marL="457200" indent="-457200">
              <a:lnSpc>
                <a:spcPct val="110000"/>
              </a:lnSpc>
              <a:spcBef>
                <a:spcPts val="0"/>
              </a:spcBef>
              <a:buFont typeface="Wingdings" pitchFamily="2" charset="2"/>
              <a:buNone/>
              <a:defRPr/>
            </a:pPr>
            <a:r>
              <a:rPr lang="ru-RU" altLang="ru-RU" sz="2000" dirty="0">
                <a:solidFill>
                  <a:schemeClr val="bg2"/>
                </a:solidFill>
              </a:rPr>
              <a:t>	INSERT INTO</a:t>
            </a:r>
            <a:r>
              <a:rPr lang="ru-RU" altLang="ru-RU" sz="2000" dirty="0"/>
              <a:t> ПРОДАВЦЫ</a:t>
            </a:r>
            <a:r>
              <a:rPr lang="en-US" altLang="ru-RU" sz="2000" dirty="0"/>
              <a:t>_</a:t>
            </a:r>
            <a:r>
              <a:rPr lang="ru-RU" altLang="ru-RU" sz="2000" dirty="0"/>
              <a:t>НСК</a:t>
            </a:r>
            <a:endParaRPr lang="en-US" altLang="ru-RU" sz="2000" dirty="0"/>
          </a:p>
          <a:p>
            <a:pPr marL="457200" indent="-457200">
              <a:lnSpc>
                <a:spcPct val="110000"/>
              </a:lnSpc>
              <a:spcBef>
                <a:spcPts val="0"/>
              </a:spcBef>
              <a:buFont typeface="Wingdings" pitchFamily="2" charset="2"/>
              <a:buNone/>
              <a:defRPr/>
            </a:pPr>
            <a:r>
              <a:rPr lang="en-US" altLang="ru-RU" sz="2000" dirty="0"/>
              <a:t>	SELECT *</a:t>
            </a:r>
          </a:p>
          <a:p>
            <a:pPr marL="457200" indent="-457200">
              <a:lnSpc>
                <a:spcPct val="110000"/>
              </a:lnSpc>
              <a:spcBef>
                <a:spcPts val="0"/>
              </a:spcBef>
              <a:buFont typeface="Wingdings" pitchFamily="2" charset="2"/>
              <a:buNone/>
              <a:defRPr/>
            </a:pPr>
            <a:r>
              <a:rPr lang="en-US" altLang="ru-RU" sz="2000" dirty="0"/>
              <a:t>	FROM </a:t>
            </a:r>
            <a:r>
              <a:rPr lang="ru-RU" altLang="ru-RU" sz="2000" dirty="0"/>
              <a:t>ПРОДАВЦЫ</a:t>
            </a:r>
            <a:endParaRPr lang="en-US" altLang="ru-RU" sz="2000" dirty="0"/>
          </a:p>
          <a:p>
            <a:pPr marL="457200" indent="-457200">
              <a:lnSpc>
                <a:spcPct val="110000"/>
              </a:lnSpc>
              <a:spcBef>
                <a:spcPts val="0"/>
              </a:spcBef>
              <a:buFont typeface="Wingdings" pitchFamily="2" charset="2"/>
              <a:buNone/>
              <a:defRPr/>
            </a:pPr>
            <a:r>
              <a:rPr lang="en-US" altLang="ru-RU" sz="2000" dirty="0"/>
              <a:t>	WHERE </a:t>
            </a:r>
            <a:r>
              <a:rPr lang="ru-RU" altLang="ru-RU" sz="2000" dirty="0"/>
              <a:t>Город</a:t>
            </a:r>
            <a:r>
              <a:rPr lang="en-US" altLang="ru-RU" sz="2000" dirty="0"/>
              <a:t> = ‘</a:t>
            </a:r>
            <a:r>
              <a:rPr lang="ru-RU" altLang="ru-RU" sz="2000" dirty="0"/>
              <a:t>Новосибирск</a:t>
            </a:r>
            <a:r>
              <a:rPr lang="en-US" altLang="ru-RU" sz="2000" dirty="0"/>
              <a:t>’</a:t>
            </a:r>
          </a:p>
          <a:p>
            <a:pPr marL="457200" indent="-457200">
              <a:lnSpc>
                <a:spcPct val="110000"/>
              </a:lnSpc>
              <a:spcBef>
                <a:spcPts val="1200"/>
              </a:spcBef>
              <a:defRPr/>
            </a:pPr>
            <a:r>
              <a:rPr lang="ru-RU" altLang="ru-RU" sz="2000" dirty="0"/>
              <a:t>ПРОДАВЦЫ</a:t>
            </a:r>
            <a:r>
              <a:rPr lang="en-US" altLang="ru-RU" sz="2000" dirty="0"/>
              <a:t>_</a:t>
            </a:r>
            <a:r>
              <a:rPr lang="ru-RU" altLang="ru-RU" sz="2000" dirty="0"/>
              <a:t>НСК при этом независимая таблица</a:t>
            </a:r>
            <a:r>
              <a:rPr lang="en-US" altLang="ru-RU" sz="2000" dirty="0"/>
              <a:t>.</a:t>
            </a:r>
            <a:r>
              <a:rPr lang="ru-RU" altLang="ru-RU" sz="2000" dirty="0"/>
              <a:t> </a:t>
            </a:r>
          </a:p>
          <a:p>
            <a:pPr marL="457200" indent="-457200">
              <a:lnSpc>
                <a:spcPct val="110000"/>
              </a:lnSpc>
              <a:spcBef>
                <a:spcPts val="1200"/>
              </a:spcBef>
              <a:defRPr/>
            </a:pPr>
            <a:r>
              <a:rPr lang="ru-RU" altLang="ru-RU" sz="2000" dirty="0"/>
              <a:t>Какой должна быть структура ПРОДАВЦЫ</a:t>
            </a:r>
            <a:r>
              <a:rPr lang="en-US" altLang="ru-RU" sz="2000" dirty="0"/>
              <a:t>_</a:t>
            </a:r>
            <a:r>
              <a:rPr lang="ru-RU" altLang="ru-RU" sz="2000" dirty="0"/>
              <a:t>НСК, чтобы выполнился оператор </a:t>
            </a:r>
            <a:r>
              <a:rPr lang="ru-RU" altLang="ru-RU" sz="2000" dirty="0">
                <a:solidFill>
                  <a:schemeClr val="bg2"/>
                </a:solidFill>
              </a:rPr>
              <a:t>INSERT</a:t>
            </a:r>
            <a:r>
              <a:rPr lang="ru-RU" altLang="ru-RU" sz="2000" dirty="0"/>
              <a:t> ?</a:t>
            </a:r>
          </a:p>
          <a:p>
            <a:pPr marL="457200" indent="-4572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defRPr/>
            </a:pPr>
            <a:r>
              <a:rPr lang="ru-RU" altLang="ru-RU" sz="2000" dirty="0"/>
              <a:t>Можно переместить из ПРОДАВЦЫ</a:t>
            </a:r>
            <a:r>
              <a:rPr lang="en-US" altLang="ru-RU" sz="2000" dirty="0"/>
              <a:t> </a:t>
            </a:r>
            <a:r>
              <a:rPr lang="ru-RU" altLang="ru-RU" sz="2000" dirty="0"/>
              <a:t>в ПРОДАВЦЫ</a:t>
            </a:r>
            <a:r>
              <a:rPr lang="en-US" altLang="ru-RU" sz="2000" dirty="0"/>
              <a:t>_</a:t>
            </a:r>
            <a:r>
              <a:rPr lang="ru-RU" altLang="ru-RU" sz="2000" dirty="0"/>
              <a:t>НСК </a:t>
            </a:r>
            <a:r>
              <a:rPr lang="ru-RU" altLang="ru-RU" sz="2000" dirty="0">
                <a:solidFill>
                  <a:srgbClr val="FF0000"/>
                </a:solidFill>
              </a:rPr>
              <a:t>отдельные столбцы</a:t>
            </a:r>
            <a:r>
              <a:rPr lang="ru-RU" altLang="ru-RU" sz="2000" dirty="0"/>
              <a:t>,</a:t>
            </a:r>
            <a:r>
              <a:rPr lang="en-US" altLang="ru-RU" sz="2000" dirty="0"/>
              <a:t> </a:t>
            </a:r>
            <a:r>
              <a:rPr lang="ru-RU" altLang="ru-RU" sz="2000" dirty="0"/>
              <a:t>изменяя при этом значения столбцов, например Комм (пример 2)</a:t>
            </a:r>
          </a:p>
          <a:p>
            <a:pPr marL="457200" indent="-457200">
              <a:lnSpc>
                <a:spcPct val="110000"/>
              </a:lnSpc>
              <a:spcBef>
                <a:spcPts val="0"/>
              </a:spcBef>
              <a:buNone/>
              <a:defRPr/>
            </a:pPr>
            <a:r>
              <a:rPr lang="ru-RU" altLang="ru-RU" sz="2000" dirty="0">
                <a:solidFill>
                  <a:schemeClr val="bg2"/>
                </a:solidFill>
              </a:rPr>
              <a:t>	INSERT INTO </a:t>
            </a:r>
            <a:r>
              <a:rPr lang="ru-RU" altLang="ru-RU" sz="2000" dirty="0"/>
              <a:t>ПРОДАВЦЫ</a:t>
            </a:r>
            <a:r>
              <a:rPr lang="en-US" altLang="ru-RU" sz="2000" dirty="0"/>
              <a:t>_</a:t>
            </a:r>
            <a:r>
              <a:rPr lang="ru-RU" altLang="ru-RU" sz="2000" dirty="0"/>
              <a:t>НСК</a:t>
            </a:r>
          </a:p>
          <a:p>
            <a:pPr marL="457200" indent="-457200">
              <a:lnSpc>
                <a:spcPct val="110000"/>
              </a:lnSpc>
              <a:spcBef>
                <a:spcPts val="0"/>
              </a:spcBef>
              <a:buNone/>
              <a:defRPr/>
            </a:pPr>
            <a:r>
              <a:rPr lang="en-US" altLang="ru-RU" sz="2000" dirty="0"/>
              <a:t>	SELECT </a:t>
            </a:r>
            <a:r>
              <a:rPr lang="ru-RU" altLang="ru-RU" sz="2000" dirty="0"/>
              <a:t>	</a:t>
            </a:r>
            <a:r>
              <a:rPr lang="ru-RU" altLang="ru-RU" sz="2000" dirty="0" err="1"/>
              <a:t>НомПР</a:t>
            </a:r>
            <a:r>
              <a:rPr lang="en-US" altLang="ru-RU" sz="2000" dirty="0"/>
              <a:t>, </a:t>
            </a:r>
            <a:r>
              <a:rPr lang="ru-RU" altLang="ru-RU" sz="2000" dirty="0" err="1"/>
              <a:t>ИмяПР</a:t>
            </a:r>
            <a:r>
              <a:rPr lang="en-US" altLang="ru-RU" sz="2000" dirty="0"/>
              <a:t>, </a:t>
            </a:r>
            <a:r>
              <a:rPr lang="ru-RU" altLang="ru-RU" sz="2000" dirty="0"/>
              <a:t>Комм</a:t>
            </a:r>
            <a:r>
              <a:rPr lang="en-US" altLang="ru-RU" sz="2000" dirty="0"/>
              <a:t>*1.1</a:t>
            </a:r>
          </a:p>
          <a:p>
            <a:pPr marL="457200" indent="-457200">
              <a:lnSpc>
                <a:spcPct val="110000"/>
              </a:lnSpc>
              <a:spcBef>
                <a:spcPts val="0"/>
              </a:spcBef>
              <a:buNone/>
              <a:defRPr/>
            </a:pPr>
            <a:r>
              <a:rPr lang="en-US" altLang="ru-RU" sz="2000" dirty="0"/>
              <a:t>	FROM </a:t>
            </a:r>
            <a:r>
              <a:rPr lang="ru-RU" altLang="ru-RU" sz="2000" dirty="0"/>
              <a:t>	ПРОДАВЦЫ</a:t>
            </a:r>
            <a:endParaRPr lang="en-US" altLang="ru-RU" sz="2000" dirty="0"/>
          </a:p>
          <a:p>
            <a:pPr marL="457200" indent="-457200">
              <a:lnSpc>
                <a:spcPct val="110000"/>
              </a:lnSpc>
              <a:spcBef>
                <a:spcPts val="0"/>
              </a:spcBef>
              <a:buFont typeface="Wingdings" pitchFamily="2" charset="2"/>
              <a:buNone/>
              <a:defRPr/>
            </a:pPr>
            <a:r>
              <a:rPr lang="en-US" altLang="ru-RU" sz="2000" dirty="0"/>
              <a:t>	WHERE </a:t>
            </a:r>
            <a:r>
              <a:rPr lang="ru-RU" altLang="ru-RU" sz="2000" dirty="0"/>
              <a:t>	Город</a:t>
            </a:r>
            <a:r>
              <a:rPr lang="en-US" altLang="ru-RU" sz="2000" dirty="0"/>
              <a:t> = ‘</a:t>
            </a:r>
            <a:r>
              <a:rPr lang="ru-RU" altLang="ru-RU" sz="2000" dirty="0"/>
              <a:t>Новосибирск</a:t>
            </a:r>
            <a:r>
              <a:rPr lang="en-US" altLang="ru-RU" sz="2000" dirty="0"/>
              <a:t>’</a:t>
            </a:r>
            <a:endParaRPr lang="ru-RU" altLang="ru-RU" sz="2000" dirty="0"/>
          </a:p>
          <a:p>
            <a:pPr marL="457200" indent="-457200">
              <a:lnSpc>
                <a:spcPct val="110000"/>
              </a:lnSpc>
              <a:spcBef>
                <a:spcPts val="1200"/>
              </a:spcBef>
              <a:defRPr/>
            </a:pPr>
            <a:r>
              <a:rPr lang="ru-RU" altLang="ru-RU" sz="2100" dirty="0"/>
              <a:t>Структура ПРОДАВЦЫ</a:t>
            </a:r>
            <a:r>
              <a:rPr lang="en-US" altLang="ru-RU" sz="2100" dirty="0"/>
              <a:t>_</a:t>
            </a:r>
            <a:r>
              <a:rPr lang="ru-RU" altLang="ru-RU" sz="2100" dirty="0"/>
              <a:t>НСК</a:t>
            </a:r>
          </a:p>
          <a:p>
            <a:pPr lvl="1">
              <a:lnSpc>
                <a:spcPct val="110000"/>
              </a:lnSpc>
              <a:spcBef>
                <a:spcPts val="0"/>
              </a:spcBef>
              <a:buFont typeface="Wingdings" panose="05000000000000000000" pitchFamily="2" charset="2"/>
              <a:buChar char="ü"/>
              <a:defRPr/>
            </a:pPr>
            <a:r>
              <a:rPr lang="ru-RU" altLang="ru-RU" sz="1900" dirty="0"/>
              <a:t>Должна совпадать со структурой ПРОДАВЦЫ (пример 1), </a:t>
            </a:r>
          </a:p>
          <a:p>
            <a:pPr lvl="1">
              <a:lnSpc>
                <a:spcPct val="110000"/>
              </a:lnSpc>
              <a:spcBef>
                <a:spcPts val="0"/>
              </a:spcBef>
              <a:buFont typeface="Wingdings" panose="05000000000000000000" pitchFamily="2" charset="2"/>
              <a:buChar char="ü"/>
              <a:defRPr/>
            </a:pPr>
            <a:r>
              <a:rPr lang="ru-RU" altLang="ru-RU" sz="1900" dirty="0"/>
              <a:t>Содержать только 3 колонки (без «Город», пример 2)</a:t>
            </a:r>
            <a:endParaRPr lang="en-US" altLang="ru-RU" sz="1900" dirty="0"/>
          </a:p>
          <a:p>
            <a:pPr marL="457200" indent="-457200">
              <a:lnSpc>
                <a:spcPct val="110000"/>
              </a:lnSpc>
              <a:spcBef>
                <a:spcPts val="1200"/>
              </a:spcBef>
              <a:defRPr/>
            </a:pPr>
            <a:r>
              <a:rPr lang="ru-RU" altLang="ru-RU" sz="2000" dirty="0"/>
              <a:t>Старые значения комиссионных по прежнему останутся в таблице ПРОДАВЦЫ</a:t>
            </a:r>
            <a:endParaRPr lang="en-US" altLang="ru-RU" sz="2000" dirty="0"/>
          </a:p>
          <a:p>
            <a:pPr marL="457200" indent="-457200">
              <a:lnSpc>
                <a:spcPct val="110000"/>
              </a:lnSpc>
              <a:spcBef>
                <a:spcPts val="1200"/>
              </a:spcBef>
              <a:buFont typeface="Wingdings" pitchFamily="2" charset="2"/>
              <a:buNone/>
              <a:defRPr/>
            </a:pPr>
            <a:endParaRPr lang="ru-RU" altLang="ru-RU" sz="2000" dirty="0"/>
          </a:p>
        </p:txBody>
      </p:sp>
      <p:sp>
        <p:nvSpPr>
          <p:cNvPr id="7172" name="Номер слайда 3"/>
          <p:cNvSpPr>
            <a:spLocks noGrp="1"/>
          </p:cNvSpPr>
          <p:nvPr>
            <p:ph type="sldNum" sz="quarter" idx="11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E0C09334-CA74-4C39-B2B9-B7FAC9520923}" type="slidenum">
              <a:rPr lang="ru-RU" altLang="ru-RU" smtClean="0"/>
              <a:pPr/>
              <a:t>5</a:t>
            </a:fld>
            <a:endParaRPr lang="ru-RU" altLang="ru-RU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8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6" dur="500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Заголовок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65175"/>
          </a:xfrm>
        </p:spPr>
        <p:txBody>
          <a:bodyPr/>
          <a:lstStyle/>
          <a:p>
            <a:pPr algn="ctr"/>
            <a:r>
              <a:rPr lang="en-US" altLang="ru-RU">
                <a:solidFill>
                  <a:schemeClr val="bg2"/>
                </a:solidFill>
              </a:rPr>
              <a:t>DELETE</a:t>
            </a:r>
            <a:endParaRPr lang="ru-RU" altLang="ru-RU"/>
          </a:p>
        </p:txBody>
      </p:sp>
      <p:sp>
        <p:nvSpPr>
          <p:cNvPr id="4" name="Rectangle 3"/>
          <p:cNvSpPr>
            <a:spLocks noGrp="1" noChangeArrowheads="1"/>
          </p:cNvSpPr>
          <p:nvPr>
            <p:ph idx="1"/>
          </p:nvPr>
        </p:nvSpPr>
        <p:spPr>
          <a:xfrm>
            <a:off x="395536" y="836613"/>
            <a:ext cx="8569077" cy="5868987"/>
          </a:xfrm>
        </p:spPr>
        <p:txBody>
          <a:bodyPr>
            <a:normAutofit fontScale="92500" lnSpcReduction="20000"/>
          </a:bodyPr>
          <a:lstStyle/>
          <a:p>
            <a:pPr marL="609600" indent="-609600">
              <a:buFont typeface="Wingdings" pitchFamily="2" charset="2"/>
              <a:buNone/>
              <a:defRPr/>
            </a:pPr>
            <a:r>
              <a:rPr lang="en-US" sz="2800" b="1" dirty="0"/>
              <a:t>DELETE </a:t>
            </a:r>
            <a:r>
              <a:rPr lang="ru-RU" sz="2800" b="1" dirty="0"/>
              <a:t>– </a:t>
            </a:r>
            <a:r>
              <a:rPr lang="ru-RU" sz="2800" dirty="0"/>
              <a:t>удаление данных из таблицы БД</a:t>
            </a:r>
            <a:endParaRPr lang="en-US" sz="2800" dirty="0"/>
          </a:p>
          <a:p>
            <a:pPr marL="609600" indent="-609600">
              <a:buFont typeface="Wingdings" pitchFamily="2" charset="2"/>
              <a:buNone/>
              <a:defRPr/>
            </a:pPr>
            <a:r>
              <a:rPr lang="ru-RU" sz="2800" dirty="0">
                <a:solidFill>
                  <a:schemeClr val="bg2"/>
                </a:solidFill>
              </a:rPr>
              <a:t>Синтаксис оператора</a:t>
            </a:r>
            <a:endParaRPr lang="en-US" sz="2800" dirty="0">
              <a:solidFill>
                <a:schemeClr val="bg2"/>
              </a:solidFill>
            </a:endParaRPr>
          </a:p>
          <a:p>
            <a:pPr>
              <a:buFont typeface="Wingdings" pitchFamily="2" charset="2"/>
              <a:buNone/>
              <a:defRPr/>
            </a:pPr>
            <a:r>
              <a:rPr lang="en-US" sz="2800" dirty="0"/>
              <a:t>DELETE   FROM &lt;</a:t>
            </a:r>
            <a:r>
              <a:rPr lang="ru-RU" sz="2800" dirty="0"/>
              <a:t>имя таблицы</a:t>
            </a:r>
            <a:r>
              <a:rPr lang="en-US" sz="2800" dirty="0"/>
              <a:t>&gt;</a:t>
            </a:r>
            <a:br>
              <a:rPr lang="en-US" sz="2800" dirty="0"/>
            </a:br>
            <a:r>
              <a:rPr lang="en-US" sz="2800" dirty="0"/>
              <a:t>     	</a:t>
            </a:r>
            <a:r>
              <a:rPr lang="en-US" sz="2800" dirty="0">
                <a:solidFill>
                  <a:schemeClr val="bg2"/>
                </a:solidFill>
              </a:rPr>
              <a:t>[ </a:t>
            </a:r>
            <a:r>
              <a:rPr lang="en-US" sz="2800" dirty="0"/>
              <a:t>WHERE </a:t>
            </a:r>
            <a:r>
              <a:rPr lang="en-US" sz="2800" dirty="0">
                <a:solidFill>
                  <a:srgbClr val="3333FF"/>
                </a:solidFill>
              </a:rPr>
              <a:t>&lt;</a:t>
            </a:r>
            <a:r>
              <a:rPr lang="ru-RU" sz="2800" dirty="0">
                <a:solidFill>
                  <a:srgbClr val="3333FF"/>
                </a:solidFill>
              </a:rPr>
              <a:t>предикат</a:t>
            </a:r>
            <a:r>
              <a:rPr lang="en-US" sz="2800" dirty="0">
                <a:solidFill>
                  <a:srgbClr val="3333FF"/>
                </a:solidFill>
              </a:rPr>
              <a:t>&gt;</a:t>
            </a:r>
            <a:r>
              <a:rPr lang="ru-RU" sz="2800" dirty="0"/>
              <a:t>	</a:t>
            </a:r>
          </a:p>
          <a:p>
            <a:pPr marL="609600" indent="-609600">
              <a:buFont typeface="Wingdings" pitchFamily="2" charset="2"/>
              <a:buNone/>
              <a:defRPr/>
            </a:pPr>
            <a:r>
              <a:rPr lang="ru-RU" sz="2800" dirty="0"/>
              <a:t>		 	</a:t>
            </a:r>
            <a:r>
              <a:rPr lang="en-US" sz="2800" dirty="0"/>
              <a:t>| WHERE </a:t>
            </a:r>
            <a:r>
              <a:rPr lang="en-US" sz="2800" dirty="0">
                <a:solidFill>
                  <a:srgbClr val="3333FF"/>
                </a:solidFill>
              </a:rPr>
              <a:t>CURRENT OF &lt;</a:t>
            </a:r>
            <a:r>
              <a:rPr lang="ru-RU" sz="2800" dirty="0">
                <a:solidFill>
                  <a:srgbClr val="3333FF"/>
                </a:solidFill>
              </a:rPr>
              <a:t>имя курсора</a:t>
            </a:r>
            <a:r>
              <a:rPr lang="en-US" sz="2800" dirty="0">
                <a:solidFill>
                  <a:srgbClr val="3333FF"/>
                </a:solidFill>
              </a:rPr>
              <a:t>&gt;</a:t>
            </a:r>
            <a:r>
              <a:rPr lang="ru-RU" sz="2800" dirty="0">
                <a:solidFill>
                  <a:srgbClr val="3333FF"/>
                </a:solidFill>
              </a:rPr>
              <a:t> </a:t>
            </a:r>
            <a:r>
              <a:rPr lang="en-US" sz="2800" dirty="0">
                <a:solidFill>
                  <a:schemeClr val="bg2"/>
                </a:solidFill>
              </a:rPr>
              <a:t>]</a:t>
            </a:r>
            <a:endParaRPr lang="ru-RU" sz="2800" dirty="0">
              <a:solidFill>
                <a:schemeClr val="bg2"/>
              </a:solidFill>
            </a:endParaRPr>
          </a:p>
          <a:p>
            <a:pPr marL="609600" indent="-609600">
              <a:buFont typeface="Wingdings" pitchFamily="2" charset="2"/>
              <a:buNone/>
              <a:defRPr/>
            </a:pPr>
            <a:endParaRPr lang="en-US" sz="2800" dirty="0">
              <a:solidFill>
                <a:schemeClr val="bg2"/>
              </a:solidFill>
            </a:endParaRPr>
          </a:p>
          <a:p>
            <a:pPr>
              <a:buFont typeface="Wingdings" pitchFamily="2" charset="2"/>
              <a:buChar char="ü"/>
              <a:defRPr/>
            </a:pPr>
            <a:r>
              <a:rPr lang="en-US" dirty="0"/>
              <a:t>DELETE   FROM  </a:t>
            </a:r>
            <a:r>
              <a:rPr lang="ru-RU" altLang="ru-RU" dirty="0"/>
              <a:t>ПРОДАВЦЫ</a:t>
            </a:r>
            <a:endParaRPr lang="en-US" altLang="ru-RU" dirty="0"/>
          </a:p>
          <a:p>
            <a:pPr marL="0" indent="0">
              <a:buFont typeface="Wingdings" pitchFamily="2" charset="2"/>
              <a:buNone/>
              <a:defRPr/>
            </a:pPr>
            <a:r>
              <a:rPr lang="en-US" dirty="0"/>
              <a:t>	</a:t>
            </a:r>
            <a:r>
              <a:rPr lang="ru-RU" dirty="0"/>
              <a:t>	   </a:t>
            </a:r>
            <a:r>
              <a:rPr lang="en-US" dirty="0"/>
              <a:t>WHERE </a:t>
            </a:r>
            <a:r>
              <a:rPr lang="ru-RU" dirty="0" err="1"/>
              <a:t>ИмяПР</a:t>
            </a:r>
            <a:r>
              <a:rPr lang="en-US" dirty="0"/>
              <a:t> = ‘</a:t>
            </a:r>
            <a:r>
              <a:rPr lang="ru-RU" dirty="0"/>
              <a:t>Иванов</a:t>
            </a:r>
            <a:r>
              <a:rPr lang="en-US" dirty="0"/>
              <a:t>’;</a:t>
            </a:r>
            <a:endParaRPr lang="ru-RU" dirty="0"/>
          </a:p>
          <a:p>
            <a:pPr marL="0" indent="0">
              <a:buFont typeface="Wingdings" pitchFamily="2" charset="2"/>
              <a:buNone/>
              <a:defRPr/>
            </a:pPr>
            <a:endParaRPr lang="en-US" dirty="0"/>
          </a:p>
          <a:p>
            <a:pPr>
              <a:buFont typeface="Wingdings" pitchFamily="2" charset="2"/>
              <a:buChar char="ü"/>
              <a:defRPr/>
            </a:pPr>
            <a:r>
              <a:rPr lang="en-US" dirty="0"/>
              <a:t>DELETE   FROM  </a:t>
            </a:r>
            <a:r>
              <a:rPr lang="ru-RU" altLang="ru-RU" dirty="0"/>
              <a:t>ПРОДАВЦЫ</a:t>
            </a:r>
            <a:endParaRPr lang="en-US" altLang="ru-RU" dirty="0"/>
          </a:p>
          <a:p>
            <a:pPr marL="0" indent="0">
              <a:buFont typeface="Wingdings" pitchFamily="2" charset="2"/>
              <a:buNone/>
              <a:defRPr/>
            </a:pPr>
            <a:r>
              <a:rPr lang="en-US" dirty="0"/>
              <a:t>	</a:t>
            </a:r>
            <a:r>
              <a:rPr lang="ru-RU" dirty="0"/>
              <a:t>	   </a:t>
            </a:r>
            <a:r>
              <a:rPr lang="en-US" dirty="0"/>
              <a:t>WHERE </a:t>
            </a:r>
            <a:r>
              <a:rPr lang="ru-RU" altLang="ru-RU" dirty="0"/>
              <a:t>Комм</a:t>
            </a:r>
            <a:r>
              <a:rPr lang="en-US" dirty="0"/>
              <a:t> &lt; 0;</a:t>
            </a:r>
          </a:p>
          <a:p>
            <a:pPr marL="0" indent="0">
              <a:buFont typeface="Wingdings" pitchFamily="2" charset="2"/>
              <a:buNone/>
              <a:defRPr/>
            </a:pPr>
            <a:endParaRPr lang="ru-RU" dirty="0"/>
          </a:p>
          <a:p>
            <a:pPr>
              <a:buFont typeface="Wingdings" pitchFamily="2" charset="2"/>
              <a:buChar char="ü"/>
              <a:defRPr/>
            </a:pPr>
            <a:r>
              <a:rPr lang="en-US" dirty="0"/>
              <a:t>DELETE   FROM  </a:t>
            </a:r>
            <a:r>
              <a:rPr lang="ru-RU" altLang="ru-RU" dirty="0"/>
              <a:t>ПРОДАВЦЫ</a:t>
            </a:r>
            <a:r>
              <a:rPr lang="en-US" altLang="ru-RU" dirty="0"/>
              <a:t>;</a:t>
            </a:r>
          </a:p>
          <a:p>
            <a:pPr marL="609600" indent="-609600">
              <a:buFont typeface="Wingdings" pitchFamily="2" charset="2"/>
              <a:buNone/>
              <a:defRPr/>
            </a:pPr>
            <a:endParaRPr lang="ru-RU" dirty="0">
              <a:solidFill>
                <a:schemeClr val="bg2"/>
              </a:solidFill>
            </a:endParaRPr>
          </a:p>
        </p:txBody>
      </p:sp>
      <p:sp>
        <p:nvSpPr>
          <p:cNvPr id="8196" name="Номер слайда 4"/>
          <p:cNvSpPr>
            <a:spLocks noGrp="1"/>
          </p:cNvSpPr>
          <p:nvPr>
            <p:ph type="sldNum" sz="quarter" idx="11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F0CBB961-1596-46F9-B1A1-DEB09C163669}" type="slidenum">
              <a:rPr lang="ru-RU" altLang="ru-RU" smtClean="0"/>
              <a:pPr/>
              <a:t>6</a:t>
            </a:fld>
            <a:endParaRPr lang="ru-RU" altLang="ru-RU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Заголовок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00113"/>
          </a:xfrm>
        </p:spPr>
        <p:txBody>
          <a:bodyPr/>
          <a:lstStyle/>
          <a:p>
            <a:pPr algn="ctr"/>
            <a:r>
              <a:rPr lang="en-US" altLang="ru-RU">
                <a:solidFill>
                  <a:schemeClr val="bg2"/>
                </a:solidFill>
              </a:rPr>
              <a:t>UPDATE</a:t>
            </a:r>
            <a:endParaRPr lang="ru-RU" altLang="ru-RU"/>
          </a:p>
        </p:txBody>
      </p:sp>
      <p:sp>
        <p:nvSpPr>
          <p:cNvPr id="4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071563"/>
            <a:ext cx="8578850" cy="5526087"/>
          </a:xfrm>
        </p:spPr>
        <p:txBody>
          <a:bodyPr>
            <a:normAutofit fontScale="92500" lnSpcReduction="20000"/>
          </a:bodyPr>
          <a:lstStyle/>
          <a:p>
            <a:pPr marL="609600" indent="-609600">
              <a:buFont typeface="Wingdings" pitchFamily="2" charset="2"/>
              <a:buNone/>
              <a:defRPr/>
            </a:pPr>
            <a:r>
              <a:rPr lang="en-US" altLang="ru-RU" sz="2800" b="1" dirty="0"/>
              <a:t>UPDATE </a:t>
            </a:r>
            <a:r>
              <a:rPr lang="ru-RU" altLang="ru-RU" sz="2800" b="1" dirty="0"/>
              <a:t>– </a:t>
            </a:r>
            <a:r>
              <a:rPr lang="ru-RU" altLang="ru-RU" sz="2800" dirty="0"/>
              <a:t>изменение данных в таблице БД</a:t>
            </a:r>
            <a:endParaRPr lang="en-US" altLang="ru-RU" sz="2800" dirty="0"/>
          </a:p>
          <a:p>
            <a:pPr marL="609600" indent="-609600">
              <a:buFont typeface="Wingdings" pitchFamily="2" charset="2"/>
              <a:buNone/>
              <a:defRPr/>
            </a:pPr>
            <a:r>
              <a:rPr lang="ru-RU" sz="2800" dirty="0">
                <a:solidFill>
                  <a:schemeClr val="bg2"/>
                </a:solidFill>
              </a:rPr>
              <a:t>Синтаксис оператора</a:t>
            </a:r>
            <a:endParaRPr lang="en-US" sz="2800" dirty="0">
              <a:solidFill>
                <a:schemeClr val="bg2"/>
              </a:solidFill>
            </a:endParaRPr>
          </a:p>
          <a:p>
            <a:pPr marL="609600" indent="-609600">
              <a:buFont typeface="Wingdings" pitchFamily="2" charset="2"/>
              <a:buNone/>
              <a:defRPr/>
            </a:pPr>
            <a:r>
              <a:rPr lang="en-US" altLang="ru-RU" sz="2800" dirty="0"/>
              <a:t>UPDATE &lt;</a:t>
            </a:r>
            <a:r>
              <a:rPr lang="ru-RU" altLang="ru-RU" sz="2800" dirty="0"/>
              <a:t>имя таблицы</a:t>
            </a:r>
            <a:r>
              <a:rPr lang="en-US" altLang="ru-RU" sz="2800" dirty="0"/>
              <a:t>&gt;</a:t>
            </a:r>
            <a:endParaRPr lang="ru-RU" altLang="ru-RU" sz="2800" dirty="0"/>
          </a:p>
          <a:p>
            <a:pPr marL="609600" indent="-609600">
              <a:buFont typeface="Wingdings" pitchFamily="2" charset="2"/>
              <a:buNone/>
              <a:defRPr/>
            </a:pPr>
            <a:r>
              <a:rPr lang="en-US" altLang="ru-RU" sz="2800" dirty="0"/>
              <a:t>	SET</a:t>
            </a:r>
            <a:r>
              <a:rPr lang="ru-RU" altLang="ru-RU" sz="2800" dirty="0"/>
              <a:t> </a:t>
            </a:r>
            <a:r>
              <a:rPr lang="en-US" altLang="ru-RU" sz="2800" dirty="0"/>
              <a:t>&lt;</a:t>
            </a:r>
            <a:r>
              <a:rPr lang="ru-RU" altLang="ru-RU" sz="2400" dirty="0"/>
              <a:t>имя столбца</a:t>
            </a:r>
            <a:r>
              <a:rPr lang="en-US" altLang="ru-RU" sz="2800" dirty="0"/>
              <a:t>&gt; = </a:t>
            </a:r>
            <a:r>
              <a:rPr lang="en-US" altLang="ru-RU" sz="2800" dirty="0">
                <a:solidFill>
                  <a:schemeClr val="bg2"/>
                </a:solidFill>
              </a:rPr>
              <a:t>{</a:t>
            </a:r>
            <a:r>
              <a:rPr lang="en-US" altLang="ru-RU" sz="2800" dirty="0"/>
              <a:t>&lt;</a:t>
            </a:r>
            <a:r>
              <a:rPr lang="ru-RU" altLang="ru-RU" sz="2000" dirty="0"/>
              <a:t>выражение для вычисления </a:t>
            </a:r>
            <a:r>
              <a:rPr lang="en-US" altLang="ru-RU" sz="2000" dirty="0"/>
              <a:t>					       </a:t>
            </a:r>
            <a:r>
              <a:rPr lang="ru-RU" altLang="ru-RU" sz="2000" dirty="0"/>
              <a:t>значения столбца</a:t>
            </a:r>
            <a:r>
              <a:rPr lang="en-US" altLang="ru-RU" sz="2800" dirty="0"/>
              <a:t>&gt;</a:t>
            </a:r>
            <a:endParaRPr lang="ru-RU" altLang="ru-RU" sz="2800" dirty="0"/>
          </a:p>
          <a:p>
            <a:pPr marL="609600" indent="-609600">
              <a:buFont typeface="Wingdings" pitchFamily="2" charset="2"/>
              <a:buNone/>
              <a:defRPr/>
            </a:pPr>
            <a:r>
              <a:rPr lang="ru-RU" altLang="ru-RU" sz="2800" dirty="0"/>
              <a:t>				</a:t>
            </a:r>
            <a:r>
              <a:rPr lang="en-US" altLang="ru-RU" sz="2800" dirty="0"/>
              <a:t>	    |  NULL</a:t>
            </a:r>
          </a:p>
          <a:p>
            <a:pPr marL="609600" indent="-609600">
              <a:buFont typeface="Wingdings" pitchFamily="2" charset="2"/>
              <a:buNone/>
              <a:defRPr/>
            </a:pPr>
            <a:r>
              <a:rPr lang="en-US" altLang="ru-RU" sz="2800" dirty="0"/>
              <a:t>					    |  DEFAULT </a:t>
            </a:r>
            <a:r>
              <a:rPr lang="en-US" altLang="ru-RU" sz="2800" dirty="0">
                <a:solidFill>
                  <a:schemeClr val="bg2"/>
                </a:solidFill>
              </a:rPr>
              <a:t>}</a:t>
            </a:r>
            <a:r>
              <a:rPr lang="en-US" altLang="ru-RU" sz="2800" dirty="0"/>
              <a:t>, …</a:t>
            </a:r>
          </a:p>
          <a:p>
            <a:pPr marL="609600" indent="-609600">
              <a:buFont typeface="Wingdings" pitchFamily="2" charset="2"/>
              <a:buNone/>
              <a:defRPr/>
            </a:pPr>
            <a:r>
              <a:rPr lang="en-US" altLang="ru-RU" sz="2800" dirty="0"/>
              <a:t>		</a:t>
            </a:r>
            <a:r>
              <a:rPr lang="en-US" altLang="ru-RU" sz="2800" dirty="0">
                <a:solidFill>
                  <a:schemeClr val="bg2"/>
                </a:solidFill>
              </a:rPr>
              <a:t>[ </a:t>
            </a:r>
            <a:r>
              <a:rPr lang="ru-RU" altLang="ru-RU" sz="2800" dirty="0">
                <a:solidFill>
                  <a:schemeClr val="bg2"/>
                </a:solidFill>
              </a:rPr>
              <a:t> </a:t>
            </a:r>
            <a:r>
              <a:rPr lang="en-US" altLang="ru-RU" sz="2800" dirty="0"/>
              <a:t>WHERE </a:t>
            </a:r>
            <a:r>
              <a:rPr lang="en-US" altLang="ru-RU" sz="2800" dirty="0">
                <a:solidFill>
                  <a:srgbClr val="3333FF"/>
                </a:solidFill>
              </a:rPr>
              <a:t>&lt;</a:t>
            </a:r>
            <a:r>
              <a:rPr lang="ru-RU" altLang="ru-RU" sz="2800" dirty="0">
                <a:solidFill>
                  <a:srgbClr val="3333FF"/>
                </a:solidFill>
              </a:rPr>
              <a:t>предикат</a:t>
            </a:r>
            <a:r>
              <a:rPr lang="en-US" altLang="ru-RU" sz="2800" dirty="0">
                <a:solidFill>
                  <a:srgbClr val="3333FF"/>
                </a:solidFill>
              </a:rPr>
              <a:t>&gt;</a:t>
            </a:r>
            <a:r>
              <a:rPr lang="ru-RU" altLang="ru-RU" sz="2800" dirty="0"/>
              <a:t>	</a:t>
            </a:r>
          </a:p>
          <a:p>
            <a:pPr marL="609600" indent="-609600">
              <a:buFont typeface="Wingdings" pitchFamily="2" charset="2"/>
              <a:buNone/>
              <a:defRPr/>
            </a:pPr>
            <a:r>
              <a:rPr lang="ru-RU" altLang="ru-RU" sz="2800" dirty="0"/>
              <a:t>			 </a:t>
            </a:r>
            <a:r>
              <a:rPr lang="en-US" altLang="ru-RU" sz="2800" dirty="0"/>
              <a:t>| WHERE </a:t>
            </a:r>
            <a:r>
              <a:rPr lang="en-US" altLang="ru-RU" sz="2800" dirty="0">
                <a:solidFill>
                  <a:srgbClr val="3333FF"/>
                </a:solidFill>
              </a:rPr>
              <a:t>CURRENT OF &lt;</a:t>
            </a:r>
            <a:r>
              <a:rPr lang="ru-RU" altLang="ru-RU" sz="2800" dirty="0">
                <a:solidFill>
                  <a:srgbClr val="3333FF"/>
                </a:solidFill>
              </a:rPr>
              <a:t>имя курсора</a:t>
            </a:r>
            <a:r>
              <a:rPr lang="en-US" altLang="ru-RU" sz="2800" dirty="0">
                <a:solidFill>
                  <a:srgbClr val="3333FF"/>
                </a:solidFill>
              </a:rPr>
              <a:t>&gt;</a:t>
            </a:r>
            <a:r>
              <a:rPr lang="ru-RU" altLang="ru-RU" sz="2800" dirty="0">
                <a:solidFill>
                  <a:srgbClr val="3333FF"/>
                </a:solidFill>
              </a:rPr>
              <a:t> </a:t>
            </a:r>
            <a:r>
              <a:rPr lang="en-US" altLang="ru-RU" sz="2800" dirty="0">
                <a:solidFill>
                  <a:schemeClr val="bg2"/>
                </a:solidFill>
              </a:rPr>
              <a:t>]</a:t>
            </a:r>
          </a:p>
          <a:p>
            <a:pPr marL="609600" indent="-609600">
              <a:spcBef>
                <a:spcPts val="1200"/>
              </a:spcBef>
              <a:buFont typeface="Wingdings" pitchFamily="2" charset="2"/>
              <a:buNone/>
              <a:defRPr/>
            </a:pPr>
            <a:r>
              <a:rPr lang="ru-RU" altLang="ru-RU" sz="2800" u="sng" dirty="0">
                <a:solidFill>
                  <a:schemeClr val="bg2"/>
                </a:solidFill>
              </a:rPr>
              <a:t>Пример.</a:t>
            </a:r>
            <a:r>
              <a:rPr lang="ru-RU" altLang="ru-RU" sz="2800" dirty="0">
                <a:solidFill>
                  <a:schemeClr val="bg2"/>
                </a:solidFill>
              </a:rPr>
              <a:t> Обновление группы строк</a:t>
            </a:r>
          </a:p>
          <a:p>
            <a:pPr marL="609600" indent="-609600">
              <a:spcBef>
                <a:spcPts val="1200"/>
              </a:spcBef>
              <a:buFont typeface="Wingdings" pitchFamily="2" charset="2"/>
              <a:buNone/>
              <a:defRPr/>
            </a:pPr>
            <a:r>
              <a:rPr lang="en-US" altLang="ru-RU" sz="2800" dirty="0"/>
              <a:t>UPDATE</a:t>
            </a:r>
            <a:r>
              <a:rPr lang="ru-RU" altLang="ru-RU" sz="2800" dirty="0"/>
              <a:t> ПРОДАВЦЫ</a:t>
            </a:r>
            <a:endParaRPr lang="en-US" altLang="ru-RU" sz="2800" dirty="0"/>
          </a:p>
          <a:p>
            <a:pPr marL="609600" indent="-609600">
              <a:spcBef>
                <a:spcPts val="1200"/>
              </a:spcBef>
              <a:buFont typeface="Wingdings" pitchFamily="2" charset="2"/>
              <a:buNone/>
              <a:defRPr/>
            </a:pPr>
            <a:r>
              <a:rPr lang="en-US" altLang="ru-RU" sz="2800" dirty="0"/>
              <a:t>SET </a:t>
            </a:r>
            <a:r>
              <a:rPr lang="ru-RU" altLang="ru-RU" sz="2800" dirty="0"/>
              <a:t>Комм</a:t>
            </a:r>
            <a:r>
              <a:rPr lang="en-US" altLang="ru-RU" sz="2800" dirty="0"/>
              <a:t> = </a:t>
            </a:r>
            <a:r>
              <a:rPr lang="ru-RU" altLang="ru-RU" sz="2800" dirty="0"/>
              <a:t>Комм</a:t>
            </a:r>
            <a:r>
              <a:rPr lang="en-US" altLang="ru-RU" sz="2800" dirty="0"/>
              <a:t>*1.1</a:t>
            </a:r>
          </a:p>
          <a:p>
            <a:pPr marL="609600" indent="-609600">
              <a:spcBef>
                <a:spcPts val="1200"/>
              </a:spcBef>
              <a:buFont typeface="Wingdings" pitchFamily="2" charset="2"/>
              <a:buNone/>
              <a:defRPr/>
            </a:pPr>
            <a:r>
              <a:rPr lang="en-US" altLang="ru-RU" sz="2800" dirty="0"/>
              <a:t>WHERE  </a:t>
            </a:r>
            <a:r>
              <a:rPr lang="ru-RU" altLang="ru-RU" sz="2800" dirty="0"/>
              <a:t>Город</a:t>
            </a:r>
            <a:r>
              <a:rPr lang="en-US" altLang="ru-RU" sz="2800" dirty="0"/>
              <a:t> = ‘</a:t>
            </a:r>
            <a:r>
              <a:rPr lang="ru-RU" altLang="ru-RU" sz="2800" dirty="0"/>
              <a:t>Новосибирск</a:t>
            </a:r>
            <a:r>
              <a:rPr lang="en-US" altLang="ru-RU" sz="2800" dirty="0"/>
              <a:t>’;</a:t>
            </a:r>
          </a:p>
          <a:p>
            <a:pPr marL="609600" indent="-609600">
              <a:defRPr/>
            </a:pPr>
            <a:endParaRPr lang="ru-RU" altLang="ru-RU" dirty="0">
              <a:solidFill>
                <a:schemeClr val="bg2"/>
              </a:solidFill>
            </a:endParaRPr>
          </a:p>
        </p:txBody>
      </p:sp>
      <p:sp>
        <p:nvSpPr>
          <p:cNvPr id="9220" name="Номер слайда 4"/>
          <p:cNvSpPr>
            <a:spLocks noGrp="1"/>
          </p:cNvSpPr>
          <p:nvPr>
            <p:ph type="sldNum" sz="quarter" idx="11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BF8B26B5-64C3-4708-9A1B-F68FC8BE80FB}" type="slidenum">
              <a:rPr lang="ru-RU" altLang="ru-RU" smtClean="0"/>
              <a:pPr/>
              <a:t>7</a:t>
            </a:fld>
            <a:endParaRPr lang="ru-RU" altLang="ru-RU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8" dur="5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457200"/>
            <a:ext cx="8229600" cy="739775"/>
          </a:xfrm>
        </p:spPr>
        <p:txBody>
          <a:bodyPr/>
          <a:lstStyle/>
          <a:p>
            <a:pPr algn="ctr"/>
            <a:r>
              <a:rPr lang="ru-RU" altLang="ru-RU" sz="4000">
                <a:solidFill>
                  <a:schemeClr val="bg2"/>
                </a:solidFill>
              </a:rPr>
              <a:t>Поиск данных в БД</a:t>
            </a:r>
          </a:p>
        </p:txBody>
      </p:sp>
      <p:sp>
        <p:nvSpPr>
          <p:cNvPr id="368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9388" y="1341438"/>
            <a:ext cx="8589962" cy="5111750"/>
          </a:xfrm>
        </p:spPr>
        <p:txBody>
          <a:bodyPr/>
          <a:lstStyle/>
          <a:p>
            <a:pPr marL="0" indent="0">
              <a:buFont typeface="Wingdings" pitchFamily="2" charset="2"/>
              <a:buNone/>
              <a:defRPr/>
            </a:pPr>
            <a:r>
              <a:rPr lang="en-US" b="1" dirty="0">
                <a:solidFill>
                  <a:schemeClr val="bg2">
                    <a:lumMod val="60000"/>
                    <a:lumOff val="40000"/>
                  </a:schemeClr>
                </a:solidFill>
              </a:rPr>
              <a:t>SELECT</a:t>
            </a:r>
            <a:r>
              <a:rPr lang="en-US" dirty="0"/>
              <a:t> [ALL | DISTINCT]&lt;</a:t>
            </a:r>
            <a:r>
              <a:rPr lang="ru-RU" dirty="0"/>
              <a:t>целевой список</a:t>
            </a:r>
            <a:r>
              <a:rPr lang="en-US" dirty="0"/>
              <a:t>&gt;</a:t>
            </a:r>
            <a:endParaRPr lang="ru-RU" dirty="0"/>
          </a:p>
          <a:p>
            <a:pPr marL="0" indent="0">
              <a:buFont typeface="Wingdings" pitchFamily="2" charset="2"/>
              <a:buNone/>
              <a:defRPr/>
            </a:pPr>
            <a:r>
              <a:rPr lang="en-US" b="1" dirty="0">
                <a:solidFill>
                  <a:schemeClr val="bg2">
                    <a:lumMod val="60000"/>
                    <a:lumOff val="40000"/>
                  </a:schemeClr>
                </a:solidFill>
              </a:rPr>
              <a:t>FROM</a:t>
            </a:r>
            <a:r>
              <a:rPr lang="en-US" dirty="0"/>
              <a:t> &lt;</a:t>
            </a:r>
            <a:r>
              <a:rPr lang="ru-RU" dirty="0"/>
              <a:t>выражение над таблицами</a:t>
            </a:r>
            <a:r>
              <a:rPr lang="en-US" dirty="0"/>
              <a:t>&gt;</a:t>
            </a:r>
            <a:endParaRPr lang="ru-RU" dirty="0"/>
          </a:p>
          <a:p>
            <a:pPr marL="0" indent="0">
              <a:buFont typeface="Wingdings" pitchFamily="2" charset="2"/>
              <a:buNone/>
              <a:defRPr/>
            </a:pPr>
            <a:r>
              <a:rPr lang="en-US" dirty="0"/>
              <a:t>     [</a:t>
            </a:r>
            <a:r>
              <a:rPr lang="en-US" b="1" dirty="0">
                <a:solidFill>
                  <a:srgbClr val="008000"/>
                </a:solidFill>
              </a:rPr>
              <a:t>WHERE</a:t>
            </a:r>
            <a:r>
              <a:rPr lang="en-US" dirty="0"/>
              <a:t> &lt;condition&gt;]</a:t>
            </a:r>
            <a:endParaRPr lang="ru-RU" dirty="0"/>
          </a:p>
          <a:p>
            <a:pPr marL="0" indent="0">
              <a:buFont typeface="Wingdings" pitchFamily="2" charset="2"/>
              <a:buNone/>
              <a:defRPr/>
            </a:pPr>
            <a:r>
              <a:rPr lang="en-US" dirty="0"/>
              <a:t>     [</a:t>
            </a:r>
            <a:r>
              <a:rPr lang="en-US" b="1" dirty="0">
                <a:solidFill>
                  <a:srgbClr val="996600"/>
                </a:solidFill>
              </a:rPr>
              <a:t>GROUP BY</a:t>
            </a:r>
            <a:r>
              <a:rPr lang="en-US" dirty="0">
                <a:solidFill>
                  <a:srgbClr val="996600"/>
                </a:solidFill>
              </a:rPr>
              <a:t> </a:t>
            </a:r>
            <a:r>
              <a:rPr lang="en-US" dirty="0"/>
              <a:t>&lt;</a:t>
            </a:r>
            <a:r>
              <a:rPr lang="ru-RU" dirty="0"/>
              <a:t>список атрибутов</a:t>
            </a:r>
            <a:r>
              <a:rPr lang="en-US" dirty="0"/>
              <a:t>&gt;]</a:t>
            </a:r>
          </a:p>
          <a:p>
            <a:pPr marL="914400" lvl="2" indent="0">
              <a:buFont typeface="Wingdings" pitchFamily="2" charset="2"/>
              <a:buNone/>
              <a:defRPr/>
            </a:pPr>
            <a:r>
              <a:rPr lang="en-US" dirty="0"/>
              <a:t>  [</a:t>
            </a:r>
            <a:r>
              <a:rPr lang="en-US" b="1" dirty="0">
                <a:solidFill>
                  <a:srgbClr val="996600"/>
                </a:solidFill>
              </a:rPr>
              <a:t>HAVING</a:t>
            </a:r>
            <a:r>
              <a:rPr lang="en-US" dirty="0"/>
              <a:t> &lt;condition&gt;]</a:t>
            </a:r>
          </a:p>
          <a:p>
            <a:pPr marL="114300" indent="0">
              <a:buFont typeface="Wingdings" pitchFamily="2" charset="2"/>
              <a:buNone/>
              <a:defRPr/>
            </a:pPr>
            <a:r>
              <a:rPr lang="en-US" dirty="0"/>
              <a:t>[{ UNION | INTERSECT | EXCEPT } [ALL] ]</a:t>
            </a:r>
          </a:p>
          <a:p>
            <a:pPr marL="114300" indent="0">
              <a:buFont typeface="Wingdings" pitchFamily="2" charset="2"/>
              <a:buNone/>
              <a:defRPr/>
            </a:pPr>
            <a:r>
              <a:rPr lang="en-US" dirty="0"/>
              <a:t>&lt;</a:t>
            </a:r>
            <a:r>
              <a:rPr lang="en-US" dirty="0" err="1"/>
              <a:t>SELECT_operator</a:t>
            </a:r>
            <a:r>
              <a:rPr lang="en-US" dirty="0"/>
              <a:t> &gt;</a:t>
            </a:r>
          </a:p>
          <a:p>
            <a:pPr marL="114300" indent="0">
              <a:buNone/>
              <a:defRPr/>
            </a:pPr>
            <a:r>
              <a:rPr lang="en-US" dirty="0"/>
              <a:t>[</a:t>
            </a:r>
            <a:r>
              <a:rPr lang="en-US" b="1" dirty="0">
                <a:solidFill>
                  <a:srgbClr val="990099"/>
                </a:solidFill>
              </a:rPr>
              <a:t>ORDER BY</a:t>
            </a:r>
            <a:r>
              <a:rPr lang="en-US" dirty="0"/>
              <a:t>&lt;</a:t>
            </a:r>
            <a:r>
              <a:rPr lang="ru-RU" dirty="0"/>
              <a:t>список атрибутов</a:t>
            </a:r>
            <a:r>
              <a:rPr lang="en-US" dirty="0"/>
              <a:t>&gt;] </a:t>
            </a:r>
            <a:endParaRPr lang="ru-RU" dirty="0"/>
          </a:p>
        </p:txBody>
      </p:sp>
      <p:sp>
        <p:nvSpPr>
          <p:cNvPr id="10244" name="Номер слайда 3"/>
          <p:cNvSpPr>
            <a:spLocks noGrp="1"/>
          </p:cNvSpPr>
          <p:nvPr>
            <p:ph type="sldNum" sz="quarter" idx="11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B25412DF-5497-41B0-BBFF-775D08246A8B}" type="slidenum">
              <a:rPr lang="ru-RU" altLang="ru-RU" smtClean="0"/>
              <a:pPr/>
              <a:t>8</a:t>
            </a:fld>
            <a:endParaRPr lang="ru-RU" altLang="ru-RU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68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68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68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68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368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368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368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3686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867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>
          <a:xfrm>
            <a:off x="179388" y="168275"/>
            <a:ext cx="8713787" cy="739775"/>
          </a:xfrm>
        </p:spPr>
        <p:txBody>
          <a:bodyPr>
            <a:normAutofit fontScale="90000"/>
          </a:bodyPr>
          <a:lstStyle/>
          <a:p>
            <a:pPr algn="ctr">
              <a:defRPr/>
            </a:pPr>
            <a:r>
              <a:rPr lang="ru-RU" altLang="ru-RU" sz="4000" dirty="0">
                <a:solidFill>
                  <a:schemeClr val="bg2"/>
                </a:solidFill>
              </a:rPr>
              <a:t>Схема выполнения </a:t>
            </a:r>
            <a:r>
              <a:rPr lang="en-US" altLang="ru-RU" sz="4000" dirty="0">
                <a:solidFill>
                  <a:schemeClr val="bg2"/>
                </a:solidFill>
              </a:rPr>
              <a:t>SELECT</a:t>
            </a:r>
            <a:r>
              <a:rPr lang="ru-RU" altLang="ru-RU" sz="4000" dirty="0">
                <a:solidFill>
                  <a:schemeClr val="bg2"/>
                </a:solidFill>
              </a:rPr>
              <a:t> оператора</a:t>
            </a:r>
          </a:p>
        </p:txBody>
      </p:sp>
      <p:sp>
        <p:nvSpPr>
          <p:cNvPr id="368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9388" y="1341438"/>
            <a:ext cx="8589962" cy="5111750"/>
          </a:xfrm>
        </p:spPr>
        <p:txBody>
          <a:bodyPr/>
          <a:lstStyle/>
          <a:p>
            <a:pPr marL="514350" indent="-514350">
              <a:buFont typeface="Wingdings" pitchFamily="2" charset="2"/>
              <a:buAutoNum type="arabicPeriod"/>
              <a:defRPr/>
            </a:pPr>
            <a:r>
              <a:rPr lang="ru-RU" dirty="0"/>
              <a:t>Выполняется раздел </a:t>
            </a:r>
            <a:r>
              <a:rPr lang="en-US" b="1" dirty="0"/>
              <a:t>FROM</a:t>
            </a:r>
            <a:r>
              <a:rPr lang="en-US" b="1" dirty="0">
                <a:solidFill>
                  <a:schemeClr val="bg2">
                    <a:lumMod val="60000"/>
                    <a:lumOff val="40000"/>
                  </a:schemeClr>
                </a:solidFill>
              </a:rPr>
              <a:t> </a:t>
            </a:r>
            <a:endParaRPr lang="ru-RU" b="1" dirty="0">
              <a:solidFill>
                <a:schemeClr val="bg2">
                  <a:lumMod val="60000"/>
                  <a:lumOff val="40000"/>
                </a:schemeClr>
              </a:solidFill>
            </a:endParaRPr>
          </a:p>
          <a:p>
            <a:pPr marL="514350" indent="-514350">
              <a:buFont typeface="Wingdings" pitchFamily="2" charset="2"/>
              <a:buAutoNum type="arabicPeriod"/>
              <a:defRPr/>
            </a:pPr>
            <a:r>
              <a:rPr lang="ru-RU" dirty="0"/>
              <a:t>Выполняется раздел </a:t>
            </a:r>
            <a:r>
              <a:rPr lang="en-US" b="1" dirty="0"/>
              <a:t>WHERE</a:t>
            </a:r>
            <a:r>
              <a:rPr lang="en-US" b="1" dirty="0">
                <a:solidFill>
                  <a:srgbClr val="008000"/>
                </a:solidFill>
              </a:rPr>
              <a:t> </a:t>
            </a:r>
            <a:r>
              <a:rPr lang="ru-RU" dirty="0"/>
              <a:t>(если есть)</a:t>
            </a:r>
          </a:p>
          <a:p>
            <a:pPr marL="514350" indent="-514350">
              <a:buFont typeface="Wingdings" pitchFamily="2" charset="2"/>
              <a:buAutoNum type="arabicPeriod"/>
              <a:defRPr/>
            </a:pPr>
            <a:r>
              <a:rPr lang="ru-RU" dirty="0"/>
              <a:t>Выполняется раздел </a:t>
            </a:r>
            <a:r>
              <a:rPr lang="en-US" b="1" dirty="0"/>
              <a:t>GROUP BY </a:t>
            </a:r>
            <a:r>
              <a:rPr lang="ru-RU" dirty="0"/>
              <a:t>(если есть)</a:t>
            </a:r>
          </a:p>
          <a:p>
            <a:pPr marL="514350" indent="-514350">
              <a:buFont typeface="Wingdings" pitchFamily="2" charset="2"/>
              <a:buAutoNum type="arabicPeriod"/>
              <a:defRPr/>
            </a:pPr>
            <a:r>
              <a:rPr lang="ru-RU" dirty="0"/>
              <a:t>Выполняется раздел </a:t>
            </a:r>
            <a:r>
              <a:rPr lang="en-US" b="1" dirty="0"/>
              <a:t>HAVING</a:t>
            </a:r>
            <a:r>
              <a:rPr lang="ru-RU" dirty="0"/>
              <a:t>(если есть)</a:t>
            </a:r>
          </a:p>
          <a:p>
            <a:pPr marL="514350" indent="-514350">
              <a:buFont typeface="Wingdings" pitchFamily="2" charset="2"/>
              <a:buAutoNum type="arabicPeriod"/>
              <a:defRPr/>
            </a:pPr>
            <a:r>
              <a:rPr lang="ru-RU" dirty="0"/>
              <a:t>Выполняются определения в разделе </a:t>
            </a:r>
            <a:r>
              <a:rPr lang="en-US" b="1" dirty="0"/>
              <a:t>SELECT</a:t>
            </a:r>
          </a:p>
          <a:p>
            <a:pPr marL="514350" indent="-514350">
              <a:buFont typeface="Wingdings" pitchFamily="2" charset="2"/>
              <a:buAutoNum type="arabicPeriod"/>
              <a:defRPr/>
            </a:pPr>
            <a:r>
              <a:rPr lang="ru-RU" dirty="0"/>
              <a:t>Выполняется раздел </a:t>
            </a:r>
            <a:r>
              <a:rPr lang="en-US" b="1" dirty="0"/>
              <a:t>ORDER</a:t>
            </a:r>
            <a:r>
              <a:rPr lang="ru-RU" dirty="0"/>
              <a:t>(если есть)</a:t>
            </a:r>
          </a:p>
          <a:p>
            <a:pPr marL="514350" indent="-514350">
              <a:buFont typeface="Wingdings" pitchFamily="2" charset="2"/>
              <a:buAutoNum type="arabicPeriod"/>
              <a:defRPr/>
            </a:pPr>
            <a:endParaRPr lang="ru-RU" b="1" dirty="0"/>
          </a:p>
          <a:p>
            <a:pPr marL="514350" indent="-514350">
              <a:buFont typeface="Wingdings" pitchFamily="2" charset="2"/>
              <a:buAutoNum type="arabicPeriod"/>
              <a:defRPr/>
            </a:pPr>
            <a:endParaRPr lang="ru-RU" dirty="0"/>
          </a:p>
          <a:p>
            <a:pPr marL="514350" indent="-514350">
              <a:buFont typeface="Wingdings" pitchFamily="2" charset="2"/>
              <a:buAutoNum type="arabicPeriod"/>
              <a:defRPr/>
            </a:pPr>
            <a:endParaRPr lang="ru-RU" dirty="0"/>
          </a:p>
        </p:txBody>
      </p:sp>
      <p:sp>
        <p:nvSpPr>
          <p:cNvPr id="11268" name="Номер слайда 3"/>
          <p:cNvSpPr>
            <a:spLocks noGrp="1"/>
          </p:cNvSpPr>
          <p:nvPr>
            <p:ph type="sldNum" sz="quarter" idx="11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69D4129D-CC4B-42CA-A250-1008002A34B6}" type="slidenum">
              <a:rPr lang="ru-RU" altLang="ru-RU" smtClean="0"/>
              <a:pPr/>
              <a:t>9</a:t>
            </a:fld>
            <a:endParaRPr lang="ru-RU" altLang="ru-RU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68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68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68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68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68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68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867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Заголовок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884238"/>
          </a:xfrm>
        </p:spPr>
        <p:txBody>
          <a:bodyPr/>
          <a:lstStyle/>
          <a:p>
            <a:pPr algn="ctr"/>
            <a:r>
              <a:rPr lang="ru-RU" altLang="ru-RU">
                <a:solidFill>
                  <a:schemeClr val="bg2"/>
                </a:solidFill>
              </a:rPr>
              <a:t>Семантика </a:t>
            </a:r>
            <a:r>
              <a:rPr lang="en-US" altLang="ru-RU" sz="4800">
                <a:solidFill>
                  <a:schemeClr val="bg2"/>
                </a:solidFill>
              </a:rPr>
              <a:t>SELECT</a:t>
            </a:r>
            <a:endParaRPr lang="ru-RU" altLang="ru-RU" sz="480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412875"/>
            <a:ext cx="8229600" cy="4968875"/>
          </a:xfrm>
        </p:spPr>
        <p:txBody>
          <a:bodyPr/>
          <a:lstStyle/>
          <a:p>
            <a:pPr marL="0" indent="0">
              <a:buFont typeface="Wingdings" pitchFamily="2" charset="2"/>
              <a:buNone/>
              <a:defRPr/>
            </a:pPr>
            <a:r>
              <a:rPr lang="ru-RU" dirty="0"/>
              <a:t>Пусть </a:t>
            </a:r>
            <a:r>
              <a:rPr lang="en-US" dirty="0"/>
              <a:t>R(A,B), S(C,D)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US" dirty="0">
                <a:solidFill>
                  <a:schemeClr val="bg2">
                    <a:lumMod val="60000"/>
                    <a:lumOff val="40000"/>
                  </a:schemeClr>
                </a:solidFill>
              </a:rPr>
              <a:t>SELECT</a:t>
            </a:r>
            <a:r>
              <a:rPr lang="en-US" dirty="0"/>
              <a:t> 	A, D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US" dirty="0">
                <a:solidFill>
                  <a:schemeClr val="bg2">
                    <a:lumMod val="60000"/>
                    <a:lumOff val="40000"/>
                  </a:schemeClr>
                </a:solidFill>
              </a:rPr>
              <a:t>FROM</a:t>
            </a:r>
            <a:r>
              <a:rPr lang="en-US" dirty="0"/>
              <a:t> 	R,S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US" dirty="0">
                <a:solidFill>
                  <a:schemeClr val="bg2">
                    <a:lumMod val="60000"/>
                    <a:lumOff val="40000"/>
                  </a:schemeClr>
                </a:solidFill>
              </a:rPr>
              <a:t>WHERE</a:t>
            </a:r>
            <a:r>
              <a:rPr lang="en-US" dirty="0"/>
              <a:t> 	B=C and D&gt; 99</a:t>
            </a:r>
          </a:p>
          <a:p>
            <a:pPr marL="0" indent="0">
              <a:buFont typeface="Wingdings" pitchFamily="2" charset="2"/>
              <a:buNone/>
              <a:defRPr/>
            </a:pPr>
            <a:endParaRPr lang="en-US" dirty="0"/>
          </a:p>
          <a:p>
            <a:pPr marL="514350" indent="-514350">
              <a:buFont typeface="Wingdings" pitchFamily="2" charset="2"/>
              <a:buAutoNum type="arabicPeriod"/>
              <a:defRPr/>
            </a:pPr>
            <a:r>
              <a:rPr lang="en-US" dirty="0"/>
              <a:t>T</a:t>
            </a:r>
            <a:r>
              <a:rPr lang="en-US" baseline="-25000" dirty="0"/>
              <a:t>1</a:t>
            </a:r>
            <a:r>
              <a:rPr lang="en-US" dirty="0"/>
              <a:t>= R</a:t>
            </a:r>
            <a:r>
              <a:rPr lang="ru-RU" dirty="0"/>
              <a:t> </a:t>
            </a:r>
            <a:r>
              <a:rPr lang="en-US" dirty="0"/>
              <a:t>x</a:t>
            </a:r>
            <a:r>
              <a:rPr lang="ru-RU" dirty="0"/>
              <a:t> </a:t>
            </a:r>
            <a:r>
              <a:rPr lang="en-US" dirty="0"/>
              <a:t>S</a:t>
            </a:r>
            <a:r>
              <a:rPr lang="ru-RU" dirty="0"/>
              <a:t> </a:t>
            </a:r>
            <a:r>
              <a:rPr lang="en-US" dirty="0"/>
              <a:t>			</a:t>
            </a:r>
            <a:r>
              <a:rPr lang="ru-RU" dirty="0">
                <a:solidFill>
                  <a:srgbClr val="008000"/>
                </a:solidFill>
              </a:rPr>
              <a:t>(фраза </a:t>
            </a:r>
            <a:r>
              <a:rPr lang="en-US" dirty="0">
                <a:solidFill>
                  <a:srgbClr val="008000"/>
                </a:solidFill>
              </a:rPr>
              <a:t>FROM)</a:t>
            </a:r>
          </a:p>
          <a:p>
            <a:pPr marL="514350" indent="-514350">
              <a:spcBef>
                <a:spcPts val="1200"/>
              </a:spcBef>
              <a:buFont typeface="Wingdings" pitchFamily="2" charset="2"/>
              <a:buAutoNum type="arabicPeriod"/>
              <a:defRPr/>
            </a:pPr>
            <a:r>
              <a:rPr lang="en-US" dirty="0"/>
              <a:t>T</a:t>
            </a:r>
            <a:r>
              <a:rPr lang="en-US" baseline="-25000" dirty="0"/>
              <a:t>2</a:t>
            </a:r>
            <a:r>
              <a:rPr lang="en-US" dirty="0"/>
              <a:t>=</a:t>
            </a:r>
            <a:r>
              <a:rPr lang="el-GR" dirty="0"/>
              <a:t> Ϭ</a:t>
            </a:r>
            <a:r>
              <a:rPr lang="en-US" dirty="0"/>
              <a:t> </a:t>
            </a:r>
            <a:r>
              <a:rPr lang="en-US" baseline="-25000" dirty="0"/>
              <a:t>B=C and D&gt; 99</a:t>
            </a:r>
            <a:r>
              <a:rPr lang="ru-RU" baseline="-25000" dirty="0"/>
              <a:t> </a:t>
            </a:r>
            <a:r>
              <a:rPr lang="ru-RU" dirty="0"/>
              <a:t>(</a:t>
            </a:r>
            <a:r>
              <a:rPr lang="en-US" dirty="0"/>
              <a:t>T</a:t>
            </a:r>
            <a:r>
              <a:rPr lang="en-US" baseline="-25000" dirty="0"/>
              <a:t>1</a:t>
            </a:r>
            <a:r>
              <a:rPr lang="en-US" dirty="0"/>
              <a:t>)  </a:t>
            </a:r>
            <a:r>
              <a:rPr lang="ru-RU" dirty="0">
                <a:solidFill>
                  <a:srgbClr val="008000"/>
                </a:solidFill>
              </a:rPr>
              <a:t>(фраза </a:t>
            </a:r>
            <a:r>
              <a:rPr lang="en-US" dirty="0">
                <a:solidFill>
                  <a:srgbClr val="008000"/>
                </a:solidFill>
              </a:rPr>
              <a:t>WHERE)</a:t>
            </a:r>
            <a:endParaRPr lang="en-US" dirty="0"/>
          </a:p>
          <a:p>
            <a:pPr marL="514350" indent="-514350">
              <a:spcBef>
                <a:spcPts val="600"/>
              </a:spcBef>
              <a:buFont typeface="Wingdings" pitchFamily="2" charset="2"/>
              <a:buAutoNum type="arabicPeriod"/>
              <a:defRPr/>
            </a:pPr>
            <a:r>
              <a:rPr lang="en-US" dirty="0"/>
              <a:t>T</a:t>
            </a:r>
            <a:r>
              <a:rPr lang="en-US" baseline="-25000" dirty="0"/>
              <a:t>3</a:t>
            </a:r>
            <a:r>
              <a:rPr lang="en-US" dirty="0"/>
              <a:t>= </a:t>
            </a:r>
            <a:r>
              <a:rPr lang="en-US" sz="4800" dirty="0">
                <a:sym typeface="Symbol"/>
              </a:rPr>
              <a:t></a:t>
            </a:r>
            <a:r>
              <a:rPr lang="en-US" sz="2800" baseline="-25000" dirty="0"/>
              <a:t>A,D</a:t>
            </a:r>
            <a:r>
              <a:rPr lang="en-US" dirty="0"/>
              <a:t>(T</a:t>
            </a:r>
            <a:r>
              <a:rPr lang="en-US" baseline="-25000" dirty="0"/>
              <a:t>2</a:t>
            </a:r>
            <a:r>
              <a:rPr lang="en-US" dirty="0"/>
              <a:t>) 		</a:t>
            </a:r>
            <a:r>
              <a:rPr lang="ru-RU" dirty="0">
                <a:solidFill>
                  <a:srgbClr val="008000"/>
                </a:solidFill>
              </a:rPr>
              <a:t>(фраза </a:t>
            </a:r>
            <a:r>
              <a:rPr lang="en-US" dirty="0">
                <a:solidFill>
                  <a:srgbClr val="008000"/>
                </a:solidFill>
              </a:rPr>
              <a:t>SELECT)</a:t>
            </a:r>
            <a:endParaRPr lang="en-US" dirty="0"/>
          </a:p>
          <a:p>
            <a:pPr marL="0" indent="0">
              <a:spcBef>
                <a:spcPts val="600"/>
              </a:spcBef>
              <a:buFont typeface="Wingdings" pitchFamily="2" charset="2"/>
              <a:buNone/>
              <a:defRPr/>
            </a:pPr>
            <a:endParaRPr lang="ru-RU" dirty="0"/>
          </a:p>
        </p:txBody>
      </p:sp>
      <p:sp>
        <p:nvSpPr>
          <p:cNvPr id="12292" name="Номер слайда 3"/>
          <p:cNvSpPr>
            <a:spLocks noGrp="1"/>
          </p:cNvSpPr>
          <p:nvPr>
            <p:ph type="sldNum" sz="quarter" idx="11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F09EEFF1-F4CC-4250-97C3-D74690F735D5}" type="slidenum">
              <a:rPr lang="ru-RU" altLang="ru-RU" smtClean="0"/>
              <a:pPr/>
              <a:t>10</a:t>
            </a:fld>
            <a:endParaRPr lang="ru-RU" altLang="ru-RU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Заголовок 1"/>
          <p:cNvSpPr>
            <a:spLocks noGrp="1"/>
          </p:cNvSpPr>
          <p:nvPr>
            <p:ph type="title"/>
          </p:nvPr>
        </p:nvSpPr>
        <p:spPr>
          <a:xfrm>
            <a:off x="1692275" y="188913"/>
            <a:ext cx="6119813" cy="811212"/>
          </a:xfrm>
        </p:spPr>
        <p:txBody>
          <a:bodyPr/>
          <a:lstStyle/>
          <a:p>
            <a:pPr algn="ctr"/>
            <a:r>
              <a:rPr lang="ru-RU" altLang="ru-RU" sz="4000">
                <a:solidFill>
                  <a:schemeClr val="bg2"/>
                </a:solidFill>
              </a:rPr>
              <a:t>Фраза </a:t>
            </a:r>
            <a:r>
              <a:rPr lang="en-US" altLang="ru-RU" sz="4000" b="1">
                <a:solidFill>
                  <a:schemeClr val="bg2"/>
                </a:solidFill>
              </a:rPr>
              <a:t>SELECT</a:t>
            </a:r>
            <a:endParaRPr lang="ru-RU" altLang="ru-RU" sz="4000">
              <a:solidFill>
                <a:schemeClr val="bg2"/>
              </a:solidFill>
            </a:endParaRPr>
          </a:p>
        </p:txBody>
      </p:sp>
      <p:sp>
        <p:nvSpPr>
          <p:cNvPr id="11267" name="Объект 2"/>
          <p:cNvSpPr>
            <a:spLocks noGrp="1"/>
          </p:cNvSpPr>
          <p:nvPr>
            <p:ph idx="1"/>
          </p:nvPr>
        </p:nvSpPr>
        <p:spPr>
          <a:xfrm>
            <a:off x="1" y="836712"/>
            <a:ext cx="9036496" cy="5832375"/>
          </a:xfrm>
        </p:spPr>
        <p:txBody>
          <a:bodyPr>
            <a:noAutofit/>
          </a:bodyPr>
          <a:lstStyle/>
          <a:p>
            <a:pPr marL="0" indent="0">
              <a:buFont typeface="Wingdings" pitchFamily="2" charset="2"/>
              <a:buNone/>
              <a:defRPr/>
            </a:pPr>
            <a:r>
              <a:rPr lang="en-US" altLang="ru-RU" sz="1600" b="1" dirty="0"/>
              <a:t>SELECT</a:t>
            </a:r>
            <a:r>
              <a:rPr lang="en-US" altLang="ru-RU" sz="1600" dirty="0"/>
              <a:t> [DISTINCT]</a:t>
            </a:r>
            <a:br>
              <a:rPr lang="en-US" altLang="ru-RU" sz="1600" dirty="0"/>
            </a:br>
            <a:r>
              <a:rPr lang="en-US" altLang="ru-RU" sz="1600" dirty="0"/>
              <a:t>     { {</a:t>
            </a:r>
            <a:r>
              <a:rPr lang="en-US" altLang="ru-RU" sz="1600" dirty="0" err="1"/>
              <a:t>function_agregate</a:t>
            </a:r>
            <a:r>
              <a:rPr lang="en-US" altLang="ru-RU" sz="1600" dirty="0"/>
              <a:t> | </a:t>
            </a:r>
            <a:r>
              <a:rPr lang="en-US" altLang="ru-RU" sz="1600" dirty="0" err="1"/>
              <a:t>expr</a:t>
            </a:r>
            <a:r>
              <a:rPr lang="en-US" altLang="ru-RU" sz="1600" dirty="0"/>
              <a:t> [AS </a:t>
            </a:r>
            <a:r>
              <a:rPr lang="en-US" altLang="ru-RU" sz="1600" dirty="0" err="1"/>
              <a:t>new_field_name</a:t>
            </a:r>
            <a:r>
              <a:rPr lang="en-US" altLang="ru-RU" sz="1600" dirty="0"/>
              <a:t>] } .,:</a:t>
            </a:r>
            <a:br>
              <a:rPr lang="en-US" altLang="ru-RU" sz="1600" dirty="0"/>
            </a:br>
            <a:r>
              <a:rPr lang="en-US" altLang="ru-RU" sz="1600" dirty="0"/>
              <a:t>     | specification.</a:t>
            </a:r>
            <a:r>
              <a:rPr lang="en-US" altLang="ru-RU" sz="1600" baseline="-18000" dirty="0"/>
              <a:t>*</a:t>
            </a:r>
            <a:r>
              <a:rPr lang="en-US" altLang="ru-RU" sz="1600" dirty="0"/>
              <a:t/>
            </a:r>
            <a:br>
              <a:rPr lang="en-US" altLang="ru-RU" sz="1600" dirty="0"/>
            </a:br>
            <a:r>
              <a:rPr lang="en-US" altLang="ru-RU" sz="1600" dirty="0"/>
              <a:t>     | </a:t>
            </a:r>
            <a:r>
              <a:rPr lang="en-US" altLang="ru-RU" sz="1600" baseline="-18000" dirty="0"/>
              <a:t>*</a:t>
            </a:r>
            <a:r>
              <a:rPr lang="en-US" altLang="ru-RU" sz="1600" dirty="0"/>
              <a:t/>
            </a:r>
            <a:br>
              <a:rPr lang="en-US" altLang="ru-RU" sz="1600" dirty="0"/>
            </a:br>
            <a:r>
              <a:rPr lang="en-US" altLang="ru-RU" sz="1600" dirty="0"/>
              <a:t>     [</a:t>
            </a:r>
            <a:r>
              <a:rPr lang="en-US" altLang="ru-RU" sz="1600" dirty="0">
                <a:solidFill>
                  <a:srgbClr val="FF0000"/>
                </a:solidFill>
              </a:rPr>
              <a:t>INTO</a:t>
            </a:r>
            <a:r>
              <a:rPr lang="en-US" altLang="ru-RU" sz="1600" dirty="0"/>
              <a:t> </a:t>
            </a:r>
            <a:r>
              <a:rPr lang="en-US" altLang="ru-RU" sz="1600" dirty="0" err="1"/>
              <a:t>list_variable</a:t>
            </a:r>
            <a:r>
              <a:rPr lang="en-US" altLang="ru-RU" sz="1600" dirty="0"/>
              <a:t>]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ru-RU" altLang="ru-RU" sz="1600" dirty="0"/>
              <a:t>Фраза </a:t>
            </a:r>
            <a:r>
              <a:rPr lang="ru-RU" altLang="ru-RU" sz="1600" b="1" dirty="0">
                <a:solidFill>
                  <a:srgbClr val="FF0000"/>
                </a:solidFill>
              </a:rPr>
              <a:t>INTO</a:t>
            </a:r>
            <a:r>
              <a:rPr lang="ru-RU" altLang="ru-RU" sz="1600" dirty="0"/>
              <a:t> используется только во </a:t>
            </a:r>
            <a:r>
              <a:rPr lang="ru-RU" altLang="ru-RU" sz="1600" dirty="0">
                <a:solidFill>
                  <a:srgbClr val="FF0000"/>
                </a:solidFill>
              </a:rPr>
              <a:t>встроенном SQL</a:t>
            </a:r>
            <a:r>
              <a:rPr lang="ru-RU" altLang="ru-RU" sz="1600" dirty="0"/>
              <a:t>, указывая переменные, в которые записывается результат 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ru-RU" altLang="ru-RU" sz="1600" u="sng" dirty="0"/>
              <a:t>Примеры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ru-RU" altLang="ru-RU" sz="1600" i="1" dirty="0">
                <a:solidFill>
                  <a:srgbClr val="0070C0"/>
                </a:solidFill>
              </a:rPr>
              <a:t>Выбор всех столбцов</a:t>
            </a:r>
            <a:endParaRPr lang="en-US" altLang="ru-RU" sz="1600" i="1" dirty="0">
              <a:solidFill>
                <a:srgbClr val="0070C0"/>
              </a:solidFill>
            </a:endParaRPr>
          </a:p>
          <a:p>
            <a:pPr marL="0" indent="0">
              <a:buNone/>
              <a:defRPr/>
            </a:pPr>
            <a:r>
              <a:rPr lang="en-US" altLang="ru-RU" sz="1600" b="1" dirty="0"/>
              <a:t>SELECT </a:t>
            </a:r>
            <a:r>
              <a:rPr lang="ru-RU" altLang="ru-RU" sz="1600" b="1" dirty="0"/>
              <a:t>*</a:t>
            </a:r>
            <a:endParaRPr lang="en-US" altLang="ru-RU" sz="1600" b="1" dirty="0"/>
          </a:p>
          <a:p>
            <a:pPr marL="0" indent="0">
              <a:buNone/>
              <a:defRPr/>
            </a:pPr>
            <a:r>
              <a:rPr lang="en-US" altLang="ru-RU" sz="1600" dirty="0"/>
              <a:t>FROM </a:t>
            </a:r>
            <a:r>
              <a:rPr lang="ru-RU" altLang="ru-RU" sz="1600" dirty="0"/>
              <a:t>ПРОДАВЦЫ;</a:t>
            </a:r>
          </a:p>
          <a:p>
            <a:pPr marL="0" indent="0">
              <a:buNone/>
              <a:defRPr/>
            </a:pPr>
            <a:endParaRPr lang="ru-RU" altLang="ru-RU" sz="1600" dirty="0"/>
          </a:p>
          <a:p>
            <a:pPr marL="0" indent="0">
              <a:buNone/>
              <a:defRPr/>
            </a:pPr>
            <a:r>
              <a:rPr lang="ru-RU" altLang="ru-RU" sz="1600" i="1" dirty="0">
                <a:solidFill>
                  <a:srgbClr val="0070C0"/>
                </a:solidFill>
              </a:rPr>
              <a:t>Выбор выделенных столбцов</a:t>
            </a:r>
            <a:endParaRPr lang="en-US" altLang="ru-RU" sz="1600" i="1" dirty="0">
              <a:solidFill>
                <a:srgbClr val="0070C0"/>
              </a:solidFill>
            </a:endParaRPr>
          </a:p>
          <a:p>
            <a:pPr marL="0" indent="0">
              <a:buFont typeface="Wingdings" pitchFamily="2" charset="2"/>
              <a:buNone/>
              <a:defRPr/>
            </a:pPr>
            <a:r>
              <a:rPr lang="en-US" altLang="ru-RU" sz="1600" b="1" dirty="0"/>
              <a:t>SELECT </a:t>
            </a:r>
            <a:r>
              <a:rPr lang="en-US" altLang="ru-RU" sz="1600" b="1" dirty="0">
                <a:solidFill>
                  <a:srgbClr val="3333FF"/>
                </a:solidFill>
              </a:rPr>
              <a:t>DISTINCT</a:t>
            </a:r>
            <a:r>
              <a:rPr lang="en-US" altLang="ru-RU" sz="1600" b="1" dirty="0"/>
              <a:t> </a:t>
            </a:r>
            <a:r>
              <a:rPr lang="ru-RU" altLang="ru-RU" sz="1600" b="1" dirty="0" err="1"/>
              <a:t>НомПР</a:t>
            </a:r>
            <a:endParaRPr lang="en-US" altLang="ru-RU" sz="1600" b="1" dirty="0"/>
          </a:p>
          <a:p>
            <a:pPr marL="0" indent="0">
              <a:buFont typeface="Wingdings" pitchFamily="2" charset="2"/>
              <a:buNone/>
              <a:defRPr/>
            </a:pPr>
            <a:r>
              <a:rPr lang="en-US" altLang="ru-RU" sz="1600" dirty="0"/>
              <a:t>FROM </a:t>
            </a:r>
            <a:r>
              <a:rPr lang="ru-RU" altLang="ru-RU" sz="1600" dirty="0"/>
              <a:t>ПОКУПКИ;</a:t>
            </a:r>
          </a:p>
          <a:p>
            <a:pPr marL="0" indent="0">
              <a:buNone/>
              <a:defRPr/>
            </a:pPr>
            <a:r>
              <a:rPr lang="ru-RU" altLang="ru-RU" sz="1600" i="1" dirty="0">
                <a:solidFill>
                  <a:srgbClr val="0070C0"/>
                </a:solidFill>
              </a:rPr>
              <a:t>Использование агрегатных функций (</a:t>
            </a:r>
            <a:r>
              <a:rPr lang="en-US" altLang="ru-RU" sz="1600" dirty="0" err="1">
                <a:solidFill>
                  <a:srgbClr val="FF0000"/>
                </a:solidFill>
              </a:rPr>
              <a:t>function_agregate</a:t>
            </a:r>
            <a:r>
              <a:rPr lang="en-US" altLang="ru-RU" sz="1600" dirty="0">
                <a:solidFill>
                  <a:srgbClr val="FF0000"/>
                </a:solidFill>
              </a:rPr>
              <a:t> </a:t>
            </a:r>
            <a:r>
              <a:rPr lang="ru-RU" altLang="ru-RU" sz="1600" i="1" dirty="0">
                <a:solidFill>
                  <a:srgbClr val="0070C0"/>
                </a:solidFill>
              </a:rPr>
              <a:t>) </a:t>
            </a:r>
            <a:br>
              <a:rPr lang="ru-RU" altLang="ru-RU" sz="1600" i="1" dirty="0">
                <a:solidFill>
                  <a:srgbClr val="0070C0"/>
                </a:solidFill>
              </a:rPr>
            </a:br>
            <a:r>
              <a:rPr lang="ru-RU" altLang="ru-RU" sz="1600" i="1" dirty="0">
                <a:solidFill>
                  <a:srgbClr val="0070C0"/>
                </a:solidFill>
              </a:rPr>
              <a:t>и переименование колонки (</a:t>
            </a:r>
            <a:r>
              <a:rPr lang="en-US" altLang="ru-RU" sz="1600" dirty="0">
                <a:solidFill>
                  <a:srgbClr val="FF0000"/>
                </a:solidFill>
              </a:rPr>
              <a:t>AS </a:t>
            </a:r>
            <a:r>
              <a:rPr lang="en-US" altLang="ru-RU" sz="1600" dirty="0" err="1">
                <a:solidFill>
                  <a:srgbClr val="FF0000"/>
                </a:solidFill>
              </a:rPr>
              <a:t>new_field_name</a:t>
            </a:r>
            <a:r>
              <a:rPr lang="ru-RU" altLang="ru-RU" sz="1600" i="1" dirty="0">
                <a:solidFill>
                  <a:srgbClr val="0070C0"/>
                </a:solidFill>
              </a:rPr>
              <a:t>)</a:t>
            </a:r>
          </a:p>
          <a:p>
            <a:pPr marL="0" indent="0">
              <a:buNone/>
              <a:defRPr/>
            </a:pPr>
            <a:endParaRPr lang="ru-RU" altLang="ru-RU" sz="1600" i="1" dirty="0">
              <a:solidFill>
                <a:srgbClr val="0070C0"/>
              </a:solidFill>
            </a:endParaRPr>
          </a:p>
          <a:p>
            <a:pPr marL="0" indent="0">
              <a:buNone/>
              <a:defRPr/>
            </a:pPr>
            <a:r>
              <a:rPr lang="en-US" altLang="ru-RU" sz="1600" b="1" dirty="0"/>
              <a:t>SELECT </a:t>
            </a:r>
            <a:r>
              <a:rPr lang="ru-RU" altLang="ru-RU" sz="1600" b="1" dirty="0" err="1"/>
              <a:t>НомПР</a:t>
            </a:r>
            <a:r>
              <a:rPr lang="en-US" altLang="ru-RU" sz="1600" b="1" dirty="0"/>
              <a:t>, max(</a:t>
            </a:r>
            <a:r>
              <a:rPr lang="ru-RU" altLang="ru-RU" sz="1600" b="1" dirty="0"/>
              <a:t>СП</a:t>
            </a:r>
            <a:r>
              <a:rPr lang="en-US" altLang="ru-RU" sz="1600" b="1" dirty="0"/>
              <a:t>) AS </a:t>
            </a:r>
            <a:r>
              <a:rPr lang="ru-RU" altLang="ru-RU" sz="1600" b="1" dirty="0"/>
              <a:t>Макс-СП</a:t>
            </a:r>
            <a:endParaRPr lang="en-US" altLang="ru-RU" sz="1600" b="1" dirty="0"/>
          </a:p>
          <a:p>
            <a:pPr marL="0" indent="0">
              <a:buNone/>
              <a:defRPr/>
            </a:pPr>
            <a:r>
              <a:rPr lang="en-US" altLang="ru-RU" sz="1600" dirty="0"/>
              <a:t>FROM </a:t>
            </a:r>
            <a:r>
              <a:rPr lang="ru-RU" altLang="ru-RU" sz="1600" dirty="0"/>
              <a:t>ПОКУПКИ</a:t>
            </a:r>
          </a:p>
          <a:p>
            <a:pPr marL="0" indent="0">
              <a:buNone/>
              <a:defRPr/>
            </a:pPr>
            <a:r>
              <a:rPr lang="en-US" altLang="ru-RU" sz="1600" dirty="0"/>
              <a:t>GROUP BY </a:t>
            </a:r>
            <a:r>
              <a:rPr lang="ru-RU" altLang="ru-RU" sz="1600" dirty="0" err="1"/>
              <a:t>НомПР</a:t>
            </a:r>
            <a:r>
              <a:rPr lang="ru-RU" altLang="ru-RU" sz="1600" dirty="0"/>
              <a:t>;</a:t>
            </a:r>
          </a:p>
          <a:p>
            <a:pPr marL="0" indent="0">
              <a:buFont typeface="Wingdings" pitchFamily="2" charset="2"/>
              <a:buNone/>
              <a:defRPr/>
            </a:pPr>
            <a:endParaRPr lang="ru-RU" altLang="ru-RU" sz="1600" dirty="0"/>
          </a:p>
          <a:p>
            <a:pPr marL="0" indent="0">
              <a:buFont typeface="Wingdings" pitchFamily="2" charset="2"/>
              <a:buNone/>
              <a:defRPr/>
            </a:pPr>
            <a:endParaRPr lang="ru-RU" altLang="ru-RU" sz="1600" dirty="0"/>
          </a:p>
          <a:p>
            <a:pPr marL="0" indent="0">
              <a:buFont typeface="Wingdings" pitchFamily="2" charset="2"/>
              <a:buNone/>
              <a:defRPr/>
            </a:pPr>
            <a:endParaRPr lang="ru-RU" altLang="ru-RU" sz="1600" dirty="0"/>
          </a:p>
          <a:p>
            <a:pPr marL="0" indent="0">
              <a:buFont typeface="Wingdings" pitchFamily="2" charset="2"/>
              <a:buNone/>
              <a:defRPr/>
            </a:pPr>
            <a:endParaRPr lang="ru-RU" altLang="ru-RU" sz="1600" dirty="0"/>
          </a:p>
          <a:p>
            <a:pPr marL="0" indent="0">
              <a:buFont typeface="Wingdings" pitchFamily="2" charset="2"/>
              <a:buNone/>
              <a:defRPr/>
            </a:pPr>
            <a:endParaRPr lang="ru-RU" altLang="ru-RU" sz="1600" dirty="0"/>
          </a:p>
          <a:p>
            <a:pPr marL="0" indent="0">
              <a:buFont typeface="Wingdings" pitchFamily="2" charset="2"/>
              <a:buNone/>
              <a:defRPr/>
            </a:pPr>
            <a:endParaRPr lang="ru-RU" altLang="ru-RU" sz="1600" dirty="0"/>
          </a:p>
        </p:txBody>
      </p:sp>
      <p:sp>
        <p:nvSpPr>
          <p:cNvPr id="13316" name="Номер слайда 3"/>
          <p:cNvSpPr>
            <a:spLocks noGrp="1"/>
          </p:cNvSpPr>
          <p:nvPr>
            <p:ph type="sldNum" sz="quarter" idx="11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0022656B-0E15-46C5-A923-74CA88D87A55}" type="slidenum">
              <a:rPr lang="ru-RU" altLang="ru-RU" smtClean="0"/>
              <a:pPr/>
              <a:t>11</a:t>
            </a:fld>
            <a:endParaRPr lang="ru-RU" altLang="ru-RU"/>
          </a:p>
        </p:txBody>
      </p:sp>
      <p:graphicFrame>
        <p:nvGraphicFramePr>
          <p:cNvPr id="3" name="Таблица 2">
            <a:extLst>
              <a:ext uri="{FF2B5EF4-FFF2-40B4-BE49-F238E27FC236}">
                <a16:creationId xmlns:a16="http://schemas.microsoft.com/office/drawing/2014/main" id="{0A07CCAE-CA7D-464B-901C-85ED7456F3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76725482"/>
              </p:ext>
            </p:extLst>
          </p:nvPr>
        </p:nvGraphicFramePr>
        <p:xfrm>
          <a:off x="3710243" y="2420888"/>
          <a:ext cx="4978896" cy="2049780"/>
        </p:xfrm>
        <a:graphic>
          <a:graphicData uri="http://schemas.openxmlformats.org/drawingml/2006/table">
            <a:tbl>
              <a:tblPr/>
              <a:tblGrid>
                <a:gridCol w="1244724">
                  <a:extLst>
                    <a:ext uri="{9D8B030D-6E8A-4147-A177-3AD203B41FA5}">
                      <a16:colId xmlns:a16="http://schemas.microsoft.com/office/drawing/2014/main" val="2901628414"/>
                    </a:ext>
                  </a:extLst>
                </a:gridCol>
                <a:gridCol w="1244724">
                  <a:extLst>
                    <a:ext uri="{9D8B030D-6E8A-4147-A177-3AD203B41FA5}">
                      <a16:colId xmlns:a16="http://schemas.microsoft.com/office/drawing/2014/main" val="3293938973"/>
                    </a:ext>
                  </a:extLst>
                </a:gridCol>
                <a:gridCol w="1244724">
                  <a:extLst>
                    <a:ext uri="{9D8B030D-6E8A-4147-A177-3AD203B41FA5}">
                      <a16:colId xmlns:a16="http://schemas.microsoft.com/office/drawing/2014/main" val="1916566403"/>
                    </a:ext>
                  </a:extLst>
                </a:gridCol>
                <a:gridCol w="1244724">
                  <a:extLst>
                    <a:ext uri="{9D8B030D-6E8A-4147-A177-3AD203B41FA5}">
                      <a16:colId xmlns:a16="http://schemas.microsoft.com/office/drawing/2014/main" val="2240720695"/>
                    </a:ext>
                  </a:extLst>
                </a:gridCol>
              </a:tblGrid>
              <a:tr h="250825">
                <a:tc>
                  <a:txBody>
                    <a:bodyPr/>
                    <a:lstStyle/>
                    <a:p>
                      <a:pPr fontAlgn="b"/>
                      <a:r>
                        <a:rPr lang="ru-RU" sz="1400" b="1">
                          <a:solidFill>
                            <a:srgbClr val="3F863F"/>
                          </a:solidFill>
                          <a:effectLst/>
                        </a:rPr>
                        <a:t>НОМПР</a:t>
                      </a:r>
                    </a:p>
                  </a:txBody>
                  <a:tcPr marL="85725" marR="85725" marT="28575" marB="28575" anchor="b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CCF"/>
                    </a:solidFill>
                  </a:tcPr>
                </a:tc>
                <a:tc>
                  <a:txBody>
                    <a:bodyPr/>
                    <a:lstStyle/>
                    <a:p>
                      <a:pPr fontAlgn="b"/>
                      <a:r>
                        <a:rPr lang="ru-RU" sz="1400" b="1">
                          <a:solidFill>
                            <a:srgbClr val="3F863F"/>
                          </a:solidFill>
                          <a:effectLst/>
                        </a:rPr>
                        <a:t>ИМЯПР</a:t>
                      </a:r>
                    </a:p>
                  </a:txBody>
                  <a:tcPr marL="85725" marR="85725" marT="28575" marB="28575" anchor="b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CCF"/>
                    </a:solidFill>
                  </a:tcPr>
                </a:tc>
                <a:tc>
                  <a:txBody>
                    <a:bodyPr/>
                    <a:lstStyle/>
                    <a:p>
                      <a:pPr fontAlgn="b"/>
                      <a:r>
                        <a:rPr lang="ru-RU" sz="1400" b="1">
                          <a:solidFill>
                            <a:srgbClr val="3F863F"/>
                          </a:solidFill>
                          <a:effectLst/>
                        </a:rPr>
                        <a:t>ГОРОД</a:t>
                      </a:r>
                    </a:p>
                  </a:txBody>
                  <a:tcPr marL="85725" marR="85725" marT="28575" marB="28575" anchor="b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CCF"/>
                    </a:solidFill>
                  </a:tcPr>
                </a:tc>
                <a:tc>
                  <a:txBody>
                    <a:bodyPr/>
                    <a:lstStyle/>
                    <a:p>
                      <a:pPr fontAlgn="b"/>
                      <a:r>
                        <a:rPr lang="ru-RU" sz="1400" b="1">
                          <a:solidFill>
                            <a:srgbClr val="3F863F"/>
                          </a:solidFill>
                          <a:effectLst/>
                        </a:rPr>
                        <a:t>КОММ</a:t>
                      </a:r>
                    </a:p>
                  </a:txBody>
                  <a:tcPr marL="85725" marR="85725" marT="28575" marB="28575" anchor="b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C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0287518"/>
                  </a:ext>
                </a:extLst>
              </a:tr>
              <a:tr h="250825">
                <a:tc>
                  <a:txBody>
                    <a:bodyPr/>
                    <a:lstStyle/>
                    <a:p>
                      <a:r>
                        <a:rPr lang="ru-RU" sz="1400">
                          <a:effectLst/>
                        </a:rPr>
                        <a:t>1004</a:t>
                      </a:r>
                    </a:p>
                  </a:txBody>
                  <a:tcPr marL="85725" marR="85725" marT="28575" marB="28575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400">
                          <a:effectLst/>
                        </a:rPr>
                        <a:t>Сидоров</a:t>
                      </a:r>
                    </a:p>
                  </a:txBody>
                  <a:tcPr marL="85725" marR="85725" marT="28575" marB="28575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400">
                          <a:effectLst/>
                        </a:rPr>
                        <a:t>Новосибирск</a:t>
                      </a:r>
                    </a:p>
                  </a:txBody>
                  <a:tcPr marL="85725" marR="85725" marT="28575" marB="28575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400">
                          <a:effectLst/>
                        </a:rPr>
                        <a:t>,11</a:t>
                      </a:r>
                    </a:p>
                  </a:txBody>
                  <a:tcPr marL="85725" marR="85725" marT="28575" marB="28575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3578598"/>
                  </a:ext>
                </a:extLst>
              </a:tr>
              <a:tr h="250825">
                <a:tc>
                  <a:txBody>
                    <a:bodyPr/>
                    <a:lstStyle/>
                    <a:p>
                      <a:r>
                        <a:rPr lang="ru-RU" sz="1400">
                          <a:effectLst/>
                        </a:rPr>
                        <a:t>1007</a:t>
                      </a:r>
                    </a:p>
                  </a:txBody>
                  <a:tcPr marL="85725" marR="85725" marT="28575" marB="28575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400">
                          <a:effectLst/>
                        </a:rPr>
                        <a:t>Голубев</a:t>
                      </a:r>
                    </a:p>
                  </a:txBody>
                  <a:tcPr marL="85725" marR="85725" marT="28575" marB="28575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400">
                          <a:effectLst/>
                        </a:rPr>
                        <a:t>Омск</a:t>
                      </a:r>
                    </a:p>
                  </a:txBody>
                  <a:tcPr marL="85725" marR="85725" marT="28575" marB="28575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400">
                          <a:effectLst/>
                        </a:rPr>
                        <a:t>,15</a:t>
                      </a:r>
                    </a:p>
                  </a:txBody>
                  <a:tcPr marL="85725" marR="85725" marT="28575" marB="28575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9159742"/>
                  </a:ext>
                </a:extLst>
              </a:tr>
              <a:tr h="250825">
                <a:tc>
                  <a:txBody>
                    <a:bodyPr/>
                    <a:lstStyle/>
                    <a:p>
                      <a:r>
                        <a:rPr lang="ru-RU" sz="1400">
                          <a:effectLst/>
                        </a:rPr>
                        <a:t>1001</a:t>
                      </a:r>
                    </a:p>
                  </a:txBody>
                  <a:tcPr marL="85725" marR="85725" marT="28575" marB="28575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400">
                          <a:effectLst/>
                        </a:rPr>
                        <a:t>Иванов</a:t>
                      </a:r>
                    </a:p>
                  </a:txBody>
                  <a:tcPr marL="85725" marR="85725" marT="28575" marB="28575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400">
                          <a:effectLst/>
                        </a:rPr>
                        <a:t>Новосибирск</a:t>
                      </a:r>
                    </a:p>
                  </a:txBody>
                  <a:tcPr marL="85725" marR="85725" marT="28575" marB="28575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400">
                          <a:effectLst/>
                        </a:rPr>
                        <a:t>,12</a:t>
                      </a:r>
                    </a:p>
                  </a:txBody>
                  <a:tcPr marL="85725" marR="85725" marT="28575" marB="28575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9314235"/>
                  </a:ext>
                </a:extLst>
              </a:tr>
              <a:tr h="250825">
                <a:tc>
                  <a:txBody>
                    <a:bodyPr/>
                    <a:lstStyle/>
                    <a:p>
                      <a:r>
                        <a:rPr lang="ru-RU" sz="1400">
                          <a:effectLst/>
                        </a:rPr>
                        <a:t>1002</a:t>
                      </a:r>
                    </a:p>
                  </a:txBody>
                  <a:tcPr marL="85725" marR="85725" marT="28575" marB="28575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400">
                          <a:effectLst/>
                        </a:rPr>
                        <a:t>Петров</a:t>
                      </a:r>
                    </a:p>
                  </a:txBody>
                  <a:tcPr marL="85725" marR="85725" marT="28575" marB="28575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400">
                          <a:effectLst/>
                        </a:rPr>
                        <a:t>Кемерово</a:t>
                      </a:r>
                    </a:p>
                  </a:txBody>
                  <a:tcPr marL="85725" marR="85725" marT="28575" marB="28575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400">
                          <a:effectLst/>
                        </a:rPr>
                        <a:t>,13</a:t>
                      </a:r>
                    </a:p>
                  </a:txBody>
                  <a:tcPr marL="85725" marR="85725" marT="28575" marB="28575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2529572"/>
                  </a:ext>
                </a:extLst>
              </a:tr>
              <a:tr h="250825">
                <a:tc>
                  <a:txBody>
                    <a:bodyPr/>
                    <a:lstStyle/>
                    <a:p>
                      <a:r>
                        <a:rPr lang="ru-RU" sz="1400">
                          <a:effectLst/>
                        </a:rPr>
                        <a:t>1003</a:t>
                      </a:r>
                    </a:p>
                  </a:txBody>
                  <a:tcPr marL="85725" marR="85725" marT="28575" marB="28575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400">
                          <a:effectLst/>
                        </a:rPr>
                        <a:t>Кузнецов</a:t>
                      </a:r>
                    </a:p>
                  </a:txBody>
                  <a:tcPr marL="85725" marR="85725" marT="28575" marB="28575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400">
                          <a:effectLst/>
                        </a:rPr>
                        <a:t>Томск</a:t>
                      </a:r>
                    </a:p>
                  </a:txBody>
                  <a:tcPr marL="85725" marR="85725" marT="28575" marB="28575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effectLst/>
                        </a:rPr>
                        <a:t>,1</a:t>
                      </a:r>
                    </a:p>
                  </a:txBody>
                  <a:tcPr marL="85725" marR="85725" marT="28575" marB="28575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5244660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12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112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112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112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2000"/>
                                        <p:tgtEl>
                                          <p:spTgt spid="112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2000"/>
                                        <p:tgtEl>
                                          <p:spTgt spid="112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2000"/>
                                        <p:tgtEl>
                                          <p:spTgt spid="1126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2000"/>
                                        <p:tgtEl>
                                          <p:spTgt spid="1126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2000"/>
                                        <p:tgtEl>
                                          <p:spTgt spid="1126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2000"/>
                                        <p:tgtEl>
                                          <p:spTgt spid="1126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000"/>
                                        <p:tgtEl>
                                          <p:spTgt spid="1126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2000"/>
                                        <p:tgtEl>
                                          <p:spTgt spid="1126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2000"/>
                                        <p:tgtEl>
                                          <p:spTgt spid="1126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67" grpId="0" uiExpand="1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333375"/>
            <a:ext cx="8218487" cy="575345"/>
          </a:xfrm>
        </p:spPr>
        <p:txBody>
          <a:bodyPr/>
          <a:lstStyle/>
          <a:p>
            <a:pPr algn="ctr"/>
            <a:r>
              <a:rPr lang="ru-RU" altLang="ru-RU" sz="4000" dirty="0"/>
              <a:t>ПОКУПКИ</a:t>
            </a:r>
          </a:p>
        </p:txBody>
      </p:sp>
      <p:graphicFrame>
        <p:nvGraphicFramePr>
          <p:cNvPr id="41322" name="Group 362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75532897"/>
              </p:ext>
            </p:extLst>
          </p:nvPr>
        </p:nvGraphicFramePr>
        <p:xfrm>
          <a:off x="251520" y="1124744"/>
          <a:ext cx="8686800" cy="5048251"/>
        </p:xfrm>
        <a:graphic>
          <a:graphicData uri="http://schemas.openxmlformats.org/drawingml/2006/table">
            <a:tbl>
              <a:tblPr/>
              <a:tblGrid>
                <a:gridCol w="17376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60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76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3601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3937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37191"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НП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3333FF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СП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3333FF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Дата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3333FF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24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НомП</a:t>
                      </a:r>
                      <a:endParaRPr kumimoji="0" lang="en-US" sz="2400" b="1" i="0" u="none" strike="noStrike" kern="1200" cap="none" normalizeH="0" baseline="0" dirty="0">
                        <a:ln>
                          <a:noFill/>
                        </a:ln>
                        <a:solidFill>
                          <a:srgbClr val="3333FF"/>
                        </a:solidFill>
                        <a:effectLst/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2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НомПР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3333FF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0092"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3001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18.69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10/03/2000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2008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1007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2120"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3003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767.19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10/03/2000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200</a:t>
                      </a: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1001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0092"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3002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1900.10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10/03/2000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200</a:t>
                      </a: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7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1004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2120"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3005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5160.45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10/03/2000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2003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1002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0092"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3006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1098.16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10/03/2000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2008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1007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2120"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3009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1713.23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10/04/2000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2002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1003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0092"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3007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75.75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10/04/2000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2004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1002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2120"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3008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4723.00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10/05/2000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2006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1001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50092"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3010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1309.95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10/06/2000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2004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1002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52120"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3011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9891.88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10/06/2000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2006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1001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14413" name="Номер слайда 3"/>
          <p:cNvSpPr>
            <a:spLocks noGrp="1"/>
          </p:cNvSpPr>
          <p:nvPr>
            <p:ph type="sldNum" sz="quarter" idx="11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29DD420E-6D7C-4C04-ABD9-86763A657356}" type="slidenum">
              <a:rPr lang="ru-RU" altLang="ru-RU" smtClean="0"/>
              <a:pPr/>
              <a:t>12</a:t>
            </a:fld>
            <a:endParaRPr lang="ru-RU" altLang="ru-RU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Объект 2"/>
          <p:cNvSpPr>
            <a:spLocks noGrp="1"/>
          </p:cNvSpPr>
          <p:nvPr>
            <p:ph idx="1"/>
          </p:nvPr>
        </p:nvSpPr>
        <p:spPr>
          <a:xfrm>
            <a:off x="107504" y="1052513"/>
            <a:ext cx="8928992" cy="5689600"/>
          </a:xfrm>
        </p:spPr>
        <p:txBody>
          <a:bodyPr/>
          <a:lstStyle/>
          <a:p>
            <a:pPr marL="0" indent="0">
              <a:buFont typeface="Wingdings" pitchFamily="2" charset="2"/>
              <a:buNone/>
            </a:pPr>
            <a:r>
              <a:rPr lang="en-US" altLang="ru-RU" sz="2400" dirty="0"/>
              <a:t>SELECT </a:t>
            </a:r>
            <a:r>
              <a:rPr lang="ru-RU" altLang="ru-RU" sz="2400" dirty="0" err="1"/>
              <a:t>НомПР</a:t>
            </a:r>
            <a:r>
              <a:rPr lang="en-US" altLang="ru-RU" sz="2400" dirty="0"/>
              <a:t>             SELECT DISTINCT</a:t>
            </a:r>
            <a:r>
              <a:rPr lang="ru-RU" altLang="ru-RU" sz="2400" dirty="0"/>
              <a:t> </a:t>
            </a:r>
            <a:r>
              <a:rPr lang="ru-RU" altLang="ru-RU" sz="2400" dirty="0" err="1"/>
              <a:t>НомПР</a:t>
            </a:r>
            <a:endParaRPr lang="en-US" altLang="ru-RU" sz="2400" dirty="0"/>
          </a:p>
          <a:p>
            <a:pPr marL="0" indent="0">
              <a:buFont typeface="Wingdings" pitchFamily="2" charset="2"/>
              <a:buNone/>
            </a:pPr>
            <a:r>
              <a:rPr lang="en-US" altLang="ru-RU" sz="2400" dirty="0"/>
              <a:t>FROM   </a:t>
            </a:r>
            <a:r>
              <a:rPr lang="ru-RU" altLang="ru-RU" sz="2400" dirty="0"/>
              <a:t>ПОКУПКИ</a:t>
            </a:r>
            <a:r>
              <a:rPr lang="en-US" altLang="ru-RU" sz="2400" dirty="0"/>
              <a:t>;            FROM   </a:t>
            </a:r>
            <a:r>
              <a:rPr lang="ru-RU" altLang="ru-RU" sz="2400" dirty="0"/>
              <a:t>ПОКУПКИ</a:t>
            </a:r>
            <a:endParaRPr lang="en-US" altLang="ru-RU" sz="2400" dirty="0"/>
          </a:p>
          <a:p>
            <a:pPr marL="0" indent="0">
              <a:buFont typeface="Wingdings" pitchFamily="2" charset="2"/>
              <a:buNone/>
            </a:pPr>
            <a:r>
              <a:rPr lang="en-US" altLang="ru-RU" sz="2400" dirty="0"/>
              <a:t>				ORDER BY </a:t>
            </a:r>
            <a:r>
              <a:rPr lang="ru-RU" altLang="ru-RU" sz="2400" dirty="0" err="1"/>
              <a:t>НомПР</a:t>
            </a:r>
            <a:r>
              <a:rPr lang="en-US" altLang="ru-RU" sz="2400" dirty="0"/>
              <a:t>;</a:t>
            </a:r>
          </a:p>
          <a:p>
            <a:pPr marL="0" indent="0">
              <a:buFont typeface="Wingdings" pitchFamily="2" charset="2"/>
              <a:buNone/>
            </a:pPr>
            <a:r>
              <a:rPr lang="en-US" altLang="ru-RU" sz="2400" dirty="0"/>
              <a:t>    </a:t>
            </a:r>
          </a:p>
          <a:p>
            <a:pPr marL="0" indent="0">
              <a:buFont typeface="Wingdings" pitchFamily="2" charset="2"/>
              <a:buNone/>
            </a:pPr>
            <a:endParaRPr lang="ru-RU" altLang="ru-RU" sz="2400" dirty="0"/>
          </a:p>
        </p:txBody>
      </p:sp>
      <p:sp>
        <p:nvSpPr>
          <p:cNvPr id="15363" name="Заголовок 1"/>
          <p:cNvSpPr>
            <a:spLocks noGrp="1"/>
          </p:cNvSpPr>
          <p:nvPr>
            <p:ph type="title"/>
          </p:nvPr>
        </p:nvSpPr>
        <p:spPr>
          <a:xfrm>
            <a:off x="468313" y="260350"/>
            <a:ext cx="8229600" cy="647700"/>
          </a:xfrm>
        </p:spPr>
        <p:txBody>
          <a:bodyPr/>
          <a:lstStyle/>
          <a:p>
            <a:pPr algn="ctr"/>
            <a:r>
              <a:rPr lang="ru-RU" altLang="ru-RU">
                <a:solidFill>
                  <a:schemeClr val="bg2"/>
                </a:solidFill>
              </a:rPr>
              <a:t>Примеры</a:t>
            </a:r>
            <a:r>
              <a:rPr lang="en-US" altLang="ru-RU">
                <a:solidFill>
                  <a:schemeClr val="bg2"/>
                </a:solidFill>
              </a:rPr>
              <a:t> (2)</a:t>
            </a:r>
            <a:endParaRPr lang="ru-RU" altLang="ru-RU">
              <a:solidFill>
                <a:schemeClr val="bg2"/>
              </a:solidFill>
            </a:endParaRPr>
          </a:p>
        </p:txBody>
      </p:sp>
      <p:graphicFrame>
        <p:nvGraphicFramePr>
          <p:cNvPr id="6" name="Таблица 5"/>
          <p:cNvGraphicFramePr>
            <a:graphicFrameLocks noGrp="1"/>
          </p:cNvGraphicFramePr>
          <p:nvPr/>
        </p:nvGraphicFramePr>
        <p:xfrm>
          <a:off x="1258888" y="2276475"/>
          <a:ext cx="1295400" cy="42275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5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5750">
                <a:tc>
                  <a:txBody>
                    <a:bodyPr/>
                    <a:lstStyle/>
                    <a:p>
                      <a:pPr algn="ctr"/>
                      <a:r>
                        <a:rPr lang="ru-RU" sz="1800" dirty="0" err="1"/>
                        <a:t>НомПР</a:t>
                      </a:r>
                      <a:endParaRPr lang="ru-RU" sz="1800" dirty="0"/>
                    </a:p>
                  </a:txBody>
                  <a:tcPr marL="91388" marR="91388" marT="45715" marB="4571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6176"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B0F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1007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B0F0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91388" marR="91388" marT="45715" marB="45715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6176"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92D05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1001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92D050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91388" marR="91388" marT="45715" marB="45715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6176"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1004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91388" marR="91388" marT="45715" marB="45715"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6176"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1002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91388" marR="91388" marT="45715" marB="45715" horzOverflow="overflow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6176"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B0F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1007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B0F0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91388" marR="91388" marT="45715" marB="45715" horzOverflow="overflow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6176"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1003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91388" marR="91388" marT="45715" marB="45715" horzOverflow="overflow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6176"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1002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91388" marR="91388" marT="45715" marB="45715" horzOverflow="overflow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6176"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92D05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1001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92D050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91388" marR="91388" marT="45715" marB="45715" horzOverflow="overflow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6176"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1002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91388" marR="91388" marT="45715" marB="45715" horzOverflow="overflow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86176"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92D05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1001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92D050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91388" marR="91388" marT="45715" marB="45715" horzOverflow="overflow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graphicFrame>
        <p:nvGraphicFramePr>
          <p:cNvPr id="7" name="Таблица 6"/>
          <p:cNvGraphicFramePr>
            <a:graphicFrameLocks noGrp="1"/>
          </p:cNvGraphicFramePr>
          <p:nvPr/>
        </p:nvGraphicFramePr>
        <p:xfrm>
          <a:off x="4716463" y="3284538"/>
          <a:ext cx="1319212" cy="22256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192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946">
                <a:tc>
                  <a:txBody>
                    <a:bodyPr/>
                    <a:lstStyle/>
                    <a:p>
                      <a:pPr algn="ctr"/>
                      <a:r>
                        <a:rPr lang="ru-RU" sz="1800" dirty="0" err="1"/>
                        <a:t>НомПР</a:t>
                      </a:r>
                      <a:endParaRPr lang="ru-RU" sz="1800" dirty="0"/>
                    </a:p>
                  </a:txBody>
                  <a:tcPr marL="91399" marR="91399" marT="45712" marB="45712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946"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1001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91399" marR="91399" marT="45712" marB="45712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946"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1002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91399" marR="91399" marT="45712" marB="45712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946"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1003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91399" marR="91399" marT="45712" marB="45712"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946"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1004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91399" marR="91399" marT="45712" marB="45712" horzOverflow="overflow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946"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1007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91399" marR="91399" marT="45712" marB="45712" horzOverflow="overflow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5406" name="Номер слайда 7"/>
          <p:cNvSpPr>
            <a:spLocks noGrp="1"/>
          </p:cNvSpPr>
          <p:nvPr>
            <p:ph type="sldNum" sz="quarter" idx="11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9299DDB5-DAA5-47E0-95A2-3DC65CFCEC5B}" type="slidenum">
              <a:rPr lang="ru-RU" altLang="ru-RU" smtClean="0"/>
              <a:pPr/>
              <a:t>13</a:t>
            </a:fld>
            <a:endParaRPr lang="ru-RU" altLang="ru-RU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Объект 2"/>
          <p:cNvSpPr>
            <a:spLocks noGrp="1"/>
          </p:cNvSpPr>
          <p:nvPr>
            <p:ph idx="1"/>
          </p:nvPr>
        </p:nvSpPr>
        <p:spPr>
          <a:xfrm>
            <a:off x="107504" y="1052513"/>
            <a:ext cx="8928992" cy="5689600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en-US" altLang="ru-RU" sz="2400" b="1" dirty="0"/>
              <a:t>SELECT </a:t>
            </a:r>
            <a:r>
              <a:rPr lang="ru-RU" altLang="ru-RU" sz="2400" b="1" dirty="0" err="1"/>
              <a:t>НомПР</a:t>
            </a:r>
            <a:r>
              <a:rPr lang="en-US" altLang="ru-RU" sz="2400" b="1" dirty="0"/>
              <a:t>, max(</a:t>
            </a:r>
            <a:r>
              <a:rPr lang="ru-RU" altLang="ru-RU" sz="2400" b="1" dirty="0"/>
              <a:t>СП</a:t>
            </a:r>
            <a:r>
              <a:rPr lang="en-US" altLang="ru-RU" sz="2400" b="1" dirty="0"/>
              <a:t>) AS </a:t>
            </a:r>
            <a:r>
              <a:rPr lang="ru-RU" altLang="ru-RU" sz="2400" b="1" dirty="0" err="1"/>
              <a:t>Макс_СП</a:t>
            </a:r>
            <a:endParaRPr lang="en-US" altLang="ru-RU" sz="2400" b="1" dirty="0"/>
          </a:p>
          <a:p>
            <a:pPr marL="0" indent="0">
              <a:buNone/>
              <a:defRPr/>
            </a:pPr>
            <a:r>
              <a:rPr lang="en-US" altLang="ru-RU" sz="2400" dirty="0"/>
              <a:t>FROM </a:t>
            </a:r>
            <a:r>
              <a:rPr lang="ru-RU" altLang="ru-RU" sz="2400" dirty="0"/>
              <a:t>ПОКУПКИ</a:t>
            </a:r>
          </a:p>
          <a:p>
            <a:pPr marL="0" indent="0">
              <a:buNone/>
              <a:defRPr/>
            </a:pPr>
            <a:r>
              <a:rPr lang="en-US" altLang="ru-RU" sz="2400" dirty="0"/>
              <a:t>GROUP BY </a:t>
            </a:r>
            <a:r>
              <a:rPr lang="ru-RU" altLang="ru-RU" sz="2400" dirty="0" err="1"/>
              <a:t>НомПР</a:t>
            </a:r>
            <a:endParaRPr lang="ru-RU" altLang="ru-RU" sz="2400" dirty="0"/>
          </a:p>
          <a:p>
            <a:pPr marL="0" indent="0">
              <a:buNone/>
              <a:defRPr/>
            </a:pPr>
            <a:r>
              <a:rPr lang="en-US" altLang="ru-RU" sz="2400" dirty="0"/>
              <a:t>ORDER BY </a:t>
            </a:r>
            <a:r>
              <a:rPr lang="ru-RU" altLang="ru-RU" sz="2400" dirty="0" err="1"/>
              <a:t>НомПР</a:t>
            </a:r>
            <a:r>
              <a:rPr lang="en-US" altLang="ru-RU" sz="2400" dirty="0"/>
              <a:t>;</a:t>
            </a:r>
            <a:endParaRPr lang="ru-RU" altLang="ru-RU" sz="2400" dirty="0"/>
          </a:p>
          <a:p>
            <a:pPr marL="0" indent="0">
              <a:buFont typeface="Wingdings" pitchFamily="2" charset="2"/>
              <a:buNone/>
            </a:pPr>
            <a:endParaRPr lang="ru-RU" altLang="ru-RU" sz="2400" dirty="0"/>
          </a:p>
        </p:txBody>
      </p:sp>
      <p:sp>
        <p:nvSpPr>
          <p:cNvPr id="15363" name="Заголовок 1"/>
          <p:cNvSpPr>
            <a:spLocks noGrp="1"/>
          </p:cNvSpPr>
          <p:nvPr>
            <p:ph type="title"/>
          </p:nvPr>
        </p:nvSpPr>
        <p:spPr>
          <a:xfrm>
            <a:off x="468313" y="260350"/>
            <a:ext cx="8229600" cy="647700"/>
          </a:xfrm>
        </p:spPr>
        <p:txBody>
          <a:bodyPr/>
          <a:lstStyle/>
          <a:p>
            <a:pPr algn="ctr"/>
            <a:r>
              <a:rPr lang="ru-RU" altLang="ru-RU" dirty="0">
                <a:solidFill>
                  <a:schemeClr val="bg2"/>
                </a:solidFill>
              </a:rPr>
              <a:t>Примеры</a:t>
            </a:r>
            <a:r>
              <a:rPr lang="en-US" altLang="ru-RU" dirty="0">
                <a:solidFill>
                  <a:schemeClr val="bg2"/>
                </a:solidFill>
              </a:rPr>
              <a:t> (</a:t>
            </a:r>
            <a:r>
              <a:rPr lang="ru-RU" altLang="ru-RU" dirty="0">
                <a:solidFill>
                  <a:schemeClr val="bg2"/>
                </a:solidFill>
              </a:rPr>
              <a:t>3</a:t>
            </a:r>
            <a:r>
              <a:rPr lang="en-US" altLang="ru-RU" dirty="0">
                <a:solidFill>
                  <a:schemeClr val="bg2"/>
                </a:solidFill>
              </a:rPr>
              <a:t>)</a:t>
            </a:r>
            <a:endParaRPr lang="ru-RU" altLang="ru-RU" dirty="0">
              <a:solidFill>
                <a:schemeClr val="bg2"/>
              </a:solidFill>
            </a:endParaRPr>
          </a:p>
        </p:txBody>
      </p:sp>
      <p:sp>
        <p:nvSpPr>
          <p:cNvPr id="15406" name="Номер слайда 7"/>
          <p:cNvSpPr>
            <a:spLocks noGrp="1"/>
          </p:cNvSpPr>
          <p:nvPr>
            <p:ph type="sldNum" sz="quarter" idx="11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9299DDB5-DAA5-47E0-95A2-3DC65CFCEC5B}" type="slidenum">
              <a:rPr lang="ru-RU" altLang="ru-RU" smtClean="0"/>
              <a:pPr/>
              <a:t>14</a:t>
            </a:fld>
            <a:endParaRPr lang="ru-RU" altLang="ru-RU"/>
          </a:p>
        </p:txBody>
      </p:sp>
      <p:graphicFrame>
        <p:nvGraphicFramePr>
          <p:cNvPr id="2" name="Таблица 1">
            <a:extLst>
              <a:ext uri="{FF2B5EF4-FFF2-40B4-BE49-F238E27FC236}">
                <a16:creationId xmlns:a16="http://schemas.microsoft.com/office/drawing/2014/main" id="{EBB85CC8-8B61-47D7-B836-806805CAFE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5568641"/>
              </p:ext>
            </p:extLst>
          </p:nvPr>
        </p:nvGraphicFramePr>
        <p:xfrm>
          <a:off x="1619672" y="3212976"/>
          <a:ext cx="6120680" cy="2171700"/>
        </p:xfrm>
        <a:graphic>
          <a:graphicData uri="http://schemas.openxmlformats.org/drawingml/2006/table">
            <a:tbl>
              <a:tblPr/>
              <a:tblGrid>
                <a:gridCol w="3060340">
                  <a:extLst>
                    <a:ext uri="{9D8B030D-6E8A-4147-A177-3AD203B41FA5}">
                      <a16:colId xmlns:a16="http://schemas.microsoft.com/office/drawing/2014/main" val="4280929804"/>
                    </a:ext>
                  </a:extLst>
                </a:gridCol>
                <a:gridCol w="3060340">
                  <a:extLst>
                    <a:ext uri="{9D8B030D-6E8A-4147-A177-3AD203B41FA5}">
                      <a16:colId xmlns:a16="http://schemas.microsoft.com/office/drawing/2014/main" val="127476462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fontAlgn="b"/>
                      <a:r>
                        <a:rPr lang="ru-RU" sz="2000" b="1" dirty="0">
                          <a:solidFill>
                            <a:srgbClr val="3F863F"/>
                          </a:solidFill>
                          <a:effectLst/>
                        </a:rPr>
                        <a:t>НОМПР</a:t>
                      </a:r>
                    </a:p>
                  </a:txBody>
                  <a:tcPr marL="85725" marR="85725" marT="28575" marB="28575" anchor="b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CC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2000" b="1" dirty="0">
                          <a:solidFill>
                            <a:srgbClr val="3F863F"/>
                          </a:solidFill>
                          <a:effectLst/>
                        </a:rPr>
                        <a:t>МАКС_СП</a:t>
                      </a:r>
                    </a:p>
                  </a:txBody>
                  <a:tcPr marL="85725" marR="85725" marT="28575" marB="28575" anchor="b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C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86429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ru-RU" sz="2000">
                          <a:effectLst/>
                        </a:rPr>
                        <a:t>1001</a:t>
                      </a:r>
                    </a:p>
                  </a:txBody>
                  <a:tcPr marL="85725" marR="85725" marT="28575" marB="28575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>
                          <a:effectLst/>
                        </a:rPr>
                        <a:t>9891,88</a:t>
                      </a:r>
                    </a:p>
                  </a:txBody>
                  <a:tcPr marL="85725" marR="85725" marT="28575" marB="28575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90521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ru-RU" sz="2000">
                          <a:effectLst/>
                        </a:rPr>
                        <a:t>1002</a:t>
                      </a:r>
                    </a:p>
                  </a:txBody>
                  <a:tcPr marL="85725" marR="85725" marT="28575" marB="28575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>
                          <a:effectLst/>
                        </a:rPr>
                        <a:t>5160,45</a:t>
                      </a:r>
                    </a:p>
                  </a:txBody>
                  <a:tcPr marL="85725" marR="85725" marT="28575" marB="28575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61111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ru-RU" sz="2000">
                          <a:effectLst/>
                        </a:rPr>
                        <a:t>1003</a:t>
                      </a:r>
                    </a:p>
                  </a:txBody>
                  <a:tcPr marL="85725" marR="85725" marT="28575" marB="28575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>
                          <a:effectLst/>
                        </a:rPr>
                        <a:t>1713,23</a:t>
                      </a:r>
                    </a:p>
                  </a:txBody>
                  <a:tcPr marL="85725" marR="85725" marT="28575" marB="28575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21469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ru-RU" sz="2000">
                          <a:effectLst/>
                        </a:rPr>
                        <a:t>1004</a:t>
                      </a:r>
                    </a:p>
                  </a:txBody>
                  <a:tcPr marL="85725" marR="85725" marT="28575" marB="28575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>
                          <a:effectLst/>
                        </a:rPr>
                        <a:t>1900,1</a:t>
                      </a:r>
                    </a:p>
                  </a:txBody>
                  <a:tcPr marL="85725" marR="85725" marT="28575" marB="28575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11097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ru-RU" sz="2000" dirty="0">
                          <a:effectLst/>
                        </a:rPr>
                        <a:t>1007</a:t>
                      </a:r>
                    </a:p>
                  </a:txBody>
                  <a:tcPr marL="85725" marR="85725" marT="28575" marB="28575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dirty="0">
                          <a:effectLst/>
                        </a:rPr>
                        <a:t>1098,16</a:t>
                      </a:r>
                    </a:p>
                  </a:txBody>
                  <a:tcPr marL="85725" marR="85725" marT="28575" marB="28575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51362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330944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Заголовок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811213"/>
          </a:xfrm>
        </p:spPr>
        <p:txBody>
          <a:bodyPr/>
          <a:lstStyle/>
          <a:p>
            <a:pPr algn="ctr"/>
            <a:r>
              <a:rPr lang="ru-RU" altLang="ru-RU" sz="3600">
                <a:solidFill>
                  <a:schemeClr val="bg2"/>
                </a:solidFill>
              </a:rPr>
              <a:t>Фраза </a:t>
            </a:r>
            <a:r>
              <a:rPr lang="en-US" altLang="ru-RU" sz="3600" b="1">
                <a:solidFill>
                  <a:schemeClr val="bg2"/>
                </a:solidFill>
              </a:rPr>
              <a:t>FROM</a:t>
            </a:r>
            <a:endParaRPr lang="ru-RU" altLang="ru-RU" sz="3600"/>
          </a:p>
        </p:txBody>
      </p:sp>
      <p:sp>
        <p:nvSpPr>
          <p:cNvPr id="16387" name="Объект 2"/>
          <p:cNvSpPr>
            <a:spLocks noGrp="1"/>
          </p:cNvSpPr>
          <p:nvPr>
            <p:ph idx="1"/>
          </p:nvPr>
        </p:nvSpPr>
        <p:spPr>
          <a:xfrm>
            <a:off x="0" y="1571625"/>
            <a:ext cx="9036050" cy="4229100"/>
          </a:xfrm>
        </p:spPr>
        <p:txBody>
          <a:bodyPr/>
          <a:lstStyle/>
          <a:p>
            <a:pPr marL="0" indent="0">
              <a:buFont typeface="Wingdings" pitchFamily="2" charset="2"/>
              <a:buNone/>
            </a:pPr>
            <a:r>
              <a:rPr lang="ru-RU" altLang="ru-RU" dirty="0"/>
              <a:t>Фраза </a:t>
            </a:r>
            <a:r>
              <a:rPr lang="ru-RU" altLang="ru-RU" b="1" dirty="0"/>
              <a:t>FROM</a:t>
            </a:r>
            <a:r>
              <a:rPr lang="ru-RU" altLang="ru-RU" dirty="0"/>
              <a:t> определяет одну или несколько таблиц или подзапросов, используемых для извлечения данных</a:t>
            </a:r>
            <a:endParaRPr lang="en-US" altLang="ru-RU" dirty="0"/>
          </a:p>
          <a:p>
            <a:pPr marL="0" indent="0">
              <a:buFont typeface="Wingdings" pitchFamily="2" charset="2"/>
              <a:buNone/>
            </a:pPr>
            <a:endParaRPr lang="en-US" altLang="ru-RU" b="1" dirty="0"/>
          </a:p>
          <a:p>
            <a:pPr marL="0" indent="0">
              <a:buFont typeface="Wingdings" pitchFamily="2" charset="2"/>
              <a:buNone/>
            </a:pPr>
            <a:r>
              <a:rPr lang="en-US" altLang="ru-RU" b="1" dirty="0"/>
              <a:t>FROM</a:t>
            </a:r>
            <a:r>
              <a:rPr lang="en-US" altLang="ru-RU" dirty="0"/>
              <a:t> </a:t>
            </a:r>
            <a:r>
              <a:rPr lang="en-US" altLang="ru-RU" sz="2800" dirty="0"/>
              <a:t>{{ </a:t>
            </a:r>
            <a:r>
              <a:rPr lang="ru-RU" altLang="ru-RU" sz="2800" dirty="0"/>
              <a:t>имя</a:t>
            </a:r>
            <a:r>
              <a:rPr lang="en-US" altLang="ru-RU" sz="2800" dirty="0"/>
              <a:t>_</a:t>
            </a:r>
            <a:r>
              <a:rPr lang="ru-RU" altLang="ru-RU" sz="2800" dirty="0"/>
              <a:t>таблицы</a:t>
            </a:r>
            <a:r>
              <a:rPr lang="en-US" altLang="ru-RU" sz="2800" dirty="0"/>
              <a:t> [AS] [</a:t>
            </a:r>
            <a:r>
              <a:rPr lang="en-US" altLang="ru-RU" sz="2800" dirty="0" err="1"/>
              <a:t>table_alias</a:t>
            </a:r>
            <a:r>
              <a:rPr lang="en-US" altLang="ru-RU" sz="2800" dirty="0"/>
              <a:t>] [(field .,:)]} </a:t>
            </a:r>
            <a:r>
              <a:rPr lang="en-US" altLang="ru-RU" dirty="0"/>
              <a:t/>
            </a:r>
            <a:br>
              <a:rPr lang="en-US" altLang="ru-RU" dirty="0"/>
            </a:br>
            <a:r>
              <a:rPr lang="en-US" altLang="ru-RU" dirty="0"/>
              <a:t>               | </a:t>
            </a:r>
            <a:r>
              <a:rPr lang="en-US" altLang="ru-RU" sz="2800" dirty="0"/>
              <a:t>{subquery [AS] </a:t>
            </a:r>
            <a:r>
              <a:rPr lang="en-US" altLang="ru-RU" sz="2800" dirty="0" err="1"/>
              <a:t>subquery_alas</a:t>
            </a:r>
            <a:r>
              <a:rPr lang="en-US" altLang="ru-RU" sz="2800" dirty="0"/>
              <a:t> [(field .,:)]} </a:t>
            </a:r>
            <a:br>
              <a:rPr lang="en-US" altLang="ru-RU" sz="2800" dirty="0"/>
            </a:br>
            <a:r>
              <a:rPr lang="en-US" altLang="ru-RU" dirty="0"/>
              <a:t>               | </a:t>
            </a:r>
            <a:r>
              <a:rPr lang="en-US" altLang="ru-RU" dirty="0" err="1"/>
              <a:t>union_table</a:t>
            </a:r>
            <a:r>
              <a:rPr lang="en-US" altLang="ru-RU" dirty="0"/>
              <a:t> </a:t>
            </a:r>
            <a:br>
              <a:rPr lang="en-US" altLang="ru-RU" dirty="0"/>
            </a:br>
            <a:r>
              <a:rPr lang="en-US" altLang="ru-RU" dirty="0"/>
              <a:t>               | </a:t>
            </a:r>
            <a:r>
              <a:rPr lang="en-US" altLang="ru-RU" dirty="0" err="1"/>
              <a:t>constructor_of_table_value</a:t>
            </a:r>
            <a:r>
              <a:rPr lang="en-US" altLang="ru-RU" dirty="0"/>
              <a:t> </a:t>
            </a:r>
            <a:br>
              <a:rPr lang="en-US" altLang="ru-RU" dirty="0"/>
            </a:br>
            <a:r>
              <a:rPr lang="en-US" altLang="ru-RU" dirty="0"/>
              <a:t>             }</a:t>
            </a:r>
            <a:endParaRPr lang="ru-RU" altLang="ru-RU" dirty="0"/>
          </a:p>
        </p:txBody>
      </p:sp>
      <p:sp>
        <p:nvSpPr>
          <p:cNvPr id="16388" name="Номер слайда 3"/>
          <p:cNvSpPr>
            <a:spLocks noGrp="1"/>
          </p:cNvSpPr>
          <p:nvPr>
            <p:ph type="sldNum" sz="quarter" idx="11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F131740D-F20B-4300-A288-9F6235B3BE22}" type="slidenum">
              <a:rPr lang="ru-RU" altLang="ru-RU" smtClean="0"/>
              <a:pPr/>
              <a:t>15</a:t>
            </a:fld>
            <a:endParaRPr lang="ru-RU" altLang="ru-RU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Заголовок 1"/>
          <p:cNvSpPr>
            <a:spLocks noGrp="1"/>
          </p:cNvSpPr>
          <p:nvPr>
            <p:ph type="title"/>
          </p:nvPr>
        </p:nvSpPr>
        <p:spPr>
          <a:xfrm>
            <a:off x="457200" y="285750"/>
            <a:ext cx="8229600" cy="811213"/>
          </a:xfrm>
        </p:spPr>
        <p:txBody>
          <a:bodyPr/>
          <a:lstStyle/>
          <a:p>
            <a:pPr algn="ctr"/>
            <a:r>
              <a:rPr lang="ru-RU" altLang="ru-RU" sz="3600" dirty="0">
                <a:solidFill>
                  <a:schemeClr val="bg2"/>
                </a:solidFill>
              </a:rPr>
              <a:t>Фраза </a:t>
            </a:r>
            <a:r>
              <a:rPr lang="en-US" altLang="ru-RU" sz="3600" b="1" dirty="0">
                <a:solidFill>
                  <a:schemeClr val="bg2"/>
                </a:solidFill>
              </a:rPr>
              <a:t>WHERE</a:t>
            </a:r>
            <a:endParaRPr lang="ru-RU" altLang="ru-RU" sz="3600" dirty="0"/>
          </a:p>
        </p:txBody>
      </p:sp>
      <p:sp>
        <p:nvSpPr>
          <p:cNvPr id="10243" name="Объект 2"/>
          <p:cNvSpPr>
            <a:spLocks noGrp="1"/>
          </p:cNvSpPr>
          <p:nvPr>
            <p:ph idx="1"/>
          </p:nvPr>
        </p:nvSpPr>
        <p:spPr>
          <a:xfrm>
            <a:off x="107950" y="1143000"/>
            <a:ext cx="9036050" cy="5715000"/>
          </a:xfrm>
        </p:spPr>
        <p:txBody>
          <a:bodyPr>
            <a:normAutofit fontScale="85000" lnSpcReduction="10000"/>
          </a:bodyPr>
          <a:lstStyle/>
          <a:p>
            <a:pPr marL="457200" indent="-457200">
              <a:defRPr/>
            </a:pPr>
            <a:r>
              <a:rPr lang="ru-RU" dirty="0"/>
              <a:t>Фраза </a:t>
            </a:r>
            <a:r>
              <a:rPr lang="ru-RU" b="1" dirty="0"/>
              <a:t>WHERE</a:t>
            </a:r>
            <a:r>
              <a:rPr lang="ru-RU" dirty="0"/>
              <a:t> определяет условие, которому должны удовлетворять все строки, используемые для формирования результирующего набора</a:t>
            </a:r>
            <a:endParaRPr lang="en-US" dirty="0"/>
          </a:p>
          <a:p>
            <a:pPr marL="0" indent="0">
              <a:buFont typeface="Wingdings" pitchFamily="2" charset="2"/>
              <a:buNone/>
              <a:defRPr/>
            </a:pPr>
            <a:endParaRPr lang="en-US" b="1" dirty="0"/>
          </a:p>
          <a:p>
            <a:pPr marL="0" indent="0">
              <a:buFont typeface="Wingdings" pitchFamily="2" charset="2"/>
              <a:buNone/>
              <a:defRPr/>
            </a:pPr>
            <a:r>
              <a:rPr lang="en-US" b="1" dirty="0"/>
              <a:t>WHERE</a:t>
            </a:r>
            <a:r>
              <a:rPr lang="en-US" dirty="0"/>
              <a:t> </a:t>
            </a:r>
            <a:r>
              <a:rPr lang="en-US" dirty="0">
                <a:solidFill>
                  <a:srgbClr val="FF0000"/>
                </a:solidFill>
              </a:rPr>
              <a:t>condition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US" dirty="0">
                <a:solidFill>
                  <a:srgbClr val="FF0000"/>
                </a:solidFill>
              </a:rPr>
              <a:t>Condition </a:t>
            </a:r>
            <a:r>
              <a:rPr lang="en-US" dirty="0"/>
              <a:t>– </a:t>
            </a:r>
            <a:r>
              <a:rPr lang="ru-RU" dirty="0"/>
              <a:t>логическая функция (предикат). </a:t>
            </a:r>
          </a:p>
          <a:p>
            <a:pPr marL="457200" indent="-457200">
              <a:defRPr/>
            </a:pPr>
            <a:r>
              <a:rPr lang="ru-RU" dirty="0"/>
              <a:t>Предикат содержит </a:t>
            </a:r>
            <a:r>
              <a:rPr lang="ru-RU" b="1" dirty="0"/>
              <a:t>одно или несколько выражений</a:t>
            </a:r>
            <a:r>
              <a:rPr lang="ru-RU" dirty="0"/>
              <a:t>, выполняющих сравнения.</a:t>
            </a:r>
          </a:p>
          <a:p>
            <a:pPr marL="457200" indent="-457200">
              <a:defRPr/>
            </a:pPr>
            <a:r>
              <a:rPr lang="ru-RU" dirty="0"/>
              <a:t>Применяется трехзначная логика: </a:t>
            </a:r>
            <a:r>
              <a:rPr lang="ru-RU" dirty="0">
                <a:solidFill>
                  <a:srgbClr val="00B050"/>
                </a:solidFill>
              </a:rPr>
              <a:t>TRUE</a:t>
            </a:r>
            <a:r>
              <a:rPr lang="ru-RU" dirty="0"/>
              <a:t>, </a:t>
            </a:r>
            <a:r>
              <a:rPr lang="ru-RU" dirty="0">
                <a:solidFill>
                  <a:srgbClr val="C00000"/>
                </a:solidFill>
              </a:rPr>
              <a:t>FALSE</a:t>
            </a:r>
            <a:r>
              <a:rPr lang="ru-RU" dirty="0"/>
              <a:t> или </a:t>
            </a:r>
            <a:r>
              <a:rPr lang="ru-RU" dirty="0">
                <a:solidFill>
                  <a:srgbClr val="3333FF"/>
                </a:solidFill>
              </a:rPr>
              <a:t>UNKNOWN</a:t>
            </a:r>
            <a:r>
              <a:rPr lang="ru-RU" dirty="0"/>
              <a:t>. </a:t>
            </a:r>
          </a:p>
          <a:p>
            <a:pPr marL="457200" indent="-457200">
              <a:defRPr/>
            </a:pPr>
            <a:r>
              <a:rPr lang="ru-RU" dirty="0"/>
              <a:t>Значение </a:t>
            </a:r>
            <a:r>
              <a:rPr lang="ru-RU" dirty="0">
                <a:solidFill>
                  <a:srgbClr val="3333FF"/>
                </a:solidFill>
              </a:rPr>
              <a:t>UNKNOWN</a:t>
            </a:r>
            <a:r>
              <a:rPr lang="ru-RU" dirty="0"/>
              <a:t> получается </a:t>
            </a:r>
            <a:r>
              <a:rPr lang="ru-RU" i="1" u="sng" dirty="0"/>
              <a:t>при сравнении значения </a:t>
            </a:r>
            <a:r>
              <a:rPr lang="ru-RU" dirty="0">
                <a:solidFill>
                  <a:srgbClr val="FFC000"/>
                </a:solidFill>
              </a:rPr>
              <a:t>NULL</a:t>
            </a:r>
            <a:r>
              <a:rPr lang="ru-RU" dirty="0"/>
              <a:t> </a:t>
            </a:r>
            <a:r>
              <a:rPr lang="ru-RU" i="1" u="sng" dirty="0"/>
              <a:t>с любым другим значением, включая  и само значение </a:t>
            </a:r>
            <a:r>
              <a:rPr lang="ru-RU" dirty="0">
                <a:solidFill>
                  <a:srgbClr val="FFC000"/>
                </a:solidFill>
              </a:rPr>
              <a:t>NULL</a:t>
            </a:r>
            <a:r>
              <a:rPr lang="ru-RU" dirty="0"/>
              <a:t>. </a:t>
            </a:r>
          </a:p>
        </p:txBody>
      </p:sp>
      <p:sp>
        <p:nvSpPr>
          <p:cNvPr id="17412" name="Номер слайда 3"/>
          <p:cNvSpPr>
            <a:spLocks noGrp="1"/>
          </p:cNvSpPr>
          <p:nvPr>
            <p:ph type="sldNum" sz="quarter" idx="11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3844EC7E-438B-406C-B7E0-CDC9B38B1412}" type="slidenum">
              <a:rPr lang="ru-RU" altLang="ru-RU" smtClean="0"/>
              <a:pPr/>
              <a:t>16</a:t>
            </a:fld>
            <a:endParaRPr lang="ru-RU" altLang="ru-RU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3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Заголовок 1"/>
          <p:cNvSpPr>
            <a:spLocks noGrp="1"/>
          </p:cNvSpPr>
          <p:nvPr>
            <p:ph type="title"/>
          </p:nvPr>
        </p:nvSpPr>
        <p:spPr>
          <a:xfrm>
            <a:off x="457200" y="285750"/>
            <a:ext cx="8229600" cy="550863"/>
          </a:xfrm>
        </p:spPr>
        <p:txBody>
          <a:bodyPr/>
          <a:lstStyle/>
          <a:p>
            <a:pPr algn="ctr"/>
            <a:r>
              <a:rPr lang="ru-RU" altLang="ru-RU" sz="3600">
                <a:solidFill>
                  <a:schemeClr val="bg2"/>
                </a:solidFill>
              </a:rPr>
              <a:t>Таблицы истинности</a:t>
            </a:r>
            <a:endParaRPr lang="ru-RU" altLang="ru-RU" sz="3600"/>
          </a:p>
        </p:txBody>
      </p:sp>
      <p:sp>
        <p:nvSpPr>
          <p:cNvPr id="10243" name="Объект 2"/>
          <p:cNvSpPr>
            <a:spLocks noGrp="1"/>
          </p:cNvSpPr>
          <p:nvPr>
            <p:ph idx="1"/>
          </p:nvPr>
        </p:nvSpPr>
        <p:spPr>
          <a:xfrm>
            <a:off x="107950" y="1143000"/>
            <a:ext cx="9036050" cy="5715000"/>
          </a:xfrm>
        </p:spPr>
        <p:txBody>
          <a:bodyPr>
            <a:normAutofit/>
          </a:bodyPr>
          <a:lstStyle/>
          <a:p>
            <a:pPr marL="457200" indent="-457200">
              <a:defRPr/>
            </a:pPr>
            <a:r>
              <a:rPr lang="ru-RU" dirty="0"/>
              <a:t>Оператор </a:t>
            </a:r>
            <a:r>
              <a:rPr lang="en-US" dirty="0"/>
              <a:t>NOT</a:t>
            </a:r>
          </a:p>
          <a:p>
            <a:pPr marL="457200" indent="-457200">
              <a:defRPr/>
            </a:pPr>
            <a:endParaRPr lang="en-US" dirty="0"/>
          </a:p>
          <a:p>
            <a:pPr marL="0" indent="0">
              <a:buFont typeface="Wingdings" pitchFamily="2" charset="2"/>
              <a:buNone/>
              <a:defRPr/>
            </a:pPr>
            <a:endParaRPr lang="en-US" b="1" dirty="0"/>
          </a:p>
          <a:p>
            <a:pPr marL="457200" indent="-457200">
              <a:defRPr/>
            </a:pPr>
            <a:r>
              <a:rPr lang="ru-RU" dirty="0"/>
              <a:t>Оператор </a:t>
            </a:r>
            <a:r>
              <a:rPr lang="en-US" dirty="0"/>
              <a:t>OR</a:t>
            </a:r>
          </a:p>
          <a:p>
            <a:pPr marL="0" indent="0">
              <a:buFont typeface="Wingdings" pitchFamily="2" charset="2"/>
              <a:buNone/>
              <a:defRPr/>
            </a:pPr>
            <a:endParaRPr lang="en-US" b="1" dirty="0"/>
          </a:p>
          <a:p>
            <a:pPr marL="457200" indent="-457200">
              <a:spcBef>
                <a:spcPts val="2400"/>
              </a:spcBef>
              <a:defRPr/>
            </a:pPr>
            <a:r>
              <a:rPr lang="ru-RU" dirty="0"/>
              <a:t>Оператор </a:t>
            </a:r>
            <a:r>
              <a:rPr lang="en-US" dirty="0"/>
              <a:t>AND</a:t>
            </a:r>
          </a:p>
          <a:p>
            <a:pPr marL="0" indent="0">
              <a:buFont typeface="Wingdings" pitchFamily="2" charset="2"/>
              <a:buNone/>
              <a:defRPr/>
            </a:pPr>
            <a:endParaRPr lang="en-US" b="1" dirty="0"/>
          </a:p>
          <a:p>
            <a:pPr marL="0" indent="0">
              <a:buFont typeface="Wingdings" pitchFamily="2" charset="2"/>
              <a:buNone/>
              <a:defRPr/>
            </a:pPr>
            <a:endParaRPr lang="en-US" b="1" dirty="0"/>
          </a:p>
        </p:txBody>
      </p:sp>
      <p:sp>
        <p:nvSpPr>
          <p:cNvPr id="18436" name="Номер слайда 3"/>
          <p:cNvSpPr>
            <a:spLocks noGrp="1"/>
          </p:cNvSpPr>
          <p:nvPr>
            <p:ph type="sldNum" sz="quarter" idx="11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A8243CDC-C182-4665-9FBE-BF1D36996161}" type="slidenum">
              <a:rPr lang="ru-RU" altLang="ru-RU" smtClean="0"/>
              <a:pPr/>
              <a:t>17</a:t>
            </a:fld>
            <a:endParaRPr lang="ru-RU" altLang="ru-RU"/>
          </a:p>
        </p:txBody>
      </p:sp>
      <p:graphicFrame>
        <p:nvGraphicFramePr>
          <p:cNvPr id="5" name="Таблица 4"/>
          <p:cNvGraphicFramePr>
            <a:graphicFrameLocks noGrp="1"/>
          </p:cNvGraphicFramePr>
          <p:nvPr/>
        </p:nvGraphicFramePr>
        <p:xfrm>
          <a:off x="3779838" y="981075"/>
          <a:ext cx="4919662" cy="14626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5983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598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522">
                <a:tc>
                  <a:txBody>
                    <a:bodyPr/>
                    <a:lstStyle/>
                    <a:p>
                      <a:r>
                        <a:rPr lang="ru-RU" sz="1800" dirty="0"/>
                        <a:t>Выражение</a:t>
                      </a:r>
                    </a:p>
                  </a:txBody>
                  <a:tcPr marL="91430" marR="91430" marT="45668" marB="4566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800" dirty="0"/>
                        <a:t>Значение</a:t>
                      </a:r>
                    </a:p>
                  </a:txBody>
                  <a:tcPr marL="91430" marR="91430" marT="45668" marB="4566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522">
                <a:tc>
                  <a:txBody>
                    <a:bodyPr/>
                    <a:lstStyle/>
                    <a:p>
                      <a:r>
                        <a:rPr lang="en-US" sz="1800" dirty="0"/>
                        <a:t>NOT  TRUE</a:t>
                      </a:r>
                      <a:endParaRPr lang="ru-RU" sz="1800" dirty="0"/>
                    </a:p>
                  </a:txBody>
                  <a:tcPr marL="91430" marR="91430" marT="45668" marB="4566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FALSE</a:t>
                      </a:r>
                      <a:endParaRPr lang="ru-RU" sz="1800" dirty="0"/>
                    </a:p>
                  </a:txBody>
                  <a:tcPr marL="91430" marR="91430" marT="45668" marB="4566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522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NOT  FALSE</a:t>
                      </a:r>
                      <a:endParaRPr lang="ru-RU" sz="1800" dirty="0"/>
                    </a:p>
                  </a:txBody>
                  <a:tcPr marL="91430" marR="91430" marT="45668" marB="4566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TRUE</a:t>
                      </a:r>
                      <a:endParaRPr lang="ru-RU" sz="1800" dirty="0"/>
                    </a:p>
                  </a:txBody>
                  <a:tcPr marL="91430" marR="91430" marT="45668" marB="4566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522">
                <a:tc>
                  <a:txBody>
                    <a:bodyPr/>
                    <a:lstStyle/>
                    <a:p>
                      <a:r>
                        <a:rPr lang="en-US" sz="1800" dirty="0"/>
                        <a:t>NOT UNKNOWN</a:t>
                      </a:r>
                      <a:endParaRPr lang="ru-RU" sz="1800" dirty="0"/>
                    </a:p>
                  </a:txBody>
                  <a:tcPr marL="91430" marR="91430" marT="45668" marB="4566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UNKNOWN</a:t>
                      </a:r>
                      <a:endParaRPr lang="ru-RU" sz="1800" dirty="0"/>
                    </a:p>
                  </a:txBody>
                  <a:tcPr marL="91430" marR="91430" marT="45668" marB="4566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7" name="Таблица 6"/>
          <p:cNvGraphicFramePr>
            <a:graphicFrameLocks noGrp="1"/>
          </p:cNvGraphicFramePr>
          <p:nvPr/>
        </p:nvGraphicFramePr>
        <p:xfrm>
          <a:off x="3348038" y="2781300"/>
          <a:ext cx="5616576" cy="15241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121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61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041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041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6992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OR</a:t>
                      </a:r>
                      <a:endParaRPr lang="ru-RU" sz="1800" dirty="0"/>
                    </a:p>
                  </a:txBody>
                  <a:tcPr marL="91439" marR="91439" marT="45698" marB="456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TRUE</a:t>
                      </a:r>
                      <a:endParaRPr lang="ru-RU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39" marR="91439" marT="45698" marB="4569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FALSE</a:t>
                      </a:r>
                      <a:endParaRPr lang="ru-RU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39" marR="91439" marT="45698" marB="4569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UNKNOWN</a:t>
                      </a:r>
                      <a:endParaRPr lang="ru-RU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39" marR="91439" marT="45698" marB="4569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669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TRUE</a:t>
                      </a:r>
                      <a:endParaRPr lang="ru-RU" sz="1800" b="1" dirty="0">
                        <a:solidFill>
                          <a:schemeClr val="tx1"/>
                        </a:solidFill>
                      </a:endParaRPr>
                    </a:p>
                  </a:txBody>
                  <a:tcPr marL="91439" marR="91439" marT="45698" marB="4569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TRUE</a:t>
                      </a:r>
                      <a:endParaRPr lang="ru-RU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39" marR="91439" marT="45698" marB="4569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TRUE</a:t>
                      </a:r>
                      <a:endParaRPr lang="ru-RU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39" marR="91439" marT="45698" marB="4569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TRUE</a:t>
                      </a:r>
                      <a:endParaRPr lang="ru-RU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39" marR="91439" marT="45698" marB="4569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669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FALSE</a:t>
                      </a:r>
                      <a:endParaRPr lang="ru-RU" sz="1800" b="1" dirty="0">
                        <a:solidFill>
                          <a:schemeClr val="tx1"/>
                        </a:solidFill>
                      </a:endParaRPr>
                    </a:p>
                  </a:txBody>
                  <a:tcPr marL="91439" marR="91439" marT="45698" marB="4569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TRUE</a:t>
                      </a:r>
                      <a:endParaRPr lang="ru-RU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39" marR="91439" marT="45698" marB="4569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FALSE</a:t>
                      </a:r>
                      <a:endParaRPr lang="ru-RU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39" marR="91439" marT="45698" marB="4569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UNKNOWN</a:t>
                      </a:r>
                      <a:endParaRPr lang="ru-RU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39" marR="91439" marT="45698" marB="4569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669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UNKNOWN</a:t>
                      </a:r>
                      <a:endParaRPr lang="ru-RU" sz="1800" b="1" dirty="0">
                        <a:solidFill>
                          <a:schemeClr val="tx1"/>
                        </a:solidFill>
                      </a:endParaRPr>
                    </a:p>
                  </a:txBody>
                  <a:tcPr marL="91439" marR="91439" marT="45698" marB="4569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TRUE</a:t>
                      </a:r>
                      <a:endParaRPr lang="ru-RU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39" marR="91439" marT="45698" marB="4569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UNKNOWN</a:t>
                      </a:r>
                      <a:endParaRPr lang="ru-RU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39" marR="91439" marT="45698" marB="4569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UNKNOWN</a:t>
                      </a:r>
                      <a:endParaRPr lang="ru-RU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39" marR="91439" marT="45698" marB="4569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8" name="Таблица 7"/>
          <p:cNvGraphicFramePr>
            <a:graphicFrameLocks noGrp="1"/>
          </p:cNvGraphicFramePr>
          <p:nvPr/>
        </p:nvGraphicFramePr>
        <p:xfrm>
          <a:off x="1908175" y="5084763"/>
          <a:ext cx="6408738" cy="15255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54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976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835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0218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751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AND</a:t>
                      </a:r>
                      <a:endParaRPr lang="ru-RU" sz="1800" dirty="0"/>
                    </a:p>
                  </a:txBody>
                  <a:tcPr marT="45753" marB="4575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TRUE</a:t>
                      </a:r>
                      <a:endParaRPr lang="ru-RU" sz="1800" dirty="0">
                        <a:solidFill>
                          <a:schemeClr val="tx1"/>
                        </a:solidFill>
                      </a:endParaRPr>
                    </a:p>
                  </a:txBody>
                  <a:tcPr marT="45753" marB="4575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FALSE</a:t>
                      </a:r>
                      <a:endParaRPr lang="ru-RU" sz="1800" dirty="0">
                        <a:solidFill>
                          <a:schemeClr val="tx1"/>
                        </a:solidFill>
                      </a:endParaRPr>
                    </a:p>
                  </a:txBody>
                  <a:tcPr marT="45753" marB="4575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UNKNOWN</a:t>
                      </a:r>
                      <a:endParaRPr lang="ru-RU" sz="1800" dirty="0">
                        <a:solidFill>
                          <a:schemeClr val="tx1"/>
                        </a:solidFill>
                      </a:endParaRPr>
                    </a:p>
                  </a:txBody>
                  <a:tcPr marT="45753" marB="4575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6026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TRUE</a:t>
                      </a:r>
                      <a:endParaRPr lang="ru-RU" sz="1800" b="1" dirty="0">
                        <a:solidFill>
                          <a:schemeClr val="tx1"/>
                        </a:solidFill>
                      </a:endParaRPr>
                    </a:p>
                  </a:txBody>
                  <a:tcPr marT="45753" marB="4575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TRUE</a:t>
                      </a:r>
                      <a:endParaRPr lang="ru-RU" sz="1800" dirty="0">
                        <a:solidFill>
                          <a:schemeClr val="tx1"/>
                        </a:solidFill>
                      </a:endParaRPr>
                    </a:p>
                  </a:txBody>
                  <a:tcPr marT="45753" marB="4575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FALSE</a:t>
                      </a:r>
                      <a:endParaRPr lang="ru-RU" sz="1800" dirty="0">
                        <a:solidFill>
                          <a:schemeClr val="tx1"/>
                        </a:solidFill>
                      </a:endParaRPr>
                    </a:p>
                  </a:txBody>
                  <a:tcPr marT="45753" marB="4575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UNKNOWN</a:t>
                      </a:r>
                      <a:endParaRPr lang="ru-RU" sz="1800" dirty="0">
                        <a:solidFill>
                          <a:schemeClr val="tx1"/>
                        </a:solidFill>
                      </a:endParaRPr>
                    </a:p>
                  </a:txBody>
                  <a:tcPr marT="45753" marB="4575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6026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FALSE</a:t>
                      </a:r>
                      <a:endParaRPr lang="ru-RU" sz="1800" b="1" dirty="0">
                        <a:solidFill>
                          <a:schemeClr val="tx1"/>
                        </a:solidFill>
                      </a:endParaRPr>
                    </a:p>
                  </a:txBody>
                  <a:tcPr marT="45753" marB="4575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FALSE</a:t>
                      </a:r>
                      <a:endParaRPr lang="ru-RU" sz="1800" dirty="0">
                        <a:solidFill>
                          <a:schemeClr val="tx1"/>
                        </a:solidFill>
                      </a:endParaRPr>
                    </a:p>
                  </a:txBody>
                  <a:tcPr marT="45753" marB="4575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FALSE</a:t>
                      </a:r>
                      <a:endParaRPr lang="ru-RU" sz="1800" dirty="0">
                        <a:solidFill>
                          <a:schemeClr val="tx1"/>
                        </a:solidFill>
                      </a:endParaRPr>
                    </a:p>
                  </a:txBody>
                  <a:tcPr marT="45753" marB="4575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FALSE</a:t>
                      </a:r>
                      <a:endParaRPr lang="ru-RU" sz="1800" dirty="0">
                        <a:solidFill>
                          <a:schemeClr val="tx1"/>
                        </a:solidFill>
                      </a:endParaRPr>
                    </a:p>
                  </a:txBody>
                  <a:tcPr marT="45753" marB="4575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6026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UNKNOWN</a:t>
                      </a:r>
                      <a:endParaRPr lang="ru-RU" sz="1800" b="1" dirty="0">
                        <a:solidFill>
                          <a:schemeClr val="tx1"/>
                        </a:solidFill>
                      </a:endParaRPr>
                    </a:p>
                  </a:txBody>
                  <a:tcPr marT="45753" marB="4575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UNKNOWN</a:t>
                      </a:r>
                      <a:endParaRPr lang="ru-RU" sz="1800" dirty="0">
                        <a:solidFill>
                          <a:schemeClr val="tx1"/>
                        </a:solidFill>
                      </a:endParaRPr>
                    </a:p>
                  </a:txBody>
                  <a:tcPr marT="45753" marB="4575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FALSE</a:t>
                      </a:r>
                      <a:endParaRPr lang="ru-RU" sz="1800" dirty="0">
                        <a:solidFill>
                          <a:schemeClr val="tx1"/>
                        </a:solidFill>
                      </a:endParaRPr>
                    </a:p>
                  </a:txBody>
                  <a:tcPr marT="45753" marB="4575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UNKNOWN</a:t>
                      </a:r>
                      <a:endParaRPr lang="ru-RU" sz="1800" dirty="0">
                        <a:solidFill>
                          <a:schemeClr val="tx1"/>
                        </a:solidFill>
                      </a:endParaRPr>
                    </a:p>
                  </a:txBody>
                  <a:tcPr marT="45753" marB="4575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3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Заголовок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955675"/>
          </a:xfrm>
        </p:spPr>
        <p:txBody>
          <a:bodyPr/>
          <a:lstStyle/>
          <a:p>
            <a:pPr algn="ctr"/>
            <a:r>
              <a:rPr lang="ru-RU" altLang="ru-RU" sz="3600" dirty="0"/>
              <a:t>Таблица </a:t>
            </a:r>
            <a:r>
              <a:rPr lang="ru-RU" altLang="ru-RU" sz="3600" dirty="0">
                <a:solidFill>
                  <a:srgbClr val="3333FF"/>
                </a:solidFill>
              </a:rPr>
              <a:t>ПРОДАВЦЫ</a:t>
            </a:r>
            <a:endParaRPr lang="ru-RU" altLang="ru-RU" sz="3600" dirty="0"/>
          </a:p>
        </p:txBody>
      </p:sp>
      <p:graphicFrame>
        <p:nvGraphicFramePr>
          <p:cNvPr id="6302" name="Group 15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9770574"/>
              </p:ext>
            </p:extLst>
          </p:nvPr>
        </p:nvGraphicFramePr>
        <p:xfrm>
          <a:off x="611188" y="1844675"/>
          <a:ext cx="7993062" cy="4321175"/>
        </p:xfrm>
        <a:graphic>
          <a:graphicData uri="http://schemas.openxmlformats.org/drawingml/2006/table">
            <a:tbl>
              <a:tblPr/>
              <a:tblGrid>
                <a:gridCol w="19986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986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493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4639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1984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2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НомПР</a:t>
                      </a: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91438" marR="91438" marT="45726" marB="4572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2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ИмяПР</a:t>
                      </a: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91438" marR="91438" marT="45726" marB="4572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Город</a:t>
                      </a: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91438" marR="91438" marT="45726" marB="4572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Комм</a:t>
                      </a: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91438" marR="91438" marT="45726" marB="4572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984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1001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91438" marR="91438" marT="45726" marB="4572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Иванов</a:t>
                      </a:r>
                      <a:endParaRPr kumimoji="0" lang="ru-RU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91438" marR="91438" marT="45726" marB="4572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Новосибирск</a:t>
                      </a:r>
                      <a:endParaRPr kumimoji="0" lang="ru-RU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91438" marR="91438" marT="45726" marB="4572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0.12</a:t>
                      </a:r>
                      <a:endParaRPr kumimoji="0" lang="ru-RU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91438" marR="91438" marT="45726" marB="4572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2196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1002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91438" marR="91438" marT="45726" marB="4572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Петров</a:t>
                      </a:r>
                      <a:endParaRPr kumimoji="0" lang="ru-RU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91438" marR="91438" marT="45726" marB="4572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Кемерово</a:t>
                      </a:r>
                      <a:endParaRPr kumimoji="0" lang="ru-RU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91438" marR="91438" marT="45726" marB="4572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0.13</a:t>
                      </a:r>
                      <a:endParaRPr kumimoji="0" lang="ru-RU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91438" marR="91438" marT="45726" marB="4572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984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1004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91438" marR="91438" marT="45726" marB="4572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Сидоров</a:t>
                      </a:r>
                      <a:endParaRPr kumimoji="0" lang="ru-RU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91438" marR="91438" marT="45726" marB="4572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Новосибирск</a:t>
                      </a:r>
                      <a:endParaRPr kumimoji="0" lang="ru-RU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91438" marR="91438" marT="45726" marB="4572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0.11</a:t>
                      </a:r>
                      <a:endParaRPr kumimoji="0" lang="ru-RU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91438" marR="91438" marT="45726" marB="4572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1984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1007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91438" marR="91438" marT="45726" marB="4572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Голубев</a:t>
                      </a:r>
                      <a:endParaRPr kumimoji="0" lang="ru-RU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91438" marR="91438" marT="45726" marB="4572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Омск</a:t>
                      </a:r>
                      <a:endParaRPr kumimoji="0" lang="ru-RU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91438" marR="91438" marT="45726" marB="4572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0.15</a:t>
                      </a:r>
                      <a:endParaRPr kumimoji="0" lang="ru-RU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91438" marR="91438" marT="45726" marB="4572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1984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1003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91438" marR="91438" marT="45726" marB="4572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Кузнецов</a:t>
                      </a:r>
                      <a:endParaRPr kumimoji="0" lang="ru-RU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91438" marR="91438" marT="45726" marB="4572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Томск</a:t>
                      </a:r>
                      <a:endParaRPr kumimoji="0" lang="ru-RU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91438" marR="91438" marT="45726" marB="4572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0.10</a:t>
                      </a:r>
                      <a:endParaRPr kumimoji="0" lang="ru-RU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91438" marR="91438" marT="45726" marB="4572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9496" name="Номер слайда 3"/>
          <p:cNvSpPr>
            <a:spLocks noGrp="1"/>
          </p:cNvSpPr>
          <p:nvPr>
            <p:ph type="sldNum" sz="quarter" idx="11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435132D1-9C4C-4C72-82F7-1E89E00CE7CA}" type="slidenum">
              <a:rPr lang="ru-RU" altLang="ru-RU" smtClean="0"/>
              <a:pPr/>
              <a:t>18</a:t>
            </a:fld>
            <a:endParaRPr lang="ru-RU" altLang="ru-RU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Заголовок 1"/>
          <p:cNvSpPr>
            <a:spLocks noGrp="1"/>
          </p:cNvSpPr>
          <p:nvPr>
            <p:ph type="title"/>
          </p:nvPr>
        </p:nvSpPr>
        <p:spPr>
          <a:xfrm>
            <a:off x="457200" y="214313"/>
            <a:ext cx="8229600" cy="406400"/>
          </a:xfrm>
        </p:spPr>
        <p:txBody>
          <a:bodyPr/>
          <a:lstStyle/>
          <a:p>
            <a:pPr algn="ctr"/>
            <a:r>
              <a:rPr lang="ru-RU" altLang="ru-RU" sz="2800" dirty="0">
                <a:solidFill>
                  <a:schemeClr val="bg2"/>
                </a:solidFill>
              </a:rPr>
              <a:t>Операторы в выражениях. </a:t>
            </a:r>
            <a:r>
              <a:rPr lang="en-US" altLang="ru-RU" sz="2800" dirty="0">
                <a:solidFill>
                  <a:schemeClr val="bg2"/>
                </a:solidFill>
              </a:rPr>
              <a:t>BETWEEN. IN</a:t>
            </a:r>
            <a:endParaRPr lang="ru-RU" altLang="ru-RU" sz="2800" dirty="0"/>
          </a:p>
        </p:txBody>
      </p:sp>
      <p:sp>
        <p:nvSpPr>
          <p:cNvPr id="10243" name="Объект 2"/>
          <p:cNvSpPr>
            <a:spLocks noGrp="1"/>
          </p:cNvSpPr>
          <p:nvPr>
            <p:ph idx="1"/>
          </p:nvPr>
        </p:nvSpPr>
        <p:spPr>
          <a:xfrm>
            <a:off x="107950" y="620713"/>
            <a:ext cx="9036050" cy="6237287"/>
          </a:xfrm>
        </p:spPr>
        <p:txBody>
          <a:bodyPr>
            <a:normAutofit fontScale="77500" lnSpcReduction="20000"/>
          </a:bodyPr>
          <a:lstStyle/>
          <a:p>
            <a:pPr>
              <a:lnSpc>
                <a:spcPct val="120000"/>
              </a:lnSpc>
              <a:defRPr/>
            </a:pPr>
            <a:r>
              <a:rPr lang="ru-RU" sz="2400" dirty="0"/>
              <a:t>В выражениях могут участвовать имена столбцов, функции агрегирования, переменные встроенного SQL, параметры модульного SQL. </a:t>
            </a:r>
          </a:p>
          <a:p>
            <a:pPr>
              <a:lnSpc>
                <a:spcPct val="120000"/>
              </a:lnSpc>
              <a:defRPr/>
            </a:pPr>
            <a:r>
              <a:rPr lang="ru-RU" sz="2400" dirty="0"/>
              <a:t>Кроме стандартных операторов сравнения, таких как =, &lt;&gt;, &gt;, &lt;, &gt;=, &lt;= могут быть использованы следующие операторы: </a:t>
            </a:r>
          </a:p>
          <a:p>
            <a:pPr>
              <a:lnSpc>
                <a:spcPct val="120000"/>
              </a:lnSpc>
              <a:defRPr/>
            </a:pPr>
            <a:r>
              <a:rPr lang="ru-RU" sz="2400" b="1" dirty="0"/>
              <a:t>BETWEEN</a:t>
            </a:r>
            <a:r>
              <a:rPr lang="ru-RU" sz="2400" dirty="0"/>
              <a:t> - возвращает TRUE, если значение находится в указанном диапазоне. </a:t>
            </a:r>
          </a:p>
          <a:p>
            <a:pPr>
              <a:lnSpc>
                <a:spcPct val="120000"/>
              </a:lnSpc>
              <a:buFont typeface="Wingdings" pitchFamily="2" charset="2"/>
              <a:buNone/>
              <a:defRPr/>
            </a:pPr>
            <a:r>
              <a:rPr lang="ru-RU" sz="2400" dirty="0"/>
              <a:t>	</a:t>
            </a:r>
            <a:r>
              <a:rPr lang="en-US" sz="2400" dirty="0"/>
              <a:t>x </a:t>
            </a:r>
            <a:r>
              <a:rPr lang="en-US" sz="2400" b="1" dirty="0"/>
              <a:t>BETWEEN</a:t>
            </a:r>
            <a:r>
              <a:rPr lang="en-US" sz="2400" dirty="0"/>
              <a:t> y AND z </a:t>
            </a:r>
            <a:r>
              <a:rPr lang="ru-RU" sz="2400" dirty="0"/>
              <a:t>	эквивалентно выражению </a:t>
            </a: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/>
              <a:t>					</a:t>
            </a:r>
            <a:r>
              <a:rPr lang="ru-RU" sz="2400" dirty="0"/>
              <a:t>(x&lt;=z) AND (x&gt;=y); </a:t>
            </a:r>
            <a:endParaRPr lang="en-US" sz="2400" dirty="0"/>
          </a:p>
          <a:p>
            <a:pPr lvl="1">
              <a:lnSpc>
                <a:spcPct val="120000"/>
              </a:lnSpc>
              <a:buFont typeface="Wingdings" pitchFamily="2" charset="2"/>
              <a:buNone/>
              <a:defRPr/>
            </a:pPr>
            <a:r>
              <a:rPr lang="ru-RU" sz="2400" dirty="0"/>
              <a:t>Например:</a:t>
            </a:r>
            <a:r>
              <a:rPr lang="en-US" sz="2400" dirty="0"/>
              <a:t> </a:t>
            </a:r>
            <a:r>
              <a:rPr lang="en-US" sz="2000" b="1" dirty="0"/>
              <a:t>SELECT</a:t>
            </a:r>
            <a:r>
              <a:rPr lang="en-US" sz="2000" dirty="0"/>
              <a:t> </a:t>
            </a:r>
            <a:r>
              <a:rPr lang="ru-RU" sz="2000" dirty="0" err="1"/>
              <a:t>ИмяПР</a:t>
            </a:r>
            <a:r>
              <a:rPr lang="en-US" sz="2000" dirty="0"/>
              <a:t>, </a:t>
            </a:r>
            <a:r>
              <a:rPr lang="ru-RU" sz="2000" dirty="0"/>
              <a:t>Город</a:t>
            </a:r>
            <a:r>
              <a:rPr lang="en-US" sz="2000" dirty="0"/>
              <a:t> </a:t>
            </a:r>
          </a:p>
          <a:p>
            <a:pPr lvl="1">
              <a:lnSpc>
                <a:spcPct val="120000"/>
              </a:lnSpc>
              <a:buFont typeface="Wingdings" pitchFamily="2" charset="2"/>
              <a:buNone/>
              <a:defRPr/>
            </a:pPr>
            <a:r>
              <a:rPr lang="ru-RU" sz="2000" dirty="0"/>
              <a:t>			</a:t>
            </a:r>
            <a:r>
              <a:rPr lang="en-US" sz="2000" b="1" dirty="0"/>
              <a:t>FROM</a:t>
            </a:r>
            <a:r>
              <a:rPr lang="en-US" sz="2000" dirty="0"/>
              <a:t> </a:t>
            </a:r>
            <a:r>
              <a:rPr lang="ru-RU" sz="2000" dirty="0"/>
              <a:t>ПРОДАВЦЫ</a:t>
            </a:r>
            <a:endParaRPr lang="en-US" sz="2000" dirty="0"/>
          </a:p>
          <a:p>
            <a:pPr lvl="1">
              <a:lnSpc>
                <a:spcPct val="120000"/>
              </a:lnSpc>
              <a:buFont typeface="Wingdings" pitchFamily="2" charset="2"/>
              <a:buNone/>
              <a:defRPr/>
            </a:pPr>
            <a:r>
              <a:rPr lang="ru-RU" sz="2000" dirty="0"/>
              <a:t>			</a:t>
            </a:r>
            <a:r>
              <a:rPr lang="en-US" sz="2000" b="1" dirty="0"/>
              <a:t>WHERE</a:t>
            </a:r>
            <a:r>
              <a:rPr lang="en-US" sz="2000" dirty="0"/>
              <a:t> </a:t>
            </a:r>
            <a:r>
              <a:rPr lang="ru-RU" sz="2000" dirty="0"/>
              <a:t>Комм</a:t>
            </a:r>
            <a:r>
              <a:rPr lang="en-US" sz="2000" dirty="0"/>
              <a:t> BETWEEN 0,11 AND 0,13</a:t>
            </a:r>
            <a:endParaRPr lang="ru-RU" sz="2000" dirty="0"/>
          </a:p>
          <a:p>
            <a:pPr>
              <a:lnSpc>
                <a:spcPct val="120000"/>
              </a:lnSpc>
              <a:defRPr/>
            </a:pPr>
            <a:r>
              <a:rPr lang="ru-RU" sz="2400" b="1" dirty="0"/>
              <a:t>IN</a:t>
            </a:r>
            <a:r>
              <a:rPr lang="ru-RU" sz="2400" dirty="0"/>
              <a:t> – возвращает TRUE, если значение совпадение с одним из перечисленных в списке элементов.     </a:t>
            </a:r>
          </a:p>
          <a:p>
            <a:pPr marL="0" indent="0">
              <a:lnSpc>
                <a:spcPct val="120000"/>
              </a:lnSpc>
              <a:buNone/>
              <a:defRPr/>
            </a:pPr>
            <a:r>
              <a:rPr lang="ru-RU" sz="2400" dirty="0"/>
              <a:t>     </a:t>
            </a:r>
            <a:r>
              <a:rPr lang="en-US" sz="2400" dirty="0"/>
              <a:t>x </a:t>
            </a:r>
            <a:r>
              <a:rPr lang="en-US" sz="2400" b="1" dirty="0"/>
              <a:t>IN</a:t>
            </a:r>
            <a:r>
              <a:rPr lang="en-US" sz="2400" dirty="0"/>
              <a:t> (</a:t>
            </a:r>
            <a:r>
              <a:rPr lang="en-US" sz="2400" dirty="0" err="1"/>
              <a:t>a,b,c</a:t>
            </a:r>
            <a:r>
              <a:rPr lang="en-US" sz="2400" dirty="0"/>
              <a:t>)</a:t>
            </a:r>
            <a:r>
              <a:rPr lang="ru-RU" sz="2400" dirty="0"/>
              <a:t> эквивалентно выражению </a:t>
            </a:r>
            <a:r>
              <a:rPr lang="en-US" sz="2400" dirty="0"/>
              <a:t>(</a:t>
            </a:r>
            <a:r>
              <a:rPr lang="ru-RU" sz="2400" dirty="0"/>
              <a:t>х=</a:t>
            </a:r>
            <a:r>
              <a:rPr lang="en-US" sz="2400" dirty="0"/>
              <a:t>a) OR (x=b) OR (x=c);</a:t>
            </a:r>
            <a:endParaRPr lang="ru-RU" sz="2400" dirty="0"/>
          </a:p>
          <a:p>
            <a:pPr marL="0" indent="0">
              <a:lnSpc>
                <a:spcPct val="120000"/>
              </a:lnSpc>
              <a:buNone/>
              <a:defRPr/>
            </a:pPr>
            <a:r>
              <a:rPr lang="ru-RU" sz="2400" dirty="0"/>
              <a:t>     Например:</a:t>
            </a:r>
            <a:endParaRPr lang="en-US" sz="2400" dirty="0"/>
          </a:p>
          <a:p>
            <a:pPr lvl="1">
              <a:lnSpc>
                <a:spcPct val="120000"/>
              </a:lnSpc>
              <a:buFont typeface="Wingdings" pitchFamily="2" charset="2"/>
              <a:buNone/>
              <a:defRPr/>
            </a:pPr>
            <a:r>
              <a:rPr lang="en-US" sz="2000" b="1" dirty="0"/>
              <a:t>SELECT</a:t>
            </a:r>
            <a:r>
              <a:rPr lang="en-US" sz="2000" dirty="0"/>
              <a:t> *</a:t>
            </a:r>
          </a:p>
          <a:p>
            <a:pPr lvl="1">
              <a:lnSpc>
                <a:spcPct val="120000"/>
              </a:lnSpc>
              <a:buFont typeface="Wingdings" pitchFamily="2" charset="2"/>
              <a:buNone/>
              <a:defRPr/>
            </a:pPr>
            <a:r>
              <a:rPr lang="en-US" sz="2000" b="1" dirty="0"/>
              <a:t>FROM</a:t>
            </a:r>
            <a:r>
              <a:rPr lang="en-US" sz="2000" dirty="0"/>
              <a:t> </a:t>
            </a:r>
            <a:r>
              <a:rPr lang="ru-RU" sz="2000" dirty="0"/>
              <a:t>ПРОДАВЦЫ</a:t>
            </a:r>
            <a:endParaRPr lang="en-US" sz="2000" dirty="0"/>
          </a:p>
          <a:p>
            <a:pPr lvl="1">
              <a:lnSpc>
                <a:spcPct val="120000"/>
              </a:lnSpc>
              <a:buFont typeface="Wingdings" pitchFamily="2" charset="2"/>
              <a:buNone/>
              <a:defRPr/>
            </a:pPr>
            <a:r>
              <a:rPr lang="en-US" sz="2000" b="1" dirty="0"/>
              <a:t>WHERE</a:t>
            </a:r>
            <a:r>
              <a:rPr lang="en-US" sz="2000" dirty="0"/>
              <a:t> </a:t>
            </a:r>
            <a:r>
              <a:rPr lang="ru-RU" sz="2000" dirty="0"/>
              <a:t>Город</a:t>
            </a:r>
            <a:r>
              <a:rPr lang="en-US" sz="2000" dirty="0"/>
              <a:t> IN (‘</a:t>
            </a:r>
            <a:r>
              <a:rPr lang="ru-RU" sz="2000" dirty="0"/>
              <a:t>Новосибирск</a:t>
            </a:r>
            <a:r>
              <a:rPr lang="en-US" sz="2000" dirty="0"/>
              <a:t>’</a:t>
            </a:r>
            <a:r>
              <a:rPr lang="ru-RU" sz="2000" dirty="0"/>
              <a:t>, </a:t>
            </a:r>
            <a:r>
              <a:rPr lang="en-US" sz="2000" dirty="0"/>
              <a:t>‘</a:t>
            </a:r>
            <a:r>
              <a:rPr lang="ru-RU" sz="2000" dirty="0"/>
              <a:t>Томск</a:t>
            </a:r>
            <a:r>
              <a:rPr lang="en-US" sz="2000" dirty="0"/>
              <a:t>’</a:t>
            </a:r>
            <a:r>
              <a:rPr lang="ru-RU" sz="2000" dirty="0"/>
              <a:t>, </a:t>
            </a:r>
            <a:r>
              <a:rPr lang="en-US" sz="2000" dirty="0"/>
              <a:t>‘</a:t>
            </a:r>
            <a:r>
              <a:rPr lang="ru-RU" sz="2000" dirty="0"/>
              <a:t>Кемерово</a:t>
            </a:r>
            <a:r>
              <a:rPr lang="en-US" sz="2000" dirty="0"/>
              <a:t>’</a:t>
            </a:r>
            <a:r>
              <a:rPr lang="ru-RU" sz="2000" dirty="0"/>
              <a:t>)</a:t>
            </a:r>
          </a:p>
        </p:txBody>
      </p:sp>
      <p:sp>
        <p:nvSpPr>
          <p:cNvPr id="20484" name="Номер слайда 3"/>
          <p:cNvSpPr>
            <a:spLocks noGrp="1"/>
          </p:cNvSpPr>
          <p:nvPr>
            <p:ph type="sldNum" sz="quarter" idx="11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F3397AB4-CF30-40CC-9592-90B275B81EF6}" type="slidenum">
              <a:rPr lang="ru-RU" altLang="ru-RU" smtClean="0"/>
              <a:pPr/>
              <a:t>19</a:t>
            </a:fld>
            <a:endParaRPr lang="ru-RU" altLang="ru-RU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3" grpId="0" uiExpand="1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Заголовок 1"/>
          <p:cNvSpPr>
            <a:spLocks noGrp="1"/>
          </p:cNvSpPr>
          <p:nvPr>
            <p:ph type="title"/>
          </p:nvPr>
        </p:nvSpPr>
        <p:spPr>
          <a:xfrm>
            <a:off x="511175" y="214313"/>
            <a:ext cx="8229600" cy="406400"/>
          </a:xfrm>
        </p:spPr>
        <p:txBody>
          <a:bodyPr/>
          <a:lstStyle/>
          <a:p>
            <a:pPr algn="ctr"/>
            <a:r>
              <a:rPr lang="ru-RU" altLang="ru-RU" sz="2800" dirty="0">
                <a:solidFill>
                  <a:schemeClr val="bg2"/>
                </a:solidFill>
              </a:rPr>
              <a:t>Операторы в выражениях</a:t>
            </a:r>
            <a:r>
              <a:rPr lang="en-US" altLang="ru-RU" sz="2800" dirty="0">
                <a:solidFill>
                  <a:schemeClr val="bg2"/>
                </a:solidFill>
              </a:rPr>
              <a:t>. LIKE. NULL</a:t>
            </a:r>
            <a:endParaRPr lang="ru-RU" altLang="ru-RU" sz="2800" dirty="0"/>
          </a:p>
        </p:txBody>
      </p:sp>
      <p:sp>
        <p:nvSpPr>
          <p:cNvPr id="10243" name="Объект 2"/>
          <p:cNvSpPr>
            <a:spLocks noGrp="1"/>
          </p:cNvSpPr>
          <p:nvPr>
            <p:ph idx="1"/>
          </p:nvPr>
        </p:nvSpPr>
        <p:spPr>
          <a:xfrm>
            <a:off x="107950" y="620713"/>
            <a:ext cx="9036050" cy="6237287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20000"/>
              </a:lnSpc>
              <a:defRPr/>
            </a:pPr>
            <a:r>
              <a:rPr lang="ru-RU" sz="1600" b="1" dirty="0"/>
              <a:t>LIKE</a:t>
            </a:r>
            <a:r>
              <a:rPr lang="ru-RU" sz="1600" dirty="0"/>
              <a:t>::= &lt;Выражение для вычисления значения строки&gt; [NOT] LIKE &lt;Выражение для вычисления значения строки&gt; [ESCAPE &lt;символ&gt;] </a:t>
            </a:r>
          </a:p>
          <a:p>
            <a:pPr marL="0" indent="0" algn="just">
              <a:lnSpc>
                <a:spcPct val="120000"/>
              </a:lnSpc>
              <a:spcBef>
                <a:spcPts val="0"/>
              </a:spcBef>
              <a:buFont typeface="Wingdings" pitchFamily="2" charset="2"/>
              <a:buNone/>
              <a:defRPr/>
            </a:pPr>
            <a:r>
              <a:rPr lang="ru-RU" sz="1600" dirty="0"/>
              <a:t>Предикат LIKE сравнивает </a:t>
            </a:r>
            <a:r>
              <a:rPr lang="ru-RU" sz="1600" b="1" dirty="0"/>
              <a:t>строку, указанную в первом выражении</a:t>
            </a:r>
            <a:r>
              <a:rPr lang="ru-RU" sz="1600" dirty="0"/>
              <a:t>, называемую проверяемым значением, </a:t>
            </a:r>
            <a:r>
              <a:rPr lang="ru-RU" sz="1600" b="1" dirty="0"/>
              <a:t>с образцом, который определен во втором выражении</a:t>
            </a:r>
            <a:r>
              <a:rPr lang="ru-RU" sz="1600" dirty="0"/>
              <a:t>. </a:t>
            </a:r>
          </a:p>
          <a:p>
            <a:pPr marL="0" indent="0" algn="just">
              <a:lnSpc>
                <a:spcPct val="120000"/>
              </a:lnSpc>
              <a:spcBef>
                <a:spcPts val="0"/>
              </a:spcBef>
              <a:buFont typeface="Wingdings" pitchFamily="2" charset="2"/>
              <a:buNone/>
              <a:defRPr/>
            </a:pPr>
            <a:r>
              <a:rPr lang="ru-RU" sz="1600" dirty="0"/>
              <a:t>В образце разрешается использовать два </a:t>
            </a:r>
            <a:r>
              <a:rPr lang="ru-RU" sz="1600" b="1" u="sng" dirty="0"/>
              <a:t>подстановочных символа</a:t>
            </a:r>
            <a:r>
              <a:rPr lang="ru-RU" sz="1600" dirty="0"/>
              <a:t>:</a:t>
            </a:r>
          </a:p>
          <a:p>
            <a:pPr lvl="1">
              <a:lnSpc>
                <a:spcPct val="120000"/>
              </a:lnSpc>
              <a:buClr>
                <a:schemeClr val="bg2">
                  <a:lumMod val="60000"/>
                  <a:lumOff val="40000"/>
                </a:schemeClr>
              </a:buClr>
              <a:buFont typeface="Wingdings" pitchFamily="2" charset="2"/>
              <a:buChar char="Ø"/>
              <a:defRPr/>
            </a:pPr>
            <a:r>
              <a:rPr lang="ru-RU" sz="1600" b="1" dirty="0"/>
              <a:t>символ процент </a:t>
            </a:r>
            <a:r>
              <a:rPr lang="ru-RU" sz="1600" dirty="0"/>
              <a:t>(</a:t>
            </a:r>
            <a:r>
              <a:rPr lang="ru-RU" sz="1600" b="1" dirty="0"/>
              <a:t>% </a:t>
            </a:r>
            <a:r>
              <a:rPr lang="ru-RU" sz="1600" dirty="0"/>
              <a:t>) заменяет </a:t>
            </a:r>
            <a:r>
              <a:rPr lang="ru-RU" sz="1600" b="1" dirty="0"/>
              <a:t>последовательность любых символов </a:t>
            </a:r>
            <a:r>
              <a:rPr lang="ru-RU" sz="1600" dirty="0"/>
              <a:t>(число символов может быть </a:t>
            </a:r>
            <a:r>
              <a:rPr lang="ru-RU" sz="1600" b="1" dirty="0"/>
              <a:t>от 0 и более</a:t>
            </a:r>
            <a:r>
              <a:rPr lang="ru-RU" sz="1600" dirty="0"/>
              <a:t>) в проверяемом значении.</a:t>
            </a:r>
          </a:p>
          <a:p>
            <a:pPr lvl="1">
              <a:lnSpc>
                <a:spcPct val="120000"/>
              </a:lnSpc>
              <a:buClr>
                <a:schemeClr val="bg2">
                  <a:lumMod val="60000"/>
                  <a:lumOff val="40000"/>
                </a:schemeClr>
              </a:buClr>
              <a:buFont typeface="Wingdings" pitchFamily="2" charset="2"/>
              <a:buChar char="Ø"/>
              <a:defRPr/>
            </a:pPr>
            <a:r>
              <a:rPr lang="ru-RU" sz="1600" b="1" dirty="0"/>
              <a:t>символ подчеркивания </a:t>
            </a:r>
            <a:r>
              <a:rPr lang="ru-RU" sz="1600" dirty="0"/>
              <a:t>(_), который можно применять вместо </a:t>
            </a:r>
            <a:r>
              <a:rPr lang="ru-RU" sz="1600" b="1" dirty="0"/>
              <a:t>любого единичного символа </a:t>
            </a:r>
            <a:r>
              <a:rPr lang="ru-RU" sz="1600" dirty="0"/>
              <a:t>в проверяемом значении;</a:t>
            </a:r>
          </a:p>
          <a:p>
            <a:pPr>
              <a:lnSpc>
                <a:spcPct val="120000"/>
              </a:lnSpc>
              <a:buFont typeface="Wingdings" pitchFamily="2" charset="2"/>
              <a:buNone/>
              <a:defRPr/>
            </a:pPr>
            <a:r>
              <a:rPr lang="ru-RU" sz="1600" u="sng" dirty="0"/>
              <a:t>Примеры.</a:t>
            </a:r>
          </a:p>
          <a:p>
            <a:pPr>
              <a:lnSpc>
                <a:spcPct val="120000"/>
              </a:lnSpc>
              <a:buFont typeface="Wingdings" pitchFamily="2" charset="2"/>
              <a:buChar char="v"/>
              <a:defRPr/>
            </a:pPr>
            <a:r>
              <a:rPr lang="ru-RU" sz="1600" dirty="0" err="1"/>
              <a:t>x</a:t>
            </a:r>
            <a:r>
              <a:rPr lang="ru-RU" sz="1600" dirty="0"/>
              <a:t> </a:t>
            </a:r>
            <a:r>
              <a:rPr lang="ru-RU" sz="1600" b="1" dirty="0"/>
              <a:t>LIKE</a:t>
            </a:r>
            <a:r>
              <a:rPr lang="ru-RU" sz="1600" dirty="0"/>
              <a:t> '</a:t>
            </a:r>
            <a:r>
              <a:rPr lang="ru-RU" sz="1600" dirty="0" err="1"/>
              <a:t>abc%</a:t>
            </a:r>
            <a:r>
              <a:rPr lang="ru-RU" sz="1600" dirty="0"/>
              <a:t>';  Образцу '</a:t>
            </a:r>
            <a:r>
              <a:rPr lang="ru-RU" sz="1600" dirty="0" err="1"/>
              <a:t>abc%</a:t>
            </a:r>
            <a:r>
              <a:rPr lang="ru-RU" sz="1600" dirty="0"/>
              <a:t>‘ соответствует любая строка </a:t>
            </a:r>
            <a:r>
              <a:rPr lang="ru-RU" sz="1600" dirty="0" err="1"/>
              <a:t>х</a:t>
            </a:r>
            <a:r>
              <a:rPr lang="ru-RU" sz="1600" dirty="0"/>
              <a:t>, начинающаяся на </a:t>
            </a:r>
            <a:r>
              <a:rPr lang="en-US" sz="1600" dirty="0"/>
              <a:t>‘</a:t>
            </a:r>
            <a:r>
              <a:rPr lang="en-US" sz="1600" dirty="0" err="1"/>
              <a:t>abc</a:t>
            </a:r>
            <a:r>
              <a:rPr lang="en-US" sz="1600" dirty="0"/>
              <a:t>’</a:t>
            </a:r>
            <a:endParaRPr lang="ru-RU" sz="1600" dirty="0"/>
          </a:p>
          <a:p>
            <a:pPr>
              <a:lnSpc>
                <a:spcPct val="120000"/>
              </a:lnSpc>
              <a:buFont typeface="Wingdings" pitchFamily="2" charset="2"/>
              <a:buChar char="v"/>
              <a:defRPr/>
            </a:pPr>
            <a:r>
              <a:rPr lang="ru-RU" sz="1600" dirty="0"/>
              <a:t>Образцу  </a:t>
            </a:r>
            <a:r>
              <a:rPr lang="en-US" sz="1600" dirty="0"/>
              <a:t>‘%put%’ </a:t>
            </a:r>
            <a:r>
              <a:rPr lang="ru-RU" sz="1600" b="1" dirty="0"/>
              <a:t>соответствует</a:t>
            </a:r>
            <a:r>
              <a:rPr lang="ru-RU" sz="1600" dirty="0"/>
              <a:t>  любая последовательность символов содержащая </a:t>
            </a:r>
            <a:r>
              <a:rPr lang="en-US" sz="1600" dirty="0"/>
              <a:t>‘put’ </a:t>
            </a:r>
            <a:r>
              <a:rPr lang="ru-RU" sz="1600" dirty="0"/>
              <a:t> в любой позиции.</a:t>
            </a:r>
            <a:endParaRPr lang="en-US" sz="1600" dirty="0"/>
          </a:p>
          <a:p>
            <a:pPr>
              <a:lnSpc>
                <a:spcPct val="120000"/>
              </a:lnSpc>
              <a:buFont typeface="Wingdings" pitchFamily="2" charset="2"/>
              <a:buChar char="v"/>
              <a:defRPr/>
            </a:pPr>
            <a:r>
              <a:rPr lang="ru-RU" sz="1600" dirty="0"/>
              <a:t>Образцу </a:t>
            </a:r>
            <a:r>
              <a:rPr lang="en-US" sz="1600" dirty="0"/>
              <a:t>‘</a:t>
            </a:r>
            <a:r>
              <a:rPr lang="en-US" sz="1600" dirty="0" err="1"/>
              <a:t>p_t</a:t>
            </a:r>
            <a:r>
              <a:rPr lang="en-US" sz="1600" dirty="0"/>
              <a:t>’ </a:t>
            </a:r>
            <a:r>
              <a:rPr lang="ru-RU" sz="1600" b="1" dirty="0"/>
              <a:t>соответствуют</a:t>
            </a:r>
            <a:r>
              <a:rPr lang="ru-RU" sz="1600" dirty="0"/>
              <a:t> строки длины 3 с </a:t>
            </a:r>
            <a:r>
              <a:rPr lang="en-US" sz="1600" dirty="0"/>
              <a:t>‘p’ </a:t>
            </a:r>
            <a:r>
              <a:rPr lang="ru-RU" sz="1600" dirty="0"/>
              <a:t> в начале и </a:t>
            </a:r>
            <a:r>
              <a:rPr lang="en-US" sz="1600" dirty="0"/>
              <a:t>‘t’ </a:t>
            </a:r>
            <a:r>
              <a:rPr lang="ru-RU" sz="1600" dirty="0"/>
              <a:t> в конце, примеры: </a:t>
            </a:r>
            <a:r>
              <a:rPr lang="en-US" sz="1600" dirty="0"/>
              <a:t>‘put’, ‘</a:t>
            </a:r>
            <a:r>
              <a:rPr lang="en-US" sz="1600" dirty="0" err="1"/>
              <a:t>pet’,’pot</a:t>
            </a:r>
            <a:r>
              <a:rPr lang="en-US" sz="1600" dirty="0"/>
              <a:t>’</a:t>
            </a:r>
            <a:r>
              <a:rPr lang="ru-RU" sz="1600" dirty="0"/>
              <a:t>.</a:t>
            </a:r>
          </a:p>
          <a:p>
            <a:pPr>
              <a:lnSpc>
                <a:spcPct val="120000"/>
              </a:lnSpc>
              <a:defRPr/>
            </a:pPr>
            <a:r>
              <a:rPr lang="ru-RU" sz="1600" dirty="0"/>
              <a:t>Если искомая строка содержит </a:t>
            </a:r>
            <a:r>
              <a:rPr lang="ru-RU" sz="1600" b="1" dirty="0"/>
              <a:t>подстановочный символ, </a:t>
            </a:r>
            <a:r>
              <a:rPr lang="ru-RU" sz="1600" dirty="0"/>
              <a:t>то </a:t>
            </a:r>
            <a:r>
              <a:rPr lang="ru-RU" sz="1600" b="1" dirty="0"/>
              <a:t>его</a:t>
            </a:r>
            <a:r>
              <a:rPr lang="ru-RU" sz="1600" dirty="0"/>
              <a:t> следует задать как </a:t>
            </a:r>
            <a:r>
              <a:rPr lang="ru-RU" sz="1600" b="1" dirty="0"/>
              <a:t>управляющий символ </a:t>
            </a:r>
            <a:r>
              <a:rPr lang="ru-RU" sz="1600" dirty="0"/>
              <a:t>в предложении</a:t>
            </a:r>
            <a:r>
              <a:rPr lang="ru-RU" sz="1600" b="1" dirty="0"/>
              <a:t> ESCAPE. </a:t>
            </a:r>
            <a:endParaRPr lang="en-US" sz="1600" b="1" dirty="0"/>
          </a:p>
          <a:p>
            <a:pPr marL="0" indent="0">
              <a:lnSpc>
                <a:spcPct val="120000"/>
              </a:lnSpc>
              <a:spcBef>
                <a:spcPts val="0"/>
              </a:spcBef>
              <a:buFont typeface="Wingdings" pitchFamily="2" charset="2"/>
              <a:buNone/>
              <a:defRPr/>
            </a:pPr>
            <a:r>
              <a:rPr lang="ru-RU" sz="1600" dirty="0"/>
              <a:t>Пусть в некотором поле следует отыскать все значения, содержащие символ </a:t>
            </a:r>
            <a:r>
              <a:rPr lang="en-US" sz="1600" dirty="0">
                <a:latin typeface="Courier" pitchFamily="49" charset="0"/>
              </a:rPr>
              <a:t>‘</a:t>
            </a:r>
            <a:r>
              <a:rPr lang="ru-RU" sz="1600" dirty="0"/>
              <a:t>_</a:t>
            </a:r>
            <a:r>
              <a:rPr lang="en-US" sz="1600" dirty="0">
                <a:latin typeface="Courier" pitchFamily="49" charset="0"/>
              </a:rPr>
              <a:t>’</a:t>
            </a:r>
            <a:r>
              <a:rPr lang="ru-RU" sz="1600" dirty="0"/>
              <a:t>.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Font typeface="Wingdings" pitchFamily="2" charset="2"/>
              <a:buNone/>
              <a:defRPr/>
            </a:pPr>
            <a:r>
              <a:rPr lang="ru-RU" sz="1600" dirty="0"/>
              <a:t>По шаблону </a:t>
            </a:r>
            <a:r>
              <a:rPr lang="en-US" sz="1600" dirty="0">
                <a:latin typeface="Courier" pitchFamily="49" charset="0"/>
              </a:rPr>
              <a:t>‘%_%’</a:t>
            </a:r>
            <a:r>
              <a:rPr lang="ru-RU" sz="1600" dirty="0"/>
              <a:t> будут выданы все записи таблицы.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Font typeface="Wingdings" pitchFamily="2" charset="2"/>
              <a:buNone/>
              <a:defRPr/>
            </a:pPr>
            <a:r>
              <a:rPr lang="ru-RU" sz="1600" dirty="0"/>
              <a:t>В данном случае нужно писать следующий шаблон: </a:t>
            </a:r>
            <a:r>
              <a:rPr lang="en-US" sz="1600" dirty="0">
                <a:latin typeface="Courier" pitchFamily="49" charset="0"/>
              </a:rPr>
              <a:t>‘%#_%’ ESCAPE ‘#’</a:t>
            </a:r>
            <a:endParaRPr lang="ru-RU" sz="1600" dirty="0"/>
          </a:p>
          <a:p>
            <a:pPr>
              <a:lnSpc>
                <a:spcPct val="120000"/>
              </a:lnSpc>
              <a:defRPr/>
            </a:pPr>
            <a:r>
              <a:rPr lang="ru-RU" sz="1600" b="1" dirty="0"/>
              <a:t>IS NULL - </a:t>
            </a:r>
            <a:r>
              <a:rPr lang="ru-RU" sz="1600" dirty="0"/>
              <a:t>возвращает TRUE, если значение равно </a:t>
            </a:r>
            <a:r>
              <a:rPr lang="ru-RU" sz="1600" b="1" dirty="0"/>
              <a:t>NULL. </a:t>
            </a:r>
            <a:r>
              <a:rPr lang="ru-RU" sz="1600" dirty="0"/>
              <a:t>Этот предикат возвращает только значение</a:t>
            </a:r>
            <a:r>
              <a:rPr lang="ru-RU" sz="1600" b="1" dirty="0"/>
              <a:t> TRUE </a:t>
            </a:r>
            <a:r>
              <a:rPr lang="ru-RU" sz="1600" dirty="0"/>
              <a:t>или</a:t>
            </a:r>
            <a:r>
              <a:rPr lang="ru-RU" sz="1600" b="1" dirty="0"/>
              <a:t> FALSE. </a:t>
            </a:r>
            <a:r>
              <a:rPr lang="ru-RU" sz="1600" dirty="0"/>
              <a:t>Например</a:t>
            </a:r>
            <a:r>
              <a:rPr lang="ru-RU" sz="1600" b="1" dirty="0"/>
              <a:t>: </a:t>
            </a:r>
            <a:r>
              <a:rPr lang="ru-RU" sz="1600" dirty="0" err="1"/>
              <a:t>x</a:t>
            </a:r>
            <a:r>
              <a:rPr lang="ru-RU" sz="1600" b="1" dirty="0"/>
              <a:t> IS NULL;</a:t>
            </a:r>
          </a:p>
        </p:txBody>
      </p:sp>
      <p:sp>
        <p:nvSpPr>
          <p:cNvPr id="21508" name="Номер слайда 3"/>
          <p:cNvSpPr>
            <a:spLocks noGrp="1"/>
          </p:cNvSpPr>
          <p:nvPr>
            <p:ph type="sldNum" sz="quarter" idx="11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967F4F89-60BA-48F9-BC4F-EC49D1813B9F}" type="slidenum">
              <a:rPr lang="ru-RU" altLang="ru-RU" smtClean="0"/>
              <a:pPr/>
              <a:t>20</a:t>
            </a:fld>
            <a:endParaRPr lang="ru-RU" altLang="ru-RU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3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64"/>
          <p:cNvSpPr>
            <a:spLocks noGrp="1" noChangeArrowheads="1"/>
          </p:cNvSpPr>
          <p:nvPr>
            <p:ph type="title"/>
          </p:nvPr>
        </p:nvSpPr>
        <p:spPr>
          <a:xfrm>
            <a:off x="542927" y="288130"/>
            <a:ext cx="8229600" cy="1100137"/>
          </a:xfrm>
        </p:spPr>
        <p:txBody>
          <a:bodyPr/>
          <a:lstStyle/>
          <a:p>
            <a:pPr algn="ctr"/>
            <a:r>
              <a:rPr lang="ru-RU" altLang="ru-RU" sz="3600" dirty="0"/>
              <a:t>Таблица ПОКУПАТЕЛИ</a:t>
            </a:r>
          </a:p>
        </p:txBody>
      </p:sp>
      <p:graphicFrame>
        <p:nvGraphicFramePr>
          <p:cNvPr id="35079" name="Group 26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91694692"/>
              </p:ext>
            </p:extLst>
          </p:nvPr>
        </p:nvGraphicFramePr>
        <p:xfrm>
          <a:off x="371475" y="1571625"/>
          <a:ext cx="8401052" cy="4448176"/>
        </p:xfrm>
        <a:graphic>
          <a:graphicData uri="http://schemas.openxmlformats.org/drawingml/2006/table">
            <a:tbl>
              <a:tblPr/>
              <a:tblGrid>
                <a:gridCol w="16805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789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805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789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8215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56022"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2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НомПК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3333FF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2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ИмяПК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3333FF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Город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3333FF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Балл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3333FF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2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НомПР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3333FF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6022"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2001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Светин</a:t>
                      </a:r>
                      <a:endParaRPr kumimoji="0" lang="ru-RU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Новосибирск</a:t>
                      </a:r>
                      <a:endParaRPr kumimoji="0" lang="ru-RU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100</a:t>
                      </a:r>
                      <a:endParaRPr kumimoji="0" lang="ru-RU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1001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6022"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2002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Казаков</a:t>
                      </a:r>
                      <a:endParaRPr kumimoji="0" lang="ru-RU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Барнаул</a:t>
                      </a:r>
                      <a:endParaRPr kumimoji="0" lang="ru-RU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200</a:t>
                      </a:r>
                      <a:endParaRPr kumimoji="0" lang="ru-RU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1003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6022"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2003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Руднев</a:t>
                      </a:r>
                      <a:endParaRPr kumimoji="0" lang="ru-RU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Кемерово</a:t>
                      </a:r>
                      <a:endParaRPr kumimoji="0" lang="ru-RU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200</a:t>
                      </a:r>
                      <a:endParaRPr kumimoji="0" lang="ru-RU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1002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6022"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2004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Ревякин</a:t>
                      </a:r>
                      <a:endParaRPr kumimoji="0" lang="ru-RU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Юрга</a:t>
                      </a:r>
                      <a:endParaRPr kumimoji="0" lang="ru-RU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300</a:t>
                      </a:r>
                      <a:endParaRPr kumimoji="0" lang="ru-RU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1002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56022"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2006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Малыгин</a:t>
                      </a:r>
                      <a:endParaRPr kumimoji="0" lang="ru-RU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Новосибирск</a:t>
                      </a:r>
                      <a:endParaRPr kumimoji="0" lang="ru-RU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NULL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1001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56022"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2008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Коршунов</a:t>
                      </a:r>
                      <a:endParaRPr kumimoji="0" lang="ru-RU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Кемерово</a:t>
                      </a:r>
                      <a:endParaRPr kumimoji="0" lang="ru-RU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300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1007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56022"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2007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Синицын</a:t>
                      </a:r>
                      <a:endParaRPr kumimoji="0" lang="ru-RU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Барнаул</a:t>
                      </a:r>
                      <a:endParaRPr kumimoji="0" lang="ru-RU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100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1004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22587" name="Номер слайда 3"/>
          <p:cNvSpPr>
            <a:spLocks noGrp="1"/>
          </p:cNvSpPr>
          <p:nvPr>
            <p:ph type="sldNum" sz="quarter" idx="11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0FC4F5EE-5207-4FFB-9DED-B0664E7F172F}" type="slidenum">
              <a:rPr lang="ru-RU" altLang="ru-RU" smtClean="0"/>
              <a:pPr/>
              <a:t>21</a:t>
            </a:fld>
            <a:endParaRPr lang="ru-RU" altLang="ru-RU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Заголовок 1"/>
          <p:cNvSpPr>
            <a:spLocks noGrp="1"/>
          </p:cNvSpPr>
          <p:nvPr>
            <p:ph type="title"/>
          </p:nvPr>
        </p:nvSpPr>
        <p:spPr>
          <a:xfrm>
            <a:off x="468313" y="0"/>
            <a:ext cx="8229600" cy="739775"/>
          </a:xfrm>
        </p:spPr>
        <p:txBody>
          <a:bodyPr/>
          <a:lstStyle/>
          <a:p>
            <a:pPr algn="ctr"/>
            <a:r>
              <a:rPr lang="ru-RU" altLang="ru-RU">
                <a:solidFill>
                  <a:schemeClr val="bg2"/>
                </a:solidFill>
              </a:rPr>
              <a:t>Примеры</a:t>
            </a:r>
          </a:p>
        </p:txBody>
      </p:sp>
      <p:sp>
        <p:nvSpPr>
          <p:cNvPr id="24579" name="Объект 2"/>
          <p:cNvSpPr>
            <a:spLocks noGrp="1"/>
          </p:cNvSpPr>
          <p:nvPr>
            <p:ph idx="1"/>
          </p:nvPr>
        </p:nvSpPr>
        <p:spPr>
          <a:xfrm>
            <a:off x="250825" y="765175"/>
            <a:ext cx="8447088" cy="5832475"/>
          </a:xfrm>
        </p:spPr>
        <p:txBody>
          <a:bodyPr/>
          <a:lstStyle/>
          <a:p>
            <a:pPr marL="0" indent="0">
              <a:buFont typeface="Wingdings" pitchFamily="2" charset="2"/>
              <a:buNone/>
            </a:pPr>
            <a:r>
              <a:rPr lang="en-US" altLang="ru-RU" sz="2400" dirty="0"/>
              <a:t>1. SELECT </a:t>
            </a:r>
            <a:r>
              <a:rPr lang="ru-RU" altLang="ru-RU" sz="2400" dirty="0" err="1"/>
              <a:t>НомПР</a:t>
            </a:r>
            <a:r>
              <a:rPr lang="en-US" altLang="ru-RU" sz="2400" dirty="0"/>
              <a:t>, </a:t>
            </a:r>
            <a:r>
              <a:rPr lang="ru-RU" altLang="ru-RU" sz="2400" dirty="0" err="1"/>
              <a:t>ИмяПР</a:t>
            </a:r>
            <a:endParaRPr lang="en-US" altLang="ru-RU" sz="2400" dirty="0"/>
          </a:p>
          <a:p>
            <a:pPr marL="0" indent="0">
              <a:buFont typeface="Wingdings" pitchFamily="2" charset="2"/>
              <a:buNone/>
            </a:pPr>
            <a:r>
              <a:rPr lang="en-US" altLang="ru-RU" sz="2400" dirty="0"/>
              <a:t>     FROM </a:t>
            </a:r>
            <a:r>
              <a:rPr lang="ru-RU" altLang="ru-RU" sz="2400" dirty="0"/>
              <a:t>ПРОДАВЦЫ</a:t>
            </a:r>
            <a:endParaRPr lang="en-US" altLang="ru-RU" sz="2400" dirty="0"/>
          </a:p>
          <a:p>
            <a:pPr marL="0" indent="0">
              <a:buFont typeface="Wingdings" pitchFamily="2" charset="2"/>
              <a:buNone/>
            </a:pPr>
            <a:r>
              <a:rPr lang="en-US" altLang="ru-RU" sz="2400" dirty="0"/>
              <a:t>     WHERE </a:t>
            </a:r>
            <a:r>
              <a:rPr lang="ru-RU" altLang="ru-RU" sz="2400" dirty="0"/>
              <a:t>Город</a:t>
            </a:r>
            <a:r>
              <a:rPr lang="en-US" altLang="ru-RU" sz="2400" dirty="0"/>
              <a:t>=‘</a:t>
            </a:r>
            <a:r>
              <a:rPr lang="ru-RU" altLang="ru-RU" sz="2400" dirty="0"/>
              <a:t>Новосибирск</a:t>
            </a:r>
            <a:r>
              <a:rPr lang="en-US" altLang="ru-RU" sz="2400" dirty="0"/>
              <a:t>’;</a:t>
            </a:r>
          </a:p>
          <a:p>
            <a:pPr marL="0" indent="0">
              <a:buFont typeface="Wingdings" pitchFamily="2" charset="2"/>
              <a:buNone/>
            </a:pPr>
            <a:endParaRPr lang="en-US" altLang="ru-RU" dirty="0"/>
          </a:p>
          <a:p>
            <a:pPr marL="0" indent="0">
              <a:buFont typeface="Wingdings" pitchFamily="2" charset="2"/>
              <a:buNone/>
            </a:pPr>
            <a:endParaRPr lang="en-US" altLang="ru-RU" dirty="0"/>
          </a:p>
          <a:p>
            <a:pPr marL="0" indent="0">
              <a:buFont typeface="Wingdings" pitchFamily="2" charset="2"/>
              <a:buNone/>
            </a:pPr>
            <a:r>
              <a:rPr lang="en-US" altLang="ru-RU" sz="2600" dirty="0"/>
              <a:t>2</a:t>
            </a:r>
            <a:r>
              <a:rPr lang="ru-RU" altLang="ru-RU" sz="2600" dirty="0"/>
              <a:t>. </a:t>
            </a:r>
            <a:r>
              <a:rPr lang="en-US" altLang="ru-RU" sz="2600" dirty="0"/>
              <a:t>SELECT </a:t>
            </a:r>
            <a:r>
              <a:rPr lang="ru-RU" altLang="ru-RU" sz="2600" dirty="0" err="1"/>
              <a:t>ИмяПК</a:t>
            </a:r>
            <a:r>
              <a:rPr lang="ru-RU" altLang="ru-RU" sz="2600" dirty="0"/>
              <a:t>, Город</a:t>
            </a:r>
            <a:endParaRPr lang="en-US" altLang="ru-RU" sz="2600" dirty="0"/>
          </a:p>
          <a:p>
            <a:pPr marL="0" indent="0">
              <a:buFont typeface="Wingdings" pitchFamily="2" charset="2"/>
              <a:buNone/>
            </a:pPr>
            <a:r>
              <a:rPr lang="en-US" altLang="ru-RU" sz="2600" dirty="0"/>
              <a:t>     FROM </a:t>
            </a:r>
            <a:r>
              <a:rPr lang="ru-RU" altLang="ru-RU" sz="2600" dirty="0"/>
              <a:t>ПОКУПАТЕЛИ</a:t>
            </a:r>
            <a:endParaRPr lang="en-US" altLang="ru-RU" sz="2600" dirty="0"/>
          </a:p>
          <a:p>
            <a:pPr marL="0" indent="0">
              <a:buFont typeface="Wingdings" pitchFamily="2" charset="2"/>
              <a:buNone/>
            </a:pPr>
            <a:r>
              <a:rPr lang="en-US" altLang="ru-RU" sz="2600" dirty="0"/>
              <a:t>     WHERE </a:t>
            </a:r>
            <a:r>
              <a:rPr lang="ru-RU" altLang="ru-RU" sz="2600" dirty="0"/>
              <a:t>Балл</a:t>
            </a:r>
            <a:r>
              <a:rPr lang="en-US" altLang="ru-RU" sz="2600" dirty="0"/>
              <a:t> between 100 and 200 </a:t>
            </a:r>
          </a:p>
          <a:p>
            <a:pPr marL="0" indent="0">
              <a:buFont typeface="Wingdings" pitchFamily="2" charset="2"/>
              <a:buNone/>
            </a:pPr>
            <a:endParaRPr lang="en-US" altLang="ru-RU" dirty="0"/>
          </a:p>
          <a:p>
            <a:pPr marL="0" indent="0">
              <a:buFont typeface="Wingdings" pitchFamily="2" charset="2"/>
              <a:buNone/>
            </a:pPr>
            <a:r>
              <a:rPr lang="en-US" altLang="ru-RU" dirty="0"/>
              <a:t>	</a:t>
            </a:r>
          </a:p>
          <a:p>
            <a:pPr marL="0" indent="0">
              <a:buFont typeface="Wingdings" pitchFamily="2" charset="2"/>
              <a:buNone/>
            </a:pPr>
            <a:endParaRPr lang="ru-RU" altLang="ru-RU" dirty="0"/>
          </a:p>
        </p:txBody>
      </p:sp>
      <p:graphicFrame>
        <p:nvGraphicFramePr>
          <p:cNvPr id="5" name="Таблица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9001584"/>
              </p:ext>
            </p:extLst>
          </p:nvPr>
        </p:nvGraphicFramePr>
        <p:xfrm>
          <a:off x="684213" y="2133600"/>
          <a:ext cx="6096000" cy="1112838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946">
                <a:tc>
                  <a:txBody>
                    <a:bodyPr/>
                    <a:lstStyle/>
                    <a:p>
                      <a:pPr algn="ctr"/>
                      <a:r>
                        <a:rPr lang="ru-RU" sz="1800" dirty="0" err="1"/>
                        <a:t>НомПР</a:t>
                      </a:r>
                      <a:endParaRPr lang="ru-RU" sz="1800" dirty="0"/>
                    </a:p>
                  </a:txBody>
                  <a:tcPr marT="45733" marB="45733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dirty="0" err="1"/>
                        <a:t>ИмяПР</a:t>
                      </a:r>
                      <a:endParaRPr lang="en-US" sz="1800" dirty="0"/>
                    </a:p>
                  </a:txBody>
                  <a:tcPr marT="45733" marB="45733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946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1001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33" marB="45733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2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Иванов</a:t>
                      </a:r>
                      <a:endParaRPr kumimoji="0" lang="ru-RU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33" marB="45733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946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1004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33" marB="45733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2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Сидоров</a:t>
                      </a:r>
                      <a:endParaRPr kumimoji="0" lang="ru-RU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33" marB="45733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5618" name="Номер слайда 5"/>
          <p:cNvSpPr>
            <a:spLocks noGrp="1"/>
          </p:cNvSpPr>
          <p:nvPr>
            <p:ph type="sldNum" sz="quarter" idx="11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8C6D2FA9-8E05-40C5-B2B8-C5F031C5A8E7}" type="slidenum">
              <a:rPr lang="ru-RU" altLang="ru-RU" smtClean="0"/>
              <a:pPr/>
              <a:t>22</a:t>
            </a:fld>
            <a:endParaRPr lang="ru-RU" altLang="ru-RU"/>
          </a:p>
        </p:txBody>
      </p:sp>
      <p:graphicFrame>
        <p:nvGraphicFramePr>
          <p:cNvPr id="6" name="Таблица 5"/>
          <p:cNvGraphicFramePr>
            <a:graphicFrameLocks noGrp="1"/>
          </p:cNvGraphicFramePr>
          <p:nvPr/>
        </p:nvGraphicFramePr>
        <p:xfrm>
          <a:off x="827088" y="4797425"/>
          <a:ext cx="6096000" cy="18542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  <a:cs typeface="Times New Roman" pitchFamily="18" charset="0"/>
                        </a:rPr>
                        <a:t>ИмяПК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lt"/>
                        <a:cs typeface="Arial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dirty="0"/>
                        <a:t>Город</a:t>
                      </a:r>
                      <a:endParaRPr 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dk1"/>
                          </a:solidFill>
                          <a:effectLst/>
                          <a:latin typeface="+mn-lt"/>
                          <a:cs typeface="+mn-cs"/>
                        </a:rPr>
                        <a:t>Светин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itchFamily="18" charset="0"/>
                        </a:rPr>
                        <a:t>Новосибирск</a:t>
                      </a:r>
                      <a:endParaRPr kumimoji="0" lang="ru-RU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cs typeface="Arial" charset="0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2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Казаков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itchFamily="18" charset="0"/>
                        </a:rPr>
                        <a:t>Барнаул</a:t>
                      </a:r>
                      <a:endParaRPr kumimoji="0" lang="ru-RU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cs typeface="Arial" charset="0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Руднев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ru-RU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itchFamily="18" charset="0"/>
                        </a:rPr>
                        <a:t>Кемерово</a:t>
                      </a:r>
                      <a:endParaRPr kumimoji="0" lang="ru-RU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cs typeface="Arial" charset="0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Синицын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ru-RU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itchFamily="18" charset="0"/>
                        </a:rPr>
                        <a:t>Барнаул</a:t>
                      </a:r>
                      <a:endParaRPr kumimoji="0" lang="ru-RU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cs typeface="Arial" charset="0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245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245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0"/>
                                        <p:tgtEl>
                                          <p:spTgt spid="245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000"/>
                                        <p:tgtEl>
                                          <p:spTgt spid="245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000"/>
                                        <p:tgtEl>
                                          <p:spTgt spid="245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2457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2000"/>
                                        <p:tgtEl>
                                          <p:spTgt spid="2457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579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Заголовок 1"/>
          <p:cNvSpPr>
            <a:spLocks noGrp="1"/>
          </p:cNvSpPr>
          <p:nvPr>
            <p:ph type="title"/>
          </p:nvPr>
        </p:nvSpPr>
        <p:spPr>
          <a:xfrm>
            <a:off x="457200" y="285751"/>
            <a:ext cx="8229600" cy="525810"/>
          </a:xfrm>
        </p:spPr>
        <p:txBody>
          <a:bodyPr/>
          <a:lstStyle/>
          <a:p>
            <a:pPr algn="ctr"/>
            <a:r>
              <a:rPr lang="ru-RU" altLang="ru-RU" sz="4000" dirty="0">
                <a:solidFill>
                  <a:schemeClr val="bg2"/>
                </a:solidFill>
              </a:rPr>
              <a:t>Запросы к нескольким таблицам</a:t>
            </a:r>
            <a:endParaRPr lang="ru-RU" altLang="ru-RU" sz="40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85750" y="995119"/>
            <a:ext cx="8462714" cy="5710481"/>
          </a:xfrm>
        </p:spPr>
        <p:txBody>
          <a:bodyPr>
            <a:normAutofit fontScale="92500" lnSpcReduction="20000"/>
          </a:bodyPr>
          <a:lstStyle/>
          <a:p>
            <a:pPr marL="0" indent="0">
              <a:lnSpc>
                <a:spcPct val="120000"/>
              </a:lnSpc>
              <a:buFont typeface="Wingdings" pitchFamily="2" charset="2"/>
              <a:buNone/>
              <a:defRPr/>
            </a:pPr>
            <a:r>
              <a:rPr lang="ru-RU" sz="1800" b="1" dirty="0"/>
              <a:t>Соединение таблиц</a:t>
            </a:r>
            <a:endParaRPr lang="ru-RU" sz="1800" dirty="0"/>
          </a:p>
          <a:p>
            <a:pPr>
              <a:lnSpc>
                <a:spcPct val="120000"/>
              </a:lnSpc>
              <a:defRPr/>
            </a:pPr>
            <a:r>
              <a:rPr lang="ru-RU" sz="1800" dirty="0"/>
              <a:t>Данные об объектах могут быть разнесены по разным таблицам в процессе нормализации. Связь этих данных фиксируется в ограничениях внешнего ключа.</a:t>
            </a:r>
          </a:p>
          <a:p>
            <a:pPr>
              <a:lnSpc>
                <a:spcPct val="120000"/>
              </a:lnSpc>
              <a:defRPr/>
            </a:pPr>
            <a:r>
              <a:rPr lang="ru-RU" sz="1800" dirty="0"/>
              <a:t>Для получения объединенной информации можно сформировать запрос, в котором выполнится соединение таблиц (операции реляционной алгебры) </a:t>
            </a:r>
          </a:p>
          <a:p>
            <a:pPr>
              <a:lnSpc>
                <a:spcPct val="120000"/>
              </a:lnSpc>
              <a:defRPr/>
            </a:pPr>
            <a:r>
              <a:rPr lang="ru-RU" sz="1800" dirty="0"/>
              <a:t>Однако условие соединения формируемое во фразе </a:t>
            </a:r>
            <a:r>
              <a:rPr lang="en-US" sz="1800" dirty="0"/>
              <a:t>WHERE </a:t>
            </a:r>
            <a:r>
              <a:rPr lang="ru-RU" sz="1800" dirty="0"/>
              <a:t>является просто логической функцией и не учитывает наличие внешних ключей.</a:t>
            </a:r>
            <a:endParaRPr lang="en-US" sz="1800" dirty="0"/>
          </a:p>
          <a:p>
            <a:pPr>
              <a:lnSpc>
                <a:spcPct val="120000"/>
              </a:lnSpc>
              <a:defRPr/>
            </a:pPr>
            <a:r>
              <a:rPr lang="ru-RU" sz="1800" dirty="0"/>
              <a:t>Таким образом, можно сформировать запрос, реализующий разные виды соединения:</a:t>
            </a:r>
            <a:endParaRPr lang="en-US" sz="1800" dirty="0"/>
          </a:p>
          <a:p>
            <a:pPr lvl="1">
              <a:lnSpc>
                <a:spcPct val="120000"/>
              </a:lnSpc>
              <a:buClr>
                <a:srgbClr val="FF0000"/>
              </a:buClr>
              <a:buFont typeface="Wingdings" panose="05000000000000000000" pitchFamily="2" charset="2"/>
              <a:buChar char="Ø"/>
              <a:defRPr/>
            </a:pPr>
            <a:r>
              <a:rPr lang="ru-RU" sz="1800" dirty="0"/>
              <a:t>натуральное или естественное соединение - связь по внешнему ключу </a:t>
            </a:r>
            <a:endParaRPr lang="en-US" sz="1800" dirty="0"/>
          </a:p>
          <a:p>
            <a:pPr lvl="1">
              <a:lnSpc>
                <a:spcPct val="120000"/>
              </a:lnSpc>
              <a:buClr>
                <a:srgbClr val="FF0000"/>
              </a:buClr>
              <a:buFont typeface="Wingdings" panose="05000000000000000000" pitchFamily="2" charset="2"/>
              <a:buChar char="Ø"/>
              <a:defRPr/>
            </a:pPr>
            <a:r>
              <a:rPr lang="ru-RU" sz="1800" dirty="0"/>
              <a:t>произвольное внешнее соединение (</a:t>
            </a:r>
            <a:r>
              <a:rPr lang="en-US" sz="1800" dirty="0"/>
              <a:t>Left OUTER JOIN, Right OUTER JOIN, Full OUTER JOIN)</a:t>
            </a:r>
            <a:endParaRPr lang="ru-RU" sz="1800" dirty="0"/>
          </a:p>
          <a:p>
            <a:pPr marL="0" indent="0">
              <a:lnSpc>
                <a:spcPct val="120000"/>
              </a:lnSpc>
              <a:buNone/>
              <a:defRPr/>
            </a:pPr>
            <a:r>
              <a:rPr lang="ru-RU" sz="2200" b="1" dirty="0"/>
              <a:t>Вывести имена покупателей с именами продавцов, которые их обслуживают</a:t>
            </a:r>
            <a:endParaRPr lang="en-US" sz="2200" b="1" dirty="0"/>
          </a:p>
          <a:p>
            <a:pPr marL="0" indent="0">
              <a:lnSpc>
                <a:spcPct val="120000"/>
              </a:lnSpc>
              <a:buNone/>
              <a:defRPr/>
            </a:pPr>
            <a:r>
              <a:rPr lang="en-US" sz="1800" dirty="0"/>
              <a:t>SELECT </a:t>
            </a:r>
            <a:r>
              <a:rPr lang="ru-RU" sz="1800" dirty="0" err="1"/>
              <a:t>ПОКУПАТЕЛИ.ИмяП</a:t>
            </a:r>
            <a:r>
              <a:rPr lang="ru-RU" sz="1800" dirty="0"/>
              <a:t>, </a:t>
            </a:r>
            <a:r>
              <a:rPr lang="ru-RU" sz="1800" dirty="0" err="1"/>
              <a:t>ПРОДАВЦЫ.ИмяПР</a:t>
            </a:r>
            <a:endParaRPr lang="ru-RU" sz="1800" dirty="0"/>
          </a:p>
          <a:p>
            <a:pPr marL="0" indent="0">
              <a:lnSpc>
                <a:spcPct val="120000"/>
              </a:lnSpc>
              <a:buNone/>
              <a:defRPr/>
            </a:pPr>
            <a:r>
              <a:rPr lang="en-US" sz="1800" dirty="0"/>
              <a:t>FROM</a:t>
            </a:r>
            <a:r>
              <a:rPr lang="ru-RU" sz="1800" dirty="0"/>
              <a:t> ПОКУПАТЕЛИ, ПОКУПКИ, ПРОДАВЦЫ</a:t>
            </a:r>
          </a:p>
          <a:p>
            <a:pPr marL="0" indent="0">
              <a:lnSpc>
                <a:spcPct val="120000"/>
              </a:lnSpc>
              <a:buNone/>
              <a:defRPr/>
            </a:pPr>
            <a:r>
              <a:rPr lang="en-US" sz="1800" dirty="0"/>
              <a:t>WHERE </a:t>
            </a:r>
            <a:r>
              <a:rPr lang="ru-RU" sz="1800" dirty="0" err="1"/>
              <a:t>ПРОДАВЦЫ.НомПР</a:t>
            </a:r>
            <a:r>
              <a:rPr lang="ru-RU" sz="1800" dirty="0"/>
              <a:t>= </a:t>
            </a:r>
            <a:r>
              <a:rPr lang="ru-RU" sz="1800" dirty="0" err="1"/>
              <a:t>ПОКУПКИ.НомПР</a:t>
            </a:r>
            <a:r>
              <a:rPr lang="ru-RU" sz="1800" dirty="0"/>
              <a:t> </a:t>
            </a:r>
            <a:r>
              <a:rPr lang="en-US" sz="1800" dirty="0"/>
              <a:t>and </a:t>
            </a:r>
            <a:r>
              <a:rPr lang="ru-RU" sz="1800" dirty="0" err="1"/>
              <a:t>ПОКУПАТЕЛИ.НомПК</a:t>
            </a:r>
            <a:r>
              <a:rPr lang="ru-RU" sz="1800" dirty="0"/>
              <a:t>= </a:t>
            </a:r>
            <a:r>
              <a:rPr lang="ru-RU" sz="1800" dirty="0" err="1"/>
              <a:t>ПОКУПКИ.НомПК</a:t>
            </a:r>
            <a:r>
              <a:rPr lang="ru-RU" sz="1800" dirty="0"/>
              <a:t> </a:t>
            </a:r>
          </a:p>
          <a:p>
            <a:pPr marL="0" indent="0">
              <a:lnSpc>
                <a:spcPct val="120000"/>
              </a:lnSpc>
              <a:buFont typeface="Wingdings" pitchFamily="2" charset="2"/>
              <a:buNone/>
              <a:defRPr/>
            </a:pPr>
            <a:endParaRPr lang="ru-RU" sz="1800" dirty="0"/>
          </a:p>
        </p:txBody>
      </p:sp>
      <p:sp>
        <p:nvSpPr>
          <p:cNvPr id="30724" name="Номер слайда 3"/>
          <p:cNvSpPr>
            <a:spLocks noGrp="1"/>
          </p:cNvSpPr>
          <p:nvPr>
            <p:ph type="sldNum" sz="quarter" idx="11"/>
          </p:nvPr>
        </p:nvSpPr>
        <p:spPr>
          <a:xfrm>
            <a:off x="8429600" y="5589240"/>
            <a:ext cx="514400" cy="457200"/>
          </a:xfrm>
          <a:noFill/>
          <a:ln>
            <a:miter lim="800000"/>
            <a:headEnd/>
            <a:tailEnd/>
          </a:ln>
        </p:spPr>
        <p:txBody>
          <a:bodyPr/>
          <a:lstStyle/>
          <a:p>
            <a:fld id="{8D13760C-76BF-4FC0-ACDD-0E376B423DDD}" type="slidenum">
              <a:rPr lang="ru-RU" altLang="ru-RU" smtClean="0"/>
              <a:pPr/>
              <a:t>23</a:t>
            </a:fld>
            <a:endParaRPr lang="ru-RU" altLang="ru-RU" dirty="0"/>
          </a:p>
        </p:txBody>
      </p:sp>
    </p:spTree>
    <p:extLst>
      <p:ext uri="{BB962C8B-B14F-4D97-AF65-F5344CB8AC3E}">
        <p14:creationId xmlns:p14="http://schemas.microsoft.com/office/powerpoint/2010/main" val="41408408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3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6048003-41FA-44AC-9EEE-F85CF89C68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1560" y="1298503"/>
            <a:ext cx="8075240" cy="1187920"/>
          </a:xfrm>
        </p:spPr>
        <p:txBody>
          <a:bodyPr>
            <a:normAutofit fontScale="90000"/>
          </a:bodyPr>
          <a:lstStyle/>
          <a:p>
            <a:pPr marL="0" indent="0">
              <a:lnSpc>
                <a:spcPct val="120000"/>
              </a:lnSpc>
              <a:buNone/>
              <a:defRPr/>
            </a:pPr>
            <a:r>
              <a:rPr lang="en-US" sz="2000" dirty="0"/>
              <a:t>SELECT </a:t>
            </a:r>
            <a:r>
              <a:rPr lang="ru-RU" sz="2000" dirty="0" err="1"/>
              <a:t>ПОКУПАТЕЛИ.ИмяП</a:t>
            </a:r>
            <a:r>
              <a:rPr lang="ru-RU" sz="2000" dirty="0"/>
              <a:t>, </a:t>
            </a:r>
            <a:r>
              <a:rPr lang="ru-RU" sz="2000" dirty="0" err="1"/>
              <a:t>ПРОДАВЦЫ.ИмяПР</a:t>
            </a:r>
            <a:r>
              <a:rPr lang="ru-RU" sz="2000" dirty="0"/>
              <a:t/>
            </a:r>
            <a:br>
              <a:rPr lang="ru-RU" sz="2000" dirty="0"/>
            </a:br>
            <a:r>
              <a:rPr lang="en-US" sz="2000" dirty="0"/>
              <a:t>FROM</a:t>
            </a:r>
            <a:r>
              <a:rPr lang="ru-RU" sz="2000" dirty="0"/>
              <a:t> ПОКУПАТЕЛИ, ПОКУПКИ, ПРОДАВЦЫ</a:t>
            </a:r>
            <a:br>
              <a:rPr lang="ru-RU" sz="2000" dirty="0"/>
            </a:br>
            <a:r>
              <a:rPr lang="en-US" sz="2000" dirty="0"/>
              <a:t>WHERE </a:t>
            </a:r>
            <a:r>
              <a:rPr lang="ru-RU" sz="2000" dirty="0" err="1"/>
              <a:t>ПРОДАВЦЫ.НомПР</a:t>
            </a:r>
            <a:r>
              <a:rPr lang="ru-RU" sz="2000" dirty="0"/>
              <a:t>= </a:t>
            </a:r>
            <a:r>
              <a:rPr lang="ru-RU" sz="2000" dirty="0" err="1"/>
              <a:t>ПОКУПКИ.НомПР</a:t>
            </a:r>
            <a:r>
              <a:rPr lang="ru-RU" sz="2000" dirty="0"/>
              <a:t> </a:t>
            </a:r>
            <a:r>
              <a:rPr lang="en-US" sz="2000" dirty="0"/>
              <a:t>and </a:t>
            </a:r>
            <a:r>
              <a:rPr lang="ru-RU" sz="2000" dirty="0" err="1"/>
              <a:t>ПОКУПАТЕЛИ.НомП</a:t>
            </a:r>
            <a:r>
              <a:rPr lang="ru-RU" sz="2000" dirty="0"/>
              <a:t>= </a:t>
            </a:r>
            <a:r>
              <a:rPr lang="ru-RU" sz="2000" dirty="0" err="1"/>
              <a:t>ПОКУПКИ.НомП</a:t>
            </a:r>
            <a:endParaRPr lang="ru-RU" sz="2000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2F773DE-D347-4B1F-B686-15EEB9EB5EB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03B561E8-F9B6-45B6-9E09-856DDB05A2D6}" type="slidenum">
              <a:rPr lang="ru-RU" altLang="ru-RU" smtClean="0"/>
              <a:pPr>
                <a:defRPr/>
              </a:pPr>
              <a:t>24</a:t>
            </a:fld>
            <a:endParaRPr lang="ru-RU" altLang="ru-RU"/>
          </a:p>
        </p:txBody>
      </p:sp>
      <p:graphicFrame>
        <p:nvGraphicFramePr>
          <p:cNvPr id="3" name="Таблица 2">
            <a:extLst>
              <a:ext uri="{FF2B5EF4-FFF2-40B4-BE49-F238E27FC236}">
                <a16:creationId xmlns:a16="http://schemas.microsoft.com/office/drawing/2014/main" id="{74070AE1-E333-405F-B0DA-FFE798990E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1882289"/>
              </p:ext>
            </p:extLst>
          </p:nvPr>
        </p:nvGraphicFramePr>
        <p:xfrm>
          <a:off x="2123728" y="2700734"/>
          <a:ext cx="4114800" cy="3981450"/>
        </p:xfrm>
        <a:graphic>
          <a:graphicData uri="http://schemas.openxmlformats.org/drawingml/2006/table">
            <a:tbl>
              <a:tblPr/>
              <a:tblGrid>
                <a:gridCol w="2057400">
                  <a:extLst>
                    <a:ext uri="{9D8B030D-6E8A-4147-A177-3AD203B41FA5}">
                      <a16:colId xmlns:a16="http://schemas.microsoft.com/office/drawing/2014/main" val="1403202396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50686864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fontAlgn="b"/>
                      <a:r>
                        <a:rPr lang="ru-RU" sz="2000" b="1" dirty="0">
                          <a:solidFill>
                            <a:srgbClr val="3F863F"/>
                          </a:solidFill>
                          <a:effectLst/>
                        </a:rPr>
                        <a:t>ИМЯП</a:t>
                      </a:r>
                    </a:p>
                  </a:txBody>
                  <a:tcPr marL="85725" marR="85725" marT="28575" marB="28575" anchor="b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CC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2000" b="1">
                          <a:solidFill>
                            <a:srgbClr val="3F863F"/>
                          </a:solidFill>
                          <a:effectLst/>
                        </a:rPr>
                        <a:t>ИМЯПР</a:t>
                      </a:r>
                    </a:p>
                  </a:txBody>
                  <a:tcPr marL="85725" marR="85725" marT="28575" marB="28575" anchor="b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C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66136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ru-RU" sz="2000">
                          <a:effectLst/>
                        </a:rPr>
                        <a:t>Светин</a:t>
                      </a:r>
                    </a:p>
                  </a:txBody>
                  <a:tcPr marL="85725" marR="85725" marT="28575" marB="28575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>
                          <a:effectLst/>
                        </a:rPr>
                        <a:t>Иванов</a:t>
                      </a:r>
                    </a:p>
                  </a:txBody>
                  <a:tcPr marL="85725" marR="85725" marT="28575" marB="28575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82671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ru-RU" sz="2000">
                          <a:effectLst/>
                        </a:rPr>
                        <a:t>Казаков</a:t>
                      </a:r>
                    </a:p>
                  </a:txBody>
                  <a:tcPr marL="85725" marR="85725" marT="28575" marB="28575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>
                          <a:effectLst/>
                        </a:rPr>
                        <a:t>Кузнецов</a:t>
                      </a:r>
                    </a:p>
                  </a:txBody>
                  <a:tcPr marL="85725" marR="85725" marT="28575" marB="28575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82658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ru-RU" sz="2000">
                          <a:effectLst/>
                        </a:rPr>
                        <a:t>Малыгин</a:t>
                      </a:r>
                    </a:p>
                  </a:txBody>
                  <a:tcPr marL="85725" marR="85725" marT="28575" marB="28575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>
                          <a:effectLst/>
                        </a:rPr>
                        <a:t>Иванов</a:t>
                      </a:r>
                    </a:p>
                  </a:txBody>
                  <a:tcPr marL="85725" marR="85725" marT="28575" marB="28575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70691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ru-RU" sz="2000">
                          <a:effectLst/>
                        </a:rPr>
                        <a:t>Малыгин</a:t>
                      </a:r>
                    </a:p>
                  </a:txBody>
                  <a:tcPr marL="85725" marR="85725" marT="28575" marB="28575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>
                          <a:effectLst/>
                        </a:rPr>
                        <a:t>Иванов</a:t>
                      </a:r>
                    </a:p>
                  </a:txBody>
                  <a:tcPr marL="85725" marR="85725" marT="28575" marB="28575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62064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ru-RU" sz="2000">
                          <a:effectLst/>
                        </a:rPr>
                        <a:t>Ревякин</a:t>
                      </a:r>
                    </a:p>
                  </a:txBody>
                  <a:tcPr marL="85725" marR="85725" marT="28575" marB="28575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>
                          <a:effectLst/>
                        </a:rPr>
                        <a:t>Петров</a:t>
                      </a:r>
                    </a:p>
                  </a:txBody>
                  <a:tcPr marL="85725" marR="85725" marT="28575" marB="28575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47402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ru-RU" sz="2000">
                          <a:effectLst/>
                        </a:rPr>
                        <a:t>Ревякин</a:t>
                      </a:r>
                    </a:p>
                  </a:txBody>
                  <a:tcPr marL="85725" marR="85725" marT="28575" marB="28575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>
                          <a:effectLst/>
                        </a:rPr>
                        <a:t>Петров</a:t>
                      </a:r>
                    </a:p>
                  </a:txBody>
                  <a:tcPr marL="85725" marR="85725" marT="28575" marB="28575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99066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ru-RU" sz="2000">
                          <a:effectLst/>
                        </a:rPr>
                        <a:t>Коршунов</a:t>
                      </a:r>
                    </a:p>
                  </a:txBody>
                  <a:tcPr marL="85725" marR="85725" marT="28575" marB="28575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>
                          <a:effectLst/>
                        </a:rPr>
                        <a:t>Голубев</a:t>
                      </a:r>
                    </a:p>
                  </a:txBody>
                  <a:tcPr marL="85725" marR="85725" marT="28575" marB="28575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95325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ru-RU" sz="2000">
                          <a:effectLst/>
                        </a:rPr>
                        <a:t>Коршунов</a:t>
                      </a:r>
                    </a:p>
                  </a:txBody>
                  <a:tcPr marL="85725" marR="85725" marT="28575" marB="28575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>
                          <a:effectLst/>
                        </a:rPr>
                        <a:t>Голубев</a:t>
                      </a:r>
                    </a:p>
                  </a:txBody>
                  <a:tcPr marL="85725" marR="85725" marT="28575" marB="28575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14016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ru-RU" sz="2000">
                          <a:effectLst/>
                        </a:rPr>
                        <a:t>Руднев</a:t>
                      </a:r>
                    </a:p>
                  </a:txBody>
                  <a:tcPr marL="85725" marR="85725" marT="28575" marB="28575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>
                          <a:effectLst/>
                        </a:rPr>
                        <a:t>Петров</a:t>
                      </a:r>
                    </a:p>
                  </a:txBody>
                  <a:tcPr marL="85725" marR="85725" marT="28575" marB="28575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10688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ru-RU" sz="2000" dirty="0">
                          <a:effectLst/>
                        </a:rPr>
                        <a:t>Синицын</a:t>
                      </a:r>
                    </a:p>
                  </a:txBody>
                  <a:tcPr marL="85725" marR="85725" marT="28575" marB="28575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dirty="0">
                          <a:effectLst/>
                        </a:rPr>
                        <a:t>Сидоров</a:t>
                      </a:r>
                    </a:p>
                  </a:txBody>
                  <a:tcPr marL="85725" marR="85725" marT="28575" marB="28575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0090108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2C713A66-41A8-4FB2-90F5-FDE618C86F43}"/>
              </a:ext>
            </a:extLst>
          </p:cNvPr>
          <p:cNvSpPr txBox="1"/>
          <p:nvPr/>
        </p:nvSpPr>
        <p:spPr>
          <a:xfrm>
            <a:off x="445170" y="130086"/>
            <a:ext cx="824163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/>
              <a:t>Формирование запроса через ограничения (исчисление)</a:t>
            </a:r>
          </a:p>
        </p:txBody>
      </p:sp>
    </p:spTree>
    <p:extLst>
      <p:ext uri="{BB962C8B-B14F-4D97-AF65-F5344CB8AC3E}">
        <p14:creationId xmlns:p14="http://schemas.microsoft.com/office/powerpoint/2010/main" val="89199864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6048003-41FA-44AC-9EEE-F85CF89C68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3986" y="1579378"/>
            <a:ext cx="8075240" cy="1187920"/>
          </a:xfrm>
        </p:spPr>
        <p:txBody>
          <a:bodyPr>
            <a:normAutofit fontScale="90000"/>
          </a:bodyPr>
          <a:lstStyle/>
          <a:p>
            <a:pPr marL="0" indent="0">
              <a:lnSpc>
                <a:spcPct val="120000"/>
              </a:lnSpc>
              <a:buNone/>
              <a:defRPr/>
            </a:pPr>
            <a:r>
              <a:rPr lang="en-US" sz="2000" b="1" dirty="0"/>
              <a:t>SELECT DISTINCT </a:t>
            </a:r>
            <a:r>
              <a:rPr lang="ru-RU" sz="2000" dirty="0" err="1"/>
              <a:t>ПОКУПАТЕЛИ.ИмяП</a:t>
            </a:r>
            <a:r>
              <a:rPr lang="ru-RU" sz="2000" dirty="0"/>
              <a:t>, </a:t>
            </a:r>
            <a:r>
              <a:rPr lang="ru-RU" sz="2000" dirty="0" err="1"/>
              <a:t>ПРОДАВЦЫ.ИмяПР</a:t>
            </a:r>
            <a:r>
              <a:rPr lang="ru-RU" sz="2000" dirty="0"/>
              <a:t/>
            </a:r>
            <a:br>
              <a:rPr lang="ru-RU" sz="2000" dirty="0"/>
            </a:br>
            <a:r>
              <a:rPr lang="en-US" sz="2000" b="1" dirty="0"/>
              <a:t>FROM</a:t>
            </a:r>
            <a:r>
              <a:rPr lang="ru-RU" sz="2000" dirty="0"/>
              <a:t> ПОКУПАТЕЛИ, ПОКУПКИ, ПРОДАВЦЫ</a:t>
            </a:r>
            <a:br>
              <a:rPr lang="ru-RU" sz="2000" dirty="0"/>
            </a:br>
            <a:r>
              <a:rPr lang="en-US" sz="2000" b="1" dirty="0"/>
              <a:t>WHERE </a:t>
            </a:r>
            <a:r>
              <a:rPr lang="ru-RU" sz="2000" dirty="0" err="1"/>
              <a:t>ПРОДАВЦЫ.НомПР</a:t>
            </a:r>
            <a:r>
              <a:rPr lang="ru-RU" sz="2000" dirty="0"/>
              <a:t>= </a:t>
            </a:r>
            <a:r>
              <a:rPr lang="ru-RU" sz="2000" dirty="0" err="1"/>
              <a:t>ПОКУПКИ.НомПР</a:t>
            </a:r>
            <a:r>
              <a:rPr lang="ru-RU" sz="2000" dirty="0"/>
              <a:t> </a:t>
            </a:r>
            <a:r>
              <a:rPr lang="en-US" sz="2000" dirty="0"/>
              <a:t>and   	</a:t>
            </a:r>
            <a:r>
              <a:rPr lang="ru-RU" sz="2000" dirty="0" err="1"/>
              <a:t>ПОКУПАТЕЛИ.НомП</a:t>
            </a:r>
            <a:r>
              <a:rPr lang="ru-RU" sz="2000" dirty="0"/>
              <a:t>= </a:t>
            </a:r>
            <a:r>
              <a:rPr lang="ru-RU" sz="2000" dirty="0" err="1"/>
              <a:t>ПОКУПКИ.НомП</a:t>
            </a:r>
            <a:endParaRPr lang="ru-RU" sz="2000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2F773DE-D347-4B1F-B686-15EEB9EB5EB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03B561E8-F9B6-45B6-9E09-856DDB05A2D6}" type="slidenum">
              <a:rPr lang="ru-RU" altLang="ru-RU" smtClean="0"/>
              <a:pPr>
                <a:defRPr/>
              </a:pPr>
              <a:t>25</a:t>
            </a:fld>
            <a:endParaRPr lang="ru-RU" altLang="ru-RU"/>
          </a:p>
        </p:txBody>
      </p:sp>
      <p:graphicFrame>
        <p:nvGraphicFramePr>
          <p:cNvPr id="5" name="Таблица 4">
            <a:extLst>
              <a:ext uri="{FF2B5EF4-FFF2-40B4-BE49-F238E27FC236}">
                <a16:creationId xmlns:a16="http://schemas.microsoft.com/office/drawing/2014/main" id="{54EFD14A-D27D-4DA3-894A-D3D52169D97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0176390"/>
              </p:ext>
            </p:extLst>
          </p:nvPr>
        </p:nvGraphicFramePr>
        <p:xfrm>
          <a:off x="764704" y="3265019"/>
          <a:ext cx="6779096" cy="2671183"/>
        </p:xfrm>
        <a:graphic>
          <a:graphicData uri="http://schemas.openxmlformats.org/drawingml/2006/table">
            <a:tbl>
              <a:tblPr/>
              <a:tblGrid>
                <a:gridCol w="3389548">
                  <a:extLst>
                    <a:ext uri="{9D8B030D-6E8A-4147-A177-3AD203B41FA5}">
                      <a16:colId xmlns:a16="http://schemas.microsoft.com/office/drawing/2014/main" val="3192017243"/>
                    </a:ext>
                  </a:extLst>
                </a:gridCol>
                <a:gridCol w="3389548">
                  <a:extLst>
                    <a:ext uri="{9D8B030D-6E8A-4147-A177-3AD203B41FA5}">
                      <a16:colId xmlns:a16="http://schemas.microsoft.com/office/drawing/2014/main" val="1595450577"/>
                    </a:ext>
                  </a:extLst>
                </a:gridCol>
              </a:tblGrid>
              <a:tr h="350893">
                <a:tc>
                  <a:txBody>
                    <a:bodyPr/>
                    <a:lstStyle/>
                    <a:p>
                      <a:pPr algn="ctr" fontAlgn="b"/>
                      <a:r>
                        <a:rPr lang="ru-RU" sz="1800" b="1">
                          <a:solidFill>
                            <a:srgbClr val="3F863F"/>
                          </a:solidFill>
                          <a:effectLst/>
                        </a:rPr>
                        <a:t>ИМЯП</a:t>
                      </a:r>
                    </a:p>
                  </a:txBody>
                  <a:tcPr marL="85725" marR="85725" marT="28575" marB="28575" anchor="b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CC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800" b="1">
                          <a:solidFill>
                            <a:srgbClr val="3F863F"/>
                          </a:solidFill>
                          <a:effectLst/>
                        </a:rPr>
                        <a:t>ИМЯПР</a:t>
                      </a:r>
                    </a:p>
                  </a:txBody>
                  <a:tcPr marL="85725" marR="85725" marT="28575" marB="28575" anchor="b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C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39795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ru-RU" sz="1800">
                          <a:effectLst/>
                        </a:rPr>
                        <a:t>Казаков</a:t>
                      </a:r>
                    </a:p>
                  </a:txBody>
                  <a:tcPr marL="85725" marR="85725" marT="28575" marB="28575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>
                          <a:effectLst/>
                        </a:rPr>
                        <a:t>Кузнецов</a:t>
                      </a:r>
                    </a:p>
                  </a:txBody>
                  <a:tcPr marL="85725" marR="85725" marT="28575" marB="28575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77651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ru-RU" sz="1800">
                          <a:effectLst/>
                        </a:rPr>
                        <a:t>Малыгин</a:t>
                      </a:r>
                    </a:p>
                  </a:txBody>
                  <a:tcPr marL="85725" marR="85725" marT="28575" marB="28575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>
                          <a:effectLst/>
                        </a:rPr>
                        <a:t>Иванов</a:t>
                      </a:r>
                    </a:p>
                  </a:txBody>
                  <a:tcPr marL="85725" marR="85725" marT="28575" marB="28575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97403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ru-RU" sz="1800">
                          <a:effectLst/>
                        </a:rPr>
                        <a:t>Синицын</a:t>
                      </a:r>
                    </a:p>
                  </a:txBody>
                  <a:tcPr marL="85725" marR="85725" marT="28575" marB="28575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>
                          <a:effectLst/>
                        </a:rPr>
                        <a:t>Сидоров</a:t>
                      </a:r>
                    </a:p>
                  </a:txBody>
                  <a:tcPr marL="85725" marR="85725" marT="28575" marB="28575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24353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ru-RU" sz="1800">
                          <a:effectLst/>
                        </a:rPr>
                        <a:t>Руднев</a:t>
                      </a:r>
                    </a:p>
                  </a:txBody>
                  <a:tcPr marL="85725" marR="85725" marT="28575" marB="28575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>
                          <a:effectLst/>
                        </a:rPr>
                        <a:t>Петров</a:t>
                      </a:r>
                    </a:p>
                  </a:txBody>
                  <a:tcPr marL="85725" marR="85725" marT="28575" marB="28575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01431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ru-RU" sz="1800">
                          <a:effectLst/>
                        </a:rPr>
                        <a:t>Светин</a:t>
                      </a:r>
                    </a:p>
                  </a:txBody>
                  <a:tcPr marL="85725" marR="85725" marT="28575" marB="28575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>
                          <a:effectLst/>
                        </a:rPr>
                        <a:t>Иванов</a:t>
                      </a:r>
                    </a:p>
                  </a:txBody>
                  <a:tcPr marL="85725" marR="85725" marT="28575" marB="28575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59004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ru-RU" sz="1800">
                          <a:effectLst/>
                        </a:rPr>
                        <a:t>Ревякин</a:t>
                      </a:r>
                    </a:p>
                  </a:txBody>
                  <a:tcPr marL="85725" marR="85725" marT="28575" marB="28575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>
                          <a:effectLst/>
                        </a:rPr>
                        <a:t>Петров</a:t>
                      </a:r>
                    </a:p>
                  </a:txBody>
                  <a:tcPr marL="85725" marR="85725" marT="28575" marB="28575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3856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ru-RU" sz="1800" dirty="0">
                          <a:effectLst/>
                        </a:rPr>
                        <a:t>Коршунов</a:t>
                      </a:r>
                    </a:p>
                  </a:txBody>
                  <a:tcPr marL="85725" marR="85725" marT="28575" marB="28575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dirty="0">
                          <a:effectLst/>
                        </a:rPr>
                        <a:t>Голубев</a:t>
                      </a:r>
                    </a:p>
                  </a:txBody>
                  <a:tcPr marL="85725" marR="85725" marT="28575" marB="28575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5704626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791DC2C9-5EA2-43D2-9F2B-D5F59466F050}"/>
              </a:ext>
            </a:extLst>
          </p:cNvPr>
          <p:cNvSpPr txBox="1"/>
          <p:nvPr/>
        </p:nvSpPr>
        <p:spPr>
          <a:xfrm>
            <a:off x="445170" y="286185"/>
            <a:ext cx="824163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/>
              <a:t>Формирование запроса через ограничения (исчисление)</a:t>
            </a:r>
          </a:p>
        </p:txBody>
      </p:sp>
    </p:spTree>
    <p:extLst>
      <p:ext uri="{BB962C8B-B14F-4D97-AF65-F5344CB8AC3E}">
        <p14:creationId xmlns:p14="http://schemas.microsoft.com/office/powerpoint/2010/main" val="385437748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6048003-41FA-44AC-9EEE-F85CF89C68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8365" y="1374839"/>
            <a:ext cx="8075240" cy="1440160"/>
          </a:xfrm>
        </p:spPr>
        <p:txBody>
          <a:bodyPr>
            <a:normAutofit fontScale="90000"/>
          </a:bodyPr>
          <a:lstStyle/>
          <a:p>
            <a:pPr marL="0" indent="0">
              <a:lnSpc>
                <a:spcPct val="120000"/>
              </a:lnSpc>
              <a:buNone/>
              <a:defRPr/>
            </a:pPr>
            <a:r>
              <a:rPr lang="en-US" sz="2000" b="1" dirty="0"/>
              <a:t>SELECT DISTINCT </a:t>
            </a:r>
            <a:r>
              <a:rPr lang="ru-RU" sz="2000" dirty="0" err="1"/>
              <a:t>ПОКУПАТЕЛИ.ИмяП</a:t>
            </a:r>
            <a:r>
              <a:rPr lang="ru-RU" sz="2000" dirty="0"/>
              <a:t>, </a:t>
            </a:r>
            <a:r>
              <a:rPr lang="ru-RU" sz="2000" dirty="0" err="1"/>
              <a:t>ПРОДАВЦЫ.ИмяПР</a:t>
            </a:r>
            <a:r>
              <a:rPr lang="ru-RU" sz="2000" dirty="0"/>
              <a:t/>
            </a:r>
            <a:br>
              <a:rPr lang="ru-RU" sz="2000" dirty="0"/>
            </a:br>
            <a:r>
              <a:rPr lang="en-US" sz="2000" b="1" dirty="0"/>
              <a:t>FROM</a:t>
            </a:r>
            <a:r>
              <a:rPr lang="ru-RU" sz="2000" dirty="0"/>
              <a:t> ПОКУПАТЕЛИ</a:t>
            </a:r>
            <a:r>
              <a:rPr lang="en-US" sz="2000" dirty="0"/>
              <a:t> </a:t>
            </a:r>
            <a:r>
              <a:rPr lang="en-US" sz="2000" b="1" dirty="0"/>
              <a:t>JOIN</a:t>
            </a:r>
            <a:r>
              <a:rPr lang="ru-RU" sz="2000" dirty="0"/>
              <a:t> ПОКУПКИ</a:t>
            </a:r>
            <a:r>
              <a:rPr lang="en-US" sz="2000" dirty="0"/>
              <a:t> on </a:t>
            </a:r>
            <a:r>
              <a:rPr lang="ru-RU" sz="2000" dirty="0" err="1"/>
              <a:t>ПОКУПАТЕЛИ.НомП</a:t>
            </a:r>
            <a:r>
              <a:rPr lang="ru-RU" sz="2000" dirty="0"/>
              <a:t>= </a:t>
            </a:r>
            <a:r>
              <a:rPr lang="ru-RU" sz="2000" dirty="0" err="1"/>
              <a:t>ПОКУПКИ.НомП</a:t>
            </a:r>
            <a:r>
              <a:rPr lang="ru-RU" sz="2000" dirty="0"/>
              <a:t> </a:t>
            </a:r>
            <a:r>
              <a:rPr lang="en-US" sz="2000" b="1" dirty="0"/>
              <a:t>JOIN</a:t>
            </a:r>
            <a:r>
              <a:rPr lang="en-US" sz="2000" dirty="0"/>
              <a:t> </a:t>
            </a:r>
            <a:r>
              <a:rPr lang="ru-RU" sz="2000" dirty="0"/>
              <a:t>ПРОДАВЦЫ</a:t>
            </a:r>
            <a:r>
              <a:rPr lang="en-US" sz="2000" dirty="0"/>
              <a:t> on </a:t>
            </a:r>
            <a:r>
              <a:rPr lang="ru-RU" sz="2000" dirty="0" err="1"/>
              <a:t>ПРОДАВЦЫ.НомПР</a:t>
            </a:r>
            <a:r>
              <a:rPr lang="ru-RU" sz="2000" dirty="0"/>
              <a:t>= </a:t>
            </a:r>
            <a:r>
              <a:rPr lang="ru-RU" sz="2000" dirty="0" err="1"/>
              <a:t>ПОКУПКИ.НомПР</a:t>
            </a:r>
            <a:r>
              <a:rPr lang="ru-RU" sz="2000" dirty="0"/>
              <a:t/>
            </a:r>
            <a:br>
              <a:rPr lang="ru-RU" sz="2000" dirty="0"/>
            </a:br>
            <a:r>
              <a:rPr lang="en-US" sz="2000" dirty="0"/>
              <a:t>	</a:t>
            </a:r>
            <a:endParaRPr lang="ru-RU" sz="2000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2F773DE-D347-4B1F-B686-15EEB9EB5EB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03B561E8-F9B6-45B6-9E09-856DDB05A2D6}" type="slidenum">
              <a:rPr lang="ru-RU" altLang="ru-RU" smtClean="0"/>
              <a:pPr>
                <a:defRPr/>
              </a:pPr>
              <a:t>26</a:t>
            </a:fld>
            <a:endParaRPr lang="ru-RU" altLang="ru-RU"/>
          </a:p>
        </p:txBody>
      </p:sp>
      <p:graphicFrame>
        <p:nvGraphicFramePr>
          <p:cNvPr id="5" name="Таблица 4">
            <a:extLst>
              <a:ext uri="{FF2B5EF4-FFF2-40B4-BE49-F238E27FC236}">
                <a16:creationId xmlns:a16="http://schemas.microsoft.com/office/drawing/2014/main" id="{54EFD14A-D27D-4DA3-894A-D3D52169D97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5685470"/>
              </p:ext>
            </p:extLst>
          </p:nvPr>
        </p:nvGraphicFramePr>
        <p:xfrm>
          <a:off x="840904" y="3286571"/>
          <a:ext cx="6779096" cy="2671183"/>
        </p:xfrm>
        <a:graphic>
          <a:graphicData uri="http://schemas.openxmlformats.org/drawingml/2006/table">
            <a:tbl>
              <a:tblPr/>
              <a:tblGrid>
                <a:gridCol w="3389548">
                  <a:extLst>
                    <a:ext uri="{9D8B030D-6E8A-4147-A177-3AD203B41FA5}">
                      <a16:colId xmlns:a16="http://schemas.microsoft.com/office/drawing/2014/main" val="3192017243"/>
                    </a:ext>
                  </a:extLst>
                </a:gridCol>
                <a:gridCol w="3389548">
                  <a:extLst>
                    <a:ext uri="{9D8B030D-6E8A-4147-A177-3AD203B41FA5}">
                      <a16:colId xmlns:a16="http://schemas.microsoft.com/office/drawing/2014/main" val="1595450577"/>
                    </a:ext>
                  </a:extLst>
                </a:gridCol>
              </a:tblGrid>
              <a:tr h="350893">
                <a:tc>
                  <a:txBody>
                    <a:bodyPr/>
                    <a:lstStyle/>
                    <a:p>
                      <a:pPr algn="ctr" fontAlgn="b"/>
                      <a:r>
                        <a:rPr lang="ru-RU" sz="1800" b="1">
                          <a:solidFill>
                            <a:srgbClr val="3F863F"/>
                          </a:solidFill>
                          <a:effectLst/>
                        </a:rPr>
                        <a:t>ИМЯП</a:t>
                      </a:r>
                    </a:p>
                  </a:txBody>
                  <a:tcPr marL="85725" marR="85725" marT="28575" marB="28575" anchor="b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CC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800" b="1">
                          <a:solidFill>
                            <a:srgbClr val="3F863F"/>
                          </a:solidFill>
                          <a:effectLst/>
                        </a:rPr>
                        <a:t>ИМЯПР</a:t>
                      </a:r>
                    </a:p>
                  </a:txBody>
                  <a:tcPr marL="85725" marR="85725" marT="28575" marB="28575" anchor="b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C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39795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ru-RU" sz="1800">
                          <a:effectLst/>
                        </a:rPr>
                        <a:t>Казаков</a:t>
                      </a:r>
                    </a:p>
                  </a:txBody>
                  <a:tcPr marL="85725" marR="85725" marT="28575" marB="28575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>
                          <a:effectLst/>
                        </a:rPr>
                        <a:t>Кузнецов</a:t>
                      </a:r>
                    </a:p>
                  </a:txBody>
                  <a:tcPr marL="85725" marR="85725" marT="28575" marB="28575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77651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ru-RU" sz="1800">
                          <a:effectLst/>
                        </a:rPr>
                        <a:t>Малыгин</a:t>
                      </a:r>
                    </a:p>
                  </a:txBody>
                  <a:tcPr marL="85725" marR="85725" marT="28575" marB="28575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>
                          <a:effectLst/>
                        </a:rPr>
                        <a:t>Иванов</a:t>
                      </a:r>
                    </a:p>
                  </a:txBody>
                  <a:tcPr marL="85725" marR="85725" marT="28575" marB="28575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97403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ru-RU" sz="1800">
                          <a:effectLst/>
                        </a:rPr>
                        <a:t>Синицын</a:t>
                      </a:r>
                    </a:p>
                  </a:txBody>
                  <a:tcPr marL="85725" marR="85725" marT="28575" marB="28575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dirty="0">
                          <a:effectLst/>
                        </a:rPr>
                        <a:t>Сидоров</a:t>
                      </a:r>
                    </a:p>
                  </a:txBody>
                  <a:tcPr marL="85725" marR="85725" marT="28575" marB="28575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24353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ru-RU" sz="1800">
                          <a:effectLst/>
                        </a:rPr>
                        <a:t>Руднев</a:t>
                      </a:r>
                    </a:p>
                  </a:txBody>
                  <a:tcPr marL="85725" marR="85725" marT="28575" marB="28575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>
                          <a:effectLst/>
                        </a:rPr>
                        <a:t>Петров</a:t>
                      </a:r>
                    </a:p>
                  </a:txBody>
                  <a:tcPr marL="85725" marR="85725" marT="28575" marB="28575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01431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ru-RU" sz="1800">
                          <a:effectLst/>
                        </a:rPr>
                        <a:t>Светин</a:t>
                      </a:r>
                    </a:p>
                  </a:txBody>
                  <a:tcPr marL="85725" marR="85725" marT="28575" marB="28575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>
                          <a:effectLst/>
                        </a:rPr>
                        <a:t>Иванов</a:t>
                      </a:r>
                    </a:p>
                  </a:txBody>
                  <a:tcPr marL="85725" marR="85725" marT="28575" marB="28575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59004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ru-RU" sz="1800">
                          <a:effectLst/>
                        </a:rPr>
                        <a:t>Ревякин</a:t>
                      </a:r>
                    </a:p>
                  </a:txBody>
                  <a:tcPr marL="85725" marR="85725" marT="28575" marB="28575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>
                          <a:effectLst/>
                        </a:rPr>
                        <a:t>Петров</a:t>
                      </a:r>
                    </a:p>
                  </a:txBody>
                  <a:tcPr marL="85725" marR="85725" marT="28575" marB="28575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3856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ru-RU" sz="1800" dirty="0">
                          <a:effectLst/>
                        </a:rPr>
                        <a:t>Коршунов</a:t>
                      </a:r>
                    </a:p>
                  </a:txBody>
                  <a:tcPr marL="85725" marR="85725" marT="28575" marB="28575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dirty="0">
                          <a:effectLst/>
                        </a:rPr>
                        <a:t>Голубев</a:t>
                      </a:r>
                    </a:p>
                  </a:txBody>
                  <a:tcPr marL="85725" marR="85725" marT="28575" marB="28575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5704626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EE03D472-83A5-4FE1-AC3F-2AEFCE6C1E41}"/>
              </a:ext>
            </a:extLst>
          </p:cNvPr>
          <p:cNvSpPr txBox="1"/>
          <p:nvPr/>
        </p:nvSpPr>
        <p:spPr>
          <a:xfrm>
            <a:off x="445170" y="130086"/>
            <a:ext cx="824163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/>
              <a:t>Формирование запроса с использованием соединений (алгебра)</a:t>
            </a:r>
          </a:p>
        </p:txBody>
      </p:sp>
    </p:spTree>
    <p:extLst>
      <p:ext uri="{BB962C8B-B14F-4D97-AF65-F5344CB8AC3E}">
        <p14:creationId xmlns:p14="http://schemas.microsoft.com/office/powerpoint/2010/main" val="54782419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Заголовок 1"/>
          <p:cNvSpPr>
            <a:spLocks noGrp="1"/>
          </p:cNvSpPr>
          <p:nvPr>
            <p:ph type="title"/>
          </p:nvPr>
        </p:nvSpPr>
        <p:spPr>
          <a:xfrm>
            <a:off x="395288" y="0"/>
            <a:ext cx="8229600" cy="739775"/>
          </a:xfrm>
        </p:spPr>
        <p:txBody>
          <a:bodyPr/>
          <a:lstStyle/>
          <a:p>
            <a:pPr algn="ctr"/>
            <a:r>
              <a:rPr lang="ru-RU" altLang="ru-RU" sz="4000">
                <a:solidFill>
                  <a:schemeClr val="bg2"/>
                </a:solidFill>
              </a:rPr>
              <a:t>Агрегатные функции</a:t>
            </a:r>
          </a:p>
        </p:txBody>
      </p:sp>
      <p:sp>
        <p:nvSpPr>
          <p:cNvPr id="25603" name="Объект 2"/>
          <p:cNvSpPr>
            <a:spLocks noGrp="1"/>
          </p:cNvSpPr>
          <p:nvPr>
            <p:ph idx="1"/>
          </p:nvPr>
        </p:nvSpPr>
        <p:spPr>
          <a:xfrm>
            <a:off x="395288" y="620713"/>
            <a:ext cx="8497887" cy="6121400"/>
          </a:xfrm>
        </p:spPr>
        <p:txBody>
          <a:bodyPr>
            <a:normAutofit fontScale="92500" lnSpcReduction="10000"/>
          </a:bodyPr>
          <a:lstStyle/>
          <a:p>
            <a:pPr marL="0" indent="0">
              <a:lnSpc>
                <a:spcPct val="120000"/>
              </a:lnSpc>
              <a:buFont typeface="Wingdings" pitchFamily="2" charset="2"/>
              <a:buNone/>
              <a:defRPr/>
            </a:pPr>
            <a:r>
              <a:rPr lang="ru-RU" altLang="ru-RU" sz="1600" b="1" dirty="0"/>
              <a:t>Агрегатные функции </a:t>
            </a:r>
            <a:r>
              <a:rPr lang="ru-RU" altLang="ru-RU" sz="1600" dirty="0"/>
              <a:t>(еще называют функции множества) в качестве параметров имеют группу значений, указанных в запросе (или подзапросе) </a:t>
            </a:r>
            <a:r>
              <a:rPr lang="ru-RU" altLang="ru-RU" sz="1600" b="1" dirty="0"/>
              <a:t>в предложении </a:t>
            </a:r>
            <a:r>
              <a:rPr lang="en-US" altLang="ru-RU" sz="1600" b="1" dirty="0"/>
              <a:t>SELECT </a:t>
            </a:r>
            <a:r>
              <a:rPr lang="ru-RU" altLang="ru-RU" sz="1600" dirty="0"/>
              <a:t>или </a:t>
            </a:r>
            <a:r>
              <a:rPr lang="en-US" altLang="ru-RU" sz="1600" b="1" dirty="0"/>
              <a:t>HAVING </a:t>
            </a:r>
            <a:r>
              <a:rPr lang="ru-RU" altLang="ru-RU" sz="1600" dirty="0"/>
              <a:t>и вычисляют единственное значение-результат</a:t>
            </a:r>
          </a:p>
          <a:p>
            <a:pPr marL="0" indent="0">
              <a:lnSpc>
                <a:spcPct val="120000"/>
              </a:lnSpc>
              <a:buFont typeface="Wingdings" pitchFamily="2" charset="2"/>
              <a:buNone/>
              <a:defRPr/>
            </a:pPr>
            <a:endParaRPr lang="ru-RU" altLang="ru-RU" sz="1600" b="1" dirty="0"/>
          </a:p>
          <a:p>
            <a:pPr marL="0" indent="0">
              <a:lnSpc>
                <a:spcPct val="120000"/>
              </a:lnSpc>
              <a:buFont typeface="Wingdings" pitchFamily="2" charset="2"/>
              <a:buNone/>
              <a:defRPr/>
            </a:pPr>
            <a:r>
              <a:rPr lang="ru-RU" altLang="ru-RU" sz="1600" b="1" dirty="0"/>
              <a:t>COUNT (*) </a:t>
            </a:r>
            <a:r>
              <a:rPr lang="ru-RU" altLang="ru-RU" sz="1600" dirty="0"/>
              <a:t>функция подсчитывает количество строк , получаемых по запросу.  Не учитываются значения отдельных столбцов и результат не зависит от того указан ли параметр </a:t>
            </a:r>
            <a:r>
              <a:rPr lang="en-US" altLang="ru-RU" sz="1600" dirty="0"/>
              <a:t>DISTINCT </a:t>
            </a:r>
            <a:r>
              <a:rPr lang="ru-RU" altLang="ru-RU" sz="1600" dirty="0"/>
              <a:t>или имеются значения </a:t>
            </a:r>
            <a:r>
              <a:rPr lang="en-US" altLang="ru-RU" sz="1600" dirty="0"/>
              <a:t>NULL</a:t>
            </a:r>
            <a:r>
              <a:rPr lang="ru-RU" altLang="ru-RU" sz="1600" dirty="0"/>
              <a:t>.</a:t>
            </a:r>
            <a:endParaRPr lang="ru-RU" altLang="ru-RU" sz="1600" b="1" dirty="0"/>
          </a:p>
          <a:p>
            <a:pPr marL="0" indent="0">
              <a:lnSpc>
                <a:spcPct val="120000"/>
              </a:lnSpc>
              <a:buNone/>
              <a:defRPr/>
            </a:pPr>
            <a:r>
              <a:rPr lang="ru-RU" altLang="ru-RU" sz="1600" b="1" dirty="0"/>
              <a:t>COUNT</a:t>
            </a:r>
            <a:r>
              <a:rPr lang="en-US" altLang="ru-RU" sz="1600" dirty="0"/>
              <a:t>(</a:t>
            </a:r>
            <a:r>
              <a:rPr lang="ru-RU" altLang="ru-RU" sz="1600" dirty="0"/>
              <a:t>имя поля</a:t>
            </a:r>
            <a:r>
              <a:rPr lang="en-US" altLang="ru-RU" sz="1600" dirty="0"/>
              <a:t>) </a:t>
            </a:r>
            <a:r>
              <a:rPr lang="ru-RU" altLang="ru-RU" sz="1600" dirty="0"/>
              <a:t> - автоматически </a:t>
            </a:r>
            <a:r>
              <a:rPr lang="ru-RU" altLang="ru-RU" sz="1600" b="1" dirty="0"/>
              <a:t>отбрасывает</a:t>
            </a:r>
            <a:r>
              <a:rPr lang="en-US" altLang="ru-RU" sz="1600" b="1" dirty="0"/>
              <a:t> </a:t>
            </a:r>
            <a:r>
              <a:rPr lang="ru-RU" altLang="ru-RU" sz="1600" b="1" dirty="0"/>
              <a:t>(игнорирует), как и все другие агрегатные функции значения </a:t>
            </a:r>
            <a:r>
              <a:rPr lang="en-US" altLang="ru-RU" sz="1600" b="1" dirty="0"/>
              <a:t>NULL</a:t>
            </a:r>
            <a:r>
              <a:rPr lang="ru-RU" altLang="ru-RU" sz="1600" b="1" dirty="0"/>
              <a:t> </a:t>
            </a:r>
            <a:r>
              <a:rPr lang="ru-RU" altLang="ru-RU" sz="1600" dirty="0"/>
              <a:t>и выдает кол-во строк для не-NULL значения полей которые выбрал запрос. </a:t>
            </a:r>
            <a:endParaRPr lang="en-US" altLang="ru-RU" sz="1600" dirty="0"/>
          </a:p>
          <a:p>
            <a:pPr marL="0" indent="0">
              <a:lnSpc>
                <a:spcPct val="120000"/>
              </a:lnSpc>
              <a:buFont typeface="Wingdings" pitchFamily="2" charset="2"/>
              <a:buNone/>
              <a:defRPr/>
            </a:pPr>
            <a:r>
              <a:rPr lang="ru-RU" altLang="ru-RU" sz="1600" b="1" dirty="0"/>
              <a:t>AVG</a:t>
            </a:r>
            <a:r>
              <a:rPr lang="en-US" altLang="ru-RU" sz="1600" dirty="0"/>
              <a:t>(</a:t>
            </a:r>
            <a:r>
              <a:rPr lang="ru-RU" altLang="ru-RU" sz="1600" dirty="0"/>
              <a:t>имя поля</a:t>
            </a:r>
            <a:r>
              <a:rPr lang="en-US" altLang="ru-RU" sz="1600" dirty="0"/>
              <a:t>) </a:t>
            </a:r>
            <a:r>
              <a:rPr lang="ru-RU" altLang="ru-RU" sz="1600" dirty="0"/>
              <a:t>- вычисляет среднее арифметическое (среднее) значение  для указанных элементов. Можно использовать только для типов данных: </a:t>
            </a:r>
            <a:r>
              <a:rPr lang="en-US" altLang="ru-RU" sz="1600" dirty="0"/>
              <a:t>NUMERIC (</a:t>
            </a:r>
            <a:r>
              <a:rPr lang="ru-RU" altLang="ru-RU" sz="1600" dirty="0"/>
              <a:t>цифровой) и </a:t>
            </a:r>
            <a:r>
              <a:rPr lang="en-US" altLang="ru-RU" sz="1600" dirty="0"/>
              <a:t> INTERVAL (</a:t>
            </a:r>
            <a:r>
              <a:rPr lang="ru-RU" altLang="ru-RU" sz="1600" dirty="0"/>
              <a:t>интервал)</a:t>
            </a:r>
          </a:p>
          <a:p>
            <a:pPr marL="0" indent="0">
              <a:lnSpc>
                <a:spcPct val="120000"/>
              </a:lnSpc>
              <a:buNone/>
              <a:defRPr/>
            </a:pPr>
            <a:r>
              <a:rPr lang="ru-RU" altLang="ru-RU" sz="1600" b="1" dirty="0"/>
              <a:t>SUM</a:t>
            </a:r>
            <a:r>
              <a:rPr lang="en-US" altLang="ru-RU" sz="1600" dirty="0"/>
              <a:t> (</a:t>
            </a:r>
            <a:r>
              <a:rPr lang="ru-RU" altLang="ru-RU" sz="1600" dirty="0"/>
              <a:t>имя поля</a:t>
            </a:r>
            <a:r>
              <a:rPr lang="en-US" altLang="ru-RU" sz="1600" dirty="0"/>
              <a:t>) </a:t>
            </a:r>
            <a:r>
              <a:rPr lang="ru-RU" altLang="ru-RU" sz="1600" dirty="0"/>
              <a:t>- выдает арифметическую сумму значений. Может использоваться для тех же типов, что и </a:t>
            </a:r>
            <a:r>
              <a:rPr lang="en-US" altLang="ru-RU" sz="1600" dirty="0"/>
              <a:t>AVG</a:t>
            </a:r>
            <a:r>
              <a:rPr lang="ru-RU" altLang="ru-RU" sz="1600" dirty="0"/>
              <a:t>.</a:t>
            </a:r>
            <a:endParaRPr lang="en-US" altLang="ru-RU" sz="1600" dirty="0"/>
          </a:p>
          <a:p>
            <a:pPr marL="0" indent="0">
              <a:lnSpc>
                <a:spcPct val="120000"/>
              </a:lnSpc>
              <a:buNone/>
              <a:defRPr/>
            </a:pPr>
            <a:r>
              <a:rPr lang="ru-RU" altLang="ru-RU" sz="1600" b="1" dirty="0"/>
              <a:t>MAX</a:t>
            </a:r>
            <a:r>
              <a:rPr lang="en-US" altLang="ru-RU" sz="1600" dirty="0"/>
              <a:t> (</a:t>
            </a:r>
            <a:r>
              <a:rPr lang="ru-RU" altLang="ru-RU" sz="1600" dirty="0"/>
              <a:t>имя поля</a:t>
            </a:r>
            <a:r>
              <a:rPr lang="en-US" altLang="ru-RU" sz="1600" dirty="0"/>
              <a:t>) </a:t>
            </a:r>
            <a:r>
              <a:rPr lang="ru-RU" altLang="ru-RU" sz="1600" dirty="0"/>
              <a:t> - возвращает наибольшее из всех значений, вычисленных на основе правила предикатов сравнения. Может использоваться для любых типов данных. </a:t>
            </a:r>
            <a:endParaRPr lang="en-US" altLang="ru-RU" sz="1600" dirty="0"/>
          </a:p>
          <a:p>
            <a:pPr marL="0" indent="0">
              <a:lnSpc>
                <a:spcPct val="120000"/>
              </a:lnSpc>
              <a:buNone/>
              <a:defRPr/>
            </a:pPr>
            <a:r>
              <a:rPr lang="ru-RU" altLang="ru-RU" sz="1600" b="1" dirty="0"/>
              <a:t>MIN</a:t>
            </a:r>
            <a:r>
              <a:rPr lang="en-US" altLang="ru-RU" sz="1600" dirty="0"/>
              <a:t> (</a:t>
            </a:r>
            <a:r>
              <a:rPr lang="ru-RU" altLang="ru-RU" sz="1600" dirty="0"/>
              <a:t>имя поля</a:t>
            </a:r>
            <a:r>
              <a:rPr lang="en-US" altLang="ru-RU" sz="1600" dirty="0"/>
              <a:t>) </a:t>
            </a:r>
            <a:r>
              <a:rPr lang="ru-RU" altLang="ru-RU" sz="1600" dirty="0"/>
              <a:t> - возвращает  наименьшее  из указанных значений.</a:t>
            </a:r>
          </a:p>
          <a:p>
            <a:pPr marL="0" indent="0">
              <a:lnSpc>
                <a:spcPct val="120000"/>
              </a:lnSpc>
              <a:buFont typeface="Wingdings" pitchFamily="2" charset="2"/>
              <a:buNone/>
              <a:defRPr/>
            </a:pPr>
            <a:r>
              <a:rPr lang="ru-RU" altLang="ru-RU" sz="1600" dirty="0"/>
              <a:t>Агрегатные функции, включенные в предложение </a:t>
            </a:r>
            <a:r>
              <a:rPr lang="en-US" altLang="ru-RU" sz="1600" dirty="0"/>
              <a:t>SELECT</a:t>
            </a:r>
            <a:r>
              <a:rPr lang="ru-RU" altLang="ru-RU" sz="1600" dirty="0"/>
              <a:t>, не содержащее </a:t>
            </a:r>
            <a:r>
              <a:rPr lang="en-US" altLang="ru-RU" sz="1600" dirty="0"/>
              <a:t>GROUP BY</a:t>
            </a:r>
            <a:r>
              <a:rPr lang="ru-RU" altLang="ru-RU" sz="1600" dirty="0"/>
              <a:t> исполняются над всеми результирующими строками. </a:t>
            </a:r>
          </a:p>
          <a:p>
            <a:pPr marL="0" indent="0">
              <a:lnSpc>
                <a:spcPct val="120000"/>
              </a:lnSpc>
              <a:buFont typeface="Wingdings" pitchFamily="2" charset="2"/>
              <a:buNone/>
              <a:defRPr/>
            </a:pPr>
            <a:r>
              <a:rPr lang="ru-RU" altLang="ru-RU" sz="1600" dirty="0"/>
              <a:t>Если запрос содержит </a:t>
            </a:r>
            <a:r>
              <a:rPr lang="en-US" altLang="ru-RU" sz="1600" dirty="0"/>
              <a:t>GROUP BY</a:t>
            </a:r>
            <a:r>
              <a:rPr lang="ru-RU" altLang="ru-RU" sz="1600" dirty="0"/>
              <a:t>, то агрегатные функции выполняются для каждой группы (набора строк имеющих одинаковое значение по столбцам входящим в группу) отдельно .</a:t>
            </a:r>
          </a:p>
        </p:txBody>
      </p:sp>
      <p:sp>
        <p:nvSpPr>
          <p:cNvPr id="26628" name="Номер слайда 3"/>
          <p:cNvSpPr>
            <a:spLocks noGrp="1"/>
          </p:cNvSpPr>
          <p:nvPr>
            <p:ph type="sldNum" sz="quarter" idx="11"/>
          </p:nvPr>
        </p:nvSpPr>
        <p:spPr>
          <a:xfrm>
            <a:off x="7885113" y="6248400"/>
            <a:ext cx="801687" cy="457200"/>
          </a:xfrm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ru-RU" altLang="ru-RU"/>
              <a:t> </a:t>
            </a:r>
            <a:fld id="{760AF1C3-64AE-4949-B131-87E3E7450B83}" type="slidenum">
              <a:rPr lang="ru-RU" altLang="ru-RU" smtClean="0"/>
              <a:pPr/>
              <a:t>27</a:t>
            </a:fld>
            <a:endParaRPr lang="ru-RU" altLang="ru-RU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5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56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256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256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256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256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2560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2560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2560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603" grpId="0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Заголовок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739775"/>
          </a:xfrm>
        </p:spPr>
        <p:txBody>
          <a:bodyPr/>
          <a:lstStyle/>
          <a:p>
            <a:pPr algn="ctr"/>
            <a:r>
              <a:rPr lang="ru-RU" altLang="ru-RU" sz="4000" dirty="0">
                <a:solidFill>
                  <a:schemeClr val="bg2"/>
                </a:solidFill>
              </a:rPr>
              <a:t>Примеры</a:t>
            </a:r>
            <a:endParaRPr lang="ru-RU" altLang="ru-RU" sz="4000" dirty="0"/>
          </a:p>
        </p:txBody>
      </p:sp>
      <p:sp>
        <p:nvSpPr>
          <p:cNvPr id="27651" name="Объект 2"/>
          <p:cNvSpPr>
            <a:spLocks noGrp="1"/>
          </p:cNvSpPr>
          <p:nvPr>
            <p:ph idx="1"/>
          </p:nvPr>
        </p:nvSpPr>
        <p:spPr>
          <a:xfrm>
            <a:off x="457200" y="1268412"/>
            <a:ext cx="8507288" cy="4979987"/>
          </a:xfrm>
        </p:spPr>
        <p:txBody>
          <a:bodyPr/>
          <a:lstStyle/>
          <a:p>
            <a:pPr marL="0" indent="0">
              <a:buFont typeface="Wingdings" pitchFamily="2" charset="2"/>
              <a:buNone/>
            </a:pPr>
            <a:r>
              <a:rPr lang="ru-RU" altLang="ru-RU" sz="24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Составить список имен продавцов из Новосибирска, в котором для каждого продавца указать общую сумму их покупок.</a:t>
            </a:r>
          </a:p>
          <a:p>
            <a:pPr marL="0" indent="0">
              <a:buFont typeface="Wingdings" pitchFamily="2" charset="2"/>
              <a:buNone/>
            </a:pPr>
            <a:endParaRPr lang="ru-RU" altLang="ru-RU" dirty="0"/>
          </a:p>
          <a:p>
            <a:pPr marL="0" indent="0">
              <a:buFont typeface="Wingdings" pitchFamily="2" charset="2"/>
              <a:buNone/>
            </a:pPr>
            <a:r>
              <a:rPr lang="en-US" altLang="ru-RU" dirty="0"/>
              <a:t>SELECT </a:t>
            </a:r>
            <a:r>
              <a:rPr lang="ru-RU" altLang="ru-RU" dirty="0" err="1"/>
              <a:t>ИмяПР</a:t>
            </a:r>
            <a:r>
              <a:rPr lang="en-US" altLang="ru-RU" dirty="0"/>
              <a:t>, sum(</a:t>
            </a:r>
            <a:r>
              <a:rPr lang="ru-RU" altLang="ru-RU" dirty="0"/>
              <a:t>СП</a:t>
            </a:r>
            <a:r>
              <a:rPr lang="en-US" altLang="ru-RU" dirty="0"/>
              <a:t>) as </a:t>
            </a:r>
            <a:r>
              <a:rPr lang="ru-RU" altLang="ru-RU" dirty="0"/>
              <a:t>Сумма</a:t>
            </a:r>
            <a:endParaRPr lang="en-US" altLang="ru-RU" dirty="0"/>
          </a:p>
          <a:p>
            <a:pPr marL="0" indent="0">
              <a:buFont typeface="Wingdings" pitchFamily="2" charset="2"/>
              <a:buNone/>
            </a:pPr>
            <a:r>
              <a:rPr lang="en-US" altLang="ru-RU" dirty="0"/>
              <a:t>FROM </a:t>
            </a:r>
            <a:r>
              <a:rPr lang="ru-RU" altLang="ru-RU" dirty="0"/>
              <a:t>ПРОДАВЦЫ</a:t>
            </a:r>
            <a:r>
              <a:rPr lang="en-US" altLang="ru-RU" dirty="0"/>
              <a:t> S</a:t>
            </a:r>
            <a:r>
              <a:rPr lang="ru-RU" altLang="ru-RU" dirty="0"/>
              <a:t>, ПОКУПКИ</a:t>
            </a:r>
            <a:r>
              <a:rPr lang="en-US" altLang="ru-RU" dirty="0"/>
              <a:t> O</a:t>
            </a:r>
          </a:p>
          <a:p>
            <a:pPr marL="0" indent="0">
              <a:buFont typeface="Wingdings" pitchFamily="2" charset="2"/>
              <a:buNone/>
            </a:pPr>
            <a:r>
              <a:rPr lang="en-US" altLang="ru-RU" dirty="0"/>
              <a:t>WHERE S.</a:t>
            </a:r>
            <a:r>
              <a:rPr lang="ru-RU" altLang="ru-RU" dirty="0" err="1"/>
              <a:t>НомПР</a:t>
            </a:r>
            <a:r>
              <a:rPr lang="en-US" altLang="ru-RU" dirty="0"/>
              <a:t>=O.</a:t>
            </a:r>
            <a:r>
              <a:rPr lang="ru-RU" altLang="ru-RU" dirty="0" err="1"/>
              <a:t>НомПР</a:t>
            </a:r>
            <a:r>
              <a:rPr lang="en-US" altLang="ru-RU" dirty="0"/>
              <a:t>  AND</a:t>
            </a:r>
            <a:r>
              <a:rPr lang="ru-RU" altLang="ru-RU" dirty="0"/>
              <a:t>              			</a:t>
            </a:r>
            <a:r>
              <a:rPr lang="en-US" altLang="ru-RU" dirty="0"/>
              <a:t>S.</a:t>
            </a:r>
            <a:r>
              <a:rPr lang="ru-RU" altLang="ru-RU" dirty="0"/>
              <a:t>Город</a:t>
            </a:r>
            <a:r>
              <a:rPr lang="en-US" altLang="ru-RU" dirty="0"/>
              <a:t>=‘</a:t>
            </a:r>
            <a:r>
              <a:rPr lang="ru-RU" altLang="ru-RU" dirty="0"/>
              <a:t>Новосибирск</a:t>
            </a:r>
            <a:r>
              <a:rPr lang="en-US" altLang="ru-RU" dirty="0"/>
              <a:t>’</a:t>
            </a:r>
          </a:p>
          <a:p>
            <a:pPr marL="0" indent="0">
              <a:buFont typeface="Wingdings" pitchFamily="2" charset="2"/>
              <a:buNone/>
            </a:pPr>
            <a:r>
              <a:rPr lang="en-US" altLang="ru-RU" dirty="0"/>
              <a:t>GROUP BY </a:t>
            </a:r>
            <a:r>
              <a:rPr lang="ru-RU" altLang="ru-RU" dirty="0" err="1"/>
              <a:t>ИмяПР</a:t>
            </a:r>
            <a:r>
              <a:rPr lang="en-US" altLang="ru-RU" dirty="0"/>
              <a:t>;</a:t>
            </a:r>
          </a:p>
          <a:p>
            <a:pPr marL="0" indent="0"/>
            <a:endParaRPr lang="ru-RU" altLang="ru-RU" dirty="0"/>
          </a:p>
        </p:txBody>
      </p:sp>
      <p:sp>
        <p:nvSpPr>
          <p:cNvPr id="27652" name="Номер слайда 3"/>
          <p:cNvSpPr>
            <a:spLocks noGrp="1"/>
          </p:cNvSpPr>
          <p:nvPr>
            <p:ph type="sldNum" sz="quarter" idx="11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7444AE7F-461C-449C-B464-9927EF8384BE}" type="slidenum">
              <a:rPr lang="ru-RU" altLang="ru-RU" smtClean="0"/>
              <a:pPr/>
              <a:t>28</a:t>
            </a:fld>
            <a:endParaRPr lang="ru-RU" altLang="ru-RU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Заголовок 1"/>
          <p:cNvSpPr>
            <a:spLocks noGrp="1"/>
          </p:cNvSpPr>
          <p:nvPr>
            <p:ph type="title"/>
          </p:nvPr>
        </p:nvSpPr>
        <p:spPr>
          <a:xfrm>
            <a:off x="571500" y="0"/>
            <a:ext cx="8229600" cy="739775"/>
          </a:xfrm>
        </p:spPr>
        <p:txBody>
          <a:bodyPr/>
          <a:lstStyle/>
          <a:p>
            <a:pPr algn="ctr"/>
            <a:r>
              <a:rPr lang="ru-RU" altLang="ru-RU" sz="2400">
                <a:solidFill>
                  <a:schemeClr val="bg2"/>
                </a:solidFill>
              </a:rPr>
              <a:t>Примеры</a:t>
            </a:r>
            <a:r>
              <a:rPr lang="en-US" altLang="ru-RU" sz="2400">
                <a:solidFill>
                  <a:schemeClr val="bg2"/>
                </a:solidFill>
              </a:rPr>
              <a:t> (</a:t>
            </a:r>
            <a:r>
              <a:rPr lang="ru-RU" altLang="ru-RU" sz="2400">
                <a:solidFill>
                  <a:schemeClr val="bg2"/>
                </a:solidFill>
              </a:rPr>
              <a:t>4</a:t>
            </a:r>
            <a:r>
              <a:rPr lang="en-US" altLang="ru-RU" sz="2400">
                <a:solidFill>
                  <a:schemeClr val="bg2"/>
                </a:solidFill>
              </a:rPr>
              <a:t>)</a:t>
            </a:r>
            <a:endParaRPr lang="ru-RU" altLang="ru-RU" sz="2400"/>
          </a:p>
        </p:txBody>
      </p:sp>
      <p:sp>
        <p:nvSpPr>
          <p:cNvPr id="27651" name="Объект 2"/>
          <p:cNvSpPr>
            <a:spLocks noGrp="1"/>
          </p:cNvSpPr>
          <p:nvPr>
            <p:ph idx="1"/>
          </p:nvPr>
        </p:nvSpPr>
        <p:spPr>
          <a:xfrm>
            <a:off x="5940425" y="908050"/>
            <a:ext cx="3132138" cy="1584325"/>
          </a:xfrm>
        </p:spPr>
        <p:txBody>
          <a:bodyPr>
            <a:normAutofit fontScale="40000" lnSpcReduction="20000"/>
          </a:bodyPr>
          <a:lstStyle/>
          <a:p>
            <a:pPr marL="0" indent="0">
              <a:buFont typeface="Wingdings" pitchFamily="2" charset="2"/>
              <a:buNone/>
              <a:defRPr/>
            </a:pPr>
            <a:r>
              <a:rPr lang="en-US" altLang="ru-RU" dirty="0"/>
              <a:t>SELECT </a:t>
            </a:r>
            <a:r>
              <a:rPr lang="ru-RU" altLang="ru-RU" dirty="0" err="1"/>
              <a:t>ИмяПР</a:t>
            </a:r>
            <a:r>
              <a:rPr lang="en-US" altLang="ru-RU" dirty="0"/>
              <a:t>, sum(</a:t>
            </a:r>
            <a:r>
              <a:rPr lang="ru-RU" altLang="ru-RU" dirty="0"/>
              <a:t>СП</a:t>
            </a:r>
            <a:r>
              <a:rPr lang="en-US" altLang="ru-RU" dirty="0"/>
              <a:t>)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US" altLang="ru-RU" dirty="0"/>
              <a:t>FROM </a:t>
            </a:r>
            <a:r>
              <a:rPr lang="ru-RU" altLang="ru-RU" dirty="0"/>
              <a:t>ПРОДАВЦЫ</a:t>
            </a:r>
            <a:r>
              <a:rPr lang="en-US" altLang="ru-RU" dirty="0"/>
              <a:t> S</a:t>
            </a:r>
            <a:r>
              <a:rPr lang="ru-RU" altLang="ru-RU" dirty="0"/>
              <a:t>, ПОКУПКИ</a:t>
            </a:r>
            <a:r>
              <a:rPr lang="en-US" altLang="ru-RU" dirty="0"/>
              <a:t> O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US" altLang="ru-RU" dirty="0"/>
              <a:t>WHERE </a:t>
            </a:r>
            <a:br>
              <a:rPr lang="en-US" altLang="ru-RU" dirty="0"/>
            </a:br>
            <a:r>
              <a:rPr lang="en-US" altLang="ru-RU" dirty="0"/>
              <a:t>	S.</a:t>
            </a:r>
            <a:r>
              <a:rPr lang="ru-RU" altLang="ru-RU" dirty="0" err="1"/>
              <a:t>НомПР</a:t>
            </a:r>
            <a:r>
              <a:rPr lang="en-US" altLang="ru-RU" dirty="0"/>
              <a:t>=O.</a:t>
            </a:r>
            <a:r>
              <a:rPr lang="ru-RU" altLang="ru-RU" dirty="0" err="1"/>
              <a:t>НомПР</a:t>
            </a:r>
            <a:r>
              <a:rPr lang="en-US" altLang="ru-RU" dirty="0"/>
              <a:t> and 				S.</a:t>
            </a:r>
            <a:r>
              <a:rPr lang="ru-RU" altLang="ru-RU" dirty="0"/>
              <a:t>Город</a:t>
            </a:r>
            <a:r>
              <a:rPr lang="en-US" altLang="ru-RU" dirty="0"/>
              <a:t>=‘</a:t>
            </a:r>
            <a:r>
              <a:rPr lang="ru-RU" altLang="ru-RU" dirty="0"/>
              <a:t>Новосибирск</a:t>
            </a:r>
            <a:r>
              <a:rPr lang="en-US" altLang="ru-RU" dirty="0"/>
              <a:t>’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US" altLang="ru-RU" dirty="0"/>
              <a:t>GROUP by </a:t>
            </a:r>
            <a:r>
              <a:rPr lang="ru-RU" altLang="ru-RU" dirty="0" err="1"/>
              <a:t>ИмяПР</a:t>
            </a:r>
            <a:r>
              <a:rPr lang="en-US" altLang="ru-RU" dirty="0"/>
              <a:t>;</a:t>
            </a:r>
          </a:p>
          <a:p>
            <a:pPr marL="0" indent="0">
              <a:buFont typeface="Wingdings" pitchFamily="2" charset="2"/>
              <a:buNone/>
              <a:defRPr/>
            </a:pPr>
            <a:endParaRPr lang="ru-RU" altLang="ru-RU" dirty="0"/>
          </a:p>
        </p:txBody>
      </p:sp>
      <p:sp>
        <p:nvSpPr>
          <p:cNvPr id="28676" name="Номер слайда 3"/>
          <p:cNvSpPr>
            <a:spLocks noGrp="1"/>
          </p:cNvSpPr>
          <p:nvPr>
            <p:ph type="sldNum" sz="quarter" idx="11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8BAE3677-CD40-443B-BD21-76B479AB164E}" type="slidenum">
              <a:rPr lang="ru-RU" altLang="ru-RU" smtClean="0"/>
              <a:pPr/>
              <a:t>29</a:t>
            </a:fld>
            <a:endParaRPr lang="ru-RU" altLang="ru-RU"/>
          </a:p>
        </p:txBody>
      </p:sp>
      <p:graphicFrame>
        <p:nvGraphicFramePr>
          <p:cNvPr id="5" name="Group 362"/>
          <p:cNvGraphicFramePr>
            <a:graphicFrameLocks/>
          </p:cNvGraphicFramePr>
          <p:nvPr/>
        </p:nvGraphicFramePr>
        <p:xfrm>
          <a:off x="250825" y="3716338"/>
          <a:ext cx="5786438" cy="2732087"/>
        </p:xfrm>
        <a:graphic>
          <a:graphicData uri="http://schemas.openxmlformats.org/drawingml/2006/table">
            <a:tbl>
              <a:tblPr/>
              <a:tblGrid>
                <a:gridCol w="115751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563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75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563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5862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05307"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НП</a:t>
                      </a: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rgbClr val="3333FF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36000" marR="36000" marT="35991" marB="3599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СП</a:t>
                      </a: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rgbClr val="3333FF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36000" marR="36000" marT="35991" marB="3599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Дата</a:t>
                      </a: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rgbClr val="3333FF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36000" marR="36000" marT="35991" marB="3599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2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НомПК</a:t>
                      </a: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rgbClr val="3333FF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36000" marR="36000" marT="35991" marB="3599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2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НомПР</a:t>
                      </a: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rgbClr val="3333FF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36000" marR="36000" marT="35991" marB="3599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2678"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3001</a:t>
                      </a: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36000" marR="36000" marT="35991" marB="3599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18.69</a:t>
                      </a: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36000" marR="36000" marT="35991" marB="3599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10/03/2000</a:t>
                      </a: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36000" marR="36000" marT="35991" marB="3599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2008</a:t>
                      </a: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36000" marR="36000" marT="35991" marB="3599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1007</a:t>
                      </a: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36000" marR="36000" marT="35991" marB="3599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2678"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3003</a:t>
                      </a: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36000" marR="36000" marT="35991" marB="3599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767.19</a:t>
                      </a: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36000" marR="36000" marT="35991" marB="3599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10/03/2000</a:t>
                      </a: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36000" marR="36000" marT="35991" marB="3599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200</a:t>
                      </a: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36000" marR="36000" marT="35991" marB="3599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1001</a:t>
                      </a: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36000" marR="36000" marT="35991" marB="3599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2678"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3002</a:t>
                      </a: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36000" marR="36000" marT="35991" marB="3599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1900.10</a:t>
                      </a: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36000" marR="36000" marT="35991" marB="3599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10/03/2000</a:t>
                      </a: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36000" marR="36000" marT="35991" marB="3599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200</a:t>
                      </a: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7</a:t>
                      </a: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36000" marR="36000" marT="35991" marB="3599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1004</a:t>
                      </a: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36000" marR="36000" marT="35991" marB="3599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2678"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3005</a:t>
                      </a: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36000" marR="36000" marT="35991" marB="3599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5160.45</a:t>
                      </a: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36000" marR="36000" marT="35991" marB="3599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10/03/2000</a:t>
                      </a: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36000" marR="36000" marT="35991" marB="3599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2003</a:t>
                      </a: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36000" marR="36000" marT="35991" marB="3599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1002</a:t>
                      </a: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36000" marR="36000" marT="35991" marB="3599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2678"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3006</a:t>
                      </a: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36000" marR="36000" marT="35991" marB="3599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1098.16</a:t>
                      </a: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36000" marR="36000" marT="35991" marB="3599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10/03/2000</a:t>
                      </a: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36000" marR="36000" marT="35991" marB="3599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2008</a:t>
                      </a: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36000" marR="36000" marT="35991" marB="3599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1007</a:t>
                      </a: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36000" marR="36000" marT="35991" marB="3599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2678"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3009</a:t>
                      </a: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36000" marR="36000" marT="35991" marB="3599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1713.23</a:t>
                      </a: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36000" marR="36000" marT="35991" marB="3599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10/04/2000</a:t>
                      </a: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36000" marR="36000" marT="35991" marB="3599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2002</a:t>
                      </a: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36000" marR="36000" marT="35991" marB="3599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1003</a:t>
                      </a: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36000" marR="36000" marT="35991" marB="3599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2678"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3007</a:t>
                      </a: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36000" marR="36000" marT="35991" marB="3599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75.75</a:t>
                      </a: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36000" marR="36000" marT="35991" marB="3599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10/04/2000</a:t>
                      </a: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36000" marR="36000" marT="35991" marB="3599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2004</a:t>
                      </a: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36000" marR="36000" marT="35991" marB="3599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1002</a:t>
                      </a: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36000" marR="36000" marT="35991" marB="3599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2678"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3008</a:t>
                      </a: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36000" marR="36000" marT="35991" marB="3599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4723.00</a:t>
                      </a: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36000" marR="36000" marT="35991" marB="3599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10/05/2000</a:t>
                      </a: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36000" marR="36000" marT="35991" marB="3599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2006</a:t>
                      </a: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36000" marR="36000" marT="35991" marB="3599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1001</a:t>
                      </a: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36000" marR="36000" marT="35991" marB="3599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2678"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3010</a:t>
                      </a: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36000" marR="36000" marT="35991" marB="3599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1309.95</a:t>
                      </a: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36000" marR="36000" marT="35991" marB="3599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10/06/2000</a:t>
                      </a: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36000" marR="36000" marT="35991" marB="3599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2004</a:t>
                      </a: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36000" marR="36000" marT="35991" marB="3599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1002</a:t>
                      </a: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36000" marR="36000" marT="35991" marB="3599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42678"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3011</a:t>
                      </a: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36000" marR="36000" marT="35991" marB="3599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9891.88</a:t>
                      </a: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36000" marR="36000" marT="35991" marB="3599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10/06/2000</a:t>
                      </a: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36000" marR="36000" marT="35991" marB="3599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2006</a:t>
                      </a: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36000" marR="36000" marT="35991" marB="3599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1001</a:t>
                      </a: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36000" marR="36000" marT="35991" marB="3599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graphicFrame>
        <p:nvGraphicFramePr>
          <p:cNvPr id="7" name="Group 15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7795904"/>
              </p:ext>
            </p:extLst>
          </p:nvPr>
        </p:nvGraphicFramePr>
        <p:xfrm>
          <a:off x="250825" y="836613"/>
          <a:ext cx="5643562" cy="2428875"/>
        </p:xfrm>
        <a:graphic>
          <a:graphicData uri="http://schemas.openxmlformats.org/drawingml/2006/table">
            <a:tbl>
              <a:tblPr/>
              <a:tblGrid>
                <a:gridCol w="14111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11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8815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330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04614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НомПР</a:t>
                      </a: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91437" marR="91437" marT="45726" marB="4572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ИмяПР</a:t>
                      </a: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91437" marR="91437" marT="45726" marB="4572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Город</a:t>
                      </a: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91437" marR="91437" marT="45726" marB="4572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Комм</a:t>
                      </a: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91437" marR="91437" marT="45726" marB="4572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4614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1001</a:t>
                      </a: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91437" marR="91437" marT="45726" marB="4572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Иванов</a:t>
                      </a:r>
                      <a:endParaRPr kumimoji="0" lang="ru-RU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91437" marR="91437" marT="45726" marB="4572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Новосибирск</a:t>
                      </a:r>
                      <a:endParaRPr kumimoji="0" lang="ru-RU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91437" marR="91437" marT="45726" marB="4572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0D0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0.12</a:t>
                      </a:r>
                      <a:endParaRPr kumimoji="0" lang="ru-RU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91437" marR="91437" marT="45726" marB="4572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580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1002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91437" marR="91437" marT="45726" marB="4572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Петров</a:t>
                      </a:r>
                      <a:endParaRPr kumimoji="0" lang="ru-RU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91437" marR="91437" marT="45726" marB="4572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Кемерово</a:t>
                      </a:r>
                      <a:endParaRPr kumimoji="0" lang="ru-RU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91437" marR="91437" marT="45726" marB="4572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0.13</a:t>
                      </a:r>
                      <a:endParaRPr kumimoji="0" lang="ru-RU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91437" marR="91437" marT="45726" marB="4572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4614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1004</a:t>
                      </a: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91437" marR="91437" marT="45726" marB="4572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Сидоров</a:t>
                      </a:r>
                      <a:endParaRPr kumimoji="0" lang="ru-RU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91437" marR="91437" marT="45726" marB="4572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Новосибирск</a:t>
                      </a:r>
                      <a:endParaRPr kumimoji="0" lang="ru-RU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91437" marR="91437" marT="45726" marB="4572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0D0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0.11</a:t>
                      </a:r>
                      <a:endParaRPr kumimoji="0" lang="ru-RU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91437" marR="91437" marT="45726" marB="4572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4614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1007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91437" marR="91437" marT="45726" marB="4572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Голубев</a:t>
                      </a:r>
                      <a:endParaRPr kumimoji="0" lang="ru-RU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91437" marR="91437" marT="45726" marB="4572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Омск</a:t>
                      </a:r>
                      <a:endParaRPr kumimoji="0" lang="ru-RU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91437" marR="91437" marT="45726" marB="4572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0.15</a:t>
                      </a:r>
                      <a:endParaRPr kumimoji="0" lang="ru-RU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91437" marR="91437" marT="45726" marB="4572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4614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1003</a:t>
                      </a: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91437" marR="91437" marT="45726" marB="4572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Кузнецов</a:t>
                      </a:r>
                      <a:endParaRPr kumimoji="0" lang="ru-RU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91437" marR="91437" marT="45726" marB="4572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Томск</a:t>
                      </a:r>
                      <a:endParaRPr kumimoji="0" lang="ru-RU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91437" marR="91437" marT="45726" marB="4572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0.10</a:t>
                      </a:r>
                      <a:endParaRPr kumimoji="0" lang="ru-RU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91437" marR="91437" marT="45726" marB="4572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395288" y="476250"/>
            <a:ext cx="2232025" cy="360363"/>
          </a:xfrm>
          <a:prstGeom prst="rect">
            <a:avLst/>
          </a:prstGeom>
          <a:noFill/>
        </p:spPr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ru-RU" dirty="0"/>
              <a:t>ПРОДАВЦЫ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0825" y="3357563"/>
            <a:ext cx="2233613" cy="358775"/>
          </a:xfrm>
          <a:prstGeom prst="rect">
            <a:avLst/>
          </a:prstGeom>
          <a:noFill/>
        </p:spPr>
        <p:txBody>
          <a:bodyPr>
            <a:normAutofit fontScale="70000" lnSpcReduction="20000"/>
          </a:bodyPr>
          <a:lstStyle/>
          <a:p>
            <a:pPr>
              <a:defRPr/>
            </a:pPr>
            <a:r>
              <a:rPr lang="ru-RU" dirty="0"/>
              <a:t>ПОКУПКИ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2000"/>
                                        <p:tgtEl>
                                          <p:spTgt spid="276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2000"/>
                                        <p:tgtEl>
                                          <p:spTgt spid="276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2000"/>
                                        <p:tgtEl>
                                          <p:spTgt spid="276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2000"/>
                                        <p:tgtEl>
                                          <p:spTgt spid="276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51" grpId="0" build="p"/>
      <p:bldP spid="8" grpId="0" build="p"/>
      <p:bldP spid="9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Заголовок 1"/>
          <p:cNvSpPr>
            <a:spLocks noGrp="1"/>
          </p:cNvSpPr>
          <p:nvPr>
            <p:ph type="title"/>
          </p:nvPr>
        </p:nvSpPr>
        <p:spPr>
          <a:xfrm>
            <a:off x="571500" y="0"/>
            <a:ext cx="8229600" cy="739775"/>
          </a:xfrm>
        </p:spPr>
        <p:txBody>
          <a:bodyPr/>
          <a:lstStyle/>
          <a:p>
            <a:pPr algn="ctr"/>
            <a:r>
              <a:rPr lang="ru-RU" altLang="ru-RU" sz="2400">
                <a:solidFill>
                  <a:schemeClr val="bg2"/>
                </a:solidFill>
              </a:rPr>
              <a:t>Примеры</a:t>
            </a:r>
            <a:r>
              <a:rPr lang="en-US" altLang="ru-RU" sz="2400">
                <a:solidFill>
                  <a:schemeClr val="bg2"/>
                </a:solidFill>
              </a:rPr>
              <a:t> (</a:t>
            </a:r>
            <a:r>
              <a:rPr lang="ru-RU" altLang="ru-RU" sz="2400">
                <a:solidFill>
                  <a:schemeClr val="bg2"/>
                </a:solidFill>
              </a:rPr>
              <a:t>4</a:t>
            </a:r>
            <a:r>
              <a:rPr lang="en-US" altLang="ru-RU" sz="2400">
                <a:solidFill>
                  <a:schemeClr val="bg2"/>
                </a:solidFill>
              </a:rPr>
              <a:t>)</a:t>
            </a:r>
            <a:endParaRPr lang="ru-RU" altLang="ru-RU" sz="2400"/>
          </a:p>
        </p:txBody>
      </p:sp>
      <p:sp>
        <p:nvSpPr>
          <p:cNvPr id="29699" name="Номер слайда 3"/>
          <p:cNvSpPr>
            <a:spLocks noGrp="1"/>
          </p:cNvSpPr>
          <p:nvPr>
            <p:ph type="sldNum" sz="quarter" idx="11"/>
          </p:nvPr>
        </p:nvSpPr>
        <p:spPr>
          <a:xfrm>
            <a:off x="8027988" y="6248400"/>
            <a:ext cx="658812" cy="457200"/>
          </a:xfrm>
          <a:noFill/>
          <a:ln>
            <a:miter lim="800000"/>
            <a:headEnd/>
            <a:tailEnd/>
          </a:ln>
        </p:spPr>
        <p:txBody>
          <a:bodyPr/>
          <a:lstStyle/>
          <a:p>
            <a:fld id="{BEE1FB1C-DBB9-418A-A655-761CB6B8AC54}" type="slidenum">
              <a:rPr lang="ru-RU" altLang="ru-RU" smtClean="0"/>
              <a:pPr/>
              <a:t>30</a:t>
            </a:fld>
            <a:endParaRPr lang="ru-RU" altLang="ru-RU"/>
          </a:p>
        </p:txBody>
      </p:sp>
      <p:graphicFrame>
        <p:nvGraphicFramePr>
          <p:cNvPr id="5" name="Group 362"/>
          <p:cNvGraphicFramePr>
            <a:graphicFrameLocks/>
          </p:cNvGraphicFramePr>
          <p:nvPr/>
        </p:nvGraphicFramePr>
        <p:xfrm>
          <a:off x="153988" y="768350"/>
          <a:ext cx="5786438" cy="2732087"/>
        </p:xfrm>
        <a:graphic>
          <a:graphicData uri="http://schemas.openxmlformats.org/drawingml/2006/table">
            <a:tbl>
              <a:tblPr/>
              <a:tblGrid>
                <a:gridCol w="115751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563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75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563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5862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05307"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НП</a:t>
                      </a: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rgbClr val="3333FF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36000" marR="36000" marT="35991" marB="3599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СП</a:t>
                      </a: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rgbClr val="3333FF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36000" marR="36000" marT="35991" marB="3599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Дата</a:t>
                      </a: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rgbClr val="3333FF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36000" marR="36000" marT="35991" marB="3599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2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НомПК</a:t>
                      </a: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rgbClr val="3333FF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36000" marR="36000" marT="35991" marB="3599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2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НомПР</a:t>
                      </a: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rgbClr val="3333FF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36000" marR="36000" marT="35991" marB="3599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2678"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3001</a:t>
                      </a: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36000" marR="36000" marT="35991" marB="3599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18.69</a:t>
                      </a: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36000" marR="36000" marT="35991" marB="3599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10/03/2000</a:t>
                      </a: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36000" marR="36000" marT="35991" marB="3599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2008</a:t>
                      </a: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36000" marR="36000" marT="35991" marB="3599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1007</a:t>
                      </a: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36000" marR="36000" marT="35991" marB="3599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2678"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3003</a:t>
                      </a: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36000" marR="36000" marT="35991" marB="3599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767.19</a:t>
                      </a: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36000" marR="36000" marT="35991" marB="3599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10/03/2000</a:t>
                      </a: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36000" marR="36000" marT="35991" marB="3599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200</a:t>
                      </a: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36000" marR="36000" marT="35991" marB="3599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1001</a:t>
                      </a: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36000" marR="36000" marT="35991" marB="3599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2678"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3002</a:t>
                      </a: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36000" marR="36000" marT="35991" marB="3599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1900.10</a:t>
                      </a: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36000" marR="36000" marT="35991" marB="3599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10/03/2000</a:t>
                      </a: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36000" marR="36000" marT="35991" marB="3599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200</a:t>
                      </a: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7</a:t>
                      </a: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36000" marR="36000" marT="35991" marB="3599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1004</a:t>
                      </a: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36000" marR="36000" marT="35991" marB="3599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2678"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3005</a:t>
                      </a: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36000" marR="36000" marT="35991" marB="3599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5160.45</a:t>
                      </a: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36000" marR="36000" marT="35991" marB="3599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10/03/2000</a:t>
                      </a: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36000" marR="36000" marT="35991" marB="3599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2003</a:t>
                      </a: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36000" marR="36000" marT="35991" marB="3599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1002</a:t>
                      </a: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36000" marR="36000" marT="35991" marB="3599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2678"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3006</a:t>
                      </a: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36000" marR="36000" marT="35991" marB="3599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1098.16</a:t>
                      </a: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36000" marR="36000" marT="35991" marB="3599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10/03/2000</a:t>
                      </a: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36000" marR="36000" marT="35991" marB="3599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2008</a:t>
                      </a: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36000" marR="36000" marT="35991" marB="3599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1007</a:t>
                      </a: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36000" marR="36000" marT="35991" marB="3599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2678"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3009</a:t>
                      </a: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36000" marR="36000" marT="35991" marB="3599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1713.23</a:t>
                      </a: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36000" marR="36000" marT="35991" marB="3599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10/04/2000</a:t>
                      </a: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36000" marR="36000" marT="35991" marB="3599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2002</a:t>
                      </a: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36000" marR="36000" marT="35991" marB="3599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1003</a:t>
                      </a: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36000" marR="36000" marT="35991" marB="3599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2678"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3007</a:t>
                      </a: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36000" marR="36000" marT="35991" marB="3599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75.75</a:t>
                      </a: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36000" marR="36000" marT="35991" marB="3599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10/04/2000</a:t>
                      </a: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36000" marR="36000" marT="35991" marB="3599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2004</a:t>
                      </a: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36000" marR="36000" marT="35991" marB="3599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1002</a:t>
                      </a: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36000" marR="36000" marT="35991" marB="3599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2678"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3008</a:t>
                      </a: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36000" marR="36000" marT="35991" marB="3599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4723.00</a:t>
                      </a: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36000" marR="36000" marT="35991" marB="3599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10/05/2000</a:t>
                      </a: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36000" marR="36000" marT="35991" marB="3599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2006</a:t>
                      </a: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36000" marR="36000" marT="35991" marB="3599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1001</a:t>
                      </a: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36000" marR="36000" marT="35991" marB="3599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2678"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3010</a:t>
                      </a: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36000" marR="36000" marT="35991" marB="3599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1309.95</a:t>
                      </a: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36000" marR="36000" marT="35991" marB="3599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10/06/2000</a:t>
                      </a: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36000" marR="36000" marT="35991" marB="3599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2004</a:t>
                      </a: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36000" marR="36000" marT="35991" marB="3599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1002</a:t>
                      </a: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36000" marR="36000" marT="35991" marB="3599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42678"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3011</a:t>
                      </a: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36000" marR="36000" marT="35991" marB="3599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9891.88</a:t>
                      </a: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36000" marR="36000" marT="35991" marB="3599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10/06/2000</a:t>
                      </a: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36000" marR="36000" marT="35991" marB="3599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2006</a:t>
                      </a: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36000" marR="36000" marT="35991" marB="3599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1001</a:t>
                      </a: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36000" marR="36000" marT="35991" marB="3599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graphicFrame>
        <p:nvGraphicFramePr>
          <p:cNvPr id="7" name="Group 15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0273970"/>
              </p:ext>
            </p:extLst>
          </p:nvPr>
        </p:nvGraphicFramePr>
        <p:xfrm>
          <a:off x="179388" y="3814763"/>
          <a:ext cx="5832776" cy="2422549"/>
        </p:xfrm>
        <a:graphic>
          <a:graphicData uri="http://schemas.openxmlformats.org/drawingml/2006/table">
            <a:tbl>
              <a:tblPr/>
              <a:tblGrid>
                <a:gridCol w="7202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60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9102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909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909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2909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2909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2909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58759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НомПР</a:t>
                      </a:r>
                      <a:endParaRPr kumimoji="0" 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36000" marR="36000" marT="36000" marB="3600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ИмяПР</a:t>
                      </a:r>
                      <a:endParaRPr kumimoji="0" 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36000" marR="36000" marT="36000" marB="3600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Город</a:t>
                      </a:r>
                      <a:endParaRPr kumimoji="0" 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36000" marR="36000" marT="36000" marB="3600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Комм</a:t>
                      </a:r>
                      <a:endParaRPr kumimoji="0" 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36000" marR="36000" marT="36000" marB="3600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ru-RU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НП</a:t>
                      </a:r>
                      <a:endParaRPr kumimoji="0" 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3333FF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36000" marR="36000" marT="36000" marB="3600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ru-RU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СП</a:t>
                      </a:r>
                      <a:endParaRPr kumimoji="0" 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3333FF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36000" marR="36000" marT="36000" marB="3600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ru-RU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Дата</a:t>
                      </a:r>
                      <a:endParaRPr kumimoji="0" 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3333FF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36000" marR="36000" marT="36000" marB="3600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ru-RU" sz="1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НомПК</a:t>
                      </a:r>
                      <a:endParaRPr kumimoji="0" 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3333FF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36000" marR="36000" marT="36000" marB="3600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759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1001</a:t>
                      </a:r>
                      <a:endParaRPr kumimoji="0" 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36000" marR="36000" marT="36000" marB="3600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Иванов</a:t>
                      </a:r>
                      <a:endParaRPr kumimoji="0" lang="ru-RU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36000" marR="36000" marT="36000" marB="3600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Новосибирск</a:t>
                      </a:r>
                      <a:endParaRPr kumimoji="0" lang="ru-RU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36000" marR="36000" marT="36000" marB="3600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0.12</a:t>
                      </a:r>
                      <a:endParaRPr kumimoji="0" lang="ru-RU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36000" marR="36000" marT="36000" marB="3600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3003</a:t>
                      </a:r>
                      <a:endParaRPr kumimoji="0" 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ru-RU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36000" marR="36000" marT="36000" marB="3600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767.19</a:t>
                      </a:r>
                      <a:endParaRPr kumimoji="0" 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ru-RU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36000" marR="36000" marT="36000" marB="3600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10/03/2000</a:t>
                      </a:r>
                      <a:endParaRPr kumimoji="0" 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ru-RU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36000" marR="36000" marT="36000" marB="3600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ru-RU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200</a:t>
                      </a:r>
                      <a:r>
                        <a:rPr kumimoji="0" 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kumimoji="0" 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ru-RU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36000" marR="36000" marT="36000" marB="3600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7306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1001</a:t>
                      </a:r>
                      <a:endParaRPr kumimoji="0" 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36000" marR="36000" marT="36000" marB="3600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Иванов</a:t>
                      </a:r>
                      <a:endParaRPr kumimoji="0" lang="ru-RU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36000" marR="36000" marT="36000" marB="3600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Новосибирск</a:t>
                      </a:r>
                      <a:endParaRPr kumimoji="0" lang="ru-RU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36000" marR="36000" marT="36000" marB="3600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0.12</a:t>
                      </a:r>
                      <a:endParaRPr kumimoji="0" lang="ru-RU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36000" marR="36000" marT="36000" marB="3600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3008</a:t>
                      </a:r>
                      <a:endParaRPr kumimoji="0" 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  <a:defRPr/>
                      </a:pPr>
                      <a:endParaRPr kumimoji="0" 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36000" marR="36000" marT="36000" marB="3600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4723.00</a:t>
                      </a:r>
                      <a:endParaRPr kumimoji="0" 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36000" marR="36000" marT="36000" marB="3600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10/05/2000</a:t>
                      </a:r>
                      <a:endParaRPr kumimoji="0" 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  <a:defRPr/>
                      </a:pPr>
                      <a:endParaRPr kumimoji="0" 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36000" marR="36000" marT="36000" marB="3600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2006</a:t>
                      </a:r>
                      <a:endParaRPr kumimoji="0" 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  <a:defRPr/>
                      </a:pPr>
                      <a:endParaRPr kumimoji="0" 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36000" marR="36000" marT="36000" marB="3600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7306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1001</a:t>
                      </a:r>
                      <a:endParaRPr kumimoji="0" 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36000" marR="36000" marT="36000" marB="3600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Иванов</a:t>
                      </a:r>
                      <a:endParaRPr kumimoji="0" lang="ru-RU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36000" marR="36000" marT="36000" marB="3600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Новосибирск</a:t>
                      </a:r>
                      <a:endParaRPr kumimoji="0" lang="ru-RU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36000" marR="36000" marT="36000" marB="3600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0.12</a:t>
                      </a:r>
                      <a:endParaRPr kumimoji="0" lang="ru-RU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36000" marR="36000" marT="36000" marB="3600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3011</a:t>
                      </a:r>
                      <a:endParaRPr kumimoji="0" 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36000" marR="36000" marT="36000" marB="3600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9891.88</a:t>
                      </a:r>
                      <a:endParaRPr kumimoji="0" 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36000" marR="36000" marT="36000" marB="3600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10/06/2000</a:t>
                      </a:r>
                      <a:endParaRPr kumimoji="0" 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36000" marR="36000" marT="36000" marB="3600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2006</a:t>
                      </a:r>
                      <a:endParaRPr kumimoji="0" 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36000" marR="36000" marT="36000" marB="3600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2741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1004</a:t>
                      </a:r>
                      <a:endParaRPr kumimoji="0" 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36000" marR="36000" marT="36000" marB="3600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Сидоров</a:t>
                      </a:r>
                      <a:endParaRPr kumimoji="0" lang="ru-RU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36000" marR="36000" marT="36000" marB="3600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Новосибирск</a:t>
                      </a:r>
                      <a:endParaRPr kumimoji="0" lang="ru-RU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36000" marR="36000" marT="36000" marB="3600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0.11</a:t>
                      </a:r>
                      <a:endParaRPr kumimoji="0" lang="ru-RU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36000" marR="36000" marT="36000" marB="3600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3002</a:t>
                      </a:r>
                    </a:p>
                  </a:txBody>
                  <a:tcPr marL="36000" marR="36000" marT="36000" marB="3600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sz="1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1900.10</a:t>
                      </a:r>
                    </a:p>
                  </a:txBody>
                  <a:tcPr marL="36000" marR="36000" marT="36000" marB="3600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sz="1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10/03/2000</a:t>
                      </a:r>
                    </a:p>
                  </a:txBody>
                  <a:tcPr marL="36000" marR="36000" marT="36000" marB="3600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ru-RU" sz="1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200</a:t>
                      </a:r>
                      <a:r>
                        <a:rPr kumimoji="0" lang="en-US" sz="1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7</a:t>
                      </a:r>
                    </a:p>
                  </a:txBody>
                  <a:tcPr marL="36000" marR="36000" marT="36000" marB="3600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8" name="Group 15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8384365"/>
              </p:ext>
            </p:extLst>
          </p:nvPr>
        </p:nvGraphicFramePr>
        <p:xfrm>
          <a:off x="6300788" y="4365625"/>
          <a:ext cx="2225675" cy="1378101"/>
        </p:xfrm>
        <a:graphic>
          <a:graphicData uri="http://schemas.openxmlformats.org/drawingml/2006/table">
            <a:tbl>
              <a:tblPr/>
              <a:tblGrid>
                <a:gridCol w="11878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378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1805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ИмяПР</a:t>
                      </a: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91464" marR="91464" marT="45705" marB="4570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ru-RU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Сумма</a:t>
                      </a: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3333FF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91464" marR="91464" marT="45705" marB="4570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05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Иванов</a:t>
                      </a:r>
                      <a:endParaRPr kumimoji="0" lang="ru-RU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91464" marR="91464" marT="45705" marB="4570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ru-RU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15382.07</a:t>
                      </a: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ru-RU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91464" marR="91464" marT="45705" marB="4570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1841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Сидоров</a:t>
                      </a:r>
                      <a:endParaRPr kumimoji="0" lang="ru-RU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91464" marR="91464" marT="45705" marB="4570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1900.10</a:t>
                      </a: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91464" marR="91464" marT="45705" marB="4570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" name="Объект 2"/>
          <p:cNvSpPr>
            <a:spLocks noGrp="1"/>
          </p:cNvSpPr>
          <p:nvPr>
            <p:ph idx="1"/>
          </p:nvPr>
        </p:nvSpPr>
        <p:spPr>
          <a:xfrm>
            <a:off x="5940425" y="908050"/>
            <a:ext cx="3132138" cy="1584325"/>
          </a:xfrm>
        </p:spPr>
        <p:txBody>
          <a:bodyPr>
            <a:normAutofit fontScale="40000" lnSpcReduction="20000"/>
          </a:bodyPr>
          <a:lstStyle/>
          <a:p>
            <a:pPr marL="0" indent="0">
              <a:buFont typeface="Wingdings" pitchFamily="2" charset="2"/>
              <a:buNone/>
              <a:defRPr/>
            </a:pPr>
            <a:r>
              <a:rPr lang="en-US" altLang="ru-RU" dirty="0"/>
              <a:t>SELECT </a:t>
            </a:r>
            <a:r>
              <a:rPr lang="ru-RU" altLang="ru-RU" dirty="0" err="1"/>
              <a:t>ИмяПР</a:t>
            </a:r>
            <a:r>
              <a:rPr lang="en-US" altLang="ru-RU" dirty="0"/>
              <a:t>, sum(</a:t>
            </a:r>
            <a:r>
              <a:rPr lang="ru-RU" altLang="ru-RU" dirty="0"/>
              <a:t>СП</a:t>
            </a:r>
            <a:r>
              <a:rPr lang="en-US" altLang="ru-RU" dirty="0"/>
              <a:t>) as </a:t>
            </a:r>
            <a:r>
              <a:rPr lang="ru-RU" altLang="ru-RU" dirty="0"/>
              <a:t>Сумма</a:t>
            </a:r>
            <a:endParaRPr lang="en-US" altLang="ru-RU" dirty="0"/>
          </a:p>
          <a:p>
            <a:pPr marL="0" indent="0">
              <a:buFont typeface="Wingdings" pitchFamily="2" charset="2"/>
              <a:buNone/>
              <a:defRPr/>
            </a:pPr>
            <a:r>
              <a:rPr lang="en-US" altLang="ru-RU" dirty="0"/>
              <a:t>FROM </a:t>
            </a:r>
            <a:r>
              <a:rPr lang="ru-RU" altLang="ru-RU" dirty="0"/>
              <a:t>ПРОДАВЦЫ</a:t>
            </a:r>
            <a:r>
              <a:rPr lang="en-US" altLang="ru-RU" dirty="0"/>
              <a:t> S</a:t>
            </a:r>
            <a:r>
              <a:rPr lang="ru-RU" altLang="ru-RU" dirty="0"/>
              <a:t>, ПОКУПКИ</a:t>
            </a:r>
            <a:r>
              <a:rPr lang="en-US" altLang="ru-RU" dirty="0"/>
              <a:t> O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US" altLang="ru-RU" dirty="0"/>
              <a:t>WHERE </a:t>
            </a:r>
            <a:br>
              <a:rPr lang="en-US" altLang="ru-RU" dirty="0"/>
            </a:br>
            <a:r>
              <a:rPr lang="en-US" altLang="ru-RU" dirty="0"/>
              <a:t>	S.</a:t>
            </a:r>
            <a:r>
              <a:rPr lang="ru-RU" altLang="ru-RU" dirty="0" err="1"/>
              <a:t>НомПР</a:t>
            </a:r>
            <a:r>
              <a:rPr lang="en-US" altLang="ru-RU" dirty="0"/>
              <a:t>=O.</a:t>
            </a:r>
            <a:r>
              <a:rPr lang="ru-RU" altLang="ru-RU" dirty="0" err="1"/>
              <a:t>НомПР</a:t>
            </a:r>
            <a:r>
              <a:rPr lang="en-US" altLang="ru-RU" dirty="0"/>
              <a:t> and 				S.</a:t>
            </a:r>
            <a:r>
              <a:rPr lang="ru-RU" altLang="ru-RU" dirty="0"/>
              <a:t>Город</a:t>
            </a:r>
            <a:r>
              <a:rPr lang="en-US" altLang="ru-RU" dirty="0"/>
              <a:t>=‘</a:t>
            </a:r>
            <a:r>
              <a:rPr lang="ru-RU" altLang="ru-RU" dirty="0"/>
              <a:t>Новосибирск</a:t>
            </a:r>
            <a:r>
              <a:rPr lang="en-US" altLang="ru-RU" dirty="0"/>
              <a:t>’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US" altLang="ru-RU" dirty="0"/>
              <a:t>GROUP by </a:t>
            </a:r>
            <a:r>
              <a:rPr lang="ru-RU" altLang="ru-RU" dirty="0" err="1"/>
              <a:t>ИмяПР</a:t>
            </a:r>
            <a:r>
              <a:rPr lang="en-US" altLang="ru-RU" dirty="0"/>
              <a:t>;</a:t>
            </a:r>
          </a:p>
          <a:p>
            <a:pPr marL="0" indent="0">
              <a:buFont typeface="Wingdings" pitchFamily="2" charset="2"/>
              <a:buNone/>
              <a:defRPr/>
            </a:pPr>
            <a:endParaRPr lang="ru-RU" altLang="ru-RU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0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20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Заголовок 1"/>
          <p:cNvSpPr>
            <a:spLocks noGrp="1"/>
          </p:cNvSpPr>
          <p:nvPr>
            <p:ph type="title"/>
          </p:nvPr>
        </p:nvSpPr>
        <p:spPr>
          <a:xfrm>
            <a:off x="457200" y="285750"/>
            <a:ext cx="8229600" cy="739775"/>
          </a:xfrm>
        </p:spPr>
        <p:txBody>
          <a:bodyPr/>
          <a:lstStyle/>
          <a:p>
            <a:pPr algn="ctr"/>
            <a:r>
              <a:rPr lang="ru-RU" altLang="ru-RU" sz="4000">
                <a:solidFill>
                  <a:schemeClr val="bg2"/>
                </a:solidFill>
              </a:rPr>
              <a:t>Подзапросы</a:t>
            </a:r>
            <a:endParaRPr lang="ru-RU" altLang="ru-RU" sz="400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85750" y="1071563"/>
            <a:ext cx="8401050" cy="5500687"/>
          </a:xfrm>
        </p:spPr>
        <p:txBody>
          <a:bodyPr>
            <a:normAutofit fontScale="55000" lnSpcReduction="20000"/>
          </a:bodyPr>
          <a:lstStyle/>
          <a:p>
            <a:pPr marL="0" indent="0">
              <a:lnSpc>
                <a:spcPct val="120000"/>
              </a:lnSpc>
              <a:buFont typeface="Wingdings" pitchFamily="2" charset="2"/>
              <a:buNone/>
              <a:defRPr/>
            </a:pPr>
            <a:r>
              <a:rPr lang="ru-RU" b="1" dirty="0"/>
              <a:t>Подзапрос</a:t>
            </a:r>
            <a:r>
              <a:rPr lang="ru-RU" dirty="0"/>
              <a:t> - позволяет строить сложные иерархии запросов, многократно выполняемые в процессе построения результирующего набора или выполнения одного из операторов изменения данных (DELETE, INSERT, UPDATE).</a:t>
            </a:r>
          </a:p>
          <a:p>
            <a:pPr>
              <a:lnSpc>
                <a:spcPct val="120000"/>
              </a:lnSpc>
              <a:buFont typeface="Wingdings" pitchFamily="2" charset="2"/>
              <a:buNone/>
              <a:defRPr/>
            </a:pPr>
            <a:r>
              <a:rPr lang="ru-RU" dirty="0"/>
              <a:t>Подзапрос позволяет решать следующие задачи: </a:t>
            </a:r>
          </a:p>
          <a:p>
            <a:pPr>
              <a:lnSpc>
                <a:spcPct val="120000"/>
              </a:lnSpc>
              <a:defRPr/>
            </a:pPr>
            <a:r>
              <a:rPr lang="ru-RU" dirty="0"/>
              <a:t>определять набор строк, добавляемый в таблицу на одно выполнение оператора INSERT; </a:t>
            </a:r>
          </a:p>
          <a:p>
            <a:pPr>
              <a:lnSpc>
                <a:spcPct val="120000"/>
              </a:lnSpc>
              <a:defRPr/>
            </a:pPr>
            <a:r>
              <a:rPr lang="ru-RU" dirty="0"/>
              <a:t>определять данные, включаемые в представление, создаваемое оператором CREATE VIEW; </a:t>
            </a:r>
          </a:p>
          <a:p>
            <a:pPr>
              <a:lnSpc>
                <a:spcPct val="120000"/>
              </a:lnSpc>
              <a:defRPr/>
            </a:pPr>
            <a:r>
              <a:rPr lang="ru-RU" dirty="0"/>
              <a:t>определять значения, модифицируемые оператором UPDATE; </a:t>
            </a:r>
          </a:p>
          <a:p>
            <a:pPr>
              <a:lnSpc>
                <a:spcPct val="120000"/>
              </a:lnSpc>
              <a:defRPr/>
            </a:pPr>
            <a:r>
              <a:rPr lang="ru-RU" dirty="0"/>
              <a:t>указывать один или несколько значений во фразах WHERE и HAVING оператора SELECT; </a:t>
            </a:r>
          </a:p>
          <a:p>
            <a:pPr>
              <a:lnSpc>
                <a:spcPct val="120000"/>
              </a:lnSpc>
              <a:defRPr/>
            </a:pPr>
            <a:r>
              <a:rPr lang="ru-RU" dirty="0"/>
              <a:t>определять во фразе FROM таблицу как результат выполнения подзапроса; </a:t>
            </a:r>
          </a:p>
          <a:p>
            <a:pPr>
              <a:lnSpc>
                <a:spcPct val="120000"/>
              </a:lnSpc>
              <a:defRPr/>
            </a:pPr>
            <a:r>
              <a:rPr lang="ru-RU" dirty="0"/>
              <a:t>применять коррелированные подзапросы. Подзапрос называется коррелированным, если запрос, содержащийся в предикате, имеет ссылку на значение из таблицы (внешней к данному запросу), которая проверяется посредством данного предиката. </a:t>
            </a:r>
          </a:p>
          <a:p>
            <a:pPr marL="0" indent="0">
              <a:lnSpc>
                <a:spcPct val="120000"/>
              </a:lnSpc>
              <a:buFont typeface="Wingdings" pitchFamily="2" charset="2"/>
              <a:buNone/>
              <a:defRPr/>
            </a:pPr>
            <a:endParaRPr lang="ru-RU" dirty="0"/>
          </a:p>
        </p:txBody>
      </p:sp>
      <p:sp>
        <p:nvSpPr>
          <p:cNvPr id="30724" name="Номер слайда 3"/>
          <p:cNvSpPr>
            <a:spLocks noGrp="1"/>
          </p:cNvSpPr>
          <p:nvPr>
            <p:ph type="sldNum" sz="quarter" idx="11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8D13760C-76BF-4FC0-ACDD-0E376B423DDD}" type="slidenum">
              <a:rPr lang="ru-RU" altLang="ru-RU" smtClean="0"/>
              <a:pPr/>
              <a:t>31</a:t>
            </a:fld>
            <a:endParaRPr lang="ru-RU" altLang="ru-RU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Заголовок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39775"/>
          </a:xfrm>
        </p:spPr>
        <p:txBody>
          <a:bodyPr/>
          <a:lstStyle/>
          <a:p>
            <a:pPr algn="ctr"/>
            <a:r>
              <a:rPr lang="ru-RU" altLang="ru-RU" sz="3600">
                <a:solidFill>
                  <a:schemeClr val="bg2"/>
                </a:solidFill>
              </a:rPr>
              <a:t>Подзапросы (примеры)</a:t>
            </a:r>
            <a:endParaRPr lang="ru-RU" altLang="ru-RU" sz="360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14313" y="785813"/>
            <a:ext cx="8929687" cy="5857875"/>
          </a:xfrm>
        </p:spPr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ru-RU" sz="4000" dirty="0"/>
              <a:t>Очень часто с подзапросами используются агрегирующие функции, предоставляющие возможность сформулировать условие типа "больше, чем среднее по группе".</a:t>
            </a:r>
            <a:endParaRPr lang="en-US" sz="4000" dirty="0"/>
          </a:p>
          <a:p>
            <a:pPr>
              <a:buFont typeface="Wingdings" pitchFamily="2" charset="2"/>
              <a:buNone/>
              <a:defRPr/>
            </a:pPr>
            <a:r>
              <a:rPr lang="ru-RU" sz="4000" dirty="0"/>
              <a:t>	Например</a:t>
            </a:r>
            <a:r>
              <a:rPr lang="en-US" sz="4000" dirty="0"/>
              <a:t>: </a:t>
            </a:r>
            <a:endParaRPr lang="ru-RU" sz="4000" dirty="0"/>
          </a:p>
          <a:p>
            <a:pPr>
              <a:buFont typeface="Wingdings" pitchFamily="2" charset="2"/>
              <a:buNone/>
              <a:defRPr/>
            </a:pPr>
            <a:r>
              <a:rPr lang="ru-RU" sz="4000" dirty="0"/>
              <a:t>	</a:t>
            </a:r>
            <a:r>
              <a:rPr lang="en-US" sz="4000" dirty="0"/>
              <a:t>SELECT </a:t>
            </a:r>
            <a:r>
              <a:rPr lang="ru-RU" sz="4000" dirty="0" err="1"/>
              <a:t>ИмяПР</a:t>
            </a:r>
            <a:r>
              <a:rPr lang="ru-RU" sz="4000" dirty="0"/>
              <a:t>, СП </a:t>
            </a:r>
            <a:r>
              <a:rPr lang="en-US" sz="4000" dirty="0"/>
              <a:t>as </a:t>
            </a:r>
            <a:r>
              <a:rPr lang="ru-RU" sz="4000" dirty="0"/>
              <a:t>Покупка</a:t>
            </a:r>
          </a:p>
          <a:p>
            <a:pPr>
              <a:buFont typeface="Wingdings" pitchFamily="2" charset="2"/>
              <a:buNone/>
              <a:defRPr/>
            </a:pPr>
            <a:r>
              <a:rPr lang="ru-RU" sz="4000" dirty="0"/>
              <a:t>	</a:t>
            </a:r>
            <a:r>
              <a:rPr lang="en-US" sz="4000" dirty="0"/>
              <a:t>FROM </a:t>
            </a:r>
            <a:r>
              <a:rPr lang="ru-RU" sz="4000" dirty="0"/>
              <a:t>ПРОДАВЦЫ </a:t>
            </a:r>
            <a:r>
              <a:rPr lang="en-US" sz="4000" dirty="0"/>
              <a:t>S, </a:t>
            </a:r>
            <a:r>
              <a:rPr lang="ru-RU" sz="4000" dirty="0"/>
              <a:t>ПОКУПКИ </a:t>
            </a:r>
            <a:r>
              <a:rPr lang="en-US" sz="4000" dirty="0"/>
              <a:t>O</a:t>
            </a:r>
          </a:p>
          <a:p>
            <a:pPr>
              <a:buFont typeface="Wingdings" pitchFamily="2" charset="2"/>
              <a:buNone/>
              <a:defRPr/>
            </a:pPr>
            <a:r>
              <a:rPr lang="ru-RU" sz="4000" dirty="0"/>
              <a:t>	</a:t>
            </a:r>
            <a:r>
              <a:rPr lang="en-US" sz="4000" dirty="0"/>
              <a:t>WHERE S.</a:t>
            </a:r>
            <a:r>
              <a:rPr lang="ru-RU" sz="4000" dirty="0" err="1"/>
              <a:t>НомПР</a:t>
            </a:r>
            <a:r>
              <a:rPr lang="ru-RU" sz="4000" dirty="0"/>
              <a:t>=</a:t>
            </a:r>
            <a:r>
              <a:rPr lang="en-US" sz="4000" dirty="0"/>
              <a:t>O.</a:t>
            </a:r>
            <a:r>
              <a:rPr lang="ru-RU" sz="4000" dirty="0" err="1"/>
              <a:t>НомПР</a:t>
            </a:r>
            <a:endParaRPr lang="ru-RU" sz="4000" dirty="0"/>
          </a:p>
          <a:p>
            <a:pPr>
              <a:buFont typeface="Wingdings" pitchFamily="2" charset="2"/>
              <a:buNone/>
              <a:defRPr/>
            </a:pPr>
            <a:r>
              <a:rPr lang="ru-RU" sz="4000" dirty="0"/>
              <a:t>			</a:t>
            </a:r>
            <a:r>
              <a:rPr lang="en-US" sz="4000" dirty="0"/>
              <a:t>and </a:t>
            </a:r>
            <a:r>
              <a:rPr lang="ru-RU" sz="4000" dirty="0">
                <a:solidFill>
                  <a:srgbClr val="FF0000"/>
                </a:solidFill>
              </a:rPr>
              <a:t>СП &gt; (</a:t>
            </a:r>
            <a:r>
              <a:rPr lang="en-US" sz="4000" b="1" dirty="0">
                <a:solidFill>
                  <a:srgbClr val="FF0000"/>
                </a:solidFill>
              </a:rPr>
              <a:t>Select </a:t>
            </a:r>
            <a:r>
              <a:rPr lang="en-US" sz="4000" dirty="0">
                <a:solidFill>
                  <a:srgbClr val="FF0000"/>
                </a:solidFill>
              </a:rPr>
              <a:t>AVG(</a:t>
            </a:r>
            <a:r>
              <a:rPr lang="ru-RU" sz="4000" dirty="0">
                <a:solidFill>
                  <a:srgbClr val="FF0000"/>
                </a:solidFill>
              </a:rPr>
              <a:t>СП) </a:t>
            </a:r>
            <a:endParaRPr lang="en-US" sz="4000" dirty="0">
              <a:solidFill>
                <a:srgbClr val="FF0000"/>
              </a:solidFill>
            </a:endParaRPr>
          </a:p>
          <a:p>
            <a:pPr>
              <a:buFont typeface="Wingdings" pitchFamily="2" charset="2"/>
              <a:buNone/>
              <a:defRPr/>
            </a:pPr>
            <a:r>
              <a:rPr lang="en-US" sz="4000" b="1" dirty="0">
                <a:solidFill>
                  <a:srgbClr val="FF0000"/>
                </a:solidFill>
              </a:rPr>
              <a:t>				from</a:t>
            </a:r>
            <a:r>
              <a:rPr lang="en-US" sz="4000" dirty="0">
                <a:solidFill>
                  <a:srgbClr val="FF0000"/>
                </a:solidFill>
              </a:rPr>
              <a:t> </a:t>
            </a:r>
            <a:r>
              <a:rPr lang="ru-RU" sz="4000" dirty="0">
                <a:solidFill>
                  <a:srgbClr val="FF0000"/>
                </a:solidFill>
              </a:rPr>
              <a:t>ПОКУПКИ)</a:t>
            </a:r>
          </a:p>
          <a:p>
            <a:pPr>
              <a:buFont typeface="Wingdings" pitchFamily="2" charset="2"/>
              <a:buNone/>
              <a:defRPr/>
            </a:pPr>
            <a:endParaRPr lang="ru-RU" sz="4000" dirty="0"/>
          </a:p>
          <a:p>
            <a:pPr>
              <a:buFont typeface="Wingdings" pitchFamily="2" charset="2"/>
              <a:buNone/>
              <a:defRPr/>
            </a:pPr>
            <a:endParaRPr lang="ru-RU" sz="4000" dirty="0"/>
          </a:p>
          <a:p>
            <a:pPr>
              <a:buFont typeface="Wingdings" pitchFamily="2" charset="2"/>
              <a:buNone/>
              <a:defRPr/>
            </a:pPr>
            <a:endParaRPr lang="ru-RU" sz="4000" dirty="0"/>
          </a:p>
          <a:p>
            <a:pPr>
              <a:buFont typeface="Wingdings" pitchFamily="2" charset="2"/>
              <a:buNone/>
              <a:defRPr/>
            </a:pPr>
            <a:endParaRPr lang="ru-RU" sz="4000" dirty="0"/>
          </a:p>
          <a:p>
            <a:pPr>
              <a:buFont typeface="Wingdings" pitchFamily="2" charset="2"/>
              <a:buNone/>
              <a:defRPr/>
            </a:pPr>
            <a:endParaRPr lang="ru-RU" sz="4000" dirty="0"/>
          </a:p>
          <a:p>
            <a:pPr>
              <a:buFont typeface="Wingdings" pitchFamily="2" charset="2"/>
              <a:buNone/>
              <a:defRPr/>
            </a:pPr>
            <a:endParaRPr lang="en-US" sz="4000" dirty="0"/>
          </a:p>
          <a:p>
            <a:pPr>
              <a:buFont typeface="Wingdings" pitchFamily="2" charset="2"/>
              <a:buNone/>
              <a:defRPr/>
            </a:pPr>
            <a:endParaRPr lang="en-US" sz="4000" dirty="0"/>
          </a:p>
          <a:p>
            <a:pPr>
              <a:buFont typeface="Wingdings" pitchFamily="2" charset="2"/>
              <a:buNone/>
              <a:defRPr/>
            </a:pPr>
            <a:endParaRPr lang="en-US" sz="4000" dirty="0"/>
          </a:p>
          <a:p>
            <a:pPr>
              <a:buFont typeface="Wingdings" pitchFamily="2" charset="2"/>
              <a:buNone/>
              <a:defRPr/>
            </a:pPr>
            <a:endParaRPr lang="ru-RU" sz="4000" dirty="0"/>
          </a:p>
          <a:p>
            <a:pPr>
              <a:buFont typeface="Wingdings" pitchFamily="2" charset="2"/>
              <a:buNone/>
              <a:defRPr/>
            </a:pPr>
            <a:r>
              <a:rPr lang="ru-RU" sz="4000" dirty="0"/>
              <a:t>Но </a:t>
            </a:r>
            <a:r>
              <a:rPr lang="ru-RU" sz="4000" b="1" dirty="0"/>
              <a:t>НЕ так</a:t>
            </a:r>
            <a:r>
              <a:rPr lang="ru-RU" sz="4000" dirty="0"/>
              <a:t>:</a:t>
            </a:r>
          </a:p>
          <a:p>
            <a:pPr>
              <a:buFont typeface="Wingdings" pitchFamily="2" charset="2"/>
              <a:buNone/>
              <a:defRPr/>
            </a:pPr>
            <a:r>
              <a:rPr lang="en-US" sz="4000" dirty="0"/>
              <a:t>SELECT </a:t>
            </a:r>
            <a:r>
              <a:rPr lang="ru-RU" sz="4000" dirty="0" err="1"/>
              <a:t>ИмяПР</a:t>
            </a:r>
            <a:r>
              <a:rPr lang="ru-RU" sz="4000" dirty="0"/>
              <a:t>, СП </a:t>
            </a:r>
            <a:r>
              <a:rPr lang="en-US" sz="4000" dirty="0"/>
              <a:t>as </a:t>
            </a:r>
            <a:r>
              <a:rPr lang="ru-RU" sz="4000" dirty="0"/>
              <a:t>Покупка</a:t>
            </a:r>
          </a:p>
          <a:p>
            <a:pPr>
              <a:buFont typeface="Wingdings" pitchFamily="2" charset="2"/>
              <a:buNone/>
              <a:defRPr/>
            </a:pPr>
            <a:r>
              <a:rPr lang="ru-RU" sz="4000" dirty="0"/>
              <a:t>	</a:t>
            </a:r>
            <a:r>
              <a:rPr lang="en-US" sz="4000" dirty="0"/>
              <a:t>FROM </a:t>
            </a:r>
            <a:r>
              <a:rPr lang="ru-RU" sz="4000" dirty="0"/>
              <a:t>ПРОДАВЦЫ </a:t>
            </a:r>
            <a:r>
              <a:rPr lang="en-US" sz="4000" dirty="0"/>
              <a:t>S, </a:t>
            </a:r>
            <a:r>
              <a:rPr lang="ru-RU" sz="4000" dirty="0"/>
              <a:t>ПОКУПКИ </a:t>
            </a:r>
            <a:r>
              <a:rPr lang="en-US" sz="4000" dirty="0"/>
              <a:t>O</a:t>
            </a:r>
          </a:p>
          <a:p>
            <a:pPr>
              <a:buFont typeface="Wingdings" pitchFamily="2" charset="2"/>
              <a:buNone/>
              <a:defRPr/>
            </a:pPr>
            <a:r>
              <a:rPr lang="ru-RU" sz="4000" dirty="0"/>
              <a:t>	</a:t>
            </a:r>
            <a:r>
              <a:rPr lang="en-US" sz="4000" dirty="0"/>
              <a:t>WHERE S.</a:t>
            </a:r>
            <a:r>
              <a:rPr lang="ru-RU" sz="4000" dirty="0" err="1"/>
              <a:t>НомПР</a:t>
            </a:r>
            <a:r>
              <a:rPr lang="ru-RU" sz="4000" dirty="0"/>
              <a:t>=</a:t>
            </a:r>
            <a:r>
              <a:rPr lang="en-US" sz="4000" dirty="0"/>
              <a:t>O.</a:t>
            </a:r>
            <a:r>
              <a:rPr lang="ru-RU" sz="4000" dirty="0" err="1"/>
              <a:t>НомПР</a:t>
            </a:r>
            <a:endParaRPr lang="ru-RU" sz="4000" dirty="0"/>
          </a:p>
          <a:p>
            <a:pPr>
              <a:buFont typeface="Wingdings" pitchFamily="2" charset="2"/>
              <a:buNone/>
              <a:defRPr/>
            </a:pPr>
            <a:r>
              <a:rPr lang="ru-RU" sz="4000" dirty="0"/>
              <a:t>			</a:t>
            </a:r>
            <a:r>
              <a:rPr lang="en-US" sz="4000" dirty="0"/>
              <a:t>and </a:t>
            </a:r>
            <a:r>
              <a:rPr lang="ru-RU" sz="4000" dirty="0">
                <a:solidFill>
                  <a:srgbClr val="FF0000"/>
                </a:solidFill>
              </a:rPr>
              <a:t>СП &gt; </a:t>
            </a:r>
            <a:r>
              <a:rPr lang="en-US" sz="4000" dirty="0">
                <a:solidFill>
                  <a:srgbClr val="FF0000"/>
                </a:solidFill>
              </a:rPr>
              <a:t>AVG(</a:t>
            </a:r>
            <a:r>
              <a:rPr lang="ru-RU" sz="4000" dirty="0">
                <a:solidFill>
                  <a:srgbClr val="FF0000"/>
                </a:solidFill>
              </a:rPr>
              <a:t>СП) </a:t>
            </a:r>
            <a:endParaRPr lang="en-US" sz="4000" dirty="0">
              <a:solidFill>
                <a:srgbClr val="FF0000"/>
              </a:solidFill>
            </a:endParaRPr>
          </a:p>
          <a:p>
            <a:pPr>
              <a:buFont typeface="Wingdings" pitchFamily="2" charset="2"/>
              <a:buNone/>
              <a:defRPr/>
            </a:pPr>
            <a:r>
              <a:rPr lang="en-US" sz="4000" b="1" dirty="0"/>
              <a:t>				</a:t>
            </a:r>
            <a:endParaRPr lang="ru-RU" dirty="0"/>
          </a:p>
        </p:txBody>
      </p:sp>
      <p:sp>
        <p:nvSpPr>
          <p:cNvPr id="32772" name="Номер слайда 3"/>
          <p:cNvSpPr>
            <a:spLocks noGrp="1"/>
          </p:cNvSpPr>
          <p:nvPr>
            <p:ph type="sldNum" sz="quarter" idx="11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3B0A1FA4-068E-49F4-90F2-51E26FA045A9}" type="slidenum">
              <a:rPr lang="ru-RU" altLang="ru-RU" smtClean="0"/>
              <a:pPr/>
              <a:t>32</a:t>
            </a:fld>
            <a:endParaRPr lang="ru-RU" altLang="ru-RU"/>
          </a:p>
        </p:txBody>
      </p:sp>
      <p:graphicFrame>
        <p:nvGraphicFramePr>
          <p:cNvPr id="2" name="Таблица 1">
            <a:extLst>
              <a:ext uri="{FF2B5EF4-FFF2-40B4-BE49-F238E27FC236}">
                <a16:creationId xmlns:a16="http://schemas.microsoft.com/office/drawing/2014/main" id="{37373597-417F-4FE1-8B03-8026C5FDE62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9320825"/>
              </p:ext>
            </p:extLst>
          </p:nvPr>
        </p:nvGraphicFramePr>
        <p:xfrm>
          <a:off x="1547664" y="3284984"/>
          <a:ext cx="5184576" cy="1325880"/>
        </p:xfrm>
        <a:graphic>
          <a:graphicData uri="http://schemas.openxmlformats.org/drawingml/2006/table">
            <a:tbl>
              <a:tblPr/>
              <a:tblGrid>
                <a:gridCol w="2592288">
                  <a:extLst>
                    <a:ext uri="{9D8B030D-6E8A-4147-A177-3AD203B41FA5}">
                      <a16:colId xmlns:a16="http://schemas.microsoft.com/office/drawing/2014/main" val="641260980"/>
                    </a:ext>
                  </a:extLst>
                </a:gridCol>
                <a:gridCol w="2592288">
                  <a:extLst>
                    <a:ext uri="{9D8B030D-6E8A-4147-A177-3AD203B41FA5}">
                      <a16:colId xmlns:a16="http://schemas.microsoft.com/office/drawing/2014/main" val="2155606020"/>
                    </a:ext>
                  </a:extLst>
                </a:gridCol>
              </a:tblGrid>
              <a:tr h="276517">
                <a:tc>
                  <a:txBody>
                    <a:bodyPr/>
                    <a:lstStyle/>
                    <a:p>
                      <a:pPr fontAlgn="b"/>
                      <a:r>
                        <a:rPr lang="ru-RU" sz="1800" b="1" dirty="0">
                          <a:solidFill>
                            <a:srgbClr val="3F863F"/>
                          </a:solidFill>
                          <a:effectLst/>
                        </a:rPr>
                        <a:t>ИМЯПР</a:t>
                      </a:r>
                    </a:p>
                  </a:txBody>
                  <a:tcPr marL="85725" marR="85725" marT="28575" marB="28575" anchor="b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CCF"/>
                    </a:solidFill>
                  </a:tcPr>
                </a:tc>
                <a:tc>
                  <a:txBody>
                    <a:bodyPr/>
                    <a:lstStyle/>
                    <a:p>
                      <a:pPr fontAlgn="b"/>
                      <a:r>
                        <a:rPr lang="ru-RU" sz="1800" b="1">
                          <a:solidFill>
                            <a:srgbClr val="3F863F"/>
                          </a:solidFill>
                          <a:effectLst/>
                        </a:rPr>
                        <a:t>ПОКУПКА</a:t>
                      </a:r>
                    </a:p>
                  </a:txBody>
                  <a:tcPr marL="85725" marR="85725" marT="28575" marB="28575" anchor="b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C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6593193"/>
                  </a:ext>
                </a:extLst>
              </a:tr>
              <a:tr h="149382">
                <a:tc>
                  <a:txBody>
                    <a:bodyPr/>
                    <a:lstStyle/>
                    <a:p>
                      <a:r>
                        <a:rPr lang="ru-RU" sz="1800">
                          <a:effectLst/>
                        </a:rPr>
                        <a:t>Петров</a:t>
                      </a:r>
                    </a:p>
                  </a:txBody>
                  <a:tcPr marL="85725" marR="85725" marT="28575" marB="28575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800">
                          <a:effectLst/>
                        </a:rPr>
                        <a:t>5160,45</a:t>
                      </a:r>
                    </a:p>
                  </a:txBody>
                  <a:tcPr marL="85725" marR="85725" marT="28575" marB="28575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7791701"/>
                  </a:ext>
                </a:extLst>
              </a:tr>
              <a:tr h="149382">
                <a:tc>
                  <a:txBody>
                    <a:bodyPr/>
                    <a:lstStyle/>
                    <a:p>
                      <a:r>
                        <a:rPr lang="ru-RU" sz="1800">
                          <a:effectLst/>
                        </a:rPr>
                        <a:t>Иванов</a:t>
                      </a:r>
                    </a:p>
                  </a:txBody>
                  <a:tcPr marL="85725" marR="85725" marT="28575" marB="28575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800">
                          <a:effectLst/>
                        </a:rPr>
                        <a:t>4723</a:t>
                      </a:r>
                    </a:p>
                  </a:txBody>
                  <a:tcPr marL="85725" marR="85725" marT="28575" marB="28575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0555405"/>
                  </a:ext>
                </a:extLst>
              </a:tr>
              <a:tr h="149382">
                <a:tc>
                  <a:txBody>
                    <a:bodyPr/>
                    <a:lstStyle/>
                    <a:p>
                      <a:r>
                        <a:rPr lang="ru-RU" sz="1800">
                          <a:effectLst/>
                        </a:rPr>
                        <a:t>Иванов</a:t>
                      </a:r>
                    </a:p>
                  </a:txBody>
                  <a:tcPr marL="85725" marR="85725" marT="28575" marB="28575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800" dirty="0">
                          <a:effectLst/>
                        </a:rPr>
                        <a:t>9891,88</a:t>
                      </a:r>
                    </a:p>
                  </a:txBody>
                  <a:tcPr marL="85725" marR="85725" marT="28575" marB="28575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677202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Заголовок 1"/>
          <p:cNvSpPr>
            <a:spLocks noGrp="1"/>
          </p:cNvSpPr>
          <p:nvPr>
            <p:ph type="title"/>
          </p:nvPr>
        </p:nvSpPr>
        <p:spPr>
          <a:xfrm>
            <a:off x="476051" y="12270"/>
            <a:ext cx="8229600" cy="739775"/>
          </a:xfrm>
        </p:spPr>
        <p:txBody>
          <a:bodyPr/>
          <a:lstStyle/>
          <a:p>
            <a:pPr algn="ctr"/>
            <a:r>
              <a:rPr lang="ru-RU" altLang="ru-RU" sz="3600" dirty="0">
                <a:solidFill>
                  <a:schemeClr val="bg2"/>
                </a:solidFill>
              </a:rPr>
              <a:t>Подзапросы (пример)</a:t>
            </a:r>
            <a:endParaRPr lang="ru-RU" altLang="ru-RU" sz="36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21457" y="752046"/>
            <a:ext cx="8671023" cy="5953554"/>
          </a:xfrm>
        </p:spPr>
        <p:txBody>
          <a:bodyPr>
            <a:normAutofit fontScale="85000" lnSpcReduction="20000"/>
          </a:bodyPr>
          <a:lstStyle/>
          <a:p>
            <a:pPr>
              <a:buFont typeface="Wingdings" pitchFamily="2" charset="2"/>
              <a:buNone/>
              <a:defRPr/>
            </a:pPr>
            <a:r>
              <a:rPr lang="ru-RU" dirty="0"/>
              <a:t>   Найти ПОКУПАТЕЛЕЙ, которых обслуживают продавцы из Новосибирска</a:t>
            </a:r>
          </a:p>
          <a:p>
            <a:pPr>
              <a:buFont typeface="Wingdings" pitchFamily="2" charset="2"/>
              <a:buNone/>
              <a:defRPr/>
            </a:pPr>
            <a:endParaRPr lang="ru-RU" dirty="0"/>
          </a:p>
          <a:p>
            <a:pPr>
              <a:buFont typeface="Wingdings" pitchFamily="2" charset="2"/>
              <a:buNone/>
              <a:defRPr/>
            </a:pPr>
            <a:r>
              <a:rPr lang="en-US" dirty="0"/>
              <a:t>SELECT * </a:t>
            </a:r>
            <a:endParaRPr lang="ru-RU" dirty="0"/>
          </a:p>
          <a:p>
            <a:pPr>
              <a:buFont typeface="Wingdings" pitchFamily="2" charset="2"/>
              <a:buNone/>
              <a:defRPr/>
            </a:pPr>
            <a:r>
              <a:rPr lang="en-US" dirty="0"/>
              <a:t>FROM </a:t>
            </a:r>
            <a:r>
              <a:rPr lang="ru-RU" dirty="0">
                <a:solidFill>
                  <a:srgbClr val="FF0000"/>
                </a:solidFill>
              </a:rPr>
              <a:t>ПОКУПАТЕЛИ</a:t>
            </a:r>
            <a:endParaRPr lang="ru-RU" dirty="0">
              <a:solidFill>
                <a:srgbClr val="3333FF"/>
              </a:solidFill>
            </a:endParaRPr>
          </a:p>
          <a:p>
            <a:pPr>
              <a:buFont typeface="Wingdings" pitchFamily="2" charset="2"/>
              <a:buNone/>
              <a:defRPr/>
            </a:pPr>
            <a:r>
              <a:rPr lang="en-US" dirty="0"/>
              <a:t>WHERE </a:t>
            </a:r>
            <a:r>
              <a:rPr lang="ru-RU" dirty="0" err="1">
                <a:solidFill>
                  <a:srgbClr val="FF0000"/>
                </a:solidFill>
                <a:cs typeface="Times New Roman" pitchFamily="18" charset="0"/>
              </a:rPr>
              <a:t>НомПР</a:t>
            </a:r>
            <a:r>
              <a:rPr lang="en-US" b="1" dirty="0">
                <a:solidFill>
                  <a:schemeClr val="bg2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/>
              <a:t>= (SELECT </a:t>
            </a:r>
            <a:r>
              <a:rPr lang="ru-RU" dirty="0" err="1">
                <a:solidFill>
                  <a:srgbClr val="3333FF"/>
                </a:solidFill>
                <a:cs typeface="Times New Roman" pitchFamily="18" charset="0"/>
              </a:rPr>
              <a:t>НомПР</a:t>
            </a:r>
            <a:r>
              <a:rPr lang="en-US" dirty="0">
                <a:solidFill>
                  <a:srgbClr val="3333FF"/>
                </a:solidFill>
              </a:rPr>
              <a:t> </a:t>
            </a:r>
          </a:p>
          <a:p>
            <a:pPr>
              <a:buFont typeface="Wingdings" pitchFamily="2" charset="2"/>
              <a:buNone/>
              <a:defRPr/>
            </a:pPr>
            <a:r>
              <a:rPr lang="en-US" dirty="0"/>
              <a:t>				  </a:t>
            </a:r>
            <a:r>
              <a:rPr lang="ru-RU" dirty="0"/>
              <a:t>    </a:t>
            </a:r>
            <a:r>
              <a:rPr lang="en-US" dirty="0"/>
              <a:t>FROM </a:t>
            </a:r>
            <a:r>
              <a:rPr lang="ru-RU" dirty="0">
                <a:solidFill>
                  <a:srgbClr val="3333FF"/>
                </a:solidFill>
              </a:rPr>
              <a:t>ПРОДАВЦЫ</a:t>
            </a:r>
            <a:r>
              <a:rPr lang="en-US" dirty="0">
                <a:solidFill>
                  <a:srgbClr val="3333FF"/>
                </a:solidFill>
              </a:rPr>
              <a:t> 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                 	  </a:t>
            </a:r>
            <a:r>
              <a:rPr lang="ru-RU" dirty="0"/>
              <a:t>    </a:t>
            </a:r>
            <a:r>
              <a:rPr lang="en-US" dirty="0"/>
              <a:t>WHERE </a:t>
            </a:r>
            <a:r>
              <a:rPr lang="ru-RU" dirty="0">
                <a:solidFill>
                  <a:srgbClr val="3333FF"/>
                </a:solidFill>
              </a:rPr>
              <a:t>Город</a:t>
            </a:r>
            <a:r>
              <a:rPr lang="en-US" dirty="0"/>
              <a:t> </a:t>
            </a:r>
            <a:r>
              <a:rPr lang="ru-RU" dirty="0"/>
              <a:t>									</a:t>
            </a:r>
            <a:r>
              <a:rPr lang="en-US" dirty="0"/>
              <a:t>=‘</a:t>
            </a:r>
            <a:r>
              <a:rPr lang="ru-RU" dirty="0"/>
              <a:t>Новосибирск</a:t>
            </a:r>
            <a:r>
              <a:rPr lang="en-US" dirty="0"/>
              <a:t>’); </a:t>
            </a:r>
            <a:endParaRPr lang="ru-RU" dirty="0"/>
          </a:p>
          <a:p>
            <a:pPr>
              <a:defRPr/>
            </a:pPr>
            <a:r>
              <a:rPr lang="ru-RU" sz="3000" dirty="0"/>
              <a:t>В данном операторе подзапрос всегда должен возвращать единственное значение, которое будет проверяться в предикате. </a:t>
            </a:r>
            <a:endParaRPr lang="en-US" sz="3000" dirty="0"/>
          </a:p>
          <a:p>
            <a:pPr>
              <a:defRPr/>
            </a:pPr>
            <a:r>
              <a:rPr lang="ru-RU" sz="3000" dirty="0"/>
              <a:t>Если подзапрос вернет более одного значения, то СУБД выдаст сообщение об ошибке выполнения SQL-оператора. </a:t>
            </a:r>
            <a:endParaRPr lang="en-US" sz="3000" dirty="0"/>
          </a:p>
          <a:p>
            <a:pPr marL="0" indent="0">
              <a:buNone/>
              <a:defRPr/>
            </a:pPr>
            <a:r>
              <a:rPr lang="en-US" sz="1600" dirty="0">
                <a:solidFill>
                  <a:srgbClr val="FF0000"/>
                </a:solidFill>
                <a:effectLst/>
              </a:rPr>
              <a:t>                </a:t>
            </a:r>
          </a:p>
          <a:p>
            <a:pPr marL="0" indent="0">
              <a:buNone/>
              <a:defRPr/>
            </a:pPr>
            <a:r>
              <a:rPr lang="en-US" sz="1600" dirty="0">
                <a:solidFill>
                  <a:srgbClr val="FF0000"/>
                </a:solidFill>
              </a:rPr>
              <a:t>                 </a:t>
            </a:r>
            <a:r>
              <a:rPr lang="en-US" sz="1600" dirty="0">
                <a:solidFill>
                  <a:srgbClr val="FF0000"/>
                </a:solidFill>
                <a:effectLst/>
              </a:rPr>
              <a:t>ORA-01427: single-row subquery returns more than one row</a:t>
            </a:r>
          </a:p>
          <a:p>
            <a:pPr>
              <a:defRPr/>
            </a:pPr>
            <a:endParaRPr lang="en-US" sz="3000" dirty="0"/>
          </a:p>
          <a:p>
            <a:pPr>
              <a:defRPr/>
            </a:pPr>
            <a:endParaRPr lang="ru-RU" sz="3000" dirty="0"/>
          </a:p>
          <a:p>
            <a:pPr marL="0" indent="0">
              <a:buFont typeface="Wingdings" pitchFamily="2" charset="2"/>
              <a:buNone/>
              <a:defRPr/>
            </a:pPr>
            <a:endParaRPr lang="ru-RU" dirty="0"/>
          </a:p>
        </p:txBody>
      </p:sp>
      <p:sp>
        <p:nvSpPr>
          <p:cNvPr id="31748" name="Номер слайда 3"/>
          <p:cNvSpPr>
            <a:spLocks noGrp="1"/>
          </p:cNvSpPr>
          <p:nvPr>
            <p:ph type="sldNum" sz="quarter" idx="11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329FC9D5-618A-45D9-AC15-53473064894C}" type="slidenum">
              <a:rPr lang="ru-RU" altLang="ru-RU" smtClean="0"/>
              <a:pPr/>
              <a:t>33</a:t>
            </a:fld>
            <a:endParaRPr lang="ru-RU" altLang="ru-RU"/>
          </a:p>
        </p:txBody>
      </p:sp>
      <p:pic>
        <p:nvPicPr>
          <p:cNvPr id="4097" name="Picture 1">
            <a:extLst>
              <a:ext uri="{FF2B5EF4-FFF2-40B4-BE49-F238E27FC236}">
                <a16:creationId xmlns:a16="http://schemas.microsoft.com/office/drawing/2014/main" id="{2393C995-8F59-4A86-8493-7F5B43DA63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611560" y="6376045"/>
            <a:ext cx="288032" cy="2880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Заголовок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39775"/>
          </a:xfrm>
        </p:spPr>
        <p:txBody>
          <a:bodyPr/>
          <a:lstStyle/>
          <a:p>
            <a:pPr algn="ctr"/>
            <a:r>
              <a:rPr lang="ru-RU" altLang="ru-RU" sz="3600">
                <a:solidFill>
                  <a:schemeClr val="bg2"/>
                </a:solidFill>
              </a:rPr>
              <a:t>Подзапросы (примеры)</a:t>
            </a:r>
            <a:endParaRPr lang="ru-RU" altLang="ru-RU" sz="360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07504" y="720308"/>
            <a:ext cx="8579296" cy="4561087"/>
          </a:xfrm>
        </p:spPr>
        <p:txBody>
          <a:bodyPr>
            <a:normAutofit fontScale="47500" lnSpcReduction="20000"/>
          </a:bodyPr>
          <a:lstStyle/>
          <a:p>
            <a:pPr>
              <a:lnSpc>
                <a:spcPct val="120000"/>
              </a:lnSpc>
              <a:defRPr/>
            </a:pPr>
            <a:r>
              <a:rPr lang="ru-RU" sz="4000" dirty="0"/>
              <a:t>Если результатом подзапроса становится </a:t>
            </a:r>
            <a:r>
              <a:rPr lang="ru-RU" sz="4000" b="1" dirty="0"/>
              <a:t>группа строк </a:t>
            </a:r>
            <a:r>
              <a:rPr lang="ru-RU" sz="4000" dirty="0"/>
              <a:t>(это случается всегда, когда условие не гарантирует уникальности значения проверяемого предикатом внутреннего запроса), то следует использовать оператор </a:t>
            </a:r>
            <a:r>
              <a:rPr lang="ru-RU" sz="40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IN</a:t>
            </a:r>
            <a:r>
              <a:rPr lang="ru-RU" sz="4000" dirty="0"/>
              <a:t>, осуществляющий выбор одного значения из указываемого множества. </a:t>
            </a:r>
          </a:p>
          <a:p>
            <a:pPr>
              <a:lnSpc>
                <a:spcPct val="120000"/>
              </a:lnSpc>
              <a:buFont typeface="Wingdings" pitchFamily="2" charset="2"/>
              <a:buNone/>
              <a:defRPr/>
            </a:pPr>
            <a:r>
              <a:rPr lang="ru-RU" sz="4000" dirty="0"/>
              <a:t>	Например</a:t>
            </a:r>
            <a:r>
              <a:rPr lang="en-US" sz="4000" dirty="0"/>
              <a:t>: </a:t>
            </a:r>
            <a:endParaRPr lang="ru-RU" sz="4000" dirty="0"/>
          </a:p>
          <a:p>
            <a:pPr>
              <a:lnSpc>
                <a:spcPct val="120000"/>
              </a:lnSpc>
              <a:buFont typeface="Wingdings" pitchFamily="2" charset="2"/>
              <a:buNone/>
              <a:defRPr/>
            </a:pPr>
            <a:r>
              <a:rPr lang="ru-RU" sz="4000" dirty="0"/>
              <a:t>	</a:t>
            </a:r>
            <a:r>
              <a:rPr lang="en-US" sz="4000" dirty="0"/>
              <a:t>SELECT </a:t>
            </a:r>
            <a:r>
              <a:rPr lang="ru-RU" sz="4000" dirty="0"/>
              <a:t>*</a:t>
            </a:r>
          </a:p>
          <a:p>
            <a:pPr>
              <a:lnSpc>
                <a:spcPct val="120000"/>
              </a:lnSpc>
              <a:buFont typeface="Wingdings" pitchFamily="2" charset="2"/>
              <a:buNone/>
              <a:defRPr/>
            </a:pPr>
            <a:r>
              <a:rPr lang="en-US" sz="4000" dirty="0"/>
              <a:t>	FROM </a:t>
            </a:r>
            <a:r>
              <a:rPr lang="ru-RU" sz="4000" dirty="0">
                <a:solidFill>
                  <a:srgbClr val="FF0000"/>
                </a:solidFill>
              </a:rPr>
              <a:t>ПОКУПАТЕЛИ</a:t>
            </a:r>
            <a:endParaRPr lang="ru-RU" sz="4000" dirty="0">
              <a:solidFill>
                <a:srgbClr val="3333FF"/>
              </a:solidFill>
            </a:endParaRPr>
          </a:p>
          <a:p>
            <a:pPr>
              <a:lnSpc>
                <a:spcPct val="120000"/>
              </a:lnSpc>
              <a:buFont typeface="Wingdings" pitchFamily="2" charset="2"/>
              <a:buNone/>
              <a:defRPr/>
            </a:pPr>
            <a:r>
              <a:rPr lang="en-US" sz="4000" dirty="0"/>
              <a:t>	WHERE </a:t>
            </a:r>
            <a:r>
              <a:rPr lang="ru-RU" sz="4000" dirty="0" err="1">
                <a:solidFill>
                  <a:srgbClr val="FF0000"/>
                </a:solidFill>
                <a:cs typeface="Times New Roman" pitchFamily="18" charset="0"/>
              </a:rPr>
              <a:t>НомПР</a:t>
            </a:r>
            <a:r>
              <a:rPr lang="en-US" sz="40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4000" dirty="0"/>
              <a:t>IN (SELECT </a:t>
            </a:r>
            <a:r>
              <a:rPr lang="ru-RU" sz="4000" dirty="0" err="1">
                <a:solidFill>
                  <a:srgbClr val="3333FF"/>
                </a:solidFill>
                <a:cs typeface="Times New Roman" pitchFamily="18" charset="0"/>
              </a:rPr>
              <a:t>НомПР</a:t>
            </a:r>
            <a:r>
              <a:rPr lang="en-US" sz="4000" dirty="0">
                <a:solidFill>
                  <a:srgbClr val="3333FF"/>
                </a:solidFill>
              </a:rPr>
              <a:t> </a:t>
            </a:r>
          </a:p>
          <a:p>
            <a:pPr>
              <a:lnSpc>
                <a:spcPct val="120000"/>
              </a:lnSpc>
              <a:buFont typeface="Wingdings" pitchFamily="2" charset="2"/>
              <a:buNone/>
              <a:defRPr/>
            </a:pPr>
            <a:r>
              <a:rPr lang="en-US" sz="4000" dirty="0"/>
              <a:t>				  </a:t>
            </a:r>
            <a:r>
              <a:rPr lang="ru-RU" sz="4000" dirty="0"/>
              <a:t> </a:t>
            </a:r>
            <a:r>
              <a:rPr lang="en-US" sz="4000" dirty="0"/>
              <a:t>FROM </a:t>
            </a:r>
            <a:r>
              <a:rPr lang="ru-RU" sz="4000" dirty="0">
                <a:solidFill>
                  <a:srgbClr val="3333FF"/>
                </a:solidFill>
              </a:rPr>
              <a:t>ПРОДАВЦЫ</a:t>
            </a:r>
            <a:r>
              <a:rPr lang="en-US" sz="4000" dirty="0">
                <a:solidFill>
                  <a:srgbClr val="3333FF"/>
                </a:solidFill>
              </a:rPr>
              <a:t> </a:t>
            </a:r>
            <a:r>
              <a:rPr lang="en-US" sz="4000" dirty="0"/>
              <a:t/>
            </a:r>
            <a:br>
              <a:rPr lang="en-US" sz="4000" dirty="0"/>
            </a:br>
            <a:r>
              <a:rPr lang="en-US" sz="4000" dirty="0"/>
              <a:t>                 	  </a:t>
            </a:r>
            <a:r>
              <a:rPr lang="ru-RU" sz="4000" dirty="0"/>
              <a:t>             </a:t>
            </a:r>
            <a:r>
              <a:rPr lang="en-US" sz="4000" dirty="0"/>
              <a:t>WHERE </a:t>
            </a:r>
            <a:r>
              <a:rPr lang="ru-RU" sz="4000" dirty="0">
                <a:solidFill>
                  <a:srgbClr val="3333FF"/>
                </a:solidFill>
              </a:rPr>
              <a:t>Город</a:t>
            </a:r>
            <a:r>
              <a:rPr lang="en-US" sz="4000" dirty="0"/>
              <a:t> =‘</a:t>
            </a:r>
            <a:r>
              <a:rPr lang="ru-RU" sz="4000" dirty="0"/>
              <a:t>Новосибирск</a:t>
            </a:r>
            <a:r>
              <a:rPr lang="en-US" sz="4000" dirty="0"/>
              <a:t>’); </a:t>
            </a:r>
            <a:endParaRPr lang="ru-RU" sz="4000" dirty="0"/>
          </a:p>
          <a:p>
            <a:pPr>
              <a:lnSpc>
                <a:spcPct val="120000"/>
              </a:lnSpc>
              <a:buFont typeface="Wingdings" pitchFamily="2" charset="2"/>
              <a:buNone/>
              <a:defRPr/>
            </a:pPr>
            <a:r>
              <a:rPr lang="ru-RU" sz="4000" dirty="0"/>
              <a:t>	В этом случае предикат принимает значение TRUE всякий раз, когда одно из значений возвращаемых подзапросом, удовлетворяет условию. </a:t>
            </a:r>
          </a:p>
          <a:p>
            <a:pPr marL="0" indent="0">
              <a:lnSpc>
                <a:spcPct val="120000"/>
              </a:lnSpc>
              <a:buFont typeface="Wingdings" pitchFamily="2" charset="2"/>
              <a:buNone/>
              <a:defRPr/>
            </a:pPr>
            <a:endParaRPr lang="ru-RU" dirty="0"/>
          </a:p>
          <a:p>
            <a:pPr marL="0" indent="0">
              <a:lnSpc>
                <a:spcPct val="120000"/>
              </a:lnSpc>
              <a:buFont typeface="Wingdings" pitchFamily="2" charset="2"/>
              <a:buNone/>
              <a:defRPr/>
            </a:pPr>
            <a:endParaRPr lang="ru-RU" dirty="0"/>
          </a:p>
          <a:p>
            <a:pPr marL="0" indent="0">
              <a:lnSpc>
                <a:spcPct val="120000"/>
              </a:lnSpc>
              <a:buFont typeface="Wingdings" pitchFamily="2" charset="2"/>
              <a:buNone/>
              <a:defRPr/>
            </a:pPr>
            <a:endParaRPr lang="ru-RU" dirty="0"/>
          </a:p>
        </p:txBody>
      </p:sp>
      <p:sp>
        <p:nvSpPr>
          <p:cNvPr id="32772" name="Номер слайда 3"/>
          <p:cNvSpPr>
            <a:spLocks noGrp="1"/>
          </p:cNvSpPr>
          <p:nvPr>
            <p:ph type="sldNum" sz="quarter" idx="11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3B0A1FA4-068E-49F4-90F2-51E26FA045A9}" type="slidenum">
              <a:rPr lang="ru-RU" altLang="ru-RU" smtClean="0"/>
              <a:pPr/>
              <a:t>34</a:t>
            </a:fld>
            <a:endParaRPr lang="ru-RU" altLang="ru-RU"/>
          </a:p>
        </p:txBody>
      </p:sp>
      <p:graphicFrame>
        <p:nvGraphicFramePr>
          <p:cNvPr id="2" name="Таблица 1">
            <a:extLst>
              <a:ext uri="{FF2B5EF4-FFF2-40B4-BE49-F238E27FC236}">
                <a16:creationId xmlns:a16="http://schemas.microsoft.com/office/drawing/2014/main" id="{ED65544A-4C8F-40A6-A869-0A29D51D3C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0439221"/>
              </p:ext>
            </p:extLst>
          </p:nvPr>
        </p:nvGraphicFramePr>
        <p:xfrm>
          <a:off x="439438" y="5281395"/>
          <a:ext cx="8229600" cy="120396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379233469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1277948137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3319582104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814362609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17239185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fontAlgn="b"/>
                      <a:r>
                        <a:rPr lang="ru-RU" sz="1600" b="1">
                          <a:solidFill>
                            <a:srgbClr val="3F863F"/>
                          </a:solidFill>
                          <a:effectLst/>
                        </a:rPr>
                        <a:t>НОМП</a:t>
                      </a:r>
                    </a:p>
                  </a:txBody>
                  <a:tcPr marL="85725" marR="85725" marT="28575" marB="28575" anchor="b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CCF"/>
                    </a:solidFill>
                  </a:tcPr>
                </a:tc>
                <a:tc>
                  <a:txBody>
                    <a:bodyPr/>
                    <a:lstStyle/>
                    <a:p>
                      <a:pPr fontAlgn="b"/>
                      <a:r>
                        <a:rPr lang="ru-RU" sz="1600" b="1">
                          <a:solidFill>
                            <a:srgbClr val="3F863F"/>
                          </a:solidFill>
                          <a:effectLst/>
                        </a:rPr>
                        <a:t>ИМЯП</a:t>
                      </a:r>
                    </a:p>
                  </a:txBody>
                  <a:tcPr marL="85725" marR="85725" marT="28575" marB="28575" anchor="b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CCF"/>
                    </a:solidFill>
                  </a:tcPr>
                </a:tc>
                <a:tc>
                  <a:txBody>
                    <a:bodyPr/>
                    <a:lstStyle/>
                    <a:p>
                      <a:pPr fontAlgn="b"/>
                      <a:r>
                        <a:rPr lang="ru-RU" sz="1600" b="1">
                          <a:solidFill>
                            <a:srgbClr val="3F863F"/>
                          </a:solidFill>
                          <a:effectLst/>
                        </a:rPr>
                        <a:t>ГОРОД</a:t>
                      </a:r>
                    </a:p>
                  </a:txBody>
                  <a:tcPr marL="85725" marR="85725" marT="28575" marB="28575" anchor="b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CCF"/>
                    </a:solidFill>
                  </a:tcPr>
                </a:tc>
                <a:tc>
                  <a:txBody>
                    <a:bodyPr/>
                    <a:lstStyle/>
                    <a:p>
                      <a:pPr fontAlgn="b"/>
                      <a:r>
                        <a:rPr lang="ru-RU" sz="1600" b="1">
                          <a:solidFill>
                            <a:srgbClr val="3F863F"/>
                          </a:solidFill>
                          <a:effectLst/>
                        </a:rPr>
                        <a:t>РЕЙТ</a:t>
                      </a:r>
                    </a:p>
                  </a:txBody>
                  <a:tcPr marL="85725" marR="85725" marT="28575" marB="28575" anchor="b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CCF"/>
                    </a:solidFill>
                  </a:tcPr>
                </a:tc>
                <a:tc>
                  <a:txBody>
                    <a:bodyPr/>
                    <a:lstStyle/>
                    <a:p>
                      <a:pPr fontAlgn="b"/>
                      <a:r>
                        <a:rPr lang="ru-RU" sz="1600" b="1" dirty="0">
                          <a:solidFill>
                            <a:srgbClr val="3F863F"/>
                          </a:solidFill>
                          <a:effectLst/>
                        </a:rPr>
                        <a:t>НОМПР</a:t>
                      </a:r>
                    </a:p>
                  </a:txBody>
                  <a:tcPr marL="85725" marR="85725" marT="28575" marB="28575" anchor="b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C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34909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ru-RU" sz="1600">
                          <a:effectLst/>
                        </a:rPr>
                        <a:t>2001</a:t>
                      </a:r>
                    </a:p>
                  </a:txBody>
                  <a:tcPr marL="85725" marR="85725" marT="28575" marB="28575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600">
                          <a:effectLst/>
                        </a:rPr>
                        <a:t>Светин</a:t>
                      </a:r>
                    </a:p>
                  </a:txBody>
                  <a:tcPr marL="85725" marR="85725" marT="28575" marB="28575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600">
                          <a:effectLst/>
                        </a:rPr>
                        <a:t>Новосибирск</a:t>
                      </a:r>
                    </a:p>
                  </a:txBody>
                  <a:tcPr marL="85725" marR="85725" marT="28575" marB="28575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600">
                          <a:effectLst/>
                        </a:rPr>
                        <a:t>100</a:t>
                      </a:r>
                    </a:p>
                  </a:txBody>
                  <a:tcPr marL="85725" marR="85725" marT="28575" marB="28575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600">
                          <a:effectLst/>
                        </a:rPr>
                        <a:t>1001</a:t>
                      </a:r>
                    </a:p>
                  </a:txBody>
                  <a:tcPr marL="85725" marR="85725" marT="28575" marB="28575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516513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ru-RU" sz="1600">
                          <a:effectLst/>
                        </a:rPr>
                        <a:t>2006</a:t>
                      </a:r>
                    </a:p>
                  </a:txBody>
                  <a:tcPr marL="85725" marR="85725" marT="28575" marB="28575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600">
                          <a:effectLst/>
                        </a:rPr>
                        <a:t>Малыгин</a:t>
                      </a:r>
                    </a:p>
                  </a:txBody>
                  <a:tcPr marL="85725" marR="85725" marT="28575" marB="28575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600">
                          <a:effectLst/>
                        </a:rPr>
                        <a:t>Новосибирск</a:t>
                      </a:r>
                    </a:p>
                  </a:txBody>
                  <a:tcPr marL="85725" marR="85725" marT="28575" marB="28575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600">
                          <a:effectLst/>
                        </a:rPr>
                        <a:t>-</a:t>
                      </a:r>
                    </a:p>
                  </a:txBody>
                  <a:tcPr marL="85725" marR="85725" marT="28575" marB="28575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600">
                          <a:effectLst/>
                        </a:rPr>
                        <a:t>1001</a:t>
                      </a:r>
                    </a:p>
                  </a:txBody>
                  <a:tcPr marL="85725" marR="85725" marT="28575" marB="28575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545833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ru-RU" sz="1600">
                          <a:effectLst/>
                        </a:rPr>
                        <a:t>2007</a:t>
                      </a:r>
                    </a:p>
                  </a:txBody>
                  <a:tcPr marL="85725" marR="85725" marT="28575" marB="28575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600">
                          <a:effectLst/>
                        </a:rPr>
                        <a:t>Синицын</a:t>
                      </a:r>
                    </a:p>
                  </a:txBody>
                  <a:tcPr marL="85725" marR="85725" marT="28575" marB="28575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600">
                          <a:effectLst/>
                        </a:rPr>
                        <a:t>Барнаул</a:t>
                      </a:r>
                    </a:p>
                  </a:txBody>
                  <a:tcPr marL="85725" marR="85725" marT="28575" marB="28575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dirty="0">
                          <a:effectLst/>
                        </a:rPr>
                        <a:t>100</a:t>
                      </a:r>
                    </a:p>
                  </a:txBody>
                  <a:tcPr marL="85725" marR="85725" marT="28575" marB="28575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dirty="0">
                          <a:effectLst/>
                        </a:rPr>
                        <a:t>1004</a:t>
                      </a:r>
                    </a:p>
                  </a:txBody>
                  <a:tcPr marL="85725" marR="85725" marT="28575" marB="28575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325809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8536558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Заголовок 1"/>
          <p:cNvSpPr>
            <a:spLocks noGrp="1"/>
          </p:cNvSpPr>
          <p:nvPr>
            <p:ph type="title"/>
          </p:nvPr>
        </p:nvSpPr>
        <p:spPr>
          <a:xfrm>
            <a:off x="457200" y="214313"/>
            <a:ext cx="8229600" cy="428625"/>
          </a:xfrm>
        </p:spPr>
        <p:txBody>
          <a:bodyPr/>
          <a:lstStyle/>
          <a:p>
            <a:pPr algn="ctr"/>
            <a:r>
              <a:rPr lang="ru-RU" altLang="ru-RU" sz="2800" dirty="0">
                <a:solidFill>
                  <a:schemeClr val="bg2"/>
                </a:solidFill>
              </a:rPr>
              <a:t>Предикаты в </a:t>
            </a:r>
            <a:r>
              <a:rPr lang="ru-RU" altLang="ru-RU" sz="2800" dirty="0">
                <a:solidFill>
                  <a:srgbClr val="002060"/>
                </a:solidFill>
              </a:rPr>
              <a:t>подзапросах</a:t>
            </a:r>
            <a:r>
              <a:rPr lang="en-US" altLang="ru-RU" sz="2800" dirty="0">
                <a:solidFill>
                  <a:srgbClr val="002060"/>
                </a:solidFill>
              </a:rPr>
              <a:t>.</a:t>
            </a:r>
            <a:endParaRPr lang="ru-RU" altLang="ru-RU" sz="2800" dirty="0">
              <a:solidFill>
                <a:srgbClr val="002060"/>
              </a:solidFill>
            </a:endParaRPr>
          </a:p>
        </p:txBody>
      </p:sp>
      <p:sp>
        <p:nvSpPr>
          <p:cNvPr id="13315" name="Объект 2"/>
          <p:cNvSpPr>
            <a:spLocks noGrp="1"/>
          </p:cNvSpPr>
          <p:nvPr>
            <p:ph idx="1"/>
          </p:nvPr>
        </p:nvSpPr>
        <p:spPr>
          <a:xfrm>
            <a:off x="179512" y="692150"/>
            <a:ext cx="8785101" cy="6121226"/>
          </a:xfrm>
        </p:spPr>
        <p:txBody>
          <a:bodyPr>
            <a:normAutofit/>
          </a:bodyPr>
          <a:lstStyle/>
          <a:p>
            <a:pPr marL="0" indent="0">
              <a:lnSpc>
                <a:spcPct val="110000"/>
              </a:lnSpc>
              <a:buNone/>
              <a:defRPr/>
            </a:pPr>
            <a:r>
              <a:rPr lang="ru-RU" altLang="ru-RU" sz="2000" dirty="0"/>
              <a:t>Ниже описанные предикаты принимают в качестве аргумента  </a:t>
            </a:r>
            <a:r>
              <a:rPr lang="ru-RU" altLang="ru-RU" sz="2000" b="1" dirty="0"/>
              <a:t>только </a:t>
            </a:r>
            <a:r>
              <a:rPr lang="ru-RU" altLang="ru-RU" sz="2000" b="1" dirty="0" err="1"/>
              <a:t>подзпросы</a:t>
            </a:r>
            <a:endParaRPr lang="ru-RU" altLang="ru-RU" sz="2000" b="1" dirty="0"/>
          </a:p>
          <a:p>
            <a:pPr>
              <a:lnSpc>
                <a:spcPct val="110000"/>
              </a:lnSpc>
              <a:defRPr/>
            </a:pPr>
            <a:r>
              <a:rPr lang="ru-RU" altLang="ru-RU" sz="2000" b="1" dirty="0"/>
              <a:t>EXISTS</a:t>
            </a:r>
            <a:r>
              <a:rPr lang="ru-RU" altLang="ru-RU" sz="2000" dirty="0"/>
              <a:t> - </a:t>
            </a:r>
            <a:r>
              <a:rPr lang="ru-RU" altLang="ru-RU" sz="2000" b="1" dirty="0"/>
              <a:t>предикат существования</a:t>
            </a:r>
            <a:r>
              <a:rPr lang="ru-RU" altLang="ru-RU" sz="2000" dirty="0"/>
              <a:t>, возвращающий значение TRUE, если указанный в нем подзапрос содержит хотя бы одну строку. </a:t>
            </a:r>
            <a:br>
              <a:rPr lang="ru-RU" altLang="ru-RU" sz="2000" dirty="0"/>
            </a:br>
            <a:r>
              <a:rPr lang="ru-RU" altLang="ru-RU" sz="2000" b="1" dirty="0"/>
              <a:t>UNIQUE - предикат уникальности, </a:t>
            </a:r>
            <a:r>
              <a:rPr lang="ru-RU" altLang="ru-RU" sz="2000" dirty="0"/>
              <a:t>возвращающий значение TRUE, если указанный в нем подзапрос не содержит одинаковых строк</a:t>
            </a:r>
            <a:r>
              <a:rPr lang="ru-RU" altLang="ru-RU" sz="2000" b="1" dirty="0"/>
              <a:t> </a:t>
            </a:r>
          </a:p>
          <a:p>
            <a:pPr>
              <a:lnSpc>
                <a:spcPct val="110000"/>
              </a:lnSpc>
              <a:defRPr/>
            </a:pPr>
            <a:r>
              <a:rPr lang="ru-RU" altLang="ru-RU" sz="2000" b="1" dirty="0"/>
              <a:t>MATCH</a:t>
            </a:r>
            <a:r>
              <a:rPr lang="ru-RU" altLang="ru-RU" sz="2000" dirty="0"/>
              <a:t> - </a:t>
            </a:r>
            <a:r>
              <a:rPr lang="ru-RU" altLang="ru-RU" sz="2000" b="1" dirty="0"/>
              <a:t>предикат совпадения</a:t>
            </a:r>
            <a:r>
              <a:rPr lang="ru-RU" altLang="ru-RU" sz="2000" dirty="0"/>
              <a:t>.</a:t>
            </a:r>
          </a:p>
          <a:p>
            <a:pPr marL="400050" lvl="1" indent="0">
              <a:lnSpc>
                <a:spcPct val="110000"/>
              </a:lnSpc>
              <a:spcBef>
                <a:spcPct val="0"/>
              </a:spcBef>
              <a:buClrTx/>
              <a:buSzTx/>
              <a:buNone/>
            </a:pPr>
            <a:r>
              <a:rPr lang="ru-RU" altLang="ru-RU" sz="1700" dirty="0">
                <a:solidFill>
                  <a:srgbClr val="000000"/>
                </a:solidFill>
              </a:rPr>
              <a:t>Предикат позволяет сформулировать условие соответствия </a:t>
            </a:r>
            <a:r>
              <a:rPr lang="ru-RU" altLang="ru-RU" sz="1700" b="1" dirty="0">
                <a:solidFill>
                  <a:srgbClr val="000000"/>
                </a:solidFill>
              </a:rPr>
              <a:t>строчного значения </a:t>
            </a:r>
            <a:r>
              <a:rPr lang="ru-RU" altLang="ru-RU" sz="1700" dirty="0">
                <a:solidFill>
                  <a:srgbClr val="000000"/>
                </a:solidFill>
              </a:rPr>
              <a:t>результату </a:t>
            </a:r>
            <a:r>
              <a:rPr lang="ru-RU" altLang="ru-RU" sz="1700" b="1" dirty="0">
                <a:solidFill>
                  <a:srgbClr val="000000"/>
                </a:solidFill>
              </a:rPr>
              <a:t>табличного подзапроса</a:t>
            </a:r>
            <a:r>
              <a:rPr lang="ru-RU" altLang="ru-RU" sz="1700" dirty="0">
                <a:solidFill>
                  <a:srgbClr val="000000"/>
                </a:solidFill>
              </a:rPr>
              <a:t>. Синтаксис определяется следующим правилом:</a:t>
            </a:r>
          </a:p>
          <a:p>
            <a:pPr marL="400050" lvl="1" indent="0">
              <a:lnSpc>
                <a:spcPct val="110000"/>
              </a:lnSpc>
              <a:spcBef>
                <a:spcPct val="0"/>
              </a:spcBef>
              <a:buClrTx/>
              <a:buSzTx/>
              <a:buNone/>
            </a:pPr>
            <a:endParaRPr lang="ru-RU" altLang="ru-RU" sz="1700" dirty="0"/>
          </a:p>
          <a:p>
            <a:pPr marL="400050" lvl="1" indent="0">
              <a:lnSpc>
                <a:spcPct val="110000"/>
              </a:lnSpc>
              <a:spcBef>
                <a:spcPct val="0"/>
              </a:spcBef>
              <a:buClrTx/>
              <a:buSzTx/>
              <a:buNone/>
            </a:pPr>
            <a:r>
              <a:rPr lang="ru-RU" altLang="ru-RU" sz="1700" dirty="0" err="1">
                <a:cs typeface="Courier New" panose="02070309020205020404" pitchFamily="49" charset="0"/>
              </a:rPr>
              <a:t>match_predicate</a:t>
            </a:r>
            <a:r>
              <a:rPr lang="ru-RU" altLang="ru-RU" sz="1700" dirty="0">
                <a:cs typeface="Courier New" panose="02070309020205020404" pitchFamily="49" charset="0"/>
              </a:rPr>
              <a:t> ::= </a:t>
            </a:r>
            <a:r>
              <a:rPr lang="ru-RU" altLang="ru-RU" sz="1700" dirty="0" err="1">
                <a:cs typeface="Courier New" panose="02070309020205020404" pitchFamily="49" charset="0"/>
              </a:rPr>
              <a:t>row_value_constructor</a:t>
            </a:r>
            <a:r>
              <a:rPr lang="ru-RU" altLang="ru-RU" sz="1700" dirty="0">
                <a:cs typeface="Courier New" panose="02070309020205020404" pitchFamily="49" charset="0"/>
              </a:rPr>
              <a:t/>
            </a:r>
            <a:br>
              <a:rPr lang="ru-RU" altLang="ru-RU" sz="1700" dirty="0">
                <a:cs typeface="Courier New" panose="02070309020205020404" pitchFamily="49" charset="0"/>
              </a:rPr>
            </a:br>
            <a:r>
              <a:rPr lang="ru-RU" altLang="ru-RU" sz="1700" dirty="0">
                <a:cs typeface="Courier New" panose="02070309020205020404" pitchFamily="49" charset="0"/>
              </a:rPr>
              <a:t> MATCH [ UNIQUE ] [ SIMPLE | PARTIAL | FULL ] </a:t>
            </a:r>
            <a:r>
              <a:rPr lang="ru-RU" altLang="ru-RU" sz="1700" dirty="0" err="1">
                <a:cs typeface="Courier New" panose="02070309020205020404" pitchFamily="49" charset="0"/>
              </a:rPr>
              <a:t>query_expression</a:t>
            </a:r>
            <a:endParaRPr lang="ru-RU" altLang="ru-RU" sz="1700" dirty="0">
              <a:cs typeface="Courier New" panose="02070309020205020404" pitchFamily="49" charset="0"/>
            </a:endParaRPr>
          </a:p>
          <a:p>
            <a:pPr marL="400050" lvl="1" indent="0">
              <a:lnSpc>
                <a:spcPct val="110000"/>
              </a:lnSpc>
              <a:spcBef>
                <a:spcPct val="0"/>
              </a:spcBef>
              <a:buClrTx/>
              <a:buSzTx/>
              <a:buNone/>
            </a:pPr>
            <a:endParaRPr lang="ru-RU" altLang="ru-RU" sz="1700" dirty="0"/>
          </a:p>
          <a:p>
            <a:pPr marL="400050" lvl="1" indent="0">
              <a:lnSpc>
                <a:spcPct val="110000"/>
              </a:lnSpc>
              <a:spcBef>
                <a:spcPct val="0"/>
              </a:spcBef>
              <a:buClrTx/>
              <a:buSzTx/>
              <a:buNone/>
            </a:pPr>
            <a:r>
              <a:rPr lang="ru-RU" altLang="ru-RU" sz="1700" dirty="0">
                <a:solidFill>
                  <a:srgbClr val="000000"/>
                </a:solidFill>
              </a:rPr>
              <a:t>Степень первого операнда должна совпадать со степенью таблицы-результата выражения запроса. Типы данных столбцов первого операнда должны быть совместимы с типами соответствующих</a:t>
            </a:r>
            <a:endParaRPr lang="ru-RU" altLang="ru-RU" sz="1700" dirty="0"/>
          </a:p>
        </p:txBody>
      </p:sp>
      <p:sp>
        <p:nvSpPr>
          <p:cNvPr id="23556" name="Номер слайда 4"/>
          <p:cNvSpPr>
            <a:spLocks noGrp="1"/>
          </p:cNvSpPr>
          <p:nvPr>
            <p:ph type="sldNum" sz="quarter" idx="11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F2F75002-6580-4CC9-966F-47C550EF0F82}" type="slidenum">
              <a:rPr lang="ru-RU" altLang="ru-RU" smtClean="0"/>
              <a:pPr/>
              <a:t>35</a:t>
            </a:fld>
            <a:endParaRPr lang="ru-RU" altLang="ru-RU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5" grpId="0" build="p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Заголовок 1"/>
          <p:cNvSpPr>
            <a:spLocks noGrp="1"/>
          </p:cNvSpPr>
          <p:nvPr>
            <p:ph type="title"/>
          </p:nvPr>
        </p:nvSpPr>
        <p:spPr>
          <a:xfrm>
            <a:off x="479648" y="111125"/>
            <a:ext cx="8229600" cy="428625"/>
          </a:xfrm>
        </p:spPr>
        <p:txBody>
          <a:bodyPr/>
          <a:lstStyle/>
          <a:p>
            <a:pPr algn="ctr"/>
            <a:r>
              <a:rPr lang="ru-RU" altLang="ru-RU" sz="3600" dirty="0">
                <a:solidFill>
                  <a:schemeClr val="bg2"/>
                </a:solidFill>
              </a:rPr>
              <a:t>Предикаты в </a:t>
            </a:r>
            <a:r>
              <a:rPr lang="ru-RU" altLang="ru-RU" sz="3600" dirty="0">
                <a:solidFill>
                  <a:srgbClr val="002060"/>
                </a:solidFill>
              </a:rPr>
              <a:t>подзапросах</a:t>
            </a:r>
            <a:endParaRPr lang="ru-RU" altLang="ru-RU" sz="2800" dirty="0"/>
          </a:p>
        </p:txBody>
      </p:sp>
      <p:sp>
        <p:nvSpPr>
          <p:cNvPr id="13315" name="Объект 2"/>
          <p:cNvSpPr>
            <a:spLocks noGrp="1"/>
          </p:cNvSpPr>
          <p:nvPr>
            <p:ph idx="1"/>
          </p:nvPr>
        </p:nvSpPr>
        <p:spPr>
          <a:xfrm>
            <a:off x="251519" y="539750"/>
            <a:ext cx="8784977" cy="6207125"/>
          </a:xfrm>
        </p:spPr>
        <p:txBody>
          <a:bodyPr>
            <a:normAutofit fontScale="92500" lnSpcReduction="10000"/>
          </a:bodyPr>
          <a:lstStyle/>
          <a:p>
            <a:pPr marL="0" lvl="0" indent="0">
              <a:lnSpc>
                <a:spcPct val="110000"/>
              </a:lnSpc>
              <a:spcBef>
                <a:spcPct val="0"/>
              </a:spcBef>
              <a:buClrTx/>
              <a:buSzTx/>
              <a:buNone/>
            </a:pPr>
            <a:r>
              <a:rPr lang="ru-RU" altLang="ru-RU" sz="2000" u="sng" dirty="0"/>
              <a:t>Пример</a:t>
            </a:r>
            <a:r>
              <a:rPr lang="ru-RU" altLang="ru-RU" sz="2000" dirty="0"/>
              <a:t>. </a:t>
            </a:r>
            <a:endParaRPr lang="en-US" altLang="ru-RU" sz="2000" dirty="0"/>
          </a:p>
          <a:p>
            <a:pPr marL="0" lvl="0" indent="0">
              <a:lnSpc>
                <a:spcPct val="110000"/>
              </a:lnSpc>
              <a:spcBef>
                <a:spcPct val="0"/>
              </a:spcBef>
              <a:buClrTx/>
              <a:buSzTx/>
              <a:buNone/>
            </a:pPr>
            <a:r>
              <a:rPr lang="ru-RU" altLang="ru-RU" sz="2000" dirty="0"/>
              <a:t>Отношение EMP(EMP_NO,</a:t>
            </a:r>
            <a:r>
              <a:rPr lang="en-US" altLang="ru-RU" sz="2000" dirty="0"/>
              <a:t>EMP_NAME,</a:t>
            </a:r>
            <a:r>
              <a:rPr lang="ru-RU" altLang="ru-RU" sz="2000" dirty="0"/>
              <a:t> EMP_BDATE</a:t>
            </a:r>
            <a:r>
              <a:rPr lang="en-US" altLang="ru-RU" sz="2000" dirty="0"/>
              <a:t>, </a:t>
            </a:r>
            <a:r>
              <a:rPr lang="ru-RU" altLang="ru-RU" sz="2000" dirty="0"/>
              <a:t>DEPT_NO </a:t>
            </a:r>
            <a:r>
              <a:rPr lang="en-US" altLang="ru-RU" sz="2000" dirty="0"/>
              <a:t>)</a:t>
            </a:r>
          </a:p>
          <a:p>
            <a:pPr marL="468000" lvl="0" indent="-457200">
              <a:lnSpc>
                <a:spcPct val="110000"/>
              </a:lnSpc>
              <a:spcBef>
                <a:spcPct val="0"/>
              </a:spcBef>
              <a:buClrTx/>
              <a:buSzTx/>
              <a:buNone/>
            </a:pPr>
            <a:r>
              <a:rPr lang="ru-RU" altLang="ru-RU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Выдать имена, номера сотрудников, имеющих одинаковый день рождения и работающих в одном отделе.</a:t>
            </a:r>
          </a:p>
          <a:p>
            <a:pPr marL="0" lvl="0" indent="0">
              <a:lnSpc>
                <a:spcPct val="110000"/>
              </a:lnSpc>
              <a:spcBef>
                <a:spcPct val="0"/>
              </a:spcBef>
              <a:buClrTx/>
              <a:buSzTx/>
              <a:buNone/>
            </a:pPr>
            <a:r>
              <a:rPr lang="ru-RU" altLang="ru-RU" sz="2000" dirty="0"/>
              <a:t>SELECT EMP_N</a:t>
            </a:r>
            <a:r>
              <a:rPr lang="en-US" altLang="ru-RU" sz="2000" dirty="0"/>
              <a:t>AME</a:t>
            </a:r>
            <a:r>
              <a:rPr lang="ru-RU" altLang="ru-RU" sz="2000" dirty="0"/>
              <a:t>, EMP_NO </a:t>
            </a:r>
          </a:p>
          <a:p>
            <a:pPr marL="0" lvl="0" indent="0">
              <a:lnSpc>
                <a:spcPct val="110000"/>
              </a:lnSpc>
              <a:spcBef>
                <a:spcPct val="0"/>
              </a:spcBef>
              <a:buClrTx/>
              <a:buSzTx/>
              <a:buNone/>
            </a:pPr>
            <a:r>
              <a:rPr lang="ru-RU" altLang="ru-RU" sz="2000" dirty="0"/>
              <a:t>FROM EMP </a:t>
            </a:r>
            <a:r>
              <a:rPr lang="en-US" altLang="ru-RU" sz="2000" dirty="0"/>
              <a:t>E</a:t>
            </a:r>
            <a:endParaRPr lang="ru-RU" altLang="ru-RU" sz="2000" dirty="0"/>
          </a:p>
          <a:p>
            <a:pPr marL="0" lvl="0" indent="0">
              <a:lnSpc>
                <a:spcPct val="110000"/>
              </a:lnSpc>
              <a:spcBef>
                <a:spcPct val="0"/>
              </a:spcBef>
              <a:buClrTx/>
              <a:buSzTx/>
              <a:buNone/>
            </a:pPr>
            <a:r>
              <a:rPr lang="ru-RU" altLang="ru-RU" sz="2000" dirty="0"/>
              <a:t>WHERE (DEPT_NO, EMP_BDATE) </a:t>
            </a:r>
          </a:p>
          <a:p>
            <a:pPr marL="0" lvl="0" indent="0">
              <a:lnSpc>
                <a:spcPct val="110000"/>
              </a:lnSpc>
              <a:spcBef>
                <a:spcPct val="0"/>
              </a:spcBef>
              <a:buClrTx/>
              <a:buSzTx/>
              <a:buNone/>
            </a:pPr>
            <a:r>
              <a:rPr lang="ru-RU" altLang="ru-RU" sz="2000" dirty="0"/>
              <a:t>		</a:t>
            </a:r>
            <a:r>
              <a:rPr lang="ru-RU" altLang="ru-RU" sz="2000" b="1" dirty="0"/>
              <a:t>MATCH PARTIAL </a:t>
            </a:r>
          </a:p>
          <a:p>
            <a:pPr marL="0" lvl="0" indent="0">
              <a:lnSpc>
                <a:spcPct val="110000"/>
              </a:lnSpc>
              <a:spcBef>
                <a:spcPct val="0"/>
              </a:spcBef>
              <a:buClrTx/>
              <a:buSzTx/>
              <a:buNone/>
            </a:pPr>
            <a:r>
              <a:rPr lang="ru-RU" altLang="ru-RU" sz="2000" dirty="0"/>
              <a:t>	(SELECT E1.DEPT_NO, E1.EMP_BDATE </a:t>
            </a:r>
          </a:p>
          <a:p>
            <a:pPr marL="0" lvl="0" indent="0">
              <a:lnSpc>
                <a:spcPct val="110000"/>
              </a:lnSpc>
              <a:spcBef>
                <a:spcPct val="0"/>
              </a:spcBef>
              <a:buClrTx/>
              <a:buSzTx/>
              <a:buNone/>
            </a:pPr>
            <a:r>
              <a:rPr lang="ru-RU" altLang="ru-RU" sz="2000" dirty="0"/>
              <a:t>	  FROM EMP </a:t>
            </a:r>
            <a:r>
              <a:rPr lang="en-US" altLang="ru-RU" sz="2000" dirty="0"/>
              <a:t>E</a:t>
            </a:r>
            <a:r>
              <a:rPr lang="ru-RU" altLang="ru-RU" sz="2000" dirty="0"/>
              <a:t>1 </a:t>
            </a:r>
          </a:p>
          <a:p>
            <a:pPr marL="0" lvl="0" indent="0">
              <a:lnSpc>
                <a:spcPct val="110000"/>
              </a:lnSpc>
              <a:spcBef>
                <a:spcPct val="0"/>
              </a:spcBef>
              <a:buClrTx/>
              <a:buSzTx/>
              <a:buNone/>
            </a:pPr>
            <a:r>
              <a:rPr lang="ru-RU" altLang="ru-RU" sz="2000" dirty="0"/>
              <a:t>	  WHERE E1.EMP_NO &lt;&gt; E.EMP_NO);</a:t>
            </a:r>
            <a:endParaRPr lang="en-US" altLang="ru-RU" sz="2000" dirty="0"/>
          </a:p>
          <a:p>
            <a:pPr marL="0" indent="0">
              <a:lnSpc>
                <a:spcPct val="110000"/>
              </a:lnSpc>
              <a:buNone/>
            </a:pPr>
            <a:r>
              <a:rPr lang="ru-RU" sz="2000" dirty="0"/>
              <a:t>Этот запрос вернет данные о служащих, про которых:</a:t>
            </a:r>
          </a:p>
          <a:p>
            <a:pPr>
              <a:lnSpc>
                <a:spcPct val="110000"/>
              </a:lnSpc>
              <a:buFont typeface="Wingdings" panose="05000000000000000000" pitchFamily="2" charset="2"/>
              <a:buChar char="ü"/>
            </a:pPr>
            <a:r>
              <a:rPr lang="ru-RU" sz="2000" dirty="0"/>
              <a:t>либо неизвестны номер отдела </a:t>
            </a:r>
            <a:r>
              <a:rPr lang="ru-RU" sz="2000" b="1" dirty="0"/>
              <a:t>и</a:t>
            </a:r>
            <a:r>
              <a:rPr lang="ru-RU" sz="2000" dirty="0"/>
              <a:t> дата рождения;</a:t>
            </a:r>
          </a:p>
          <a:p>
            <a:pPr>
              <a:lnSpc>
                <a:spcPct val="110000"/>
              </a:lnSpc>
              <a:buFont typeface="Wingdings" panose="05000000000000000000" pitchFamily="2" charset="2"/>
              <a:buChar char="ü"/>
            </a:pPr>
            <a:r>
              <a:rPr lang="ru-RU" sz="2000" dirty="0"/>
              <a:t>либо неизвестен номер отдела, но имеется по крайней мере еще один человек с той же датой рождения;</a:t>
            </a:r>
          </a:p>
          <a:p>
            <a:pPr>
              <a:lnSpc>
                <a:spcPct val="110000"/>
              </a:lnSpc>
              <a:buFont typeface="Wingdings" panose="05000000000000000000" pitchFamily="2" charset="2"/>
              <a:buChar char="ü"/>
            </a:pPr>
            <a:r>
              <a:rPr lang="ru-RU" sz="2000" dirty="0"/>
              <a:t>либо неизвестна дата рождения, но в отделе данного служащего работает по крайней мере еще один человек;</a:t>
            </a:r>
          </a:p>
          <a:p>
            <a:pPr>
              <a:lnSpc>
                <a:spcPct val="110000"/>
              </a:lnSpc>
              <a:buFont typeface="Wingdings" panose="05000000000000000000" pitchFamily="2" charset="2"/>
              <a:buChar char="ü"/>
            </a:pPr>
            <a:r>
              <a:rPr lang="ru-RU" sz="2000" dirty="0"/>
              <a:t>либо известны и номер отдела, и дата рождения, и в отделе данного служащего работает по крайней мере еще один человек с той же датой рождения.</a:t>
            </a:r>
            <a:endParaRPr lang="ru-RU" altLang="ru-RU" sz="4800" dirty="0"/>
          </a:p>
        </p:txBody>
      </p:sp>
      <p:sp>
        <p:nvSpPr>
          <p:cNvPr id="23556" name="Номер слайда 4"/>
          <p:cNvSpPr>
            <a:spLocks noGrp="1"/>
          </p:cNvSpPr>
          <p:nvPr>
            <p:ph type="sldNum" sz="quarter" idx="11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F2F75002-6580-4CC9-966F-47C550EF0F82}" type="slidenum">
              <a:rPr lang="ru-RU" altLang="ru-RU" smtClean="0"/>
              <a:pPr/>
              <a:t>36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36377989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5" grpId="0" uiExpand="1" build="p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Заголовок 1"/>
          <p:cNvSpPr>
            <a:spLocks noGrp="1"/>
          </p:cNvSpPr>
          <p:nvPr>
            <p:ph type="title"/>
          </p:nvPr>
        </p:nvSpPr>
        <p:spPr>
          <a:xfrm>
            <a:off x="457200" y="214313"/>
            <a:ext cx="8229600" cy="428625"/>
          </a:xfrm>
        </p:spPr>
        <p:txBody>
          <a:bodyPr/>
          <a:lstStyle/>
          <a:p>
            <a:pPr algn="ctr"/>
            <a:r>
              <a:rPr lang="ru-RU" altLang="ru-RU" sz="2800" dirty="0">
                <a:solidFill>
                  <a:schemeClr val="bg2"/>
                </a:solidFill>
              </a:rPr>
              <a:t>Предикаты в подзапросах</a:t>
            </a:r>
            <a:endParaRPr lang="ru-RU" altLang="ru-RU" sz="2800" dirty="0"/>
          </a:p>
        </p:txBody>
      </p:sp>
      <p:sp>
        <p:nvSpPr>
          <p:cNvPr id="24579" name="Объект 2"/>
          <p:cNvSpPr>
            <a:spLocks noGrp="1"/>
          </p:cNvSpPr>
          <p:nvPr>
            <p:ph idx="1"/>
          </p:nvPr>
        </p:nvSpPr>
        <p:spPr>
          <a:xfrm>
            <a:off x="0" y="677863"/>
            <a:ext cx="9036050" cy="5502275"/>
          </a:xfrm>
        </p:spPr>
        <p:txBody>
          <a:bodyPr/>
          <a:lstStyle/>
          <a:p>
            <a:r>
              <a:rPr lang="ru-RU" altLang="ru-RU" sz="2000" b="1" dirty="0"/>
              <a:t>SOME, ANY</a:t>
            </a:r>
            <a:r>
              <a:rPr lang="ru-RU" altLang="ru-RU" sz="2000" dirty="0"/>
              <a:t> или </a:t>
            </a:r>
            <a:r>
              <a:rPr lang="ru-RU" altLang="ru-RU" sz="2000" b="1" dirty="0"/>
              <a:t>ALL</a:t>
            </a:r>
            <a:r>
              <a:rPr lang="ru-RU" altLang="ru-RU" sz="2000" dirty="0"/>
              <a:t> - </a:t>
            </a:r>
            <a:r>
              <a:rPr lang="ru-RU" altLang="ru-RU" sz="2000" b="1" dirty="0"/>
              <a:t>предикаты количественного сравнения</a:t>
            </a:r>
            <a:r>
              <a:rPr lang="ru-RU" altLang="ru-RU" sz="2000" dirty="0"/>
              <a:t>, для которых существуют следующие правила: </a:t>
            </a:r>
          </a:p>
        </p:txBody>
      </p:sp>
      <p:graphicFrame>
        <p:nvGraphicFramePr>
          <p:cNvPr id="4" name="Таблица 3"/>
          <p:cNvGraphicFramePr>
            <a:graphicFrameLocks noGrp="1"/>
          </p:cNvGraphicFramePr>
          <p:nvPr/>
        </p:nvGraphicFramePr>
        <p:xfrm>
          <a:off x="642938" y="1571625"/>
          <a:ext cx="8143875" cy="49069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856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64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022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9100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46144">
                <a:tc rowSpan="2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b="1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Вариант сравнения</a:t>
                      </a:r>
                      <a:endParaRPr lang="ru-RU" sz="1800" dirty="0"/>
                    </a:p>
                  </a:txBody>
                  <a:tcPr marL="91439" marR="91439" marT="45722" marB="4572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ru-RU" sz="1800" dirty="0">
                          <a:solidFill>
                            <a:schemeClr val="tx1"/>
                          </a:solidFill>
                        </a:rPr>
                        <a:t>Предикат</a:t>
                      </a:r>
                    </a:p>
                  </a:txBody>
                  <a:tcPr marL="91439" marR="91439" marT="45722" marB="4572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9031">
                <a:tc vMerge="1"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SOME</a:t>
                      </a:r>
                      <a:endParaRPr lang="ru-RU" sz="1800" dirty="0"/>
                    </a:p>
                  </a:txBody>
                  <a:tcPr marL="91439" marR="91439" marT="45722" marB="4572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ANY</a:t>
                      </a:r>
                      <a:endParaRPr lang="ru-RU" sz="18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39" marR="91439" marT="45722" marB="4572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All</a:t>
                      </a:r>
                      <a:endParaRPr lang="ru-RU" sz="18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39" marR="91439" marT="45722" marB="4572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64902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Результат сравнения конструктора значений строки с каждой строкой из набора строк, полученных как подзапрос, равен TRUE</a:t>
                      </a:r>
                      <a:endParaRPr lang="ru-RU" sz="1400" dirty="0"/>
                    </a:p>
                  </a:txBody>
                  <a:tcPr marL="91439" marR="91439" marT="45722" marB="4572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TRUE</a:t>
                      </a:r>
                      <a:endParaRPr lang="ru-RU" sz="18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/>
                      <a:endParaRPr lang="ru-RU" sz="1800" dirty="0"/>
                    </a:p>
                  </a:txBody>
                  <a:tcPr marL="91439" marR="91439" marT="45722" marB="4572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TRUE</a:t>
                      </a:r>
                      <a:endParaRPr lang="ru-RU" sz="18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/>
                      <a:endParaRPr lang="ru-RU" sz="1800" dirty="0"/>
                    </a:p>
                  </a:txBody>
                  <a:tcPr marL="91439" marR="91439" marT="45722" marB="4572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TRUE</a:t>
                      </a:r>
                      <a:endParaRPr lang="ru-RU" sz="18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/>
                      <a:endParaRPr lang="ru-RU" sz="1800" b="1" dirty="0"/>
                    </a:p>
                  </a:txBody>
                  <a:tcPr marL="91439" marR="91439" marT="45722" marB="4572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3269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Результат выполнения подзапроса не содержит строк для сравнения</a:t>
                      </a:r>
                      <a:endParaRPr lang="ru-RU" sz="1400" dirty="0"/>
                    </a:p>
                  </a:txBody>
                  <a:tcPr marL="91439" marR="91439" marT="45722" marB="4572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FALSE</a:t>
                      </a:r>
                      <a:endParaRPr lang="ru-RU" sz="1800" dirty="0"/>
                    </a:p>
                  </a:txBody>
                  <a:tcPr marL="91439" marR="91439" marT="45722" marB="4572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FALSE</a:t>
                      </a:r>
                      <a:endParaRPr lang="ru-RU" sz="1800" dirty="0"/>
                    </a:p>
                  </a:txBody>
                  <a:tcPr marL="91439" marR="91439" marT="45722" marB="4572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TRUE</a:t>
                      </a:r>
                      <a:endParaRPr lang="ru-RU" sz="18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39" marR="91439" marT="45722" marB="4572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44925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Результат сравнения конструктора значений строки с каждой строкой из набора строк, полученных как подзапрос, равен FALSE</a:t>
                      </a:r>
                    </a:p>
                  </a:txBody>
                  <a:tcPr marL="91439" marR="91439" marT="45722" marB="4572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FALSE</a:t>
                      </a:r>
                      <a:endParaRPr lang="ru-RU" sz="1800" dirty="0"/>
                    </a:p>
                  </a:txBody>
                  <a:tcPr marL="91439" marR="91439" marT="45722" marB="4572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FALSE</a:t>
                      </a:r>
                      <a:endParaRPr lang="ru-RU" sz="1800" dirty="0"/>
                    </a:p>
                  </a:txBody>
                  <a:tcPr marL="91439" marR="91439" marT="45722" marB="4572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FALSE</a:t>
                      </a:r>
                      <a:endParaRPr lang="ru-RU" sz="1800" dirty="0"/>
                    </a:p>
                  </a:txBody>
                  <a:tcPr marL="91439" marR="91439" marT="45722" marB="4572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148693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Хотя бы один из результатов сравнения конструктора значений строки со строкой из набора строк, полученных как подзапрос, равен TRUE</a:t>
                      </a:r>
                    </a:p>
                  </a:txBody>
                  <a:tcPr marL="91439" marR="91439" marT="45722" marB="4572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TRUE</a:t>
                      </a:r>
                      <a:endParaRPr lang="ru-RU" sz="18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/>
                      <a:endParaRPr lang="ru-RU" sz="1800" dirty="0"/>
                    </a:p>
                  </a:txBody>
                  <a:tcPr marL="91439" marR="91439" marT="45722" marB="4572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TRUE</a:t>
                      </a:r>
                      <a:endParaRPr lang="ru-RU" sz="18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/>
                      <a:endParaRPr lang="ru-RU" sz="1800" dirty="0"/>
                    </a:p>
                  </a:txBody>
                  <a:tcPr marL="91439" marR="91439" marT="45722" marB="4572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UNKNOWN</a:t>
                      </a:r>
                      <a:endParaRPr lang="ru-RU" sz="1800" dirty="0"/>
                    </a:p>
                  </a:txBody>
                  <a:tcPr marL="91439" marR="91439" marT="45722" marB="4572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4614" name="Номер слайда 4"/>
          <p:cNvSpPr>
            <a:spLocks noGrp="1"/>
          </p:cNvSpPr>
          <p:nvPr>
            <p:ph type="sldNum" sz="quarter" idx="11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F62A02B2-D652-493B-81E8-5D44BD1E94C9}" type="slidenum">
              <a:rPr lang="ru-RU" altLang="ru-RU" smtClean="0"/>
              <a:pPr/>
              <a:t>37</a:t>
            </a:fld>
            <a:endParaRPr lang="ru-RU" altLang="ru-RU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Заголовок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39775"/>
          </a:xfrm>
        </p:spPr>
        <p:txBody>
          <a:bodyPr/>
          <a:lstStyle/>
          <a:p>
            <a:pPr algn="ctr"/>
            <a:r>
              <a:rPr lang="ru-RU" altLang="ru-RU" sz="3600" dirty="0">
                <a:solidFill>
                  <a:schemeClr val="bg2"/>
                </a:solidFill>
              </a:rPr>
              <a:t>Коррелированные подзапросы </a:t>
            </a:r>
            <a:endParaRPr lang="ru-RU" altLang="ru-RU" sz="36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14313" y="785813"/>
            <a:ext cx="8929687" cy="5857875"/>
          </a:xfrm>
        </p:spPr>
        <p:txBody>
          <a:bodyPr>
            <a:normAutofit/>
          </a:bodyPr>
          <a:lstStyle/>
          <a:p>
            <a:pPr marL="0" indent="0">
              <a:buNone/>
              <a:defRPr/>
            </a:pPr>
            <a:r>
              <a:rPr lang="ru-RU" sz="1800" dirty="0"/>
              <a:t>Подзапрос называется коррелированным, если запрос, содержащийся в предикате, имеет ссылку на значение из таблицы (внешней к данному запросу), которая проверяется посредством данного предиката.</a:t>
            </a:r>
            <a:endParaRPr lang="ru-RU" sz="1800" dirty="0">
              <a:solidFill>
                <a:srgbClr val="333333"/>
              </a:solidFill>
              <a:effectLst/>
              <a:ea typeface="Times New Roman" panose="02020603050405020304" pitchFamily="18" charset="0"/>
            </a:endParaRPr>
          </a:p>
          <a:p>
            <a:pPr>
              <a:lnSpc>
                <a:spcPct val="110000"/>
              </a:lnSpc>
              <a:buFont typeface="Wingdings" pitchFamily="2" charset="2"/>
              <a:buNone/>
              <a:defRPr/>
            </a:pPr>
            <a:r>
              <a:rPr lang="ru-RU" altLang="ru-RU" sz="1800" dirty="0"/>
              <a:t>Вывести список покупателей, которые находятся в одном городе.</a:t>
            </a:r>
          </a:p>
          <a:p>
            <a:pPr>
              <a:lnSpc>
                <a:spcPct val="110000"/>
              </a:lnSpc>
              <a:buFont typeface="Wingdings" pitchFamily="2" charset="2"/>
              <a:buNone/>
              <a:defRPr/>
            </a:pPr>
            <a:r>
              <a:rPr lang="en-US" altLang="ru-RU" sz="1800" b="1" dirty="0"/>
              <a:t>SELECT</a:t>
            </a:r>
            <a:r>
              <a:rPr lang="en-US" altLang="ru-RU" sz="1800" dirty="0"/>
              <a:t> distinct </a:t>
            </a:r>
            <a:r>
              <a:rPr lang="en-US" altLang="ru-RU" sz="1800" dirty="0" err="1"/>
              <a:t>t_in</a:t>
            </a:r>
            <a:r>
              <a:rPr lang="en-US" altLang="ru-RU" sz="1800" dirty="0"/>
              <a:t>.</a:t>
            </a:r>
            <a:r>
              <a:rPr lang="ru-RU" altLang="ru-RU" sz="1800" dirty="0" err="1"/>
              <a:t>ИмяП</a:t>
            </a:r>
            <a:r>
              <a:rPr lang="ru-RU" altLang="ru-RU" sz="1800" dirty="0"/>
              <a:t>, </a:t>
            </a:r>
            <a:r>
              <a:rPr lang="en-US" altLang="ru-RU" sz="1800" dirty="0" err="1"/>
              <a:t>t_in</a:t>
            </a:r>
            <a:r>
              <a:rPr lang="en-US" altLang="ru-RU" sz="1800" dirty="0"/>
              <a:t>.</a:t>
            </a:r>
            <a:r>
              <a:rPr lang="ru-RU" altLang="ru-RU" sz="1800" dirty="0"/>
              <a:t>Город</a:t>
            </a:r>
          </a:p>
          <a:p>
            <a:pPr>
              <a:lnSpc>
                <a:spcPct val="110000"/>
              </a:lnSpc>
              <a:buFont typeface="Wingdings" pitchFamily="2" charset="2"/>
              <a:buNone/>
              <a:defRPr/>
            </a:pPr>
            <a:r>
              <a:rPr lang="en-US" altLang="ru-RU" sz="1800" b="1" dirty="0"/>
              <a:t>FROM</a:t>
            </a:r>
            <a:r>
              <a:rPr lang="en-US" altLang="ru-RU" sz="1800" dirty="0"/>
              <a:t>     </a:t>
            </a:r>
            <a:r>
              <a:rPr lang="ru-RU" altLang="ru-RU" sz="1800" dirty="0"/>
              <a:t>ПОКУПАТЕЛИ </a:t>
            </a:r>
            <a:r>
              <a:rPr lang="en-US" altLang="ru-RU" sz="1800" dirty="0" err="1"/>
              <a:t>t_out</a:t>
            </a:r>
            <a:r>
              <a:rPr lang="en-US" altLang="ru-RU" sz="1800" dirty="0"/>
              <a:t>, </a:t>
            </a:r>
            <a:r>
              <a:rPr lang="ru-RU" altLang="ru-RU" sz="1800" dirty="0"/>
              <a:t>ПОКУПАТЕЛИ </a:t>
            </a:r>
            <a:r>
              <a:rPr lang="en-US" altLang="ru-RU" sz="1800" dirty="0" err="1"/>
              <a:t>t_in</a:t>
            </a:r>
            <a:endParaRPr lang="en-US" altLang="ru-RU" sz="1800" dirty="0"/>
          </a:p>
          <a:p>
            <a:pPr>
              <a:lnSpc>
                <a:spcPct val="110000"/>
              </a:lnSpc>
              <a:buFont typeface="Wingdings" pitchFamily="2" charset="2"/>
              <a:buNone/>
              <a:defRPr/>
            </a:pPr>
            <a:r>
              <a:rPr lang="en-US" altLang="ru-RU" sz="1800" b="1" dirty="0"/>
              <a:t>WHERE</a:t>
            </a:r>
            <a:r>
              <a:rPr lang="en-US" altLang="ru-RU" sz="1800" dirty="0"/>
              <a:t>  </a:t>
            </a:r>
            <a:r>
              <a:rPr lang="en-US" altLang="ru-RU" sz="1800" dirty="0" err="1"/>
              <a:t>t_in</a:t>
            </a:r>
            <a:r>
              <a:rPr lang="en-US" altLang="ru-RU" sz="1800" dirty="0"/>
              <a:t>.</a:t>
            </a:r>
            <a:r>
              <a:rPr lang="ru-RU" altLang="ru-RU" sz="1800" dirty="0"/>
              <a:t>город= </a:t>
            </a:r>
            <a:r>
              <a:rPr lang="en-US" altLang="ru-RU" sz="1800" dirty="0" err="1"/>
              <a:t>t_out</a:t>
            </a:r>
            <a:r>
              <a:rPr lang="en-US" altLang="ru-RU" sz="1800" dirty="0"/>
              <a:t>.</a:t>
            </a:r>
            <a:r>
              <a:rPr lang="ru-RU" altLang="ru-RU" sz="1800" dirty="0"/>
              <a:t>город </a:t>
            </a:r>
            <a:r>
              <a:rPr lang="en-US" altLang="ru-RU" sz="1800" dirty="0"/>
              <a:t>and </a:t>
            </a:r>
            <a:r>
              <a:rPr lang="en-US" altLang="ru-RU" sz="1800" dirty="0" err="1"/>
              <a:t>t_in</a:t>
            </a:r>
            <a:r>
              <a:rPr lang="en-US" altLang="ru-RU" sz="1800" dirty="0"/>
              <a:t>.</a:t>
            </a:r>
            <a:r>
              <a:rPr lang="ru-RU" altLang="ru-RU" sz="1800" dirty="0" err="1"/>
              <a:t>ИмяП</a:t>
            </a:r>
            <a:r>
              <a:rPr lang="ru-RU" altLang="ru-RU" sz="1800" dirty="0"/>
              <a:t>&lt;&gt; </a:t>
            </a:r>
            <a:r>
              <a:rPr lang="en-US" altLang="ru-RU" sz="1800" dirty="0" err="1"/>
              <a:t>t_out</a:t>
            </a:r>
            <a:r>
              <a:rPr lang="en-US" altLang="ru-RU" sz="1800" dirty="0"/>
              <a:t>.</a:t>
            </a:r>
            <a:r>
              <a:rPr lang="ru-RU" altLang="ru-RU" sz="1800" dirty="0" err="1"/>
              <a:t>ИмяП</a:t>
            </a:r>
            <a:endParaRPr lang="ru-RU" altLang="ru-RU" sz="1800" dirty="0"/>
          </a:p>
          <a:p>
            <a:pPr>
              <a:lnSpc>
                <a:spcPct val="110000"/>
              </a:lnSpc>
              <a:buFont typeface="Wingdings" pitchFamily="2" charset="2"/>
              <a:buNone/>
              <a:defRPr/>
            </a:pPr>
            <a:r>
              <a:rPr lang="en-US" altLang="ru-RU" sz="1800" b="1" dirty="0"/>
              <a:t>ORDER</a:t>
            </a:r>
            <a:r>
              <a:rPr lang="en-US" altLang="ru-RU" sz="1800" dirty="0"/>
              <a:t>  by </a:t>
            </a:r>
            <a:r>
              <a:rPr lang="en-US" altLang="ru-RU" sz="1800" dirty="0" err="1"/>
              <a:t>t_in</a:t>
            </a:r>
            <a:r>
              <a:rPr lang="en-US" altLang="ru-RU" sz="1800" dirty="0"/>
              <a:t>.</a:t>
            </a:r>
            <a:r>
              <a:rPr lang="ru-RU" altLang="ru-RU" sz="1800" dirty="0"/>
              <a:t>город</a:t>
            </a:r>
            <a:endParaRPr lang="en-US" altLang="ru-RU" sz="1800" dirty="0"/>
          </a:p>
          <a:p>
            <a:pPr marL="0" indent="0">
              <a:buNone/>
              <a:defRPr/>
            </a:pPr>
            <a:r>
              <a:rPr lang="ru-RU" sz="1800" dirty="0"/>
              <a:t>Здесь </a:t>
            </a:r>
            <a:r>
              <a:rPr lang="en-US" sz="1800" dirty="0" err="1"/>
              <a:t>t_out</a:t>
            </a:r>
            <a:r>
              <a:rPr lang="en-US" sz="1800" dirty="0"/>
              <a:t> </a:t>
            </a:r>
            <a:r>
              <a:rPr lang="ru-RU" sz="1800" dirty="0"/>
              <a:t>внешняя переменная в подзапросе.</a:t>
            </a:r>
          </a:p>
          <a:p>
            <a:pPr marL="0" indent="0">
              <a:buNone/>
              <a:defRPr/>
            </a:pPr>
            <a:r>
              <a:rPr lang="ru-RU" sz="1800" dirty="0"/>
              <a:t>Этот пример демонстрирует и </a:t>
            </a:r>
            <a:r>
              <a:rPr lang="ru-RU" sz="1800" dirty="0" err="1"/>
              <a:t>самокорреляцию</a:t>
            </a:r>
            <a:r>
              <a:rPr lang="ru-RU" sz="1800" dirty="0"/>
              <a:t> таблицы с собой. </a:t>
            </a:r>
          </a:p>
          <a:p>
            <a:pPr marL="0" indent="0">
              <a:buNone/>
              <a:defRPr/>
            </a:pPr>
            <a:endParaRPr lang="ru-RU" sz="1800" dirty="0"/>
          </a:p>
        </p:txBody>
      </p:sp>
      <p:sp>
        <p:nvSpPr>
          <p:cNvPr id="32772" name="Номер слайда 3"/>
          <p:cNvSpPr>
            <a:spLocks noGrp="1"/>
          </p:cNvSpPr>
          <p:nvPr>
            <p:ph type="sldNum" sz="quarter" idx="11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3B0A1FA4-068E-49F4-90F2-51E26FA045A9}" type="slidenum">
              <a:rPr lang="ru-RU" altLang="ru-RU" smtClean="0"/>
              <a:pPr/>
              <a:t>38</a:t>
            </a:fld>
            <a:endParaRPr lang="ru-RU" altLang="ru-RU"/>
          </a:p>
        </p:txBody>
      </p:sp>
      <p:graphicFrame>
        <p:nvGraphicFramePr>
          <p:cNvPr id="2" name="Таблица 1">
            <a:extLst>
              <a:ext uri="{FF2B5EF4-FFF2-40B4-BE49-F238E27FC236}">
                <a16:creationId xmlns:a16="http://schemas.microsoft.com/office/drawing/2014/main" id="{27187C66-367B-4A66-9525-DF2ED54BAB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29512715"/>
              </p:ext>
            </p:extLst>
          </p:nvPr>
        </p:nvGraphicFramePr>
        <p:xfrm>
          <a:off x="611560" y="4235768"/>
          <a:ext cx="7293496" cy="2407920"/>
        </p:xfrm>
        <a:graphic>
          <a:graphicData uri="http://schemas.openxmlformats.org/drawingml/2006/table">
            <a:tbl>
              <a:tblPr/>
              <a:tblGrid>
                <a:gridCol w="3646748">
                  <a:extLst>
                    <a:ext uri="{9D8B030D-6E8A-4147-A177-3AD203B41FA5}">
                      <a16:colId xmlns:a16="http://schemas.microsoft.com/office/drawing/2014/main" val="2519206099"/>
                    </a:ext>
                  </a:extLst>
                </a:gridCol>
                <a:gridCol w="3646748">
                  <a:extLst>
                    <a:ext uri="{9D8B030D-6E8A-4147-A177-3AD203B41FA5}">
                      <a16:colId xmlns:a16="http://schemas.microsoft.com/office/drawing/2014/main" val="406787073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fontAlgn="b"/>
                      <a:r>
                        <a:rPr lang="ru-RU" sz="1600" b="1">
                          <a:solidFill>
                            <a:srgbClr val="3F863F"/>
                          </a:solidFill>
                          <a:effectLst/>
                        </a:rPr>
                        <a:t>ИМЯП</a:t>
                      </a:r>
                    </a:p>
                  </a:txBody>
                  <a:tcPr marL="85725" marR="85725" marT="28575" marB="28575" anchor="b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CC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600" b="1" dirty="0">
                          <a:solidFill>
                            <a:srgbClr val="3F863F"/>
                          </a:solidFill>
                          <a:effectLst/>
                        </a:rPr>
                        <a:t>ГОРОД</a:t>
                      </a:r>
                    </a:p>
                  </a:txBody>
                  <a:tcPr marL="85725" marR="85725" marT="28575" marB="28575" anchor="b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C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91098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ru-RU" sz="1600">
                          <a:effectLst/>
                        </a:rPr>
                        <a:t>Синицын</a:t>
                      </a:r>
                    </a:p>
                  </a:txBody>
                  <a:tcPr marL="85725" marR="85725" marT="28575" marB="28575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>
                          <a:effectLst/>
                        </a:rPr>
                        <a:t>Барнаул</a:t>
                      </a:r>
                    </a:p>
                  </a:txBody>
                  <a:tcPr marL="85725" marR="85725" marT="28575" marB="28575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88023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ru-RU" sz="1600">
                          <a:effectLst/>
                        </a:rPr>
                        <a:t>Казаков</a:t>
                      </a:r>
                    </a:p>
                  </a:txBody>
                  <a:tcPr marL="85725" marR="85725" marT="28575" marB="28575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>
                          <a:effectLst/>
                        </a:rPr>
                        <a:t>Барнаул</a:t>
                      </a:r>
                    </a:p>
                  </a:txBody>
                  <a:tcPr marL="85725" marR="85725" marT="28575" marB="28575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59626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ru-RU" sz="1600">
                          <a:effectLst/>
                        </a:rPr>
                        <a:t>Коршунов</a:t>
                      </a:r>
                    </a:p>
                  </a:txBody>
                  <a:tcPr marL="85725" marR="85725" marT="28575" marB="28575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>
                          <a:effectLst/>
                        </a:rPr>
                        <a:t>Кемерово</a:t>
                      </a:r>
                    </a:p>
                  </a:txBody>
                  <a:tcPr marL="85725" marR="85725" marT="28575" marB="28575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8532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ru-RU" sz="1600">
                          <a:effectLst/>
                        </a:rPr>
                        <a:t>Руднев</a:t>
                      </a:r>
                    </a:p>
                  </a:txBody>
                  <a:tcPr marL="85725" marR="85725" marT="28575" marB="28575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>
                          <a:effectLst/>
                        </a:rPr>
                        <a:t>Кемерово</a:t>
                      </a:r>
                    </a:p>
                  </a:txBody>
                  <a:tcPr marL="85725" marR="85725" marT="28575" marB="28575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6953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ru-RU" sz="1600">
                          <a:effectLst/>
                        </a:rPr>
                        <a:t>Краснов</a:t>
                      </a:r>
                    </a:p>
                  </a:txBody>
                  <a:tcPr marL="85725" marR="85725" marT="28575" marB="28575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>
                          <a:effectLst/>
                        </a:rPr>
                        <a:t>Кемерово</a:t>
                      </a:r>
                    </a:p>
                  </a:txBody>
                  <a:tcPr marL="85725" marR="85725" marT="28575" marB="28575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28050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ru-RU" sz="1600">
                          <a:effectLst/>
                        </a:rPr>
                        <a:t>Малыгин</a:t>
                      </a:r>
                    </a:p>
                  </a:txBody>
                  <a:tcPr marL="85725" marR="85725" marT="28575" marB="28575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>
                          <a:effectLst/>
                        </a:rPr>
                        <a:t>Новосибирск</a:t>
                      </a:r>
                    </a:p>
                  </a:txBody>
                  <a:tcPr marL="85725" marR="85725" marT="28575" marB="28575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11946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ru-RU" sz="1600" dirty="0">
                          <a:effectLst/>
                        </a:rPr>
                        <a:t>Светин</a:t>
                      </a:r>
                    </a:p>
                  </a:txBody>
                  <a:tcPr marL="85725" marR="85725" marT="28575" marB="28575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>
                          <a:effectLst/>
                        </a:rPr>
                        <a:t>Новосибирск</a:t>
                      </a:r>
                    </a:p>
                  </a:txBody>
                  <a:tcPr marL="85725" marR="85725" marT="28575" marB="28575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80367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8880141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Заголовок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39775"/>
          </a:xfrm>
        </p:spPr>
        <p:txBody>
          <a:bodyPr/>
          <a:lstStyle/>
          <a:p>
            <a:pPr algn="ctr"/>
            <a:r>
              <a:rPr lang="ru-RU" altLang="ru-RU" sz="3600" dirty="0">
                <a:solidFill>
                  <a:schemeClr val="bg2"/>
                </a:solidFill>
              </a:rPr>
              <a:t>Подзапросы (</a:t>
            </a:r>
            <a:r>
              <a:rPr lang="ru-RU" altLang="ru-RU" sz="2400" dirty="0">
                <a:solidFill>
                  <a:schemeClr val="bg2"/>
                </a:solidFill>
              </a:rPr>
              <a:t>демо БД </a:t>
            </a:r>
            <a:r>
              <a:rPr lang="en-US" altLang="ru-RU" sz="2400" dirty="0">
                <a:solidFill>
                  <a:schemeClr val="bg2"/>
                </a:solidFill>
              </a:rPr>
              <a:t>Oracle</a:t>
            </a:r>
            <a:r>
              <a:rPr lang="ru-RU" altLang="ru-RU" sz="3600" dirty="0">
                <a:solidFill>
                  <a:schemeClr val="bg2"/>
                </a:solidFill>
              </a:rPr>
              <a:t>)</a:t>
            </a:r>
            <a:endParaRPr lang="ru-RU" altLang="ru-RU" sz="36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79513" y="692697"/>
            <a:ext cx="8640960" cy="5904656"/>
          </a:xfrm>
        </p:spPr>
        <p:txBody>
          <a:bodyPr>
            <a:normAutofit fontScale="62500" lnSpcReduction="20000"/>
          </a:bodyPr>
          <a:lstStyle/>
          <a:p>
            <a:pPr marL="0" indent="0">
              <a:lnSpc>
                <a:spcPct val="120000"/>
              </a:lnSpc>
              <a:buNone/>
              <a:defRPr/>
            </a:pPr>
            <a:r>
              <a:rPr lang="ru-RU" sz="1900" dirty="0">
                <a:solidFill>
                  <a:srgbClr val="7030A0"/>
                </a:solidFill>
                <a:effectLst/>
                <a:ea typeface="Times New Roman" panose="02020603050405020304" pitchFamily="18" charset="0"/>
              </a:rPr>
              <a:t>Выбрать сотрудников, имеющих оклад </a:t>
            </a:r>
            <a:r>
              <a:rPr lang="ru-RU" sz="1900" b="1" dirty="0">
                <a:solidFill>
                  <a:srgbClr val="7030A0"/>
                </a:solidFill>
                <a:effectLst/>
                <a:ea typeface="Times New Roman" panose="02020603050405020304" pitchFamily="18" charset="0"/>
              </a:rPr>
              <a:t>выше среднего </a:t>
            </a:r>
            <a:r>
              <a:rPr lang="ru-RU" sz="1900" dirty="0">
                <a:solidFill>
                  <a:srgbClr val="7030A0"/>
                </a:solidFill>
                <a:effectLst/>
                <a:ea typeface="Times New Roman" panose="02020603050405020304" pitchFamily="18" charset="0"/>
              </a:rPr>
              <a:t>оклада подразделения, где они работают. </a:t>
            </a:r>
            <a:br>
              <a:rPr lang="ru-RU" sz="1900" dirty="0">
                <a:solidFill>
                  <a:srgbClr val="7030A0"/>
                </a:solidFill>
                <a:effectLst/>
                <a:ea typeface="Times New Roman" panose="02020603050405020304" pitchFamily="18" charset="0"/>
              </a:rPr>
            </a:br>
            <a:r>
              <a:rPr lang="ru-RU" sz="1900" dirty="0">
                <a:solidFill>
                  <a:srgbClr val="7030A0"/>
                </a:solidFill>
                <a:effectLst/>
                <a:ea typeface="Times New Roman" panose="02020603050405020304" pitchFamily="18" charset="0"/>
              </a:rPr>
              <a:t>Исключить из выборки сотрудников, которые не приписаны ни к какому подразделению </a:t>
            </a:r>
            <a:br>
              <a:rPr lang="ru-RU" sz="1900" dirty="0">
                <a:solidFill>
                  <a:srgbClr val="7030A0"/>
                </a:solidFill>
                <a:effectLst/>
                <a:ea typeface="Times New Roman" panose="02020603050405020304" pitchFamily="18" charset="0"/>
              </a:rPr>
            </a:br>
            <a:r>
              <a:rPr lang="ru-RU" sz="1900" i="1" u="sng" dirty="0">
                <a:solidFill>
                  <a:srgbClr val="7030A0"/>
                </a:solidFill>
                <a:effectLst/>
                <a:ea typeface="Times New Roman" panose="02020603050405020304" pitchFamily="18" charset="0"/>
              </a:rPr>
              <a:t>Поля:</a:t>
            </a:r>
            <a:r>
              <a:rPr lang="ru-RU" sz="1900" dirty="0">
                <a:solidFill>
                  <a:srgbClr val="7030A0"/>
                </a:solidFill>
                <a:effectLst/>
                <a:ea typeface="Times New Roman" panose="02020603050405020304" pitchFamily="18" charset="0"/>
              </a:rPr>
              <a:t> идентификатор сотрудника, фамилия сотрудника, оклад, идентификатор подразделения, к которому приписан сотрудник; </a:t>
            </a:r>
            <a:br>
              <a:rPr lang="ru-RU" sz="1900" dirty="0">
                <a:solidFill>
                  <a:srgbClr val="7030A0"/>
                </a:solidFill>
                <a:effectLst/>
                <a:ea typeface="Times New Roman" panose="02020603050405020304" pitchFamily="18" charset="0"/>
              </a:rPr>
            </a:br>
            <a:r>
              <a:rPr lang="ru-RU" sz="1900" i="1" u="sng" dirty="0">
                <a:solidFill>
                  <a:srgbClr val="7030A0"/>
                </a:solidFill>
                <a:effectLst/>
                <a:ea typeface="Times New Roman" panose="02020603050405020304" pitchFamily="18" charset="0"/>
              </a:rPr>
              <a:t>Сортировка:</a:t>
            </a:r>
            <a:r>
              <a:rPr lang="ru-RU" sz="1900" dirty="0">
                <a:solidFill>
                  <a:srgbClr val="7030A0"/>
                </a:solidFill>
                <a:effectLst/>
                <a:ea typeface="Times New Roman" panose="02020603050405020304" pitchFamily="18" charset="0"/>
              </a:rPr>
              <a:t> идентификатор подразделения, оклад, фамилия сотрудника</a:t>
            </a:r>
            <a:endParaRPr lang="ru-RU" sz="1900" dirty="0">
              <a:solidFill>
                <a:srgbClr val="7030A0"/>
              </a:solidFill>
              <a:effectLst/>
              <a:ea typeface="SimSun" panose="02010600030101010101" pitchFamily="2" charset="-122"/>
            </a:endParaRP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ru-RU" sz="2600" b="1" u="sng" dirty="0">
                <a:solidFill>
                  <a:srgbClr val="7030A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Решение 1</a:t>
            </a:r>
            <a:endParaRPr lang="ru-RU" sz="2600" dirty="0">
              <a:solidFill>
                <a:srgbClr val="7030A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1800" b="1" dirty="0"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SELECT </a:t>
            </a:r>
            <a:r>
              <a:rPr lang="en-US" sz="1800" b="1" dirty="0" err="1"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employee_id</a:t>
            </a:r>
            <a:r>
              <a:rPr lang="en-US" sz="1800" b="1" dirty="0"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, </a:t>
            </a:r>
            <a:r>
              <a:rPr lang="en-US" sz="1800" b="1" dirty="0" err="1"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last_name</a:t>
            </a:r>
            <a:r>
              <a:rPr lang="en-US" sz="1800" b="1" dirty="0"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, salary, </a:t>
            </a:r>
            <a:r>
              <a:rPr lang="en-US" sz="1800" b="1" dirty="0" err="1"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department_id</a:t>
            </a:r>
            <a:endParaRPr lang="ru-RU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1800" b="1" dirty="0"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FROM employees </a:t>
            </a:r>
            <a:r>
              <a:rPr lang="en-US" sz="1800" b="1" dirty="0">
                <a:solidFill>
                  <a:srgbClr val="3333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emp</a:t>
            </a:r>
            <a:endParaRPr lang="ru-RU" sz="1800" dirty="0">
              <a:solidFill>
                <a:srgbClr val="3333FF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1800" b="1" dirty="0"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WHERE salary &gt; </a:t>
            </a:r>
            <a:endParaRPr lang="ru-RU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1800" b="1" dirty="0"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(SELECT AVG(salary) </a:t>
            </a:r>
            <a:endParaRPr lang="ru-RU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1800" b="1" dirty="0"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FROM employees </a:t>
            </a:r>
            <a:endParaRPr lang="ru-RU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1800" b="1" dirty="0"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WHERE </a:t>
            </a:r>
            <a:r>
              <a:rPr lang="en-US" sz="1800" b="1" dirty="0" err="1"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department_id</a:t>
            </a:r>
            <a:r>
              <a:rPr lang="en-US" sz="1800" b="1" dirty="0"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=</a:t>
            </a:r>
            <a:r>
              <a:rPr lang="en-US" sz="1800" b="1" dirty="0" err="1">
                <a:solidFill>
                  <a:srgbClr val="3333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emp</a:t>
            </a:r>
            <a:r>
              <a:rPr lang="en-US" sz="1800" b="1" dirty="0" err="1"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.department_id</a:t>
            </a:r>
            <a:r>
              <a:rPr lang="en-US" sz="1800" b="1" dirty="0"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AND </a:t>
            </a:r>
            <a:r>
              <a:rPr lang="en-US" sz="1800" b="1" dirty="0" err="1"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department_id</a:t>
            </a:r>
            <a:r>
              <a:rPr lang="en-US" sz="1800" b="1" dirty="0"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IS NOT NULL)</a:t>
            </a:r>
            <a:endParaRPr lang="ru-RU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1800" b="1" dirty="0"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ORDER BY </a:t>
            </a:r>
            <a:r>
              <a:rPr lang="en-US" sz="1800" b="1" dirty="0" err="1"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department_id</a:t>
            </a:r>
            <a:r>
              <a:rPr lang="en-US" sz="1800" b="1" dirty="0"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, salary, </a:t>
            </a:r>
            <a:r>
              <a:rPr lang="en-US" sz="1800" b="1" dirty="0" err="1"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last_name</a:t>
            </a:r>
            <a:endParaRPr lang="ru-RU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ru-RU" sz="2900" b="1" u="sng" dirty="0">
                <a:solidFill>
                  <a:srgbClr val="7030A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Решение 2</a:t>
            </a:r>
            <a:endParaRPr lang="ru-RU" sz="2900" dirty="0">
              <a:solidFill>
                <a:srgbClr val="7030A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1800" b="1" dirty="0"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SELECT EMPLOYEE_ID, LAST_NAME, SALARY, DEPARTMENT_ID </a:t>
            </a:r>
            <a:endParaRPr lang="ru-RU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1800" b="1" dirty="0"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FROM EMPLOYEES </a:t>
            </a:r>
            <a:r>
              <a:rPr lang="en-US" sz="1800" b="1" dirty="0">
                <a:solidFill>
                  <a:srgbClr val="3333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EMP_1 </a:t>
            </a:r>
            <a:endParaRPr lang="ru-RU" sz="1800" dirty="0">
              <a:solidFill>
                <a:srgbClr val="3333FF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1800" b="1" dirty="0"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WHERE SALARY &gt; </a:t>
            </a:r>
            <a:endParaRPr lang="ru-RU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1800" b="1" dirty="0"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(SELECT AVG(SALARY) </a:t>
            </a:r>
            <a:endParaRPr lang="ru-RU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1800" b="1" dirty="0"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FROM EMPLOYEES </a:t>
            </a:r>
            <a:r>
              <a:rPr lang="en-US" sz="1800" b="1" dirty="0">
                <a:solidFill>
                  <a:srgbClr val="3333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EMP_2 </a:t>
            </a:r>
            <a:endParaRPr lang="ru-RU" sz="1800" dirty="0">
              <a:solidFill>
                <a:srgbClr val="3333FF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1800" b="1" dirty="0"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WHERE </a:t>
            </a:r>
            <a:r>
              <a:rPr lang="en-US" sz="1800" b="1" dirty="0">
                <a:solidFill>
                  <a:srgbClr val="3333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EMP_1</a:t>
            </a:r>
            <a:r>
              <a:rPr lang="en-US" sz="1800" b="1" dirty="0"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.DEPARTMENT_ID = </a:t>
            </a:r>
            <a:r>
              <a:rPr lang="en-US" sz="1800" b="1" dirty="0">
                <a:solidFill>
                  <a:srgbClr val="3333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EMP_2</a:t>
            </a:r>
            <a:r>
              <a:rPr lang="en-US" sz="1800" b="1" dirty="0"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.DEPARTMENT_ID) </a:t>
            </a:r>
            <a:endParaRPr lang="ru-RU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4958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1800" b="1" dirty="0"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AND DEPARTMENT_ID IS NOT NULL </a:t>
            </a:r>
            <a:endParaRPr lang="ru-RU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1800" b="1" dirty="0"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ORDER BY DEPARTMENT_ID, SALARY, LAST_NAME</a:t>
            </a:r>
            <a:endParaRPr lang="ru-RU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2772" name="Номер слайда 3"/>
          <p:cNvSpPr>
            <a:spLocks noGrp="1"/>
          </p:cNvSpPr>
          <p:nvPr>
            <p:ph type="sldNum" sz="quarter" idx="11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3B0A1FA4-068E-49F4-90F2-51E26FA045A9}" type="slidenum">
              <a:rPr lang="ru-RU" altLang="ru-RU" smtClean="0"/>
              <a:pPr/>
              <a:t>39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6351425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2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7" dur="5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2" dur="500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7" dur="500"/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2" dur="500"/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Заголовок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39775"/>
          </a:xfrm>
        </p:spPr>
        <p:txBody>
          <a:bodyPr/>
          <a:lstStyle/>
          <a:p>
            <a:pPr algn="ctr"/>
            <a:r>
              <a:rPr lang="ru-RU" altLang="ru-RU" sz="3600" dirty="0">
                <a:solidFill>
                  <a:schemeClr val="bg2"/>
                </a:solidFill>
              </a:rPr>
              <a:t>Операторы </a:t>
            </a:r>
            <a:r>
              <a:rPr lang="en-US" altLang="ru-RU" sz="3600" dirty="0">
                <a:solidFill>
                  <a:schemeClr val="bg2"/>
                </a:solidFill>
              </a:rPr>
              <a:t>JOIN</a:t>
            </a:r>
            <a:endParaRPr lang="ru-RU" altLang="ru-RU" sz="36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14313" y="785813"/>
            <a:ext cx="8929687" cy="5857875"/>
          </a:xfrm>
        </p:spPr>
        <p:txBody>
          <a:bodyPr>
            <a:normAutofit/>
          </a:bodyPr>
          <a:lstStyle/>
          <a:p>
            <a:pPr marL="0" indent="0">
              <a:buNone/>
              <a:defRPr/>
            </a:pPr>
            <a:endParaRPr lang="ru-RU" sz="1800" dirty="0"/>
          </a:p>
          <a:p>
            <a:pPr marL="0" indent="0">
              <a:buNone/>
              <a:defRPr/>
            </a:pPr>
            <a:r>
              <a:rPr lang="ru-RU" sz="1800" b="1" u="sng" dirty="0"/>
              <a:t>Задание</a:t>
            </a:r>
            <a:r>
              <a:rPr lang="ru-RU" sz="1800" dirty="0"/>
              <a:t> </a:t>
            </a:r>
          </a:p>
          <a:p>
            <a:pPr marL="0" indent="0">
              <a:buNone/>
              <a:defRPr/>
            </a:pPr>
            <a:r>
              <a:rPr lang="ru-RU" sz="1800" dirty="0"/>
              <a:t>Вывести список </a:t>
            </a:r>
            <a:r>
              <a:rPr lang="ru-RU" sz="1800" b="1" dirty="0"/>
              <a:t>всех</a:t>
            </a:r>
            <a:r>
              <a:rPr lang="ru-RU" sz="1800" dirty="0"/>
              <a:t> продавцов и обслуживаемых ими покупателей.</a:t>
            </a:r>
          </a:p>
          <a:p>
            <a:pPr marL="0" indent="0">
              <a:buNone/>
              <a:defRPr/>
            </a:pPr>
            <a:r>
              <a:rPr lang="ru-RU" sz="1800" b="1" u="sng" dirty="0"/>
              <a:t>Замечание</a:t>
            </a:r>
            <a:r>
              <a:rPr lang="ru-RU" sz="1800" dirty="0"/>
              <a:t>. Некоторые продавцы могут еще не обслужить ни одного покупателя</a:t>
            </a:r>
          </a:p>
        </p:txBody>
      </p:sp>
      <p:sp>
        <p:nvSpPr>
          <p:cNvPr id="32772" name="Номер слайда 3"/>
          <p:cNvSpPr>
            <a:spLocks noGrp="1"/>
          </p:cNvSpPr>
          <p:nvPr>
            <p:ph type="sldNum" sz="quarter" idx="11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3B0A1FA4-068E-49F4-90F2-51E26FA045A9}" type="slidenum">
              <a:rPr lang="ru-RU" altLang="ru-RU" smtClean="0"/>
              <a:pPr/>
              <a:t>40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368817262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Заголовок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39775"/>
          </a:xfrm>
        </p:spPr>
        <p:txBody>
          <a:bodyPr/>
          <a:lstStyle/>
          <a:p>
            <a:pPr algn="ctr"/>
            <a:r>
              <a:rPr lang="ru-RU" altLang="ru-RU" sz="3600" dirty="0">
                <a:solidFill>
                  <a:schemeClr val="bg2"/>
                </a:solidFill>
              </a:rPr>
              <a:t>Коррелированные подзапросы </a:t>
            </a:r>
            <a:endParaRPr lang="ru-RU" altLang="ru-RU" sz="36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14313" y="785813"/>
            <a:ext cx="8929687" cy="5857875"/>
          </a:xfrm>
        </p:spPr>
        <p:txBody>
          <a:bodyPr>
            <a:normAutofit/>
          </a:bodyPr>
          <a:lstStyle/>
          <a:p>
            <a:pPr marL="0" indent="0">
              <a:buNone/>
              <a:defRPr/>
            </a:pPr>
            <a:endParaRPr lang="ru-RU" sz="1800" dirty="0"/>
          </a:p>
          <a:p>
            <a:pPr marL="0" indent="0">
              <a:buNone/>
              <a:defRPr/>
            </a:pPr>
            <a:r>
              <a:rPr lang="ru-RU" sz="1800" b="1" u="sng" dirty="0"/>
              <a:t>Задание</a:t>
            </a:r>
            <a:r>
              <a:rPr lang="ru-RU" sz="1800" dirty="0"/>
              <a:t> </a:t>
            </a:r>
          </a:p>
          <a:p>
            <a:pPr marL="0" indent="0">
              <a:buNone/>
              <a:defRPr/>
            </a:pPr>
            <a:r>
              <a:rPr lang="ru-RU" sz="1800" dirty="0"/>
              <a:t>Вывести список </a:t>
            </a:r>
            <a:r>
              <a:rPr lang="ru-RU" sz="1800" b="1" dirty="0"/>
              <a:t>всех</a:t>
            </a:r>
            <a:r>
              <a:rPr lang="ru-RU" sz="1800" dirty="0"/>
              <a:t> продавцов и обслуживаемых ими покупателей.</a:t>
            </a:r>
          </a:p>
          <a:p>
            <a:pPr marL="0" indent="0">
              <a:buNone/>
              <a:defRPr/>
            </a:pPr>
            <a:r>
              <a:rPr lang="ru-RU" sz="1800" b="1" u="sng" dirty="0"/>
              <a:t>Замечание</a:t>
            </a:r>
            <a:r>
              <a:rPr lang="ru-RU" sz="1800" dirty="0"/>
              <a:t>. Некоторые продавцы могут еще не обслужить ни одного покупателя</a:t>
            </a:r>
          </a:p>
        </p:txBody>
      </p:sp>
      <p:sp>
        <p:nvSpPr>
          <p:cNvPr id="32772" name="Номер слайда 3"/>
          <p:cNvSpPr>
            <a:spLocks noGrp="1"/>
          </p:cNvSpPr>
          <p:nvPr>
            <p:ph type="sldNum" sz="quarter" idx="11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3B0A1FA4-068E-49F4-90F2-51E26FA045A9}" type="slidenum">
              <a:rPr lang="ru-RU" altLang="ru-RU" smtClean="0"/>
              <a:pPr/>
              <a:t>41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675387332"/>
      </p:ext>
    </p:extLst>
  </p:cSld>
  <p:clrMapOvr>
    <a:masterClrMapping/>
  </p:clrMapOvr>
</p:sld>
</file>

<file path=ppt/theme/theme1.xml><?xml version="1.0" encoding="utf-8"?>
<a:theme xmlns:a="http://schemas.openxmlformats.org/drawingml/2006/main" name="Пиксел">
  <a:themeElements>
    <a:clrScheme name="Пиксел 12">
      <a:dk1>
        <a:srgbClr val="000000"/>
      </a:dk1>
      <a:lt1>
        <a:srgbClr val="FFFFFF"/>
      </a:lt1>
      <a:dk2>
        <a:srgbClr val="000000"/>
      </a:dk2>
      <a:lt2>
        <a:srgbClr val="00007D"/>
      </a:lt2>
      <a:accent1>
        <a:srgbClr val="9999FF"/>
      </a:accent1>
      <a:accent2>
        <a:srgbClr val="9999CC"/>
      </a:accent2>
      <a:accent3>
        <a:srgbClr val="FFFFFF"/>
      </a:accent3>
      <a:accent4>
        <a:srgbClr val="000000"/>
      </a:accent4>
      <a:accent5>
        <a:srgbClr val="CACAFF"/>
      </a:accent5>
      <a:accent6>
        <a:srgbClr val="8A8AB9"/>
      </a:accent6>
      <a:hlink>
        <a:srgbClr val="666699"/>
      </a:hlink>
      <a:folHlink>
        <a:srgbClr val="CCCCE6"/>
      </a:folHlink>
    </a:clrScheme>
    <a:fontScheme name="Пиксел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Пиксел 1">
        <a:dk1>
          <a:srgbClr val="0066FF"/>
        </a:dk1>
        <a:lt1>
          <a:srgbClr val="FFFFFF"/>
        </a:lt1>
        <a:dk2>
          <a:srgbClr val="000066"/>
        </a:dk2>
        <a:lt2>
          <a:srgbClr val="FFFFFF"/>
        </a:lt2>
        <a:accent1>
          <a:srgbClr val="6699FF"/>
        </a:accent1>
        <a:accent2>
          <a:srgbClr val="3333FF"/>
        </a:accent2>
        <a:accent3>
          <a:srgbClr val="AAAAB8"/>
        </a:accent3>
        <a:accent4>
          <a:srgbClr val="DADADA"/>
        </a:accent4>
        <a:accent5>
          <a:srgbClr val="B8CAFF"/>
        </a:accent5>
        <a:accent6>
          <a:srgbClr val="2D2DE7"/>
        </a:accent6>
        <a:hlink>
          <a:srgbClr val="FFCC00"/>
        </a:hlink>
        <a:folHlink>
          <a:srgbClr val="00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Пиксел 2">
        <a:dk1>
          <a:srgbClr val="009999"/>
        </a:dk1>
        <a:lt1>
          <a:srgbClr val="FFFFFF"/>
        </a:lt1>
        <a:dk2>
          <a:srgbClr val="334B49"/>
        </a:dk2>
        <a:lt2>
          <a:srgbClr val="FFFFFF"/>
        </a:lt2>
        <a:accent1>
          <a:srgbClr val="33CCCC"/>
        </a:accent1>
        <a:accent2>
          <a:srgbClr val="008080"/>
        </a:accent2>
        <a:accent3>
          <a:srgbClr val="ADB1B1"/>
        </a:accent3>
        <a:accent4>
          <a:srgbClr val="DADADA"/>
        </a:accent4>
        <a:accent5>
          <a:srgbClr val="ADE2E2"/>
        </a:accent5>
        <a:accent6>
          <a:srgbClr val="007373"/>
        </a:accent6>
        <a:hlink>
          <a:srgbClr val="FFCC00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Пиксел 3">
        <a:dk1>
          <a:srgbClr val="006699"/>
        </a:dk1>
        <a:lt1>
          <a:srgbClr val="FFFFFF"/>
        </a:lt1>
        <a:dk2>
          <a:srgbClr val="333399"/>
        </a:dk2>
        <a:lt2>
          <a:srgbClr val="FFFFFF"/>
        </a:lt2>
        <a:accent1>
          <a:srgbClr val="0099CC"/>
        </a:accent1>
        <a:accent2>
          <a:srgbClr val="0386AF"/>
        </a:accent2>
        <a:accent3>
          <a:srgbClr val="ADADCA"/>
        </a:accent3>
        <a:accent4>
          <a:srgbClr val="DADADA"/>
        </a:accent4>
        <a:accent5>
          <a:srgbClr val="AACAE2"/>
        </a:accent5>
        <a:accent6>
          <a:srgbClr val="02799E"/>
        </a:accent6>
        <a:hlink>
          <a:srgbClr val="FFCC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Пиксел 4">
        <a:dk1>
          <a:srgbClr val="008080"/>
        </a:dk1>
        <a:lt1>
          <a:srgbClr val="FFFFFF"/>
        </a:lt1>
        <a:dk2>
          <a:srgbClr val="2F978D"/>
        </a:dk2>
        <a:lt2>
          <a:srgbClr val="FFFFFF"/>
        </a:lt2>
        <a:accent1>
          <a:srgbClr val="0099FF"/>
        </a:accent1>
        <a:accent2>
          <a:srgbClr val="009999"/>
        </a:accent2>
        <a:accent3>
          <a:srgbClr val="ADC9C5"/>
        </a:accent3>
        <a:accent4>
          <a:srgbClr val="DADADA"/>
        </a:accent4>
        <a:accent5>
          <a:srgbClr val="AACAFF"/>
        </a:accent5>
        <a:accent6>
          <a:srgbClr val="008A8A"/>
        </a:accent6>
        <a:hlink>
          <a:srgbClr val="FFFFCC"/>
        </a:hlink>
        <a:folHlink>
          <a:srgbClr val="70CAC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Пиксел 5">
        <a:dk1>
          <a:srgbClr val="822504"/>
        </a:dk1>
        <a:lt1>
          <a:srgbClr val="FFFFFF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9E2A06"/>
        </a:accent2>
        <a:accent3>
          <a:srgbClr val="ADAAAA"/>
        </a:accent3>
        <a:accent4>
          <a:srgbClr val="DADADA"/>
        </a:accent4>
        <a:accent5>
          <a:srgbClr val="FFCAAA"/>
        </a:accent5>
        <a:accent6>
          <a:srgbClr val="8F2505"/>
        </a:accent6>
        <a:hlink>
          <a:srgbClr val="FF3300"/>
        </a:hlink>
        <a:folHlink>
          <a:srgbClr val="7C070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Пиксел 6">
        <a:dk1>
          <a:srgbClr val="336600"/>
        </a:dk1>
        <a:lt1>
          <a:srgbClr val="FFFFFF"/>
        </a:lt1>
        <a:dk2>
          <a:srgbClr val="4A7911"/>
        </a:dk2>
        <a:lt2>
          <a:srgbClr val="FFFFFF"/>
        </a:lt2>
        <a:accent1>
          <a:srgbClr val="666633"/>
        </a:accent1>
        <a:accent2>
          <a:srgbClr val="669900"/>
        </a:accent2>
        <a:accent3>
          <a:srgbClr val="B1BEAA"/>
        </a:accent3>
        <a:accent4>
          <a:srgbClr val="DADADA"/>
        </a:accent4>
        <a:accent5>
          <a:srgbClr val="B8B8AD"/>
        </a:accent5>
        <a:accent6>
          <a:srgbClr val="5C8A00"/>
        </a:accent6>
        <a:hlink>
          <a:srgbClr val="FFCC00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Пиксел 7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Пиксел 8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FFFFFF"/>
        </a:accent3>
        <a:accent4>
          <a:srgbClr val="002A00"/>
        </a:accent4>
        <a:accent5>
          <a:srgbClr val="E2E2AA"/>
        </a:accent5>
        <a:accent6>
          <a:srgbClr val="5C8A00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Пиксел 9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FFFFFF"/>
        </a:accent3>
        <a:accent4>
          <a:srgbClr val="000000"/>
        </a:accent4>
        <a:accent5>
          <a:srgbClr val="FFE2E2"/>
        </a:accent5>
        <a:accent6>
          <a:srgbClr val="6D046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Пиксел 10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39310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Пиксел 11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EB0C3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Пиксел 12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8A8AB9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Pixel</Template>
  <TotalTime>6149</TotalTime>
  <Words>3782</Words>
  <Application>Microsoft Office PowerPoint</Application>
  <PresentationFormat>Экран (4:3)</PresentationFormat>
  <Paragraphs>924</Paragraphs>
  <Slides>41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10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41</vt:i4>
      </vt:variant>
    </vt:vector>
  </HeadingPairs>
  <TitlesOfParts>
    <vt:vector size="52" baseType="lpstr">
      <vt:lpstr>SimSun</vt:lpstr>
      <vt:lpstr>Arial</vt:lpstr>
      <vt:lpstr>Arial Black</vt:lpstr>
      <vt:lpstr>Calibri</vt:lpstr>
      <vt:lpstr>Consolas</vt:lpstr>
      <vt:lpstr>Courier</vt:lpstr>
      <vt:lpstr>Courier New</vt:lpstr>
      <vt:lpstr>Symbol</vt:lpstr>
      <vt:lpstr>Times New Roman</vt:lpstr>
      <vt:lpstr>Wingdings</vt:lpstr>
      <vt:lpstr>Пиксел</vt:lpstr>
      <vt:lpstr>SQL-92 Манипулирование данными</vt:lpstr>
      <vt:lpstr>Операторы манипулирования</vt:lpstr>
      <vt:lpstr>INSERT</vt:lpstr>
      <vt:lpstr>INSERT.Пример </vt:lpstr>
      <vt:lpstr>INSERT. Пример </vt:lpstr>
      <vt:lpstr>DELETE</vt:lpstr>
      <vt:lpstr>UPDATE</vt:lpstr>
      <vt:lpstr>Поиск данных в БД</vt:lpstr>
      <vt:lpstr>Схема выполнения SELECT оператора</vt:lpstr>
      <vt:lpstr>Семантика SELECT</vt:lpstr>
      <vt:lpstr>Фраза SELECT</vt:lpstr>
      <vt:lpstr>ПОКУПКИ</vt:lpstr>
      <vt:lpstr>Примеры (2)</vt:lpstr>
      <vt:lpstr>Примеры (3)</vt:lpstr>
      <vt:lpstr>Фраза FROM</vt:lpstr>
      <vt:lpstr>Фраза WHERE</vt:lpstr>
      <vt:lpstr>Таблицы истинности</vt:lpstr>
      <vt:lpstr>Таблица ПРОДАВЦЫ</vt:lpstr>
      <vt:lpstr>Операторы в выражениях. BETWEEN. IN</vt:lpstr>
      <vt:lpstr>Операторы в выражениях. LIKE. NULL</vt:lpstr>
      <vt:lpstr>Таблица ПОКУПАТЕЛИ</vt:lpstr>
      <vt:lpstr>Примеры</vt:lpstr>
      <vt:lpstr>Запросы к нескольким таблицам</vt:lpstr>
      <vt:lpstr>SELECT ПОКУПАТЕЛИ.ИмяП, ПРОДАВЦЫ.ИмяПР FROM ПОКУПАТЕЛИ, ПОКУПКИ, ПРОДАВЦЫ WHERE ПРОДАВЦЫ.НомПР= ПОКУПКИ.НомПР and ПОКУПАТЕЛИ.НомП= ПОКУПКИ.НомП</vt:lpstr>
      <vt:lpstr>SELECT DISTINCT ПОКУПАТЕЛИ.ИмяП, ПРОДАВЦЫ.ИмяПР FROM ПОКУПАТЕЛИ, ПОКУПКИ, ПРОДАВЦЫ WHERE ПРОДАВЦЫ.НомПР= ПОКУПКИ.НомПР and    ПОКУПАТЕЛИ.НомП= ПОКУПКИ.НомП</vt:lpstr>
      <vt:lpstr>SELECT DISTINCT ПОКУПАТЕЛИ.ИмяП, ПРОДАВЦЫ.ИмяПР FROM ПОКУПАТЕЛИ JOIN ПОКУПКИ on ПОКУПАТЕЛИ.НомП= ПОКУПКИ.НомП JOIN ПРОДАВЦЫ on ПРОДАВЦЫ.НомПР= ПОКУПКИ.НомПР  </vt:lpstr>
      <vt:lpstr>Агрегатные функции</vt:lpstr>
      <vt:lpstr>Примеры</vt:lpstr>
      <vt:lpstr>Примеры (4)</vt:lpstr>
      <vt:lpstr>Примеры (4)</vt:lpstr>
      <vt:lpstr>Подзапросы</vt:lpstr>
      <vt:lpstr>Подзапросы (примеры)</vt:lpstr>
      <vt:lpstr>Подзапросы (пример)</vt:lpstr>
      <vt:lpstr>Подзапросы (примеры)</vt:lpstr>
      <vt:lpstr>Предикаты в подзапросах.</vt:lpstr>
      <vt:lpstr>Предикаты в подзапросах</vt:lpstr>
      <vt:lpstr>Предикаты в подзапросах</vt:lpstr>
      <vt:lpstr>Коррелированные подзапросы </vt:lpstr>
      <vt:lpstr>Подзапросы (демо БД Oracle)</vt:lpstr>
      <vt:lpstr>Операторы JOIN</vt:lpstr>
      <vt:lpstr>Коррелированные подзапросы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Реляционная модель</dc:title>
  <dc:creator>Борис</dc:creator>
  <cp:lastModifiedBy>Def</cp:lastModifiedBy>
  <cp:revision>285</cp:revision>
  <dcterms:created xsi:type="dcterms:W3CDTF">2012-10-04T16:47:37Z</dcterms:created>
  <dcterms:modified xsi:type="dcterms:W3CDTF">2022-10-06T05:08:42Z</dcterms:modified>
</cp:coreProperties>
</file>