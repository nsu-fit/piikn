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38.xml" ContentType="application/vnd.openxmlformats-officedocument.presentationml.tags+xml"/>
  <Override PartName="/ppt/notesSlides/notesSlide1.xml" ContentType="application/vnd.openxmlformats-officedocument.presentationml.notesSlide+xml"/>
  <Override PartName="/ppt/tags/tag39.xml" ContentType="application/vnd.openxmlformats-officedocument.presentationml.tags+xml"/>
  <Override PartName="/ppt/notesSlides/notesSlide2.xml" ContentType="application/vnd.openxmlformats-officedocument.presentationml.notesSlide+xml"/>
  <Override PartName="/ppt/tags/tag40.xml" ContentType="application/vnd.openxmlformats-officedocument.presentationml.tags+xml"/>
  <Override PartName="/ppt/notesSlides/notesSlide3.xml" ContentType="application/vnd.openxmlformats-officedocument.presentationml.notesSlide+xml"/>
  <Override PartName="/ppt/tags/tag41.xml" ContentType="application/vnd.openxmlformats-officedocument.presentationml.tags+xml"/>
  <Override PartName="/ppt/notesSlides/notesSlide4.xml" ContentType="application/vnd.openxmlformats-officedocument.presentationml.notesSlide+xml"/>
  <Override PartName="/ppt/tags/tag42.xml" ContentType="application/vnd.openxmlformats-officedocument.presentationml.tags+xml"/>
  <Override PartName="/ppt/notesSlides/notesSlide5.xml" ContentType="application/vnd.openxmlformats-officedocument.presentationml.notesSlide+xml"/>
  <Override PartName="/ppt/tags/tag43.xml" ContentType="application/vnd.openxmlformats-officedocument.presentationml.tags+xml"/>
  <Override PartName="/ppt/notesSlides/notesSlide6.xml" ContentType="application/vnd.openxmlformats-officedocument.presentationml.notesSlide+xml"/>
  <Override PartName="/ppt/tags/tag44.xml" ContentType="application/vnd.openxmlformats-officedocument.presentationml.tags+xml"/>
  <Override PartName="/ppt/notesSlides/notesSlide7.xml" ContentType="application/vnd.openxmlformats-officedocument.presentationml.notesSlide+xml"/>
  <Override PartName="/ppt/tags/tag45.xml" ContentType="application/vnd.openxmlformats-officedocument.presentationml.tags+xml"/>
  <Override PartName="/ppt/notesSlides/notesSlide8.xml" ContentType="application/vnd.openxmlformats-officedocument.presentationml.notesSlide+xml"/>
  <Override PartName="/ppt/tags/tag46.xml" ContentType="application/vnd.openxmlformats-officedocument.presentationml.tags+xml"/>
  <Override PartName="/ppt/notesSlides/notesSlide9.xml" ContentType="application/vnd.openxmlformats-officedocument.presentationml.notesSlide+xml"/>
  <Override PartName="/ppt/tags/tag47.xml" ContentType="application/vnd.openxmlformats-officedocument.presentationml.tags+xml"/>
  <Override PartName="/ppt/notesSlides/notesSlide10.xml" ContentType="application/vnd.openxmlformats-officedocument.presentationml.notesSlide+xml"/>
  <Override PartName="/ppt/tags/tag48.xml" ContentType="application/vnd.openxmlformats-officedocument.presentationml.tags+xml"/>
  <Override PartName="/ppt/notesSlides/notesSlide11.xml" ContentType="application/vnd.openxmlformats-officedocument.presentationml.notesSlide+xml"/>
  <Override PartName="/ppt/tags/tag49.xml" ContentType="application/vnd.openxmlformats-officedocument.presentationml.tags+xml"/>
  <Override PartName="/ppt/notesSlides/notesSlide12.xml" ContentType="application/vnd.openxmlformats-officedocument.presentationml.notesSlide+xml"/>
  <Override PartName="/ppt/tags/tag50.xml" ContentType="application/vnd.openxmlformats-officedocument.presentationml.tags+xml"/>
  <Override PartName="/ppt/notesSlides/notesSlide13.xml" ContentType="application/vnd.openxmlformats-officedocument.presentationml.notesSlide+xml"/>
  <Override PartName="/ppt/tags/tag51.xml" ContentType="application/vnd.openxmlformats-officedocument.presentationml.tags+xml"/>
  <Override PartName="/ppt/notesSlides/notesSlide14.xml" ContentType="application/vnd.openxmlformats-officedocument.presentationml.notesSlide+xml"/>
  <Override PartName="/ppt/tags/tag52.xml" ContentType="application/vnd.openxmlformats-officedocument.presentationml.tags+xml"/>
  <Override PartName="/ppt/notesSlides/notesSlide15.xml" ContentType="application/vnd.openxmlformats-officedocument.presentationml.notesSlide+xml"/>
  <Override PartName="/ppt/tags/tag53.xml" ContentType="application/vnd.openxmlformats-officedocument.presentationml.tags+xml"/>
  <Override PartName="/ppt/notesSlides/notesSlide16.xml" ContentType="application/vnd.openxmlformats-officedocument.presentationml.notesSlide+xml"/>
  <Override PartName="/ppt/tags/tag54.xml" ContentType="application/vnd.openxmlformats-officedocument.presentationml.tags+xml"/>
  <Override PartName="/ppt/notesSlides/notesSlide17.xml" ContentType="application/vnd.openxmlformats-officedocument.presentationml.notesSlide+xml"/>
  <Override PartName="/ppt/tags/tag55.xml" ContentType="application/vnd.openxmlformats-officedocument.presentationml.tags+xml"/>
  <Override PartName="/ppt/notesSlides/notesSlide18.xml" ContentType="application/vnd.openxmlformats-officedocument.presentationml.notesSlide+xml"/>
  <Override PartName="/ppt/tags/tag56.xml" ContentType="application/vnd.openxmlformats-officedocument.presentationml.tags+xml"/>
  <Override PartName="/ppt/notesSlides/notesSlide19.xml" ContentType="application/vnd.openxmlformats-officedocument.presentationml.notesSlide+xml"/>
  <Override PartName="/ppt/tags/tag57.xml" ContentType="application/vnd.openxmlformats-officedocument.presentationml.tags+xml"/>
  <Override PartName="/ppt/notesSlides/notesSlide20.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21.xml" ContentType="application/vnd.openxmlformats-officedocument.presentationml.notesSlide+xml"/>
  <Override PartName="/ppt/tags/tag63.xml" ContentType="application/vnd.openxmlformats-officedocument.presentationml.tags+xml"/>
  <Override PartName="/ppt/notesSlides/notesSlide22.xml" ContentType="application/vnd.openxmlformats-officedocument.presentationml.notesSlide+xml"/>
  <Override PartName="/ppt/tags/tag64.xml" ContentType="application/vnd.openxmlformats-officedocument.presentationml.tags+xml"/>
  <Override PartName="/ppt/notesSlides/notesSlide23.xml" ContentType="application/vnd.openxmlformats-officedocument.presentationml.notesSlide+xml"/>
  <Override PartName="/ppt/tags/tag65.xml" ContentType="application/vnd.openxmlformats-officedocument.presentationml.tags+xml"/>
  <Override PartName="/ppt/notesSlides/notesSlide24.xml" ContentType="application/vnd.openxmlformats-officedocument.presentationml.notesSlide+xml"/>
  <Override PartName="/ppt/tags/tag66.xml" ContentType="application/vnd.openxmlformats-officedocument.presentationml.tags+xml"/>
  <Override PartName="/ppt/notesSlides/notesSlide25.xml" ContentType="application/vnd.openxmlformats-officedocument.presentationml.notesSlide+xml"/>
  <Override PartName="/ppt/tags/tag67.xml" ContentType="application/vnd.openxmlformats-officedocument.presentationml.tags+xml"/>
  <Override PartName="/ppt/notesSlides/notesSlide26.xml" ContentType="application/vnd.openxmlformats-officedocument.presentationml.notesSlide+xml"/>
  <Override PartName="/ppt/tags/tag68.xml" ContentType="application/vnd.openxmlformats-officedocument.presentationml.tags+xml"/>
  <Override PartName="/ppt/notesSlides/notesSlide27.xml" ContentType="application/vnd.openxmlformats-officedocument.presentationml.notesSlide+xml"/>
  <Override PartName="/ppt/tags/tag69.xml" ContentType="application/vnd.openxmlformats-officedocument.presentationml.tags+xml"/>
  <Override PartName="/ppt/notesSlides/notesSlide28.xml" ContentType="application/vnd.openxmlformats-officedocument.presentationml.notesSlide+xml"/>
  <Override PartName="/ppt/tags/tag70.xml" ContentType="application/vnd.openxmlformats-officedocument.presentationml.tags+xml"/>
  <Override PartName="/ppt/notesSlides/notesSlide29.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30.xml" ContentType="application/vnd.openxmlformats-officedocument.presentationml.notesSlide+xml"/>
  <Override PartName="/ppt/tags/tag83.xml" ContentType="application/vnd.openxmlformats-officedocument.presentationml.tags+xml"/>
  <Override PartName="/ppt/notesSlides/notesSlide31.xml" ContentType="application/vnd.openxmlformats-officedocument.presentationml.notesSlide+xml"/>
  <Override PartName="/ppt/tags/tag84.xml" ContentType="application/vnd.openxmlformats-officedocument.presentationml.tags+xml"/>
  <Override PartName="/ppt/notesSlides/notesSlide32.xml" ContentType="application/vnd.openxmlformats-officedocument.presentationml.notesSlide+xml"/>
  <Override PartName="/ppt/tags/tag85.xml" ContentType="application/vnd.openxmlformats-officedocument.presentationml.tags+xml"/>
  <Override PartName="/ppt/notesSlides/notesSlide33.xml" ContentType="application/vnd.openxmlformats-officedocument.presentationml.notesSlide+xml"/>
  <Override PartName="/ppt/tags/tag86.xml" ContentType="application/vnd.openxmlformats-officedocument.presentationml.tags+xml"/>
  <Override PartName="/ppt/notesSlides/notesSlide34.xml" ContentType="application/vnd.openxmlformats-officedocument.presentationml.notesSlide+xml"/>
  <Override PartName="/ppt/tags/tag87.xml" ContentType="application/vnd.openxmlformats-officedocument.presentationml.tags+xml"/>
  <Override PartName="/ppt/notesSlides/notesSlide35.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36.xml" ContentType="application/vnd.openxmlformats-officedocument.presentationml.notesSlide+xml"/>
  <Override PartName="/ppt/tags/tag92.xml" ContentType="application/vnd.openxmlformats-officedocument.presentationml.tags+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 id="2147483776" r:id="rId2"/>
  </p:sldMasterIdLst>
  <p:notesMasterIdLst>
    <p:notesMasterId r:id="rId40"/>
  </p:notesMasterIdLst>
  <p:handoutMasterIdLst>
    <p:handoutMasterId r:id="rId41"/>
  </p:handoutMasterIdLst>
  <p:sldIdLst>
    <p:sldId id="395" r:id="rId3"/>
    <p:sldId id="396" r:id="rId4"/>
    <p:sldId id="313" r:id="rId5"/>
    <p:sldId id="392" r:id="rId6"/>
    <p:sldId id="314" r:id="rId7"/>
    <p:sldId id="331" r:id="rId8"/>
    <p:sldId id="332" r:id="rId9"/>
    <p:sldId id="333" r:id="rId10"/>
    <p:sldId id="334" r:id="rId11"/>
    <p:sldId id="335" r:id="rId12"/>
    <p:sldId id="336" r:id="rId13"/>
    <p:sldId id="337" r:id="rId14"/>
    <p:sldId id="338" r:id="rId15"/>
    <p:sldId id="339" r:id="rId16"/>
    <p:sldId id="384" r:id="rId17"/>
    <p:sldId id="385" r:id="rId18"/>
    <p:sldId id="341" r:id="rId19"/>
    <p:sldId id="342" r:id="rId20"/>
    <p:sldId id="343" r:id="rId21"/>
    <p:sldId id="344" r:id="rId22"/>
    <p:sldId id="393" r:id="rId23"/>
    <p:sldId id="345" r:id="rId24"/>
    <p:sldId id="347" r:id="rId25"/>
    <p:sldId id="389" r:id="rId26"/>
    <p:sldId id="390" r:id="rId27"/>
    <p:sldId id="348" r:id="rId28"/>
    <p:sldId id="349" r:id="rId29"/>
    <p:sldId id="351" r:id="rId30"/>
    <p:sldId id="352" r:id="rId31"/>
    <p:sldId id="353" r:id="rId32"/>
    <p:sldId id="319" r:id="rId33"/>
    <p:sldId id="391" r:id="rId34"/>
    <p:sldId id="355" r:id="rId35"/>
    <p:sldId id="394" r:id="rId36"/>
    <p:sldId id="397" r:id="rId37"/>
    <p:sldId id="400" r:id="rId38"/>
    <p:sldId id="399" r:id="rId39"/>
  </p:sldIdLst>
  <p:sldSz cx="9144000" cy="5143500" type="screen16x9"/>
  <p:notesSz cx="6858000" cy="9144000"/>
  <p:custDataLst>
    <p:tags r:id="rId4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6">
          <p15:clr>
            <a:srgbClr val="A4A3A4"/>
          </p15:clr>
        </p15:guide>
        <p15:guide id="2" orient="horz" pos="229">
          <p15:clr>
            <a:srgbClr val="A4A3A4"/>
          </p15:clr>
        </p15:guide>
        <p15:guide id="3" pos="2879">
          <p15:clr>
            <a:srgbClr val="A4A3A4"/>
          </p15:clr>
        </p15:guide>
      </p15:sldGuideLst>
    </p:ext>
    <p:ext uri="{2D200454-40CA-4A62-9FC3-DE9A4176ACB9}">
      <p15:notesGuideLst xmlns:p15="http://schemas.microsoft.com/office/powerpoint/2012/main">
        <p15:guide id="1" orient="horz" pos="4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CDDDF2"/>
    <a:srgbClr val="E8EFF9"/>
    <a:srgbClr val="339933"/>
    <a:srgbClr val="BA3030"/>
    <a:srgbClr val="8E908F"/>
    <a:srgbClr val="9D9FA2"/>
    <a:srgbClr val="828381"/>
    <a:srgbClr val="A5A6A5"/>
    <a:srgbClr val="717074"/>
    <a:srgbClr val="2C95D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47" autoAdjust="0"/>
    <p:restoredTop sz="67296" autoAdjust="0"/>
  </p:normalViewPr>
  <p:slideViewPr>
    <p:cSldViewPr showGuides="1">
      <p:cViewPr varScale="1">
        <p:scale>
          <a:sx n="70" d="100"/>
          <a:sy n="70" d="100"/>
        </p:scale>
        <p:origin x="906" y="72"/>
      </p:cViewPr>
      <p:guideLst>
        <p:guide orient="horz" pos="3156"/>
        <p:guide orient="horz" pos="229"/>
        <p:guide pos="2879"/>
      </p:guideLst>
    </p:cSldViewPr>
  </p:slideViewPr>
  <p:outlineViewPr>
    <p:cViewPr>
      <p:scale>
        <a:sx n="33" d="100"/>
        <a:sy n="33" d="100"/>
      </p:scale>
      <p:origin x="0" y="648"/>
    </p:cViewPr>
  </p:outlineViewPr>
  <p:notesTextViewPr>
    <p:cViewPr>
      <p:scale>
        <a:sx n="100" d="100"/>
        <a:sy n="100" d="100"/>
      </p:scale>
      <p:origin x="0" y="0"/>
    </p:cViewPr>
  </p:notesTextViewPr>
  <p:sorterViewPr>
    <p:cViewPr>
      <p:scale>
        <a:sx n="158" d="100"/>
        <a:sy n="158" d="100"/>
      </p:scale>
      <p:origin x="0" y="14562"/>
    </p:cViewPr>
  </p:sorterViewPr>
  <p:notesViewPr>
    <p:cSldViewPr snapToObjects="1" showGuides="1">
      <p:cViewPr varScale="1">
        <p:scale>
          <a:sx n="116" d="100"/>
          <a:sy n="116" d="100"/>
        </p:scale>
        <p:origin x="-3894" y="-96"/>
      </p:cViewPr>
      <p:guideLst>
        <p:guide orient="horz" pos="4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161507" y="8915400"/>
            <a:ext cx="534987" cy="228600"/>
          </a:xfrm>
          <a:prstGeom prst="rect">
            <a:avLst/>
          </a:prstGeom>
        </p:spPr>
        <p:txBody>
          <a:bodyPr vert="horz" lIns="91432" tIns="45716" rIns="91432" bIns="45716" rtlCol="0" anchor="b"/>
          <a:lstStyle>
            <a:lvl1pPr algn="r">
              <a:defRPr sz="1200"/>
            </a:lvl1pPr>
          </a:lstStyle>
          <a:p>
            <a:pPr algn="ctr"/>
            <a:fld id="{F7B6D393-E4E3-D143-A14E-086EC3E10D5C}" type="slidenum">
              <a:rPr lang="en-US" sz="800">
                <a:latin typeface="Verdana"/>
              </a:rPr>
              <a:pPr algn="ctr"/>
              <a:t>‹#›</a:t>
            </a:fld>
            <a:endParaRPr lang="en-US" sz="800" dirty="0">
              <a:latin typeface="Verdana"/>
            </a:endParaRPr>
          </a:p>
        </p:txBody>
      </p:sp>
      <p:sp>
        <p:nvSpPr>
          <p:cNvPr id="4" name="Title 1"/>
          <p:cNvSpPr txBox="1">
            <a:spLocks/>
          </p:cNvSpPr>
          <p:nvPr/>
        </p:nvSpPr>
        <p:spPr bwMode="gray">
          <a:xfrm>
            <a:off x="457200" y="228600"/>
            <a:ext cx="5943601" cy="460375"/>
          </a:xfrm>
          <a:prstGeom prst="rect">
            <a:avLst/>
          </a:prstGeom>
          <a:noFill/>
        </p:spPr>
        <p:txBody>
          <a:bodyPr lIns="0" tIns="0" rIns="0" bIns="0" anchor="t" anchorCtr="0"/>
          <a:lstStyle>
            <a:lvl1pPr algn="ctr" defTabSz="457200" rtl="0" eaLnBrk="1" latinLnBrk="0" hangingPunct="1">
              <a:spcBef>
                <a:spcPct val="0"/>
              </a:spcBef>
              <a:buNone/>
              <a:defRPr lang="en-US" sz="3200" kern="1200" dirty="0">
                <a:ln>
                  <a:noFill/>
                </a:ln>
                <a:solidFill>
                  <a:schemeClr val="bg1">
                    <a:lumMod val="65000"/>
                  </a:schemeClr>
                </a:solidFill>
                <a:latin typeface="Verdana" pitchFamily="34" charset="0"/>
                <a:ea typeface="+mj-ea"/>
                <a:cs typeface="+mj-cs"/>
              </a:defRPr>
            </a:lvl1pPr>
          </a:lstStyle>
          <a:p>
            <a:pPr algn="ctr">
              <a:lnSpc>
                <a:spcPct val="90000"/>
              </a:lnSpc>
            </a:pPr>
            <a:r>
              <a:rPr lang="en-US" sz="1400" dirty="0">
                <a:solidFill>
                  <a:srgbClr val="000000"/>
                </a:solidFill>
              </a:rPr>
              <a:t>TITLE</a:t>
            </a:r>
          </a:p>
        </p:txBody>
      </p:sp>
    </p:spTree>
    <p:extLst>
      <p:ext uri="{BB962C8B-B14F-4D97-AF65-F5344CB8AC3E}">
        <p14:creationId xmlns:p14="http://schemas.microsoft.com/office/powerpoint/2010/main" val="1157435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609600" y="3886200"/>
            <a:ext cx="5943600" cy="48006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
          <p:cNvSpPr txBox="1"/>
          <p:nvPr/>
        </p:nvSpPr>
        <p:spPr>
          <a:xfrm>
            <a:off x="6446060" y="8915400"/>
            <a:ext cx="309684" cy="215436"/>
          </a:xfrm>
          <a:prstGeom prst="rect">
            <a:avLst/>
          </a:prstGeom>
          <a:solidFill>
            <a:schemeClr val="bg1"/>
          </a:solidFill>
        </p:spPr>
        <p:txBody>
          <a:bodyPr wrap="none" lIns="91432" tIns="45716" rIns="91432" bIns="45716" rtlCol="0">
            <a:spAutoFit/>
          </a:bodyPr>
          <a:lstStyle/>
          <a:p>
            <a:pPr marL="0" marR="0" indent="0" algn="ctr" defTabSz="457159" rtl="0" eaLnBrk="1" fontAlgn="auto" latinLnBrk="0" hangingPunct="1">
              <a:lnSpc>
                <a:spcPct val="100000"/>
              </a:lnSpc>
              <a:spcBef>
                <a:spcPts val="0"/>
              </a:spcBef>
              <a:spcAft>
                <a:spcPts val="0"/>
              </a:spcAft>
              <a:buClrTx/>
              <a:buSzTx/>
              <a:buFontTx/>
              <a:buNone/>
              <a:tabLst/>
              <a:defRPr/>
            </a:pPr>
            <a:fld id="{BC3221F6-DF1F-4F4D-A457-D497032B3BDC}" type="slidenum">
              <a:rPr lang="ru-RU" sz="800" smtClean="0">
                <a:latin typeface="Arial"/>
              </a:rPr>
              <a:pPr marL="0" marR="0" indent="0" algn="ctr" defTabSz="457159" rtl="0" eaLnBrk="1" fontAlgn="auto" latinLnBrk="0" hangingPunct="1">
                <a:lnSpc>
                  <a:spcPct val="100000"/>
                </a:lnSpc>
                <a:spcBef>
                  <a:spcPts val="0"/>
                </a:spcBef>
                <a:spcAft>
                  <a:spcPts val="0"/>
                </a:spcAft>
                <a:buClrTx/>
                <a:buSzTx/>
                <a:buFontTx/>
                <a:buNone/>
                <a:tabLst/>
                <a:defRPr/>
              </a:pPr>
              <a:t>‹#›</a:t>
            </a:fld>
            <a:endParaRPr lang="ru-RU" sz="800" dirty="0">
              <a:latin typeface="Arial"/>
            </a:endParaRPr>
          </a:p>
        </p:txBody>
      </p:sp>
      <p:sp>
        <p:nvSpPr>
          <p:cNvPr id="2" name="Rectangle 1"/>
          <p:cNvSpPr/>
          <p:nvPr/>
        </p:nvSpPr>
        <p:spPr>
          <a:xfrm>
            <a:off x="14287" y="8949828"/>
            <a:ext cx="3338513" cy="184666"/>
          </a:xfrm>
          <a:prstGeom prst="rect">
            <a:avLst/>
          </a:prstGeom>
        </p:spPr>
        <p:txBody>
          <a:bodyPr wrap="square" lIns="91432" tIns="45716" rIns="91432" bIns="45716">
            <a:spAutoFit/>
          </a:bodyPr>
          <a:lstStyle/>
          <a:p>
            <a:pPr marL="0" marR="0" indent="0" algn="l" defTabSz="914318" rtl="0" eaLnBrk="1" fontAlgn="auto" latinLnBrk="0" hangingPunct="1">
              <a:lnSpc>
                <a:spcPct val="100000"/>
              </a:lnSpc>
              <a:spcBef>
                <a:spcPts val="0"/>
              </a:spcBef>
              <a:spcAft>
                <a:spcPts val="0"/>
              </a:spcAft>
              <a:buClrTx/>
              <a:buSzTx/>
              <a:buFontTx/>
              <a:buNone/>
              <a:tabLst/>
              <a:defRPr/>
            </a:pPr>
            <a:r>
              <a:rPr lang="ru-RU" sz="600" b="0" i="0" dirty="0">
                <a:solidFill>
                  <a:srgbClr val="717073"/>
                </a:solidFill>
              </a:rPr>
              <a:t> </a:t>
            </a:r>
            <a:r>
              <a:rPr lang="ru-RU" sz="600" b="0" i="0" dirty="0">
                <a:solidFill>
                  <a:srgbClr val="717073"/>
                </a:solidFill>
                <a:latin typeface="Arial"/>
              </a:rPr>
              <a:t>Корпорация</a:t>
            </a:r>
            <a:r>
              <a:rPr lang="ru-RU" sz="600" b="0" i="0" dirty="0">
                <a:solidFill>
                  <a:srgbClr val="717073"/>
                </a:solidFill>
              </a:rPr>
              <a:t> EMC, 2015 </a:t>
            </a:r>
            <a:r>
              <a:rPr lang="ru-RU" sz="600" b="0" i="0" dirty="0">
                <a:solidFill>
                  <a:srgbClr val="717073"/>
                </a:solidFill>
                <a:latin typeface="Arial"/>
              </a:rPr>
              <a:t>г</a:t>
            </a:r>
            <a:r>
              <a:rPr lang="ru-RU" sz="600" b="0" i="0" dirty="0">
                <a:solidFill>
                  <a:srgbClr val="717073"/>
                </a:solidFill>
              </a:rPr>
              <a:t>. </a:t>
            </a:r>
            <a:r>
              <a:rPr lang="ru-RU" sz="600" b="0" i="0" dirty="0">
                <a:solidFill>
                  <a:srgbClr val="717073"/>
                </a:solidFill>
                <a:latin typeface="Arial"/>
              </a:rPr>
              <a:t>Все</a:t>
            </a:r>
            <a:r>
              <a:rPr lang="ru-RU" sz="600" b="0" i="0" dirty="0">
                <a:solidFill>
                  <a:srgbClr val="717073"/>
                </a:solidFill>
              </a:rPr>
              <a:t> </a:t>
            </a:r>
            <a:r>
              <a:rPr lang="ru-RU" sz="600" b="0" i="0" dirty="0">
                <a:solidFill>
                  <a:srgbClr val="717073"/>
                </a:solidFill>
                <a:latin typeface="Arial"/>
              </a:rPr>
              <a:t>права</a:t>
            </a:r>
            <a:r>
              <a:rPr lang="ru-RU" sz="600" b="0" i="0" dirty="0">
                <a:solidFill>
                  <a:srgbClr val="717073"/>
                </a:solidFill>
              </a:rPr>
              <a:t> </a:t>
            </a:r>
            <a:r>
              <a:rPr lang="ru-RU" sz="600" b="0" i="0" dirty="0">
                <a:solidFill>
                  <a:srgbClr val="717073"/>
                </a:solidFill>
                <a:latin typeface="Arial"/>
              </a:rPr>
              <a:t>защищены</a:t>
            </a:r>
            <a:r>
              <a:rPr lang="ru-RU" sz="600" b="0" i="0" dirty="0">
                <a:solidFill>
                  <a:srgbClr val="717073"/>
                </a:solidFill>
              </a:rPr>
              <a:t>.</a:t>
            </a:r>
          </a:p>
        </p:txBody>
      </p:sp>
      <p:sp>
        <p:nvSpPr>
          <p:cNvPr id="6" name="Slide Image Placeholder 5"/>
          <p:cNvSpPr>
            <a:spLocks noGrp="1" noRot="1" noChangeAspect="1"/>
          </p:cNvSpPr>
          <p:nvPr>
            <p:ph type="sldImg" idx="2"/>
          </p:nvPr>
        </p:nvSpPr>
        <p:spPr>
          <a:xfrm>
            <a:off x="609600" y="381000"/>
            <a:ext cx="5943600" cy="3343275"/>
          </a:xfrm>
          <a:prstGeom prst="rect">
            <a:avLst/>
          </a:prstGeom>
          <a:noFill/>
          <a:ln w="12700">
            <a:solidFill>
              <a:prstClr val="black"/>
            </a:solidFill>
          </a:ln>
        </p:spPr>
        <p:txBody>
          <a:bodyPr vert="horz" lIns="91432" tIns="45716" rIns="91432" bIns="45716" rtlCol="0" anchor="ctr"/>
          <a:lstStyle/>
          <a:p>
            <a:endParaRPr lang="en-US"/>
          </a:p>
        </p:txBody>
      </p:sp>
      <p:sp>
        <p:nvSpPr>
          <p:cNvPr id="7" name="Rectangle 6"/>
          <p:cNvSpPr/>
          <p:nvPr/>
        </p:nvSpPr>
        <p:spPr>
          <a:xfrm>
            <a:off x="3062287" y="8915400"/>
            <a:ext cx="3338513" cy="215444"/>
          </a:xfrm>
          <a:prstGeom prst="rect">
            <a:avLst/>
          </a:prstGeom>
        </p:spPr>
        <p:txBody>
          <a:bodyPr wrap="square">
            <a:spAutoFit/>
          </a:bodyPr>
          <a:lstStyle/>
          <a:p>
            <a:pPr algn="r" rtl="0"/>
            <a:r>
              <a:rPr lang="ru-RU" sz="800" kern="1200" baseline="0" dirty="0">
                <a:solidFill>
                  <a:schemeClr val="tx1"/>
                </a:solidFill>
                <a:latin typeface="Arial" pitchFamily="34" charset="0"/>
                <a:ea typeface="+mn-ea"/>
                <a:cs typeface="Arial" pitchFamily="34" charset="0"/>
              </a:rPr>
              <a:t>ISM v3 модуль 5: блочная система хранения</a:t>
            </a:r>
          </a:p>
        </p:txBody>
      </p:sp>
    </p:spTree>
    <p:extLst>
      <p:ext uri="{BB962C8B-B14F-4D97-AF65-F5344CB8AC3E}">
        <p14:creationId xmlns:p14="http://schemas.microsoft.com/office/powerpoint/2010/main" val="1816467040"/>
      </p:ext>
    </p:extLst>
  </p:cSld>
  <p:clrMap bg1="lt1" tx1="dk1" bg2="lt2" tx2="dk2" accent1="accent1" accent2="accent2" accent3="accent3" accent4="accent4" accent5="accent5" accent6="accent6" hlink="hlink" folHlink="folHlink"/>
  <p:hf hdr="0" dt="0"/>
  <p:notesStyle>
    <a:lvl1pPr marL="0" algn="l" defTabSz="457200" rtl="0" eaLnBrk="1" fontAlgn="base" latinLnBrk="0" hangingPunct="1">
      <a:spcBef>
        <a:spcPts val="1200"/>
      </a:spcBef>
      <a:defRPr sz="1000" kern="1200">
        <a:solidFill>
          <a:schemeClr val="tx1"/>
        </a:solidFill>
        <a:latin typeface="+mn-lt"/>
        <a:ea typeface="+mn-ea"/>
        <a:cs typeface="Calibri" panose="020F0502020204030204" pitchFamily="34" charset="0"/>
      </a:defRPr>
    </a:lvl1pPr>
    <a:lvl2pPr marL="344488" indent="-117475" algn="l" defTabSz="457200" rtl="0" eaLnBrk="1" fontAlgn="base" latinLnBrk="0" hangingPunct="1">
      <a:spcBef>
        <a:spcPts val="600"/>
      </a:spcBef>
      <a:buFont typeface="Arial"/>
      <a:buChar char="•"/>
      <a:defRPr sz="1000" kern="1200">
        <a:solidFill>
          <a:schemeClr val="tx1"/>
        </a:solidFill>
        <a:latin typeface="+mn-lt"/>
        <a:ea typeface="+mn-ea"/>
        <a:cs typeface="Calibri" panose="020F0502020204030204" pitchFamily="34" charset="0"/>
      </a:defRPr>
    </a:lvl2pPr>
    <a:lvl3pPr marL="628650" indent="-174625" algn="l" defTabSz="457200" rtl="0" eaLnBrk="1" fontAlgn="base" latinLnBrk="0" hangingPunct="1">
      <a:spcBef>
        <a:spcPts val="600"/>
      </a:spcBef>
      <a:buFont typeface="Lucida Grande"/>
      <a:buChar char="–"/>
      <a:tabLst/>
      <a:defRPr sz="1000" kern="1200">
        <a:solidFill>
          <a:schemeClr val="tx1"/>
        </a:solidFill>
        <a:latin typeface="+mn-lt"/>
        <a:ea typeface="+mn-ea"/>
        <a:cs typeface="Calibri" panose="020F0502020204030204" pitchFamily="34" charset="0"/>
      </a:defRPr>
    </a:lvl3pPr>
    <a:lvl4pPr marL="973138" indent="-174625" algn="l" defTabSz="457200" rtl="0" eaLnBrk="1" fontAlgn="base" latinLnBrk="0" hangingPunct="1">
      <a:spcBef>
        <a:spcPts val="600"/>
      </a:spcBef>
      <a:buFont typeface="Wingdings" charset="2"/>
      <a:buChar char="§"/>
      <a:defRPr sz="1000" kern="1200">
        <a:solidFill>
          <a:schemeClr val="tx1"/>
        </a:solidFill>
        <a:latin typeface="+mn-lt"/>
        <a:ea typeface="+mn-ea"/>
        <a:cs typeface="Calibri" panose="020F0502020204030204" pitchFamily="34" charset="0"/>
      </a:defRPr>
    </a:lvl4pPr>
    <a:lvl5pPr marL="1258888" indent="-117475" algn="l" defTabSz="457200" rtl="0" eaLnBrk="1" fontAlgn="base" latinLnBrk="0" hangingPunct="1">
      <a:spcBef>
        <a:spcPts val="600"/>
      </a:spcBef>
      <a:buFont typeface="Lucida Grande"/>
      <a:buChar char="–"/>
      <a:defRPr sz="1000" kern="1200">
        <a:solidFill>
          <a:schemeClr val="tx1"/>
        </a:solidFill>
        <a:latin typeface="+mn-lt"/>
        <a:ea typeface="+mn-ea"/>
        <a:cs typeface="Calibri" panose="020F050202020403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www.emc.com/"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spcBef>
                <a:spcPts val="600"/>
              </a:spcBef>
            </a:pPr>
            <a:r>
              <a:rPr lang="ru-RU" b="0" i="0" dirty="0">
                <a:solidFill>
                  <a:srgbClr val="000000"/>
                </a:solidFill>
                <a:latin typeface="Arial" pitchFamily="34" charset="0"/>
                <a:cs typeface="Arial" pitchFamily="34" charset="0"/>
              </a:rPr>
              <a:t>Добро пожаловать в блочную систему хранения </a:t>
            </a:r>
          </a:p>
          <a:p>
            <a:pPr marL="0" marR="0" lvl="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Перейдите на вкладку «Ресурсы», чтобы загрузить версию этого модуля электронного обучения в формате PDF.</a:t>
            </a:r>
          </a:p>
          <a:p>
            <a:pPr lvl="0">
              <a:spcBef>
                <a:spcPts val="600"/>
              </a:spcBef>
            </a:pPr>
            <a:r>
              <a:rPr lang="ru-RU" b="0" i="0" dirty="0">
                <a:solidFill>
                  <a:srgbClr val="000000"/>
                </a:solidFill>
                <a:latin typeface="Arial" pitchFamily="34" charset="0"/>
                <a:cs typeface="Arial" pitchFamily="34" charset="0"/>
              </a:rPr>
              <a:t>Этот модуль — часть курса ISM v3, состоящего из 16 модулей. </a:t>
            </a:r>
          </a:p>
          <a:p>
            <a:pPr lvl="0">
              <a:spcBef>
                <a:spcPts val="600"/>
              </a:spcBef>
            </a:pPr>
            <a:r>
              <a:rPr lang="ru-RU" b="0" i="0" dirty="0">
                <a:solidFill>
                  <a:srgbClr val="000000"/>
                </a:solidFill>
                <a:latin typeface="Arial" pitchFamily="34" charset="0"/>
                <a:cs typeface="Arial" pitchFamily="34" charset="0"/>
              </a:rPr>
              <a:t>© Корпорация EMC, 2015 г. Все права защищены. Опубликовано в России. По сведениям ЕМС информация, содержащаяся в данной публикации, является правильной на дату публикации. Данная информация может измениться без уведомления. </a:t>
            </a:r>
          </a:p>
          <a:p>
            <a:pPr lvl="0">
              <a:spcBef>
                <a:spcPts val="600"/>
              </a:spcBef>
            </a:pPr>
            <a:r>
              <a:rPr lang="ru-RU" b="0" i="0" dirty="0">
                <a:solidFill>
                  <a:srgbClr val="000000"/>
                </a:solidFill>
                <a:latin typeface="Arial" pitchFamily="34" charset="0"/>
                <a:cs typeface="Arial" pitchFamily="34" charset="0"/>
              </a:rPr>
              <a:t>СОДЕРЖАЩАЯСЯ В ДАННОЙ ПУБЛИКАЦИИ ИНФОРМАЦИЯ ПРЕДОСТАВЛЯЕТСЯ НА УСЛОВИЯХ «КАК ЕСТЬ». КОРПОРАЦИЯ EMC НЕ ПРЕДОСТАВЛЯЕТ НИКАКИХ УСЛОВИЙ ИЛИ ГАРАНТИЙ В ОТНОШЕНИИ УКАЗАННОЙ ИНФОРМАЦИИ И ОТКАЗЫВАЕТСЯ ОТ ПОДРАЗУМЕВАЕМЫХ ГАРАНТИЙ КОММЕРЧЕСКОЙ ЦЕННОСТИ И ПРИГОДНОСТИ ДЛЯ ОПРЕДЕЛЕННОЙ ЦЕЛИ.</a:t>
            </a:r>
          </a:p>
          <a:p>
            <a:pPr lvl="0">
              <a:spcBef>
                <a:spcPts val="600"/>
              </a:spcBef>
            </a:pPr>
            <a:r>
              <a:rPr lang="ru-RU" b="0" i="0" dirty="0">
                <a:solidFill>
                  <a:srgbClr val="000000"/>
                </a:solidFill>
                <a:latin typeface="Arial" pitchFamily="34" charset="0"/>
                <a:cs typeface="Arial" pitchFamily="34" charset="0"/>
              </a:rPr>
              <a:t>Использование, копирование и распространение любых продуктов ЕМС, описанных в данной публикации, требует наличия соответствующей лицензии. Товарные знаки, логотипы и сервисные знаки (совокупно «Товарные знаки»), упоминаемые в настоящей публикации, являются собственностью корпорации EMC и других лиц. Никакие положения в этой публикации не должны рассматриваться как предоставление каких-либо лицензий или прав на использование любого товарного знака без предварительного письменного разрешения стороны, которой принадлежит этой товарный знак.</a:t>
            </a:r>
          </a:p>
          <a:p>
            <a:pPr lvl="0">
              <a:spcBef>
                <a:spcPts val="600"/>
              </a:spcBef>
            </a:pPr>
            <a:r>
              <a:rPr lang="ru-RU" b="0" i="0" dirty="0">
                <a:solidFill>
                  <a:srgbClr val="000000"/>
                </a:solidFill>
                <a:latin typeface="Arial" pitchFamily="34" charset="0"/>
                <a:cs typeface="Arial" pitchFamily="34" charset="0"/>
              </a:rPr>
              <a:t>EMC, EMC² AccessAnywhere Access Logix, AdvantEdge, AlphaStor, AppSync ApplicationXtender, ArchiveXtender, Atmos, Authentica, Authentic Problems, Automated Resource Manager, AutoStart, AutoSwap, AVALONidm, Avamar, Bus-Tech, Captiva, Catalog Solution, C-Clip, Celerra, Celerra Replicator, Centera, CenterStage, CentraStar, EMC CertTracker. CIO Connect, ClaimPack, ClaimsEditor, Claralert</a:t>
            </a:r>
            <a:r>
              <a:rPr lang="ru-RU" b="0" i="0" dirty="0">
                <a:solidFill>
                  <a:srgbClr val="494848"/>
                </a:solidFill>
                <a:latin typeface="Arial" pitchFamily="34" charset="0"/>
                <a:cs typeface="Arial" pitchFamily="34" charset="0"/>
              </a:rPr>
              <a:t>c</a:t>
            </a:r>
            <a:r>
              <a:rPr lang="ru-RU" b="0" i="0" dirty="0">
                <a:solidFill>
                  <a:srgbClr val="000000"/>
                </a:solidFill>
                <a:latin typeface="Arial" pitchFamily="34" charset="0"/>
                <a:cs typeface="Arial" pitchFamily="34" charset="0"/>
              </a:rPr>
              <a:t>LARiiON, ClientPak, CloudArray, Codebook Correlation Technology, Common Information Model, Compuset, Compute Anywhere, Configuration Intelligence, Configuresoft, Connectrix, Constellation Computing, EMC ControlCenter, CopyCross, CopyPoint, CX, DataBridge Data Protection Suite. Data Protection Advisor, DBClassify, DD Boost, Dantz, DatabaseXtender, Data Domain, Direct Matrix Architecture, DiskXtender, DiskXtender 2000, DLS ECO, Document Sciences, Documentum, DR Anywhere, ECS, elnput, E-Lab, Elastic Cloud Storage, EmailXaminer, EmailXtender EMC Centera, EMC ControlCenter, EMC LifeLine, EMCTV, Enginuity, EPFM. eRoom, Event Explorer, FAST, FarPoint, FirstPass, FLARE, FormWare, Geosynchrony, Global File Virtualization, Graphic Visualization, Greenplum, HighRoad, HomeBase, Illuminator InfoArchive, InfoMover, Infoscape, Infra, Input</a:t>
            </a:r>
            <a:r>
              <a:rPr lang="ru-RU" b="0" i="1" dirty="0">
                <a:solidFill>
                  <a:srgbClr val="000000"/>
                </a:solidFill>
                <a:latin typeface="Arial" pitchFamily="34" charset="0"/>
                <a:cs typeface="Arial" pitchFamily="34" charset="0"/>
              </a:rPr>
              <a:t>Accel</a:t>
            </a:r>
            <a:r>
              <a:rPr lang="ru-RU" b="0" i="0" dirty="0">
                <a:solidFill>
                  <a:srgbClr val="000000"/>
                </a:solidFill>
                <a:latin typeface="Arial" pitchFamily="34" charset="0"/>
                <a:cs typeface="Arial" pitchFamily="34" charset="0"/>
              </a:rPr>
              <a:t>, Input</a:t>
            </a:r>
            <a:r>
              <a:rPr lang="ru-RU" b="0" i="1" dirty="0">
                <a:solidFill>
                  <a:srgbClr val="000000"/>
                </a:solidFill>
                <a:latin typeface="Arial" pitchFamily="34" charset="0"/>
                <a:cs typeface="Arial" pitchFamily="34" charset="0"/>
              </a:rPr>
              <a:t>Accel</a:t>
            </a:r>
            <a:r>
              <a:rPr lang="ru-RU" b="0" i="0" dirty="0">
                <a:solidFill>
                  <a:srgbClr val="000000"/>
                </a:solidFill>
                <a:latin typeface="Arial" pitchFamily="34" charset="0"/>
                <a:cs typeface="Arial" pitchFamily="34" charset="0"/>
              </a:rPr>
              <a:t> Express, Invista, Ionix, ISIS,Kazeon, EMC LifeLine, Mainframe Appliance for Storage, Mainframe Data Library, Max Retriever, MCx, MediaStor Metro, MetroPoint, MirrorView, Multi-Band Deduplication,Navisphere, Netstorage, NetWorker, nLayers, EMC OnCourse, OnAlert, OpenScale, Petrocloud, PixTools, Powerlink, PowerPath, PowerSnap, ProSphere, ProtectEverywhere, ProtectPoint, EMC Proven, EMC Proven Professional, QuickScan, RAPIDPath, EMC RecoverPoint, Rainfinity, RepliCare, RepliStor, ResourcePak, Retrospect, RSA, логотип RSA, SafeLine, SAN Advisor, SAN Copy, SAN Manager, ScaleIO Smarts, EMC Snap, SnapImage, SnapSure, SnapView, SourceOne, SRDF, EMC Storage Administrator, StorageScope, SupportMate, SymmAPI, SymmEnabler, Symmetrix, Symmetrix DMX, Symmetrix VMAX, TimeFinder, TwinStrata, UltraFlex, UltraPoint, UltraScale, Unisphere, Universal Data Consistency, Vblock, Velocity, Viewlets, ViPR, Virtual Matrix, Virtual Matrix Architecture, Virtual Provisioning, Virtualize Everything, Compromise Nothing, Virtuent, VMAX, VMAXe, VNX, VNXe, Voyence, VPLEX, VSAM-Assist, VSAM I/O PLUS, VSET, VSPEX, Watch4net, WebXtender, xPression, xPresso, Xtrem, XtremCache, XtremSF, XtremSW, XtremIO, YottaYotta, Zero-Friction Enterprise Storage.</a:t>
            </a:r>
          </a:p>
          <a:p>
            <a:pPr lvl="0">
              <a:spcBef>
                <a:spcPts val="600"/>
              </a:spcBef>
            </a:pPr>
            <a:r>
              <a:rPr lang="ru-RU" b="0" i="0" dirty="0">
                <a:solidFill>
                  <a:srgbClr val="000000"/>
                </a:solidFill>
                <a:latin typeface="Arial" pitchFamily="34" charset="0"/>
                <a:cs typeface="Arial" pitchFamily="34" charset="0"/>
              </a:rPr>
              <a:t>Дата редакции: август 2015 г. </a:t>
            </a:r>
          </a:p>
          <a:p>
            <a:pPr lvl="0">
              <a:spcBef>
                <a:spcPts val="600"/>
              </a:spcBef>
            </a:pPr>
            <a:r>
              <a:rPr lang="ru-RU" b="0" i="0" dirty="0">
                <a:solidFill>
                  <a:srgbClr val="000000"/>
                </a:solidFill>
                <a:latin typeface="Arial" pitchFamily="34" charset="0"/>
                <a:cs typeface="Arial" pitchFamily="34" charset="0"/>
              </a:rPr>
              <a:t>Номер выпуска: MR-1WP-ISMv3BSS</a:t>
            </a: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3693696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модуле рассматриваются ключевые компоненты блочной системы хранения данных. Изучаются функции каждого компонента, включая методы управления кэш-памятью и защиты данных. В этом модуле также описываются два метода выделения ресурсов хранения и рассматриваются механизмы многоуровневого хранения.</a:t>
            </a: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511676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defRPr/>
            </a:pPr>
            <a:r>
              <a:rPr lang="ru-RU" b="0" i="0" dirty="0">
                <a:solidFill>
                  <a:srgbClr val="000000"/>
                </a:solidFill>
                <a:latin typeface="Arial" pitchFamily="34" charset="0"/>
                <a:cs typeface="Arial" pitchFamily="34" charset="0"/>
              </a:rPr>
              <a:t>В рамках этого урока изучаются компоненты блочной системы хранения, алгоритмы интеллектуального кэширования и механизмы защиты кэш-памяти.</a:t>
            </a:r>
          </a:p>
          <a:p>
            <a:pPr>
              <a:spcBef>
                <a:spcPts val="600"/>
              </a:spcBef>
            </a:pPr>
            <a:endParaRPr lang="ru-RU" dirty="0">
              <a:latin typeface="Arial" pitchFamily="34" charset="0"/>
              <a:cs typeface="Arial" pitchFamily="34" charset="0"/>
            </a:endParaRPr>
          </a:p>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defTabSz="457159">
              <a:spcBef>
                <a:spcPts val="600"/>
              </a:spcBef>
              <a:defRPr/>
            </a:pPr>
            <a:r>
              <a:rPr lang="ru-RU" b="0" i="0" dirty="0">
                <a:solidFill>
                  <a:srgbClr val="000000"/>
                </a:solidFill>
                <a:latin typeface="Arial" pitchFamily="34" charset="0"/>
                <a:cs typeface="Arial" pitchFamily="34" charset="0"/>
              </a:rPr>
              <a:t>Блочная система хранения предоставляет вычислительным системам доступ на уровне блоков к томам хранения данных. В этой среде файловая система создается на базе вычислительных систем, а доступ к данным осуществляется через сеть на уровне блоков. Эти блочные системы хранения могут быть созданы на базе вертикально или горизонтально масштабируемой архитектуры. Блочная система хранения состоит из одного или нескольких контроллеров и системы хранения. Контроллеры и СХД рассматриваются ниже. </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2904357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609600" y="381000"/>
            <a:ext cx="5943600" cy="3343275"/>
          </a:xfrm>
        </p:spPr>
      </p:sp>
      <p:sp>
        <p:nvSpPr>
          <p:cNvPr id="7" name="Notes Placeholder 6"/>
          <p:cNvSpPr>
            <a:spLocks noGrp="1"/>
          </p:cNvSpPr>
          <p:nvPr>
            <p:ph type="body" idx="1"/>
          </p:nvPr>
        </p:nvSpPr>
        <p:spPr/>
        <p:txBody>
          <a:bodyPr/>
          <a:lstStyle/>
          <a:p>
            <a:pPr defTabSz="457159">
              <a:spcBef>
                <a:spcPts val="600"/>
              </a:spcBef>
              <a:defRPr/>
            </a:pPr>
            <a:r>
              <a:rPr lang="ru-RU" b="0" i="0" dirty="0">
                <a:solidFill>
                  <a:srgbClr val="000000"/>
                </a:solidFill>
                <a:latin typeface="Arial" pitchFamily="34" charset="0"/>
                <a:cs typeface="Arial" pitchFamily="34" charset="0"/>
              </a:rPr>
              <a:t>Контроллер блочной системы хранения состоит из трех ключевых компонентов: </a:t>
            </a:r>
            <a:r>
              <a:rPr lang="ru-RU" b="0" i="1" dirty="0">
                <a:solidFill>
                  <a:srgbClr val="000000"/>
                </a:solidFill>
                <a:latin typeface="Arial" pitchFamily="34" charset="0"/>
                <a:cs typeface="Arial" pitchFamily="34" charset="0"/>
              </a:rPr>
              <a:t>клиентский интерфейс</a:t>
            </a:r>
            <a:r>
              <a:rPr lang="ru-RU" b="0" i="0" dirty="0">
                <a:solidFill>
                  <a:srgbClr val="000000"/>
                </a:solidFill>
                <a:latin typeface="Arial" pitchFamily="34" charset="0"/>
                <a:cs typeface="Arial" pitchFamily="34" charset="0"/>
              </a:rPr>
              <a:t>,</a:t>
            </a:r>
            <a:r>
              <a:rPr lang="ru-RU" b="0" i="1" dirty="0">
                <a:solidFill>
                  <a:srgbClr val="000000"/>
                </a:solidFill>
                <a:latin typeface="Arial" pitchFamily="34" charset="0"/>
                <a:cs typeface="Arial" pitchFamily="34" charset="0"/>
              </a:rPr>
              <a:t> кэш-память и серверная часть</a:t>
            </a:r>
            <a:r>
              <a:rPr lang="ru-RU" b="0" i="0" dirty="0">
                <a:solidFill>
                  <a:srgbClr val="000000"/>
                </a:solidFill>
                <a:latin typeface="Arial" pitchFamily="34" charset="0"/>
                <a:cs typeface="Arial" pitchFamily="34" charset="0"/>
              </a:rPr>
              <a:t>. Запрос ввода-вывода передается из вычислительной системы через внешний порт и обрабатывается с помощью кэш-памяти</a:t>
            </a:r>
            <a:r>
              <a:rPr lang="ru-RU" b="1" i="0"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и серверной части. Это позволяет хранить данные в СХД и извлекать их</a:t>
            </a:r>
            <a:r>
              <a:rPr lang="ru-RU" b="1" i="0"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из</a:t>
            </a:r>
            <a:r>
              <a:rPr lang="ru-RU" b="1" i="0"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нее. Запрос чтения может обслуживаться непосредственно из кэш-памяти, если в ней обнаружены запрошенные данные. В современных системах хранения клиентский интерфейс, кэш-память и серверная часть обычно интегрированы в единую панель (которую называют </a:t>
            </a:r>
            <a:r>
              <a:rPr lang="ru-RU" b="0" i="1" dirty="0">
                <a:solidFill>
                  <a:srgbClr val="000000"/>
                </a:solidFill>
                <a:latin typeface="Arial" pitchFamily="34" charset="0"/>
                <a:cs typeface="Arial" pitchFamily="34" charset="0"/>
              </a:rPr>
              <a:t>процессором СХД</a:t>
            </a:r>
            <a:r>
              <a:rPr lang="ru-RU" b="0" i="0" dirty="0">
                <a:solidFill>
                  <a:srgbClr val="000000"/>
                </a:solidFill>
                <a:latin typeface="Arial" pitchFamily="34" charset="0"/>
                <a:cs typeface="Arial" pitchFamily="34" charset="0"/>
              </a:rPr>
              <a:t> или </a:t>
            </a:r>
            <a:r>
              <a:rPr lang="ru-RU" b="0" i="1" dirty="0">
                <a:solidFill>
                  <a:srgbClr val="000000"/>
                </a:solidFill>
                <a:latin typeface="Arial" pitchFamily="34" charset="0"/>
                <a:cs typeface="Arial" pitchFamily="34" charset="0"/>
              </a:rPr>
              <a:t>контроллером системы хранения данных)</a:t>
            </a:r>
            <a:r>
              <a:rPr lang="ru-RU" b="0" i="0" dirty="0">
                <a:solidFill>
                  <a:srgbClr val="000000"/>
                </a:solidFill>
                <a:latin typeface="Arial" pitchFamily="34" charset="0"/>
                <a:cs typeface="Arial" pitchFamily="34" charset="0"/>
              </a:rPr>
              <a:t>.</a:t>
            </a:r>
          </a:p>
        </p:txBody>
      </p:sp>
    </p:spTree>
    <p:extLst>
      <p:ext uri="{BB962C8B-B14F-4D97-AF65-F5344CB8AC3E}">
        <p14:creationId xmlns:p14="http://schemas.microsoft.com/office/powerpoint/2010/main" val="1614877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defTabSz="457159">
              <a:spcBef>
                <a:spcPts val="600"/>
              </a:spcBef>
              <a:defRPr/>
            </a:pPr>
            <a:r>
              <a:rPr lang="ru-RU" b="0" i="0" dirty="0">
                <a:solidFill>
                  <a:srgbClr val="000000"/>
                </a:solidFill>
                <a:latin typeface="Arial" pitchFamily="34" charset="0"/>
                <a:cs typeface="Arial" pitchFamily="34" charset="0"/>
              </a:rPr>
              <a:t>Клиентский интерфейс обеспечивает обмен данными между системой хранения и вычислительной системой. Он состоит из двух компонентов: внешних портов и внешних контроллеров. Обычно клиентский интерфейс имеет резервные контроллеры для обеспечения высокой доступности, а каждый контроллер содержит несколько портов, которые позволяют подключать множество вычислительных систем к интеллектуальной системе хранения данных. Каждый внешний контроллер имеет логику обработки, которая обеспечивает использование соответствующего транспортного протокола, например Fibre Channel, iSCSI, FICON или FCoE для подключения к СХД. </a:t>
            </a:r>
            <a:r>
              <a:rPr lang="ru-RU" b="0" i="1" dirty="0">
                <a:solidFill>
                  <a:srgbClr val="000000"/>
                </a:solidFill>
                <a:latin typeface="Arial" pitchFamily="34" charset="0"/>
                <a:cs typeface="Arial" pitchFamily="34" charset="0"/>
              </a:rPr>
              <a:t>Внешние контроллеры</a:t>
            </a:r>
            <a:r>
              <a:rPr lang="ru-RU" b="0" i="0" dirty="0">
                <a:solidFill>
                  <a:srgbClr val="000000"/>
                </a:solidFill>
                <a:latin typeface="Arial" pitchFamily="34" charset="0"/>
                <a:cs typeface="Arial" pitchFamily="34" charset="0"/>
              </a:rPr>
              <a:t> направляют данные в кэш-память и из нее посредством внутренней шины данных. Когда кэш-память получает данные записи, контроллер отправляет сообщение с подтверждением в вычислительную систему.</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2346221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defRPr/>
            </a:pPr>
            <a:r>
              <a:rPr lang="ru-RU" b="0" i="1" dirty="0">
                <a:solidFill>
                  <a:srgbClr val="000000"/>
                </a:solidFill>
                <a:latin typeface="Arial" pitchFamily="34" charset="0"/>
                <a:cs typeface="Arial" pitchFamily="34" charset="0"/>
              </a:rPr>
              <a:t>Кэш-память</a:t>
            </a:r>
            <a:r>
              <a:rPr lang="ru-RU" b="0" i="0" dirty="0">
                <a:solidFill>
                  <a:srgbClr val="000000"/>
                </a:solidFill>
                <a:latin typeface="Arial" pitchFamily="34" charset="0"/>
                <a:cs typeface="Arial" pitchFamily="34" charset="0"/>
              </a:rPr>
              <a:t> — это полупроводниковая память, в которую временно помещаются данные, чтобы сократить время, необходимое для обслуживания запросов ввода-вывода из вычислительной системы. Кэш-память улучшает производительность системы, изолируя вычислительные системы от СХД (жестких и твердотельных дисков). Особенно значительное повышение производительности наблюдается, когда внутреннее хранилище размещается на жестком диске. В этом случае кэш-память улучшает производительность СХД, избавляя вычислительные системы от механических задержек, связанных с вращающимися дисками или жесткими дисками. Вращающиеся диски — самый медленный компонент интеллектуальной системы хранения. Доступ к данным на вращающихся дисках обычно занимает несколько миллисекунд, что обусловлено временем поиска и вращательной задержкой. Кэш-память обеспечивает оперативный доступ к данным, для которого требуется менее одной миллисекунды. В интеллектуальных системах хранения данные записи сначала помещаются в кэш-память, а затем записываются в систему хранения.</a:t>
            </a:r>
          </a:p>
        </p:txBody>
      </p:sp>
    </p:spTree>
    <p:extLst>
      <p:ext uri="{BB962C8B-B14F-4D97-AF65-F5344CB8AC3E}">
        <p14:creationId xmlns:p14="http://schemas.microsoft.com/office/powerpoint/2010/main" val="3106547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Когда вычислительная система посылает запрос чтения, контроллер системы хранения данных считывает метку ОЗУ, чтобы определить доступность необходимых данных в кэш-памяти. Если запрошенные данные обнаружены в кэш-памяти, это называется </a:t>
            </a:r>
            <a:r>
              <a:rPr lang="ru-RU" b="0" i="1" dirty="0">
                <a:solidFill>
                  <a:srgbClr val="000000"/>
                </a:solidFill>
                <a:latin typeface="Arial" pitchFamily="34" charset="0"/>
                <a:cs typeface="Arial" pitchFamily="34" charset="0"/>
              </a:rPr>
              <a:t>попаданием в кэше считывания</a:t>
            </a:r>
            <a:r>
              <a:rPr lang="ru-RU" b="0" i="0" dirty="0">
                <a:solidFill>
                  <a:srgbClr val="000000"/>
                </a:solidFill>
                <a:latin typeface="Arial" pitchFamily="34" charset="0"/>
                <a:cs typeface="Arial" pitchFamily="34" charset="0"/>
              </a:rPr>
              <a:t> или </a:t>
            </a:r>
            <a:r>
              <a:rPr lang="ru-RU" b="0" i="1" dirty="0">
                <a:solidFill>
                  <a:srgbClr val="000000"/>
                </a:solidFill>
                <a:latin typeface="Arial" pitchFamily="34" charset="0"/>
                <a:cs typeface="Arial" pitchFamily="34" charset="0"/>
              </a:rPr>
              <a:t>попаданием при чтении</a:t>
            </a:r>
            <a:r>
              <a:rPr lang="ru-RU" b="0" i="0" dirty="0">
                <a:solidFill>
                  <a:srgbClr val="000000"/>
                </a:solidFill>
                <a:latin typeface="Arial" pitchFamily="34" charset="0"/>
                <a:cs typeface="Arial" pitchFamily="34" charset="0"/>
              </a:rPr>
              <a:t>, а данные отправляются непосредственно в вычислительную систему без выполнения операций во внутреннем хранилище. Это обеспечивает для вычислительной системы малое время отклика (около миллисекунды). Если запрошенные данные не обнаружены в кэш-памяти, то это называется </a:t>
            </a:r>
            <a:r>
              <a:rPr lang="ru-RU" b="0" i="1" dirty="0">
                <a:solidFill>
                  <a:srgbClr val="000000"/>
                </a:solidFill>
                <a:latin typeface="Arial" pitchFamily="34" charset="0"/>
                <a:cs typeface="Arial" pitchFamily="34" charset="0"/>
              </a:rPr>
              <a:t>промахом кэш-памяти</a:t>
            </a:r>
            <a:r>
              <a:rPr lang="ru-RU" b="0" i="0" dirty="0">
                <a:solidFill>
                  <a:srgbClr val="000000"/>
                </a:solidFill>
                <a:latin typeface="Arial" pitchFamily="34" charset="0"/>
                <a:cs typeface="Arial" pitchFamily="34" charset="0"/>
              </a:rPr>
              <a:t>. В этой ситуации данные должны быть считаны из системы хранения. Серверная часть получает доступ к соответствующему устройству хранения данных и извлекает запрошенные данные. Данные помещаются в кэш-память, а затем отправляются в вычислительную систему с помощью клиентского интерфейса. Промахи кэш-памяти увеличивают время отклика при выполнении операций ввода-вывода.</a:t>
            </a:r>
          </a:p>
          <a:p>
            <a:pPr>
              <a:spcBef>
                <a:spcPts val="600"/>
              </a:spcBef>
            </a:pPr>
            <a:r>
              <a:rPr lang="ru-RU" b="0" i="0" dirty="0">
                <a:solidFill>
                  <a:srgbClr val="000000"/>
                </a:solidFill>
                <a:latin typeface="Arial" pitchFamily="34" charset="0"/>
                <a:cs typeface="Arial" pitchFamily="34" charset="0"/>
              </a:rPr>
              <a:t>Алгоритм</a:t>
            </a:r>
            <a:r>
              <a:rPr lang="ru-RU" b="0" i="1" dirty="0">
                <a:solidFill>
                  <a:srgbClr val="000000"/>
                </a:solidFill>
                <a:latin typeface="Arial" pitchFamily="34" charset="0"/>
                <a:cs typeface="Arial" pitchFamily="34" charset="0"/>
              </a:rPr>
              <a:t> предварительной выборки </a:t>
            </a:r>
            <a:r>
              <a:rPr lang="ru-RU" b="0" i="0" dirty="0">
                <a:solidFill>
                  <a:srgbClr val="000000"/>
                </a:solidFill>
                <a:latin typeface="Arial" pitchFamily="34" charset="0"/>
                <a:cs typeface="Arial" pitchFamily="34" charset="0"/>
              </a:rPr>
              <a:t>или</a:t>
            </a:r>
            <a:r>
              <a:rPr lang="ru-RU" b="0" i="1" dirty="0">
                <a:solidFill>
                  <a:srgbClr val="000000"/>
                </a:solidFill>
                <a:latin typeface="Arial" pitchFamily="34" charset="0"/>
                <a:cs typeface="Arial" pitchFamily="34" charset="0"/>
              </a:rPr>
              <a:t> упреждающего чтения</a:t>
            </a:r>
            <a:r>
              <a:rPr lang="ru-RU" b="1" i="0"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используется, когда применяются последовательные запросы на чтение. При последовательном запросе на чтение извлекается смежный набор связанных блоков. Несколько других блоков, которые еще не запросила вычислительная система, могут быть считаны из системы хранения и помещены в кэш-память заранее. Когда вычислительная система впоследствии запросит эти блоки, то операции чтения будут попаданиями при чтении. Этот процесс значительно сокращает время отклика для вычислительной системы. Интеллектуальная система хранения предлагает фиксированный и изменяющийся размеры предварительной выборки. При использовании </a:t>
            </a:r>
            <a:r>
              <a:rPr lang="ru-RU" b="0" i="1" dirty="0">
                <a:solidFill>
                  <a:srgbClr val="000000"/>
                </a:solidFill>
                <a:latin typeface="Arial" pitchFamily="34" charset="0"/>
                <a:cs typeface="Arial" pitchFamily="34" charset="0"/>
              </a:rPr>
              <a:t>предварительной выборки фиксированного размера</a:t>
            </a:r>
            <a:r>
              <a:rPr lang="ru-RU" b="0" i="0" dirty="0">
                <a:solidFill>
                  <a:srgbClr val="000000"/>
                </a:solidFill>
                <a:latin typeface="Arial" pitchFamily="34" charset="0"/>
                <a:cs typeface="Arial" pitchFamily="34" charset="0"/>
              </a:rPr>
              <a:t> интеллектуальная система хранения устанавливает предварительную выборку с фиксированным объемом данных. Такую выборку целесообразно использовать при одинаковых размерах блоков ввода-вывода вычислительной системы. При использовании </a:t>
            </a:r>
            <a:r>
              <a:rPr lang="ru-RU" b="0" i="1" dirty="0">
                <a:solidFill>
                  <a:srgbClr val="000000"/>
                </a:solidFill>
                <a:latin typeface="Arial" pitchFamily="34" charset="0"/>
                <a:cs typeface="Arial" pitchFamily="34" charset="0"/>
              </a:rPr>
              <a:t>предварительной выборки с изменяющимся размером</a:t>
            </a:r>
            <a:r>
              <a:rPr lang="ru-RU" b="0" i="0" dirty="0">
                <a:solidFill>
                  <a:srgbClr val="000000"/>
                </a:solidFill>
                <a:latin typeface="Arial" pitchFamily="34" charset="0"/>
                <a:cs typeface="Arial" pitchFamily="34" charset="0"/>
              </a:rPr>
              <a:t> система хранения предварительно выбирает различные объемы данных по запросу вычислительной системы. </a:t>
            </a:r>
            <a:r>
              <a:rPr lang="ru-RU" b="0" i="1" dirty="0">
                <a:solidFill>
                  <a:srgbClr val="000000"/>
                </a:solidFill>
                <a:latin typeface="Arial" pitchFamily="34" charset="0"/>
                <a:cs typeface="Arial" pitchFamily="34" charset="0"/>
              </a:rPr>
              <a:t>Максимальный размер предварительной выборки</a:t>
            </a:r>
            <a:r>
              <a:rPr lang="ru-RU" b="0" i="0" dirty="0">
                <a:solidFill>
                  <a:srgbClr val="000000"/>
                </a:solidFill>
                <a:latin typeface="Arial" pitchFamily="34" charset="0"/>
                <a:cs typeface="Arial" pitchFamily="34" charset="0"/>
              </a:rPr>
              <a:t> ограничивает количество блоков данных, которые можно предварительно извлечь, что позволяет избежать загрузки СХД операциями предварительной выборки за счет других операций ввода-вывода.</a:t>
            </a:r>
          </a:p>
          <a:p>
            <a:pPr>
              <a:spcBef>
                <a:spcPts val="600"/>
              </a:spcBef>
            </a:pPr>
            <a:r>
              <a:rPr lang="ru-RU" b="0" i="0" dirty="0">
                <a:solidFill>
                  <a:srgbClr val="000000"/>
                </a:solidFill>
                <a:latin typeface="Arial" pitchFamily="34" charset="0"/>
                <a:cs typeface="Arial" pitchFamily="34" charset="0"/>
              </a:rPr>
              <a:t>Производительность чтения измеряется </a:t>
            </a:r>
            <a:r>
              <a:rPr lang="ru-RU" b="0" i="1" dirty="0">
                <a:solidFill>
                  <a:srgbClr val="000000"/>
                </a:solidFill>
                <a:latin typeface="Arial" pitchFamily="34" charset="0"/>
                <a:cs typeface="Arial" pitchFamily="34" charset="0"/>
              </a:rPr>
              <a:t>коэффициентом попаданий операций чтения</a:t>
            </a:r>
            <a:r>
              <a:rPr lang="ru-RU" b="1" i="0"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или </a:t>
            </a:r>
            <a:r>
              <a:rPr lang="ru-RU" b="0" i="1" dirty="0">
                <a:solidFill>
                  <a:srgbClr val="000000"/>
                </a:solidFill>
                <a:latin typeface="Arial" pitchFamily="34" charset="0"/>
                <a:cs typeface="Arial" pitchFamily="34" charset="0"/>
              </a:rPr>
              <a:t>частотой попаданий</a:t>
            </a:r>
            <a:r>
              <a:rPr lang="ru-RU" b="0" i="0" dirty="0">
                <a:solidFill>
                  <a:srgbClr val="000000"/>
                </a:solidFill>
                <a:latin typeface="Arial" pitchFamily="34" charset="0"/>
                <a:cs typeface="Arial" pitchFamily="34" charset="0"/>
              </a:rPr>
              <a:t>, которая обычно выражается в процентах. Этот коэффициент представляет собой отношение числа попаданий при чтении к общему числу запросов на чтение. Чем выше коэффициент попаданий операций чтения, тем выше производительность этих операций.</a:t>
            </a:r>
          </a:p>
        </p:txBody>
      </p:sp>
    </p:spTree>
    <p:extLst>
      <p:ext uri="{BB962C8B-B14F-4D97-AF65-F5344CB8AC3E}">
        <p14:creationId xmlns:p14="http://schemas.microsoft.com/office/powerpoint/2010/main" val="1478146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Операции записи с кэш-памятью обеспечивают преимущества в производительности посредством прямой записи в систему хранения. Когда операция записана в кэш-память и подтверждена, она выполняется быстрее (для вычислительной системы), чем это происходит в том случае, когда операция записывается прямо в систему хранения. Последовательная запись также предлагает возможности для оптимизации, поскольку несколько небольших операций записи можно объединить для передачи в систему хранения с помощью кэш-памяти. Для выполнения операций записи с использованием кэш-памяти используются следующие методы.</a:t>
            </a:r>
          </a:p>
          <a:p>
            <a:pPr marL="171435" indent="-171435" defTabSz="457159">
              <a:spcBef>
                <a:spcPts val="600"/>
              </a:spcBef>
              <a:buFont typeface="Arial" pitchFamily="34" charset="0"/>
              <a:buChar char="•"/>
              <a:defRPr/>
            </a:pPr>
            <a:r>
              <a:rPr lang="ru-RU" b="1" i="0" dirty="0">
                <a:solidFill>
                  <a:srgbClr val="000000"/>
                </a:solidFill>
                <a:latin typeface="Arial" pitchFamily="34" charset="0"/>
                <a:cs typeface="Arial" pitchFamily="34" charset="0"/>
              </a:rPr>
              <a:t>Кэширование со сквозной записью. </a:t>
            </a:r>
            <a:r>
              <a:rPr lang="ru-RU" b="0" i="0" dirty="0">
                <a:solidFill>
                  <a:srgbClr val="000000"/>
                </a:solidFill>
                <a:latin typeface="Arial" pitchFamily="34" charset="0"/>
                <a:cs typeface="Arial" pitchFamily="34" charset="0"/>
              </a:rPr>
              <a:t>Данные помещаются в кэш-память и незамедлительно записываются в систему хранения, а в вычислительную систему отправляется подтверждение. Данные отправляются в систему хранения немедленно, поэтому риск их потери низкий. Однако время отклика операций записи увеличивается из-за операций, выполняемых системой хранения.</a:t>
            </a:r>
          </a:p>
          <a:p>
            <a:pPr marL="171435" indent="-171435">
              <a:spcBef>
                <a:spcPts val="600"/>
              </a:spcBef>
              <a:buFont typeface="Arial" pitchFamily="34" charset="0"/>
              <a:buChar char="•"/>
            </a:pPr>
            <a:r>
              <a:rPr lang="ru-RU" b="1" i="0" dirty="0">
                <a:solidFill>
                  <a:srgbClr val="000000"/>
                </a:solidFill>
                <a:latin typeface="Arial" pitchFamily="34" charset="0"/>
                <a:cs typeface="Arial" pitchFamily="34" charset="0"/>
              </a:rPr>
              <a:t>Кэширование с обратной записью. </a:t>
            </a:r>
            <a:r>
              <a:rPr lang="ru-RU" b="0" i="0" dirty="0">
                <a:solidFill>
                  <a:srgbClr val="000000"/>
                </a:solidFill>
                <a:latin typeface="Arial" pitchFamily="34" charset="0"/>
                <a:cs typeface="Arial" pitchFamily="34" charset="0"/>
              </a:rPr>
              <a:t>Данные помещаются в кэш-память, а подтверждение отправляется в вычислительную систему мгновенно. Позже данные нескольких операций записи направляются (переносятся с удалением) в систему хранения. Отклик для операций записи происходит намного более оперативно, поскольку операции записи изолированы от устройств хранения данных. Однако непереданные данные могут быть утрачены, если произойдет сбой кэш-памяти.</a:t>
            </a:r>
          </a:p>
          <a:p>
            <a:pPr>
              <a:spcBef>
                <a:spcPts val="600"/>
              </a:spcBef>
            </a:pPr>
            <a:r>
              <a:rPr lang="ru-RU" b="0" i="0" dirty="0">
                <a:solidFill>
                  <a:srgbClr val="000000"/>
                </a:solidFill>
                <a:latin typeface="Arial" pitchFamily="34" charset="0"/>
                <a:cs typeface="Arial" pitchFamily="34" charset="0"/>
              </a:rPr>
              <a:t>Кэш-память можно обойти при определенных условиях, например, если операции ввода-вывода выполняются с большими объемами данных. В этом случае, если объем запроса ввода-вывода превышает предустановленный размер (</a:t>
            </a:r>
            <a:r>
              <a:rPr lang="ru-RU" b="0" i="1" dirty="0">
                <a:solidFill>
                  <a:srgbClr val="000000"/>
                </a:solidFill>
                <a:latin typeface="Arial" pitchFamily="34" charset="0"/>
                <a:cs typeface="Arial" pitchFamily="34" charset="0"/>
              </a:rPr>
              <a:t>размер обособленной операции записи</a:t>
            </a:r>
            <a:r>
              <a:rPr lang="ru-RU" b="0" i="0" dirty="0">
                <a:solidFill>
                  <a:srgbClr val="000000"/>
                </a:solidFill>
                <a:latin typeface="Arial" pitchFamily="34" charset="0"/>
                <a:cs typeface="Arial" pitchFamily="34" charset="0"/>
              </a:rPr>
              <a:t>), то записанные данные напрямую отправляются в систему хранения, чтобы снизить нагрузку на кэш-память, вызванную использованием больших объемов данных. Это особенно полезно в средах, где ресурсы кэш-памяти ограничены, а сама кэш-память используется для произвольных операций чтения и записи малого объема. Кэш-память можно использовать как выделенную или глобальную кэш-память. При работе с выделенной кэш-памятью отдельные наборы ячеек памяти резервируются для выполнения операций чтения и записи. При работе с глобальной кэш-памятью операции чтения и записи могут использовать любой из доступных адресов памяти. Управление кэш-памятью более эффективно в рамках глобальной модели, поскольку осуществляется управление только одним глобальным набором адресов.</a:t>
            </a:r>
          </a:p>
          <a:p>
            <a:pPr>
              <a:spcBef>
                <a:spcPts val="600"/>
              </a:spcBef>
            </a:pPr>
            <a:r>
              <a:rPr lang="ru-RU" b="0" i="0" dirty="0">
                <a:solidFill>
                  <a:srgbClr val="000000"/>
                </a:solidFill>
                <a:latin typeface="Arial" pitchFamily="34" charset="0"/>
                <a:cs typeface="Arial" pitchFamily="34" charset="0"/>
              </a:rPr>
              <a:t>Глобальная кэш-память позволяет пользователям указывать процент кэш-памяти, доступной для операций чтения и записи при управлении ею. Обычно объем кэш-памяти чтения небольшой, но его следует увеличить, если работающее приложение интенсивно использует операции чтения. В других реализациях глобальной кэш-памяти соотношение между кэш-памятью чтения и кэш-памятью записи изменяется динамически в зависимости от рабочих нагрузок.</a:t>
            </a:r>
          </a:p>
        </p:txBody>
      </p:sp>
    </p:spTree>
    <p:extLst>
      <p:ext uri="{BB962C8B-B14F-4D97-AF65-F5344CB8AC3E}">
        <p14:creationId xmlns:p14="http://schemas.microsoft.com/office/powerpoint/2010/main" val="101881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Кэш-память — это важный ресурс, которым нужно уметь управлять. Несмотря на то, что современные интеллектуальные системы хранения данных оснащены большими объемами кэш-памяти, когда все страницы кэш-памяти оказываются заполненными, требуется высвобождать некоторые страницы для помещения новых данных во избежание снижения производительности. В интеллектуальных системах хранения используются различные алгоритмы управления кэш-памятью, которые позволяют в упреждающем режиме поддерживать набор свободных страниц и список страниц, которые могут быть высвобождены в случае необходимости. </a:t>
            </a:r>
          </a:p>
          <a:p>
            <a:pPr>
              <a:spcBef>
                <a:spcPts val="600"/>
              </a:spcBef>
            </a:pPr>
            <a:r>
              <a:rPr lang="ru-RU" b="0" i="0" dirty="0">
                <a:solidFill>
                  <a:srgbClr val="000000"/>
                </a:solidFill>
                <a:latin typeface="Arial" pitchFamily="34" charset="0"/>
                <a:cs typeface="Arial" pitchFamily="34" charset="0"/>
              </a:rPr>
              <a:t>Самые распространенные алгоритмы приведены в следующем списке.</a:t>
            </a:r>
          </a:p>
          <a:p>
            <a:pPr marL="171435" indent="-171435">
              <a:spcBef>
                <a:spcPts val="600"/>
              </a:spcBef>
              <a:buFont typeface="Arial" pitchFamily="34" charset="0"/>
              <a:buChar char="•"/>
            </a:pPr>
            <a:r>
              <a:rPr lang="ru-RU" b="1" i="0" dirty="0">
                <a:solidFill>
                  <a:srgbClr val="000000"/>
                </a:solidFill>
                <a:latin typeface="Arial" pitchFamily="34" charset="0"/>
                <a:cs typeface="Arial" pitchFamily="34" charset="0"/>
              </a:rPr>
              <a:t>LRU (элементы с самой большой давностью использования).</a:t>
            </a:r>
            <a:r>
              <a:rPr lang="ru-RU" b="0" i="0" dirty="0">
                <a:solidFill>
                  <a:srgbClr val="000000"/>
                </a:solidFill>
                <a:latin typeface="Arial" pitchFamily="34" charset="0"/>
                <a:cs typeface="Arial" pitchFamily="34" charset="0"/>
              </a:rPr>
              <a:t>Это алгоритм, который постоянно отслеживает доступ к данным и определяет страницы кэш-памяти, доступ к которым не выполнялся продолжительное время. LRU освобождает эти страницы или помечает их для повторного использования. Этот алгоритм основан на допущении, что данные, доступ к которым не выполнялся в течение некоторого времени, не будут запрашиваться вычислительной системой. Однако если страница содержит записанные данные, которые еще не были переданы в систему хранения, то перед повторным использованием страницы данные сначала записываются в систему хранения.</a:t>
            </a:r>
          </a:p>
          <a:p>
            <a:pPr marL="171435" indent="-171435">
              <a:spcBef>
                <a:spcPts val="600"/>
              </a:spcBef>
              <a:buFont typeface="Arial" pitchFamily="34" charset="0"/>
              <a:buChar char="•"/>
            </a:pPr>
            <a:r>
              <a:rPr lang="ru-RU" b="1" i="0" dirty="0">
                <a:solidFill>
                  <a:srgbClr val="000000"/>
                </a:solidFill>
                <a:latin typeface="Arial" pitchFamily="34" charset="0"/>
                <a:cs typeface="Arial" pitchFamily="34" charset="0"/>
              </a:rPr>
              <a:t>MRU (последние по времени использования элементы).</a:t>
            </a:r>
            <a:r>
              <a:rPr lang="ru-RU" b="0" i="0" dirty="0">
                <a:solidFill>
                  <a:srgbClr val="000000"/>
                </a:solidFill>
                <a:latin typeface="Arial" pitchFamily="34" charset="0"/>
                <a:cs typeface="Arial" pitchFamily="34" charset="0"/>
              </a:rPr>
              <a:t>Этот алгоритм работает по противоположному принципу — страницы, доступ к которым осуществлялся недавно, освобождаются или помечаются для повторного использования. Этот алгоритм основан на допущении, что данные, доступ к которым выполнялся недавно, не будут востребованы в течение некоторого времени.</a:t>
            </a:r>
          </a:p>
        </p:txBody>
      </p:sp>
    </p:spTree>
    <p:extLst>
      <p:ext uri="{BB962C8B-B14F-4D97-AF65-F5344CB8AC3E}">
        <p14:creationId xmlns:p14="http://schemas.microsoft.com/office/powerpoint/2010/main" val="2871012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По мере заполнения кэш-памяти система хранения должна выполнять сброс «грязных» страниц (данных, записанных в кэш-память, но не записанных в систему хранения), чтобы управлять доступностью пространства. </a:t>
            </a:r>
            <a:r>
              <a:rPr lang="ru-RU" b="0" i="1" dirty="0">
                <a:solidFill>
                  <a:srgbClr val="000000"/>
                </a:solidFill>
                <a:latin typeface="Arial" pitchFamily="34" charset="0"/>
                <a:cs typeface="Arial" pitchFamily="34" charset="0"/>
              </a:rPr>
              <a:t>Сброс</a:t>
            </a:r>
            <a:r>
              <a:rPr lang="ru-RU" b="0" i="0" dirty="0">
                <a:solidFill>
                  <a:srgbClr val="000000"/>
                </a:solidFill>
                <a:latin typeface="Arial" pitchFamily="34" charset="0"/>
                <a:cs typeface="Arial" pitchFamily="34" charset="0"/>
              </a:rPr>
              <a:t> — это процесс передачи данных из кэш-памяти в систему хранения. Чтобы осуществлять управление процессом сброса, в зависимости от частоты доступа ввода-вывода и характеристик этого доступа для кэш-памяти устанавливаются высокие и низкие пороговые уровни, называемые </a:t>
            </a:r>
            <a:r>
              <a:rPr lang="ru-RU" b="0" i="1" dirty="0">
                <a:solidFill>
                  <a:srgbClr val="000000"/>
                </a:solidFill>
                <a:latin typeface="Arial" pitchFamily="34" charset="0"/>
                <a:cs typeface="Arial" pitchFamily="34" charset="0"/>
              </a:rPr>
              <a:t>уровнями отсечки</a:t>
            </a:r>
            <a:r>
              <a:rPr lang="ru-RU" b="0" i="0" dirty="0">
                <a:solidFill>
                  <a:srgbClr val="000000"/>
                </a:solidFill>
                <a:latin typeface="Arial" pitchFamily="34" charset="0"/>
                <a:cs typeface="Arial" pitchFamily="34" charset="0"/>
              </a:rPr>
              <a:t>. </a:t>
            </a:r>
            <a:r>
              <a:rPr lang="ru-RU" b="0" i="1" dirty="0">
                <a:solidFill>
                  <a:srgbClr val="000000"/>
                </a:solidFill>
                <a:latin typeface="Arial" pitchFamily="34" charset="0"/>
                <a:cs typeface="Arial" pitchFamily="34" charset="0"/>
              </a:rPr>
              <a:t>Высокий уровень отсечки (HWM)</a:t>
            </a:r>
            <a:r>
              <a:rPr lang="ru-RU" b="0" i="0" dirty="0">
                <a:solidFill>
                  <a:srgbClr val="000000"/>
                </a:solidFill>
                <a:latin typeface="Arial" pitchFamily="34" charset="0"/>
                <a:cs typeface="Arial" pitchFamily="34" charset="0"/>
              </a:rPr>
              <a:t> — это уровень использования кэш-памяти, на котором система хранения начинает сброс данных кэш-памяти на высокой скорости. </a:t>
            </a:r>
            <a:r>
              <a:rPr lang="ru-RU" b="0" i="1" dirty="0">
                <a:solidFill>
                  <a:srgbClr val="000000"/>
                </a:solidFill>
                <a:latin typeface="Arial" pitchFamily="34" charset="0"/>
                <a:cs typeface="Arial" pitchFamily="34" charset="0"/>
              </a:rPr>
              <a:t>Низкий уровень отсечки (LWM)</a:t>
            </a:r>
            <a:r>
              <a:rPr lang="ru-RU" b="0" i="0" dirty="0">
                <a:solidFill>
                  <a:srgbClr val="000000"/>
                </a:solidFill>
                <a:latin typeface="Arial" pitchFamily="34" charset="0"/>
                <a:cs typeface="Arial" pitchFamily="34" charset="0"/>
              </a:rPr>
              <a:t> — это уровень, на котором система хранения прекращает сбрасывать данные на диски СХД. Уровень использования кэш-памяти определяет применяемый режим сбрасывания. Режимы приведены ниже.</a:t>
            </a:r>
          </a:p>
          <a:p>
            <a:pPr marL="171435" indent="-171435">
              <a:spcBef>
                <a:spcPts val="600"/>
              </a:spcBef>
              <a:buFont typeface="Arial" pitchFamily="34" charset="0"/>
              <a:buChar char="•"/>
            </a:pPr>
            <a:r>
              <a:rPr lang="ru-RU" b="1" i="0" dirty="0">
                <a:solidFill>
                  <a:srgbClr val="000000"/>
                </a:solidFill>
                <a:latin typeface="Arial" pitchFamily="34" charset="0"/>
                <a:cs typeface="Arial" pitchFamily="34" charset="0"/>
              </a:rPr>
              <a:t>Неактивный сброс. </a:t>
            </a:r>
            <a:r>
              <a:rPr lang="ru-RU" b="0" i="0" dirty="0">
                <a:solidFill>
                  <a:srgbClr val="000000"/>
                </a:solidFill>
                <a:latin typeface="Arial" pitchFamily="34" charset="0"/>
                <a:cs typeface="Arial" pitchFamily="34" charset="0"/>
              </a:rPr>
              <a:t>Работа в этом режиме выполняется постоянно, с ограниченной скоростью. При этом уровень использования кэш-памяти находится между высоким и низким уровнями отсечки.</a:t>
            </a:r>
          </a:p>
          <a:p>
            <a:pPr marL="171435" indent="-171435">
              <a:spcBef>
                <a:spcPts val="600"/>
              </a:spcBef>
              <a:buFont typeface="Arial" pitchFamily="34" charset="0"/>
              <a:buChar char="•"/>
            </a:pPr>
            <a:r>
              <a:rPr lang="ru-RU" b="1" i="0" dirty="0">
                <a:solidFill>
                  <a:srgbClr val="000000"/>
                </a:solidFill>
                <a:latin typeface="Arial" pitchFamily="34" charset="0"/>
                <a:cs typeface="Arial" pitchFamily="34" charset="0"/>
              </a:rPr>
              <a:t>Сброс на высоком уровне отсечки. </a:t>
            </a:r>
            <a:r>
              <a:rPr lang="ru-RU" b="0" i="0" dirty="0">
                <a:solidFill>
                  <a:srgbClr val="000000"/>
                </a:solidFill>
                <a:latin typeface="Arial" pitchFamily="34" charset="0"/>
                <a:cs typeface="Arial" pitchFamily="34" charset="0"/>
              </a:rPr>
              <a:t>Этот режим активируется, когда использование кэш-памяти достигает высокого уровня отсечки. Система хранения выделяет некоторые дополнительные ресурсы для сбрасывания. Этот тип сбрасывания влияет на обработку операций ввода-вывода.</a:t>
            </a:r>
          </a:p>
          <a:p>
            <a:pPr marL="171435" indent="-171435">
              <a:spcBef>
                <a:spcPts val="600"/>
              </a:spcBef>
              <a:buFont typeface="Arial" pitchFamily="34" charset="0"/>
              <a:buChar char="•"/>
            </a:pPr>
            <a:r>
              <a:rPr lang="ru-RU" b="1" i="0" dirty="0">
                <a:solidFill>
                  <a:srgbClr val="000000"/>
                </a:solidFill>
                <a:latin typeface="Arial" pitchFamily="34" charset="0"/>
                <a:cs typeface="Arial" pitchFamily="34" charset="0"/>
              </a:rPr>
              <a:t>Принудительный сброс. </a:t>
            </a:r>
            <a:r>
              <a:rPr lang="ru-RU" b="0" i="0" dirty="0">
                <a:solidFill>
                  <a:srgbClr val="000000"/>
                </a:solidFill>
                <a:latin typeface="Arial" pitchFamily="34" charset="0"/>
                <a:cs typeface="Arial" pitchFamily="34" charset="0"/>
              </a:rPr>
              <a:t>Этот режим активируется при пиковых нагрузках, когда кэш-память заполняется на 100%, что значительно влияет на время отклика ввода-вывода. В режиме принудительного сброса система сбрасывает кэш-память и выделяет дополнительные ресурсы в приоритетном порядке.</a:t>
            </a:r>
          </a:p>
          <a:p>
            <a:pPr>
              <a:spcBef>
                <a:spcPts val="600"/>
              </a:spcBef>
            </a:pPr>
            <a:r>
              <a:rPr lang="ru-RU" b="0" i="0" dirty="0">
                <a:solidFill>
                  <a:srgbClr val="000000"/>
                </a:solidFill>
                <a:latin typeface="Arial" pitchFamily="34" charset="0"/>
                <a:cs typeface="Arial" pitchFamily="34" charset="0"/>
              </a:rPr>
              <a:t>Управление скоростью сбрасывания и скоростью приема операций ввода-вывода вычислительной системы в кэш-память осуществляется динамически, что позволяет оптимизировать производительность системы хранения. Контроллер в динамическом режиме автоматически регулирует входящие и исходящие операции ввода-вывода. Благодаря интеллектуальным алгоритмам сброса диски СХД получают время на обработку увеличенной нагрузки сброса за счет запаздывания подтверждений ввода-вывода вычислительной системы. Это позволяет снизить скорость входящих операций записи. Регулирование нагрузки продолжается до тех пор, пока поток входящих данных не будет соответствовать возможностям дисков базовой СХД по обработке рабочих нагрузок.</a:t>
            </a:r>
          </a:p>
        </p:txBody>
      </p:sp>
    </p:spTree>
    <p:extLst>
      <p:ext uri="{BB962C8B-B14F-4D97-AF65-F5344CB8AC3E}">
        <p14:creationId xmlns:p14="http://schemas.microsoft.com/office/powerpoint/2010/main" val="10010597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Кэш-память не сохраняет информацию при отключении питания. Поэтому сбой электропитания или сбой самой кэш-памяти приводит к потере данных, которые еще не были переданы на диск системы хранения. В таком случае риск потери данных можно снизить с помощью </a:t>
            </a:r>
            <a:r>
              <a:rPr lang="ru-RU" b="0" i="1" dirty="0">
                <a:solidFill>
                  <a:srgbClr val="000000"/>
                </a:solidFill>
                <a:latin typeface="Arial" pitchFamily="34" charset="0"/>
                <a:cs typeface="Arial" pitchFamily="34" charset="0"/>
              </a:rPr>
              <a:t>зеркалирования кэш-памяти</a:t>
            </a:r>
            <a:r>
              <a:rPr lang="ru-RU" b="0" i="0" dirty="0">
                <a:solidFill>
                  <a:srgbClr val="000000"/>
                </a:solidFill>
                <a:latin typeface="Arial" pitchFamily="34" charset="0"/>
                <a:cs typeface="Arial" pitchFamily="34" charset="0"/>
              </a:rPr>
              <a:t> и </a:t>
            </a:r>
            <a:r>
              <a:rPr lang="ru-RU" b="0" i="1" dirty="0">
                <a:solidFill>
                  <a:srgbClr val="000000"/>
                </a:solidFill>
                <a:latin typeface="Arial" pitchFamily="34" charset="0"/>
                <a:cs typeface="Arial" pitchFamily="34" charset="0"/>
              </a:rPr>
              <a:t>аварийного сохранения данных из кэш-памяти</a:t>
            </a:r>
            <a:r>
              <a:rPr lang="ru-RU" b="0" i="0" dirty="0">
                <a:solidFill>
                  <a:srgbClr val="000000"/>
                </a:solidFill>
                <a:latin typeface="Arial" pitchFamily="34" charset="0"/>
                <a:cs typeface="Arial" pitchFamily="34" charset="0"/>
              </a:rPr>
              <a:t>.</a:t>
            </a:r>
          </a:p>
          <a:p>
            <a:pPr marL="171435" indent="-171435">
              <a:spcBef>
                <a:spcPts val="600"/>
              </a:spcBef>
              <a:buFont typeface="Arial" pitchFamily="34" charset="0"/>
              <a:buChar char="•"/>
            </a:pPr>
            <a:r>
              <a:rPr lang="ru-RU" b="1" i="0" dirty="0">
                <a:solidFill>
                  <a:srgbClr val="000000"/>
                </a:solidFill>
                <a:latin typeface="Arial" pitchFamily="34" charset="0"/>
                <a:cs typeface="Arial" pitchFamily="34" charset="0"/>
              </a:rPr>
              <a:t>Зеркалирование кэш-памяти. </a:t>
            </a:r>
            <a:r>
              <a:rPr lang="ru-RU" b="0" i="0" dirty="0">
                <a:solidFill>
                  <a:srgbClr val="000000"/>
                </a:solidFill>
                <a:latin typeface="Arial" pitchFamily="34" charset="0"/>
                <a:cs typeface="Arial" pitchFamily="34" charset="0"/>
              </a:rPr>
              <a:t>Каждая операция записи в кэш-память выполняется в двух различных областях на двух независимых картах памяти. Если возникнет сбой кэш-памяти, то записанные данные будут по-прежнему надежно защищены в зеркалированной области и их можно будет передать на диск системы хранения. Считанные данные переносятся с диска системы хранения в кэш-память. Поэтому в случае сбоя кэш-памяти данные будут доступны на дисках системы хранения. Зеркалирование выполняется только для операций записи, поэтому этот метод позволяет более эффективно использовать доступную кэш-память. Зеркалирование кэш-памяти сопряжено с проблемой </a:t>
            </a:r>
            <a:r>
              <a:rPr lang="ru-RU" b="0" i="1" dirty="0">
                <a:solidFill>
                  <a:srgbClr val="000000"/>
                </a:solidFill>
                <a:latin typeface="Arial" pitchFamily="34" charset="0"/>
                <a:cs typeface="Arial" pitchFamily="34" charset="0"/>
              </a:rPr>
              <a:t>согласования кэш-памяти</a:t>
            </a:r>
            <a:r>
              <a:rPr lang="ru-RU" b="0" i="0" dirty="0">
                <a:solidFill>
                  <a:srgbClr val="000000"/>
                </a:solidFill>
                <a:latin typeface="Arial" pitchFamily="34" charset="0"/>
                <a:cs typeface="Arial" pitchFamily="34" charset="0"/>
              </a:rPr>
              <a:t> Согласование кэш-памяти означает, что данные в двух разных областях кэш-памяти должны быть идентичны в любой момент времени. Операционная среда системы хранения должна обеспечивать эту согласованность.</a:t>
            </a:r>
          </a:p>
          <a:p>
            <a:pPr marL="171435" indent="-171435">
              <a:spcBef>
                <a:spcPts val="600"/>
              </a:spcBef>
              <a:buFont typeface="Arial" pitchFamily="34" charset="0"/>
              <a:buChar char="•"/>
            </a:pPr>
            <a:r>
              <a:rPr lang="ru-RU" b="1" i="0" dirty="0">
                <a:solidFill>
                  <a:srgbClr val="000000"/>
                </a:solidFill>
                <a:latin typeface="Arial" pitchFamily="34" charset="0"/>
                <a:cs typeface="Arial" pitchFamily="34" charset="0"/>
              </a:rPr>
              <a:t>Аварийное сохранение данных из кэш-памяти. </a:t>
            </a:r>
            <a:r>
              <a:rPr lang="ru-RU" b="0" i="0" dirty="0">
                <a:solidFill>
                  <a:srgbClr val="000000"/>
                </a:solidFill>
                <a:latin typeface="Arial" pitchFamily="34" charset="0"/>
                <a:cs typeface="Arial" pitchFamily="34" charset="0"/>
              </a:rPr>
              <a:t>Проблему потери данных в результате сбоя электропитания можно решить разными способами: можно обеспечить питание для памяти с помощью аккумулятора (до восстановления электропитания) или использовать аккумулятор, чтобы записать содержание кэш-памяти на диски системы хранения. При серьезном сбое электропитания использование аккумулятора не решит проблему. Причина состоит в том, что в интеллектуальных системах хранения может потребоваться перенос больших объемов данных на несколько дисков СХД, а заряда аккумуляторов не хватит, чтобы записать все блоки данных на целевые диски СХД. Поэтому поставщики систем хранения используют набор физических дисков СХД, чтобы сделать дамп содержания кэш-памяти при сбое электропитания. Это называется </a:t>
            </a:r>
            <a:r>
              <a:rPr lang="ru-RU" b="0" i="1" dirty="0">
                <a:solidFill>
                  <a:srgbClr val="000000"/>
                </a:solidFill>
                <a:latin typeface="Arial" pitchFamily="34" charset="0"/>
                <a:cs typeface="Arial" pitchFamily="34" charset="0"/>
              </a:rPr>
              <a:t>аварийным сохранением данных из кэш-памяти</a:t>
            </a:r>
            <a:r>
              <a:rPr lang="ru-RU" b="0" i="0" dirty="0">
                <a:solidFill>
                  <a:srgbClr val="000000"/>
                </a:solidFill>
                <a:latin typeface="Arial" pitchFamily="34" charset="0"/>
                <a:cs typeface="Arial" pitchFamily="34" charset="0"/>
              </a:rPr>
              <a:t>, а диски СХД называются </a:t>
            </a:r>
            <a:r>
              <a:rPr lang="ru-RU" b="0" i="1" dirty="0">
                <a:solidFill>
                  <a:srgbClr val="000000"/>
                </a:solidFill>
                <a:latin typeface="Arial" pitchFamily="34" charset="0"/>
                <a:cs typeface="Arial" pitchFamily="34" charset="0"/>
              </a:rPr>
              <a:t>системными дисками</a:t>
            </a:r>
            <a:r>
              <a:rPr lang="ru-RU" b="0" i="0" dirty="0">
                <a:solidFill>
                  <a:srgbClr val="000000"/>
                </a:solidFill>
                <a:latin typeface="Arial" pitchFamily="34" charset="0"/>
                <a:cs typeface="Arial" pitchFamily="34" charset="0"/>
              </a:rPr>
              <a:t>. После восстановления питания данные с этих дисков СХД возвращаются в кэш-память записи, а затем записываются на целевые диски.</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2273555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1" dirty="0">
                <a:solidFill>
                  <a:srgbClr val="000000"/>
                </a:solidFill>
                <a:latin typeface="Arial" pitchFamily="34" charset="0"/>
                <a:cs typeface="Arial" pitchFamily="34" charset="0"/>
              </a:rPr>
              <a:t>Серверная часть</a:t>
            </a:r>
            <a:r>
              <a:rPr lang="ru-RU" b="0" i="0" dirty="0">
                <a:solidFill>
                  <a:srgbClr val="000000"/>
                </a:solidFill>
                <a:latin typeface="Arial" pitchFamily="34" charset="0"/>
                <a:cs typeface="Arial" pitchFamily="34" charset="0"/>
              </a:rPr>
              <a:t> обеспечивает взаимодействие между кэш-памятью и физическими дисками СХД. Она состоит из двух компонентов: внутренних портов и контроллеров серверной части. Серверная часть контролирует обмен данными между кэш-памятью и физическими дисками. Данные отправляются из кэш-памяти в серверную часть, а затем передаются на целевые диски СХД. Физические диски подключаются к портам серверной части. Внутренний контроллер обменивается данными с дисками СХД в процессе выполнения операций чтения и записи, а также предоставляет дополнительное (но ограниченное в объеме) временное хранилище для данных. Алгоритмы, выполняемые для контроллеров серверной части, обеспечивают поиск и исправление ошибок, а также функциональность массивов RAID.</a:t>
            </a:r>
          </a:p>
          <a:p>
            <a:pPr>
              <a:spcBef>
                <a:spcPts val="600"/>
              </a:spcBef>
            </a:pPr>
            <a:r>
              <a:rPr lang="ru-RU" b="0" i="0" dirty="0">
                <a:solidFill>
                  <a:srgbClr val="000000"/>
                </a:solidFill>
                <a:latin typeface="Arial" pitchFamily="34" charset="0"/>
                <a:cs typeface="Arial" pitchFamily="34" charset="0"/>
              </a:rPr>
              <a:t>Чтобы гарантировать улучшенную защиту данных и высокую доступность, системы хранения оборудованы двумя контроллерами и несколькими портами. Такие конфигурации обеспечивают альтернативный путь к физическим дискам СХД в случае сбоя контроллера или порта. Уровень надежности становится более высоким, если диски СХД также снабжены двумя портами. В этом случае каждый порт диска может подключаться к отдельному контроллеру. Несколько контроллеров облегчают балансировку нагрузки.</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27646959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defTabSz="457159">
              <a:spcBef>
                <a:spcPts val="600"/>
              </a:spcBef>
              <a:defRPr/>
            </a:pPr>
            <a:r>
              <a:rPr lang="ru-RU" b="0" i="0" dirty="0">
                <a:solidFill>
                  <a:srgbClr val="000000"/>
                </a:solidFill>
                <a:latin typeface="Arial" pitchFamily="34" charset="0"/>
                <a:cs typeface="Arial" pitchFamily="34" charset="0"/>
              </a:rPr>
              <a:t>Физические диски СХД подключены к контроллеру СХД серверной части и обеспечивают возможность хранения данных на постоянной основе. Современные интеллектуальные системы хранения поддерживают множество дисков СХД различных типов, работающих с разными скоростями, например, Fibre Channel, SATA, SAS и твердотельные диски (SSD). Они также позволяют использовать различные сочетания твердотельных дисков, дисков Fibre Channel и SATA в одной системе хранения.</a:t>
            </a:r>
          </a:p>
          <a:p>
            <a:pPr>
              <a:spcBef>
                <a:spcPts val="600"/>
              </a:spcBef>
              <a:defRPr/>
            </a:pPr>
            <a:r>
              <a:rPr lang="ru-RU" b="0" i="0" dirty="0">
                <a:solidFill>
                  <a:srgbClr val="000000"/>
                </a:solidFill>
                <a:latin typeface="Arial" pitchFamily="34" charset="0"/>
                <a:cs typeface="Arial" pitchFamily="34" charset="0"/>
              </a:rPr>
              <a:t>Рабочие нагрузки с предсказуемыми схемами доступа, как правило, эффективны при использовании сочетания жестких и твердотельных дисков. Если рабочая нагрузка изменяется или требуется стабильно высокая производительность для всех систем хранения, то для решения этой задачи следует использовать твердотельные диски (SSD).</a:t>
            </a:r>
          </a:p>
        </p:txBody>
      </p:sp>
    </p:spTree>
    <p:extLst>
      <p:ext uri="{BB962C8B-B14F-4D97-AF65-F5344CB8AC3E}">
        <p14:creationId xmlns:p14="http://schemas.microsoft.com/office/powerpoint/2010/main" val="22793834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defTabSz="457159">
              <a:spcBef>
                <a:spcPts val="600"/>
              </a:spcBef>
              <a:defRPr/>
            </a:pPr>
            <a:r>
              <a:rPr lang="ru-RU" b="0" i="0" dirty="0">
                <a:solidFill>
                  <a:srgbClr val="000000"/>
                </a:solidFill>
                <a:latin typeface="Arial" pitchFamily="34" charset="0"/>
                <a:cs typeface="Arial" pitchFamily="34" charset="0"/>
              </a:rPr>
              <a:t>В этом уроке рассматривались компоненты блочной системы хранения, алгоритмы интеллектуального кэширования и механизмы защиты данных кэш-памяти.</a:t>
            </a:r>
          </a:p>
          <a:p>
            <a:pPr>
              <a:spcBef>
                <a:spcPts val="600"/>
              </a:spcBef>
            </a:pPr>
            <a:endParaRPr lang="ru-RU" dirty="0">
              <a:latin typeface="Arial" pitchFamily="34" charset="0"/>
              <a:cs typeface="Arial" pitchFamily="34" charset="0"/>
            </a:endParaRP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рассматриваются процессы традиционного и виртуального выделения ресурсов. В ходе урока также рассматриваются механизмы расширения и маскирования томов.</a:t>
            </a:r>
          </a:p>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defTabSz="457159">
              <a:spcBef>
                <a:spcPts val="600"/>
              </a:spcBef>
              <a:defRPr/>
            </a:pPr>
            <a:r>
              <a:rPr lang="ru-RU" b="0" i="1" dirty="0">
                <a:solidFill>
                  <a:srgbClr val="000000"/>
                </a:solidFill>
                <a:latin typeface="Arial" pitchFamily="34" charset="0"/>
                <a:cs typeface="Arial" pitchFamily="34" charset="0"/>
              </a:rPr>
              <a:t>Выделение ресурсов хранения</a:t>
            </a:r>
            <a:r>
              <a:rPr lang="ru-RU" b="0" i="0" dirty="0">
                <a:solidFill>
                  <a:srgbClr val="000000"/>
                </a:solidFill>
                <a:latin typeface="Arial" pitchFamily="34" charset="0"/>
                <a:cs typeface="Arial" pitchFamily="34" charset="0"/>
              </a:rPr>
              <a:t> — это процесс назначения ресурсов хранения данных вычислительным системам, который определяется требованиями к емкости, доступности и производительности. </a:t>
            </a:r>
          </a:p>
          <a:p>
            <a:pPr defTabSz="457159">
              <a:spcBef>
                <a:spcPts val="600"/>
              </a:spcBef>
              <a:defRPr/>
            </a:pPr>
            <a:r>
              <a:rPr lang="ru-RU" b="0" i="0" dirty="0">
                <a:solidFill>
                  <a:srgbClr val="000000"/>
                </a:solidFill>
                <a:latin typeface="Arial" pitchFamily="34" charset="0"/>
                <a:cs typeface="Arial" pitchFamily="34" charset="0"/>
              </a:rPr>
              <a:t>Выделение ресурсов хранения может быть традиционным и виртуальным. </a:t>
            </a:r>
          </a:p>
          <a:p>
            <a:pPr defTabSz="457159">
              <a:spcBef>
                <a:spcPts val="600"/>
              </a:spcBef>
              <a:defRPr/>
            </a:pPr>
            <a:r>
              <a:rPr lang="ru-RU" b="0" i="0" dirty="0">
                <a:solidFill>
                  <a:srgbClr val="000000"/>
                </a:solidFill>
                <a:latin typeface="Arial" pitchFamily="34" charset="0"/>
                <a:cs typeface="Arial" pitchFamily="34" charset="0"/>
              </a:rPr>
              <a:t>Для </a:t>
            </a:r>
            <a:r>
              <a:rPr lang="ru-RU" b="0" i="1" dirty="0">
                <a:solidFill>
                  <a:srgbClr val="000000"/>
                </a:solidFill>
                <a:latin typeface="Arial" pitchFamily="34" charset="0"/>
                <a:cs typeface="Arial" pitchFamily="34" charset="0"/>
              </a:rPr>
              <a:t>виртуального выделения ресурсов</a:t>
            </a:r>
            <a:r>
              <a:rPr lang="ru-RU" b="0" i="0" dirty="0">
                <a:solidFill>
                  <a:srgbClr val="000000"/>
                </a:solidFill>
                <a:latin typeface="Arial" pitchFamily="34" charset="0"/>
                <a:cs typeface="Arial" pitchFamily="34" charset="0"/>
              </a:rPr>
              <a:t> используется технология виртуализации, позволяющая выделять ресурсы СХД для приложений. </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24177916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b="0" i="0" dirty="0">
                <a:solidFill>
                  <a:srgbClr val="000000"/>
                </a:solidFill>
                <a:latin typeface="Arial" pitchFamily="34" charset="0"/>
                <a:cs typeface="Arial" pitchFamily="34" charset="0"/>
              </a:rPr>
              <a:t>При традиционном выделении ресурсов хранения физические диски СХД логически объединяются в группы, использующие необходимый уровень RAID, формируя таким образом набор, называемый набором RAID. </a:t>
            </a:r>
          </a:p>
          <a:p>
            <a:pPr indent="457200">
              <a:spcBef>
                <a:spcPts val="600"/>
              </a:spcBef>
            </a:pPr>
            <a:r>
              <a:rPr lang="ru-RU" b="0" i="0" dirty="0">
                <a:solidFill>
                  <a:srgbClr val="000000"/>
                </a:solidFill>
                <a:latin typeface="Arial" pitchFamily="34" charset="0"/>
                <a:cs typeface="Arial" pitchFamily="34" charset="0"/>
              </a:rPr>
              <a:t>Количество дисков в наборе RAID и на уровне RAID определяют доступность, емкость и производительность набора RAID. </a:t>
            </a:r>
          </a:p>
          <a:p>
            <a:pPr indent="457200">
              <a:spcBef>
                <a:spcPts val="600"/>
              </a:spcBef>
            </a:pPr>
            <a:r>
              <a:rPr lang="ru-RU" b="0" i="0" dirty="0">
                <a:solidFill>
                  <a:srgbClr val="000000"/>
                </a:solidFill>
                <a:latin typeface="Arial" pitchFamily="34" charset="0"/>
                <a:cs typeface="Arial" pitchFamily="34" charset="0"/>
              </a:rPr>
              <a:t>Настоятельно рекомендуется создавать набор RAID из дисков подобного типа с аналогичными показателями скорости и емкости, чтобы гарантировать максимальную полезную емкость, надежность и согласованную производительность. </a:t>
            </a:r>
          </a:p>
          <a:p>
            <a:pPr indent="457200">
              <a:spcBef>
                <a:spcPts val="600"/>
              </a:spcBef>
            </a:pPr>
            <a:r>
              <a:rPr lang="ru-RU" b="0" i="0" dirty="0">
                <a:solidFill>
                  <a:srgbClr val="000000"/>
                </a:solidFill>
                <a:latin typeface="Arial" pitchFamily="34" charset="0"/>
                <a:cs typeface="Arial" pitchFamily="34" charset="0"/>
              </a:rPr>
              <a:t>Например, если в наборе RAID используются диски различной емкости, то на каждом из дисков, входящих в набор, будет использован только объем, соответствующий емкости самого маленького диска. Оставшаяся емкость дисков большего размера не будет использоваться. Аналогичным образом, объединение дисков с более высокой скоростью с дисками с более низкой скоростью снижает общую производительность набора RAID. </a:t>
            </a:r>
          </a:p>
          <a:p>
            <a:pPr indent="457200">
              <a:spcBef>
                <a:spcPts val="600"/>
              </a:spcBef>
            </a:pPr>
            <a:r>
              <a:rPr lang="ru-RU" b="0" i="0" dirty="0">
                <a:solidFill>
                  <a:srgbClr val="000000"/>
                </a:solidFill>
                <a:latin typeface="Arial" pitchFamily="34" charset="0"/>
                <a:cs typeface="Arial" pitchFamily="34" charset="0"/>
              </a:rPr>
              <a:t>Обычно наборы RAID имеют большую емкость, так как в них объединяются емкости отдельных дисков в наборе. </a:t>
            </a:r>
          </a:p>
          <a:p>
            <a:pPr indent="457200">
              <a:spcBef>
                <a:spcPts val="600"/>
              </a:spcBef>
            </a:pPr>
            <a:r>
              <a:rPr lang="ru-RU" b="1" i="1" dirty="0">
                <a:solidFill>
                  <a:srgbClr val="000000"/>
                </a:solidFill>
                <a:latin typeface="Arial" pitchFamily="34" charset="0"/>
                <a:cs typeface="Arial" pitchFamily="34" charset="0"/>
              </a:rPr>
              <a:t>Логические устройства</a:t>
            </a:r>
            <a:r>
              <a:rPr lang="ru-RU" b="1" i="0"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создаются на основе наборов RAID путем разбиения доступной емкости </a:t>
            </a:r>
            <a:r>
              <a:rPr lang="ru-RU" b="1" i="0" dirty="0">
                <a:solidFill>
                  <a:srgbClr val="000000"/>
                </a:solidFill>
                <a:latin typeface="Arial" pitchFamily="34" charset="0"/>
                <a:cs typeface="Arial" pitchFamily="34" charset="0"/>
              </a:rPr>
              <a:t>на части меньшего размера </a:t>
            </a:r>
            <a:r>
              <a:rPr lang="ru-RU" b="0" i="0" dirty="0">
                <a:solidFill>
                  <a:srgbClr val="000000"/>
                </a:solidFill>
                <a:latin typeface="Arial" pitchFamily="34" charset="0"/>
                <a:cs typeface="Arial" pitchFamily="34" charset="0"/>
              </a:rPr>
              <a:t>(которые рассматриваются как сегменты набора RAID). Эти устройства затем назначаются вычислительной системе с учетом их требований к СХД.</a:t>
            </a:r>
          </a:p>
          <a:p>
            <a:pPr indent="457200">
              <a:spcBef>
                <a:spcPts val="600"/>
              </a:spcBef>
            </a:pPr>
            <a:r>
              <a:rPr lang="ru-RU" b="0" i="0" dirty="0">
                <a:solidFill>
                  <a:srgbClr val="000000"/>
                </a:solidFill>
                <a:latin typeface="Arial" pitchFamily="34" charset="0"/>
                <a:cs typeface="Arial" pitchFamily="34" charset="0"/>
              </a:rPr>
              <a:t>Логические устройства </a:t>
            </a:r>
            <a:r>
              <a:rPr lang="ru-RU" b="1" i="0" dirty="0">
                <a:solidFill>
                  <a:srgbClr val="000000"/>
                </a:solidFill>
                <a:latin typeface="Arial" pitchFamily="34" charset="0"/>
                <a:cs typeface="Arial" pitchFamily="34" charset="0"/>
              </a:rPr>
              <a:t>распределены между всеми физическими дисками набора</a:t>
            </a:r>
            <a:r>
              <a:rPr lang="ru-RU" b="0" i="0" dirty="0">
                <a:solidFill>
                  <a:srgbClr val="000000"/>
                </a:solidFill>
                <a:latin typeface="Arial" pitchFamily="34" charset="0"/>
                <a:cs typeface="Arial" pitchFamily="34" charset="0"/>
              </a:rPr>
              <a:t>. </a:t>
            </a:r>
          </a:p>
          <a:p>
            <a:pPr indent="457200">
              <a:spcBef>
                <a:spcPts val="600"/>
              </a:spcBef>
            </a:pPr>
            <a:r>
              <a:rPr lang="ru-RU" b="0" i="0" dirty="0">
                <a:solidFill>
                  <a:srgbClr val="000000"/>
                </a:solidFill>
                <a:latin typeface="Arial" pitchFamily="34" charset="0"/>
                <a:cs typeface="Arial" pitchFamily="34" charset="0"/>
              </a:rPr>
              <a:t>Каждому логическому устройству, созданному на базе набора RAID, присваивается уникальный идентификатор, называемый </a:t>
            </a:r>
            <a:r>
              <a:rPr lang="ru-RU" b="0" i="1" dirty="0">
                <a:solidFill>
                  <a:srgbClr val="000000"/>
                </a:solidFill>
                <a:latin typeface="Arial" pitchFamily="34" charset="0"/>
                <a:cs typeface="Arial" pitchFamily="34" charset="0"/>
              </a:rPr>
              <a:t>томом</a:t>
            </a:r>
            <a:r>
              <a:rPr lang="ru-RU" b="0" i="0" dirty="0">
                <a:solidFill>
                  <a:srgbClr val="000000"/>
                </a:solidFill>
                <a:latin typeface="Arial" pitchFamily="34" charset="0"/>
                <a:cs typeface="Arial" pitchFamily="34" charset="0"/>
              </a:rPr>
              <a:t> (LUN). Использование томов позволяет скрыть организацию и состав набора RAID от вычислительных систем. Тома, созданные с использованием традиционных методов выделения ресурсов хранения, также называют </a:t>
            </a:r>
            <a:r>
              <a:rPr lang="ru-RU" b="0" i="1" dirty="0">
                <a:solidFill>
                  <a:srgbClr val="000000"/>
                </a:solidFill>
                <a:latin typeface="Arial" pitchFamily="34" charset="0"/>
                <a:cs typeface="Arial" pitchFamily="34" charset="0"/>
              </a:rPr>
              <a:t>«толстыми» томами,</a:t>
            </a:r>
            <a:r>
              <a:rPr lang="ru-RU" b="0" i="0" dirty="0">
                <a:solidFill>
                  <a:srgbClr val="000000"/>
                </a:solidFill>
                <a:latin typeface="Arial" pitchFamily="34" charset="0"/>
                <a:cs typeface="Arial" pitchFamily="34" charset="0"/>
              </a:rPr>
              <a:t> чтобы отличить их от томов, созданных методами виртуального выделения ресурсов.</a:t>
            </a:r>
          </a:p>
          <a:p>
            <a:pPr indent="457200">
              <a:spcBef>
                <a:spcPts val="600"/>
              </a:spcBef>
            </a:pPr>
            <a:r>
              <a:rPr lang="ru-RU" b="0" i="0" dirty="0">
                <a:solidFill>
                  <a:srgbClr val="000000"/>
                </a:solidFill>
                <a:latin typeface="Arial" pitchFamily="34" charset="0"/>
                <a:cs typeface="Arial" pitchFamily="34" charset="0"/>
              </a:rPr>
              <a:t>На этом слайде изображен набор RAID, состоящий из пяти дисков СХД, который был разбит на два тома: том 0 и том 1. Эти тома затем назначаются вычислительным системам 1 и 2 с учетом их требований к СХД.</a:t>
            </a:r>
          </a:p>
          <a:p>
            <a:pPr indent="457200">
              <a:spcBef>
                <a:spcPts val="600"/>
              </a:spcBef>
            </a:pPr>
            <a:r>
              <a:rPr lang="ru-RU" b="0" i="0" dirty="0">
                <a:solidFill>
                  <a:srgbClr val="000000"/>
                </a:solidFill>
                <a:latin typeface="Arial" pitchFamily="34" charset="0"/>
                <a:cs typeface="Arial" pitchFamily="34" charset="0"/>
              </a:rPr>
              <a:t>Когда том настроен и назначен невиртуализированной вычислительной системе, для идентификации тома требуется выполнить сканирование шины. Этот том будет представлен в ОС как неотформатированный диск СХД. Чтобы этот диск можно было использовать, он форматируется с помощью файловой системы, которая затем монтируется.</a:t>
            </a:r>
          </a:p>
          <a:p>
            <a:pPr indent="457200">
              <a:spcBef>
                <a:spcPts val="600"/>
              </a:spcBef>
            </a:pPr>
            <a:r>
              <a:rPr lang="ru-RU" dirty="0">
                <a:latin typeface="Arial" pitchFamily="34" charset="0"/>
                <a:cs typeface="Arial" pitchFamily="34" charset="0"/>
              </a:rPr>
              <a:t>В среде виртуализированной вычислительной системы том назначается гипервизору, который распознает его как неотформатированный диск СХД. На этом диске настраивается файловая система гипервизора, а затем в ней создаются виртуальные диски СХД. </a:t>
            </a:r>
            <a:r>
              <a:rPr lang="ru-RU" i="1" dirty="0">
                <a:latin typeface="Arial" pitchFamily="34" charset="0"/>
                <a:cs typeface="Arial" pitchFamily="34" charset="0"/>
              </a:rPr>
              <a:t>Виртуальные диски СХД — это файлы в файловой системе гипервизора. Затем виртуальные диски СХД назначаются виртуальным машинам, для которых они имеют вид неотформатированных дисков. Чтобы виртуальный диск СХД можно было использовать в виртуальной машине, необходимо выполнить процедуру, аналогичную той, которая выполняется в невиртуализированной среде. В виртуализированной среде пространство тома может использоваться совместно несколькими виртуальными машинами.</a:t>
            </a:r>
          </a:p>
          <a:p>
            <a:pPr indent="457200">
              <a:spcBef>
                <a:spcPts val="600"/>
              </a:spcBef>
            </a:pPr>
            <a:r>
              <a:rPr lang="ru-RU" dirty="0">
                <a:latin typeface="Arial" pitchFamily="34" charset="0"/>
                <a:cs typeface="Arial" pitchFamily="34" charset="0"/>
              </a:rPr>
              <a:t>Виртуальные машины также могут осуществлять доступ к тому непосредственно в системе хранения. При использовании этого метода весь том назначается одной виртуальной машине. Такой способ хранения данных рекомендуется, если приложения, запущенные на виртуальной машине, чувствительны к времени отклика и использование ресурса хранения совместно с другими виртуальными машинами может отрицательно повлиять на эту характеристику. Метод прямого доступа также используется, когда виртуальная машина входит в один кластер с физическим компьютером. В этом случае виртуальной машине необходимо обращаться к тому, к которому осуществляет доступ физический компьютер.</a:t>
            </a:r>
          </a:p>
          <a:p>
            <a:pPr indent="457200">
              <a:spcBef>
                <a:spcPts val="600"/>
              </a:spcBef>
            </a:pPr>
            <a:endParaRPr lang="ru-RU" b="0"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6189284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b="0" i="1" dirty="0">
                <a:solidFill>
                  <a:srgbClr val="000000"/>
                </a:solidFill>
                <a:latin typeface="Arial" pitchFamily="34" charset="0"/>
                <a:cs typeface="Arial" pitchFamily="34" charset="0"/>
              </a:rPr>
              <a:t>Мета том</a:t>
            </a:r>
            <a:r>
              <a:rPr lang="ru-RU" b="0" i="0" dirty="0">
                <a:solidFill>
                  <a:srgbClr val="000000"/>
                </a:solidFill>
                <a:latin typeface="Arial" pitchFamily="34" charset="0"/>
                <a:cs typeface="Arial" pitchFamily="34" charset="0"/>
              </a:rPr>
              <a:t> — это </a:t>
            </a:r>
            <a:r>
              <a:rPr lang="ru-RU" b="1" i="0" dirty="0">
                <a:solidFill>
                  <a:srgbClr val="000000"/>
                </a:solidFill>
                <a:latin typeface="Arial" pitchFamily="34" charset="0"/>
                <a:cs typeface="Arial" pitchFamily="34" charset="0"/>
              </a:rPr>
              <a:t>метод для расширения томов</a:t>
            </a:r>
            <a:r>
              <a:rPr lang="ru-RU" b="0" i="0" dirty="0">
                <a:solidFill>
                  <a:srgbClr val="000000"/>
                </a:solidFill>
                <a:latin typeface="Arial" pitchFamily="34" charset="0"/>
                <a:cs typeface="Arial" pitchFamily="34" charset="0"/>
              </a:rPr>
              <a:t>, которым необходима </a:t>
            </a:r>
            <a:r>
              <a:rPr lang="ru-RU" b="1" i="0" dirty="0">
                <a:solidFill>
                  <a:srgbClr val="000000"/>
                </a:solidFill>
                <a:latin typeface="Arial" pitchFamily="34" charset="0"/>
                <a:cs typeface="Arial" pitchFamily="34" charset="0"/>
              </a:rPr>
              <a:t>дополнительная емкость или производительность</a:t>
            </a:r>
            <a:r>
              <a:rPr lang="ru-RU" b="0" i="0" dirty="0">
                <a:solidFill>
                  <a:srgbClr val="000000"/>
                </a:solidFill>
                <a:latin typeface="Arial" pitchFamily="34" charset="0"/>
                <a:cs typeface="Arial" pitchFamily="34" charset="0"/>
              </a:rPr>
              <a:t>. </a:t>
            </a:r>
          </a:p>
          <a:p>
            <a:pPr indent="457200">
              <a:spcBef>
                <a:spcPts val="600"/>
              </a:spcBef>
            </a:pPr>
            <a:r>
              <a:rPr lang="ru-RU" b="0" i="0" dirty="0" err="1">
                <a:solidFill>
                  <a:srgbClr val="000000"/>
                </a:solidFill>
                <a:latin typeface="Arial" pitchFamily="34" charset="0"/>
                <a:cs typeface="Arial" pitchFamily="34" charset="0"/>
              </a:rPr>
              <a:t>Метатом</a:t>
            </a:r>
            <a:r>
              <a:rPr lang="ru-RU" b="0" i="0" dirty="0">
                <a:solidFill>
                  <a:srgbClr val="000000"/>
                </a:solidFill>
                <a:latin typeface="Arial" pitchFamily="34" charset="0"/>
                <a:cs typeface="Arial" pitchFamily="34" charset="0"/>
              </a:rPr>
              <a:t> можно создать путем объединения двух или более томов. </a:t>
            </a:r>
          </a:p>
          <a:p>
            <a:pPr indent="457200">
              <a:spcBef>
                <a:spcPts val="600"/>
              </a:spcBef>
            </a:pPr>
            <a:r>
              <a:rPr lang="ru-RU" b="0" i="0" dirty="0" err="1">
                <a:solidFill>
                  <a:srgbClr val="000000"/>
                </a:solidFill>
                <a:latin typeface="Arial" pitchFamily="34" charset="0"/>
                <a:cs typeface="Arial" pitchFamily="34" charset="0"/>
              </a:rPr>
              <a:t>Метатом</a:t>
            </a:r>
            <a:r>
              <a:rPr lang="ru-RU" b="0" i="0" dirty="0">
                <a:solidFill>
                  <a:srgbClr val="000000"/>
                </a:solidFill>
                <a:latin typeface="Arial" pitchFamily="34" charset="0"/>
                <a:cs typeface="Arial" pitchFamily="34" charset="0"/>
              </a:rPr>
              <a:t> состоит </a:t>
            </a:r>
            <a:r>
              <a:rPr lang="ru-RU" b="1" i="0" dirty="0">
                <a:solidFill>
                  <a:srgbClr val="000000"/>
                </a:solidFill>
                <a:latin typeface="Arial" pitchFamily="34" charset="0"/>
                <a:cs typeface="Arial" pitchFamily="34" charset="0"/>
              </a:rPr>
              <a:t>из базового тома и одного или нескольких компонентных томов</a:t>
            </a:r>
            <a:r>
              <a:rPr lang="ru-RU" b="0" i="0" dirty="0">
                <a:solidFill>
                  <a:srgbClr val="000000"/>
                </a:solidFill>
                <a:latin typeface="Arial" pitchFamily="34" charset="0"/>
                <a:cs typeface="Arial" pitchFamily="34" charset="0"/>
              </a:rPr>
              <a:t>. Метатом может быть </a:t>
            </a:r>
            <a:r>
              <a:rPr lang="ru-RU" b="0" i="1" dirty="0">
                <a:solidFill>
                  <a:srgbClr val="000000"/>
                </a:solidFill>
                <a:latin typeface="Arial" pitchFamily="34" charset="0"/>
                <a:cs typeface="Arial" pitchFamily="34" charset="0"/>
              </a:rPr>
              <a:t>объединенным</a:t>
            </a:r>
            <a:r>
              <a:rPr lang="ru-RU" b="0" i="0" dirty="0">
                <a:solidFill>
                  <a:srgbClr val="000000"/>
                </a:solidFill>
                <a:latin typeface="Arial" pitchFamily="34" charset="0"/>
                <a:cs typeface="Arial" pitchFamily="34" charset="0"/>
              </a:rPr>
              <a:t> или </a:t>
            </a:r>
            <a:r>
              <a:rPr lang="ru-RU" b="0" i="1" dirty="0">
                <a:solidFill>
                  <a:srgbClr val="000000"/>
                </a:solidFill>
                <a:latin typeface="Arial" pitchFamily="34" charset="0"/>
                <a:cs typeface="Arial" pitchFamily="34" charset="0"/>
              </a:rPr>
              <a:t>распределенным</a:t>
            </a:r>
            <a:r>
              <a:rPr lang="ru-RU" b="0" i="0" dirty="0">
                <a:solidFill>
                  <a:srgbClr val="000000"/>
                </a:solidFill>
                <a:latin typeface="Arial" pitchFamily="34" charset="0"/>
                <a:cs typeface="Arial" pitchFamily="34" charset="0"/>
              </a:rPr>
              <a:t>.</a:t>
            </a:r>
          </a:p>
          <a:p>
            <a:pPr indent="457200">
              <a:spcBef>
                <a:spcPts val="600"/>
              </a:spcBef>
            </a:pPr>
            <a:r>
              <a:rPr lang="ru-RU" b="0" i="0" dirty="0">
                <a:solidFill>
                  <a:srgbClr val="000000"/>
                </a:solidFill>
                <a:latin typeface="Arial" pitchFamily="34" charset="0"/>
                <a:cs typeface="Arial" pitchFamily="34" charset="0"/>
              </a:rPr>
              <a:t>Расширение путем </a:t>
            </a:r>
            <a:r>
              <a:rPr lang="ru-RU" b="1" i="0" u="sng" dirty="0">
                <a:solidFill>
                  <a:srgbClr val="7030A0"/>
                </a:solidFill>
                <a:latin typeface="Arial" pitchFamily="34" charset="0"/>
                <a:cs typeface="Arial" pitchFamily="34" charset="0"/>
              </a:rPr>
              <a:t>объединения</a:t>
            </a:r>
            <a:r>
              <a:rPr lang="ru-RU" b="1" i="0" dirty="0">
                <a:solidFill>
                  <a:srgbClr val="000000"/>
                </a:solidFill>
                <a:latin typeface="Arial" pitchFamily="34" charset="0"/>
                <a:cs typeface="Arial" pitchFamily="34" charset="0"/>
              </a:rPr>
              <a:t> увеличивает емкость базового тома</a:t>
            </a:r>
            <a:r>
              <a:rPr lang="ru-RU" b="0" i="0" dirty="0">
                <a:solidFill>
                  <a:srgbClr val="000000"/>
                </a:solidFill>
                <a:latin typeface="Arial" pitchFamily="34" charset="0"/>
                <a:cs typeface="Arial" pitchFamily="34" charset="0"/>
              </a:rPr>
              <a:t>. </a:t>
            </a:r>
          </a:p>
          <a:p>
            <a:pPr indent="457200">
              <a:spcBef>
                <a:spcPts val="600"/>
              </a:spcBef>
            </a:pPr>
            <a:r>
              <a:rPr lang="ru-RU" b="0" i="0" dirty="0">
                <a:solidFill>
                  <a:srgbClr val="000000"/>
                </a:solidFill>
                <a:latin typeface="Arial" pitchFamily="34" charset="0"/>
                <a:cs typeface="Arial" pitchFamily="34" charset="0"/>
              </a:rPr>
              <a:t>При таком расширении </a:t>
            </a:r>
            <a:r>
              <a:rPr lang="ru-RU" b="1" i="0" dirty="0">
                <a:solidFill>
                  <a:srgbClr val="000000"/>
                </a:solidFill>
                <a:latin typeface="Arial" pitchFamily="34" charset="0"/>
                <a:cs typeface="Arial" pitchFamily="34" charset="0"/>
              </a:rPr>
              <a:t>компонентные тома не обязательно должны иметь такую же емкость, как и базовый том</a:t>
            </a:r>
            <a:r>
              <a:rPr lang="ru-RU" b="0" i="0" dirty="0">
                <a:solidFill>
                  <a:srgbClr val="000000"/>
                </a:solidFill>
                <a:latin typeface="Arial" pitchFamily="34" charset="0"/>
                <a:cs typeface="Arial" pitchFamily="34" charset="0"/>
              </a:rPr>
              <a:t>. </a:t>
            </a:r>
          </a:p>
          <a:p>
            <a:pPr indent="457200">
              <a:spcBef>
                <a:spcPts val="600"/>
              </a:spcBef>
            </a:pPr>
            <a:r>
              <a:rPr lang="ru-RU" b="0" i="0" dirty="0">
                <a:solidFill>
                  <a:srgbClr val="000000"/>
                </a:solidFill>
                <a:latin typeface="Arial" pitchFamily="34" charset="0"/>
                <a:cs typeface="Arial" pitchFamily="34" charset="0"/>
              </a:rPr>
              <a:t>Все тома в объединенном метатоме должны быть одновременно защищенными (с контролем четности или зеркалированием), либо незащищенными (RAID 0). </a:t>
            </a:r>
          </a:p>
          <a:p>
            <a:pPr indent="457200">
              <a:spcBef>
                <a:spcPts val="600"/>
              </a:spcBef>
            </a:pPr>
            <a:r>
              <a:rPr lang="ru-RU" b="0" i="0" dirty="0">
                <a:solidFill>
                  <a:srgbClr val="000000"/>
                </a:solidFill>
                <a:latin typeface="Arial" pitchFamily="34" charset="0"/>
                <a:cs typeface="Arial" pitchFamily="34" charset="0"/>
              </a:rPr>
              <a:t>В одном метатоме </a:t>
            </a:r>
            <a:r>
              <a:rPr lang="ru-RU" b="1" i="0" dirty="0">
                <a:solidFill>
                  <a:srgbClr val="000000"/>
                </a:solidFill>
                <a:latin typeface="Arial" pitchFamily="34" charset="0"/>
                <a:cs typeface="Arial" pitchFamily="34" charset="0"/>
              </a:rPr>
              <a:t>могут сочетаться разные типы массивов RAID</a:t>
            </a:r>
            <a:r>
              <a:rPr lang="ru-RU" b="0" i="0" dirty="0">
                <a:solidFill>
                  <a:srgbClr val="000000"/>
                </a:solidFill>
                <a:latin typeface="Arial" pitchFamily="34" charset="0"/>
                <a:cs typeface="Arial" pitchFamily="34" charset="0"/>
              </a:rPr>
              <a:t>. Например, том RAID 1/0 можно объединить с томом RAID 5. В то же время том RAID 0 может быть объединен только с другим томом RAID 0. Расширение путем объединения выполняется быстро, но не обеспечивает дополнительной производительности.</a:t>
            </a:r>
          </a:p>
          <a:p>
            <a:pPr indent="457200">
              <a:spcBef>
                <a:spcPts val="600"/>
              </a:spcBef>
            </a:pPr>
            <a:r>
              <a:rPr lang="ru-RU" b="0" i="0" dirty="0">
                <a:solidFill>
                  <a:srgbClr val="000000"/>
                </a:solidFill>
                <a:latin typeface="Arial" pitchFamily="34" charset="0"/>
                <a:cs typeface="Arial" pitchFamily="34" charset="0"/>
              </a:rPr>
              <a:t>При расширении </a:t>
            </a:r>
            <a:r>
              <a:rPr lang="ru-RU" b="1" i="0" u="sng" dirty="0">
                <a:solidFill>
                  <a:srgbClr val="000000"/>
                </a:solidFill>
                <a:latin typeface="Arial" pitchFamily="34" charset="0"/>
                <a:cs typeface="Arial" pitchFamily="34" charset="0"/>
              </a:rPr>
              <a:t>посредством распределения </a:t>
            </a:r>
            <a:r>
              <a:rPr lang="ru-RU" b="0" i="0" dirty="0">
                <a:solidFill>
                  <a:srgbClr val="000000"/>
                </a:solidFill>
                <a:latin typeface="Arial" pitchFamily="34" charset="0"/>
                <a:cs typeface="Arial" pitchFamily="34" charset="0"/>
              </a:rPr>
              <a:t>данные базового тома перераспределяются между базовым и компонентными томами. </a:t>
            </a:r>
          </a:p>
          <a:p>
            <a:pPr indent="457200">
              <a:spcBef>
                <a:spcPts val="600"/>
              </a:spcBef>
            </a:pPr>
            <a:r>
              <a:rPr lang="ru-RU" b="0" i="0" dirty="0">
                <a:solidFill>
                  <a:srgbClr val="000000"/>
                </a:solidFill>
                <a:latin typeface="Arial" pitchFamily="34" charset="0"/>
                <a:cs typeface="Arial" pitchFamily="34" charset="0"/>
              </a:rPr>
              <a:t>При расширении посредством распределения </a:t>
            </a:r>
            <a:r>
              <a:rPr lang="ru-RU" b="1" i="0" dirty="0">
                <a:solidFill>
                  <a:srgbClr val="000000"/>
                </a:solidFill>
                <a:latin typeface="Arial" pitchFamily="34" charset="0"/>
                <a:cs typeface="Arial" pitchFamily="34" charset="0"/>
              </a:rPr>
              <a:t>все тома должны иметь одинаковую емкость и уровень RAID</a:t>
            </a:r>
            <a:r>
              <a:rPr lang="ru-RU" b="0" i="0" dirty="0">
                <a:solidFill>
                  <a:srgbClr val="000000"/>
                </a:solidFill>
                <a:latin typeface="Arial" pitchFamily="34" charset="0"/>
                <a:cs typeface="Arial" pitchFamily="34" charset="0"/>
              </a:rPr>
              <a:t>. </a:t>
            </a:r>
          </a:p>
          <a:p>
            <a:pPr indent="457200">
              <a:spcBef>
                <a:spcPts val="600"/>
              </a:spcBef>
            </a:pPr>
            <a:r>
              <a:rPr lang="ru-RU" b="0" i="0" dirty="0">
                <a:solidFill>
                  <a:srgbClr val="000000"/>
                </a:solidFill>
                <a:latin typeface="Arial" pitchFamily="34" charset="0"/>
                <a:cs typeface="Arial" pitchFamily="34" charset="0"/>
              </a:rPr>
              <a:t>При таком типе расширения </a:t>
            </a:r>
            <a:r>
              <a:rPr lang="ru-RU" b="1" i="0" dirty="0">
                <a:solidFill>
                  <a:srgbClr val="000000"/>
                </a:solidFill>
                <a:latin typeface="Arial" pitchFamily="34" charset="0"/>
                <a:cs typeface="Arial" pitchFamily="34" charset="0"/>
              </a:rPr>
              <a:t>производительность повышается</a:t>
            </a:r>
            <a:r>
              <a:rPr lang="ru-RU" b="0" i="0" dirty="0">
                <a:solidFill>
                  <a:srgbClr val="000000"/>
                </a:solidFill>
                <a:latin typeface="Arial" pitchFamily="34" charset="0"/>
                <a:cs typeface="Arial" pitchFamily="34" charset="0"/>
              </a:rPr>
              <a:t> благодаря распределению данных между несколькими дисками. </a:t>
            </a:r>
          </a:p>
          <a:p>
            <a:pPr indent="457200">
              <a:spcBef>
                <a:spcPts val="600"/>
              </a:spcBef>
            </a:pPr>
            <a:r>
              <a:rPr lang="ru-RU" b="1" i="0" dirty="0">
                <a:solidFill>
                  <a:srgbClr val="000000"/>
                </a:solidFill>
                <a:latin typeface="Arial" pitchFamily="34" charset="0"/>
                <a:cs typeface="Arial" pitchFamily="34" charset="0"/>
              </a:rPr>
              <a:t>Все тома при использовании расширений обоих типов должны находиться на диске СХД одного типа: твердотельном, Fibre Channel или ATA</a:t>
            </a:r>
            <a:r>
              <a:rPr lang="ru-RU" b="0" i="0" dirty="0">
                <a:solidFill>
                  <a:srgbClr val="000000"/>
                </a:solidFill>
                <a:latin typeface="Arial" pitchFamily="34" charset="0"/>
                <a:cs typeface="Arial" pitchFamily="34" charset="0"/>
              </a:rPr>
              <a:t>.</a:t>
            </a:r>
          </a:p>
        </p:txBody>
      </p:sp>
    </p:spTree>
    <p:extLst>
      <p:ext uri="{BB962C8B-B14F-4D97-AF65-F5344CB8AC3E}">
        <p14:creationId xmlns:p14="http://schemas.microsoft.com/office/powerpoint/2010/main" val="27711539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b="0" i="1" dirty="0">
                <a:solidFill>
                  <a:srgbClr val="000000"/>
                </a:solidFill>
                <a:latin typeface="Arial" pitchFamily="34" charset="0"/>
                <a:cs typeface="Arial" pitchFamily="34" charset="0"/>
              </a:rPr>
              <a:t>Виртуальное выделение ресурсов</a:t>
            </a:r>
            <a:r>
              <a:rPr lang="ru-RU" b="0" i="0" dirty="0">
                <a:solidFill>
                  <a:srgbClr val="000000"/>
                </a:solidFill>
                <a:latin typeface="Arial" pitchFamily="34" charset="0"/>
                <a:cs typeface="Arial" pitchFamily="34" charset="0"/>
              </a:rPr>
              <a:t> позволяет создавать и предоставлять том с емкостью, превышающей выделенную физическую емкость в системе хранения. </a:t>
            </a:r>
          </a:p>
          <a:p>
            <a:pPr indent="457200">
              <a:spcBef>
                <a:spcPts val="600"/>
              </a:spcBef>
            </a:pPr>
            <a:r>
              <a:rPr lang="ru-RU" b="0" i="0" dirty="0">
                <a:solidFill>
                  <a:srgbClr val="000000"/>
                </a:solidFill>
                <a:latin typeface="Arial" pitchFamily="34" charset="0"/>
                <a:cs typeface="Arial" pitchFamily="34" charset="0"/>
              </a:rPr>
              <a:t>Том, созданный с помощью виртуального выделения ресурсов, называется </a:t>
            </a:r>
            <a:r>
              <a:rPr lang="ru-RU" b="0" i="1" dirty="0">
                <a:solidFill>
                  <a:srgbClr val="000000"/>
                </a:solidFill>
                <a:latin typeface="Arial" pitchFamily="34" charset="0"/>
                <a:cs typeface="Arial" pitchFamily="34" charset="0"/>
              </a:rPr>
              <a:t>«тонким» томом</a:t>
            </a:r>
            <a:r>
              <a:rPr lang="ru-RU" b="0" i="0" dirty="0">
                <a:solidFill>
                  <a:srgbClr val="000000"/>
                </a:solidFill>
                <a:latin typeface="Arial" pitchFamily="34" charset="0"/>
                <a:cs typeface="Arial" pitchFamily="34" charset="0"/>
              </a:rPr>
              <a:t>, в отличие от традиционных томов. </a:t>
            </a:r>
          </a:p>
          <a:p>
            <a:pPr indent="457200">
              <a:spcBef>
                <a:spcPts val="600"/>
              </a:spcBef>
            </a:pPr>
            <a:r>
              <a:rPr lang="ru-RU" b="0" i="0" dirty="0">
                <a:solidFill>
                  <a:srgbClr val="000000"/>
                </a:solidFill>
                <a:latin typeface="Arial" pitchFamily="34" charset="0"/>
                <a:cs typeface="Arial" pitchFamily="34" charset="0"/>
              </a:rPr>
              <a:t>При создании «тонких» томов и их подключении к вычислительной системе им не требуется выделять физические ресурсы хранения в полном объеме. После этого физические ресурсы хранения выделяются для вычислительной системы из общего пула физической емкости по требованию. </a:t>
            </a:r>
          </a:p>
          <a:p>
            <a:pPr indent="457200">
              <a:spcBef>
                <a:spcPts val="600"/>
              </a:spcBef>
            </a:pPr>
            <a:r>
              <a:rPr lang="ru-RU" b="1" i="1" dirty="0">
                <a:solidFill>
                  <a:srgbClr val="000000"/>
                </a:solidFill>
                <a:latin typeface="Arial" pitchFamily="34" charset="0"/>
                <a:cs typeface="Arial" pitchFamily="34" charset="0"/>
              </a:rPr>
              <a:t>Общий пул</a:t>
            </a:r>
            <a:r>
              <a:rPr lang="ru-RU" b="1" i="0"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состоит из </a:t>
            </a:r>
            <a:r>
              <a:rPr lang="ru-RU" b="1" i="0" dirty="0">
                <a:solidFill>
                  <a:srgbClr val="000000"/>
                </a:solidFill>
                <a:latin typeface="Arial" pitchFamily="34" charset="0"/>
                <a:cs typeface="Arial" pitchFamily="34" charset="0"/>
              </a:rPr>
              <a:t>физических дисков СХД</a:t>
            </a:r>
            <a:r>
              <a:rPr lang="ru-RU" b="0" i="0" dirty="0">
                <a:solidFill>
                  <a:srgbClr val="000000"/>
                </a:solidFill>
                <a:latin typeface="Arial" pitchFamily="34" charset="0"/>
                <a:cs typeface="Arial" pitchFamily="34" charset="0"/>
              </a:rPr>
              <a:t>. Общий пул в схеме виртуального выделения ресурсов аналогичен набору RAID, который представляет собой группу дисков, на базе которых создаются тома. </a:t>
            </a:r>
          </a:p>
          <a:p>
            <a:pPr indent="457200">
              <a:spcBef>
                <a:spcPts val="600"/>
              </a:spcBef>
            </a:pPr>
            <a:r>
              <a:rPr lang="ru-RU" b="0" i="0" dirty="0">
                <a:solidFill>
                  <a:srgbClr val="000000"/>
                </a:solidFill>
                <a:latin typeface="Arial" pitchFamily="34" charset="0"/>
                <a:cs typeface="Arial" pitchFamily="34" charset="0"/>
              </a:rPr>
              <a:t>Как и набор RAID, общий пул поддерживает один уровень защиты RAID. Однако в отличие от набора RAID, общий пул может содержать большое количество дисков. </a:t>
            </a:r>
          </a:p>
          <a:p>
            <a:pPr indent="457200">
              <a:spcBef>
                <a:spcPts val="600"/>
              </a:spcBef>
            </a:pPr>
            <a:r>
              <a:rPr lang="ru-RU" b="0" i="0" dirty="0">
                <a:solidFill>
                  <a:srgbClr val="000000"/>
                </a:solidFill>
                <a:latin typeface="Arial" pitchFamily="34" charset="0"/>
                <a:cs typeface="Arial" pitchFamily="34" charset="0"/>
              </a:rPr>
              <a:t>Общие пулы могут быть однородными (содержать диски одного типа) или гетерогенными (содержать диски разных типов, например твердотельные диски, диски Fibre Channel, SAS и SATA).</a:t>
            </a:r>
          </a:p>
          <a:p>
            <a:pPr indent="457200">
              <a:spcBef>
                <a:spcPts val="600"/>
              </a:spcBef>
            </a:pPr>
            <a:r>
              <a:rPr lang="ru-RU" b="0" i="0" dirty="0">
                <a:solidFill>
                  <a:srgbClr val="000000"/>
                </a:solidFill>
                <a:latin typeface="Arial" pitchFamily="34" charset="0"/>
                <a:cs typeface="Arial" pitchFamily="34" charset="0"/>
              </a:rPr>
              <a:t>Виртуальное выделение ресурсов позволяет </a:t>
            </a:r>
            <a:r>
              <a:rPr lang="ru-RU" b="1" i="0" dirty="0">
                <a:solidFill>
                  <a:srgbClr val="000000"/>
                </a:solidFill>
                <a:latin typeface="Arial" pitchFamily="34" charset="0"/>
                <a:cs typeface="Arial" pitchFamily="34" charset="0"/>
              </a:rPr>
              <a:t>более эффективно распределять ресурсы хранения между вычислительными системами</a:t>
            </a:r>
            <a:r>
              <a:rPr lang="ru-RU" b="0" i="0" dirty="0">
                <a:solidFill>
                  <a:srgbClr val="000000"/>
                </a:solidFill>
                <a:latin typeface="Arial" pitchFamily="34" charset="0"/>
                <a:cs typeface="Arial" pitchFamily="34" charset="0"/>
              </a:rPr>
              <a:t>. </a:t>
            </a:r>
          </a:p>
          <a:p>
            <a:pPr indent="457200">
              <a:spcBef>
                <a:spcPts val="600"/>
              </a:spcBef>
            </a:pPr>
            <a:r>
              <a:rPr lang="ru-RU" b="0" i="0" dirty="0">
                <a:solidFill>
                  <a:srgbClr val="000000"/>
                </a:solidFill>
                <a:latin typeface="Arial" pitchFamily="34" charset="0"/>
                <a:cs typeface="Arial" pitchFamily="34" charset="0"/>
              </a:rPr>
              <a:t>Виртуальное выделение ресурсов также делает возможным избыточное выделение, при котором суммарная емкость, предоставленная вычислительным системам, больше фактически доступной в системе хранения. </a:t>
            </a:r>
          </a:p>
          <a:p>
            <a:pPr indent="457200">
              <a:spcBef>
                <a:spcPts val="600"/>
              </a:spcBef>
            </a:pPr>
            <a:r>
              <a:rPr lang="ru-RU" b="0" i="0" dirty="0">
                <a:solidFill>
                  <a:srgbClr val="000000"/>
                </a:solidFill>
                <a:latin typeface="Arial" pitchFamily="34" charset="0"/>
                <a:cs typeface="Arial" pitchFamily="34" charset="0"/>
              </a:rPr>
              <a:t>И общий пул, и «тонкий» том </a:t>
            </a:r>
            <a:r>
              <a:rPr lang="ru-RU" b="1" i="0" dirty="0">
                <a:solidFill>
                  <a:srgbClr val="000000"/>
                </a:solidFill>
                <a:latin typeface="Arial" pitchFamily="34" charset="0"/>
                <a:cs typeface="Arial" pitchFamily="34" charset="0"/>
              </a:rPr>
              <a:t>можно расширять без прерывания работы системы </a:t>
            </a:r>
            <a:r>
              <a:rPr lang="ru-RU" b="0" i="0" dirty="0">
                <a:solidFill>
                  <a:srgbClr val="000000"/>
                </a:solidFill>
                <a:latin typeface="Arial" pitchFamily="34" charset="0"/>
                <a:cs typeface="Arial" pitchFamily="34" charset="0"/>
              </a:rPr>
              <a:t>по мере роста потребностей вычислительных систем в ресурсах хранения. </a:t>
            </a:r>
          </a:p>
          <a:p>
            <a:pPr indent="457200">
              <a:spcBef>
                <a:spcPts val="600"/>
              </a:spcBef>
            </a:pPr>
            <a:r>
              <a:rPr lang="ru-RU" b="0" i="0" dirty="0">
                <a:solidFill>
                  <a:srgbClr val="000000"/>
                </a:solidFill>
                <a:latin typeface="Arial" pitchFamily="34" charset="0"/>
                <a:cs typeface="Arial" pitchFamily="34" charset="0"/>
              </a:rPr>
              <a:t>В системе хранения можно создать </a:t>
            </a:r>
            <a:r>
              <a:rPr lang="ru-RU" b="1" i="0" dirty="0">
                <a:solidFill>
                  <a:srgbClr val="000000"/>
                </a:solidFill>
                <a:latin typeface="Arial" pitchFamily="34" charset="0"/>
                <a:cs typeface="Arial" pitchFamily="34" charset="0"/>
              </a:rPr>
              <a:t>несколько общих пулов, а общий пул может совместно использоваться несколькими «тонкими» томами</a:t>
            </a:r>
            <a:r>
              <a:rPr lang="ru-RU" b="0" i="0" dirty="0">
                <a:solidFill>
                  <a:srgbClr val="000000"/>
                </a:solidFill>
                <a:latin typeface="Arial" pitchFamily="34" charset="0"/>
                <a:cs typeface="Arial" pitchFamily="34" charset="0"/>
              </a:rPr>
              <a:t>.</a:t>
            </a:r>
          </a:p>
        </p:txBody>
      </p:sp>
    </p:spTree>
    <p:extLst>
      <p:ext uri="{BB962C8B-B14F-4D97-AF65-F5344CB8AC3E}">
        <p14:creationId xmlns:p14="http://schemas.microsoft.com/office/powerpoint/2010/main" val="1336560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defTabSz="457159">
              <a:spcBef>
                <a:spcPts val="600"/>
              </a:spcBef>
              <a:defRPr/>
            </a:pPr>
            <a:r>
              <a:rPr lang="ru-RU" b="0" i="0" dirty="0">
                <a:solidFill>
                  <a:srgbClr val="000000"/>
                </a:solidFill>
                <a:latin typeface="Arial" pitchFamily="34" charset="0"/>
                <a:cs typeface="Arial" pitchFamily="34" charset="0"/>
              </a:rPr>
              <a:t>Пул хранения данных включает в себя физические диски, которые предоставляют физические ресурсы хранения, используемые «тонкими» томами. Пул хранения данных создается путем определения набора дисков и типа массивов RAID для этого пула. Затем из этого пула создаются «тонкие» тома (подобно тому, как традиционные тома создаются в наборе RAID). Все «тонкие» тома, созданные из пула, совместно используют ресурсы хранения данных этого пула. Добавление дисков к пулу хранения данных увеличивает емкость, доступную всем «тонким» томам этого пула. Диски можно добавлять в пул хранения данных непосредственно во время работы с инфраструктурой. Пул освобождает выделенную емкость при уничтожении «тонких» томов. </a:t>
            </a:r>
          </a:p>
          <a:p>
            <a:pPr defTabSz="457159">
              <a:spcBef>
                <a:spcPts val="600"/>
              </a:spcBef>
              <a:defRPr/>
            </a:pPr>
            <a:r>
              <a:rPr lang="ru-RU" b="0" i="0" dirty="0">
                <a:solidFill>
                  <a:srgbClr val="000000"/>
                </a:solidFill>
                <a:latin typeface="Arial" pitchFamily="34" charset="0"/>
                <a:cs typeface="Arial" pitchFamily="34" charset="0"/>
              </a:rPr>
              <a:t>При развертывании пула хранения данных в случае внезапного добавления новых пустых дисков к уже относительно полным дискам может произойти дисбаланс данных. Этот дисбаланс устраняется путем выполнения автоматического однократного перемещения данных, называемого восстановлением баланса. Восстановление баланса пула хранения данных — это технология, позволяющая автоматически перемещать экстенты (минимальный объем физической емкости СХД, который назначается тому из пула) на физические диски СХД через весь пул, когда в пул добавляются новые диски. Восстановление баланса пула хранения данных распределяет данные по всем дискам (существующим и новым) в пуле хранения данных. Это позволяет поровну распределять данные по всем физическим дискам в пуле хранения данных, гарантируя равномерное использование каждого диска в пуле. После увеличения емкости пула хранения данных можно расширить емкость существующих томов </a:t>
            </a:r>
          </a:p>
          <a:p>
            <a:pPr defTabSz="457159">
              <a:spcBef>
                <a:spcPts val="600"/>
              </a:spcBef>
              <a:defRPr/>
            </a:pPr>
            <a:endParaRPr lang="ru-RU" dirty="0">
              <a:latin typeface="Arial" pitchFamily="34" charset="0"/>
              <a:cs typeface="Arial" pitchFamily="34" charset="0"/>
            </a:endParaRPr>
          </a:p>
          <a:p>
            <a:pPr defTabSz="457159">
              <a:spcBef>
                <a:spcPts val="600"/>
              </a:spcBef>
              <a:defRPr/>
            </a:pPr>
            <a:endParaRPr lang="ru-RU" dirty="0">
              <a:latin typeface="Arial" pitchFamily="34" charset="0"/>
              <a:cs typeface="Arial" pitchFamily="34" charset="0"/>
            </a:endParaRPr>
          </a:p>
        </p:txBody>
      </p:sp>
    </p:spTree>
    <p:extLst>
      <p:ext uri="{BB962C8B-B14F-4D97-AF65-F5344CB8AC3E}">
        <p14:creationId xmlns:p14="http://schemas.microsoft.com/office/powerpoint/2010/main" val="12303265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Администраторы обычно выделяют емкость СХД с учетом предполагаемых потребностей в ресурсах хранения. Это в большинстве случаев приводит к избыточному выделению ресурсов хранения, в результате чего повышаются затраты и снижается коэффициент использования ресурса хранения. Администраторы часто выделяют приложениям избыточные ресурсы хранения по различным причинам, например, чтобы избежать частого выделения ресурсов при исчерпании емкости тома или чтобы снизить количество нарушений доступности приложения. Избыточное выделение ресурсов часто приводит к необходимости приобретать дополнительные ресурсы хранения и повышает операционные издержки.</a:t>
            </a:r>
          </a:p>
          <a:p>
            <a:pPr>
              <a:spcBef>
                <a:spcPts val="600"/>
              </a:spcBef>
            </a:pPr>
            <a:r>
              <a:rPr lang="ru-RU" b="0" i="0" dirty="0">
                <a:solidFill>
                  <a:srgbClr val="000000"/>
                </a:solidFill>
                <a:latin typeface="Arial" pitchFamily="34" charset="0"/>
                <a:cs typeface="Arial" pitchFamily="34" charset="0"/>
              </a:rPr>
              <a:t>Виртуальное выделение ресурсов призвано устранить эти сложности. Виртуальное выделение ресурсов повышает коэффициент использования ресурса хранения и упрощает управление системой хранения. В примере на слайде виртуальное выделение ресурсов хранения сравнивается с традиционным выделением ресурсов.</a:t>
            </a:r>
          </a:p>
          <a:p>
            <a:pPr>
              <a:spcBef>
                <a:spcPts val="600"/>
              </a:spcBef>
            </a:pPr>
            <a:r>
              <a:rPr lang="ru-RU" b="0" i="0" dirty="0">
                <a:solidFill>
                  <a:srgbClr val="000000"/>
                </a:solidFill>
                <a:latin typeface="Arial" pitchFamily="34" charset="0"/>
                <a:cs typeface="Arial" pitchFamily="34" charset="0"/>
              </a:rPr>
              <a:t>При традиционном выделении ресурсов создаются три тома, к которым подключается одна или несколько вычислительных систем. Общая емкость системы хранения — 2 Тбайт. Выделенная емкость тома 1 — 500 Гбайт, из которых занято только 100 Гбайт, а остальные 400 Гбайт не используются. Размер тома 2 — 550 Гбайт, из которых занято 50 Гбайт, а 500 Гбайт не используются. Размер тома 3 — 800 Гбайт, из которых занято 200 Гбайт, а 600 Гбайт не используются. Суммарно в системе хранения хранится 350 Гбайт данных, а 1,5 Тбайт выделенной емкости не используется. При этом другим приложениям доступно лишь 150 Гбайт оставшейся емкости.</a:t>
            </a:r>
          </a:p>
          <a:p>
            <a:pPr>
              <a:spcBef>
                <a:spcPts val="600"/>
              </a:spcBef>
            </a:pPr>
            <a:r>
              <a:rPr lang="ru-RU" b="0" i="0" dirty="0">
                <a:solidFill>
                  <a:srgbClr val="000000"/>
                </a:solidFill>
                <a:latin typeface="Arial" pitchFamily="34" charset="0"/>
                <a:cs typeface="Arial" pitchFamily="34" charset="0"/>
              </a:rPr>
              <a:t>Рассмотрим теперь ту же систему хранения емкостью 2 Тбайт с виртуальным выделением ресурсов. В этом случае создаются три «тонких» тома тех же размеров. Однако теперь отсутствует выделенная, но неиспользуемая емкость. Суммарно в системе хранения с виртуальным выделением ресурсов хранятся те же 350 Гбайт данных, но другим приложениям доступны 1,65 Тбайт емкости, в то время как при использовании традиционного метода выделения ресурсов хранения доступны только 150 Гбайт.</a:t>
            </a:r>
            <a:endParaRPr lang="ru-RU" dirty="0">
              <a:solidFill>
                <a:srgbClr val="000000"/>
              </a:solidFill>
              <a:latin typeface="Arial" pitchFamily="34" charset="0"/>
              <a:cs typeface="Arial" pitchFamily="34" charset="0"/>
            </a:endParaRPr>
          </a:p>
          <a:p>
            <a:pPr>
              <a:spcBef>
                <a:spcPts val="600"/>
              </a:spcBef>
            </a:pPr>
            <a:r>
              <a:rPr lang="ru-RU" dirty="0">
                <a:latin typeface="Arial" pitchFamily="34" charset="0"/>
                <a:cs typeface="Arial" pitchFamily="34" charset="0"/>
              </a:rPr>
              <a:t>Использование виртуального выделения ресурсов и «тонких» томов обеспечивает множество преимуществ, хотя для некоторых приложений целесообразнее использовать традиционные тома. «Тонкие» тома подходят для приложений, которые могут нормально функционировать при перепадах производительности. В некоторых случаях при использовании «тонкого» тома можно достичь улучшения производительности благодаря распределению данных между большим количеством дисков в пуле. В то же время, когда несколько «тонких» томов состязаются за общие ресурсы хранения данных в одном пуле и когда коэффициент использования достигает высокого уровня, производительность может ухудшиться. «Тонкие» тома обеспечивают самое эффективное использование емкости системы хранения. Они хорошо подходят для приложений, при использовании которых трудно предсказать потребление емкости хранения. Применение «тонких» томов позволяет организациям снизить энергопотребление и затраты на приобретение, а также упростить управление системами хранения. </a:t>
            </a:r>
          </a:p>
          <a:p>
            <a:pPr>
              <a:spcBef>
                <a:spcPts val="600"/>
              </a:spcBef>
            </a:pPr>
            <a:r>
              <a:rPr lang="ru-RU" dirty="0">
                <a:latin typeface="Arial" pitchFamily="34" charset="0"/>
                <a:cs typeface="Arial" pitchFamily="34" charset="0"/>
              </a:rPr>
              <a:t>Традиционные тома лучше подходят для приложений, требующих предсказуемой производительности. Традиционные тома обеспечивают полный контроль размещения данных и позволяют администратору создавать тома или другие группы RAID в случае необходимости одновременной обработки рабочих нагрузок. Организации, для которых эффективность использования емкости систем хранения не играет первостепенную роль, могут использовать традиционные тома. </a:t>
            </a:r>
          </a:p>
          <a:p>
            <a:pPr>
              <a:spcBef>
                <a:spcPts val="600"/>
              </a:spcBef>
            </a:pPr>
            <a:r>
              <a:rPr lang="ru-RU" dirty="0">
                <a:latin typeface="Arial" pitchFamily="34" charset="0"/>
                <a:cs typeface="Arial" pitchFamily="34" charset="0"/>
              </a:rPr>
              <a:t>Традиционные и «тонкие» тома могут одновременно использоваться в одной системе хранения. В зависимости от требований администратор может перемещать данные между «тонкими» и традиционными томами. </a:t>
            </a:r>
          </a:p>
          <a:p>
            <a:pPr>
              <a:spcBef>
                <a:spcPts val="600"/>
              </a:spcBef>
            </a:pPr>
            <a:endParaRPr lang="ru-RU" dirty="0">
              <a:latin typeface="Arial" pitchFamily="34" charset="0"/>
              <a:cs typeface="Arial" pitchFamily="34" charset="0"/>
            </a:endParaRPr>
          </a:p>
          <a:p>
            <a:pPr>
              <a:spcBef>
                <a:spcPts val="600"/>
              </a:spcBef>
            </a:pPr>
            <a:endParaRPr lang="ru-RU" b="0"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42596637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1" dirty="0">
                <a:solidFill>
                  <a:srgbClr val="000000"/>
                </a:solidFill>
                <a:latin typeface="Arial" pitchFamily="34" charset="0"/>
                <a:cs typeface="Arial" pitchFamily="34" charset="0"/>
              </a:rPr>
              <a:t>Маскирование томов</a:t>
            </a:r>
            <a:r>
              <a:rPr lang="ru-RU" b="0" i="0" dirty="0">
                <a:solidFill>
                  <a:srgbClr val="000000"/>
                </a:solidFill>
                <a:latin typeface="Arial" pitchFamily="34" charset="0"/>
                <a:cs typeface="Arial" pitchFamily="34" charset="0"/>
              </a:rPr>
              <a:t> — это процесс, обеспечивающий контроль доступа к данным путем определения томов, к которым вычислительная система может осуществлять доступ. Функция маскирования томов реализована в системе хранения. Она обеспечивает надлежащий контроль доступа к томам со стороны вычислительной системы, а также предотвращает несанкционированное или случайное использование томов в среде с совместным доступом.</a:t>
            </a:r>
          </a:p>
          <a:p>
            <a:pPr>
              <a:spcBef>
                <a:spcPts val="600"/>
              </a:spcBef>
            </a:pPr>
            <a:r>
              <a:rPr lang="ru-RU" b="0" i="0" dirty="0">
                <a:solidFill>
                  <a:srgbClr val="000000"/>
                </a:solidFill>
                <a:latin typeface="Arial" pitchFamily="34" charset="0"/>
                <a:cs typeface="Arial" pitchFamily="34" charset="0"/>
              </a:rPr>
              <a:t>Рассмотрим для примера систему хранения с двумя томами, на которых хранятся данные отделов продаж и финансов. Без маскирования томов каждый отдел может с легкостью просматривать и изменять данные другого отдела, что подвергает целостность и безопасность данных высокому риску. Маскирование позволяет делать тома доступными только для специально указанных вычислительных систем.</a:t>
            </a:r>
            <a:endParaRPr lang="ru-RU" dirty="0">
              <a:latin typeface="Arial" pitchFamily="34" charset="0"/>
              <a:cs typeface="Arial" pitchFamily="34" charset="0"/>
            </a:endParaRPr>
          </a:p>
        </p:txBody>
      </p:sp>
    </p:spTree>
    <p:extLst>
      <p:ext uri="{BB962C8B-B14F-4D97-AF65-F5344CB8AC3E}">
        <p14:creationId xmlns:p14="http://schemas.microsoft.com/office/powerpoint/2010/main" val="40511186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рассматривалось традиционное и виртуальное выделение ресурсов, расширение и маскирование томов.</a:t>
            </a: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рассматривается многоуровневое хранение на уровне тома и элемента тома, многоуровневая кэш-память и серверное кэширование на основе флэш-памяти.</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Многоуровневое хранение данных — это технология создания иерархии различных типов систем хранения (уровней). Она позволяет хранить нужные данные на необходимом уровне в зависимости от требований к обслуживанию и с минимальными затратами. Каждый уровень имеет различные степени защиты данных, производительности и затрат. Например, высокопроизводительные твердотельные диски (SSD) или диски Fibre Channel можно настроить как систему хранения 1 уровня, чтобы хранить часто используемые данные, а недорогие диски SATA можно использовать как систему хранения 2 уровня, чтобы хранить на них реже используемые данные. Хранение часто используемых данных на твердотельных дисках и дисках Fibre Channel повышает производительность приложений. Перемещение реже используемых данных на диски SATA может высвободить место на высокопроизводительных дисках и сократить затраты на хранение данных. Это перемещение данных регламентируется определенными политиками многоуровневого хранения. Политика многоуровневого хранения может зависеть от частоты доступа и других параметров. Например, если политика предписывает «Переместить данные, которые не использовались в течение последних 30 минут, на нижний уровень», то все файлы, удовлетворяющие этому условию, будут перемещаться на нижний уровень. </a:t>
            </a:r>
          </a:p>
          <a:p>
            <a:pPr>
              <a:spcBef>
                <a:spcPts val="600"/>
              </a:spcBef>
            </a:pPr>
            <a:r>
              <a:rPr lang="ru-RU" b="0" i="0" dirty="0">
                <a:solidFill>
                  <a:srgbClr val="000000"/>
                </a:solidFill>
                <a:latin typeface="Arial" pitchFamily="34" charset="0"/>
                <a:cs typeface="Arial" pitchFamily="34" charset="0"/>
              </a:rPr>
              <a:t>Процесс перемещения данных с уровня одного типа на уровень другого типа обычно автоматизирован. При автоматизированном многоуровневом хранении данных рабочие нагрузки приложений отслеживаются в упреждающем режиме; активные данные автоматически перемещаются на более производительный уровень, а неактивные данные — на уровень с невысокой производительностью, но повышенной емкостью. Перемещение данных между уровнями выполняется без прерывания работы. </a:t>
            </a:r>
          </a:p>
          <a:p>
            <a:pPr>
              <a:spcBef>
                <a:spcPts val="600"/>
              </a:spcBef>
            </a:pPr>
            <a:r>
              <a:rPr lang="ru-RU" b="0" i="0" dirty="0">
                <a:solidFill>
                  <a:srgbClr val="000000"/>
                </a:solidFill>
                <a:latin typeface="Arial" pitchFamily="34" charset="0"/>
                <a:cs typeface="Arial" pitchFamily="34" charset="0"/>
              </a:rPr>
              <a:t>Существует три технологии многоуровневого хранения данных, реализованные в блочной системе хранения: многоуровневое хранение на уровне тома и элемента тома, многоуровневая кэш-память и серверное кэширование на основе флэш-памяти. </a:t>
            </a:r>
          </a:p>
        </p:txBody>
      </p:sp>
    </p:spTree>
    <p:extLst>
      <p:ext uri="{BB962C8B-B14F-4D97-AF65-F5344CB8AC3E}">
        <p14:creationId xmlns:p14="http://schemas.microsoft.com/office/powerpoint/2010/main" val="14263159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b="0" i="0" dirty="0">
                <a:solidFill>
                  <a:srgbClr val="000000"/>
                </a:solidFill>
                <a:latin typeface="Arial" pitchFamily="34" charset="0"/>
                <a:cs typeface="Arial" pitchFamily="34" charset="0"/>
              </a:rPr>
              <a:t>Процесс многоуровневого хранения данных в системе хранения данных называется многоуровневым хранением данных в массиве. </a:t>
            </a:r>
          </a:p>
          <a:p>
            <a:pPr indent="457200">
              <a:spcBef>
                <a:spcPts val="600"/>
              </a:spcBef>
            </a:pPr>
            <a:r>
              <a:rPr lang="ru-RU" b="0" i="0" dirty="0">
                <a:solidFill>
                  <a:srgbClr val="000000"/>
                </a:solidFill>
                <a:latin typeface="Arial" pitchFamily="34" charset="0"/>
                <a:cs typeface="Arial" pitchFamily="34" charset="0"/>
              </a:rPr>
              <a:t>Он обеспечивает эффективное использование твердотельных дисков, дисков Fibre Channel и SATA в системе и позволяет оптимизировать производительность и затраты. Цель — хранить на твердотельных дисках данные, которые используются чаще всего, перемещая реже используемые данные на диски SATA. </a:t>
            </a:r>
          </a:p>
          <a:p>
            <a:pPr indent="457200">
              <a:spcBef>
                <a:spcPts val="600"/>
              </a:spcBef>
            </a:pPr>
            <a:r>
              <a:rPr lang="ru-RU" b="0" i="0" dirty="0">
                <a:solidFill>
                  <a:srgbClr val="000000"/>
                </a:solidFill>
                <a:latin typeface="Arial" pitchFamily="34" charset="0"/>
                <a:cs typeface="Arial" pitchFamily="34" charset="0"/>
              </a:rPr>
              <a:t>Перемещение данных происходит между уровнями и может выполняться на уровне тома или элемента тома. Применяя многоуровневую кэш-память, можно еще больше повысить производительность.</a:t>
            </a:r>
          </a:p>
          <a:p>
            <a:pPr indent="457200">
              <a:spcBef>
                <a:spcPts val="600"/>
              </a:spcBef>
            </a:pPr>
            <a:r>
              <a:rPr lang="ru-RU" b="0" i="0" dirty="0">
                <a:solidFill>
                  <a:srgbClr val="000000"/>
                </a:solidFill>
                <a:latin typeface="Arial" pitchFamily="34" charset="0"/>
                <a:cs typeface="Arial" pitchFamily="34" charset="0"/>
              </a:rPr>
              <a:t>Как правило, многоуровневое хранение данных выполняется на уровне тома, т. е. весь том перемещается с одного уровня системы хранения на другой. </a:t>
            </a:r>
          </a:p>
          <a:p>
            <a:pPr indent="457200">
              <a:spcBef>
                <a:spcPts val="600"/>
              </a:spcBef>
            </a:pPr>
            <a:r>
              <a:rPr lang="ru-RU" b="0" i="0" dirty="0">
                <a:solidFill>
                  <a:srgbClr val="000000"/>
                </a:solidFill>
                <a:latin typeface="Arial" pitchFamily="34" charset="0"/>
                <a:cs typeface="Arial" pitchFamily="34" charset="0"/>
              </a:rPr>
              <a:t>Это перемещение включает активные и неактивные данные, которые хранятся в этом томе. Этот метод не обеспечивает существенную экономию затрат и повышение производительности. Сегодня многоуровневое хранение можно реализовать на уровне элемента тома. </a:t>
            </a:r>
          </a:p>
          <a:p>
            <a:pPr indent="457200">
              <a:spcBef>
                <a:spcPts val="600"/>
              </a:spcBef>
            </a:pPr>
            <a:r>
              <a:rPr lang="ru-RU" b="0" i="0" dirty="0">
                <a:solidFill>
                  <a:srgbClr val="000000"/>
                </a:solidFill>
                <a:latin typeface="Arial" pitchFamily="34" charset="0"/>
                <a:cs typeface="Arial" pitchFamily="34" charset="0"/>
              </a:rPr>
              <a:t>При многоуровневом хранении на уровне элемента тома последний разбивается на меньшие сегменты, которые распределяются по нескольким уровням. Перемещение данных с более высокой детализацией, например 8 Мбайт, значительно улучшает ценностное предложение автоматизированного многоуровневого хранения данных. </a:t>
            </a:r>
          </a:p>
          <a:p>
            <a:pPr indent="457200">
              <a:spcBef>
                <a:spcPts val="600"/>
              </a:spcBef>
            </a:pPr>
            <a:r>
              <a:rPr lang="ru-RU" b="0" i="0" dirty="0">
                <a:solidFill>
                  <a:srgbClr val="000000"/>
                </a:solidFill>
                <a:latin typeface="Arial" pitchFamily="34" charset="0"/>
                <a:cs typeface="Arial" pitchFamily="34" charset="0"/>
              </a:rPr>
              <a:t>Многоуровневое хранение на уровне элемента тома позволяет эффективно перемещать активные данные на более производительные диски и менее активные данные на менее производительные диски.</a:t>
            </a:r>
          </a:p>
          <a:p>
            <a:pPr>
              <a:spcBef>
                <a:spcPts val="600"/>
              </a:spcBef>
            </a:pPr>
            <a:endParaRPr lang="ru-RU" dirty="0">
              <a:latin typeface="Arial" pitchFamily="34" charset="0"/>
              <a:cs typeface="Arial" pitchFamily="34" charset="0"/>
            </a:endParaRP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21234594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b="0" i="0" dirty="0">
                <a:solidFill>
                  <a:srgbClr val="000000"/>
                </a:solidFill>
                <a:latin typeface="Arial" pitchFamily="34" charset="0"/>
                <a:cs typeface="Arial" pitchFamily="34" charset="0"/>
              </a:rPr>
              <a:t>Многоуровневый подход также реализуется на уровне кэш-памяти. Большая кэш-память в системе хранения повышает производительность, сохраняя большой объем часто используемых данных в кэш-памяти. В результате большинство операций чтения выполняется напрямую из кэш-памяти. </a:t>
            </a:r>
          </a:p>
          <a:p>
            <a:pPr indent="457200">
              <a:spcBef>
                <a:spcPts val="600"/>
              </a:spcBef>
            </a:pPr>
            <a:r>
              <a:rPr lang="ru-RU" b="0" i="0" dirty="0">
                <a:solidFill>
                  <a:srgbClr val="000000"/>
                </a:solidFill>
                <a:latin typeface="Arial" pitchFamily="34" charset="0"/>
                <a:cs typeface="Arial" pitchFamily="34" charset="0"/>
              </a:rPr>
              <a:t>Однако настройка объемной кэш-памяти в системе хранения влечет за собой большие затраты. Как вариант, можно увеличить размер кэш-памяти, используя твердотельные диски в системе хранения. </a:t>
            </a:r>
          </a:p>
          <a:p>
            <a:pPr indent="457200">
              <a:spcBef>
                <a:spcPts val="600"/>
              </a:spcBef>
            </a:pPr>
            <a:r>
              <a:rPr lang="ru-RU" b="0" i="0" dirty="0">
                <a:solidFill>
                  <a:srgbClr val="000000"/>
                </a:solidFill>
                <a:latin typeface="Arial" pitchFamily="34" charset="0"/>
                <a:cs typeface="Arial" pitchFamily="34" charset="0"/>
              </a:rPr>
              <a:t>В многоуровневой кэш-памяти твердотельные диски используются для создания вторичной кэш-памяти большой емкости, что делает возможным многоуровневое хранение данных между DRAM (основная кэш-память) и твердотельными дисками (вторичная кэш-память). </a:t>
            </a:r>
          </a:p>
          <a:p>
            <a:pPr indent="457200">
              <a:spcBef>
                <a:spcPts val="600"/>
              </a:spcBef>
            </a:pPr>
            <a:r>
              <a:rPr lang="ru-RU" b="0" i="0" dirty="0">
                <a:solidFill>
                  <a:srgbClr val="000000"/>
                </a:solidFill>
                <a:latin typeface="Arial" pitchFamily="34" charset="0"/>
                <a:cs typeface="Arial" pitchFamily="34" charset="0"/>
              </a:rPr>
              <a:t>Серверный кэш на базе флэш-памяти — это еще один уровень кэш-памяти, в рамках которого на сервере устанавливается флэш-карта кэш-памяти, чтобы еще больше повысить производительность приложений.</a:t>
            </a:r>
          </a:p>
          <a:p>
            <a:pPr>
              <a:spcBef>
                <a:spcPts val="600"/>
              </a:spcBef>
            </a:pPr>
            <a:endParaRPr lang="ru-RU" dirty="0">
              <a:latin typeface="Arial" pitchFamily="34" charset="0"/>
              <a:cs typeface="Arial" pitchFamily="34" charset="0"/>
            </a:endParaRP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24674468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технологии серверного кэширования на основе флэш-памяти применяется программное обеспечение для интеллектуального кэширования и флэш-карта PCI Express (PCIe), установленные в вычислительной системе. Это существенно повышает производительность приложений за счет сокращения задержки и повышения пропускной способности. Технология серверного кэширования на основе флэш-памяти работает как в физических, так и в виртуальных средах и обеспечивает повышение быстродействия для рабочих нагрузок с интенсивным чтением. В рамках этой технологии ресурсы ЦП и памяти вычислительной системы используются минимально, поскольку функции управления флэш-памятью делегированы карте PCIe. </a:t>
            </a:r>
          </a:p>
          <a:p>
            <a:pPr>
              <a:spcBef>
                <a:spcPts val="600"/>
              </a:spcBef>
            </a:pPr>
            <a:r>
              <a:rPr lang="ru-RU" b="0" i="0" dirty="0">
                <a:solidFill>
                  <a:srgbClr val="000000"/>
                </a:solidFill>
                <a:latin typeface="Arial" pitchFamily="34" charset="0"/>
                <a:cs typeface="Arial" pitchFamily="34" charset="0"/>
              </a:rPr>
              <a:t>Технология позволяет с помощью интеллектуальных алгоритмов определять, какие данные целесообразно разместить в вычислительной системе, на флэш-карте PCIe, поближе к приложению. Это позволяет избежать задержек в работе сети, связанных с доступом к системе хранения при выполнении операций ввода-вывода. Таким образом, для доступа к данным, которые чаще всего используются приложением, задействуются ресурсы карты PCIe, а не внутреннего хранилища. Благодаря этому система хранения может выделить большую вычислительную мощность другим приложениям.</a:t>
            </a:r>
          </a:p>
        </p:txBody>
      </p:sp>
    </p:spTree>
    <p:extLst>
      <p:ext uri="{BB962C8B-B14F-4D97-AF65-F5344CB8AC3E}">
        <p14:creationId xmlns:p14="http://schemas.microsoft.com/office/powerpoint/2010/main" val="37009071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Перенос приложений в облако позволяет организациям экономить средства. Чтобы обеспечить работу приложения и необходимый уровень производительности, поставщики услуг предлагают блочную систему хранения в облаке. Поставщики услуг позволяют пользователям создавать тома блочной СХД и прикреплять к ним экземпляры виртуальных машин. После прикрепления томов пользователи могут создать файловую систему на базе этих томов и запускать приложения так, как они запускаются в локальном центре обработки данных. </a:t>
            </a:r>
          </a:p>
        </p:txBody>
      </p:sp>
    </p:spTree>
    <p:extLst>
      <p:ext uri="{BB962C8B-B14F-4D97-AF65-F5344CB8AC3E}">
        <p14:creationId xmlns:p14="http://schemas.microsoft.com/office/powerpoint/2010/main" val="11248137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defRPr/>
            </a:pPr>
            <a:r>
              <a:rPr lang="ru-RU" b="0" i="0" dirty="0">
                <a:solidFill>
                  <a:srgbClr val="000000"/>
                </a:solidFill>
                <a:latin typeface="Arial" pitchFamily="34" charset="0"/>
                <a:cs typeface="Arial" pitchFamily="34" charset="0"/>
              </a:rPr>
              <a:t>В этом уроке рассматривалось многоуровневое хранение на уровне тома и элемента тома, многоуровневая кэш-память, серверное кэширование на основе флэш-памяти и сценарий использования блочной системы хранения. </a:t>
            </a:r>
          </a:p>
          <a:p>
            <a:pPr>
              <a:spcBef>
                <a:spcPts val="600"/>
              </a:spcBef>
            </a:pPr>
            <a:endParaRPr lang="ru-RU" dirty="0">
              <a:latin typeface="Arial" pitchFamily="34" charset="0"/>
              <a:cs typeface="Arial" pitchFamily="34" charset="0"/>
            </a:endParaRP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defRPr/>
            </a:pPr>
            <a:r>
              <a:rPr lang="ru-RU" b="0" i="0" dirty="0">
                <a:solidFill>
                  <a:srgbClr val="000000"/>
                </a:solidFill>
                <a:latin typeface="Arial" pitchFamily="34" charset="0"/>
                <a:cs typeface="Arial" pitchFamily="34" charset="0"/>
              </a:rPr>
              <a:t>В разделе «Практическая реализация концепций» рассматриваются решения EMC XtremIO, EMC VNX-F, EMC FAST VP, EMC XtremSF, и EMC XtremCache. </a:t>
            </a:r>
          </a:p>
          <a:p>
            <a:pPr>
              <a:spcBef>
                <a:spcPts val="600"/>
              </a:spcBef>
            </a:pPr>
            <a:r>
              <a:rPr lang="ru-RU" b="0" i="1" dirty="0">
                <a:solidFill>
                  <a:srgbClr val="000000"/>
                </a:solidFill>
                <a:latin typeface="Arial" pitchFamily="34" charset="0"/>
                <a:cs typeface="Arial" pitchFamily="34" charset="0"/>
              </a:rPr>
              <a:t>Примечание.</a:t>
            </a:r>
          </a:p>
          <a:p>
            <a:pPr>
              <a:spcBef>
                <a:spcPts val="600"/>
              </a:spcBef>
            </a:pPr>
            <a:r>
              <a:rPr lang="ru-RU" b="0" i="1" dirty="0">
                <a:solidFill>
                  <a:srgbClr val="000000"/>
                </a:solidFill>
                <a:latin typeface="Arial" pitchFamily="34" charset="0"/>
                <a:cs typeface="Arial" pitchFamily="34" charset="0"/>
              </a:rPr>
              <a:t>Актуальную информацию о продуктах EMC см. на сайте </a:t>
            </a:r>
            <a:r>
              <a:rPr lang="ru-RU" b="0" i="1" dirty="0">
                <a:solidFill>
                  <a:srgbClr val="000000"/>
                </a:solidFill>
                <a:latin typeface="Arial" pitchFamily="34" charset="0"/>
                <a:cs typeface="Arial" pitchFamily="34" charset="0"/>
                <a:hlinkClick r:id="rId3"/>
              </a:rPr>
              <a:t>russia.emc.com</a:t>
            </a:r>
            <a:r>
              <a:rPr lang="ru-RU" b="0" i="1" dirty="0">
                <a:solidFill>
                  <a:srgbClr val="000000"/>
                </a:solidFill>
                <a:latin typeface="Arial" pitchFamily="34" charset="0"/>
                <a:cs typeface="Arial" pitchFamily="34" charset="0"/>
              </a:rPr>
              <a:t>.</a:t>
            </a:r>
          </a:p>
          <a:p>
            <a:pPr>
              <a:spcBef>
                <a:spcPts val="600"/>
              </a:spcBef>
            </a:pPr>
            <a:endParaRPr lang="ru-RU" i="1">
              <a:latin typeface="Arial" pitchFamily="34" charset="0"/>
              <a:cs typeface="Arial" pitchFamily="34" charset="0"/>
            </a:endParaRPr>
          </a:p>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defTabSz="457159">
              <a:spcBef>
                <a:spcPts val="600"/>
              </a:spcBef>
              <a:defRPr/>
            </a:pPr>
            <a:r>
              <a:rPr lang="ru-RU" b="1" i="0" dirty="0">
                <a:solidFill>
                  <a:srgbClr val="000000"/>
                </a:solidFill>
                <a:latin typeface="Arial" pitchFamily="34" charset="0"/>
                <a:cs typeface="Arial" pitchFamily="34" charset="0"/>
              </a:rPr>
              <a:t>EMC XtremIO</a:t>
            </a:r>
            <a:r>
              <a:rPr lang="ru-RU" b="0" i="0" dirty="0">
                <a:solidFill>
                  <a:srgbClr val="000000"/>
                </a:solidFill>
                <a:latin typeface="Arial" pitchFamily="34" charset="0"/>
                <a:cs typeface="Arial" pitchFamily="34" charset="0"/>
              </a:rPr>
              <a:t> — это горизонтально масштабируемая блочная корпоративная система хранения данных на твердотельных дисках, которая обеспечивает чрезвычайно высокую производительность операций ввода-вывода. Специально разработанная для использования преимуществ флэш-дисков, система предоставляет новый уровень производительности, простоту администрирования и усовершенствованные сервисы управления данными для приложений. Емкость и производительность горизонтально масштабируемой кластерной архитектуры наращиваются линейно в соответствии с потребностями. В системе СХД XtremIO используются высокопроизводительные модули X-Brick с высоким уровнем доступности,</a:t>
            </a:r>
            <a:r>
              <a:rPr lang="ru-RU" b="1" i="0"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представляющие собой системы хранения, работающие в режиме активный/активный с отсутствием критических точек отказа. XIOS, мощная операционная система XtremIO, управляет кластером системы хранения XtremIO. XIOS обеспечивает сбалансированность системы и поддерживает максимально высокий уровень ее производительности без вмешательства администратора. Используя XtremIO, администраторы смогут повысить эффективность своей работы за счет оперативной настройки системы хранения и быстрого выделения необходимых ресурсов, а также благодаря отслеживанию состояния рабочей среды с использованием метрик в режиме реального времени.</a:t>
            </a:r>
          </a:p>
          <a:p>
            <a:pPr>
              <a:spcBef>
                <a:spcPts val="600"/>
              </a:spcBef>
              <a:defRPr/>
            </a:pPr>
            <a:r>
              <a:rPr lang="ru-RU" b="1" i="0" dirty="0">
                <a:solidFill>
                  <a:srgbClr val="000000"/>
                </a:solidFill>
                <a:latin typeface="Arial" pitchFamily="34" charset="0"/>
                <a:cs typeface="Arial" pitchFamily="34" charset="0"/>
              </a:rPr>
              <a:t>EMC VNX-F</a:t>
            </a:r>
            <a:r>
              <a:rPr lang="ru-RU" b="0" i="0" dirty="0">
                <a:solidFill>
                  <a:srgbClr val="000000"/>
                </a:solidFill>
                <a:latin typeface="Arial" pitchFamily="34" charset="0"/>
                <a:cs typeface="Arial" pitchFamily="34" charset="0"/>
              </a:rPr>
              <a:t> — это блочная система хранения с поддержкой только твердотельных дисков. Она обеспечивает стабильную производительность и низкий показатель задержки для сред приложений (OLTP, RDBMS и других), виртуализацию вычислительных ресурсов и рабочих мест. VNX-F поддерживает блочные протоколы Fibre Channel, FCoE и iSCSI. </a:t>
            </a:r>
          </a:p>
          <a:p>
            <a:pPr defTabSz="457159">
              <a:spcBef>
                <a:spcPts val="600"/>
              </a:spcBef>
              <a:defRPr/>
            </a:pPr>
            <a:r>
              <a:rPr lang="ru-RU" b="1" i="0" dirty="0">
                <a:solidFill>
                  <a:srgbClr val="000000"/>
                </a:solidFill>
                <a:latin typeface="Arial" pitchFamily="34" charset="0"/>
                <a:cs typeface="Arial" pitchFamily="34" charset="0"/>
              </a:rPr>
              <a:t>EMC FAST VP</a:t>
            </a:r>
            <a:r>
              <a:rPr lang="ru-RU" b="0" i="0" dirty="0">
                <a:solidFill>
                  <a:srgbClr val="000000"/>
                </a:solidFill>
                <a:latin typeface="Arial" pitchFamily="34" charset="0"/>
                <a:cs typeface="Arial" pitchFamily="34" charset="0"/>
              </a:rPr>
              <a:t> выполняет многоуровневое хранение данных на уровне элемента тома в среде с виртуальным выделением ресурсов. FAST VP автоматически перемещает более активные данные (более часто используемые данные) на уровень хранения данных с самой высокой производительностью, а менее активные данные на менее дорогостоящий уровень с меньшей производительностью. Перемещение данных между уровнями осуществляется на основе определяемых пользователями политик. FAST VP выполняет операции перемещения автоматически и без прерывания работы. </a:t>
            </a:r>
          </a:p>
        </p:txBody>
      </p:sp>
    </p:spTree>
    <p:extLst>
      <p:ext uri="{BB962C8B-B14F-4D97-AF65-F5344CB8AC3E}">
        <p14:creationId xmlns:p14="http://schemas.microsoft.com/office/powerpoint/2010/main" val="21058409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defTabSz="457159">
              <a:spcBef>
                <a:spcPts val="600"/>
              </a:spcBef>
              <a:defRPr/>
            </a:pPr>
            <a:r>
              <a:rPr lang="ru-RU" b="1" i="0" dirty="0">
                <a:solidFill>
                  <a:srgbClr val="000000"/>
                </a:solidFill>
                <a:latin typeface="Arial" pitchFamily="34" charset="0"/>
                <a:cs typeface="Arial" pitchFamily="34" charset="0"/>
              </a:rPr>
              <a:t>EMC XtremSF</a:t>
            </a:r>
            <a:r>
              <a:rPr lang="ru-RU" b="0" i="0" dirty="0">
                <a:solidFill>
                  <a:srgbClr val="000000"/>
                </a:solidFill>
                <a:latin typeface="Arial" pitchFamily="34" charset="0"/>
                <a:cs typeface="Arial" pitchFamily="34" charset="0"/>
              </a:rPr>
              <a:t> — это флэш-карта PCIe, которая развертывается в вычислительной системе для динамического повышения производительности приложений за счет сокращения задержек и повышения пропускной способности. XtremSF также используется как устройство кэширования в сочетании с серверным ПО для кэширования во флэш-памяти — EMC XtremCache. XtremSF при развертывании в вычислительной системе сводит до минимума издержки сетевой системы хранения и сокращает время отклика. </a:t>
            </a:r>
          </a:p>
          <a:p>
            <a:pPr>
              <a:spcBef>
                <a:spcPts val="600"/>
              </a:spcBef>
              <a:defRPr/>
            </a:pPr>
            <a:r>
              <a:rPr lang="ru-RU" b="1" i="0" dirty="0">
                <a:solidFill>
                  <a:srgbClr val="000000"/>
                </a:solidFill>
                <a:latin typeface="Arial" pitchFamily="34" charset="0"/>
                <a:cs typeface="Arial" pitchFamily="34" charset="0"/>
              </a:rPr>
              <a:t>EMC XtremCache</a:t>
            </a:r>
            <a:r>
              <a:rPr lang="ru-RU" b="0" i="0" dirty="0">
                <a:solidFill>
                  <a:srgbClr val="000000"/>
                </a:solidFill>
                <a:latin typeface="Arial" pitchFamily="34" charset="0"/>
                <a:cs typeface="Arial" pitchFamily="34" charset="0"/>
              </a:rPr>
              <a:t> — это ПО для интеллектуального кэширования, которое использует серверную флэш-технологию и кэширование со сквозной записью для повышения производительности приложений и защиты данных. XtremCache ускоряет операции чтения и защищает данные с помощью кэш-памяти со сквозной записью в сетевой системе хранения. Благодаря ПО XtremCache технология EMC FAST VP может использоваться также и в вычислительной системе — к стеку ввода-вывода добавляется еще один уровень интеллектуальных возможностей и производительности. </a:t>
            </a:r>
          </a:p>
          <a:p>
            <a:pPr>
              <a:spcBef>
                <a:spcPts val="600"/>
              </a:spcBef>
            </a:pPr>
            <a:endParaRPr lang="ru-RU" b="1">
              <a:latin typeface="Arial" pitchFamily="34" charset="0"/>
              <a:cs typeface="Arial" pitchFamily="34" charset="0"/>
            </a:endParaRPr>
          </a:p>
          <a:p>
            <a:pPr>
              <a:spcBef>
                <a:spcPts val="600"/>
              </a:spcBef>
            </a:pPr>
            <a:endParaRPr lang="ru-RU" b="1" dirty="0">
              <a:latin typeface="Arial" pitchFamily="34" charset="0"/>
              <a:cs typeface="Arial" pitchFamily="34" charset="0"/>
            </a:endParaRPr>
          </a:p>
        </p:txBody>
      </p:sp>
    </p:spTree>
    <p:extLst>
      <p:ext uri="{BB962C8B-B14F-4D97-AF65-F5344CB8AC3E}">
        <p14:creationId xmlns:p14="http://schemas.microsoft.com/office/powerpoint/2010/main" val="29965641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В этом модуле рассматривались различные компоненты блочной системы хранения данных. В этом модуле также рассматривались способы традиционного и виртуального выделения ресурсов и механизмы многоуровневого хранения. </a:t>
            </a:r>
          </a:p>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Курс завершен.</a:t>
            </a: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37037498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latin typeface="Arial" pitchFamily="34" charset="0"/>
              <a:cs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8972343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1.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1.jpe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5.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6.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7.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8.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9.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0.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35.xml"/><Relationship Id="rId4" Type="http://schemas.openxmlformats.org/officeDocument/2006/relationships/image" Target="../media/image1.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36.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5" y="1809750"/>
            <a:ext cx="6743596" cy="1194689"/>
          </a:xfrm>
          <a:prstGeom prst="rect">
            <a:avLst/>
          </a:prstGeom>
        </p:spPr>
        <p:txBody>
          <a:bodyPr lIns="0" tIns="0" rIns="0" bIns="0" anchor="b" anchorCtr="0"/>
          <a:lstStyle>
            <a:lvl1pPr algn="ctr">
              <a:lnSpc>
                <a:spcPct val="90000"/>
              </a:lnSpc>
              <a:defRPr sz="2800">
                <a:solidFill>
                  <a:schemeClr val="tx2"/>
                </a:solidFill>
                <a:latin typeface="Arial" pitchFamily="34" charset="0"/>
                <a:cs typeface="Arial"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028807" y="3105151"/>
            <a:ext cx="6743595" cy="816769"/>
          </a:xfrm>
          <a:prstGeom prst="rect">
            <a:avLst/>
          </a:prstGeom>
        </p:spPr>
        <p:txBody>
          <a:bodyPr lIns="0" tIns="0" rIns="0" bIns="0"/>
          <a:lstStyle>
            <a:lvl1pPr marL="0" indent="0" algn="ctr">
              <a:buNone/>
              <a:defRPr sz="2400">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Text Box 78"/>
          <p:cNvSpPr txBox="1">
            <a:spLocks noChangeArrowheads="1"/>
          </p:cNvSpPr>
          <p:nvPr userDrawn="1"/>
        </p:nvSpPr>
        <p:spPr bwMode="auto">
          <a:xfrm>
            <a:off x="4267200" y="4933950"/>
            <a:ext cx="3429002" cy="153988"/>
          </a:xfrm>
          <a:prstGeom prst="rect">
            <a:avLst/>
          </a:prstGeom>
          <a:noFill/>
          <a:ln w="9525">
            <a:noFill/>
            <a:miter lim="800000"/>
            <a:headEnd/>
            <a:tailEnd/>
          </a:ln>
        </p:spPr>
        <p:txBody>
          <a:bodyPr wrap="square" lIns="0" tIns="0" rIns="0" bIns="0">
            <a:spAutoFit/>
          </a:bodyPr>
          <a:lstStyle/>
          <a:p>
            <a:pPr algn="r">
              <a:spcBef>
                <a:spcPts val="600"/>
              </a:spcBef>
            </a:pPr>
            <a:r>
              <a:rPr lang="ru-RU" sz="1000" b="0" i="0" dirty="0">
                <a:solidFill>
                  <a:srgbClr val="10100F"/>
                </a:solidFill>
                <a:latin typeface="Arial" pitchFamily="34" charset="0"/>
                <a:cs typeface="Arial" pitchFamily="34" charset="0"/>
              </a:rPr>
              <a:t>Контактное лицо по поддержке: </a:t>
            </a:r>
            <a:r>
              <a:rPr lang="ru-RU" sz="1000" b="0" i="0" dirty="0">
                <a:solidFill>
                  <a:srgbClr val="000000"/>
                </a:solidFill>
                <a:latin typeface="Arial" pitchFamily="34" charset="0"/>
                <a:cs typeface="Arial" pitchFamily="34" charset="0"/>
                <a:hlinkClick r:id="rId3"/>
              </a:rPr>
              <a:t>EMC Education Services</a:t>
            </a:r>
          </a:p>
        </p:txBody>
      </p:sp>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949913" y="4100959"/>
            <a:ext cx="813087" cy="1061591"/>
          </a:xfrm>
          <a:prstGeom prst="rect">
            <a:avLst/>
          </a:prstGeom>
        </p:spPr>
      </p:pic>
    </p:spTree>
    <p:custDataLst>
      <p:tags r:id="rId1"/>
    </p:custDataLst>
    <p:extLst>
      <p:ext uri="{BB962C8B-B14F-4D97-AF65-F5344CB8AC3E}">
        <p14:creationId xmlns:p14="http://schemas.microsoft.com/office/powerpoint/2010/main" val="120180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3913783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3"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2"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3252329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3"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2"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2895136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TextBox 4"/>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1466215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TextBox 5"/>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3835493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TextBox 7"/>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4164140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a:t> Click icon to add table</a:t>
            </a:r>
          </a:p>
          <a:p>
            <a:pPr lvl="0"/>
            <a:endParaRPr lang="en-US" noProof="0" dirty="0"/>
          </a:p>
        </p:txBody>
      </p:sp>
      <p:sp>
        <p:nvSpPr>
          <p:cNvPr id="5" name="TextBox 4"/>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539508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5"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0999"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TextBox 6"/>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615864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0999"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extBox 8"/>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2785359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4"/>
          <p:cNvSpPr>
            <a:spLocks noGrp="1"/>
          </p:cNvSpPr>
          <p:nvPr>
            <p:ph sz="quarter" idx="11"/>
          </p:nvPr>
        </p:nvSpPr>
        <p:spPr>
          <a:xfrm>
            <a:off x="4800600"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1418247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6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2405768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4" name="Content Placeholder 4"/>
          <p:cNvSpPr>
            <a:spLocks noGrp="1"/>
          </p:cNvSpPr>
          <p:nvPr>
            <p:ph sz="quarter" idx="11"/>
          </p:nvPr>
        </p:nvSpPr>
        <p:spPr>
          <a:xfrm>
            <a:off x="4800600"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3625608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9"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hasCustomPrompt="1"/>
          </p:nvPr>
        </p:nvSpPr>
        <p:spPr>
          <a:xfrm>
            <a:off x="374339" y="1011767"/>
            <a:ext cx="4038601"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100">
                <a:solidFill>
                  <a:schemeClr val="tx1"/>
                </a:solidFill>
              </a:defRPr>
            </a:lvl4pPr>
            <a:lvl5pPr marL="1201738" indent="-168275">
              <a:spcBef>
                <a:spcPts val="300"/>
              </a:spcBef>
              <a:buClr>
                <a:schemeClr val="tx2"/>
              </a:buClr>
              <a:buFont typeface="Arial"/>
              <a:buChar char="–"/>
              <a:defRPr sz="105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p:cNvSpPr>
            <a:spLocks noGrp="1"/>
          </p:cNvSpPr>
          <p:nvPr>
            <p:ph sz="quarter" idx="11" hasCustomPrompt="1"/>
          </p:nvPr>
        </p:nvSpPr>
        <p:spPr>
          <a:xfrm>
            <a:off x="4809066" y="1011767"/>
            <a:ext cx="4038601"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100">
                <a:solidFill>
                  <a:schemeClr val="tx1"/>
                </a:solidFill>
              </a:defRPr>
            </a:lvl4pPr>
            <a:lvl5pPr marL="1201738" indent="-168275">
              <a:spcBef>
                <a:spcPts val="300"/>
              </a:spcBef>
              <a:buClr>
                <a:schemeClr val="tx2"/>
              </a:buClr>
              <a:buFont typeface="Arial"/>
              <a:buChar char="–"/>
              <a:defRPr sz="105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462458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Exercise">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27500844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left blank">
    <p:spTree>
      <p:nvGrpSpPr>
        <p:cNvPr id="1" name=""/>
        <p:cNvGrpSpPr/>
        <p:nvPr/>
      </p:nvGrpSpPr>
      <p:grpSpPr>
        <a:xfrm>
          <a:off x="0" y="0"/>
          <a:ext cx="0" cy="0"/>
          <a:chOff x="0" y="0"/>
          <a:chExt cx="0" cy="0"/>
        </a:xfrm>
      </p:grpSpPr>
      <p:sp>
        <p:nvSpPr>
          <p:cNvPr id="4" name="TextBox 3"/>
          <p:cNvSpPr txBox="1"/>
          <p:nvPr userDrawn="1"/>
        </p:nvSpPr>
        <p:spPr>
          <a:xfrm>
            <a:off x="381000" y="2126218"/>
            <a:ext cx="8458200" cy="369332"/>
          </a:xfrm>
          <a:prstGeom prst="rect">
            <a:avLst/>
          </a:prstGeom>
          <a:noFill/>
        </p:spPr>
        <p:txBody>
          <a:bodyPr wrap="square" rtlCol="0">
            <a:spAutoFit/>
          </a:bodyPr>
          <a:lstStyle/>
          <a:p>
            <a:pPr algn="ctr"/>
            <a:r>
              <a:rPr lang="ru-RU" sz="1800" b="0" i="0" dirty="0">
                <a:solidFill>
                  <a:srgbClr val="000000"/>
                </a:solidFill>
              </a:rPr>
              <a:t>Этот слайд намеренно оставлен пустым.</a:t>
            </a:r>
          </a:p>
        </p:txBody>
      </p:sp>
      <p:sp>
        <p:nvSpPr>
          <p:cNvPr id="5" name="TextBox 4"/>
          <p:cNvSpPr txBox="1"/>
          <p:nvPr userDrawn="1"/>
        </p:nvSpPr>
        <p:spPr bwMode="gray">
          <a:xfrm>
            <a:off x="64008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2419931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8" y="1657351"/>
            <a:ext cx="4899905" cy="1581470"/>
          </a:xfrm>
          <a:prstGeom prst="rect">
            <a:avLst/>
          </a:prstGeom>
        </p:spPr>
      </p:pic>
    </p:spTree>
    <p:custDataLst>
      <p:tags r:id="rId1"/>
    </p:custDataLst>
    <p:extLst>
      <p:ext uri="{BB962C8B-B14F-4D97-AF65-F5344CB8AC3E}">
        <p14:creationId xmlns:p14="http://schemas.microsoft.com/office/powerpoint/2010/main" val="90387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4" y="1809750"/>
            <a:ext cx="6743596" cy="1194689"/>
          </a:xfrm>
          <a:prstGeom prst="rect">
            <a:avLst/>
          </a:prstGeom>
        </p:spPr>
        <p:txBody>
          <a:bodyPr lIns="0" tIns="0" rIns="0" bIns="0" anchor="b" anchorCtr="0"/>
          <a:lstStyle>
            <a:lvl1pPr algn="ctr">
              <a:lnSpc>
                <a:spcPct val="90000"/>
              </a:lnSpc>
              <a:defRPr sz="2800">
                <a:solidFill>
                  <a:schemeClr val="tx2"/>
                </a:solidFill>
                <a:latin typeface="Arial" pitchFamily="34" charset="0"/>
                <a:cs typeface="Arial"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028805" y="3105150"/>
            <a:ext cx="6743595" cy="816769"/>
          </a:xfrm>
          <a:prstGeom prst="rect">
            <a:avLst/>
          </a:prstGeom>
        </p:spPr>
        <p:txBody>
          <a:bodyPr lIns="0" tIns="0" rIns="0" bIns="0"/>
          <a:lstStyle>
            <a:lvl1pPr marL="0" indent="0" algn="ctr">
              <a:buNone/>
              <a:defRPr sz="2400">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Text Box 78"/>
          <p:cNvSpPr txBox="1">
            <a:spLocks noChangeArrowheads="1"/>
          </p:cNvSpPr>
          <p:nvPr userDrawn="1"/>
        </p:nvSpPr>
        <p:spPr bwMode="auto">
          <a:xfrm>
            <a:off x="4191000" y="4933950"/>
            <a:ext cx="3429000" cy="153988"/>
          </a:xfrm>
          <a:prstGeom prst="rect">
            <a:avLst/>
          </a:prstGeom>
          <a:noFill/>
          <a:ln w="9525">
            <a:noFill/>
            <a:miter lim="800000"/>
            <a:headEnd/>
            <a:tailEnd/>
          </a:ln>
        </p:spPr>
        <p:txBody>
          <a:bodyPr wrap="square" lIns="0" tIns="0" rIns="0" bIns="0">
            <a:spAutoFit/>
          </a:bodyPr>
          <a:lstStyle/>
          <a:p>
            <a:pPr algn="r">
              <a:spcBef>
                <a:spcPts val="600"/>
              </a:spcBef>
            </a:pPr>
            <a:r>
              <a:rPr lang="ru-RU" sz="1000" b="0" i="0" dirty="0">
                <a:solidFill>
                  <a:srgbClr val="10100F"/>
                </a:solidFill>
                <a:latin typeface="Arial" pitchFamily="34" charset="0"/>
                <a:cs typeface="Arial" pitchFamily="34" charset="0"/>
              </a:rPr>
              <a:t>Контактное лицо по поддержке: </a:t>
            </a:r>
            <a:r>
              <a:rPr lang="ru-RU" sz="1000" b="0" i="0" dirty="0">
                <a:solidFill>
                  <a:srgbClr val="000000"/>
                </a:solidFill>
                <a:latin typeface="Arial" pitchFamily="34" charset="0"/>
                <a:cs typeface="Arial" pitchFamily="34" charset="0"/>
                <a:hlinkClick r:id="rId3"/>
              </a:rPr>
              <a:t>EMC Education Services</a:t>
            </a:r>
          </a:p>
        </p:txBody>
      </p:sp>
      <p:sp>
        <p:nvSpPr>
          <p:cNvPr id="5" name="Slide Number Placeholder 4"/>
          <p:cNvSpPr>
            <a:spLocks noGrp="1"/>
          </p:cNvSpPr>
          <p:nvPr>
            <p:ph type="sldNum" sz="quarter" idx="11"/>
          </p:nvPr>
        </p:nvSpPr>
        <p:spPr/>
        <p:txBody>
          <a:bodyPr/>
          <a:lstStyle>
            <a:lvl1pPr>
              <a:defRPr>
                <a:latin typeface="Arial" pitchFamily="34" charset="0"/>
                <a:cs typeface="Arial" pitchFamily="34" charset="0"/>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96200" y="4086561"/>
            <a:ext cx="923925" cy="1080641"/>
          </a:xfrm>
          <a:prstGeom prst="rect">
            <a:avLst/>
          </a:prstGeom>
        </p:spPr>
      </p:pic>
    </p:spTree>
    <p:custDataLst>
      <p:tags r:id="rId1"/>
    </p:custDataLst>
    <p:extLst>
      <p:ext uri="{BB962C8B-B14F-4D97-AF65-F5344CB8AC3E}">
        <p14:creationId xmlns:p14="http://schemas.microsoft.com/office/powerpoint/2010/main" val="18455623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42730315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1897201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24011165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a:xfrm>
            <a:off x="8610600" y="4887913"/>
            <a:ext cx="381000" cy="274637"/>
          </a:xfrm>
        </p:spPr>
        <p:txBody>
          <a:body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6" name="TextBox 5"/>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24144529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7" name="TextBox 6"/>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25825936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13246364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a:t> Click icon to add table</a:t>
            </a:r>
          </a:p>
          <a:p>
            <a:pPr lvl="0"/>
            <a:endParaRPr lang="en-US" noProof="0" dirty="0"/>
          </a:p>
        </p:txBody>
      </p:sp>
      <p:sp>
        <p:nvSpPr>
          <p:cNvPr id="7"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35846338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20192550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2338705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9" name="TextBox 8"/>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18413632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2887856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9" name="TextBox 8"/>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31056587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8"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hasCustomPrompt="1"/>
          </p:nvPr>
        </p:nvSpPr>
        <p:spPr>
          <a:xfrm>
            <a:off x="374338"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600">
                <a:solidFill>
                  <a:schemeClr val="tx1"/>
                </a:solidFill>
              </a:defRPr>
            </a:lvl3pPr>
            <a:lvl4pPr marL="855663" indent="-169863">
              <a:spcBef>
                <a:spcPts val="300"/>
              </a:spcBef>
              <a:buClr>
                <a:schemeClr val="tx2"/>
              </a:buClr>
              <a:buFont typeface="Arial"/>
              <a:buChar char="•"/>
              <a:defRPr sz="1400">
                <a:solidFill>
                  <a:schemeClr val="tx1"/>
                </a:solidFill>
              </a:defRPr>
            </a:lvl4pPr>
            <a:lvl5pPr marL="1201738" indent="-168275">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p:cNvSpPr>
            <a:spLocks noGrp="1"/>
          </p:cNvSpPr>
          <p:nvPr>
            <p:ph sz="quarter" idx="11" hasCustomPrompt="1"/>
          </p:nvPr>
        </p:nvSpPr>
        <p:spPr>
          <a:xfrm>
            <a:off x="4809067"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600">
                <a:solidFill>
                  <a:schemeClr val="tx1"/>
                </a:solidFill>
              </a:defRPr>
            </a:lvl3pPr>
            <a:lvl4pPr marL="855663" indent="-169863">
              <a:spcBef>
                <a:spcPts val="300"/>
              </a:spcBef>
              <a:buClr>
                <a:schemeClr val="tx2"/>
              </a:buClr>
              <a:buFont typeface="Arial"/>
              <a:buChar char="•"/>
              <a:defRPr sz="1400">
                <a:solidFill>
                  <a:schemeClr val="tx1"/>
                </a:solidFill>
              </a:defRPr>
            </a:lvl4pPr>
            <a:lvl5pPr marL="1201738" indent="-168275">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34010175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eedback  ">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pic>
        <p:nvPicPr>
          <p:cNvPr id="6" name="Picture 10"/>
          <p:cNvPicPr>
            <a:picLocks noChangeAspect="1" noChangeArrowheads="1"/>
          </p:cNvPicPr>
          <p:nvPr userDrawn="1"/>
        </p:nvPicPr>
        <p:blipFill>
          <a:blip r:embed="rId3" cstate="print">
            <a:lum bright="70000" contrast="-70000"/>
          </a:blip>
          <a:srcRect/>
          <a:stretch>
            <a:fillRect/>
          </a:stretch>
        </p:blipFill>
        <p:spPr bwMode="auto">
          <a:xfrm>
            <a:off x="1828800" y="1123950"/>
            <a:ext cx="3754579" cy="2514600"/>
          </a:xfrm>
          <a:prstGeom prst="rect">
            <a:avLst/>
          </a:prstGeom>
          <a:noFill/>
          <a:ln w="28575" algn="ctr">
            <a:noFill/>
            <a:miter lim="800000"/>
            <a:headEnd/>
            <a:tailEnd/>
          </a:ln>
        </p:spPr>
      </p:pic>
      <p:sp>
        <p:nvSpPr>
          <p:cNvPr id="8" name="Rounded Rectangle 7"/>
          <p:cNvSpPr/>
          <p:nvPr userDrawn="1"/>
        </p:nvSpPr>
        <p:spPr bwMode="auto">
          <a:xfrm>
            <a:off x="4876800" y="3257550"/>
            <a:ext cx="2386013" cy="367904"/>
          </a:xfrm>
          <a:prstGeom prst="roundRect">
            <a:avLst/>
          </a:prstGeom>
          <a:solidFill>
            <a:schemeClr val="tx1">
              <a:lumMod val="65000"/>
              <a:lumOff val="35000"/>
            </a:schemeClr>
          </a:solidFill>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a:defRPr/>
            </a:pPr>
            <a:r>
              <a:rPr lang="ru-RU" b="0" i="0" dirty="0">
                <a:solidFill>
                  <a:srgbClr val="FFFFFF"/>
                </a:solidFill>
                <a:latin typeface="Arial" pitchFamily="18" charset="0"/>
              </a:rPr>
              <a:t>Отправить отзыв</a:t>
            </a:r>
          </a:p>
        </p:txBody>
      </p:sp>
      <p:sp>
        <p:nvSpPr>
          <p:cNvPr id="9"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18821493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7" y="1657351"/>
            <a:ext cx="4899905" cy="1581470"/>
          </a:xfrm>
          <a:prstGeom prst="rect">
            <a:avLst/>
          </a:prstGeom>
        </p:spPr>
      </p:pic>
    </p:spTree>
    <p:custDataLst>
      <p:tags r:id="rId1"/>
    </p:custDataLst>
    <p:extLst>
      <p:ext uri="{BB962C8B-B14F-4D97-AF65-F5344CB8AC3E}">
        <p14:creationId xmlns:p14="http://schemas.microsoft.com/office/powerpoint/2010/main" val="617696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sp>
        <p:nvSpPr>
          <p:cNvPr id="5" name="TextBox 4"/>
          <p:cNvSpPr txBox="1"/>
          <p:nvPr userDrawn="1"/>
        </p:nvSpPr>
        <p:spPr bwMode="gray">
          <a:xfrm>
            <a:off x="6248400" y="4994017"/>
            <a:ext cx="1606209" cy="92333"/>
          </a:xfrm>
          <a:prstGeom prst="rect">
            <a:avLst/>
          </a:prstGeom>
          <a:noFill/>
        </p:spPr>
        <p:txBody>
          <a:bodyPr wrap="none" lIns="0" tIns="0" rIns="0" bIns="0" rtlCol="0">
            <a:spAutoFit/>
          </a:bodyPr>
          <a:lstStyle/>
          <a:p>
            <a:pPr algn="r" rtl="0"/>
            <a:r>
              <a:rPr lang="ru-RU" sz="600" kern="1200" baseline="0" dirty="0">
                <a:solidFill>
                  <a:schemeClr val="accent4">
                    <a:lumMod val="50000"/>
                  </a:schemeClr>
                </a:solidFill>
                <a:latin typeface="Arial" pitchFamily="34" charset="0"/>
                <a:ea typeface="+mn-ea"/>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520308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tags" Target="../tags/tag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16"/>
          <p:cNvSpPr txBox="1"/>
          <p:nvPr/>
        </p:nvSpPr>
        <p:spPr bwMode="gray">
          <a:xfrm>
            <a:off x="366714" y="5033045"/>
            <a:ext cx="1748877"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600" b="0" i="0" dirty="0">
                <a:solidFill>
                  <a:srgbClr val="717073"/>
                </a:solidFill>
                <a:latin typeface="Arial" pitchFamily="34" charset="0"/>
                <a:cs typeface="Arial" pitchFamily="34" charset="0"/>
              </a:rPr>
              <a:t> Корпорация EMC, 2015 г. Все права защищены.</a:t>
            </a:r>
          </a:p>
        </p:txBody>
      </p:sp>
      <p:pic>
        <p:nvPicPr>
          <p:cNvPr id="9" name="Picture 8"/>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8229162" y="4448396"/>
            <a:ext cx="533838" cy="709502"/>
          </a:xfrm>
          <a:prstGeom prst="rect">
            <a:avLst/>
          </a:prstGeom>
        </p:spPr>
      </p:pic>
    </p:spTree>
    <p:custDataLst>
      <p:tags r:id="rId19"/>
    </p:custDataLst>
    <p:extLst>
      <p:ext uri="{BB962C8B-B14F-4D97-AF65-F5344CB8AC3E}">
        <p14:creationId xmlns:p14="http://schemas.microsoft.com/office/powerpoint/2010/main" val="587389524"/>
      </p:ext>
    </p:extLst>
  </p:cSld>
  <p:clrMap bg1="lt1" tx1="dk1" bg2="lt2" tx2="dk2" accent1="accent1" accent2="accent2" accent3="accent3" accent4="accent4" accent5="accent5" accent6="accent6" hlink="hlink" folHlink="folHlink"/>
  <p:sldLayoutIdLst>
    <p:sldLayoutId id="2147483746" r:id="rId1"/>
    <p:sldLayoutId id="2147483749" r:id="rId2"/>
    <p:sldLayoutId id="2147483772" r:id="rId3"/>
    <p:sldLayoutId id="2147483773" r:id="rId4"/>
    <p:sldLayoutId id="2147483750" r:id="rId5"/>
    <p:sldLayoutId id="2147483751" r:id="rId6"/>
    <p:sldLayoutId id="2147483752" r:id="rId7"/>
    <p:sldLayoutId id="2147483774" r:id="rId8"/>
    <p:sldLayoutId id="2147483753" r:id="rId9"/>
    <p:sldLayoutId id="2147483754" r:id="rId10"/>
    <p:sldLayoutId id="2147483755" r:id="rId11"/>
    <p:sldLayoutId id="2147483756" r:id="rId12"/>
    <p:sldLayoutId id="2147483757" r:id="rId13"/>
    <p:sldLayoutId id="2147483758" r:id="rId14"/>
    <p:sldLayoutId id="2147483775" r:id="rId15"/>
    <p:sldLayoutId id="2147483771" r:id="rId16"/>
    <p:sldLayoutId id="2147483768" r:id="rId17"/>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16"/>
          <p:cNvSpPr txBox="1"/>
          <p:nvPr/>
        </p:nvSpPr>
        <p:spPr bwMode="gray">
          <a:xfrm>
            <a:off x="366714" y="5033041"/>
            <a:ext cx="1748877"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600" b="0" i="0" dirty="0">
                <a:solidFill>
                  <a:srgbClr val="717073"/>
                </a:solidFill>
                <a:latin typeface="Arial" pitchFamily="34" charset="0"/>
                <a:cs typeface="Arial" pitchFamily="34" charset="0"/>
              </a:rPr>
              <a:t> Корпорация EMC, 2015 г. Все права защищены.</a:t>
            </a:r>
          </a:p>
        </p:txBody>
      </p:sp>
      <p:sp>
        <p:nvSpPr>
          <p:cNvPr id="4" name="Slide Number Placeholder 3"/>
          <p:cNvSpPr>
            <a:spLocks noGrp="1"/>
          </p:cNvSpPr>
          <p:nvPr>
            <p:ph type="sldNum" sz="quarter" idx="4"/>
          </p:nvPr>
        </p:nvSpPr>
        <p:spPr>
          <a:xfrm>
            <a:off x="8686800" y="4887913"/>
            <a:ext cx="381000" cy="274637"/>
          </a:xfrm>
          <a:prstGeom prst="rect">
            <a:avLst/>
          </a:prstGeom>
        </p:spPr>
        <p:txBody>
          <a:bodyPr vert="horz" lIns="91440" tIns="45720" rIns="91440" bIns="45720" rtlCol="0" anchor="ctr"/>
          <a:lstStyle>
            <a:lvl1pPr algn="r">
              <a:defRPr sz="600">
                <a:solidFill>
                  <a:schemeClr val="tx1">
                    <a:tint val="75000"/>
                  </a:schemeClr>
                </a:solidFill>
                <a:latin typeface="Arial" pitchFamily="34" charset="0"/>
                <a:cs typeface="Arial" pitchFamily="34" charset="0"/>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spTree>
    <p:custDataLst>
      <p:tags r:id="rId19"/>
    </p:custDataLst>
    <p:extLst>
      <p:ext uri="{BB962C8B-B14F-4D97-AF65-F5344CB8AC3E}">
        <p14:creationId xmlns:p14="http://schemas.microsoft.com/office/powerpoint/2010/main" val="3138532193"/>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4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4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45.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46.xml"/><Relationship Id="rId5"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50.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5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5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5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1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18.xml"/><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55.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56.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20.xml"/><Relationship Id="rId7"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57.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60.xml"/><Relationship Id="rId7" Type="http://schemas.openxmlformats.org/officeDocument/2006/relationships/notesSlide" Target="../notesSlides/notesSlide21.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Layout" Target="../slideLayouts/slideLayout2.xml"/><Relationship Id="rId5" Type="http://schemas.openxmlformats.org/officeDocument/2006/relationships/tags" Target="../tags/tag62.xml"/><Relationship Id="rId10" Type="http://schemas.openxmlformats.org/officeDocument/2006/relationships/image" Target="../media/image9.png"/><Relationship Id="rId4" Type="http://schemas.openxmlformats.org/officeDocument/2006/relationships/tags" Target="../tags/tag61.xml"/><Relationship Id="rId9"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6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6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6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68.xml"/><Relationship Id="rId5" Type="http://schemas.openxmlformats.org/officeDocument/2006/relationships/image" Target="../media/image17.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69.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70.xml"/><Relationship Id="rId6" Type="http://schemas.openxmlformats.org/officeDocument/2006/relationships/image" Target="../media/image20.png"/><Relationship Id="rId5" Type="http://schemas.microsoft.com/office/2007/relationships/hdphoto" Target="../media/hdphoto1.wdp"/><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8" Type="http://schemas.openxmlformats.org/officeDocument/2006/relationships/tags" Target="../tags/tag78.xml"/><Relationship Id="rId13" Type="http://schemas.openxmlformats.org/officeDocument/2006/relationships/slideLayout" Target="../slideLayouts/slideLayout7.xml"/><Relationship Id="rId18" Type="http://schemas.openxmlformats.org/officeDocument/2006/relationships/image" Target="../media/image9.png"/><Relationship Id="rId3" Type="http://schemas.openxmlformats.org/officeDocument/2006/relationships/tags" Target="../tags/tag73.xml"/><Relationship Id="rId7" Type="http://schemas.openxmlformats.org/officeDocument/2006/relationships/tags" Target="../tags/tag77.xml"/><Relationship Id="rId12" Type="http://schemas.openxmlformats.org/officeDocument/2006/relationships/tags" Target="../tags/tag82.xml"/><Relationship Id="rId17" Type="http://schemas.openxmlformats.org/officeDocument/2006/relationships/image" Target="../media/image14.png"/><Relationship Id="rId2" Type="http://schemas.openxmlformats.org/officeDocument/2006/relationships/tags" Target="../tags/tag72.xml"/><Relationship Id="rId16" Type="http://schemas.openxmlformats.org/officeDocument/2006/relationships/image" Target="../media/image22.png"/><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tags" Target="../tags/tag81.xml"/><Relationship Id="rId5" Type="http://schemas.openxmlformats.org/officeDocument/2006/relationships/tags" Target="../tags/tag75.xml"/><Relationship Id="rId15" Type="http://schemas.openxmlformats.org/officeDocument/2006/relationships/image" Target="../media/image21.png"/><Relationship Id="rId10" Type="http://schemas.openxmlformats.org/officeDocument/2006/relationships/tags" Target="../tags/tag80.xml"/><Relationship Id="rId4" Type="http://schemas.openxmlformats.org/officeDocument/2006/relationships/tags" Target="../tags/tag74.xml"/><Relationship Id="rId9" Type="http://schemas.openxmlformats.org/officeDocument/2006/relationships/tags" Target="../tags/tag79.xml"/><Relationship Id="rId1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8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84.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36.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tags" Target="../tags/tag90.xml"/><Relationship Id="rId7" Type="http://schemas.openxmlformats.org/officeDocument/2006/relationships/image" Target="../media/image23.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notesSlide" Target="../notesSlides/notesSlide36.xml"/><Relationship Id="rId5" Type="http://schemas.openxmlformats.org/officeDocument/2006/relationships/slideLayout" Target="../slideLayouts/slideLayout34.xml"/><Relationship Id="rId10" Type="http://schemas.openxmlformats.org/officeDocument/2006/relationships/image" Target="../media/image26.png"/><Relationship Id="rId4" Type="http://schemas.openxmlformats.org/officeDocument/2006/relationships/tags" Target="../tags/tag91.xml"/><Relationship Id="rId9"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9.xml"/><Relationship Id="rId1" Type="http://schemas.openxmlformats.org/officeDocument/2006/relationships/tags" Target="../tags/tag92.xml"/><Relationship Id="rId5" Type="http://schemas.openxmlformats.org/officeDocument/2006/relationships/hyperlink" Target="https://secure.testcraft.com/emc/assess.aspx?aid=MR-1SP-ISMV3BSS&amp;apass=PASSWORD" TargetMode="Externa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rPr>
              <a:t>ISM v3 </a:t>
            </a:r>
            <a:r>
              <a:rPr lang="ru-RU" sz="2800" b="0" i="0" dirty="0">
                <a:solidFill>
                  <a:srgbClr val="2C95DD"/>
                </a:solidFill>
                <a:latin typeface="Arial"/>
              </a:rPr>
              <a:t>модуль</a:t>
            </a:r>
            <a:r>
              <a:rPr lang="ru-RU" sz="2800" b="0" i="0" dirty="0">
                <a:solidFill>
                  <a:srgbClr val="2C95DD"/>
                </a:solidFill>
              </a:rPr>
              <a:t> 5: </a:t>
            </a:r>
            <a:r>
              <a:rPr lang="ru-RU" sz="2800" b="0" i="0" dirty="0">
                <a:solidFill>
                  <a:srgbClr val="2C95DD"/>
                </a:solidFill>
                <a:latin typeface="Arial"/>
              </a:rPr>
              <a:t>блочная</a:t>
            </a:r>
            <a:r>
              <a:rPr lang="ru-RU" sz="2800" b="0" i="0" dirty="0">
                <a:solidFill>
                  <a:srgbClr val="2C95DD"/>
                </a:solidFill>
              </a:rPr>
              <a:t> </a:t>
            </a:r>
            <a:r>
              <a:rPr lang="ru-RU" sz="2800" b="0" i="0" dirty="0">
                <a:solidFill>
                  <a:srgbClr val="2C95DD"/>
                </a:solidFill>
                <a:latin typeface="Arial"/>
              </a:rPr>
              <a:t>система</a:t>
            </a:r>
            <a:r>
              <a:rPr lang="ru-RU" sz="2800" b="0" i="0" dirty="0">
                <a:solidFill>
                  <a:srgbClr val="2C95DD"/>
                </a:solidFill>
              </a:rPr>
              <a:t> </a:t>
            </a:r>
            <a:r>
              <a:rPr lang="ru-RU" sz="2800" b="0" i="0" dirty="0">
                <a:solidFill>
                  <a:srgbClr val="2C95DD"/>
                </a:solidFill>
                <a:latin typeface="Arial"/>
              </a:rPr>
              <a:t>хранения</a:t>
            </a:r>
          </a:p>
        </p:txBody>
      </p:sp>
      <p:sp>
        <p:nvSpPr>
          <p:cNvPr id="3" name="TextBox 2"/>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8629086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ru-RU" sz="2800" b="0" i="0" dirty="0">
                <a:solidFill>
                  <a:srgbClr val="2C95DD"/>
                </a:solidFill>
                <a:latin typeface="Arial" pitchFamily="34" charset="0"/>
                <a:cs typeface="Arial" pitchFamily="34" charset="0"/>
              </a:rPr>
              <a:t>Обзор модуля</a:t>
            </a:r>
          </a:p>
        </p:txBody>
      </p:sp>
      <p:graphicFrame>
        <p:nvGraphicFramePr>
          <p:cNvPr id="8" name="Content Placeholder 7"/>
          <p:cNvGraphicFramePr>
            <a:graphicFrameLocks noGrp="1"/>
          </p:cNvGraphicFramePr>
          <p:nvPr>
            <p:ph sz="quarter" idx="10"/>
            <p:extLst>
              <p:ext uri="{D42A27DB-BD31-4B8C-83A1-F6EECF244321}">
                <p14:modId xmlns:p14="http://schemas.microsoft.com/office/powerpoint/2010/main" val="4287131039"/>
              </p:ext>
            </p:extLst>
          </p:nvPr>
        </p:nvGraphicFramePr>
        <p:xfrm>
          <a:off x="379413" y="990600"/>
          <a:ext cx="8458200" cy="2016760"/>
        </p:xfrm>
        <a:graphic>
          <a:graphicData uri="http://schemas.openxmlformats.org/drawingml/2006/table">
            <a:tbl>
              <a:tblPr firstCol="1" bandRow="1">
                <a:tableStyleId>{5C22544A-7EE6-4342-B048-85BDC9FD1C3A}</a:tableStyleId>
              </a:tblPr>
              <a:tblGrid>
                <a:gridCol w="1373187">
                  <a:extLst>
                    <a:ext uri="{9D8B030D-6E8A-4147-A177-3AD203B41FA5}">
                      <a16:colId xmlns:a16="http://schemas.microsoft.com/office/drawing/2014/main" val="20000"/>
                    </a:ext>
                  </a:extLst>
                </a:gridCol>
                <a:gridCol w="7085013">
                  <a:extLst>
                    <a:ext uri="{9D8B030D-6E8A-4147-A177-3AD203B41FA5}">
                      <a16:colId xmlns:a16="http://schemas.microsoft.com/office/drawing/2014/main" val="20001"/>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kern="1200" dirty="0">
                        <a:latin typeface="Arial" pitchFamily="34" charset="0"/>
                        <a:cs typeface="Arial"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ru-RU" sz="1400" b="1" i="0" dirty="0">
                          <a:solidFill>
                            <a:srgbClr val="FFFFFF"/>
                          </a:solidFill>
                          <a:latin typeface="Arial" pitchFamily="34" charset="0"/>
                          <a:cs typeface="Arial" pitchFamily="34" charset="0"/>
                        </a:rPr>
                        <a:t>Описание</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Arial" pitchFamily="34" charset="0"/>
                        <a:ea typeface="+mn-ea"/>
                        <a:cs typeface="Arial" pitchFamily="34" charset="0"/>
                      </a:endParaRPr>
                    </a:p>
                  </a:txBody>
                  <a:tcPr anchor="ctr">
                    <a:gradFill>
                      <a:gsLst>
                        <a:gs pos="0">
                          <a:schemeClr val="tx2">
                            <a:lumMod val="75000"/>
                          </a:schemeClr>
                        </a:gs>
                        <a:gs pos="100000">
                          <a:schemeClr val="tx2"/>
                        </a:gs>
                      </a:gsLst>
                      <a:lin ang="2700000" scaled="1"/>
                    </a:gradFill>
                  </a:tcPr>
                </a:tc>
                <a:tc>
                  <a:txBody>
                    <a:bodyPr/>
                    <a:lstStyle/>
                    <a:p>
                      <a:pPr marL="171450" marR="0" lvl="0" indent="0" algn="l" defTabSz="457200" rtl="0" eaLnBrk="1" fontAlgn="auto" latinLnBrk="0" hangingPunct="1">
                        <a:lnSpc>
                          <a:spcPct val="100000"/>
                        </a:lnSpc>
                        <a:spcBef>
                          <a:spcPts val="0"/>
                        </a:spcBef>
                        <a:spcAft>
                          <a:spcPts val="0"/>
                        </a:spcAft>
                        <a:buClrTx/>
                        <a:buSzTx/>
                        <a:buFontTx/>
                        <a:buNone/>
                        <a:tabLst/>
                        <a:defRPr/>
                      </a:pPr>
                      <a:r>
                        <a:rPr lang="ru-RU" sz="1200" b="0" i="0" dirty="0">
                          <a:solidFill>
                            <a:srgbClr val="000000"/>
                          </a:solidFill>
                          <a:latin typeface="Arial" pitchFamily="34" charset="0"/>
                          <a:cs typeface="Arial" pitchFamily="34" charset="0"/>
                        </a:rPr>
                        <a:t>Этот модуль поможет слушателю понять механизмы работы блочной системы хранения. </a:t>
                      </a:r>
                      <a:br>
                        <a:rPr lang="en-US" sz="1200" b="0" i="0" dirty="0">
                          <a:solidFill>
                            <a:srgbClr val="FF00FF"/>
                          </a:solidFill>
                          <a:latin typeface="Arial" pitchFamily="34" charset="0"/>
                          <a:cs typeface="Arial" pitchFamily="34" charset="0"/>
                        </a:rPr>
                      </a:br>
                      <a:r>
                        <a:rPr lang="ru-RU" sz="1200" b="0" i="0" dirty="0">
                          <a:solidFill>
                            <a:srgbClr val="000000"/>
                          </a:solidFill>
                          <a:latin typeface="Arial" pitchFamily="34" charset="0"/>
                          <a:cs typeface="Arial" pitchFamily="34" charset="0"/>
                        </a:rPr>
                        <a:t>В этом модуле рассматриваются ключевые компоненты блочной системы хранения данных и их функции. В рамках модуля также приводятся сведения о выделении ресурсов хранения данных и многоуровневом хранении.</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0"/>
                  </a:ext>
                </a:extLst>
              </a:tr>
              <a:tr h="370840">
                <a:tc>
                  <a:txBody>
                    <a:bodyPr/>
                    <a:lstStyle/>
                    <a:p>
                      <a:pPr algn="l"/>
                      <a:r>
                        <a:rPr lang="ru-RU" sz="1400" b="1" i="0" dirty="0">
                          <a:solidFill>
                            <a:srgbClr val="FFFFFF"/>
                          </a:solidFill>
                          <a:latin typeface="Arial" pitchFamily="34" charset="0"/>
                          <a:cs typeface="Arial" pitchFamily="34" charset="0"/>
                        </a:rPr>
                        <a:t>Аудитория</a:t>
                      </a:r>
                    </a:p>
                  </a:txBody>
                  <a:tcPr anchor="ctr">
                    <a:gradFill>
                      <a:gsLst>
                        <a:gs pos="0">
                          <a:schemeClr val="tx2">
                            <a:lumMod val="75000"/>
                          </a:schemeClr>
                        </a:gs>
                        <a:gs pos="100000">
                          <a:schemeClr val="tx2"/>
                        </a:gs>
                      </a:gsLst>
                      <a:lin ang="2700000" scaled="1"/>
                    </a:gradFill>
                  </a:tcPr>
                </a:tc>
                <a:tc>
                  <a:txBody>
                    <a:bodyPr/>
                    <a:lstStyle/>
                    <a:p>
                      <a:pPr marL="114300" marR="251460" lvl="0" indent="44450" algn="l" defTabSz="914400" rtl="0" eaLnBrk="1" fontAlgn="auto" latinLnBrk="0" hangingPunct="1">
                        <a:lnSpc>
                          <a:spcPct val="115000"/>
                        </a:lnSpc>
                        <a:spcBef>
                          <a:spcPts val="0"/>
                        </a:spcBef>
                        <a:spcAft>
                          <a:spcPts val="1000"/>
                        </a:spcAft>
                        <a:buClrTx/>
                        <a:buSzTx/>
                        <a:buFontTx/>
                        <a:buNone/>
                        <a:tabLst>
                          <a:tab pos="2743200" algn="ctr"/>
                          <a:tab pos="5486400" algn="r"/>
                        </a:tabLst>
                        <a:defRPr/>
                      </a:pPr>
                      <a:r>
                        <a:rPr lang="ru-RU" sz="1200" b="0" i="0" u="none" dirty="0">
                          <a:solidFill>
                            <a:srgbClr val="000000"/>
                          </a:solidFill>
                          <a:latin typeface="Arial" pitchFamily="34" charset="0"/>
                          <a:cs typeface="Arial" pitchFamily="34" charset="0"/>
                        </a:rPr>
                        <a:t>Заказчики, партнеры, сотрудники EMC и отраслевые специалисты (включая студентов)</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1"/>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400" b="1" i="0" dirty="0">
                          <a:solidFill>
                            <a:srgbClr val="FFFFFF"/>
                          </a:solidFill>
                          <a:latin typeface="Arial" pitchFamily="34" charset="0"/>
                          <a:cs typeface="Arial" pitchFamily="34" charset="0"/>
                        </a:rPr>
                        <a:t>Цели</a:t>
                      </a:r>
                    </a:p>
                  </a:txBody>
                  <a:tcPr anchor="ctr">
                    <a:gradFill>
                      <a:gsLst>
                        <a:gs pos="0">
                          <a:schemeClr val="tx2">
                            <a:lumMod val="75000"/>
                          </a:schemeClr>
                        </a:gs>
                        <a:gs pos="100000">
                          <a:schemeClr val="tx2"/>
                        </a:gs>
                      </a:gsLst>
                      <a:lin ang="2700000" scaled="1"/>
                    </a:gradFill>
                  </a:tcPr>
                </a:tc>
                <a:tc>
                  <a:txBody>
                    <a:bodyPr/>
                    <a:lstStyle/>
                    <a:p>
                      <a:pPr marL="342900" marR="0" lvl="0" indent="-171450" algn="l" defTabSz="914400" rtl="0" eaLnBrk="1" fontAlgn="base" latinLnBrk="0" hangingPunct="1">
                        <a:lnSpc>
                          <a:spcPct val="100000"/>
                        </a:lnSpc>
                        <a:spcBef>
                          <a:spcPct val="0"/>
                        </a:spcBef>
                        <a:spcAft>
                          <a:spcPct val="0"/>
                        </a:spcAft>
                        <a:buClrTx/>
                        <a:buSzTx/>
                        <a:buFontTx/>
                        <a:buNone/>
                        <a:tabLst/>
                        <a:defRPr/>
                      </a:pPr>
                      <a:r>
                        <a:rPr lang="ru-RU" sz="1200" b="0" i="0" u="none" dirty="0">
                          <a:solidFill>
                            <a:srgbClr val="000000"/>
                          </a:solidFill>
                          <a:latin typeface="Arial" pitchFamily="34" charset="0"/>
                          <a:cs typeface="Arial" pitchFamily="34" charset="0"/>
                        </a:rPr>
                        <a:t>По окончании этого модуля вы должны уметь:</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описывать компоненты блочной системы хранения;</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описывать традиционное и виртуальное выделение ресурсов хранения;</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описывать механизмы многоуровневого хранения</a:t>
                      </a:r>
                      <a:r>
                        <a:rPr lang="ru-RU" sz="1200" b="0" i="0" dirty="0">
                          <a:solidFill>
                            <a:srgbClr val="000000"/>
                          </a:solidFill>
                          <a:latin typeface="Arial" pitchFamily="34" charset="0"/>
                          <a:cs typeface="Arial" pitchFamily="34" charset="0"/>
                        </a:rPr>
                        <a:t>.</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2"/>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44186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1. Компоненты блочной системы хранения.</a:t>
            </a:r>
          </a:p>
        </p:txBody>
      </p:sp>
      <p:sp>
        <p:nvSpPr>
          <p:cNvPr id="5" name="Content Placeholder 4"/>
          <p:cNvSpPr>
            <a:spLocks noGrp="1"/>
          </p:cNvSpPr>
          <p:nvPr>
            <p:ph sz="quarter" idx="10"/>
          </p:nvPr>
        </p:nvSpPr>
        <p:spPr>
          <a:xfrm>
            <a:off x="533402" y="1276350"/>
            <a:ext cx="8077200" cy="2971800"/>
          </a:xfrm>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компоненты блочной системы хранения;</a:t>
            </a:r>
          </a:p>
          <a:p>
            <a:pPr>
              <a:defRPr/>
            </a:pPr>
            <a:r>
              <a:rPr lang="ru-RU" sz="2000" b="0" i="0" dirty="0">
                <a:solidFill>
                  <a:srgbClr val="000000"/>
                </a:solidFill>
                <a:latin typeface="Arial" pitchFamily="34" charset="0"/>
                <a:cs typeface="Arial" pitchFamily="34" charset="0"/>
              </a:rPr>
              <a:t>алгоритмы интеллектуального кэширования;</a:t>
            </a:r>
          </a:p>
          <a:p>
            <a:pPr>
              <a:defRPr/>
            </a:pPr>
            <a:r>
              <a:rPr lang="ru-RU" sz="2000" b="0" i="0" dirty="0">
                <a:solidFill>
                  <a:srgbClr val="000000"/>
                </a:solidFill>
                <a:latin typeface="Arial" pitchFamily="34" charset="0"/>
                <a:cs typeface="Arial" pitchFamily="34" charset="0"/>
              </a:rPr>
              <a:t>механизмы защиты данных кэш-памяти.</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755615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ru-RU" sz="2800" b="0" i="0" dirty="0">
                <a:solidFill>
                  <a:srgbClr val="2C95DD"/>
                </a:solidFill>
                <a:latin typeface="Arial" pitchFamily="34" charset="0"/>
                <a:cs typeface="Arial" pitchFamily="34" charset="0"/>
              </a:rPr>
              <a:t>Что представляет собой блочная система хранения данных?</a:t>
            </a:r>
          </a:p>
        </p:txBody>
      </p:sp>
      <p:sp>
        <p:nvSpPr>
          <p:cNvPr id="6" name="Content Placeholder 5"/>
          <p:cNvSpPr>
            <a:spLocks noGrp="1"/>
          </p:cNvSpPr>
          <p:nvPr>
            <p:ph sz="quarter" idx="10"/>
          </p:nvPr>
        </p:nvSpPr>
        <p:spPr>
          <a:xfrm>
            <a:off x="379414" y="1276350"/>
            <a:ext cx="8458200" cy="3429000"/>
          </a:xfrm>
        </p:spPr>
        <p:txBody>
          <a:bodyPr/>
          <a:lstStyle/>
          <a:p>
            <a:r>
              <a:rPr lang="ru-RU" sz="2000" b="0" i="0" dirty="0">
                <a:solidFill>
                  <a:srgbClr val="000000"/>
                </a:solidFill>
                <a:latin typeface="Arial" pitchFamily="34" charset="0"/>
                <a:cs typeface="Arial" pitchFamily="34" charset="0"/>
              </a:rPr>
              <a:t>Это вычислительная система с блочным доступом к ресурсам хранения</a:t>
            </a:r>
          </a:p>
          <a:p>
            <a:r>
              <a:rPr lang="ru-RU" sz="2000" b="0" i="0" dirty="0">
                <a:solidFill>
                  <a:srgbClr val="000000"/>
                </a:solidFill>
                <a:latin typeface="Arial" pitchFamily="34" charset="0"/>
                <a:cs typeface="Arial" pitchFamily="34" charset="0"/>
              </a:rPr>
              <a:t>Это система, которая может работать на базе вертикально или горизонтально масштабируемой архитектуры</a:t>
            </a:r>
          </a:p>
          <a:p>
            <a:r>
              <a:rPr lang="ru-RU" sz="2000" b="0" i="0" dirty="0">
                <a:solidFill>
                  <a:srgbClr val="000000"/>
                </a:solidFill>
                <a:latin typeface="Arial" pitchFamily="34" charset="0"/>
                <a:cs typeface="Arial" pitchFamily="34" charset="0"/>
              </a:rPr>
              <a:t>Система состоит из двух компонентов:</a:t>
            </a:r>
          </a:p>
          <a:p>
            <a:pPr lvl="1"/>
            <a:r>
              <a:rPr lang="ru-RU" sz="1800" b="0" i="0" dirty="0">
                <a:solidFill>
                  <a:srgbClr val="000000"/>
                </a:solidFill>
                <a:latin typeface="Arial" pitchFamily="34" charset="0"/>
                <a:cs typeface="Arial" pitchFamily="34" charset="0"/>
              </a:rPr>
              <a:t>контроллер</a:t>
            </a:r>
          </a:p>
          <a:p>
            <a:pPr lvl="1"/>
            <a:r>
              <a:rPr lang="ru-RU" sz="1800" b="0" i="0" dirty="0">
                <a:solidFill>
                  <a:srgbClr val="000000"/>
                </a:solidFill>
                <a:latin typeface="Arial" pitchFamily="34" charset="0"/>
                <a:cs typeface="Arial" pitchFamily="34" charset="0"/>
              </a:rPr>
              <a:t>СХД</a:t>
            </a: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31292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Компоненты контроллера</a:t>
            </a:r>
          </a:p>
        </p:txBody>
      </p:sp>
      <p:grpSp>
        <p:nvGrpSpPr>
          <p:cNvPr id="114" name="Group 113"/>
          <p:cNvGrpSpPr/>
          <p:nvPr/>
        </p:nvGrpSpPr>
        <p:grpSpPr>
          <a:xfrm>
            <a:off x="378851" y="1276350"/>
            <a:ext cx="7953626" cy="2708341"/>
            <a:chOff x="378851" y="1276350"/>
            <a:chExt cx="7953626" cy="2708341"/>
          </a:xfrm>
        </p:grpSpPr>
        <p:sp>
          <p:nvSpPr>
            <p:cNvPr id="8" name="Text Box 4"/>
            <p:cNvSpPr txBox="1">
              <a:spLocks noChangeArrowheads="1"/>
            </p:cNvSpPr>
            <p:nvPr/>
          </p:nvSpPr>
          <p:spPr bwMode="auto">
            <a:xfrm>
              <a:off x="1285875" y="2202418"/>
              <a:ext cx="15553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r">
                <a:spcBef>
                  <a:spcPct val="50000"/>
                </a:spcBef>
              </a:pPr>
              <a:r>
                <a:rPr lang="ru-RU" sz="1200" b="0" i="0" dirty="0">
                  <a:solidFill>
                    <a:srgbClr val="000000"/>
                  </a:solidFill>
                  <a:latin typeface="Arial" pitchFamily="34" charset="0"/>
                  <a:cs typeface="Arial" pitchFamily="34" charset="0"/>
                </a:rPr>
                <a:t>Возможность </a:t>
              </a:r>
              <a:br>
                <a:rPr lang="en-US" sz="1200" b="0" i="0" dirty="0">
                  <a:solidFill>
                    <a:srgbClr val="FF00FF"/>
                  </a:solidFill>
                  <a:latin typeface="Arial" pitchFamily="34" charset="0"/>
                  <a:cs typeface="Arial" pitchFamily="34" charset="0"/>
                </a:rPr>
              </a:br>
              <a:r>
                <a:rPr lang="ru-RU" sz="1200" b="0" i="0" dirty="0">
                  <a:solidFill>
                    <a:srgbClr val="000000"/>
                  </a:solidFill>
                  <a:latin typeface="Arial" pitchFamily="34" charset="0"/>
                  <a:cs typeface="Arial" pitchFamily="34" charset="0"/>
                </a:rPr>
                <a:t>подключения</a:t>
              </a:r>
            </a:p>
          </p:txBody>
        </p:sp>
        <p:sp>
          <p:nvSpPr>
            <p:cNvPr id="9" name="Line 5"/>
            <p:cNvSpPr>
              <a:spLocks noChangeShapeType="1"/>
            </p:cNvSpPr>
            <p:nvPr/>
          </p:nvSpPr>
          <p:spPr bwMode="auto">
            <a:xfrm flipH="1">
              <a:off x="1671684" y="2843734"/>
              <a:ext cx="388322"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0" name="Line 6"/>
            <p:cNvSpPr>
              <a:spLocks noChangeShapeType="1"/>
            </p:cNvSpPr>
            <p:nvPr/>
          </p:nvSpPr>
          <p:spPr bwMode="auto">
            <a:xfrm flipH="1">
              <a:off x="1668987" y="2927331"/>
              <a:ext cx="388322"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1" name="AutoShape 12"/>
            <p:cNvSpPr>
              <a:spLocks noChangeArrowheads="1"/>
            </p:cNvSpPr>
            <p:nvPr/>
          </p:nvSpPr>
          <p:spPr bwMode="auto">
            <a:xfrm>
              <a:off x="3386771" y="1546632"/>
              <a:ext cx="3352974" cy="2438059"/>
            </a:xfrm>
            <a:prstGeom prst="roundRect">
              <a:avLst>
                <a:gd name="adj" fmla="val 5528"/>
              </a:avLst>
            </a:prstGeom>
            <a:ln>
              <a:headEnd/>
              <a:tailEnd type="none" w="lg" len="med"/>
            </a:ln>
          </p:spPr>
          <p:style>
            <a:lnRef idx="1">
              <a:schemeClr val="dk1"/>
            </a:lnRef>
            <a:fillRef idx="2">
              <a:schemeClr val="dk1"/>
            </a:fillRef>
            <a:effectRef idx="1">
              <a:schemeClr val="dk1"/>
            </a:effectRef>
            <a:fontRef idx="minor">
              <a:schemeClr val="dk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2" name="Text Box 14"/>
            <p:cNvSpPr txBox="1">
              <a:spLocks noChangeArrowheads="1"/>
            </p:cNvSpPr>
            <p:nvPr/>
          </p:nvSpPr>
          <p:spPr bwMode="auto">
            <a:xfrm>
              <a:off x="3744166" y="1872930"/>
              <a:ext cx="652423" cy="16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200" b="0" i="0" dirty="0">
                  <a:solidFill>
                    <a:srgbClr val="000000"/>
                  </a:solidFill>
                  <a:latin typeface="Arial" pitchFamily="34" charset="0"/>
                  <a:cs typeface="Arial" pitchFamily="34" charset="0"/>
                </a:rPr>
                <a:t>Внешние</a:t>
              </a:r>
            </a:p>
          </p:txBody>
        </p:sp>
        <p:sp>
          <p:nvSpPr>
            <p:cNvPr id="13" name="Text Box 15"/>
            <p:cNvSpPr txBox="1">
              <a:spLocks noChangeArrowheads="1"/>
            </p:cNvSpPr>
            <p:nvPr/>
          </p:nvSpPr>
          <p:spPr bwMode="auto">
            <a:xfrm>
              <a:off x="5724974" y="1855349"/>
              <a:ext cx="846386" cy="16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200" b="0" i="0" dirty="0">
                  <a:solidFill>
                    <a:srgbClr val="000000"/>
                  </a:solidFill>
                  <a:latin typeface="Arial" pitchFamily="34" charset="0"/>
                  <a:cs typeface="Arial" pitchFamily="34" charset="0"/>
                </a:rPr>
                <a:t>Внутренние</a:t>
              </a:r>
            </a:p>
          </p:txBody>
        </p:sp>
        <p:sp>
          <p:nvSpPr>
            <p:cNvPr id="14" name="Text Box 16"/>
            <p:cNvSpPr txBox="1">
              <a:spLocks noChangeArrowheads="1"/>
            </p:cNvSpPr>
            <p:nvPr/>
          </p:nvSpPr>
          <p:spPr bwMode="auto">
            <a:xfrm>
              <a:off x="4685698" y="2239678"/>
              <a:ext cx="851194" cy="16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200" b="0" i="0" dirty="0">
                  <a:solidFill>
                    <a:srgbClr val="000000"/>
                  </a:solidFill>
                  <a:latin typeface="Arial" pitchFamily="34" charset="0"/>
                  <a:cs typeface="Arial" pitchFamily="34" charset="0"/>
                </a:rPr>
                <a:t>Кэш-память</a:t>
              </a:r>
            </a:p>
          </p:txBody>
        </p:sp>
        <p:sp>
          <p:nvSpPr>
            <p:cNvPr id="15" name="Line 19"/>
            <p:cNvSpPr>
              <a:spLocks noChangeShapeType="1"/>
            </p:cNvSpPr>
            <p:nvPr/>
          </p:nvSpPr>
          <p:spPr bwMode="auto">
            <a:xfrm flipH="1">
              <a:off x="4385889" y="2843734"/>
              <a:ext cx="142384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6" name="Line 35"/>
            <p:cNvSpPr>
              <a:spLocks noChangeShapeType="1"/>
            </p:cNvSpPr>
            <p:nvPr/>
          </p:nvSpPr>
          <p:spPr bwMode="auto">
            <a:xfrm flipH="1">
              <a:off x="4385889" y="2973174"/>
              <a:ext cx="142384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7" name="Rectangle 38"/>
            <p:cNvSpPr>
              <a:spLocks noChangeArrowheads="1"/>
            </p:cNvSpPr>
            <p:nvPr/>
          </p:nvSpPr>
          <p:spPr bwMode="auto">
            <a:xfrm>
              <a:off x="4689266" y="2487772"/>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8" name="Rectangle 39"/>
            <p:cNvSpPr>
              <a:spLocks noChangeArrowheads="1"/>
            </p:cNvSpPr>
            <p:nvPr/>
          </p:nvSpPr>
          <p:spPr bwMode="auto">
            <a:xfrm>
              <a:off x="4798481" y="2487772"/>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9" name="Rectangle 40"/>
            <p:cNvSpPr>
              <a:spLocks noChangeArrowheads="1"/>
            </p:cNvSpPr>
            <p:nvPr/>
          </p:nvSpPr>
          <p:spPr bwMode="auto">
            <a:xfrm>
              <a:off x="4907697" y="2487772"/>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0" name="Rectangle 41"/>
            <p:cNvSpPr>
              <a:spLocks noChangeArrowheads="1"/>
            </p:cNvSpPr>
            <p:nvPr/>
          </p:nvSpPr>
          <p:spPr bwMode="auto">
            <a:xfrm>
              <a:off x="5016912" y="2487772"/>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1" name="Rectangle 42"/>
            <p:cNvSpPr>
              <a:spLocks noChangeArrowheads="1"/>
            </p:cNvSpPr>
            <p:nvPr/>
          </p:nvSpPr>
          <p:spPr bwMode="auto">
            <a:xfrm>
              <a:off x="5126128" y="2487772"/>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2" name="Rectangle 43"/>
            <p:cNvSpPr>
              <a:spLocks noChangeArrowheads="1"/>
            </p:cNvSpPr>
            <p:nvPr/>
          </p:nvSpPr>
          <p:spPr bwMode="auto">
            <a:xfrm>
              <a:off x="5235343" y="2487772"/>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3" name="Rectangle 44"/>
            <p:cNvSpPr>
              <a:spLocks noChangeArrowheads="1"/>
            </p:cNvSpPr>
            <p:nvPr/>
          </p:nvSpPr>
          <p:spPr bwMode="auto">
            <a:xfrm>
              <a:off x="5344558" y="2487772"/>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4" name="Rectangle 45"/>
            <p:cNvSpPr>
              <a:spLocks noChangeArrowheads="1"/>
            </p:cNvSpPr>
            <p:nvPr/>
          </p:nvSpPr>
          <p:spPr bwMode="auto">
            <a:xfrm>
              <a:off x="5453773" y="2487772"/>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5" name="Rectangle 24"/>
            <p:cNvSpPr>
              <a:spLocks noChangeArrowheads="1"/>
            </p:cNvSpPr>
            <p:nvPr/>
          </p:nvSpPr>
          <p:spPr bwMode="auto">
            <a:xfrm>
              <a:off x="4689266" y="2596988"/>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6" name="Rectangle 25"/>
            <p:cNvSpPr>
              <a:spLocks noChangeArrowheads="1"/>
            </p:cNvSpPr>
            <p:nvPr/>
          </p:nvSpPr>
          <p:spPr bwMode="auto">
            <a:xfrm>
              <a:off x="4798481" y="2596988"/>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7" name="Rectangle 26"/>
            <p:cNvSpPr>
              <a:spLocks noChangeArrowheads="1"/>
            </p:cNvSpPr>
            <p:nvPr/>
          </p:nvSpPr>
          <p:spPr bwMode="auto">
            <a:xfrm>
              <a:off x="4907697" y="2596988"/>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8" name="Rectangle 27"/>
            <p:cNvSpPr>
              <a:spLocks noChangeArrowheads="1"/>
            </p:cNvSpPr>
            <p:nvPr/>
          </p:nvSpPr>
          <p:spPr bwMode="auto">
            <a:xfrm>
              <a:off x="5016912" y="2596988"/>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9" name="Rectangle 28"/>
            <p:cNvSpPr>
              <a:spLocks noChangeArrowheads="1"/>
            </p:cNvSpPr>
            <p:nvPr/>
          </p:nvSpPr>
          <p:spPr bwMode="auto">
            <a:xfrm>
              <a:off x="5126128" y="2596988"/>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0" name="Rectangle 29"/>
            <p:cNvSpPr>
              <a:spLocks noChangeArrowheads="1"/>
            </p:cNvSpPr>
            <p:nvPr/>
          </p:nvSpPr>
          <p:spPr bwMode="auto">
            <a:xfrm>
              <a:off x="5235343" y="2596988"/>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1" name="Rectangle 30"/>
            <p:cNvSpPr>
              <a:spLocks noChangeArrowheads="1"/>
            </p:cNvSpPr>
            <p:nvPr/>
          </p:nvSpPr>
          <p:spPr bwMode="auto">
            <a:xfrm>
              <a:off x="5344558" y="2596988"/>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2" name="Rectangle 31"/>
            <p:cNvSpPr>
              <a:spLocks noChangeArrowheads="1"/>
            </p:cNvSpPr>
            <p:nvPr/>
          </p:nvSpPr>
          <p:spPr bwMode="auto">
            <a:xfrm>
              <a:off x="5453773" y="2596988"/>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3" name="Rectangle 56"/>
            <p:cNvSpPr>
              <a:spLocks noChangeArrowheads="1"/>
            </p:cNvSpPr>
            <p:nvPr/>
          </p:nvSpPr>
          <p:spPr bwMode="auto">
            <a:xfrm>
              <a:off x="4689266" y="2706203"/>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4" name="Rectangle 57"/>
            <p:cNvSpPr>
              <a:spLocks noChangeArrowheads="1"/>
            </p:cNvSpPr>
            <p:nvPr/>
          </p:nvSpPr>
          <p:spPr bwMode="auto">
            <a:xfrm>
              <a:off x="4798481" y="2706203"/>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5" name="Rectangle 58"/>
            <p:cNvSpPr>
              <a:spLocks noChangeArrowheads="1"/>
            </p:cNvSpPr>
            <p:nvPr/>
          </p:nvSpPr>
          <p:spPr bwMode="auto">
            <a:xfrm>
              <a:off x="4907697" y="2706203"/>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6" name="Rectangle 59"/>
            <p:cNvSpPr>
              <a:spLocks noChangeArrowheads="1"/>
            </p:cNvSpPr>
            <p:nvPr/>
          </p:nvSpPr>
          <p:spPr bwMode="auto">
            <a:xfrm>
              <a:off x="5016912" y="2706203"/>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7" name="Rectangle 60"/>
            <p:cNvSpPr>
              <a:spLocks noChangeArrowheads="1"/>
            </p:cNvSpPr>
            <p:nvPr/>
          </p:nvSpPr>
          <p:spPr bwMode="auto">
            <a:xfrm>
              <a:off x="5126128" y="2706203"/>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8" name="Rectangle 61"/>
            <p:cNvSpPr>
              <a:spLocks noChangeArrowheads="1"/>
            </p:cNvSpPr>
            <p:nvPr/>
          </p:nvSpPr>
          <p:spPr bwMode="auto">
            <a:xfrm>
              <a:off x="5235343" y="2706203"/>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9" name="Rectangle 62"/>
            <p:cNvSpPr>
              <a:spLocks noChangeArrowheads="1"/>
            </p:cNvSpPr>
            <p:nvPr/>
          </p:nvSpPr>
          <p:spPr bwMode="auto">
            <a:xfrm>
              <a:off x="5344558" y="2706203"/>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0" name="Rectangle 63"/>
            <p:cNvSpPr>
              <a:spLocks noChangeArrowheads="1"/>
            </p:cNvSpPr>
            <p:nvPr/>
          </p:nvSpPr>
          <p:spPr bwMode="auto">
            <a:xfrm>
              <a:off x="5453773" y="2706203"/>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1" name="Rectangle 65"/>
            <p:cNvSpPr>
              <a:spLocks noChangeArrowheads="1"/>
            </p:cNvSpPr>
            <p:nvPr/>
          </p:nvSpPr>
          <p:spPr bwMode="auto">
            <a:xfrm>
              <a:off x="4689266" y="2815419"/>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2" name="Rectangle 66"/>
            <p:cNvSpPr>
              <a:spLocks noChangeArrowheads="1"/>
            </p:cNvSpPr>
            <p:nvPr/>
          </p:nvSpPr>
          <p:spPr bwMode="auto">
            <a:xfrm>
              <a:off x="4798481" y="2815419"/>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3" name="Rectangle 67"/>
            <p:cNvSpPr>
              <a:spLocks noChangeArrowheads="1"/>
            </p:cNvSpPr>
            <p:nvPr/>
          </p:nvSpPr>
          <p:spPr bwMode="auto">
            <a:xfrm>
              <a:off x="4907697" y="2815419"/>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4" name="Rectangle 68"/>
            <p:cNvSpPr>
              <a:spLocks noChangeArrowheads="1"/>
            </p:cNvSpPr>
            <p:nvPr/>
          </p:nvSpPr>
          <p:spPr bwMode="auto">
            <a:xfrm>
              <a:off x="5016912" y="2815419"/>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5" name="Rectangle 69"/>
            <p:cNvSpPr>
              <a:spLocks noChangeArrowheads="1"/>
            </p:cNvSpPr>
            <p:nvPr/>
          </p:nvSpPr>
          <p:spPr bwMode="auto">
            <a:xfrm>
              <a:off x="5126128" y="2815419"/>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6" name="Rectangle 70"/>
            <p:cNvSpPr>
              <a:spLocks noChangeArrowheads="1"/>
            </p:cNvSpPr>
            <p:nvPr/>
          </p:nvSpPr>
          <p:spPr bwMode="auto">
            <a:xfrm>
              <a:off x="5235343" y="2815419"/>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7" name="Rectangle 71"/>
            <p:cNvSpPr>
              <a:spLocks noChangeArrowheads="1"/>
            </p:cNvSpPr>
            <p:nvPr/>
          </p:nvSpPr>
          <p:spPr bwMode="auto">
            <a:xfrm>
              <a:off x="5344558" y="2815419"/>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8" name="Rectangle 72"/>
            <p:cNvSpPr>
              <a:spLocks noChangeArrowheads="1"/>
            </p:cNvSpPr>
            <p:nvPr/>
          </p:nvSpPr>
          <p:spPr bwMode="auto">
            <a:xfrm>
              <a:off x="5453773" y="2815419"/>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9" name="Rectangle 74"/>
            <p:cNvSpPr>
              <a:spLocks noChangeArrowheads="1"/>
            </p:cNvSpPr>
            <p:nvPr/>
          </p:nvSpPr>
          <p:spPr bwMode="auto">
            <a:xfrm>
              <a:off x="4689266" y="2924634"/>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0" name="Rectangle 75"/>
            <p:cNvSpPr>
              <a:spLocks noChangeArrowheads="1"/>
            </p:cNvSpPr>
            <p:nvPr/>
          </p:nvSpPr>
          <p:spPr bwMode="auto">
            <a:xfrm>
              <a:off x="4798481" y="2924634"/>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1" name="Rectangle 76"/>
            <p:cNvSpPr>
              <a:spLocks noChangeArrowheads="1"/>
            </p:cNvSpPr>
            <p:nvPr/>
          </p:nvSpPr>
          <p:spPr bwMode="auto">
            <a:xfrm>
              <a:off x="4907697" y="2924634"/>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2" name="Rectangle 77"/>
            <p:cNvSpPr>
              <a:spLocks noChangeArrowheads="1"/>
            </p:cNvSpPr>
            <p:nvPr/>
          </p:nvSpPr>
          <p:spPr bwMode="auto">
            <a:xfrm>
              <a:off x="5016912" y="2924634"/>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3" name="Rectangle 78"/>
            <p:cNvSpPr>
              <a:spLocks noChangeArrowheads="1"/>
            </p:cNvSpPr>
            <p:nvPr/>
          </p:nvSpPr>
          <p:spPr bwMode="auto">
            <a:xfrm>
              <a:off x="5126128" y="2924634"/>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4" name="Rectangle 79"/>
            <p:cNvSpPr>
              <a:spLocks noChangeArrowheads="1"/>
            </p:cNvSpPr>
            <p:nvPr/>
          </p:nvSpPr>
          <p:spPr bwMode="auto">
            <a:xfrm>
              <a:off x="5235343" y="2924634"/>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5" name="Rectangle 80"/>
            <p:cNvSpPr>
              <a:spLocks noChangeArrowheads="1"/>
            </p:cNvSpPr>
            <p:nvPr/>
          </p:nvSpPr>
          <p:spPr bwMode="auto">
            <a:xfrm>
              <a:off x="5344558" y="2924634"/>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6" name="Rectangle 81"/>
            <p:cNvSpPr>
              <a:spLocks noChangeArrowheads="1"/>
            </p:cNvSpPr>
            <p:nvPr/>
          </p:nvSpPr>
          <p:spPr bwMode="auto">
            <a:xfrm>
              <a:off x="5453773" y="2924634"/>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7" name="Rectangle 83"/>
            <p:cNvSpPr>
              <a:spLocks noChangeArrowheads="1"/>
            </p:cNvSpPr>
            <p:nvPr/>
          </p:nvSpPr>
          <p:spPr bwMode="auto">
            <a:xfrm>
              <a:off x="4689266" y="3033850"/>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8" name="Rectangle 84"/>
            <p:cNvSpPr>
              <a:spLocks noChangeArrowheads="1"/>
            </p:cNvSpPr>
            <p:nvPr/>
          </p:nvSpPr>
          <p:spPr bwMode="auto">
            <a:xfrm>
              <a:off x="4798481" y="3033850"/>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9" name="Rectangle 85"/>
            <p:cNvSpPr>
              <a:spLocks noChangeArrowheads="1"/>
            </p:cNvSpPr>
            <p:nvPr/>
          </p:nvSpPr>
          <p:spPr bwMode="auto">
            <a:xfrm>
              <a:off x="4907697" y="3033850"/>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0" name="Rectangle 86"/>
            <p:cNvSpPr>
              <a:spLocks noChangeArrowheads="1"/>
            </p:cNvSpPr>
            <p:nvPr/>
          </p:nvSpPr>
          <p:spPr bwMode="auto">
            <a:xfrm>
              <a:off x="5016912" y="3033850"/>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1" name="Rectangle 87"/>
            <p:cNvSpPr>
              <a:spLocks noChangeArrowheads="1"/>
            </p:cNvSpPr>
            <p:nvPr/>
          </p:nvSpPr>
          <p:spPr bwMode="auto">
            <a:xfrm>
              <a:off x="5126128" y="3033850"/>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2" name="Rectangle 88"/>
            <p:cNvSpPr>
              <a:spLocks noChangeArrowheads="1"/>
            </p:cNvSpPr>
            <p:nvPr/>
          </p:nvSpPr>
          <p:spPr bwMode="auto">
            <a:xfrm>
              <a:off x="5235343" y="3033850"/>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3" name="Rectangle 89"/>
            <p:cNvSpPr>
              <a:spLocks noChangeArrowheads="1"/>
            </p:cNvSpPr>
            <p:nvPr/>
          </p:nvSpPr>
          <p:spPr bwMode="auto">
            <a:xfrm>
              <a:off x="5344558" y="3033850"/>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4" name="Rectangle 90"/>
            <p:cNvSpPr>
              <a:spLocks noChangeArrowheads="1"/>
            </p:cNvSpPr>
            <p:nvPr/>
          </p:nvSpPr>
          <p:spPr bwMode="auto">
            <a:xfrm>
              <a:off x="5453773" y="3033850"/>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5" name="Rectangle 92"/>
            <p:cNvSpPr>
              <a:spLocks noChangeArrowheads="1"/>
            </p:cNvSpPr>
            <p:nvPr/>
          </p:nvSpPr>
          <p:spPr bwMode="auto">
            <a:xfrm>
              <a:off x="4689266" y="3143065"/>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6" name="Rectangle 93"/>
            <p:cNvSpPr>
              <a:spLocks noChangeArrowheads="1"/>
            </p:cNvSpPr>
            <p:nvPr/>
          </p:nvSpPr>
          <p:spPr bwMode="auto">
            <a:xfrm>
              <a:off x="4798481" y="3143065"/>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7" name="Rectangle 94"/>
            <p:cNvSpPr>
              <a:spLocks noChangeArrowheads="1"/>
            </p:cNvSpPr>
            <p:nvPr/>
          </p:nvSpPr>
          <p:spPr bwMode="auto">
            <a:xfrm>
              <a:off x="4907697" y="3143065"/>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8" name="Rectangle 95"/>
            <p:cNvSpPr>
              <a:spLocks noChangeArrowheads="1"/>
            </p:cNvSpPr>
            <p:nvPr/>
          </p:nvSpPr>
          <p:spPr bwMode="auto">
            <a:xfrm>
              <a:off x="5016912" y="3143065"/>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9" name="Rectangle 96"/>
            <p:cNvSpPr>
              <a:spLocks noChangeArrowheads="1"/>
            </p:cNvSpPr>
            <p:nvPr/>
          </p:nvSpPr>
          <p:spPr bwMode="auto">
            <a:xfrm>
              <a:off x="5126128" y="3143065"/>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0" name="Rectangle 97"/>
            <p:cNvSpPr>
              <a:spLocks noChangeArrowheads="1"/>
            </p:cNvSpPr>
            <p:nvPr/>
          </p:nvSpPr>
          <p:spPr bwMode="auto">
            <a:xfrm>
              <a:off x="5235343" y="3143065"/>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1" name="Rectangle 98"/>
            <p:cNvSpPr>
              <a:spLocks noChangeArrowheads="1"/>
            </p:cNvSpPr>
            <p:nvPr/>
          </p:nvSpPr>
          <p:spPr bwMode="auto">
            <a:xfrm>
              <a:off x="5344558" y="3143065"/>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2" name="Rectangle 99"/>
            <p:cNvSpPr>
              <a:spLocks noChangeArrowheads="1"/>
            </p:cNvSpPr>
            <p:nvPr/>
          </p:nvSpPr>
          <p:spPr bwMode="auto">
            <a:xfrm>
              <a:off x="5453773" y="3143065"/>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3" name="Rectangle 101"/>
            <p:cNvSpPr>
              <a:spLocks noChangeArrowheads="1"/>
            </p:cNvSpPr>
            <p:nvPr/>
          </p:nvSpPr>
          <p:spPr bwMode="auto">
            <a:xfrm>
              <a:off x="4689266" y="3252281"/>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4" name="Rectangle 102"/>
            <p:cNvSpPr>
              <a:spLocks noChangeArrowheads="1"/>
            </p:cNvSpPr>
            <p:nvPr/>
          </p:nvSpPr>
          <p:spPr bwMode="auto">
            <a:xfrm>
              <a:off x="4798481" y="3252281"/>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5" name="Rectangle 103"/>
            <p:cNvSpPr>
              <a:spLocks noChangeArrowheads="1"/>
            </p:cNvSpPr>
            <p:nvPr/>
          </p:nvSpPr>
          <p:spPr bwMode="auto">
            <a:xfrm>
              <a:off x="4907697" y="3252281"/>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6" name="Rectangle 104"/>
            <p:cNvSpPr>
              <a:spLocks noChangeArrowheads="1"/>
            </p:cNvSpPr>
            <p:nvPr/>
          </p:nvSpPr>
          <p:spPr bwMode="auto">
            <a:xfrm>
              <a:off x="5016912" y="3252281"/>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7" name="Rectangle 105"/>
            <p:cNvSpPr>
              <a:spLocks noChangeArrowheads="1"/>
            </p:cNvSpPr>
            <p:nvPr/>
          </p:nvSpPr>
          <p:spPr bwMode="auto">
            <a:xfrm>
              <a:off x="5126128" y="3252281"/>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8" name="Rectangle 106"/>
            <p:cNvSpPr>
              <a:spLocks noChangeArrowheads="1"/>
            </p:cNvSpPr>
            <p:nvPr/>
          </p:nvSpPr>
          <p:spPr bwMode="auto">
            <a:xfrm>
              <a:off x="5235343" y="3252281"/>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9" name="Rectangle 107"/>
            <p:cNvSpPr>
              <a:spLocks noChangeArrowheads="1"/>
            </p:cNvSpPr>
            <p:nvPr/>
          </p:nvSpPr>
          <p:spPr bwMode="auto">
            <a:xfrm>
              <a:off x="5344558" y="3252281"/>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80" name="Rectangle 108"/>
            <p:cNvSpPr>
              <a:spLocks noChangeArrowheads="1"/>
            </p:cNvSpPr>
            <p:nvPr/>
          </p:nvSpPr>
          <p:spPr bwMode="auto">
            <a:xfrm>
              <a:off x="5453773" y="3252281"/>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81" name="Line 110"/>
            <p:cNvSpPr>
              <a:spLocks noChangeShapeType="1"/>
            </p:cNvSpPr>
            <p:nvPr/>
          </p:nvSpPr>
          <p:spPr bwMode="auto">
            <a:xfrm>
              <a:off x="6546095" y="3428235"/>
              <a:ext cx="387300"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2" name="Line 111"/>
            <p:cNvSpPr>
              <a:spLocks noChangeShapeType="1"/>
            </p:cNvSpPr>
            <p:nvPr/>
          </p:nvSpPr>
          <p:spPr bwMode="auto">
            <a:xfrm>
              <a:off x="6843389" y="2688826"/>
              <a:ext cx="0" cy="172285"/>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3" name="Line 114"/>
            <p:cNvSpPr>
              <a:spLocks noChangeShapeType="1"/>
            </p:cNvSpPr>
            <p:nvPr/>
          </p:nvSpPr>
          <p:spPr bwMode="auto">
            <a:xfrm>
              <a:off x="6437571" y="2386647"/>
              <a:ext cx="48961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4" name="Line 115"/>
            <p:cNvSpPr>
              <a:spLocks noChangeShapeType="1"/>
            </p:cNvSpPr>
            <p:nvPr/>
          </p:nvSpPr>
          <p:spPr bwMode="auto">
            <a:xfrm>
              <a:off x="6918640" y="2779014"/>
              <a:ext cx="25483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5" name="Line 116"/>
            <p:cNvSpPr>
              <a:spLocks noChangeShapeType="1"/>
            </p:cNvSpPr>
            <p:nvPr/>
          </p:nvSpPr>
          <p:spPr bwMode="auto">
            <a:xfrm>
              <a:off x="6836359" y="2849801"/>
              <a:ext cx="34409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6" name="Line 117"/>
            <p:cNvSpPr>
              <a:spLocks noChangeShapeType="1"/>
            </p:cNvSpPr>
            <p:nvPr/>
          </p:nvSpPr>
          <p:spPr bwMode="auto">
            <a:xfrm>
              <a:off x="6920091" y="2977219"/>
              <a:ext cx="25483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7" name="Line 118"/>
            <p:cNvSpPr>
              <a:spLocks noChangeShapeType="1"/>
            </p:cNvSpPr>
            <p:nvPr/>
          </p:nvSpPr>
          <p:spPr bwMode="auto">
            <a:xfrm>
              <a:off x="6585973" y="2698115"/>
              <a:ext cx="261578"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8" name="Line 119"/>
            <p:cNvSpPr>
              <a:spLocks noChangeShapeType="1"/>
            </p:cNvSpPr>
            <p:nvPr/>
          </p:nvSpPr>
          <p:spPr bwMode="auto">
            <a:xfrm flipV="1">
              <a:off x="6592040" y="3116771"/>
              <a:ext cx="261578"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9" name="Line 120"/>
            <p:cNvSpPr>
              <a:spLocks noChangeShapeType="1"/>
            </p:cNvSpPr>
            <p:nvPr/>
          </p:nvSpPr>
          <p:spPr bwMode="auto">
            <a:xfrm>
              <a:off x="6840403" y="2914521"/>
              <a:ext cx="358928"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90" name="Line 123"/>
            <p:cNvSpPr>
              <a:spLocks noChangeShapeType="1"/>
            </p:cNvSpPr>
            <p:nvPr/>
          </p:nvSpPr>
          <p:spPr bwMode="auto">
            <a:xfrm>
              <a:off x="6923463" y="2379365"/>
              <a:ext cx="0" cy="40557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91" name="Line 124"/>
            <p:cNvSpPr>
              <a:spLocks noChangeShapeType="1"/>
            </p:cNvSpPr>
            <p:nvPr/>
          </p:nvSpPr>
          <p:spPr bwMode="auto">
            <a:xfrm>
              <a:off x="6849978" y="2912498"/>
              <a:ext cx="0" cy="214548"/>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92" name="Rectangle 126"/>
            <p:cNvSpPr>
              <a:spLocks noChangeArrowheads="1"/>
            </p:cNvSpPr>
            <p:nvPr/>
          </p:nvSpPr>
          <p:spPr bwMode="auto">
            <a:xfrm>
              <a:off x="5815128" y="2111586"/>
              <a:ext cx="666079" cy="1589691"/>
            </a:xfrm>
            <a:prstGeom prst="rect">
              <a:avLst/>
            </a:prstGeom>
            <a:ln>
              <a:headEnd/>
              <a:tailEnd type="none" w="lg" len="me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93" name="Rectangle 130"/>
            <p:cNvSpPr>
              <a:spLocks noChangeArrowheads="1"/>
            </p:cNvSpPr>
            <p:nvPr/>
          </p:nvSpPr>
          <p:spPr bwMode="auto">
            <a:xfrm>
              <a:off x="6481208" y="2317882"/>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94" name="Rectangle 131"/>
            <p:cNvSpPr>
              <a:spLocks noChangeArrowheads="1"/>
            </p:cNvSpPr>
            <p:nvPr/>
          </p:nvSpPr>
          <p:spPr bwMode="auto">
            <a:xfrm>
              <a:off x="6481208" y="2630696"/>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95" name="Rectangle 133"/>
            <p:cNvSpPr>
              <a:spLocks noChangeArrowheads="1"/>
            </p:cNvSpPr>
            <p:nvPr/>
          </p:nvSpPr>
          <p:spPr bwMode="auto">
            <a:xfrm>
              <a:off x="6481208" y="3052727"/>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96" name="Rectangle 134"/>
            <p:cNvSpPr>
              <a:spLocks noChangeArrowheads="1"/>
            </p:cNvSpPr>
            <p:nvPr/>
          </p:nvSpPr>
          <p:spPr bwMode="auto">
            <a:xfrm>
              <a:off x="6481208" y="3365541"/>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97" name="Rectangle 136"/>
            <p:cNvSpPr>
              <a:spLocks noChangeArrowheads="1"/>
            </p:cNvSpPr>
            <p:nvPr/>
          </p:nvSpPr>
          <p:spPr bwMode="auto">
            <a:xfrm>
              <a:off x="3737339" y="2251814"/>
              <a:ext cx="335736" cy="612146"/>
            </a:xfrm>
            <a:prstGeom prst="rect">
              <a:avLst/>
            </a:prstGeom>
            <a:gradFill rotWithShape="1">
              <a:gsLst>
                <a:gs pos="0">
                  <a:srgbClr val="86BAB5"/>
                </a:gs>
                <a:gs pos="100000">
                  <a:srgbClr val="86BAB5">
                    <a:gamma/>
                    <a:shade val="67843"/>
                    <a:invGamma/>
                  </a:srgbClr>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sz="1400">
                <a:latin typeface="Arial" pitchFamily="34" charset="0"/>
                <a:ea typeface="Verdana" panose="020B0604030504040204" pitchFamily="34" charset="0"/>
                <a:cs typeface="Arial" pitchFamily="34" charset="0"/>
              </a:endParaRPr>
            </a:p>
          </p:txBody>
        </p:sp>
        <p:sp>
          <p:nvSpPr>
            <p:cNvPr id="98" name="Rectangle 137"/>
            <p:cNvSpPr>
              <a:spLocks noChangeArrowheads="1"/>
            </p:cNvSpPr>
            <p:nvPr/>
          </p:nvSpPr>
          <p:spPr bwMode="auto">
            <a:xfrm>
              <a:off x="3737339" y="2985310"/>
              <a:ext cx="335736" cy="612146"/>
            </a:xfrm>
            <a:prstGeom prst="rect">
              <a:avLst/>
            </a:prstGeom>
            <a:gradFill rotWithShape="1">
              <a:gsLst>
                <a:gs pos="0">
                  <a:srgbClr val="86BAB5"/>
                </a:gs>
                <a:gs pos="100000">
                  <a:srgbClr val="86BAB5">
                    <a:gamma/>
                    <a:shade val="67843"/>
                    <a:invGamma/>
                  </a:srgbClr>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sz="1400">
                <a:latin typeface="Arial" pitchFamily="34" charset="0"/>
                <a:ea typeface="Verdana" panose="020B0604030504040204" pitchFamily="34" charset="0"/>
                <a:cs typeface="Arial" pitchFamily="34" charset="0"/>
              </a:endParaRPr>
            </a:p>
          </p:txBody>
        </p:sp>
        <p:sp>
          <p:nvSpPr>
            <p:cNvPr id="99" name="Rectangle 138"/>
            <p:cNvSpPr>
              <a:spLocks noChangeArrowheads="1"/>
            </p:cNvSpPr>
            <p:nvPr/>
          </p:nvSpPr>
          <p:spPr bwMode="auto">
            <a:xfrm>
              <a:off x="3609246" y="2336758"/>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00" name="Rectangle 139"/>
            <p:cNvSpPr>
              <a:spLocks noChangeArrowheads="1"/>
            </p:cNvSpPr>
            <p:nvPr/>
          </p:nvSpPr>
          <p:spPr bwMode="auto">
            <a:xfrm>
              <a:off x="3609246" y="2649573"/>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01" name="Rectangle 141"/>
            <p:cNvSpPr>
              <a:spLocks noChangeArrowheads="1"/>
            </p:cNvSpPr>
            <p:nvPr/>
          </p:nvSpPr>
          <p:spPr bwMode="auto">
            <a:xfrm>
              <a:off x="3609246" y="3071604"/>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02" name="Rectangle 142"/>
            <p:cNvSpPr>
              <a:spLocks noChangeArrowheads="1"/>
            </p:cNvSpPr>
            <p:nvPr/>
          </p:nvSpPr>
          <p:spPr bwMode="auto">
            <a:xfrm>
              <a:off x="3609246" y="3384418"/>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03" name="Rectangle 143"/>
            <p:cNvSpPr>
              <a:spLocks noChangeArrowheads="1"/>
            </p:cNvSpPr>
            <p:nvPr/>
          </p:nvSpPr>
          <p:spPr bwMode="auto">
            <a:xfrm>
              <a:off x="3737339" y="2130463"/>
              <a:ext cx="666079" cy="1589691"/>
            </a:xfrm>
            <a:prstGeom prst="rect">
              <a:avLst/>
            </a:prstGeom>
            <a:ln>
              <a:headEnd/>
              <a:tailEnd type="none" w="lg" len="me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04" name="TextBox 103"/>
            <p:cNvSpPr txBox="1"/>
            <p:nvPr/>
          </p:nvSpPr>
          <p:spPr>
            <a:xfrm>
              <a:off x="4541265" y="1276350"/>
              <a:ext cx="1030860" cy="276999"/>
            </a:xfrm>
            <a:prstGeom prst="rect">
              <a:avLst/>
            </a:prstGeom>
            <a:noFill/>
          </p:spPr>
          <p:txBody>
            <a:bodyPr wrap="none" rtlCol="0">
              <a:spAutoFit/>
            </a:bodyPr>
            <a:lstStyle/>
            <a:p>
              <a:r>
                <a:rPr lang="ru-RU" sz="1200" b="0" i="0" dirty="0">
                  <a:solidFill>
                    <a:srgbClr val="000000"/>
                  </a:solidFill>
                  <a:latin typeface="Arial" pitchFamily="34" charset="0"/>
                  <a:cs typeface="Arial" pitchFamily="34" charset="0"/>
                </a:rPr>
                <a:t>Контроллер</a:t>
              </a:r>
            </a:p>
          </p:txBody>
        </p:sp>
        <p:sp>
          <p:nvSpPr>
            <p:cNvPr id="105" name="Text Box 17"/>
            <p:cNvSpPr txBox="1">
              <a:spLocks noChangeArrowheads="1"/>
            </p:cNvSpPr>
            <p:nvPr/>
          </p:nvSpPr>
          <p:spPr bwMode="auto">
            <a:xfrm>
              <a:off x="7587763" y="1909497"/>
              <a:ext cx="308739" cy="16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200" b="0" i="0" dirty="0">
                  <a:solidFill>
                    <a:srgbClr val="000000"/>
                  </a:solidFill>
                  <a:latin typeface="Arial" pitchFamily="34" charset="0"/>
                  <a:cs typeface="Arial" pitchFamily="34" charset="0"/>
                </a:rPr>
                <a:t>СХД</a:t>
              </a:r>
            </a:p>
          </p:txBody>
        </p:sp>
        <p:cxnSp>
          <p:nvCxnSpPr>
            <p:cNvPr id="107" name="Elbow Connector 106"/>
            <p:cNvCxnSpPr>
              <a:endCxn id="102" idx="1"/>
            </p:cNvCxnSpPr>
            <p:nvPr/>
          </p:nvCxnSpPr>
          <p:spPr>
            <a:xfrm>
              <a:off x="2635700" y="3027677"/>
              <a:ext cx="973546" cy="420787"/>
            </a:xfrm>
            <a:prstGeom prst="bentConnector3">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08" name="Elbow Connector 107"/>
            <p:cNvCxnSpPr>
              <a:stCxn id="101" idx="1"/>
            </p:cNvCxnSpPr>
            <p:nvPr/>
          </p:nvCxnSpPr>
          <p:spPr>
            <a:xfrm rot="10800000">
              <a:off x="2655015" y="2942639"/>
              <a:ext cx="954232" cy="193011"/>
            </a:xfrm>
            <a:prstGeom prst="bentConnector3">
              <a:avLst>
                <a:gd name="adj1" fmla="val 45337"/>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09" name="Elbow Connector 108"/>
            <p:cNvCxnSpPr>
              <a:stCxn id="99" idx="1"/>
            </p:cNvCxnSpPr>
            <p:nvPr/>
          </p:nvCxnSpPr>
          <p:spPr>
            <a:xfrm rot="10800000" flipV="1">
              <a:off x="2643786" y="2400804"/>
              <a:ext cx="965461" cy="377157"/>
            </a:xfrm>
            <a:prstGeom prst="bentConnector3">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10" name="Elbow Connector 109"/>
            <p:cNvCxnSpPr>
              <a:stCxn id="100" idx="1"/>
            </p:cNvCxnSpPr>
            <p:nvPr/>
          </p:nvCxnSpPr>
          <p:spPr>
            <a:xfrm rot="10800000" flipV="1">
              <a:off x="2671631" y="2713619"/>
              <a:ext cx="937615" cy="142632"/>
            </a:xfrm>
            <a:prstGeom prst="bentConnector3">
              <a:avLst>
                <a:gd name="adj1" fmla="val 45686"/>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sp>
          <p:nvSpPr>
            <p:cNvPr id="111" name="Line 123"/>
            <p:cNvSpPr>
              <a:spLocks noChangeShapeType="1"/>
            </p:cNvSpPr>
            <p:nvPr/>
          </p:nvSpPr>
          <p:spPr bwMode="auto">
            <a:xfrm>
              <a:off x="6930354" y="2967853"/>
              <a:ext cx="0" cy="469869"/>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12" name="AutoShape 13"/>
            <p:cNvSpPr>
              <a:spLocks noChangeArrowheads="1"/>
            </p:cNvSpPr>
            <p:nvPr/>
          </p:nvSpPr>
          <p:spPr bwMode="auto">
            <a:xfrm>
              <a:off x="7154029" y="2130463"/>
              <a:ext cx="1178448" cy="1586994"/>
            </a:xfrm>
            <a:prstGeom prst="roundRect">
              <a:avLst>
                <a:gd name="adj" fmla="val 11657"/>
              </a:avLst>
            </a:prstGeom>
            <a:ln>
              <a:headEnd/>
              <a:tailEnd type="none" w="lg" len="med"/>
            </a:ln>
          </p:spPr>
          <p:style>
            <a:lnRef idx="1">
              <a:schemeClr val="dk1"/>
            </a:lnRef>
            <a:fillRef idx="1002">
              <a:schemeClr val="lt1"/>
            </a:fillRef>
            <a:effectRef idx="1">
              <a:schemeClr val="dk1"/>
            </a:effectRef>
            <a:fontRef idx="minor">
              <a:schemeClr val="dk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18" name="Rectangle 127"/>
            <p:cNvSpPr>
              <a:spLocks noChangeArrowheads="1"/>
            </p:cNvSpPr>
            <p:nvPr/>
          </p:nvSpPr>
          <p:spPr bwMode="auto">
            <a:xfrm>
              <a:off x="6145472" y="2232937"/>
              <a:ext cx="335736" cy="612146"/>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19" name="Rectangle 128"/>
            <p:cNvSpPr>
              <a:spLocks noChangeArrowheads="1"/>
            </p:cNvSpPr>
            <p:nvPr/>
          </p:nvSpPr>
          <p:spPr bwMode="auto">
            <a:xfrm>
              <a:off x="6145472" y="2966433"/>
              <a:ext cx="335736" cy="612146"/>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20" name="Rectangle 144"/>
            <p:cNvSpPr>
              <a:spLocks noChangeArrowheads="1"/>
            </p:cNvSpPr>
            <p:nvPr/>
          </p:nvSpPr>
          <p:spPr bwMode="auto">
            <a:xfrm>
              <a:off x="3734642" y="2973174"/>
              <a:ext cx="335736" cy="612146"/>
            </a:xfrm>
            <a:prstGeom prst="rect">
              <a:avLst/>
            </a:prstGeom>
            <a:ln>
              <a:headEnd/>
              <a:tailEnd type="none" w="lg" len="med"/>
            </a:ln>
          </p:spPr>
          <p:style>
            <a:lnRef idx="0">
              <a:schemeClr val="accent2"/>
            </a:lnRef>
            <a:fillRef idx="1001">
              <a:schemeClr val="lt2"/>
            </a:fillRef>
            <a:effectRef idx="3">
              <a:schemeClr val="accent2"/>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21" name="Rectangle 145"/>
            <p:cNvSpPr>
              <a:spLocks noChangeArrowheads="1"/>
            </p:cNvSpPr>
            <p:nvPr/>
          </p:nvSpPr>
          <p:spPr bwMode="auto">
            <a:xfrm>
              <a:off x="3734642" y="2231588"/>
              <a:ext cx="335736" cy="612146"/>
            </a:xfrm>
            <a:prstGeom prst="rect">
              <a:avLst/>
            </a:prstGeom>
            <a:ln>
              <a:headEnd/>
              <a:tailEnd type="none" w="lg" len="med"/>
            </a:ln>
          </p:spPr>
          <p:style>
            <a:lnRef idx="0">
              <a:schemeClr val="accent2"/>
            </a:lnRef>
            <a:fillRef idx="1001">
              <a:schemeClr val="lt2"/>
            </a:fillRef>
            <a:effectRef idx="3">
              <a:schemeClr val="accent2"/>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28" name="Text Box 3"/>
            <p:cNvSpPr txBox="1">
              <a:spLocks noChangeArrowheads="1"/>
            </p:cNvSpPr>
            <p:nvPr/>
          </p:nvSpPr>
          <p:spPr bwMode="auto">
            <a:xfrm>
              <a:off x="378851" y="1874308"/>
              <a:ext cx="1870127"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1200" b="0" i="0" dirty="0">
                  <a:solidFill>
                    <a:srgbClr val="000000"/>
                  </a:solidFill>
                  <a:latin typeface="Arial" pitchFamily="34" charset="0"/>
                  <a:cs typeface="Arial" pitchFamily="34" charset="0"/>
                </a:rPr>
                <a:t>Вычислительные ресурсы</a:t>
              </a:r>
            </a:p>
          </p:txBody>
        </p:sp>
        <p:pic>
          <p:nvPicPr>
            <p:cNvPr id="129" name="Picture 28" descr="C:\Users\patils1\Desktop\2013 Projects\CIS v2\CIS Slide Deck_Based on Book\Colored Graphics\Physical Compute System With Hypervisor.png"/>
            <p:cNvPicPr>
              <a:picLocks noChangeAspect="1" noChangeArrowheads="1"/>
            </p:cNvPicPr>
            <p:nvPr/>
          </p:nvPicPr>
          <p:blipFill>
            <a:blip r:embed="rId4"/>
            <a:stretch>
              <a:fillRect/>
            </a:stretch>
          </p:blipFill>
          <p:spPr bwMode="auto">
            <a:xfrm>
              <a:off x="840262" y="2092936"/>
              <a:ext cx="931886" cy="906701"/>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4586" y="2231588"/>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9853" y="2442784"/>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5120" y="2653980"/>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0387" y="2865176"/>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5655" y="3076372"/>
              <a:ext cx="578338" cy="578338"/>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Group 105"/>
            <p:cNvGrpSpPr/>
            <p:nvPr/>
          </p:nvGrpSpPr>
          <p:grpSpPr>
            <a:xfrm>
              <a:off x="1964602" y="2629381"/>
              <a:ext cx="797648" cy="502920"/>
              <a:chOff x="1964602" y="2629381"/>
              <a:chExt cx="797648" cy="502920"/>
            </a:xfrm>
          </p:grpSpPr>
          <p:pic>
            <p:nvPicPr>
              <p:cNvPr id="127" name="Picture 34" descr="C:\Users\patils1\Desktop\2013 Projects\CIS v2\CIS Slide Deck_Based on Book\Colored Graphics\SAN.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4127" y="2629381"/>
                <a:ext cx="780446" cy="502920"/>
              </a:xfrm>
              <a:prstGeom prst="rect">
                <a:avLst/>
              </a:prstGeom>
              <a:noFill/>
              <a:extLst>
                <a:ext uri="{909E8E84-426E-40DD-AFC4-6F175D3DCCD1}">
                  <a14:hiddenFill xmlns:a14="http://schemas.microsoft.com/office/drawing/2010/main">
                    <a:solidFill>
                      <a:srgbClr val="FFFFFF"/>
                    </a:solidFill>
                  </a14:hiddenFill>
                </a:ext>
              </a:extLst>
            </p:spPr>
          </p:pic>
          <p:sp>
            <p:nvSpPr>
              <p:cNvPr id="124" name="TextBox 123"/>
              <p:cNvSpPr txBox="1"/>
              <p:nvPr/>
            </p:nvSpPr>
            <p:spPr>
              <a:xfrm>
                <a:off x="1964602" y="2680871"/>
                <a:ext cx="797648" cy="338554"/>
              </a:xfrm>
              <a:prstGeom prst="rect">
                <a:avLst/>
              </a:prstGeom>
              <a:noFill/>
            </p:spPr>
            <p:txBody>
              <a:bodyPr wrap="square" rtlCol="0">
                <a:spAutoFit/>
              </a:bodyPr>
              <a:lstStyle/>
              <a:p>
                <a:pPr algn="ctr"/>
                <a:r>
                  <a:rPr lang="ru-RU" sz="800" b="1" i="0" dirty="0">
                    <a:solidFill>
                      <a:srgbClr val="000000"/>
                    </a:solidFill>
                    <a:latin typeface="Arial" pitchFamily="34" charset="0"/>
                    <a:cs typeface="Arial" pitchFamily="34" charset="0"/>
                  </a:rPr>
                  <a:t>Сеть хранения</a:t>
                </a:r>
              </a:p>
            </p:txBody>
          </p:sp>
        </p:grpSp>
      </p:grpSp>
      <p:sp>
        <p:nvSpPr>
          <p:cNvPr id="123" name="TextBox 122"/>
          <p:cNvSpPr txBox="1"/>
          <p:nvPr/>
        </p:nvSpPr>
        <p:spPr>
          <a:xfrm>
            <a:off x="809625" y="2552700"/>
            <a:ext cx="990600" cy="215444"/>
          </a:xfrm>
          <a:prstGeom prst="rect">
            <a:avLst/>
          </a:prstGeom>
          <a:noFill/>
        </p:spPr>
        <p:txBody>
          <a:bodyPr wrap="square" rtlCol="0">
            <a:spAutoFit/>
          </a:bodyPr>
          <a:lstStyle/>
          <a:p>
            <a:pPr algn="ctr"/>
            <a:r>
              <a:rPr lang="ru-RU" sz="800" b="1" i="0" dirty="0">
                <a:solidFill>
                  <a:srgbClr val="000000"/>
                </a:solidFill>
                <a:latin typeface="Arial" pitchFamily="34" charset="0"/>
                <a:cs typeface="Arial" pitchFamily="34" charset="0"/>
              </a:rPr>
              <a:t>Гипервизор</a:t>
            </a:r>
          </a:p>
        </p:txBody>
      </p:sp>
      <p:sp>
        <p:nvSpPr>
          <p:cNvPr id="125" name="TextBox 12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693646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Компоненты контроллера</a:t>
            </a:r>
          </a:p>
        </p:txBody>
      </p:sp>
      <p:sp>
        <p:nvSpPr>
          <p:cNvPr id="3" name="Subtitle 2"/>
          <p:cNvSpPr>
            <a:spLocks noGrp="1"/>
          </p:cNvSpPr>
          <p:nvPr>
            <p:ph type="subTitle" idx="1"/>
          </p:nvPr>
        </p:nvSpPr>
        <p:spPr/>
        <p:txBody>
          <a:bodyPr/>
          <a:lstStyle/>
          <a:p>
            <a:r>
              <a:rPr lang="ru-RU" sz="2000" b="0" i="0" dirty="0">
                <a:solidFill>
                  <a:srgbClr val="000000"/>
                </a:solidFill>
                <a:latin typeface="Arial" pitchFamily="34" charset="0"/>
                <a:cs typeface="Arial" pitchFamily="34" charset="0"/>
              </a:rPr>
              <a:t>Внешние</a:t>
            </a:r>
          </a:p>
        </p:txBody>
      </p:sp>
      <p:grpSp>
        <p:nvGrpSpPr>
          <p:cNvPr id="5" name="Group 4"/>
          <p:cNvGrpSpPr/>
          <p:nvPr/>
        </p:nvGrpSpPr>
        <p:grpSpPr>
          <a:xfrm>
            <a:off x="212905" y="1257300"/>
            <a:ext cx="8118773" cy="3574136"/>
            <a:chOff x="212905" y="1257300"/>
            <a:chExt cx="8118773" cy="3574136"/>
          </a:xfrm>
        </p:grpSpPr>
        <p:sp>
          <p:nvSpPr>
            <p:cNvPr id="6" name="AutoShape 12"/>
            <p:cNvSpPr>
              <a:spLocks noChangeArrowheads="1"/>
            </p:cNvSpPr>
            <p:nvPr/>
          </p:nvSpPr>
          <p:spPr bwMode="auto">
            <a:xfrm>
              <a:off x="3390017" y="1546411"/>
              <a:ext cx="3350232" cy="2436065"/>
            </a:xfrm>
            <a:prstGeom prst="roundRect">
              <a:avLst>
                <a:gd name="adj" fmla="val 5528"/>
              </a:avLst>
            </a:prstGeom>
            <a:ln>
              <a:headEnd/>
              <a:tailEnd type="none" w="lg" len="med"/>
            </a:ln>
          </p:spPr>
          <p:style>
            <a:lnRef idx="1">
              <a:schemeClr val="dk1"/>
            </a:lnRef>
            <a:fillRef idx="2">
              <a:schemeClr val="dk1"/>
            </a:fillRef>
            <a:effectRef idx="1">
              <a:schemeClr val="dk1"/>
            </a:effectRef>
            <a:fontRef idx="minor">
              <a:schemeClr val="dk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8" name="Text Box 133"/>
            <p:cNvSpPr txBox="1">
              <a:spLocks noChangeArrowheads="1"/>
            </p:cNvSpPr>
            <p:nvPr/>
          </p:nvSpPr>
          <p:spPr bwMode="auto">
            <a:xfrm>
              <a:off x="3349759" y="4389370"/>
              <a:ext cx="536237"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1400" b="0" i="0" dirty="0">
                  <a:solidFill>
                    <a:srgbClr val="000000"/>
                  </a:solidFill>
                  <a:latin typeface="Arial" pitchFamily="34" charset="0"/>
                  <a:cs typeface="Arial" pitchFamily="34" charset="0"/>
                </a:rPr>
                <a:t>Порты</a:t>
              </a:r>
            </a:p>
          </p:txBody>
        </p:sp>
        <p:sp>
          <p:nvSpPr>
            <p:cNvPr id="9" name="Text Box 149"/>
            <p:cNvSpPr txBox="1">
              <a:spLocks noChangeArrowheads="1"/>
            </p:cNvSpPr>
            <p:nvPr/>
          </p:nvSpPr>
          <p:spPr bwMode="auto">
            <a:xfrm>
              <a:off x="3924215" y="4400549"/>
              <a:ext cx="118118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0" indent="0" algn="ctr">
                <a:spcBef>
                  <a:spcPts val="0"/>
                </a:spcBef>
              </a:pPr>
              <a:r>
                <a:rPr lang="ru-RU" sz="1400" b="0" i="0" dirty="0">
                  <a:solidFill>
                    <a:srgbClr val="000000"/>
                  </a:solidFill>
                  <a:latin typeface="Arial" pitchFamily="34" charset="0"/>
                  <a:cs typeface="Arial" pitchFamily="34" charset="0"/>
                </a:rPr>
                <a:t>Внешние контроллеры</a:t>
              </a:r>
            </a:p>
          </p:txBody>
        </p:sp>
        <p:sp>
          <p:nvSpPr>
            <p:cNvPr id="11" name="Line 5"/>
            <p:cNvSpPr>
              <a:spLocks noChangeShapeType="1"/>
            </p:cNvSpPr>
            <p:nvPr/>
          </p:nvSpPr>
          <p:spPr bwMode="auto">
            <a:xfrm flipH="1">
              <a:off x="1676333" y="2842452"/>
              <a:ext cx="388004"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12" name="Line 6"/>
            <p:cNvSpPr>
              <a:spLocks noChangeShapeType="1"/>
            </p:cNvSpPr>
            <p:nvPr/>
          </p:nvSpPr>
          <p:spPr bwMode="auto">
            <a:xfrm flipH="1">
              <a:off x="1673638" y="2925980"/>
              <a:ext cx="388004"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cxnSp>
          <p:nvCxnSpPr>
            <p:cNvPr id="13" name="Elbow Connector 12"/>
            <p:cNvCxnSpPr/>
            <p:nvPr/>
          </p:nvCxnSpPr>
          <p:spPr>
            <a:xfrm>
              <a:off x="2639561" y="3026245"/>
              <a:ext cx="972749" cy="420443"/>
            </a:xfrm>
            <a:prstGeom prst="bentConnector3">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p:nvPr/>
          </p:nvCxnSpPr>
          <p:spPr>
            <a:xfrm rot="10800000">
              <a:off x="2658859" y="2941276"/>
              <a:ext cx="953452" cy="192853"/>
            </a:xfrm>
            <a:prstGeom prst="bentConnector3">
              <a:avLst>
                <a:gd name="adj1" fmla="val 45337"/>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5" name="Elbow Connector 14"/>
            <p:cNvCxnSpPr/>
            <p:nvPr/>
          </p:nvCxnSpPr>
          <p:spPr>
            <a:xfrm rot="10800000" flipV="1">
              <a:off x="2647640" y="2399885"/>
              <a:ext cx="964671" cy="376848"/>
            </a:xfrm>
            <a:prstGeom prst="bentConnector3">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6" name="Elbow Connector 15"/>
            <p:cNvCxnSpPr/>
            <p:nvPr/>
          </p:nvCxnSpPr>
          <p:spPr>
            <a:xfrm rot="10800000" flipV="1">
              <a:off x="2675462" y="2712443"/>
              <a:ext cx="936848" cy="142515"/>
            </a:xfrm>
            <a:prstGeom prst="bentConnector3">
              <a:avLst>
                <a:gd name="adj1" fmla="val 45686"/>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sp>
          <p:nvSpPr>
            <p:cNvPr id="19" name="Line 19"/>
            <p:cNvSpPr>
              <a:spLocks noChangeShapeType="1"/>
            </p:cNvSpPr>
            <p:nvPr/>
          </p:nvSpPr>
          <p:spPr bwMode="auto">
            <a:xfrm flipH="1">
              <a:off x="4388318" y="2842452"/>
              <a:ext cx="1422681"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0" name="Line 35"/>
            <p:cNvSpPr>
              <a:spLocks noChangeShapeType="1"/>
            </p:cNvSpPr>
            <p:nvPr/>
          </p:nvSpPr>
          <p:spPr bwMode="auto">
            <a:xfrm flipH="1">
              <a:off x="4388318" y="2971786"/>
              <a:ext cx="1422681"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1" name="Line 110"/>
            <p:cNvSpPr>
              <a:spLocks noChangeShapeType="1"/>
            </p:cNvSpPr>
            <p:nvPr/>
          </p:nvSpPr>
          <p:spPr bwMode="auto">
            <a:xfrm>
              <a:off x="6546757" y="3426475"/>
              <a:ext cx="386983"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2" name="Line 111"/>
            <p:cNvSpPr>
              <a:spLocks noChangeShapeType="1"/>
            </p:cNvSpPr>
            <p:nvPr/>
          </p:nvSpPr>
          <p:spPr bwMode="auto">
            <a:xfrm>
              <a:off x="6843808" y="2687671"/>
              <a:ext cx="0" cy="172144"/>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3" name="Line 114"/>
            <p:cNvSpPr>
              <a:spLocks noChangeShapeType="1"/>
            </p:cNvSpPr>
            <p:nvPr/>
          </p:nvSpPr>
          <p:spPr bwMode="auto">
            <a:xfrm>
              <a:off x="6438322" y="2385739"/>
              <a:ext cx="489215"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4" name="Line 115"/>
            <p:cNvSpPr>
              <a:spLocks noChangeShapeType="1"/>
            </p:cNvSpPr>
            <p:nvPr/>
          </p:nvSpPr>
          <p:spPr bwMode="auto">
            <a:xfrm>
              <a:off x="6918997" y="2777784"/>
              <a:ext cx="254627"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5" name="Line 116"/>
            <p:cNvSpPr>
              <a:spLocks noChangeShapeType="1"/>
            </p:cNvSpPr>
            <p:nvPr/>
          </p:nvSpPr>
          <p:spPr bwMode="auto">
            <a:xfrm>
              <a:off x="6836784" y="2848514"/>
              <a:ext cx="343815"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6" name="Line 117"/>
            <p:cNvSpPr>
              <a:spLocks noChangeShapeType="1"/>
            </p:cNvSpPr>
            <p:nvPr/>
          </p:nvSpPr>
          <p:spPr bwMode="auto">
            <a:xfrm>
              <a:off x="6920447" y="2975828"/>
              <a:ext cx="254627"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7" name="Line 118"/>
            <p:cNvSpPr>
              <a:spLocks noChangeShapeType="1"/>
            </p:cNvSpPr>
            <p:nvPr/>
          </p:nvSpPr>
          <p:spPr bwMode="auto">
            <a:xfrm>
              <a:off x="6586602" y="2696952"/>
              <a:ext cx="261364"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8" name="Line 119"/>
            <p:cNvSpPr>
              <a:spLocks noChangeShapeType="1"/>
            </p:cNvSpPr>
            <p:nvPr/>
          </p:nvSpPr>
          <p:spPr bwMode="auto">
            <a:xfrm flipV="1">
              <a:off x="6592664" y="3115266"/>
              <a:ext cx="261364"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9" name="Line 120"/>
            <p:cNvSpPr>
              <a:spLocks noChangeShapeType="1"/>
            </p:cNvSpPr>
            <p:nvPr/>
          </p:nvSpPr>
          <p:spPr bwMode="auto">
            <a:xfrm>
              <a:off x="6840825" y="2913181"/>
              <a:ext cx="358635"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0" name="Line 123"/>
            <p:cNvSpPr>
              <a:spLocks noChangeShapeType="1"/>
            </p:cNvSpPr>
            <p:nvPr/>
          </p:nvSpPr>
          <p:spPr bwMode="auto">
            <a:xfrm>
              <a:off x="6923816" y="2378463"/>
              <a:ext cx="0" cy="405238"/>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1" name="Line 124"/>
            <p:cNvSpPr>
              <a:spLocks noChangeShapeType="1"/>
            </p:cNvSpPr>
            <p:nvPr/>
          </p:nvSpPr>
          <p:spPr bwMode="auto">
            <a:xfrm>
              <a:off x="6850391" y="2911160"/>
              <a:ext cx="0" cy="214372"/>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2" name="Line 123"/>
            <p:cNvSpPr>
              <a:spLocks noChangeShapeType="1"/>
            </p:cNvSpPr>
            <p:nvPr/>
          </p:nvSpPr>
          <p:spPr bwMode="auto">
            <a:xfrm>
              <a:off x="6930702" y="2966470"/>
              <a:ext cx="0" cy="469485"/>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4" name="Rectangle 38"/>
            <p:cNvSpPr>
              <a:spLocks noChangeArrowheads="1"/>
            </p:cNvSpPr>
            <p:nvPr/>
          </p:nvSpPr>
          <p:spPr bwMode="auto">
            <a:xfrm>
              <a:off x="4691447" y="2486782"/>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35" name="Rectangle 39"/>
            <p:cNvSpPr>
              <a:spLocks noChangeArrowheads="1"/>
            </p:cNvSpPr>
            <p:nvPr/>
          </p:nvSpPr>
          <p:spPr bwMode="auto">
            <a:xfrm>
              <a:off x="4800572" y="2486782"/>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36" name="Rectangle 40"/>
            <p:cNvSpPr>
              <a:spLocks noChangeArrowheads="1"/>
            </p:cNvSpPr>
            <p:nvPr/>
          </p:nvSpPr>
          <p:spPr bwMode="auto">
            <a:xfrm>
              <a:off x="4909699" y="2486782"/>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37" name="Rectangle 41"/>
            <p:cNvSpPr>
              <a:spLocks noChangeArrowheads="1"/>
            </p:cNvSpPr>
            <p:nvPr/>
          </p:nvSpPr>
          <p:spPr bwMode="auto">
            <a:xfrm>
              <a:off x="5018825" y="2486782"/>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38" name="Rectangle 42"/>
            <p:cNvSpPr>
              <a:spLocks noChangeArrowheads="1"/>
            </p:cNvSpPr>
            <p:nvPr/>
          </p:nvSpPr>
          <p:spPr bwMode="auto">
            <a:xfrm>
              <a:off x="5127951" y="2486782"/>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39" name="Rectangle 43"/>
            <p:cNvSpPr>
              <a:spLocks noChangeArrowheads="1"/>
            </p:cNvSpPr>
            <p:nvPr/>
          </p:nvSpPr>
          <p:spPr bwMode="auto">
            <a:xfrm>
              <a:off x="5237077" y="2486782"/>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40" name="Rectangle 44"/>
            <p:cNvSpPr>
              <a:spLocks noChangeArrowheads="1"/>
            </p:cNvSpPr>
            <p:nvPr/>
          </p:nvSpPr>
          <p:spPr bwMode="auto">
            <a:xfrm>
              <a:off x="5346203" y="2486782"/>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41" name="Rectangle 45"/>
            <p:cNvSpPr>
              <a:spLocks noChangeArrowheads="1"/>
            </p:cNvSpPr>
            <p:nvPr/>
          </p:nvSpPr>
          <p:spPr bwMode="auto">
            <a:xfrm>
              <a:off x="5455329" y="2486782"/>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42" name="Rectangle 41"/>
            <p:cNvSpPr>
              <a:spLocks noChangeArrowheads="1"/>
            </p:cNvSpPr>
            <p:nvPr/>
          </p:nvSpPr>
          <p:spPr bwMode="auto">
            <a:xfrm>
              <a:off x="4691447" y="2595908"/>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43" name="Rectangle 42"/>
            <p:cNvSpPr>
              <a:spLocks noChangeArrowheads="1"/>
            </p:cNvSpPr>
            <p:nvPr/>
          </p:nvSpPr>
          <p:spPr bwMode="auto">
            <a:xfrm>
              <a:off x="4800572" y="2595908"/>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44" name="Rectangle 43"/>
            <p:cNvSpPr>
              <a:spLocks noChangeArrowheads="1"/>
            </p:cNvSpPr>
            <p:nvPr/>
          </p:nvSpPr>
          <p:spPr bwMode="auto">
            <a:xfrm>
              <a:off x="4909699" y="2595908"/>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45" name="Rectangle 44"/>
            <p:cNvSpPr>
              <a:spLocks noChangeArrowheads="1"/>
            </p:cNvSpPr>
            <p:nvPr/>
          </p:nvSpPr>
          <p:spPr bwMode="auto">
            <a:xfrm>
              <a:off x="5018825" y="2595908"/>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46" name="Rectangle 45"/>
            <p:cNvSpPr>
              <a:spLocks noChangeArrowheads="1"/>
            </p:cNvSpPr>
            <p:nvPr/>
          </p:nvSpPr>
          <p:spPr bwMode="auto">
            <a:xfrm>
              <a:off x="5127951" y="2595908"/>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47" name="Rectangle 46"/>
            <p:cNvSpPr>
              <a:spLocks noChangeArrowheads="1"/>
            </p:cNvSpPr>
            <p:nvPr/>
          </p:nvSpPr>
          <p:spPr bwMode="auto">
            <a:xfrm>
              <a:off x="5237077" y="2595908"/>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48" name="Rectangle 47"/>
            <p:cNvSpPr>
              <a:spLocks noChangeArrowheads="1"/>
            </p:cNvSpPr>
            <p:nvPr/>
          </p:nvSpPr>
          <p:spPr bwMode="auto">
            <a:xfrm>
              <a:off x="5346203" y="2595908"/>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49" name="Rectangle 48"/>
            <p:cNvSpPr>
              <a:spLocks noChangeArrowheads="1"/>
            </p:cNvSpPr>
            <p:nvPr/>
          </p:nvSpPr>
          <p:spPr bwMode="auto">
            <a:xfrm>
              <a:off x="5455329" y="2595908"/>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50" name="Rectangle 56"/>
            <p:cNvSpPr>
              <a:spLocks noChangeArrowheads="1"/>
            </p:cNvSpPr>
            <p:nvPr/>
          </p:nvSpPr>
          <p:spPr bwMode="auto">
            <a:xfrm>
              <a:off x="4691447" y="2705034"/>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51" name="Rectangle 57"/>
            <p:cNvSpPr>
              <a:spLocks noChangeArrowheads="1"/>
            </p:cNvSpPr>
            <p:nvPr/>
          </p:nvSpPr>
          <p:spPr bwMode="auto">
            <a:xfrm>
              <a:off x="4800572" y="2705034"/>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52" name="Rectangle 58"/>
            <p:cNvSpPr>
              <a:spLocks noChangeArrowheads="1"/>
            </p:cNvSpPr>
            <p:nvPr/>
          </p:nvSpPr>
          <p:spPr bwMode="auto">
            <a:xfrm>
              <a:off x="4909699" y="2705034"/>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53" name="Rectangle 59"/>
            <p:cNvSpPr>
              <a:spLocks noChangeArrowheads="1"/>
            </p:cNvSpPr>
            <p:nvPr/>
          </p:nvSpPr>
          <p:spPr bwMode="auto">
            <a:xfrm>
              <a:off x="5018825" y="2705034"/>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54" name="Rectangle 60"/>
            <p:cNvSpPr>
              <a:spLocks noChangeArrowheads="1"/>
            </p:cNvSpPr>
            <p:nvPr/>
          </p:nvSpPr>
          <p:spPr bwMode="auto">
            <a:xfrm>
              <a:off x="5127951" y="2705034"/>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55" name="Rectangle 61"/>
            <p:cNvSpPr>
              <a:spLocks noChangeArrowheads="1"/>
            </p:cNvSpPr>
            <p:nvPr/>
          </p:nvSpPr>
          <p:spPr bwMode="auto">
            <a:xfrm>
              <a:off x="5237077" y="2705034"/>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56" name="Rectangle 62"/>
            <p:cNvSpPr>
              <a:spLocks noChangeArrowheads="1"/>
            </p:cNvSpPr>
            <p:nvPr/>
          </p:nvSpPr>
          <p:spPr bwMode="auto">
            <a:xfrm>
              <a:off x="5346203" y="2705034"/>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57" name="Rectangle 63"/>
            <p:cNvSpPr>
              <a:spLocks noChangeArrowheads="1"/>
            </p:cNvSpPr>
            <p:nvPr/>
          </p:nvSpPr>
          <p:spPr bwMode="auto">
            <a:xfrm>
              <a:off x="5455329" y="2705034"/>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58" name="Rectangle 65"/>
            <p:cNvSpPr>
              <a:spLocks noChangeArrowheads="1"/>
            </p:cNvSpPr>
            <p:nvPr/>
          </p:nvSpPr>
          <p:spPr bwMode="auto">
            <a:xfrm>
              <a:off x="4691447" y="2814160"/>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59" name="Rectangle 66"/>
            <p:cNvSpPr>
              <a:spLocks noChangeArrowheads="1"/>
            </p:cNvSpPr>
            <p:nvPr/>
          </p:nvSpPr>
          <p:spPr bwMode="auto">
            <a:xfrm>
              <a:off x="4800572" y="2814160"/>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60" name="Rectangle 67"/>
            <p:cNvSpPr>
              <a:spLocks noChangeArrowheads="1"/>
            </p:cNvSpPr>
            <p:nvPr/>
          </p:nvSpPr>
          <p:spPr bwMode="auto">
            <a:xfrm>
              <a:off x="4909699" y="2814160"/>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61" name="Rectangle 68"/>
            <p:cNvSpPr>
              <a:spLocks noChangeArrowheads="1"/>
            </p:cNvSpPr>
            <p:nvPr/>
          </p:nvSpPr>
          <p:spPr bwMode="auto">
            <a:xfrm>
              <a:off x="5018825" y="2814160"/>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62" name="Rectangle 69"/>
            <p:cNvSpPr>
              <a:spLocks noChangeArrowheads="1"/>
            </p:cNvSpPr>
            <p:nvPr/>
          </p:nvSpPr>
          <p:spPr bwMode="auto">
            <a:xfrm>
              <a:off x="5127951" y="2814160"/>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63" name="Rectangle 70"/>
            <p:cNvSpPr>
              <a:spLocks noChangeArrowheads="1"/>
            </p:cNvSpPr>
            <p:nvPr/>
          </p:nvSpPr>
          <p:spPr bwMode="auto">
            <a:xfrm>
              <a:off x="5237077" y="2814160"/>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64" name="Rectangle 71"/>
            <p:cNvSpPr>
              <a:spLocks noChangeArrowheads="1"/>
            </p:cNvSpPr>
            <p:nvPr/>
          </p:nvSpPr>
          <p:spPr bwMode="auto">
            <a:xfrm>
              <a:off x="5346203" y="2814160"/>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65" name="Rectangle 72"/>
            <p:cNvSpPr>
              <a:spLocks noChangeArrowheads="1"/>
            </p:cNvSpPr>
            <p:nvPr/>
          </p:nvSpPr>
          <p:spPr bwMode="auto">
            <a:xfrm>
              <a:off x="5455329" y="2814160"/>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66" name="Rectangle 74"/>
            <p:cNvSpPr>
              <a:spLocks noChangeArrowheads="1"/>
            </p:cNvSpPr>
            <p:nvPr/>
          </p:nvSpPr>
          <p:spPr bwMode="auto">
            <a:xfrm>
              <a:off x="4691447" y="2923286"/>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67" name="Rectangle 75"/>
            <p:cNvSpPr>
              <a:spLocks noChangeArrowheads="1"/>
            </p:cNvSpPr>
            <p:nvPr/>
          </p:nvSpPr>
          <p:spPr bwMode="auto">
            <a:xfrm>
              <a:off x="4800572" y="2923286"/>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68" name="Rectangle 76"/>
            <p:cNvSpPr>
              <a:spLocks noChangeArrowheads="1"/>
            </p:cNvSpPr>
            <p:nvPr/>
          </p:nvSpPr>
          <p:spPr bwMode="auto">
            <a:xfrm>
              <a:off x="4909699" y="2923286"/>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69" name="Rectangle 77"/>
            <p:cNvSpPr>
              <a:spLocks noChangeArrowheads="1"/>
            </p:cNvSpPr>
            <p:nvPr/>
          </p:nvSpPr>
          <p:spPr bwMode="auto">
            <a:xfrm>
              <a:off x="5018825" y="2923286"/>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70" name="Rectangle 78"/>
            <p:cNvSpPr>
              <a:spLocks noChangeArrowheads="1"/>
            </p:cNvSpPr>
            <p:nvPr/>
          </p:nvSpPr>
          <p:spPr bwMode="auto">
            <a:xfrm>
              <a:off x="5127951" y="2923286"/>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71" name="Rectangle 79"/>
            <p:cNvSpPr>
              <a:spLocks noChangeArrowheads="1"/>
            </p:cNvSpPr>
            <p:nvPr/>
          </p:nvSpPr>
          <p:spPr bwMode="auto">
            <a:xfrm>
              <a:off x="5237077" y="2923286"/>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72" name="Rectangle 80"/>
            <p:cNvSpPr>
              <a:spLocks noChangeArrowheads="1"/>
            </p:cNvSpPr>
            <p:nvPr/>
          </p:nvSpPr>
          <p:spPr bwMode="auto">
            <a:xfrm>
              <a:off x="5346203" y="2923286"/>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73" name="Rectangle 81"/>
            <p:cNvSpPr>
              <a:spLocks noChangeArrowheads="1"/>
            </p:cNvSpPr>
            <p:nvPr/>
          </p:nvSpPr>
          <p:spPr bwMode="auto">
            <a:xfrm>
              <a:off x="5455329" y="2923286"/>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74" name="Rectangle 83"/>
            <p:cNvSpPr>
              <a:spLocks noChangeArrowheads="1"/>
            </p:cNvSpPr>
            <p:nvPr/>
          </p:nvSpPr>
          <p:spPr bwMode="auto">
            <a:xfrm>
              <a:off x="4691447" y="3032413"/>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75" name="Rectangle 84"/>
            <p:cNvSpPr>
              <a:spLocks noChangeArrowheads="1"/>
            </p:cNvSpPr>
            <p:nvPr/>
          </p:nvSpPr>
          <p:spPr bwMode="auto">
            <a:xfrm>
              <a:off x="4800572" y="3032413"/>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76" name="Rectangle 85"/>
            <p:cNvSpPr>
              <a:spLocks noChangeArrowheads="1"/>
            </p:cNvSpPr>
            <p:nvPr/>
          </p:nvSpPr>
          <p:spPr bwMode="auto">
            <a:xfrm>
              <a:off x="4909699" y="3032413"/>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77" name="Rectangle 86"/>
            <p:cNvSpPr>
              <a:spLocks noChangeArrowheads="1"/>
            </p:cNvSpPr>
            <p:nvPr/>
          </p:nvSpPr>
          <p:spPr bwMode="auto">
            <a:xfrm>
              <a:off x="5018825" y="3032413"/>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78" name="Rectangle 87"/>
            <p:cNvSpPr>
              <a:spLocks noChangeArrowheads="1"/>
            </p:cNvSpPr>
            <p:nvPr/>
          </p:nvSpPr>
          <p:spPr bwMode="auto">
            <a:xfrm>
              <a:off x="5127951" y="3032413"/>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79" name="Rectangle 88"/>
            <p:cNvSpPr>
              <a:spLocks noChangeArrowheads="1"/>
            </p:cNvSpPr>
            <p:nvPr/>
          </p:nvSpPr>
          <p:spPr bwMode="auto">
            <a:xfrm>
              <a:off x="5237077" y="3032413"/>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80" name="Rectangle 89"/>
            <p:cNvSpPr>
              <a:spLocks noChangeArrowheads="1"/>
            </p:cNvSpPr>
            <p:nvPr/>
          </p:nvSpPr>
          <p:spPr bwMode="auto">
            <a:xfrm>
              <a:off x="5346203" y="3032413"/>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81" name="Rectangle 90"/>
            <p:cNvSpPr>
              <a:spLocks noChangeArrowheads="1"/>
            </p:cNvSpPr>
            <p:nvPr/>
          </p:nvSpPr>
          <p:spPr bwMode="auto">
            <a:xfrm>
              <a:off x="5455329" y="3032413"/>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82" name="Rectangle 92"/>
            <p:cNvSpPr>
              <a:spLocks noChangeArrowheads="1"/>
            </p:cNvSpPr>
            <p:nvPr/>
          </p:nvSpPr>
          <p:spPr bwMode="auto">
            <a:xfrm>
              <a:off x="4691447" y="3141538"/>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83" name="Rectangle 93"/>
            <p:cNvSpPr>
              <a:spLocks noChangeArrowheads="1"/>
            </p:cNvSpPr>
            <p:nvPr/>
          </p:nvSpPr>
          <p:spPr bwMode="auto">
            <a:xfrm>
              <a:off x="4800572" y="3141538"/>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84" name="Rectangle 94"/>
            <p:cNvSpPr>
              <a:spLocks noChangeArrowheads="1"/>
            </p:cNvSpPr>
            <p:nvPr/>
          </p:nvSpPr>
          <p:spPr bwMode="auto">
            <a:xfrm>
              <a:off x="4909699" y="3141538"/>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85" name="Rectangle 95"/>
            <p:cNvSpPr>
              <a:spLocks noChangeArrowheads="1"/>
            </p:cNvSpPr>
            <p:nvPr/>
          </p:nvSpPr>
          <p:spPr bwMode="auto">
            <a:xfrm>
              <a:off x="5018825" y="3141538"/>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86" name="Rectangle 96"/>
            <p:cNvSpPr>
              <a:spLocks noChangeArrowheads="1"/>
            </p:cNvSpPr>
            <p:nvPr/>
          </p:nvSpPr>
          <p:spPr bwMode="auto">
            <a:xfrm>
              <a:off x="5127951" y="3141538"/>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87" name="Rectangle 97"/>
            <p:cNvSpPr>
              <a:spLocks noChangeArrowheads="1"/>
            </p:cNvSpPr>
            <p:nvPr/>
          </p:nvSpPr>
          <p:spPr bwMode="auto">
            <a:xfrm>
              <a:off x="5237077" y="3141538"/>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88" name="Rectangle 98"/>
            <p:cNvSpPr>
              <a:spLocks noChangeArrowheads="1"/>
            </p:cNvSpPr>
            <p:nvPr/>
          </p:nvSpPr>
          <p:spPr bwMode="auto">
            <a:xfrm>
              <a:off x="5346203" y="3141538"/>
              <a:ext cx="109126"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89" name="Rectangle 99"/>
            <p:cNvSpPr>
              <a:spLocks noChangeArrowheads="1"/>
            </p:cNvSpPr>
            <p:nvPr/>
          </p:nvSpPr>
          <p:spPr bwMode="auto">
            <a:xfrm>
              <a:off x="5455329" y="3141538"/>
              <a:ext cx="109127" cy="10912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90" name="Rectangle 101"/>
            <p:cNvSpPr>
              <a:spLocks noChangeArrowheads="1"/>
            </p:cNvSpPr>
            <p:nvPr/>
          </p:nvSpPr>
          <p:spPr bwMode="auto">
            <a:xfrm>
              <a:off x="4691447" y="3250665"/>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91" name="Rectangle 102"/>
            <p:cNvSpPr>
              <a:spLocks noChangeArrowheads="1"/>
            </p:cNvSpPr>
            <p:nvPr/>
          </p:nvSpPr>
          <p:spPr bwMode="auto">
            <a:xfrm>
              <a:off x="4800572" y="3250665"/>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92" name="Rectangle 103"/>
            <p:cNvSpPr>
              <a:spLocks noChangeArrowheads="1"/>
            </p:cNvSpPr>
            <p:nvPr/>
          </p:nvSpPr>
          <p:spPr bwMode="auto">
            <a:xfrm>
              <a:off x="4909699" y="3250665"/>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93" name="Rectangle 104"/>
            <p:cNvSpPr>
              <a:spLocks noChangeArrowheads="1"/>
            </p:cNvSpPr>
            <p:nvPr/>
          </p:nvSpPr>
          <p:spPr bwMode="auto">
            <a:xfrm>
              <a:off x="5018825" y="3250665"/>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94" name="Rectangle 105"/>
            <p:cNvSpPr>
              <a:spLocks noChangeArrowheads="1"/>
            </p:cNvSpPr>
            <p:nvPr/>
          </p:nvSpPr>
          <p:spPr bwMode="auto">
            <a:xfrm>
              <a:off x="5127951" y="3250665"/>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95" name="Rectangle 106"/>
            <p:cNvSpPr>
              <a:spLocks noChangeArrowheads="1"/>
            </p:cNvSpPr>
            <p:nvPr/>
          </p:nvSpPr>
          <p:spPr bwMode="auto">
            <a:xfrm>
              <a:off x="5237077" y="3250665"/>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96" name="Rectangle 107"/>
            <p:cNvSpPr>
              <a:spLocks noChangeArrowheads="1"/>
            </p:cNvSpPr>
            <p:nvPr/>
          </p:nvSpPr>
          <p:spPr bwMode="auto">
            <a:xfrm>
              <a:off x="5346203" y="3250665"/>
              <a:ext cx="109126"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97" name="Rectangle 108"/>
            <p:cNvSpPr>
              <a:spLocks noChangeArrowheads="1"/>
            </p:cNvSpPr>
            <p:nvPr/>
          </p:nvSpPr>
          <p:spPr bwMode="auto">
            <a:xfrm>
              <a:off x="5455329" y="3250665"/>
              <a:ext cx="109127" cy="10912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99" name="AutoShape 13"/>
            <p:cNvSpPr>
              <a:spLocks noChangeArrowheads="1"/>
            </p:cNvSpPr>
            <p:nvPr/>
          </p:nvSpPr>
          <p:spPr bwMode="auto">
            <a:xfrm>
              <a:off x="7154194" y="2129764"/>
              <a:ext cx="1177484" cy="1585696"/>
            </a:xfrm>
            <a:prstGeom prst="roundRect">
              <a:avLst>
                <a:gd name="adj" fmla="val 11657"/>
              </a:avLst>
            </a:prstGeom>
            <a:ln>
              <a:headEnd/>
              <a:tailEnd type="none" w="lg" len="med"/>
            </a:ln>
          </p:spPr>
          <p:style>
            <a:lnRef idx="1">
              <a:schemeClr val="dk1"/>
            </a:lnRef>
            <a:fillRef idx="1002">
              <a:schemeClr val="lt1"/>
            </a:fillRef>
            <a:effectRef idx="1">
              <a:schemeClr val="dk1"/>
            </a:effectRef>
            <a:fontRef idx="minor">
              <a:schemeClr val="dk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06" name="Rectangle 126"/>
            <p:cNvSpPr>
              <a:spLocks noChangeArrowheads="1"/>
            </p:cNvSpPr>
            <p:nvPr/>
          </p:nvSpPr>
          <p:spPr bwMode="auto">
            <a:xfrm>
              <a:off x="5816388" y="2110903"/>
              <a:ext cx="665535" cy="1588391"/>
            </a:xfrm>
            <a:prstGeom prst="rect">
              <a:avLst/>
            </a:prstGeom>
            <a:ln>
              <a:headEnd/>
              <a:tailEnd type="none" w="lg" len="me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07" name="Rectangle 130"/>
            <p:cNvSpPr>
              <a:spLocks noChangeArrowheads="1"/>
            </p:cNvSpPr>
            <p:nvPr/>
          </p:nvSpPr>
          <p:spPr bwMode="auto">
            <a:xfrm>
              <a:off x="6481923" y="2317030"/>
              <a:ext cx="127988" cy="127988"/>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08" name="Rectangle 131"/>
            <p:cNvSpPr>
              <a:spLocks noChangeArrowheads="1"/>
            </p:cNvSpPr>
            <p:nvPr/>
          </p:nvSpPr>
          <p:spPr bwMode="auto">
            <a:xfrm>
              <a:off x="6481923" y="2629589"/>
              <a:ext cx="127988" cy="127988"/>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09" name="Rectangle 133"/>
            <p:cNvSpPr>
              <a:spLocks noChangeArrowheads="1"/>
            </p:cNvSpPr>
            <p:nvPr/>
          </p:nvSpPr>
          <p:spPr bwMode="auto">
            <a:xfrm>
              <a:off x="6481923" y="3051274"/>
              <a:ext cx="127988" cy="127987"/>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0" name="Rectangle 134"/>
            <p:cNvSpPr>
              <a:spLocks noChangeArrowheads="1"/>
            </p:cNvSpPr>
            <p:nvPr/>
          </p:nvSpPr>
          <p:spPr bwMode="auto">
            <a:xfrm>
              <a:off x="6481923" y="3363833"/>
              <a:ext cx="127988" cy="127987"/>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1" name="Rectangle 127"/>
            <p:cNvSpPr>
              <a:spLocks noChangeArrowheads="1"/>
            </p:cNvSpPr>
            <p:nvPr/>
          </p:nvSpPr>
          <p:spPr bwMode="auto">
            <a:xfrm>
              <a:off x="6146461" y="2232154"/>
              <a:ext cx="335461" cy="611645"/>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2" name="Rectangle 128"/>
            <p:cNvSpPr>
              <a:spLocks noChangeArrowheads="1"/>
            </p:cNvSpPr>
            <p:nvPr/>
          </p:nvSpPr>
          <p:spPr bwMode="auto">
            <a:xfrm>
              <a:off x="6146461" y="2965051"/>
              <a:ext cx="335461" cy="611645"/>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4" name="Rectangle 136"/>
            <p:cNvSpPr>
              <a:spLocks noChangeArrowheads="1"/>
            </p:cNvSpPr>
            <p:nvPr/>
          </p:nvSpPr>
          <p:spPr bwMode="auto">
            <a:xfrm>
              <a:off x="3740298" y="2251016"/>
              <a:ext cx="335461" cy="611645"/>
            </a:xfrm>
            <a:prstGeom prst="rect">
              <a:avLst/>
            </a:prstGeom>
            <a:gradFill rotWithShape="1">
              <a:gsLst>
                <a:gs pos="0">
                  <a:srgbClr val="86BAB5"/>
                </a:gs>
                <a:gs pos="100000">
                  <a:srgbClr val="86BAB5">
                    <a:gamma/>
                    <a:shade val="67843"/>
                    <a:invGamma/>
                  </a:srgbClr>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15" name="Rectangle 137"/>
            <p:cNvSpPr>
              <a:spLocks noChangeArrowheads="1"/>
            </p:cNvSpPr>
            <p:nvPr/>
          </p:nvSpPr>
          <p:spPr bwMode="auto">
            <a:xfrm>
              <a:off x="3740298" y="2983912"/>
              <a:ext cx="335461" cy="611645"/>
            </a:xfrm>
            <a:prstGeom prst="rect">
              <a:avLst/>
            </a:prstGeom>
            <a:gradFill rotWithShape="1">
              <a:gsLst>
                <a:gs pos="0">
                  <a:srgbClr val="86BAB5"/>
                </a:gs>
                <a:gs pos="100000">
                  <a:srgbClr val="86BAB5">
                    <a:gamma/>
                    <a:shade val="67843"/>
                    <a:invGamma/>
                  </a:srgbClr>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16" name="Rectangle 138"/>
            <p:cNvSpPr>
              <a:spLocks noChangeArrowheads="1"/>
            </p:cNvSpPr>
            <p:nvPr/>
          </p:nvSpPr>
          <p:spPr bwMode="auto">
            <a:xfrm>
              <a:off x="3612310" y="2335891"/>
              <a:ext cx="127988" cy="127988"/>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7" name="Rectangle 139"/>
            <p:cNvSpPr>
              <a:spLocks noChangeArrowheads="1"/>
            </p:cNvSpPr>
            <p:nvPr/>
          </p:nvSpPr>
          <p:spPr bwMode="auto">
            <a:xfrm>
              <a:off x="3612310" y="2648450"/>
              <a:ext cx="127988" cy="127988"/>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8" name="Rectangle 141"/>
            <p:cNvSpPr>
              <a:spLocks noChangeArrowheads="1"/>
            </p:cNvSpPr>
            <p:nvPr/>
          </p:nvSpPr>
          <p:spPr bwMode="auto">
            <a:xfrm>
              <a:off x="3612310" y="3070135"/>
              <a:ext cx="127988" cy="127987"/>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9" name="Rectangle 142"/>
            <p:cNvSpPr>
              <a:spLocks noChangeArrowheads="1"/>
            </p:cNvSpPr>
            <p:nvPr/>
          </p:nvSpPr>
          <p:spPr bwMode="auto">
            <a:xfrm>
              <a:off x="3612310" y="3382694"/>
              <a:ext cx="127988" cy="127987"/>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20" name="Rectangle 143"/>
            <p:cNvSpPr>
              <a:spLocks noChangeArrowheads="1"/>
            </p:cNvSpPr>
            <p:nvPr/>
          </p:nvSpPr>
          <p:spPr bwMode="auto">
            <a:xfrm>
              <a:off x="3740298" y="2129764"/>
              <a:ext cx="665535" cy="1588391"/>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21" name="Rectangle 144"/>
            <p:cNvSpPr>
              <a:spLocks noChangeArrowheads="1"/>
            </p:cNvSpPr>
            <p:nvPr/>
          </p:nvSpPr>
          <p:spPr bwMode="auto">
            <a:xfrm>
              <a:off x="3737604" y="2971786"/>
              <a:ext cx="335461" cy="611645"/>
            </a:xfrm>
            <a:prstGeom prst="rect">
              <a:avLst/>
            </a:prstGeom>
            <a:ln>
              <a:headEnd/>
              <a:tailEnd type="none" w="lg" len="med"/>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22" name="Rectangle 145"/>
            <p:cNvSpPr>
              <a:spLocks noChangeArrowheads="1"/>
            </p:cNvSpPr>
            <p:nvPr/>
          </p:nvSpPr>
          <p:spPr bwMode="auto">
            <a:xfrm>
              <a:off x="3737604" y="2230807"/>
              <a:ext cx="335461" cy="611645"/>
            </a:xfrm>
            <a:prstGeom prst="rect">
              <a:avLst/>
            </a:prstGeom>
            <a:ln>
              <a:headEnd/>
              <a:tailEnd type="none" w="lg" len="med"/>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23" name="Line 137"/>
            <p:cNvSpPr>
              <a:spLocks noChangeShapeType="1"/>
            </p:cNvSpPr>
            <p:nvPr/>
          </p:nvSpPr>
          <p:spPr bwMode="auto">
            <a:xfrm flipV="1">
              <a:off x="3618433" y="3591479"/>
              <a:ext cx="1158" cy="770486"/>
            </a:xfrm>
            <a:prstGeom prst="line">
              <a:avLst/>
            </a:prstGeom>
            <a:noFill/>
            <a:ln w="19050">
              <a:solidFill>
                <a:srgbClr val="000000"/>
              </a:solidFill>
              <a:prstDash val="solid"/>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endParaRPr lang="en-US">
                <a:latin typeface="Arial" pitchFamily="34" charset="0"/>
                <a:ea typeface="Verdana" panose="020B0604030504040204" pitchFamily="34" charset="0"/>
                <a:cs typeface="Arial" pitchFamily="34" charset="0"/>
              </a:endParaRPr>
            </a:p>
          </p:txBody>
        </p:sp>
        <p:sp>
          <p:nvSpPr>
            <p:cNvPr id="124" name="Line 147"/>
            <p:cNvSpPr>
              <a:spLocks noChangeShapeType="1"/>
            </p:cNvSpPr>
            <p:nvPr/>
          </p:nvSpPr>
          <p:spPr bwMode="auto">
            <a:xfrm flipH="1" flipV="1">
              <a:off x="4267101" y="2513122"/>
              <a:ext cx="1024" cy="1848841"/>
            </a:xfrm>
            <a:prstGeom prst="line">
              <a:avLst/>
            </a:prstGeom>
            <a:noFill/>
            <a:ln w="19050">
              <a:solidFill>
                <a:srgbClr val="000000"/>
              </a:solidFill>
              <a:prstDash val="solid"/>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endParaRPr lang="en-US">
                <a:latin typeface="Arial" pitchFamily="34" charset="0"/>
                <a:ea typeface="Verdana" panose="020B0604030504040204" pitchFamily="34" charset="0"/>
                <a:cs typeface="Arial" pitchFamily="34" charset="0"/>
              </a:endParaRPr>
            </a:p>
          </p:txBody>
        </p:sp>
        <p:sp>
          <p:nvSpPr>
            <p:cNvPr id="125" name="Line 148"/>
            <p:cNvSpPr>
              <a:spLocks noChangeShapeType="1"/>
            </p:cNvSpPr>
            <p:nvPr/>
          </p:nvSpPr>
          <p:spPr bwMode="auto">
            <a:xfrm flipH="1">
              <a:off x="4059754" y="2506741"/>
              <a:ext cx="208371" cy="0"/>
            </a:xfrm>
            <a:prstGeom prst="line">
              <a:avLst/>
            </a:prstGeom>
            <a:noFill/>
            <a:ln w="19050">
              <a:solidFill>
                <a:srgbClr val="000000"/>
              </a:solidFill>
              <a:prstDash val="solid"/>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endParaRPr lang="en-US">
                <a:latin typeface="Arial" pitchFamily="34" charset="0"/>
                <a:ea typeface="Verdana" panose="020B0604030504040204" pitchFamily="34" charset="0"/>
                <a:cs typeface="Arial" pitchFamily="34" charset="0"/>
              </a:endParaRPr>
            </a:p>
          </p:txBody>
        </p:sp>
        <p:sp>
          <p:nvSpPr>
            <p:cNvPr id="126" name="Line 148"/>
            <p:cNvSpPr>
              <a:spLocks noChangeShapeType="1"/>
            </p:cNvSpPr>
            <p:nvPr/>
          </p:nvSpPr>
          <p:spPr bwMode="auto">
            <a:xfrm flipH="1">
              <a:off x="4056293" y="3292181"/>
              <a:ext cx="208371" cy="0"/>
            </a:xfrm>
            <a:prstGeom prst="line">
              <a:avLst/>
            </a:prstGeom>
            <a:noFill/>
            <a:ln w="19050">
              <a:solidFill>
                <a:srgbClr val="000000"/>
              </a:solidFill>
              <a:prstDash val="solid"/>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endParaRPr lang="en-US">
                <a:latin typeface="Arial" pitchFamily="34" charset="0"/>
                <a:ea typeface="Verdana" panose="020B0604030504040204" pitchFamily="34" charset="0"/>
                <a:cs typeface="Arial" pitchFamily="34" charset="0"/>
              </a:endParaRPr>
            </a:p>
          </p:txBody>
        </p:sp>
        <p:sp>
          <p:nvSpPr>
            <p:cNvPr id="127" name="Rounded Rectangle 126"/>
            <p:cNvSpPr/>
            <p:nvPr/>
          </p:nvSpPr>
          <p:spPr>
            <a:xfrm>
              <a:off x="3554413" y="2301635"/>
              <a:ext cx="258669" cy="1259666"/>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ea typeface="Verdana" panose="020B0604030504040204" pitchFamily="34" charset="0"/>
                <a:cs typeface="Arial" pitchFamily="34" charset="0"/>
              </a:endParaRPr>
            </a:p>
          </p:txBody>
        </p:sp>
        <p:sp>
          <p:nvSpPr>
            <p:cNvPr id="379" name="Text Box 4"/>
            <p:cNvSpPr txBox="1">
              <a:spLocks noChangeArrowheads="1"/>
            </p:cNvSpPr>
            <p:nvPr/>
          </p:nvSpPr>
          <p:spPr bwMode="auto">
            <a:xfrm>
              <a:off x="1548795" y="2171700"/>
              <a:ext cx="146110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r">
                <a:spcBef>
                  <a:spcPct val="50000"/>
                </a:spcBef>
              </a:pPr>
              <a:r>
                <a:rPr lang="ru-RU" sz="1400" b="0" i="0" dirty="0">
                  <a:solidFill>
                    <a:srgbClr val="000000"/>
                  </a:solidFill>
                  <a:latin typeface="Arial" pitchFamily="34" charset="0"/>
                  <a:cs typeface="Arial" pitchFamily="34" charset="0"/>
                </a:rPr>
                <a:t>Возможность</a:t>
              </a:r>
              <a:br>
                <a:rPr lang="en-US" sz="1400" b="0" i="0" dirty="0">
                  <a:solidFill>
                    <a:srgbClr val="FF00FF"/>
                  </a:solidFill>
                  <a:latin typeface="Arial" pitchFamily="34" charset="0"/>
                  <a:cs typeface="Arial" pitchFamily="34" charset="0"/>
                </a:rPr>
              </a:br>
              <a:r>
                <a:rPr lang="ru-RU" sz="1400" b="0" i="0" dirty="0">
                  <a:solidFill>
                    <a:srgbClr val="000000"/>
                  </a:solidFill>
                  <a:latin typeface="Arial" pitchFamily="34" charset="0"/>
                  <a:cs typeface="Arial" pitchFamily="34" charset="0"/>
                </a:rPr>
                <a:t>подключения</a:t>
              </a:r>
            </a:p>
          </p:txBody>
        </p:sp>
        <p:sp>
          <p:nvSpPr>
            <p:cNvPr id="380" name="Text Box 14"/>
            <p:cNvSpPr txBox="1">
              <a:spLocks noChangeArrowheads="1"/>
            </p:cNvSpPr>
            <p:nvPr/>
          </p:nvSpPr>
          <p:spPr bwMode="auto">
            <a:xfrm>
              <a:off x="3688863" y="1872930"/>
              <a:ext cx="763029"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Внешние</a:t>
              </a:r>
            </a:p>
          </p:txBody>
        </p:sp>
        <p:sp>
          <p:nvSpPr>
            <p:cNvPr id="381" name="Text Box 15"/>
            <p:cNvSpPr txBox="1">
              <a:spLocks noChangeArrowheads="1"/>
            </p:cNvSpPr>
            <p:nvPr/>
          </p:nvSpPr>
          <p:spPr bwMode="auto">
            <a:xfrm>
              <a:off x="5653641" y="1855349"/>
              <a:ext cx="989053"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Внутренние</a:t>
              </a:r>
            </a:p>
          </p:txBody>
        </p:sp>
        <p:sp>
          <p:nvSpPr>
            <p:cNvPr id="382" name="Text Box 16"/>
            <p:cNvSpPr txBox="1">
              <a:spLocks noChangeArrowheads="1"/>
            </p:cNvSpPr>
            <p:nvPr/>
          </p:nvSpPr>
          <p:spPr bwMode="auto">
            <a:xfrm>
              <a:off x="4615166" y="2239678"/>
              <a:ext cx="992259"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Кэш-память</a:t>
              </a:r>
            </a:p>
          </p:txBody>
        </p:sp>
        <p:sp>
          <p:nvSpPr>
            <p:cNvPr id="383" name="TextBox 382"/>
            <p:cNvSpPr txBox="1"/>
            <p:nvPr/>
          </p:nvSpPr>
          <p:spPr>
            <a:xfrm>
              <a:off x="4452152" y="1257300"/>
              <a:ext cx="1184170" cy="307777"/>
            </a:xfrm>
            <a:prstGeom prst="rect">
              <a:avLst/>
            </a:prstGeom>
            <a:noFill/>
          </p:spPr>
          <p:txBody>
            <a:bodyPr wrap="none" rtlCol="0">
              <a:spAutoFit/>
            </a:bodyPr>
            <a:lstStyle/>
            <a:p>
              <a:pPr algn="ctr"/>
              <a:r>
                <a:rPr lang="ru-RU" sz="1400" b="0" i="0" dirty="0">
                  <a:solidFill>
                    <a:srgbClr val="000000"/>
                  </a:solidFill>
                  <a:latin typeface="Arial" pitchFamily="34" charset="0"/>
                  <a:cs typeface="Arial" pitchFamily="34" charset="0"/>
                </a:rPr>
                <a:t>Контроллер</a:t>
              </a:r>
            </a:p>
          </p:txBody>
        </p:sp>
        <p:sp>
          <p:nvSpPr>
            <p:cNvPr id="384" name="Text Box 17"/>
            <p:cNvSpPr txBox="1">
              <a:spLocks noChangeArrowheads="1"/>
            </p:cNvSpPr>
            <p:nvPr/>
          </p:nvSpPr>
          <p:spPr bwMode="auto">
            <a:xfrm>
              <a:off x="7561218" y="1909497"/>
              <a:ext cx="361830"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СХД</a:t>
              </a:r>
            </a:p>
          </p:txBody>
        </p:sp>
        <p:sp>
          <p:nvSpPr>
            <p:cNvPr id="386" name="Text Box 3"/>
            <p:cNvSpPr txBox="1">
              <a:spLocks noChangeArrowheads="1"/>
            </p:cNvSpPr>
            <p:nvPr/>
          </p:nvSpPr>
          <p:spPr bwMode="auto">
            <a:xfrm>
              <a:off x="212905" y="1874308"/>
              <a:ext cx="218297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1400" b="0" i="0" dirty="0">
                  <a:solidFill>
                    <a:srgbClr val="000000"/>
                  </a:solidFill>
                  <a:latin typeface="Arial" pitchFamily="34" charset="0"/>
                  <a:cs typeface="Arial" pitchFamily="34" charset="0"/>
                </a:rPr>
                <a:t>Вычислительные ресурсы</a:t>
              </a:r>
            </a:p>
          </p:txBody>
        </p:sp>
        <p:pic>
          <p:nvPicPr>
            <p:cNvPr id="387" name="Picture 28" descr="C:\Users\patils1\Desktop\2013 Projects\CIS v2\CIS Slide Deck_Based on Book\Colored Graphics\Physical Compute System With Hypervisor.png"/>
            <p:cNvPicPr>
              <a:picLocks noChangeAspect="1" noChangeArrowheads="1"/>
            </p:cNvPicPr>
            <p:nvPr/>
          </p:nvPicPr>
          <p:blipFill>
            <a:blip r:embed="rId4"/>
            <a:stretch>
              <a:fillRect/>
            </a:stretch>
          </p:blipFill>
          <p:spPr bwMode="auto">
            <a:xfrm>
              <a:off x="840262" y="2092936"/>
              <a:ext cx="931886" cy="906701"/>
            </a:xfrm>
            <a:prstGeom prst="rect">
              <a:avLst/>
            </a:prstGeom>
            <a:noFill/>
            <a:extLst>
              <a:ext uri="{909E8E84-426E-40DD-AFC4-6F175D3DCCD1}">
                <a14:hiddenFill xmlns:a14="http://schemas.microsoft.com/office/drawing/2010/main">
                  <a:solidFill>
                    <a:srgbClr val="FFFFFF"/>
                  </a:solidFill>
                </a14:hiddenFill>
              </a:ext>
            </a:extLst>
          </p:spPr>
        </p:pic>
        <p:pic>
          <p:nvPicPr>
            <p:cNvPr id="388"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4586" y="2231588"/>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389"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9853" y="2442784"/>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390"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5120" y="2653980"/>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391"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0387" y="2865176"/>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392"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5655" y="3076372"/>
              <a:ext cx="578338" cy="578338"/>
            </a:xfrm>
            <a:prstGeom prst="rect">
              <a:avLst/>
            </a:prstGeom>
            <a:noFill/>
            <a:extLst>
              <a:ext uri="{909E8E84-426E-40DD-AFC4-6F175D3DCCD1}">
                <a14:hiddenFill xmlns:a14="http://schemas.microsoft.com/office/drawing/2010/main">
                  <a:solidFill>
                    <a:srgbClr val="FFFFFF"/>
                  </a:solidFill>
                </a14:hiddenFill>
              </a:ext>
            </a:extLst>
          </p:spPr>
        </p:pic>
        <p:grpSp>
          <p:nvGrpSpPr>
            <p:cNvPr id="129" name="Group 128"/>
            <p:cNvGrpSpPr/>
            <p:nvPr/>
          </p:nvGrpSpPr>
          <p:grpSpPr>
            <a:xfrm>
              <a:off x="2010379" y="2629381"/>
              <a:ext cx="809021" cy="502920"/>
              <a:chOff x="2010379" y="2629381"/>
              <a:chExt cx="809021" cy="502920"/>
            </a:xfrm>
          </p:grpSpPr>
          <p:pic>
            <p:nvPicPr>
              <p:cNvPr id="130" name="Picture 34" descr="C:\Users\patils1\Desktop\2013 Projects\CIS v2\CIS Slide Deck_Based on Book\Colored Graphics\SAN.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8954" y="2629381"/>
                <a:ext cx="780446" cy="502920"/>
              </a:xfrm>
              <a:prstGeom prst="rect">
                <a:avLst/>
              </a:prstGeom>
              <a:noFill/>
              <a:extLst>
                <a:ext uri="{909E8E84-426E-40DD-AFC4-6F175D3DCCD1}">
                  <a14:hiddenFill xmlns:a14="http://schemas.microsoft.com/office/drawing/2010/main">
                    <a:solidFill>
                      <a:srgbClr val="FFFFFF"/>
                    </a:solidFill>
                  </a14:hiddenFill>
                </a:ext>
              </a:extLst>
            </p:spPr>
          </p:pic>
          <p:sp>
            <p:nvSpPr>
              <p:cNvPr id="131" name="TextBox 130"/>
              <p:cNvSpPr txBox="1"/>
              <p:nvPr/>
            </p:nvSpPr>
            <p:spPr>
              <a:xfrm>
                <a:off x="2010379" y="2647951"/>
                <a:ext cx="797648" cy="400110"/>
              </a:xfrm>
              <a:prstGeom prst="rect">
                <a:avLst/>
              </a:prstGeom>
              <a:noFill/>
            </p:spPr>
            <p:txBody>
              <a:bodyPr wrap="square" rtlCol="0">
                <a:spAutoFit/>
              </a:bodyPr>
              <a:lstStyle/>
              <a:p>
                <a:pPr algn="ctr"/>
                <a:r>
                  <a:rPr lang="ru-RU" sz="1000" b="1" i="0" dirty="0">
                    <a:solidFill>
                      <a:srgbClr val="000000"/>
                    </a:solidFill>
                    <a:latin typeface="Arial" pitchFamily="34" charset="0"/>
                    <a:cs typeface="Arial" pitchFamily="34" charset="0"/>
                  </a:rPr>
                  <a:t>Сеть хранения</a:t>
                </a:r>
              </a:p>
            </p:txBody>
          </p:sp>
        </p:grpSp>
      </p:grpSp>
      <p:sp>
        <p:nvSpPr>
          <p:cNvPr id="132" name="TextBox 131"/>
          <p:cNvSpPr txBox="1"/>
          <p:nvPr/>
        </p:nvSpPr>
        <p:spPr>
          <a:xfrm>
            <a:off x="838200" y="2552700"/>
            <a:ext cx="990600" cy="246221"/>
          </a:xfrm>
          <a:prstGeom prst="rect">
            <a:avLst/>
          </a:prstGeom>
          <a:noFill/>
        </p:spPr>
        <p:txBody>
          <a:bodyPr wrap="square" rtlCol="0">
            <a:spAutoFit/>
          </a:bodyPr>
          <a:lstStyle/>
          <a:p>
            <a:r>
              <a:rPr lang="ru-RU" sz="1000" b="1" i="0" dirty="0">
                <a:solidFill>
                  <a:srgbClr val="000000"/>
                </a:solidFill>
                <a:latin typeface="Arial" pitchFamily="34" charset="0"/>
                <a:cs typeface="Arial" pitchFamily="34" charset="0"/>
              </a:rPr>
              <a:t>Гипервизор</a:t>
            </a:r>
          </a:p>
        </p:txBody>
      </p:sp>
      <p:sp>
        <p:nvSpPr>
          <p:cNvPr id="133" name="TextBox 132"/>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054565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Компоненты контроллера</a:t>
            </a:r>
          </a:p>
        </p:txBody>
      </p:sp>
      <p:sp>
        <p:nvSpPr>
          <p:cNvPr id="3" name="Subtitle 2"/>
          <p:cNvSpPr>
            <a:spLocks noGrp="1"/>
          </p:cNvSpPr>
          <p:nvPr>
            <p:ph type="subTitle" idx="1"/>
          </p:nvPr>
        </p:nvSpPr>
        <p:spPr/>
        <p:txBody>
          <a:bodyPr/>
          <a:lstStyle/>
          <a:p>
            <a:r>
              <a:rPr lang="ru-RU" sz="2000" b="0" i="0" dirty="0">
                <a:solidFill>
                  <a:srgbClr val="000000"/>
                </a:solidFill>
                <a:latin typeface="Arial" pitchFamily="34" charset="0"/>
                <a:cs typeface="Arial" pitchFamily="34" charset="0"/>
              </a:rPr>
              <a:t>Кэш-память</a:t>
            </a:r>
          </a:p>
        </p:txBody>
      </p:sp>
      <p:grpSp>
        <p:nvGrpSpPr>
          <p:cNvPr id="5" name="Group 4"/>
          <p:cNvGrpSpPr/>
          <p:nvPr/>
        </p:nvGrpSpPr>
        <p:grpSpPr>
          <a:xfrm>
            <a:off x="212905" y="1257300"/>
            <a:ext cx="8119572" cy="2727391"/>
            <a:chOff x="212905" y="1257300"/>
            <a:chExt cx="8119572" cy="2727391"/>
          </a:xfrm>
        </p:grpSpPr>
        <p:grpSp>
          <p:nvGrpSpPr>
            <p:cNvPr id="7" name="Group 6"/>
            <p:cNvGrpSpPr/>
            <p:nvPr/>
          </p:nvGrpSpPr>
          <p:grpSpPr>
            <a:xfrm>
              <a:off x="212905" y="1257300"/>
              <a:ext cx="8119572" cy="2727391"/>
              <a:chOff x="212905" y="1257300"/>
              <a:chExt cx="8119572" cy="2727391"/>
            </a:xfrm>
          </p:grpSpPr>
          <p:sp>
            <p:nvSpPr>
              <p:cNvPr id="141" name="Text Box 4"/>
              <p:cNvSpPr txBox="1">
                <a:spLocks noChangeArrowheads="1"/>
              </p:cNvSpPr>
              <p:nvPr/>
            </p:nvSpPr>
            <p:spPr bwMode="auto">
              <a:xfrm>
                <a:off x="1548795" y="2190750"/>
                <a:ext cx="146110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r">
                  <a:spcBef>
                    <a:spcPct val="50000"/>
                  </a:spcBef>
                </a:pPr>
                <a:r>
                  <a:rPr lang="ru-RU" sz="1400" b="0" i="0" dirty="0">
                    <a:solidFill>
                      <a:srgbClr val="000000"/>
                    </a:solidFill>
                    <a:latin typeface="Arial" pitchFamily="34" charset="0"/>
                    <a:cs typeface="Arial" pitchFamily="34" charset="0"/>
                  </a:rPr>
                  <a:t>Возможность</a:t>
                </a:r>
                <a:br>
                  <a:rPr lang="en-US" sz="1400" b="0" i="0" dirty="0">
                    <a:solidFill>
                      <a:srgbClr val="FF00FF"/>
                    </a:solidFill>
                    <a:latin typeface="Arial" pitchFamily="34" charset="0"/>
                    <a:cs typeface="Arial" pitchFamily="34" charset="0"/>
                  </a:rPr>
                </a:br>
                <a:r>
                  <a:rPr lang="ru-RU" sz="1400" b="0" i="0" dirty="0">
                    <a:solidFill>
                      <a:srgbClr val="000000"/>
                    </a:solidFill>
                    <a:latin typeface="Arial" pitchFamily="34" charset="0"/>
                    <a:cs typeface="Arial" pitchFamily="34" charset="0"/>
                  </a:rPr>
                  <a:t>подключения</a:t>
                </a:r>
              </a:p>
            </p:txBody>
          </p:sp>
          <p:sp>
            <p:nvSpPr>
              <p:cNvPr id="142" name="Line 5"/>
              <p:cNvSpPr>
                <a:spLocks noChangeShapeType="1"/>
              </p:cNvSpPr>
              <p:nvPr/>
            </p:nvSpPr>
            <p:spPr bwMode="auto">
              <a:xfrm flipH="1">
                <a:off x="1671684" y="2843734"/>
                <a:ext cx="388322"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43" name="Line 6"/>
              <p:cNvSpPr>
                <a:spLocks noChangeShapeType="1"/>
              </p:cNvSpPr>
              <p:nvPr/>
            </p:nvSpPr>
            <p:spPr bwMode="auto">
              <a:xfrm flipH="1">
                <a:off x="1668987" y="2927331"/>
                <a:ext cx="388322"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44" name="AutoShape 12"/>
              <p:cNvSpPr>
                <a:spLocks noChangeArrowheads="1"/>
              </p:cNvSpPr>
              <p:nvPr/>
            </p:nvSpPr>
            <p:spPr bwMode="auto">
              <a:xfrm>
                <a:off x="3386771" y="1546632"/>
                <a:ext cx="3352974" cy="2438059"/>
              </a:xfrm>
              <a:prstGeom prst="roundRect">
                <a:avLst>
                  <a:gd name="adj" fmla="val 5528"/>
                </a:avLst>
              </a:prstGeom>
              <a:ln>
                <a:headEnd/>
                <a:tailEnd type="none" w="lg" len="med"/>
              </a:ln>
            </p:spPr>
            <p:style>
              <a:lnRef idx="1">
                <a:schemeClr val="dk1"/>
              </a:lnRef>
              <a:fillRef idx="2">
                <a:schemeClr val="dk1"/>
              </a:fillRef>
              <a:effectRef idx="1">
                <a:schemeClr val="dk1"/>
              </a:effectRef>
              <a:fontRef idx="minor">
                <a:schemeClr val="dk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45" name="Text Box 14"/>
              <p:cNvSpPr txBox="1">
                <a:spLocks noChangeArrowheads="1"/>
              </p:cNvSpPr>
              <p:nvPr/>
            </p:nvSpPr>
            <p:spPr bwMode="auto">
              <a:xfrm>
                <a:off x="3688863" y="1872930"/>
                <a:ext cx="763029"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Внешние</a:t>
                </a:r>
              </a:p>
            </p:txBody>
          </p:sp>
          <p:sp>
            <p:nvSpPr>
              <p:cNvPr id="146" name="Text Box 15"/>
              <p:cNvSpPr txBox="1">
                <a:spLocks noChangeArrowheads="1"/>
              </p:cNvSpPr>
              <p:nvPr/>
            </p:nvSpPr>
            <p:spPr bwMode="auto">
              <a:xfrm>
                <a:off x="5653641" y="1855349"/>
                <a:ext cx="989053"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Внутренние</a:t>
                </a:r>
              </a:p>
            </p:txBody>
          </p:sp>
          <p:sp>
            <p:nvSpPr>
              <p:cNvPr id="147" name="Text Box 16"/>
              <p:cNvSpPr txBox="1">
                <a:spLocks noChangeArrowheads="1"/>
              </p:cNvSpPr>
              <p:nvPr/>
            </p:nvSpPr>
            <p:spPr bwMode="auto">
              <a:xfrm>
                <a:off x="4615166" y="2239678"/>
                <a:ext cx="992259"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Кэш-память</a:t>
                </a:r>
              </a:p>
            </p:txBody>
          </p:sp>
          <p:sp>
            <p:nvSpPr>
              <p:cNvPr id="148" name="Line 19"/>
              <p:cNvSpPr>
                <a:spLocks noChangeShapeType="1"/>
              </p:cNvSpPr>
              <p:nvPr/>
            </p:nvSpPr>
            <p:spPr bwMode="auto">
              <a:xfrm flipH="1">
                <a:off x="4385889" y="2843734"/>
                <a:ext cx="142384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49" name="Line 35"/>
              <p:cNvSpPr>
                <a:spLocks noChangeShapeType="1"/>
              </p:cNvSpPr>
              <p:nvPr/>
            </p:nvSpPr>
            <p:spPr bwMode="auto">
              <a:xfrm flipH="1">
                <a:off x="4385889" y="2973174"/>
                <a:ext cx="142384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50" name="Rectangle 38"/>
              <p:cNvSpPr>
                <a:spLocks noChangeArrowheads="1"/>
              </p:cNvSpPr>
              <p:nvPr/>
            </p:nvSpPr>
            <p:spPr bwMode="auto">
              <a:xfrm>
                <a:off x="4689266" y="2487772"/>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51" name="Rectangle 39"/>
              <p:cNvSpPr>
                <a:spLocks noChangeArrowheads="1"/>
              </p:cNvSpPr>
              <p:nvPr/>
            </p:nvSpPr>
            <p:spPr bwMode="auto">
              <a:xfrm>
                <a:off x="4798481" y="2487772"/>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52" name="Rectangle 40"/>
              <p:cNvSpPr>
                <a:spLocks noChangeArrowheads="1"/>
              </p:cNvSpPr>
              <p:nvPr/>
            </p:nvSpPr>
            <p:spPr bwMode="auto">
              <a:xfrm>
                <a:off x="4907697" y="2487772"/>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53" name="Rectangle 41"/>
              <p:cNvSpPr>
                <a:spLocks noChangeArrowheads="1"/>
              </p:cNvSpPr>
              <p:nvPr/>
            </p:nvSpPr>
            <p:spPr bwMode="auto">
              <a:xfrm>
                <a:off x="5016912" y="2487772"/>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54" name="Rectangle 42"/>
              <p:cNvSpPr>
                <a:spLocks noChangeArrowheads="1"/>
              </p:cNvSpPr>
              <p:nvPr/>
            </p:nvSpPr>
            <p:spPr bwMode="auto">
              <a:xfrm>
                <a:off x="5126128" y="2487772"/>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55" name="Rectangle 43"/>
              <p:cNvSpPr>
                <a:spLocks noChangeArrowheads="1"/>
              </p:cNvSpPr>
              <p:nvPr/>
            </p:nvSpPr>
            <p:spPr bwMode="auto">
              <a:xfrm>
                <a:off x="5235343" y="2487772"/>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56" name="Rectangle 44"/>
              <p:cNvSpPr>
                <a:spLocks noChangeArrowheads="1"/>
              </p:cNvSpPr>
              <p:nvPr/>
            </p:nvSpPr>
            <p:spPr bwMode="auto">
              <a:xfrm>
                <a:off x="5344558" y="2487772"/>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57" name="Rectangle 45"/>
              <p:cNvSpPr>
                <a:spLocks noChangeArrowheads="1"/>
              </p:cNvSpPr>
              <p:nvPr/>
            </p:nvSpPr>
            <p:spPr bwMode="auto">
              <a:xfrm>
                <a:off x="5453773" y="2487772"/>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58" name="Rectangle 157"/>
              <p:cNvSpPr>
                <a:spLocks noChangeArrowheads="1"/>
              </p:cNvSpPr>
              <p:nvPr/>
            </p:nvSpPr>
            <p:spPr bwMode="auto">
              <a:xfrm>
                <a:off x="4689266" y="2596988"/>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59" name="Rectangle 158"/>
              <p:cNvSpPr>
                <a:spLocks noChangeArrowheads="1"/>
              </p:cNvSpPr>
              <p:nvPr/>
            </p:nvSpPr>
            <p:spPr bwMode="auto">
              <a:xfrm>
                <a:off x="4798481" y="2596988"/>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60" name="Rectangle 159"/>
              <p:cNvSpPr>
                <a:spLocks noChangeArrowheads="1"/>
              </p:cNvSpPr>
              <p:nvPr/>
            </p:nvSpPr>
            <p:spPr bwMode="auto">
              <a:xfrm>
                <a:off x="4907697" y="2596988"/>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61" name="Rectangle 160"/>
              <p:cNvSpPr>
                <a:spLocks noChangeArrowheads="1"/>
              </p:cNvSpPr>
              <p:nvPr/>
            </p:nvSpPr>
            <p:spPr bwMode="auto">
              <a:xfrm>
                <a:off x="5016912" y="2596988"/>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62" name="Rectangle 161"/>
              <p:cNvSpPr>
                <a:spLocks noChangeArrowheads="1"/>
              </p:cNvSpPr>
              <p:nvPr/>
            </p:nvSpPr>
            <p:spPr bwMode="auto">
              <a:xfrm>
                <a:off x="5126128" y="2596988"/>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63" name="Rectangle 162"/>
              <p:cNvSpPr>
                <a:spLocks noChangeArrowheads="1"/>
              </p:cNvSpPr>
              <p:nvPr/>
            </p:nvSpPr>
            <p:spPr bwMode="auto">
              <a:xfrm>
                <a:off x="5235343" y="2596988"/>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64" name="Rectangle 163"/>
              <p:cNvSpPr>
                <a:spLocks noChangeArrowheads="1"/>
              </p:cNvSpPr>
              <p:nvPr/>
            </p:nvSpPr>
            <p:spPr bwMode="auto">
              <a:xfrm>
                <a:off x="5344558" y="2596988"/>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65" name="Rectangle 164"/>
              <p:cNvSpPr>
                <a:spLocks noChangeArrowheads="1"/>
              </p:cNvSpPr>
              <p:nvPr/>
            </p:nvSpPr>
            <p:spPr bwMode="auto">
              <a:xfrm>
                <a:off x="5453773" y="2596988"/>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66" name="Rectangle 56"/>
              <p:cNvSpPr>
                <a:spLocks noChangeArrowheads="1"/>
              </p:cNvSpPr>
              <p:nvPr/>
            </p:nvSpPr>
            <p:spPr bwMode="auto">
              <a:xfrm>
                <a:off x="4689266" y="2706203"/>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67" name="Rectangle 57"/>
              <p:cNvSpPr>
                <a:spLocks noChangeArrowheads="1"/>
              </p:cNvSpPr>
              <p:nvPr/>
            </p:nvSpPr>
            <p:spPr bwMode="auto">
              <a:xfrm>
                <a:off x="4798481" y="2706203"/>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68" name="Rectangle 58"/>
              <p:cNvSpPr>
                <a:spLocks noChangeArrowheads="1"/>
              </p:cNvSpPr>
              <p:nvPr/>
            </p:nvSpPr>
            <p:spPr bwMode="auto">
              <a:xfrm>
                <a:off x="4907697" y="2706203"/>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69" name="Rectangle 59"/>
              <p:cNvSpPr>
                <a:spLocks noChangeArrowheads="1"/>
              </p:cNvSpPr>
              <p:nvPr/>
            </p:nvSpPr>
            <p:spPr bwMode="auto">
              <a:xfrm>
                <a:off x="5016912" y="2706203"/>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70" name="Rectangle 60"/>
              <p:cNvSpPr>
                <a:spLocks noChangeArrowheads="1"/>
              </p:cNvSpPr>
              <p:nvPr/>
            </p:nvSpPr>
            <p:spPr bwMode="auto">
              <a:xfrm>
                <a:off x="5126128" y="2706203"/>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71" name="Rectangle 61"/>
              <p:cNvSpPr>
                <a:spLocks noChangeArrowheads="1"/>
              </p:cNvSpPr>
              <p:nvPr/>
            </p:nvSpPr>
            <p:spPr bwMode="auto">
              <a:xfrm>
                <a:off x="5235343" y="2706203"/>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72" name="Rectangle 62"/>
              <p:cNvSpPr>
                <a:spLocks noChangeArrowheads="1"/>
              </p:cNvSpPr>
              <p:nvPr/>
            </p:nvSpPr>
            <p:spPr bwMode="auto">
              <a:xfrm>
                <a:off x="5344558" y="2706203"/>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73" name="Rectangle 63"/>
              <p:cNvSpPr>
                <a:spLocks noChangeArrowheads="1"/>
              </p:cNvSpPr>
              <p:nvPr/>
            </p:nvSpPr>
            <p:spPr bwMode="auto">
              <a:xfrm>
                <a:off x="5453773" y="2706203"/>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74" name="Rectangle 65"/>
              <p:cNvSpPr>
                <a:spLocks noChangeArrowheads="1"/>
              </p:cNvSpPr>
              <p:nvPr/>
            </p:nvSpPr>
            <p:spPr bwMode="auto">
              <a:xfrm>
                <a:off x="4689266" y="2815419"/>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75" name="Rectangle 66"/>
              <p:cNvSpPr>
                <a:spLocks noChangeArrowheads="1"/>
              </p:cNvSpPr>
              <p:nvPr/>
            </p:nvSpPr>
            <p:spPr bwMode="auto">
              <a:xfrm>
                <a:off x="4798481" y="2815419"/>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76" name="Rectangle 67"/>
              <p:cNvSpPr>
                <a:spLocks noChangeArrowheads="1"/>
              </p:cNvSpPr>
              <p:nvPr/>
            </p:nvSpPr>
            <p:spPr bwMode="auto">
              <a:xfrm>
                <a:off x="4907697" y="2815419"/>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77" name="Rectangle 68"/>
              <p:cNvSpPr>
                <a:spLocks noChangeArrowheads="1"/>
              </p:cNvSpPr>
              <p:nvPr/>
            </p:nvSpPr>
            <p:spPr bwMode="auto">
              <a:xfrm>
                <a:off x="5016912" y="2815419"/>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78" name="Rectangle 69"/>
              <p:cNvSpPr>
                <a:spLocks noChangeArrowheads="1"/>
              </p:cNvSpPr>
              <p:nvPr/>
            </p:nvSpPr>
            <p:spPr bwMode="auto">
              <a:xfrm>
                <a:off x="5126128" y="2815419"/>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79" name="Rectangle 70"/>
              <p:cNvSpPr>
                <a:spLocks noChangeArrowheads="1"/>
              </p:cNvSpPr>
              <p:nvPr/>
            </p:nvSpPr>
            <p:spPr bwMode="auto">
              <a:xfrm>
                <a:off x="5235343" y="2815419"/>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80" name="Rectangle 71"/>
              <p:cNvSpPr>
                <a:spLocks noChangeArrowheads="1"/>
              </p:cNvSpPr>
              <p:nvPr/>
            </p:nvSpPr>
            <p:spPr bwMode="auto">
              <a:xfrm>
                <a:off x="5344558" y="2815419"/>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81" name="Rectangle 72"/>
              <p:cNvSpPr>
                <a:spLocks noChangeArrowheads="1"/>
              </p:cNvSpPr>
              <p:nvPr/>
            </p:nvSpPr>
            <p:spPr bwMode="auto">
              <a:xfrm>
                <a:off x="5453773" y="2815419"/>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82" name="Rectangle 74"/>
              <p:cNvSpPr>
                <a:spLocks noChangeArrowheads="1"/>
              </p:cNvSpPr>
              <p:nvPr/>
            </p:nvSpPr>
            <p:spPr bwMode="auto">
              <a:xfrm>
                <a:off x="4689266" y="2924634"/>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83" name="Rectangle 75"/>
              <p:cNvSpPr>
                <a:spLocks noChangeArrowheads="1"/>
              </p:cNvSpPr>
              <p:nvPr/>
            </p:nvSpPr>
            <p:spPr bwMode="auto">
              <a:xfrm>
                <a:off x="4798481" y="2924634"/>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84" name="Rectangle 76"/>
              <p:cNvSpPr>
                <a:spLocks noChangeArrowheads="1"/>
              </p:cNvSpPr>
              <p:nvPr/>
            </p:nvSpPr>
            <p:spPr bwMode="auto">
              <a:xfrm>
                <a:off x="4907697" y="2924634"/>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85" name="Rectangle 77"/>
              <p:cNvSpPr>
                <a:spLocks noChangeArrowheads="1"/>
              </p:cNvSpPr>
              <p:nvPr/>
            </p:nvSpPr>
            <p:spPr bwMode="auto">
              <a:xfrm>
                <a:off x="5016912" y="2924634"/>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86" name="Rectangle 78"/>
              <p:cNvSpPr>
                <a:spLocks noChangeArrowheads="1"/>
              </p:cNvSpPr>
              <p:nvPr/>
            </p:nvSpPr>
            <p:spPr bwMode="auto">
              <a:xfrm>
                <a:off x="5126128" y="2924634"/>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87" name="Rectangle 79"/>
              <p:cNvSpPr>
                <a:spLocks noChangeArrowheads="1"/>
              </p:cNvSpPr>
              <p:nvPr/>
            </p:nvSpPr>
            <p:spPr bwMode="auto">
              <a:xfrm>
                <a:off x="5235343" y="2924634"/>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88" name="Rectangle 80"/>
              <p:cNvSpPr>
                <a:spLocks noChangeArrowheads="1"/>
              </p:cNvSpPr>
              <p:nvPr/>
            </p:nvSpPr>
            <p:spPr bwMode="auto">
              <a:xfrm>
                <a:off x="5344558" y="2924634"/>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89" name="Rectangle 81"/>
              <p:cNvSpPr>
                <a:spLocks noChangeArrowheads="1"/>
              </p:cNvSpPr>
              <p:nvPr/>
            </p:nvSpPr>
            <p:spPr bwMode="auto">
              <a:xfrm>
                <a:off x="5453773" y="2924634"/>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90" name="Rectangle 83"/>
              <p:cNvSpPr>
                <a:spLocks noChangeArrowheads="1"/>
              </p:cNvSpPr>
              <p:nvPr/>
            </p:nvSpPr>
            <p:spPr bwMode="auto">
              <a:xfrm>
                <a:off x="4689266" y="3033850"/>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91" name="Rectangle 84"/>
              <p:cNvSpPr>
                <a:spLocks noChangeArrowheads="1"/>
              </p:cNvSpPr>
              <p:nvPr/>
            </p:nvSpPr>
            <p:spPr bwMode="auto">
              <a:xfrm>
                <a:off x="4798481" y="3033850"/>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92" name="Rectangle 85"/>
              <p:cNvSpPr>
                <a:spLocks noChangeArrowheads="1"/>
              </p:cNvSpPr>
              <p:nvPr/>
            </p:nvSpPr>
            <p:spPr bwMode="auto">
              <a:xfrm>
                <a:off x="4907697" y="3033850"/>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93" name="Rectangle 86"/>
              <p:cNvSpPr>
                <a:spLocks noChangeArrowheads="1"/>
              </p:cNvSpPr>
              <p:nvPr/>
            </p:nvSpPr>
            <p:spPr bwMode="auto">
              <a:xfrm>
                <a:off x="5016912" y="3033850"/>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94" name="Rectangle 87"/>
              <p:cNvSpPr>
                <a:spLocks noChangeArrowheads="1"/>
              </p:cNvSpPr>
              <p:nvPr/>
            </p:nvSpPr>
            <p:spPr bwMode="auto">
              <a:xfrm>
                <a:off x="5126128" y="3033850"/>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95" name="Rectangle 88"/>
              <p:cNvSpPr>
                <a:spLocks noChangeArrowheads="1"/>
              </p:cNvSpPr>
              <p:nvPr/>
            </p:nvSpPr>
            <p:spPr bwMode="auto">
              <a:xfrm>
                <a:off x="5235343" y="3033850"/>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96" name="Rectangle 89"/>
              <p:cNvSpPr>
                <a:spLocks noChangeArrowheads="1"/>
              </p:cNvSpPr>
              <p:nvPr/>
            </p:nvSpPr>
            <p:spPr bwMode="auto">
              <a:xfrm>
                <a:off x="5344558" y="3033850"/>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97" name="Rectangle 90"/>
              <p:cNvSpPr>
                <a:spLocks noChangeArrowheads="1"/>
              </p:cNvSpPr>
              <p:nvPr/>
            </p:nvSpPr>
            <p:spPr bwMode="auto">
              <a:xfrm>
                <a:off x="5453773" y="3033850"/>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98" name="Rectangle 92"/>
              <p:cNvSpPr>
                <a:spLocks noChangeArrowheads="1"/>
              </p:cNvSpPr>
              <p:nvPr/>
            </p:nvSpPr>
            <p:spPr bwMode="auto">
              <a:xfrm>
                <a:off x="4689266" y="3143065"/>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99" name="Rectangle 93"/>
              <p:cNvSpPr>
                <a:spLocks noChangeArrowheads="1"/>
              </p:cNvSpPr>
              <p:nvPr/>
            </p:nvSpPr>
            <p:spPr bwMode="auto">
              <a:xfrm>
                <a:off x="4798481" y="3143065"/>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00" name="Rectangle 94"/>
              <p:cNvSpPr>
                <a:spLocks noChangeArrowheads="1"/>
              </p:cNvSpPr>
              <p:nvPr/>
            </p:nvSpPr>
            <p:spPr bwMode="auto">
              <a:xfrm>
                <a:off x="4907697" y="3143065"/>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01" name="Rectangle 95"/>
              <p:cNvSpPr>
                <a:spLocks noChangeArrowheads="1"/>
              </p:cNvSpPr>
              <p:nvPr/>
            </p:nvSpPr>
            <p:spPr bwMode="auto">
              <a:xfrm>
                <a:off x="5016912" y="3143065"/>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02" name="Rectangle 96"/>
              <p:cNvSpPr>
                <a:spLocks noChangeArrowheads="1"/>
              </p:cNvSpPr>
              <p:nvPr/>
            </p:nvSpPr>
            <p:spPr bwMode="auto">
              <a:xfrm>
                <a:off x="5126128" y="3143065"/>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03" name="Rectangle 97"/>
              <p:cNvSpPr>
                <a:spLocks noChangeArrowheads="1"/>
              </p:cNvSpPr>
              <p:nvPr/>
            </p:nvSpPr>
            <p:spPr bwMode="auto">
              <a:xfrm>
                <a:off x="5235343" y="3143065"/>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04" name="Rectangle 98"/>
              <p:cNvSpPr>
                <a:spLocks noChangeArrowheads="1"/>
              </p:cNvSpPr>
              <p:nvPr/>
            </p:nvSpPr>
            <p:spPr bwMode="auto">
              <a:xfrm>
                <a:off x="5344558" y="3143065"/>
                <a:ext cx="109215"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05" name="Rectangle 99"/>
              <p:cNvSpPr>
                <a:spLocks noChangeArrowheads="1"/>
              </p:cNvSpPr>
              <p:nvPr/>
            </p:nvSpPr>
            <p:spPr bwMode="auto">
              <a:xfrm>
                <a:off x="5453773" y="3143065"/>
                <a:ext cx="109216" cy="109216"/>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06" name="Rectangle 101"/>
              <p:cNvSpPr>
                <a:spLocks noChangeArrowheads="1"/>
              </p:cNvSpPr>
              <p:nvPr/>
            </p:nvSpPr>
            <p:spPr bwMode="auto">
              <a:xfrm>
                <a:off x="4689266" y="3252281"/>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07" name="Rectangle 102"/>
              <p:cNvSpPr>
                <a:spLocks noChangeArrowheads="1"/>
              </p:cNvSpPr>
              <p:nvPr/>
            </p:nvSpPr>
            <p:spPr bwMode="auto">
              <a:xfrm>
                <a:off x="4798481" y="3252281"/>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08" name="Rectangle 103"/>
              <p:cNvSpPr>
                <a:spLocks noChangeArrowheads="1"/>
              </p:cNvSpPr>
              <p:nvPr/>
            </p:nvSpPr>
            <p:spPr bwMode="auto">
              <a:xfrm>
                <a:off x="4907697" y="3252281"/>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09" name="Rectangle 104"/>
              <p:cNvSpPr>
                <a:spLocks noChangeArrowheads="1"/>
              </p:cNvSpPr>
              <p:nvPr/>
            </p:nvSpPr>
            <p:spPr bwMode="auto">
              <a:xfrm>
                <a:off x="5016912" y="3252281"/>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10" name="Rectangle 105"/>
              <p:cNvSpPr>
                <a:spLocks noChangeArrowheads="1"/>
              </p:cNvSpPr>
              <p:nvPr/>
            </p:nvSpPr>
            <p:spPr bwMode="auto">
              <a:xfrm>
                <a:off x="5126128" y="3252281"/>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11" name="Rectangle 106"/>
              <p:cNvSpPr>
                <a:spLocks noChangeArrowheads="1"/>
              </p:cNvSpPr>
              <p:nvPr/>
            </p:nvSpPr>
            <p:spPr bwMode="auto">
              <a:xfrm>
                <a:off x="5235343" y="3252281"/>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12" name="Rectangle 107"/>
              <p:cNvSpPr>
                <a:spLocks noChangeArrowheads="1"/>
              </p:cNvSpPr>
              <p:nvPr/>
            </p:nvSpPr>
            <p:spPr bwMode="auto">
              <a:xfrm>
                <a:off x="5344558" y="3252281"/>
                <a:ext cx="109215"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13" name="Rectangle 108"/>
              <p:cNvSpPr>
                <a:spLocks noChangeArrowheads="1"/>
              </p:cNvSpPr>
              <p:nvPr/>
            </p:nvSpPr>
            <p:spPr bwMode="auto">
              <a:xfrm>
                <a:off x="5453773" y="3252281"/>
                <a:ext cx="109216" cy="109215"/>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14" name="Line 110"/>
              <p:cNvSpPr>
                <a:spLocks noChangeShapeType="1"/>
              </p:cNvSpPr>
              <p:nvPr/>
            </p:nvSpPr>
            <p:spPr bwMode="auto">
              <a:xfrm>
                <a:off x="6546095" y="3428235"/>
                <a:ext cx="387300"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215" name="Line 111"/>
              <p:cNvSpPr>
                <a:spLocks noChangeShapeType="1"/>
              </p:cNvSpPr>
              <p:nvPr/>
            </p:nvSpPr>
            <p:spPr bwMode="auto">
              <a:xfrm>
                <a:off x="6843389" y="2688826"/>
                <a:ext cx="0" cy="172285"/>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216" name="Line 114"/>
              <p:cNvSpPr>
                <a:spLocks noChangeShapeType="1"/>
              </p:cNvSpPr>
              <p:nvPr/>
            </p:nvSpPr>
            <p:spPr bwMode="auto">
              <a:xfrm>
                <a:off x="6437571" y="2386647"/>
                <a:ext cx="48961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217" name="Line 115"/>
              <p:cNvSpPr>
                <a:spLocks noChangeShapeType="1"/>
              </p:cNvSpPr>
              <p:nvPr/>
            </p:nvSpPr>
            <p:spPr bwMode="auto">
              <a:xfrm>
                <a:off x="6918640" y="2779014"/>
                <a:ext cx="25483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218" name="Line 116"/>
              <p:cNvSpPr>
                <a:spLocks noChangeShapeType="1"/>
              </p:cNvSpPr>
              <p:nvPr/>
            </p:nvSpPr>
            <p:spPr bwMode="auto">
              <a:xfrm>
                <a:off x="6836359" y="2849801"/>
                <a:ext cx="34409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219" name="Line 117"/>
              <p:cNvSpPr>
                <a:spLocks noChangeShapeType="1"/>
              </p:cNvSpPr>
              <p:nvPr/>
            </p:nvSpPr>
            <p:spPr bwMode="auto">
              <a:xfrm>
                <a:off x="6920091" y="2977219"/>
                <a:ext cx="25483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220" name="Line 118"/>
              <p:cNvSpPr>
                <a:spLocks noChangeShapeType="1"/>
              </p:cNvSpPr>
              <p:nvPr/>
            </p:nvSpPr>
            <p:spPr bwMode="auto">
              <a:xfrm>
                <a:off x="6585973" y="2698115"/>
                <a:ext cx="261578"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221" name="Line 119"/>
              <p:cNvSpPr>
                <a:spLocks noChangeShapeType="1"/>
              </p:cNvSpPr>
              <p:nvPr/>
            </p:nvSpPr>
            <p:spPr bwMode="auto">
              <a:xfrm flipV="1">
                <a:off x="6592040" y="3116771"/>
                <a:ext cx="261578"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222" name="Line 120"/>
              <p:cNvSpPr>
                <a:spLocks noChangeShapeType="1"/>
              </p:cNvSpPr>
              <p:nvPr/>
            </p:nvSpPr>
            <p:spPr bwMode="auto">
              <a:xfrm>
                <a:off x="6840403" y="2914521"/>
                <a:ext cx="358928"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223" name="Line 123"/>
              <p:cNvSpPr>
                <a:spLocks noChangeShapeType="1"/>
              </p:cNvSpPr>
              <p:nvPr/>
            </p:nvSpPr>
            <p:spPr bwMode="auto">
              <a:xfrm>
                <a:off x="6923463" y="2379365"/>
                <a:ext cx="0" cy="40557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224" name="Line 124"/>
              <p:cNvSpPr>
                <a:spLocks noChangeShapeType="1"/>
              </p:cNvSpPr>
              <p:nvPr/>
            </p:nvSpPr>
            <p:spPr bwMode="auto">
              <a:xfrm>
                <a:off x="6849978" y="2912498"/>
                <a:ext cx="0" cy="214548"/>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225" name="Rectangle 126"/>
              <p:cNvSpPr>
                <a:spLocks noChangeArrowheads="1"/>
              </p:cNvSpPr>
              <p:nvPr/>
            </p:nvSpPr>
            <p:spPr bwMode="auto">
              <a:xfrm>
                <a:off x="5815128" y="2111586"/>
                <a:ext cx="666079" cy="1589691"/>
              </a:xfrm>
              <a:prstGeom prst="rect">
                <a:avLst/>
              </a:prstGeom>
              <a:ln>
                <a:headEnd/>
                <a:tailEnd type="none" w="lg" len="me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26" name="Rectangle 130"/>
              <p:cNvSpPr>
                <a:spLocks noChangeArrowheads="1"/>
              </p:cNvSpPr>
              <p:nvPr/>
            </p:nvSpPr>
            <p:spPr bwMode="auto">
              <a:xfrm>
                <a:off x="6481208" y="2317882"/>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27" name="Rectangle 131"/>
              <p:cNvSpPr>
                <a:spLocks noChangeArrowheads="1"/>
              </p:cNvSpPr>
              <p:nvPr/>
            </p:nvSpPr>
            <p:spPr bwMode="auto">
              <a:xfrm>
                <a:off x="6481208" y="2630696"/>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28" name="Rectangle 133"/>
              <p:cNvSpPr>
                <a:spLocks noChangeArrowheads="1"/>
              </p:cNvSpPr>
              <p:nvPr/>
            </p:nvSpPr>
            <p:spPr bwMode="auto">
              <a:xfrm>
                <a:off x="6481208" y="3052727"/>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29" name="Rectangle 134"/>
              <p:cNvSpPr>
                <a:spLocks noChangeArrowheads="1"/>
              </p:cNvSpPr>
              <p:nvPr/>
            </p:nvSpPr>
            <p:spPr bwMode="auto">
              <a:xfrm>
                <a:off x="6481208" y="3365541"/>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30" name="Rectangle 136"/>
              <p:cNvSpPr>
                <a:spLocks noChangeArrowheads="1"/>
              </p:cNvSpPr>
              <p:nvPr/>
            </p:nvSpPr>
            <p:spPr bwMode="auto">
              <a:xfrm>
                <a:off x="3737339" y="2251814"/>
                <a:ext cx="335736" cy="612146"/>
              </a:xfrm>
              <a:prstGeom prst="rect">
                <a:avLst/>
              </a:prstGeom>
              <a:gradFill rotWithShape="1">
                <a:gsLst>
                  <a:gs pos="0">
                    <a:srgbClr val="86BAB5"/>
                  </a:gs>
                  <a:gs pos="100000">
                    <a:srgbClr val="86BAB5">
                      <a:gamma/>
                      <a:shade val="67843"/>
                      <a:invGamma/>
                    </a:srgbClr>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sz="1400">
                  <a:latin typeface="Arial" pitchFamily="34" charset="0"/>
                  <a:ea typeface="Verdana" panose="020B0604030504040204" pitchFamily="34" charset="0"/>
                  <a:cs typeface="Arial" pitchFamily="34" charset="0"/>
                </a:endParaRPr>
              </a:p>
            </p:txBody>
          </p:sp>
          <p:sp>
            <p:nvSpPr>
              <p:cNvPr id="231" name="Rectangle 137"/>
              <p:cNvSpPr>
                <a:spLocks noChangeArrowheads="1"/>
              </p:cNvSpPr>
              <p:nvPr/>
            </p:nvSpPr>
            <p:spPr bwMode="auto">
              <a:xfrm>
                <a:off x="3737339" y="2985310"/>
                <a:ext cx="335736" cy="612146"/>
              </a:xfrm>
              <a:prstGeom prst="rect">
                <a:avLst/>
              </a:prstGeom>
              <a:gradFill rotWithShape="1">
                <a:gsLst>
                  <a:gs pos="0">
                    <a:srgbClr val="86BAB5"/>
                  </a:gs>
                  <a:gs pos="100000">
                    <a:srgbClr val="86BAB5">
                      <a:gamma/>
                      <a:shade val="67843"/>
                      <a:invGamma/>
                    </a:srgbClr>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sz="1400">
                  <a:latin typeface="Arial" pitchFamily="34" charset="0"/>
                  <a:ea typeface="Verdana" panose="020B0604030504040204" pitchFamily="34" charset="0"/>
                  <a:cs typeface="Arial" pitchFamily="34" charset="0"/>
                </a:endParaRPr>
              </a:p>
            </p:txBody>
          </p:sp>
          <p:sp>
            <p:nvSpPr>
              <p:cNvPr id="232" name="Rectangle 138"/>
              <p:cNvSpPr>
                <a:spLocks noChangeArrowheads="1"/>
              </p:cNvSpPr>
              <p:nvPr/>
            </p:nvSpPr>
            <p:spPr bwMode="auto">
              <a:xfrm>
                <a:off x="3609246" y="2336758"/>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33" name="Rectangle 139"/>
              <p:cNvSpPr>
                <a:spLocks noChangeArrowheads="1"/>
              </p:cNvSpPr>
              <p:nvPr/>
            </p:nvSpPr>
            <p:spPr bwMode="auto">
              <a:xfrm>
                <a:off x="3609246" y="2649573"/>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34" name="Rectangle 141"/>
              <p:cNvSpPr>
                <a:spLocks noChangeArrowheads="1"/>
              </p:cNvSpPr>
              <p:nvPr/>
            </p:nvSpPr>
            <p:spPr bwMode="auto">
              <a:xfrm>
                <a:off x="3609246" y="3071604"/>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35" name="Rectangle 142"/>
              <p:cNvSpPr>
                <a:spLocks noChangeArrowheads="1"/>
              </p:cNvSpPr>
              <p:nvPr/>
            </p:nvSpPr>
            <p:spPr bwMode="auto">
              <a:xfrm>
                <a:off x="3609246" y="3384418"/>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36" name="Rectangle 143"/>
              <p:cNvSpPr>
                <a:spLocks noChangeArrowheads="1"/>
              </p:cNvSpPr>
              <p:nvPr/>
            </p:nvSpPr>
            <p:spPr bwMode="auto">
              <a:xfrm>
                <a:off x="3737339" y="2130463"/>
                <a:ext cx="666079" cy="1589691"/>
              </a:xfrm>
              <a:prstGeom prst="rect">
                <a:avLst/>
              </a:prstGeom>
              <a:ln>
                <a:headEnd/>
                <a:tailEnd type="none" w="lg" len="me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37" name="TextBox 236"/>
              <p:cNvSpPr txBox="1"/>
              <p:nvPr/>
            </p:nvSpPr>
            <p:spPr>
              <a:xfrm>
                <a:off x="4509302" y="1257300"/>
                <a:ext cx="1184170" cy="307777"/>
              </a:xfrm>
              <a:prstGeom prst="rect">
                <a:avLst/>
              </a:prstGeom>
              <a:noFill/>
            </p:spPr>
            <p:txBody>
              <a:bodyPr wrap="none" rtlCol="0">
                <a:spAutoFit/>
              </a:bodyPr>
              <a:lstStyle/>
              <a:p>
                <a:r>
                  <a:rPr lang="ru-RU" sz="1400" b="0" i="0" dirty="0">
                    <a:solidFill>
                      <a:srgbClr val="000000"/>
                    </a:solidFill>
                    <a:latin typeface="Arial" pitchFamily="34" charset="0"/>
                    <a:cs typeface="Arial" pitchFamily="34" charset="0"/>
                  </a:rPr>
                  <a:t>Контроллер</a:t>
                </a:r>
              </a:p>
            </p:txBody>
          </p:sp>
          <p:sp>
            <p:nvSpPr>
              <p:cNvPr id="238" name="Text Box 17"/>
              <p:cNvSpPr txBox="1">
                <a:spLocks noChangeArrowheads="1"/>
              </p:cNvSpPr>
              <p:nvPr/>
            </p:nvSpPr>
            <p:spPr bwMode="auto">
              <a:xfrm>
                <a:off x="7561218" y="1909497"/>
                <a:ext cx="361830"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СХД</a:t>
                </a:r>
              </a:p>
            </p:txBody>
          </p:sp>
          <p:cxnSp>
            <p:nvCxnSpPr>
              <p:cNvPr id="239" name="Elbow Connector 238"/>
              <p:cNvCxnSpPr>
                <a:endCxn id="235" idx="1"/>
              </p:cNvCxnSpPr>
              <p:nvPr/>
            </p:nvCxnSpPr>
            <p:spPr>
              <a:xfrm>
                <a:off x="2635700" y="3027677"/>
                <a:ext cx="973546" cy="420787"/>
              </a:xfrm>
              <a:prstGeom prst="bentConnector3">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40" name="Elbow Connector 239"/>
              <p:cNvCxnSpPr>
                <a:stCxn id="234" idx="1"/>
              </p:cNvCxnSpPr>
              <p:nvPr/>
            </p:nvCxnSpPr>
            <p:spPr>
              <a:xfrm rot="10800000">
                <a:off x="2655015" y="2942639"/>
                <a:ext cx="954232" cy="193011"/>
              </a:xfrm>
              <a:prstGeom prst="bentConnector3">
                <a:avLst>
                  <a:gd name="adj1" fmla="val 45337"/>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41" name="Elbow Connector 240"/>
              <p:cNvCxnSpPr>
                <a:stCxn id="232" idx="1"/>
              </p:cNvCxnSpPr>
              <p:nvPr/>
            </p:nvCxnSpPr>
            <p:spPr>
              <a:xfrm rot="10800000" flipV="1">
                <a:off x="2643786" y="2400804"/>
                <a:ext cx="965461" cy="377157"/>
              </a:xfrm>
              <a:prstGeom prst="bentConnector3">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42" name="Elbow Connector 241"/>
              <p:cNvCxnSpPr>
                <a:stCxn id="233" idx="1"/>
              </p:cNvCxnSpPr>
              <p:nvPr/>
            </p:nvCxnSpPr>
            <p:spPr>
              <a:xfrm rot="10800000" flipV="1">
                <a:off x="2671631" y="2713619"/>
                <a:ext cx="937615" cy="142632"/>
              </a:xfrm>
              <a:prstGeom prst="bentConnector3">
                <a:avLst>
                  <a:gd name="adj1" fmla="val 45686"/>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sp>
            <p:nvSpPr>
              <p:cNvPr id="243" name="Line 123"/>
              <p:cNvSpPr>
                <a:spLocks noChangeShapeType="1"/>
              </p:cNvSpPr>
              <p:nvPr/>
            </p:nvSpPr>
            <p:spPr bwMode="auto">
              <a:xfrm>
                <a:off x="6930354" y="2967853"/>
                <a:ext cx="0" cy="469869"/>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244" name="AutoShape 13"/>
              <p:cNvSpPr>
                <a:spLocks noChangeArrowheads="1"/>
              </p:cNvSpPr>
              <p:nvPr/>
            </p:nvSpPr>
            <p:spPr bwMode="auto">
              <a:xfrm>
                <a:off x="7154029" y="2130463"/>
                <a:ext cx="1178448" cy="1586994"/>
              </a:xfrm>
              <a:prstGeom prst="roundRect">
                <a:avLst>
                  <a:gd name="adj" fmla="val 11657"/>
                </a:avLst>
              </a:prstGeom>
              <a:ln>
                <a:headEnd/>
                <a:tailEnd type="none" w="lg" len="med"/>
              </a:ln>
            </p:spPr>
            <p:style>
              <a:lnRef idx="1">
                <a:schemeClr val="dk1"/>
              </a:lnRef>
              <a:fillRef idx="1002">
                <a:schemeClr val="lt1"/>
              </a:fillRef>
              <a:effectRef idx="1">
                <a:schemeClr val="dk1"/>
              </a:effectRef>
              <a:fontRef idx="minor">
                <a:schemeClr val="dk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45" name="Rectangle 127"/>
              <p:cNvSpPr>
                <a:spLocks noChangeArrowheads="1"/>
              </p:cNvSpPr>
              <p:nvPr/>
            </p:nvSpPr>
            <p:spPr bwMode="auto">
              <a:xfrm>
                <a:off x="6145472" y="2232937"/>
                <a:ext cx="335736" cy="612146"/>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46" name="Rectangle 128"/>
              <p:cNvSpPr>
                <a:spLocks noChangeArrowheads="1"/>
              </p:cNvSpPr>
              <p:nvPr/>
            </p:nvSpPr>
            <p:spPr bwMode="auto">
              <a:xfrm>
                <a:off x="6145472" y="2966433"/>
                <a:ext cx="335736" cy="612146"/>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47" name="Rectangle 144"/>
              <p:cNvSpPr>
                <a:spLocks noChangeArrowheads="1"/>
              </p:cNvSpPr>
              <p:nvPr/>
            </p:nvSpPr>
            <p:spPr bwMode="auto">
              <a:xfrm>
                <a:off x="3734642" y="2973174"/>
                <a:ext cx="335736" cy="612146"/>
              </a:xfrm>
              <a:prstGeom prst="rect">
                <a:avLst/>
              </a:prstGeom>
              <a:ln>
                <a:headEnd/>
                <a:tailEnd type="none" w="lg" len="med"/>
              </a:ln>
            </p:spPr>
            <p:style>
              <a:lnRef idx="0">
                <a:schemeClr val="accent2"/>
              </a:lnRef>
              <a:fillRef idx="1001">
                <a:schemeClr val="lt2"/>
              </a:fillRef>
              <a:effectRef idx="3">
                <a:schemeClr val="accent2"/>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48" name="Rectangle 145"/>
              <p:cNvSpPr>
                <a:spLocks noChangeArrowheads="1"/>
              </p:cNvSpPr>
              <p:nvPr/>
            </p:nvSpPr>
            <p:spPr bwMode="auto">
              <a:xfrm>
                <a:off x="3734642" y="2231588"/>
                <a:ext cx="335736" cy="612146"/>
              </a:xfrm>
              <a:prstGeom prst="rect">
                <a:avLst/>
              </a:prstGeom>
              <a:ln>
                <a:headEnd/>
                <a:tailEnd type="none" w="lg" len="med"/>
              </a:ln>
            </p:spPr>
            <p:style>
              <a:lnRef idx="0">
                <a:schemeClr val="accent2"/>
              </a:lnRef>
              <a:fillRef idx="1001">
                <a:schemeClr val="lt2"/>
              </a:fillRef>
              <a:effectRef idx="3">
                <a:schemeClr val="accent2"/>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40" name="Text Box 3"/>
              <p:cNvSpPr txBox="1">
                <a:spLocks noChangeArrowheads="1"/>
              </p:cNvSpPr>
              <p:nvPr/>
            </p:nvSpPr>
            <p:spPr bwMode="auto">
              <a:xfrm>
                <a:off x="212905" y="1874308"/>
                <a:ext cx="218297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1400" b="0" i="0" dirty="0">
                    <a:solidFill>
                      <a:srgbClr val="000000"/>
                    </a:solidFill>
                    <a:latin typeface="Arial" pitchFamily="34" charset="0"/>
                    <a:cs typeface="Arial" pitchFamily="34" charset="0"/>
                  </a:rPr>
                  <a:t>Вычислительные ресурсы</a:t>
                </a:r>
              </a:p>
            </p:txBody>
          </p:sp>
          <p:pic>
            <p:nvPicPr>
              <p:cNvPr id="138" name="Picture 28" descr="C:\Users\patils1\Desktop\2013 Projects\CIS v2\CIS Slide Deck_Based on Book\Colored Graphics\Physical Compute System With Hypervisor.png"/>
              <p:cNvPicPr>
                <a:picLocks noChangeAspect="1" noChangeArrowheads="1"/>
              </p:cNvPicPr>
              <p:nvPr/>
            </p:nvPicPr>
            <p:blipFill>
              <a:blip r:embed="rId4"/>
              <a:stretch>
                <a:fillRect/>
              </a:stretch>
            </p:blipFill>
            <p:spPr bwMode="auto">
              <a:xfrm>
                <a:off x="840262" y="2092936"/>
                <a:ext cx="931886" cy="906701"/>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4586" y="2231588"/>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9853" y="2442784"/>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5120" y="2653980"/>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0387" y="2865176"/>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5655" y="3076372"/>
                <a:ext cx="578338" cy="57833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4" name="Group 123"/>
            <p:cNvGrpSpPr/>
            <p:nvPr/>
          </p:nvGrpSpPr>
          <p:grpSpPr>
            <a:xfrm>
              <a:off x="2010379" y="2629381"/>
              <a:ext cx="809021" cy="502920"/>
              <a:chOff x="2010379" y="2629381"/>
              <a:chExt cx="809021" cy="502920"/>
            </a:xfrm>
          </p:grpSpPr>
          <p:pic>
            <p:nvPicPr>
              <p:cNvPr id="125" name="Picture 34" descr="C:\Users\patils1\Desktop\2013 Projects\CIS v2\CIS Slide Deck_Based on Book\Colored Graphics\SAN.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8954" y="2629381"/>
                <a:ext cx="780446" cy="502920"/>
              </a:xfrm>
              <a:prstGeom prst="rect">
                <a:avLst/>
              </a:prstGeom>
              <a:noFill/>
              <a:extLst>
                <a:ext uri="{909E8E84-426E-40DD-AFC4-6F175D3DCCD1}">
                  <a14:hiddenFill xmlns:a14="http://schemas.microsoft.com/office/drawing/2010/main">
                    <a:solidFill>
                      <a:srgbClr val="FFFFFF"/>
                    </a:solidFill>
                  </a14:hiddenFill>
                </a:ext>
              </a:extLst>
            </p:spPr>
          </p:pic>
          <p:sp>
            <p:nvSpPr>
              <p:cNvPr id="126" name="TextBox 125"/>
              <p:cNvSpPr txBox="1"/>
              <p:nvPr/>
            </p:nvSpPr>
            <p:spPr>
              <a:xfrm>
                <a:off x="2010379" y="2647951"/>
                <a:ext cx="797648" cy="400110"/>
              </a:xfrm>
              <a:prstGeom prst="rect">
                <a:avLst/>
              </a:prstGeom>
              <a:noFill/>
            </p:spPr>
            <p:txBody>
              <a:bodyPr wrap="square" rtlCol="0">
                <a:spAutoFit/>
              </a:bodyPr>
              <a:lstStyle/>
              <a:p>
                <a:pPr algn="ctr"/>
                <a:r>
                  <a:rPr lang="ru-RU" sz="1000" b="1" i="0" dirty="0">
                    <a:solidFill>
                      <a:srgbClr val="000000"/>
                    </a:solidFill>
                    <a:latin typeface="Arial" pitchFamily="34" charset="0"/>
                    <a:cs typeface="Arial" pitchFamily="34" charset="0"/>
                  </a:rPr>
                  <a:t>Сеть хранения</a:t>
                </a:r>
              </a:p>
            </p:txBody>
          </p:sp>
        </p:grpSp>
      </p:grpSp>
      <p:sp>
        <p:nvSpPr>
          <p:cNvPr id="127" name="TextBox 126"/>
          <p:cNvSpPr txBox="1"/>
          <p:nvPr/>
        </p:nvSpPr>
        <p:spPr>
          <a:xfrm>
            <a:off x="838200" y="2552700"/>
            <a:ext cx="990600" cy="246221"/>
          </a:xfrm>
          <a:prstGeom prst="rect">
            <a:avLst/>
          </a:prstGeom>
          <a:noFill/>
        </p:spPr>
        <p:txBody>
          <a:bodyPr wrap="square" rtlCol="0">
            <a:spAutoFit/>
          </a:bodyPr>
          <a:lstStyle/>
          <a:p>
            <a:r>
              <a:rPr lang="ru-RU" sz="1000" b="1" i="0" dirty="0">
                <a:solidFill>
                  <a:srgbClr val="000000"/>
                </a:solidFill>
                <a:latin typeface="Arial" pitchFamily="34" charset="0"/>
                <a:cs typeface="Arial" pitchFamily="34" charset="0"/>
              </a:rPr>
              <a:t>Гипервизор</a:t>
            </a:r>
          </a:p>
        </p:txBody>
      </p:sp>
      <p:sp>
        <p:nvSpPr>
          <p:cNvPr id="128" name="TextBox 12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378816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Операция чтения с использованием кэш-памяти</a:t>
            </a:r>
          </a:p>
        </p:txBody>
      </p:sp>
      <p:grpSp>
        <p:nvGrpSpPr>
          <p:cNvPr id="5" name="Group 4"/>
          <p:cNvGrpSpPr/>
          <p:nvPr/>
        </p:nvGrpSpPr>
        <p:grpSpPr>
          <a:xfrm>
            <a:off x="1676400" y="819150"/>
            <a:ext cx="5638799" cy="4000289"/>
            <a:chOff x="1676400" y="895350"/>
            <a:chExt cx="5638799" cy="4000289"/>
          </a:xfrm>
        </p:grpSpPr>
        <p:sp>
          <p:nvSpPr>
            <p:cNvPr id="12" name="AutoShape 3"/>
            <p:cNvSpPr>
              <a:spLocks noChangeArrowheads="1"/>
            </p:cNvSpPr>
            <p:nvPr/>
          </p:nvSpPr>
          <p:spPr bwMode="auto">
            <a:xfrm>
              <a:off x="1676400" y="3020750"/>
              <a:ext cx="5638799" cy="1874889"/>
            </a:xfrm>
            <a:prstGeom prst="roundRect">
              <a:avLst>
                <a:gd name="adj" fmla="val 9931"/>
              </a:avLst>
            </a:prstGeom>
            <a:solidFill>
              <a:schemeClr val="bg1"/>
            </a:solidFill>
            <a:ln w="12700" algn="ctr">
              <a:solidFill>
                <a:srgbClr val="000814"/>
              </a:solidFill>
              <a:prstDash val="dash"/>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sz="1050">
                <a:latin typeface="Arial" pitchFamily="34" charset="0"/>
                <a:cs typeface="Arial" pitchFamily="34" charset="0"/>
              </a:endParaRPr>
            </a:p>
          </p:txBody>
        </p:sp>
        <p:sp>
          <p:nvSpPr>
            <p:cNvPr id="13" name="AutoShape 2"/>
            <p:cNvSpPr>
              <a:spLocks noChangeArrowheads="1"/>
            </p:cNvSpPr>
            <p:nvPr/>
          </p:nvSpPr>
          <p:spPr bwMode="auto">
            <a:xfrm>
              <a:off x="1676400" y="996085"/>
              <a:ext cx="5638799" cy="1835084"/>
            </a:xfrm>
            <a:prstGeom prst="roundRect">
              <a:avLst>
                <a:gd name="adj" fmla="val 9931"/>
              </a:avLst>
            </a:prstGeom>
            <a:solidFill>
              <a:schemeClr val="bg1"/>
            </a:solidFill>
            <a:ln w="12700" algn="ctr">
              <a:solidFill>
                <a:srgbClr val="000814"/>
              </a:solidFill>
              <a:prstDash val="dash"/>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sz="1050" dirty="0">
                <a:latin typeface="Arial" pitchFamily="34" charset="0"/>
                <a:cs typeface="Arial" pitchFamily="34" charset="0"/>
              </a:endParaRPr>
            </a:p>
          </p:txBody>
        </p:sp>
        <p:sp>
          <p:nvSpPr>
            <p:cNvPr id="14" name="Line 4"/>
            <p:cNvSpPr>
              <a:spLocks noChangeShapeType="1"/>
            </p:cNvSpPr>
            <p:nvPr/>
          </p:nvSpPr>
          <p:spPr bwMode="auto">
            <a:xfrm>
              <a:off x="2567708" y="3986080"/>
              <a:ext cx="3675783"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lIns="0" tIns="0" rIns="0" bIns="0"/>
            <a:lstStyle/>
            <a:p>
              <a:endParaRPr lang="en-US" sz="1050">
                <a:latin typeface="Arial" pitchFamily="34" charset="0"/>
                <a:cs typeface="Arial" pitchFamily="34" charset="0"/>
              </a:endParaRPr>
            </a:p>
          </p:txBody>
        </p:sp>
        <p:sp>
          <p:nvSpPr>
            <p:cNvPr id="15" name="Line 8"/>
            <p:cNvSpPr>
              <a:spLocks noChangeShapeType="1"/>
            </p:cNvSpPr>
            <p:nvPr/>
          </p:nvSpPr>
          <p:spPr bwMode="auto">
            <a:xfrm>
              <a:off x="2241616" y="1918027"/>
              <a:ext cx="4043362"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lIns="0" tIns="0" rIns="0" bIns="0"/>
            <a:lstStyle/>
            <a:p>
              <a:endParaRPr lang="en-US" sz="1050">
                <a:latin typeface="Arial" pitchFamily="34" charset="0"/>
                <a:cs typeface="Arial" pitchFamily="34" charset="0"/>
              </a:endParaRPr>
            </a:p>
          </p:txBody>
        </p:sp>
        <p:sp>
          <p:nvSpPr>
            <p:cNvPr id="16" name="Text Box 9"/>
            <p:cNvSpPr txBox="1">
              <a:spLocks noChangeArrowheads="1"/>
            </p:cNvSpPr>
            <p:nvPr/>
          </p:nvSpPr>
          <p:spPr bwMode="auto">
            <a:xfrm>
              <a:off x="3376620" y="1295400"/>
              <a:ext cx="2032608" cy="12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204"/>
                  </a:solidFill>
                  <a:latin typeface="Arial" pitchFamily="34" charset="0"/>
                  <a:cs typeface="Arial" pitchFamily="34" charset="0"/>
                </a:rPr>
                <a:t>Данные, обнаруженные в кэш-памяти</a:t>
              </a:r>
            </a:p>
          </p:txBody>
        </p:sp>
        <p:sp>
          <p:nvSpPr>
            <p:cNvPr id="17" name="Text Box 12"/>
            <p:cNvSpPr txBox="1">
              <a:spLocks noChangeArrowheads="1"/>
            </p:cNvSpPr>
            <p:nvPr/>
          </p:nvSpPr>
          <p:spPr bwMode="auto">
            <a:xfrm>
              <a:off x="2614040" y="1634300"/>
              <a:ext cx="1348360" cy="12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000"/>
                  </a:solidFill>
                  <a:latin typeface="Arial" pitchFamily="34" charset="0"/>
                  <a:cs typeface="Arial" pitchFamily="34" charset="0"/>
                </a:rPr>
                <a:t>1. Запрос на чтение</a:t>
              </a:r>
            </a:p>
          </p:txBody>
        </p:sp>
        <p:sp>
          <p:nvSpPr>
            <p:cNvPr id="18" name="Rectangle 13"/>
            <p:cNvSpPr>
              <a:spLocks noChangeArrowheads="1"/>
            </p:cNvSpPr>
            <p:nvPr/>
          </p:nvSpPr>
          <p:spPr bwMode="auto">
            <a:xfrm>
              <a:off x="4026145" y="1862323"/>
              <a:ext cx="65" cy="161583"/>
            </a:xfrm>
            <a:prstGeom prst="rect">
              <a:avLst/>
            </a:prstGeom>
            <a:ln/>
          </p:spPr>
          <p:style>
            <a:lnRef idx="0">
              <a:schemeClr val="accent1"/>
            </a:lnRef>
            <a:fillRef idx="3">
              <a:schemeClr val="accent1"/>
            </a:fillRef>
            <a:effectRef idx="3">
              <a:schemeClr val="accent1"/>
            </a:effectRef>
            <a:fontRef idx="minor">
              <a:schemeClr val="lt1"/>
            </a:fontRef>
          </p:style>
          <p:txBody>
            <a:bodyPr wrap="none" lIns="0" tIns="0" rIns="0" bIns="0" anchor="ctr">
              <a:spAutoFit/>
            </a:bodyPr>
            <a:lstStyle/>
            <a:p>
              <a:endParaRPr lang="en-US" sz="1050">
                <a:latin typeface="Arial" pitchFamily="34" charset="0"/>
                <a:cs typeface="Arial" pitchFamily="34" charset="0"/>
              </a:endParaRPr>
            </a:p>
          </p:txBody>
        </p:sp>
        <p:sp>
          <p:nvSpPr>
            <p:cNvPr id="19" name="Rectangle 18"/>
            <p:cNvSpPr>
              <a:spLocks noChangeArrowheads="1"/>
            </p:cNvSpPr>
            <p:nvPr/>
          </p:nvSpPr>
          <p:spPr bwMode="auto">
            <a:xfrm>
              <a:off x="4004641" y="1520186"/>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0" name="Rectangle 19"/>
            <p:cNvSpPr>
              <a:spLocks noChangeArrowheads="1"/>
            </p:cNvSpPr>
            <p:nvPr/>
          </p:nvSpPr>
          <p:spPr bwMode="auto">
            <a:xfrm>
              <a:off x="4101412" y="1520186"/>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1" name="Rectangle 20"/>
            <p:cNvSpPr>
              <a:spLocks noChangeArrowheads="1"/>
            </p:cNvSpPr>
            <p:nvPr/>
          </p:nvSpPr>
          <p:spPr bwMode="auto">
            <a:xfrm>
              <a:off x="4198185" y="1520186"/>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2" name="Rectangle 21"/>
            <p:cNvSpPr>
              <a:spLocks noChangeArrowheads="1"/>
            </p:cNvSpPr>
            <p:nvPr/>
          </p:nvSpPr>
          <p:spPr bwMode="auto">
            <a:xfrm>
              <a:off x="4294956" y="1520186"/>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3" name="Rectangle 22"/>
            <p:cNvSpPr>
              <a:spLocks noChangeArrowheads="1"/>
            </p:cNvSpPr>
            <p:nvPr/>
          </p:nvSpPr>
          <p:spPr bwMode="auto">
            <a:xfrm>
              <a:off x="4391729" y="1520186"/>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4" name="Rectangle 23"/>
            <p:cNvSpPr>
              <a:spLocks noChangeArrowheads="1"/>
            </p:cNvSpPr>
            <p:nvPr/>
          </p:nvSpPr>
          <p:spPr bwMode="auto">
            <a:xfrm>
              <a:off x="4488500" y="1520186"/>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5" name="Rectangle 24"/>
            <p:cNvSpPr>
              <a:spLocks noChangeArrowheads="1"/>
            </p:cNvSpPr>
            <p:nvPr/>
          </p:nvSpPr>
          <p:spPr bwMode="auto">
            <a:xfrm>
              <a:off x="4585273" y="1520186"/>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6" name="Rectangle 25"/>
            <p:cNvSpPr>
              <a:spLocks noChangeArrowheads="1"/>
            </p:cNvSpPr>
            <p:nvPr/>
          </p:nvSpPr>
          <p:spPr bwMode="auto">
            <a:xfrm>
              <a:off x="4682044" y="1520186"/>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7" name="Rectangle 25"/>
            <p:cNvSpPr>
              <a:spLocks noChangeArrowheads="1"/>
            </p:cNvSpPr>
            <p:nvPr/>
          </p:nvSpPr>
          <p:spPr bwMode="auto">
            <a:xfrm>
              <a:off x="4004641" y="161695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8" name="Rectangle 26"/>
            <p:cNvSpPr>
              <a:spLocks noChangeArrowheads="1"/>
            </p:cNvSpPr>
            <p:nvPr/>
          </p:nvSpPr>
          <p:spPr bwMode="auto">
            <a:xfrm>
              <a:off x="4101412" y="161695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9" name="Rectangle 27"/>
            <p:cNvSpPr>
              <a:spLocks noChangeArrowheads="1"/>
            </p:cNvSpPr>
            <p:nvPr/>
          </p:nvSpPr>
          <p:spPr bwMode="auto">
            <a:xfrm>
              <a:off x="4198185" y="161695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0" name="Rectangle 28"/>
            <p:cNvSpPr>
              <a:spLocks noChangeArrowheads="1"/>
            </p:cNvSpPr>
            <p:nvPr/>
          </p:nvSpPr>
          <p:spPr bwMode="auto">
            <a:xfrm>
              <a:off x="4294956" y="161695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1" name="Rectangle 29"/>
            <p:cNvSpPr>
              <a:spLocks noChangeArrowheads="1"/>
            </p:cNvSpPr>
            <p:nvPr/>
          </p:nvSpPr>
          <p:spPr bwMode="auto">
            <a:xfrm>
              <a:off x="4391729" y="161695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2" name="Rectangle 30"/>
            <p:cNvSpPr>
              <a:spLocks noChangeArrowheads="1"/>
            </p:cNvSpPr>
            <p:nvPr/>
          </p:nvSpPr>
          <p:spPr bwMode="auto">
            <a:xfrm>
              <a:off x="4488500" y="161695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3" name="Rectangle 31"/>
            <p:cNvSpPr>
              <a:spLocks noChangeArrowheads="1"/>
            </p:cNvSpPr>
            <p:nvPr/>
          </p:nvSpPr>
          <p:spPr bwMode="auto">
            <a:xfrm>
              <a:off x="4585273" y="161695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4" name="Rectangle 32"/>
            <p:cNvSpPr>
              <a:spLocks noChangeArrowheads="1"/>
            </p:cNvSpPr>
            <p:nvPr/>
          </p:nvSpPr>
          <p:spPr bwMode="auto">
            <a:xfrm>
              <a:off x="4682044" y="161695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5" name="Rectangle 34"/>
            <p:cNvSpPr>
              <a:spLocks noChangeArrowheads="1"/>
            </p:cNvSpPr>
            <p:nvPr/>
          </p:nvSpPr>
          <p:spPr bwMode="auto">
            <a:xfrm>
              <a:off x="4004641" y="1713730"/>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6" name="Rectangle 35"/>
            <p:cNvSpPr>
              <a:spLocks noChangeArrowheads="1"/>
            </p:cNvSpPr>
            <p:nvPr/>
          </p:nvSpPr>
          <p:spPr bwMode="auto">
            <a:xfrm>
              <a:off x="4101412" y="1713730"/>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7" name="Rectangle 36"/>
            <p:cNvSpPr>
              <a:spLocks noChangeArrowheads="1"/>
            </p:cNvSpPr>
            <p:nvPr/>
          </p:nvSpPr>
          <p:spPr bwMode="auto">
            <a:xfrm>
              <a:off x="4198185" y="1713730"/>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8" name="Rectangle 37"/>
            <p:cNvSpPr>
              <a:spLocks noChangeArrowheads="1"/>
            </p:cNvSpPr>
            <p:nvPr/>
          </p:nvSpPr>
          <p:spPr bwMode="auto">
            <a:xfrm>
              <a:off x="4294956" y="1713730"/>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9" name="Rectangle 38"/>
            <p:cNvSpPr>
              <a:spLocks noChangeArrowheads="1"/>
            </p:cNvSpPr>
            <p:nvPr/>
          </p:nvSpPr>
          <p:spPr bwMode="auto">
            <a:xfrm>
              <a:off x="4391729" y="1713730"/>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0" name="Rectangle 39"/>
            <p:cNvSpPr>
              <a:spLocks noChangeArrowheads="1"/>
            </p:cNvSpPr>
            <p:nvPr/>
          </p:nvSpPr>
          <p:spPr bwMode="auto">
            <a:xfrm>
              <a:off x="4488500" y="1713730"/>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1" name="Rectangle 40"/>
            <p:cNvSpPr>
              <a:spLocks noChangeArrowheads="1"/>
            </p:cNvSpPr>
            <p:nvPr/>
          </p:nvSpPr>
          <p:spPr bwMode="auto">
            <a:xfrm>
              <a:off x="4585273" y="1713730"/>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2" name="Rectangle 41"/>
            <p:cNvSpPr>
              <a:spLocks noChangeArrowheads="1"/>
            </p:cNvSpPr>
            <p:nvPr/>
          </p:nvSpPr>
          <p:spPr bwMode="auto">
            <a:xfrm>
              <a:off x="4682044" y="1713730"/>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3" name="Rectangle 43"/>
            <p:cNvSpPr>
              <a:spLocks noChangeArrowheads="1"/>
            </p:cNvSpPr>
            <p:nvPr/>
          </p:nvSpPr>
          <p:spPr bwMode="auto">
            <a:xfrm>
              <a:off x="4004641" y="181050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4" name="Rectangle 44"/>
            <p:cNvSpPr>
              <a:spLocks noChangeArrowheads="1"/>
            </p:cNvSpPr>
            <p:nvPr/>
          </p:nvSpPr>
          <p:spPr bwMode="auto">
            <a:xfrm>
              <a:off x="4101412" y="181050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5" name="Rectangle 45"/>
            <p:cNvSpPr>
              <a:spLocks noChangeArrowheads="1"/>
            </p:cNvSpPr>
            <p:nvPr/>
          </p:nvSpPr>
          <p:spPr bwMode="auto">
            <a:xfrm>
              <a:off x="4198185" y="181050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6" name="Rectangle 46"/>
            <p:cNvSpPr>
              <a:spLocks noChangeArrowheads="1"/>
            </p:cNvSpPr>
            <p:nvPr/>
          </p:nvSpPr>
          <p:spPr bwMode="auto">
            <a:xfrm>
              <a:off x="4294956" y="181050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7" name="Rectangle 47"/>
            <p:cNvSpPr>
              <a:spLocks noChangeArrowheads="1"/>
            </p:cNvSpPr>
            <p:nvPr/>
          </p:nvSpPr>
          <p:spPr bwMode="auto">
            <a:xfrm>
              <a:off x="4391729" y="181050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8" name="Rectangle 48"/>
            <p:cNvSpPr>
              <a:spLocks noChangeArrowheads="1"/>
            </p:cNvSpPr>
            <p:nvPr/>
          </p:nvSpPr>
          <p:spPr bwMode="auto">
            <a:xfrm>
              <a:off x="4488500" y="181050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9" name="Rectangle 49"/>
            <p:cNvSpPr>
              <a:spLocks noChangeArrowheads="1"/>
            </p:cNvSpPr>
            <p:nvPr/>
          </p:nvSpPr>
          <p:spPr bwMode="auto">
            <a:xfrm>
              <a:off x="4585273" y="181050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0" name="Rectangle 50"/>
            <p:cNvSpPr>
              <a:spLocks noChangeArrowheads="1"/>
            </p:cNvSpPr>
            <p:nvPr/>
          </p:nvSpPr>
          <p:spPr bwMode="auto">
            <a:xfrm>
              <a:off x="4682044" y="181050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1" name="Rectangle 52"/>
            <p:cNvSpPr>
              <a:spLocks noChangeArrowheads="1"/>
            </p:cNvSpPr>
            <p:nvPr/>
          </p:nvSpPr>
          <p:spPr bwMode="auto">
            <a:xfrm>
              <a:off x="4004641" y="1907274"/>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2" name="Rectangle 53"/>
            <p:cNvSpPr>
              <a:spLocks noChangeArrowheads="1"/>
            </p:cNvSpPr>
            <p:nvPr/>
          </p:nvSpPr>
          <p:spPr bwMode="auto">
            <a:xfrm>
              <a:off x="4101412" y="1907274"/>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3" name="Rectangle 54"/>
            <p:cNvSpPr>
              <a:spLocks noChangeArrowheads="1"/>
            </p:cNvSpPr>
            <p:nvPr/>
          </p:nvSpPr>
          <p:spPr bwMode="auto">
            <a:xfrm>
              <a:off x="4198185" y="1907274"/>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4" name="Rectangle 55"/>
            <p:cNvSpPr>
              <a:spLocks noChangeArrowheads="1"/>
            </p:cNvSpPr>
            <p:nvPr/>
          </p:nvSpPr>
          <p:spPr bwMode="auto">
            <a:xfrm>
              <a:off x="4294956" y="1907274"/>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5" name="Rectangle 56"/>
            <p:cNvSpPr>
              <a:spLocks noChangeArrowheads="1"/>
            </p:cNvSpPr>
            <p:nvPr/>
          </p:nvSpPr>
          <p:spPr bwMode="auto">
            <a:xfrm>
              <a:off x="4391729" y="1907274"/>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6" name="Rectangle 57"/>
            <p:cNvSpPr>
              <a:spLocks noChangeArrowheads="1"/>
            </p:cNvSpPr>
            <p:nvPr/>
          </p:nvSpPr>
          <p:spPr bwMode="auto">
            <a:xfrm>
              <a:off x="4488500" y="1907274"/>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7" name="Rectangle 58"/>
            <p:cNvSpPr>
              <a:spLocks noChangeArrowheads="1"/>
            </p:cNvSpPr>
            <p:nvPr/>
          </p:nvSpPr>
          <p:spPr bwMode="auto">
            <a:xfrm>
              <a:off x="4585273" y="1907274"/>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8" name="Rectangle 59"/>
            <p:cNvSpPr>
              <a:spLocks noChangeArrowheads="1"/>
            </p:cNvSpPr>
            <p:nvPr/>
          </p:nvSpPr>
          <p:spPr bwMode="auto">
            <a:xfrm>
              <a:off x="4682044" y="1907274"/>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9" name="Rectangle 61"/>
            <p:cNvSpPr>
              <a:spLocks noChangeArrowheads="1"/>
            </p:cNvSpPr>
            <p:nvPr/>
          </p:nvSpPr>
          <p:spPr bwMode="auto">
            <a:xfrm>
              <a:off x="4004641" y="200404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0" name="Rectangle 62"/>
            <p:cNvSpPr>
              <a:spLocks noChangeArrowheads="1"/>
            </p:cNvSpPr>
            <p:nvPr/>
          </p:nvSpPr>
          <p:spPr bwMode="auto">
            <a:xfrm>
              <a:off x="4101412" y="200404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1" name="Rectangle 63"/>
            <p:cNvSpPr>
              <a:spLocks noChangeArrowheads="1"/>
            </p:cNvSpPr>
            <p:nvPr/>
          </p:nvSpPr>
          <p:spPr bwMode="auto">
            <a:xfrm>
              <a:off x="4198185" y="200404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2" name="Rectangle 64"/>
            <p:cNvSpPr>
              <a:spLocks noChangeArrowheads="1"/>
            </p:cNvSpPr>
            <p:nvPr/>
          </p:nvSpPr>
          <p:spPr bwMode="auto">
            <a:xfrm>
              <a:off x="4294956" y="200404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3" name="Rectangle 65"/>
            <p:cNvSpPr>
              <a:spLocks noChangeArrowheads="1"/>
            </p:cNvSpPr>
            <p:nvPr/>
          </p:nvSpPr>
          <p:spPr bwMode="auto">
            <a:xfrm>
              <a:off x="4391729" y="200404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4" name="Rectangle 66"/>
            <p:cNvSpPr>
              <a:spLocks noChangeArrowheads="1"/>
            </p:cNvSpPr>
            <p:nvPr/>
          </p:nvSpPr>
          <p:spPr bwMode="auto">
            <a:xfrm>
              <a:off x="4488500" y="200404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5" name="Rectangle 67"/>
            <p:cNvSpPr>
              <a:spLocks noChangeArrowheads="1"/>
            </p:cNvSpPr>
            <p:nvPr/>
          </p:nvSpPr>
          <p:spPr bwMode="auto">
            <a:xfrm>
              <a:off x="4585273" y="200404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6" name="Rectangle 68"/>
            <p:cNvSpPr>
              <a:spLocks noChangeArrowheads="1"/>
            </p:cNvSpPr>
            <p:nvPr/>
          </p:nvSpPr>
          <p:spPr bwMode="auto">
            <a:xfrm>
              <a:off x="4682044" y="200404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7" name="Rectangle 70"/>
            <p:cNvSpPr>
              <a:spLocks noChangeArrowheads="1"/>
            </p:cNvSpPr>
            <p:nvPr/>
          </p:nvSpPr>
          <p:spPr bwMode="auto">
            <a:xfrm>
              <a:off x="4004641" y="2100818"/>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8" name="Rectangle 71"/>
            <p:cNvSpPr>
              <a:spLocks noChangeArrowheads="1"/>
            </p:cNvSpPr>
            <p:nvPr/>
          </p:nvSpPr>
          <p:spPr bwMode="auto">
            <a:xfrm>
              <a:off x="4101412" y="2100818"/>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9" name="Rectangle 72"/>
            <p:cNvSpPr>
              <a:spLocks noChangeArrowheads="1"/>
            </p:cNvSpPr>
            <p:nvPr/>
          </p:nvSpPr>
          <p:spPr bwMode="auto">
            <a:xfrm>
              <a:off x="4198185" y="2100818"/>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0" name="Rectangle 73"/>
            <p:cNvSpPr>
              <a:spLocks noChangeArrowheads="1"/>
            </p:cNvSpPr>
            <p:nvPr/>
          </p:nvSpPr>
          <p:spPr bwMode="auto">
            <a:xfrm>
              <a:off x="4294956" y="2100818"/>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1" name="Rectangle 74"/>
            <p:cNvSpPr>
              <a:spLocks noChangeArrowheads="1"/>
            </p:cNvSpPr>
            <p:nvPr/>
          </p:nvSpPr>
          <p:spPr bwMode="auto">
            <a:xfrm>
              <a:off x="4391729" y="2100818"/>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2" name="Rectangle 75"/>
            <p:cNvSpPr>
              <a:spLocks noChangeArrowheads="1"/>
            </p:cNvSpPr>
            <p:nvPr/>
          </p:nvSpPr>
          <p:spPr bwMode="auto">
            <a:xfrm>
              <a:off x="4488500" y="2100818"/>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3" name="Rectangle 76"/>
            <p:cNvSpPr>
              <a:spLocks noChangeArrowheads="1"/>
            </p:cNvSpPr>
            <p:nvPr/>
          </p:nvSpPr>
          <p:spPr bwMode="auto">
            <a:xfrm>
              <a:off x="4585273" y="2100818"/>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4" name="Rectangle 77"/>
            <p:cNvSpPr>
              <a:spLocks noChangeArrowheads="1"/>
            </p:cNvSpPr>
            <p:nvPr/>
          </p:nvSpPr>
          <p:spPr bwMode="auto">
            <a:xfrm>
              <a:off x="4682044" y="2100818"/>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5" name="Rectangle 79"/>
            <p:cNvSpPr>
              <a:spLocks noChangeArrowheads="1"/>
            </p:cNvSpPr>
            <p:nvPr/>
          </p:nvSpPr>
          <p:spPr bwMode="auto">
            <a:xfrm>
              <a:off x="4004641" y="21975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6" name="Rectangle 80"/>
            <p:cNvSpPr>
              <a:spLocks noChangeArrowheads="1"/>
            </p:cNvSpPr>
            <p:nvPr/>
          </p:nvSpPr>
          <p:spPr bwMode="auto">
            <a:xfrm>
              <a:off x="4101412" y="21975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7" name="Rectangle 81"/>
            <p:cNvSpPr>
              <a:spLocks noChangeArrowheads="1"/>
            </p:cNvSpPr>
            <p:nvPr/>
          </p:nvSpPr>
          <p:spPr bwMode="auto">
            <a:xfrm>
              <a:off x="4198185" y="21975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8" name="Rectangle 82"/>
            <p:cNvSpPr>
              <a:spLocks noChangeArrowheads="1"/>
            </p:cNvSpPr>
            <p:nvPr/>
          </p:nvSpPr>
          <p:spPr bwMode="auto">
            <a:xfrm>
              <a:off x="4294956" y="21975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9" name="Rectangle 83"/>
            <p:cNvSpPr>
              <a:spLocks noChangeArrowheads="1"/>
            </p:cNvSpPr>
            <p:nvPr/>
          </p:nvSpPr>
          <p:spPr bwMode="auto">
            <a:xfrm>
              <a:off x="4391729" y="21975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0" name="Rectangle 84"/>
            <p:cNvSpPr>
              <a:spLocks noChangeArrowheads="1"/>
            </p:cNvSpPr>
            <p:nvPr/>
          </p:nvSpPr>
          <p:spPr bwMode="auto">
            <a:xfrm>
              <a:off x="4488500" y="21975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1" name="Rectangle 85"/>
            <p:cNvSpPr>
              <a:spLocks noChangeArrowheads="1"/>
            </p:cNvSpPr>
            <p:nvPr/>
          </p:nvSpPr>
          <p:spPr bwMode="auto">
            <a:xfrm>
              <a:off x="4585273" y="21975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2" name="Rectangle 86"/>
            <p:cNvSpPr>
              <a:spLocks noChangeArrowheads="1"/>
            </p:cNvSpPr>
            <p:nvPr/>
          </p:nvSpPr>
          <p:spPr bwMode="auto">
            <a:xfrm>
              <a:off x="4682044" y="21975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3" name="Rectangle 88"/>
            <p:cNvSpPr>
              <a:spLocks noChangeArrowheads="1"/>
            </p:cNvSpPr>
            <p:nvPr/>
          </p:nvSpPr>
          <p:spPr bwMode="auto">
            <a:xfrm>
              <a:off x="4004641" y="152138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4" name="Rectangle 89"/>
            <p:cNvSpPr>
              <a:spLocks noChangeArrowheads="1"/>
            </p:cNvSpPr>
            <p:nvPr/>
          </p:nvSpPr>
          <p:spPr bwMode="auto">
            <a:xfrm>
              <a:off x="4101412" y="152138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5" name="Rectangle 90"/>
            <p:cNvSpPr>
              <a:spLocks noChangeArrowheads="1"/>
            </p:cNvSpPr>
            <p:nvPr/>
          </p:nvSpPr>
          <p:spPr bwMode="auto">
            <a:xfrm>
              <a:off x="4198185" y="152138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6" name="Rectangle 91"/>
            <p:cNvSpPr>
              <a:spLocks noChangeArrowheads="1"/>
            </p:cNvSpPr>
            <p:nvPr/>
          </p:nvSpPr>
          <p:spPr bwMode="auto">
            <a:xfrm>
              <a:off x="4294956" y="1521381"/>
              <a:ext cx="96772" cy="96772"/>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7" name="Rectangle 95"/>
            <p:cNvSpPr>
              <a:spLocks noChangeArrowheads="1"/>
            </p:cNvSpPr>
            <p:nvPr/>
          </p:nvSpPr>
          <p:spPr bwMode="auto">
            <a:xfrm>
              <a:off x="4026145" y="3935156"/>
              <a:ext cx="65" cy="161583"/>
            </a:xfrm>
            <a:prstGeom prst="rect">
              <a:avLst/>
            </a:prstGeom>
            <a:ln/>
          </p:spPr>
          <p:style>
            <a:lnRef idx="0">
              <a:schemeClr val="accent1"/>
            </a:lnRef>
            <a:fillRef idx="3">
              <a:schemeClr val="accent1"/>
            </a:fillRef>
            <a:effectRef idx="3">
              <a:schemeClr val="accent1"/>
            </a:effectRef>
            <a:fontRef idx="minor">
              <a:schemeClr val="lt1"/>
            </a:fontRef>
          </p:style>
          <p:txBody>
            <a:bodyPr wrap="none" lIns="0" tIns="0" rIns="0" bIns="0" anchor="ctr">
              <a:spAutoFit/>
            </a:bodyPr>
            <a:lstStyle/>
            <a:p>
              <a:endParaRPr lang="en-US" sz="1050">
                <a:latin typeface="Arial" pitchFamily="34" charset="0"/>
                <a:cs typeface="Arial" pitchFamily="34" charset="0"/>
              </a:endParaRPr>
            </a:p>
          </p:txBody>
        </p:sp>
        <p:sp>
          <p:nvSpPr>
            <p:cNvPr id="88" name="Rectangle 98"/>
            <p:cNvSpPr>
              <a:spLocks noChangeArrowheads="1"/>
            </p:cNvSpPr>
            <p:nvPr/>
          </p:nvSpPr>
          <p:spPr bwMode="auto">
            <a:xfrm>
              <a:off x="4004641"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9" name="Rectangle 99"/>
            <p:cNvSpPr>
              <a:spLocks noChangeArrowheads="1"/>
            </p:cNvSpPr>
            <p:nvPr/>
          </p:nvSpPr>
          <p:spPr bwMode="auto">
            <a:xfrm>
              <a:off x="4101412"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0" name="Rectangle 100"/>
            <p:cNvSpPr>
              <a:spLocks noChangeArrowheads="1"/>
            </p:cNvSpPr>
            <p:nvPr/>
          </p:nvSpPr>
          <p:spPr bwMode="auto">
            <a:xfrm>
              <a:off x="4198185"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1" name="Rectangle 101"/>
            <p:cNvSpPr>
              <a:spLocks noChangeArrowheads="1"/>
            </p:cNvSpPr>
            <p:nvPr/>
          </p:nvSpPr>
          <p:spPr bwMode="auto">
            <a:xfrm>
              <a:off x="4294956"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2" name="Rectangle 102"/>
            <p:cNvSpPr>
              <a:spLocks noChangeArrowheads="1"/>
            </p:cNvSpPr>
            <p:nvPr/>
          </p:nvSpPr>
          <p:spPr bwMode="auto">
            <a:xfrm>
              <a:off x="4391729"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3" name="Rectangle 103"/>
            <p:cNvSpPr>
              <a:spLocks noChangeArrowheads="1"/>
            </p:cNvSpPr>
            <p:nvPr/>
          </p:nvSpPr>
          <p:spPr bwMode="auto">
            <a:xfrm>
              <a:off x="4488500"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4" name="Rectangle 104"/>
            <p:cNvSpPr>
              <a:spLocks noChangeArrowheads="1"/>
            </p:cNvSpPr>
            <p:nvPr/>
          </p:nvSpPr>
          <p:spPr bwMode="auto">
            <a:xfrm>
              <a:off x="4585273"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5" name="Rectangle 105"/>
            <p:cNvSpPr>
              <a:spLocks noChangeArrowheads="1"/>
            </p:cNvSpPr>
            <p:nvPr/>
          </p:nvSpPr>
          <p:spPr bwMode="auto">
            <a:xfrm>
              <a:off x="4682044"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6" name="Rectangle 107"/>
            <p:cNvSpPr>
              <a:spLocks noChangeArrowheads="1"/>
            </p:cNvSpPr>
            <p:nvPr/>
          </p:nvSpPr>
          <p:spPr bwMode="auto">
            <a:xfrm>
              <a:off x="4004641"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7" name="Rectangle 108"/>
            <p:cNvSpPr>
              <a:spLocks noChangeArrowheads="1"/>
            </p:cNvSpPr>
            <p:nvPr/>
          </p:nvSpPr>
          <p:spPr bwMode="auto">
            <a:xfrm>
              <a:off x="4101412"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8" name="Rectangle 109"/>
            <p:cNvSpPr>
              <a:spLocks noChangeArrowheads="1"/>
            </p:cNvSpPr>
            <p:nvPr/>
          </p:nvSpPr>
          <p:spPr bwMode="auto">
            <a:xfrm>
              <a:off x="4198185"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9" name="Rectangle 110"/>
            <p:cNvSpPr>
              <a:spLocks noChangeArrowheads="1"/>
            </p:cNvSpPr>
            <p:nvPr/>
          </p:nvSpPr>
          <p:spPr bwMode="auto">
            <a:xfrm>
              <a:off x="4294956"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0" name="Rectangle 111"/>
            <p:cNvSpPr>
              <a:spLocks noChangeArrowheads="1"/>
            </p:cNvSpPr>
            <p:nvPr/>
          </p:nvSpPr>
          <p:spPr bwMode="auto">
            <a:xfrm>
              <a:off x="4391729"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1" name="Rectangle 112"/>
            <p:cNvSpPr>
              <a:spLocks noChangeArrowheads="1"/>
            </p:cNvSpPr>
            <p:nvPr/>
          </p:nvSpPr>
          <p:spPr bwMode="auto">
            <a:xfrm>
              <a:off x="4488500"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2" name="Rectangle 113"/>
            <p:cNvSpPr>
              <a:spLocks noChangeArrowheads="1"/>
            </p:cNvSpPr>
            <p:nvPr/>
          </p:nvSpPr>
          <p:spPr bwMode="auto">
            <a:xfrm>
              <a:off x="4585273"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3" name="Rectangle 114"/>
            <p:cNvSpPr>
              <a:spLocks noChangeArrowheads="1"/>
            </p:cNvSpPr>
            <p:nvPr/>
          </p:nvSpPr>
          <p:spPr bwMode="auto">
            <a:xfrm>
              <a:off x="4682044"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4" name="Rectangle 116"/>
            <p:cNvSpPr>
              <a:spLocks noChangeArrowheads="1"/>
            </p:cNvSpPr>
            <p:nvPr/>
          </p:nvSpPr>
          <p:spPr bwMode="auto">
            <a:xfrm>
              <a:off x="4004641"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5" name="Rectangle 117"/>
            <p:cNvSpPr>
              <a:spLocks noChangeArrowheads="1"/>
            </p:cNvSpPr>
            <p:nvPr/>
          </p:nvSpPr>
          <p:spPr bwMode="auto">
            <a:xfrm>
              <a:off x="4101412"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6" name="Rectangle 118"/>
            <p:cNvSpPr>
              <a:spLocks noChangeArrowheads="1"/>
            </p:cNvSpPr>
            <p:nvPr/>
          </p:nvSpPr>
          <p:spPr bwMode="auto">
            <a:xfrm>
              <a:off x="4198185"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7" name="Rectangle 119"/>
            <p:cNvSpPr>
              <a:spLocks noChangeArrowheads="1"/>
            </p:cNvSpPr>
            <p:nvPr/>
          </p:nvSpPr>
          <p:spPr bwMode="auto">
            <a:xfrm>
              <a:off x="4294956"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8" name="Rectangle 120"/>
            <p:cNvSpPr>
              <a:spLocks noChangeArrowheads="1"/>
            </p:cNvSpPr>
            <p:nvPr/>
          </p:nvSpPr>
          <p:spPr bwMode="auto">
            <a:xfrm>
              <a:off x="4391729"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9" name="Rectangle 121"/>
            <p:cNvSpPr>
              <a:spLocks noChangeArrowheads="1"/>
            </p:cNvSpPr>
            <p:nvPr/>
          </p:nvSpPr>
          <p:spPr bwMode="auto">
            <a:xfrm>
              <a:off x="4488500"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0" name="Rectangle 122"/>
            <p:cNvSpPr>
              <a:spLocks noChangeArrowheads="1"/>
            </p:cNvSpPr>
            <p:nvPr/>
          </p:nvSpPr>
          <p:spPr bwMode="auto">
            <a:xfrm>
              <a:off x="4585273"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1" name="Rectangle 123"/>
            <p:cNvSpPr>
              <a:spLocks noChangeArrowheads="1"/>
            </p:cNvSpPr>
            <p:nvPr/>
          </p:nvSpPr>
          <p:spPr bwMode="auto">
            <a:xfrm>
              <a:off x="4682044"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2" name="Rectangle 125"/>
            <p:cNvSpPr>
              <a:spLocks noChangeArrowheads="1"/>
            </p:cNvSpPr>
            <p:nvPr/>
          </p:nvSpPr>
          <p:spPr bwMode="auto">
            <a:xfrm>
              <a:off x="4004641"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3" name="Rectangle 126"/>
            <p:cNvSpPr>
              <a:spLocks noChangeArrowheads="1"/>
            </p:cNvSpPr>
            <p:nvPr/>
          </p:nvSpPr>
          <p:spPr bwMode="auto">
            <a:xfrm>
              <a:off x="4101412"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4" name="Rectangle 127"/>
            <p:cNvSpPr>
              <a:spLocks noChangeArrowheads="1"/>
            </p:cNvSpPr>
            <p:nvPr/>
          </p:nvSpPr>
          <p:spPr bwMode="auto">
            <a:xfrm>
              <a:off x="4198185"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5" name="Rectangle 128"/>
            <p:cNvSpPr>
              <a:spLocks noChangeArrowheads="1"/>
            </p:cNvSpPr>
            <p:nvPr/>
          </p:nvSpPr>
          <p:spPr bwMode="auto">
            <a:xfrm>
              <a:off x="4294956"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6" name="Rectangle 129"/>
            <p:cNvSpPr>
              <a:spLocks noChangeArrowheads="1"/>
            </p:cNvSpPr>
            <p:nvPr/>
          </p:nvSpPr>
          <p:spPr bwMode="auto">
            <a:xfrm>
              <a:off x="4391729"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7" name="Rectangle 130"/>
            <p:cNvSpPr>
              <a:spLocks noChangeArrowheads="1"/>
            </p:cNvSpPr>
            <p:nvPr/>
          </p:nvSpPr>
          <p:spPr bwMode="auto">
            <a:xfrm>
              <a:off x="4488500"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8" name="Rectangle 131"/>
            <p:cNvSpPr>
              <a:spLocks noChangeArrowheads="1"/>
            </p:cNvSpPr>
            <p:nvPr/>
          </p:nvSpPr>
          <p:spPr bwMode="auto">
            <a:xfrm>
              <a:off x="4585273"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9" name="Rectangle 132"/>
            <p:cNvSpPr>
              <a:spLocks noChangeArrowheads="1"/>
            </p:cNvSpPr>
            <p:nvPr/>
          </p:nvSpPr>
          <p:spPr bwMode="auto">
            <a:xfrm>
              <a:off x="4682044"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0" name="Rectangle 134"/>
            <p:cNvSpPr>
              <a:spLocks noChangeArrowheads="1"/>
            </p:cNvSpPr>
            <p:nvPr/>
          </p:nvSpPr>
          <p:spPr bwMode="auto">
            <a:xfrm>
              <a:off x="4004641"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1" name="Rectangle 135"/>
            <p:cNvSpPr>
              <a:spLocks noChangeArrowheads="1"/>
            </p:cNvSpPr>
            <p:nvPr/>
          </p:nvSpPr>
          <p:spPr bwMode="auto">
            <a:xfrm>
              <a:off x="4101412"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2" name="Rectangle 136"/>
            <p:cNvSpPr>
              <a:spLocks noChangeArrowheads="1"/>
            </p:cNvSpPr>
            <p:nvPr/>
          </p:nvSpPr>
          <p:spPr bwMode="auto">
            <a:xfrm>
              <a:off x="4198185"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3" name="Rectangle 137"/>
            <p:cNvSpPr>
              <a:spLocks noChangeArrowheads="1"/>
            </p:cNvSpPr>
            <p:nvPr/>
          </p:nvSpPr>
          <p:spPr bwMode="auto">
            <a:xfrm>
              <a:off x="4294956"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4" name="Rectangle 138"/>
            <p:cNvSpPr>
              <a:spLocks noChangeArrowheads="1"/>
            </p:cNvSpPr>
            <p:nvPr/>
          </p:nvSpPr>
          <p:spPr bwMode="auto">
            <a:xfrm>
              <a:off x="4391729"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5" name="Rectangle 139"/>
            <p:cNvSpPr>
              <a:spLocks noChangeArrowheads="1"/>
            </p:cNvSpPr>
            <p:nvPr/>
          </p:nvSpPr>
          <p:spPr bwMode="auto">
            <a:xfrm>
              <a:off x="4488500"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6" name="Rectangle 140"/>
            <p:cNvSpPr>
              <a:spLocks noChangeArrowheads="1"/>
            </p:cNvSpPr>
            <p:nvPr/>
          </p:nvSpPr>
          <p:spPr bwMode="auto">
            <a:xfrm>
              <a:off x="4585273"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7" name="Rectangle 141"/>
            <p:cNvSpPr>
              <a:spLocks noChangeArrowheads="1"/>
            </p:cNvSpPr>
            <p:nvPr/>
          </p:nvSpPr>
          <p:spPr bwMode="auto">
            <a:xfrm>
              <a:off x="4682044"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8" name="Rectangle 143"/>
            <p:cNvSpPr>
              <a:spLocks noChangeArrowheads="1"/>
            </p:cNvSpPr>
            <p:nvPr/>
          </p:nvSpPr>
          <p:spPr bwMode="auto">
            <a:xfrm>
              <a:off x="4004641"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9" name="Rectangle 144"/>
            <p:cNvSpPr>
              <a:spLocks noChangeArrowheads="1"/>
            </p:cNvSpPr>
            <p:nvPr/>
          </p:nvSpPr>
          <p:spPr bwMode="auto">
            <a:xfrm>
              <a:off x="4101412"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0" name="Rectangle 145"/>
            <p:cNvSpPr>
              <a:spLocks noChangeArrowheads="1"/>
            </p:cNvSpPr>
            <p:nvPr/>
          </p:nvSpPr>
          <p:spPr bwMode="auto">
            <a:xfrm>
              <a:off x="4198185"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1" name="Rectangle 146"/>
            <p:cNvSpPr>
              <a:spLocks noChangeArrowheads="1"/>
            </p:cNvSpPr>
            <p:nvPr/>
          </p:nvSpPr>
          <p:spPr bwMode="auto">
            <a:xfrm>
              <a:off x="4294956"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2" name="Rectangle 147"/>
            <p:cNvSpPr>
              <a:spLocks noChangeArrowheads="1"/>
            </p:cNvSpPr>
            <p:nvPr/>
          </p:nvSpPr>
          <p:spPr bwMode="auto">
            <a:xfrm>
              <a:off x="4391729"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3" name="Rectangle 148"/>
            <p:cNvSpPr>
              <a:spLocks noChangeArrowheads="1"/>
            </p:cNvSpPr>
            <p:nvPr/>
          </p:nvSpPr>
          <p:spPr bwMode="auto">
            <a:xfrm>
              <a:off x="4488500"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4" name="Rectangle 149"/>
            <p:cNvSpPr>
              <a:spLocks noChangeArrowheads="1"/>
            </p:cNvSpPr>
            <p:nvPr/>
          </p:nvSpPr>
          <p:spPr bwMode="auto">
            <a:xfrm>
              <a:off x="4585273"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5" name="Rectangle 150"/>
            <p:cNvSpPr>
              <a:spLocks noChangeArrowheads="1"/>
            </p:cNvSpPr>
            <p:nvPr/>
          </p:nvSpPr>
          <p:spPr bwMode="auto">
            <a:xfrm>
              <a:off x="4682044"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6" name="Rectangle 152"/>
            <p:cNvSpPr>
              <a:spLocks noChangeArrowheads="1"/>
            </p:cNvSpPr>
            <p:nvPr/>
          </p:nvSpPr>
          <p:spPr bwMode="auto">
            <a:xfrm>
              <a:off x="4004641"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7" name="Rectangle 153"/>
            <p:cNvSpPr>
              <a:spLocks noChangeArrowheads="1"/>
            </p:cNvSpPr>
            <p:nvPr/>
          </p:nvSpPr>
          <p:spPr bwMode="auto">
            <a:xfrm>
              <a:off x="4101412"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8" name="Rectangle 154"/>
            <p:cNvSpPr>
              <a:spLocks noChangeArrowheads="1"/>
            </p:cNvSpPr>
            <p:nvPr/>
          </p:nvSpPr>
          <p:spPr bwMode="auto">
            <a:xfrm>
              <a:off x="4198185"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9" name="Rectangle 155"/>
            <p:cNvSpPr>
              <a:spLocks noChangeArrowheads="1"/>
            </p:cNvSpPr>
            <p:nvPr/>
          </p:nvSpPr>
          <p:spPr bwMode="auto">
            <a:xfrm>
              <a:off x="4294956"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0" name="Rectangle 156"/>
            <p:cNvSpPr>
              <a:spLocks noChangeArrowheads="1"/>
            </p:cNvSpPr>
            <p:nvPr/>
          </p:nvSpPr>
          <p:spPr bwMode="auto">
            <a:xfrm>
              <a:off x="4391729"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1" name="Rectangle 157"/>
            <p:cNvSpPr>
              <a:spLocks noChangeArrowheads="1"/>
            </p:cNvSpPr>
            <p:nvPr/>
          </p:nvSpPr>
          <p:spPr bwMode="auto">
            <a:xfrm>
              <a:off x="4488500"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2" name="Rectangle 158"/>
            <p:cNvSpPr>
              <a:spLocks noChangeArrowheads="1"/>
            </p:cNvSpPr>
            <p:nvPr/>
          </p:nvSpPr>
          <p:spPr bwMode="auto">
            <a:xfrm>
              <a:off x="4585273"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3" name="Rectangle 159"/>
            <p:cNvSpPr>
              <a:spLocks noChangeArrowheads="1"/>
            </p:cNvSpPr>
            <p:nvPr/>
          </p:nvSpPr>
          <p:spPr bwMode="auto">
            <a:xfrm>
              <a:off x="4682044"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4" name="Rectangle 161"/>
            <p:cNvSpPr>
              <a:spLocks noChangeArrowheads="1"/>
            </p:cNvSpPr>
            <p:nvPr/>
          </p:nvSpPr>
          <p:spPr bwMode="auto">
            <a:xfrm>
              <a:off x="4004641"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5" name="Rectangle 162"/>
            <p:cNvSpPr>
              <a:spLocks noChangeArrowheads="1"/>
            </p:cNvSpPr>
            <p:nvPr/>
          </p:nvSpPr>
          <p:spPr bwMode="auto">
            <a:xfrm>
              <a:off x="4101412"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6" name="Rectangle 163"/>
            <p:cNvSpPr>
              <a:spLocks noChangeArrowheads="1"/>
            </p:cNvSpPr>
            <p:nvPr/>
          </p:nvSpPr>
          <p:spPr bwMode="auto">
            <a:xfrm>
              <a:off x="4198185"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7" name="Rectangle 164"/>
            <p:cNvSpPr>
              <a:spLocks noChangeArrowheads="1"/>
            </p:cNvSpPr>
            <p:nvPr/>
          </p:nvSpPr>
          <p:spPr bwMode="auto">
            <a:xfrm>
              <a:off x="4294956"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8" name="Rectangle 165"/>
            <p:cNvSpPr>
              <a:spLocks noChangeArrowheads="1"/>
            </p:cNvSpPr>
            <p:nvPr/>
          </p:nvSpPr>
          <p:spPr bwMode="auto">
            <a:xfrm>
              <a:off x="4391729"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9" name="Rectangle 166"/>
            <p:cNvSpPr>
              <a:spLocks noChangeArrowheads="1"/>
            </p:cNvSpPr>
            <p:nvPr/>
          </p:nvSpPr>
          <p:spPr bwMode="auto">
            <a:xfrm>
              <a:off x="4488500"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50" name="Rectangle 167"/>
            <p:cNvSpPr>
              <a:spLocks noChangeArrowheads="1"/>
            </p:cNvSpPr>
            <p:nvPr/>
          </p:nvSpPr>
          <p:spPr bwMode="auto">
            <a:xfrm>
              <a:off x="4585273"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51" name="Rectangle 168"/>
            <p:cNvSpPr>
              <a:spLocks noChangeArrowheads="1"/>
            </p:cNvSpPr>
            <p:nvPr/>
          </p:nvSpPr>
          <p:spPr bwMode="auto">
            <a:xfrm>
              <a:off x="4682044"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52" name="Rectangle 170"/>
            <p:cNvSpPr>
              <a:spLocks noChangeArrowheads="1"/>
            </p:cNvSpPr>
            <p:nvPr/>
          </p:nvSpPr>
          <p:spPr bwMode="auto">
            <a:xfrm>
              <a:off x="4004641"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53" name="Rectangle 171"/>
            <p:cNvSpPr>
              <a:spLocks noChangeArrowheads="1"/>
            </p:cNvSpPr>
            <p:nvPr/>
          </p:nvSpPr>
          <p:spPr bwMode="auto">
            <a:xfrm>
              <a:off x="4101412"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54" name="Rectangle 172"/>
            <p:cNvSpPr>
              <a:spLocks noChangeArrowheads="1"/>
            </p:cNvSpPr>
            <p:nvPr/>
          </p:nvSpPr>
          <p:spPr bwMode="auto">
            <a:xfrm>
              <a:off x="4198185"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55" name="Rectangle 173"/>
            <p:cNvSpPr>
              <a:spLocks noChangeArrowheads="1"/>
            </p:cNvSpPr>
            <p:nvPr/>
          </p:nvSpPr>
          <p:spPr bwMode="auto">
            <a:xfrm>
              <a:off x="4294956"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56" name="Rectangle 174"/>
            <p:cNvSpPr>
              <a:spLocks noChangeArrowheads="1"/>
            </p:cNvSpPr>
            <p:nvPr/>
          </p:nvSpPr>
          <p:spPr bwMode="auto">
            <a:xfrm>
              <a:off x="4391729"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57" name="Rectangle 175"/>
            <p:cNvSpPr>
              <a:spLocks noChangeArrowheads="1"/>
            </p:cNvSpPr>
            <p:nvPr/>
          </p:nvSpPr>
          <p:spPr bwMode="auto">
            <a:xfrm>
              <a:off x="4488500"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58" name="Rectangle 176"/>
            <p:cNvSpPr>
              <a:spLocks noChangeArrowheads="1"/>
            </p:cNvSpPr>
            <p:nvPr/>
          </p:nvSpPr>
          <p:spPr bwMode="auto">
            <a:xfrm>
              <a:off x="4585273"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59" name="Rectangle 177"/>
            <p:cNvSpPr>
              <a:spLocks noChangeArrowheads="1"/>
            </p:cNvSpPr>
            <p:nvPr/>
          </p:nvSpPr>
          <p:spPr bwMode="auto">
            <a:xfrm>
              <a:off x="4682044" y="359301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60" name="Rectangle 179"/>
            <p:cNvSpPr>
              <a:spLocks noChangeArrowheads="1"/>
            </p:cNvSpPr>
            <p:nvPr/>
          </p:nvSpPr>
          <p:spPr bwMode="auto">
            <a:xfrm>
              <a:off x="4004641"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61" name="Rectangle 180"/>
            <p:cNvSpPr>
              <a:spLocks noChangeArrowheads="1"/>
            </p:cNvSpPr>
            <p:nvPr/>
          </p:nvSpPr>
          <p:spPr bwMode="auto">
            <a:xfrm>
              <a:off x="4101412"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62" name="Rectangle 181"/>
            <p:cNvSpPr>
              <a:spLocks noChangeArrowheads="1"/>
            </p:cNvSpPr>
            <p:nvPr/>
          </p:nvSpPr>
          <p:spPr bwMode="auto">
            <a:xfrm>
              <a:off x="4198185"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63" name="Rectangle 182"/>
            <p:cNvSpPr>
              <a:spLocks noChangeArrowheads="1"/>
            </p:cNvSpPr>
            <p:nvPr/>
          </p:nvSpPr>
          <p:spPr bwMode="auto">
            <a:xfrm>
              <a:off x="4294956"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64" name="Rectangle 183"/>
            <p:cNvSpPr>
              <a:spLocks noChangeArrowheads="1"/>
            </p:cNvSpPr>
            <p:nvPr/>
          </p:nvSpPr>
          <p:spPr bwMode="auto">
            <a:xfrm>
              <a:off x="4391729"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65" name="Rectangle 184"/>
            <p:cNvSpPr>
              <a:spLocks noChangeArrowheads="1"/>
            </p:cNvSpPr>
            <p:nvPr/>
          </p:nvSpPr>
          <p:spPr bwMode="auto">
            <a:xfrm>
              <a:off x="4488500"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66" name="Rectangle 185"/>
            <p:cNvSpPr>
              <a:spLocks noChangeArrowheads="1"/>
            </p:cNvSpPr>
            <p:nvPr/>
          </p:nvSpPr>
          <p:spPr bwMode="auto">
            <a:xfrm>
              <a:off x="4585273"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67" name="Rectangle 186"/>
            <p:cNvSpPr>
              <a:spLocks noChangeArrowheads="1"/>
            </p:cNvSpPr>
            <p:nvPr/>
          </p:nvSpPr>
          <p:spPr bwMode="auto">
            <a:xfrm>
              <a:off x="4682044" y="368979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68" name="Rectangle 188"/>
            <p:cNvSpPr>
              <a:spLocks noChangeArrowheads="1"/>
            </p:cNvSpPr>
            <p:nvPr/>
          </p:nvSpPr>
          <p:spPr bwMode="auto">
            <a:xfrm>
              <a:off x="4004641"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69" name="Rectangle 189"/>
            <p:cNvSpPr>
              <a:spLocks noChangeArrowheads="1"/>
            </p:cNvSpPr>
            <p:nvPr/>
          </p:nvSpPr>
          <p:spPr bwMode="auto">
            <a:xfrm>
              <a:off x="4101412"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70" name="Rectangle 190"/>
            <p:cNvSpPr>
              <a:spLocks noChangeArrowheads="1"/>
            </p:cNvSpPr>
            <p:nvPr/>
          </p:nvSpPr>
          <p:spPr bwMode="auto">
            <a:xfrm>
              <a:off x="4198185"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71" name="Rectangle 191"/>
            <p:cNvSpPr>
              <a:spLocks noChangeArrowheads="1"/>
            </p:cNvSpPr>
            <p:nvPr/>
          </p:nvSpPr>
          <p:spPr bwMode="auto">
            <a:xfrm>
              <a:off x="4294956"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72" name="Rectangle 192"/>
            <p:cNvSpPr>
              <a:spLocks noChangeArrowheads="1"/>
            </p:cNvSpPr>
            <p:nvPr/>
          </p:nvSpPr>
          <p:spPr bwMode="auto">
            <a:xfrm>
              <a:off x="4391729"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73" name="Rectangle 193"/>
            <p:cNvSpPr>
              <a:spLocks noChangeArrowheads="1"/>
            </p:cNvSpPr>
            <p:nvPr/>
          </p:nvSpPr>
          <p:spPr bwMode="auto">
            <a:xfrm>
              <a:off x="4488500"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74" name="Rectangle 194"/>
            <p:cNvSpPr>
              <a:spLocks noChangeArrowheads="1"/>
            </p:cNvSpPr>
            <p:nvPr/>
          </p:nvSpPr>
          <p:spPr bwMode="auto">
            <a:xfrm>
              <a:off x="4585273"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75" name="Rectangle 195"/>
            <p:cNvSpPr>
              <a:spLocks noChangeArrowheads="1"/>
            </p:cNvSpPr>
            <p:nvPr/>
          </p:nvSpPr>
          <p:spPr bwMode="auto">
            <a:xfrm>
              <a:off x="4682044" y="378656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76" name="Rectangle 197"/>
            <p:cNvSpPr>
              <a:spLocks noChangeArrowheads="1"/>
            </p:cNvSpPr>
            <p:nvPr/>
          </p:nvSpPr>
          <p:spPr bwMode="auto">
            <a:xfrm>
              <a:off x="4004641"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77" name="Rectangle 198"/>
            <p:cNvSpPr>
              <a:spLocks noChangeArrowheads="1"/>
            </p:cNvSpPr>
            <p:nvPr/>
          </p:nvSpPr>
          <p:spPr bwMode="auto">
            <a:xfrm>
              <a:off x="4101412"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78" name="Rectangle 199"/>
            <p:cNvSpPr>
              <a:spLocks noChangeArrowheads="1"/>
            </p:cNvSpPr>
            <p:nvPr/>
          </p:nvSpPr>
          <p:spPr bwMode="auto">
            <a:xfrm>
              <a:off x="4198185"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79" name="Rectangle 200"/>
            <p:cNvSpPr>
              <a:spLocks noChangeArrowheads="1"/>
            </p:cNvSpPr>
            <p:nvPr/>
          </p:nvSpPr>
          <p:spPr bwMode="auto">
            <a:xfrm>
              <a:off x="4294956"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80" name="Rectangle 201"/>
            <p:cNvSpPr>
              <a:spLocks noChangeArrowheads="1"/>
            </p:cNvSpPr>
            <p:nvPr/>
          </p:nvSpPr>
          <p:spPr bwMode="auto">
            <a:xfrm>
              <a:off x="4391729"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81" name="Rectangle 202"/>
            <p:cNvSpPr>
              <a:spLocks noChangeArrowheads="1"/>
            </p:cNvSpPr>
            <p:nvPr/>
          </p:nvSpPr>
          <p:spPr bwMode="auto">
            <a:xfrm>
              <a:off x="4488500"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82" name="Rectangle 203"/>
            <p:cNvSpPr>
              <a:spLocks noChangeArrowheads="1"/>
            </p:cNvSpPr>
            <p:nvPr/>
          </p:nvSpPr>
          <p:spPr bwMode="auto">
            <a:xfrm>
              <a:off x="4585273"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83" name="Rectangle 204"/>
            <p:cNvSpPr>
              <a:spLocks noChangeArrowheads="1"/>
            </p:cNvSpPr>
            <p:nvPr/>
          </p:nvSpPr>
          <p:spPr bwMode="auto">
            <a:xfrm>
              <a:off x="4682044" y="3883335"/>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84" name="Rectangle 206"/>
            <p:cNvSpPr>
              <a:spLocks noChangeArrowheads="1"/>
            </p:cNvSpPr>
            <p:nvPr/>
          </p:nvSpPr>
          <p:spPr bwMode="auto">
            <a:xfrm>
              <a:off x="4004641"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85" name="Rectangle 207"/>
            <p:cNvSpPr>
              <a:spLocks noChangeArrowheads="1"/>
            </p:cNvSpPr>
            <p:nvPr/>
          </p:nvSpPr>
          <p:spPr bwMode="auto">
            <a:xfrm>
              <a:off x="4101412"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86" name="Rectangle 208"/>
            <p:cNvSpPr>
              <a:spLocks noChangeArrowheads="1"/>
            </p:cNvSpPr>
            <p:nvPr/>
          </p:nvSpPr>
          <p:spPr bwMode="auto">
            <a:xfrm>
              <a:off x="4198185"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87" name="Rectangle 209"/>
            <p:cNvSpPr>
              <a:spLocks noChangeArrowheads="1"/>
            </p:cNvSpPr>
            <p:nvPr/>
          </p:nvSpPr>
          <p:spPr bwMode="auto">
            <a:xfrm>
              <a:off x="4294956"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88" name="Rectangle 210"/>
            <p:cNvSpPr>
              <a:spLocks noChangeArrowheads="1"/>
            </p:cNvSpPr>
            <p:nvPr/>
          </p:nvSpPr>
          <p:spPr bwMode="auto">
            <a:xfrm>
              <a:off x="4391729"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89" name="Rectangle 211"/>
            <p:cNvSpPr>
              <a:spLocks noChangeArrowheads="1"/>
            </p:cNvSpPr>
            <p:nvPr/>
          </p:nvSpPr>
          <p:spPr bwMode="auto">
            <a:xfrm>
              <a:off x="4488500"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90" name="Rectangle 212"/>
            <p:cNvSpPr>
              <a:spLocks noChangeArrowheads="1"/>
            </p:cNvSpPr>
            <p:nvPr/>
          </p:nvSpPr>
          <p:spPr bwMode="auto">
            <a:xfrm>
              <a:off x="4585273"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91" name="Rectangle 213"/>
            <p:cNvSpPr>
              <a:spLocks noChangeArrowheads="1"/>
            </p:cNvSpPr>
            <p:nvPr/>
          </p:nvSpPr>
          <p:spPr bwMode="auto">
            <a:xfrm>
              <a:off x="4682044" y="3980107"/>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92" name="Rectangle 215"/>
            <p:cNvSpPr>
              <a:spLocks noChangeArrowheads="1"/>
            </p:cNvSpPr>
            <p:nvPr/>
          </p:nvSpPr>
          <p:spPr bwMode="auto">
            <a:xfrm>
              <a:off x="4004641"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93" name="Rectangle 216"/>
            <p:cNvSpPr>
              <a:spLocks noChangeArrowheads="1"/>
            </p:cNvSpPr>
            <p:nvPr/>
          </p:nvSpPr>
          <p:spPr bwMode="auto">
            <a:xfrm>
              <a:off x="4101412"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94" name="Rectangle 217"/>
            <p:cNvSpPr>
              <a:spLocks noChangeArrowheads="1"/>
            </p:cNvSpPr>
            <p:nvPr/>
          </p:nvSpPr>
          <p:spPr bwMode="auto">
            <a:xfrm>
              <a:off x="4198185"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95" name="Rectangle 218"/>
            <p:cNvSpPr>
              <a:spLocks noChangeArrowheads="1"/>
            </p:cNvSpPr>
            <p:nvPr/>
          </p:nvSpPr>
          <p:spPr bwMode="auto">
            <a:xfrm>
              <a:off x="4294956"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96" name="Rectangle 219"/>
            <p:cNvSpPr>
              <a:spLocks noChangeArrowheads="1"/>
            </p:cNvSpPr>
            <p:nvPr/>
          </p:nvSpPr>
          <p:spPr bwMode="auto">
            <a:xfrm>
              <a:off x="4391729"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97" name="Rectangle 220"/>
            <p:cNvSpPr>
              <a:spLocks noChangeArrowheads="1"/>
            </p:cNvSpPr>
            <p:nvPr/>
          </p:nvSpPr>
          <p:spPr bwMode="auto">
            <a:xfrm>
              <a:off x="4488500"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98" name="Rectangle 221"/>
            <p:cNvSpPr>
              <a:spLocks noChangeArrowheads="1"/>
            </p:cNvSpPr>
            <p:nvPr/>
          </p:nvSpPr>
          <p:spPr bwMode="auto">
            <a:xfrm>
              <a:off x="4585273"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99" name="Rectangle 222"/>
            <p:cNvSpPr>
              <a:spLocks noChangeArrowheads="1"/>
            </p:cNvSpPr>
            <p:nvPr/>
          </p:nvSpPr>
          <p:spPr bwMode="auto">
            <a:xfrm>
              <a:off x="4682044" y="4076879"/>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00" name="Rectangle 224"/>
            <p:cNvSpPr>
              <a:spLocks noChangeArrowheads="1"/>
            </p:cNvSpPr>
            <p:nvPr/>
          </p:nvSpPr>
          <p:spPr bwMode="auto">
            <a:xfrm>
              <a:off x="4004641"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01" name="Rectangle 225"/>
            <p:cNvSpPr>
              <a:spLocks noChangeArrowheads="1"/>
            </p:cNvSpPr>
            <p:nvPr/>
          </p:nvSpPr>
          <p:spPr bwMode="auto">
            <a:xfrm>
              <a:off x="4101412"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02" name="Rectangle 226"/>
            <p:cNvSpPr>
              <a:spLocks noChangeArrowheads="1"/>
            </p:cNvSpPr>
            <p:nvPr/>
          </p:nvSpPr>
          <p:spPr bwMode="auto">
            <a:xfrm>
              <a:off x="4198185"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03" name="Rectangle 227"/>
            <p:cNvSpPr>
              <a:spLocks noChangeArrowheads="1"/>
            </p:cNvSpPr>
            <p:nvPr/>
          </p:nvSpPr>
          <p:spPr bwMode="auto">
            <a:xfrm>
              <a:off x="4294956"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04" name="Rectangle 228"/>
            <p:cNvSpPr>
              <a:spLocks noChangeArrowheads="1"/>
            </p:cNvSpPr>
            <p:nvPr/>
          </p:nvSpPr>
          <p:spPr bwMode="auto">
            <a:xfrm>
              <a:off x="4391729"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05" name="Rectangle 229"/>
            <p:cNvSpPr>
              <a:spLocks noChangeArrowheads="1"/>
            </p:cNvSpPr>
            <p:nvPr/>
          </p:nvSpPr>
          <p:spPr bwMode="auto">
            <a:xfrm>
              <a:off x="4488500"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06" name="Rectangle 230"/>
            <p:cNvSpPr>
              <a:spLocks noChangeArrowheads="1"/>
            </p:cNvSpPr>
            <p:nvPr/>
          </p:nvSpPr>
          <p:spPr bwMode="auto">
            <a:xfrm>
              <a:off x="4585273"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07" name="Rectangle 231"/>
            <p:cNvSpPr>
              <a:spLocks noChangeArrowheads="1"/>
            </p:cNvSpPr>
            <p:nvPr/>
          </p:nvSpPr>
          <p:spPr bwMode="auto">
            <a:xfrm>
              <a:off x="4682044" y="4173651"/>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08" name="Rectangle 233"/>
            <p:cNvSpPr>
              <a:spLocks noChangeArrowheads="1"/>
            </p:cNvSpPr>
            <p:nvPr/>
          </p:nvSpPr>
          <p:spPr bwMode="auto">
            <a:xfrm>
              <a:off x="4004641"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09" name="Rectangle 234"/>
            <p:cNvSpPr>
              <a:spLocks noChangeArrowheads="1"/>
            </p:cNvSpPr>
            <p:nvPr/>
          </p:nvSpPr>
          <p:spPr bwMode="auto">
            <a:xfrm>
              <a:off x="4101412"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10" name="Rectangle 235"/>
            <p:cNvSpPr>
              <a:spLocks noChangeArrowheads="1"/>
            </p:cNvSpPr>
            <p:nvPr/>
          </p:nvSpPr>
          <p:spPr bwMode="auto">
            <a:xfrm>
              <a:off x="4198185"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11" name="Rectangle 236"/>
            <p:cNvSpPr>
              <a:spLocks noChangeArrowheads="1"/>
            </p:cNvSpPr>
            <p:nvPr/>
          </p:nvSpPr>
          <p:spPr bwMode="auto">
            <a:xfrm>
              <a:off x="4294956"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12" name="Rectangle 237"/>
            <p:cNvSpPr>
              <a:spLocks noChangeArrowheads="1"/>
            </p:cNvSpPr>
            <p:nvPr/>
          </p:nvSpPr>
          <p:spPr bwMode="auto">
            <a:xfrm>
              <a:off x="4391729"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13" name="Rectangle 238"/>
            <p:cNvSpPr>
              <a:spLocks noChangeArrowheads="1"/>
            </p:cNvSpPr>
            <p:nvPr/>
          </p:nvSpPr>
          <p:spPr bwMode="auto">
            <a:xfrm>
              <a:off x="4488500"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14" name="Rectangle 239"/>
            <p:cNvSpPr>
              <a:spLocks noChangeArrowheads="1"/>
            </p:cNvSpPr>
            <p:nvPr/>
          </p:nvSpPr>
          <p:spPr bwMode="auto">
            <a:xfrm>
              <a:off x="4585273"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15" name="Rectangle 240"/>
            <p:cNvSpPr>
              <a:spLocks noChangeArrowheads="1"/>
            </p:cNvSpPr>
            <p:nvPr/>
          </p:nvSpPr>
          <p:spPr bwMode="auto">
            <a:xfrm>
              <a:off x="4682044" y="4270423"/>
              <a:ext cx="96772" cy="9677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16" name="Text Box 242"/>
            <p:cNvSpPr txBox="1">
              <a:spLocks noChangeArrowheads="1"/>
            </p:cNvSpPr>
            <p:nvPr/>
          </p:nvSpPr>
          <p:spPr bwMode="auto">
            <a:xfrm>
              <a:off x="3296469" y="3357367"/>
              <a:ext cx="2192908" cy="12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204"/>
                  </a:solidFill>
                  <a:latin typeface="Arial" pitchFamily="34" charset="0"/>
                  <a:cs typeface="Arial" pitchFamily="34" charset="0"/>
                </a:rPr>
                <a:t>Данные, не обнаруженные в кэш-памяти</a:t>
              </a:r>
            </a:p>
          </p:txBody>
        </p:sp>
        <p:sp>
          <p:nvSpPr>
            <p:cNvPr id="217" name="Text Box 243"/>
            <p:cNvSpPr txBox="1">
              <a:spLocks noChangeArrowheads="1"/>
            </p:cNvSpPr>
            <p:nvPr/>
          </p:nvSpPr>
          <p:spPr bwMode="auto">
            <a:xfrm>
              <a:off x="2374380" y="895350"/>
              <a:ext cx="4164923" cy="153888"/>
            </a:xfrm>
            <a:prstGeom prst="rect">
              <a:avLst/>
            </a:prstGeom>
            <a:solidFill>
              <a:schemeClr val="bg1"/>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1000" b="1" i="0" dirty="0">
                  <a:solidFill>
                    <a:srgbClr val="000308"/>
                  </a:solidFill>
                  <a:latin typeface="Arial" pitchFamily="34" charset="0"/>
                  <a:cs typeface="Arial" pitchFamily="34" charset="0"/>
                </a:rPr>
                <a:t>Данные, обнаруженные в кэш-памяти = попадание при чтении</a:t>
              </a:r>
            </a:p>
          </p:txBody>
        </p:sp>
        <p:sp>
          <p:nvSpPr>
            <p:cNvPr id="218" name="Text Box 244"/>
            <p:cNvSpPr txBox="1">
              <a:spLocks noChangeArrowheads="1"/>
            </p:cNvSpPr>
            <p:nvPr/>
          </p:nvSpPr>
          <p:spPr bwMode="auto">
            <a:xfrm>
              <a:off x="2426910" y="2917189"/>
              <a:ext cx="4136069" cy="153888"/>
            </a:xfrm>
            <a:prstGeom prst="rect">
              <a:avLst/>
            </a:prstGeom>
            <a:solidFill>
              <a:schemeClr val="bg1"/>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1000" b="1" i="0" dirty="0">
                  <a:solidFill>
                    <a:srgbClr val="000308"/>
                  </a:solidFill>
                  <a:latin typeface="Arial" pitchFamily="34" charset="0"/>
                  <a:cs typeface="Arial" pitchFamily="34" charset="0"/>
                </a:rPr>
                <a:t>Данные, не обнаруженные в кэш-памяти = промах при чтении</a:t>
              </a:r>
            </a:p>
          </p:txBody>
        </p:sp>
        <p:cxnSp>
          <p:nvCxnSpPr>
            <p:cNvPr id="219" name="Straight Arrow Connector 218"/>
            <p:cNvCxnSpPr/>
            <p:nvPr/>
          </p:nvCxnSpPr>
          <p:spPr>
            <a:xfrm>
              <a:off x="3050061" y="1824674"/>
              <a:ext cx="51611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0" name="Text Box 12"/>
            <p:cNvSpPr txBox="1">
              <a:spLocks noChangeArrowheads="1"/>
            </p:cNvSpPr>
            <p:nvPr/>
          </p:nvSpPr>
          <p:spPr bwMode="auto">
            <a:xfrm>
              <a:off x="2438400" y="3691700"/>
              <a:ext cx="1668626" cy="12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000"/>
                  </a:solidFill>
                  <a:latin typeface="Arial" pitchFamily="34" charset="0"/>
                  <a:cs typeface="Arial" pitchFamily="34" charset="0"/>
                </a:rPr>
                <a:t>1. Запрос на чтение</a:t>
              </a:r>
            </a:p>
          </p:txBody>
        </p:sp>
        <p:cxnSp>
          <p:nvCxnSpPr>
            <p:cNvPr id="221" name="Straight Arrow Connector 220"/>
            <p:cNvCxnSpPr/>
            <p:nvPr/>
          </p:nvCxnSpPr>
          <p:spPr>
            <a:xfrm>
              <a:off x="3053786" y="3883670"/>
              <a:ext cx="51611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2" name="Text Box 12"/>
            <p:cNvSpPr txBox="1">
              <a:spLocks noChangeArrowheads="1"/>
            </p:cNvSpPr>
            <p:nvPr/>
          </p:nvSpPr>
          <p:spPr bwMode="auto">
            <a:xfrm>
              <a:off x="2723763" y="2109256"/>
              <a:ext cx="1168714" cy="4985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000"/>
                  </a:solidFill>
                  <a:latin typeface="Arial" pitchFamily="34" charset="0"/>
                  <a:cs typeface="Arial" pitchFamily="34" charset="0"/>
                </a:rPr>
                <a:t>2. Данные, отправленные в вычислительную систему</a:t>
              </a:r>
            </a:p>
          </p:txBody>
        </p:sp>
        <p:cxnSp>
          <p:nvCxnSpPr>
            <p:cNvPr id="223" name="Straight Arrow Connector 222"/>
            <p:cNvCxnSpPr/>
            <p:nvPr/>
          </p:nvCxnSpPr>
          <p:spPr>
            <a:xfrm flipH="1">
              <a:off x="3050061" y="2028320"/>
              <a:ext cx="51611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4" name="Text Box 12"/>
            <p:cNvSpPr txBox="1">
              <a:spLocks noChangeArrowheads="1"/>
            </p:cNvSpPr>
            <p:nvPr/>
          </p:nvSpPr>
          <p:spPr bwMode="auto">
            <a:xfrm>
              <a:off x="2727488" y="4195301"/>
              <a:ext cx="1168714" cy="4985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000"/>
                  </a:solidFill>
                  <a:latin typeface="Arial" pitchFamily="34" charset="0"/>
                  <a:cs typeface="Arial" pitchFamily="34" charset="0"/>
                </a:rPr>
                <a:t>4. Данные, отправленные в вычислительную систему</a:t>
              </a:r>
            </a:p>
          </p:txBody>
        </p:sp>
        <p:cxnSp>
          <p:nvCxnSpPr>
            <p:cNvPr id="225" name="Straight Arrow Connector 224"/>
            <p:cNvCxnSpPr/>
            <p:nvPr/>
          </p:nvCxnSpPr>
          <p:spPr>
            <a:xfrm flipH="1">
              <a:off x="3053786" y="4114365"/>
              <a:ext cx="51611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6" name="Text Box 12"/>
            <p:cNvSpPr txBox="1">
              <a:spLocks noChangeArrowheads="1"/>
            </p:cNvSpPr>
            <p:nvPr/>
          </p:nvSpPr>
          <p:spPr bwMode="auto">
            <a:xfrm>
              <a:off x="4924616" y="3697081"/>
              <a:ext cx="1103806" cy="12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000"/>
                  </a:solidFill>
                  <a:latin typeface="Arial" pitchFamily="34" charset="0"/>
                  <a:cs typeface="Arial" pitchFamily="34" charset="0"/>
                </a:rPr>
                <a:t>2. Запрос на чтение</a:t>
              </a:r>
            </a:p>
          </p:txBody>
        </p:sp>
        <p:cxnSp>
          <p:nvCxnSpPr>
            <p:cNvPr id="227" name="Straight Arrow Connector 226"/>
            <p:cNvCxnSpPr/>
            <p:nvPr/>
          </p:nvCxnSpPr>
          <p:spPr>
            <a:xfrm>
              <a:off x="5218460" y="3881278"/>
              <a:ext cx="51611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8" name="Text Box 12"/>
            <p:cNvSpPr txBox="1">
              <a:spLocks noChangeArrowheads="1"/>
            </p:cNvSpPr>
            <p:nvPr/>
          </p:nvSpPr>
          <p:spPr bwMode="auto">
            <a:xfrm>
              <a:off x="4734612" y="4210061"/>
              <a:ext cx="1483814" cy="3739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000"/>
                  </a:solidFill>
                  <a:latin typeface="Arial" pitchFamily="34" charset="0"/>
                  <a:cs typeface="Arial" pitchFamily="34" charset="0"/>
                </a:rPr>
                <a:t>3. Данные,</a:t>
              </a:r>
              <a:br>
                <a:rPr lang="en-US" sz="900" b="0" i="0" dirty="0">
                  <a:solidFill>
                    <a:srgbClr val="FF00FF"/>
                  </a:solidFill>
                  <a:latin typeface="Arial" pitchFamily="34" charset="0"/>
                  <a:cs typeface="Arial" pitchFamily="34" charset="0"/>
                </a:rPr>
              </a:br>
              <a:r>
                <a:rPr lang="ru-RU" sz="900" b="0" i="0" dirty="0">
                  <a:solidFill>
                    <a:srgbClr val="000000"/>
                  </a:solidFill>
                  <a:latin typeface="Arial" pitchFamily="34" charset="0"/>
                  <a:cs typeface="Arial" pitchFamily="34" charset="0"/>
                </a:rPr>
                <a:t>скопированные в </a:t>
              </a:r>
              <a:br>
                <a:rPr lang="en-US" sz="900" b="0" i="0" dirty="0">
                  <a:solidFill>
                    <a:srgbClr val="FF00FF"/>
                  </a:solidFill>
                  <a:latin typeface="Arial" pitchFamily="34" charset="0"/>
                  <a:cs typeface="Arial" pitchFamily="34" charset="0"/>
                </a:rPr>
              </a:br>
              <a:r>
                <a:rPr lang="ru-RU" sz="900" b="0" i="0" dirty="0">
                  <a:solidFill>
                    <a:srgbClr val="000000"/>
                  </a:solidFill>
                  <a:latin typeface="Arial" pitchFamily="34" charset="0"/>
                  <a:cs typeface="Arial" pitchFamily="34" charset="0"/>
                </a:rPr>
                <a:t>кэш-память</a:t>
              </a:r>
            </a:p>
          </p:txBody>
        </p:sp>
        <p:cxnSp>
          <p:nvCxnSpPr>
            <p:cNvPr id="229" name="Straight Arrow Connector 228"/>
            <p:cNvCxnSpPr/>
            <p:nvPr/>
          </p:nvCxnSpPr>
          <p:spPr>
            <a:xfrm flipH="1">
              <a:off x="5218460" y="4119600"/>
              <a:ext cx="51611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0" name="AutoShape 13"/>
            <p:cNvSpPr>
              <a:spLocks noChangeArrowheads="1"/>
            </p:cNvSpPr>
            <p:nvPr/>
          </p:nvSpPr>
          <p:spPr bwMode="auto">
            <a:xfrm>
              <a:off x="6213671" y="1212792"/>
              <a:ext cx="1044182" cy="1406181"/>
            </a:xfrm>
            <a:prstGeom prst="roundRect">
              <a:avLst>
                <a:gd name="adj" fmla="val 11657"/>
              </a:avLst>
            </a:prstGeom>
            <a:ln>
              <a:headEnd/>
              <a:tailEnd type="none" w="lg" len="med"/>
            </a:ln>
          </p:spPr>
          <p:style>
            <a:lnRef idx="1">
              <a:schemeClr val="dk1"/>
            </a:lnRef>
            <a:fillRef idx="1002">
              <a:schemeClr val="lt1"/>
            </a:fillRef>
            <a:effectRef idx="1">
              <a:schemeClr val="dk1"/>
            </a:effectRef>
            <a:fontRef idx="minor">
              <a:schemeClr val="dk1"/>
            </a:fontRef>
          </p:style>
          <p:txBody>
            <a:bodyPr wrap="none" lIns="0" tIns="0" rIns="0" bIns="0" anchor="ctr"/>
            <a:lstStyle/>
            <a:p>
              <a:endParaRPr lang="en-US" sz="1050">
                <a:solidFill>
                  <a:srgbClr val="000000"/>
                </a:solidFill>
                <a:latin typeface="Arial" pitchFamily="34" charset="0"/>
                <a:cs typeface="Arial" pitchFamily="34" charset="0"/>
              </a:endParaRPr>
            </a:p>
          </p:txBody>
        </p:sp>
        <p:sp>
          <p:nvSpPr>
            <p:cNvPr id="236" name="AutoShape 13"/>
            <p:cNvSpPr>
              <a:spLocks noChangeArrowheads="1"/>
            </p:cNvSpPr>
            <p:nvPr/>
          </p:nvSpPr>
          <p:spPr bwMode="auto">
            <a:xfrm>
              <a:off x="6218674" y="3290389"/>
              <a:ext cx="1044182" cy="1406181"/>
            </a:xfrm>
            <a:prstGeom prst="roundRect">
              <a:avLst>
                <a:gd name="adj" fmla="val 11657"/>
              </a:avLst>
            </a:prstGeom>
            <a:ln>
              <a:headEnd/>
              <a:tailEnd type="none" w="lg" len="med"/>
            </a:ln>
          </p:spPr>
          <p:style>
            <a:lnRef idx="1">
              <a:schemeClr val="dk1"/>
            </a:lnRef>
            <a:fillRef idx="1002">
              <a:schemeClr val="lt1"/>
            </a:fillRef>
            <a:effectRef idx="1">
              <a:schemeClr val="dk1"/>
            </a:effectRef>
            <a:fontRef idx="minor">
              <a:schemeClr val="dk1"/>
            </a:fontRef>
          </p:style>
          <p:txBody>
            <a:bodyPr wrap="none" lIns="0" tIns="0" rIns="0" bIns="0" anchor="ctr"/>
            <a:lstStyle/>
            <a:p>
              <a:endParaRPr lang="en-US" sz="1050">
                <a:solidFill>
                  <a:srgbClr val="000000"/>
                </a:solidFill>
                <a:latin typeface="Arial" pitchFamily="34" charset="0"/>
                <a:cs typeface="Arial" pitchFamily="34" charset="0"/>
              </a:endParaRPr>
            </a:p>
          </p:txBody>
        </p:sp>
        <p:pic>
          <p:nvPicPr>
            <p:cNvPr id="6" name="Picture 28" descr="C:\Users\patils1\Desktop\2013 Projects\CIS v2\CIS Slide Deck_Based on Book\Colored Graphics\Physical Compute System With Hypervisor.png"/>
            <p:cNvPicPr>
              <a:picLocks noChangeAspect="1" noChangeArrowheads="1"/>
            </p:cNvPicPr>
            <p:nvPr/>
          </p:nvPicPr>
          <p:blipFill>
            <a:blip r:embed="rId4"/>
            <a:stretch>
              <a:fillRect/>
            </a:stretch>
          </p:blipFill>
          <p:spPr bwMode="auto">
            <a:xfrm>
              <a:off x="1733052" y="1360249"/>
              <a:ext cx="931886" cy="906701"/>
            </a:xfrm>
            <a:prstGeom prst="rect">
              <a:avLst/>
            </a:prstGeom>
            <a:noFill/>
            <a:extLst>
              <a:ext uri="{909E8E84-426E-40DD-AFC4-6F175D3DCCD1}">
                <a14:hiddenFill xmlns:a14="http://schemas.microsoft.com/office/drawing/2010/main">
                  <a:solidFill>
                    <a:srgbClr val="FFFFFF"/>
                  </a:solidFill>
                </a14:hiddenFill>
              </a:ext>
            </a:extLst>
          </p:spPr>
        </p:pic>
        <p:pic>
          <p:nvPicPr>
            <p:cNvPr id="246" name="Picture 28" descr="C:\Users\patils1\Desktop\2013 Projects\CIS v2\CIS Slide Deck_Based on Book\Colored Graphics\Physical Compute System With Hypervisor.png"/>
            <p:cNvPicPr>
              <a:picLocks noChangeAspect="1" noChangeArrowheads="1"/>
            </p:cNvPicPr>
            <p:nvPr/>
          </p:nvPicPr>
          <p:blipFill>
            <a:blip r:embed="rId4"/>
            <a:stretch>
              <a:fillRect/>
            </a:stretch>
          </p:blipFill>
          <p:spPr bwMode="auto">
            <a:xfrm>
              <a:off x="1733052" y="3430319"/>
              <a:ext cx="931886" cy="906701"/>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p:cNvGrpSpPr/>
            <p:nvPr/>
          </p:nvGrpSpPr>
          <p:grpSpPr>
            <a:xfrm>
              <a:off x="6274504" y="1296533"/>
              <a:ext cx="954139" cy="1257965"/>
              <a:chOff x="7214586" y="2231588"/>
              <a:chExt cx="1079407" cy="1423122"/>
            </a:xfrm>
          </p:grpSpPr>
          <p:pic>
            <p:nvPicPr>
              <p:cNvPr id="7"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4586" y="2231588"/>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9853" y="2442784"/>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5120" y="2653980"/>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0387" y="2865176"/>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5655" y="3076372"/>
                <a:ext cx="578338" cy="57833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47" name="Group 246"/>
            <p:cNvGrpSpPr/>
            <p:nvPr/>
          </p:nvGrpSpPr>
          <p:grpSpPr>
            <a:xfrm>
              <a:off x="6258692" y="3366430"/>
              <a:ext cx="954139" cy="1257965"/>
              <a:chOff x="7214586" y="2231588"/>
              <a:chExt cx="1079407" cy="1423122"/>
            </a:xfrm>
          </p:grpSpPr>
          <p:pic>
            <p:nvPicPr>
              <p:cNvPr id="248"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4586" y="2231588"/>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249"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9853" y="2442784"/>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250"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5120" y="2653980"/>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251"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0387" y="2865176"/>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252"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5655" y="3076372"/>
                <a:ext cx="578338" cy="578338"/>
              </a:xfrm>
              <a:prstGeom prst="rect">
                <a:avLst/>
              </a:prstGeom>
              <a:noFill/>
              <a:extLst>
                <a:ext uri="{909E8E84-426E-40DD-AFC4-6F175D3DCCD1}">
                  <a14:hiddenFill xmlns:a14="http://schemas.microsoft.com/office/drawing/2010/main">
                    <a:solidFill>
                      <a:srgbClr val="FFFFFF"/>
                    </a:solidFill>
                  </a14:hiddenFill>
                </a:ext>
              </a:extLst>
            </p:spPr>
          </p:pic>
        </p:grpSp>
        <p:sp>
          <p:nvSpPr>
            <p:cNvPr id="253" name="Oval 387"/>
            <p:cNvSpPr>
              <a:spLocks noChangeArrowheads="1"/>
            </p:cNvSpPr>
            <p:nvPr/>
          </p:nvSpPr>
          <p:spPr bwMode="auto">
            <a:xfrm>
              <a:off x="6814208" y="4228511"/>
              <a:ext cx="172039" cy="172039"/>
            </a:xfrm>
            <a:prstGeom prst="ellipse">
              <a:avLst/>
            </a:prstGeom>
            <a:gradFill>
              <a:gsLst>
                <a:gs pos="0">
                  <a:schemeClr val="accent6"/>
                </a:gs>
                <a:gs pos="100000">
                  <a:srgbClr val="0099FF">
                    <a:gamma/>
                    <a:tint val="98824"/>
                    <a:invGamma/>
                    <a:alpha val="10001"/>
                  </a:srgbClr>
                </a:gs>
              </a:gsLst>
              <a:path path="shape">
                <a:fillToRect l="50000" t="50000" r="50000" b="50000"/>
              </a:path>
            </a:gradFill>
            <a:ln>
              <a:noFill/>
            </a:ln>
            <a:effectLst/>
          </p:spPr>
          <p:txBody>
            <a:bodyPr wrap="none" lIns="0" tIns="0" rIns="0" bIns="0" anchor="ctr"/>
            <a:lstStyle/>
            <a:p>
              <a:endParaRPr lang="en-US" sz="1050">
                <a:solidFill>
                  <a:schemeClr val="accent6"/>
                </a:solidFill>
                <a:latin typeface="Arial" pitchFamily="34" charset="0"/>
                <a:cs typeface="Arial" pitchFamily="34" charset="0"/>
              </a:endParaRPr>
            </a:p>
          </p:txBody>
        </p:sp>
      </p:grpSp>
      <p:sp>
        <p:nvSpPr>
          <p:cNvPr id="240" name="TextBox 239"/>
          <p:cNvSpPr txBox="1"/>
          <p:nvPr/>
        </p:nvSpPr>
        <p:spPr>
          <a:xfrm>
            <a:off x="1771650" y="1743075"/>
            <a:ext cx="990600" cy="230832"/>
          </a:xfrm>
          <a:prstGeom prst="rect">
            <a:avLst/>
          </a:prstGeom>
          <a:noFill/>
        </p:spPr>
        <p:txBody>
          <a:bodyPr wrap="square" rtlCol="0">
            <a:spAutoFit/>
          </a:bodyPr>
          <a:lstStyle/>
          <a:p>
            <a:r>
              <a:rPr lang="ru-RU" sz="900" b="1" i="0" dirty="0">
                <a:solidFill>
                  <a:srgbClr val="000000"/>
                </a:solidFill>
                <a:latin typeface="Arial" pitchFamily="34" charset="0"/>
                <a:cs typeface="Arial" pitchFamily="34" charset="0"/>
              </a:rPr>
              <a:t>Гипервизор</a:t>
            </a:r>
          </a:p>
        </p:txBody>
      </p:sp>
      <p:sp>
        <p:nvSpPr>
          <p:cNvPr id="241" name="TextBox 240"/>
          <p:cNvSpPr txBox="1"/>
          <p:nvPr/>
        </p:nvSpPr>
        <p:spPr>
          <a:xfrm>
            <a:off x="1771650" y="3810000"/>
            <a:ext cx="990600" cy="230832"/>
          </a:xfrm>
          <a:prstGeom prst="rect">
            <a:avLst/>
          </a:prstGeom>
          <a:noFill/>
        </p:spPr>
        <p:txBody>
          <a:bodyPr wrap="square" rtlCol="0">
            <a:spAutoFit/>
          </a:bodyPr>
          <a:lstStyle/>
          <a:p>
            <a:r>
              <a:rPr lang="ru-RU" sz="900" b="1" i="0" dirty="0">
                <a:solidFill>
                  <a:srgbClr val="000000"/>
                </a:solidFill>
                <a:latin typeface="Arial" pitchFamily="34" charset="0"/>
                <a:cs typeface="Arial" pitchFamily="34" charset="0"/>
              </a:rPr>
              <a:t>Гипервизор</a:t>
            </a:r>
          </a:p>
        </p:txBody>
      </p:sp>
      <p:sp>
        <p:nvSpPr>
          <p:cNvPr id="242" name="TextBox 241"/>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506386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Операция записи с использованием кэш-памяти</a:t>
            </a:r>
          </a:p>
        </p:txBody>
      </p:sp>
      <p:grpSp>
        <p:nvGrpSpPr>
          <p:cNvPr id="3" name="Group 2"/>
          <p:cNvGrpSpPr/>
          <p:nvPr/>
        </p:nvGrpSpPr>
        <p:grpSpPr>
          <a:xfrm>
            <a:off x="1676400" y="804462"/>
            <a:ext cx="5620886" cy="4129488"/>
            <a:chOff x="1676400" y="804462"/>
            <a:chExt cx="5620886" cy="4129488"/>
          </a:xfrm>
        </p:grpSpPr>
        <p:sp>
          <p:nvSpPr>
            <p:cNvPr id="8" name="Line 4"/>
            <p:cNvSpPr>
              <a:spLocks noChangeShapeType="1"/>
            </p:cNvSpPr>
            <p:nvPr/>
          </p:nvSpPr>
          <p:spPr bwMode="auto">
            <a:xfrm>
              <a:off x="2096359" y="3982068"/>
              <a:ext cx="4128289"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lIns="0" tIns="0" rIns="0" bIns="0"/>
            <a:lstStyle/>
            <a:p>
              <a:endParaRPr lang="en-US" sz="1050">
                <a:latin typeface="Arial" pitchFamily="34" charset="0"/>
                <a:cs typeface="Arial" pitchFamily="34" charset="0"/>
              </a:endParaRPr>
            </a:p>
          </p:txBody>
        </p:sp>
        <p:sp>
          <p:nvSpPr>
            <p:cNvPr id="171" name="AutoShape 13"/>
            <p:cNvSpPr>
              <a:spLocks noChangeArrowheads="1"/>
            </p:cNvSpPr>
            <p:nvPr/>
          </p:nvSpPr>
          <p:spPr bwMode="auto">
            <a:xfrm>
              <a:off x="6106103" y="3269324"/>
              <a:ext cx="1066114" cy="1435716"/>
            </a:xfrm>
            <a:prstGeom prst="roundRect">
              <a:avLst>
                <a:gd name="adj" fmla="val 11657"/>
              </a:avLst>
            </a:prstGeom>
            <a:ln>
              <a:headEnd/>
              <a:tailEnd type="none" w="lg" len="med"/>
            </a:ln>
          </p:spPr>
          <p:style>
            <a:lnRef idx="1">
              <a:schemeClr val="dk1"/>
            </a:lnRef>
            <a:fillRef idx="1002">
              <a:schemeClr val="lt1"/>
            </a:fillRef>
            <a:effectRef idx="1">
              <a:schemeClr val="dk1"/>
            </a:effectRef>
            <a:fontRef idx="minor">
              <a:schemeClr val="dk1"/>
            </a:fontRef>
          </p:style>
          <p:txBody>
            <a:bodyPr wrap="none" lIns="0" tIns="0" rIns="0" bIns="0" anchor="ctr"/>
            <a:lstStyle/>
            <a:p>
              <a:endParaRPr lang="en-US" sz="1050">
                <a:solidFill>
                  <a:srgbClr val="000000"/>
                </a:solidFill>
                <a:latin typeface="Arial" pitchFamily="34" charset="0"/>
                <a:cs typeface="Arial" pitchFamily="34" charset="0"/>
              </a:endParaRPr>
            </a:p>
          </p:txBody>
        </p:sp>
        <p:grpSp>
          <p:nvGrpSpPr>
            <p:cNvPr id="194" name="Group 193"/>
            <p:cNvGrpSpPr/>
            <p:nvPr/>
          </p:nvGrpSpPr>
          <p:grpSpPr>
            <a:xfrm>
              <a:off x="6166965" y="3358199"/>
              <a:ext cx="954139" cy="1257965"/>
              <a:chOff x="6319365" y="1322411"/>
              <a:chExt cx="954139" cy="1257965"/>
            </a:xfrm>
          </p:grpSpPr>
          <p:pic>
            <p:nvPicPr>
              <p:cNvPr id="189"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9365" y="1322411"/>
                <a:ext cx="511220" cy="511220"/>
              </a:xfrm>
              <a:prstGeom prst="rect">
                <a:avLst/>
              </a:prstGeom>
              <a:noFill/>
              <a:extLst>
                <a:ext uri="{909E8E84-426E-40DD-AFC4-6F175D3DCCD1}">
                  <a14:hiddenFill xmlns:a14="http://schemas.microsoft.com/office/drawing/2010/main">
                    <a:solidFill>
                      <a:srgbClr val="FFFFFF"/>
                    </a:solidFill>
                  </a14:hiddenFill>
                </a:ext>
              </a:extLst>
            </p:spPr>
          </p:pic>
          <p:pic>
            <p:nvPicPr>
              <p:cNvPr id="190"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0094" y="1509097"/>
                <a:ext cx="511220" cy="511220"/>
              </a:xfrm>
              <a:prstGeom prst="rect">
                <a:avLst/>
              </a:prstGeom>
              <a:noFill/>
              <a:extLst>
                <a:ext uri="{909E8E84-426E-40DD-AFC4-6F175D3DCCD1}">
                  <a14:hiddenFill xmlns:a14="http://schemas.microsoft.com/office/drawing/2010/main">
                    <a:solidFill>
                      <a:srgbClr val="FFFFFF"/>
                    </a:solidFill>
                  </a14:hiddenFill>
                </a:ext>
              </a:extLst>
            </p:spPr>
          </p:pic>
          <p:pic>
            <p:nvPicPr>
              <p:cNvPr id="191"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0824" y="1695783"/>
                <a:ext cx="511220" cy="511220"/>
              </a:xfrm>
              <a:prstGeom prst="rect">
                <a:avLst/>
              </a:prstGeom>
              <a:noFill/>
              <a:extLst>
                <a:ext uri="{909E8E84-426E-40DD-AFC4-6F175D3DCCD1}">
                  <a14:hiddenFill xmlns:a14="http://schemas.microsoft.com/office/drawing/2010/main">
                    <a:solidFill>
                      <a:srgbClr val="FFFFFF"/>
                    </a:solidFill>
                  </a14:hiddenFill>
                </a:ext>
              </a:extLst>
            </p:spPr>
          </p:pic>
          <p:pic>
            <p:nvPicPr>
              <p:cNvPr id="192"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1553" y="1882469"/>
                <a:ext cx="511220" cy="511220"/>
              </a:xfrm>
              <a:prstGeom prst="rect">
                <a:avLst/>
              </a:prstGeom>
              <a:noFill/>
              <a:extLst>
                <a:ext uri="{909E8E84-426E-40DD-AFC4-6F175D3DCCD1}">
                  <a14:hiddenFill xmlns:a14="http://schemas.microsoft.com/office/drawing/2010/main">
                    <a:solidFill>
                      <a:srgbClr val="FFFFFF"/>
                    </a:solidFill>
                  </a14:hiddenFill>
                </a:ext>
              </a:extLst>
            </p:spPr>
          </p:pic>
          <p:pic>
            <p:nvPicPr>
              <p:cNvPr id="193"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284" y="2069156"/>
                <a:ext cx="511220" cy="511220"/>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Line 7"/>
            <p:cNvSpPr>
              <a:spLocks noChangeShapeType="1"/>
            </p:cNvSpPr>
            <p:nvPr/>
          </p:nvSpPr>
          <p:spPr bwMode="auto">
            <a:xfrm>
              <a:off x="2096359" y="1892533"/>
              <a:ext cx="4128289"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lIns="0" tIns="0" rIns="0" bIns="0"/>
            <a:lstStyle/>
            <a:p>
              <a:endParaRPr lang="en-US" sz="1050">
                <a:latin typeface="Arial" pitchFamily="34" charset="0"/>
                <a:cs typeface="Arial" pitchFamily="34" charset="0"/>
              </a:endParaRPr>
            </a:p>
          </p:txBody>
        </p:sp>
        <p:sp>
          <p:nvSpPr>
            <p:cNvPr id="164" name="AutoShape 13"/>
            <p:cNvSpPr>
              <a:spLocks noChangeArrowheads="1"/>
            </p:cNvSpPr>
            <p:nvPr/>
          </p:nvSpPr>
          <p:spPr bwMode="auto">
            <a:xfrm>
              <a:off x="6104413" y="1173453"/>
              <a:ext cx="1066114" cy="1435716"/>
            </a:xfrm>
            <a:prstGeom prst="roundRect">
              <a:avLst>
                <a:gd name="adj" fmla="val 11657"/>
              </a:avLst>
            </a:prstGeom>
            <a:ln>
              <a:headEnd/>
              <a:tailEnd type="none" w="lg" len="med"/>
            </a:ln>
          </p:spPr>
          <p:style>
            <a:lnRef idx="1">
              <a:schemeClr val="dk1"/>
            </a:lnRef>
            <a:fillRef idx="1002">
              <a:schemeClr val="lt1"/>
            </a:fillRef>
            <a:effectRef idx="1">
              <a:schemeClr val="dk1"/>
            </a:effectRef>
            <a:fontRef idx="minor">
              <a:schemeClr val="dk1"/>
            </a:fontRef>
          </p:style>
          <p:txBody>
            <a:bodyPr wrap="none" lIns="0" tIns="0" rIns="0" bIns="0" anchor="ctr"/>
            <a:lstStyle/>
            <a:p>
              <a:endParaRPr lang="en-US" sz="1050">
                <a:solidFill>
                  <a:srgbClr val="000000"/>
                </a:solidFill>
                <a:latin typeface="Arial" pitchFamily="34" charset="0"/>
                <a:cs typeface="Arial" pitchFamily="34" charset="0"/>
              </a:endParaRPr>
            </a:p>
          </p:txBody>
        </p:sp>
        <p:pic>
          <p:nvPicPr>
            <p:cNvPr id="184"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6965" y="1281295"/>
              <a:ext cx="511220" cy="511220"/>
            </a:xfrm>
            <a:prstGeom prst="rect">
              <a:avLst/>
            </a:prstGeom>
            <a:noFill/>
            <a:extLst>
              <a:ext uri="{909E8E84-426E-40DD-AFC4-6F175D3DCCD1}">
                <a14:hiddenFill xmlns:a14="http://schemas.microsoft.com/office/drawing/2010/main">
                  <a:solidFill>
                    <a:srgbClr val="FFFFFF"/>
                  </a:solidFill>
                </a14:hiddenFill>
              </a:ext>
            </a:extLst>
          </p:spPr>
        </p:pic>
        <p:pic>
          <p:nvPicPr>
            <p:cNvPr id="185"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7694" y="1467981"/>
              <a:ext cx="511220" cy="511220"/>
            </a:xfrm>
            <a:prstGeom prst="rect">
              <a:avLst/>
            </a:prstGeom>
            <a:noFill/>
            <a:extLst>
              <a:ext uri="{909E8E84-426E-40DD-AFC4-6F175D3DCCD1}">
                <a14:hiddenFill xmlns:a14="http://schemas.microsoft.com/office/drawing/2010/main">
                  <a:solidFill>
                    <a:srgbClr val="FFFFFF"/>
                  </a:solidFill>
                </a14:hiddenFill>
              </a:ext>
            </a:extLst>
          </p:spPr>
        </p:pic>
        <p:pic>
          <p:nvPicPr>
            <p:cNvPr id="186"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8424" y="1654667"/>
              <a:ext cx="511220" cy="511220"/>
            </a:xfrm>
            <a:prstGeom prst="rect">
              <a:avLst/>
            </a:prstGeom>
            <a:noFill/>
            <a:extLst>
              <a:ext uri="{909E8E84-426E-40DD-AFC4-6F175D3DCCD1}">
                <a14:hiddenFill xmlns:a14="http://schemas.microsoft.com/office/drawing/2010/main">
                  <a:solidFill>
                    <a:srgbClr val="FFFFFF"/>
                  </a:solidFill>
                </a14:hiddenFill>
              </a:ext>
            </a:extLst>
          </p:spPr>
        </p:pic>
        <p:pic>
          <p:nvPicPr>
            <p:cNvPr id="187"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9153" y="1841353"/>
              <a:ext cx="511220" cy="511220"/>
            </a:xfrm>
            <a:prstGeom prst="rect">
              <a:avLst/>
            </a:prstGeom>
            <a:noFill/>
            <a:extLst>
              <a:ext uri="{909E8E84-426E-40DD-AFC4-6F175D3DCCD1}">
                <a14:hiddenFill xmlns:a14="http://schemas.microsoft.com/office/drawing/2010/main">
                  <a:solidFill>
                    <a:srgbClr val="FFFFFF"/>
                  </a:solidFill>
                </a14:hiddenFill>
              </a:ext>
            </a:extLst>
          </p:spPr>
        </p:pic>
        <p:pic>
          <p:nvPicPr>
            <p:cNvPr id="188"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9884" y="2028040"/>
              <a:ext cx="511220" cy="511220"/>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2"/>
            <p:cNvSpPr>
              <a:spLocks noChangeArrowheads="1"/>
            </p:cNvSpPr>
            <p:nvPr/>
          </p:nvSpPr>
          <p:spPr bwMode="auto">
            <a:xfrm>
              <a:off x="1676400" y="2996461"/>
              <a:ext cx="5620886" cy="1937489"/>
            </a:xfrm>
            <a:prstGeom prst="roundRect">
              <a:avLst>
                <a:gd name="adj" fmla="val 9931"/>
              </a:avLst>
            </a:prstGeom>
            <a:noFill/>
            <a:ln w="12700" algn="ctr">
              <a:solidFill>
                <a:srgbClr val="000814"/>
              </a:solidFill>
              <a:prstDash val="dash"/>
              <a:round/>
              <a:headEnd/>
              <a:tailEnd/>
            </a:ln>
            <a:effectLst/>
          </p:spPr>
          <p:txBody>
            <a:bodyPr wrap="none" lIns="0" tIns="0" rIns="0" bIns="0" anchor="ctr"/>
            <a:lstStyle/>
            <a:p>
              <a:endParaRPr lang="en-US" sz="1050">
                <a:latin typeface="Arial" pitchFamily="34" charset="0"/>
                <a:cs typeface="Arial" pitchFamily="34" charset="0"/>
              </a:endParaRPr>
            </a:p>
          </p:txBody>
        </p:sp>
        <p:sp>
          <p:nvSpPr>
            <p:cNvPr id="7" name="AutoShape 3"/>
            <p:cNvSpPr>
              <a:spLocks noChangeArrowheads="1"/>
            </p:cNvSpPr>
            <p:nvPr/>
          </p:nvSpPr>
          <p:spPr bwMode="auto">
            <a:xfrm>
              <a:off x="1676400" y="906926"/>
              <a:ext cx="5620886" cy="1941148"/>
            </a:xfrm>
            <a:prstGeom prst="roundRect">
              <a:avLst>
                <a:gd name="adj" fmla="val 9931"/>
              </a:avLst>
            </a:prstGeom>
            <a:noFill/>
            <a:ln w="12700" algn="ctr">
              <a:solidFill>
                <a:srgbClr val="000814"/>
              </a:solidFill>
              <a:prstDash val="dash"/>
              <a:round/>
              <a:headEnd/>
              <a:tailEnd/>
            </a:ln>
            <a:effectLst/>
          </p:spPr>
          <p:txBody>
            <a:bodyPr wrap="none" lIns="0" tIns="0" rIns="0" bIns="0" anchor="ctr"/>
            <a:lstStyle/>
            <a:p>
              <a:endParaRPr lang="en-US" sz="1050">
                <a:latin typeface="Arial" pitchFamily="34" charset="0"/>
                <a:cs typeface="Arial" pitchFamily="34" charset="0"/>
              </a:endParaRPr>
            </a:p>
          </p:txBody>
        </p:sp>
        <p:sp>
          <p:nvSpPr>
            <p:cNvPr id="10" name="Text Box 10"/>
            <p:cNvSpPr txBox="1">
              <a:spLocks noChangeArrowheads="1"/>
            </p:cNvSpPr>
            <p:nvPr/>
          </p:nvSpPr>
          <p:spPr bwMode="auto">
            <a:xfrm>
              <a:off x="2946037" y="804462"/>
              <a:ext cx="2768963" cy="184666"/>
            </a:xfrm>
            <a:prstGeom prst="rect">
              <a:avLst/>
            </a:prstGeom>
            <a:solidFill>
              <a:schemeClr val="bg1"/>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1200" b="1" i="0" dirty="0">
                  <a:solidFill>
                    <a:srgbClr val="000308"/>
                  </a:solidFill>
                  <a:latin typeface="Arial" pitchFamily="34" charset="0"/>
                  <a:cs typeface="Arial" pitchFamily="34" charset="0"/>
                </a:rPr>
                <a:t>Кэш-память со сквозной записью</a:t>
              </a:r>
            </a:p>
          </p:txBody>
        </p:sp>
        <p:sp>
          <p:nvSpPr>
            <p:cNvPr id="11" name="Text Box 11"/>
            <p:cNvSpPr txBox="1">
              <a:spLocks noChangeArrowheads="1"/>
            </p:cNvSpPr>
            <p:nvPr/>
          </p:nvSpPr>
          <p:spPr bwMode="auto">
            <a:xfrm>
              <a:off x="3020480" y="2905728"/>
              <a:ext cx="2694520" cy="184666"/>
            </a:xfrm>
            <a:prstGeom prst="rect">
              <a:avLst/>
            </a:prstGeom>
            <a:solidFill>
              <a:schemeClr val="bg1"/>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1200" b="1" i="0" dirty="0">
                  <a:solidFill>
                    <a:srgbClr val="000308"/>
                  </a:solidFill>
                  <a:latin typeface="Arial" pitchFamily="34" charset="0"/>
                  <a:cs typeface="Arial" pitchFamily="34" charset="0"/>
                </a:rPr>
                <a:t>Кэш-память с обратной записью</a:t>
              </a:r>
            </a:p>
          </p:txBody>
        </p:sp>
        <p:sp>
          <p:nvSpPr>
            <p:cNvPr id="12" name="Text Box 23"/>
            <p:cNvSpPr txBox="1">
              <a:spLocks noChangeArrowheads="1"/>
            </p:cNvSpPr>
            <p:nvPr/>
          </p:nvSpPr>
          <p:spPr bwMode="auto">
            <a:xfrm>
              <a:off x="3972251" y="1300924"/>
              <a:ext cx="641202" cy="12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204"/>
                  </a:solidFill>
                  <a:latin typeface="Arial" pitchFamily="34" charset="0"/>
                  <a:cs typeface="Arial" pitchFamily="34" charset="0"/>
                </a:rPr>
                <a:t>Кэш-память</a:t>
              </a:r>
            </a:p>
          </p:txBody>
        </p:sp>
        <p:sp>
          <p:nvSpPr>
            <p:cNvPr id="13" name="Rectangle 24"/>
            <p:cNvSpPr>
              <a:spLocks noChangeArrowheads="1"/>
            </p:cNvSpPr>
            <p:nvPr/>
          </p:nvSpPr>
          <p:spPr bwMode="auto">
            <a:xfrm>
              <a:off x="3918371" y="1837356"/>
              <a:ext cx="65" cy="161583"/>
            </a:xfrm>
            <a:prstGeom prst="rect">
              <a:avLst/>
            </a:prstGeom>
            <a:ln/>
          </p:spPr>
          <p:style>
            <a:lnRef idx="0">
              <a:schemeClr val="accent1"/>
            </a:lnRef>
            <a:fillRef idx="3">
              <a:schemeClr val="accent1"/>
            </a:fillRef>
            <a:effectRef idx="3">
              <a:schemeClr val="accent1"/>
            </a:effectRef>
            <a:fontRef idx="minor">
              <a:schemeClr val="lt1"/>
            </a:fontRef>
          </p:style>
          <p:txBody>
            <a:bodyPr wrap="none" lIns="0" tIns="0" rIns="0" bIns="0" anchor="ctr">
              <a:spAutoFit/>
            </a:bodyPr>
            <a:lstStyle/>
            <a:p>
              <a:endParaRPr lang="en-US" sz="1050">
                <a:latin typeface="Arial" pitchFamily="34" charset="0"/>
                <a:cs typeface="Arial" pitchFamily="34" charset="0"/>
              </a:endParaRPr>
            </a:p>
          </p:txBody>
        </p:sp>
        <p:sp>
          <p:nvSpPr>
            <p:cNvPr id="14" name="Rectangle 27"/>
            <p:cNvSpPr>
              <a:spLocks noChangeArrowheads="1"/>
            </p:cNvSpPr>
            <p:nvPr/>
          </p:nvSpPr>
          <p:spPr bwMode="auto">
            <a:xfrm>
              <a:off x="3896415" y="1486336"/>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5" name="Rectangle 28"/>
            <p:cNvSpPr>
              <a:spLocks noChangeArrowheads="1"/>
            </p:cNvSpPr>
            <p:nvPr/>
          </p:nvSpPr>
          <p:spPr bwMode="auto">
            <a:xfrm>
              <a:off x="3995219" y="1486336"/>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6" name="Rectangle 29"/>
            <p:cNvSpPr>
              <a:spLocks noChangeArrowheads="1"/>
            </p:cNvSpPr>
            <p:nvPr/>
          </p:nvSpPr>
          <p:spPr bwMode="auto">
            <a:xfrm>
              <a:off x="4094024" y="1486336"/>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7" name="Rectangle 30"/>
            <p:cNvSpPr>
              <a:spLocks noChangeArrowheads="1"/>
            </p:cNvSpPr>
            <p:nvPr/>
          </p:nvSpPr>
          <p:spPr bwMode="auto">
            <a:xfrm>
              <a:off x="4192828" y="1486336"/>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8" name="Rectangle 31"/>
            <p:cNvSpPr>
              <a:spLocks noChangeArrowheads="1"/>
            </p:cNvSpPr>
            <p:nvPr/>
          </p:nvSpPr>
          <p:spPr bwMode="auto">
            <a:xfrm>
              <a:off x="4291633" y="1486336"/>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9" name="Rectangle 32"/>
            <p:cNvSpPr>
              <a:spLocks noChangeArrowheads="1"/>
            </p:cNvSpPr>
            <p:nvPr/>
          </p:nvSpPr>
          <p:spPr bwMode="auto">
            <a:xfrm>
              <a:off x="4390438" y="1486336"/>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0" name="Rectangle 33"/>
            <p:cNvSpPr>
              <a:spLocks noChangeArrowheads="1"/>
            </p:cNvSpPr>
            <p:nvPr/>
          </p:nvSpPr>
          <p:spPr bwMode="auto">
            <a:xfrm>
              <a:off x="4489243" y="1486336"/>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1" name="Rectangle 34"/>
            <p:cNvSpPr>
              <a:spLocks noChangeArrowheads="1"/>
            </p:cNvSpPr>
            <p:nvPr/>
          </p:nvSpPr>
          <p:spPr bwMode="auto">
            <a:xfrm>
              <a:off x="4588047" y="1486336"/>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2" name="Rectangle 36"/>
            <p:cNvSpPr>
              <a:spLocks noChangeArrowheads="1"/>
            </p:cNvSpPr>
            <p:nvPr/>
          </p:nvSpPr>
          <p:spPr bwMode="auto">
            <a:xfrm>
              <a:off x="3896415" y="1585141"/>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3" name="Rectangle 37"/>
            <p:cNvSpPr>
              <a:spLocks noChangeArrowheads="1"/>
            </p:cNvSpPr>
            <p:nvPr/>
          </p:nvSpPr>
          <p:spPr bwMode="auto">
            <a:xfrm>
              <a:off x="3995219" y="1585141"/>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4" name="Rectangle 38"/>
            <p:cNvSpPr>
              <a:spLocks noChangeArrowheads="1"/>
            </p:cNvSpPr>
            <p:nvPr/>
          </p:nvSpPr>
          <p:spPr bwMode="auto">
            <a:xfrm>
              <a:off x="4094024" y="1585141"/>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5" name="Rectangle 39"/>
            <p:cNvSpPr>
              <a:spLocks noChangeArrowheads="1"/>
            </p:cNvSpPr>
            <p:nvPr/>
          </p:nvSpPr>
          <p:spPr bwMode="auto">
            <a:xfrm>
              <a:off x="4192828" y="1585141"/>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6" name="Rectangle 40"/>
            <p:cNvSpPr>
              <a:spLocks noChangeArrowheads="1"/>
            </p:cNvSpPr>
            <p:nvPr/>
          </p:nvSpPr>
          <p:spPr bwMode="auto">
            <a:xfrm>
              <a:off x="4291633" y="1585141"/>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7" name="Rectangle 41"/>
            <p:cNvSpPr>
              <a:spLocks noChangeArrowheads="1"/>
            </p:cNvSpPr>
            <p:nvPr/>
          </p:nvSpPr>
          <p:spPr bwMode="auto">
            <a:xfrm>
              <a:off x="4390438" y="1585141"/>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8" name="Rectangle 42"/>
            <p:cNvSpPr>
              <a:spLocks noChangeArrowheads="1"/>
            </p:cNvSpPr>
            <p:nvPr/>
          </p:nvSpPr>
          <p:spPr bwMode="auto">
            <a:xfrm>
              <a:off x="4489243" y="1585141"/>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29" name="Rectangle 43"/>
            <p:cNvSpPr>
              <a:spLocks noChangeArrowheads="1"/>
            </p:cNvSpPr>
            <p:nvPr/>
          </p:nvSpPr>
          <p:spPr bwMode="auto">
            <a:xfrm>
              <a:off x="4588047" y="1585141"/>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0" name="Rectangle 45"/>
            <p:cNvSpPr>
              <a:spLocks noChangeArrowheads="1"/>
            </p:cNvSpPr>
            <p:nvPr/>
          </p:nvSpPr>
          <p:spPr bwMode="auto">
            <a:xfrm>
              <a:off x="3896415" y="1683945"/>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1" name="Rectangle 46"/>
            <p:cNvSpPr>
              <a:spLocks noChangeArrowheads="1"/>
            </p:cNvSpPr>
            <p:nvPr/>
          </p:nvSpPr>
          <p:spPr bwMode="auto">
            <a:xfrm>
              <a:off x="3995219" y="1683945"/>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2" name="Rectangle 47"/>
            <p:cNvSpPr>
              <a:spLocks noChangeArrowheads="1"/>
            </p:cNvSpPr>
            <p:nvPr/>
          </p:nvSpPr>
          <p:spPr bwMode="auto">
            <a:xfrm>
              <a:off x="4094024" y="1683945"/>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3" name="Rectangle 48"/>
            <p:cNvSpPr>
              <a:spLocks noChangeArrowheads="1"/>
            </p:cNvSpPr>
            <p:nvPr/>
          </p:nvSpPr>
          <p:spPr bwMode="auto">
            <a:xfrm>
              <a:off x="4192828" y="1683945"/>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4" name="Rectangle 49"/>
            <p:cNvSpPr>
              <a:spLocks noChangeArrowheads="1"/>
            </p:cNvSpPr>
            <p:nvPr/>
          </p:nvSpPr>
          <p:spPr bwMode="auto">
            <a:xfrm>
              <a:off x="4291633" y="1683945"/>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5" name="Rectangle 50"/>
            <p:cNvSpPr>
              <a:spLocks noChangeArrowheads="1"/>
            </p:cNvSpPr>
            <p:nvPr/>
          </p:nvSpPr>
          <p:spPr bwMode="auto">
            <a:xfrm>
              <a:off x="4390438" y="1683945"/>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6" name="Rectangle 51"/>
            <p:cNvSpPr>
              <a:spLocks noChangeArrowheads="1"/>
            </p:cNvSpPr>
            <p:nvPr/>
          </p:nvSpPr>
          <p:spPr bwMode="auto">
            <a:xfrm>
              <a:off x="4489243" y="1683945"/>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7" name="Rectangle 52"/>
            <p:cNvSpPr>
              <a:spLocks noChangeArrowheads="1"/>
            </p:cNvSpPr>
            <p:nvPr/>
          </p:nvSpPr>
          <p:spPr bwMode="auto">
            <a:xfrm>
              <a:off x="4588047" y="1683945"/>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8" name="Rectangle 54"/>
            <p:cNvSpPr>
              <a:spLocks noChangeArrowheads="1"/>
            </p:cNvSpPr>
            <p:nvPr/>
          </p:nvSpPr>
          <p:spPr bwMode="auto">
            <a:xfrm>
              <a:off x="3896415" y="1782750"/>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39" name="Rectangle 55"/>
            <p:cNvSpPr>
              <a:spLocks noChangeArrowheads="1"/>
            </p:cNvSpPr>
            <p:nvPr/>
          </p:nvSpPr>
          <p:spPr bwMode="auto">
            <a:xfrm>
              <a:off x="3995219" y="1782750"/>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0" name="Rectangle 56"/>
            <p:cNvSpPr>
              <a:spLocks noChangeArrowheads="1"/>
            </p:cNvSpPr>
            <p:nvPr/>
          </p:nvSpPr>
          <p:spPr bwMode="auto">
            <a:xfrm>
              <a:off x="4094024" y="1782750"/>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1" name="Rectangle 57"/>
            <p:cNvSpPr>
              <a:spLocks noChangeArrowheads="1"/>
            </p:cNvSpPr>
            <p:nvPr/>
          </p:nvSpPr>
          <p:spPr bwMode="auto">
            <a:xfrm>
              <a:off x="4192828" y="1782750"/>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2" name="Rectangle 58"/>
            <p:cNvSpPr>
              <a:spLocks noChangeArrowheads="1"/>
            </p:cNvSpPr>
            <p:nvPr/>
          </p:nvSpPr>
          <p:spPr bwMode="auto">
            <a:xfrm>
              <a:off x="4291633" y="1782750"/>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3" name="Rectangle 59"/>
            <p:cNvSpPr>
              <a:spLocks noChangeArrowheads="1"/>
            </p:cNvSpPr>
            <p:nvPr/>
          </p:nvSpPr>
          <p:spPr bwMode="auto">
            <a:xfrm>
              <a:off x="4390438" y="1782750"/>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4" name="Rectangle 60"/>
            <p:cNvSpPr>
              <a:spLocks noChangeArrowheads="1"/>
            </p:cNvSpPr>
            <p:nvPr/>
          </p:nvSpPr>
          <p:spPr bwMode="auto">
            <a:xfrm>
              <a:off x="4489243" y="1782750"/>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5" name="Rectangle 61"/>
            <p:cNvSpPr>
              <a:spLocks noChangeArrowheads="1"/>
            </p:cNvSpPr>
            <p:nvPr/>
          </p:nvSpPr>
          <p:spPr bwMode="auto">
            <a:xfrm>
              <a:off x="4588047" y="1782750"/>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6" name="Rectangle 63"/>
            <p:cNvSpPr>
              <a:spLocks noChangeArrowheads="1"/>
            </p:cNvSpPr>
            <p:nvPr/>
          </p:nvSpPr>
          <p:spPr bwMode="auto">
            <a:xfrm>
              <a:off x="3896415" y="1881554"/>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7" name="Rectangle 64"/>
            <p:cNvSpPr>
              <a:spLocks noChangeArrowheads="1"/>
            </p:cNvSpPr>
            <p:nvPr/>
          </p:nvSpPr>
          <p:spPr bwMode="auto">
            <a:xfrm>
              <a:off x="3995219" y="1881554"/>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8" name="Rectangle 65"/>
            <p:cNvSpPr>
              <a:spLocks noChangeArrowheads="1"/>
            </p:cNvSpPr>
            <p:nvPr/>
          </p:nvSpPr>
          <p:spPr bwMode="auto">
            <a:xfrm>
              <a:off x="4094024" y="1881554"/>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49" name="Rectangle 66"/>
            <p:cNvSpPr>
              <a:spLocks noChangeArrowheads="1"/>
            </p:cNvSpPr>
            <p:nvPr/>
          </p:nvSpPr>
          <p:spPr bwMode="auto">
            <a:xfrm>
              <a:off x="4192828" y="1881554"/>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0" name="Rectangle 67"/>
            <p:cNvSpPr>
              <a:spLocks noChangeArrowheads="1"/>
            </p:cNvSpPr>
            <p:nvPr/>
          </p:nvSpPr>
          <p:spPr bwMode="auto">
            <a:xfrm>
              <a:off x="4291633" y="1881554"/>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1" name="Rectangle 68"/>
            <p:cNvSpPr>
              <a:spLocks noChangeArrowheads="1"/>
            </p:cNvSpPr>
            <p:nvPr/>
          </p:nvSpPr>
          <p:spPr bwMode="auto">
            <a:xfrm>
              <a:off x="4390438" y="1881554"/>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2" name="Rectangle 69"/>
            <p:cNvSpPr>
              <a:spLocks noChangeArrowheads="1"/>
            </p:cNvSpPr>
            <p:nvPr/>
          </p:nvSpPr>
          <p:spPr bwMode="auto">
            <a:xfrm>
              <a:off x="4489243" y="1881554"/>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3" name="Rectangle 70"/>
            <p:cNvSpPr>
              <a:spLocks noChangeArrowheads="1"/>
            </p:cNvSpPr>
            <p:nvPr/>
          </p:nvSpPr>
          <p:spPr bwMode="auto">
            <a:xfrm>
              <a:off x="4588047" y="1881554"/>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4" name="Rectangle 72"/>
            <p:cNvSpPr>
              <a:spLocks noChangeArrowheads="1"/>
            </p:cNvSpPr>
            <p:nvPr/>
          </p:nvSpPr>
          <p:spPr bwMode="auto">
            <a:xfrm>
              <a:off x="3896415" y="1980359"/>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5" name="Rectangle 73"/>
            <p:cNvSpPr>
              <a:spLocks noChangeArrowheads="1"/>
            </p:cNvSpPr>
            <p:nvPr/>
          </p:nvSpPr>
          <p:spPr bwMode="auto">
            <a:xfrm>
              <a:off x="3995219" y="1980359"/>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6" name="Rectangle 74"/>
            <p:cNvSpPr>
              <a:spLocks noChangeArrowheads="1"/>
            </p:cNvSpPr>
            <p:nvPr/>
          </p:nvSpPr>
          <p:spPr bwMode="auto">
            <a:xfrm>
              <a:off x="4094024" y="1980359"/>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7" name="Rectangle 75"/>
            <p:cNvSpPr>
              <a:spLocks noChangeArrowheads="1"/>
            </p:cNvSpPr>
            <p:nvPr/>
          </p:nvSpPr>
          <p:spPr bwMode="auto">
            <a:xfrm>
              <a:off x="4192828" y="1980359"/>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8" name="Rectangle 76"/>
            <p:cNvSpPr>
              <a:spLocks noChangeArrowheads="1"/>
            </p:cNvSpPr>
            <p:nvPr/>
          </p:nvSpPr>
          <p:spPr bwMode="auto">
            <a:xfrm>
              <a:off x="4291633" y="1980359"/>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59" name="Rectangle 77"/>
            <p:cNvSpPr>
              <a:spLocks noChangeArrowheads="1"/>
            </p:cNvSpPr>
            <p:nvPr/>
          </p:nvSpPr>
          <p:spPr bwMode="auto">
            <a:xfrm>
              <a:off x="4390438" y="1980359"/>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0" name="Rectangle 78"/>
            <p:cNvSpPr>
              <a:spLocks noChangeArrowheads="1"/>
            </p:cNvSpPr>
            <p:nvPr/>
          </p:nvSpPr>
          <p:spPr bwMode="auto">
            <a:xfrm>
              <a:off x="4489243" y="1980359"/>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1" name="Rectangle 79"/>
            <p:cNvSpPr>
              <a:spLocks noChangeArrowheads="1"/>
            </p:cNvSpPr>
            <p:nvPr/>
          </p:nvSpPr>
          <p:spPr bwMode="auto">
            <a:xfrm>
              <a:off x="4588047" y="1980359"/>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2" name="Rectangle 81"/>
            <p:cNvSpPr>
              <a:spLocks noChangeArrowheads="1"/>
            </p:cNvSpPr>
            <p:nvPr/>
          </p:nvSpPr>
          <p:spPr bwMode="auto">
            <a:xfrm>
              <a:off x="3896415" y="2079163"/>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3" name="Rectangle 82"/>
            <p:cNvSpPr>
              <a:spLocks noChangeArrowheads="1"/>
            </p:cNvSpPr>
            <p:nvPr/>
          </p:nvSpPr>
          <p:spPr bwMode="auto">
            <a:xfrm>
              <a:off x="3995219" y="2079163"/>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4" name="Rectangle 83"/>
            <p:cNvSpPr>
              <a:spLocks noChangeArrowheads="1"/>
            </p:cNvSpPr>
            <p:nvPr/>
          </p:nvSpPr>
          <p:spPr bwMode="auto">
            <a:xfrm>
              <a:off x="4094024" y="2079163"/>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5" name="Rectangle 84"/>
            <p:cNvSpPr>
              <a:spLocks noChangeArrowheads="1"/>
            </p:cNvSpPr>
            <p:nvPr/>
          </p:nvSpPr>
          <p:spPr bwMode="auto">
            <a:xfrm>
              <a:off x="4192828" y="2079163"/>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6" name="Rectangle 85"/>
            <p:cNvSpPr>
              <a:spLocks noChangeArrowheads="1"/>
            </p:cNvSpPr>
            <p:nvPr/>
          </p:nvSpPr>
          <p:spPr bwMode="auto">
            <a:xfrm>
              <a:off x="4291633" y="2079163"/>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7" name="Rectangle 86"/>
            <p:cNvSpPr>
              <a:spLocks noChangeArrowheads="1"/>
            </p:cNvSpPr>
            <p:nvPr/>
          </p:nvSpPr>
          <p:spPr bwMode="auto">
            <a:xfrm>
              <a:off x="4390438" y="2079163"/>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8" name="Rectangle 87"/>
            <p:cNvSpPr>
              <a:spLocks noChangeArrowheads="1"/>
            </p:cNvSpPr>
            <p:nvPr/>
          </p:nvSpPr>
          <p:spPr bwMode="auto">
            <a:xfrm>
              <a:off x="4489243" y="2079163"/>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69" name="Rectangle 88"/>
            <p:cNvSpPr>
              <a:spLocks noChangeArrowheads="1"/>
            </p:cNvSpPr>
            <p:nvPr/>
          </p:nvSpPr>
          <p:spPr bwMode="auto">
            <a:xfrm>
              <a:off x="4588047" y="2079163"/>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0" name="Rectangle 90"/>
            <p:cNvSpPr>
              <a:spLocks noChangeArrowheads="1"/>
            </p:cNvSpPr>
            <p:nvPr/>
          </p:nvSpPr>
          <p:spPr bwMode="auto">
            <a:xfrm>
              <a:off x="3896415" y="2177968"/>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1" name="Rectangle 91"/>
            <p:cNvSpPr>
              <a:spLocks noChangeArrowheads="1"/>
            </p:cNvSpPr>
            <p:nvPr/>
          </p:nvSpPr>
          <p:spPr bwMode="auto">
            <a:xfrm>
              <a:off x="3995219" y="2177968"/>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2" name="Rectangle 92"/>
            <p:cNvSpPr>
              <a:spLocks noChangeArrowheads="1"/>
            </p:cNvSpPr>
            <p:nvPr/>
          </p:nvSpPr>
          <p:spPr bwMode="auto">
            <a:xfrm>
              <a:off x="4094024" y="2177968"/>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3" name="Rectangle 93"/>
            <p:cNvSpPr>
              <a:spLocks noChangeArrowheads="1"/>
            </p:cNvSpPr>
            <p:nvPr/>
          </p:nvSpPr>
          <p:spPr bwMode="auto">
            <a:xfrm>
              <a:off x="4192828" y="2177968"/>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4" name="Rectangle 94"/>
            <p:cNvSpPr>
              <a:spLocks noChangeArrowheads="1"/>
            </p:cNvSpPr>
            <p:nvPr/>
          </p:nvSpPr>
          <p:spPr bwMode="auto">
            <a:xfrm>
              <a:off x="4291633" y="2177968"/>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5" name="Rectangle 95"/>
            <p:cNvSpPr>
              <a:spLocks noChangeArrowheads="1"/>
            </p:cNvSpPr>
            <p:nvPr/>
          </p:nvSpPr>
          <p:spPr bwMode="auto">
            <a:xfrm>
              <a:off x="4390438" y="2177968"/>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6" name="Rectangle 96"/>
            <p:cNvSpPr>
              <a:spLocks noChangeArrowheads="1"/>
            </p:cNvSpPr>
            <p:nvPr/>
          </p:nvSpPr>
          <p:spPr bwMode="auto">
            <a:xfrm>
              <a:off x="4489243" y="2177968"/>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7" name="Rectangle 97"/>
            <p:cNvSpPr>
              <a:spLocks noChangeArrowheads="1"/>
            </p:cNvSpPr>
            <p:nvPr/>
          </p:nvSpPr>
          <p:spPr bwMode="auto">
            <a:xfrm>
              <a:off x="4588047" y="2177968"/>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8" name="Rectangle 98"/>
            <p:cNvSpPr>
              <a:spLocks noChangeArrowheads="1"/>
            </p:cNvSpPr>
            <p:nvPr/>
          </p:nvSpPr>
          <p:spPr bwMode="auto">
            <a:xfrm>
              <a:off x="3896415" y="1487556"/>
              <a:ext cx="98804" cy="98804"/>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79" name="Text Box 100"/>
            <p:cNvSpPr txBox="1">
              <a:spLocks noChangeArrowheads="1"/>
            </p:cNvSpPr>
            <p:nvPr/>
          </p:nvSpPr>
          <p:spPr bwMode="auto">
            <a:xfrm>
              <a:off x="3972251" y="3383141"/>
              <a:ext cx="641202" cy="12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204"/>
                  </a:solidFill>
                  <a:latin typeface="Arial" pitchFamily="34" charset="0"/>
                  <a:cs typeface="Arial" pitchFamily="34" charset="0"/>
                </a:rPr>
                <a:t>Кэш-память</a:t>
              </a:r>
            </a:p>
          </p:txBody>
        </p:sp>
        <p:sp>
          <p:nvSpPr>
            <p:cNvPr id="80" name="Rectangle 102"/>
            <p:cNvSpPr>
              <a:spLocks noChangeArrowheads="1"/>
            </p:cNvSpPr>
            <p:nvPr/>
          </p:nvSpPr>
          <p:spPr bwMode="auto">
            <a:xfrm>
              <a:off x="3918371" y="3931771"/>
              <a:ext cx="65" cy="161583"/>
            </a:xfrm>
            <a:prstGeom prst="rect">
              <a:avLst/>
            </a:prstGeom>
            <a:ln/>
          </p:spPr>
          <p:style>
            <a:lnRef idx="0">
              <a:schemeClr val="accent1"/>
            </a:lnRef>
            <a:fillRef idx="3">
              <a:schemeClr val="accent1"/>
            </a:fillRef>
            <a:effectRef idx="3">
              <a:schemeClr val="accent1"/>
            </a:effectRef>
            <a:fontRef idx="minor">
              <a:schemeClr val="lt1"/>
            </a:fontRef>
          </p:style>
          <p:txBody>
            <a:bodyPr wrap="none" lIns="0" tIns="0" rIns="0" bIns="0" anchor="ctr">
              <a:spAutoFit/>
            </a:bodyPr>
            <a:lstStyle/>
            <a:p>
              <a:endParaRPr lang="en-US" sz="1050">
                <a:latin typeface="Arial" pitchFamily="34" charset="0"/>
                <a:cs typeface="Arial" pitchFamily="34" charset="0"/>
              </a:endParaRPr>
            </a:p>
          </p:txBody>
        </p:sp>
        <p:sp>
          <p:nvSpPr>
            <p:cNvPr id="81" name="Rectangle 105"/>
            <p:cNvSpPr>
              <a:spLocks noChangeArrowheads="1"/>
            </p:cNvSpPr>
            <p:nvPr/>
          </p:nvSpPr>
          <p:spPr bwMode="auto">
            <a:xfrm>
              <a:off x="3896415" y="3580750"/>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2" name="Rectangle 106"/>
            <p:cNvSpPr>
              <a:spLocks noChangeArrowheads="1"/>
            </p:cNvSpPr>
            <p:nvPr/>
          </p:nvSpPr>
          <p:spPr bwMode="auto">
            <a:xfrm>
              <a:off x="3995219" y="3580750"/>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3" name="Rectangle 107"/>
            <p:cNvSpPr>
              <a:spLocks noChangeArrowheads="1"/>
            </p:cNvSpPr>
            <p:nvPr/>
          </p:nvSpPr>
          <p:spPr bwMode="auto">
            <a:xfrm>
              <a:off x="4094024" y="3580750"/>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4" name="Rectangle 108"/>
            <p:cNvSpPr>
              <a:spLocks noChangeArrowheads="1"/>
            </p:cNvSpPr>
            <p:nvPr/>
          </p:nvSpPr>
          <p:spPr bwMode="auto">
            <a:xfrm>
              <a:off x="4192828" y="3580750"/>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5" name="Rectangle 109"/>
            <p:cNvSpPr>
              <a:spLocks noChangeArrowheads="1"/>
            </p:cNvSpPr>
            <p:nvPr/>
          </p:nvSpPr>
          <p:spPr bwMode="auto">
            <a:xfrm>
              <a:off x="4291633" y="3580750"/>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6" name="Rectangle 110"/>
            <p:cNvSpPr>
              <a:spLocks noChangeArrowheads="1"/>
            </p:cNvSpPr>
            <p:nvPr/>
          </p:nvSpPr>
          <p:spPr bwMode="auto">
            <a:xfrm>
              <a:off x="4390438" y="3580750"/>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7" name="Rectangle 111"/>
            <p:cNvSpPr>
              <a:spLocks noChangeArrowheads="1"/>
            </p:cNvSpPr>
            <p:nvPr/>
          </p:nvSpPr>
          <p:spPr bwMode="auto">
            <a:xfrm>
              <a:off x="4489243" y="3580750"/>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8" name="Rectangle 112"/>
            <p:cNvSpPr>
              <a:spLocks noChangeArrowheads="1"/>
            </p:cNvSpPr>
            <p:nvPr/>
          </p:nvSpPr>
          <p:spPr bwMode="auto">
            <a:xfrm>
              <a:off x="4588047" y="3580750"/>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89" name="Rectangle 114"/>
            <p:cNvSpPr>
              <a:spLocks noChangeArrowheads="1"/>
            </p:cNvSpPr>
            <p:nvPr/>
          </p:nvSpPr>
          <p:spPr bwMode="auto">
            <a:xfrm>
              <a:off x="3896415" y="3679555"/>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0" name="Rectangle 115"/>
            <p:cNvSpPr>
              <a:spLocks noChangeArrowheads="1"/>
            </p:cNvSpPr>
            <p:nvPr/>
          </p:nvSpPr>
          <p:spPr bwMode="auto">
            <a:xfrm>
              <a:off x="3995219" y="3679555"/>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1" name="Rectangle 116"/>
            <p:cNvSpPr>
              <a:spLocks noChangeArrowheads="1"/>
            </p:cNvSpPr>
            <p:nvPr/>
          </p:nvSpPr>
          <p:spPr bwMode="auto">
            <a:xfrm>
              <a:off x="4094024" y="3679555"/>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2" name="Rectangle 117"/>
            <p:cNvSpPr>
              <a:spLocks noChangeArrowheads="1"/>
            </p:cNvSpPr>
            <p:nvPr/>
          </p:nvSpPr>
          <p:spPr bwMode="auto">
            <a:xfrm>
              <a:off x="4192828" y="3679555"/>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3" name="Rectangle 118"/>
            <p:cNvSpPr>
              <a:spLocks noChangeArrowheads="1"/>
            </p:cNvSpPr>
            <p:nvPr/>
          </p:nvSpPr>
          <p:spPr bwMode="auto">
            <a:xfrm>
              <a:off x="4291633" y="3679555"/>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4" name="Rectangle 119"/>
            <p:cNvSpPr>
              <a:spLocks noChangeArrowheads="1"/>
            </p:cNvSpPr>
            <p:nvPr/>
          </p:nvSpPr>
          <p:spPr bwMode="auto">
            <a:xfrm>
              <a:off x="4390438" y="3679555"/>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5" name="Rectangle 120"/>
            <p:cNvSpPr>
              <a:spLocks noChangeArrowheads="1"/>
            </p:cNvSpPr>
            <p:nvPr/>
          </p:nvSpPr>
          <p:spPr bwMode="auto">
            <a:xfrm>
              <a:off x="4489243" y="3679555"/>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6" name="Rectangle 121"/>
            <p:cNvSpPr>
              <a:spLocks noChangeArrowheads="1"/>
            </p:cNvSpPr>
            <p:nvPr/>
          </p:nvSpPr>
          <p:spPr bwMode="auto">
            <a:xfrm>
              <a:off x="4588047" y="3679555"/>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7" name="Rectangle 123"/>
            <p:cNvSpPr>
              <a:spLocks noChangeArrowheads="1"/>
            </p:cNvSpPr>
            <p:nvPr/>
          </p:nvSpPr>
          <p:spPr bwMode="auto">
            <a:xfrm>
              <a:off x="3896415" y="3778360"/>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8" name="Rectangle 124"/>
            <p:cNvSpPr>
              <a:spLocks noChangeArrowheads="1"/>
            </p:cNvSpPr>
            <p:nvPr/>
          </p:nvSpPr>
          <p:spPr bwMode="auto">
            <a:xfrm>
              <a:off x="3995219" y="3778360"/>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99" name="Rectangle 125"/>
            <p:cNvSpPr>
              <a:spLocks noChangeArrowheads="1"/>
            </p:cNvSpPr>
            <p:nvPr/>
          </p:nvSpPr>
          <p:spPr bwMode="auto">
            <a:xfrm>
              <a:off x="4094024" y="3778360"/>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0" name="Rectangle 126"/>
            <p:cNvSpPr>
              <a:spLocks noChangeArrowheads="1"/>
            </p:cNvSpPr>
            <p:nvPr/>
          </p:nvSpPr>
          <p:spPr bwMode="auto">
            <a:xfrm>
              <a:off x="4192828" y="3778360"/>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1" name="Rectangle 127"/>
            <p:cNvSpPr>
              <a:spLocks noChangeArrowheads="1"/>
            </p:cNvSpPr>
            <p:nvPr/>
          </p:nvSpPr>
          <p:spPr bwMode="auto">
            <a:xfrm>
              <a:off x="4291633" y="3778360"/>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2" name="Rectangle 128"/>
            <p:cNvSpPr>
              <a:spLocks noChangeArrowheads="1"/>
            </p:cNvSpPr>
            <p:nvPr/>
          </p:nvSpPr>
          <p:spPr bwMode="auto">
            <a:xfrm>
              <a:off x="4390438" y="3778360"/>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3" name="Rectangle 129"/>
            <p:cNvSpPr>
              <a:spLocks noChangeArrowheads="1"/>
            </p:cNvSpPr>
            <p:nvPr/>
          </p:nvSpPr>
          <p:spPr bwMode="auto">
            <a:xfrm>
              <a:off x="4489243" y="3778360"/>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4" name="Rectangle 130"/>
            <p:cNvSpPr>
              <a:spLocks noChangeArrowheads="1"/>
            </p:cNvSpPr>
            <p:nvPr/>
          </p:nvSpPr>
          <p:spPr bwMode="auto">
            <a:xfrm>
              <a:off x="4588047" y="3778360"/>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5" name="Rectangle 132"/>
            <p:cNvSpPr>
              <a:spLocks noChangeArrowheads="1"/>
            </p:cNvSpPr>
            <p:nvPr/>
          </p:nvSpPr>
          <p:spPr bwMode="auto">
            <a:xfrm>
              <a:off x="3896415" y="3877164"/>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6" name="Rectangle 133"/>
            <p:cNvSpPr>
              <a:spLocks noChangeArrowheads="1"/>
            </p:cNvSpPr>
            <p:nvPr/>
          </p:nvSpPr>
          <p:spPr bwMode="auto">
            <a:xfrm>
              <a:off x="3995219" y="3877164"/>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7" name="Rectangle 134"/>
            <p:cNvSpPr>
              <a:spLocks noChangeArrowheads="1"/>
            </p:cNvSpPr>
            <p:nvPr/>
          </p:nvSpPr>
          <p:spPr bwMode="auto">
            <a:xfrm>
              <a:off x="4094024" y="3877164"/>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8" name="Rectangle 135"/>
            <p:cNvSpPr>
              <a:spLocks noChangeArrowheads="1"/>
            </p:cNvSpPr>
            <p:nvPr/>
          </p:nvSpPr>
          <p:spPr bwMode="auto">
            <a:xfrm>
              <a:off x="4192828" y="3877164"/>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09" name="Rectangle 136"/>
            <p:cNvSpPr>
              <a:spLocks noChangeArrowheads="1"/>
            </p:cNvSpPr>
            <p:nvPr/>
          </p:nvSpPr>
          <p:spPr bwMode="auto">
            <a:xfrm>
              <a:off x="4291633" y="3877164"/>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0" name="Rectangle 137"/>
            <p:cNvSpPr>
              <a:spLocks noChangeArrowheads="1"/>
            </p:cNvSpPr>
            <p:nvPr/>
          </p:nvSpPr>
          <p:spPr bwMode="auto">
            <a:xfrm>
              <a:off x="4390438" y="3877164"/>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1" name="Rectangle 138"/>
            <p:cNvSpPr>
              <a:spLocks noChangeArrowheads="1"/>
            </p:cNvSpPr>
            <p:nvPr/>
          </p:nvSpPr>
          <p:spPr bwMode="auto">
            <a:xfrm>
              <a:off x="4489243" y="3877164"/>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2" name="Rectangle 139"/>
            <p:cNvSpPr>
              <a:spLocks noChangeArrowheads="1"/>
            </p:cNvSpPr>
            <p:nvPr/>
          </p:nvSpPr>
          <p:spPr bwMode="auto">
            <a:xfrm>
              <a:off x="4588047" y="3877164"/>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3" name="Rectangle 141"/>
            <p:cNvSpPr>
              <a:spLocks noChangeArrowheads="1"/>
            </p:cNvSpPr>
            <p:nvPr/>
          </p:nvSpPr>
          <p:spPr bwMode="auto">
            <a:xfrm>
              <a:off x="3896415" y="3975969"/>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4" name="Rectangle 142"/>
            <p:cNvSpPr>
              <a:spLocks noChangeArrowheads="1"/>
            </p:cNvSpPr>
            <p:nvPr/>
          </p:nvSpPr>
          <p:spPr bwMode="auto">
            <a:xfrm>
              <a:off x="3995219" y="3975969"/>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5" name="Rectangle 143"/>
            <p:cNvSpPr>
              <a:spLocks noChangeArrowheads="1"/>
            </p:cNvSpPr>
            <p:nvPr/>
          </p:nvSpPr>
          <p:spPr bwMode="auto">
            <a:xfrm>
              <a:off x="4094024" y="3975969"/>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6" name="Rectangle 144"/>
            <p:cNvSpPr>
              <a:spLocks noChangeArrowheads="1"/>
            </p:cNvSpPr>
            <p:nvPr/>
          </p:nvSpPr>
          <p:spPr bwMode="auto">
            <a:xfrm>
              <a:off x="4192828" y="3975969"/>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7" name="Rectangle 145"/>
            <p:cNvSpPr>
              <a:spLocks noChangeArrowheads="1"/>
            </p:cNvSpPr>
            <p:nvPr/>
          </p:nvSpPr>
          <p:spPr bwMode="auto">
            <a:xfrm>
              <a:off x="4291633" y="3975969"/>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8" name="Rectangle 146"/>
            <p:cNvSpPr>
              <a:spLocks noChangeArrowheads="1"/>
            </p:cNvSpPr>
            <p:nvPr/>
          </p:nvSpPr>
          <p:spPr bwMode="auto">
            <a:xfrm>
              <a:off x="4390438" y="3975969"/>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19" name="Rectangle 147"/>
            <p:cNvSpPr>
              <a:spLocks noChangeArrowheads="1"/>
            </p:cNvSpPr>
            <p:nvPr/>
          </p:nvSpPr>
          <p:spPr bwMode="auto">
            <a:xfrm>
              <a:off x="4489243" y="3975969"/>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0" name="Rectangle 148"/>
            <p:cNvSpPr>
              <a:spLocks noChangeArrowheads="1"/>
            </p:cNvSpPr>
            <p:nvPr/>
          </p:nvSpPr>
          <p:spPr bwMode="auto">
            <a:xfrm>
              <a:off x="4588047" y="3975969"/>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1" name="Rectangle 150"/>
            <p:cNvSpPr>
              <a:spLocks noChangeArrowheads="1"/>
            </p:cNvSpPr>
            <p:nvPr/>
          </p:nvSpPr>
          <p:spPr bwMode="auto">
            <a:xfrm>
              <a:off x="3896415" y="4074773"/>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2" name="Rectangle 151"/>
            <p:cNvSpPr>
              <a:spLocks noChangeArrowheads="1"/>
            </p:cNvSpPr>
            <p:nvPr/>
          </p:nvSpPr>
          <p:spPr bwMode="auto">
            <a:xfrm>
              <a:off x="3995219" y="4074773"/>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3" name="Rectangle 152"/>
            <p:cNvSpPr>
              <a:spLocks noChangeArrowheads="1"/>
            </p:cNvSpPr>
            <p:nvPr/>
          </p:nvSpPr>
          <p:spPr bwMode="auto">
            <a:xfrm>
              <a:off x="4094024" y="4074773"/>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4" name="Rectangle 153"/>
            <p:cNvSpPr>
              <a:spLocks noChangeArrowheads="1"/>
            </p:cNvSpPr>
            <p:nvPr/>
          </p:nvSpPr>
          <p:spPr bwMode="auto">
            <a:xfrm>
              <a:off x="4192828" y="4074773"/>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5" name="Rectangle 154"/>
            <p:cNvSpPr>
              <a:spLocks noChangeArrowheads="1"/>
            </p:cNvSpPr>
            <p:nvPr/>
          </p:nvSpPr>
          <p:spPr bwMode="auto">
            <a:xfrm>
              <a:off x="4291633" y="4074773"/>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6" name="Rectangle 155"/>
            <p:cNvSpPr>
              <a:spLocks noChangeArrowheads="1"/>
            </p:cNvSpPr>
            <p:nvPr/>
          </p:nvSpPr>
          <p:spPr bwMode="auto">
            <a:xfrm>
              <a:off x="4390438" y="4074773"/>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7" name="Rectangle 156"/>
            <p:cNvSpPr>
              <a:spLocks noChangeArrowheads="1"/>
            </p:cNvSpPr>
            <p:nvPr/>
          </p:nvSpPr>
          <p:spPr bwMode="auto">
            <a:xfrm>
              <a:off x="4489243" y="4074773"/>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8" name="Rectangle 157"/>
            <p:cNvSpPr>
              <a:spLocks noChangeArrowheads="1"/>
            </p:cNvSpPr>
            <p:nvPr/>
          </p:nvSpPr>
          <p:spPr bwMode="auto">
            <a:xfrm>
              <a:off x="4588047" y="4074773"/>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29" name="Rectangle 159"/>
            <p:cNvSpPr>
              <a:spLocks noChangeArrowheads="1"/>
            </p:cNvSpPr>
            <p:nvPr/>
          </p:nvSpPr>
          <p:spPr bwMode="auto">
            <a:xfrm>
              <a:off x="3896415" y="4173578"/>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0" name="Rectangle 160"/>
            <p:cNvSpPr>
              <a:spLocks noChangeArrowheads="1"/>
            </p:cNvSpPr>
            <p:nvPr/>
          </p:nvSpPr>
          <p:spPr bwMode="auto">
            <a:xfrm>
              <a:off x="3995219" y="4173578"/>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1" name="Rectangle 161"/>
            <p:cNvSpPr>
              <a:spLocks noChangeArrowheads="1"/>
            </p:cNvSpPr>
            <p:nvPr/>
          </p:nvSpPr>
          <p:spPr bwMode="auto">
            <a:xfrm>
              <a:off x="4094024" y="4173578"/>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2" name="Rectangle 162"/>
            <p:cNvSpPr>
              <a:spLocks noChangeArrowheads="1"/>
            </p:cNvSpPr>
            <p:nvPr/>
          </p:nvSpPr>
          <p:spPr bwMode="auto">
            <a:xfrm>
              <a:off x="4192828" y="4173578"/>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3" name="Rectangle 163"/>
            <p:cNvSpPr>
              <a:spLocks noChangeArrowheads="1"/>
            </p:cNvSpPr>
            <p:nvPr/>
          </p:nvSpPr>
          <p:spPr bwMode="auto">
            <a:xfrm>
              <a:off x="4291633" y="4173578"/>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4" name="Rectangle 164"/>
            <p:cNvSpPr>
              <a:spLocks noChangeArrowheads="1"/>
            </p:cNvSpPr>
            <p:nvPr/>
          </p:nvSpPr>
          <p:spPr bwMode="auto">
            <a:xfrm>
              <a:off x="4390438" y="4173578"/>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5" name="Rectangle 165"/>
            <p:cNvSpPr>
              <a:spLocks noChangeArrowheads="1"/>
            </p:cNvSpPr>
            <p:nvPr/>
          </p:nvSpPr>
          <p:spPr bwMode="auto">
            <a:xfrm>
              <a:off x="4489243" y="4173578"/>
              <a:ext cx="98804"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6" name="Rectangle 166"/>
            <p:cNvSpPr>
              <a:spLocks noChangeArrowheads="1"/>
            </p:cNvSpPr>
            <p:nvPr/>
          </p:nvSpPr>
          <p:spPr bwMode="auto">
            <a:xfrm>
              <a:off x="4588047" y="4173578"/>
              <a:ext cx="98805" cy="98804"/>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7" name="Rectangle 168"/>
            <p:cNvSpPr>
              <a:spLocks noChangeArrowheads="1"/>
            </p:cNvSpPr>
            <p:nvPr/>
          </p:nvSpPr>
          <p:spPr bwMode="auto">
            <a:xfrm>
              <a:off x="3896415" y="4272382"/>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8" name="Rectangle 169"/>
            <p:cNvSpPr>
              <a:spLocks noChangeArrowheads="1"/>
            </p:cNvSpPr>
            <p:nvPr/>
          </p:nvSpPr>
          <p:spPr bwMode="auto">
            <a:xfrm>
              <a:off x="3995219" y="4272382"/>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39" name="Rectangle 170"/>
            <p:cNvSpPr>
              <a:spLocks noChangeArrowheads="1"/>
            </p:cNvSpPr>
            <p:nvPr/>
          </p:nvSpPr>
          <p:spPr bwMode="auto">
            <a:xfrm>
              <a:off x="4094024" y="4272382"/>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0" name="Rectangle 171"/>
            <p:cNvSpPr>
              <a:spLocks noChangeArrowheads="1"/>
            </p:cNvSpPr>
            <p:nvPr/>
          </p:nvSpPr>
          <p:spPr bwMode="auto">
            <a:xfrm>
              <a:off x="4192828" y="4272382"/>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1" name="Rectangle 172"/>
            <p:cNvSpPr>
              <a:spLocks noChangeArrowheads="1"/>
            </p:cNvSpPr>
            <p:nvPr/>
          </p:nvSpPr>
          <p:spPr bwMode="auto">
            <a:xfrm>
              <a:off x="4291633" y="4272382"/>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2" name="Rectangle 173"/>
            <p:cNvSpPr>
              <a:spLocks noChangeArrowheads="1"/>
            </p:cNvSpPr>
            <p:nvPr/>
          </p:nvSpPr>
          <p:spPr bwMode="auto">
            <a:xfrm>
              <a:off x="4390438" y="4272382"/>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3" name="Rectangle 174"/>
            <p:cNvSpPr>
              <a:spLocks noChangeArrowheads="1"/>
            </p:cNvSpPr>
            <p:nvPr/>
          </p:nvSpPr>
          <p:spPr bwMode="auto">
            <a:xfrm>
              <a:off x="4489243" y="4272382"/>
              <a:ext cx="98804"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4" name="Rectangle 175"/>
            <p:cNvSpPr>
              <a:spLocks noChangeArrowheads="1"/>
            </p:cNvSpPr>
            <p:nvPr/>
          </p:nvSpPr>
          <p:spPr bwMode="auto">
            <a:xfrm>
              <a:off x="4588047" y="4272382"/>
              <a:ext cx="98805" cy="9880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5" name="Rectangle 181"/>
            <p:cNvSpPr>
              <a:spLocks noChangeArrowheads="1"/>
            </p:cNvSpPr>
            <p:nvPr/>
          </p:nvSpPr>
          <p:spPr bwMode="auto">
            <a:xfrm>
              <a:off x="3896415" y="3580750"/>
              <a:ext cx="98804" cy="98804"/>
            </a:xfrm>
            <a:prstGeom prst="rect">
              <a:avLst/>
            </a:prstGeom>
            <a:solidFill>
              <a:srgbClr val="92D050"/>
            </a:solidFill>
            <a:ln>
              <a:headEnd/>
              <a:tailEn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6" name="Rectangle 182"/>
            <p:cNvSpPr>
              <a:spLocks noChangeArrowheads="1"/>
            </p:cNvSpPr>
            <p:nvPr/>
          </p:nvSpPr>
          <p:spPr bwMode="auto">
            <a:xfrm>
              <a:off x="3995219" y="3580750"/>
              <a:ext cx="98805" cy="98804"/>
            </a:xfrm>
            <a:prstGeom prst="rect">
              <a:avLst/>
            </a:prstGeom>
            <a:ln>
              <a:headEnd/>
              <a:tailEnd/>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7" name="Rectangle 183"/>
            <p:cNvSpPr>
              <a:spLocks noChangeArrowheads="1"/>
            </p:cNvSpPr>
            <p:nvPr/>
          </p:nvSpPr>
          <p:spPr bwMode="auto">
            <a:xfrm>
              <a:off x="4094024" y="3580750"/>
              <a:ext cx="98804" cy="98804"/>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48" name="Text Box 12"/>
            <p:cNvSpPr txBox="1">
              <a:spLocks noChangeArrowheads="1"/>
            </p:cNvSpPr>
            <p:nvPr/>
          </p:nvSpPr>
          <p:spPr bwMode="auto">
            <a:xfrm>
              <a:off x="2792250" y="1576400"/>
              <a:ext cx="977386" cy="12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000"/>
                  </a:solidFill>
                  <a:latin typeface="Arial" pitchFamily="34" charset="0"/>
                  <a:cs typeface="Arial" pitchFamily="34" charset="0"/>
                </a:rPr>
                <a:t>1. Запись данных</a:t>
              </a:r>
            </a:p>
          </p:txBody>
        </p:sp>
        <p:cxnSp>
          <p:nvCxnSpPr>
            <p:cNvPr id="149" name="Straight Arrow Connector 148"/>
            <p:cNvCxnSpPr/>
            <p:nvPr/>
          </p:nvCxnSpPr>
          <p:spPr>
            <a:xfrm>
              <a:off x="3017463" y="1783916"/>
              <a:ext cx="5269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0" name="Text Box 12"/>
            <p:cNvSpPr txBox="1">
              <a:spLocks noChangeArrowheads="1"/>
            </p:cNvSpPr>
            <p:nvPr/>
          </p:nvSpPr>
          <p:spPr bwMode="auto">
            <a:xfrm>
              <a:off x="2684312" y="2064550"/>
              <a:ext cx="1193262" cy="12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000"/>
                  </a:solidFill>
                  <a:latin typeface="Arial" pitchFamily="34" charset="0"/>
                  <a:cs typeface="Arial" pitchFamily="34" charset="0"/>
                </a:rPr>
                <a:t>4. Подтверждение</a:t>
              </a:r>
            </a:p>
          </p:txBody>
        </p:sp>
        <p:cxnSp>
          <p:nvCxnSpPr>
            <p:cNvPr id="151" name="Straight Arrow Connector 150"/>
            <p:cNvCxnSpPr/>
            <p:nvPr/>
          </p:nvCxnSpPr>
          <p:spPr>
            <a:xfrm flipH="1">
              <a:off x="3017463" y="1991840"/>
              <a:ext cx="5269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2" name="Text Box 12"/>
            <p:cNvSpPr txBox="1">
              <a:spLocks noChangeArrowheads="1"/>
            </p:cNvSpPr>
            <p:nvPr/>
          </p:nvSpPr>
          <p:spPr bwMode="auto">
            <a:xfrm>
              <a:off x="4903065" y="1571665"/>
              <a:ext cx="977386" cy="12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000"/>
                  </a:solidFill>
                  <a:latin typeface="Arial" pitchFamily="34" charset="0"/>
                  <a:cs typeface="Arial" pitchFamily="34" charset="0"/>
                </a:rPr>
                <a:t>2. Запись данных</a:t>
              </a:r>
            </a:p>
          </p:txBody>
        </p:sp>
        <p:cxnSp>
          <p:nvCxnSpPr>
            <p:cNvPr id="153" name="Straight Arrow Connector 152"/>
            <p:cNvCxnSpPr/>
            <p:nvPr/>
          </p:nvCxnSpPr>
          <p:spPr>
            <a:xfrm>
              <a:off x="5128279" y="1779181"/>
              <a:ext cx="5269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4" name="Text Box 12"/>
            <p:cNvSpPr txBox="1">
              <a:spLocks noChangeArrowheads="1"/>
            </p:cNvSpPr>
            <p:nvPr/>
          </p:nvSpPr>
          <p:spPr bwMode="auto">
            <a:xfrm>
              <a:off x="4795127" y="2069340"/>
              <a:ext cx="1193262" cy="12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000"/>
                  </a:solidFill>
                  <a:latin typeface="Arial" pitchFamily="34" charset="0"/>
                  <a:cs typeface="Arial" pitchFamily="34" charset="0"/>
                </a:rPr>
                <a:t>3. Подтверждение</a:t>
              </a:r>
            </a:p>
          </p:txBody>
        </p:sp>
        <p:cxnSp>
          <p:nvCxnSpPr>
            <p:cNvPr id="155" name="Straight Arrow Connector 154"/>
            <p:cNvCxnSpPr/>
            <p:nvPr/>
          </p:nvCxnSpPr>
          <p:spPr>
            <a:xfrm flipH="1">
              <a:off x="5128279" y="1987104"/>
              <a:ext cx="5269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6" name="Text Box 12"/>
            <p:cNvSpPr txBox="1">
              <a:spLocks noChangeArrowheads="1"/>
            </p:cNvSpPr>
            <p:nvPr/>
          </p:nvSpPr>
          <p:spPr bwMode="auto">
            <a:xfrm>
              <a:off x="4901889" y="3662276"/>
              <a:ext cx="977386" cy="12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000"/>
                  </a:solidFill>
                  <a:latin typeface="Arial" pitchFamily="34" charset="0"/>
                  <a:cs typeface="Arial" pitchFamily="34" charset="0"/>
                </a:rPr>
                <a:t>3. Запись данных</a:t>
              </a:r>
            </a:p>
          </p:txBody>
        </p:sp>
        <p:cxnSp>
          <p:nvCxnSpPr>
            <p:cNvPr id="157" name="Straight Arrow Connector 156"/>
            <p:cNvCxnSpPr/>
            <p:nvPr/>
          </p:nvCxnSpPr>
          <p:spPr>
            <a:xfrm>
              <a:off x="5127102" y="3869792"/>
              <a:ext cx="5269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8" name="Text Box 12"/>
            <p:cNvSpPr txBox="1">
              <a:spLocks noChangeArrowheads="1"/>
            </p:cNvSpPr>
            <p:nvPr/>
          </p:nvSpPr>
          <p:spPr bwMode="auto">
            <a:xfrm>
              <a:off x="4793951" y="4159951"/>
              <a:ext cx="1193262" cy="12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000"/>
                  </a:solidFill>
                  <a:latin typeface="Arial" pitchFamily="34" charset="0"/>
                  <a:cs typeface="Arial" pitchFamily="34" charset="0"/>
                </a:rPr>
                <a:t>4. Подтверждение</a:t>
              </a:r>
            </a:p>
          </p:txBody>
        </p:sp>
        <p:cxnSp>
          <p:nvCxnSpPr>
            <p:cNvPr id="159" name="Straight Arrow Connector 158"/>
            <p:cNvCxnSpPr/>
            <p:nvPr/>
          </p:nvCxnSpPr>
          <p:spPr>
            <a:xfrm flipH="1">
              <a:off x="5127102" y="4077715"/>
              <a:ext cx="5269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0" name="Text Box 12"/>
            <p:cNvSpPr txBox="1">
              <a:spLocks noChangeArrowheads="1"/>
            </p:cNvSpPr>
            <p:nvPr/>
          </p:nvSpPr>
          <p:spPr bwMode="auto">
            <a:xfrm>
              <a:off x="2792250" y="3662276"/>
              <a:ext cx="977386" cy="12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000"/>
                  </a:solidFill>
                  <a:latin typeface="Arial" pitchFamily="34" charset="0"/>
                  <a:cs typeface="Arial" pitchFamily="34" charset="0"/>
                </a:rPr>
                <a:t>1. Запись данных</a:t>
              </a:r>
            </a:p>
          </p:txBody>
        </p:sp>
        <p:cxnSp>
          <p:nvCxnSpPr>
            <p:cNvPr id="161" name="Straight Arrow Connector 160"/>
            <p:cNvCxnSpPr/>
            <p:nvPr/>
          </p:nvCxnSpPr>
          <p:spPr>
            <a:xfrm>
              <a:off x="3017463" y="3869792"/>
              <a:ext cx="5269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2" name="Text Box 12"/>
            <p:cNvSpPr txBox="1">
              <a:spLocks noChangeArrowheads="1"/>
            </p:cNvSpPr>
            <p:nvPr/>
          </p:nvSpPr>
          <p:spPr bwMode="auto">
            <a:xfrm>
              <a:off x="2684312" y="4150426"/>
              <a:ext cx="1193262" cy="12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204"/>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900" b="0" i="0" dirty="0">
                  <a:solidFill>
                    <a:srgbClr val="000000"/>
                  </a:solidFill>
                  <a:latin typeface="Arial" pitchFamily="34" charset="0"/>
                  <a:cs typeface="Arial" pitchFamily="34" charset="0"/>
                </a:rPr>
                <a:t>2. Подтверждение</a:t>
              </a:r>
            </a:p>
          </p:txBody>
        </p:sp>
        <p:cxnSp>
          <p:nvCxnSpPr>
            <p:cNvPr id="163" name="Straight Arrow Connector 162"/>
            <p:cNvCxnSpPr/>
            <p:nvPr/>
          </p:nvCxnSpPr>
          <p:spPr>
            <a:xfrm flipH="1">
              <a:off x="3017463" y="4077715"/>
              <a:ext cx="5269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0" name="Rectangle 193"/>
            <p:cNvSpPr>
              <a:spLocks noChangeArrowheads="1"/>
            </p:cNvSpPr>
            <p:nvPr/>
          </p:nvSpPr>
          <p:spPr bwMode="auto">
            <a:xfrm>
              <a:off x="6719782" y="2203230"/>
              <a:ext cx="98804" cy="98804"/>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77" name="Rectangle 202"/>
            <p:cNvSpPr>
              <a:spLocks noChangeArrowheads="1"/>
            </p:cNvSpPr>
            <p:nvPr/>
          </p:nvSpPr>
          <p:spPr bwMode="auto">
            <a:xfrm>
              <a:off x="6400800" y="3893095"/>
              <a:ext cx="98805" cy="98805"/>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78" name="Rectangle 203"/>
            <p:cNvSpPr>
              <a:spLocks noChangeArrowheads="1"/>
            </p:cNvSpPr>
            <p:nvPr/>
          </p:nvSpPr>
          <p:spPr bwMode="auto">
            <a:xfrm>
              <a:off x="6510490" y="4070714"/>
              <a:ext cx="98805" cy="98805"/>
            </a:xfrm>
            <a:prstGeom prst="rect">
              <a:avLst/>
            </a:prstGeom>
            <a:ln>
              <a:headEnd/>
              <a:tailEnd/>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sz="1050">
                <a:latin typeface="Arial" pitchFamily="34" charset="0"/>
                <a:cs typeface="Arial" pitchFamily="34" charset="0"/>
              </a:endParaRPr>
            </a:p>
          </p:txBody>
        </p:sp>
        <p:sp>
          <p:nvSpPr>
            <p:cNvPr id="179" name="Rectangle 204"/>
            <p:cNvSpPr>
              <a:spLocks noChangeArrowheads="1"/>
            </p:cNvSpPr>
            <p:nvPr/>
          </p:nvSpPr>
          <p:spPr bwMode="auto">
            <a:xfrm>
              <a:off x="6648893" y="4244420"/>
              <a:ext cx="98805" cy="98805"/>
            </a:xfrm>
            <a:prstGeom prst="rect">
              <a:avLst/>
            </a:prstGeom>
            <a:solidFill>
              <a:srgbClr val="92D050"/>
            </a:solidFill>
            <a:ln>
              <a:headEnd/>
              <a:tailEn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sz="1050">
                <a:latin typeface="Arial" pitchFamily="34" charset="0"/>
                <a:cs typeface="Arial" pitchFamily="34" charset="0"/>
              </a:endParaRPr>
            </a:p>
          </p:txBody>
        </p:sp>
        <p:pic>
          <p:nvPicPr>
            <p:cNvPr id="182" name="Picture 28" descr="C:\Users\patils1\Desktop\2013 Projects\CIS v2\CIS Slide Deck_Based on Book\Colored Graphics\Physical Compute System With Hypervisor.png"/>
            <p:cNvPicPr>
              <a:picLocks noChangeAspect="1" noChangeArrowheads="1"/>
            </p:cNvPicPr>
            <p:nvPr/>
          </p:nvPicPr>
          <p:blipFill>
            <a:blip r:embed="rId5"/>
            <a:stretch>
              <a:fillRect/>
            </a:stretch>
          </p:blipFill>
          <p:spPr bwMode="auto">
            <a:xfrm>
              <a:off x="1733052" y="1328686"/>
              <a:ext cx="931886" cy="906701"/>
            </a:xfrm>
            <a:prstGeom prst="rect">
              <a:avLst/>
            </a:prstGeom>
            <a:noFill/>
            <a:extLst>
              <a:ext uri="{909E8E84-426E-40DD-AFC4-6F175D3DCCD1}">
                <a14:hiddenFill xmlns:a14="http://schemas.microsoft.com/office/drawing/2010/main">
                  <a:solidFill>
                    <a:srgbClr val="FFFFFF"/>
                  </a:solidFill>
                </a14:hiddenFill>
              </a:ext>
            </a:extLst>
          </p:spPr>
        </p:pic>
        <p:pic>
          <p:nvPicPr>
            <p:cNvPr id="183" name="Picture 28" descr="C:\Users\patils1\Desktop\2013 Projects\CIS v2\CIS Slide Deck_Based on Book\Colored Graphics\Physical Compute System With Hypervisor.png"/>
            <p:cNvPicPr>
              <a:picLocks noChangeAspect="1" noChangeArrowheads="1"/>
            </p:cNvPicPr>
            <p:nvPr/>
          </p:nvPicPr>
          <p:blipFill>
            <a:blip r:embed="rId5"/>
            <a:stretch>
              <a:fillRect/>
            </a:stretch>
          </p:blipFill>
          <p:spPr bwMode="auto">
            <a:xfrm>
              <a:off x="1733052" y="3398756"/>
              <a:ext cx="931886" cy="906701"/>
            </a:xfrm>
            <a:prstGeom prst="rect">
              <a:avLst/>
            </a:prstGeom>
            <a:noFill/>
            <a:extLst>
              <a:ext uri="{909E8E84-426E-40DD-AFC4-6F175D3DCCD1}">
                <a14:hiddenFill xmlns:a14="http://schemas.microsoft.com/office/drawing/2010/main">
                  <a:solidFill>
                    <a:srgbClr val="FFFFFF"/>
                  </a:solidFill>
                </a14:hiddenFill>
              </a:ext>
            </a:extLst>
          </p:spPr>
        </p:pic>
      </p:grpSp>
      <p:sp>
        <p:nvSpPr>
          <p:cNvPr id="195" name="TextBox 194"/>
          <p:cNvSpPr txBox="1"/>
          <p:nvPr/>
        </p:nvSpPr>
        <p:spPr>
          <a:xfrm>
            <a:off x="1771650" y="1790700"/>
            <a:ext cx="990600" cy="230832"/>
          </a:xfrm>
          <a:prstGeom prst="rect">
            <a:avLst/>
          </a:prstGeom>
          <a:noFill/>
        </p:spPr>
        <p:txBody>
          <a:bodyPr wrap="square" rtlCol="0">
            <a:spAutoFit/>
          </a:bodyPr>
          <a:lstStyle/>
          <a:p>
            <a:r>
              <a:rPr lang="ru-RU" sz="900" b="1" i="0" dirty="0">
                <a:solidFill>
                  <a:srgbClr val="000000"/>
                </a:solidFill>
                <a:latin typeface="Arial" pitchFamily="34" charset="0"/>
                <a:cs typeface="Arial" pitchFamily="34" charset="0"/>
              </a:rPr>
              <a:t>Гипервизор</a:t>
            </a:r>
          </a:p>
        </p:txBody>
      </p:sp>
      <p:sp>
        <p:nvSpPr>
          <p:cNvPr id="196" name="TextBox 195"/>
          <p:cNvSpPr txBox="1"/>
          <p:nvPr/>
        </p:nvSpPr>
        <p:spPr>
          <a:xfrm>
            <a:off x="1752600" y="3857625"/>
            <a:ext cx="990600" cy="230832"/>
          </a:xfrm>
          <a:prstGeom prst="rect">
            <a:avLst/>
          </a:prstGeom>
          <a:noFill/>
        </p:spPr>
        <p:txBody>
          <a:bodyPr wrap="square" rtlCol="0">
            <a:spAutoFit/>
          </a:bodyPr>
          <a:lstStyle/>
          <a:p>
            <a:r>
              <a:rPr lang="ru-RU" sz="900" b="1" i="0" dirty="0">
                <a:solidFill>
                  <a:srgbClr val="000000"/>
                </a:solidFill>
                <a:latin typeface="Arial" pitchFamily="34" charset="0"/>
                <a:cs typeface="Arial" pitchFamily="34" charset="0"/>
              </a:rPr>
              <a:t>Гипервизор</a:t>
            </a:r>
          </a:p>
        </p:txBody>
      </p:sp>
      <p:sp>
        <p:nvSpPr>
          <p:cNvPr id="197" name="TextBox 19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749881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Управление кэш-памятью: алгоритмы</a:t>
            </a:r>
          </a:p>
        </p:txBody>
      </p:sp>
      <p:sp>
        <p:nvSpPr>
          <p:cNvPr id="3" name="Content Placeholder 2"/>
          <p:cNvSpPr>
            <a:spLocks noGrp="1"/>
          </p:cNvSpPr>
          <p:nvPr>
            <p:ph sz="quarter" idx="10"/>
          </p:nvPr>
        </p:nvSpPr>
        <p:spPr>
          <a:xfrm>
            <a:off x="379414" y="923925"/>
            <a:ext cx="8458200" cy="3429000"/>
          </a:xfrm>
        </p:spPr>
        <p:txBody>
          <a:bodyPr/>
          <a:lstStyle/>
          <a:p>
            <a:r>
              <a:rPr lang="ru-RU" sz="1400" b="0" i="0" dirty="0">
                <a:solidFill>
                  <a:srgbClr val="000000"/>
                </a:solidFill>
                <a:latin typeface="Arial" pitchFamily="34" charset="0"/>
                <a:cs typeface="Arial" pitchFamily="34" charset="0"/>
              </a:rPr>
              <a:t>LRU — элементы с самой большой давностью использования</a:t>
            </a:r>
          </a:p>
          <a:p>
            <a:pPr lvl="1"/>
            <a:r>
              <a:rPr lang="ru-RU" sz="1400" b="0" i="0" dirty="0">
                <a:solidFill>
                  <a:srgbClr val="000000"/>
                </a:solidFill>
                <a:latin typeface="Arial" pitchFamily="34" charset="0"/>
                <a:cs typeface="Arial" pitchFamily="34" charset="0"/>
              </a:rPr>
              <a:t>Удаляет данные, доступ к которым не выполнялся долгое время</a:t>
            </a:r>
          </a:p>
          <a:p>
            <a:r>
              <a:rPr lang="ru-RU" sz="1400" b="0" i="0" dirty="0">
                <a:solidFill>
                  <a:srgbClr val="000000"/>
                </a:solidFill>
                <a:latin typeface="Arial" pitchFamily="34" charset="0"/>
                <a:cs typeface="Arial" pitchFamily="34" charset="0"/>
              </a:rPr>
              <a:t>MRU — последние по времени использования элементы</a:t>
            </a:r>
          </a:p>
          <a:p>
            <a:pPr lvl="1"/>
            <a:r>
              <a:rPr lang="ru-RU" sz="1400" b="0" i="0" dirty="0">
                <a:solidFill>
                  <a:srgbClr val="000000"/>
                </a:solidFill>
                <a:latin typeface="Arial" pitchFamily="34" charset="0"/>
                <a:cs typeface="Arial" pitchFamily="34" charset="0"/>
              </a:rPr>
              <a:t>Удаляет данные, доступ к которым осуществлялся недавно</a:t>
            </a:r>
          </a:p>
          <a:p>
            <a:endParaRPr lang="en-US" dirty="0">
              <a:latin typeface="Arial" pitchFamily="34" charset="0"/>
              <a:cs typeface="Arial" pitchFamily="34" charset="0"/>
            </a:endParaRPr>
          </a:p>
        </p:txBody>
      </p:sp>
      <p:grpSp>
        <p:nvGrpSpPr>
          <p:cNvPr id="5" name="Group 4"/>
          <p:cNvGrpSpPr/>
          <p:nvPr/>
        </p:nvGrpSpPr>
        <p:grpSpPr>
          <a:xfrm>
            <a:off x="1650132" y="2114550"/>
            <a:ext cx="5716771" cy="2376925"/>
            <a:chOff x="1650132" y="3368053"/>
            <a:chExt cx="5716771" cy="2376925"/>
          </a:xfrm>
        </p:grpSpPr>
        <p:sp>
          <p:nvSpPr>
            <p:cNvPr id="6" name="Rectangle 141"/>
            <p:cNvSpPr>
              <a:spLocks noChangeArrowheads="1"/>
            </p:cNvSpPr>
            <p:nvPr/>
          </p:nvSpPr>
          <p:spPr bwMode="auto">
            <a:xfrm>
              <a:off x="2044371" y="3368053"/>
              <a:ext cx="267907" cy="267907"/>
            </a:xfrm>
            <a:prstGeom prst="rect">
              <a:avLst/>
            </a:prstGeom>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 name="Text Box 159"/>
            <p:cNvSpPr txBox="1">
              <a:spLocks noChangeArrowheads="1"/>
            </p:cNvSpPr>
            <p:nvPr/>
          </p:nvSpPr>
          <p:spPr bwMode="auto">
            <a:xfrm>
              <a:off x="1650132" y="3716762"/>
              <a:ext cx="1056379" cy="16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nchor="ctr">
              <a:spAutoFit/>
            </a:bodyPr>
            <a:lstStyle>
              <a:lvl1pPr defTabSz="941388">
                <a:spcBef>
                  <a:spcPct val="0"/>
                </a:spcBef>
                <a:defRPr>
                  <a:solidFill>
                    <a:schemeClr val="tx1"/>
                  </a:solidFill>
                  <a:latin typeface="Arial" charset="0"/>
                  <a:cs typeface="Arial" charset="0"/>
                </a:defRPr>
              </a:lvl1pPr>
              <a:lvl2pPr defTabSz="941388">
                <a:spcBef>
                  <a:spcPct val="0"/>
                </a:spcBef>
                <a:defRPr>
                  <a:solidFill>
                    <a:schemeClr val="tx1"/>
                  </a:solidFill>
                  <a:latin typeface="Arial" charset="0"/>
                  <a:cs typeface="Arial" charset="0"/>
                </a:defRPr>
              </a:lvl2pPr>
              <a:lvl3pPr defTabSz="941388">
                <a:spcBef>
                  <a:spcPct val="0"/>
                </a:spcBef>
                <a:defRPr>
                  <a:solidFill>
                    <a:schemeClr val="tx1"/>
                  </a:solidFill>
                  <a:latin typeface="Arial" charset="0"/>
                  <a:cs typeface="Arial" charset="0"/>
                </a:defRPr>
              </a:lvl3pPr>
              <a:lvl4pPr defTabSz="941388">
                <a:spcBef>
                  <a:spcPct val="0"/>
                </a:spcBef>
                <a:defRPr>
                  <a:solidFill>
                    <a:schemeClr val="tx1"/>
                  </a:solidFill>
                  <a:latin typeface="Arial" charset="0"/>
                  <a:cs typeface="Arial" charset="0"/>
                </a:defRPr>
              </a:lvl4pPr>
              <a:lvl5pPr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200" b="0" i="0" dirty="0">
                  <a:solidFill>
                    <a:srgbClr val="000000"/>
                  </a:solidFill>
                  <a:latin typeface="Arial" pitchFamily="34" charset="0"/>
                  <a:cs typeface="Arial" pitchFamily="34" charset="0"/>
                </a:rPr>
                <a:t>Новые данные</a:t>
              </a:r>
            </a:p>
          </p:txBody>
        </p:sp>
        <p:sp>
          <p:nvSpPr>
            <p:cNvPr id="8" name="Text Box 160"/>
            <p:cNvSpPr txBox="1">
              <a:spLocks noChangeArrowheads="1"/>
            </p:cNvSpPr>
            <p:nvPr/>
          </p:nvSpPr>
          <p:spPr bwMode="auto">
            <a:xfrm>
              <a:off x="6070073" y="5566578"/>
              <a:ext cx="1296830" cy="16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nchor="ctr">
              <a:spAutoFit/>
            </a:bodyPr>
            <a:lstStyle>
              <a:lvl1pPr defTabSz="941388">
                <a:spcBef>
                  <a:spcPct val="0"/>
                </a:spcBef>
                <a:defRPr>
                  <a:solidFill>
                    <a:schemeClr val="tx1"/>
                  </a:solidFill>
                  <a:latin typeface="Arial" charset="0"/>
                  <a:cs typeface="Arial" charset="0"/>
                </a:defRPr>
              </a:lvl1pPr>
              <a:lvl2pPr defTabSz="941388">
                <a:spcBef>
                  <a:spcPct val="0"/>
                </a:spcBef>
                <a:defRPr>
                  <a:solidFill>
                    <a:schemeClr val="tx1"/>
                  </a:solidFill>
                  <a:latin typeface="Arial" charset="0"/>
                  <a:cs typeface="Arial" charset="0"/>
                </a:defRPr>
              </a:lvl2pPr>
              <a:lvl3pPr defTabSz="941388">
                <a:spcBef>
                  <a:spcPct val="0"/>
                </a:spcBef>
                <a:defRPr>
                  <a:solidFill>
                    <a:schemeClr val="tx1"/>
                  </a:solidFill>
                  <a:latin typeface="Arial" charset="0"/>
                  <a:cs typeface="Arial" charset="0"/>
                </a:defRPr>
              </a:lvl3pPr>
              <a:lvl4pPr defTabSz="941388">
                <a:spcBef>
                  <a:spcPct val="0"/>
                </a:spcBef>
                <a:defRPr>
                  <a:solidFill>
                    <a:schemeClr val="tx1"/>
                  </a:solidFill>
                  <a:latin typeface="Arial" charset="0"/>
                  <a:cs typeface="Arial" charset="0"/>
                </a:defRPr>
              </a:lvl4pPr>
              <a:lvl5pPr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200" b="0" i="0" dirty="0">
                  <a:solidFill>
                    <a:srgbClr val="000000"/>
                  </a:solidFill>
                  <a:latin typeface="Arial" pitchFamily="34" charset="0"/>
                  <a:cs typeface="Arial" pitchFamily="34" charset="0"/>
                </a:rPr>
                <a:t>Данные LRU/MRU</a:t>
              </a:r>
            </a:p>
          </p:txBody>
        </p:sp>
        <p:sp>
          <p:nvSpPr>
            <p:cNvPr id="9" name="Line 161"/>
            <p:cNvSpPr>
              <a:spLocks noChangeShapeType="1"/>
            </p:cNvSpPr>
            <p:nvPr/>
          </p:nvSpPr>
          <p:spPr bwMode="auto">
            <a:xfrm flipV="1">
              <a:off x="5487480" y="5377351"/>
              <a:ext cx="1002169" cy="0"/>
            </a:xfrm>
            <a:prstGeom prst="line">
              <a:avLst/>
            </a:prstGeom>
            <a:noFill/>
            <a:ln w="6350">
              <a:solidFill>
                <a:schemeClr val="tx1"/>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a:latin typeface="Arial" pitchFamily="34" charset="0"/>
                <a:ea typeface="Verdana" panose="020B0604030504040204" pitchFamily="34" charset="0"/>
                <a:cs typeface="Arial" pitchFamily="34" charset="0"/>
              </a:endParaRPr>
            </a:p>
          </p:txBody>
        </p:sp>
        <p:sp>
          <p:nvSpPr>
            <p:cNvPr id="10" name="Line 162"/>
            <p:cNvSpPr>
              <a:spLocks noChangeShapeType="1"/>
            </p:cNvSpPr>
            <p:nvPr/>
          </p:nvSpPr>
          <p:spPr bwMode="auto">
            <a:xfrm rot="10800000" flipH="1">
              <a:off x="2411501" y="3502007"/>
              <a:ext cx="853336" cy="2"/>
            </a:xfrm>
            <a:prstGeom prst="line">
              <a:avLst/>
            </a:prstGeom>
            <a:noFill/>
            <a:ln w="6350">
              <a:solidFill>
                <a:schemeClr val="tx1"/>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a:latin typeface="Arial" pitchFamily="34" charset="0"/>
                <a:ea typeface="Verdana" panose="020B0604030504040204" pitchFamily="34" charset="0"/>
                <a:cs typeface="Arial" pitchFamily="34" charset="0"/>
              </a:endParaRPr>
            </a:p>
          </p:txBody>
        </p:sp>
        <p:sp>
          <p:nvSpPr>
            <p:cNvPr id="11" name="Rectangle 142"/>
            <p:cNvSpPr>
              <a:spLocks noChangeArrowheads="1"/>
            </p:cNvSpPr>
            <p:nvPr/>
          </p:nvSpPr>
          <p:spPr bwMode="auto">
            <a:xfrm>
              <a:off x="6584536" y="5243393"/>
              <a:ext cx="267909" cy="267905"/>
            </a:xfrm>
            <a:prstGeom prst="rect">
              <a:avLst/>
            </a:prstGeom>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2" name="Text Box 159"/>
            <p:cNvSpPr txBox="1">
              <a:spLocks noChangeArrowheads="1"/>
            </p:cNvSpPr>
            <p:nvPr/>
          </p:nvSpPr>
          <p:spPr bwMode="auto">
            <a:xfrm>
              <a:off x="3917481" y="5578779"/>
              <a:ext cx="851195" cy="16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nchor="ctr">
              <a:spAutoFit/>
            </a:bodyPr>
            <a:lstStyle>
              <a:lvl1pPr defTabSz="941388">
                <a:spcBef>
                  <a:spcPct val="0"/>
                </a:spcBef>
                <a:defRPr>
                  <a:solidFill>
                    <a:schemeClr val="tx1"/>
                  </a:solidFill>
                  <a:latin typeface="Arial" charset="0"/>
                  <a:cs typeface="Arial" charset="0"/>
                </a:defRPr>
              </a:lvl1pPr>
              <a:lvl2pPr defTabSz="941388">
                <a:spcBef>
                  <a:spcPct val="0"/>
                </a:spcBef>
                <a:defRPr>
                  <a:solidFill>
                    <a:schemeClr val="tx1"/>
                  </a:solidFill>
                  <a:latin typeface="Arial" charset="0"/>
                  <a:cs typeface="Arial" charset="0"/>
                </a:defRPr>
              </a:lvl2pPr>
              <a:lvl3pPr defTabSz="941388">
                <a:spcBef>
                  <a:spcPct val="0"/>
                </a:spcBef>
                <a:defRPr>
                  <a:solidFill>
                    <a:schemeClr val="tx1"/>
                  </a:solidFill>
                  <a:latin typeface="Arial" charset="0"/>
                  <a:cs typeface="Arial" charset="0"/>
                </a:defRPr>
              </a:lvl3pPr>
              <a:lvl4pPr defTabSz="941388">
                <a:spcBef>
                  <a:spcPct val="0"/>
                </a:spcBef>
                <a:defRPr>
                  <a:solidFill>
                    <a:schemeClr val="tx1"/>
                  </a:solidFill>
                  <a:latin typeface="Arial" charset="0"/>
                  <a:cs typeface="Arial" charset="0"/>
                </a:defRPr>
              </a:lvl4pPr>
              <a:lvl5pPr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200" b="0" i="0" dirty="0">
                  <a:solidFill>
                    <a:srgbClr val="000000"/>
                  </a:solidFill>
                  <a:latin typeface="Arial" pitchFamily="34" charset="0"/>
                  <a:cs typeface="Arial" pitchFamily="34" charset="0"/>
                </a:rPr>
                <a:t>Кэш-память</a:t>
              </a:r>
            </a:p>
          </p:txBody>
        </p:sp>
        <p:sp>
          <p:nvSpPr>
            <p:cNvPr id="13" name="Rectangle 97"/>
            <p:cNvSpPr>
              <a:spLocks noChangeArrowheads="1"/>
            </p:cNvSpPr>
            <p:nvPr/>
          </p:nvSpPr>
          <p:spPr bwMode="auto">
            <a:xfrm>
              <a:off x="3274758" y="4171775"/>
              <a:ext cx="267908" cy="267905"/>
            </a:xfrm>
            <a:prstGeom prst="rect">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4" name="Rectangle 98"/>
            <p:cNvSpPr>
              <a:spLocks noChangeArrowheads="1"/>
            </p:cNvSpPr>
            <p:nvPr/>
          </p:nvSpPr>
          <p:spPr bwMode="auto">
            <a:xfrm>
              <a:off x="3542666" y="4171775"/>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5" name="Rectangle 99"/>
            <p:cNvSpPr>
              <a:spLocks noChangeArrowheads="1"/>
            </p:cNvSpPr>
            <p:nvPr/>
          </p:nvSpPr>
          <p:spPr bwMode="auto">
            <a:xfrm>
              <a:off x="3810573" y="4171775"/>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6" name="Rectangle 100"/>
            <p:cNvSpPr>
              <a:spLocks noChangeArrowheads="1"/>
            </p:cNvSpPr>
            <p:nvPr/>
          </p:nvSpPr>
          <p:spPr bwMode="auto">
            <a:xfrm>
              <a:off x="4078481" y="4171775"/>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7" name="Rectangle 106"/>
            <p:cNvSpPr>
              <a:spLocks noChangeArrowheads="1"/>
            </p:cNvSpPr>
            <p:nvPr/>
          </p:nvSpPr>
          <p:spPr bwMode="auto">
            <a:xfrm>
              <a:off x="3274758" y="4439680"/>
              <a:ext cx="267908" cy="267907"/>
            </a:xfrm>
            <a:prstGeom prst="rect">
              <a:avLst/>
            </a:prstGeom>
            <a:solidFill>
              <a:srgbClr val="7030A0"/>
            </a:solidFill>
            <a:ln>
              <a:solidFill>
                <a:schemeClr val="tx1"/>
              </a:solidFill>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8" name="Rectangle 107"/>
            <p:cNvSpPr>
              <a:spLocks noChangeArrowheads="1"/>
            </p:cNvSpPr>
            <p:nvPr/>
          </p:nvSpPr>
          <p:spPr bwMode="auto">
            <a:xfrm>
              <a:off x="3542666" y="4439680"/>
              <a:ext cx="267908" cy="267907"/>
            </a:xfrm>
            <a:prstGeom prst="rect">
              <a:avLst/>
            </a:prstGeom>
            <a:solidFill>
              <a:srgbClr val="7030A0"/>
            </a:solidFill>
            <a:ln>
              <a:solidFill>
                <a:schemeClr val="tx1"/>
              </a:solidFill>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9" name="Rectangle 108"/>
            <p:cNvSpPr>
              <a:spLocks noChangeArrowheads="1"/>
            </p:cNvSpPr>
            <p:nvPr/>
          </p:nvSpPr>
          <p:spPr bwMode="auto">
            <a:xfrm>
              <a:off x="3810573" y="4439680"/>
              <a:ext cx="267908" cy="267907"/>
            </a:xfrm>
            <a:prstGeom prst="rect">
              <a:avLst/>
            </a:prstGeom>
            <a:solidFill>
              <a:srgbClr val="7030A0"/>
            </a:solidFill>
            <a:ln>
              <a:solidFill>
                <a:schemeClr val="tx1"/>
              </a:solidFill>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20" name="Rectangle 109"/>
            <p:cNvSpPr>
              <a:spLocks noChangeArrowheads="1"/>
            </p:cNvSpPr>
            <p:nvPr/>
          </p:nvSpPr>
          <p:spPr bwMode="auto">
            <a:xfrm>
              <a:off x="4078481" y="4439680"/>
              <a:ext cx="267908" cy="267907"/>
            </a:xfrm>
            <a:prstGeom prst="rect">
              <a:avLst/>
            </a:prstGeom>
            <a:solidFill>
              <a:srgbClr val="7030A0"/>
            </a:solidFill>
            <a:ln>
              <a:solidFill>
                <a:schemeClr val="tx1"/>
              </a:solidFill>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21" name="Rectangle 110"/>
            <p:cNvSpPr>
              <a:spLocks noChangeArrowheads="1"/>
            </p:cNvSpPr>
            <p:nvPr/>
          </p:nvSpPr>
          <p:spPr bwMode="auto">
            <a:xfrm>
              <a:off x="4346389" y="4439680"/>
              <a:ext cx="267908" cy="267907"/>
            </a:xfrm>
            <a:prstGeom prst="rect">
              <a:avLst/>
            </a:prstGeom>
            <a:solidFill>
              <a:srgbClr val="7030A0"/>
            </a:solidFill>
            <a:ln>
              <a:solidFill>
                <a:schemeClr val="tx1"/>
              </a:solidFill>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22" name="Rectangle 111"/>
            <p:cNvSpPr>
              <a:spLocks noChangeArrowheads="1"/>
            </p:cNvSpPr>
            <p:nvPr/>
          </p:nvSpPr>
          <p:spPr bwMode="auto">
            <a:xfrm>
              <a:off x="4614296" y="4439680"/>
              <a:ext cx="267908" cy="267907"/>
            </a:xfrm>
            <a:prstGeom prst="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23" name="Rectangle 112"/>
            <p:cNvSpPr>
              <a:spLocks noChangeArrowheads="1"/>
            </p:cNvSpPr>
            <p:nvPr/>
          </p:nvSpPr>
          <p:spPr bwMode="auto">
            <a:xfrm>
              <a:off x="4882204" y="4439680"/>
              <a:ext cx="267908" cy="267907"/>
            </a:xfrm>
            <a:prstGeom prst="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24" name="Rectangle 113"/>
            <p:cNvSpPr>
              <a:spLocks noChangeArrowheads="1"/>
            </p:cNvSpPr>
            <p:nvPr/>
          </p:nvSpPr>
          <p:spPr bwMode="auto">
            <a:xfrm>
              <a:off x="5150111" y="4439680"/>
              <a:ext cx="267908" cy="267907"/>
            </a:xfrm>
            <a:prstGeom prst="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25" name="Rectangle 115"/>
            <p:cNvSpPr>
              <a:spLocks noChangeArrowheads="1"/>
            </p:cNvSpPr>
            <p:nvPr/>
          </p:nvSpPr>
          <p:spPr bwMode="auto">
            <a:xfrm>
              <a:off x="3274758" y="4707589"/>
              <a:ext cx="267908" cy="267905"/>
            </a:xfrm>
            <a:prstGeom prst="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26" name="Rectangle 116"/>
            <p:cNvSpPr>
              <a:spLocks noChangeArrowheads="1"/>
            </p:cNvSpPr>
            <p:nvPr/>
          </p:nvSpPr>
          <p:spPr bwMode="auto">
            <a:xfrm>
              <a:off x="3542666" y="4707589"/>
              <a:ext cx="267908" cy="267905"/>
            </a:xfrm>
            <a:prstGeom prst="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27" name="Rectangle 117"/>
            <p:cNvSpPr>
              <a:spLocks noChangeArrowheads="1"/>
            </p:cNvSpPr>
            <p:nvPr/>
          </p:nvSpPr>
          <p:spPr bwMode="auto">
            <a:xfrm>
              <a:off x="3810573" y="4707589"/>
              <a:ext cx="267908" cy="267905"/>
            </a:xfrm>
            <a:prstGeom prst="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28" name="Rectangle 118"/>
            <p:cNvSpPr>
              <a:spLocks noChangeArrowheads="1"/>
            </p:cNvSpPr>
            <p:nvPr/>
          </p:nvSpPr>
          <p:spPr bwMode="auto">
            <a:xfrm>
              <a:off x="4078481" y="4707589"/>
              <a:ext cx="267908" cy="267905"/>
            </a:xfrm>
            <a:prstGeom prst="rect">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29" name="Rectangle 119"/>
            <p:cNvSpPr>
              <a:spLocks noChangeArrowheads="1"/>
            </p:cNvSpPr>
            <p:nvPr/>
          </p:nvSpPr>
          <p:spPr bwMode="auto">
            <a:xfrm>
              <a:off x="4346389" y="4707589"/>
              <a:ext cx="267908" cy="267905"/>
            </a:xfrm>
            <a:prstGeom prst="rect">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0" name="Rectangle 120"/>
            <p:cNvSpPr>
              <a:spLocks noChangeArrowheads="1"/>
            </p:cNvSpPr>
            <p:nvPr/>
          </p:nvSpPr>
          <p:spPr bwMode="auto">
            <a:xfrm>
              <a:off x="4614296" y="4707589"/>
              <a:ext cx="267908" cy="267905"/>
            </a:xfrm>
            <a:prstGeom prst="rect">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1" name="Rectangle 121"/>
            <p:cNvSpPr>
              <a:spLocks noChangeArrowheads="1"/>
            </p:cNvSpPr>
            <p:nvPr/>
          </p:nvSpPr>
          <p:spPr bwMode="auto">
            <a:xfrm>
              <a:off x="4882204" y="4707589"/>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2" name="Rectangle 122"/>
            <p:cNvSpPr>
              <a:spLocks noChangeArrowheads="1"/>
            </p:cNvSpPr>
            <p:nvPr/>
          </p:nvSpPr>
          <p:spPr bwMode="auto">
            <a:xfrm>
              <a:off x="5150111" y="4707589"/>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3" name="Rectangle 124"/>
            <p:cNvSpPr>
              <a:spLocks noChangeArrowheads="1"/>
            </p:cNvSpPr>
            <p:nvPr/>
          </p:nvSpPr>
          <p:spPr bwMode="auto">
            <a:xfrm>
              <a:off x="3274758" y="4975494"/>
              <a:ext cx="267908" cy="267907"/>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4" name="Rectangle 125"/>
            <p:cNvSpPr>
              <a:spLocks noChangeArrowheads="1"/>
            </p:cNvSpPr>
            <p:nvPr/>
          </p:nvSpPr>
          <p:spPr bwMode="auto">
            <a:xfrm>
              <a:off x="3542666" y="4975494"/>
              <a:ext cx="267908" cy="267907"/>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5" name="Rectangle 126"/>
            <p:cNvSpPr>
              <a:spLocks noChangeArrowheads="1"/>
            </p:cNvSpPr>
            <p:nvPr/>
          </p:nvSpPr>
          <p:spPr bwMode="auto">
            <a:xfrm>
              <a:off x="3810573" y="4975494"/>
              <a:ext cx="267908" cy="267907"/>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6" name="Rectangle 127"/>
            <p:cNvSpPr>
              <a:spLocks noChangeArrowheads="1"/>
            </p:cNvSpPr>
            <p:nvPr/>
          </p:nvSpPr>
          <p:spPr bwMode="auto">
            <a:xfrm>
              <a:off x="4078481" y="4975494"/>
              <a:ext cx="267908" cy="267907"/>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7" name="Rectangle 128"/>
            <p:cNvSpPr>
              <a:spLocks noChangeArrowheads="1"/>
            </p:cNvSpPr>
            <p:nvPr/>
          </p:nvSpPr>
          <p:spPr bwMode="auto">
            <a:xfrm>
              <a:off x="4346389" y="4975494"/>
              <a:ext cx="267908" cy="267907"/>
            </a:xfrm>
            <a:prstGeom prst="rect">
              <a:avLst/>
            </a:prstGeom>
            <a:solidFill>
              <a:srgbClr val="7030A0"/>
            </a:solidFill>
            <a:ln>
              <a:solidFill>
                <a:schemeClr val="tx1"/>
              </a:solidFill>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8" name="Rectangle 129"/>
            <p:cNvSpPr>
              <a:spLocks noChangeArrowheads="1"/>
            </p:cNvSpPr>
            <p:nvPr/>
          </p:nvSpPr>
          <p:spPr bwMode="auto">
            <a:xfrm>
              <a:off x="4614296" y="4975494"/>
              <a:ext cx="267908" cy="267907"/>
            </a:xfrm>
            <a:prstGeom prst="rect">
              <a:avLst/>
            </a:prstGeom>
            <a:solidFill>
              <a:srgbClr val="7030A0"/>
            </a:solidFill>
            <a:ln>
              <a:solidFill>
                <a:schemeClr val="tx1"/>
              </a:solidFill>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9" name="Rectangle 130"/>
            <p:cNvSpPr>
              <a:spLocks noChangeArrowheads="1"/>
            </p:cNvSpPr>
            <p:nvPr/>
          </p:nvSpPr>
          <p:spPr bwMode="auto">
            <a:xfrm>
              <a:off x="4882204" y="4975494"/>
              <a:ext cx="267908" cy="267907"/>
            </a:xfrm>
            <a:prstGeom prst="rect">
              <a:avLst/>
            </a:prstGeom>
            <a:solidFill>
              <a:srgbClr val="7030A0"/>
            </a:solidFill>
            <a:ln>
              <a:solidFill>
                <a:schemeClr val="tx1"/>
              </a:solidFill>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0" name="Rectangle 131"/>
            <p:cNvSpPr>
              <a:spLocks noChangeArrowheads="1"/>
            </p:cNvSpPr>
            <p:nvPr/>
          </p:nvSpPr>
          <p:spPr bwMode="auto">
            <a:xfrm>
              <a:off x="5150111" y="4975494"/>
              <a:ext cx="267908" cy="267907"/>
            </a:xfrm>
            <a:prstGeom prst="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1" name="Rectangle 133"/>
            <p:cNvSpPr>
              <a:spLocks noChangeArrowheads="1"/>
            </p:cNvSpPr>
            <p:nvPr/>
          </p:nvSpPr>
          <p:spPr bwMode="auto">
            <a:xfrm>
              <a:off x="3274758" y="5243402"/>
              <a:ext cx="267908" cy="267905"/>
            </a:xfrm>
            <a:prstGeom prst="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2" name="Rectangle 134"/>
            <p:cNvSpPr>
              <a:spLocks noChangeArrowheads="1"/>
            </p:cNvSpPr>
            <p:nvPr/>
          </p:nvSpPr>
          <p:spPr bwMode="auto">
            <a:xfrm>
              <a:off x="3542666" y="5243402"/>
              <a:ext cx="267908" cy="267905"/>
            </a:xfrm>
            <a:prstGeom prst="rect">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3" name="Rectangle 135"/>
            <p:cNvSpPr>
              <a:spLocks noChangeArrowheads="1"/>
            </p:cNvSpPr>
            <p:nvPr/>
          </p:nvSpPr>
          <p:spPr bwMode="auto">
            <a:xfrm>
              <a:off x="3810573" y="5243402"/>
              <a:ext cx="267908" cy="267905"/>
            </a:xfrm>
            <a:prstGeom prst="rect">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4" name="Rectangle 136"/>
            <p:cNvSpPr>
              <a:spLocks noChangeArrowheads="1"/>
            </p:cNvSpPr>
            <p:nvPr/>
          </p:nvSpPr>
          <p:spPr bwMode="auto">
            <a:xfrm>
              <a:off x="4078481" y="5243402"/>
              <a:ext cx="267908" cy="267905"/>
            </a:xfrm>
            <a:prstGeom prst="rect">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5" name="Rectangle 137"/>
            <p:cNvSpPr>
              <a:spLocks noChangeArrowheads="1"/>
            </p:cNvSpPr>
            <p:nvPr/>
          </p:nvSpPr>
          <p:spPr bwMode="auto">
            <a:xfrm>
              <a:off x="4346389" y="5243402"/>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6" name="Rectangle 138"/>
            <p:cNvSpPr>
              <a:spLocks noChangeArrowheads="1"/>
            </p:cNvSpPr>
            <p:nvPr/>
          </p:nvSpPr>
          <p:spPr bwMode="auto">
            <a:xfrm>
              <a:off x="4614296" y="5243402"/>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7" name="Rectangle 139"/>
            <p:cNvSpPr>
              <a:spLocks noChangeArrowheads="1"/>
            </p:cNvSpPr>
            <p:nvPr/>
          </p:nvSpPr>
          <p:spPr bwMode="auto">
            <a:xfrm>
              <a:off x="4882204" y="5243402"/>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8" name="Rectangle 142"/>
            <p:cNvSpPr>
              <a:spLocks noChangeArrowheads="1"/>
            </p:cNvSpPr>
            <p:nvPr/>
          </p:nvSpPr>
          <p:spPr bwMode="auto">
            <a:xfrm>
              <a:off x="5150110" y="5243402"/>
              <a:ext cx="267909"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9" name="Rectangle 70"/>
            <p:cNvSpPr>
              <a:spLocks noChangeArrowheads="1"/>
            </p:cNvSpPr>
            <p:nvPr/>
          </p:nvSpPr>
          <p:spPr bwMode="auto">
            <a:xfrm>
              <a:off x="3274758" y="3368053"/>
              <a:ext cx="267908" cy="267907"/>
            </a:xfrm>
            <a:prstGeom prst="rect">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0" name="Rectangle 71"/>
            <p:cNvSpPr>
              <a:spLocks noChangeArrowheads="1"/>
            </p:cNvSpPr>
            <p:nvPr/>
          </p:nvSpPr>
          <p:spPr bwMode="auto">
            <a:xfrm>
              <a:off x="3542666" y="3368053"/>
              <a:ext cx="267908" cy="267907"/>
            </a:xfrm>
            <a:prstGeom prst="rect">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1" name="Rectangle 72"/>
            <p:cNvSpPr>
              <a:spLocks noChangeArrowheads="1"/>
            </p:cNvSpPr>
            <p:nvPr/>
          </p:nvSpPr>
          <p:spPr bwMode="auto">
            <a:xfrm>
              <a:off x="3810573" y="3368053"/>
              <a:ext cx="267908" cy="267907"/>
            </a:xfrm>
            <a:prstGeom prst="rect">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2" name="Rectangle 73"/>
            <p:cNvSpPr>
              <a:spLocks noChangeArrowheads="1"/>
            </p:cNvSpPr>
            <p:nvPr/>
          </p:nvSpPr>
          <p:spPr bwMode="auto">
            <a:xfrm>
              <a:off x="4078481" y="3368053"/>
              <a:ext cx="267908" cy="267907"/>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3" name="Rectangle 74"/>
            <p:cNvSpPr>
              <a:spLocks noChangeArrowheads="1"/>
            </p:cNvSpPr>
            <p:nvPr/>
          </p:nvSpPr>
          <p:spPr bwMode="auto">
            <a:xfrm>
              <a:off x="4346389" y="3368053"/>
              <a:ext cx="267908" cy="267907"/>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4" name="Rectangle 75"/>
            <p:cNvSpPr>
              <a:spLocks noChangeArrowheads="1"/>
            </p:cNvSpPr>
            <p:nvPr/>
          </p:nvSpPr>
          <p:spPr bwMode="auto">
            <a:xfrm>
              <a:off x="4614296" y="3368053"/>
              <a:ext cx="267908" cy="267907"/>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5" name="Rectangle 76"/>
            <p:cNvSpPr>
              <a:spLocks noChangeArrowheads="1"/>
            </p:cNvSpPr>
            <p:nvPr/>
          </p:nvSpPr>
          <p:spPr bwMode="auto">
            <a:xfrm>
              <a:off x="4882204" y="3368053"/>
              <a:ext cx="267908" cy="267907"/>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6" name="Rectangle 77"/>
            <p:cNvSpPr>
              <a:spLocks noChangeArrowheads="1"/>
            </p:cNvSpPr>
            <p:nvPr/>
          </p:nvSpPr>
          <p:spPr bwMode="auto">
            <a:xfrm>
              <a:off x="5150111" y="3368053"/>
              <a:ext cx="267908" cy="267907"/>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7" name="Rectangle 79"/>
            <p:cNvSpPr>
              <a:spLocks noChangeArrowheads="1"/>
            </p:cNvSpPr>
            <p:nvPr/>
          </p:nvSpPr>
          <p:spPr bwMode="auto">
            <a:xfrm>
              <a:off x="3274758" y="3635962"/>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8" name="Rectangle 80"/>
            <p:cNvSpPr>
              <a:spLocks noChangeArrowheads="1"/>
            </p:cNvSpPr>
            <p:nvPr/>
          </p:nvSpPr>
          <p:spPr bwMode="auto">
            <a:xfrm>
              <a:off x="3542666" y="3635962"/>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9" name="Rectangle 81"/>
            <p:cNvSpPr>
              <a:spLocks noChangeArrowheads="1"/>
            </p:cNvSpPr>
            <p:nvPr/>
          </p:nvSpPr>
          <p:spPr bwMode="auto">
            <a:xfrm>
              <a:off x="3810573" y="3635962"/>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0" name="Rectangle 82"/>
            <p:cNvSpPr>
              <a:spLocks noChangeArrowheads="1"/>
            </p:cNvSpPr>
            <p:nvPr/>
          </p:nvSpPr>
          <p:spPr bwMode="auto">
            <a:xfrm>
              <a:off x="4078481" y="3635962"/>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1" name="Rectangle 83"/>
            <p:cNvSpPr>
              <a:spLocks noChangeArrowheads="1"/>
            </p:cNvSpPr>
            <p:nvPr/>
          </p:nvSpPr>
          <p:spPr bwMode="auto">
            <a:xfrm>
              <a:off x="4346389" y="3635962"/>
              <a:ext cx="267908" cy="267905"/>
            </a:xfrm>
            <a:prstGeom prst="rect">
              <a:avLst/>
            </a:prstGeom>
            <a:solidFill>
              <a:srgbClr val="7030A0"/>
            </a:solidFill>
            <a:ln>
              <a:solidFill>
                <a:schemeClr val="tx1"/>
              </a:solidFill>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2" name="Rectangle 84"/>
            <p:cNvSpPr>
              <a:spLocks noChangeArrowheads="1"/>
            </p:cNvSpPr>
            <p:nvPr/>
          </p:nvSpPr>
          <p:spPr bwMode="auto">
            <a:xfrm>
              <a:off x="4614296" y="3635962"/>
              <a:ext cx="267908" cy="267905"/>
            </a:xfrm>
            <a:prstGeom prst="rect">
              <a:avLst/>
            </a:prstGeom>
            <a:solidFill>
              <a:srgbClr val="7030A0"/>
            </a:solidFill>
            <a:ln>
              <a:solidFill>
                <a:schemeClr val="tx1"/>
              </a:solidFill>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3" name="Rectangle 85"/>
            <p:cNvSpPr>
              <a:spLocks noChangeArrowheads="1"/>
            </p:cNvSpPr>
            <p:nvPr/>
          </p:nvSpPr>
          <p:spPr bwMode="auto">
            <a:xfrm>
              <a:off x="4882204" y="3635962"/>
              <a:ext cx="267908" cy="267905"/>
            </a:xfrm>
            <a:prstGeom prst="rect">
              <a:avLst/>
            </a:prstGeom>
            <a:solidFill>
              <a:srgbClr val="7030A0"/>
            </a:solidFill>
            <a:ln>
              <a:solidFill>
                <a:schemeClr val="tx1"/>
              </a:solidFill>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4" name="Rectangle 86"/>
            <p:cNvSpPr>
              <a:spLocks noChangeArrowheads="1"/>
            </p:cNvSpPr>
            <p:nvPr/>
          </p:nvSpPr>
          <p:spPr bwMode="auto">
            <a:xfrm>
              <a:off x="5150111" y="3635962"/>
              <a:ext cx="267908" cy="267905"/>
            </a:xfrm>
            <a:prstGeom prst="rect">
              <a:avLst/>
            </a:prstGeom>
            <a:solidFill>
              <a:srgbClr val="7030A0"/>
            </a:solidFill>
            <a:ln>
              <a:solidFill>
                <a:schemeClr val="tx1"/>
              </a:solidFill>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5" name="Rectangle 88"/>
            <p:cNvSpPr>
              <a:spLocks noChangeArrowheads="1"/>
            </p:cNvSpPr>
            <p:nvPr/>
          </p:nvSpPr>
          <p:spPr bwMode="auto">
            <a:xfrm>
              <a:off x="3274758" y="3903868"/>
              <a:ext cx="267908" cy="267907"/>
            </a:xfrm>
            <a:prstGeom prst="rect">
              <a:avLst/>
            </a:prstGeom>
            <a:solidFill>
              <a:srgbClr val="7030A0"/>
            </a:solidFill>
            <a:ln>
              <a:solidFill>
                <a:schemeClr val="tx1"/>
              </a:solidFill>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6" name="Rectangle 89"/>
            <p:cNvSpPr>
              <a:spLocks noChangeArrowheads="1"/>
            </p:cNvSpPr>
            <p:nvPr/>
          </p:nvSpPr>
          <p:spPr bwMode="auto">
            <a:xfrm>
              <a:off x="3542666" y="3903868"/>
              <a:ext cx="267908" cy="267907"/>
            </a:xfrm>
            <a:prstGeom prst="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7" name="Rectangle 90"/>
            <p:cNvSpPr>
              <a:spLocks noChangeArrowheads="1"/>
            </p:cNvSpPr>
            <p:nvPr/>
          </p:nvSpPr>
          <p:spPr bwMode="auto">
            <a:xfrm>
              <a:off x="3810573" y="3903868"/>
              <a:ext cx="267908" cy="267907"/>
            </a:xfrm>
            <a:prstGeom prst="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8" name="Rectangle 91"/>
            <p:cNvSpPr>
              <a:spLocks noChangeArrowheads="1"/>
            </p:cNvSpPr>
            <p:nvPr/>
          </p:nvSpPr>
          <p:spPr bwMode="auto">
            <a:xfrm>
              <a:off x="4078481" y="3903868"/>
              <a:ext cx="267908" cy="267907"/>
            </a:xfrm>
            <a:prstGeom prst="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9" name="Rectangle 92"/>
            <p:cNvSpPr>
              <a:spLocks noChangeArrowheads="1"/>
            </p:cNvSpPr>
            <p:nvPr/>
          </p:nvSpPr>
          <p:spPr bwMode="auto">
            <a:xfrm>
              <a:off x="4346389" y="3903868"/>
              <a:ext cx="267908" cy="267907"/>
            </a:xfrm>
            <a:prstGeom prst="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0" name="Rectangle 93"/>
            <p:cNvSpPr>
              <a:spLocks noChangeArrowheads="1"/>
            </p:cNvSpPr>
            <p:nvPr/>
          </p:nvSpPr>
          <p:spPr bwMode="auto">
            <a:xfrm>
              <a:off x="4614296" y="3903868"/>
              <a:ext cx="267908" cy="267907"/>
            </a:xfrm>
            <a:prstGeom prst="rect">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1" name="Rectangle 94"/>
            <p:cNvSpPr>
              <a:spLocks noChangeArrowheads="1"/>
            </p:cNvSpPr>
            <p:nvPr/>
          </p:nvSpPr>
          <p:spPr bwMode="auto">
            <a:xfrm>
              <a:off x="4882204" y="3903868"/>
              <a:ext cx="267908" cy="267907"/>
            </a:xfrm>
            <a:prstGeom prst="rect">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2" name="Rectangle 95"/>
            <p:cNvSpPr>
              <a:spLocks noChangeArrowheads="1"/>
            </p:cNvSpPr>
            <p:nvPr/>
          </p:nvSpPr>
          <p:spPr bwMode="auto">
            <a:xfrm>
              <a:off x="5150111" y="3903868"/>
              <a:ext cx="267908" cy="267907"/>
            </a:xfrm>
            <a:prstGeom prst="rect">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3" name="Rectangle 101"/>
            <p:cNvSpPr>
              <a:spLocks noChangeArrowheads="1"/>
            </p:cNvSpPr>
            <p:nvPr/>
          </p:nvSpPr>
          <p:spPr bwMode="auto">
            <a:xfrm>
              <a:off x="4346389" y="4171775"/>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4" name="Rectangle 102"/>
            <p:cNvSpPr>
              <a:spLocks noChangeArrowheads="1"/>
            </p:cNvSpPr>
            <p:nvPr/>
          </p:nvSpPr>
          <p:spPr bwMode="auto">
            <a:xfrm>
              <a:off x="4614296" y="4171775"/>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5" name="Rectangle 103"/>
            <p:cNvSpPr>
              <a:spLocks noChangeArrowheads="1"/>
            </p:cNvSpPr>
            <p:nvPr/>
          </p:nvSpPr>
          <p:spPr bwMode="auto">
            <a:xfrm>
              <a:off x="4882204" y="4171775"/>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6" name="Rectangle 104"/>
            <p:cNvSpPr>
              <a:spLocks noChangeArrowheads="1"/>
            </p:cNvSpPr>
            <p:nvPr/>
          </p:nvSpPr>
          <p:spPr bwMode="auto">
            <a:xfrm>
              <a:off x="5150111" y="4171775"/>
              <a:ext cx="267908" cy="267905"/>
            </a:xfrm>
            <a:prstGeom prst="rect">
              <a:avLst/>
            </a:prstGeom>
            <a:ln>
              <a:solidFill>
                <a:schemeClr val="tx1"/>
              </a:solidFill>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grpSp>
      <p:sp>
        <p:nvSpPr>
          <p:cNvPr id="77" name="TextBox 7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015821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Управление кэш-памятью: использование уровней отсечки</a:t>
            </a:r>
          </a:p>
        </p:txBody>
      </p:sp>
      <p:sp>
        <p:nvSpPr>
          <p:cNvPr id="3" name="Content Placeholder 2"/>
          <p:cNvSpPr>
            <a:spLocks noGrp="1"/>
          </p:cNvSpPr>
          <p:nvPr>
            <p:ph sz="quarter" idx="10"/>
          </p:nvPr>
        </p:nvSpPr>
        <p:spPr>
          <a:xfrm>
            <a:off x="379414" y="990600"/>
            <a:ext cx="8458200" cy="3408920"/>
          </a:xfrm>
        </p:spPr>
        <p:txBody>
          <a:bodyPr/>
          <a:lstStyle/>
          <a:p>
            <a:r>
              <a:rPr lang="ru-RU" sz="1400" b="0" i="0" dirty="0">
                <a:solidFill>
                  <a:srgbClr val="000000"/>
                </a:solidFill>
                <a:latin typeface="Arial" pitchFamily="34" charset="0"/>
                <a:cs typeface="Arial" pitchFamily="34" charset="0"/>
              </a:rPr>
              <a:t>Управление пиковыми нагрузками ввода-вывода осуществляется с помощью сброса</a:t>
            </a:r>
          </a:p>
          <a:p>
            <a:pPr lvl="1"/>
            <a:r>
              <a:rPr lang="ru-RU" sz="1400" b="0" i="0" dirty="0">
                <a:solidFill>
                  <a:srgbClr val="000000"/>
                </a:solidFill>
                <a:latin typeface="Arial" pitchFamily="34" charset="0"/>
                <a:cs typeface="Arial" pitchFamily="34" charset="0"/>
              </a:rPr>
              <a:t>Сброс — это процесс передачи данных из кэш-памяти на диски системы хранения</a:t>
            </a:r>
          </a:p>
          <a:p>
            <a:r>
              <a:rPr lang="ru-RU" sz="1400" b="0" i="0" dirty="0">
                <a:solidFill>
                  <a:srgbClr val="000000"/>
                </a:solidFill>
                <a:latin typeface="Arial" pitchFamily="34" charset="0"/>
                <a:cs typeface="Arial" pitchFamily="34" charset="0"/>
              </a:rPr>
              <a:t>Ниже приведены три режима сброса для управления использованием кэш-памяти.</a:t>
            </a:r>
          </a:p>
          <a:p>
            <a:pPr lvl="1"/>
            <a:r>
              <a:rPr lang="ru-RU" sz="1400" b="0" i="0" dirty="0">
                <a:solidFill>
                  <a:srgbClr val="000000"/>
                </a:solidFill>
                <a:latin typeface="Arial" pitchFamily="34" charset="0"/>
                <a:cs typeface="Arial" pitchFamily="34" charset="0"/>
              </a:rPr>
              <a:t>Неактивный сброс</a:t>
            </a:r>
          </a:p>
          <a:p>
            <a:pPr lvl="1"/>
            <a:r>
              <a:rPr lang="ru-RU" sz="1400" b="0" i="0" dirty="0">
                <a:solidFill>
                  <a:srgbClr val="000000"/>
                </a:solidFill>
                <a:latin typeface="Arial" pitchFamily="34" charset="0"/>
                <a:cs typeface="Arial" pitchFamily="34" charset="0"/>
              </a:rPr>
              <a:t>Сброс на высоком уровне отсечки</a:t>
            </a:r>
          </a:p>
          <a:p>
            <a:pPr lvl="1"/>
            <a:r>
              <a:rPr lang="ru-RU" sz="1400" b="0" i="0" dirty="0">
                <a:solidFill>
                  <a:srgbClr val="000000"/>
                </a:solidFill>
                <a:latin typeface="Arial" pitchFamily="34" charset="0"/>
                <a:cs typeface="Arial" pitchFamily="34" charset="0"/>
              </a:rPr>
              <a:t>Принудительный сброс</a:t>
            </a:r>
          </a:p>
        </p:txBody>
      </p:sp>
      <p:grpSp>
        <p:nvGrpSpPr>
          <p:cNvPr id="210" name="Group 209"/>
          <p:cNvGrpSpPr/>
          <p:nvPr/>
        </p:nvGrpSpPr>
        <p:grpSpPr>
          <a:xfrm>
            <a:off x="826929" y="2647950"/>
            <a:ext cx="6432850" cy="1967300"/>
            <a:chOff x="826929" y="3257550"/>
            <a:chExt cx="6432850" cy="1967300"/>
          </a:xfrm>
        </p:grpSpPr>
        <p:sp>
          <p:nvSpPr>
            <p:cNvPr id="7" name="TextBox 6"/>
            <p:cNvSpPr txBox="1"/>
            <p:nvPr/>
          </p:nvSpPr>
          <p:spPr>
            <a:xfrm>
              <a:off x="2733675" y="4855518"/>
              <a:ext cx="1189749" cy="230832"/>
            </a:xfrm>
            <a:prstGeom prst="rect">
              <a:avLst/>
            </a:prstGeom>
            <a:noFill/>
          </p:spPr>
          <p:txBody>
            <a:bodyPr wrap="none" rtlCol="0">
              <a:spAutoFit/>
            </a:bodyPr>
            <a:lstStyle/>
            <a:p>
              <a:pPr algn="ctr"/>
              <a:r>
                <a:rPr lang="ru-RU" sz="900" b="0" i="0" dirty="0">
                  <a:solidFill>
                    <a:srgbClr val="000000"/>
                  </a:solidFill>
                  <a:latin typeface="Arial" pitchFamily="34" charset="0"/>
                  <a:cs typeface="Arial" pitchFamily="34" charset="0"/>
                </a:rPr>
                <a:t>Неактивный сброс</a:t>
              </a:r>
            </a:p>
          </p:txBody>
        </p:sp>
        <p:sp>
          <p:nvSpPr>
            <p:cNvPr id="8" name="TextBox 7"/>
            <p:cNvSpPr txBox="1"/>
            <p:nvPr/>
          </p:nvSpPr>
          <p:spPr>
            <a:xfrm>
              <a:off x="4340892" y="4855518"/>
              <a:ext cx="1173718" cy="369332"/>
            </a:xfrm>
            <a:prstGeom prst="rect">
              <a:avLst/>
            </a:prstGeom>
            <a:noFill/>
          </p:spPr>
          <p:txBody>
            <a:bodyPr wrap="none" rtlCol="0">
              <a:spAutoFit/>
            </a:bodyPr>
            <a:lstStyle/>
            <a:p>
              <a:pPr algn="ctr"/>
              <a:r>
                <a:rPr lang="ru-RU" sz="900" b="0" i="0" dirty="0">
                  <a:solidFill>
                    <a:srgbClr val="000000"/>
                  </a:solidFill>
                  <a:latin typeface="Arial" pitchFamily="34" charset="0"/>
                  <a:cs typeface="Arial" pitchFamily="34" charset="0"/>
                </a:rPr>
                <a:t>Сброс на высоком</a:t>
              </a:r>
              <a:br>
                <a:rPr lang="en-US" sz="900" b="0" i="0" dirty="0">
                  <a:solidFill>
                    <a:srgbClr val="FF00FF"/>
                  </a:solidFill>
                  <a:latin typeface="Arial" pitchFamily="34" charset="0"/>
                  <a:cs typeface="Arial" pitchFamily="34" charset="0"/>
                </a:rPr>
              </a:br>
              <a:r>
                <a:rPr lang="ru-RU" sz="900" b="0" i="0" dirty="0">
                  <a:solidFill>
                    <a:srgbClr val="000000"/>
                  </a:solidFill>
                  <a:latin typeface="Arial" pitchFamily="34" charset="0"/>
                  <a:cs typeface="Arial" pitchFamily="34" charset="0"/>
                </a:rPr>
                <a:t>уровне отсечки</a:t>
              </a:r>
            </a:p>
          </p:txBody>
        </p:sp>
        <p:sp>
          <p:nvSpPr>
            <p:cNvPr id="9" name="TextBox 8"/>
            <p:cNvSpPr txBox="1"/>
            <p:nvPr/>
          </p:nvSpPr>
          <p:spPr>
            <a:xfrm>
              <a:off x="5800725" y="4855518"/>
              <a:ext cx="1459054" cy="230832"/>
            </a:xfrm>
            <a:prstGeom prst="rect">
              <a:avLst/>
            </a:prstGeom>
            <a:noFill/>
          </p:spPr>
          <p:txBody>
            <a:bodyPr wrap="none" rtlCol="0">
              <a:spAutoFit/>
            </a:bodyPr>
            <a:lstStyle/>
            <a:p>
              <a:pPr algn="ctr"/>
              <a:r>
                <a:rPr lang="ru-RU" sz="900" b="0" i="0" dirty="0">
                  <a:solidFill>
                    <a:srgbClr val="000000"/>
                  </a:solidFill>
                  <a:latin typeface="Arial" pitchFamily="34" charset="0"/>
                  <a:cs typeface="Arial" pitchFamily="34" charset="0"/>
                </a:rPr>
                <a:t>Принудительный сброс</a:t>
              </a:r>
            </a:p>
          </p:txBody>
        </p:sp>
        <p:sp>
          <p:nvSpPr>
            <p:cNvPr id="10" name="Line 252"/>
            <p:cNvSpPr>
              <a:spLocks noChangeShapeType="1"/>
            </p:cNvSpPr>
            <p:nvPr/>
          </p:nvSpPr>
          <p:spPr bwMode="auto">
            <a:xfrm>
              <a:off x="2647271" y="4278643"/>
              <a:ext cx="4358156" cy="0"/>
            </a:xfrm>
            <a:prstGeom prst="line">
              <a:avLst/>
            </a:prstGeom>
            <a:noFill/>
            <a:ln w="38100">
              <a:solidFill>
                <a:srgbClr val="000000"/>
              </a:solidFill>
              <a:prstDash val="sysDot"/>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000">
                <a:latin typeface="Arial" pitchFamily="34" charset="0"/>
                <a:cs typeface="Arial" pitchFamily="34" charset="0"/>
              </a:endParaRPr>
            </a:p>
          </p:txBody>
        </p:sp>
        <p:sp>
          <p:nvSpPr>
            <p:cNvPr id="11" name="Line 253"/>
            <p:cNvSpPr>
              <a:spLocks noChangeShapeType="1"/>
            </p:cNvSpPr>
            <p:nvPr/>
          </p:nvSpPr>
          <p:spPr bwMode="auto">
            <a:xfrm flipV="1">
              <a:off x="2647271" y="3739218"/>
              <a:ext cx="4358156" cy="4450"/>
            </a:xfrm>
            <a:prstGeom prst="line">
              <a:avLst/>
            </a:prstGeom>
            <a:noFill/>
            <a:ln w="38100">
              <a:solidFill>
                <a:srgbClr val="000000"/>
              </a:solidFill>
              <a:prstDash val="sysDot"/>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000">
                <a:latin typeface="Arial" pitchFamily="34" charset="0"/>
                <a:cs typeface="Arial" pitchFamily="34" charset="0"/>
              </a:endParaRPr>
            </a:p>
          </p:txBody>
        </p:sp>
        <p:cxnSp>
          <p:nvCxnSpPr>
            <p:cNvPr id="12" name="Straight Arrow Connector 11"/>
            <p:cNvCxnSpPr/>
            <p:nvPr/>
          </p:nvCxnSpPr>
          <p:spPr>
            <a:xfrm>
              <a:off x="2433637" y="4277578"/>
              <a:ext cx="213635"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3" name="Straight Arrow Connector 12"/>
            <p:cNvCxnSpPr/>
            <p:nvPr/>
          </p:nvCxnSpPr>
          <p:spPr>
            <a:xfrm>
              <a:off x="2431857" y="3744559"/>
              <a:ext cx="213635"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4" name="Straight Arrow Connector 13"/>
            <p:cNvCxnSpPr/>
            <p:nvPr/>
          </p:nvCxnSpPr>
          <p:spPr>
            <a:xfrm>
              <a:off x="2433637" y="3372478"/>
              <a:ext cx="213635"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TextBox 14"/>
            <p:cNvSpPr txBox="1"/>
            <p:nvPr/>
          </p:nvSpPr>
          <p:spPr>
            <a:xfrm>
              <a:off x="1905000" y="3257550"/>
              <a:ext cx="526857" cy="230832"/>
            </a:xfrm>
            <a:prstGeom prst="rect">
              <a:avLst/>
            </a:prstGeom>
            <a:noFill/>
          </p:spPr>
          <p:txBody>
            <a:bodyPr wrap="square" rtlCol="0">
              <a:spAutoFit/>
            </a:bodyPr>
            <a:lstStyle/>
            <a:p>
              <a:pPr algn="r"/>
              <a:r>
                <a:rPr lang="ru-RU" sz="900" b="0" i="0" dirty="0">
                  <a:solidFill>
                    <a:srgbClr val="000000"/>
                  </a:solidFill>
                  <a:latin typeface="Arial" pitchFamily="34" charset="0"/>
                  <a:cs typeface="Arial" pitchFamily="34" charset="0"/>
                </a:rPr>
                <a:t>100%</a:t>
              </a:r>
            </a:p>
          </p:txBody>
        </p:sp>
        <p:sp>
          <p:nvSpPr>
            <p:cNvPr id="16" name="TextBox 15"/>
            <p:cNvSpPr txBox="1"/>
            <p:nvPr/>
          </p:nvSpPr>
          <p:spPr>
            <a:xfrm>
              <a:off x="826929" y="3649642"/>
              <a:ext cx="1604927" cy="230832"/>
            </a:xfrm>
            <a:prstGeom prst="rect">
              <a:avLst/>
            </a:prstGeom>
            <a:noFill/>
          </p:spPr>
          <p:txBody>
            <a:bodyPr wrap="none" rtlCol="0">
              <a:spAutoFit/>
            </a:bodyPr>
            <a:lstStyle/>
            <a:p>
              <a:pPr algn="r"/>
              <a:r>
                <a:rPr lang="ru-RU" sz="900" b="0" i="0" dirty="0">
                  <a:solidFill>
                    <a:srgbClr val="000000"/>
                  </a:solidFill>
                  <a:latin typeface="Arial" pitchFamily="34" charset="0"/>
                  <a:cs typeface="Arial" pitchFamily="34" charset="0"/>
                </a:rPr>
                <a:t>Высокий уровень отсечки</a:t>
              </a:r>
            </a:p>
          </p:txBody>
        </p:sp>
        <p:sp>
          <p:nvSpPr>
            <p:cNvPr id="17" name="TextBox 16"/>
            <p:cNvSpPr txBox="1"/>
            <p:nvPr/>
          </p:nvSpPr>
          <p:spPr>
            <a:xfrm>
              <a:off x="908683" y="4183167"/>
              <a:ext cx="1523173" cy="230832"/>
            </a:xfrm>
            <a:prstGeom prst="rect">
              <a:avLst/>
            </a:prstGeom>
            <a:noFill/>
          </p:spPr>
          <p:txBody>
            <a:bodyPr wrap="none" rtlCol="0">
              <a:spAutoFit/>
            </a:bodyPr>
            <a:lstStyle/>
            <a:p>
              <a:pPr algn="r"/>
              <a:r>
                <a:rPr lang="ru-RU" sz="900" b="0" i="0" dirty="0">
                  <a:solidFill>
                    <a:srgbClr val="000000"/>
                  </a:solidFill>
                  <a:latin typeface="Arial" pitchFamily="34" charset="0"/>
                  <a:cs typeface="Arial" pitchFamily="34" charset="0"/>
                </a:rPr>
                <a:t>Низкий уровень отсечки</a:t>
              </a:r>
            </a:p>
          </p:txBody>
        </p:sp>
        <p:sp>
          <p:nvSpPr>
            <p:cNvPr id="18" name="Rectangle 352"/>
            <p:cNvSpPr>
              <a:spLocks noChangeArrowheads="1"/>
            </p:cNvSpPr>
            <p:nvPr/>
          </p:nvSpPr>
          <p:spPr bwMode="auto">
            <a:xfrm>
              <a:off x="6026084"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9" name="Rectangle 353"/>
            <p:cNvSpPr>
              <a:spLocks noChangeArrowheads="1"/>
            </p:cNvSpPr>
            <p:nvPr/>
          </p:nvSpPr>
          <p:spPr bwMode="auto">
            <a:xfrm>
              <a:off x="6196993"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20" name="Rectangle 354"/>
            <p:cNvSpPr>
              <a:spLocks noChangeArrowheads="1"/>
            </p:cNvSpPr>
            <p:nvPr/>
          </p:nvSpPr>
          <p:spPr bwMode="auto">
            <a:xfrm>
              <a:off x="6367901"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21" name="Rectangle 355"/>
            <p:cNvSpPr>
              <a:spLocks noChangeArrowheads="1"/>
            </p:cNvSpPr>
            <p:nvPr/>
          </p:nvSpPr>
          <p:spPr bwMode="auto">
            <a:xfrm>
              <a:off x="6538809"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22" name="Rectangle 356"/>
            <p:cNvSpPr>
              <a:spLocks noChangeArrowheads="1"/>
            </p:cNvSpPr>
            <p:nvPr/>
          </p:nvSpPr>
          <p:spPr bwMode="auto">
            <a:xfrm>
              <a:off x="6709717"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23" name="Rectangle 357"/>
            <p:cNvSpPr>
              <a:spLocks noChangeArrowheads="1"/>
            </p:cNvSpPr>
            <p:nvPr/>
          </p:nvSpPr>
          <p:spPr bwMode="auto">
            <a:xfrm>
              <a:off x="6880625"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24" name="Rectangle 358"/>
            <p:cNvSpPr>
              <a:spLocks noChangeArrowheads="1"/>
            </p:cNvSpPr>
            <p:nvPr/>
          </p:nvSpPr>
          <p:spPr bwMode="auto">
            <a:xfrm>
              <a:off x="7051533"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25" name="Rectangle 359"/>
            <p:cNvSpPr>
              <a:spLocks noChangeArrowheads="1"/>
            </p:cNvSpPr>
            <p:nvPr/>
          </p:nvSpPr>
          <p:spPr bwMode="auto">
            <a:xfrm>
              <a:off x="5855176"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26" name="Rectangle 360"/>
            <p:cNvSpPr>
              <a:spLocks noChangeArrowheads="1"/>
            </p:cNvSpPr>
            <p:nvPr/>
          </p:nvSpPr>
          <p:spPr bwMode="auto">
            <a:xfrm>
              <a:off x="6026084"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27" name="Rectangle 361"/>
            <p:cNvSpPr>
              <a:spLocks noChangeArrowheads="1"/>
            </p:cNvSpPr>
            <p:nvPr/>
          </p:nvSpPr>
          <p:spPr bwMode="auto">
            <a:xfrm>
              <a:off x="6196993"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28" name="Rectangle 362"/>
            <p:cNvSpPr>
              <a:spLocks noChangeArrowheads="1"/>
            </p:cNvSpPr>
            <p:nvPr/>
          </p:nvSpPr>
          <p:spPr bwMode="auto">
            <a:xfrm>
              <a:off x="6367901"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29" name="Rectangle 363"/>
            <p:cNvSpPr>
              <a:spLocks noChangeArrowheads="1"/>
            </p:cNvSpPr>
            <p:nvPr/>
          </p:nvSpPr>
          <p:spPr bwMode="auto">
            <a:xfrm>
              <a:off x="6538809"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30" name="Rectangle 364"/>
            <p:cNvSpPr>
              <a:spLocks noChangeArrowheads="1"/>
            </p:cNvSpPr>
            <p:nvPr/>
          </p:nvSpPr>
          <p:spPr bwMode="auto">
            <a:xfrm>
              <a:off x="6709717"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31" name="Rectangle 365"/>
            <p:cNvSpPr>
              <a:spLocks noChangeArrowheads="1"/>
            </p:cNvSpPr>
            <p:nvPr/>
          </p:nvSpPr>
          <p:spPr bwMode="auto">
            <a:xfrm>
              <a:off x="6880625"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32" name="Rectangle 366"/>
            <p:cNvSpPr>
              <a:spLocks noChangeArrowheads="1"/>
            </p:cNvSpPr>
            <p:nvPr/>
          </p:nvSpPr>
          <p:spPr bwMode="auto">
            <a:xfrm>
              <a:off x="7051533"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33" name="Rectangle 367"/>
            <p:cNvSpPr>
              <a:spLocks noChangeArrowheads="1"/>
            </p:cNvSpPr>
            <p:nvPr/>
          </p:nvSpPr>
          <p:spPr bwMode="auto">
            <a:xfrm>
              <a:off x="5855176"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34" name="Rectangle 368"/>
            <p:cNvSpPr>
              <a:spLocks noChangeArrowheads="1"/>
            </p:cNvSpPr>
            <p:nvPr/>
          </p:nvSpPr>
          <p:spPr bwMode="auto">
            <a:xfrm>
              <a:off x="6026084"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35" name="Rectangle 369"/>
            <p:cNvSpPr>
              <a:spLocks noChangeArrowheads="1"/>
            </p:cNvSpPr>
            <p:nvPr/>
          </p:nvSpPr>
          <p:spPr bwMode="auto">
            <a:xfrm>
              <a:off x="6196993"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36" name="Rectangle 370"/>
            <p:cNvSpPr>
              <a:spLocks noChangeArrowheads="1"/>
            </p:cNvSpPr>
            <p:nvPr/>
          </p:nvSpPr>
          <p:spPr bwMode="auto">
            <a:xfrm>
              <a:off x="6367901"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pPr marL="354013" indent="-354013" defTabSz="941388"/>
              <a:endParaRPr lang="en-US" sz="1000">
                <a:latin typeface="Arial" pitchFamily="34" charset="0"/>
                <a:cs typeface="Arial" pitchFamily="34" charset="0"/>
              </a:endParaRPr>
            </a:p>
          </p:txBody>
        </p:sp>
        <p:sp>
          <p:nvSpPr>
            <p:cNvPr id="37" name="Rectangle 371"/>
            <p:cNvSpPr>
              <a:spLocks noChangeArrowheads="1"/>
            </p:cNvSpPr>
            <p:nvPr/>
          </p:nvSpPr>
          <p:spPr bwMode="auto">
            <a:xfrm>
              <a:off x="6538809"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38" name="Rectangle 372"/>
            <p:cNvSpPr>
              <a:spLocks noChangeArrowheads="1"/>
            </p:cNvSpPr>
            <p:nvPr/>
          </p:nvSpPr>
          <p:spPr bwMode="auto">
            <a:xfrm>
              <a:off x="6709717"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39" name="Rectangle 373"/>
            <p:cNvSpPr>
              <a:spLocks noChangeArrowheads="1"/>
            </p:cNvSpPr>
            <p:nvPr/>
          </p:nvSpPr>
          <p:spPr bwMode="auto">
            <a:xfrm>
              <a:off x="6880625"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40" name="Rectangle 374"/>
            <p:cNvSpPr>
              <a:spLocks noChangeArrowheads="1"/>
            </p:cNvSpPr>
            <p:nvPr/>
          </p:nvSpPr>
          <p:spPr bwMode="auto">
            <a:xfrm>
              <a:off x="7051533"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41" name="Rectangle 375"/>
            <p:cNvSpPr>
              <a:spLocks noChangeArrowheads="1"/>
            </p:cNvSpPr>
            <p:nvPr/>
          </p:nvSpPr>
          <p:spPr bwMode="auto">
            <a:xfrm>
              <a:off x="5855176"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42" name="Rectangle 376"/>
            <p:cNvSpPr>
              <a:spLocks noChangeArrowheads="1"/>
            </p:cNvSpPr>
            <p:nvPr/>
          </p:nvSpPr>
          <p:spPr bwMode="auto">
            <a:xfrm>
              <a:off x="6026084"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43" name="Rectangle 377"/>
            <p:cNvSpPr>
              <a:spLocks noChangeArrowheads="1"/>
            </p:cNvSpPr>
            <p:nvPr/>
          </p:nvSpPr>
          <p:spPr bwMode="auto">
            <a:xfrm>
              <a:off x="6196993"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44" name="Rectangle 378"/>
            <p:cNvSpPr>
              <a:spLocks noChangeArrowheads="1"/>
            </p:cNvSpPr>
            <p:nvPr/>
          </p:nvSpPr>
          <p:spPr bwMode="auto">
            <a:xfrm>
              <a:off x="6367901"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45" name="Rectangle 379"/>
            <p:cNvSpPr>
              <a:spLocks noChangeArrowheads="1"/>
            </p:cNvSpPr>
            <p:nvPr/>
          </p:nvSpPr>
          <p:spPr bwMode="auto">
            <a:xfrm>
              <a:off x="6538809"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46" name="Rectangle 380"/>
            <p:cNvSpPr>
              <a:spLocks noChangeArrowheads="1"/>
            </p:cNvSpPr>
            <p:nvPr/>
          </p:nvSpPr>
          <p:spPr bwMode="auto">
            <a:xfrm>
              <a:off x="6709717"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47" name="Rectangle 381"/>
            <p:cNvSpPr>
              <a:spLocks noChangeArrowheads="1"/>
            </p:cNvSpPr>
            <p:nvPr/>
          </p:nvSpPr>
          <p:spPr bwMode="auto">
            <a:xfrm>
              <a:off x="6880625"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48" name="Rectangle 382"/>
            <p:cNvSpPr>
              <a:spLocks noChangeArrowheads="1"/>
            </p:cNvSpPr>
            <p:nvPr/>
          </p:nvSpPr>
          <p:spPr bwMode="auto">
            <a:xfrm>
              <a:off x="7051533"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49" name="Rectangle 383"/>
            <p:cNvSpPr>
              <a:spLocks noChangeArrowheads="1"/>
            </p:cNvSpPr>
            <p:nvPr/>
          </p:nvSpPr>
          <p:spPr bwMode="auto">
            <a:xfrm>
              <a:off x="5855176"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50" name="Rectangle 384"/>
            <p:cNvSpPr>
              <a:spLocks noChangeArrowheads="1"/>
            </p:cNvSpPr>
            <p:nvPr/>
          </p:nvSpPr>
          <p:spPr bwMode="auto">
            <a:xfrm>
              <a:off x="6026084"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51" name="Rectangle 385"/>
            <p:cNvSpPr>
              <a:spLocks noChangeArrowheads="1"/>
            </p:cNvSpPr>
            <p:nvPr/>
          </p:nvSpPr>
          <p:spPr bwMode="auto">
            <a:xfrm>
              <a:off x="6196993"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52" name="Rectangle 386"/>
            <p:cNvSpPr>
              <a:spLocks noChangeArrowheads="1"/>
            </p:cNvSpPr>
            <p:nvPr/>
          </p:nvSpPr>
          <p:spPr bwMode="auto">
            <a:xfrm>
              <a:off x="6367901"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53" name="Rectangle 387"/>
            <p:cNvSpPr>
              <a:spLocks noChangeArrowheads="1"/>
            </p:cNvSpPr>
            <p:nvPr/>
          </p:nvSpPr>
          <p:spPr bwMode="auto">
            <a:xfrm>
              <a:off x="6538809"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54" name="Rectangle 388"/>
            <p:cNvSpPr>
              <a:spLocks noChangeArrowheads="1"/>
            </p:cNvSpPr>
            <p:nvPr/>
          </p:nvSpPr>
          <p:spPr bwMode="auto">
            <a:xfrm>
              <a:off x="6709717"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55" name="Rectangle 389"/>
            <p:cNvSpPr>
              <a:spLocks noChangeArrowheads="1"/>
            </p:cNvSpPr>
            <p:nvPr/>
          </p:nvSpPr>
          <p:spPr bwMode="auto">
            <a:xfrm>
              <a:off x="6880625"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56" name="Rectangle 390"/>
            <p:cNvSpPr>
              <a:spLocks noChangeArrowheads="1"/>
            </p:cNvSpPr>
            <p:nvPr/>
          </p:nvSpPr>
          <p:spPr bwMode="auto">
            <a:xfrm>
              <a:off x="7051533"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57" name="Rectangle 391"/>
            <p:cNvSpPr>
              <a:spLocks noChangeArrowheads="1"/>
            </p:cNvSpPr>
            <p:nvPr/>
          </p:nvSpPr>
          <p:spPr bwMode="auto">
            <a:xfrm>
              <a:off x="5855176"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58" name="Rectangle 392"/>
            <p:cNvSpPr>
              <a:spLocks noChangeArrowheads="1"/>
            </p:cNvSpPr>
            <p:nvPr/>
          </p:nvSpPr>
          <p:spPr bwMode="auto">
            <a:xfrm>
              <a:off x="6026084"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59" name="Rectangle 393"/>
            <p:cNvSpPr>
              <a:spLocks noChangeArrowheads="1"/>
            </p:cNvSpPr>
            <p:nvPr/>
          </p:nvSpPr>
          <p:spPr bwMode="auto">
            <a:xfrm>
              <a:off x="6196993"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60" name="Rectangle 394"/>
            <p:cNvSpPr>
              <a:spLocks noChangeArrowheads="1"/>
            </p:cNvSpPr>
            <p:nvPr/>
          </p:nvSpPr>
          <p:spPr bwMode="auto">
            <a:xfrm>
              <a:off x="6367901"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61" name="Rectangle 395"/>
            <p:cNvSpPr>
              <a:spLocks noChangeArrowheads="1"/>
            </p:cNvSpPr>
            <p:nvPr/>
          </p:nvSpPr>
          <p:spPr bwMode="auto">
            <a:xfrm>
              <a:off x="6538809"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62" name="Rectangle 396"/>
            <p:cNvSpPr>
              <a:spLocks noChangeArrowheads="1"/>
            </p:cNvSpPr>
            <p:nvPr/>
          </p:nvSpPr>
          <p:spPr bwMode="auto">
            <a:xfrm>
              <a:off x="6709717"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63" name="Rectangle 397"/>
            <p:cNvSpPr>
              <a:spLocks noChangeArrowheads="1"/>
            </p:cNvSpPr>
            <p:nvPr/>
          </p:nvSpPr>
          <p:spPr bwMode="auto">
            <a:xfrm>
              <a:off x="6880625"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64" name="Rectangle 398"/>
            <p:cNvSpPr>
              <a:spLocks noChangeArrowheads="1"/>
            </p:cNvSpPr>
            <p:nvPr/>
          </p:nvSpPr>
          <p:spPr bwMode="auto">
            <a:xfrm>
              <a:off x="7051533"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65" name="Rectangle 399"/>
            <p:cNvSpPr>
              <a:spLocks noChangeArrowheads="1"/>
            </p:cNvSpPr>
            <p:nvPr/>
          </p:nvSpPr>
          <p:spPr bwMode="auto">
            <a:xfrm>
              <a:off x="5855176"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66" name="Rectangle 400"/>
            <p:cNvSpPr>
              <a:spLocks noChangeArrowheads="1"/>
            </p:cNvSpPr>
            <p:nvPr/>
          </p:nvSpPr>
          <p:spPr bwMode="auto">
            <a:xfrm>
              <a:off x="6026084"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67" name="Rectangle 401"/>
            <p:cNvSpPr>
              <a:spLocks noChangeArrowheads="1"/>
            </p:cNvSpPr>
            <p:nvPr/>
          </p:nvSpPr>
          <p:spPr bwMode="auto">
            <a:xfrm>
              <a:off x="6196993"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68" name="Rectangle 402"/>
            <p:cNvSpPr>
              <a:spLocks noChangeArrowheads="1"/>
            </p:cNvSpPr>
            <p:nvPr/>
          </p:nvSpPr>
          <p:spPr bwMode="auto">
            <a:xfrm>
              <a:off x="6367901"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69" name="Rectangle 403"/>
            <p:cNvSpPr>
              <a:spLocks noChangeArrowheads="1"/>
            </p:cNvSpPr>
            <p:nvPr/>
          </p:nvSpPr>
          <p:spPr bwMode="auto">
            <a:xfrm>
              <a:off x="6538809"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70" name="Rectangle 404"/>
            <p:cNvSpPr>
              <a:spLocks noChangeArrowheads="1"/>
            </p:cNvSpPr>
            <p:nvPr/>
          </p:nvSpPr>
          <p:spPr bwMode="auto">
            <a:xfrm>
              <a:off x="6709717"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71" name="Rectangle 405"/>
            <p:cNvSpPr>
              <a:spLocks noChangeArrowheads="1"/>
            </p:cNvSpPr>
            <p:nvPr/>
          </p:nvSpPr>
          <p:spPr bwMode="auto">
            <a:xfrm>
              <a:off x="6880625"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72" name="Rectangle 406"/>
            <p:cNvSpPr>
              <a:spLocks noChangeArrowheads="1"/>
            </p:cNvSpPr>
            <p:nvPr/>
          </p:nvSpPr>
          <p:spPr bwMode="auto">
            <a:xfrm>
              <a:off x="7051533"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73" name="Rectangle 407"/>
            <p:cNvSpPr>
              <a:spLocks noChangeArrowheads="1"/>
            </p:cNvSpPr>
            <p:nvPr/>
          </p:nvSpPr>
          <p:spPr bwMode="auto">
            <a:xfrm>
              <a:off x="5855176" y="3373724"/>
              <a:ext cx="170908" cy="187999"/>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74" name="Rectangle 408"/>
            <p:cNvSpPr>
              <a:spLocks noChangeArrowheads="1"/>
            </p:cNvSpPr>
            <p:nvPr/>
          </p:nvSpPr>
          <p:spPr bwMode="auto">
            <a:xfrm>
              <a:off x="6026084" y="3373724"/>
              <a:ext cx="170908" cy="187999"/>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75" name="Rectangle 409"/>
            <p:cNvSpPr>
              <a:spLocks noChangeArrowheads="1"/>
            </p:cNvSpPr>
            <p:nvPr/>
          </p:nvSpPr>
          <p:spPr bwMode="auto">
            <a:xfrm>
              <a:off x="6196993" y="3373724"/>
              <a:ext cx="170908" cy="187999"/>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76" name="Rectangle 410"/>
            <p:cNvSpPr>
              <a:spLocks noChangeArrowheads="1"/>
            </p:cNvSpPr>
            <p:nvPr/>
          </p:nvSpPr>
          <p:spPr bwMode="auto">
            <a:xfrm>
              <a:off x="6367901" y="3373724"/>
              <a:ext cx="170908" cy="187999"/>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77" name="Rectangle 411"/>
            <p:cNvSpPr>
              <a:spLocks noChangeArrowheads="1"/>
            </p:cNvSpPr>
            <p:nvPr/>
          </p:nvSpPr>
          <p:spPr bwMode="auto">
            <a:xfrm>
              <a:off x="6538809" y="3373724"/>
              <a:ext cx="170908" cy="187999"/>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78" name="Rectangle 412"/>
            <p:cNvSpPr>
              <a:spLocks noChangeArrowheads="1"/>
            </p:cNvSpPr>
            <p:nvPr/>
          </p:nvSpPr>
          <p:spPr bwMode="auto">
            <a:xfrm>
              <a:off x="6709717" y="3373724"/>
              <a:ext cx="170908" cy="187999"/>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79" name="Rectangle 413"/>
            <p:cNvSpPr>
              <a:spLocks noChangeArrowheads="1"/>
            </p:cNvSpPr>
            <p:nvPr/>
          </p:nvSpPr>
          <p:spPr bwMode="auto">
            <a:xfrm>
              <a:off x="6880625" y="3373724"/>
              <a:ext cx="170908" cy="187999"/>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80" name="Rectangle 414"/>
            <p:cNvSpPr>
              <a:spLocks noChangeArrowheads="1"/>
            </p:cNvSpPr>
            <p:nvPr/>
          </p:nvSpPr>
          <p:spPr bwMode="auto">
            <a:xfrm>
              <a:off x="7051533" y="3373724"/>
              <a:ext cx="170908" cy="187999"/>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81" name="Rectangle 352"/>
            <p:cNvSpPr>
              <a:spLocks noChangeArrowheads="1"/>
            </p:cNvSpPr>
            <p:nvPr/>
          </p:nvSpPr>
          <p:spPr bwMode="auto">
            <a:xfrm>
              <a:off x="5855176"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82" name="Rectangle 352"/>
            <p:cNvSpPr>
              <a:spLocks noChangeArrowheads="1"/>
            </p:cNvSpPr>
            <p:nvPr/>
          </p:nvSpPr>
          <p:spPr bwMode="auto">
            <a:xfrm>
              <a:off x="4429287"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83" name="Rectangle 353"/>
            <p:cNvSpPr>
              <a:spLocks noChangeArrowheads="1"/>
            </p:cNvSpPr>
            <p:nvPr/>
          </p:nvSpPr>
          <p:spPr bwMode="auto">
            <a:xfrm>
              <a:off x="4600195"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84" name="Rectangle 354"/>
            <p:cNvSpPr>
              <a:spLocks noChangeArrowheads="1"/>
            </p:cNvSpPr>
            <p:nvPr/>
          </p:nvSpPr>
          <p:spPr bwMode="auto">
            <a:xfrm>
              <a:off x="4771103"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85" name="Rectangle 355"/>
            <p:cNvSpPr>
              <a:spLocks noChangeArrowheads="1"/>
            </p:cNvSpPr>
            <p:nvPr/>
          </p:nvSpPr>
          <p:spPr bwMode="auto">
            <a:xfrm>
              <a:off x="4942011"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86" name="Rectangle 356"/>
            <p:cNvSpPr>
              <a:spLocks noChangeArrowheads="1"/>
            </p:cNvSpPr>
            <p:nvPr/>
          </p:nvSpPr>
          <p:spPr bwMode="auto">
            <a:xfrm>
              <a:off x="5112919"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87" name="Rectangle 357"/>
            <p:cNvSpPr>
              <a:spLocks noChangeArrowheads="1"/>
            </p:cNvSpPr>
            <p:nvPr/>
          </p:nvSpPr>
          <p:spPr bwMode="auto">
            <a:xfrm>
              <a:off x="5283827"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88" name="Rectangle 358"/>
            <p:cNvSpPr>
              <a:spLocks noChangeArrowheads="1"/>
            </p:cNvSpPr>
            <p:nvPr/>
          </p:nvSpPr>
          <p:spPr bwMode="auto">
            <a:xfrm>
              <a:off x="5454735"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89" name="Rectangle 359"/>
            <p:cNvSpPr>
              <a:spLocks noChangeArrowheads="1"/>
            </p:cNvSpPr>
            <p:nvPr/>
          </p:nvSpPr>
          <p:spPr bwMode="auto">
            <a:xfrm>
              <a:off x="4258378"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90" name="Rectangle 360"/>
            <p:cNvSpPr>
              <a:spLocks noChangeArrowheads="1"/>
            </p:cNvSpPr>
            <p:nvPr/>
          </p:nvSpPr>
          <p:spPr bwMode="auto">
            <a:xfrm>
              <a:off x="4429287"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91" name="Rectangle 361"/>
            <p:cNvSpPr>
              <a:spLocks noChangeArrowheads="1"/>
            </p:cNvSpPr>
            <p:nvPr/>
          </p:nvSpPr>
          <p:spPr bwMode="auto">
            <a:xfrm>
              <a:off x="4600195"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92" name="Rectangle 362"/>
            <p:cNvSpPr>
              <a:spLocks noChangeArrowheads="1"/>
            </p:cNvSpPr>
            <p:nvPr/>
          </p:nvSpPr>
          <p:spPr bwMode="auto">
            <a:xfrm>
              <a:off x="4771103"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93" name="Rectangle 363"/>
            <p:cNvSpPr>
              <a:spLocks noChangeArrowheads="1"/>
            </p:cNvSpPr>
            <p:nvPr/>
          </p:nvSpPr>
          <p:spPr bwMode="auto">
            <a:xfrm>
              <a:off x="4942011"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94" name="Rectangle 364"/>
            <p:cNvSpPr>
              <a:spLocks noChangeArrowheads="1"/>
            </p:cNvSpPr>
            <p:nvPr/>
          </p:nvSpPr>
          <p:spPr bwMode="auto">
            <a:xfrm>
              <a:off x="5112919"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95" name="Rectangle 365"/>
            <p:cNvSpPr>
              <a:spLocks noChangeArrowheads="1"/>
            </p:cNvSpPr>
            <p:nvPr/>
          </p:nvSpPr>
          <p:spPr bwMode="auto">
            <a:xfrm>
              <a:off x="5283827"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96" name="Rectangle 366"/>
            <p:cNvSpPr>
              <a:spLocks noChangeArrowheads="1"/>
            </p:cNvSpPr>
            <p:nvPr/>
          </p:nvSpPr>
          <p:spPr bwMode="auto">
            <a:xfrm>
              <a:off x="5454735"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97" name="Rectangle 367"/>
            <p:cNvSpPr>
              <a:spLocks noChangeArrowheads="1"/>
            </p:cNvSpPr>
            <p:nvPr/>
          </p:nvSpPr>
          <p:spPr bwMode="auto">
            <a:xfrm>
              <a:off x="4258378"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98" name="Rectangle 368"/>
            <p:cNvSpPr>
              <a:spLocks noChangeArrowheads="1"/>
            </p:cNvSpPr>
            <p:nvPr/>
          </p:nvSpPr>
          <p:spPr bwMode="auto">
            <a:xfrm>
              <a:off x="4429287"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99" name="Rectangle 369"/>
            <p:cNvSpPr>
              <a:spLocks noChangeArrowheads="1"/>
            </p:cNvSpPr>
            <p:nvPr/>
          </p:nvSpPr>
          <p:spPr bwMode="auto">
            <a:xfrm>
              <a:off x="4600195"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00" name="Rectangle 370"/>
            <p:cNvSpPr>
              <a:spLocks noChangeArrowheads="1"/>
            </p:cNvSpPr>
            <p:nvPr/>
          </p:nvSpPr>
          <p:spPr bwMode="auto">
            <a:xfrm>
              <a:off x="4771103"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pPr marL="354013" indent="-354013" defTabSz="941388"/>
              <a:endParaRPr lang="en-US" sz="1000">
                <a:latin typeface="Arial" pitchFamily="34" charset="0"/>
                <a:cs typeface="Arial" pitchFamily="34" charset="0"/>
              </a:endParaRPr>
            </a:p>
          </p:txBody>
        </p:sp>
        <p:sp>
          <p:nvSpPr>
            <p:cNvPr id="101" name="Rectangle 371"/>
            <p:cNvSpPr>
              <a:spLocks noChangeArrowheads="1"/>
            </p:cNvSpPr>
            <p:nvPr/>
          </p:nvSpPr>
          <p:spPr bwMode="auto">
            <a:xfrm>
              <a:off x="4942011"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02" name="Rectangle 372"/>
            <p:cNvSpPr>
              <a:spLocks noChangeArrowheads="1"/>
            </p:cNvSpPr>
            <p:nvPr/>
          </p:nvSpPr>
          <p:spPr bwMode="auto">
            <a:xfrm>
              <a:off x="5112919"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03" name="Rectangle 373"/>
            <p:cNvSpPr>
              <a:spLocks noChangeArrowheads="1"/>
            </p:cNvSpPr>
            <p:nvPr/>
          </p:nvSpPr>
          <p:spPr bwMode="auto">
            <a:xfrm>
              <a:off x="5283827"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04" name="Rectangle 374"/>
            <p:cNvSpPr>
              <a:spLocks noChangeArrowheads="1"/>
            </p:cNvSpPr>
            <p:nvPr/>
          </p:nvSpPr>
          <p:spPr bwMode="auto">
            <a:xfrm>
              <a:off x="5454735"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05" name="Rectangle 375"/>
            <p:cNvSpPr>
              <a:spLocks noChangeArrowheads="1"/>
            </p:cNvSpPr>
            <p:nvPr/>
          </p:nvSpPr>
          <p:spPr bwMode="auto">
            <a:xfrm>
              <a:off x="4258378"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06" name="Rectangle 376"/>
            <p:cNvSpPr>
              <a:spLocks noChangeArrowheads="1"/>
            </p:cNvSpPr>
            <p:nvPr/>
          </p:nvSpPr>
          <p:spPr bwMode="auto">
            <a:xfrm>
              <a:off x="4429287"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07" name="Rectangle 377"/>
            <p:cNvSpPr>
              <a:spLocks noChangeArrowheads="1"/>
            </p:cNvSpPr>
            <p:nvPr/>
          </p:nvSpPr>
          <p:spPr bwMode="auto">
            <a:xfrm>
              <a:off x="4600195"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08" name="Rectangle 378"/>
            <p:cNvSpPr>
              <a:spLocks noChangeArrowheads="1"/>
            </p:cNvSpPr>
            <p:nvPr/>
          </p:nvSpPr>
          <p:spPr bwMode="auto">
            <a:xfrm>
              <a:off x="4771103"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09" name="Rectangle 379"/>
            <p:cNvSpPr>
              <a:spLocks noChangeArrowheads="1"/>
            </p:cNvSpPr>
            <p:nvPr/>
          </p:nvSpPr>
          <p:spPr bwMode="auto">
            <a:xfrm>
              <a:off x="4942011"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10" name="Rectangle 380"/>
            <p:cNvSpPr>
              <a:spLocks noChangeArrowheads="1"/>
            </p:cNvSpPr>
            <p:nvPr/>
          </p:nvSpPr>
          <p:spPr bwMode="auto">
            <a:xfrm>
              <a:off x="5112919"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11" name="Rectangle 381"/>
            <p:cNvSpPr>
              <a:spLocks noChangeArrowheads="1"/>
            </p:cNvSpPr>
            <p:nvPr/>
          </p:nvSpPr>
          <p:spPr bwMode="auto">
            <a:xfrm>
              <a:off x="5283827"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12" name="Rectangle 382"/>
            <p:cNvSpPr>
              <a:spLocks noChangeArrowheads="1"/>
            </p:cNvSpPr>
            <p:nvPr/>
          </p:nvSpPr>
          <p:spPr bwMode="auto">
            <a:xfrm>
              <a:off x="5454735"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13" name="Rectangle 383"/>
            <p:cNvSpPr>
              <a:spLocks noChangeArrowheads="1"/>
            </p:cNvSpPr>
            <p:nvPr/>
          </p:nvSpPr>
          <p:spPr bwMode="auto">
            <a:xfrm>
              <a:off x="4258378"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14" name="Rectangle 384"/>
            <p:cNvSpPr>
              <a:spLocks noChangeArrowheads="1"/>
            </p:cNvSpPr>
            <p:nvPr/>
          </p:nvSpPr>
          <p:spPr bwMode="auto">
            <a:xfrm>
              <a:off x="4429287"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15" name="Rectangle 385"/>
            <p:cNvSpPr>
              <a:spLocks noChangeArrowheads="1"/>
            </p:cNvSpPr>
            <p:nvPr/>
          </p:nvSpPr>
          <p:spPr bwMode="auto">
            <a:xfrm>
              <a:off x="4600195"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16" name="Rectangle 386"/>
            <p:cNvSpPr>
              <a:spLocks noChangeArrowheads="1"/>
            </p:cNvSpPr>
            <p:nvPr/>
          </p:nvSpPr>
          <p:spPr bwMode="auto">
            <a:xfrm>
              <a:off x="4771103"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17" name="Rectangle 387"/>
            <p:cNvSpPr>
              <a:spLocks noChangeArrowheads="1"/>
            </p:cNvSpPr>
            <p:nvPr/>
          </p:nvSpPr>
          <p:spPr bwMode="auto">
            <a:xfrm>
              <a:off x="4942011"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18" name="Rectangle 388"/>
            <p:cNvSpPr>
              <a:spLocks noChangeArrowheads="1"/>
            </p:cNvSpPr>
            <p:nvPr/>
          </p:nvSpPr>
          <p:spPr bwMode="auto">
            <a:xfrm>
              <a:off x="5112919"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19" name="Rectangle 389"/>
            <p:cNvSpPr>
              <a:spLocks noChangeArrowheads="1"/>
            </p:cNvSpPr>
            <p:nvPr/>
          </p:nvSpPr>
          <p:spPr bwMode="auto">
            <a:xfrm>
              <a:off x="5283827"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20" name="Rectangle 390"/>
            <p:cNvSpPr>
              <a:spLocks noChangeArrowheads="1"/>
            </p:cNvSpPr>
            <p:nvPr/>
          </p:nvSpPr>
          <p:spPr bwMode="auto">
            <a:xfrm>
              <a:off x="5454735" y="392418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21" name="Rectangle 391"/>
            <p:cNvSpPr>
              <a:spLocks noChangeArrowheads="1"/>
            </p:cNvSpPr>
            <p:nvPr/>
          </p:nvSpPr>
          <p:spPr bwMode="auto">
            <a:xfrm>
              <a:off x="4258378"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22" name="Rectangle 392"/>
            <p:cNvSpPr>
              <a:spLocks noChangeArrowheads="1"/>
            </p:cNvSpPr>
            <p:nvPr/>
          </p:nvSpPr>
          <p:spPr bwMode="auto">
            <a:xfrm>
              <a:off x="4429287"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23" name="Rectangle 393"/>
            <p:cNvSpPr>
              <a:spLocks noChangeArrowheads="1"/>
            </p:cNvSpPr>
            <p:nvPr/>
          </p:nvSpPr>
          <p:spPr bwMode="auto">
            <a:xfrm>
              <a:off x="4600195"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24" name="Rectangle 394"/>
            <p:cNvSpPr>
              <a:spLocks noChangeArrowheads="1"/>
            </p:cNvSpPr>
            <p:nvPr/>
          </p:nvSpPr>
          <p:spPr bwMode="auto">
            <a:xfrm>
              <a:off x="4771103"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25" name="Rectangle 395"/>
            <p:cNvSpPr>
              <a:spLocks noChangeArrowheads="1"/>
            </p:cNvSpPr>
            <p:nvPr/>
          </p:nvSpPr>
          <p:spPr bwMode="auto">
            <a:xfrm>
              <a:off x="4942011"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26" name="Rectangle 396"/>
            <p:cNvSpPr>
              <a:spLocks noChangeArrowheads="1"/>
            </p:cNvSpPr>
            <p:nvPr/>
          </p:nvSpPr>
          <p:spPr bwMode="auto">
            <a:xfrm>
              <a:off x="5112919"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27" name="Rectangle 397"/>
            <p:cNvSpPr>
              <a:spLocks noChangeArrowheads="1"/>
            </p:cNvSpPr>
            <p:nvPr/>
          </p:nvSpPr>
          <p:spPr bwMode="auto">
            <a:xfrm>
              <a:off x="5283827"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28" name="Rectangle 398"/>
            <p:cNvSpPr>
              <a:spLocks noChangeArrowheads="1"/>
            </p:cNvSpPr>
            <p:nvPr/>
          </p:nvSpPr>
          <p:spPr bwMode="auto">
            <a:xfrm>
              <a:off x="5454735" y="3746159"/>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29" name="Rectangle 399"/>
            <p:cNvSpPr>
              <a:spLocks noChangeArrowheads="1"/>
            </p:cNvSpPr>
            <p:nvPr/>
          </p:nvSpPr>
          <p:spPr bwMode="auto">
            <a:xfrm>
              <a:off x="4258378"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30" name="Rectangle 400"/>
            <p:cNvSpPr>
              <a:spLocks noChangeArrowheads="1"/>
            </p:cNvSpPr>
            <p:nvPr/>
          </p:nvSpPr>
          <p:spPr bwMode="auto">
            <a:xfrm>
              <a:off x="4429287"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31" name="Rectangle 401"/>
            <p:cNvSpPr>
              <a:spLocks noChangeArrowheads="1"/>
            </p:cNvSpPr>
            <p:nvPr/>
          </p:nvSpPr>
          <p:spPr bwMode="auto">
            <a:xfrm>
              <a:off x="4600195"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32" name="Rectangle 402"/>
            <p:cNvSpPr>
              <a:spLocks noChangeArrowheads="1"/>
            </p:cNvSpPr>
            <p:nvPr/>
          </p:nvSpPr>
          <p:spPr bwMode="auto">
            <a:xfrm>
              <a:off x="4771103"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33" name="Rectangle 403"/>
            <p:cNvSpPr>
              <a:spLocks noChangeArrowheads="1"/>
            </p:cNvSpPr>
            <p:nvPr/>
          </p:nvSpPr>
          <p:spPr bwMode="auto">
            <a:xfrm>
              <a:off x="4942011"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34" name="Rectangle 404"/>
            <p:cNvSpPr>
              <a:spLocks noChangeArrowheads="1"/>
            </p:cNvSpPr>
            <p:nvPr/>
          </p:nvSpPr>
          <p:spPr bwMode="auto">
            <a:xfrm>
              <a:off x="5112919"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35" name="Rectangle 405"/>
            <p:cNvSpPr>
              <a:spLocks noChangeArrowheads="1"/>
            </p:cNvSpPr>
            <p:nvPr/>
          </p:nvSpPr>
          <p:spPr bwMode="auto">
            <a:xfrm>
              <a:off x="5283827"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36" name="Rectangle 406"/>
            <p:cNvSpPr>
              <a:spLocks noChangeArrowheads="1"/>
            </p:cNvSpPr>
            <p:nvPr/>
          </p:nvSpPr>
          <p:spPr bwMode="auto">
            <a:xfrm>
              <a:off x="5454735" y="356831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37" name="Rectangle 407"/>
            <p:cNvSpPr>
              <a:spLocks noChangeArrowheads="1"/>
            </p:cNvSpPr>
            <p:nvPr/>
          </p:nvSpPr>
          <p:spPr bwMode="auto">
            <a:xfrm>
              <a:off x="4256599"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38" name="Rectangle 408"/>
            <p:cNvSpPr>
              <a:spLocks noChangeArrowheads="1"/>
            </p:cNvSpPr>
            <p:nvPr/>
          </p:nvSpPr>
          <p:spPr bwMode="auto">
            <a:xfrm>
              <a:off x="4429287"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39" name="Rectangle 409"/>
            <p:cNvSpPr>
              <a:spLocks noChangeArrowheads="1"/>
            </p:cNvSpPr>
            <p:nvPr/>
          </p:nvSpPr>
          <p:spPr bwMode="auto">
            <a:xfrm>
              <a:off x="4600195"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40" name="Rectangle 410"/>
            <p:cNvSpPr>
              <a:spLocks noChangeArrowheads="1"/>
            </p:cNvSpPr>
            <p:nvPr/>
          </p:nvSpPr>
          <p:spPr bwMode="auto">
            <a:xfrm>
              <a:off x="4771103"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41" name="Rectangle 411"/>
            <p:cNvSpPr>
              <a:spLocks noChangeArrowheads="1"/>
            </p:cNvSpPr>
            <p:nvPr/>
          </p:nvSpPr>
          <p:spPr bwMode="auto">
            <a:xfrm>
              <a:off x="4942011"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42" name="Rectangle 412"/>
            <p:cNvSpPr>
              <a:spLocks noChangeArrowheads="1"/>
            </p:cNvSpPr>
            <p:nvPr/>
          </p:nvSpPr>
          <p:spPr bwMode="auto">
            <a:xfrm>
              <a:off x="5112919"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43" name="Rectangle 413"/>
            <p:cNvSpPr>
              <a:spLocks noChangeArrowheads="1"/>
            </p:cNvSpPr>
            <p:nvPr/>
          </p:nvSpPr>
          <p:spPr bwMode="auto">
            <a:xfrm>
              <a:off x="5283827"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44" name="Rectangle 414"/>
            <p:cNvSpPr>
              <a:spLocks noChangeArrowheads="1"/>
            </p:cNvSpPr>
            <p:nvPr/>
          </p:nvSpPr>
          <p:spPr bwMode="auto">
            <a:xfrm>
              <a:off x="5454735"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45" name="Rectangle 352"/>
            <p:cNvSpPr>
              <a:spLocks noChangeArrowheads="1"/>
            </p:cNvSpPr>
            <p:nvPr/>
          </p:nvSpPr>
          <p:spPr bwMode="auto">
            <a:xfrm>
              <a:off x="4258378"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46" name="Rectangle 352"/>
            <p:cNvSpPr>
              <a:spLocks noChangeArrowheads="1"/>
            </p:cNvSpPr>
            <p:nvPr/>
          </p:nvSpPr>
          <p:spPr bwMode="auto">
            <a:xfrm>
              <a:off x="2821740"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47" name="Rectangle 353"/>
            <p:cNvSpPr>
              <a:spLocks noChangeArrowheads="1"/>
            </p:cNvSpPr>
            <p:nvPr/>
          </p:nvSpPr>
          <p:spPr bwMode="auto">
            <a:xfrm>
              <a:off x="2992649"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48" name="Rectangle 354"/>
            <p:cNvSpPr>
              <a:spLocks noChangeArrowheads="1"/>
            </p:cNvSpPr>
            <p:nvPr/>
          </p:nvSpPr>
          <p:spPr bwMode="auto">
            <a:xfrm>
              <a:off x="3163556"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49" name="Rectangle 355"/>
            <p:cNvSpPr>
              <a:spLocks noChangeArrowheads="1"/>
            </p:cNvSpPr>
            <p:nvPr/>
          </p:nvSpPr>
          <p:spPr bwMode="auto">
            <a:xfrm>
              <a:off x="3334464"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50" name="Rectangle 356"/>
            <p:cNvSpPr>
              <a:spLocks noChangeArrowheads="1"/>
            </p:cNvSpPr>
            <p:nvPr/>
          </p:nvSpPr>
          <p:spPr bwMode="auto">
            <a:xfrm>
              <a:off x="3505373"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51" name="Rectangle 357"/>
            <p:cNvSpPr>
              <a:spLocks noChangeArrowheads="1"/>
            </p:cNvSpPr>
            <p:nvPr/>
          </p:nvSpPr>
          <p:spPr bwMode="auto">
            <a:xfrm>
              <a:off x="3676281"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52" name="Rectangle 358"/>
            <p:cNvSpPr>
              <a:spLocks noChangeArrowheads="1"/>
            </p:cNvSpPr>
            <p:nvPr/>
          </p:nvSpPr>
          <p:spPr bwMode="auto">
            <a:xfrm>
              <a:off x="3847189"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53" name="Rectangle 359"/>
            <p:cNvSpPr>
              <a:spLocks noChangeArrowheads="1"/>
            </p:cNvSpPr>
            <p:nvPr/>
          </p:nvSpPr>
          <p:spPr bwMode="auto">
            <a:xfrm>
              <a:off x="2650832"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54" name="Rectangle 360"/>
            <p:cNvSpPr>
              <a:spLocks noChangeArrowheads="1"/>
            </p:cNvSpPr>
            <p:nvPr/>
          </p:nvSpPr>
          <p:spPr bwMode="auto">
            <a:xfrm>
              <a:off x="2821740"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55" name="Rectangle 361"/>
            <p:cNvSpPr>
              <a:spLocks noChangeArrowheads="1"/>
            </p:cNvSpPr>
            <p:nvPr/>
          </p:nvSpPr>
          <p:spPr bwMode="auto">
            <a:xfrm>
              <a:off x="2992649"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56" name="Rectangle 362"/>
            <p:cNvSpPr>
              <a:spLocks noChangeArrowheads="1"/>
            </p:cNvSpPr>
            <p:nvPr/>
          </p:nvSpPr>
          <p:spPr bwMode="auto">
            <a:xfrm>
              <a:off x="3163556"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57" name="Rectangle 363"/>
            <p:cNvSpPr>
              <a:spLocks noChangeArrowheads="1"/>
            </p:cNvSpPr>
            <p:nvPr/>
          </p:nvSpPr>
          <p:spPr bwMode="auto">
            <a:xfrm>
              <a:off x="3334464"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58" name="Rectangle 364"/>
            <p:cNvSpPr>
              <a:spLocks noChangeArrowheads="1"/>
            </p:cNvSpPr>
            <p:nvPr/>
          </p:nvSpPr>
          <p:spPr bwMode="auto">
            <a:xfrm>
              <a:off x="3505373"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59" name="Rectangle 365"/>
            <p:cNvSpPr>
              <a:spLocks noChangeArrowheads="1"/>
            </p:cNvSpPr>
            <p:nvPr/>
          </p:nvSpPr>
          <p:spPr bwMode="auto">
            <a:xfrm>
              <a:off x="3676281"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60" name="Rectangle 366"/>
            <p:cNvSpPr>
              <a:spLocks noChangeArrowheads="1"/>
            </p:cNvSpPr>
            <p:nvPr/>
          </p:nvSpPr>
          <p:spPr bwMode="auto">
            <a:xfrm>
              <a:off x="3847189" y="4454890"/>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61" name="Rectangle 367"/>
            <p:cNvSpPr>
              <a:spLocks noChangeArrowheads="1"/>
            </p:cNvSpPr>
            <p:nvPr/>
          </p:nvSpPr>
          <p:spPr bwMode="auto">
            <a:xfrm>
              <a:off x="2650832"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62" name="Rectangle 368"/>
            <p:cNvSpPr>
              <a:spLocks noChangeArrowheads="1"/>
            </p:cNvSpPr>
            <p:nvPr/>
          </p:nvSpPr>
          <p:spPr bwMode="auto">
            <a:xfrm>
              <a:off x="2821740"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63" name="Rectangle 369"/>
            <p:cNvSpPr>
              <a:spLocks noChangeArrowheads="1"/>
            </p:cNvSpPr>
            <p:nvPr/>
          </p:nvSpPr>
          <p:spPr bwMode="auto">
            <a:xfrm>
              <a:off x="2992649"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64" name="Rectangle 370"/>
            <p:cNvSpPr>
              <a:spLocks noChangeArrowheads="1"/>
            </p:cNvSpPr>
            <p:nvPr/>
          </p:nvSpPr>
          <p:spPr bwMode="auto">
            <a:xfrm>
              <a:off x="3163556"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pPr marL="354013" indent="-354013" defTabSz="941388"/>
              <a:endParaRPr lang="en-US" sz="1000">
                <a:latin typeface="Arial" pitchFamily="34" charset="0"/>
                <a:cs typeface="Arial" pitchFamily="34" charset="0"/>
              </a:endParaRPr>
            </a:p>
          </p:txBody>
        </p:sp>
        <p:sp>
          <p:nvSpPr>
            <p:cNvPr id="165" name="Rectangle 371"/>
            <p:cNvSpPr>
              <a:spLocks noChangeArrowheads="1"/>
            </p:cNvSpPr>
            <p:nvPr/>
          </p:nvSpPr>
          <p:spPr bwMode="auto">
            <a:xfrm>
              <a:off x="3334464"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66" name="Rectangle 372"/>
            <p:cNvSpPr>
              <a:spLocks noChangeArrowheads="1"/>
            </p:cNvSpPr>
            <p:nvPr/>
          </p:nvSpPr>
          <p:spPr bwMode="auto">
            <a:xfrm>
              <a:off x="3505373"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67" name="Rectangle 373"/>
            <p:cNvSpPr>
              <a:spLocks noChangeArrowheads="1"/>
            </p:cNvSpPr>
            <p:nvPr/>
          </p:nvSpPr>
          <p:spPr bwMode="auto">
            <a:xfrm>
              <a:off x="3676281"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68" name="Rectangle 374"/>
            <p:cNvSpPr>
              <a:spLocks noChangeArrowheads="1"/>
            </p:cNvSpPr>
            <p:nvPr/>
          </p:nvSpPr>
          <p:spPr bwMode="auto">
            <a:xfrm>
              <a:off x="3847189" y="4278643"/>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69" name="Rectangle 375"/>
            <p:cNvSpPr>
              <a:spLocks noChangeArrowheads="1"/>
            </p:cNvSpPr>
            <p:nvPr/>
          </p:nvSpPr>
          <p:spPr bwMode="auto">
            <a:xfrm>
              <a:off x="2650832"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70" name="Rectangle 376"/>
            <p:cNvSpPr>
              <a:spLocks noChangeArrowheads="1"/>
            </p:cNvSpPr>
            <p:nvPr/>
          </p:nvSpPr>
          <p:spPr bwMode="auto">
            <a:xfrm>
              <a:off x="2821740"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71" name="Rectangle 377"/>
            <p:cNvSpPr>
              <a:spLocks noChangeArrowheads="1"/>
            </p:cNvSpPr>
            <p:nvPr/>
          </p:nvSpPr>
          <p:spPr bwMode="auto">
            <a:xfrm>
              <a:off x="2992649"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72" name="Rectangle 378"/>
            <p:cNvSpPr>
              <a:spLocks noChangeArrowheads="1"/>
            </p:cNvSpPr>
            <p:nvPr/>
          </p:nvSpPr>
          <p:spPr bwMode="auto">
            <a:xfrm>
              <a:off x="3163556"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73" name="Rectangle 379"/>
            <p:cNvSpPr>
              <a:spLocks noChangeArrowheads="1"/>
            </p:cNvSpPr>
            <p:nvPr/>
          </p:nvSpPr>
          <p:spPr bwMode="auto">
            <a:xfrm>
              <a:off x="3334464"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74" name="Rectangle 380"/>
            <p:cNvSpPr>
              <a:spLocks noChangeArrowheads="1"/>
            </p:cNvSpPr>
            <p:nvPr/>
          </p:nvSpPr>
          <p:spPr bwMode="auto">
            <a:xfrm>
              <a:off x="3505373"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75" name="Rectangle 381"/>
            <p:cNvSpPr>
              <a:spLocks noChangeArrowheads="1"/>
            </p:cNvSpPr>
            <p:nvPr/>
          </p:nvSpPr>
          <p:spPr bwMode="auto">
            <a:xfrm>
              <a:off x="3676281"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76" name="Rectangle 382"/>
            <p:cNvSpPr>
              <a:spLocks noChangeArrowheads="1"/>
            </p:cNvSpPr>
            <p:nvPr/>
          </p:nvSpPr>
          <p:spPr bwMode="auto">
            <a:xfrm>
              <a:off x="3847189" y="4101327"/>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sp>
          <p:nvSpPr>
            <p:cNvPr id="177" name="Rectangle 383"/>
            <p:cNvSpPr>
              <a:spLocks noChangeArrowheads="1"/>
            </p:cNvSpPr>
            <p:nvPr/>
          </p:nvSpPr>
          <p:spPr bwMode="auto">
            <a:xfrm>
              <a:off x="2654393" y="3924188"/>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78" name="Rectangle 384"/>
            <p:cNvSpPr>
              <a:spLocks noChangeArrowheads="1"/>
            </p:cNvSpPr>
            <p:nvPr/>
          </p:nvSpPr>
          <p:spPr bwMode="auto">
            <a:xfrm>
              <a:off x="2821740" y="3924188"/>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79" name="Rectangle 385"/>
            <p:cNvSpPr>
              <a:spLocks noChangeArrowheads="1"/>
            </p:cNvSpPr>
            <p:nvPr/>
          </p:nvSpPr>
          <p:spPr bwMode="auto">
            <a:xfrm>
              <a:off x="2992649" y="3924188"/>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80" name="Rectangle 386"/>
            <p:cNvSpPr>
              <a:spLocks noChangeArrowheads="1"/>
            </p:cNvSpPr>
            <p:nvPr/>
          </p:nvSpPr>
          <p:spPr bwMode="auto">
            <a:xfrm>
              <a:off x="3163556" y="3924188"/>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81" name="Rectangle 387"/>
            <p:cNvSpPr>
              <a:spLocks noChangeArrowheads="1"/>
            </p:cNvSpPr>
            <p:nvPr/>
          </p:nvSpPr>
          <p:spPr bwMode="auto">
            <a:xfrm>
              <a:off x="3334464" y="3924188"/>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82" name="Rectangle 388"/>
            <p:cNvSpPr>
              <a:spLocks noChangeArrowheads="1"/>
            </p:cNvSpPr>
            <p:nvPr/>
          </p:nvSpPr>
          <p:spPr bwMode="auto">
            <a:xfrm>
              <a:off x="3505373" y="3924188"/>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83" name="Rectangle 389"/>
            <p:cNvSpPr>
              <a:spLocks noChangeArrowheads="1"/>
            </p:cNvSpPr>
            <p:nvPr/>
          </p:nvSpPr>
          <p:spPr bwMode="auto">
            <a:xfrm>
              <a:off x="3676281" y="3924188"/>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84" name="Rectangle 390"/>
            <p:cNvSpPr>
              <a:spLocks noChangeArrowheads="1"/>
            </p:cNvSpPr>
            <p:nvPr/>
          </p:nvSpPr>
          <p:spPr bwMode="auto">
            <a:xfrm>
              <a:off x="3847189" y="3924188"/>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85" name="Rectangle 391"/>
            <p:cNvSpPr>
              <a:spLocks noChangeArrowheads="1"/>
            </p:cNvSpPr>
            <p:nvPr/>
          </p:nvSpPr>
          <p:spPr bwMode="auto">
            <a:xfrm>
              <a:off x="2654393" y="3746159"/>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86" name="Rectangle 392"/>
            <p:cNvSpPr>
              <a:spLocks noChangeArrowheads="1"/>
            </p:cNvSpPr>
            <p:nvPr/>
          </p:nvSpPr>
          <p:spPr bwMode="auto">
            <a:xfrm>
              <a:off x="2821740" y="3746159"/>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87" name="Rectangle 393"/>
            <p:cNvSpPr>
              <a:spLocks noChangeArrowheads="1"/>
            </p:cNvSpPr>
            <p:nvPr/>
          </p:nvSpPr>
          <p:spPr bwMode="auto">
            <a:xfrm>
              <a:off x="2992649" y="3746159"/>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88" name="Rectangle 394"/>
            <p:cNvSpPr>
              <a:spLocks noChangeArrowheads="1"/>
            </p:cNvSpPr>
            <p:nvPr/>
          </p:nvSpPr>
          <p:spPr bwMode="auto">
            <a:xfrm>
              <a:off x="3163556" y="3746159"/>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89" name="Rectangle 395"/>
            <p:cNvSpPr>
              <a:spLocks noChangeArrowheads="1"/>
            </p:cNvSpPr>
            <p:nvPr/>
          </p:nvSpPr>
          <p:spPr bwMode="auto">
            <a:xfrm>
              <a:off x="3334464" y="3746159"/>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90" name="Rectangle 396"/>
            <p:cNvSpPr>
              <a:spLocks noChangeArrowheads="1"/>
            </p:cNvSpPr>
            <p:nvPr/>
          </p:nvSpPr>
          <p:spPr bwMode="auto">
            <a:xfrm>
              <a:off x="3505373" y="3746159"/>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91" name="Rectangle 397"/>
            <p:cNvSpPr>
              <a:spLocks noChangeArrowheads="1"/>
            </p:cNvSpPr>
            <p:nvPr/>
          </p:nvSpPr>
          <p:spPr bwMode="auto">
            <a:xfrm>
              <a:off x="3676281" y="3746159"/>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92" name="Rectangle 398"/>
            <p:cNvSpPr>
              <a:spLocks noChangeArrowheads="1"/>
            </p:cNvSpPr>
            <p:nvPr/>
          </p:nvSpPr>
          <p:spPr bwMode="auto">
            <a:xfrm>
              <a:off x="3847189" y="3746159"/>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93" name="Rectangle 399"/>
            <p:cNvSpPr>
              <a:spLocks noChangeArrowheads="1"/>
            </p:cNvSpPr>
            <p:nvPr/>
          </p:nvSpPr>
          <p:spPr bwMode="auto">
            <a:xfrm>
              <a:off x="2654393" y="3568310"/>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94" name="Rectangle 400"/>
            <p:cNvSpPr>
              <a:spLocks noChangeArrowheads="1"/>
            </p:cNvSpPr>
            <p:nvPr/>
          </p:nvSpPr>
          <p:spPr bwMode="auto">
            <a:xfrm>
              <a:off x="2821740" y="3568310"/>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95" name="Rectangle 401"/>
            <p:cNvSpPr>
              <a:spLocks noChangeArrowheads="1"/>
            </p:cNvSpPr>
            <p:nvPr/>
          </p:nvSpPr>
          <p:spPr bwMode="auto">
            <a:xfrm>
              <a:off x="2992649" y="3568310"/>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96" name="Rectangle 402"/>
            <p:cNvSpPr>
              <a:spLocks noChangeArrowheads="1"/>
            </p:cNvSpPr>
            <p:nvPr/>
          </p:nvSpPr>
          <p:spPr bwMode="auto">
            <a:xfrm>
              <a:off x="3163556" y="3568310"/>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97" name="Rectangle 403"/>
            <p:cNvSpPr>
              <a:spLocks noChangeArrowheads="1"/>
            </p:cNvSpPr>
            <p:nvPr/>
          </p:nvSpPr>
          <p:spPr bwMode="auto">
            <a:xfrm>
              <a:off x="3334464" y="3568310"/>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98" name="Rectangle 404"/>
            <p:cNvSpPr>
              <a:spLocks noChangeArrowheads="1"/>
            </p:cNvSpPr>
            <p:nvPr/>
          </p:nvSpPr>
          <p:spPr bwMode="auto">
            <a:xfrm>
              <a:off x="3505373" y="3568310"/>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199" name="Rectangle 405"/>
            <p:cNvSpPr>
              <a:spLocks noChangeArrowheads="1"/>
            </p:cNvSpPr>
            <p:nvPr/>
          </p:nvSpPr>
          <p:spPr bwMode="auto">
            <a:xfrm>
              <a:off x="3676281" y="3568310"/>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200" name="Rectangle 406"/>
            <p:cNvSpPr>
              <a:spLocks noChangeArrowheads="1"/>
            </p:cNvSpPr>
            <p:nvPr/>
          </p:nvSpPr>
          <p:spPr bwMode="auto">
            <a:xfrm>
              <a:off x="3847189" y="3568310"/>
              <a:ext cx="170908" cy="170908"/>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201" name="Rectangle 407"/>
            <p:cNvSpPr>
              <a:spLocks noChangeArrowheads="1"/>
            </p:cNvSpPr>
            <p:nvPr/>
          </p:nvSpPr>
          <p:spPr bwMode="auto">
            <a:xfrm>
              <a:off x="2654393"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202" name="Rectangle 408"/>
            <p:cNvSpPr>
              <a:spLocks noChangeArrowheads="1"/>
            </p:cNvSpPr>
            <p:nvPr/>
          </p:nvSpPr>
          <p:spPr bwMode="auto">
            <a:xfrm>
              <a:off x="2821740"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203" name="Rectangle 409"/>
            <p:cNvSpPr>
              <a:spLocks noChangeArrowheads="1"/>
            </p:cNvSpPr>
            <p:nvPr/>
          </p:nvSpPr>
          <p:spPr bwMode="auto">
            <a:xfrm>
              <a:off x="2992649"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204" name="Rectangle 410"/>
            <p:cNvSpPr>
              <a:spLocks noChangeArrowheads="1"/>
            </p:cNvSpPr>
            <p:nvPr/>
          </p:nvSpPr>
          <p:spPr bwMode="auto">
            <a:xfrm>
              <a:off x="3163556"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205" name="Rectangle 411"/>
            <p:cNvSpPr>
              <a:spLocks noChangeArrowheads="1"/>
            </p:cNvSpPr>
            <p:nvPr/>
          </p:nvSpPr>
          <p:spPr bwMode="auto">
            <a:xfrm>
              <a:off x="3334464"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206" name="Rectangle 412"/>
            <p:cNvSpPr>
              <a:spLocks noChangeArrowheads="1"/>
            </p:cNvSpPr>
            <p:nvPr/>
          </p:nvSpPr>
          <p:spPr bwMode="auto">
            <a:xfrm>
              <a:off x="3505373"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207" name="Rectangle 413"/>
            <p:cNvSpPr>
              <a:spLocks noChangeArrowheads="1"/>
            </p:cNvSpPr>
            <p:nvPr/>
          </p:nvSpPr>
          <p:spPr bwMode="auto">
            <a:xfrm>
              <a:off x="3676281"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208" name="Rectangle 414"/>
            <p:cNvSpPr>
              <a:spLocks noChangeArrowheads="1"/>
            </p:cNvSpPr>
            <p:nvPr/>
          </p:nvSpPr>
          <p:spPr bwMode="auto">
            <a:xfrm>
              <a:off x="3847189" y="3373724"/>
              <a:ext cx="170908" cy="187999"/>
            </a:xfrm>
            <a:prstGeom prst="rect">
              <a:avLst/>
            </a:prstGeom>
            <a:ln>
              <a:headEnd/>
              <a:tailEnd type="none" w="lg" len="med"/>
            </a:ln>
          </p:spPr>
          <p:style>
            <a:lnRef idx="2">
              <a:schemeClr val="dk1"/>
            </a:lnRef>
            <a:fillRef idx="1">
              <a:schemeClr val="lt1"/>
            </a:fillRef>
            <a:effectRef idx="0">
              <a:schemeClr val="dk1"/>
            </a:effectRef>
            <a:fontRef idx="minor">
              <a:schemeClr val="dk1"/>
            </a:fontRef>
          </p:style>
          <p:txBody>
            <a:bodyPr wrap="none" lIns="0" tIns="0" rIns="0" bIns="0" anchor="ctr"/>
            <a:lstStyle/>
            <a:p>
              <a:endParaRPr lang="en-US" sz="1000">
                <a:latin typeface="Arial" pitchFamily="34" charset="0"/>
                <a:cs typeface="Arial" pitchFamily="34" charset="0"/>
              </a:endParaRPr>
            </a:p>
          </p:txBody>
        </p:sp>
        <p:sp>
          <p:nvSpPr>
            <p:cNvPr id="209" name="Rectangle 352"/>
            <p:cNvSpPr>
              <a:spLocks noChangeArrowheads="1"/>
            </p:cNvSpPr>
            <p:nvPr/>
          </p:nvSpPr>
          <p:spPr bwMode="auto">
            <a:xfrm>
              <a:off x="2650832" y="4632028"/>
              <a:ext cx="170908" cy="170908"/>
            </a:xfrm>
            <a:prstGeom prst="rect">
              <a:avLst/>
            </a:prstGeom>
            <a:solidFill>
              <a:srgbClr val="FF0000"/>
            </a:solidFill>
            <a:ln>
              <a:solidFill>
                <a:schemeClr val="tx1"/>
              </a:solidFill>
              <a:headEnd/>
              <a:tailEnd type="none" w="lg" len="med"/>
            </a:ln>
          </p:spPr>
          <p:style>
            <a:lnRef idx="0">
              <a:schemeClr val="accent6"/>
            </a:lnRef>
            <a:fillRef idx="3">
              <a:schemeClr val="accent6"/>
            </a:fillRef>
            <a:effectRef idx="3">
              <a:schemeClr val="accent6"/>
            </a:effectRef>
            <a:fontRef idx="minor">
              <a:schemeClr val="lt1"/>
            </a:fontRef>
          </p:style>
          <p:txBody>
            <a:bodyPr wrap="none" lIns="0" tIns="0" rIns="0" bIns="0" anchor="ctr"/>
            <a:lstStyle/>
            <a:p>
              <a:endParaRPr lang="en-US" sz="1000">
                <a:latin typeface="Arial" pitchFamily="34" charset="0"/>
                <a:cs typeface="Arial" pitchFamily="34" charset="0"/>
              </a:endParaRPr>
            </a:p>
          </p:txBody>
        </p:sp>
      </p:grpSp>
      <p:sp>
        <p:nvSpPr>
          <p:cNvPr id="211" name="TextBox 210"/>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836875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Защита данных кэш-памяти</a:t>
            </a:r>
          </a:p>
        </p:txBody>
      </p:sp>
      <p:sp>
        <p:nvSpPr>
          <p:cNvPr id="3" name="Content Placeholder 2"/>
          <p:cNvSpPr>
            <a:spLocks noGrp="1"/>
          </p:cNvSpPr>
          <p:nvPr>
            <p:ph sz="quarter" idx="10"/>
          </p:nvPr>
        </p:nvSpPr>
        <p:spPr/>
        <p:txBody>
          <a:bodyPr/>
          <a:lstStyle/>
          <a:p>
            <a:r>
              <a:rPr lang="ru-RU" sz="2000" b="0" i="0" dirty="0">
                <a:solidFill>
                  <a:srgbClr val="000000"/>
                </a:solidFill>
                <a:latin typeface="Arial" pitchFamily="34" charset="0"/>
                <a:cs typeface="Arial" pitchFamily="34" charset="0"/>
              </a:rPr>
              <a:t>Система обеспечивает защиту данных в кэш-памяти от сбоев электропитания или при неполадках в работе кэш-памяти.</a:t>
            </a:r>
          </a:p>
          <a:p>
            <a:pPr lvl="1"/>
            <a:r>
              <a:rPr lang="ru-RU" sz="1800" b="0" i="0" dirty="0">
                <a:solidFill>
                  <a:srgbClr val="000000"/>
                </a:solidFill>
                <a:latin typeface="Arial" pitchFamily="34" charset="0"/>
                <a:cs typeface="Arial" pitchFamily="34" charset="0"/>
              </a:rPr>
              <a:t>Зеркалирование кэш-памяти</a:t>
            </a:r>
          </a:p>
          <a:p>
            <a:pPr lvl="2"/>
            <a:r>
              <a:rPr lang="ru-RU" sz="1600" b="0" i="0" dirty="0">
                <a:solidFill>
                  <a:srgbClr val="000000"/>
                </a:solidFill>
                <a:latin typeface="Arial" pitchFamily="34" charset="0"/>
                <a:cs typeface="Arial" pitchFamily="34" charset="0"/>
              </a:rPr>
              <a:t>Обеспечивает защиту данных от сбоев в работе кэш-памяти</a:t>
            </a:r>
          </a:p>
          <a:p>
            <a:pPr lvl="2"/>
            <a:r>
              <a:rPr lang="ru-RU" sz="1600" b="0" i="0" dirty="0">
                <a:solidFill>
                  <a:srgbClr val="000000"/>
                </a:solidFill>
                <a:latin typeface="Arial" pitchFamily="34" charset="0"/>
                <a:cs typeface="Arial" pitchFamily="34" charset="0"/>
              </a:rPr>
              <a:t>Каждая операция записи в кэш-память выполняется в двух различных областях на двух независимых картах памяти</a:t>
            </a:r>
          </a:p>
          <a:p>
            <a:pPr lvl="1"/>
            <a:r>
              <a:rPr lang="ru-RU" sz="1800" b="0" i="0" dirty="0">
                <a:solidFill>
                  <a:srgbClr val="000000"/>
                </a:solidFill>
                <a:latin typeface="Arial" pitchFamily="34" charset="0"/>
                <a:cs typeface="Arial" pitchFamily="34" charset="0"/>
              </a:rPr>
              <a:t>Аварийное сохранение данных из кэш-памяти </a:t>
            </a:r>
          </a:p>
          <a:p>
            <a:pPr lvl="2"/>
            <a:r>
              <a:rPr lang="ru-RU" sz="1600" b="0" i="0" dirty="0">
                <a:solidFill>
                  <a:srgbClr val="000000"/>
                </a:solidFill>
                <a:latin typeface="Arial" pitchFamily="34" charset="0"/>
                <a:cs typeface="Arial" pitchFamily="34" charset="0"/>
              </a:rPr>
              <a:t>Обеспечивается защита данных при сбоях электропитания</a:t>
            </a:r>
          </a:p>
          <a:p>
            <a:pPr lvl="2"/>
            <a:r>
              <a:rPr lang="ru-RU" sz="1600" b="0" i="0" dirty="0">
                <a:solidFill>
                  <a:srgbClr val="000000"/>
                </a:solidFill>
                <a:latin typeface="Arial" pitchFamily="34" charset="0"/>
                <a:cs typeface="Arial" pitchFamily="34" charset="0"/>
              </a:rPr>
              <a:t>В случае сбоев электропитания непереданные данные выгружаются в выделенный набор дисков, которые называются системными дисками</a:t>
            </a: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703419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Компоненты контроллера</a:t>
            </a:r>
          </a:p>
        </p:txBody>
      </p:sp>
      <p:sp>
        <p:nvSpPr>
          <p:cNvPr id="3" name="Subtitle 2"/>
          <p:cNvSpPr>
            <a:spLocks noGrp="1"/>
          </p:cNvSpPr>
          <p:nvPr>
            <p:ph type="subTitle" idx="1"/>
          </p:nvPr>
        </p:nvSpPr>
        <p:spPr/>
        <p:txBody>
          <a:bodyPr/>
          <a:lstStyle/>
          <a:p>
            <a:r>
              <a:rPr lang="ru-RU" sz="2000" b="0" i="0" dirty="0">
                <a:solidFill>
                  <a:srgbClr val="000000"/>
                </a:solidFill>
                <a:latin typeface="Arial" pitchFamily="34" charset="0"/>
                <a:cs typeface="Arial" pitchFamily="34" charset="0"/>
              </a:rPr>
              <a:t>Внутренние</a:t>
            </a:r>
          </a:p>
        </p:txBody>
      </p:sp>
      <p:grpSp>
        <p:nvGrpSpPr>
          <p:cNvPr id="5" name="Group 4"/>
          <p:cNvGrpSpPr/>
          <p:nvPr/>
        </p:nvGrpSpPr>
        <p:grpSpPr>
          <a:xfrm>
            <a:off x="400631" y="1019175"/>
            <a:ext cx="8124244" cy="3355062"/>
            <a:chOff x="212905" y="1247775"/>
            <a:chExt cx="8124244" cy="3355062"/>
          </a:xfrm>
        </p:grpSpPr>
        <p:grpSp>
          <p:nvGrpSpPr>
            <p:cNvPr id="273" name="Group 272"/>
            <p:cNvGrpSpPr/>
            <p:nvPr/>
          </p:nvGrpSpPr>
          <p:grpSpPr>
            <a:xfrm>
              <a:off x="212905" y="1247775"/>
              <a:ext cx="8124244" cy="3355062"/>
              <a:chOff x="212905" y="1247775"/>
              <a:chExt cx="8124244" cy="3355062"/>
            </a:xfrm>
          </p:grpSpPr>
          <p:sp>
            <p:nvSpPr>
              <p:cNvPr id="6" name="AutoShape 12"/>
              <p:cNvSpPr>
                <a:spLocks noChangeArrowheads="1"/>
              </p:cNvSpPr>
              <p:nvPr/>
            </p:nvSpPr>
            <p:spPr bwMode="auto">
              <a:xfrm>
                <a:off x="3380397" y="1537784"/>
                <a:ext cx="3360462" cy="2443504"/>
              </a:xfrm>
              <a:prstGeom prst="roundRect">
                <a:avLst>
                  <a:gd name="adj" fmla="val 5528"/>
                </a:avLst>
              </a:prstGeom>
              <a:ln>
                <a:headEnd/>
                <a:tailEnd type="none" w="lg" len="med"/>
              </a:ln>
            </p:spPr>
            <p:style>
              <a:lnRef idx="1">
                <a:schemeClr val="dk1"/>
              </a:lnRef>
              <a:fillRef idx="2">
                <a:schemeClr val="dk1"/>
              </a:fillRef>
              <a:effectRef idx="1">
                <a:schemeClr val="dk1"/>
              </a:effectRef>
              <a:fontRef idx="minor">
                <a:schemeClr val="dk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8" name="Text Box 149"/>
              <p:cNvSpPr txBox="1">
                <a:spLocks noChangeArrowheads="1"/>
              </p:cNvSpPr>
              <p:nvPr/>
            </p:nvSpPr>
            <p:spPr bwMode="auto">
              <a:xfrm>
                <a:off x="4450949" y="4171950"/>
                <a:ext cx="177532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0" indent="0" algn="r">
                  <a:spcBef>
                    <a:spcPts val="0"/>
                  </a:spcBef>
                </a:pPr>
                <a:r>
                  <a:rPr lang="ru-RU" sz="1400" b="0" i="0" dirty="0">
                    <a:solidFill>
                      <a:srgbClr val="000000"/>
                    </a:solidFill>
                    <a:latin typeface="Arial" pitchFamily="34" charset="0"/>
                    <a:cs typeface="Arial" pitchFamily="34" charset="0"/>
                  </a:rPr>
                  <a:t>Контроллеры серверной части</a:t>
                </a:r>
              </a:p>
            </p:txBody>
          </p:sp>
          <p:sp>
            <p:nvSpPr>
              <p:cNvPr id="10" name="Line 5"/>
              <p:cNvSpPr>
                <a:spLocks noChangeShapeType="1"/>
              </p:cNvSpPr>
              <p:nvPr/>
            </p:nvSpPr>
            <p:spPr bwMode="auto">
              <a:xfrm flipH="1">
                <a:off x="1661480" y="2837783"/>
                <a:ext cx="389189"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11" name="Line 6"/>
              <p:cNvSpPr>
                <a:spLocks noChangeShapeType="1"/>
              </p:cNvSpPr>
              <p:nvPr/>
            </p:nvSpPr>
            <p:spPr bwMode="auto">
              <a:xfrm flipH="1">
                <a:off x="1658777" y="2921567"/>
                <a:ext cx="389189"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cxnSp>
            <p:nvCxnSpPr>
              <p:cNvPr id="12" name="Elbow Connector 11"/>
              <p:cNvCxnSpPr/>
              <p:nvPr/>
            </p:nvCxnSpPr>
            <p:spPr>
              <a:xfrm>
                <a:off x="2627650" y="3022137"/>
                <a:ext cx="975720" cy="421727"/>
              </a:xfrm>
              <a:prstGeom prst="bentConnector3">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Elbow Connector 12"/>
              <p:cNvCxnSpPr/>
              <p:nvPr/>
            </p:nvCxnSpPr>
            <p:spPr>
              <a:xfrm rot="10800000">
                <a:off x="2647007" y="2936909"/>
                <a:ext cx="956363" cy="193442"/>
              </a:xfrm>
              <a:prstGeom prst="bentConnector3">
                <a:avLst>
                  <a:gd name="adj1" fmla="val 45337"/>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p:nvPr/>
            </p:nvCxnSpPr>
            <p:spPr>
              <a:xfrm rot="10800000" flipV="1">
                <a:off x="2635753" y="2393864"/>
                <a:ext cx="967617" cy="377999"/>
              </a:xfrm>
              <a:prstGeom prst="bentConnector3">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5" name="Elbow Connector 14"/>
              <p:cNvCxnSpPr/>
              <p:nvPr/>
            </p:nvCxnSpPr>
            <p:spPr>
              <a:xfrm rot="10800000" flipV="1">
                <a:off x="2663661" y="2707377"/>
                <a:ext cx="939709" cy="142950"/>
              </a:xfrm>
              <a:prstGeom prst="bentConnector3">
                <a:avLst>
                  <a:gd name="adj1" fmla="val 45686"/>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sp>
            <p:nvSpPr>
              <p:cNvPr id="18" name="Line 19"/>
              <p:cNvSpPr>
                <a:spLocks noChangeShapeType="1"/>
              </p:cNvSpPr>
              <p:nvPr/>
            </p:nvSpPr>
            <p:spPr bwMode="auto">
              <a:xfrm flipH="1">
                <a:off x="4381747" y="2837783"/>
                <a:ext cx="142702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19" name="Line 35"/>
              <p:cNvSpPr>
                <a:spLocks noChangeShapeType="1"/>
              </p:cNvSpPr>
              <p:nvPr/>
            </p:nvSpPr>
            <p:spPr bwMode="auto">
              <a:xfrm flipH="1">
                <a:off x="4381747" y="2967512"/>
                <a:ext cx="142702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0" name="Line 110"/>
              <p:cNvSpPr>
                <a:spLocks noChangeShapeType="1"/>
              </p:cNvSpPr>
              <p:nvPr/>
            </p:nvSpPr>
            <p:spPr bwMode="auto">
              <a:xfrm>
                <a:off x="6546777" y="3423590"/>
                <a:ext cx="388165"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1" name="Line 111"/>
              <p:cNvSpPr>
                <a:spLocks noChangeShapeType="1"/>
              </p:cNvSpPr>
              <p:nvPr/>
            </p:nvSpPr>
            <p:spPr bwMode="auto">
              <a:xfrm>
                <a:off x="6844735" y="2682530"/>
                <a:ext cx="0" cy="17267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2" name="Line 114"/>
              <p:cNvSpPr>
                <a:spLocks noChangeShapeType="1"/>
              </p:cNvSpPr>
              <p:nvPr/>
            </p:nvSpPr>
            <p:spPr bwMode="auto">
              <a:xfrm>
                <a:off x="6438011" y="2379676"/>
                <a:ext cx="490709"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3" name="Line 115"/>
              <p:cNvSpPr>
                <a:spLocks noChangeShapeType="1"/>
              </p:cNvSpPr>
              <p:nvPr/>
            </p:nvSpPr>
            <p:spPr bwMode="auto">
              <a:xfrm>
                <a:off x="6920154" y="2772918"/>
                <a:ext cx="255405"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4" name="Line 116"/>
              <p:cNvSpPr>
                <a:spLocks noChangeShapeType="1"/>
              </p:cNvSpPr>
              <p:nvPr/>
            </p:nvSpPr>
            <p:spPr bwMode="auto">
              <a:xfrm>
                <a:off x="6837690" y="2843863"/>
                <a:ext cx="344865"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5" name="Line 117"/>
              <p:cNvSpPr>
                <a:spLocks noChangeShapeType="1"/>
              </p:cNvSpPr>
              <p:nvPr/>
            </p:nvSpPr>
            <p:spPr bwMode="auto">
              <a:xfrm>
                <a:off x="6921608" y="2971566"/>
                <a:ext cx="255405"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6" name="Line 118"/>
              <p:cNvSpPr>
                <a:spLocks noChangeShapeType="1"/>
              </p:cNvSpPr>
              <p:nvPr/>
            </p:nvSpPr>
            <p:spPr bwMode="auto">
              <a:xfrm>
                <a:off x="6586744" y="2691839"/>
                <a:ext cx="262162"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7" name="Line 119"/>
              <p:cNvSpPr>
                <a:spLocks noChangeShapeType="1"/>
              </p:cNvSpPr>
              <p:nvPr/>
            </p:nvSpPr>
            <p:spPr bwMode="auto">
              <a:xfrm flipV="1">
                <a:off x="6592825" y="3111430"/>
                <a:ext cx="262162"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8" name="Line 120"/>
              <p:cNvSpPr>
                <a:spLocks noChangeShapeType="1"/>
              </p:cNvSpPr>
              <p:nvPr/>
            </p:nvSpPr>
            <p:spPr bwMode="auto">
              <a:xfrm>
                <a:off x="6841743" y="2908728"/>
                <a:ext cx="359730"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9" name="Line 123"/>
              <p:cNvSpPr>
                <a:spLocks noChangeShapeType="1"/>
              </p:cNvSpPr>
              <p:nvPr/>
            </p:nvSpPr>
            <p:spPr bwMode="auto">
              <a:xfrm>
                <a:off x="6924988" y="2372377"/>
                <a:ext cx="0" cy="406476"/>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0" name="Line 124"/>
              <p:cNvSpPr>
                <a:spLocks noChangeShapeType="1"/>
              </p:cNvSpPr>
              <p:nvPr/>
            </p:nvSpPr>
            <p:spPr bwMode="auto">
              <a:xfrm>
                <a:off x="6851339" y="2906700"/>
                <a:ext cx="0" cy="215027"/>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1" name="Line 123"/>
              <p:cNvSpPr>
                <a:spLocks noChangeShapeType="1"/>
              </p:cNvSpPr>
              <p:nvPr/>
            </p:nvSpPr>
            <p:spPr bwMode="auto">
              <a:xfrm>
                <a:off x="6931895" y="2962179"/>
                <a:ext cx="0" cy="470919"/>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3" name="Rectangle 38"/>
              <p:cNvSpPr>
                <a:spLocks noChangeArrowheads="1"/>
              </p:cNvSpPr>
              <p:nvPr/>
            </p:nvSpPr>
            <p:spPr bwMode="auto">
              <a:xfrm>
                <a:off x="4685801" y="2481026"/>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4" name="Rectangle 39"/>
              <p:cNvSpPr>
                <a:spLocks noChangeArrowheads="1"/>
              </p:cNvSpPr>
              <p:nvPr/>
            </p:nvSpPr>
            <p:spPr bwMode="auto">
              <a:xfrm>
                <a:off x="4795260" y="2481026"/>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5" name="Rectangle 40"/>
              <p:cNvSpPr>
                <a:spLocks noChangeArrowheads="1"/>
              </p:cNvSpPr>
              <p:nvPr/>
            </p:nvSpPr>
            <p:spPr bwMode="auto">
              <a:xfrm>
                <a:off x="4904720" y="2481026"/>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6" name="Rectangle 41"/>
              <p:cNvSpPr>
                <a:spLocks noChangeArrowheads="1"/>
              </p:cNvSpPr>
              <p:nvPr/>
            </p:nvSpPr>
            <p:spPr bwMode="auto">
              <a:xfrm>
                <a:off x="5014179" y="2481026"/>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7" name="Rectangle 42"/>
              <p:cNvSpPr>
                <a:spLocks noChangeArrowheads="1"/>
              </p:cNvSpPr>
              <p:nvPr/>
            </p:nvSpPr>
            <p:spPr bwMode="auto">
              <a:xfrm>
                <a:off x="5123639" y="2481026"/>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8" name="Rectangle 43"/>
              <p:cNvSpPr>
                <a:spLocks noChangeArrowheads="1"/>
              </p:cNvSpPr>
              <p:nvPr/>
            </p:nvSpPr>
            <p:spPr bwMode="auto">
              <a:xfrm>
                <a:off x="5233098" y="2481026"/>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39" name="Rectangle 44"/>
              <p:cNvSpPr>
                <a:spLocks noChangeArrowheads="1"/>
              </p:cNvSpPr>
              <p:nvPr/>
            </p:nvSpPr>
            <p:spPr bwMode="auto">
              <a:xfrm>
                <a:off x="5342557" y="2481026"/>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0" name="Rectangle 45"/>
              <p:cNvSpPr>
                <a:spLocks noChangeArrowheads="1"/>
              </p:cNvSpPr>
              <p:nvPr/>
            </p:nvSpPr>
            <p:spPr bwMode="auto">
              <a:xfrm>
                <a:off x="5452016" y="2481026"/>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1" name="Rectangle 40"/>
              <p:cNvSpPr>
                <a:spLocks noChangeArrowheads="1"/>
              </p:cNvSpPr>
              <p:nvPr/>
            </p:nvSpPr>
            <p:spPr bwMode="auto">
              <a:xfrm>
                <a:off x="4685801" y="2590486"/>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2" name="Rectangle 41"/>
              <p:cNvSpPr>
                <a:spLocks noChangeArrowheads="1"/>
              </p:cNvSpPr>
              <p:nvPr/>
            </p:nvSpPr>
            <p:spPr bwMode="auto">
              <a:xfrm>
                <a:off x="4795260" y="2590486"/>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3" name="Rectangle 42"/>
              <p:cNvSpPr>
                <a:spLocks noChangeArrowheads="1"/>
              </p:cNvSpPr>
              <p:nvPr/>
            </p:nvSpPr>
            <p:spPr bwMode="auto">
              <a:xfrm>
                <a:off x="4904720" y="2590486"/>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4" name="Rectangle 43"/>
              <p:cNvSpPr>
                <a:spLocks noChangeArrowheads="1"/>
              </p:cNvSpPr>
              <p:nvPr/>
            </p:nvSpPr>
            <p:spPr bwMode="auto">
              <a:xfrm>
                <a:off x="5014179" y="2590486"/>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5" name="Rectangle 44"/>
              <p:cNvSpPr>
                <a:spLocks noChangeArrowheads="1"/>
              </p:cNvSpPr>
              <p:nvPr/>
            </p:nvSpPr>
            <p:spPr bwMode="auto">
              <a:xfrm>
                <a:off x="5123639" y="2590486"/>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6" name="Rectangle 45"/>
              <p:cNvSpPr>
                <a:spLocks noChangeArrowheads="1"/>
              </p:cNvSpPr>
              <p:nvPr/>
            </p:nvSpPr>
            <p:spPr bwMode="auto">
              <a:xfrm>
                <a:off x="5233098" y="2590486"/>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7" name="Rectangle 46"/>
              <p:cNvSpPr>
                <a:spLocks noChangeArrowheads="1"/>
              </p:cNvSpPr>
              <p:nvPr/>
            </p:nvSpPr>
            <p:spPr bwMode="auto">
              <a:xfrm>
                <a:off x="5342557" y="2590486"/>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8" name="Rectangle 47"/>
              <p:cNvSpPr>
                <a:spLocks noChangeArrowheads="1"/>
              </p:cNvSpPr>
              <p:nvPr/>
            </p:nvSpPr>
            <p:spPr bwMode="auto">
              <a:xfrm>
                <a:off x="5452016" y="2590486"/>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9" name="Rectangle 56"/>
              <p:cNvSpPr>
                <a:spLocks noChangeArrowheads="1"/>
              </p:cNvSpPr>
              <p:nvPr/>
            </p:nvSpPr>
            <p:spPr bwMode="auto">
              <a:xfrm>
                <a:off x="4685801" y="2699945"/>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0" name="Rectangle 57"/>
              <p:cNvSpPr>
                <a:spLocks noChangeArrowheads="1"/>
              </p:cNvSpPr>
              <p:nvPr/>
            </p:nvSpPr>
            <p:spPr bwMode="auto">
              <a:xfrm>
                <a:off x="4795260" y="2699945"/>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1" name="Rectangle 58"/>
              <p:cNvSpPr>
                <a:spLocks noChangeArrowheads="1"/>
              </p:cNvSpPr>
              <p:nvPr/>
            </p:nvSpPr>
            <p:spPr bwMode="auto">
              <a:xfrm>
                <a:off x="4904720" y="2699945"/>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2" name="Rectangle 59"/>
              <p:cNvSpPr>
                <a:spLocks noChangeArrowheads="1"/>
              </p:cNvSpPr>
              <p:nvPr/>
            </p:nvSpPr>
            <p:spPr bwMode="auto">
              <a:xfrm>
                <a:off x="5014179" y="2699945"/>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3" name="Rectangle 60"/>
              <p:cNvSpPr>
                <a:spLocks noChangeArrowheads="1"/>
              </p:cNvSpPr>
              <p:nvPr/>
            </p:nvSpPr>
            <p:spPr bwMode="auto">
              <a:xfrm>
                <a:off x="5123639" y="2699945"/>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4" name="Rectangle 61"/>
              <p:cNvSpPr>
                <a:spLocks noChangeArrowheads="1"/>
              </p:cNvSpPr>
              <p:nvPr/>
            </p:nvSpPr>
            <p:spPr bwMode="auto">
              <a:xfrm>
                <a:off x="5233098" y="2699945"/>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5" name="Rectangle 62"/>
              <p:cNvSpPr>
                <a:spLocks noChangeArrowheads="1"/>
              </p:cNvSpPr>
              <p:nvPr/>
            </p:nvSpPr>
            <p:spPr bwMode="auto">
              <a:xfrm>
                <a:off x="5342557" y="2699945"/>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6" name="Rectangle 63"/>
              <p:cNvSpPr>
                <a:spLocks noChangeArrowheads="1"/>
              </p:cNvSpPr>
              <p:nvPr/>
            </p:nvSpPr>
            <p:spPr bwMode="auto">
              <a:xfrm>
                <a:off x="5452016" y="2699945"/>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7" name="Rectangle 65"/>
              <p:cNvSpPr>
                <a:spLocks noChangeArrowheads="1"/>
              </p:cNvSpPr>
              <p:nvPr/>
            </p:nvSpPr>
            <p:spPr bwMode="auto">
              <a:xfrm>
                <a:off x="4685801" y="2809405"/>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8" name="Rectangle 66"/>
              <p:cNvSpPr>
                <a:spLocks noChangeArrowheads="1"/>
              </p:cNvSpPr>
              <p:nvPr/>
            </p:nvSpPr>
            <p:spPr bwMode="auto">
              <a:xfrm>
                <a:off x="4795260" y="2809405"/>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9" name="Rectangle 67"/>
              <p:cNvSpPr>
                <a:spLocks noChangeArrowheads="1"/>
              </p:cNvSpPr>
              <p:nvPr/>
            </p:nvSpPr>
            <p:spPr bwMode="auto">
              <a:xfrm>
                <a:off x="4904720" y="2809405"/>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0" name="Rectangle 68"/>
              <p:cNvSpPr>
                <a:spLocks noChangeArrowheads="1"/>
              </p:cNvSpPr>
              <p:nvPr/>
            </p:nvSpPr>
            <p:spPr bwMode="auto">
              <a:xfrm>
                <a:off x="5014179" y="2809405"/>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1" name="Rectangle 69"/>
              <p:cNvSpPr>
                <a:spLocks noChangeArrowheads="1"/>
              </p:cNvSpPr>
              <p:nvPr/>
            </p:nvSpPr>
            <p:spPr bwMode="auto">
              <a:xfrm>
                <a:off x="5123639" y="2809405"/>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2" name="Rectangle 70"/>
              <p:cNvSpPr>
                <a:spLocks noChangeArrowheads="1"/>
              </p:cNvSpPr>
              <p:nvPr/>
            </p:nvSpPr>
            <p:spPr bwMode="auto">
              <a:xfrm>
                <a:off x="5233098" y="2809405"/>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3" name="Rectangle 71"/>
              <p:cNvSpPr>
                <a:spLocks noChangeArrowheads="1"/>
              </p:cNvSpPr>
              <p:nvPr/>
            </p:nvSpPr>
            <p:spPr bwMode="auto">
              <a:xfrm>
                <a:off x="5342557" y="2809405"/>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4" name="Rectangle 72"/>
              <p:cNvSpPr>
                <a:spLocks noChangeArrowheads="1"/>
              </p:cNvSpPr>
              <p:nvPr/>
            </p:nvSpPr>
            <p:spPr bwMode="auto">
              <a:xfrm>
                <a:off x="5452016" y="2809405"/>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5" name="Rectangle 74"/>
              <p:cNvSpPr>
                <a:spLocks noChangeArrowheads="1"/>
              </p:cNvSpPr>
              <p:nvPr/>
            </p:nvSpPr>
            <p:spPr bwMode="auto">
              <a:xfrm>
                <a:off x="4685801" y="2918864"/>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6" name="Rectangle 75"/>
              <p:cNvSpPr>
                <a:spLocks noChangeArrowheads="1"/>
              </p:cNvSpPr>
              <p:nvPr/>
            </p:nvSpPr>
            <p:spPr bwMode="auto">
              <a:xfrm>
                <a:off x="4795260" y="2918864"/>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7" name="Rectangle 76"/>
              <p:cNvSpPr>
                <a:spLocks noChangeArrowheads="1"/>
              </p:cNvSpPr>
              <p:nvPr/>
            </p:nvSpPr>
            <p:spPr bwMode="auto">
              <a:xfrm>
                <a:off x="4904720" y="2918864"/>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8" name="Rectangle 77"/>
              <p:cNvSpPr>
                <a:spLocks noChangeArrowheads="1"/>
              </p:cNvSpPr>
              <p:nvPr/>
            </p:nvSpPr>
            <p:spPr bwMode="auto">
              <a:xfrm>
                <a:off x="5014179" y="2918864"/>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9" name="Rectangle 78"/>
              <p:cNvSpPr>
                <a:spLocks noChangeArrowheads="1"/>
              </p:cNvSpPr>
              <p:nvPr/>
            </p:nvSpPr>
            <p:spPr bwMode="auto">
              <a:xfrm>
                <a:off x="5123639" y="2918864"/>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0" name="Rectangle 79"/>
              <p:cNvSpPr>
                <a:spLocks noChangeArrowheads="1"/>
              </p:cNvSpPr>
              <p:nvPr/>
            </p:nvSpPr>
            <p:spPr bwMode="auto">
              <a:xfrm>
                <a:off x="5233098" y="2918864"/>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1" name="Rectangle 80"/>
              <p:cNvSpPr>
                <a:spLocks noChangeArrowheads="1"/>
              </p:cNvSpPr>
              <p:nvPr/>
            </p:nvSpPr>
            <p:spPr bwMode="auto">
              <a:xfrm>
                <a:off x="5342557" y="2918864"/>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2" name="Rectangle 81"/>
              <p:cNvSpPr>
                <a:spLocks noChangeArrowheads="1"/>
              </p:cNvSpPr>
              <p:nvPr/>
            </p:nvSpPr>
            <p:spPr bwMode="auto">
              <a:xfrm>
                <a:off x="5452016" y="2918864"/>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3" name="Rectangle 83"/>
              <p:cNvSpPr>
                <a:spLocks noChangeArrowheads="1"/>
              </p:cNvSpPr>
              <p:nvPr/>
            </p:nvSpPr>
            <p:spPr bwMode="auto">
              <a:xfrm>
                <a:off x="4685801" y="3028324"/>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4" name="Rectangle 84"/>
              <p:cNvSpPr>
                <a:spLocks noChangeArrowheads="1"/>
              </p:cNvSpPr>
              <p:nvPr/>
            </p:nvSpPr>
            <p:spPr bwMode="auto">
              <a:xfrm>
                <a:off x="4795260" y="3028324"/>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5" name="Rectangle 85"/>
              <p:cNvSpPr>
                <a:spLocks noChangeArrowheads="1"/>
              </p:cNvSpPr>
              <p:nvPr/>
            </p:nvSpPr>
            <p:spPr bwMode="auto">
              <a:xfrm>
                <a:off x="4904720" y="3028324"/>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6" name="Rectangle 86"/>
              <p:cNvSpPr>
                <a:spLocks noChangeArrowheads="1"/>
              </p:cNvSpPr>
              <p:nvPr/>
            </p:nvSpPr>
            <p:spPr bwMode="auto">
              <a:xfrm>
                <a:off x="5014179" y="3028324"/>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7" name="Rectangle 87"/>
              <p:cNvSpPr>
                <a:spLocks noChangeArrowheads="1"/>
              </p:cNvSpPr>
              <p:nvPr/>
            </p:nvSpPr>
            <p:spPr bwMode="auto">
              <a:xfrm>
                <a:off x="5123639" y="3028324"/>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8" name="Rectangle 88"/>
              <p:cNvSpPr>
                <a:spLocks noChangeArrowheads="1"/>
              </p:cNvSpPr>
              <p:nvPr/>
            </p:nvSpPr>
            <p:spPr bwMode="auto">
              <a:xfrm>
                <a:off x="5233098" y="3028324"/>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9" name="Rectangle 89"/>
              <p:cNvSpPr>
                <a:spLocks noChangeArrowheads="1"/>
              </p:cNvSpPr>
              <p:nvPr/>
            </p:nvSpPr>
            <p:spPr bwMode="auto">
              <a:xfrm>
                <a:off x="5342557" y="3028324"/>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0" name="Rectangle 90"/>
              <p:cNvSpPr>
                <a:spLocks noChangeArrowheads="1"/>
              </p:cNvSpPr>
              <p:nvPr/>
            </p:nvSpPr>
            <p:spPr bwMode="auto">
              <a:xfrm>
                <a:off x="5452016" y="3028324"/>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1" name="Rectangle 92"/>
              <p:cNvSpPr>
                <a:spLocks noChangeArrowheads="1"/>
              </p:cNvSpPr>
              <p:nvPr/>
            </p:nvSpPr>
            <p:spPr bwMode="auto">
              <a:xfrm>
                <a:off x="4685801" y="3137783"/>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2" name="Rectangle 93"/>
              <p:cNvSpPr>
                <a:spLocks noChangeArrowheads="1"/>
              </p:cNvSpPr>
              <p:nvPr/>
            </p:nvSpPr>
            <p:spPr bwMode="auto">
              <a:xfrm>
                <a:off x="4795260" y="3137783"/>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3" name="Rectangle 94"/>
              <p:cNvSpPr>
                <a:spLocks noChangeArrowheads="1"/>
              </p:cNvSpPr>
              <p:nvPr/>
            </p:nvSpPr>
            <p:spPr bwMode="auto">
              <a:xfrm>
                <a:off x="4904720" y="3137783"/>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4" name="Rectangle 95"/>
              <p:cNvSpPr>
                <a:spLocks noChangeArrowheads="1"/>
              </p:cNvSpPr>
              <p:nvPr/>
            </p:nvSpPr>
            <p:spPr bwMode="auto">
              <a:xfrm>
                <a:off x="5014179" y="3137783"/>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5" name="Rectangle 96"/>
              <p:cNvSpPr>
                <a:spLocks noChangeArrowheads="1"/>
              </p:cNvSpPr>
              <p:nvPr/>
            </p:nvSpPr>
            <p:spPr bwMode="auto">
              <a:xfrm>
                <a:off x="5123639" y="3137783"/>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6" name="Rectangle 97"/>
              <p:cNvSpPr>
                <a:spLocks noChangeArrowheads="1"/>
              </p:cNvSpPr>
              <p:nvPr/>
            </p:nvSpPr>
            <p:spPr bwMode="auto">
              <a:xfrm>
                <a:off x="5233098" y="3137783"/>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7" name="Rectangle 98"/>
              <p:cNvSpPr>
                <a:spLocks noChangeArrowheads="1"/>
              </p:cNvSpPr>
              <p:nvPr/>
            </p:nvSpPr>
            <p:spPr bwMode="auto">
              <a:xfrm>
                <a:off x="5342557" y="3137783"/>
                <a:ext cx="109459"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8" name="Rectangle 99"/>
              <p:cNvSpPr>
                <a:spLocks noChangeArrowheads="1"/>
              </p:cNvSpPr>
              <p:nvPr/>
            </p:nvSpPr>
            <p:spPr bwMode="auto">
              <a:xfrm>
                <a:off x="5452016" y="3137783"/>
                <a:ext cx="109460" cy="1094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9" name="Rectangle 101"/>
              <p:cNvSpPr>
                <a:spLocks noChangeArrowheads="1"/>
              </p:cNvSpPr>
              <p:nvPr/>
            </p:nvSpPr>
            <p:spPr bwMode="auto">
              <a:xfrm>
                <a:off x="4685801" y="3247242"/>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0" name="Rectangle 102"/>
              <p:cNvSpPr>
                <a:spLocks noChangeArrowheads="1"/>
              </p:cNvSpPr>
              <p:nvPr/>
            </p:nvSpPr>
            <p:spPr bwMode="auto">
              <a:xfrm>
                <a:off x="4795260" y="3247242"/>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1" name="Rectangle 103"/>
              <p:cNvSpPr>
                <a:spLocks noChangeArrowheads="1"/>
              </p:cNvSpPr>
              <p:nvPr/>
            </p:nvSpPr>
            <p:spPr bwMode="auto">
              <a:xfrm>
                <a:off x="4904720" y="3247242"/>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2" name="Rectangle 104"/>
              <p:cNvSpPr>
                <a:spLocks noChangeArrowheads="1"/>
              </p:cNvSpPr>
              <p:nvPr/>
            </p:nvSpPr>
            <p:spPr bwMode="auto">
              <a:xfrm>
                <a:off x="5014179" y="3247242"/>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3" name="Rectangle 105"/>
              <p:cNvSpPr>
                <a:spLocks noChangeArrowheads="1"/>
              </p:cNvSpPr>
              <p:nvPr/>
            </p:nvSpPr>
            <p:spPr bwMode="auto">
              <a:xfrm>
                <a:off x="5123639" y="3247242"/>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4" name="Rectangle 106"/>
              <p:cNvSpPr>
                <a:spLocks noChangeArrowheads="1"/>
              </p:cNvSpPr>
              <p:nvPr/>
            </p:nvSpPr>
            <p:spPr bwMode="auto">
              <a:xfrm>
                <a:off x="5233098" y="3247242"/>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5" name="Rectangle 107"/>
              <p:cNvSpPr>
                <a:spLocks noChangeArrowheads="1"/>
              </p:cNvSpPr>
              <p:nvPr/>
            </p:nvSpPr>
            <p:spPr bwMode="auto">
              <a:xfrm>
                <a:off x="5342557" y="3247242"/>
                <a:ext cx="109459"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6" name="Rectangle 108"/>
              <p:cNvSpPr>
                <a:spLocks noChangeArrowheads="1"/>
              </p:cNvSpPr>
              <p:nvPr/>
            </p:nvSpPr>
            <p:spPr bwMode="auto">
              <a:xfrm>
                <a:off x="5452016" y="3247242"/>
                <a:ext cx="109460" cy="10945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8" name="AutoShape 13"/>
              <p:cNvSpPr>
                <a:spLocks noChangeArrowheads="1"/>
              </p:cNvSpPr>
              <p:nvPr/>
            </p:nvSpPr>
            <p:spPr bwMode="auto">
              <a:xfrm>
                <a:off x="7156069" y="2128868"/>
                <a:ext cx="1181080" cy="1590539"/>
              </a:xfrm>
              <a:prstGeom prst="roundRect">
                <a:avLst>
                  <a:gd name="adj" fmla="val 11657"/>
                </a:avLst>
              </a:prstGeom>
              <a:ln>
                <a:headEnd/>
                <a:tailEnd type="none" w="lg" len="med"/>
              </a:ln>
            </p:spPr>
            <p:style>
              <a:lnRef idx="1">
                <a:schemeClr val="dk1"/>
              </a:lnRef>
              <a:fillRef idx="1002">
                <a:schemeClr val="lt1"/>
              </a:fillRef>
              <a:effectRef idx="1">
                <a:schemeClr val="dk1"/>
              </a:effectRef>
              <a:fontRef idx="minor">
                <a:schemeClr val="dk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05" name="Rectangle 126"/>
              <p:cNvSpPr>
                <a:spLocks noChangeArrowheads="1"/>
              </p:cNvSpPr>
              <p:nvPr/>
            </p:nvSpPr>
            <p:spPr bwMode="auto">
              <a:xfrm>
                <a:off x="5814178" y="2104000"/>
                <a:ext cx="667567" cy="1593241"/>
              </a:xfrm>
              <a:prstGeom prst="rect">
                <a:avLst/>
              </a:prstGeom>
              <a:solidFill>
                <a:schemeClr val="accent5">
                  <a:lumMod val="60000"/>
                  <a:lumOff val="40000"/>
                </a:schemeClr>
              </a:solidFill>
              <a:ln>
                <a:headEnd/>
                <a:tailEnd type="none" w="lg" len="med"/>
              </a:ln>
            </p:spPr>
            <p:style>
              <a:lnRef idx="0">
                <a:schemeClr val="accent4"/>
              </a:lnRef>
              <a:fillRef idx="3">
                <a:schemeClr val="accent4"/>
              </a:fillRef>
              <a:effectRef idx="3">
                <a:schemeClr val="accent4"/>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06" name="Rectangle 127"/>
              <p:cNvSpPr>
                <a:spLocks noChangeArrowheads="1"/>
              </p:cNvSpPr>
              <p:nvPr/>
            </p:nvSpPr>
            <p:spPr bwMode="auto">
              <a:xfrm>
                <a:off x="6145259" y="2225622"/>
                <a:ext cx="336486" cy="613513"/>
              </a:xfrm>
              <a:prstGeom prst="rect">
                <a:avLst/>
              </a:prstGeom>
              <a:ln>
                <a:headEnd/>
                <a:tailEnd type="none" w="lg" len="med"/>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07" name="Rectangle 128"/>
              <p:cNvSpPr>
                <a:spLocks noChangeArrowheads="1"/>
              </p:cNvSpPr>
              <p:nvPr/>
            </p:nvSpPr>
            <p:spPr bwMode="auto">
              <a:xfrm>
                <a:off x="6145259" y="2960756"/>
                <a:ext cx="336486" cy="613513"/>
              </a:xfrm>
              <a:prstGeom prst="rect">
                <a:avLst/>
              </a:prstGeom>
              <a:ln>
                <a:headEnd/>
                <a:tailEnd type="none" w="lg" len="med"/>
              </a:ln>
            </p:spPr>
            <p:style>
              <a:lnRef idx="0">
                <a:schemeClr val="accent5"/>
              </a:lnRef>
              <a:fillRef idx="3">
                <a:schemeClr val="accent5"/>
              </a:fillRef>
              <a:effectRef idx="3">
                <a:schemeClr val="accent5"/>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08" name="Rectangle 130"/>
              <p:cNvSpPr>
                <a:spLocks noChangeArrowheads="1"/>
              </p:cNvSpPr>
              <p:nvPr/>
            </p:nvSpPr>
            <p:spPr bwMode="auto">
              <a:xfrm>
                <a:off x="6481745" y="2310756"/>
                <a:ext cx="128379" cy="128379"/>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09" name="Rectangle 131"/>
              <p:cNvSpPr>
                <a:spLocks noChangeArrowheads="1"/>
              </p:cNvSpPr>
              <p:nvPr/>
            </p:nvSpPr>
            <p:spPr bwMode="auto">
              <a:xfrm>
                <a:off x="6481745" y="2624270"/>
                <a:ext cx="128379" cy="128379"/>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0" name="Rectangle 133"/>
              <p:cNvSpPr>
                <a:spLocks noChangeArrowheads="1"/>
              </p:cNvSpPr>
              <p:nvPr/>
            </p:nvSpPr>
            <p:spPr bwMode="auto">
              <a:xfrm>
                <a:off x="6481745" y="3047243"/>
                <a:ext cx="128379" cy="128378"/>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1" name="Rectangle 134"/>
              <p:cNvSpPr>
                <a:spLocks noChangeArrowheads="1"/>
              </p:cNvSpPr>
              <p:nvPr/>
            </p:nvSpPr>
            <p:spPr bwMode="auto">
              <a:xfrm>
                <a:off x="6481745" y="3360756"/>
                <a:ext cx="128379" cy="128378"/>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2" name="Text Box 133"/>
              <p:cNvSpPr txBox="1">
                <a:spLocks noChangeArrowheads="1"/>
              </p:cNvSpPr>
              <p:nvPr/>
            </p:nvSpPr>
            <p:spPr bwMode="auto">
              <a:xfrm>
                <a:off x="6372796" y="4197825"/>
                <a:ext cx="536237"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1400" b="0" i="0" dirty="0">
                    <a:solidFill>
                      <a:srgbClr val="000000"/>
                    </a:solidFill>
                    <a:latin typeface="Arial" pitchFamily="34" charset="0"/>
                    <a:cs typeface="Arial" pitchFamily="34" charset="0"/>
                  </a:rPr>
                  <a:t>Порты</a:t>
                </a:r>
              </a:p>
            </p:txBody>
          </p:sp>
          <p:sp>
            <p:nvSpPr>
              <p:cNvPr id="113" name="Line 137"/>
              <p:cNvSpPr>
                <a:spLocks noChangeShapeType="1"/>
              </p:cNvSpPr>
              <p:nvPr/>
            </p:nvSpPr>
            <p:spPr bwMode="auto">
              <a:xfrm flipV="1">
                <a:off x="6632056" y="3579018"/>
                <a:ext cx="0" cy="595141"/>
              </a:xfrm>
              <a:prstGeom prst="line">
                <a:avLst/>
              </a:prstGeom>
              <a:noFill/>
              <a:ln w="19050">
                <a:solidFill>
                  <a:srgbClr val="000000"/>
                </a:solidFill>
                <a:prstDash val="solid"/>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endParaRPr lang="en-US">
                  <a:latin typeface="Arial" pitchFamily="34" charset="0"/>
                  <a:ea typeface="Verdana" panose="020B0604030504040204" pitchFamily="34" charset="0"/>
                  <a:cs typeface="Arial" pitchFamily="34" charset="0"/>
                </a:endParaRPr>
              </a:p>
            </p:txBody>
          </p:sp>
          <p:sp>
            <p:nvSpPr>
              <p:cNvPr id="114" name="Line 147"/>
              <p:cNvSpPr>
                <a:spLocks noChangeShapeType="1"/>
              </p:cNvSpPr>
              <p:nvPr/>
            </p:nvSpPr>
            <p:spPr bwMode="auto">
              <a:xfrm flipH="1" flipV="1">
                <a:off x="5934227" y="2503322"/>
                <a:ext cx="443" cy="1670837"/>
              </a:xfrm>
              <a:prstGeom prst="line">
                <a:avLst/>
              </a:prstGeom>
              <a:noFill/>
              <a:ln w="19050">
                <a:solidFill>
                  <a:srgbClr val="000000"/>
                </a:solidFill>
                <a:prstDash val="solid"/>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endParaRPr lang="en-US">
                  <a:latin typeface="Arial" pitchFamily="34" charset="0"/>
                  <a:ea typeface="Verdana" panose="020B0604030504040204" pitchFamily="34" charset="0"/>
                  <a:cs typeface="Arial" pitchFamily="34" charset="0"/>
                </a:endParaRPr>
              </a:p>
            </p:txBody>
          </p:sp>
          <p:sp>
            <p:nvSpPr>
              <p:cNvPr id="115" name="Line 148"/>
              <p:cNvSpPr>
                <a:spLocks noChangeShapeType="1"/>
              </p:cNvSpPr>
              <p:nvPr/>
            </p:nvSpPr>
            <p:spPr bwMode="auto">
              <a:xfrm>
                <a:off x="5934670" y="2510801"/>
                <a:ext cx="209008" cy="0"/>
              </a:xfrm>
              <a:prstGeom prst="line">
                <a:avLst/>
              </a:prstGeom>
              <a:noFill/>
              <a:ln w="19050">
                <a:solidFill>
                  <a:srgbClr val="000000"/>
                </a:solidFill>
                <a:prstDash val="solid"/>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endParaRPr lang="en-US">
                  <a:latin typeface="Arial" pitchFamily="34" charset="0"/>
                  <a:ea typeface="Verdana" panose="020B0604030504040204" pitchFamily="34" charset="0"/>
                  <a:cs typeface="Arial" pitchFamily="34" charset="0"/>
                </a:endParaRPr>
              </a:p>
            </p:txBody>
          </p:sp>
          <p:sp>
            <p:nvSpPr>
              <p:cNvPr id="116" name="Line 148"/>
              <p:cNvSpPr>
                <a:spLocks noChangeShapeType="1"/>
              </p:cNvSpPr>
              <p:nvPr/>
            </p:nvSpPr>
            <p:spPr bwMode="auto">
              <a:xfrm>
                <a:off x="5931199" y="3298640"/>
                <a:ext cx="209008" cy="0"/>
              </a:xfrm>
              <a:prstGeom prst="line">
                <a:avLst/>
              </a:prstGeom>
              <a:noFill/>
              <a:ln w="19050">
                <a:solidFill>
                  <a:srgbClr val="000000"/>
                </a:solidFill>
                <a:prstDash val="solid"/>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endParaRPr lang="en-US">
                  <a:latin typeface="Arial" pitchFamily="34" charset="0"/>
                  <a:ea typeface="Verdana" panose="020B0604030504040204" pitchFamily="34" charset="0"/>
                  <a:cs typeface="Arial" pitchFamily="34" charset="0"/>
                </a:endParaRPr>
              </a:p>
            </p:txBody>
          </p:sp>
          <p:sp>
            <p:nvSpPr>
              <p:cNvPr id="117" name="Rounded Rectangle 116"/>
              <p:cNvSpPr/>
              <p:nvPr/>
            </p:nvSpPr>
            <p:spPr>
              <a:xfrm>
                <a:off x="6434759" y="2268910"/>
                <a:ext cx="259459" cy="1263513"/>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itchFamily="34" charset="0"/>
                  <a:ea typeface="Verdana" panose="020B0604030504040204" pitchFamily="34" charset="0"/>
                  <a:cs typeface="Arial" pitchFamily="34" charset="0"/>
                </a:endParaRPr>
              </a:p>
            </p:txBody>
          </p:sp>
          <p:sp>
            <p:nvSpPr>
              <p:cNvPr id="119" name="Rectangle 136"/>
              <p:cNvSpPr>
                <a:spLocks noChangeArrowheads="1"/>
              </p:cNvSpPr>
              <p:nvPr/>
            </p:nvSpPr>
            <p:spPr bwMode="auto">
              <a:xfrm>
                <a:off x="3731748" y="2244541"/>
                <a:ext cx="336486" cy="613513"/>
              </a:xfrm>
              <a:prstGeom prst="rect">
                <a:avLst/>
              </a:prstGeom>
              <a:gradFill rotWithShape="1">
                <a:gsLst>
                  <a:gs pos="0">
                    <a:srgbClr val="86BAB5"/>
                  </a:gs>
                  <a:gs pos="100000">
                    <a:srgbClr val="86BAB5">
                      <a:gamma/>
                      <a:shade val="67843"/>
                      <a:invGamma/>
                    </a:srgbClr>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20" name="Rectangle 137"/>
              <p:cNvSpPr>
                <a:spLocks noChangeArrowheads="1"/>
              </p:cNvSpPr>
              <p:nvPr/>
            </p:nvSpPr>
            <p:spPr bwMode="auto">
              <a:xfrm>
                <a:off x="3731748" y="2979675"/>
                <a:ext cx="336486" cy="613513"/>
              </a:xfrm>
              <a:prstGeom prst="rect">
                <a:avLst/>
              </a:prstGeom>
              <a:gradFill rotWithShape="1">
                <a:gsLst>
                  <a:gs pos="0">
                    <a:srgbClr val="86BAB5"/>
                  </a:gs>
                  <a:gs pos="100000">
                    <a:srgbClr val="86BAB5">
                      <a:gamma/>
                      <a:shade val="67843"/>
                      <a:invGamma/>
                    </a:srgbClr>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21" name="Rectangle 138"/>
              <p:cNvSpPr>
                <a:spLocks noChangeArrowheads="1"/>
              </p:cNvSpPr>
              <p:nvPr/>
            </p:nvSpPr>
            <p:spPr bwMode="auto">
              <a:xfrm>
                <a:off x="3603369" y="2329675"/>
                <a:ext cx="128379" cy="128379"/>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22" name="Rectangle 139"/>
              <p:cNvSpPr>
                <a:spLocks noChangeArrowheads="1"/>
              </p:cNvSpPr>
              <p:nvPr/>
            </p:nvSpPr>
            <p:spPr bwMode="auto">
              <a:xfrm>
                <a:off x="3603369" y="2643188"/>
                <a:ext cx="128379" cy="128379"/>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23" name="Rectangle 141"/>
              <p:cNvSpPr>
                <a:spLocks noChangeArrowheads="1"/>
              </p:cNvSpPr>
              <p:nvPr/>
            </p:nvSpPr>
            <p:spPr bwMode="auto">
              <a:xfrm>
                <a:off x="3603369" y="3066161"/>
                <a:ext cx="128379" cy="128378"/>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24" name="Rectangle 142"/>
              <p:cNvSpPr>
                <a:spLocks noChangeArrowheads="1"/>
              </p:cNvSpPr>
              <p:nvPr/>
            </p:nvSpPr>
            <p:spPr bwMode="auto">
              <a:xfrm>
                <a:off x="3603369" y="3379675"/>
                <a:ext cx="128379" cy="128378"/>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25" name="Rectangle 143"/>
              <p:cNvSpPr>
                <a:spLocks noChangeArrowheads="1"/>
              </p:cNvSpPr>
              <p:nvPr/>
            </p:nvSpPr>
            <p:spPr bwMode="auto">
              <a:xfrm>
                <a:off x="3731748" y="2122919"/>
                <a:ext cx="667567" cy="1593241"/>
              </a:xfrm>
              <a:prstGeom prst="rect">
                <a:avLst/>
              </a:prstGeom>
              <a:ln>
                <a:headEnd/>
                <a:tailEnd type="none" w="lg" len="me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solidFill>
                    <a:schemeClr val="lt1"/>
                  </a:solidFill>
                  <a:latin typeface="Arial" pitchFamily="34" charset="0"/>
                  <a:ea typeface="Verdana" panose="020B0604030504040204" pitchFamily="34" charset="0"/>
                  <a:cs typeface="Arial" pitchFamily="34" charset="0"/>
                </a:endParaRPr>
              </a:p>
            </p:txBody>
          </p:sp>
          <p:sp>
            <p:nvSpPr>
              <p:cNvPr id="126" name="Rectangle 144"/>
              <p:cNvSpPr>
                <a:spLocks noChangeArrowheads="1"/>
              </p:cNvSpPr>
              <p:nvPr/>
            </p:nvSpPr>
            <p:spPr bwMode="auto">
              <a:xfrm>
                <a:off x="3729045" y="2967512"/>
                <a:ext cx="336486" cy="613513"/>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27" name="Rectangle 145"/>
              <p:cNvSpPr>
                <a:spLocks noChangeArrowheads="1"/>
              </p:cNvSpPr>
              <p:nvPr/>
            </p:nvSpPr>
            <p:spPr bwMode="auto">
              <a:xfrm>
                <a:off x="3729045" y="2224270"/>
                <a:ext cx="336486" cy="613513"/>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259" name="Text Box 4"/>
              <p:cNvSpPr txBox="1">
                <a:spLocks noChangeArrowheads="1"/>
              </p:cNvSpPr>
              <p:nvPr/>
            </p:nvSpPr>
            <p:spPr bwMode="auto">
              <a:xfrm>
                <a:off x="1552575" y="2190750"/>
                <a:ext cx="146110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r">
                  <a:spcBef>
                    <a:spcPct val="50000"/>
                  </a:spcBef>
                </a:pPr>
                <a:r>
                  <a:rPr lang="ru-RU" sz="1400" b="0" i="0" dirty="0">
                    <a:solidFill>
                      <a:srgbClr val="000000"/>
                    </a:solidFill>
                    <a:latin typeface="Arial" pitchFamily="34" charset="0"/>
                    <a:cs typeface="Arial" pitchFamily="34" charset="0"/>
                  </a:rPr>
                  <a:t>Возможность</a:t>
                </a:r>
                <a:br>
                  <a:rPr lang="en-US" sz="1400" b="0" i="0" dirty="0">
                    <a:solidFill>
                      <a:srgbClr val="FF00FF"/>
                    </a:solidFill>
                    <a:latin typeface="Arial" pitchFamily="34" charset="0"/>
                    <a:cs typeface="Arial" pitchFamily="34" charset="0"/>
                  </a:rPr>
                </a:br>
                <a:r>
                  <a:rPr lang="ru-RU" sz="1400" b="0" i="0" dirty="0">
                    <a:solidFill>
                      <a:srgbClr val="000000"/>
                    </a:solidFill>
                    <a:latin typeface="Arial" pitchFamily="34" charset="0"/>
                    <a:cs typeface="Arial" pitchFamily="34" charset="0"/>
                  </a:rPr>
                  <a:t>подключения</a:t>
                </a:r>
              </a:p>
            </p:txBody>
          </p:sp>
          <p:sp>
            <p:nvSpPr>
              <p:cNvPr id="260" name="Text Box 14"/>
              <p:cNvSpPr txBox="1">
                <a:spLocks noChangeArrowheads="1"/>
              </p:cNvSpPr>
              <p:nvPr/>
            </p:nvSpPr>
            <p:spPr bwMode="auto">
              <a:xfrm>
                <a:off x="3688863" y="1872930"/>
                <a:ext cx="763029"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Внешние</a:t>
                </a:r>
              </a:p>
            </p:txBody>
          </p:sp>
          <p:sp>
            <p:nvSpPr>
              <p:cNvPr id="261" name="Text Box 15"/>
              <p:cNvSpPr txBox="1">
                <a:spLocks noChangeArrowheads="1"/>
              </p:cNvSpPr>
              <p:nvPr/>
            </p:nvSpPr>
            <p:spPr bwMode="auto">
              <a:xfrm>
                <a:off x="5653641" y="1855349"/>
                <a:ext cx="989053"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Внутренние</a:t>
                </a:r>
              </a:p>
            </p:txBody>
          </p:sp>
          <p:sp>
            <p:nvSpPr>
              <p:cNvPr id="262" name="Text Box 16"/>
              <p:cNvSpPr txBox="1">
                <a:spLocks noChangeArrowheads="1"/>
              </p:cNvSpPr>
              <p:nvPr/>
            </p:nvSpPr>
            <p:spPr bwMode="auto">
              <a:xfrm>
                <a:off x="4615166" y="2239678"/>
                <a:ext cx="992259"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Кэш-память</a:t>
                </a:r>
              </a:p>
            </p:txBody>
          </p:sp>
          <p:sp>
            <p:nvSpPr>
              <p:cNvPr id="263" name="TextBox 262"/>
              <p:cNvSpPr txBox="1"/>
              <p:nvPr/>
            </p:nvSpPr>
            <p:spPr>
              <a:xfrm>
                <a:off x="4509302" y="1247775"/>
                <a:ext cx="1184170" cy="307777"/>
              </a:xfrm>
              <a:prstGeom prst="rect">
                <a:avLst/>
              </a:prstGeom>
              <a:noFill/>
            </p:spPr>
            <p:txBody>
              <a:bodyPr wrap="none" rtlCol="0">
                <a:spAutoFit/>
              </a:bodyPr>
              <a:lstStyle/>
              <a:p>
                <a:r>
                  <a:rPr lang="ru-RU" sz="1400" b="0" i="0" dirty="0">
                    <a:solidFill>
                      <a:srgbClr val="000000"/>
                    </a:solidFill>
                    <a:latin typeface="Arial" pitchFamily="34" charset="0"/>
                    <a:cs typeface="Arial" pitchFamily="34" charset="0"/>
                  </a:rPr>
                  <a:t>Контроллер</a:t>
                </a:r>
              </a:p>
            </p:txBody>
          </p:sp>
          <p:sp>
            <p:nvSpPr>
              <p:cNvPr id="264" name="Text Box 17"/>
              <p:cNvSpPr txBox="1">
                <a:spLocks noChangeArrowheads="1"/>
              </p:cNvSpPr>
              <p:nvPr/>
            </p:nvSpPr>
            <p:spPr bwMode="auto">
              <a:xfrm>
                <a:off x="7551693" y="1909497"/>
                <a:ext cx="361830"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СХД</a:t>
                </a:r>
              </a:p>
            </p:txBody>
          </p:sp>
          <p:sp>
            <p:nvSpPr>
              <p:cNvPr id="265" name="Text Box 3"/>
              <p:cNvSpPr txBox="1">
                <a:spLocks noChangeArrowheads="1"/>
              </p:cNvSpPr>
              <p:nvPr/>
            </p:nvSpPr>
            <p:spPr bwMode="auto">
              <a:xfrm>
                <a:off x="212905" y="1845733"/>
                <a:ext cx="218297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1400" b="0" i="0" dirty="0">
                    <a:solidFill>
                      <a:srgbClr val="000000"/>
                    </a:solidFill>
                    <a:latin typeface="Arial" pitchFamily="34" charset="0"/>
                    <a:cs typeface="Arial" pitchFamily="34" charset="0"/>
                  </a:rPr>
                  <a:t>Вычислительные ресурсы</a:t>
                </a:r>
              </a:p>
            </p:txBody>
          </p:sp>
          <p:pic>
            <p:nvPicPr>
              <p:cNvPr id="266" name="Picture 28" descr="C:\Users\patils1\Desktop\2013 Projects\CIS v2\CIS Slide Deck_Based on Book\Colored Graphics\Physical Compute System With Hypervisor.png"/>
              <p:cNvPicPr>
                <a:picLocks noChangeAspect="1" noChangeArrowheads="1"/>
              </p:cNvPicPr>
              <p:nvPr/>
            </p:nvPicPr>
            <p:blipFill>
              <a:blip r:embed="rId4"/>
              <a:stretch>
                <a:fillRect/>
              </a:stretch>
            </p:blipFill>
            <p:spPr bwMode="auto">
              <a:xfrm>
                <a:off x="840262" y="2092936"/>
                <a:ext cx="931886" cy="906701"/>
              </a:xfrm>
              <a:prstGeom prst="rect">
                <a:avLst/>
              </a:prstGeom>
              <a:noFill/>
              <a:extLst>
                <a:ext uri="{909E8E84-426E-40DD-AFC4-6F175D3DCCD1}">
                  <a14:hiddenFill xmlns:a14="http://schemas.microsoft.com/office/drawing/2010/main">
                    <a:solidFill>
                      <a:srgbClr val="FFFFFF"/>
                    </a:solidFill>
                  </a14:hiddenFill>
                </a:ext>
              </a:extLst>
            </p:spPr>
          </p:pic>
          <p:pic>
            <p:nvPicPr>
              <p:cNvPr id="267"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4586" y="2231588"/>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268"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9853" y="2442784"/>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269"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5120" y="2653980"/>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270"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0387" y="2865176"/>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271"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5655" y="3076372"/>
                <a:ext cx="578338" cy="578338"/>
              </a:xfrm>
              <a:prstGeom prst="rect">
                <a:avLst/>
              </a:prstGeom>
              <a:noFill/>
              <a:extLst>
                <a:ext uri="{909E8E84-426E-40DD-AFC4-6F175D3DCCD1}">
                  <a14:hiddenFill xmlns:a14="http://schemas.microsoft.com/office/drawing/2010/main">
                    <a:solidFill>
                      <a:srgbClr val="FFFFFF"/>
                    </a:solidFill>
                  </a14:hiddenFill>
                </a:ext>
              </a:extLst>
            </p:spPr>
          </p:pic>
        </p:grpSp>
        <p:pic>
          <p:nvPicPr>
            <p:cNvPr id="130" name="Picture 34" descr="C:\Users\patils1\Desktop\2013 Projects\CIS v2\CIS Slide Deck_Based on Book\Colored Graphics\SAN.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8954" y="2629381"/>
              <a:ext cx="780446" cy="502920"/>
            </a:xfrm>
            <a:prstGeom prst="rect">
              <a:avLst/>
            </a:prstGeom>
            <a:noFill/>
            <a:extLst>
              <a:ext uri="{909E8E84-426E-40DD-AFC4-6F175D3DCCD1}">
                <a14:hiddenFill xmlns:a14="http://schemas.microsoft.com/office/drawing/2010/main">
                  <a:solidFill>
                    <a:srgbClr val="FFFFFF"/>
                  </a:solidFill>
                </a14:hiddenFill>
              </a:ext>
            </a:extLst>
          </p:spPr>
        </p:pic>
        <p:sp>
          <p:nvSpPr>
            <p:cNvPr id="131" name="TextBox 130"/>
            <p:cNvSpPr txBox="1"/>
            <p:nvPr/>
          </p:nvSpPr>
          <p:spPr>
            <a:xfrm>
              <a:off x="2031599" y="2657476"/>
              <a:ext cx="797648" cy="400110"/>
            </a:xfrm>
            <a:prstGeom prst="rect">
              <a:avLst/>
            </a:prstGeom>
            <a:noFill/>
          </p:spPr>
          <p:txBody>
            <a:bodyPr wrap="square" rtlCol="0">
              <a:spAutoFit/>
            </a:bodyPr>
            <a:lstStyle/>
            <a:p>
              <a:pPr algn="ctr"/>
              <a:r>
                <a:rPr lang="ru-RU" sz="1000" b="1" i="0" dirty="0">
                  <a:solidFill>
                    <a:srgbClr val="000000"/>
                  </a:solidFill>
                  <a:latin typeface="Arial" pitchFamily="34" charset="0"/>
                  <a:cs typeface="Arial" pitchFamily="34" charset="0"/>
                </a:rPr>
                <a:t>Сеть хранения</a:t>
              </a:r>
            </a:p>
          </p:txBody>
        </p:sp>
      </p:grpSp>
      <p:sp>
        <p:nvSpPr>
          <p:cNvPr id="132" name="TextBox 131"/>
          <p:cNvSpPr txBox="1"/>
          <p:nvPr/>
        </p:nvSpPr>
        <p:spPr>
          <a:xfrm>
            <a:off x="1000125" y="2333625"/>
            <a:ext cx="990600" cy="230832"/>
          </a:xfrm>
          <a:prstGeom prst="rect">
            <a:avLst/>
          </a:prstGeom>
          <a:noFill/>
        </p:spPr>
        <p:txBody>
          <a:bodyPr wrap="square" rtlCol="0">
            <a:spAutoFit/>
          </a:bodyPr>
          <a:lstStyle/>
          <a:p>
            <a:pPr algn="ctr"/>
            <a:r>
              <a:rPr lang="ru-RU" sz="900" b="1" i="0" dirty="0">
                <a:solidFill>
                  <a:srgbClr val="000000"/>
                </a:solidFill>
                <a:latin typeface="Arial" pitchFamily="34" charset="0"/>
                <a:cs typeface="Arial" pitchFamily="34" charset="0"/>
              </a:rPr>
              <a:t>Гипервизор</a:t>
            </a:r>
          </a:p>
        </p:txBody>
      </p:sp>
      <p:sp>
        <p:nvSpPr>
          <p:cNvPr id="133" name="TextBox 132"/>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984599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СХД</a:t>
            </a:r>
          </a:p>
        </p:txBody>
      </p:sp>
      <p:grpSp>
        <p:nvGrpSpPr>
          <p:cNvPr id="5" name="Group 4"/>
          <p:cNvGrpSpPr/>
          <p:nvPr/>
        </p:nvGrpSpPr>
        <p:grpSpPr>
          <a:xfrm>
            <a:off x="212905" y="1257300"/>
            <a:ext cx="8115618" cy="2723988"/>
            <a:chOff x="212905" y="1257300"/>
            <a:chExt cx="8115618" cy="2723988"/>
          </a:xfrm>
        </p:grpSpPr>
        <p:grpSp>
          <p:nvGrpSpPr>
            <p:cNvPr id="391" name="Group 390"/>
            <p:cNvGrpSpPr/>
            <p:nvPr/>
          </p:nvGrpSpPr>
          <p:grpSpPr>
            <a:xfrm>
              <a:off x="212905" y="1257300"/>
              <a:ext cx="8115618" cy="2723988"/>
              <a:chOff x="212905" y="1257300"/>
              <a:chExt cx="8115618" cy="2723988"/>
            </a:xfrm>
          </p:grpSpPr>
          <p:grpSp>
            <p:nvGrpSpPr>
              <p:cNvPr id="3" name="Group 2"/>
              <p:cNvGrpSpPr/>
              <p:nvPr/>
            </p:nvGrpSpPr>
            <p:grpSpPr>
              <a:xfrm>
                <a:off x="1680321" y="1547837"/>
                <a:ext cx="6648202" cy="2433451"/>
                <a:chOff x="1007366" y="1379665"/>
                <a:chExt cx="7842247" cy="2870509"/>
              </a:xfrm>
            </p:grpSpPr>
            <p:sp>
              <p:nvSpPr>
                <p:cNvPr id="6" name="AutoShape 12"/>
                <p:cNvSpPr>
                  <a:spLocks noChangeArrowheads="1"/>
                </p:cNvSpPr>
                <p:nvPr/>
              </p:nvSpPr>
              <p:spPr bwMode="auto">
                <a:xfrm>
                  <a:off x="3029841" y="1379665"/>
                  <a:ext cx="3947707" cy="2870509"/>
                </a:xfrm>
                <a:prstGeom prst="roundRect">
                  <a:avLst>
                    <a:gd name="adj" fmla="val 5528"/>
                  </a:avLst>
                </a:prstGeom>
                <a:ln>
                  <a:headEnd/>
                  <a:tailEnd type="none" w="lg" len="med"/>
                </a:ln>
              </p:spPr>
              <p:style>
                <a:lnRef idx="1">
                  <a:schemeClr val="dk1"/>
                </a:lnRef>
                <a:fillRef idx="2">
                  <a:schemeClr val="dk1"/>
                </a:fillRef>
                <a:effectRef idx="1">
                  <a:schemeClr val="dk1"/>
                </a:effectRef>
                <a:fontRef idx="minor">
                  <a:schemeClr val="dk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8" name="Rectangle 136"/>
                <p:cNvSpPr>
                  <a:spLocks noChangeArrowheads="1"/>
                </p:cNvSpPr>
                <p:nvPr/>
              </p:nvSpPr>
              <p:spPr bwMode="auto">
                <a:xfrm>
                  <a:off x="3442591" y="2209928"/>
                  <a:ext cx="395287" cy="720725"/>
                </a:xfrm>
                <a:prstGeom prst="rect">
                  <a:avLst/>
                </a:prstGeom>
                <a:gradFill rotWithShape="1">
                  <a:gsLst>
                    <a:gs pos="0">
                      <a:srgbClr val="86BAB5"/>
                    </a:gs>
                    <a:gs pos="100000">
                      <a:srgbClr val="86BAB5">
                        <a:gamma/>
                        <a:shade val="67843"/>
                        <a:invGamma/>
                      </a:srgbClr>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 name="Rectangle 137"/>
                <p:cNvSpPr>
                  <a:spLocks noChangeArrowheads="1"/>
                </p:cNvSpPr>
                <p:nvPr/>
              </p:nvSpPr>
              <p:spPr bwMode="auto">
                <a:xfrm>
                  <a:off x="3442591" y="3073528"/>
                  <a:ext cx="395287" cy="720725"/>
                </a:xfrm>
                <a:prstGeom prst="rect">
                  <a:avLst/>
                </a:prstGeom>
                <a:gradFill rotWithShape="1">
                  <a:gsLst>
                    <a:gs pos="0">
                      <a:srgbClr val="86BAB5"/>
                    </a:gs>
                    <a:gs pos="100000">
                      <a:srgbClr val="86BAB5">
                        <a:gamma/>
                        <a:shade val="67843"/>
                        <a:invGamma/>
                      </a:srgbClr>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0" name="Rectangle 138"/>
                <p:cNvSpPr>
                  <a:spLocks noChangeArrowheads="1"/>
                </p:cNvSpPr>
                <p:nvPr/>
              </p:nvSpPr>
              <p:spPr bwMode="auto">
                <a:xfrm>
                  <a:off x="3291778" y="2309940"/>
                  <a:ext cx="150813" cy="15081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 name="Rectangle 139"/>
                <p:cNvSpPr>
                  <a:spLocks noChangeArrowheads="1"/>
                </p:cNvSpPr>
                <p:nvPr/>
              </p:nvSpPr>
              <p:spPr bwMode="auto">
                <a:xfrm>
                  <a:off x="3291778" y="2678240"/>
                  <a:ext cx="150813" cy="15081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2" name="Rectangle 141"/>
                <p:cNvSpPr>
                  <a:spLocks noChangeArrowheads="1"/>
                </p:cNvSpPr>
                <p:nvPr/>
              </p:nvSpPr>
              <p:spPr bwMode="auto">
                <a:xfrm>
                  <a:off x="3291778" y="3175128"/>
                  <a:ext cx="150813" cy="15081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3" name="Rectangle 142"/>
                <p:cNvSpPr>
                  <a:spLocks noChangeArrowheads="1"/>
                </p:cNvSpPr>
                <p:nvPr/>
              </p:nvSpPr>
              <p:spPr bwMode="auto">
                <a:xfrm>
                  <a:off x="3291778" y="3543428"/>
                  <a:ext cx="150813" cy="15081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4" name="Rectangle 143"/>
                <p:cNvSpPr>
                  <a:spLocks noChangeArrowheads="1"/>
                </p:cNvSpPr>
                <p:nvPr/>
              </p:nvSpPr>
              <p:spPr bwMode="auto">
                <a:xfrm>
                  <a:off x="3442591" y="2067053"/>
                  <a:ext cx="784225" cy="1871662"/>
                </a:xfrm>
                <a:prstGeom prst="rect">
                  <a:avLst/>
                </a:prstGeom>
                <a:ln>
                  <a:headEnd/>
                  <a:tailEnd type="none" w="lg" len="me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5" name="Rectangle 144"/>
                <p:cNvSpPr>
                  <a:spLocks noChangeArrowheads="1"/>
                </p:cNvSpPr>
                <p:nvPr/>
              </p:nvSpPr>
              <p:spPr bwMode="auto">
                <a:xfrm>
                  <a:off x="3439416" y="3059240"/>
                  <a:ext cx="395287" cy="720725"/>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6" name="Rectangle 145"/>
                <p:cNvSpPr>
                  <a:spLocks noChangeArrowheads="1"/>
                </p:cNvSpPr>
                <p:nvPr/>
              </p:nvSpPr>
              <p:spPr bwMode="auto">
                <a:xfrm>
                  <a:off x="3439416" y="2186115"/>
                  <a:ext cx="395287" cy="720725"/>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9" name="Line 5"/>
                <p:cNvSpPr>
                  <a:spLocks noChangeShapeType="1"/>
                </p:cNvSpPr>
                <p:nvPr/>
              </p:nvSpPr>
              <p:spPr bwMode="auto">
                <a:xfrm flipH="1">
                  <a:off x="1010541" y="2906840"/>
                  <a:ext cx="457200"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0" name="Line 6"/>
                <p:cNvSpPr>
                  <a:spLocks noChangeShapeType="1"/>
                </p:cNvSpPr>
                <p:nvPr/>
              </p:nvSpPr>
              <p:spPr bwMode="auto">
                <a:xfrm flipH="1">
                  <a:off x="1007366" y="3005265"/>
                  <a:ext cx="457200"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cxnSp>
              <p:nvCxnSpPr>
                <p:cNvPr id="21" name="Elbow Connector 20"/>
                <p:cNvCxnSpPr/>
                <p:nvPr/>
              </p:nvCxnSpPr>
              <p:spPr>
                <a:xfrm>
                  <a:off x="2145550" y="3123410"/>
                  <a:ext cx="1146228" cy="495424"/>
                </a:xfrm>
                <a:prstGeom prst="bentConnector3">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2" name="Elbow Connector 21"/>
                <p:cNvCxnSpPr/>
                <p:nvPr/>
              </p:nvCxnSpPr>
              <p:spPr>
                <a:xfrm rot="10800000">
                  <a:off x="2168290" y="3023288"/>
                  <a:ext cx="1123489" cy="227246"/>
                </a:xfrm>
                <a:prstGeom prst="bentConnector3">
                  <a:avLst>
                    <a:gd name="adj1" fmla="val 45337"/>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rot="10800000" flipV="1">
                  <a:off x="2155070" y="2385346"/>
                  <a:ext cx="1136709" cy="444055"/>
                </a:xfrm>
                <a:prstGeom prst="bentConnector3">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rot="10800000" flipV="1">
                  <a:off x="2187854" y="2753646"/>
                  <a:ext cx="1103924" cy="167931"/>
                </a:xfrm>
                <a:prstGeom prst="bentConnector3">
                  <a:avLst>
                    <a:gd name="adj1" fmla="val 45686"/>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sp>
              <p:nvSpPr>
                <p:cNvPr id="27" name="Line 19"/>
                <p:cNvSpPr>
                  <a:spLocks noChangeShapeType="1"/>
                </p:cNvSpPr>
                <p:nvPr/>
              </p:nvSpPr>
              <p:spPr bwMode="auto">
                <a:xfrm flipH="1">
                  <a:off x="4206178" y="2906840"/>
                  <a:ext cx="1676400"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8" name="Line 35"/>
                <p:cNvSpPr>
                  <a:spLocks noChangeShapeType="1"/>
                </p:cNvSpPr>
                <p:nvPr/>
              </p:nvSpPr>
              <p:spPr bwMode="auto">
                <a:xfrm flipH="1">
                  <a:off x="4206178" y="3059240"/>
                  <a:ext cx="1676400"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29" name="Line 110"/>
                <p:cNvSpPr>
                  <a:spLocks noChangeShapeType="1"/>
                </p:cNvSpPr>
                <p:nvPr/>
              </p:nvSpPr>
              <p:spPr bwMode="auto">
                <a:xfrm>
                  <a:off x="6749550" y="3595017"/>
                  <a:ext cx="455997"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0" name="Line 111"/>
                <p:cNvSpPr>
                  <a:spLocks noChangeShapeType="1"/>
                </p:cNvSpPr>
                <p:nvPr/>
              </p:nvSpPr>
              <p:spPr bwMode="auto">
                <a:xfrm>
                  <a:off x="7099576" y="2724456"/>
                  <a:ext cx="0" cy="202844"/>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1" name="Line 114"/>
                <p:cNvSpPr>
                  <a:spLocks noChangeShapeType="1"/>
                </p:cNvSpPr>
                <p:nvPr/>
              </p:nvSpPr>
              <p:spPr bwMode="auto">
                <a:xfrm>
                  <a:off x="6621777" y="2368678"/>
                  <a:ext cx="576461"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2" name="Line 115"/>
                <p:cNvSpPr>
                  <a:spLocks noChangeShapeType="1"/>
                </p:cNvSpPr>
                <p:nvPr/>
              </p:nvSpPr>
              <p:spPr bwMode="auto">
                <a:xfrm>
                  <a:off x="7185123" y="2830640"/>
                  <a:ext cx="300037"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3" name="Line 116"/>
                <p:cNvSpPr>
                  <a:spLocks noChangeShapeType="1"/>
                </p:cNvSpPr>
                <p:nvPr/>
              </p:nvSpPr>
              <p:spPr bwMode="auto">
                <a:xfrm>
                  <a:off x="7091300" y="2913983"/>
                  <a:ext cx="405130"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4" name="Line 117"/>
                <p:cNvSpPr>
                  <a:spLocks noChangeShapeType="1"/>
                </p:cNvSpPr>
                <p:nvPr/>
              </p:nvSpPr>
              <p:spPr bwMode="auto">
                <a:xfrm>
                  <a:off x="7189883" y="3064002"/>
                  <a:ext cx="300037"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5" name="Line 118"/>
                <p:cNvSpPr>
                  <a:spLocks noChangeShapeType="1"/>
                </p:cNvSpPr>
                <p:nvPr/>
              </p:nvSpPr>
              <p:spPr bwMode="auto">
                <a:xfrm>
                  <a:off x="6796501" y="2735392"/>
                  <a:ext cx="307975"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6" name="Line 119"/>
                <p:cNvSpPr>
                  <a:spLocks noChangeShapeType="1"/>
                </p:cNvSpPr>
                <p:nvPr/>
              </p:nvSpPr>
              <p:spPr bwMode="auto">
                <a:xfrm flipV="1">
                  <a:off x="6803644" y="3228307"/>
                  <a:ext cx="307975"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7" name="Line 120"/>
                <p:cNvSpPr>
                  <a:spLocks noChangeShapeType="1"/>
                </p:cNvSpPr>
                <p:nvPr/>
              </p:nvSpPr>
              <p:spPr bwMode="auto">
                <a:xfrm>
                  <a:off x="7096061" y="2990183"/>
                  <a:ext cx="422593"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8" name="Line 123"/>
                <p:cNvSpPr>
                  <a:spLocks noChangeShapeType="1"/>
                </p:cNvSpPr>
                <p:nvPr/>
              </p:nvSpPr>
              <p:spPr bwMode="auto">
                <a:xfrm>
                  <a:off x="7193853" y="2360104"/>
                  <a:ext cx="0" cy="477508"/>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39" name="Line 124"/>
                <p:cNvSpPr>
                  <a:spLocks noChangeShapeType="1"/>
                </p:cNvSpPr>
                <p:nvPr/>
              </p:nvSpPr>
              <p:spPr bwMode="auto">
                <a:xfrm>
                  <a:off x="7107334" y="2987801"/>
                  <a:ext cx="0" cy="252603"/>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40" name="Line 123"/>
                <p:cNvSpPr>
                  <a:spLocks noChangeShapeType="1"/>
                </p:cNvSpPr>
                <p:nvPr/>
              </p:nvSpPr>
              <p:spPr bwMode="auto">
                <a:xfrm>
                  <a:off x="7201967" y="3052975"/>
                  <a:ext cx="0" cy="553212"/>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Arial" pitchFamily="34" charset="0"/>
                    <a:ea typeface="Verdana" panose="020B0604030504040204" pitchFamily="34" charset="0"/>
                    <a:cs typeface="Arial" pitchFamily="34" charset="0"/>
                  </a:endParaRPr>
                </a:p>
              </p:txBody>
            </p:sp>
            <p:sp>
              <p:nvSpPr>
                <p:cNvPr id="43" name="Rectangle 38"/>
                <p:cNvSpPr>
                  <a:spLocks noChangeArrowheads="1"/>
                </p:cNvSpPr>
                <p:nvPr/>
              </p:nvSpPr>
              <p:spPr bwMode="auto">
                <a:xfrm>
                  <a:off x="4563366" y="2487740"/>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4" name="Rectangle 39"/>
                <p:cNvSpPr>
                  <a:spLocks noChangeArrowheads="1"/>
                </p:cNvSpPr>
                <p:nvPr/>
              </p:nvSpPr>
              <p:spPr bwMode="auto">
                <a:xfrm>
                  <a:off x="4691953" y="2487740"/>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5" name="Rectangle 40"/>
                <p:cNvSpPr>
                  <a:spLocks noChangeArrowheads="1"/>
                </p:cNvSpPr>
                <p:nvPr/>
              </p:nvSpPr>
              <p:spPr bwMode="auto">
                <a:xfrm>
                  <a:off x="4820541" y="2487740"/>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6" name="Rectangle 41"/>
                <p:cNvSpPr>
                  <a:spLocks noChangeArrowheads="1"/>
                </p:cNvSpPr>
                <p:nvPr/>
              </p:nvSpPr>
              <p:spPr bwMode="auto">
                <a:xfrm>
                  <a:off x="4949128" y="2487740"/>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7" name="Rectangle 42"/>
                <p:cNvSpPr>
                  <a:spLocks noChangeArrowheads="1"/>
                </p:cNvSpPr>
                <p:nvPr/>
              </p:nvSpPr>
              <p:spPr bwMode="auto">
                <a:xfrm>
                  <a:off x="5077716" y="2487740"/>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8" name="Rectangle 43"/>
                <p:cNvSpPr>
                  <a:spLocks noChangeArrowheads="1"/>
                </p:cNvSpPr>
                <p:nvPr/>
              </p:nvSpPr>
              <p:spPr bwMode="auto">
                <a:xfrm>
                  <a:off x="5206303" y="2487740"/>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49" name="Rectangle 44"/>
                <p:cNvSpPr>
                  <a:spLocks noChangeArrowheads="1"/>
                </p:cNvSpPr>
                <p:nvPr/>
              </p:nvSpPr>
              <p:spPr bwMode="auto">
                <a:xfrm>
                  <a:off x="5334891" y="2487740"/>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0" name="Rectangle 45"/>
                <p:cNvSpPr>
                  <a:spLocks noChangeArrowheads="1"/>
                </p:cNvSpPr>
                <p:nvPr/>
              </p:nvSpPr>
              <p:spPr bwMode="auto">
                <a:xfrm>
                  <a:off x="5463478" y="2487740"/>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1" name="Rectangle 50"/>
                <p:cNvSpPr>
                  <a:spLocks noChangeArrowheads="1"/>
                </p:cNvSpPr>
                <p:nvPr/>
              </p:nvSpPr>
              <p:spPr bwMode="auto">
                <a:xfrm>
                  <a:off x="4563366" y="2616328"/>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2" name="Rectangle 51"/>
                <p:cNvSpPr>
                  <a:spLocks noChangeArrowheads="1"/>
                </p:cNvSpPr>
                <p:nvPr/>
              </p:nvSpPr>
              <p:spPr bwMode="auto">
                <a:xfrm>
                  <a:off x="4691953" y="2616328"/>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3" name="Rectangle 52"/>
                <p:cNvSpPr>
                  <a:spLocks noChangeArrowheads="1"/>
                </p:cNvSpPr>
                <p:nvPr/>
              </p:nvSpPr>
              <p:spPr bwMode="auto">
                <a:xfrm>
                  <a:off x="4820541" y="2616328"/>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4" name="Rectangle 53"/>
                <p:cNvSpPr>
                  <a:spLocks noChangeArrowheads="1"/>
                </p:cNvSpPr>
                <p:nvPr/>
              </p:nvSpPr>
              <p:spPr bwMode="auto">
                <a:xfrm>
                  <a:off x="4949128" y="2616328"/>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5" name="Rectangle 54"/>
                <p:cNvSpPr>
                  <a:spLocks noChangeArrowheads="1"/>
                </p:cNvSpPr>
                <p:nvPr/>
              </p:nvSpPr>
              <p:spPr bwMode="auto">
                <a:xfrm>
                  <a:off x="5077716" y="2616328"/>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6" name="Rectangle 55"/>
                <p:cNvSpPr>
                  <a:spLocks noChangeArrowheads="1"/>
                </p:cNvSpPr>
                <p:nvPr/>
              </p:nvSpPr>
              <p:spPr bwMode="auto">
                <a:xfrm>
                  <a:off x="5206303" y="2616328"/>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7" name="Rectangle 56"/>
                <p:cNvSpPr>
                  <a:spLocks noChangeArrowheads="1"/>
                </p:cNvSpPr>
                <p:nvPr/>
              </p:nvSpPr>
              <p:spPr bwMode="auto">
                <a:xfrm>
                  <a:off x="5334891" y="2616328"/>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8" name="Rectangle 57"/>
                <p:cNvSpPr>
                  <a:spLocks noChangeArrowheads="1"/>
                </p:cNvSpPr>
                <p:nvPr/>
              </p:nvSpPr>
              <p:spPr bwMode="auto">
                <a:xfrm>
                  <a:off x="5463478" y="2616328"/>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59" name="Rectangle 56"/>
                <p:cNvSpPr>
                  <a:spLocks noChangeArrowheads="1"/>
                </p:cNvSpPr>
                <p:nvPr/>
              </p:nvSpPr>
              <p:spPr bwMode="auto">
                <a:xfrm>
                  <a:off x="4563366" y="2744915"/>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0" name="Rectangle 57"/>
                <p:cNvSpPr>
                  <a:spLocks noChangeArrowheads="1"/>
                </p:cNvSpPr>
                <p:nvPr/>
              </p:nvSpPr>
              <p:spPr bwMode="auto">
                <a:xfrm>
                  <a:off x="4691953" y="2744915"/>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1" name="Rectangle 58"/>
                <p:cNvSpPr>
                  <a:spLocks noChangeArrowheads="1"/>
                </p:cNvSpPr>
                <p:nvPr/>
              </p:nvSpPr>
              <p:spPr bwMode="auto">
                <a:xfrm>
                  <a:off x="4820541" y="2744915"/>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2" name="Rectangle 59"/>
                <p:cNvSpPr>
                  <a:spLocks noChangeArrowheads="1"/>
                </p:cNvSpPr>
                <p:nvPr/>
              </p:nvSpPr>
              <p:spPr bwMode="auto">
                <a:xfrm>
                  <a:off x="4949128" y="2744915"/>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3" name="Rectangle 60"/>
                <p:cNvSpPr>
                  <a:spLocks noChangeArrowheads="1"/>
                </p:cNvSpPr>
                <p:nvPr/>
              </p:nvSpPr>
              <p:spPr bwMode="auto">
                <a:xfrm>
                  <a:off x="5077716" y="2744915"/>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4" name="Rectangle 61"/>
                <p:cNvSpPr>
                  <a:spLocks noChangeArrowheads="1"/>
                </p:cNvSpPr>
                <p:nvPr/>
              </p:nvSpPr>
              <p:spPr bwMode="auto">
                <a:xfrm>
                  <a:off x="5206303" y="2744915"/>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5" name="Rectangle 62"/>
                <p:cNvSpPr>
                  <a:spLocks noChangeArrowheads="1"/>
                </p:cNvSpPr>
                <p:nvPr/>
              </p:nvSpPr>
              <p:spPr bwMode="auto">
                <a:xfrm>
                  <a:off x="5334891" y="2744915"/>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6" name="Rectangle 63"/>
                <p:cNvSpPr>
                  <a:spLocks noChangeArrowheads="1"/>
                </p:cNvSpPr>
                <p:nvPr/>
              </p:nvSpPr>
              <p:spPr bwMode="auto">
                <a:xfrm>
                  <a:off x="5463478" y="2744915"/>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7" name="Rectangle 65"/>
                <p:cNvSpPr>
                  <a:spLocks noChangeArrowheads="1"/>
                </p:cNvSpPr>
                <p:nvPr/>
              </p:nvSpPr>
              <p:spPr bwMode="auto">
                <a:xfrm>
                  <a:off x="4563366" y="2873503"/>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8" name="Rectangle 66"/>
                <p:cNvSpPr>
                  <a:spLocks noChangeArrowheads="1"/>
                </p:cNvSpPr>
                <p:nvPr/>
              </p:nvSpPr>
              <p:spPr bwMode="auto">
                <a:xfrm>
                  <a:off x="4691953" y="2873503"/>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69" name="Rectangle 67"/>
                <p:cNvSpPr>
                  <a:spLocks noChangeArrowheads="1"/>
                </p:cNvSpPr>
                <p:nvPr/>
              </p:nvSpPr>
              <p:spPr bwMode="auto">
                <a:xfrm>
                  <a:off x="4820541" y="2873503"/>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0" name="Rectangle 68"/>
                <p:cNvSpPr>
                  <a:spLocks noChangeArrowheads="1"/>
                </p:cNvSpPr>
                <p:nvPr/>
              </p:nvSpPr>
              <p:spPr bwMode="auto">
                <a:xfrm>
                  <a:off x="4949128" y="2873503"/>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1" name="Rectangle 69"/>
                <p:cNvSpPr>
                  <a:spLocks noChangeArrowheads="1"/>
                </p:cNvSpPr>
                <p:nvPr/>
              </p:nvSpPr>
              <p:spPr bwMode="auto">
                <a:xfrm>
                  <a:off x="5077716" y="2873503"/>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2" name="Rectangle 70"/>
                <p:cNvSpPr>
                  <a:spLocks noChangeArrowheads="1"/>
                </p:cNvSpPr>
                <p:nvPr/>
              </p:nvSpPr>
              <p:spPr bwMode="auto">
                <a:xfrm>
                  <a:off x="5206303" y="2873503"/>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3" name="Rectangle 71"/>
                <p:cNvSpPr>
                  <a:spLocks noChangeArrowheads="1"/>
                </p:cNvSpPr>
                <p:nvPr/>
              </p:nvSpPr>
              <p:spPr bwMode="auto">
                <a:xfrm>
                  <a:off x="5334891" y="2873503"/>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4" name="Rectangle 72"/>
                <p:cNvSpPr>
                  <a:spLocks noChangeArrowheads="1"/>
                </p:cNvSpPr>
                <p:nvPr/>
              </p:nvSpPr>
              <p:spPr bwMode="auto">
                <a:xfrm>
                  <a:off x="5463478" y="2873503"/>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5" name="Rectangle 74"/>
                <p:cNvSpPr>
                  <a:spLocks noChangeArrowheads="1"/>
                </p:cNvSpPr>
                <p:nvPr/>
              </p:nvSpPr>
              <p:spPr bwMode="auto">
                <a:xfrm>
                  <a:off x="4563366" y="3002090"/>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6" name="Rectangle 75"/>
                <p:cNvSpPr>
                  <a:spLocks noChangeArrowheads="1"/>
                </p:cNvSpPr>
                <p:nvPr/>
              </p:nvSpPr>
              <p:spPr bwMode="auto">
                <a:xfrm>
                  <a:off x="4691953" y="3002090"/>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7" name="Rectangle 76"/>
                <p:cNvSpPr>
                  <a:spLocks noChangeArrowheads="1"/>
                </p:cNvSpPr>
                <p:nvPr/>
              </p:nvSpPr>
              <p:spPr bwMode="auto">
                <a:xfrm>
                  <a:off x="4820541" y="3002090"/>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8" name="Rectangle 77"/>
                <p:cNvSpPr>
                  <a:spLocks noChangeArrowheads="1"/>
                </p:cNvSpPr>
                <p:nvPr/>
              </p:nvSpPr>
              <p:spPr bwMode="auto">
                <a:xfrm>
                  <a:off x="4949128" y="3002090"/>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79" name="Rectangle 78"/>
                <p:cNvSpPr>
                  <a:spLocks noChangeArrowheads="1"/>
                </p:cNvSpPr>
                <p:nvPr/>
              </p:nvSpPr>
              <p:spPr bwMode="auto">
                <a:xfrm>
                  <a:off x="5077716" y="3002090"/>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0" name="Rectangle 79"/>
                <p:cNvSpPr>
                  <a:spLocks noChangeArrowheads="1"/>
                </p:cNvSpPr>
                <p:nvPr/>
              </p:nvSpPr>
              <p:spPr bwMode="auto">
                <a:xfrm>
                  <a:off x="5206303" y="3002090"/>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1" name="Rectangle 80"/>
                <p:cNvSpPr>
                  <a:spLocks noChangeArrowheads="1"/>
                </p:cNvSpPr>
                <p:nvPr/>
              </p:nvSpPr>
              <p:spPr bwMode="auto">
                <a:xfrm>
                  <a:off x="5334891" y="3002090"/>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2" name="Rectangle 81"/>
                <p:cNvSpPr>
                  <a:spLocks noChangeArrowheads="1"/>
                </p:cNvSpPr>
                <p:nvPr/>
              </p:nvSpPr>
              <p:spPr bwMode="auto">
                <a:xfrm>
                  <a:off x="5463478" y="3002090"/>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3" name="Rectangle 83"/>
                <p:cNvSpPr>
                  <a:spLocks noChangeArrowheads="1"/>
                </p:cNvSpPr>
                <p:nvPr/>
              </p:nvSpPr>
              <p:spPr bwMode="auto">
                <a:xfrm>
                  <a:off x="4563366" y="3130678"/>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4" name="Rectangle 84"/>
                <p:cNvSpPr>
                  <a:spLocks noChangeArrowheads="1"/>
                </p:cNvSpPr>
                <p:nvPr/>
              </p:nvSpPr>
              <p:spPr bwMode="auto">
                <a:xfrm>
                  <a:off x="4691953" y="3130678"/>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5" name="Rectangle 85"/>
                <p:cNvSpPr>
                  <a:spLocks noChangeArrowheads="1"/>
                </p:cNvSpPr>
                <p:nvPr/>
              </p:nvSpPr>
              <p:spPr bwMode="auto">
                <a:xfrm>
                  <a:off x="4820541" y="3130678"/>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6" name="Rectangle 86"/>
                <p:cNvSpPr>
                  <a:spLocks noChangeArrowheads="1"/>
                </p:cNvSpPr>
                <p:nvPr/>
              </p:nvSpPr>
              <p:spPr bwMode="auto">
                <a:xfrm>
                  <a:off x="4949128" y="3130678"/>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7" name="Rectangle 87"/>
                <p:cNvSpPr>
                  <a:spLocks noChangeArrowheads="1"/>
                </p:cNvSpPr>
                <p:nvPr/>
              </p:nvSpPr>
              <p:spPr bwMode="auto">
                <a:xfrm>
                  <a:off x="5077716" y="3130678"/>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8" name="Rectangle 88"/>
                <p:cNvSpPr>
                  <a:spLocks noChangeArrowheads="1"/>
                </p:cNvSpPr>
                <p:nvPr/>
              </p:nvSpPr>
              <p:spPr bwMode="auto">
                <a:xfrm>
                  <a:off x="5206303" y="3130678"/>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9" name="Rectangle 89"/>
                <p:cNvSpPr>
                  <a:spLocks noChangeArrowheads="1"/>
                </p:cNvSpPr>
                <p:nvPr/>
              </p:nvSpPr>
              <p:spPr bwMode="auto">
                <a:xfrm>
                  <a:off x="5334891" y="3130678"/>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0" name="Rectangle 90"/>
                <p:cNvSpPr>
                  <a:spLocks noChangeArrowheads="1"/>
                </p:cNvSpPr>
                <p:nvPr/>
              </p:nvSpPr>
              <p:spPr bwMode="auto">
                <a:xfrm>
                  <a:off x="5463478" y="3130678"/>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1" name="Rectangle 92"/>
                <p:cNvSpPr>
                  <a:spLocks noChangeArrowheads="1"/>
                </p:cNvSpPr>
                <p:nvPr/>
              </p:nvSpPr>
              <p:spPr bwMode="auto">
                <a:xfrm>
                  <a:off x="4563366" y="3259265"/>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2" name="Rectangle 93"/>
                <p:cNvSpPr>
                  <a:spLocks noChangeArrowheads="1"/>
                </p:cNvSpPr>
                <p:nvPr/>
              </p:nvSpPr>
              <p:spPr bwMode="auto">
                <a:xfrm>
                  <a:off x="4691953" y="3259265"/>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3" name="Rectangle 94"/>
                <p:cNvSpPr>
                  <a:spLocks noChangeArrowheads="1"/>
                </p:cNvSpPr>
                <p:nvPr/>
              </p:nvSpPr>
              <p:spPr bwMode="auto">
                <a:xfrm>
                  <a:off x="4820541" y="3259265"/>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4" name="Rectangle 95"/>
                <p:cNvSpPr>
                  <a:spLocks noChangeArrowheads="1"/>
                </p:cNvSpPr>
                <p:nvPr/>
              </p:nvSpPr>
              <p:spPr bwMode="auto">
                <a:xfrm>
                  <a:off x="4949128" y="3259265"/>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5" name="Rectangle 96"/>
                <p:cNvSpPr>
                  <a:spLocks noChangeArrowheads="1"/>
                </p:cNvSpPr>
                <p:nvPr/>
              </p:nvSpPr>
              <p:spPr bwMode="auto">
                <a:xfrm>
                  <a:off x="5077716" y="3259265"/>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6" name="Rectangle 97"/>
                <p:cNvSpPr>
                  <a:spLocks noChangeArrowheads="1"/>
                </p:cNvSpPr>
                <p:nvPr/>
              </p:nvSpPr>
              <p:spPr bwMode="auto">
                <a:xfrm>
                  <a:off x="5206303" y="3259265"/>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7" name="Rectangle 98"/>
                <p:cNvSpPr>
                  <a:spLocks noChangeArrowheads="1"/>
                </p:cNvSpPr>
                <p:nvPr/>
              </p:nvSpPr>
              <p:spPr bwMode="auto">
                <a:xfrm>
                  <a:off x="5334891" y="3259265"/>
                  <a:ext cx="128587"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8" name="Rectangle 99"/>
                <p:cNvSpPr>
                  <a:spLocks noChangeArrowheads="1"/>
                </p:cNvSpPr>
                <p:nvPr/>
              </p:nvSpPr>
              <p:spPr bwMode="auto">
                <a:xfrm>
                  <a:off x="5463478" y="3259265"/>
                  <a:ext cx="128588" cy="12858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9" name="Rectangle 101"/>
                <p:cNvSpPr>
                  <a:spLocks noChangeArrowheads="1"/>
                </p:cNvSpPr>
                <p:nvPr/>
              </p:nvSpPr>
              <p:spPr bwMode="auto">
                <a:xfrm>
                  <a:off x="4563366" y="3387853"/>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00" name="Rectangle 102"/>
                <p:cNvSpPr>
                  <a:spLocks noChangeArrowheads="1"/>
                </p:cNvSpPr>
                <p:nvPr/>
              </p:nvSpPr>
              <p:spPr bwMode="auto">
                <a:xfrm>
                  <a:off x="4691953" y="3387853"/>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01" name="Rectangle 103"/>
                <p:cNvSpPr>
                  <a:spLocks noChangeArrowheads="1"/>
                </p:cNvSpPr>
                <p:nvPr/>
              </p:nvSpPr>
              <p:spPr bwMode="auto">
                <a:xfrm>
                  <a:off x="4820541" y="3387853"/>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02" name="Rectangle 104"/>
                <p:cNvSpPr>
                  <a:spLocks noChangeArrowheads="1"/>
                </p:cNvSpPr>
                <p:nvPr/>
              </p:nvSpPr>
              <p:spPr bwMode="auto">
                <a:xfrm>
                  <a:off x="4949128" y="3387853"/>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03" name="Rectangle 105"/>
                <p:cNvSpPr>
                  <a:spLocks noChangeArrowheads="1"/>
                </p:cNvSpPr>
                <p:nvPr/>
              </p:nvSpPr>
              <p:spPr bwMode="auto">
                <a:xfrm>
                  <a:off x="5077716" y="3387853"/>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04" name="Rectangle 106"/>
                <p:cNvSpPr>
                  <a:spLocks noChangeArrowheads="1"/>
                </p:cNvSpPr>
                <p:nvPr/>
              </p:nvSpPr>
              <p:spPr bwMode="auto">
                <a:xfrm>
                  <a:off x="5206303" y="3387853"/>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05" name="Rectangle 107"/>
                <p:cNvSpPr>
                  <a:spLocks noChangeArrowheads="1"/>
                </p:cNvSpPr>
                <p:nvPr/>
              </p:nvSpPr>
              <p:spPr bwMode="auto">
                <a:xfrm>
                  <a:off x="5334891" y="3387853"/>
                  <a:ext cx="128587"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06" name="Rectangle 108"/>
                <p:cNvSpPr>
                  <a:spLocks noChangeArrowheads="1"/>
                </p:cNvSpPr>
                <p:nvPr/>
              </p:nvSpPr>
              <p:spPr bwMode="auto">
                <a:xfrm>
                  <a:off x="5463478" y="3387853"/>
                  <a:ext cx="128588" cy="128587"/>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07" name="Rectangle 126"/>
                <p:cNvSpPr>
                  <a:spLocks noChangeArrowheads="1"/>
                </p:cNvSpPr>
                <p:nvPr/>
              </p:nvSpPr>
              <p:spPr bwMode="auto">
                <a:xfrm>
                  <a:off x="5888928" y="2044828"/>
                  <a:ext cx="784225" cy="1871662"/>
                </a:xfrm>
                <a:prstGeom prst="rect">
                  <a:avLst/>
                </a:prstGeom>
                <a:ln>
                  <a:headEnd/>
                  <a:tailEnd type="none" w="lg" len="me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08" name="Rectangle 130"/>
                <p:cNvSpPr>
                  <a:spLocks noChangeArrowheads="1"/>
                </p:cNvSpPr>
                <p:nvPr/>
              </p:nvSpPr>
              <p:spPr bwMode="auto">
                <a:xfrm>
                  <a:off x="6673153" y="2287715"/>
                  <a:ext cx="150813" cy="15081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09" name="Rectangle 131"/>
                <p:cNvSpPr>
                  <a:spLocks noChangeArrowheads="1"/>
                </p:cNvSpPr>
                <p:nvPr/>
              </p:nvSpPr>
              <p:spPr bwMode="auto">
                <a:xfrm>
                  <a:off x="6673153" y="2656015"/>
                  <a:ext cx="150813" cy="15081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0" name="Rectangle 133"/>
                <p:cNvSpPr>
                  <a:spLocks noChangeArrowheads="1"/>
                </p:cNvSpPr>
                <p:nvPr/>
              </p:nvSpPr>
              <p:spPr bwMode="auto">
                <a:xfrm>
                  <a:off x="6673153" y="3152903"/>
                  <a:ext cx="150813" cy="15081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1" name="Rectangle 134"/>
                <p:cNvSpPr>
                  <a:spLocks noChangeArrowheads="1"/>
                </p:cNvSpPr>
                <p:nvPr/>
              </p:nvSpPr>
              <p:spPr bwMode="auto">
                <a:xfrm>
                  <a:off x="6673153" y="3521203"/>
                  <a:ext cx="150813" cy="15081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3" name="AutoShape 13"/>
                <p:cNvSpPr>
                  <a:spLocks noChangeArrowheads="1"/>
                </p:cNvSpPr>
                <p:nvPr/>
              </p:nvSpPr>
              <p:spPr bwMode="auto">
                <a:xfrm>
                  <a:off x="7462138" y="2067414"/>
                  <a:ext cx="1387475" cy="1868487"/>
                </a:xfrm>
                <a:prstGeom prst="roundRect">
                  <a:avLst>
                    <a:gd name="adj" fmla="val 11657"/>
                  </a:avLst>
                </a:prstGeom>
                <a:gradFill>
                  <a:gsLst>
                    <a:gs pos="0">
                      <a:schemeClr val="lt1">
                        <a:tint val="40000"/>
                        <a:satMod val="350000"/>
                      </a:schemeClr>
                    </a:gs>
                    <a:gs pos="40000">
                      <a:schemeClr val="lt1">
                        <a:tint val="45000"/>
                        <a:shade val="99000"/>
                        <a:satMod val="350000"/>
                      </a:schemeClr>
                    </a:gs>
                    <a:gs pos="100000">
                      <a:schemeClr val="accent5">
                        <a:lumMod val="60000"/>
                        <a:lumOff val="40000"/>
                      </a:schemeClr>
                    </a:gs>
                  </a:gsLst>
                </a:gradFill>
                <a:ln>
                  <a:headEnd/>
                  <a:tailEnd type="none" w="lg" len="med"/>
                </a:ln>
              </p:spPr>
              <p:style>
                <a:lnRef idx="1">
                  <a:schemeClr val="dk1"/>
                </a:lnRef>
                <a:fillRef idx="1002">
                  <a:schemeClr val="lt1"/>
                </a:fillRef>
                <a:effectRef idx="1">
                  <a:schemeClr val="dk1"/>
                </a:effectRef>
                <a:fontRef idx="minor">
                  <a:schemeClr val="dk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19" name="Rectangle 127"/>
                <p:cNvSpPr>
                  <a:spLocks noChangeArrowheads="1"/>
                </p:cNvSpPr>
                <p:nvPr/>
              </p:nvSpPr>
              <p:spPr bwMode="auto">
                <a:xfrm>
                  <a:off x="6277866" y="2187703"/>
                  <a:ext cx="395287" cy="720725"/>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sp>
              <p:nvSpPr>
                <p:cNvPr id="120" name="Rectangle 128"/>
                <p:cNvSpPr>
                  <a:spLocks noChangeArrowheads="1"/>
                </p:cNvSpPr>
                <p:nvPr/>
              </p:nvSpPr>
              <p:spPr bwMode="auto">
                <a:xfrm>
                  <a:off x="6277866" y="3051303"/>
                  <a:ext cx="395287" cy="720725"/>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a:solidFill>
                      <a:srgbClr val="000000"/>
                    </a:solidFill>
                    <a:latin typeface="Arial" pitchFamily="34" charset="0"/>
                    <a:ea typeface="Verdana" panose="020B0604030504040204" pitchFamily="34" charset="0"/>
                    <a:cs typeface="Arial" pitchFamily="34" charset="0"/>
                  </a:endParaRPr>
                </a:p>
              </p:txBody>
            </p:sp>
          </p:grpSp>
          <p:sp>
            <p:nvSpPr>
              <p:cNvPr id="377" name="Text Box 4"/>
              <p:cNvSpPr txBox="1">
                <a:spLocks noChangeArrowheads="1"/>
              </p:cNvSpPr>
              <p:nvPr/>
            </p:nvSpPr>
            <p:spPr bwMode="auto">
              <a:xfrm>
                <a:off x="1552575" y="2159913"/>
                <a:ext cx="146110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r">
                  <a:spcBef>
                    <a:spcPct val="50000"/>
                  </a:spcBef>
                </a:pPr>
                <a:r>
                  <a:rPr lang="ru-RU" sz="1400" b="0" i="0" dirty="0">
                    <a:solidFill>
                      <a:srgbClr val="000000"/>
                    </a:solidFill>
                    <a:latin typeface="Arial" pitchFamily="34" charset="0"/>
                    <a:cs typeface="Arial" pitchFamily="34" charset="0"/>
                  </a:rPr>
                  <a:t>Возможность</a:t>
                </a:r>
                <a:br>
                  <a:rPr lang="en-US" sz="1400" b="0" i="0" dirty="0">
                    <a:solidFill>
                      <a:srgbClr val="FF00FF"/>
                    </a:solidFill>
                    <a:latin typeface="Arial" pitchFamily="34" charset="0"/>
                    <a:cs typeface="Arial" pitchFamily="34" charset="0"/>
                  </a:rPr>
                </a:br>
                <a:r>
                  <a:rPr lang="ru-RU" sz="1400" b="0" i="0" dirty="0">
                    <a:solidFill>
                      <a:srgbClr val="000000"/>
                    </a:solidFill>
                    <a:latin typeface="Arial" pitchFamily="34" charset="0"/>
                    <a:cs typeface="Arial" pitchFamily="34" charset="0"/>
                  </a:rPr>
                  <a:t>подключения</a:t>
                </a:r>
              </a:p>
            </p:txBody>
          </p:sp>
          <p:sp>
            <p:nvSpPr>
              <p:cNvPr id="378" name="Text Box 14"/>
              <p:cNvSpPr txBox="1">
                <a:spLocks noChangeArrowheads="1"/>
              </p:cNvSpPr>
              <p:nvPr/>
            </p:nvSpPr>
            <p:spPr bwMode="auto">
              <a:xfrm>
                <a:off x="3688863" y="1872930"/>
                <a:ext cx="763029"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Внешние</a:t>
                </a:r>
              </a:p>
            </p:txBody>
          </p:sp>
          <p:sp>
            <p:nvSpPr>
              <p:cNvPr id="379" name="Text Box 15"/>
              <p:cNvSpPr txBox="1">
                <a:spLocks noChangeArrowheads="1"/>
              </p:cNvSpPr>
              <p:nvPr/>
            </p:nvSpPr>
            <p:spPr bwMode="auto">
              <a:xfrm>
                <a:off x="5653641" y="1855349"/>
                <a:ext cx="989053"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Внутренние</a:t>
                </a:r>
              </a:p>
            </p:txBody>
          </p:sp>
          <p:sp>
            <p:nvSpPr>
              <p:cNvPr id="380" name="Text Box 16"/>
              <p:cNvSpPr txBox="1">
                <a:spLocks noChangeArrowheads="1"/>
              </p:cNvSpPr>
              <p:nvPr/>
            </p:nvSpPr>
            <p:spPr bwMode="auto">
              <a:xfrm>
                <a:off x="4615166" y="2239678"/>
                <a:ext cx="992259"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Кэш-память</a:t>
                </a:r>
              </a:p>
            </p:txBody>
          </p:sp>
          <p:sp>
            <p:nvSpPr>
              <p:cNvPr id="381" name="TextBox 380"/>
              <p:cNvSpPr txBox="1"/>
              <p:nvPr/>
            </p:nvSpPr>
            <p:spPr>
              <a:xfrm>
                <a:off x="4509302" y="1257300"/>
                <a:ext cx="1184170" cy="307777"/>
              </a:xfrm>
              <a:prstGeom prst="rect">
                <a:avLst/>
              </a:prstGeom>
              <a:noFill/>
            </p:spPr>
            <p:txBody>
              <a:bodyPr wrap="none" rtlCol="0">
                <a:spAutoFit/>
              </a:bodyPr>
              <a:lstStyle/>
              <a:p>
                <a:r>
                  <a:rPr lang="ru-RU" sz="1400" b="0" i="0" dirty="0">
                    <a:solidFill>
                      <a:srgbClr val="000000"/>
                    </a:solidFill>
                    <a:latin typeface="Arial" pitchFamily="34" charset="0"/>
                    <a:cs typeface="Arial" pitchFamily="34" charset="0"/>
                  </a:rPr>
                  <a:t>Контроллер</a:t>
                </a:r>
              </a:p>
            </p:txBody>
          </p:sp>
          <p:sp>
            <p:nvSpPr>
              <p:cNvPr id="382" name="Text Box 17"/>
              <p:cNvSpPr txBox="1">
                <a:spLocks noChangeArrowheads="1"/>
              </p:cNvSpPr>
              <p:nvPr/>
            </p:nvSpPr>
            <p:spPr bwMode="auto">
              <a:xfrm>
                <a:off x="7561218" y="1909497"/>
                <a:ext cx="361830"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400" b="0" i="0" dirty="0">
                    <a:solidFill>
                      <a:srgbClr val="000000"/>
                    </a:solidFill>
                    <a:latin typeface="Arial" pitchFamily="34" charset="0"/>
                    <a:cs typeface="Arial" pitchFamily="34" charset="0"/>
                  </a:rPr>
                  <a:t>СХД</a:t>
                </a:r>
              </a:p>
            </p:txBody>
          </p:sp>
          <p:sp>
            <p:nvSpPr>
              <p:cNvPr id="383" name="Text Box 3"/>
              <p:cNvSpPr txBox="1">
                <a:spLocks noChangeArrowheads="1"/>
              </p:cNvSpPr>
              <p:nvPr/>
            </p:nvSpPr>
            <p:spPr bwMode="auto">
              <a:xfrm>
                <a:off x="212905" y="1855258"/>
                <a:ext cx="218297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1400" b="0" i="0" dirty="0">
                    <a:solidFill>
                      <a:srgbClr val="000000"/>
                    </a:solidFill>
                    <a:latin typeface="Arial" pitchFamily="34" charset="0"/>
                    <a:cs typeface="Arial" pitchFamily="34" charset="0"/>
                  </a:rPr>
                  <a:t>Вычислительные ресурсы</a:t>
                </a:r>
              </a:p>
            </p:txBody>
          </p:sp>
          <p:pic>
            <p:nvPicPr>
              <p:cNvPr id="385" name="Picture 28" descr="C:\Users\patils1\Desktop\2013 Projects\CIS v2\CIS Slide Deck_Based on Book\Colored Graphics\Physical Compute System With Hypervisor.png"/>
              <p:cNvPicPr>
                <a:picLocks noChangeAspect="1" noChangeArrowheads="1"/>
              </p:cNvPicPr>
              <p:nvPr/>
            </p:nvPicPr>
            <p:blipFill>
              <a:blip r:embed="rId4"/>
              <a:stretch>
                <a:fillRect/>
              </a:stretch>
            </p:blipFill>
            <p:spPr bwMode="auto">
              <a:xfrm>
                <a:off x="840262" y="2092936"/>
                <a:ext cx="931886" cy="906701"/>
              </a:xfrm>
              <a:prstGeom prst="rect">
                <a:avLst/>
              </a:prstGeom>
              <a:noFill/>
              <a:extLst>
                <a:ext uri="{909E8E84-426E-40DD-AFC4-6F175D3DCCD1}">
                  <a14:hiddenFill xmlns:a14="http://schemas.microsoft.com/office/drawing/2010/main">
                    <a:solidFill>
                      <a:srgbClr val="FFFFFF"/>
                    </a:solidFill>
                  </a14:hiddenFill>
                </a:ext>
              </a:extLst>
            </p:spPr>
          </p:pic>
          <p:pic>
            <p:nvPicPr>
              <p:cNvPr id="386"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4586" y="2231588"/>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387"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9853" y="2442784"/>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388"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5120" y="2653980"/>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389"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0387" y="2865176"/>
                <a:ext cx="578338" cy="578338"/>
              </a:xfrm>
              <a:prstGeom prst="rect">
                <a:avLst/>
              </a:prstGeom>
              <a:noFill/>
              <a:extLst>
                <a:ext uri="{909E8E84-426E-40DD-AFC4-6F175D3DCCD1}">
                  <a14:hiddenFill xmlns:a14="http://schemas.microsoft.com/office/drawing/2010/main">
                    <a:solidFill>
                      <a:srgbClr val="FFFFFF"/>
                    </a:solidFill>
                  </a14:hiddenFill>
                </a:ext>
              </a:extLst>
            </p:spPr>
          </p:pic>
          <p:pic>
            <p:nvPicPr>
              <p:cNvPr id="390"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5655" y="3076372"/>
                <a:ext cx="578338" cy="578338"/>
              </a:xfrm>
              <a:prstGeom prst="rect">
                <a:avLst/>
              </a:prstGeom>
              <a:noFill/>
              <a:extLst>
                <a:ext uri="{909E8E84-426E-40DD-AFC4-6F175D3DCCD1}">
                  <a14:hiddenFill xmlns:a14="http://schemas.microsoft.com/office/drawing/2010/main">
                    <a:solidFill>
                      <a:srgbClr val="FFFFFF"/>
                    </a:solidFill>
                  </a14:hiddenFill>
                </a:ext>
              </a:extLst>
            </p:spPr>
          </p:pic>
        </p:grpSp>
        <p:pic>
          <p:nvPicPr>
            <p:cNvPr id="125" name="Picture 34" descr="C:\Users\patils1\Desktop\2013 Projects\CIS v2\CIS Slide Deck_Based on Book\Colored Graphics\SAN.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0327" y="2629381"/>
              <a:ext cx="780446" cy="502920"/>
            </a:xfrm>
            <a:prstGeom prst="rect">
              <a:avLst/>
            </a:prstGeom>
            <a:noFill/>
            <a:extLst>
              <a:ext uri="{909E8E84-426E-40DD-AFC4-6F175D3DCCD1}">
                <a14:hiddenFill xmlns:a14="http://schemas.microsoft.com/office/drawing/2010/main">
                  <a:solidFill>
                    <a:srgbClr val="FFFFFF"/>
                  </a:solidFill>
                </a14:hiddenFill>
              </a:ext>
            </a:extLst>
          </p:spPr>
        </p:pic>
        <p:sp>
          <p:nvSpPr>
            <p:cNvPr id="126" name="TextBox 125"/>
            <p:cNvSpPr txBox="1"/>
            <p:nvPr/>
          </p:nvSpPr>
          <p:spPr>
            <a:xfrm>
              <a:off x="2021752" y="2647951"/>
              <a:ext cx="873848" cy="400110"/>
            </a:xfrm>
            <a:prstGeom prst="rect">
              <a:avLst/>
            </a:prstGeom>
            <a:noFill/>
          </p:spPr>
          <p:txBody>
            <a:bodyPr wrap="square" rtlCol="0">
              <a:spAutoFit/>
            </a:bodyPr>
            <a:lstStyle/>
            <a:p>
              <a:pPr algn="ctr"/>
              <a:r>
                <a:rPr lang="ru-RU" sz="1000" b="1" i="0" dirty="0">
                  <a:solidFill>
                    <a:srgbClr val="000000"/>
                  </a:solidFill>
                  <a:latin typeface="Arial" pitchFamily="34" charset="0"/>
                  <a:cs typeface="Arial" pitchFamily="34" charset="0"/>
                </a:rPr>
                <a:t>Сеть хранения</a:t>
              </a:r>
            </a:p>
          </p:txBody>
        </p:sp>
      </p:grpSp>
      <p:sp>
        <p:nvSpPr>
          <p:cNvPr id="124" name="TextBox 123"/>
          <p:cNvSpPr txBox="1"/>
          <p:nvPr/>
        </p:nvSpPr>
        <p:spPr>
          <a:xfrm>
            <a:off x="876300" y="2552700"/>
            <a:ext cx="990600" cy="230832"/>
          </a:xfrm>
          <a:prstGeom prst="rect">
            <a:avLst/>
          </a:prstGeom>
          <a:noFill/>
        </p:spPr>
        <p:txBody>
          <a:bodyPr wrap="square" rtlCol="0">
            <a:spAutoFit/>
          </a:bodyPr>
          <a:lstStyle/>
          <a:p>
            <a:r>
              <a:rPr lang="ru-RU" sz="900" b="1" i="0" dirty="0">
                <a:solidFill>
                  <a:srgbClr val="000000"/>
                </a:solidFill>
                <a:latin typeface="Arial" pitchFamily="34" charset="0"/>
                <a:cs typeface="Arial" pitchFamily="34" charset="0"/>
              </a:rPr>
              <a:t>Гипервизор</a:t>
            </a:r>
          </a:p>
        </p:txBody>
      </p:sp>
      <p:sp>
        <p:nvSpPr>
          <p:cNvPr id="127" name="TextBox 12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593385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1.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pPr>
              <a:defRPr/>
            </a:pPr>
            <a:r>
              <a:rPr lang="ru-RU" sz="2000" b="0" i="0" dirty="0">
                <a:solidFill>
                  <a:srgbClr val="000000"/>
                </a:solidFill>
                <a:latin typeface="Arial" pitchFamily="34" charset="0"/>
                <a:cs typeface="Arial" pitchFamily="34" charset="0"/>
              </a:rPr>
              <a:t>компоненты блочной системы хранения;</a:t>
            </a:r>
          </a:p>
          <a:p>
            <a:pPr>
              <a:defRPr/>
            </a:pPr>
            <a:r>
              <a:rPr lang="ru-RU" sz="2000" b="0" i="0" dirty="0">
                <a:solidFill>
                  <a:srgbClr val="000000"/>
                </a:solidFill>
                <a:latin typeface="Arial" pitchFamily="34" charset="0"/>
                <a:cs typeface="Arial" pitchFamily="34" charset="0"/>
              </a:rPr>
              <a:t>алгоритмы интеллектуального кэширования;</a:t>
            </a:r>
          </a:p>
          <a:p>
            <a:pPr>
              <a:defRPr/>
            </a:pPr>
            <a:r>
              <a:rPr lang="ru-RU" sz="2000" b="0" i="0" dirty="0">
                <a:solidFill>
                  <a:srgbClr val="000000"/>
                </a:solidFill>
                <a:latin typeface="Arial" pitchFamily="34" charset="0"/>
                <a:cs typeface="Arial" pitchFamily="34" charset="0"/>
              </a:rPr>
              <a:t>механизмы защиты данных кэш-памяти.</a:t>
            </a: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055793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2. Выделение ресурсов хранения</a:t>
            </a:r>
          </a:p>
        </p:txBody>
      </p:sp>
      <p:sp>
        <p:nvSpPr>
          <p:cNvPr id="5" name="Content Placeholder 4"/>
          <p:cNvSpPr>
            <a:spLocks noGrp="1"/>
          </p:cNvSpPr>
          <p:nvPr>
            <p:ph sz="quarter" idx="10"/>
          </p:nvPr>
        </p:nvSpPr>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Традиционное и виртуальное выделение ресурсов.</a:t>
            </a:r>
          </a:p>
          <a:p>
            <a:pPr>
              <a:defRPr/>
            </a:pPr>
            <a:r>
              <a:rPr lang="ru-RU" sz="2000" b="0" i="0" dirty="0">
                <a:solidFill>
                  <a:srgbClr val="000000"/>
                </a:solidFill>
                <a:latin typeface="Arial" pitchFamily="34" charset="0"/>
                <a:cs typeface="Arial" pitchFamily="34" charset="0"/>
              </a:rPr>
              <a:t>Расширение томов.</a:t>
            </a:r>
          </a:p>
          <a:p>
            <a:pPr>
              <a:defRPr/>
            </a:pPr>
            <a:r>
              <a:rPr lang="ru-RU" sz="2000" b="0" i="0" dirty="0">
                <a:solidFill>
                  <a:srgbClr val="000000"/>
                </a:solidFill>
                <a:latin typeface="Arial" pitchFamily="34" charset="0"/>
                <a:cs typeface="Arial" pitchFamily="34" charset="0"/>
              </a:rPr>
              <a:t>Маскирование томов.</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285654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Обзор выделения ресурсов хранения</a:t>
            </a:r>
          </a:p>
        </p:txBody>
      </p:sp>
      <p:sp>
        <p:nvSpPr>
          <p:cNvPr id="3" name="Content Placeholder 2"/>
          <p:cNvSpPr>
            <a:spLocks noGrp="1"/>
          </p:cNvSpPr>
          <p:nvPr>
            <p:ph sz="quarter" idx="10"/>
          </p:nvPr>
        </p:nvSpPr>
        <p:spPr>
          <a:xfrm>
            <a:off x="379414" y="2190750"/>
            <a:ext cx="8458200" cy="2228850"/>
          </a:xfrm>
        </p:spPr>
        <p:txBody>
          <a:bodyPr/>
          <a:lstStyle/>
          <a:p>
            <a:r>
              <a:rPr lang="ru-RU" sz="2000" b="0" i="0" dirty="0">
                <a:solidFill>
                  <a:srgbClr val="000000"/>
                </a:solidFill>
                <a:latin typeface="Arial" pitchFamily="34" charset="0"/>
                <a:cs typeface="Arial" pitchFamily="34" charset="0"/>
              </a:rPr>
              <a:t>Существует два способа:</a:t>
            </a:r>
          </a:p>
          <a:p>
            <a:pPr lvl="1"/>
            <a:r>
              <a:rPr lang="ru-RU" sz="1800" b="0" i="0" dirty="0">
                <a:solidFill>
                  <a:srgbClr val="000000"/>
                </a:solidFill>
                <a:latin typeface="Arial" pitchFamily="34" charset="0"/>
                <a:cs typeface="Arial" pitchFamily="34" charset="0"/>
              </a:rPr>
              <a:t>традиционное выделение ресурсов хранения;</a:t>
            </a:r>
          </a:p>
          <a:p>
            <a:pPr lvl="1"/>
            <a:r>
              <a:rPr lang="ru-RU" sz="1800" b="0" i="0" dirty="0">
                <a:solidFill>
                  <a:srgbClr val="000000"/>
                </a:solidFill>
                <a:latin typeface="Arial" pitchFamily="34" charset="0"/>
                <a:cs typeface="Arial" pitchFamily="34" charset="0"/>
              </a:rPr>
              <a:t>выделение виртуальных ресурсов хранения.</a:t>
            </a:r>
          </a:p>
          <a:p>
            <a:endParaRPr lang="en-US" dirty="0">
              <a:latin typeface="Arial" pitchFamily="34" charset="0"/>
              <a:cs typeface="Arial" pitchFamily="34" charset="0"/>
            </a:endParaRPr>
          </a:p>
        </p:txBody>
      </p:sp>
      <p:grpSp>
        <p:nvGrpSpPr>
          <p:cNvPr id="5" name="Group 4"/>
          <p:cNvGrpSpPr/>
          <p:nvPr/>
        </p:nvGrpSpPr>
        <p:grpSpPr>
          <a:xfrm>
            <a:off x="285750" y="809620"/>
            <a:ext cx="8545183" cy="1316360"/>
            <a:chOff x="125970" y="798190"/>
            <a:chExt cx="8545183" cy="1316360"/>
          </a:xfrm>
        </p:grpSpPr>
        <p:sp>
          <p:nvSpPr>
            <p:cNvPr id="6" name="Rectangle 5"/>
            <p:cNvSpPr/>
            <p:nvPr/>
          </p:nvSpPr>
          <p:spPr>
            <a:xfrm>
              <a:off x="125970"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endParaRPr lang="en-US">
                <a:latin typeface="Arial" pitchFamily="34" charset="0"/>
                <a:cs typeface="Arial" pitchFamily="34" charset="0"/>
              </a:endParaRPr>
            </a:p>
          </p:txBody>
        </p:sp>
        <p:sp>
          <p:nvSpPr>
            <p:cNvPr id="7" name="Rectangle 6"/>
            <p:cNvSpPr/>
            <p:nvPr/>
          </p:nvSpPr>
          <p:spPr>
            <a:xfrm>
              <a:off x="441553" y="996920"/>
              <a:ext cx="8229600" cy="111763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600" b="0" i="0" dirty="0">
                  <a:solidFill>
                    <a:srgbClr val="000000"/>
                  </a:solidFill>
                  <a:latin typeface="Arial" pitchFamily="34" charset="0"/>
                  <a:cs typeface="Arial" pitchFamily="34" charset="0"/>
                </a:rPr>
                <a:t>Процедура назначения ресурсов хранения данных вычислительной системе зависит от требований, предъявляемых к емкости, доступности и производительности. </a:t>
              </a:r>
            </a:p>
          </p:txBody>
        </p:sp>
        <p:sp>
          <p:nvSpPr>
            <p:cNvPr id="8" name="Rectangle 7"/>
            <p:cNvSpPr/>
            <p:nvPr/>
          </p:nvSpPr>
          <p:spPr>
            <a:xfrm>
              <a:off x="175740"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600" b="1" i="0" dirty="0">
                  <a:solidFill>
                    <a:srgbClr val="FFFFFF"/>
                  </a:solidFill>
                  <a:latin typeface="Arial" pitchFamily="34" charset="0"/>
                  <a:cs typeface="Arial" pitchFamily="34" charset="0"/>
                </a:rPr>
                <a:t>Выделение ресурсов хранения</a:t>
              </a:r>
            </a:p>
          </p:txBody>
        </p:sp>
      </p:grpSp>
      <p:sp>
        <p:nvSpPr>
          <p:cNvPr id="9" name="TextBox 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327791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Традиционное выделение ресурсов</a:t>
            </a:r>
          </a:p>
        </p:txBody>
      </p:sp>
      <p:grpSp>
        <p:nvGrpSpPr>
          <p:cNvPr id="196" name="Group 195"/>
          <p:cNvGrpSpPr/>
          <p:nvPr/>
        </p:nvGrpSpPr>
        <p:grpSpPr>
          <a:xfrm>
            <a:off x="74456" y="866775"/>
            <a:ext cx="8850467" cy="3599344"/>
            <a:chOff x="36308" y="1247775"/>
            <a:chExt cx="8850467" cy="3599344"/>
          </a:xfrm>
        </p:grpSpPr>
        <p:cxnSp>
          <p:nvCxnSpPr>
            <p:cNvPr id="137" name="Elbow Connector 136"/>
            <p:cNvCxnSpPr/>
            <p:nvPr/>
          </p:nvCxnSpPr>
          <p:spPr>
            <a:xfrm rot="5400000" flipH="1" flipV="1">
              <a:off x="679372" y="3245001"/>
              <a:ext cx="1466783" cy="844318"/>
            </a:xfrm>
            <a:prstGeom prst="bentConnector3">
              <a:avLst>
                <a:gd name="adj1" fmla="val 1580"/>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0" name="Elbow Connector 129"/>
            <p:cNvCxnSpPr/>
            <p:nvPr/>
          </p:nvCxnSpPr>
          <p:spPr>
            <a:xfrm>
              <a:off x="990602" y="2068819"/>
              <a:ext cx="839295" cy="780981"/>
            </a:xfrm>
            <a:prstGeom prst="bentConnector3">
              <a:avLst>
                <a:gd name="adj1" fmla="val 99715"/>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sp>
          <p:nvSpPr>
            <p:cNvPr id="21" name="AutoShape 12"/>
            <p:cNvSpPr>
              <a:spLocks noChangeArrowheads="1"/>
            </p:cNvSpPr>
            <p:nvPr/>
          </p:nvSpPr>
          <p:spPr bwMode="auto">
            <a:xfrm>
              <a:off x="2853371" y="1546632"/>
              <a:ext cx="3352974" cy="2438059"/>
            </a:xfrm>
            <a:prstGeom prst="roundRect">
              <a:avLst>
                <a:gd name="adj" fmla="val 5528"/>
              </a:avLst>
            </a:prstGeom>
            <a:ln>
              <a:headEnd/>
              <a:tailEnd type="none" w="lg" len="med"/>
            </a:ln>
          </p:spPr>
          <p:style>
            <a:lnRef idx="1">
              <a:schemeClr val="dk1"/>
            </a:lnRef>
            <a:fillRef idx="2">
              <a:schemeClr val="dk1"/>
            </a:fillRef>
            <a:effectRef idx="1">
              <a:schemeClr val="dk1"/>
            </a:effectRef>
            <a:fontRef idx="minor">
              <a:schemeClr val="dk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2" name="Text Box 14"/>
            <p:cNvSpPr txBox="1">
              <a:spLocks noChangeArrowheads="1"/>
            </p:cNvSpPr>
            <p:nvPr/>
          </p:nvSpPr>
          <p:spPr bwMode="auto">
            <a:xfrm>
              <a:off x="3210766" y="1872930"/>
              <a:ext cx="652423" cy="16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200" b="0" i="0" dirty="0">
                  <a:solidFill>
                    <a:srgbClr val="000000"/>
                  </a:solidFill>
                  <a:latin typeface="Arial" pitchFamily="34" charset="0"/>
                  <a:cs typeface="Arial" pitchFamily="34" charset="0"/>
                </a:rPr>
                <a:t>Внешние</a:t>
              </a:r>
            </a:p>
          </p:txBody>
        </p:sp>
        <p:sp>
          <p:nvSpPr>
            <p:cNvPr id="23" name="Text Box 15"/>
            <p:cNvSpPr txBox="1">
              <a:spLocks noChangeArrowheads="1"/>
            </p:cNvSpPr>
            <p:nvPr/>
          </p:nvSpPr>
          <p:spPr bwMode="auto">
            <a:xfrm>
              <a:off x="5191574" y="1855349"/>
              <a:ext cx="846386" cy="16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200" b="0" i="0" dirty="0">
                  <a:solidFill>
                    <a:srgbClr val="000000"/>
                  </a:solidFill>
                  <a:latin typeface="Arial" pitchFamily="34" charset="0"/>
                  <a:cs typeface="Arial" pitchFamily="34" charset="0"/>
                </a:rPr>
                <a:t>Внутренние</a:t>
              </a:r>
            </a:p>
          </p:txBody>
        </p:sp>
        <p:sp>
          <p:nvSpPr>
            <p:cNvPr id="24" name="Text Box 16"/>
            <p:cNvSpPr txBox="1">
              <a:spLocks noChangeArrowheads="1"/>
            </p:cNvSpPr>
            <p:nvPr/>
          </p:nvSpPr>
          <p:spPr bwMode="auto">
            <a:xfrm>
              <a:off x="4152298" y="2239678"/>
              <a:ext cx="851194" cy="16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200" b="0" i="0" dirty="0">
                  <a:solidFill>
                    <a:srgbClr val="000000"/>
                  </a:solidFill>
                  <a:latin typeface="Arial" pitchFamily="34" charset="0"/>
                  <a:cs typeface="Arial" pitchFamily="34" charset="0"/>
                </a:rPr>
                <a:t>Кэш-память</a:t>
              </a:r>
            </a:p>
          </p:txBody>
        </p:sp>
        <p:sp>
          <p:nvSpPr>
            <p:cNvPr id="25" name="Line 19"/>
            <p:cNvSpPr>
              <a:spLocks noChangeShapeType="1"/>
            </p:cNvSpPr>
            <p:nvPr/>
          </p:nvSpPr>
          <p:spPr bwMode="auto">
            <a:xfrm flipH="1">
              <a:off x="3852489" y="2843734"/>
              <a:ext cx="142384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26" name="Line 35"/>
            <p:cNvSpPr>
              <a:spLocks noChangeShapeType="1"/>
            </p:cNvSpPr>
            <p:nvPr/>
          </p:nvSpPr>
          <p:spPr bwMode="auto">
            <a:xfrm flipH="1">
              <a:off x="3852489" y="2973174"/>
              <a:ext cx="142384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27" name="Rectangle 38"/>
            <p:cNvSpPr>
              <a:spLocks noChangeArrowheads="1"/>
            </p:cNvSpPr>
            <p:nvPr/>
          </p:nvSpPr>
          <p:spPr bwMode="auto">
            <a:xfrm>
              <a:off x="4155866" y="2487772"/>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8" name="Rectangle 39"/>
            <p:cNvSpPr>
              <a:spLocks noChangeArrowheads="1"/>
            </p:cNvSpPr>
            <p:nvPr/>
          </p:nvSpPr>
          <p:spPr bwMode="auto">
            <a:xfrm>
              <a:off x="4265081" y="2487772"/>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9" name="Rectangle 40"/>
            <p:cNvSpPr>
              <a:spLocks noChangeArrowheads="1"/>
            </p:cNvSpPr>
            <p:nvPr/>
          </p:nvSpPr>
          <p:spPr bwMode="auto">
            <a:xfrm>
              <a:off x="4374297" y="2487772"/>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0" name="Rectangle 41"/>
            <p:cNvSpPr>
              <a:spLocks noChangeArrowheads="1"/>
            </p:cNvSpPr>
            <p:nvPr/>
          </p:nvSpPr>
          <p:spPr bwMode="auto">
            <a:xfrm>
              <a:off x="4483512" y="2487772"/>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1" name="Rectangle 42"/>
            <p:cNvSpPr>
              <a:spLocks noChangeArrowheads="1"/>
            </p:cNvSpPr>
            <p:nvPr/>
          </p:nvSpPr>
          <p:spPr bwMode="auto">
            <a:xfrm>
              <a:off x="4592728" y="2487772"/>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2" name="Rectangle 43"/>
            <p:cNvSpPr>
              <a:spLocks noChangeArrowheads="1"/>
            </p:cNvSpPr>
            <p:nvPr/>
          </p:nvSpPr>
          <p:spPr bwMode="auto">
            <a:xfrm>
              <a:off x="4701943" y="2487772"/>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3" name="Rectangle 44"/>
            <p:cNvSpPr>
              <a:spLocks noChangeArrowheads="1"/>
            </p:cNvSpPr>
            <p:nvPr/>
          </p:nvSpPr>
          <p:spPr bwMode="auto">
            <a:xfrm>
              <a:off x="4811158" y="2487772"/>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4" name="Rectangle 45"/>
            <p:cNvSpPr>
              <a:spLocks noChangeArrowheads="1"/>
            </p:cNvSpPr>
            <p:nvPr/>
          </p:nvSpPr>
          <p:spPr bwMode="auto">
            <a:xfrm>
              <a:off x="4920373" y="2487772"/>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5" name="Rectangle 34"/>
            <p:cNvSpPr>
              <a:spLocks noChangeArrowheads="1"/>
            </p:cNvSpPr>
            <p:nvPr/>
          </p:nvSpPr>
          <p:spPr bwMode="auto">
            <a:xfrm>
              <a:off x="4155866" y="2596988"/>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6" name="Rectangle 35"/>
            <p:cNvSpPr>
              <a:spLocks noChangeArrowheads="1"/>
            </p:cNvSpPr>
            <p:nvPr/>
          </p:nvSpPr>
          <p:spPr bwMode="auto">
            <a:xfrm>
              <a:off x="4265081" y="2596988"/>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7" name="Rectangle 36"/>
            <p:cNvSpPr>
              <a:spLocks noChangeArrowheads="1"/>
            </p:cNvSpPr>
            <p:nvPr/>
          </p:nvSpPr>
          <p:spPr bwMode="auto">
            <a:xfrm>
              <a:off x="4374297" y="2596988"/>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8" name="Rectangle 37"/>
            <p:cNvSpPr>
              <a:spLocks noChangeArrowheads="1"/>
            </p:cNvSpPr>
            <p:nvPr/>
          </p:nvSpPr>
          <p:spPr bwMode="auto">
            <a:xfrm>
              <a:off x="4483512" y="2596988"/>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9" name="Rectangle 38"/>
            <p:cNvSpPr>
              <a:spLocks noChangeArrowheads="1"/>
            </p:cNvSpPr>
            <p:nvPr/>
          </p:nvSpPr>
          <p:spPr bwMode="auto">
            <a:xfrm>
              <a:off x="4592728" y="2596988"/>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0" name="Rectangle 39"/>
            <p:cNvSpPr>
              <a:spLocks noChangeArrowheads="1"/>
            </p:cNvSpPr>
            <p:nvPr/>
          </p:nvSpPr>
          <p:spPr bwMode="auto">
            <a:xfrm>
              <a:off x="4701943" y="2596988"/>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1" name="Rectangle 40"/>
            <p:cNvSpPr>
              <a:spLocks noChangeArrowheads="1"/>
            </p:cNvSpPr>
            <p:nvPr/>
          </p:nvSpPr>
          <p:spPr bwMode="auto">
            <a:xfrm>
              <a:off x="4811158" y="2596988"/>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2" name="Rectangle 41"/>
            <p:cNvSpPr>
              <a:spLocks noChangeArrowheads="1"/>
            </p:cNvSpPr>
            <p:nvPr/>
          </p:nvSpPr>
          <p:spPr bwMode="auto">
            <a:xfrm>
              <a:off x="4920373" y="2596988"/>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3" name="Rectangle 56"/>
            <p:cNvSpPr>
              <a:spLocks noChangeArrowheads="1"/>
            </p:cNvSpPr>
            <p:nvPr/>
          </p:nvSpPr>
          <p:spPr bwMode="auto">
            <a:xfrm>
              <a:off x="4155866" y="2706203"/>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4" name="Rectangle 57"/>
            <p:cNvSpPr>
              <a:spLocks noChangeArrowheads="1"/>
            </p:cNvSpPr>
            <p:nvPr/>
          </p:nvSpPr>
          <p:spPr bwMode="auto">
            <a:xfrm>
              <a:off x="4265081" y="2706203"/>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5" name="Rectangle 58"/>
            <p:cNvSpPr>
              <a:spLocks noChangeArrowheads="1"/>
            </p:cNvSpPr>
            <p:nvPr/>
          </p:nvSpPr>
          <p:spPr bwMode="auto">
            <a:xfrm>
              <a:off x="4374297" y="2706203"/>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6" name="Rectangle 59"/>
            <p:cNvSpPr>
              <a:spLocks noChangeArrowheads="1"/>
            </p:cNvSpPr>
            <p:nvPr/>
          </p:nvSpPr>
          <p:spPr bwMode="auto">
            <a:xfrm>
              <a:off x="4483512" y="2706203"/>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7" name="Rectangle 60"/>
            <p:cNvSpPr>
              <a:spLocks noChangeArrowheads="1"/>
            </p:cNvSpPr>
            <p:nvPr/>
          </p:nvSpPr>
          <p:spPr bwMode="auto">
            <a:xfrm>
              <a:off x="4592728" y="2706203"/>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8" name="Rectangle 61"/>
            <p:cNvSpPr>
              <a:spLocks noChangeArrowheads="1"/>
            </p:cNvSpPr>
            <p:nvPr/>
          </p:nvSpPr>
          <p:spPr bwMode="auto">
            <a:xfrm>
              <a:off x="4701943" y="2706203"/>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9" name="Rectangle 62"/>
            <p:cNvSpPr>
              <a:spLocks noChangeArrowheads="1"/>
            </p:cNvSpPr>
            <p:nvPr/>
          </p:nvSpPr>
          <p:spPr bwMode="auto">
            <a:xfrm>
              <a:off x="4811158" y="2706203"/>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0" name="Rectangle 63"/>
            <p:cNvSpPr>
              <a:spLocks noChangeArrowheads="1"/>
            </p:cNvSpPr>
            <p:nvPr/>
          </p:nvSpPr>
          <p:spPr bwMode="auto">
            <a:xfrm>
              <a:off x="4920373" y="2706203"/>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1" name="Rectangle 65"/>
            <p:cNvSpPr>
              <a:spLocks noChangeArrowheads="1"/>
            </p:cNvSpPr>
            <p:nvPr/>
          </p:nvSpPr>
          <p:spPr bwMode="auto">
            <a:xfrm>
              <a:off x="4155866" y="2815419"/>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2" name="Rectangle 66"/>
            <p:cNvSpPr>
              <a:spLocks noChangeArrowheads="1"/>
            </p:cNvSpPr>
            <p:nvPr/>
          </p:nvSpPr>
          <p:spPr bwMode="auto">
            <a:xfrm>
              <a:off x="4265081" y="2815419"/>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3" name="Rectangle 67"/>
            <p:cNvSpPr>
              <a:spLocks noChangeArrowheads="1"/>
            </p:cNvSpPr>
            <p:nvPr/>
          </p:nvSpPr>
          <p:spPr bwMode="auto">
            <a:xfrm>
              <a:off x="4374297" y="2815419"/>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4" name="Rectangle 68"/>
            <p:cNvSpPr>
              <a:spLocks noChangeArrowheads="1"/>
            </p:cNvSpPr>
            <p:nvPr/>
          </p:nvSpPr>
          <p:spPr bwMode="auto">
            <a:xfrm>
              <a:off x="4483512" y="2815419"/>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5" name="Rectangle 69"/>
            <p:cNvSpPr>
              <a:spLocks noChangeArrowheads="1"/>
            </p:cNvSpPr>
            <p:nvPr/>
          </p:nvSpPr>
          <p:spPr bwMode="auto">
            <a:xfrm>
              <a:off x="4592728" y="2815419"/>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6" name="Rectangle 70"/>
            <p:cNvSpPr>
              <a:spLocks noChangeArrowheads="1"/>
            </p:cNvSpPr>
            <p:nvPr/>
          </p:nvSpPr>
          <p:spPr bwMode="auto">
            <a:xfrm>
              <a:off x="4701943" y="2815419"/>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7" name="Rectangle 71"/>
            <p:cNvSpPr>
              <a:spLocks noChangeArrowheads="1"/>
            </p:cNvSpPr>
            <p:nvPr/>
          </p:nvSpPr>
          <p:spPr bwMode="auto">
            <a:xfrm>
              <a:off x="4811158" y="2815419"/>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8" name="Rectangle 72"/>
            <p:cNvSpPr>
              <a:spLocks noChangeArrowheads="1"/>
            </p:cNvSpPr>
            <p:nvPr/>
          </p:nvSpPr>
          <p:spPr bwMode="auto">
            <a:xfrm>
              <a:off x="4920373" y="2815419"/>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9" name="Rectangle 74"/>
            <p:cNvSpPr>
              <a:spLocks noChangeArrowheads="1"/>
            </p:cNvSpPr>
            <p:nvPr/>
          </p:nvSpPr>
          <p:spPr bwMode="auto">
            <a:xfrm>
              <a:off x="4155866" y="2924634"/>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0" name="Rectangle 75"/>
            <p:cNvSpPr>
              <a:spLocks noChangeArrowheads="1"/>
            </p:cNvSpPr>
            <p:nvPr/>
          </p:nvSpPr>
          <p:spPr bwMode="auto">
            <a:xfrm>
              <a:off x="4265081" y="2924634"/>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1" name="Rectangle 76"/>
            <p:cNvSpPr>
              <a:spLocks noChangeArrowheads="1"/>
            </p:cNvSpPr>
            <p:nvPr/>
          </p:nvSpPr>
          <p:spPr bwMode="auto">
            <a:xfrm>
              <a:off x="4374297" y="2924634"/>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2" name="Rectangle 77"/>
            <p:cNvSpPr>
              <a:spLocks noChangeArrowheads="1"/>
            </p:cNvSpPr>
            <p:nvPr/>
          </p:nvSpPr>
          <p:spPr bwMode="auto">
            <a:xfrm>
              <a:off x="4483512" y="2924634"/>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3" name="Rectangle 78"/>
            <p:cNvSpPr>
              <a:spLocks noChangeArrowheads="1"/>
            </p:cNvSpPr>
            <p:nvPr/>
          </p:nvSpPr>
          <p:spPr bwMode="auto">
            <a:xfrm>
              <a:off x="4592728" y="2924634"/>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4" name="Rectangle 79"/>
            <p:cNvSpPr>
              <a:spLocks noChangeArrowheads="1"/>
            </p:cNvSpPr>
            <p:nvPr/>
          </p:nvSpPr>
          <p:spPr bwMode="auto">
            <a:xfrm>
              <a:off x="4701943" y="2924634"/>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5" name="Rectangle 80"/>
            <p:cNvSpPr>
              <a:spLocks noChangeArrowheads="1"/>
            </p:cNvSpPr>
            <p:nvPr/>
          </p:nvSpPr>
          <p:spPr bwMode="auto">
            <a:xfrm>
              <a:off x="4811158" y="2924634"/>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6" name="Rectangle 81"/>
            <p:cNvSpPr>
              <a:spLocks noChangeArrowheads="1"/>
            </p:cNvSpPr>
            <p:nvPr/>
          </p:nvSpPr>
          <p:spPr bwMode="auto">
            <a:xfrm>
              <a:off x="4920373" y="2924634"/>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7" name="Rectangle 83"/>
            <p:cNvSpPr>
              <a:spLocks noChangeArrowheads="1"/>
            </p:cNvSpPr>
            <p:nvPr/>
          </p:nvSpPr>
          <p:spPr bwMode="auto">
            <a:xfrm>
              <a:off x="4155866" y="3033850"/>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8" name="Rectangle 84"/>
            <p:cNvSpPr>
              <a:spLocks noChangeArrowheads="1"/>
            </p:cNvSpPr>
            <p:nvPr/>
          </p:nvSpPr>
          <p:spPr bwMode="auto">
            <a:xfrm>
              <a:off x="4265081" y="3033850"/>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9" name="Rectangle 85"/>
            <p:cNvSpPr>
              <a:spLocks noChangeArrowheads="1"/>
            </p:cNvSpPr>
            <p:nvPr/>
          </p:nvSpPr>
          <p:spPr bwMode="auto">
            <a:xfrm>
              <a:off x="4374297" y="3033850"/>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0" name="Rectangle 86"/>
            <p:cNvSpPr>
              <a:spLocks noChangeArrowheads="1"/>
            </p:cNvSpPr>
            <p:nvPr/>
          </p:nvSpPr>
          <p:spPr bwMode="auto">
            <a:xfrm>
              <a:off x="4483512" y="3033850"/>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1" name="Rectangle 87"/>
            <p:cNvSpPr>
              <a:spLocks noChangeArrowheads="1"/>
            </p:cNvSpPr>
            <p:nvPr/>
          </p:nvSpPr>
          <p:spPr bwMode="auto">
            <a:xfrm>
              <a:off x="4592728" y="3033850"/>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2" name="Rectangle 88"/>
            <p:cNvSpPr>
              <a:spLocks noChangeArrowheads="1"/>
            </p:cNvSpPr>
            <p:nvPr/>
          </p:nvSpPr>
          <p:spPr bwMode="auto">
            <a:xfrm>
              <a:off x="4701943" y="3033850"/>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3" name="Rectangle 89"/>
            <p:cNvSpPr>
              <a:spLocks noChangeArrowheads="1"/>
            </p:cNvSpPr>
            <p:nvPr/>
          </p:nvSpPr>
          <p:spPr bwMode="auto">
            <a:xfrm>
              <a:off x="4811158" y="3033850"/>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4" name="Rectangle 90"/>
            <p:cNvSpPr>
              <a:spLocks noChangeArrowheads="1"/>
            </p:cNvSpPr>
            <p:nvPr/>
          </p:nvSpPr>
          <p:spPr bwMode="auto">
            <a:xfrm>
              <a:off x="4920373" y="3033850"/>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5" name="Rectangle 92"/>
            <p:cNvSpPr>
              <a:spLocks noChangeArrowheads="1"/>
            </p:cNvSpPr>
            <p:nvPr/>
          </p:nvSpPr>
          <p:spPr bwMode="auto">
            <a:xfrm>
              <a:off x="4155866" y="3143065"/>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6" name="Rectangle 93"/>
            <p:cNvSpPr>
              <a:spLocks noChangeArrowheads="1"/>
            </p:cNvSpPr>
            <p:nvPr/>
          </p:nvSpPr>
          <p:spPr bwMode="auto">
            <a:xfrm>
              <a:off x="4265081" y="3143065"/>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7" name="Rectangle 94"/>
            <p:cNvSpPr>
              <a:spLocks noChangeArrowheads="1"/>
            </p:cNvSpPr>
            <p:nvPr/>
          </p:nvSpPr>
          <p:spPr bwMode="auto">
            <a:xfrm>
              <a:off x="4374297" y="3143065"/>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8" name="Rectangle 95"/>
            <p:cNvSpPr>
              <a:spLocks noChangeArrowheads="1"/>
            </p:cNvSpPr>
            <p:nvPr/>
          </p:nvSpPr>
          <p:spPr bwMode="auto">
            <a:xfrm>
              <a:off x="4483512" y="3143065"/>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9" name="Rectangle 96"/>
            <p:cNvSpPr>
              <a:spLocks noChangeArrowheads="1"/>
            </p:cNvSpPr>
            <p:nvPr/>
          </p:nvSpPr>
          <p:spPr bwMode="auto">
            <a:xfrm>
              <a:off x="4592728" y="3143065"/>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80" name="Rectangle 97"/>
            <p:cNvSpPr>
              <a:spLocks noChangeArrowheads="1"/>
            </p:cNvSpPr>
            <p:nvPr/>
          </p:nvSpPr>
          <p:spPr bwMode="auto">
            <a:xfrm>
              <a:off x="4701943" y="3143065"/>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81" name="Rectangle 98"/>
            <p:cNvSpPr>
              <a:spLocks noChangeArrowheads="1"/>
            </p:cNvSpPr>
            <p:nvPr/>
          </p:nvSpPr>
          <p:spPr bwMode="auto">
            <a:xfrm>
              <a:off x="4811158" y="3143065"/>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82" name="Rectangle 99"/>
            <p:cNvSpPr>
              <a:spLocks noChangeArrowheads="1"/>
            </p:cNvSpPr>
            <p:nvPr/>
          </p:nvSpPr>
          <p:spPr bwMode="auto">
            <a:xfrm>
              <a:off x="4920373" y="3143065"/>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83" name="Rectangle 101"/>
            <p:cNvSpPr>
              <a:spLocks noChangeArrowheads="1"/>
            </p:cNvSpPr>
            <p:nvPr/>
          </p:nvSpPr>
          <p:spPr bwMode="auto">
            <a:xfrm>
              <a:off x="4155866" y="3252281"/>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84" name="Rectangle 102"/>
            <p:cNvSpPr>
              <a:spLocks noChangeArrowheads="1"/>
            </p:cNvSpPr>
            <p:nvPr/>
          </p:nvSpPr>
          <p:spPr bwMode="auto">
            <a:xfrm>
              <a:off x="4265081" y="3252281"/>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85" name="Rectangle 103"/>
            <p:cNvSpPr>
              <a:spLocks noChangeArrowheads="1"/>
            </p:cNvSpPr>
            <p:nvPr/>
          </p:nvSpPr>
          <p:spPr bwMode="auto">
            <a:xfrm>
              <a:off x="4374297" y="3252281"/>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86" name="Rectangle 104"/>
            <p:cNvSpPr>
              <a:spLocks noChangeArrowheads="1"/>
            </p:cNvSpPr>
            <p:nvPr/>
          </p:nvSpPr>
          <p:spPr bwMode="auto">
            <a:xfrm>
              <a:off x="4483512" y="3252281"/>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87" name="Rectangle 105"/>
            <p:cNvSpPr>
              <a:spLocks noChangeArrowheads="1"/>
            </p:cNvSpPr>
            <p:nvPr/>
          </p:nvSpPr>
          <p:spPr bwMode="auto">
            <a:xfrm>
              <a:off x="4592728" y="3252281"/>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88" name="Rectangle 106"/>
            <p:cNvSpPr>
              <a:spLocks noChangeArrowheads="1"/>
            </p:cNvSpPr>
            <p:nvPr/>
          </p:nvSpPr>
          <p:spPr bwMode="auto">
            <a:xfrm>
              <a:off x="4701943" y="3252281"/>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89" name="Rectangle 107"/>
            <p:cNvSpPr>
              <a:spLocks noChangeArrowheads="1"/>
            </p:cNvSpPr>
            <p:nvPr/>
          </p:nvSpPr>
          <p:spPr bwMode="auto">
            <a:xfrm>
              <a:off x="4811158" y="3252281"/>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90" name="Rectangle 108"/>
            <p:cNvSpPr>
              <a:spLocks noChangeArrowheads="1"/>
            </p:cNvSpPr>
            <p:nvPr/>
          </p:nvSpPr>
          <p:spPr bwMode="auto">
            <a:xfrm>
              <a:off x="4920373" y="3252281"/>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91" name="Line 110"/>
            <p:cNvSpPr>
              <a:spLocks noChangeShapeType="1"/>
            </p:cNvSpPr>
            <p:nvPr/>
          </p:nvSpPr>
          <p:spPr bwMode="auto">
            <a:xfrm>
              <a:off x="6012695" y="3428235"/>
              <a:ext cx="387300"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92" name="Line 111"/>
            <p:cNvSpPr>
              <a:spLocks noChangeShapeType="1"/>
            </p:cNvSpPr>
            <p:nvPr/>
          </p:nvSpPr>
          <p:spPr bwMode="auto">
            <a:xfrm>
              <a:off x="6309989" y="2688826"/>
              <a:ext cx="0" cy="172285"/>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93" name="Line 114"/>
            <p:cNvSpPr>
              <a:spLocks noChangeShapeType="1"/>
            </p:cNvSpPr>
            <p:nvPr/>
          </p:nvSpPr>
          <p:spPr bwMode="auto">
            <a:xfrm>
              <a:off x="5904171" y="2386647"/>
              <a:ext cx="48961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94" name="Line 115"/>
            <p:cNvSpPr>
              <a:spLocks noChangeShapeType="1"/>
            </p:cNvSpPr>
            <p:nvPr/>
          </p:nvSpPr>
          <p:spPr bwMode="auto">
            <a:xfrm>
              <a:off x="6385240" y="2779014"/>
              <a:ext cx="25483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95" name="Line 116"/>
            <p:cNvSpPr>
              <a:spLocks noChangeShapeType="1"/>
            </p:cNvSpPr>
            <p:nvPr/>
          </p:nvSpPr>
          <p:spPr bwMode="auto">
            <a:xfrm>
              <a:off x="6302959" y="2849801"/>
              <a:ext cx="34409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96" name="Line 117"/>
            <p:cNvSpPr>
              <a:spLocks noChangeShapeType="1"/>
            </p:cNvSpPr>
            <p:nvPr/>
          </p:nvSpPr>
          <p:spPr bwMode="auto">
            <a:xfrm>
              <a:off x="6386691" y="2977219"/>
              <a:ext cx="25483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97" name="Line 118"/>
            <p:cNvSpPr>
              <a:spLocks noChangeShapeType="1"/>
            </p:cNvSpPr>
            <p:nvPr/>
          </p:nvSpPr>
          <p:spPr bwMode="auto">
            <a:xfrm>
              <a:off x="6052573" y="2698115"/>
              <a:ext cx="261578"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98" name="Line 119"/>
            <p:cNvSpPr>
              <a:spLocks noChangeShapeType="1"/>
            </p:cNvSpPr>
            <p:nvPr/>
          </p:nvSpPr>
          <p:spPr bwMode="auto">
            <a:xfrm flipV="1">
              <a:off x="6058640" y="3116771"/>
              <a:ext cx="261578"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99" name="Line 120"/>
            <p:cNvSpPr>
              <a:spLocks noChangeShapeType="1"/>
            </p:cNvSpPr>
            <p:nvPr/>
          </p:nvSpPr>
          <p:spPr bwMode="auto">
            <a:xfrm>
              <a:off x="6307003" y="2914521"/>
              <a:ext cx="358928"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00" name="Line 123"/>
            <p:cNvSpPr>
              <a:spLocks noChangeShapeType="1"/>
            </p:cNvSpPr>
            <p:nvPr/>
          </p:nvSpPr>
          <p:spPr bwMode="auto">
            <a:xfrm>
              <a:off x="6390063" y="2379365"/>
              <a:ext cx="0" cy="40557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01" name="Line 124"/>
            <p:cNvSpPr>
              <a:spLocks noChangeShapeType="1"/>
            </p:cNvSpPr>
            <p:nvPr/>
          </p:nvSpPr>
          <p:spPr bwMode="auto">
            <a:xfrm>
              <a:off x="6307700" y="2912498"/>
              <a:ext cx="0" cy="214548"/>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02" name="Rectangle 126"/>
            <p:cNvSpPr>
              <a:spLocks noChangeArrowheads="1"/>
            </p:cNvSpPr>
            <p:nvPr/>
          </p:nvSpPr>
          <p:spPr bwMode="auto">
            <a:xfrm>
              <a:off x="5281728" y="2111586"/>
              <a:ext cx="666079" cy="1589691"/>
            </a:xfrm>
            <a:prstGeom prst="rect">
              <a:avLst/>
            </a:prstGeom>
            <a:ln>
              <a:headEnd/>
              <a:tailEnd type="none" w="lg" len="me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03" name="Rectangle 130"/>
            <p:cNvSpPr>
              <a:spLocks noChangeArrowheads="1"/>
            </p:cNvSpPr>
            <p:nvPr/>
          </p:nvSpPr>
          <p:spPr bwMode="auto">
            <a:xfrm>
              <a:off x="5947808" y="2317882"/>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04" name="Rectangle 131"/>
            <p:cNvSpPr>
              <a:spLocks noChangeArrowheads="1"/>
            </p:cNvSpPr>
            <p:nvPr/>
          </p:nvSpPr>
          <p:spPr bwMode="auto">
            <a:xfrm>
              <a:off x="5947808" y="2630696"/>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05" name="Rectangle 133"/>
            <p:cNvSpPr>
              <a:spLocks noChangeArrowheads="1"/>
            </p:cNvSpPr>
            <p:nvPr/>
          </p:nvSpPr>
          <p:spPr bwMode="auto">
            <a:xfrm>
              <a:off x="5947808" y="3052727"/>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06" name="Rectangle 134"/>
            <p:cNvSpPr>
              <a:spLocks noChangeArrowheads="1"/>
            </p:cNvSpPr>
            <p:nvPr/>
          </p:nvSpPr>
          <p:spPr bwMode="auto">
            <a:xfrm>
              <a:off x="5947808" y="3365541"/>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07" name="Rectangle 136"/>
            <p:cNvSpPr>
              <a:spLocks noChangeArrowheads="1"/>
            </p:cNvSpPr>
            <p:nvPr/>
          </p:nvSpPr>
          <p:spPr bwMode="auto">
            <a:xfrm>
              <a:off x="3203939" y="2251814"/>
              <a:ext cx="335736" cy="612146"/>
            </a:xfrm>
            <a:prstGeom prst="rect">
              <a:avLst/>
            </a:prstGeom>
            <a:gradFill rotWithShape="1">
              <a:gsLst>
                <a:gs pos="0">
                  <a:srgbClr val="86BAB5"/>
                </a:gs>
                <a:gs pos="100000">
                  <a:srgbClr val="86BAB5">
                    <a:gamma/>
                    <a:shade val="67843"/>
                    <a:invGamma/>
                  </a:srgbClr>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sz="1400">
                <a:latin typeface="Arial" pitchFamily="34" charset="0"/>
                <a:ea typeface="Verdana" panose="020B0604030504040204" pitchFamily="34" charset="0"/>
                <a:cs typeface="Arial" pitchFamily="34" charset="0"/>
              </a:endParaRPr>
            </a:p>
          </p:txBody>
        </p:sp>
        <p:sp>
          <p:nvSpPr>
            <p:cNvPr id="108" name="Rectangle 137"/>
            <p:cNvSpPr>
              <a:spLocks noChangeArrowheads="1"/>
            </p:cNvSpPr>
            <p:nvPr/>
          </p:nvSpPr>
          <p:spPr bwMode="auto">
            <a:xfrm>
              <a:off x="3203939" y="2985310"/>
              <a:ext cx="335736" cy="612146"/>
            </a:xfrm>
            <a:prstGeom prst="rect">
              <a:avLst/>
            </a:prstGeom>
            <a:gradFill rotWithShape="1">
              <a:gsLst>
                <a:gs pos="0">
                  <a:srgbClr val="86BAB5"/>
                </a:gs>
                <a:gs pos="100000">
                  <a:srgbClr val="86BAB5">
                    <a:gamma/>
                    <a:shade val="67843"/>
                    <a:invGamma/>
                  </a:srgbClr>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sz="1400">
                <a:latin typeface="Arial" pitchFamily="34" charset="0"/>
                <a:ea typeface="Verdana" panose="020B0604030504040204" pitchFamily="34" charset="0"/>
                <a:cs typeface="Arial" pitchFamily="34" charset="0"/>
              </a:endParaRPr>
            </a:p>
          </p:txBody>
        </p:sp>
        <p:sp>
          <p:nvSpPr>
            <p:cNvPr id="109" name="Rectangle 138"/>
            <p:cNvSpPr>
              <a:spLocks noChangeArrowheads="1"/>
            </p:cNvSpPr>
            <p:nvPr/>
          </p:nvSpPr>
          <p:spPr bwMode="auto">
            <a:xfrm>
              <a:off x="3075846" y="2336758"/>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10" name="Rectangle 139"/>
            <p:cNvSpPr>
              <a:spLocks noChangeArrowheads="1"/>
            </p:cNvSpPr>
            <p:nvPr/>
          </p:nvSpPr>
          <p:spPr bwMode="auto">
            <a:xfrm>
              <a:off x="3075846" y="2649573"/>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11" name="Rectangle 141"/>
            <p:cNvSpPr>
              <a:spLocks noChangeArrowheads="1"/>
            </p:cNvSpPr>
            <p:nvPr/>
          </p:nvSpPr>
          <p:spPr bwMode="auto">
            <a:xfrm>
              <a:off x="3075846" y="3071604"/>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12" name="Rectangle 142"/>
            <p:cNvSpPr>
              <a:spLocks noChangeArrowheads="1"/>
            </p:cNvSpPr>
            <p:nvPr/>
          </p:nvSpPr>
          <p:spPr bwMode="auto">
            <a:xfrm>
              <a:off x="3075846" y="3384418"/>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13" name="Rectangle 143"/>
            <p:cNvSpPr>
              <a:spLocks noChangeArrowheads="1"/>
            </p:cNvSpPr>
            <p:nvPr/>
          </p:nvSpPr>
          <p:spPr bwMode="auto">
            <a:xfrm>
              <a:off x="3203939" y="2130463"/>
              <a:ext cx="666079" cy="1589691"/>
            </a:xfrm>
            <a:prstGeom prst="rect">
              <a:avLst/>
            </a:prstGeom>
            <a:ln>
              <a:headEnd/>
              <a:tailEnd type="none" w="lg" len="me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14" name="TextBox 113"/>
            <p:cNvSpPr txBox="1"/>
            <p:nvPr/>
          </p:nvSpPr>
          <p:spPr>
            <a:xfrm>
              <a:off x="3975902" y="1247775"/>
              <a:ext cx="1030860" cy="276999"/>
            </a:xfrm>
            <a:prstGeom prst="rect">
              <a:avLst/>
            </a:prstGeom>
            <a:noFill/>
          </p:spPr>
          <p:txBody>
            <a:bodyPr wrap="none" rtlCol="0">
              <a:spAutoFit/>
            </a:bodyPr>
            <a:lstStyle/>
            <a:p>
              <a:r>
                <a:rPr lang="ru-RU" sz="1200" b="0" i="0" dirty="0">
                  <a:solidFill>
                    <a:srgbClr val="000000"/>
                  </a:solidFill>
                  <a:latin typeface="Arial" pitchFamily="34" charset="0"/>
                  <a:cs typeface="Arial" pitchFamily="34" charset="0"/>
                </a:rPr>
                <a:t>Контроллер</a:t>
              </a:r>
            </a:p>
          </p:txBody>
        </p:sp>
        <p:sp>
          <p:nvSpPr>
            <p:cNvPr id="115" name="Text Box 17"/>
            <p:cNvSpPr txBox="1">
              <a:spLocks noChangeArrowheads="1"/>
            </p:cNvSpPr>
            <p:nvPr/>
          </p:nvSpPr>
          <p:spPr bwMode="auto">
            <a:xfrm>
              <a:off x="6276927" y="1733550"/>
              <a:ext cx="1858245" cy="332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0" indent="0" algn="ctr">
                <a:lnSpc>
                  <a:spcPct val="90000"/>
                </a:lnSpc>
                <a:spcBef>
                  <a:spcPts val="0"/>
                </a:spcBef>
              </a:pPr>
              <a:r>
                <a:rPr lang="ru-RU" sz="1200" b="0" i="0" dirty="0">
                  <a:solidFill>
                    <a:srgbClr val="000000"/>
                  </a:solidFill>
                  <a:latin typeface="Arial" pitchFamily="34" charset="0"/>
                  <a:cs typeface="Arial" pitchFamily="34" charset="0"/>
                </a:rPr>
                <a:t>Система хранения</a:t>
              </a:r>
              <a:br>
                <a:rPr lang="en-US" sz="1200" b="0" i="0" dirty="0">
                  <a:solidFill>
                    <a:srgbClr val="FF00FF"/>
                  </a:solidFill>
                  <a:latin typeface="Arial" pitchFamily="34" charset="0"/>
                  <a:cs typeface="Arial" pitchFamily="34" charset="0"/>
                </a:rPr>
              </a:br>
              <a:r>
                <a:rPr lang="ru-RU" sz="1200" b="0" i="0" dirty="0">
                  <a:solidFill>
                    <a:srgbClr val="000000"/>
                  </a:solidFill>
                  <a:latin typeface="Arial" pitchFamily="34" charset="0"/>
                  <a:cs typeface="Arial" pitchFamily="34" charset="0"/>
                </a:rPr>
                <a:t>(набор массивов RAID)</a:t>
              </a:r>
            </a:p>
          </p:txBody>
        </p:sp>
        <p:cxnSp>
          <p:nvCxnSpPr>
            <p:cNvPr id="116" name="Elbow Connector 115"/>
            <p:cNvCxnSpPr>
              <a:endCxn id="112" idx="1"/>
            </p:cNvCxnSpPr>
            <p:nvPr/>
          </p:nvCxnSpPr>
          <p:spPr>
            <a:xfrm>
              <a:off x="2102300" y="3027677"/>
              <a:ext cx="973546" cy="420787"/>
            </a:xfrm>
            <a:prstGeom prst="bentConnector3">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17" name="Elbow Connector 116"/>
            <p:cNvCxnSpPr>
              <a:stCxn id="111" idx="1"/>
            </p:cNvCxnSpPr>
            <p:nvPr/>
          </p:nvCxnSpPr>
          <p:spPr>
            <a:xfrm rot="10800000">
              <a:off x="2121615" y="2942639"/>
              <a:ext cx="954232" cy="193011"/>
            </a:xfrm>
            <a:prstGeom prst="bentConnector3">
              <a:avLst>
                <a:gd name="adj1" fmla="val 45337"/>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18" name="Elbow Connector 117"/>
            <p:cNvCxnSpPr>
              <a:stCxn id="109" idx="1"/>
            </p:cNvCxnSpPr>
            <p:nvPr/>
          </p:nvCxnSpPr>
          <p:spPr>
            <a:xfrm rot="10800000" flipV="1">
              <a:off x="2110386" y="2400804"/>
              <a:ext cx="965461" cy="377157"/>
            </a:xfrm>
            <a:prstGeom prst="bentConnector3">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19" name="Elbow Connector 118"/>
            <p:cNvCxnSpPr>
              <a:stCxn id="110" idx="1"/>
            </p:cNvCxnSpPr>
            <p:nvPr/>
          </p:nvCxnSpPr>
          <p:spPr>
            <a:xfrm rot="10800000" flipV="1">
              <a:off x="2138231" y="2713619"/>
              <a:ext cx="937615" cy="142632"/>
            </a:xfrm>
            <a:prstGeom prst="bentConnector3">
              <a:avLst>
                <a:gd name="adj1" fmla="val 45686"/>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sp>
          <p:nvSpPr>
            <p:cNvPr id="120" name="Line 123"/>
            <p:cNvSpPr>
              <a:spLocks noChangeShapeType="1"/>
            </p:cNvSpPr>
            <p:nvPr/>
          </p:nvSpPr>
          <p:spPr bwMode="auto">
            <a:xfrm>
              <a:off x="6388076" y="2967853"/>
              <a:ext cx="0" cy="469869"/>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21" name="AutoShape 13"/>
            <p:cNvSpPr>
              <a:spLocks noChangeArrowheads="1"/>
            </p:cNvSpPr>
            <p:nvPr/>
          </p:nvSpPr>
          <p:spPr bwMode="auto">
            <a:xfrm>
              <a:off x="6620629" y="2130463"/>
              <a:ext cx="1178448" cy="1586994"/>
            </a:xfrm>
            <a:prstGeom prst="roundRect">
              <a:avLst>
                <a:gd name="adj" fmla="val 11657"/>
              </a:avLst>
            </a:prstGeom>
            <a:ln>
              <a:headEnd/>
              <a:tailEnd type="none" w="lg" len="med"/>
            </a:ln>
          </p:spPr>
          <p:style>
            <a:lnRef idx="1">
              <a:schemeClr val="dk1"/>
            </a:lnRef>
            <a:fillRef idx="1002">
              <a:schemeClr val="lt1"/>
            </a:fillRef>
            <a:effectRef idx="1">
              <a:schemeClr val="dk1"/>
            </a:effectRef>
            <a:fontRef idx="minor">
              <a:schemeClr val="dk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22" name="Rectangle 127"/>
            <p:cNvSpPr>
              <a:spLocks noChangeArrowheads="1"/>
            </p:cNvSpPr>
            <p:nvPr/>
          </p:nvSpPr>
          <p:spPr bwMode="auto">
            <a:xfrm>
              <a:off x="5612072" y="2232937"/>
              <a:ext cx="335736" cy="612146"/>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23" name="Rectangle 128"/>
            <p:cNvSpPr>
              <a:spLocks noChangeArrowheads="1"/>
            </p:cNvSpPr>
            <p:nvPr/>
          </p:nvSpPr>
          <p:spPr bwMode="auto">
            <a:xfrm>
              <a:off x="5612072" y="2966433"/>
              <a:ext cx="335736" cy="612146"/>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24" name="Rectangle 144"/>
            <p:cNvSpPr>
              <a:spLocks noChangeArrowheads="1"/>
            </p:cNvSpPr>
            <p:nvPr/>
          </p:nvSpPr>
          <p:spPr bwMode="auto">
            <a:xfrm>
              <a:off x="3201242" y="2973174"/>
              <a:ext cx="335736" cy="612146"/>
            </a:xfrm>
            <a:prstGeom prst="rect">
              <a:avLst/>
            </a:prstGeom>
            <a:ln>
              <a:headEnd/>
              <a:tailEnd type="none" w="lg" len="med"/>
            </a:ln>
          </p:spPr>
          <p:style>
            <a:lnRef idx="0">
              <a:schemeClr val="accent2"/>
            </a:lnRef>
            <a:fillRef idx="1001">
              <a:schemeClr val="lt2"/>
            </a:fillRef>
            <a:effectRef idx="3">
              <a:schemeClr val="accent2"/>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25" name="Rectangle 145"/>
            <p:cNvSpPr>
              <a:spLocks noChangeArrowheads="1"/>
            </p:cNvSpPr>
            <p:nvPr/>
          </p:nvSpPr>
          <p:spPr bwMode="auto">
            <a:xfrm>
              <a:off x="3201242" y="2231588"/>
              <a:ext cx="335736" cy="612146"/>
            </a:xfrm>
            <a:prstGeom prst="rect">
              <a:avLst/>
            </a:prstGeom>
            <a:ln>
              <a:headEnd/>
              <a:tailEnd type="none" w="lg" len="med"/>
            </a:ln>
          </p:spPr>
          <p:style>
            <a:lnRef idx="0">
              <a:schemeClr val="accent2"/>
            </a:lnRef>
            <a:fillRef idx="1001">
              <a:schemeClr val="lt2"/>
            </a:fillRef>
            <a:effectRef idx="3">
              <a:schemeClr val="accent2"/>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grpSp>
          <p:nvGrpSpPr>
            <p:cNvPr id="126" name="Group 125"/>
            <p:cNvGrpSpPr/>
            <p:nvPr/>
          </p:nvGrpSpPr>
          <p:grpSpPr>
            <a:xfrm>
              <a:off x="1414558" y="2630827"/>
              <a:ext cx="833294" cy="504817"/>
              <a:chOff x="1269783" y="3359001"/>
              <a:chExt cx="981099" cy="594360"/>
            </a:xfrm>
          </p:grpSpPr>
          <p:pic>
            <p:nvPicPr>
              <p:cNvPr id="127" name="Picture 14"/>
              <p:cNvPicPr>
                <a:picLocks noChangeAspect="1" noChangeArrowheads="1"/>
              </p:cNvPicPr>
              <p:nvPr/>
            </p:nvPicPr>
            <p:blipFill>
              <a:blip r:embed="rId4" cstate="print"/>
              <a:srcRect/>
              <a:stretch>
                <a:fillRect/>
              </a:stretch>
            </p:blipFill>
            <p:spPr bwMode="auto">
              <a:xfrm>
                <a:off x="1300594" y="3359001"/>
                <a:ext cx="916395" cy="594360"/>
              </a:xfrm>
              <a:prstGeom prst="rect">
                <a:avLst/>
              </a:prstGeom>
              <a:noFill/>
              <a:ln w="9525">
                <a:noFill/>
                <a:miter lim="800000"/>
                <a:headEnd/>
                <a:tailEnd/>
              </a:ln>
              <a:effectLst/>
            </p:spPr>
          </p:pic>
          <p:sp>
            <p:nvSpPr>
              <p:cNvPr id="128" name="TextBox 127"/>
              <p:cNvSpPr txBox="1"/>
              <p:nvPr/>
            </p:nvSpPr>
            <p:spPr>
              <a:xfrm>
                <a:off x="1269783" y="3440351"/>
                <a:ext cx="981099" cy="398606"/>
              </a:xfrm>
              <a:prstGeom prst="rect">
                <a:avLst/>
              </a:prstGeom>
              <a:noFill/>
            </p:spPr>
            <p:txBody>
              <a:bodyPr wrap="square" rtlCol="0">
                <a:spAutoFit/>
              </a:bodyPr>
              <a:lstStyle/>
              <a:p>
                <a:pPr algn="ctr"/>
                <a:r>
                  <a:rPr lang="ru-RU" sz="800" b="1" i="0" dirty="0">
                    <a:solidFill>
                      <a:srgbClr val="000000"/>
                    </a:solidFill>
                    <a:latin typeface="Arial" pitchFamily="34" charset="0"/>
                    <a:cs typeface="Arial" pitchFamily="34" charset="0"/>
                  </a:rPr>
                  <a:t>Сеть хранения</a:t>
                </a:r>
              </a:p>
            </p:txBody>
          </p:sp>
        </p:grpSp>
        <p:pic>
          <p:nvPicPr>
            <p:cNvPr id="129" name="Picture 28" descr="C:\Users\patils1\Desktop\2013 Projects\CIS v2\CIS Slide Deck_Based on Book\Colored Graphics\Physical Compute System With Hypervisor.png"/>
            <p:cNvPicPr>
              <a:picLocks noChangeAspect="1" noChangeArrowheads="1"/>
            </p:cNvPicPr>
            <p:nvPr/>
          </p:nvPicPr>
          <p:blipFill>
            <a:blip r:embed="rId5"/>
            <a:stretch>
              <a:fillRect/>
            </a:stretch>
          </p:blipFill>
          <p:spPr bwMode="auto">
            <a:xfrm>
              <a:off x="154462" y="3570049"/>
              <a:ext cx="931886" cy="906701"/>
            </a:xfrm>
            <a:prstGeom prst="rect">
              <a:avLst/>
            </a:prstGeom>
            <a:noFill/>
            <a:extLst>
              <a:ext uri="{909E8E84-426E-40DD-AFC4-6F175D3DCCD1}">
                <a14:hiddenFill xmlns:a14="http://schemas.microsoft.com/office/drawing/2010/main">
                  <a:solidFill>
                    <a:srgbClr val="FFFFFF"/>
                  </a:solidFill>
                </a14:hiddenFill>
              </a:ext>
            </a:extLst>
          </p:spPr>
        </p:pic>
        <p:grpSp>
          <p:nvGrpSpPr>
            <p:cNvPr id="150" name="Group 149"/>
            <p:cNvGrpSpPr/>
            <p:nvPr/>
          </p:nvGrpSpPr>
          <p:grpSpPr>
            <a:xfrm>
              <a:off x="1127036" y="1398426"/>
              <a:ext cx="571453" cy="571453"/>
              <a:chOff x="1154999" y="1398426"/>
              <a:chExt cx="571453" cy="571453"/>
            </a:xfrm>
          </p:grpSpPr>
          <p:pic>
            <p:nvPicPr>
              <p:cNvPr id="141" name="Picture 26" descr="C:\Users\patils1\Desktop\2013 Projects\CIS v2\CIS Slide Deck_Based on Book\Colored Graphics\LUN.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4999" y="1398426"/>
                <a:ext cx="571453" cy="571453"/>
              </a:xfrm>
              <a:prstGeom prst="rect">
                <a:avLst/>
              </a:prstGeom>
              <a:noFill/>
              <a:extLst>
                <a:ext uri="{909E8E84-426E-40DD-AFC4-6F175D3DCCD1}">
                  <a14:hiddenFill xmlns:a14="http://schemas.microsoft.com/office/drawing/2010/main">
                    <a:solidFill>
                      <a:srgbClr val="FFFFFF"/>
                    </a:solidFill>
                  </a14:hiddenFill>
                </a:ext>
              </a:extLst>
            </p:spPr>
          </p:pic>
          <p:sp>
            <p:nvSpPr>
              <p:cNvPr id="147" name="TextBox 146"/>
              <p:cNvSpPr txBox="1"/>
              <p:nvPr/>
            </p:nvSpPr>
            <p:spPr>
              <a:xfrm>
                <a:off x="1154999" y="1633865"/>
                <a:ext cx="571453" cy="230832"/>
              </a:xfrm>
              <a:prstGeom prst="rect">
                <a:avLst/>
              </a:prstGeom>
              <a:noFill/>
            </p:spPr>
            <p:txBody>
              <a:bodyPr wrap="square" rtlCol="0">
                <a:spAutoFit/>
              </a:bodyPr>
              <a:lstStyle/>
              <a:p>
                <a:pPr algn="ctr"/>
                <a:r>
                  <a:rPr lang="ru-RU" sz="900" b="1" i="0" dirty="0">
                    <a:solidFill>
                      <a:srgbClr val="2C95DD"/>
                    </a:solidFill>
                    <a:latin typeface="Arial" pitchFamily="34" charset="0"/>
                    <a:cs typeface="Arial" pitchFamily="34" charset="0"/>
                  </a:rPr>
                  <a:t>ТОМ 0</a:t>
                </a:r>
              </a:p>
            </p:txBody>
          </p:sp>
        </p:grpSp>
        <p:grpSp>
          <p:nvGrpSpPr>
            <p:cNvPr id="149" name="Group 148"/>
            <p:cNvGrpSpPr/>
            <p:nvPr/>
          </p:nvGrpSpPr>
          <p:grpSpPr>
            <a:xfrm>
              <a:off x="1155000" y="3702671"/>
              <a:ext cx="571453" cy="571453"/>
              <a:chOff x="1155000" y="3702671"/>
              <a:chExt cx="571453" cy="571453"/>
            </a:xfrm>
          </p:grpSpPr>
          <p:pic>
            <p:nvPicPr>
              <p:cNvPr id="142" name="Picture 26" descr="C:\Users\patils1\Desktop\2013 Projects\CIS v2\CIS Slide Deck_Based on Book\Colored Graphics\LUN.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5000" y="3702671"/>
                <a:ext cx="571453" cy="571453"/>
              </a:xfrm>
              <a:prstGeom prst="rect">
                <a:avLst/>
              </a:prstGeom>
              <a:noFill/>
              <a:extLst>
                <a:ext uri="{909E8E84-426E-40DD-AFC4-6F175D3DCCD1}">
                  <a14:hiddenFill xmlns:a14="http://schemas.microsoft.com/office/drawing/2010/main">
                    <a:solidFill>
                      <a:srgbClr val="FFFFFF"/>
                    </a:solidFill>
                  </a14:hiddenFill>
                </a:ext>
              </a:extLst>
            </p:spPr>
          </p:pic>
          <p:sp>
            <p:nvSpPr>
              <p:cNvPr id="148" name="TextBox 147"/>
              <p:cNvSpPr txBox="1"/>
              <p:nvPr/>
            </p:nvSpPr>
            <p:spPr>
              <a:xfrm>
                <a:off x="1155000" y="3938925"/>
                <a:ext cx="571451" cy="230832"/>
              </a:xfrm>
              <a:prstGeom prst="rect">
                <a:avLst/>
              </a:prstGeom>
              <a:noFill/>
            </p:spPr>
            <p:txBody>
              <a:bodyPr wrap="square" rtlCol="0">
                <a:spAutoFit/>
              </a:bodyPr>
              <a:lstStyle/>
              <a:p>
                <a:pPr algn="ctr"/>
                <a:r>
                  <a:rPr lang="ru-RU" sz="900" b="1" i="0" dirty="0">
                    <a:solidFill>
                      <a:srgbClr val="FF0000"/>
                    </a:solidFill>
                    <a:latin typeface="Arial" pitchFamily="34" charset="0"/>
                    <a:cs typeface="Arial" pitchFamily="34" charset="0"/>
                  </a:rPr>
                  <a:t>ТОМ 1</a:t>
                </a:r>
              </a:p>
            </p:txBody>
          </p:sp>
        </p:grpSp>
        <p:grpSp>
          <p:nvGrpSpPr>
            <p:cNvPr id="151" name="Group 150"/>
            <p:cNvGrpSpPr/>
            <p:nvPr/>
          </p:nvGrpSpPr>
          <p:grpSpPr>
            <a:xfrm>
              <a:off x="8305797" y="2134750"/>
              <a:ext cx="571453" cy="571453"/>
              <a:chOff x="1154999" y="1398426"/>
              <a:chExt cx="571453" cy="571453"/>
            </a:xfrm>
          </p:grpSpPr>
          <p:pic>
            <p:nvPicPr>
              <p:cNvPr id="152" name="Picture 26" descr="C:\Users\patils1\Desktop\2013 Projects\CIS v2\CIS Slide Deck_Based on Book\Colored Graphics\LUN.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4999" y="1398426"/>
                <a:ext cx="571453" cy="571453"/>
              </a:xfrm>
              <a:prstGeom prst="rect">
                <a:avLst/>
              </a:prstGeom>
              <a:noFill/>
              <a:extLst>
                <a:ext uri="{909E8E84-426E-40DD-AFC4-6F175D3DCCD1}">
                  <a14:hiddenFill xmlns:a14="http://schemas.microsoft.com/office/drawing/2010/main">
                    <a:solidFill>
                      <a:srgbClr val="FFFFFF"/>
                    </a:solidFill>
                  </a14:hiddenFill>
                </a:ext>
              </a:extLst>
            </p:spPr>
          </p:pic>
          <p:sp>
            <p:nvSpPr>
              <p:cNvPr id="153" name="TextBox 152"/>
              <p:cNvSpPr txBox="1"/>
              <p:nvPr/>
            </p:nvSpPr>
            <p:spPr>
              <a:xfrm>
                <a:off x="1154999" y="1624340"/>
                <a:ext cx="571453" cy="230832"/>
              </a:xfrm>
              <a:prstGeom prst="rect">
                <a:avLst/>
              </a:prstGeom>
              <a:noFill/>
            </p:spPr>
            <p:txBody>
              <a:bodyPr wrap="square" rtlCol="0">
                <a:spAutoFit/>
              </a:bodyPr>
              <a:lstStyle/>
              <a:p>
                <a:pPr algn="ctr"/>
                <a:r>
                  <a:rPr lang="ru-RU" sz="900" b="1" i="0" dirty="0">
                    <a:solidFill>
                      <a:srgbClr val="2C95DD"/>
                    </a:solidFill>
                    <a:latin typeface="Arial" pitchFamily="34" charset="0"/>
                    <a:cs typeface="Arial" pitchFamily="34" charset="0"/>
                  </a:rPr>
                  <a:t>ТОМ 0</a:t>
                </a:r>
              </a:p>
            </p:txBody>
          </p:sp>
        </p:grpSp>
        <p:grpSp>
          <p:nvGrpSpPr>
            <p:cNvPr id="154" name="Group 153"/>
            <p:cNvGrpSpPr/>
            <p:nvPr/>
          </p:nvGrpSpPr>
          <p:grpSpPr>
            <a:xfrm>
              <a:off x="8305799" y="3162737"/>
              <a:ext cx="580976" cy="571453"/>
              <a:chOff x="1155000" y="3702671"/>
              <a:chExt cx="580976" cy="571453"/>
            </a:xfrm>
          </p:grpSpPr>
          <p:pic>
            <p:nvPicPr>
              <p:cNvPr id="155" name="Picture 26" descr="C:\Users\patils1\Desktop\2013 Projects\CIS v2\CIS Slide Deck_Based on Book\Colored Graphics\LUN.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5000" y="3702671"/>
                <a:ext cx="571453" cy="571453"/>
              </a:xfrm>
              <a:prstGeom prst="rect">
                <a:avLst/>
              </a:prstGeom>
              <a:noFill/>
              <a:extLst>
                <a:ext uri="{909E8E84-426E-40DD-AFC4-6F175D3DCCD1}">
                  <a14:hiddenFill xmlns:a14="http://schemas.microsoft.com/office/drawing/2010/main">
                    <a:solidFill>
                      <a:srgbClr val="FFFFFF"/>
                    </a:solidFill>
                  </a14:hiddenFill>
                </a:ext>
              </a:extLst>
            </p:spPr>
          </p:pic>
          <p:sp>
            <p:nvSpPr>
              <p:cNvPr id="156" name="TextBox 155"/>
              <p:cNvSpPr txBox="1"/>
              <p:nvPr/>
            </p:nvSpPr>
            <p:spPr>
              <a:xfrm>
                <a:off x="1164525" y="3929400"/>
                <a:ext cx="571451" cy="230832"/>
              </a:xfrm>
              <a:prstGeom prst="rect">
                <a:avLst/>
              </a:prstGeom>
              <a:noFill/>
            </p:spPr>
            <p:txBody>
              <a:bodyPr wrap="square" rtlCol="0">
                <a:spAutoFit/>
              </a:bodyPr>
              <a:lstStyle/>
              <a:p>
                <a:pPr algn="ctr"/>
                <a:r>
                  <a:rPr lang="ru-RU" sz="900" b="1" i="0" dirty="0">
                    <a:solidFill>
                      <a:srgbClr val="FF0000"/>
                    </a:solidFill>
                    <a:latin typeface="Arial" pitchFamily="34" charset="0"/>
                    <a:cs typeface="Arial" pitchFamily="34" charset="0"/>
                  </a:rPr>
                  <a:t>ТОМ 1</a:t>
                </a:r>
              </a:p>
            </p:txBody>
          </p:sp>
        </p:grpSp>
        <p:grpSp>
          <p:nvGrpSpPr>
            <p:cNvPr id="169" name="Group 168"/>
            <p:cNvGrpSpPr/>
            <p:nvPr/>
          </p:nvGrpSpPr>
          <p:grpSpPr>
            <a:xfrm>
              <a:off x="6705600" y="2215645"/>
              <a:ext cx="1040166" cy="1416555"/>
              <a:chOff x="6705600" y="2215645"/>
              <a:chExt cx="1040166" cy="1416555"/>
            </a:xfrm>
          </p:grpSpPr>
          <p:pic>
            <p:nvPicPr>
              <p:cNvPr id="158" name="Picture 37" descr="C:\Users\patils1\Desktop\2013 Projects\CIS v2\CIS Slide Deck_Based on Book\Colored Graphics\Striped Disk.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75545" y="2215645"/>
                <a:ext cx="570221" cy="570221"/>
              </a:xfrm>
              <a:prstGeom prst="rect">
                <a:avLst/>
              </a:prstGeom>
              <a:noFill/>
              <a:extLst>
                <a:ext uri="{909E8E84-426E-40DD-AFC4-6F175D3DCCD1}">
                  <a14:hiddenFill xmlns:a14="http://schemas.microsoft.com/office/drawing/2010/main">
                    <a:solidFill>
                      <a:srgbClr val="FFFFFF"/>
                    </a:solidFill>
                  </a14:hiddenFill>
                </a:ext>
              </a:extLst>
            </p:spPr>
          </p:pic>
          <p:pic>
            <p:nvPicPr>
              <p:cNvPr id="159" name="Picture 37" descr="C:\Users\patils1\Desktop\2013 Projects\CIS v2\CIS Slide Deck_Based on Book\Colored Graphics\Striped Disk.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58058" y="2420472"/>
                <a:ext cx="570221" cy="570221"/>
              </a:xfrm>
              <a:prstGeom prst="rect">
                <a:avLst/>
              </a:prstGeom>
              <a:noFill/>
              <a:extLst>
                <a:ext uri="{909E8E84-426E-40DD-AFC4-6F175D3DCCD1}">
                  <a14:hiddenFill xmlns:a14="http://schemas.microsoft.com/office/drawing/2010/main">
                    <a:solidFill>
                      <a:srgbClr val="FFFFFF"/>
                    </a:solidFill>
                  </a14:hiddenFill>
                </a:ext>
              </a:extLst>
            </p:spPr>
          </p:pic>
          <p:pic>
            <p:nvPicPr>
              <p:cNvPr id="162" name="Picture 37" descr="C:\Users\patils1\Desktop\2013 Projects\CIS v2\CIS Slide Deck_Based on Book\Colored Graphics\Striped Disk.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0572" y="2638813"/>
                <a:ext cx="570221" cy="570221"/>
              </a:xfrm>
              <a:prstGeom prst="rect">
                <a:avLst/>
              </a:prstGeom>
              <a:noFill/>
              <a:extLst>
                <a:ext uri="{909E8E84-426E-40DD-AFC4-6F175D3DCCD1}">
                  <a14:hiddenFill xmlns:a14="http://schemas.microsoft.com/office/drawing/2010/main">
                    <a:solidFill>
                      <a:srgbClr val="FFFFFF"/>
                    </a:solidFill>
                  </a14:hiddenFill>
                </a:ext>
              </a:extLst>
            </p:spPr>
          </p:pic>
          <p:pic>
            <p:nvPicPr>
              <p:cNvPr id="163" name="Picture 37" descr="C:\Users\patils1\Desktop\2013 Projects\CIS v2\CIS Slide Deck_Based on Book\Colored Graphics\Striped Disk.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23086" y="2885654"/>
                <a:ext cx="570221" cy="570221"/>
              </a:xfrm>
              <a:prstGeom prst="rect">
                <a:avLst/>
              </a:prstGeom>
              <a:noFill/>
              <a:extLst>
                <a:ext uri="{909E8E84-426E-40DD-AFC4-6F175D3DCCD1}">
                  <a14:hiddenFill xmlns:a14="http://schemas.microsoft.com/office/drawing/2010/main">
                    <a:solidFill>
                      <a:srgbClr val="FFFFFF"/>
                    </a:solidFill>
                  </a14:hiddenFill>
                </a:ext>
              </a:extLst>
            </p:spPr>
          </p:pic>
          <p:pic>
            <p:nvPicPr>
              <p:cNvPr id="157" name="Picture 37" descr="C:\Users\patils1\Desktop\2013 Projects\CIS v2\CIS Slide Deck_Based on Book\Colored Graphics\Striped Disk.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05600" y="3061979"/>
                <a:ext cx="570221" cy="57022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71" name="Straight Connector 170"/>
            <p:cNvCxnSpPr>
              <a:stCxn id="156" idx="1"/>
              <a:endCxn id="157" idx="3"/>
            </p:cNvCxnSpPr>
            <p:nvPr/>
          </p:nvCxnSpPr>
          <p:spPr>
            <a:xfrm flipH="1" flipV="1">
              <a:off x="7275821" y="3347090"/>
              <a:ext cx="1039503" cy="157792"/>
            </a:xfrm>
            <a:prstGeom prst="line">
              <a:avLst/>
            </a:prstGeom>
            <a:ln w="12700" cmpd="sng">
              <a:solidFill>
                <a:srgbClr val="FF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73" name="Straight Connector 172"/>
            <p:cNvCxnSpPr>
              <a:stCxn id="156" idx="1"/>
              <a:endCxn id="163" idx="3"/>
            </p:cNvCxnSpPr>
            <p:nvPr/>
          </p:nvCxnSpPr>
          <p:spPr>
            <a:xfrm flipH="1" flipV="1">
              <a:off x="7393307" y="3170765"/>
              <a:ext cx="922017" cy="334117"/>
            </a:xfrm>
            <a:prstGeom prst="line">
              <a:avLst/>
            </a:prstGeom>
            <a:ln w="12700" cmpd="sng">
              <a:solidFill>
                <a:srgbClr val="FF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75" name="Straight Connector 174"/>
            <p:cNvCxnSpPr>
              <a:stCxn id="156" idx="1"/>
              <a:endCxn id="162" idx="3"/>
            </p:cNvCxnSpPr>
            <p:nvPr/>
          </p:nvCxnSpPr>
          <p:spPr>
            <a:xfrm flipH="1" flipV="1">
              <a:off x="7510793" y="2923924"/>
              <a:ext cx="804531" cy="580958"/>
            </a:xfrm>
            <a:prstGeom prst="line">
              <a:avLst/>
            </a:prstGeom>
            <a:ln w="12700" cmpd="sng">
              <a:solidFill>
                <a:srgbClr val="FF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79" name="Straight Connector 178"/>
            <p:cNvCxnSpPr>
              <a:stCxn id="156" idx="1"/>
              <a:endCxn id="159" idx="3"/>
            </p:cNvCxnSpPr>
            <p:nvPr/>
          </p:nvCxnSpPr>
          <p:spPr>
            <a:xfrm flipH="1" flipV="1">
              <a:off x="7628279" y="2705583"/>
              <a:ext cx="687045" cy="799299"/>
            </a:xfrm>
            <a:prstGeom prst="line">
              <a:avLst/>
            </a:prstGeom>
            <a:ln w="12700" cmpd="sng">
              <a:solidFill>
                <a:srgbClr val="FF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81" name="Straight Connector 180"/>
            <p:cNvCxnSpPr>
              <a:stCxn id="156" idx="1"/>
              <a:endCxn id="158" idx="3"/>
            </p:cNvCxnSpPr>
            <p:nvPr/>
          </p:nvCxnSpPr>
          <p:spPr>
            <a:xfrm flipH="1" flipV="1">
              <a:off x="7745766" y="2500756"/>
              <a:ext cx="569558" cy="1004126"/>
            </a:xfrm>
            <a:prstGeom prst="line">
              <a:avLst/>
            </a:prstGeom>
            <a:ln w="12700" cmpd="sng">
              <a:solidFill>
                <a:srgbClr val="FF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83" name="Straight Connector 182"/>
            <p:cNvCxnSpPr>
              <a:stCxn id="153" idx="1"/>
              <a:endCxn id="157" idx="3"/>
            </p:cNvCxnSpPr>
            <p:nvPr/>
          </p:nvCxnSpPr>
          <p:spPr>
            <a:xfrm flipH="1">
              <a:off x="7275821" y="2476080"/>
              <a:ext cx="1029976" cy="871010"/>
            </a:xfrm>
            <a:prstGeom prst="line">
              <a:avLst/>
            </a:prstGeom>
            <a:ln w="12700" cmpd="sng">
              <a:solidFill>
                <a:schemeClr val="tx2"/>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85" name="Straight Connector 184"/>
            <p:cNvCxnSpPr>
              <a:stCxn id="153" idx="1"/>
              <a:endCxn id="163" idx="3"/>
            </p:cNvCxnSpPr>
            <p:nvPr/>
          </p:nvCxnSpPr>
          <p:spPr>
            <a:xfrm flipH="1">
              <a:off x="7393307" y="2476080"/>
              <a:ext cx="912490" cy="694685"/>
            </a:xfrm>
            <a:prstGeom prst="line">
              <a:avLst/>
            </a:prstGeom>
            <a:ln w="12700" cmpd="sng">
              <a:solidFill>
                <a:schemeClr val="tx2"/>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87" name="Straight Connector 186"/>
            <p:cNvCxnSpPr>
              <a:stCxn id="153" idx="1"/>
              <a:endCxn id="162" idx="3"/>
            </p:cNvCxnSpPr>
            <p:nvPr/>
          </p:nvCxnSpPr>
          <p:spPr>
            <a:xfrm flipH="1">
              <a:off x="7510793" y="2476080"/>
              <a:ext cx="795004" cy="447844"/>
            </a:xfrm>
            <a:prstGeom prst="line">
              <a:avLst/>
            </a:prstGeom>
            <a:ln w="12700" cmpd="sng">
              <a:solidFill>
                <a:schemeClr val="tx2"/>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89" name="Straight Connector 188"/>
            <p:cNvCxnSpPr>
              <a:stCxn id="153" idx="1"/>
              <a:endCxn id="159" idx="3"/>
            </p:cNvCxnSpPr>
            <p:nvPr/>
          </p:nvCxnSpPr>
          <p:spPr>
            <a:xfrm flipH="1">
              <a:off x="7628279" y="2476080"/>
              <a:ext cx="677518" cy="229503"/>
            </a:xfrm>
            <a:prstGeom prst="line">
              <a:avLst/>
            </a:prstGeom>
            <a:ln w="12700" cmpd="sng">
              <a:solidFill>
                <a:schemeClr val="tx2"/>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91" name="Straight Connector 190"/>
            <p:cNvCxnSpPr>
              <a:stCxn id="153" idx="1"/>
              <a:endCxn id="158" idx="3"/>
            </p:cNvCxnSpPr>
            <p:nvPr/>
          </p:nvCxnSpPr>
          <p:spPr>
            <a:xfrm flipH="1">
              <a:off x="7745766" y="2476080"/>
              <a:ext cx="560031" cy="24676"/>
            </a:xfrm>
            <a:prstGeom prst="line">
              <a:avLst/>
            </a:prstGeom>
            <a:ln w="12700" cmpd="sng">
              <a:solidFill>
                <a:schemeClr val="tx2"/>
              </a:solidFill>
              <a:prstDash val="dash"/>
            </a:ln>
            <a:effectLst/>
          </p:spPr>
          <p:style>
            <a:lnRef idx="2">
              <a:schemeClr val="accent1"/>
            </a:lnRef>
            <a:fillRef idx="0">
              <a:schemeClr val="accent1"/>
            </a:fillRef>
            <a:effectRef idx="1">
              <a:schemeClr val="accent1"/>
            </a:effectRef>
            <a:fontRef idx="minor">
              <a:schemeClr val="tx1"/>
            </a:fontRef>
          </p:style>
        </p:cxnSp>
        <p:sp>
          <p:nvSpPr>
            <p:cNvPr id="192" name="Text Box 3"/>
            <p:cNvSpPr txBox="1">
              <a:spLocks noChangeArrowheads="1"/>
            </p:cNvSpPr>
            <p:nvPr/>
          </p:nvSpPr>
          <p:spPr bwMode="auto">
            <a:xfrm>
              <a:off x="55431" y="2175603"/>
              <a:ext cx="12050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0" indent="0" algn="ctr">
                <a:spcBef>
                  <a:spcPct val="50000"/>
                </a:spcBef>
              </a:pPr>
              <a:r>
                <a:rPr lang="ru-RU" sz="1200" b="0" i="0" dirty="0">
                  <a:solidFill>
                    <a:srgbClr val="000000"/>
                  </a:solidFill>
                  <a:latin typeface="Arial" pitchFamily="34" charset="0"/>
                  <a:cs typeface="Arial" pitchFamily="34" charset="0"/>
                </a:rPr>
                <a:t>Вычислительная</a:t>
              </a:r>
              <a:br>
                <a:rPr lang="en-US" sz="1200" b="0" i="0" dirty="0">
                  <a:solidFill>
                    <a:srgbClr val="FF00FF"/>
                  </a:solidFill>
                  <a:latin typeface="Arial" pitchFamily="34" charset="0"/>
                  <a:cs typeface="Arial" pitchFamily="34" charset="0"/>
                </a:rPr>
              </a:br>
              <a:r>
                <a:rPr lang="ru-RU" sz="1200" b="0" i="0" dirty="0">
                  <a:solidFill>
                    <a:srgbClr val="000000"/>
                  </a:solidFill>
                  <a:latin typeface="Arial" pitchFamily="34" charset="0"/>
                  <a:cs typeface="Arial" pitchFamily="34" charset="0"/>
                </a:rPr>
                <a:t>система 1</a:t>
              </a:r>
            </a:p>
          </p:txBody>
        </p:sp>
        <p:sp>
          <p:nvSpPr>
            <p:cNvPr id="193" name="Text Box 3"/>
            <p:cNvSpPr txBox="1">
              <a:spLocks noChangeArrowheads="1"/>
            </p:cNvSpPr>
            <p:nvPr/>
          </p:nvSpPr>
          <p:spPr bwMode="auto">
            <a:xfrm>
              <a:off x="36308" y="4477787"/>
              <a:ext cx="12050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0" indent="0" algn="ctr">
                <a:spcBef>
                  <a:spcPct val="50000"/>
                </a:spcBef>
              </a:pPr>
              <a:r>
                <a:rPr lang="ru-RU" sz="1200" b="0" i="0" dirty="0">
                  <a:solidFill>
                    <a:srgbClr val="000000"/>
                  </a:solidFill>
                  <a:latin typeface="Arial" pitchFamily="34" charset="0"/>
                  <a:cs typeface="Arial" pitchFamily="34" charset="0"/>
                </a:rPr>
                <a:t>Вычислительная</a:t>
              </a:r>
              <a:br>
                <a:rPr lang="en-US" sz="1200" b="0" i="0" dirty="0">
                  <a:solidFill>
                    <a:srgbClr val="FF00FF"/>
                  </a:solidFill>
                  <a:latin typeface="Arial" pitchFamily="34" charset="0"/>
                  <a:cs typeface="Arial" pitchFamily="34" charset="0"/>
                </a:rPr>
              </a:br>
              <a:r>
                <a:rPr lang="ru-RU" sz="1200" b="0" i="0" dirty="0">
                  <a:solidFill>
                    <a:srgbClr val="000000"/>
                  </a:solidFill>
                  <a:latin typeface="Arial" pitchFamily="34" charset="0"/>
                  <a:cs typeface="Arial" pitchFamily="34" charset="0"/>
                </a:rPr>
                <a:t>система 2</a:t>
              </a:r>
            </a:p>
          </p:txBody>
        </p:sp>
        <p:pic>
          <p:nvPicPr>
            <p:cNvPr id="194" name="Picture 29" descr="C:\Users\patils1\Desktop\2013 Projects\CIS v2\CIS Slide Deck_Based on Book\Colored Graphics\Physical Compute System.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029" y="1964762"/>
              <a:ext cx="934518" cy="210312"/>
            </a:xfrm>
            <a:prstGeom prst="rect">
              <a:avLst/>
            </a:prstGeom>
            <a:noFill/>
            <a:extLst>
              <a:ext uri="{909E8E84-426E-40DD-AFC4-6F175D3DCCD1}">
                <a14:hiddenFill xmlns:a14="http://schemas.microsoft.com/office/drawing/2010/main">
                  <a:solidFill>
                    <a:srgbClr val="FFFFFF"/>
                  </a:solidFill>
                </a14:hiddenFill>
              </a:ext>
            </a:extLst>
          </p:spPr>
        </p:pic>
        <p:pic>
          <p:nvPicPr>
            <p:cNvPr id="195" name="Picture 29" descr="C:\Users\patils1\Desktop\2013 Projects\CIS v2\CIS Slide Deck_Based on Book\Colored Graphics\Physical Compute System.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019" y="1952157"/>
              <a:ext cx="1032147" cy="232284"/>
            </a:xfrm>
            <a:prstGeom prst="rect">
              <a:avLst/>
            </a:prstGeom>
            <a:noFill/>
            <a:extLst>
              <a:ext uri="{909E8E84-426E-40DD-AFC4-6F175D3DCCD1}">
                <a14:hiddenFill xmlns:a14="http://schemas.microsoft.com/office/drawing/2010/main">
                  <a:solidFill>
                    <a:srgbClr val="FFFFFF"/>
                  </a:solidFill>
                </a14:hiddenFill>
              </a:ext>
            </a:extLst>
          </p:spPr>
        </p:pic>
      </p:grpSp>
      <p:sp>
        <p:nvSpPr>
          <p:cNvPr id="160" name="TextBox 159"/>
          <p:cNvSpPr txBox="1"/>
          <p:nvPr/>
        </p:nvSpPr>
        <p:spPr>
          <a:xfrm>
            <a:off x="161925" y="3657600"/>
            <a:ext cx="990600" cy="230832"/>
          </a:xfrm>
          <a:prstGeom prst="rect">
            <a:avLst/>
          </a:prstGeom>
          <a:noFill/>
        </p:spPr>
        <p:txBody>
          <a:bodyPr wrap="square" rtlCol="0">
            <a:spAutoFit/>
          </a:bodyPr>
          <a:lstStyle/>
          <a:p>
            <a:pPr algn="ctr"/>
            <a:r>
              <a:rPr lang="ru-RU" sz="900" b="1" i="0" dirty="0">
                <a:solidFill>
                  <a:srgbClr val="000000"/>
                </a:solidFill>
                <a:latin typeface="Arial" pitchFamily="34" charset="0"/>
                <a:cs typeface="Arial" pitchFamily="34" charset="0"/>
              </a:rPr>
              <a:t>Гипервизор</a:t>
            </a:r>
          </a:p>
        </p:txBody>
      </p:sp>
      <p:sp>
        <p:nvSpPr>
          <p:cNvPr id="161" name="TextBox 160"/>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18</a:t>
            </a:fld>
            <a:endParaRPr lang="ru-RU" dirty="0">
              <a:solidFill>
                <a:schemeClr val="bg2"/>
              </a:solidFill>
              <a:latin typeface="Arial"/>
            </a:endParaRPr>
          </a:p>
        </p:txBody>
      </p:sp>
      <p:sp>
        <p:nvSpPr>
          <p:cNvPr id="164" name="TextBox 163"/>
          <p:cNvSpPr txBox="1"/>
          <p:nvPr/>
        </p:nvSpPr>
        <p:spPr>
          <a:xfrm>
            <a:off x="2057401" y="3733800"/>
            <a:ext cx="6629400" cy="1200150"/>
          </a:xfrm>
          <a:prstGeom prst="rect">
            <a:avLst/>
          </a:prstGeom>
          <a:noFill/>
        </p:spPr>
        <p:txBody>
          <a:bodyPr wrap="square" rtlCol="0">
            <a:normAutofit fontScale="62500" lnSpcReduction="20000"/>
          </a:bodyPr>
          <a:lstStyle/>
          <a:p>
            <a:pPr algn="l">
              <a:lnSpc>
                <a:spcPct val="120000"/>
              </a:lnSpc>
            </a:pPr>
            <a:r>
              <a:rPr lang="ru-RU" sz="1800" dirty="0"/>
              <a:t>Виртуальные логические диски (тома, идентифицируются номером - </a:t>
            </a:r>
            <a:r>
              <a:rPr lang="en-US" sz="1800" dirty="0"/>
              <a:t>LUN)</a:t>
            </a:r>
            <a:r>
              <a:rPr lang="ru-RU" sz="1800" dirty="0"/>
              <a:t> повышают эффективность  использования физических дисков. Вместо целого физического диска можно выделить необходимый объем на логическом томе.</a:t>
            </a:r>
          </a:p>
          <a:p>
            <a:pPr algn="l">
              <a:lnSpc>
                <a:spcPct val="120000"/>
              </a:lnSpc>
            </a:pPr>
            <a:r>
              <a:rPr lang="ru-RU" sz="1800" dirty="0"/>
              <a:t>В случае с </a:t>
            </a:r>
            <a:r>
              <a:rPr lang="en-US" sz="1800" dirty="0"/>
              <a:t>RAID</a:t>
            </a:r>
            <a:r>
              <a:rPr lang="ru-RU" sz="1800" dirty="0"/>
              <a:t> , </a:t>
            </a:r>
            <a:r>
              <a:rPr lang="en-US" sz="1800" dirty="0"/>
              <a:t>LUN</a:t>
            </a:r>
            <a:r>
              <a:rPr lang="ru-RU" sz="1800" dirty="0"/>
              <a:t> – часть </a:t>
            </a:r>
            <a:r>
              <a:rPr lang="en-US" sz="1800" dirty="0"/>
              <a:t>RAID</a:t>
            </a:r>
            <a:r>
              <a:rPr lang="ru-RU" sz="1800" dirty="0"/>
              <a:t> массива</a:t>
            </a:r>
          </a:p>
          <a:p>
            <a:pPr algn="l">
              <a:lnSpc>
                <a:spcPct val="120000"/>
              </a:lnSpc>
            </a:pPr>
            <a:r>
              <a:rPr lang="ru-RU" sz="1800" dirty="0"/>
              <a:t>Часть </a:t>
            </a:r>
            <a:r>
              <a:rPr lang="en-US" sz="1800" dirty="0"/>
              <a:t>LUN</a:t>
            </a:r>
            <a:r>
              <a:rPr lang="ru-RU" sz="1800" dirty="0"/>
              <a:t> присутствует на всех физических дисках</a:t>
            </a:r>
          </a:p>
        </p:txBody>
      </p:sp>
    </p:spTree>
    <p:custDataLst>
      <p:tags r:id="rId1"/>
    </p:custDataLst>
    <p:extLst>
      <p:ext uri="{BB962C8B-B14F-4D97-AF65-F5344CB8AC3E}">
        <p14:creationId xmlns:p14="http://schemas.microsoft.com/office/powerpoint/2010/main" val="3582310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700" b="0" i="0" dirty="0">
                <a:solidFill>
                  <a:srgbClr val="2C95DD"/>
                </a:solidFill>
                <a:latin typeface="Arial" pitchFamily="34" charset="0"/>
                <a:cs typeface="Arial" pitchFamily="34" charset="0"/>
              </a:rPr>
              <a:t>Расширение логических устройств</a:t>
            </a:r>
          </a:p>
        </p:txBody>
      </p:sp>
      <p:sp>
        <p:nvSpPr>
          <p:cNvPr id="3" name="Content Placeholder 2"/>
          <p:cNvSpPr>
            <a:spLocks noGrp="1"/>
          </p:cNvSpPr>
          <p:nvPr>
            <p:ph sz="quarter" idx="10"/>
          </p:nvPr>
        </p:nvSpPr>
        <p:spPr>
          <a:xfrm>
            <a:off x="379414" y="1962150"/>
            <a:ext cx="6402386" cy="2819400"/>
          </a:xfrm>
        </p:spPr>
        <p:txBody>
          <a:bodyPr/>
          <a:lstStyle/>
          <a:p>
            <a:r>
              <a:rPr lang="ru-RU" sz="1300" b="0" i="0" dirty="0">
                <a:solidFill>
                  <a:srgbClr val="000000"/>
                </a:solidFill>
                <a:latin typeface="Arial" pitchFamily="34" charset="0"/>
                <a:cs typeface="Arial" pitchFamily="34" charset="0"/>
              </a:rPr>
              <a:t>Создается путем объединения двух или нескольких устройств</a:t>
            </a:r>
          </a:p>
          <a:p>
            <a:r>
              <a:rPr lang="ru-RU" sz="1300" b="0" i="0" dirty="0">
                <a:solidFill>
                  <a:srgbClr val="000000"/>
                </a:solidFill>
                <a:latin typeface="Arial" pitchFamily="34" charset="0"/>
                <a:cs typeface="Arial" pitchFamily="34" charset="0"/>
              </a:rPr>
              <a:t>Мета том может быть объединенным или распределенным</a:t>
            </a:r>
          </a:p>
          <a:p>
            <a:r>
              <a:rPr lang="ru-RU" sz="1300" b="0" i="0" dirty="0">
                <a:solidFill>
                  <a:srgbClr val="000000"/>
                </a:solidFill>
                <a:latin typeface="Arial" pitchFamily="34" charset="0"/>
                <a:cs typeface="Arial" pitchFamily="34" charset="0"/>
              </a:rPr>
              <a:t>Объединенный мета том</a:t>
            </a:r>
          </a:p>
          <a:p>
            <a:pPr lvl="1"/>
            <a:r>
              <a:rPr lang="ru-RU" sz="1300" b="0" i="0" dirty="0">
                <a:solidFill>
                  <a:srgbClr val="000000"/>
                </a:solidFill>
                <a:latin typeface="Arial" pitchFamily="34" charset="0"/>
                <a:cs typeface="Arial" pitchFamily="34" charset="0"/>
              </a:rPr>
              <a:t>Обеспечивает только дополнительную емкость, но не производительность</a:t>
            </a:r>
          </a:p>
          <a:p>
            <a:pPr lvl="1"/>
            <a:r>
              <a:rPr lang="ru-RU" sz="1300" b="0" i="0" dirty="0">
                <a:solidFill>
                  <a:srgbClr val="000000"/>
                </a:solidFill>
                <a:latin typeface="Arial" pitchFamily="34" charset="0"/>
                <a:cs typeface="Arial" pitchFamily="34" charset="0"/>
              </a:rPr>
              <a:t>Расширение выполняется оперативно, поскольку данные не перераспределяются</a:t>
            </a:r>
          </a:p>
          <a:p>
            <a:r>
              <a:rPr lang="ru-RU" sz="1300" b="0" i="0" dirty="0">
                <a:solidFill>
                  <a:srgbClr val="000000"/>
                </a:solidFill>
                <a:latin typeface="Arial" pitchFamily="34" charset="0"/>
                <a:cs typeface="Arial" pitchFamily="34" charset="0"/>
              </a:rPr>
              <a:t>Распределенный мета том</a:t>
            </a:r>
          </a:p>
          <a:p>
            <a:pPr lvl="1"/>
            <a:r>
              <a:rPr lang="ru-RU" sz="1300" b="0" i="0" dirty="0">
                <a:solidFill>
                  <a:srgbClr val="000000"/>
                </a:solidFill>
                <a:latin typeface="Arial" pitchFamily="34" charset="0"/>
                <a:cs typeface="Arial" pitchFamily="34" charset="0"/>
              </a:rPr>
              <a:t>Обеспечивает емкость и производительность</a:t>
            </a:r>
          </a:p>
          <a:p>
            <a:pPr lvl="1"/>
            <a:r>
              <a:rPr lang="ru-RU" sz="1300" b="0" i="0" dirty="0">
                <a:solidFill>
                  <a:srgbClr val="000000"/>
                </a:solidFill>
                <a:latin typeface="Arial" pitchFamily="34" charset="0"/>
                <a:cs typeface="Arial" pitchFamily="34" charset="0"/>
              </a:rPr>
              <a:t>Расширение выполняется медленно, поскольку данные перераспределяются</a:t>
            </a:r>
          </a:p>
          <a:p>
            <a:endParaRPr lang="en-US" dirty="0">
              <a:latin typeface="Arial" pitchFamily="34" charset="0"/>
              <a:cs typeface="Arial" pitchFamily="34" charset="0"/>
            </a:endParaRPr>
          </a:p>
        </p:txBody>
      </p:sp>
      <p:pic>
        <p:nvPicPr>
          <p:cNvPr id="5" name="Picture 2"/>
          <p:cNvPicPr>
            <a:picLocks noChangeAspect="1" noChangeArrowheads="1"/>
          </p:cNvPicPr>
          <p:nvPr/>
        </p:nvPicPr>
        <p:blipFill>
          <a:blip r:embed="rId4"/>
          <a:stretch>
            <a:fillRect/>
          </a:stretch>
        </p:blipFill>
        <p:spPr bwMode="auto">
          <a:xfrm>
            <a:off x="6859846" y="367911"/>
            <a:ext cx="1991670" cy="3940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Group 5"/>
          <p:cNvGrpSpPr/>
          <p:nvPr/>
        </p:nvGrpSpPr>
        <p:grpSpPr>
          <a:xfrm>
            <a:off x="299409" y="798190"/>
            <a:ext cx="6253791" cy="1087761"/>
            <a:chOff x="125970" y="798190"/>
            <a:chExt cx="6253791" cy="1087761"/>
          </a:xfrm>
        </p:grpSpPr>
        <p:sp>
          <p:nvSpPr>
            <p:cNvPr id="7" name="Rectangle 6"/>
            <p:cNvSpPr/>
            <p:nvPr/>
          </p:nvSpPr>
          <p:spPr>
            <a:xfrm>
              <a:off x="125970"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endParaRPr lang="en-US">
                <a:latin typeface="Arial" pitchFamily="34" charset="0"/>
                <a:cs typeface="Arial" pitchFamily="34" charset="0"/>
              </a:endParaRPr>
            </a:p>
          </p:txBody>
        </p:sp>
        <p:sp>
          <p:nvSpPr>
            <p:cNvPr id="8" name="Rectangle 7"/>
            <p:cNvSpPr/>
            <p:nvPr/>
          </p:nvSpPr>
          <p:spPr>
            <a:xfrm>
              <a:off x="441553" y="996921"/>
              <a:ext cx="5938208" cy="88903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500" b="0" i="0" dirty="0">
                  <a:solidFill>
                    <a:srgbClr val="000000"/>
                  </a:solidFill>
                  <a:latin typeface="Arial" pitchFamily="34" charset="0"/>
                  <a:cs typeface="Arial" pitchFamily="34" charset="0"/>
                </a:rPr>
                <a:t>Метод для расширения томов, которым необходима дополнительная емкость или производительность.</a:t>
              </a:r>
            </a:p>
          </p:txBody>
        </p:sp>
        <p:sp>
          <p:nvSpPr>
            <p:cNvPr id="9" name="Rectangle 8"/>
            <p:cNvSpPr/>
            <p:nvPr/>
          </p:nvSpPr>
          <p:spPr>
            <a:xfrm>
              <a:off x="175740"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500" b="1" i="0" dirty="0">
                  <a:solidFill>
                    <a:srgbClr val="FFFFFF"/>
                  </a:solidFill>
                  <a:latin typeface="Arial" pitchFamily="34" charset="0"/>
                  <a:cs typeface="Arial" pitchFamily="34" charset="0"/>
                </a:rPr>
                <a:t>Мета том</a:t>
              </a:r>
            </a:p>
          </p:txBody>
        </p:sp>
      </p:grpSp>
      <p:sp>
        <p:nvSpPr>
          <p:cNvPr id="10" name="TextBox 12"/>
          <p:cNvSpPr txBox="1"/>
          <p:nvPr/>
        </p:nvSpPr>
        <p:spPr>
          <a:xfrm>
            <a:off x="7712458" y="482084"/>
            <a:ext cx="1079117" cy="18466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600" b="0" i="0" dirty="0">
                <a:solidFill>
                  <a:srgbClr val="000000"/>
                </a:solidFill>
                <a:latin typeface="Arial" pitchFamily="34" charset="0"/>
                <a:cs typeface="Arial" pitchFamily="34" charset="0"/>
              </a:rPr>
              <a:t>Компонентное ЛУ</a:t>
            </a:r>
          </a:p>
        </p:txBody>
      </p:sp>
      <p:sp>
        <p:nvSpPr>
          <p:cNvPr id="12" name="TextBox 16"/>
          <p:cNvSpPr txBox="1"/>
          <p:nvPr/>
        </p:nvSpPr>
        <p:spPr>
          <a:xfrm>
            <a:off x="7682568" y="2523932"/>
            <a:ext cx="1152132" cy="18466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600" b="0" i="0" dirty="0">
                <a:solidFill>
                  <a:srgbClr val="000000"/>
                </a:solidFill>
                <a:latin typeface="Arial" pitchFamily="34" charset="0"/>
                <a:cs typeface="Arial" pitchFamily="34" charset="0"/>
              </a:rPr>
              <a:t>Компонентное ЛУ</a:t>
            </a:r>
          </a:p>
        </p:txBody>
      </p:sp>
      <p:sp>
        <p:nvSpPr>
          <p:cNvPr id="14" name="TextBox 10"/>
          <p:cNvSpPr txBox="1"/>
          <p:nvPr/>
        </p:nvSpPr>
        <p:spPr>
          <a:xfrm>
            <a:off x="7010400" y="482084"/>
            <a:ext cx="914400" cy="18466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600" b="0" i="0" dirty="0">
                <a:solidFill>
                  <a:srgbClr val="000000"/>
                </a:solidFill>
                <a:latin typeface="Arial" pitchFamily="34" charset="0"/>
                <a:cs typeface="Arial" pitchFamily="34" charset="0"/>
              </a:rPr>
              <a:t>Базовый том</a:t>
            </a:r>
          </a:p>
        </p:txBody>
      </p:sp>
      <p:sp>
        <p:nvSpPr>
          <p:cNvPr id="15" name="TextBox 11"/>
          <p:cNvSpPr txBox="1"/>
          <p:nvPr/>
        </p:nvSpPr>
        <p:spPr>
          <a:xfrm>
            <a:off x="7277101" y="2038349"/>
            <a:ext cx="1181099" cy="18466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600" b="0" i="0" dirty="0">
                <a:solidFill>
                  <a:srgbClr val="000000"/>
                </a:solidFill>
                <a:latin typeface="Arial" pitchFamily="34" charset="0"/>
                <a:cs typeface="Arial" pitchFamily="34" charset="0"/>
              </a:rPr>
              <a:t>Объединенный</a:t>
            </a:r>
            <a:r>
              <a:rPr lang="en-US" sz="600" b="0" i="0" dirty="0">
                <a:solidFill>
                  <a:srgbClr val="000000"/>
                </a:solidFill>
                <a:latin typeface="Arial" pitchFamily="34" charset="0"/>
                <a:cs typeface="Arial" pitchFamily="34" charset="0"/>
              </a:rPr>
              <a:t> </a:t>
            </a:r>
            <a:r>
              <a:rPr lang="ru-RU" sz="600" dirty="0">
                <a:solidFill>
                  <a:srgbClr val="000000"/>
                </a:solidFill>
                <a:latin typeface="Arial" pitchFamily="34" charset="0"/>
                <a:cs typeface="Arial" pitchFamily="34" charset="0"/>
              </a:rPr>
              <a:t>Метатом</a:t>
            </a:r>
          </a:p>
        </p:txBody>
      </p:sp>
      <p:sp>
        <p:nvSpPr>
          <p:cNvPr id="16" name="TextBox 13"/>
          <p:cNvSpPr txBox="1"/>
          <p:nvPr/>
        </p:nvSpPr>
        <p:spPr>
          <a:xfrm>
            <a:off x="7121701" y="2522562"/>
            <a:ext cx="685800" cy="18466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600" b="0" i="0" dirty="0">
                <a:solidFill>
                  <a:srgbClr val="000000"/>
                </a:solidFill>
                <a:latin typeface="Arial" pitchFamily="34" charset="0"/>
                <a:cs typeface="Arial" pitchFamily="34" charset="0"/>
              </a:rPr>
              <a:t>Базовый том</a:t>
            </a:r>
          </a:p>
        </p:txBody>
      </p:sp>
      <p:sp>
        <p:nvSpPr>
          <p:cNvPr id="17" name="TextBox 15"/>
          <p:cNvSpPr txBox="1"/>
          <p:nvPr/>
        </p:nvSpPr>
        <p:spPr>
          <a:xfrm>
            <a:off x="7362825" y="4019550"/>
            <a:ext cx="1019175"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600" b="0" i="0" dirty="0">
                <a:solidFill>
                  <a:srgbClr val="000000"/>
                </a:solidFill>
                <a:latin typeface="Arial" pitchFamily="34" charset="0"/>
                <a:cs typeface="Arial" pitchFamily="34" charset="0"/>
              </a:rPr>
              <a:t>Распределенный</a:t>
            </a:r>
            <a:r>
              <a:rPr lang="en-US" sz="600" b="0" i="0" dirty="0">
                <a:solidFill>
                  <a:srgbClr val="000000"/>
                </a:solidFill>
                <a:latin typeface="Arial" pitchFamily="34" charset="0"/>
                <a:cs typeface="Arial" pitchFamily="34" charset="0"/>
              </a:rPr>
              <a:t> </a:t>
            </a:r>
            <a:r>
              <a:rPr lang="ru-RU" sz="600" dirty="0">
                <a:solidFill>
                  <a:srgbClr val="000000"/>
                </a:solidFill>
                <a:latin typeface="Arial" pitchFamily="34" charset="0"/>
                <a:cs typeface="Arial" pitchFamily="34" charset="0"/>
              </a:rPr>
              <a:t>Метатом</a:t>
            </a:r>
          </a:p>
        </p:txBody>
      </p:sp>
      <p:sp>
        <p:nvSpPr>
          <p:cNvPr id="18" name="TextBox 1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561375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Виртуальное выделение ресурсов</a:t>
            </a:r>
          </a:p>
        </p:txBody>
      </p:sp>
      <p:grpSp>
        <p:nvGrpSpPr>
          <p:cNvPr id="5" name="Group 4"/>
          <p:cNvGrpSpPr/>
          <p:nvPr/>
        </p:nvGrpSpPr>
        <p:grpSpPr>
          <a:xfrm>
            <a:off x="83981" y="749875"/>
            <a:ext cx="8865968" cy="4091210"/>
            <a:chOff x="83981" y="749875"/>
            <a:chExt cx="8865968" cy="4091210"/>
          </a:xfrm>
        </p:grpSpPr>
        <p:grpSp>
          <p:nvGrpSpPr>
            <p:cNvPr id="6" name="Group 5"/>
            <p:cNvGrpSpPr/>
            <p:nvPr/>
          </p:nvGrpSpPr>
          <p:grpSpPr>
            <a:xfrm>
              <a:off x="83981" y="1270316"/>
              <a:ext cx="8259966" cy="3570769"/>
              <a:chOff x="45833" y="1276350"/>
              <a:chExt cx="8259966" cy="3570769"/>
            </a:xfrm>
          </p:grpSpPr>
          <p:cxnSp>
            <p:nvCxnSpPr>
              <p:cNvPr id="7" name="Elbow Connector 6"/>
              <p:cNvCxnSpPr/>
              <p:nvPr/>
            </p:nvCxnSpPr>
            <p:spPr>
              <a:xfrm rot="5400000" flipH="1" flipV="1">
                <a:off x="679372" y="3245001"/>
                <a:ext cx="1466783" cy="844318"/>
              </a:xfrm>
              <a:prstGeom prst="bentConnector3">
                <a:avLst>
                  <a:gd name="adj1" fmla="val 1580"/>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8" name="Elbow Connector 7"/>
              <p:cNvCxnSpPr/>
              <p:nvPr/>
            </p:nvCxnSpPr>
            <p:spPr>
              <a:xfrm>
                <a:off x="990602" y="2068819"/>
                <a:ext cx="839295" cy="780981"/>
              </a:xfrm>
              <a:prstGeom prst="bentConnector3">
                <a:avLst>
                  <a:gd name="adj1" fmla="val 99715"/>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sp>
            <p:nvSpPr>
              <p:cNvPr id="9" name="AutoShape 12"/>
              <p:cNvSpPr>
                <a:spLocks noChangeArrowheads="1"/>
              </p:cNvSpPr>
              <p:nvPr/>
            </p:nvSpPr>
            <p:spPr bwMode="auto">
              <a:xfrm>
                <a:off x="2853371" y="1546632"/>
                <a:ext cx="3352974" cy="2438059"/>
              </a:xfrm>
              <a:prstGeom prst="roundRect">
                <a:avLst>
                  <a:gd name="adj" fmla="val 5528"/>
                </a:avLst>
              </a:prstGeom>
              <a:ln>
                <a:headEnd/>
                <a:tailEnd type="none" w="lg" len="med"/>
              </a:ln>
            </p:spPr>
            <p:style>
              <a:lnRef idx="1">
                <a:schemeClr val="dk1"/>
              </a:lnRef>
              <a:fillRef idx="2">
                <a:schemeClr val="dk1"/>
              </a:fillRef>
              <a:effectRef idx="1">
                <a:schemeClr val="dk1"/>
              </a:effectRef>
              <a:fontRef idx="minor">
                <a:schemeClr val="dk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0" name="Text Box 14"/>
              <p:cNvSpPr txBox="1">
                <a:spLocks noChangeArrowheads="1"/>
              </p:cNvSpPr>
              <p:nvPr/>
            </p:nvSpPr>
            <p:spPr bwMode="auto">
              <a:xfrm>
                <a:off x="3210766" y="1872930"/>
                <a:ext cx="652423" cy="16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200" b="0" i="0" dirty="0">
                    <a:solidFill>
                      <a:srgbClr val="000000"/>
                    </a:solidFill>
                    <a:latin typeface="Arial" pitchFamily="34" charset="0"/>
                    <a:cs typeface="Arial" pitchFamily="34" charset="0"/>
                  </a:rPr>
                  <a:t>Внешние</a:t>
                </a:r>
              </a:p>
            </p:txBody>
          </p:sp>
          <p:sp>
            <p:nvSpPr>
              <p:cNvPr id="11" name="Text Box 15"/>
              <p:cNvSpPr txBox="1">
                <a:spLocks noChangeArrowheads="1"/>
              </p:cNvSpPr>
              <p:nvPr/>
            </p:nvSpPr>
            <p:spPr bwMode="auto">
              <a:xfrm>
                <a:off x="5191574" y="1855349"/>
                <a:ext cx="846386" cy="16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200" b="0" i="0" dirty="0">
                    <a:solidFill>
                      <a:srgbClr val="000000"/>
                    </a:solidFill>
                    <a:latin typeface="Arial" pitchFamily="34" charset="0"/>
                    <a:cs typeface="Arial" pitchFamily="34" charset="0"/>
                  </a:rPr>
                  <a:t>Внутренние</a:t>
                </a:r>
              </a:p>
            </p:txBody>
          </p:sp>
          <p:sp>
            <p:nvSpPr>
              <p:cNvPr id="12" name="Text Box 16"/>
              <p:cNvSpPr txBox="1">
                <a:spLocks noChangeArrowheads="1"/>
              </p:cNvSpPr>
              <p:nvPr/>
            </p:nvSpPr>
            <p:spPr bwMode="auto">
              <a:xfrm>
                <a:off x="4152298" y="2239678"/>
                <a:ext cx="851194" cy="16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lnSpc>
                    <a:spcPct val="90000"/>
                  </a:lnSpc>
                  <a:spcBef>
                    <a:spcPct val="50000"/>
                  </a:spcBef>
                </a:pPr>
                <a:r>
                  <a:rPr lang="ru-RU" sz="1200" b="0" i="0" dirty="0">
                    <a:solidFill>
                      <a:srgbClr val="000000"/>
                    </a:solidFill>
                    <a:latin typeface="Arial" pitchFamily="34" charset="0"/>
                    <a:cs typeface="Arial" pitchFamily="34" charset="0"/>
                  </a:rPr>
                  <a:t>Кэш-память</a:t>
                </a:r>
              </a:p>
            </p:txBody>
          </p:sp>
          <p:sp>
            <p:nvSpPr>
              <p:cNvPr id="13" name="Line 19"/>
              <p:cNvSpPr>
                <a:spLocks noChangeShapeType="1"/>
              </p:cNvSpPr>
              <p:nvPr/>
            </p:nvSpPr>
            <p:spPr bwMode="auto">
              <a:xfrm flipH="1">
                <a:off x="3852489" y="2843734"/>
                <a:ext cx="142384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4" name="Line 35"/>
              <p:cNvSpPr>
                <a:spLocks noChangeShapeType="1"/>
              </p:cNvSpPr>
              <p:nvPr/>
            </p:nvSpPr>
            <p:spPr bwMode="auto">
              <a:xfrm flipH="1">
                <a:off x="3852489" y="2973174"/>
                <a:ext cx="142384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5" name="Rectangle 38"/>
              <p:cNvSpPr>
                <a:spLocks noChangeArrowheads="1"/>
              </p:cNvSpPr>
              <p:nvPr/>
            </p:nvSpPr>
            <p:spPr bwMode="auto">
              <a:xfrm>
                <a:off x="4155866" y="2487772"/>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6" name="Rectangle 39"/>
              <p:cNvSpPr>
                <a:spLocks noChangeArrowheads="1"/>
              </p:cNvSpPr>
              <p:nvPr/>
            </p:nvSpPr>
            <p:spPr bwMode="auto">
              <a:xfrm>
                <a:off x="4265081" y="2487772"/>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7" name="Rectangle 40"/>
              <p:cNvSpPr>
                <a:spLocks noChangeArrowheads="1"/>
              </p:cNvSpPr>
              <p:nvPr/>
            </p:nvSpPr>
            <p:spPr bwMode="auto">
              <a:xfrm>
                <a:off x="4374297" y="2487772"/>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8" name="Rectangle 41"/>
              <p:cNvSpPr>
                <a:spLocks noChangeArrowheads="1"/>
              </p:cNvSpPr>
              <p:nvPr/>
            </p:nvSpPr>
            <p:spPr bwMode="auto">
              <a:xfrm>
                <a:off x="4483512" y="2487772"/>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9" name="Rectangle 42"/>
              <p:cNvSpPr>
                <a:spLocks noChangeArrowheads="1"/>
              </p:cNvSpPr>
              <p:nvPr/>
            </p:nvSpPr>
            <p:spPr bwMode="auto">
              <a:xfrm>
                <a:off x="4592728" y="2487772"/>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0" name="Rectangle 43"/>
              <p:cNvSpPr>
                <a:spLocks noChangeArrowheads="1"/>
              </p:cNvSpPr>
              <p:nvPr/>
            </p:nvSpPr>
            <p:spPr bwMode="auto">
              <a:xfrm>
                <a:off x="4701943" y="2487772"/>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1" name="Rectangle 44"/>
              <p:cNvSpPr>
                <a:spLocks noChangeArrowheads="1"/>
              </p:cNvSpPr>
              <p:nvPr/>
            </p:nvSpPr>
            <p:spPr bwMode="auto">
              <a:xfrm>
                <a:off x="4811158" y="2487772"/>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2" name="Rectangle 45"/>
              <p:cNvSpPr>
                <a:spLocks noChangeArrowheads="1"/>
              </p:cNvSpPr>
              <p:nvPr/>
            </p:nvSpPr>
            <p:spPr bwMode="auto">
              <a:xfrm>
                <a:off x="4920373" y="2487772"/>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3" name="Rectangle 22"/>
              <p:cNvSpPr>
                <a:spLocks noChangeArrowheads="1"/>
              </p:cNvSpPr>
              <p:nvPr/>
            </p:nvSpPr>
            <p:spPr bwMode="auto">
              <a:xfrm>
                <a:off x="4155866" y="2596988"/>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4" name="Rectangle 23"/>
              <p:cNvSpPr>
                <a:spLocks noChangeArrowheads="1"/>
              </p:cNvSpPr>
              <p:nvPr/>
            </p:nvSpPr>
            <p:spPr bwMode="auto">
              <a:xfrm>
                <a:off x="4265081" y="2596988"/>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5" name="Rectangle 24"/>
              <p:cNvSpPr>
                <a:spLocks noChangeArrowheads="1"/>
              </p:cNvSpPr>
              <p:nvPr/>
            </p:nvSpPr>
            <p:spPr bwMode="auto">
              <a:xfrm>
                <a:off x="4374297" y="2596988"/>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6" name="Rectangle 25"/>
              <p:cNvSpPr>
                <a:spLocks noChangeArrowheads="1"/>
              </p:cNvSpPr>
              <p:nvPr/>
            </p:nvSpPr>
            <p:spPr bwMode="auto">
              <a:xfrm>
                <a:off x="4483512" y="2596988"/>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7" name="Rectangle 26"/>
              <p:cNvSpPr>
                <a:spLocks noChangeArrowheads="1"/>
              </p:cNvSpPr>
              <p:nvPr/>
            </p:nvSpPr>
            <p:spPr bwMode="auto">
              <a:xfrm>
                <a:off x="4592728" y="2596988"/>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8" name="Rectangle 27"/>
              <p:cNvSpPr>
                <a:spLocks noChangeArrowheads="1"/>
              </p:cNvSpPr>
              <p:nvPr/>
            </p:nvSpPr>
            <p:spPr bwMode="auto">
              <a:xfrm>
                <a:off x="4701943" y="2596988"/>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29" name="Rectangle 28"/>
              <p:cNvSpPr>
                <a:spLocks noChangeArrowheads="1"/>
              </p:cNvSpPr>
              <p:nvPr/>
            </p:nvSpPr>
            <p:spPr bwMode="auto">
              <a:xfrm>
                <a:off x="4811158" y="2596988"/>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0" name="Rectangle 29"/>
              <p:cNvSpPr>
                <a:spLocks noChangeArrowheads="1"/>
              </p:cNvSpPr>
              <p:nvPr/>
            </p:nvSpPr>
            <p:spPr bwMode="auto">
              <a:xfrm>
                <a:off x="4920373" y="2596988"/>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1" name="Rectangle 56"/>
              <p:cNvSpPr>
                <a:spLocks noChangeArrowheads="1"/>
              </p:cNvSpPr>
              <p:nvPr/>
            </p:nvSpPr>
            <p:spPr bwMode="auto">
              <a:xfrm>
                <a:off x="4155866" y="2706203"/>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2" name="Rectangle 57"/>
              <p:cNvSpPr>
                <a:spLocks noChangeArrowheads="1"/>
              </p:cNvSpPr>
              <p:nvPr/>
            </p:nvSpPr>
            <p:spPr bwMode="auto">
              <a:xfrm>
                <a:off x="4265081" y="2706203"/>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3" name="Rectangle 58"/>
              <p:cNvSpPr>
                <a:spLocks noChangeArrowheads="1"/>
              </p:cNvSpPr>
              <p:nvPr/>
            </p:nvSpPr>
            <p:spPr bwMode="auto">
              <a:xfrm>
                <a:off x="4374297" y="2706203"/>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4" name="Rectangle 59"/>
              <p:cNvSpPr>
                <a:spLocks noChangeArrowheads="1"/>
              </p:cNvSpPr>
              <p:nvPr/>
            </p:nvSpPr>
            <p:spPr bwMode="auto">
              <a:xfrm>
                <a:off x="4483512" y="2706203"/>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5" name="Rectangle 60"/>
              <p:cNvSpPr>
                <a:spLocks noChangeArrowheads="1"/>
              </p:cNvSpPr>
              <p:nvPr/>
            </p:nvSpPr>
            <p:spPr bwMode="auto">
              <a:xfrm>
                <a:off x="4592728" y="2706203"/>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6" name="Rectangle 61"/>
              <p:cNvSpPr>
                <a:spLocks noChangeArrowheads="1"/>
              </p:cNvSpPr>
              <p:nvPr/>
            </p:nvSpPr>
            <p:spPr bwMode="auto">
              <a:xfrm>
                <a:off x="4701943" y="2706203"/>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7" name="Rectangle 62"/>
              <p:cNvSpPr>
                <a:spLocks noChangeArrowheads="1"/>
              </p:cNvSpPr>
              <p:nvPr/>
            </p:nvSpPr>
            <p:spPr bwMode="auto">
              <a:xfrm>
                <a:off x="4811158" y="2706203"/>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8" name="Rectangle 63"/>
              <p:cNvSpPr>
                <a:spLocks noChangeArrowheads="1"/>
              </p:cNvSpPr>
              <p:nvPr/>
            </p:nvSpPr>
            <p:spPr bwMode="auto">
              <a:xfrm>
                <a:off x="4920373" y="2706203"/>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39" name="Rectangle 65"/>
              <p:cNvSpPr>
                <a:spLocks noChangeArrowheads="1"/>
              </p:cNvSpPr>
              <p:nvPr/>
            </p:nvSpPr>
            <p:spPr bwMode="auto">
              <a:xfrm>
                <a:off x="4155866" y="2815419"/>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0" name="Rectangle 66"/>
              <p:cNvSpPr>
                <a:spLocks noChangeArrowheads="1"/>
              </p:cNvSpPr>
              <p:nvPr/>
            </p:nvSpPr>
            <p:spPr bwMode="auto">
              <a:xfrm>
                <a:off x="4265081" y="2815419"/>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1" name="Rectangle 67"/>
              <p:cNvSpPr>
                <a:spLocks noChangeArrowheads="1"/>
              </p:cNvSpPr>
              <p:nvPr/>
            </p:nvSpPr>
            <p:spPr bwMode="auto">
              <a:xfrm>
                <a:off x="4374297" y="2815419"/>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2" name="Rectangle 68"/>
              <p:cNvSpPr>
                <a:spLocks noChangeArrowheads="1"/>
              </p:cNvSpPr>
              <p:nvPr/>
            </p:nvSpPr>
            <p:spPr bwMode="auto">
              <a:xfrm>
                <a:off x="4483512" y="2815419"/>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3" name="Rectangle 69"/>
              <p:cNvSpPr>
                <a:spLocks noChangeArrowheads="1"/>
              </p:cNvSpPr>
              <p:nvPr/>
            </p:nvSpPr>
            <p:spPr bwMode="auto">
              <a:xfrm>
                <a:off x="4592728" y="2815419"/>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4" name="Rectangle 70"/>
              <p:cNvSpPr>
                <a:spLocks noChangeArrowheads="1"/>
              </p:cNvSpPr>
              <p:nvPr/>
            </p:nvSpPr>
            <p:spPr bwMode="auto">
              <a:xfrm>
                <a:off x="4701943" y="2815419"/>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5" name="Rectangle 71"/>
              <p:cNvSpPr>
                <a:spLocks noChangeArrowheads="1"/>
              </p:cNvSpPr>
              <p:nvPr/>
            </p:nvSpPr>
            <p:spPr bwMode="auto">
              <a:xfrm>
                <a:off x="4811158" y="2815419"/>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6" name="Rectangle 72"/>
              <p:cNvSpPr>
                <a:spLocks noChangeArrowheads="1"/>
              </p:cNvSpPr>
              <p:nvPr/>
            </p:nvSpPr>
            <p:spPr bwMode="auto">
              <a:xfrm>
                <a:off x="4920373" y="2815419"/>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7" name="Rectangle 74"/>
              <p:cNvSpPr>
                <a:spLocks noChangeArrowheads="1"/>
              </p:cNvSpPr>
              <p:nvPr/>
            </p:nvSpPr>
            <p:spPr bwMode="auto">
              <a:xfrm>
                <a:off x="4155866" y="2924634"/>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8" name="Rectangle 75"/>
              <p:cNvSpPr>
                <a:spLocks noChangeArrowheads="1"/>
              </p:cNvSpPr>
              <p:nvPr/>
            </p:nvSpPr>
            <p:spPr bwMode="auto">
              <a:xfrm>
                <a:off x="4265081" y="2924634"/>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49" name="Rectangle 76"/>
              <p:cNvSpPr>
                <a:spLocks noChangeArrowheads="1"/>
              </p:cNvSpPr>
              <p:nvPr/>
            </p:nvSpPr>
            <p:spPr bwMode="auto">
              <a:xfrm>
                <a:off x="4374297" y="2924634"/>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0" name="Rectangle 77"/>
              <p:cNvSpPr>
                <a:spLocks noChangeArrowheads="1"/>
              </p:cNvSpPr>
              <p:nvPr/>
            </p:nvSpPr>
            <p:spPr bwMode="auto">
              <a:xfrm>
                <a:off x="4483512" y="2924634"/>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1" name="Rectangle 78"/>
              <p:cNvSpPr>
                <a:spLocks noChangeArrowheads="1"/>
              </p:cNvSpPr>
              <p:nvPr/>
            </p:nvSpPr>
            <p:spPr bwMode="auto">
              <a:xfrm>
                <a:off x="4592728" y="2924634"/>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2" name="Rectangle 79"/>
              <p:cNvSpPr>
                <a:spLocks noChangeArrowheads="1"/>
              </p:cNvSpPr>
              <p:nvPr/>
            </p:nvSpPr>
            <p:spPr bwMode="auto">
              <a:xfrm>
                <a:off x="4701943" y="2924634"/>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3" name="Rectangle 80"/>
              <p:cNvSpPr>
                <a:spLocks noChangeArrowheads="1"/>
              </p:cNvSpPr>
              <p:nvPr/>
            </p:nvSpPr>
            <p:spPr bwMode="auto">
              <a:xfrm>
                <a:off x="4811158" y="2924634"/>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4" name="Rectangle 81"/>
              <p:cNvSpPr>
                <a:spLocks noChangeArrowheads="1"/>
              </p:cNvSpPr>
              <p:nvPr/>
            </p:nvSpPr>
            <p:spPr bwMode="auto">
              <a:xfrm>
                <a:off x="4920373" y="2924634"/>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5" name="Rectangle 83"/>
              <p:cNvSpPr>
                <a:spLocks noChangeArrowheads="1"/>
              </p:cNvSpPr>
              <p:nvPr/>
            </p:nvSpPr>
            <p:spPr bwMode="auto">
              <a:xfrm>
                <a:off x="4155866" y="3033850"/>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6" name="Rectangle 84"/>
              <p:cNvSpPr>
                <a:spLocks noChangeArrowheads="1"/>
              </p:cNvSpPr>
              <p:nvPr/>
            </p:nvSpPr>
            <p:spPr bwMode="auto">
              <a:xfrm>
                <a:off x="4265081" y="3033850"/>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7" name="Rectangle 85"/>
              <p:cNvSpPr>
                <a:spLocks noChangeArrowheads="1"/>
              </p:cNvSpPr>
              <p:nvPr/>
            </p:nvSpPr>
            <p:spPr bwMode="auto">
              <a:xfrm>
                <a:off x="4374297" y="3033850"/>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8" name="Rectangle 86"/>
              <p:cNvSpPr>
                <a:spLocks noChangeArrowheads="1"/>
              </p:cNvSpPr>
              <p:nvPr/>
            </p:nvSpPr>
            <p:spPr bwMode="auto">
              <a:xfrm>
                <a:off x="4483512" y="3033850"/>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59" name="Rectangle 87"/>
              <p:cNvSpPr>
                <a:spLocks noChangeArrowheads="1"/>
              </p:cNvSpPr>
              <p:nvPr/>
            </p:nvSpPr>
            <p:spPr bwMode="auto">
              <a:xfrm>
                <a:off x="4592728" y="3033850"/>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0" name="Rectangle 88"/>
              <p:cNvSpPr>
                <a:spLocks noChangeArrowheads="1"/>
              </p:cNvSpPr>
              <p:nvPr/>
            </p:nvSpPr>
            <p:spPr bwMode="auto">
              <a:xfrm>
                <a:off x="4701943" y="3033850"/>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1" name="Rectangle 89"/>
              <p:cNvSpPr>
                <a:spLocks noChangeArrowheads="1"/>
              </p:cNvSpPr>
              <p:nvPr/>
            </p:nvSpPr>
            <p:spPr bwMode="auto">
              <a:xfrm>
                <a:off x="4811158" y="3033850"/>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2" name="Rectangle 90"/>
              <p:cNvSpPr>
                <a:spLocks noChangeArrowheads="1"/>
              </p:cNvSpPr>
              <p:nvPr/>
            </p:nvSpPr>
            <p:spPr bwMode="auto">
              <a:xfrm>
                <a:off x="4920373" y="3033850"/>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3" name="Rectangle 92"/>
              <p:cNvSpPr>
                <a:spLocks noChangeArrowheads="1"/>
              </p:cNvSpPr>
              <p:nvPr/>
            </p:nvSpPr>
            <p:spPr bwMode="auto">
              <a:xfrm>
                <a:off x="4155866" y="3143065"/>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4" name="Rectangle 93"/>
              <p:cNvSpPr>
                <a:spLocks noChangeArrowheads="1"/>
              </p:cNvSpPr>
              <p:nvPr/>
            </p:nvSpPr>
            <p:spPr bwMode="auto">
              <a:xfrm>
                <a:off x="4265081" y="3143065"/>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5" name="Rectangle 94"/>
              <p:cNvSpPr>
                <a:spLocks noChangeArrowheads="1"/>
              </p:cNvSpPr>
              <p:nvPr/>
            </p:nvSpPr>
            <p:spPr bwMode="auto">
              <a:xfrm>
                <a:off x="4374297" y="3143065"/>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6" name="Rectangle 95"/>
              <p:cNvSpPr>
                <a:spLocks noChangeArrowheads="1"/>
              </p:cNvSpPr>
              <p:nvPr/>
            </p:nvSpPr>
            <p:spPr bwMode="auto">
              <a:xfrm>
                <a:off x="4483512" y="3143065"/>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7" name="Rectangle 96"/>
              <p:cNvSpPr>
                <a:spLocks noChangeArrowheads="1"/>
              </p:cNvSpPr>
              <p:nvPr/>
            </p:nvSpPr>
            <p:spPr bwMode="auto">
              <a:xfrm>
                <a:off x="4592728" y="3143065"/>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8" name="Rectangle 97"/>
              <p:cNvSpPr>
                <a:spLocks noChangeArrowheads="1"/>
              </p:cNvSpPr>
              <p:nvPr/>
            </p:nvSpPr>
            <p:spPr bwMode="auto">
              <a:xfrm>
                <a:off x="4701943" y="3143065"/>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69" name="Rectangle 98"/>
              <p:cNvSpPr>
                <a:spLocks noChangeArrowheads="1"/>
              </p:cNvSpPr>
              <p:nvPr/>
            </p:nvSpPr>
            <p:spPr bwMode="auto">
              <a:xfrm>
                <a:off x="4811158" y="3143065"/>
                <a:ext cx="109215"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0" name="Rectangle 99"/>
              <p:cNvSpPr>
                <a:spLocks noChangeArrowheads="1"/>
              </p:cNvSpPr>
              <p:nvPr/>
            </p:nvSpPr>
            <p:spPr bwMode="auto">
              <a:xfrm>
                <a:off x="4920373" y="3143065"/>
                <a:ext cx="109216" cy="109216"/>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1" name="Rectangle 101"/>
              <p:cNvSpPr>
                <a:spLocks noChangeArrowheads="1"/>
              </p:cNvSpPr>
              <p:nvPr/>
            </p:nvSpPr>
            <p:spPr bwMode="auto">
              <a:xfrm>
                <a:off x="4155866" y="3252281"/>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2" name="Rectangle 102"/>
              <p:cNvSpPr>
                <a:spLocks noChangeArrowheads="1"/>
              </p:cNvSpPr>
              <p:nvPr/>
            </p:nvSpPr>
            <p:spPr bwMode="auto">
              <a:xfrm>
                <a:off x="4265081" y="3252281"/>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3" name="Rectangle 103"/>
              <p:cNvSpPr>
                <a:spLocks noChangeArrowheads="1"/>
              </p:cNvSpPr>
              <p:nvPr/>
            </p:nvSpPr>
            <p:spPr bwMode="auto">
              <a:xfrm>
                <a:off x="4374297" y="3252281"/>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4" name="Rectangle 104"/>
              <p:cNvSpPr>
                <a:spLocks noChangeArrowheads="1"/>
              </p:cNvSpPr>
              <p:nvPr/>
            </p:nvSpPr>
            <p:spPr bwMode="auto">
              <a:xfrm>
                <a:off x="4483512" y="3252281"/>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5" name="Rectangle 105"/>
              <p:cNvSpPr>
                <a:spLocks noChangeArrowheads="1"/>
              </p:cNvSpPr>
              <p:nvPr/>
            </p:nvSpPr>
            <p:spPr bwMode="auto">
              <a:xfrm>
                <a:off x="4592728" y="3252281"/>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6" name="Rectangle 106"/>
              <p:cNvSpPr>
                <a:spLocks noChangeArrowheads="1"/>
              </p:cNvSpPr>
              <p:nvPr/>
            </p:nvSpPr>
            <p:spPr bwMode="auto">
              <a:xfrm>
                <a:off x="4701943" y="3252281"/>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7" name="Rectangle 107"/>
              <p:cNvSpPr>
                <a:spLocks noChangeArrowheads="1"/>
              </p:cNvSpPr>
              <p:nvPr/>
            </p:nvSpPr>
            <p:spPr bwMode="auto">
              <a:xfrm>
                <a:off x="4811158" y="3252281"/>
                <a:ext cx="109215"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8" name="Rectangle 108"/>
              <p:cNvSpPr>
                <a:spLocks noChangeArrowheads="1"/>
              </p:cNvSpPr>
              <p:nvPr/>
            </p:nvSpPr>
            <p:spPr bwMode="auto">
              <a:xfrm>
                <a:off x="4920373" y="3252281"/>
                <a:ext cx="109216" cy="10921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79" name="Line 110"/>
              <p:cNvSpPr>
                <a:spLocks noChangeShapeType="1"/>
              </p:cNvSpPr>
              <p:nvPr/>
            </p:nvSpPr>
            <p:spPr bwMode="auto">
              <a:xfrm>
                <a:off x="6012695" y="3428235"/>
                <a:ext cx="387300"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0" name="Line 111"/>
              <p:cNvSpPr>
                <a:spLocks noChangeShapeType="1"/>
              </p:cNvSpPr>
              <p:nvPr/>
            </p:nvSpPr>
            <p:spPr bwMode="auto">
              <a:xfrm>
                <a:off x="6309989" y="2688826"/>
                <a:ext cx="0" cy="172285"/>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1" name="Line 114"/>
              <p:cNvSpPr>
                <a:spLocks noChangeShapeType="1"/>
              </p:cNvSpPr>
              <p:nvPr/>
            </p:nvSpPr>
            <p:spPr bwMode="auto">
              <a:xfrm>
                <a:off x="5904171" y="2386647"/>
                <a:ext cx="48961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2" name="Line 115"/>
              <p:cNvSpPr>
                <a:spLocks noChangeShapeType="1"/>
              </p:cNvSpPr>
              <p:nvPr/>
            </p:nvSpPr>
            <p:spPr bwMode="auto">
              <a:xfrm>
                <a:off x="6385240" y="2779014"/>
                <a:ext cx="25483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3" name="Line 116"/>
              <p:cNvSpPr>
                <a:spLocks noChangeShapeType="1"/>
              </p:cNvSpPr>
              <p:nvPr/>
            </p:nvSpPr>
            <p:spPr bwMode="auto">
              <a:xfrm>
                <a:off x="6302959" y="2849801"/>
                <a:ext cx="34409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4" name="Line 117"/>
              <p:cNvSpPr>
                <a:spLocks noChangeShapeType="1"/>
              </p:cNvSpPr>
              <p:nvPr/>
            </p:nvSpPr>
            <p:spPr bwMode="auto">
              <a:xfrm>
                <a:off x="6386691" y="2977219"/>
                <a:ext cx="254836"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5" name="Line 118"/>
              <p:cNvSpPr>
                <a:spLocks noChangeShapeType="1"/>
              </p:cNvSpPr>
              <p:nvPr/>
            </p:nvSpPr>
            <p:spPr bwMode="auto">
              <a:xfrm>
                <a:off x="6052573" y="2698115"/>
                <a:ext cx="261578"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6" name="Line 119"/>
              <p:cNvSpPr>
                <a:spLocks noChangeShapeType="1"/>
              </p:cNvSpPr>
              <p:nvPr/>
            </p:nvSpPr>
            <p:spPr bwMode="auto">
              <a:xfrm flipV="1">
                <a:off x="6058640" y="3116771"/>
                <a:ext cx="261578"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7" name="Line 120"/>
              <p:cNvSpPr>
                <a:spLocks noChangeShapeType="1"/>
              </p:cNvSpPr>
              <p:nvPr/>
            </p:nvSpPr>
            <p:spPr bwMode="auto">
              <a:xfrm>
                <a:off x="6307003" y="2914521"/>
                <a:ext cx="358928"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8" name="Line 123"/>
              <p:cNvSpPr>
                <a:spLocks noChangeShapeType="1"/>
              </p:cNvSpPr>
              <p:nvPr/>
            </p:nvSpPr>
            <p:spPr bwMode="auto">
              <a:xfrm>
                <a:off x="6390063" y="2379365"/>
                <a:ext cx="0" cy="40557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89" name="Line 124"/>
              <p:cNvSpPr>
                <a:spLocks noChangeShapeType="1"/>
              </p:cNvSpPr>
              <p:nvPr/>
            </p:nvSpPr>
            <p:spPr bwMode="auto">
              <a:xfrm>
                <a:off x="6307700" y="2912498"/>
                <a:ext cx="0" cy="214548"/>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90" name="Rectangle 126"/>
              <p:cNvSpPr>
                <a:spLocks noChangeArrowheads="1"/>
              </p:cNvSpPr>
              <p:nvPr/>
            </p:nvSpPr>
            <p:spPr bwMode="auto">
              <a:xfrm>
                <a:off x="5281728" y="2111586"/>
                <a:ext cx="666079" cy="1589691"/>
              </a:xfrm>
              <a:prstGeom prst="rect">
                <a:avLst/>
              </a:prstGeom>
              <a:ln>
                <a:headEnd/>
                <a:tailEnd type="none" w="lg" len="me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91" name="Rectangle 130"/>
              <p:cNvSpPr>
                <a:spLocks noChangeArrowheads="1"/>
              </p:cNvSpPr>
              <p:nvPr/>
            </p:nvSpPr>
            <p:spPr bwMode="auto">
              <a:xfrm>
                <a:off x="5947808" y="2317882"/>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92" name="Rectangle 131"/>
              <p:cNvSpPr>
                <a:spLocks noChangeArrowheads="1"/>
              </p:cNvSpPr>
              <p:nvPr/>
            </p:nvSpPr>
            <p:spPr bwMode="auto">
              <a:xfrm>
                <a:off x="5947808" y="2630696"/>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93" name="Rectangle 133"/>
              <p:cNvSpPr>
                <a:spLocks noChangeArrowheads="1"/>
              </p:cNvSpPr>
              <p:nvPr/>
            </p:nvSpPr>
            <p:spPr bwMode="auto">
              <a:xfrm>
                <a:off x="5947808" y="3052727"/>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94" name="Rectangle 134"/>
              <p:cNvSpPr>
                <a:spLocks noChangeArrowheads="1"/>
              </p:cNvSpPr>
              <p:nvPr/>
            </p:nvSpPr>
            <p:spPr bwMode="auto">
              <a:xfrm>
                <a:off x="5947808" y="3365541"/>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95" name="Rectangle 136"/>
              <p:cNvSpPr>
                <a:spLocks noChangeArrowheads="1"/>
              </p:cNvSpPr>
              <p:nvPr/>
            </p:nvSpPr>
            <p:spPr bwMode="auto">
              <a:xfrm>
                <a:off x="3203939" y="2251814"/>
                <a:ext cx="335736" cy="612146"/>
              </a:xfrm>
              <a:prstGeom prst="rect">
                <a:avLst/>
              </a:prstGeom>
              <a:gradFill rotWithShape="1">
                <a:gsLst>
                  <a:gs pos="0">
                    <a:srgbClr val="86BAB5"/>
                  </a:gs>
                  <a:gs pos="100000">
                    <a:srgbClr val="86BAB5">
                      <a:gamma/>
                      <a:shade val="67843"/>
                      <a:invGamma/>
                    </a:srgbClr>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sz="1400">
                  <a:latin typeface="Arial" pitchFamily="34" charset="0"/>
                  <a:ea typeface="Verdana" panose="020B0604030504040204" pitchFamily="34" charset="0"/>
                  <a:cs typeface="Arial" pitchFamily="34" charset="0"/>
                </a:endParaRPr>
              </a:p>
            </p:txBody>
          </p:sp>
          <p:sp>
            <p:nvSpPr>
              <p:cNvPr id="96" name="Rectangle 137"/>
              <p:cNvSpPr>
                <a:spLocks noChangeArrowheads="1"/>
              </p:cNvSpPr>
              <p:nvPr/>
            </p:nvSpPr>
            <p:spPr bwMode="auto">
              <a:xfrm>
                <a:off x="3203939" y="2985310"/>
                <a:ext cx="335736" cy="612146"/>
              </a:xfrm>
              <a:prstGeom prst="rect">
                <a:avLst/>
              </a:prstGeom>
              <a:gradFill rotWithShape="1">
                <a:gsLst>
                  <a:gs pos="0">
                    <a:srgbClr val="86BAB5"/>
                  </a:gs>
                  <a:gs pos="100000">
                    <a:srgbClr val="86BAB5">
                      <a:gamma/>
                      <a:shade val="67843"/>
                      <a:invGamma/>
                    </a:srgbClr>
                  </a:gs>
                </a:gsLst>
                <a:lin ang="2700000" scaled="1"/>
              </a:gradFill>
              <a:ln w="12700" algn="ctr">
                <a:solidFill>
                  <a:srgbClr val="88B8B6"/>
                </a:solidFill>
                <a:miter lim="800000"/>
                <a:headEnd/>
                <a:tailEnd type="none" w="lg"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US" sz="1400">
                  <a:latin typeface="Arial" pitchFamily="34" charset="0"/>
                  <a:ea typeface="Verdana" panose="020B0604030504040204" pitchFamily="34" charset="0"/>
                  <a:cs typeface="Arial" pitchFamily="34" charset="0"/>
                </a:endParaRPr>
              </a:p>
            </p:txBody>
          </p:sp>
          <p:sp>
            <p:nvSpPr>
              <p:cNvPr id="97" name="Rectangle 138"/>
              <p:cNvSpPr>
                <a:spLocks noChangeArrowheads="1"/>
              </p:cNvSpPr>
              <p:nvPr/>
            </p:nvSpPr>
            <p:spPr bwMode="auto">
              <a:xfrm>
                <a:off x="3075846" y="2336758"/>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98" name="Rectangle 139"/>
              <p:cNvSpPr>
                <a:spLocks noChangeArrowheads="1"/>
              </p:cNvSpPr>
              <p:nvPr/>
            </p:nvSpPr>
            <p:spPr bwMode="auto">
              <a:xfrm>
                <a:off x="3075846" y="2649573"/>
                <a:ext cx="128093" cy="128093"/>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99" name="Rectangle 141"/>
              <p:cNvSpPr>
                <a:spLocks noChangeArrowheads="1"/>
              </p:cNvSpPr>
              <p:nvPr/>
            </p:nvSpPr>
            <p:spPr bwMode="auto">
              <a:xfrm>
                <a:off x="3075846" y="3071604"/>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00" name="Rectangle 142"/>
              <p:cNvSpPr>
                <a:spLocks noChangeArrowheads="1"/>
              </p:cNvSpPr>
              <p:nvPr/>
            </p:nvSpPr>
            <p:spPr bwMode="auto">
              <a:xfrm>
                <a:off x="3075846" y="3384418"/>
                <a:ext cx="128093" cy="128092"/>
              </a:xfrm>
              <a:prstGeom prst="rect">
                <a:avLst/>
              </a:prstGeom>
              <a:ln>
                <a:solidFill>
                  <a:schemeClr val="bg2">
                    <a:lumMod val="60000"/>
                    <a:lumOff val="40000"/>
                  </a:schemeClr>
                </a:solidFill>
                <a:headEnd/>
                <a:tailEnd/>
              </a:ln>
            </p:spPr>
            <p:style>
              <a:lnRef idx="1">
                <a:schemeClr val="accent3"/>
              </a:lnRef>
              <a:fillRef idx="1001">
                <a:schemeClr val="lt2"/>
              </a:fillRef>
              <a:effectRef idx="2">
                <a:schemeClr val="accent3"/>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01" name="Rectangle 143"/>
              <p:cNvSpPr>
                <a:spLocks noChangeArrowheads="1"/>
              </p:cNvSpPr>
              <p:nvPr/>
            </p:nvSpPr>
            <p:spPr bwMode="auto">
              <a:xfrm>
                <a:off x="3203939" y="2130463"/>
                <a:ext cx="666079" cy="1589691"/>
              </a:xfrm>
              <a:prstGeom prst="rect">
                <a:avLst/>
              </a:prstGeom>
              <a:ln>
                <a:headEnd/>
                <a:tailEnd type="none" w="lg" len="med"/>
              </a:ln>
            </p:spPr>
            <p:style>
              <a:lnRef idx="0">
                <a:schemeClr val="accent1"/>
              </a:lnRef>
              <a:fillRef idx="3">
                <a:schemeClr val="accent1"/>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02" name="TextBox 101"/>
              <p:cNvSpPr txBox="1"/>
              <p:nvPr/>
            </p:nvSpPr>
            <p:spPr>
              <a:xfrm>
                <a:off x="3994952" y="1276350"/>
                <a:ext cx="1030860" cy="276999"/>
              </a:xfrm>
              <a:prstGeom prst="rect">
                <a:avLst/>
              </a:prstGeom>
              <a:noFill/>
            </p:spPr>
            <p:txBody>
              <a:bodyPr wrap="none" rtlCol="0">
                <a:spAutoFit/>
              </a:bodyPr>
              <a:lstStyle/>
              <a:p>
                <a:r>
                  <a:rPr lang="ru-RU" sz="1200" b="0" i="0" dirty="0">
                    <a:solidFill>
                      <a:srgbClr val="000000"/>
                    </a:solidFill>
                    <a:latin typeface="Arial" pitchFamily="34" charset="0"/>
                    <a:cs typeface="Arial" pitchFamily="34" charset="0"/>
                  </a:rPr>
                  <a:t>Контроллер</a:t>
                </a:r>
              </a:p>
            </p:txBody>
          </p:sp>
          <p:sp>
            <p:nvSpPr>
              <p:cNvPr id="103" name="Text Box 17"/>
              <p:cNvSpPr txBox="1">
                <a:spLocks noChangeArrowheads="1"/>
              </p:cNvSpPr>
              <p:nvPr/>
            </p:nvSpPr>
            <p:spPr bwMode="auto">
              <a:xfrm>
                <a:off x="6372177" y="1739584"/>
                <a:ext cx="1633794" cy="332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0" indent="0" algn="ctr">
                  <a:lnSpc>
                    <a:spcPct val="90000"/>
                  </a:lnSpc>
                  <a:spcBef>
                    <a:spcPts val="0"/>
                  </a:spcBef>
                </a:pPr>
                <a:r>
                  <a:rPr lang="ru-RU" sz="1200" b="0" i="0" dirty="0">
                    <a:solidFill>
                      <a:srgbClr val="000000"/>
                    </a:solidFill>
                    <a:latin typeface="Arial" pitchFamily="34" charset="0"/>
                    <a:cs typeface="Arial" pitchFamily="34" charset="0"/>
                  </a:rPr>
                  <a:t>Система хранения (пул хранения данных)</a:t>
                </a:r>
              </a:p>
            </p:txBody>
          </p:sp>
          <p:cxnSp>
            <p:nvCxnSpPr>
              <p:cNvPr id="104" name="Elbow Connector 103"/>
              <p:cNvCxnSpPr>
                <a:endCxn id="100" idx="1"/>
              </p:cNvCxnSpPr>
              <p:nvPr/>
            </p:nvCxnSpPr>
            <p:spPr>
              <a:xfrm>
                <a:off x="2102300" y="3027677"/>
                <a:ext cx="973546" cy="420787"/>
              </a:xfrm>
              <a:prstGeom prst="bentConnector3">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05" name="Elbow Connector 104"/>
              <p:cNvCxnSpPr>
                <a:stCxn id="99" idx="1"/>
              </p:cNvCxnSpPr>
              <p:nvPr/>
            </p:nvCxnSpPr>
            <p:spPr>
              <a:xfrm rot="10800000">
                <a:off x="2121615" y="2942639"/>
                <a:ext cx="954232" cy="193011"/>
              </a:xfrm>
              <a:prstGeom prst="bentConnector3">
                <a:avLst>
                  <a:gd name="adj1" fmla="val 45337"/>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06" name="Elbow Connector 105"/>
              <p:cNvCxnSpPr>
                <a:stCxn id="97" idx="1"/>
              </p:cNvCxnSpPr>
              <p:nvPr/>
            </p:nvCxnSpPr>
            <p:spPr>
              <a:xfrm rot="10800000" flipV="1">
                <a:off x="2110386" y="2400804"/>
                <a:ext cx="965461" cy="377157"/>
              </a:xfrm>
              <a:prstGeom prst="bentConnector3">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07" name="Elbow Connector 106"/>
              <p:cNvCxnSpPr>
                <a:stCxn id="98" idx="1"/>
              </p:cNvCxnSpPr>
              <p:nvPr/>
            </p:nvCxnSpPr>
            <p:spPr>
              <a:xfrm rot="10800000" flipV="1">
                <a:off x="2138231" y="2713619"/>
                <a:ext cx="937615" cy="142632"/>
              </a:xfrm>
              <a:prstGeom prst="bentConnector3">
                <a:avLst>
                  <a:gd name="adj1" fmla="val 45686"/>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sp>
            <p:nvSpPr>
              <p:cNvPr id="108" name="Line 123"/>
              <p:cNvSpPr>
                <a:spLocks noChangeShapeType="1"/>
              </p:cNvSpPr>
              <p:nvPr/>
            </p:nvSpPr>
            <p:spPr bwMode="auto">
              <a:xfrm>
                <a:off x="6388076" y="2967853"/>
                <a:ext cx="0" cy="469869"/>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sz="1400">
                  <a:latin typeface="Arial" pitchFamily="34" charset="0"/>
                  <a:ea typeface="Verdana" panose="020B0604030504040204" pitchFamily="34" charset="0"/>
                  <a:cs typeface="Arial" pitchFamily="34" charset="0"/>
                </a:endParaRPr>
              </a:p>
            </p:txBody>
          </p:sp>
          <p:sp>
            <p:nvSpPr>
              <p:cNvPr id="109" name="AutoShape 13"/>
              <p:cNvSpPr>
                <a:spLocks noChangeArrowheads="1"/>
              </p:cNvSpPr>
              <p:nvPr/>
            </p:nvSpPr>
            <p:spPr bwMode="auto">
              <a:xfrm>
                <a:off x="6620629" y="2130463"/>
                <a:ext cx="1178448" cy="1586994"/>
              </a:xfrm>
              <a:prstGeom prst="roundRect">
                <a:avLst>
                  <a:gd name="adj" fmla="val 11657"/>
                </a:avLst>
              </a:prstGeom>
              <a:ln>
                <a:headEnd/>
                <a:tailEnd type="none" w="lg" len="med"/>
              </a:ln>
            </p:spPr>
            <p:style>
              <a:lnRef idx="1">
                <a:schemeClr val="dk1"/>
              </a:lnRef>
              <a:fillRef idx="1002">
                <a:schemeClr val="lt1"/>
              </a:fillRef>
              <a:effectRef idx="1">
                <a:schemeClr val="dk1"/>
              </a:effectRef>
              <a:fontRef idx="minor">
                <a:schemeClr val="dk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10" name="Rectangle 127"/>
              <p:cNvSpPr>
                <a:spLocks noChangeArrowheads="1"/>
              </p:cNvSpPr>
              <p:nvPr/>
            </p:nvSpPr>
            <p:spPr bwMode="auto">
              <a:xfrm>
                <a:off x="5612072" y="2232937"/>
                <a:ext cx="335736" cy="612146"/>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11" name="Rectangle 128"/>
              <p:cNvSpPr>
                <a:spLocks noChangeArrowheads="1"/>
              </p:cNvSpPr>
              <p:nvPr/>
            </p:nvSpPr>
            <p:spPr bwMode="auto">
              <a:xfrm>
                <a:off x="5612072" y="2966433"/>
                <a:ext cx="335736" cy="612146"/>
              </a:xfrm>
              <a:prstGeom prst="rect">
                <a:avLst/>
              </a:prstGeom>
              <a:ln>
                <a:headEnd/>
                <a:tailEnd type="none" w="lg" len="med"/>
              </a:ln>
            </p:spPr>
            <p:style>
              <a:lnRef idx="0">
                <a:schemeClr val="accent1"/>
              </a:lnRef>
              <a:fillRef idx="1001">
                <a:schemeClr val="lt2"/>
              </a:fillRef>
              <a:effectRef idx="3">
                <a:schemeClr val="accent1"/>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12" name="Rectangle 144"/>
              <p:cNvSpPr>
                <a:spLocks noChangeArrowheads="1"/>
              </p:cNvSpPr>
              <p:nvPr/>
            </p:nvSpPr>
            <p:spPr bwMode="auto">
              <a:xfrm>
                <a:off x="3201242" y="2973174"/>
                <a:ext cx="335736" cy="612146"/>
              </a:xfrm>
              <a:prstGeom prst="rect">
                <a:avLst/>
              </a:prstGeom>
              <a:ln>
                <a:headEnd/>
                <a:tailEnd type="none" w="lg" len="med"/>
              </a:ln>
            </p:spPr>
            <p:style>
              <a:lnRef idx="0">
                <a:schemeClr val="accent2"/>
              </a:lnRef>
              <a:fillRef idx="1001">
                <a:schemeClr val="lt2"/>
              </a:fillRef>
              <a:effectRef idx="3">
                <a:schemeClr val="accent2"/>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sp>
            <p:nvSpPr>
              <p:cNvPr id="113" name="Rectangle 145"/>
              <p:cNvSpPr>
                <a:spLocks noChangeArrowheads="1"/>
              </p:cNvSpPr>
              <p:nvPr/>
            </p:nvSpPr>
            <p:spPr bwMode="auto">
              <a:xfrm>
                <a:off x="3201242" y="2231588"/>
                <a:ext cx="335736" cy="612146"/>
              </a:xfrm>
              <a:prstGeom prst="rect">
                <a:avLst/>
              </a:prstGeom>
              <a:ln>
                <a:headEnd/>
                <a:tailEnd type="none" w="lg" len="med"/>
              </a:ln>
            </p:spPr>
            <p:style>
              <a:lnRef idx="0">
                <a:schemeClr val="accent2"/>
              </a:lnRef>
              <a:fillRef idx="1001">
                <a:schemeClr val="lt2"/>
              </a:fillRef>
              <a:effectRef idx="3">
                <a:schemeClr val="accent2"/>
              </a:effectRef>
              <a:fontRef idx="minor">
                <a:schemeClr val="lt1"/>
              </a:fontRef>
            </p:style>
            <p:txBody>
              <a:bodyPr wrap="none" lIns="0" tIns="0" rIns="0" bIns="0" anchor="ctr"/>
              <a:lstStyle/>
              <a:p>
                <a:endParaRPr lang="en-US" sz="1400">
                  <a:solidFill>
                    <a:srgbClr val="000000"/>
                  </a:solidFill>
                  <a:latin typeface="Arial" pitchFamily="34" charset="0"/>
                  <a:ea typeface="Verdana" panose="020B0604030504040204" pitchFamily="34" charset="0"/>
                  <a:cs typeface="Arial" pitchFamily="34" charset="0"/>
                </a:endParaRPr>
              </a:p>
            </p:txBody>
          </p:sp>
          <p:grpSp>
            <p:nvGrpSpPr>
              <p:cNvPr id="114" name="Group 113"/>
              <p:cNvGrpSpPr/>
              <p:nvPr/>
            </p:nvGrpSpPr>
            <p:grpSpPr>
              <a:xfrm>
                <a:off x="1376461" y="2630832"/>
                <a:ext cx="909491" cy="504818"/>
                <a:chOff x="1224929" y="3359001"/>
                <a:chExt cx="1070810" cy="594360"/>
              </a:xfrm>
            </p:grpSpPr>
            <p:pic>
              <p:nvPicPr>
                <p:cNvPr id="148" name="Picture 14"/>
                <p:cNvPicPr>
                  <a:picLocks noChangeAspect="1" noChangeArrowheads="1"/>
                </p:cNvPicPr>
                <p:nvPr/>
              </p:nvPicPr>
              <p:blipFill>
                <a:blip r:embed="rId4" cstate="print"/>
                <a:srcRect/>
                <a:stretch>
                  <a:fillRect/>
                </a:stretch>
              </p:blipFill>
              <p:spPr bwMode="auto">
                <a:xfrm>
                  <a:off x="1300594" y="3359001"/>
                  <a:ext cx="916395" cy="594360"/>
                </a:xfrm>
                <a:prstGeom prst="rect">
                  <a:avLst/>
                </a:prstGeom>
                <a:noFill/>
                <a:ln w="9525">
                  <a:noFill/>
                  <a:miter lim="800000"/>
                  <a:headEnd/>
                  <a:tailEnd/>
                </a:ln>
                <a:effectLst/>
              </p:spPr>
            </p:pic>
            <p:sp>
              <p:nvSpPr>
                <p:cNvPr id="149" name="TextBox 148"/>
                <p:cNvSpPr txBox="1"/>
                <p:nvPr/>
              </p:nvSpPr>
              <p:spPr>
                <a:xfrm>
                  <a:off x="1224929" y="3431118"/>
                  <a:ext cx="1070810" cy="398605"/>
                </a:xfrm>
                <a:prstGeom prst="rect">
                  <a:avLst/>
                </a:prstGeom>
                <a:noFill/>
              </p:spPr>
              <p:txBody>
                <a:bodyPr wrap="square" rtlCol="0">
                  <a:spAutoFit/>
                </a:bodyPr>
                <a:lstStyle/>
                <a:p>
                  <a:pPr algn="ctr"/>
                  <a:r>
                    <a:rPr lang="ru-RU" sz="800" b="1" i="0" dirty="0">
                      <a:solidFill>
                        <a:srgbClr val="000000"/>
                      </a:solidFill>
                      <a:latin typeface="Arial" pitchFamily="34" charset="0"/>
                      <a:cs typeface="Arial" pitchFamily="34" charset="0"/>
                    </a:rPr>
                    <a:t>Сеть хранения</a:t>
                  </a:r>
                </a:p>
              </p:txBody>
            </p:sp>
          </p:grpSp>
          <p:pic>
            <p:nvPicPr>
              <p:cNvPr id="115" name="Picture 28" descr="C:\Users\patils1\Desktop\2013 Projects\CIS v2\CIS Slide Deck_Based on Book\Colored Graphics\Physical Compute System With Hypervisor.png"/>
              <p:cNvPicPr>
                <a:picLocks noChangeAspect="1" noChangeArrowheads="1"/>
              </p:cNvPicPr>
              <p:nvPr/>
            </p:nvPicPr>
            <p:blipFill>
              <a:blip r:embed="rId5"/>
              <a:stretch>
                <a:fillRect/>
              </a:stretch>
            </p:blipFill>
            <p:spPr bwMode="auto">
              <a:xfrm>
                <a:off x="154462" y="3570049"/>
                <a:ext cx="931886" cy="906701"/>
              </a:xfrm>
              <a:prstGeom prst="rect">
                <a:avLst/>
              </a:prstGeom>
              <a:noFill/>
              <a:extLst>
                <a:ext uri="{909E8E84-426E-40DD-AFC4-6F175D3DCCD1}">
                  <a14:hiddenFill xmlns:a14="http://schemas.microsoft.com/office/drawing/2010/main">
                    <a:solidFill>
                      <a:srgbClr val="FFFFFF"/>
                    </a:solidFill>
                  </a14:hiddenFill>
                </a:ext>
              </a:extLst>
            </p:spPr>
          </p:pic>
          <p:grpSp>
            <p:nvGrpSpPr>
              <p:cNvPr id="120" name="Group 119"/>
              <p:cNvGrpSpPr/>
              <p:nvPr/>
            </p:nvGrpSpPr>
            <p:grpSpPr>
              <a:xfrm>
                <a:off x="6705600" y="2215645"/>
                <a:ext cx="1040166" cy="1416555"/>
                <a:chOff x="6705600" y="2215645"/>
                <a:chExt cx="1040166" cy="1416555"/>
              </a:xfrm>
            </p:grpSpPr>
            <p:pic>
              <p:nvPicPr>
                <p:cNvPr id="135" name="Picture 37" descr="C:\Users\patils1\Desktop\2013 Projects\CIS v2\CIS Slide Deck_Based on Book\Colored Graphics\Striped Dis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5545" y="2215645"/>
                  <a:ext cx="570221" cy="570221"/>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37" descr="C:\Users\patils1\Desktop\2013 Projects\CIS v2\CIS Slide Deck_Based on Book\Colored Graphics\Striped Dis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58058" y="2420472"/>
                  <a:ext cx="570221" cy="570221"/>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37" descr="C:\Users\patils1\Desktop\2013 Projects\CIS v2\CIS Slide Deck_Based on Book\Colored Graphics\Striped Dis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40572" y="2638813"/>
                  <a:ext cx="570221" cy="570221"/>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37" descr="C:\Users\patils1\Desktop\2013 Projects\CIS v2\CIS Slide Deck_Based on Book\Colored Graphics\Striped Dis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3086" y="2885654"/>
                  <a:ext cx="570221" cy="570221"/>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37" descr="C:\Users\patils1\Desktop\2013 Projects\CIS v2\CIS Slide Deck_Based on Book\Colored Graphics\Striped Dis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05600" y="3061979"/>
                  <a:ext cx="570221" cy="57022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21" name="Straight Connector 120"/>
              <p:cNvCxnSpPr>
                <a:endCxn id="139" idx="3"/>
              </p:cNvCxnSpPr>
              <p:nvPr/>
            </p:nvCxnSpPr>
            <p:spPr>
              <a:xfrm flipH="1" flipV="1">
                <a:off x="7275821" y="3347090"/>
                <a:ext cx="1029978" cy="138742"/>
              </a:xfrm>
              <a:prstGeom prst="line">
                <a:avLst/>
              </a:prstGeom>
              <a:ln w="12700" cmpd="sng">
                <a:solidFill>
                  <a:srgbClr val="FF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2" name="Straight Connector 121"/>
              <p:cNvCxnSpPr>
                <a:endCxn id="138" idx="3"/>
              </p:cNvCxnSpPr>
              <p:nvPr/>
            </p:nvCxnSpPr>
            <p:spPr>
              <a:xfrm flipH="1" flipV="1">
                <a:off x="7393307" y="3170765"/>
                <a:ext cx="912492" cy="315067"/>
              </a:xfrm>
              <a:prstGeom prst="line">
                <a:avLst/>
              </a:prstGeom>
              <a:ln w="12700" cmpd="sng">
                <a:solidFill>
                  <a:srgbClr val="FF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3" name="Straight Connector 122"/>
              <p:cNvCxnSpPr>
                <a:endCxn id="137" idx="3"/>
              </p:cNvCxnSpPr>
              <p:nvPr/>
            </p:nvCxnSpPr>
            <p:spPr>
              <a:xfrm flipH="1" flipV="1">
                <a:off x="7510793" y="2923924"/>
                <a:ext cx="795006" cy="561908"/>
              </a:xfrm>
              <a:prstGeom prst="line">
                <a:avLst/>
              </a:prstGeom>
              <a:ln w="12700" cmpd="sng">
                <a:solidFill>
                  <a:srgbClr val="FF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4" name="Straight Connector 123"/>
              <p:cNvCxnSpPr>
                <a:endCxn id="136" idx="3"/>
              </p:cNvCxnSpPr>
              <p:nvPr/>
            </p:nvCxnSpPr>
            <p:spPr>
              <a:xfrm flipH="1" flipV="1">
                <a:off x="7628279" y="2705583"/>
                <a:ext cx="677520" cy="780249"/>
              </a:xfrm>
              <a:prstGeom prst="line">
                <a:avLst/>
              </a:prstGeom>
              <a:ln w="12700" cmpd="sng">
                <a:solidFill>
                  <a:srgbClr val="FF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5" name="Straight Connector 124"/>
              <p:cNvCxnSpPr>
                <a:endCxn id="135" idx="3"/>
              </p:cNvCxnSpPr>
              <p:nvPr/>
            </p:nvCxnSpPr>
            <p:spPr>
              <a:xfrm flipH="1" flipV="1">
                <a:off x="7745766" y="2500756"/>
                <a:ext cx="560033" cy="985076"/>
              </a:xfrm>
              <a:prstGeom prst="line">
                <a:avLst/>
              </a:prstGeom>
              <a:ln w="12700" cmpd="sng">
                <a:solidFill>
                  <a:srgbClr val="FF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p:cNvCxnSpPr>
                <a:endCxn id="139" idx="3"/>
              </p:cNvCxnSpPr>
              <p:nvPr/>
            </p:nvCxnSpPr>
            <p:spPr>
              <a:xfrm flipH="1">
                <a:off x="7275821" y="2476080"/>
                <a:ext cx="1029976" cy="871010"/>
              </a:xfrm>
              <a:prstGeom prst="line">
                <a:avLst/>
              </a:prstGeom>
              <a:ln w="12700" cmpd="sng">
                <a:solidFill>
                  <a:schemeClr val="tx2"/>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7" name="Straight Connector 126"/>
              <p:cNvCxnSpPr>
                <a:endCxn id="138" idx="3"/>
              </p:cNvCxnSpPr>
              <p:nvPr/>
            </p:nvCxnSpPr>
            <p:spPr>
              <a:xfrm flipH="1">
                <a:off x="7393307" y="2476080"/>
                <a:ext cx="912490" cy="694685"/>
              </a:xfrm>
              <a:prstGeom prst="line">
                <a:avLst/>
              </a:prstGeom>
              <a:ln w="12700" cmpd="sng">
                <a:solidFill>
                  <a:schemeClr val="tx2"/>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8" name="Straight Connector 127"/>
              <p:cNvCxnSpPr>
                <a:endCxn id="137" idx="3"/>
              </p:cNvCxnSpPr>
              <p:nvPr/>
            </p:nvCxnSpPr>
            <p:spPr>
              <a:xfrm flipH="1">
                <a:off x="7510793" y="2476080"/>
                <a:ext cx="795004" cy="447844"/>
              </a:xfrm>
              <a:prstGeom prst="line">
                <a:avLst/>
              </a:prstGeom>
              <a:ln w="12700" cmpd="sng">
                <a:solidFill>
                  <a:schemeClr val="tx2"/>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9" name="Straight Connector 128"/>
              <p:cNvCxnSpPr>
                <a:endCxn id="136" idx="3"/>
              </p:cNvCxnSpPr>
              <p:nvPr/>
            </p:nvCxnSpPr>
            <p:spPr>
              <a:xfrm flipH="1">
                <a:off x="7628279" y="2476080"/>
                <a:ext cx="677518" cy="229503"/>
              </a:xfrm>
              <a:prstGeom prst="line">
                <a:avLst/>
              </a:prstGeom>
              <a:ln w="12700" cmpd="sng">
                <a:solidFill>
                  <a:schemeClr val="tx2"/>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0" name="Straight Connector 129"/>
              <p:cNvCxnSpPr>
                <a:endCxn id="135" idx="3"/>
              </p:cNvCxnSpPr>
              <p:nvPr/>
            </p:nvCxnSpPr>
            <p:spPr>
              <a:xfrm flipH="1">
                <a:off x="7745766" y="2476080"/>
                <a:ext cx="560031" cy="24676"/>
              </a:xfrm>
              <a:prstGeom prst="line">
                <a:avLst/>
              </a:prstGeom>
              <a:ln w="12700" cmpd="sng">
                <a:solidFill>
                  <a:schemeClr val="tx2"/>
                </a:solidFill>
                <a:prstDash val="dash"/>
              </a:ln>
              <a:effectLst/>
            </p:spPr>
            <p:style>
              <a:lnRef idx="2">
                <a:schemeClr val="accent1"/>
              </a:lnRef>
              <a:fillRef idx="0">
                <a:schemeClr val="accent1"/>
              </a:fillRef>
              <a:effectRef idx="1">
                <a:schemeClr val="accent1"/>
              </a:effectRef>
              <a:fontRef idx="minor">
                <a:schemeClr val="tx1"/>
              </a:fontRef>
            </p:style>
          </p:cxnSp>
          <p:sp>
            <p:nvSpPr>
              <p:cNvPr id="131" name="Text Box 3"/>
              <p:cNvSpPr txBox="1">
                <a:spLocks noChangeArrowheads="1"/>
              </p:cNvSpPr>
              <p:nvPr/>
            </p:nvSpPr>
            <p:spPr bwMode="auto">
              <a:xfrm>
                <a:off x="55431" y="2175603"/>
                <a:ext cx="12050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0" indent="0" algn="ctr">
                  <a:spcBef>
                    <a:spcPct val="50000"/>
                  </a:spcBef>
                </a:pPr>
                <a:r>
                  <a:rPr lang="ru-RU" sz="1200" b="0" i="0" dirty="0">
                    <a:solidFill>
                      <a:srgbClr val="000000"/>
                    </a:solidFill>
                    <a:latin typeface="Arial" pitchFamily="34" charset="0"/>
                    <a:cs typeface="Arial" pitchFamily="34" charset="0"/>
                  </a:rPr>
                  <a:t>Вычислительная</a:t>
                </a:r>
                <a:br>
                  <a:rPr lang="en-US" sz="1200" b="0" i="0" dirty="0">
                    <a:solidFill>
                      <a:srgbClr val="FF00FF"/>
                    </a:solidFill>
                    <a:latin typeface="Arial" pitchFamily="34" charset="0"/>
                    <a:cs typeface="Arial" pitchFamily="34" charset="0"/>
                  </a:rPr>
                </a:br>
                <a:r>
                  <a:rPr lang="ru-RU" sz="1200" b="0" i="0" dirty="0">
                    <a:solidFill>
                      <a:srgbClr val="000000"/>
                    </a:solidFill>
                    <a:latin typeface="Arial" pitchFamily="34" charset="0"/>
                    <a:cs typeface="Arial" pitchFamily="34" charset="0"/>
                  </a:rPr>
                  <a:t> система 1</a:t>
                </a:r>
              </a:p>
            </p:txBody>
          </p:sp>
          <p:sp>
            <p:nvSpPr>
              <p:cNvPr id="132" name="Text Box 3"/>
              <p:cNvSpPr txBox="1">
                <a:spLocks noChangeArrowheads="1"/>
              </p:cNvSpPr>
              <p:nvPr/>
            </p:nvSpPr>
            <p:spPr bwMode="auto">
              <a:xfrm>
                <a:off x="45833" y="4477787"/>
                <a:ext cx="12050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0" indent="0" algn="ctr">
                  <a:spcBef>
                    <a:spcPct val="50000"/>
                  </a:spcBef>
                </a:pPr>
                <a:r>
                  <a:rPr lang="ru-RU" sz="1200" b="0" i="0" dirty="0">
                    <a:solidFill>
                      <a:srgbClr val="000000"/>
                    </a:solidFill>
                    <a:latin typeface="Arial" pitchFamily="34" charset="0"/>
                    <a:cs typeface="Arial" pitchFamily="34" charset="0"/>
                  </a:rPr>
                  <a:t>Вычислительная</a:t>
                </a:r>
                <a:br>
                  <a:rPr lang="en-US" sz="1200" b="0" i="0" dirty="0">
                    <a:solidFill>
                      <a:srgbClr val="FF00FF"/>
                    </a:solidFill>
                    <a:latin typeface="Arial" pitchFamily="34" charset="0"/>
                    <a:cs typeface="Arial" pitchFamily="34" charset="0"/>
                  </a:rPr>
                </a:br>
                <a:r>
                  <a:rPr lang="ru-RU" sz="1200" b="0" i="0" dirty="0">
                    <a:solidFill>
                      <a:srgbClr val="000000"/>
                    </a:solidFill>
                    <a:latin typeface="Arial" pitchFamily="34" charset="0"/>
                    <a:cs typeface="Arial" pitchFamily="34" charset="0"/>
                  </a:rPr>
                  <a:t> система 2</a:t>
                </a:r>
              </a:p>
            </p:txBody>
          </p:sp>
          <p:pic>
            <p:nvPicPr>
              <p:cNvPr id="133" name="Picture 29" descr="C:\Users\patils1\Desktop\2013 Projects\CIS v2\CIS Slide Deck_Based on Book\Colored Graphics\Physical Compute System.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029" y="1964762"/>
                <a:ext cx="934518" cy="210312"/>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29" descr="C:\Users\patils1\Desktop\2013 Projects\CIS v2\CIS Slide Deck_Based on Book\Colored Graphics\Physical Compute System.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019" y="1952157"/>
                <a:ext cx="1032147" cy="232284"/>
              </a:xfrm>
              <a:prstGeom prst="rect">
                <a:avLst/>
              </a:prstGeom>
              <a:noFill/>
              <a:extLst>
                <a:ext uri="{909E8E84-426E-40DD-AFC4-6F175D3DCCD1}">
                  <a14:hiddenFill xmlns:a14="http://schemas.microsoft.com/office/drawing/2010/main">
                    <a:solidFill>
                      <a:srgbClr val="FFFFFF"/>
                    </a:solidFill>
                  </a14:hiddenFill>
                </a:ext>
              </a:extLst>
            </p:spPr>
          </p:pic>
        </p:grpSp>
        <p:sp>
          <p:nvSpPr>
            <p:cNvPr id="150" name="Text Box 12"/>
            <p:cNvSpPr txBox="1">
              <a:spLocks noChangeArrowheads="1"/>
            </p:cNvSpPr>
            <p:nvPr/>
          </p:nvSpPr>
          <p:spPr bwMode="auto">
            <a:xfrm>
              <a:off x="2229410" y="1185715"/>
              <a:ext cx="1199590" cy="323165"/>
            </a:xfrm>
            <a:prstGeom prst="rect">
              <a:avLst/>
            </a:prstGeom>
            <a:noFill/>
            <a:ln w="9525" algn="ctr">
              <a:noFill/>
              <a:miter lim="800000"/>
              <a:headEnd/>
              <a:tailEnd/>
            </a:ln>
          </p:spPr>
          <p:txBody>
            <a:bodyPr wrap="square" lIns="0" tIns="0" rIns="0" bIns="0">
              <a:spAutoFit/>
            </a:bodyPr>
            <a:lstStyle/>
            <a:p>
              <a:pPr algn="ctr"/>
              <a:r>
                <a:rPr lang="ru-RU" sz="700" b="1" i="0" dirty="0">
                  <a:solidFill>
                    <a:srgbClr val="000000"/>
                  </a:solidFill>
                  <a:latin typeface="Arial" pitchFamily="34" charset="0"/>
                  <a:cs typeface="Arial" pitchFamily="34" charset="0"/>
                </a:rPr>
                <a:t>Зарегистрированная емкость вычислительной системы</a:t>
              </a:r>
            </a:p>
          </p:txBody>
        </p:sp>
        <p:pic>
          <p:nvPicPr>
            <p:cNvPr id="152" name="Picture 6" descr="Orange Volume.png"/>
            <p:cNvPicPr>
              <a:picLocks noChangeAspect="1"/>
            </p:cNvPicPr>
            <p:nvPr/>
          </p:nvPicPr>
          <p:blipFill>
            <a:blip r:embed="rId8" cstate="print"/>
            <a:srcRect/>
            <a:stretch>
              <a:fillRect/>
            </a:stretch>
          </p:blipFill>
          <p:spPr bwMode="auto">
            <a:xfrm>
              <a:off x="1372482" y="1557867"/>
              <a:ext cx="596856" cy="394062"/>
            </a:xfrm>
            <a:prstGeom prst="rect">
              <a:avLst/>
            </a:prstGeom>
            <a:noFill/>
            <a:ln w="9525">
              <a:noFill/>
              <a:miter lim="800000"/>
              <a:headEnd/>
              <a:tailEnd/>
            </a:ln>
          </p:spPr>
        </p:pic>
        <p:sp>
          <p:nvSpPr>
            <p:cNvPr id="153" name="Text Box 170"/>
            <p:cNvSpPr txBox="1">
              <a:spLocks noChangeArrowheads="1"/>
            </p:cNvSpPr>
            <p:nvPr/>
          </p:nvSpPr>
          <p:spPr bwMode="gray">
            <a:xfrm>
              <a:off x="1466850" y="749875"/>
              <a:ext cx="440826" cy="110800"/>
            </a:xfrm>
            <a:prstGeom prst="rect">
              <a:avLst/>
            </a:prstGeom>
            <a:noFill/>
            <a:ln w="9525" algn="ctr">
              <a:noFill/>
              <a:miter lim="800000"/>
              <a:headEnd/>
              <a:tailEnd/>
            </a:ln>
          </p:spPr>
          <p:txBody>
            <a:bodyPr wrap="none" lIns="0" tIns="0" rIns="0" bIns="0" anchor="ctr">
              <a:spAutoFit/>
            </a:bodyPr>
            <a:lstStyle/>
            <a:p>
              <a:pPr defTabSz="639763">
                <a:lnSpc>
                  <a:spcPct val="90000"/>
                </a:lnSpc>
              </a:pPr>
              <a:r>
                <a:rPr lang="ru-RU" sz="800" b="1" i="0" dirty="0">
                  <a:solidFill>
                    <a:srgbClr val="000000"/>
                  </a:solidFill>
                  <a:latin typeface="Arial" pitchFamily="34" charset="0"/>
                  <a:cs typeface="Arial" pitchFamily="34" charset="0"/>
                </a:rPr>
                <a:t>10 Тбайт</a:t>
              </a:r>
            </a:p>
          </p:txBody>
        </p:sp>
        <p:sp>
          <p:nvSpPr>
            <p:cNvPr id="154" name="AutoShape 5"/>
            <p:cNvSpPr>
              <a:spLocks noChangeArrowheads="1"/>
            </p:cNvSpPr>
            <p:nvPr/>
          </p:nvSpPr>
          <p:spPr bwMode="gray">
            <a:xfrm>
              <a:off x="1377456" y="873233"/>
              <a:ext cx="596856" cy="1082677"/>
            </a:xfrm>
            <a:prstGeom prst="can">
              <a:avLst>
                <a:gd name="adj" fmla="val 16457"/>
              </a:avLst>
            </a:prstGeom>
            <a:noFill/>
            <a:ln w="19050">
              <a:solidFill>
                <a:schemeClr val="bg1">
                  <a:lumMod val="50000"/>
                </a:schemeClr>
              </a:solidFill>
              <a:prstDash val="sysDot"/>
              <a:round/>
              <a:headEnd/>
              <a:tailEnd/>
            </a:ln>
          </p:spPr>
          <p:txBody>
            <a:bodyPr wrap="none" lIns="96838" tIns="50800" rIns="96838" bIns="50800" anchor="ctr"/>
            <a:lstStyle/>
            <a:p>
              <a:endParaRPr lang="en-US" sz="1100" b="1">
                <a:latin typeface="Arial" pitchFamily="34" charset="0"/>
                <a:cs typeface="Arial" pitchFamily="34" charset="0"/>
              </a:endParaRPr>
            </a:p>
          </p:txBody>
        </p:sp>
        <p:sp>
          <p:nvSpPr>
            <p:cNvPr id="155" name="Text Box 170"/>
            <p:cNvSpPr txBox="1">
              <a:spLocks noChangeArrowheads="1"/>
            </p:cNvSpPr>
            <p:nvPr/>
          </p:nvSpPr>
          <p:spPr bwMode="gray">
            <a:xfrm>
              <a:off x="1439917" y="1605730"/>
              <a:ext cx="464871" cy="290849"/>
            </a:xfrm>
            <a:prstGeom prst="rect">
              <a:avLst/>
            </a:prstGeom>
            <a:noFill/>
            <a:ln w="9525" algn="ctr">
              <a:noFill/>
              <a:miter lim="800000"/>
              <a:headEnd/>
              <a:tailEnd/>
            </a:ln>
          </p:spPr>
          <p:txBody>
            <a:bodyPr wrap="none" lIns="0" tIns="0" rIns="0" bIns="0" anchor="ctr">
              <a:spAutoFit/>
            </a:bodyPr>
            <a:lstStyle/>
            <a:p>
              <a:pPr algn="ctr" defTabSz="639763">
                <a:lnSpc>
                  <a:spcPct val="90000"/>
                </a:lnSpc>
              </a:pPr>
              <a:br>
                <a:rPr lang="en" sz="700" dirty="0">
                  <a:solidFill>
                    <a:srgbClr val="FF00FF"/>
                  </a:solidFill>
                  <a:latin typeface="Arial" pitchFamily="34" charset="0"/>
                  <a:cs typeface="Arial" pitchFamily="34" charset="0"/>
                </a:rPr>
              </a:br>
              <a:r>
                <a:rPr lang="ru-RU" sz="700" b="1" i="0" dirty="0">
                  <a:solidFill>
                    <a:srgbClr val="000000"/>
                  </a:solidFill>
                  <a:latin typeface="Arial" pitchFamily="34" charset="0"/>
                  <a:cs typeface="Arial" pitchFamily="34" charset="0"/>
                </a:rPr>
                <a:t>3 Тбайт</a:t>
              </a:r>
            </a:p>
            <a:p>
              <a:pPr algn="ctr" defTabSz="639763">
                <a:lnSpc>
                  <a:spcPct val="90000"/>
                </a:lnSpc>
              </a:pPr>
              <a:r>
                <a:rPr lang="ru-RU" sz="700" b="1" i="0" dirty="0">
                  <a:solidFill>
                    <a:srgbClr val="000000"/>
                  </a:solidFill>
                  <a:latin typeface="Arial" pitchFamily="34" charset="0"/>
                  <a:cs typeface="Arial" pitchFamily="34" charset="0"/>
                </a:rPr>
                <a:t>Выделено</a:t>
              </a:r>
            </a:p>
          </p:txBody>
        </p:sp>
        <p:sp>
          <p:nvSpPr>
            <p:cNvPr id="156" name="AutoShape 11"/>
            <p:cNvSpPr>
              <a:spLocks/>
            </p:cNvSpPr>
            <p:nvPr/>
          </p:nvSpPr>
          <p:spPr bwMode="auto">
            <a:xfrm flipH="1">
              <a:off x="2023743" y="873234"/>
              <a:ext cx="213954" cy="1088110"/>
            </a:xfrm>
            <a:prstGeom prst="leftBrace">
              <a:avLst>
                <a:gd name="adj1" fmla="val 52851"/>
                <a:gd name="adj2" fmla="val 50000"/>
              </a:avLst>
            </a:prstGeom>
            <a:noFill/>
            <a:ln w="25400">
              <a:solidFill>
                <a:schemeClr val="tx1"/>
              </a:solidFill>
              <a:round/>
              <a:headEnd/>
              <a:tailEnd/>
            </a:ln>
          </p:spPr>
          <p:txBody>
            <a:bodyPr wrap="none" lIns="0" tIns="0" rIns="0" bIns="0" anchor="ctr"/>
            <a:lstStyle/>
            <a:p>
              <a:endParaRPr lang="en-US" sz="1600">
                <a:latin typeface="Arial" pitchFamily="34" charset="0"/>
                <a:cs typeface="Arial" pitchFamily="34" charset="0"/>
              </a:endParaRPr>
            </a:p>
          </p:txBody>
        </p:sp>
        <p:sp>
          <p:nvSpPr>
            <p:cNvPr id="157" name="Rectangle 31"/>
            <p:cNvSpPr>
              <a:spLocks noChangeArrowheads="1"/>
            </p:cNvSpPr>
            <p:nvPr/>
          </p:nvSpPr>
          <p:spPr bwMode="auto">
            <a:xfrm>
              <a:off x="1233638" y="1097464"/>
              <a:ext cx="875389" cy="370228"/>
            </a:xfrm>
            <a:prstGeom prst="rect">
              <a:avLst/>
            </a:prstGeom>
            <a:noFill/>
            <a:ln w="9525">
              <a:noFill/>
              <a:miter lim="800000"/>
              <a:headEnd/>
              <a:tailEnd/>
            </a:ln>
          </p:spPr>
          <p:txBody>
            <a:bodyPr lIns="128013" tIns="64007" rIns="128013" bIns="64007">
              <a:spAutoFit/>
            </a:bodyPr>
            <a:lstStyle/>
            <a:p>
              <a:pPr algn="ctr">
                <a:lnSpc>
                  <a:spcPct val="87000"/>
                </a:lnSpc>
                <a:buClr>
                  <a:schemeClr val="tx2"/>
                </a:buClr>
                <a:buSzPct val="80000"/>
              </a:pPr>
              <a:r>
                <a:rPr lang="ru-RU" sz="900" b="1" i="0" dirty="0">
                  <a:solidFill>
                    <a:srgbClr val="2C95DD"/>
                  </a:solidFill>
                  <a:latin typeface="Arial" pitchFamily="34" charset="0"/>
                  <a:cs typeface="Arial" pitchFamily="34" charset="0"/>
                </a:rPr>
                <a:t>«Тонкий» том 0</a:t>
              </a:r>
            </a:p>
          </p:txBody>
        </p:sp>
        <p:grpSp>
          <p:nvGrpSpPr>
            <p:cNvPr id="158" name="Group 157"/>
            <p:cNvGrpSpPr/>
            <p:nvPr/>
          </p:nvGrpSpPr>
          <p:grpSpPr>
            <a:xfrm>
              <a:off x="1971708" y="3661326"/>
              <a:ext cx="611810" cy="1159715"/>
              <a:chOff x="11136934" y="2926548"/>
              <a:chExt cx="762000" cy="1444408"/>
            </a:xfrm>
          </p:grpSpPr>
          <p:pic>
            <p:nvPicPr>
              <p:cNvPr id="159" name="Picture 6" descr="Orange Volume.png"/>
              <p:cNvPicPr>
                <a:picLocks noChangeAspect="1"/>
              </p:cNvPicPr>
              <p:nvPr/>
            </p:nvPicPr>
            <p:blipFill>
              <a:blip r:embed="rId8" cstate="print"/>
              <a:srcRect/>
              <a:stretch>
                <a:fillRect/>
              </a:stretch>
            </p:blipFill>
            <p:spPr bwMode="auto">
              <a:xfrm>
                <a:off x="11136934" y="3747069"/>
                <a:ext cx="762000" cy="623887"/>
              </a:xfrm>
              <a:prstGeom prst="rect">
                <a:avLst/>
              </a:prstGeom>
              <a:noFill/>
              <a:ln w="9525">
                <a:noFill/>
                <a:miter lim="800000"/>
                <a:headEnd/>
                <a:tailEnd/>
              </a:ln>
            </p:spPr>
          </p:pic>
          <p:sp>
            <p:nvSpPr>
              <p:cNvPr id="160" name="AutoShape 5"/>
              <p:cNvSpPr>
                <a:spLocks noChangeArrowheads="1"/>
              </p:cNvSpPr>
              <p:nvPr/>
            </p:nvSpPr>
            <p:spPr bwMode="gray">
              <a:xfrm>
                <a:off x="11136934" y="3072381"/>
                <a:ext cx="762000" cy="1295400"/>
              </a:xfrm>
              <a:prstGeom prst="can">
                <a:avLst>
                  <a:gd name="adj" fmla="val 16457"/>
                </a:avLst>
              </a:prstGeom>
              <a:noFill/>
              <a:ln w="19050">
                <a:solidFill>
                  <a:schemeClr val="bg1">
                    <a:lumMod val="50000"/>
                  </a:schemeClr>
                </a:solidFill>
                <a:prstDash val="sysDot"/>
                <a:round/>
                <a:headEnd/>
                <a:tailEnd/>
              </a:ln>
            </p:spPr>
            <p:txBody>
              <a:bodyPr wrap="none" lIns="96838" tIns="50800" rIns="96838" bIns="50800" anchor="ctr"/>
              <a:lstStyle/>
              <a:p>
                <a:endParaRPr lang="en-US" sz="1200" b="1">
                  <a:latin typeface="Arial" pitchFamily="34" charset="0"/>
                  <a:cs typeface="Arial" pitchFamily="34" charset="0"/>
                </a:endParaRPr>
              </a:p>
            </p:txBody>
          </p:sp>
          <p:sp>
            <p:nvSpPr>
              <p:cNvPr id="161" name="Text Box 170"/>
              <p:cNvSpPr txBox="1">
                <a:spLocks noChangeArrowheads="1"/>
              </p:cNvSpPr>
              <p:nvPr/>
            </p:nvSpPr>
            <p:spPr bwMode="gray">
              <a:xfrm>
                <a:off x="11146888" y="3908141"/>
                <a:ext cx="737390" cy="362248"/>
              </a:xfrm>
              <a:prstGeom prst="rect">
                <a:avLst/>
              </a:prstGeom>
              <a:noFill/>
              <a:ln w="9525" algn="ctr">
                <a:noFill/>
                <a:miter lim="800000"/>
                <a:headEnd/>
                <a:tailEnd/>
              </a:ln>
            </p:spPr>
            <p:txBody>
              <a:bodyPr wrap="square" lIns="0" tIns="0" rIns="0" bIns="0" anchor="ctr">
                <a:spAutoFit/>
              </a:bodyPr>
              <a:lstStyle/>
              <a:p>
                <a:pPr algn="ctr" defTabSz="639763">
                  <a:lnSpc>
                    <a:spcPct val="90000"/>
                  </a:lnSpc>
                </a:pPr>
                <a:br>
                  <a:rPr lang="en" sz="700" dirty="0">
                    <a:solidFill>
                      <a:srgbClr val="FF00FF"/>
                    </a:solidFill>
                    <a:latin typeface="Arial" pitchFamily="34" charset="0"/>
                    <a:cs typeface="Arial" pitchFamily="34" charset="0"/>
                  </a:rPr>
                </a:br>
                <a:r>
                  <a:rPr lang="ru-RU" sz="700" b="1" i="0" dirty="0">
                    <a:solidFill>
                      <a:srgbClr val="000000"/>
                    </a:solidFill>
                    <a:latin typeface="Arial" pitchFamily="34" charset="0"/>
                    <a:cs typeface="Arial" pitchFamily="34" charset="0"/>
                  </a:rPr>
                  <a:t>Выделено 4 ТБ</a:t>
                </a:r>
              </a:p>
            </p:txBody>
          </p:sp>
          <p:sp>
            <p:nvSpPr>
              <p:cNvPr id="162" name="Text Box 170"/>
              <p:cNvSpPr txBox="1">
                <a:spLocks noChangeArrowheads="1"/>
              </p:cNvSpPr>
              <p:nvPr/>
            </p:nvSpPr>
            <p:spPr bwMode="gray">
              <a:xfrm>
                <a:off x="11241236" y="2926548"/>
                <a:ext cx="549042" cy="138000"/>
              </a:xfrm>
              <a:prstGeom prst="rect">
                <a:avLst/>
              </a:prstGeom>
              <a:noFill/>
              <a:ln w="9525" algn="ctr">
                <a:noFill/>
                <a:miter lim="800000"/>
                <a:headEnd/>
                <a:tailEnd/>
              </a:ln>
            </p:spPr>
            <p:txBody>
              <a:bodyPr wrap="none" lIns="0" tIns="0" rIns="0" bIns="0" anchor="ctr">
                <a:spAutoFit/>
              </a:bodyPr>
              <a:lstStyle/>
              <a:p>
                <a:pPr defTabSz="639763">
                  <a:lnSpc>
                    <a:spcPct val="90000"/>
                  </a:lnSpc>
                </a:pPr>
                <a:r>
                  <a:rPr lang="ru-RU" sz="800" b="1" i="0" dirty="0">
                    <a:solidFill>
                      <a:srgbClr val="000000"/>
                    </a:solidFill>
                    <a:latin typeface="Arial" pitchFamily="34" charset="0"/>
                    <a:cs typeface="Arial" pitchFamily="34" charset="0"/>
                  </a:rPr>
                  <a:t>10 Тбайт</a:t>
                </a:r>
              </a:p>
            </p:txBody>
          </p:sp>
        </p:grpSp>
        <p:sp>
          <p:nvSpPr>
            <p:cNvPr id="163" name="AutoShape 11"/>
            <p:cNvSpPr>
              <a:spLocks/>
            </p:cNvSpPr>
            <p:nvPr/>
          </p:nvSpPr>
          <p:spPr bwMode="auto">
            <a:xfrm flipH="1">
              <a:off x="2583517" y="3779051"/>
              <a:ext cx="230582" cy="1041990"/>
            </a:xfrm>
            <a:prstGeom prst="leftBrace">
              <a:avLst>
                <a:gd name="adj1" fmla="val 52851"/>
                <a:gd name="adj2" fmla="val 50000"/>
              </a:avLst>
            </a:prstGeom>
            <a:noFill/>
            <a:ln w="25400">
              <a:solidFill>
                <a:schemeClr val="tx1"/>
              </a:solidFill>
              <a:round/>
              <a:headEnd/>
              <a:tailEnd/>
            </a:ln>
          </p:spPr>
          <p:txBody>
            <a:bodyPr wrap="none" lIns="0" tIns="0" rIns="0" bIns="0" anchor="ctr"/>
            <a:lstStyle/>
            <a:p>
              <a:endParaRPr lang="en-US" sz="1600">
                <a:latin typeface="Arial" pitchFamily="34" charset="0"/>
                <a:cs typeface="Arial" pitchFamily="34" charset="0"/>
              </a:endParaRPr>
            </a:p>
          </p:txBody>
        </p:sp>
        <p:sp>
          <p:nvSpPr>
            <p:cNvPr id="164" name="Text Box 12"/>
            <p:cNvSpPr txBox="1">
              <a:spLocks noChangeArrowheads="1"/>
            </p:cNvSpPr>
            <p:nvPr/>
          </p:nvSpPr>
          <p:spPr bwMode="auto">
            <a:xfrm>
              <a:off x="2870750" y="4152900"/>
              <a:ext cx="1148800" cy="323165"/>
            </a:xfrm>
            <a:prstGeom prst="rect">
              <a:avLst/>
            </a:prstGeom>
            <a:noFill/>
            <a:ln w="9525" algn="ctr">
              <a:noFill/>
              <a:miter lim="800000"/>
              <a:headEnd/>
              <a:tailEnd/>
            </a:ln>
          </p:spPr>
          <p:txBody>
            <a:bodyPr wrap="square" lIns="0" tIns="0" rIns="0" bIns="0">
              <a:spAutoFit/>
            </a:bodyPr>
            <a:lstStyle/>
            <a:p>
              <a:pPr algn="ctr"/>
              <a:r>
                <a:rPr lang="ru-RU" sz="700" b="1" i="0" dirty="0">
                  <a:solidFill>
                    <a:srgbClr val="000000"/>
                  </a:solidFill>
                  <a:latin typeface="Arial" pitchFamily="34" charset="0"/>
                  <a:cs typeface="Arial" pitchFamily="34" charset="0"/>
                </a:rPr>
                <a:t>Зарегистрированная емкость вычислительной системы</a:t>
              </a:r>
            </a:p>
          </p:txBody>
        </p:sp>
        <p:sp>
          <p:nvSpPr>
            <p:cNvPr id="165" name="Text Box 168"/>
            <p:cNvSpPr txBox="1">
              <a:spLocks noChangeArrowheads="1"/>
            </p:cNvSpPr>
            <p:nvPr/>
          </p:nvSpPr>
          <p:spPr bwMode="auto">
            <a:xfrm>
              <a:off x="1969338" y="3971151"/>
              <a:ext cx="6141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ts val="0"/>
                </a:spcBef>
              </a:pPr>
              <a:r>
                <a:rPr lang="ru-RU" sz="900" b="1" i="0" dirty="0">
                  <a:solidFill>
                    <a:srgbClr val="FF0000"/>
                  </a:solidFill>
                  <a:latin typeface="Arial" pitchFamily="34" charset="0"/>
                  <a:cs typeface="Arial" pitchFamily="34" charset="0"/>
                </a:rPr>
                <a:t>«Тонкий»</a:t>
              </a:r>
            </a:p>
            <a:p>
              <a:pPr algn="ctr">
                <a:spcBef>
                  <a:spcPts val="0"/>
                </a:spcBef>
              </a:pPr>
              <a:r>
                <a:rPr lang="ru-RU" sz="900" b="1" i="0" dirty="0">
                  <a:solidFill>
                    <a:srgbClr val="FF0000"/>
                  </a:solidFill>
                  <a:latin typeface="Arial" pitchFamily="34" charset="0"/>
                  <a:cs typeface="Arial" pitchFamily="34" charset="0"/>
                </a:rPr>
                <a:t>ТОМ 1</a:t>
              </a:r>
            </a:p>
          </p:txBody>
        </p:sp>
        <p:grpSp>
          <p:nvGrpSpPr>
            <p:cNvPr id="166" name="Group 165"/>
            <p:cNvGrpSpPr/>
            <p:nvPr/>
          </p:nvGrpSpPr>
          <p:grpSpPr>
            <a:xfrm>
              <a:off x="8357999" y="1568240"/>
              <a:ext cx="591935" cy="1149876"/>
              <a:chOff x="8331200" y="1984151"/>
              <a:chExt cx="762000" cy="1295400"/>
            </a:xfrm>
          </p:grpSpPr>
          <p:sp>
            <p:nvSpPr>
              <p:cNvPr id="167" name="Text Box 168"/>
              <p:cNvSpPr txBox="1">
                <a:spLocks noChangeArrowheads="1"/>
              </p:cNvSpPr>
              <p:nvPr/>
            </p:nvSpPr>
            <p:spPr bwMode="auto">
              <a:xfrm>
                <a:off x="8343462" y="2459232"/>
                <a:ext cx="717544" cy="312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0" indent="0" algn="ctr">
                  <a:spcBef>
                    <a:spcPct val="50000"/>
                  </a:spcBef>
                </a:pPr>
                <a:r>
                  <a:rPr lang="ru-RU" sz="900" b="1" i="0" dirty="0">
                    <a:solidFill>
                      <a:srgbClr val="2C95DD"/>
                    </a:solidFill>
                    <a:latin typeface="Arial" pitchFamily="34" charset="0"/>
                    <a:cs typeface="Arial" pitchFamily="34" charset="0"/>
                  </a:rPr>
                  <a:t>«Тонкий» том 0</a:t>
                </a:r>
              </a:p>
            </p:txBody>
          </p:sp>
          <p:sp>
            <p:nvSpPr>
              <p:cNvPr id="168" name="AutoShape 5"/>
              <p:cNvSpPr>
                <a:spLocks noChangeArrowheads="1"/>
              </p:cNvSpPr>
              <p:nvPr/>
            </p:nvSpPr>
            <p:spPr bwMode="gray">
              <a:xfrm>
                <a:off x="8331200" y="1984151"/>
                <a:ext cx="762000" cy="1295400"/>
              </a:xfrm>
              <a:prstGeom prst="can">
                <a:avLst>
                  <a:gd name="adj" fmla="val 16457"/>
                </a:avLst>
              </a:prstGeom>
              <a:noFill/>
              <a:ln w="19050">
                <a:solidFill>
                  <a:schemeClr val="bg1">
                    <a:lumMod val="50000"/>
                  </a:schemeClr>
                </a:solidFill>
                <a:prstDash val="sysDot"/>
                <a:round/>
                <a:headEnd/>
                <a:tailEnd/>
              </a:ln>
            </p:spPr>
            <p:txBody>
              <a:bodyPr wrap="none" lIns="96838" tIns="50800" rIns="96838" bIns="50800" anchor="ctr"/>
              <a:lstStyle/>
              <a:p>
                <a:endParaRPr lang="en-US" sz="1200" b="1">
                  <a:latin typeface="Arial" pitchFamily="34" charset="0"/>
                  <a:cs typeface="Arial" pitchFamily="34" charset="0"/>
                </a:endParaRPr>
              </a:p>
            </p:txBody>
          </p:sp>
        </p:grpSp>
        <p:grpSp>
          <p:nvGrpSpPr>
            <p:cNvPr id="169" name="Group 168"/>
            <p:cNvGrpSpPr/>
            <p:nvPr/>
          </p:nvGrpSpPr>
          <p:grpSpPr>
            <a:xfrm>
              <a:off x="8343914" y="3099116"/>
              <a:ext cx="606035" cy="1151517"/>
              <a:chOff x="10972800" y="3041426"/>
              <a:chExt cx="762000" cy="1295400"/>
            </a:xfrm>
          </p:grpSpPr>
          <p:sp>
            <p:nvSpPr>
              <p:cNvPr id="170" name="Text Box 168"/>
              <p:cNvSpPr txBox="1">
                <a:spLocks noChangeArrowheads="1"/>
              </p:cNvSpPr>
              <p:nvPr/>
            </p:nvSpPr>
            <p:spPr bwMode="auto">
              <a:xfrm>
                <a:off x="10984759" y="3562541"/>
                <a:ext cx="729563" cy="31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0" indent="0" algn="ctr">
                  <a:spcBef>
                    <a:spcPct val="50000"/>
                  </a:spcBef>
                </a:pPr>
                <a:r>
                  <a:rPr lang="ru-RU" sz="900" b="1" i="0" dirty="0">
                    <a:solidFill>
                      <a:srgbClr val="FF0000"/>
                    </a:solidFill>
                    <a:latin typeface="Arial" pitchFamily="34" charset="0"/>
                    <a:cs typeface="Arial" pitchFamily="34" charset="0"/>
                  </a:rPr>
                  <a:t>«Тонкий» том 1</a:t>
                </a:r>
              </a:p>
            </p:txBody>
          </p:sp>
          <p:sp>
            <p:nvSpPr>
              <p:cNvPr id="171" name="AutoShape 5"/>
              <p:cNvSpPr>
                <a:spLocks noChangeArrowheads="1"/>
              </p:cNvSpPr>
              <p:nvPr/>
            </p:nvSpPr>
            <p:spPr bwMode="gray">
              <a:xfrm>
                <a:off x="10972800" y="3041426"/>
                <a:ext cx="762000" cy="1295400"/>
              </a:xfrm>
              <a:prstGeom prst="can">
                <a:avLst>
                  <a:gd name="adj" fmla="val 16457"/>
                </a:avLst>
              </a:prstGeom>
              <a:noFill/>
              <a:ln w="19050">
                <a:solidFill>
                  <a:schemeClr val="bg1">
                    <a:lumMod val="50000"/>
                  </a:schemeClr>
                </a:solidFill>
                <a:prstDash val="sysDot"/>
                <a:round/>
                <a:headEnd/>
                <a:tailEnd/>
              </a:ln>
            </p:spPr>
            <p:txBody>
              <a:bodyPr wrap="none" lIns="96838" tIns="50800" rIns="96838" bIns="50800" anchor="ctr"/>
              <a:lstStyle/>
              <a:p>
                <a:endParaRPr lang="en-US" sz="1200" b="1">
                  <a:latin typeface="Arial" pitchFamily="34" charset="0"/>
                  <a:cs typeface="Arial" pitchFamily="34" charset="0"/>
                </a:endParaRPr>
              </a:p>
            </p:txBody>
          </p:sp>
        </p:grpSp>
      </p:grpSp>
      <p:sp>
        <p:nvSpPr>
          <p:cNvPr id="172" name="TextBox 171"/>
          <p:cNvSpPr txBox="1"/>
          <p:nvPr/>
        </p:nvSpPr>
        <p:spPr>
          <a:xfrm>
            <a:off x="219075" y="4019550"/>
            <a:ext cx="990600" cy="230832"/>
          </a:xfrm>
          <a:prstGeom prst="rect">
            <a:avLst/>
          </a:prstGeom>
          <a:noFill/>
        </p:spPr>
        <p:txBody>
          <a:bodyPr wrap="square" rtlCol="0">
            <a:spAutoFit/>
          </a:bodyPr>
          <a:lstStyle/>
          <a:p>
            <a:r>
              <a:rPr lang="ru-RU" sz="900" b="1" i="0" dirty="0">
                <a:solidFill>
                  <a:srgbClr val="000000"/>
                </a:solidFill>
                <a:latin typeface="Arial" pitchFamily="34" charset="0"/>
                <a:cs typeface="Arial" pitchFamily="34" charset="0"/>
              </a:rPr>
              <a:t>Гипервизор</a:t>
            </a:r>
          </a:p>
        </p:txBody>
      </p:sp>
      <p:sp>
        <p:nvSpPr>
          <p:cNvPr id="173" name="TextBox 172"/>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747711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 name="Picture 9" descr="C:\Users\patils1\Desktop\2013 Projects\CIS v2\CIS Slide Deck_Based on Book\Colored Graphics\Storage System.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24600" y="1151486"/>
            <a:ext cx="1243396" cy="264747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Расширение тонких томов</a:t>
            </a:r>
          </a:p>
        </p:txBody>
      </p:sp>
      <p:sp>
        <p:nvSpPr>
          <p:cNvPr id="68" name="Rounded Rectangle 67"/>
          <p:cNvSpPr/>
          <p:nvPr/>
        </p:nvSpPr>
        <p:spPr>
          <a:xfrm>
            <a:off x="7009063" y="3037421"/>
            <a:ext cx="931324" cy="992877"/>
          </a:xfrm>
          <a:prstGeom prst="roundRect">
            <a:avLst/>
          </a:prstGeom>
          <a:ln/>
        </p:spPr>
        <p:style>
          <a:lnRef idx="1">
            <a:schemeClr val="accent2"/>
          </a:lnRef>
          <a:fillRef idx="3">
            <a:schemeClr val="accent2"/>
          </a:fillRef>
          <a:effectRef idx="2">
            <a:schemeClr val="accent2"/>
          </a:effectRef>
          <a:fontRef idx="minor">
            <a:schemeClr val="lt1"/>
          </a:fontRef>
        </p:style>
        <p:txBody>
          <a:bodyPr bIns="0" rtlCol="0" anchor="b" anchorCtr="1"/>
          <a:lstStyle/>
          <a:p>
            <a:pPr algn="ctr"/>
            <a:r>
              <a:rPr lang="ru-RU" sz="800" b="0" i="0" dirty="0">
                <a:solidFill>
                  <a:srgbClr val="FFFFFF"/>
                </a:solidFill>
                <a:latin typeface="Arial" pitchFamily="34" charset="0"/>
                <a:cs typeface="Arial" pitchFamily="34" charset="0"/>
              </a:rPr>
              <a:t>«Тонкий» том</a:t>
            </a:r>
          </a:p>
        </p:txBody>
      </p:sp>
      <p:sp>
        <p:nvSpPr>
          <p:cNvPr id="69" name="Rounded Rectangle 68"/>
          <p:cNvSpPr/>
          <p:nvPr/>
        </p:nvSpPr>
        <p:spPr>
          <a:xfrm>
            <a:off x="7036451" y="946939"/>
            <a:ext cx="903936" cy="1320012"/>
          </a:xfrm>
          <a:prstGeom prst="roundRect">
            <a:avLst/>
          </a:prstGeom>
          <a:ln/>
        </p:spPr>
        <p:style>
          <a:lnRef idx="1">
            <a:schemeClr val="accent2"/>
          </a:lnRef>
          <a:fillRef idx="3">
            <a:schemeClr val="accent2"/>
          </a:fillRef>
          <a:effectRef idx="2">
            <a:schemeClr val="accent2"/>
          </a:effectRef>
          <a:fontRef idx="minor">
            <a:schemeClr val="lt1"/>
          </a:fontRef>
        </p:style>
        <p:txBody>
          <a:bodyPr bIns="0" rtlCol="0" anchor="b" anchorCtr="1"/>
          <a:lstStyle/>
          <a:p>
            <a:pPr algn="ctr"/>
            <a:r>
              <a:rPr lang="ru-RU" sz="800" b="0" i="0" dirty="0">
                <a:solidFill>
                  <a:srgbClr val="FFFFFF"/>
                </a:solidFill>
                <a:latin typeface="Arial" pitchFamily="34" charset="0"/>
                <a:cs typeface="Arial" pitchFamily="34" charset="0"/>
              </a:rPr>
              <a:t>«Тонкий» том</a:t>
            </a:r>
          </a:p>
        </p:txBody>
      </p:sp>
      <p:sp>
        <p:nvSpPr>
          <p:cNvPr id="70" name="Can 69"/>
          <p:cNvSpPr/>
          <p:nvPr/>
        </p:nvSpPr>
        <p:spPr>
          <a:xfrm>
            <a:off x="7131825" y="1014689"/>
            <a:ext cx="702208" cy="961578"/>
          </a:xfrm>
          <a:prstGeom prst="can">
            <a:avLst/>
          </a:prstGeom>
          <a:gradFill>
            <a:gsLst>
              <a:gs pos="0">
                <a:schemeClr val="bg1">
                  <a:lumMod val="85000"/>
                </a:schemeClr>
              </a:gs>
              <a:gs pos="35000">
                <a:schemeClr val="bg2">
                  <a:lumMod val="20000"/>
                  <a:lumOff val="80000"/>
                </a:schemeClr>
              </a:gs>
              <a:gs pos="100000">
                <a:schemeClr val="bg1">
                  <a:lumMod val="95000"/>
                </a:schemeClr>
              </a:gs>
            </a:gsLst>
          </a:gradFill>
          <a:ln>
            <a:solidFill>
              <a:schemeClr val="bg1">
                <a:lumMod val="75000"/>
              </a:schemeClr>
            </a:solidFill>
            <a:prstDash val="sys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1100">
              <a:latin typeface="Arial" pitchFamily="34" charset="0"/>
              <a:cs typeface="Arial" pitchFamily="34" charset="0"/>
            </a:endParaRPr>
          </a:p>
        </p:txBody>
      </p:sp>
      <p:sp>
        <p:nvSpPr>
          <p:cNvPr id="131" name="Right Arrow 130"/>
          <p:cNvSpPr/>
          <p:nvPr/>
        </p:nvSpPr>
        <p:spPr>
          <a:xfrm rot="16200000">
            <a:off x="7126668" y="2356675"/>
            <a:ext cx="706059" cy="542717"/>
          </a:xfrm>
          <a:prstGeom prst="rightArrow">
            <a:avLst>
              <a:gd name="adj1" fmla="val 50000"/>
              <a:gd name="adj2" fmla="val 61563"/>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latin typeface="Arial" pitchFamily="34" charset="0"/>
              <a:cs typeface="Arial" pitchFamily="34" charset="0"/>
            </a:endParaRPr>
          </a:p>
        </p:txBody>
      </p:sp>
      <p:sp>
        <p:nvSpPr>
          <p:cNvPr id="166" name="Left Brace 165"/>
          <p:cNvSpPr/>
          <p:nvPr/>
        </p:nvSpPr>
        <p:spPr>
          <a:xfrm flipH="1">
            <a:off x="7979966" y="3188419"/>
            <a:ext cx="249634" cy="509342"/>
          </a:xfrm>
          <a:prstGeom prst="leftBrace">
            <a:avLst>
              <a:gd name="adj1" fmla="val 26609"/>
              <a:gd name="adj2" fmla="val 50000"/>
            </a:avLst>
          </a:prstGeom>
          <a:ln w="28575" cmpd="sng">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100">
              <a:latin typeface="Arial" pitchFamily="34" charset="0"/>
              <a:cs typeface="Arial" pitchFamily="34" charset="0"/>
            </a:endParaRPr>
          </a:p>
        </p:txBody>
      </p:sp>
      <p:sp>
        <p:nvSpPr>
          <p:cNvPr id="167" name="TextBox 166"/>
          <p:cNvSpPr txBox="1"/>
          <p:nvPr/>
        </p:nvSpPr>
        <p:spPr>
          <a:xfrm>
            <a:off x="8077200" y="3057858"/>
            <a:ext cx="990600" cy="646331"/>
          </a:xfrm>
          <a:prstGeom prst="rect">
            <a:avLst/>
          </a:prstGeom>
          <a:noFill/>
        </p:spPr>
        <p:txBody>
          <a:bodyPr wrap="square" rtlCol="0">
            <a:spAutoFit/>
          </a:bodyPr>
          <a:lstStyle/>
          <a:p>
            <a:pPr algn="ctr"/>
            <a:r>
              <a:rPr lang="ru-RU" sz="900" b="0" i="0" dirty="0">
                <a:solidFill>
                  <a:srgbClr val="000000"/>
                </a:solidFill>
                <a:latin typeface="Arial" pitchFamily="34" charset="0"/>
                <a:cs typeface="Arial" pitchFamily="34" charset="0"/>
              </a:rPr>
              <a:t>Емкость пользователя перед расширением</a:t>
            </a:r>
          </a:p>
        </p:txBody>
      </p:sp>
      <p:sp>
        <p:nvSpPr>
          <p:cNvPr id="9" name="AutoShape 28"/>
          <p:cNvSpPr>
            <a:spLocks noChangeArrowheads="1"/>
          </p:cNvSpPr>
          <p:nvPr/>
        </p:nvSpPr>
        <p:spPr bwMode="auto">
          <a:xfrm rot="5400000">
            <a:off x="730893" y="2746097"/>
            <a:ext cx="684362" cy="622147"/>
          </a:xfrm>
          <a:prstGeom prst="upArrow">
            <a:avLst>
              <a:gd name="adj1" fmla="val 52565"/>
              <a:gd name="adj2" fmla="val 45833"/>
            </a:avLst>
          </a:prstGeom>
          <a:gradFill rotWithShape="1">
            <a:gsLst>
              <a:gs pos="0">
                <a:schemeClr val="folHlink"/>
              </a:gs>
              <a:gs pos="100000">
                <a:schemeClr val="folHlink">
                  <a:gamma/>
                  <a:shade val="46275"/>
                  <a:invGamma/>
                </a:schemeClr>
              </a:gs>
            </a:gsLst>
            <a:lin ang="0" scaled="1"/>
          </a:gradFill>
          <a:ln w="9525">
            <a:solidFill>
              <a:srgbClr val="008000"/>
            </a:solidFill>
            <a:miter lim="800000"/>
            <a:headEnd/>
            <a:tailEnd/>
          </a:ln>
        </p:spPr>
        <p:txBody>
          <a:bodyPr wrap="none" anchor="ctr"/>
          <a:lstStyle/>
          <a:p>
            <a:pPr>
              <a:defRPr/>
            </a:pPr>
            <a:endParaRPr lang="en-US">
              <a:latin typeface="Arial" pitchFamily="34" charset="0"/>
              <a:cs typeface="Arial" pitchFamily="34" charset="0"/>
            </a:endParaRPr>
          </a:p>
        </p:txBody>
      </p:sp>
      <p:sp>
        <p:nvSpPr>
          <p:cNvPr id="11" name="Text Box 6"/>
          <p:cNvSpPr txBox="1">
            <a:spLocks noChangeArrowheads="1"/>
          </p:cNvSpPr>
          <p:nvPr/>
        </p:nvSpPr>
        <p:spPr bwMode="auto">
          <a:xfrm>
            <a:off x="575435" y="3482652"/>
            <a:ext cx="1128628" cy="369332"/>
          </a:xfrm>
          <a:prstGeom prst="rect">
            <a:avLst/>
          </a:prstGeom>
          <a:noFill/>
          <a:ln w="9525" algn="ctr">
            <a:noFill/>
            <a:miter lim="800000"/>
            <a:headEnd/>
            <a:tailEnd/>
          </a:ln>
        </p:spPr>
        <p:txBody>
          <a:bodyPr wrap="square" lIns="0" tIns="0" rIns="0" bIns="0">
            <a:spAutoFit/>
          </a:bodyPr>
          <a:lstStyle/>
          <a:p>
            <a:pPr algn="ctr"/>
            <a:r>
              <a:rPr lang="ru-RU" sz="800" b="0" i="0" dirty="0">
                <a:solidFill>
                  <a:srgbClr val="000000"/>
                </a:solidFill>
                <a:latin typeface="Arial" pitchFamily="34" charset="0"/>
                <a:cs typeface="Arial" pitchFamily="34" charset="0"/>
              </a:rPr>
              <a:t>Добавление дисков СХД к пулу хранения данных</a:t>
            </a:r>
          </a:p>
        </p:txBody>
      </p:sp>
      <p:sp>
        <p:nvSpPr>
          <p:cNvPr id="10" name="Text Box 30"/>
          <p:cNvSpPr txBox="1">
            <a:spLocks noChangeArrowheads="1"/>
          </p:cNvSpPr>
          <p:nvPr/>
        </p:nvSpPr>
        <p:spPr bwMode="auto">
          <a:xfrm>
            <a:off x="1514475" y="2201382"/>
            <a:ext cx="1828800" cy="437043"/>
          </a:xfrm>
          <a:prstGeom prst="rect">
            <a:avLst/>
          </a:prstGeom>
          <a:noFill/>
          <a:ln w="9525">
            <a:noFill/>
            <a:miter lim="800000"/>
            <a:headEnd/>
            <a:tailEnd/>
          </a:ln>
        </p:spPr>
        <p:txBody>
          <a:bodyPr wrap="square">
            <a:spAutoFit/>
          </a:bodyPr>
          <a:lstStyle/>
          <a:p>
            <a:pPr algn="ctr">
              <a:lnSpc>
                <a:spcPct val="80000"/>
              </a:lnSpc>
              <a:spcBef>
                <a:spcPct val="50000"/>
              </a:spcBef>
            </a:pPr>
            <a:r>
              <a:rPr lang="ru-RU" sz="1400" b="0" i="0" dirty="0">
                <a:solidFill>
                  <a:srgbClr val="000000"/>
                </a:solidFill>
                <a:latin typeface="Arial" pitchFamily="34" charset="0"/>
                <a:cs typeface="Arial" pitchFamily="34" charset="0"/>
              </a:rPr>
              <a:t>Пул хранения данных</a:t>
            </a:r>
          </a:p>
        </p:txBody>
      </p:sp>
      <p:pic>
        <p:nvPicPr>
          <p:cNvPr id="19" name="Picture 11" descr="C:\Users\patils1\Desktop\2013 Projects\CIS v2\CIS Slide Deck_Based on Book\Colored Graphics\Disk Drive.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1635" y="2835279"/>
            <a:ext cx="351903" cy="35190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1" descr="C:\Users\patils1\Desktop\2013 Projects\CIS v2\CIS Slide Deck_Based on Book\Colored Graphics\Disk Drive.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0748" y="2835279"/>
            <a:ext cx="351903" cy="35190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1" descr="C:\Users\patils1\Desktop\2013 Projects\CIS v2\CIS Slide Deck_Based on Book\Colored Graphics\Disk Drive.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19861" y="2835279"/>
            <a:ext cx="351903" cy="35190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1" descr="C:\Users\patils1\Desktop\2013 Projects\CIS v2\CIS Slide Deck_Based on Book\Colored Graphics\Disk Drive.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68973" y="2835279"/>
            <a:ext cx="351903" cy="351902"/>
          </a:xfrm>
          <a:prstGeom prst="rect">
            <a:avLst/>
          </a:prstGeom>
          <a:noFill/>
          <a:extLst>
            <a:ext uri="{909E8E84-426E-40DD-AFC4-6F175D3DCCD1}">
              <a14:hiddenFill xmlns:a14="http://schemas.microsoft.com/office/drawing/2010/main">
                <a:solidFill>
                  <a:srgbClr val="FFFFFF"/>
                </a:solidFill>
              </a14:hiddenFill>
            </a:ext>
          </a:extLst>
        </p:spPr>
      </p:pic>
      <p:grpSp>
        <p:nvGrpSpPr>
          <p:cNvPr id="137" name="Group 136"/>
          <p:cNvGrpSpPr/>
          <p:nvPr/>
        </p:nvGrpSpPr>
        <p:grpSpPr>
          <a:xfrm>
            <a:off x="76200" y="2793694"/>
            <a:ext cx="612923" cy="553545"/>
            <a:chOff x="387012" y="3334190"/>
            <a:chExt cx="750703" cy="677977"/>
          </a:xfrm>
        </p:grpSpPr>
        <p:pic>
          <p:nvPicPr>
            <p:cNvPr id="26" name="Picture 11" descr="C:\Users\patils1\Desktop\2013 Projects\CIS v2\CIS Slide Deck_Based on Book\Colored Graphics\Disk Drive.png"/>
            <p:cNvPicPr>
              <a:picLocks noChangeAspect="1" noChangeArrowheads="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387012" y="3334190"/>
              <a:ext cx="431007" cy="431007"/>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1" descr="C:\Users\patils1\Desktop\2013 Projects\CIS v2\CIS Slide Deck_Based on Book\Colored Graphics\Disk Drive.png"/>
            <p:cNvPicPr>
              <a:picLocks noChangeAspect="1" noChangeArrowheads="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706708" y="3360860"/>
              <a:ext cx="431007" cy="431007"/>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1" descr="C:\Users\patils1\Desktop\2013 Projects\CIS v2\CIS Slide Deck_Based on Book\Colored Graphics\Disk Drive.png"/>
            <p:cNvPicPr>
              <a:picLocks noChangeAspect="1" noChangeArrowheads="1"/>
            </p:cNvPicPr>
            <p:nvPr>
              <p:custDataLst>
                <p:tags r:id="rId4"/>
              </p:custDataLst>
            </p:nvPr>
          </p:nvPicPr>
          <p:blipFill>
            <a:blip r:embed="rId9">
              <a:extLst>
                <a:ext uri="{28A0092B-C50C-407E-A947-70E740481C1C}">
                  <a14:useLocalDpi xmlns:a14="http://schemas.microsoft.com/office/drawing/2010/main" val="0"/>
                </a:ext>
              </a:extLst>
            </a:blip>
            <a:srcRect/>
            <a:stretch>
              <a:fillRect/>
            </a:stretch>
          </p:blipFill>
          <p:spPr bwMode="auto">
            <a:xfrm>
              <a:off x="400300" y="3525793"/>
              <a:ext cx="431007" cy="431007"/>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11" descr="C:\Users\patils1\Desktop\2013 Projects\CIS v2\CIS Slide Deck_Based on Book\Colored Graphics\Disk Drive.png"/>
            <p:cNvPicPr>
              <a:picLocks noChangeAspect="1" noChangeArrowheads="1"/>
            </p:cNvPicPr>
            <p:nvPr>
              <p:custDataLst>
                <p:tags r:id="rId5"/>
              </p:custDataLst>
            </p:nvPr>
          </p:nvPicPr>
          <p:blipFill>
            <a:blip r:embed="rId9">
              <a:extLst>
                <a:ext uri="{28A0092B-C50C-407E-A947-70E740481C1C}">
                  <a14:useLocalDpi xmlns:a14="http://schemas.microsoft.com/office/drawing/2010/main" val="0"/>
                </a:ext>
              </a:extLst>
            </a:blip>
            <a:srcRect/>
            <a:stretch>
              <a:fillRect/>
            </a:stretch>
          </p:blipFill>
          <p:spPr bwMode="auto">
            <a:xfrm>
              <a:off x="706707" y="3581160"/>
              <a:ext cx="431007" cy="431007"/>
            </a:xfrm>
            <a:prstGeom prst="rect">
              <a:avLst/>
            </a:prstGeom>
            <a:noFill/>
            <a:extLst>
              <a:ext uri="{909E8E84-426E-40DD-AFC4-6F175D3DCCD1}">
                <a14:hiddenFill xmlns:a14="http://schemas.microsoft.com/office/drawing/2010/main">
                  <a:solidFill>
                    <a:srgbClr val="FFFFFF"/>
                  </a:solidFill>
                </a14:hiddenFill>
              </a:ext>
            </a:extLst>
          </p:spPr>
        </p:pic>
      </p:grpSp>
      <p:sp>
        <p:nvSpPr>
          <p:cNvPr id="144" name="Text Box 30"/>
          <p:cNvSpPr txBox="1">
            <a:spLocks noChangeArrowheads="1"/>
          </p:cNvSpPr>
          <p:nvPr/>
        </p:nvSpPr>
        <p:spPr bwMode="auto">
          <a:xfrm>
            <a:off x="4229100" y="2210907"/>
            <a:ext cx="1541545" cy="437043"/>
          </a:xfrm>
          <a:prstGeom prst="rect">
            <a:avLst/>
          </a:prstGeom>
          <a:noFill/>
          <a:ln w="9525">
            <a:noFill/>
            <a:miter lim="800000"/>
            <a:headEnd/>
            <a:tailEnd/>
          </a:ln>
        </p:spPr>
        <p:txBody>
          <a:bodyPr wrap="square">
            <a:spAutoFit/>
          </a:bodyPr>
          <a:lstStyle/>
          <a:p>
            <a:pPr algn="ctr">
              <a:lnSpc>
                <a:spcPct val="80000"/>
              </a:lnSpc>
              <a:spcBef>
                <a:spcPct val="50000"/>
              </a:spcBef>
            </a:pPr>
            <a:r>
              <a:rPr lang="ru-RU" sz="1400" b="0" i="0" dirty="0">
                <a:solidFill>
                  <a:srgbClr val="000000"/>
                </a:solidFill>
                <a:latin typeface="Arial" pitchFamily="34" charset="0"/>
                <a:cs typeface="Arial" pitchFamily="34" charset="0"/>
              </a:rPr>
              <a:t>Пул хранения данных</a:t>
            </a:r>
          </a:p>
        </p:txBody>
      </p:sp>
      <p:pic>
        <p:nvPicPr>
          <p:cNvPr id="145" name="Picture 11" descr="C:\Users\patils1\Desktop\2013 Projects\CIS v2\CIS Slide Deck_Based on Book\Colored Graphics\Disk Drive.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12435" y="2638298"/>
            <a:ext cx="351903" cy="351902"/>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11" descr="C:\Users\patils1\Desktop\2013 Projects\CIS v2\CIS Slide Deck_Based on Book\Colored Graphics\Disk Drive.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61548" y="2638298"/>
            <a:ext cx="351903" cy="351902"/>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11" descr="C:\Users\patils1\Desktop\2013 Projects\CIS v2\CIS Slide Deck_Based on Book\Colored Graphics\Disk Drive.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10661" y="2638298"/>
            <a:ext cx="351903" cy="351902"/>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11" descr="C:\Users\patils1\Desktop\2013 Projects\CIS v2\CIS Slide Deck_Based on Book\Colored Graphics\Disk Drive.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59773" y="2638298"/>
            <a:ext cx="351903" cy="351902"/>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11" descr="C:\Users\patils1\Desktop\2013 Projects\CIS v2\CIS Slide Deck_Based on Book\Colored Graphics\Disk Drive.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06307" y="3025536"/>
            <a:ext cx="351903" cy="351902"/>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11" descr="C:\Users\patils1\Desktop\2013 Projects\CIS v2\CIS Slide Deck_Based on Book\Colored Graphics\Disk Drive.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55420" y="3025536"/>
            <a:ext cx="351903" cy="351902"/>
          </a:xfrm>
          <a:prstGeom prst="rect">
            <a:avLst/>
          </a:prstGeom>
          <a:noFill/>
          <a:extLst>
            <a:ext uri="{909E8E84-426E-40DD-AFC4-6F175D3DCCD1}">
              <a14:hiddenFill xmlns:a14="http://schemas.microsoft.com/office/drawing/2010/main">
                <a:solidFill>
                  <a:srgbClr val="FFFFFF"/>
                </a:solidFill>
              </a14:hiddenFill>
            </a:ext>
          </a:extLst>
        </p:spPr>
      </p:pic>
      <p:pic>
        <p:nvPicPr>
          <p:cNvPr id="151" name="Picture 11" descr="C:\Users\patils1\Desktop\2013 Projects\CIS v2\CIS Slide Deck_Based on Book\Colored Graphics\Disk Drive.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04533" y="3025536"/>
            <a:ext cx="351903" cy="351902"/>
          </a:xfrm>
          <a:prstGeom prst="rect">
            <a:avLst/>
          </a:prstGeom>
          <a:noFill/>
          <a:extLst>
            <a:ext uri="{909E8E84-426E-40DD-AFC4-6F175D3DCCD1}">
              <a14:hiddenFill xmlns:a14="http://schemas.microsoft.com/office/drawing/2010/main">
                <a:solidFill>
                  <a:srgbClr val="FFFFFF"/>
                </a:solidFill>
              </a14:hiddenFill>
            </a:ext>
          </a:extLst>
        </p:spPr>
      </p:pic>
      <p:pic>
        <p:nvPicPr>
          <p:cNvPr id="152" name="Picture 11" descr="C:\Users\patils1\Desktop\2013 Projects\CIS v2\CIS Slide Deck_Based on Book\Colored Graphics\Disk Drive.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53645" y="3025536"/>
            <a:ext cx="351903" cy="351902"/>
          </a:xfrm>
          <a:prstGeom prst="rect">
            <a:avLst/>
          </a:prstGeom>
          <a:noFill/>
          <a:extLst>
            <a:ext uri="{909E8E84-426E-40DD-AFC4-6F175D3DCCD1}">
              <a14:hiddenFill xmlns:a14="http://schemas.microsoft.com/office/drawing/2010/main">
                <a:solidFill>
                  <a:srgbClr val="FFFFFF"/>
                </a:solidFill>
              </a14:hiddenFill>
            </a:ext>
          </a:extLst>
        </p:spPr>
      </p:pic>
      <p:sp>
        <p:nvSpPr>
          <p:cNvPr id="154" name="AutoShape 28"/>
          <p:cNvSpPr>
            <a:spLocks noChangeArrowheads="1"/>
          </p:cNvSpPr>
          <p:nvPr/>
        </p:nvSpPr>
        <p:spPr bwMode="auto">
          <a:xfrm rot="5400000">
            <a:off x="3336933" y="2700221"/>
            <a:ext cx="684362" cy="622147"/>
          </a:xfrm>
          <a:prstGeom prst="upArrow">
            <a:avLst>
              <a:gd name="adj1" fmla="val 52565"/>
              <a:gd name="adj2" fmla="val 45833"/>
            </a:avLst>
          </a:prstGeom>
          <a:gradFill rotWithShape="1">
            <a:gsLst>
              <a:gs pos="0">
                <a:schemeClr val="folHlink"/>
              </a:gs>
              <a:gs pos="100000">
                <a:schemeClr val="folHlink">
                  <a:gamma/>
                  <a:shade val="46275"/>
                  <a:invGamma/>
                </a:schemeClr>
              </a:gs>
            </a:gsLst>
            <a:lin ang="0" scaled="1"/>
          </a:gradFill>
          <a:ln w="9525">
            <a:solidFill>
              <a:srgbClr val="008000"/>
            </a:solidFill>
            <a:miter lim="800000"/>
            <a:headEnd/>
            <a:tailEnd/>
          </a:ln>
        </p:spPr>
        <p:txBody>
          <a:bodyPr wrap="none" anchor="ctr"/>
          <a:lstStyle/>
          <a:p>
            <a:pPr>
              <a:defRPr/>
            </a:pPr>
            <a:endParaRPr lang="en-US">
              <a:latin typeface="Arial" pitchFamily="34" charset="0"/>
              <a:cs typeface="Arial" pitchFamily="34" charset="0"/>
            </a:endParaRPr>
          </a:p>
        </p:txBody>
      </p:sp>
      <p:grpSp>
        <p:nvGrpSpPr>
          <p:cNvPr id="183" name="Group 182"/>
          <p:cNvGrpSpPr/>
          <p:nvPr/>
        </p:nvGrpSpPr>
        <p:grpSpPr>
          <a:xfrm>
            <a:off x="1543384" y="2925418"/>
            <a:ext cx="308222" cy="243585"/>
            <a:chOff x="1771984" y="3521529"/>
            <a:chExt cx="308222" cy="243585"/>
          </a:xfrm>
        </p:grpSpPr>
        <p:sp>
          <p:nvSpPr>
            <p:cNvPr id="63" name="Can 62"/>
            <p:cNvSpPr/>
            <p:nvPr/>
          </p:nvSpPr>
          <p:spPr>
            <a:xfrm>
              <a:off x="1771984" y="368222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84" name="Can 83"/>
            <p:cNvSpPr/>
            <p:nvPr/>
          </p:nvSpPr>
          <p:spPr>
            <a:xfrm>
              <a:off x="1771984" y="3639428"/>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90" name="Can 89"/>
            <p:cNvSpPr/>
            <p:nvPr/>
          </p:nvSpPr>
          <p:spPr>
            <a:xfrm>
              <a:off x="1771984" y="3601878"/>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70" name="Can 169"/>
            <p:cNvSpPr/>
            <p:nvPr/>
          </p:nvSpPr>
          <p:spPr>
            <a:xfrm>
              <a:off x="1771984" y="3564328"/>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71" name="Can 170"/>
            <p:cNvSpPr/>
            <p:nvPr/>
          </p:nvSpPr>
          <p:spPr>
            <a:xfrm>
              <a:off x="1771984" y="3521529"/>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grpSp>
        <p:nvGrpSpPr>
          <p:cNvPr id="184" name="Group 183"/>
          <p:cNvGrpSpPr/>
          <p:nvPr/>
        </p:nvGrpSpPr>
        <p:grpSpPr>
          <a:xfrm>
            <a:off x="1990630" y="2925418"/>
            <a:ext cx="308222" cy="243585"/>
            <a:chOff x="1771984" y="3521529"/>
            <a:chExt cx="308222" cy="243585"/>
          </a:xfrm>
        </p:grpSpPr>
        <p:sp>
          <p:nvSpPr>
            <p:cNvPr id="185" name="Can 184"/>
            <p:cNvSpPr/>
            <p:nvPr/>
          </p:nvSpPr>
          <p:spPr>
            <a:xfrm>
              <a:off x="1771984" y="368222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86" name="Can 185"/>
            <p:cNvSpPr/>
            <p:nvPr/>
          </p:nvSpPr>
          <p:spPr>
            <a:xfrm>
              <a:off x="1771984" y="3639428"/>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87" name="Can 186"/>
            <p:cNvSpPr/>
            <p:nvPr/>
          </p:nvSpPr>
          <p:spPr>
            <a:xfrm>
              <a:off x="1771984" y="3601878"/>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88" name="Can 187"/>
            <p:cNvSpPr/>
            <p:nvPr/>
          </p:nvSpPr>
          <p:spPr>
            <a:xfrm>
              <a:off x="1771984" y="3564328"/>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89" name="Can 188"/>
            <p:cNvSpPr/>
            <p:nvPr/>
          </p:nvSpPr>
          <p:spPr>
            <a:xfrm>
              <a:off x="1771984" y="3521529"/>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grpSp>
        <p:nvGrpSpPr>
          <p:cNvPr id="190" name="Group 189"/>
          <p:cNvGrpSpPr/>
          <p:nvPr/>
        </p:nvGrpSpPr>
        <p:grpSpPr>
          <a:xfrm>
            <a:off x="2438541" y="2921524"/>
            <a:ext cx="308222" cy="243585"/>
            <a:chOff x="1771984" y="3521529"/>
            <a:chExt cx="308222" cy="243585"/>
          </a:xfrm>
        </p:grpSpPr>
        <p:sp>
          <p:nvSpPr>
            <p:cNvPr id="191" name="Can 190"/>
            <p:cNvSpPr/>
            <p:nvPr/>
          </p:nvSpPr>
          <p:spPr>
            <a:xfrm>
              <a:off x="1771984" y="368222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92" name="Can 191"/>
            <p:cNvSpPr/>
            <p:nvPr/>
          </p:nvSpPr>
          <p:spPr>
            <a:xfrm>
              <a:off x="1771984" y="3639428"/>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93" name="Can 192"/>
            <p:cNvSpPr/>
            <p:nvPr/>
          </p:nvSpPr>
          <p:spPr>
            <a:xfrm>
              <a:off x="1771984" y="3601878"/>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94" name="Can 193"/>
            <p:cNvSpPr/>
            <p:nvPr/>
          </p:nvSpPr>
          <p:spPr>
            <a:xfrm>
              <a:off x="1771984" y="3564328"/>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95" name="Can 194"/>
            <p:cNvSpPr/>
            <p:nvPr/>
          </p:nvSpPr>
          <p:spPr>
            <a:xfrm>
              <a:off x="1771984" y="3521529"/>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grpSp>
        <p:nvGrpSpPr>
          <p:cNvPr id="196" name="Group 195"/>
          <p:cNvGrpSpPr/>
          <p:nvPr/>
        </p:nvGrpSpPr>
        <p:grpSpPr>
          <a:xfrm>
            <a:off x="2887254" y="2921524"/>
            <a:ext cx="308222" cy="243585"/>
            <a:chOff x="1771984" y="3521529"/>
            <a:chExt cx="308222" cy="243585"/>
          </a:xfrm>
        </p:grpSpPr>
        <p:sp>
          <p:nvSpPr>
            <p:cNvPr id="197" name="Can 196"/>
            <p:cNvSpPr/>
            <p:nvPr/>
          </p:nvSpPr>
          <p:spPr>
            <a:xfrm>
              <a:off x="1771984" y="368222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98" name="Can 197"/>
            <p:cNvSpPr/>
            <p:nvPr/>
          </p:nvSpPr>
          <p:spPr>
            <a:xfrm>
              <a:off x="1771984" y="3639428"/>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99" name="Can 198"/>
            <p:cNvSpPr/>
            <p:nvPr/>
          </p:nvSpPr>
          <p:spPr>
            <a:xfrm>
              <a:off x="1771984" y="3601878"/>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00" name="Can 199"/>
            <p:cNvSpPr/>
            <p:nvPr/>
          </p:nvSpPr>
          <p:spPr>
            <a:xfrm>
              <a:off x="1771984" y="3564328"/>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01" name="Can 200"/>
            <p:cNvSpPr/>
            <p:nvPr/>
          </p:nvSpPr>
          <p:spPr>
            <a:xfrm>
              <a:off x="1771984" y="3521529"/>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grpSp>
        <p:nvGrpSpPr>
          <p:cNvPr id="202" name="Group 201"/>
          <p:cNvGrpSpPr/>
          <p:nvPr/>
        </p:nvGrpSpPr>
        <p:grpSpPr>
          <a:xfrm>
            <a:off x="4128147" y="2807917"/>
            <a:ext cx="308222" cy="163236"/>
            <a:chOff x="3612800" y="4670427"/>
            <a:chExt cx="308222" cy="163236"/>
          </a:xfrm>
        </p:grpSpPr>
        <p:sp>
          <p:nvSpPr>
            <p:cNvPr id="65" name="Can 64"/>
            <p:cNvSpPr/>
            <p:nvPr/>
          </p:nvSpPr>
          <p:spPr>
            <a:xfrm>
              <a:off x="3612800" y="4750776"/>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86" name="Can 85"/>
            <p:cNvSpPr/>
            <p:nvPr/>
          </p:nvSpPr>
          <p:spPr>
            <a:xfrm>
              <a:off x="3612800" y="470797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92" name="Can 91"/>
            <p:cNvSpPr/>
            <p:nvPr/>
          </p:nvSpPr>
          <p:spPr>
            <a:xfrm>
              <a:off x="3612800" y="467042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grpSp>
        <p:nvGrpSpPr>
          <p:cNvPr id="203" name="Group 202"/>
          <p:cNvGrpSpPr/>
          <p:nvPr/>
        </p:nvGrpSpPr>
        <p:grpSpPr>
          <a:xfrm>
            <a:off x="4583388" y="2807917"/>
            <a:ext cx="308222" cy="163236"/>
            <a:chOff x="3612800" y="4670427"/>
            <a:chExt cx="308222" cy="163236"/>
          </a:xfrm>
        </p:grpSpPr>
        <p:sp>
          <p:nvSpPr>
            <p:cNvPr id="204" name="Can 203"/>
            <p:cNvSpPr/>
            <p:nvPr/>
          </p:nvSpPr>
          <p:spPr>
            <a:xfrm>
              <a:off x="3612800" y="4750776"/>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05" name="Can 204"/>
            <p:cNvSpPr/>
            <p:nvPr/>
          </p:nvSpPr>
          <p:spPr>
            <a:xfrm>
              <a:off x="3612800" y="470797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06" name="Can 205"/>
            <p:cNvSpPr/>
            <p:nvPr/>
          </p:nvSpPr>
          <p:spPr>
            <a:xfrm>
              <a:off x="3612800" y="467042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grpSp>
        <p:nvGrpSpPr>
          <p:cNvPr id="207" name="Group 206"/>
          <p:cNvGrpSpPr/>
          <p:nvPr/>
        </p:nvGrpSpPr>
        <p:grpSpPr>
          <a:xfrm>
            <a:off x="5032501" y="2807917"/>
            <a:ext cx="308222" cy="163236"/>
            <a:chOff x="3612800" y="4670427"/>
            <a:chExt cx="308222" cy="163236"/>
          </a:xfrm>
        </p:grpSpPr>
        <p:sp>
          <p:nvSpPr>
            <p:cNvPr id="208" name="Can 207"/>
            <p:cNvSpPr/>
            <p:nvPr/>
          </p:nvSpPr>
          <p:spPr>
            <a:xfrm>
              <a:off x="3612800" y="4750776"/>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09" name="Can 208"/>
            <p:cNvSpPr/>
            <p:nvPr/>
          </p:nvSpPr>
          <p:spPr>
            <a:xfrm>
              <a:off x="3612800" y="470797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10" name="Can 209"/>
            <p:cNvSpPr/>
            <p:nvPr/>
          </p:nvSpPr>
          <p:spPr>
            <a:xfrm>
              <a:off x="3612800" y="467042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grpSp>
        <p:nvGrpSpPr>
          <p:cNvPr id="211" name="Group 210"/>
          <p:cNvGrpSpPr/>
          <p:nvPr/>
        </p:nvGrpSpPr>
        <p:grpSpPr>
          <a:xfrm>
            <a:off x="5481613" y="2807917"/>
            <a:ext cx="308222" cy="163236"/>
            <a:chOff x="3612800" y="4670427"/>
            <a:chExt cx="308222" cy="163236"/>
          </a:xfrm>
        </p:grpSpPr>
        <p:sp>
          <p:nvSpPr>
            <p:cNvPr id="212" name="Can 211"/>
            <p:cNvSpPr/>
            <p:nvPr/>
          </p:nvSpPr>
          <p:spPr>
            <a:xfrm>
              <a:off x="3612800" y="4750776"/>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13" name="Can 212"/>
            <p:cNvSpPr/>
            <p:nvPr/>
          </p:nvSpPr>
          <p:spPr>
            <a:xfrm>
              <a:off x="3612800" y="470797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14" name="Can 213"/>
            <p:cNvSpPr/>
            <p:nvPr/>
          </p:nvSpPr>
          <p:spPr>
            <a:xfrm>
              <a:off x="3612800" y="467042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grpSp>
        <p:nvGrpSpPr>
          <p:cNvPr id="219" name="Group 218"/>
          <p:cNvGrpSpPr/>
          <p:nvPr/>
        </p:nvGrpSpPr>
        <p:grpSpPr>
          <a:xfrm>
            <a:off x="4128147" y="3194536"/>
            <a:ext cx="308222" cy="163236"/>
            <a:chOff x="3612800" y="4670427"/>
            <a:chExt cx="308222" cy="163236"/>
          </a:xfrm>
        </p:grpSpPr>
        <p:sp>
          <p:nvSpPr>
            <p:cNvPr id="220" name="Can 219"/>
            <p:cNvSpPr/>
            <p:nvPr/>
          </p:nvSpPr>
          <p:spPr>
            <a:xfrm>
              <a:off x="3612800" y="4750776"/>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21" name="Can 220"/>
            <p:cNvSpPr/>
            <p:nvPr/>
          </p:nvSpPr>
          <p:spPr>
            <a:xfrm>
              <a:off x="3612800" y="470797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22" name="Can 221"/>
            <p:cNvSpPr/>
            <p:nvPr/>
          </p:nvSpPr>
          <p:spPr>
            <a:xfrm>
              <a:off x="3612800" y="467042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grpSp>
        <p:nvGrpSpPr>
          <p:cNvPr id="223" name="Group 222"/>
          <p:cNvGrpSpPr/>
          <p:nvPr/>
        </p:nvGrpSpPr>
        <p:grpSpPr>
          <a:xfrm>
            <a:off x="4583388" y="3194536"/>
            <a:ext cx="308222" cy="163236"/>
            <a:chOff x="3612800" y="4670427"/>
            <a:chExt cx="308222" cy="163236"/>
          </a:xfrm>
        </p:grpSpPr>
        <p:sp>
          <p:nvSpPr>
            <p:cNvPr id="224" name="Can 223"/>
            <p:cNvSpPr/>
            <p:nvPr/>
          </p:nvSpPr>
          <p:spPr>
            <a:xfrm>
              <a:off x="3612800" y="4750776"/>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25" name="Can 224"/>
            <p:cNvSpPr/>
            <p:nvPr/>
          </p:nvSpPr>
          <p:spPr>
            <a:xfrm>
              <a:off x="3612800" y="470797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26" name="Can 225"/>
            <p:cNvSpPr/>
            <p:nvPr/>
          </p:nvSpPr>
          <p:spPr>
            <a:xfrm>
              <a:off x="3612800" y="467042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grpSp>
        <p:nvGrpSpPr>
          <p:cNvPr id="227" name="Group 226"/>
          <p:cNvGrpSpPr/>
          <p:nvPr/>
        </p:nvGrpSpPr>
        <p:grpSpPr>
          <a:xfrm>
            <a:off x="5032501" y="3194536"/>
            <a:ext cx="308222" cy="163236"/>
            <a:chOff x="3612800" y="4670427"/>
            <a:chExt cx="308222" cy="163236"/>
          </a:xfrm>
        </p:grpSpPr>
        <p:sp>
          <p:nvSpPr>
            <p:cNvPr id="228" name="Can 227"/>
            <p:cNvSpPr/>
            <p:nvPr/>
          </p:nvSpPr>
          <p:spPr>
            <a:xfrm>
              <a:off x="3612800" y="4750776"/>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29" name="Can 228"/>
            <p:cNvSpPr/>
            <p:nvPr/>
          </p:nvSpPr>
          <p:spPr>
            <a:xfrm>
              <a:off x="3612800" y="470797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30" name="Can 229"/>
            <p:cNvSpPr/>
            <p:nvPr/>
          </p:nvSpPr>
          <p:spPr>
            <a:xfrm>
              <a:off x="3612800" y="467042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grpSp>
        <p:nvGrpSpPr>
          <p:cNvPr id="231" name="Group 230"/>
          <p:cNvGrpSpPr/>
          <p:nvPr/>
        </p:nvGrpSpPr>
        <p:grpSpPr>
          <a:xfrm>
            <a:off x="5481613" y="3194536"/>
            <a:ext cx="308222" cy="163236"/>
            <a:chOff x="3612800" y="4670427"/>
            <a:chExt cx="308222" cy="163236"/>
          </a:xfrm>
        </p:grpSpPr>
        <p:sp>
          <p:nvSpPr>
            <p:cNvPr id="232" name="Can 231"/>
            <p:cNvSpPr/>
            <p:nvPr/>
          </p:nvSpPr>
          <p:spPr>
            <a:xfrm>
              <a:off x="3612800" y="4750776"/>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33" name="Can 232"/>
            <p:cNvSpPr/>
            <p:nvPr/>
          </p:nvSpPr>
          <p:spPr>
            <a:xfrm>
              <a:off x="3612800" y="470797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34" name="Can 233"/>
            <p:cNvSpPr/>
            <p:nvPr/>
          </p:nvSpPr>
          <p:spPr>
            <a:xfrm>
              <a:off x="3612800" y="4670427"/>
              <a:ext cx="308222" cy="82887"/>
            </a:xfrm>
            <a:prstGeom prst="can">
              <a:avLst>
                <a:gd name="adj" fmla="val 50000"/>
              </a:avLst>
            </a:prstGeom>
            <a:solidFill>
              <a:srgbClr val="FFFF00">
                <a:alpha val="50000"/>
              </a:srgbClr>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pSp>
      <p:sp>
        <p:nvSpPr>
          <p:cNvPr id="235" name="Text Box 6"/>
          <p:cNvSpPr txBox="1">
            <a:spLocks noChangeArrowheads="1"/>
          </p:cNvSpPr>
          <p:nvPr/>
        </p:nvSpPr>
        <p:spPr bwMode="auto">
          <a:xfrm>
            <a:off x="4229100" y="3620929"/>
            <a:ext cx="1459289" cy="246221"/>
          </a:xfrm>
          <a:prstGeom prst="rect">
            <a:avLst/>
          </a:prstGeom>
          <a:noFill/>
          <a:ln w="9525" algn="ctr">
            <a:noFill/>
            <a:miter lim="800000"/>
            <a:headEnd/>
            <a:tailEnd/>
          </a:ln>
        </p:spPr>
        <p:txBody>
          <a:bodyPr wrap="square" lIns="0" tIns="0" rIns="0" bIns="0">
            <a:spAutoFit/>
          </a:bodyPr>
          <a:lstStyle/>
          <a:p>
            <a:pPr algn="ctr"/>
            <a:r>
              <a:rPr lang="ru-RU" sz="800" b="0" i="0" dirty="0">
                <a:solidFill>
                  <a:srgbClr val="000000"/>
                </a:solidFill>
                <a:latin typeface="Arial" pitchFamily="34" charset="0"/>
                <a:cs typeface="Arial" pitchFamily="34" charset="0"/>
              </a:rPr>
              <a:t>Повторная балансировка «тонкого» пула</a:t>
            </a:r>
          </a:p>
        </p:txBody>
      </p:sp>
      <p:sp>
        <p:nvSpPr>
          <p:cNvPr id="236" name="TextBox 235"/>
          <p:cNvSpPr txBox="1"/>
          <p:nvPr/>
        </p:nvSpPr>
        <p:spPr>
          <a:xfrm>
            <a:off x="7703431" y="2436212"/>
            <a:ext cx="1011944" cy="369332"/>
          </a:xfrm>
          <a:prstGeom prst="rect">
            <a:avLst/>
          </a:prstGeom>
          <a:noFill/>
        </p:spPr>
        <p:txBody>
          <a:bodyPr wrap="square" rtlCol="0">
            <a:spAutoFit/>
          </a:bodyPr>
          <a:lstStyle/>
          <a:p>
            <a:pPr algn="ctr"/>
            <a:r>
              <a:rPr lang="ru-RU" sz="900" b="0" i="0" dirty="0">
                <a:solidFill>
                  <a:srgbClr val="000000"/>
                </a:solidFill>
                <a:latin typeface="Arial" pitchFamily="34" charset="0"/>
                <a:cs typeface="Arial" pitchFamily="34" charset="0"/>
              </a:rPr>
              <a:t>Расширение «тонкого» тома</a:t>
            </a:r>
          </a:p>
        </p:txBody>
      </p:sp>
      <p:sp>
        <p:nvSpPr>
          <p:cNvPr id="237" name="Left Brace 236"/>
          <p:cNvSpPr/>
          <p:nvPr/>
        </p:nvSpPr>
        <p:spPr>
          <a:xfrm flipH="1">
            <a:off x="7903766" y="1084099"/>
            <a:ext cx="249634" cy="883249"/>
          </a:xfrm>
          <a:prstGeom prst="leftBrace">
            <a:avLst>
              <a:gd name="adj1" fmla="val 55913"/>
              <a:gd name="adj2" fmla="val 50000"/>
            </a:avLst>
          </a:prstGeom>
          <a:ln w="28575" cmpd="sng">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100">
              <a:latin typeface="Arial" pitchFamily="34" charset="0"/>
              <a:cs typeface="Arial" pitchFamily="34" charset="0"/>
            </a:endParaRPr>
          </a:p>
        </p:txBody>
      </p:sp>
      <p:sp>
        <p:nvSpPr>
          <p:cNvPr id="238" name="TextBox 237"/>
          <p:cNvSpPr txBox="1"/>
          <p:nvPr/>
        </p:nvSpPr>
        <p:spPr>
          <a:xfrm>
            <a:off x="8010525" y="1133475"/>
            <a:ext cx="990600" cy="646331"/>
          </a:xfrm>
          <a:prstGeom prst="rect">
            <a:avLst/>
          </a:prstGeom>
          <a:noFill/>
        </p:spPr>
        <p:txBody>
          <a:bodyPr wrap="square" rtlCol="0">
            <a:spAutoFit/>
          </a:bodyPr>
          <a:lstStyle/>
          <a:p>
            <a:pPr algn="ctr"/>
            <a:r>
              <a:rPr lang="ru-RU" sz="900" b="0" i="0" dirty="0">
                <a:solidFill>
                  <a:srgbClr val="000000"/>
                </a:solidFill>
                <a:latin typeface="Arial" pitchFamily="34" charset="0"/>
                <a:cs typeface="Arial" pitchFamily="34" charset="0"/>
              </a:rPr>
              <a:t>Емкость пользователя после расширения</a:t>
            </a:r>
          </a:p>
        </p:txBody>
      </p:sp>
      <p:cxnSp>
        <p:nvCxnSpPr>
          <p:cNvPr id="240" name="Straight Connector 239"/>
          <p:cNvCxnSpPr/>
          <p:nvPr/>
        </p:nvCxnSpPr>
        <p:spPr>
          <a:xfrm>
            <a:off x="6096000" y="590550"/>
            <a:ext cx="0" cy="3659209"/>
          </a:xfrm>
          <a:prstGeom prst="line">
            <a:avLst/>
          </a:prstGeom>
          <a:ln w="25400" cmpd="sng">
            <a:solidFill>
              <a:schemeClr val="bg2"/>
            </a:solidFill>
          </a:ln>
          <a:effectLst>
            <a:outerShdw blurRad="50800" dist="38100" algn="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241" name="TextBox 240"/>
          <p:cNvSpPr txBox="1"/>
          <p:nvPr/>
        </p:nvSpPr>
        <p:spPr>
          <a:xfrm>
            <a:off x="1892749" y="4088175"/>
            <a:ext cx="2745752" cy="276999"/>
          </a:xfrm>
          <a:prstGeom prst="rect">
            <a:avLst/>
          </a:prstGeom>
          <a:noFill/>
        </p:spPr>
        <p:txBody>
          <a:bodyPr wrap="none" rtlCol="0">
            <a:spAutoFit/>
          </a:bodyPr>
          <a:lstStyle/>
          <a:p>
            <a:r>
              <a:rPr lang="ru-RU" sz="1200" b="0" i="0" dirty="0">
                <a:solidFill>
                  <a:srgbClr val="000000"/>
                </a:solidFill>
                <a:latin typeface="Arial" pitchFamily="34" charset="0"/>
                <a:cs typeface="Arial" pitchFamily="34" charset="0"/>
              </a:rPr>
              <a:t>Расширение пула хранения данных</a:t>
            </a:r>
          </a:p>
        </p:txBody>
      </p:sp>
      <p:sp>
        <p:nvSpPr>
          <p:cNvPr id="242" name="TextBox 241"/>
          <p:cNvSpPr txBox="1"/>
          <p:nvPr/>
        </p:nvSpPr>
        <p:spPr>
          <a:xfrm>
            <a:off x="6389251" y="4088176"/>
            <a:ext cx="2211824" cy="276999"/>
          </a:xfrm>
          <a:prstGeom prst="rect">
            <a:avLst/>
          </a:prstGeom>
          <a:noFill/>
        </p:spPr>
        <p:txBody>
          <a:bodyPr wrap="none" rtlCol="0">
            <a:spAutoFit/>
          </a:bodyPr>
          <a:lstStyle/>
          <a:p>
            <a:r>
              <a:rPr lang="ru-RU" sz="1200" b="0" i="0" dirty="0">
                <a:solidFill>
                  <a:srgbClr val="000000"/>
                </a:solidFill>
                <a:latin typeface="Arial" pitchFamily="34" charset="0"/>
                <a:cs typeface="Arial" pitchFamily="34" charset="0"/>
              </a:rPr>
              <a:t>Расширение «тонкого» тома</a:t>
            </a:r>
          </a:p>
        </p:txBody>
      </p:sp>
      <p:sp>
        <p:nvSpPr>
          <p:cNvPr id="3" name="Flowchart: Magnetic Disk 2"/>
          <p:cNvSpPr/>
          <p:nvPr/>
        </p:nvSpPr>
        <p:spPr>
          <a:xfrm>
            <a:off x="1447800" y="2190750"/>
            <a:ext cx="1846307" cy="1244277"/>
          </a:xfrm>
          <a:prstGeom prst="flowChartMagneticDisk">
            <a:avLst/>
          </a:prstGeom>
          <a:noFill/>
          <a:ln w="19050" cmpd="sng">
            <a:solidFill>
              <a:schemeClr val="bg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03" name="Flowchart: Magnetic Disk 102"/>
          <p:cNvSpPr/>
          <p:nvPr/>
        </p:nvSpPr>
        <p:spPr>
          <a:xfrm>
            <a:off x="4038638" y="2171700"/>
            <a:ext cx="1846307" cy="1371600"/>
          </a:xfrm>
          <a:prstGeom prst="flowChartMagneticDisk">
            <a:avLst/>
          </a:prstGeom>
          <a:noFill/>
          <a:ln w="19050" cmpd="sng">
            <a:solidFill>
              <a:schemeClr val="bg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pic>
        <p:nvPicPr>
          <p:cNvPr id="104" name="Picture 26" descr="C:\Users\patils1\Desktop\2013 Projects\CIS v2\CIS Slide Deck_Based on Book\Colored Graphics\LUN.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31825" y="3140457"/>
            <a:ext cx="685800" cy="6858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141350" y="3435548"/>
            <a:ext cx="685800" cy="307777"/>
          </a:xfrm>
          <a:prstGeom prst="rect">
            <a:avLst/>
          </a:prstGeom>
          <a:noFill/>
        </p:spPr>
        <p:txBody>
          <a:bodyPr wrap="square" rtlCol="0">
            <a:spAutoFit/>
          </a:bodyPr>
          <a:lstStyle/>
          <a:p>
            <a:pPr algn="ctr"/>
            <a:r>
              <a:rPr lang="ru-RU" sz="700" b="0" i="0" dirty="0">
                <a:solidFill>
                  <a:srgbClr val="000000"/>
                </a:solidFill>
                <a:latin typeface="Arial" pitchFamily="34" charset="0"/>
                <a:cs typeface="Arial" pitchFamily="34" charset="0"/>
              </a:rPr>
              <a:t>Используемая емкость</a:t>
            </a:r>
          </a:p>
        </p:txBody>
      </p:sp>
      <p:pic>
        <p:nvPicPr>
          <p:cNvPr id="106" name="Picture 26" descr="C:\Users\patils1\Desktop\2013 Projects\CIS v2\CIS Slide Deck_Based on Book\Colored Graphics\LUN.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48232" y="1276350"/>
            <a:ext cx="685800" cy="685800"/>
          </a:xfrm>
          <a:prstGeom prst="rect">
            <a:avLst/>
          </a:prstGeom>
          <a:noFill/>
          <a:extLst>
            <a:ext uri="{909E8E84-426E-40DD-AFC4-6F175D3DCCD1}">
              <a14:hiddenFill xmlns:a14="http://schemas.microsoft.com/office/drawing/2010/main">
                <a:solidFill>
                  <a:srgbClr val="FFFFFF"/>
                </a:solidFill>
              </a14:hiddenFill>
            </a:ext>
          </a:extLst>
        </p:spPr>
      </p:pic>
      <p:sp>
        <p:nvSpPr>
          <p:cNvPr id="107" name="TextBox 106"/>
          <p:cNvSpPr txBox="1"/>
          <p:nvPr/>
        </p:nvSpPr>
        <p:spPr>
          <a:xfrm>
            <a:off x="7145519" y="1560825"/>
            <a:ext cx="685800" cy="307777"/>
          </a:xfrm>
          <a:prstGeom prst="rect">
            <a:avLst/>
          </a:prstGeom>
          <a:noFill/>
        </p:spPr>
        <p:txBody>
          <a:bodyPr wrap="square" rtlCol="0">
            <a:spAutoFit/>
          </a:bodyPr>
          <a:lstStyle/>
          <a:p>
            <a:pPr algn="ctr"/>
            <a:r>
              <a:rPr lang="ru-RU" sz="700" b="0" i="0" dirty="0">
                <a:solidFill>
                  <a:srgbClr val="000000"/>
                </a:solidFill>
                <a:latin typeface="Arial" pitchFamily="34" charset="0"/>
                <a:cs typeface="Arial" pitchFamily="34" charset="0"/>
              </a:rPr>
              <a:t>Используемая емкость</a:t>
            </a:r>
          </a:p>
        </p:txBody>
      </p:sp>
      <p:sp>
        <p:nvSpPr>
          <p:cNvPr id="101" name="TextBox 100"/>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349752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Традиционное выделение ресурсов в сравнении с виртуальным выделением ресурсов</a:t>
            </a:r>
          </a:p>
        </p:txBody>
      </p:sp>
      <p:grpSp>
        <p:nvGrpSpPr>
          <p:cNvPr id="3" name="Group 2"/>
          <p:cNvGrpSpPr/>
          <p:nvPr/>
        </p:nvGrpSpPr>
        <p:grpSpPr>
          <a:xfrm>
            <a:off x="1137692" y="1200150"/>
            <a:ext cx="6675554" cy="3429000"/>
            <a:chOff x="1137692" y="1123950"/>
            <a:chExt cx="6675554" cy="3429000"/>
          </a:xfrm>
        </p:grpSpPr>
        <p:grpSp>
          <p:nvGrpSpPr>
            <p:cNvPr id="6" name="Group 5"/>
            <p:cNvGrpSpPr/>
            <p:nvPr/>
          </p:nvGrpSpPr>
          <p:grpSpPr>
            <a:xfrm>
              <a:off x="4763274" y="1123950"/>
              <a:ext cx="3049972" cy="3429000"/>
              <a:chOff x="4878663" y="1706310"/>
              <a:chExt cx="4092487" cy="4601069"/>
            </a:xfrm>
          </p:grpSpPr>
          <p:sp>
            <p:nvSpPr>
              <p:cNvPr id="7" name="AutoShape 67"/>
              <p:cNvSpPr>
                <a:spLocks noChangeArrowheads="1"/>
              </p:cNvSpPr>
              <p:nvPr/>
            </p:nvSpPr>
            <p:spPr bwMode="auto">
              <a:xfrm>
                <a:off x="4902201" y="1706310"/>
                <a:ext cx="4038600" cy="4601069"/>
              </a:xfrm>
              <a:prstGeom prst="roundRect">
                <a:avLst>
                  <a:gd name="adj" fmla="val 7546"/>
                </a:avLst>
              </a:prstGeom>
              <a:solidFill>
                <a:schemeClr val="bg1"/>
              </a:solidFill>
              <a:ln w="9525">
                <a:solidFill>
                  <a:schemeClr val="bg1">
                    <a:lumMod val="75000"/>
                  </a:schemeClr>
                </a:solidFill>
                <a:round/>
                <a:headEnd/>
                <a:tailEnd/>
              </a:ln>
            </p:spPr>
            <p:txBody>
              <a:bodyPr wrap="none" anchor="ctr"/>
              <a:lstStyle/>
              <a:p>
                <a:endParaRPr lang="en-US" sz="1400" dirty="0">
                  <a:latin typeface="Arial" pitchFamily="34" charset="0"/>
                  <a:cs typeface="Arial" pitchFamily="34" charset="0"/>
                </a:endParaRPr>
              </a:p>
            </p:txBody>
          </p:sp>
          <p:sp>
            <p:nvSpPr>
              <p:cNvPr id="8" name="Rectangle 5"/>
              <p:cNvSpPr>
                <a:spLocks noChangeArrowheads="1"/>
              </p:cNvSpPr>
              <p:nvPr/>
            </p:nvSpPr>
            <p:spPr bwMode="auto">
              <a:xfrm>
                <a:off x="4902201" y="5665140"/>
                <a:ext cx="4038600" cy="501651"/>
              </a:xfrm>
              <a:prstGeom prst="rect">
                <a:avLst/>
              </a:prstGeom>
              <a:noFill/>
              <a:ln w="9525" algn="ctr">
                <a:noFill/>
                <a:miter lim="800000"/>
                <a:headEnd/>
                <a:tailEnd/>
              </a:ln>
            </p:spPr>
            <p:txBody>
              <a:bodyPr lIns="0" tIns="0" rIns="0" bIns="0"/>
              <a:lstStyle/>
              <a:p>
                <a:pPr algn="ctr" defTabSz="941388"/>
                <a:r>
                  <a:rPr lang="ru-RU" sz="1400" b="1" i="0" dirty="0">
                    <a:solidFill>
                      <a:srgbClr val="000000"/>
                    </a:solidFill>
                    <a:latin typeface="Arial" pitchFamily="34" charset="0"/>
                    <a:cs typeface="Arial" pitchFamily="34" charset="0"/>
                  </a:rPr>
                  <a:t>Виртуальное выделение ресурсов</a:t>
                </a:r>
              </a:p>
            </p:txBody>
          </p:sp>
          <p:pic>
            <p:nvPicPr>
              <p:cNvPr id="9" name="Picture 6" descr="Orange Volume.png"/>
              <p:cNvPicPr>
                <a:picLocks noChangeAspect="1"/>
              </p:cNvPicPr>
              <p:nvPr/>
            </p:nvPicPr>
            <p:blipFill>
              <a:blip r:embed="rId4" cstate="print"/>
              <a:srcRect/>
              <a:stretch>
                <a:fillRect/>
              </a:stretch>
            </p:blipFill>
            <p:spPr bwMode="auto">
              <a:xfrm>
                <a:off x="4978400" y="4481513"/>
                <a:ext cx="762000" cy="471487"/>
              </a:xfrm>
              <a:prstGeom prst="rect">
                <a:avLst/>
              </a:prstGeom>
              <a:noFill/>
              <a:ln w="9525">
                <a:noFill/>
                <a:miter lim="800000"/>
                <a:headEnd/>
                <a:tailEnd/>
              </a:ln>
            </p:spPr>
          </p:pic>
          <p:pic>
            <p:nvPicPr>
              <p:cNvPr id="10" name="Picture 6" descr="Orange Volume.png"/>
              <p:cNvPicPr>
                <a:picLocks noChangeAspect="1"/>
              </p:cNvPicPr>
              <p:nvPr/>
            </p:nvPicPr>
            <p:blipFill>
              <a:blip r:embed="rId5" cstate="print"/>
              <a:srcRect/>
              <a:stretch>
                <a:fillRect/>
              </a:stretch>
            </p:blipFill>
            <p:spPr bwMode="auto">
              <a:xfrm>
                <a:off x="5880100" y="4632325"/>
                <a:ext cx="762000" cy="311150"/>
              </a:xfrm>
              <a:prstGeom prst="rect">
                <a:avLst/>
              </a:prstGeom>
              <a:noFill/>
              <a:ln w="9525">
                <a:noFill/>
                <a:miter lim="800000"/>
                <a:headEnd/>
                <a:tailEnd/>
              </a:ln>
            </p:spPr>
          </p:pic>
          <p:pic>
            <p:nvPicPr>
              <p:cNvPr id="11" name="Picture 6" descr="Orange Volume.png"/>
              <p:cNvPicPr>
                <a:picLocks noChangeAspect="1"/>
              </p:cNvPicPr>
              <p:nvPr/>
            </p:nvPicPr>
            <p:blipFill>
              <a:blip r:embed="rId4" cstate="print"/>
              <a:srcRect/>
              <a:stretch>
                <a:fillRect/>
              </a:stretch>
            </p:blipFill>
            <p:spPr bwMode="auto">
              <a:xfrm>
                <a:off x="6788150" y="4151313"/>
                <a:ext cx="766763" cy="800100"/>
              </a:xfrm>
              <a:prstGeom prst="rect">
                <a:avLst/>
              </a:prstGeom>
              <a:noFill/>
              <a:ln w="9525">
                <a:noFill/>
                <a:miter lim="800000"/>
                <a:headEnd/>
                <a:tailEnd/>
              </a:ln>
            </p:spPr>
          </p:pic>
          <p:pic>
            <p:nvPicPr>
              <p:cNvPr id="12" name="Picture 12" descr="Storage Array_Tall.png"/>
              <p:cNvPicPr>
                <a:picLocks noChangeAspect="1"/>
              </p:cNvPicPr>
              <p:nvPr/>
            </p:nvPicPr>
            <p:blipFill>
              <a:blip r:embed="rId6" cstate="print"/>
              <a:srcRect/>
              <a:stretch>
                <a:fillRect/>
              </a:stretch>
            </p:blipFill>
            <p:spPr bwMode="auto">
              <a:xfrm>
                <a:off x="7696200" y="2465388"/>
                <a:ext cx="1143000" cy="2433637"/>
              </a:xfrm>
              <a:prstGeom prst="rect">
                <a:avLst/>
              </a:prstGeom>
              <a:noFill/>
              <a:ln w="9525">
                <a:noFill/>
                <a:miter lim="800000"/>
                <a:headEnd/>
                <a:tailEnd/>
              </a:ln>
            </p:spPr>
          </p:pic>
          <p:sp>
            <p:nvSpPr>
              <p:cNvPr id="13" name="AutoShape 5"/>
              <p:cNvSpPr>
                <a:spLocks noChangeArrowheads="1"/>
              </p:cNvSpPr>
              <p:nvPr/>
            </p:nvSpPr>
            <p:spPr bwMode="gray">
              <a:xfrm>
                <a:off x="4978400" y="3879850"/>
                <a:ext cx="762000" cy="1066800"/>
              </a:xfrm>
              <a:prstGeom prst="can">
                <a:avLst>
                  <a:gd name="adj" fmla="val 13553"/>
                </a:avLst>
              </a:prstGeom>
              <a:noFill/>
              <a:ln w="19050">
                <a:solidFill>
                  <a:schemeClr val="bg1">
                    <a:lumMod val="50000"/>
                  </a:schemeClr>
                </a:solidFill>
                <a:prstDash val="sysDot"/>
                <a:round/>
                <a:headEnd/>
                <a:tailEnd/>
              </a:ln>
            </p:spPr>
            <p:txBody>
              <a:bodyPr wrap="none" lIns="96838" tIns="50800" rIns="96838" bIns="50800" anchor="ctr"/>
              <a:lstStyle/>
              <a:p>
                <a:endParaRPr lang="en-US" sz="1100" b="1">
                  <a:latin typeface="Arial" pitchFamily="34" charset="0"/>
                  <a:cs typeface="Arial" pitchFamily="34" charset="0"/>
                </a:endParaRPr>
              </a:p>
            </p:txBody>
          </p:sp>
          <p:sp>
            <p:nvSpPr>
              <p:cNvPr id="14" name="AutoShape 5"/>
              <p:cNvSpPr>
                <a:spLocks noChangeArrowheads="1"/>
              </p:cNvSpPr>
              <p:nvPr/>
            </p:nvSpPr>
            <p:spPr bwMode="gray">
              <a:xfrm>
                <a:off x="5883275" y="3656013"/>
                <a:ext cx="762000" cy="1295400"/>
              </a:xfrm>
              <a:prstGeom prst="can">
                <a:avLst>
                  <a:gd name="adj" fmla="val 16457"/>
                </a:avLst>
              </a:prstGeom>
              <a:noFill/>
              <a:ln w="19050">
                <a:solidFill>
                  <a:schemeClr val="bg1">
                    <a:lumMod val="50000"/>
                  </a:schemeClr>
                </a:solidFill>
                <a:prstDash val="sysDot"/>
                <a:round/>
                <a:headEnd/>
                <a:tailEnd/>
              </a:ln>
            </p:spPr>
            <p:txBody>
              <a:bodyPr wrap="none" lIns="96838" tIns="50800" rIns="96838" bIns="50800" anchor="ctr"/>
              <a:lstStyle/>
              <a:p>
                <a:endParaRPr lang="en-US" sz="1100" b="1">
                  <a:latin typeface="Arial" pitchFamily="34" charset="0"/>
                  <a:cs typeface="Arial" pitchFamily="34" charset="0"/>
                </a:endParaRPr>
              </a:p>
            </p:txBody>
          </p:sp>
          <p:sp>
            <p:nvSpPr>
              <p:cNvPr id="15" name="AutoShape 5"/>
              <p:cNvSpPr>
                <a:spLocks noChangeArrowheads="1"/>
              </p:cNvSpPr>
              <p:nvPr/>
            </p:nvSpPr>
            <p:spPr bwMode="gray">
              <a:xfrm>
                <a:off x="6792913" y="3498850"/>
                <a:ext cx="762000" cy="1447800"/>
              </a:xfrm>
              <a:prstGeom prst="can">
                <a:avLst>
                  <a:gd name="adj" fmla="val 19581"/>
                </a:avLst>
              </a:prstGeom>
              <a:noFill/>
              <a:ln w="19050">
                <a:solidFill>
                  <a:schemeClr val="bg1">
                    <a:lumMod val="50000"/>
                  </a:schemeClr>
                </a:solidFill>
                <a:prstDash val="sysDot"/>
                <a:round/>
                <a:headEnd/>
                <a:tailEnd/>
              </a:ln>
            </p:spPr>
            <p:txBody>
              <a:bodyPr wrap="none" lIns="96838" tIns="50800" rIns="96838" bIns="50800" anchor="ctr"/>
              <a:lstStyle/>
              <a:p>
                <a:endParaRPr lang="en-US" sz="1100" b="1">
                  <a:latin typeface="Arial" pitchFamily="34" charset="0"/>
                  <a:cs typeface="Arial" pitchFamily="34" charset="0"/>
                </a:endParaRPr>
              </a:p>
            </p:txBody>
          </p:sp>
          <p:sp>
            <p:nvSpPr>
              <p:cNvPr id="16" name="Rectangle 56"/>
              <p:cNvSpPr>
                <a:spLocks noChangeArrowheads="1"/>
              </p:cNvSpPr>
              <p:nvPr/>
            </p:nvSpPr>
            <p:spPr bwMode="auto">
              <a:xfrm>
                <a:off x="7693025" y="4298950"/>
                <a:ext cx="1143000" cy="590550"/>
              </a:xfrm>
              <a:prstGeom prst="rect">
                <a:avLst/>
              </a:prstGeom>
              <a:solidFill>
                <a:srgbClr val="993300">
                  <a:alpha val="45097"/>
                </a:srgbClr>
              </a:solidFill>
              <a:ln w="9525">
                <a:noFill/>
                <a:miter lim="800000"/>
                <a:headEnd/>
                <a:tailEnd/>
              </a:ln>
            </p:spPr>
            <p:txBody>
              <a:bodyPr wrap="none" anchor="ctr"/>
              <a:lstStyle/>
              <a:p>
                <a:pPr algn="ctr"/>
                <a:endParaRPr lang="en-US" sz="1400">
                  <a:latin typeface="Arial" pitchFamily="34" charset="0"/>
                  <a:cs typeface="Arial" pitchFamily="34" charset="0"/>
                </a:endParaRPr>
              </a:p>
            </p:txBody>
          </p:sp>
          <p:sp>
            <p:nvSpPr>
              <p:cNvPr id="17" name="Text Box 57"/>
              <p:cNvSpPr txBox="1">
                <a:spLocks noChangeArrowheads="1"/>
              </p:cNvSpPr>
              <p:nvPr/>
            </p:nvSpPr>
            <p:spPr bwMode="auto">
              <a:xfrm>
                <a:off x="7687704" y="4336699"/>
                <a:ext cx="1146846" cy="569910"/>
              </a:xfrm>
              <a:prstGeom prst="rect">
                <a:avLst/>
              </a:prstGeom>
              <a:noFill/>
              <a:ln w="9525">
                <a:noFill/>
                <a:miter lim="800000"/>
                <a:headEnd/>
                <a:tailEnd/>
              </a:ln>
            </p:spPr>
            <p:txBody>
              <a:bodyPr wrap="square">
                <a:spAutoFit/>
              </a:bodyPr>
              <a:lstStyle/>
              <a:p>
                <a:pPr algn="ctr">
                  <a:lnSpc>
                    <a:spcPct val="80000"/>
                  </a:lnSpc>
                </a:pPr>
                <a:r>
                  <a:rPr lang="ru-RU" sz="900" b="0" i="0" dirty="0">
                    <a:solidFill>
                      <a:srgbClr val="FFFFFF"/>
                    </a:solidFill>
                    <a:latin typeface="Arial" pitchFamily="34" charset="0"/>
                    <a:cs typeface="Arial" pitchFamily="34" charset="0"/>
                  </a:rPr>
                  <a:t>350 Гбайт фактических данных</a:t>
                </a:r>
              </a:p>
            </p:txBody>
          </p:sp>
          <p:sp>
            <p:nvSpPr>
              <p:cNvPr id="18" name="Rectangle 58"/>
              <p:cNvSpPr>
                <a:spLocks noChangeArrowheads="1"/>
              </p:cNvSpPr>
              <p:nvPr/>
            </p:nvSpPr>
            <p:spPr bwMode="auto">
              <a:xfrm>
                <a:off x="7693025" y="2466975"/>
                <a:ext cx="1143000" cy="1831975"/>
              </a:xfrm>
              <a:prstGeom prst="rect">
                <a:avLst/>
              </a:prstGeom>
              <a:solidFill>
                <a:schemeClr val="bg1">
                  <a:alpha val="36862"/>
                </a:schemeClr>
              </a:solidFill>
              <a:ln w="9525">
                <a:noFill/>
                <a:miter lim="800000"/>
                <a:headEnd/>
                <a:tailEnd/>
              </a:ln>
            </p:spPr>
            <p:txBody>
              <a:bodyPr wrap="none" anchor="ctr"/>
              <a:lstStyle/>
              <a:p>
                <a:endParaRPr lang="en-US" sz="1400">
                  <a:latin typeface="Arial" pitchFamily="34" charset="0"/>
                  <a:cs typeface="Arial" pitchFamily="34" charset="0"/>
                </a:endParaRPr>
              </a:p>
            </p:txBody>
          </p:sp>
          <p:sp>
            <p:nvSpPr>
              <p:cNvPr id="19" name="Rectangle 63"/>
              <p:cNvSpPr>
                <a:spLocks noChangeArrowheads="1"/>
              </p:cNvSpPr>
              <p:nvPr/>
            </p:nvSpPr>
            <p:spPr bwMode="auto">
              <a:xfrm>
                <a:off x="7696200" y="2438400"/>
                <a:ext cx="1139825" cy="1905000"/>
              </a:xfrm>
              <a:prstGeom prst="rect">
                <a:avLst/>
              </a:prstGeom>
              <a:solidFill>
                <a:srgbClr val="FFFF00">
                  <a:alpha val="41000"/>
                </a:srgbClr>
              </a:solidFill>
              <a:ln w="9525">
                <a:noFill/>
                <a:miter lim="800000"/>
                <a:headEnd/>
                <a:tailEnd/>
              </a:ln>
              <a:effectLst/>
            </p:spPr>
            <p:txBody>
              <a:bodyPr wrap="none" anchor="ctr"/>
              <a:lstStyle/>
              <a:p>
                <a:pPr>
                  <a:defRPr/>
                </a:pPr>
                <a:endParaRPr lang="en-US" sz="1400">
                  <a:latin typeface="Arial" pitchFamily="34" charset="0"/>
                  <a:cs typeface="Arial" pitchFamily="34" charset="0"/>
                </a:endParaRPr>
              </a:p>
            </p:txBody>
          </p:sp>
          <p:sp>
            <p:nvSpPr>
              <p:cNvPr id="20" name="Text Box 60"/>
              <p:cNvSpPr txBox="1">
                <a:spLocks noChangeArrowheads="1"/>
              </p:cNvSpPr>
              <p:nvPr/>
            </p:nvSpPr>
            <p:spPr bwMode="auto">
              <a:xfrm>
                <a:off x="7750737" y="3022938"/>
                <a:ext cx="1016870" cy="949849"/>
              </a:xfrm>
              <a:prstGeom prst="rect">
                <a:avLst/>
              </a:prstGeom>
              <a:noFill/>
              <a:ln w="9525">
                <a:noFill/>
                <a:miter lim="800000"/>
                <a:headEnd/>
                <a:tailEnd/>
              </a:ln>
            </p:spPr>
            <p:txBody>
              <a:bodyPr wrap="square">
                <a:spAutoFit/>
              </a:bodyPr>
              <a:lstStyle/>
              <a:p>
                <a:pPr algn="ctr"/>
                <a:r>
                  <a:rPr lang="ru-RU" sz="800" b="1" i="0" dirty="0">
                    <a:solidFill>
                      <a:srgbClr val="000000"/>
                    </a:solidFill>
                    <a:latin typeface="Arial" pitchFamily="34" charset="0"/>
                    <a:cs typeface="Arial" pitchFamily="34" charset="0"/>
                  </a:rPr>
                  <a:t>1650 Гбайт или 1,65 Тбайт доступной емкости</a:t>
                </a:r>
              </a:p>
            </p:txBody>
          </p:sp>
          <p:sp>
            <p:nvSpPr>
              <p:cNvPr id="21" name="Text Box 73"/>
              <p:cNvSpPr txBox="1">
                <a:spLocks noChangeArrowheads="1"/>
              </p:cNvSpPr>
              <p:nvPr/>
            </p:nvSpPr>
            <p:spPr bwMode="auto">
              <a:xfrm>
                <a:off x="4920290" y="4597913"/>
                <a:ext cx="872007" cy="346901"/>
              </a:xfrm>
              <a:prstGeom prst="rect">
                <a:avLst/>
              </a:prstGeom>
              <a:noFill/>
              <a:ln w="9525">
                <a:noFill/>
                <a:miter lim="800000"/>
                <a:headEnd/>
                <a:tailEnd/>
              </a:ln>
            </p:spPr>
            <p:txBody>
              <a:bodyPr wrap="square">
                <a:spAutoFit/>
              </a:bodyPr>
              <a:lstStyle/>
              <a:p>
                <a:pPr algn="ctr">
                  <a:lnSpc>
                    <a:spcPct val="90000"/>
                  </a:lnSpc>
                </a:pPr>
                <a:r>
                  <a:rPr lang="ru-RU" sz="600" b="1" i="0" dirty="0">
                    <a:solidFill>
                      <a:srgbClr val="000000"/>
                    </a:solidFill>
                    <a:latin typeface="Arial" pitchFamily="34" charset="0"/>
                    <a:cs typeface="Arial" pitchFamily="34" charset="0"/>
                  </a:rPr>
                  <a:t>Выделено 100 Гбайт</a:t>
                </a:r>
              </a:p>
            </p:txBody>
          </p:sp>
          <p:sp>
            <p:nvSpPr>
              <p:cNvPr id="22" name="Text Box 75"/>
              <p:cNvSpPr txBox="1">
                <a:spLocks noChangeArrowheads="1"/>
              </p:cNvSpPr>
              <p:nvPr/>
            </p:nvSpPr>
            <p:spPr bwMode="auto">
              <a:xfrm>
                <a:off x="5848962" y="4644062"/>
                <a:ext cx="839707" cy="346901"/>
              </a:xfrm>
              <a:prstGeom prst="rect">
                <a:avLst/>
              </a:prstGeom>
              <a:noFill/>
              <a:ln w="9525">
                <a:noFill/>
                <a:miter lim="800000"/>
                <a:headEnd/>
                <a:tailEnd/>
              </a:ln>
            </p:spPr>
            <p:txBody>
              <a:bodyPr wrap="square">
                <a:spAutoFit/>
              </a:bodyPr>
              <a:lstStyle/>
              <a:p>
                <a:pPr algn="ctr">
                  <a:lnSpc>
                    <a:spcPct val="90000"/>
                  </a:lnSpc>
                </a:pPr>
                <a:r>
                  <a:rPr lang="ru-RU" sz="600" b="1" i="0" dirty="0">
                    <a:solidFill>
                      <a:srgbClr val="000000"/>
                    </a:solidFill>
                    <a:latin typeface="Arial" pitchFamily="34" charset="0"/>
                    <a:cs typeface="Arial" pitchFamily="34" charset="0"/>
                  </a:rPr>
                  <a:t>Выделено 50 Гбайт</a:t>
                </a:r>
              </a:p>
            </p:txBody>
          </p:sp>
          <p:sp>
            <p:nvSpPr>
              <p:cNvPr id="23" name="Text Box 76"/>
              <p:cNvSpPr txBox="1">
                <a:spLocks noChangeArrowheads="1"/>
              </p:cNvSpPr>
              <p:nvPr/>
            </p:nvSpPr>
            <p:spPr bwMode="auto">
              <a:xfrm>
                <a:off x="6769176" y="4569197"/>
                <a:ext cx="828974" cy="346901"/>
              </a:xfrm>
              <a:prstGeom prst="rect">
                <a:avLst/>
              </a:prstGeom>
              <a:noFill/>
              <a:ln w="9525">
                <a:noFill/>
                <a:miter lim="800000"/>
                <a:headEnd/>
                <a:tailEnd/>
              </a:ln>
            </p:spPr>
            <p:txBody>
              <a:bodyPr wrap="square">
                <a:spAutoFit/>
              </a:bodyPr>
              <a:lstStyle/>
              <a:p>
                <a:pPr algn="ctr">
                  <a:lnSpc>
                    <a:spcPct val="90000"/>
                  </a:lnSpc>
                </a:pPr>
                <a:r>
                  <a:rPr lang="ru-RU" sz="600" b="1" i="0" dirty="0">
                    <a:solidFill>
                      <a:srgbClr val="000000"/>
                    </a:solidFill>
                    <a:latin typeface="Arial" pitchFamily="34" charset="0"/>
                    <a:cs typeface="Arial" pitchFamily="34" charset="0"/>
                  </a:rPr>
                  <a:t>Выделено 200 Гбайт</a:t>
                </a:r>
              </a:p>
            </p:txBody>
          </p:sp>
          <p:sp>
            <p:nvSpPr>
              <p:cNvPr id="24" name="Text Box 20"/>
              <p:cNvSpPr txBox="1">
                <a:spLocks noChangeArrowheads="1"/>
              </p:cNvSpPr>
              <p:nvPr/>
            </p:nvSpPr>
            <p:spPr bwMode="auto">
              <a:xfrm>
                <a:off x="4878663" y="4956695"/>
                <a:ext cx="990746" cy="454275"/>
              </a:xfrm>
              <a:prstGeom prst="rect">
                <a:avLst/>
              </a:prstGeom>
              <a:noFill/>
              <a:ln w="9525">
                <a:noFill/>
                <a:miter lim="800000"/>
                <a:headEnd/>
                <a:tailEnd/>
              </a:ln>
            </p:spPr>
            <p:txBody>
              <a:bodyPr wrap="square" anchor="ctr">
                <a:spAutoFit/>
              </a:bodyPr>
              <a:lstStyle/>
              <a:p>
                <a:pPr algn="ctr"/>
                <a:r>
                  <a:rPr lang="ru-RU" sz="800" b="1" i="0" dirty="0">
                    <a:solidFill>
                      <a:srgbClr val="2C95DD"/>
                    </a:solidFill>
                    <a:latin typeface="Arial" pitchFamily="34" charset="0"/>
                    <a:cs typeface="Arial" pitchFamily="34" charset="0"/>
                  </a:rPr>
                  <a:t>«Тонкий» том 1</a:t>
                </a:r>
              </a:p>
            </p:txBody>
          </p:sp>
          <p:sp>
            <p:nvSpPr>
              <p:cNvPr id="25" name="Text Box 20"/>
              <p:cNvSpPr txBox="1">
                <a:spLocks noChangeArrowheads="1"/>
              </p:cNvSpPr>
              <p:nvPr/>
            </p:nvSpPr>
            <p:spPr bwMode="auto">
              <a:xfrm>
                <a:off x="5838736" y="4956695"/>
                <a:ext cx="933577" cy="454275"/>
              </a:xfrm>
              <a:prstGeom prst="rect">
                <a:avLst/>
              </a:prstGeom>
              <a:noFill/>
              <a:ln w="9525">
                <a:noFill/>
                <a:miter lim="800000"/>
                <a:headEnd/>
                <a:tailEnd/>
              </a:ln>
            </p:spPr>
            <p:txBody>
              <a:bodyPr wrap="square" anchor="ctr">
                <a:spAutoFit/>
              </a:bodyPr>
              <a:lstStyle/>
              <a:p>
                <a:pPr algn="ctr"/>
                <a:r>
                  <a:rPr lang="ru-RU" sz="800" b="1" i="0" dirty="0">
                    <a:solidFill>
                      <a:srgbClr val="2C95DD"/>
                    </a:solidFill>
                    <a:latin typeface="Arial" pitchFamily="34" charset="0"/>
                    <a:cs typeface="Arial" pitchFamily="34" charset="0"/>
                  </a:rPr>
                  <a:t>«Тонкий» том 2</a:t>
                </a:r>
              </a:p>
            </p:txBody>
          </p:sp>
          <p:sp>
            <p:nvSpPr>
              <p:cNvPr id="26" name="Text Box 20"/>
              <p:cNvSpPr txBox="1">
                <a:spLocks noChangeArrowheads="1"/>
              </p:cNvSpPr>
              <p:nvPr/>
            </p:nvSpPr>
            <p:spPr bwMode="auto">
              <a:xfrm>
                <a:off x="6749997" y="4956695"/>
                <a:ext cx="939391" cy="454275"/>
              </a:xfrm>
              <a:prstGeom prst="rect">
                <a:avLst/>
              </a:prstGeom>
              <a:noFill/>
              <a:ln w="9525">
                <a:noFill/>
                <a:miter lim="800000"/>
                <a:headEnd/>
                <a:tailEnd/>
              </a:ln>
            </p:spPr>
            <p:txBody>
              <a:bodyPr wrap="square" anchor="ctr">
                <a:spAutoFit/>
              </a:bodyPr>
              <a:lstStyle/>
              <a:p>
                <a:pPr algn="ctr"/>
                <a:r>
                  <a:rPr lang="ru-RU" sz="800" b="1" i="0" dirty="0">
                    <a:solidFill>
                      <a:srgbClr val="2C95DD"/>
                    </a:solidFill>
                    <a:latin typeface="Arial" pitchFamily="34" charset="0"/>
                    <a:cs typeface="Arial" pitchFamily="34" charset="0"/>
                  </a:rPr>
                  <a:t>«Тонкий» том 3</a:t>
                </a:r>
              </a:p>
            </p:txBody>
          </p:sp>
          <p:sp>
            <p:nvSpPr>
              <p:cNvPr id="27" name="Text Box 20"/>
              <p:cNvSpPr txBox="1">
                <a:spLocks noChangeArrowheads="1"/>
              </p:cNvSpPr>
              <p:nvPr/>
            </p:nvSpPr>
            <p:spPr bwMode="auto">
              <a:xfrm>
                <a:off x="4953359" y="3626516"/>
                <a:ext cx="788858" cy="289085"/>
              </a:xfrm>
              <a:prstGeom prst="rect">
                <a:avLst/>
              </a:prstGeom>
              <a:noFill/>
              <a:ln w="9525">
                <a:noFill/>
                <a:miter lim="800000"/>
                <a:headEnd/>
                <a:tailEnd/>
              </a:ln>
            </p:spPr>
            <p:txBody>
              <a:bodyPr wrap="square" anchor="ctr">
                <a:spAutoFit/>
              </a:bodyPr>
              <a:lstStyle/>
              <a:p>
                <a:pPr algn="ctr"/>
                <a:r>
                  <a:rPr lang="ru-RU" sz="800" b="1" i="0" dirty="0">
                    <a:solidFill>
                      <a:srgbClr val="2C95DD"/>
                    </a:solidFill>
                    <a:latin typeface="Arial" pitchFamily="34" charset="0"/>
                    <a:cs typeface="Arial" pitchFamily="34" charset="0"/>
                  </a:rPr>
                  <a:t>500 ГБ</a:t>
                </a:r>
              </a:p>
            </p:txBody>
          </p:sp>
          <p:sp>
            <p:nvSpPr>
              <p:cNvPr id="28" name="Text Box 20"/>
              <p:cNvSpPr txBox="1">
                <a:spLocks noChangeArrowheads="1"/>
              </p:cNvSpPr>
              <p:nvPr/>
            </p:nvSpPr>
            <p:spPr bwMode="auto">
              <a:xfrm>
                <a:off x="5759236" y="3397915"/>
                <a:ext cx="1018993" cy="289085"/>
              </a:xfrm>
              <a:prstGeom prst="rect">
                <a:avLst/>
              </a:prstGeom>
              <a:noFill/>
              <a:ln w="9525">
                <a:noFill/>
                <a:miter lim="800000"/>
                <a:headEnd/>
                <a:tailEnd/>
              </a:ln>
            </p:spPr>
            <p:txBody>
              <a:bodyPr wrap="square" anchor="ctr">
                <a:spAutoFit/>
              </a:bodyPr>
              <a:lstStyle/>
              <a:p>
                <a:pPr algn="ctr"/>
                <a:r>
                  <a:rPr lang="ru-RU" sz="800" b="1" i="0" dirty="0">
                    <a:solidFill>
                      <a:srgbClr val="2C95DD"/>
                    </a:solidFill>
                    <a:latin typeface="Arial" pitchFamily="34" charset="0"/>
                    <a:cs typeface="Arial" pitchFamily="34" charset="0"/>
                  </a:rPr>
                  <a:t>550 Гбайт</a:t>
                </a:r>
              </a:p>
            </p:txBody>
          </p:sp>
          <p:sp>
            <p:nvSpPr>
              <p:cNvPr id="29" name="Text Box 20"/>
              <p:cNvSpPr txBox="1">
                <a:spLocks noChangeArrowheads="1"/>
              </p:cNvSpPr>
              <p:nvPr/>
            </p:nvSpPr>
            <p:spPr bwMode="auto">
              <a:xfrm>
                <a:off x="6757180" y="3245516"/>
                <a:ext cx="841074" cy="289085"/>
              </a:xfrm>
              <a:prstGeom prst="rect">
                <a:avLst/>
              </a:prstGeom>
              <a:noFill/>
              <a:ln w="9525">
                <a:noFill/>
                <a:miter lim="800000"/>
                <a:headEnd/>
                <a:tailEnd/>
              </a:ln>
            </p:spPr>
            <p:txBody>
              <a:bodyPr wrap="square" anchor="ctr">
                <a:spAutoFit/>
              </a:bodyPr>
              <a:lstStyle/>
              <a:p>
                <a:pPr algn="ctr"/>
                <a:r>
                  <a:rPr lang="ru-RU" sz="800" b="1" i="0" dirty="0">
                    <a:solidFill>
                      <a:srgbClr val="2C95DD"/>
                    </a:solidFill>
                    <a:latin typeface="Arial" pitchFamily="34" charset="0"/>
                    <a:cs typeface="Arial" pitchFamily="34" charset="0"/>
                  </a:rPr>
                  <a:t>800 ГБ</a:t>
                </a:r>
              </a:p>
            </p:txBody>
          </p:sp>
          <p:sp>
            <p:nvSpPr>
              <p:cNvPr id="30" name="Text Box 20"/>
              <p:cNvSpPr txBox="1">
                <a:spLocks noChangeArrowheads="1"/>
              </p:cNvSpPr>
              <p:nvPr/>
            </p:nvSpPr>
            <p:spPr bwMode="auto">
              <a:xfrm>
                <a:off x="7599549" y="4874100"/>
                <a:ext cx="1371601" cy="619467"/>
              </a:xfrm>
              <a:prstGeom prst="rect">
                <a:avLst/>
              </a:prstGeom>
              <a:noFill/>
              <a:ln w="9525">
                <a:noFill/>
                <a:miter lim="800000"/>
                <a:headEnd/>
                <a:tailEnd/>
              </a:ln>
            </p:spPr>
            <p:txBody>
              <a:bodyPr wrap="square" anchor="ctr">
                <a:spAutoFit/>
              </a:bodyPr>
              <a:lstStyle/>
              <a:p>
                <a:pPr algn="ctr"/>
                <a:r>
                  <a:rPr lang="ru-RU" sz="800" b="1" i="0" dirty="0">
                    <a:solidFill>
                      <a:srgbClr val="2C95DD"/>
                    </a:solidFill>
                    <a:latin typeface="Arial" pitchFamily="34" charset="0"/>
                    <a:cs typeface="Arial" pitchFamily="34" charset="0"/>
                  </a:rPr>
                  <a:t>Система хранения данных 2 ТБ</a:t>
                </a:r>
              </a:p>
            </p:txBody>
          </p:sp>
        </p:grpSp>
        <p:grpSp>
          <p:nvGrpSpPr>
            <p:cNvPr id="31" name="Group 30"/>
            <p:cNvGrpSpPr/>
            <p:nvPr/>
          </p:nvGrpSpPr>
          <p:grpSpPr>
            <a:xfrm>
              <a:off x="1137692" y="1129626"/>
              <a:ext cx="3045597" cy="3423324"/>
              <a:chOff x="332987" y="1699637"/>
              <a:chExt cx="4086613" cy="4593453"/>
            </a:xfrm>
          </p:grpSpPr>
          <p:sp>
            <p:nvSpPr>
              <p:cNvPr id="32" name="AutoShape 66"/>
              <p:cNvSpPr>
                <a:spLocks noChangeArrowheads="1"/>
              </p:cNvSpPr>
              <p:nvPr/>
            </p:nvSpPr>
            <p:spPr bwMode="auto">
              <a:xfrm>
                <a:off x="381000" y="1699637"/>
                <a:ext cx="4038600" cy="4593453"/>
              </a:xfrm>
              <a:prstGeom prst="roundRect">
                <a:avLst>
                  <a:gd name="adj" fmla="val 6917"/>
                </a:avLst>
              </a:prstGeom>
              <a:solidFill>
                <a:schemeClr val="bg1"/>
              </a:solidFill>
              <a:ln w="9525">
                <a:solidFill>
                  <a:schemeClr val="bg1">
                    <a:lumMod val="75000"/>
                  </a:schemeClr>
                </a:solidFill>
                <a:round/>
                <a:headEnd/>
                <a:tailEnd/>
              </a:ln>
            </p:spPr>
            <p:txBody>
              <a:bodyPr wrap="none" anchor="ctr"/>
              <a:lstStyle/>
              <a:p>
                <a:endParaRPr lang="en-US" sz="1400">
                  <a:latin typeface="Arial" pitchFamily="34" charset="0"/>
                  <a:cs typeface="Arial" pitchFamily="34" charset="0"/>
                </a:endParaRPr>
              </a:p>
            </p:txBody>
          </p:sp>
          <p:pic>
            <p:nvPicPr>
              <p:cNvPr id="33" name="Picture 6" descr="Orange Volume.png"/>
              <p:cNvPicPr>
                <a:picLocks noChangeAspect="1"/>
              </p:cNvPicPr>
              <p:nvPr/>
            </p:nvPicPr>
            <p:blipFill>
              <a:blip r:embed="rId4" cstate="print"/>
              <a:srcRect/>
              <a:stretch>
                <a:fillRect/>
              </a:stretch>
            </p:blipFill>
            <p:spPr bwMode="auto">
              <a:xfrm>
                <a:off x="457200" y="4564063"/>
                <a:ext cx="762000" cy="471487"/>
              </a:xfrm>
              <a:prstGeom prst="rect">
                <a:avLst/>
              </a:prstGeom>
              <a:noFill/>
              <a:ln w="9525">
                <a:noFill/>
                <a:miter lim="800000"/>
                <a:headEnd/>
                <a:tailEnd/>
              </a:ln>
            </p:spPr>
          </p:pic>
          <p:pic>
            <p:nvPicPr>
              <p:cNvPr id="34" name="Picture 6" descr="Orange Volume.png"/>
              <p:cNvPicPr>
                <a:picLocks noChangeAspect="1"/>
              </p:cNvPicPr>
              <p:nvPr/>
            </p:nvPicPr>
            <p:blipFill>
              <a:blip r:embed="rId5" cstate="print"/>
              <a:srcRect/>
              <a:stretch>
                <a:fillRect/>
              </a:stretch>
            </p:blipFill>
            <p:spPr bwMode="auto">
              <a:xfrm>
                <a:off x="1358900" y="4714875"/>
                <a:ext cx="762000" cy="311150"/>
              </a:xfrm>
              <a:prstGeom prst="rect">
                <a:avLst/>
              </a:prstGeom>
              <a:noFill/>
              <a:ln w="9525">
                <a:noFill/>
                <a:miter lim="800000"/>
                <a:headEnd/>
                <a:tailEnd/>
              </a:ln>
            </p:spPr>
          </p:pic>
          <p:pic>
            <p:nvPicPr>
              <p:cNvPr id="35" name="Picture 6" descr="Orange Volume.png"/>
              <p:cNvPicPr>
                <a:picLocks noChangeAspect="1"/>
              </p:cNvPicPr>
              <p:nvPr/>
            </p:nvPicPr>
            <p:blipFill>
              <a:blip r:embed="rId4" cstate="print"/>
              <a:srcRect/>
              <a:stretch>
                <a:fillRect/>
              </a:stretch>
            </p:blipFill>
            <p:spPr bwMode="auto">
              <a:xfrm>
                <a:off x="2266950" y="4233863"/>
                <a:ext cx="766763" cy="800100"/>
              </a:xfrm>
              <a:prstGeom prst="rect">
                <a:avLst/>
              </a:prstGeom>
              <a:noFill/>
              <a:ln w="9525">
                <a:noFill/>
                <a:miter lim="800000"/>
                <a:headEnd/>
                <a:tailEnd/>
              </a:ln>
            </p:spPr>
          </p:pic>
          <p:sp>
            <p:nvSpPr>
              <p:cNvPr id="36" name="Rectangle 4"/>
              <p:cNvSpPr txBox="1">
                <a:spLocks noChangeArrowheads="1"/>
              </p:cNvSpPr>
              <p:nvPr/>
            </p:nvSpPr>
            <p:spPr bwMode="auto">
              <a:xfrm>
                <a:off x="381000" y="5695786"/>
                <a:ext cx="4038600" cy="457201"/>
              </a:xfrm>
              <a:prstGeom prst="rect">
                <a:avLst/>
              </a:prstGeom>
              <a:noFill/>
              <a:ln w="9525">
                <a:noFill/>
                <a:miter lim="800000"/>
                <a:headEnd/>
                <a:tailEnd/>
              </a:ln>
            </p:spPr>
            <p:txBody>
              <a:bodyPr anchor="ctr"/>
              <a:lstStyle/>
              <a:p>
                <a:pPr algn="ctr"/>
                <a:r>
                  <a:rPr lang="ru-RU" sz="1400" b="1" i="0" dirty="0">
                    <a:solidFill>
                      <a:srgbClr val="000000"/>
                    </a:solidFill>
                    <a:latin typeface="Arial" pitchFamily="34" charset="0"/>
                    <a:cs typeface="Arial" pitchFamily="34" charset="0"/>
                  </a:rPr>
                  <a:t>Традиционное выделение ресурсов</a:t>
                </a:r>
              </a:p>
            </p:txBody>
          </p:sp>
          <p:pic>
            <p:nvPicPr>
              <p:cNvPr id="37" name="Picture 12" descr="Storage Array_Tall.png"/>
              <p:cNvPicPr>
                <a:picLocks noChangeAspect="1"/>
              </p:cNvPicPr>
              <p:nvPr/>
            </p:nvPicPr>
            <p:blipFill>
              <a:blip r:embed="rId6" cstate="print"/>
              <a:srcRect/>
              <a:stretch>
                <a:fillRect/>
              </a:stretch>
            </p:blipFill>
            <p:spPr bwMode="auto">
              <a:xfrm>
                <a:off x="3175000" y="2547938"/>
                <a:ext cx="1143000" cy="2433637"/>
              </a:xfrm>
              <a:prstGeom prst="rect">
                <a:avLst/>
              </a:prstGeom>
              <a:noFill/>
              <a:ln w="9525">
                <a:noFill/>
                <a:miter lim="800000"/>
                <a:headEnd/>
                <a:tailEnd/>
              </a:ln>
            </p:spPr>
          </p:pic>
          <p:sp>
            <p:nvSpPr>
              <p:cNvPr id="38" name="AutoShape 5"/>
              <p:cNvSpPr>
                <a:spLocks noChangeArrowheads="1"/>
              </p:cNvSpPr>
              <p:nvPr/>
            </p:nvSpPr>
            <p:spPr bwMode="gray">
              <a:xfrm>
                <a:off x="457200" y="3962400"/>
                <a:ext cx="762000" cy="1066800"/>
              </a:xfrm>
              <a:prstGeom prst="can">
                <a:avLst>
                  <a:gd name="adj" fmla="val 13553"/>
                </a:avLst>
              </a:prstGeom>
              <a:solidFill>
                <a:srgbClr val="C0C0C0">
                  <a:alpha val="75000"/>
                </a:srgbClr>
              </a:solidFill>
              <a:ln w="19050">
                <a:noFill/>
                <a:round/>
                <a:headEnd/>
                <a:tailEnd/>
              </a:ln>
            </p:spPr>
            <p:txBody>
              <a:bodyPr wrap="none" lIns="96838" tIns="50800" rIns="96838" bIns="50800" anchor="ctr"/>
              <a:lstStyle/>
              <a:p>
                <a:endParaRPr lang="en-US" sz="1100" b="1">
                  <a:latin typeface="Arial" pitchFamily="34" charset="0"/>
                  <a:cs typeface="Arial" pitchFamily="34" charset="0"/>
                </a:endParaRPr>
              </a:p>
            </p:txBody>
          </p:sp>
          <p:sp>
            <p:nvSpPr>
              <p:cNvPr id="39" name="AutoShape 5"/>
              <p:cNvSpPr>
                <a:spLocks noChangeArrowheads="1"/>
              </p:cNvSpPr>
              <p:nvPr/>
            </p:nvSpPr>
            <p:spPr bwMode="gray">
              <a:xfrm>
                <a:off x="1362075" y="3738564"/>
                <a:ext cx="761999" cy="1295400"/>
              </a:xfrm>
              <a:prstGeom prst="can">
                <a:avLst>
                  <a:gd name="adj" fmla="val 16457"/>
                </a:avLst>
              </a:prstGeom>
              <a:solidFill>
                <a:srgbClr val="C0C0C0">
                  <a:alpha val="75000"/>
                </a:srgbClr>
              </a:solidFill>
              <a:ln w="19050">
                <a:noFill/>
                <a:round/>
                <a:headEnd/>
                <a:tailEnd/>
              </a:ln>
            </p:spPr>
            <p:txBody>
              <a:bodyPr wrap="none" lIns="96838" tIns="50800" rIns="96838" bIns="50800" anchor="ctr"/>
              <a:lstStyle/>
              <a:p>
                <a:endParaRPr lang="en-US" sz="1100" b="1">
                  <a:latin typeface="Arial" pitchFamily="34" charset="0"/>
                  <a:cs typeface="Arial" pitchFamily="34" charset="0"/>
                </a:endParaRPr>
              </a:p>
            </p:txBody>
          </p:sp>
          <p:sp>
            <p:nvSpPr>
              <p:cNvPr id="40" name="AutoShape 5"/>
              <p:cNvSpPr>
                <a:spLocks noChangeArrowheads="1"/>
              </p:cNvSpPr>
              <p:nvPr/>
            </p:nvSpPr>
            <p:spPr bwMode="gray">
              <a:xfrm>
                <a:off x="2271713" y="3581400"/>
                <a:ext cx="762000" cy="1447800"/>
              </a:xfrm>
              <a:prstGeom prst="can">
                <a:avLst>
                  <a:gd name="adj" fmla="val 19581"/>
                </a:avLst>
              </a:prstGeom>
              <a:solidFill>
                <a:srgbClr val="C0C0C0">
                  <a:alpha val="75000"/>
                </a:srgbClr>
              </a:solidFill>
              <a:ln w="19050">
                <a:noFill/>
                <a:round/>
                <a:headEnd/>
                <a:tailEnd/>
              </a:ln>
            </p:spPr>
            <p:txBody>
              <a:bodyPr wrap="none" lIns="96838" tIns="50800" rIns="96838" bIns="50800" anchor="ctr"/>
              <a:lstStyle/>
              <a:p>
                <a:endParaRPr lang="en-US" sz="1100" b="1">
                  <a:latin typeface="Arial" pitchFamily="34" charset="0"/>
                  <a:cs typeface="Arial" pitchFamily="34" charset="0"/>
                </a:endParaRPr>
              </a:p>
            </p:txBody>
          </p:sp>
          <p:sp>
            <p:nvSpPr>
              <p:cNvPr id="41" name="Rectangle 40"/>
              <p:cNvSpPr>
                <a:spLocks noChangeArrowheads="1"/>
              </p:cNvSpPr>
              <p:nvPr/>
            </p:nvSpPr>
            <p:spPr bwMode="auto">
              <a:xfrm>
                <a:off x="3171825" y="4381500"/>
                <a:ext cx="1143000" cy="590550"/>
              </a:xfrm>
              <a:prstGeom prst="rect">
                <a:avLst/>
              </a:prstGeom>
              <a:solidFill>
                <a:srgbClr val="993300">
                  <a:alpha val="45097"/>
                </a:srgbClr>
              </a:solidFill>
              <a:ln w="9525">
                <a:noFill/>
                <a:miter lim="800000"/>
                <a:headEnd/>
                <a:tailEnd/>
              </a:ln>
            </p:spPr>
            <p:txBody>
              <a:bodyPr wrap="none" anchor="ctr"/>
              <a:lstStyle/>
              <a:p>
                <a:pPr algn="ctr"/>
                <a:endParaRPr lang="en-US" sz="1400">
                  <a:latin typeface="Arial" pitchFamily="34" charset="0"/>
                  <a:cs typeface="Arial" pitchFamily="34" charset="0"/>
                </a:endParaRPr>
              </a:p>
            </p:txBody>
          </p:sp>
          <p:sp>
            <p:nvSpPr>
              <p:cNvPr id="42" name="Text Box 42"/>
              <p:cNvSpPr txBox="1">
                <a:spLocks noChangeArrowheads="1"/>
              </p:cNvSpPr>
              <p:nvPr/>
            </p:nvSpPr>
            <p:spPr bwMode="auto">
              <a:xfrm>
                <a:off x="3146050" y="4419599"/>
                <a:ext cx="1181650" cy="569910"/>
              </a:xfrm>
              <a:prstGeom prst="rect">
                <a:avLst/>
              </a:prstGeom>
              <a:noFill/>
              <a:ln w="9525">
                <a:noFill/>
                <a:miter lim="800000"/>
                <a:headEnd/>
                <a:tailEnd/>
              </a:ln>
            </p:spPr>
            <p:txBody>
              <a:bodyPr wrap="square">
                <a:spAutoFit/>
              </a:bodyPr>
              <a:lstStyle/>
              <a:p>
                <a:pPr algn="ctr">
                  <a:lnSpc>
                    <a:spcPct val="80000"/>
                  </a:lnSpc>
                </a:pPr>
                <a:r>
                  <a:rPr lang="ru-RU" sz="900" b="0" i="0" dirty="0">
                    <a:solidFill>
                      <a:srgbClr val="FFFFFF"/>
                    </a:solidFill>
                    <a:latin typeface="Arial" pitchFamily="34" charset="0"/>
                    <a:cs typeface="Arial" pitchFamily="34" charset="0"/>
                  </a:rPr>
                  <a:t>350 Гбайт </a:t>
                </a:r>
                <a:r>
                  <a:rPr lang="ru-RU" sz="900" dirty="0">
                    <a:solidFill>
                      <a:srgbClr val="FFFFFF"/>
                    </a:solidFill>
                    <a:latin typeface="Arial" pitchFamily="34" charset="0"/>
                    <a:cs typeface="Arial" pitchFamily="34" charset="0"/>
                  </a:rPr>
                  <a:t>фактических</a:t>
                </a:r>
                <a:r>
                  <a:rPr lang="ru-RU" sz="900" b="0" i="0" dirty="0">
                    <a:solidFill>
                      <a:srgbClr val="FFFFFF"/>
                    </a:solidFill>
                    <a:latin typeface="Arial" pitchFamily="34" charset="0"/>
                    <a:cs typeface="Arial" pitchFamily="34" charset="0"/>
                  </a:rPr>
                  <a:t> данных</a:t>
                </a:r>
              </a:p>
            </p:txBody>
          </p:sp>
          <p:grpSp>
            <p:nvGrpSpPr>
              <p:cNvPr id="43" name="Group 42"/>
              <p:cNvGrpSpPr/>
              <p:nvPr/>
            </p:nvGrpSpPr>
            <p:grpSpPr>
              <a:xfrm>
                <a:off x="3178175" y="3048001"/>
                <a:ext cx="1130300" cy="1333500"/>
                <a:chOff x="3025775" y="2895600"/>
                <a:chExt cx="1130300" cy="1485900"/>
              </a:xfrm>
            </p:grpSpPr>
            <p:sp>
              <p:nvSpPr>
                <p:cNvPr id="56" name="Rectangle 45"/>
                <p:cNvSpPr>
                  <a:spLocks noChangeArrowheads="1"/>
                </p:cNvSpPr>
                <p:nvPr/>
              </p:nvSpPr>
              <p:spPr bwMode="auto">
                <a:xfrm>
                  <a:off x="3025775" y="2895600"/>
                  <a:ext cx="1130300" cy="1485900"/>
                </a:xfrm>
                <a:prstGeom prst="rect">
                  <a:avLst/>
                </a:prstGeom>
                <a:solidFill>
                  <a:schemeClr val="bg1">
                    <a:alpha val="45882"/>
                  </a:schemeClr>
                </a:solidFill>
                <a:ln w="9525">
                  <a:noFill/>
                  <a:miter lim="800000"/>
                  <a:headEnd/>
                  <a:tailEnd/>
                </a:ln>
              </p:spPr>
              <p:txBody>
                <a:bodyPr wrap="none" anchor="ctr"/>
                <a:lstStyle/>
                <a:p>
                  <a:endParaRPr lang="en-US" sz="1400">
                    <a:latin typeface="Arial" pitchFamily="34" charset="0"/>
                    <a:cs typeface="Arial" pitchFamily="34" charset="0"/>
                  </a:endParaRPr>
                </a:p>
              </p:txBody>
            </p:sp>
            <p:sp>
              <p:nvSpPr>
                <p:cNvPr id="57" name="Text Box 44"/>
                <p:cNvSpPr txBox="1">
                  <a:spLocks noChangeArrowheads="1"/>
                </p:cNvSpPr>
                <p:nvPr/>
              </p:nvSpPr>
              <p:spPr bwMode="auto">
                <a:xfrm>
                  <a:off x="3030147" y="2918385"/>
                  <a:ext cx="1124705" cy="1426544"/>
                </a:xfrm>
                <a:prstGeom prst="rect">
                  <a:avLst/>
                </a:prstGeom>
                <a:noFill/>
                <a:ln w="9525">
                  <a:noFill/>
                  <a:miter lim="800000"/>
                  <a:headEnd/>
                  <a:tailEnd/>
                </a:ln>
              </p:spPr>
              <p:txBody>
                <a:bodyPr wrap="square">
                  <a:spAutoFit/>
                </a:bodyPr>
                <a:lstStyle/>
                <a:p>
                  <a:pPr algn="ctr"/>
                  <a:r>
                    <a:rPr lang="ru-RU" sz="800" b="1" i="0" dirty="0">
                      <a:solidFill>
                        <a:srgbClr val="CC0000"/>
                      </a:solidFill>
                      <a:latin typeface="Arial" pitchFamily="34" charset="0"/>
                      <a:cs typeface="Arial" pitchFamily="34" charset="0"/>
                    </a:rPr>
                    <a:t>1500 Гбайт или 1,5 Тбайт выделенной неиспользованной емкости</a:t>
                  </a:r>
                </a:p>
              </p:txBody>
            </p:sp>
          </p:grpSp>
          <p:sp>
            <p:nvSpPr>
              <p:cNvPr id="44" name="Text Box 64"/>
              <p:cNvSpPr txBox="1">
                <a:spLocks noChangeArrowheads="1"/>
              </p:cNvSpPr>
              <p:nvPr/>
            </p:nvSpPr>
            <p:spPr bwMode="auto">
              <a:xfrm>
                <a:off x="473881" y="4031020"/>
                <a:ext cx="715722" cy="681413"/>
              </a:xfrm>
              <a:prstGeom prst="rect">
                <a:avLst/>
              </a:prstGeom>
              <a:noFill/>
              <a:ln w="9525">
                <a:noFill/>
                <a:miter lim="800000"/>
                <a:headEnd/>
                <a:tailEnd/>
              </a:ln>
            </p:spPr>
            <p:txBody>
              <a:bodyPr wrap="square">
                <a:spAutoFit/>
              </a:bodyPr>
              <a:lstStyle/>
              <a:p>
                <a:pPr algn="ctr">
                  <a:lnSpc>
                    <a:spcPct val="90000"/>
                  </a:lnSpc>
                </a:pPr>
                <a:r>
                  <a:rPr lang="ru-RU" sz="500" b="1" i="0" dirty="0">
                    <a:solidFill>
                      <a:srgbClr val="000000"/>
                    </a:solidFill>
                    <a:latin typeface="Arial" pitchFamily="34" charset="0"/>
                    <a:cs typeface="Arial" pitchFamily="34" charset="0"/>
                  </a:rPr>
                  <a:t>400 Гбайт выделенной неиспользованной емкости</a:t>
                </a:r>
              </a:p>
            </p:txBody>
          </p:sp>
          <p:sp>
            <p:nvSpPr>
              <p:cNvPr id="45" name="Text Box 65"/>
              <p:cNvSpPr txBox="1">
                <a:spLocks noChangeArrowheads="1"/>
              </p:cNvSpPr>
              <p:nvPr/>
            </p:nvSpPr>
            <p:spPr bwMode="auto">
              <a:xfrm>
                <a:off x="425094" y="4723566"/>
                <a:ext cx="804331" cy="322123"/>
              </a:xfrm>
              <a:prstGeom prst="rect">
                <a:avLst/>
              </a:prstGeom>
              <a:noFill/>
              <a:ln w="9525">
                <a:noFill/>
                <a:miter lim="800000"/>
                <a:headEnd/>
                <a:tailEnd/>
              </a:ln>
            </p:spPr>
            <p:txBody>
              <a:bodyPr wrap="square">
                <a:spAutoFit/>
              </a:bodyPr>
              <a:lstStyle/>
              <a:p>
                <a:pPr algn="ctr">
                  <a:lnSpc>
                    <a:spcPct val="80000"/>
                  </a:lnSpc>
                </a:pPr>
                <a:r>
                  <a:rPr lang="ru-RU" sz="600" b="1" i="0" dirty="0">
                    <a:solidFill>
                      <a:srgbClr val="000000"/>
                    </a:solidFill>
                    <a:latin typeface="Arial" pitchFamily="34" charset="0"/>
                    <a:cs typeface="Arial" pitchFamily="34" charset="0"/>
                  </a:rPr>
                  <a:t>100 Гбайт данных</a:t>
                </a:r>
              </a:p>
            </p:txBody>
          </p:sp>
          <p:sp>
            <p:nvSpPr>
              <p:cNvPr id="46" name="Text Box 68"/>
              <p:cNvSpPr txBox="1">
                <a:spLocks noChangeArrowheads="1"/>
              </p:cNvSpPr>
              <p:nvPr/>
            </p:nvSpPr>
            <p:spPr bwMode="auto">
              <a:xfrm>
                <a:off x="1401442" y="3951657"/>
                <a:ext cx="666623" cy="681413"/>
              </a:xfrm>
              <a:prstGeom prst="rect">
                <a:avLst/>
              </a:prstGeom>
              <a:noFill/>
              <a:ln w="9525">
                <a:noFill/>
                <a:miter lim="800000"/>
                <a:headEnd/>
                <a:tailEnd/>
              </a:ln>
            </p:spPr>
            <p:txBody>
              <a:bodyPr wrap="square">
                <a:spAutoFit/>
              </a:bodyPr>
              <a:lstStyle/>
              <a:p>
                <a:pPr algn="ctr">
                  <a:lnSpc>
                    <a:spcPct val="90000"/>
                  </a:lnSpc>
                </a:pPr>
                <a:r>
                  <a:rPr lang="ru-RU" sz="500" b="1" i="0" dirty="0">
                    <a:solidFill>
                      <a:srgbClr val="000000"/>
                    </a:solidFill>
                    <a:latin typeface="Arial" pitchFamily="34" charset="0"/>
                    <a:cs typeface="Arial" pitchFamily="34" charset="0"/>
                  </a:rPr>
                  <a:t>500 Гбайт выделенной неиспользованной емкости</a:t>
                </a:r>
              </a:p>
            </p:txBody>
          </p:sp>
          <p:sp>
            <p:nvSpPr>
              <p:cNvPr id="47" name="Text Box 69"/>
              <p:cNvSpPr txBox="1">
                <a:spLocks noChangeArrowheads="1"/>
              </p:cNvSpPr>
              <p:nvPr/>
            </p:nvSpPr>
            <p:spPr bwMode="auto">
              <a:xfrm>
                <a:off x="1396333" y="4749176"/>
                <a:ext cx="688726" cy="322123"/>
              </a:xfrm>
              <a:prstGeom prst="rect">
                <a:avLst/>
              </a:prstGeom>
              <a:noFill/>
              <a:ln w="9525">
                <a:noFill/>
                <a:miter lim="800000"/>
                <a:headEnd/>
                <a:tailEnd/>
              </a:ln>
            </p:spPr>
            <p:txBody>
              <a:bodyPr wrap="none">
                <a:spAutoFit/>
              </a:bodyPr>
              <a:lstStyle/>
              <a:p>
                <a:pPr algn="ctr">
                  <a:lnSpc>
                    <a:spcPct val="80000"/>
                  </a:lnSpc>
                </a:pPr>
                <a:r>
                  <a:rPr lang="ru-RU" sz="600" b="1" i="0" dirty="0">
                    <a:solidFill>
                      <a:srgbClr val="000000"/>
                    </a:solidFill>
                    <a:latin typeface="Arial" pitchFamily="34" charset="0"/>
                    <a:cs typeface="Arial" pitchFamily="34" charset="0"/>
                  </a:rPr>
                  <a:t>50 Гбайт</a:t>
                </a:r>
                <a:br>
                  <a:rPr lang="en-US" sz="600" b="1" i="0" dirty="0">
                    <a:solidFill>
                      <a:srgbClr val="FF00FF"/>
                    </a:solidFill>
                    <a:latin typeface="Arial" pitchFamily="34" charset="0"/>
                    <a:cs typeface="Arial" pitchFamily="34" charset="0"/>
                  </a:rPr>
                </a:br>
                <a:r>
                  <a:rPr lang="ru-RU" sz="600" b="1" i="0" dirty="0">
                    <a:solidFill>
                      <a:srgbClr val="000000"/>
                    </a:solidFill>
                    <a:latin typeface="Arial" pitchFamily="34" charset="0"/>
                    <a:cs typeface="Arial" pitchFamily="34" charset="0"/>
                  </a:rPr>
                  <a:t>данных</a:t>
                </a:r>
              </a:p>
            </p:txBody>
          </p:sp>
          <p:sp>
            <p:nvSpPr>
              <p:cNvPr id="48" name="Text Box 70"/>
              <p:cNvSpPr txBox="1">
                <a:spLocks noChangeArrowheads="1"/>
              </p:cNvSpPr>
              <p:nvPr/>
            </p:nvSpPr>
            <p:spPr bwMode="auto">
              <a:xfrm>
                <a:off x="2240473" y="4723566"/>
                <a:ext cx="817031" cy="322123"/>
              </a:xfrm>
              <a:prstGeom prst="rect">
                <a:avLst/>
              </a:prstGeom>
              <a:noFill/>
              <a:ln w="9525">
                <a:noFill/>
                <a:miter lim="800000"/>
                <a:headEnd/>
                <a:tailEnd/>
              </a:ln>
            </p:spPr>
            <p:txBody>
              <a:bodyPr wrap="square">
                <a:spAutoFit/>
              </a:bodyPr>
              <a:lstStyle/>
              <a:p>
                <a:pPr algn="ctr">
                  <a:lnSpc>
                    <a:spcPct val="80000"/>
                  </a:lnSpc>
                </a:pPr>
                <a:r>
                  <a:rPr lang="ru-RU" sz="600" b="1" i="0" dirty="0">
                    <a:solidFill>
                      <a:srgbClr val="000000"/>
                    </a:solidFill>
                    <a:latin typeface="Arial" pitchFamily="34" charset="0"/>
                    <a:cs typeface="Arial" pitchFamily="34" charset="0"/>
                  </a:rPr>
                  <a:t>200 Гбайт данных</a:t>
                </a:r>
              </a:p>
            </p:txBody>
          </p:sp>
          <p:sp>
            <p:nvSpPr>
              <p:cNvPr id="49" name="Text Box 71"/>
              <p:cNvSpPr txBox="1">
                <a:spLocks noChangeArrowheads="1"/>
              </p:cNvSpPr>
              <p:nvPr/>
            </p:nvSpPr>
            <p:spPr bwMode="auto">
              <a:xfrm>
                <a:off x="2285338" y="3736940"/>
                <a:ext cx="715722" cy="681413"/>
              </a:xfrm>
              <a:prstGeom prst="rect">
                <a:avLst/>
              </a:prstGeom>
              <a:noFill/>
              <a:ln w="9525">
                <a:noFill/>
                <a:miter lim="800000"/>
                <a:headEnd/>
                <a:tailEnd/>
              </a:ln>
            </p:spPr>
            <p:txBody>
              <a:bodyPr wrap="square">
                <a:spAutoFit/>
              </a:bodyPr>
              <a:lstStyle/>
              <a:p>
                <a:pPr algn="ctr">
                  <a:lnSpc>
                    <a:spcPct val="90000"/>
                  </a:lnSpc>
                </a:pPr>
                <a:r>
                  <a:rPr lang="ru-RU" sz="500" b="1" i="0" dirty="0">
                    <a:solidFill>
                      <a:srgbClr val="000000"/>
                    </a:solidFill>
                    <a:latin typeface="Arial" pitchFamily="34" charset="0"/>
                    <a:cs typeface="Arial" pitchFamily="34" charset="0"/>
                  </a:rPr>
                  <a:t>600 Гбайт выделенной неиспользованной емкости</a:t>
                </a:r>
              </a:p>
            </p:txBody>
          </p:sp>
          <p:sp>
            <p:nvSpPr>
              <p:cNvPr id="50" name="Text Box 20"/>
              <p:cNvSpPr txBox="1">
                <a:spLocks noChangeArrowheads="1"/>
              </p:cNvSpPr>
              <p:nvPr/>
            </p:nvSpPr>
            <p:spPr bwMode="auto">
              <a:xfrm>
                <a:off x="332987" y="5032893"/>
                <a:ext cx="954467" cy="454275"/>
              </a:xfrm>
              <a:prstGeom prst="rect">
                <a:avLst/>
              </a:prstGeom>
              <a:noFill/>
              <a:ln w="9525">
                <a:noFill/>
                <a:miter lim="800000"/>
                <a:headEnd/>
                <a:tailEnd/>
              </a:ln>
            </p:spPr>
            <p:txBody>
              <a:bodyPr wrap="square" anchor="ctr">
                <a:spAutoFit/>
              </a:bodyPr>
              <a:lstStyle/>
              <a:p>
                <a:pPr algn="ctr"/>
                <a:r>
                  <a:rPr lang="ru-RU" sz="800" b="1" i="0" dirty="0">
                    <a:solidFill>
                      <a:srgbClr val="2C95DD"/>
                    </a:solidFill>
                    <a:latin typeface="Arial" pitchFamily="34" charset="0"/>
                    <a:cs typeface="Arial" pitchFamily="34" charset="0"/>
                  </a:rPr>
                  <a:t>ТОМ 1 — 500 Гбайт</a:t>
                </a:r>
              </a:p>
            </p:txBody>
          </p:sp>
          <p:sp>
            <p:nvSpPr>
              <p:cNvPr id="51" name="Text Box 20"/>
              <p:cNvSpPr txBox="1">
                <a:spLocks noChangeArrowheads="1"/>
              </p:cNvSpPr>
              <p:nvPr/>
            </p:nvSpPr>
            <p:spPr bwMode="auto">
              <a:xfrm>
                <a:off x="1270547" y="5032892"/>
                <a:ext cx="958428" cy="454275"/>
              </a:xfrm>
              <a:prstGeom prst="rect">
                <a:avLst/>
              </a:prstGeom>
              <a:noFill/>
              <a:ln w="9525">
                <a:noFill/>
                <a:miter lim="800000"/>
                <a:headEnd/>
                <a:tailEnd/>
              </a:ln>
            </p:spPr>
            <p:txBody>
              <a:bodyPr wrap="square" anchor="ctr">
                <a:spAutoFit/>
              </a:bodyPr>
              <a:lstStyle/>
              <a:p>
                <a:pPr algn="ctr"/>
                <a:r>
                  <a:rPr lang="ru-RU" sz="800" b="1" i="0" dirty="0">
                    <a:solidFill>
                      <a:srgbClr val="2C95DD"/>
                    </a:solidFill>
                    <a:latin typeface="Arial" pitchFamily="34" charset="0"/>
                    <a:cs typeface="Arial" pitchFamily="34" charset="0"/>
                  </a:rPr>
                  <a:t>ТОМ 2 — 550 Гбайт</a:t>
                </a:r>
              </a:p>
            </p:txBody>
          </p:sp>
          <p:sp>
            <p:nvSpPr>
              <p:cNvPr id="52" name="Text Box 20"/>
              <p:cNvSpPr txBox="1">
                <a:spLocks noChangeArrowheads="1"/>
              </p:cNvSpPr>
              <p:nvPr/>
            </p:nvSpPr>
            <p:spPr bwMode="auto">
              <a:xfrm>
                <a:off x="2108964" y="5025240"/>
                <a:ext cx="1089573" cy="454275"/>
              </a:xfrm>
              <a:prstGeom prst="rect">
                <a:avLst/>
              </a:prstGeom>
              <a:noFill/>
              <a:ln w="9525">
                <a:noFill/>
                <a:miter lim="800000"/>
                <a:headEnd/>
                <a:tailEnd/>
              </a:ln>
            </p:spPr>
            <p:txBody>
              <a:bodyPr wrap="square" anchor="ctr">
                <a:spAutoFit/>
              </a:bodyPr>
              <a:lstStyle/>
              <a:p>
                <a:pPr algn="ctr"/>
                <a:r>
                  <a:rPr lang="ru-RU" sz="800" b="1" i="0" dirty="0">
                    <a:solidFill>
                      <a:srgbClr val="2C95DD"/>
                    </a:solidFill>
                    <a:latin typeface="Arial" pitchFamily="34" charset="0"/>
                    <a:cs typeface="Arial" pitchFamily="34" charset="0"/>
                  </a:rPr>
                  <a:t>ТОМ 3 — 800 Гбайт</a:t>
                </a:r>
              </a:p>
            </p:txBody>
          </p:sp>
          <p:sp>
            <p:nvSpPr>
              <p:cNvPr id="53" name="Text Box 20"/>
              <p:cNvSpPr txBox="1">
                <a:spLocks noChangeArrowheads="1"/>
              </p:cNvSpPr>
              <p:nvPr/>
            </p:nvSpPr>
            <p:spPr bwMode="auto">
              <a:xfrm>
                <a:off x="3048000" y="4950299"/>
                <a:ext cx="1371600" cy="619467"/>
              </a:xfrm>
              <a:prstGeom prst="rect">
                <a:avLst/>
              </a:prstGeom>
              <a:noFill/>
              <a:ln w="9525">
                <a:noFill/>
                <a:miter lim="800000"/>
                <a:headEnd/>
                <a:tailEnd/>
              </a:ln>
            </p:spPr>
            <p:txBody>
              <a:bodyPr wrap="square" anchor="ctr">
                <a:spAutoFit/>
              </a:bodyPr>
              <a:lstStyle/>
              <a:p>
                <a:pPr algn="ctr"/>
                <a:r>
                  <a:rPr lang="ru-RU" sz="800" b="1" i="0" dirty="0">
                    <a:solidFill>
                      <a:srgbClr val="2C95DD"/>
                    </a:solidFill>
                    <a:latin typeface="Arial" pitchFamily="34" charset="0"/>
                    <a:cs typeface="Arial" pitchFamily="34" charset="0"/>
                  </a:rPr>
                  <a:t>Система хранения данных 2 ТБ</a:t>
                </a:r>
              </a:p>
            </p:txBody>
          </p:sp>
          <p:sp>
            <p:nvSpPr>
              <p:cNvPr id="54" name="Rectangle 47"/>
              <p:cNvSpPr>
                <a:spLocks noChangeArrowheads="1"/>
              </p:cNvSpPr>
              <p:nvPr/>
            </p:nvSpPr>
            <p:spPr bwMode="auto">
              <a:xfrm>
                <a:off x="3175000" y="2514600"/>
                <a:ext cx="1168400" cy="533400"/>
              </a:xfrm>
              <a:prstGeom prst="rect">
                <a:avLst/>
              </a:prstGeom>
              <a:solidFill>
                <a:srgbClr val="FFFF00">
                  <a:alpha val="41000"/>
                </a:srgbClr>
              </a:solidFill>
              <a:ln w="9525">
                <a:noFill/>
                <a:miter lim="800000"/>
                <a:headEnd/>
                <a:tailEnd/>
              </a:ln>
              <a:effectLst/>
            </p:spPr>
            <p:txBody>
              <a:bodyPr wrap="none" anchor="ctr"/>
              <a:lstStyle/>
              <a:p>
                <a:pPr>
                  <a:defRPr/>
                </a:pPr>
                <a:endParaRPr lang="en-US" sz="1400">
                  <a:latin typeface="Arial" pitchFamily="34" charset="0"/>
                  <a:cs typeface="Arial" pitchFamily="34" charset="0"/>
                </a:endParaRPr>
              </a:p>
            </p:txBody>
          </p:sp>
          <p:sp>
            <p:nvSpPr>
              <p:cNvPr id="55" name="Text Box 46"/>
              <p:cNvSpPr txBox="1">
                <a:spLocks noChangeArrowheads="1"/>
              </p:cNvSpPr>
              <p:nvPr/>
            </p:nvSpPr>
            <p:spPr bwMode="auto">
              <a:xfrm>
                <a:off x="3178173" y="2608640"/>
                <a:ext cx="1136650" cy="371680"/>
              </a:xfrm>
              <a:prstGeom prst="rect">
                <a:avLst/>
              </a:prstGeom>
              <a:noFill/>
              <a:ln w="9525">
                <a:noFill/>
                <a:miter lim="800000"/>
                <a:headEnd/>
                <a:tailEnd/>
              </a:ln>
            </p:spPr>
            <p:txBody>
              <a:bodyPr wrap="square">
                <a:spAutoFit/>
              </a:bodyPr>
              <a:lstStyle/>
              <a:p>
                <a:pPr algn="ctr"/>
                <a:r>
                  <a:rPr lang="ru-RU" sz="600" b="1" i="0" dirty="0">
                    <a:solidFill>
                      <a:srgbClr val="000000"/>
                    </a:solidFill>
                    <a:latin typeface="Arial" pitchFamily="34" charset="0"/>
                    <a:cs typeface="Arial" pitchFamily="34" charset="0"/>
                  </a:rPr>
                  <a:t>Доступная емкость 150 ГБ</a:t>
                </a:r>
              </a:p>
            </p:txBody>
          </p:sp>
        </p:grpSp>
      </p:grpSp>
      <p:sp>
        <p:nvSpPr>
          <p:cNvPr id="58" name="TextBox 5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125004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маскирование логических устройств</a:t>
            </a:r>
          </a:p>
        </p:txBody>
      </p:sp>
      <p:sp>
        <p:nvSpPr>
          <p:cNvPr id="3" name="Content Placeholder 2"/>
          <p:cNvSpPr>
            <a:spLocks noGrp="1"/>
          </p:cNvSpPr>
          <p:nvPr>
            <p:ph sz="quarter" idx="10"/>
          </p:nvPr>
        </p:nvSpPr>
        <p:spPr>
          <a:xfrm>
            <a:off x="379414" y="1962150"/>
            <a:ext cx="8458200" cy="2457450"/>
          </a:xfrm>
        </p:spPr>
        <p:txBody>
          <a:bodyPr/>
          <a:lstStyle/>
          <a:p>
            <a:r>
              <a:rPr lang="ru-RU" sz="2000" b="0" i="0" dirty="0">
                <a:solidFill>
                  <a:srgbClr val="000000"/>
                </a:solidFill>
                <a:latin typeface="Arial" pitchFamily="34" charset="0"/>
                <a:cs typeface="Arial" pitchFamily="34" charset="0"/>
              </a:rPr>
              <a:t>Реализовано в системе хранения</a:t>
            </a:r>
          </a:p>
          <a:p>
            <a:r>
              <a:rPr lang="ru-RU" sz="2000" b="0" i="0" dirty="0">
                <a:solidFill>
                  <a:srgbClr val="000000"/>
                </a:solidFill>
                <a:latin typeface="Arial" pitchFamily="34" charset="0"/>
                <a:cs typeface="Arial" pitchFamily="34" charset="0"/>
              </a:rPr>
              <a:t>Предотвращает несанкционированное или случайное использование томов в общей среде</a:t>
            </a:r>
          </a:p>
          <a:p>
            <a:endParaRPr lang="en-US" dirty="0">
              <a:latin typeface="Arial" pitchFamily="34" charset="0"/>
              <a:cs typeface="Arial" pitchFamily="34" charset="0"/>
            </a:endParaRPr>
          </a:p>
        </p:txBody>
      </p:sp>
      <p:grpSp>
        <p:nvGrpSpPr>
          <p:cNvPr id="5" name="Group 4"/>
          <p:cNvGrpSpPr/>
          <p:nvPr/>
        </p:nvGrpSpPr>
        <p:grpSpPr>
          <a:xfrm>
            <a:off x="287979" y="809620"/>
            <a:ext cx="8545183" cy="1087760"/>
            <a:chOff x="125970" y="798190"/>
            <a:chExt cx="8545183" cy="1087760"/>
          </a:xfrm>
        </p:grpSpPr>
        <p:sp>
          <p:nvSpPr>
            <p:cNvPr id="6" name="Rectangle 5"/>
            <p:cNvSpPr/>
            <p:nvPr/>
          </p:nvSpPr>
          <p:spPr>
            <a:xfrm>
              <a:off x="125970"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endParaRPr lang="en-US">
                <a:latin typeface="Arial" pitchFamily="34" charset="0"/>
                <a:cs typeface="Arial" pitchFamily="34" charset="0"/>
              </a:endParaRPr>
            </a:p>
          </p:txBody>
        </p:sp>
        <p:sp>
          <p:nvSpPr>
            <p:cNvPr id="7" name="Rectangle 6"/>
            <p:cNvSpPr/>
            <p:nvPr/>
          </p:nvSpPr>
          <p:spPr>
            <a:xfrm>
              <a:off x="441553" y="996920"/>
              <a:ext cx="8229600" cy="88903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600" b="0" i="0" dirty="0">
                  <a:solidFill>
                    <a:srgbClr val="000000"/>
                  </a:solidFill>
                  <a:latin typeface="Arial" pitchFamily="34" charset="0"/>
                  <a:cs typeface="Arial" pitchFamily="34" charset="0"/>
                </a:rPr>
                <a:t>Это процесс, обеспечивающий контроль доступа к данным путем определения томов, к которым вычислительная система может осуществлять доступ. </a:t>
              </a:r>
            </a:p>
          </p:txBody>
        </p:sp>
        <p:sp>
          <p:nvSpPr>
            <p:cNvPr id="8" name="Rectangle 7"/>
            <p:cNvSpPr/>
            <p:nvPr/>
          </p:nvSpPr>
          <p:spPr>
            <a:xfrm>
              <a:off x="175740"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600" b="1" i="0" dirty="0">
                  <a:solidFill>
                    <a:srgbClr val="FFFFFF"/>
                  </a:solidFill>
                  <a:latin typeface="Arial" pitchFamily="34" charset="0"/>
                  <a:cs typeface="Arial" pitchFamily="34" charset="0"/>
                </a:rPr>
                <a:t>маскирование логических устройств</a:t>
              </a:r>
            </a:p>
          </p:txBody>
        </p:sp>
      </p:grpSp>
      <p:sp>
        <p:nvSpPr>
          <p:cNvPr id="9" name="TextBox 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509684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2.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pPr>
              <a:defRPr/>
            </a:pPr>
            <a:r>
              <a:rPr lang="ru-RU" sz="2000" b="0" i="0" dirty="0">
                <a:solidFill>
                  <a:srgbClr val="000000"/>
                </a:solidFill>
                <a:latin typeface="Arial" pitchFamily="34" charset="0"/>
                <a:cs typeface="Arial" pitchFamily="34" charset="0"/>
              </a:rPr>
              <a:t>Традиционное и виртуальное выделение ресурсов.</a:t>
            </a:r>
          </a:p>
          <a:p>
            <a:pPr>
              <a:defRPr/>
            </a:pPr>
            <a:r>
              <a:rPr lang="ru-RU" sz="2000" b="0" i="0" dirty="0">
                <a:solidFill>
                  <a:srgbClr val="000000"/>
                </a:solidFill>
                <a:latin typeface="Arial" pitchFamily="34" charset="0"/>
                <a:cs typeface="Arial" pitchFamily="34" charset="0"/>
              </a:rPr>
              <a:t>Расширение томов.</a:t>
            </a:r>
          </a:p>
          <a:p>
            <a:pPr>
              <a:defRPr/>
            </a:pPr>
            <a:r>
              <a:rPr lang="ru-RU" sz="2000" b="0" i="0" dirty="0">
                <a:solidFill>
                  <a:srgbClr val="000000"/>
                </a:solidFill>
                <a:latin typeface="Arial" pitchFamily="34" charset="0"/>
                <a:cs typeface="Arial" pitchFamily="34" charset="0"/>
              </a:rPr>
              <a:t>Маскирование томов.</a:t>
            </a:r>
          </a:p>
          <a:p>
            <a:endParaRPr lang="en-US" dirty="0">
              <a:latin typeface="Arial" pitchFamily="34" charset="0"/>
              <a:cs typeface="Arial" pitchFamily="34" charset="0"/>
            </a:endParaRP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878691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3. Многоуровневое хранение данных </a:t>
            </a:r>
          </a:p>
        </p:txBody>
      </p:sp>
      <p:sp>
        <p:nvSpPr>
          <p:cNvPr id="5" name="Content Placeholder 4"/>
          <p:cNvSpPr>
            <a:spLocks noGrp="1"/>
          </p:cNvSpPr>
          <p:nvPr>
            <p:ph sz="quarter" idx="10"/>
          </p:nvPr>
        </p:nvSpPr>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Многоуровневое хранение на уровне тома и элемента тома.</a:t>
            </a:r>
          </a:p>
          <a:p>
            <a:pPr>
              <a:defRPr/>
            </a:pPr>
            <a:r>
              <a:rPr lang="ru-RU" sz="2000" b="0" i="0" dirty="0">
                <a:solidFill>
                  <a:srgbClr val="000000"/>
                </a:solidFill>
                <a:latin typeface="Arial" pitchFamily="34" charset="0"/>
                <a:cs typeface="Arial" pitchFamily="34" charset="0"/>
              </a:rPr>
              <a:t>Многоуровневая кэш-память.</a:t>
            </a:r>
          </a:p>
          <a:p>
            <a:pPr>
              <a:defRPr/>
            </a:pPr>
            <a:r>
              <a:rPr lang="ru-RU" sz="2000" b="0" i="0" dirty="0">
                <a:solidFill>
                  <a:srgbClr val="000000"/>
                </a:solidFill>
                <a:latin typeface="Arial" pitchFamily="34" charset="0"/>
                <a:cs typeface="Arial" pitchFamily="34" charset="0"/>
              </a:rPr>
              <a:t>Серверное кэширование на основе флэш-памяти. </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227328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Обзор многоуровневого хранения данных</a:t>
            </a:r>
          </a:p>
        </p:txBody>
      </p:sp>
      <p:sp>
        <p:nvSpPr>
          <p:cNvPr id="3" name="Content Placeholder 2"/>
          <p:cNvSpPr>
            <a:spLocks noGrp="1"/>
          </p:cNvSpPr>
          <p:nvPr>
            <p:ph sz="quarter" idx="10"/>
          </p:nvPr>
        </p:nvSpPr>
        <p:spPr>
          <a:xfrm>
            <a:off x="379414" y="2190750"/>
            <a:ext cx="8458200" cy="2228850"/>
          </a:xfrm>
        </p:spPr>
        <p:txBody>
          <a:bodyPr/>
          <a:lstStyle/>
          <a:p>
            <a:r>
              <a:rPr lang="ru-RU" sz="1800" b="0" i="0" dirty="0">
                <a:solidFill>
                  <a:srgbClr val="000000"/>
                </a:solidFill>
                <a:latin typeface="Arial" pitchFamily="34" charset="0"/>
                <a:cs typeface="Arial" pitchFamily="34" charset="0"/>
              </a:rPr>
              <a:t>Каждый уровень имеет разные уровни защиты данных, производительности и стоимости</a:t>
            </a:r>
          </a:p>
          <a:p>
            <a:r>
              <a:rPr lang="ru-RU" sz="1800" b="0" i="0" dirty="0">
                <a:solidFill>
                  <a:srgbClr val="000000"/>
                </a:solidFill>
                <a:latin typeface="Arial" pitchFamily="34" charset="0"/>
                <a:cs typeface="Arial" pitchFamily="34" charset="0"/>
              </a:rPr>
              <a:t>Для эффективного многоуровневого хранения данных необходимо определить политики многоуровневого хранения </a:t>
            </a:r>
          </a:p>
          <a:p>
            <a:r>
              <a:rPr lang="ru-RU" sz="1800" b="0" i="0" dirty="0">
                <a:solidFill>
                  <a:srgbClr val="000000"/>
                </a:solidFill>
                <a:latin typeface="Arial" pitchFamily="34" charset="0"/>
                <a:cs typeface="Arial" pitchFamily="34" charset="0"/>
              </a:rPr>
              <a:t>Многоуровневое хранение в блочных системах хранения</a:t>
            </a:r>
          </a:p>
          <a:p>
            <a:pPr lvl="1"/>
            <a:r>
              <a:rPr lang="ru-RU" sz="1600" b="0" i="0" dirty="0">
                <a:solidFill>
                  <a:srgbClr val="000000"/>
                </a:solidFill>
                <a:latin typeface="Arial" pitchFamily="34" charset="0"/>
                <a:cs typeface="Arial" pitchFamily="34" charset="0"/>
              </a:rPr>
              <a:t>Многоуровневое хранение на уровне тома и элемента тома</a:t>
            </a:r>
          </a:p>
          <a:p>
            <a:pPr lvl="1"/>
            <a:r>
              <a:rPr lang="ru-RU" sz="1600" b="0" i="0" dirty="0">
                <a:solidFill>
                  <a:srgbClr val="000000"/>
                </a:solidFill>
                <a:latin typeface="Arial" pitchFamily="34" charset="0"/>
                <a:cs typeface="Arial" pitchFamily="34" charset="0"/>
              </a:rPr>
              <a:t>Многоуровневая кэш-память</a:t>
            </a:r>
          </a:p>
          <a:p>
            <a:pPr lvl="1"/>
            <a:r>
              <a:rPr lang="ru-RU" sz="1600" b="0" i="0" dirty="0">
                <a:solidFill>
                  <a:srgbClr val="000000"/>
                </a:solidFill>
                <a:latin typeface="Arial" pitchFamily="34" charset="0"/>
                <a:cs typeface="Arial" pitchFamily="34" charset="0"/>
              </a:rPr>
              <a:t>Серверное кэширование на основе флэш-памяти</a:t>
            </a:r>
          </a:p>
        </p:txBody>
      </p:sp>
      <p:grpSp>
        <p:nvGrpSpPr>
          <p:cNvPr id="5" name="Group 4"/>
          <p:cNvGrpSpPr/>
          <p:nvPr/>
        </p:nvGrpSpPr>
        <p:grpSpPr>
          <a:xfrm>
            <a:off x="287979" y="809620"/>
            <a:ext cx="8545183" cy="1316360"/>
            <a:chOff x="299409" y="798190"/>
            <a:chExt cx="8545183" cy="1316360"/>
          </a:xfrm>
        </p:grpSpPr>
        <p:sp>
          <p:nvSpPr>
            <p:cNvPr id="6" name="Rectangle 5"/>
            <p:cNvSpPr/>
            <p:nvPr/>
          </p:nvSpPr>
          <p:spPr>
            <a:xfrm>
              <a:off x="299409"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7" name="Rectangle 6"/>
            <p:cNvSpPr/>
            <p:nvPr/>
          </p:nvSpPr>
          <p:spPr>
            <a:xfrm>
              <a:off x="614992" y="996920"/>
              <a:ext cx="8229600" cy="111763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600" b="0" i="0" dirty="0">
                  <a:solidFill>
                    <a:srgbClr val="000000"/>
                  </a:solidFill>
                  <a:latin typeface="Arial" pitchFamily="34" charset="0"/>
                  <a:cs typeface="Arial" pitchFamily="34" charset="0"/>
                </a:rPr>
                <a:t>Технология формирования иерархии типов СХД и определения данных, подходящих для перемещения в систему хранения соответствующего типа, чтобы обеспечить выполнение требований к обслуживанию с минимальными затратами. </a:t>
              </a:r>
            </a:p>
          </p:txBody>
        </p:sp>
        <p:sp>
          <p:nvSpPr>
            <p:cNvPr id="8" name="Rectangle 7"/>
            <p:cNvSpPr/>
            <p:nvPr/>
          </p:nvSpPr>
          <p:spPr>
            <a:xfrm>
              <a:off x="349179"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600" b="1" i="0" dirty="0">
                  <a:solidFill>
                    <a:srgbClr val="FFFFFF"/>
                  </a:solidFill>
                  <a:latin typeface="Arial" pitchFamily="34" charset="0"/>
                  <a:cs typeface="Arial" pitchFamily="34" charset="0"/>
                </a:rPr>
                <a:t>Многоуровневое хранение данных</a:t>
              </a:r>
            </a:p>
          </p:txBody>
        </p:sp>
      </p:grpSp>
      <p:sp>
        <p:nvSpPr>
          <p:cNvPr id="9" name="TextBox 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081469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28600"/>
            <a:ext cx="8458200" cy="457200"/>
          </a:xfrm>
        </p:spPr>
        <p:txBody>
          <a:bodyPr/>
          <a:lstStyle/>
          <a:p>
            <a:r>
              <a:rPr lang="ru-RU" sz="2600" b="0" i="0" dirty="0">
                <a:solidFill>
                  <a:srgbClr val="2C95DD"/>
                </a:solidFill>
                <a:latin typeface="Arial" pitchFamily="34" charset="0"/>
                <a:cs typeface="Arial" pitchFamily="34" charset="0"/>
              </a:rPr>
              <a:t>Многоуровневое хранение на уровне тома и элемента тома</a:t>
            </a:r>
          </a:p>
        </p:txBody>
      </p:sp>
      <p:sp>
        <p:nvSpPr>
          <p:cNvPr id="3" name="Content Placeholder 2"/>
          <p:cNvSpPr>
            <a:spLocks noGrp="1"/>
          </p:cNvSpPr>
          <p:nvPr>
            <p:ph sz="quarter" idx="10"/>
          </p:nvPr>
        </p:nvSpPr>
        <p:spPr>
          <a:xfrm>
            <a:off x="228600" y="990600"/>
            <a:ext cx="4802186" cy="3429000"/>
          </a:xfrm>
        </p:spPr>
        <p:txBody>
          <a:bodyPr/>
          <a:lstStyle/>
          <a:p>
            <a:r>
              <a:rPr lang="ru-RU" sz="1800" b="0" i="0" dirty="0">
                <a:solidFill>
                  <a:srgbClr val="000000"/>
                </a:solidFill>
                <a:latin typeface="Arial" pitchFamily="34" charset="0"/>
                <a:cs typeface="Arial" pitchFamily="34" charset="0"/>
              </a:rPr>
              <a:t>Многоуровневое хранение на уровне тома</a:t>
            </a:r>
            <a:endParaRPr lang="ru-RU" sz="2000" b="0" i="0" dirty="0">
              <a:solidFill>
                <a:srgbClr val="000000"/>
              </a:solidFill>
              <a:latin typeface="Arial" pitchFamily="34" charset="0"/>
              <a:cs typeface="Arial" pitchFamily="34" charset="0"/>
            </a:endParaRPr>
          </a:p>
          <a:p>
            <a:pPr lvl="1"/>
            <a:r>
              <a:rPr lang="ru-RU" sz="1600" b="0" i="0" dirty="0">
                <a:solidFill>
                  <a:srgbClr val="000000"/>
                </a:solidFill>
                <a:latin typeface="Arial" pitchFamily="34" charset="0"/>
                <a:cs typeface="Arial" pitchFamily="34" charset="0"/>
              </a:rPr>
              <a:t>Осуществляется перемещение всего тома с одного уровня на другой</a:t>
            </a:r>
          </a:p>
          <a:p>
            <a:pPr lvl="1"/>
            <a:r>
              <a:rPr lang="ru-RU" sz="1600" b="0" i="0" dirty="0">
                <a:solidFill>
                  <a:srgbClr val="000000"/>
                </a:solidFill>
                <a:latin typeface="Arial" pitchFamily="34" charset="0"/>
                <a:cs typeface="Arial" pitchFamily="34" charset="0"/>
              </a:rPr>
              <a:t>Не обеспечивает существенную экономию затрат и повышение производительности </a:t>
            </a:r>
          </a:p>
          <a:p>
            <a:r>
              <a:rPr lang="ru-RU" sz="1800" b="0" i="0" dirty="0">
                <a:solidFill>
                  <a:srgbClr val="000000"/>
                </a:solidFill>
                <a:latin typeface="Arial" pitchFamily="34" charset="0"/>
                <a:cs typeface="Arial" pitchFamily="34" charset="0"/>
              </a:rPr>
              <a:t>Многоуровневое хранение на уровне элемента тома</a:t>
            </a:r>
          </a:p>
          <a:p>
            <a:pPr lvl="1"/>
            <a:r>
              <a:rPr lang="ru-RU" sz="1600" b="0" i="0" dirty="0">
                <a:solidFill>
                  <a:srgbClr val="000000"/>
                </a:solidFill>
                <a:latin typeface="Arial" pitchFamily="34" charset="0"/>
                <a:cs typeface="Arial" pitchFamily="34" charset="0"/>
              </a:rPr>
              <a:t>Том разбивается на небольшие сегменты для выполнения многоуровневого хранения</a:t>
            </a:r>
          </a:p>
          <a:p>
            <a:pPr lvl="1"/>
            <a:r>
              <a:rPr lang="ru-RU" sz="1600" b="0" i="0" dirty="0">
                <a:solidFill>
                  <a:srgbClr val="000000"/>
                </a:solidFill>
                <a:latin typeface="Arial" pitchFamily="34" charset="0"/>
                <a:cs typeface="Arial" pitchFamily="34" charset="0"/>
              </a:rPr>
              <a:t>Обеспечивает существенную экономию затрат и повышение производительности </a:t>
            </a:r>
          </a:p>
          <a:p>
            <a:endParaRPr lang="en-US" dirty="0">
              <a:latin typeface="Arial" pitchFamily="34" charset="0"/>
              <a:cs typeface="Arial" pitchFamily="34" charset="0"/>
            </a:endParaRPr>
          </a:p>
        </p:txBody>
      </p:sp>
      <p:grpSp>
        <p:nvGrpSpPr>
          <p:cNvPr id="7" name="Group 6"/>
          <p:cNvGrpSpPr/>
          <p:nvPr/>
        </p:nvGrpSpPr>
        <p:grpSpPr>
          <a:xfrm>
            <a:off x="5209593" y="667051"/>
            <a:ext cx="3686758" cy="4190699"/>
            <a:chOff x="5209593" y="535079"/>
            <a:chExt cx="3686758" cy="4190699"/>
          </a:xfrm>
        </p:grpSpPr>
        <p:pic>
          <p:nvPicPr>
            <p:cNvPr id="89" name="Picture 9" descr="C:\Users\patils1\Desktop\2013 Projects\CIS v2\CIS Slide Deck_Based on Book\Colored Graphics\Storage System.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6695" y="2464146"/>
              <a:ext cx="708594" cy="1508760"/>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9" descr="C:\Users\patils1\Desktop\2013 Projects\CIS v2\CIS Slide Deck_Based on Book\Colored Graphics\Storage System.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6694" y="535079"/>
              <a:ext cx="708594" cy="1508760"/>
            </a:xfrm>
            <a:prstGeom prst="rect">
              <a:avLst/>
            </a:prstGeom>
            <a:noFill/>
            <a:extLst>
              <a:ext uri="{909E8E84-426E-40DD-AFC4-6F175D3DCCD1}">
                <a14:hiddenFill xmlns:a14="http://schemas.microsoft.com/office/drawing/2010/main">
                  <a:solidFill>
                    <a:srgbClr val="FFFFFF"/>
                  </a:solidFill>
                </a14:hiddenFill>
              </a:ext>
            </a:extLst>
          </p:spPr>
        </p:pic>
        <p:sp>
          <p:nvSpPr>
            <p:cNvPr id="8" name="Rounded Rectangle 7"/>
            <p:cNvSpPr/>
            <p:nvPr/>
          </p:nvSpPr>
          <p:spPr>
            <a:xfrm>
              <a:off x="6498664" y="850317"/>
              <a:ext cx="1169325" cy="439142"/>
            </a:xfrm>
            <a:prstGeom prst="roundRect">
              <a:avLst/>
            </a:prstGeom>
            <a:solidFill>
              <a:schemeClr val="lt1">
                <a:alpha val="54000"/>
              </a:schemeClr>
            </a:solidFill>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1200">
                <a:latin typeface="Arial" pitchFamily="34" charset="0"/>
                <a:cs typeface="Arial" pitchFamily="34" charset="0"/>
              </a:endParaRPr>
            </a:p>
          </p:txBody>
        </p:sp>
        <p:sp>
          <p:nvSpPr>
            <p:cNvPr id="9" name="TextBox 8"/>
            <p:cNvSpPr txBox="1"/>
            <p:nvPr/>
          </p:nvSpPr>
          <p:spPr>
            <a:xfrm>
              <a:off x="6799583" y="742763"/>
              <a:ext cx="582817" cy="187285"/>
            </a:xfrm>
            <a:prstGeom prst="roundRect">
              <a:avLst/>
            </a:prstGeom>
            <a:solidFill>
              <a:schemeClr val="bg1"/>
            </a:solidFill>
            <a:ln>
              <a:solidFill>
                <a:schemeClr val="dk1"/>
              </a:solidFill>
            </a:ln>
          </p:spPr>
          <p:txBody>
            <a:bodyPr wrap="square" rtlCol="0" anchor="ctr">
              <a:spAutoFit/>
            </a:bodyPr>
            <a:lstStyle/>
            <a:p>
              <a:pPr algn="ctr"/>
              <a:r>
                <a:rPr lang="ru-RU" sz="500" b="1" i="0" dirty="0">
                  <a:solidFill>
                    <a:srgbClr val="000000"/>
                  </a:solidFill>
                  <a:latin typeface="Arial" pitchFamily="34" charset="0"/>
                  <a:cs typeface="Arial" pitchFamily="34" charset="0"/>
                </a:rPr>
                <a:t>Уровень 0</a:t>
              </a:r>
            </a:p>
          </p:txBody>
        </p:sp>
        <p:sp>
          <p:nvSpPr>
            <p:cNvPr id="10" name="Rounded Rectangle 9"/>
            <p:cNvSpPr/>
            <p:nvPr/>
          </p:nvSpPr>
          <p:spPr>
            <a:xfrm>
              <a:off x="6498664" y="1500824"/>
              <a:ext cx="1169325" cy="422689"/>
            </a:xfrm>
            <a:prstGeom prst="roundRect">
              <a:avLst/>
            </a:prstGeom>
            <a:solidFill>
              <a:schemeClr val="lt1">
                <a:alpha val="54000"/>
              </a:schemeClr>
            </a:solidFill>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1200">
                <a:latin typeface="Arial" pitchFamily="34" charset="0"/>
                <a:cs typeface="Arial" pitchFamily="34" charset="0"/>
              </a:endParaRPr>
            </a:p>
          </p:txBody>
        </p:sp>
        <p:sp>
          <p:nvSpPr>
            <p:cNvPr id="11" name="TextBox 10"/>
            <p:cNvSpPr txBox="1"/>
            <p:nvPr/>
          </p:nvSpPr>
          <p:spPr>
            <a:xfrm>
              <a:off x="6795699" y="1378980"/>
              <a:ext cx="590938" cy="187285"/>
            </a:xfrm>
            <a:prstGeom prst="roundRect">
              <a:avLst/>
            </a:prstGeom>
            <a:solidFill>
              <a:schemeClr val="bg1"/>
            </a:solidFill>
            <a:ln>
              <a:solidFill>
                <a:schemeClr val="dk1"/>
              </a:solidFill>
            </a:ln>
          </p:spPr>
          <p:txBody>
            <a:bodyPr wrap="square" rtlCol="0" anchor="ctr">
              <a:spAutoFit/>
            </a:bodyPr>
            <a:lstStyle/>
            <a:p>
              <a:pPr algn="ctr"/>
              <a:r>
                <a:rPr lang="ru-RU" sz="500" b="1" i="0" dirty="0">
                  <a:solidFill>
                    <a:srgbClr val="000000"/>
                  </a:solidFill>
                  <a:latin typeface="Arial" pitchFamily="34" charset="0"/>
                  <a:cs typeface="Arial" pitchFamily="34" charset="0"/>
                </a:rPr>
                <a:t>Уровень 1</a:t>
              </a:r>
            </a:p>
          </p:txBody>
        </p:sp>
        <p:sp>
          <p:nvSpPr>
            <p:cNvPr id="12" name="TextBox 11"/>
            <p:cNvSpPr txBox="1"/>
            <p:nvPr/>
          </p:nvSpPr>
          <p:spPr>
            <a:xfrm>
              <a:off x="5858069" y="2051917"/>
              <a:ext cx="2478564" cy="230832"/>
            </a:xfrm>
            <a:prstGeom prst="rect">
              <a:avLst/>
            </a:prstGeom>
            <a:noFill/>
          </p:spPr>
          <p:txBody>
            <a:bodyPr wrap="none" rtlCol="0">
              <a:spAutoFit/>
            </a:bodyPr>
            <a:lstStyle/>
            <a:p>
              <a:pPr algn="ctr"/>
              <a:r>
                <a:rPr lang="ru-RU" sz="900" b="0" i="0" dirty="0">
                  <a:solidFill>
                    <a:srgbClr val="000000"/>
                  </a:solidFill>
                  <a:latin typeface="Arial" pitchFamily="34" charset="0"/>
                  <a:cs typeface="Arial" pitchFamily="34" charset="0"/>
                </a:rPr>
                <a:t>Многоуровневое хранение на уровне тома</a:t>
              </a:r>
            </a:p>
          </p:txBody>
        </p:sp>
        <p:sp>
          <p:nvSpPr>
            <p:cNvPr id="13" name="Rectangle 717"/>
            <p:cNvSpPr>
              <a:spLocks noChangeArrowheads="1"/>
            </p:cNvSpPr>
            <p:nvPr/>
          </p:nvSpPr>
          <p:spPr bwMode="auto">
            <a:xfrm>
              <a:off x="5209593" y="831438"/>
              <a:ext cx="857608"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algn="ctr"/>
              <a:r>
                <a:rPr lang="ru-RU" sz="700" b="0" i="0" u="none" dirty="0">
                  <a:solidFill>
                    <a:srgbClr val="000000"/>
                  </a:solidFill>
                  <a:latin typeface="Arial" pitchFamily="34" charset="0"/>
                  <a:cs typeface="Arial" pitchFamily="34" charset="0"/>
                </a:rPr>
                <a:t>Весь</a:t>
              </a:r>
              <a:r>
                <a:rPr lang="ru-RU" sz="700" b="0" i="0" dirty="0">
                  <a:solidFill>
                    <a:srgbClr val="000000"/>
                  </a:solidFill>
                  <a:latin typeface="Arial" pitchFamily="34" charset="0"/>
                  <a:cs typeface="Arial" pitchFamily="34" charset="0"/>
                </a:rPr>
                <a:t> том перемещается с активными данными с уровня 1 на уровень 0, чтобы обеспечить повышение производительности</a:t>
              </a:r>
            </a:p>
          </p:txBody>
        </p:sp>
        <p:sp>
          <p:nvSpPr>
            <p:cNvPr id="14" name="Rectangle 726"/>
            <p:cNvSpPr>
              <a:spLocks noChangeArrowheads="1"/>
            </p:cNvSpPr>
            <p:nvPr/>
          </p:nvSpPr>
          <p:spPr bwMode="auto">
            <a:xfrm>
              <a:off x="8077200" y="819150"/>
              <a:ext cx="81915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algn="ctr"/>
              <a:r>
                <a:rPr lang="ru-RU" sz="700" b="0" i="0" dirty="0">
                  <a:solidFill>
                    <a:srgbClr val="000000"/>
                  </a:solidFill>
                  <a:latin typeface="Arial" pitchFamily="34" charset="0"/>
                  <a:cs typeface="Arial" pitchFamily="34" charset="0"/>
                </a:rPr>
                <a:t>Весь том с неактивными данными перемещается с уровня 0 на уровень 1 </a:t>
              </a:r>
            </a:p>
          </p:txBody>
        </p:sp>
        <p:sp>
          <p:nvSpPr>
            <p:cNvPr id="15" name="TextBox 14"/>
            <p:cNvSpPr txBox="1"/>
            <p:nvPr/>
          </p:nvSpPr>
          <p:spPr>
            <a:xfrm>
              <a:off x="5592145" y="3970429"/>
              <a:ext cx="3026791" cy="230832"/>
            </a:xfrm>
            <a:prstGeom prst="rect">
              <a:avLst/>
            </a:prstGeom>
            <a:noFill/>
          </p:spPr>
          <p:txBody>
            <a:bodyPr wrap="none" rtlCol="0">
              <a:spAutoFit/>
            </a:bodyPr>
            <a:lstStyle/>
            <a:p>
              <a:pPr algn="ctr"/>
              <a:r>
                <a:rPr lang="ru-RU" sz="900" b="0" i="0" dirty="0">
                  <a:solidFill>
                    <a:srgbClr val="000000"/>
                  </a:solidFill>
                  <a:latin typeface="Arial" pitchFamily="34" charset="0"/>
                  <a:cs typeface="Arial" pitchFamily="34" charset="0"/>
                </a:rPr>
                <a:t>Многоуровневое хранение на уровне элемента тома</a:t>
              </a:r>
            </a:p>
          </p:txBody>
        </p:sp>
        <p:sp>
          <p:nvSpPr>
            <p:cNvPr id="16" name="Rectangle 717"/>
            <p:cNvSpPr>
              <a:spLocks noChangeArrowheads="1"/>
            </p:cNvSpPr>
            <p:nvPr/>
          </p:nvSpPr>
          <p:spPr bwMode="auto">
            <a:xfrm>
              <a:off x="5257800" y="2918086"/>
              <a:ext cx="990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algn="ctr"/>
              <a:r>
                <a:rPr lang="ru-RU" sz="700" b="0" i="0" u="none" dirty="0">
                  <a:solidFill>
                    <a:srgbClr val="000000"/>
                  </a:solidFill>
                  <a:latin typeface="Arial" pitchFamily="34" charset="0"/>
                  <a:cs typeface="Arial" pitchFamily="34" charset="0"/>
                </a:rPr>
                <a:t>Активные данные перемещаются с уровня 1 на уровень 0, чтобы обеспечить повышение производительности</a:t>
              </a:r>
            </a:p>
          </p:txBody>
        </p:sp>
        <p:sp>
          <p:nvSpPr>
            <p:cNvPr id="17" name="Rectangle 726"/>
            <p:cNvSpPr>
              <a:spLocks noChangeArrowheads="1"/>
            </p:cNvSpPr>
            <p:nvPr/>
          </p:nvSpPr>
          <p:spPr bwMode="auto">
            <a:xfrm>
              <a:off x="8090462" y="2952750"/>
              <a:ext cx="780637"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ru-RU" sz="700" b="0" i="0" u="none" dirty="0">
                  <a:solidFill>
                    <a:srgbClr val="000000"/>
                  </a:solidFill>
                  <a:latin typeface="Arial" pitchFamily="34" charset="0"/>
                  <a:cs typeface="Arial" pitchFamily="34" charset="0"/>
                </a:rPr>
                <a:t>Неактивные данные перемещаются с уровня 0 на уровень 1</a:t>
              </a:r>
            </a:p>
          </p:txBody>
        </p:sp>
        <p:grpSp>
          <p:nvGrpSpPr>
            <p:cNvPr id="18" name="Group 17"/>
            <p:cNvGrpSpPr/>
            <p:nvPr/>
          </p:nvGrpSpPr>
          <p:grpSpPr>
            <a:xfrm>
              <a:off x="6515876" y="4345077"/>
              <a:ext cx="1597880" cy="380701"/>
              <a:chOff x="9921333" y="5497006"/>
              <a:chExt cx="2638057" cy="643017"/>
            </a:xfrm>
          </p:grpSpPr>
          <p:sp>
            <p:nvSpPr>
              <p:cNvPr id="43" name="Rounded Rectangle 42"/>
              <p:cNvSpPr/>
              <p:nvPr/>
            </p:nvSpPr>
            <p:spPr>
              <a:xfrm>
                <a:off x="9921333" y="5497006"/>
                <a:ext cx="462467" cy="264319"/>
              </a:xfrm>
              <a:prstGeom prst="roundRect">
                <a:avLst/>
              </a:prstGeom>
              <a:pattFill prst="ltUpDiag">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Arial" pitchFamily="34" charset="0"/>
                  <a:cs typeface="Arial" pitchFamily="34" charset="0"/>
                </a:endParaRPr>
              </a:p>
            </p:txBody>
          </p:sp>
          <p:sp>
            <p:nvSpPr>
              <p:cNvPr id="44" name="Rounded Rectangle 43"/>
              <p:cNvSpPr/>
              <p:nvPr/>
            </p:nvSpPr>
            <p:spPr>
              <a:xfrm>
                <a:off x="9921333" y="5847053"/>
                <a:ext cx="462467" cy="264319"/>
              </a:xfrm>
              <a:prstGeom prst="roundRect">
                <a:avLst/>
              </a:prstGeom>
              <a:pattFill prst="ltHorz">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Arial" pitchFamily="34" charset="0"/>
                  <a:cs typeface="Arial" pitchFamily="34" charset="0"/>
                </a:endParaRPr>
              </a:p>
            </p:txBody>
          </p:sp>
          <p:sp>
            <p:nvSpPr>
              <p:cNvPr id="45" name="Rectangle 1489"/>
              <p:cNvSpPr>
                <a:spLocks noChangeArrowheads="1"/>
              </p:cNvSpPr>
              <p:nvPr/>
            </p:nvSpPr>
            <p:spPr bwMode="auto">
              <a:xfrm>
                <a:off x="10444824" y="5530231"/>
                <a:ext cx="2114566" cy="259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ru-RU" sz="1000" b="0" i="0" u="none" dirty="0">
                    <a:solidFill>
                      <a:srgbClr val="000000"/>
                    </a:solidFill>
                    <a:latin typeface="Arial" pitchFamily="34" charset="0"/>
                    <a:cs typeface="Arial" pitchFamily="34" charset="0"/>
                  </a:rPr>
                  <a:t>Неактивные данные </a:t>
                </a:r>
              </a:p>
            </p:txBody>
          </p:sp>
          <p:sp>
            <p:nvSpPr>
              <p:cNvPr id="46" name="Rectangle 1489"/>
              <p:cNvSpPr>
                <a:spLocks noChangeArrowheads="1"/>
              </p:cNvSpPr>
              <p:nvPr/>
            </p:nvSpPr>
            <p:spPr bwMode="auto">
              <a:xfrm>
                <a:off x="10444827" y="5880101"/>
                <a:ext cx="1868439" cy="259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ru-RU" sz="1000" b="0" i="0" u="none" dirty="0">
                    <a:solidFill>
                      <a:srgbClr val="000000"/>
                    </a:solidFill>
                    <a:latin typeface="Arial" pitchFamily="34" charset="0"/>
                    <a:cs typeface="Arial" pitchFamily="34" charset="0"/>
                  </a:rPr>
                  <a:t>Активные данные </a:t>
                </a:r>
              </a:p>
            </p:txBody>
          </p:sp>
        </p:grpSp>
        <p:pic>
          <p:nvPicPr>
            <p:cNvPr id="20" name="Picture 9" descr="C:\Documents and Settings\sridhs\Desktop\ISM Book L3\colored Icons\LUN.png"/>
            <p:cNvPicPr>
              <a:picLocks noChangeAspect="1" noChangeArrowheads="1"/>
            </p:cNvPicPr>
            <p:nvPr/>
          </p:nvPicPr>
          <p:blipFill>
            <a:blip r:embed="rId5" cstate="print"/>
            <a:srcRect/>
            <a:stretch>
              <a:fillRect/>
            </a:stretch>
          </p:blipFill>
          <p:spPr bwMode="auto">
            <a:xfrm>
              <a:off x="6728702" y="2812895"/>
              <a:ext cx="874605" cy="874605"/>
            </a:xfrm>
            <a:prstGeom prst="rect">
              <a:avLst/>
            </a:prstGeom>
            <a:noFill/>
          </p:spPr>
        </p:pic>
        <p:grpSp>
          <p:nvGrpSpPr>
            <p:cNvPr id="21" name="Group 20"/>
            <p:cNvGrpSpPr/>
            <p:nvPr/>
          </p:nvGrpSpPr>
          <p:grpSpPr>
            <a:xfrm>
              <a:off x="7227315" y="925626"/>
              <a:ext cx="511737" cy="334610"/>
              <a:chOff x="9343719" y="1056336"/>
              <a:chExt cx="699220" cy="457200"/>
            </a:xfrm>
          </p:grpSpPr>
          <p:pic>
            <p:nvPicPr>
              <p:cNvPr id="41" name="Picture 9" descr="C:\Documents and Settings\sridhs\Desktop\ISM Book L3\colored Icons\LUN.png"/>
              <p:cNvPicPr>
                <a:picLocks noChangeAspect="1" noChangeArrowheads="1"/>
              </p:cNvPicPr>
              <p:nvPr/>
            </p:nvPicPr>
            <p:blipFill>
              <a:blip r:embed="rId5" cstate="print"/>
              <a:srcRect/>
              <a:stretch>
                <a:fillRect/>
              </a:stretch>
            </p:blipFill>
            <p:spPr bwMode="auto">
              <a:xfrm>
                <a:off x="9448800" y="1056336"/>
                <a:ext cx="457200" cy="457200"/>
              </a:xfrm>
              <a:prstGeom prst="rect">
                <a:avLst/>
              </a:prstGeom>
              <a:noFill/>
            </p:spPr>
          </p:pic>
          <p:sp>
            <p:nvSpPr>
              <p:cNvPr id="42" name="TextBox 41"/>
              <p:cNvSpPr txBox="1"/>
              <p:nvPr/>
            </p:nvSpPr>
            <p:spPr>
              <a:xfrm>
                <a:off x="9343719" y="1180979"/>
                <a:ext cx="699220" cy="294376"/>
              </a:xfrm>
              <a:prstGeom prst="rect">
                <a:avLst/>
              </a:prstGeom>
              <a:noFill/>
            </p:spPr>
            <p:txBody>
              <a:bodyPr wrap="square" rtlCol="0">
                <a:spAutoFit/>
              </a:bodyPr>
              <a:lstStyle/>
              <a:p>
                <a:pPr algn="ctr"/>
                <a:r>
                  <a:rPr lang="ru-RU" sz="800" b="0" i="0" dirty="0">
                    <a:solidFill>
                      <a:srgbClr val="000000"/>
                    </a:solidFill>
                    <a:latin typeface="Arial" pitchFamily="34" charset="0"/>
                    <a:cs typeface="Arial" pitchFamily="34" charset="0"/>
                  </a:rPr>
                  <a:t>ТОМ</a:t>
                </a:r>
              </a:p>
            </p:txBody>
          </p:sp>
        </p:grpSp>
        <p:grpSp>
          <p:nvGrpSpPr>
            <p:cNvPr id="22" name="Group 21"/>
            <p:cNvGrpSpPr/>
            <p:nvPr/>
          </p:nvGrpSpPr>
          <p:grpSpPr>
            <a:xfrm>
              <a:off x="6436108" y="925626"/>
              <a:ext cx="511737" cy="334610"/>
              <a:chOff x="9318219" y="1056336"/>
              <a:chExt cx="699220" cy="457200"/>
            </a:xfrm>
          </p:grpSpPr>
          <p:pic>
            <p:nvPicPr>
              <p:cNvPr id="39" name="Picture 9" descr="C:\Documents and Settings\sridhs\Desktop\ISM Book L3\colored Icons\LUN.png"/>
              <p:cNvPicPr>
                <a:picLocks noChangeAspect="1" noChangeArrowheads="1"/>
              </p:cNvPicPr>
              <p:nvPr/>
            </p:nvPicPr>
            <p:blipFill>
              <a:blip r:embed="rId5" cstate="print"/>
              <a:srcRect/>
              <a:stretch>
                <a:fillRect/>
              </a:stretch>
            </p:blipFill>
            <p:spPr bwMode="auto">
              <a:xfrm>
                <a:off x="9448800" y="1056336"/>
                <a:ext cx="457200" cy="457200"/>
              </a:xfrm>
              <a:prstGeom prst="rect">
                <a:avLst/>
              </a:prstGeom>
              <a:noFill/>
            </p:spPr>
          </p:pic>
          <p:sp>
            <p:nvSpPr>
              <p:cNvPr id="40" name="TextBox 39"/>
              <p:cNvSpPr txBox="1"/>
              <p:nvPr/>
            </p:nvSpPr>
            <p:spPr>
              <a:xfrm>
                <a:off x="9318219" y="1180979"/>
                <a:ext cx="699220" cy="294376"/>
              </a:xfrm>
              <a:prstGeom prst="rect">
                <a:avLst/>
              </a:prstGeom>
              <a:noFill/>
            </p:spPr>
            <p:txBody>
              <a:bodyPr wrap="square" rtlCol="0">
                <a:spAutoFit/>
              </a:bodyPr>
              <a:lstStyle/>
              <a:p>
                <a:pPr algn="ctr"/>
                <a:r>
                  <a:rPr lang="ru-RU" sz="800" b="0" i="0" dirty="0">
                    <a:solidFill>
                      <a:srgbClr val="000000"/>
                    </a:solidFill>
                    <a:latin typeface="Arial" pitchFamily="34" charset="0"/>
                    <a:cs typeface="Arial" pitchFamily="34" charset="0"/>
                  </a:rPr>
                  <a:t>ТОМ</a:t>
                </a:r>
              </a:p>
            </p:txBody>
          </p:sp>
        </p:grpSp>
        <p:grpSp>
          <p:nvGrpSpPr>
            <p:cNvPr id="23" name="Group 22"/>
            <p:cNvGrpSpPr/>
            <p:nvPr/>
          </p:nvGrpSpPr>
          <p:grpSpPr>
            <a:xfrm>
              <a:off x="7228170" y="1568301"/>
              <a:ext cx="511737" cy="334610"/>
              <a:chOff x="9343719" y="1056336"/>
              <a:chExt cx="699220" cy="457200"/>
            </a:xfrm>
          </p:grpSpPr>
          <p:pic>
            <p:nvPicPr>
              <p:cNvPr id="37" name="Picture 9" descr="C:\Documents and Settings\sridhs\Desktop\ISM Book L3\colored Icons\LUN.png"/>
              <p:cNvPicPr>
                <a:picLocks noChangeAspect="1" noChangeArrowheads="1"/>
              </p:cNvPicPr>
              <p:nvPr/>
            </p:nvPicPr>
            <p:blipFill>
              <a:blip r:embed="rId5" cstate="print"/>
              <a:srcRect/>
              <a:stretch>
                <a:fillRect/>
              </a:stretch>
            </p:blipFill>
            <p:spPr bwMode="auto">
              <a:xfrm>
                <a:off x="9448800" y="1056336"/>
                <a:ext cx="457200" cy="457200"/>
              </a:xfrm>
              <a:prstGeom prst="rect">
                <a:avLst/>
              </a:prstGeom>
              <a:noFill/>
            </p:spPr>
          </p:pic>
          <p:sp>
            <p:nvSpPr>
              <p:cNvPr id="38" name="TextBox 37"/>
              <p:cNvSpPr txBox="1"/>
              <p:nvPr/>
            </p:nvSpPr>
            <p:spPr>
              <a:xfrm>
                <a:off x="9343719" y="1193728"/>
                <a:ext cx="699220" cy="294376"/>
              </a:xfrm>
              <a:prstGeom prst="rect">
                <a:avLst/>
              </a:prstGeom>
              <a:noFill/>
            </p:spPr>
            <p:txBody>
              <a:bodyPr wrap="square" rtlCol="0">
                <a:spAutoFit/>
              </a:bodyPr>
              <a:lstStyle/>
              <a:p>
                <a:pPr algn="ctr"/>
                <a:r>
                  <a:rPr lang="ru-RU" sz="800" b="0" i="0" dirty="0">
                    <a:solidFill>
                      <a:srgbClr val="000000"/>
                    </a:solidFill>
                    <a:latin typeface="Arial" pitchFamily="34" charset="0"/>
                    <a:cs typeface="Arial" pitchFamily="34" charset="0"/>
                  </a:rPr>
                  <a:t>ТОМ</a:t>
                </a:r>
              </a:p>
            </p:txBody>
          </p:sp>
        </p:grpSp>
        <p:grpSp>
          <p:nvGrpSpPr>
            <p:cNvPr id="24" name="Group 23"/>
            <p:cNvGrpSpPr/>
            <p:nvPr/>
          </p:nvGrpSpPr>
          <p:grpSpPr>
            <a:xfrm>
              <a:off x="6436963" y="1568301"/>
              <a:ext cx="511736" cy="334610"/>
              <a:chOff x="9318220" y="1056336"/>
              <a:chExt cx="699219" cy="457199"/>
            </a:xfrm>
          </p:grpSpPr>
          <p:pic>
            <p:nvPicPr>
              <p:cNvPr id="35" name="Picture 9" descr="C:\Documents and Settings\sridhs\Desktop\ISM Book L3\colored Icons\LUN.png"/>
              <p:cNvPicPr>
                <a:picLocks noChangeAspect="1" noChangeArrowheads="1"/>
              </p:cNvPicPr>
              <p:nvPr/>
            </p:nvPicPr>
            <p:blipFill>
              <a:blip r:embed="rId5" cstate="print"/>
              <a:srcRect/>
              <a:stretch>
                <a:fillRect/>
              </a:stretch>
            </p:blipFill>
            <p:spPr bwMode="auto">
              <a:xfrm>
                <a:off x="9448799" y="1056336"/>
                <a:ext cx="457200" cy="457199"/>
              </a:xfrm>
              <a:prstGeom prst="rect">
                <a:avLst/>
              </a:prstGeom>
              <a:noFill/>
            </p:spPr>
          </p:pic>
          <p:sp>
            <p:nvSpPr>
              <p:cNvPr id="36" name="TextBox 35"/>
              <p:cNvSpPr txBox="1"/>
              <p:nvPr/>
            </p:nvSpPr>
            <p:spPr>
              <a:xfrm>
                <a:off x="9318220" y="1180978"/>
                <a:ext cx="699219" cy="294375"/>
              </a:xfrm>
              <a:prstGeom prst="rect">
                <a:avLst/>
              </a:prstGeom>
              <a:noFill/>
            </p:spPr>
            <p:txBody>
              <a:bodyPr wrap="square" rtlCol="0">
                <a:spAutoFit/>
              </a:bodyPr>
              <a:lstStyle/>
              <a:p>
                <a:pPr algn="ctr"/>
                <a:r>
                  <a:rPr lang="ru-RU" sz="800" b="0" i="0" dirty="0">
                    <a:solidFill>
                      <a:srgbClr val="000000"/>
                    </a:solidFill>
                    <a:latin typeface="Arial" pitchFamily="34" charset="0"/>
                    <a:cs typeface="Arial" pitchFamily="34" charset="0"/>
                  </a:rPr>
                  <a:t>ТОМ</a:t>
                </a:r>
              </a:p>
            </p:txBody>
          </p:sp>
        </p:grpSp>
        <p:sp>
          <p:nvSpPr>
            <p:cNvPr id="25" name="Rounded Rectangle 24"/>
            <p:cNvSpPr/>
            <p:nvPr/>
          </p:nvSpPr>
          <p:spPr>
            <a:xfrm>
              <a:off x="6559904" y="2716315"/>
              <a:ext cx="1238265" cy="512200"/>
            </a:xfrm>
            <a:prstGeom prst="roundRect">
              <a:avLst/>
            </a:prstGeom>
            <a:solidFill>
              <a:schemeClr val="lt1">
                <a:alpha val="54000"/>
              </a:schemeClr>
            </a:solidFill>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1200">
                <a:latin typeface="Arial" pitchFamily="34" charset="0"/>
                <a:cs typeface="Arial" pitchFamily="34" charset="0"/>
              </a:endParaRPr>
            </a:p>
          </p:txBody>
        </p:sp>
        <p:sp>
          <p:nvSpPr>
            <p:cNvPr id="26" name="Rounded Rectangle 25"/>
            <p:cNvSpPr/>
            <p:nvPr/>
          </p:nvSpPr>
          <p:spPr>
            <a:xfrm>
              <a:off x="7226872" y="2989467"/>
              <a:ext cx="300607" cy="170971"/>
            </a:xfrm>
            <a:prstGeom prst="roundRect">
              <a:avLst/>
            </a:prstGeom>
            <a:pattFill prst="ltUpDiag">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Arial" pitchFamily="34" charset="0"/>
                <a:cs typeface="Arial" pitchFamily="34" charset="0"/>
              </a:endParaRPr>
            </a:p>
          </p:txBody>
        </p:sp>
        <p:sp>
          <p:nvSpPr>
            <p:cNvPr id="27" name="Rounded Rectangle 26"/>
            <p:cNvSpPr/>
            <p:nvPr/>
          </p:nvSpPr>
          <p:spPr>
            <a:xfrm>
              <a:off x="6559904" y="3295063"/>
              <a:ext cx="1238265" cy="521817"/>
            </a:xfrm>
            <a:prstGeom prst="roundRect">
              <a:avLst/>
            </a:prstGeom>
            <a:solidFill>
              <a:schemeClr val="lt1">
                <a:alpha val="54000"/>
              </a:schemeClr>
            </a:solidFill>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1200">
                <a:latin typeface="Arial" pitchFamily="34" charset="0"/>
                <a:cs typeface="Arial" pitchFamily="34" charset="0"/>
              </a:endParaRPr>
            </a:p>
          </p:txBody>
        </p:sp>
        <p:sp>
          <p:nvSpPr>
            <p:cNvPr id="28" name="Rounded Rectangle 27"/>
            <p:cNvSpPr/>
            <p:nvPr/>
          </p:nvSpPr>
          <p:spPr>
            <a:xfrm>
              <a:off x="6778702" y="3334835"/>
              <a:ext cx="300607" cy="170971"/>
            </a:xfrm>
            <a:prstGeom prst="roundRect">
              <a:avLst/>
            </a:prstGeom>
            <a:pattFill prst="ltHorz">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Arial" pitchFamily="34" charset="0"/>
                <a:cs typeface="Arial" pitchFamily="34" charset="0"/>
              </a:endParaRPr>
            </a:p>
          </p:txBody>
        </p:sp>
        <p:sp>
          <p:nvSpPr>
            <p:cNvPr id="29" name="TextBox 28"/>
            <p:cNvSpPr txBox="1"/>
            <p:nvPr/>
          </p:nvSpPr>
          <p:spPr>
            <a:xfrm>
              <a:off x="6786563" y="3704201"/>
              <a:ext cx="609690" cy="204311"/>
            </a:xfrm>
            <a:prstGeom prst="roundRect">
              <a:avLst/>
            </a:prstGeom>
            <a:solidFill>
              <a:schemeClr val="bg1"/>
            </a:solidFill>
            <a:ln>
              <a:solidFill>
                <a:schemeClr val="dk1"/>
              </a:solidFill>
            </a:ln>
          </p:spPr>
          <p:txBody>
            <a:bodyPr wrap="square" rtlCol="0" anchor="ctr">
              <a:spAutoFit/>
            </a:bodyPr>
            <a:lstStyle/>
            <a:p>
              <a:pPr algn="ctr"/>
              <a:r>
                <a:rPr lang="ru-RU" sz="600" b="1" i="0" dirty="0">
                  <a:solidFill>
                    <a:srgbClr val="000000"/>
                  </a:solidFill>
                  <a:latin typeface="Arial" pitchFamily="34" charset="0"/>
                  <a:cs typeface="Arial" pitchFamily="34" charset="0"/>
                </a:rPr>
                <a:t>Уровень 1</a:t>
              </a:r>
            </a:p>
          </p:txBody>
        </p:sp>
        <p:sp>
          <p:nvSpPr>
            <p:cNvPr id="30" name="TextBox 29"/>
            <p:cNvSpPr txBox="1"/>
            <p:nvPr/>
          </p:nvSpPr>
          <p:spPr>
            <a:xfrm>
              <a:off x="6811277" y="2608153"/>
              <a:ext cx="561071" cy="187285"/>
            </a:xfrm>
            <a:prstGeom prst="roundRect">
              <a:avLst/>
            </a:prstGeom>
            <a:solidFill>
              <a:schemeClr val="bg1"/>
            </a:solidFill>
            <a:ln>
              <a:solidFill>
                <a:schemeClr val="dk1"/>
              </a:solidFill>
            </a:ln>
          </p:spPr>
          <p:txBody>
            <a:bodyPr wrap="square" rtlCol="0" anchor="ctr">
              <a:spAutoFit/>
            </a:bodyPr>
            <a:lstStyle/>
            <a:p>
              <a:pPr algn="ctr"/>
              <a:r>
                <a:rPr lang="ru-RU" sz="500" b="1" i="0" dirty="0">
                  <a:solidFill>
                    <a:srgbClr val="000000"/>
                  </a:solidFill>
                  <a:latin typeface="Arial" pitchFamily="34" charset="0"/>
                  <a:cs typeface="Arial" pitchFamily="34" charset="0"/>
                </a:rPr>
                <a:t>Уровень 0</a:t>
              </a:r>
            </a:p>
          </p:txBody>
        </p:sp>
        <p:sp>
          <p:nvSpPr>
            <p:cNvPr id="31" name="Curved Right Arrow 30"/>
            <p:cNvSpPr/>
            <p:nvPr/>
          </p:nvSpPr>
          <p:spPr>
            <a:xfrm flipH="1">
              <a:off x="7676975" y="1044249"/>
              <a:ext cx="365199" cy="72116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Arial" pitchFamily="34" charset="0"/>
                <a:cs typeface="Arial" pitchFamily="34" charset="0"/>
              </a:endParaRPr>
            </a:p>
          </p:txBody>
        </p:sp>
        <p:sp>
          <p:nvSpPr>
            <p:cNvPr id="32" name="Curved Right Arrow 31"/>
            <p:cNvSpPr/>
            <p:nvPr/>
          </p:nvSpPr>
          <p:spPr>
            <a:xfrm flipV="1">
              <a:off x="6121501" y="1028661"/>
              <a:ext cx="365199" cy="72116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Arial" pitchFamily="34" charset="0"/>
                <a:cs typeface="Arial" pitchFamily="34" charset="0"/>
              </a:endParaRPr>
            </a:p>
          </p:txBody>
        </p:sp>
        <p:sp>
          <p:nvSpPr>
            <p:cNvPr id="33" name="Curved Right Arrow 32"/>
            <p:cNvSpPr/>
            <p:nvPr/>
          </p:nvSpPr>
          <p:spPr>
            <a:xfrm flipH="1">
              <a:off x="7614319" y="2966316"/>
              <a:ext cx="386730" cy="53949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Arial" pitchFamily="34" charset="0"/>
                <a:cs typeface="Arial" pitchFamily="34" charset="0"/>
              </a:endParaRPr>
            </a:p>
          </p:txBody>
        </p:sp>
        <p:sp>
          <p:nvSpPr>
            <p:cNvPr id="34" name="Curved Right Arrow 33"/>
            <p:cNvSpPr/>
            <p:nvPr/>
          </p:nvSpPr>
          <p:spPr>
            <a:xfrm flipV="1">
              <a:off x="6332448" y="2931247"/>
              <a:ext cx="386730" cy="574559"/>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latin typeface="Arial" pitchFamily="34" charset="0"/>
                <a:cs typeface="Arial" pitchFamily="34" charset="0"/>
              </a:endParaRPr>
            </a:p>
          </p:txBody>
        </p:sp>
      </p:grpSp>
      <p:sp>
        <p:nvSpPr>
          <p:cNvPr id="47" name="TextBox 4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3285434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Многоуровневая кэш-память</a:t>
            </a:r>
          </a:p>
        </p:txBody>
      </p:sp>
      <p:sp>
        <p:nvSpPr>
          <p:cNvPr id="3" name="Content Placeholder 2"/>
          <p:cNvSpPr>
            <a:spLocks noGrp="1"/>
          </p:cNvSpPr>
          <p:nvPr>
            <p:ph sz="quarter" idx="10"/>
          </p:nvPr>
        </p:nvSpPr>
        <p:spPr>
          <a:xfrm>
            <a:off x="228600" y="895350"/>
            <a:ext cx="5357359" cy="3429000"/>
          </a:xfrm>
        </p:spPr>
        <p:txBody>
          <a:bodyPr/>
          <a:lstStyle/>
          <a:p>
            <a:r>
              <a:rPr lang="ru-RU" sz="1600" b="0" i="0" dirty="0">
                <a:solidFill>
                  <a:srgbClr val="000000"/>
                </a:solidFill>
                <a:latin typeface="Arial" pitchFamily="34" charset="0"/>
                <a:cs typeface="Arial" pitchFamily="34" charset="0"/>
              </a:rPr>
              <a:t>Позволяет создавать вторичную кэш-память большой емкости с использованием твердотельных дисков</a:t>
            </a:r>
          </a:p>
          <a:p>
            <a:r>
              <a:rPr lang="ru-RU" sz="1600" b="0" i="0" dirty="0">
                <a:solidFill>
                  <a:srgbClr val="000000"/>
                </a:solidFill>
                <a:latin typeface="Arial" pitchFamily="34" charset="0"/>
                <a:cs typeface="Arial" pitchFamily="34" charset="0"/>
              </a:rPr>
              <a:t>Обеспечивает многоуровневое хранение между кэш-памятью DRAM и твердотельными дисками (вторичной кэш-памятью)</a:t>
            </a:r>
          </a:p>
          <a:p>
            <a:r>
              <a:rPr lang="ru-RU" sz="1600" b="0" i="0" dirty="0">
                <a:solidFill>
                  <a:srgbClr val="000000"/>
                </a:solidFill>
                <a:latin typeface="Arial" pitchFamily="34" charset="0"/>
                <a:cs typeface="Arial" pitchFamily="34" charset="0"/>
              </a:rPr>
              <a:t>Большинство операций чтения обслуживаются непосредственно из высокопроизводительной кэш-памяти многоуровневого хранения</a:t>
            </a:r>
          </a:p>
          <a:p>
            <a:r>
              <a:rPr lang="ru-RU" sz="1600" b="0" i="0" dirty="0">
                <a:solidFill>
                  <a:srgbClr val="000000"/>
                </a:solidFill>
                <a:latin typeface="Arial" pitchFamily="34" charset="0"/>
                <a:cs typeface="Arial" pitchFamily="34" charset="0"/>
              </a:rPr>
              <a:t>Преимущества</a:t>
            </a:r>
          </a:p>
          <a:p>
            <a:pPr lvl="1"/>
            <a:r>
              <a:rPr lang="ru-RU" sz="1600" b="0" i="0" dirty="0">
                <a:solidFill>
                  <a:srgbClr val="000000"/>
                </a:solidFill>
                <a:latin typeface="Arial" pitchFamily="34" charset="0"/>
                <a:cs typeface="Arial" pitchFamily="34" charset="0"/>
              </a:rPr>
              <a:t>Улучшенная производительность при пиковой рабочей нагрузке</a:t>
            </a:r>
          </a:p>
          <a:p>
            <a:pPr lvl="1"/>
            <a:r>
              <a:rPr lang="ru-RU" sz="1600" b="0" i="0" dirty="0">
                <a:solidFill>
                  <a:srgbClr val="000000"/>
                </a:solidFill>
                <a:latin typeface="Arial" pitchFamily="34" charset="0"/>
                <a:cs typeface="Arial" pitchFamily="34" charset="0"/>
              </a:rPr>
              <a:t>Бесперебойная работа и прозрачность для приложений</a:t>
            </a:r>
          </a:p>
          <a:p>
            <a:pPr lvl="1"/>
            <a:endParaRPr lang="en-US" dirty="0">
              <a:latin typeface="Arial" pitchFamily="34" charset="0"/>
              <a:cs typeface="Arial" pitchFamily="34" charset="0"/>
            </a:endParaRPr>
          </a:p>
        </p:txBody>
      </p:sp>
      <p:grpSp>
        <p:nvGrpSpPr>
          <p:cNvPr id="5" name="Group 4"/>
          <p:cNvGrpSpPr/>
          <p:nvPr/>
        </p:nvGrpSpPr>
        <p:grpSpPr>
          <a:xfrm>
            <a:off x="5638800" y="1131631"/>
            <a:ext cx="3276601" cy="2887919"/>
            <a:chOff x="5736773" y="990600"/>
            <a:chExt cx="3276601" cy="2887919"/>
          </a:xfrm>
        </p:grpSpPr>
        <p:pic>
          <p:nvPicPr>
            <p:cNvPr id="6"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6516944" y="2209800"/>
              <a:ext cx="893298" cy="893298"/>
            </a:xfrm>
            <a:prstGeom prst="rect">
              <a:avLst/>
            </a:prstGeom>
            <a:noFill/>
          </p:spPr>
        </p:pic>
        <p:sp>
          <p:nvSpPr>
            <p:cNvPr id="7" name="Rounded Rectangle 6"/>
            <p:cNvSpPr/>
            <p:nvPr/>
          </p:nvSpPr>
          <p:spPr>
            <a:xfrm>
              <a:off x="6041573" y="1295400"/>
              <a:ext cx="1905000" cy="609600"/>
            </a:xfrm>
            <a:prstGeom prst="roundRect">
              <a:avLst/>
            </a:prstGeom>
            <a:gradFill rotWithShape="1">
              <a:gsLst>
                <a:gs pos="0">
                  <a:srgbClr val="2C95DD">
                    <a:shade val="51000"/>
                    <a:satMod val="130000"/>
                  </a:srgbClr>
                </a:gs>
                <a:gs pos="80000">
                  <a:srgbClr val="2C95DD">
                    <a:shade val="93000"/>
                    <a:satMod val="130000"/>
                  </a:srgbClr>
                </a:gs>
                <a:gs pos="100000">
                  <a:srgbClr val="2C95D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lang="ru-RU" sz="1400" b="1" i="0" u="none" dirty="0">
                  <a:solidFill>
                    <a:srgbClr val="FFFFFF"/>
                  </a:solidFill>
                  <a:latin typeface="Arial" pitchFamily="34" charset="0"/>
                  <a:cs typeface="Arial" pitchFamily="34" charset="0"/>
                </a:rPr>
                <a:t>Кэш-память DRAM</a:t>
              </a:r>
            </a:p>
          </p:txBody>
        </p:sp>
        <p:sp>
          <p:nvSpPr>
            <p:cNvPr id="8" name="Rounded Rectangle 7"/>
            <p:cNvSpPr/>
            <p:nvPr/>
          </p:nvSpPr>
          <p:spPr>
            <a:xfrm>
              <a:off x="5889173" y="1143000"/>
              <a:ext cx="2209800" cy="2133600"/>
            </a:xfrm>
            <a:prstGeom prst="roundRect">
              <a:avLst/>
            </a:prstGeom>
            <a:noFill/>
            <a:ln w="25400" cap="flat" cmpd="sng" algn="ctr">
              <a:solidFill>
                <a:srgbClr val="000000"/>
              </a:solidFill>
              <a:prstDash val="dash"/>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itchFamily="34" charset="0"/>
                <a:cs typeface="Arial" pitchFamily="34" charset="0"/>
              </a:endParaRPr>
            </a:p>
          </p:txBody>
        </p:sp>
        <p:sp>
          <p:nvSpPr>
            <p:cNvPr id="9" name="TextBox 8"/>
            <p:cNvSpPr txBox="1"/>
            <p:nvPr/>
          </p:nvSpPr>
          <p:spPr>
            <a:xfrm>
              <a:off x="6698551" y="2599302"/>
              <a:ext cx="554960" cy="307777"/>
            </a:xfrm>
            <a:prstGeom prst="rect">
              <a:avLst/>
            </a:prstGeom>
            <a:noFill/>
          </p:spPr>
          <p:txBody>
            <a:bodyPr wrap="none" rtlCol="0">
              <a:spAutoFit/>
            </a:bodyPr>
            <a:lstStyle/>
            <a:p>
              <a:pPr defTabSz="914400" fontAlgn="base">
                <a:spcBef>
                  <a:spcPct val="0"/>
                </a:spcBef>
                <a:spcAft>
                  <a:spcPct val="0"/>
                </a:spcAft>
              </a:pPr>
              <a:r>
                <a:rPr lang="ru-RU" sz="1400" b="1" i="0" dirty="0">
                  <a:solidFill>
                    <a:srgbClr val="000000"/>
                  </a:solidFill>
                  <a:latin typeface="Arial" pitchFamily="34" charset="0"/>
                  <a:cs typeface="Arial" pitchFamily="34" charset="0"/>
                </a:rPr>
                <a:t>SSD</a:t>
              </a:r>
            </a:p>
          </p:txBody>
        </p:sp>
        <p:sp>
          <p:nvSpPr>
            <p:cNvPr id="10" name="TextBox 9"/>
            <p:cNvSpPr txBox="1"/>
            <p:nvPr/>
          </p:nvSpPr>
          <p:spPr>
            <a:xfrm>
              <a:off x="5934269" y="3114481"/>
              <a:ext cx="2057400" cy="401812"/>
            </a:xfrm>
            <a:prstGeom prst="roundRect">
              <a:avLst/>
            </a:prstGeom>
            <a:solidFill>
              <a:srgbClr val="FFFFFF"/>
            </a:solidFill>
            <a:ln>
              <a:solidFill>
                <a:srgbClr val="FFFFFF"/>
              </a:solidFill>
            </a:ln>
          </p:spPr>
          <p:txBody>
            <a:bodyPr wrap="square" rtlCol="0" anchor="ctr">
              <a:spAutoFit/>
            </a:bodyPr>
            <a:lstStyle/>
            <a:p>
              <a:pPr marL="0" marR="0" lvl="0" indent="0" algn="ctr" defTabSz="914400" eaLnBrk="1" fontAlgn="base" latinLnBrk="0" hangingPunct="1">
                <a:lnSpc>
                  <a:spcPct val="80000"/>
                </a:lnSpc>
                <a:spcBef>
                  <a:spcPct val="0"/>
                </a:spcBef>
                <a:spcAft>
                  <a:spcPct val="0"/>
                </a:spcAft>
                <a:buClrTx/>
                <a:buSzTx/>
                <a:buFontTx/>
                <a:buNone/>
                <a:tabLst/>
                <a:defRPr/>
              </a:pPr>
              <a:r>
                <a:rPr lang="ru-RU" sz="1100" b="0" i="0" u="none" dirty="0">
                  <a:solidFill>
                    <a:srgbClr val="000000"/>
                  </a:solidFill>
                  <a:latin typeface="Arial" pitchFamily="34" charset="0"/>
                  <a:cs typeface="Arial" pitchFamily="34" charset="0"/>
                </a:rPr>
                <a:t>Кэш-память многоуровневого хранения</a:t>
              </a:r>
            </a:p>
          </p:txBody>
        </p:sp>
        <p:sp>
          <p:nvSpPr>
            <p:cNvPr id="11" name="Rounded Rectangle 10"/>
            <p:cNvSpPr/>
            <p:nvPr/>
          </p:nvSpPr>
          <p:spPr>
            <a:xfrm>
              <a:off x="5736773" y="990600"/>
              <a:ext cx="2514600" cy="2743200"/>
            </a:xfrm>
            <a:prstGeom prst="roundRect">
              <a:avLst/>
            </a:prstGeom>
            <a:no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itchFamily="34" charset="0"/>
                <a:cs typeface="Arial" pitchFamily="34" charset="0"/>
              </a:endParaRPr>
            </a:p>
          </p:txBody>
        </p:sp>
        <p:sp>
          <p:nvSpPr>
            <p:cNvPr id="12" name="TextBox 11"/>
            <p:cNvSpPr txBox="1"/>
            <p:nvPr/>
          </p:nvSpPr>
          <p:spPr>
            <a:xfrm>
              <a:off x="8382000" y="1357925"/>
              <a:ext cx="631374" cy="476726"/>
            </a:xfrm>
            <a:prstGeom prst="roundRect">
              <a:avLst/>
            </a:prstGeom>
            <a:solidFill>
              <a:srgbClr val="FFFFFF"/>
            </a:solidFill>
            <a:ln>
              <a:solidFill>
                <a:srgbClr val="FFFFFF"/>
              </a:solidFill>
            </a:ln>
          </p:spPr>
          <p:txBody>
            <a:bodyPr wrap="square" rtlCol="0"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lang="ru-RU" sz="1100" b="0" i="0" u="none" dirty="0">
                  <a:solidFill>
                    <a:srgbClr val="000000"/>
                  </a:solidFill>
                  <a:latin typeface="Arial" pitchFamily="34" charset="0"/>
                  <a:cs typeface="Arial" pitchFamily="34" charset="0"/>
                </a:rPr>
                <a:t>Уровень 0</a:t>
              </a:r>
            </a:p>
          </p:txBody>
        </p:sp>
        <p:cxnSp>
          <p:nvCxnSpPr>
            <p:cNvPr id="13" name="Straight Arrow Connector 12"/>
            <p:cNvCxnSpPr/>
            <p:nvPr/>
          </p:nvCxnSpPr>
          <p:spPr>
            <a:xfrm flipH="1">
              <a:off x="7936413" y="1600200"/>
              <a:ext cx="533400" cy="0"/>
            </a:xfrm>
            <a:prstGeom prst="straightConnector1">
              <a:avLst/>
            </a:prstGeom>
            <a:noFill/>
            <a:ln w="28575" cap="flat" cmpd="sng" algn="ctr">
              <a:solidFill>
                <a:srgbClr val="000000"/>
              </a:solidFill>
              <a:prstDash val="solid"/>
              <a:tailEnd type="arrow"/>
            </a:ln>
            <a:effectLst/>
          </p:spPr>
        </p:cxnSp>
        <p:sp>
          <p:nvSpPr>
            <p:cNvPr id="14" name="TextBox 13"/>
            <p:cNvSpPr txBox="1"/>
            <p:nvPr/>
          </p:nvSpPr>
          <p:spPr>
            <a:xfrm>
              <a:off x="6564083" y="3589078"/>
              <a:ext cx="888031" cy="289441"/>
            </a:xfrm>
            <a:prstGeom prst="roundRect">
              <a:avLst/>
            </a:prstGeom>
            <a:solidFill>
              <a:srgbClr val="FFFFFF"/>
            </a:solidFill>
            <a:ln>
              <a:solidFill>
                <a:srgbClr val="FFFFFF"/>
              </a:solidFill>
            </a:ln>
          </p:spPr>
          <p:txBody>
            <a:bodyPr wrap="square" rtlCol="0"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lang="ru-RU" sz="1100" b="0" i="0" u="none" dirty="0">
                  <a:solidFill>
                    <a:srgbClr val="000000"/>
                  </a:solidFill>
                  <a:latin typeface="Arial" pitchFamily="34" charset="0"/>
                  <a:cs typeface="Arial" pitchFamily="34" charset="0"/>
                </a:rPr>
                <a:t>СХД</a:t>
              </a:r>
            </a:p>
          </p:txBody>
        </p:sp>
        <p:sp>
          <p:nvSpPr>
            <p:cNvPr id="15" name="TextBox 14"/>
            <p:cNvSpPr txBox="1"/>
            <p:nvPr/>
          </p:nvSpPr>
          <p:spPr>
            <a:xfrm>
              <a:off x="8382000" y="2446497"/>
              <a:ext cx="631374" cy="476726"/>
            </a:xfrm>
            <a:prstGeom prst="roundRect">
              <a:avLst/>
            </a:prstGeom>
            <a:solidFill>
              <a:srgbClr val="FFFFFF"/>
            </a:solidFill>
            <a:ln>
              <a:solidFill>
                <a:srgbClr val="FFFFFF"/>
              </a:solidFill>
            </a:ln>
          </p:spPr>
          <p:txBody>
            <a:bodyPr wrap="square" rtlCol="0"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lang="ru-RU" sz="1100" b="0" i="0" u="none" dirty="0">
                  <a:solidFill>
                    <a:srgbClr val="000000"/>
                  </a:solidFill>
                  <a:latin typeface="Arial" pitchFamily="34" charset="0"/>
                  <a:cs typeface="Arial" pitchFamily="34" charset="0"/>
                </a:rPr>
                <a:t>Уровень 1</a:t>
              </a:r>
            </a:p>
          </p:txBody>
        </p:sp>
        <p:cxnSp>
          <p:nvCxnSpPr>
            <p:cNvPr id="16" name="Straight Arrow Connector 15"/>
            <p:cNvCxnSpPr/>
            <p:nvPr/>
          </p:nvCxnSpPr>
          <p:spPr>
            <a:xfrm flipH="1" flipV="1">
              <a:off x="7377613" y="2676932"/>
              <a:ext cx="1092200" cy="11840"/>
            </a:xfrm>
            <a:prstGeom prst="straightConnector1">
              <a:avLst/>
            </a:prstGeom>
            <a:noFill/>
            <a:ln w="28575" cap="flat" cmpd="sng" algn="ctr">
              <a:solidFill>
                <a:srgbClr val="000000"/>
              </a:solidFill>
              <a:prstDash val="solid"/>
              <a:tailEnd type="arrow"/>
            </a:ln>
            <a:effectLst/>
          </p:spPr>
        </p:cxnSp>
      </p:grpSp>
      <p:sp>
        <p:nvSpPr>
          <p:cNvPr id="17" name="TextBox 1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4530901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Технология серверного кэширования на основе флэш-памяти</a:t>
            </a:r>
          </a:p>
        </p:txBody>
      </p:sp>
      <p:sp>
        <p:nvSpPr>
          <p:cNvPr id="3" name="Content Placeholder 2"/>
          <p:cNvSpPr>
            <a:spLocks noGrp="1"/>
          </p:cNvSpPr>
          <p:nvPr>
            <p:ph sz="quarter" idx="10"/>
          </p:nvPr>
        </p:nvSpPr>
        <p:spPr>
          <a:xfrm>
            <a:off x="379414" y="1047750"/>
            <a:ext cx="5868986" cy="3429000"/>
          </a:xfrm>
        </p:spPr>
        <p:txBody>
          <a:bodyPr/>
          <a:lstStyle/>
          <a:p>
            <a:r>
              <a:rPr lang="ru-RU" sz="1600" b="0" i="0" dirty="0">
                <a:solidFill>
                  <a:srgbClr val="000000"/>
                </a:solidFill>
                <a:latin typeface="Arial" pitchFamily="34" charset="0"/>
                <a:cs typeface="Arial" pitchFamily="34" charset="0"/>
              </a:rPr>
              <a:t>Использует интеллектуальное программное обеспечение для кэширования и флэш-карту PCIe в вычислительной системе</a:t>
            </a:r>
          </a:p>
          <a:p>
            <a:r>
              <a:rPr lang="ru-RU" sz="1600" b="0" i="0" dirty="0">
                <a:solidFill>
                  <a:srgbClr val="000000"/>
                </a:solidFill>
                <a:latin typeface="Arial" pitchFamily="34" charset="0"/>
                <a:cs typeface="Arial" pitchFamily="34" charset="0"/>
              </a:rPr>
              <a:t>Значительно повышает производительность приложений</a:t>
            </a:r>
          </a:p>
          <a:p>
            <a:pPr lvl="1"/>
            <a:r>
              <a:rPr lang="ru-RU" sz="1400" b="0" i="0" dirty="0">
                <a:solidFill>
                  <a:srgbClr val="000000"/>
                </a:solidFill>
                <a:latin typeface="Arial" pitchFamily="34" charset="0"/>
                <a:cs typeface="Arial" pitchFamily="34" charset="0"/>
              </a:rPr>
              <a:t>Обеспечивает повышение производительности в случае большого количества операций чтения</a:t>
            </a:r>
          </a:p>
          <a:p>
            <a:pPr lvl="1"/>
            <a:r>
              <a:rPr lang="ru-RU" sz="1400" b="0" i="0" dirty="0">
                <a:solidFill>
                  <a:srgbClr val="000000"/>
                </a:solidFill>
                <a:latin typeface="Arial" pitchFamily="34" charset="0"/>
                <a:cs typeface="Arial" pitchFamily="34" charset="0"/>
              </a:rPr>
              <a:t>Устраняет задержки в работе сети, связанные с доступом к СХД при выполнении операций ввода-вывода</a:t>
            </a:r>
          </a:p>
          <a:p>
            <a:r>
              <a:rPr lang="ru-RU" sz="1400" b="0" i="0" dirty="0">
                <a:solidFill>
                  <a:srgbClr val="000000"/>
                </a:solidFill>
                <a:latin typeface="Arial" pitchFamily="34" charset="0"/>
                <a:cs typeface="Arial" pitchFamily="34" charset="0"/>
              </a:rPr>
              <a:t>Интеллектуальн</a:t>
            </a:r>
            <a:r>
              <a:rPr lang="ru-RU" sz="1600" b="0" i="0" dirty="0">
                <a:solidFill>
                  <a:srgbClr val="000000"/>
                </a:solidFill>
                <a:latin typeface="Arial" pitchFamily="34" charset="0"/>
                <a:cs typeface="Arial" pitchFamily="34" charset="0"/>
              </a:rPr>
              <a:t>о определяет данные, которые целесообразно размещать в вычислительной системе на флэш-карте PCIe</a:t>
            </a:r>
          </a:p>
          <a:p>
            <a:r>
              <a:rPr lang="ru-RU" sz="1600" b="0" i="0" dirty="0">
                <a:solidFill>
                  <a:srgbClr val="000000"/>
                </a:solidFill>
                <a:latin typeface="Arial" pitchFamily="34" charset="0"/>
                <a:cs typeface="Arial" pitchFamily="34" charset="0"/>
              </a:rPr>
              <a:t>Использует минимум ресурсов ЦП и памяти </a:t>
            </a:r>
          </a:p>
          <a:p>
            <a:pPr lvl="1"/>
            <a:r>
              <a:rPr lang="ru-RU" sz="1400" b="0" i="0" dirty="0">
                <a:solidFill>
                  <a:srgbClr val="000000"/>
                </a:solidFill>
                <a:latin typeface="Arial" pitchFamily="34" charset="0"/>
                <a:cs typeface="Arial" pitchFamily="34" charset="0"/>
              </a:rPr>
              <a:t>Управление флэш-памятью осуществляется с помощью карты PCIe</a:t>
            </a:r>
          </a:p>
        </p:txBody>
      </p:sp>
      <p:grpSp>
        <p:nvGrpSpPr>
          <p:cNvPr id="5" name="Group 4"/>
          <p:cNvGrpSpPr/>
          <p:nvPr/>
        </p:nvGrpSpPr>
        <p:grpSpPr>
          <a:xfrm>
            <a:off x="6475004" y="730963"/>
            <a:ext cx="2211798" cy="4202987"/>
            <a:chOff x="6475004" y="575846"/>
            <a:chExt cx="2211798" cy="4202987"/>
          </a:xfrm>
        </p:grpSpPr>
        <p:grpSp>
          <p:nvGrpSpPr>
            <p:cNvPr id="25" name="Group 24"/>
            <p:cNvGrpSpPr/>
            <p:nvPr/>
          </p:nvGrpSpPr>
          <p:grpSpPr>
            <a:xfrm>
              <a:off x="6475004" y="575846"/>
              <a:ext cx="2211798" cy="4202987"/>
              <a:chOff x="6172200" y="575845"/>
              <a:chExt cx="2914117" cy="5537574"/>
            </a:xfrm>
          </p:grpSpPr>
          <p:grpSp>
            <p:nvGrpSpPr>
              <p:cNvPr id="6" name="Group 5"/>
              <p:cNvGrpSpPr/>
              <p:nvPr/>
            </p:nvGrpSpPr>
            <p:grpSpPr>
              <a:xfrm>
                <a:off x="6250642" y="914399"/>
                <a:ext cx="2772160" cy="2011235"/>
                <a:chOff x="6098242" y="1874965"/>
                <a:chExt cx="2772160" cy="2011235"/>
              </a:xfrm>
            </p:grpSpPr>
            <p:sp>
              <p:nvSpPr>
                <p:cNvPr id="7" name="Rounded Rectangle 6"/>
                <p:cNvSpPr/>
                <p:nvPr/>
              </p:nvSpPr>
              <p:spPr bwMode="gray">
                <a:xfrm>
                  <a:off x="6169381" y="2794595"/>
                  <a:ext cx="2669819" cy="1091605"/>
                </a:xfrm>
                <a:prstGeom prst="roundRect">
                  <a:avLst>
                    <a:gd name="adj" fmla="val 10860"/>
                  </a:avLst>
                </a:prstGeom>
                <a:gradFill flip="none" rotWithShape="1">
                  <a:gsLst>
                    <a:gs pos="0">
                      <a:schemeClr val="accent1">
                        <a:lumMod val="60000"/>
                        <a:lumOff val="40000"/>
                      </a:schemeClr>
                    </a:gs>
                    <a:gs pos="100000">
                      <a:schemeClr val="bg1"/>
                    </a:gs>
                  </a:gsLst>
                  <a:lin ang="13500000" scaled="1"/>
                  <a:tileRect/>
                </a:gradFill>
                <a:ln w="12700">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sz="1000" dirty="0">
                    <a:latin typeface="Arial" pitchFamily="34" charset="0"/>
                    <a:cs typeface="Arial" pitchFamily="34" charset="0"/>
                  </a:endParaRPr>
                </a:p>
              </p:txBody>
            </p:sp>
            <p:sp>
              <p:nvSpPr>
                <p:cNvPr id="8" name="Rounded Rectangle 7"/>
                <p:cNvSpPr/>
                <p:nvPr/>
              </p:nvSpPr>
              <p:spPr bwMode="gray">
                <a:xfrm>
                  <a:off x="6169382" y="1874965"/>
                  <a:ext cx="2543068" cy="837867"/>
                </a:xfrm>
                <a:prstGeom prst="roundRect">
                  <a:avLst>
                    <a:gd name="adj" fmla="val 10860"/>
                  </a:avLst>
                </a:prstGeom>
                <a:gradFill flip="none" rotWithShape="1">
                  <a:gsLst>
                    <a:gs pos="0">
                      <a:schemeClr val="accent2">
                        <a:lumMod val="60000"/>
                        <a:lumOff val="40000"/>
                      </a:schemeClr>
                    </a:gs>
                    <a:gs pos="100000">
                      <a:schemeClr val="bg1"/>
                    </a:gs>
                  </a:gsLst>
                  <a:lin ang="13500000" scaled="1"/>
                  <a:tileRect/>
                </a:gradFill>
                <a:ln w="12700">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sz="1000" dirty="0">
                    <a:latin typeface="Arial" pitchFamily="34" charset="0"/>
                    <a:cs typeface="Arial" pitchFamily="34" charset="0"/>
                  </a:endParaRPr>
                </a:p>
              </p:txBody>
            </p:sp>
            <p:pic>
              <p:nvPicPr>
                <p:cNvPr id="9" name="Picture 2"/>
                <p:cNvPicPr>
                  <a:picLocks noChangeAspect="1" noChangeArrowheads="1"/>
                </p:cNvPicPr>
                <p:nvPr/>
              </p:nvPicPr>
              <p:blipFill>
                <a:blip r:embed="rId4" cstate="print">
                  <a:extLst>
                    <a:ext uri="{BEBA8EAE-BF5A-486C-A8C5-ECC9F3942E4B}">
                      <a14:imgProps xmlns:a14="http://schemas.microsoft.com/office/drawing/2010/main">
                        <a14:imgLayer r:embed="rId5">
                          <a14:imgEffect>
                            <a14:sharpenSoften amount="25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bwMode="auto">
                <a:xfrm flipV="1">
                  <a:off x="7427977" y="3276097"/>
                  <a:ext cx="958257" cy="396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8241393" y="3199001"/>
                  <a:ext cx="629009" cy="547432"/>
                </a:xfrm>
                <a:prstGeom prst="rect">
                  <a:avLst/>
                </a:prstGeom>
                <a:noFill/>
              </p:spPr>
              <p:txBody>
                <a:bodyPr wrap="square" rtlCol="0">
                  <a:spAutoFit/>
                </a:bodyPr>
                <a:lstStyle>
                  <a:defPPr>
                    <a:defRPr lang="en-US"/>
                  </a:defPPr>
                  <a:lvl1pPr>
                    <a:defRPr sz="900">
                      <a:latin typeface="+mj-lt"/>
                    </a:defRPr>
                  </a:lvl1pPr>
                </a:lstStyle>
                <a:p>
                  <a:r>
                    <a:rPr lang="ru-RU" sz="700" b="0" i="0" dirty="0">
                      <a:solidFill>
                        <a:srgbClr val="000000"/>
                      </a:solidFill>
                      <a:latin typeface="Arial" pitchFamily="34" charset="0"/>
                      <a:cs typeface="Arial" pitchFamily="34" charset="0"/>
                    </a:rPr>
                    <a:t>Флэш-</a:t>
                  </a:r>
                  <a:br>
                    <a:rPr lang="en-US" sz="700" b="0" i="0" dirty="0">
                      <a:solidFill>
                        <a:srgbClr val="FF00FF"/>
                      </a:solidFill>
                      <a:latin typeface="Arial" pitchFamily="34" charset="0"/>
                      <a:cs typeface="Arial" pitchFamily="34" charset="0"/>
                    </a:rPr>
                  </a:br>
                  <a:r>
                    <a:rPr lang="ru-RU" sz="700" b="0" i="0" dirty="0">
                      <a:solidFill>
                        <a:srgbClr val="000000"/>
                      </a:solidFill>
                      <a:latin typeface="Arial" pitchFamily="34" charset="0"/>
                      <a:cs typeface="Arial" pitchFamily="34" charset="0"/>
                    </a:rPr>
                    <a:t>карта </a:t>
                  </a:r>
                  <a:br>
                    <a:rPr lang="en-US" sz="700" b="0" i="0" dirty="0">
                      <a:solidFill>
                        <a:srgbClr val="FF00FF"/>
                      </a:solidFill>
                      <a:latin typeface="Arial" pitchFamily="34" charset="0"/>
                      <a:cs typeface="Arial" pitchFamily="34" charset="0"/>
                    </a:rPr>
                  </a:br>
                  <a:r>
                    <a:rPr lang="ru-RU" sz="700" b="0" i="0" dirty="0">
                      <a:solidFill>
                        <a:srgbClr val="000000"/>
                      </a:solidFill>
                      <a:latin typeface="Arial" pitchFamily="34" charset="0"/>
                      <a:cs typeface="Arial" pitchFamily="34" charset="0"/>
                    </a:rPr>
                    <a:t>PCIe</a:t>
                  </a:r>
                </a:p>
              </p:txBody>
            </p:sp>
            <p:sp>
              <p:nvSpPr>
                <p:cNvPr id="11" name="TextBox 10"/>
                <p:cNvSpPr txBox="1"/>
                <p:nvPr/>
              </p:nvSpPr>
              <p:spPr>
                <a:xfrm>
                  <a:off x="6098242" y="3251029"/>
                  <a:ext cx="702772" cy="405506"/>
                </a:xfrm>
                <a:prstGeom prst="rect">
                  <a:avLst/>
                </a:prstGeom>
                <a:noFill/>
              </p:spPr>
              <p:txBody>
                <a:bodyPr wrap="square" rtlCol="0">
                  <a:spAutoFit/>
                </a:bodyPr>
                <a:lstStyle>
                  <a:defPPr>
                    <a:defRPr lang="en-US"/>
                  </a:defPPr>
                  <a:lvl1pPr>
                    <a:defRPr sz="900">
                      <a:latin typeface="Calibri" pitchFamily="34" charset="0"/>
                      <a:cs typeface="Calibri" pitchFamily="34" charset="0"/>
                    </a:defRPr>
                  </a:lvl1pPr>
                </a:lstStyle>
                <a:p>
                  <a:r>
                    <a:rPr lang="ru-RU" sz="700" b="0" i="0" dirty="0">
                      <a:solidFill>
                        <a:srgbClr val="000000"/>
                      </a:solidFill>
                      <a:latin typeface="Arial" pitchFamily="34" charset="0"/>
                      <a:cs typeface="Arial" pitchFamily="34" charset="0"/>
                    </a:rPr>
                    <a:t>HBA-адаптер</a:t>
                  </a:r>
                </a:p>
              </p:txBody>
            </p:sp>
            <p:sp>
              <p:nvSpPr>
                <p:cNvPr id="12" name="Right Arrow 11"/>
                <p:cNvSpPr/>
                <p:nvPr/>
              </p:nvSpPr>
              <p:spPr>
                <a:xfrm rot="5400000">
                  <a:off x="7224492" y="2298802"/>
                  <a:ext cx="456641" cy="278363"/>
                </a:xfrm>
                <a:prstGeom prst="rightArrow">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sz="1000" dirty="0">
                    <a:latin typeface="Arial" pitchFamily="34" charset="0"/>
                    <a:cs typeface="Arial" pitchFamily="34" charset="0"/>
                  </a:endParaRPr>
                </a:p>
              </p:txBody>
            </p:sp>
            <p:sp>
              <p:nvSpPr>
                <p:cNvPr id="13" name="Rounded Rectangle 12"/>
                <p:cNvSpPr/>
                <p:nvPr/>
              </p:nvSpPr>
              <p:spPr bwMode="gray">
                <a:xfrm>
                  <a:off x="6266885" y="1951166"/>
                  <a:ext cx="2371854" cy="461394"/>
                </a:xfrm>
                <a:prstGeom prst="roundRect">
                  <a:avLst>
                    <a:gd name="adj" fmla="val 10860"/>
                  </a:avLst>
                </a:prstGeom>
                <a:ln/>
              </p:spPr>
              <p:style>
                <a:lnRef idx="1">
                  <a:schemeClr val="accent2"/>
                </a:lnRef>
                <a:fillRef idx="3">
                  <a:schemeClr val="accent2"/>
                </a:fillRef>
                <a:effectRef idx="2">
                  <a:schemeClr val="accent2"/>
                </a:effectRef>
                <a:fontRef idx="minor">
                  <a:schemeClr val="lt1"/>
                </a:fontRef>
              </p:style>
              <p:txBody>
                <a:bodyPr rtlCol="0" anchor="ctr" anchorCtr="0"/>
                <a:lstStyle/>
                <a:p>
                  <a:pPr algn="ctr"/>
                  <a:r>
                    <a:rPr lang="ru-RU" sz="1000" b="0" i="0" dirty="0">
                      <a:solidFill>
                        <a:srgbClr val="FFFFFF"/>
                      </a:solidFill>
                      <a:effectLst>
                        <a:outerShdw blurRad="38100" dist="38100" dir="2700000" algn="tl">
                          <a:srgbClr val="000000">
                            <a:alpha val="43137"/>
                          </a:srgbClr>
                        </a:outerShdw>
                      </a:effectLst>
                      <a:latin typeface="Arial" pitchFamily="34" charset="0"/>
                      <a:cs typeface="Arial" pitchFamily="34" charset="0"/>
                    </a:rPr>
                    <a:t>Приложение</a:t>
                  </a:r>
                </a:p>
              </p:txBody>
            </p:sp>
            <p:sp>
              <p:nvSpPr>
                <p:cNvPr id="14" name="Right Arrow 13"/>
                <p:cNvSpPr/>
                <p:nvPr/>
              </p:nvSpPr>
              <p:spPr>
                <a:xfrm rot="5400000">
                  <a:off x="7640026" y="2958217"/>
                  <a:ext cx="456641" cy="278363"/>
                </a:xfrm>
                <a:prstGeom prst="rightArrow">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Arial" pitchFamily="34" charset="0"/>
                    <a:cs typeface="Arial" pitchFamily="34" charset="0"/>
                  </a:endParaRPr>
                </a:p>
              </p:txBody>
            </p:sp>
            <p:sp>
              <p:nvSpPr>
                <p:cNvPr id="15" name="Right Arrow 14"/>
                <p:cNvSpPr/>
                <p:nvPr/>
              </p:nvSpPr>
              <p:spPr>
                <a:xfrm rot="5400000">
                  <a:off x="6759287" y="2958217"/>
                  <a:ext cx="456641" cy="278363"/>
                </a:xfrm>
                <a:prstGeom prst="rightArrow">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Arial" pitchFamily="34" charset="0"/>
                    <a:cs typeface="Arial" pitchFamily="34" charset="0"/>
                  </a:endParaRPr>
                </a:p>
              </p:txBody>
            </p:sp>
            <p:sp>
              <p:nvSpPr>
                <p:cNvPr id="16" name="Right Arrow 15"/>
                <p:cNvSpPr/>
                <p:nvPr/>
              </p:nvSpPr>
              <p:spPr>
                <a:xfrm rot="5400000">
                  <a:off x="6759287" y="3516183"/>
                  <a:ext cx="456641" cy="278363"/>
                </a:xfrm>
                <a:prstGeom prst="rightArrow">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latin typeface="Arial" pitchFamily="34" charset="0"/>
                    <a:cs typeface="Arial" pitchFamily="34" charset="0"/>
                  </a:endParaRPr>
                </a:p>
              </p:txBody>
            </p:sp>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50490" y="3162120"/>
                  <a:ext cx="777487" cy="510049"/>
                </a:xfrm>
                <a:prstGeom prst="rect">
                  <a:avLst/>
                </a:prstGeom>
              </p:spPr>
            </p:pic>
            <p:sp>
              <p:nvSpPr>
                <p:cNvPr id="18" name="Rounded Rectangle 17"/>
                <p:cNvSpPr/>
                <p:nvPr/>
              </p:nvSpPr>
              <p:spPr bwMode="gray">
                <a:xfrm>
                  <a:off x="6266882" y="2828063"/>
                  <a:ext cx="2371854" cy="296412"/>
                </a:xfrm>
                <a:prstGeom prst="roundRect">
                  <a:avLst>
                    <a:gd name="adj" fmla="val 10860"/>
                  </a:avLst>
                </a:prstGeom>
                <a:ln/>
              </p:spPr>
              <p:style>
                <a:lnRef idx="1">
                  <a:schemeClr val="accent1"/>
                </a:lnRef>
                <a:fillRef idx="3">
                  <a:schemeClr val="accent1"/>
                </a:fillRef>
                <a:effectRef idx="2">
                  <a:schemeClr val="accent1"/>
                </a:effectRef>
                <a:fontRef idx="minor">
                  <a:schemeClr val="lt1"/>
                </a:fontRef>
              </p:style>
              <p:txBody>
                <a:bodyPr rtlCol="0" anchor="ctr" anchorCtr="0"/>
                <a:lstStyle/>
                <a:p>
                  <a:pPr algn="ctr"/>
                  <a:r>
                    <a:rPr lang="ru-RU" sz="600" b="0" i="0" dirty="0">
                      <a:solidFill>
                        <a:srgbClr val="FFFFFF"/>
                      </a:solidFill>
                      <a:effectLst>
                        <a:outerShdw blurRad="38100" dist="38100" dir="2700000" algn="tl">
                          <a:srgbClr val="000000">
                            <a:alpha val="43137"/>
                          </a:srgbClr>
                        </a:outerShdw>
                      </a:effectLst>
                      <a:latin typeface="Arial" pitchFamily="34" charset="0"/>
                      <a:cs typeface="Arial" pitchFamily="34" charset="0"/>
                    </a:rPr>
                    <a:t>Программное обеспечение для интеллектуального кэширования</a:t>
                  </a:r>
                </a:p>
              </p:txBody>
            </p:sp>
          </p:grpSp>
          <p:sp>
            <p:nvSpPr>
              <p:cNvPr id="20" name="Up-Down Arrow 19"/>
              <p:cNvSpPr/>
              <p:nvPr/>
            </p:nvSpPr>
            <p:spPr>
              <a:xfrm>
                <a:off x="7477543" y="3102972"/>
                <a:ext cx="304799" cy="504126"/>
              </a:xfrm>
              <a:prstGeom prst="upDownArrow">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Arial" pitchFamily="34" charset="0"/>
                  <a:cs typeface="Arial" pitchFamily="34" charset="0"/>
                </a:endParaRPr>
              </a:p>
            </p:txBody>
          </p:sp>
          <p:sp>
            <p:nvSpPr>
              <p:cNvPr id="21" name="Rounded Rectangle 20"/>
              <p:cNvSpPr/>
              <p:nvPr/>
            </p:nvSpPr>
            <p:spPr>
              <a:xfrm>
                <a:off x="6172200" y="609600"/>
                <a:ext cx="2914117" cy="2468434"/>
              </a:xfrm>
              <a:prstGeom prst="roundRect">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itchFamily="34" charset="0"/>
                  <a:cs typeface="Arial" pitchFamily="34" charset="0"/>
                </a:endParaRPr>
              </a:p>
            </p:txBody>
          </p:sp>
          <p:sp>
            <p:nvSpPr>
              <p:cNvPr id="22" name="TextBox 21"/>
              <p:cNvSpPr txBox="1"/>
              <p:nvPr/>
            </p:nvSpPr>
            <p:spPr>
              <a:xfrm>
                <a:off x="6327523" y="575845"/>
                <a:ext cx="2658683" cy="364955"/>
              </a:xfrm>
              <a:prstGeom prst="rect">
                <a:avLst/>
              </a:prstGeom>
              <a:noFill/>
            </p:spPr>
            <p:txBody>
              <a:bodyPr wrap="none" rtlCol="0">
                <a:spAutoFit/>
              </a:bodyPr>
              <a:lstStyle/>
              <a:p>
                <a:pPr algn="ctr"/>
                <a:r>
                  <a:rPr lang="ru-RU" sz="1200" b="0" i="0" dirty="0">
                    <a:solidFill>
                      <a:srgbClr val="000000"/>
                    </a:solidFill>
                    <a:latin typeface="Arial" pitchFamily="34" charset="0"/>
                    <a:cs typeface="Arial" pitchFamily="34" charset="0"/>
                  </a:rPr>
                  <a:t>Вычислительная система</a:t>
                </a:r>
              </a:p>
            </p:txBody>
          </p:sp>
          <p:sp>
            <p:nvSpPr>
              <p:cNvPr id="23" name="TextBox 22"/>
              <p:cNvSpPr txBox="1"/>
              <p:nvPr/>
            </p:nvSpPr>
            <p:spPr>
              <a:xfrm>
                <a:off x="7647024" y="3129706"/>
                <a:ext cx="1156353" cy="486607"/>
              </a:xfrm>
              <a:prstGeom prst="rect">
                <a:avLst/>
              </a:prstGeom>
              <a:noFill/>
            </p:spPr>
            <p:txBody>
              <a:bodyPr wrap="square" rtlCol="0">
                <a:spAutoFit/>
              </a:bodyPr>
              <a:lstStyle/>
              <a:p>
                <a:pPr algn="ctr"/>
                <a:r>
                  <a:rPr lang="ru-RU" sz="900" b="0" i="0" dirty="0">
                    <a:solidFill>
                      <a:srgbClr val="000000"/>
                    </a:solidFill>
                    <a:latin typeface="Arial" pitchFamily="34" charset="0"/>
                    <a:cs typeface="Arial" pitchFamily="34" charset="0"/>
                  </a:rPr>
                  <a:t>Сеть хранения</a:t>
                </a:r>
              </a:p>
            </p:txBody>
          </p:sp>
          <p:sp>
            <p:nvSpPr>
              <p:cNvPr id="24" name="TextBox 23"/>
              <p:cNvSpPr txBox="1"/>
              <p:nvPr/>
            </p:nvSpPr>
            <p:spPr>
              <a:xfrm>
                <a:off x="6621227" y="5586261"/>
                <a:ext cx="1963111" cy="527158"/>
              </a:xfrm>
              <a:prstGeom prst="rect">
                <a:avLst/>
              </a:prstGeom>
              <a:noFill/>
            </p:spPr>
            <p:txBody>
              <a:bodyPr wrap="square" rtlCol="0">
                <a:spAutoFit/>
              </a:bodyPr>
              <a:lstStyle/>
              <a:p>
                <a:pPr algn="ctr"/>
                <a:r>
                  <a:rPr lang="ru-RU" sz="1000" b="0" i="0" dirty="0">
                    <a:solidFill>
                      <a:srgbClr val="000000"/>
                    </a:solidFill>
                    <a:latin typeface="Arial" pitchFamily="34" charset="0"/>
                    <a:cs typeface="Arial" pitchFamily="34" charset="0"/>
                  </a:rPr>
                  <a:t>Система хранения данных</a:t>
                </a:r>
              </a:p>
            </p:txBody>
          </p:sp>
        </p:grpSp>
        <p:pic>
          <p:nvPicPr>
            <p:cNvPr id="26" name="Picture 9" descr="C:\Users\patils1\Desktop\2013 Projects\CIS v2\CIS Slide Deck_Based on Book\Colored Graphics\Storage System.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25558" y="2924757"/>
              <a:ext cx="708594" cy="1508760"/>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TextBox 2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552574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Сценарий использования — блочная система хранения в облаке</a:t>
            </a:r>
          </a:p>
        </p:txBody>
      </p:sp>
      <p:sp>
        <p:nvSpPr>
          <p:cNvPr id="5" name="Subtitle 4"/>
          <p:cNvSpPr>
            <a:spLocks noGrp="1"/>
          </p:cNvSpPr>
          <p:nvPr>
            <p:ph type="subTitle" idx="1"/>
          </p:nvPr>
        </p:nvSpPr>
        <p:spPr>
          <a:xfrm>
            <a:off x="379413" y="1050133"/>
            <a:ext cx="8449733" cy="302417"/>
          </a:xfrm>
        </p:spPr>
        <p:txBody>
          <a:bodyPr/>
          <a:lstStyle/>
          <a:p>
            <a:r>
              <a:rPr lang="ru-RU" sz="1800" b="0" i="0" dirty="0">
                <a:solidFill>
                  <a:srgbClr val="000000"/>
                </a:solidFill>
                <a:latin typeface="Arial" pitchFamily="34" charset="0"/>
                <a:cs typeface="Arial" pitchFamily="34" charset="0"/>
              </a:rPr>
              <a:t>Хранение данных как услуга</a:t>
            </a:r>
          </a:p>
        </p:txBody>
      </p:sp>
      <p:grpSp>
        <p:nvGrpSpPr>
          <p:cNvPr id="34" name="Group 33"/>
          <p:cNvGrpSpPr/>
          <p:nvPr/>
        </p:nvGrpSpPr>
        <p:grpSpPr>
          <a:xfrm>
            <a:off x="2586317" y="1047750"/>
            <a:ext cx="4195483" cy="3977045"/>
            <a:chOff x="4741489" y="878675"/>
            <a:chExt cx="4195483" cy="3977045"/>
          </a:xfrm>
        </p:grpSpPr>
        <p:pic>
          <p:nvPicPr>
            <p:cNvPr id="7" name="Picture 2"/>
            <p:cNvPicPr>
              <a:picLocks noChangeAspect="1" noChangeArrowheads="1"/>
            </p:cNvPicPr>
            <p:nvPr>
              <p:custDataLst>
                <p:tags r:id="rId2"/>
              </p:custDataLst>
            </p:nvPr>
          </p:nvPicPr>
          <p:blipFill>
            <a:blip r:embed="rId15">
              <a:extLst>
                <a:ext uri="{28A0092B-C50C-407E-A947-70E740481C1C}">
                  <a14:useLocalDpi xmlns:a14="http://schemas.microsoft.com/office/drawing/2010/main" val="0"/>
                </a:ext>
              </a:extLst>
            </a:blip>
            <a:srcRect/>
            <a:stretch>
              <a:fillRect/>
            </a:stretch>
          </p:blipFill>
          <p:spPr bwMode="auto">
            <a:xfrm>
              <a:off x="4741489" y="1657350"/>
              <a:ext cx="4195483" cy="2194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1" descr="C:\Users\patils1\Desktop\2013 Projects\CIS v2\CIS Slide Deck_Based on Book\Colored Graphics\Virtual Machine with Application and OS.png"/>
            <p:cNvPicPr>
              <a:picLocks noChangeAspect="1" noChangeArrowheads="1"/>
            </p:cNvPicPr>
            <p:nvPr>
              <p:custDataLst>
                <p:tags r:id="rId3"/>
              </p:custDataLst>
            </p:nvPr>
          </p:nvPicPr>
          <p:blipFill>
            <a:blip r:embed="rId16">
              <a:extLst>
                <a:ext uri="{28A0092B-C50C-407E-A947-70E740481C1C}">
                  <a14:useLocalDpi xmlns:a14="http://schemas.microsoft.com/office/drawing/2010/main" val="0"/>
                </a:ext>
              </a:extLst>
            </a:blip>
            <a:srcRect/>
            <a:stretch>
              <a:fillRect/>
            </a:stretch>
          </p:blipFill>
          <p:spPr bwMode="auto">
            <a:xfrm>
              <a:off x="6200776" y="1430549"/>
              <a:ext cx="428402" cy="45360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9" descr="C:\Users\patils1\Desktop\2013 Projects\CIS v2\CIS Slide Deck_Based on Book\Colored Graphics\Storage System.png"/>
            <p:cNvPicPr>
              <a:picLocks noChangeAspect="1" noChangeArrowheads="1"/>
            </p:cNvPicPr>
            <p:nvPr>
              <p:custDataLst>
                <p:tags r:id="rId4"/>
              </p:custDataLst>
            </p:nvPr>
          </p:nvPicPr>
          <p:blipFill>
            <a:blip r:embed="rId17">
              <a:extLst>
                <a:ext uri="{28A0092B-C50C-407E-A947-70E740481C1C}">
                  <a14:useLocalDpi xmlns:a14="http://schemas.microsoft.com/office/drawing/2010/main" val="0"/>
                </a:ext>
              </a:extLst>
            </a:blip>
            <a:srcRect/>
            <a:stretch>
              <a:fillRect/>
            </a:stretch>
          </p:blipFill>
          <p:spPr bwMode="auto">
            <a:xfrm>
              <a:off x="6767386" y="2952750"/>
              <a:ext cx="708594" cy="150876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1" descr="C:\Users\patils1\Desktop\2013 Projects\CIS v2\CIS Slide Deck_Based on Book\Colored Graphics\Virtual Machine with Application and OS.png"/>
            <p:cNvPicPr>
              <a:picLocks noChangeAspect="1" noChangeArrowheads="1"/>
            </p:cNvPicPr>
            <p:nvPr>
              <p:custDataLst>
                <p:tags r:id="rId5"/>
              </p:custDataLst>
            </p:nvPr>
          </p:nvPicPr>
          <p:blipFill>
            <a:blip r:embed="rId16">
              <a:extLst>
                <a:ext uri="{28A0092B-C50C-407E-A947-70E740481C1C}">
                  <a14:useLocalDpi xmlns:a14="http://schemas.microsoft.com/office/drawing/2010/main" val="0"/>
                </a:ext>
              </a:extLst>
            </a:blip>
            <a:srcRect/>
            <a:stretch>
              <a:fillRect/>
            </a:stretch>
          </p:blipFill>
          <p:spPr bwMode="auto">
            <a:xfrm>
              <a:off x="6777796" y="1430549"/>
              <a:ext cx="428402" cy="45360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1" descr="C:\Users\patils1\Desktop\2013 Projects\CIS v2\CIS Slide Deck_Based on Book\Colored Graphics\Virtual Machine with Application and OS.png"/>
            <p:cNvPicPr>
              <a:picLocks noChangeAspect="1" noChangeArrowheads="1"/>
            </p:cNvPicPr>
            <p:nvPr>
              <p:custDataLst>
                <p:tags r:id="rId6"/>
              </p:custDataLst>
            </p:nvPr>
          </p:nvPicPr>
          <p:blipFill>
            <a:blip r:embed="rId16">
              <a:extLst>
                <a:ext uri="{28A0092B-C50C-407E-A947-70E740481C1C}">
                  <a14:useLocalDpi xmlns:a14="http://schemas.microsoft.com/office/drawing/2010/main" val="0"/>
                </a:ext>
              </a:extLst>
            </a:blip>
            <a:srcRect/>
            <a:stretch>
              <a:fillRect/>
            </a:stretch>
          </p:blipFill>
          <p:spPr bwMode="auto">
            <a:xfrm>
              <a:off x="7343776" y="1430549"/>
              <a:ext cx="428402" cy="453602"/>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Connector 14"/>
            <p:cNvCxnSpPr>
              <a:stCxn id="9" idx="2"/>
              <a:endCxn id="18" idx="0"/>
            </p:cNvCxnSpPr>
            <p:nvPr/>
          </p:nvCxnSpPr>
          <p:spPr>
            <a:xfrm>
              <a:off x="6991997" y="1884151"/>
              <a:ext cx="129686" cy="913151"/>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0" idx="2"/>
              <a:endCxn id="19" idx="0"/>
            </p:cNvCxnSpPr>
            <p:nvPr/>
          </p:nvCxnSpPr>
          <p:spPr>
            <a:xfrm>
              <a:off x="7557977" y="1884151"/>
              <a:ext cx="22177" cy="913151"/>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18" name="Picture 26" descr="C:\Users\patils1\Desktop\2013 Projects\CIS v2\CIS Slide Deck_Based on Book\Colored Graphics\LUN.png"/>
            <p:cNvPicPr>
              <a:picLocks noChangeAspect="1" noChangeArrowheads="1"/>
            </p:cNvPicPr>
            <p:nvPr>
              <p:custDataLst>
                <p:tags r:id="rId7"/>
              </p:custDataLst>
            </p:nvPr>
          </p:nvPicPr>
          <p:blipFill>
            <a:blip r:embed="rId18">
              <a:extLst>
                <a:ext uri="{28A0092B-C50C-407E-A947-70E740481C1C}">
                  <a14:useLocalDpi xmlns:a14="http://schemas.microsoft.com/office/drawing/2010/main" val="0"/>
                </a:ext>
              </a:extLst>
            </a:blip>
            <a:srcRect/>
            <a:stretch>
              <a:fillRect/>
            </a:stretch>
          </p:blipFill>
          <p:spPr bwMode="auto">
            <a:xfrm>
              <a:off x="6929659" y="2797302"/>
              <a:ext cx="384048" cy="38404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6" descr="C:\Users\patils1\Desktop\2013 Projects\CIS v2\CIS Slide Deck_Based on Book\Colored Graphics\LUN.png"/>
            <p:cNvPicPr>
              <a:picLocks noChangeAspect="1" noChangeArrowheads="1"/>
            </p:cNvPicPr>
            <p:nvPr>
              <p:custDataLst>
                <p:tags r:id="rId8"/>
              </p:custDataLst>
            </p:nvPr>
          </p:nvPicPr>
          <p:blipFill>
            <a:blip r:embed="rId18">
              <a:extLst>
                <a:ext uri="{28A0092B-C50C-407E-A947-70E740481C1C}">
                  <a14:useLocalDpi xmlns:a14="http://schemas.microsoft.com/office/drawing/2010/main" val="0"/>
                </a:ext>
              </a:extLst>
            </a:blip>
            <a:srcRect/>
            <a:stretch>
              <a:fillRect/>
            </a:stretch>
          </p:blipFill>
          <p:spPr bwMode="auto">
            <a:xfrm>
              <a:off x="7388130" y="2797302"/>
              <a:ext cx="384048" cy="384048"/>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p:cNvCxnSpPr>
              <a:stCxn id="8" idx="2"/>
              <a:endCxn id="23" idx="0"/>
            </p:cNvCxnSpPr>
            <p:nvPr/>
          </p:nvCxnSpPr>
          <p:spPr>
            <a:xfrm>
              <a:off x="6414977" y="1884151"/>
              <a:ext cx="246739" cy="913151"/>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23" name="Picture 26" descr="C:\Users\patils1\Desktop\2013 Projects\CIS v2\CIS Slide Deck_Based on Book\Colored Graphics\LUN.png"/>
            <p:cNvPicPr>
              <a:picLocks noChangeAspect="1" noChangeArrowheads="1"/>
            </p:cNvPicPr>
            <p:nvPr>
              <p:custDataLst>
                <p:tags r:id="rId9"/>
              </p:custDataLst>
            </p:nvPr>
          </p:nvPicPr>
          <p:blipFill>
            <a:blip r:embed="rId18">
              <a:extLst>
                <a:ext uri="{28A0092B-C50C-407E-A947-70E740481C1C}">
                  <a14:useLocalDpi xmlns:a14="http://schemas.microsoft.com/office/drawing/2010/main" val="0"/>
                </a:ext>
              </a:extLst>
            </a:blip>
            <a:srcRect/>
            <a:stretch>
              <a:fillRect/>
            </a:stretch>
          </p:blipFill>
          <p:spPr bwMode="auto">
            <a:xfrm>
              <a:off x="6469692" y="2797302"/>
              <a:ext cx="384048" cy="384048"/>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p:cNvSpPr txBox="1"/>
            <p:nvPr>
              <p:custDataLst>
                <p:tags r:id="rId10"/>
              </p:custDataLst>
            </p:nvPr>
          </p:nvSpPr>
          <p:spPr>
            <a:xfrm>
              <a:off x="4914900" y="2861304"/>
              <a:ext cx="1509601" cy="246221"/>
            </a:xfrm>
            <a:prstGeom prst="rect">
              <a:avLst/>
            </a:prstGeom>
            <a:noFill/>
          </p:spPr>
          <p:txBody>
            <a:bodyPr wrap="square" rtlCol="0">
              <a:spAutoFit/>
            </a:bodyPr>
            <a:lstStyle/>
            <a:p>
              <a:pPr algn="ctr"/>
              <a:r>
                <a:rPr lang="ru-RU" sz="1000" b="0" i="0" dirty="0">
                  <a:solidFill>
                    <a:srgbClr val="000000"/>
                  </a:solidFill>
                  <a:latin typeface="Arial" pitchFamily="34" charset="0"/>
                  <a:cs typeface="Arial" pitchFamily="34" charset="0"/>
                </a:rPr>
                <a:t>Тома блочной СХД</a:t>
              </a:r>
            </a:p>
          </p:txBody>
        </p:sp>
        <p:sp>
          <p:nvSpPr>
            <p:cNvPr id="29" name="Rounded Rectangle 28"/>
            <p:cNvSpPr/>
            <p:nvPr/>
          </p:nvSpPr>
          <p:spPr>
            <a:xfrm>
              <a:off x="6386401" y="2726055"/>
              <a:ext cx="1462199" cy="502920"/>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Arial" pitchFamily="34" charset="0"/>
                <a:cs typeface="Arial" pitchFamily="34" charset="0"/>
              </a:endParaRPr>
            </a:p>
          </p:txBody>
        </p:sp>
        <p:sp>
          <p:nvSpPr>
            <p:cNvPr id="30" name="TextBox 29"/>
            <p:cNvSpPr txBox="1"/>
            <p:nvPr>
              <p:custDataLst>
                <p:tags r:id="rId11"/>
              </p:custDataLst>
            </p:nvPr>
          </p:nvSpPr>
          <p:spPr>
            <a:xfrm>
              <a:off x="6411129" y="4455610"/>
              <a:ext cx="1437471" cy="400110"/>
            </a:xfrm>
            <a:prstGeom prst="rect">
              <a:avLst/>
            </a:prstGeom>
            <a:noFill/>
          </p:spPr>
          <p:txBody>
            <a:bodyPr wrap="square" rtlCol="0">
              <a:spAutoFit/>
            </a:bodyPr>
            <a:lstStyle/>
            <a:p>
              <a:pPr algn="ctr"/>
              <a:r>
                <a:rPr lang="ru-RU" sz="1000" b="0" i="0" dirty="0">
                  <a:solidFill>
                    <a:srgbClr val="000000"/>
                  </a:solidFill>
                  <a:latin typeface="Arial" pitchFamily="34" charset="0"/>
                  <a:cs typeface="Arial" pitchFamily="34" charset="0"/>
                </a:rPr>
                <a:t>Блочная система хранения</a:t>
              </a:r>
            </a:p>
          </p:txBody>
        </p:sp>
        <p:sp>
          <p:nvSpPr>
            <p:cNvPr id="32" name="Rounded Rectangle 31"/>
            <p:cNvSpPr/>
            <p:nvPr/>
          </p:nvSpPr>
          <p:spPr>
            <a:xfrm>
              <a:off x="6098905" y="1354666"/>
              <a:ext cx="1749695" cy="588433"/>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Arial" pitchFamily="34" charset="0"/>
                <a:cs typeface="Arial" pitchFamily="34" charset="0"/>
              </a:endParaRPr>
            </a:p>
          </p:txBody>
        </p:sp>
        <p:sp>
          <p:nvSpPr>
            <p:cNvPr id="33" name="TextBox 32"/>
            <p:cNvSpPr txBox="1"/>
            <p:nvPr>
              <p:custDataLst>
                <p:tags r:id="rId12"/>
              </p:custDataLst>
            </p:nvPr>
          </p:nvSpPr>
          <p:spPr>
            <a:xfrm>
              <a:off x="5841347" y="878675"/>
              <a:ext cx="2303089" cy="415498"/>
            </a:xfrm>
            <a:prstGeom prst="rect">
              <a:avLst/>
            </a:prstGeom>
            <a:noFill/>
          </p:spPr>
          <p:txBody>
            <a:bodyPr wrap="square" rtlCol="0">
              <a:spAutoFit/>
            </a:bodyPr>
            <a:lstStyle/>
            <a:p>
              <a:pPr algn="ctr"/>
              <a:r>
                <a:rPr lang="ru-RU" sz="1050" b="0" i="0" dirty="0">
                  <a:solidFill>
                    <a:srgbClr val="000000"/>
                  </a:solidFill>
                  <a:latin typeface="Arial" pitchFamily="34" charset="0"/>
                  <a:cs typeface="Arial" pitchFamily="34" charset="0"/>
                </a:rPr>
                <a:t>Экземпляры ВМ, на базе которых работают бизнес-приложения</a:t>
              </a:r>
            </a:p>
          </p:txBody>
        </p:sp>
      </p:grpSp>
      <p:sp>
        <p:nvSpPr>
          <p:cNvPr id="21" name="TextBox 20"/>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864285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3.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pPr>
              <a:defRPr/>
            </a:pPr>
            <a:r>
              <a:rPr lang="ru-RU" sz="2000" b="0" i="0" dirty="0">
                <a:solidFill>
                  <a:srgbClr val="000000"/>
                </a:solidFill>
                <a:latin typeface="Arial" pitchFamily="34" charset="0"/>
                <a:cs typeface="Arial" pitchFamily="34" charset="0"/>
              </a:rPr>
              <a:t>Многоуровневое хранение на уровне тома и элемента тома.</a:t>
            </a:r>
          </a:p>
          <a:p>
            <a:pPr>
              <a:defRPr/>
            </a:pPr>
            <a:r>
              <a:rPr lang="ru-RU" sz="2000" b="0" i="0" dirty="0">
                <a:solidFill>
                  <a:srgbClr val="000000"/>
                </a:solidFill>
                <a:latin typeface="Arial" pitchFamily="34" charset="0"/>
                <a:cs typeface="Arial" pitchFamily="34" charset="0"/>
              </a:rPr>
              <a:t>Многоуровневая кэш-память.</a:t>
            </a:r>
          </a:p>
          <a:p>
            <a:pPr>
              <a:defRPr/>
            </a:pPr>
            <a:r>
              <a:rPr lang="ru-RU" sz="2000" b="0" i="0" dirty="0">
                <a:solidFill>
                  <a:srgbClr val="000000"/>
                </a:solidFill>
                <a:latin typeface="Arial" pitchFamily="34" charset="0"/>
                <a:cs typeface="Arial" pitchFamily="34" charset="0"/>
              </a:rPr>
              <a:t>Серверное кэширование на основе флэш-памяти.</a:t>
            </a:r>
          </a:p>
          <a:p>
            <a:pPr>
              <a:defRPr/>
            </a:pPr>
            <a:r>
              <a:rPr lang="ru-RU" sz="2000" b="0" i="0" dirty="0">
                <a:solidFill>
                  <a:srgbClr val="000000"/>
                </a:solidFill>
                <a:latin typeface="Arial" pitchFamily="34" charset="0"/>
                <a:cs typeface="Arial" pitchFamily="34" charset="0"/>
              </a:rPr>
              <a:t>Сценарий использования блочной системы </a:t>
            </a:r>
            <a:r>
              <a:rPr lang="ru-RU" dirty="0">
                <a:solidFill>
                  <a:srgbClr val="000000"/>
                </a:solidFill>
                <a:latin typeface="Arial" pitchFamily="34" charset="0"/>
                <a:cs typeface="Arial" pitchFamily="34" charset="0"/>
              </a:rPr>
              <a:t>хранения.</a:t>
            </a:r>
            <a:endParaRPr lang="ru-RU" sz="2000" b="0" i="0" dirty="0">
              <a:solidFill>
                <a:srgbClr val="000000"/>
              </a:solidFill>
              <a:latin typeface="Arial" pitchFamily="34" charset="0"/>
              <a:cs typeface="Arial" pitchFamily="34" charset="0"/>
            </a:endParaRPr>
          </a:p>
          <a:p>
            <a:endParaRPr lang="en-US" dirty="0">
              <a:latin typeface="Arial" pitchFamily="34" charset="0"/>
              <a:cs typeface="Arial" pitchFamily="34" charset="0"/>
            </a:endParaRP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659658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Практическая реализация концепций</a:t>
            </a:r>
          </a:p>
        </p:txBody>
      </p:sp>
      <p:sp>
        <p:nvSpPr>
          <p:cNvPr id="5" name="Content Placeholder 4"/>
          <p:cNvSpPr>
            <a:spLocks noGrp="1"/>
          </p:cNvSpPr>
          <p:nvPr>
            <p:ph sz="quarter" idx="10"/>
          </p:nvPr>
        </p:nvSpPr>
        <p:spPr/>
        <p:txBody>
          <a:bodyPr/>
          <a:lstStyle/>
          <a:p>
            <a:pPr>
              <a:defRPr/>
            </a:pPr>
            <a:r>
              <a:rPr lang="ru-RU" sz="2000" b="0" i="0" dirty="0">
                <a:solidFill>
                  <a:srgbClr val="000000"/>
                </a:solidFill>
                <a:latin typeface="Arial" pitchFamily="34" charset="0"/>
                <a:cs typeface="Arial" pitchFamily="34" charset="0"/>
              </a:rPr>
              <a:t>EMC XtremIO</a:t>
            </a:r>
          </a:p>
          <a:p>
            <a:pPr>
              <a:defRPr/>
            </a:pPr>
            <a:r>
              <a:rPr lang="ru-RU" sz="2000" b="0" i="0" dirty="0">
                <a:solidFill>
                  <a:srgbClr val="000000"/>
                </a:solidFill>
                <a:latin typeface="Arial" pitchFamily="34" charset="0"/>
                <a:cs typeface="Arial" pitchFamily="34" charset="0"/>
              </a:rPr>
              <a:t>EMC VNX-F</a:t>
            </a:r>
          </a:p>
          <a:p>
            <a:pPr>
              <a:defRPr/>
            </a:pPr>
            <a:r>
              <a:rPr lang="ru-RU" sz="2000" b="0" i="0" dirty="0">
                <a:solidFill>
                  <a:srgbClr val="000000"/>
                </a:solidFill>
                <a:latin typeface="Arial" pitchFamily="34" charset="0"/>
                <a:cs typeface="Arial" pitchFamily="34" charset="0"/>
              </a:rPr>
              <a:t>EMC FAST VP</a:t>
            </a:r>
          </a:p>
          <a:p>
            <a:pPr>
              <a:defRPr/>
            </a:pPr>
            <a:r>
              <a:rPr lang="ru-RU" sz="2000" b="0" i="0" dirty="0">
                <a:solidFill>
                  <a:srgbClr val="000000"/>
                </a:solidFill>
                <a:latin typeface="Arial" pitchFamily="34" charset="0"/>
                <a:cs typeface="Arial" pitchFamily="34" charset="0"/>
              </a:rPr>
              <a:t>EMC XtremSF</a:t>
            </a:r>
          </a:p>
          <a:p>
            <a:pPr>
              <a:defRPr/>
            </a:pPr>
            <a:r>
              <a:rPr lang="ru-RU" sz="2000" b="0" i="0" dirty="0">
                <a:solidFill>
                  <a:srgbClr val="000000"/>
                </a:solidFill>
                <a:latin typeface="Arial" pitchFamily="34" charset="0"/>
                <a:cs typeface="Arial" pitchFamily="34" charset="0"/>
              </a:rPr>
              <a:t>EMC XtremCache</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1730171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EMC XtremIO, EMC VNX-F и EMC FAST VP</a:t>
            </a:r>
          </a:p>
        </p:txBody>
      </p:sp>
      <p:graphicFrame>
        <p:nvGraphicFramePr>
          <p:cNvPr id="5" name="Content Placeholder 4"/>
          <p:cNvGraphicFramePr>
            <a:graphicFrameLocks/>
          </p:cNvGraphicFramePr>
          <p:nvPr>
            <p:extLst>
              <p:ext uri="{D42A27DB-BD31-4B8C-83A1-F6EECF244321}">
                <p14:modId xmlns:p14="http://schemas.microsoft.com/office/powerpoint/2010/main" val="1963374135"/>
              </p:ext>
            </p:extLst>
          </p:nvPr>
        </p:nvGraphicFramePr>
        <p:xfrm>
          <a:off x="379413" y="951357"/>
          <a:ext cx="8369051" cy="3230118"/>
        </p:xfrm>
        <a:graphic>
          <a:graphicData uri="http://schemas.openxmlformats.org/drawingml/2006/table">
            <a:tbl>
              <a:tblPr firstRow="1" bandRow="1">
                <a:tableStyleId>{5C22544A-7EE6-4342-B048-85BDC9FD1C3A}</a:tableStyleId>
              </a:tblPr>
              <a:tblGrid>
                <a:gridCol w="2608411">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2664296">
                  <a:extLst>
                    <a:ext uri="{9D8B030D-6E8A-4147-A177-3AD203B41FA5}">
                      <a16:colId xmlns:a16="http://schemas.microsoft.com/office/drawing/2014/main" val="20002"/>
                    </a:ext>
                  </a:extLst>
                </a:gridCol>
                <a:gridCol w="216024">
                  <a:extLst>
                    <a:ext uri="{9D8B030D-6E8A-4147-A177-3AD203B41FA5}">
                      <a16:colId xmlns:a16="http://schemas.microsoft.com/office/drawing/2014/main" val="20003"/>
                    </a:ext>
                  </a:extLst>
                </a:gridCol>
                <a:gridCol w="2664296">
                  <a:extLst>
                    <a:ext uri="{9D8B030D-6E8A-4147-A177-3AD203B41FA5}">
                      <a16:colId xmlns:a16="http://schemas.microsoft.com/office/drawing/2014/main" val="20004"/>
                    </a:ext>
                  </a:extLst>
                </a:gridCol>
              </a:tblGrid>
              <a:tr h="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100" b="1" i="0" dirty="0">
                          <a:solidFill>
                            <a:srgbClr val="FFFFFF"/>
                          </a:solidFill>
                          <a:latin typeface="Arial" pitchFamily="34" charset="0"/>
                          <a:cs typeface="Arial" pitchFamily="34" charset="0"/>
                        </a:rPr>
                        <a:t>XtremIO</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100" b="1" kern="1200" dirty="0">
                        <a:latin typeface="Arial" pitchFamily="34" charset="0"/>
                        <a:cs typeface="Arial" pitchFamily="34" charset="0"/>
                      </a:endParaRP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100" b="1" i="0" dirty="0">
                          <a:solidFill>
                            <a:srgbClr val="FFFFFF"/>
                          </a:solidFill>
                          <a:latin typeface="Arial" pitchFamily="34" charset="0"/>
                          <a:cs typeface="Arial" pitchFamily="34" charset="0"/>
                        </a:rPr>
                        <a:t>VNX-F</a:t>
                      </a:r>
                    </a:p>
                  </a:txBody>
                  <a:tcPr/>
                </a:tc>
                <a:tc>
                  <a:txBody>
                    <a:bodyPr/>
                    <a:lstStyle/>
                    <a:p>
                      <a:endParaRPr lang="en-US" sz="1100" dirty="0">
                        <a:latin typeface="Arial" pitchFamily="34" charset="0"/>
                        <a:cs typeface="Arial" pitchFamily="34" charset="0"/>
                      </a:endParaRP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100" b="1" i="0" dirty="0">
                          <a:solidFill>
                            <a:srgbClr val="FFFFFF"/>
                          </a:solidFill>
                          <a:latin typeface="Arial" pitchFamily="34" charset="0"/>
                          <a:cs typeface="Arial" pitchFamily="34" charset="0"/>
                        </a:rPr>
                        <a:t>FAST VP</a:t>
                      </a:r>
                    </a:p>
                  </a:txBody>
                  <a:tcPr/>
                </a:tc>
                <a:extLst>
                  <a:ext uri="{0D108BD9-81ED-4DB2-BD59-A6C34878D82A}">
                    <a16:rowId xmlns:a16="http://schemas.microsoft.com/office/drawing/2014/main" val="10000"/>
                  </a:ext>
                </a:extLst>
              </a:tr>
              <a:tr h="278330">
                <a:tc>
                  <a:txBody>
                    <a:bodyPr/>
                    <a:lstStyle/>
                    <a:p>
                      <a:pPr marL="171450" lvl="1" indent="-171450" algn="l" defTabSz="800100">
                        <a:lnSpc>
                          <a:spcPct val="100000"/>
                        </a:lnSpc>
                        <a:spcBef>
                          <a:spcPts val="1200"/>
                        </a:spcBef>
                        <a:spcAft>
                          <a:spcPct val="15000"/>
                        </a:spcAft>
                        <a:buChar char="••"/>
                      </a:pPr>
                      <a:r>
                        <a:rPr lang="ru-RU" sz="1100" b="0" i="0" dirty="0">
                          <a:solidFill>
                            <a:srgbClr val="000000"/>
                          </a:solidFill>
                          <a:latin typeface="Arial" pitchFamily="34" charset="0"/>
                          <a:cs typeface="Arial" pitchFamily="34" charset="0"/>
                        </a:rPr>
                        <a:t>Горизонтально масштабируемая блочная корпоративная система хранения данных на твердотельных дисках</a:t>
                      </a:r>
                    </a:p>
                    <a:p>
                      <a:pPr marL="171450" lvl="1" indent="-171450" algn="l" defTabSz="800100">
                        <a:lnSpc>
                          <a:spcPct val="100000"/>
                        </a:lnSpc>
                        <a:spcBef>
                          <a:spcPts val="1200"/>
                        </a:spcBef>
                        <a:spcAft>
                          <a:spcPct val="15000"/>
                        </a:spcAft>
                        <a:buChar char="••"/>
                      </a:pPr>
                      <a:r>
                        <a:rPr lang="ru-RU" sz="1100" b="0" i="0" dirty="0">
                          <a:solidFill>
                            <a:srgbClr val="000000"/>
                          </a:solidFill>
                          <a:latin typeface="Arial" pitchFamily="34" charset="0"/>
                          <a:cs typeface="Arial" pitchFamily="34" charset="0"/>
                        </a:rPr>
                        <a:t>Использует кластерную архитектуру для наращивания необходимых уровней емкости и производительности</a:t>
                      </a:r>
                    </a:p>
                    <a:p>
                      <a:pPr marL="171450" lvl="1" indent="-171450" algn="l" defTabSz="800100">
                        <a:lnSpc>
                          <a:spcPct val="100000"/>
                        </a:lnSpc>
                        <a:spcBef>
                          <a:spcPts val="1200"/>
                        </a:spcBef>
                        <a:spcAft>
                          <a:spcPct val="15000"/>
                        </a:spcAft>
                        <a:buChar char="••"/>
                      </a:pPr>
                      <a:r>
                        <a:rPr lang="ru-RU" sz="1100" b="0" i="0" dirty="0">
                          <a:solidFill>
                            <a:srgbClr val="000000"/>
                          </a:solidFill>
                          <a:latin typeface="Arial" pitchFamily="34" charset="0"/>
                          <a:cs typeface="Arial" pitchFamily="34" charset="0"/>
                        </a:rPr>
                        <a:t>Производительная ОС XIOS управляет кластером системы хранения</a:t>
                      </a:r>
                    </a:p>
                    <a:p>
                      <a:pPr marL="171450" lvl="1" indent="-171450" algn="l" defTabSz="800100">
                        <a:lnSpc>
                          <a:spcPct val="100000"/>
                        </a:lnSpc>
                        <a:spcBef>
                          <a:spcPts val="1200"/>
                        </a:spcBef>
                        <a:spcAft>
                          <a:spcPct val="15000"/>
                        </a:spcAft>
                        <a:buChar char="••"/>
                      </a:pPr>
                      <a:r>
                        <a:rPr lang="ru-RU" sz="1100" b="0" i="0" dirty="0">
                          <a:solidFill>
                            <a:srgbClr val="000000"/>
                          </a:solidFill>
                          <a:latin typeface="Arial" pitchFamily="34" charset="0"/>
                          <a:cs typeface="Arial" pitchFamily="34" charset="0"/>
                        </a:rPr>
                        <a:t>Упрощенное и эффективное выделение ресурсов и управление</a:t>
                      </a:r>
                      <a:endParaRPr lang="ru-RU" sz="1200" b="0" i="0" dirty="0">
                        <a:solidFill>
                          <a:srgbClr val="000000"/>
                        </a:solidFill>
                        <a:latin typeface="Arial" pitchFamily="34" charset="0"/>
                        <a:cs typeface="Arial" pitchFamily="34" charset="0"/>
                      </a:endParaRPr>
                    </a:p>
                  </a:txBody>
                  <a:tcPr>
                    <a:solidFill>
                      <a:srgbClr val="BABCBE"/>
                    </a:solidFill>
                  </a:tcPr>
                </a:tc>
                <a:tc>
                  <a:txBody>
                    <a:bodyPr/>
                    <a:lstStyle/>
                    <a:p>
                      <a:pPr marL="742950" lvl="2" indent="-285750" algn="l" defTabSz="800100">
                        <a:lnSpc>
                          <a:spcPct val="90000"/>
                        </a:lnSpc>
                        <a:spcBef>
                          <a:spcPct val="0"/>
                        </a:spcBef>
                        <a:spcAft>
                          <a:spcPct val="15000"/>
                        </a:spcAft>
                        <a:buFont typeface="Wingdings" panose="05000000000000000000" pitchFamily="2" charset="2"/>
                        <a:buChar char="§"/>
                      </a:pPr>
                      <a:endParaRPr lang="en-US" sz="1100" kern="1200" dirty="0">
                        <a:latin typeface="Arial" pitchFamily="34" charset="0"/>
                        <a:cs typeface="Arial" pitchFamily="34" charset="0"/>
                      </a:endParaRPr>
                    </a:p>
                  </a:txBody>
                  <a:tcPr>
                    <a:noFill/>
                  </a:tcPr>
                </a:tc>
                <a:tc>
                  <a:txBody>
                    <a:bodyPr/>
                    <a:lstStyle/>
                    <a:p>
                      <a:pPr marL="171450" lvl="1" indent="-171450" algn="l" defTabSz="800100">
                        <a:lnSpc>
                          <a:spcPct val="100000"/>
                        </a:lnSpc>
                        <a:spcBef>
                          <a:spcPts val="1200"/>
                        </a:spcBef>
                        <a:spcAft>
                          <a:spcPct val="15000"/>
                        </a:spcAft>
                        <a:buChar char="••"/>
                      </a:pPr>
                      <a:r>
                        <a:rPr lang="ru-RU" sz="1100" b="0" i="0" dirty="0">
                          <a:solidFill>
                            <a:srgbClr val="000000"/>
                          </a:solidFill>
                          <a:latin typeface="Arial" pitchFamily="34" charset="0"/>
                          <a:cs typeface="Arial" pitchFamily="34" charset="0"/>
                        </a:rPr>
                        <a:t>Блочная система хранения с поддержкой только твердотельных дисков</a:t>
                      </a:r>
                    </a:p>
                    <a:p>
                      <a:pPr marL="171450" lvl="1" indent="-171450" algn="l" defTabSz="800100">
                        <a:lnSpc>
                          <a:spcPct val="100000"/>
                        </a:lnSpc>
                        <a:spcBef>
                          <a:spcPts val="1200"/>
                        </a:spcBef>
                        <a:spcAft>
                          <a:spcPct val="15000"/>
                        </a:spcAft>
                        <a:buChar char="••"/>
                      </a:pPr>
                      <a:r>
                        <a:rPr lang="ru-RU" sz="1100" b="0" i="0" dirty="0">
                          <a:solidFill>
                            <a:srgbClr val="000000"/>
                          </a:solidFill>
                          <a:latin typeface="Arial" pitchFamily="34" charset="0"/>
                          <a:cs typeface="Arial" pitchFamily="34" charset="0"/>
                        </a:rPr>
                        <a:t>Cтабильная производительность и малые задержки</a:t>
                      </a:r>
                    </a:p>
                    <a:p>
                      <a:pPr marL="171450" lvl="1" indent="-171450" algn="l" defTabSz="800100">
                        <a:lnSpc>
                          <a:spcPct val="100000"/>
                        </a:lnSpc>
                        <a:spcBef>
                          <a:spcPts val="1200"/>
                        </a:spcBef>
                        <a:spcAft>
                          <a:spcPct val="15000"/>
                        </a:spcAft>
                        <a:buChar char="••"/>
                      </a:pPr>
                      <a:r>
                        <a:rPr lang="ru-RU" sz="1100" b="0" i="0" dirty="0">
                          <a:solidFill>
                            <a:srgbClr val="000000"/>
                          </a:solidFill>
                          <a:latin typeface="Arial" pitchFamily="34" charset="0"/>
                          <a:cs typeface="Arial" pitchFamily="34" charset="0"/>
                        </a:rPr>
                        <a:t>Поддерживает блочные протоколы FC, FCoE и iSCSI</a:t>
                      </a:r>
                    </a:p>
                  </a:txBody>
                  <a:tcPr>
                    <a:solidFill>
                      <a:srgbClr val="BABCBE"/>
                    </a:solidFill>
                  </a:tcPr>
                </a:tc>
                <a:tc>
                  <a:txBody>
                    <a:bodyPr/>
                    <a:lstStyle/>
                    <a:p>
                      <a:endParaRPr lang="en-US" sz="1200" dirty="0">
                        <a:latin typeface="Arial" pitchFamily="34" charset="0"/>
                        <a:cs typeface="Arial" pitchFamily="34" charset="0"/>
                      </a:endParaRPr>
                    </a:p>
                  </a:txBody>
                  <a:tcPr>
                    <a:noFill/>
                  </a:tcPr>
                </a:tc>
                <a:tc>
                  <a:txBody>
                    <a:bodyPr/>
                    <a:lstStyle/>
                    <a:p>
                      <a:pPr marL="171450" lvl="1" indent="-171450" algn="l" defTabSz="800100">
                        <a:lnSpc>
                          <a:spcPct val="100000"/>
                        </a:lnSpc>
                        <a:spcBef>
                          <a:spcPts val="1200"/>
                        </a:spcBef>
                        <a:spcAft>
                          <a:spcPct val="15000"/>
                        </a:spcAft>
                        <a:buChar char="••"/>
                      </a:pPr>
                      <a:r>
                        <a:rPr lang="ru-RU" sz="1100" b="0" i="0" dirty="0">
                          <a:solidFill>
                            <a:srgbClr val="000000"/>
                          </a:solidFill>
                          <a:latin typeface="Arial" pitchFamily="34" charset="0"/>
                          <a:cs typeface="Arial" pitchFamily="34" charset="0"/>
                        </a:rPr>
                        <a:t>Выполняет многоуровневое хранение данных на уровне элементов тома</a:t>
                      </a:r>
                    </a:p>
                    <a:p>
                      <a:pPr marL="171450" lvl="1" indent="-171450" algn="l" defTabSz="800100">
                        <a:lnSpc>
                          <a:spcPct val="100000"/>
                        </a:lnSpc>
                        <a:spcBef>
                          <a:spcPts val="1200"/>
                        </a:spcBef>
                        <a:spcAft>
                          <a:spcPct val="15000"/>
                        </a:spcAft>
                        <a:buChar char="••"/>
                      </a:pPr>
                      <a:r>
                        <a:rPr lang="ru-RU" sz="1100" b="0" i="0" dirty="0">
                          <a:solidFill>
                            <a:srgbClr val="000000"/>
                          </a:solidFill>
                          <a:latin typeface="Arial" pitchFamily="34" charset="0"/>
                          <a:cs typeface="Arial" pitchFamily="34" charset="0"/>
                        </a:rPr>
                        <a:t>Перемещение данных между уровнями определяется пользовательскими правилами</a:t>
                      </a:r>
                    </a:p>
                    <a:p>
                      <a:pPr marL="171450" lvl="1" indent="-171450" algn="l" defTabSz="800100">
                        <a:lnSpc>
                          <a:spcPct val="100000"/>
                        </a:lnSpc>
                        <a:spcBef>
                          <a:spcPts val="1200"/>
                        </a:spcBef>
                        <a:spcAft>
                          <a:spcPct val="15000"/>
                        </a:spcAft>
                        <a:buChar char="••"/>
                      </a:pPr>
                      <a:r>
                        <a:rPr lang="ru-RU" sz="1100" b="0" i="0" dirty="0">
                          <a:solidFill>
                            <a:srgbClr val="000000"/>
                          </a:solidFill>
                          <a:latin typeface="Arial" pitchFamily="34" charset="0"/>
                          <a:cs typeface="Arial" pitchFamily="34" charset="0"/>
                        </a:rPr>
                        <a:t>Оптимизирует производительность и затраты</a:t>
                      </a:r>
                    </a:p>
                    <a:p>
                      <a:pPr marL="171450" lvl="1" indent="-171450" algn="l" defTabSz="800100">
                        <a:lnSpc>
                          <a:spcPct val="100000"/>
                        </a:lnSpc>
                        <a:spcBef>
                          <a:spcPts val="1200"/>
                        </a:spcBef>
                        <a:spcAft>
                          <a:spcPct val="15000"/>
                        </a:spcAft>
                        <a:buChar char="••"/>
                      </a:pPr>
                      <a:r>
                        <a:rPr lang="ru-RU" sz="1100" b="0" i="0" dirty="0">
                          <a:solidFill>
                            <a:srgbClr val="000000"/>
                          </a:solidFill>
                          <a:latin typeface="Arial" pitchFamily="34" charset="0"/>
                          <a:cs typeface="Arial" pitchFamily="34" charset="0"/>
                        </a:rPr>
                        <a:t>Повышает эффективность хранения данных </a:t>
                      </a:r>
                    </a:p>
                  </a:txBody>
                  <a:tcPr>
                    <a:solidFill>
                      <a:srgbClr val="BABCBE"/>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9970356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EMC XtremSF и EMC XtremCache.</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1024225440"/>
              </p:ext>
            </p:extLst>
          </p:nvPr>
        </p:nvGraphicFramePr>
        <p:xfrm>
          <a:off x="379413" y="990600"/>
          <a:ext cx="8458200" cy="2952750"/>
        </p:xfrm>
        <a:graphic>
          <a:graphicData uri="http://schemas.openxmlformats.org/drawingml/2006/table">
            <a:tbl>
              <a:tblPr firstRow="1" bandRow="1">
                <a:tableStyleId>{5C22544A-7EE6-4342-B048-85BDC9FD1C3A}</a:tableStyleId>
              </a:tblPr>
              <a:tblGrid>
                <a:gridCol w="4120579">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4121597">
                  <a:extLst>
                    <a:ext uri="{9D8B030D-6E8A-4147-A177-3AD203B41FA5}">
                      <a16:colId xmlns:a16="http://schemas.microsoft.com/office/drawing/2014/main" val="20002"/>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600" b="1" i="0" dirty="0">
                          <a:solidFill>
                            <a:srgbClr val="FFFFFF"/>
                          </a:solidFill>
                          <a:latin typeface="Arial" pitchFamily="34" charset="0"/>
                          <a:cs typeface="Arial" pitchFamily="34" charset="0"/>
                        </a:rPr>
                        <a:t>XtremSF</a:t>
                      </a:r>
                    </a:p>
                  </a:txBody>
                  <a:tcPr/>
                </a:tc>
                <a:tc>
                  <a:txBody>
                    <a:bodyPr/>
                    <a:lstStyle/>
                    <a:p>
                      <a:endParaRPr lang="en-US" sz="1600" dirty="0">
                        <a:latin typeface="Arial" pitchFamily="34" charset="0"/>
                        <a:cs typeface="Arial" pitchFamily="34" charset="0"/>
                      </a:endParaRP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600" b="1" i="0" dirty="0">
                          <a:solidFill>
                            <a:srgbClr val="FFFFFF"/>
                          </a:solidFill>
                          <a:latin typeface="Arial" pitchFamily="34" charset="0"/>
                          <a:cs typeface="Arial" pitchFamily="34" charset="0"/>
                        </a:rPr>
                        <a:t>XtremCache</a:t>
                      </a:r>
                    </a:p>
                  </a:txBody>
                  <a:tcPr/>
                </a:tc>
                <a:extLst>
                  <a:ext uri="{0D108BD9-81ED-4DB2-BD59-A6C34878D82A}">
                    <a16:rowId xmlns:a16="http://schemas.microsoft.com/office/drawing/2014/main" val="10000"/>
                  </a:ext>
                </a:extLst>
              </a:tr>
              <a:tr h="2581910">
                <a:tc>
                  <a:txBody>
                    <a:bodyPr/>
                    <a:lstStyle/>
                    <a:p>
                      <a:pPr marL="171450" lvl="1" indent="-171450" algn="l" defTabSz="800100">
                        <a:lnSpc>
                          <a:spcPct val="100000"/>
                        </a:lnSpc>
                        <a:spcBef>
                          <a:spcPts val="1200"/>
                        </a:spcBef>
                        <a:spcAft>
                          <a:spcPct val="15000"/>
                        </a:spcAft>
                        <a:buChar char="••"/>
                      </a:pPr>
                      <a:r>
                        <a:rPr lang="ru-RU" sz="1600" b="0" i="0" dirty="0">
                          <a:solidFill>
                            <a:srgbClr val="000000"/>
                          </a:solidFill>
                          <a:latin typeface="Arial" pitchFamily="34" charset="0"/>
                          <a:cs typeface="Arial" pitchFamily="34" charset="0"/>
                        </a:rPr>
                        <a:t>Серверная кэш-память на основе флэш-технологии</a:t>
                      </a:r>
                    </a:p>
                    <a:p>
                      <a:pPr marL="171450" lvl="1" indent="-171450" algn="l" defTabSz="800100">
                        <a:lnSpc>
                          <a:spcPct val="100000"/>
                        </a:lnSpc>
                        <a:spcBef>
                          <a:spcPts val="1200"/>
                        </a:spcBef>
                        <a:spcAft>
                          <a:spcPct val="15000"/>
                        </a:spcAft>
                        <a:buChar char="••"/>
                      </a:pPr>
                      <a:r>
                        <a:rPr lang="ru-RU" sz="1600" b="0" i="0" dirty="0">
                          <a:solidFill>
                            <a:srgbClr val="000000"/>
                          </a:solidFill>
                          <a:latin typeface="Arial" pitchFamily="34" charset="0"/>
                          <a:cs typeface="Arial" pitchFamily="34" charset="0"/>
                        </a:rPr>
                        <a:t>Флэш-карта PCIe развертывается в вычислительной системе для улучшения производительности</a:t>
                      </a:r>
                    </a:p>
                  </a:txBody>
                  <a:tcPr>
                    <a:solidFill>
                      <a:srgbClr val="BABCBE"/>
                    </a:solidFill>
                  </a:tcPr>
                </a:tc>
                <a:tc>
                  <a:txBody>
                    <a:bodyPr/>
                    <a:lstStyle/>
                    <a:p>
                      <a:endParaRPr lang="en-US" sz="1600" dirty="0">
                        <a:latin typeface="Arial" pitchFamily="34" charset="0"/>
                        <a:cs typeface="Arial" pitchFamily="34" charset="0"/>
                      </a:endParaRPr>
                    </a:p>
                  </a:txBody>
                  <a:tcPr>
                    <a:noFill/>
                  </a:tcPr>
                </a:tc>
                <a:tc>
                  <a:txBody>
                    <a:bodyPr/>
                    <a:lstStyle/>
                    <a:p>
                      <a:pPr marL="171450" lvl="1" indent="-171450" algn="l" defTabSz="800100">
                        <a:lnSpc>
                          <a:spcPct val="100000"/>
                        </a:lnSpc>
                        <a:spcBef>
                          <a:spcPts val="1200"/>
                        </a:spcBef>
                        <a:spcAft>
                          <a:spcPct val="15000"/>
                        </a:spcAft>
                        <a:buChar char="••"/>
                      </a:pPr>
                      <a:r>
                        <a:rPr lang="ru-RU" sz="1600" b="0" i="0" dirty="0">
                          <a:solidFill>
                            <a:srgbClr val="000000"/>
                          </a:solidFill>
                          <a:latin typeface="Arial" pitchFamily="34" charset="0"/>
                          <a:cs typeface="Arial" pitchFamily="34" charset="0"/>
                        </a:rPr>
                        <a:t>Программное обеспечение для интеллектуального кэширования</a:t>
                      </a:r>
                    </a:p>
                    <a:p>
                      <a:pPr marL="171450" lvl="1" indent="-171450" algn="l" defTabSz="800100">
                        <a:lnSpc>
                          <a:spcPct val="100000"/>
                        </a:lnSpc>
                        <a:spcBef>
                          <a:spcPts val="1200"/>
                        </a:spcBef>
                        <a:spcAft>
                          <a:spcPct val="15000"/>
                        </a:spcAft>
                        <a:buChar char="••"/>
                      </a:pPr>
                      <a:r>
                        <a:rPr lang="ru-RU" sz="1600" b="0" i="0" dirty="0">
                          <a:solidFill>
                            <a:srgbClr val="000000"/>
                          </a:solidFill>
                          <a:latin typeface="Arial" pitchFamily="34" charset="0"/>
                          <a:cs typeface="Arial" pitchFamily="34" charset="0"/>
                        </a:rPr>
                        <a:t>Использует EMC XtremSF для сокращения задержки</a:t>
                      </a:r>
                    </a:p>
                    <a:p>
                      <a:pPr marL="171450" lvl="1" indent="-171450" algn="l" defTabSz="800100">
                        <a:lnSpc>
                          <a:spcPct val="100000"/>
                        </a:lnSpc>
                        <a:spcBef>
                          <a:spcPts val="1200"/>
                        </a:spcBef>
                        <a:spcAft>
                          <a:spcPct val="15000"/>
                        </a:spcAft>
                        <a:buChar char="••"/>
                      </a:pPr>
                      <a:r>
                        <a:rPr lang="ru-RU" sz="1600" b="0" i="0" dirty="0">
                          <a:solidFill>
                            <a:srgbClr val="000000"/>
                          </a:solidFill>
                          <a:latin typeface="Arial" pitchFamily="34" charset="0"/>
                          <a:cs typeface="Arial" pitchFamily="34" charset="0"/>
                        </a:rPr>
                        <a:t>XtremCache ускоряет операции чтения и обеспечивает защиту данных с помощью кэш-памяти со сквозной записью</a:t>
                      </a:r>
                    </a:p>
                  </a:txBody>
                  <a:tcPr>
                    <a:solidFill>
                      <a:srgbClr val="BABCBE"/>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8674049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Модуль 5. Резюме</a:t>
            </a:r>
          </a:p>
        </p:txBody>
      </p:sp>
      <p:sp>
        <p:nvSpPr>
          <p:cNvPr id="7" name="Content Placeholder 6"/>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модуле были рассмотрены следующие ключевые вопросы.</a:t>
            </a:r>
          </a:p>
          <a:p>
            <a:pPr>
              <a:defRPr/>
            </a:pPr>
            <a:r>
              <a:rPr lang="ru-RU" sz="2000" b="0" i="0" dirty="0">
                <a:solidFill>
                  <a:srgbClr val="000000"/>
                </a:solidFill>
                <a:latin typeface="Arial" pitchFamily="34" charset="0"/>
                <a:cs typeface="Arial" pitchFamily="34" charset="0"/>
              </a:rPr>
              <a:t>Компоненты блочной системы хранения</a:t>
            </a:r>
          </a:p>
          <a:p>
            <a:pPr>
              <a:defRPr/>
            </a:pPr>
            <a:r>
              <a:rPr lang="ru-RU" sz="2000" b="0" i="0" dirty="0">
                <a:solidFill>
                  <a:srgbClr val="000000"/>
                </a:solidFill>
                <a:latin typeface="Arial" pitchFamily="34" charset="0"/>
                <a:cs typeface="Arial" pitchFamily="34" charset="0"/>
              </a:rPr>
              <a:t>Традиционное и виртуальное выделение ресурсов хранения</a:t>
            </a:r>
          </a:p>
          <a:p>
            <a:pPr>
              <a:defRPr/>
            </a:pPr>
            <a:r>
              <a:rPr lang="ru-RU" sz="2000" b="0" i="0" dirty="0">
                <a:solidFill>
                  <a:srgbClr val="000000"/>
                </a:solidFill>
                <a:latin typeface="Arial" pitchFamily="34" charset="0"/>
                <a:cs typeface="Arial" pitchFamily="34" charset="0"/>
              </a:rPr>
              <a:t>Механизмы многоуровневого хранения</a:t>
            </a:r>
          </a:p>
          <a:p>
            <a:endParaRPr lang="en-US" dirty="0">
              <a:latin typeface="Arial" pitchFamily="34" charset="0"/>
              <a:cs typeface="Arial" pitchFamily="34" charset="0"/>
            </a:endParaRP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011683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blipFill>
          <a:blip r:embed="rId7"/>
          <a:stretch>
            <a:fillRect/>
          </a:stretch>
        </a:blip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ru-RU"/>
              <a:t>ISM v3 модуль 5: блочная система хранения — тест</a:t>
            </a:r>
            <a:endParaRPr lang="en-US"/>
          </a:p>
        </p:txBody>
      </p:sp>
      <p:sp>
        <p:nvSpPr>
          <p:cNvPr id="3" name="Slide Number Placeholder 2" hidden="1"/>
          <p:cNvSpPr>
            <a:spLocks noGrp="1"/>
          </p:cNvSpPr>
          <p:nvPr>
            <p:ph type="sldNum" sz="quarter" idx="10"/>
          </p:nvPr>
        </p:nvSpPr>
        <p:spPr/>
        <p:txBody>
          <a:bodyPr/>
          <a:lstStyle/>
          <a:p>
            <a:fld id="{B7FCCBDA-9680-4DD4-B999-2854C48CD6AB}" type="slidenum">
              <a:rPr lang="en-US" smtClean="0">
                <a:solidFill>
                  <a:srgbClr val="000000">
                    <a:tint val="75000"/>
                  </a:srgbClr>
                </a:solidFill>
              </a:rPr>
              <a:pPr/>
              <a:t>36</a:t>
            </a:fld>
            <a:endParaRPr lang="en-US" dirty="0">
              <a:solidFill>
                <a:srgbClr val="000000">
                  <a:tint val="75000"/>
                </a:srgbClr>
              </a:solidFill>
            </a:endParaRPr>
          </a:p>
        </p:txBody>
      </p:sp>
      <p:sp>
        <p:nvSpPr>
          <p:cNvPr id="18" name="TextBox 1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36</a:t>
            </a:fld>
            <a:endParaRPr lang="ru-RU" dirty="0">
              <a:solidFill>
                <a:schemeClr val="bg2"/>
              </a:solidFill>
              <a:latin typeface="Arial"/>
            </a:endParaRPr>
          </a:p>
        </p:txBody>
      </p:sp>
      <p:pic>
        <p:nvPicPr>
          <p:cNvPr id="14" name="Picture 13" descr="~t134243.emf"/>
          <p:cNvPicPr>
            <a:picLocks/>
          </p:cNvPicPr>
          <p:nvPr>
            <p:custDataLst>
              <p:tags r:id="rId2"/>
            </p:custDataLst>
          </p:nvPr>
        </p:nvPicPr>
        <p:blipFill>
          <a:blip r:embed="rId8"/>
          <a:stretch>
            <a:fillRect/>
          </a:stretch>
        </p:blipFill>
        <p:spPr>
          <a:xfrm>
            <a:off x="660400" y="2362200"/>
            <a:ext cx="5740400" cy="2346424"/>
          </a:xfrm>
          <a:prstGeom prst="rect">
            <a:avLst/>
          </a:prstGeom>
        </p:spPr>
      </p:pic>
      <p:pic>
        <p:nvPicPr>
          <p:cNvPr id="15" name="Picture 14" descr="qmb.png"/>
          <p:cNvPicPr>
            <a:picLocks/>
          </p:cNvPicPr>
          <p:nvPr>
            <p:custDataLst>
              <p:tags r:id="rId3"/>
            </p:custDataLst>
          </p:nvPr>
        </p:nvPicPr>
        <p:blipFill>
          <a:blip r:embed="rId9"/>
          <a:stretch>
            <a:fillRect/>
          </a:stretch>
        </p:blipFill>
        <p:spPr>
          <a:xfrm>
            <a:off x="5842000" y="3030423"/>
            <a:ext cx="2560320" cy="614476"/>
          </a:xfrm>
          <a:prstGeom prst="rect">
            <a:avLst/>
          </a:prstGeom>
          <a:noFill/>
          <a:ln>
            <a:noFill/>
          </a:ln>
        </p:spPr>
        <p:style>
          <a:lnRef idx="2">
            <a:schemeClr val="accent1"/>
          </a:lnRef>
          <a:fillRef idx="1">
            <a:schemeClr val="lt1"/>
          </a:fillRef>
          <a:effectRef idx="0">
            <a:schemeClr val="accent1"/>
          </a:effectRef>
          <a:fontRef idx="minor">
            <a:schemeClr val="dk1"/>
          </a:fontRef>
        </p:style>
      </p:pic>
      <p:pic>
        <p:nvPicPr>
          <p:cNvPr id="16" name="Picture 15" descr="enga.png"/>
          <p:cNvPicPr>
            <a:picLocks/>
          </p:cNvPicPr>
          <p:nvPr>
            <p:custDataLst>
              <p:tags r:id="rId4"/>
            </p:custDataLst>
          </p:nvPr>
        </p:nvPicPr>
        <p:blipFill>
          <a:blip r:embed="rId10"/>
          <a:stretch>
            <a:fillRect/>
          </a:stretch>
        </p:blipFill>
        <p:spPr>
          <a:xfrm>
            <a:off x="5842000" y="3873500"/>
            <a:ext cx="2560320" cy="614476"/>
          </a:xfrm>
          <a:prstGeom prst="rect">
            <a:avLst/>
          </a:prstGeom>
          <a:noFill/>
          <a:ln>
            <a:noFill/>
          </a:ln>
        </p:spPr>
        <p:style>
          <a:lnRef idx="2">
            <a:schemeClr val="accent1"/>
          </a:lnRef>
          <a:fillRef idx="1">
            <a:schemeClr val="lt1"/>
          </a:fillRef>
          <a:effectRef idx="0">
            <a:schemeClr val="accent1"/>
          </a:effectRef>
          <a:fontRef idx="minor">
            <a:schemeClr val="dk1"/>
          </a:fontRef>
        </p:style>
      </p:pic>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Отзыв о курсе </a:t>
            </a:r>
          </a:p>
        </p:txBody>
      </p:sp>
      <p:pic>
        <p:nvPicPr>
          <p:cNvPr id="5" name="Picture 10"/>
          <p:cNvPicPr>
            <a:picLocks noGrp="1" noChangeAspect="1" noChangeArrowheads="1"/>
          </p:cNvPicPr>
          <p:nvPr>
            <p:ph sz="quarter" idx="10"/>
          </p:nvPr>
        </p:nvPicPr>
        <p:blipFill>
          <a:blip r:embed="rId4" cstate="print">
            <a:lum bright="70000" contrast="-70000"/>
          </a:blip>
          <a:srcRect/>
          <a:stretch>
            <a:fillRect/>
          </a:stretch>
        </p:blipFill>
        <p:spPr bwMode="auto">
          <a:xfrm>
            <a:off x="1981200" y="1047750"/>
            <a:ext cx="3754579" cy="2514600"/>
          </a:xfrm>
          <a:prstGeom prst="rect">
            <a:avLst/>
          </a:prstGeom>
          <a:noFill/>
          <a:ln w="28575" algn="ctr">
            <a:noFill/>
            <a:miter lim="800000"/>
            <a:headEnd/>
            <a:tailEnd/>
          </a:ln>
        </p:spPr>
      </p:pic>
      <p:sp>
        <p:nvSpPr>
          <p:cNvPr id="6" name="Rounded Rectangle 7">
            <a:hlinkClick r:id="rId5"/>
          </p:cNvPr>
          <p:cNvSpPr/>
          <p:nvPr/>
        </p:nvSpPr>
        <p:spPr bwMode="auto">
          <a:xfrm>
            <a:off x="4876800" y="3257550"/>
            <a:ext cx="2386013" cy="367904"/>
          </a:xfrm>
          <a:prstGeom prst="roundRect">
            <a:avLst/>
          </a:prstGeom>
          <a:solidFill>
            <a:schemeClr val="tx1">
              <a:lumMod val="65000"/>
              <a:lumOff val="35000"/>
            </a:schemeClr>
          </a:solidFill>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a:defRPr/>
            </a:pPr>
            <a:r>
              <a:rPr lang="ru-RU" sz="1800" b="0" i="0" dirty="0">
                <a:solidFill>
                  <a:srgbClr val="FFFFFF"/>
                </a:solidFill>
                <a:latin typeface="Arial" pitchFamily="34" charset="0"/>
                <a:cs typeface="Arial" pitchFamily="34" charset="0"/>
              </a:rPr>
              <a:t>Отправить отзыв</a:t>
            </a:r>
          </a:p>
        </p:txBody>
      </p:sp>
      <p:sp>
        <p:nvSpPr>
          <p:cNvPr id="3" name="Slide Number Placeholder 2"/>
          <p:cNvSpPr>
            <a:spLocks noGrp="1"/>
          </p:cNvSpPr>
          <p:nvPr>
            <p:ph type="sldNum" sz="quarter" idx="4"/>
          </p:nvPr>
        </p:nvSpPr>
        <p:spPr/>
        <p:txBody>
          <a:bodyPr/>
          <a:lstStyle/>
          <a:p>
            <a:fld id="{B7FCCBDA-9680-4DD4-B999-2854C48CD6AB}" type="slidenum">
              <a:rPr lang="en-US" smtClean="0">
                <a:solidFill>
                  <a:srgbClr val="000000">
                    <a:tint val="75000"/>
                  </a:srgbClr>
                </a:solidFill>
              </a:rPr>
              <a:pPr/>
              <a:t>37</a:t>
            </a:fld>
            <a:endParaRPr lang="en-US" dirty="0">
              <a:solidFill>
                <a:srgbClr val="000000">
                  <a:tint val="75000"/>
                </a:srgbClr>
              </a:solidFill>
            </a:endParaRPr>
          </a:p>
        </p:txBody>
      </p:sp>
      <p:sp>
        <p:nvSpPr>
          <p:cNvPr id="7" name="Footer Placeholder 6"/>
          <p:cNvSpPr>
            <a:spLocks noGrp="1"/>
          </p:cNvSpPr>
          <p:nvPr>
            <p:ph type="ftr" sz="quarter" idx="4294967295"/>
          </p:nvPr>
        </p:nvSpPr>
        <p:spPr>
          <a:xfrm>
            <a:off x="3048000" y="4857750"/>
            <a:ext cx="5029200" cy="274637"/>
          </a:xfrm>
          <a:prstGeom prst="rect">
            <a:avLst/>
          </a:prstGeom>
        </p:spPr>
        <p:txBody>
          <a:bodyPr/>
          <a:lstStyle/>
          <a:p>
            <a:r>
              <a:rPr lang="ru-RU" sz="600" b="0" i="0" dirty="0">
                <a:solidFill>
                  <a:srgbClr val="BFBFBF"/>
                </a:solidFill>
                <a:latin typeface="Arial" pitchFamily="34" charset="0"/>
                <a:cs typeface="Arial" pitchFamily="34" charset="0"/>
              </a:rPr>
              <a:t>ISM v3 модуль 5: блочная система хранения</a:t>
            </a:r>
          </a:p>
        </p:txBody>
      </p:sp>
    </p:spTree>
    <p:custDataLst>
      <p:tags r:id="rId1"/>
    </p:custDataLst>
    <p:extLst>
      <p:ext uri="{BB962C8B-B14F-4D97-AF65-F5344CB8AC3E}">
        <p14:creationId xmlns:p14="http://schemas.microsoft.com/office/powerpoint/2010/main" val="465078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REFERENCE_ID" val="ed6c909e-2664-42f1-9fc8-1e3ea558975f"/>
  <p:tag name="ARTICULATE_SLIDE_COUNT" val="37"/>
  <p:tag name="ARTICULATE_PRESENTATION_ID" val="11110"/>
  <p:tag name="ARTICULATE_PROJECT_OPEN" val="1"/>
  <p:tag name="ARTICULATE_REFERENCE_TYPE_1" val="1"/>
  <p:tag name="ARTICULATE_REFERENCE_1" val="Z:\E\Project\EMC\C15038509011_SE15319_BPP_Tech_ISMv3_eLearning_CM\DTP\RU\5\ISM v3 Module 5_eLearning_SRG.pdf"/>
  <p:tag name="ARTICULATE_REFERENCE_TITLE_1" val="Student Guide"/>
  <p:tag name="ARTICULATE_REFERENCE_ID_1" val="4b1d16b0-21e8-48aa-a16c-f0ecdca5b6ff"/>
  <p:tag name="ARTICULATE_REFERENCE_TYPE_2" val="1"/>
  <p:tag name="ARTICULATE_REFERENCE_2" val="Z:\E\Project\EMC\C15038509011_SE15319_BPP_Tech_ISMv3_eLearning_CM\DTP\RU\Four\05_NExercise 3_Storage Provisioning and Tiering.pdf"/>
  <p:tag name="ARTICULATE_REFERENCE_TITLE_2" val="05_NExercise 3"/>
  <p:tag name="ARTICULATE_REFERENCE_ID_2" val="55ba50e4-157b-4159-b592-7b2b0993c82c"/>
  <p:tag name="ARTICULATE_REFERENCE_COUNT" val="2"/>
  <p:tag name="ARTICULATE_REFERENCE_DESCRIPTION" val="Ниже указаны полезные ссылки и документы."/>
  <p:tag name="ARTICULATE_PLAYER_GLOSSARY_XML" val="&lt;?xml version=&quot;1.0&quot; encoding=&quot;utf-16&quot;?&gt;&lt;glossary xmlns:xsi=&quot;http://www.w3.org/2001/XMLSchema-instance&quot; xmlns:xsd=&quot;http://www.w3.org/2001/XMLSchema&quot;&gt;&lt;terms /&gt;&lt;/glossary&gt;"/>
  <p:tag name="TAG_BACKING_FORM_KEY" val="656636-z:\e\project\emc\c15038509011_se15319_bpp_tech_ismv3_elearning_cm\dtp\ru\5\ism v3 module 5_elearning_srg-microsoft powerpoint (with notes)-ru-ru#dtp_evox#.pptx"/>
  <p:tag name="ARTICULATE_PRESENTER_VERSION" val="7"/>
  <p:tag name="ARTICULATE_USED_PAGE_ORIENTATION" val="1"/>
  <p:tag name="ARTICULATE_USED_PAGE_SIZE" val="15"/>
  <p:tag name="ARTICULATE_META_COURSE_ID" val="4TtrIaAqhrn_course_id"/>
  <p:tag name="ARTICULATE_META_NAME" val="CSOFT"/>
  <p:tag name="ARTICULATE_META_NAME_SET" val="True"/>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UDIO_ID" val="395"/>
  <p:tag name="ORIGINAL_AUDIO_FILEPATH" val="Z:\E\Project_MEW\C15038509011_SE15319_BPP_Tech_ISMv3_eLearning_CM\DTP\RU\Batch1\DTP\audios\5\Slide 1.mp3"/>
  <p:tag name="ELAPSEDTIME" val="15.742"/>
  <p:tag name="ARTICULATE_NAV_LEVEL" val="1"/>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1"/>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UDIO_ID" val="396"/>
  <p:tag name="ORIGINAL_AUDIO_FILEPATH" val="Z:\E\Project_MEW\C15038509011_SE15319_BPP_Tech_ISMv3_eLearning_CM\DTP\RU\Batch1\DTP\audios\5\Slide 2.mp3"/>
  <p:tag name="ELAPSEDTIME" val="19.122"/>
  <p:tag name="ARTICULATE_NAV_LEVEL" val="1"/>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0.xml><?xml version="1.0" encoding="utf-8"?>
<p:tagLst xmlns:a="http://schemas.openxmlformats.org/drawingml/2006/main" xmlns:r="http://schemas.openxmlformats.org/officeDocument/2006/relationships" xmlns:p="http://schemas.openxmlformats.org/presentationml/2006/main">
  <p:tag name="AUDIO_ID" val="313"/>
  <p:tag name="ORIGINAL_AUDIO_FILEPATH" val="Z:\E\Project_MEW\C15038509011_SE15319_BPP_Tech_ISMv3_eLearning_CM\DTP\RU\Batch1\DTP\audios\5\Slide 3.mp3"/>
  <p:tag name="ELAPSEDTIME" val="9.522"/>
  <p:tag name="ARTICULATE_NAV_LEVEL" val="1"/>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4"/>
</p:tagLst>
</file>

<file path=ppt/tags/tag41.xml><?xml version="1.0" encoding="utf-8"?>
<p:tagLst xmlns:a="http://schemas.openxmlformats.org/drawingml/2006/main" xmlns:r="http://schemas.openxmlformats.org/officeDocument/2006/relationships" xmlns:p="http://schemas.openxmlformats.org/presentationml/2006/main">
  <p:tag name="AUDIO_ID" val="392"/>
  <p:tag name="ORIGINAL_AUDIO_FILEPATH" val="Z:\E\Project_MEW\C15038509011_SE15319_BPP_Tech_ISMv3_eLearning_CM\DTP\RU\Batch1\DTP\audios\5\Slide 4.mp3"/>
  <p:tag name="ELAPSEDTIME" val="32.44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2.xml><?xml version="1.0" encoding="utf-8"?>
<p:tagLst xmlns:a="http://schemas.openxmlformats.org/drawingml/2006/main" xmlns:r="http://schemas.openxmlformats.org/officeDocument/2006/relationships" xmlns:p="http://schemas.openxmlformats.org/presentationml/2006/main">
  <p:tag name="AUDIO_ID" val="314"/>
  <p:tag name="ORIGINAL_AUDIO_FILEPATH" val="Z:\E\Project_MEW\C15038509011_SE15319_BPP_Tech_ISMv3_eLearning_CM\DTP\RU\Batch1\DTP\audios\5\Slide 5.mp3"/>
  <p:tag name="ELAPSEDTIME" val="41.64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3.xml><?xml version="1.0" encoding="utf-8"?>
<p:tagLst xmlns:a="http://schemas.openxmlformats.org/drawingml/2006/main" xmlns:r="http://schemas.openxmlformats.org/officeDocument/2006/relationships" xmlns:p="http://schemas.openxmlformats.org/presentationml/2006/main">
  <p:tag name="AUDIO_ID" val="331"/>
  <p:tag name="ORIGINAL_AUDIO_FILEPATH" val="Z:\E\Project_MEW\C15038509011_SE15319_BPP_Tech_ISMv3_eLearning_CM\DTP\RU\Batch1\DTP\audios\5\Slide 6.mp3"/>
  <p:tag name="ELAPSEDTIME" val="54.62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7"/>
</p:tagLst>
</file>

<file path=ppt/tags/tag44.xml><?xml version="1.0" encoding="utf-8"?>
<p:tagLst xmlns:a="http://schemas.openxmlformats.org/drawingml/2006/main" xmlns:r="http://schemas.openxmlformats.org/officeDocument/2006/relationships" xmlns:p="http://schemas.openxmlformats.org/presentationml/2006/main">
  <p:tag name="AUDIO_ID" val="332"/>
  <p:tag name="ORIGINAL_AUDIO_FILEPATH" val="Z:\E\Project_MEW\C15038509011_SE15319_BPP_Tech_ISMv3_eLearning_CM\DTP\RU\Batch1\DTP\audios\5\Slide 7.mp3"/>
  <p:tag name="ELAPSEDTIME" val="67.63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7"/>
</p:tagLst>
</file>

<file path=ppt/tags/tag45.xml><?xml version="1.0" encoding="utf-8"?>
<p:tagLst xmlns:a="http://schemas.openxmlformats.org/drawingml/2006/main" xmlns:r="http://schemas.openxmlformats.org/officeDocument/2006/relationships" xmlns:p="http://schemas.openxmlformats.org/presentationml/2006/main">
  <p:tag name="AUDIO_ID" val="333"/>
  <p:tag name="ORIGINAL_AUDIO_FILEPATH" val="Z:\E\Project_MEW\C15038509011_SE15319_BPP_Tech_ISMv3_eLearning_CM\DTP\RU\Batch1\DTP\audios\5\Slide 8.mp3"/>
  <p:tag name="ELAPSEDTIME" val="172.82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6.xml><?xml version="1.0" encoding="utf-8"?>
<p:tagLst xmlns:a="http://schemas.openxmlformats.org/drawingml/2006/main" xmlns:r="http://schemas.openxmlformats.org/officeDocument/2006/relationships" xmlns:p="http://schemas.openxmlformats.org/presentationml/2006/main">
  <p:tag name="AUDIO_ID" val="334"/>
  <p:tag name="ORIGINAL_AUDIO_FILEPATH" val="Z:\E\Project_MEW\C15038509011_SE15319_BPP_Tech_ISMv3_eLearning_CM\DTP\RU\Batch1\DTP\audios\5\Slide 9.mp3"/>
  <p:tag name="ELAPSEDTIME" val="185.13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7.xml><?xml version="1.0" encoding="utf-8"?>
<p:tagLst xmlns:a="http://schemas.openxmlformats.org/drawingml/2006/main" xmlns:r="http://schemas.openxmlformats.org/officeDocument/2006/relationships" xmlns:p="http://schemas.openxmlformats.org/presentationml/2006/main">
  <p:tag name="AUDIO_ID" val="335"/>
  <p:tag name="ORIGINAL_AUDIO_FILEPATH" val="Z:\E\Project_MEW\C15038509011_SE15319_BPP_Tech_ISMv3_eLearning_CM\DTP\RU\Batch1\DTP\audios\5\Slide 10.mp3"/>
  <p:tag name="ELAPSEDTIME" val="105.45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8.xml><?xml version="1.0" encoding="utf-8"?>
<p:tagLst xmlns:a="http://schemas.openxmlformats.org/drawingml/2006/main" xmlns:r="http://schemas.openxmlformats.org/officeDocument/2006/relationships" xmlns:p="http://schemas.openxmlformats.org/presentationml/2006/main">
  <p:tag name="AUDIO_ID" val="336"/>
  <p:tag name="ORIGINAL_AUDIO_FILEPATH" val="Z:\E\Project_MEW\C15038509011_SE15319_BPP_Tech_ISMv3_eLearning_CM\DTP\RU\Batch1\DTP\audios\5\Slide 11.mp3"/>
  <p:tag name="ELAPSEDTIME" val="157.70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9.xml><?xml version="1.0" encoding="utf-8"?>
<p:tagLst xmlns:a="http://schemas.openxmlformats.org/drawingml/2006/main" xmlns:r="http://schemas.openxmlformats.org/officeDocument/2006/relationships" xmlns:p="http://schemas.openxmlformats.org/presentationml/2006/main">
  <p:tag name="AUDIO_ID" val="337"/>
  <p:tag name="ORIGINAL_AUDIO_FILEPATH" val="Z:\E\Project_MEW\C15038509011_SE15319_BPP_Tech_ISMv3_eLearning_CM\DTP\RU\Batch1\DTP\audios\5\Slide 12.mp3"/>
  <p:tag name="ELAPSEDTIME" val="149.44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0.xml><?xml version="1.0" encoding="utf-8"?>
<p:tagLst xmlns:a="http://schemas.openxmlformats.org/drawingml/2006/main" xmlns:r="http://schemas.openxmlformats.org/officeDocument/2006/relationships" xmlns:p="http://schemas.openxmlformats.org/presentationml/2006/main">
  <p:tag name="AUDIO_ID" val="338"/>
  <p:tag name="ORIGINAL_AUDIO_FILEPATH" val="Z:\E\Project_MEW\C15038509011_SE15319_BPP_Tech_ISMv3_eLearning_CM\DTP\RU\Batch1\DTP\audios\5\Slide 13.mp3"/>
  <p:tag name="ELAPSEDTIME" val="81.80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7"/>
</p:tagLst>
</file>

<file path=ppt/tags/tag51.xml><?xml version="1.0" encoding="utf-8"?>
<p:tagLst xmlns:a="http://schemas.openxmlformats.org/drawingml/2006/main" xmlns:r="http://schemas.openxmlformats.org/officeDocument/2006/relationships" xmlns:p="http://schemas.openxmlformats.org/presentationml/2006/main">
  <p:tag name="AUDIO_ID" val="339"/>
  <p:tag name="ORIGINAL_AUDIO_FILEPATH" val="Z:\E\Project_MEW\C15038509011_SE15319_BPP_Tech_ISMv3_eLearning_CM\DTP\RU\Batch1\DTP\audios\5\Slide 14.mp3"/>
  <p:tag name="ELAPSEDTIME" val="51.24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2.xml><?xml version="1.0" encoding="utf-8"?>
<p:tagLst xmlns:a="http://schemas.openxmlformats.org/drawingml/2006/main" xmlns:r="http://schemas.openxmlformats.org/officeDocument/2006/relationships" xmlns:p="http://schemas.openxmlformats.org/presentationml/2006/main">
  <p:tag name="AUDIO_ID" val="384"/>
  <p:tag name="ORIGINAL_AUDIO_FILEPATH" val="Z:\E\Project_MEW\C15038509011_SE15319_BPP_Tech_ISMv3_eLearning_CM\DTP\RU\Batch1\DTP\audios\5\Slide 15.mp3"/>
  <p:tag name="ELAPSEDTIME" val="9.00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4"/>
</p:tagLst>
</file>

<file path=ppt/tags/tag53.xml><?xml version="1.0" encoding="utf-8"?>
<p:tagLst xmlns:a="http://schemas.openxmlformats.org/drawingml/2006/main" xmlns:r="http://schemas.openxmlformats.org/officeDocument/2006/relationships" xmlns:p="http://schemas.openxmlformats.org/presentationml/2006/main">
  <p:tag name="AUDIO_ID" val="385"/>
  <p:tag name="ORIGINAL_AUDIO_FILEPATH" val="Z:\E\Project_MEW\C15038509011_SE15319_BPP_Tech_ISMv3_eLearning_CM\DTP\RU\Batch1\DTP\audios\5\Slide 16.mp3"/>
  <p:tag name="ELAPSEDTIME" val="11.712"/>
  <p:tag name="ARTICULATE_NAV_LEVEL" val="1"/>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4"/>
</p:tagLst>
</file>

<file path=ppt/tags/tag54.xml><?xml version="1.0" encoding="utf-8"?>
<p:tagLst xmlns:a="http://schemas.openxmlformats.org/drawingml/2006/main" xmlns:r="http://schemas.openxmlformats.org/officeDocument/2006/relationships" xmlns:p="http://schemas.openxmlformats.org/presentationml/2006/main">
  <p:tag name="AUDIO_ID" val="341"/>
  <p:tag name="ORIGINAL_AUDIO_FILEPATH" val="Z:\E\Project_MEW\C15038509011_SE15319_BPP_Tech_ISMv3_eLearning_CM\DTP\RU\Batch1\DTP\audios\5\Slide 17.mp3"/>
  <p:tag name="ELAPSEDTIME" val="26.35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5.xml><?xml version="1.0" encoding="utf-8"?>
<p:tagLst xmlns:a="http://schemas.openxmlformats.org/drawingml/2006/main" xmlns:r="http://schemas.openxmlformats.org/officeDocument/2006/relationships" xmlns:p="http://schemas.openxmlformats.org/presentationml/2006/main">
  <p:tag name="AUDIO_ID" val="342"/>
  <p:tag name="ORIGINAL_AUDIO_FILEPATH" val="Z:\E\Project_MEW\C15038509011_SE15319_BPP_Tech_ISMv3_eLearning_CM\DTP\RU\Batch1\DTP\audios\5\18_19.wav"/>
  <p:tag name="ELAPSEDTIME" val="249.02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6.xml><?xml version="1.0" encoding="utf-8"?>
<p:tagLst xmlns:a="http://schemas.openxmlformats.org/drawingml/2006/main" xmlns:r="http://schemas.openxmlformats.org/officeDocument/2006/relationships" xmlns:p="http://schemas.openxmlformats.org/presentationml/2006/main">
  <p:tag name="AUDIO_ID" val="343"/>
  <p:tag name="ORIGINAL_AUDIO_FILEPATH" val="Z:\E\Project_MEW\C15038509011_SE15319_BPP_Tech_ISMv3_eLearning_CM\DTP\RU\Batch1\DTP\audios\5\Slide 20.mp3"/>
  <p:tag name="ELAPSEDTIME" val="94.58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7.xml><?xml version="1.0" encoding="utf-8"?>
<p:tagLst xmlns:a="http://schemas.openxmlformats.org/drawingml/2006/main" xmlns:r="http://schemas.openxmlformats.org/officeDocument/2006/relationships" xmlns:p="http://schemas.openxmlformats.org/presentationml/2006/main">
  <p:tag name="AUDIO_ID" val="344"/>
  <p:tag name="ORIGINAL_AUDIO_FILEPATH" val="Z:\E\Project_MEW\C15038509011_SE15319_BPP_Tech_ISMv3_eLearning_CM\DTP\RU\Batch1\DTP\audios\5\Slide 21.mp3"/>
  <p:tag name="ELAPSEDTIME" val="108.88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8.xml><?xml version="1.0" encoding="utf-8"?>
<p:tagLst xmlns:a="http://schemas.openxmlformats.org/drawingml/2006/main" xmlns:r="http://schemas.openxmlformats.org/officeDocument/2006/relationships" xmlns:p="http://schemas.openxmlformats.org/presentationml/2006/main">
  <p:tag name="AUDIO_ID" val="393"/>
  <p:tag name="ORIGINAL_AUDIO_FILEPATH" val="Z:\E\Project_MEW\C15038509011_SE15319_BPP_Tech_ISMv3_eLearning_CM\DTP\RU\Batch1\DTP\audios\5\Slide 22.mp3"/>
  <p:tag name="ELAPSEDTIME" val="105.08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9.xml><?xml version="1.0" encoding="utf-8"?>
<p:tagLst xmlns:a="http://schemas.openxmlformats.org/drawingml/2006/main" xmlns:r="http://schemas.openxmlformats.org/officeDocument/2006/relationships" xmlns:p="http://schemas.openxmlformats.org/presentationml/2006/main">
  <p:tag name="DUPLICATEID" val="e2ecd02a77c8433a848d1e54bdec8184"/>
</p:tagLst>
</file>

<file path=ppt/tags/tag60.xml><?xml version="1.0" encoding="utf-8"?>
<p:tagLst xmlns:a="http://schemas.openxmlformats.org/drawingml/2006/main" xmlns:r="http://schemas.openxmlformats.org/officeDocument/2006/relationships" xmlns:p="http://schemas.openxmlformats.org/presentationml/2006/main">
  <p:tag name="DUPLICATEID" val="3207b51ae8a14872a5c45ef91d8e5b65"/>
</p:tagLst>
</file>

<file path=ppt/tags/tag61.xml><?xml version="1.0" encoding="utf-8"?>
<p:tagLst xmlns:a="http://schemas.openxmlformats.org/drawingml/2006/main" xmlns:r="http://schemas.openxmlformats.org/officeDocument/2006/relationships" xmlns:p="http://schemas.openxmlformats.org/presentationml/2006/main">
  <p:tag name="DUPLICATEID" val="ca92974622524cc09d65a3dcd1104eae"/>
</p:tagLst>
</file>

<file path=ppt/tags/tag62.xml><?xml version="1.0" encoding="utf-8"?>
<p:tagLst xmlns:a="http://schemas.openxmlformats.org/drawingml/2006/main" xmlns:r="http://schemas.openxmlformats.org/officeDocument/2006/relationships" xmlns:p="http://schemas.openxmlformats.org/presentationml/2006/main">
  <p:tag name="DUPLICATEID" val="959b05108d604b0e92a67a6edcc12b72"/>
</p:tagLst>
</file>

<file path=ppt/tags/tag63.xml><?xml version="1.0" encoding="utf-8"?>
<p:tagLst xmlns:a="http://schemas.openxmlformats.org/drawingml/2006/main" xmlns:r="http://schemas.openxmlformats.org/officeDocument/2006/relationships" xmlns:p="http://schemas.openxmlformats.org/presentationml/2006/main">
  <p:tag name="AUDIO_ID" val="345"/>
  <p:tag name="ORIGINAL_AUDIO_FILEPATH" val="Z:\E\Project_MEW\C15038509011_SE15319_BPP_Tech_ISMv3_eLearning_CM\DTP\RU\Batch1\DTP\audios\5\23_24.wav"/>
  <p:tag name="ELAPSEDTIME" val="246.45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64.xml><?xml version="1.0" encoding="utf-8"?>
<p:tagLst xmlns:a="http://schemas.openxmlformats.org/drawingml/2006/main" xmlns:r="http://schemas.openxmlformats.org/officeDocument/2006/relationships" xmlns:p="http://schemas.openxmlformats.org/presentationml/2006/main">
  <p:tag name="AUDIO_ID" val="347"/>
  <p:tag name="ORIGINAL_AUDIO_FILEPATH" val="Z:\E\Project_MEW\C15038509011_SE15319_BPP_Tech_ISMv3_eLearning_CM\DTP\RU\Batch1\DTP\audios\5\Slide 25.mp3"/>
  <p:tag name="ELAPSEDTIME" val="49.63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65.xml><?xml version="1.0" encoding="utf-8"?>
<p:tagLst xmlns:a="http://schemas.openxmlformats.org/drawingml/2006/main" xmlns:r="http://schemas.openxmlformats.org/officeDocument/2006/relationships" xmlns:p="http://schemas.openxmlformats.org/presentationml/2006/main">
  <p:tag name="AUDIO_ID" val="389"/>
  <p:tag name="ORIGINAL_AUDIO_FILEPATH" val="Z:\E\Project_MEW\C15038509011_SE15319_BPP_Tech_ISMv3_eLearning_CM\DTP\RU\Batch1\DTP\audios\5\Slide 26.mp3"/>
  <p:tag name="ELAPSEDTIME" val="6.76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4"/>
</p:tagLst>
</file>

<file path=ppt/tags/tag66.xml><?xml version="1.0" encoding="utf-8"?>
<p:tagLst xmlns:a="http://schemas.openxmlformats.org/drawingml/2006/main" xmlns:r="http://schemas.openxmlformats.org/officeDocument/2006/relationships" xmlns:p="http://schemas.openxmlformats.org/presentationml/2006/main">
  <p:tag name="AUDIO_ID" val="390"/>
  <p:tag name="ORIGINAL_AUDIO_FILEPATH" val="Z:\E\Project_MEW\C15038509011_SE15319_BPP_Tech_ISMv3_eLearning_CM\DTP\RU\Batch1\DTP\audios\5\Slide 27.mp3"/>
  <p:tag name="ELAPSEDTIME" val="10.172"/>
  <p:tag name="ARTICULATE_NAV_LEVEL" val="1"/>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4"/>
</p:tagLst>
</file>

<file path=ppt/tags/tag67.xml><?xml version="1.0" encoding="utf-8"?>
<p:tagLst xmlns:a="http://schemas.openxmlformats.org/drawingml/2006/main" xmlns:r="http://schemas.openxmlformats.org/officeDocument/2006/relationships" xmlns:p="http://schemas.openxmlformats.org/presentationml/2006/main">
  <p:tag name="AUDIO_ID" val="348"/>
  <p:tag name="ORIGINAL_AUDIO_FILEPATH" val="Z:\E\Project_MEW\C15038509011_SE15319_BPP_Tech_ISMv3_eLearning_CM\DTP\RU\Batch1\DTP\audios\5\Slide 28.mp3"/>
  <p:tag name="ELAPSEDTIME" val="127.89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68.xml><?xml version="1.0" encoding="utf-8"?>
<p:tagLst xmlns:a="http://schemas.openxmlformats.org/drawingml/2006/main" xmlns:r="http://schemas.openxmlformats.org/officeDocument/2006/relationships" xmlns:p="http://schemas.openxmlformats.org/presentationml/2006/main">
  <p:tag name="AUDIO_ID" val="349"/>
  <p:tag name="ORIGINAL_AUDIO_FILEPATH" val="Z:\E\Project_MEW\C15038509011_SE15319_BPP_Tech_ISMv3_eLearning_CM\DTP\RU\Batch1\DTP\audios\5\Slide 29.mp3"/>
  <p:tag name="ELAPSEDTIME" val="94.70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69.xml><?xml version="1.0" encoding="utf-8"?>
<p:tagLst xmlns:a="http://schemas.openxmlformats.org/drawingml/2006/main" xmlns:r="http://schemas.openxmlformats.org/officeDocument/2006/relationships" xmlns:p="http://schemas.openxmlformats.org/presentationml/2006/main">
  <p:tag name="AUDIO_ID" val="351"/>
  <p:tag name="ORIGINAL_AUDIO_FILEPATH" val="Z:\E\Project_MEW\C15038509011_SE15319_BPP_Tech_ISMv3_eLearning_CM\DTP\RU\Batch1\DTP\audios\5\Slide 30.mp3"/>
  <p:tag name="ELAPSEDTIME" val="55.65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70.xml><?xml version="1.0" encoding="utf-8"?>
<p:tagLst xmlns:a="http://schemas.openxmlformats.org/drawingml/2006/main" xmlns:r="http://schemas.openxmlformats.org/officeDocument/2006/relationships" xmlns:p="http://schemas.openxmlformats.org/presentationml/2006/main">
  <p:tag name="AUDIO_ID" val="352"/>
  <p:tag name="ORIGINAL_AUDIO_FILEPATH" val="Z:\E\Project_MEW\C15038509011_SE15319_BPP_Tech_ISMv3_eLearning_CM\DTP\RU\Batch1\DTP\audios\5\Slide 31.mp3"/>
  <p:tag name="ELAPSEDTIME" val="79.41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71.xml><?xml version="1.0" encoding="utf-8"?>
<p:tagLst xmlns:a="http://schemas.openxmlformats.org/drawingml/2006/main" xmlns:r="http://schemas.openxmlformats.org/officeDocument/2006/relationships" xmlns:p="http://schemas.openxmlformats.org/presentationml/2006/main">
  <p:tag name="AUDIO_ID" val="353"/>
  <p:tag name="ORIGINAL_AUDIO_FILEPATH" val="Z:\E\Project_MEW\C15038509011_SE15319_BPP_Tech_ISMv3_eLearning_CM\DTP\RU\Batch1\DTP\audios\5\Slide 32.mp3"/>
  <p:tag name="ELAPSEDTIME" val="30.12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7"/>
</p:tagLst>
</file>

<file path=ppt/tags/tag72.xml><?xml version="1.0" encoding="utf-8"?>
<p:tagLst xmlns:a="http://schemas.openxmlformats.org/drawingml/2006/main" xmlns:r="http://schemas.openxmlformats.org/officeDocument/2006/relationships" xmlns:p="http://schemas.openxmlformats.org/presentationml/2006/main">
  <p:tag name="DUPLICATEID" val="93c4f140b54a4fb1ae045c9f2f3175bf"/>
</p:tagLst>
</file>

<file path=ppt/tags/tag73.xml><?xml version="1.0" encoding="utf-8"?>
<p:tagLst xmlns:a="http://schemas.openxmlformats.org/drawingml/2006/main" xmlns:r="http://schemas.openxmlformats.org/officeDocument/2006/relationships" xmlns:p="http://schemas.openxmlformats.org/presentationml/2006/main">
  <p:tag name="DUPLICATEID" val="c444daa4003a45a2a69ddd8c9111e9fe"/>
</p:tagLst>
</file>

<file path=ppt/tags/tag74.xml><?xml version="1.0" encoding="utf-8"?>
<p:tagLst xmlns:a="http://schemas.openxmlformats.org/drawingml/2006/main" xmlns:r="http://schemas.openxmlformats.org/officeDocument/2006/relationships" xmlns:p="http://schemas.openxmlformats.org/presentationml/2006/main">
  <p:tag name="DUPLICATEID" val="0ef402d52a214a6dbef1040c19b77518"/>
</p:tagLst>
</file>

<file path=ppt/tags/tag75.xml><?xml version="1.0" encoding="utf-8"?>
<p:tagLst xmlns:a="http://schemas.openxmlformats.org/drawingml/2006/main" xmlns:r="http://schemas.openxmlformats.org/officeDocument/2006/relationships" xmlns:p="http://schemas.openxmlformats.org/presentationml/2006/main">
  <p:tag name="DUPLICATEID" val="8fa4d2b09a6e48c28fa99ce21ff8e4fe"/>
</p:tagLst>
</file>

<file path=ppt/tags/tag76.xml><?xml version="1.0" encoding="utf-8"?>
<p:tagLst xmlns:a="http://schemas.openxmlformats.org/drawingml/2006/main" xmlns:r="http://schemas.openxmlformats.org/officeDocument/2006/relationships" xmlns:p="http://schemas.openxmlformats.org/presentationml/2006/main">
  <p:tag name="DUPLICATEID" val="cc29d05ccc3f4c94a62df8a12f95cece"/>
</p:tagLst>
</file>

<file path=ppt/tags/tag77.xml><?xml version="1.0" encoding="utf-8"?>
<p:tagLst xmlns:a="http://schemas.openxmlformats.org/drawingml/2006/main" xmlns:r="http://schemas.openxmlformats.org/officeDocument/2006/relationships" xmlns:p="http://schemas.openxmlformats.org/presentationml/2006/main">
  <p:tag name="DUPLICATEID" val="3f87b17994ca42d387174379188e6235"/>
</p:tagLst>
</file>

<file path=ppt/tags/tag78.xml><?xml version="1.0" encoding="utf-8"?>
<p:tagLst xmlns:a="http://schemas.openxmlformats.org/drawingml/2006/main" xmlns:r="http://schemas.openxmlformats.org/officeDocument/2006/relationships" xmlns:p="http://schemas.openxmlformats.org/presentationml/2006/main">
  <p:tag name="DUPLICATEID" val="da631dccede04a10be870274f9400a22"/>
</p:tagLst>
</file>

<file path=ppt/tags/tag79.xml><?xml version="1.0" encoding="utf-8"?>
<p:tagLst xmlns:a="http://schemas.openxmlformats.org/drawingml/2006/main" xmlns:r="http://schemas.openxmlformats.org/officeDocument/2006/relationships" xmlns:p="http://schemas.openxmlformats.org/presentationml/2006/main">
  <p:tag name="DUPLICATEID" val="c4d0bc3bda164b1aadfff5d071855e44"/>
</p:tagLst>
</file>

<file path=ppt/tags/tag80.xml><?xml version="1.0" encoding="utf-8"?>
<p:tagLst xmlns:a="http://schemas.openxmlformats.org/drawingml/2006/main" xmlns:r="http://schemas.openxmlformats.org/officeDocument/2006/relationships" xmlns:p="http://schemas.openxmlformats.org/presentationml/2006/main">
  <p:tag name="DUPLICATEID" val="1b56f57582fe4c968157966cffeed47e"/>
</p:tagLst>
</file>

<file path=ppt/tags/tag81.xml><?xml version="1.0" encoding="utf-8"?>
<p:tagLst xmlns:a="http://schemas.openxmlformats.org/drawingml/2006/main" xmlns:r="http://schemas.openxmlformats.org/officeDocument/2006/relationships" xmlns:p="http://schemas.openxmlformats.org/presentationml/2006/main">
  <p:tag name="DUPLICATEID" val="ce3d6bdbd13f4f98916a06c4292f8ffa"/>
</p:tagLst>
</file>

<file path=ppt/tags/tag82.xml><?xml version="1.0" encoding="utf-8"?>
<p:tagLst xmlns:a="http://schemas.openxmlformats.org/drawingml/2006/main" xmlns:r="http://schemas.openxmlformats.org/officeDocument/2006/relationships" xmlns:p="http://schemas.openxmlformats.org/presentationml/2006/main">
  <p:tag name="DUPLICATEID" val="d18de71674854465b70f0826c1ae88b4"/>
</p:tagLst>
</file>

<file path=ppt/tags/tag83.xml><?xml version="1.0" encoding="utf-8"?>
<p:tagLst xmlns:a="http://schemas.openxmlformats.org/drawingml/2006/main" xmlns:r="http://schemas.openxmlformats.org/officeDocument/2006/relationships" xmlns:p="http://schemas.openxmlformats.org/presentationml/2006/main">
  <p:tag name="AUDIO_ID" val="319"/>
  <p:tag name="ORIGINAL_AUDIO_FILEPATH" val="Z:\E\Project_MEW\C15038509011_SE15319_BPP_Tech_ISMv3_eLearning_CM\DTP\RU\Batch1\DTP\audios\5\Slide 33.mp3"/>
  <p:tag name="ELAPSEDTIME" val="13.222"/>
  <p:tag name="ARTICULATE_NAV_LEVEL" val="2"/>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4"/>
</p:tagLst>
</file>

<file path=ppt/tags/tag84.xml><?xml version="1.0" encoding="utf-8"?>
<p:tagLst xmlns:a="http://schemas.openxmlformats.org/drawingml/2006/main" xmlns:r="http://schemas.openxmlformats.org/officeDocument/2006/relationships" xmlns:p="http://schemas.openxmlformats.org/presentationml/2006/main">
  <p:tag name="AUDIO_ID" val="391"/>
  <p:tag name="ORIGINAL_AUDIO_FILEPATH" val="Z:\E\Project_MEW\C15038509011_SE15319_BPP_Tech_ISMv3_eLearning_CM\DTP\RU\Batch1\DTP\audios\5\Slide 34.mp3"/>
  <p:tag name="ELAPSEDTIME" val="20.182"/>
  <p:tag name="ARTICULATE_NAV_LEVEL" val="1"/>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4"/>
</p:tagLst>
</file>

<file path=ppt/tags/tag85.xml><?xml version="1.0" encoding="utf-8"?>
<p:tagLst xmlns:a="http://schemas.openxmlformats.org/drawingml/2006/main" xmlns:r="http://schemas.openxmlformats.org/officeDocument/2006/relationships" xmlns:p="http://schemas.openxmlformats.org/presentationml/2006/main">
  <p:tag name="AUDIO_ID" val="355"/>
  <p:tag name="ORIGINAL_AUDIO_FILEPATH" val="Z:\E\Project_MEW\C15038509011_SE15319_BPP_Tech_ISMv3_eLearning_CM\DTP\RU\Batch1\DTP\audios\5\Slide 35.mp3"/>
  <p:tag name="ELAPSEDTIME" val="145.222"/>
  <p:tag name="ARTICULATE_NAV_LEVEL" val="1"/>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86.xml><?xml version="1.0" encoding="utf-8"?>
<p:tagLst xmlns:a="http://schemas.openxmlformats.org/drawingml/2006/main" xmlns:r="http://schemas.openxmlformats.org/officeDocument/2006/relationships" xmlns:p="http://schemas.openxmlformats.org/presentationml/2006/main">
  <p:tag name="AUDIO_ID" val="394"/>
  <p:tag name="ORIGINAL_AUDIO_FILEPATH" val="Z:\E\Project_MEW\C15038509011_SE15319_BPP_Tech_ISMv3_eLearning_CM\DTP\RU\Batch1\DTP\audios\5\Slide 36.mp3"/>
  <p:tag name="ELAPSEDTIME" val="67.222"/>
  <p:tag name="ARTICULATE_NAV_LEVEL" val="1"/>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87.xml><?xml version="1.0" encoding="utf-8"?>
<p:tagLst xmlns:a="http://schemas.openxmlformats.org/drawingml/2006/main" xmlns:r="http://schemas.openxmlformats.org/officeDocument/2006/relationships" xmlns:p="http://schemas.openxmlformats.org/presentationml/2006/main">
  <p:tag name="AUDIO_ID" val="397"/>
  <p:tag name="ORIGINAL_AUDIO_FILEPATH" val="Z:\E\Project_MEW\C15038509011_SE15319_BPP_Tech_ISMv3_eLearning_CM\DTP\RU\Batch1\DTP\audios\5\Slide 37.mp3"/>
  <p:tag name="ELAPSEDTIME" val="14.542"/>
  <p:tag name="ARTICULATE_NAV_LEVEL" val="1"/>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ags/tag88.xml><?xml version="1.0" encoding="utf-8"?>
<p:tagLst xmlns:a="http://schemas.openxmlformats.org/drawingml/2006/main" xmlns:r="http://schemas.openxmlformats.org/officeDocument/2006/relationships" xmlns:p="http://schemas.openxmlformats.org/presentationml/2006/main">
  <p:tag name="QUIZMAKER_QUIZ_FILENAME" val="Z:\E\Project_MEW\C15038509011_SE15319_BPP_Tech_ISMv3_eLearning_CM\DTP\RU\Batch1\DTP\5\ISM v3 Module 5 Block-based Storage System Quiz.quiz"/>
  <p:tag name="ARTICULATE_SHOW_IN_MENU" val="multipleitems"/>
  <p:tag name="AQP_PASS_ACTION" val="2"/>
  <p:tag name="AQP_FAIL_ACTION" val="0"/>
  <p:tag name="AUDIO_ID" val="400"/>
  <p:tag name="OVERRIDE" val="QUIZMAKER_QUIZ_SLIDE"/>
  <p:tag name="QUIZMAKER_QUIZ_TITLE" val="ISM v3 модуль 5: блочная система хранения — тест"/>
  <p:tag name="ARTICULATE_DESCRIPTION" val="Quiz - 5 questions"/>
  <p:tag name="QUIZMAKER_QUIZ_SLIDE_ID" val="400"/>
  <p:tag name="QUIZMAKER_QUIZ_FORCE_UPDATE" val="0"/>
  <p:tag name="AQP_PASS_SCORE" val="80"/>
  <p:tag name="QUIZMAKER_LAST_MODIFY_DATE" val="42320.5712962963"/>
  <p:tag name="EMBEDDEDCONTENT_LASTWRITETIMEUTC" val="2015-11-12 05:42:40Z"/>
  <p:tag name="ELAPSEDTIME" val="0"/>
  <p:tag name="ARTICULATE_NAV_LEVEL" val="1"/>
  <p:tag name="ARTICULATE_SLIDE_PRESENTER_GUID" val="85549c91-e103-4a9b-9f72-5c6031b337d5"/>
  <p:tag name="ARTICULATE_SLIDE_PAUSE" val="1"/>
  <p:tag name="ARTICULATE_LOCK_SLIDE" val="1"/>
  <p:tag name="ARTICULATE_HIDE_SLIDE" val="0"/>
  <p:tag name="ARTICULATE_PLAYER_CONTROL_PREVIOUS" val="True"/>
  <p:tag name="ARTICULATE_PLAYER_CONTROL_NEXT" val="True"/>
  <p:tag name="ARTICULATE_PLAYER_SEEKBAR" val="False"/>
  <p:tag name="ARTICULATE_PLAYER_CONTROL_PLAYPAUSE" val="False"/>
  <p:tag name="ARTICULATE_USED_LAYOUT" val="17"/>
</p:tagLst>
</file>

<file path=ppt/tags/tag89.xml><?xml version="1.0" encoding="utf-8"?>
<p:tagLst xmlns:a="http://schemas.openxmlformats.org/drawingml/2006/main" xmlns:r="http://schemas.openxmlformats.org/officeDocument/2006/relationships" xmlns:p="http://schemas.openxmlformats.org/presentationml/2006/main">
  <p:tag name="QM_PROPERTY" val="1"/>
  <p:tag name="ART_QM_A" val="1"/>
</p:tagLst>
</file>

<file path=ppt/tags/tag90.xml><?xml version="1.0" encoding="utf-8"?>
<p:tagLst xmlns:a="http://schemas.openxmlformats.org/drawingml/2006/main" xmlns:r="http://schemas.openxmlformats.org/officeDocument/2006/relationships" xmlns:p="http://schemas.openxmlformats.org/presentationml/2006/main">
  <p:tag name="QM_PROPERTY" val="1"/>
  <p:tag name="ART_QM_B" val="1"/>
</p:tagLst>
</file>

<file path=ppt/tags/tag91.xml><?xml version="1.0" encoding="utf-8"?>
<p:tagLst xmlns:a="http://schemas.openxmlformats.org/drawingml/2006/main" xmlns:r="http://schemas.openxmlformats.org/officeDocument/2006/relationships" xmlns:p="http://schemas.openxmlformats.org/presentationml/2006/main">
  <p:tag name="QM_PROPERTY" val="1"/>
  <p:tag name="ART_QM_A" val="1"/>
</p:tagLst>
</file>

<file path=ppt/tags/tag92.xml><?xml version="1.0" encoding="utf-8"?>
<p:tagLst xmlns:a="http://schemas.openxmlformats.org/drawingml/2006/main" xmlns:r="http://schemas.openxmlformats.org/officeDocument/2006/relationships" xmlns:p="http://schemas.openxmlformats.org/presentationml/2006/main">
  <p:tag name="AUDIO_ID" val="399"/>
  <p:tag name="ARTICULATE_SLIDE_THUMBNAIL_REFRESH" val="1"/>
  <p:tag name="ARTICULATE_NAV_LEVEL" val="1"/>
  <p:tag name="ARTICULATE_SLIDE_PRESENTER_GUID" val="85549c91-e103-4a9b-9f72-5c6031b337d5"/>
  <p:tag name="ARTICULATE_SLIDE_PAUSE" val="1"/>
  <p:tag name="ARTICULATE_LOCK_SLIDE" val="0"/>
  <p:tag name="ARTICULATE_HIDE_SLIDE" val="0"/>
  <p:tag name="ARTICULATE_PLAYER_CONTROL_PREVIOUS" val="True"/>
  <p:tag name="ARTICULATE_PLAYER_CONTROL_NEXT" val="True"/>
  <p:tag name="ARTICULATE_USED_LAYOUT" val="2"/>
</p:tagLst>
</file>

<file path=ppt/theme/theme1.xml><?xml version="1.0" encoding="utf-8"?>
<a:theme xmlns:a="http://schemas.openxmlformats.org/drawingml/2006/main" name="D311-16x9_ILT OILT VILT Template_OPEN Curriculum-20151401">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2.xml><?xml version="1.0" encoding="utf-8"?>
<a:theme xmlns:a="http://schemas.openxmlformats.org/drawingml/2006/main" name="D311-16x9_elearning Template_OPEN Curriculum-20151401 (1)">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3.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D311-16x9_ILT OILT VILT Template_OPEN Curriculum-20151401</Template>
  <TotalTime>3641</TotalTime>
  <Words>8149</Words>
  <Application>Microsoft Office PowerPoint</Application>
  <PresentationFormat>Экран (16:9)</PresentationFormat>
  <Paragraphs>531</Paragraphs>
  <Slides>37</Slides>
  <Notes>37</Notes>
  <HiddenSlides>0</HiddenSlides>
  <MMClips>0</MMClips>
  <ScaleCrop>false</ScaleCrop>
  <HeadingPairs>
    <vt:vector size="6" baseType="variant">
      <vt:variant>
        <vt:lpstr>Использованные шрифты</vt:lpstr>
      </vt:variant>
      <vt:variant>
        <vt:i4>4</vt:i4>
      </vt:variant>
      <vt:variant>
        <vt:lpstr>Тема</vt:lpstr>
      </vt:variant>
      <vt:variant>
        <vt:i4>2</vt:i4>
      </vt:variant>
      <vt:variant>
        <vt:lpstr>Заголовки слайдов</vt:lpstr>
      </vt:variant>
      <vt:variant>
        <vt:i4>37</vt:i4>
      </vt:variant>
    </vt:vector>
  </HeadingPairs>
  <TitlesOfParts>
    <vt:vector size="43" baseType="lpstr">
      <vt:lpstr>Arial</vt:lpstr>
      <vt:lpstr>Lucida Grande</vt:lpstr>
      <vt:lpstr>Verdana</vt:lpstr>
      <vt:lpstr>Wingdings</vt:lpstr>
      <vt:lpstr>D311-16x9_ILT OILT VILT Template_OPEN Curriculum-20151401</vt:lpstr>
      <vt:lpstr>D311-16x9_elearning Template_OPEN Curriculum-20151401 (1)</vt:lpstr>
      <vt:lpstr>ISM v3 модуль 5: блочная система хранения</vt:lpstr>
      <vt:lpstr>Обзор модуля</vt:lpstr>
      <vt:lpstr>Урок 1. Компоненты блочной системы хранения.</vt:lpstr>
      <vt:lpstr>Что представляет собой блочная система хранения данных?</vt:lpstr>
      <vt:lpstr>Компоненты контроллера</vt:lpstr>
      <vt:lpstr>Компоненты контроллера</vt:lpstr>
      <vt:lpstr>Компоненты контроллера</vt:lpstr>
      <vt:lpstr>Операция чтения с использованием кэш-памяти</vt:lpstr>
      <vt:lpstr>Операция записи с использованием кэш-памяти</vt:lpstr>
      <vt:lpstr>Управление кэш-памятью: алгоритмы</vt:lpstr>
      <vt:lpstr>Управление кэш-памятью: использование уровней отсечки</vt:lpstr>
      <vt:lpstr>Защита данных кэш-памяти</vt:lpstr>
      <vt:lpstr>Компоненты контроллера</vt:lpstr>
      <vt:lpstr>СХД</vt:lpstr>
      <vt:lpstr>Урок 1. Резюме</vt:lpstr>
      <vt:lpstr>Урок 2. Выделение ресурсов хранения</vt:lpstr>
      <vt:lpstr>Обзор выделения ресурсов хранения</vt:lpstr>
      <vt:lpstr>Традиционное выделение ресурсов</vt:lpstr>
      <vt:lpstr>Расширение логических устройств</vt:lpstr>
      <vt:lpstr>Виртуальное выделение ресурсов</vt:lpstr>
      <vt:lpstr>Расширение тонких томов</vt:lpstr>
      <vt:lpstr>Традиционное выделение ресурсов в сравнении с виртуальным выделением ресурсов</vt:lpstr>
      <vt:lpstr>маскирование логических устройств</vt:lpstr>
      <vt:lpstr>Урок 2. Резюме</vt:lpstr>
      <vt:lpstr>Урок 3. Многоуровневое хранение данных </vt:lpstr>
      <vt:lpstr>Обзор многоуровневого хранения данных</vt:lpstr>
      <vt:lpstr>Многоуровневое хранение на уровне тома и элемента тома</vt:lpstr>
      <vt:lpstr>Многоуровневая кэш-память</vt:lpstr>
      <vt:lpstr>Технология серверного кэширования на основе флэш-памяти</vt:lpstr>
      <vt:lpstr>Сценарий использования — блочная система хранения в облаке</vt:lpstr>
      <vt:lpstr>Урок 3. Резюме</vt:lpstr>
      <vt:lpstr>Практическая реализация концепций</vt:lpstr>
      <vt:lpstr>EMC XtremIO, EMC VNX-F и EMC FAST VP</vt:lpstr>
      <vt:lpstr>EMC XtremSF и EMC XtremCache.</vt:lpstr>
      <vt:lpstr>Модуль 5. Резюме</vt:lpstr>
      <vt:lpstr>ISM v3 модуль 5: блочная система хранения — тест</vt:lpstr>
      <vt:lpstr>Отзыв о курсе </vt:lpstr>
    </vt:vector>
  </TitlesOfParts>
  <Company>EMC Corporation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Sagar</dc:creator>
  <cp:lastModifiedBy>Борис Николаевич Пищик</cp:lastModifiedBy>
  <cp:revision>318</cp:revision>
  <cp:lastPrinted>2015-07-06T14:25:52Z</cp:lastPrinted>
  <dcterms:created xsi:type="dcterms:W3CDTF">2015-01-29T08:47:38Z</dcterms:created>
  <dcterms:modified xsi:type="dcterms:W3CDTF">2021-03-10T15:06:33Z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Path">
    <vt:lpwstr>2014 Template</vt:lpwstr>
  </property>
  <property fmtid="{D5CDD505-2E9C-101B-9397-08002B2CF9AE}" pid="3" name="ArticulateUseProject">
    <vt:lpwstr>1</vt:lpwstr>
  </property>
  <property fmtid="{D5CDD505-2E9C-101B-9397-08002B2CF9AE}" pid="4" name="ArticulateProjectVersion">
    <vt:lpwstr>7</vt:lpwstr>
  </property>
  <property fmtid="{D5CDD505-2E9C-101B-9397-08002B2CF9AE}" pid="5" name="ArticulateGUID">
    <vt:lpwstr>30358354-EAAF-455E-8306-59758EB71A28</vt:lpwstr>
  </property>
  <property fmtid="{D5CDD505-2E9C-101B-9397-08002B2CF9AE}" pid="6" name="ArticulateProjectFull">
    <vt:lpwstr>Z:\E\Project\EMC\C15038509011_SE15319_BPP_Tech_ISMv3_eLearning_CM\DTP\RU\5\ISM v3 Module 5_eLearning_SRG-Microsoft PowerPoint (With Notes)-ru-RU#DTP_EVOX#.ppta</vt:lpwstr>
  </property>
</Properties>
</file>