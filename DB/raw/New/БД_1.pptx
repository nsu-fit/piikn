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y="6858000" cx="9144000"/>
  <p:notesSz cx="9144000" cy="6858000"/>
  <p:embeddedFontLst>
    <p:embeddedFont>
      <p:font typeface="Arial Black"/>
      <p:regular r:id="rId4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48" roundtripDataSignature="AMtx7miKYOEuZOOo4wBBSFwCStqfupyNe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22" Type="http://schemas.openxmlformats.org/officeDocument/2006/relationships/slide" Target="slides/slide16.xml"/><Relationship Id="rId44" Type="http://schemas.openxmlformats.org/officeDocument/2006/relationships/slide" Target="slides/slide38.xml"/><Relationship Id="rId21" Type="http://schemas.openxmlformats.org/officeDocument/2006/relationships/slide" Target="slides/slide15.xml"/><Relationship Id="rId43" Type="http://schemas.openxmlformats.org/officeDocument/2006/relationships/slide" Target="slides/slide37.xml"/><Relationship Id="rId24" Type="http://schemas.openxmlformats.org/officeDocument/2006/relationships/slide" Target="slides/slide18.xml"/><Relationship Id="rId46" Type="http://schemas.openxmlformats.org/officeDocument/2006/relationships/slide" Target="slides/slide40.xml"/><Relationship Id="rId23" Type="http://schemas.openxmlformats.org/officeDocument/2006/relationships/slide" Target="slides/slide17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48" Type="http://customschemas.google.com/relationships/presentationmetadata" Target="metadata"/><Relationship Id="rId25" Type="http://schemas.openxmlformats.org/officeDocument/2006/relationships/slide" Target="slides/slide19.xml"/><Relationship Id="rId47" Type="http://schemas.openxmlformats.org/officeDocument/2006/relationships/font" Target="fonts/ArialBlack-regular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://ru.wikipedia.org/wiki/%D0%98%D0%BD%D1%84%D0%BE%D1%80%D0%BC%D0%B0%D1%82%D0%B8%D0%BA%D0%B0" TargetMode="External"/><Relationship Id="rId3" Type="http://schemas.openxmlformats.org/officeDocument/2006/relationships/hyperlink" Target="http://ru.wikipedia.org/wiki/%D0%98%D0%BD%D1%84%D0%BE%D1%80%D0%BC%D0%B0%D1%86%D0%B8%D1%8F" TargetMode="External"/><Relationship Id="rId4" Type="http://schemas.openxmlformats.org/officeDocument/2006/relationships/hyperlink" Target="http://ru.wikipedia.org/wiki/%D0%9D%D0%BE%D1%81%D0%B8%D1%82%D0%B5%D0%BB%D1%8C_%D0%B8%D0%BD%D1%84%D0%BE%D1%80%D0%BC%D0%B0%D1%86%D0%B8%D0%B8" TargetMode="External"/><Relationship Id="rId5" Type="http://schemas.openxmlformats.org/officeDocument/2006/relationships/hyperlink" Target="http://ru.wikipedia.org/wiki/%D0%94%D0%B0%D0%BD%D0%BD%D1%8B%D0%B5" TargetMode="External"/><Relationship Id="rId6" Type="http://schemas.openxmlformats.org/officeDocument/2006/relationships/hyperlink" Target="http://ru.wikipedia.org/wiki/%D0%9D%D0%B0%D0%B1%D0%BB%D1%8E%D0%B4%D0%B5%D0%BD%D0%B8%D0%B5" TargetMode="Externa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20" Type="http://schemas.openxmlformats.org/officeDocument/2006/relationships/hyperlink" Target="http://ru.wikipedia.org/wiki/%D0%91%D0%B0%D0%B7%D0%B0_%D0%B4%D0%B0%D0%BD%D0%BD%D1%8B%D1%85" TargetMode="External"/><Relationship Id="rId11" Type="http://schemas.openxmlformats.org/officeDocument/2006/relationships/hyperlink" Target="http://ru.wikipedia.org/wiki/%D0%91%D0%B0%D0%B7%D0%B0_%D0%B4%D0%B0%D0%BD%D0%BD%D1%8B%D1%85" TargetMode="External"/><Relationship Id="rId22" Type="http://schemas.openxmlformats.org/officeDocument/2006/relationships/hyperlink" Target="http://ru.wikipedia.org/wiki/%D0%91%D0%B0%D0%B7%D0%B0_%D0%B4%D0%B0%D0%BD%D0%BD%D1%8B%D1%85" TargetMode="External"/><Relationship Id="rId10" Type="http://schemas.openxmlformats.org/officeDocument/2006/relationships/hyperlink" Target="http://ru.wikipedia.org/wiki/%D0%91%D0%B0%D0%B7%D0%B0_%D0%B4%D0%B0%D0%BD%D0%BD%D1%8B%D1%85" TargetMode="External"/><Relationship Id="rId21" Type="http://schemas.openxmlformats.org/officeDocument/2006/relationships/hyperlink" Target="http://ru.wikipedia.org/wiki/%D0%91%D0%B0%D0%B7%D0%B0_%D0%B4%D0%B0%D0%BD%D0%BD%D1%8B%D1%85" TargetMode="External"/><Relationship Id="rId13" Type="http://schemas.openxmlformats.org/officeDocument/2006/relationships/hyperlink" Target="http://ru.wikipedia.org/wiki/%D0%91%D0%B0%D0%B7%D0%B0_%D0%B4%D0%B0%D0%BD%D0%BD%D1%8B%D1%85" TargetMode="External"/><Relationship Id="rId12" Type="http://schemas.openxmlformats.org/officeDocument/2006/relationships/hyperlink" Target="http://ru.wikipedia.org/wiki/%D0%91%D0%B0%D0%B7%D0%B0_%D0%B4%D0%B0%D0%BD%D0%BD%D1%8B%D1%85" TargetMode="External"/><Relationship Id="rId1" Type="http://schemas.openxmlformats.org/officeDocument/2006/relationships/notesMaster" Target="../notesMasters/notesMaster1.xml"/><Relationship Id="rId2" Type="http://schemas.openxmlformats.org/officeDocument/2006/relationships/hyperlink" Target="http://ru.wikipedia.org/wiki/%D0%A1%D1%83%D0%B1%D1%8A%D0%B5%D0%BA%D1%82_(%D1%84%D0%B8%D0%BB%D0%BE%D1%81%D0%BE%D1%84%D0%B8%D1%8F)" TargetMode="External"/><Relationship Id="rId3" Type="http://schemas.openxmlformats.org/officeDocument/2006/relationships/hyperlink" Target="http://ru.wikipedia.org/wiki/%D0%A1%D1%82%D0%B0%D0%BD%D0%B4%D0%B0%D1%80%D1%82" TargetMode="External"/><Relationship Id="rId4" Type="http://schemas.openxmlformats.org/officeDocument/2006/relationships/hyperlink" Target="http://ru.wikipedia.org/wiki/%D0%91%D0%B0%D0%B7%D0%B0_%D0%B4%D0%B0%D0%BD%D0%BD%D1%8B%D1%85" TargetMode="External"/><Relationship Id="rId9" Type="http://schemas.openxmlformats.org/officeDocument/2006/relationships/hyperlink" Target="http://ru.wikipedia.org/wiki/%D0%9F%D0%BE%D1%82%D1%80%D0%B5%D0%B1%D0%BD%D0%BE%D1%81%D1%82%D1%8C" TargetMode="External"/><Relationship Id="rId15" Type="http://schemas.openxmlformats.org/officeDocument/2006/relationships/hyperlink" Target="http://www.morepc.ru/informatisation/iso2381-1.html" TargetMode="External"/><Relationship Id="rId14" Type="http://schemas.openxmlformats.org/officeDocument/2006/relationships/hyperlink" Target="http://ru.wikipedia.org/wiki/%D0%91%D0%B0%D0%B7%D0%B0_%D0%B4%D0%B0%D0%BD%D0%BD%D1%8B%D1%85" TargetMode="External"/><Relationship Id="rId17" Type="http://schemas.openxmlformats.org/officeDocument/2006/relationships/hyperlink" Target="http://ru.wikipedia.org/wiki/%D0%91%D0%B0%D0%B7%D0%B0_%D0%B4%D0%B0%D0%BD%D0%BD%D1%8B%D1%85" TargetMode="External"/><Relationship Id="rId16" Type="http://schemas.openxmlformats.org/officeDocument/2006/relationships/hyperlink" Target="http://ru.wikipedia.org/wiki/%D0%91%D0%B0%D0%B7%D0%B0_%D0%B4%D0%B0%D0%BD%D0%BD%D1%8B%D1%85" TargetMode="External"/><Relationship Id="rId5" Type="http://schemas.openxmlformats.org/officeDocument/2006/relationships/hyperlink" Target="http://ru.wikipedia.org/wiki/%D0%91%D0%B0%D0%B7%D0%B0_%D0%B4%D0%B0%D0%BD%D0%BD%D1%8B%D1%85" TargetMode="External"/><Relationship Id="rId19" Type="http://schemas.openxmlformats.org/officeDocument/2006/relationships/hyperlink" Target="http://ru.wikipedia.org/wiki/%D0%91%D0%B0%D0%B7%D0%B0_%D0%B4%D0%B0%D0%BD%D0%BD%D1%8B%D1%85" TargetMode="External"/><Relationship Id="rId6" Type="http://schemas.openxmlformats.org/officeDocument/2006/relationships/hyperlink" Target="http://ru.wikipedia.org/wiki/%D0%9C%D0%BE%D0%BD%D0%BE%D0%B3%D1%80%D0%B0%D1%84%D0%B8%D1%8F" TargetMode="External"/><Relationship Id="rId18" Type="http://schemas.openxmlformats.org/officeDocument/2006/relationships/hyperlink" Target="http://ru.wikipedia.org/wiki/%D0%91%D0%B0%D0%B7%D0%B0_%D0%B4%D0%B0%D0%BD%D0%BD%D1%8B%D1%85" TargetMode="External"/><Relationship Id="rId7" Type="http://schemas.openxmlformats.org/officeDocument/2006/relationships/hyperlink" Target="http://ru.wikipedia.org/wiki/%D0%94%D0%B0%D0%BD%D0%BD%D1%8B%D0%B5" TargetMode="External"/><Relationship Id="rId8" Type="http://schemas.openxmlformats.org/officeDocument/2006/relationships/hyperlink" Target="http://ru.wikipedia.org/wiki/%D0%9F%D1%80%D0%B5%D0%B4%D0%BC%D0%B5%D1%82%D0%BD%D0%B0%D1%8F_%D0%BE%D0%B1%D0%BB%D0%B0%D1%81%D1%82%D1%8C" TargetMode="Externa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90"/>
              <a:buFont typeface="Calibri"/>
              <a:buNone/>
            </a:pPr>
            <a:r>
              <a:rPr b="1" i="0" lang="ru-RU" sz="259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Вычислительные программы</a:t>
            </a:r>
            <a:endParaRPr sz="1110"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10"/>
              <a:buFont typeface="Calibri"/>
              <a:buAutoNum type="arabicPeriod"/>
            </a:pPr>
            <a:r>
              <a:rPr b="1" i="0" lang="ru-RU" sz="111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Системы компьютерной алгебры </a:t>
            </a:r>
            <a:r>
              <a:rPr b="0" i="0" lang="ru-RU" sz="111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программы символьных аналитических вычислений;</a:t>
            </a:r>
            <a:endParaRPr sz="1110"/>
          </a:p>
          <a:p>
            <a:pPr indent="-228600" lvl="1" marL="685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10"/>
              <a:buFont typeface="Calibri"/>
              <a:buNone/>
            </a:pPr>
            <a:r>
              <a:rPr b="1" i="0" lang="ru-RU" sz="111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Система компьютерной алгебры Maxima</a:t>
            </a:r>
            <a:endParaRPr b="1" i="0" sz="111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10"/>
              <a:buFont typeface="Calibri"/>
              <a:buNone/>
            </a:pPr>
            <a:r>
              <a:rPr b="1" i="0" lang="ru-RU" sz="111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Онлайн-система компьютерной алгебры Wolfram|Alpha</a:t>
            </a:r>
            <a:endParaRPr b="1" i="0" sz="111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111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Axiom - свободная (бесплатная) программа. </a:t>
            </a:r>
            <a:endParaRPr sz="1110"/>
          </a:p>
          <a:p>
            <a:pPr indent="0" lvl="2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11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Состоит из среды интерпретатора, компилятора и библиотеки, описывающей строго типизированную, математически правильную иерархию типов;</a:t>
            </a:r>
            <a:endParaRPr sz="1110"/>
          </a:p>
          <a:p>
            <a:pPr indent="0" lvl="1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111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Maple - проприетарная (коммерческая) программа. </a:t>
            </a:r>
            <a:endParaRPr sz="1110"/>
          </a:p>
          <a:p>
            <a:pPr indent="0" lvl="2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11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Предназначена для символьных вычислений, хотя имеет ряд средств и для численного решения дифференциальных уравнений и нахождения интегралов. Обладает развитыми графическими средствами. Имеет собственный язык программирования, напоминающий Паскаль;</a:t>
            </a:r>
            <a:endParaRPr b="1" i="0" sz="111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111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Mathematica - проприетарная (коммерческая) программа. </a:t>
            </a:r>
            <a:endParaRPr sz="1110"/>
          </a:p>
          <a:p>
            <a:pPr indent="0" lvl="2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11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Содержит множество функций как для аналитических преобразований, так и для численных расчётов. Кроме того, программа поддерживает работу с графикой и звуком, включая построение двух- и трёхмерных графиков функций, рисование произвольных геометрических фигур, импорт и экспорт изображений и</a:t>
            </a:r>
            <a:endParaRPr b="1" i="0" sz="111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10"/>
              <a:buFont typeface="Calibri"/>
              <a:buNone/>
            </a:pPr>
            <a:br>
              <a:rPr lang="ru-RU" sz="1110"/>
            </a:br>
            <a:r>
              <a:rPr b="1" i="0" lang="ru-RU" sz="111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Программы для численных (числовых) вычислений (</a:t>
            </a:r>
            <a:r>
              <a:rPr b="0" i="0" lang="ru-RU" sz="111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служат для проведения численных инженерных и научных расчетов). </a:t>
            </a:r>
            <a:endParaRPr sz="111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11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b="1" i="0" lang="ru-RU" sz="111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Свободные (бесплатные) пакеты </a:t>
            </a:r>
            <a:r>
              <a:rPr b="0" i="0" lang="ru-RU" sz="111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Scilab, GNU OctaveGNU Octave</a:t>
            </a:r>
            <a:endParaRPr b="0" i="0" sz="111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111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Проприетарные (коммерческие) пакеты : </a:t>
            </a:r>
            <a:r>
              <a:rPr b="0" i="0" lang="ru-RU" sz="111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MATLAB, Mathcad, Origin </a:t>
            </a:r>
            <a:endParaRPr b="0" i="0" sz="111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1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10"/>
              <a:buFont typeface="Calibri"/>
              <a:buNone/>
            </a:pPr>
            <a:r>
              <a:t/>
            </a:r>
            <a:endParaRPr b="1" sz="1110" u="none"/>
          </a:p>
        </p:txBody>
      </p:sp>
      <p:sp>
        <p:nvSpPr>
          <p:cNvPr id="256" name="Google Shape;256;p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ru-RU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0" name="Google Shape;27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В </a:t>
            </a:r>
            <a:r>
              <a:rPr b="0" i="0" lang="ru-RU" sz="1200" u="sng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информатике</a:t>
            </a:r>
            <a:r>
              <a:rPr b="0" i="0" lang="ru-RU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данные — это результат фиксации, отображения </a:t>
            </a:r>
            <a:r>
              <a:rPr b="0" i="0" lang="ru-RU" sz="1200" u="sng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информации</a:t>
            </a:r>
            <a:r>
              <a:rPr b="0" i="0" lang="ru-RU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на каком-либо </a:t>
            </a:r>
            <a:r>
              <a:rPr b="0" i="0" lang="ru-RU" sz="1200" u="sng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материальном носителе</a:t>
            </a:r>
            <a:r>
              <a:rPr b="0" i="0" lang="ru-RU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то есть зарегистрированное на носителе представление сведений независимо от того, дошли ли эти сведения до какого-нибудь приёмника и интересуют ли они его.</a:t>
            </a:r>
            <a:r>
              <a:rPr b="0" baseline="30000" i="0" lang="ru-RU" sz="1200" u="sng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[1]</a:t>
            </a:r>
            <a:endParaRPr b="0" i="0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Данные — это и текст книги или письма, и картина художника, и ДНК.</a:t>
            </a:r>
            <a:r>
              <a:rPr b="0" baseline="30000" i="0" lang="ru-RU" sz="12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</a:t>
            </a:r>
            <a:endParaRPr b="0" i="0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Данные, являющиеся результатом фиксации некоторой информации, сами могут выступать как источник информации. Данные, извлекаемые из информации, могут подвергаться обработке, и результаты обработки фиксируются в виде новых данных.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Данные могут рассматриваться как записанные </a:t>
            </a:r>
            <a:r>
              <a:rPr b="0" i="0" lang="ru-RU" sz="1200" u="sng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наблюдения</a:t>
            </a:r>
            <a:r>
              <a:rPr b="0" i="0" lang="ru-RU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которые не используются, а пока хранятся.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Информация, отображаемая данными, может быть непонятна приемнику (шифрованный текст, текст на неизвестном языке и пр.).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СУБД -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ru-RU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8" name="Google Shape;27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Мы будем использовать некоторые базовые понятия: база данных, данные, предметная область, СУБД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ru-RU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6" name="Google Shape;28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В литературе предлагается множество определений понятия «база данных», отражающих скорее </a:t>
            </a:r>
            <a:r>
              <a:rPr b="0" i="0" lang="ru-RU" sz="1200" u="sng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субъективное</a:t>
            </a:r>
            <a:r>
              <a:rPr b="0" i="0" lang="ru-RU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мнение тех или иных авторов, однако общепризнанная единая формулировка отсутствует.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Определения из международных </a:t>
            </a:r>
            <a:r>
              <a:rPr b="0" i="0" lang="ru-RU" sz="1200" u="sng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стандартов</a:t>
            </a:r>
            <a:r>
              <a:rPr b="0" i="0" lang="ru-RU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База данных</a:t>
            </a:r>
            <a:r>
              <a:rPr b="0" i="0" lang="ru-RU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— совокупность данных, хранимых в соответствии со схемой данных, манипулирование которыми выполняют в соответствии с правилами средств моделирования данных.</a:t>
            </a:r>
            <a:r>
              <a:rPr b="0" baseline="30000" i="0" lang="ru-RU" sz="1200" u="sng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[1]</a:t>
            </a:r>
            <a:endParaRPr b="0" i="0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База данных</a:t>
            </a:r>
            <a:r>
              <a:rPr b="0" i="0" lang="ru-RU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— совокупность данных, организованных в соответствии с концептуальной структурой, описывающей характеристики этих данных и взаимоотношения между ними, причём такое собрание данных, которое поддерживает одну или более областей применения</a:t>
            </a:r>
            <a:r>
              <a:rPr b="0" baseline="30000" i="0" lang="ru-RU" sz="1200" u="sng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[2]</a:t>
            </a:r>
            <a:r>
              <a:rPr b="0" i="0" lang="ru-RU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Определения из авторитетных </a:t>
            </a:r>
            <a:r>
              <a:rPr b="0" i="0" lang="ru-RU" sz="1200" u="sng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монографий</a:t>
            </a:r>
            <a:r>
              <a:rPr b="0" i="0" lang="ru-RU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База данных</a:t>
            </a:r>
            <a:r>
              <a:rPr b="0" i="0" lang="ru-RU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— организованная в соответствии с определёнными правилами и поддерживаемая в памяти компьютера совокупность </a:t>
            </a:r>
            <a:r>
              <a:rPr b="0" i="0" lang="ru-RU" sz="1200" u="sng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данных</a:t>
            </a:r>
            <a:r>
              <a:rPr b="0" i="0" lang="ru-RU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характеризующая актуальное состояние некоторой </a:t>
            </a:r>
            <a:r>
              <a:rPr b="0" i="0" lang="ru-RU" sz="1200" u="sng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предметной области</a:t>
            </a:r>
            <a:r>
              <a:rPr b="0" i="0" lang="ru-RU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и используемая для удовлетворения информационных </a:t>
            </a:r>
            <a:r>
              <a:rPr b="0" i="0" lang="ru-RU" sz="1200" u="sng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потребностей</a:t>
            </a:r>
            <a:r>
              <a:rPr b="0" i="0" lang="ru-RU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пользователей.</a:t>
            </a:r>
            <a:r>
              <a:rPr b="0" baseline="30000" i="0" lang="ru-RU" sz="1200" u="sng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[3]</a:t>
            </a:r>
            <a:endParaRPr b="0" i="0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База данных</a:t>
            </a:r>
            <a:r>
              <a:rPr b="0" i="0" lang="ru-RU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— некоторый набор перманентных (постоянно хранимых) данных, используемых прикладными программными системами какого-либо предприятия.</a:t>
            </a:r>
            <a:r>
              <a:rPr b="0" baseline="30000" i="0" lang="ru-RU" sz="1200" u="sng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[4]</a:t>
            </a:r>
            <a:endParaRPr b="0" i="0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База данных</a:t>
            </a:r>
            <a:r>
              <a:rPr b="0" i="0" lang="ru-RU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— совместно используемый набор логически связанных данных (и описание этих данных), предназначенный для удовлетворения информационных потребностей организации.</a:t>
            </a:r>
            <a:r>
              <a:rPr b="0" baseline="30000" i="0" lang="ru-RU" sz="1200" u="sng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1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[5]</a:t>
            </a:r>
            <a:endParaRPr b="0" baseline="30000" i="0" sz="12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baseline="30000" i="0" lang="ru-RU" sz="12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===============================================================</a:t>
            </a:r>
            <a:endParaRPr b="0" i="0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1.  </a:t>
            </a:r>
            <a:r>
              <a:rPr b="1" baseline="30000" i="1" lang="ru-RU" sz="1200" u="sng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1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1</a:t>
            </a:r>
            <a:r>
              <a:rPr b="0" i="0" lang="ru-RU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b="1" baseline="30000" i="1" lang="ru-RU" sz="1200" u="sng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1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2</a:t>
            </a:r>
            <a:r>
              <a:rPr b="0" i="0" lang="ru-RU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ГОСТ Р ИСО МЭК ТО 10032-2007: Эталонная модель управления данными (идентичен ISO/IEC TR 10032:2003 Information technology — Reference model of data management)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</a:t>
            </a:r>
            <a:r>
              <a:rPr b="0" i="0" lang="ru-RU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b="0" i="0" lang="ru-RU" sz="1200" u="sng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1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ISO/IEC 2382-1:1993. Information technology — Vocabulary — Part 1: Fundamental terms</a:t>
            </a:r>
            <a:endParaRPr b="0" i="0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3. </a:t>
            </a:r>
            <a:r>
              <a:rPr b="1" baseline="30000" i="1" lang="ru-RU" sz="1200" u="sng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1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1</a:t>
            </a:r>
            <a:r>
              <a:rPr b="0" i="0" lang="ru-RU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b="1" baseline="30000" i="1" lang="ru-RU" sz="1200" u="sng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1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2</a:t>
            </a:r>
            <a:r>
              <a:rPr b="0" i="0" lang="ru-RU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b="0" i="0" lang="ru-RU" sz="1200" u="sng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1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Когаловский М. Р., 2002</a:t>
            </a:r>
            <a:endParaRPr b="0" i="0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sng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1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4.</a:t>
            </a:r>
            <a:r>
              <a:rPr b="0" i="0" lang="ru-RU" sz="1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b="0" i="0" lang="ru-RU" sz="1200" u="sng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2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Дейт К. Дж., 2005</a:t>
            </a:r>
            <a:endParaRPr b="0" i="0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sng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2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5.↑</a:t>
            </a:r>
            <a:r>
              <a:rPr b="0" i="0" lang="ru-RU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b="0" i="0" lang="ru-RU" sz="1200" u="sng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2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Коннолли Т., Бегг К., 2003</a:t>
            </a:r>
            <a:endParaRPr b="0" i="0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ru-RU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p3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0" name="Google Shape;870;p3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7" name="Google Shape;877;p3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0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2" name="Google Shape;922;p4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 showMasterSp="0" type="title">
  <p:cSld name="TITLE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oogle Shape;26;p42"/>
          <p:cNvGrpSpPr/>
          <p:nvPr/>
        </p:nvGrpSpPr>
        <p:grpSpPr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27" name="Google Shape;27;p42"/>
            <p:cNvSpPr/>
            <p:nvPr/>
          </p:nvSpPr>
          <p:spPr>
            <a:xfrm>
              <a:off x="0" y="0"/>
              <a:ext cx="2208" cy="4320"/>
            </a:xfrm>
            <a:prstGeom prst="rect">
              <a:avLst/>
            </a:prstGeom>
            <a:gradFill>
              <a:gsLst>
                <a:gs pos="0">
                  <a:schemeClr val="folHlink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8" name="Google Shape;28;p42"/>
            <p:cNvSpPr/>
            <p:nvPr/>
          </p:nvSpPr>
          <p:spPr>
            <a:xfrm>
              <a:off x="1081" y="1065"/>
              <a:ext cx="4679" cy="1596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29" name="Google Shape;29;p42"/>
            <p:cNvGrpSpPr/>
            <p:nvPr/>
          </p:nvGrpSpPr>
          <p:grpSpPr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30" name="Google Shape;30;p42"/>
              <p:cNvSpPr/>
              <p:nvPr/>
            </p:nvSpPr>
            <p:spPr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1" name="Google Shape;31;p42"/>
              <p:cNvSpPr/>
              <p:nvPr/>
            </p:nvSpPr>
            <p:spPr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2" name="Google Shape;32;p42"/>
              <p:cNvSpPr/>
              <p:nvPr/>
            </p:nvSpPr>
            <p:spPr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3" name="Google Shape;33;p42"/>
              <p:cNvSpPr/>
              <p:nvPr/>
            </p:nvSpPr>
            <p:spPr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4" name="Google Shape;34;p42"/>
              <p:cNvSpPr/>
              <p:nvPr/>
            </p:nvSpPr>
            <p:spPr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5" name="Google Shape;35;p42"/>
              <p:cNvSpPr/>
              <p:nvPr/>
            </p:nvSpPr>
            <p:spPr>
              <a:xfrm>
                <a:off x="719" y="1463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6" name="Google Shape;36;p42"/>
              <p:cNvSpPr/>
              <p:nvPr/>
            </p:nvSpPr>
            <p:spPr>
              <a:xfrm>
                <a:off x="0" y="1463"/>
                <a:ext cx="367" cy="399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7" name="Google Shape;37;p42"/>
              <p:cNvSpPr/>
              <p:nvPr/>
            </p:nvSpPr>
            <p:spPr>
              <a:xfrm>
                <a:off x="1081" y="1463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8" name="Google Shape;38;p42"/>
              <p:cNvSpPr/>
              <p:nvPr/>
            </p:nvSpPr>
            <p:spPr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9" name="Google Shape;39;p42"/>
              <p:cNvSpPr/>
              <p:nvPr/>
            </p:nvSpPr>
            <p:spPr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sp>
        <p:nvSpPr>
          <p:cNvPr id="40" name="Google Shape;40;p42"/>
          <p:cNvSpPr txBox="1"/>
          <p:nvPr>
            <p:ph type="ctrTitle"/>
          </p:nvPr>
        </p:nvSpPr>
        <p:spPr>
          <a:xfrm>
            <a:off x="2971800" y="1828800"/>
            <a:ext cx="6019800" cy="22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5000"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42"/>
          <p:cNvSpPr txBox="1"/>
          <p:nvPr>
            <p:ph idx="1" type="subTitle"/>
          </p:nvPr>
        </p:nvSpPr>
        <p:spPr>
          <a:xfrm>
            <a:off x="2971800" y="4267200"/>
            <a:ext cx="6019800" cy="1752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550"/>
              <a:buFont typeface="Noto Sans Symbols"/>
              <a:buNone/>
              <a:defRPr sz="3400"/>
            </a:lvl1pPr>
            <a:lvl2pPr lvl="1" algn="l">
              <a:spcBef>
                <a:spcPts val="0"/>
              </a:spcBef>
              <a:spcAft>
                <a:spcPts val="0"/>
              </a:spcAft>
              <a:buSzPts val="1440"/>
              <a:buChar char="◻"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70"/>
              <a:buChar char="■"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260"/>
              <a:buChar char="◻"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800"/>
              <a:buChar char="▪"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800"/>
              <a:buChar char="▪"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800"/>
              <a:buChar char="▪"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800"/>
              <a:buChar char="▪"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42" name="Google Shape;42;p42"/>
          <p:cNvSpPr txBox="1"/>
          <p:nvPr>
            <p:ph idx="10" type="dt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42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42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 type="obj">
  <p:cSld name="OBJEC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5"/>
          <p:cNvSpPr txBox="1"/>
          <p:nvPr>
            <p:ph type="title"/>
          </p:nvPr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5"/>
          <p:cNvSpPr txBox="1"/>
          <p:nvPr>
            <p:ph idx="1" type="body"/>
          </p:nvPr>
        </p:nvSpPr>
        <p:spPr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4325" lvl="0" marL="457200" algn="l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1pPr>
            <a:lvl2pPr indent="-320040" lvl="1" marL="914400" algn="l">
              <a:spcBef>
                <a:spcPts val="0"/>
              </a:spcBef>
              <a:spcAft>
                <a:spcPts val="0"/>
              </a:spcAft>
              <a:buSzPts val="1440"/>
              <a:buChar char="◻"/>
              <a:defRPr/>
            </a:lvl2pPr>
            <a:lvl3pPr indent="-302894" lvl="2" marL="1371600" algn="l">
              <a:spcBef>
                <a:spcPts val="0"/>
              </a:spcBef>
              <a:spcAft>
                <a:spcPts val="0"/>
              </a:spcAft>
              <a:buSzPts val="1170"/>
              <a:buChar char="■"/>
              <a:defRPr/>
            </a:lvl3pPr>
            <a:lvl4pPr indent="-308610" lvl="3" marL="1828800" algn="l">
              <a:spcBef>
                <a:spcPts val="0"/>
              </a:spcBef>
              <a:spcAft>
                <a:spcPts val="0"/>
              </a:spcAft>
              <a:buSzPts val="1260"/>
              <a:buChar char="◻"/>
              <a:defRPr/>
            </a:lvl4pPr>
            <a:lvl5pPr indent="-342900" lvl="4" marL="2286000" algn="l">
              <a:spcBef>
                <a:spcPts val="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spcBef>
                <a:spcPts val="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spcBef>
                <a:spcPts val="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spcBef>
                <a:spcPts val="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spcBef>
                <a:spcPts val="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48" name="Google Shape;48;p45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45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50" name="Google Shape;50;p4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раздела" type="secHead">
  <p:cSld name="SECTION_HEAD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40"/>
              <a:buNone/>
              <a:defRPr sz="1800"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040"/>
              <a:buNone/>
              <a:defRPr sz="1600"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80"/>
              <a:buNone/>
              <a:defRPr sz="1400"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54" name="Google Shape;54;p46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46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56" name="Google Shape;56;p4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объекта" type="twoObj">
  <p:cSld name="TWO_OBJECTS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7"/>
          <p:cNvSpPr txBox="1"/>
          <p:nvPr>
            <p:ph type="title"/>
          </p:nvPr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47"/>
          <p:cNvSpPr txBox="1"/>
          <p:nvPr>
            <p:ph idx="1" type="body"/>
          </p:nvPr>
        </p:nvSpPr>
        <p:spPr>
          <a:xfrm>
            <a:off x="457200" y="1981200"/>
            <a:ext cx="40386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1950" lvl="0" marL="457200" algn="l"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800"/>
            </a:lvl1pPr>
            <a:lvl2pPr indent="-350519" lvl="1" marL="914400" algn="l">
              <a:spcBef>
                <a:spcPts val="0"/>
              </a:spcBef>
              <a:spcAft>
                <a:spcPts val="0"/>
              </a:spcAft>
              <a:buSzPts val="1920"/>
              <a:buChar char="◻"/>
              <a:defRPr sz="2400"/>
            </a:lvl2pPr>
            <a:lvl3pPr indent="-311150" lvl="2" marL="1371600" algn="l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2000"/>
            </a:lvl3pPr>
            <a:lvl4pPr indent="-308610" lvl="3" marL="1828800" algn="l">
              <a:spcBef>
                <a:spcPts val="0"/>
              </a:spcBef>
              <a:spcAft>
                <a:spcPts val="0"/>
              </a:spcAft>
              <a:buSzPts val="1260"/>
              <a:buChar char="◻"/>
              <a:defRPr sz="1800"/>
            </a:lvl4pPr>
            <a:lvl5pPr indent="-342900" lvl="4" marL="2286000" algn="l">
              <a:spcBef>
                <a:spcPts val="0"/>
              </a:spcBef>
              <a:spcAft>
                <a:spcPts val="0"/>
              </a:spcAft>
              <a:buSzPts val="1800"/>
              <a:buChar char="▪"/>
              <a:defRPr sz="1800"/>
            </a:lvl5pPr>
            <a:lvl6pPr indent="-342900" lvl="5" marL="2743200" algn="l">
              <a:spcBef>
                <a:spcPts val="0"/>
              </a:spcBef>
              <a:spcAft>
                <a:spcPts val="0"/>
              </a:spcAft>
              <a:buSzPts val="1800"/>
              <a:buChar char="▪"/>
              <a:defRPr sz="1800"/>
            </a:lvl6pPr>
            <a:lvl7pPr indent="-342900" lvl="6" marL="3200400" algn="l">
              <a:spcBef>
                <a:spcPts val="0"/>
              </a:spcBef>
              <a:spcAft>
                <a:spcPts val="0"/>
              </a:spcAft>
              <a:buSzPts val="1800"/>
              <a:buChar char="▪"/>
              <a:defRPr sz="1800"/>
            </a:lvl7pPr>
            <a:lvl8pPr indent="-342900" lvl="7" marL="3657600" algn="l">
              <a:spcBef>
                <a:spcPts val="0"/>
              </a:spcBef>
              <a:spcAft>
                <a:spcPts val="0"/>
              </a:spcAft>
              <a:buSzPts val="1800"/>
              <a:buChar char="▪"/>
              <a:defRPr sz="1800"/>
            </a:lvl8pPr>
            <a:lvl9pPr indent="-342900" lvl="8" marL="4114800" algn="l">
              <a:spcBef>
                <a:spcPts val="0"/>
              </a:spcBef>
              <a:spcAft>
                <a:spcPts val="0"/>
              </a:spcAft>
              <a:buSzPts val="1800"/>
              <a:buChar char="▪"/>
              <a:defRPr sz="1800"/>
            </a:lvl9pPr>
          </a:lstStyle>
          <a:p/>
        </p:txBody>
      </p:sp>
      <p:sp>
        <p:nvSpPr>
          <p:cNvPr id="60" name="Google Shape;60;p47"/>
          <p:cNvSpPr txBox="1"/>
          <p:nvPr>
            <p:ph idx="2" type="body"/>
          </p:nvPr>
        </p:nvSpPr>
        <p:spPr>
          <a:xfrm>
            <a:off x="4648200" y="1981200"/>
            <a:ext cx="40386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1950" lvl="0" marL="457200" algn="l"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800"/>
            </a:lvl1pPr>
            <a:lvl2pPr indent="-350519" lvl="1" marL="914400" algn="l">
              <a:spcBef>
                <a:spcPts val="0"/>
              </a:spcBef>
              <a:spcAft>
                <a:spcPts val="0"/>
              </a:spcAft>
              <a:buSzPts val="1920"/>
              <a:buChar char="◻"/>
              <a:defRPr sz="2400"/>
            </a:lvl2pPr>
            <a:lvl3pPr indent="-311150" lvl="2" marL="1371600" algn="l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2000"/>
            </a:lvl3pPr>
            <a:lvl4pPr indent="-308610" lvl="3" marL="1828800" algn="l">
              <a:spcBef>
                <a:spcPts val="0"/>
              </a:spcBef>
              <a:spcAft>
                <a:spcPts val="0"/>
              </a:spcAft>
              <a:buSzPts val="1260"/>
              <a:buChar char="◻"/>
              <a:defRPr sz="1800"/>
            </a:lvl4pPr>
            <a:lvl5pPr indent="-342900" lvl="4" marL="2286000" algn="l">
              <a:spcBef>
                <a:spcPts val="0"/>
              </a:spcBef>
              <a:spcAft>
                <a:spcPts val="0"/>
              </a:spcAft>
              <a:buSzPts val="1800"/>
              <a:buChar char="▪"/>
              <a:defRPr sz="1800"/>
            </a:lvl5pPr>
            <a:lvl6pPr indent="-342900" lvl="5" marL="2743200" algn="l">
              <a:spcBef>
                <a:spcPts val="0"/>
              </a:spcBef>
              <a:spcAft>
                <a:spcPts val="0"/>
              </a:spcAft>
              <a:buSzPts val="1800"/>
              <a:buChar char="▪"/>
              <a:defRPr sz="1800"/>
            </a:lvl6pPr>
            <a:lvl7pPr indent="-342900" lvl="6" marL="3200400" algn="l">
              <a:spcBef>
                <a:spcPts val="0"/>
              </a:spcBef>
              <a:spcAft>
                <a:spcPts val="0"/>
              </a:spcAft>
              <a:buSzPts val="1800"/>
              <a:buChar char="▪"/>
              <a:defRPr sz="1800"/>
            </a:lvl7pPr>
            <a:lvl8pPr indent="-342900" lvl="7" marL="3657600" algn="l">
              <a:spcBef>
                <a:spcPts val="0"/>
              </a:spcBef>
              <a:spcAft>
                <a:spcPts val="0"/>
              </a:spcAft>
              <a:buSzPts val="1800"/>
              <a:buChar char="▪"/>
              <a:defRPr sz="1800"/>
            </a:lvl8pPr>
            <a:lvl9pPr indent="-342900" lvl="8" marL="4114800" algn="l">
              <a:spcBef>
                <a:spcPts val="0"/>
              </a:spcBef>
              <a:spcAft>
                <a:spcPts val="0"/>
              </a:spcAft>
              <a:buSzPts val="1800"/>
              <a:buChar char="▪"/>
              <a:defRPr sz="1800"/>
            </a:lvl9pPr>
          </a:lstStyle>
          <a:p/>
        </p:txBody>
      </p:sp>
      <p:sp>
        <p:nvSpPr>
          <p:cNvPr id="61" name="Google Shape;61;p47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47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63" name="Google Shape;63;p4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равнение" type="twoTxTwoObj">
  <p:cSld name="TWO_OBJECTS_WITH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4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800"/>
              <a:buNone/>
              <a:defRPr b="1" sz="2400"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70"/>
              <a:buNone/>
              <a:defRPr b="1" sz="1800"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20"/>
              <a:buNone/>
              <a:defRPr b="1" sz="1600"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67" name="Google Shape;67;p4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2400"/>
            </a:lvl1pPr>
            <a:lvl2pPr indent="-330200" lvl="1" marL="914400" algn="l">
              <a:spcBef>
                <a:spcPts val="0"/>
              </a:spcBef>
              <a:spcAft>
                <a:spcPts val="0"/>
              </a:spcAft>
              <a:buSzPts val="1600"/>
              <a:buChar char="◻"/>
              <a:defRPr sz="2000"/>
            </a:lvl2pPr>
            <a:lvl3pPr indent="-302894" lvl="2" marL="1371600" algn="l">
              <a:spcBef>
                <a:spcPts val="0"/>
              </a:spcBef>
              <a:spcAft>
                <a:spcPts val="0"/>
              </a:spcAft>
              <a:buSzPts val="1170"/>
              <a:buChar char="■"/>
              <a:defRPr sz="1800"/>
            </a:lvl3pPr>
            <a:lvl4pPr indent="-299719" lvl="3" marL="1828800" algn="l">
              <a:spcBef>
                <a:spcPts val="0"/>
              </a:spcBef>
              <a:spcAft>
                <a:spcPts val="0"/>
              </a:spcAft>
              <a:buSzPts val="1120"/>
              <a:buChar char="◻"/>
              <a:defRPr sz="1600"/>
            </a:lvl4pPr>
            <a:lvl5pPr indent="-330200" lvl="4" marL="2286000" algn="l">
              <a:spcBef>
                <a:spcPts val="0"/>
              </a:spcBef>
              <a:spcAft>
                <a:spcPts val="0"/>
              </a:spcAft>
              <a:buSzPts val="1600"/>
              <a:buChar char="▪"/>
              <a:defRPr sz="1600"/>
            </a:lvl5pPr>
            <a:lvl6pPr indent="-330200" lvl="5" marL="2743200" algn="l">
              <a:spcBef>
                <a:spcPts val="0"/>
              </a:spcBef>
              <a:spcAft>
                <a:spcPts val="0"/>
              </a:spcAft>
              <a:buSzPts val="1600"/>
              <a:buChar char="▪"/>
              <a:defRPr sz="1600"/>
            </a:lvl6pPr>
            <a:lvl7pPr indent="-330200" lvl="6" marL="3200400" algn="l">
              <a:spcBef>
                <a:spcPts val="0"/>
              </a:spcBef>
              <a:spcAft>
                <a:spcPts val="0"/>
              </a:spcAft>
              <a:buSzPts val="1600"/>
              <a:buChar char="▪"/>
              <a:defRPr sz="1600"/>
            </a:lvl7pPr>
            <a:lvl8pPr indent="-330200" lvl="7" marL="3657600" algn="l">
              <a:spcBef>
                <a:spcPts val="0"/>
              </a:spcBef>
              <a:spcAft>
                <a:spcPts val="0"/>
              </a:spcAft>
              <a:buSzPts val="1600"/>
              <a:buChar char="▪"/>
              <a:defRPr sz="1600"/>
            </a:lvl8pPr>
            <a:lvl9pPr indent="-330200" lvl="8" marL="4114800" algn="l">
              <a:spcBef>
                <a:spcPts val="0"/>
              </a:spcBef>
              <a:spcAft>
                <a:spcPts val="0"/>
              </a:spcAft>
              <a:buSzPts val="1600"/>
              <a:buChar char="▪"/>
              <a:defRPr sz="1600"/>
            </a:lvl9pPr>
          </a:lstStyle>
          <a:p/>
        </p:txBody>
      </p:sp>
      <p:sp>
        <p:nvSpPr>
          <p:cNvPr id="68" name="Google Shape;68;p4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800"/>
              <a:buNone/>
              <a:defRPr b="1" sz="2400"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70"/>
              <a:buNone/>
              <a:defRPr b="1" sz="1800"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20"/>
              <a:buNone/>
              <a:defRPr b="1" sz="1600"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69" name="Google Shape;69;p4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2400"/>
            </a:lvl1pPr>
            <a:lvl2pPr indent="-330200" lvl="1" marL="914400" algn="l">
              <a:spcBef>
                <a:spcPts val="0"/>
              </a:spcBef>
              <a:spcAft>
                <a:spcPts val="0"/>
              </a:spcAft>
              <a:buSzPts val="1600"/>
              <a:buChar char="◻"/>
              <a:defRPr sz="2000"/>
            </a:lvl2pPr>
            <a:lvl3pPr indent="-302894" lvl="2" marL="1371600" algn="l">
              <a:spcBef>
                <a:spcPts val="0"/>
              </a:spcBef>
              <a:spcAft>
                <a:spcPts val="0"/>
              </a:spcAft>
              <a:buSzPts val="1170"/>
              <a:buChar char="■"/>
              <a:defRPr sz="1800"/>
            </a:lvl3pPr>
            <a:lvl4pPr indent="-299719" lvl="3" marL="1828800" algn="l">
              <a:spcBef>
                <a:spcPts val="0"/>
              </a:spcBef>
              <a:spcAft>
                <a:spcPts val="0"/>
              </a:spcAft>
              <a:buSzPts val="1120"/>
              <a:buChar char="◻"/>
              <a:defRPr sz="1600"/>
            </a:lvl4pPr>
            <a:lvl5pPr indent="-330200" lvl="4" marL="2286000" algn="l">
              <a:spcBef>
                <a:spcPts val="0"/>
              </a:spcBef>
              <a:spcAft>
                <a:spcPts val="0"/>
              </a:spcAft>
              <a:buSzPts val="1600"/>
              <a:buChar char="▪"/>
              <a:defRPr sz="1600"/>
            </a:lvl5pPr>
            <a:lvl6pPr indent="-330200" lvl="5" marL="2743200" algn="l">
              <a:spcBef>
                <a:spcPts val="0"/>
              </a:spcBef>
              <a:spcAft>
                <a:spcPts val="0"/>
              </a:spcAft>
              <a:buSzPts val="1600"/>
              <a:buChar char="▪"/>
              <a:defRPr sz="1600"/>
            </a:lvl6pPr>
            <a:lvl7pPr indent="-330200" lvl="6" marL="3200400" algn="l">
              <a:spcBef>
                <a:spcPts val="0"/>
              </a:spcBef>
              <a:spcAft>
                <a:spcPts val="0"/>
              </a:spcAft>
              <a:buSzPts val="1600"/>
              <a:buChar char="▪"/>
              <a:defRPr sz="1600"/>
            </a:lvl7pPr>
            <a:lvl8pPr indent="-330200" lvl="7" marL="3657600" algn="l">
              <a:spcBef>
                <a:spcPts val="0"/>
              </a:spcBef>
              <a:spcAft>
                <a:spcPts val="0"/>
              </a:spcAft>
              <a:buSzPts val="1600"/>
              <a:buChar char="▪"/>
              <a:defRPr sz="1600"/>
            </a:lvl8pPr>
            <a:lvl9pPr indent="-330200" lvl="8" marL="4114800" algn="l">
              <a:spcBef>
                <a:spcPts val="0"/>
              </a:spcBef>
              <a:spcAft>
                <a:spcPts val="0"/>
              </a:spcAft>
              <a:buSzPts val="1600"/>
              <a:buChar char="▪"/>
              <a:defRPr sz="1600"/>
            </a:lvl9pPr>
          </a:lstStyle>
          <a:p/>
        </p:txBody>
      </p:sp>
      <p:sp>
        <p:nvSpPr>
          <p:cNvPr id="70" name="Google Shape;70;p48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48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72" name="Google Shape;72;p4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олько заголовок" type="titleOnly">
  <p:cSld name="TITLE_ONLY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9"/>
          <p:cNvSpPr txBox="1"/>
          <p:nvPr>
            <p:ph type="title"/>
          </p:nvPr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49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9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77" name="Google Shape;77;p49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 type="blank">
  <p:cSld name="BLANK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0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50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81" name="Google Shape;81;p50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ъект с подписью" type="objTx">
  <p:cSld name="OBJECT_WITH_CAPTION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5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3200"/>
            </a:lvl1pPr>
            <a:lvl2pPr indent="-370840" lvl="1" marL="914400" algn="l">
              <a:spcBef>
                <a:spcPts val="0"/>
              </a:spcBef>
              <a:spcAft>
                <a:spcPts val="0"/>
              </a:spcAft>
              <a:buSzPts val="2240"/>
              <a:buChar char="◻"/>
              <a:defRPr sz="2800"/>
            </a:lvl2pPr>
            <a:lvl3pPr indent="-327660" lvl="2" marL="1371600" algn="l">
              <a:spcBef>
                <a:spcPts val="0"/>
              </a:spcBef>
              <a:spcAft>
                <a:spcPts val="0"/>
              </a:spcAft>
              <a:buSzPts val="1560"/>
              <a:buChar char="■"/>
              <a:defRPr sz="2400"/>
            </a:lvl3pPr>
            <a:lvl4pPr indent="-317500" lvl="3" marL="1828800" algn="l">
              <a:spcBef>
                <a:spcPts val="0"/>
              </a:spcBef>
              <a:spcAft>
                <a:spcPts val="0"/>
              </a:spcAft>
              <a:buSzPts val="1400"/>
              <a:buChar char="◻"/>
              <a:defRPr sz="2000"/>
            </a:lvl4pPr>
            <a:lvl5pPr indent="-355600" lvl="4" marL="2286000" algn="l">
              <a:spcBef>
                <a:spcPts val="0"/>
              </a:spcBef>
              <a:spcAft>
                <a:spcPts val="0"/>
              </a:spcAft>
              <a:buSzPts val="2000"/>
              <a:buChar char="▪"/>
              <a:defRPr sz="2000"/>
            </a:lvl5pPr>
            <a:lvl6pPr indent="-355600" lvl="5" marL="2743200" algn="l">
              <a:spcBef>
                <a:spcPts val="0"/>
              </a:spcBef>
              <a:spcAft>
                <a:spcPts val="0"/>
              </a:spcAft>
              <a:buSzPts val="2000"/>
              <a:buChar char="▪"/>
              <a:defRPr sz="2000"/>
            </a:lvl6pPr>
            <a:lvl7pPr indent="-355600" lvl="6" marL="3200400" algn="l">
              <a:spcBef>
                <a:spcPts val="0"/>
              </a:spcBef>
              <a:spcAft>
                <a:spcPts val="0"/>
              </a:spcAft>
              <a:buSzPts val="2000"/>
              <a:buChar char="▪"/>
              <a:defRPr sz="2000"/>
            </a:lvl7pPr>
            <a:lvl8pPr indent="-355600" lvl="7" marL="3657600" algn="l">
              <a:spcBef>
                <a:spcPts val="0"/>
              </a:spcBef>
              <a:spcAft>
                <a:spcPts val="0"/>
              </a:spcAft>
              <a:buSzPts val="2000"/>
              <a:buChar char="▪"/>
              <a:defRPr sz="2000"/>
            </a:lvl8pPr>
            <a:lvl9pPr indent="-355600" lvl="8" marL="4114800" algn="l">
              <a:spcBef>
                <a:spcPts val="0"/>
              </a:spcBef>
              <a:spcAft>
                <a:spcPts val="0"/>
              </a:spcAft>
              <a:buSzPts val="2000"/>
              <a:buChar char="▪"/>
              <a:defRPr sz="2000"/>
            </a:lvl9pPr>
          </a:lstStyle>
          <a:p/>
        </p:txBody>
      </p:sp>
      <p:sp>
        <p:nvSpPr>
          <p:cNvPr id="85" name="Google Shape;85;p5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050"/>
              <a:buNone/>
              <a:defRPr sz="1400"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650"/>
              <a:buNone/>
              <a:defRPr sz="1000"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630"/>
              <a:buNone/>
              <a:defRPr sz="900"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86" name="Google Shape;86;p51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51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88" name="Google Shape;88;p5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исунок с подписью" type="picTx">
  <p:cSld name="PICTURE_WITH_CAPTION_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5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5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92" name="Google Shape;92;p5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050"/>
              <a:buNone/>
              <a:defRPr sz="1400"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650"/>
              <a:buNone/>
              <a:defRPr sz="1000"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630"/>
              <a:buNone/>
              <a:defRPr sz="900"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93" name="Google Shape;93;p52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52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95" name="Google Shape;95;p5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вертикальный текст" type="vertTx">
  <p:cSld name="VERTICAL_TEX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53"/>
          <p:cNvSpPr txBox="1"/>
          <p:nvPr>
            <p:ph type="title"/>
          </p:nvPr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53"/>
          <p:cNvSpPr txBox="1"/>
          <p:nvPr>
            <p:ph idx="1" type="body"/>
          </p:nvPr>
        </p:nvSpPr>
        <p:spPr>
          <a:xfrm rot="5400000">
            <a:off x="2628900" y="-190500"/>
            <a:ext cx="38862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4325" lvl="0" marL="457200" algn="l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1pPr>
            <a:lvl2pPr indent="-320040" lvl="1" marL="914400" algn="l">
              <a:spcBef>
                <a:spcPts val="0"/>
              </a:spcBef>
              <a:spcAft>
                <a:spcPts val="0"/>
              </a:spcAft>
              <a:buSzPts val="1440"/>
              <a:buChar char="◻"/>
              <a:defRPr/>
            </a:lvl2pPr>
            <a:lvl3pPr indent="-302894" lvl="2" marL="1371600" algn="l">
              <a:spcBef>
                <a:spcPts val="0"/>
              </a:spcBef>
              <a:spcAft>
                <a:spcPts val="0"/>
              </a:spcAft>
              <a:buSzPts val="1170"/>
              <a:buChar char="■"/>
              <a:defRPr/>
            </a:lvl3pPr>
            <a:lvl4pPr indent="-308610" lvl="3" marL="1828800" algn="l">
              <a:spcBef>
                <a:spcPts val="0"/>
              </a:spcBef>
              <a:spcAft>
                <a:spcPts val="0"/>
              </a:spcAft>
              <a:buSzPts val="1260"/>
              <a:buChar char="◻"/>
              <a:defRPr/>
            </a:lvl4pPr>
            <a:lvl5pPr indent="-342900" lvl="4" marL="2286000" algn="l">
              <a:spcBef>
                <a:spcPts val="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spcBef>
                <a:spcPts val="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spcBef>
                <a:spcPts val="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spcBef>
                <a:spcPts val="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spcBef>
                <a:spcPts val="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99" name="Google Shape;99;p53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53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01" name="Google Shape;101;p53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ертикальный заголовок и текст" type="vertTitleAndTx">
  <p:cSld name="VERTICAL_TITLE_AND_VERTICAL_TEXT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4"/>
          <p:cNvSpPr txBox="1"/>
          <p:nvPr>
            <p:ph type="title"/>
          </p:nvPr>
        </p:nvSpPr>
        <p:spPr>
          <a:xfrm rot="5400000">
            <a:off x="4953000" y="2133600"/>
            <a:ext cx="54102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54"/>
          <p:cNvSpPr txBox="1"/>
          <p:nvPr>
            <p:ph idx="1" type="body"/>
          </p:nvPr>
        </p:nvSpPr>
        <p:spPr>
          <a:xfrm rot="5400000">
            <a:off x="762000" y="152400"/>
            <a:ext cx="54102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4325" lvl="0" marL="457200" algn="l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1pPr>
            <a:lvl2pPr indent="-320040" lvl="1" marL="914400" algn="l">
              <a:spcBef>
                <a:spcPts val="0"/>
              </a:spcBef>
              <a:spcAft>
                <a:spcPts val="0"/>
              </a:spcAft>
              <a:buSzPts val="1440"/>
              <a:buChar char="◻"/>
              <a:defRPr/>
            </a:lvl2pPr>
            <a:lvl3pPr indent="-302894" lvl="2" marL="1371600" algn="l">
              <a:spcBef>
                <a:spcPts val="0"/>
              </a:spcBef>
              <a:spcAft>
                <a:spcPts val="0"/>
              </a:spcAft>
              <a:buSzPts val="1170"/>
              <a:buChar char="■"/>
              <a:defRPr/>
            </a:lvl3pPr>
            <a:lvl4pPr indent="-308610" lvl="3" marL="1828800" algn="l">
              <a:spcBef>
                <a:spcPts val="0"/>
              </a:spcBef>
              <a:spcAft>
                <a:spcPts val="0"/>
              </a:spcAft>
              <a:buSzPts val="1260"/>
              <a:buChar char="◻"/>
              <a:defRPr/>
            </a:lvl4pPr>
            <a:lvl5pPr indent="-342900" lvl="4" marL="2286000" algn="l">
              <a:spcBef>
                <a:spcPts val="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spcBef>
                <a:spcPts val="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spcBef>
                <a:spcPts val="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spcBef>
                <a:spcPts val="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spcBef>
                <a:spcPts val="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105" name="Google Shape;105;p54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54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07" name="Google Shape;107;p5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 type="obj">
  <p:cSld name="OBJECT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4"/>
          <p:cNvSpPr txBox="1"/>
          <p:nvPr>
            <p:ph type="title"/>
          </p:nvPr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44"/>
          <p:cNvSpPr txBox="1"/>
          <p:nvPr>
            <p:ph idx="1" type="body"/>
          </p:nvPr>
        </p:nvSpPr>
        <p:spPr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4325" lvl="0" marL="457200" algn="l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1pPr>
            <a:lvl2pPr indent="-320040" lvl="1" marL="914400" algn="l">
              <a:spcBef>
                <a:spcPts val="0"/>
              </a:spcBef>
              <a:spcAft>
                <a:spcPts val="0"/>
              </a:spcAft>
              <a:buSzPts val="1440"/>
              <a:buChar char="◻"/>
              <a:defRPr/>
            </a:lvl2pPr>
            <a:lvl3pPr indent="-302894" lvl="2" marL="1371600" algn="l">
              <a:spcBef>
                <a:spcPts val="0"/>
              </a:spcBef>
              <a:spcAft>
                <a:spcPts val="0"/>
              </a:spcAft>
              <a:buSzPts val="1170"/>
              <a:buChar char="■"/>
              <a:defRPr/>
            </a:lvl3pPr>
            <a:lvl4pPr indent="-308610" lvl="3" marL="1828800" algn="l">
              <a:spcBef>
                <a:spcPts val="0"/>
              </a:spcBef>
              <a:spcAft>
                <a:spcPts val="0"/>
              </a:spcAft>
              <a:buSzPts val="1260"/>
              <a:buChar char="◻"/>
              <a:defRPr/>
            </a:lvl4pPr>
            <a:lvl5pPr indent="-342900" lvl="4" marL="2286000" algn="l">
              <a:spcBef>
                <a:spcPts val="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spcBef>
                <a:spcPts val="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spcBef>
                <a:spcPts val="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spcBef>
                <a:spcPts val="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spcBef>
                <a:spcPts val="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127" name="Google Shape;127;p44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44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29" name="Google Shape;129;p4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 showMasterSp="0" type="title">
  <p:cSld name="TITLE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" name="Google Shape;131;p55"/>
          <p:cNvGrpSpPr/>
          <p:nvPr/>
        </p:nvGrpSpPr>
        <p:grpSpPr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132" name="Google Shape;132;p55"/>
            <p:cNvSpPr/>
            <p:nvPr/>
          </p:nvSpPr>
          <p:spPr>
            <a:xfrm>
              <a:off x="0" y="0"/>
              <a:ext cx="2208" cy="4320"/>
            </a:xfrm>
            <a:prstGeom prst="rect">
              <a:avLst/>
            </a:prstGeom>
            <a:gradFill>
              <a:gsLst>
                <a:gs pos="0">
                  <a:schemeClr val="folHlink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3" name="Google Shape;133;p55"/>
            <p:cNvSpPr/>
            <p:nvPr/>
          </p:nvSpPr>
          <p:spPr>
            <a:xfrm>
              <a:off x="1081" y="1065"/>
              <a:ext cx="4679" cy="1596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134" name="Google Shape;134;p55"/>
            <p:cNvGrpSpPr/>
            <p:nvPr/>
          </p:nvGrpSpPr>
          <p:grpSpPr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135" name="Google Shape;135;p55"/>
              <p:cNvSpPr/>
              <p:nvPr/>
            </p:nvSpPr>
            <p:spPr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6" name="Google Shape;136;p55"/>
              <p:cNvSpPr/>
              <p:nvPr/>
            </p:nvSpPr>
            <p:spPr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7" name="Google Shape;137;p55"/>
              <p:cNvSpPr/>
              <p:nvPr/>
            </p:nvSpPr>
            <p:spPr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8" name="Google Shape;138;p55"/>
              <p:cNvSpPr/>
              <p:nvPr/>
            </p:nvSpPr>
            <p:spPr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9" name="Google Shape;139;p55"/>
              <p:cNvSpPr/>
              <p:nvPr/>
            </p:nvSpPr>
            <p:spPr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40" name="Google Shape;140;p55"/>
              <p:cNvSpPr/>
              <p:nvPr/>
            </p:nvSpPr>
            <p:spPr>
              <a:xfrm>
                <a:off x="719" y="1463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41" name="Google Shape;141;p55"/>
              <p:cNvSpPr/>
              <p:nvPr/>
            </p:nvSpPr>
            <p:spPr>
              <a:xfrm>
                <a:off x="0" y="1463"/>
                <a:ext cx="367" cy="399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42" name="Google Shape;142;p55"/>
              <p:cNvSpPr/>
              <p:nvPr/>
            </p:nvSpPr>
            <p:spPr>
              <a:xfrm>
                <a:off x="1081" y="1463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43" name="Google Shape;143;p55"/>
              <p:cNvSpPr/>
              <p:nvPr/>
            </p:nvSpPr>
            <p:spPr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44" name="Google Shape;144;p55"/>
              <p:cNvSpPr/>
              <p:nvPr/>
            </p:nvSpPr>
            <p:spPr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sp>
        <p:nvSpPr>
          <p:cNvPr id="145" name="Google Shape;145;p55"/>
          <p:cNvSpPr txBox="1"/>
          <p:nvPr>
            <p:ph type="ctrTitle"/>
          </p:nvPr>
        </p:nvSpPr>
        <p:spPr>
          <a:xfrm>
            <a:off x="2971800" y="1828800"/>
            <a:ext cx="6019800" cy="22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5000"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55"/>
          <p:cNvSpPr txBox="1"/>
          <p:nvPr>
            <p:ph idx="1" type="subTitle"/>
          </p:nvPr>
        </p:nvSpPr>
        <p:spPr>
          <a:xfrm>
            <a:off x="2971800" y="4267200"/>
            <a:ext cx="6019800" cy="1752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550"/>
              <a:buFont typeface="Noto Sans Symbols"/>
              <a:buNone/>
              <a:defRPr sz="3400"/>
            </a:lvl1pPr>
            <a:lvl2pPr lvl="1" algn="l">
              <a:spcBef>
                <a:spcPts val="0"/>
              </a:spcBef>
              <a:spcAft>
                <a:spcPts val="0"/>
              </a:spcAft>
              <a:buSzPts val="1440"/>
              <a:buChar char="◻"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70"/>
              <a:buChar char="■"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260"/>
              <a:buChar char="◻"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800"/>
              <a:buChar char="▪"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800"/>
              <a:buChar char="▪"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800"/>
              <a:buChar char="▪"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800"/>
              <a:buChar char="▪"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147" name="Google Shape;147;p55"/>
          <p:cNvSpPr txBox="1"/>
          <p:nvPr>
            <p:ph idx="10" type="dt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55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55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раздела" type="secHead">
  <p:cSld name="SECTION_HEADER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5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5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40"/>
              <a:buNone/>
              <a:defRPr sz="1800"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040"/>
              <a:buNone/>
              <a:defRPr sz="1600"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80"/>
              <a:buNone/>
              <a:defRPr sz="1400"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53" name="Google Shape;153;p56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56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55" name="Google Shape;155;p5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объекта" type="twoObj">
  <p:cSld name="TWO_OBJECTS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57"/>
          <p:cNvSpPr txBox="1"/>
          <p:nvPr>
            <p:ph type="title"/>
          </p:nvPr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57"/>
          <p:cNvSpPr txBox="1"/>
          <p:nvPr>
            <p:ph idx="1" type="body"/>
          </p:nvPr>
        </p:nvSpPr>
        <p:spPr>
          <a:xfrm>
            <a:off x="457200" y="1981200"/>
            <a:ext cx="40386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1950" lvl="0" marL="457200" algn="l"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800"/>
            </a:lvl1pPr>
            <a:lvl2pPr indent="-350519" lvl="1" marL="914400" algn="l">
              <a:spcBef>
                <a:spcPts val="0"/>
              </a:spcBef>
              <a:spcAft>
                <a:spcPts val="0"/>
              </a:spcAft>
              <a:buSzPts val="1920"/>
              <a:buChar char="◻"/>
              <a:defRPr sz="2400"/>
            </a:lvl2pPr>
            <a:lvl3pPr indent="-311150" lvl="2" marL="1371600" algn="l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2000"/>
            </a:lvl3pPr>
            <a:lvl4pPr indent="-308610" lvl="3" marL="1828800" algn="l">
              <a:spcBef>
                <a:spcPts val="0"/>
              </a:spcBef>
              <a:spcAft>
                <a:spcPts val="0"/>
              </a:spcAft>
              <a:buSzPts val="1260"/>
              <a:buChar char="◻"/>
              <a:defRPr sz="1800"/>
            </a:lvl4pPr>
            <a:lvl5pPr indent="-342900" lvl="4" marL="2286000" algn="l">
              <a:spcBef>
                <a:spcPts val="0"/>
              </a:spcBef>
              <a:spcAft>
                <a:spcPts val="0"/>
              </a:spcAft>
              <a:buSzPts val="1800"/>
              <a:buChar char="▪"/>
              <a:defRPr sz="1800"/>
            </a:lvl5pPr>
            <a:lvl6pPr indent="-342900" lvl="5" marL="2743200" algn="l">
              <a:spcBef>
                <a:spcPts val="0"/>
              </a:spcBef>
              <a:spcAft>
                <a:spcPts val="0"/>
              </a:spcAft>
              <a:buSzPts val="1800"/>
              <a:buChar char="▪"/>
              <a:defRPr sz="1800"/>
            </a:lvl6pPr>
            <a:lvl7pPr indent="-342900" lvl="6" marL="3200400" algn="l">
              <a:spcBef>
                <a:spcPts val="0"/>
              </a:spcBef>
              <a:spcAft>
                <a:spcPts val="0"/>
              </a:spcAft>
              <a:buSzPts val="1800"/>
              <a:buChar char="▪"/>
              <a:defRPr sz="1800"/>
            </a:lvl7pPr>
            <a:lvl8pPr indent="-342900" lvl="7" marL="3657600" algn="l">
              <a:spcBef>
                <a:spcPts val="0"/>
              </a:spcBef>
              <a:spcAft>
                <a:spcPts val="0"/>
              </a:spcAft>
              <a:buSzPts val="1800"/>
              <a:buChar char="▪"/>
              <a:defRPr sz="1800"/>
            </a:lvl8pPr>
            <a:lvl9pPr indent="-342900" lvl="8" marL="4114800" algn="l">
              <a:spcBef>
                <a:spcPts val="0"/>
              </a:spcBef>
              <a:spcAft>
                <a:spcPts val="0"/>
              </a:spcAft>
              <a:buSzPts val="1800"/>
              <a:buChar char="▪"/>
              <a:defRPr sz="1800"/>
            </a:lvl9pPr>
          </a:lstStyle>
          <a:p/>
        </p:txBody>
      </p:sp>
      <p:sp>
        <p:nvSpPr>
          <p:cNvPr id="159" name="Google Shape;159;p57"/>
          <p:cNvSpPr txBox="1"/>
          <p:nvPr>
            <p:ph idx="2" type="body"/>
          </p:nvPr>
        </p:nvSpPr>
        <p:spPr>
          <a:xfrm>
            <a:off x="4648200" y="1981200"/>
            <a:ext cx="40386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1950" lvl="0" marL="457200" algn="l"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800"/>
            </a:lvl1pPr>
            <a:lvl2pPr indent="-350519" lvl="1" marL="914400" algn="l">
              <a:spcBef>
                <a:spcPts val="0"/>
              </a:spcBef>
              <a:spcAft>
                <a:spcPts val="0"/>
              </a:spcAft>
              <a:buSzPts val="1920"/>
              <a:buChar char="◻"/>
              <a:defRPr sz="2400"/>
            </a:lvl2pPr>
            <a:lvl3pPr indent="-311150" lvl="2" marL="1371600" algn="l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2000"/>
            </a:lvl3pPr>
            <a:lvl4pPr indent="-308610" lvl="3" marL="1828800" algn="l">
              <a:spcBef>
                <a:spcPts val="0"/>
              </a:spcBef>
              <a:spcAft>
                <a:spcPts val="0"/>
              </a:spcAft>
              <a:buSzPts val="1260"/>
              <a:buChar char="◻"/>
              <a:defRPr sz="1800"/>
            </a:lvl4pPr>
            <a:lvl5pPr indent="-342900" lvl="4" marL="2286000" algn="l">
              <a:spcBef>
                <a:spcPts val="0"/>
              </a:spcBef>
              <a:spcAft>
                <a:spcPts val="0"/>
              </a:spcAft>
              <a:buSzPts val="1800"/>
              <a:buChar char="▪"/>
              <a:defRPr sz="1800"/>
            </a:lvl5pPr>
            <a:lvl6pPr indent="-342900" lvl="5" marL="2743200" algn="l">
              <a:spcBef>
                <a:spcPts val="0"/>
              </a:spcBef>
              <a:spcAft>
                <a:spcPts val="0"/>
              </a:spcAft>
              <a:buSzPts val="1800"/>
              <a:buChar char="▪"/>
              <a:defRPr sz="1800"/>
            </a:lvl6pPr>
            <a:lvl7pPr indent="-342900" lvl="6" marL="3200400" algn="l">
              <a:spcBef>
                <a:spcPts val="0"/>
              </a:spcBef>
              <a:spcAft>
                <a:spcPts val="0"/>
              </a:spcAft>
              <a:buSzPts val="1800"/>
              <a:buChar char="▪"/>
              <a:defRPr sz="1800"/>
            </a:lvl7pPr>
            <a:lvl8pPr indent="-342900" lvl="7" marL="3657600" algn="l">
              <a:spcBef>
                <a:spcPts val="0"/>
              </a:spcBef>
              <a:spcAft>
                <a:spcPts val="0"/>
              </a:spcAft>
              <a:buSzPts val="1800"/>
              <a:buChar char="▪"/>
              <a:defRPr sz="1800"/>
            </a:lvl8pPr>
            <a:lvl9pPr indent="-342900" lvl="8" marL="4114800" algn="l">
              <a:spcBef>
                <a:spcPts val="0"/>
              </a:spcBef>
              <a:spcAft>
                <a:spcPts val="0"/>
              </a:spcAft>
              <a:buSzPts val="1800"/>
              <a:buChar char="▪"/>
              <a:defRPr sz="1800"/>
            </a:lvl9pPr>
          </a:lstStyle>
          <a:p/>
        </p:txBody>
      </p:sp>
      <p:sp>
        <p:nvSpPr>
          <p:cNvPr id="160" name="Google Shape;160;p57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57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62" name="Google Shape;162;p5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равнение" type="twoTxTwoObj">
  <p:cSld name="TWO_OBJECTS_WITH_TEXT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5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5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800"/>
              <a:buNone/>
              <a:defRPr b="1" sz="2400"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70"/>
              <a:buNone/>
              <a:defRPr b="1" sz="1800"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20"/>
              <a:buNone/>
              <a:defRPr b="1" sz="1600"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66" name="Google Shape;166;p5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2400"/>
            </a:lvl1pPr>
            <a:lvl2pPr indent="-330200" lvl="1" marL="914400" algn="l">
              <a:spcBef>
                <a:spcPts val="0"/>
              </a:spcBef>
              <a:spcAft>
                <a:spcPts val="0"/>
              </a:spcAft>
              <a:buSzPts val="1600"/>
              <a:buChar char="◻"/>
              <a:defRPr sz="2000"/>
            </a:lvl2pPr>
            <a:lvl3pPr indent="-302894" lvl="2" marL="1371600" algn="l">
              <a:spcBef>
                <a:spcPts val="0"/>
              </a:spcBef>
              <a:spcAft>
                <a:spcPts val="0"/>
              </a:spcAft>
              <a:buSzPts val="1170"/>
              <a:buChar char="■"/>
              <a:defRPr sz="1800"/>
            </a:lvl3pPr>
            <a:lvl4pPr indent="-299719" lvl="3" marL="1828800" algn="l">
              <a:spcBef>
                <a:spcPts val="0"/>
              </a:spcBef>
              <a:spcAft>
                <a:spcPts val="0"/>
              </a:spcAft>
              <a:buSzPts val="1120"/>
              <a:buChar char="◻"/>
              <a:defRPr sz="1600"/>
            </a:lvl4pPr>
            <a:lvl5pPr indent="-330200" lvl="4" marL="2286000" algn="l">
              <a:spcBef>
                <a:spcPts val="0"/>
              </a:spcBef>
              <a:spcAft>
                <a:spcPts val="0"/>
              </a:spcAft>
              <a:buSzPts val="1600"/>
              <a:buChar char="▪"/>
              <a:defRPr sz="1600"/>
            </a:lvl5pPr>
            <a:lvl6pPr indent="-330200" lvl="5" marL="2743200" algn="l">
              <a:spcBef>
                <a:spcPts val="0"/>
              </a:spcBef>
              <a:spcAft>
                <a:spcPts val="0"/>
              </a:spcAft>
              <a:buSzPts val="1600"/>
              <a:buChar char="▪"/>
              <a:defRPr sz="1600"/>
            </a:lvl6pPr>
            <a:lvl7pPr indent="-330200" lvl="6" marL="3200400" algn="l">
              <a:spcBef>
                <a:spcPts val="0"/>
              </a:spcBef>
              <a:spcAft>
                <a:spcPts val="0"/>
              </a:spcAft>
              <a:buSzPts val="1600"/>
              <a:buChar char="▪"/>
              <a:defRPr sz="1600"/>
            </a:lvl7pPr>
            <a:lvl8pPr indent="-330200" lvl="7" marL="3657600" algn="l">
              <a:spcBef>
                <a:spcPts val="0"/>
              </a:spcBef>
              <a:spcAft>
                <a:spcPts val="0"/>
              </a:spcAft>
              <a:buSzPts val="1600"/>
              <a:buChar char="▪"/>
              <a:defRPr sz="1600"/>
            </a:lvl8pPr>
            <a:lvl9pPr indent="-330200" lvl="8" marL="4114800" algn="l">
              <a:spcBef>
                <a:spcPts val="0"/>
              </a:spcBef>
              <a:spcAft>
                <a:spcPts val="0"/>
              </a:spcAft>
              <a:buSzPts val="1600"/>
              <a:buChar char="▪"/>
              <a:defRPr sz="1600"/>
            </a:lvl9pPr>
          </a:lstStyle>
          <a:p/>
        </p:txBody>
      </p:sp>
      <p:sp>
        <p:nvSpPr>
          <p:cNvPr id="167" name="Google Shape;167;p5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800"/>
              <a:buNone/>
              <a:defRPr b="1" sz="2400"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70"/>
              <a:buNone/>
              <a:defRPr b="1" sz="1800"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20"/>
              <a:buNone/>
              <a:defRPr b="1" sz="1600"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68" name="Google Shape;168;p5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2400"/>
            </a:lvl1pPr>
            <a:lvl2pPr indent="-330200" lvl="1" marL="914400" algn="l">
              <a:spcBef>
                <a:spcPts val="0"/>
              </a:spcBef>
              <a:spcAft>
                <a:spcPts val="0"/>
              </a:spcAft>
              <a:buSzPts val="1600"/>
              <a:buChar char="◻"/>
              <a:defRPr sz="2000"/>
            </a:lvl2pPr>
            <a:lvl3pPr indent="-302894" lvl="2" marL="1371600" algn="l">
              <a:spcBef>
                <a:spcPts val="0"/>
              </a:spcBef>
              <a:spcAft>
                <a:spcPts val="0"/>
              </a:spcAft>
              <a:buSzPts val="1170"/>
              <a:buChar char="■"/>
              <a:defRPr sz="1800"/>
            </a:lvl3pPr>
            <a:lvl4pPr indent="-299719" lvl="3" marL="1828800" algn="l">
              <a:spcBef>
                <a:spcPts val="0"/>
              </a:spcBef>
              <a:spcAft>
                <a:spcPts val="0"/>
              </a:spcAft>
              <a:buSzPts val="1120"/>
              <a:buChar char="◻"/>
              <a:defRPr sz="1600"/>
            </a:lvl4pPr>
            <a:lvl5pPr indent="-330200" lvl="4" marL="2286000" algn="l">
              <a:spcBef>
                <a:spcPts val="0"/>
              </a:spcBef>
              <a:spcAft>
                <a:spcPts val="0"/>
              </a:spcAft>
              <a:buSzPts val="1600"/>
              <a:buChar char="▪"/>
              <a:defRPr sz="1600"/>
            </a:lvl5pPr>
            <a:lvl6pPr indent="-330200" lvl="5" marL="2743200" algn="l">
              <a:spcBef>
                <a:spcPts val="0"/>
              </a:spcBef>
              <a:spcAft>
                <a:spcPts val="0"/>
              </a:spcAft>
              <a:buSzPts val="1600"/>
              <a:buChar char="▪"/>
              <a:defRPr sz="1600"/>
            </a:lvl6pPr>
            <a:lvl7pPr indent="-330200" lvl="6" marL="3200400" algn="l">
              <a:spcBef>
                <a:spcPts val="0"/>
              </a:spcBef>
              <a:spcAft>
                <a:spcPts val="0"/>
              </a:spcAft>
              <a:buSzPts val="1600"/>
              <a:buChar char="▪"/>
              <a:defRPr sz="1600"/>
            </a:lvl7pPr>
            <a:lvl8pPr indent="-330200" lvl="7" marL="3657600" algn="l">
              <a:spcBef>
                <a:spcPts val="0"/>
              </a:spcBef>
              <a:spcAft>
                <a:spcPts val="0"/>
              </a:spcAft>
              <a:buSzPts val="1600"/>
              <a:buChar char="▪"/>
              <a:defRPr sz="1600"/>
            </a:lvl8pPr>
            <a:lvl9pPr indent="-330200" lvl="8" marL="4114800" algn="l">
              <a:spcBef>
                <a:spcPts val="0"/>
              </a:spcBef>
              <a:spcAft>
                <a:spcPts val="0"/>
              </a:spcAft>
              <a:buSzPts val="1600"/>
              <a:buChar char="▪"/>
              <a:defRPr sz="1600"/>
            </a:lvl9pPr>
          </a:lstStyle>
          <a:p/>
        </p:txBody>
      </p:sp>
      <p:sp>
        <p:nvSpPr>
          <p:cNvPr id="169" name="Google Shape;169;p58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" name="Google Shape;170;p58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71" name="Google Shape;171;p5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олько заголовок" type="titleOnly">
  <p:cSld name="TITLE_ONLY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59"/>
          <p:cNvSpPr txBox="1"/>
          <p:nvPr>
            <p:ph type="title"/>
          </p:nvPr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p59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59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76" name="Google Shape;176;p59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 type="blank">
  <p:cSld name="BLANK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60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60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80" name="Google Shape;180;p60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ъект с подписью" type="objTx">
  <p:cSld name="OBJECT_WITH_CAPTION_TEXT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6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p6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3200"/>
            </a:lvl1pPr>
            <a:lvl2pPr indent="-370840" lvl="1" marL="914400" algn="l">
              <a:spcBef>
                <a:spcPts val="0"/>
              </a:spcBef>
              <a:spcAft>
                <a:spcPts val="0"/>
              </a:spcAft>
              <a:buSzPts val="2240"/>
              <a:buChar char="◻"/>
              <a:defRPr sz="2800"/>
            </a:lvl2pPr>
            <a:lvl3pPr indent="-327660" lvl="2" marL="1371600" algn="l">
              <a:spcBef>
                <a:spcPts val="0"/>
              </a:spcBef>
              <a:spcAft>
                <a:spcPts val="0"/>
              </a:spcAft>
              <a:buSzPts val="1560"/>
              <a:buChar char="■"/>
              <a:defRPr sz="2400"/>
            </a:lvl3pPr>
            <a:lvl4pPr indent="-317500" lvl="3" marL="1828800" algn="l">
              <a:spcBef>
                <a:spcPts val="0"/>
              </a:spcBef>
              <a:spcAft>
                <a:spcPts val="0"/>
              </a:spcAft>
              <a:buSzPts val="1400"/>
              <a:buChar char="◻"/>
              <a:defRPr sz="2000"/>
            </a:lvl4pPr>
            <a:lvl5pPr indent="-355600" lvl="4" marL="2286000" algn="l">
              <a:spcBef>
                <a:spcPts val="0"/>
              </a:spcBef>
              <a:spcAft>
                <a:spcPts val="0"/>
              </a:spcAft>
              <a:buSzPts val="2000"/>
              <a:buChar char="▪"/>
              <a:defRPr sz="2000"/>
            </a:lvl5pPr>
            <a:lvl6pPr indent="-355600" lvl="5" marL="2743200" algn="l">
              <a:spcBef>
                <a:spcPts val="0"/>
              </a:spcBef>
              <a:spcAft>
                <a:spcPts val="0"/>
              </a:spcAft>
              <a:buSzPts val="2000"/>
              <a:buChar char="▪"/>
              <a:defRPr sz="2000"/>
            </a:lvl6pPr>
            <a:lvl7pPr indent="-355600" lvl="6" marL="3200400" algn="l">
              <a:spcBef>
                <a:spcPts val="0"/>
              </a:spcBef>
              <a:spcAft>
                <a:spcPts val="0"/>
              </a:spcAft>
              <a:buSzPts val="2000"/>
              <a:buChar char="▪"/>
              <a:defRPr sz="2000"/>
            </a:lvl7pPr>
            <a:lvl8pPr indent="-355600" lvl="7" marL="3657600" algn="l">
              <a:spcBef>
                <a:spcPts val="0"/>
              </a:spcBef>
              <a:spcAft>
                <a:spcPts val="0"/>
              </a:spcAft>
              <a:buSzPts val="2000"/>
              <a:buChar char="▪"/>
              <a:defRPr sz="2000"/>
            </a:lvl8pPr>
            <a:lvl9pPr indent="-355600" lvl="8" marL="4114800" algn="l">
              <a:spcBef>
                <a:spcPts val="0"/>
              </a:spcBef>
              <a:spcAft>
                <a:spcPts val="0"/>
              </a:spcAft>
              <a:buSzPts val="2000"/>
              <a:buChar char="▪"/>
              <a:defRPr sz="2000"/>
            </a:lvl9pPr>
          </a:lstStyle>
          <a:p/>
        </p:txBody>
      </p:sp>
      <p:sp>
        <p:nvSpPr>
          <p:cNvPr id="184" name="Google Shape;184;p6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050"/>
              <a:buNone/>
              <a:defRPr sz="1400"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650"/>
              <a:buNone/>
              <a:defRPr sz="1000"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630"/>
              <a:buNone/>
              <a:defRPr sz="900"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85" name="Google Shape;185;p61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61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87" name="Google Shape;187;p6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исунок с подписью" type="picTx">
  <p:cSld name="PICTURE_WITH_CAPTION_TEXT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6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" name="Google Shape;190;p6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91" name="Google Shape;191;p6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050"/>
              <a:buNone/>
              <a:defRPr sz="1400"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650"/>
              <a:buNone/>
              <a:defRPr sz="1000"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630"/>
              <a:buNone/>
              <a:defRPr sz="900"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92" name="Google Shape;192;p62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p62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94" name="Google Shape;194;p6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вертикальный текст" type="vertTx">
  <p:cSld name="VERTICAL_TEXT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63"/>
          <p:cNvSpPr txBox="1"/>
          <p:nvPr>
            <p:ph type="title"/>
          </p:nvPr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63"/>
          <p:cNvSpPr txBox="1"/>
          <p:nvPr>
            <p:ph idx="1" type="body"/>
          </p:nvPr>
        </p:nvSpPr>
        <p:spPr>
          <a:xfrm rot="5400000">
            <a:off x="2628900" y="-190500"/>
            <a:ext cx="38862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4325" lvl="0" marL="457200" algn="l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1pPr>
            <a:lvl2pPr indent="-320040" lvl="1" marL="914400" algn="l">
              <a:spcBef>
                <a:spcPts val="0"/>
              </a:spcBef>
              <a:spcAft>
                <a:spcPts val="0"/>
              </a:spcAft>
              <a:buSzPts val="1440"/>
              <a:buChar char="◻"/>
              <a:defRPr/>
            </a:lvl2pPr>
            <a:lvl3pPr indent="-302894" lvl="2" marL="1371600" algn="l">
              <a:spcBef>
                <a:spcPts val="0"/>
              </a:spcBef>
              <a:spcAft>
                <a:spcPts val="0"/>
              </a:spcAft>
              <a:buSzPts val="1170"/>
              <a:buChar char="■"/>
              <a:defRPr/>
            </a:lvl3pPr>
            <a:lvl4pPr indent="-308610" lvl="3" marL="1828800" algn="l">
              <a:spcBef>
                <a:spcPts val="0"/>
              </a:spcBef>
              <a:spcAft>
                <a:spcPts val="0"/>
              </a:spcAft>
              <a:buSzPts val="1260"/>
              <a:buChar char="◻"/>
              <a:defRPr/>
            </a:lvl4pPr>
            <a:lvl5pPr indent="-342900" lvl="4" marL="2286000" algn="l">
              <a:spcBef>
                <a:spcPts val="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spcBef>
                <a:spcPts val="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spcBef>
                <a:spcPts val="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spcBef>
                <a:spcPts val="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spcBef>
                <a:spcPts val="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198" name="Google Shape;198;p63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9" name="Google Shape;199;p63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00" name="Google Shape;200;p63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ертикальный заголовок и текст" type="vertTitleAndTx">
  <p:cSld name="VERTICAL_TITLE_AND_VERTICAL_TEXT"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64"/>
          <p:cNvSpPr txBox="1"/>
          <p:nvPr>
            <p:ph type="title"/>
          </p:nvPr>
        </p:nvSpPr>
        <p:spPr>
          <a:xfrm rot="5400000">
            <a:off x="4953000" y="2133600"/>
            <a:ext cx="54102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64"/>
          <p:cNvSpPr txBox="1"/>
          <p:nvPr>
            <p:ph idx="1" type="body"/>
          </p:nvPr>
        </p:nvSpPr>
        <p:spPr>
          <a:xfrm rot="5400000">
            <a:off x="762000" y="152400"/>
            <a:ext cx="54102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4325" lvl="0" marL="457200" algn="l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1pPr>
            <a:lvl2pPr indent="-320040" lvl="1" marL="914400" algn="l">
              <a:spcBef>
                <a:spcPts val="0"/>
              </a:spcBef>
              <a:spcAft>
                <a:spcPts val="0"/>
              </a:spcAft>
              <a:buSzPts val="1440"/>
              <a:buChar char="◻"/>
              <a:defRPr/>
            </a:lvl2pPr>
            <a:lvl3pPr indent="-302894" lvl="2" marL="1371600" algn="l">
              <a:spcBef>
                <a:spcPts val="0"/>
              </a:spcBef>
              <a:spcAft>
                <a:spcPts val="0"/>
              </a:spcAft>
              <a:buSzPts val="1170"/>
              <a:buChar char="■"/>
              <a:defRPr/>
            </a:lvl3pPr>
            <a:lvl4pPr indent="-308610" lvl="3" marL="1828800" algn="l">
              <a:spcBef>
                <a:spcPts val="0"/>
              </a:spcBef>
              <a:spcAft>
                <a:spcPts val="0"/>
              </a:spcAft>
              <a:buSzPts val="1260"/>
              <a:buChar char="◻"/>
              <a:defRPr/>
            </a:lvl4pPr>
            <a:lvl5pPr indent="-342900" lvl="4" marL="2286000" algn="l">
              <a:spcBef>
                <a:spcPts val="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spcBef>
                <a:spcPts val="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spcBef>
                <a:spcPts val="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spcBef>
                <a:spcPts val="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spcBef>
                <a:spcPts val="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204" name="Google Shape;204;p64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64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06" name="Google Shape;206;p6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таблица" type="tbl">
  <p:cSld name="TABLE"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65"/>
          <p:cNvSpPr txBox="1"/>
          <p:nvPr>
            <p:ph type="title"/>
          </p:nvPr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p65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65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11" name="Google Shape;211;p6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1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41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grpSp>
        <p:nvGrpSpPr>
          <p:cNvPr id="12" name="Google Shape;12;p41"/>
          <p:cNvGrpSpPr/>
          <p:nvPr/>
        </p:nvGrpSpPr>
        <p:grpSpPr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3" name="Google Shape;13;p41"/>
            <p:cNvSpPr/>
            <p:nvPr/>
          </p:nvSpPr>
          <p:spPr>
            <a:xfrm>
              <a:off x="0" y="0"/>
              <a:ext cx="180" cy="336"/>
            </a:xfrm>
            <a:prstGeom prst="rect">
              <a:avLst/>
            </a:prstGeom>
            <a:gradFill>
              <a:gsLst>
                <a:gs pos="0">
                  <a:schemeClr val="folHlink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" name="Google Shape;14;p41"/>
            <p:cNvSpPr/>
            <p:nvPr/>
          </p:nvSpPr>
          <p:spPr>
            <a:xfrm>
              <a:off x="260" y="85"/>
              <a:ext cx="5500" cy="173"/>
            </a:xfrm>
            <a:prstGeom prst="rect">
              <a:avLst/>
            </a:prstGeom>
            <a:gradFill>
              <a:gsLst>
                <a:gs pos="0">
                  <a:schemeClr val="lt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" name="Google Shape;15;p41"/>
            <p:cNvSpPr/>
            <p:nvPr/>
          </p:nvSpPr>
          <p:spPr>
            <a:xfrm>
              <a:off x="258" y="85"/>
              <a:ext cx="87" cy="88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41"/>
            <p:cNvSpPr/>
            <p:nvPr/>
          </p:nvSpPr>
          <p:spPr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41"/>
            <p:cNvSpPr/>
            <p:nvPr/>
          </p:nvSpPr>
          <p:spPr>
            <a:xfrm>
              <a:off x="345" y="85"/>
              <a:ext cx="88" cy="8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41"/>
            <p:cNvSpPr/>
            <p:nvPr/>
          </p:nvSpPr>
          <p:spPr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41"/>
            <p:cNvSpPr/>
            <p:nvPr/>
          </p:nvSpPr>
          <p:spPr>
            <a:xfrm>
              <a:off x="83" y="86"/>
              <a:ext cx="88" cy="87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0" name="Google Shape;20;p41"/>
            <p:cNvSpPr/>
            <p:nvPr/>
          </p:nvSpPr>
          <p:spPr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41"/>
            <p:cNvSpPr/>
            <p:nvPr/>
          </p:nvSpPr>
          <p:spPr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" name="Google Shape;22;p41"/>
          <p:cNvSpPr txBox="1"/>
          <p:nvPr>
            <p:ph type="title"/>
          </p:nvPr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" name="Google Shape;23;p41"/>
          <p:cNvSpPr txBox="1"/>
          <p:nvPr>
            <p:ph idx="1" type="body"/>
          </p:nvPr>
        </p:nvSpPr>
        <p:spPr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Noto Sans Symbols"/>
              <a:buChar char="■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7084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40"/>
              <a:buFont typeface="Noto Sans Symbols"/>
              <a:buChar char="◻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7660" lvl="2" marL="137160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6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" name="Google Shape;24;p4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3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0" name="Google Shape;110;p43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grpSp>
        <p:nvGrpSpPr>
          <p:cNvPr id="111" name="Google Shape;111;p43"/>
          <p:cNvGrpSpPr/>
          <p:nvPr/>
        </p:nvGrpSpPr>
        <p:grpSpPr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12" name="Google Shape;112;p43"/>
            <p:cNvSpPr/>
            <p:nvPr/>
          </p:nvSpPr>
          <p:spPr>
            <a:xfrm>
              <a:off x="0" y="0"/>
              <a:ext cx="180" cy="336"/>
            </a:xfrm>
            <a:prstGeom prst="rect">
              <a:avLst/>
            </a:prstGeom>
            <a:gradFill>
              <a:gsLst>
                <a:gs pos="0">
                  <a:schemeClr val="folHlink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3" name="Google Shape;113;p43"/>
            <p:cNvSpPr/>
            <p:nvPr/>
          </p:nvSpPr>
          <p:spPr>
            <a:xfrm>
              <a:off x="260" y="85"/>
              <a:ext cx="5500" cy="173"/>
            </a:xfrm>
            <a:prstGeom prst="rect">
              <a:avLst/>
            </a:prstGeom>
            <a:gradFill>
              <a:gsLst>
                <a:gs pos="0">
                  <a:schemeClr val="lt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4" name="Google Shape;114;p43"/>
            <p:cNvSpPr/>
            <p:nvPr/>
          </p:nvSpPr>
          <p:spPr>
            <a:xfrm>
              <a:off x="258" y="85"/>
              <a:ext cx="87" cy="88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43"/>
            <p:cNvSpPr/>
            <p:nvPr/>
          </p:nvSpPr>
          <p:spPr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43"/>
            <p:cNvSpPr/>
            <p:nvPr/>
          </p:nvSpPr>
          <p:spPr>
            <a:xfrm>
              <a:off x="345" y="85"/>
              <a:ext cx="88" cy="8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43"/>
            <p:cNvSpPr/>
            <p:nvPr/>
          </p:nvSpPr>
          <p:spPr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43"/>
            <p:cNvSpPr/>
            <p:nvPr/>
          </p:nvSpPr>
          <p:spPr>
            <a:xfrm>
              <a:off x="83" y="86"/>
              <a:ext cx="88" cy="87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9" name="Google Shape;119;p43"/>
            <p:cNvSpPr/>
            <p:nvPr/>
          </p:nvSpPr>
          <p:spPr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43"/>
            <p:cNvSpPr/>
            <p:nvPr/>
          </p:nvSpPr>
          <p:spPr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1" name="Google Shape;121;p43"/>
          <p:cNvSpPr txBox="1"/>
          <p:nvPr>
            <p:ph type="title"/>
          </p:nvPr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2" name="Google Shape;122;p43"/>
          <p:cNvSpPr txBox="1"/>
          <p:nvPr>
            <p:ph idx="1" type="body"/>
          </p:nvPr>
        </p:nvSpPr>
        <p:spPr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Noto Sans Symbols"/>
              <a:buChar char="■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7084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40"/>
              <a:buFont typeface="Noto Sans Symbols"/>
              <a:buChar char="◻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7660" lvl="2" marL="137160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6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3" name="Google Shape;123;p43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hyperlink" Target="http://biblioclub.ru/index.php?page=book&amp;id=575324" TargetMode="External"/><Relationship Id="rId4" Type="http://schemas.openxmlformats.org/officeDocument/2006/relationships/hyperlink" Target="http://biblioclub.ru/index.php?page=book&amp;id=429087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hyperlink" Target="http://www.iprbookshop.ru/52210" TargetMode="External"/></Relationships>
</file>

<file path=ppt/slides/_rels/slide6.xml.rels><?xml version="1.0" encoding="UTF-8" standalone="yes"?><Relationships xmlns="http://schemas.openxmlformats.org/package/2006/relationships"><Relationship Id="rId10" Type="http://schemas.openxmlformats.org/officeDocument/2006/relationships/hyperlink" Target="https://drive.google.com/open?id=1aPrGo1XBiQedhvnALgVJL1Erz4aqQlRv" TargetMode="Externa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yadi.sk/i/OWI2ErOBFfYTJw" TargetMode="External"/><Relationship Id="rId4" Type="http://schemas.openxmlformats.org/officeDocument/2006/relationships/hyperlink" Target="https://yadi.sk/i/XtFY5YSsfoHK8g" TargetMode="External"/><Relationship Id="rId9" Type="http://schemas.openxmlformats.org/officeDocument/2006/relationships/hyperlink" Target="https://drive.google.com/open?id=1aPrGo1XBiQedhvnALgVJL1Erz4aqQlRv" TargetMode="External"/><Relationship Id="rId5" Type="http://schemas.openxmlformats.org/officeDocument/2006/relationships/hyperlink" Target="https://yadi.sk/i/8ntKILS5uvMsZ" TargetMode="External"/><Relationship Id="rId6" Type="http://schemas.openxmlformats.org/officeDocument/2006/relationships/hyperlink" Target="https://yadi.sk/i/lOO3caBfW9h_dA" TargetMode="External"/><Relationship Id="rId7" Type="http://schemas.openxmlformats.org/officeDocument/2006/relationships/hyperlink" Target="http://www.osp.ru/os/archive/" TargetMode="External"/><Relationship Id="rId8" Type="http://schemas.openxmlformats.org/officeDocument/2006/relationships/hyperlink" Target="https://reestr-minsvyaz.ru/reestr/reestr-po-klassu-sistemy-upravleniya-bazami-dannyx/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://ru.wikipedia.org/wiki/%D0%91%D0%B0%D0%B7%D0%B0_%D0%B4%D0%B0%D0%BD%D0%BD%D1%8B%D1%85" TargetMode="External"/><Relationship Id="rId4" Type="http://schemas.openxmlformats.org/officeDocument/2006/relationships/hyperlink" Target="http://ru.wikipedia.org/wiki/%D0%91%D0%B0%D0%B7%D0%B0_%D0%B4%D0%B0%D0%BD%D0%BD%D1%8B%D1%85" TargetMode="External"/><Relationship Id="rId5" Type="http://schemas.openxmlformats.org/officeDocument/2006/relationships/hyperlink" Target="http://ru.wikipedia.org/wiki/%D0%91%D0%B0%D0%B7%D0%B0_%D0%B4%D0%B0%D0%BD%D0%BD%D1%8B%D1%85" TargetMode="External"/><Relationship Id="rId6" Type="http://schemas.openxmlformats.org/officeDocument/2006/relationships/hyperlink" Target="http://ru.wikipedia.org/wiki/%D0%91%D0%B0%D0%B7%D0%B0_%D0%B4%D0%B0%D0%BD%D0%BD%D1%8B%D1%85" TargetMode="External"/><Relationship Id="rId7" Type="http://schemas.openxmlformats.org/officeDocument/2006/relationships/hyperlink" Target="http://ru.wikipedia.org/wiki/%D0%91%D0%B0%D0%B7%D0%B0_%D0%B4%D0%B0%D0%BD%D0%BD%D1%8B%D1%85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"/>
          <p:cNvSpPr txBox="1"/>
          <p:nvPr>
            <p:ph type="ctrTitle"/>
          </p:nvPr>
        </p:nvSpPr>
        <p:spPr>
          <a:xfrm>
            <a:off x="1871700" y="1763815"/>
            <a:ext cx="7272300" cy="22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Базы данных</a:t>
            </a:r>
            <a:endParaRPr/>
          </a:p>
        </p:txBody>
      </p:sp>
      <p:sp>
        <p:nvSpPr>
          <p:cNvPr id="217" name="Google Shape;217;p1"/>
          <p:cNvSpPr txBox="1"/>
          <p:nvPr>
            <p:ph idx="1" type="subTitle"/>
          </p:nvPr>
        </p:nvSpPr>
        <p:spPr>
          <a:xfrm>
            <a:off x="2971800" y="4267200"/>
            <a:ext cx="6019800" cy="1752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550"/>
              <a:buNone/>
            </a:pPr>
            <a:r>
              <a:rPr lang="ru-RU">
                <a:solidFill>
                  <a:schemeClr val="lt2"/>
                </a:solidFill>
              </a:rPr>
              <a:t>Пищик Борис Николаевич</a:t>
            </a:r>
            <a:endParaRPr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550"/>
              <a:buNone/>
            </a:pPr>
            <a:r>
              <a:t/>
            </a:r>
            <a:endParaRPr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-RU" sz="3200">
                <a:solidFill>
                  <a:schemeClr val="lt2"/>
                </a:solidFill>
              </a:rPr>
              <a:t>b.pishchik@g.nsu.ru</a:t>
            </a:r>
            <a:endParaRPr sz="32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55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"/>
          <p:cNvSpPr txBox="1"/>
          <p:nvPr>
            <p:ph type="title"/>
          </p:nvPr>
        </p:nvSpPr>
        <p:spPr>
          <a:xfrm>
            <a:off x="386535" y="188640"/>
            <a:ext cx="8229600" cy="8112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ru-RU" sz="3600"/>
              <a:t>Темы курса</a:t>
            </a:r>
            <a:endParaRPr/>
          </a:p>
        </p:txBody>
      </p:sp>
      <p:sp>
        <p:nvSpPr>
          <p:cNvPr id="223" name="Google Shape;223;p2"/>
          <p:cNvSpPr txBox="1"/>
          <p:nvPr>
            <p:ph idx="1" type="body"/>
          </p:nvPr>
        </p:nvSpPr>
        <p:spPr>
          <a:xfrm>
            <a:off x="431540" y="1088740"/>
            <a:ext cx="8337612" cy="55806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100"/>
              <a:buChar char="■"/>
            </a:pPr>
            <a:r>
              <a:rPr lang="ru-RU" sz="2800"/>
              <a:t>Проектирование структуры базы данных</a:t>
            </a:r>
            <a:endParaRPr/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100"/>
              <a:buChar char="■"/>
            </a:pPr>
            <a:r>
              <a:rPr lang="ru-RU" sz="2800"/>
              <a:t>Теория баз данных</a:t>
            </a:r>
            <a:endParaRPr/>
          </a:p>
          <a:p>
            <a:pPr indent="-285750" lvl="1" marL="742950" rtl="0" algn="l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920"/>
              <a:buFont typeface="Noto Sans Symbols"/>
              <a:buChar char="❖"/>
            </a:pPr>
            <a:r>
              <a:rPr lang="ru-RU" sz="2400"/>
              <a:t>Реляционная модель</a:t>
            </a:r>
            <a:endParaRPr/>
          </a:p>
          <a:p>
            <a:pPr indent="-285750" lvl="1" marL="742950" rtl="0" algn="l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920"/>
              <a:buFont typeface="Noto Sans Symbols"/>
              <a:buChar char="❖"/>
            </a:pPr>
            <a:r>
              <a:rPr lang="ru-RU" sz="2400"/>
              <a:t>Объектная модель</a:t>
            </a:r>
            <a:endParaRPr/>
          </a:p>
          <a:p>
            <a:pPr indent="-285750" lvl="1" marL="742950" rtl="0" algn="l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920"/>
              <a:buFont typeface="Noto Sans Symbols"/>
              <a:buChar char="❖"/>
            </a:pPr>
            <a:r>
              <a:rPr lang="ru-RU" sz="2400"/>
              <a:t>Иерархическая, сетевая модели</a:t>
            </a:r>
            <a:endParaRPr/>
          </a:p>
          <a:p>
            <a:pPr indent="-285750" lvl="1" marL="742950" rtl="0" algn="l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920"/>
              <a:buFont typeface="Noto Sans Symbols"/>
              <a:buChar char="❖"/>
            </a:pPr>
            <a:r>
              <a:rPr lang="ru-RU" sz="2400"/>
              <a:t>NoSQL модели</a:t>
            </a:r>
            <a:endParaRPr/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100"/>
              <a:buChar char="■"/>
            </a:pPr>
            <a:r>
              <a:rPr lang="ru-RU" sz="2800"/>
              <a:t>Системное программирование баз данных</a:t>
            </a:r>
            <a:endParaRPr/>
          </a:p>
          <a:p>
            <a:pPr indent="-285750" lvl="1" marL="742950" rtl="0" algn="l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920"/>
              <a:buFont typeface="Noto Sans Symbols"/>
              <a:buChar char="❖"/>
            </a:pPr>
            <a:r>
              <a:rPr lang="ru-RU" sz="2400"/>
              <a:t>Структуры хранения данных</a:t>
            </a:r>
            <a:endParaRPr/>
          </a:p>
          <a:p>
            <a:pPr indent="-285750" lvl="1" marL="742950" rtl="0" algn="l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920"/>
              <a:buFont typeface="Noto Sans Symbols"/>
              <a:buChar char="❖"/>
            </a:pPr>
            <a:r>
              <a:rPr lang="ru-RU" sz="2400"/>
              <a:t>Средства обеспечения целостности, безопасности</a:t>
            </a:r>
            <a:endParaRPr/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100"/>
              <a:buChar char="■"/>
            </a:pPr>
            <a:r>
              <a:rPr lang="ru-RU" sz="2800"/>
              <a:t>Прикладное программирование с базами данных</a:t>
            </a:r>
            <a:endParaRPr/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100"/>
              <a:buChar char="■"/>
            </a:pPr>
            <a:r>
              <a:rPr lang="ru-RU" sz="2800"/>
              <a:t>Администрирование баз данных</a:t>
            </a:r>
            <a:endParaRPr/>
          </a:p>
          <a:p>
            <a:pPr indent="0" lvl="4" marL="1828800" rtl="0" algn="l"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224" name="Google Shape;224;p2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 Black"/>
              <a:buNone/>
            </a:pPr>
            <a:fld id="{00000000-1234-1234-1234-123412341234}" type="slidenum">
              <a:rPr b="0" i="0" lang="ru-RU" sz="1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3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3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3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"/>
          <p:cNvSpPr txBox="1"/>
          <p:nvPr>
            <p:ph type="title"/>
          </p:nvPr>
        </p:nvSpPr>
        <p:spPr>
          <a:xfrm>
            <a:off x="476545" y="53625"/>
            <a:ext cx="8229600" cy="6300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-RU" sz="3600"/>
              <a:t>Структура курса и аттестация</a:t>
            </a:r>
            <a:endParaRPr/>
          </a:p>
        </p:txBody>
      </p:sp>
      <p:sp>
        <p:nvSpPr>
          <p:cNvPr id="230" name="Google Shape;230;p3"/>
          <p:cNvSpPr txBox="1"/>
          <p:nvPr>
            <p:ph idx="1" type="body"/>
          </p:nvPr>
        </p:nvSpPr>
        <p:spPr>
          <a:xfrm>
            <a:off x="296524" y="638690"/>
            <a:ext cx="8685965" cy="6075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342900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75000"/>
              <a:buChar char="■"/>
            </a:pPr>
            <a:r>
              <a:rPr b="1" lang="ru-RU" sz="2600"/>
              <a:t>Лекции</a:t>
            </a:r>
            <a:r>
              <a:rPr lang="ru-RU" sz="2400"/>
              <a:t>				Экзамен (весна)</a:t>
            </a:r>
            <a:endParaRPr sz="2400"/>
          </a:p>
          <a:p>
            <a:pPr indent="-285750" lvl="1" marL="74295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80000"/>
              <a:buFont typeface="Noto Sans Symbols"/>
              <a:buChar char="✔"/>
            </a:pPr>
            <a:r>
              <a:rPr lang="ru-RU" sz="2400"/>
              <a:t>1 семестр - 3 теста (100) во время контрольных недель</a:t>
            </a:r>
            <a:endParaRPr/>
          </a:p>
          <a:p>
            <a:pPr indent="-285750" lvl="1" marL="74295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80000"/>
              <a:buFont typeface="Noto Sans Symbols"/>
              <a:buChar char="✔"/>
            </a:pPr>
            <a:r>
              <a:rPr lang="ru-RU" sz="2400"/>
              <a:t>2 семестр - 3 теста (100) во время контрольных недель</a:t>
            </a:r>
            <a:endParaRPr/>
          </a:p>
          <a:p>
            <a:pPr indent="-285750" lvl="1" marL="74295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80000"/>
              <a:buFont typeface="Noto Sans Symbols"/>
              <a:buChar char="✔"/>
            </a:pPr>
            <a:r>
              <a:rPr lang="ru-RU" sz="2400"/>
              <a:t>Общая сумма баллов по тестам + оценка за семинары – рекомендуемая оценка к экзамену.</a:t>
            </a:r>
            <a:endParaRPr/>
          </a:p>
          <a:p>
            <a:pPr indent="-342900" lvl="0" marL="34290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SzPct val="75000"/>
              <a:buChar char="■"/>
            </a:pPr>
            <a:r>
              <a:rPr b="1" lang="ru-RU" sz="2600"/>
              <a:t>Практика</a:t>
            </a:r>
            <a:r>
              <a:rPr lang="ru-RU" sz="2400"/>
              <a:t>				Диф. зачет (зима)</a:t>
            </a:r>
            <a:br>
              <a:rPr lang="ru-RU" sz="2400"/>
            </a:br>
            <a:r>
              <a:rPr lang="ru-RU" sz="2400"/>
              <a:t>					Допуск (весна)</a:t>
            </a:r>
            <a:endParaRPr sz="2400"/>
          </a:p>
          <a:p>
            <a:pPr indent="-342900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75000"/>
              <a:buNone/>
            </a:pPr>
            <a:r>
              <a:rPr i="1" lang="ru-RU" sz="2400"/>
              <a:t>Локальные БД (сентябрь-декабрь). </a:t>
            </a:r>
            <a:endParaRPr/>
          </a:p>
          <a:p>
            <a:pPr indent="-285750" lvl="1" marL="74295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80000"/>
              <a:buFont typeface="Noto Sans Symbols"/>
              <a:buChar char="✔"/>
            </a:pPr>
            <a:r>
              <a:rPr lang="ru-RU" sz="2400"/>
              <a:t>Задание на MS Access (LibreOffice Base),1 контрольная неделя</a:t>
            </a:r>
            <a:endParaRPr sz="2400"/>
          </a:p>
          <a:p>
            <a:pPr indent="-285750" lvl="1" marL="74295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80000"/>
              <a:buFont typeface="Noto Sans Symbols"/>
              <a:buChar char="✔"/>
            </a:pPr>
            <a:r>
              <a:rPr lang="ru-RU" sz="2400"/>
              <a:t>SQL тестирование, зачетная неделя</a:t>
            </a:r>
            <a:endParaRPr/>
          </a:p>
          <a:p>
            <a:pPr indent="-342900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75000"/>
              <a:buNone/>
            </a:pPr>
            <a:r>
              <a:rPr i="1" lang="ru-RU" sz="2400"/>
              <a:t>Клиент-сервер (февраль-май). </a:t>
            </a:r>
            <a:endParaRPr/>
          </a:p>
          <a:p>
            <a:pPr indent="-285750" lvl="1" marL="74295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80000"/>
              <a:buFont typeface="Noto Sans Symbols"/>
              <a:buChar char="✔"/>
            </a:pPr>
            <a:r>
              <a:rPr lang="ru-RU" sz="2400"/>
              <a:t>Разработка структуры БД приложения</a:t>
            </a:r>
            <a:endParaRPr/>
          </a:p>
          <a:p>
            <a:pPr indent="-285750" lvl="1" marL="74295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80000"/>
              <a:buFont typeface="Noto Sans Symbols"/>
              <a:buChar char="✔"/>
            </a:pPr>
            <a:r>
              <a:rPr lang="ru-RU" sz="2400"/>
              <a:t>Разработка приложения в архитектуре КЛИЕНТ-СЕРВЕР </a:t>
            </a:r>
            <a:endParaRPr/>
          </a:p>
        </p:txBody>
      </p:sp>
      <p:sp>
        <p:nvSpPr>
          <p:cNvPr id="231" name="Google Shape;231;p3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 Black"/>
              <a:buNone/>
            </a:pPr>
            <a:fld id="{00000000-1234-1234-1234-123412341234}" type="slidenum">
              <a:rPr b="0" i="0" lang="ru-RU" sz="1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3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3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3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3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3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3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3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3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3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30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30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4"/>
          <p:cNvSpPr txBox="1"/>
          <p:nvPr>
            <p:ph type="title"/>
          </p:nvPr>
        </p:nvSpPr>
        <p:spPr>
          <a:xfrm>
            <a:off x="457200" y="457200"/>
            <a:ext cx="8229600" cy="739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ru-RU" sz="3600"/>
              <a:t>Основная литература</a:t>
            </a:r>
            <a:endParaRPr/>
          </a:p>
        </p:txBody>
      </p:sp>
      <p:sp>
        <p:nvSpPr>
          <p:cNvPr id="237" name="Google Shape;237;p4"/>
          <p:cNvSpPr txBox="1"/>
          <p:nvPr>
            <p:ph idx="1" type="body"/>
          </p:nvPr>
        </p:nvSpPr>
        <p:spPr>
          <a:xfrm>
            <a:off x="386535" y="1178751"/>
            <a:ext cx="8550949" cy="55356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350"/>
              <a:buChar char="■"/>
            </a:pPr>
            <a:r>
              <a:rPr lang="ru-RU" sz="1800"/>
              <a:t>Аврунев, О.Е. Модели баз данных : учебное пособие : [16+] / О.Е. Аврунев, В.М. Стасышин ; Новосибирский государственный технический университет. – Новосибирск : Новосибирский государственный технический университет, 2018. – 124 с. : ил., табл. – Режим доступа: по подписке. – URL: </a:t>
            </a:r>
            <a:r>
              <a:rPr lang="ru-RU" sz="1800" u="sng">
                <a:solidFill>
                  <a:schemeClr val="hlink"/>
                </a:solidFill>
                <a:hlinkClick r:id="rId3"/>
              </a:rPr>
              <a:t>http://biblioclub.ru/index.php?page=book&amp;id=575324</a:t>
            </a:r>
            <a:r>
              <a:rPr lang="ru-RU" sz="1800"/>
              <a:t>. – Библиогр. в кн. – ISBN 978-5-7782-3749-0. – Текст : электронный.</a:t>
            </a:r>
            <a:endParaRPr/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350"/>
              <a:buChar char="■"/>
            </a:pPr>
            <a:r>
              <a:rPr lang="ru-RU" sz="1800"/>
              <a:t>Кузнецов С.Д. Введение в реляционные базы данных [Электронный ресурс]/ Кузнецов С.Д.— Электрон. текстовые данные.— М.: Интернет-Университет Информационных Технологий (ИНТУИТ), 2016.— 247 c.— Режим доступа: http://www.iprbookshop.ru/73671.html.— ЭБС «IPRbooks»</a:t>
            </a:r>
            <a:endParaRPr/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350"/>
              <a:buChar char="■"/>
            </a:pPr>
            <a:r>
              <a:rPr lang="ru-RU" sz="1800"/>
              <a:t>Кузнецов, С. Введение в модель данных SQL: курс / С. Кузнецов. – 2-е изд., исправ. – Москва : Национальный Открытый Университет «ИНТУИТ», 2016. – 351 с. : илл. – (Основы информационных технологий). – Режим доступа: по подписке. – URL: </a:t>
            </a:r>
            <a:r>
              <a:rPr lang="ru-RU" sz="1800" u="sng">
                <a:solidFill>
                  <a:schemeClr val="hlink"/>
                </a:solidFill>
                <a:hlinkClick r:id="rId4"/>
              </a:rPr>
              <a:t>http://biblioclub.ru/index.php?page=book&amp;id=429087</a:t>
            </a:r>
            <a:r>
              <a:rPr lang="ru-RU" sz="1800"/>
              <a:t> (дата обращения: 03.09.2020). – Библиогр. в кн. – ISBN 5-9556-00028-0. – Текст : электронный.</a:t>
            </a:r>
            <a:endParaRPr/>
          </a:p>
        </p:txBody>
      </p:sp>
      <p:sp>
        <p:nvSpPr>
          <p:cNvPr id="238" name="Google Shape;238;p4"/>
          <p:cNvSpPr txBox="1"/>
          <p:nvPr>
            <p:ph idx="12" type="sldNum"/>
          </p:nvPr>
        </p:nvSpPr>
        <p:spPr>
          <a:xfrm>
            <a:off x="8460432" y="6165305"/>
            <a:ext cx="460648" cy="3600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 Black"/>
              <a:buNone/>
            </a:pPr>
            <a:fld id="{00000000-1234-1234-1234-123412341234}" type="slidenum">
              <a:rPr b="0" i="0" lang="ru-RU" sz="1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5"/>
          <p:cNvSpPr txBox="1"/>
          <p:nvPr>
            <p:ph type="title"/>
          </p:nvPr>
        </p:nvSpPr>
        <p:spPr>
          <a:xfrm>
            <a:off x="457200" y="457200"/>
            <a:ext cx="8229600" cy="739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ru-RU" sz="3600"/>
              <a:t>Основная литература</a:t>
            </a:r>
            <a:endParaRPr/>
          </a:p>
        </p:txBody>
      </p:sp>
      <p:sp>
        <p:nvSpPr>
          <p:cNvPr id="244" name="Google Shape;244;p5"/>
          <p:cNvSpPr txBox="1"/>
          <p:nvPr>
            <p:ph idx="1" type="body"/>
          </p:nvPr>
        </p:nvSpPr>
        <p:spPr>
          <a:xfrm>
            <a:off x="386535" y="1178751"/>
            <a:ext cx="8550949" cy="55356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350"/>
              <a:buChar char="■"/>
            </a:pPr>
            <a:r>
              <a:rPr lang="ru-RU" sz="1800"/>
              <a:t>Карпова Т.С. Базы данных. Модели, разработка, реализация [Электронный ресурс]/ Карпова Т.С.— Электрон. текстовые данные.— М.: Интернет-Университет Информационных Технологий (ИНТУИТ), 2016.— 403 c.— Режим доступа: http://www.iprbookshop.ru/73728.html.— ЭБС «IPRbooks»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350"/>
              <a:buNone/>
            </a:pPr>
            <a:r>
              <a:rPr lang="ru-RU" sz="1800"/>
              <a:t>Для практических занятий</a:t>
            </a:r>
            <a:endParaRPr/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350"/>
              <a:buChar char="■"/>
            </a:pPr>
            <a:r>
              <a:rPr lang="ru-RU" sz="1800"/>
              <a:t>Волков, Д. А. Базы данных : учебно-методическое пособие / Д. А. Волков. — Москва : МИСИ-МГСУ, Ай Пи Эр Медиа, ЭБС АСВ, 2018. — 77 c. — ISBN 978-5-7264-1883-4. — Текст : электронный // Электронно-библиотечная система IPR BOOKS : [сайт]. — URL: http://www.iprbookshop.ru/79883.html (дата обращения: 02.09.2020). — Режим доступа: для авторизир. пользователей</a:t>
            </a:r>
            <a:endParaRPr/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350"/>
              <a:buChar char="■"/>
            </a:pPr>
            <a:r>
              <a:rPr lang="ru-RU" sz="1800"/>
              <a:t>Полякова, Л. Н. Основы SQL [Электронный ресурс]/ Л. Н. Полякова. — М.: Интернет-Университет Информационных Технологий (ИНТУИТ), 2016. — 273 c. — ISBN 978-5-94774-649-5. — Режим доступа: Электронно-библиотечная система IPR BOOKS : [сайт]. — URL: </a:t>
            </a:r>
            <a:r>
              <a:rPr lang="ru-RU" sz="1800" u="sng">
                <a:solidFill>
                  <a:schemeClr val="hlink"/>
                </a:solidFill>
                <a:hlinkClick r:id="rId3"/>
              </a:rPr>
              <a:t>http://www.iprbookshop.ru/52210</a:t>
            </a:r>
            <a:endParaRPr sz="1800"/>
          </a:p>
          <a:p>
            <a:pPr indent="-257175" lvl="0" marL="342900" rtl="0" algn="l">
              <a:spcBef>
                <a:spcPts val="0"/>
              </a:spcBef>
              <a:spcAft>
                <a:spcPts val="0"/>
              </a:spcAft>
              <a:buSzPts val="1350"/>
              <a:buNone/>
            </a:pPr>
            <a:r>
              <a:t/>
            </a:r>
            <a:endParaRPr sz="1800"/>
          </a:p>
        </p:txBody>
      </p:sp>
      <p:sp>
        <p:nvSpPr>
          <p:cNvPr id="245" name="Google Shape;245;p5"/>
          <p:cNvSpPr txBox="1"/>
          <p:nvPr>
            <p:ph idx="12" type="sldNum"/>
          </p:nvPr>
        </p:nvSpPr>
        <p:spPr>
          <a:xfrm>
            <a:off x="8460432" y="6165305"/>
            <a:ext cx="460648" cy="3600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 Black"/>
              <a:buNone/>
            </a:pPr>
            <a:fld id="{00000000-1234-1234-1234-123412341234}" type="slidenum">
              <a:rPr b="0" i="0" lang="ru-RU" sz="1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6"/>
          <p:cNvSpPr txBox="1"/>
          <p:nvPr>
            <p:ph type="title"/>
          </p:nvPr>
        </p:nvSpPr>
        <p:spPr>
          <a:xfrm>
            <a:off x="457200" y="457200"/>
            <a:ext cx="8229600" cy="739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-RU" sz="3600"/>
              <a:t>Дополнительная литература (источники)</a:t>
            </a:r>
            <a:endParaRPr/>
          </a:p>
        </p:txBody>
      </p:sp>
      <p:sp>
        <p:nvSpPr>
          <p:cNvPr id="251" name="Google Shape;251;p6"/>
          <p:cNvSpPr txBox="1"/>
          <p:nvPr>
            <p:ph idx="1" type="body"/>
          </p:nvPr>
        </p:nvSpPr>
        <p:spPr>
          <a:xfrm>
            <a:off x="395536" y="1340768"/>
            <a:ext cx="8525544" cy="52565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2500" lnSpcReduction="20000"/>
          </a:bodyPr>
          <a:lstStyle/>
          <a:p>
            <a:pPr indent="-609600" lvl="0" marL="609600" rtl="0" algn="l">
              <a:spcBef>
                <a:spcPts val="0"/>
              </a:spcBef>
              <a:spcAft>
                <a:spcPts val="0"/>
              </a:spcAft>
              <a:buSzPct val="75000"/>
              <a:buChar char="■"/>
            </a:pPr>
            <a:r>
              <a:rPr lang="ru-RU" sz="2800"/>
              <a:t>Г.Гарсия –Молина, Дж. Ульман, Дж. Уидом, Системы баз данных, М, С-П, Киев 2003г.</a:t>
            </a:r>
            <a:br>
              <a:rPr lang="ru-RU" sz="2800"/>
            </a:br>
            <a:r>
              <a:rPr lang="ru-RU" sz="2800" u="sng">
                <a:solidFill>
                  <a:srgbClr val="1717FF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https://yadi.sk/i/OWI2ErOBFfYTJw</a:t>
            </a:r>
            <a:r>
              <a:rPr lang="ru-RU" sz="2800">
                <a:solidFill>
                  <a:srgbClr val="1717FF"/>
                </a:solidFill>
              </a:rPr>
              <a:t> </a:t>
            </a:r>
            <a:endParaRPr sz="2800">
              <a:solidFill>
                <a:srgbClr val="1717FF"/>
              </a:solidFill>
            </a:endParaRPr>
          </a:p>
          <a:p>
            <a:pPr indent="-609600" lvl="0" marL="609600" rtl="0" algn="l">
              <a:spcBef>
                <a:spcPts val="0"/>
              </a:spcBef>
              <a:spcAft>
                <a:spcPts val="0"/>
              </a:spcAft>
              <a:buSzPct val="75000"/>
              <a:buChar char="■"/>
            </a:pPr>
            <a:r>
              <a:rPr lang="ru-RU" sz="2800"/>
              <a:t>Дж. Ульман, Основы систем баз данных, М., Финансы и статистика, 1983.</a:t>
            </a:r>
            <a:br>
              <a:rPr lang="ru-RU" sz="2800"/>
            </a:br>
            <a:r>
              <a:rPr lang="ru-RU" sz="2800" u="sng">
                <a:solidFill>
                  <a:srgbClr val="1717FF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https://yadi.sk/i/XtFY5YSsfoHK8g</a:t>
            </a:r>
            <a:r>
              <a:rPr lang="ru-RU" sz="2800">
                <a:solidFill>
                  <a:srgbClr val="1717FF"/>
                </a:solidFill>
              </a:rPr>
              <a:t> </a:t>
            </a:r>
            <a:endParaRPr sz="2800">
              <a:solidFill>
                <a:srgbClr val="1717FF"/>
              </a:solidFill>
            </a:endParaRPr>
          </a:p>
          <a:p>
            <a:pPr indent="-609600" lvl="0" marL="609600" rtl="0" algn="l">
              <a:spcBef>
                <a:spcPts val="0"/>
              </a:spcBef>
              <a:spcAft>
                <a:spcPts val="0"/>
              </a:spcAft>
              <a:buSzPct val="75000"/>
              <a:buChar char="■"/>
            </a:pPr>
            <a:r>
              <a:rPr lang="ru-RU" sz="2800"/>
              <a:t>К. Дж. Дейт, Введение в системы баз данных, восьмое издание, Москва-Санкт-Петербург-Киев, Изд. дом “Вильямс”, 2005.</a:t>
            </a:r>
            <a:br>
              <a:rPr lang="ru-RU" sz="2800"/>
            </a:br>
            <a:r>
              <a:rPr lang="ru-RU" sz="2800" u="sng">
                <a:solidFill>
                  <a:srgbClr val="1717FF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https://yadi.sk/i/8ntKILS5uvMsZ</a:t>
            </a:r>
            <a:r>
              <a:rPr lang="ru-RU" sz="2800">
                <a:solidFill>
                  <a:srgbClr val="1717FF"/>
                </a:solidFill>
              </a:rPr>
              <a:t> </a:t>
            </a:r>
            <a:endParaRPr sz="2800">
              <a:solidFill>
                <a:srgbClr val="1717FF"/>
              </a:solidFill>
            </a:endParaRPr>
          </a:p>
          <a:p>
            <a:pPr indent="-609600" lvl="0" marL="609600" rtl="0" algn="l">
              <a:spcBef>
                <a:spcPts val="0"/>
              </a:spcBef>
              <a:spcAft>
                <a:spcPts val="0"/>
              </a:spcAft>
              <a:buSzPct val="75000"/>
              <a:buChar char="■"/>
            </a:pPr>
            <a:r>
              <a:rPr lang="ru-RU" sz="2800"/>
              <a:t>М. Грабер. SQL, M.: Лори, 2001.</a:t>
            </a:r>
            <a:br>
              <a:rPr lang="ru-RU" sz="2800"/>
            </a:br>
            <a:r>
              <a:rPr lang="ru-RU" sz="2800" u="sng">
                <a:solidFill>
                  <a:srgbClr val="1717FF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https://yadi.sk/i/lOO3caBfW9h_dA</a:t>
            </a:r>
            <a:r>
              <a:rPr lang="ru-RU" sz="2800">
                <a:solidFill>
                  <a:srgbClr val="1717FF"/>
                </a:solidFill>
              </a:rPr>
              <a:t> </a:t>
            </a:r>
            <a:endParaRPr sz="2800">
              <a:solidFill>
                <a:srgbClr val="1717FF"/>
              </a:solidFill>
            </a:endParaRPr>
          </a:p>
          <a:p>
            <a:pPr indent="-609600" lvl="0" marL="609600" rtl="0" algn="l">
              <a:spcBef>
                <a:spcPts val="0"/>
              </a:spcBef>
              <a:spcAft>
                <a:spcPts val="0"/>
              </a:spcAft>
              <a:buSzPct val="75000"/>
              <a:buChar char="■"/>
            </a:pPr>
            <a:r>
              <a:rPr lang="ru-RU" sz="2800"/>
              <a:t>Журнал «Открытые системы»</a:t>
            </a:r>
            <a:br>
              <a:rPr lang="ru-RU" sz="2800"/>
            </a:br>
            <a:r>
              <a:rPr lang="ru-RU" sz="2800"/>
              <a:t> </a:t>
            </a:r>
            <a:r>
              <a:rPr lang="ru-RU" sz="2800" u="sng">
                <a:solidFill>
                  <a:srgbClr val="1717FF"/>
                </a:solidFill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http://www.osp.ru/os/archive/</a:t>
            </a:r>
            <a:r>
              <a:rPr lang="ru-RU" sz="2800">
                <a:solidFill>
                  <a:srgbClr val="1717FF"/>
                </a:solidFill>
              </a:rPr>
              <a:t> </a:t>
            </a:r>
            <a:r>
              <a:rPr lang="ru-RU" sz="2800"/>
              <a:t>- электронная версия</a:t>
            </a:r>
            <a:endParaRPr/>
          </a:p>
          <a:p>
            <a:pPr indent="-609599" lvl="0" marL="609599" rtl="0" algn="l">
              <a:spcBef>
                <a:spcPts val="0"/>
              </a:spcBef>
              <a:spcAft>
                <a:spcPts val="0"/>
              </a:spcAft>
              <a:buSzPct val="75000"/>
              <a:buChar char="■"/>
            </a:pPr>
            <a:r>
              <a:rPr lang="ru-RU" sz="2800"/>
              <a:t>Реестр Российского ПО по классу СУБД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75000"/>
              <a:buFont typeface="Noto Sans Symbols"/>
              <a:buNone/>
            </a:pPr>
            <a:r>
              <a:rPr b="0" i="0" lang="ru-RU" sz="21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8"/>
              </a:rPr>
              <a:t>https://reestr-minsvyaz.ru/reestr/reestr-po-klassu-sistemy-upravleniya-bazami-dannyx/</a:t>
            </a:r>
            <a:r>
              <a:rPr b="0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-609599" lvl="0" marL="609599" rtl="0" algn="l">
              <a:spcBef>
                <a:spcPts val="0"/>
              </a:spcBef>
              <a:spcAft>
                <a:spcPts val="0"/>
              </a:spcAft>
              <a:buSzPct val="75000"/>
              <a:buChar char="■"/>
            </a:pPr>
            <a:r>
              <a:rPr lang="ru-RU" sz="2800" u="sng">
                <a:solidFill>
                  <a:schemeClr val="hlink"/>
                </a:solidFill>
                <a:hlinkClick r:id="rId9"/>
              </a:rPr>
              <a:t>Презентации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75000"/>
              <a:buNone/>
            </a:pPr>
            <a:r>
              <a:rPr lang="ru-RU" sz="2200" u="sng">
                <a:solidFill>
                  <a:srgbClr val="0000FF"/>
                </a:solidFill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https://drive.google.com/open?id=1aPrGo1XBiQedhvnALgVJL1Erz4aqQlRv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750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252" name="Google Shape;252;p6"/>
          <p:cNvSpPr txBox="1"/>
          <p:nvPr>
            <p:ph idx="12" type="sldNum"/>
          </p:nvPr>
        </p:nvSpPr>
        <p:spPr>
          <a:xfrm>
            <a:off x="8460432" y="6165305"/>
            <a:ext cx="460648" cy="3600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7"/>
          <p:cNvSpPr txBox="1"/>
          <p:nvPr>
            <p:ph type="title"/>
          </p:nvPr>
        </p:nvSpPr>
        <p:spPr>
          <a:xfrm>
            <a:off x="467544" y="260648"/>
            <a:ext cx="8229600" cy="6675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Arial"/>
              <a:buNone/>
            </a:pPr>
            <a:r>
              <a:rPr lang="ru-RU" sz="3600">
                <a:solidFill>
                  <a:schemeClr val="lt2"/>
                </a:solidFill>
              </a:rPr>
              <a:t>Приложения и структуры данных</a:t>
            </a:r>
            <a:endParaRPr/>
          </a:p>
        </p:txBody>
      </p:sp>
      <p:sp>
        <p:nvSpPr>
          <p:cNvPr id="259" name="Google Shape;259;p7"/>
          <p:cNvSpPr txBox="1"/>
          <p:nvPr>
            <p:ph idx="12" type="sldNum"/>
          </p:nvPr>
        </p:nvSpPr>
        <p:spPr>
          <a:xfrm>
            <a:off x="8244408" y="6165305"/>
            <a:ext cx="676672" cy="3600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 Black"/>
              <a:buNone/>
            </a:pPr>
            <a:fld id="{00000000-1234-1234-1234-123412341234}" type="slidenum">
              <a:rPr b="0" i="0" lang="ru-RU" sz="1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60" name="Google Shape;260;p7"/>
          <p:cNvSpPr txBox="1"/>
          <p:nvPr/>
        </p:nvSpPr>
        <p:spPr>
          <a:xfrm>
            <a:off x="251520" y="908720"/>
            <a:ext cx="8892480" cy="55806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75000"/>
              <a:buFont typeface="Noto Sans Symbols"/>
              <a:buChar char="■"/>
            </a:pPr>
            <a:r>
              <a:rPr b="0" i="0" lang="ru-RU" sz="28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Приложения, использующие слабо структурированную информацию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80000"/>
              <a:buFont typeface="Noto Sans Symbols"/>
              <a:buChar char="❖"/>
            </a:pPr>
            <a:r>
              <a:rPr b="0" i="0" lang="ru-RU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Вычислительные программы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80000"/>
              <a:buFont typeface="Noto Sans Symbols"/>
              <a:buChar char="❖"/>
            </a:pPr>
            <a:r>
              <a:rPr b="0" i="0" lang="ru-RU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Программы, реализующие сложные алгоритмы 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75000"/>
              <a:buFont typeface="Noto Sans Symbols"/>
              <a:buChar char="■"/>
            </a:pPr>
            <a:r>
              <a:rPr b="0" i="0" lang="ru-RU" sz="28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Приложения, использующие структурированную текстовую и числовую информацию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80000"/>
              <a:buFont typeface="Noto Sans Symbols"/>
              <a:buChar char="❖"/>
            </a:pPr>
            <a:r>
              <a:rPr b="0" i="0" lang="ru-RU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Банковские системы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80000"/>
              <a:buFont typeface="Noto Sans Symbols"/>
              <a:buChar char="❖"/>
            </a:pPr>
            <a:r>
              <a:rPr b="0" i="0" lang="ru-RU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Системы управления предприятием (бухгалтерия, кадры, снабжение и т.п.)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80000"/>
              <a:buFont typeface="Noto Sans Symbols"/>
              <a:buChar char="❖"/>
            </a:pPr>
            <a:r>
              <a:rPr b="0" i="0" lang="ru-RU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Системы продажи билетов (жд, авиа, авто и т.д.)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80000"/>
              <a:buFont typeface="Noto Sans Symbols"/>
              <a:buChar char="❖"/>
            </a:pPr>
            <a:r>
              <a:rPr b="0" i="0" lang="ru-RU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Информационные системы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75000"/>
              <a:buFont typeface="Noto Sans Symbols"/>
              <a:buChar char="■"/>
            </a:pPr>
            <a:r>
              <a:rPr b="0" i="0" lang="ru-RU" sz="28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Приложения, использующие различные типы информации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80000"/>
              <a:buFont typeface="Noto Sans Symbols"/>
              <a:buChar char="❖"/>
            </a:pPr>
            <a:r>
              <a:rPr b="0" i="0" lang="ru-RU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Системы автоматизации проектирования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80000"/>
              <a:buFont typeface="Noto Sans Symbols"/>
              <a:buChar char="❖"/>
            </a:pPr>
            <a:r>
              <a:rPr b="0" i="0" lang="ru-RU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Геоинформационные системы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80000"/>
              <a:buFont typeface="Noto Sans Symbols"/>
              <a:buChar char="❖"/>
            </a:pPr>
            <a:r>
              <a:rPr b="0" i="0" lang="ru-RU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Мультимедийные информационные системы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80000"/>
              <a:buFont typeface="Noto Sans Symbols"/>
              <a:buChar char="❖"/>
            </a:pPr>
            <a:r>
              <a:rPr b="0" i="0" lang="ru-RU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Системы реального времени (АСУТП, УС, ВС)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80000"/>
              <a:buFont typeface="Noto Sans Symbols"/>
              <a:buChar char="❖"/>
            </a:pPr>
            <a:r>
              <a:rPr b="0" i="0" lang="ru-RU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Хранилища данных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3359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7500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rgbClr val="00009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0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0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0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0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0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0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8"/>
          <p:cNvSpPr txBox="1"/>
          <p:nvPr>
            <p:ph type="title"/>
          </p:nvPr>
        </p:nvSpPr>
        <p:spPr>
          <a:xfrm>
            <a:off x="467544" y="260648"/>
            <a:ext cx="8229600" cy="6675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Arial"/>
              <a:buNone/>
            </a:pPr>
            <a:r>
              <a:rPr lang="ru-RU" sz="3600">
                <a:solidFill>
                  <a:schemeClr val="lt2"/>
                </a:solidFill>
              </a:rPr>
              <a:t>Базы данных в современном мире</a:t>
            </a:r>
            <a:endParaRPr/>
          </a:p>
        </p:txBody>
      </p:sp>
      <p:sp>
        <p:nvSpPr>
          <p:cNvPr id="266" name="Google Shape;266;p8"/>
          <p:cNvSpPr txBox="1"/>
          <p:nvPr>
            <p:ph idx="1" type="body"/>
          </p:nvPr>
        </p:nvSpPr>
        <p:spPr>
          <a:xfrm>
            <a:off x="323527" y="1124744"/>
            <a:ext cx="8703967" cy="54546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0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75000"/>
              <a:buChar char="■"/>
            </a:pPr>
            <a:r>
              <a:rPr lang="ru-RU" sz="2800">
                <a:solidFill>
                  <a:srgbClr val="000099"/>
                </a:solidFill>
              </a:rPr>
              <a:t>Современные технологии баз данных – один из определяющих факторов успеха в любой отрасли деловой активности</a:t>
            </a:r>
            <a:endParaRPr/>
          </a:p>
          <a:p>
            <a:pPr indent="-342900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75000"/>
              <a:buChar char="■"/>
            </a:pPr>
            <a:r>
              <a:rPr lang="ru-RU" sz="2800">
                <a:solidFill>
                  <a:srgbClr val="000099"/>
                </a:solidFill>
              </a:rPr>
              <a:t>Технологии обеспечивают бизнес структурам</a:t>
            </a:r>
            <a:endParaRPr/>
          </a:p>
          <a:p>
            <a:pPr indent="-285750" lvl="1" marL="74295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80000"/>
              <a:buFont typeface="Noto Sans Symbols"/>
              <a:buChar char="❖"/>
            </a:pPr>
            <a:r>
              <a:rPr lang="ru-RU" sz="2400">
                <a:solidFill>
                  <a:srgbClr val="000099"/>
                </a:solidFill>
              </a:rPr>
              <a:t>хранение корпоративной информации,</a:t>
            </a:r>
            <a:endParaRPr/>
          </a:p>
          <a:p>
            <a:pPr indent="-285750" lvl="1" marL="74295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80000"/>
              <a:buFont typeface="Noto Sans Symbols"/>
              <a:buChar char="❖"/>
            </a:pPr>
            <a:r>
              <a:rPr lang="ru-RU" sz="2400">
                <a:solidFill>
                  <a:srgbClr val="000099"/>
                </a:solidFill>
              </a:rPr>
              <a:t>предоставление данных для пользователей и клиентов WWW,</a:t>
            </a:r>
            <a:endParaRPr/>
          </a:p>
          <a:p>
            <a:pPr indent="-285750" lvl="1" marL="74295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80000"/>
              <a:buFont typeface="Noto Sans Symbols"/>
              <a:buChar char="❖"/>
            </a:pPr>
            <a:r>
              <a:rPr lang="ru-RU" sz="2400">
                <a:solidFill>
                  <a:srgbClr val="000099"/>
                </a:solidFill>
              </a:rPr>
              <a:t>поддержку многих корпоративных бизнес процессов</a:t>
            </a:r>
            <a:endParaRPr/>
          </a:p>
          <a:p>
            <a:pPr indent="-342900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75000"/>
              <a:buChar char="■"/>
            </a:pPr>
            <a:r>
              <a:rPr lang="ru-RU" sz="2800">
                <a:solidFill>
                  <a:srgbClr val="000099"/>
                </a:solidFill>
              </a:rPr>
              <a:t>Базы данных – основа многих научных проектов. Они позволяют накапливать информацию</a:t>
            </a:r>
            <a:endParaRPr/>
          </a:p>
          <a:p>
            <a:pPr indent="-285750" lvl="1" marL="74295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80000"/>
              <a:buFont typeface="Noto Sans Symbols"/>
              <a:buChar char="❖"/>
            </a:pPr>
            <a:r>
              <a:rPr lang="ru-RU" sz="2800"/>
              <a:t>По астрономии</a:t>
            </a:r>
            <a:endParaRPr/>
          </a:p>
          <a:p>
            <a:pPr indent="-285750" lvl="1" marL="74295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80000"/>
              <a:buFont typeface="Noto Sans Symbols"/>
              <a:buChar char="❖"/>
            </a:pPr>
            <a:r>
              <a:rPr lang="ru-RU" sz="2800"/>
              <a:t>По генотипу человека</a:t>
            </a:r>
            <a:endParaRPr/>
          </a:p>
          <a:p>
            <a:pPr indent="-285750" lvl="1" marL="74295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80000"/>
              <a:buFont typeface="Noto Sans Symbols"/>
              <a:buChar char="❖"/>
            </a:pPr>
            <a:r>
              <a:rPr lang="ru-RU" sz="2800"/>
              <a:t>По биохимии</a:t>
            </a:r>
            <a:endParaRPr/>
          </a:p>
          <a:p>
            <a:pPr indent="-285750" lvl="1" marL="74295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80000"/>
              <a:buFont typeface="Noto Sans Symbols"/>
              <a:buChar char="❖"/>
            </a:pPr>
            <a:r>
              <a:rPr lang="ru-RU" sz="2800"/>
              <a:t>И т.д.</a:t>
            </a:r>
            <a:endParaRPr/>
          </a:p>
          <a:p>
            <a:pPr indent="-342900" lvl="1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75000"/>
              <a:buFont typeface="Noto Sans Symbols"/>
              <a:buChar char="■"/>
            </a:pPr>
            <a:r>
              <a:rPr lang="ru-RU" sz="2900">
                <a:solidFill>
                  <a:srgbClr val="000099"/>
                </a:solidFill>
              </a:rPr>
              <a:t>Так что такое базы данных и какие функции они выполняют ?</a:t>
            </a:r>
            <a:endParaRPr/>
          </a:p>
          <a:p>
            <a:pPr indent="-213359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75000"/>
              <a:buNone/>
            </a:pPr>
            <a:r>
              <a:t/>
            </a:r>
            <a:endParaRPr>
              <a:solidFill>
                <a:srgbClr val="000099"/>
              </a:solidFill>
            </a:endParaRPr>
          </a:p>
        </p:txBody>
      </p:sp>
      <p:sp>
        <p:nvSpPr>
          <p:cNvPr id="267" name="Google Shape;267;p8"/>
          <p:cNvSpPr txBox="1"/>
          <p:nvPr>
            <p:ph idx="12" type="sldNum"/>
          </p:nvPr>
        </p:nvSpPr>
        <p:spPr>
          <a:xfrm>
            <a:off x="8622450" y="6165304"/>
            <a:ext cx="298630" cy="41404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 Black"/>
              <a:buNone/>
            </a:pPr>
            <a:fld id="{00000000-1234-1234-1234-123412341234}" type="slidenum">
              <a:rPr b="0" i="0" lang="ru-RU" sz="1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6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6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9"/>
          <p:cNvSpPr txBox="1"/>
          <p:nvPr>
            <p:ph type="title"/>
          </p:nvPr>
        </p:nvSpPr>
        <p:spPr>
          <a:xfrm>
            <a:off x="467544" y="-82550"/>
            <a:ext cx="8229600" cy="6675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ru-RU" sz="2800">
                <a:solidFill>
                  <a:schemeClr val="lt1"/>
                </a:solidFill>
              </a:rPr>
              <a:t>Базовые определения</a:t>
            </a:r>
            <a:r>
              <a:rPr lang="ru-RU" sz="2800">
                <a:solidFill>
                  <a:schemeClr val="lt2"/>
                </a:solidFill>
              </a:rPr>
              <a:t>: данные и информация</a:t>
            </a:r>
            <a:endParaRPr/>
          </a:p>
        </p:txBody>
      </p:sp>
      <p:sp>
        <p:nvSpPr>
          <p:cNvPr id="274" name="Google Shape;274;p9"/>
          <p:cNvSpPr txBox="1"/>
          <p:nvPr>
            <p:ph idx="1" type="body"/>
          </p:nvPr>
        </p:nvSpPr>
        <p:spPr>
          <a:xfrm>
            <a:off x="0" y="413665"/>
            <a:ext cx="9144000" cy="65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-342900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75000"/>
              <a:buChar char="■"/>
            </a:pPr>
            <a:r>
              <a:rPr lang="ru-RU"/>
              <a:t>Термин </a:t>
            </a:r>
            <a:r>
              <a:rPr b="1" lang="ru-RU">
                <a:solidFill>
                  <a:srgbClr val="FF0000"/>
                </a:solidFill>
              </a:rPr>
              <a:t>данные</a:t>
            </a:r>
            <a:r>
              <a:rPr lang="ru-RU"/>
              <a:t> происходит от слова data - факт, а информация (informatio, лат.) означает разъяснение, изложение, т.е. сведения или сообщение.</a:t>
            </a:r>
            <a:endParaRPr/>
          </a:p>
          <a:p>
            <a:pPr indent="-342900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75000"/>
              <a:buChar char="■"/>
            </a:pPr>
            <a:r>
              <a:rPr b="1" lang="ru-RU"/>
              <a:t>Данные </a:t>
            </a:r>
            <a:r>
              <a:rPr lang="ru-RU"/>
              <a:t>- это совокупность сведений (информация), представленная в формализованном виде, пригодном для передачи, интерпретации или обработки с участием человека или автоматическими средствами. </a:t>
            </a:r>
            <a:br>
              <a:rPr lang="ru-RU"/>
            </a:br>
            <a:r>
              <a:rPr lang="ru-RU"/>
              <a:t> Данные — это и текст книги, и картина художника, и ДНК. </a:t>
            </a:r>
            <a:br>
              <a:rPr lang="ru-RU"/>
            </a:br>
            <a:r>
              <a:rPr lang="ru-RU"/>
              <a:t>Преобразование и обработка данных позволяет получить информацию.</a:t>
            </a:r>
            <a:endParaRPr/>
          </a:p>
          <a:p>
            <a:pPr indent="-342900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75000"/>
              <a:buChar char="■"/>
            </a:pPr>
            <a:r>
              <a:rPr b="1" lang="ru-RU"/>
              <a:t>Информация</a:t>
            </a:r>
            <a:r>
              <a:rPr lang="ru-RU"/>
              <a:t> – любой  вид знаний о предметах, фактах, понятиях и т. д. проблемной области, которыми обмениваются пользователи информационной системы </a:t>
            </a:r>
            <a:br>
              <a:rPr lang="ru-RU"/>
            </a:br>
            <a:r>
              <a:rPr b="1" lang="ru-RU"/>
              <a:t>Информация</a:t>
            </a:r>
            <a:r>
              <a:rPr lang="ru-RU"/>
              <a:t> - это результат </a:t>
            </a:r>
            <a:r>
              <a:rPr b="1" lang="ru-RU"/>
              <a:t>преобразования и анализа данных</a:t>
            </a:r>
            <a:r>
              <a:rPr lang="ru-RU"/>
              <a:t>. </a:t>
            </a:r>
            <a:br>
              <a:rPr lang="ru-RU"/>
            </a:br>
            <a:r>
              <a:rPr lang="ru-RU"/>
              <a:t>Например, </a:t>
            </a:r>
            <a:r>
              <a:rPr b="1" lang="ru-RU"/>
              <a:t>данные 36,8 </a:t>
            </a:r>
            <a:r>
              <a:rPr lang="ru-RU"/>
              <a:t>могут означать и температуру и размер некоторого объекта</a:t>
            </a:r>
            <a:endParaRPr/>
          </a:p>
          <a:p>
            <a:pPr indent="-342900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75000"/>
              <a:buChar char="■"/>
            </a:pPr>
            <a:r>
              <a:rPr lang="ru-RU"/>
              <a:t>Отличие информации от данных состоит в том, что </a:t>
            </a:r>
            <a:endParaRPr/>
          </a:p>
          <a:p>
            <a:pPr indent="-285750" lvl="1" marL="74295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80000"/>
              <a:buChar char="◻"/>
            </a:pPr>
            <a:r>
              <a:rPr b="1" i="1" lang="ru-RU" sz="3200">
                <a:latin typeface="Times New Roman"/>
                <a:ea typeface="Times New Roman"/>
                <a:cs typeface="Times New Roman"/>
                <a:sym typeface="Times New Roman"/>
              </a:rPr>
              <a:t>данные - это фиксированные сведения о событиях и явлениях,</a:t>
            </a:r>
            <a:r>
              <a:rPr lang="ru-RU"/>
              <a:t> которые хранятся на определенных носителях, </a:t>
            </a:r>
            <a:endParaRPr/>
          </a:p>
          <a:p>
            <a:pPr indent="-285750" lvl="1" marL="74295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80000"/>
              <a:buChar char="◻"/>
            </a:pPr>
            <a:r>
              <a:rPr b="1" i="1" lang="ru-RU" sz="3200">
                <a:latin typeface="Times New Roman"/>
                <a:ea typeface="Times New Roman"/>
                <a:cs typeface="Times New Roman"/>
                <a:sym typeface="Times New Roman"/>
              </a:rPr>
              <a:t>информация появляется в результате обработки данных при решении конкретных задач.</a:t>
            </a:r>
            <a:r>
              <a:rPr lang="ru-RU" sz="32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/>
              <a:t>Например, в базах данных хранятся различные данные, а по определенному запросу система управления базой данных выдает требуемую информацию.</a:t>
            </a:r>
            <a:endParaRPr/>
          </a:p>
        </p:txBody>
      </p:sp>
      <p:sp>
        <p:nvSpPr>
          <p:cNvPr id="275" name="Google Shape;275;p9"/>
          <p:cNvSpPr txBox="1"/>
          <p:nvPr>
            <p:ph idx="12" type="sldNum"/>
          </p:nvPr>
        </p:nvSpPr>
        <p:spPr>
          <a:xfrm>
            <a:off x="8388424" y="6165305"/>
            <a:ext cx="532656" cy="3600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 Black"/>
              <a:buNone/>
            </a:pPr>
            <a:fld id="{00000000-1234-1234-1234-123412341234}" type="slidenum">
              <a:rPr b="0" i="0" lang="ru-RU" sz="1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0"/>
          <p:cNvSpPr txBox="1"/>
          <p:nvPr>
            <p:ph type="title"/>
          </p:nvPr>
        </p:nvSpPr>
        <p:spPr>
          <a:xfrm>
            <a:off x="467544" y="260648"/>
            <a:ext cx="8229600" cy="6675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Arial"/>
              <a:buNone/>
            </a:pPr>
            <a:r>
              <a:rPr lang="ru-RU" sz="3600">
                <a:solidFill>
                  <a:schemeClr val="lt2"/>
                </a:solidFill>
              </a:rPr>
              <a:t>Базовые определения</a:t>
            </a:r>
            <a:endParaRPr/>
          </a:p>
        </p:txBody>
      </p:sp>
      <p:sp>
        <p:nvSpPr>
          <p:cNvPr id="282" name="Google Shape;282;p10"/>
          <p:cNvSpPr txBox="1"/>
          <p:nvPr>
            <p:ph idx="1" type="body"/>
          </p:nvPr>
        </p:nvSpPr>
        <p:spPr>
          <a:xfrm>
            <a:off x="0" y="850900"/>
            <a:ext cx="8964488" cy="57464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75000"/>
              <a:buChar char="■"/>
            </a:pPr>
            <a:r>
              <a:rPr lang="ru-RU" sz="2800">
                <a:solidFill>
                  <a:srgbClr val="000099"/>
                </a:solidFill>
              </a:rPr>
              <a:t>Предметная область</a:t>
            </a:r>
            <a:endParaRPr/>
          </a:p>
          <a:p>
            <a:pPr indent="-285750" lvl="1" marL="742950" rtl="0" algn="l"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79999"/>
              <a:buFont typeface="Noto Sans Symbols"/>
              <a:buChar char="❖"/>
            </a:pPr>
            <a:r>
              <a:rPr lang="ru-RU" sz="2600"/>
              <a:t>Часть реального мира, для которой создается информационная система</a:t>
            </a:r>
            <a:endParaRPr/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75000"/>
              <a:buChar char="■"/>
            </a:pPr>
            <a:r>
              <a:rPr lang="ru-RU" sz="2800">
                <a:solidFill>
                  <a:srgbClr val="000099"/>
                </a:solidFill>
              </a:rPr>
              <a:t>Данные</a:t>
            </a:r>
            <a:endParaRPr/>
          </a:p>
          <a:p>
            <a:pPr indent="-285750" lvl="1" marL="742950" rtl="0" algn="l"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79999"/>
              <a:buFont typeface="Noto Sans Symbols"/>
              <a:buChar char="❖"/>
            </a:pPr>
            <a:r>
              <a:rPr lang="ru-RU" sz="2600"/>
              <a:t>Представление фактов или идей в формализованном виде, пригодном для обработки в некотором информационном процессе</a:t>
            </a:r>
            <a:endParaRPr/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75000"/>
              <a:buChar char="■"/>
            </a:pPr>
            <a:r>
              <a:rPr lang="ru-RU" sz="2800">
                <a:solidFill>
                  <a:srgbClr val="000099"/>
                </a:solidFill>
              </a:rPr>
              <a:t>База данных</a:t>
            </a:r>
            <a:endParaRPr/>
          </a:p>
          <a:p>
            <a:pPr indent="-285750" lvl="1" marL="742950" rtl="0" algn="l"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79999"/>
              <a:buFont typeface="Noto Sans Symbols"/>
              <a:buChar char="❖"/>
            </a:pPr>
            <a:r>
              <a:rPr lang="ru-RU" sz="2600"/>
              <a:t>Набор связанных данных</a:t>
            </a:r>
            <a:endParaRPr/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75000"/>
              <a:buChar char="■"/>
            </a:pPr>
            <a:r>
              <a:rPr lang="ru-RU" sz="2800">
                <a:solidFill>
                  <a:srgbClr val="000099"/>
                </a:solidFill>
              </a:rPr>
              <a:t>Система управления базой данных (СУБД-</a:t>
            </a:r>
            <a:r>
              <a:rPr lang="ru-RU" sz="2800">
                <a:solidFill>
                  <a:schemeClr val="lt2"/>
                </a:solidFill>
              </a:rPr>
              <a:t>Database Management System</a:t>
            </a:r>
            <a:r>
              <a:rPr lang="ru-RU" sz="2800">
                <a:solidFill>
                  <a:srgbClr val="000099"/>
                </a:solidFill>
              </a:rPr>
              <a:t>)</a:t>
            </a:r>
            <a:endParaRPr/>
          </a:p>
          <a:p>
            <a:pPr indent="-285750" lvl="1" marL="742950" rtl="0" algn="l"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79999"/>
              <a:buFont typeface="Noto Sans Symbols"/>
              <a:buChar char="❖"/>
            </a:pPr>
            <a:r>
              <a:rPr lang="ru-RU" sz="2600"/>
              <a:t>Пакет программ, обеспечивающих средства создания и манипулирования базой данных на ЭВМ</a:t>
            </a:r>
            <a:endParaRPr/>
          </a:p>
          <a:p>
            <a:pPr indent="-342900" lvl="1" marL="342900" rtl="0" algn="l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75000"/>
              <a:buFont typeface="Noto Sans Symbols"/>
              <a:buChar char="■"/>
            </a:pPr>
            <a:r>
              <a:rPr lang="ru-RU">
                <a:solidFill>
                  <a:srgbClr val="000099"/>
                </a:solidFill>
              </a:rPr>
              <a:t>Система базы данных (</a:t>
            </a:r>
            <a:r>
              <a:rPr lang="ru-RU">
                <a:solidFill>
                  <a:schemeClr val="lt2"/>
                </a:solidFill>
              </a:rPr>
              <a:t>Database System</a:t>
            </a:r>
            <a:r>
              <a:rPr lang="ru-RU">
                <a:solidFill>
                  <a:srgbClr val="000099"/>
                </a:solidFill>
              </a:rPr>
              <a:t>)</a:t>
            </a:r>
            <a:endParaRPr/>
          </a:p>
          <a:p>
            <a:pPr indent="-285750" lvl="1" marL="742950" rtl="0" algn="l"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79999"/>
              <a:buFont typeface="Noto Sans Symbols"/>
              <a:buChar char="❖"/>
            </a:pPr>
            <a:r>
              <a:rPr lang="ru-RU" sz="2600"/>
              <a:t>Пакет программ СУБД вместе с данными. Иногда  в систему базы данных включают и приложения. </a:t>
            </a:r>
            <a:endParaRPr>
              <a:solidFill>
                <a:srgbClr val="000099"/>
              </a:solidFill>
            </a:endParaRPr>
          </a:p>
        </p:txBody>
      </p:sp>
      <p:sp>
        <p:nvSpPr>
          <p:cNvPr id="283" name="Google Shape;283;p10"/>
          <p:cNvSpPr txBox="1"/>
          <p:nvPr>
            <p:ph idx="12" type="sldNum"/>
          </p:nvPr>
        </p:nvSpPr>
        <p:spPr>
          <a:xfrm>
            <a:off x="8388424" y="6165305"/>
            <a:ext cx="532656" cy="3600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 Black"/>
              <a:buNone/>
            </a:pPr>
            <a:fld id="{00000000-1234-1234-1234-123412341234}" type="slidenum">
              <a:rPr b="0" i="0" lang="ru-RU" sz="1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2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1"/>
          <p:cNvSpPr txBox="1"/>
          <p:nvPr>
            <p:ph type="title"/>
          </p:nvPr>
        </p:nvSpPr>
        <p:spPr>
          <a:xfrm>
            <a:off x="467544" y="139700"/>
            <a:ext cx="8229600" cy="6675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</a:pPr>
            <a:r>
              <a:rPr lang="ru-RU" sz="2800">
                <a:solidFill>
                  <a:schemeClr val="lt2"/>
                </a:solidFill>
              </a:rPr>
              <a:t>Определения термина «База данных»</a:t>
            </a:r>
            <a:endParaRPr/>
          </a:p>
        </p:txBody>
      </p:sp>
      <p:sp>
        <p:nvSpPr>
          <p:cNvPr id="290" name="Google Shape;290;p11"/>
          <p:cNvSpPr txBox="1"/>
          <p:nvPr>
            <p:ph idx="1" type="body"/>
          </p:nvPr>
        </p:nvSpPr>
        <p:spPr>
          <a:xfrm>
            <a:off x="0" y="717550"/>
            <a:ext cx="9144000" cy="614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7500" lnSpcReduction="20000"/>
          </a:bodyPr>
          <a:lstStyle/>
          <a:p>
            <a:pPr indent="-342923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75000"/>
              <a:buChar char="■"/>
            </a:pPr>
            <a:r>
              <a:rPr b="1" lang="ru-RU" sz="3300"/>
              <a:t>База данных</a:t>
            </a:r>
            <a:r>
              <a:rPr lang="ru-RU" sz="3300"/>
              <a:t> — совокупность данных, хранимых в соответствии со схемой данных, манипулирование которыми выполняют в соответствии с правилами средств моделирования данных.</a:t>
            </a:r>
            <a:r>
              <a:rPr baseline="30000" lang="ru-RU" sz="3300" u="sng">
                <a:solidFill>
                  <a:schemeClr val="hlink"/>
                </a:solidFill>
                <a:hlinkClick r:id="rId3"/>
              </a:rPr>
              <a:t>[1]</a:t>
            </a:r>
            <a:endParaRPr sz="3300"/>
          </a:p>
          <a:p>
            <a:pPr indent="-342923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75000"/>
              <a:buChar char="■"/>
            </a:pPr>
            <a:r>
              <a:rPr b="1" lang="ru-RU" sz="3300"/>
              <a:t>База данных</a:t>
            </a:r>
            <a:r>
              <a:rPr lang="ru-RU" sz="3300"/>
              <a:t> — совокупность данных, организованных в соответствии с концептуальной структурой, описывающей характеристики этих данных и взаимоотношения между ними, причём такое собрание данных, которое поддерживает одну или более областей применения</a:t>
            </a:r>
            <a:r>
              <a:rPr baseline="30000" lang="ru-RU" sz="3300" u="sng">
                <a:solidFill>
                  <a:schemeClr val="hlink"/>
                </a:solidFill>
                <a:hlinkClick r:id="rId4"/>
              </a:rPr>
              <a:t>[2]</a:t>
            </a:r>
            <a:r>
              <a:rPr lang="ru-RU" sz="3300"/>
              <a:t>.</a:t>
            </a:r>
            <a:endParaRPr/>
          </a:p>
          <a:p>
            <a:pPr indent="-342923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75000"/>
              <a:buChar char="■"/>
            </a:pPr>
            <a:r>
              <a:rPr b="1" lang="ru-RU" sz="3300"/>
              <a:t>База данных</a:t>
            </a:r>
            <a:r>
              <a:rPr lang="ru-RU" sz="3300"/>
              <a:t> — организованная в соответствии с определёнными правилами и поддерживаемая в памяти компьютера совокупность данных, характеризующая актуальное состояние некоторой предметной области и используемая для удовлетворения информационных потребностей пользователей.</a:t>
            </a:r>
            <a:r>
              <a:rPr baseline="30000" lang="ru-RU" sz="3300" u="sng">
                <a:solidFill>
                  <a:schemeClr val="hlink"/>
                </a:solidFill>
                <a:hlinkClick r:id="rId5"/>
              </a:rPr>
              <a:t>[3]</a:t>
            </a:r>
            <a:endParaRPr sz="3300"/>
          </a:p>
          <a:p>
            <a:pPr indent="-342923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75000"/>
              <a:buChar char="■"/>
            </a:pPr>
            <a:r>
              <a:rPr b="1" lang="ru-RU" sz="3300"/>
              <a:t>База данных</a:t>
            </a:r>
            <a:r>
              <a:rPr lang="ru-RU" sz="3300"/>
              <a:t> — некоторый набор перманентных (постоянно хранимых) данных, используемых прикладными программными системами какого-либо предприятия.</a:t>
            </a:r>
            <a:r>
              <a:rPr baseline="30000" lang="ru-RU" sz="3300" u="sng">
                <a:solidFill>
                  <a:schemeClr val="hlink"/>
                </a:solidFill>
                <a:hlinkClick r:id="rId6"/>
              </a:rPr>
              <a:t>[4]</a:t>
            </a:r>
            <a:endParaRPr sz="3300"/>
          </a:p>
          <a:p>
            <a:pPr indent="-342923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75000"/>
              <a:buChar char="■"/>
            </a:pPr>
            <a:r>
              <a:rPr b="1" lang="ru-RU" sz="3300"/>
              <a:t>База данных</a:t>
            </a:r>
            <a:r>
              <a:rPr lang="ru-RU" sz="3300"/>
              <a:t> — совместно используемый набор логически связанных данных (и описание этих данных), предназначенный для удовлетворения информационных потребностей организации</a:t>
            </a:r>
            <a:r>
              <a:rPr lang="ru-RU" sz="2800"/>
              <a:t>.</a:t>
            </a:r>
            <a:r>
              <a:rPr baseline="30000" lang="ru-RU" sz="2800" u="sng">
                <a:solidFill>
                  <a:schemeClr val="hlink"/>
                </a:solidFill>
                <a:hlinkClick r:id="rId7"/>
              </a:rPr>
              <a:t>[5]</a:t>
            </a:r>
            <a:endParaRPr baseline="30000" sz="2800"/>
          </a:p>
          <a:p>
            <a:pPr indent="-342900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75000"/>
              <a:buChar char="■"/>
            </a:pPr>
            <a:r>
              <a:rPr baseline="30000" lang="ru-RU" sz="2800"/>
              <a:t>===============================================================</a:t>
            </a:r>
            <a:endParaRPr sz="2800"/>
          </a:p>
          <a:p>
            <a:pPr indent="-342900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75000"/>
              <a:buChar char="■"/>
            </a:pPr>
            <a:r>
              <a:rPr lang="ru-RU" sz="2800"/>
              <a:t>1.  ГОСТ Р ИСО МЭК ТО 10032-2007: Эталонная модель управления данными (идентичен ISO/IEC TR 10032:2003 Information technology — Reference model of data management)</a:t>
            </a:r>
            <a:endParaRPr/>
          </a:p>
          <a:p>
            <a:pPr indent="-342900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75000"/>
              <a:buChar char="■"/>
            </a:pPr>
            <a:r>
              <a:rPr lang="ru-RU" sz="2800"/>
              <a:t>2.  ISO/IEC 2382-1:1993. Information technology — Vocabulary — Part 1: Fundamental terms</a:t>
            </a:r>
            <a:endParaRPr/>
          </a:p>
          <a:p>
            <a:pPr indent="-342900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75000"/>
              <a:buChar char="■"/>
            </a:pPr>
            <a:r>
              <a:rPr lang="ru-RU" sz="2800"/>
              <a:t>3. </a:t>
            </a:r>
            <a:r>
              <a:rPr lang="ru-RU" sz="2500"/>
              <a:t>Когаловский М. Р., Энциклопедия технологий баз данных. — М.: Финансы и статистика, 2002. — 800 с.</a:t>
            </a:r>
            <a:endParaRPr/>
          </a:p>
          <a:p>
            <a:pPr indent="-342900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75000"/>
              <a:buChar char="■"/>
            </a:pPr>
            <a:r>
              <a:rPr lang="ru-RU" sz="2800"/>
              <a:t>4. </a:t>
            </a:r>
            <a:r>
              <a:rPr lang="ru-RU" sz="2500"/>
              <a:t>Дейт К. Дж., Введение в системы баз данных  — 8-е изд. — М.: Вильямс, 2005. — 1328 с.</a:t>
            </a:r>
            <a:endParaRPr/>
          </a:p>
          <a:p>
            <a:pPr indent="-342900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75000"/>
              <a:buChar char="■"/>
            </a:pPr>
            <a:r>
              <a:rPr lang="ru-RU" sz="2800"/>
              <a:t>5. </a:t>
            </a:r>
            <a:r>
              <a:rPr lang="ru-RU" sz="2500"/>
              <a:t>Коннолли Т., Бегг К., Базы данных. Проектирование, реализация и сопровождение. Теория и практика— 3-е изд. — М.: Вильямс, 2003. — 1436 с.</a:t>
            </a:r>
            <a:endParaRPr/>
          </a:p>
          <a:p>
            <a:pPr indent="-279558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75000"/>
              <a:buNone/>
            </a:pPr>
            <a:r>
              <a:t/>
            </a:r>
            <a:endParaRPr sz="2800"/>
          </a:p>
        </p:txBody>
      </p:sp>
      <p:sp>
        <p:nvSpPr>
          <p:cNvPr id="291" name="Google Shape;291;p11"/>
          <p:cNvSpPr txBox="1"/>
          <p:nvPr>
            <p:ph idx="12" type="sldNum"/>
          </p:nvPr>
        </p:nvSpPr>
        <p:spPr>
          <a:xfrm>
            <a:off x="8307415" y="6354325"/>
            <a:ext cx="532656" cy="3600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 Black"/>
              <a:buNone/>
            </a:pPr>
            <a:fld id="{00000000-1234-1234-1234-123412341234}" type="slidenum">
              <a:rPr b="0" i="0" lang="ru-RU" sz="1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0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0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0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2"/>
          <p:cNvSpPr txBox="1"/>
          <p:nvPr>
            <p:ph type="title"/>
          </p:nvPr>
        </p:nvSpPr>
        <p:spPr>
          <a:xfrm>
            <a:off x="467544" y="260648"/>
            <a:ext cx="8229600" cy="6675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Arial"/>
              <a:buNone/>
            </a:pPr>
            <a:r>
              <a:rPr lang="ru-RU" sz="3600">
                <a:solidFill>
                  <a:schemeClr val="lt2"/>
                </a:solidFill>
              </a:rPr>
              <a:t>Предпосылки БД</a:t>
            </a:r>
            <a:endParaRPr/>
          </a:p>
        </p:txBody>
      </p:sp>
      <p:sp>
        <p:nvSpPr>
          <p:cNvPr id="297" name="Google Shape;297;p12"/>
          <p:cNvSpPr txBox="1"/>
          <p:nvPr>
            <p:ph idx="1" type="body"/>
          </p:nvPr>
        </p:nvSpPr>
        <p:spPr>
          <a:xfrm>
            <a:off x="0" y="863714"/>
            <a:ext cx="9143999" cy="57156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100"/>
              <a:buChar char="■"/>
            </a:pPr>
            <a:r>
              <a:rPr lang="ru-RU" sz="2800" u="sng">
                <a:solidFill>
                  <a:srgbClr val="000099"/>
                </a:solidFill>
              </a:rPr>
              <a:t>Задача</a:t>
            </a:r>
            <a:r>
              <a:rPr lang="ru-RU" sz="2800">
                <a:solidFill>
                  <a:srgbClr val="000099"/>
                </a:solidFill>
              </a:rPr>
              <a:t>: </a:t>
            </a:r>
            <a:r>
              <a:rPr lang="ru-RU" sz="2400">
                <a:solidFill>
                  <a:srgbClr val="000099"/>
                </a:solidFill>
              </a:rPr>
              <a:t>Создать автоматизированную информационную систему (приложение)</a:t>
            </a:r>
            <a:endParaRPr/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100"/>
              <a:buChar char="■"/>
            </a:pPr>
            <a:r>
              <a:rPr lang="ru-RU" sz="2800">
                <a:solidFill>
                  <a:srgbClr val="000099"/>
                </a:solidFill>
              </a:rPr>
              <a:t>Для решения задачи необходимо:</a:t>
            </a:r>
            <a:endParaRPr/>
          </a:p>
          <a:p>
            <a:pPr indent="-285750" lvl="1" marL="742950" rtl="0" algn="l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920"/>
              <a:buChar char="◻"/>
            </a:pPr>
            <a:r>
              <a:rPr lang="ru-RU" sz="2400">
                <a:solidFill>
                  <a:srgbClr val="000099"/>
                </a:solidFill>
              </a:rPr>
              <a:t>создать модель предметной области (выделить сущности, данные о которых будут помещаться в ИС)  </a:t>
            </a:r>
            <a:endParaRPr/>
          </a:p>
          <a:p>
            <a:pPr indent="-285750" lvl="1" marL="742950" rtl="0" algn="l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920"/>
              <a:buChar char="◻"/>
            </a:pPr>
            <a:r>
              <a:rPr lang="ru-RU" sz="2400">
                <a:solidFill>
                  <a:srgbClr val="000099"/>
                </a:solidFill>
              </a:rPr>
              <a:t>создать систему хранения </a:t>
            </a:r>
            <a:endParaRPr/>
          </a:p>
          <a:p>
            <a:pPr indent="-285750" lvl="1" marL="742950" rtl="0" algn="l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920"/>
              <a:buChar char="◻"/>
            </a:pPr>
            <a:r>
              <a:rPr lang="ru-RU" sz="2400">
                <a:solidFill>
                  <a:srgbClr val="000099"/>
                </a:solidFill>
              </a:rPr>
              <a:t>обеспечить доступ к данным – язык (удобный !, для какого пользователя?)</a:t>
            </a:r>
            <a:endParaRPr/>
          </a:p>
          <a:p>
            <a:pPr indent="-228600" lvl="2" marL="1143000" rtl="0" algn="l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300"/>
              <a:buChar char="■"/>
            </a:pPr>
            <a:r>
              <a:rPr lang="ru-RU" sz="2000">
                <a:solidFill>
                  <a:srgbClr val="000099"/>
                </a:solidFill>
              </a:rPr>
              <a:t>помещать в систему хранения,</a:t>
            </a:r>
            <a:endParaRPr/>
          </a:p>
          <a:p>
            <a:pPr indent="-228600" lvl="2" marL="1143000" rtl="0" algn="l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300"/>
              <a:buChar char="■"/>
            </a:pPr>
            <a:r>
              <a:rPr lang="ru-RU" sz="2000">
                <a:solidFill>
                  <a:srgbClr val="000099"/>
                </a:solidFill>
              </a:rPr>
              <a:t>извлекать из системы хранения,</a:t>
            </a:r>
            <a:endParaRPr/>
          </a:p>
          <a:p>
            <a:pPr indent="-228600" lvl="2" marL="1143000" rtl="0" algn="l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300"/>
              <a:buChar char="■"/>
            </a:pPr>
            <a:r>
              <a:rPr lang="ru-RU" sz="2000">
                <a:solidFill>
                  <a:srgbClr val="000099"/>
                </a:solidFill>
              </a:rPr>
              <a:t>редактировать и/или удалять</a:t>
            </a:r>
            <a:endParaRPr/>
          </a:p>
          <a:p>
            <a:pPr indent="-285750" lvl="1" marL="742950" rtl="0" algn="l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920"/>
              <a:buChar char="◻"/>
            </a:pPr>
            <a:r>
              <a:rPr lang="ru-RU" sz="2400">
                <a:solidFill>
                  <a:srgbClr val="000099"/>
                </a:solidFill>
              </a:rPr>
              <a:t>дать средства обработки данных – язык (удобный !, для какого пользователя?)</a:t>
            </a:r>
            <a:endParaRPr/>
          </a:p>
          <a:p>
            <a:pPr indent="-163830" lvl="1" marL="742950" rtl="0" algn="l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920"/>
              <a:buNone/>
            </a:pPr>
            <a:r>
              <a:t/>
            </a:r>
            <a:endParaRPr sz="2400">
              <a:solidFill>
                <a:srgbClr val="000099"/>
              </a:solidFill>
            </a:endParaRPr>
          </a:p>
          <a:p>
            <a:pPr indent="-190500" lvl="0" marL="342900" rtl="0" algn="l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None/>
            </a:pPr>
            <a:r>
              <a:t/>
            </a:r>
            <a:endParaRPr>
              <a:solidFill>
                <a:srgbClr val="000099"/>
              </a:solidFill>
            </a:endParaRPr>
          </a:p>
        </p:txBody>
      </p:sp>
      <p:sp>
        <p:nvSpPr>
          <p:cNvPr id="298" name="Google Shape;298;p12"/>
          <p:cNvSpPr txBox="1"/>
          <p:nvPr>
            <p:ph idx="12" type="sldNum"/>
          </p:nvPr>
        </p:nvSpPr>
        <p:spPr>
          <a:xfrm>
            <a:off x="8244408" y="6165305"/>
            <a:ext cx="676672" cy="3600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3"/>
          <p:cNvSpPr txBox="1"/>
          <p:nvPr>
            <p:ph type="title"/>
          </p:nvPr>
        </p:nvSpPr>
        <p:spPr>
          <a:xfrm>
            <a:off x="457200" y="457200"/>
            <a:ext cx="8229600" cy="884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>
                <a:solidFill>
                  <a:schemeClr val="lt2"/>
                </a:solidFill>
              </a:rPr>
              <a:t>Этапы разработки базы данных в информационной системе</a:t>
            </a:r>
            <a:endParaRPr/>
          </a:p>
        </p:txBody>
      </p:sp>
      <p:sp>
        <p:nvSpPr>
          <p:cNvPr id="304" name="Google Shape;304;p13"/>
          <p:cNvSpPr txBox="1"/>
          <p:nvPr>
            <p:ph idx="1" type="body"/>
          </p:nvPr>
        </p:nvSpPr>
        <p:spPr>
          <a:xfrm>
            <a:off x="468313" y="1484313"/>
            <a:ext cx="8229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ru-RU"/>
              <a:t>Проектирование базы данных</a:t>
            </a:r>
            <a:endParaRPr/>
          </a:p>
          <a:p>
            <a:pPr indent="-285750" lvl="1" marL="74295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240"/>
              <a:buFont typeface="Noto Sans Symbols"/>
              <a:buChar char="⮚"/>
            </a:pPr>
            <a:r>
              <a:rPr lang="ru-RU"/>
              <a:t>Логическое проектирование</a:t>
            </a:r>
            <a:endParaRPr/>
          </a:p>
          <a:p>
            <a:pPr indent="-285750" lvl="1" marL="74295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240"/>
              <a:buFont typeface="Noto Sans Symbols"/>
              <a:buChar char="⮚"/>
            </a:pPr>
            <a:r>
              <a:rPr lang="ru-RU"/>
              <a:t>Физическое проектирование</a:t>
            </a:r>
            <a:endParaRPr/>
          </a:p>
          <a:p>
            <a:pPr indent="-342900" lvl="0" marL="3429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ru-RU"/>
              <a:t>Планирование базы данных</a:t>
            </a:r>
            <a:endParaRPr/>
          </a:p>
          <a:p>
            <a:pPr indent="-285750" lvl="1" marL="74295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240"/>
              <a:buFont typeface="Noto Sans Symbols"/>
              <a:buChar char="⮚"/>
            </a:pPr>
            <a:r>
              <a:rPr lang="ru-RU"/>
              <a:t>Аппаратных средств</a:t>
            </a:r>
            <a:endParaRPr/>
          </a:p>
          <a:p>
            <a:pPr indent="-285750" lvl="1" marL="74295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240"/>
              <a:buFont typeface="Noto Sans Symbols"/>
              <a:buChar char="⮚"/>
            </a:pPr>
            <a:r>
              <a:rPr lang="ru-RU"/>
              <a:t>Программных средств</a:t>
            </a:r>
            <a:endParaRPr/>
          </a:p>
          <a:p>
            <a:pPr indent="-342900" lvl="0" marL="3429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ru-RU"/>
              <a:t>Реализация базы данных</a:t>
            </a:r>
            <a:endParaRPr/>
          </a:p>
          <a:p>
            <a:pPr indent="-342900" lvl="0" marL="3429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ru-RU"/>
              <a:t>Сопровождение</a:t>
            </a:r>
            <a:endParaRPr/>
          </a:p>
          <a:p>
            <a:pPr indent="-342900" lvl="0" marL="3429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ru-RU"/>
              <a:t>Реинжиниринг</a:t>
            </a:r>
            <a:endParaRPr/>
          </a:p>
        </p:txBody>
      </p:sp>
      <p:sp>
        <p:nvSpPr>
          <p:cNvPr id="305" name="Google Shape;305;p13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4"/>
          <p:cNvSpPr txBox="1"/>
          <p:nvPr>
            <p:ph type="ctrTitle"/>
          </p:nvPr>
        </p:nvSpPr>
        <p:spPr>
          <a:xfrm>
            <a:off x="2971800" y="1828800"/>
            <a:ext cx="6019800" cy="22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600"/>
              <a:t>Семантическое моделирование </a:t>
            </a:r>
            <a:br>
              <a:rPr lang="ru-RU" sz="4600"/>
            </a:br>
            <a:r>
              <a:rPr lang="ru-RU" sz="4600"/>
              <a:t>предметной области</a:t>
            </a:r>
            <a:endParaRPr/>
          </a:p>
        </p:txBody>
      </p:sp>
      <p:sp>
        <p:nvSpPr>
          <p:cNvPr id="311" name="Google Shape;311;p14"/>
          <p:cNvSpPr txBox="1"/>
          <p:nvPr>
            <p:ph idx="1" type="subTitle"/>
          </p:nvPr>
        </p:nvSpPr>
        <p:spPr>
          <a:xfrm>
            <a:off x="101600" y="4267200"/>
            <a:ext cx="9042399" cy="211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475"/>
              <a:buNone/>
            </a:pPr>
            <a:r>
              <a:rPr b="1" lang="ru-RU" sz="3300"/>
              <a:t>М. Грабер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lang="ru-RU" sz="3800"/>
              <a:t>SQL, глава 19. Проектирование базы данных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5"/>
          <p:cNvSpPr txBox="1"/>
          <p:nvPr>
            <p:ph type="title"/>
          </p:nvPr>
        </p:nvSpPr>
        <p:spPr>
          <a:xfrm>
            <a:off x="457200" y="457200"/>
            <a:ext cx="8229600" cy="884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000">
                <a:solidFill>
                  <a:schemeClr val="lt2"/>
                </a:solidFill>
              </a:rPr>
              <a:t>Логическое проектирование</a:t>
            </a:r>
            <a:endParaRPr/>
          </a:p>
        </p:txBody>
      </p:sp>
      <p:sp>
        <p:nvSpPr>
          <p:cNvPr id="317" name="Google Shape;317;p15"/>
          <p:cNvSpPr txBox="1"/>
          <p:nvPr>
            <p:ph idx="1" type="body"/>
          </p:nvPr>
        </p:nvSpPr>
        <p:spPr>
          <a:xfrm>
            <a:off x="468312" y="1484313"/>
            <a:ext cx="8367215" cy="50817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42900" lvl="0" marL="3429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75000"/>
              <a:buChar char="■"/>
            </a:pPr>
            <a:r>
              <a:rPr lang="ru-RU"/>
              <a:t>Выделение понятий предметной области и описание информации, подлежащей моделированию</a:t>
            </a:r>
            <a:endParaRPr/>
          </a:p>
          <a:p>
            <a:pPr indent="-342900" lvl="0" marL="3429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75000"/>
              <a:buChar char="■"/>
            </a:pPr>
            <a:r>
              <a:rPr lang="ru-RU"/>
              <a:t>Разработка семантической или информационно-логической (инфологической) модели предметной области без привязки к СУБД. </a:t>
            </a:r>
            <a:br>
              <a:rPr lang="ru-RU"/>
            </a:br>
            <a:r>
              <a:rPr lang="ru-RU"/>
              <a:t>Построение концептуальной модели предметной области.</a:t>
            </a:r>
            <a:endParaRPr/>
          </a:p>
          <a:p>
            <a:pPr indent="-342900" lvl="0" marL="3429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75000"/>
              <a:buChar char="■"/>
            </a:pPr>
            <a:r>
              <a:rPr lang="ru-RU"/>
              <a:t>Преобразование инфологической модели данных в модель данных конкретной СУБД. Чаще всего в реляционную модель.</a:t>
            </a:r>
            <a:endParaRPr/>
          </a:p>
        </p:txBody>
      </p:sp>
      <p:sp>
        <p:nvSpPr>
          <p:cNvPr id="318" name="Google Shape;318;p15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6"/>
          <p:cNvSpPr txBox="1"/>
          <p:nvPr>
            <p:ph type="title"/>
          </p:nvPr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6"/>
          <p:cNvSpPr txBox="1"/>
          <p:nvPr>
            <p:ph idx="1" type="body"/>
          </p:nvPr>
        </p:nvSpPr>
        <p:spPr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90500" lvl="0" marL="34290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325" name="Google Shape;325;p16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descr="D:\YandexDisk\Скриншоты\2019-09-12_09-53-10.png" id="326" name="Google Shape;32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2372" y="666493"/>
            <a:ext cx="8686800" cy="55819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7"/>
          <p:cNvSpPr txBox="1"/>
          <p:nvPr>
            <p:ph type="title"/>
          </p:nvPr>
        </p:nvSpPr>
        <p:spPr>
          <a:xfrm>
            <a:off x="457200" y="457200"/>
            <a:ext cx="82296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000">
                <a:solidFill>
                  <a:schemeClr val="lt2"/>
                </a:solidFill>
              </a:rPr>
              <a:t>Инфологическое проектирование</a:t>
            </a:r>
            <a:endParaRPr/>
          </a:p>
        </p:txBody>
      </p:sp>
      <p:sp>
        <p:nvSpPr>
          <p:cNvPr id="332" name="Google Shape;332;p17"/>
          <p:cNvSpPr txBox="1"/>
          <p:nvPr>
            <p:ph idx="1" type="body"/>
          </p:nvPr>
        </p:nvSpPr>
        <p:spPr>
          <a:xfrm>
            <a:off x="252536" y="1153391"/>
            <a:ext cx="9144000" cy="53824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342900" lvl="0" marL="3429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75000"/>
              <a:buChar char="■"/>
            </a:pPr>
            <a:r>
              <a:rPr lang="ru-RU"/>
              <a:t>Модель «Сущность – Связь»,</a:t>
            </a:r>
            <a:br>
              <a:rPr lang="ru-RU"/>
            </a:br>
            <a:r>
              <a:rPr lang="ru-RU"/>
              <a:t>Entity Relationship Model (ERM), </a:t>
            </a:r>
            <a:br>
              <a:rPr lang="ru-RU"/>
            </a:br>
            <a:r>
              <a:rPr lang="ru-RU"/>
              <a:t>	</a:t>
            </a:r>
            <a:r>
              <a:rPr lang="ru-RU" sz="2600"/>
              <a:t>Питер Чен (Тайвань), 1976 г., профессор, 	университет штата Луизиана, США</a:t>
            </a:r>
            <a:endParaRPr/>
          </a:p>
          <a:p>
            <a:pPr indent="-342900" lvl="0" marL="3429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75000"/>
              <a:buChar char="■"/>
            </a:pPr>
            <a:r>
              <a:rPr lang="ru-RU"/>
              <a:t>Реляционная модель данных</a:t>
            </a:r>
            <a:endParaRPr/>
          </a:p>
          <a:p>
            <a:pPr indent="-342900" lvl="0" marL="3429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75000"/>
              <a:buChar char="■"/>
            </a:pPr>
            <a:r>
              <a:rPr lang="ru-RU"/>
              <a:t>Object Definition Language – стандарт средств описания объектно-ориентированных баз данных</a:t>
            </a:r>
            <a:endParaRPr/>
          </a:p>
          <a:p>
            <a:pPr indent="-342900" lvl="0" marL="3429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75000"/>
              <a:buChar char="■"/>
            </a:pPr>
            <a:r>
              <a:rPr lang="ru-RU"/>
              <a:t>UML. Диаграммы классов</a:t>
            </a:r>
            <a:endParaRPr/>
          </a:p>
          <a:p>
            <a:pPr indent="-342900" lvl="0" marL="3429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75000"/>
              <a:buChar char="■"/>
            </a:pPr>
            <a:r>
              <a:rPr lang="ru-RU"/>
              <a:t>Полуструктурированные данные (XML)</a:t>
            </a:r>
            <a:endParaRPr/>
          </a:p>
          <a:p>
            <a:pPr indent="-342900" lvl="0" marL="3429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75000"/>
              <a:buChar char="■"/>
            </a:pPr>
            <a:r>
              <a:rPr lang="ru-RU"/>
              <a:t>Семантические сети</a:t>
            </a:r>
            <a:endParaRPr/>
          </a:p>
          <a:p>
            <a:pPr indent="-201930" lvl="0" marL="3429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75000"/>
              <a:buNone/>
            </a:pPr>
            <a:r>
              <a:t/>
            </a:r>
            <a:endParaRPr/>
          </a:p>
        </p:txBody>
      </p:sp>
      <p:sp>
        <p:nvSpPr>
          <p:cNvPr id="333" name="Google Shape;333;p17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8"/>
          <p:cNvSpPr txBox="1"/>
          <p:nvPr>
            <p:ph type="title"/>
          </p:nvPr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8"/>
          <p:cNvSpPr txBox="1"/>
          <p:nvPr>
            <p:ph idx="1" type="body"/>
          </p:nvPr>
        </p:nvSpPr>
        <p:spPr>
          <a:xfrm>
            <a:off x="457200" y="1828800"/>
            <a:ext cx="8229600" cy="40385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90500" lvl="0" marL="34290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340" name="Google Shape;340;p18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descr="D:\YandexDisk\Скриншоты\2019-09-12_09-56-46.png" id="341" name="Google Shape;34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560" y="457200"/>
            <a:ext cx="8520240" cy="60238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9"/>
          <p:cNvSpPr txBox="1"/>
          <p:nvPr>
            <p:ph type="title"/>
          </p:nvPr>
        </p:nvSpPr>
        <p:spPr>
          <a:xfrm>
            <a:off x="457200" y="210862"/>
            <a:ext cx="8229600" cy="5445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>
                <a:solidFill>
                  <a:schemeClr val="lt2"/>
                </a:solidFill>
              </a:rPr>
              <a:t>Модель «Сущность-связь»</a:t>
            </a:r>
            <a:endParaRPr sz="2000">
              <a:solidFill>
                <a:schemeClr val="lt2"/>
              </a:solidFill>
            </a:endParaRPr>
          </a:p>
        </p:txBody>
      </p:sp>
      <p:sp>
        <p:nvSpPr>
          <p:cNvPr id="347" name="Google Shape;347;p19"/>
          <p:cNvSpPr txBox="1"/>
          <p:nvPr>
            <p:ph idx="1" type="body"/>
          </p:nvPr>
        </p:nvSpPr>
        <p:spPr>
          <a:xfrm>
            <a:off x="522287" y="755374"/>
            <a:ext cx="8229600" cy="56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ru-RU"/>
              <a:t>Основные компоненты ER модели</a:t>
            </a:r>
            <a:endParaRPr/>
          </a:p>
          <a:p>
            <a:pPr indent="-285750" lvl="1" marL="742950" rtl="0" algn="l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240"/>
              <a:buFont typeface="Noto Sans Symbols"/>
              <a:buChar char="❖"/>
            </a:pPr>
            <a:r>
              <a:rPr lang="ru-RU"/>
              <a:t>Множество сущностей</a:t>
            </a:r>
            <a:endParaRPr/>
          </a:p>
          <a:p>
            <a:pPr indent="-285750" lvl="1" marL="742950" rtl="0" algn="l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240"/>
              <a:buFont typeface="Noto Sans Symbols"/>
              <a:buChar char="❖"/>
            </a:pPr>
            <a:r>
              <a:rPr lang="ru-RU"/>
              <a:t>Атрибуты сущностей</a:t>
            </a:r>
            <a:endParaRPr/>
          </a:p>
          <a:p>
            <a:pPr indent="-285750" lvl="1" marL="742950" rtl="0" algn="l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240"/>
              <a:buFont typeface="Noto Sans Symbols"/>
              <a:buChar char="❖"/>
            </a:pPr>
            <a:r>
              <a:rPr lang="ru-RU"/>
              <a:t>Связи</a:t>
            </a:r>
            <a:endParaRPr/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ru-RU"/>
              <a:t>Этапы проектирования ER модели</a:t>
            </a:r>
            <a:endParaRPr/>
          </a:p>
          <a:p>
            <a:pPr indent="-285750" lvl="1" marL="742950" rtl="0" algn="l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240"/>
              <a:buFont typeface="Noto Sans Symbols"/>
              <a:buChar char="❖"/>
            </a:pPr>
            <a:r>
              <a:rPr lang="ru-RU"/>
              <a:t>Выделение сущностей-объектов</a:t>
            </a:r>
            <a:endParaRPr/>
          </a:p>
          <a:p>
            <a:pPr indent="-228600" lvl="2" marL="1143000" rtl="0" algn="l">
              <a:spcBef>
                <a:spcPts val="0"/>
              </a:spcBef>
              <a:spcAft>
                <a:spcPts val="0"/>
              </a:spcAft>
              <a:buSzPts val="1560"/>
              <a:buChar char="■"/>
            </a:pPr>
            <a:r>
              <a:rPr lang="ru-RU"/>
              <a:t>Определение атрибутов сущностей</a:t>
            </a:r>
            <a:endParaRPr/>
          </a:p>
          <a:p>
            <a:pPr indent="-228600" lvl="2" marL="1143000" rtl="0" algn="l">
              <a:spcBef>
                <a:spcPts val="0"/>
              </a:spcBef>
              <a:spcAft>
                <a:spcPts val="0"/>
              </a:spcAft>
              <a:buSzPts val="1560"/>
              <a:buChar char="■"/>
            </a:pPr>
            <a:r>
              <a:rPr lang="ru-RU"/>
              <a:t>Выделение идентифицирующих атрибутов- ключей</a:t>
            </a:r>
            <a:endParaRPr/>
          </a:p>
          <a:p>
            <a:pPr indent="-285750" lvl="1" marL="742950" rtl="0" algn="l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240"/>
              <a:buFont typeface="Noto Sans Symbols"/>
              <a:buChar char="❖"/>
            </a:pPr>
            <a:r>
              <a:rPr lang="ru-RU"/>
              <a:t>Определение связей</a:t>
            </a:r>
            <a:endParaRPr/>
          </a:p>
          <a:p>
            <a:pPr indent="-228600" lvl="2" marL="1143000" rtl="0" algn="l">
              <a:spcBef>
                <a:spcPts val="0"/>
              </a:spcBef>
              <a:spcAft>
                <a:spcPts val="0"/>
              </a:spcAft>
              <a:buSzPts val="1560"/>
              <a:buChar char="■"/>
            </a:pPr>
            <a:r>
              <a:rPr lang="ru-RU"/>
              <a:t>Вид связи: 1:1, 1:m, n:m</a:t>
            </a:r>
            <a:endParaRPr/>
          </a:p>
          <a:p>
            <a:pPr indent="-228600" lvl="2" marL="1143000" rtl="0" algn="l">
              <a:spcBef>
                <a:spcPts val="0"/>
              </a:spcBef>
              <a:spcAft>
                <a:spcPts val="0"/>
              </a:spcAft>
              <a:buSzPts val="1560"/>
              <a:buChar char="■"/>
            </a:pPr>
            <a:r>
              <a:rPr lang="ru-RU"/>
              <a:t>Обязательность связей</a:t>
            </a:r>
            <a:endParaRPr/>
          </a:p>
          <a:p>
            <a:pPr indent="-285750" lvl="1" marL="742950" rtl="0" algn="l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240"/>
              <a:buFont typeface="Noto Sans Symbols"/>
              <a:buChar char="❖"/>
            </a:pPr>
            <a:r>
              <a:rPr lang="ru-RU"/>
              <a:t>Фиксация модели в виде ER-диаграммы</a:t>
            </a:r>
            <a:endParaRPr/>
          </a:p>
          <a:p>
            <a:pPr indent="-129539" lvl="2" marL="1143000" rtl="0" algn="l">
              <a:spcBef>
                <a:spcPts val="0"/>
              </a:spcBef>
              <a:spcAft>
                <a:spcPts val="0"/>
              </a:spcAft>
              <a:buSzPts val="1560"/>
              <a:buNone/>
            </a:pPr>
            <a:r>
              <a:t/>
            </a:r>
            <a:endParaRPr/>
          </a:p>
        </p:txBody>
      </p:sp>
      <p:sp>
        <p:nvSpPr>
          <p:cNvPr id="348" name="Google Shape;348;p19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7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7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7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7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0"/>
          <p:cNvSpPr txBox="1"/>
          <p:nvPr>
            <p:ph type="title"/>
          </p:nvPr>
        </p:nvSpPr>
        <p:spPr>
          <a:xfrm>
            <a:off x="457200" y="457200"/>
            <a:ext cx="82296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solidFill>
                  <a:schemeClr val="lt2"/>
                </a:solidFill>
              </a:rPr>
              <a:t>Сущность</a:t>
            </a:r>
            <a:endParaRPr/>
          </a:p>
        </p:txBody>
      </p:sp>
      <p:sp>
        <p:nvSpPr>
          <p:cNvPr id="354" name="Google Shape;354;p20"/>
          <p:cNvSpPr txBox="1"/>
          <p:nvPr>
            <p:ph idx="1" type="body"/>
          </p:nvPr>
        </p:nvSpPr>
        <p:spPr>
          <a:xfrm>
            <a:off x="611188" y="1125538"/>
            <a:ext cx="8229600" cy="53990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ru-RU"/>
              <a:t>Сущность – информационный объект, моделирующий объекты приложения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400"/>
              <a:buFont typeface="Noto Sans Symbols"/>
              <a:buNone/>
            </a:pPr>
            <a:r>
              <a:rPr lang="ru-RU"/>
              <a:t>   </a:t>
            </a:r>
            <a:r>
              <a:rPr lang="ru-RU" sz="2800"/>
              <a:t>Объект материального мира, явление, 	событие,  и т.д.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100"/>
              <a:buFont typeface="Noto Sans Symbols"/>
              <a:buNone/>
            </a:pPr>
            <a:r>
              <a:rPr lang="ru-RU" sz="2800"/>
              <a:t>Примеры: Студент, Форум, Накладная, Ведомость</a:t>
            </a:r>
            <a:endParaRPr/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ru-RU"/>
              <a:t>Сходство с понятием объект в ОМД</a:t>
            </a:r>
            <a:endParaRPr/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ru-RU"/>
              <a:t>Сущность – статический объект, определяет структуры данных</a:t>
            </a:r>
            <a:endParaRPr/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ru-RU"/>
              <a:t>Нет определения операций</a:t>
            </a:r>
            <a:endParaRPr/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ru-RU"/>
              <a:t>Множество сущностей (класс)</a:t>
            </a:r>
            <a:endParaRPr/>
          </a:p>
        </p:txBody>
      </p:sp>
      <p:sp>
        <p:nvSpPr>
          <p:cNvPr id="355" name="Google Shape;355;p20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21"/>
          <p:cNvSpPr txBox="1"/>
          <p:nvPr>
            <p:ph type="title"/>
          </p:nvPr>
        </p:nvSpPr>
        <p:spPr>
          <a:xfrm>
            <a:off x="539750" y="252164"/>
            <a:ext cx="7915619" cy="611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solidFill>
                  <a:schemeClr val="lt2"/>
                </a:solidFill>
              </a:rPr>
              <a:t>Сущность. Пример</a:t>
            </a:r>
            <a:endParaRPr/>
          </a:p>
        </p:txBody>
      </p:sp>
      <p:sp>
        <p:nvSpPr>
          <p:cNvPr id="361" name="Google Shape;361;p21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362" name="Google Shape;362;p21"/>
          <p:cNvSpPr txBox="1"/>
          <p:nvPr/>
        </p:nvSpPr>
        <p:spPr>
          <a:xfrm>
            <a:off x="565582" y="1115538"/>
            <a:ext cx="5022850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⮚"/>
            </a:pPr>
            <a:r>
              <a:rPr b="0" i="0" lang="ru-RU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На рисунке изображена сущность АЭРОПОРТ с примерными экземплярами «Шереметьево» и «Хитроу»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⮚"/>
            </a:pPr>
            <a:r>
              <a:rPr b="0" i="0" lang="ru-RU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Эта примитивная диаграмма, тем не менее, несет важную информацию 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R1" id="363" name="Google Shape;36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62600" y="863599"/>
            <a:ext cx="3124200" cy="1943100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21"/>
          <p:cNvSpPr txBox="1"/>
          <p:nvPr>
            <p:ph idx="1" type="body"/>
          </p:nvPr>
        </p:nvSpPr>
        <p:spPr>
          <a:xfrm>
            <a:off x="565582" y="3467872"/>
            <a:ext cx="8229600" cy="305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⮚"/>
            </a:pPr>
            <a:r>
              <a:rPr lang="ru-RU" sz="2000"/>
              <a:t> Во-первых, она показывает, что в базе данных будут содержаться однотипные структуры данных (экземпляры сущности), описывающие аэропорты</a:t>
            </a:r>
            <a:endParaRPr sz="2000"/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⮚"/>
            </a:pPr>
            <a:r>
              <a:rPr lang="ru-RU" sz="2000"/>
              <a:t> Во-вторых, поскольку в жизни существует несколько точек зрения на аэропорты, приведенные примеры аэропортов позволяют несколько сузить допустимый набор точек зрения</a:t>
            </a:r>
            <a:endParaRPr sz="2000"/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⮚"/>
            </a:pPr>
            <a:r>
              <a:rPr lang="ru-RU" sz="2000"/>
              <a:t> В нашем случае приведены примеры международных аэропортов, так что, скорее всего, имеется точка зрения пассажира или пилота международных авиарейсов </a:t>
            </a:r>
            <a:endParaRPr sz="20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22"/>
          <p:cNvSpPr txBox="1"/>
          <p:nvPr>
            <p:ph type="title"/>
          </p:nvPr>
        </p:nvSpPr>
        <p:spPr>
          <a:xfrm>
            <a:off x="457200" y="457200"/>
            <a:ext cx="8229600" cy="8112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Атрибуты</a:t>
            </a:r>
            <a:endParaRPr/>
          </a:p>
        </p:txBody>
      </p:sp>
      <p:sp>
        <p:nvSpPr>
          <p:cNvPr id="370" name="Google Shape;370;p22"/>
          <p:cNvSpPr txBox="1"/>
          <p:nvPr>
            <p:ph idx="1" type="body"/>
          </p:nvPr>
        </p:nvSpPr>
        <p:spPr>
          <a:xfrm>
            <a:off x="339865" y="1157161"/>
            <a:ext cx="8346935" cy="50912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ct val="75000"/>
              <a:buChar char="■"/>
            </a:pPr>
            <a:r>
              <a:rPr lang="ru-RU"/>
              <a:t>Атрибут является </a:t>
            </a:r>
            <a:r>
              <a:rPr b="1" lang="ru-RU">
                <a:solidFill>
                  <a:srgbClr val="0000E4"/>
                </a:solidFill>
              </a:rPr>
              <a:t>свойством сущности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75000"/>
              <a:buFont typeface="Noto Sans Symbols"/>
              <a:buNone/>
            </a:pPr>
            <a:r>
              <a:rPr lang="ru-RU"/>
              <a:t>  сотрудник (таб_номер,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75000"/>
              <a:buFont typeface="Noto Sans Symbols"/>
              <a:buNone/>
            </a:pPr>
            <a:r>
              <a:rPr lang="ru-RU"/>
              <a:t>		фамилия,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75000"/>
              <a:buFont typeface="Noto Sans Symbols"/>
              <a:buNone/>
            </a:pPr>
            <a:r>
              <a:rPr lang="ru-RU"/>
              <a:t>		имя,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75000"/>
              <a:buFont typeface="Noto Sans Symbols"/>
              <a:buNone/>
            </a:pPr>
            <a:r>
              <a:rPr lang="ru-RU"/>
              <a:t>		отчество,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75000"/>
              <a:buFont typeface="Noto Sans Symbols"/>
              <a:buNone/>
            </a:pPr>
            <a:r>
              <a:rPr lang="ru-RU"/>
              <a:t>		код_должности,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75000"/>
              <a:buFont typeface="Noto Sans Symbols"/>
              <a:buNone/>
            </a:pPr>
            <a:r>
              <a:rPr lang="ru-RU"/>
              <a:t>		дата_приема,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75000"/>
              <a:buFont typeface="Noto Sans Symbols"/>
              <a:buNone/>
            </a:pPr>
            <a:r>
              <a:rPr lang="ru-RU"/>
              <a:t>			…) </a:t>
            </a:r>
            <a:endParaRPr/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ct val="75000"/>
              <a:buChar char="■"/>
            </a:pPr>
            <a:r>
              <a:rPr lang="ru-RU"/>
              <a:t>Идентифицирующий атрибут - </a:t>
            </a:r>
            <a:r>
              <a:rPr b="1" lang="ru-RU">
                <a:solidFill>
                  <a:srgbClr val="0000E4"/>
                </a:solidFill>
              </a:rPr>
              <a:t>ключ</a:t>
            </a:r>
            <a:endParaRPr/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ct val="75000"/>
              <a:buChar char="■"/>
            </a:pPr>
            <a:r>
              <a:rPr lang="ru-RU"/>
              <a:t>Именование атрибутов (наиболее точное </a:t>
            </a:r>
            <a:r>
              <a:rPr b="1" lang="ru-RU">
                <a:solidFill>
                  <a:srgbClr val="0000E4"/>
                </a:solidFill>
              </a:rPr>
              <a:t>соответствие смыслу свойства</a:t>
            </a:r>
            <a:r>
              <a:rPr lang="ru-RU"/>
              <a:t>)</a:t>
            </a:r>
            <a:endParaRPr/>
          </a:p>
        </p:txBody>
      </p:sp>
      <p:sp>
        <p:nvSpPr>
          <p:cNvPr id="371" name="Google Shape;371;p22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0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23"/>
          <p:cNvSpPr txBox="1"/>
          <p:nvPr>
            <p:ph type="title"/>
          </p:nvPr>
        </p:nvSpPr>
        <p:spPr>
          <a:xfrm>
            <a:off x="360363" y="58738"/>
            <a:ext cx="8229600" cy="7350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solidFill>
                  <a:schemeClr val="lt2"/>
                </a:solidFill>
              </a:rPr>
              <a:t>Связи</a:t>
            </a:r>
            <a:endParaRPr/>
          </a:p>
        </p:txBody>
      </p:sp>
      <p:sp>
        <p:nvSpPr>
          <p:cNvPr id="377" name="Google Shape;377;p23"/>
          <p:cNvSpPr txBox="1"/>
          <p:nvPr>
            <p:ph idx="1" type="body"/>
          </p:nvPr>
        </p:nvSpPr>
        <p:spPr>
          <a:xfrm>
            <a:off x="150726" y="778215"/>
            <a:ext cx="8782260" cy="60044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0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75000"/>
              <a:buChar char="■"/>
            </a:pPr>
            <a:r>
              <a:rPr lang="ru-RU" sz="2400"/>
              <a:t>Связи – </a:t>
            </a:r>
            <a:r>
              <a:rPr lang="ru-RU" sz="2400">
                <a:solidFill>
                  <a:srgbClr val="0000E4"/>
                </a:solidFill>
              </a:rPr>
              <a:t>соединения (соотношения) </a:t>
            </a:r>
            <a:r>
              <a:rPr lang="ru-RU" sz="2400"/>
              <a:t>между двумя или большим числом сущностей</a:t>
            </a:r>
            <a:endParaRPr/>
          </a:p>
          <a:p>
            <a:pPr indent="-342900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75000"/>
              <a:buChar char="■"/>
            </a:pPr>
            <a:r>
              <a:rPr lang="ru-RU" sz="2400"/>
              <a:t>ER модель допускает наличие связей, включающей </a:t>
            </a:r>
            <a:r>
              <a:rPr lang="ru-RU" sz="2400">
                <a:solidFill>
                  <a:srgbClr val="0000E4"/>
                </a:solidFill>
              </a:rPr>
              <a:t>произвольное количество</a:t>
            </a:r>
            <a:r>
              <a:rPr lang="ru-RU" sz="2400"/>
              <a:t> сущностей.</a:t>
            </a:r>
            <a:endParaRPr/>
          </a:p>
          <a:p>
            <a:pPr indent="-342900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75000"/>
              <a:buChar char="■"/>
            </a:pPr>
            <a:r>
              <a:rPr lang="ru-RU" sz="2400"/>
              <a:t>Наиболее распространена </a:t>
            </a:r>
            <a:r>
              <a:rPr b="1" lang="ru-RU" sz="2900">
                <a:solidFill>
                  <a:srgbClr val="0000E4"/>
                </a:solidFill>
                <a:latin typeface="Arial"/>
                <a:ea typeface="Arial"/>
                <a:cs typeface="Arial"/>
                <a:sym typeface="Arial"/>
              </a:rPr>
              <a:t>бинарная связь </a:t>
            </a:r>
            <a:r>
              <a:rPr lang="ru-RU" sz="2400"/>
              <a:t>между 2-мя множествами сущностей</a:t>
            </a:r>
            <a:endParaRPr/>
          </a:p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75000"/>
              <a:buNone/>
            </a:pPr>
            <a:r>
              <a:t/>
            </a:r>
            <a:endParaRPr b="1" sz="2400"/>
          </a:p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75000"/>
              <a:buNone/>
            </a:pPr>
            <a:r>
              <a:rPr b="1" lang="ru-RU" sz="2600"/>
              <a:t>ТИПЫ связей</a:t>
            </a:r>
            <a:endParaRPr/>
          </a:p>
          <a:p>
            <a:pPr indent="-342900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75000"/>
              <a:buChar char="■"/>
            </a:pPr>
            <a:r>
              <a:rPr lang="ru-RU" sz="2400"/>
              <a:t>Если каждый член множества Е</a:t>
            </a:r>
            <a:r>
              <a:rPr baseline="-25000" lang="ru-RU" sz="2400"/>
              <a:t>1 </a:t>
            </a:r>
            <a:r>
              <a:rPr lang="ru-RU" sz="2400"/>
              <a:t>посредством связи R может быть соединен не более чем с одним членом Е</a:t>
            </a:r>
            <a:r>
              <a:rPr baseline="-25000" lang="ru-RU" sz="2400"/>
              <a:t>2 </a:t>
            </a:r>
            <a:r>
              <a:rPr lang="ru-RU" sz="2400"/>
              <a:t>, </a:t>
            </a:r>
            <a:br>
              <a:rPr lang="ru-RU" sz="2400"/>
            </a:br>
            <a:r>
              <a:rPr lang="ru-RU" sz="2400"/>
              <a:t>то R </a:t>
            </a:r>
            <a:r>
              <a:rPr b="1" lang="ru-RU" sz="2400">
                <a:solidFill>
                  <a:srgbClr val="0000E4"/>
                </a:solidFill>
              </a:rPr>
              <a:t>связь типа М:1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75000"/>
              <a:buFont typeface="Noto Sans Symbols"/>
              <a:buNone/>
            </a:pPr>
            <a:r>
              <a:rPr lang="ru-RU"/>
              <a:t>	Сотрудник → Отдел (m:1)</a:t>
            </a:r>
            <a:endParaRPr/>
          </a:p>
          <a:p>
            <a:pPr indent="-342900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75000"/>
              <a:buChar char="■"/>
            </a:pPr>
            <a:r>
              <a:rPr lang="ru-RU" sz="2400"/>
              <a:t>Если</a:t>
            </a:r>
            <a:r>
              <a:rPr lang="ru-RU"/>
              <a:t> </a:t>
            </a:r>
            <a:r>
              <a:rPr lang="ru-RU" sz="2400"/>
              <a:t>связь</a:t>
            </a:r>
            <a:r>
              <a:rPr lang="ru-RU"/>
              <a:t> </a:t>
            </a:r>
            <a:r>
              <a:rPr lang="ru-RU" sz="2400"/>
              <a:t>R</a:t>
            </a:r>
            <a:r>
              <a:rPr lang="ru-RU"/>
              <a:t> </a:t>
            </a:r>
            <a:r>
              <a:rPr lang="ru-RU" sz="2400"/>
              <a:t>в обоих направлениях от  Е</a:t>
            </a:r>
            <a:r>
              <a:rPr baseline="-25000" lang="ru-RU" sz="2400"/>
              <a:t>1 </a:t>
            </a:r>
            <a:r>
              <a:rPr lang="ru-RU" sz="2400"/>
              <a:t>к Е</a:t>
            </a:r>
            <a:r>
              <a:rPr baseline="-25000" lang="ru-RU" sz="2400"/>
              <a:t>2 </a:t>
            </a:r>
            <a:r>
              <a:rPr lang="ru-RU" sz="2400"/>
              <a:t>и от Е</a:t>
            </a:r>
            <a:r>
              <a:rPr baseline="-25000" lang="ru-RU" sz="2400"/>
              <a:t>2 </a:t>
            </a:r>
            <a:r>
              <a:rPr lang="ru-RU" sz="2400"/>
              <a:t>к Е</a:t>
            </a:r>
            <a:r>
              <a:rPr baseline="-25000" lang="ru-RU" sz="2400"/>
              <a:t>1 </a:t>
            </a:r>
            <a:r>
              <a:rPr lang="ru-RU" sz="2400"/>
              <a:t>относится к типу М:1, то R </a:t>
            </a:r>
            <a:r>
              <a:rPr b="1" lang="ru-RU" sz="2400">
                <a:solidFill>
                  <a:srgbClr val="0000E4"/>
                </a:solidFill>
              </a:rPr>
              <a:t>связь типа 1:1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75000"/>
              <a:buNone/>
            </a:pPr>
            <a:r>
              <a:rPr lang="ru-RU" sz="2600"/>
              <a:t>	</a:t>
            </a:r>
            <a:r>
              <a:rPr lang="ru-RU"/>
              <a:t>Человек </a:t>
            </a:r>
            <a:r>
              <a:rPr lang="ru-RU" sz="3800"/>
              <a:t>↔</a:t>
            </a:r>
            <a:r>
              <a:rPr lang="ru-RU"/>
              <a:t> Паспорт, полис страхования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75000"/>
              <a:buNone/>
            </a:pPr>
            <a:r>
              <a:rPr lang="ru-RU"/>
              <a:t>	Компания </a:t>
            </a:r>
            <a:r>
              <a:rPr lang="ru-RU" sz="3800"/>
              <a:t>↔</a:t>
            </a:r>
            <a:r>
              <a:rPr lang="ru-RU"/>
              <a:t>  Президент, директор</a:t>
            </a:r>
            <a:endParaRPr/>
          </a:p>
        </p:txBody>
      </p:sp>
      <p:sp>
        <p:nvSpPr>
          <p:cNvPr id="378" name="Google Shape;378;p23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7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24"/>
          <p:cNvSpPr txBox="1"/>
          <p:nvPr>
            <p:ph type="title"/>
          </p:nvPr>
        </p:nvSpPr>
        <p:spPr>
          <a:xfrm>
            <a:off x="457200" y="203200"/>
            <a:ext cx="8229600" cy="766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>
                <a:solidFill>
                  <a:schemeClr val="lt2"/>
                </a:solidFill>
              </a:rPr>
              <a:t>Связи (2)</a:t>
            </a:r>
            <a:endParaRPr sz="3600"/>
          </a:p>
        </p:txBody>
      </p:sp>
      <p:sp>
        <p:nvSpPr>
          <p:cNvPr id="384" name="Google Shape;384;p24"/>
          <p:cNvSpPr txBox="1"/>
          <p:nvPr>
            <p:ph idx="1" type="body"/>
          </p:nvPr>
        </p:nvSpPr>
        <p:spPr>
          <a:xfrm>
            <a:off x="215899" y="969963"/>
            <a:ext cx="8826500" cy="56848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-342900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75000"/>
              <a:buChar char="■"/>
            </a:pPr>
            <a:r>
              <a:rPr lang="ru-RU" sz="3000"/>
              <a:t>Если связь R ни в одном из направлений ни от  Е</a:t>
            </a:r>
            <a:r>
              <a:rPr baseline="-25000" lang="ru-RU" sz="3000"/>
              <a:t>1 </a:t>
            </a:r>
            <a:r>
              <a:rPr lang="ru-RU" sz="3000"/>
              <a:t>к Е</a:t>
            </a:r>
            <a:r>
              <a:rPr baseline="-25000" lang="ru-RU" sz="3000"/>
              <a:t>2 </a:t>
            </a:r>
            <a:r>
              <a:rPr lang="ru-RU" sz="3000"/>
              <a:t>и ни от Е</a:t>
            </a:r>
            <a:r>
              <a:rPr baseline="-25000" lang="ru-RU" sz="3000"/>
              <a:t>2 </a:t>
            </a:r>
            <a:r>
              <a:rPr lang="ru-RU" sz="3000"/>
              <a:t>к Е</a:t>
            </a:r>
            <a:r>
              <a:rPr baseline="-25000" lang="ru-RU" sz="3000"/>
              <a:t>1 </a:t>
            </a:r>
            <a:r>
              <a:rPr lang="ru-RU" sz="3000"/>
              <a:t>не относится к типу М:1,  то R </a:t>
            </a:r>
            <a:r>
              <a:rPr b="1" lang="ru-RU" sz="3000">
                <a:solidFill>
                  <a:srgbClr val="0000E4"/>
                </a:solidFill>
              </a:rPr>
              <a:t>связь типа M:N</a:t>
            </a:r>
            <a:endParaRPr b="1" sz="3000">
              <a:solidFill>
                <a:srgbClr val="0000E4"/>
              </a:solidFill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75000"/>
              <a:buNone/>
            </a:pPr>
            <a:r>
              <a:rPr lang="ru-RU" sz="1800"/>
              <a:t>	</a:t>
            </a:r>
            <a:r>
              <a:rPr lang="ru-RU" sz="2900"/>
              <a:t>Студент  &lt;&lt;—&gt;&gt; Дисциплина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75000"/>
              <a:buNone/>
            </a:pPr>
            <a:r>
              <a:rPr lang="ru-RU" sz="2900"/>
              <a:t>	Студент &lt;&lt;—&gt;&gt; Преподаватель</a:t>
            </a:r>
            <a:endParaRPr/>
          </a:p>
          <a:p>
            <a:pPr indent="-342900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75000"/>
              <a:buChar char="■"/>
            </a:pPr>
            <a:r>
              <a:rPr lang="ru-RU" sz="3000"/>
              <a:t>Необязательные связи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75000"/>
              <a:buNone/>
            </a:pPr>
            <a:r>
              <a:rPr lang="ru-RU" sz="3000"/>
              <a:t>	Пассажир </a:t>
            </a:r>
            <a:r>
              <a:rPr lang="ru-RU" sz="4200"/>
              <a:t>… </a:t>
            </a:r>
            <a:r>
              <a:rPr lang="ru-RU" sz="3000"/>
              <a:t> </a:t>
            </a:r>
            <a:r>
              <a:rPr lang="ru-RU" sz="3600"/>
              <a:t>→ </a:t>
            </a:r>
            <a:r>
              <a:rPr lang="ru-RU" sz="3000"/>
              <a:t> Билет</a:t>
            </a:r>
            <a:endParaRPr/>
          </a:p>
          <a:p>
            <a:pPr indent="-300990" lvl="0" marL="3429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Noto Sans Symbols"/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5000"/>
              <a:buNone/>
            </a:pPr>
            <a:r>
              <a:rPr lang="ru-RU" sz="2900"/>
              <a:t>Устная трактовка изображенной диаграммы состоит в следующем:</a:t>
            </a:r>
            <a:endParaRPr/>
          </a:p>
          <a:p>
            <a:pPr indent="-285750" lvl="1" marL="74295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80000"/>
              <a:buFont typeface="Noto Sans Symbols"/>
              <a:buChar char="⮚"/>
            </a:pPr>
            <a:r>
              <a:rPr lang="ru-RU" sz="2500"/>
              <a:t>каждый БИЛЕТ предназначен для одного и только одного ПАССАЖИРА;</a:t>
            </a:r>
            <a:endParaRPr/>
          </a:p>
          <a:p>
            <a:pPr indent="-285750" lvl="1" marL="74295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80000"/>
              <a:buFont typeface="Noto Sans Symbols"/>
              <a:buChar char="⮚"/>
            </a:pPr>
            <a:r>
              <a:rPr lang="ru-RU" sz="2500"/>
              <a:t> каждый ПАССАЖИР может иметь один или более БИЛЕТОВ </a:t>
            </a:r>
            <a:endParaRPr sz="3000"/>
          </a:p>
          <a:p>
            <a:pPr indent="-342900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75000"/>
              <a:buChar char="■"/>
            </a:pPr>
            <a:r>
              <a:rPr lang="ru-RU" sz="3000"/>
              <a:t>Многосторонние связи – роли.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75000"/>
              <a:buNone/>
            </a:pPr>
            <a:r>
              <a:rPr lang="ru-RU" sz="3000"/>
              <a:t>«Контракт» – связь между персоной, предприятием, проектом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75000"/>
              <a:buNone/>
            </a:pPr>
            <a:r>
              <a:rPr lang="ru-RU" sz="3000"/>
              <a:t>Обычно многосторонние связи преобразуют в совокупность бинарных, образуя новые сущности  вместо атрибутов связи.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75000"/>
              <a:buNone/>
            </a:pPr>
            <a:r>
              <a:rPr lang="ru-RU" sz="3000"/>
              <a:t>      Сотрудники </a:t>
            </a:r>
            <a:r>
              <a:rPr lang="ru-RU" sz="5100"/>
              <a:t>← </a:t>
            </a:r>
            <a:r>
              <a:rPr lang="ru-RU" sz="3000"/>
              <a:t>Контракты </a:t>
            </a:r>
            <a:r>
              <a:rPr lang="ru-RU" sz="5100"/>
              <a:t>→</a:t>
            </a:r>
            <a:r>
              <a:rPr lang="ru-RU" sz="3000"/>
              <a:t> Проекты</a:t>
            </a:r>
            <a:endParaRPr sz="3000"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75000"/>
              <a:buNone/>
            </a:pPr>
            <a:r>
              <a:rPr lang="ru-RU" sz="3000"/>
              <a:t>		        </a:t>
            </a:r>
            <a:r>
              <a:rPr lang="ru-RU" sz="5100"/>
              <a:t>↓</a:t>
            </a:r>
            <a:endParaRPr sz="5100"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75000"/>
              <a:buNone/>
            </a:pPr>
            <a:r>
              <a:rPr lang="ru-RU" sz="3000"/>
              <a:t>                            Учреждения</a:t>
            </a:r>
            <a:endParaRPr/>
          </a:p>
          <a:p>
            <a:pPr indent="-342900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75000"/>
              <a:buChar char="■"/>
            </a:pPr>
            <a:r>
              <a:rPr lang="ru-RU" sz="3000"/>
              <a:t>Подклассы – специальные множества сущностей. </a:t>
            </a:r>
            <a:br>
              <a:rPr lang="ru-RU" sz="3000"/>
            </a:br>
            <a:r>
              <a:rPr lang="ru-RU" sz="3000"/>
              <a:t>Для соединения «полного» множества с его подклассами применяется связь «есть» ( </a:t>
            </a:r>
            <a:r>
              <a:rPr i="1" lang="ru-RU" sz="3000"/>
              <a:t>IS</a:t>
            </a:r>
            <a:r>
              <a:rPr lang="ru-RU" sz="3000"/>
              <a:t>  A)</a:t>
            </a:r>
            <a:endParaRPr sz="3000"/>
          </a:p>
        </p:txBody>
      </p:sp>
      <p:sp>
        <p:nvSpPr>
          <p:cNvPr id="385" name="Google Shape;385;p24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25"/>
          <p:cNvSpPr txBox="1"/>
          <p:nvPr>
            <p:ph type="title"/>
          </p:nvPr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25"/>
          <p:cNvSpPr txBox="1"/>
          <p:nvPr>
            <p:ph idx="1" type="body"/>
          </p:nvPr>
        </p:nvSpPr>
        <p:spPr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90500" lvl="0" marL="34290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392" name="Google Shape;392;p25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descr="D:\YandexDisk\Скриншоты\2019-09-12_10-02-27.png" id="393" name="Google Shape;39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535867"/>
            <a:ext cx="8411378" cy="58186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26"/>
          <p:cNvSpPr txBox="1"/>
          <p:nvPr>
            <p:ph type="title"/>
          </p:nvPr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26"/>
          <p:cNvSpPr txBox="1"/>
          <p:nvPr>
            <p:ph idx="1" type="body"/>
          </p:nvPr>
        </p:nvSpPr>
        <p:spPr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90500" lvl="0" marL="34290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400" name="Google Shape;400;p26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descr="D:\YandexDisk\Скриншоты\2019-09-12_10-05-00.png" id="401" name="Google Shape;40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3388" y="457200"/>
            <a:ext cx="8642140" cy="57505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27"/>
          <p:cNvSpPr txBox="1"/>
          <p:nvPr>
            <p:ph type="title"/>
          </p:nvPr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27"/>
          <p:cNvSpPr txBox="1"/>
          <p:nvPr>
            <p:ph idx="1" type="body"/>
          </p:nvPr>
        </p:nvSpPr>
        <p:spPr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90500" lvl="0" marL="34290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408" name="Google Shape;408;p27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descr="D:\YandexDisk\Скриншоты\2019-09-12_10-07-07.png" id="409" name="Google Shape;40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3872" y="457200"/>
            <a:ext cx="8422928" cy="58643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28"/>
          <p:cNvSpPr txBox="1"/>
          <p:nvPr>
            <p:ph type="title"/>
          </p:nvPr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28"/>
          <p:cNvSpPr txBox="1"/>
          <p:nvPr>
            <p:ph idx="1" type="body"/>
          </p:nvPr>
        </p:nvSpPr>
        <p:spPr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90500" lvl="0" marL="34290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416" name="Google Shape;416;p28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descr="D:\YandexDisk\Скриншоты\2019-09-12_10-33-48.png" id="417" name="Google Shape;417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6882" y="577364"/>
            <a:ext cx="8757798" cy="50275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29"/>
          <p:cNvSpPr txBox="1"/>
          <p:nvPr>
            <p:ph type="title"/>
          </p:nvPr>
        </p:nvSpPr>
        <p:spPr>
          <a:xfrm>
            <a:off x="457200" y="457200"/>
            <a:ext cx="8229600" cy="595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>
                <a:solidFill>
                  <a:schemeClr val="lt2"/>
                </a:solidFill>
              </a:rPr>
              <a:t>Нотация</a:t>
            </a:r>
            <a:endParaRPr/>
          </a:p>
        </p:txBody>
      </p:sp>
      <p:sp>
        <p:nvSpPr>
          <p:cNvPr id="423" name="Google Shape;423;p29"/>
          <p:cNvSpPr txBox="1"/>
          <p:nvPr>
            <p:ph idx="12" type="sldNum"/>
          </p:nvPr>
        </p:nvSpPr>
        <p:spPr>
          <a:xfrm>
            <a:off x="8624771" y="6413074"/>
            <a:ext cx="436679" cy="29252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424" name="Google Shape;424;p29"/>
          <p:cNvSpPr txBox="1"/>
          <p:nvPr/>
        </p:nvSpPr>
        <p:spPr>
          <a:xfrm>
            <a:off x="3214997" y="1368532"/>
            <a:ext cx="2016125" cy="40011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Имя сущности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29"/>
          <p:cNvSpPr txBox="1"/>
          <p:nvPr/>
        </p:nvSpPr>
        <p:spPr>
          <a:xfrm>
            <a:off x="325181" y="1052513"/>
            <a:ext cx="2269631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Сущности  (тип сущности) изображаются прямоугольниками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29"/>
          <p:cNvSpPr txBox="1"/>
          <p:nvPr/>
        </p:nvSpPr>
        <p:spPr>
          <a:xfrm>
            <a:off x="325181" y="2284717"/>
            <a:ext cx="2558705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Свойства изображаются овалами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29"/>
          <p:cNvSpPr txBox="1"/>
          <p:nvPr/>
        </p:nvSpPr>
        <p:spPr>
          <a:xfrm>
            <a:off x="227068" y="3313933"/>
            <a:ext cx="2558705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Связи (тип связи) изображаются ромбами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29"/>
          <p:cNvSpPr/>
          <p:nvPr/>
        </p:nvSpPr>
        <p:spPr>
          <a:xfrm>
            <a:off x="3598862" y="2178955"/>
            <a:ext cx="1368425" cy="679450"/>
          </a:xfrm>
          <a:prstGeom prst="roundRect">
            <a:avLst>
              <a:gd fmla="val 48280" name="adj"/>
            </a:avLst>
          </a:prstGeom>
          <a:noFill/>
          <a:ln cap="flat" cmpd="sng" w="25400">
            <a:solidFill>
              <a:srgbClr val="6F6F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29"/>
          <p:cNvSpPr txBox="1"/>
          <p:nvPr/>
        </p:nvSpPr>
        <p:spPr>
          <a:xfrm>
            <a:off x="3542770" y="2179794"/>
            <a:ext cx="14478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Имя атрибута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30" name="Google Shape;430;p29"/>
          <p:cNvGrpSpPr/>
          <p:nvPr/>
        </p:nvGrpSpPr>
        <p:grpSpPr>
          <a:xfrm>
            <a:off x="3432293" y="3148235"/>
            <a:ext cx="1655608" cy="1336675"/>
            <a:chOff x="1116013" y="2420938"/>
            <a:chExt cx="2057504" cy="1944687"/>
          </a:xfrm>
        </p:grpSpPr>
        <p:sp>
          <p:nvSpPr>
            <p:cNvPr id="431" name="Google Shape;431;p29"/>
            <p:cNvSpPr txBox="1"/>
            <p:nvPr/>
          </p:nvSpPr>
          <p:spPr>
            <a:xfrm>
              <a:off x="1330685" y="3146961"/>
              <a:ext cx="1842832" cy="4925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ru-RU" sz="1600" u="none" cap="none" strike="noStrike">
                  <a:solidFill>
                    <a:srgbClr val="7030A0"/>
                  </a:solidFill>
                  <a:latin typeface="Arial"/>
                  <a:ea typeface="Arial"/>
                  <a:cs typeface="Arial"/>
                  <a:sym typeface="Arial"/>
                </a:rPr>
                <a:t>Имя связи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32" name="Google Shape;432;p29"/>
            <p:cNvGrpSpPr/>
            <p:nvPr/>
          </p:nvGrpSpPr>
          <p:grpSpPr>
            <a:xfrm>
              <a:off x="1116013" y="2420938"/>
              <a:ext cx="1943100" cy="1944687"/>
              <a:chOff x="1116013" y="2420938"/>
              <a:chExt cx="1943100" cy="1944687"/>
            </a:xfrm>
          </p:grpSpPr>
          <p:sp>
            <p:nvSpPr>
              <p:cNvPr id="433" name="Google Shape;433;p29"/>
              <p:cNvSpPr/>
              <p:nvPr/>
            </p:nvSpPr>
            <p:spPr>
              <a:xfrm>
                <a:off x="1116013" y="2997200"/>
                <a:ext cx="1943100" cy="792163"/>
              </a:xfrm>
              <a:prstGeom prst="diamond">
                <a:avLst/>
              </a:prstGeom>
              <a:noFill/>
              <a:ln cap="flat" cmpd="sng" w="25400">
                <a:solidFill>
                  <a:srgbClr val="00B05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434" name="Google Shape;434;p29"/>
              <p:cNvCxnSpPr/>
              <p:nvPr/>
            </p:nvCxnSpPr>
            <p:spPr>
              <a:xfrm rot="10800000">
                <a:off x="2051050" y="2420938"/>
                <a:ext cx="0" cy="57626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  <p:cxnSp>
            <p:nvCxnSpPr>
              <p:cNvPr id="435" name="Google Shape;435;p29"/>
              <p:cNvCxnSpPr/>
              <p:nvPr/>
            </p:nvCxnSpPr>
            <p:spPr>
              <a:xfrm>
                <a:off x="2051050" y="3789363"/>
                <a:ext cx="0" cy="57626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  <p:cxnSp>
            <p:nvCxnSpPr>
              <p:cNvPr id="436" name="Google Shape;436;p29"/>
              <p:cNvCxnSpPr/>
              <p:nvPr/>
            </p:nvCxnSpPr>
            <p:spPr>
              <a:xfrm>
                <a:off x="2051050" y="3789363"/>
                <a:ext cx="0" cy="431799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</p:grpSp>
      </p:grpSp>
      <p:sp>
        <p:nvSpPr>
          <p:cNvPr id="437" name="Google Shape;437;p29"/>
          <p:cNvSpPr txBox="1"/>
          <p:nvPr/>
        </p:nvSpPr>
        <p:spPr>
          <a:xfrm>
            <a:off x="227068" y="4682464"/>
            <a:ext cx="8180580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2000" lvl="0" marL="252000" marR="0" rtl="0" algn="l"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1440"/>
              <a:buFont typeface="Noto Sans Symbols"/>
              <a:buChar char="❖"/>
            </a:pP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Пусть необходимо описать данные возникающие в процессе </a:t>
            </a:r>
            <a:r>
              <a:rPr b="1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поставки материалов</a:t>
            </a: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на склад.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2000" lvl="0" marL="252000" marR="0" rtl="0" algn="l"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1440"/>
              <a:buFont typeface="Noto Sans Symbols"/>
              <a:buChar char="❖"/>
            </a:pP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Данные берутся из документов, сопровождающих поставки – </a:t>
            </a:r>
            <a:r>
              <a:rPr b="1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накладных</a:t>
            </a: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2000" lvl="0" marL="252000" marR="0" rtl="0" algn="l"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1440"/>
              <a:buFont typeface="Noto Sans Symbols"/>
              <a:buChar char="❖"/>
            </a:pP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Пусть из накладных мы выяснили, что в процессе поставки следует зафиксировать следующую информацию о поставках: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29"/>
          <p:cNvSpPr txBox="1"/>
          <p:nvPr/>
        </p:nvSpPr>
        <p:spPr>
          <a:xfrm>
            <a:off x="6268196" y="1136168"/>
            <a:ext cx="2679423" cy="31393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52000" lvl="0" marL="252000" marR="0" rtl="0" algn="l"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1440"/>
              <a:buFont typeface="Noto Sans Symbols"/>
              <a:buChar char="❖"/>
            </a:pP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Индекс поставки,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2000" lvl="0" marL="252000" marR="0" rtl="0" algn="l"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1440"/>
              <a:buFont typeface="Noto Sans Symbols"/>
              <a:buChar char="❖"/>
            </a:pP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Индекс поставщика,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2000" lvl="0" marL="252000" marR="0" rtl="0" algn="l"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1440"/>
              <a:buFont typeface="Noto Sans Symbols"/>
              <a:buChar char="❖"/>
            </a:pP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Адрес поставщика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2000" lvl="0" marL="252000" marR="0" rtl="0" algn="l"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1440"/>
              <a:buFont typeface="Noto Sans Symbols"/>
              <a:buChar char="❖"/>
            </a:pP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Индекс товара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2000" lvl="0" marL="252000" marR="0" rtl="0" algn="l"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1440"/>
              <a:buFont typeface="Noto Sans Symbols"/>
              <a:buChar char="❖"/>
            </a:pP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Название товара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2000" lvl="0" marL="252000" marR="0" rtl="0" algn="l"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1440"/>
              <a:buFont typeface="Noto Sans Symbols"/>
              <a:buChar char="❖"/>
            </a:pP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Количество товара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2000" lvl="0" marL="252000" marR="0" rtl="0" algn="l"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1440"/>
              <a:buFont typeface="Noto Sans Symbols"/>
              <a:buChar char="❖"/>
            </a:pP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Цена единицы товара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2000" lvl="0" marL="252000" marR="0" rtl="0" algn="l"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1440"/>
              <a:buFont typeface="Noto Sans Symbols"/>
              <a:buChar char="❖"/>
            </a:pP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Шифр склада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2000" lvl="0" marL="252000" marR="0" rtl="0" algn="l"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1440"/>
              <a:buFont typeface="Noto Sans Symbols"/>
              <a:buChar char="❖"/>
            </a:pP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Дата поставки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0560" lvl="0" marL="252000" marR="0" rtl="0" algn="l"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144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3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3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3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3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3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3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3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3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3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3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3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38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30"/>
          <p:cNvSpPr txBox="1"/>
          <p:nvPr>
            <p:ph type="title"/>
          </p:nvPr>
        </p:nvSpPr>
        <p:spPr>
          <a:xfrm>
            <a:off x="457200" y="457200"/>
            <a:ext cx="8229600" cy="595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>
                <a:solidFill>
                  <a:schemeClr val="lt2"/>
                </a:solidFill>
              </a:rPr>
              <a:t>Диаграмма ER-модели. </a:t>
            </a:r>
            <a:br>
              <a:rPr lang="ru-RU" sz="3200">
                <a:solidFill>
                  <a:schemeClr val="lt2"/>
                </a:solidFill>
              </a:rPr>
            </a:br>
            <a:r>
              <a:rPr lang="ru-RU" sz="3200">
                <a:solidFill>
                  <a:schemeClr val="lt2"/>
                </a:solidFill>
              </a:rPr>
              <a:t>(первое представление)</a:t>
            </a:r>
            <a:endParaRPr/>
          </a:p>
        </p:txBody>
      </p:sp>
      <p:sp>
        <p:nvSpPr>
          <p:cNvPr id="444" name="Google Shape;444;p30"/>
          <p:cNvSpPr/>
          <p:nvPr>
            <p:ph idx="1" type="body"/>
          </p:nvPr>
        </p:nvSpPr>
        <p:spPr>
          <a:xfrm>
            <a:off x="2024063" y="1536700"/>
            <a:ext cx="1547812" cy="636588"/>
          </a:xfrm>
          <a:prstGeom prst="roundRect">
            <a:avLst>
              <a:gd fmla="val 50000" name="adj"/>
            </a:avLst>
          </a:prstGeom>
          <a:noFill/>
          <a:ln cap="flat" cmpd="sng" w="25400">
            <a:solidFill>
              <a:srgbClr val="6F6F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445" name="Google Shape;445;p30"/>
          <p:cNvSpPr txBox="1"/>
          <p:nvPr/>
        </p:nvSpPr>
        <p:spPr>
          <a:xfrm>
            <a:off x="3851275" y="1484313"/>
            <a:ext cx="1447800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Адрес_</a:t>
            </a:r>
            <a:b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поставщика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30"/>
          <p:cNvSpPr/>
          <p:nvPr/>
        </p:nvSpPr>
        <p:spPr>
          <a:xfrm>
            <a:off x="5580062" y="1484313"/>
            <a:ext cx="1368425" cy="679450"/>
          </a:xfrm>
          <a:prstGeom prst="roundRect">
            <a:avLst>
              <a:gd fmla="val 41957" name="adj"/>
            </a:avLst>
          </a:prstGeom>
          <a:noFill/>
          <a:ln cap="flat" cmpd="sng" w="25400">
            <a:solidFill>
              <a:srgbClr val="6F6F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30"/>
          <p:cNvSpPr/>
          <p:nvPr/>
        </p:nvSpPr>
        <p:spPr>
          <a:xfrm>
            <a:off x="7235825" y="1484313"/>
            <a:ext cx="1368425" cy="681037"/>
          </a:xfrm>
          <a:prstGeom prst="roundRect">
            <a:avLst>
              <a:gd fmla="val 50000" name="adj"/>
            </a:avLst>
          </a:prstGeom>
          <a:noFill/>
          <a:ln cap="flat" cmpd="sng" w="25400">
            <a:solidFill>
              <a:srgbClr val="6F6F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30"/>
          <p:cNvSpPr/>
          <p:nvPr/>
        </p:nvSpPr>
        <p:spPr>
          <a:xfrm>
            <a:off x="7235825" y="2708275"/>
            <a:ext cx="1368425" cy="679450"/>
          </a:xfrm>
          <a:prstGeom prst="roundRect">
            <a:avLst>
              <a:gd fmla="val 50000" name="adj"/>
            </a:avLst>
          </a:prstGeom>
          <a:noFill/>
          <a:ln cap="flat" cmpd="sng" w="25400">
            <a:solidFill>
              <a:srgbClr val="6F6F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30"/>
          <p:cNvSpPr/>
          <p:nvPr/>
        </p:nvSpPr>
        <p:spPr>
          <a:xfrm>
            <a:off x="7235825" y="3757613"/>
            <a:ext cx="1368425" cy="679450"/>
          </a:xfrm>
          <a:prstGeom prst="roundRect">
            <a:avLst>
              <a:gd fmla="val 50000" name="adj"/>
            </a:avLst>
          </a:prstGeom>
          <a:noFill/>
          <a:ln cap="flat" cmpd="sng" w="25400">
            <a:solidFill>
              <a:srgbClr val="6F6F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30"/>
          <p:cNvSpPr/>
          <p:nvPr/>
        </p:nvSpPr>
        <p:spPr>
          <a:xfrm>
            <a:off x="7256346" y="4868863"/>
            <a:ext cx="1368425" cy="681037"/>
          </a:xfrm>
          <a:prstGeom prst="roundRect">
            <a:avLst>
              <a:gd fmla="val 50000" name="adj"/>
            </a:avLst>
          </a:prstGeom>
          <a:noFill/>
          <a:ln cap="flat" cmpd="sng" w="25400">
            <a:solidFill>
              <a:srgbClr val="6F6F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30"/>
          <p:cNvSpPr/>
          <p:nvPr/>
        </p:nvSpPr>
        <p:spPr>
          <a:xfrm>
            <a:off x="7207250" y="5876925"/>
            <a:ext cx="1368425" cy="681037"/>
          </a:xfrm>
          <a:prstGeom prst="roundRect">
            <a:avLst>
              <a:gd fmla="val 50000" name="adj"/>
            </a:avLst>
          </a:prstGeom>
          <a:noFill/>
          <a:ln cap="flat" cmpd="sng" w="25400">
            <a:solidFill>
              <a:srgbClr val="6F6F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30"/>
          <p:cNvSpPr txBox="1"/>
          <p:nvPr/>
        </p:nvSpPr>
        <p:spPr>
          <a:xfrm>
            <a:off x="2914650" y="3271838"/>
            <a:ext cx="2016125" cy="557212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поставка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30"/>
          <p:cNvSpPr/>
          <p:nvPr/>
        </p:nvSpPr>
        <p:spPr>
          <a:xfrm>
            <a:off x="387350" y="1536700"/>
            <a:ext cx="1368425" cy="661988"/>
          </a:xfrm>
          <a:prstGeom prst="roundRect">
            <a:avLst>
              <a:gd fmla="val 45405" name="adj"/>
            </a:avLst>
          </a:prstGeom>
          <a:noFill/>
          <a:ln cap="flat" cmpd="sng" w="25400">
            <a:solidFill>
              <a:srgbClr val="6F6F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30"/>
          <p:cNvSpPr txBox="1"/>
          <p:nvPr/>
        </p:nvSpPr>
        <p:spPr>
          <a:xfrm>
            <a:off x="468313" y="1484313"/>
            <a:ext cx="1152525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Индекс_поставки</a:t>
            </a:r>
            <a:endParaRPr/>
          </a:p>
        </p:txBody>
      </p:sp>
      <p:sp>
        <p:nvSpPr>
          <p:cNvPr id="455" name="Google Shape;455;p30"/>
          <p:cNvSpPr txBox="1"/>
          <p:nvPr/>
        </p:nvSpPr>
        <p:spPr>
          <a:xfrm>
            <a:off x="2079296" y="1484313"/>
            <a:ext cx="1468437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Индекс_</a:t>
            </a:r>
            <a:b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поставщика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30"/>
          <p:cNvSpPr/>
          <p:nvPr/>
        </p:nvSpPr>
        <p:spPr>
          <a:xfrm>
            <a:off x="3881960" y="1484313"/>
            <a:ext cx="1368425" cy="679450"/>
          </a:xfrm>
          <a:prstGeom prst="roundRect">
            <a:avLst>
              <a:gd fmla="val 48280" name="adj"/>
            </a:avLst>
          </a:prstGeom>
          <a:noFill/>
          <a:ln cap="flat" cmpd="sng" w="25400">
            <a:solidFill>
              <a:srgbClr val="6F6F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30"/>
          <p:cNvSpPr txBox="1"/>
          <p:nvPr/>
        </p:nvSpPr>
        <p:spPr>
          <a:xfrm>
            <a:off x="5651500" y="1484313"/>
            <a:ext cx="1223963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Индекс_</a:t>
            </a:r>
            <a:b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товара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30"/>
          <p:cNvSpPr txBox="1"/>
          <p:nvPr/>
        </p:nvSpPr>
        <p:spPr>
          <a:xfrm>
            <a:off x="7308850" y="1484313"/>
            <a:ext cx="137795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Название_товара</a:t>
            </a:r>
            <a:endParaRPr/>
          </a:p>
        </p:txBody>
      </p:sp>
      <p:sp>
        <p:nvSpPr>
          <p:cNvPr id="459" name="Google Shape;459;p30"/>
          <p:cNvSpPr txBox="1"/>
          <p:nvPr/>
        </p:nvSpPr>
        <p:spPr>
          <a:xfrm>
            <a:off x="7308850" y="2708275"/>
            <a:ext cx="1279525" cy="646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Кол-во_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товара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30"/>
          <p:cNvSpPr txBox="1"/>
          <p:nvPr/>
        </p:nvSpPr>
        <p:spPr>
          <a:xfrm>
            <a:off x="7352428" y="3789363"/>
            <a:ext cx="1180385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Цена_ед</a:t>
            </a:r>
            <a:b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_товара</a:t>
            </a:r>
            <a:endParaRPr/>
          </a:p>
        </p:txBody>
      </p:sp>
      <p:sp>
        <p:nvSpPr>
          <p:cNvPr id="461" name="Google Shape;461;p30"/>
          <p:cNvSpPr txBox="1"/>
          <p:nvPr/>
        </p:nvSpPr>
        <p:spPr>
          <a:xfrm>
            <a:off x="7444483" y="4868863"/>
            <a:ext cx="1116513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Шифр_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склада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30"/>
          <p:cNvSpPr txBox="1"/>
          <p:nvPr/>
        </p:nvSpPr>
        <p:spPr>
          <a:xfrm>
            <a:off x="7364701" y="5876925"/>
            <a:ext cx="121097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Дата_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поставки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3" name="Google Shape;463;p30"/>
          <p:cNvCxnSpPr>
            <a:endCxn id="453" idx="2"/>
          </p:cNvCxnSpPr>
          <p:nvPr/>
        </p:nvCxnSpPr>
        <p:spPr>
          <a:xfrm rot="10800000">
            <a:off x="1071563" y="2198688"/>
            <a:ext cx="2490900" cy="1054200"/>
          </a:xfrm>
          <a:prstGeom prst="straightConnector1">
            <a:avLst/>
          </a:prstGeom>
          <a:noFill/>
          <a:ln cap="flat" cmpd="sng" w="19050">
            <a:solidFill>
              <a:srgbClr val="9292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4" name="Google Shape;464;p30"/>
          <p:cNvCxnSpPr>
            <a:endCxn id="444" idx="2"/>
          </p:cNvCxnSpPr>
          <p:nvPr/>
        </p:nvCxnSpPr>
        <p:spPr>
          <a:xfrm rot="10800000">
            <a:off x="2797969" y="2173288"/>
            <a:ext cx="1026300" cy="1098600"/>
          </a:xfrm>
          <a:prstGeom prst="straightConnector1">
            <a:avLst/>
          </a:prstGeom>
          <a:noFill/>
          <a:ln cap="flat" cmpd="sng" w="19050">
            <a:solidFill>
              <a:srgbClr val="9292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5" name="Google Shape;465;p30"/>
          <p:cNvCxnSpPr>
            <a:endCxn id="456" idx="2"/>
          </p:cNvCxnSpPr>
          <p:nvPr/>
        </p:nvCxnSpPr>
        <p:spPr>
          <a:xfrm flipH="1" rot="10800000">
            <a:off x="4026473" y="2163763"/>
            <a:ext cx="539700" cy="1097100"/>
          </a:xfrm>
          <a:prstGeom prst="straightConnector1">
            <a:avLst/>
          </a:prstGeom>
          <a:noFill/>
          <a:ln cap="flat" cmpd="sng" w="19050">
            <a:solidFill>
              <a:srgbClr val="9292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6" name="Google Shape;466;p30"/>
          <p:cNvCxnSpPr>
            <a:endCxn id="446" idx="2"/>
          </p:cNvCxnSpPr>
          <p:nvPr/>
        </p:nvCxnSpPr>
        <p:spPr>
          <a:xfrm flipH="1" rot="10800000">
            <a:off x="4165475" y="2163763"/>
            <a:ext cx="2098800" cy="1092300"/>
          </a:xfrm>
          <a:prstGeom prst="straightConnector1">
            <a:avLst/>
          </a:prstGeom>
          <a:noFill/>
          <a:ln cap="flat" cmpd="sng" w="19050">
            <a:solidFill>
              <a:srgbClr val="9292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7" name="Google Shape;467;p30"/>
          <p:cNvCxnSpPr/>
          <p:nvPr/>
        </p:nvCxnSpPr>
        <p:spPr>
          <a:xfrm flipH="1" rot="10800000">
            <a:off x="4911725" y="2168525"/>
            <a:ext cx="2989263" cy="1120775"/>
          </a:xfrm>
          <a:prstGeom prst="straightConnector1">
            <a:avLst/>
          </a:prstGeom>
          <a:noFill/>
          <a:ln cap="flat" cmpd="sng" w="19050">
            <a:solidFill>
              <a:srgbClr val="9292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8" name="Google Shape;468;p30"/>
          <p:cNvCxnSpPr>
            <a:endCxn id="448" idx="1"/>
          </p:cNvCxnSpPr>
          <p:nvPr/>
        </p:nvCxnSpPr>
        <p:spPr>
          <a:xfrm flipH="1" rot="10800000">
            <a:off x="4932425" y="3048000"/>
            <a:ext cx="2303400" cy="379500"/>
          </a:xfrm>
          <a:prstGeom prst="straightConnector1">
            <a:avLst/>
          </a:prstGeom>
          <a:noFill/>
          <a:ln cap="flat" cmpd="sng" w="19050">
            <a:solidFill>
              <a:srgbClr val="9292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9" name="Google Shape;469;p30"/>
          <p:cNvCxnSpPr/>
          <p:nvPr/>
        </p:nvCxnSpPr>
        <p:spPr>
          <a:xfrm>
            <a:off x="4932363" y="3500438"/>
            <a:ext cx="2303462" cy="609600"/>
          </a:xfrm>
          <a:prstGeom prst="straightConnector1">
            <a:avLst/>
          </a:prstGeom>
          <a:noFill/>
          <a:ln cap="flat" cmpd="sng" w="19050">
            <a:solidFill>
              <a:srgbClr val="9292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0" name="Google Shape;470;p30"/>
          <p:cNvCxnSpPr>
            <a:stCxn id="452" idx="3"/>
            <a:endCxn id="450" idx="1"/>
          </p:cNvCxnSpPr>
          <p:nvPr/>
        </p:nvCxnSpPr>
        <p:spPr>
          <a:xfrm>
            <a:off x="4930775" y="3550444"/>
            <a:ext cx="2325600" cy="1659000"/>
          </a:xfrm>
          <a:prstGeom prst="straightConnector1">
            <a:avLst/>
          </a:prstGeom>
          <a:noFill/>
          <a:ln cap="flat" cmpd="sng" w="19050">
            <a:solidFill>
              <a:srgbClr val="9292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1" name="Google Shape;471;p30"/>
          <p:cNvCxnSpPr>
            <a:endCxn id="451" idx="1"/>
          </p:cNvCxnSpPr>
          <p:nvPr/>
        </p:nvCxnSpPr>
        <p:spPr>
          <a:xfrm>
            <a:off x="4932350" y="3573543"/>
            <a:ext cx="2274900" cy="2643900"/>
          </a:xfrm>
          <a:prstGeom prst="straightConnector1">
            <a:avLst/>
          </a:prstGeom>
          <a:noFill/>
          <a:ln cap="flat" cmpd="sng" w="19050">
            <a:solidFill>
              <a:srgbClr val="9292F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2" name="Google Shape;472;p30"/>
          <p:cNvSpPr txBox="1"/>
          <p:nvPr>
            <p:ph idx="12" type="sldNum"/>
          </p:nvPr>
        </p:nvSpPr>
        <p:spPr>
          <a:xfrm>
            <a:off x="8624771" y="6413074"/>
            <a:ext cx="436679" cy="29252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473" name="Google Shape;473;p30"/>
          <p:cNvSpPr txBox="1"/>
          <p:nvPr/>
        </p:nvSpPr>
        <p:spPr>
          <a:xfrm>
            <a:off x="387350" y="3550444"/>
            <a:ext cx="225152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52000" lvl="0" marL="252000" marR="0" rtl="0" algn="l"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1280"/>
              <a:buFont typeface="Noto Sans Symbols"/>
              <a:buChar char="❖"/>
            </a:pPr>
            <a:r>
              <a:rPr b="0" i="0" lang="ru-RU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Индекс поставки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30"/>
          <p:cNvSpPr txBox="1"/>
          <p:nvPr/>
        </p:nvSpPr>
        <p:spPr>
          <a:xfrm>
            <a:off x="387350" y="3867452"/>
            <a:ext cx="232965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52000" lvl="0" marL="252000" marR="0" rtl="0" algn="l"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1280"/>
              <a:buFont typeface="Noto Sans Symbols"/>
              <a:buChar char="❖"/>
            </a:pPr>
            <a:r>
              <a:rPr b="0" i="0" lang="ru-RU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Индекс поставщика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30"/>
          <p:cNvSpPr txBox="1"/>
          <p:nvPr/>
        </p:nvSpPr>
        <p:spPr>
          <a:xfrm>
            <a:off x="387350" y="4184460"/>
            <a:ext cx="232965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52000" lvl="0" marL="252000" marR="0" rtl="0" algn="l"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1280"/>
              <a:buFont typeface="Noto Sans Symbols"/>
              <a:buChar char="❖"/>
            </a:pPr>
            <a:r>
              <a:rPr b="0" i="0" lang="ru-RU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Адрес поставщика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30"/>
          <p:cNvSpPr txBox="1"/>
          <p:nvPr/>
        </p:nvSpPr>
        <p:spPr>
          <a:xfrm>
            <a:off x="387350" y="4501468"/>
            <a:ext cx="232965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52000" lvl="0" marL="252000" marR="0" rtl="0" algn="l"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1280"/>
              <a:buFont typeface="Noto Sans Symbols"/>
              <a:buChar char="❖"/>
            </a:pPr>
            <a:r>
              <a:rPr b="0" i="0" lang="ru-RU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Индекс товара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30"/>
          <p:cNvSpPr txBox="1"/>
          <p:nvPr/>
        </p:nvSpPr>
        <p:spPr>
          <a:xfrm>
            <a:off x="387350" y="4818476"/>
            <a:ext cx="232965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52000" lvl="0" marL="252000" marR="0" rtl="0" algn="l"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1280"/>
              <a:buFont typeface="Noto Sans Symbols"/>
              <a:buChar char="❖"/>
            </a:pPr>
            <a:r>
              <a:rPr b="0" i="0" lang="ru-RU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Название товара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30"/>
          <p:cNvSpPr txBox="1"/>
          <p:nvPr/>
        </p:nvSpPr>
        <p:spPr>
          <a:xfrm>
            <a:off x="387350" y="5135484"/>
            <a:ext cx="232965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52000" lvl="0" marL="252000" marR="0" rtl="0" algn="l"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1280"/>
              <a:buFont typeface="Noto Sans Symbols"/>
              <a:buChar char="❖"/>
            </a:pPr>
            <a:r>
              <a:rPr b="0" i="0" lang="ru-RU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Количество товара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30"/>
          <p:cNvSpPr txBox="1"/>
          <p:nvPr/>
        </p:nvSpPr>
        <p:spPr>
          <a:xfrm>
            <a:off x="387350" y="5452492"/>
            <a:ext cx="263082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52000" lvl="0" marL="252000" marR="0" rtl="0" algn="l"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1280"/>
              <a:buFont typeface="Noto Sans Symbols"/>
              <a:buChar char="❖"/>
            </a:pPr>
            <a:r>
              <a:rPr b="0" i="0" lang="ru-RU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Цена единицы товара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30"/>
          <p:cNvSpPr txBox="1"/>
          <p:nvPr/>
        </p:nvSpPr>
        <p:spPr>
          <a:xfrm>
            <a:off x="387350" y="5769500"/>
            <a:ext cx="232965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52000" lvl="0" marL="252000" marR="0" rtl="0" algn="l"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1280"/>
              <a:buFont typeface="Noto Sans Symbols"/>
              <a:buChar char="❖"/>
            </a:pPr>
            <a:r>
              <a:rPr b="0" i="0" lang="ru-RU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Шифр склада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30"/>
          <p:cNvSpPr txBox="1"/>
          <p:nvPr/>
        </p:nvSpPr>
        <p:spPr>
          <a:xfrm>
            <a:off x="387350" y="6086510"/>
            <a:ext cx="232965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52000" lvl="0" marL="252000" marR="0" rtl="0" algn="l"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1280"/>
              <a:buFont typeface="Noto Sans Symbols"/>
              <a:buChar char="❖"/>
            </a:pPr>
            <a:r>
              <a:rPr b="0" i="0" lang="ru-RU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Дата поставки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7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7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7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7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8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31"/>
          <p:cNvSpPr txBox="1"/>
          <p:nvPr>
            <p:ph type="title"/>
          </p:nvPr>
        </p:nvSpPr>
        <p:spPr>
          <a:xfrm>
            <a:off x="250825" y="179388"/>
            <a:ext cx="8607425" cy="657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/>
              <a:t>Модификация исходного представления </a:t>
            </a:r>
            <a:endParaRPr/>
          </a:p>
        </p:txBody>
      </p:sp>
      <p:sp>
        <p:nvSpPr>
          <p:cNvPr id="487" name="Google Shape;487;p31"/>
          <p:cNvSpPr txBox="1"/>
          <p:nvPr/>
        </p:nvSpPr>
        <p:spPr>
          <a:xfrm>
            <a:off x="971550" y="1844675"/>
            <a:ext cx="2160588" cy="547688"/>
          </a:xfrm>
          <a:prstGeom prst="rect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поставщик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31"/>
          <p:cNvSpPr txBox="1"/>
          <p:nvPr/>
        </p:nvSpPr>
        <p:spPr>
          <a:xfrm>
            <a:off x="971550" y="4365625"/>
            <a:ext cx="2160588" cy="547688"/>
          </a:xfrm>
          <a:prstGeom prst="rect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поставка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31"/>
          <p:cNvSpPr txBox="1"/>
          <p:nvPr/>
        </p:nvSpPr>
        <p:spPr>
          <a:xfrm>
            <a:off x="6715125" y="2357438"/>
            <a:ext cx="1439863" cy="523875"/>
          </a:xfrm>
          <a:prstGeom prst="rect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товар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0" name="Google Shape;490;p31"/>
          <p:cNvGrpSpPr/>
          <p:nvPr/>
        </p:nvGrpSpPr>
        <p:grpSpPr>
          <a:xfrm>
            <a:off x="1116013" y="2420938"/>
            <a:ext cx="1943100" cy="1944687"/>
            <a:chOff x="1116013" y="2420938"/>
            <a:chExt cx="1943100" cy="1944687"/>
          </a:xfrm>
        </p:grpSpPr>
        <p:sp>
          <p:nvSpPr>
            <p:cNvPr id="491" name="Google Shape;491;p31"/>
            <p:cNvSpPr txBox="1"/>
            <p:nvPr/>
          </p:nvSpPr>
          <p:spPr>
            <a:xfrm>
              <a:off x="1331913" y="3213100"/>
              <a:ext cx="1525587" cy="369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ru-RU" sz="1800" u="none" cap="none" strike="noStrike">
                  <a:solidFill>
                    <a:srgbClr val="7030A0"/>
                  </a:solidFill>
                  <a:latin typeface="Arial"/>
                  <a:ea typeface="Arial"/>
                  <a:cs typeface="Arial"/>
                  <a:sym typeface="Arial"/>
                </a:rPr>
                <a:t>поставляет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92" name="Google Shape;492;p31"/>
            <p:cNvGrpSpPr/>
            <p:nvPr/>
          </p:nvGrpSpPr>
          <p:grpSpPr>
            <a:xfrm>
              <a:off x="1116013" y="2420938"/>
              <a:ext cx="1943100" cy="1944687"/>
              <a:chOff x="1116013" y="2420938"/>
              <a:chExt cx="1943100" cy="1944687"/>
            </a:xfrm>
          </p:grpSpPr>
          <p:sp>
            <p:nvSpPr>
              <p:cNvPr id="493" name="Google Shape;493;p31"/>
              <p:cNvSpPr/>
              <p:nvPr/>
            </p:nvSpPr>
            <p:spPr>
              <a:xfrm>
                <a:off x="1116013" y="2997200"/>
                <a:ext cx="1943100" cy="792163"/>
              </a:xfrm>
              <a:prstGeom prst="diamond">
                <a:avLst/>
              </a:prstGeom>
              <a:noFill/>
              <a:ln cap="flat" cmpd="sng" w="25400">
                <a:solidFill>
                  <a:srgbClr val="00B05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494" name="Google Shape;494;p31"/>
              <p:cNvCxnSpPr/>
              <p:nvPr/>
            </p:nvCxnSpPr>
            <p:spPr>
              <a:xfrm rot="10800000">
                <a:off x="2051050" y="2420938"/>
                <a:ext cx="0" cy="57626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  <p:cxnSp>
            <p:nvCxnSpPr>
              <p:cNvPr id="495" name="Google Shape;495;p31"/>
              <p:cNvCxnSpPr/>
              <p:nvPr/>
            </p:nvCxnSpPr>
            <p:spPr>
              <a:xfrm>
                <a:off x="2051050" y="3789363"/>
                <a:ext cx="0" cy="57626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  <p:cxnSp>
            <p:nvCxnSpPr>
              <p:cNvPr id="496" name="Google Shape;496;p31"/>
              <p:cNvCxnSpPr/>
              <p:nvPr/>
            </p:nvCxnSpPr>
            <p:spPr>
              <a:xfrm>
                <a:off x="2051050" y="3789363"/>
                <a:ext cx="0" cy="431799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</p:grpSp>
      </p:grpSp>
      <p:grpSp>
        <p:nvGrpSpPr>
          <p:cNvPr id="497" name="Google Shape;497;p31"/>
          <p:cNvGrpSpPr/>
          <p:nvPr/>
        </p:nvGrpSpPr>
        <p:grpSpPr>
          <a:xfrm>
            <a:off x="3132138" y="2881313"/>
            <a:ext cx="5346700" cy="2132012"/>
            <a:chOff x="3132138" y="2881313"/>
            <a:chExt cx="5346700" cy="2132012"/>
          </a:xfrm>
        </p:grpSpPr>
        <p:sp>
          <p:nvSpPr>
            <p:cNvPr id="498" name="Google Shape;498;p31"/>
            <p:cNvSpPr/>
            <p:nvPr/>
          </p:nvSpPr>
          <p:spPr>
            <a:xfrm>
              <a:off x="6389688" y="4221163"/>
              <a:ext cx="2089150" cy="792162"/>
            </a:xfrm>
            <a:prstGeom prst="diamond">
              <a:avLst/>
            </a:prstGeom>
            <a:noFill/>
            <a:ln cap="flat" cmpd="sng" w="25400">
              <a:solidFill>
                <a:srgbClr val="00B05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" name="Google Shape;499;p31"/>
            <p:cNvSpPr txBox="1"/>
            <p:nvPr/>
          </p:nvSpPr>
          <p:spPr>
            <a:xfrm>
              <a:off x="6732588" y="4437063"/>
              <a:ext cx="1439862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ru-RU" sz="18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поставлен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00" name="Google Shape;500;p31"/>
            <p:cNvCxnSpPr/>
            <p:nvPr/>
          </p:nvCxnSpPr>
          <p:spPr>
            <a:xfrm rot="10800000">
              <a:off x="3132138" y="4597400"/>
              <a:ext cx="3225800" cy="46038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cxnSp>
          <p:nvCxnSpPr>
            <p:cNvPr id="501" name="Google Shape;501;p31"/>
            <p:cNvCxnSpPr>
              <a:endCxn id="489" idx="2"/>
            </p:cNvCxnSpPr>
            <p:nvPr/>
          </p:nvCxnSpPr>
          <p:spPr>
            <a:xfrm flipH="1" rot="10800000">
              <a:off x="7433557" y="2881313"/>
              <a:ext cx="1500" cy="13398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502" name="Google Shape;502;p31"/>
            <p:cNvCxnSpPr/>
            <p:nvPr/>
          </p:nvCxnSpPr>
          <p:spPr>
            <a:xfrm rot="10800000">
              <a:off x="3284538" y="4597400"/>
              <a:ext cx="3105150" cy="46038"/>
            </a:xfrm>
            <a:prstGeom prst="straightConnector1">
              <a:avLst/>
            </a:prstGeom>
            <a:noFill/>
            <a:ln cap="flat" cmpd="sng" w="31750">
              <a:solidFill>
                <a:schemeClr val="dk1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</p:grpSp>
      <p:grpSp>
        <p:nvGrpSpPr>
          <p:cNvPr id="503" name="Google Shape;503;p31"/>
          <p:cNvGrpSpPr/>
          <p:nvPr/>
        </p:nvGrpSpPr>
        <p:grpSpPr>
          <a:xfrm>
            <a:off x="3132138" y="1844675"/>
            <a:ext cx="3582987" cy="792163"/>
            <a:chOff x="3132138" y="1844675"/>
            <a:chExt cx="3582987" cy="792163"/>
          </a:xfrm>
        </p:grpSpPr>
        <p:sp>
          <p:nvSpPr>
            <p:cNvPr id="504" name="Google Shape;504;p31"/>
            <p:cNvSpPr/>
            <p:nvPr/>
          </p:nvSpPr>
          <p:spPr>
            <a:xfrm>
              <a:off x="3852863" y="1844675"/>
              <a:ext cx="1943100" cy="792163"/>
            </a:xfrm>
            <a:prstGeom prst="diamond">
              <a:avLst/>
            </a:prstGeom>
            <a:noFill/>
            <a:ln cap="flat" cmpd="sng" w="25400">
              <a:solidFill>
                <a:srgbClr val="00B05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5" name="Google Shape;505;p31"/>
            <p:cNvSpPr txBox="1"/>
            <p:nvPr/>
          </p:nvSpPr>
          <p:spPr>
            <a:xfrm>
              <a:off x="4140200" y="1979613"/>
              <a:ext cx="1439863" cy="5222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ru-RU" sz="1400" u="none" cap="none" strike="noStrike">
                  <a:solidFill>
                    <a:srgbClr val="7030A0"/>
                  </a:solidFill>
                  <a:latin typeface="Arial"/>
                  <a:ea typeface="Arial"/>
                  <a:cs typeface="Arial"/>
                  <a:sym typeface="Arial"/>
                </a:rPr>
                <a:t>Может поставлять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06" name="Google Shape;506;p31"/>
            <p:cNvCxnSpPr>
              <a:stCxn id="487" idx="3"/>
              <a:endCxn id="504" idx="1"/>
            </p:cNvCxnSpPr>
            <p:nvPr/>
          </p:nvCxnSpPr>
          <p:spPr>
            <a:xfrm>
              <a:off x="3132138" y="2118519"/>
              <a:ext cx="720600" cy="122100"/>
            </a:xfrm>
            <a:prstGeom prst="bentConnector3">
              <a:avLst>
                <a:gd fmla="val 50000" name="adj1"/>
              </a:avLst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stealth"/>
              <a:tailEnd len="sm" w="sm" type="none"/>
            </a:ln>
          </p:spPr>
        </p:cxnSp>
        <p:cxnSp>
          <p:nvCxnSpPr>
            <p:cNvPr id="507" name="Google Shape;507;p31"/>
            <p:cNvCxnSpPr/>
            <p:nvPr/>
          </p:nvCxnSpPr>
          <p:spPr>
            <a:xfrm>
              <a:off x="5795963" y="2255838"/>
              <a:ext cx="919162" cy="377825"/>
            </a:xfrm>
            <a:prstGeom prst="bentConnector3">
              <a:avLst>
                <a:gd fmla="val 50000" name="adj1"/>
              </a:avLst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508" name="Google Shape;508;p31"/>
            <p:cNvCxnSpPr/>
            <p:nvPr/>
          </p:nvCxnSpPr>
          <p:spPr>
            <a:xfrm>
              <a:off x="6357938" y="2630488"/>
              <a:ext cx="261937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</p:grpSp>
      <p:grpSp>
        <p:nvGrpSpPr>
          <p:cNvPr id="509" name="Google Shape;509;p31"/>
          <p:cNvGrpSpPr/>
          <p:nvPr/>
        </p:nvGrpSpPr>
        <p:grpSpPr>
          <a:xfrm>
            <a:off x="3132138" y="2392362"/>
            <a:ext cx="3573462" cy="1612901"/>
            <a:chOff x="3132138" y="2392362"/>
            <a:chExt cx="3573462" cy="1612901"/>
          </a:xfrm>
        </p:grpSpPr>
        <p:sp>
          <p:nvSpPr>
            <p:cNvPr id="510" name="Google Shape;510;p31"/>
            <p:cNvSpPr/>
            <p:nvPr/>
          </p:nvSpPr>
          <p:spPr>
            <a:xfrm>
              <a:off x="4071938" y="3213100"/>
              <a:ext cx="1871662" cy="792163"/>
            </a:xfrm>
            <a:prstGeom prst="diamond">
              <a:avLst/>
            </a:prstGeom>
            <a:noFill/>
            <a:ln cap="flat" cmpd="sng" w="25400">
              <a:solidFill>
                <a:srgbClr val="00B05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11" name="Google Shape;511;p31"/>
            <p:cNvCxnSpPr>
              <a:stCxn id="510" idx="3"/>
            </p:cNvCxnSpPr>
            <p:nvPr/>
          </p:nvCxnSpPr>
          <p:spPr>
            <a:xfrm flipH="1" rot="10800000">
              <a:off x="5943600" y="2880482"/>
              <a:ext cx="762000" cy="728700"/>
            </a:xfrm>
            <a:prstGeom prst="bentConnector3">
              <a:avLst>
                <a:gd fmla="val 50000" name="adj1"/>
              </a:avLst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512" name="Google Shape;512;p31"/>
            <p:cNvSpPr txBox="1"/>
            <p:nvPr/>
          </p:nvSpPr>
          <p:spPr>
            <a:xfrm>
              <a:off x="4286250" y="3317875"/>
              <a:ext cx="1439863" cy="523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ru-RU" sz="14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Может поставляться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13" name="Google Shape;513;p31"/>
            <p:cNvCxnSpPr/>
            <p:nvPr/>
          </p:nvCxnSpPr>
          <p:spPr>
            <a:xfrm flipH="1" rot="5399999">
              <a:off x="2990851" y="2533650"/>
              <a:ext cx="1217612" cy="935037"/>
            </a:xfrm>
            <a:prstGeom prst="bentConnector3">
              <a:avLst>
                <a:gd fmla="val 50000" name="adj1"/>
              </a:avLst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514" name="Google Shape;514;p31"/>
            <p:cNvCxnSpPr/>
            <p:nvPr/>
          </p:nvCxnSpPr>
          <p:spPr>
            <a:xfrm rot="-5400000">
              <a:off x="3012282" y="2656681"/>
              <a:ext cx="241300" cy="1587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</p:grpSp>
      <p:grpSp>
        <p:nvGrpSpPr>
          <p:cNvPr id="515" name="Google Shape;515;p31"/>
          <p:cNvGrpSpPr/>
          <p:nvPr/>
        </p:nvGrpSpPr>
        <p:grpSpPr>
          <a:xfrm>
            <a:off x="357188" y="928688"/>
            <a:ext cx="1584324" cy="915887"/>
            <a:chOff x="357188" y="928688"/>
            <a:chExt cx="1584324" cy="915887"/>
          </a:xfrm>
        </p:grpSpPr>
        <p:sp>
          <p:nvSpPr>
            <p:cNvPr id="516" name="Google Shape;516;p31"/>
            <p:cNvSpPr/>
            <p:nvPr/>
          </p:nvSpPr>
          <p:spPr>
            <a:xfrm>
              <a:off x="500063" y="1000125"/>
              <a:ext cx="1428750" cy="679450"/>
            </a:xfrm>
            <a:prstGeom prst="roundRect">
              <a:avLst>
                <a:gd fmla="val 16667" name="adj"/>
              </a:avLst>
            </a:prstGeom>
            <a:noFill/>
            <a:ln cap="flat" cmpd="sng" w="25400">
              <a:solidFill>
                <a:srgbClr val="6F6F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7" name="Google Shape;517;p31"/>
            <p:cNvSpPr txBox="1"/>
            <p:nvPr/>
          </p:nvSpPr>
          <p:spPr>
            <a:xfrm>
              <a:off x="357188" y="928688"/>
              <a:ext cx="1584324" cy="641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ru-RU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Индекс_</a:t>
              </a:r>
              <a:br>
                <a:rPr b="0" i="0" lang="ru-RU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ru-RU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поставщика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18" name="Google Shape;518;p31"/>
            <p:cNvCxnSpPr>
              <a:stCxn id="516" idx="2"/>
            </p:cNvCxnSpPr>
            <p:nvPr/>
          </p:nvCxnSpPr>
          <p:spPr>
            <a:xfrm>
              <a:off x="1214438" y="1679575"/>
              <a:ext cx="404700" cy="165000"/>
            </a:xfrm>
            <a:prstGeom prst="straightConnector1">
              <a:avLst/>
            </a:prstGeom>
            <a:noFill/>
            <a:ln cap="flat" cmpd="sng" w="28575">
              <a:solidFill>
                <a:srgbClr val="9292FB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519" name="Google Shape;519;p31"/>
          <p:cNvGrpSpPr/>
          <p:nvPr/>
        </p:nvGrpSpPr>
        <p:grpSpPr>
          <a:xfrm>
            <a:off x="2484438" y="908050"/>
            <a:ext cx="1582737" cy="936625"/>
            <a:chOff x="2484438" y="908050"/>
            <a:chExt cx="1582737" cy="936625"/>
          </a:xfrm>
        </p:grpSpPr>
        <p:sp>
          <p:nvSpPr>
            <p:cNvPr id="520" name="Google Shape;520;p31"/>
            <p:cNvSpPr txBox="1"/>
            <p:nvPr/>
          </p:nvSpPr>
          <p:spPr>
            <a:xfrm>
              <a:off x="2484438" y="908050"/>
              <a:ext cx="1582737" cy="641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ru-RU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Адрес_</a:t>
              </a:r>
              <a:br>
                <a:rPr b="0" i="0" lang="ru-RU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ru-RU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поставщика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" name="Google Shape;521;p31"/>
            <p:cNvSpPr/>
            <p:nvPr/>
          </p:nvSpPr>
          <p:spPr>
            <a:xfrm>
              <a:off x="2571750" y="928688"/>
              <a:ext cx="1428750" cy="679450"/>
            </a:xfrm>
            <a:prstGeom prst="roundRect">
              <a:avLst>
                <a:gd fmla="val 16667" name="adj"/>
              </a:avLst>
            </a:prstGeom>
            <a:noFill/>
            <a:ln cap="flat" cmpd="sng" w="25400">
              <a:solidFill>
                <a:srgbClr val="6F6F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22" name="Google Shape;522;p31"/>
            <p:cNvCxnSpPr/>
            <p:nvPr/>
          </p:nvCxnSpPr>
          <p:spPr>
            <a:xfrm flipH="1">
              <a:off x="2857500" y="1608138"/>
              <a:ext cx="427038" cy="236537"/>
            </a:xfrm>
            <a:prstGeom prst="straightConnector1">
              <a:avLst/>
            </a:prstGeom>
            <a:noFill/>
            <a:ln cap="flat" cmpd="sng" w="28575">
              <a:solidFill>
                <a:srgbClr val="9292FB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523" name="Google Shape;523;p31"/>
          <p:cNvGrpSpPr/>
          <p:nvPr/>
        </p:nvGrpSpPr>
        <p:grpSpPr>
          <a:xfrm>
            <a:off x="214313" y="4913313"/>
            <a:ext cx="1285875" cy="1195387"/>
            <a:chOff x="214313" y="4913313"/>
            <a:chExt cx="1285875" cy="1195387"/>
          </a:xfrm>
        </p:grpSpPr>
        <p:sp>
          <p:nvSpPr>
            <p:cNvPr id="524" name="Google Shape;524;p31"/>
            <p:cNvSpPr txBox="1"/>
            <p:nvPr/>
          </p:nvSpPr>
          <p:spPr>
            <a:xfrm>
              <a:off x="250825" y="5445125"/>
              <a:ext cx="1152525" cy="641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ru-RU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Индекс_поставки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5" name="Google Shape;525;p31"/>
            <p:cNvSpPr/>
            <p:nvPr/>
          </p:nvSpPr>
          <p:spPr>
            <a:xfrm>
              <a:off x="214313" y="5429250"/>
              <a:ext cx="1214437" cy="679450"/>
            </a:xfrm>
            <a:prstGeom prst="roundRect">
              <a:avLst>
                <a:gd fmla="val 16667" name="adj"/>
              </a:avLst>
            </a:prstGeom>
            <a:noFill/>
            <a:ln cap="flat" cmpd="sng" w="25400">
              <a:solidFill>
                <a:srgbClr val="6F6F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26" name="Google Shape;526;p31"/>
            <p:cNvCxnSpPr/>
            <p:nvPr/>
          </p:nvCxnSpPr>
          <p:spPr>
            <a:xfrm flipH="1">
              <a:off x="776288" y="4913313"/>
              <a:ext cx="723900" cy="515937"/>
            </a:xfrm>
            <a:prstGeom prst="straightConnector1">
              <a:avLst/>
            </a:prstGeom>
            <a:noFill/>
            <a:ln cap="flat" cmpd="sng" w="28575">
              <a:solidFill>
                <a:srgbClr val="9292FB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527" name="Google Shape;527;p31"/>
          <p:cNvGrpSpPr/>
          <p:nvPr/>
        </p:nvGrpSpPr>
        <p:grpSpPr>
          <a:xfrm>
            <a:off x="1500188" y="4946550"/>
            <a:ext cx="1214437" cy="1162150"/>
            <a:chOff x="1500188" y="4946550"/>
            <a:chExt cx="1214437" cy="1162150"/>
          </a:xfrm>
        </p:grpSpPr>
        <p:sp>
          <p:nvSpPr>
            <p:cNvPr id="528" name="Google Shape;528;p31"/>
            <p:cNvSpPr/>
            <p:nvPr/>
          </p:nvSpPr>
          <p:spPr>
            <a:xfrm>
              <a:off x="1619250" y="5445125"/>
              <a:ext cx="969963" cy="6461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ru-RU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Шифр_</a:t>
              </a:r>
              <a:br>
                <a:rPr b="0" i="0" lang="ru-RU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ru-RU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склада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9" name="Google Shape;529;p31"/>
            <p:cNvSpPr/>
            <p:nvPr/>
          </p:nvSpPr>
          <p:spPr>
            <a:xfrm>
              <a:off x="1500188" y="5429250"/>
              <a:ext cx="1214437" cy="679450"/>
            </a:xfrm>
            <a:prstGeom prst="roundRect">
              <a:avLst>
                <a:gd fmla="val 16667" name="adj"/>
              </a:avLst>
            </a:prstGeom>
            <a:noFill/>
            <a:ln cap="flat" cmpd="sng" w="25400">
              <a:solidFill>
                <a:srgbClr val="6F6F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30" name="Google Shape;530;p31"/>
            <p:cNvCxnSpPr>
              <a:endCxn id="529" idx="0"/>
            </p:cNvCxnSpPr>
            <p:nvPr/>
          </p:nvCxnSpPr>
          <p:spPr>
            <a:xfrm>
              <a:off x="1834406" y="4946550"/>
              <a:ext cx="273000" cy="482700"/>
            </a:xfrm>
            <a:prstGeom prst="straightConnector1">
              <a:avLst/>
            </a:prstGeom>
            <a:noFill/>
            <a:ln cap="flat" cmpd="sng" w="28575">
              <a:solidFill>
                <a:srgbClr val="9292FB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531" name="Google Shape;531;p31"/>
          <p:cNvGrpSpPr/>
          <p:nvPr/>
        </p:nvGrpSpPr>
        <p:grpSpPr>
          <a:xfrm>
            <a:off x="2259919" y="4913250"/>
            <a:ext cx="1880281" cy="1195450"/>
            <a:chOff x="2259919" y="4913250"/>
            <a:chExt cx="1880281" cy="1195450"/>
          </a:xfrm>
        </p:grpSpPr>
        <p:sp>
          <p:nvSpPr>
            <p:cNvPr id="532" name="Google Shape;532;p31"/>
            <p:cNvSpPr txBox="1"/>
            <p:nvPr/>
          </p:nvSpPr>
          <p:spPr>
            <a:xfrm>
              <a:off x="2843213" y="5445125"/>
              <a:ext cx="1296987" cy="641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ru-RU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Дата_</a:t>
              </a:r>
              <a:br>
                <a:rPr b="0" i="0" lang="ru-RU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ru-RU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поставки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3" name="Google Shape;533;p31"/>
            <p:cNvSpPr/>
            <p:nvPr/>
          </p:nvSpPr>
          <p:spPr>
            <a:xfrm>
              <a:off x="2857500" y="5429250"/>
              <a:ext cx="1214438" cy="679450"/>
            </a:xfrm>
            <a:prstGeom prst="roundRect">
              <a:avLst>
                <a:gd fmla="val 16667" name="adj"/>
              </a:avLst>
            </a:prstGeom>
            <a:noFill/>
            <a:ln cap="flat" cmpd="sng" w="25400">
              <a:solidFill>
                <a:srgbClr val="6F6F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34" name="Google Shape;534;p31"/>
            <p:cNvCxnSpPr>
              <a:endCxn id="533" idx="0"/>
            </p:cNvCxnSpPr>
            <p:nvPr/>
          </p:nvCxnSpPr>
          <p:spPr>
            <a:xfrm>
              <a:off x="2259919" y="4913250"/>
              <a:ext cx="1204800" cy="516000"/>
            </a:xfrm>
            <a:prstGeom prst="straightConnector1">
              <a:avLst/>
            </a:prstGeom>
            <a:noFill/>
            <a:ln cap="flat" cmpd="sng" w="28575">
              <a:solidFill>
                <a:srgbClr val="9292FB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535" name="Google Shape;535;p31"/>
          <p:cNvGrpSpPr/>
          <p:nvPr/>
        </p:nvGrpSpPr>
        <p:grpSpPr>
          <a:xfrm>
            <a:off x="2794932" y="4913250"/>
            <a:ext cx="2634319" cy="1195450"/>
            <a:chOff x="2794932" y="4913250"/>
            <a:chExt cx="2634319" cy="1195450"/>
          </a:xfrm>
        </p:grpSpPr>
        <p:sp>
          <p:nvSpPr>
            <p:cNvPr id="536" name="Google Shape;536;p31"/>
            <p:cNvSpPr txBox="1"/>
            <p:nvPr/>
          </p:nvSpPr>
          <p:spPr>
            <a:xfrm>
              <a:off x="4286250" y="5429250"/>
              <a:ext cx="1079500" cy="641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ru-RU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Кол-во_</a:t>
              </a:r>
              <a:br>
                <a:rPr b="0" i="0" lang="ru-RU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ru-RU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товара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" name="Google Shape;537;p31"/>
            <p:cNvSpPr/>
            <p:nvPr/>
          </p:nvSpPr>
          <p:spPr>
            <a:xfrm>
              <a:off x="4214813" y="5429250"/>
              <a:ext cx="1214437" cy="679450"/>
            </a:xfrm>
            <a:prstGeom prst="roundRect">
              <a:avLst>
                <a:gd fmla="val 16667" name="adj"/>
              </a:avLst>
            </a:prstGeom>
            <a:noFill/>
            <a:ln cap="flat" cmpd="sng" w="25400">
              <a:solidFill>
                <a:srgbClr val="6F6F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38" name="Google Shape;538;p31"/>
            <p:cNvCxnSpPr>
              <a:endCxn id="537" idx="0"/>
            </p:cNvCxnSpPr>
            <p:nvPr/>
          </p:nvCxnSpPr>
          <p:spPr>
            <a:xfrm>
              <a:off x="2794932" y="4913250"/>
              <a:ext cx="2027100" cy="516000"/>
            </a:xfrm>
            <a:prstGeom prst="straightConnector1">
              <a:avLst/>
            </a:prstGeom>
            <a:noFill/>
            <a:ln cap="flat" cmpd="sng" w="28575">
              <a:solidFill>
                <a:srgbClr val="9292FB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539" name="Google Shape;539;p31"/>
          <p:cNvGrpSpPr/>
          <p:nvPr/>
        </p:nvGrpSpPr>
        <p:grpSpPr>
          <a:xfrm>
            <a:off x="7883525" y="1428750"/>
            <a:ext cx="1054100" cy="928688"/>
            <a:chOff x="7883525" y="1428750"/>
            <a:chExt cx="1054100" cy="928688"/>
          </a:xfrm>
        </p:grpSpPr>
        <p:sp>
          <p:nvSpPr>
            <p:cNvPr id="540" name="Google Shape;540;p31"/>
            <p:cNvSpPr txBox="1"/>
            <p:nvPr/>
          </p:nvSpPr>
          <p:spPr>
            <a:xfrm>
              <a:off x="7929563" y="1500188"/>
              <a:ext cx="1008062" cy="5175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ru-RU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Цена_ед</a:t>
              </a:r>
              <a:br>
                <a:rPr b="1" i="0" lang="ru-RU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1" i="0" lang="ru-RU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_товара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1" name="Google Shape;541;p31"/>
            <p:cNvSpPr/>
            <p:nvPr/>
          </p:nvSpPr>
          <p:spPr>
            <a:xfrm>
              <a:off x="7929563" y="1428750"/>
              <a:ext cx="928686" cy="642938"/>
            </a:xfrm>
            <a:prstGeom prst="roundRect">
              <a:avLst>
                <a:gd fmla="val 16667" name="adj"/>
              </a:avLst>
            </a:prstGeom>
            <a:noFill/>
            <a:ln cap="flat" cmpd="sng" w="25400">
              <a:solidFill>
                <a:srgbClr val="6F6F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42" name="Google Shape;542;p31"/>
            <p:cNvCxnSpPr/>
            <p:nvPr/>
          </p:nvCxnSpPr>
          <p:spPr>
            <a:xfrm flipH="1">
              <a:off x="7883525" y="2071688"/>
              <a:ext cx="427038" cy="285750"/>
            </a:xfrm>
            <a:prstGeom prst="straightConnector1">
              <a:avLst/>
            </a:prstGeom>
            <a:noFill/>
            <a:ln cap="flat" cmpd="sng" w="28575">
              <a:solidFill>
                <a:srgbClr val="9292FB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543" name="Google Shape;543;p31"/>
          <p:cNvGrpSpPr/>
          <p:nvPr/>
        </p:nvGrpSpPr>
        <p:grpSpPr>
          <a:xfrm>
            <a:off x="5786438" y="1428750"/>
            <a:ext cx="1149350" cy="928688"/>
            <a:chOff x="5786438" y="1428750"/>
            <a:chExt cx="1149350" cy="928688"/>
          </a:xfrm>
        </p:grpSpPr>
        <p:sp>
          <p:nvSpPr>
            <p:cNvPr id="544" name="Google Shape;544;p31"/>
            <p:cNvSpPr txBox="1"/>
            <p:nvPr/>
          </p:nvSpPr>
          <p:spPr>
            <a:xfrm>
              <a:off x="5795963" y="1484313"/>
              <a:ext cx="936625" cy="523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ru-RU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Индекс_</a:t>
              </a:r>
              <a:br>
                <a:rPr b="1" i="0" lang="ru-RU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1" i="0" lang="ru-RU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товара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5" name="Google Shape;545;p31"/>
            <p:cNvSpPr/>
            <p:nvPr/>
          </p:nvSpPr>
          <p:spPr>
            <a:xfrm>
              <a:off x="5786438" y="1428750"/>
              <a:ext cx="928686" cy="642938"/>
            </a:xfrm>
            <a:prstGeom prst="roundRect">
              <a:avLst>
                <a:gd fmla="val 16667" name="adj"/>
              </a:avLst>
            </a:prstGeom>
            <a:noFill/>
            <a:ln cap="flat" cmpd="sng" w="25400">
              <a:solidFill>
                <a:srgbClr val="6F6F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46" name="Google Shape;546;p31"/>
            <p:cNvCxnSpPr/>
            <p:nvPr/>
          </p:nvCxnSpPr>
          <p:spPr>
            <a:xfrm>
              <a:off x="6529388" y="2095500"/>
              <a:ext cx="406400" cy="261938"/>
            </a:xfrm>
            <a:prstGeom prst="straightConnector1">
              <a:avLst/>
            </a:prstGeom>
            <a:noFill/>
            <a:ln cap="flat" cmpd="sng" w="28575">
              <a:solidFill>
                <a:srgbClr val="9292FB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547" name="Google Shape;547;p31"/>
          <p:cNvGrpSpPr/>
          <p:nvPr/>
        </p:nvGrpSpPr>
        <p:grpSpPr>
          <a:xfrm>
            <a:off x="6804025" y="1428750"/>
            <a:ext cx="1079500" cy="928688"/>
            <a:chOff x="6804025" y="1428750"/>
            <a:chExt cx="1079500" cy="928688"/>
          </a:xfrm>
        </p:grpSpPr>
        <p:sp>
          <p:nvSpPr>
            <p:cNvPr id="548" name="Google Shape;548;p31"/>
            <p:cNvSpPr txBox="1"/>
            <p:nvPr/>
          </p:nvSpPr>
          <p:spPr>
            <a:xfrm>
              <a:off x="6804025" y="1484313"/>
              <a:ext cx="1079500" cy="5175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ru-RU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Название</a:t>
              </a:r>
              <a:br>
                <a:rPr b="1" i="0" lang="ru-RU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1" i="0" lang="ru-RU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_товара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9" name="Google Shape;549;p31"/>
            <p:cNvSpPr/>
            <p:nvPr/>
          </p:nvSpPr>
          <p:spPr>
            <a:xfrm>
              <a:off x="6858000" y="1428750"/>
              <a:ext cx="928688" cy="642938"/>
            </a:xfrm>
            <a:prstGeom prst="roundRect">
              <a:avLst>
                <a:gd fmla="val 16667" name="adj"/>
              </a:avLst>
            </a:prstGeom>
            <a:noFill/>
            <a:ln cap="flat" cmpd="sng" w="25400">
              <a:solidFill>
                <a:srgbClr val="6F6F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50" name="Google Shape;550;p31"/>
            <p:cNvCxnSpPr>
              <a:endCxn id="489" idx="0"/>
            </p:cNvCxnSpPr>
            <p:nvPr/>
          </p:nvCxnSpPr>
          <p:spPr>
            <a:xfrm>
              <a:off x="7381057" y="2071838"/>
              <a:ext cx="54000" cy="285600"/>
            </a:xfrm>
            <a:prstGeom prst="straightConnector1">
              <a:avLst/>
            </a:prstGeom>
            <a:noFill/>
            <a:ln cap="flat" cmpd="sng" w="28575">
              <a:solidFill>
                <a:srgbClr val="9292FB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551" name="Google Shape;551;p31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32"/>
          <p:cNvSpPr txBox="1"/>
          <p:nvPr>
            <p:ph type="title"/>
          </p:nvPr>
        </p:nvSpPr>
        <p:spPr>
          <a:xfrm>
            <a:off x="457200" y="457200"/>
            <a:ext cx="8229600" cy="9509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Этапы разработки ER модели</a:t>
            </a:r>
            <a:endParaRPr/>
          </a:p>
        </p:txBody>
      </p:sp>
      <p:sp>
        <p:nvSpPr>
          <p:cNvPr id="557" name="Google Shape;557;p32"/>
          <p:cNvSpPr txBox="1"/>
          <p:nvPr>
            <p:ph idx="1" type="body"/>
          </p:nvPr>
        </p:nvSpPr>
        <p:spPr>
          <a:xfrm>
            <a:off x="468313" y="1700212"/>
            <a:ext cx="8229600" cy="4752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100"/>
              <a:buChar char="■"/>
            </a:pPr>
            <a:r>
              <a:rPr lang="ru-RU" sz="2800"/>
              <a:t>Разработка локальных представлений (частей информационной системы)</a:t>
            </a:r>
            <a:endParaRPr/>
          </a:p>
          <a:p>
            <a:pPr indent="-285750" lvl="1" marL="74295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920"/>
              <a:buFont typeface="Noto Sans Symbols"/>
              <a:buChar char="❖"/>
            </a:pPr>
            <a:r>
              <a:rPr lang="ru-RU" sz="2400"/>
              <a:t>Формулирование сущностей (имена, содержание)</a:t>
            </a:r>
            <a:endParaRPr/>
          </a:p>
          <a:p>
            <a:pPr indent="-285750" lvl="1" marL="74295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920"/>
              <a:buFont typeface="Noto Sans Symbols"/>
              <a:buChar char="❖"/>
            </a:pPr>
            <a:r>
              <a:rPr lang="ru-RU" sz="2400"/>
              <a:t>Выбор идентифицирующего атрибута</a:t>
            </a:r>
            <a:endParaRPr/>
          </a:p>
          <a:p>
            <a:pPr indent="-285750" lvl="1" marL="74295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920"/>
              <a:buFont typeface="Noto Sans Symbols"/>
              <a:buChar char="❖"/>
            </a:pPr>
            <a:r>
              <a:rPr lang="ru-RU" sz="2400"/>
              <a:t>Спецификация связей (имена, типы)</a:t>
            </a:r>
            <a:endParaRPr/>
          </a:p>
          <a:p>
            <a:pPr indent="-285750" lvl="1" marL="74295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920"/>
              <a:buFont typeface="Noto Sans Symbols"/>
              <a:buChar char="❖"/>
            </a:pPr>
            <a:r>
              <a:rPr lang="ru-RU" sz="2400"/>
              <a:t>Добавление описательных атрибутов</a:t>
            </a:r>
            <a:endParaRPr/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100"/>
              <a:buChar char="■"/>
            </a:pPr>
            <a:r>
              <a:rPr lang="ru-RU" sz="2800"/>
              <a:t>Объединение представлений пользователей</a:t>
            </a:r>
            <a:endParaRPr/>
          </a:p>
          <a:p>
            <a:pPr indent="-285750" lvl="1" marL="74295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920"/>
              <a:buFont typeface="Noto Sans Symbols"/>
              <a:buChar char="❖"/>
            </a:pPr>
            <a:r>
              <a:rPr lang="ru-RU" sz="2400"/>
              <a:t>Идентичность</a:t>
            </a:r>
            <a:endParaRPr/>
          </a:p>
          <a:p>
            <a:pPr indent="-285750" lvl="1" marL="74295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920"/>
              <a:buFont typeface="Noto Sans Symbols"/>
              <a:buChar char="❖"/>
            </a:pPr>
            <a:r>
              <a:rPr lang="ru-RU" sz="2400"/>
              <a:t>Агрегация</a:t>
            </a:r>
            <a:endParaRPr/>
          </a:p>
          <a:p>
            <a:pPr indent="-285750" lvl="1" marL="74295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920"/>
              <a:buFont typeface="Noto Sans Symbols"/>
              <a:buChar char="❖"/>
            </a:pPr>
            <a:r>
              <a:rPr lang="ru-RU" sz="2400"/>
              <a:t>Обобщение</a:t>
            </a:r>
            <a:endParaRPr/>
          </a:p>
        </p:txBody>
      </p:sp>
      <p:sp>
        <p:nvSpPr>
          <p:cNvPr id="558" name="Google Shape;558;p32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33"/>
          <p:cNvSpPr txBox="1"/>
          <p:nvPr>
            <p:ph type="title"/>
          </p:nvPr>
        </p:nvSpPr>
        <p:spPr>
          <a:xfrm>
            <a:off x="468313" y="260350"/>
            <a:ext cx="8229600" cy="7762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>
                <a:solidFill>
                  <a:schemeClr val="lt2"/>
                </a:solidFill>
              </a:rPr>
              <a:t>Схема процесса объединения ЛП</a:t>
            </a:r>
            <a:endParaRPr/>
          </a:p>
        </p:txBody>
      </p:sp>
      <p:sp>
        <p:nvSpPr>
          <p:cNvPr id="564" name="Google Shape;564;p33"/>
          <p:cNvSpPr txBox="1"/>
          <p:nvPr/>
        </p:nvSpPr>
        <p:spPr>
          <a:xfrm>
            <a:off x="179388" y="5229225"/>
            <a:ext cx="2016125" cy="5461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Модель локального представления </a:t>
            </a:r>
            <a:r>
              <a:rPr b="1" i="0" lang="ru-RU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33"/>
          <p:cNvSpPr txBox="1"/>
          <p:nvPr/>
        </p:nvSpPr>
        <p:spPr>
          <a:xfrm>
            <a:off x="2484438" y="5229225"/>
            <a:ext cx="1943100" cy="5461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Модель локального представления </a:t>
            </a:r>
            <a:r>
              <a:rPr b="1" i="0" lang="ru-RU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33"/>
          <p:cNvSpPr txBox="1"/>
          <p:nvPr/>
        </p:nvSpPr>
        <p:spPr>
          <a:xfrm>
            <a:off x="4859338" y="5229225"/>
            <a:ext cx="1943100" cy="5461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Модель локального представления </a:t>
            </a:r>
            <a:r>
              <a:rPr b="1" i="0" lang="ru-RU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n-1</a:t>
            </a:r>
            <a:endParaRPr b="1" i="0" sz="14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33"/>
          <p:cNvSpPr txBox="1"/>
          <p:nvPr/>
        </p:nvSpPr>
        <p:spPr>
          <a:xfrm>
            <a:off x="1331913" y="3500438"/>
            <a:ext cx="2016125" cy="5461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Модель локального представления </a:t>
            </a:r>
            <a:r>
              <a:rPr b="1" i="0" lang="ru-RU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1 и 2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33"/>
          <p:cNvSpPr txBox="1"/>
          <p:nvPr/>
        </p:nvSpPr>
        <p:spPr>
          <a:xfrm>
            <a:off x="5724524" y="3500438"/>
            <a:ext cx="2519363" cy="5461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Модель локального представления </a:t>
            </a:r>
            <a:r>
              <a:rPr b="1" i="0" lang="ru-RU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n-1 и n</a:t>
            </a:r>
            <a:endParaRPr b="1" i="0" sz="14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33"/>
          <p:cNvSpPr txBox="1"/>
          <p:nvPr/>
        </p:nvSpPr>
        <p:spPr>
          <a:xfrm>
            <a:off x="2843213" y="1268413"/>
            <a:ext cx="3744912" cy="669925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Модель результирующего (</a:t>
            </a:r>
            <a:r>
              <a:rPr b="0" i="0" lang="ru-RU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объединенного</a:t>
            </a: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представления</a:t>
            </a:r>
            <a:r>
              <a:rPr b="0" i="0" lang="ru-RU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33"/>
          <p:cNvSpPr txBox="1"/>
          <p:nvPr/>
        </p:nvSpPr>
        <p:spPr>
          <a:xfrm>
            <a:off x="4356100" y="5300663"/>
            <a:ext cx="36036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p33"/>
          <p:cNvSpPr txBox="1"/>
          <p:nvPr/>
        </p:nvSpPr>
        <p:spPr>
          <a:xfrm>
            <a:off x="7019925" y="5229225"/>
            <a:ext cx="1943100" cy="5461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Модель локального представления </a:t>
            </a:r>
            <a:r>
              <a:rPr b="1" i="0" lang="ru-RU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b="1" i="0" sz="14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72" name="Google Shape;572;p33"/>
          <p:cNvCxnSpPr/>
          <p:nvPr/>
        </p:nvCxnSpPr>
        <p:spPr>
          <a:xfrm flipH="1" rot="10800000">
            <a:off x="1331913" y="4076699"/>
            <a:ext cx="647700" cy="1081088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3" name="Google Shape;573;p33"/>
          <p:cNvCxnSpPr/>
          <p:nvPr/>
        </p:nvCxnSpPr>
        <p:spPr>
          <a:xfrm rot="10800000">
            <a:off x="2555875" y="4076699"/>
            <a:ext cx="792163" cy="1081088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4" name="Google Shape;574;p33"/>
          <p:cNvCxnSpPr/>
          <p:nvPr/>
        </p:nvCxnSpPr>
        <p:spPr>
          <a:xfrm flipH="1" rot="10800000">
            <a:off x="5940425" y="4076699"/>
            <a:ext cx="647700" cy="1081088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5" name="Google Shape;575;p33"/>
          <p:cNvCxnSpPr/>
          <p:nvPr/>
        </p:nvCxnSpPr>
        <p:spPr>
          <a:xfrm rot="10800000">
            <a:off x="7308850" y="4076699"/>
            <a:ext cx="792163" cy="1081088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6" name="Google Shape;576;p33"/>
          <p:cNvCxnSpPr/>
          <p:nvPr/>
        </p:nvCxnSpPr>
        <p:spPr>
          <a:xfrm flipH="1" rot="10800000">
            <a:off x="2339975" y="1989138"/>
            <a:ext cx="1871663" cy="1511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lgDash"/>
            <a:round/>
            <a:headEnd len="med" w="med" type="none"/>
            <a:tailEnd len="med" w="med" type="none"/>
          </a:ln>
        </p:spPr>
      </p:cxnSp>
      <p:cxnSp>
        <p:nvCxnSpPr>
          <p:cNvPr id="577" name="Google Shape;577;p33"/>
          <p:cNvCxnSpPr/>
          <p:nvPr/>
        </p:nvCxnSpPr>
        <p:spPr>
          <a:xfrm rot="10800000">
            <a:off x="5076825" y="1989138"/>
            <a:ext cx="1943100" cy="1439862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lgDash"/>
            <a:round/>
            <a:headEnd len="med" w="med" type="none"/>
            <a:tailEnd len="med" w="med" type="none"/>
          </a:ln>
        </p:spPr>
      </p:cxnSp>
      <p:sp>
        <p:nvSpPr>
          <p:cNvPr id="578" name="Google Shape;578;p33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34"/>
          <p:cNvSpPr txBox="1"/>
          <p:nvPr>
            <p:ph type="title"/>
          </p:nvPr>
        </p:nvSpPr>
        <p:spPr>
          <a:xfrm>
            <a:off x="457200" y="457200"/>
            <a:ext cx="8229600" cy="450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000">
                <a:solidFill>
                  <a:schemeClr val="lt2"/>
                </a:solidFill>
              </a:rPr>
              <a:t>Идентичность</a:t>
            </a:r>
            <a:endParaRPr/>
          </a:p>
        </p:txBody>
      </p:sp>
      <p:sp>
        <p:nvSpPr>
          <p:cNvPr id="584" name="Google Shape;584;p34"/>
          <p:cNvSpPr txBox="1"/>
          <p:nvPr>
            <p:ph idx="1" type="body"/>
          </p:nvPr>
        </p:nvSpPr>
        <p:spPr>
          <a:xfrm>
            <a:off x="457200" y="1268413"/>
            <a:ext cx="8229600" cy="504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ru-RU"/>
              <a:t>Два или более элементов являются идентичными, если они имеют </a:t>
            </a:r>
            <a:r>
              <a:rPr b="1" lang="ru-RU"/>
              <a:t>одинаковое семантическое значение</a:t>
            </a:r>
            <a:endParaRPr/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ru-RU"/>
              <a:t> В силу абстрагирования при выявлении сущностей идентичность элементов </a:t>
            </a:r>
            <a:r>
              <a:rPr b="1" lang="ru-RU"/>
              <a:t>устанавливается экспертом</a:t>
            </a:r>
            <a:endParaRPr/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ru-RU"/>
              <a:t>Идентичность и подобие </a:t>
            </a:r>
            <a:endParaRPr/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ru-RU"/>
              <a:t>Персона, Служащий, Сотрудник, Работник, Персонал</a:t>
            </a:r>
            <a:endParaRPr/>
          </a:p>
        </p:txBody>
      </p:sp>
      <p:sp>
        <p:nvSpPr>
          <p:cNvPr id="585" name="Google Shape;585;p34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35"/>
          <p:cNvSpPr txBox="1"/>
          <p:nvPr/>
        </p:nvSpPr>
        <p:spPr>
          <a:xfrm>
            <a:off x="1652519" y="908050"/>
            <a:ext cx="1223963" cy="395288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гарнитур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35"/>
          <p:cNvSpPr txBox="1"/>
          <p:nvPr/>
        </p:nvSpPr>
        <p:spPr>
          <a:xfrm>
            <a:off x="6300788" y="981075"/>
            <a:ext cx="1223962" cy="395288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гарнитур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35"/>
          <p:cNvSpPr txBox="1"/>
          <p:nvPr/>
        </p:nvSpPr>
        <p:spPr>
          <a:xfrm>
            <a:off x="971550" y="404813"/>
            <a:ext cx="863599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индекс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35"/>
          <p:cNvSpPr txBox="1"/>
          <p:nvPr/>
        </p:nvSpPr>
        <p:spPr>
          <a:xfrm>
            <a:off x="2555875" y="404813"/>
            <a:ext cx="719138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цена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p35"/>
          <p:cNvSpPr txBox="1"/>
          <p:nvPr/>
        </p:nvSpPr>
        <p:spPr>
          <a:xfrm>
            <a:off x="503238" y="2622550"/>
            <a:ext cx="647700" cy="333375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стул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35"/>
          <p:cNvSpPr txBox="1"/>
          <p:nvPr/>
        </p:nvSpPr>
        <p:spPr>
          <a:xfrm>
            <a:off x="1936750" y="2622550"/>
            <a:ext cx="647700" cy="333375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стол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35"/>
          <p:cNvSpPr txBox="1"/>
          <p:nvPr/>
        </p:nvSpPr>
        <p:spPr>
          <a:xfrm>
            <a:off x="3348038" y="2636838"/>
            <a:ext cx="720724" cy="333375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шкаф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35"/>
          <p:cNvSpPr txBox="1"/>
          <p:nvPr/>
        </p:nvSpPr>
        <p:spPr>
          <a:xfrm>
            <a:off x="4572000" y="404813"/>
            <a:ext cx="100806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название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35"/>
          <p:cNvSpPr txBox="1"/>
          <p:nvPr/>
        </p:nvSpPr>
        <p:spPr>
          <a:xfrm>
            <a:off x="5867399" y="260350"/>
            <a:ext cx="1439863" cy="517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дата изготовления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p35"/>
          <p:cNvSpPr txBox="1"/>
          <p:nvPr/>
        </p:nvSpPr>
        <p:spPr>
          <a:xfrm>
            <a:off x="7524750" y="260350"/>
            <a:ext cx="1439863" cy="517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гарантийный срок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p35"/>
          <p:cNvSpPr/>
          <p:nvPr/>
        </p:nvSpPr>
        <p:spPr>
          <a:xfrm>
            <a:off x="1042988" y="404813"/>
            <a:ext cx="649287" cy="360362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8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35"/>
          <p:cNvSpPr/>
          <p:nvPr/>
        </p:nvSpPr>
        <p:spPr>
          <a:xfrm>
            <a:off x="2555875" y="404813"/>
            <a:ext cx="649288" cy="360362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8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35"/>
          <p:cNvSpPr/>
          <p:nvPr/>
        </p:nvSpPr>
        <p:spPr>
          <a:xfrm>
            <a:off x="4643438" y="333375"/>
            <a:ext cx="936625" cy="431799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8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p35"/>
          <p:cNvSpPr/>
          <p:nvPr/>
        </p:nvSpPr>
        <p:spPr>
          <a:xfrm>
            <a:off x="0" y="3213100"/>
            <a:ext cx="649288" cy="360363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8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35"/>
          <p:cNvSpPr/>
          <p:nvPr/>
        </p:nvSpPr>
        <p:spPr>
          <a:xfrm>
            <a:off x="7667625" y="333375"/>
            <a:ext cx="1152525" cy="431799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8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35"/>
          <p:cNvSpPr/>
          <p:nvPr/>
        </p:nvSpPr>
        <p:spPr>
          <a:xfrm>
            <a:off x="5940425" y="333375"/>
            <a:ext cx="1368425" cy="431799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8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35"/>
          <p:cNvSpPr/>
          <p:nvPr/>
        </p:nvSpPr>
        <p:spPr>
          <a:xfrm>
            <a:off x="755650" y="3213100"/>
            <a:ext cx="649288" cy="360363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8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35"/>
          <p:cNvSpPr/>
          <p:nvPr/>
        </p:nvSpPr>
        <p:spPr>
          <a:xfrm>
            <a:off x="1619250" y="3213100"/>
            <a:ext cx="649288" cy="360363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8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35"/>
          <p:cNvSpPr/>
          <p:nvPr/>
        </p:nvSpPr>
        <p:spPr>
          <a:xfrm>
            <a:off x="2339975" y="3213100"/>
            <a:ext cx="649288" cy="360363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8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35"/>
          <p:cNvSpPr/>
          <p:nvPr/>
        </p:nvSpPr>
        <p:spPr>
          <a:xfrm>
            <a:off x="3132138" y="3213100"/>
            <a:ext cx="649287" cy="360363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8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35"/>
          <p:cNvSpPr/>
          <p:nvPr/>
        </p:nvSpPr>
        <p:spPr>
          <a:xfrm>
            <a:off x="3924300" y="3213100"/>
            <a:ext cx="649288" cy="360363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8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35"/>
          <p:cNvSpPr txBox="1"/>
          <p:nvPr/>
        </p:nvSpPr>
        <p:spPr>
          <a:xfrm>
            <a:off x="971550" y="3573463"/>
            <a:ext cx="3024187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ru-RU" sz="1400" u="none" cap="none" strike="noStrike">
                <a:solidFill>
                  <a:srgbClr val="996600"/>
                </a:solidFill>
                <a:latin typeface="Arial"/>
                <a:ea typeface="Arial"/>
                <a:cs typeface="Arial"/>
                <a:sym typeface="Arial"/>
              </a:rPr>
              <a:t>Представление 1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p35"/>
          <p:cNvSpPr txBox="1"/>
          <p:nvPr/>
        </p:nvSpPr>
        <p:spPr>
          <a:xfrm>
            <a:off x="5580062" y="3573463"/>
            <a:ext cx="3024187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ru-RU" sz="1400" u="none" cap="none" strike="noStrike">
                <a:solidFill>
                  <a:srgbClr val="996600"/>
                </a:solidFill>
                <a:latin typeface="Arial"/>
                <a:ea typeface="Arial"/>
                <a:cs typeface="Arial"/>
                <a:sym typeface="Arial"/>
              </a:rPr>
              <a:t>Представление 2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13" name="Google Shape;613;p35"/>
          <p:cNvCxnSpPr/>
          <p:nvPr/>
        </p:nvCxnSpPr>
        <p:spPr>
          <a:xfrm>
            <a:off x="1619250" y="765175"/>
            <a:ext cx="215899" cy="142875"/>
          </a:xfrm>
          <a:prstGeom prst="straightConnector1">
            <a:avLst/>
          </a:prstGeom>
          <a:noFill/>
          <a:ln cap="flat" cmpd="sng" w="254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4" name="Google Shape;614;p35"/>
          <p:cNvCxnSpPr/>
          <p:nvPr/>
        </p:nvCxnSpPr>
        <p:spPr>
          <a:xfrm flipH="1">
            <a:off x="2627313" y="777875"/>
            <a:ext cx="217487" cy="130175"/>
          </a:xfrm>
          <a:prstGeom prst="straightConnector1">
            <a:avLst/>
          </a:prstGeom>
          <a:noFill/>
          <a:ln cap="flat" cmpd="sng" w="254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5" name="Google Shape;615;p35"/>
          <p:cNvCxnSpPr>
            <a:stCxn id="602" idx="2"/>
          </p:cNvCxnSpPr>
          <p:nvPr/>
        </p:nvCxnSpPr>
        <p:spPr>
          <a:xfrm>
            <a:off x="5111751" y="765174"/>
            <a:ext cx="1296900" cy="216000"/>
          </a:xfrm>
          <a:prstGeom prst="straightConnector1">
            <a:avLst/>
          </a:prstGeom>
          <a:noFill/>
          <a:ln cap="flat" cmpd="sng" w="254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6" name="Google Shape;616;p35"/>
          <p:cNvCxnSpPr>
            <a:stCxn id="598" idx="2"/>
          </p:cNvCxnSpPr>
          <p:nvPr/>
        </p:nvCxnSpPr>
        <p:spPr>
          <a:xfrm>
            <a:off x="6587330" y="777875"/>
            <a:ext cx="166800" cy="173100"/>
          </a:xfrm>
          <a:prstGeom prst="straightConnector1">
            <a:avLst/>
          </a:prstGeom>
          <a:noFill/>
          <a:ln cap="flat" cmpd="sng" w="254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7" name="Google Shape;617;p35"/>
          <p:cNvCxnSpPr>
            <a:stCxn id="599" idx="2"/>
          </p:cNvCxnSpPr>
          <p:nvPr/>
        </p:nvCxnSpPr>
        <p:spPr>
          <a:xfrm flipH="1">
            <a:off x="7163482" y="777875"/>
            <a:ext cx="1081200" cy="192000"/>
          </a:xfrm>
          <a:prstGeom prst="straightConnector1">
            <a:avLst/>
          </a:prstGeom>
          <a:noFill/>
          <a:ln cap="flat" cmpd="sng" w="254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618" name="Google Shape;618;p35"/>
          <p:cNvGrpSpPr/>
          <p:nvPr/>
        </p:nvGrpSpPr>
        <p:grpSpPr>
          <a:xfrm>
            <a:off x="179388" y="1303338"/>
            <a:ext cx="1512887" cy="1319074"/>
            <a:chOff x="179388" y="1303338"/>
            <a:chExt cx="1512887" cy="1319074"/>
          </a:xfrm>
        </p:grpSpPr>
        <p:sp>
          <p:nvSpPr>
            <p:cNvPr id="619" name="Google Shape;619;p35"/>
            <p:cNvSpPr txBox="1"/>
            <p:nvPr/>
          </p:nvSpPr>
          <p:spPr>
            <a:xfrm>
              <a:off x="468313" y="1628775"/>
              <a:ext cx="792162" cy="6397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ru-RU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Имеет в составе стулья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0" name="Google Shape;620;p35"/>
            <p:cNvSpPr/>
            <p:nvPr/>
          </p:nvSpPr>
          <p:spPr>
            <a:xfrm>
              <a:off x="179388" y="1484313"/>
              <a:ext cx="1296987" cy="863599"/>
            </a:xfrm>
            <a:prstGeom prst="diamond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21" name="Google Shape;621;p35"/>
            <p:cNvCxnSpPr/>
            <p:nvPr/>
          </p:nvCxnSpPr>
          <p:spPr>
            <a:xfrm flipH="1">
              <a:off x="801688" y="1303338"/>
              <a:ext cx="890587" cy="188912"/>
            </a:xfrm>
            <a:prstGeom prst="straightConnector1">
              <a:avLst/>
            </a:prstGeom>
            <a:noFill/>
            <a:ln cap="flat" cmpd="sng" w="222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22" name="Google Shape;622;p35"/>
            <p:cNvCxnSpPr>
              <a:stCxn id="620" idx="2"/>
              <a:endCxn id="594" idx="0"/>
            </p:cNvCxnSpPr>
            <p:nvPr/>
          </p:nvCxnSpPr>
          <p:spPr>
            <a:xfrm flipH="1">
              <a:off x="826982" y="2347912"/>
              <a:ext cx="900" cy="274500"/>
            </a:xfrm>
            <a:prstGeom prst="straightConnector1">
              <a:avLst/>
            </a:prstGeom>
            <a:noFill/>
            <a:ln cap="flat" cmpd="sng" w="22225">
              <a:solidFill>
                <a:schemeClr val="lt2"/>
              </a:solidFill>
              <a:prstDash val="solid"/>
              <a:round/>
              <a:headEnd len="sm" w="sm" type="none"/>
              <a:tailEnd len="med" w="med" type="stealth"/>
            </a:ln>
          </p:spPr>
        </p:cxnSp>
      </p:grpSp>
      <p:grpSp>
        <p:nvGrpSpPr>
          <p:cNvPr id="623" name="Google Shape;623;p35"/>
          <p:cNvGrpSpPr/>
          <p:nvPr/>
        </p:nvGrpSpPr>
        <p:grpSpPr>
          <a:xfrm>
            <a:off x="1619250" y="1303338"/>
            <a:ext cx="1296988" cy="1308100"/>
            <a:chOff x="1619250" y="1303338"/>
            <a:chExt cx="1296988" cy="1308100"/>
          </a:xfrm>
        </p:grpSpPr>
        <p:sp>
          <p:nvSpPr>
            <p:cNvPr id="624" name="Google Shape;624;p35"/>
            <p:cNvSpPr txBox="1"/>
            <p:nvPr/>
          </p:nvSpPr>
          <p:spPr>
            <a:xfrm>
              <a:off x="1908175" y="1628775"/>
              <a:ext cx="792163" cy="6397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ru-RU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Имеет в составе столы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5" name="Google Shape;625;p35"/>
            <p:cNvSpPr/>
            <p:nvPr/>
          </p:nvSpPr>
          <p:spPr>
            <a:xfrm>
              <a:off x="1619250" y="1484313"/>
              <a:ext cx="1296988" cy="863599"/>
            </a:xfrm>
            <a:prstGeom prst="diamond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26" name="Google Shape;626;p35"/>
            <p:cNvCxnSpPr>
              <a:stCxn id="590" idx="2"/>
              <a:endCxn id="625" idx="0"/>
            </p:cNvCxnSpPr>
            <p:nvPr/>
          </p:nvCxnSpPr>
          <p:spPr>
            <a:xfrm>
              <a:off x="2264501" y="1303338"/>
              <a:ext cx="3300" cy="180900"/>
            </a:xfrm>
            <a:prstGeom prst="straightConnector1">
              <a:avLst/>
            </a:prstGeom>
            <a:noFill/>
            <a:ln cap="flat" cmpd="sng" w="222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27" name="Google Shape;627;p35"/>
            <p:cNvCxnSpPr/>
            <p:nvPr/>
          </p:nvCxnSpPr>
          <p:spPr>
            <a:xfrm>
              <a:off x="2260600" y="2336800"/>
              <a:ext cx="0" cy="274638"/>
            </a:xfrm>
            <a:prstGeom prst="straightConnector1">
              <a:avLst/>
            </a:prstGeom>
            <a:noFill/>
            <a:ln cap="flat" cmpd="sng" w="22225">
              <a:solidFill>
                <a:schemeClr val="lt2"/>
              </a:solidFill>
              <a:prstDash val="solid"/>
              <a:round/>
              <a:headEnd len="sm" w="sm" type="none"/>
              <a:tailEnd len="med" w="med" type="stealth"/>
            </a:ln>
          </p:spPr>
        </p:cxnSp>
      </p:grpSp>
      <p:grpSp>
        <p:nvGrpSpPr>
          <p:cNvPr id="628" name="Google Shape;628;p35"/>
          <p:cNvGrpSpPr/>
          <p:nvPr/>
        </p:nvGrpSpPr>
        <p:grpSpPr>
          <a:xfrm>
            <a:off x="2844801" y="1303338"/>
            <a:ext cx="1439861" cy="1319212"/>
            <a:chOff x="2843965" y="1303338"/>
            <a:chExt cx="1440696" cy="1319212"/>
          </a:xfrm>
        </p:grpSpPr>
        <p:sp>
          <p:nvSpPr>
            <p:cNvPr id="629" name="Google Shape;629;p35"/>
            <p:cNvSpPr txBox="1"/>
            <p:nvPr/>
          </p:nvSpPr>
          <p:spPr>
            <a:xfrm>
              <a:off x="3276600" y="1615523"/>
              <a:ext cx="792163" cy="6397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ru-RU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Имеет в составе шкафы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0" name="Google Shape;630;p35"/>
            <p:cNvSpPr/>
            <p:nvPr/>
          </p:nvSpPr>
          <p:spPr>
            <a:xfrm>
              <a:off x="2987673" y="1457809"/>
              <a:ext cx="1296988" cy="863599"/>
            </a:xfrm>
            <a:prstGeom prst="diamond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31" name="Google Shape;631;p35"/>
            <p:cNvCxnSpPr/>
            <p:nvPr/>
          </p:nvCxnSpPr>
          <p:spPr>
            <a:xfrm>
              <a:off x="2843965" y="1303338"/>
              <a:ext cx="792623" cy="154471"/>
            </a:xfrm>
            <a:prstGeom prst="straightConnector1">
              <a:avLst/>
            </a:prstGeom>
            <a:noFill/>
            <a:ln cap="flat" cmpd="sng" w="222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32" name="Google Shape;632;p35"/>
            <p:cNvCxnSpPr/>
            <p:nvPr/>
          </p:nvCxnSpPr>
          <p:spPr>
            <a:xfrm>
              <a:off x="3663106" y="2347913"/>
              <a:ext cx="0" cy="274637"/>
            </a:xfrm>
            <a:prstGeom prst="straightConnector1">
              <a:avLst/>
            </a:prstGeom>
            <a:noFill/>
            <a:ln cap="flat" cmpd="sng" w="22225">
              <a:solidFill>
                <a:schemeClr val="lt2"/>
              </a:solidFill>
              <a:prstDash val="solid"/>
              <a:round/>
              <a:headEnd len="sm" w="sm" type="none"/>
              <a:tailEnd len="med" w="med" type="stealth"/>
            </a:ln>
          </p:spPr>
        </p:cxnSp>
      </p:grpSp>
      <p:grpSp>
        <p:nvGrpSpPr>
          <p:cNvPr id="633" name="Google Shape;633;p35"/>
          <p:cNvGrpSpPr/>
          <p:nvPr/>
        </p:nvGrpSpPr>
        <p:grpSpPr>
          <a:xfrm>
            <a:off x="4789488" y="1389062"/>
            <a:ext cx="1538286" cy="1306513"/>
            <a:chOff x="4789488" y="1389062"/>
            <a:chExt cx="1538286" cy="1306513"/>
          </a:xfrm>
        </p:grpSpPr>
        <p:sp>
          <p:nvSpPr>
            <p:cNvPr id="634" name="Google Shape;634;p35"/>
            <p:cNvSpPr txBox="1"/>
            <p:nvPr/>
          </p:nvSpPr>
          <p:spPr>
            <a:xfrm>
              <a:off x="4979988" y="1670050"/>
              <a:ext cx="792162" cy="6397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ru-RU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Имеет в составе стулья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5" name="Google Shape;635;p35"/>
            <p:cNvSpPr/>
            <p:nvPr/>
          </p:nvSpPr>
          <p:spPr>
            <a:xfrm>
              <a:off x="4789488" y="1557337"/>
              <a:ext cx="1295400" cy="863599"/>
            </a:xfrm>
            <a:prstGeom prst="diamond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36" name="Google Shape;636;p35"/>
            <p:cNvCxnSpPr/>
            <p:nvPr/>
          </p:nvCxnSpPr>
          <p:spPr>
            <a:xfrm>
              <a:off x="5437187" y="2420938"/>
              <a:ext cx="0" cy="274637"/>
            </a:xfrm>
            <a:prstGeom prst="straightConnector1">
              <a:avLst/>
            </a:prstGeom>
            <a:noFill/>
            <a:ln cap="flat" cmpd="sng" w="22225">
              <a:solidFill>
                <a:schemeClr val="lt2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637" name="Google Shape;637;p35"/>
            <p:cNvCxnSpPr/>
            <p:nvPr/>
          </p:nvCxnSpPr>
          <p:spPr>
            <a:xfrm flipH="1">
              <a:off x="5437187" y="1389062"/>
              <a:ext cx="890587" cy="190500"/>
            </a:xfrm>
            <a:prstGeom prst="straightConnector1">
              <a:avLst/>
            </a:prstGeom>
            <a:noFill/>
            <a:ln cap="flat" cmpd="sng" w="222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638" name="Google Shape;638;p35"/>
          <p:cNvGrpSpPr/>
          <p:nvPr/>
        </p:nvGrpSpPr>
        <p:grpSpPr>
          <a:xfrm>
            <a:off x="6264275" y="1376363"/>
            <a:ext cx="1296988" cy="1301750"/>
            <a:chOff x="6264275" y="1376363"/>
            <a:chExt cx="1296988" cy="1301750"/>
          </a:xfrm>
        </p:grpSpPr>
        <p:sp>
          <p:nvSpPr>
            <p:cNvPr id="639" name="Google Shape;639;p35"/>
            <p:cNvSpPr txBox="1"/>
            <p:nvPr/>
          </p:nvSpPr>
          <p:spPr>
            <a:xfrm>
              <a:off x="6489700" y="1674812"/>
              <a:ext cx="792163" cy="6397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ru-RU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Имеет в составе столы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0" name="Google Shape;640;p35"/>
            <p:cNvSpPr/>
            <p:nvPr/>
          </p:nvSpPr>
          <p:spPr>
            <a:xfrm>
              <a:off x="6264275" y="1557337"/>
              <a:ext cx="1296988" cy="863599"/>
            </a:xfrm>
            <a:prstGeom prst="diamond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41" name="Google Shape;641;p35"/>
            <p:cNvCxnSpPr/>
            <p:nvPr/>
          </p:nvCxnSpPr>
          <p:spPr>
            <a:xfrm>
              <a:off x="6913563" y="2403475"/>
              <a:ext cx="0" cy="274638"/>
            </a:xfrm>
            <a:prstGeom prst="straightConnector1">
              <a:avLst/>
            </a:prstGeom>
            <a:noFill/>
            <a:ln cap="flat" cmpd="sng" w="22225">
              <a:solidFill>
                <a:schemeClr val="lt2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642" name="Google Shape;642;p35"/>
            <p:cNvCxnSpPr>
              <a:stCxn id="591" idx="2"/>
            </p:cNvCxnSpPr>
            <p:nvPr/>
          </p:nvCxnSpPr>
          <p:spPr>
            <a:xfrm>
              <a:off x="6912769" y="1376363"/>
              <a:ext cx="8100" cy="180900"/>
            </a:xfrm>
            <a:prstGeom prst="straightConnector1">
              <a:avLst/>
            </a:prstGeom>
            <a:noFill/>
            <a:ln cap="flat" cmpd="sng" w="222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643" name="Google Shape;643;p35"/>
          <p:cNvGrpSpPr/>
          <p:nvPr/>
        </p:nvGrpSpPr>
        <p:grpSpPr>
          <a:xfrm>
            <a:off x="7544519" y="1376437"/>
            <a:ext cx="1420094" cy="1279451"/>
            <a:chOff x="7544519" y="1376437"/>
            <a:chExt cx="1420094" cy="1279451"/>
          </a:xfrm>
        </p:grpSpPr>
        <p:sp>
          <p:nvSpPr>
            <p:cNvPr id="644" name="Google Shape;644;p35"/>
            <p:cNvSpPr txBox="1"/>
            <p:nvPr/>
          </p:nvSpPr>
          <p:spPr>
            <a:xfrm>
              <a:off x="7885113" y="1700212"/>
              <a:ext cx="792162" cy="6397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ru-RU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Имеет в составе полки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5" name="Google Shape;645;p35"/>
            <p:cNvSpPr/>
            <p:nvPr/>
          </p:nvSpPr>
          <p:spPr>
            <a:xfrm>
              <a:off x="7667625" y="1557337"/>
              <a:ext cx="1296988" cy="846137"/>
            </a:xfrm>
            <a:prstGeom prst="diamond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46" name="Google Shape;646;p35"/>
            <p:cNvCxnSpPr/>
            <p:nvPr/>
          </p:nvCxnSpPr>
          <p:spPr>
            <a:xfrm>
              <a:off x="8312150" y="2381250"/>
              <a:ext cx="0" cy="274638"/>
            </a:xfrm>
            <a:prstGeom prst="straightConnector1">
              <a:avLst/>
            </a:prstGeom>
            <a:noFill/>
            <a:ln cap="flat" cmpd="sng" w="22225">
              <a:solidFill>
                <a:schemeClr val="lt2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647" name="Google Shape;647;p35"/>
            <p:cNvCxnSpPr>
              <a:endCxn id="645" idx="0"/>
            </p:cNvCxnSpPr>
            <p:nvPr/>
          </p:nvCxnSpPr>
          <p:spPr>
            <a:xfrm>
              <a:off x="7544519" y="1376437"/>
              <a:ext cx="771600" cy="180900"/>
            </a:xfrm>
            <a:prstGeom prst="straightConnector1">
              <a:avLst/>
            </a:prstGeom>
            <a:noFill/>
            <a:ln cap="flat" cmpd="sng" w="222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648" name="Google Shape;648;p35"/>
          <p:cNvSpPr txBox="1"/>
          <p:nvPr/>
        </p:nvSpPr>
        <p:spPr>
          <a:xfrm>
            <a:off x="87313" y="3298825"/>
            <a:ext cx="531812" cy="184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12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индекс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p35"/>
          <p:cNvSpPr txBox="1"/>
          <p:nvPr/>
        </p:nvSpPr>
        <p:spPr>
          <a:xfrm>
            <a:off x="817563" y="3300413"/>
            <a:ext cx="503237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цена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" name="Google Shape;650;p35"/>
          <p:cNvSpPr txBox="1"/>
          <p:nvPr/>
        </p:nvSpPr>
        <p:spPr>
          <a:xfrm>
            <a:off x="1657350" y="3300413"/>
            <a:ext cx="573088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12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индекс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" name="Google Shape;651;p35"/>
          <p:cNvSpPr txBox="1"/>
          <p:nvPr/>
        </p:nvSpPr>
        <p:spPr>
          <a:xfrm>
            <a:off x="3173413" y="3300413"/>
            <a:ext cx="57467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12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индекс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" name="Google Shape;652;p35"/>
          <p:cNvSpPr txBox="1"/>
          <p:nvPr/>
        </p:nvSpPr>
        <p:spPr>
          <a:xfrm>
            <a:off x="2413000" y="3298825"/>
            <a:ext cx="503238" cy="184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цена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p35"/>
          <p:cNvSpPr txBox="1"/>
          <p:nvPr/>
        </p:nvSpPr>
        <p:spPr>
          <a:xfrm>
            <a:off x="3984625" y="3298825"/>
            <a:ext cx="503238" cy="184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цена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54" name="Google Shape;654;p35"/>
          <p:cNvCxnSpPr>
            <a:stCxn id="594" idx="2"/>
            <a:endCxn id="606" idx="0"/>
          </p:cNvCxnSpPr>
          <p:nvPr/>
        </p:nvCxnSpPr>
        <p:spPr>
          <a:xfrm>
            <a:off x="827088" y="2955925"/>
            <a:ext cx="253200" cy="257100"/>
          </a:xfrm>
          <a:prstGeom prst="straightConnector1">
            <a:avLst/>
          </a:prstGeom>
          <a:noFill/>
          <a:ln cap="flat" cmpd="sng" w="254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5" name="Google Shape;655;p35"/>
          <p:cNvCxnSpPr>
            <a:endCxn id="608" idx="0"/>
          </p:cNvCxnSpPr>
          <p:nvPr/>
        </p:nvCxnSpPr>
        <p:spPr>
          <a:xfrm>
            <a:off x="2382019" y="2968600"/>
            <a:ext cx="282600" cy="244500"/>
          </a:xfrm>
          <a:prstGeom prst="straightConnector1">
            <a:avLst/>
          </a:prstGeom>
          <a:noFill/>
          <a:ln cap="flat" cmpd="sng" w="254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6" name="Google Shape;656;p35"/>
          <p:cNvCxnSpPr>
            <a:endCxn id="610" idx="0"/>
          </p:cNvCxnSpPr>
          <p:nvPr/>
        </p:nvCxnSpPr>
        <p:spPr>
          <a:xfrm>
            <a:off x="3861644" y="2981200"/>
            <a:ext cx="387300" cy="231900"/>
          </a:xfrm>
          <a:prstGeom prst="straightConnector1">
            <a:avLst/>
          </a:prstGeom>
          <a:noFill/>
          <a:ln cap="flat" cmpd="sng" w="254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7" name="Google Shape;657;p35"/>
          <p:cNvCxnSpPr>
            <a:endCxn id="603" idx="0"/>
          </p:cNvCxnSpPr>
          <p:nvPr/>
        </p:nvCxnSpPr>
        <p:spPr>
          <a:xfrm flipH="1">
            <a:off x="324644" y="2956000"/>
            <a:ext cx="358800" cy="257100"/>
          </a:xfrm>
          <a:prstGeom prst="straightConnector1">
            <a:avLst/>
          </a:prstGeom>
          <a:noFill/>
          <a:ln cap="flat" cmpd="sng" w="254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8" name="Google Shape;658;p35"/>
          <p:cNvCxnSpPr/>
          <p:nvPr/>
        </p:nvCxnSpPr>
        <p:spPr>
          <a:xfrm flipH="1">
            <a:off x="1792288" y="2962275"/>
            <a:ext cx="360362" cy="257175"/>
          </a:xfrm>
          <a:prstGeom prst="straightConnector1">
            <a:avLst/>
          </a:prstGeom>
          <a:noFill/>
          <a:ln cap="flat" cmpd="sng" w="254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9" name="Google Shape;659;p35"/>
          <p:cNvCxnSpPr/>
          <p:nvPr/>
        </p:nvCxnSpPr>
        <p:spPr>
          <a:xfrm flipH="1">
            <a:off x="3313113" y="2968625"/>
            <a:ext cx="358775" cy="250825"/>
          </a:xfrm>
          <a:prstGeom prst="straightConnector1">
            <a:avLst/>
          </a:prstGeom>
          <a:noFill/>
          <a:ln cap="flat" cmpd="sng" w="254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660" name="Google Shape;660;p35"/>
          <p:cNvGrpSpPr/>
          <p:nvPr/>
        </p:nvGrpSpPr>
        <p:grpSpPr>
          <a:xfrm>
            <a:off x="4787900" y="2678113"/>
            <a:ext cx="1370013" cy="895350"/>
            <a:chOff x="4787900" y="2678113"/>
            <a:chExt cx="1370013" cy="895350"/>
          </a:xfrm>
        </p:grpSpPr>
        <p:sp>
          <p:nvSpPr>
            <p:cNvPr id="661" name="Google Shape;661;p35"/>
            <p:cNvSpPr txBox="1"/>
            <p:nvPr/>
          </p:nvSpPr>
          <p:spPr>
            <a:xfrm>
              <a:off x="5113338" y="2678113"/>
              <a:ext cx="647700" cy="333375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ru-RU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стул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2" name="Google Shape;662;p35"/>
            <p:cNvSpPr/>
            <p:nvPr/>
          </p:nvSpPr>
          <p:spPr>
            <a:xfrm>
              <a:off x="4787900" y="3213100"/>
              <a:ext cx="649288" cy="360363"/>
            </a:xfrm>
            <a:prstGeom prst="roundRect">
              <a:avLst>
                <a:gd fmla="val 16667" name="adj"/>
              </a:avLst>
            </a:prstGeom>
            <a:noFill/>
            <a:ln cap="flat" cmpd="sng" w="19050">
              <a:solidFill>
                <a:srgbClr val="8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3" name="Google Shape;663;p35"/>
            <p:cNvSpPr/>
            <p:nvPr/>
          </p:nvSpPr>
          <p:spPr>
            <a:xfrm>
              <a:off x="5508625" y="3213100"/>
              <a:ext cx="649288" cy="360363"/>
            </a:xfrm>
            <a:prstGeom prst="roundRect">
              <a:avLst>
                <a:gd fmla="val 16667" name="adj"/>
              </a:avLst>
            </a:prstGeom>
            <a:noFill/>
            <a:ln cap="flat" cmpd="sng" w="19050">
              <a:solidFill>
                <a:srgbClr val="8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64" name="Google Shape;664;p35"/>
            <p:cNvCxnSpPr>
              <a:endCxn id="662" idx="0"/>
            </p:cNvCxnSpPr>
            <p:nvPr/>
          </p:nvCxnSpPr>
          <p:spPr>
            <a:xfrm flipH="1">
              <a:off x="5112544" y="3024100"/>
              <a:ext cx="322200" cy="189000"/>
            </a:xfrm>
            <a:prstGeom prst="straightConnector1">
              <a:avLst/>
            </a:prstGeom>
            <a:noFill/>
            <a:ln cap="flat" cmpd="sng" w="2540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65" name="Google Shape;665;p35"/>
            <p:cNvCxnSpPr>
              <a:endCxn id="663" idx="0"/>
            </p:cNvCxnSpPr>
            <p:nvPr/>
          </p:nvCxnSpPr>
          <p:spPr>
            <a:xfrm>
              <a:off x="5566569" y="3011500"/>
              <a:ext cx="266700" cy="201600"/>
            </a:xfrm>
            <a:prstGeom prst="straightConnector1">
              <a:avLst/>
            </a:prstGeom>
            <a:noFill/>
            <a:ln cap="flat" cmpd="sng" w="2540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66" name="Google Shape;666;p35"/>
            <p:cNvSpPr txBox="1"/>
            <p:nvPr/>
          </p:nvSpPr>
          <p:spPr>
            <a:xfrm>
              <a:off x="4829175" y="3300413"/>
              <a:ext cx="574675" cy="1857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ru-RU" sz="1200" u="sng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индекс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7" name="Google Shape;667;p35"/>
            <p:cNvSpPr txBox="1"/>
            <p:nvPr/>
          </p:nvSpPr>
          <p:spPr>
            <a:xfrm>
              <a:off x="5589588" y="3311524"/>
              <a:ext cx="503237" cy="1841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ru-RU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кол.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68" name="Google Shape;668;p35"/>
          <p:cNvGrpSpPr/>
          <p:nvPr/>
        </p:nvGrpSpPr>
        <p:grpSpPr>
          <a:xfrm>
            <a:off x="6227763" y="2655888"/>
            <a:ext cx="1370012" cy="917575"/>
            <a:chOff x="6227763" y="2655888"/>
            <a:chExt cx="1370012" cy="917575"/>
          </a:xfrm>
        </p:grpSpPr>
        <p:sp>
          <p:nvSpPr>
            <p:cNvPr id="669" name="Google Shape;669;p35"/>
            <p:cNvSpPr txBox="1"/>
            <p:nvPr/>
          </p:nvSpPr>
          <p:spPr>
            <a:xfrm>
              <a:off x="6589713" y="2655888"/>
              <a:ext cx="647700" cy="333375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ru-RU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стол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0" name="Google Shape;670;p35"/>
            <p:cNvSpPr/>
            <p:nvPr/>
          </p:nvSpPr>
          <p:spPr>
            <a:xfrm>
              <a:off x="6227763" y="3213100"/>
              <a:ext cx="649287" cy="360363"/>
            </a:xfrm>
            <a:prstGeom prst="roundRect">
              <a:avLst>
                <a:gd fmla="val 16667" name="adj"/>
              </a:avLst>
            </a:prstGeom>
            <a:noFill/>
            <a:ln cap="flat" cmpd="sng" w="19050">
              <a:solidFill>
                <a:srgbClr val="8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1" name="Google Shape;671;p35"/>
            <p:cNvSpPr/>
            <p:nvPr/>
          </p:nvSpPr>
          <p:spPr>
            <a:xfrm>
              <a:off x="6948488" y="3213100"/>
              <a:ext cx="649287" cy="360363"/>
            </a:xfrm>
            <a:prstGeom prst="roundRect">
              <a:avLst>
                <a:gd fmla="val 16667" name="adj"/>
              </a:avLst>
            </a:prstGeom>
            <a:noFill/>
            <a:ln cap="flat" cmpd="sng" w="19050">
              <a:solidFill>
                <a:srgbClr val="8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72" name="Google Shape;672;p35"/>
            <p:cNvCxnSpPr/>
            <p:nvPr/>
          </p:nvCxnSpPr>
          <p:spPr>
            <a:xfrm flipH="1">
              <a:off x="6581774" y="2989263"/>
              <a:ext cx="322263" cy="188912"/>
            </a:xfrm>
            <a:prstGeom prst="straightConnector1">
              <a:avLst/>
            </a:prstGeom>
            <a:noFill/>
            <a:ln cap="flat" cmpd="sng" w="2540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73" name="Google Shape;673;p35"/>
            <p:cNvCxnSpPr/>
            <p:nvPr/>
          </p:nvCxnSpPr>
          <p:spPr>
            <a:xfrm>
              <a:off x="7007225" y="2989263"/>
              <a:ext cx="265113" cy="201612"/>
            </a:xfrm>
            <a:prstGeom prst="straightConnector1">
              <a:avLst/>
            </a:prstGeom>
            <a:noFill/>
            <a:ln cap="flat" cmpd="sng" w="2540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74" name="Google Shape;674;p35"/>
            <p:cNvSpPr txBox="1"/>
            <p:nvPr/>
          </p:nvSpPr>
          <p:spPr>
            <a:xfrm>
              <a:off x="6294437" y="3302000"/>
              <a:ext cx="574675" cy="1841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ru-RU" sz="1200" u="sng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индекс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5" name="Google Shape;675;p35"/>
            <p:cNvSpPr txBox="1"/>
            <p:nvPr/>
          </p:nvSpPr>
          <p:spPr>
            <a:xfrm>
              <a:off x="7007225" y="3313113"/>
              <a:ext cx="503238" cy="1857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ru-RU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кол.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76" name="Google Shape;676;p35"/>
          <p:cNvGrpSpPr/>
          <p:nvPr/>
        </p:nvGrpSpPr>
        <p:grpSpPr>
          <a:xfrm>
            <a:off x="7704138" y="2646363"/>
            <a:ext cx="1439862" cy="927100"/>
            <a:chOff x="7704138" y="2646363"/>
            <a:chExt cx="1439862" cy="927100"/>
          </a:xfrm>
        </p:grpSpPr>
        <p:sp>
          <p:nvSpPr>
            <p:cNvPr id="677" name="Google Shape;677;p35"/>
            <p:cNvSpPr txBox="1"/>
            <p:nvPr/>
          </p:nvSpPr>
          <p:spPr>
            <a:xfrm>
              <a:off x="7931150" y="2646363"/>
              <a:ext cx="720724" cy="333375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ru-RU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полка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8" name="Google Shape;678;p35"/>
            <p:cNvSpPr/>
            <p:nvPr/>
          </p:nvSpPr>
          <p:spPr>
            <a:xfrm>
              <a:off x="7704138" y="3213100"/>
              <a:ext cx="649287" cy="360363"/>
            </a:xfrm>
            <a:prstGeom prst="roundRect">
              <a:avLst>
                <a:gd fmla="val 16667" name="adj"/>
              </a:avLst>
            </a:prstGeom>
            <a:noFill/>
            <a:ln cap="flat" cmpd="sng" w="19050">
              <a:solidFill>
                <a:srgbClr val="8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9" name="Google Shape;679;p35"/>
            <p:cNvSpPr/>
            <p:nvPr/>
          </p:nvSpPr>
          <p:spPr>
            <a:xfrm>
              <a:off x="8494713" y="3213100"/>
              <a:ext cx="649287" cy="360363"/>
            </a:xfrm>
            <a:prstGeom prst="roundRect">
              <a:avLst>
                <a:gd fmla="val 16667" name="adj"/>
              </a:avLst>
            </a:prstGeom>
            <a:noFill/>
            <a:ln cap="flat" cmpd="sng" w="19050">
              <a:solidFill>
                <a:srgbClr val="8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80" name="Google Shape;680;p35"/>
            <p:cNvCxnSpPr/>
            <p:nvPr/>
          </p:nvCxnSpPr>
          <p:spPr>
            <a:xfrm>
              <a:off x="8435975" y="2990850"/>
              <a:ext cx="266700" cy="201613"/>
            </a:xfrm>
            <a:prstGeom prst="straightConnector1">
              <a:avLst/>
            </a:prstGeom>
            <a:noFill/>
            <a:ln cap="flat" cmpd="sng" w="2540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81" name="Google Shape;681;p35"/>
            <p:cNvCxnSpPr/>
            <p:nvPr/>
          </p:nvCxnSpPr>
          <p:spPr>
            <a:xfrm flipH="1">
              <a:off x="7929563" y="2990850"/>
              <a:ext cx="322262" cy="188913"/>
            </a:xfrm>
            <a:prstGeom prst="straightConnector1">
              <a:avLst/>
            </a:prstGeom>
            <a:noFill/>
            <a:ln cap="flat" cmpd="sng" w="2540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82" name="Google Shape;682;p35"/>
            <p:cNvSpPr txBox="1"/>
            <p:nvPr/>
          </p:nvSpPr>
          <p:spPr>
            <a:xfrm>
              <a:off x="7742238" y="3302000"/>
              <a:ext cx="573087" cy="1841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ru-RU" sz="1200" u="sng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индекс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3" name="Google Shape;683;p35"/>
            <p:cNvSpPr txBox="1"/>
            <p:nvPr/>
          </p:nvSpPr>
          <p:spPr>
            <a:xfrm>
              <a:off x="8569325" y="3322638"/>
              <a:ext cx="501650" cy="1841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ru-RU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кол.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84" name="Google Shape;684;p35"/>
          <p:cNvSpPr txBox="1"/>
          <p:nvPr>
            <p:ph idx="12" type="sldNum"/>
          </p:nvPr>
        </p:nvSpPr>
        <p:spPr>
          <a:xfrm>
            <a:off x="8604250" y="5957888"/>
            <a:ext cx="490538" cy="4175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36"/>
          <p:cNvSpPr txBox="1"/>
          <p:nvPr>
            <p:ph type="title"/>
          </p:nvPr>
        </p:nvSpPr>
        <p:spPr>
          <a:xfrm>
            <a:off x="457200" y="457200"/>
            <a:ext cx="8229600" cy="595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000">
                <a:solidFill>
                  <a:schemeClr val="lt2"/>
                </a:solidFill>
              </a:rPr>
              <a:t>Агрегация</a:t>
            </a:r>
            <a:endParaRPr/>
          </a:p>
        </p:txBody>
      </p:sp>
      <p:sp>
        <p:nvSpPr>
          <p:cNvPr id="690" name="Google Shape;690;p36"/>
          <p:cNvSpPr txBox="1"/>
          <p:nvPr>
            <p:ph idx="1" type="body"/>
          </p:nvPr>
        </p:nvSpPr>
        <p:spPr>
          <a:xfrm>
            <a:off x="208655" y="1065213"/>
            <a:ext cx="8800333" cy="55196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ru-RU"/>
              <a:t>Агрегация – декартово произведение сущностей</a:t>
            </a:r>
            <a:endParaRPr/>
          </a:p>
          <a:p>
            <a:pPr indent="-342900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ru-RU"/>
              <a:t>Новая сущность формируется на основе данных о частях объектах</a:t>
            </a:r>
            <a:endParaRPr/>
          </a:p>
          <a:p>
            <a:pPr indent="-228600" lvl="2" marL="1143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560"/>
              <a:buChar char="■"/>
            </a:pPr>
            <a:r>
              <a:rPr lang="ru-RU"/>
              <a:t>Имя, Должность, Ном_отдела 		    </a:t>
            </a:r>
            <a:r>
              <a:rPr lang="ru-RU">
                <a:solidFill>
                  <a:srgbClr val="FF0066"/>
                </a:solidFill>
              </a:rPr>
              <a:t>= Сотрудник</a:t>
            </a:r>
            <a:endParaRPr/>
          </a:p>
          <a:p>
            <a:pPr indent="-228600" lvl="2" marL="1143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560"/>
              <a:buChar char="■"/>
            </a:pPr>
            <a:r>
              <a:rPr lang="ru-RU"/>
              <a:t>Имя, Паспорт, Дата приема 		    </a:t>
            </a:r>
            <a:r>
              <a:rPr lang="ru-RU">
                <a:solidFill>
                  <a:srgbClr val="FF0066"/>
                </a:solidFill>
              </a:rPr>
              <a:t>= Сотрудник</a:t>
            </a:r>
            <a:endParaRPr/>
          </a:p>
          <a:p>
            <a:pPr indent="-228600" lvl="2" marL="1143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560"/>
              <a:buChar char="■"/>
            </a:pPr>
            <a:r>
              <a:rPr lang="ru-RU"/>
              <a:t>Имя, Номер-страхового полиса, Адрес </a:t>
            </a:r>
            <a:r>
              <a:rPr lang="ru-RU">
                <a:solidFill>
                  <a:srgbClr val="FF0066"/>
                </a:solidFill>
              </a:rPr>
              <a:t>= Сотрудник</a:t>
            </a:r>
            <a:endParaRPr/>
          </a:p>
          <a:p>
            <a:pPr indent="180000" lvl="2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560"/>
              <a:buNone/>
            </a:pPr>
            <a:r>
              <a:t/>
            </a:r>
            <a:endParaRPr>
              <a:solidFill>
                <a:srgbClr val="FF0066"/>
              </a:solidFill>
            </a:endParaRPr>
          </a:p>
          <a:p>
            <a:pPr indent="0" lvl="2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560"/>
              <a:buNone/>
            </a:pPr>
            <a:r>
              <a:rPr lang="ru-RU">
                <a:solidFill>
                  <a:srgbClr val="7030A0"/>
                </a:solidFill>
              </a:rPr>
              <a:t>Имя, Номер-страхового полиса, Паспорт, Должность, Ном_отдела, Дата приема, Адрес                   </a:t>
            </a:r>
            <a:r>
              <a:rPr lang="ru-RU">
                <a:solidFill>
                  <a:srgbClr val="C00000"/>
                </a:solidFill>
              </a:rPr>
              <a:t>= СОТРУДНИК</a:t>
            </a:r>
            <a:endParaRPr/>
          </a:p>
        </p:txBody>
      </p:sp>
      <p:sp>
        <p:nvSpPr>
          <p:cNvPr id="691" name="Google Shape;691;p36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37"/>
          <p:cNvSpPr txBox="1"/>
          <p:nvPr/>
        </p:nvSpPr>
        <p:spPr>
          <a:xfrm>
            <a:off x="1652519" y="908050"/>
            <a:ext cx="1223963" cy="395288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гарнитур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7" name="Google Shape;697;p37"/>
          <p:cNvSpPr txBox="1"/>
          <p:nvPr/>
        </p:nvSpPr>
        <p:spPr>
          <a:xfrm>
            <a:off x="6300788" y="981075"/>
            <a:ext cx="1223962" cy="395288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гарнитур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8" name="Google Shape;698;p37"/>
          <p:cNvSpPr txBox="1"/>
          <p:nvPr/>
        </p:nvSpPr>
        <p:spPr>
          <a:xfrm>
            <a:off x="971550" y="404813"/>
            <a:ext cx="863599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индекс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9" name="Google Shape;699;p37"/>
          <p:cNvSpPr txBox="1"/>
          <p:nvPr/>
        </p:nvSpPr>
        <p:spPr>
          <a:xfrm>
            <a:off x="2555875" y="404813"/>
            <a:ext cx="719138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цена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0" name="Google Shape;700;p37"/>
          <p:cNvSpPr txBox="1"/>
          <p:nvPr/>
        </p:nvSpPr>
        <p:spPr>
          <a:xfrm>
            <a:off x="503238" y="2622550"/>
            <a:ext cx="647700" cy="333375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стул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1" name="Google Shape;701;p37"/>
          <p:cNvSpPr txBox="1"/>
          <p:nvPr/>
        </p:nvSpPr>
        <p:spPr>
          <a:xfrm>
            <a:off x="1936750" y="2622550"/>
            <a:ext cx="647700" cy="333375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стол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2" name="Google Shape;702;p37"/>
          <p:cNvSpPr txBox="1"/>
          <p:nvPr/>
        </p:nvSpPr>
        <p:spPr>
          <a:xfrm>
            <a:off x="3348038" y="2636838"/>
            <a:ext cx="720724" cy="333375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шкаф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3" name="Google Shape;703;p37"/>
          <p:cNvSpPr txBox="1"/>
          <p:nvPr/>
        </p:nvSpPr>
        <p:spPr>
          <a:xfrm>
            <a:off x="4572000" y="404813"/>
            <a:ext cx="100806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название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4" name="Google Shape;704;p37"/>
          <p:cNvSpPr txBox="1"/>
          <p:nvPr/>
        </p:nvSpPr>
        <p:spPr>
          <a:xfrm>
            <a:off x="5867399" y="260350"/>
            <a:ext cx="1439863" cy="517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дата изготовления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5" name="Google Shape;705;p37"/>
          <p:cNvSpPr txBox="1"/>
          <p:nvPr/>
        </p:nvSpPr>
        <p:spPr>
          <a:xfrm>
            <a:off x="7524750" y="260350"/>
            <a:ext cx="1439863" cy="517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гарантийный срок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6" name="Google Shape;706;p37"/>
          <p:cNvSpPr/>
          <p:nvPr/>
        </p:nvSpPr>
        <p:spPr>
          <a:xfrm>
            <a:off x="1042988" y="404813"/>
            <a:ext cx="649287" cy="360362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8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p37"/>
          <p:cNvSpPr/>
          <p:nvPr/>
        </p:nvSpPr>
        <p:spPr>
          <a:xfrm>
            <a:off x="2555875" y="404813"/>
            <a:ext cx="649288" cy="360362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8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p37"/>
          <p:cNvSpPr/>
          <p:nvPr/>
        </p:nvSpPr>
        <p:spPr>
          <a:xfrm>
            <a:off x="4643438" y="333375"/>
            <a:ext cx="936625" cy="431799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8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9" name="Google Shape;709;p37"/>
          <p:cNvSpPr/>
          <p:nvPr/>
        </p:nvSpPr>
        <p:spPr>
          <a:xfrm>
            <a:off x="0" y="3213100"/>
            <a:ext cx="649288" cy="360363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8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p37"/>
          <p:cNvSpPr/>
          <p:nvPr/>
        </p:nvSpPr>
        <p:spPr>
          <a:xfrm>
            <a:off x="7667625" y="333375"/>
            <a:ext cx="1152525" cy="431799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8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p37"/>
          <p:cNvSpPr/>
          <p:nvPr/>
        </p:nvSpPr>
        <p:spPr>
          <a:xfrm>
            <a:off x="5940425" y="333375"/>
            <a:ext cx="1368425" cy="431799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8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2" name="Google Shape;712;p37"/>
          <p:cNvSpPr/>
          <p:nvPr/>
        </p:nvSpPr>
        <p:spPr>
          <a:xfrm>
            <a:off x="755650" y="3213100"/>
            <a:ext cx="649288" cy="360363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8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3" name="Google Shape;713;p37"/>
          <p:cNvSpPr/>
          <p:nvPr/>
        </p:nvSpPr>
        <p:spPr>
          <a:xfrm>
            <a:off x="1619250" y="3213100"/>
            <a:ext cx="649288" cy="360363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8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4" name="Google Shape;714;p37"/>
          <p:cNvSpPr/>
          <p:nvPr/>
        </p:nvSpPr>
        <p:spPr>
          <a:xfrm>
            <a:off x="2339975" y="3213100"/>
            <a:ext cx="649288" cy="360363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8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37"/>
          <p:cNvSpPr/>
          <p:nvPr/>
        </p:nvSpPr>
        <p:spPr>
          <a:xfrm>
            <a:off x="3132138" y="3213100"/>
            <a:ext cx="649287" cy="360363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8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6" name="Google Shape;716;p37"/>
          <p:cNvSpPr/>
          <p:nvPr/>
        </p:nvSpPr>
        <p:spPr>
          <a:xfrm>
            <a:off x="3924300" y="3213100"/>
            <a:ext cx="649288" cy="360363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8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7" name="Google Shape;717;p37"/>
          <p:cNvSpPr txBox="1"/>
          <p:nvPr/>
        </p:nvSpPr>
        <p:spPr>
          <a:xfrm>
            <a:off x="971550" y="3573463"/>
            <a:ext cx="3024187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ru-RU" sz="1400" u="none" cap="none" strike="noStrike">
                <a:solidFill>
                  <a:srgbClr val="996600"/>
                </a:solidFill>
                <a:latin typeface="Arial"/>
                <a:ea typeface="Arial"/>
                <a:cs typeface="Arial"/>
                <a:sym typeface="Arial"/>
              </a:rPr>
              <a:t>Представление 1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8" name="Google Shape;718;p37"/>
          <p:cNvSpPr txBox="1"/>
          <p:nvPr/>
        </p:nvSpPr>
        <p:spPr>
          <a:xfrm>
            <a:off x="4284663" y="4581525"/>
            <a:ext cx="1223962" cy="395288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гарнитур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9" name="Google Shape;719;p37"/>
          <p:cNvSpPr txBox="1"/>
          <p:nvPr/>
        </p:nvSpPr>
        <p:spPr>
          <a:xfrm>
            <a:off x="5580062" y="3573463"/>
            <a:ext cx="3024187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ru-RU" sz="1400" u="none" cap="none" strike="noStrike">
                <a:solidFill>
                  <a:srgbClr val="996600"/>
                </a:solidFill>
                <a:latin typeface="Arial"/>
                <a:ea typeface="Arial"/>
                <a:cs typeface="Arial"/>
                <a:sym typeface="Arial"/>
              </a:rPr>
              <a:t>Представление 2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20" name="Google Shape;720;p37"/>
          <p:cNvCxnSpPr/>
          <p:nvPr/>
        </p:nvCxnSpPr>
        <p:spPr>
          <a:xfrm>
            <a:off x="1619250" y="765175"/>
            <a:ext cx="215899" cy="142875"/>
          </a:xfrm>
          <a:prstGeom prst="straightConnector1">
            <a:avLst/>
          </a:prstGeom>
          <a:noFill/>
          <a:ln cap="flat" cmpd="sng" w="254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21" name="Google Shape;721;p37"/>
          <p:cNvCxnSpPr/>
          <p:nvPr/>
        </p:nvCxnSpPr>
        <p:spPr>
          <a:xfrm flipH="1">
            <a:off x="2627313" y="777875"/>
            <a:ext cx="217487" cy="130175"/>
          </a:xfrm>
          <a:prstGeom prst="straightConnector1">
            <a:avLst/>
          </a:prstGeom>
          <a:noFill/>
          <a:ln cap="flat" cmpd="sng" w="254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22" name="Google Shape;722;p37"/>
          <p:cNvCxnSpPr>
            <a:stCxn id="708" idx="2"/>
          </p:cNvCxnSpPr>
          <p:nvPr/>
        </p:nvCxnSpPr>
        <p:spPr>
          <a:xfrm>
            <a:off x="5111751" y="765174"/>
            <a:ext cx="1296900" cy="216000"/>
          </a:xfrm>
          <a:prstGeom prst="straightConnector1">
            <a:avLst/>
          </a:prstGeom>
          <a:noFill/>
          <a:ln cap="flat" cmpd="sng" w="254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23" name="Google Shape;723;p37"/>
          <p:cNvCxnSpPr>
            <a:stCxn id="704" idx="2"/>
          </p:cNvCxnSpPr>
          <p:nvPr/>
        </p:nvCxnSpPr>
        <p:spPr>
          <a:xfrm>
            <a:off x="6587330" y="777875"/>
            <a:ext cx="166800" cy="173100"/>
          </a:xfrm>
          <a:prstGeom prst="straightConnector1">
            <a:avLst/>
          </a:prstGeom>
          <a:noFill/>
          <a:ln cap="flat" cmpd="sng" w="254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24" name="Google Shape;724;p37"/>
          <p:cNvCxnSpPr>
            <a:stCxn id="705" idx="2"/>
          </p:cNvCxnSpPr>
          <p:nvPr/>
        </p:nvCxnSpPr>
        <p:spPr>
          <a:xfrm flipH="1">
            <a:off x="7163482" y="777875"/>
            <a:ext cx="1081200" cy="192000"/>
          </a:xfrm>
          <a:prstGeom prst="straightConnector1">
            <a:avLst/>
          </a:prstGeom>
          <a:noFill/>
          <a:ln cap="flat" cmpd="sng" w="254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725" name="Google Shape;725;p37"/>
          <p:cNvGrpSpPr/>
          <p:nvPr/>
        </p:nvGrpSpPr>
        <p:grpSpPr>
          <a:xfrm>
            <a:off x="179388" y="1303338"/>
            <a:ext cx="1512887" cy="1319074"/>
            <a:chOff x="179388" y="1303338"/>
            <a:chExt cx="1512887" cy="1319074"/>
          </a:xfrm>
        </p:grpSpPr>
        <p:sp>
          <p:nvSpPr>
            <p:cNvPr id="726" name="Google Shape;726;p37"/>
            <p:cNvSpPr txBox="1"/>
            <p:nvPr/>
          </p:nvSpPr>
          <p:spPr>
            <a:xfrm>
              <a:off x="468313" y="1628775"/>
              <a:ext cx="792162" cy="6397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ru-RU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Имеет в составе стулья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" name="Google Shape;727;p37"/>
            <p:cNvSpPr/>
            <p:nvPr/>
          </p:nvSpPr>
          <p:spPr>
            <a:xfrm>
              <a:off x="179388" y="1484313"/>
              <a:ext cx="1296987" cy="863599"/>
            </a:xfrm>
            <a:prstGeom prst="diamond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28" name="Google Shape;728;p37"/>
            <p:cNvCxnSpPr/>
            <p:nvPr/>
          </p:nvCxnSpPr>
          <p:spPr>
            <a:xfrm flipH="1">
              <a:off x="801688" y="1303338"/>
              <a:ext cx="890587" cy="188912"/>
            </a:xfrm>
            <a:prstGeom prst="straightConnector1">
              <a:avLst/>
            </a:prstGeom>
            <a:noFill/>
            <a:ln cap="flat" cmpd="sng" w="222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29" name="Google Shape;729;p37"/>
            <p:cNvCxnSpPr>
              <a:stCxn id="727" idx="2"/>
              <a:endCxn id="700" idx="0"/>
            </p:cNvCxnSpPr>
            <p:nvPr/>
          </p:nvCxnSpPr>
          <p:spPr>
            <a:xfrm flipH="1">
              <a:off x="826982" y="2347912"/>
              <a:ext cx="900" cy="274500"/>
            </a:xfrm>
            <a:prstGeom prst="straightConnector1">
              <a:avLst/>
            </a:prstGeom>
            <a:noFill/>
            <a:ln cap="flat" cmpd="sng" w="22225">
              <a:solidFill>
                <a:schemeClr val="lt2"/>
              </a:solidFill>
              <a:prstDash val="solid"/>
              <a:round/>
              <a:headEnd len="sm" w="sm" type="none"/>
              <a:tailEnd len="med" w="med" type="stealth"/>
            </a:ln>
          </p:spPr>
        </p:cxnSp>
      </p:grpSp>
      <p:grpSp>
        <p:nvGrpSpPr>
          <p:cNvPr id="730" name="Google Shape;730;p37"/>
          <p:cNvGrpSpPr/>
          <p:nvPr/>
        </p:nvGrpSpPr>
        <p:grpSpPr>
          <a:xfrm>
            <a:off x="1619250" y="1303338"/>
            <a:ext cx="1296988" cy="1308100"/>
            <a:chOff x="1619250" y="1303338"/>
            <a:chExt cx="1296988" cy="1308100"/>
          </a:xfrm>
        </p:grpSpPr>
        <p:sp>
          <p:nvSpPr>
            <p:cNvPr id="731" name="Google Shape;731;p37"/>
            <p:cNvSpPr txBox="1"/>
            <p:nvPr/>
          </p:nvSpPr>
          <p:spPr>
            <a:xfrm>
              <a:off x="1908175" y="1628775"/>
              <a:ext cx="792163" cy="6397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ru-RU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Имеет в составе столы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2" name="Google Shape;732;p37"/>
            <p:cNvSpPr/>
            <p:nvPr/>
          </p:nvSpPr>
          <p:spPr>
            <a:xfrm>
              <a:off x="1619250" y="1484313"/>
              <a:ext cx="1296988" cy="863599"/>
            </a:xfrm>
            <a:prstGeom prst="diamond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33" name="Google Shape;733;p37"/>
            <p:cNvCxnSpPr>
              <a:stCxn id="696" idx="2"/>
              <a:endCxn id="732" idx="0"/>
            </p:cNvCxnSpPr>
            <p:nvPr/>
          </p:nvCxnSpPr>
          <p:spPr>
            <a:xfrm>
              <a:off x="2264501" y="1303338"/>
              <a:ext cx="3300" cy="180900"/>
            </a:xfrm>
            <a:prstGeom prst="straightConnector1">
              <a:avLst/>
            </a:prstGeom>
            <a:noFill/>
            <a:ln cap="flat" cmpd="sng" w="222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34" name="Google Shape;734;p37"/>
            <p:cNvCxnSpPr/>
            <p:nvPr/>
          </p:nvCxnSpPr>
          <p:spPr>
            <a:xfrm>
              <a:off x="2260600" y="2336800"/>
              <a:ext cx="0" cy="274638"/>
            </a:xfrm>
            <a:prstGeom prst="straightConnector1">
              <a:avLst/>
            </a:prstGeom>
            <a:noFill/>
            <a:ln cap="flat" cmpd="sng" w="22225">
              <a:solidFill>
                <a:schemeClr val="lt2"/>
              </a:solidFill>
              <a:prstDash val="solid"/>
              <a:round/>
              <a:headEnd len="sm" w="sm" type="none"/>
              <a:tailEnd len="med" w="med" type="stealth"/>
            </a:ln>
          </p:spPr>
        </p:cxnSp>
      </p:grpSp>
      <p:grpSp>
        <p:nvGrpSpPr>
          <p:cNvPr id="735" name="Google Shape;735;p37"/>
          <p:cNvGrpSpPr/>
          <p:nvPr/>
        </p:nvGrpSpPr>
        <p:grpSpPr>
          <a:xfrm>
            <a:off x="2844801" y="1303338"/>
            <a:ext cx="1439861" cy="1319212"/>
            <a:chOff x="2843965" y="1303338"/>
            <a:chExt cx="1440696" cy="1319212"/>
          </a:xfrm>
        </p:grpSpPr>
        <p:sp>
          <p:nvSpPr>
            <p:cNvPr id="736" name="Google Shape;736;p37"/>
            <p:cNvSpPr txBox="1"/>
            <p:nvPr/>
          </p:nvSpPr>
          <p:spPr>
            <a:xfrm>
              <a:off x="3276600" y="1615523"/>
              <a:ext cx="792163" cy="6397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ru-RU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Имеет в составе шкафы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7" name="Google Shape;737;p37"/>
            <p:cNvSpPr/>
            <p:nvPr/>
          </p:nvSpPr>
          <p:spPr>
            <a:xfrm>
              <a:off x="2987673" y="1457809"/>
              <a:ext cx="1296988" cy="863599"/>
            </a:xfrm>
            <a:prstGeom prst="diamond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38" name="Google Shape;738;p37"/>
            <p:cNvCxnSpPr/>
            <p:nvPr/>
          </p:nvCxnSpPr>
          <p:spPr>
            <a:xfrm>
              <a:off x="2843965" y="1303338"/>
              <a:ext cx="792623" cy="154471"/>
            </a:xfrm>
            <a:prstGeom prst="straightConnector1">
              <a:avLst/>
            </a:prstGeom>
            <a:noFill/>
            <a:ln cap="flat" cmpd="sng" w="222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39" name="Google Shape;739;p37"/>
            <p:cNvCxnSpPr/>
            <p:nvPr/>
          </p:nvCxnSpPr>
          <p:spPr>
            <a:xfrm>
              <a:off x="3663106" y="2347913"/>
              <a:ext cx="0" cy="274637"/>
            </a:xfrm>
            <a:prstGeom prst="straightConnector1">
              <a:avLst/>
            </a:prstGeom>
            <a:noFill/>
            <a:ln cap="flat" cmpd="sng" w="22225">
              <a:solidFill>
                <a:schemeClr val="lt2"/>
              </a:solidFill>
              <a:prstDash val="solid"/>
              <a:round/>
              <a:headEnd len="sm" w="sm" type="none"/>
              <a:tailEnd len="med" w="med" type="stealth"/>
            </a:ln>
          </p:spPr>
        </p:cxnSp>
      </p:grpSp>
      <p:grpSp>
        <p:nvGrpSpPr>
          <p:cNvPr id="740" name="Google Shape;740;p37"/>
          <p:cNvGrpSpPr/>
          <p:nvPr/>
        </p:nvGrpSpPr>
        <p:grpSpPr>
          <a:xfrm>
            <a:off x="4789488" y="1389062"/>
            <a:ext cx="1538286" cy="1306513"/>
            <a:chOff x="4789488" y="1389062"/>
            <a:chExt cx="1538286" cy="1306513"/>
          </a:xfrm>
        </p:grpSpPr>
        <p:sp>
          <p:nvSpPr>
            <p:cNvPr id="741" name="Google Shape;741;p37"/>
            <p:cNvSpPr txBox="1"/>
            <p:nvPr/>
          </p:nvSpPr>
          <p:spPr>
            <a:xfrm>
              <a:off x="4979988" y="1670050"/>
              <a:ext cx="792162" cy="6397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ru-RU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Имеет в составе стулья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2" name="Google Shape;742;p37"/>
            <p:cNvSpPr/>
            <p:nvPr/>
          </p:nvSpPr>
          <p:spPr>
            <a:xfrm>
              <a:off x="4789488" y="1557337"/>
              <a:ext cx="1295400" cy="863599"/>
            </a:xfrm>
            <a:prstGeom prst="diamond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43" name="Google Shape;743;p37"/>
            <p:cNvCxnSpPr/>
            <p:nvPr/>
          </p:nvCxnSpPr>
          <p:spPr>
            <a:xfrm>
              <a:off x="5437187" y="2420938"/>
              <a:ext cx="0" cy="274637"/>
            </a:xfrm>
            <a:prstGeom prst="straightConnector1">
              <a:avLst/>
            </a:prstGeom>
            <a:noFill/>
            <a:ln cap="flat" cmpd="sng" w="22225">
              <a:solidFill>
                <a:schemeClr val="lt2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744" name="Google Shape;744;p37"/>
            <p:cNvCxnSpPr/>
            <p:nvPr/>
          </p:nvCxnSpPr>
          <p:spPr>
            <a:xfrm flipH="1">
              <a:off x="5437187" y="1389062"/>
              <a:ext cx="890587" cy="190500"/>
            </a:xfrm>
            <a:prstGeom prst="straightConnector1">
              <a:avLst/>
            </a:prstGeom>
            <a:noFill/>
            <a:ln cap="flat" cmpd="sng" w="222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745" name="Google Shape;745;p37"/>
          <p:cNvGrpSpPr/>
          <p:nvPr/>
        </p:nvGrpSpPr>
        <p:grpSpPr>
          <a:xfrm>
            <a:off x="6264275" y="1376363"/>
            <a:ext cx="1296988" cy="1301750"/>
            <a:chOff x="6264275" y="1376363"/>
            <a:chExt cx="1296988" cy="1301750"/>
          </a:xfrm>
        </p:grpSpPr>
        <p:sp>
          <p:nvSpPr>
            <p:cNvPr id="746" name="Google Shape;746;p37"/>
            <p:cNvSpPr txBox="1"/>
            <p:nvPr/>
          </p:nvSpPr>
          <p:spPr>
            <a:xfrm>
              <a:off x="6489700" y="1674812"/>
              <a:ext cx="792163" cy="6397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ru-RU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Имеет в составе столы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7" name="Google Shape;747;p37"/>
            <p:cNvSpPr/>
            <p:nvPr/>
          </p:nvSpPr>
          <p:spPr>
            <a:xfrm>
              <a:off x="6264275" y="1557337"/>
              <a:ext cx="1296988" cy="863599"/>
            </a:xfrm>
            <a:prstGeom prst="diamond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48" name="Google Shape;748;p37"/>
            <p:cNvCxnSpPr/>
            <p:nvPr/>
          </p:nvCxnSpPr>
          <p:spPr>
            <a:xfrm>
              <a:off x="6913563" y="2403475"/>
              <a:ext cx="0" cy="274638"/>
            </a:xfrm>
            <a:prstGeom prst="straightConnector1">
              <a:avLst/>
            </a:prstGeom>
            <a:noFill/>
            <a:ln cap="flat" cmpd="sng" w="22225">
              <a:solidFill>
                <a:schemeClr val="lt2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749" name="Google Shape;749;p37"/>
            <p:cNvCxnSpPr>
              <a:stCxn id="697" idx="2"/>
            </p:cNvCxnSpPr>
            <p:nvPr/>
          </p:nvCxnSpPr>
          <p:spPr>
            <a:xfrm>
              <a:off x="6912769" y="1376363"/>
              <a:ext cx="8100" cy="180900"/>
            </a:xfrm>
            <a:prstGeom prst="straightConnector1">
              <a:avLst/>
            </a:prstGeom>
            <a:noFill/>
            <a:ln cap="flat" cmpd="sng" w="222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750" name="Google Shape;750;p37"/>
          <p:cNvGrpSpPr/>
          <p:nvPr/>
        </p:nvGrpSpPr>
        <p:grpSpPr>
          <a:xfrm>
            <a:off x="7544519" y="1376437"/>
            <a:ext cx="1420094" cy="1279451"/>
            <a:chOff x="7544519" y="1376437"/>
            <a:chExt cx="1420094" cy="1279451"/>
          </a:xfrm>
        </p:grpSpPr>
        <p:sp>
          <p:nvSpPr>
            <p:cNvPr id="751" name="Google Shape;751;p37"/>
            <p:cNvSpPr txBox="1"/>
            <p:nvPr/>
          </p:nvSpPr>
          <p:spPr>
            <a:xfrm>
              <a:off x="7885113" y="1700212"/>
              <a:ext cx="792162" cy="6397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ru-RU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Имеет в составе полки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2" name="Google Shape;752;p37"/>
            <p:cNvSpPr/>
            <p:nvPr/>
          </p:nvSpPr>
          <p:spPr>
            <a:xfrm>
              <a:off x="7667625" y="1557337"/>
              <a:ext cx="1296988" cy="846137"/>
            </a:xfrm>
            <a:prstGeom prst="diamond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53" name="Google Shape;753;p37"/>
            <p:cNvCxnSpPr/>
            <p:nvPr/>
          </p:nvCxnSpPr>
          <p:spPr>
            <a:xfrm>
              <a:off x="8312150" y="2381250"/>
              <a:ext cx="0" cy="274638"/>
            </a:xfrm>
            <a:prstGeom prst="straightConnector1">
              <a:avLst/>
            </a:prstGeom>
            <a:noFill/>
            <a:ln cap="flat" cmpd="sng" w="22225">
              <a:solidFill>
                <a:schemeClr val="lt2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754" name="Google Shape;754;p37"/>
            <p:cNvCxnSpPr>
              <a:endCxn id="752" idx="0"/>
            </p:cNvCxnSpPr>
            <p:nvPr/>
          </p:nvCxnSpPr>
          <p:spPr>
            <a:xfrm>
              <a:off x="7544519" y="1376437"/>
              <a:ext cx="771600" cy="180900"/>
            </a:xfrm>
            <a:prstGeom prst="straightConnector1">
              <a:avLst/>
            </a:prstGeom>
            <a:noFill/>
            <a:ln cap="flat" cmpd="sng" w="222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755" name="Google Shape;755;p37"/>
          <p:cNvGrpSpPr/>
          <p:nvPr/>
        </p:nvGrpSpPr>
        <p:grpSpPr>
          <a:xfrm>
            <a:off x="2124075" y="3933824"/>
            <a:ext cx="6624638" cy="671538"/>
            <a:chOff x="2124075" y="3933824"/>
            <a:chExt cx="6624638" cy="671538"/>
          </a:xfrm>
        </p:grpSpPr>
        <p:sp>
          <p:nvSpPr>
            <p:cNvPr id="756" name="Google Shape;756;p37"/>
            <p:cNvSpPr/>
            <p:nvPr/>
          </p:nvSpPr>
          <p:spPr>
            <a:xfrm>
              <a:off x="7308850" y="4005263"/>
              <a:ext cx="1368425" cy="431799"/>
            </a:xfrm>
            <a:prstGeom prst="roundRect">
              <a:avLst>
                <a:gd fmla="val 16667" name="adj"/>
              </a:avLst>
            </a:prstGeom>
            <a:noFill/>
            <a:ln cap="flat" cmpd="sng" w="19050">
              <a:solidFill>
                <a:srgbClr val="8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57" name="Google Shape;757;p37"/>
            <p:cNvGrpSpPr/>
            <p:nvPr/>
          </p:nvGrpSpPr>
          <p:grpSpPr>
            <a:xfrm>
              <a:off x="2124075" y="3933824"/>
              <a:ext cx="6624638" cy="671538"/>
              <a:chOff x="2124075" y="3933824"/>
              <a:chExt cx="6624638" cy="671538"/>
            </a:xfrm>
          </p:grpSpPr>
          <p:grpSp>
            <p:nvGrpSpPr>
              <p:cNvPr id="758" name="Google Shape;758;p37"/>
              <p:cNvGrpSpPr/>
              <p:nvPr/>
            </p:nvGrpSpPr>
            <p:grpSpPr>
              <a:xfrm>
                <a:off x="2124075" y="3933824"/>
                <a:ext cx="6624638" cy="517525"/>
                <a:chOff x="2124075" y="3933824"/>
                <a:chExt cx="6624638" cy="517525"/>
              </a:xfrm>
            </p:grpSpPr>
            <p:sp>
              <p:nvSpPr>
                <p:cNvPr id="759" name="Google Shape;759;p37"/>
                <p:cNvSpPr/>
                <p:nvPr/>
              </p:nvSpPr>
              <p:spPr>
                <a:xfrm>
                  <a:off x="3276600" y="4005263"/>
                  <a:ext cx="649288" cy="360362"/>
                </a:xfrm>
                <a:prstGeom prst="roundRect">
                  <a:avLst>
                    <a:gd fmla="val 16667" name="adj"/>
                  </a:avLst>
                </a:prstGeom>
                <a:noFill/>
                <a:ln cap="flat" cmpd="sng" w="19050">
                  <a:solidFill>
                    <a:srgbClr val="8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60" name="Google Shape;760;p37"/>
                <p:cNvSpPr/>
                <p:nvPr/>
              </p:nvSpPr>
              <p:spPr>
                <a:xfrm>
                  <a:off x="5724524" y="4005263"/>
                  <a:ext cx="1368425" cy="431799"/>
                </a:xfrm>
                <a:prstGeom prst="roundRect">
                  <a:avLst>
                    <a:gd fmla="val 16667" name="adj"/>
                  </a:avLst>
                </a:prstGeom>
                <a:noFill/>
                <a:ln cap="flat" cmpd="sng" w="19050">
                  <a:solidFill>
                    <a:srgbClr val="8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61" name="Google Shape;761;p37"/>
                <p:cNvSpPr txBox="1"/>
                <p:nvPr/>
              </p:nvSpPr>
              <p:spPr>
                <a:xfrm>
                  <a:off x="2124075" y="4076699"/>
                  <a:ext cx="863599" cy="304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ru-RU" sz="1400" u="sng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индекс</a:t>
                  </a:r>
                  <a:endParaRPr b="0" i="0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62" name="Google Shape;762;p37"/>
                <p:cNvSpPr txBox="1"/>
                <p:nvPr/>
              </p:nvSpPr>
              <p:spPr>
                <a:xfrm>
                  <a:off x="4454055" y="4067274"/>
                  <a:ext cx="972343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ru-RU" sz="1400" u="sng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название</a:t>
                  </a:r>
                  <a:endParaRPr b="0" i="0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763" name="Google Shape;763;p37"/>
                <p:cNvGrpSpPr/>
                <p:nvPr/>
              </p:nvGrpSpPr>
              <p:grpSpPr>
                <a:xfrm>
                  <a:off x="2195513" y="3933824"/>
                  <a:ext cx="6553200" cy="517525"/>
                  <a:chOff x="2195513" y="3933824"/>
                  <a:chExt cx="6553200" cy="517525"/>
                </a:xfrm>
              </p:grpSpPr>
              <p:sp>
                <p:nvSpPr>
                  <p:cNvPr id="764" name="Google Shape;764;p37"/>
                  <p:cNvSpPr/>
                  <p:nvPr/>
                </p:nvSpPr>
                <p:spPr>
                  <a:xfrm>
                    <a:off x="2195513" y="4005263"/>
                    <a:ext cx="649287" cy="360362"/>
                  </a:xfrm>
                  <a:prstGeom prst="roundRect">
                    <a:avLst>
                      <a:gd fmla="val 16667" name="adj"/>
                    </a:avLst>
                  </a:prstGeom>
                  <a:noFill/>
                  <a:ln cap="flat" cmpd="sng" w="19050">
                    <a:solidFill>
                      <a:srgbClr val="8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65" name="Google Shape;765;p37"/>
                  <p:cNvSpPr/>
                  <p:nvPr/>
                </p:nvSpPr>
                <p:spPr>
                  <a:xfrm>
                    <a:off x="4439314" y="3969543"/>
                    <a:ext cx="936625" cy="467519"/>
                  </a:xfrm>
                  <a:prstGeom prst="roundRect">
                    <a:avLst>
                      <a:gd fmla="val 16667" name="adj"/>
                    </a:avLst>
                  </a:prstGeom>
                  <a:noFill/>
                  <a:ln cap="flat" cmpd="sng" w="19050">
                    <a:solidFill>
                      <a:srgbClr val="8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66" name="Google Shape;766;p37"/>
                  <p:cNvSpPr txBox="1"/>
                  <p:nvPr/>
                </p:nvSpPr>
                <p:spPr>
                  <a:xfrm>
                    <a:off x="3276600" y="4005263"/>
                    <a:ext cx="719138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0" i="0" lang="ru-RU"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цена</a:t>
                    </a:r>
                    <a:endParaRPr b="0" i="0" sz="18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67" name="Google Shape;767;p37"/>
                  <p:cNvSpPr txBox="1"/>
                  <p:nvPr/>
                </p:nvSpPr>
                <p:spPr>
                  <a:xfrm>
                    <a:off x="5724524" y="3933824"/>
                    <a:ext cx="1439863" cy="51752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0" i="0" lang="ru-RU"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дата изготовления</a:t>
                    </a:r>
                    <a:endParaRPr b="0" i="0" sz="18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68" name="Google Shape;768;p37"/>
                  <p:cNvSpPr txBox="1"/>
                  <p:nvPr/>
                </p:nvSpPr>
                <p:spPr>
                  <a:xfrm>
                    <a:off x="7308850" y="3933824"/>
                    <a:ext cx="1439863" cy="51752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0" i="0" lang="ru-RU"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гарантийный срок</a:t>
                    </a:r>
                    <a:endParaRPr b="0" i="0" sz="18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cxnSp>
            <p:nvCxnSpPr>
              <p:cNvPr id="769" name="Google Shape;769;p37"/>
              <p:cNvCxnSpPr>
                <a:stCxn id="761" idx="2"/>
              </p:cNvCxnSpPr>
              <p:nvPr/>
            </p:nvCxnSpPr>
            <p:spPr>
              <a:xfrm>
                <a:off x="2555874" y="4381499"/>
                <a:ext cx="1731900" cy="212700"/>
              </a:xfrm>
              <a:prstGeom prst="straightConnector1">
                <a:avLst/>
              </a:prstGeom>
              <a:noFill/>
              <a:ln cap="flat" cmpd="sng" w="25400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70" name="Google Shape;770;p37"/>
              <p:cNvCxnSpPr>
                <a:stCxn id="759" idx="2"/>
              </p:cNvCxnSpPr>
              <p:nvPr/>
            </p:nvCxnSpPr>
            <p:spPr>
              <a:xfrm>
                <a:off x="3601244" y="4365625"/>
                <a:ext cx="876300" cy="193800"/>
              </a:xfrm>
              <a:prstGeom prst="straightConnector1">
                <a:avLst/>
              </a:prstGeom>
              <a:noFill/>
              <a:ln cap="flat" cmpd="sng" w="25400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71" name="Google Shape;771;p37"/>
              <p:cNvCxnSpPr>
                <a:stCxn id="765" idx="2"/>
                <a:endCxn id="718" idx="0"/>
              </p:cNvCxnSpPr>
              <p:nvPr/>
            </p:nvCxnSpPr>
            <p:spPr>
              <a:xfrm flipH="1">
                <a:off x="4896527" y="4437062"/>
                <a:ext cx="11100" cy="144600"/>
              </a:xfrm>
              <a:prstGeom prst="straightConnector1">
                <a:avLst/>
              </a:prstGeom>
              <a:noFill/>
              <a:ln cap="flat" cmpd="sng" w="25400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72" name="Google Shape;772;p37"/>
              <p:cNvCxnSpPr>
                <a:stCxn id="756" idx="2"/>
              </p:cNvCxnSpPr>
              <p:nvPr/>
            </p:nvCxnSpPr>
            <p:spPr>
              <a:xfrm flipH="1">
                <a:off x="5503963" y="4437062"/>
                <a:ext cx="2489100" cy="168300"/>
              </a:xfrm>
              <a:prstGeom prst="straightConnector1">
                <a:avLst/>
              </a:prstGeom>
              <a:noFill/>
              <a:ln cap="flat" cmpd="sng" w="25400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73" name="Google Shape;773;p37"/>
              <p:cNvCxnSpPr>
                <a:stCxn id="767" idx="2"/>
              </p:cNvCxnSpPr>
              <p:nvPr/>
            </p:nvCxnSpPr>
            <p:spPr>
              <a:xfrm flipH="1">
                <a:off x="5199756" y="4451349"/>
                <a:ext cx="1244700" cy="103200"/>
              </a:xfrm>
              <a:prstGeom prst="straightConnector1">
                <a:avLst/>
              </a:prstGeom>
              <a:noFill/>
              <a:ln cap="flat" cmpd="sng" w="25400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sp>
        <p:nvSpPr>
          <p:cNvPr id="774" name="Google Shape;774;p37"/>
          <p:cNvSpPr txBox="1"/>
          <p:nvPr/>
        </p:nvSpPr>
        <p:spPr>
          <a:xfrm>
            <a:off x="87313" y="3298825"/>
            <a:ext cx="531812" cy="184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12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индекс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5" name="Google Shape;775;p37"/>
          <p:cNvSpPr txBox="1"/>
          <p:nvPr/>
        </p:nvSpPr>
        <p:spPr>
          <a:xfrm>
            <a:off x="817563" y="3300413"/>
            <a:ext cx="503237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цена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6" name="Google Shape;776;p37"/>
          <p:cNvSpPr txBox="1"/>
          <p:nvPr/>
        </p:nvSpPr>
        <p:spPr>
          <a:xfrm>
            <a:off x="1657350" y="3300413"/>
            <a:ext cx="573088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12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индекс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7" name="Google Shape;777;p37"/>
          <p:cNvSpPr txBox="1"/>
          <p:nvPr/>
        </p:nvSpPr>
        <p:spPr>
          <a:xfrm>
            <a:off x="3173413" y="3300413"/>
            <a:ext cx="57467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12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индекс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8" name="Google Shape;778;p37"/>
          <p:cNvSpPr txBox="1"/>
          <p:nvPr/>
        </p:nvSpPr>
        <p:spPr>
          <a:xfrm>
            <a:off x="2413000" y="3298825"/>
            <a:ext cx="503238" cy="184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цена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9" name="Google Shape;779;p37"/>
          <p:cNvSpPr txBox="1"/>
          <p:nvPr/>
        </p:nvSpPr>
        <p:spPr>
          <a:xfrm>
            <a:off x="3984625" y="3298825"/>
            <a:ext cx="503238" cy="184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цена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80" name="Google Shape;780;p37"/>
          <p:cNvCxnSpPr>
            <a:stCxn id="700" idx="2"/>
            <a:endCxn id="712" idx="0"/>
          </p:cNvCxnSpPr>
          <p:nvPr/>
        </p:nvCxnSpPr>
        <p:spPr>
          <a:xfrm>
            <a:off x="827088" y="2955925"/>
            <a:ext cx="253200" cy="257100"/>
          </a:xfrm>
          <a:prstGeom prst="straightConnector1">
            <a:avLst/>
          </a:prstGeom>
          <a:noFill/>
          <a:ln cap="flat" cmpd="sng" w="254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1" name="Google Shape;781;p37"/>
          <p:cNvCxnSpPr>
            <a:endCxn id="714" idx="0"/>
          </p:cNvCxnSpPr>
          <p:nvPr/>
        </p:nvCxnSpPr>
        <p:spPr>
          <a:xfrm>
            <a:off x="2382019" y="2968600"/>
            <a:ext cx="282600" cy="244500"/>
          </a:xfrm>
          <a:prstGeom prst="straightConnector1">
            <a:avLst/>
          </a:prstGeom>
          <a:noFill/>
          <a:ln cap="flat" cmpd="sng" w="254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2" name="Google Shape;782;p37"/>
          <p:cNvCxnSpPr>
            <a:endCxn id="716" idx="0"/>
          </p:cNvCxnSpPr>
          <p:nvPr/>
        </p:nvCxnSpPr>
        <p:spPr>
          <a:xfrm>
            <a:off x="3861644" y="2981200"/>
            <a:ext cx="387300" cy="231900"/>
          </a:xfrm>
          <a:prstGeom prst="straightConnector1">
            <a:avLst/>
          </a:prstGeom>
          <a:noFill/>
          <a:ln cap="flat" cmpd="sng" w="254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3" name="Google Shape;783;p37"/>
          <p:cNvCxnSpPr>
            <a:endCxn id="709" idx="0"/>
          </p:cNvCxnSpPr>
          <p:nvPr/>
        </p:nvCxnSpPr>
        <p:spPr>
          <a:xfrm flipH="1">
            <a:off x="324644" y="2956000"/>
            <a:ext cx="358800" cy="257100"/>
          </a:xfrm>
          <a:prstGeom prst="straightConnector1">
            <a:avLst/>
          </a:prstGeom>
          <a:noFill/>
          <a:ln cap="flat" cmpd="sng" w="254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4" name="Google Shape;784;p37"/>
          <p:cNvCxnSpPr/>
          <p:nvPr/>
        </p:nvCxnSpPr>
        <p:spPr>
          <a:xfrm flipH="1">
            <a:off x="1792288" y="2962275"/>
            <a:ext cx="360362" cy="257175"/>
          </a:xfrm>
          <a:prstGeom prst="straightConnector1">
            <a:avLst/>
          </a:prstGeom>
          <a:noFill/>
          <a:ln cap="flat" cmpd="sng" w="254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5" name="Google Shape;785;p37"/>
          <p:cNvCxnSpPr/>
          <p:nvPr/>
        </p:nvCxnSpPr>
        <p:spPr>
          <a:xfrm flipH="1">
            <a:off x="3313113" y="2968625"/>
            <a:ext cx="358775" cy="250825"/>
          </a:xfrm>
          <a:prstGeom prst="straightConnector1">
            <a:avLst/>
          </a:prstGeom>
          <a:noFill/>
          <a:ln cap="flat" cmpd="sng" w="254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786" name="Google Shape;786;p37"/>
          <p:cNvGrpSpPr/>
          <p:nvPr/>
        </p:nvGrpSpPr>
        <p:grpSpPr>
          <a:xfrm>
            <a:off x="4787900" y="2678113"/>
            <a:ext cx="1370013" cy="895350"/>
            <a:chOff x="4787900" y="2678113"/>
            <a:chExt cx="1370013" cy="895350"/>
          </a:xfrm>
        </p:grpSpPr>
        <p:sp>
          <p:nvSpPr>
            <p:cNvPr id="787" name="Google Shape;787;p37"/>
            <p:cNvSpPr txBox="1"/>
            <p:nvPr/>
          </p:nvSpPr>
          <p:spPr>
            <a:xfrm>
              <a:off x="5113338" y="2678113"/>
              <a:ext cx="647700" cy="333375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ru-RU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стул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8" name="Google Shape;788;p37"/>
            <p:cNvSpPr/>
            <p:nvPr/>
          </p:nvSpPr>
          <p:spPr>
            <a:xfrm>
              <a:off x="4787900" y="3213100"/>
              <a:ext cx="649288" cy="360363"/>
            </a:xfrm>
            <a:prstGeom prst="roundRect">
              <a:avLst>
                <a:gd fmla="val 16667" name="adj"/>
              </a:avLst>
            </a:prstGeom>
            <a:noFill/>
            <a:ln cap="flat" cmpd="sng" w="19050">
              <a:solidFill>
                <a:srgbClr val="8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9" name="Google Shape;789;p37"/>
            <p:cNvSpPr/>
            <p:nvPr/>
          </p:nvSpPr>
          <p:spPr>
            <a:xfrm>
              <a:off x="5508625" y="3213100"/>
              <a:ext cx="649288" cy="360363"/>
            </a:xfrm>
            <a:prstGeom prst="roundRect">
              <a:avLst>
                <a:gd fmla="val 16667" name="adj"/>
              </a:avLst>
            </a:prstGeom>
            <a:noFill/>
            <a:ln cap="flat" cmpd="sng" w="19050">
              <a:solidFill>
                <a:srgbClr val="8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90" name="Google Shape;790;p37"/>
            <p:cNvCxnSpPr>
              <a:endCxn id="788" idx="0"/>
            </p:cNvCxnSpPr>
            <p:nvPr/>
          </p:nvCxnSpPr>
          <p:spPr>
            <a:xfrm flipH="1">
              <a:off x="5112544" y="3024100"/>
              <a:ext cx="322200" cy="189000"/>
            </a:xfrm>
            <a:prstGeom prst="straightConnector1">
              <a:avLst/>
            </a:prstGeom>
            <a:noFill/>
            <a:ln cap="flat" cmpd="sng" w="2540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91" name="Google Shape;791;p37"/>
            <p:cNvCxnSpPr>
              <a:endCxn id="789" idx="0"/>
            </p:cNvCxnSpPr>
            <p:nvPr/>
          </p:nvCxnSpPr>
          <p:spPr>
            <a:xfrm>
              <a:off x="5566569" y="3011500"/>
              <a:ext cx="266700" cy="201600"/>
            </a:xfrm>
            <a:prstGeom prst="straightConnector1">
              <a:avLst/>
            </a:prstGeom>
            <a:noFill/>
            <a:ln cap="flat" cmpd="sng" w="2540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92" name="Google Shape;792;p37"/>
            <p:cNvSpPr txBox="1"/>
            <p:nvPr/>
          </p:nvSpPr>
          <p:spPr>
            <a:xfrm>
              <a:off x="4829175" y="3300413"/>
              <a:ext cx="574675" cy="1857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ru-RU" sz="1200" u="sng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индекс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3" name="Google Shape;793;p37"/>
            <p:cNvSpPr txBox="1"/>
            <p:nvPr/>
          </p:nvSpPr>
          <p:spPr>
            <a:xfrm>
              <a:off x="5589588" y="3311524"/>
              <a:ext cx="503237" cy="1841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ru-RU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кол.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94" name="Google Shape;794;p37"/>
          <p:cNvGrpSpPr/>
          <p:nvPr/>
        </p:nvGrpSpPr>
        <p:grpSpPr>
          <a:xfrm>
            <a:off x="6227763" y="2655888"/>
            <a:ext cx="1370012" cy="917575"/>
            <a:chOff x="6227763" y="2655888"/>
            <a:chExt cx="1370012" cy="917575"/>
          </a:xfrm>
        </p:grpSpPr>
        <p:sp>
          <p:nvSpPr>
            <p:cNvPr id="795" name="Google Shape;795;p37"/>
            <p:cNvSpPr txBox="1"/>
            <p:nvPr/>
          </p:nvSpPr>
          <p:spPr>
            <a:xfrm>
              <a:off x="6589713" y="2655888"/>
              <a:ext cx="647700" cy="333375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ru-RU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стол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6" name="Google Shape;796;p37"/>
            <p:cNvSpPr/>
            <p:nvPr/>
          </p:nvSpPr>
          <p:spPr>
            <a:xfrm>
              <a:off x="6227763" y="3213100"/>
              <a:ext cx="649287" cy="360363"/>
            </a:xfrm>
            <a:prstGeom prst="roundRect">
              <a:avLst>
                <a:gd fmla="val 16667" name="adj"/>
              </a:avLst>
            </a:prstGeom>
            <a:noFill/>
            <a:ln cap="flat" cmpd="sng" w="19050">
              <a:solidFill>
                <a:srgbClr val="8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7" name="Google Shape;797;p37"/>
            <p:cNvSpPr/>
            <p:nvPr/>
          </p:nvSpPr>
          <p:spPr>
            <a:xfrm>
              <a:off x="6948488" y="3213100"/>
              <a:ext cx="649287" cy="360363"/>
            </a:xfrm>
            <a:prstGeom prst="roundRect">
              <a:avLst>
                <a:gd fmla="val 16667" name="adj"/>
              </a:avLst>
            </a:prstGeom>
            <a:noFill/>
            <a:ln cap="flat" cmpd="sng" w="19050">
              <a:solidFill>
                <a:srgbClr val="8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98" name="Google Shape;798;p37"/>
            <p:cNvCxnSpPr/>
            <p:nvPr/>
          </p:nvCxnSpPr>
          <p:spPr>
            <a:xfrm flipH="1">
              <a:off x="6581774" y="2989263"/>
              <a:ext cx="322263" cy="188912"/>
            </a:xfrm>
            <a:prstGeom prst="straightConnector1">
              <a:avLst/>
            </a:prstGeom>
            <a:noFill/>
            <a:ln cap="flat" cmpd="sng" w="2540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99" name="Google Shape;799;p37"/>
            <p:cNvCxnSpPr/>
            <p:nvPr/>
          </p:nvCxnSpPr>
          <p:spPr>
            <a:xfrm>
              <a:off x="7007225" y="2989263"/>
              <a:ext cx="265113" cy="201612"/>
            </a:xfrm>
            <a:prstGeom prst="straightConnector1">
              <a:avLst/>
            </a:prstGeom>
            <a:noFill/>
            <a:ln cap="flat" cmpd="sng" w="2540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00" name="Google Shape;800;p37"/>
            <p:cNvSpPr txBox="1"/>
            <p:nvPr/>
          </p:nvSpPr>
          <p:spPr>
            <a:xfrm>
              <a:off x="6294437" y="3302000"/>
              <a:ext cx="574675" cy="1841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ru-RU" sz="1200" u="sng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индекс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1" name="Google Shape;801;p37"/>
            <p:cNvSpPr txBox="1"/>
            <p:nvPr/>
          </p:nvSpPr>
          <p:spPr>
            <a:xfrm>
              <a:off x="7007225" y="3313113"/>
              <a:ext cx="503238" cy="1857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ru-RU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кол.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02" name="Google Shape;802;p37"/>
          <p:cNvGrpSpPr/>
          <p:nvPr/>
        </p:nvGrpSpPr>
        <p:grpSpPr>
          <a:xfrm>
            <a:off x="7704138" y="2646363"/>
            <a:ext cx="1439862" cy="927100"/>
            <a:chOff x="7704138" y="2646363"/>
            <a:chExt cx="1439862" cy="927100"/>
          </a:xfrm>
        </p:grpSpPr>
        <p:sp>
          <p:nvSpPr>
            <p:cNvPr id="803" name="Google Shape;803;p37"/>
            <p:cNvSpPr txBox="1"/>
            <p:nvPr/>
          </p:nvSpPr>
          <p:spPr>
            <a:xfrm>
              <a:off x="7931150" y="2646363"/>
              <a:ext cx="720724" cy="333375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ru-RU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полка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4" name="Google Shape;804;p37"/>
            <p:cNvSpPr/>
            <p:nvPr/>
          </p:nvSpPr>
          <p:spPr>
            <a:xfrm>
              <a:off x="7704138" y="3213100"/>
              <a:ext cx="649287" cy="360363"/>
            </a:xfrm>
            <a:prstGeom prst="roundRect">
              <a:avLst>
                <a:gd fmla="val 16667" name="adj"/>
              </a:avLst>
            </a:prstGeom>
            <a:noFill/>
            <a:ln cap="flat" cmpd="sng" w="19050">
              <a:solidFill>
                <a:srgbClr val="8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5" name="Google Shape;805;p37"/>
            <p:cNvSpPr/>
            <p:nvPr/>
          </p:nvSpPr>
          <p:spPr>
            <a:xfrm>
              <a:off x="8494713" y="3213100"/>
              <a:ext cx="649287" cy="360363"/>
            </a:xfrm>
            <a:prstGeom prst="roundRect">
              <a:avLst>
                <a:gd fmla="val 16667" name="adj"/>
              </a:avLst>
            </a:prstGeom>
            <a:noFill/>
            <a:ln cap="flat" cmpd="sng" w="19050">
              <a:solidFill>
                <a:srgbClr val="8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06" name="Google Shape;806;p37"/>
            <p:cNvCxnSpPr/>
            <p:nvPr/>
          </p:nvCxnSpPr>
          <p:spPr>
            <a:xfrm>
              <a:off x="8435975" y="2990850"/>
              <a:ext cx="266700" cy="201613"/>
            </a:xfrm>
            <a:prstGeom prst="straightConnector1">
              <a:avLst/>
            </a:prstGeom>
            <a:noFill/>
            <a:ln cap="flat" cmpd="sng" w="2540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07" name="Google Shape;807;p37"/>
            <p:cNvCxnSpPr/>
            <p:nvPr/>
          </p:nvCxnSpPr>
          <p:spPr>
            <a:xfrm flipH="1">
              <a:off x="7929563" y="2990850"/>
              <a:ext cx="322262" cy="188913"/>
            </a:xfrm>
            <a:prstGeom prst="straightConnector1">
              <a:avLst/>
            </a:prstGeom>
            <a:noFill/>
            <a:ln cap="flat" cmpd="sng" w="2540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08" name="Google Shape;808;p37"/>
            <p:cNvSpPr txBox="1"/>
            <p:nvPr/>
          </p:nvSpPr>
          <p:spPr>
            <a:xfrm>
              <a:off x="7742238" y="3302000"/>
              <a:ext cx="573087" cy="1841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ru-RU" sz="1200" u="sng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индекс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9" name="Google Shape;809;p37"/>
            <p:cNvSpPr txBox="1"/>
            <p:nvPr/>
          </p:nvSpPr>
          <p:spPr>
            <a:xfrm>
              <a:off x="8569325" y="3322638"/>
              <a:ext cx="501650" cy="1841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ru-RU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кол.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10" name="Google Shape;810;p37"/>
          <p:cNvGrpSpPr/>
          <p:nvPr/>
        </p:nvGrpSpPr>
        <p:grpSpPr>
          <a:xfrm>
            <a:off x="214313" y="4976813"/>
            <a:ext cx="4035425" cy="1852612"/>
            <a:chOff x="214313" y="4976813"/>
            <a:chExt cx="4035425" cy="1852612"/>
          </a:xfrm>
        </p:grpSpPr>
        <p:sp>
          <p:nvSpPr>
            <p:cNvPr id="811" name="Google Shape;811;p37"/>
            <p:cNvSpPr/>
            <p:nvPr/>
          </p:nvSpPr>
          <p:spPr>
            <a:xfrm>
              <a:off x="753269" y="5087938"/>
              <a:ext cx="1296988" cy="782637"/>
            </a:xfrm>
            <a:prstGeom prst="diamond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2" name="Google Shape;812;p37"/>
            <p:cNvSpPr txBox="1"/>
            <p:nvPr/>
          </p:nvSpPr>
          <p:spPr>
            <a:xfrm>
              <a:off x="1077913" y="6067425"/>
              <a:ext cx="647700" cy="333375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ru-RU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стул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3" name="Google Shape;813;p37"/>
            <p:cNvSpPr/>
            <p:nvPr/>
          </p:nvSpPr>
          <p:spPr>
            <a:xfrm>
              <a:off x="214313" y="6438899"/>
              <a:ext cx="650875" cy="360363"/>
            </a:xfrm>
            <a:prstGeom prst="roundRect">
              <a:avLst>
                <a:gd fmla="val 16667" name="adj"/>
              </a:avLst>
            </a:prstGeom>
            <a:noFill/>
            <a:ln cap="flat" cmpd="sng" w="19050">
              <a:solidFill>
                <a:srgbClr val="8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4" name="Google Shape;814;p37"/>
            <p:cNvSpPr/>
            <p:nvPr/>
          </p:nvSpPr>
          <p:spPr>
            <a:xfrm>
              <a:off x="1022350" y="6469063"/>
              <a:ext cx="596900" cy="360362"/>
            </a:xfrm>
            <a:prstGeom prst="roundRect">
              <a:avLst>
                <a:gd fmla="val 16667" name="adj"/>
              </a:avLst>
            </a:prstGeom>
            <a:noFill/>
            <a:ln cap="flat" cmpd="sng" w="19050">
              <a:solidFill>
                <a:srgbClr val="8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5" name="Google Shape;815;p37"/>
            <p:cNvSpPr/>
            <p:nvPr/>
          </p:nvSpPr>
          <p:spPr>
            <a:xfrm>
              <a:off x="1792288" y="6467475"/>
              <a:ext cx="542925" cy="360363"/>
            </a:xfrm>
            <a:prstGeom prst="roundRect">
              <a:avLst>
                <a:gd fmla="val 16667" name="adj"/>
              </a:avLst>
            </a:prstGeom>
            <a:noFill/>
            <a:ln cap="flat" cmpd="sng" w="19050">
              <a:solidFill>
                <a:srgbClr val="8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6" name="Google Shape;816;p37"/>
            <p:cNvSpPr txBox="1"/>
            <p:nvPr/>
          </p:nvSpPr>
          <p:spPr>
            <a:xfrm>
              <a:off x="1082675" y="5159375"/>
              <a:ext cx="792163" cy="6397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ru-RU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Имеет в составе стулья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7" name="Google Shape;817;p37"/>
            <p:cNvSpPr txBox="1"/>
            <p:nvPr/>
          </p:nvSpPr>
          <p:spPr>
            <a:xfrm>
              <a:off x="295274" y="6526213"/>
              <a:ext cx="533400" cy="1857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ru-RU" sz="1200" u="sng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индекс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8" name="Google Shape;818;p37"/>
            <p:cNvSpPr txBox="1"/>
            <p:nvPr/>
          </p:nvSpPr>
          <p:spPr>
            <a:xfrm>
              <a:off x="1068388" y="6554788"/>
              <a:ext cx="503237" cy="1857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ru-RU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цена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9" name="Google Shape;819;p37"/>
            <p:cNvSpPr txBox="1"/>
            <p:nvPr/>
          </p:nvSpPr>
          <p:spPr>
            <a:xfrm>
              <a:off x="1801813" y="6540500"/>
              <a:ext cx="503237" cy="1841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ru-RU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кол.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20" name="Google Shape;820;p37"/>
            <p:cNvCxnSpPr/>
            <p:nvPr/>
          </p:nvCxnSpPr>
          <p:spPr>
            <a:xfrm flipH="1">
              <a:off x="1438275" y="4976813"/>
              <a:ext cx="2811463" cy="111125"/>
            </a:xfrm>
            <a:prstGeom prst="straightConnector1">
              <a:avLst/>
            </a:prstGeom>
            <a:noFill/>
            <a:ln cap="flat" cmpd="sng" w="222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21" name="Google Shape;821;p37"/>
            <p:cNvCxnSpPr>
              <a:stCxn id="811" idx="2"/>
              <a:endCxn id="812" idx="0"/>
            </p:cNvCxnSpPr>
            <p:nvPr/>
          </p:nvCxnSpPr>
          <p:spPr>
            <a:xfrm>
              <a:off x="1401763" y="5870575"/>
              <a:ext cx="0" cy="196800"/>
            </a:xfrm>
            <a:prstGeom prst="straightConnector1">
              <a:avLst/>
            </a:prstGeom>
            <a:noFill/>
            <a:ln cap="flat" cmpd="sng" w="22225">
              <a:solidFill>
                <a:schemeClr val="lt2"/>
              </a:solidFill>
              <a:prstDash val="solid"/>
              <a:round/>
              <a:headEnd len="sm" w="sm" type="none"/>
              <a:tailEnd len="med" w="med" type="stealth"/>
            </a:ln>
          </p:spPr>
        </p:cxnSp>
      </p:grpSp>
      <p:grpSp>
        <p:nvGrpSpPr>
          <p:cNvPr id="822" name="Google Shape;822;p37"/>
          <p:cNvGrpSpPr/>
          <p:nvPr/>
        </p:nvGrpSpPr>
        <p:grpSpPr>
          <a:xfrm>
            <a:off x="2773363" y="4967288"/>
            <a:ext cx="1943101" cy="1866900"/>
            <a:chOff x="2773759" y="4967288"/>
            <a:chExt cx="1943101" cy="1867475"/>
          </a:xfrm>
        </p:grpSpPr>
        <p:sp>
          <p:nvSpPr>
            <p:cNvPr id="823" name="Google Shape;823;p37"/>
            <p:cNvSpPr/>
            <p:nvPr/>
          </p:nvSpPr>
          <p:spPr>
            <a:xfrm>
              <a:off x="3094038" y="5118100"/>
              <a:ext cx="1296987" cy="752475"/>
            </a:xfrm>
            <a:prstGeom prst="diamond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4" name="Google Shape;824;p37"/>
            <p:cNvSpPr txBox="1"/>
            <p:nvPr/>
          </p:nvSpPr>
          <p:spPr>
            <a:xfrm>
              <a:off x="3424238" y="6067425"/>
              <a:ext cx="647700" cy="333375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ru-RU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стол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5" name="Google Shape;825;p37"/>
            <p:cNvSpPr txBox="1"/>
            <p:nvPr/>
          </p:nvSpPr>
          <p:spPr>
            <a:xfrm>
              <a:off x="3408537" y="5174456"/>
              <a:ext cx="792163" cy="6397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ru-RU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Имеет в составе столы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26" name="Google Shape;826;p37"/>
            <p:cNvCxnSpPr/>
            <p:nvPr/>
          </p:nvCxnSpPr>
          <p:spPr>
            <a:xfrm flipH="1">
              <a:off x="3742135" y="4967288"/>
              <a:ext cx="549275" cy="150858"/>
            </a:xfrm>
            <a:prstGeom prst="straightConnector1">
              <a:avLst/>
            </a:prstGeom>
            <a:noFill/>
            <a:ln cap="flat" cmpd="sng" w="222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27" name="Google Shape;827;p37"/>
            <p:cNvCxnSpPr/>
            <p:nvPr/>
          </p:nvCxnSpPr>
          <p:spPr>
            <a:xfrm>
              <a:off x="3742135" y="5870853"/>
              <a:ext cx="6350" cy="196911"/>
            </a:xfrm>
            <a:prstGeom prst="straightConnector1">
              <a:avLst/>
            </a:prstGeom>
            <a:noFill/>
            <a:ln cap="flat" cmpd="sng" w="22225">
              <a:solidFill>
                <a:schemeClr val="lt2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grpSp>
          <p:nvGrpSpPr>
            <p:cNvPr id="828" name="Google Shape;828;p37"/>
            <p:cNvGrpSpPr/>
            <p:nvPr/>
          </p:nvGrpSpPr>
          <p:grpSpPr>
            <a:xfrm>
              <a:off x="2773759" y="6445567"/>
              <a:ext cx="1943101" cy="389196"/>
              <a:chOff x="2773759" y="6445567"/>
              <a:chExt cx="1943101" cy="389196"/>
            </a:xfrm>
          </p:grpSpPr>
          <p:grpSp>
            <p:nvGrpSpPr>
              <p:cNvPr id="829" name="Google Shape;829;p37"/>
              <p:cNvGrpSpPr/>
              <p:nvPr/>
            </p:nvGrpSpPr>
            <p:grpSpPr>
              <a:xfrm>
                <a:off x="2773759" y="6445567"/>
                <a:ext cx="1943100" cy="389196"/>
                <a:chOff x="2915444" y="6468542"/>
                <a:chExt cx="1942816" cy="389458"/>
              </a:xfrm>
            </p:grpSpPr>
            <p:grpSp>
              <p:nvGrpSpPr>
                <p:cNvPr id="830" name="Google Shape;830;p37"/>
                <p:cNvGrpSpPr/>
                <p:nvPr/>
              </p:nvGrpSpPr>
              <p:grpSpPr>
                <a:xfrm>
                  <a:off x="2915444" y="6494784"/>
                  <a:ext cx="1333500" cy="363216"/>
                  <a:chOff x="2915444" y="6494784"/>
                  <a:chExt cx="1404938" cy="363216"/>
                </a:xfrm>
              </p:grpSpPr>
              <p:sp>
                <p:nvSpPr>
                  <p:cNvPr id="831" name="Google Shape;831;p37"/>
                  <p:cNvSpPr/>
                  <p:nvPr/>
                </p:nvSpPr>
                <p:spPr>
                  <a:xfrm>
                    <a:off x="2915444" y="6494784"/>
                    <a:ext cx="649288" cy="360363"/>
                  </a:xfrm>
                  <a:prstGeom prst="roundRect">
                    <a:avLst>
                      <a:gd fmla="val 16667" name="adj"/>
                    </a:avLst>
                  </a:prstGeom>
                  <a:noFill/>
                  <a:ln cap="flat" cmpd="sng" w="19050">
                    <a:solidFill>
                      <a:srgbClr val="8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32" name="Google Shape;832;p37"/>
                  <p:cNvSpPr/>
                  <p:nvPr/>
                </p:nvSpPr>
                <p:spPr>
                  <a:xfrm>
                    <a:off x="3671094" y="6497637"/>
                    <a:ext cx="649288" cy="360363"/>
                  </a:xfrm>
                  <a:prstGeom prst="roundRect">
                    <a:avLst>
                      <a:gd fmla="val 16667" name="adj"/>
                    </a:avLst>
                  </a:prstGeom>
                  <a:noFill/>
                  <a:ln cap="flat" cmpd="sng" w="19050">
                    <a:solidFill>
                      <a:srgbClr val="8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33" name="Google Shape;833;p37"/>
                <p:cNvSpPr/>
                <p:nvPr/>
              </p:nvSpPr>
              <p:spPr>
                <a:xfrm>
                  <a:off x="4353356" y="6468542"/>
                  <a:ext cx="504904" cy="386606"/>
                </a:xfrm>
                <a:prstGeom prst="roundRect">
                  <a:avLst>
                    <a:gd fmla="val 16667" name="adj"/>
                  </a:avLst>
                </a:prstGeom>
                <a:noFill/>
                <a:ln cap="flat" cmpd="sng" w="19050">
                  <a:solidFill>
                    <a:srgbClr val="8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834" name="Google Shape;834;p37"/>
              <p:cNvSpPr txBox="1"/>
              <p:nvPr/>
            </p:nvSpPr>
            <p:spPr>
              <a:xfrm>
                <a:off x="2798969" y="6565779"/>
                <a:ext cx="533400" cy="1857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ru-RU" sz="1200" u="sng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индекс</a:t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5" name="Google Shape;835;p37"/>
              <p:cNvSpPr txBox="1"/>
              <p:nvPr/>
            </p:nvSpPr>
            <p:spPr>
              <a:xfrm>
                <a:off x="3539616" y="6554787"/>
                <a:ext cx="503237" cy="1857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ru-RU" sz="12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цена</a:t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6" name="Google Shape;836;p37"/>
              <p:cNvSpPr txBox="1"/>
              <p:nvPr/>
            </p:nvSpPr>
            <p:spPr>
              <a:xfrm>
                <a:off x="4213623" y="6547544"/>
                <a:ext cx="503237" cy="184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ru-RU" sz="12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кол.</a:t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837" name="Google Shape;837;p37"/>
          <p:cNvGrpSpPr/>
          <p:nvPr/>
        </p:nvGrpSpPr>
        <p:grpSpPr>
          <a:xfrm>
            <a:off x="5000625" y="4976938"/>
            <a:ext cx="1943101" cy="1860425"/>
            <a:chOff x="5000498" y="4976938"/>
            <a:chExt cx="1943101" cy="1859921"/>
          </a:xfrm>
        </p:grpSpPr>
        <p:sp>
          <p:nvSpPr>
            <p:cNvPr id="838" name="Google Shape;838;p37"/>
            <p:cNvSpPr/>
            <p:nvPr/>
          </p:nvSpPr>
          <p:spPr>
            <a:xfrm>
              <a:off x="5192712" y="5087938"/>
              <a:ext cx="1296987" cy="782637"/>
            </a:xfrm>
            <a:prstGeom prst="diamond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9" name="Google Shape;839;p37"/>
            <p:cNvSpPr txBox="1"/>
            <p:nvPr/>
          </p:nvSpPr>
          <p:spPr>
            <a:xfrm>
              <a:off x="5488781" y="6085413"/>
              <a:ext cx="720724" cy="333375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ru-RU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шкаф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0" name="Google Shape;840;p37"/>
            <p:cNvSpPr txBox="1"/>
            <p:nvPr/>
          </p:nvSpPr>
          <p:spPr>
            <a:xfrm>
              <a:off x="5461000" y="5150713"/>
              <a:ext cx="792163" cy="6397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ru-RU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Имеет в составе шкафы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41" name="Google Shape;841;p37"/>
            <p:cNvCxnSpPr>
              <a:endCxn id="838" idx="0"/>
            </p:cNvCxnSpPr>
            <p:nvPr/>
          </p:nvCxnSpPr>
          <p:spPr>
            <a:xfrm>
              <a:off x="5510906" y="4976938"/>
              <a:ext cx="330300" cy="111000"/>
            </a:xfrm>
            <a:prstGeom prst="straightConnector1">
              <a:avLst/>
            </a:prstGeom>
            <a:noFill/>
            <a:ln cap="flat" cmpd="sng" w="222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42" name="Google Shape;842;p37"/>
            <p:cNvCxnSpPr>
              <a:stCxn id="838" idx="2"/>
              <a:endCxn id="839" idx="0"/>
            </p:cNvCxnSpPr>
            <p:nvPr/>
          </p:nvCxnSpPr>
          <p:spPr>
            <a:xfrm>
              <a:off x="5841206" y="5870575"/>
              <a:ext cx="7800" cy="214800"/>
            </a:xfrm>
            <a:prstGeom prst="straightConnector1">
              <a:avLst/>
            </a:prstGeom>
            <a:noFill/>
            <a:ln cap="flat" cmpd="sng" w="22225">
              <a:solidFill>
                <a:schemeClr val="lt2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grpSp>
          <p:nvGrpSpPr>
            <p:cNvPr id="843" name="Google Shape;843;p37"/>
            <p:cNvGrpSpPr/>
            <p:nvPr/>
          </p:nvGrpSpPr>
          <p:grpSpPr>
            <a:xfrm>
              <a:off x="5000498" y="6447663"/>
              <a:ext cx="1943101" cy="389196"/>
              <a:chOff x="2773759" y="6445567"/>
              <a:chExt cx="1943101" cy="389196"/>
            </a:xfrm>
          </p:grpSpPr>
          <p:grpSp>
            <p:nvGrpSpPr>
              <p:cNvPr id="844" name="Google Shape;844;p37"/>
              <p:cNvGrpSpPr/>
              <p:nvPr/>
            </p:nvGrpSpPr>
            <p:grpSpPr>
              <a:xfrm>
                <a:off x="2773759" y="6445567"/>
                <a:ext cx="1943100" cy="389196"/>
                <a:chOff x="2915444" y="6468542"/>
                <a:chExt cx="1942816" cy="389458"/>
              </a:xfrm>
            </p:grpSpPr>
            <p:grpSp>
              <p:nvGrpSpPr>
                <p:cNvPr id="845" name="Google Shape;845;p37"/>
                <p:cNvGrpSpPr/>
                <p:nvPr/>
              </p:nvGrpSpPr>
              <p:grpSpPr>
                <a:xfrm>
                  <a:off x="2915444" y="6494784"/>
                  <a:ext cx="1333500" cy="363216"/>
                  <a:chOff x="2915444" y="6494784"/>
                  <a:chExt cx="1404938" cy="363216"/>
                </a:xfrm>
              </p:grpSpPr>
              <p:sp>
                <p:nvSpPr>
                  <p:cNvPr id="846" name="Google Shape;846;p37"/>
                  <p:cNvSpPr/>
                  <p:nvPr/>
                </p:nvSpPr>
                <p:spPr>
                  <a:xfrm>
                    <a:off x="2915444" y="6494784"/>
                    <a:ext cx="649288" cy="360363"/>
                  </a:xfrm>
                  <a:prstGeom prst="roundRect">
                    <a:avLst>
                      <a:gd fmla="val 16667" name="adj"/>
                    </a:avLst>
                  </a:prstGeom>
                  <a:noFill/>
                  <a:ln cap="flat" cmpd="sng" w="19050">
                    <a:solidFill>
                      <a:srgbClr val="8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47" name="Google Shape;847;p37"/>
                  <p:cNvSpPr/>
                  <p:nvPr/>
                </p:nvSpPr>
                <p:spPr>
                  <a:xfrm>
                    <a:off x="3671094" y="6497637"/>
                    <a:ext cx="649288" cy="360363"/>
                  </a:xfrm>
                  <a:prstGeom prst="roundRect">
                    <a:avLst>
                      <a:gd fmla="val 16667" name="adj"/>
                    </a:avLst>
                  </a:prstGeom>
                  <a:noFill/>
                  <a:ln cap="flat" cmpd="sng" w="19050">
                    <a:solidFill>
                      <a:srgbClr val="8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48" name="Google Shape;848;p37"/>
                <p:cNvSpPr/>
                <p:nvPr/>
              </p:nvSpPr>
              <p:spPr>
                <a:xfrm>
                  <a:off x="4353356" y="6468542"/>
                  <a:ext cx="504904" cy="386606"/>
                </a:xfrm>
                <a:prstGeom prst="roundRect">
                  <a:avLst>
                    <a:gd fmla="val 16667" name="adj"/>
                  </a:avLst>
                </a:prstGeom>
                <a:noFill/>
                <a:ln cap="flat" cmpd="sng" w="19050">
                  <a:solidFill>
                    <a:srgbClr val="8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849" name="Google Shape;849;p37"/>
              <p:cNvSpPr txBox="1"/>
              <p:nvPr/>
            </p:nvSpPr>
            <p:spPr>
              <a:xfrm>
                <a:off x="2798969" y="6565779"/>
                <a:ext cx="533400" cy="1857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ru-RU" sz="1200" u="sng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индекс</a:t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0" name="Google Shape;850;p37"/>
              <p:cNvSpPr txBox="1"/>
              <p:nvPr/>
            </p:nvSpPr>
            <p:spPr>
              <a:xfrm>
                <a:off x="3539616" y="6554787"/>
                <a:ext cx="503237" cy="1857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ru-RU" sz="12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цена</a:t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1" name="Google Shape;851;p37"/>
              <p:cNvSpPr txBox="1"/>
              <p:nvPr/>
            </p:nvSpPr>
            <p:spPr>
              <a:xfrm>
                <a:off x="4213623" y="6547544"/>
                <a:ext cx="503237" cy="184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ru-RU" sz="12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кол.</a:t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852" name="Google Shape;852;p37"/>
          <p:cNvGrpSpPr/>
          <p:nvPr/>
        </p:nvGrpSpPr>
        <p:grpSpPr>
          <a:xfrm>
            <a:off x="5540019" y="4967163"/>
            <a:ext cx="3523020" cy="1836862"/>
            <a:chOff x="5540019" y="4967163"/>
            <a:chExt cx="3522226" cy="1837089"/>
          </a:xfrm>
        </p:grpSpPr>
        <p:sp>
          <p:nvSpPr>
            <p:cNvPr id="853" name="Google Shape;853;p37"/>
            <p:cNvSpPr/>
            <p:nvPr/>
          </p:nvSpPr>
          <p:spPr>
            <a:xfrm>
              <a:off x="7451725" y="5084763"/>
              <a:ext cx="1296988" cy="785811"/>
            </a:xfrm>
            <a:prstGeom prst="diamond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4" name="Google Shape;854;p37"/>
            <p:cNvSpPr txBox="1"/>
            <p:nvPr/>
          </p:nvSpPr>
          <p:spPr>
            <a:xfrm>
              <a:off x="7715250" y="6067425"/>
              <a:ext cx="750888" cy="307975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ru-RU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полка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5" name="Google Shape;855;p37"/>
            <p:cNvSpPr txBox="1"/>
            <p:nvPr/>
          </p:nvSpPr>
          <p:spPr>
            <a:xfrm>
              <a:off x="7727950" y="5197475"/>
              <a:ext cx="792163" cy="6397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ru-RU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Имеет в составе полки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56" name="Google Shape;856;p37"/>
            <p:cNvCxnSpPr>
              <a:endCxn id="853" idx="0"/>
            </p:cNvCxnSpPr>
            <p:nvPr/>
          </p:nvCxnSpPr>
          <p:spPr>
            <a:xfrm>
              <a:off x="5540019" y="4967163"/>
              <a:ext cx="2560200" cy="117600"/>
            </a:xfrm>
            <a:prstGeom prst="straightConnector1">
              <a:avLst/>
            </a:prstGeom>
            <a:noFill/>
            <a:ln cap="flat" cmpd="sng" w="222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57" name="Google Shape;857;p37"/>
            <p:cNvCxnSpPr/>
            <p:nvPr/>
          </p:nvCxnSpPr>
          <p:spPr>
            <a:xfrm>
              <a:off x="8090913" y="5870687"/>
              <a:ext cx="1587" cy="168296"/>
            </a:xfrm>
            <a:prstGeom prst="straightConnector1">
              <a:avLst/>
            </a:prstGeom>
            <a:noFill/>
            <a:ln cap="flat" cmpd="sng" w="22225">
              <a:solidFill>
                <a:schemeClr val="lt2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grpSp>
          <p:nvGrpSpPr>
            <p:cNvPr id="858" name="Google Shape;858;p37"/>
            <p:cNvGrpSpPr/>
            <p:nvPr/>
          </p:nvGrpSpPr>
          <p:grpSpPr>
            <a:xfrm>
              <a:off x="7119144" y="6415056"/>
              <a:ext cx="1943101" cy="389196"/>
              <a:chOff x="2773759" y="6445567"/>
              <a:chExt cx="1943101" cy="389196"/>
            </a:xfrm>
          </p:grpSpPr>
          <p:grpSp>
            <p:nvGrpSpPr>
              <p:cNvPr id="859" name="Google Shape;859;p37"/>
              <p:cNvGrpSpPr/>
              <p:nvPr/>
            </p:nvGrpSpPr>
            <p:grpSpPr>
              <a:xfrm>
                <a:off x="2773759" y="6445567"/>
                <a:ext cx="1943100" cy="389196"/>
                <a:chOff x="2915444" y="6468542"/>
                <a:chExt cx="1942816" cy="389458"/>
              </a:xfrm>
            </p:grpSpPr>
            <p:grpSp>
              <p:nvGrpSpPr>
                <p:cNvPr id="860" name="Google Shape;860;p37"/>
                <p:cNvGrpSpPr/>
                <p:nvPr/>
              </p:nvGrpSpPr>
              <p:grpSpPr>
                <a:xfrm>
                  <a:off x="2915444" y="6494784"/>
                  <a:ext cx="1333500" cy="363216"/>
                  <a:chOff x="2915444" y="6494784"/>
                  <a:chExt cx="1404938" cy="363216"/>
                </a:xfrm>
              </p:grpSpPr>
              <p:sp>
                <p:nvSpPr>
                  <p:cNvPr id="861" name="Google Shape;861;p37"/>
                  <p:cNvSpPr/>
                  <p:nvPr/>
                </p:nvSpPr>
                <p:spPr>
                  <a:xfrm>
                    <a:off x="2915444" y="6494784"/>
                    <a:ext cx="649288" cy="360363"/>
                  </a:xfrm>
                  <a:prstGeom prst="roundRect">
                    <a:avLst>
                      <a:gd fmla="val 16667" name="adj"/>
                    </a:avLst>
                  </a:prstGeom>
                  <a:noFill/>
                  <a:ln cap="flat" cmpd="sng" w="19050">
                    <a:solidFill>
                      <a:srgbClr val="8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2" name="Google Shape;862;p37"/>
                  <p:cNvSpPr/>
                  <p:nvPr/>
                </p:nvSpPr>
                <p:spPr>
                  <a:xfrm>
                    <a:off x="3671094" y="6497637"/>
                    <a:ext cx="649288" cy="360363"/>
                  </a:xfrm>
                  <a:prstGeom prst="roundRect">
                    <a:avLst>
                      <a:gd fmla="val 16667" name="adj"/>
                    </a:avLst>
                  </a:prstGeom>
                  <a:noFill/>
                  <a:ln cap="flat" cmpd="sng" w="19050">
                    <a:solidFill>
                      <a:srgbClr val="8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63" name="Google Shape;863;p37"/>
                <p:cNvSpPr/>
                <p:nvPr/>
              </p:nvSpPr>
              <p:spPr>
                <a:xfrm>
                  <a:off x="4353356" y="6468542"/>
                  <a:ext cx="504904" cy="386606"/>
                </a:xfrm>
                <a:prstGeom prst="roundRect">
                  <a:avLst>
                    <a:gd fmla="val 16667" name="adj"/>
                  </a:avLst>
                </a:prstGeom>
                <a:noFill/>
                <a:ln cap="flat" cmpd="sng" w="19050">
                  <a:solidFill>
                    <a:srgbClr val="8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864" name="Google Shape;864;p37"/>
              <p:cNvSpPr txBox="1"/>
              <p:nvPr/>
            </p:nvSpPr>
            <p:spPr>
              <a:xfrm>
                <a:off x="2798969" y="6565779"/>
                <a:ext cx="533400" cy="1857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ru-RU" sz="1200" u="sng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индекс</a:t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5" name="Google Shape;865;p37"/>
              <p:cNvSpPr txBox="1"/>
              <p:nvPr/>
            </p:nvSpPr>
            <p:spPr>
              <a:xfrm>
                <a:off x="3539616" y="6554787"/>
                <a:ext cx="503237" cy="1857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ru-RU" sz="12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цена</a:t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6" name="Google Shape;866;p37"/>
              <p:cNvSpPr txBox="1"/>
              <p:nvPr/>
            </p:nvSpPr>
            <p:spPr>
              <a:xfrm>
                <a:off x="4213623" y="6547544"/>
                <a:ext cx="503237" cy="184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ru-RU" sz="12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кол.</a:t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867" name="Google Shape;867;p37"/>
          <p:cNvSpPr txBox="1"/>
          <p:nvPr>
            <p:ph idx="12" type="sldNum"/>
          </p:nvPr>
        </p:nvSpPr>
        <p:spPr>
          <a:xfrm>
            <a:off x="8604250" y="5957888"/>
            <a:ext cx="490538" cy="4175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1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1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38"/>
          <p:cNvSpPr txBox="1"/>
          <p:nvPr>
            <p:ph type="title"/>
          </p:nvPr>
        </p:nvSpPr>
        <p:spPr>
          <a:xfrm>
            <a:off x="457200" y="457200"/>
            <a:ext cx="8229600" cy="450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000">
                <a:solidFill>
                  <a:schemeClr val="lt2"/>
                </a:solidFill>
              </a:rPr>
              <a:t>Обобщение</a:t>
            </a:r>
            <a:endParaRPr/>
          </a:p>
        </p:txBody>
      </p:sp>
      <p:sp>
        <p:nvSpPr>
          <p:cNvPr id="873" name="Google Shape;873;p38"/>
          <p:cNvSpPr txBox="1"/>
          <p:nvPr>
            <p:ph idx="1" type="body"/>
          </p:nvPr>
        </p:nvSpPr>
        <p:spPr>
          <a:xfrm>
            <a:off x="111125" y="1196975"/>
            <a:ext cx="8882063" cy="51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</a:pPr>
            <a:r>
              <a:rPr lang="ru-RU" sz="2800"/>
              <a:t>Обобщение – это абстракция данных, позволяющая трактовать </a:t>
            </a:r>
            <a:r>
              <a:rPr b="1" lang="ru-RU" sz="2800"/>
              <a:t>класс объектов</a:t>
            </a:r>
            <a:r>
              <a:rPr lang="ru-RU" sz="2800"/>
              <a:t> как </a:t>
            </a:r>
            <a:r>
              <a:rPr b="1" lang="ru-RU" sz="2800"/>
              <a:t>ОДИН объект</a:t>
            </a:r>
            <a:endParaRPr b="1" sz="2800"/>
          </a:p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</a:pPr>
            <a:r>
              <a:rPr lang="ru-RU" sz="2800"/>
              <a:t>При агрегации </a:t>
            </a:r>
            <a:r>
              <a:rPr b="1" lang="ru-RU" sz="2800"/>
              <a:t>части соединяются в целое</a:t>
            </a:r>
            <a:endParaRPr sz="2800"/>
          </a:p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</a:pPr>
            <a:r>
              <a:rPr lang="ru-RU" sz="2800"/>
              <a:t>Обобщение фиксирует </a:t>
            </a:r>
            <a:r>
              <a:rPr b="1" lang="ru-RU" sz="2800"/>
              <a:t>РОДО-ВИДОВЫЕ отношения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</a:pPr>
            <a:r>
              <a:rPr b="1" lang="ru-RU" sz="2800"/>
              <a:t>ВИД</a:t>
            </a:r>
            <a:r>
              <a:rPr lang="ru-RU" sz="2800"/>
              <a:t> есть </a:t>
            </a:r>
            <a:r>
              <a:rPr b="1" lang="ru-RU" sz="2800"/>
              <a:t>РОД</a:t>
            </a:r>
            <a:r>
              <a:rPr lang="ru-RU" sz="2800"/>
              <a:t> в совокупности с видовым отличием</a:t>
            </a:r>
            <a:endParaRPr/>
          </a:p>
          <a:p>
            <a:pPr indent="-20955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sz="2800"/>
          </a:p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r>
              <a:rPr lang="ru-RU" sz="2000"/>
              <a:t>Ваз 2109, Ваз 2101, Ваз 2107 = </a:t>
            </a:r>
            <a:r>
              <a:rPr lang="ru-RU" sz="2000">
                <a:solidFill>
                  <a:srgbClr val="FF0066"/>
                </a:solidFill>
              </a:rPr>
              <a:t>Автомобили марки ВАЗ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r>
              <a:rPr lang="ru-RU" sz="2000"/>
              <a:t>Автомобили марки ВАЗ, автомобили марки Хонда, … = </a:t>
            </a:r>
            <a:r>
              <a:rPr lang="ru-RU" sz="2000">
                <a:solidFill>
                  <a:srgbClr val="FF0066"/>
                </a:solidFill>
              </a:rPr>
              <a:t>Автомобили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r>
              <a:rPr lang="ru-RU" sz="2000"/>
              <a:t>Автомобиль, велосипед, мотоцикл, трактор = </a:t>
            </a:r>
            <a:r>
              <a:rPr lang="ru-RU" sz="2000">
                <a:solidFill>
                  <a:srgbClr val="FF0066"/>
                </a:solidFill>
              </a:rPr>
              <a:t>Колесное средство передвижения </a:t>
            </a:r>
            <a:endParaRPr/>
          </a:p>
        </p:txBody>
      </p:sp>
      <p:sp>
        <p:nvSpPr>
          <p:cNvPr id="874" name="Google Shape;874;p38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7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7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7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7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7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7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7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7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p39"/>
          <p:cNvSpPr txBox="1"/>
          <p:nvPr>
            <p:ph type="title"/>
          </p:nvPr>
        </p:nvSpPr>
        <p:spPr>
          <a:xfrm>
            <a:off x="457200" y="457200"/>
            <a:ext cx="82296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000"/>
              <a:t>Итоговая схема</a:t>
            </a:r>
            <a:endParaRPr/>
          </a:p>
        </p:txBody>
      </p:sp>
      <p:sp>
        <p:nvSpPr>
          <p:cNvPr id="880" name="Google Shape;880;p39"/>
          <p:cNvSpPr txBox="1"/>
          <p:nvPr/>
        </p:nvSpPr>
        <p:spPr>
          <a:xfrm>
            <a:off x="3190875" y="2365375"/>
            <a:ext cx="1992313" cy="461963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гарнитур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1" name="Google Shape;881;p39"/>
          <p:cNvSpPr txBox="1"/>
          <p:nvPr/>
        </p:nvSpPr>
        <p:spPr>
          <a:xfrm>
            <a:off x="3324225" y="4465638"/>
            <a:ext cx="1582738" cy="368300"/>
          </a:xfrm>
          <a:prstGeom prst="rect">
            <a:avLst/>
          </a:prstGeom>
          <a:noFill/>
          <a:ln cap="flat" cmpd="sng" w="254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компонент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82" name="Google Shape;882;p39"/>
          <p:cNvGrpSpPr/>
          <p:nvPr/>
        </p:nvGrpSpPr>
        <p:grpSpPr>
          <a:xfrm>
            <a:off x="3059113" y="2827338"/>
            <a:ext cx="2257425" cy="1646237"/>
            <a:chOff x="3059113" y="2827338"/>
            <a:chExt cx="2257425" cy="1646237"/>
          </a:xfrm>
        </p:grpSpPr>
        <p:sp>
          <p:nvSpPr>
            <p:cNvPr id="883" name="Google Shape;883;p39"/>
            <p:cNvSpPr/>
            <p:nvPr/>
          </p:nvSpPr>
          <p:spPr>
            <a:xfrm>
              <a:off x="3059113" y="3141663"/>
              <a:ext cx="2257425" cy="863599"/>
            </a:xfrm>
            <a:prstGeom prst="diamond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84" name="Google Shape;884;p39"/>
            <p:cNvCxnSpPr/>
            <p:nvPr/>
          </p:nvCxnSpPr>
          <p:spPr>
            <a:xfrm>
              <a:off x="4187825" y="4005263"/>
              <a:ext cx="0" cy="468312"/>
            </a:xfrm>
            <a:prstGeom prst="straightConnector1">
              <a:avLst/>
            </a:prstGeom>
            <a:noFill/>
            <a:ln cap="flat" cmpd="sng" w="22225">
              <a:solidFill>
                <a:schemeClr val="lt2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885" name="Google Shape;885;p39"/>
            <p:cNvCxnSpPr>
              <a:stCxn id="880" idx="2"/>
              <a:endCxn id="883" idx="0"/>
            </p:cNvCxnSpPr>
            <p:nvPr/>
          </p:nvCxnSpPr>
          <p:spPr>
            <a:xfrm>
              <a:off x="4187032" y="2827338"/>
              <a:ext cx="900" cy="314400"/>
            </a:xfrm>
            <a:prstGeom prst="straightConnector1">
              <a:avLst/>
            </a:prstGeom>
            <a:noFill/>
            <a:ln cap="flat" cmpd="sng" w="222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86" name="Google Shape;886;p39"/>
            <p:cNvSpPr txBox="1"/>
            <p:nvPr/>
          </p:nvSpPr>
          <p:spPr>
            <a:xfrm>
              <a:off x="3516313" y="3341688"/>
              <a:ext cx="1487487" cy="4619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ru-RU" sz="1200" u="none" cap="none" strike="noStrike">
                  <a:solidFill>
                    <a:srgbClr val="7030A0"/>
                  </a:solidFill>
                  <a:latin typeface="Arial"/>
                  <a:ea typeface="Arial"/>
                  <a:cs typeface="Arial"/>
                  <a:sym typeface="Arial"/>
                </a:rPr>
                <a:t>Имеет в составе компоненты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87" name="Google Shape;887;p39"/>
          <p:cNvGrpSpPr/>
          <p:nvPr/>
        </p:nvGrpSpPr>
        <p:grpSpPr>
          <a:xfrm>
            <a:off x="1403350" y="1341438"/>
            <a:ext cx="6624638" cy="1024038"/>
            <a:chOff x="1403350" y="1341438"/>
            <a:chExt cx="6624638" cy="1024038"/>
          </a:xfrm>
        </p:grpSpPr>
        <p:grpSp>
          <p:nvGrpSpPr>
            <p:cNvPr id="888" name="Google Shape;888;p39"/>
            <p:cNvGrpSpPr/>
            <p:nvPr/>
          </p:nvGrpSpPr>
          <p:grpSpPr>
            <a:xfrm>
              <a:off x="1403350" y="1341438"/>
              <a:ext cx="6624638" cy="517525"/>
              <a:chOff x="1403350" y="1341438"/>
              <a:chExt cx="6624638" cy="517525"/>
            </a:xfrm>
          </p:grpSpPr>
          <p:grpSp>
            <p:nvGrpSpPr>
              <p:cNvPr id="889" name="Google Shape;889;p39"/>
              <p:cNvGrpSpPr/>
              <p:nvPr/>
            </p:nvGrpSpPr>
            <p:grpSpPr>
              <a:xfrm>
                <a:off x="1403350" y="1341438"/>
                <a:ext cx="6624638" cy="517525"/>
                <a:chOff x="2124075" y="3933824"/>
                <a:chExt cx="6624638" cy="517525"/>
              </a:xfrm>
            </p:grpSpPr>
            <p:sp>
              <p:nvSpPr>
                <p:cNvPr id="890" name="Google Shape;890;p39"/>
                <p:cNvSpPr/>
                <p:nvPr/>
              </p:nvSpPr>
              <p:spPr>
                <a:xfrm>
                  <a:off x="3276600" y="4005263"/>
                  <a:ext cx="649288" cy="360362"/>
                </a:xfrm>
                <a:prstGeom prst="roundRect">
                  <a:avLst>
                    <a:gd fmla="val 16667" name="adj"/>
                  </a:avLst>
                </a:prstGeom>
                <a:noFill/>
                <a:ln cap="flat" cmpd="sng" w="19050">
                  <a:solidFill>
                    <a:srgbClr val="8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91" name="Google Shape;891;p39"/>
                <p:cNvSpPr/>
                <p:nvPr/>
              </p:nvSpPr>
              <p:spPr>
                <a:xfrm>
                  <a:off x="5724524" y="4005263"/>
                  <a:ext cx="1368425" cy="431799"/>
                </a:xfrm>
                <a:prstGeom prst="roundRect">
                  <a:avLst>
                    <a:gd fmla="val 16667" name="adj"/>
                  </a:avLst>
                </a:prstGeom>
                <a:noFill/>
                <a:ln cap="flat" cmpd="sng" w="19050">
                  <a:solidFill>
                    <a:srgbClr val="8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92" name="Google Shape;892;p39"/>
                <p:cNvSpPr txBox="1"/>
                <p:nvPr/>
              </p:nvSpPr>
              <p:spPr>
                <a:xfrm>
                  <a:off x="2124075" y="4076699"/>
                  <a:ext cx="863599" cy="304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ru-RU" sz="1400" u="sng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индекс</a:t>
                  </a:r>
                  <a:endParaRPr b="0" i="0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93" name="Google Shape;893;p39"/>
                <p:cNvSpPr txBox="1"/>
                <p:nvPr/>
              </p:nvSpPr>
              <p:spPr>
                <a:xfrm>
                  <a:off x="4454055" y="4067274"/>
                  <a:ext cx="972343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ru-RU" sz="1400" u="sng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название</a:t>
                  </a:r>
                  <a:endParaRPr b="0" i="0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94" name="Google Shape;894;p39"/>
                <p:cNvGrpSpPr/>
                <p:nvPr/>
              </p:nvGrpSpPr>
              <p:grpSpPr>
                <a:xfrm>
                  <a:off x="2195513" y="3933824"/>
                  <a:ext cx="6553200" cy="517525"/>
                  <a:chOff x="2195513" y="3933824"/>
                  <a:chExt cx="6553200" cy="517525"/>
                </a:xfrm>
              </p:grpSpPr>
              <p:sp>
                <p:nvSpPr>
                  <p:cNvPr id="895" name="Google Shape;895;p39"/>
                  <p:cNvSpPr/>
                  <p:nvPr/>
                </p:nvSpPr>
                <p:spPr>
                  <a:xfrm>
                    <a:off x="2195513" y="4005263"/>
                    <a:ext cx="649287" cy="360362"/>
                  </a:xfrm>
                  <a:prstGeom prst="roundRect">
                    <a:avLst>
                      <a:gd fmla="val 16667" name="adj"/>
                    </a:avLst>
                  </a:prstGeom>
                  <a:noFill/>
                  <a:ln cap="flat" cmpd="sng" w="19050">
                    <a:solidFill>
                      <a:srgbClr val="8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96" name="Google Shape;896;p39"/>
                  <p:cNvSpPr/>
                  <p:nvPr/>
                </p:nvSpPr>
                <p:spPr>
                  <a:xfrm>
                    <a:off x="4439314" y="3969543"/>
                    <a:ext cx="936625" cy="467519"/>
                  </a:xfrm>
                  <a:prstGeom prst="roundRect">
                    <a:avLst>
                      <a:gd fmla="val 16667" name="adj"/>
                    </a:avLst>
                  </a:prstGeom>
                  <a:noFill/>
                  <a:ln cap="flat" cmpd="sng" w="19050">
                    <a:solidFill>
                      <a:srgbClr val="8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97" name="Google Shape;897;p39"/>
                  <p:cNvSpPr txBox="1"/>
                  <p:nvPr/>
                </p:nvSpPr>
                <p:spPr>
                  <a:xfrm>
                    <a:off x="3276600" y="4005263"/>
                    <a:ext cx="719138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0" i="0" lang="ru-RU"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цена</a:t>
                    </a:r>
                    <a:endParaRPr b="0" i="0" sz="18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98" name="Google Shape;898;p39"/>
                  <p:cNvSpPr txBox="1"/>
                  <p:nvPr/>
                </p:nvSpPr>
                <p:spPr>
                  <a:xfrm>
                    <a:off x="5724524" y="3933824"/>
                    <a:ext cx="1439863" cy="51752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0" i="0" lang="ru-RU"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дата изготовления</a:t>
                    </a:r>
                    <a:endParaRPr b="0" i="0" sz="18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99" name="Google Shape;899;p39"/>
                  <p:cNvSpPr txBox="1"/>
                  <p:nvPr/>
                </p:nvSpPr>
                <p:spPr>
                  <a:xfrm>
                    <a:off x="7308850" y="3933824"/>
                    <a:ext cx="1439863" cy="51752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0" i="0" lang="ru-RU"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гарантийный срок</a:t>
                    </a:r>
                    <a:endParaRPr b="0" i="0" sz="18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900" name="Google Shape;900;p39"/>
              <p:cNvSpPr/>
              <p:nvPr/>
            </p:nvSpPr>
            <p:spPr>
              <a:xfrm>
                <a:off x="6732588" y="1384300"/>
                <a:ext cx="1152525" cy="431799"/>
              </a:xfrm>
              <a:prstGeom prst="roundRect">
                <a:avLst>
                  <a:gd fmla="val 16667" name="adj"/>
                </a:avLst>
              </a:prstGeom>
              <a:noFill/>
              <a:ln cap="flat" cmpd="sng" w="19050">
                <a:solidFill>
                  <a:srgbClr val="8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901" name="Google Shape;901;p39"/>
            <p:cNvCxnSpPr>
              <a:stCxn id="892" idx="2"/>
            </p:cNvCxnSpPr>
            <p:nvPr/>
          </p:nvCxnSpPr>
          <p:spPr>
            <a:xfrm>
              <a:off x="1835150" y="1789113"/>
              <a:ext cx="1359000" cy="576300"/>
            </a:xfrm>
            <a:prstGeom prst="straightConnector1">
              <a:avLst/>
            </a:prstGeom>
            <a:noFill/>
            <a:ln cap="flat" cmpd="sng" w="2540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02" name="Google Shape;902;p39"/>
            <p:cNvCxnSpPr>
              <a:stCxn id="890" idx="2"/>
            </p:cNvCxnSpPr>
            <p:nvPr/>
          </p:nvCxnSpPr>
          <p:spPr>
            <a:xfrm>
              <a:off x="2880519" y="1773239"/>
              <a:ext cx="838200" cy="592200"/>
            </a:xfrm>
            <a:prstGeom prst="straightConnector1">
              <a:avLst/>
            </a:prstGeom>
            <a:noFill/>
            <a:ln cap="flat" cmpd="sng" w="2540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03" name="Google Shape;903;p39"/>
            <p:cNvCxnSpPr>
              <a:stCxn id="896" idx="2"/>
              <a:endCxn id="880" idx="0"/>
            </p:cNvCxnSpPr>
            <p:nvPr/>
          </p:nvCxnSpPr>
          <p:spPr>
            <a:xfrm>
              <a:off x="4186902" y="1844676"/>
              <a:ext cx="0" cy="520800"/>
            </a:xfrm>
            <a:prstGeom prst="straightConnector1">
              <a:avLst/>
            </a:prstGeom>
            <a:noFill/>
            <a:ln cap="flat" cmpd="sng" w="2540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04" name="Google Shape;904;p39"/>
            <p:cNvCxnSpPr/>
            <p:nvPr/>
          </p:nvCxnSpPr>
          <p:spPr>
            <a:xfrm flipH="1">
              <a:off x="4656138" y="1858963"/>
              <a:ext cx="1031875" cy="506412"/>
            </a:xfrm>
            <a:prstGeom prst="straightConnector1">
              <a:avLst/>
            </a:prstGeom>
            <a:noFill/>
            <a:ln cap="flat" cmpd="sng" w="2540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05" name="Google Shape;905;p39"/>
            <p:cNvCxnSpPr/>
            <p:nvPr/>
          </p:nvCxnSpPr>
          <p:spPr>
            <a:xfrm flipH="1">
              <a:off x="5183188" y="1817687"/>
              <a:ext cx="2125662" cy="547687"/>
            </a:xfrm>
            <a:prstGeom prst="straightConnector1">
              <a:avLst/>
            </a:prstGeom>
            <a:noFill/>
            <a:ln cap="flat" cmpd="sng" w="2540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906" name="Google Shape;906;p39"/>
          <p:cNvGrpSpPr/>
          <p:nvPr/>
        </p:nvGrpSpPr>
        <p:grpSpPr>
          <a:xfrm>
            <a:off x="1116013" y="4824339"/>
            <a:ext cx="6513512" cy="1024011"/>
            <a:chOff x="1116013" y="4824408"/>
            <a:chExt cx="6513512" cy="1023942"/>
          </a:xfrm>
        </p:grpSpPr>
        <p:sp>
          <p:nvSpPr>
            <p:cNvPr id="907" name="Google Shape;907;p39"/>
            <p:cNvSpPr/>
            <p:nvPr/>
          </p:nvSpPr>
          <p:spPr>
            <a:xfrm>
              <a:off x="1116013" y="5445125"/>
              <a:ext cx="1117600" cy="360363"/>
            </a:xfrm>
            <a:prstGeom prst="roundRect">
              <a:avLst>
                <a:gd fmla="val 16667" name="adj"/>
              </a:avLst>
            </a:prstGeom>
            <a:noFill/>
            <a:ln cap="flat" cmpd="sng" w="19050">
              <a:solidFill>
                <a:srgbClr val="8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8" name="Google Shape;908;p39"/>
            <p:cNvSpPr/>
            <p:nvPr/>
          </p:nvSpPr>
          <p:spPr>
            <a:xfrm>
              <a:off x="2881312" y="5481638"/>
              <a:ext cx="852487" cy="360362"/>
            </a:xfrm>
            <a:prstGeom prst="roundRect">
              <a:avLst>
                <a:gd fmla="val 16667" name="adj"/>
              </a:avLst>
            </a:prstGeom>
            <a:noFill/>
            <a:ln cap="flat" cmpd="sng" w="19050">
              <a:solidFill>
                <a:srgbClr val="8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9" name="Google Shape;909;p39"/>
            <p:cNvSpPr/>
            <p:nvPr/>
          </p:nvSpPr>
          <p:spPr>
            <a:xfrm>
              <a:off x="4291013" y="5487988"/>
              <a:ext cx="1055687" cy="360362"/>
            </a:xfrm>
            <a:prstGeom prst="roundRect">
              <a:avLst>
                <a:gd fmla="val 16667" name="adj"/>
              </a:avLst>
            </a:prstGeom>
            <a:noFill/>
            <a:ln cap="flat" cmpd="sng" w="19050">
              <a:solidFill>
                <a:srgbClr val="8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0" name="Google Shape;910;p39"/>
            <p:cNvSpPr/>
            <p:nvPr/>
          </p:nvSpPr>
          <p:spPr>
            <a:xfrm>
              <a:off x="5794375" y="5481638"/>
              <a:ext cx="1835150" cy="360362"/>
            </a:xfrm>
            <a:prstGeom prst="roundRect">
              <a:avLst>
                <a:gd fmla="val 16667" name="adj"/>
              </a:avLst>
            </a:prstGeom>
            <a:noFill/>
            <a:ln cap="flat" cmpd="sng" w="19050">
              <a:solidFill>
                <a:srgbClr val="8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1" name="Google Shape;911;p39"/>
            <p:cNvSpPr txBox="1"/>
            <p:nvPr/>
          </p:nvSpPr>
          <p:spPr>
            <a:xfrm>
              <a:off x="1187450" y="5445125"/>
              <a:ext cx="973138" cy="369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ru-RU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индекс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2" name="Google Shape;912;p39"/>
            <p:cNvSpPr txBox="1"/>
            <p:nvPr/>
          </p:nvSpPr>
          <p:spPr>
            <a:xfrm>
              <a:off x="2893814" y="5443608"/>
              <a:ext cx="762397" cy="3698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ru-RU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цена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3" name="Google Shape;913;p39"/>
            <p:cNvSpPr txBox="1"/>
            <p:nvPr/>
          </p:nvSpPr>
          <p:spPr>
            <a:xfrm>
              <a:off x="4286250" y="5465763"/>
              <a:ext cx="973138" cy="36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ru-RU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кол-во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4" name="Google Shape;914;p39"/>
            <p:cNvSpPr txBox="1"/>
            <p:nvPr/>
          </p:nvSpPr>
          <p:spPr>
            <a:xfrm>
              <a:off x="5821363" y="5445125"/>
              <a:ext cx="1792287" cy="369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ru-RU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наименование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15" name="Google Shape;915;p39"/>
            <p:cNvCxnSpPr>
              <a:endCxn id="914" idx="0"/>
            </p:cNvCxnSpPr>
            <p:nvPr/>
          </p:nvCxnSpPr>
          <p:spPr>
            <a:xfrm>
              <a:off x="4906107" y="4834025"/>
              <a:ext cx="1811400" cy="611100"/>
            </a:xfrm>
            <a:prstGeom prst="straightConnector1">
              <a:avLst/>
            </a:prstGeom>
            <a:noFill/>
            <a:ln cap="flat" cmpd="sng" w="2540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16" name="Google Shape;916;p39"/>
            <p:cNvCxnSpPr>
              <a:endCxn id="913" idx="0"/>
            </p:cNvCxnSpPr>
            <p:nvPr/>
          </p:nvCxnSpPr>
          <p:spPr>
            <a:xfrm>
              <a:off x="4355219" y="4833963"/>
              <a:ext cx="417600" cy="631800"/>
            </a:xfrm>
            <a:prstGeom prst="straightConnector1">
              <a:avLst/>
            </a:prstGeom>
            <a:noFill/>
            <a:ln cap="flat" cmpd="sng" w="2540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17" name="Google Shape;917;p39"/>
            <p:cNvCxnSpPr>
              <a:endCxn id="912" idx="0"/>
            </p:cNvCxnSpPr>
            <p:nvPr/>
          </p:nvCxnSpPr>
          <p:spPr>
            <a:xfrm flipH="1">
              <a:off x="3275013" y="4824408"/>
              <a:ext cx="657300" cy="619200"/>
            </a:xfrm>
            <a:prstGeom prst="straightConnector1">
              <a:avLst/>
            </a:prstGeom>
            <a:noFill/>
            <a:ln cap="flat" cmpd="sng" w="2540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18" name="Google Shape;918;p39"/>
            <p:cNvCxnSpPr/>
            <p:nvPr/>
          </p:nvCxnSpPr>
          <p:spPr>
            <a:xfrm flipH="1">
              <a:off x="1674812" y="4826069"/>
              <a:ext cx="1633537" cy="619083"/>
            </a:xfrm>
            <a:prstGeom prst="straightConnector1">
              <a:avLst/>
            </a:prstGeom>
            <a:noFill/>
            <a:ln cap="flat" cmpd="sng" w="2540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919" name="Google Shape;919;p39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3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Google Shape;924;p40"/>
          <p:cNvSpPr txBox="1"/>
          <p:nvPr>
            <p:ph type="title"/>
          </p:nvPr>
        </p:nvSpPr>
        <p:spPr>
          <a:xfrm>
            <a:off x="457200" y="279401"/>
            <a:ext cx="8229600" cy="73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/>
              <a:t>Принципы проектирования</a:t>
            </a:r>
            <a:endParaRPr/>
          </a:p>
        </p:txBody>
      </p:sp>
      <p:sp>
        <p:nvSpPr>
          <p:cNvPr id="925" name="Google Shape;925;p40"/>
          <p:cNvSpPr txBox="1"/>
          <p:nvPr>
            <p:ph idx="1" type="body"/>
          </p:nvPr>
        </p:nvSpPr>
        <p:spPr>
          <a:xfrm>
            <a:off x="341311" y="1052514"/>
            <a:ext cx="8459787" cy="5195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100"/>
              <a:buChar char="■"/>
            </a:pPr>
            <a:r>
              <a:rPr lang="ru-RU" sz="2800"/>
              <a:t>Достоверность</a:t>
            </a:r>
            <a:endParaRPr/>
          </a:p>
          <a:p>
            <a:pPr indent="-285750" lvl="1" marL="74295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920"/>
              <a:buFont typeface="Noto Sans Symbols"/>
              <a:buChar char="❖"/>
            </a:pPr>
            <a:r>
              <a:rPr lang="ru-RU" sz="2400"/>
              <a:t>Привлечение экспертов</a:t>
            </a:r>
            <a:endParaRPr/>
          </a:p>
          <a:p>
            <a:pPr indent="-285750" lvl="1" marL="74295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920"/>
              <a:buFont typeface="Noto Sans Symbols"/>
              <a:buChar char="❖"/>
            </a:pPr>
            <a:r>
              <a:rPr lang="ru-RU" sz="2400"/>
              <a:t>Детальное изучение предметной области</a:t>
            </a:r>
            <a:endParaRPr/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100"/>
              <a:buChar char="■"/>
            </a:pPr>
            <a:r>
              <a:rPr lang="ru-RU" sz="2800"/>
              <a:t>Отсутствие избыточности</a:t>
            </a:r>
            <a:endParaRPr/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100"/>
              <a:buChar char="■"/>
            </a:pPr>
            <a:r>
              <a:rPr lang="ru-RU" sz="2800"/>
              <a:t>Простота</a:t>
            </a:r>
            <a:endParaRPr/>
          </a:p>
          <a:p>
            <a:pPr indent="-285750" lvl="1" marL="74295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920"/>
              <a:buFont typeface="Noto Sans Symbols"/>
              <a:buChar char="❖"/>
            </a:pPr>
            <a:r>
              <a:rPr lang="ru-RU" sz="2400"/>
              <a:t>Включайте в проект только те структурные элементы, без которых нельзя обойтись</a:t>
            </a:r>
            <a:endParaRPr/>
          </a:p>
          <a:p>
            <a:pPr indent="-342900" lvl="1" marL="3429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Noto Sans Symbols"/>
              <a:buChar char="■"/>
            </a:pPr>
            <a:r>
              <a:rPr lang="ru-RU"/>
              <a:t>Выбор подходящих связей</a:t>
            </a:r>
            <a:endParaRPr/>
          </a:p>
          <a:p>
            <a:pPr indent="-285750" lvl="1" marL="74295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920"/>
              <a:buFont typeface="Noto Sans Symbols"/>
              <a:buChar char="❖"/>
            </a:pPr>
            <a:r>
              <a:rPr lang="ru-RU" sz="2400"/>
              <a:t>Множества сущностей можно соединить разными связями. Если брать любые – возможна избыточность.</a:t>
            </a:r>
            <a:endParaRPr/>
          </a:p>
          <a:p>
            <a:pPr indent="-342900" lvl="1" marL="3429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Noto Sans Symbols"/>
              <a:buChar char="■"/>
            </a:pPr>
            <a:r>
              <a:rPr lang="ru-RU"/>
              <a:t>Использование элементов адекватных типов</a:t>
            </a:r>
            <a:endParaRPr/>
          </a:p>
        </p:txBody>
      </p:sp>
      <p:sp>
        <p:nvSpPr>
          <p:cNvPr id="926" name="Google Shape;926;p40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Тема1">
  <a:themeElements>
    <a:clrScheme name="Пиксел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Пиксел">
  <a:themeElements>
    <a:clrScheme name="Пиксел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2012-09-14T02:19:47Z</dcterms:created>
  <dc:creator>Борис</dc:creator>
</cp:coreProperties>
</file>