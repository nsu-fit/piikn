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17"/>
  </p:notesMasterIdLst>
  <p:sldIdLst>
    <p:sldId id="256" r:id="rId2"/>
    <p:sldId id="280" r:id="rId3"/>
    <p:sldId id="296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8" r:id="rId12"/>
    <p:sldId id="297" r:id="rId13"/>
    <p:sldId id="299" r:id="rId14"/>
    <p:sldId id="300" r:id="rId15"/>
    <p:sldId id="301" r:id="rId1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EDBEB42E-7D5A-4C77-A957-EFA1EDA2B7AC}">
          <p14:sldIdLst>
            <p14:sldId id="256"/>
            <p14:sldId id="280"/>
            <p14:sldId id="296"/>
            <p14:sldId id="289"/>
            <p14:sldId id="290"/>
            <p14:sldId id="291"/>
            <p14:sldId id="292"/>
            <p14:sldId id="293"/>
            <p14:sldId id="294"/>
            <p14:sldId id="295"/>
            <p14:sldId id="298"/>
            <p14:sldId id="297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8" autoAdjust="0"/>
    <p:restoredTop sz="91776" autoAdjust="0"/>
  </p:normalViewPr>
  <p:slideViewPr>
    <p:cSldViewPr showGuides="1">
      <p:cViewPr varScale="1">
        <p:scale>
          <a:sx n="77" d="100"/>
          <a:sy n="77" d="100"/>
        </p:scale>
        <p:origin x="90" y="6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95D22BF-934C-434E-AE80-27B1579489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366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5D22BF-934C-434E-AE80-27B157948910}" type="slidenum">
              <a:rPr lang="ru-RU" smtClean="0"/>
              <a:pPr>
                <a:defRPr/>
              </a:pPr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825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ru-RU" altLang="ru-RU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2869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869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D0CB1-CA64-4308-A5C7-BCE416CE32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40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492C0-24D0-4BEF-A770-6A3DBA872AF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5382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60F43-225C-49E2-8B60-AE49B97A8DE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91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B54745-5052-4ED2-BC4A-CBF5C142DC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349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0A578-C233-40B6-B842-0C0E6F49DDE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4920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6ACCE-82A1-4791-81CF-10C0105F64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4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B31984-3783-411E-8782-11F13A3C8B8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32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927A4-336F-4A9A-AFD0-850B36C7DA5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13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86CF9-4067-452B-BEBB-09DB3BC2230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041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30791-4026-4547-965E-64396C26E0C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859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ABCDA1-7FEC-4E9E-9033-5BA9669537E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724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F9BF5D79-4319-4B4C-A2DF-4CC96A89A0C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ru-RU" altLang="ru-RU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2766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99712" y="2213865"/>
            <a:ext cx="8534400" cy="1600200"/>
          </a:xfrm>
        </p:spPr>
        <p:txBody>
          <a:bodyPr/>
          <a:lstStyle/>
          <a:p>
            <a:pPr algn="ctr" eaLnBrk="1" hangingPunct="1"/>
            <a:r>
              <a:rPr lang="ru-RU" altLang="ru-RU" sz="4000" dirty="0"/>
              <a:t>Объектная система управления базами данных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ru-RU" altLang="ru-RU"/>
          </a:p>
        </p:txBody>
      </p:sp>
      <p:sp>
        <p:nvSpPr>
          <p:cNvPr id="3076" name="Номер слайда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8ECD702-E887-4ABE-9AC9-049363992063}" type="slidenum">
              <a:rPr lang="ru-RU" altLang="ru-RU" smtClean="0">
                <a:latin typeface="Arial Black" pitchFamily="34" charset="0"/>
              </a:rPr>
              <a:pPr eaLnBrk="1" hangingPunct="1"/>
              <a:t>1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75928"/>
          </a:xfrm>
        </p:spPr>
        <p:txBody>
          <a:bodyPr/>
          <a:lstStyle/>
          <a:p>
            <a:pPr algn="ctr" eaLnBrk="1" hangingPunct="1"/>
            <a:r>
              <a:rPr lang="ru-RU" altLang="ru-RU" sz="4000" dirty="0">
                <a:solidFill>
                  <a:schemeClr val="bg2"/>
                </a:solidFill>
              </a:rPr>
              <a:t>СУБД   </a:t>
            </a:r>
            <a:r>
              <a:rPr lang="en-US" altLang="ru-RU" sz="4000" dirty="0" err="1">
                <a:solidFill>
                  <a:schemeClr val="bg2"/>
                </a:solidFill>
              </a:rPr>
              <a:t>Caché</a:t>
            </a:r>
            <a:endParaRPr lang="ru-RU" altLang="ru-RU" sz="40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052736"/>
            <a:ext cx="8928992" cy="5500464"/>
          </a:xfrm>
        </p:spPr>
        <p:txBody>
          <a:bodyPr>
            <a:normAutofit fontScale="550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u-RU" dirty="0"/>
              <a:t>Отличительной особенностью СУБД </a:t>
            </a:r>
            <a:r>
              <a:rPr lang="ru-RU" dirty="0" err="1"/>
              <a:t>Cach</a:t>
            </a:r>
            <a:r>
              <a:rPr lang="en-US" dirty="0"/>
              <a:t>é </a:t>
            </a:r>
            <a:r>
              <a:rPr lang="ru-RU" dirty="0"/>
              <a:t>является независимость хранения данных от способа их представления, что реализуется с помощью, так называемой, единой архитектуры данных </a:t>
            </a:r>
            <a:r>
              <a:rPr lang="ru-RU" dirty="0" err="1"/>
              <a:t>Cach</a:t>
            </a:r>
            <a:r>
              <a:rPr lang="en-US" dirty="0"/>
              <a:t>é</a:t>
            </a:r>
          </a:p>
          <a:p>
            <a:pPr eaLnBrk="1" hangingPunct="1">
              <a:lnSpc>
                <a:spcPct val="120000"/>
              </a:lnSpc>
            </a:pPr>
            <a:r>
              <a:rPr lang="ru-RU" dirty="0"/>
              <a:t>В рамках данной архитектуры существует единое </a:t>
            </a:r>
            <a:r>
              <a:rPr lang="ru-RU" b="1" dirty="0"/>
              <a:t>описание объектов </a:t>
            </a:r>
            <a:r>
              <a:rPr lang="ru-RU" dirty="0"/>
              <a:t>и </a:t>
            </a:r>
            <a:r>
              <a:rPr lang="ru-RU" b="1" dirty="0"/>
              <a:t>таблиц базы д</a:t>
            </a:r>
            <a:r>
              <a:rPr lang="ru-RU" dirty="0"/>
              <a:t>анных, отображаемых непосредственно в </a:t>
            </a:r>
            <a:r>
              <a:rPr lang="ru-RU" b="1" dirty="0"/>
              <a:t>многомерные структуры ядра базы данных</a:t>
            </a:r>
            <a:r>
              <a:rPr lang="ru-RU" dirty="0"/>
              <a:t>, ориентированных на обработку транзакций. </a:t>
            </a:r>
            <a:endParaRPr lang="en-US" dirty="0"/>
          </a:p>
          <a:p>
            <a:pPr eaLnBrk="1" hangingPunct="1">
              <a:lnSpc>
                <a:spcPct val="120000"/>
              </a:lnSpc>
            </a:pPr>
            <a:r>
              <a:rPr lang="ru-RU" dirty="0"/>
              <a:t>Как только определяется </a:t>
            </a:r>
            <a:r>
              <a:rPr lang="ru-RU" b="1" dirty="0"/>
              <a:t>хранимый класс объектов</a:t>
            </a:r>
            <a:r>
              <a:rPr lang="ru-RU" dirty="0"/>
              <a:t>, </a:t>
            </a:r>
            <a:r>
              <a:rPr lang="ru-RU" dirty="0" err="1"/>
              <a:t>Cach</a:t>
            </a:r>
            <a:r>
              <a:rPr lang="en-US" dirty="0"/>
              <a:t>é</a:t>
            </a:r>
            <a:r>
              <a:rPr lang="ru-RU" dirty="0"/>
              <a:t> автоматически генерирует </a:t>
            </a:r>
            <a:r>
              <a:rPr lang="ru-RU" b="1" dirty="0"/>
              <a:t>реляционное описание данных этого класса </a:t>
            </a:r>
            <a:r>
              <a:rPr lang="ru-RU" dirty="0"/>
              <a:t>в формате SQL. </a:t>
            </a:r>
            <a:endParaRPr lang="en-US" dirty="0"/>
          </a:p>
          <a:p>
            <a:pPr eaLnBrk="1" hangingPunct="1">
              <a:lnSpc>
                <a:spcPct val="120000"/>
              </a:lnSpc>
            </a:pPr>
            <a:r>
              <a:rPr lang="ru-RU" dirty="0"/>
              <a:t>Подобным же образом, как только в Словарь данных поступает DDL-описание в формате реляционной базы данных, </a:t>
            </a:r>
            <a:r>
              <a:rPr lang="ru-RU" dirty="0" err="1"/>
              <a:t>Cach</a:t>
            </a:r>
            <a:r>
              <a:rPr lang="en-US" dirty="0"/>
              <a:t>é</a:t>
            </a:r>
            <a:r>
              <a:rPr lang="ru-RU" dirty="0"/>
              <a:t> автоматически генерирует реляционное и объектное описание данных, устанавливая тем самым доступ в формате объектов</a:t>
            </a:r>
            <a:endParaRPr lang="en-US" dirty="0"/>
          </a:p>
          <a:p>
            <a:pPr eaLnBrk="1" hangingPunct="1">
              <a:lnSpc>
                <a:spcPct val="120000"/>
              </a:lnSpc>
            </a:pPr>
            <a:r>
              <a:rPr lang="ru-RU" dirty="0"/>
              <a:t>При этом все описания ведутся согласованно, все операции по редактированию проводятся только с одним описанием данных.</a:t>
            </a:r>
            <a:endParaRPr lang="en-US" dirty="0"/>
          </a:p>
          <a:p>
            <a:pPr eaLnBrk="1" hangingPunct="1">
              <a:lnSpc>
                <a:spcPct val="120000"/>
              </a:lnSpc>
            </a:pPr>
            <a:r>
              <a:rPr lang="ru-RU" dirty="0"/>
              <a:t>Это позволяет сократить время разработки, сэкономить вычислительные ресурсы и приложения будут работать значительно быстрее. </a:t>
            </a:r>
            <a:endParaRPr lang="ru-RU" altLang="ru-RU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2</a:t>
            </a:fld>
            <a:endParaRPr lang="ru-RU" altLang="ru-RU"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pPr algn="ctr" eaLnBrk="1" hangingPunct="1"/>
            <a:r>
              <a:rPr lang="ru-RU" altLang="ru-RU" dirty="0">
                <a:solidFill>
                  <a:schemeClr val="bg2"/>
                </a:solidFill>
              </a:rPr>
              <a:t>СУБД   </a:t>
            </a:r>
            <a:r>
              <a:rPr lang="en-US" altLang="ru-RU" dirty="0" err="1">
                <a:solidFill>
                  <a:schemeClr val="bg2"/>
                </a:solidFill>
              </a:rPr>
              <a:t>Caché</a:t>
            </a:r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3</a:t>
            </a:fld>
            <a:endParaRPr lang="ru-RU" altLang="ru-RU">
              <a:latin typeface="Arial Black" pitchFamily="34" charset="0"/>
            </a:endParaRPr>
          </a:p>
        </p:txBody>
      </p:sp>
      <p:pic>
        <p:nvPicPr>
          <p:cNvPr id="6" name="Picture 2" descr="C:\Users\Boris\Dropbox\ГФ\Курс ОРСП\Учебные материалы\З-D данные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198072"/>
            <a:ext cx="5803548" cy="47051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091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pPr algn="ctr" eaLnBrk="1" hangingPunct="1"/>
            <a:r>
              <a:rPr lang="ru-RU" altLang="ru-RU" sz="3200" dirty="0">
                <a:solidFill>
                  <a:schemeClr val="bg2"/>
                </a:solidFill>
              </a:rPr>
              <a:t>Архитектура СУБД   </a:t>
            </a:r>
            <a:r>
              <a:rPr lang="en-US" altLang="ru-RU" sz="3200" dirty="0" err="1">
                <a:solidFill>
                  <a:schemeClr val="bg2"/>
                </a:solidFill>
              </a:rPr>
              <a:t>Caché</a:t>
            </a:r>
            <a:endParaRPr lang="ru-RU" altLang="ru-RU" sz="3200" dirty="0">
              <a:solidFill>
                <a:schemeClr val="bg2"/>
              </a:solidFill>
            </a:endParaRP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4</a:t>
            </a:fld>
            <a:endParaRPr lang="ru-RU" altLang="ru-RU">
              <a:latin typeface="Arial Black" pitchFamily="34" charset="0"/>
            </a:endParaRPr>
          </a:p>
        </p:txBody>
      </p:sp>
      <p:pic>
        <p:nvPicPr>
          <p:cNvPr id="522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943" y="990600"/>
            <a:ext cx="8690114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" y="4230960"/>
            <a:ext cx="8686800" cy="243840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r>
              <a:rPr lang="ru-RU" dirty="0"/>
              <a:t>Основными компонентами СУБД </a:t>
            </a:r>
            <a:r>
              <a:rPr lang="ru-RU" dirty="0" err="1"/>
              <a:t>Cach</a:t>
            </a:r>
            <a:r>
              <a:rPr lang="en-US" dirty="0"/>
              <a:t>é </a:t>
            </a:r>
            <a:r>
              <a:rPr lang="ru-RU" dirty="0"/>
              <a:t>являются следующие: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TMDM. </a:t>
            </a:r>
            <a:r>
              <a:rPr lang="ru-RU" b="1" dirty="0"/>
              <a:t>Многомерное ядро системы</a:t>
            </a:r>
            <a:r>
              <a:rPr lang="ru-RU" dirty="0"/>
              <a:t>, ориентирование на работу с транзакциями.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Сервер</a:t>
            </a:r>
            <a:r>
              <a:rPr lang="en-US" b="1" dirty="0"/>
              <a:t> </a:t>
            </a:r>
            <a:r>
              <a:rPr lang="en-US" altLang="ru-RU" b="1" dirty="0" err="1"/>
              <a:t>Caché</a:t>
            </a:r>
            <a:r>
              <a:rPr lang="en-US" b="1" dirty="0"/>
              <a:t> Objects</a:t>
            </a:r>
            <a:r>
              <a:rPr lang="en-US" dirty="0"/>
              <a:t>. </a:t>
            </a:r>
            <a:r>
              <a:rPr lang="ru-RU" dirty="0"/>
              <a:t>Представление многомерных структур данных ядра системы в виде объектов, инкапсулирующих как данные так и методы их обработки.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Сервер </a:t>
            </a:r>
            <a:r>
              <a:rPr lang="en-US" altLang="ru-RU" b="1" dirty="0" err="1"/>
              <a:t>Caché</a:t>
            </a:r>
            <a:r>
              <a:rPr lang="ru-RU" b="1" dirty="0"/>
              <a:t> SQL</a:t>
            </a:r>
            <a:r>
              <a:rPr lang="ru-RU" dirty="0"/>
              <a:t>. Представление многомерных структур данных в виде реляционных таблиц.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Сервер прямого доступа</a:t>
            </a:r>
            <a:r>
              <a:rPr lang="ru-RU" dirty="0"/>
              <a:t>. Предоставление прямого доступа к многомерным структурам данных ядра системы. </a:t>
            </a:r>
          </a:p>
          <a:p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2771800" y="1619508"/>
            <a:ext cx="3600400" cy="324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ru-RU" b="1" i="1" dirty="0">
                <a:latin typeface="Times New Roman" pitchFamily="18" charset="0"/>
                <a:cs typeface="Times New Roman" pitchFamily="18" charset="0"/>
              </a:rPr>
              <a:t>Единая архитектура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15816" y="1196752"/>
            <a:ext cx="3600400" cy="3600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sz="2400" b="1" i="1" dirty="0" err="1">
                <a:latin typeface="Times New Roman" pitchFamily="18" charset="0"/>
                <a:cs typeface="Times New Roman" pitchFamily="18" charset="0"/>
              </a:rPr>
              <a:t>Caché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Server Pages</a:t>
            </a:r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43808" y="2132856"/>
            <a:ext cx="1008112" cy="5760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Caché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Objects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67944" y="2132856"/>
            <a:ext cx="1008112" cy="5760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Caché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Direct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20072" y="2132856"/>
            <a:ext cx="1008112" cy="5760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Caché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lnSpc>
                <a:spcPct val="8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SQL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84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СУБД  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r>
              <a:rPr lang="ru-RU" altLang="ru-RU" sz="3600" dirty="0">
                <a:solidFill>
                  <a:schemeClr val="bg2"/>
                </a:solidFill>
              </a:rPr>
              <a:t>. </a:t>
            </a:r>
            <a:r>
              <a:rPr lang="ru-RU" sz="3600" b="1" dirty="0"/>
              <a:t>TMDM 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410200"/>
          </a:xfrm>
        </p:spPr>
        <p:txBody>
          <a:bodyPr>
            <a:normAutofit/>
          </a:bodyPr>
          <a:lstStyle/>
          <a:p>
            <a:r>
              <a:rPr lang="ru-RU" sz="2800" dirty="0"/>
              <a:t>Многомерное ядро </a:t>
            </a:r>
            <a:r>
              <a:rPr lang="ru-RU" sz="2800" dirty="0" err="1"/>
              <a:t>Cach</a:t>
            </a:r>
            <a:r>
              <a:rPr lang="en-US" sz="2800" dirty="0"/>
              <a:t>é</a:t>
            </a:r>
            <a:r>
              <a:rPr lang="ru-RU" sz="2800" dirty="0"/>
              <a:t>, ориентированное на работу с транзакциям.</a:t>
            </a:r>
          </a:p>
          <a:p>
            <a:r>
              <a:rPr lang="ru-RU" sz="2800" dirty="0"/>
              <a:t>Данные в </a:t>
            </a:r>
            <a:r>
              <a:rPr lang="ru-RU" sz="2800" dirty="0" err="1"/>
              <a:t>Cach</a:t>
            </a:r>
            <a:r>
              <a:rPr lang="en-US" sz="2800" dirty="0"/>
              <a:t>é </a:t>
            </a:r>
            <a:r>
              <a:rPr lang="ru-RU" sz="2800" dirty="0"/>
              <a:t>хранятся в виде разреженных массивов, носящих название «</a:t>
            </a:r>
            <a:r>
              <a:rPr lang="ru-RU" sz="2800" dirty="0" err="1"/>
              <a:t>глобалов</a:t>
            </a:r>
            <a:r>
              <a:rPr lang="ru-RU" sz="2800" dirty="0"/>
              <a:t>». </a:t>
            </a:r>
          </a:p>
          <a:p>
            <a:r>
              <a:rPr lang="ru-RU" sz="2800" dirty="0"/>
              <a:t>Количество индексов массива может быть произвольным, что позволяет описывать и хранить структуры данных произвольного уровня сложности. </a:t>
            </a:r>
          </a:p>
          <a:p>
            <a:r>
              <a:rPr lang="ru-RU" sz="2800" dirty="0"/>
              <a:t>Индексы </a:t>
            </a:r>
            <a:r>
              <a:rPr lang="ru-RU" sz="2800" dirty="0" err="1"/>
              <a:t>глобалов</a:t>
            </a:r>
            <a:r>
              <a:rPr lang="ru-RU" sz="2800" dirty="0"/>
              <a:t> не типизированы, т.е. они могут быть любого из </a:t>
            </a:r>
            <a:r>
              <a:rPr lang="ru-RU" sz="2800"/>
              <a:t>литеральных типов </a:t>
            </a:r>
            <a:r>
              <a:rPr lang="ru-RU" sz="2800" dirty="0"/>
              <a:t>данных.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5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35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153400" cy="762000"/>
          </a:xfrm>
        </p:spPr>
        <p:txBody>
          <a:bodyPr/>
          <a:lstStyle/>
          <a:p>
            <a:pPr algn="ctr" eaLnBrk="1" hangingPunct="1"/>
            <a:r>
              <a:rPr lang="ru-RU" altLang="ru-RU" sz="3600" dirty="0">
                <a:solidFill>
                  <a:schemeClr val="bg2"/>
                </a:solidFill>
              </a:rPr>
              <a:t>СУБД  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r>
              <a:rPr lang="ru-RU" altLang="ru-RU" sz="3600" dirty="0">
                <a:solidFill>
                  <a:schemeClr val="bg2"/>
                </a:solidFill>
              </a:rPr>
              <a:t>. </a:t>
            </a:r>
            <a:r>
              <a:rPr lang="ru-RU" sz="3600" b="1" dirty="0" err="1"/>
              <a:t>Глобалы</a:t>
            </a:r>
            <a:r>
              <a:rPr lang="ru-RU" sz="3600" b="1" dirty="0"/>
              <a:t> 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4102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Например, с помощью следующего </a:t>
            </a:r>
            <a:r>
              <a:rPr lang="ru-RU" dirty="0" err="1"/>
              <a:t>глобала</a:t>
            </a:r>
            <a:r>
              <a:rPr lang="ru-RU" dirty="0"/>
              <a:t> можно описать количество машин </a:t>
            </a:r>
            <a:r>
              <a:rPr lang="ru-RU" dirty="0" err="1"/>
              <a:t>Mercedes</a:t>
            </a:r>
            <a:r>
              <a:rPr lang="ru-RU" dirty="0"/>
              <a:t> SL600 черного цвета на складе:</a:t>
            </a:r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^car("Mercedes","SL600","black")=10</a:t>
            </a:r>
            <a:endParaRPr lang="ru-RU" dirty="0"/>
          </a:p>
          <a:p>
            <a:pPr marL="0" indent="0">
              <a:lnSpc>
                <a:spcPct val="120000"/>
              </a:lnSpc>
              <a:buNone/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Немного усложняя приведенную структуру описания данных, можно определить все доступные цвета для </a:t>
            </a:r>
            <a:r>
              <a:rPr lang="ru-RU" dirty="0" err="1"/>
              <a:t>Mercedes</a:t>
            </a:r>
            <a:r>
              <a:rPr lang="ru-RU" dirty="0"/>
              <a:t> SL600: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dirty="0"/>
              <a:t> </a:t>
            </a:r>
          </a:p>
          <a:p>
            <a:pPr>
              <a:lnSpc>
                <a:spcPct val="120000"/>
              </a:lnSpc>
            </a:pPr>
            <a:r>
              <a:rPr lang="en-US" dirty="0"/>
              <a:t>^car("Mercedes","SL600","colors")=3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^car("Mercedes","SL600" ,"colors",1)="black"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^car("Mercedes","SL600" ,"colors",2)="blue"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^car("Mercedes","SL600" ,"colors",3)="white"</a:t>
            </a: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Применение разреженных массивов позволяет оптимизировать использование объема жесткого диска и сократить время, требуемое на выполнение I/O операций и извлечение данных. </a:t>
            </a:r>
          </a:p>
          <a:p>
            <a:pPr>
              <a:lnSpc>
                <a:spcPct val="120000"/>
              </a:lnSpc>
            </a:pPr>
            <a:endParaRPr lang="ru-RU" dirty="0"/>
          </a:p>
          <a:p>
            <a:pPr>
              <a:lnSpc>
                <a:spcPct val="120000"/>
              </a:lnSpc>
            </a:pPr>
            <a:endParaRPr lang="ru-RU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6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54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76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Сервер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r>
              <a:rPr lang="en-US" altLang="ru-RU" sz="3600" dirty="0">
                <a:solidFill>
                  <a:schemeClr val="bg2"/>
                </a:solidFill>
              </a:rPr>
              <a:t> </a:t>
            </a:r>
            <a:r>
              <a:rPr lang="en-US" sz="3600" b="1" dirty="0"/>
              <a:t>Objects 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839200" cy="5410200"/>
          </a:xfrm>
        </p:spPr>
        <p:txBody>
          <a:bodyPr>
            <a:normAutofit/>
          </a:bodyPr>
          <a:lstStyle/>
          <a:p>
            <a:r>
              <a:rPr lang="ru-RU" sz="2800" dirty="0"/>
              <a:t>В соответствии с ODMG каждый объект </a:t>
            </a:r>
            <a:r>
              <a:rPr lang="ru-RU" sz="2800" dirty="0" err="1"/>
              <a:t>Cach</a:t>
            </a:r>
            <a:r>
              <a:rPr lang="en-US" sz="2800" dirty="0"/>
              <a:t>é</a:t>
            </a:r>
            <a:r>
              <a:rPr lang="ru-RU" sz="2800" dirty="0"/>
              <a:t> имеет определенный, единственный тип.</a:t>
            </a:r>
          </a:p>
          <a:p>
            <a:r>
              <a:rPr lang="ru-RU" sz="2800" dirty="0"/>
              <a:t> Поведение объекта определяется операциями (методами), а состояние объекта - значениями его свойств. </a:t>
            </a:r>
          </a:p>
          <a:p>
            <a:r>
              <a:rPr lang="ru-RU" sz="2800" dirty="0"/>
              <a:t>Свойства и операции составляют характеристики типа. </a:t>
            </a:r>
          </a:p>
          <a:p>
            <a:r>
              <a:rPr lang="ru-RU" sz="2800" dirty="0"/>
              <a:t>Тип определяется одним интерфейсом, которому может соответствовать одна или большее число реализаций. </a:t>
            </a:r>
            <a:endParaRPr lang="ru-RU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7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09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Классы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763000" cy="601980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sz="2800" dirty="0"/>
              <a:t>В соответствии со стандартом в </a:t>
            </a:r>
            <a:r>
              <a:rPr lang="ru-RU" sz="2800" dirty="0" err="1"/>
              <a:t>Cach</a:t>
            </a:r>
            <a:r>
              <a:rPr lang="en-US" sz="2800" dirty="0"/>
              <a:t>é </a:t>
            </a:r>
            <a:r>
              <a:rPr lang="ru-RU" sz="2800" dirty="0"/>
              <a:t>реализовано два типа классов: 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Классы типов данных (литералы). 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Классы объектов (объекты).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Классы типов данных определяют допустимые значения констант (литералов) и позволяют их контролировать.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Литерал не может существовать независимо от своего значения, в то время как объекты имеют уникальную идентификацию.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Классы типов данных подразделяется на два подкласса типов: 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Атомарные </a:t>
            </a:r>
          </a:p>
          <a:p>
            <a:pPr lvl="1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400" dirty="0"/>
              <a:t>Структурированные.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Атомарными литеральными типами в </a:t>
            </a:r>
            <a:r>
              <a:rPr lang="ru-RU" sz="2800" dirty="0" err="1"/>
              <a:t>Cach</a:t>
            </a:r>
            <a:r>
              <a:rPr lang="en-US" sz="2800" dirty="0"/>
              <a:t>é</a:t>
            </a:r>
            <a:r>
              <a:rPr lang="ru-RU" sz="2800" dirty="0"/>
              <a:t> являются традиционные скалярные типы данных (%</a:t>
            </a:r>
            <a:r>
              <a:rPr lang="ru-RU" sz="2800" dirty="0" err="1"/>
              <a:t>String</a:t>
            </a:r>
            <a:r>
              <a:rPr lang="ru-RU" sz="2800" dirty="0"/>
              <a:t>, %</a:t>
            </a:r>
            <a:r>
              <a:rPr lang="ru-RU" sz="2800" dirty="0" err="1"/>
              <a:t>Integer</a:t>
            </a:r>
            <a:r>
              <a:rPr lang="ru-RU" sz="2800" dirty="0"/>
              <a:t>, %</a:t>
            </a:r>
            <a:r>
              <a:rPr lang="ru-RU" sz="2800" dirty="0" err="1"/>
              <a:t>Float</a:t>
            </a:r>
            <a:r>
              <a:rPr lang="ru-RU" sz="2800" dirty="0"/>
              <a:t>, %</a:t>
            </a:r>
            <a:r>
              <a:rPr lang="ru-RU" sz="2800" dirty="0" err="1"/>
              <a:t>Date</a:t>
            </a:r>
            <a:r>
              <a:rPr lang="ru-RU" sz="2800" dirty="0"/>
              <a:t> и др.).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В </a:t>
            </a:r>
            <a:r>
              <a:rPr lang="ru-RU" sz="2800" dirty="0" err="1"/>
              <a:t>Cach</a:t>
            </a:r>
            <a:r>
              <a:rPr lang="en-US" sz="2800" dirty="0"/>
              <a:t>é</a:t>
            </a:r>
            <a:r>
              <a:rPr lang="ru-RU" sz="2800" dirty="0"/>
              <a:t> реализованы две структуры классов типов данных - </a:t>
            </a:r>
            <a:r>
              <a:rPr lang="ru-RU" sz="2800" b="1" dirty="0"/>
              <a:t>список</a:t>
            </a:r>
            <a:r>
              <a:rPr lang="ru-RU" sz="2800" dirty="0"/>
              <a:t> и </a:t>
            </a:r>
            <a:r>
              <a:rPr lang="ru-RU" sz="2800" b="1" dirty="0"/>
              <a:t>массив</a:t>
            </a:r>
            <a:r>
              <a:rPr lang="ru-RU" sz="2800" dirty="0"/>
              <a:t>. </a:t>
            </a:r>
          </a:p>
          <a:p>
            <a:pPr>
              <a:lnSpc>
                <a:spcPct val="120000"/>
              </a:lnSpc>
            </a:pPr>
            <a:r>
              <a:rPr lang="ru-RU" sz="2800" dirty="0"/>
              <a:t>Каждый литерал уникально идентифицируется индексом в массиве и порядковым номером в списке. 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8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560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Классы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763000" cy="6019800"/>
          </a:xfrm>
        </p:spPr>
        <p:txBody>
          <a:bodyPr>
            <a:normAutofit/>
          </a:bodyPr>
          <a:lstStyle/>
          <a:p>
            <a:br>
              <a:rPr lang="ru-RU" sz="2400" dirty="0">
                <a:effectLst/>
              </a:rPr>
            </a:br>
            <a:br>
              <a:rPr lang="ru-RU" sz="2800" dirty="0">
                <a:effectLst/>
              </a:rPr>
            </a:br>
            <a:endParaRPr lang="ru-RU" sz="2800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9</a:t>
            </a:fld>
            <a:endParaRPr lang="ru-RU" altLang="ru-RU">
              <a:latin typeface="Arial Black" pitchFamily="34" charset="0"/>
            </a:endParaRPr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150" y="762000"/>
            <a:ext cx="5776450" cy="3666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4800" y="4419600"/>
            <a:ext cx="8610600" cy="2286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/>
              <a:t>Зарегистрированные классы </a:t>
            </a:r>
            <a:r>
              <a:rPr lang="ru-RU" dirty="0"/>
              <a:t>обладают предопределенным поведением, т.е. набором методов, наследуемых из системного класса %</a:t>
            </a:r>
            <a:r>
              <a:rPr lang="ru-RU" dirty="0" err="1"/>
              <a:t>RegisteredObject</a:t>
            </a:r>
            <a:r>
              <a:rPr lang="ru-RU" dirty="0"/>
              <a:t> и отвечающих за создание новых объектов и за управление размещением объектов в памяти.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b="1" dirty="0"/>
              <a:t>Незарегистрированные классы </a:t>
            </a:r>
            <a:r>
              <a:rPr lang="ru-RU" dirty="0"/>
              <a:t>не обладают предопределенным поведением, разработка функций (методов) класса целиком и полностью возлагается на разработчика.</a:t>
            </a:r>
          </a:p>
        </p:txBody>
      </p:sp>
    </p:spTree>
    <p:extLst>
      <p:ext uri="{BB962C8B-B14F-4D97-AF65-F5344CB8AC3E}">
        <p14:creationId xmlns:p14="http://schemas.microsoft.com/office/powerpoint/2010/main" val="101169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Классы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763000" cy="6019800"/>
          </a:xfrm>
        </p:spPr>
        <p:txBody>
          <a:bodyPr>
            <a:normAutofit/>
          </a:bodyPr>
          <a:lstStyle/>
          <a:p>
            <a:r>
              <a:rPr lang="ru-RU" sz="2400" dirty="0"/>
              <a:t>Зарегистрированные классы могут быть двух типов - </a:t>
            </a:r>
            <a:r>
              <a:rPr lang="ru-RU" sz="2400" b="1" dirty="0"/>
              <a:t>встраиваемые</a:t>
            </a:r>
            <a:r>
              <a:rPr lang="ru-RU" sz="2400" dirty="0"/>
              <a:t> и </a:t>
            </a:r>
            <a:r>
              <a:rPr lang="ru-RU" sz="2400" b="1" dirty="0"/>
              <a:t>хранимые</a:t>
            </a:r>
            <a:r>
              <a:rPr lang="ru-RU" sz="2400" dirty="0"/>
              <a:t>.</a:t>
            </a:r>
          </a:p>
          <a:p>
            <a:r>
              <a:rPr lang="ru-RU" sz="2400" b="1" dirty="0">
                <a:solidFill>
                  <a:srgbClr val="C00000"/>
                </a:solidFill>
              </a:rPr>
              <a:t>Встраиваемые классы </a:t>
            </a:r>
            <a:r>
              <a:rPr lang="ru-RU" sz="2400" dirty="0"/>
              <a:t>наследуют свое поведение от системного класса %</a:t>
            </a:r>
            <a:r>
              <a:rPr lang="ru-RU" sz="2400" dirty="0" err="1"/>
              <a:t>SerialObject</a:t>
            </a:r>
            <a:r>
              <a:rPr lang="ru-RU" sz="2400" dirty="0"/>
              <a:t>. </a:t>
            </a:r>
          </a:p>
          <a:p>
            <a:r>
              <a:rPr lang="ru-RU" sz="2400" dirty="0"/>
              <a:t>Основной </a:t>
            </a:r>
            <a:r>
              <a:rPr lang="ru-RU" sz="2400" b="1" dirty="0"/>
              <a:t>особенностью хранения </a:t>
            </a:r>
            <a:r>
              <a:rPr lang="ru-RU" sz="2400" dirty="0"/>
              <a:t>встраиваемого класса является то, что объекты встраиваемых классов </a:t>
            </a:r>
            <a:r>
              <a:rPr lang="ru-RU" sz="2400" b="1" dirty="0"/>
              <a:t>существуют в памяти как независимые экземпляры</a:t>
            </a:r>
            <a:r>
              <a:rPr lang="ru-RU" sz="2400" dirty="0"/>
              <a:t>, однако могут быть сохранены в базе данных, только будучи встроены в другой класс. </a:t>
            </a:r>
          </a:p>
          <a:p>
            <a:r>
              <a:rPr lang="ru-RU" sz="2400" dirty="0"/>
              <a:t>Основным преимуществом использования встроенных классов является минимум издержек, связанных с возможным в будущем изменением набора одинаковых свойств классов, представленных в виде встраиваемого объекта. 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10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79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Классы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791200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Хранимые классы </a:t>
            </a:r>
            <a:r>
              <a:rPr lang="ru-RU" sz="2400" dirty="0"/>
              <a:t>наследуют свое поведение от системного класса %</a:t>
            </a:r>
            <a:r>
              <a:rPr lang="ru-RU" sz="2400" dirty="0" err="1"/>
              <a:t>Persistent</a:t>
            </a:r>
            <a:r>
              <a:rPr lang="ru-RU" sz="2400" dirty="0"/>
              <a:t>. </a:t>
            </a:r>
          </a:p>
          <a:p>
            <a:r>
              <a:rPr lang="ru-RU" sz="2400" dirty="0"/>
              <a:t>%</a:t>
            </a:r>
            <a:r>
              <a:rPr lang="ru-RU" sz="2400" dirty="0" err="1"/>
              <a:t>Persistent</a:t>
            </a:r>
            <a:r>
              <a:rPr lang="ru-RU" sz="2400" dirty="0"/>
              <a:t> предоставляет обширный набор функций своим наследникам, включающий: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создание объекта,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подкачку объекта из БД в память, </a:t>
            </a:r>
          </a:p>
          <a:p>
            <a:pPr lvl="1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ru-RU" sz="2000" dirty="0"/>
              <a:t>удаление объекта и т.п. </a:t>
            </a:r>
          </a:p>
          <a:p>
            <a:r>
              <a:rPr lang="ru-RU" sz="2400" dirty="0"/>
              <a:t>Каждый экземпляр хранимого класса имеет 2 уникальных идентификатора - OID и OREF. </a:t>
            </a:r>
          </a:p>
          <a:p>
            <a:r>
              <a:rPr lang="ru-RU" sz="2400" dirty="0"/>
              <a:t>OID (</a:t>
            </a:r>
            <a:r>
              <a:rPr lang="ru-RU" sz="2400" dirty="0" err="1"/>
              <a:t>object</a:t>
            </a:r>
            <a:r>
              <a:rPr lang="ru-RU" sz="2400" dirty="0"/>
              <a:t> ID) характеризует объект, записанный в БД, т.е. на физическом носителе,</a:t>
            </a:r>
          </a:p>
          <a:p>
            <a:r>
              <a:rPr lang="ru-RU" sz="2400" dirty="0"/>
              <a:t>OREF (</a:t>
            </a:r>
            <a:r>
              <a:rPr lang="ru-RU" sz="2400" dirty="0" err="1"/>
              <a:t>object</a:t>
            </a:r>
            <a:r>
              <a:rPr lang="ru-RU" sz="2400" dirty="0"/>
              <a:t> </a:t>
            </a:r>
            <a:r>
              <a:rPr lang="ru-RU" sz="2400" dirty="0" err="1"/>
              <a:t>reference</a:t>
            </a:r>
            <a:r>
              <a:rPr lang="ru-RU" sz="2400" dirty="0"/>
              <a:t>) характеризует объект, который был подкачен из БД и находится в памяти. </a:t>
            </a:r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11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870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6858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Сервер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r>
              <a:rPr lang="ru-RU" sz="3600" b="1" dirty="0"/>
              <a:t> SQL 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60960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sz="2400" dirty="0"/>
              <a:t>Наряду с реализацией в полном объеме основных принципов объектной технологии в СУБД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b="1" dirty="0"/>
              <a:t>поддерживается также структурированный язык запросов SQL</a:t>
            </a:r>
            <a:r>
              <a:rPr lang="ru-RU" sz="2400" dirty="0"/>
              <a:t> для обеспечения выполнения запросов по стандарту, поддерживаемому многими инструментальными средствами.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Кроме этого, с помощью единой архитектуры данных </a:t>
            </a:r>
            <a:r>
              <a:rPr lang="en-US" sz="2400" dirty="0" err="1"/>
              <a:t>Caché</a:t>
            </a:r>
            <a:r>
              <a:rPr lang="ru-RU" sz="2400" dirty="0"/>
              <a:t> возможно </a:t>
            </a:r>
            <a:r>
              <a:rPr lang="ru-RU" sz="2400" b="1" dirty="0"/>
              <a:t>автоматическое преобразование </a:t>
            </a:r>
            <a:r>
              <a:rPr lang="ru-RU" sz="2400" dirty="0"/>
              <a:t>реляционных таблиц в классы объектов. 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При этом, при поступлении на сервер </a:t>
            </a:r>
            <a:r>
              <a:rPr lang="en-US" sz="2400" dirty="0" err="1"/>
              <a:t>Cach</a:t>
            </a:r>
            <a:r>
              <a:rPr lang="en-US" sz="2400" dirty="0" err="1">
                <a:latin typeface="Arial"/>
                <a:cs typeface="Arial"/>
              </a:rPr>
              <a:t>é</a:t>
            </a:r>
            <a:r>
              <a:rPr lang="ru-RU" sz="2400" dirty="0">
                <a:latin typeface="Arial"/>
                <a:cs typeface="Arial"/>
              </a:rPr>
              <a:t> </a:t>
            </a:r>
            <a:r>
              <a:rPr lang="ru-RU" sz="2400" dirty="0"/>
              <a:t>DDL-описания реляционной таблицы </a:t>
            </a:r>
            <a:r>
              <a:rPr lang="ru-RU" sz="2400" dirty="0" err="1"/>
              <a:t>Cach</a:t>
            </a:r>
            <a:r>
              <a:rPr lang="en-US" sz="2400" dirty="0"/>
              <a:t>é</a:t>
            </a:r>
            <a:r>
              <a:rPr lang="ru-RU" sz="2400" dirty="0"/>
              <a:t> </a:t>
            </a:r>
            <a:r>
              <a:rPr lang="ru-RU" sz="2400" b="1" dirty="0"/>
              <a:t>автоматически преобразует DDL-описание во внутреннюю структуру хранения данных </a:t>
            </a:r>
            <a:r>
              <a:rPr lang="ru-RU" sz="2400" dirty="0"/>
              <a:t>и сохраняет полученную структуру в словаре данных. 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Затем с помощью поставляемых в стандартной комплектации </a:t>
            </a:r>
            <a:r>
              <a:rPr lang="ru-RU" sz="2400" dirty="0" err="1"/>
              <a:t>Java</a:t>
            </a:r>
            <a:r>
              <a:rPr lang="ru-RU" sz="2400" dirty="0"/>
              <a:t>- или ODBC- драйверов производится </a:t>
            </a:r>
            <a:r>
              <a:rPr lang="ru-RU" sz="2400" b="1" dirty="0"/>
              <a:t>импорт данных из реляционных таблиц в многомерные структуры </a:t>
            </a:r>
            <a:r>
              <a:rPr lang="ru-RU" sz="2400" dirty="0"/>
              <a:t>ядра </a:t>
            </a:r>
            <a:r>
              <a:rPr lang="ru-RU" sz="2400" dirty="0" err="1"/>
              <a:t>Cache</a:t>
            </a:r>
            <a:r>
              <a:rPr lang="ru-RU" sz="2400" dirty="0"/>
              <a:t>'.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 После чего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/>
              <a:t>предоставляет возможность работы с данными, </a:t>
            </a:r>
            <a:r>
              <a:rPr lang="ru-RU" sz="2400" b="1" dirty="0"/>
              <a:t>как в виде реляционных таблиц, так и в виде классов </a:t>
            </a:r>
            <a:r>
              <a:rPr lang="ru-RU" sz="2400" dirty="0"/>
              <a:t>объектов. 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Таким образом, при переходе с реляционной технологии на объектную технологию разработка не начинается с "нуля" - многое уже сделано </a:t>
            </a:r>
            <a:r>
              <a:rPr lang="ru-RU" sz="2400" dirty="0" err="1"/>
              <a:t>Cach</a:t>
            </a:r>
            <a:r>
              <a:rPr lang="en-US" sz="2400" dirty="0"/>
              <a:t>é</a:t>
            </a:r>
            <a:r>
              <a:rPr lang="ru-RU" sz="2400" dirty="0"/>
              <a:t> автоматически. </a:t>
            </a:r>
          </a:p>
          <a:p>
            <a:pPr>
              <a:lnSpc>
                <a:spcPct val="120000"/>
              </a:lnSpc>
            </a:pPr>
            <a:endParaRPr lang="ru-RU" sz="2400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12</a:t>
            </a:fld>
            <a:endParaRPr lang="ru-RU" altLang="ru-RU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81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685800"/>
          </a:xfrm>
        </p:spPr>
        <p:txBody>
          <a:bodyPr/>
          <a:lstStyle/>
          <a:p>
            <a:pPr algn="ctr" eaLnBrk="1" hangingPunct="1"/>
            <a:r>
              <a:rPr lang="ru-RU" sz="3600" b="1" dirty="0"/>
              <a:t>Сервер </a:t>
            </a:r>
            <a:r>
              <a:rPr lang="en-US" altLang="ru-RU" sz="3600" dirty="0" err="1">
                <a:solidFill>
                  <a:schemeClr val="bg2"/>
                </a:solidFill>
              </a:rPr>
              <a:t>Caché</a:t>
            </a:r>
            <a:r>
              <a:rPr lang="ru-RU" sz="3600" b="1" dirty="0"/>
              <a:t> SQL 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6096000"/>
          </a:xfrm>
        </p:spPr>
        <p:txBody>
          <a:bodyPr>
            <a:normAutofit/>
          </a:bodyPr>
          <a:lstStyle/>
          <a:p>
            <a:endParaRPr lang="ru-RU" sz="2400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13</a:t>
            </a:fld>
            <a:endParaRPr lang="ru-RU" altLang="ru-RU">
              <a:latin typeface="Arial Black" pitchFamily="34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718965"/>
              </p:ext>
            </p:extLst>
          </p:nvPr>
        </p:nvGraphicFramePr>
        <p:xfrm>
          <a:off x="457200" y="685802"/>
          <a:ext cx="7772400" cy="58318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9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2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C00000"/>
                          </a:solidFill>
                          <a:effectLst/>
                        </a:rPr>
                        <a:t>Объектное понятие</a:t>
                      </a:r>
                      <a:endParaRPr lang="ru-RU" sz="2400" b="1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rgbClr val="C00000"/>
                          </a:solidFill>
                          <a:effectLst/>
                        </a:rPr>
                        <a:t>Реляционное понятие</a:t>
                      </a:r>
                      <a:endParaRPr lang="ru-RU" sz="2400" b="1" dirty="0">
                        <a:solidFill>
                          <a:srgbClr val="C00000"/>
                        </a:solidFill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Класс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Таблица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Экземпляр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Строка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421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Идентификатор объекта (OID)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ID-столбец в виде первичного ключа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Свойство-константа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Столбец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896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Ссылка на хранимый объект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Внешний ключ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Встраиваемый объект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Индивидуальные столбцы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Коллекция-список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Столбец с полем-списком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Коллекция-массив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Подтаблица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Поток данных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BLOB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Индекс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Индекс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750421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Запрос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Хранимая процедура или представление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5210"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</a:rPr>
                        <a:t>Метод класса</a:t>
                      </a:r>
                      <a:endParaRPr lang="ru-RU" sz="1800" b="1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</a:rPr>
                        <a:t>Хранимая процедура</a:t>
                      </a:r>
                      <a:endParaRPr lang="ru-RU" sz="18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48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685800"/>
          </a:xfrm>
        </p:spPr>
        <p:txBody>
          <a:bodyPr/>
          <a:lstStyle/>
          <a:p>
            <a:pPr algn="ctr" eaLnBrk="1" hangingPunct="1"/>
            <a:r>
              <a:rPr lang="en-US" altLang="ru-RU" sz="3600">
                <a:solidFill>
                  <a:schemeClr val="bg2"/>
                </a:solidFill>
              </a:rPr>
              <a:t>Caché</a:t>
            </a:r>
            <a:r>
              <a:rPr lang="ru-RU" sz="3600" b="1" dirty="0"/>
              <a:t> SQL 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6096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СУБД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/>
              <a:t>поддерживает все элементы ANSI-стандартов, реализованных для SQL и SQL-92.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Для облегчения разработки прикладных систем баз данных,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/>
              <a:t>поддерживает встраивание SQL в методы и программы. Встроенный SQL может быть использован для решения следующих задач: </a:t>
            </a:r>
          </a:p>
          <a:p>
            <a:pPr lvl="0">
              <a:lnSpc>
                <a:spcPct val="110000"/>
              </a:lnSpc>
            </a:pPr>
            <a:r>
              <a:rPr lang="ru-RU" sz="2400" dirty="0"/>
              <a:t>Реализации сложных запросов к базам данных </a:t>
            </a:r>
          </a:p>
          <a:p>
            <a:pPr lvl="0">
              <a:lnSpc>
                <a:spcPct val="110000"/>
              </a:lnSpc>
            </a:pPr>
            <a:r>
              <a:rPr lang="ru-RU" sz="2400" dirty="0"/>
              <a:t>Представления полученных результатов запросов в качестве значений переменных встроенного языка разработки приложений </a:t>
            </a:r>
            <a:r>
              <a:rPr lang="ru-RU" sz="2400" dirty="0" err="1"/>
              <a:t>Cach</a:t>
            </a:r>
            <a:r>
              <a:rPr lang="en-US" sz="2400" dirty="0"/>
              <a:t>é </a:t>
            </a:r>
            <a:r>
              <a:rPr lang="ru-RU" sz="2400" dirty="0" err="1"/>
              <a:t>Object</a:t>
            </a:r>
            <a:r>
              <a:rPr lang="ru-RU" sz="2400" dirty="0"/>
              <a:t> </a:t>
            </a:r>
            <a:r>
              <a:rPr lang="ru-RU" sz="2400" dirty="0" err="1"/>
              <a:t>Script</a:t>
            </a:r>
            <a:r>
              <a:rPr lang="ru-RU" sz="2400" dirty="0"/>
              <a:t> (COS). </a:t>
            </a:r>
          </a:p>
          <a:p>
            <a:pPr>
              <a:lnSpc>
                <a:spcPct val="110000"/>
              </a:lnSpc>
            </a:pPr>
            <a:r>
              <a:rPr lang="ru-RU" sz="2400" dirty="0"/>
              <a:t>Пример использования встроенного SQL запроса: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400" dirty="0"/>
              <a:t>new id, Surname</a:t>
            </a:r>
            <a:endParaRPr lang="ru-RU" sz="2400" dirty="0"/>
          </a:p>
          <a:p>
            <a:pPr lvl="1">
              <a:lnSpc>
                <a:spcPct val="110000"/>
              </a:lnSpc>
              <a:buNone/>
            </a:pPr>
            <a:r>
              <a:rPr lang="en-US" sz="2400" dirty="0"/>
              <a:t>set Surname="Ivanov"</a:t>
            </a:r>
            <a:endParaRPr lang="ru-RU" sz="2400" dirty="0"/>
          </a:p>
          <a:p>
            <a:pPr lvl="1">
              <a:lnSpc>
                <a:spcPct val="110000"/>
              </a:lnSpc>
              <a:buNone/>
            </a:pPr>
            <a:r>
              <a:rPr lang="en-US" sz="2400" dirty="0"/>
              <a:t>&amp;</a:t>
            </a:r>
            <a:r>
              <a:rPr lang="en-US" sz="2400" dirty="0" err="1"/>
              <a:t>sql</a:t>
            </a:r>
            <a:r>
              <a:rPr lang="en-US" sz="2400" dirty="0"/>
              <a:t>(  SELECT Id 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400" dirty="0"/>
              <a:t>		     into :id FROM Person </a:t>
            </a:r>
          </a:p>
          <a:p>
            <a:pPr lvl="1">
              <a:lnSpc>
                <a:spcPct val="110000"/>
              </a:lnSpc>
              <a:buNone/>
            </a:pPr>
            <a:r>
              <a:rPr lang="en-US" sz="2400" dirty="0"/>
              <a:t>		     where Surname=:Surname)</a:t>
            </a:r>
            <a:endParaRPr lang="ru-RU" sz="2400" dirty="0"/>
          </a:p>
          <a:p>
            <a:pPr>
              <a:lnSpc>
                <a:spcPct val="110000"/>
              </a:lnSpc>
            </a:pPr>
            <a:endParaRPr lang="ru-RU" sz="2400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14</a:t>
            </a:fld>
            <a:endParaRPr lang="ru-RU" altLang="ru-RU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7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305800" cy="685800"/>
          </a:xfrm>
        </p:spPr>
        <p:txBody>
          <a:bodyPr/>
          <a:lstStyle/>
          <a:p>
            <a:pPr algn="ctr" eaLnBrk="1" hangingPunct="1"/>
            <a:r>
              <a:rPr lang="ru-RU" altLang="ru-RU" sz="3600">
                <a:solidFill>
                  <a:schemeClr val="bg2"/>
                </a:solidFill>
              </a:rPr>
              <a:t>Демонстрация </a:t>
            </a:r>
            <a:r>
              <a:rPr lang="en-US" altLang="ru-RU" sz="3600">
                <a:solidFill>
                  <a:schemeClr val="bg2"/>
                </a:solidFill>
              </a:rPr>
              <a:t>Caché</a:t>
            </a:r>
            <a:endParaRPr lang="ru-RU" altLang="ru-RU" sz="3600" dirty="0">
              <a:solidFill>
                <a:schemeClr val="bg2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609600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2400" dirty="0"/>
              <a:t>Примеры на тестовой БД</a:t>
            </a:r>
          </a:p>
          <a:p>
            <a:pPr>
              <a:lnSpc>
                <a:spcPct val="110000"/>
              </a:lnSpc>
            </a:pPr>
            <a:endParaRPr lang="ru-RU" sz="2400" dirty="0"/>
          </a:p>
        </p:txBody>
      </p:sp>
      <p:sp>
        <p:nvSpPr>
          <p:cNvPr id="27652" name="Номер слайда 1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66ABF6D-62E1-4E3B-91E0-E808DAEE9D7F}" type="slidenum">
              <a:rPr lang="ru-RU" altLang="ru-RU" smtClean="0">
                <a:latin typeface="Arial Black" pitchFamily="34" charset="0"/>
              </a:rPr>
              <a:pPr eaLnBrk="1" hangingPunct="1"/>
              <a:t>15</a:t>
            </a:fld>
            <a:endParaRPr lang="ru-RU" altLang="ru-RU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179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1392</TotalTime>
  <Words>1170</Words>
  <Application>Microsoft Office PowerPoint</Application>
  <PresentationFormat>Экран (4:3)</PresentationFormat>
  <Paragraphs>137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Times New Roman</vt:lpstr>
      <vt:lpstr>Wingdings</vt:lpstr>
      <vt:lpstr>Пиксел</vt:lpstr>
      <vt:lpstr>Объектная система управления базами данных</vt:lpstr>
      <vt:lpstr>СУБД   Caché</vt:lpstr>
      <vt:lpstr>СУБД   Caché</vt:lpstr>
      <vt:lpstr>Архитектура СУБД   Caché</vt:lpstr>
      <vt:lpstr>СУБД   Caché. TMDM </vt:lpstr>
      <vt:lpstr>СУБД   Caché. Глобалы </vt:lpstr>
      <vt:lpstr>Сервер Caché Objects </vt:lpstr>
      <vt:lpstr>Классы Caché</vt:lpstr>
      <vt:lpstr>Классы Caché</vt:lpstr>
      <vt:lpstr>Классы Caché</vt:lpstr>
      <vt:lpstr>Классы Caché</vt:lpstr>
      <vt:lpstr>Сервер Caché SQL </vt:lpstr>
      <vt:lpstr>Сервер Caché SQL </vt:lpstr>
      <vt:lpstr>Caché SQL </vt:lpstr>
      <vt:lpstr>Демонстрация Caché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Vista</dc:creator>
  <cp:lastModifiedBy>Борис Николаевич Пищик</cp:lastModifiedBy>
  <cp:revision>74</cp:revision>
  <cp:lastPrinted>1601-01-01T00:00:00Z</cp:lastPrinted>
  <dcterms:created xsi:type="dcterms:W3CDTF">2010-05-11T09:25:46Z</dcterms:created>
  <dcterms:modified xsi:type="dcterms:W3CDTF">2020-04-30T05:06:54Z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