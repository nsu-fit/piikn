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5"/>
  </p:notesMasterIdLst>
  <p:sldIdLst>
    <p:sldId id="256" r:id="rId2"/>
    <p:sldId id="300" r:id="rId3"/>
    <p:sldId id="278" r:id="rId4"/>
    <p:sldId id="303" r:id="rId5"/>
    <p:sldId id="273" r:id="rId6"/>
    <p:sldId id="304" r:id="rId7"/>
    <p:sldId id="305" r:id="rId8"/>
    <p:sldId id="306" r:id="rId9"/>
    <p:sldId id="332" r:id="rId10"/>
    <p:sldId id="333" r:id="rId11"/>
    <p:sldId id="308" r:id="rId12"/>
    <p:sldId id="311" r:id="rId13"/>
    <p:sldId id="340" r:id="rId14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4110"/>
    <a:srgbClr val="008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78598" autoAdjust="0"/>
  </p:normalViewPr>
  <p:slideViewPr>
    <p:cSldViewPr snapToGrid="0" showGuides="1">
      <p:cViewPr varScale="1">
        <p:scale>
          <a:sx n="75" d="100"/>
          <a:sy n="75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195D6C-8515-4AD4-ACD0-9A86638E16B3}" type="datetimeFigureOut">
              <a:rPr lang="ru-RU"/>
              <a:pPr>
                <a:defRPr/>
              </a:pPr>
              <a:t>04.05.2024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DF6F30-BE18-42A7-8693-14D70F9A854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830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607AF46-0A1A-4860-B217-2FFB225E3B59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4334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Описывались варианты включения группы АБД в общую </a:t>
            </a:r>
            <a:r>
              <a:rPr lang="ru-RU" dirty="0" err="1"/>
              <a:t>оргструктуру</a:t>
            </a:r>
            <a:r>
              <a:rPr lang="ru-RU" dirty="0"/>
              <a:t> предприятия, причем, </a:t>
            </a:r>
            <a:r>
              <a:rPr lang="ru-RU" b="1" dirty="0"/>
              <a:t>рекомендовалось определять уровень АБД не ниже, чем непосредственно подчиненный руководителю высокого ранга, отвечающему за обработку данных на предприятии в целом.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2933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BF1D1-2711-4C80-94E9-219138BD1D1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688F-E6B0-4FD2-A40D-BE0C1EDDAA0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E019D-5F85-4D8F-BF7A-168D41BDB76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5EDA0-98DC-4413-988B-11537E048CF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FE011-F693-4457-94DD-D56638FAEBA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E2CE7-7B03-4EE5-BB5A-EC4A6DF2630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642F1-B3DF-4261-9749-15A733FD3BC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5268D-0FE8-4ABA-BDB0-8213701DC69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FAC00-5A93-4F29-8B8C-043C501DBFF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26052-DDA3-49DA-BAE8-4652EFC9178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1FE25-230F-4EA2-BC86-4E1C45F25FD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8FF21-CD04-44DD-8081-9BF91E63D77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7A4B4-4934-4B9B-9557-A52EE1E6841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94E9485A-49C4-487C-8E4F-F1D0F490B65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ostgrespro.ru/docs/postgresql/16/adm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wnloa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build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stgresql.org/ftp/source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grespro.ru/docs/postgresql/16/app-pg-ct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grespro.ru/docs/postgresql/16/runtime-config-resource#GUC-MAX-FILES-PER-PROCES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1288" y="1844675"/>
            <a:ext cx="7732712" cy="2305050"/>
          </a:xfrm>
        </p:spPr>
        <p:txBody>
          <a:bodyPr/>
          <a:lstStyle/>
          <a:p>
            <a:pPr algn="ctr" eaLnBrk="1" hangingPunct="1">
              <a:spcAft>
                <a:spcPct val="150000"/>
              </a:spcAft>
            </a:pPr>
            <a:r>
              <a:rPr lang="ru-RU" dirty="0"/>
              <a:t>Администрирование </a:t>
            </a:r>
            <a:br>
              <a:rPr lang="ru-RU" dirty="0"/>
            </a:br>
            <a:r>
              <a:rPr lang="ru-RU" dirty="0"/>
              <a:t>баз данных</a:t>
            </a:r>
            <a:br>
              <a:rPr lang="ru-RU" dirty="0"/>
            </a:br>
            <a:r>
              <a:rPr lang="en-US" dirty="0"/>
              <a:t>(</a:t>
            </a:r>
            <a:r>
              <a:rPr lang="en-US" dirty="0" err="1"/>
              <a:t>PostgresPro</a:t>
            </a:r>
            <a:r>
              <a:rPr lang="en-US" dirty="0"/>
              <a:t>)</a:t>
            </a:r>
            <a:endParaRPr lang="ru-RU" sz="40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8052" y="4293704"/>
            <a:ext cx="8825947" cy="2166732"/>
          </a:xfrm>
        </p:spPr>
        <p:txBody>
          <a:bodyPr>
            <a:normAutofit/>
          </a:bodyPr>
          <a:lstStyle/>
          <a:p>
            <a:r>
              <a:rPr lang="en-US" sz="2800" b="1" dirty="0">
                <a:hlinkClick r:id="rId3"/>
              </a:rPr>
              <a:t>https://postgrespro.ru/docs/postgresql/16/admin</a:t>
            </a:r>
            <a:endParaRPr lang="en-US" sz="2800" b="1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7800" y="0"/>
            <a:ext cx="8788400" cy="757237"/>
          </a:xfrm>
        </p:spPr>
        <p:txBody>
          <a:bodyPr lIns="36000" tIns="36000" rIns="36000" bIns="36000"/>
          <a:lstStyle/>
          <a:p>
            <a:pPr algn="ctr"/>
            <a:r>
              <a:rPr lang="ru-RU" sz="3200" b="1" dirty="0">
                <a:solidFill>
                  <a:schemeClr val="bg2"/>
                </a:solidFill>
              </a:rPr>
              <a:t>План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268356" y="884350"/>
            <a:ext cx="8607288" cy="3940314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ru-RU" dirty="0"/>
              <a:t>Установка программного обеспечения</a:t>
            </a:r>
            <a:endParaRPr lang="en-US" dirty="0"/>
          </a:p>
          <a:p>
            <a:pPr lvl="0">
              <a:lnSpc>
                <a:spcPct val="150000"/>
              </a:lnSpc>
            </a:pPr>
            <a:r>
              <a:rPr lang="ru-RU" dirty="0"/>
              <a:t>Установка и настройка сервера</a:t>
            </a:r>
            <a:endParaRPr lang="en-US" dirty="0"/>
          </a:p>
          <a:p>
            <a:pPr lvl="0">
              <a:lnSpc>
                <a:spcPct val="150000"/>
              </a:lnSpc>
            </a:pPr>
            <a:r>
              <a:rPr lang="ru-RU" dirty="0"/>
              <a:t>Управление пользователями</a:t>
            </a:r>
            <a:endParaRPr lang="en-US" dirty="0"/>
          </a:p>
          <a:p>
            <a:pPr lvl="0">
              <a:lnSpc>
                <a:spcPct val="150000"/>
              </a:lnSpc>
            </a:pPr>
            <a:r>
              <a:rPr lang="ru-RU" dirty="0"/>
              <a:t>Управление базами данных</a:t>
            </a:r>
            <a:endParaRPr lang="en-US" dirty="0"/>
          </a:p>
          <a:p>
            <a:pPr lvl="0">
              <a:lnSpc>
                <a:spcPct val="150000"/>
              </a:lnSpc>
            </a:pPr>
            <a:r>
              <a:rPr lang="ru-RU" dirty="0"/>
              <a:t>Задачи обслуживания</a:t>
            </a:r>
            <a:endParaRPr lang="ru-RU" sz="28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214313"/>
            <a:ext cx="8750300" cy="828675"/>
          </a:xfrm>
          <a:noFill/>
        </p:spPr>
        <p:txBody>
          <a:bodyPr/>
          <a:lstStyle/>
          <a:p>
            <a:pPr algn="ctr"/>
            <a:r>
              <a:rPr lang="ru-RU" sz="2800" b="1" dirty="0">
                <a:solidFill>
                  <a:schemeClr val="bg2"/>
                </a:solidFill>
              </a:rPr>
              <a:t>Установка программного </a:t>
            </a:r>
            <a:r>
              <a:rPr lang="ru-RU" sz="3200" b="1" dirty="0">
                <a:solidFill>
                  <a:schemeClr val="bg2"/>
                </a:solidFill>
              </a:rPr>
              <a:t>обеспечения</a:t>
            </a:r>
          </a:p>
        </p:txBody>
      </p:sp>
      <p:sp>
        <p:nvSpPr>
          <p:cNvPr id="5123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956A2D-15F4-46D2-8176-B70B57CC9E9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124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5" name="Содержимое 26"/>
          <p:cNvSpPr>
            <a:spLocks noGrp="1"/>
          </p:cNvSpPr>
          <p:nvPr>
            <p:ph idx="1"/>
          </p:nvPr>
        </p:nvSpPr>
        <p:spPr>
          <a:xfrm>
            <a:off x="196850" y="1188508"/>
            <a:ext cx="8923866" cy="5520267"/>
          </a:xfrm>
        </p:spPr>
        <p:txBody>
          <a:bodyPr lIns="36000" tIns="36000" rIns="36000" bIns="36000">
            <a:normAutofit fontScale="92500" lnSpcReduction="10000"/>
          </a:bodyPr>
          <a:lstStyle/>
          <a:p>
            <a:r>
              <a:rPr lang="ru-RU" dirty="0"/>
              <a:t>Установка из двоичных пакетов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ru-RU" dirty="0" err="1"/>
              <a:t>PostgreSQL</a:t>
            </a:r>
            <a:r>
              <a:rPr lang="ru-RU" dirty="0"/>
              <a:t> доступен в виде двоичных пакетов для самых распространённых операционных систем. 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ru-RU" dirty="0"/>
              <a:t>Если эти пакеты есть в вашей системе, устанавливать </a:t>
            </a:r>
            <a:r>
              <a:rPr lang="ru-RU" dirty="0" err="1"/>
              <a:t>PostgreSQL</a:t>
            </a:r>
            <a:r>
              <a:rPr lang="ru-RU" dirty="0"/>
              <a:t> рекомендуется именно из них.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ru-RU" dirty="0"/>
              <a:t>Актуальный список платформ, для которых предоставляются двоичные пакеты </a:t>
            </a:r>
            <a:r>
              <a:rPr lang="en-US" u="sng" dirty="0">
                <a:hlinkClick r:id="rId3"/>
              </a:rPr>
              <a:t>https://www.postgresql.org/download/</a:t>
            </a:r>
            <a:r>
              <a:rPr lang="ru-RU" u="sng" dirty="0"/>
              <a:t>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ru-RU" dirty="0"/>
              <a:t>Там же приведены инструкции по установке на определённой платформе.</a:t>
            </a:r>
            <a:br>
              <a:rPr lang="ru-RU" dirty="0"/>
            </a:br>
            <a:endParaRPr lang="ru-RU" sz="2900" dirty="0"/>
          </a:p>
          <a:p>
            <a:pPr>
              <a:lnSpc>
                <a:spcPct val="110000"/>
              </a:lnSpc>
            </a:pPr>
            <a:endParaRPr lang="ru-RU" dirty="0"/>
          </a:p>
          <a:p>
            <a:pPr>
              <a:lnSpc>
                <a:spcPct val="110000"/>
              </a:lnSpc>
            </a:pPr>
            <a:endParaRPr lang="ru-RU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ru-RU" dirty="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ru-RU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276350" y="192633"/>
            <a:ext cx="6591300" cy="554037"/>
          </a:xfrm>
        </p:spPr>
        <p:txBody>
          <a:bodyPr lIns="36000" tIns="36000" rIns="36000" bIns="36000"/>
          <a:lstStyle/>
          <a:p>
            <a:r>
              <a:rPr lang="ru-RU" sz="3200" b="1" dirty="0">
                <a:solidFill>
                  <a:schemeClr val="bg2"/>
                </a:solidFill>
              </a:rPr>
              <a:t>Установка из исходного кода</a:t>
            </a: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CC5A35-9430-5214-9919-7D6349195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62" y="883741"/>
            <a:ext cx="8956676" cy="582185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Требования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altLang="ru-RU" dirty="0">
                <a:solidFill>
                  <a:srgbClr val="000000"/>
                </a:solidFill>
                <a:latin typeface="Roboto" panose="02000000000000000000" pitchFamily="2" charset="0"/>
              </a:rPr>
              <a:t>требуется </a:t>
            </a:r>
            <a:r>
              <a:rPr lang="ru-RU" altLang="ru-RU" sz="400" dirty="0"/>
              <a:t>GNU</a:t>
            </a:r>
            <a:r>
              <a:rPr lang="ru-RU" altLang="ru-RU" dirty="0">
                <a:solidFill>
                  <a:srgbClr val="000000"/>
                </a:solidFill>
                <a:latin typeface="Roboto" panose="02000000000000000000" pitchFamily="2" charset="0"/>
              </a:rPr>
              <a:t> </a:t>
            </a:r>
            <a:r>
              <a:rPr lang="ru-RU" altLang="ru-RU" dirty="0" err="1">
                <a:solidFill>
                  <a:srgbClr val="000000"/>
                </a:solidFill>
                <a:latin typeface="Roboto" panose="02000000000000000000" pitchFamily="2" charset="0"/>
              </a:rPr>
              <a:t>make</a:t>
            </a:r>
            <a:r>
              <a:rPr lang="ru-RU" altLang="ru-RU" dirty="0">
                <a:solidFill>
                  <a:srgbClr val="000000"/>
                </a:solidFill>
                <a:latin typeface="Roboto" panose="02000000000000000000" pitchFamily="2" charset="0"/>
              </a:rPr>
              <a:t> версии 3.81 или новее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можно собирать, используя </a:t>
            </a:r>
            <a:r>
              <a:rPr lang="en-US" b="0" i="0" u="sng" dirty="0">
                <a:solidFill>
                  <a:srgbClr val="0AA7F5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3"/>
              </a:rPr>
              <a:t>Meson</a:t>
            </a:r>
            <a:r>
              <a:rPr lang="ru-RU" b="0" i="0" u="sng" dirty="0">
                <a:solidFill>
                  <a:srgbClr val="0AA7F5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не ниже 0.54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dirty="0"/>
              <a:t>компилятор C, соответствующий ISO/ANSI C (как минимум, совместимый с C99)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dirty="0"/>
              <a:t>необходим </a:t>
            </a:r>
            <a:r>
              <a:rPr lang="ru-RU" dirty="0" err="1"/>
              <a:t>tar</a:t>
            </a:r>
            <a:r>
              <a:rPr lang="ru-RU" dirty="0"/>
              <a:t>, а также </a:t>
            </a:r>
            <a:r>
              <a:rPr lang="ru-RU" dirty="0" err="1"/>
              <a:t>gzip</a:t>
            </a:r>
            <a:r>
              <a:rPr lang="ru-RU" dirty="0"/>
              <a:t> или bzip2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dirty="0"/>
              <a:t>по умолчанию при сборке используется библиотека GNU </a:t>
            </a:r>
            <a:r>
              <a:rPr lang="ru-RU" dirty="0" err="1"/>
              <a:t>Readline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Получение исходного кода </a:t>
            </a:r>
            <a:r>
              <a:rPr lang="en-US" b="0" i="0" u="none" strike="noStrike" dirty="0">
                <a:solidFill>
                  <a:srgbClr val="0AA7F5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4"/>
              </a:rPr>
              <a:t>https://www.postgresql.org/ftp/source/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Сборка и установка с использованием </a:t>
            </a:r>
            <a:r>
              <a:rPr lang="ru-RU" dirty="0" err="1"/>
              <a:t>Autoconf</a:t>
            </a:r>
            <a:r>
              <a:rPr lang="ru-RU" dirty="0"/>
              <a:t> и </a:t>
            </a:r>
            <a:r>
              <a:rPr lang="ru-RU" dirty="0" err="1"/>
              <a:t>Make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Сборка и установка с использованием </a:t>
            </a:r>
            <a:r>
              <a:rPr lang="ru-RU" dirty="0" err="1"/>
              <a:t>Meson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Действия после установки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dirty="0"/>
              <a:t>Рекомендации по установке пути поиска разделяемых библиотек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dirty="0"/>
              <a:t>Рекомендации по установке пути поиска переменных окружения</a:t>
            </a:r>
          </a:p>
          <a:p>
            <a:pPr>
              <a:lnSpc>
                <a:spcPct val="120000"/>
              </a:lnSpc>
            </a:pPr>
            <a:r>
              <a:rPr lang="ru-RU" dirty="0"/>
              <a:t>Поддерживаемые платформы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Следует ожидать, что </a:t>
            </a:r>
            <a:r>
              <a:rPr lang="ru-RU" dirty="0" err="1"/>
              <a:t>PostgreSQL</a:t>
            </a:r>
            <a:r>
              <a:rPr lang="ru-RU" dirty="0"/>
              <a:t> будет работать на процессорах следующих архитектур: x86, </a:t>
            </a:r>
            <a:r>
              <a:rPr lang="ru-RU" dirty="0" err="1"/>
              <a:t>PowerPC</a:t>
            </a:r>
            <a:r>
              <a:rPr lang="ru-RU" dirty="0"/>
              <a:t>, S/390, SPARC, ARM, MIPS, MIPS, RISC-V и PA-RISC, включая варианты с порядком байтов </a:t>
            </a:r>
            <a:r>
              <a:rPr lang="ru-RU" dirty="0" err="1"/>
              <a:t>big-endian</a:t>
            </a:r>
            <a:r>
              <a:rPr lang="ru-RU" dirty="0"/>
              <a:t> и </a:t>
            </a:r>
            <a:r>
              <a:rPr lang="ru-RU" dirty="0" err="1"/>
              <a:t>little-endian</a:t>
            </a:r>
            <a:r>
              <a:rPr lang="ru-RU" dirty="0"/>
              <a:t>, а также 32-битные и 64-битные варианты, где это применимо.</a:t>
            </a:r>
          </a:p>
          <a:p>
            <a:pPr>
              <a:lnSpc>
                <a:spcPct val="120000"/>
              </a:lnSpc>
            </a:pPr>
            <a:r>
              <a:rPr lang="ru-RU" dirty="0"/>
              <a:t>Замечания по отдельным платформам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189411" y="-87546"/>
            <a:ext cx="8765177" cy="671444"/>
          </a:xfrm>
        </p:spPr>
        <p:txBody>
          <a:bodyPr/>
          <a:lstStyle/>
          <a:p>
            <a:pPr algn="ctr"/>
            <a:r>
              <a:rPr lang="ru-RU" sz="2800" b="1" i="0" dirty="0">
                <a:solidFill>
                  <a:srgbClr val="164281"/>
                </a:solidFill>
                <a:effectLst/>
                <a:highlight>
                  <a:srgbClr val="FFFFFF"/>
                </a:highlight>
                <a:latin typeface="+mn-lt"/>
              </a:rPr>
              <a:t>Подготовка к работе и сопровождение сервера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541852"/>
            <a:ext cx="9144000" cy="631613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b="1" dirty="0"/>
              <a:t>Учётная запись пользователя </a:t>
            </a:r>
            <a:r>
              <a:rPr lang="en-US" b="1" dirty="0"/>
              <a:t>PostgreSQL</a:t>
            </a:r>
            <a:r>
              <a:rPr lang="ru-RU" dirty="0"/>
              <a:t>. Эта учётная запись должна владеть только данными, которыми управляет сервер, и разделять её с другими службами не следует. При установке пакетов </a:t>
            </a:r>
            <a:r>
              <a:rPr lang="ru-RU" dirty="0" err="1"/>
              <a:t>PostgreSQL</a:t>
            </a:r>
            <a:r>
              <a:rPr lang="ru-RU" dirty="0"/>
              <a:t>, поставляемого в виде продукта, подходящая учётная запись обычно создаётся автоматически.</a:t>
            </a:r>
          </a:p>
          <a:p>
            <a:pPr>
              <a:lnSpc>
                <a:spcPct val="120000"/>
              </a:lnSpc>
              <a:defRPr/>
            </a:pPr>
            <a:r>
              <a:rPr lang="ru-RU" b="1" dirty="0"/>
              <a:t>Создание кластера баз данных. </a:t>
            </a:r>
            <a:r>
              <a:rPr lang="ru-RU" dirty="0"/>
              <a:t>Перед работой с БД нужно инициализировать область хранения баз данных на диске.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Это хранилище называют кластером баз данных. (В SQL применяется термин «кластер каталога».)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Кластер баз данных представляет собой набор баз, управляемых одним экземпляром работающего сервера.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После инициализации кластер будет содержать базу данных с именем </a:t>
            </a:r>
            <a:r>
              <a:rPr lang="ru-RU" b="1" dirty="0" err="1"/>
              <a:t>postgres</a:t>
            </a:r>
            <a:r>
              <a:rPr lang="ru-RU" dirty="0"/>
              <a:t>, предназначенную для использования по умолчанию утилитами, пользователями и сторонними приложениями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В каждом кластере создаются ещё две базы: template1 и template0. Они применяются впоследствии </a:t>
            </a:r>
            <a:r>
              <a:rPr lang="ru-RU" b="1" dirty="0"/>
              <a:t>в качестве шаблонов создаваемых баз данных</a:t>
            </a:r>
            <a:r>
              <a:rPr lang="ru-RU" dirty="0"/>
              <a:t>; использовать их в качестве рабочих не следует.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С точки зрения файловой системы </a:t>
            </a:r>
            <a:r>
              <a:rPr lang="ru-RU" b="1" dirty="0"/>
              <a:t>кластер баз данных </a:t>
            </a:r>
            <a:r>
              <a:rPr lang="ru-RU" dirty="0"/>
              <a:t>представляет собой </a:t>
            </a:r>
            <a:r>
              <a:rPr lang="ru-RU" b="1" dirty="0"/>
              <a:t>один каталог</a:t>
            </a:r>
            <a:r>
              <a:rPr lang="ru-RU" dirty="0"/>
              <a:t>, в котором будут храниться все данные. Мы называем его </a:t>
            </a:r>
            <a:r>
              <a:rPr lang="ru-RU" b="1" dirty="0"/>
              <a:t>каталогом данных </a:t>
            </a:r>
            <a:r>
              <a:rPr lang="ru-RU" dirty="0"/>
              <a:t>или </a:t>
            </a:r>
            <a:r>
              <a:rPr lang="ru-RU" b="1" dirty="0"/>
              <a:t>областью данных</a:t>
            </a:r>
            <a:r>
              <a:rPr lang="ru-RU" dirty="0"/>
              <a:t>. 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xfrm>
            <a:off x="8530046" y="6277560"/>
            <a:ext cx="613954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152400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Создание кластера базы данных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69850" y="823844"/>
            <a:ext cx="9004300" cy="5579532"/>
          </a:xfrm>
        </p:spPr>
        <p:txBody>
          <a:bodyPr>
            <a:normAutofit fontScale="55000" lnSpcReduction="20000"/>
          </a:bodyPr>
          <a:lstStyle/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Каталог для хранения данных можно свободно указать самим. </a:t>
            </a:r>
            <a:br>
              <a:rPr lang="ru-RU" dirty="0"/>
            </a:br>
            <a:r>
              <a:rPr lang="ru-RU" dirty="0"/>
              <a:t>Но часто данные размещаются в </a:t>
            </a:r>
            <a:r>
              <a:rPr lang="ru-RU" b="1" dirty="0"/>
              <a:t>/</a:t>
            </a:r>
            <a:r>
              <a:rPr lang="ru-RU" b="1" dirty="0" err="1"/>
              <a:t>usr</a:t>
            </a:r>
            <a:r>
              <a:rPr lang="ru-RU" b="1" dirty="0"/>
              <a:t>/</a:t>
            </a:r>
            <a:r>
              <a:rPr lang="ru-RU" b="1" dirty="0" err="1"/>
              <a:t>local</a:t>
            </a:r>
            <a:r>
              <a:rPr lang="ru-RU" b="1" dirty="0"/>
              <a:t>/</a:t>
            </a:r>
            <a:r>
              <a:rPr lang="ru-RU" b="1" dirty="0" err="1"/>
              <a:t>pgsql</a:t>
            </a:r>
            <a:r>
              <a:rPr lang="ru-RU" b="1" dirty="0"/>
              <a:t>/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dirty="0"/>
              <a:t>или в </a:t>
            </a:r>
            <a:r>
              <a:rPr lang="ru-RU" b="1" dirty="0"/>
              <a:t>/</a:t>
            </a:r>
            <a:r>
              <a:rPr lang="ru-RU" b="1" dirty="0" err="1"/>
              <a:t>var</a:t>
            </a:r>
            <a:r>
              <a:rPr lang="ru-RU" b="1" dirty="0"/>
              <a:t>/</a:t>
            </a:r>
            <a:r>
              <a:rPr lang="ru-RU" b="1" dirty="0" err="1"/>
              <a:t>lib</a:t>
            </a:r>
            <a:r>
              <a:rPr lang="ru-RU" b="1" dirty="0"/>
              <a:t>/</a:t>
            </a:r>
            <a:r>
              <a:rPr lang="ru-RU" b="1" dirty="0" err="1"/>
              <a:t>pgsql</a:t>
            </a:r>
            <a:r>
              <a:rPr lang="ru-RU" b="1" dirty="0"/>
              <a:t>/</a:t>
            </a:r>
            <a:r>
              <a:rPr lang="ru-RU" b="1" dirty="0" err="1"/>
              <a:t>data</a:t>
            </a:r>
            <a:endParaRPr lang="ru-RU" b="1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Перед работой </a:t>
            </a:r>
            <a:r>
              <a:rPr lang="ru-RU" b="1" dirty="0"/>
              <a:t>каталог данных нужно инициализировать, </a:t>
            </a:r>
            <a:r>
              <a:rPr lang="ru-RU" dirty="0"/>
              <a:t>используя программу </a:t>
            </a:r>
            <a:r>
              <a:rPr lang="ru-RU" b="1" dirty="0" err="1"/>
              <a:t>initdb</a:t>
            </a:r>
            <a:r>
              <a:rPr lang="ru-RU" dirty="0"/>
              <a:t>, которая устанавливается в составе </a:t>
            </a:r>
            <a:r>
              <a:rPr lang="ru-RU" dirty="0" err="1"/>
              <a:t>PostgreSQL</a:t>
            </a:r>
            <a:r>
              <a:rPr lang="ru-RU" dirty="0"/>
              <a:t>.</a:t>
            </a:r>
            <a:r>
              <a:rPr lang="pt-BR" dirty="0"/>
              <a:t> </a:t>
            </a:r>
            <a:endParaRPr lang="ru-RU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Запуск от имени пользователя </a:t>
            </a:r>
            <a:r>
              <a:rPr lang="en-US" dirty="0"/>
              <a:t>PostgreSQL</a:t>
            </a:r>
            <a:br>
              <a:rPr lang="ru-RU" dirty="0"/>
            </a:b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$ initdb -D /usr/local/pgsql/data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altLang="ru-RU" dirty="0"/>
              <a:t>Команду </a:t>
            </a:r>
            <a:r>
              <a:rPr lang="ru-RU" altLang="ru-RU" sz="31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initdb</a:t>
            </a:r>
            <a:r>
              <a:rPr lang="ru-RU" altLang="ru-RU" sz="31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dirty="0"/>
              <a:t>можно также выполнить, воспользовавшись программой </a:t>
            </a:r>
            <a:r>
              <a:rPr lang="ru-RU" altLang="ru-RU" dirty="0" err="1">
                <a:hlinkClick r:id="rId2" tooltip="pg_ct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pg_ctl</a:t>
            </a:r>
            <a:r>
              <a:rPr lang="ru-RU" altLang="ru-RU" dirty="0"/>
              <a:t> , примерно так:</a:t>
            </a:r>
          </a:p>
          <a:p>
            <a:pPr marL="457200" lvl="1" indent="0">
              <a:lnSpc>
                <a:spcPct val="130000"/>
              </a:lnSpc>
              <a:buNone/>
              <a:defRPr/>
            </a:pPr>
            <a:r>
              <a:rPr lang="ru-RU" alt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alt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ru-RU" alt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pg_ctl</a:t>
            </a:r>
            <a:r>
              <a:rPr lang="ru-RU" alt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-D /</a:t>
            </a:r>
            <a:r>
              <a:rPr lang="ru-RU" alt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ru-RU" alt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ru-RU" alt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</a:t>
            </a:r>
            <a:r>
              <a:rPr lang="ru-RU" alt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ru-RU" alt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pgsql</a:t>
            </a:r>
            <a:r>
              <a:rPr lang="ru-RU" alt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ru-RU" alt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ru-RU" alt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initdb</a:t>
            </a:r>
            <a:endParaRPr lang="ru-RU" alt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altLang="ru-RU" dirty="0"/>
              <a:t> </a:t>
            </a:r>
            <a:r>
              <a:rPr lang="ru-RU" altLang="ru-RU" dirty="0">
                <a:solidFill>
                  <a:srgbClr val="000000"/>
                </a:solidFill>
                <a:latin typeface="Roboto" panose="02000000000000000000" pitchFamily="2" charset="0"/>
              </a:rPr>
              <a:t>Команда </a:t>
            </a:r>
            <a:r>
              <a:rPr lang="ru-RU" altLang="ru-RU" sz="31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initdb</a:t>
            </a:r>
            <a:r>
              <a:rPr lang="ru-RU" altLang="ru-RU" sz="3100" dirty="0">
                <a:solidFill>
                  <a:srgbClr val="000000"/>
                </a:solidFill>
                <a:latin typeface="Roboto" panose="02000000000000000000" pitchFamily="2" charset="0"/>
              </a:rPr>
              <a:t> </a:t>
            </a:r>
            <a:r>
              <a:rPr lang="ru-RU" altLang="ru-RU" dirty="0">
                <a:solidFill>
                  <a:srgbClr val="000000"/>
                </a:solidFill>
                <a:latin typeface="Roboto" panose="02000000000000000000" pitchFamily="2" charset="0"/>
              </a:rPr>
              <a:t>попытается создать указанный вами каталог, </a:t>
            </a:r>
            <a:r>
              <a:rPr lang="ru-RU" altLang="ru-RU" b="1" dirty="0">
                <a:solidFill>
                  <a:srgbClr val="000000"/>
                </a:solidFill>
                <a:latin typeface="Roboto" panose="02000000000000000000" pitchFamily="2" charset="0"/>
              </a:rPr>
              <a:t>если он не существует. </a:t>
            </a:r>
            <a:r>
              <a:rPr lang="ru-RU" altLang="ru-RU" dirty="0">
                <a:solidFill>
                  <a:srgbClr val="000000"/>
                </a:solidFill>
                <a:latin typeface="Roboto" panose="02000000000000000000" pitchFamily="2" charset="0"/>
              </a:rPr>
              <a:t>В противном случае она не сработает. </a:t>
            </a:r>
            <a:r>
              <a:rPr lang="ru-RU" altLang="ru-RU" b="1" dirty="0">
                <a:solidFill>
                  <a:srgbClr val="000000"/>
                </a:solidFill>
                <a:latin typeface="Roboto" panose="02000000000000000000" pitchFamily="2" charset="0"/>
              </a:rPr>
              <a:t>Защита от перезаписи. </a:t>
            </a:r>
            <a:r>
              <a:rPr lang="ru-RU" altLang="ru-RU" dirty="0">
                <a:solidFill>
                  <a:srgbClr val="000000"/>
                </a:solidFill>
                <a:latin typeface="Roboto" panose="02000000000000000000" pitchFamily="2" charset="0"/>
              </a:rPr>
              <a:t>И конечно нужны права на запись в родительский каталог. То есть может потребоваться сделать следующую последовательность:</a:t>
            </a:r>
          </a:p>
          <a:p>
            <a:pPr marL="857250" lvl="2" indent="0">
              <a:lnSpc>
                <a:spcPct val="120000"/>
              </a:lnSpc>
              <a:buNone/>
              <a:defRPr/>
            </a:pP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root# 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/local/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pgsql</a:t>
            </a:r>
            <a:endParaRPr lang="en-US" altLang="ru-RU" sz="29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57250" lvl="2" indent="0">
              <a:lnSpc>
                <a:spcPct val="120000"/>
              </a:lnSpc>
              <a:buNone/>
              <a:defRPr/>
            </a:pP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root# 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chown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/local/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pgsql</a:t>
            </a:r>
            <a:endParaRPr lang="en-US" altLang="ru-RU" sz="29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57250" lvl="2" indent="0">
              <a:lnSpc>
                <a:spcPct val="120000"/>
              </a:lnSpc>
              <a:buNone/>
              <a:defRPr/>
            </a:pP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root# 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endParaRPr lang="en-US" altLang="ru-RU" sz="29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57250" lvl="2" indent="0">
              <a:lnSpc>
                <a:spcPct val="120000"/>
              </a:lnSpc>
              <a:buNone/>
              <a:defRPr/>
            </a:pP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initdb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-D /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/local/</a:t>
            </a:r>
            <a:r>
              <a:rPr lang="en-US" altLang="ru-RU" sz="29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pgsql</a:t>
            </a:r>
            <a:r>
              <a:rPr lang="en-US" altLang="ru-RU" sz="29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/data</a:t>
            </a:r>
            <a:endParaRPr lang="ru-RU" altLang="ru-RU" sz="2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Для </a:t>
            </a:r>
            <a:r>
              <a:rPr lang="ru-RU" dirty="0" err="1"/>
              <a:t>PostgreSQL</a:t>
            </a:r>
            <a:r>
              <a:rPr lang="ru-RU" dirty="0"/>
              <a:t> может использоваться любая файловая система с семантикой POSIX.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ru-RU" dirty="0"/>
              <a:t>Как показывает практика, в результате лишь смены файловой системы или корректировки её параметров при прочих равных </a:t>
            </a:r>
            <a:r>
              <a:rPr lang="ru-RU" b="1" dirty="0"/>
              <a:t>не следует ожидать значительного изменения производительности или поведения</a:t>
            </a:r>
            <a:r>
              <a:rPr lang="ru-RU" dirty="0"/>
              <a:t>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9900AF-7F09-E04D-27FB-8D811B23B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262835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Запуск сервера баз данных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99068"/>
            <a:ext cx="9144000" cy="556075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Обычно лучше запускать </a:t>
            </a:r>
            <a:r>
              <a:rPr lang="ru-RU" dirty="0" err="1"/>
              <a:t>postgres</a:t>
            </a:r>
            <a:r>
              <a:rPr lang="ru-RU" dirty="0"/>
              <a:t> в фоновом режиме.</a:t>
            </a:r>
          </a:p>
          <a:p>
            <a:pPr>
              <a:lnSpc>
                <a:spcPct val="120000"/>
              </a:lnSpc>
            </a:pPr>
            <a:r>
              <a:rPr lang="ru-RU" dirty="0"/>
              <a:t>Программа </a:t>
            </a:r>
            <a:r>
              <a:rPr lang="ru-RU" dirty="0" err="1"/>
              <a:t>pg_ctl</a:t>
            </a:r>
            <a:r>
              <a:rPr lang="ru-RU" dirty="0"/>
              <a:t> </a:t>
            </a:r>
            <a:r>
              <a:rPr lang="ru-RU" dirty="0" err="1"/>
              <a:t>start</a:t>
            </a:r>
            <a:r>
              <a:rPr lang="ru-RU" dirty="0"/>
              <a:t> -l </a:t>
            </a:r>
            <a:r>
              <a:rPr lang="ru-RU" dirty="0" err="1"/>
              <a:t>logfile</a:t>
            </a:r>
            <a:r>
              <a:rPr lang="ru-RU" dirty="0"/>
              <a:t> запустит сервер в фоновом режиме и направит выводимые сообщения сервера в указанный файл журнала. </a:t>
            </a:r>
          </a:p>
          <a:p>
            <a:pPr>
              <a:lnSpc>
                <a:spcPct val="120000"/>
              </a:lnSpc>
            </a:pPr>
            <a:r>
              <a:rPr lang="ru-RU" dirty="0"/>
              <a:t>С помощью </a:t>
            </a:r>
            <a:r>
              <a:rPr lang="ru-RU" dirty="0" err="1"/>
              <a:t>pg_ctl</a:t>
            </a:r>
            <a:r>
              <a:rPr lang="ru-RU" dirty="0"/>
              <a:t> также можно остановить сервер. </a:t>
            </a:r>
          </a:p>
          <a:p>
            <a:pPr>
              <a:lnSpc>
                <a:spcPct val="120000"/>
              </a:lnSpc>
            </a:pPr>
            <a:r>
              <a:rPr lang="ru-RU" dirty="0"/>
              <a:t>Если возникает желание, чтобы сервер баз данных сам запускался при загрузке операционной системы, то в составе </a:t>
            </a:r>
            <a:r>
              <a:rPr lang="ru-RU" dirty="0" err="1"/>
              <a:t>PostgreSQL</a:t>
            </a:r>
            <a:r>
              <a:rPr lang="ru-RU" dirty="0"/>
              <a:t> предлагается несколько типовых скриптов в каталоге </a:t>
            </a:r>
            <a:r>
              <a:rPr lang="ru-RU" dirty="0" err="1"/>
              <a:t>contrib</a:t>
            </a:r>
            <a:r>
              <a:rPr lang="ru-RU" dirty="0"/>
              <a:t>/</a:t>
            </a:r>
            <a:r>
              <a:rPr lang="ru-RU" dirty="0" err="1"/>
              <a:t>start-scripts</a:t>
            </a:r>
            <a:r>
              <a:rPr lang="ru-RU" dirty="0"/>
              <a:t>. Для установки такого скрипта в систему требуются права </a:t>
            </a:r>
            <a:r>
              <a:rPr lang="ru-RU" dirty="0" err="1"/>
              <a:t>root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dirty="0"/>
              <a:t>В документации разбираются варианты сбоев при запуске сервера. Необходимо анализировать лог-журнал.</a:t>
            </a:r>
          </a:p>
          <a:p>
            <a:pPr>
              <a:lnSpc>
                <a:spcPct val="120000"/>
              </a:lnSpc>
            </a:pPr>
            <a:r>
              <a:rPr lang="ru-RU" dirty="0"/>
              <a:t>Проблемы с подключениями клиентов описываются в документации. Часто ошибка  «</a:t>
            </a:r>
            <a:r>
              <a:rPr lang="ru-RU" b="1" dirty="0"/>
              <a:t>я не могу найти сервер и начать взаимодействие с ним</a:t>
            </a:r>
            <a:r>
              <a:rPr lang="ru-RU" dirty="0"/>
              <a:t>» возникает из-за того, что сервер просто </a:t>
            </a:r>
            <a:r>
              <a:rPr lang="ru-RU" b="1" dirty="0"/>
              <a:t>забыли настроить для работы по протоколу TCP/IP.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304801" y="214708"/>
            <a:ext cx="8630652" cy="747819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Управление ресурсами ядра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48127" y="843704"/>
            <a:ext cx="8887326" cy="453227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ru-RU" sz="2400" dirty="0" err="1"/>
              <a:t>PostgreSQL</a:t>
            </a:r>
            <a:r>
              <a:rPr lang="ru-RU" sz="2400" dirty="0"/>
              <a:t> требует, чтобы операционная система предоставляла средства </a:t>
            </a:r>
            <a:r>
              <a:rPr lang="ru-RU" sz="2400" dirty="0" err="1"/>
              <a:t>межпроцессного</a:t>
            </a:r>
            <a:r>
              <a:rPr lang="ru-RU" sz="2400" dirty="0"/>
              <a:t> взаимодействия (IPC), в частности, разделяемую память и семафоры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Системы семейства Unix обычно предоставляют функции IPC в стиле «System V» или функции IPC в стиле «POSIX» или и те, и другие.)</a:t>
            </a:r>
          </a:p>
          <a:p>
            <a:pPr>
              <a:lnSpc>
                <a:spcPct val="120000"/>
              </a:lnSpc>
            </a:pPr>
            <a:r>
              <a:rPr lang="ru-RU" sz="2400" dirty="0" err="1"/>
              <a:t>PostgreSQL</a:t>
            </a:r>
            <a:r>
              <a:rPr lang="ru-RU" sz="2400" dirty="0"/>
              <a:t> иногда может исчерпывать некоторые ресурсы операционной системы до предела, особенно при запуске нескольких копий сервера в одной системе или при работе с очень большими базами.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В документации приводится таблица рекомендованных значений параметров ядра. Пример одной строки таблицы:</a:t>
            </a:r>
          </a:p>
          <a:p>
            <a:pPr marL="0" indent="0">
              <a:lnSpc>
                <a:spcPct val="120000"/>
              </a:lnSpc>
              <a:buNone/>
            </a:pPr>
            <a:endParaRPr lang="ru-RU" sz="2400" dirty="0"/>
          </a:p>
          <a:p>
            <a:pPr marL="0" indent="0">
              <a:lnSpc>
                <a:spcPct val="120000"/>
              </a:lnSpc>
              <a:buNone/>
            </a:pPr>
            <a:endParaRPr lang="ru-RU" sz="2400" dirty="0"/>
          </a:p>
          <a:p>
            <a:pPr marL="0" indent="0">
              <a:lnSpc>
                <a:spcPct val="120000"/>
              </a:lnSpc>
              <a:buNone/>
            </a:pPr>
            <a:endParaRPr lang="ru-RU" sz="2400" dirty="0"/>
          </a:p>
          <a:p>
            <a:pPr marL="0" indent="0">
              <a:lnSpc>
                <a:spcPct val="120000"/>
              </a:lnSpc>
              <a:buNone/>
            </a:pPr>
            <a:endParaRPr lang="ru-RU" sz="2400" dirty="0"/>
          </a:p>
          <a:p>
            <a:pPr marL="0" indent="0">
              <a:lnSpc>
                <a:spcPct val="120000"/>
              </a:lnSpc>
              <a:buNone/>
            </a:pP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8</a:t>
            </a:fld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B3FEE89-1E74-7EB6-BA22-C161F020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406329"/>
              </p:ext>
            </p:extLst>
          </p:nvPr>
        </p:nvGraphicFramePr>
        <p:xfrm>
          <a:off x="393702" y="5375982"/>
          <a:ext cx="8293098" cy="1276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833">
                  <a:extLst>
                    <a:ext uri="{9D8B030D-6E8A-4147-A177-3AD203B41FA5}">
                      <a16:colId xmlns:a16="http://schemas.microsoft.com/office/drawing/2014/main" val="1162094441"/>
                    </a:ext>
                  </a:extLst>
                </a:gridCol>
                <a:gridCol w="3622451">
                  <a:extLst>
                    <a:ext uri="{9D8B030D-6E8A-4147-A177-3AD203B41FA5}">
                      <a16:colId xmlns:a16="http://schemas.microsoft.com/office/drawing/2014/main" val="3708874089"/>
                    </a:ext>
                  </a:extLst>
                </a:gridCol>
                <a:gridCol w="3375814">
                  <a:extLst>
                    <a:ext uri="{9D8B030D-6E8A-4147-A177-3AD203B41FA5}">
                      <a16:colId xmlns:a16="http://schemas.microsoft.com/office/drawing/2014/main" val="1425514094"/>
                    </a:ext>
                  </a:extLst>
                </a:gridCol>
              </a:tblGrid>
              <a:tr h="59841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dirty="0">
                          <a:effectLst/>
                        </a:rPr>
                        <a:t>Имя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dirty="0">
                          <a:effectLst/>
                        </a:rPr>
                        <a:t>Описание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dirty="0">
                          <a:effectLst/>
                        </a:rPr>
                        <a:t>Значения, необходимые для запуска одного экземпляра </a:t>
                      </a:r>
                      <a:r>
                        <a:rPr lang="ru-RU" sz="1200" dirty="0" err="1">
                          <a:effectLst/>
                        </a:rPr>
                        <a:t>PostgreSQL</a:t>
                      </a:r>
                      <a:endParaRPr lang="ru-RU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864203"/>
                  </a:ext>
                </a:extLst>
              </a:tr>
              <a:tr h="678209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SHMMAX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dirty="0">
                          <a:effectLst/>
                        </a:rPr>
                        <a:t>Максимальный размер сегмента разделяемой памяти (в байтах)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dirty="0">
                          <a:effectLst/>
                        </a:rPr>
                        <a:t>как минимум 1 КБ, но значение по умолчанию обычно гораздо больше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2402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262835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Ограничения ядра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99068"/>
            <a:ext cx="9144000" cy="556075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В Unix-подобных операционных системах существуют различные типы ограничений ресурсов, которые могут влиять на работу сервера </a:t>
            </a:r>
            <a:r>
              <a:rPr lang="ru-RU" dirty="0" err="1"/>
              <a:t>PostgreSQL</a:t>
            </a:r>
            <a:r>
              <a:rPr lang="ru-RU" dirty="0"/>
              <a:t>. </a:t>
            </a:r>
          </a:p>
          <a:p>
            <a:pPr>
              <a:lnSpc>
                <a:spcPct val="120000"/>
              </a:lnSpc>
            </a:pPr>
            <a:r>
              <a:rPr lang="ru-RU" dirty="0"/>
              <a:t>Особенно важны ограничения на число процессов для пользователя, число открытых файлов и объём памяти для каждого процесса. </a:t>
            </a:r>
          </a:p>
          <a:p>
            <a:r>
              <a:rPr lang="ru-RU" dirty="0"/>
              <a:t>Каждое из этих ограничений имеет «жёсткий» и «мягкий» предел. </a:t>
            </a:r>
          </a:p>
          <a:p>
            <a:r>
              <a:rPr lang="ru-RU" dirty="0"/>
              <a:t>Мягкий предел действительно ограничивает использование ресурса, но пользователь может увеличить его значение до жёсткого предела. </a:t>
            </a:r>
          </a:p>
          <a:p>
            <a:r>
              <a:rPr lang="ru-RU" dirty="0"/>
              <a:t>Изменить жёсткий предел может только пользователь </a:t>
            </a:r>
            <a:r>
              <a:rPr lang="ru-RU" dirty="0" err="1"/>
              <a:t>root</a:t>
            </a:r>
            <a:r>
              <a:rPr lang="ru-RU" dirty="0"/>
              <a:t>.</a:t>
            </a:r>
          </a:p>
          <a:p>
            <a:r>
              <a:rPr lang="ru-RU" dirty="0"/>
              <a:t>Сервер </a:t>
            </a:r>
            <a:r>
              <a:rPr lang="ru-RU" dirty="0" err="1"/>
              <a:t>PostgreSQL</a:t>
            </a:r>
            <a:r>
              <a:rPr lang="ru-RU" dirty="0"/>
              <a:t> использует для обслуживания каждого подключения отдельный процесс, так что возможное число процессов должно быть не меньше числа разрешённых соединений плюс число процессов, требуемых для остальной системы. </a:t>
            </a:r>
          </a:p>
          <a:p>
            <a:r>
              <a:rPr lang="ru-RU" dirty="0"/>
              <a:t>Есть ограничения на число открытых файлов. Устанавливается в параметре конфигурации </a:t>
            </a:r>
            <a:r>
              <a:rPr lang="en-US" u="sng" dirty="0" err="1">
                <a:hlinkClick r:id="rId2"/>
              </a:rPr>
              <a:t>max_files_per_process</a:t>
            </a:r>
            <a:endParaRPr lang="ru-RU" u="sng" dirty="0"/>
          </a:p>
          <a:p>
            <a:r>
              <a:rPr lang="ru-RU" dirty="0"/>
              <a:t>Есть ограничение в ядре, когда устанавливается большое количество клиентских подключений, — максимальная длина очереди подключений к сокету. Чтобы увеличить его, настройте соответствующий параметр ядра через </a:t>
            </a:r>
            <a:r>
              <a:rPr lang="ru-RU" dirty="0" err="1"/>
              <a:t>sysctl</a:t>
            </a:r>
            <a:r>
              <a:rPr lang="ru-RU" dirty="0"/>
              <a:t> и перезапустите сервер </a:t>
            </a:r>
            <a:r>
              <a:rPr lang="ru-RU" dirty="0" err="1"/>
              <a:t>PostgreSQL</a:t>
            </a:r>
            <a:r>
              <a:rPr lang="ru-RU" dirty="0"/>
              <a:t>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215830" y="298174"/>
            <a:ext cx="8547169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Аутентификация клиентского приложения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04665"/>
            <a:ext cx="9144000" cy="5773763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При подключении к серверу базы данных, клиентское приложение указывает имя пользователя </a:t>
            </a:r>
            <a:r>
              <a:rPr lang="ru-RU" dirty="0" err="1"/>
              <a:t>PostgreSQL</a:t>
            </a:r>
            <a:r>
              <a:rPr lang="ru-RU" dirty="0"/>
              <a:t>, так же как и при обычном входе пользователя на компьютер с ОС Unix. </a:t>
            </a:r>
          </a:p>
          <a:p>
            <a:pPr>
              <a:lnSpc>
                <a:spcPct val="120000"/>
              </a:lnSpc>
            </a:pPr>
            <a:r>
              <a:rPr lang="ru-RU" dirty="0"/>
              <a:t>При работе в среде SQL по имени пользователя определяется, какие у него есть права доступа к объектам базы данных</a:t>
            </a:r>
          </a:p>
          <a:p>
            <a:pPr>
              <a:lnSpc>
                <a:spcPct val="120000"/>
              </a:lnSpc>
            </a:pPr>
            <a:r>
              <a:rPr lang="ru-RU" dirty="0"/>
              <a:t>Следовательно, важно указать на этом этапе, к каким базам пользователь имеет право подключиться.</a:t>
            </a:r>
          </a:p>
          <a:p>
            <a:pPr>
              <a:lnSpc>
                <a:spcPct val="120000"/>
              </a:lnSpc>
            </a:pPr>
            <a:r>
              <a:rPr lang="ru-RU" dirty="0"/>
              <a:t>Аутентификация это процесс идентификации клиента сервером базы данных, а также определение того, может ли клиентское приложение (или пользователь запустивший приложение) подключиться с указанным именем пользователя.</a:t>
            </a:r>
          </a:p>
          <a:p>
            <a:pPr>
              <a:lnSpc>
                <a:spcPct val="120000"/>
              </a:lnSpc>
            </a:pPr>
            <a:r>
              <a:rPr lang="ru-RU" dirty="0" err="1"/>
              <a:t>PostgreSQL</a:t>
            </a:r>
            <a:r>
              <a:rPr lang="ru-RU" dirty="0"/>
              <a:t> предлагает несколько различных методов аутентификации клиентов. </a:t>
            </a:r>
          </a:p>
          <a:p>
            <a:pPr>
              <a:lnSpc>
                <a:spcPct val="120000"/>
              </a:lnSpc>
            </a:pPr>
            <a:r>
              <a:rPr lang="ru-RU" dirty="0"/>
              <a:t>Метод аутентификации конкретного клиентского соединения может основываться на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dirty="0"/>
              <a:t>адресе компьютера клиента,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dirty="0"/>
              <a:t>имени базы данных,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dirty="0"/>
              <a:t>имени пользователя.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0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Методы аутентификации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177800" y="671444"/>
            <a:ext cx="9144000" cy="6377056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 err="1"/>
              <a:t>PostgreSQL</a:t>
            </a:r>
            <a:r>
              <a:rPr lang="ru-RU" sz="2400" dirty="0"/>
              <a:t> предлагает к использованию широкий набор методов аутентификации пользователей: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</a:t>
            </a:r>
            <a:r>
              <a:rPr lang="ru-RU" sz="2400" dirty="0" err="1"/>
              <a:t>trust</a:t>
            </a:r>
            <a:r>
              <a:rPr lang="ru-RU" sz="2400" dirty="0"/>
              <a:t>, при которой сервер доверяет пользователям, никак не проверяя их.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</a:t>
            </a:r>
            <a:r>
              <a:rPr lang="ru-RU" sz="2400" dirty="0" err="1"/>
              <a:t>password</a:t>
            </a:r>
            <a:r>
              <a:rPr lang="ru-RU" sz="2400" dirty="0"/>
              <a:t>, требующая ввода пароля пользователем.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GSSAPI, использующая библиотеку безопасности, совместимую с GSSAPI. Обычно этот метод применяется при использовании специальной службы аутентификации, </a:t>
            </a:r>
            <a:r>
              <a:rPr lang="ru-RU" sz="2400" dirty="0" err="1"/>
              <a:t>Kerberos</a:t>
            </a:r>
            <a:r>
              <a:rPr lang="ru-RU" sz="2400" dirty="0"/>
              <a:t> или Microsoft Active Directory.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SSPI, использующая протокол, подобный GSSAPI, но предназначенный для Windows.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</a:t>
            </a:r>
            <a:r>
              <a:rPr lang="ru-RU" sz="2400" dirty="0" err="1"/>
              <a:t>ident</a:t>
            </a:r>
            <a:r>
              <a:rPr lang="ru-RU" sz="2400" dirty="0"/>
              <a:t>, для которой используется служба, реализующая «</a:t>
            </a:r>
            <a:r>
              <a:rPr lang="ru-RU" sz="2400" dirty="0" err="1"/>
              <a:t>Identification</a:t>
            </a:r>
            <a:r>
              <a:rPr lang="ru-RU" sz="2400" dirty="0"/>
              <a:t> Protocol» (RFC 1413) на клиентском компьютере. (Для подключений через локальный сокет Unix этот метод работает как </a:t>
            </a:r>
            <a:r>
              <a:rPr lang="ru-RU" sz="2400" dirty="0" err="1"/>
              <a:t>peer</a:t>
            </a:r>
            <a:r>
              <a:rPr lang="ru-RU" sz="2400" dirty="0"/>
              <a:t>.)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</a:t>
            </a:r>
            <a:r>
              <a:rPr lang="ru-RU" sz="2400" dirty="0" err="1"/>
              <a:t>peer</a:t>
            </a:r>
            <a:r>
              <a:rPr lang="ru-RU" sz="2400" dirty="0"/>
              <a:t>, которая полагается на средства операционной системы, позволяющие узнать пользователя процесса на другой стороне локального подключения. Для удалённых подключений она не поддерживается.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LDAP, работающая с сервером аутентификации LDAP.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RADIUS, работающая с сервером аутентификации RADIUS.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по сертификату, требующая использования клиентами SSL-подключения и построенная на проверке передаваемых ими сертификатов SSL.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PAM, реализуемая с использованием библиотеки PAM.</a:t>
            </a:r>
          </a:p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Аутентификация BSD, основанная на использовании механизма аутентификации BSD (в настоящее время поддерживается только в системе </a:t>
            </a:r>
            <a:r>
              <a:rPr lang="ru-RU" sz="2400" dirty="0" err="1"/>
              <a:t>OpenBSD</a:t>
            </a:r>
            <a:r>
              <a:rPr lang="ru-RU" sz="2400" dirty="0"/>
              <a:t>).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2800" b="1" dirty="0">
                <a:solidFill>
                  <a:schemeClr val="bg2"/>
                </a:solidFill>
              </a:rPr>
              <a:t>Роли базы данных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1033670"/>
            <a:ext cx="9144000" cy="5565913"/>
          </a:xfrm>
        </p:spPr>
        <p:txBody>
          <a:bodyPr>
            <a:normAutofit fontScale="70000" lnSpcReduction="20000"/>
          </a:bodyPr>
          <a:lstStyle/>
          <a:p>
            <a:r>
              <a:rPr lang="ru-RU" dirty="0" err="1"/>
              <a:t>PostgreSQL</a:t>
            </a:r>
            <a:r>
              <a:rPr lang="ru-RU" dirty="0"/>
              <a:t> использует концепцию ролей (</a:t>
            </a:r>
            <a:r>
              <a:rPr lang="ru-RU" dirty="0" err="1"/>
              <a:t>roles</a:t>
            </a:r>
            <a:r>
              <a:rPr lang="ru-RU" dirty="0"/>
              <a:t>) для управления разрешениями на доступ к базе данных. </a:t>
            </a:r>
          </a:p>
          <a:p>
            <a:r>
              <a:rPr lang="ru-RU" dirty="0"/>
              <a:t>Роль можно рассматривать как пользователя базы данных или как группу пользователей, в зависимости от того, как роль настроена. </a:t>
            </a:r>
          </a:p>
          <a:p>
            <a:r>
              <a:rPr lang="ru-RU" dirty="0"/>
              <a:t>Роли могут владеть объектами базы данных (например, таблицами и функциями) и выдавать другим ролям разрешения на доступ к этим объектам, управляя тем, кто имеет доступ и к каким объектам. </a:t>
            </a:r>
          </a:p>
          <a:p>
            <a:r>
              <a:rPr lang="ru-RU" dirty="0"/>
              <a:t>Кроме того, можно предоставить одной роли членство в другой роли, таким образом одна роль может использовать права других ролей.</a:t>
            </a:r>
          </a:p>
          <a:p>
            <a:r>
              <a:rPr lang="ru-RU" dirty="0"/>
              <a:t>Концепция ролей включает в себя концепцию пользователей («</a:t>
            </a:r>
            <a:r>
              <a:rPr lang="ru-RU" dirty="0" err="1"/>
              <a:t>users</a:t>
            </a:r>
            <a:r>
              <a:rPr lang="ru-RU" dirty="0"/>
              <a:t>») и групп («</a:t>
            </a:r>
            <a:r>
              <a:rPr lang="ru-RU" dirty="0" err="1"/>
              <a:t>groups</a:t>
            </a:r>
            <a:r>
              <a:rPr lang="ru-RU" dirty="0"/>
              <a:t>»). </a:t>
            </a:r>
          </a:p>
          <a:p>
            <a:r>
              <a:rPr lang="ru-RU" dirty="0"/>
              <a:t>До версии 8.1 в </a:t>
            </a:r>
            <a:r>
              <a:rPr lang="ru-RU" dirty="0" err="1"/>
              <a:t>PostgreSQL</a:t>
            </a:r>
            <a:r>
              <a:rPr lang="ru-RU" dirty="0"/>
              <a:t> пользователи и группы были отдельными сущностями, но теперь есть только роли</a:t>
            </a:r>
            <a:r>
              <a:rPr lang="ru-RU"/>
              <a:t>. </a:t>
            </a:r>
          </a:p>
          <a:p>
            <a:r>
              <a:rPr lang="ru-RU"/>
              <a:t>Любая </a:t>
            </a:r>
            <a:r>
              <a:rPr lang="ru-RU" dirty="0"/>
              <a:t>роль может использоваться в качестве пользователя, группы, и того и другого.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Shape 1"/>
          <p:cNvSpPr txBox="1"/>
          <p:nvPr/>
        </p:nvSpPr>
        <p:spPr>
          <a:xfrm>
            <a:off x="248760" y="208440"/>
            <a:ext cx="8646480" cy="67104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ru-RU" sz="1600" b="1" strike="noStrike" dirty="0">
                <a:solidFill>
                  <a:srgbClr val="000000"/>
                </a:solidFill>
                <a:latin typeface="Verdana"/>
              </a:rPr>
              <a:t>Программа курса "DBA1 - Администрирование </a:t>
            </a:r>
            <a:r>
              <a:rPr lang="ru-RU" sz="1600" b="1" strike="noStrike" dirty="0" err="1">
                <a:solidFill>
                  <a:srgbClr val="000000"/>
                </a:solidFill>
                <a:latin typeface="Verdana"/>
              </a:rPr>
              <a:t>PostgreSQL</a:t>
            </a:r>
            <a:r>
              <a:rPr lang="ru-RU" sz="1600" b="1" strike="noStrike" dirty="0">
                <a:solidFill>
                  <a:srgbClr val="000000"/>
                </a:solidFill>
                <a:latin typeface="Verdana"/>
              </a:rPr>
              <a:t>. 
Базовый курс (</a:t>
            </a:r>
            <a:r>
              <a:rPr lang="ru-RU" sz="1600" b="1" strike="noStrike" dirty="0" err="1">
                <a:solidFill>
                  <a:srgbClr val="000000"/>
                </a:solidFill>
                <a:latin typeface="Verdana"/>
              </a:rPr>
              <a:t>Postgres</a:t>
            </a:r>
            <a:r>
              <a:rPr lang="ru-RU" sz="1600" b="1" strike="noStrike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600" b="1" strike="noStrike" dirty="0" err="1">
                <a:solidFill>
                  <a:srgbClr val="000000"/>
                </a:solidFill>
                <a:latin typeface="Verdana"/>
              </a:rPr>
              <a:t>Professional</a:t>
            </a:r>
            <a:r>
              <a:rPr lang="ru-RU" sz="1600" b="1" strike="noStrike" dirty="0">
                <a:solidFill>
                  <a:srgbClr val="000000"/>
                </a:solidFill>
                <a:latin typeface="Verdana"/>
              </a:rPr>
              <a:t>)" </a:t>
            </a:r>
            <a:r>
              <a:rPr lang="ru-RU" sz="1400" strike="noStrike" dirty="0">
                <a:solidFill>
                  <a:srgbClr val="000000"/>
                </a:solidFill>
                <a:latin typeface="Arial"/>
              </a:rPr>
              <a:t>https://www.specialist.ru/course/dba1 </a:t>
            </a:r>
            <a:endParaRPr dirty="0"/>
          </a:p>
        </p:txBody>
      </p:sp>
      <p:sp>
        <p:nvSpPr>
          <p:cNvPr id="249" name="TextShape 2"/>
          <p:cNvSpPr txBox="1"/>
          <p:nvPr/>
        </p:nvSpPr>
        <p:spPr>
          <a:xfrm>
            <a:off x="914400" y="2585544"/>
            <a:ext cx="9474715" cy="2468135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400" b="1" strike="noStrike">
                <a:solidFill>
                  <a:srgbClr val="000000"/>
                </a:solidFill>
                <a:latin typeface="Arial"/>
              </a:rPr>
              <a:t>   </a:t>
            </a:r>
            <a:endParaRPr/>
          </a:p>
        </p:txBody>
      </p:sp>
      <p:sp>
        <p:nvSpPr>
          <p:cNvPr id="250" name="TextShape 3"/>
          <p:cNvSpPr txBox="1"/>
          <p:nvPr/>
        </p:nvSpPr>
        <p:spPr>
          <a:xfrm>
            <a:off x="8161866" y="6248520"/>
            <a:ext cx="524573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100000"/>
              </a:lnSpc>
            </a:pPr>
            <a:fld id="{074A4F2B-4489-4525-898A-450E774482BB}" type="slidenum">
              <a:rPr lang="ru-RU" sz="1200" strike="noStrike">
                <a:solidFill>
                  <a:srgbClr val="000000"/>
                </a:solidFill>
                <a:latin typeface="Arial Black"/>
              </a:rPr>
              <a:t>13</a:t>
            </a:fld>
            <a:endParaRPr/>
          </a:p>
        </p:txBody>
      </p:sp>
      <p:sp>
        <p:nvSpPr>
          <p:cNvPr id="251" name="CustomShape 4"/>
          <p:cNvSpPr/>
          <p:nvPr/>
        </p:nvSpPr>
        <p:spPr>
          <a:xfrm>
            <a:off x="124380" y="879480"/>
            <a:ext cx="8895240" cy="56017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ru-RU" sz="1200" dirty="0"/>
              <a:t>Предварительная подготовка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Требуемая подготовка: Успешное окончание курса Основы программирования и баз данных или эквивалентная подготовка. Успешное окончание курса </a:t>
            </a:r>
            <a:r>
              <a:rPr lang="ru-RU" sz="1200" dirty="0" err="1"/>
              <a:t>Linux</a:t>
            </a:r>
            <a:r>
              <a:rPr lang="ru-RU" sz="1200" dirty="0"/>
              <a:t>. Уровень 1. Основы администрирования систем </a:t>
            </a:r>
            <a:r>
              <a:rPr lang="ru-RU" sz="1200" dirty="0" err="1"/>
              <a:t>Debian</a:t>
            </a:r>
            <a:r>
              <a:rPr lang="ru-RU" sz="1200" dirty="0"/>
              <a:t>, </a:t>
            </a:r>
            <a:r>
              <a:rPr lang="ru-RU" sz="1200" dirty="0" err="1"/>
              <a:t>Ubuntu</a:t>
            </a:r>
            <a:r>
              <a:rPr lang="ru-RU" sz="1200" dirty="0"/>
              <a:t>, </a:t>
            </a:r>
            <a:r>
              <a:rPr lang="ru-RU" sz="1200" dirty="0" err="1"/>
              <a:t>CentOS</a:t>
            </a:r>
            <a:r>
              <a:rPr lang="ru-RU" sz="1200" dirty="0"/>
              <a:t> или эквивалентная подготовка.</a:t>
            </a:r>
          </a:p>
          <a:p>
            <a:pPr>
              <a:lnSpc>
                <a:spcPct val="120000"/>
              </a:lnSpc>
            </a:pPr>
            <a:r>
              <a:rPr lang="ru-RU" sz="1200"/>
              <a:t>Программа </a:t>
            </a:r>
            <a:r>
              <a:rPr lang="ru-RU" sz="1200" dirty="0"/>
              <a:t>курса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1. Введение  (2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2. Базовый инструментарий  (2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3. Архитектура  (4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4. Организация данных  (4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5. Задачи администрирования  (4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6. Управление доступом  (4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7. Резервное копирование  (2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8. Репликация  (2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Аудиторная нагрузка в классе с преподавателем: 24 </a:t>
            </a:r>
            <a:r>
              <a:rPr lang="ru-RU" sz="1200" dirty="0" err="1"/>
              <a:t>ак</a:t>
            </a:r>
            <a:r>
              <a:rPr lang="ru-RU" sz="1200" dirty="0"/>
              <a:t>. ч. + 12 </a:t>
            </a:r>
            <a:r>
              <a:rPr lang="ru-RU" sz="1200" dirty="0" err="1"/>
              <a:t>ак</a:t>
            </a:r>
            <a:r>
              <a:rPr lang="ru-RU" sz="1200" dirty="0"/>
              <a:t>. ч. бесплатно*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* По данному курсу бесплатно предоставляются дополнительные часы для самостоятельной работы в компьютерных классах Центра, где проводятся занятия. Вы можете закрепить полученные знания, выполнить домашние задания, проконсультироваться у специалистов Центра. Дополнительные часы предоставляются в дни занятий по предварительному согласованию с администратором комплекса.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    утренним группам с 9:00 до 10:00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    дневным группам - по 1 </a:t>
            </a:r>
            <a:r>
              <a:rPr lang="ru-RU" sz="1200" dirty="0" err="1"/>
              <a:t>ак.ч</a:t>
            </a:r>
            <a:r>
              <a:rPr lang="ru-RU" sz="1200" dirty="0"/>
              <a:t>. до и после занятий (13.15-14.00, 17.10-17.55)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По окончании обучения на курсе проводится итоговая аттестация. Аттестация проводится в виде теста на последнем занятии или на основании оценок практических работ, выполняемых во время обучения на курсе.</a:t>
            </a:r>
          </a:p>
        </p:txBody>
      </p:sp>
    </p:spTree>
    <p:extLst>
      <p:ext uri="{BB962C8B-B14F-4D97-AF65-F5344CB8AC3E}">
        <p14:creationId xmlns:p14="http://schemas.microsoft.com/office/powerpoint/2010/main" val="98288577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7" dur="500"/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6024</TotalTime>
  <Words>1875</Words>
  <Application>Microsoft Office PowerPoint</Application>
  <PresentationFormat>Экран (4:3)</PresentationFormat>
  <Paragraphs>153</Paragraphs>
  <Slides>13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Arial</vt:lpstr>
      <vt:lpstr>Arial Black</vt:lpstr>
      <vt:lpstr>Calibri</vt:lpstr>
      <vt:lpstr>Courier New</vt:lpstr>
      <vt:lpstr>Roboto</vt:lpstr>
      <vt:lpstr>Times New Roman</vt:lpstr>
      <vt:lpstr>Verdana</vt:lpstr>
      <vt:lpstr>Wingdings</vt:lpstr>
      <vt:lpstr>Пиксел</vt:lpstr>
      <vt:lpstr>Администрирование  баз данных (PostgresPro)</vt:lpstr>
      <vt:lpstr>План</vt:lpstr>
      <vt:lpstr>Установка программного обеспечения</vt:lpstr>
      <vt:lpstr>Установка из исходного кода</vt:lpstr>
      <vt:lpstr>Подготовка к работе и сопровождение сервера</vt:lpstr>
      <vt:lpstr>Создание кластера базы данных</vt:lpstr>
      <vt:lpstr>Запуск сервера баз данных</vt:lpstr>
      <vt:lpstr>Управление ресурсами ядра</vt:lpstr>
      <vt:lpstr>Ограничения ядра</vt:lpstr>
      <vt:lpstr>Аутентификация клиентского приложения</vt:lpstr>
      <vt:lpstr>Методы аутентификации</vt:lpstr>
      <vt:lpstr>Роли базы данных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Борис Николаевич Пищик</cp:lastModifiedBy>
  <cp:revision>283</cp:revision>
  <dcterms:created xsi:type="dcterms:W3CDTF">2012-10-04T16:47:37Z</dcterms:created>
  <dcterms:modified xsi:type="dcterms:W3CDTF">2024-05-04T04:11:26Z</dcterms:modified>
</cp:coreProperties>
</file>