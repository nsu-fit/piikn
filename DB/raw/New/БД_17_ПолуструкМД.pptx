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7" r:id="rId1"/>
  </p:sldMasterIdLst>
  <p:notesMasterIdLst>
    <p:notesMasterId r:id="rId14"/>
  </p:notesMasterIdLst>
  <p:sldIdLst>
    <p:sldId id="256" r:id="rId2"/>
    <p:sldId id="257" r:id="rId3"/>
    <p:sldId id="291" r:id="rId4"/>
    <p:sldId id="285" r:id="rId5"/>
    <p:sldId id="286" r:id="rId6"/>
    <p:sldId id="287" r:id="rId7"/>
    <p:sldId id="292" r:id="rId8"/>
    <p:sldId id="293" r:id="rId9"/>
    <p:sldId id="266" r:id="rId10"/>
    <p:sldId id="284" r:id="rId11"/>
    <p:sldId id="294" r:id="rId12"/>
    <p:sldId id="295" r:id="rId13"/>
  </p:sldIdLst>
  <p:sldSz cx="9144000" cy="6858000" type="screen4x3"/>
  <p:notesSz cx="6858000" cy="9144000"/>
  <p:defaultTextStyle>
    <a:defPPr>
      <a:defRPr lang="ru-RU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99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6784" autoAdjust="0"/>
    <p:restoredTop sz="96135" autoAdjust="0"/>
  </p:normalViewPr>
  <p:slideViewPr>
    <p:cSldViewPr showGuides="1">
      <p:cViewPr varScale="1">
        <p:scale>
          <a:sx n="77" d="100"/>
          <a:sy n="77" d="100"/>
        </p:scale>
        <p:origin x="1326" y="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296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2970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970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ru-RU" noProof="0"/>
              <a:t>Образец текста</a:t>
            </a:r>
          </a:p>
          <a:p>
            <a:pPr lvl="1"/>
            <a:r>
              <a:rPr lang="ru-RU" noProof="0"/>
              <a:t>Второй уровень</a:t>
            </a:r>
          </a:p>
          <a:p>
            <a:pPr lvl="2"/>
            <a:r>
              <a:rPr lang="ru-RU" noProof="0"/>
              <a:t>Третий уровень</a:t>
            </a:r>
          </a:p>
          <a:p>
            <a:pPr lvl="3"/>
            <a:r>
              <a:rPr lang="ru-RU" noProof="0"/>
              <a:t>Четвертый уровень</a:t>
            </a:r>
          </a:p>
          <a:p>
            <a:pPr lvl="4"/>
            <a:r>
              <a:rPr lang="ru-RU" noProof="0"/>
              <a:t>Пятый уровень</a:t>
            </a:r>
          </a:p>
        </p:txBody>
      </p:sp>
      <p:sp>
        <p:nvSpPr>
          <p:cNvPr id="2970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297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F95D22BF-934C-434E-AE80-27B157948910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2936674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ru.wikipedia.org/w/index.php?title=%D0%A0%D0%B0%D1%81%D0%BF%D1%80%D0%B5%D0%B4%D0%B5%D0%BB%D1%91%D0%BD%D0%BD%D1%8B%D0%B5_%D0%BF%D1%80%D0%B8%D0%BB%D0%BE%D0%B6%D0%B5%D0%BD%D0%B8%D1%8F&amp;action=edit&amp;redlink=1" TargetMode="External"/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Relationship Id="rId6" Type="http://schemas.openxmlformats.org/officeDocument/2006/relationships/hyperlink" Target="http://www.odmg.org/" TargetMode="External"/><Relationship Id="rId5" Type="http://schemas.openxmlformats.org/officeDocument/2006/relationships/hyperlink" Target="https://ru.wikipedia.org/wiki/%D0%98%D0%BD%D1%84%D0%BE%D1%80%D0%BC%D0%B0%D1%86%D0%B8%D0%BE%D0%BD%D0%BD%D1%8B%D0%B5_%D1%82%D0%B5%D1%85%D0%BD%D0%BE%D0%BB%D0%BE%D0%B3%D0%B8%D0%B8" TargetMode="External"/><Relationship Id="rId4" Type="http://schemas.openxmlformats.org/officeDocument/2006/relationships/hyperlink" Target="https://ru.wikipedia.org/wiki/Object_Management_Group" TargetMode="External"/></Relationships>
</file>

<file path=ppt/notesSlides/_rels/notesSlide9.xml.rels><?xml version="1.0" encoding="UTF-8" standalone="yes"?>
<Relationships xmlns="http://schemas.openxmlformats.org/package/2006/relationships"><Relationship Id="rId3" Type="http://schemas.openxmlformats.org/officeDocument/2006/relationships/hyperlink" Target="http://www.odmg.org/" TargetMode="External"/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3" Type="http://schemas.openxmlformats.org/officeDocument/2006/relationships/hyperlink" Target="http://www.odmg.org/" TargetMode="External"/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3" Type="http://schemas.openxmlformats.org/officeDocument/2006/relationships/hyperlink" Target="http://www.odmg.org/" TargetMode="External"/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16B892FD-C95D-4870-98A4-14F06357C006}" type="slidenum">
              <a:rPr lang="ru-RU" altLang="ru-RU" smtClean="0"/>
              <a:pPr eaLnBrk="1" hangingPunct="1">
                <a:spcBef>
                  <a:spcPct val="0"/>
                </a:spcBef>
              </a:pPr>
              <a:t>2</a:t>
            </a:fld>
            <a:endParaRPr lang="ru-RU" altLang="ru-RU"/>
          </a:p>
        </p:txBody>
      </p:sp>
      <p:sp>
        <p:nvSpPr>
          <p:cNvPr id="307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7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ru-RU" altLang="ru-RU" sz="800" dirty="0"/>
              <a:t>В 80-е гг. практически установилась безраздельная монополия реляционных систем баз данных. Однако еще в середине 70-х гг. начали рождаться новые идеи, которые привели впоследствии к формированию объектного подхода в технологиях баз данных.</a:t>
            </a:r>
          </a:p>
          <a:p>
            <a:pPr eaLnBrk="1" hangingPunct="1">
              <a:lnSpc>
                <a:spcPct val="80000"/>
              </a:lnSpc>
            </a:pPr>
            <a:r>
              <a:rPr lang="ru-RU" altLang="ru-RU" sz="800" dirty="0"/>
              <a:t>Получил распространение созданный еще в 1972 г. в компании </a:t>
            </a:r>
            <a:r>
              <a:rPr lang="en-US" altLang="ru-RU" sz="800" dirty="0"/>
              <a:t>Xerox PARC</a:t>
            </a:r>
            <a:r>
              <a:rPr lang="ru-RU" altLang="ru-RU" sz="800" dirty="0"/>
              <a:t> объектный язык </a:t>
            </a:r>
            <a:r>
              <a:rPr lang="en-US" altLang="ru-RU" sz="800" dirty="0"/>
              <a:t>Smalltalk</a:t>
            </a:r>
            <a:r>
              <a:rPr lang="ru-RU" altLang="ru-RU" sz="800" dirty="0"/>
              <a:t>. </a:t>
            </a:r>
          </a:p>
          <a:p>
            <a:pPr eaLnBrk="1" hangingPunct="1">
              <a:lnSpc>
                <a:spcPct val="80000"/>
              </a:lnSpc>
            </a:pPr>
            <a:r>
              <a:rPr lang="ru-RU" altLang="ru-RU" sz="800" dirty="0"/>
              <a:t>А после опубликования в 1983 г. Б. </a:t>
            </a:r>
            <a:r>
              <a:rPr lang="ru-RU" altLang="ru-RU" sz="800" dirty="0" err="1"/>
              <a:t>Строустрапом</a:t>
            </a:r>
            <a:r>
              <a:rPr lang="ru-RU" altLang="ru-RU" sz="800" dirty="0"/>
              <a:t> (В. </a:t>
            </a:r>
            <a:r>
              <a:rPr lang="en-US" altLang="ru-RU" sz="800" dirty="0" err="1"/>
              <a:t>Stroustrup</a:t>
            </a:r>
            <a:r>
              <a:rPr lang="ru-RU" altLang="ru-RU" sz="800" dirty="0"/>
              <a:t>) в </a:t>
            </a:r>
            <a:r>
              <a:rPr lang="en-US" altLang="ru-RU" sz="800" dirty="0"/>
              <a:t>AT</a:t>
            </a:r>
            <a:r>
              <a:rPr lang="ru-RU" altLang="ru-RU" sz="800" dirty="0"/>
              <a:t>&amp;</a:t>
            </a:r>
            <a:r>
              <a:rPr lang="en-US" altLang="ru-RU" sz="800" dirty="0"/>
              <a:t>T Bell Laboratories</a:t>
            </a:r>
            <a:r>
              <a:rPr lang="ru-RU" altLang="ru-RU" sz="800" dirty="0"/>
              <a:t> языка C++, объектного расширения уже к тому времени весьма популярного языка С, и систем программирования, реализующих этот язык на платформе ПК, программирование в объектной парадигме стало массовым явлением.</a:t>
            </a:r>
          </a:p>
          <a:p>
            <a:pPr eaLnBrk="1" hangingPunct="1">
              <a:lnSpc>
                <a:spcPct val="80000"/>
              </a:lnSpc>
            </a:pPr>
            <a:r>
              <a:rPr lang="ru-RU" altLang="ru-RU" sz="800" dirty="0"/>
              <a:t>Эта ситуация в значительной мере пробудила интерес к воплощению объектной парадигмы в технологиях баз данных. Проблема состояла прежде всего в том, что возникла необходимость в обеспечении эффективной </a:t>
            </a:r>
            <a:r>
              <a:rPr lang="ru-RU" altLang="ru-RU" sz="800" i="1" dirty="0"/>
              <a:t>среды хранения объектных данных</a:t>
            </a:r>
            <a:r>
              <a:rPr lang="ru-RU" altLang="ru-RU" sz="800" dirty="0"/>
              <a:t> для поддержки многочисленных прикладных программных систем, реализованных средствами объектных языков. Эту функцию было естественно возложить на СУБД, основанных на </a:t>
            </a:r>
            <a:r>
              <a:rPr lang="ru-RU" altLang="ru-RU" sz="800" i="1" dirty="0"/>
              <a:t>объектных моделях данных</a:t>
            </a:r>
            <a:r>
              <a:rPr lang="ru-RU" altLang="ru-RU" sz="800" dirty="0"/>
              <a:t> и обладающие интерфейсами прикладного программирования (</a:t>
            </a:r>
            <a:r>
              <a:rPr lang="en-US" altLang="ru-RU" sz="800" dirty="0"/>
              <a:t>API</a:t>
            </a:r>
            <a:r>
              <a:rPr lang="ru-RU" altLang="ru-RU" sz="800" dirty="0"/>
              <a:t>) для объектных языков.</a:t>
            </a:r>
          </a:p>
          <a:p>
            <a:pPr eaLnBrk="1" hangingPunct="1">
              <a:lnSpc>
                <a:spcPct val="80000"/>
              </a:lnSpc>
            </a:pPr>
            <a:r>
              <a:rPr lang="ru-RU" altLang="ru-RU" sz="800" dirty="0"/>
              <a:t>Вместе с тем попытки применения объектных СУБД наиболее притязательными пользователями были связаны также со сложившимся к этому времени пониманием неэффективности использования реляционных систем в целом ряде нетрадиционных приложений. </a:t>
            </a:r>
          </a:p>
          <a:p>
            <a:pPr eaLnBrk="1" hangingPunct="1">
              <a:lnSpc>
                <a:spcPct val="80000"/>
              </a:lnSpc>
            </a:pPr>
            <a:r>
              <a:rPr lang="ru-RU" altLang="ru-RU" sz="800" dirty="0"/>
              <a:t>Многие из таких приложений нуждались в более богатых по сравнению с предоставляемыми реляционными СУБД средствах моделирования предметной области с более развитыми системой типов и возможностями структурирования данных, обеспечивающих во многих случаях более естественное отображение семантики предметной области в базах данных.</a:t>
            </a:r>
          </a:p>
          <a:p>
            <a:pPr eaLnBrk="1" hangingPunct="1">
              <a:lnSpc>
                <a:spcPct val="80000"/>
              </a:lnSpc>
            </a:pPr>
            <a:r>
              <a:rPr lang="ru-RU" altLang="ru-RU" sz="800" dirty="0"/>
              <a:t>Наконец, создание СУБД, основанных на объектной парадигме моделирования данных, позволяло </a:t>
            </a:r>
            <a:r>
              <a:rPr lang="ru-RU" altLang="ru-RU" sz="800" b="1" dirty="0"/>
              <a:t>преодолеть</a:t>
            </a:r>
            <a:r>
              <a:rPr lang="ru-RU" altLang="ru-RU" sz="800" dirty="0"/>
              <a:t> </a:t>
            </a:r>
            <a:r>
              <a:rPr lang="ru-RU" altLang="ru-RU" sz="800" b="1" dirty="0"/>
              <a:t>несоответствие типов данных, которые предусмотрены в языке прикладного программирования и в модели данных</a:t>
            </a:r>
            <a:r>
              <a:rPr lang="ru-RU" altLang="ru-RU" sz="800" dirty="0"/>
              <a:t>, поддерживаемой СУБД. </a:t>
            </a:r>
          </a:p>
          <a:p>
            <a:pPr eaLnBrk="1" hangingPunct="1">
              <a:lnSpc>
                <a:spcPct val="80000"/>
              </a:lnSpc>
            </a:pPr>
            <a:r>
              <a:rPr lang="ru-RU" altLang="ru-RU" sz="800" dirty="0"/>
              <a:t>Эта проблема, пожалуй, не возникала лишь для приложений СУБД типа </a:t>
            </a:r>
            <a:r>
              <a:rPr lang="en-US" altLang="ru-RU" sz="800" dirty="0"/>
              <a:t>CODASYL</a:t>
            </a:r>
            <a:r>
              <a:rPr lang="ru-RU" altLang="ru-RU" sz="800" dirty="0"/>
              <a:t>, реализованных в языке </a:t>
            </a:r>
            <a:r>
              <a:rPr lang="en-US" altLang="ru-RU" sz="800" dirty="0"/>
              <a:t>COBOL</a:t>
            </a:r>
            <a:r>
              <a:rPr lang="ru-RU" altLang="ru-RU" sz="800" dirty="0"/>
              <a:t>, поскольку запись базы данных в модели данных </a:t>
            </a:r>
            <a:r>
              <a:rPr lang="en-US" altLang="ru-RU" sz="800" dirty="0"/>
              <a:t>CODASYL</a:t>
            </a:r>
            <a:r>
              <a:rPr lang="ru-RU" altLang="ru-RU" sz="800" dirty="0"/>
              <a:t> строилась но образу и подобию записи в этом языке программирования.</a:t>
            </a:r>
          </a:p>
          <a:p>
            <a:pPr eaLnBrk="1" hangingPunct="1">
              <a:lnSpc>
                <a:spcPct val="80000"/>
              </a:lnSpc>
            </a:pPr>
            <a:r>
              <a:rPr lang="ru-RU" altLang="ru-RU" sz="800" dirty="0"/>
              <a:t>Дополнительный стимул развитию объектных технологий баз данных и развертыванию индустрии объектных СУБД придала публикация в</a:t>
            </a:r>
            <a:r>
              <a:rPr lang="ru-RU" altLang="ru-RU" sz="800" b="1" dirty="0"/>
              <a:t> 1989-1990 </a:t>
            </a:r>
            <a:r>
              <a:rPr lang="ru-RU" altLang="ru-RU" sz="800" dirty="0"/>
              <a:t>гг. двух программных документов, подготовленных группами известных специалистов в области баз данных.</a:t>
            </a:r>
          </a:p>
          <a:p>
            <a:pPr eaLnBrk="1" hangingPunct="1">
              <a:lnSpc>
                <a:spcPct val="80000"/>
              </a:lnSpc>
            </a:pPr>
            <a:r>
              <a:rPr lang="ru-RU" altLang="ru-RU" sz="800" dirty="0"/>
              <a:t>В </a:t>
            </a:r>
            <a:r>
              <a:rPr lang="ru-RU" altLang="ru-RU" sz="800" b="1" dirty="0"/>
              <a:t>первом из них — Манифесте объектно-ориентированных баз данных </a:t>
            </a:r>
            <a:r>
              <a:rPr lang="ru-RU" altLang="ru-RU" sz="800" dirty="0"/>
              <a:t>— были сформулированы важнейшие требования к СУБД рассматриваемого класса и высказывалось мнение о целесообразности непосредственного, с "чистого листа", а не эволюционного перехода к новым объектным технологиям. </a:t>
            </a:r>
          </a:p>
          <a:p>
            <a:pPr eaLnBrk="1" hangingPunct="1">
              <a:lnSpc>
                <a:spcPct val="80000"/>
              </a:lnSpc>
            </a:pPr>
            <a:r>
              <a:rPr lang="ru-RU" altLang="ru-RU" sz="800" b="1" dirty="0"/>
              <a:t>Второй документ, названный Манифестом систем баз данных третьего поколения</a:t>
            </a:r>
            <a:r>
              <a:rPr lang="ru-RU" altLang="ru-RU" sz="800" dirty="0"/>
              <a:t>, опубликован годом позднее. В нем подчеркивается, что доминирующие в разработках приложений реляционные СУБД не удовлетворяют потребностям многих важных нетрадиционных сфер применения, и нужны новые подходы к управлению данными. Однако в отличие от первого документа в этом документе декларируется необходимость обеспечения </a:t>
            </a:r>
            <a:r>
              <a:rPr lang="ru-RU" altLang="ru-RU" sz="800" i="1" dirty="0"/>
              <a:t>преемственности</a:t>
            </a:r>
            <a:r>
              <a:rPr lang="ru-RU" altLang="ru-RU" sz="800" dirty="0"/>
              <a:t> с существующими реляционными технологиями и эволюционного пути их развития, в частности, за счет под­держки возможностей объектного подхода в реляционных СУБД.</a:t>
            </a:r>
          </a:p>
          <a:p>
            <a:pPr eaLnBrk="1" hangingPunct="1">
              <a:lnSpc>
                <a:spcPct val="80000"/>
              </a:lnSpc>
            </a:pPr>
            <a:endParaRPr lang="ru-RU" altLang="ru-RU" sz="800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16B892FD-C95D-4870-98A4-14F06357C006}" type="slidenum">
              <a:rPr lang="ru-RU" altLang="ru-RU" smtClean="0"/>
              <a:pPr eaLnBrk="1" hangingPunct="1">
                <a:spcBef>
                  <a:spcPct val="0"/>
                </a:spcBef>
              </a:pPr>
              <a:t>3</a:t>
            </a:fld>
            <a:endParaRPr lang="ru-RU" altLang="ru-RU"/>
          </a:p>
        </p:txBody>
      </p:sp>
      <p:sp>
        <p:nvSpPr>
          <p:cNvPr id="307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7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ru-RU" altLang="ru-RU" sz="800" dirty="0"/>
              <a:t>В 80-е гг. практически установилась безраздельная монополия реляционных систем баз данных. Однако еще в середине 70-х гг. начали рождаться новые идеи, которые привели впоследствии к формированию объектного подхода в технологиях баз данных.</a:t>
            </a:r>
          </a:p>
          <a:p>
            <a:pPr eaLnBrk="1" hangingPunct="1">
              <a:lnSpc>
                <a:spcPct val="80000"/>
              </a:lnSpc>
            </a:pPr>
            <a:r>
              <a:rPr lang="ru-RU" altLang="ru-RU" sz="800" dirty="0"/>
              <a:t>Получил распространение созданный еще в 1972 г. в компании </a:t>
            </a:r>
            <a:r>
              <a:rPr lang="en-US" altLang="ru-RU" sz="800" dirty="0"/>
              <a:t>Xerox PARC</a:t>
            </a:r>
            <a:r>
              <a:rPr lang="ru-RU" altLang="ru-RU" sz="800" dirty="0"/>
              <a:t> объектный язык </a:t>
            </a:r>
            <a:r>
              <a:rPr lang="en-US" altLang="ru-RU" sz="800" dirty="0"/>
              <a:t>Smalltalk</a:t>
            </a:r>
            <a:r>
              <a:rPr lang="ru-RU" altLang="ru-RU" sz="800" dirty="0"/>
              <a:t>. </a:t>
            </a:r>
          </a:p>
          <a:p>
            <a:pPr eaLnBrk="1" hangingPunct="1">
              <a:lnSpc>
                <a:spcPct val="80000"/>
              </a:lnSpc>
            </a:pPr>
            <a:r>
              <a:rPr lang="ru-RU" altLang="ru-RU" sz="800" dirty="0"/>
              <a:t>А после опубликования в 1983 г. Б. </a:t>
            </a:r>
            <a:r>
              <a:rPr lang="ru-RU" altLang="ru-RU" sz="800" dirty="0" err="1"/>
              <a:t>Строустрапом</a:t>
            </a:r>
            <a:r>
              <a:rPr lang="ru-RU" altLang="ru-RU" sz="800" dirty="0"/>
              <a:t> (В. </a:t>
            </a:r>
            <a:r>
              <a:rPr lang="en-US" altLang="ru-RU" sz="800" dirty="0" err="1"/>
              <a:t>Stroustrup</a:t>
            </a:r>
            <a:r>
              <a:rPr lang="ru-RU" altLang="ru-RU" sz="800" dirty="0"/>
              <a:t>) в </a:t>
            </a:r>
            <a:r>
              <a:rPr lang="en-US" altLang="ru-RU" sz="800" dirty="0"/>
              <a:t>AT</a:t>
            </a:r>
            <a:r>
              <a:rPr lang="ru-RU" altLang="ru-RU" sz="800" dirty="0"/>
              <a:t>&amp;</a:t>
            </a:r>
            <a:r>
              <a:rPr lang="en-US" altLang="ru-RU" sz="800" dirty="0"/>
              <a:t>T Bell Laboratories</a:t>
            </a:r>
            <a:r>
              <a:rPr lang="ru-RU" altLang="ru-RU" sz="800" dirty="0"/>
              <a:t> языка C++, объектного расширения уже к тому времени весьма популярного языка С, и систем программирования, реализующих этот язык на платформе ПК, программирование в объектной парадигме стало массовым явлением.</a:t>
            </a:r>
          </a:p>
          <a:p>
            <a:pPr eaLnBrk="1" hangingPunct="1">
              <a:lnSpc>
                <a:spcPct val="80000"/>
              </a:lnSpc>
            </a:pPr>
            <a:r>
              <a:rPr lang="ru-RU" altLang="ru-RU" sz="800" dirty="0"/>
              <a:t>Эта ситуация в значительной мере пробудила интерес к воплощению объектной парадигмы в технологиях баз данных. Проблема состояла прежде всего в том, что возникла необходимость в обеспечении эффективной </a:t>
            </a:r>
            <a:r>
              <a:rPr lang="ru-RU" altLang="ru-RU" sz="800" i="1" dirty="0"/>
              <a:t>среды хранения объектных данных</a:t>
            </a:r>
            <a:r>
              <a:rPr lang="ru-RU" altLang="ru-RU" sz="800" dirty="0"/>
              <a:t> для поддержки многочисленных прикладных программных систем, реализованных средствами объектных языков. Эту функцию было естественно возложить на СУБД, основанных на </a:t>
            </a:r>
            <a:r>
              <a:rPr lang="ru-RU" altLang="ru-RU" sz="800" i="1" dirty="0"/>
              <a:t>объектных моделях данных</a:t>
            </a:r>
            <a:r>
              <a:rPr lang="ru-RU" altLang="ru-RU" sz="800" dirty="0"/>
              <a:t> и обладающие интерфейсами прикладного программирования (</a:t>
            </a:r>
            <a:r>
              <a:rPr lang="en-US" altLang="ru-RU" sz="800" dirty="0"/>
              <a:t>API</a:t>
            </a:r>
            <a:r>
              <a:rPr lang="ru-RU" altLang="ru-RU" sz="800" dirty="0"/>
              <a:t>) для объектных языков.</a:t>
            </a:r>
          </a:p>
          <a:p>
            <a:pPr eaLnBrk="1" hangingPunct="1">
              <a:lnSpc>
                <a:spcPct val="80000"/>
              </a:lnSpc>
            </a:pPr>
            <a:r>
              <a:rPr lang="ru-RU" altLang="ru-RU" sz="800" dirty="0"/>
              <a:t>Вместе с тем попытки применения объектных СУБД наиболее притязательными пользователями были связаны также со сложившимся к этому времени пониманием неэффективности использования реляционных систем в целом ряде нетрадиционных приложений. </a:t>
            </a:r>
          </a:p>
          <a:p>
            <a:pPr eaLnBrk="1" hangingPunct="1">
              <a:lnSpc>
                <a:spcPct val="80000"/>
              </a:lnSpc>
            </a:pPr>
            <a:r>
              <a:rPr lang="ru-RU" altLang="ru-RU" sz="800" dirty="0"/>
              <a:t>Многие из таких приложений нуждались в более богатых по сравнению с предоставляемыми реляционными СУБД средствах моделирования предметной области с более развитыми системой типов и возможностями структурирования данных, обеспечивающих во многих случаях более естественное отображение семантики предметной области в базах данных.</a:t>
            </a:r>
          </a:p>
          <a:p>
            <a:pPr eaLnBrk="1" hangingPunct="1">
              <a:lnSpc>
                <a:spcPct val="80000"/>
              </a:lnSpc>
            </a:pPr>
            <a:r>
              <a:rPr lang="ru-RU" altLang="ru-RU" sz="800" dirty="0"/>
              <a:t>Наконец, создание СУБД, основанных на объектной парадигме моделирования данных, позволяло </a:t>
            </a:r>
            <a:r>
              <a:rPr lang="ru-RU" altLang="ru-RU" sz="800" b="1" dirty="0"/>
              <a:t>преодолеть</a:t>
            </a:r>
            <a:r>
              <a:rPr lang="ru-RU" altLang="ru-RU" sz="800" dirty="0"/>
              <a:t> </a:t>
            </a:r>
            <a:r>
              <a:rPr lang="ru-RU" altLang="ru-RU" sz="800" b="1" dirty="0"/>
              <a:t>несоответствие типов данных, которые предусмотрены в языке прикладного программирования и в модели данных</a:t>
            </a:r>
            <a:r>
              <a:rPr lang="ru-RU" altLang="ru-RU" sz="800" dirty="0"/>
              <a:t>, поддерживаемой СУБД. </a:t>
            </a:r>
          </a:p>
          <a:p>
            <a:pPr eaLnBrk="1" hangingPunct="1">
              <a:lnSpc>
                <a:spcPct val="80000"/>
              </a:lnSpc>
            </a:pPr>
            <a:r>
              <a:rPr lang="ru-RU" altLang="ru-RU" sz="800" dirty="0"/>
              <a:t>Эта проблема, пожалуй, не возникала лишь для приложений СУБД типа </a:t>
            </a:r>
            <a:r>
              <a:rPr lang="en-US" altLang="ru-RU" sz="800" dirty="0"/>
              <a:t>CODASYL</a:t>
            </a:r>
            <a:r>
              <a:rPr lang="ru-RU" altLang="ru-RU" sz="800" dirty="0"/>
              <a:t>, реализованных в языке </a:t>
            </a:r>
            <a:r>
              <a:rPr lang="en-US" altLang="ru-RU" sz="800" dirty="0"/>
              <a:t>COBOL</a:t>
            </a:r>
            <a:r>
              <a:rPr lang="ru-RU" altLang="ru-RU" sz="800" dirty="0"/>
              <a:t>, поскольку запись базы данных в модели данных </a:t>
            </a:r>
            <a:r>
              <a:rPr lang="en-US" altLang="ru-RU" sz="800" dirty="0"/>
              <a:t>CODASYL</a:t>
            </a:r>
            <a:r>
              <a:rPr lang="ru-RU" altLang="ru-RU" sz="800" dirty="0"/>
              <a:t> строилась но образу и подобию записи в этом языке программирования.</a:t>
            </a:r>
          </a:p>
          <a:p>
            <a:pPr eaLnBrk="1" hangingPunct="1">
              <a:lnSpc>
                <a:spcPct val="80000"/>
              </a:lnSpc>
            </a:pPr>
            <a:r>
              <a:rPr lang="ru-RU" altLang="ru-RU" sz="800" dirty="0"/>
              <a:t>Дополнительный стимул развитию объектных технологий баз данных и развертыванию индустрии объектных СУБД придала публикация в</a:t>
            </a:r>
            <a:r>
              <a:rPr lang="ru-RU" altLang="ru-RU" sz="800" b="1" dirty="0"/>
              <a:t> 1989-1990 </a:t>
            </a:r>
            <a:r>
              <a:rPr lang="ru-RU" altLang="ru-RU" sz="800" dirty="0"/>
              <a:t>гг. двух программных документов, подготовленных группами известных специалистов в области баз данных.</a:t>
            </a:r>
          </a:p>
          <a:p>
            <a:pPr eaLnBrk="1" hangingPunct="1">
              <a:lnSpc>
                <a:spcPct val="80000"/>
              </a:lnSpc>
            </a:pPr>
            <a:r>
              <a:rPr lang="ru-RU" altLang="ru-RU" sz="800" dirty="0"/>
              <a:t>В </a:t>
            </a:r>
            <a:r>
              <a:rPr lang="ru-RU" altLang="ru-RU" sz="800" b="1" dirty="0"/>
              <a:t>первом из них — Манифесте объектно-ориентированных баз данных </a:t>
            </a:r>
            <a:r>
              <a:rPr lang="ru-RU" altLang="ru-RU" sz="800" dirty="0"/>
              <a:t>— были сформулированы важнейшие требования к СУБД рассматриваемого класса и высказывалось мнение о целесообразности непосредственного, с "чистого листа", а не эволюционного перехода к новым объектным технологиям. </a:t>
            </a:r>
          </a:p>
          <a:p>
            <a:pPr eaLnBrk="1" hangingPunct="1">
              <a:lnSpc>
                <a:spcPct val="80000"/>
              </a:lnSpc>
            </a:pPr>
            <a:r>
              <a:rPr lang="ru-RU" altLang="ru-RU" sz="800" b="1" dirty="0"/>
              <a:t>Второй документ, названный Манифестом систем баз данных третьего поколения</a:t>
            </a:r>
            <a:r>
              <a:rPr lang="ru-RU" altLang="ru-RU" sz="800" dirty="0"/>
              <a:t>, опубликован годом позднее. В нем подчеркивается, что доминирующие в разработках приложений реляционные СУБД не удовлетворяют потребностям многих важных нетрадиционных сфер применения, и нужны новые подходы к управлению данными. Однако в отличие от первого документа в этом документе декларируется необходимость обеспечения </a:t>
            </a:r>
            <a:r>
              <a:rPr lang="ru-RU" altLang="ru-RU" sz="800" i="1" dirty="0"/>
              <a:t>преемственности</a:t>
            </a:r>
            <a:r>
              <a:rPr lang="ru-RU" altLang="ru-RU" sz="800" dirty="0"/>
              <a:t> с существующими реляционными технологиями и эволюционного пути их развития, в частности, за счет под­держки возможностей объектного подхода в реляционных СУБД.</a:t>
            </a:r>
          </a:p>
          <a:p>
            <a:pPr eaLnBrk="1" hangingPunct="1">
              <a:lnSpc>
                <a:spcPct val="80000"/>
              </a:lnSpc>
            </a:pPr>
            <a:endParaRPr lang="ru-RU" altLang="ru-RU" sz="800" dirty="0"/>
          </a:p>
        </p:txBody>
      </p:sp>
    </p:spTree>
    <p:extLst>
      <p:ext uri="{BB962C8B-B14F-4D97-AF65-F5344CB8AC3E}">
        <p14:creationId xmlns:p14="http://schemas.microsoft.com/office/powerpoint/2010/main" val="326460994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BD745E31-B2C1-45CF-850A-BB6B3797823D}" type="slidenum">
              <a:rPr lang="ru-RU" altLang="ru-RU" smtClean="0"/>
              <a:pPr eaLnBrk="1" hangingPunct="1">
                <a:spcBef>
                  <a:spcPct val="0"/>
                </a:spcBef>
              </a:pPr>
              <a:t>4</a:t>
            </a:fld>
            <a:endParaRPr lang="ru-RU" altLang="ru-RU"/>
          </a:p>
        </p:txBody>
      </p:sp>
      <p:sp>
        <p:nvSpPr>
          <p:cNvPr id="317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ru-RU" sz="1200" kern="1200" dirty="0">
                <a:solidFill>
                  <a:schemeClr val="tx1"/>
                </a:solidFill>
                <a:latin typeface="Arial" charset="0"/>
                <a:ea typeface="+mn-ea"/>
                <a:cs typeface="Arial" charset="0"/>
              </a:rPr>
              <a:t>Объектная технология расширяет традиционную методику разработки приложений </a:t>
            </a:r>
            <a:r>
              <a:rPr lang="ru-RU" sz="1200" b="1" kern="1200" dirty="0">
                <a:solidFill>
                  <a:schemeClr val="tx1"/>
                </a:solidFill>
                <a:latin typeface="Arial" charset="0"/>
                <a:ea typeface="+mn-ea"/>
                <a:cs typeface="Arial" charset="0"/>
              </a:rPr>
              <a:t>новым моделированием данных и методами программирования.</a:t>
            </a:r>
            <a:r>
              <a:rPr lang="ru-RU" sz="1200" kern="1200" dirty="0">
                <a:solidFill>
                  <a:schemeClr val="tx1"/>
                </a:solidFill>
                <a:latin typeface="Arial" charset="0"/>
                <a:ea typeface="+mn-ea"/>
                <a:cs typeface="Arial" charset="0"/>
              </a:rPr>
              <a:t> </a:t>
            </a:r>
          </a:p>
          <a:p>
            <a:r>
              <a:rPr lang="ru-RU" sz="1200" kern="1200" dirty="0">
                <a:solidFill>
                  <a:schemeClr val="tx1"/>
                </a:solidFill>
                <a:latin typeface="Arial" charset="0"/>
                <a:ea typeface="+mn-ea"/>
                <a:cs typeface="Arial" charset="0"/>
              </a:rPr>
              <a:t>Для </a:t>
            </a:r>
            <a:r>
              <a:rPr lang="ru-RU" sz="1200" b="1" kern="1200" dirty="0">
                <a:solidFill>
                  <a:schemeClr val="tx1"/>
                </a:solidFill>
                <a:latin typeface="Arial" charset="0"/>
                <a:ea typeface="+mn-ea"/>
                <a:cs typeface="Arial" charset="0"/>
              </a:rPr>
              <a:t>повторного использования кода и улучшения сохранения целостности данных </a:t>
            </a:r>
            <a:r>
              <a:rPr lang="ru-RU" sz="1200" kern="1200" dirty="0">
                <a:solidFill>
                  <a:schemeClr val="tx1"/>
                </a:solidFill>
                <a:latin typeface="Arial" charset="0"/>
                <a:ea typeface="+mn-ea"/>
                <a:cs typeface="Arial" charset="0"/>
              </a:rPr>
              <a:t>в объектном программировании </a:t>
            </a:r>
            <a:r>
              <a:rPr lang="ru-RU" sz="1200" b="1" kern="1200" dirty="0">
                <a:solidFill>
                  <a:schemeClr val="tx1"/>
                </a:solidFill>
                <a:latin typeface="Arial" charset="0"/>
                <a:ea typeface="+mn-ea"/>
                <a:cs typeface="Arial" charset="0"/>
              </a:rPr>
              <a:t>данные и код для их обработки организованы в объекты</a:t>
            </a:r>
            <a:r>
              <a:rPr lang="ru-RU" sz="1200" kern="1200" dirty="0">
                <a:solidFill>
                  <a:schemeClr val="tx1"/>
                </a:solidFill>
                <a:latin typeface="Arial" charset="0"/>
                <a:ea typeface="+mn-ea"/>
                <a:cs typeface="Arial" charset="0"/>
              </a:rPr>
              <a:t>. Таким образом, практически полностью снимаются ограничения на типы данных.</a:t>
            </a:r>
          </a:p>
          <a:p>
            <a:r>
              <a:rPr lang="ru-RU" sz="1200" kern="1200" dirty="0">
                <a:solidFill>
                  <a:schemeClr val="tx1"/>
                </a:solidFill>
                <a:latin typeface="Arial" charset="0"/>
                <a:ea typeface="+mn-ea"/>
                <a:cs typeface="Arial" charset="0"/>
              </a:rPr>
              <a:t>Если данные состоят из </a:t>
            </a:r>
            <a:r>
              <a:rPr lang="ru-RU" sz="1200" b="1" kern="1200" dirty="0">
                <a:solidFill>
                  <a:schemeClr val="tx1"/>
                </a:solidFill>
                <a:latin typeface="Arial" charset="0"/>
                <a:ea typeface="+mn-ea"/>
                <a:cs typeface="Arial" charset="0"/>
              </a:rPr>
              <a:t>коротких, простых полей фиксированной длины </a:t>
            </a:r>
            <a:r>
              <a:rPr lang="ru-RU" sz="1200" kern="1200" dirty="0">
                <a:solidFill>
                  <a:schemeClr val="tx1"/>
                </a:solidFill>
                <a:latin typeface="Arial" charset="0"/>
                <a:ea typeface="+mn-ea"/>
                <a:cs typeface="Arial" charset="0"/>
              </a:rPr>
              <a:t>(имя, адрес, баланс банковского счета), то </a:t>
            </a:r>
            <a:r>
              <a:rPr lang="ru-RU" sz="1200" b="1" kern="1200" dirty="0">
                <a:solidFill>
                  <a:schemeClr val="tx1"/>
                </a:solidFill>
                <a:latin typeface="Arial" charset="0"/>
                <a:ea typeface="+mn-ea"/>
                <a:cs typeface="Arial" charset="0"/>
              </a:rPr>
              <a:t>лучшим решением будет применение реляционной базы данных</a:t>
            </a:r>
            <a:r>
              <a:rPr lang="ru-RU" sz="1200" kern="1200" dirty="0">
                <a:solidFill>
                  <a:schemeClr val="tx1"/>
                </a:solidFill>
                <a:latin typeface="Arial" charset="0"/>
                <a:ea typeface="+mn-ea"/>
                <a:cs typeface="Arial" charset="0"/>
              </a:rPr>
              <a:t>. </a:t>
            </a:r>
          </a:p>
          <a:p>
            <a:r>
              <a:rPr lang="ru-RU" sz="1200" kern="1200" dirty="0">
                <a:solidFill>
                  <a:schemeClr val="tx1"/>
                </a:solidFill>
                <a:latin typeface="Arial" charset="0"/>
                <a:ea typeface="+mn-ea"/>
                <a:cs typeface="Arial" charset="0"/>
              </a:rPr>
              <a:t>Если, однако, данные содержат </a:t>
            </a:r>
            <a:r>
              <a:rPr lang="ru-RU" sz="1200" b="1" kern="1200" dirty="0">
                <a:solidFill>
                  <a:schemeClr val="tx1"/>
                </a:solidFill>
                <a:latin typeface="Arial" charset="0"/>
                <a:ea typeface="+mn-ea"/>
                <a:cs typeface="Arial" charset="0"/>
              </a:rPr>
              <a:t>вложенную структуру, динамически изменяемый размер, определяемые пользователем произвольные структуры (мультимедиа, например), </a:t>
            </a:r>
            <a:r>
              <a:rPr lang="ru-RU" sz="1200" kern="1200" dirty="0">
                <a:solidFill>
                  <a:schemeClr val="tx1"/>
                </a:solidFill>
                <a:latin typeface="Arial" charset="0"/>
                <a:ea typeface="+mn-ea"/>
                <a:cs typeface="Arial" charset="0"/>
              </a:rPr>
              <a:t>представление их </a:t>
            </a:r>
            <a:r>
              <a:rPr lang="ru-RU" sz="1200" b="1" kern="1200" dirty="0">
                <a:solidFill>
                  <a:schemeClr val="tx1"/>
                </a:solidFill>
                <a:latin typeface="Arial" charset="0"/>
                <a:ea typeface="+mn-ea"/>
                <a:cs typeface="Arial" charset="0"/>
              </a:rPr>
              <a:t>в табличной форме будет, как минимум, непростым</a:t>
            </a:r>
            <a:r>
              <a:rPr lang="ru-RU" sz="1200" kern="1200" dirty="0">
                <a:solidFill>
                  <a:schemeClr val="tx1"/>
                </a:solidFill>
                <a:latin typeface="Arial" charset="0"/>
                <a:ea typeface="+mn-ea"/>
                <a:cs typeface="Arial" charset="0"/>
              </a:rPr>
              <a:t>. </a:t>
            </a:r>
          </a:p>
          <a:p>
            <a:r>
              <a:rPr lang="ru-RU" sz="1200" kern="1200" dirty="0">
                <a:solidFill>
                  <a:schemeClr val="tx1"/>
                </a:solidFill>
                <a:latin typeface="Arial" charset="0"/>
                <a:ea typeface="+mn-ea"/>
                <a:cs typeface="Arial" charset="0"/>
              </a:rPr>
              <a:t>В то же время в ООСУБД каждая определенная пользователем структура – это объект, непосредственно управляемый базой данных.</a:t>
            </a:r>
          </a:p>
          <a:p>
            <a:r>
              <a:rPr lang="ru-RU" sz="1200" kern="1200" dirty="0">
                <a:solidFill>
                  <a:schemeClr val="tx1"/>
                </a:solidFill>
                <a:latin typeface="Arial" charset="0"/>
                <a:ea typeface="+mn-ea"/>
                <a:cs typeface="Arial" charset="0"/>
              </a:rPr>
              <a:t>Применение объектной модели предпочтительнее для баз данных с большим количеством сложных связей: перекрестных ссылок, ссылок, связывающих несколько объектов с несколькими (</a:t>
            </a:r>
            <a:r>
              <a:rPr lang="ru-RU" sz="1200" kern="1200" dirty="0" err="1">
                <a:solidFill>
                  <a:schemeClr val="tx1"/>
                </a:solidFill>
                <a:latin typeface="Arial" charset="0"/>
                <a:ea typeface="+mn-ea"/>
                <a:cs typeface="Arial" charset="0"/>
              </a:rPr>
              <a:t>many-to-many</a:t>
            </a:r>
            <a:r>
              <a:rPr lang="ru-RU" sz="1200" kern="1200" dirty="0">
                <a:solidFill>
                  <a:schemeClr val="tx1"/>
                </a:solidFill>
                <a:latin typeface="Arial" charset="0"/>
                <a:ea typeface="+mn-ea"/>
                <a:cs typeface="Arial" charset="0"/>
              </a:rPr>
              <a:t> </a:t>
            </a:r>
            <a:r>
              <a:rPr lang="ru-RU" sz="1200" kern="1200" dirty="0" err="1">
                <a:solidFill>
                  <a:schemeClr val="tx1"/>
                </a:solidFill>
                <a:latin typeface="Arial" charset="0"/>
                <a:ea typeface="+mn-ea"/>
                <a:cs typeface="Arial" charset="0"/>
              </a:rPr>
              <a:t>relationships</a:t>
            </a:r>
            <a:r>
              <a:rPr lang="ru-RU" sz="1200" kern="1200" dirty="0">
                <a:solidFill>
                  <a:schemeClr val="tx1"/>
                </a:solidFill>
                <a:latin typeface="Arial" charset="0"/>
                <a:ea typeface="+mn-ea"/>
                <a:cs typeface="Arial" charset="0"/>
              </a:rPr>
              <a:t>) двунаправленными ссылками.</a:t>
            </a:r>
          </a:p>
          <a:p>
            <a:r>
              <a:rPr lang="ru-RU" sz="1200" kern="1200" dirty="0">
                <a:solidFill>
                  <a:schemeClr val="tx1"/>
                </a:solidFill>
                <a:latin typeface="Arial" charset="0"/>
                <a:ea typeface="+mn-ea"/>
                <a:cs typeface="Arial" charset="0"/>
              </a:rPr>
              <a:t>В объектно-ориентированных базах данных, в отличие от реляционных, хранятся не записи, а объекты. </a:t>
            </a:r>
          </a:p>
          <a:p>
            <a:r>
              <a:rPr lang="ru-RU" sz="1200" kern="1200" dirty="0" err="1">
                <a:solidFill>
                  <a:schemeClr val="tx1"/>
                </a:solidFill>
                <a:latin typeface="Arial" charset="0"/>
                <a:ea typeface="+mn-ea"/>
                <a:cs typeface="Arial" charset="0"/>
              </a:rPr>
              <a:t>ОО-подход</a:t>
            </a:r>
            <a:r>
              <a:rPr lang="ru-RU" sz="1200" kern="1200" dirty="0">
                <a:solidFill>
                  <a:schemeClr val="tx1"/>
                </a:solidFill>
                <a:latin typeface="Arial" charset="0"/>
                <a:ea typeface="+mn-ea"/>
                <a:cs typeface="Arial" charset="0"/>
              </a:rPr>
              <a:t> представляет более совершенные средства для отображения реального мира, чем реляционная модель: естественное представление данных. </a:t>
            </a:r>
          </a:p>
          <a:p>
            <a:r>
              <a:rPr lang="ru-RU" sz="1200" kern="1200" dirty="0">
                <a:solidFill>
                  <a:schemeClr val="tx1"/>
                </a:solidFill>
                <a:latin typeface="Arial" charset="0"/>
                <a:ea typeface="+mn-ea"/>
                <a:cs typeface="Arial" charset="0"/>
              </a:rPr>
              <a:t>В реляционной модели все отношения принадлежат одному уровню, именно это осложняет преобразование иерархических связей модели "сущность-связь" в реляционную модель. </a:t>
            </a:r>
          </a:p>
          <a:p>
            <a:r>
              <a:rPr lang="ru-RU" sz="1200" kern="1200" dirty="0" err="1">
                <a:solidFill>
                  <a:schemeClr val="tx1"/>
                </a:solidFill>
                <a:latin typeface="Arial" charset="0"/>
                <a:ea typeface="+mn-ea"/>
                <a:cs typeface="Arial" charset="0"/>
              </a:rPr>
              <a:t>ОО-модель</a:t>
            </a:r>
            <a:r>
              <a:rPr lang="ru-RU" sz="1200" kern="1200" dirty="0">
                <a:solidFill>
                  <a:schemeClr val="tx1"/>
                </a:solidFill>
                <a:latin typeface="Arial" charset="0"/>
                <a:ea typeface="+mn-ea"/>
                <a:cs typeface="Arial" charset="0"/>
              </a:rPr>
              <a:t> можно рассматривать послойно, на разных уровнях абстракции. </a:t>
            </a:r>
          </a:p>
          <a:p>
            <a:r>
              <a:rPr lang="ru-RU" sz="1200" kern="1200" dirty="0">
                <a:solidFill>
                  <a:schemeClr val="tx1"/>
                </a:solidFill>
                <a:latin typeface="Arial" charset="0"/>
                <a:ea typeface="+mn-ea"/>
                <a:cs typeface="Arial" charset="0"/>
              </a:rPr>
              <a:t>Объектные СУБД реализуют весь набор функций, присущих системам управления базами данных плюс возможности объектного программирования.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BD745E31-B2C1-45CF-850A-BB6B3797823D}" type="slidenum">
              <a:rPr lang="ru-RU" altLang="ru-RU" smtClean="0"/>
              <a:pPr eaLnBrk="1" hangingPunct="1">
                <a:spcBef>
                  <a:spcPct val="0"/>
                </a:spcBef>
              </a:pPr>
              <a:t>5</a:t>
            </a:fld>
            <a:endParaRPr lang="ru-RU" altLang="ru-RU"/>
          </a:p>
        </p:txBody>
      </p:sp>
      <p:sp>
        <p:nvSpPr>
          <p:cNvPr id="317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lnSpc>
                <a:spcPct val="80000"/>
              </a:lnSpc>
            </a:pPr>
            <a:endParaRPr lang="ru-RU" altLang="ru-RU" sz="800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BD745E31-B2C1-45CF-850A-BB6B3797823D}" type="slidenum">
              <a:rPr lang="ru-RU" altLang="ru-RU" smtClean="0"/>
              <a:pPr eaLnBrk="1" hangingPunct="1">
                <a:spcBef>
                  <a:spcPct val="0"/>
                </a:spcBef>
              </a:pPr>
              <a:t>6</a:t>
            </a:fld>
            <a:endParaRPr lang="ru-RU" altLang="ru-RU"/>
          </a:p>
        </p:txBody>
      </p:sp>
      <p:sp>
        <p:nvSpPr>
          <p:cNvPr id="317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ru-RU" sz="1200" kern="1200" dirty="0">
                <a:solidFill>
                  <a:schemeClr val="tx1"/>
                </a:solidFill>
                <a:latin typeface="Arial" charset="0"/>
                <a:ea typeface="+mn-ea"/>
                <a:cs typeface="Arial" charset="0"/>
              </a:rPr>
              <a:t>В то же время, </a:t>
            </a:r>
            <a:r>
              <a:rPr lang="ru-RU" sz="1200" kern="1200" dirty="0" err="1">
                <a:solidFill>
                  <a:schemeClr val="tx1"/>
                </a:solidFill>
                <a:latin typeface="Arial" charset="0"/>
                <a:ea typeface="+mn-ea"/>
                <a:cs typeface="Arial" charset="0"/>
              </a:rPr>
              <a:t>ОО-модели</a:t>
            </a:r>
            <a:r>
              <a:rPr lang="ru-RU" sz="1200" kern="1200" dirty="0">
                <a:solidFill>
                  <a:schemeClr val="tx1"/>
                </a:solidFill>
                <a:latin typeface="Arial" charset="0"/>
                <a:ea typeface="+mn-ea"/>
                <a:cs typeface="Arial" charset="0"/>
              </a:rPr>
              <a:t> присущ и ряд недостатков: </a:t>
            </a:r>
          </a:p>
          <a:p>
            <a:pPr lvl="1">
              <a:buFont typeface="Arial" pitchFamily="34" charset="0"/>
              <a:buChar char="•"/>
            </a:pPr>
            <a:r>
              <a:rPr lang="ru-RU" sz="1200" kern="1200" dirty="0">
                <a:solidFill>
                  <a:schemeClr val="tx1"/>
                </a:solidFill>
                <a:latin typeface="Arial" charset="0"/>
                <a:ea typeface="+mn-ea"/>
                <a:cs typeface="Arial" charset="0"/>
              </a:rPr>
              <a:t>отсутствуют мощные непроцедурные средства извлечения объектов из базы. Все запросы приходится писать на процедурных языках, проблема их оптимизации возлагается на программиста. </a:t>
            </a:r>
          </a:p>
          <a:p>
            <a:pPr lvl="1">
              <a:buFont typeface="Arial" pitchFamily="34" charset="0"/>
              <a:buChar char="•"/>
            </a:pPr>
            <a:r>
              <a:rPr lang="ru-RU" sz="1200" kern="1200" dirty="0">
                <a:solidFill>
                  <a:schemeClr val="tx1"/>
                </a:solidFill>
                <a:latin typeface="Arial" charset="0"/>
                <a:ea typeface="+mn-ea"/>
                <a:cs typeface="Arial" charset="0"/>
              </a:rPr>
              <a:t>вместо чисто декларативных ограничений целостности (типа явного объявления первичных и внешних ключей реляционных таблиц с помощью ключевых слов PRIMARY KEY и REFERENCES) или </a:t>
            </a:r>
            <a:r>
              <a:rPr lang="ru-RU" sz="1200" kern="1200" dirty="0" err="1">
                <a:solidFill>
                  <a:schemeClr val="tx1"/>
                </a:solidFill>
                <a:latin typeface="Arial" charset="0"/>
                <a:ea typeface="+mn-ea"/>
                <a:cs typeface="Arial" charset="0"/>
              </a:rPr>
              <a:t>полудекларативных</a:t>
            </a:r>
            <a:r>
              <a:rPr lang="ru-RU" sz="1200" kern="1200" dirty="0">
                <a:solidFill>
                  <a:schemeClr val="tx1"/>
                </a:solidFill>
                <a:latin typeface="Arial" charset="0"/>
                <a:ea typeface="+mn-ea"/>
                <a:cs typeface="Arial" charset="0"/>
              </a:rPr>
              <a:t> триггеров для обеспечения внутренней целостности приходится писать процедурный код. </a:t>
            </a:r>
          </a:p>
          <a:p>
            <a:r>
              <a:rPr lang="ru-RU" sz="1200" kern="1200" dirty="0">
                <a:solidFill>
                  <a:schemeClr val="tx1"/>
                </a:solidFill>
                <a:latin typeface="Arial" charset="0"/>
                <a:ea typeface="+mn-ea"/>
                <a:cs typeface="Arial" charset="0"/>
              </a:rPr>
              <a:t>Очевидно, что оба эти недостатка связаны с отсутствием развитых средств манипулирования данными. </a:t>
            </a:r>
          </a:p>
          <a:p>
            <a:r>
              <a:rPr lang="ru-RU" sz="1200" kern="1200" dirty="0">
                <a:solidFill>
                  <a:schemeClr val="tx1"/>
                </a:solidFill>
                <a:latin typeface="Arial" charset="0"/>
                <a:ea typeface="+mn-ea"/>
                <a:cs typeface="Arial" charset="0"/>
              </a:rPr>
              <a:t>Эта задача решается двумя способами </a:t>
            </a:r>
          </a:p>
          <a:p>
            <a:pPr>
              <a:buFontTx/>
              <a:buChar char="-"/>
            </a:pPr>
            <a:r>
              <a:rPr lang="ru-RU" sz="1200" kern="1200" dirty="0">
                <a:solidFill>
                  <a:schemeClr val="tx1"/>
                </a:solidFill>
                <a:latin typeface="Arial" charset="0"/>
                <a:ea typeface="+mn-ea"/>
                <a:cs typeface="Arial" charset="0"/>
              </a:rPr>
              <a:t> расширение </a:t>
            </a:r>
            <a:r>
              <a:rPr lang="ru-RU" sz="1200" kern="1200" dirty="0" err="1">
                <a:solidFill>
                  <a:schemeClr val="tx1"/>
                </a:solidFill>
                <a:latin typeface="Arial" charset="0"/>
                <a:ea typeface="+mn-ea"/>
                <a:cs typeface="Arial" charset="0"/>
              </a:rPr>
              <a:t>ОО-языков</a:t>
            </a:r>
            <a:r>
              <a:rPr lang="ru-RU" sz="1200" kern="1200" dirty="0">
                <a:solidFill>
                  <a:schemeClr val="tx1"/>
                </a:solidFill>
                <a:latin typeface="Arial" charset="0"/>
                <a:ea typeface="+mn-ea"/>
                <a:cs typeface="Arial" charset="0"/>
              </a:rPr>
              <a:t> в сторону управления данными (стандарт ODMG), </a:t>
            </a:r>
          </a:p>
          <a:p>
            <a:pPr>
              <a:buFontTx/>
              <a:buChar char="-"/>
            </a:pPr>
            <a:r>
              <a:rPr lang="ru-RU" sz="1200" kern="1200" dirty="0">
                <a:solidFill>
                  <a:schemeClr val="tx1"/>
                </a:solidFill>
                <a:latin typeface="Arial" charset="0"/>
                <a:ea typeface="+mn-ea"/>
                <a:cs typeface="Arial" charset="0"/>
              </a:rPr>
              <a:t> либо добавление объектных свойств в реляционные СУБД.</a:t>
            </a:r>
          </a:p>
          <a:p>
            <a:pPr eaLnBrk="1" hangingPunct="1">
              <a:lnSpc>
                <a:spcPct val="80000"/>
              </a:lnSpc>
            </a:pPr>
            <a:endParaRPr lang="ru-RU" altLang="ru-RU" sz="800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BD745E31-B2C1-45CF-850A-BB6B3797823D}" type="slidenum">
              <a:rPr lang="ru-RU" altLang="ru-RU" smtClean="0"/>
              <a:pPr eaLnBrk="1" hangingPunct="1">
                <a:spcBef>
                  <a:spcPct val="0"/>
                </a:spcBef>
              </a:pPr>
              <a:t>7</a:t>
            </a:fld>
            <a:endParaRPr lang="ru-RU" altLang="ru-RU"/>
          </a:p>
        </p:txBody>
      </p:sp>
      <p:sp>
        <p:nvSpPr>
          <p:cNvPr id="317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lnSpc>
                <a:spcPct val="80000"/>
              </a:lnSpc>
            </a:pPr>
            <a:endParaRPr lang="ru-RU" altLang="ru-RU" sz="800" dirty="0"/>
          </a:p>
        </p:txBody>
      </p:sp>
    </p:spTree>
    <p:extLst>
      <p:ext uri="{BB962C8B-B14F-4D97-AF65-F5344CB8AC3E}">
        <p14:creationId xmlns:p14="http://schemas.microsoft.com/office/powerpoint/2010/main" val="407801370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BD745E31-B2C1-45CF-850A-BB6B3797823D}" type="slidenum">
              <a:rPr lang="ru-RU" altLang="ru-RU" smtClean="0"/>
              <a:pPr eaLnBrk="1" hangingPunct="1">
                <a:spcBef>
                  <a:spcPct val="0"/>
                </a:spcBef>
              </a:pPr>
              <a:t>8</a:t>
            </a:fld>
            <a:endParaRPr lang="ru-RU" altLang="ru-RU"/>
          </a:p>
        </p:txBody>
      </p:sp>
      <p:sp>
        <p:nvSpPr>
          <p:cNvPr id="317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lnSpc>
                <a:spcPct val="80000"/>
              </a:lnSpc>
            </a:pPr>
            <a:endParaRPr lang="ru-RU" altLang="ru-RU" sz="800" dirty="0"/>
          </a:p>
        </p:txBody>
      </p:sp>
    </p:spTree>
    <p:extLst>
      <p:ext uri="{BB962C8B-B14F-4D97-AF65-F5344CB8AC3E}">
        <p14:creationId xmlns:p14="http://schemas.microsoft.com/office/powerpoint/2010/main" val="376575294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Образ слайда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2771" name="Заметки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ru-RU" altLang="ru-RU" dirty="0"/>
              <a:t>Развитие производства ряда коммерческих объектно-ориентированных СУБД выдвинуло на повестку дня в начале 90-х гг. вопрос </a:t>
            </a:r>
            <a:r>
              <a:rPr lang="ru-RU" altLang="ru-RU" b="1" dirty="0"/>
              <a:t>о необходимости стандартизации модели данных и языковых средств</a:t>
            </a:r>
            <a:r>
              <a:rPr lang="ru-RU" altLang="ru-RU" dirty="0"/>
              <a:t> для таких систем с тем, чтобы обеспечить </a:t>
            </a:r>
            <a:r>
              <a:rPr lang="ru-RU" altLang="ru-RU" b="1" dirty="0"/>
              <a:t>переносимость приложений между средами различных объектных СУБД</a:t>
            </a:r>
            <a:r>
              <a:rPr lang="ru-RU" altLang="ru-RU" dirty="0"/>
              <a:t>, а также их </a:t>
            </a:r>
            <a:r>
              <a:rPr lang="ru-RU" altLang="ru-RU" dirty="0" err="1"/>
              <a:t>интероперабельность</a:t>
            </a:r>
            <a:r>
              <a:rPr lang="ru-RU" altLang="ru-RU" dirty="0"/>
              <a:t>. </a:t>
            </a:r>
          </a:p>
          <a:p>
            <a:r>
              <a:rPr lang="ru-RU" altLang="ru-RU" dirty="0"/>
              <a:t>Именно с целью организации практической деятельности по созданию стандартов для объектных систем баз данных в июне 1991 г. был учрежден индустриальный консорциум </a:t>
            </a:r>
            <a:r>
              <a:rPr lang="en-US" altLang="ru-RU" dirty="0"/>
              <a:t>Object Database Management Group</a:t>
            </a:r>
            <a:r>
              <a:rPr lang="ru-RU" altLang="ru-RU" dirty="0"/>
              <a:t> (</a:t>
            </a:r>
            <a:r>
              <a:rPr lang="en-US" altLang="ru-RU" dirty="0"/>
              <a:t>ODMG</a:t>
            </a:r>
            <a:r>
              <a:rPr lang="ru-RU" altLang="ru-RU" dirty="0"/>
              <a:t>), который объединил всех ведущих поставщиков объектных СУБД и стал "законодателем мод" в этой области.</a:t>
            </a:r>
          </a:p>
          <a:p>
            <a:r>
              <a:rPr lang="ru-RU" altLang="ru-RU" dirty="0"/>
              <a:t>В качестве исходной платформы для разработки своего стандарта объект­ных СУБД консорциум ODMG использовал:</a:t>
            </a:r>
          </a:p>
          <a:p>
            <a:r>
              <a:rPr lang="ru-RU" altLang="ru-RU" dirty="0"/>
              <a:t>• Манифест систем объектно-ориентированных баз данных, в котором бы­ли определены основные свойства ООСУБД;</a:t>
            </a:r>
          </a:p>
          <a:p>
            <a:r>
              <a:rPr lang="ru-RU" altLang="ru-RU" dirty="0"/>
              <a:t>• объектную модель и язык определения интерфейсов (</a:t>
            </a:r>
            <a:r>
              <a:rPr lang="en-US" altLang="ru-RU" dirty="0"/>
              <a:t>IDL</a:t>
            </a:r>
            <a:r>
              <a:rPr lang="ru-RU" altLang="ru-RU" dirty="0"/>
              <a:t>) стандарта OMG </a:t>
            </a:r>
            <a:r>
              <a:rPr lang="en-US" altLang="ru-RU" dirty="0"/>
              <a:t>CORBA</a:t>
            </a:r>
            <a:r>
              <a:rPr lang="ru-RU" altLang="ru-RU" dirty="0"/>
              <a:t> 1.0, обеспечивающего создание распределенных неоднородных </a:t>
            </a:r>
            <a:r>
              <a:rPr lang="ru-RU" altLang="ru-RU" dirty="0" err="1"/>
              <a:t>интероперабельных</a:t>
            </a:r>
            <a:r>
              <a:rPr lang="ru-RU" altLang="ru-RU" dirty="0"/>
              <a:t> объектных сред;</a:t>
            </a:r>
          </a:p>
          <a:p>
            <a:r>
              <a:rPr lang="ru-RU" altLang="ru-RU" dirty="0"/>
              <a:t>• проект стандарта </a:t>
            </a:r>
            <a:r>
              <a:rPr lang="en-US" altLang="ru-RU" dirty="0"/>
              <a:t>SQL</a:t>
            </a:r>
            <a:r>
              <a:rPr lang="ru-RU" altLang="ru-RU" dirty="0"/>
              <a:t>2 (в этот период завершались работы над </a:t>
            </a:r>
            <a:r>
              <a:rPr lang="en-US" altLang="ru-RU" dirty="0"/>
              <a:t>SQL</a:t>
            </a:r>
            <a:r>
              <a:rPr lang="ru-RU" altLang="ru-RU" dirty="0"/>
              <a:t>-92).</a:t>
            </a:r>
          </a:p>
          <a:p>
            <a:pPr eaLnBrk="1" hangingPunct="1">
              <a:lnSpc>
                <a:spcPct val="80000"/>
              </a:lnSpc>
            </a:pPr>
            <a:r>
              <a:rPr lang="ru-RU" sz="1200" b="0" i="1" kern="1200" dirty="0" err="1">
                <a:solidFill>
                  <a:schemeClr val="tx1"/>
                </a:solidFill>
                <a:latin typeface="Arial" charset="0"/>
                <a:ea typeface="+mn-ea"/>
                <a:cs typeface="Arial" charset="0"/>
              </a:rPr>
              <a:t>Common</a:t>
            </a:r>
            <a:r>
              <a:rPr lang="ru-RU" sz="1200" b="0" i="1" kern="1200" dirty="0">
                <a:solidFill>
                  <a:schemeClr val="tx1"/>
                </a:solidFill>
                <a:latin typeface="Arial" charset="0"/>
                <a:ea typeface="+mn-ea"/>
                <a:cs typeface="Arial" charset="0"/>
              </a:rPr>
              <a:t> </a:t>
            </a:r>
            <a:r>
              <a:rPr lang="ru-RU" sz="1200" b="0" i="1" kern="1200" dirty="0" err="1">
                <a:solidFill>
                  <a:schemeClr val="tx1"/>
                </a:solidFill>
                <a:latin typeface="Arial" charset="0"/>
                <a:ea typeface="+mn-ea"/>
                <a:cs typeface="Arial" charset="0"/>
              </a:rPr>
              <a:t>Object</a:t>
            </a:r>
            <a:r>
              <a:rPr lang="ru-RU" sz="1200" b="0" i="1" kern="1200" dirty="0">
                <a:solidFill>
                  <a:schemeClr val="tx1"/>
                </a:solidFill>
                <a:latin typeface="Arial" charset="0"/>
                <a:ea typeface="+mn-ea"/>
                <a:cs typeface="Arial" charset="0"/>
              </a:rPr>
              <a:t> </a:t>
            </a:r>
            <a:r>
              <a:rPr lang="ru-RU" sz="1200" b="0" i="1" kern="1200" dirty="0" err="1">
                <a:solidFill>
                  <a:schemeClr val="tx1"/>
                </a:solidFill>
                <a:latin typeface="Arial" charset="0"/>
                <a:ea typeface="+mn-ea"/>
                <a:cs typeface="Arial" charset="0"/>
              </a:rPr>
              <a:t>Request</a:t>
            </a:r>
            <a:r>
              <a:rPr lang="ru-RU" sz="1200" b="0" i="1" kern="1200" dirty="0">
                <a:solidFill>
                  <a:schemeClr val="tx1"/>
                </a:solidFill>
                <a:latin typeface="Arial" charset="0"/>
                <a:ea typeface="+mn-ea"/>
                <a:cs typeface="Arial" charset="0"/>
              </a:rPr>
              <a:t> </a:t>
            </a:r>
            <a:r>
              <a:rPr lang="ru-RU" sz="1200" b="0" i="1" kern="1200" dirty="0" err="1">
                <a:solidFill>
                  <a:schemeClr val="tx1"/>
                </a:solidFill>
                <a:latin typeface="Arial" charset="0"/>
                <a:ea typeface="+mn-ea"/>
                <a:cs typeface="Arial" charset="0"/>
              </a:rPr>
              <a:t>Broker</a:t>
            </a:r>
            <a:r>
              <a:rPr lang="ru-RU" sz="1200" b="0" i="1" kern="1200" dirty="0">
                <a:solidFill>
                  <a:schemeClr val="tx1"/>
                </a:solidFill>
                <a:latin typeface="Arial" charset="0"/>
                <a:ea typeface="+mn-ea"/>
                <a:cs typeface="Arial" charset="0"/>
              </a:rPr>
              <a:t> </a:t>
            </a:r>
            <a:r>
              <a:rPr lang="ru-RU" sz="1200" b="0" i="1" kern="1200" dirty="0" err="1">
                <a:solidFill>
                  <a:schemeClr val="tx1"/>
                </a:solidFill>
                <a:latin typeface="Arial" charset="0"/>
                <a:ea typeface="+mn-ea"/>
                <a:cs typeface="Arial" charset="0"/>
              </a:rPr>
              <a:t>Architecture</a:t>
            </a:r>
            <a:r>
              <a:rPr lang="ru-RU" sz="1200" b="0" i="0" kern="1200" dirty="0">
                <a:solidFill>
                  <a:schemeClr val="tx1"/>
                </a:solidFill>
                <a:latin typeface="Arial" charset="0"/>
                <a:ea typeface="+mn-ea"/>
                <a:cs typeface="Arial" charset="0"/>
              </a:rPr>
              <a:t> — общая архитектура брокера объектных запросов; типовая архитектура опосредованных запросов к объектам) — технологический стандарт написания </a:t>
            </a:r>
            <a:r>
              <a:rPr lang="ru-RU" sz="1200" b="0" i="0" u="none" strike="noStrike" kern="1200" dirty="0">
                <a:solidFill>
                  <a:schemeClr val="tx1"/>
                </a:solidFill>
                <a:latin typeface="Arial" charset="0"/>
                <a:ea typeface="+mn-ea"/>
                <a:cs typeface="Arial" charset="0"/>
                <a:hlinkClick r:id="rId3" tooltip="Распределённые приложения (страница отсутствует)"/>
              </a:rPr>
              <a:t>распределённых приложений</a:t>
            </a:r>
            <a:r>
              <a:rPr lang="ru-RU" sz="1200" b="0" i="0" kern="1200" dirty="0">
                <a:solidFill>
                  <a:schemeClr val="tx1"/>
                </a:solidFill>
                <a:latin typeface="Arial" charset="0"/>
                <a:ea typeface="+mn-ea"/>
                <a:cs typeface="Arial" charset="0"/>
              </a:rPr>
              <a:t>, продвигаемый консорциумом (рабочей группой) </a:t>
            </a:r>
            <a:r>
              <a:rPr lang="ru-RU" sz="1200" b="0" i="0" u="none" strike="noStrike" kern="1200" dirty="0">
                <a:solidFill>
                  <a:schemeClr val="tx1"/>
                </a:solidFill>
                <a:latin typeface="Arial" charset="0"/>
                <a:ea typeface="+mn-ea"/>
                <a:cs typeface="Arial" charset="0"/>
                <a:hlinkClick r:id="rId4" tooltip="Object Management Group"/>
              </a:rPr>
              <a:t>OMG</a:t>
            </a:r>
            <a:r>
              <a:rPr lang="ru-RU" sz="1200" b="0" i="0" kern="1200" dirty="0">
                <a:solidFill>
                  <a:schemeClr val="tx1"/>
                </a:solidFill>
                <a:latin typeface="Arial" charset="0"/>
                <a:ea typeface="+mn-ea"/>
                <a:cs typeface="Arial" charset="0"/>
              </a:rPr>
              <a:t> и соответствующая ему </a:t>
            </a:r>
            <a:r>
              <a:rPr lang="ru-RU" sz="1200" b="0" i="0" u="none" strike="noStrike" kern="1200" dirty="0">
                <a:solidFill>
                  <a:schemeClr val="tx1"/>
                </a:solidFill>
                <a:latin typeface="Arial" charset="0"/>
                <a:ea typeface="+mn-ea"/>
                <a:cs typeface="Arial" charset="0"/>
                <a:hlinkClick r:id="rId5" tooltip="Информационные технологии"/>
              </a:rPr>
              <a:t>информационная технология</a:t>
            </a:r>
            <a:r>
              <a:rPr lang="ru-RU" sz="1200" b="0" i="0" kern="1200" dirty="0">
                <a:solidFill>
                  <a:schemeClr val="tx1"/>
                </a:solidFill>
                <a:latin typeface="Arial" charset="0"/>
                <a:ea typeface="+mn-ea"/>
                <a:cs typeface="Arial" charset="0"/>
              </a:rPr>
              <a:t>.</a:t>
            </a:r>
            <a:endParaRPr lang="ru-RU" altLang="ru-RU" dirty="0">
              <a:hlinkClick r:id="rId6"/>
            </a:endParaRPr>
          </a:p>
          <a:p>
            <a:pPr eaLnBrk="1" hangingPunct="1">
              <a:lnSpc>
                <a:spcPct val="80000"/>
              </a:lnSpc>
            </a:pPr>
            <a:r>
              <a:rPr lang="ru-RU" altLang="ru-RU" dirty="0"/>
              <a:t>Главные требования к разрабатываемому </a:t>
            </a:r>
            <a:r>
              <a:rPr lang="en-US" altLang="ru-RU" dirty="0"/>
              <a:t>ODMG</a:t>
            </a:r>
            <a:r>
              <a:rPr lang="ru-RU" altLang="ru-RU" dirty="0"/>
              <a:t> стандарту заключались в обеспечении </a:t>
            </a:r>
            <a:r>
              <a:rPr lang="ru-RU" altLang="ru-RU" i="1" dirty="0"/>
              <a:t>переносимости приложений</a:t>
            </a:r>
            <a:r>
              <a:rPr lang="ru-RU" altLang="ru-RU" dirty="0"/>
              <a:t> между средами различных ООСУБД и </a:t>
            </a:r>
            <a:r>
              <a:rPr lang="ru-RU" altLang="ru-RU" i="1" dirty="0" err="1"/>
              <a:t>интероперабелъности</a:t>
            </a:r>
            <a:r>
              <a:rPr lang="ru-RU" altLang="ru-RU" i="1" dirty="0"/>
              <a:t> с архитектурой</a:t>
            </a:r>
            <a:r>
              <a:rPr lang="ru-RU" altLang="ru-RU" dirty="0"/>
              <a:t> </a:t>
            </a:r>
            <a:r>
              <a:rPr lang="en-US" altLang="ru-RU" dirty="0"/>
              <a:t>CORBA</a:t>
            </a:r>
            <a:r>
              <a:rPr lang="ru-RU" altLang="ru-RU" dirty="0"/>
              <a:t>. </a:t>
            </a:r>
          </a:p>
          <a:p>
            <a:pPr eaLnBrk="1" hangingPunct="1">
              <a:lnSpc>
                <a:spcPct val="80000"/>
              </a:lnSpc>
            </a:pPr>
            <a:r>
              <a:rPr lang="ru-RU" altLang="ru-RU" dirty="0"/>
              <a:t>В </a:t>
            </a:r>
            <a:r>
              <a:rPr lang="ru-RU" altLang="ru-RU" b="1" dirty="0"/>
              <a:t>августе 1993 г</a:t>
            </a:r>
            <a:r>
              <a:rPr lang="ru-RU" altLang="ru-RU" dirty="0"/>
              <a:t>. консорциум опубликовал </a:t>
            </a:r>
            <a:r>
              <a:rPr lang="ru-RU" altLang="ru-RU" b="1" dirty="0"/>
              <a:t>первую версию стандарта — </a:t>
            </a:r>
            <a:r>
              <a:rPr lang="en-US" altLang="ru-RU" b="1" dirty="0"/>
              <a:t>ODMG</a:t>
            </a:r>
            <a:r>
              <a:rPr lang="ru-RU" altLang="ru-RU" b="1" dirty="0"/>
              <a:t>-93 </a:t>
            </a:r>
            <a:r>
              <a:rPr lang="en-US" altLang="ru-RU" dirty="0"/>
              <a:t>Release</a:t>
            </a:r>
            <a:r>
              <a:rPr lang="ru-RU" altLang="ru-RU" dirty="0"/>
              <a:t> 1.0. </a:t>
            </a:r>
          </a:p>
          <a:p>
            <a:pPr eaLnBrk="1" hangingPunct="1">
              <a:lnSpc>
                <a:spcPct val="80000"/>
              </a:lnSpc>
            </a:pPr>
            <a:r>
              <a:rPr lang="ru-RU" altLang="ru-RU" dirty="0"/>
              <a:t>В ней содержались спецификации объектной модели, языка определения объектов, объектного языка запросов и связывания для объектных языков программирования </a:t>
            </a:r>
            <a:r>
              <a:rPr lang="en-US" altLang="ru-RU" dirty="0"/>
              <a:t>Smalltalk</a:t>
            </a:r>
            <a:r>
              <a:rPr lang="ru-RU" altLang="ru-RU" dirty="0"/>
              <a:t> и C++. При этом объектная модель ODMG представляла собой расширение модели-ядра стандарта </a:t>
            </a:r>
            <a:r>
              <a:rPr lang="en-US" altLang="ru-RU" dirty="0"/>
              <a:t>OMG</a:t>
            </a:r>
            <a:r>
              <a:rPr lang="ru-RU" altLang="ru-RU" dirty="0"/>
              <a:t> CORBA, а язык определения объектов </a:t>
            </a:r>
            <a:r>
              <a:rPr lang="en-US" altLang="ru-RU" dirty="0"/>
              <a:t>ODL</a:t>
            </a:r>
            <a:r>
              <a:rPr lang="ru-RU" altLang="ru-RU" dirty="0"/>
              <a:t> — соответственно расширение языка определения интерфейсов </a:t>
            </a:r>
            <a:r>
              <a:rPr lang="en-US" altLang="ru-RU" dirty="0"/>
              <a:t>OMG IDL</a:t>
            </a:r>
            <a:r>
              <a:rPr lang="ru-RU" altLang="ru-RU" dirty="0"/>
              <a:t>, Благодаря этому обеспечивалась естественная возможность интеграции систем баз данных, основанных на стандарте ODMG, в среду объектных технологий CORBA. Язык запросов </a:t>
            </a:r>
            <a:r>
              <a:rPr lang="en-US" altLang="ru-RU" dirty="0"/>
              <a:t>OQL</a:t>
            </a:r>
            <a:r>
              <a:rPr lang="ru-RU" altLang="ru-RU" dirty="0"/>
              <a:t> в стандарте явился результатом адаптации неко­торого фрагмента языка </a:t>
            </a:r>
            <a:r>
              <a:rPr lang="en-US" altLang="ru-RU" dirty="0"/>
              <a:t>SQL</a:t>
            </a:r>
            <a:r>
              <a:rPr lang="ru-RU" altLang="ru-RU" dirty="0"/>
              <a:t> к объектной модели ODMG.</a:t>
            </a:r>
          </a:p>
          <a:p>
            <a:r>
              <a:rPr lang="ru-RU" altLang="ru-RU" dirty="0"/>
              <a:t>С их появлением спецификации ODMG-93 сразу же приобрели статус </a:t>
            </a:r>
            <a:r>
              <a:rPr lang="ru-RU" altLang="ru-RU" i="1" dirty="0"/>
              <a:t>стандарта де-факто,</a:t>
            </a:r>
            <a:r>
              <a:rPr lang="ru-RU" altLang="ru-RU" dirty="0"/>
              <a:t> поскольку в их создании участвовали все ведущие произ­водители объектных СУБД, которые поддерживали этот стандарт собственны­ми программными продуктами.</a:t>
            </a:r>
          </a:p>
          <a:p>
            <a:r>
              <a:rPr lang="ru-RU" altLang="ru-RU" dirty="0"/>
              <a:t>В последующие годы появились промежуточная версия стандарта ODMG </a:t>
            </a:r>
            <a:r>
              <a:rPr lang="en-US" altLang="ru-RU" dirty="0"/>
              <a:t>Release</a:t>
            </a:r>
            <a:r>
              <a:rPr lang="ru-RU" altLang="ru-RU" dirty="0"/>
              <a:t> 1.1 (февраль 1994 г.) и одобренная в ноябре 1995 г. версия ODMG </a:t>
            </a:r>
            <a:r>
              <a:rPr lang="en-US" altLang="ru-RU" dirty="0"/>
              <a:t>Release</a:t>
            </a:r>
            <a:r>
              <a:rPr lang="ru-RU" altLang="ru-RU" dirty="0"/>
              <a:t> 1.2.</a:t>
            </a:r>
          </a:p>
          <a:p>
            <a:endParaRPr lang="ru-RU" altLang="ru-RU" dirty="0"/>
          </a:p>
          <a:p>
            <a:r>
              <a:rPr lang="ru-RU" altLang="ru-RU" dirty="0"/>
              <a:t>Следующая существенно дополненная с функциональной точки зрения версия стандарта — ODMG 2.0 была принята в июле 1997 г. К сожалению, в результате заключительного редактирования в ней появился ряд некорректностей, связанных с описанием базовой объектной модели стандарта, которые привели к ее рассогласованию с языковыми спецификациями. Это не помешало, однако, некоторым поставщикам объектных СУБД активно реализовать ряд програм­мных продуктов СУБД, основанных на данной версии стандарта.</a:t>
            </a:r>
          </a:p>
          <a:p>
            <a:pPr eaLnBrk="1" hangingPunct="1">
              <a:lnSpc>
                <a:spcPct val="80000"/>
              </a:lnSpc>
            </a:pPr>
            <a:endParaRPr lang="ru-RU" altLang="ru-RU" dirty="0"/>
          </a:p>
          <a:p>
            <a:pPr eaLnBrk="1" hangingPunct="1">
              <a:lnSpc>
                <a:spcPct val="80000"/>
              </a:lnSpc>
            </a:pPr>
            <a:endParaRPr lang="ru-RU" altLang="ru-RU" dirty="0">
              <a:hlinkClick r:id="rId6"/>
            </a:endParaRPr>
          </a:p>
        </p:txBody>
      </p:sp>
      <p:sp>
        <p:nvSpPr>
          <p:cNvPr id="32772" name="Номер слайда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B467A826-D347-4C98-ABE0-C5A692CCF9BC}" type="slidenum">
              <a:rPr lang="ru-RU" altLang="ru-RU" smtClean="0"/>
              <a:pPr eaLnBrk="1" hangingPunct="1"/>
              <a:t>9</a:t>
            </a:fld>
            <a:endParaRPr lang="ru-RU" altLang="ru-RU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Образ слайда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3795" name="Заметки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ru-RU" altLang="ru-RU" dirty="0"/>
              <a:t>Завершив этап своей деятельности, связанной с созданием версии стандарта ODMG 2.0, консорциум существенно изменил стратегию и содержание работ. В пресс-релизе от 27 апреля 1998 г. ODMG объявила о расширении сферы своей деятельности. </a:t>
            </a:r>
            <a:endParaRPr lang="en-US" altLang="ru-RU" dirty="0"/>
          </a:p>
          <a:p>
            <a:r>
              <a:rPr lang="ru-RU" altLang="ru-RU" dirty="0"/>
              <a:t>Наряду с поддержкой и развитием имеющегося стандарта предполагалось сосредоточить усилия на разработке спецификаций стандартов </a:t>
            </a:r>
            <a:r>
              <a:rPr lang="ru-RU" altLang="ru-RU" i="1" dirty="0"/>
              <a:t>«универсального хранения объектов»</a:t>
            </a:r>
            <a:r>
              <a:rPr lang="ru-RU" altLang="ru-RU" dirty="0"/>
              <a:t> для различных объектных языков программирования. </a:t>
            </a:r>
            <a:endParaRPr lang="en-US" altLang="ru-RU" dirty="0"/>
          </a:p>
          <a:p>
            <a:r>
              <a:rPr lang="ru-RU" altLang="ru-RU" dirty="0"/>
              <a:t>По мнению руководства ODMG, неотложная необходимость в этом вызвана, прежде всего, появлением и широким распространением языка </a:t>
            </a:r>
            <a:r>
              <a:rPr lang="en-US" altLang="ru-RU" dirty="0"/>
              <a:t>Java</a:t>
            </a:r>
            <a:r>
              <a:rPr lang="ru-RU" altLang="ru-RU" dirty="0"/>
              <a:t>. </a:t>
            </a:r>
            <a:endParaRPr lang="en-US" altLang="ru-RU" dirty="0"/>
          </a:p>
          <a:p>
            <a:r>
              <a:rPr lang="ru-RU" altLang="ru-RU" dirty="0"/>
              <a:t>Создание и использование таких стандартов позволили бы исключить потребность в средствах отображения объектов языков программирования в различные форматы хранения, облегчить перенос приложений из среды одного про­дукта, соответствующего стандарту ODMG, в среду другого такого же продукта.</a:t>
            </a:r>
          </a:p>
          <a:p>
            <a:r>
              <a:rPr lang="ru-RU" altLang="ru-RU" dirty="0"/>
              <a:t>Стремясь подчеркнуть, что новая поставленная задача будет весьма значимой в деятельности ODMG и что она важна не только в рамках систем баз данных, консорциум </a:t>
            </a:r>
            <a:r>
              <a:rPr lang="en-US" altLang="ru-RU" dirty="0"/>
              <a:t>Object </a:t>
            </a:r>
            <a:r>
              <a:rPr lang="en-US" altLang="ru-RU" i="1" u="sng" dirty="0"/>
              <a:t>Database</a:t>
            </a:r>
            <a:r>
              <a:rPr lang="en-US" altLang="ru-RU" dirty="0"/>
              <a:t> Management Group</a:t>
            </a:r>
            <a:r>
              <a:rPr lang="ru-RU" altLang="ru-RU" dirty="0"/>
              <a:t> объявил об изменении своего названия. Теперь (с апреля 1998 г.) аббревиатура ODMG расшифровывается как </a:t>
            </a:r>
            <a:r>
              <a:rPr lang="en-US" altLang="ru-RU" dirty="0"/>
              <a:t>Object </a:t>
            </a:r>
            <a:r>
              <a:rPr lang="en-US" altLang="ru-RU" i="1" u="sng" dirty="0"/>
              <a:t>Data </a:t>
            </a:r>
            <a:r>
              <a:rPr lang="en-US" altLang="ru-RU" dirty="0"/>
              <a:t>Management Group</a:t>
            </a:r>
            <a:r>
              <a:rPr lang="ru-RU" altLang="ru-RU" dirty="0"/>
              <a:t>.</a:t>
            </a:r>
          </a:p>
          <a:p>
            <a:r>
              <a:rPr lang="ru-RU" altLang="ru-RU" dirty="0"/>
              <a:t>Для реализации своих намерений в указанном направлении ODMG начал в 1998 г. тесно сотрудничать с компаниями </a:t>
            </a:r>
            <a:r>
              <a:rPr lang="en-US" altLang="ru-RU" dirty="0"/>
              <a:t>Sun</a:t>
            </a:r>
            <a:r>
              <a:rPr lang="ru-RU" altLang="ru-RU" dirty="0"/>
              <a:t>, </a:t>
            </a:r>
            <a:r>
              <a:rPr lang="en-US" altLang="ru-RU" dirty="0"/>
              <a:t>Novell</a:t>
            </a:r>
            <a:r>
              <a:rPr lang="ru-RU" altLang="ru-RU" dirty="0"/>
              <a:t> и </a:t>
            </a:r>
            <a:r>
              <a:rPr lang="en-US" altLang="ru-RU" dirty="0"/>
              <a:t>Secant Technologies</a:t>
            </a:r>
            <a:r>
              <a:rPr lang="ru-RU" altLang="ru-RU" dirty="0"/>
              <a:t> с целью выработки спецификаций сервиса </a:t>
            </a:r>
            <a:r>
              <a:rPr lang="en-US" altLang="ru-RU" dirty="0"/>
              <a:t>OMG</a:t>
            </a:r>
            <a:r>
              <a:rPr lang="ru-RU" altLang="ru-RU" dirty="0"/>
              <a:t> долговременно хранимых объ­ектов версии 2 (</a:t>
            </a:r>
            <a:r>
              <a:rPr lang="en-US" altLang="ru-RU" dirty="0"/>
              <a:t>OMG Persistent State Service</a:t>
            </a:r>
            <a:r>
              <a:rPr lang="ru-RU" altLang="ru-RU" dirty="0"/>
              <a:t> 2.0). Эти спецификации были представлены в OMG в качестве претендента на новый стандарт одного из 16 объектных сервисов, входящих в состав разработанной консорциу­мом архитектуры </a:t>
            </a:r>
            <a:r>
              <a:rPr lang="en-US" altLang="ru-RU" dirty="0"/>
              <a:t>CORBA</a:t>
            </a:r>
            <a:r>
              <a:rPr lang="ru-RU" altLang="ru-RU" dirty="0"/>
              <a:t>.</a:t>
            </a:r>
          </a:p>
          <a:p>
            <a:r>
              <a:rPr lang="ru-RU" altLang="ru-RU" dirty="0"/>
              <a:t>В составе </a:t>
            </a:r>
            <a:r>
              <a:rPr lang="en-US" altLang="ru-RU" dirty="0"/>
              <a:t>ODMG</a:t>
            </a:r>
            <a:r>
              <a:rPr lang="ru-RU" altLang="ru-RU" dirty="0"/>
              <a:t> были учреждены три новые рабочие группы. </a:t>
            </a:r>
          </a:p>
          <a:p>
            <a:r>
              <a:rPr lang="ru-RU" altLang="ru-RU" b="1" dirty="0"/>
              <a:t>Одна</a:t>
            </a:r>
            <a:r>
              <a:rPr lang="ru-RU" altLang="ru-RU" dirty="0"/>
              <a:t> из них должна была обеспечить </a:t>
            </a:r>
            <a:r>
              <a:rPr lang="ru-RU" altLang="ru-RU" b="1" dirty="0"/>
              <a:t>интеграцию спецификаций сервиса долговременного хранения объектов </a:t>
            </a:r>
            <a:r>
              <a:rPr lang="ru-RU" altLang="ru-RU" dirty="0"/>
              <a:t>будущего стандарта ODMG с разрабатываемой компанией </a:t>
            </a:r>
            <a:r>
              <a:rPr lang="en-US" altLang="ru-RU" dirty="0"/>
              <a:t>Sun</a:t>
            </a:r>
            <a:r>
              <a:rPr lang="ru-RU" altLang="ru-RU" dirty="0"/>
              <a:t> новой спецификацией ее компонентной модели </a:t>
            </a:r>
            <a:r>
              <a:rPr lang="en-US" altLang="ru-RU" dirty="0"/>
              <a:t>Enterprise JavaBeans</a:t>
            </a:r>
            <a:r>
              <a:rPr lang="ru-RU" altLang="ru-RU" dirty="0"/>
              <a:t> (</a:t>
            </a:r>
            <a:r>
              <a:rPr lang="en-US" altLang="ru-RU" dirty="0"/>
              <a:t>EJB</a:t>
            </a:r>
            <a:r>
              <a:rPr lang="ru-RU" altLang="ru-RU" dirty="0"/>
              <a:t> 2.0). </a:t>
            </a:r>
          </a:p>
          <a:p>
            <a:r>
              <a:rPr lang="ru-RU" altLang="ru-RU" dirty="0"/>
              <a:t>На </a:t>
            </a:r>
            <a:r>
              <a:rPr lang="ru-RU" altLang="ru-RU" b="1" dirty="0"/>
              <a:t>две другие </a:t>
            </a:r>
            <a:r>
              <a:rPr lang="ru-RU" altLang="ru-RU" dirty="0"/>
              <a:t>рабочие группы возлагались </a:t>
            </a:r>
            <a:r>
              <a:rPr lang="ru-RU" altLang="ru-RU" b="1" dirty="0"/>
              <a:t>задачи разработки стандартного отображения между объектной и реляционной моделями </a:t>
            </a:r>
            <a:r>
              <a:rPr lang="ru-RU" altLang="ru-RU" dirty="0"/>
              <a:t>данных, а также </a:t>
            </a:r>
            <a:r>
              <a:rPr lang="ru-RU" altLang="ru-RU" b="1" dirty="0"/>
              <a:t>связывания для среды, основанной на новом языке разметки </a:t>
            </a:r>
            <a:r>
              <a:rPr lang="en-US" altLang="ru-RU" b="1" dirty="0"/>
              <a:t>XML</a:t>
            </a:r>
            <a:r>
              <a:rPr lang="ru-RU" altLang="ru-RU" dirty="0"/>
              <a:t>. </a:t>
            </a:r>
          </a:p>
          <a:p>
            <a:r>
              <a:rPr lang="ru-RU" altLang="ru-RU" dirty="0"/>
              <a:t>Начались также работы по созданию средств сертификации для реализации предложенной ODMG спецификации связывания для </a:t>
            </a:r>
            <a:r>
              <a:rPr lang="en-US" altLang="ru-RU" dirty="0"/>
              <a:t>Java</a:t>
            </a:r>
            <a:r>
              <a:rPr lang="ru-RU" altLang="ru-RU" dirty="0"/>
              <a:t>, которые предпола­галось включить в следующую версию стандарта.</a:t>
            </a:r>
          </a:p>
          <a:p>
            <a:r>
              <a:rPr lang="ru-RU" altLang="ru-RU" dirty="0"/>
              <a:t>Важно заметить, что ODMG предложила сообществу </a:t>
            </a:r>
            <a:r>
              <a:rPr lang="en-US" altLang="ru-RU" dirty="0"/>
              <a:t>Java</a:t>
            </a:r>
            <a:r>
              <a:rPr lang="ru-RU" altLang="ru-RU" dirty="0"/>
              <a:t> использовать спе­цификации связывания </a:t>
            </a:r>
            <a:r>
              <a:rPr lang="en-US" altLang="ru-RU" dirty="0"/>
              <a:t>Java</a:t>
            </a:r>
            <a:r>
              <a:rPr lang="ru-RU" altLang="ru-RU" dirty="0"/>
              <a:t> из стандарта ODMG как основу начавшегося про­цесса разработки спецификаций </a:t>
            </a:r>
            <a:r>
              <a:rPr lang="en-US" altLang="ru-RU" dirty="0"/>
              <a:t>Java Data Object Specification</a:t>
            </a:r>
            <a:r>
              <a:rPr lang="ru-RU" altLang="ru-RU" dirty="0"/>
              <a:t> (</a:t>
            </a:r>
            <a:r>
              <a:rPr lang="en-US" altLang="ru-RU" dirty="0"/>
              <a:t>JDO</a:t>
            </a:r>
            <a:r>
              <a:rPr lang="ru-RU" altLang="ru-RU" dirty="0"/>
              <a:t>). </a:t>
            </a:r>
          </a:p>
          <a:p>
            <a:r>
              <a:rPr lang="ru-RU" altLang="ru-RU" dirty="0"/>
              <a:t>Речь идет о создании для </a:t>
            </a:r>
            <a:r>
              <a:rPr lang="en-US" altLang="ru-RU" dirty="0"/>
              <a:t>Java</a:t>
            </a:r>
            <a:r>
              <a:rPr lang="ru-RU" altLang="ru-RU" dirty="0"/>
              <a:t> спецификаций нового </a:t>
            </a:r>
            <a:r>
              <a:rPr lang="en-US" altLang="ru-RU" dirty="0"/>
              <a:t>API</a:t>
            </a:r>
            <a:r>
              <a:rPr lang="ru-RU" altLang="ru-RU" dirty="0"/>
              <a:t> высокого уровня, который позволял бы программисту полностью обходиться средствами </a:t>
            </a:r>
            <a:r>
              <a:rPr lang="en-US" altLang="ru-RU" dirty="0"/>
              <a:t>Java</a:t>
            </a:r>
            <a:r>
              <a:rPr lang="ru-RU" altLang="ru-RU" dirty="0"/>
              <a:t> и не обращаться к механизмам других языков, например к </a:t>
            </a:r>
            <a:r>
              <a:rPr lang="en-US" altLang="ru-RU" dirty="0"/>
              <a:t>SQL</a:t>
            </a:r>
            <a:r>
              <a:rPr lang="ru-RU" altLang="ru-RU" dirty="0"/>
              <a:t>, в случае использования части 1 </a:t>
            </a:r>
            <a:r>
              <a:rPr lang="en-US" altLang="ru-RU" dirty="0"/>
              <a:t>SQLJ</a:t>
            </a:r>
            <a:r>
              <a:rPr lang="ru-RU" altLang="ru-RU" dirty="0"/>
              <a:t>. При этом предполагается обеспечить </a:t>
            </a:r>
            <a:r>
              <a:rPr lang="ru-RU" altLang="ru-RU" i="1" dirty="0"/>
              <a:t>прозрачность</a:t>
            </a:r>
            <a:r>
              <a:rPr lang="ru-RU" altLang="ru-RU" dirty="0"/>
              <a:t> обращений к базе данных для доступа к долговременно хранимым объектам, </a:t>
            </a:r>
            <a:r>
              <a:rPr lang="ru-RU" altLang="ru-RU" i="1" dirty="0"/>
              <a:t>транзакционную семантику</a:t>
            </a:r>
            <a:r>
              <a:rPr lang="ru-RU" altLang="ru-RU" dirty="0"/>
              <a:t> для обработки объектов такого рода, а также интерпретацию данных </a:t>
            </a:r>
            <a:r>
              <a:rPr lang="ru-RU" altLang="ru-RU" i="1" dirty="0"/>
              <a:t>реляционных баз данных как объектов </a:t>
            </a:r>
            <a:r>
              <a:rPr lang="en-US" altLang="ru-RU" i="1" dirty="0"/>
              <a:t>Java</a:t>
            </a:r>
            <a:r>
              <a:rPr lang="ru-RU" altLang="ru-RU" dirty="0"/>
              <a:t> и другие возможности.</a:t>
            </a:r>
          </a:p>
          <a:p>
            <a:pPr eaLnBrk="1" hangingPunct="1">
              <a:lnSpc>
                <a:spcPct val="80000"/>
              </a:lnSpc>
            </a:pPr>
            <a:r>
              <a:rPr lang="ru-RU" altLang="ru-RU" dirty="0"/>
              <a:t>Развивая новые направления своей расширенной сферы деятельности, ODMG вместе с тем продолжал работу над следующей версией поддерживаемо­го консорциумом стандарта — ODMG 3.0. Работа была завершена в конце 1999 г., а в январе 2000 г. этот стандарт был опубликован издательством </a:t>
            </a:r>
            <a:r>
              <a:rPr lang="en-US" altLang="ru-RU" dirty="0"/>
              <a:t>Morgan Kaufmann Publishers</a:t>
            </a:r>
            <a:r>
              <a:rPr lang="ru-RU" altLang="ru-RU" dirty="0"/>
              <a:t> под названием </a:t>
            </a:r>
            <a:r>
              <a:rPr lang="en-US" altLang="ru-RU" i="1" dirty="0"/>
              <a:t>The Object Data Standard</a:t>
            </a:r>
            <a:r>
              <a:rPr lang="ru-RU" altLang="ru-RU" i="1" dirty="0"/>
              <a:t>: </a:t>
            </a:r>
            <a:r>
              <a:rPr lang="en-US" altLang="ru-RU" i="1" dirty="0"/>
              <a:t>ODMG</a:t>
            </a:r>
            <a:r>
              <a:rPr lang="ru-RU" altLang="ru-RU" i="1" dirty="0"/>
              <a:t> 3.0</a:t>
            </a:r>
            <a:r>
              <a:rPr lang="ru-RU" altLang="ru-RU" dirty="0"/>
              <a:t>. Это название в большей мере соответствует новой миссии ODMG, чем прежнее </a:t>
            </a:r>
            <a:r>
              <a:rPr lang="ru-RU" altLang="ru-RU" i="1" dirty="0"/>
              <a:t>(</a:t>
            </a:r>
            <a:r>
              <a:rPr lang="en-US" altLang="ru-RU" i="1" dirty="0"/>
              <a:t>Object Database Standard</a:t>
            </a:r>
            <a:r>
              <a:rPr lang="ru-RU" altLang="ru-RU" i="1" dirty="0"/>
              <a:t>).</a:t>
            </a:r>
          </a:p>
          <a:p>
            <a:pPr eaLnBrk="1" hangingPunct="1">
              <a:lnSpc>
                <a:spcPct val="80000"/>
              </a:lnSpc>
            </a:pPr>
            <a:r>
              <a:rPr lang="ru-RU" altLang="ru-RU" dirty="0"/>
              <a:t>В отличие от предыдущих версий стандарта ODMG не публиковала проект ODMG 3.0 на своем </a:t>
            </a:r>
            <a:r>
              <a:rPr lang="ru-RU" altLang="ru-RU" dirty="0" err="1"/>
              <a:t>Web</a:t>
            </a:r>
            <a:r>
              <a:rPr lang="ru-RU" altLang="ru-RU" dirty="0"/>
              <a:t>-сайте для свободного предварительного ознакомления с ним заинтересованных специалистов.</a:t>
            </a:r>
          </a:p>
          <a:p>
            <a:pPr eaLnBrk="1" hangingPunct="1">
              <a:lnSpc>
                <a:spcPct val="80000"/>
              </a:lnSpc>
            </a:pPr>
            <a:endParaRPr lang="ru-RU" altLang="ru-RU" dirty="0"/>
          </a:p>
          <a:p>
            <a:pPr eaLnBrk="1" hangingPunct="1">
              <a:lnSpc>
                <a:spcPct val="80000"/>
              </a:lnSpc>
            </a:pPr>
            <a:endParaRPr lang="ru-RU" altLang="ru-RU" dirty="0">
              <a:hlinkClick r:id="rId3"/>
            </a:endParaRPr>
          </a:p>
        </p:txBody>
      </p:sp>
      <p:sp>
        <p:nvSpPr>
          <p:cNvPr id="33796" name="Номер слайда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F16DA9A6-CA26-4B03-9E28-8E4DB8E76C7D}" type="slidenum">
              <a:rPr lang="ru-RU" altLang="ru-RU" smtClean="0"/>
              <a:pPr eaLnBrk="1" hangingPunct="1"/>
              <a:t>10</a:t>
            </a:fld>
            <a:endParaRPr lang="ru-RU" altLang="ru-RU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Образ слайда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3795" name="Заметки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ru-RU" altLang="ru-RU" dirty="0"/>
              <a:t>Завершив этап своей деятельности, связанной с созданием версии стандарта ODMG 2.0, консорциум существенно изменил стратегию и содержание работ. В пресс-релизе от 27 апреля 1998 г. ODMG объявила о расширении сферы своей деятельности. </a:t>
            </a:r>
            <a:endParaRPr lang="en-US" altLang="ru-RU" dirty="0"/>
          </a:p>
          <a:p>
            <a:r>
              <a:rPr lang="ru-RU" altLang="ru-RU" dirty="0"/>
              <a:t>Наряду с поддержкой и развитием имеющегося стандарта предполагалось сосредоточить усилия на разработке спецификаций стандартов </a:t>
            </a:r>
            <a:r>
              <a:rPr lang="ru-RU" altLang="ru-RU" i="1" dirty="0"/>
              <a:t>«универсального хранения объектов»</a:t>
            </a:r>
            <a:r>
              <a:rPr lang="ru-RU" altLang="ru-RU" dirty="0"/>
              <a:t> для различных объектных языков программирования. </a:t>
            </a:r>
            <a:endParaRPr lang="en-US" altLang="ru-RU" dirty="0"/>
          </a:p>
          <a:p>
            <a:r>
              <a:rPr lang="ru-RU" altLang="ru-RU" dirty="0"/>
              <a:t>По мнению руководства ODMG, неотложная необходимость в этом вызвана, прежде всего, появлением и широким распространением языка </a:t>
            </a:r>
            <a:r>
              <a:rPr lang="en-US" altLang="ru-RU" dirty="0"/>
              <a:t>Java</a:t>
            </a:r>
            <a:r>
              <a:rPr lang="ru-RU" altLang="ru-RU" dirty="0"/>
              <a:t>. </a:t>
            </a:r>
            <a:endParaRPr lang="en-US" altLang="ru-RU" dirty="0"/>
          </a:p>
          <a:p>
            <a:r>
              <a:rPr lang="ru-RU" altLang="ru-RU" dirty="0"/>
              <a:t>Создание и использование таких стандартов позволили бы исключить потребность в средствах отображения объектов языков программирования в различные форматы хранения, облегчить перенос приложений из среды одного про­дукта, соответствующего стандарту ODMG, в среду другого такого же продукта.</a:t>
            </a:r>
          </a:p>
          <a:p>
            <a:r>
              <a:rPr lang="ru-RU" altLang="ru-RU" dirty="0"/>
              <a:t>Стремясь подчеркнуть, что новая поставленная задача будет весьма значимой в деятельности ODMG и что она важна не только в рамках систем баз данных, консорциум </a:t>
            </a:r>
            <a:r>
              <a:rPr lang="en-US" altLang="ru-RU" dirty="0"/>
              <a:t>Object </a:t>
            </a:r>
            <a:r>
              <a:rPr lang="en-US" altLang="ru-RU" i="1" u="sng" dirty="0"/>
              <a:t>Database</a:t>
            </a:r>
            <a:r>
              <a:rPr lang="en-US" altLang="ru-RU" dirty="0"/>
              <a:t> Management Group</a:t>
            </a:r>
            <a:r>
              <a:rPr lang="ru-RU" altLang="ru-RU" dirty="0"/>
              <a:t> объявил об изменении своего названия. Теперь (с апреля 1998 г.) аббревиатура ODMG расшифровывается как </a:t>
            </a:r>
            <a:r>
              <a:rPr lang="en-US" altLang="ru-RU" dirty="0"/>
              <a:t>Object </a:t>
            </a:r>
            <a:r>
              <a:rPr lang="en-US" altLang="ru-RU" i="1" u="sng" dirty="0"/>
              <a:t>Data </a:t>
            </a:r>
            <a:r>
              <a:rPr lang="en-US" altLang="ru-RU" dirty="0"/>
              <a:t>Management Group</a:t>
            </a:r>
            <a:r>
              <a:rPr lang="ru-RU" altLang="ru-RU" dirty="0"/>
              <a:t>.</a:t>
            </a:r>
          </a:p>
          <a:p>
            <a:r>
              <a:rPr lang="ru-RU" altLang="ru-RU" dirty="0"/>
              <a:t>Для реализации своих намерений в указанном направлении ODMG начал в 1998 г. тесно сотрудничать с компаниями </a:t>
            </a:r>
            <a:r>
              <a:rPr lang="en-US" altLang="ru-RU" dirty="0"/>
              <a:t>Sun</a:t>
            </a:r>
            <a:r>
              <a:rPr lang="ru-RU" altLang="ru-RU" dirty="0"/>
              <a:t>, </a:t>
            </a:r>
            <a:r>
              <a:rPr lang="en-US" altLang="ru-RU" dirty="0"/>
              <a:t>Novell</a:t>
            </a:r>
            <a:r>
              <a:rPr lang="ru-RU" altLang="ru-RU" dirty="0"/>
              <a:t> и </a:t>
            </a:r>
            <a:r>
              <a:rPr lang="en-US" altLang="ru-RU" dirty="0"/>
              <a:t>Secant Technologies</a:t>
            </a:r>
            <a:r>
              <a:rPr lang="ru-RU" altLang="ru-RU" dirty="0"/>
              <a:t> с целью выработки спецификаций сервиса </a:t>
            </a:r>
            <a:r>
              <a:rPr lang="en-US" altLang="ru-RU" dirty="0"/>
              <a:t>OMG</a:t>
            </a:r>
            <a:r>
              <a:rPr lang="ru-RU" altLang="ru-RU" dirty="0"/>
              <a:t> долговременно хранимых объ­ектов версии 2 (</a:t>
            </a:r>
            <a:r>
              <a:rPr lang="en-US" altLang="ru-RU" dirty="0"/>
              <a:t>OMG Persistent State Service</a:t>
            </a:r>
            <a:r>
              <a:rPr lang="ru-RU" altLang="ru-RU" dirty="0"/>
              <a:t> 2.0). Эти спецификации были представлены в OMG в качестве претендента на новый стандарт одного из 16 объектных сервисов, входящих в состав разработанной консорциу­мом архитектуры </a:t>
            </a:r>
            <a:r>
              <a:rPr lang="en-US" altLang="ru-RU" dirty="0"/>
              <a:t>CORBA</a:t>
            </a:r>
            <a:r>
              <a:rPr lang="ru-RU" altLang="ru-RU" dirty="0"/>
              <a:t>.</a:t>
            </a:r>
          </a:p>
          <a:p>
            <a:r>
              <a:rPr lang="ru-RU" altLang="ru-RU" dirty="0"/>
              <a:t>В составе </a:t>
            </a:r>
            <a:r>
              <a:rPr lang="en-US" altLang="ru-RU" dirty="0"/>
              <a:t>ODMG</a:t>
            </a:r>
            <a:r>
              <a:rPr lang="ru-RU" altLang="ru-RU" dirty="0"/>
              <a:t> были учреждены три новые рабочие группы. </a:t>
            </a:r>
          </a:p>
          <a:p>
            <a:r>
              <a:rPr lang="ru-RU" altLang="ru-RU" b="1" dirty="0"/>
              <a:t>Одна</a:t>
            </a:r>
            <a:r>
              <a:rPr lang="ru-RU" altLang="ru-RU" dirty="0"/>
              <a:t> из них должна была обеспечить </a:t>
            </a:r>
            <a:r>
              <a:rPr lang="ru-RU" altLang="ru-RU" b="1" dirty="0"/>
              <a:t>интеграцию спецификаций сервиса долговременного хранения объектов </a:t>
            </a:r>
            <a:r>
              <a:rPr lang="ru-RU" altLang="ru-RU" dirty="0"/>
              <a:t>будущего стандарта ODMG с разрабатываемой компанией </a:t>
            </a:r>
            <a:r>
              <a:rPr lang="en-US" altLang="ru-RU" dirty="0"/>
              <a:t>Sun</a:t>
            </a:r>
            <a:r>
              <a:rPr lang="ru-RU" altLang="ru-RU" dirty="0"/>
              <a:t> новой спецификацией ее компонентной модели </a:t>
            </a:r>
            <a:r>
              <a:rPr lang="en-US" altLang="ru-RU" dirty="0"/>
              <a:t>Enterprise JavaBeans</a:t>
            </a:r>
            <a:r>
              <a:rPr lang="ru-RU" altLang="ru-RU" dirty="0"/>
              <a:t> (</a:t>
            </a:r>
            <a:r>
              <a:rPr lang="en-US" altLang="ru-RU" dirty="0"/>
              <a:t>EJB</a:t>
            </a:r>
            <a:r>
              <a:rPr lang="ru-RU" altLang="ru-RU" dirty="0"/>
              <a:t> 2.0). </a:t>
            </a:r>
          </a:p>
          <a:p>
            <a:r>
              <a:rPr lang="ru-RU" altLang="ru-RU" dirty="0"/>
              <a:t>На </a:t>
            </a:r>
            <a:r>
              <a:rPr lang="ru-RU" altLang="ru-RU" b="1" dirty="0"/>
              <a:t>две другие </a:t>
            </a:r>
            <a:r>
              <a:rPr lang="ru-RU" altLang="ru-RU" dirty="0"/>
              <a:t>рабочие группы возлагались </a:t>
            </a:r>
            <a:r>
              <a:rPr lang="ru-RU" altLang="ru-RU" b="1" dirty="0"/>
              <a:t>задачи разработки стандартного отображения между объектной и реляционной моделями </a:t>
            </a:r>
            <a:r>
              <a:rPr lang="ru-RU" altLang="ru-RU" dirty="0"/>
              <a:t>данных, а также </a:t>
            </a:r>
            <a:r>
              <a:rPr lang="ru-RU" altLang="ru-RU" b="1" dirty="0"/>
              <a:t>связывания для среды, основанной на новом языке разметки </a:t>
            </a:r>
            <a:r>
              <a:rPr lang="en-US" altLang="ru-RU" b="1" dirty="0"/>
              <a:t>XML</a:t>
            </a:r>
            <a:r>
              <a:rPr lang="ru-RU" altLang="ru-RU" dirty="0"/>
              <a:t>. </a:t>
            </a:r>
          </a:p>
          <a:p>
            <a:r>
              <a:rPr lang="ru-RU" altLang="ru-RU" dirty="0"/>
              <a:t>Начались также работы по созданию средств сертификации для реализации предложенной ODMG спецификации связывания для </a:t>
            </a:r>
            <a:r>
              <a:rPr lang="en-US" altLang="ru-RU" dirty="0"/>
              <a:t>Java</a:t>
            </a:r>
            <a:r>
              <a:rPr lang="ru-RU" altLang="ru-RU" dirty="0"/>
              <a:t>, которые предпола­галось включить в следующую версию стандарта.</a:t>
            </a:r>
          </a:p>
          <a:p>
            <a:r>
              <a:rPr lang="ru-RU" altLang="ru-RU" dirty="0"/>
              <a:t>Важно заметить, что ODMG предложила сообществу </a:t>
            </a:r>
            <a:r>
              <a:rPr lang="en-US" altLang="ru-RU" dirty="0"/>
              <a:t>Java</a:t>
            </a:r>
            <a:r>
              <a:rPr lang="ru-RU" altLang="ru-RU" dirty="0"/>
              <a:t> использовать спе­цификации связывания </a:t>
            </a:r>
            <a:r>
              <a:rPr lang="en-US" altLang="ru-RU" dirty="0"/>
              <a:t>Java</a:t>
            </a:r>
            <a:r>
              <a:rPr lang="ru-RU" altLang="ru-RU" dirty="0"/>
              <a:t> из стандарта ODMG как основу начавшегося про­цесса разработки спецификаций </a:t>
            </a:r>
            <a:r>
              <a:rPr lang="en-US" altLang="ru-RU" dirty="0"/>
              <a:t>Java Data Object Specification</a:t>
            </a:r>
            <a:r>
              <a:rPr lang="ru-RU" altLang="ru-RU" dirty="0"/>
              <a:t> (</a:t>
            </a:r>
            <a:r>
              <a:rPr lang="en-US" altLang="ru-RU" dirty="0"/>
              <a:t>JDO</a:t>
            </a:r>
            <a:r>
              <a:rPr lang="ru-RU" altLang="ru-RU" dirty="0"/>
              <a:t>). </a:t>
            </a:r>
          </a:p>
          <a:p>
            <a:r>
              <a:rPr lang="ru-RU" altLang="ru-RU" dirty="0"/>
              <a:t>Речь идет о создании для </a:t>
            </a:r>
            <a:r>
              <a:rPr lang="en-US" altLang="ru-RU" dirty="0"/>
              <a:t>Java</a:t>
            </a:r>
            <a:r>
              <a:rPr lang="ru-RU" altLang="ru-RU" dirty="0"/>
              <a:t> спецификаций нового </a:t>
            </a:r>
            <a:r>
              <a:rPr lang="en-US" altLang="ru-RU" dirty="0"/>
              <a:t>API</a:t>
            </a:r>
            <a:r>
              <a:rPr lang="ru-RU" altLang="ru-RU" dirty="0"/>
              <a:t> высокого уровня, который позволял бы программисту полностью обходиться средствами </a:t>
            </a:r>
            <a:r>
              <a:rPr lang="en-US" altLang="ru-RU" dirty="0"/>
              <a:t>Java</a:t>
            </a:r>
            <a:r>
              <a:rPr lang="ru-RU" altLang="ru-RU" dirty="0"/>
              <a:t> и не обращаться к механизмам других языков, например к </a:t>
            </a:r>
            <a:r>
              <a:rPr lang="en-US" altLang="ru-RU" dirty="0"/>
              <a:t>SQL</a:t>
            </a:r>
            <a:r>
              <a:rPr lang="ru-RU" altLang="ru-RU" dirty="0"/>
              <a:t>, в случае использования части 1 </a:t>
            </a:r>
            <a:r>
              <a:rPr lang="en-US" altLang="ru-RU" dirty="0"/>
              <a:t>SQLJ</a:t>
            </a:r>
            <a:r>
              <a:rPr lang="ru-RU" altLang="ru-RU" dirty="0"/>
              <a:t>. При этом предполагается обеспечить </a:t>
            </a:r>
            <a:r>
              <a:rPr lang="ru-RU" altLang="ru-RU" i="1" dirty="0"/>
              <a:t>прозрачность</a:t>
            </a:r>
            <a:r>
              <a:rPr lang="ru-RU" altLang="ru-RU" dirty="0"/>
              <a:t> обращений к базе данных для доступа к долговременно хранимым объектам, </a:t>
            </a:r>
            <a:r>
              <a:rPr lang="ru-RU" altLang="ru-RU" i="1" dirty="0"/>
              <a:t>транзакционную семантику</a:t>
            </a:r>
            <a:r>
              <a:rPr lang="ru-RU" altLang="ru-RU" dirty="0"/>
              <a:t> для обработки объектов такого рода, а также интерпретацию данных </a:t>
            </a:r>
            <a:r>
              <a:rPr lang="ru-RU" altLang="ru-RU" i="1" dirty="0"/>
              <a:t>реляционных баз данных как объектов </a:t>
            </a:r>
            <a:r>
              <a:rPr lang="en-US" altLang="ru-RU" i="1" dirty="0"/>
              <a:t>Java</a:t>
            </a:r>
            <a:r>
              <a:rPr lang="ru-RU" altLang="ru-RU" dirty="0"/>
              <a:t> и другие возможности.</a:t>
            </a:r>
          </a:p>
          <a:p>
            <a:pPr eaLnBrk="1" hangingPunct="1">
              <a:lnSpc>
                <a:spcPct val="80000"/>
              </a:lnSpc>
            </a:pPr>
            <a:r>
              <a:rPr lang="ru-RU" altLang="ru-RU" dirty="0"/>
              <a:t>Развивая новые направления своей расширенной сферы деятельности, ODMG вместе с тем продолжал работу над следующей версией поддерживаемо­го консорциумом стандарта — ODMG 3.0. Работа была завершена в конце 1999 г., а в январе 2000 г. этот стандарт был опубликован издательством </a:t>
            </a:r>
            <a:r>
              <a:rPr lang="en-US" altLang="ru-RU" dirty="0"/>
              <a:t>Morgan Kaufmann Publishers</a:t>
            </a:r>
            <a:r>
              <a:rPr lang="ru-RU" altLang="ru-RU" dirty="0"/>
              <a:t> под названием </a:t>
            </a:r>
            <a:r>
              <a:rPr lang="en-US" altLang="ru-RU" i="1" dirty="0"/>
              <a:t>The Object Data Standard</a:t>
            </a:r>
            <a:r>
              <a:rPr lang="ru-RU" altLang="ru-RU" i="1" dirty="0"/>
              <a:t>: </a:t>
            </a:r>
            <a:r>
              <a:rPr lang="en-US" altLang="ru-RU" i="1" dirty="0"/>
              <a:t>ODMG</a:t>
            </a:r>
            <a:r>
              <a:rPr lang="ru-RU" altLang="ru-RU" i="1" dirty="0"/>
              <a:t> 3.0</a:t>
            </a:r>
            <a:r>
              <a:rPr lang="ru-RU" altLang="ru-RU" dirty="0"/>
              <a:t>. Это название в большей мере соответствует новой миссии ODMG, чем прежнее </a:t>
            </a:r>
            <a:r>
              <a:rPr lang="ru-RU" altLang="ru-RU" i="1" dirty="0"/>
              <a:t>(</a:t>
            </a:r>
            <a:r>
              <a:rPr lang="en-US" altLang="ru-RU" i="1" dirty="0"/>
              <a:t>Object Database Standard</a:t>
            </a:r>
            <a:r>
              <a:rPr lang="ru-RU" altLang="ru-RU" i="1" dirty="0"/>
              <a:t>).</a:t>
            </a:r>
          </a:p>
          <a:p>
            <a:pPr eaLnBrk="1" hangingPunct="1">
              <a:lnSpc>
                <a:spcPct val="80000"/>
              </a:lnSpc>
            </a:pPr>
            <a:r>
              <a:rPr lang="ru-RU" altLang="ru-RU" dirty="0"/>
              <a:t>В отличие от предыдущих версий стандарта ODMG не публиковала проект ODMG 3.0 на своем </a:t>
            </a:r>
            <a:r>
              <a:rPr lang="ru-RU" altLang="ru-RU" dirty="0" err="1"/>
              <a:t>Web</a:t>
            </a:r>
            <a:r>
              <a:rPr lang="ru-RU" altLang="ru-RU" dirty="0"/>
              <a:t>-сайте для свободного предварительного ознакомления с ним заинтересованных специалистов.</a:t>
            </a:r>
          </a:p>
          <a:p>
            <a:pPr eaLnBrk="1" hangingPunct="1">
              <a:lnSpc>
                <a:spcPct val="80000"/>
              </a:lnSpc>
            </a:pPr>
            <a:endParaRPr lang="ru-RU" altLang="ru-RU" dirty="0"/>
          </a:p>
          <a:p>
            <a:pPr eaLnBrk="1" hangingPunct="1">
              <a:lnSpc>
                <a:spcPct val="80000"/>
              </a:lnSpc>
            </a:pPr>
            <a:endParaRPr lang="ru-RU" altLang="ru-RU" dirty="0">
              <a:hlinkClick r:id="rId3"/>
            </a:endParaRPr>
          </a:p>
        </p:txBody>
      </p:sp>
      <p:sp>
        <p:nvSpPr>
          <p:cNvPr id="33796" name="Номер слайда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F16DA9A6-CA26-4B03-9E28-8E4DB8E76C7D}" type="slidenum">
              <a:rPr lang="ru-RU" altLang="ru-RU" smtClean="0"/>
              <a:pPr eaLnBrk="1" hangingPunct="1"/>
              <a:t>11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111554828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Образ слайда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3795" name="Заметки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ru-RU" altLang="ru-RU" dirty="0"/>
              <a:t>Завершив этап своей деятельности, связанной с созданием версии стандарта ODMG 2.0, консорциум существенно изменил стратегию и содержание работ. В пресс-релизе от 27 апреля 1998 г. ODMG объявила о расширении сферы своей деятельности. </a:t>
            </a:r>
            <a:endParaRPr lang="en-US" altLang="ru-RU" dirty="0"/>
          </a:p>
          <a:p>
            <a:r>
              <a:rPr lang="ru-RU" altLang="ru-RU" dirty="0"/>
              <a:t>Наряду с поддержкой и развитием имеющегося стандарта предполагалось сосредоточить усилия на разработке спецификаций стандартов </a:t>
            </a:r>
            <a:r>
              <a:rPr lang="ru-RU" altLang="ru-RU" i="1" dirty="0"/>
              <a:t>«универсального хранения объектов»</a:t>
            </a:r>
            <a:r>
              <a:rPr lang="ru-RU" altLang="ru-RU" dirty="0"/>
              <a:t> для различных объектных языков программирования. </a:t>
            </a:r>
            <a:endParaRPr lang="en-US" altLang="ru-RU" dirty="0"/>
          </a:p>
          <a:p>
            <a:r>
              <a:rPr lang="ru-RU" altLang="ru-RU" dirty="0"/>
              <a:t>По мнению руководства ODMG, неотложная необходимость в этом вызвана, прежде всего, появлением и широким распространением языка </a:t>
            </a:r>
            <a:r>
              <a:rPr lang="en-US" altLang="ru-RU" dirty="0"/>
              <a:t>Java</a:t>
            </a:r>
            <a:r>
              <a:rPr lang="ru-RU" altLang="ru-RU" dirty="0"/>
              <a:t>. </a:t>
            </a:r>
            <a:endParaRPr lang="en-US" altLang="ru-RU" dirty="0"/>
          </a:p>
          <a:p>
            <a:r>
              <a:rPr lang="ru-RU" altLang="ru-RU" dirty="0"/>
              <a:t>Создание и использование таких стандартов позволили бы исключить потребность в средствах отображения объектов языков программирования в различные форматы хранения, облегчить перенос приложений из среды одного про­дукта, соответствующего стандарту ODMG, в среду другого такого же продукта.</a:t>
            </a:r>
          </a:p>
          <a:p>
            <a:r>
              <a:rPr lang="ru-RU" altLang="ru-RU" dirty="0"/>
              <a:t>Стремясь подчеркнуть, что новая поставленная задача будет весьма значимой в деятельности ODMG и что она важна не только в рамках систем баз данных, консорциум </a:t>
            </a:r>
            <a:r>
              <a:rPr lang="en-US" altLang="ru-RU" dirty="0"/>
              <a:t>Object </a:t>
            </a:r>
            <a:r>
              <a:rPr lang="en-US" altLang="ru-RU" i="1" u="sng" dirty="0"/>
              <a:t>Database</a:t>
            </a:r>
            <a:r>
              <a:rPr lang="en-US" altLang="ru-RU" dirty="0"/>
              <a:t> Management Group</a:t>
            </a:r>
            <a:r>
              <a:rPr lang="ru-RU" altLang="ru-RU" dirty="0"/>
              <a:t> объявил об изменении своего названия. Теперь (с апреля 1998 г.) аббревиатура ODMG расшифровывается как </a:t>
            </a:r>
            <a:r>
              <a:rPr lang="en-US" altLang="ru-RU" dirty="0"/>
              <a:t>Object </a:t>
            </a:r>
            <a:r>
              <a:rPr lang="en-US" altLang="ru-RU" i="1" u="sng" dirty="0"/>
              <a:t>Data </a:t>
            </a:r>
            <a:r>
              <a:rPr lang="en-US" altLang="ru-RU" dirty="0"/>
              <a:t>Management Group</a:t>
            </a:r>
            <a:r>
              <a:rPr lang="ru-RU" altLang="ru-RU" dirty="0"/>
              <a:t>.</a:t>
            </a:r>
          </a:p>
          <a:p>
            <a:r>
              <a:rPr lang="ru-RU" altLang="ru-RU" dirty="0"/>
              <a:t>Для реализации своих намерений в указанном направлении ODMG начал в 1998 г. тесно сотрудничать с компаниями </a:t>
            </a:r>
            <a:r>
              <a:rPr lang="en-US" altLang="ru-RU" dirty="0"/>
              <a:t>Sun</a:t>
            </a:r>
            <a:r>
              <a:rPr lang="ru-RU" altLang="ru-RU" dirty="0"/>
              <a:t>, </a:t>
            </a:r>
            <a:r>
              <a:rPr lang="en-US" altLang="ru-RU" dirty="0"/>
              <a:t>Novell</a:t>
            </a:r>
            <a:r>
              <a:rPr lang="ru-RU" altLang="ru-RU" dirty="0"/>
              <a:t> и </a:t>
            </a:r>
            <a:r>
              <a:rPr lang="en-US" altLang="ru-RU" dirty="0"/>
              <a:t>Secant Technologies</a:t>
            </a:r>
            <a:r>
              <a:rPr lang="ru-RU" altLang="ru-RU" dirty="0"/>
              <a:t> с целью выработки спецификаций сервиса </a:t>
            </a:r>
            <a:r>
              <a:rPr lang="en-US" altLang="ru-RU" dirty="0"/>
              <a:t>OMG</a:t>
            </a:r>
            <a:r>
              <a:rPr lang="ru-RU" altLang="ru-RU" dirty="0"/>
              <a:t> долговременно хранимых объ­ектов версии 2 (</a:t>
            </a:r>
            <a:r>
              <a:rPr lang="en-US" altLang="ru-RU" dirty="0"/>
              <a:t>OMG Persistent State Service</a:t>
            </a:r>
            <a:r>
              <a:rPr lang="ru-RU" altLang="ru-RU" dirty="0"/>
              <a:t> 2.0). Эти спецификации были представлены в OMG в качестве претендента на новый стандарт одного из 16 объектных сервисов, входящих в состав разработанной консорциу­мом архитектуры </a:t>
            </a:r>
            <a:r>
              <a:rPr lang="en-US" altLang="ru-RU" dirty="0"/>
              <a:t>CORBA</a:t>
            </a:r>
            <a:r>
              <a:rPr lang="ru-RU" altLang="ru-RU" dirty="0"/>
              <a:t>.</a:t>
            </a:r>
          </a:p>
          <a:p>
            <a:r>
              <a:rPr lang="ru-RU" altLang="ru-RU" dirty="0"/>
              <a:t>В составе </a:t>
            </a:r>
            <a:r>
              <a:rPr lang="en-US" altLang="ru-RU" dirty="0"/>
              <a:t>ODMG</a:t>
            </a:r>
            <a:r>
              <a:rPr lang="ru-RU" altLang="ru-RU" dirty="0"/>
              <a:t> были учреждены три новые рабочие группы. </a:t>
            </a:r>
          </a:p>
          <a:p>
            <a:r>
              <a:rPr lang="ru-RU" altLang="ru-RU" b="1" dirty="0"/>
              <a:t>Одна</a:t>
            </a:r>
            <a:r>
              <a:rPr lang="ru-RU" altLang="ru-RU" dirty="0"/>
              <a:t> из них должна была обеспечить </a:t>
            </a:r>
            <a:r>
              <a:rPr lang="ru-RU" altLang="ru-RU" b="1" dirty="0"/>
              <a:t>интеграцию спецификаций сервиса долговременного хранения объектов </a:t>
            </a:r>
            <a:r>
              <a:rPr lang="ru-RU" altLang="ru-RU" dirty="0"/>
              <a:t>будущего стандарта ODMG с разрабатываемой компанией </a:t>
            </a:r>
            <a:r>
              <a:rPr lang="en-US" altLang="ru-RU" dirty="0"/>
              <a:t>Sun</a:t>
            </a:r>
            <a:r>
              <a:rPr lang="ru-RU" altLang="ru-RU" dirty="0"/>
              <a:t> новой спецификацией ее компонентной модели </a:t>
            </a:r>
            <a:r>
              <a:rPr lang="en-US" altLang="ru-RU" dirty="0"/>
              <a:t>Enterprise JavaBeans</a:t>
            </a:r>
            <a:r>
              <a:rPr lang="ru-RU" altLang="ru-RU" dirty="0"/>
              <a:t> (</a:t>
            </a:r>
            <a:r>
              <a:rPr lang="en-US" altLang="ru-RU" dirty="0"/>
              <a:t>EJB</a:t>
            </a:r>
            <a:r>
              <a:rPr lang="ru-RU" altLang="ru-RU" dirty="0"/>
              <a:t> 2.0). </a:t>
            </a:r>
          </a:p>
          <a:p>
            <a:r>
              <a:rPr lang="ru-RU" altLang="ru-RU" dirty="0"/>
              <a:t>На </a:t>
            </a:r>
            <a:r>
              <a:rPr lang="ru-RU" altLang="ru-RU" b="1" dirty="0"/>
              <a:t>две другие </a:t>
            </a:r>
            <a:r>
              <a:rPr lang="ru-RU" altLang="ru-RU" dirty="0"/>
              <a:t>рабочие группы возлагались </a:t>
            </a:r>
            <a:r>
              <a:rPr lang="ru-RU" altLang="ru-RU" b="1" dirty="0"/>
              <a:t>задачи разработки стандартного отображения между объектной и реляционной моделями </a:t>
            </a:r>
            <a:r>
              <a:rPr lang="ru-RU" altLang="ru-RU" dirty="0"/>
              <a:t>данных, а также </a:t>
            </a:r>
            <a:r>
              <a:rPr lang="ru-RU" altLang="ru-RU" b="1" dirty="0"/>
              <a:t>связывания для среды, основанной на новом языке разметки </a:t>
            </a:r>
            <a:r>
              <a:rPr lang="en-US" altLang="ru-RU" b="1" dirty="0"/>
              <a:t>XML</a:t>
            </a:r>
            <a:r>
              <a:rPr lang="ru-RU" altLang="ru-RU" dirty="0"/>
              <a:t>. </a:t>
            </a:r>
          </a:p>
          <a:p>
            <a:r>
              <a:rPr lang="ru-RU" altLang="ru-RU" dirty="0"/>
              <a:t>Начались также работы по созданию средств сертификации для реализации предложенной ODMG спецификации связывания для </a:t>
            </a:r>
            <a:r>
              <a:rPr lang="en-US" altLang="ru-RU" dirty="0"/>
              <a:t>Java</a:t>
            </a:r>
            <a:r>
              <a:rPr lang="ru-RU" altLang="ru-RU" dirty="0"/>
              <a:t>, которые предпола­галось включить в следующую версию стандарта.</a:t>
            </a:r>
          </a:p>
          <a:p>
            <a:r>
              <a:rPr lang="ru-RU" altLang="ru-RU" dirty="0"/>
              <a:t>Важно заметить, что ODMG предложила сообществу </a:t>
            </a:r>
            <a:r>
              <a:rPr lang="en-US" altLang="ru-RU" dirty="0"/>
              <a:t>Java</a:t>
            </a:r>
            <a:r>
              <a:rPr lang="ru-RU" altLang="ru-RU" dirty="0"/>
              <a:t> использовать спе­цификации связывания </a:t>
            </a:r>
            <a:r>
              <a:rPr lang="en-US" altLang="ru-RU" dirty="0"/>
              <a:t>Java</a:t>
            </a:r>
            <a:r>
              <a:rPr lang="ru-RU" altLang="ru-RU" dirty="0"/>
              <a:t> из стандарта ODMG как основу начавшегося про­цесса разработки спецификаций </a:t>
            </a:r>
            <a:r>
              <a:rPr lang="en-US" altLang="ru-RU" dirty="0"/>
              <a:t>Java Data Object Specification</a:t>
            </a:r>
            <a:r>
              <a:rPr lang="ru-RU" altLang="ru-RU" dirty="0"/>
              <a:t> (</a:t>
            </a:r>
            <a:r>
              <a:rPr lang="en-US" altLang="ru-RU" dirty="0"/>
              <a:t>JDO</a:t>
            </a:r>
            <a:r>
              <a:rPr lang="ru-RU" altLang="ru-RU" dirty="0"/>
              <a:t>). </a:t>
            </a:r>
          </a:p>
          <a:p>
            <a:r>
              <a:rPr lang="ru-RU" altLang="ru-RU" dirty="0"/>
              <a:t>Речь идет о создании для </a:t>
            </a:r>
            <a:r>
              <a:rPr lang="en-US" altLang="ru-RU" dirty="0"/>
              <a:t>Java</a:t>
            </a:r>
            <a:r>
              <a:rPr lang="ru-RU" altLang="ru-RU" dirty="0"/>
              <a:t> спецификаций нового </a:t>
            </a:r>
            <a:r>
              <a:rPr lang="en-US" altLang="ru-RU" dirty="0"/>
              <a:t>API</a:t>
            </a:r>
            <a:r>
              <a:rPr lang="ru-RU" altLang="ru-RU" dirty="0"/>
              <a:t> высокого уровня, который позволял бы программисту полностью обходиться средствами </a:t>
            </a:r>
            <a:r>
              <a:rPr lang="en-US" altLang="ru-RU" dirty="0"/>
              <a:t>Java</a:t>
            </a:r>
            <a:r>
              <a:rPr lang="ru-RU" altLang="ru-RU" dirty="0"/>
              <a:t> и не обращаться к механизмам других языков, например к </a:t>
            </a:r>
            <a:r>
              <a:rPr lang="en-US" altLang="ru-RU" dirty="0"/>
              <a:t>SQL</a:t>
            </a:r>
            <a:r>
              <a:rPr lang="ru-RU" altLang="ru-RU" dirty="0"/>
              <a:t>, в случае использования части 1 </a:t>
            </a:r>
            <a:r>
              <a:rPr lang="en-US" altLang="ru-RU" dirty="0"/>
              <a:t>SQLJ</a:t>
            </a:r>
            <a:r>
              <a:rPr lang="ru-RU" altLang="ru-RU" dirty="0"/>
              <a:t>. При этом предполагается обеспечить </a:t>
            </a:r>
            <a:r>
              <a:rPr lang="ru-RU" altLang="ru-RU" i="1" dirty="0"/>
              <a:t>прозрачность</a:t>
            </a:r>
            <a:r>
              <a:rPr lang="ru-RU" altLang="ru-RU" dirty="0"/>
              <a:t> обращений к базе данных для доступа к долговременно хранимым объектам, </a:t>
            </a:r>
            <a:r>
              <a:rPr lang="ru-RU" altLang="ru-RU" i="1" dirty="0"/>
              <a:t>транзакционную семантику</a:t>
            </a:r>
            <a:r>
              <a:rPr lang="ru-RU" altLang="ru-RU" dirty="0"/>
              <a:t> для обработки объектов такого рода, а также интерпретацию данных </a:t>
            </a:r>
            <a:r>
              <a:rPr lang="ru-RU" altLang="ru-RU" i="1" dirty="0"/>
              <a:t>реляционных баз данных как объектов </a:t>
            </a:r>
            <a:r>
              <a:rPr lang="en-US" altLang="ru-RU" i="1" dirty="0"/>
              <a:t>Java</a:t>
            </a:r>
            <a:r>
              <a:rPr lang="ru-RU" altLang="ru-RU" dirty="0"/>
              <a:t> и другие возможности.</a:t>
            </a:r>
          </a:p>
          <a:p>
            <a:pPr eaLnBrk="1" hangingPunct="1">
              <a:lnSpc>
                <a:spcPct val="80000"/>
              </a:lnSpc>
            </a:pPr>
            <a:r>
              <a:rPr lang="ru-RU" altLang="ru-RU" dirty="0"/>
              <a:t>Развивая новые направления своей расширенной сферы деятельности, ODMG вместе с тем продолжал работу над следующей версией поддерживаемо­го консорциумом стандарта — ODMG 3.0. Работа была завершена в конце 1999 г., а в январе 2000 г. этот стандарт был опубликован издательством </a:t>
            </a:r>
            <a:r>
              <a:rPr lang="en-US" altLang="ru-RU" dirty="0"/>
              <a:t>Morgan Kaufmann Publishers</a:t>
            </a:r>
            <a:r>
              <a:rPr lang="ru-RU" altLang="ru-RU" dirty="0"/>
              <a:t> под названием </a:t>
            </a:r>
            <a:r>
              <a:rPr lang="en-US" altLang="ru-RU" i="1" dirty="0"/>
              <a:t>The Object Data Standard</a:t>
            </a:r>
            <a:r>
              <a:rPr lang="ru-RU" altLang="ru-RU" i="1" dirty="0"/>
              <a:t>: </a:t>
            </a:r>
            <a:r>
              <a:rPr lang="en-US" altLang="ru-RU" i="1" dirty="0"/>
              <a:t>ODMG</a:t>
            </a:r>
            <a:r>
              <a:rPr lang="ru-RU" altLang="ru-RU" i="1" dirty="0"/>
              <a:t> 3.0</a:t>
            </a:r>
            <a:r>
              <a:rPr lang="ru-RU" altLang="ru-RU" dirty="0"/>
              <a:t>. Это название в большей мере соответствует новой миссии ODMG, чем прежнее </a:t>
            </a:r>
            <a:r>
              <a:rPr lang="ru-RU" altLang="ru-RU" i="1" dirty="0"/>
              <a:t>(</a:t>
            </a:r>
            <a:r>
              <a:rPr lang="en-US" altLang="ru-RU" i="1" dirty="0"/>
              <a:t>Object Database Standard</a:t>
            </a:r>
            <a:r>
              <a:rPr lang="ru-RU" altLang="ru-RU" i="1" dirty="0"/>
              <a:t>).</a:t>
            </a:r>
          </a:p>
          <a:p>
            <a:pPr eaLnBrk="1" hangingPunct="1">
              <a:lnSpc>
                <a:spcPct val="80000"/>
              </a:lnSpc>
            </a:pPr>
            <a:r>
              <a:rPr lang="ru-RU" altLang="ru-RU" dirty="0"/>
              <a:t>В отличие от предыдущих версий стандарта ODMG не публиковала проект ODMG 3.0 на своем </a:t>
            </a:r>
            <a:r>
              <a:rPr lang="ru-RU" altLang="ru-RU" dirty="0" err="1"/>
              <a:t>Web</a:t>
            </a:r>
            <a:r>
              <a:rPr lang="ru-RU" altLang="ru-RU" dirty="0"/>
              <a:t>-сайте для свободного предварительного ознакомления с ним заинтересованных специалистов.</a:t>
            </a:r>
          </a:p>
          <a:p>
            <a:pPr eaLnBrk="1" hangingPunct="1">
              <a:lnSpc>
                <a:spcPct val="80000"/>
              </a:lnSpc>
            </a:pPr>
            <a:endParaRPr lang="ru-RU" altLang="ru-RU" dirty="0"/>
          </a:p>
          <a:p>
            <a:pPr eaLnBrk="1" hangingPunct="1">
              <a:lnSpc>
                <a:spcPct val="80000"/>
              </a:lnSpc>
            </a:pPr>
            <a:endParaRPr lang="ru-RU" altLang="ru-RU" dirty="0">
              <a:hlinkClick r:id="rId3"/>
            </a:endParaRPr>
          </a:p>
        </p:txBody>
      </p:sp>
      <p:sp>
        <p:nvSpPr>
          <p:cNvPr id="33796" name="Номер слайда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F16DA9A6-CA26-4B03-9E28-8E4DB8E76C7D}" type="slidenum">
              <a:rPr lang="ru-RU" altLang="ru-RU" smtClean="0"/>
              <a:pPr eaLnBrk="1" hangingPunct="1"/>
              <a:t>12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3908324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sp>
          <p:nvSpPr>
            <p:cNvPr id="5" name="Rectangle 3"/>
            <p:cNvSpPr>
              <a:spLocks noChangeArrowheads="1"/>
            </p:cNvSpPr>
            <p:nvPr/>
          </p:nvSpPr>
          <p:spPr bwMode="hidden">
            <a:xfrm>
              <a:off x="0" y="0"/>
              <a:ext cx="2208" cy="4320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endParaRPr lang="ru-RU" altLang="ru-RU" sz="2400">
                <a:latin typeface="Times New Roman" pitchFamily="18" charset="0"/>
              </a:endParaRPr>
            </a:p>
          </p:txBody>
        </p:sp>
        <p:sp>
          <p:nvSpPr>
            <p:cNvPr id="6" name="Rectangle 4"/>
            <p:cNvSpPr>
              <a:spLocks noChangeArrowheads="1"/>
            </p:cNvSpPr>
            <p:nvPr/>
          </p:nvSpPr>
          <p:spPr bwMode="hidden">
            <a:xfrm>
              <a:off x="1081" y="1065"/>
              <a:ext cx="4679" cy="1596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endParaRPr lang="ru-RU" altLang="ru-RU" sz="2400">
                <a:latin typeface="Times New Roman" pitchFamily="18" charset="0"/>
              </a:endParaRPr>
            </a:p>
          </p:txBody>
        </p:sp>
        <p:grpSp>
          <p:nvGrpSpPr>
            <p:cNvPr id="7" name="Group 5"/>
            <p:cNvGrpSpPr>
              <a:grpSpLocks/>
            </p:cNvGrpSpPr>
            <p:nvPr/>
          </p:nvGrpSpPr>
          <p:grpSpPr bwMode="auto">
            <a:xfrm>
              <a:off x="0" y="672"/>
              <a:ext cx="1806" cy="1989"/>
              <a:chOff x="0" y="672"/>
              <a:chExt cx="1806" cy="1989"/>
            </a:xfrm>
          </p:grpSpPr>
          <p:sp>
            <p:nvSpPr>
              <p:cNvPr id="8" name="Rectangle 6"/>
              <p:cNvSpPr>
                <a:spLocks noChangeArrowheads="1"/>
              </p:cNvSpPr>
              <p:nvPr userDrawn="1"/>
            </p:nvSpPr>
            <p:spPr bwMode="auto">
              <a:xfrm>
                <a:off x="361" y="2257"/>
                <a:ext cx="363" cy="404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eaLnBrk="1" hangingPunct="1"/>
                <a:endParaRPr lang="ru-RU" altLang="ru-RU" sz="2400">
                  <a:latin typeface="Times New Roman" pitchFamily="18" charset="0"/>
                </a:endParaRPr>
              </a:p>
            </p:txBody>
          </p:sp>
          <p:sp>
            <p:nvSpPr>
              <p:cNvPr id="9" name="Rectangle 7"/>
              <p:cNvSpPr>
                <a:spLocks noChangeArrowheads="1"/>
              </p:cNvSpPr>
              <p:nvPr userDrawn="1"/>
            </p:nvSpPr>
            <p:spPr bwMode="auto">
              <a:xfrm>
                <a:off x="1081" y="1065"/>
                <a:ext cx="362" cy="405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eaLnBrk="1" hangingPunct="1"/>
                <a:endParaRPr lang="ru-RU" altLang="ru-RU" sz="2400">
                  <a:latin typeface="Times New Roman" pitchFamily="18" charset="0"/>
                </a:endParaRPr>
              </a:p>
            </p:txBody>
          </p:sp>
          <p:sp>
            <p:nvSpPr>
              <p:cNvPr id="10" name="Rectangle 8"/>
              <p:cNvSpPr>
                <a:spLocks noChangeArrowheads="1"/>
              </p:cNvSpPr>
              <p:nvPr userDrawn="1"/>
            </p:nvSpPr>
            <p:spPr bwMode="auto">
              <a:xfrm>
                <a:off x="1437" y="672"/>
                <a:ext cx="369" cy="400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eaLnBrk="1" hangingPunct="1"/>
                <a:endParaRPr lang="ru-RU" altLang="ru-RU" sz="2400">
                  <a:latin typeface="Times New Roman" pitchFamily="18" charset="0"/>
                </a:endParaRPr>
              </a:p>
            </p:txBody>
          </p:sp>
          <p:sp>
            <p:nvSpPr>
              <p:cNvPr id="11" name="Rectangle 9"/>
              <p:cNvSpPr>
                <a:spLocks noChangeArrowheads="1"/>
              </p:cNvSpPr>
              <p:nvPr userDrawn="1"/>
            </p:nvSpPr>
            <p:spPr bwMode="auto">
              <a:xfrm>
                <a:off x="719" y="2257"/>
                <a:ext cx="368" cy="404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eaLnBrk="1" hangingPunct="1"/>
                <a:endParaRPr lang="ru-RU" altLang="ru-RU" sz="2400">
                  <a:latin typeface="Times New Roman" pitchFamily="18" charset="0"/>
                </a:endParaRPr>
              </a:p>
            </p:txBody>
          </p:sp>
          <p:sp>
            <p:nvSpPr>
              <p:cNvPr id="12" name="Rectangle 10"/>
              <p:cNvSpPr>
                <a:spLocks noChangeArrowheads="1"/>
              </p:cNvSpPr>
              <p:nvPr userDrawn="1"/>
            </p:nvSpPr>
            <p:spPr bwMode="auto">
              <a:xfrm>
                <a:off x="1437" y="1065"/>
                <a:ext cx="369" cy="405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eaLnBrk="1" hangingPunct="1"/>
                <a:endParaRPr lang="ru-RU" altLang="ru-RU" sz="2400">
                  <a:latin typeface="Times New Roman" pitchFamily="18" charset="0"/>
                </a:endParaRPr>
              </a:p>
            </p:txBody>
          </p:sp>
          <p:sp>
            <p:nvSpPr>
              <p:cNvPr id="13" name="Rectangle 11"/>
              <p:cNvSpPr>
                <a:spLocks noChangeArrowheads="1"/>
              </p:cNvSpPr>
              <p:nvPr userDrawn="1"/>
            </p:nvSpPr>
            <p:spPr bwMode="auto">
              <a:xfrm>
                <a:off x="719" y="1464"/>
                <a:ext cx="368" cy="399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eaLnBrk="1" hangingPunct="1"/>
                <a:endParaRPr lang="ru-RU" altLang="ru-RU" sz="2400">
                  <a:latin typeface="Times New Roman" pitchFamily="18" charset="0"/>
                </a:endParaRPr>
              </a:p>
            </p:txBody>
          </p:sp>
          <p:sp>
            <p:nvSpPr>
              <p:cNvPr id="14" name="Rectangle 12"/>
              <p:cNvSpPr>
                <a:spLocks noChangeArrowheads="1"/>
              </p:cNvSpPr>
              <p:nvPr userDrawn="1"/>
            </p:nvSpPr>
            <p:spPr bwMode="auto">
              <a:xfrm>
                <a:off x="0" y="1464"/>
                <a:ext cx="367" cy="399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eaLnBrk="1" hangingPunct="1"/>
                <a:endParaRPr lang="ru-RU" altLang="ru-RU" sz="2400">
                  <a:latin typeface="Times New Roman" pitchFamily="18" charset="0"/>
                </a:endParaRPr>
              </a:p>
            </p:txBody>
          </p:sp>
          <p:sp>
            <p:nvSpPr>
              <p:cNvPr id="15" name="Rectangle 13"/>
              <p:cNvSpPr>
                <a:spLocks noChangeArrowheads="1"/>
              </p:cNvSpPr>
              <p:nvPr userDrawn="1"/>
            </p:nvSpPr>
            <p:spPr bwMode="auto">
              <a:xfrm>
                <a:off x="1081" y="1464"/>
                <a:ext cx="362" cy="399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eaLnBrk="1" hangingPunct="1"/>
                <a:endParaRPr lang="ru-RU" altLang="ru-RU" sz="2400">
                  <a:latin typeface="Times New Roman" pitchFamily="18" charset="0"/>
                </a:endParaRPr>
              </a:p>
            </p:txBody>
          </p:sp>
          <p:sp>
            <p:nvSpPr>
              <p:cNvPr id="16" name="Rectangle 14"/>
              <p:cNvSpPr>
                <a:spLocks noChangeArrowheads="1"/>
              </p:cNvSpPr>
              <p:nvPr userDrawn="1"/>
            </p:nvSpPr>
            <p:spPr bwMode="auto">
              <a:xfrm>
                <a:off x="361" y="1857"/>
                <a:ext cx="363" cy="406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eaLnBrk="1" hangingPunct="1"/>
                <a:endParaRPr lang="ru-RU" altLang="ru-RU" sz="2400">
                  <a:latin typeface="Times New Roman" pitchFamily="18" charset="0"/>
                </a:endParaRPr>
              </a:p>
            </p:txBody>
          </p:sp>
          <p:sp>
            <p:nvSpPr>
              <p:cNvPr id="17" name="Rectangle 15"/>
              <p:cNvSpPr>
                <a:spLocks noChangeArrowheads="1"/>
              </p:cNvSpPr>
              <p:nvPr userDrawn="1"/>
            </p:nvSpPr>
            <p:spPr bwMode="auto">
              <a:xfrm>
                <a:off x="719" y="1857"/>
                <a:ext cx="368" cy="406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eaLnBrk="1" hangingPunct="1"/>
                <a:endParaRPr lang="ru-RU" altLang="ru-RU" sz="2400">
                  <a:latin typeface="Times New Roman" pitchFamily="18" charset="0"/>
                </a:endParaRPr>
              </a:p>
            </p:txBody>
          </p:sp>
        </p:grpSp>
      </p:grpSp>
      <p:sp>
        <p:nvSpPr>
          <p:cNvPr id="28691" name="Rectangle 19"/>
          <p:cNvSpPr>
            <a:spLocks noGrp="1" noChangeArrowheads="1"/>
          </p:cNvSpPr>
          <p:nvPr>
            <p:ph type="ctrTitle"/>
          </p:nvPr>
        </p:nvSpPr>
        <p:spPr>
          <a:xfrm>
            <a:off x="2971800" y="1828800"/>
            <a:ext cx="6019800" cy="2209800"/>
          </a:xfrm>
        </p:spPr>
        <p:txBody>
          <a:bodyPr/>
          <a:lstStyle>
            <a:lvl1pPr>
              <a:defRPr sz="5000">
                <a:solidFill>
                  <a:srgbClr val="FFFFFF"/>
                </a:solidFill>
              </a:defRPr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28692" name="Rectangle 20"/>
          <p:cNvSpPr>
            <a:spLocks noGrp="1" noChangeArrowheads="1"/>
          </p:cNvSpPr>
          <p:nvPr>
            <p:ph type="subTitle" idx="1"/>
          </p:nvPr>
        </p:nvSpPr>
        <p:spPr>
          <a:xfrm>
            <a:off x="2971800" y="4267200"/>
            <a:ext cx="6019800" cy="17526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3400"/>
            </a:lvl1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18" name="Rectangle 16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8400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9" name="Rectangle 1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20" name="Rectangle 1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ACD0CB1-CA64-4308-A5C7-BCE416CE320C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224020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FF492C0-24D0-4BEF-A770-6A3DBA872AF7}" type="slidenum">
              <a:rPr lang="ru-RU"/>
              <a:pPr>
                <a:defRPr/>
              </a:pPr>
              <a:t>‹#›</a:t>
            </a:fld>
            <a:endParaRPr lang="ru-RU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253829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0F60F43-225C-49E2-8B60-AE49B97A8DE8}" type="slidenum">
              <a:rPr lang="ru-RU"/>
              <a:pPr>
                <a:defRPr/>
              </a:pPr>
              <a:t>‹#›</a:t>
            </a:fld>
            <a:endParaRPr lang="ru-RU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99137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981200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DB54745-5052-4ED2-BC4A-CBF5C142DC4E}" type="slidenum">
              <a:rPr lang="ru-RU"/>
              <a:pPr>
                <a:defRPr/>
              </a:pPr>
              <a:t>‹#›</a:t>
            </a:fld>
            <a:endParaRPr lang="ru-RU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783490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8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920A578-C233-40B6-B842-0C0E6F49DDE6}" type="slidenum">
              <a:rPr lang="ru-RU"/>
              <a:pPr>
                <a:defRPr/>
              </a:pPr>
              <a:t>‹#›</a:t>
            </a:fld>
            <a:endParaRPr lang="ru-RU"/>
          </a:p>
        </p:txBody>
      </p:sp>
      <p:sp>
        <p:nvSpPr>
          <p:cNvPr id="9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549207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FA6ACCE-82A1-4791-81CF-10C0105F640C}" type="slidenum">
              <a:rPr lang="ru-RU"/>
              <a:pPr>
                <a:defRPr/>
              </a:pPr>
              <a:t>‹#›</a:t>
            </a:fld>
            <a:endParaRPr lang="ru-RU"/>
          </a:p>
        </p:txBody>
      </p:sp>
      <p:sp>
        <p:nvSpPr>
          <p:cNvPr id="5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88498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3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AB31984-3783-411E-8782-11F13A3C8B84}" type="slidenum">
              <a:rPr lang="ru-RU"/>
              <a:pPr>
                <a:defRPr/>
              </a:pPr>
              <a:t>‹#›</a:t>
            </a:fld>
            <a:endParaRPr lang="ru-RU"/>
          </a:p>
        </p:txBody>
      </p:sp>
      <p:sp>
        <p:nvSpPr>
          <p:cNvPr id="4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783261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96927A4-336F-4A9A-AFD0-850B36C7DA5E}" type="slidenum">
              <a:rPr lang="ru-RU"/>
              <a:pPr>
                <a:defRPr/>
              </a:pPr>
              <a:t>‹#›</a:t>
            </a:fld>
            <a:endParaRPr lang="ru-RU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101381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ru-RU" noProof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7A86CF9-4067-452B-BEBB-09DB3BC22303}" type="slidenum">
              <a:rPr lang="ru-RU"/>
              <a:pPr>
                <a:defRPr/>
              </a:pPr>
              <a:t>‹#›</a:t>
            </a:fld>
            <a:endParaRPr lang="ru-RU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840413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9A30791-4026-4547-965E-64396C26E0CF}" type="slidenum">
              <a:rPr lang="ru-RU"/>
              <a:pPr>
                <a:defRPr/>
              </a:pPr>
              <a:t>‹#›</a:t>
            </a:fld>
            <a:endParaRPr lang="ru-RU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978594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457200"/>
            <a:ext cx="2057400" cy="5410200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457200"/>
            <a:ext cx="6019800" cy="5410200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FABCDA1-7FEC-4E9E-9033-5BA9669537EE}" type="slidenum">
              <a:rPr lang="ru-RU"/>
              <a:pPr>
                <a:defRPr/>
              </a:pPr>
              <a:t>‹#›</a:t>
            </a:fld>
            <a:endParaRPr lang="ru-RU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507244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20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27651" name="Rectangle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 Black" pitchFamily="34" charset="0"/>
              </a:defRPr>
            </a:lvl1pPr>
          </a:lstStyle>
          <a:p>
            <a:pPr>
              <a:defRPr/>
            </a:pPr>
            <a:fld id="{F9BF5D79-4319-4B4C-A2DF-4CC96A89A0CE}" type="slidenum">
              <a:rPr lang="ru-RU"/>
              <a:pPr>
                <a:defRPr/>
              </a:pPr>
              <a:t>‹#›</a:t>
            </a:fld>
            <a:endParaRPr lang="ru-RU"/>
          </a:p>
        </p:txBody>
      </p:sp>
      <p:grpSp>
        <p:nvGrpSpPr>
          <p:cNvPr id="1028" name="Group 4"/>
          <p:cNvGrpSpPr>
            <a:grpSpLocks/>
          </p:cNvGrpSpPr>
          <p:nvPr/>
        </p:nvGrpSpPr>
        <p:grpSpPr bwMode="auto">
          <a:xfrm>
            <a:off x="0" y="0"/>
            <a:ext cx="9144000" cy="546100"/>
            <a:chOff x="0" y="0"/>
            <a:chExt cx="5760" cy="344"/>
          </a:xfrm>
        </p:grpSpPr>
        <p:sp>
          <p:nvSpPr>
            <p:cNvPr id="1032" name="Rectangle 5"/>
            <p:cNvSpPr>
              <a:spLocks noChangeArrowheads="1"/>
            </p:cNvSpPr>
            <p:nvPr/>
          </p:nvSpPr>
          <p:spPr bwMode="auto">
            <a:xfrm>
              <a:off x="0" y="0"/>
              <a:ext cx="180" cy="336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endParaRPr lang="ru-RU" altLang="ru-RU" sz="2400">
                <a:latin typeface="Times New Roman" pitchFamily="18" charset="0"/>
              </a:endParaRPr>
            </a:p>
          </p:txBody>
        </p:sp>
        <p:sp>
          <p:nvSpPr>
            <p:cNvPr id="1033" name="Rectangle 6"/>
            <p:cNvSpPr>
              <a:spLocks noChangeArrowheads="1"/>
            </p:cNvSpPr>
            <p:nvPr/>
          </p:nvSpPr>
          <p:spPr bwMode="auto">
            <a:xfrm>
              <a:off x="260" y="85"/>
              <a:ext cx="5500" cy="173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endParaRPr lang="ru-RU" altLang="ru-RU" sz="2400">
                <a:latin typeface="Times New Roman" pitchFamily="18" charset="0"/>
              </a:endParaRPr>
            </a:p>
          </p:txBody>
        </p:sp>
        <p:sp>
          <p:nvSpPr>
            <p:cNvPr id="1034" name="Rectangle 7"/>
            <p:cNvSpPr>
              <a:spLocks noChangeArrowheads="1"/>
            </p:cNvSpPr>
            <p:nvPr/>
          </p:nvSpPr>
          <p:spPr bwMode="auto">
            <a:xfrm>
              <a:off x="258" y="85"/>
              <a:ext cx="87" cy="89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endParaRPr lang="ru-RU" altLang="ru-RU">
                <a:solidFill>
                  <a:schemeClr val="hlink"/>
                </a:solidFill>
              </a:endParaRPr>
            </a:p>
          </p:txBody>
        </p:sp>
        <p:sp>
          <p:nvSpPr>
            <p:cNvPr id="1035" name="Rectangle 8"/>
            <p:cNvSpPr>
              <a:spLocks noChangeArrowheads="1"/>
            </p:cNvSpPr>
            <p:nvPr/>
          </p:nvSpPr>
          <p:spPr bwMode="auto">
            <a:xfrm>
              <a:off x="345" y="0"/>
              <a:ext cx="88" cy="87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endParaRPr lang="ru-RU" altLang="ru-RU">
                <a:solidFill>
                  <a:schemeClr val="hlink"/>
                </a:solidFill>
              </a:endParaRPr>
            </a:p>
          </p:txBody>
        </p:sp>
        <p:sp>
          <p:nvSpPr>
            <p:cNvPr id="1036" name="Rectangle 9"/>
            <p:cNvSpPr>
              <a:spLocks noChangeArrowheads="1"/>
            </p:cNvSpPr>
            <p:nvPr/>
          </p:nvSpPr>
          <p:spPr bwMode="auto">
            <a:xfrm>
              <a:off x="345" y="85"/>
              <a:ext cx="88" cy="8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endParaRPr lang="ru-RU" altLang="ru-RU">
                <a:solidFill>
                  <a:schemeClr val="accent2"/>
                </a:solidFill>
              </a:endParaRPr>
            </a:p>
          </p:txBody>
        </p:sp>
        <p:sp>
          <p:nvSpPr>
            <p:cNvPr id="1037" name="Rectangle 10"/>
            <p:cNvSpPr>
              <a:spLocks noChangeArrowheads="1"/>
            </p:cNvSpPr>
            <p:nvPr/>
          </p:nvSpPr>
          <p:spPr bwMode="auto">
            <a:xfrm>
              <a:off x="173" y="173"/>
              <a:ext cx="86" cy="87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endParaRPr lang="ru-RU" altLang="ru-RU">
                <a:solidFill>
                  <a:schemeClr val="hlink"/>
                </a:solidFill>
              </a:endParaRPr>
            </a:p>
          </p:txBody>
        </p:sp>
        <p:sp>
          <p:nvSpPr>
            <p:cNvPr id="1038" name="Rectangle 11"/>
            <p:cNvSpPr>
              <a:spLocks noChangeArrowheads="1"/>
            </p:cNvSpPr>
            <p:nvPr/>
          </p:nvSpPr>
          <p:spPr bwMode="auto">
            <a:xfrm>
              <a:off x="83" y="86"/>
              <a:ext cx="89" cy="87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endParaRPr lang="ru-RU" altLang="ru-RU" sz="2400">
                <a:latin typeface="Times New Roman" pitchFamily="18" charset="0"/>
              </a:endParaRPr>
            </a:p>
          </p:txBody>
        </p:sp>
        <p:sp>
          <p:nvSpPr>
            <p:cNvPr id="1039" name="Rectangle 12"/>
            <p:cNvSpPr>
              <a:spLocks noChangeArrowheads="1"/>
            </p:cNvSpPr>
            <p:nvPr/>
          </p:nvSpPr>
          <p:spPr bwMode="auto">
            <a:xfrm>
              <a:off x="258" y="171"/>
              <a:ext cx="87" cy="87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endParaRPr lang="ru-RU" altLang="ru-RU">
                <a:solidFill>
                  <a:schemeClr val="accent2"/>
                </a:solidFill>
              </a:endParaRPr>
            </a:p>
          </p:txBody>
        </p:sp>
        <p:sp>
          <p:nvSpPr>
            <p:cNvPr id="1040" name="Rectangle 13"/>
            <p:cNvSpPr>
              <a:spLocks noChangeArrowheads="1"/>
            </p:cNvSpPr>
            <p:nvPr/>
          </p:nvSpPr>
          <p:spPr bwMode="auto">
            <a:xfrm>
              <a:off x="173" y="258"/>
              <a:ext cx="86" cy="86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endParaRPr lang="ru-RU" altLang="ru-RU">
                <a:solidFill>
                  <a:schemeClr val="accent2"/>
                </a:solidFill>
              </a:endParaRPr>
            </a:p>
          </p:txBody>
        </p:sp>
      </p:grpSp>
      <p:sp>
        <p:nvSpPr>
          <p:cNvPr id="1029" name="Rectangle 14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457200"/>
            <a:ext cx="8229600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ru-RU" altLang="ru-RU"/>
              <a:t>Образец заголовка</a:t>
            </a:r>
          </a:p>
        </p:txBody>
      </p:sp>
      <p:sp>
        <p:nvSpPr>
          <p:cNvPr id="1030" name="Rectangle 15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981200"/>
            <a:ext cx="8229600" cy="3886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ru-RU" altLang="ru-RU"/>
              <a:t>Образец текста</a:t>
            </a:r>
          </a:p>
          <a:p>
            <a:pPr lvl="1"/>
            <a:r>
              <a:rPr lang="ru-RU" altLang="ru-RU"/>
              <a:t>Второй уровень</a:t>
            </a:r>
          </a:p>
          <a:p>
            <a:pPr lvl="2"/>
            <a:r>
              <a:rPr lang="ru-RU" altLang="ru-RU"/>
              <a:t>Третий уровень</a:t>
            </a:r>
          </a:p>
          <a:p>
            <a:pPr lvl="3"/>
            <a:r>
              <a:rPr lang="ru-RU" altLang="ru-RU"/>
              <a:t>Четвертый уровень</a:t>
            </a:r>
          </a:p>
          <a:p>
            <a:pPr lvl="4"/>
            <a:r>
              <a:rPr lang="ru-RU" altLang="ru-RU"/>
              <a:t>Пятый уровень</a:t>
            </a:r>
          </a:p>
        </p:txBody>
      </p:sp>
      <p:sp>
        <p:nvSpPr>
          <p:cNvPr id="27664" name="Rectangle 1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cs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75000"/>
        <a:buFont typeface="Wingdings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itchFamily="2" charset="2"/>
        <a:buChar char="¨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65000"/>
        <a:buFont typeface="Wingdings" pitchFamily="2" charset="2"/>
        <a:buChar char="n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¨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09600" y="2207288"/>
            <a:ext cx="8534400" cy="1600200"/>
          </a:xfrm>
        </p:spPr>
        <p:txBody>
          <a:bodyPr/>
          <a:lstStyle/>
          <a:p>
            <a:pPr algn="ctr" eaLnBrk="1" hangingPunct="1"/>
            <a:r>
              <a:rPr lang="ru-RU" altLang="ru-RU" sz="4000" dirty="0"/>
              <a:t>Полуструктурированная модель данных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381000" y="4648200"/>
            <a:ext cx="8610600" cy="1524000"/>
          </a:xfrm>
        </p:spPr>
        <p:txBody>
          <a:bodyPr/>
          <a:lstStyle/>
          <a:p>
            <a:pPr eaLnBrk="1" hangingPunct="1"/>
            <a:r>
              <a:rPr lang="ru-RU" sz="3200" dirty="0"/>
              <a:t>Г. Гарсия –Молина, Дж. Ульман, Дж. </a:t>
            </a:r>
            <a:r>
              <a:rPr lang="ru-RU" sz="3200" dirty="0" err="1"/>
              <a:t>Уидом</a:t>
            </a:r>
            <a:r>
              <a:rPr lang="ru-RU" sz="3200" dirty="0"/>
              <a:t> </a:t>
            </a:r>
          </a:p>
          <a:p>
            <a:pPr eaLnBrk="1" hangingPunct="1"/>
            <a:r>
              <a:rPr lang="ru-RU" sz="3600" dirty="0"/>
              <a:t>	Системы баз данных. </a:t>
            </a:r>
            <a:r>
              <a:rPr lang="ru-RU" sz="3600"/>
              <a:t>Глава </a:t>
            </a:r>
            <a:r>
              <a:rPr lang="ru-RU" sz="3600" smtClean="0"/>
              <a:t>4.6</a:t>
            </a:r>
            <a:endParaRPr lang="ru-RU" altLang="ru-RU" dirty="0"/>
          </a:p>
        </p:txBody>
      </p:sp>
      <p:sp>
        <p:nvSpPr>
          <p:cNvPr id="3076" name="Номер слайда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E8ECD702-E887-4ABE-9AC9-049363992063}" type="slidenum">
              <a:rPr lang="ru-RU" altLang="ru-RU" smtClean="0">
                <a:latin typeface="Arial Black" pitchFamily="34" charset="0"/>
              </a:rPr>
              <a:pPr eaLnBrk="1" hangingPunct="1"/>
              <a:t>1</a:t>
            </a:fld>
            <a:endParaRPr lang="ru-RU" altLang="ru-RU">
              <a:latin typeface="Arial Black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399" y="0"/>
            <a:ext cx="8196105" cy="762000"/>
          </a:xfrm>
        </p:spPr>
        <p:txBody>
          <a:bodyPr>
            <a:normAutofit fontScale="90000"/>
          </a:bodyPr>
          <a:lstStyle/>
          <a:p>
            <a:pPr algn="ctr" eaLnBrk="1" hangingPunct="1"/>
            <a:r>
              <a:rPr lang="ru-RU" altLang="ru-RU" dirty="0">
                <a:solidFill>
                  <a:schemeClr val="bg2"/>
                </a:solidFill>
              </a:rPr>
              <a:t>Полуструктурированные данные</a:t>
            </a:r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0500" y="838200"/>
            <a:ext cx="8763000" cy="5867400"/>
          </a:xfrm>
        </p:spPr>
        <p:txBody>
          <a:bodyPr>
            <a:normAutofit/>
          </a:bodyPr>
          <a:lstStyle/>
          <a:p>
            <a:pPr marL="400050" lvl="1" indent="0" eaLnBrk="1" hangingPunct="1">
              <a:buSzPct val="110000"/>
              <a:buNone/>
            </a:pPr>
            <a:r>
              <a:rPr lang="ru-RU" altLang="ru-RU" dirty="0"/>
              <a:t>Модель полуструктурированных данных (</a:t>
            </a:r>
            <a:r>
              <a:rPr lang="en-US" altLang="ru-RU" dirty="0" err="1"/>
              <a:t>semistructured</a:t>
            </a:r>
            <a:r>
              <a:rPr lang="ru-RU" altLang="ru-RU" dirty="0"/>
              <a:t> </a:t>
            </a:r>
            <a:r>
              <a:rPr lang="en-US" altLang="ru-RU" dirty="0"/>
              <a:t>data) </a:t>
            </a:r>
            <a:r>
              <a:rPr lang="ru-RU" altLang="ru-RU" dirty="0"/>
              <a:t>в системе баз данных играет особую роль</a:t>
            </a:r>
          </a:p>
          <a:p>
            <a:pPr marL="514350" indent="-514350" eaLnBrk="1" hangingPunct="1">
              <a:buSzPct val="110000"/>
              <a:buFont typeface="+mj-lt"/>
              <a:buAutoNum type="arabicPeriod"/>
            </a:pPr>
            <a:r>
              <a:rPr lang="ru-RU" altLang="ru-RU" sz="2800" dirty="0"/>
              <a:t>Модель выполняет функцию </a:t>
            </a:r>
            <a:r>
              <a:rPr lang="ru-RU" altLang="ru-RU" sz="280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удобного средства интеграции данных.</a:t>
            </a:r>
            <a:r>
              <a:rPr lang="ru-RU" altLang="ru-RU" sz="2800" dirty="0"/>
              <a:t> Она дает возможность описывать схожую информацию, находящуюся в базах данных с разными схемами, с помощью одних и тех же терминов.</a:t>
            </a:r>
          </a:p>
          <a:p>
            <a:pPr marL="514350" indent="-514350" eaLnBrk="1" hangingPunct="1">
              <a:buSzPct val="110000"/>
              <a:buFont typeface="+mj-lt"/>
              <a:buAutoNum type="arabicPeriod"/>
            </a:pPr>
            <a:r>
              <a:rPr lang="ru-RU" altLang="ru-RU" sz="2800" dirty="0"/>
              <a:t>Модель </a:t>
            </a:r>
            <a:r>
              <a:rPr lang="ru-RU" altLang="ru-RU" sz="280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пригодна для представления документов </a:t>
            </a:r>
            <a:r>
              <a:rPr lang="ru-RU" altLang="ru-RU" sz="2800" dirty="0"/>
              <a:t>в инструментальных системах, подобных </a:t>
            </a:r>
            <a:r>
              <a:rPr lang="en-US" altLang="ru-RU" sz="280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XML</a:t>
            </a:r>
            <a:r>
              <a:rPr lang="en-US" altLang="ru-RU" sz="2800" dirty="0"/>
              <a:t>,</a:t>
            </a:r>
            <a:r>
              <a:rPr lang="ru-RU" altLang="ru-RU" sz="2800" dirty="0"/>
              <a:t> которые используются для доступа к данным в среде </a:t>
            </a:r>
            <a:r>
              <a:rPr lang="en-US" altLang="ru-RU" sz="2800" dirty="0"/>
              <a:t>WEB.</a:t>
            </a:r>
            <a:r>
              <a:rPr lang="ru-RU" altLang="ru-RU" sz="2800" dirty="0"/>
              <a:t> </a:t>
            </a:r>
          </a:p>
        </p:txBody>
      </p:sp>
      <p:sp>
        <p:nvSpPr>
          <p:cNvPr id="4100" name="Номер слайда 1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6B9A7AC8-6824-41AC-813F-46E5FD754FD4}" type="slidenum">
              <a:rPr lang="ru-RU" altLang="ru-RU" smtClean="0">
                <a:latin typeface="Arial Black" pitchFamily="34" charset="0"/>
              </a:rPr>
              <a:pPr eaLnBrk="1" hangingPunct="1"/>
              <a:t>2</a:t>
            </a:fld>
            <a:endParaRPr lang="ru-RU" altLang="ru-RU">
              <a:latin typeface="Arial Black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35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35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35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35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35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35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35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35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35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555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>
          <a:xfrm>
            <a:off x="914400" y="0"/>
            <a:ext cx="7158038" cy="762000"/>
          </a:xfrm>
        </p:spPr>
        <p:txBody>
          <a:bodyPr/>
          <a:lstStyle/>
          <a:p>
            <a:pPr algn="ctr" eaLnBrk="1" hangingPunct="1"/>
            <a:r>
              <a:rPr lang="ru-RU" altLang="ru-RU" dirty="0">
                <a:solidFill>
                  <a:schemeClr val="bg2"/>
                </a:solidFill>
              </a:rPr>
              <a:t>Обоснование модели</a:t>
            </a:r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0500" y="762000"/>
            <a:ext cx="8953500" cy="5943600"/>
          </a:xfrm>
        </p:spPr>
        <p:txBody>
          <a:bodyPr>
            <a:normAutofit fontScale="62500" lnSpcReduction="20000"/>
          </a:bodyPr>
          <a:lstStyle/>
          <a:p>
            <a:pPr eaLnBrk="1" hangingPunct="1">
              <a:lnSpc>
                <a:spcPct val="120000"/>
              </a:lnSpc>
            </a:pPr>
            <a:r>
              <a:rPr lang="ru-RU" altLang="ru-RU" sz="2800" dirty="0"/>
              <a:t>Для моделирования предметной области в разных моделях используются разные понятия</a:t>
            </a:r>
          </a:p>
          <a:p>
            <a:pPr eaLnBrk="1" hangingPunct="1">
              <a:lnSpc>
                <a:spcPct val="120000"/>
              </a:lnSpc>
            </a:pPr>
            <a:r>
              <a:rPr lang="ru-RU" altLang="ru-RU" sz="2800" dirty="0"/>
              <a:t>В </a:t>
            </a:r>
            <a:r>
              <a:rPr lang="en-US" altLang="ru-RU" sz="2800" dirty="0"/>
              <a:t>ER</a:t>
            </a:r>
            <a:r>
              <a:rPr lang="ru-RU" altLang="ru-RU" sz="2800" dirty="0"/>
              <a:t> модели два понятия: </a:t>
            </a:r>
            <a:r>
              <a:rPr lang="ru-RU" altLang="ru-RU" sz="2800" b="1" dirty="0"/>
              <a:t>сущность, связь</a:t>
            </a:r>
            <a:r>
              <a:rPr lang="ru-RU" altLang="ru-RU" sz="2800" dirty="0"/>
              <a:t>. В каждом конкретном случае используется то понятие, которое является наиболее близким природе объектов, подлежащих воспроизведению в рамках информационной системы</a:t>
            </a:r>
          </a:p>
          <a:p>
            <a:pPr eaLnBrk="1" hangingPunct="1">
              <a:lnSpc>
                <a:spcPct val="120000"/>
              </a:lnSpc>
            </a:pPr>
            <a:r>
              <a:rPr lang="ru-RU" altLang="ru-RU" sz="2800" dirty="0"/>
              <a:t>В реляционной модели – это понятие </a:t>
            </a:r>
            <a:r>
              <a:rPr lang="ru-RU" altLang="ru-RU" sz="2800" b="1" dirty="0"/>
              <a:t>отношения</a:t>
            </a:r>
            <a:r>
              <a:rPr lang="ru-RU" altLang="ru-RU" sz="2800" dirty="0"/>
              <a:t>, которое используется для отображения и сущностей и связей. </a:t>
            </a:r>
            <a:endParaRPr lang="en-US" altLang="ru-RU" sz="2800" dirty="0"/>
          </a:p>
          <a:p>
            <a:pPr eaLnBrk="1" hangingPunct="1">
              <a:lnSpc>
                <a:spcPct val="120000"/>
              </a:lnSpc>
            </a:pPr>
            <a:r>
              <a:rPr lang="ru-RU" altLang="ru-RU" sz="2800" dirty="0"/>
              <a:t>В объектной модели – это понятия </a:t>
            </a:r>
            <a:r>
              <a:rPr lang="ru-RU" altLang="ru-RU" sz="2800" b="1" dirty="0"/>
              <a:t>класс и связь</a:t>
            </a:r>
            <a:r>
              <a:rPr lang="ru-RU" altLang="ru-RU" sz="2800" dirty="0"/>
              <a:t>.</a:t>
            </a:r>
          </a:p>
          <a:p>
            <a:pPr eaLnBrk="1" hangingPunct="1">
              <a:lnSpc>
                <a:spcPct val="120000"/>
              </a:lnSpc>
            </a:pPr>
            <a:r>
              <a:rPr lang="ru-RU" altLang="ru-RU" sz="2800" dirty="0"/>
              <a:t>Модель полуструктурированных данных можно представить как сочетание(слияние) концепций – «класс и связь» и «класс и отношение» подобно тому как  два понятия «сущность» и «связь» сливаются в реляционной модели в одно понятие «отношения».</a:t>
            </a:r>
          </a:p>
          <a:p>
            <a:pPr eaLnBrk="1" hangingPunct="1">
              <a:lnSpc>
                <a:spcPct val="120000"/>
              </a:lnSpc>
            </a:pPr>
            <a:r>
              <a:rPr lang="ru-RU" altLang="ru-RU" sz="2800" dirty="0"/>
              <a:t>Все выше упомянутые модели задают структуру хранимых данных в виде </a:t>
            </a:r>
            <a:r>
              <a:rPr lang="ru-RU" altLang="ru-RU" sz="2800" b="1" dirty="0"/>
              <a:t>схем: </a:t>
            </a:r>
            <a:r>
              <a:rPr lang="en-US" altLang="ru-RU" sz="2800" b="1" dirty="0"/>
              <a:t>ER</a:t>
            </a:r>
            <a:r>
              <a:rPr lang="ru-RU" altLang="ru-RU" sz="2800" b="1" dirty="0"/>
              <a:t>-диаграммы, схемы отношений иди </a:t>
            </a:r>
            <a:r>
              <a:rPr lang="en-US" altLang="ru-RU" sz="2800" b="1" dirty="0"/>
              <a:t>ODL </a:t>
            </a:r>
            <a:r>
              <a:rPr lang="ru-RU" altLang="ru-RU" sz="2800" b="1" dirty="0"/>
              <a:t>объявлений</a:t>
            </a:r>
          </a:p>
          <a:p>
            <a:pPr eaLnBrk="1" hangingPunct="1">
              <a:lnSpc>
                <a:spcPct val="120000"/>
              </a:lnSpc>
            </a:pPr>
            <a:r>
              <a:rPr lang="ru-RU" altLang="ru-RU" sz="2800" dirty="0"/>
              <a:t>Модель полуструктурированных данных </a:t>
            </a:r>
            <a:r>
              <a:rPr lang="ru-RU" altLang="ru-RU" sz="2800" b="1" dirty="0"/>
              <a:t>не укладывается ни в к какую «схему»</a:t>
            </a:r>
            <a:r>
              <a:rPr lang="ru-RU" altLang="ru-RU" sz="2800" dirty="0"/>
              <a:t>.</a:t>
            </a:r>
          </a:p>
          <a:p>
            <a:pPr eaLnBrk="1" hangingPunct="1">
              <a:lnSpc>
                <a:spcPct val="120000"/>
              </a:lnSpc>
            </a:pPr>
            <a:r>
              <a:rPr lang="ru-RU" altLang="ru-RU" sz="2800" dirty="0"/>
              <a:t>Данные сами по себе несут информацию о том, как их следует представлять и «схема» способна </a:t>
            </a:r>
            <a:r>
              <a:rPr lang="ru-RU" altLang="ru-RU" sz="2800" b="1" dirty="0"/>
              <a:t>изменяться произвольно</a:t>
            </a:r>
            <a:r>
              <a:rPr lang="ru-RU" altLang="ru-RU" sz="2800" dirty="0"/>
              <a:t>, как со временем, так и в контексте конкретной базы данных</a:t>
            </a:r>
          </a:p>
          <a:p>
            <a:pPr eaLnBrk="1" hangingPunct="1">
              <a:lnSpc>
                <a:spcPct val="120000"/>
              </a:lnSpc>
            </a:pPr>
            <a:endParaRPr lang="ru-RU" altLang="ru-RU" sz="2800" dirty="0"/>
          </a:p>
        </p:txBody>
      </p:sp>
      <p:sp>
        <p:nvSpPr>
          <p:cNvPr id="4100" name="Номер слайда 1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6B9A7AC8-6824-41AC-813F-46E5FD754FD4}" type="slidenum">
              <a:rPr lang="ru-RU" altLang="ru-RU" smtClean="0">
                <a:latin typeface="Arial Black" pitchFamily="34" charset="0"/>
              </a:rPr>
              <a:pPr eaLnBrk="1" hangingPunct="1"/>
              <a:t>3</a:t>
            </a:fld>
            <a:endParaRPr lang="ru-RU" altLang="ru-RU">
              <a:latin typeface="Arial Black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507172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35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35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35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35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35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35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35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35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35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35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35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35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235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35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35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235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35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235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235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235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235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2355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2355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2355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555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0"/>
            <a:ext cx="7772400" cy="838200"/>
          </a:xfrm>
        </p:spPr>
        <p:txBody>
          <a:bodyPr>
            <a:normAutofit fontScale="90000"/>
          </a:bodyPr>
          <a:lstStyle/>
          <a:p>
            <a:pPr algn="ctr" eaLnBrk="1" hangingPunct="1"/>
            <a:r>
              <a:rPr lang="ru-RU" altLang="ru-RU" dirty="0">
                <a:solidFill>
                  <a:schemeClr val="bg2"/>
                </a:solidFill>
              </a:rPr>
              <a:t>Представление данных. Граф. </a:t>
            </a:r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838200"/>
            <a:ext cx="9144000" cy="6019800"/>
          </a:xfrm>
        </p:spPr>
        <p:txBody>
          <a:bodyPr>
            <a:normAutofit fontScale="92500"/>
          </a:bodyPr>
          <a:lstStyle/>
          <a:p>
            <a:pPr>
              <a:lnSpc>
                <a:spcPct val="120000"/>
              </a:lnSpc>
              <a:defRPr/>
            </a:pPr>
            <a:r>
              <a:rPr lang="ru-RU" sz="2400" dirty="0"/>
              <a:t>Базу данных, содержащую полуструктурированные</a:t>
            </a:r>
            <a:r>
              <a:rPr lang="en-US" sz="2400" dirty="0"/>
              <a:t> </a:t>
            </a:r>
            <a:r>
              <a:rPr lang="ru-RU" sz="2400" dirty="0"/>
              <a:t>данные, можно представить </a:t>
            </a:r>
            <a:r>
              <a:rPr lang="ru-RU" sz="2400" b="1" dirty="0"/>
              <a:t>набором вершин графа</a:t>
            </a:r>
            <a:r>
              <a:rPr lang="ru-RU" sz="2400" dirty="0"/>
              <a:t>.</a:t>
            </a:r>
          </a:p>
          <a:p>
            <a:pPr>
              <a:lnSpc>
                <a:spcPct val="120000"/>
              </a:lnSpc>
              <a:defRPr/>
            </a:pPr>
            <a:r>
              <a:rPr lang="ru-RU" sz="2400" dirty="0"/>
              <a:t>Каждая вершина является либо </a:t>
            </a:r>
            <a:r>
              <a:rPr lang="ru-RU" sz="2400" b="1" dirty="0"/>
              <a:t>оконечной</a:t>
            </a:r>
            <a:r>
              <a:rPr lang="ru-RU" sz="2400" i="1" dirty="0"/>
              <a:t> </a:t>
            </a:r>
            <a:r>
              <a:rPr lang="ru-RU" sz="2400" dirty="0"/>
              <a:t>( или листом), либо </a:t>
            </a:r>
            <a:r>
              <a:rPr lang="ru-RU" sz="2400" b="1" dirty="0"/>
              <a:t>промежуточной</a:t>
            </a:r>
            <a:r>
              <a:rPr lang="ru-RU" sz="2400" dirty="0"/>
              <a:t>.</a:t>
            </a:r>
          </a:p>
          <a:p>
            <a:pPr>
              <a:lnSpc>
                <a:spcPct val="120000"/>
              </a:lnSpc>
              <a:defRPr/>
            </a:pPr>
            <a:r>
              <a:rPr lang="ru-RU" sz="2400" dirty="0"/>
              <a:t>Оконечным вершинам поставлены в соответствие </a:t>
            </a:r>
            <a:r>
              <a:rPr lang="ru-RU" sz="2400" b="1" dirty="0"/>
              <a:t>метки</a:t>
            </a:r>
            <a:r>
              <a:rPr lang="ru-RU" sz="2400" dirty="0"/>
              <a:t> – элементы  данных </a:t>
            </a:r>
            <a:r>
              <a:rPr lang="ru-RU" sz="2400" b="1" dirty="0"/>
              <a:t>атомарных типов </a:t>
            </a:r>
            <a:r>
              <a:rPr lang="ru-RU" sz="2400" dirty="0"/>
              <a:t>(число, строка и т.п.)</a:t>
            </a:r>
          </a:p>
          <a:p>
            <a:pPr>
              <a:lnSpc>
                <a:spcPct val="120000"/>
              </a:lnSpc>
              <a:defRPr/>
            </a:pPr>
            <a:r>
              <a:rPr lang="ru-RU" sz="2400" kern="1200" dirty="0">
                <a:latin typeface="Arial" charset="0"/>
                <a:cs typeface="Arial" charset="0"/>
              </a:rPr>
              <a:t>Из промежуточных вершин исходят </a:t>
            </a:r>
            <a:r>
              <a:rPr lang="ru-RU" sz="2400" b="1" kern="1200" dirty="0">
                <a:latin typeface="Arial" charset="0"/>
                <a:cs typeface="Arial" charset="0"/>
              </a:rPr>
              <a:t>одна или несколько дуг.</a:t>
            </a:r>
            <a:endParaRPr lang="ru-RU" sz="2400" b="1" dirty="0"/>
          </a:p>
          <a:p>
            <a:pPr>
              <a:lnSpc>
                <a:spcPct val="120000"/>
              </a:lnSpc>
              <a:defRPr/>
            </a:pPr>
            <a:r>
              <a:rPr lang="ru-RU" sz="2400" dirty="0"/>
              <a:t>Каждая дуга снабжена </a:t>
            </a:r>
            <a:r>
              <a:rPr lang="ru-RU" sz="2400" b="1" dirty="0"/>
              <a:t>меткой</a:t>
            </a:r>
            <a:r>
              <a:rPr lang="ru-RU" sz="2400" dirty="0"/>
              <a:t>, описывающей в каком </a:t>
            </a:r>
            <a:r>
              <a:rPr lang="ru-RU" sz="2400" b="1" dirty="0"/>
              <a:t>отношении</a:t>
            </a:r>
            <a:r>
              <a:rPr lang="ru-RU" sz="2400" dirty="0"/>
              <a:t> находятся соединенные вершины.</a:t>
            </a:r>
          </a:p>
          <a:p>
            <a:pPr>
              <a:lnSpc>
                <a:spcPct val="120000"/>
              </a:lnSpc>
              <a:defRPr/>
            </a:pPr>
            <a:r>
              <a:rPr lang="ru-RU" sz="2400" dirty="0"/>
              <a:t>Одна из </a:t>
            </a:r>
            <a:r>
              <a:rPr lang="ru-RU" sz="2400" b="1" dirty="0"/>
              <a:t>промежуточных </a:t>
            </a:r>
            <a:r>
              <a:rPr lang="ru-RU" sz="2400" dirty="0"/>
              <a:t>вершин является </a:t>
            </a:r>
            <a:r>
              <a:rPr lang="ru-RU" sz="2400" b="1" dirty="0"/>
              <a:t>корневой</a:t>
            </a:r>
            <a:r>
              <a:rPr lang="ru-RU" sz="2400" dirty="0"/>
              <a:t>. Она не имеет входящих дуг и представляет </a:t>
            </a:r>
            <a:r>
              <a:rPr lang="ru-RU" sz="2400" b="1" dirty="0"/>
              <a:t>базу данных в  целом.</a:t>
            </a:r>
          </a:p>
          <a:p>
            <a:pPr>
              <a:lnSpc>
                <a:spcPct val="120000"/>
              </a:lnSpc>
              <a:defRPr/>
            </a:pPr>
            <a:r>
              <a:rPr lang="ru-RU" sz="2400" dirty="0"/>
              <a:t>Каждая вершина должна быть достижима из корня, хотя структура графа о общем случае </a:t>
            </a:r>
            <a:r>
              <a:rPr lang="ru-RU" sz="2400" b="1" dirty="0"/>
              <a:t>не обязательно дерево.</a:t>
            </a:r>
          </a:p>
        </p:txBody>
      </p:sp>
      <p:sp>
        <p:nvSpPr>
          <p:cNvPr id="5124" name="Номер слайда 1"/>
          <p:cNvSpPr>
            <a:spLocks noGrp="1"/>
          </p:cNvSpPr>
          <p:nvPr>
            <p:ph type="sldNum" sz="quarter" idx="11"/>
          </p:nvPr>
        </p:nvSpPr>
        <p:spPr>
          <a:xfrm>
            <a:off x="8153400" y="6248400"/>
            <a:ext cx="533400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0D5E60CA-124C-4C2D-AA76-F3E5CD71CA1F}" type="slidenum">
              <a:rPr lang="ru-RU" altLang="ru-RU" smtClean="0">
                <a:latin typeface="Arial Black" pitchFamily="34" charset="0"/>
              </a:rPr>
              <a:pPr eaLnBrk="1" hangingPunct="1"/>
              <a:t>4</a:t>
            </a:fld>
            <a:endParaRPr lang="ru-RU" altLang="ru-RU" dirty="0">
              <a:latin typeface="Arial Black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35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35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35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35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35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35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35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35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35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35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35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35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235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35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35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235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35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235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235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235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235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555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xfrm>
            <a:off x="914400" y="0"/>
            <a:ext cx="7772400" cy="527954"/>
          </a:xfrm>
        </p:spPr>
        <p:txBody>
          <a:bodyPr/>
          <a:lstStyle/>
          <a:p>
            <a:pPr algn="ctr" eaLnBrk="1" hangingPunct="1"/>
            <a:r>
              <a:rPr lang="ru-RU" altLang="ru-RU" sz="3600" dirty="0">
                <a:solidFill>
                  <a:schemeClr val="bg1"/>
                </a:solidFill>
              </a:rPr>
              <a:t>Представление</a:t>
            </a:r>
            <a:r>
              <a:rPr lang="ru-RU" altLang="ru-RU" sz="3600" dirty="0">
                <a:solidFill>
                  <a:schemeClr val="bg2"/>
                </a:solidFill>
              </a:rPr>
              <a:t> данных. Пример.</a:t>
            </a:r>
          </a:p>
        </p:txBody>
      </p:sp>
      <p:sp>
        <p:nvSpPr>
          <p:cNvPr id="5124" name="Номер слайда 1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0D5E60CA-124C-4C2D-AA76-F3E5CD71CA1F}" type="slidenum">
              <a:rPr lang="ru-RU" altLang="ru-RU" smtClean="0">
                <a:latin typeface="Arial Black" pitchFamily="34" charset="0"/>
              </a:rPr>
              <a:pPr eaLnBrk="1" hangingPunct="1"/>
              <a:t>5</a:t>
            </a:fld>
            <a:endParaRPr lang="ru-RU" altLang="ru-RU">
              <a:latin typeface="Arial Black" pitchFamily="34" charset="0"/>
            </a:endParaRPr>
          </a:p>
        </p:txBody>
      </p:sp>
      <p:sp>
        <p:nvSpPr>
          <p:cNvPr id="2050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9" name="TextBox 8"/>
          <p:cNvSpPr txBox="1"/>
          <p:nvPr/>
        </p:nvSpPr>
        <p:spPr>
          <a:xfrm>
            <a:off x="164394" y="533400"/>
            <a:ext cx="8979606" cy="1084720"/>
          </a:xfrm>
          <a:prstGeom prst="rect">
            <a:avLst/>
          </a:prstGeom>
          <a:noFill/>
        </p:spPr>
        <p:txBody>
          <a:bodyPr wrap="square" rtlCol="0">
            <a:normAutofit fontScale="92500" lnSpcReduction="10000"/>
          </a:bodyPr>
          <a:lstStyle/>
          <a:p>
            <a:r>
              <a:rPr lang="ru-RU" dirty="0"/>
              <a:t>Граф, описывающий «полуструктурированную» базу данных об актерах и кинофильмах. </a:t>
            </a:r>
            <a:endParaRPr lang="en-US" dirty="0"/>
          </a:p>
          <a:p>
            <a:r>
              <a:rPr lang="ru-RU" dirty="0"/>
              <a:t>Корень </a:t>
            </a:r>
            <a:r>
              <a:rPr lang="en-US" b="1" dirty="0"/>
              <a:t>Root</a:t>
            </a:r>
            <a:r>
              <a:rPr lang="ru-RU" b="1" dirty="0"/>
              <a:t> </a:t>
            </a:r>
            <a:r>
              <a:rPr lang="ru-RU" dirty="0"/>
              <a:t>– точка входа в базу данных, представляет всю информацию в целом.</a:t>
            </a:r>
            <a:endParaRPr lang="en-US" dirty="0"/>
          </a:p>
          <a:p>
            <a:r>
              <a:rPr lang="ru-RU" dirty="0"/>
              <a:t>Основные объекты – «</a:t>
            </a:r>
            <a:r>
              <a:rPr lang="ru-RU" b="1" dirty="0"/>
              <a:t>актеры</a:t>
            </a:r>
            <a:r>
              <a:rPr lang="ru-RU" dirty="0"/>
              <a:t>» и «</a:t>
            </a:r>
            <a:r>
              <a:rPr lang="ru-RU" b="1" dirty="0"/>
              <a:t>кинофильмы</a:t>
            </a:r>
            <a:r>
              <a:rPr lang="ru-RU" dirty="0"/>
              <a:t>» - </a:t>
            </a:r>
            <a:r>
              <a:rPr lang="ru-RU" b="1" dirty="0"/>
              <a:t>дочерние вершины </a:t>
            </a:r>
            <a:r>
              <a:rPr lang="en-US" dirty="0"/>
              <a:t>Root.</a:t>
            </a:r>
            <a:endParaRPr lang="ru-RU" dirty="0"/>
          </a:p>
          <a:p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B3BACBB4-9A67-44FA-92C9-C262943BA9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394" y="1618548"/>
            <a:ext cx="8780404" cy="508746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1014046"/>
            <a:ext cx="8686800" cy="5562600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20000"/>
              </a:lnSpc>
              <a:defRPr/>
            </a:pPr>
            <a:r>
              <a:rPr lang="ru-RU" sz="2000" dirty="0"/>
              <a:t>Оконечные вершины имеют </a:t>
            </a:r>
            <a:r>
              <a:rPr lang="ru-RU" sz="2000" b="1" dirty="0"/>
              <a:t>метки </a:t>
            </a:r>
            <a:r>
              <a:rPr lang="ru-RU" sz="2000" dirty="0"/>
              <a:t>и интерпретируются как </a:t>
            </a:r>
            <a:r>
              <a:rPr lang="ru-RU" sz="2000" b="1" dirty="0"/>
              <a:t>содержимое атрибутов, объектов вышестоящих вершин.</a:t>
            </a:r>
            <a:endParaRPr lang="ru-RU" sz="2000" dirty="0"/>
          </a:p>
          <a:p>
            <a:pPr>
              <a:lnSpc>
                <a:spcPct val="120000"/>
              </a:lnSpc>
              <a:defRPr/>
            </a:pPr>
            <a:r>
              <a:rPr lang="ru-RU" sz="2000" dirty="0"/>
              <a:t>Промежуточные вершины не обязаны иметь метки. На рисунке слайда метки промежуточных вершин </a:t>
            </a:r>
            <a:r>
              <a:rPr lang="en-US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cf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mh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sw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/>
              <a:t>введены для удобства идентификации вершины.</a:t>
            </a:r>
          </a:p>
          <a:p>
            <a:pPr>
              <a:lnSpc>
                <a:spcPct val="120000"/>
              </a:lnSpc>
              <a:defRPr/>
            </a:pPr>
            <a:r>
              <a:rPr lang="ru-RU" sz="2000" dirty="0"/>
              <a:t>Так вершину </a:t>
            </a:r>
            <a:r>
              <a:rPr lang="en-US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sw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>
                <a:cs typeface="Times New Roman" panose="02020603050405020304" pitchFamily="18" charset="0"/>
              </a:rPr>
              <a:t>можно трактовать как объект-кинофильм </a:t>
            </a:r>
            <a:r>
              <a:rPr lang="en-US" sz="2000" dirty="0">
                <a:cs typeface="Times New Roman" panose="02020603050405020304" pitchFamily="18" charset="0"/>
              </a:rPr>
              <a:t>“Star Wars” </a:t>
            </a:r>
            <a:r>
              <a:rPr lang="ru-RU" sz="2000" dirty="0">
                <a:cs typeface="Times New Roman" panose="02020603050405020304" pitchFamily="18" charset="0"/>
              </a:rPr>
              <a:t>с дочерними вершинами-значениями для атрибутов </a:t>
            </a:r>
            <a:r>
              <a:rPr lang="en-US" sz="2000" dirty="0">
                <a:cs typeface="Times New Roman" panose="02020603050405020304" pitchFamily="18" charset="0"/>
              </a:rPr>
              <a:t>“title” - Star Wars </a:t>
            </a:r>
            <a:r>
              <a:rPr lang="ru-RU" sz="2000" dirty="0">
                <a:cs typeface="Times New Roman" panose="02020603050405020304" pitchFamily="18" charset="0"/>
              </a:rPr>
              <a:t>и </a:t>
            </a:r>
            <a:r>
              <a:rPr lang="en-US" sz="2000" dirty="0">
                <a:cs typeface="Times New Roman" panose="02020603050405020304" pitchFamily="18" charset="0"/>
              </a:rPr>
              <a:t>“year” – 1977</a:t>
            </a:r>
            <a:r>
              <a:rPr lang="ru-RU" sz="2000" dirty="0"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20000"/>
              </a:lnSpc>
              <a:defRPr/>
            </a:pPr>
            <a:r>
              <a:rPr lang="ru-RU" sz="2000" dirty="0">
                <a:cs typeface="Times New Roman" panose="02020603050405020304" pitchFamily="18" charset="0"/>
              </a:rPr>
              <a:t>Метки, которыми обозначены дуги графа, выполняют две функции, объединяя информацию, содержащуюся в объявлениях классов и связях.</a:t>
            </a:r>
          </a:p>
          <a:p>
            <a:pPr>
              <a:lnSpc>
                <a:spcPct val="120000"/>
              </a:lnSpc>
              <a:defRPr/>
            </a:pPr>
            <a:r>
              <a:rPr lang="ru-RU" sz="2000" dirty="0">
                <a:cs typeface="Times New Roman" panose="02020603050405020304" pitchFamily="18" charset="0"/>
              </a:rPr>
              <a:t>Если вершина </a:t>
            </a:r>
            <a:r>
              <a:rPr lang="en-US" sz="2000" dirty="0">
                <a:cs typeface="Times New Roman" panose="02020603050405020304" pitchFamily="18" charset="0"/>
              </a:rPr>
              <a:t>N </a:t>
            </a:r>
            <a:r>
              <a:rPr lang="ru-RU" sz="2000" dirty="0">
                <a:cs typeface="Times New Roman" panose="02020603050405020304" pitchFamily="18" charset="0"/>
              </a:rPr>
              <a:t>соединена с вершиной </a:t>
            </a:r>
            <a:r>
              <a:rPr lang="en-US" sz="2000" dirty="0">
                <a:cs typeface="Times New Roman" panose="02020603050405020304" pitchFamily="18" charset="0"/>
              </a:rPr>
              <a:t>M </a:t>
            </a:r>
            <a:r>
              <a:rPr lang="ru-RU" sz="2000" dirty="0">
                <a:cs typeface="Times New Roman" panose="02020603050405020304" pitchFamily="18" charset="0"/>
              </a:rPr>
              <a:t>дугой </a:t>
            </a:r>
            <a:r>
              <a:rPr lang="en-US" sz="2000" dirty="0">
                <a:cs typeface="Times New Roman" panose="02020603050405020304" pitchFamily="18" charset="0"/>
              </a:rPr>
              <a:t>L</a:t>
            </a:r>
            <a:r>
              <a:rPr lang="ru-RU" sz="2000" dirty="0">
                <a:cs typeface="Times New Roman" panose="02020603050405020304" pitchFamily="18" charset="0"/>
              </a:rPr>
              <a:t>, то это может означать:</a:t>
            </a:r>
          </a:p>
          <a:p>
            <a:pPr marL="457200" indent="-457200">
              <a:lnSpc>
                <a:spcPct val="120000"/>
              </a:lnSpc>
              <a:buSzPct val="86000"/>
              <a:buFont typeface="+mj-lt"/>
              <a:buAutoNum type="arabicPeriod"/>
              <a:defRPr/>
            </a:pPr>
            <a:r>
              <a:rPr lang="ru-RU" sz="2000" dirty="0">
                <a:cs typeface="Times New Roman" panose="02020603050405020304" pitchFamily="18" charset="0"/>
              </a:rPr>
              <a:t>что </a:t>
            </a:r>
            <a:r>
              <a:rPr lang="en-US" sz="2000" dirty="0">
                <a:cs typeface="Times New Roman" panose="02020603050405020304" pitchFamily="18" charset="0"/>
              </a:rPr>
              <a:t>L </a:t>
            </a:r>
            <a:r>
              <a:rPr lang="ru-RU" sz="2000" dirty="0">
                <a:cs typeface="Times New Roman" panose="02020603050405020304" pitchFamily="18" charset="0"/>
              </a:rPr>
              <a:t>есть имя атрибута или поля, если </a:t>
            </a:r>
            <a:r>
              <a:rPr lang="en-US" sz="2000" dirty="0">
                <a:cs typeface="Times New Roman" panose="02020603050405020304" pitchFamily="18" charset="0"/>
              </a:rPr>
              <a:t>N</a:t>
            </a:r>
            <a:r>
              <a:rPr lang="ru-RU" sz="2000" dirty="0">
                <a:cs typeface="Times New Roman" panose="02020603050405020304" pitchFamily="18" charset="0"/>
              </a:rPr>
              <a:t> объект или структура, а </a:t>
            </a:r>
            <a:r>
              <a:rPr lang="en-US" sz="2000" dirty="0">
                <a:cs typeface="Times New Roman" panose="02020603050405020304" pitchFamily="18" charset="0"/>
              </a:rPr>
              <a:t>M</a:t>
            </a:r>
            <a:r>
              <a:rPr lang="ru-RU" sz="2000" dirty="0">
                <a:cs typeface="Times New Roman" panose="02020603050405020304" pitchFamily="18" charset="0"/>
              </a:rPr>
              <a:t> – один из атрибутов этого объекта</a:t>
            </a:r>
          </a:p>
          <a:p>
            <a:pPr marL="457200" indent="-457200">
              <a:lnSpc>
                <a:spcPct val="120000"/>
              </a:lnSpc>
              <a:buSzPct val="86000"/>
              <a:buFont typeface="+mj-lt"/>
              <a:buAutoNum type="arabicPeriod"/>
              <a:defRPr/>
            </a:pPr>
            <a:r>
              <a:rPr lang="ru-RU" sz="2100" dirty="0">
                <a:cs typeface="Times New Roman" panose="02020603050405020304" pitchFamily="18" charset="0"/>
              </a:rPr>
              <a:t>что </a:t>
            </a:r>
            <a:r>
              <a:rPr lang="en-US" sz="2100" dirty="0">
                <a:cs typeface="Times New Roman" panose="02020603050405020304" pitchFamily="18" charset="0"/>
              </a:rPr>
              <a:t>L </a:t>
            </a:r>
            <a:r>
              <a:rPr lang="ru-RU" sz="2100" dirty="0">
                <a:cs typeface="Times New Roman" panose="02020603050405020304" pitchFamily="18" charset="0"/>
              </a:rPr>
              <a:t>есть связь между объектами, если </a:t>
            </a:r>
            <a:r>
              <a:rPr lang="en-US" sz="2100" dirty="0">
                <a:cs typeface="Times New Roman" panose="02020603050405020304" pitchFamily="18" charset="0"/>
              </a:rPr>
              <a:t>N </a:t>
            </a:r>
            <a:r>
              <a:rPr lang="ru-RU" sz="2100" dirty="0">
                <a:cs typeface="Times New Roman" panose="02020603050405020304" pitchFamily="18" charset="0"/>
              </a:rPr>
              <a:t>и </a:t>
            </a:r>
            <a:r>
              <a:rPr lang="en-US" sz="2100" dirty="0">
                <a:cs typeface="Times New Roman" panose="02020603050405020304" pitchFamily="18" charset="0"/>
              </a:rPr>
              <a:t>M </a:t>
            </a:r>
            <a:r>
              <a:rPr lang="ru-RU" sz="2100" dirty="0">
                <a:cs typeface="Times New Roman" panose="02020603050405020304" pitchFamily="18" charset="0"/>
              </a:rPr>
              <a:t>- объекты</a:t>
            </a:r>
          </a:p>
        </p:txBody>
      </p:sp>
      <p:sp>
        <p:nvSpPr>
          <p:cNvPr id="5124" name="Номер слайда 1"/>
          <p:cNvSpPr>
            <a:spLocks noGrp="1"/>
          </p:cNvSpPr>
          <p:nvPr>
            <p:ph type="sldNum" sz="quarter" idx="11"/>
          </p:nvPr>
        </p:nvSpPr>
        <p:spPr>
          <a:xfrm>
            <a:off x="8077200" y="6248400"/>
            <a:ext cx="609600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0D5E60CA-124C-4C2D-AA76-F3E5CD71CA1F}" type="slidenum">
              <a:rPr lang="ru-RU" altLang="ru-RU" smtClean="0">
                <a:latin typeface="Arial Black" pitchFamily="34" charset="0"/>
              </a:rPr>
              <a:pPr eaLnBrk="1" hangingPunct="1"/>
              <a:t>6</a:t>
            </a:fld>
            <a:endParaRPr lang="ru-RU" altLang="ru-RU" dirty="0">
              <a:latin typeface="Arial Black" pitchFamily="34" charset="0"/>
            </a:endParaRP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BA6C001-E1B0-476A-9AEF-1EA4DEC73B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81708"/>
            <a:ext cx="8229600" cy="685800"/>
          </a:xfrm>
        </p:spPr>
        <p:txBody>
          <a:bodyPr anchor="t" anchorCtr="0">
            <a:noAutofit/>
          </a:bodyPr>
          <a:lstStyle/>
          <a:p>
            <a:r>
              <a:rPr lang="ru-RU" altLang="ru-RU" kern="0" dirty="0">
                <a:solidFill>
                  <a:schemeClr val="bg2"/>
                </a:solidFill>
              </a:rPr>
              <a:t>Интерпретация вершин и дуг.</a:t>
            </a:r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235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235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235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235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235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235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235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555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4" name="Номер слайда 1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0D5E60CA-124C-4C2D-AA76-F3E5CD71CA1F}" type="slidenum">
              <a:rPr lang="ru-RU" altLang="ru-RU" smtClean="0">
                <a:latin typeface="Arial Black" pitchFamily="34" charset="0"/>
              </a:rPr>
              <a:pPr eaLnBrk="1" hangingPunct="1"/>
              <a:t>7</a:t>
            </a:fld>
            <a:endParaRPr lang="ru-RU" altLang="ru-RU">
              <a:latin typeface="Arial Black" pitchFamily="34" charset="0"/>
            </a:endParaRPr>
          </a:p>
        </p:txBody>
      </p:sp>
      <p:sp>
        <p:nvSpPr>
          <p:cNvPr id="2050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9" name="TextBox 8"/>
          <p:cNvSpPr txBox="1"/>
          <p:nvPr/>
        </p:nvSpPr>
        <p:spPr>
          <a:xfrm>
            <a:off x="152400" y="937844"/>
            <a:ext cx="8534400" cy="5310555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ru-RU" dirty="0"/>
              <a:t>Вершина </a:t>
            </a:r>
            <a:r>
              <a:rPr lang="en-US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cf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/>
              <a:t>моделирует объект класса 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Star</a:t>
            </a:r>
            <a:r>
              <a:rPr lang="ru-RU" dirty="0"/>
              <a:t>, соответствующий актрисе </a:t>
            </a:r>
            <a:r>
              <a:rPr lang="en-US" dirty="0"/>
              <a:t>Carrie Fisher.</a:t>
            </a:r>
          </a:p>
          <a:p>
            <a:r>
              <a:rPr lang="ru-RU" dirty="0"/>
              <a:t>Из вершины выходит дуга с меткой 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name</a:t>
            </a:r>
            <a:r>
              <a:rPr lang="ru-RU" dirty="0"/>
              <a:t>, которая представляет атрибут</a:t>
            </a:r>
            <a:endParaRPr lang="en-US" dirty="0"/>
          </a:p>
          <a:p>
            <a:r>
              <a:rPr lang="en-US" dirty="0"/>
              <a:t>“name”</a:t>
            </a:r>
            <a:r>
              <a:rPr lang="ru-RU" dirty="0"/>
              <a:t>, и приводит к вершине «содержащей» имя актрисы - </a:t>
            </a:r>
            <a:r>
              <a:rPr lang="en-US" dirty="0"/>
              <a:t>Carrie Fisher</a:t>
            </a:r>
            <a:r>
              <a:rPr lang="ru-RU" dirty="0"/>
              <a:t>. </a:t>
            </a:r>
          </a:p>
          <a:p>
            <a:endParaRPr lang="en-US" dirty="0"/>
          </a:p>
          <a:p>
            <a:r>
              <a:rPr lang="ru-RU" dirty="0"/>
              <a:t>Из вершины</a:t>
            </a:r>
            <a:r>
              <a:rPr lang="en-US" dirty="0"/>
              <a:t> </a:t>
            </a:r>
            <a:r>
              <a:rPr lang="ru-RU" dirty="0"/>
              <a:t>также выходят две дуги с</a:t>
            </a:r>
          </a:p>
          <a:p>
            <a:r>
              <a:rPr lang="ru-RU" dirty="0"/>
              <a:t>метками  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address</a:t>
            </a:r>
            <a:r>
              <a:rPr lang="ru-RU" dirty="0"/>
              <a:t>, которые представ-</a:t>
            </a:r>
          </a:p>
          <a:p>
            <a:r>
              <a:rPr lang="ru-RU" dirty="0" err="1"/>
              <a:t>ляют</a:t>
            </a:r>
            <a:r>
              <a:rPr lang="ru-RU" dirty="0"/>
              <a:t> два адреса актрисы.</a:t>
            </a:r>
          </a:p>
          <a:p>
            <a:endParaRPr lang="ru-RU" dirty="0"/>
          </a:p>
          <a:p>
            <a:r>
              <a:rPr lang="ru-RU" dirty="0"/>
              <a:t>Дуги в совокупности соответствуют </a:t>
            </a:r>
            <a:r>
              <a:rPr lang="ru-RU" dirty="0" err="1"/>
              <a:t>ат</a:t>
            </a:r>
            <a:r>
              <a:rPr lang="ru-RU" dirty="0"/>
              <a:t>-</a:t>
            </a:r>
            <a:br>
              <a:rPr lang="ru-RU" dirty="0"/>
            </a:br>
            <a:r>
              <a:rPr lang="ru-RU" dirty="0" err="1"/>
              <a:t>рибуту</a:t>
            </a:r>
            <a:r>
              <a:rPr lang="ru-RU" dirty="0"/>
              <a:t> 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address</a:t>
            </a:r>
            <a:r>
              <a:rPr lang="en-US" dirty="0"/>
              <a:t> </a:t>
            </a:r>
            <a:r>
              <a:rPr lang="ru-RU" dirty="0"/>
              <a:t>типа </a:t>
            </a:r>
            <a:r>
              <a:rPr lang="en-US" dirty="0"/>
              <a:t>Set.</a:t>
            </a:r>
            <a:endParaRPr lang="ru-RU" dirty="0"/>
          </a:p>
          <a:p>
            <a:endParaRPr lang="en-US" dirty="0"/>
          </a:p>
          <a:p>
            <a:r>
              <a:rPr lang="ru-RU" dirty="0"/>
              <a:t>В свою очередь каждый адрес – это </a:t>
            </a:r>
            <a:br>
              <a:rPr lang="ru-RU" dirty="0"/>
            </a:br>
            <a:r>
              <a:rPr lang="ru-RU" dirty="0"/>
              <a:t>структура из 2-х полей: 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street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/>
              <a:t>и 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city</a:t>
            </a:r>
            <a:r>
              <a:rPr lang="ru-RU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E05F654F-2C4B-4631-866E-90B0AECB6B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3400" y="2362200"/>
            <a:ext cx="4454769" cy="4305293"/>
          </a:xfrm>
          <a:prstGeom prst="rect">
            <a:avLst/>
          </a:prstGeom>
        </p:spPr>
      </p:pic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0F45A712-90F2-4A93-99F1-E2F15CF66F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190506"/>
            <a:ext cx="8382000" cy="685787"/>
          </a:xfrm>
        </p:spPr>
        <p:txBody>
          <a:bodyPr/>
          <a:lstStyle/>
          <a:p>
            <a:r>
              <a:rPr lang="ru-RU" altLang="ru-RU" kern="0" dirty="0">
                <a:solidFill>
                  <a:schemeClr val="bg2"/>
                </a:solidFill>
              </a:rPr>
              <a:t>Интерпретация вершин и дуг.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3370399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C21031D0-75FC-4308-9D84-0FEE6B1CC9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1" y="2667001"/>
            <a:ext cx="8534400" cy="403859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28601" y="758095"/>
            <a:ext cx="8686799" cy="1908905"/>
          </a:xfrm>
          <a:prstGeom prst="rect">
            <a:avLst/>
          </a:prstGeom>
          <a:noFill/>
        </p:spPr>
        <p:txBody>
          <a:bodyPr wrap="square" rtlCol="0">
            <a:normAutofit fontScale="92500" lnSpcReduction="20000"/>
          </a:bodyPr>
          <a:lstStyle/>
          <a:p>
            <a:pPr marL="285750" indent="-285750">
              <a:buClr>
                <a:schemeClr val="bg2">
                  <a:lumMod val="60000"/>
                  <a:lumOff val="40000"/>
                </a:schemeClr>
              </a:buClr>
              <a:buFont typeface="Wingdings" panose="05000000000000000000" pitchFamily="2" charset="2"/>
              <a:buChar char="v"/>
            </a:pPr>
            <a:r>
              <a:rPr lang="ru-RU" dirty="0"/>
              <a:t>Граф также содержит дуги, которые можно интерпретировать как связи объектов.</a:t>
            </a:r>
          </a:p>
          <a:p>
            <a:pPr marL="285750" indent="-285750">
              <a:buClr>
                <a:schemeClr val="bg2">
                  <a:lumMod val="60000"/>
                  <a:lumOff val="40000"/>
                </a:schemeClr>
              </a:buClr>
              <a:buFont typeface="Wingdings" panose="05000000000000000000" pitchFamily="2" charset="2"/>
              <a:buChar char="v"/>
            </a:pPr>
            <a:r>
              <a:rPr lang="ru-RU" dirty="0"/>
              <a:t>Например, дуга с меткой </a:t>
            </a:r>
            <a:r>
              <a:rPr lang="en-US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starredIn</a:t>
            </a:r>
            <a:r>
              <a:rPr lang="ru-RU" dirty="0"/>
              <a:t> соединяет вершины </a:t>
            </a:r>
            <a:r>
              <a:rPr lang="en-US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cf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/>
              <a:t>и </a:t>
            </a:r>
            <a:r>
              <a:rPr lang="en-US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sw</a:t>
            </a:r>
            <a:r>
              <a:rPr lang="ru-RU" dirty="0"/>
              <a:t> в направлении от </a:t>
            </a:r>
            <a:r>
              <a:rPr lang="en-US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cf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/>
              <a:t>к </a:t>
            </a:r>
            <a:r>
              <a:rPr lang="en-US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sw</a:t>
            </a:r>
            <a:r>
              <a:rPr lang="ru-RU" sz="2000" dirty="0"/>
              <a:t>.</a:t>
            </a:r>
          </a:p>
          <a:p>
            <a:pPr marL="285750" indent="-285750">
              <a:buClr>
                <a:schemeClr val="bg2">
                  <a:lumMod val="60000"/>
                  <a:lumOff val="40000"/>
                </a:schemeClr>
              </a:buClr>
              <a:buFont typeface="Wingdings" panose="05000000000000000000" pitchFamily="2" charset="2"/>
              <a:buChar char="v"/>
            </a:pPr>
            <a:r>
              <a:rPr lang="ru-RU" dirty="0"/>
              <a:t>Из вершины </a:t>
            </a:r>
            <a:r>
              <a:rPr lang="en-US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mh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/>
              <a:t>исходит такая же дуга, а из вершины </a:t>
            </a:r>
            <a:r>
              <a:rPr lang="en-US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sw</a:t>
            </a:r>
            <a:r>
              <a:rPr lang="en-US" dirty="0"/>
              <a:t> – </a:t>
            </a:r>
            <a:r>
              <a:rPr lang="ru-RU" dirty="0"/>
              <a:t>дуги с метками </a:t>
            </a:r>
            <a:r>
              <a:rPr lang="en-US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starsOf</a:t>
            </a:r>
            <a:r>
              <a:rPr lang="ru-RU" dirty="0"/>
              <a:t> </a:t>
            </a:r>
            <a:r>
              <a:rPr lang="en-US" dirty="0"/>
              <a:t>, </a:t>
            </a:r>
            <a:r>
              <a:rPr lang="ru-RU" dirty="0"/>
              <a:t>направленные к вершинам </a:t>
            </a:r>
            <a:r>
              <a:rPr lang="en-US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cf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/>
              <a:t>и </a:t>
            </a:r>
            <a:r>
              <a:rPr lang="en-US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mh</a:t>
            </a:r>
            <a:r>
              <a:rPr lang="ru-RU" dirty="0"/>
              <a:t> </a:t>
            </a:r>
            <a:endParaRPr lang="en-US" dirty="0"/>
          </a:p>
          <a:p>
            <a:pPr marL="285750" indent="-285750">
              <a:buClr>
                <a:schemeClr val="bg2">
                  <a:lumMod val="60000"/>
                  <a:lumOff val="40000"/>
                </a:schemeClr>
              </a:buClr>
              <a:buFont typeface="Wingdings" panose="05000000000000000000" pitchFamily="2" charset="2"/>
              <a:buChar char="v"/>
            </a:pPr>
            <a:r>
              <a:rPr lang="ru-RU" dirty="0"/>
              <a:t>Дуги </a:t>
            </a:r>
            <a:r>
              <a:rPr lang="en-US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starredIn</a:t>
            </a:r>
            <a:r>
              <a:rPr lang="ru-RU" dirty="0"/>
              <a:t> представляют элементы одноименной связи класса </a:t>
            </a:r>
            <a:r>
              <a:rPr lang="en-US" dirty="0"/>
              <a:t>Star</a:t>
            </a:r>
            <a:r>
              <a:rPr lang="ru-RU" dirty="0"/>
              <a:t>, а дуги – обратной связи  </a:t>
            </a:r>
            <a:r>
              <a:rPr lang="en-US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tarsOf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>
                <a:latin typeface="+mn-lt"/>
                <a:cs typeface="Times New Roman" panose="02020603050405020304" pitchFamily="18" charset="0"/>
              </a:rPr>
              <a:t>класса </a:t>
            </a:r>
            <a:r>
              <a:rPr lang="en-US" dirty="0">
                <a:latin typeface="+mn-lt"/>
                <a:cs typeface="Times New Roman" panose="02020603050405020304" pitchFamily="18" charset="0"/>
              </a:rPr>
              <a:t>Movie.</a:t>
            </a:r>
            <a:endParaRPr lang="en-US" dirty="0">
              <a:latin typeface="+mn-lt"/>
            </a:endParaRPr>
          </a:p>
        </p:txBody>
      </p:sp>
      <p:sp>
        <p:nvSpPr>
          <p:cNvPr id="5124" name="Номер слайда 1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0D5E60CA-124C-4C2D-AA76-F3E5CD71CA1F}" type="slidenum">
              <a:rPr lang="ru-RU" altLang="ru-RU" smtClean="0">
                <a:latin typeface="Arial Black" pitchFamily="34" charset="0"/>
              </a:rPr>
              <a:pPr eaLnBrk="1" hangingPunct="1"/>
              <a:t>8</a:t>
            </a:fld>
            <a:endParaRPr lang="ru-RU" altLang="ru-RU">
              <a:latin typeface="Arial Black" pitchFamily="34" charset="0"/>
            </a:endParaRPr>
          </a:p>
        </p:txBody>
      </p:sp>
      <p:sp>
        <p:nvSpPr>
          <p:cNvPr id="2050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0F45A712-90F2-4A93-99F1-E2F15CF66F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190507"/>
            <a:ext cx="8382000" cy="495294"/>
          </a:xfrm>
        </p:spPr>
        <p:txBody>
          <a:bodyPr anchor="ctr"/>
          <a:lstStyle/>
          <a:p>
            <a:pPr algn="ctr"/>
            <a:r>
              <a:rPr lang="ru-RU" altLang="ru-RU" sz="3600" kern="0" dirty="0">
                <a:solidFill>
                  <a:schemeClr val="bg2"/>
                </a:solidFill>
              </a:rPr>
              <a:t>Интерпретация вершин и дуг.</a:t>
            </a:r>
            <a:endParaRPr lang="ru-RU" sz="3600" dirty="0"/>
          </a:p>
        </p:txBody>
      </p:sp>
    </p:spTree>
    <p:extLst>
      <p:ext uri="{BB962C8B-B14F-4D97-AF65-F5344CB8AC3E}">
        <p14:creationId xmlns:p14="http://schemas.microsoft.com/office/powerpoint/2010/main" val="4914589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152400"/>
            <a:ext cx="9144000" cy="762000"/>
          </a:xfrm>
        </p:spPr>
        <p:txBody>
          <a:bodyPr>
            <a:normAutofit/>
          </a:bodyPr>
          <a:lstStyle/>
          <a:p>
            <a:pPr algn="ctr" eaLnBrk="1" hangingPunct="1"/>
            <a:r>
              <a:rPr lang="ru-RU" altLang="ru-RU" sz="2800" dirty="0">
                <a:solidFill>
                  <a:schemeClr val="accent5">
                    <a:lumMod val="50000"/>
                  </a:schemeClr>
                </a:solidFill>
              </a:rPr>
              <a:t>Характеристика  модели</a:t>
            </a:r>
            <a:endParaRPr lang="ru-RU" altLang="ru-RU" sz="28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460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200" y="762000"/>
            <a:ext cx="8915400" cy="6172200"/>
          </a:xfrm>
        </p:spPr>
        <p:txBody>
          <a:bodyPr>
            <a:normAutofit fontScale="85000" lnSpcReduction="10000"/>
          </a:bodyPr>
          <a:lstStyle/>
          <a:p>
            <a:pPr eaLnBrk="1" hangingPunct="1">
              <a:lnSpc>
                <a:spcPct val="120000"/>
              </a:lnSpc>
              <a:defRPr/>
            </a:pPr>
            <a:r>
              <a:rPr lang="ru-RU" altLang="ru-RU" sz="2400" dirty="0"/>
              <a:t>В отличие от ранее указанных моделей, данные в «</a:t>
            </a:r>
            <a:r>
              <a:rPr lang="ru-RU" sz="2400" dirty="0" err="1"/>
              <a:t>полуструктурированной</a:t>
            </a:r>
            <a:r>
              <a:rPr lang="ru-RU" sz="2400" dirty="0"/>
              <a:t>» модели</a:t>
            </a:r>
            <a:r>
              <a:rPr lang="en-US" sz="2400" dirty="0"/>
              <a:t> </a:t>
            </a:r>
            <a:r>
              <a:rPr lang="ru-RU" sz="2400" dirty="0"/>
              <a:t>данных </a:t>
            </a:r>
            <a:r>
              <a:rPr lang="ru-RU" sz="2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самодостаточны: </a:t>
            </a:r>
            <a:r>
              <a:rPr lang="ru-RU" sz="2300" dirty="0">
                <a:cs typeface="Times New Roman" panose="02020603050405020304" pitchFamily="18" charset="0"/>
              </a:rPr>
              <a:t>схема представления данных содержится в них самих.</a:t>
            </a:r>
            <a:endParaRPr lang="ru-RU" altLang="ru-RU" sz="2300" dirty="0">
              <a:cs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  <a:defRPr/>
            </a:pPr>
            <a:r>
              <a:rPr lang="ru-RU" altLang="ru-RU" sz="2400" dirty="0"/>
              <a:t>Каждая вершина графа, кроме корневой обладает одной или несколькими входящими дугами, и метка, которой снабжена дуга указывает на функцию, выполняемую вершиной по отношению к вершине на другом конце дуги.</a:t>
            </a:r>
          </a:p>
          <a:p>
            <a:pPr eaLnBrk="1" hangingPunct="1">
              <a:lnSpc>
                <a:spcPct val="120000"/>
              </a:lnSpc>
              <a:defRPr/>
            </a:pPr>
            <a:r>
              <a:rPr lang="ru-RU" altLang="ru-RU" sz="2400" dirty="0"/>
              <a:t>Такой подход дает гибкость при развитии системы. Не нужно переопределять структуру базы данных.</a:t>
            </a:r>
            <a:endParaRPr lang="ru-RU" altLang="ru-RU" sz="2000" dirty="0"/>
          </a:p>
          <a:p>
            <a:pPr eaLnBrk="1" hangingPunct="1">
              <a:lnSpc>
                <a:spcPct val="120000"/>
              </a:lnSpc>
              <a:defRPr/>
            </a:pPr>
            <a:r>
              <a:rPr lang="ru-RU" altLang="ru-RU" sz="2400" dirty="0"/>
              <a:t>Однако при фиксированной схеме данных можно предусмотреть структуры хранения, которые гарантируют высокую эффективность обработки запросов. И в целом считается, что для хранения больших объемов информации выгоды от фиксированной структуры перевешивают выигрыш в гибкости</a:t>
            </a:r>
          </a:p>
          <a:p>
            <a:pPr eaLnBrk="1" hangingPunct="1">
              <a:lnSpc>
                <a:spcPct val="120000"/>
              </a:lnSpc>
              <a:defRPr/>
            </a:pPr>
            <a:r>
              <a:rPr lang="ru-RU" altLang="ru-RU" sz="2400" dirty="0"/>
              <a:t>Гибкость модели </a:t>
            </a:r>
            <a:r>
              <a:rPr lang="ru-RU" sz="2400" dirty="0"/>
              <a:t>полуструктурированных данных, однако, важна в приложениях двух категорий: системы хранения документов, инструмент интеграции информации.</a:t>
            </a:r>
            <a:endParaRPr lang="ru-RU" sz="2400" kern="1200" dirty="0"/>
          </a:p>
        </p:txBody>
      </p:sp>
      <p:sp>
        <p:nvSpPr>
          <p:cNvPr id="6148" name="Номер слайда 1"/>
          <p:cNvSpPr>
            <a:spLocks noGrp="1"/>
          </p:cNvSpPr>
          <p:nvPr>
            <p:ph type="sldNum" sz="quarter" idx="11"/>
          </p:nvPr>
        </p:nvSpPr>
        <p:spPr>
          <a:xfrm>
            <a:off x="8001000" y="6248400"/>
            <a:ext cx="685800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A55683A9-8EA6-427B-8752-4E4A773C2B1B}" type="slidenum">
              <a:rPr lang="ru-RU" altLang="ru-RU" smtClean="0">
                <a:latin typeface="Arial Black" pitchFamily="34" charset="0"/>
              </a:rPr>
              <a:pPr eaLnBrk="1" hangingPunct="1"/>
              <a:t>9</a:t>
            </a:fld>
            <a:endParaRPr lang="ru-RU" altLang="ru-RU" dirty="0">
              <a:latin typeface="Arial Black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60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60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60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60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60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60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460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460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460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460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460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460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460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460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460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08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0"/>
            <a:ext cx="8458200" cy="838200"/>
          </a:xfrm>
        </p:spPr>
        <p:txBody>
          <a:bodyPr/>
          <a:lstStyle/>
          <a:p>
            <a:pPr algn="ctr" eaLnBrk="1" hangingPunct="1"/>
            <a:r>
              <a:rPr lang="ru-RU" altLang="ru-RU" sz="3200" dirty="0">
                <a:solidFill>
                  <a:schemeClr val="accent5">
                    <a:lumMod val="50000"/>
                  </a:schemeClr>
                </a:solidFill>
              </a:rPr>
              <a:t>Проблема </a:t>
            </a:r>
            <a:r>
              <a:rPr lang="ru-RU" altLang="ru-RU" sz="3200" dirty="0" smtClean="0">
                <a:solidFill>
                  <a:schemeClr val="accent5">
                    <a:lumMod val="50000"/>
                  </a:schemeClr>
                </a:solidFill>
              </a:rPr>
              <a:t>интеграци</a:t>
            </a:r>
            <a:r>
              <a:rPr lang="ru-RU" altLang="ru-RU" sz="3200" dirty="0">
                <a:solidFill>
                  <a:schemeClr val="accent5">
                    <a:lumMod val="50000"/>
                  </a:schemeClr>
                </a:solidFill>
              </a:rPr>
              <a:t>и</a:t>
            </a:r>
            <a:r>
              <a:rPr lang="ru-RU" altLang="ru-RU" sz="3200" dirty="0" smtClean="0">
                <a:solidFill>
                  <a:schemeClr val="accent5">
                    <a:lumMod val="50000"/>
                  </a:schemeClr>
                </a:solidFill>
              </a:rPr>
              <a:t> </a:t>
            </a:r>
            <a:r>
              <a:rPr lang="ru-RU" altLang="ru-RU" sz="3200" dirty="0">
                <a:solidFill>
                  <a:schemeClr val="accent5">
                    <a:lumMod val="50000"/>
                  </a:schemeClr>
                </a:solidFill>
              </a:rPr>
              <a:t>информации</a:t>
            </a:r>
          </a:p>
        </p:txBody>
      </p:sp>
      <p:sp>
        <p:nvSpPr>
          <p:cNvPr id="460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200" y="914400"/>
            <a:ext cx="8991600" cy="5791200"/>
          </a:xfrm>
        </p:spPr>
        <p:txBody>
          <a:bodyPr>
            <a:normAutofit lnSpcReduction="10000"/>
          </a:bodyPr>
          <a:lstStyle/>
          <a:p>
            <a:pPr eaLnBrk="1" hangingPunct="1">
              <a:lnSpc>
                <a:spcPct val="120000"/>
              </a:lnSpc>
              <a:defRPr/>
            </a:pPr>
            <a:r>
              <a:rPr lang="ru-RU" altLang="ru-RU" sz="2400" dirty="0"/>
              <a:t>Рост числа баз данных порождает стремление использовать их совместно и также эффективно как будто данные хранятся в одной базе.</a:t>
            </a:r>
          </a:p>
          <a:p>
            <a:pPr eaLnBrk="1" hangingPunct="1">
              <a:lnSpc>
                <a:spcPct val="120000"/>
              </a:lnSpc>
              <a:defRPr/>
            </a:pPr>
            <a:r>
              <a:rPr lang="ru-RU" altLang="ru-RU" sz="2400" dirty="0"/>
              <a:t>Описание даже одинаковых предметных областей в разных базах данных нередко значительно отличаются. Например, данные отдела кадров могут иметь разные структуры</a:t>
            </a:r>
            <a:endParaRPr lang="ru-RU" altLang="ru-RU" sz="2400" b="1" dirty="0"/>
          </a:p>
          <a:p>
            <a:pPr eaLnBrk="1" hangingPunct="1">
              <a:lnSpc>
                <a:spcPct val="120000"/>
              </a:lnSpc>
              <a:defRPr/>
            </a:pPr>
            <a:r>
              <a:rPr lang="ru-RU" altLang="ru-RU" sz="2400" dirty="0"/>
              <a:t>Базы данных могут использовать разные модели данных</a:t>
            </a:r>
          </a:p>
          <a:p>
            <a:pPr eaLnBrk="1" hangingPunct="1">
              <a:lnSpc>
                <a:spcPct val="120000"/>
              </a:lnSpc>
              <a:defRPr/>
            </a:pPr>
            <a:r>
              <a:rPr lang="ru-RU" altLang="ru-RU" sz="2400" dirty="0"/>
              <a:t>Базы данных со временем обрастают большим количеством приложений, переделывать которые для изменяющейся структуры просто нерентабельно. Этот эффект называют проблемой «унаследованных баз данных».</a:t>
            </a:r>
          </a:p>
        </p:txBody>
      </p:sp>
      <p:sp>
        <p:nvSpPr>
          <p:cNvPr id="7172" name="Номер слайда 1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F32C9B71-5192-4AD5-B4A6-904D24153D21}" type="slidenum">
              <a:rPr lang="ru-RU" altLang="ru-RU" smtClean="0">
                <a:latin typeface="Arial Black" pitchFamily="34" charset="0"/>
              </a:rPr>
              <a:pPr eaLnBrk="1" hangingPunct="1"/>
              <a:t>10</a:t>
            </a:fld>
            <a:endParaRPr lang="ru-RU" altLang="ru-RU">
              <a:latin typeface="Arial Black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60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60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60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460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60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60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460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460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460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460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460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460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08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0"/>
            <a:ext cx="8458200" cy="838200"/>
          </a:xfrm>
        </p:spPr>
        <p:txBody>
          <a:bodyPr/>
          <a:lstStyle/>
          <a:p>
            <a:pPr algn="ctr" eaLnBrk="1" hangingPunct="1"/>
            <a:r>
              <a:rPr lang="ru-RU" altLang="ru-RU" sz="3200" dirty="0">
                <a:solidFill>
                  <a:schemeClr val="accent5">
                    <a:lumMod val="50000"/>
                  </a:schemeClr>
                </a:solidFill>
              </a:rPr>
              <a:t>Интеграция информации</a:t>
            </a:r>
          </a:p>
        </p:txBody>
      </p:sp>
      <p:sp>
        <p:nvSpPr>
          <p:cNvPr id="460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200" y="685800"/>
            <a:ext cx="9067800" cy="1676400"/>
          </a:xfrm>
        </p:spPr>
        <p:txBody>
          <a:bodyPr>
            <a:normAutofit fontScale="62500" lnSpcReduction="20000"/>
          </a:bodyPr>
          <a:lstStyle/>
          <a:p>
            <a:pPr eaLnBrk="1" hangingPunct="1">
              <a:lnSpc>
                <a:spcPct val="120000"/>
              </a:lnSpc>
              <a:defRPr/>
            </a:pPr>
            <a:r>
              <a:rPr lang="ru-RU" altLang="ru-RU" sz="2400" dirty="0"/>
              <a:t>Одно из решений этой проблемы может быть использование некоторого интерфейса, поддерживающего модель полуструктурированных данных, и связывающего разные базы данных.</a:t>
            </a:r>
          </a:p>
          <a:p>
            <a:pPr eaLnBrk="1" hangingPunct="1">
              <a:lnSpc>
                <a:spcPct val="120000"/>
              </a:lnSpc>
              <a:defRPr/>
            </a:pPr>
            <a:r>
              <a:rPr lang="ru-RU" altLang="ru-RU" sz="2400" dirty="0"/>
              <a:t>Унаследованные БД связаны в единое целое с помощью интерфейса</a:t>
            </a:r>
          </a:p>
          <a:p>
            <a:pPr eaLnBrk="1" hangingPunct="1">
              <a:lnSpc>
                <a:spcPct val="120000"/>
              </a:lnSpc>
              <a:defRPr/>
            </a:pPr>
            <a:r>
              <a:rPr lang="ru-RU" altLang="ru-RU" sz="2400" dirty="0"/>
              <a:t>Каждая из систем, тем не менее, остается в неприкосновенности и по прежнему работает с традиционными приложениями</a:t>
            </a:r>
          </a:p>
        </p:txBody>
      </p:sp>
      <p:sp>
        <p:nvSpPr>
          <p:cNvPr id="7172" name="Номер слайда 1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F32C9B71-5192-4AD5-B4A6-904D24153D21}" type="slidenum">
              <a:rPr lang="ru-RU" altLang="ru-RU" smtClean="0">
                <a:latin typeface="Arial Black" pitchFamily="34" charset="0"/>
              </a:rPr>
              <a:pPr eaLnBrk="1" hangingPunct="1"/>
              <a:t>11</a:t>
            </a:fld>
            <a:endParaRPr lang="ru-RU" altLang="ru-RU">
              <a:latin typeface="Arial Black" pitchFamily="34" charset="0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C867C0A7-1FA1-4D4F-AB07-75FE7C4DF4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2360386"/>
            <a:ext cx="6858000" cy="40658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31280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60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60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60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460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60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60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460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460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460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083" grpId="0" uiExpand="1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0"/>
            <a:ext cx="8458200" cy="838200"/>
          </a:xfrm>
        </p:spPr>
        <p:txBody>
          <a:bodyPr/>
          <a:lstStyle/>
          <a:p>
            <a:pPr algn="ctr" eaLnBrk="1" hangingPunct="1"/>
            <a:r>
              <a:rPr lang="ru-RU" altLang="ru-RU" sz="3200" dirty="0">
                <a:solidFill>
                  <a:schemeClr val="accent5">
                    <a:lumMod val="50000"/>
                  </a:schemeClr>
                </a:solidFill>
              </a:rPr>
              <a:t>Интерфейс</a:t>
            </a:r>
          </a:p>
        </p:txBody>
      </p:sp>
      <p:sp>
        <p:nvSpPr>
          <p:cNvPr id="460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200" y="914400"/>
            <a:ext cx="8991600" cy="5791200"/>
          </a:xfrm>
        </p:spPr>
        <p:txBody>
          <a:bodyPr>
            <a:normAutofit/>
          </a:bodyPr>
          <a:lstStyle/>
          <a:p>
            <a:pPr eaLnBrk="1" hangingPunct="1">
              <a:lnSpc>
                <a:spcPct val="120000"/>
              </a:lnSpc>
              <a:defRPr/>
            </a:pPr>
            <a:r>
              <a:rPr lang="ru-RU" altLang="ru-RU" sz="2400" dirty="0"/>
              <a:t>Для обеспечения гибкости интеграции интерфейс должен поддерживать модель </a:t>
            </a:r>
            <a:r>
              <a:rPr lang="ru-RU" sz="2400" dirty="0"/>
              <a:t>полуструктурированных</a:t>
            </a:r>
            <a:r>
              <a:rPr lang="en-US" sz="2400" dirty="0"/>
              <a:t> </a:t>
            </a:r>
            <a:r>
              <a:rPr lang="ru-RU" sz="2400" dirty="0"/>
              <a:t>данных</a:t>
            </a:r>
            <a:r>
              <a:rPr lang="ru-RU" altLang="ru-RU" sz="2400" dirty="0"/>
              <a:t>.</a:t>
            </a:r>
          </a:p>
          <a:p>
            <a:pPr eaLnBrk="1" hangingPunct="1">
              <a:lnSpc>
                <a:spcPct val="120000"/>
              </a:lnSpc>
              <a:defRPr/>
            </a:pPr>
            <a:r>
              <a:rPr lang="ru-RU" altLang="ru-RU" sz="2400" dirty="0"/>
              <a:t>Пользователь обращается к интерфейсу средствами языка запросов, соответствующих природе этих данных </a:t>
            </a:r>
            <a:endParaRPr lang="ru-RU" altLang="ru-RU" sz="2400" b="1" dirty="0"/>
          </a:p>
          <a:p>
            <a:pPr eaLnBrk="1" hangingPunct="1">
              <a:lnSpc>
                <a:spcPct val="120000"/>
              </a:lnSpc>
              <a:defRPr/>
            </a:pPr>
            <a:r>
              <a:rPr lang="ru-RU" sz="2400" dirty="0"/>
              <a:t>Полуструктурированные</a:t>
            </a:r>
            <a:r>
              <a:rPr lang="en-US" sz="2400" dirty="0"/>
              <a:t> </a:t>
            </a:r>
            <a:r>
              <a:rPr lang="ru-RU" sz="2400" dirty="0"/>
              <a:t>данные могут быть получены путем трансляции из баз-источников  </a:t>
            </a:r>
            <a:r>
              <a:rPr lang="ru-RU" altLang="ru-RU" sz="2400" dirty="0"/>
              <a:t>с помощью специальных компонентов, называемых оболочками (</a:t>
            </a:r>
            <a:r>
              <a:rPr lang="en-US" altLang="ru-RU" sz="2400" dirty="0"/>
              <a:t>wrappers</a:t>
            </a:r>
            <a:r>
              <a:rPr lang="en-US" altLang="ru-RU" sz="2400" dirty="0" smtClean="0"/>
              <a:t>)</a:t>
            </a:r>
            <a:r>
              <a:rPr lang="ru-RU" altLang="ru-RU" sz="2400" smtClean="0"/>
              <a:t>.</a:t>
            </a:r>
            <a:endParaRPr lang="en-US" altLang="ru-RU" sz="2400" dirty="0"/>
          </a:p>
          <a:p>
            <a:pPr eaLnBrk="1" hangingPunct="1">
              <a:lnSpc>
                <a:spcPct val="120000"/>
              </a:lnSpc>
              <a:defRPr/>
            </a:pPr>
            <a:r>
              <a:rPr lang="ru-RU" altLang="ru-RU" sz="2400" dirty="0"/>
              <a:t>С дугой стороны, интерфейс может и </a:t>
            </a:r>
            <a:r>
              <a:rPr lang="ru-RU" altLang="ru-RU" sz="2400" b="1" dirty="0"/>
              <a:t>не поддерживать собственно модель</a:t>
            </a:r>
            <a:r>
              <a:rPr lang="ru-RU" altLang="ru-RU" sz="2400" dirty="0"/>
              <a:t> </a:t>
            </a:r>
            <a:r>
              <a:rPr lang="ru-RU" sz="2400" dirty="0"/>
              <a:t>полуструктурированных</a:t>
            </a:r>
            <a:r>
              <a:rPr lang="en-US" sz="2400" dirty="0"/>
              <a:t> </a:t>
            </a:r>
            <a:r>
              <a:rPr lang="ru-RU" sz="2400" dirty="0"/>
              <a:t>данных, а просто преобразовывать поданный ему запрос в запрос к базам-источникам, учитывая их специфику</a:t>
            </a:r>
            <a:endParaRPr lang="ru-RU" altLang="ru-RU" sz="2400" dirty="0"/>
          </a:p>
        </p:txBody>
      </p:sp>
      <p:sp>
        <p:nvSpPr>
          <p:cNvPr id="7172" name="Номер слайда 1"/>
          <p:cNvSpPr>
            <a:spLocks noGrp="1"/>
          </p:cNvSpPr>
          <p:nvPr>
            <p:ph type="sldNum" sz="quarter" idx="11"/>
          </p:nvPr>
        </p:nvSpPr>
        <p:spPr>
          <a:xfrm>
            <a:off x="7848600" y="6248400"/>
            <a:ext cx="838200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F32C9B71-5192-4AD5-B4A6-904D24153D21}" type="slidenum">
              <a:rPr lang="ru-RU" altLang="ru-RU" smtClean="0">
                <a:latin typeface="Arial Black" pitchFamily="34" charset="0"/>
              </a:rPr>
              <a:pPr eaLnBrk="1" hangingPunct="1"/>
              <a:t>12</a:t>
            </a:fld>
            <a:endParaRPr lang="ru-RU" altLang="ru-RU" dirty="0">
              <a:latin typeface="Arial Black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538444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60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60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60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460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60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60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460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460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460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460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460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460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083" grpId="0" build="p"/>
    </p:bldLst>
  </p:timing>
</p:sld>
</file>

<file path=ppt/theme/theme1.xml><?xml version="1.0" encoding="utf-8"?>
<a:theme xmlns:a="http://schemas.openxmlformats.org/drawingml/2006/main" name="Пиксел">
  <a:themeElements>
    <a:clrScheme name="Пиксел 12">
      <a:dk1>
        <a:srgbClr val="000000"/>
      </a:dk1>
      <a:lt1>
        <a:srgbClr val="FFFFFF"/>
      </a:lt1>
      <a:dk2>
        <a:srgbClr val="000000"/>
      </a:dk2>
      <a:lt2>
        <a:srgbClr val="00007D"/>
      </a:lt2>
      <a:accent1>
        <a:srgbClr val="9999FF"/>
      </a:accent1>
      <a:accent2>
        <a:srgbClr val="9999CC"/>
      </a:accent2>
      <a:accent3>
        <a:srgbClr val="FFFFFF"/>
      </a:accent3>
      <a:accent4>
        <a:srgbClr val="000000"/>
      </a:accent4>
      <a:accent5>
        <a:srgbClr val="CACAFF"/>
      </a:accent5>
      <a:accent6>
        <a:srgbClr val="8A8AB9"/>
      </a:accent6>
      <a:hlink>
        <a:srgbClr val="666699"/>
      </a:hlink>
      <a:folHlink>
        <a:srgbClr val="CCCCE6"/>
      </a:folHlink>
    </a:clrScheme>
    <a:fontScheme name="Пиксел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Пиксел 1">
        <a:dk1>
          <a:srgbClr val="0066FF"/>
        </a:dk1>
        <a:lt1>
          <a:srgbClr val="FFFFFF"/>
        </a:lt1>
        <a:dk2>
          <a:srgbClr val="000066"/>
        </a:dk2>
        <a:lt2>
          <a:srgbClr val="FFFFFF"/>
        </a:lt2>
        <a:accent1>
          <a:srgbClr val="6699FF"/>
        </a:accent1>
        <a:accent2>
          <a:srgbClr val="3333FF"/>
        </a:accent2>
        <a:accent3>
          <a:srgbClr val="AAAAB8"/>
        </a:accent3>
        <a:accent4>
          <a:srgbClr val="DADADA"/>
        </a:accent4>
        <a:accent5>
          <a:srgbClr val="B8CAFF"/>
        </a:accent5>
        <a:accent6>
          <a:srgbClr val="2D2DE7"/>
        </a:accent6>
        <a:hlink>
          <a:srgbClr val="FFCC00"/>
        </a:hlink>
        <a:folHlink>
          <a:srgbClr val="00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Пиксел 2">
        <a:dk1>
          <a:srgbClr val="009999"/>
        </a:dk1>
        <a:lt1>
          <a:srgbClr val="FFFFFF"/>
        </a:lt1>
        <a:dk2>
          <a:srgbClr val="334B49"/>
        </a:dk2>
        <a:lt2>
          <a:srgbClr val="FFFFFF"/>
        </a:lt2>
        <a:accent1>
          <a:srgbClr val="33CCCC"/>
        </a:accent1>
        <a:accent2>
          <a:srgbClr val="008080"/>
        </a:accent2>
        <a:accent3>
          <a:srgbClr val="ADB1B1"/>
        </a:accent3>
        <a:accent4>
          <a:srgbClr val="DADADA"/>
        </a:accent4>
        <a:accent5>
          <a:srgbClr val="ADE2E2"/>
        </a:accent5>
        <a:accent6>
          <a:srgbClr val="007373"/>
        </a:accent6>
        <a:hlink>
          <a:srgbClr val="FFCC00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Пиксел 3">
        <a:dk1>
          <a:srgbClr val="006699"/>
        </a:dk1>
        <a:lt1>
          <a:srgbClr val="FFFFFF"/>
        </a:lt1>
        <a:dk2>
          <a:srgbClr val="333399"/>
        </a:dk2>
        <a:lt2>
          <a:srgbClr val="FFFFFF"/>
        </a:lt2>
        <a:accent1>
          <a:srgbClr val="0099CC"/>
        </a:accent1>
        <a:accent2>
          <a:srgbClr val="0386AF"/>
        </a:accent2>
        <a:accent3>
          <a:srgbClr val="ADADCA"/>
        </a:accent3>
        <a:accent4>
          <a:srgbClr val="DADADA"/>
        </a:accent4>
        <a:accent5>
          <a:srgbClr val="AACAE2"/>
        </a:accent5>
        <a:accent6>
          <a:srgbClr val="02799E"/>
        </a:accent6>
        <a:hlink>
          <a:srgbClr val="FFCC00"/>
        </a:hlink>
        <a:folHlink>
          <a:srgbClr val="66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Пиксел 4">
        <a:dk1>
          <a:srgbClr val="008080"/>
        </a:dk1>
        <a:lt1>
          <a:srgbClr val="FFFFFF"/>
        </a:lt1>
        <a:dk2>
          <a:srgbClr val="2F978D"/>
        </a:dk2>
        <a:lt2>
          <a:srgbClr val="FFFFFF"/>
        </a:lt2>
        <a:accent1>
          <a:srgbClr val="0099FF"/>
        </a:accent1>
        <a:accent2>
          <a:srgbClr val="009999"/>
        </a:accent2>
        <a:accent3>
          <a:srgbClr val="ADC9C5"/>
        </a:accent3>
        <a:accent4>
          <a:srgbClr val="DADADA"/>
        </a:accent4>
        <a:accent5>
          <a:srgbClr val="AACAFF"/>
        </a:accent5>
        <a:accent6>
          <a:srgbClr val="008A8A"/>
        </a:accent6>
        <a:hlink>
          <a:srgbClr val="FFFFCC"/>
        </a:hlink>
        <a:folHlink>
          <a:srgbClr val="70CAC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Пиксел 5">
        <a:dk1>
          <a:srgbClr val="822504"/>
        </a:dk1>
        <a:lt1>
          <a:srgbClr val="FFFFFF"/>
        </a:lt1>
        <a:dk2>
          <a:srgbClr val="330000"/>
        </a:dk2>
        <a:lt2>
          <a:srgbClr val="FFFFFF"/>
        </a:lt2>
        <a:accent1>
          <a:srgbClr val="FF9900"/>
        </a:accent1>
        <a:accent2>
          <a:srgbClr val="9E2A06"/>
        </a:accent2>
        <a:accent3>
          <a:srgbClr val="ADAAAA"/>
        </a:accent3>
        <a:accent4>
          <a:srgbClr val="DADADA"/>
        </a:accent4>
        <a:accent5>
          <a:srgbClr val="FFCAAA"/>
        </a:accent5>
        <a:accent6>
          <a:srgbClr val="8F2505"/>
        </a:accent6>
        <a:hlink>
          <a:srgbClr val="FF3300"/>
        </a:hlink>
        <a:folHlink>
          <a:srgbClr val="7C070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Пиксел 6">
        <a:dk1>
          <a:srgbClr val="336600"/>
        </a:dk1>
        <a:lt1>
          <a:srgbClr val="FFFFFF"/>
        </a:lt1>
        <a:dk2>
          <a:srgbClr val="4A7911"/>
        </a:dk2>
        <a:lt2>
          <a:srgbClr val="FFFFFF"/>
        </a:lt2>
        <a:accent1>
          <a:srgbClr val="666633"/>
        </a:accent1>
        <a:accent2>
          <a:srgbClr val="669900"/>
        </a:accent2>
        <a:accent3>
          <a:srgbClr val="B1BEAA"/>
        </a:accent3>
        <a:accent4>
          <a:srgbClr val="DADADA"/>
        </a:accent4>
        <a:accent5>
          <a:srgbClr val="B8B8AD"/>
        </a:accent5>
        <a:accent6>
          <a:srgbClr val="5C8A00"/>
        </a:accent6>
        <a:hlink>
          <a:srgbClr val="FFCC00"/>
        </a:hlink>
        <a:folHlink>
          <a:srgbClr val="99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Пиксел 7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Пиксел 8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FFFFFF"/>
        </a:accent3>
        <a:accent4>
          <a:srgbClr val="002A00"/>
        </a:accent4>
        <a:accent5>
          <a:srgbClr val="E2E2AA"/>
        </a:accent5>
        <a:accent6>
          <a:srgbClr val="5C8A00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Пиксел 9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FFFFFF"/>
        </a:accent3>
        <a:accent4>
          <a:srgbClr val="000000"/>
        </a:accent4>
        <a:accent5>
          <a:srgbClr val="FFE2E2"/>
        </a:accent5>
        <a:accent6>
          <a:srgbClr val="6D046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Пиксел 10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E39310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Пиксел 11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EB0C3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Пиксел 12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FFFFFF"/>
        </a:accent3>
        <a:accent4>
          <a:srgbClr val="000000"/>
        </a:accent4>
        <a:accent5>
          <a:srgbClr val="CACAFF"/>
        </a:accent5>
        <a:accent6>
          <a:srgbClr val="8A8AB9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Тема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Pixel</Template>
  <TotalTime>3805</TotalTime>
  <Words>4448</Words>
  <Application>Microsoft Office PowerPoint</Application>
  <PresentationFormat>Экран (4:3)</PresentationFormat>
  <Paragraphs>192</Paragraphs>
  <Slides>12</Slides>
  <Notes>11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7" baseType="lpstr">
      <vt:lpstr>Arial</vt:lpstr>
      <vt:lpstr>Arial Black</vt:lpstr>
      <vt:lpstr>Times New Roman</vt:lpstr>
      <vt:lpstr>Wingdings</vt:lpstr>
      <vt:lpstr>Пиксел</vt:lpstr>
      <vt:lpstr>Полуструктурированная модель данных</vt:lpstr>
      <vt:lpstr>Полуструктурированные данные</vt:lpstr>
      <vt:lpstr>Обоснование модели</vt:lpstr>
      <vt:lpstr>Представление данных. Граф. </vt:lpstr>
      <vt:lpstr>Представление данных. Пример.</vt:lpstr>
      <vt:lpstr>Интерпретация вершин и дуг.</vt:lpstr>
      <vt:lpstr>Интерпретация вершин и дуг.</vt:lpstr>
      <vt:lpstr>Интерпретация вершин и дуг.</vt:lpstr>
      <vt:lpstr>Характеристика  модели</vt:lpstr>
      <vt:lpstr>Проблема интеграции информации</vt:lpstr>
      <vt:lpstr>Интеграция информации</vt:lpstr>
      <vt:lpstr>Интерфейс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Vista</dc:creator>
  <cp:lastModifiedBy>Def</cp:lastModifiedBy>
  <cp:revision>116</cp:revision>
  <cp:lastPrinted>1601-01-01T00:00:00Z</cp:lastPrinted>
  <dcterms:created xsi:type="dcterms:W3CDTF">2010-05-11T09:25:46Z</dcterms:created>
  <dcterms:modified xsi:type="dcterms:W3CDTF">2021-12-16T05:06:43Z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