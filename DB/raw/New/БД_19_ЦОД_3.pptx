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7.xml" ContentType="application/vnd.openxmlformats-officedocument.presentationml.tags+xml"/>
  <Override PartName="/ppt/notesSlides/notesSlide1.xml" ContentType="application/vnd.openxmlformats-officedocument.presentationml.notesSlide+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notesSlides/notesSlide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4.xml" ContentType="application/vnd.openxmlformats-officedocument.presentationml.notesSlide+xml"/>
  <Override PartName="/ppt/tags/tag75.xml" ContentType="application/vnd.openxmlformats-officedocument.presentationml.tags+xml"/>
  <Override PartName="/ppt/notesSlides/notesSlide5.xml" ContentType="application/vnd.openxmlformats-officedocument.presentationml.notesSlide+xml"/>
  <Override PartName="/ppt/tags/tag76.xml" ContentType="application/vnd.openxmlformats-officedocument.presentationml.tags+xml"/>
  <Override PartName="/ppt/notesSlides/notesSlide6.xml" ContentType="application/vnd.openxmlformats-officedocument.presentationml.notesSlide+xml"/>
  <Override PartName="/ppt/tags/tag77.xml" ContentType="application/vnd.openxmlformats-officedocument.presentationml.tags+xml"/>
  <Override PartName="/ppt/notesSlides/notesSlide7.xml" ContentType="application/vnd.openxmlformats-officedocument.presentationml.notesSlide+xml"/>
  <Override PartName="/ppt/tags/tag78.xml" ContentType="application/vnd.openxmlformats-officedocument.presentationml.tags+xml"/>
  <Override PartName="/ppt/notesSlides/notesSlide8.xml" ContentType="application/vnd.openxmlformats-officedocument.presentationml.notesSlide+xml"/>
  <Override PartName="/ppt/tags/tag79.xml" ContentType="application/vnd.openxmlformats-officedocument.presentationml.tags+xml"/>
  <Override PartName="/ppt/notesSlides/notesSlide9.xml" ContentType="application/vnd.openxmlformats-officedocument.presentationml.notesSlide+xml"/>
  <Override PartName="/ppt/tags/tag80.xml" ContentType="application/vnd.openxmlformats-officedocument.presentationml.tags+xml"/>
  <Override PartName="/ppt/notesSlides/notesSlide10.xml" ContentType="application/vnd.openxmlformats-officedocument.presentationml.notesSlide+xml"/>
  <Override PartName="/ppt/tags/tag81.xml" ContentType="application/vnd.openxmlformats-officedocument.presentationml.tags+xml"/>
  <Override PartName="/ppt/notesSlides/notesSlide11.xml" ContentType="application/vnd.openxmlformats-officedocument.presentationml.notesSlide+xml"/>
  <Override PartName="/ppt/tags/tag82.xml" ContentType="application/vnd.openxmlformats-officedocument.presentationml.tags+xml"/>
  <Override PartName="/ppt/notesSlides/notesSlide12.xml" ContentType="application/vnd.openxmlformats-officedocument.presentationml.notesSlide+xml"/>
  <Override PartName="/ppt/tags/tag83.xml" ContentType="application/vnd.openxmlformats-officedocument.presentationml.tags+xml"/>
  <Override PartName="/ppt/notesSlides/notesSlide13.xml" ContentType="application/vnd.openxmlformats-officedocument.presentationml.notesSlide+xml"/>
  <Override PartName="/ppt/tags/tag84.xml" ContentType="application/vnd.openxmlformats-officedocument.presentationml.tags+xml"/>
  <Override PartName="/ppt/notesSlides/notesSlide14.xml" ContentType="application/vnd.openxmlformats-officedocument.presentationml.notesSlide+xml"/>
  <Override PartName="/ppt/tags/tag85.xml" ContentType="application/vnd.openxmlformats-officedocument.presentationml.tags+xml"/>
  <Override PartName="/ppt/notesSlides/notesSlide15.xml" ContentType="application/vnd.openxmlformats-officedocument.presentationml.notesSlide+xml"/>
  <Override PartName="/ppt/tags/tag86.xml" ContentType="application/vnd.openxmlformats-officedocument.presentationml.tags+xml"/>
  <Override PartName="/ppt/notesSlides/notesSlide1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7.xml" ContentType="application/vnd.openxmlformats-officedocument.presentationml.notesSlide+xml"/>
  <Override PartName="/ppt/tags/tag100.xml" ContentType="application/vnd.openxmlformats-officedocument.presentationml.tags+xml"/>
  <Override PartName="/ppt/notesSlides/notesSlide18.xml" ContentType="application/vnd.openxmlformats-officedocument.presentationml.notesSlide+xml"/>
  <Override PartName="/ppt/tags/tag101.xml" ContentType="application/vnd.openxmlformats-officedocument.presentationml.tags+xml"/>
  <Override PartName="/ppt/notesSlides/notesSlide19.xml" ContentType="application/vnd.openxmlformats-officedocument.presentationml.notesSlide+xml"/>
  <Override PartName="/ppt/tags/tag102.xml" ContentType="application/vnd.openxmlformats-officedocument.presentationml.tags+xml"/>
  <Override PartName="/ppt/notesSlides/notesSlide20.xml" ContentType="application/vnd.openxmlformats-officedocument.presentationml.notesSlide+xml"/>
  <Override PartName="/ppt/tags/tag103.xml" ContentType="application/vnd.openxmlformats-officedocument.presentationml.tags+xml"/>
  <Override PartName="/ppt/notesSlides/notesSlide21.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2.xml" ContentType="application/vnd.openxmlformats-officedocument.presentationml.notesSlide+xml"/>
  <Override PartName="/ppt/tags/tag108.xml" ContentType="application/vnd.openxmlformats-officedocument.presentationml.tags+xml"/>
  <Override PartName="/ppt/notesSlides/notesSlide23.xml" ContentType="application/vnd.openxmlformats-officedocument.presentationml.notesSlide+xml"/>
  <Override PartName="/ppt/tags/tag109.xml" ContentType="application/vnd.openxmlformats-officedocument.presentationml.tags+xml"/>
  <Override PartName="/ppt/notesSlides/notesSlide24.xml" ContentType="application/vnd.openxmlformats-officedocument.presentationml.notesSlide+xml"/>
  <Override PartName="/ppt/tags/tag110.xml" ContentType="application/vnd.openxmlformats-officedocument.presentationml.tags+xml"/>
  <Override PartName="/ppt/notesSlides/notesSlide25.xml" ContentType="application/vnd.openxmlformats-officedocument.presentationml.notesSlide+xml"/>
  <Override PartName="/ppt/tags/tag111.xml" ContentType="application/vnd.openxmlformats-officedocument.presentationml.tags+xml"/>
  <Override PartName="/ppt/notesSlides/notesSlide26.xml" ContentType="application/vnd.openxmlformats-officedocument.presentationml.notesSlide+xml"/>
  <Override PartName="/ppt/tags/tag112.xml" ContentType="application/vnd.openxmlformats-officedocument.presentationml.tags+xml"/>
  <Override PartName="/ppt/notesSlides/notesSlide27.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28.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29.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30.xml" ContentType="application/vnd.openxmlformats-officedocument.presentationml.notesSlide+xml"/>
  <Override PartName="/ppt/tags/tag178.xml" ContentType="application/vnd.openxmlformats-officedocument.presentationml.tags+xml"/>
  <Override PartName="/ppt/notesSlides/notesSlide31.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32.xml" ContentType="application/vnd.openxmlformats-officedocument.presentationml.notesSlide+xml"/>
  <Override PartName="/ppt/tags/tag210.xml" ContentType="application/vnd.openxmlformats-officedocument.presentationml.tags+xml"/>
  <Override PartName="/ppt/notesSlides/notesSlide33.xml" ContentType="application/vnd.openxmlformats-officedocument.presentationml.notesSlide+xml"/>
  <Override PartName="/ppt/tags/tag211.xml" ContentType="application/vnd.openxmlformats-officedocument.presentationml.tags+xml"/>
  <Override PartName="/ppt/notesSlides/notesSlide34.xml" ContentType="application/vnd.openxmlformats-officedocument.presentationml.notesSlide+xml"/>
  <Override PartName="/ppt/tags/tag212.xml" ContentType="application/vnd.openxmlformats-officedocument.presentationml.tags+xml"/>
  <Override PartName="/ppt/notesSlides/notesSlide35.xml" ContentType="application/vnd.openxmlformats-officedocument.presentationml.notesSlide+xml"/>
  <Override PartName="/ppt/tags/tag213.xml" ContentType="application/vnd.openxmlformats-officedocument.presentationml.tags+xml"/>
  <Override PartName="/ppt/notesSlides/notesSlide36.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37.xml" ContentType="application/vnd.openxmlformats-officedocument.presentationml.notesSlide+xml"/>
  <Override PartName="/ppt/tags/tag234.xml" ContentType="application/vnd.openxmlformats-officedocument.presentationml.tags+xml"/>
  <Override PartName="/ppt/notesSlides/notesSlide38.xml" ContentType="application/vnd.openxmlformats-officedocument.presentationml.notesSlide+xml"/>
  <Override PartName="/ppt/tags/tag235.xml" ContentType="application/vnd.openxmlformats-officedocument.presentationml.tags+xml"/>
  <Override PartName="/ppt/notesSlides/notesSlide39.xml" ContentType="application/vnd.openxmlformats-officedocument.presentationml.notesSlide+xml"/>
  <Override PartName="/ppt/tags/tag236.xml" ContentType="application/vnd.openxmlformats-officedocument.presentationml.tags+xml"/>
  <Override PartName="/ppt/notesSlides/notesSlide40.xml" ContentType="application/vnd.openxmlformats-officedocument.presentationml.notesSlide+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notesSlides/notesSlide41.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notesSlides/notesSlide42.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notesSlides/notesSlide4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86.xml" ContentType="application/vnd.openxmlformats-officedocument.presentationml.tags+xml"/>
  <Override PartName="/ppt/notesSlides/notesSlide44.xml" ContentType="application/vnd.openxmlformats-officedocument.presentationml.notesSlide+xml"/>
  <Override PartName="/ppt/tags/tag287.xml" ContentType="application/vnd.openxmlformats-officedocument.presentationml.tags+xml"/>
  <Override PartName="/ppt/notesSlides/notesSlide45.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notesSlides/notesSlide46.xml" ContentType="application/vnd.openxmlformats-officedocument.presentationml.notesSlide+xml"/>
  <Override PartName="/ppt/tags/tag302.xml" ContentType="application/vnd.openxmlformats-officedocument.presentationml.tags+xml"/>
  <Override PartName="/ppt/notesSlides/notesSlide47.xml" ContentType="application/vnd.openxmlformats-officedocument.presentationml.notesSlide+xml"/>
  <Override PartName="/ppt/tags/tag303.xml" ContentType="application/vnd.openxmlformats-officedocument.presentationml.tags+xml"/>
  <Override PartName="/ppt/notesSlides/notesSlide48.xml" ContentType="application/vnd.openxmlformats-officedocument.presentationml.notesSlide+xml"/>
  <Override PartName="/ppt/tags/tag304.xml" ContentType="application/vnd.openxmlformats-officedocument.presentationml.tags+xml"/>
  <Override PartName="/ppt/notesSlides/notesSlide49.xml" ContentType="application/vnd.openxmlformats-officedocument.presentationml.notesSlide+xml"/>
  <Override PartName="/ppt/tags/tag305.xml" ContentType="application/vnd.openxmlformats-officedocument.presentationml.tags+xml"/>
  <Override PartName="/ppt/notesSlides/notesSlide50.xml" ContentType="application/vnd.openxmlformats-officedocument.presentationml.notesSlide+xml"/>
  <Override PartName="/ppt/tags/tag306.xml" ContentType="application/vnd.openxmlformats-officedocument.presentationml.tags+xml"/>
  <Override PartName="/ppt/notesSlides/notesSlide51.xml" ContentType="application/vnd.openxmlformats-officedocument.presentationml.notesSlide+xml"/>
  <Override PartName="/ppt/tags/tag307.xml" ContentType="application/vnd.openxmlformats-officedocument.presentationml.tags+xml"/>
  <Override PartName="/ppt/notesSlides/notesSlide52.xml" ContentType="application/vnd.openxmlformats-officedocument.presentationml.notesSlide+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53.xml" ContentType="application/vnd.openxmlformats-officedocument.presentationml.notesSlide+xml"/>
  <Override PartName="/ppt/tags/tag325.xml" ContentType="application/vnd.openxmlformats-officedocument.presentationml.tags+xml"/>
  <Override PartName="/ppt/notesSlides/notesSlide54.xml" ContentType="application/vnd.openxmlformats-officedocument.presentationml.notesSlide+xml"/>
  <Override PartName="/ppt/tags/tag326.xml" ContentType="application/vnd.openxmlformats-officedocument.presentationml.tags+xml"/>
  <Override PartName="/ppt/notesSlides/notesSlide55.xml" ContentType="application/vnd.openxmlformats-officedocument.presentationml.notesSlide+xml"/>
  <Override PartName="/ppt/tags/tag327.xml" ContentType="application/vnd.openxmlformats-officedocument.presentationml.tags+xml"/>
  <Override PartName="/ppt/notesSlides/notesSlide56.xml" ContentType="application/vnd.openxmlformats-officedocument.presentationml.notesSlide+xml"/>
  <Override PartName="/ppt/tags/tag328.xml" ContentType="application/vnd.openxmlformats-officedocument.presentationml.tags+xml"/>
  <Override PartName="/ppt/notesSlides/notesSlide57.xml" ContentType="application/vnd.openxmlformats-officedocument.presentationml.notesSlide+xml"/>
  <Override PartName="/ppt/tags/tag329.xml" ContentType="application/vnd.openxmlformats-officedocument.presentationml.tags+xml"/>
  <Override PartName="/ppt/notesSlides/notesSlide58.xml" ContentType="application/vnd.openxmlformats-officedocument.presentationml.notesSlide+xml"/>
  <Override PartName="/ppt/tags/tag330.xml" ContentType="application/vnd.openxmlformats-officedocument.presentationml.tags+xml"/>
  <Override PartName="/ppt/notesSlides/notesSlide59.xml" ContentType="application/vnd.openxmlformats-officedocument.presentationml.notesSlide+xml"/>
  <Override PartName="/ppt/tags/tag331.xml" ContentType="application/vnd.openxmlformats-officedocument.presentationml.tags+xml"/>
  <Override PartName="/ppt/notesSlides/notesSlide60.xml" ContentType="application/vnd.openxmlformats-officedocument.presentationml.notesSlide+xml"/>
  <Override PartName="/ppt/tags/tag332.xml" ContentType="application/vnd.openxmlformats-officedocument.presentationml.tags+xml"/>
  <Override PartName="/ppt/notesSlides/notesSlide61.xml" ContentType="application/vnd.openxmlformats-officedocument.presentationml.notesSlide+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notesSlides/notesSlide62.xml" ContentType="application/vnd.openxmlformats-officedocument.presentationml.notesSlide+xml"/>
  <Override PartName="/ppt/tags/tag337.xml" ContentType="application/vnd.openxmlformats-officedocument.presentationml.tags+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 id="2147483776" r:id="rId2"/>
  </p:sldMasterIdLst>
  <p:notesMasterIdLst>
    <p:notesMasterId r:id="rId66"/>
  </p:notesMasterIdLst>
  <p:handoutMasterIdLst>
    <p:handoutMasterId r:id="rId67"/>
  </p:handoutMasterIdLst>
  <p:sldIdLst>
    <p:sldId id="494" r:id="rId3"/>
    <p:sldId id="495" r:id="rId4"/>
    <p:sldId id="313" r:id="rId5"/>
    <p:sldId id="314" r:id="rId6"/>
    <p:sldId id="321" r:id="rId7"/>
    <p:sldId id="406" r:id="rId8"/>
    <p:sldId id="407" r:id="rId9"/>
    <p:sldId id="408" r:id="rId10"/>
    <p:sldId id="409" r:id="rId11"/>
    <p:sldId id="410" r:id="rId12"/>
    <p:sldId id="411" r:id="rId13"/>
    <p:sldId id="412" r:id="rId14"/>
    <p:sldId id="477" r:id="rId15"/>
    <p:sldId id="319" r:id="rId16"/>
    <p:sldId id="416" r:id="rId17"/>
    <p:sldId id="417" r:id="rId18"/>
    <p:sldId id="418" r:id="rId19"/>
    <p:sldId id="420" r:id="rId20"/>
    <p:sldId id="421" r:id="rId21"/>
    <p:sldId id="422" r:id="rId22"/>
    <p:sldId id="423" r:id="rId23"/>
    <p:sldId id="424" r:id="rId24"/>
    <p:sldId id="490" r:id="rId25"/>
    <p:sldId id="425" r:id="rId26"/>
    <p:sldId id="427" r:id="rId27"/>
    <p:sldId id="429" r:id="rId28"/>
    <p:sldId id="443" r:id="rId29"/>
    <p:sldId id="444" r:id="rId30"/>
    <p:sldId id="445" r:id="rId31"/>
    <p:sldId id="446" r:id="rId32"/>
    <p:sldId id="447" r:id="rId33"/>
    <p:sldId id="448" r:id="rId34"/>
    <p:sldId id="449" r:id="rId35"/>
    <p:sldId id="450" r:id="rId36"/>
    <p:sldId id="452" r:id="rId37"/>
    <p:sldId id="454" r:id="rId38"/>
    <p:sldId id="456" r:id="rId39"/>
    <p:sldId id="458" r:id="rId40"/>
    <p:sldId id="459" r:id="rId41"/>
    <p:sldId id="460" r:id="rId42"/>
    <p:sldId id="461" r:id="rId43"/>
    <p:sldId id="462" r:id="rId44"/>
    <p:sldId id="463" r:id="rId45"/>
    <p:sldId id="465" r:id="rId46"/>
    <p:sldId id="466" r:id="rId47"/>
    <p:sldId id="467" r:id="rId48"/>
    <p:sldId id="468" r:id="rId49"/>
    <p:sldId id="469" r:id="rId50"/>
    <p:sldId id="471" r:id="rId51"/>
    <p:sldId id="472" r:id="rId52"/>
    <p:sldId id="478" r:id="rId53"/>
    <p:sldId id="479" r:id="rId54"/>
    <p:sldId id="492" r:id="rId55"/>
    <p:sldId id="488" r:id="rId56"/>
    <p:sldId id="484" r:id="rId57"/>
    <p:sldId id="485" r:id="rId58"/>
    <p:sldId id="473" r:id="rId59"/>
    <p:sldId id="474" r:id="rId60"/>
    <p:sldId id="475" r:id="rId61"/>
    <p:sldId id="476" r:id="rId62"/>
    <p:sldId id="496" r:id="rId63"/>
    <p:sldId id="499" r:id="rId64"/>
    <p:sldId id="498" r:id="rId65"/>
  </p:sldIdLst>
  <p:sldSz cx="9144000" cy="5143500" type="screen16x9"/>
  <p:notesSz cx="6858000" cy="9144000"/>
  <p:custDataLst>
    <p:tags r:id="rId6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6">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2F9FAB"/>
    <a:srgbClr val="D75555"/>
    <a:srgbClr val="4CC44C"/>
    <a:srgbClr val="3ABCC9"/>
    <a:srgbClr val="A66BD3"/>
    <a:srgbClr val="8C3FC5"/>
    <a:srgbClr val="E1A809"/>
    <a:srgbClr val="6A696D"/>
    <a:srgbClr val="CE9A08"/>
    <a:srgbClr val="CDDD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7692" autoAdjust="0"/>
    <p:restoredTop sz="52904" autoAdjust="0"/>
  </p:normalViewPr>
  <p:slideViewPr>
    <p:cSldViewPr showGuides="1">
      <p:cViewPr varScale="1">
        <p:scale>
          <a:sx n="77" d="100"/>
          <a:sy n="77" d="100"/>
        </p:scale>
        <p:origin x="642" y="84"/>
      </p:cViewPr>
      <p:guideLst>
        <p:guide orient="horz" pos="3156"/>
        <p:guide orient="horz" pos="229"/>
        <p:guide pos="2879"/>
      </p:guideLst>
    </p:cSldViewPr>
  </p:slideViewPr>
  <p:outlineViewPr>
    <p:cViewPr>
      <p:scale>
        <a:sx n="33" d="100"/>
        <a:sy n="33" d="100"/>
      </p:scale>
      <p:origin x="0" y="648"/>
    </p:cViewPr>
  </p:outlineViewPr>
  <p:notesTextViewPr>
    <p:cViewPr>
      <p:scale>
        <a:sx n="100" d="100"/>
        <a:sy n="100" d="100"/>
      </p:scale>
      <p:origin x="0" y="0"/>
    </p:cViewPr>
  </p:notesTextViewPr>
  <p:sorterViewPr>
    <p:cViewPr>
      <p:scale>
        <a:sx n="158" d="100"/>
        <a:sy n="158" d="100"/>
      </p:scale>
      <p:origin x="0" y="26562"/>
    </p:cViewPr>
  </p:sorterViewPr>
  <p:notesViewPr>
    <p:cSldViewPr snapToObjects="1" showGuides="1">
      <p:cViewPr>
        <p:scale>
          <a:sx n="100" d="100"/>
          <a:sy n="100" d="100"/>
        </p:scale>
        <p:origin x="-1536" y="102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gs" Target="tags/tag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ru-RU" sz="1300" b="1" i="0" dirty="0">
              <a:solidFill>
                <a:schemeClr val="bg1"/>
              </a:solidFill>
              <a:latin typeface="Arial" pitchFamily="34" charset="0"/>
              <a:cs typeface="Arial" pitchFamily="34" charset="0"/>
            </a:rPr>
            <a:t>Накопитель на магнитных дисках</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1570FD84-DE20-4D45-A3DB-278A6B897D58}">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Возможность однократной записи и многократного чтения: CD, DVD, BD</a:t>
          </a:r>
        </a:p>
      </dgm:t>
    </dgm:pt>
    <dgm:pt modelId="{838439EE-3214-41F9-AC38-30FD25FDBCB5}">
      <dgm:prSet phldrT="[Text]" custT="1"/>
      <dgm:spPr>
        <a:solidFill>
          <a:srgbClr val="2C95DD"/>
        </a:solidFill>
      </dgm:spPr>
      <dgm:t>
        <a:bodyPr/>
        <a:lstStyle/>
        <a:p>
          <a:pPr algn="ctr"/>
          <a:r>
            <a:rPr lang="ru-RU" sz="1300" b="1" i="0" dirty="0">
              <a:solidFill>
                <a:schemeClr val="bg1"/>
              </a:solidFill>
              <a:latin typeface="Arial" pitchFamily="34" charset="0"/>
              <a:cs typeface="Arial" pitchFamily="34" charset="0"/>
            </a:rPr>
            <a:t>Оптический</a:t>
          </a:r>
          <a:r>
            <a:rPr lang="ru-RU" sz="1300" b="1" i="0" dirty="0">
              <a:solidFill>
                <a:srgbClr val="000000"/>
              </a:solidFill>
              <a:latin typeface="Arial" pitchFamily="34" charset="0"/>
              <a:cs typeface="Arial" pitchFamily="34" charset="0"/>
            </a:rPr>
            <a:t> </a:t>
          </a:r>
          <a:r>
            <a:rPr lang="ru-RU" sz="1300" b="1" i="0" dirty="0">
              <a:solidFill>
                <a:schemeClr val="bg1"/>
              </a:solidFill>
              <a:latin typeface="Arial" pitchFamily="34" charset="0"/>
              <a:cs typeface="Arial" pitchFamily="34" charset="0"/>
            </a:rPr>
            <a:t>дисковод</a:t>
          </a:r>
        </a:p>
      </dgm:t>
    </dgm:pt>
    <dgm:pt modelId="{5D2514EA-A986-4147-AB9D-A386E2D6A16E}" type="sibTrans" cxnId="{95A49458-6A1C-4126-AB6D-01B0BF9D545D}">
      <dgm:prSet/>
      <dgm:spPr/>
      <dgm:t>
        <a:bodyPr/>
        <a:lstStyle/>
        <a:p>
          <a:endParaRPr lang="en-US"/>
        </a:p>
      </dgm:t>
    </dgm:pt>
    <dgm:pt modelId="{350A0F01-3D89-456B-B852-8132A7C9D6B8}" type="parTrans" cxnId="{95A49458-6A1C-4126-AB6D-01B0BF9D545D}">
      <dgm:prSet/>
      <dgm:spPr/>
      <dgm:t>
        <a:bodyPr/>
        <a:lstStyle/>
        <a:p>
          <a:endParaRPr lang="en-US"/>
        </a:p>
      </dgm:t>
    </dgm:pt>
    <dgm:pt modelId="{3253797F-8417-4DC8-96E4-CCBB03A7DFDB}" type="sibTrans" cxnId="{C13B32A0-3B0B-45CB-A0B1-AF577E92E163}">
      <dgm:prSet/>
      <dgm:spPr/>
      <dgm:t>
        <a:bodyPr/>
        <a:lstStyle/>
        <a:p>
          <a:endParaRPr lang="en-US"/>
        </a:p>
      </dgm:t>
    </dgm:pt>
    <dgm:pt modelId="{7DA2F3D6-091B-43A0-9C11-8E9756B41878}" type="parTrans" cxnId="{C13B32A0-3B0B-45CB-A0B1-AF577E92E163}">
      <dgm:prSet/>
      <dgm:spPr/>
      <dgm:t>
        <a:bodyPr/>
        <a:lstStyle/>
        <a:p>
          <a:endParaRPr lang="en-US"/>
        </a:p>
      </dgm:t>
    </dgm:pt>
    <dgm:pt modelId="{F754AC32-DFAE-4B7B-A984-8811DD077048}">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Обеспечивает только последовательный доступ к данным</a:t>
          </a:r>
        </a:p>
      </dgm:t>
    </dgm:pt>
    <dgm:pt modelId="{AC398641-F75B-49B0-AAA0-3FDD29796580}">
      <dgm:prSet phldrT="[Text]" custT="1"/>
      <dgm:spPr>
        <a:solidFill>
          <a:srgbClr val="2C95DD"/>
        </a:solidFill>
      </dgm:spPr>
      <dgm:t>
        <a:bodyPr/>
        <a:lstStyle/>
        <a:p>
          <a:pPr algn="ctr"/>
          <a:r>
            <a:rPr lang="ru-RU" sz="1300" b="1" i="0" dirty="0">
              <a:solidFill>
                <a:schemeClr val="bg1"/>
              </a:solidFill>
              <a:latin typeface="Arial" pitchFamily="34" charset="0"/>
              <a:cs typeface="Arial" pitchFamily="34" charset="0"/>
            </a:rPr>
            <a:t>Магнитный ленточный накопитель</a:t>
          </a:r>
        </a:p>
      </dgm:t>
    </dgm:pt>
    <dgm:pt modelId="{07D91BC0-2E2A-461D-A121-5A51D4452482}" type="sibTrans" cxnId="{E7F166A4-0568-478E-AB87-2D7540EC0F6D}">
      <dgm:prSet/>
      <dgm:spPr/>
      <dgm:t>
        <a:bodyPr/>
        <a:lstStyle/>
        <a:p>
          <a:endParaRPr lang="en-US"/>
        </a:p>
      </dgm:t>
    </dgm:pt>
    <dgm:pt modelId="{1C207FBA-52A1-4559-8466-99CBB9692A60}" type="parTrans" cxnId="{E7F166A4-0568-478E-AB87-2D7540EC0F6D}">
      <dgm:prSet/>
      <dgm:spPr/>
      <dgm:t>
        <a:bodyPr/>
        <a:lstStyle/>
        <a:p>
          <a:endParaRPr lang="en-US"/>
        </a:p>
      </dgm:t>
    </dgm:pt>
    <dgm:pt modelId="{300ED5A2-22C4-458D-9DBF-C3E1020F7AC0}" type="sibTrans" cxnId="{079F9D88-B995-4A80-9149-74E2C602F0BF}">
      <dgm:prSet/>
      <dgm:spPr/>
      <dgm:t>
        <a:bodyPr/>
        <a:lstStyle/>
        <a:p>
          <a:endParaRPr lang="en-US"/>
        </a:p>
      </dgm:t>
    </dgm:pt>
    <dgm:pt modelId="{AC735B69-BAFE-4B81-8A96-4E3027624B57}" type="parTrans" cxnId="{079F9D88-B995-4A80-9149-74E2C602F0BF}">
      <dgm:prSet/>
      <dgm:spPr/>
      <dgm:t>
        <a:bodyPr/>
        <a:lstStyle/>
        <a:p>
          <a:endParaRPr lang="en-US"/>
        </a:p>
      </dgm:t>
    </dgm:pt>
    <dgm:pt modelId="{C743FFC3-A49F-457E-A1CC-A4D8CB253EDF}">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Данные хранятся в памяти на основе полупроводников</a:t>
          </a:r>
        </a:p>
      </dgm:t>
    </dgm:pt>
    <dgm:pt modelId="{CAAE5DB7-5AD0-4C3C-941D-80F392827B3F}">
      <dgm:prSet phldrT="[Text]" custT="1"/>
      <dgm:spPr>
        <a:solidFill>
          <a:srgbClr val="2C95DD"/>
        </a:solidFill>
      </dgm:spPr>
      <dgm:t>
        <a:bodyPr/>
        <a:lstStyle/>
        <a:p>
          <a:pPr algn="ctr"/>
          <a:r>
            <a:rPr lang="ru-RU" sz="1300" b="1" i="0" dirty="0">
              <a:solidFill>
                <a:schemeClr val="bg1"/>
              </a:solidFill>
              <a:latin typeface="Arial" pitchFamily="34" charset="0"/>
              <a:cs typeface="Arial" pitchFamily="34" charset="0"/>
            </a:rPr>
            <a:t>Твердотельный диск (флэш-диск)</a:t>
          </a:r>
        </a:p>
      </dgm:t>
    </dgm:pt>
    <dgm:pt modelId="{930CFCDD-17F1-4EEE-857C-550DD99ABC4B}" type="sibTrans" cxnId="{DD6CF901-000B-4F0D-8469-9CB7712D941A}">
      <dgm:prSet/>
      <dgm:spPr/>
      <dgm:t>
        <a:bodyPr/>
        <a:lstStyle/>
        <a:p>
          <a:endParaRPr lang="en-US"/>
        </a:p>
      </dgm:t>
    </dgm:pt>
    <dgm:pt modelId="{EDFB1E03-1CA6-4920-AF8C-9D77FDFB231A}" type="parTrans" cxnId="{DD6CF901-000B-4F0D-8469-9CB7712D941A}">
      <dgm:prSet/>
      <dgm:spPr/>
      <dgm:t>
        <a:bodyPr/>
        <a:lstStyle/>
        <a:p>
          <a:endParaRPr lang="en-US"/>
        </a:p>
      </dgm:t>
    </dgm:pt>
    <dgm:pt modelId="{EA0306B6-9F98-4FDB-AD0A-60204F7FB0BA}" type="sibTrans" cxnId="{75A21059-086D-43E1-A661-9D2C12984236}">
      <dgm:prSet/>
      <dgm:spPr/>
      <dgm:t>
        <a:bodyPr/>
        <a:lstStyle/>
        <a:p>
          <a:endParaRPr lang="en-US"/>
        </a:p>
      </dgm:t>
    </dgm:pt>
    <dgm:pt modelId="{C1B007B0-5FF2-4D81-869A-A2E40CF26344}" type="parTrans" cxnId="{75A21059-086D-43E1-A661-9D2C12984236}">
      <dgm:prSet/>
      <dgm:spPr/>
      <dgm:t>
        <a:bodyPr/>
        <a:lstStyle/>
        <a:p>
          <a:endParaRPr lang="en-US"/>
        </a:p>
      </dgm:t>
    </dgm:pt>
    <dgm:pt modelId="{D28A0571-94AD-4A8C-8022-8A98D5EA9FC0}">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Обеспечивает произвольный доступ для чтения и записи</a:t>
          </a:r>
        </a:p>
      </dgm:t>
    </dgm:pt>
    <dgm:pt modelId="{ED0AF154-C7D4-44B1-8188-AC9B1E78AFFA}" type="sibTrans" cxnId="{CD6A9B65-BBF3-4962-9A12-A1FA8858E054}">
      <dgm:prSet/>
      <dgm:spPr/>
      <dgm:t>
        <a:bodyPr/>
        <a:lstStyle/>
        <a:p>
          <a:endParaRPr lang="en-US"/>
        </a:p>
      </dgm:t>
    </dgm:pt>
    <dgm:pt modelId="{3EF951F3-D35F-457B-81D9-709A140FDCD1}" type="parTrans" cxnId="{CD6A9B65-BBF3-4962-9A12-A1FA8858E054}">
      <dgm:prSet/>
      <dgm:spPr/>
      <dgm:t>
        <a:bodyPr/>
        <a:lstStyle/>
        <a:p>
          <a:endParaRPr lang="en-US"/>
        </a:p>
      </dgm:t>
    </dgm:pt>
    <dgm:pt modelId="{27055167-B399-46DE-8742-467157225895}">
      <dgm:prSe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Самое популярное устройство хранения данных с большой емкостью хранения</a:t>
          </a:r>
        </a:p>
      </dgm:t>
    </dgm:pt>
    <dgm:pt modelId="{5DD10E72-C65F-4964-BA11-44A0B42A69EC}" type="parTrans" cxnId="{15EC1F3C-4F33-4385-87B7-B618D4B2AB5C}">
      <dgm:prSet/>
      <dgm:spPr/>
      <dgm:t>
        <a:bodyPr/>
        <a:lstStyle/>
        <a:p>
          <a:endParaRPr lang="en-US"/>
        </a:p>
      </dgm:t>
    </dgm:pt>
    <dgm:pt modelId="{A78E6A5D-BBEC-4E71-AD86-2A6E158104BC}" type="sibTrans" cxnId="{15EC1F3C-4F33-4385-87B7-B618D4B2AB5C}">
      <dgm:prSet/>
      <dgm:spPr/>
      <dgm:t>
        <a:bodyPr/>
        <a:lstStyle/>
        <a:p>
          <a:endParaRPr lang="en-US"/>
        </a:p>
      </dgm:t>
    </dgm:pt>
    <dgm:pt modelId="{705F8D8F-ACF0-4269-AA89-E924B28030DA}">
      <dgm:prSe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Чрезвычайно малые задержки операций ввода-вывода, низкое энергопотребление и очень высокая пропускная способность</a:t>
          </a:r>
        </a:p>
      </dgm:t>
    </dgm:pt>
    <dgm:pt modelId="{61F36A74-2FD7-4186-B2AB-7A55A4D65966}" type="parTrans" cxnId="{F525306B-6A7B-4ECC-946D-75873ACEBCEE}">
      <dgm:prSet/>
      <dgm:spPr/>
      <dgm:t>
        <a:bodyPr/>
        <a:lstStyle/>
        <a:p>
          <a:endParaRPr lang="en-US"/>
        </a:p>
      </dgm:t>
    </dgm:pt>
    <dgm:pt modelId="{6CCA1139-8160-4736-8545-5196490B03C6}" type="sibTrans" cxnId="{F525306B-6A7B-4ECC-946D-75873ACEBCEE}">
      <dgm:prSet/>
      <dgm:spPr/>
      <dgm:t>
        <a:bodyPr/>
        <a:lstStyle/>
        <a:p>
          <a:endParaRPr lang="en-US"/>
        </a:p>
      </dgm:t>
    </dgm:pt>
    <dgm:pt modelId="{BBF8A57F-8386-4F80-BBFF-AD366C111471}">
      <dgm:prSe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Недорогое решение для длительного хранения данных</a:t>
          </a:r>
        </a:p>
      </dgm:t>
    </dgm:pt>
    <dgm:pt modelId="{7BFB447E-C5A7-42D8-9604-C072AC3F9A9C}" type="parTrans" cxnId="{43AA1164-BDBF-4BDA-8397-7F023E85F2D1}">
      <dgm:prSet/>
      <dgm:spPr/>
      <dgm:t>
        <a:bodyPr/>
        <a:lstStyle/>
        <a:p>
          <a:endParaRPr lang="en-US"/>
        </a:p>
      </dgm:t>
    </dgm:pt>
    <dgm:pt modelId="{C3A2FF8E-CFBF-4083-9900-F73049C89E4C}" type="sibTrans" cxnId="{43AA1164-BDBF-4BDA-8397-7F023E85F2D1}">
      <dgm:prSet/>
      <dgm:spPr/>
      <dgm:t>
        <a:bodyPr/>
        <a:lstStyle/>
        <a:p>
          <a:endParaRPr lang="en-US"/>
        </a:p>
      </dgm:t>
    </dgm:pt>
    <dgm:pt modelId="{B584D601-7C22-4DBB-9722-B7B73F1E0307}">
      <dgm:prSe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Недорогое решение для длительного хранения данных</a:t>
          </a:r>
        </a:p>
      </dgm:t>
    </dgm:pt>
    <dgm:pt modelId="{858FBE9B-5EAC-4A77-B5B8-4D2EA2102FB4}" type="parTrans" cxnId="{8C164936-32A6-4114-9359-8B0E6C736600}">
      <dgm:prSet/>
      <dgm:spPr/>
      <dgm:t>
        <a:bodyPr/>
        <a:lstStyle/>
        <a:p>
          <a:endParaRPr lang="en-US"/>
        </a:p>
      </dgm:t>
    </dgm:pt>
    <dgm:pt modelId="{48D68964-44D1-43E8-B21F-DAB2B2D6D692}" type="sibTrans" cxnId="{8C164936-32A6-4114-9359-8B0E6C736600}">
      <dgm:prSet/>
      <dgm:spPr/>
      <dgm:t>
        <a:bodyPr/>
        <a:lstStyle/>
        <a:p>
          <a:endParaRPr lang="en-US"/>
        </a:p>
      </dgm:t>
    </dgm:pt>
    <dgm:pt modelId="{E2EED1A9-89AD-437B-9C19-5C8882ECA18B}">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Данные хранятся на вращающемся диске с ферромагнитным покрытием</a:t>
          </a:r>
        </a:p>
      </dgm:t>
    </dgm:pt>
    <dgm:pt modelId="{9164A035-3F52-426A-BC60-2F7CA5B272F3}" type="parTrans" cxnId="{E1982276-CD2B-481A-8D15-C1D39EAEB987}">
      <dgm:prSet/>
      <dgm:spPr/>
      <dgm:t>
        <a:bodyPr/>
        <a:lstStyle/>
        <a:p>
          <a:endParaRPr lang="en-US"/>
        </a:p>
      </dgm:t>
    </dgm:pt>
    <dgm:pt modelId="{9E108158-DD11-4376-9735-0F270D020E29}" type="sibTrans" cxnId="{E1982276-CD2B-481A-8D15-C1D39EAEB987}">
      <dgm:prSet/>
      <dgm:spPr/>
      <dgm:t>
        <a:bodyPr/>
        <a:lstStyle/>
        <a:p>
          <a:endParaRPr lang="en-US"/>
        </a:p>
      </dgm:t>
    </dgm:pt>
    <dgm:pt modelId="{B0657416-D910-4161-AD55-3F63F47B6E69}">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Данные хранятся на пластиковой пленке с магнитным покрытием</a:t>
          </a:r>
        </a:p>
      </dgm:t>
    </dgm:pt>
    <dgm:pt modelId="{5366F5E4-F50D-4118-9062-6D8269084ED1}" type="parTrans" cxnId="{E73B62EE-64FC-41A3-8C08-91346E5525A1}">
      <dgm:prSet/>
      <dgm:spPr/>
      <dgm:t>
        <a:bodyPr/>
        <a:lstStyle/>
        <a:p>
          <a:endParaRPr lang="en-US"/>
        </a:p>
      </dgm:t>
    </dgm:pt>
    <dgm:pt modelId="{36EA7470-1D42-4E23-B954-4E3DEF9C284E}" type="sibTrans" cxnId="{E73B62EE-64FC-41A3-8C08-91346E5525A1}">
      <dgm:prSet/>
      <dgm:spPr/>
      <dgm:t>
        <a:bodyPr/>
        <a:lstStyle/>
        <a:p>
          <a:endParaRPr lang="en-US"/>
        </a:p>
      </dgm:t>
    </dgm:pt>
    <dgm:pt modelId="{EA7F3E3B-5AAB-465F-AB24-FA24D1A7AA5E}">
      <dgm:prSet phldrT="[Text]" custT="1"/>
      <dgm:spPr/>
      <dgm:t>
        <a:bodyPr lIns="109728" tIns="54864" rIns="109728" bIns="54864"/>
        <a:lstStyle/>
        <a:p>
          <a:pPr marL="104775" indent="-104775"/>
          <a:r>
            <a:rPr lang="ru-RU" sz="1000" b="0" i="0" dirty="0">
              <a:solidFill>
                <a:srgbClr val="000000"/>
              </a:solidFill>
              <a:latin typeface="Arial" pitchFamily="34" charset="0"/>
              <a:cs typeface="Arial" pitchFamily="34" charset="0"/>
            </a:rPr>
            <a:t>Данные хранятся на поликарбонатном диске с отражающим покрытием</a:t>
          </a:r>
        </a:p>
      </dgm:t>
    </dgm:pt>
    <dgm:pt modelId="{079E5796-4C7F-4D6B-AC9C-1EC2FD41008B}" type="parTrans" cxnId="{867A3C8C-9E81-4E70-A192-81F62240694B}">
      <dgm:prSet/>
      <dgm:spPr/>
      <dgm:t>
        <a:bodyPr/>
        <a:lstStyle/>
        <a:p>
          <a:endParaRPr lang="en-US"/>
        </a:p>
      </dgm:t>
    </dgm:pt>
    <dgm:pt modelId="{0D8ABCCD-D636-4F1C-8721-36F13E9F2D28}" type="sibTrans" cxnId="{867A3C8C-9E81-4E70-A192-81F62240694B}">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4">
        <dgm:presLayoutVars>
          <dgm:chMax val="1"/>
          <dgm:bulletEnabled val="1"/>
        </dgm:presLayoutVars>
      </dgm:prSet>
      <dgm:spPr/>
    </dgm:pt>
    <dgm:pt modelId="{3B0AC266-B5BD-49ED-992C-2AC7D9193D50}" type="pres">
      <dgm:prSet presAssocID="{9C7872EB-5D7C-4735-9901-5B74061F9283}" presName="descendantText" presStyleLbl="alignAccFollowNode1" presStyleIdx="0" presStyleCnt="4">
        <dgm:presLayoutVars>
          <dgm:bulletEnabled val="1"/>
        </dgm:presLayoutVars>
      </dgm:prSet>
      <dgm:spPr/>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4">
        <dgm:presLayoutVars>
          <dgm:chMax val="1"/>
          <dgm:bulletEnabled val="1"/>
        </dgm:presLayoutVars>
      </dgm:prSet>
      <dgm:spPr/>
    </dgm:pt>
    <dgm:pt modelId="{227BF414-BF92-4AC7-8B37-F08BED37A5BA}" type="pres">
      <dgm:prSet presAssocID="{CAAE5DB7-5AD0-4C3C-941D-80F392827B3F}" presName="descendantText" presStyleLbl="alignAccFollowNode1" presStyleIdx="1" presStyleCnt="4">
        <dgm:presLayoutVars>
          <dgm:bulletEnabled val="1"/>
        </dgm:presLayoutVars>
      </dgm:prSet>
      <dgm:spPr/>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4">
        <dgm:presLayoutVars>
          <dgm:chMax val="1"/>
          <dgm:bulletEnabled val="1"/>
        </dgm:presLayoutVars>
      </dgm:prSet>
      <dgm:spPr/>
    </dgm:pt>
    <dgm:pt modelId="{17FDFF8D-5754-40A6-90C0-1FF65591B9FB}" type="pres">
      <dgm:prSet presAssocID="{AC398641-F75B-49B0-AAA0-3FDD29796580}" presName="descendantText" presStyleLbl="alignAccFollowNode1" presStyleIdx="2" presStyleCnt="4">
        <dgm:presLayoutVars>
          <dgm:bulletEnabled val="1"/>
        </dgm:presLayoutVars>
      </dgm:prSet>
      <dgm:spPr/>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4">
        <dgm:presLayoutVars>
          <dgm:chMax val="1"/>
          <dgm:bulletEnabled val="1"/>
        </dgm:presLayoutVars>
      </dgm:prSet>
      <dgm:spPr/>
    </dgm:pt>
    <dgm:pt modelId="{89459BF7-18C8-4DF4-A462-781838CCED8C}" type="pres">
      <dgm:prSet presAssocID="{838439EE-3214-41F9-AC38-30FD25FDBCB5}" presName="descendantText" presStyleLbl="alignAccFollowNode1" presStyleIdx="3" presStyleCnt="4">
        <dgm:presLayoutVars>
          <dgm:bulletEnabled val="1"/>
        </dgm:presLayoutVars>
      </dgm:prSet>
      <dgm:spPr/>
    </dgm:pt>
  </dgm:ptLst>
  <dgm:cxnLst>
    <dgm:cxn modelId="{DD6CF901-000B-4F0D-8469-9CB7712D941A}" srcId="{A4DFD065-2FBA-4234-BCF8-C925B2817114}" destId="{CAAE5DB7-5AD0-4C3C-941D-80F392827B3F}" srcOrd="1" destOrd="0" parTransId="{EDFB1E03-1CA6-4920-AF8C-9D77FDFB231A}" sibTransId="{930CFCDD-17F1-4EEE-857C-550DD99ABC4B}"/>
    <dgm:cxn modelId="{F3E12819-DFDD-4E41-8672-0FB9C51129EC}" srcId="{A4DFD065-2FBA-4234-BCF8-C925B2817114}" destId="{9C7872EB-5D7C-4735-9901-5B74061F9283}" srcOrd="0" destOrd="0" parTransId="{36B15B97-CAD3-4E39-B95A-3CF0985499F7}" sibTransId="{ADBBD08F-67ED-4848-BBF9-9053C6957265}"/>
    <dgm:cxn modelId="{E0F30D1D-B9C3-4814-ADF6-99DF2B1C24D6}" type="presOf" srcId="{838439EE-3214-41F9-AC38-30FD25FDBCB5}" destId="{6B00BC4D-46E6-49C4-8822-FDB71BC59661}" srcOrd="0" destOrd="0" presId="urn:microsoft.com/office/officeart/2005/8/layout/vList5"/>
    <dgm:cxn modelId="{9B42D225-75C2-426F-B43D-E73485ADA7AA}" type="presOf" srcId="{BBF8A57F-8386-4F80-BBFF-AD366C111471}" destId="{17FDFF8D-5754-40A6-90C0-1FF65591B9FB}" srcOrd="0" destOrd="2" presId="urn:microsoft.com/office/officeart/2005/8/layout/vList5"/>
    <dgm:cxn modelId="{45D83729-DFAC-4E99-ADAB-9569090FACEF}" type="presOf" srcId="{EA7F3E3B-5AAB-465F-AB24-FA24D1A7AA5E}" destId="{89459BF7-18C8-4DF4-A462-781838CCED8C}" srcOrd="0" destOrd="0" presId="urn:microsoft.com/office/officeart/2005/8/layout/vList5"/>
    <dgm:cxn modelId="{8C164936-32A6-4114-9359-8B0E6C736600}" srcId="{838439EE-3214-41F9-AC38-30FD25FDBCB5}" destId="{B584D601-7C22-4DBB-9722-B7B73F1E0307}" srcOrd="2" destOrd="0" parTransId="{858FBE9B-5EAC-4A77-B5B8-4D2EA2102FB4}" sibTransId="{48D68964-44D1-43E8-B21F-DAB2B2D6D692}"/>
    <dgm:cxn modelId="{15EC1F3C-4F33-4385-87B7-B618D4B2AB5C}" srcId="{9C7872EB-5D7C-4735-9901-5B74061F9283}" destId="{27055167-B399-46DE-8742-467157225895}" srcOrd="2" destOrd="0" parTransId="{5DD10E72-C65F-4964-BA11-44A0B42A69EC}" sibTransId="{A78E6A5D-BBEC-4E71-AD86-2A6E158104BC}"/>
    <dgm:cxn modelId="{3FC40540-A2D0-4954-988E-7360A1641E14}" type="presOf" srcId="{F754AC32-DFAE-4B7B-A984-8811DD077048}" destId="{17FDFF8D-5754-40A6-90C0-1FF65591B9FB}" srcOrd="0" destOrd="1" presId="urn:microsoft.com/office/officeart/2005/8/layout/vList5"/>
    <dgm:cxn modelId="{D7ED5442-2493-495A-BFAB-F8F593B86F36}" type="presOf" srcId="{B0657416-D910-4161-AD55-3F63F47B6E69}" destId="{17FDFF8D-5754-40A6-90C0-1FF65591B9FB}" srcOrd="0" destOrd="0" presId="urn:microsoft.com/office/officeart/2005/8/layout/vList5"/>
    <dgm:cxn modelId="{8153B243-38F2-488B-86EC-62AFADB35CC3}" type="presOf" srcId="{CAAE5DB7-5AD0-4C3C-941D-80F392827B3F}" destId="{F5F5DCD5-B94E-4374-9972-CB76AD36F8A2}" srcOrd="0" destOrd="0" presId="urn:microsoft.com/office/officeart/2005/8/layout/vList5"/>
    <dgm:cxn modelId="{43AA1164-BDBF-4BDA-8397-7F023E85F2D1}" srcId="{AC398641-F75B-49B0-AAA0-3FDD29796580}" destId="{BBF8A57F-8386-4F80-BBFF-AD366C111471}" srcOrd="2" destOrd="0" parTransId="{7BFB447E-C5A7-42D8-9604-C072AC3F9A9C}" sibTransId="{C3A2FF8E-CFBF-4083-9900-F73049C89E4C}"/>
    <dgm:cxn modelId="{CD6A9B65-BBF3-4962-9A12-A1FA8858E054}" srcId="{9C7872EB-5D7C-4735-9901-5B74061F9283}" destId="{D28A0571-94AD-4A8C-8022-8A98D5EA9FC0}" srcOrd="1" destOrd="0" parTransId="{3EF951F3-D35F-457B-81D9-709A140FDCD1}" sibTransId="{ED0AF154-C7D4-44B1-8188-AC9B1E78AFFA}"/>
    <dgm:cxn modelId="{C67A1248-4512-4BAA-9790-BF8399FCC862}" type="presOf" srcId="{D28A0571-94AD-4A8C-8022-8A98D5EA9FC0}" destId="{3B0AC266-B5BD-49ED-992C-2AC7D9193D50}" srcOrd="0" destOrd="1" presId="urn:microsoft.com/office/officeart/2005/8/layout/vList5"/>
    <dgm:cxn modelId="{C621164A-6CA3-42DE-8392-C4AB0AC33D7F}" type="presOf" srcId="{C743FFC3-A49F-457E-A1CC-A4D8CB253EDF}" destId="{227BF414-BF92-4AC7-8B37-F08BED37A5BA}" srcOrd="0" destOrd="0" presId="urn:microsoft.com/office/officeart/2005/8/layout/vList5"/>
    <dgm:cxn modelId="{F525306B-6A7B-4ECC-946D-75873ACEBCEE}" srcId="{CAAE5DB7-5AD0-4C3C-941D-80F392827B3F}" destId="{705F8D8F-ACF0-4269-AA89-E924B28030DA}" srcOrd="1" destOrd="0" parTransId="{61F36A74-2FD7-4186-B2AB-7A55A4D65966}" sibTransId="{6CCA1139-8160-4736-8545-5196490B03C6}"/>
    <dgm:cxn modelId="{BED4D84B-2C31-406E-81C4-FAD3B623AC2C}" type="presOf" srcId="{AC398641-F75B-49B0-AAA0-3FDD29796580}" destId="{E8197B1A-9EDC-44B3-B9A6-A286E453E106}" srcOrd="0" destOrd="0" presId="urn:microsoft.com/office/officeart/2005/8/layout/vList5"/>
    <dgm:cxn modelId="{C2457672-0821-42ED-A0B3-9DDED99C6815}" type="presOf" srcId="{B584D601-7C22-4DBB-9722-B7B73F1E0307}" destId="{89459BF7-18C8-4DF4-A462-781838CCED8C}" srcOrd="0" destOrd="2" presId="urn:microsoft.com/office/officeart/2005/8/layout/vList5"/>
    <dgm:cxn modelId="{E1982276-CD2B-481A-8D15-C1D39EAEB987}" srcId="{9C7872EB-5D7C-4735-9901-5B74061F9283}" destId="{E2EED1A9-89AD-437B-9C19-5C8882ECA18B}" srcOrd="0" destOrd="0" parTransId="{9164A035-3F52-426A-BC60-2F7CA5B272F3}" sibTransId="{9E108158-DD11-4376-9735-0F270D020E29}"/>
    <dgm:cxn modelId="{D9504978-A6F1-4AC4-A415-ECF2097C5715}" type="presOf" srcId="{705F8D8F-ACF0-4269-AA89-E924B28030DA}" destId="{227BF414-BF92-4AC7-8B37-F08BED37A5BA}" srcOrd="0" destOrd="1" presId="urn:microsoft.com/office/officeart/2005/8/layout/vList5"/>
    <dgm:cxn modelId="{95A49458-6A1C-4126-AB6D-01B0BF9D545D}" srcId="{A4DFD065-2FBA-4234-BCF8-C925B2817114}" destId="{838439EE-3214-41F9-AC38-30FD25FDBCB5}" srcOrd="3" destOrd="0" parTransId="{350A0F01-3D89-456B-B852-8132A7C9D6B8}" sibTransId="{5D2514EA-A986-4147-AB9D-A386E2D6A16E}"/>
    <dgm:cxn modelId="{75A21059-086D-43E1-A661-9D2C12984236}" srcId="{CAAE5DB7-5AD0-4C3C-941D-80F392827B3F}" destId="{C743FFC3-A49F-457E-A1CC-A4D8CB253EDF}" srcOrd="0" destOrd="0" parTransId="{C1B007B0-5FF2-4D81-869A-A2E40CF26344}" sibTransId="{EA0306B6-9F98-4FDB-AD0A-60204F7FB0BA}"/>
    <dgm:cxn modelId="{0EA4AC7A-F938-429B-A867-105C24746EB9}" type="presOf" srcId="{E2EED1A9-89AD-437B-9C19-5C8882ECA18B}" destId="{3B0AC266-B5BD-49ED-992C-2AC7D9193D50}" srcOrd="0" destOrd="0" presId="urn:microsoft.com/office/officeart/2005/8/layout/vList5"/>
    <dgm:cxn modelId="{079F9D88-B995-4A80-9149-74E2C602F0BF}" srcId="{AC398641-F75B-49B0-AAA0-3FDD29796580}" destId="{F754AC32-DFAE-4B7B-A984-8811DD077048}" srcOrd="1" destOrd="0" parTransId="{AC735B69-BAFE-4B81-8A96-4E3027624B57}" sibTransId="{300ED5A2-22C4-458D-9DBF-C3E1020F7AC0}"/>
    <dgm:cxn modelId="{867A3C8C-9E81-4E70-A192-81F62240694B}" srcId="{838439EE-3214-41F9-AC38-30FD25FDBCB5}" destId="{EA7F3E3B-5AAB-465F-AB24-FA24D1A7AA5E}" srcOrd="0" destOrd="0" parTransId="{079E5796-4C7F-4D6B-AC9C-1EC2FD41008B}" sibTransId="{0D8ABCCD-D636-4F1C-8721-36F13E9F2D28}"/>
    <dgm:cxn modelId="{C13B32A0-3B0B-45CB-A0B1-AF577E92E163}" srcId="{838439EE-3214-41F9-AC38-30FD25FDBCB5}" destId="{1570FD84-DE20-4D45-A3DB-278A6B897D58}" srcOrd="1" destOrd="0" parTransId="{7DA2F3D6-091B-43A0-9C11-8E9756B41878}" sibTransId="{3253797F-8417-4DC8-96E4-CCBB03A7DFDB}"/>
    <dgm:cxn modelId="{A8FD6EA3-110E-4D1B-BE39-49570EB67D1A}" type="presOf" srcId="{A4DFD065-2FBA-4234-BCF8-C925B2817114}" destId="{5B1E25DB-39E0-4933-BD74-0510C0D66099}" srcOrd="0" destOrd="0" presId="urn:microsoft.com/office/officeart/2005/8/layout/vList5"/>
    <dgm:cxn modelId="{E7F166A4-0568-478E-AB87-2D7540EC0F6D}" srcId="{A4DFD065-2FBA-4234-BCF8-C925B2817114}" destId="{AC398641-F75B-49B0-AAA0-3FDD29796580}" srcOrd="2" destOrd="0" parTransId="{1C207FBA-52A1-4559-8466-99CBB9692A60}" sibTransId="{07D91BC0-2E2A-461D-A121-5A51D4452482}"/>
    <dgm:cxn modelId="{45AD89C2-4F02-4E63-ADD9-21A763672701}" type="presOf" srcId="{27055167-B399-46DE-8742-467157225895}" destId="{3B0AC266-B5BD-49ED-992C-2AC7D9193D50}" srcOrd="0" destOrd="2" presId="urn:microsoft.com/office/officeart/2005/8/layout/vList5"/>
    <dgm:cxn modelId="{EE8EA6C6-3CFA-4ED7-9EF1-FE4EA8D2835A}" type="presOf" srcId="{9C7872EB-5D7C-4735-9901-5B74061F9283}" destId="{E1C507B0-CE90-4E03-B4DF-959306DBB7D4}" srcOrd="0" destOrd="0" presId="urn:microsoft.com/office/officeart/2005/8/layout/vList5"/>
    <dgm:cxn modelId="{E73B62EE-64FC-41A3-8C08-91346E5525A1}" srcId="{AC398641-F75B-49B0-AAA0-3FDD29796580}" destId="{B0657416-D910-4161-AD55-3F63F47B6E69}" srcOrd="0" destOrd="0" parTransId="{5366F5E4-F50D-4118-9062-6D8269084ED1}" sibTransId="{36EA7470-1D42-4E23-B954-4E3DEF9C284E}"/>
    <dgm:cxn modelId="{CE53E5F6-8097-4EBD-BB0C-4107ACA8805E}" type="presOf" srcId="{1570FD84-DE20-4D45-A3DB-278A6B897D58}" destId="{89459BF7-18C8-4DF4-A462-781838CCED8C}" srcOrd="0" destOrd="1" presId="urn:microsoft.com/office/officeart/2005/8/layout/vList5"/>
    <dgm:cxn modelId="{0390A4BE-D2B5-48B0-B59C-829E31E7F780}" type="presParOf" srcId="{5B1E25DB-39E0-4933-BD74-0510C0D66099}" destId="{BCD07672-96E6-4763-A3C8-B049BBD0191B}" srcOrd="0" destOrd="0" presId="urn:microsoft.com/office/officeart/2005/8/layout/vList5"/>
    <dgm:cxn modelId="{D87EBD01-C90F-423A-9C5F-EBB2B9C54D77}" type="presParOf" srcId="{BCD07672-96E6-4763-A3C8-B049BBD0191B}" destId="{E1C507B0-CE90-4E03-B4DF-959306DBB7D4}" srcOrd="0" destOrd="0" presId="urn:microsoft.com/office/officeart/2005/8/layout/vList5"/>
    <dgm:cxn modelId="{D3B30FFD-F689-4D99-97F8-C8FE5FCA737B}" type="presParOf" srcId="{BCD07672-96E6-4763-A3C8-B049BBD0191B}" destId="{3B0AC266-B5BD-49ED-992C-2AC7D9193D50}" srcOrd="1" destOrd="0" presId="urn:microsoft.com/office/officeart/2005/8/layout/vList5"/>
    <dgm:cxn modelId="{4C1C4BC2-743B-4D91-ADFC-BD94D5E6986E}" type="presParOf" srcId="{5B1E25DB-39E0-4933-BD74-0510C0D66099}" destId="{56EB9B2A-DE28-4701-AC59-5E5AD3297FFA}" srcOrd="1" destOrd="0" presId="urn:microsoft.com/office/officeart/2005/8/layout/vList5"/>
    <dgm:cxn modelId="{18CEDA4F-2960-4A22-8AE6-C088993D81C3}" type="presParOf" srcId="{5B1E25DB-39E0-4933-BD74-0510C0D66099}" destId="{82E8703B-9389-4707-9CD6-8F7B7455816D}" srcOrd="2" destOrd="0" presId="urn:microsoft.com/office/officeart/2005/8/layout/vList5"/>
    <dgm:cxn modelId="{60397F5B-3F73-4BCB-A57A-F45CAC12DE15}" type="presParOf" srcId="{82E8703B-9389-4707-9CD6-8F7B7455816D}" destId="{F5F5DCD5-B94E-4374-9972-CB76AD36F8A2}" srcOrd="0" destOrd="0" presId="urn:microsoft.com/office/officeart/2005/8/layout/vList5"/>
    <dgm:cxn modelId="{68F85273-D19E-41BA-9615-D8416F90DCA9}" type="presParOf" srcId="{82E8703B-9389-4707-9CD6-8F7B7455816D}" destId="{227BF414-BF92-4AC7-8B37-F08BED37A5BA}" srcOrd="1" destOrd="0" presId="urn:microsoft.com/office/officeart/2005/8/layout/vList5"/>
    <dgm:cxn modelId="{2A7D7881-39F7-413A-885E-FA488081E3A0}" type="presParOf" srcId="{5B1E25DB-39E0-4933-BD74-0510C0D66099}" destId="{D728C519-5F74-4EE9-A664-FAA27C5B3C95}" srcOrd="3" destOrd="0" presId="urn:microsoft.com/office/officeart/2005/8/layout/vList5"/>
    <dgm:cxn modelId="{83D1E2B9-7F7C-4643-883A-BEFFE9346CEA}" type="presParOf" srcId="{5B1E25DB-39E0-4933-BD74-0510C0D66099}" destId="{CB0A9CEC-4970-4E9A-8D2C-D5476F2E81BE}" srcOrd="4" destOrd="0" presId="urn:microsoft.com/office/officeart/2005/8/layout/vList5"/>
    <dgm:cxn modelId="{F542A5C5-3A15-44B3-A614-467A5F4200B7}" type="presParOf" srcId="{CB0A9CEC-4970-4E9A-8D2C-D5476F2E81BE}" destId="{E8197B1A-9EDC-44B3-B9A6-A286E453E106}" srcOrd="0" destOrd="0" presId="urn:microsoft.com/office/officeart/2005/8/layout/vList5"/>
    <dgm:cxn modelId="{4716B95F-521D-464E-9B8B-3D10A4E3814A}" type="presParOf" srcId="{CB0A9CEC-4970-4E9A-8D2C-D5476F2E81BE}" destId="{17FDFF8D-5754-40A6-90C0-1FF65591B9FB}" srcOrd="1" destOrd="0" presId="urn:microsoft.com/office/officeart/2005/8/layout/vList5"/>
    <dgm:cxn modelId="{8B2E9BBE-34C0-4D75-9A54-1FE800E52CA8}" type="presParOf" srcId="{5B1E25DB-39E0-4933-BD74-0510C0D66099}" destId="{B445CC07-F0B6-49C0-8116-9323DF1CFDC9}" srcOrd="5" destOrd="0" presId="urn:microsoft.com/office/officeart/2005/8/layout/vList5"/>
    <dgm:cxn modelId="{5A5FCF93-2221-4FE7-A391-9429E0565C6C}" type="presParOf" srcId="{5B1E25DB-39E0-4933-BD74-0510C0D66099}" destId="{17D0205F-3ACB-4715-9A8B-A9A596954293}" srcOrd="6" destOrd="0" presId="urn:microsoft.com/office/officeart/2005/8/layout/vList5"/>
    <dgm:cxn modelId="{9EC38A22-F0C7-4B7D-BBBA-DA3C12CA5DD6}" type="presParOf" srcId="{17D0205F-3ACB-4715-9A8B-A9A596954293}" destId="{6B00BC4D-46E6-49C4-8822-FDB71BC59661}" srcOrd="0" destOrd="0" presId="urn:microsoft.com/office/officeart/2005/8/layout/vList5"/>
    <dgm:cxn modelId="{FC9A5E4C-2D37-4CC7-B2C8-8A3BB7A45FE3}" type="presParOf" srcId="{17D0205F-3ACB-4715-9A8B-A9A596954293}" destId="{89459BF7-18C8-4DF4-A462-781838CCED8C}"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421400" y="-229218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Данные хранятся на вращающемся диске с ферромагнитным покрытием</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Обеспечивает произвольный доступ для чтения и записи</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Самое популярное устройство хранения данных с большой емкостью хранения</a:t>
          </a:r>
        </a:p>
      </dsp:txBody>
      <dsp:txXfrm rot="-5400000">
        <a:off x="3044951" y="116497"/>
        <a:ext cx="5381012" cy="595878"/>
      </dsp:txXfrm>
    </dsp:sp>
    <dsp:sp modelId="{E1C507B0-CE90-4E03-B4DF-959306DBB7D4}">
      <dsp:nvSpPr>
        <dsp:cNvPr id="0" name=""/>
        <dsp:cNvSpPr/>
      </dsp:nvSpPr>
      <dsp:spPr>
        <a:xfrm>
          <a:off x="0" y="171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ru-RU" sz="1300" b="1" i="0" kern="1200" dirty="0">
              <a:solidFill>
                <a:schemeClr val="bg1"/>
              </a:solidFill>
              <a:latin typeface="Arial" pitchFamily="34" charset="0"/>
              <a:cs typeface="Arial" pitchFamily="34" charset="0"/>
            </a:rPr>
            <a:t>Накопитель на магнитных дисках</a:t>
          </a:r>
        </a:p>
      </dsp:txBody>
      <dsp:txXfrm>
        <a:off x="40295" y="42011"/>
        <a:ext cx="2964362" cy="744847"/>
      </dsp:txXfrm>
    </dsp:sp>
    <dsp:sp modelId="{227BF414-BF92-4AC7-8B37-F08BED37A5BA}">
      <dsp:nvSpPr>
        <dsp:cNvPr id="0" name=""/>
        <dsp:cNvSpPr/>
      </dsp:nvSpPr>
      <dsp:spPr>
        <a:xfrm rot="5400000">
          <a:off x="5421400" y="-142547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Данные хранятся в памяти на основе полупроводников</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Чрезвычайно малые задержки операций ввода-вывода, низкое энергопотребление и очень высокая пропускная способность</a:t>
          </a:r>
        </a:p>
      </dsp:txBody>
      <dsp:txXfrm rot="-5400000">
        <a:off x="3044951" y="983207"/>
        <a:ext cx="5381012" cy="595878"/>
      </dsp:txXfrm>
    </dsp:sp>
    <dsp:sp modelId="{F5F5DCD5-B94E-4374-9972-CB76AD36F8A2}">
      <dsp:nvSpPr>
        <dsp:cNvPr id="0" name=""/>
        <dsp:cNvSpPr/>
      </dsp:nvSpPr>
      <dsp:spPr>
        <a:xfrm>
          <a:off x="0" y="86842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ru-RU" sz="1300" b="1" i="0" kern="1200" dirty="0">
              <a:solidFill>
                <a:schemeClr val="bg1"/>
              </a:solidFill>
              <a:latin typeface="Arial" pitchFamily="34" charset="0"/>
              <a:cs typeface="Arial" pitchFamily="34" charset="0"/>
            </a:rPr>
            <a:t>Твердотельный диск (флэш-диск)</a:t>
          </a:r>
        </a:p>
      </dsp:txBody>
      <dsp:txXfrm>
        <a:off x="40295" y="908721"/>
        <a:ext cx="2964362" cy="744847"/>
      </dsp:txXfrm>
    </dsp:sp>
    <dsp:sp modelId="{17FDFF8D-5754-40A6-90C0-1FF65591B9FB}">
      <dsp:nvSpPr>
        <dsp:cNvPr id="0" name=""/>
        <dsp:cNvSpPr/>
      </dsp:nvSpPr>
      <dsp:spPr>
        <a:xfrm rot="5400000">
          <a:off x="5421400" y="-558769"/>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Данные хранятся на пластиковой пленке с магнитным покрытием</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Обеспечивает только последовательный доступ к данным</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Недорогое решение для длительного хранения данных</a:t>
          </a:r>
        </a:p>
      </dsp:txBody>
      <dsp:txXfrm rot="-5400000">
        <a:off x="3044951" y="1849916"/>
        <a:ext cx="5381012" cy="595878"/>
      </dsp:txXfrm>
    </dsp:sp>
    <dsp:sp modelId="{E8197B1A-9EDC-44B3-B9A6-A286E453E106}">
      <dsp:nvSpPr>
        <dsp:cNvPr id="0" name=""/>
        <dsp:cNvSpPr/>
      </dsp:nvSpPr>
      <dsp:spPr>
        <a:xfrm>
          <a:off x="0" y="173513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ru-RU" sz="1300" b="1" i="0" kern="1200" dirty="0">
              <a:solidFill>
                <a:schemeClr val="bg1"/>
              </a:solidFill>
              <a:latin typeface="Arial" pitchFamily="34" charset="0"/>
              <a:cs typeface="Arial" pitchFamily="34" charset="0"/>
            </a:rPr>
            <a:t>Магнитный ленточный накопитель</a:t>
          </a:r>
        </a:p>
      </dsp:txBody>
      <dsp:txXfrm>
        <a:off x="40295" y="1775430"/>
        <a:ext cx="2964362" cy="744847"/>
      </dsp:txXfrm>
    </dsp:sp>
    <dsp:sp modelId="{89459BF7-18C8-4DF4-A462-781838CCED8C}">
      <dsp:nvSpPr>
        <dsp:cNvPr id="0" name=""/>
        <dsp:cNvSpPr/>
      </dsp:nvSpPr>
      <dsp:spPr>
        <a:xfrm rot="5400000">
          <a:off x="5421400" y="307940"/>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Данные хранятся на поликарбонатном диске с отражающим покрытием</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Возможность однократной записи и многократного чтения: CD, DVD, BD</a:t>
          </a:r>
        </a:p>
        <a:p>
          <a:pPr marL="104775" lvl="1" indent="-104775" algn="l" defTabSz="444500">
            <a:lnSpc>
              <a:spcPct val="90000"/>
            </a:lnSpc>
            <a:spcBef>
              <a:spcPct val="0"/>
            </a:spcBef>
            <a:spcAft>
              <a:spcPct val="15000"/>
            </a:spcAft>
            <a:buChar char="•"/>
          </a:pPr>
          <a:r>
            <a:rPr lang="ru-RU" sz="1000" b="0" i="0" kern="1200" dirty="0">
              <a:solidFill>
                <a:srgbClr val="000000"/>
              </a:solidFill>
              <a:latin typeface="Arial" pitchFamily="34" charset="0"/>
              <a:cs typeface="Arial" pitchFamily="34" charset="0"/>
            </a:rPr>
            <a:t>Недорогое решение для длительного хранения данных</a:t>
          </a:r>
        </a:p>
      </dsp:txBody>
      <dsp:txXfrm rot="-5400000">
        <a:off x="3044951" y="2716625"/>
        <a:ext cx="5381012" cy="595878"/>
      </dsp:txXfrm>
    </dsp:sp>
    <dsp:sp modelId="{6B00BC4D-46E6-49C4-8822-FDB71BC59661}">
      <dsp:nvSpPr>
        <dsp:cNvPr id="0" name=""/>
        <dsp:cNvSpPr/>
      </dsp:nvSpPr>
      <dsp:spPr>
        <a:xfrm>
          <a:off x="0" y="260184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24765" rIns="49530" bIns="24765" numCol="1" spcCol="1270" anchor="ctr" anchorCtr="0">
          <a:noAutofit/>
        </a:bodyPr>
        <a:lstStyle/>
        <a:p>
          <a:pPr marL="0" lvl="0" indent="0" algn="ctr" defTabSz="577850">
            <a:lnSpc>
              <a:spcPct val="90000"/>
            </a:lnSpc>
            <a:spcBef>
              <a:spcPct val="0"/>
            </a:spcBef>
            <a:spcAft>
              <a:spcPct val="35000"/>
            </a:spcAft>
            <a:buNone/>
          </a:pPr>
          <a:r>
            <a:rPr lang="ru-RU" sz="1300" b="1" i="0" kern="1200" dirty="0">
              <a:solidFill>
                <a:schemeClr val="bg1"/>
              </a:solidFill>
              <a:latin typeface="Arial" pitchFamily="34" charset="0"/>
              <a:cs typeface="Arial" pitchFamily="34" charset="0"/>
            </a:rPr>
            <a:t>Оптический</a:t>
          </a:r>
          <a:r>
            <a:rPr lang="ru-RU" sz="1300" b="1" i="0" kern="1200" dirty="0">
              <a:solidFill>
                <a:srgbClr val="000000"/>
              </a:solidFill>
              <a:latin typeface="Arial" pitchFamily="34" charset="0"/>
              <a:cs typeface="Arial" pitchFamily="34" charset="0"/>
            </a:rPr>
            <a:t> </a:t>
          </a:r>
          <a:r>
            <a:rPr lang="ru-RU" sz="1300" b="1" i="0" kern="1200" dirty="0">
              <a:solidFill>
                <a:schemeClr val="bg1"/>
              </a:solidFill>
              <a:latin typeface="Arial" pitchFamily="34" charset="0"/>
              <a:cs typeface="Arial" pitchFamily="34" charset="0"/>
            </a:rPr>
            <a:t>дисковод</a:t>
          </a:r>
        </a:p>
      </dsp:txBody>
      <dsp:txXfrm>
        <a:off x="40295" y="2642140"/>
        <a:ext cx="2964362" cy="74484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09600" y="3886200"/>
            <a:ext cx="5943600" cy="48006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46051" y="8915400"/>
            <a:ext cx="309700"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ru-RU" sz="800" smtClean="0">
                <a:latin typeface="Arial"/>
              </a:rPr>
              <a:pPr marL="0" marR="0" indent="0" algn="ctr" defTabSz="457200" rtl="0" eaLnBrk="1" fontAlgn="auto" latinLnBrk="0" hangingPunct="1">
                <a:lnSpc>
                  <a:spcPct val="100000"/>
                </a:lnSpc>
                <a:spcBef>
                  <a:spcPts val="0"/>
                </a:spcBef>
                <a:spcAft>
                  <a:spcPts val="0"/>
                </a:spcAft>
                <a:buClrTx/>
                <a:buSzTx/>
                <a:buFontTx/>
                <a:buNone/>
                <a:tabLst/>
                <a:defRPr/>
              </a:pPr>
              <a:t>‹#›</a:t>
            </a:fld>
            <a:endParaRPr lang="ru-RU" sz="800" dirty="0">
              <a:latin typeface="Arial"/>
            </a:endParaRPr>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rPr>
              <a:t> </a:t>
            </a:r>
            <a:r>
              <a:rPr lang="ru-RU" sz="600" b="0" i="0" dirty="0">
                <a:solidFill>
                  <a:srgbClr val="717073"/>
                </a:solidFill>
                <a:latin typeface="Arial"/>
              </a:rPr>
              <a:t>Корпорация</a:t>
            </a:r>
            <a:r>
              <a:rPr lang="ru-RU" sz="600" b="0" i="0" dirty="0">
                <a:solidFill>
                  <a:srgbClr val="717073"/>
                </a:solidFill>
              </a:rPr>
              <a:t> EMC, 2015 </a:t>
            </a:r>
            <a:r>
              <a:rPr lang="ru-RU" sz="600" b="0" i="0" dirty="0">
                <a:solidFill>
                  <a:srgbClr val="717073"/>
                </a:solidFill>
                <a:latin typeface="Arial"/>
              </a:rPr>
              <a:t>г</a:t>
            </a:r>
            <a:r>
              <a:rPr lang="ru-RU" sz="600" b="0" i="0" dirty="0">
                <a:solidFill>
                  <a:srgbClr val="717073"/>
                </a:solidFill>
              </a:rPr>
              <a:t>. </a:t>
            </a:r>
            <a:r>
              <a:rPr lang="ru-RU" sz="600" b="0" i="0" dirty="0">
                <a:solidFill>
                  <a:srgbClr val="717073"/>
                </a:solidFill>
                <a:latin typeface="Arial"/>
              </a:rPr>
              <a:t>Все</a:t>
            </a:r>
            <a:r>
              <a:rPr lang="ru-RU" sz="600" b="0" i="0" dirty="0">
                <a:solidFill>
                  <a:srgbClr val="717073"/>
                </a:solidFill>
              </a:rPr>
              <a:t> </a:t>
            </a:r>
            <a:r>
              <a:rPr lang="ru-RU" sz="600" b="0" i="0" dirty="0">
                <a:solidFill>
                  <a:srgbClr val="717073"/>
                </a:solidFill>
                <a:latin typeface="Arial"/>
              </a:rPr>
              <a:t>права</a:t>
            </a:r>
            <a:r>
              <a:rPr lang="ru-RU" sz="600" b="0" i="0" dirty="0">
                <a:solidFill>
                  <a:srgbClr val="717073"/>
                </a:solidFill>
              </a:rPr>
              <a:t> </a:t>
            </a:r>
            <a:r>
              <a:rPr lang="ru-RU" sz="600" b="0" i="0" dirty="0">
                <a:solidFill>
                  <a:srgbClr val="717073"/>
                </a:solidFill>
                <a:latin typeface="Arial"/>
              </a:rPr>
              <a:t>защищены</a:t>
            </a:r>
            <a:r>
              <a:rPr lang="ru-RU" sz="600" b="0" i="0" dirty="0">
                <a:solidFill>
                  <a:srgbClr val="717073"/>
                </a:solidFill>
              </a:rPr>
              <a:t>.</a:t>
            </a:r>
          </a:p>
        </p:txBody>
      </p:sp>
      <p:sp>
        <p:nvSpPr>
          <p:cNvPr id="6" name="Slide Image Placeholder 5"/>
          <p:cNvSpPr>
            <a:spLocks noGrp="1" noRot="1" noChangeAspect="1"/>
          </p:cNvSpPr>
          <p:nvPr>
            <p:ph type="sldImg" idx="2"/>
          </p:nvPr>
        </p:nvSpPr>
        <p:spPr>
          <a:xfrm>
            <a:off x="609600" y="381001"/>
            <a:ext cx="5943600" cy="3343275"/>
          </a:xfrm>
          <a:prstGeom prst="rect">
            <a:avLst/>
          </a:prstGeom>
          <a:noFill/>
          <a:ln w="12700">
            <a:solidFill>
              <a:prstClr val="black"/>
            </a:solidFill>
          </a:ln>
        </p:spPr>
        <p:txBody>
          <a:bodyPr vert="horz" lIns="91440" tIns="45720" rIns="91440" bIns="45720" rtlCol="0" anchor="ctr"/>
          <a:lstStyle/>
          <a:p>
            <a:endParaRPr lang="en-US"/>
          </a:p>
        </p:txBody>
      </p:sp>
      <p:sp>
        <p:nvSpPr>
          <p:cNvPr id="7" name="Rectangle 6"/>
          <p:cNvSpPr/>
          <p:nvPr/>
        </p:nvSpPr>
        <p:spPr>
          <a:xfrm>
            <a:off x="3062287" y="8915400"/>
            <a:ext cx="3338513" cy="215444"/>
          </a:xfrm>
          <a:prstGeom prst="rect">
            <a:avLst/>
          </a:prstGeom>
        </p:spPr>
        <p:txBody>
          <a:bodyPr wrap="square">
            <a:spAutoFit/>
          </a:bodyPr>
          <a:lstStyle/>
          <a:p>
            <a:pPr algn="r" rtl="0"/>
            <a:r>
              <a:rPr lang="ru-RU" sz="800" kern="1200" baseline="0" dirty="0">
                <a:solidFill>
                  <a:schemeClr val="tx1"/>
                </a:solidFill>
                <a:latin typeface="Arial" pitchFamily="34" charset="0"/>
                <a:ea typeface="+mn-ea"/>
                <a:cs typeface="Arial" pitchFamily="34" charset="0"/>
              </a:rPr>
              <a:t>ISM v3 модуль 3: среда центра обработки данных</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fontAlgn="base"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fontAlgn="base"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fontAlgn="base"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fontAlgn="base"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fontAlgn="base"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ru.wikipedia.org/wiki/%D0%9B%D0%B0%D1%82%D0%B8%D0%BD%D1%81%D0%BA%D0%B8%D0%B9_%D1%8F%D0%B7%D1%8B%D0%BA"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ru.wikipedia.org/wiki/%D0%94%D0%B8%D0%B2%D0%B5%D1%80%D0%B3%D0%B5%D0%BD%D1%86%D0%B8%D1%8F_(%D0%B7%D0%BD%D0%B0%D1%87%D0%B5%D0%BD%D0%B8%D1%8F)"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www.vce.com/" TargetMode="External"/><Relationship Id="rId2" Type="http://schemas.openxmlformats.org/officeDocument/2006/relationships/slide" Target="../slides/slide57.xml"/><Relationship Id="rId1" Type="http://schemas.openxmlformats.org/officeDocument/2006/relationships/notesMaster" Target="../notesMasters/notesMaster1.xml"/><Relationship Id="rId5" Type="http://schemas.openxmlformats.org/officeDocument/2006/relationships/hyperlink" Target="http://www.vmware.com/" TargetMode="External"/><Relationship Id="rId4" Type="http://schemas.openxmlformats.org/officeDocument/2006/relationships/hyperlink" Target="http://www.emc.com/" TargetMode="Externa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541020" y="3886200"/>
            <a:ext cx="6096000" cy="4800600"/>
          </a:xfrm>
        </p:spPr>
        <p:txBody>
          <a:bodyPr/>
          <a:lstStyle/>
          <a:p>
            <a:pPr lvl="0">
              <a:spcBef>
                <a:spcPts val="600"/>
              </a:spcBef>
            </a:pPr>
            <a:r>
              <a:rPr lang="ru-RU" b="0" i="0" dirty="0">
                <a:solidFill>
                  <a:srgbClr val="000000"/>
                </a:solidFill>
                <a:latin typeface="Arial" pitchFamily="34" charset="0"/>
                <a:cs typeface="Arial" pitchFamily="34" charset="0"/>
              </a:rPr>
              <a:t>Добро пожаловать на курс «Среда центра обработки данных» </a:t>
            </a:r>
          </a:p>
          <a:p>
            <a:pPr marL="0" marR="0" lvl="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Перейдите на вкладку «Ресурсы», чтобы загрузить версию данного электронного модуля в формате PDF.</a:t>
            </a:r>
          </a:p>
          <a:p>
            <a:pPr lvl="0">
              <a:spcBef>
                <a:spcPts val="600"/>
              </a:spcBef>
            </a:pPr>
            <a:r>
              <a:rPr lang="ru-RU" b="0" i="0" dirty="0">
                <a:solidFill>
                  <a:srgbClr val="000000"/>
                </a:solidFill>
                <a:latin typeface="Arial" pitchFamily="34" charset="0"/>
                <a:cs typeface="Arial" pitchFamily="34" charset="0"/>
              </a:rPr>
              <a:t>Этот модуль — часть курса ISM v3, состоящего из 16 модулей. </a:t>
            </a:r>
          </a:p>
          <a:p>
            <a:pPr lvl="0">
              <a:spcBef>
                <a:spcPts val="600"/>
              </a:spcBef>
            </a:pPr>
            <a:r>
              <a:rPr lang="ru-RU" b="0" i="0" dirty="0">
                <a:solidFill>
                  <a:srgbClr val="000000"/>
                </a:solidFill>
                <a:latin typeface="Arial" pitchFamily="34" charset="0"/>
                <a:cs typeface="Arial" pitchFamily="34" charset="0"/>
              </a:rPr>
              <a:t>© Корпорация EMC, 2015 г. Все права защищены. Опубликовано в России. По сведениям ЕМС информация, содержащаяся в данной публикации, является правильной на дату публикации. Данная информация может измениться без уведомления. </a:t>
            </a:r>
          </a:p>
          <a:p>
            <a:pPr lvl="0">
              <a:spcBef>
                <a:spcPts val="600"/>
              </a:spcBef>
            </a:pPr>
            <a:r>
              <a:rPr lang="ru-RU" b="0" i="0" dirty="0">
                <a:solidFill>
                  <a:srgbClr val="000000"/>
                </a:solidFill>
                <a:latin typeface="Arial" pitchFamily="34" charset="0"/>
                <a:cs typeface="Arial" pitchFamily="34" charset="0"/>
              </a:rPr>
              <a:t>ИНФОРМАЦИЯ В ДАННОЙ ПУБЛИКАЦИИ ПРИВОДИТСЯ «КАК ЕСТЬ». КОРПОРАЦИЯ EMC НЕ ПРЕДОСТАВЛЯЕТ НИКАКИХ УСЛОВИЙ ИЛИ ГАРАНТИЙ В ОТНОШЕНИИ УКАЗАННОЙ ИНФОРМАЦИИ И ОТКАЗЫВАЕТСЯ ОТ ПОДРАЗУМЕВАЕМЫХ ГАРАНТИЙ КОММЕРЧЕСКОЙ ЦЕННОСТИ И ПРИГОДНОСТИ ДЛЯ ОПРЕДЕЛЕННОЙ ЦЕЛИ.</a:t>
            </a:r>
          </a:p>
          <a:p>
            <a:pPr lvl="0">
              <a:spcBef>
                <a:spcPts val="600"/>
              </a:spcBef>
            </a:pPr>
            <a:r>
              <a:rPr lang="ru-RU" b="0" i="0" dirty="0">
                <a:solidFill>
                  <a:srgbClr val="000000"/>
                </a:solidFill>
                <a:latin typeface="Arial" pitchFamily="34" charset="0"/>
                <a:cs typeface="Arial" pitchFamily="34" charset="0"/>
              </a:rPr>
              <a:t>Использование, копирование и распространение любого произведенного корпорацией ЕМС программного обеспечения, упомянутого в данной публикации, требует соответствующей лицензии. Товарные знаки, логотипы и сервисные знаки (совокупно «Товарные знаки»), упоминаемые в настоящей публикации, являются собственностью корпорации EMC и других лиц. Никакие положения в этой публикации не должны рассматриваться как предоставление каких-либо лицензий или прав на использование любого Товарного знака без предварительного письменного разрешения лица, являющегося владельцем данного Товарного знака.</a:t>
            </a:r>
          </a:p>
          <a:p>
            <a:pPr lvl="0">
              <a:spcBef>
                <a:spcPts val="600"/>
              </a:spcBef>
            </a:pPr>
            <a:r>
              <a:rPr lang="ru-RU" b="0" i="0" spc="-10" dirty="0">
                <a:solidFill>
                  <a:srgbClr val="000000"/>
                </a:solidFill>
                <a:latin typeface="Arial" pitchFamily="34" charset="0"/>
                <a:cs typeface="Arial" pitchFamily="34" charset="0"/>
              </a:rPr>
              <a:t>EMC, EMC² AccessAnywhere Access Logix, AdvantEdge, AlphaStor, AppSync ApplicationXtender, ArchiveXtender, Atmos, Authentica, Authentic Problems, Automated Resource Manager, AutoStart, AutoSwap, AVALONidm, Avamar, Bus-Tech, Captiva, Catalog Solution, C-Clip, Celerra, Celerra Replicator, Centera, CenterStage, CentraStar, EMC CertTracker. CIO Connect, ClaimPack, ClaimsEditor, Claralert,</a:t>
            </a:r>
            <a:r>
              <a:rPr lang="ru-RU" b="0" i="0" spc="-10" dirty="0">
                <a:solidFill>
                  <a:srgbClr val="494848"/>
                </a:solidFill>
                <a:latin typeface="Arial" pitchFamily="34" charset="0"/>
                <a:cs typeface="Arial" pitchFamily="34" charset="0"/>
              </a:rPr>
              <a:t>c</a:t>
            </a:r>
            <a:r>
              <a:rPr lang="ru-RU" b="0" i="0" spc="-10" dirty="0">
                <a:solidFill>
                  <a:srgbClr val="000000"/>
                </a:solidFill>
                <a:latin typeface="Arial" pitchFamily="34" charset="0"/>
                <a:cs typeface="Arial" pitchFamily="34" charset="0"/>
              </a:rPr>
              <a:t>LARiiON, ClientPak, CloudArray, Codebook Correlation Technology, Common Information Model, Compuset, Compute Anywhere, Configuration Intelligence, Configuresoft, Connectrix, Constellation Computing, EMC ControlCenter, CopyCross, CopyPoint, CX, DataBridge, Data Protection Suite. Data Protection Advisor, DBClassify, DD Boost, Dantz, DatabaseXtender, Data Domain, Direct Matrix Architecture, DiskXtender, DiskXtender 2000, DLS ECO, Document Sciences, Documentum, DR Anywhere, ECS, elnput, E-Lab, Elastic Cloud Storage, EmailXaminer, EmailXtender, EMC Centera, EMC ControlCenter, EMC LifeLine, EMCTV, Enginuity, EPFM. eRoom, Event Explorer, FAST, FarPoint, FirstPass, FLARE, FormWare, Geosynchrony, Global File Virtualization, Graphic Visualization, Greenplum, HighRoad, HomeBase, Illuminator, InfoArchive, InfoMover, Infoscape, Infra, Input</a:t>
            </a:r>
            <a:r>
              <a:rPr lang="ru-RU" b="0" i="1" spc="-10" dirty="0">
                <a:solidFill>
                  <a:srgbClr val="000000"/>
                </a:solidFill>
                <a:latin typeface="Arial" pitchFamily="34" charset="0"/>
                <a:cs typeface="Arial" pitchFamily="34" charset="0"/>
              </a:rPr>
              <a:t>Accel</a:t>
            </a:r>
            <a:r>
              <a:rPr lang="ru-RU" b="0" i="0" spc="-10" dirty="0">
                <a:solidFill>
                  <a:srgbClr val="000000"/>
                </a:solidFill>
                <a:latin typeface="Arial" pitchFamily="34" charset="0"/>
                <a:cs typeface="Arial" pitchFamily="34" charset="0"/>
              </a:rPr>
              <a:t>, Input</a:t>
            </a:r>
            <a:r>
              <a:rPr lang="ru-RU" b="0" i="1" spc="-10" dirty="0">
                <a:solidFill>
                  <a:srgbClr val="000000"/>
                </a:solidFill>
                <a:latin typeface="Arial" pitchFamily="34" charset="0"/>
                <a:cs typeface="Arial" pitchFamily="34" charset="0"/>
              </a:rPr>
              <a:t>Accel</a:t>
            </a:r>
            <a:r>
              <a:rPr lang="ru-RU" b="0" i="0" spc="-10" dirty="0">
                <a:solidFill>
                  <a:srgbClr val="000000"/>
                </a:solidFill>
                <a:latin typeface="Arial" pitchFamily="34" charset="0"/>
                <a:cs typeface="Arial" pitchFamily="34" charset="0"/>
              </a:rPr>
              <a:t> Express, Invista, Ionix, ISIS,Kazeon, EMC LifeLine, Mainframe Appliance for Storage, Mainframe Data Library, Max Retriever, MCx, MediaStor, Metro, MetroPoint, MirrorView, Multi-Band Deduplication,Navisphere, Netstorage, NetWorker, nLayers, EMC OnCourse, OnAlert, OpenScale, Petrocloud, PixTools, Powerlink, PowerPath, PowerSnap, ProSphere, ProtectEverywhere, ProtectPoint, EMC Proven, EMC Proven Professional, QuickScan, RAPIDPath, EMC RecoverPoint, Rainfinity, RepliCare, RepliStor, ResourcePak, Retrospect, RSA, логотип RSA, SafeLine, SAN Advisor, SAN Copy, SAN Manager, ScaleIO Smarts, EMC Snap, SnapImage, SnapSure, SnapView, SourceOne, SRDF, EMC Storage Administrator, StorageScope, SupportMate, SymmAPI, SymmEnabler, Symmetrix, Symmetrix DMX, Symmetrix VMAX, TimeFinder, TwinStrata, UltraFlex, UltraPoint, UltraScale, Unisphere, Universal Data Consistency, Vblock, Velocity, Viewlets, ViPR, Virtual Matrix, Virtual Matrix Architecture, Virtual Provisioning, Virtualize Everything, Compromise Nothing, Virtuent, VMAX, VMAXe, VNX, VNXe, Voyence, VPLEX, VSAM-Assist, VSAM I/O PLUS, VSET, VSPEX, Watch4net, WebXtender, xPression, xPresso, Xtrem, XtremCache, XtremSF, XtremSW, XtremIO, YottaYotta, Zero-Friction Enterprise Storage.</a:t>
            </a:r>
          </a:p>
          <a:p>
            <a:pPr lvl="0">
              <a:spcBef>
                <a:spcPts val="600"/>
              </a:spcBef>
            </a:pPr>
            <a:r>
              <a:rPr lang="ru-RU" b="0" i="0" dirty="0">
                <a:solidFill>
                  <a:srgbClr val="000000"/>
                </a:solidFill>
                <a:latin typeface="Arial" pitchFamily="34" charset="0"/>
                <a:cs typeface="Arial" pitchFamily="34" charset="0"/>
              </a:rPr>
              <a:t>Дата выпуска: август 2015 г. </a:t>
            </a:r>
          </a:p>
          <a:p>
            <a:pPr lvl="0">
              <a:spcBef>
                <a:spcPts val="600"/>
              </a:spcBef>
            </a:pPr>
            <a:r>
              <a:rPr lang="ru-RU" b="0" i="0" dirty="0">
                <a:solidFill>
                  <a:srgbClr val="000000"/>
                </a:solidFill>
                <a:latin typeface="Arial" pitchFamily="34" charset="0"/>
                <a:cs typeface="Arial" pitchFamily="34" charset="0"/>
              </a:rPr>
              <a:t>Номер выпуска: MR-1WP-ISMv3DCI</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69369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этом модуле рассматриваются строительные блоки среды центра обработки данных. Кроме того, здесь рассматриваются вычислительная система, ее компоненты и типы. Также рассматривается виртуализация вычислительных ресурсов, приложений и рабочих мест. Помимо этого, данный модуль представляет обзор ресурсов хранения и возможностей подключения в центре обработки данных. Наконец, этот модуль представляет обзор программно-определяемого центра обработки данных.</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511676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этом уроке рассматриваются строительные блоки среды центра обработки данных. Рассматриваются компоненты и функции на пяти уровнях центра обработки данных. Также рассматриваются три межуровневые функции в центре обработки данных. Кроме того, в этом уроке рассматриваются лучшая в своем классе и конвергентная инфраструктура.</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модуле 1 «Введение в систему хранения информации» было представлено определение центра обработки данных, а также описаны ИТ-инфраструктура и инфраструктура поддержки, которые образуют центр обработки данных. </a:t>
            </a:r>
          </a:p>
          <a:p>
            <a:pPr>
              <a:spcBef>
                <a:spcPts val="600"/>
              </a:spcBef>
            </a:pPr>
            <a:r>
              <a:rPr lang="ru-RU" b="0" i="0" dirty="0">
                <a:solidFill>
                  <a:srgbClr val="000000"/>
                </a:solidFill>
                <a:latin typeface="Arial" pitchFamily="34" charset="0"/>
                <a:cs typeface="Arial" pitchFamily="34" charset="0"/>
              </a:rPr>
              <a:t>Рисунок на слайде представляет собой блок-схему, отображающую основные строительные блоки ИТ-инфраструктуры, которые образуют центр обработки данных. </a:t>
            </a:r>
          </a:p>
          <a:p>
            <a:pPr>
              <a:spcBef>
                <a:spcPts val="600"/>
              </a:spcBef>
            </a:pPr>
            <a:r>
              <a:rPr lang="ru-RU" b="0" i="0" dirty="0">
                <a:solidFill>
                  <a:srgbClr val="000000"/>
                </a:solidFill>
                <a:latin typeface="Arial" pitchFamily="34" charset="0"/>
                <a:cs typeface="Arial" pitchFamily="34" charset="0"/>
              </a:rPr>
              <a:t>Эта ИТ-инфраструктура включает </a:t>
            </a:r>
            <a:r>
              <a:rPr lang="ru-RU" b="1" i="0" dirty="0">
                <a:solidFill>
                  <a:srgbClr val="000000"/>
                </a:solidFill>
                <a:latin typeface="Arial" pitchFamily="34" charset="0"/>
                <a:cs typeface="Arial" pitchFamily="34" charset="0"/>
              </a:rPr>
              <a:t>пять логических уровней </a:t>
            </a:r>
            <a:r>
              <a:rPr lang="ru-RU" b="0" i="0" dirty="0">
                <a:solidFill>
                  <a:srgbClr val="000000"/>
                </a:solidFill>
                <a:latin typeface="Arial" pitchFamily="34" charset="0"/>
                <a:cs typeface="Arial" pitchFamily="34" charset="0"/>
              </a:rPr>
              <a:t>и три межуровневые функции. </a:t>
            </a:r>
          </a:p>
          <a:p>
            <a:pPr>
              <a:spcBef>
                <a:spcPts val="600"/>
              </a:spcBef>
            </a:pPr>
            <a:r>
              <a:rPr lang="ru-RU" b="0" i="0" dirty="0">
                <a:solidFill>
                  <a:srgbClr val="000000"/>
                </a:solidFill>
                <a:latin typeface="Arial" pitchFamily="34" charset="0"/>
                <a:cs typeface="Arial" pitchFamily="34" charset="0"/>
              </a:rPr>
              <a:t>Пять уровней представляют собой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физическую инфраструктуру,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виртуальную инфраструктуру,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программно-определяемую инфраструктуру,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уровень оркестрации и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уровень услуг. </a:t>
            </a:r>
          </a:p>
          <a:p>
            <a:pPr>
              <a:spcBef>
                <a:spcPts val="600"/>
              </a:spcBef>
            </a:pPr>
            <a:r>
              <a:rPr lang="ru-RU" b="0" i="0" dirty="0">
                <a:solidFill>
                  <a:srgbClr val="000000"/>
                </a:solidFill>
                <a:latin typeface="Arial" pitchFamily="34" charset="0"/>
                <a:cs typeface="Arial" pitchFamily="34" charset="0"/>
              </a:rPr>
              <a:t>Как показано на рисунке, каждый из этих уровней имеет </a:t>
            </a:r>
            <a:r>
              <a:rPr lang="ru-RU" b="1" i="0" dirty="0">
                <a:solidFill>
                  <a:srgbClr val="000000"/>
                </a:solidFill>
                <a:latin typeface="Arial" pitchFamily="34" charset="0"/>
                <a:cs typeface="Arial" pitchFamily="34" charset="0"/>
              </a:rPr>
              <a:t>различные типы аппаратных и/или программных </a:t>
            </a:r>
            <a:r>
              <a:rPr lang="ru-RU" b="0" i="0" dirty="0">
                <a:solidFill>
                  <a:srgbClr val="000000"/>
                </a:solidFill>
                <a:latin typeface="Arial" pitchFamily="34" charset="0"/>
                <a:cs typeface="Arial" pitchFamily="34" charset="0"/>
              </a:rPr>
              <a:t>компонентов. </a:t>
            </a:r>
          </a:p>
          <a:p>
            <a:pPr>
              <a:spcBef>
                <a:spcPts val="600"/>
              </a:spcBef>
            </a:pPr>
            <a:r>
              <a:rPr lang="ru-RU" b="1" i="0" dirty="0">
                <a:solidFill>
                  <a:srgbClr val="FF0000"/>
                </a:solidFill>
                <a:latin typeface="Arial" pitchFamily="34" charset="0"/>
                <a:cs typeface="Arial" pitchFamily="34" charset="0"/>
              </a:rPr>
              <a:t>Три межуровневые функции </a:t>
            </a:r>
            <a:r>
              <a:rPr lang="ru-RU" b="0" i="0" dirty="0">
                <a:solidFill>
                  <a:srgbClr val="000000"/>
                </a:solidFill>
                <a:latin typeface="Arial" pitchFamily="34" charset="0"/>
                <a:cs typeface="Arial" pitchFamily="34" charset="0"/>
              </a:rPr>
              <a:t>— это непрерывность бизнеса, безопасность и управление. </a:t>
            </a:r>
          </a:p>
          <a:p>
            <a:pPr>
              <a:spcBef>
                <a:spcPts val="600"/>
              </a:spcBef>
            </a:pPr>
            <a:r>
              <a:rPr lang="ru-RU" b="0" i="0" dirty="0">
                <a:solidFill>
                  <a:srgbClr val="000000"/>
                </a:solidFill>
                <a:latin typeface="Arial" pitchFamily="34" charset="0"/>
                <a:cs typeface="Arial" pitchFamily="34" charset="0"/>
              </a:rPr>
              <a:t>Функции </a:t>
            </a:r>
            <a:r>
              <a:rPr lang="ru-RU" b="1" i="0" dirty="0">
                <a:solidFill>
                  <a:srgbClr val="000000"/>
                </a:solidFill>
                <a:latin typeface="Arial" pitchFamily="34" charset="0"/>
                <a:cs typeface="Arial" pitchFamily="34" charset="0"/>
              </a:rPr>
              <a:t>непрерывности бизнеса и безопасности </a:t>
            </a:r>
            <a:r>
              <a:rPr lang="ru-RU" b="0" i="0" dirty="0">
                <a:solidFill>
                  <a:srgbClr val="000000"/>
                </a:solidFill>
                <a:latin typeface="Arial" pitchFamily="34" charset="0"/>
                <a:cs typeface="Arial" pitchFamily="34" charset="0"/>
              </a:rPr>
              <a:t>включают в себя механизмы и процессы, необходимые для обеспечения надежного и безопасного доступа к приложениям, информации и услугам. </a:t>
            </a:r>
          </a:p>
          <a:p>
            <a:pPr>
              <a:spcBef>
                <a:spcPts val="600"/>
              </a:spcBef>
            </a:pPr>
            <a:r>
              <a:rPr lang="ru-RU" b="0" i="0" dirty="0">
                <a:solidFill>
                  <a:srgbClr val="000000"/>
                </a:solidFill>
                <a:latin typeface="Arial" pitchFamily="34" charset="0"/>
                <a:cs typeface="Arial" pitchFamily="34" charset="0"/>
              </a:rPr>
              <a:t>Функция </a:t>
            </a:r>
            <a:r>
              <a:rPr lang="ru-RU" b="1" i="0" dirty="0">
                <a:solidFill>
                  <a:srgbClr val="000000"/>
                </a:solidFill>
                <a:latin typeface="Arial" pitchFamily="34" charset="0"/>
                <a:cs typeface="Arial" pitchFamily="34" charset="0"/>
              </a:rPr>
              <a:t>управления</a:t>
            </a:r>
            <a:r>
              <a:rPr lang="ru-RU" b="0" i="0" dirty="0">
                <a:solidFill>
                  <a:srgbClr val="000000"/>
                </a:solidFill>
                <a:latin typeface="Arial" pitchFamily="34" charset="0"/>
                <a:cs typeface="Arial" pitchFamily="34" charset="0"/>
              </a:rPr>
              <a:t> включает в себя различные процессы, обеспечивающие эффективное администрирование центра обработки данных, а также услуги, предназначенные для удовлетворения бизнес-требований.</a:t>
            </a:r>
          </a:p>
          <a:p>
            <a:pPr>
              <a:spcBef>
                <a:spcPts val="600"/>
              </a:spcBef>
            </a:pPr>
            <a:r>
              <a:rPr lang="ru-RU" b="0" i="0" dirty="0">
                <a:solidFill>
                  <a:srgbClr val="000000"/>
                </a:solidFill>
                <a:latin typeface="Arial" pitchFamily="34" charset="0"/>
                <a:cs typeface="Arial" pitchFamily="34" charset="0"/>
              </a:rPr>
              <a:t>Изображенные на рисунке строительные блоки могут </a:t>
            </a:r>
            <a:r>
              <a:rPr lang="ru-RU" b="1" i="0" dirty="0">
                <a:solidFill>
                  <a:srgbClr val="000000"/>
                </a:solidFill>
                <a:latin typeface="Arial" pitchFamily="34" charset="0"/>
                <a:cs typeface="Arial" pitchFamily="34" charset="0"/>
              </a:rPr>
              <a:t>быть реализованы частично или полностью </a:t>
            </a:r>
            <a:r>
              <a:rPr lang="ru-RU" b="0" i="0" dirty="0">
                <a:solidFill>
                  <a:srgbClr val="000000"/>
                </a:solidFill>
                <a:latin typeface="Arial" pitchFamily="34" charset="0"/>
                <a:cs typeface="Arial" pitchFamily="34" charset="0"/>
              </a:rPr>
              <a:t>для создания центра обработки данных второй платформы, платформы 2.5 или третьей платформы. </a:t>
            </a:r>
          </a:p>
          <a:p>
            <a:pPr>
              <a:spcBef>
                <a:spcPts val="600"/>
              </a:spcBef>
            </a:pPr>
            <a:r>
              <a:rPr lang="ru-RU" b="0" i="0" dirty="0">
                <a:solidFill>
                  <a:srgbClr val="000000"/>
                </a:solidFill>
                <a:latin typeface="Arial" pitchFamily="34" charset="0"/>
                <a:cs typeface="Arial" pitchFamily="34" charset="0"/>
              </a:rPr>
              <a:t>Приложения, развернутые в центре обработки данных, могут представлять собой сочетание разработанных с учетом потребностей заказчика или готовых внутренних приложений, бизнес-приложений и приложений третьей платформы. </a:t>
            </a:r>
          </a:p>
          <a:p>
            <a:pPr>
              <a:spcBef>
                <a:spcPts val="600"/>
              </a:spcBef>
            </a:pPr>
            <a:r>
              <a:rPr lang="ru-RU" b="0" i="0" dirty="0">
                <a:solidFill>
                  <a:srgbClr val="000000"/>
                </a:solidFill>
                <a:latin typeface="Arial" pitchFamily="34" charset="0"/>
                <a:cs typeface="Arial" pitchFamily="34" charset="0"/>
              </a:rPr>
              <a:t>Поскольку эта инфраструктура </a:t>
            </a:r>
            <a:r>
              <a:rPr lang="ru-RU" b="1" i="0" dirty="0">
                <a:solidFill>
                  <a:srgbClr val="000000"/>
                </a:solidFill>
                <a:latin typeface="Arial" pitchFamily="34" charset="0"/>
                <a:cs typeface="Arial" pitchFamily="34" charset="0"/>
              </a:rPr>
              <a:t>обладает пятью важнейшими характеристиками облака</a:t>
            </a:r>
            <a:r>
              <a:rPr lang="ru-RU" b="0" i="0" dirty="0">
                <a:solidFill>
                  <a:srgbClr val="000000"/>
                </a:solidFill>
                <a:latin typeface="Arial" pitchFamily="34" charset="0"/>
                <a:cs typeface="Arial" pitchFamily="34" charset="0"/>
              </a:rPr>
              <a:t>, </a:t>
            </a:r>
            <a:endParaRPr lang="en-US" b="0" i="0" dirty="0">
              <a:solidFill>
                <a:srgbClr val="000000"/>
              </a:solidFill>
              <a:latin typeface="Arial" pitchFamily="34" charset="0"/>
              <a:cs typeface="Arial" pitchFamily="34" charset="0"/>
            </a:endParaRPr>
          </a:p>
          <a:p>
            <a:pPr marL="228600" indent="-228600">
              <a:spcBef>
                <a:spcPts val="600"/>
              </a:spcBef>
              <a:buAutoNum type="arabicPeriod"/>
            </a:pPr>
            <a:r>
              <a:rPr lang="ru-RU" sz="1000" b="1" i="0" dirty="0">
                <a:solidFill>
                  <a:srgbClr val="000000"/>
                </a:solidFill>
                <a:latin typeface="Arial" pitchFamily="34" charset="0"/>
                <a:cs typeface="Arial" pitchFamily="34" charset="0"/>
              </a:rPr>
              <a:t>Самообслуживание по требованию </a:t>
            </a:r>
            <a:endParaRPr lang="en-US" sz="1000" b="1" i="0" dirty="0">
              <a:solidFill>
                <a:srgbClr val="000000"/>
              </a:solidFill>
              <a:latin typeface="Arial" pitchFamily="34" charset="0"/>
              <a:cs typeface="Arial" pitchFamily="34" charset="0"/>
            </a:endParaRPr>
          </a:p>
          <a:p>
            <a:pPr marL="228600" indent="-228600">
              <a:spcBef>
                <a:spcPts val="600"/>
              </a:spcBef>
              <a:buAutoNum type="arabicPeriod"/>
            </a:pPr>
            <a:r>
              <a:rPr lang="ru-RU" sz="1000" b="1" i="0" dirty="0">
                <a:solidFill>
                  <a:srgbClr val="000000"/>
                </a:solidFill>
                <a:latin typeface="Arial" pitchFamily="34" charset="0"/>
                <a:cs typeface="Arial" pitchFamily="34" charset="0"/>
              </a:rPr>
              <a:t>Широкополосный сетевой доступ </a:t>
            </a:r>
            <a:endParaRPr lang="en-US" sz="1000" b="1" i="0" dirty="0">
              <a:solidFill>
                <a:srgbClr val="000000"/>
              </a:solidFill>
              <a:latin typeface="Arial" pitchFamily="34" charset="0"/>
              <a:cs typeface="Arial" pitchFamily="34" charset="0"/>
            </a:endParaRPr>
          </a:p>
          <a:p>
            <a:pPr marL="228600" indent="-228600">
              <a:spcBef>
                <a:spcPts val="600"/>
              </a:spcBef>
              <a:buAutoNum type="arabicPeriod"/>
            </a:pPr>
            <a:r>
              <a:rPr lang="ru-RU" sz="1000" b="1" i="0" dirty="0">
                <a:solidFill>
                  <a:srgbClr val="000000"/>
                </a:solidFill>
                <a:latin typeface="Arial" pitchFamily="34" charset="0"/>
                <a:cs typeface="Arial" pitchFamily="34" charset="0"/>
              </a:rPr>
              <a:t>Объединение ресурсов в пулы </a:t>
            </a:r>
            <a:endParaRPr lang="en-US" sz="1000" b="1" i="0" dirty="0">
              <a:solidFill>
                <a:srgbClr val="000000"/>
              </a:solidFill>
              <a:latin typeface="Arial" pitchFamily="34" charset="0"/>
              <a:cs typeface="Arial" pitchFamily="34" charset="0"/>
            </a:endParaRPr>
          </a:p>
          <a:p>
            <a:pPr marL="228600" indent="-228600">
              <a:spcBef>
                <a:spcPts val="600"/>
              </a:spcBef>
              <a:buAutoNum type="arabicPeriod"/>
            </a:pPr>
            <a:r>
              <a:rPr lang="ru-RU" sz="1000" b="1" i="0" dirty="0">
                <a:solidFill>
                  <a:srgbClr val="000000"/>
                </a:solidFill>
                <a:latin typeface="Arial" pitchFamily="34" charset="0"/>
                <a:cs typeface="Arial" pitchFamily="34" charset="0"/>
              </a:rPr>
              <a:t>Оперативность и гибкость </a:t>
            </a:r>
            <a:endParaRPr lang="en-US" sz="1000" b="1" i="0" dirty="0">
              <a:solidFill>
                <a:srgbClr val="000000"/>
              </a:solidFill>
              <a:latin typeface="Arial" pitchFamily="34" charset="0"/>
              <a:cs typeface="Arial" pitchFamily="34" charset="0"/>
            </a:endParaRPr>
          </a:p>
          <a:p>
            <a:pPr marL="228600" indent="-228600">
              <a:spcBef>
                <a:spcPts val="600"/>
              </a:spcBef>
              <a:buAutoNum type="arabicPeriod"/>
            </a:pPr>
            <a:r>
              <a:rPr lang="ru-RU" sz="1000" b="1" i="0" dirty="0">
                <a:solidFill>
                  <a:srgbClr val="000000"/>
                </a:solidFill>
                <a:latin typeface="Arial" pitchFamily="34" charset="0"/>
                <a:cs typeface="Arial" pitchFamily="34" charset="0"/>
              </a:rPr>
              <a:t>Измеряемые показатели обслуживания </a:t>
            </a:r>
            <a:endParaRPr lang="en-US" b="0" i="0" dirty="0">
              <a:solidFill>
                <a:srgbClr val="000000"/>
              </a:solidFill>
              <a:latin typeface="Arial" pitchFamily="34" charset="0"/>
              <a:cs typeface="Arial" pitchFamily="34" charset="0"/>
            </a:endParaRPr>
          </a:p>
          <a:p>
            <a:pPr>
              <a:spcBef>
                <a:spcPts val="600"/>
              </a:spcBef>
            </a:pPr>
            <a:r>
              <a:rPr lang="ru-RU" b="0" i="0" dirty="0">
                <a:solidFill>
                  <a:srgbClr val="000000"/>
                </a:solidFill>
                <a:latin typeface="Arial" pitchFamily="34" charset="0"/>
                <a:cs typeface="Arial" pitchFamily="34" charset="0"/>
              </a:rPr>
              <a:t>она может быть трансформирована в облачную инфраструктуру в виде частного или публичного облака. </a:t>
            </a:r>
          </a:p>
          <a:p>
            <a:pPr>
              <a:spcBef>
                <a:spcPts val="600"/>
              </a:spcBef>
            </a:pPr>
            <a:r>
              <a:rPr lang="ru-RU" b="0" i="0" dirty="0">
                <a:solidFill>
                  <a:srgbClr val="000000"/>
                </a:solidFill>
                <a:latin typeface="Arial" pitchFamily="34" charset="0"/>
                <a:cs typeface="Arial" pitchFamily="34" charset="0"/>
              </a:rPr>
              <a:t>Кроме того, благодаря интеграции расширяемости облака эта инфраструктура </a:t>
            </a:r>
            <a:r>
              <a:rPr lang="ru-RU" b="1" i="0" dirty="0">
                <a:solidFill>
                  <a:srgbClr val="000000"/>
                </a:solidFill>
                <a:latin typeface="Arial" pitchFamily="34" charset="0"/>
                <a:cs typeface="Arial" pitchFamily="34" charset="0"/>
              </a:rPr>
              <a:t>может быть подключена к внешнему облаку </a:t>
            </a:r>
            <a:r>
              <a:rPr lang="ru-RU" b="0" i="0" dirty="0">
                <a:solidFill>
                  <a:srgbClr val="000000"/>
                </a:solidFill>
                <a:latin typeface="Arial" pitchFamily="34" charset="0"/>
                <a:cs typeface="Arial" pitchFamily="34" charset="0"/>
              </a:rPr>
              <a:t>с целью использования </a:t>
            </a:r>
            <a:r>
              <a:rPr lang="ru-RU" b="1" i="0" dirty="0">
                <a:solidFill>
                  <a:srgbClr val="000000"/>
                </a:solidFill>
                <a:latin typeface="Arial" pitchFamily="34" charset="0"/>
                <a:cs typeface="Arial" pitchFamily="34" charset="0"/>
              </a:rPr>
              <a:t>модели гибридного облака</a:t>
            </a:r>
            <a:r>
              <a:rPr lang="ru-RU" b="0" i="0" dirty="0">
                <a:solidFill>
                  <a:srgbClr val="000000"/>
                </a:solidFill>
                <a:latin typeface="Arial" pitchFamily="34" charset="0"/>
                <a:cs typeface="Arial" pitchFamily="34" charset="0"/>
              </a:rPr>
              <a:t>.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614877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Физическая инфраструктура образует базовый уровень центра обработки данных. </a:t>
            </a:r>
          </a:p>
          <a:p>
            <a:pPr>
              <a:spcBef>
                <a:spcPts val="600"/>
              </a:spcBef>
            </a:pPr>
            <a:r>
              <a:rPr lang="ru-RU" b="0" i="0" dirty="0">
                <a:solidFill>
                  <a:srgbClr val="000000"/>
                </a:solidFill>
                <a:latin typeface="Arial" pitchFamily="34" charset="0"/>
                <a:cs typeface="Arial" pitchFamily="34" charset="0"/>
              </a:rPr>
              <a:t>Она включает оборудование, например,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вычислительные системы,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системы хранения и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сетевые устройства, </a:t>
            </a:r>
          </a:p>
          <a:p>
            <a:pPr lvl="0">
              <a:spcBef>
                <a:spcPts val="600"/>
              </a:spcBef>
              <a:buFont typeface="Arial" pitchFamily="34" charset="0"/>
              <a:buNone/>
            </a:pPr>
            <a:r>
              <a:rPr lang="ru-RU" b="0" i="0" dirty="0">
                <a:solidFill>
                  <a:srgbClr val="000000"/>
                </a:solidFill>
                <a:latin typeface="Arial" pitchFamily="34" charset="0"/>
                <a:cs typeface="Arial" pitchFamily="34" charset="0"/>
              </a:rPr>
              <a:t>и ПО</a:t>
            </a:r>
          </a:p>
          <a:p>
            <a:pPr lvl="2">
              <a:spcBef>
                <a:spcPts val="600"/>
              </a:spcBef>
              <a:buFont typeface="Arial" pitchFamily="34" charset="0"/>
              <a:buChar char="•"/>
            </a:pPr>
            <a:r>
              <a:rPr lang="ru-RU" b="0" i="0" dirty="0">
                <a:solidFill>
                  <a:srgbClr val="000000"/>
                </a:solidFill>
                <a:latin typeface="Arial" pitchFamily="34" charset="0"/>
                <a:cs typeface="Arial" pitchFamily="34" charset="0"/>
              </a:rPr>
              <a:t>с операционными системами, </a:t>
            </a:r>
          </a:p>
          <a:p>
            <a:pPr lvl="2">
              <a:spcBef>
                <a:spcPts val="600"/>
              </a:spcBef>
              <a:buFont typeface="Arial" pitchFamily="34" charset="0"/>
              <a:buChar char="•"/>
            </a:pPr>
            <a:r>
              <a:rPr lang="ru-RU" b="0" i="0" dirty="0">
                <a:solidFill>
                  <a:srgbClr val="000000"/>
                </a:solidFill>
                <a:latin typeface="Arial" pitchFamily="34" charset="0"/>
                <a:cs typeface="Arial" pitchFamily="34" charset="0"/>
              </a:rPr>
              <a:t>системным программным обеспечением, </a:t>
            </a:r>
          </a:p>
          <a:p>
            <a:pPr lvl="2">
              <a:spcBef>
                <a:spcPts val="600"/>
              </a:spcBef>
              <a:buFont typeface="Arial" pitchFamily="34" charset="0"/>
              <a:buChar char="•"/>
            </a:pPr>
            <a:r>
              <a:rPr lang="ru-RU" b="0" i="0" dirty="0">
                <a:solidFill>
                  <a:srgbClr val="000000"/>
                </a:solidFill>
                <a:latin typeface="Arial" pitchFamily="34" charset="0"/>
                <a:cs typeface="Arial" pitchFamily="34" charset="0"/>
              </a:rPr>
              <a:t>протоколами и инструментами, </a:t>
            </a:r>
          </a:p>
          <a:p>
            <a:pPr lvl="2">
              <a:spcBef>
                <a:spcPts val="600"/>
              </a:spcBef>
              <a:buFont typeface="Arial" pitchFamily="34" charset="0"/>
              <a:buNone/>
            </a:pPr>
            <a:r>
              <a:rPr lang="ru-RU" b="0" i="0" dirty="0">
                <a:solidFill>
                  <a:srgbClr val="000000"/>
                </a:solidFill>
                <a:latin typeface="Arial" pitchFamily="34" charset="0"/>
                <a:cs typeface="Arial" pitchFamily="34" charset="0"/>
              </a:rPr>
              <a:t>которые обеспечивают выполнение физическим оборудованием своих функций. </a:t>
            </a:r>
          </a:p>
          <a:p>
            <a:pPr>
              <a:spcBef>
                <a:spcPts val="600"/>
              </a:spcBef>
            </a:pPr>
            <a:r>
              <a:rPr lang="ru-RU" b="0" i="0" dirty="0">
                <a:solidFill>
                  <a:srgbClr val="000000"/>
                </a:solidFill>
                <a:latin typeface="Arial" pitchFamily="34" charset="0"/>
                <a:cs typeface="Arial" pitchFamily="34" charset="0"/>
              </a:rPr>
              <a:t>Ключевая функция физической инфраструктуры </a:t>
            </a:r>
            <a:r>
              <a:rPr lang="ru-RU" b="1" i="0" dirty="0">
                <a:solidFill>
                  <a:srgbClr val="000000"/>
                </a:solidFill>
                <a:latin typeface="Arial" pitchFamily="34" charset="0"/>
                <a:cs typeface="Arial" pitchFamily="34" charset="0"/>
              </a:rPr>
              <a:t>заключается в исполнении запросов, генерируемых виртуальной и программно-определяемой инфраструктурами</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Эти запросы могут включать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сохранение данных в устройствах хранения данных,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выполнение обмена данными между двумя вычислительными системами,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выполнение программ в вычислительных системах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и создание резервных копий данных. </a:t>
            </a:r>
          </a:p>
          <a:p>
            <a:pPr>
              <a:spcBef>
                <a:spcPts val="600"/>
              </a:spcBef>
            </a:pPr>
            <a:r>
              <a:rPr lang="ru-RU" b="0" i="0" dirty="0">
                <a:solidFill>
                  <a:srgbClr val="000000"/>
                </a:solidFill>
                <a:latin typeface="Arial" pitchFamily="34" charset="0"/>
                <a:cs typeface="Arial" pitchFamily="34" charset="0"/>
              </a:rPr>
              <a:t>Вычислительные системы будут рассмотрены далее в этом модуле. Различные системы хранения рассматриваются в модулях 4 («Интеллектуальные системы хранения»), 5 («Блочная система хранения»), 6 («Файловая система хранения») и 7 («Объектная и унифицированная система хранения»). Сети рассматриваются в модулях 9 («Сеть хранения данных Fibre Channel (FC)»), 10 («Сеть хранения данных Internet Protocol (IP)») и 11 («Сеть хранения данных FC over Ethernet (FCoE)»).</a:t>
            </a:r>
          </a:p>
        </p:txBody>
      </p:sp>
    </p:spTree>
    <p:extLst>
      <p:ext uri="{BB962C8B-B14F-4D97-AF65-F5344CB8AC3E}">
        <p14:creationId xmlns:p14="http://schemas.microsoft.com/office/powerpoint/2010/main" val="176371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45720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Виртуализация — </a:t>
            </a:r>
            <a:r>
              <a:rPr lang="ru-RU" b="0" i="0" dirty="0">
                <a:solidFill>
                  <a:srgbClr val="000000"/>
                </a:solidFill>
                <a:latin typeface="Arial" pitchFamily="34" charset="0"/>
                <a:cs typeface="Arial" pitchFamily="34" charset="0"/>
              </a:rPr>
              <a:t>это процесс абстрагирования физических ресурсов,например, вычислительных ресурсов, ресурсов хранения и сетевых ресурсов, и создания из них виртуальных ресурсов.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Виртуализация достигается за счет использования </a:t>
            </a:r>
            <a:r>
              <a:rPr lang="ru-RU" b="1" i="0" dirty="0">
                <a:solidFill>
                  <a:srgbClr val="000000"/>
                </a:solidFill>
                <a:latin typeface="Arial" pitchFamily="34" charset="0"/>
                <a:cs typeface="Arial" pitchFamily="34" charset="0"/>
              </a:rPr>
              <a:t>программного обеспечения для виртуализации</a:t>
            </a:r>
            <a:r>
              <a:rPr lang="ru-RU" b="0" i="0" dirty="0">
                <a:solidFill>
                  <a:srgbClr val="000000"/>
                </a:solidFill>
                <a:latin typeface="Arial" pitchFamily="34" charset="0"/>
                <a:cs typeface="Arial" pitchFamily="34" charset="0"/>
              </a:rPr>
              <a:t>, развертываемого </a:t>
            </a:r>
            <a:r>
              <a:rPr lang="ru-RU" b="1" i="0" dirty="0">
                <a:solidFill>
                  <a:srgbClr val="000000"/>
                </a:solidFill>
                <a:latin typeface="Arial" pitchFamily="34" charset="0"/>
                <a:cs typeface="Arial" pitchFamily="34" charset="0"/>
              </a:rPr>
              <a:t>в вычислительных системах, системах хранения и сетевых устройствах</a:t>
            </a:r>
            <a:r>
              <a:rPr lang="ru-RU" b="0" i="0" dirty="0">
                <a:solidFill>
                  <a:srgbClr val="000000"/>
                </a:solidFill>
                <a:latin typeface="Arial" pitchFamily="34" charset="0"/>
                <a:cs typeface="Arial" pitchFamily="34" charset="0"/>
              </a:rPr>
              <a:t>.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Программное обеспечение для виртуализации </a:t>
            </a:r>
            <a:r>
              <a:rPr lang="ru-RU" b="1" i="0" dirty="0">
                <a:solidFill>
                  <a:srgbClr val="000000"/>
                </a:solidFill>
                <a:latin typeface="Arial" pitchFamily="34" charset="0"/>
                <a:cs typeface="Arial" pitchFamily="34" charset="0"/>
              </a:rPr>
              <a:t>объединяет физические ресурсы в пулы ресурсов</a:t>
            </a:r>
            <a:r>
              <a:rPr lang="ru-RU" b="0" i="0" dirty="0">
                <a:solidFill>
                  <a:srgbClr val="000000"/>
                </a:solidFill>
                <a:latin typeface="Arial" pitchFamily="34" charset="0"/>
                <a:cs typeface="Arial" pitchFamily="34" charset="0"/>
              </a:rPr>
              <a:t>, из которых оно создает виртуальные ресурсы.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Пул ресурсов представляет собой конгломерат вычислительных ресурсов (вычислительная мощность, память, система хранения и полоса пропускания сети).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Например, </a:t>
            </a:r>
            <a:r>
              <a:rPr lang="ru-RU" b="1" i="0" dirty="0">
                <a:solidFill>
                  <a:srgbClr val="000000"/>
                </a:solidFill>
                <a:latin typeface="Arial" pitchFamily="34" charset="0"/>
                <a:cs typeface="Arial" pitchFamily="34" charset="0"/>
              </a:rPr>
              <a:t>программное обеспечение для виртуализации хранилища </a:t>
            </a:r>
            <a:r>
              <a:rPr lang="ru-RU" b="0" i="0" dirty="0">
                <a:solidFill>
                  <a:srgbClr val="000000"/>
                </a:solidFill>
                <a:latin typeface="Arial" pitchFamily="34" charset="0"/>
                <a:cs typeface="Arial" pitchFamily="34" charset="0"/>
              </a:rPr>
              <a:t>объединяет в пул емкость нескольких устройств хранения данных с целью создания единой большой емкости хранения.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Аналогичным образом </a:t>
            </a:r>
            <a:r>
              <a:rPr lang="ru-RU" b="1" i="0" dirty="0">
                <a:solidFill>
                  <a:srgbClr val="000000"/>
                </a:solidFill>
                <a:latin typeface="Arial" pitchFamily="34" charset="0"/>
                <a:cs typeface="Arial" pitchFamily="34" charset="0"/>
              </a:rPr>
              <a:t>программное обеспечение для виртуализации вычислительных ресурсов </a:t>
            </a:r>
            <a:r>
              <a:rPr lang="ru-RU" b="0" i="0" dirty="0">
                <a:solidFill>
                  <a:srgbClr val="000000"/>
                </a:solidFill>
                <a:latin typeface="Arial" pitchFamily="34" charset="0"/>
                <a:cs typeface="Arial" pitchFamily="34" charset="0"/>
              </a:rPr>
              <a:t>объединяет в пул вычислительную мощность и емкость памяти физической вычислительной системы с целью создания конгломерата мощности всех процессоров (в мегагерцах) и всей памяти (в мегабайтах).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Примеры виртуальных ресурсов включают виртуальные вычислительные ресурсы (виртуальные машины), виртуальные ресурсы хранения (тома) и виртуальные сети. </a:t>
            </a:r>
          </a:p>
          <a:p>
            <a:pPr indent="457200">
              <a:spcBef>
                <a:spcPts val="600"/>
              </a:spcBef>
            </a:pPr>
            <a:r>
              <a:rPr lang="ru-RU" b="0" i="0" dirty="0">
                <a:solidFill>
                  <a:srgbClr val="000000"/>
                </a:solidFill>
                <a:latin typeface="Arial" pitchFamily="34" charset="0"/>
                <a:cs typeface="Arial" pitchFamily="34" charset="0"/>
              </a:rPr>
              <a:t>Благодаря виртуализации </a:t>
            </a:r>
            <a:r>
              <a:rPr lang="ru-RU" b="1" i="0" dirty="0">
                <a:solidFill>
                  <a:srgbClr val="000000"/>
                </a:solidFill>
                <a:latin typeface="Arial" pitchFamily="34" charset="0"/>
                <a:cs typeface="Arial" pitchFamily="34" charset="0"/>
              </a:rPr>
              <a:t>один аппаратный ресурс </a:t>
            </a:r>
            <a:r>
              <a:rPr lang="ru-RU" b="0" i="0" dirty="0">
                <a:solidFill>
                  <a:srgbClr val="000000"/>
                </a:solidFill>
                <a:latin typeface="Arial" pitchFamily="34" charset="0"/>
                <a:cs typeface="Arial" pitchFamily="34" charset="0"/>
              </a:rPr>
              <a:t>может поддерживать </a:t>
            </a:r>
            <a:r>
              <a:rPr lang="ru-RU" b="1" i="0" dirty="0">
                <a:solidFill>
                  <a:srgbClr val="000000"/>
                </a:solidFill>
                <a:latin typeface="Arial" pitchFamily="34" charset="0"/>
                <a:cs typeface="Arial" pitchFamily="34" charset="0"/>
              </a:rPr>
              <a:t>несколько параллельных экземпляров систем</a:t>
            </a:r>
            <a:r>
              <a:rPr lang="ru-RU" b="0" i="0" dirty="0">
                <a:solidFill>
                  <a:srgbClr val="000000"/>
                </a:solidFill>
                <a:latin typeface="Arial" pitchFamily="34" charset="0"/>
                <a:cs typeface="Arial" pitchFamily="34" charset="0"/>
              </a:rPr>
              <a:t>, или же </a:t>
            </a:r>
            <a:r>
              <a:rPr lang="ru-RU" b="1" i="0" dirty="0">
                <a:solidFill>
                  <a:srgbClr val="000000"/>
                </a:solidFill>
                <a:latin typeface="Arial" pitchFamily="34" charset="0"/>
                <a:cs typeface="Arial" pitchFamily="34" charset="0"/>
              </a:rPr>
              <a:t>несколько аппаратных ресурсов </a:t>
            </a:r>
            <a:r>
              <a:rPr lang="ru-RU" b="0" i="0" dirty="0">
                <a:solidFill>
                  <a:srgbClr val="000000"/>
                </a:solidFill>
                <a:latin typeface="Arial" pitchFamily="34" charset="0"/>
                <a:cs typeface="Arial" pitchFamily="34" charset="0"/>
              </a:rPr>
              <a:t>могут поддерживать </a:t>
            </a:r>
            <a:r>
              <a:rPr lang="ru-RU" b="1" i="0" dirty="0">
                <a:solidFill>
                  <a:srgbClr val="000000"/>
                </a:solidFill>
                <a:latin typeface="Arial" pitchFamily="34" charset="0"/>
                <a:cs typeface="Arial" pitchFamily="34" charset="0"/>
              </a:rPr>
              <a:t>один экземпляр системы</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Например, один дисковый накопитель может быть разбит на разделы и представлен вычислительной системе в виде нескольких дисков. Аналогичным образом можно объединить несколько дисков и представить их вычислительной системе в виде единого диска. </a:t>
            </a:r>
          </a:p>
          <a:p>
            <a:pPr indent="457200">
              <a:spcBef>
                <a:spcPts val="600"/>
              </a:spcBef>
            </a:pPr>
            <a:r>
              <a:rPr lang="ru-RU" b="0" i="0" dirty="0">
                <a:solidFill>
                  <a:srgbClr val="000000"/>
                </a:solidFill>
                <a:latin typeface="Arial" pitchFamily="34" charset="0"/>
                <a:cs typeface="Arial" pitchFamily="34" charset="0"/>
              </a:rPr>
              <a:t>Кроме того, при помощи виртуализации можно сделать так, чтобы какой-либо ресурс выглядел более крупным или меньшим, чем он есть на самом деле.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Виртуализация в центрах обработки данных предлагает несколько преимуществ.</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Она обеспечивает консолидацию физических ИТ-ресурсов и поддерживает многопользовательские среды.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Это оптимизирует использование физических ресурсов, что, в свою очередь, приводит к повышению окупаемости инвестиций (ROI) и позволяет снизить затраты на приобретение нового оборудования.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Кроме того, виртуализация </a:t>
            </a:r>
            <a:r>
              <a:rPr lang="ru-RU" b="1" i="0" dirty="0">
                <a:solidFill>
                  <a:srgbClr val="000000"/>
                </a:solidFill>
                <a:latin typeface="Arial" pitchFamily="34" charset="0"/>
                <a:cs typeface="Arial" pitchFamily="34" charset="0"/>
              </a:rPr>
              <a:t>снижает требования к занимаемой площади и энергопотреблению</a:t>
            </a:r>
            <a:r>
              <a:rPr lang="ru-RU" b="0" i="0" dirty="0">
                <a:solidFill>
                  <a:srgbClr val="000000"/>
                </a:solidFill>
                <a:latin typeface="Arial" pitchFamily="34" charset="0"/>
                <a:cs typeface="Arial" pitchFamily="34" charset="0"/>
              </a:rPr>
              <a:t>, а также упрощает управление инфраструктурой. </a:t>
            </a: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Она также </a:t>
            </a:r>
            <a:r>
              <a:rPr lang="ru-RU" b="1" i="0" dirty="0">
                <a:solidFill>
                  <a:srgbClr val="000000"/>
                </a:solidFill>
                <a:latin typeface="Arial" pitchFamily="34" charset="0"/>
                <a:cs typeface="Arial" pitchFamily="34" charset="0"/>
              </a:rPr>
              <a:t>повышает гибкость выделения ресурсов </a:t>
            </a:r>
            <a:r>
              <a:rPr lang="ru-RU" b="0" i="0" dirty="0">
                <a:solidFill>
                  <a:srgbClr val="000000"/>
                </a:solidFill>
                <a:latin typeface="Arial" pitchFamily="34" charset="0"/>
                <a:cs typeface="Arial" pitchFamily="34" charset="0"/>
              </a:rPr>
              <a:t>за счет динамического создания и освобождения виртуальных ресурсов. Виртуализация — это ключевая технология, обеспечивающая соответствие таким характеристикам облачных технологий, как объединение ресурсов в пул, оперативность и гибкость. </a:t>
            </a:r>
            <a:endParaRPr lang="en-US" b="0" i="0" dirty="0">
              <a:solidFill>
                <a:srgbClr val="000000"/>
              </a:solidFill>
              <a:latin typeface="Arial" pitchFamily="34" charset="0"/>
              <a:cs typeface="Arial" pitchFamily="34" charset="0"/>
            </a:endParaRPr>
          </a:p>
          <a:p>
            <a:pPr indent="457200">
              <a:spcBef>
                <a:spcPts val="600"/>
              </a:spcBef>
            </a:pPr>
            <a:r>
              <a:rPr lang="ru-RU" dirty="0">
                <a:latin typeface="Arial" pitchFamily="34" charset="0"/>
                <a:cs typeface="Arial" pitchFamily="34" charset="0"/>
              </a:rPr>
              <a:t>Виртуализация вычислительных ресурсов рассматривается дальше в этом модуле, а различные методы виртуализации системы хранения и сети будут рассмотрены далее в соответствующих модулях этого курса, посвященных системам хранения и сетям.</a:t>
            </a:r>
          </a:p>
          <a:p>
            <a:pPr indent="457200">
              <a:spcBef>
                <a:spcPts val="600"/>
              </a:spcBef>
            </a:pPr>
            <a:r>
              <a:rPr lang="ru-RU" i="1" dirty="0">
                <a:latin typeface="Arial" pitchFamily="34" charset="0"/>
                <a:cs typeface="Arial" pitchFamily="34" charset="0"/>
              </a:rPr>
              <a:t>Примечание. При развертывании центра обработки данных организация может предпочесть не развертывать уровень виртуализации. В такой инфраструктуре программно-определяемый уровень развертывается непосредственно над физической инфраструктурой. Кроме того, возможны случаи, когда часть инфраструктуры виртуализирована, а остальная часть — нет.</a:t>
            </a:r>
          </a:p>
          <a:p>
            <a:pPr marL="0" marR="0" indent="0" defTabSz="457200" rtl="0" eaLnBrk="1" fontAlgn="auto" latinLnBrk="0" hangingPunct="1">
              <a:spcBef>
                <a:spcPts val="600"/>
              </a:spcBef>
              <a:buClrTx/>
              <a:buSzTx/>
              <a:buFontTx/>
              <a:buNone/>
              <a:tabLst/>
              <a:defRPr/>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778398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Уровень программно-определяемой инфраструктуры развертывается либо на виртуальном, либо на физическом уровне. </a:t>
            </a:r>
          </a:p>
          <a:p>
            <a:pPr>
              <a:spcBef>
                <a:spcPts val="600"/>
              </a:spcBef>
            </a:pPr>
            <a:r>
              <a:rPr lang="ru-RU" b="0" i="0" dirty="0">
                <a:solidFill>
                  <a:srgbClr val="000000"/>
                </a:solidFill>
                <a:latin typeface="Arial" pitchFamily="34" charset="0"/>
                <a:cs typeface="Arial" pitchFamily="34" charset="0"/>
              </a:rPr>
              <a:t>В рамках программно-определяемого подхода </a:t>
            </a:r>
            <a:r>
              <a:rPr lang="ru-RU" b="1" i="0" dirty="0">
                <a:solidFill>
                  <a:srgbClr val="000000"/>
                </a:solidFill>
                <a:latin typeface="Arial" pitchFamily="34" charset="0"/>
                <a:cs typeface="Arial" pitchFamily="34" charset="0"/>
              </a:rPr>
              <a:t>все компоненты инфраструктуры виртуализируются и объединяются </a:t>
            </a:r>
            <a:r>
              <a:rPr lang="ru-RU" b="0" i="0" dirty="0">
                <a:solidFill>
                  <a:srgbClr val="000000"/>
                </a:solidFill>
                <a:latin typeface="Arial" pitchFamily="34" charset="0"/>
                <a:cs typeface="Arial" pitchFamily="34" charset="0"/>
              </a:rPr>
              <a:t>в пулы. </a:t>
            </a:r>
          </a:p>
          <a:p>
            <a:pPr>
              <a:spcBef>
                <a:spcPts val="600"/>
              </a:spcBef>
            </a:pPr>
            <a:r>
              <a:rPr lang="ru-RU" b="0" i="0" dirty="0">
                <a:solidFill>
                  <a:srgbClr val="000000"/>
                </a:solidFill>
                <a:latin typeface="Arial" pitchFamily="34" charset="0"/>
                <a:cs typeface="Arial" pitchFamily="34" charset="0"/>
              </a:rPr>
              <a:t>Это </a:t>
            </a:r>
            <a:r>
              <a:rPr lang="ru-RU" b="1" i="0" dirty="0">
                <a:solidFill>
                  <a:srgbClr val="000000"/>
                </a:solidFill>
                <a:latin typeface="Arial" pitchFamily="34" charset="0"/>
                <a:cs typeface="Arial" pitchFamily="34" charset="0"/>
              </a:rPr>
              <a:t>абстрагирует все базовые ресурсы от приложений</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Программно-определяемый подход позволяет реализовать </a:t>
            </a:r>
            <a:r>
              <a:rPr lang="ru-RU" b="1" i="0" dirty="0">
                <a:solidFill>
                  <a:srgbClr val="000000"/>
                </a:solidFill>
                <a:latin typeface="Arial" pitchFamily="34" charset="0"/>
                <a:cs typeface="Arial" pitchFamily="34" charset="0"/>
              </a:rPr>
              <a:t>модель «ИТ как услуга», </a:t>
            </a:r>
            <a:r>
              <a:rPr lang="ru-RU" b="0" i="0" dirty="0">
                <a:solidFill>
                  <a:srgbClr val="000000"/>
                </a:solidFill>
                <a:latin typeface="Arial" pitchFamily="34" charset="0"/>
                <a:cs typeface="Arial" pitchFamily="34" charset="0"/>
              </a:rPr>
              <a:t>в рамках которой </a:t>
            </a:r>
            <a:r>
              <a:rPr lang="ru-RU" b="1" i="0" dirty="0">
                <a:solidFill>
                  <a:srgbClr val="000000"/>
                </a:solidFill>
                <a:latin typeface="Arial" pitchFamily="34" charset="0"/>
                <a:cs typeface="Arial" pitchFamily="34" charset="0"/>
              </a:rPr>
              <a:t>потребители выделяют ресурсы всех компонентов инфраструктуры как услуги</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Он централизует и автоматизирует управление и предоставление гетерогенных ресурсов на основе политик. </a:t>
            </a:r>
          </a:p>
          <a:p>
            <a:pPr>
              <a:spcBef>
                <a:spcPts val="600"/>
              </a:spcBef>
            </a:pPr>
            <a:r>
              <a:rPr lang="ru-RU" b="0" i="0" dirty="0">
                <a:solidFill>
                  <a:srgbClr val="000000"/>
                </a:solidFill>
                <a:latin typeface="Arial" pitchFamily="34" charset="0"/>
                <a:cs typeface="Arial" pitchFamily="34" charset="0"/>
              </a:rPr>
              <a:t>Ключевые архитектурные компоненты при программно-определяемом подходе включают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программно-определяемую вычислительную систему (эквивалент виртуализации вычислительных ресурсов),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программно-определяемую систему хранения (SDS)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и программно-определяемую сеть (SDN). </a:t>
            </a:r>
          </a:p>
          <a:p>
            <a:pPr>
              <a:spcBef>
                <a:spcPts val="600"/>
              </a:spcBef>
            </a:pPr>
            <a:r>
              <a:rPr lang="ru-RU" b="0" i="0" dirty="0">
                <a:solidFill>
                  <a:srgbClr val="000000"/>
                </a:solidFill>
                <a:latin typeface="Arial" pitchFamily="34" charset="0"/>
                <a:cs typeface="Arial" pitchFamily="34" charset="0"/>
              </a:rPr>
              <a:t>Программно-определяемый центр обработки данных рассматривается дальше в этом модуле. </a:t>
            </a:r>
          </a:p>
          <a:p>
            <a:pPr>
              <a:spcBef>
                <a:spcPts val="600"/>
              </a:spcBef>
            </a:pPr>
            <a:r>
              <a:rPr lang="ru-RU" b="0" i="0" dirty="0">
                <a:solidFill>
                  <a:srgbClr val="000000"/>
                </a:solidFill>
                <a:latin typeface="Arial" pitchFamily="34" charset="0"/>
                <a:cs typeface="Arial" pitchFamily="34" charset="0"/>
              </a:rPr>
              <a:t>Программно-определяемая система хранения: рассматривается в модуле 8, а программно-определяемая сеть рассматривается в модулях, посвященных сетям.</a:t>
            </a:r>
          </a:p>
        </p:txBody>
      </p:sp>
    </p:spTree>
    <p:extLst>
      <p:ext uri="{BB962C8B-B14F-4D97-AF65-F5344CB8AC3E}">
        <p14:creationId xmlns:p14="http://schemas.microsoft.com/office/powerpoint/2010/main" val="2156594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defRPr/>
            </a:pPr>
            <a:r>
              <a:rPr lang="ru-RU" b="0" i="0" u="none" dirty="0">
                <a:solidFill>
                  <a:srgbClr val="000000"/>
                </a:solidFill>
                <a:latin typeface="Arial" pitchFamily="34" charset="0"/>
                <a:cs typeface="Arial" pitchFamily="34" charset="0"/>
              </a:rPr>
              <a:t>Уровень оркестрации включает программное обеспечение для оркестрации. </a:t>
            </a:r>
          </a:p>
          <a:p>
            <a:pPr indent="457200">
              <a:spcBef>
                <a:spcPts val="600"/>
              </a:spcBef>
              <a:defRPr/>
            </a:pPr>
            <a:r>
              <a:rPr lang="ru-RU" b="0" i="0" dirty="0">
                <a:solidFill>
                  <a:srgbClr val="000000"/>
                </a:solidFill>
                <a:latin typeface="Arial" pitchFamily="34" charset="0"/>
                <a:cs typeface="Arial" pitchFamily="34" charset="0"/>
              </a:rPr>
              <a:t>Ключевая функция этого уровня заключается </a:t>
            </a:r>
            <a:r>
              <a:rPr lang="ru-RU" b="1" i="0" dirty="0">
                <a:solidFill>
                  <a:srgbClr val="000000"/>
                </a:solidFill>
                <a:latin typeface="Arial" pitchFamily="34" charset="0"/>
                <a:cs typeface="Arial" pitchFamily="34" charset="0"/>
              </a:rPr>
              <a:t>в предоставлении рабочих процессов для выполнения автоматизированных задач</a:t>
            </a:r>
            <a:r>
              <a:rPr lang="ru-RU" b="0" i="0" dirty="0">
                <a:solidFill>
                  <a:srgbClr val="000000"/>
                </a:solidFill>
                <a:latin typeface="Arial" pitchFamily="34" charset="0"/>
                <a:cs typeface="Arial" pitchFamily="34" charset="0"/>
              </a:rPr>
              <a:t>, предназначенных для получения требуемого конечного результата. </a:t>
            </a:r>
          </a:p>
          <a:p>
            <a:pPr indent="457200">
              <a:spcBef>
                <a:spcPts val="600"/>
              </a:spcBef>
              <a:defRPr/>
            </a:pPr>
            <a:r>
              <a:rPr lang="ru-RU" b="0" i="0" dirty="0">
                <a:solidFill>
                  <a:srgbClr val="000000"/>
                </a:solidFill>
                <a:latin typeface="Arial" pitchFamily="34" charset="0"/>
                <a:cs typeface="Arial" pitchFamily="34" charset="0"/>
              </a:rPr>
              <a:t>Рабочим процессом называется </a:t>
            </a:r>
            <a:r>
              <a:rPr lang="ru-RU" b="1" i="0" dirty="0">
                <a:solidFill>
                  <a:srgbClr val="000000"/>
                </a:solidFill>
                <a:latin typeface="Arial" pitchFamily="34" charset="0"/>
                <a:cs typeface="Arial" pitchFamily="34" charset="0"/>
              </a:rPr>
              <a:t>последовательность взаимосвязанных задач, выполняющих определенную бизнес-операцию</a:t>
            </a:r>
            <a:r>
              <a:rPr lang="ru-RU" b="0" i="0" dirty="0">
                <a:solidFill>
                  <a:srgbClr val="000000"/>
                </a:solidFill>
                <a:latin typeface="Arial" pitchFamily="34" charset="0"/>
                <a:cs typeface="Arial" pitchFamily="34" charset="0"/>
              </a:rPr>
              <a:t>. Программное обеспечение для оркестрации </a:t>
            </a:r>
            <a:r>
              <a:rPr lang="ru-RU" b="1" i="0" u="none" dirty="0">
                <a:solidFill>
                  <a:srgbClr val="000000"/>
                </a:solidFill>
                <a:latin typeface="Arial" pitchFamily="34" charset="0"/>
                <a:cs typeface="Arial" pitchFamily="34" charset="0"/>
              </a:rPr>
              <a:t>обеспечивает такую </a:t>
            </a:r>
            <a:r>
              <a:rPr lang="ru-RU" b="1" i="0" dirty="0">
                <a:solidFill>
                  <a:srgbClr val="000000"/>
                </a:solidFill>
                <a:latin typeface="Arial" pitchFamily="34" charset="0"/>
                <a:cs typeface="Arial" pitchFamily="34" charset="0"/>
              </a:rPr>
              <a:t>автоматизированную </a:t>
            </a:r>
            <a:r>
              <a:rPr lang="ru-RU" b="1" i="0" u="none" dirty="0">
                <a:solidFill>
                  <a:srgbClr val="000000"/>
                </a:solidFill>
                <a:latin typeface="Arial" pitchFamily="34" charset="0"/>
                <a:cs typeface="Arial" pitchFamily="34" charset="0"/>
              </a:rPr>
              <a:t>организацию, координацию этих задач и управление ими</a:t>
            </a:r>
            <a:r>
              <a:rPr lang="ru-RU" b="0" i="0" u="none" dirty="0">
                <a:solidFill>
                  <a:srgbClr val="000000"/>
                </a:solidFill>
                <a:latin typeface="Arial" pitchFamily="34" charset="0"/>
                <a:cs typeface="Arial" pitchFamily="34" charset="0"/>
              </a:rPr>
              <a:t>. </a:t>
            </a:r>
          </a:p>
          <a:p>
            <a:pPr indent="457200">
              <a:spcBef>
                <a:spcPts val="600"/>
              </a:spcBef>
              <a:defRPr/>
            </a:pPr>
            <a:r>
              <a:rPr lang="ru-RU" b="0" i="0" dirty="0">
                <a:solidFill>
                  <a:srgbClr val="000000"/>
                </a:solidFill>
                <a:latin typeface="Arial" pitchFamily="34" charset="0"/>
                <a:cs typeface="Arial" pitchFamily="34" charset="0"/>
              </a:rPr>
              <a:t>Это помогает </a:t>
            </a:r>
            <a:r>
              <a:rPr lang="ru-RU" b="1" i="0" dirty="0">
                <a:solidFill>
                  <a:srgbClr val="000000"/>
                </a:solidFill>
                <a:latin typeface="Arial" pitchFamily="34" charset="0"/>
                <a:cs typeface="Arial" pitchFamily="34" charset="0"/>
              </a:rPr>
              <a:t>группировать и упорядочивать взаимозависимые задачи в единый автоматизированный рабочий процесс</a:t>
            </a:r>
            <a:r>
              <a:rPr lang="ru-RU" b="0" i="0" dirty="0">
                <a:solidFill>
                  <a:srgbClr val="000000"/>
                </a:solidFill>
                <a:latin typeface="Arial" pitchFamily="34" charset="0"/>
                <a:cs typeface="Arial" pitchFamily="34" charset="0"/>
              </a:rPr>
              <a:t>. </a:t>
            </a:r>
          </a:p>
          <a:p>
            <a:pPr indent="457200" defTabSz="914400" eaLnBrk="0" fontAlgn="base" hangingPunct="0">
              <a:spcBef>
                <a:spcPts val="600"/>
              </a:spcBef>
              <a:defRPr/>
            </a:pPr>
            <a:r>
              <a:rPr lang="ru-RU" b="0" i="0" dirty="0">
                <a:solidFill>
                  <a:srgbClr val="000000"/>
                </a:solidFill>
                <a:latin typeface="Arial" pitchFamily="34" charset="0"/>
                <a:cs typeface="Arial" pitchFamily="34" charset="0"/>
              </a:rPr>
              <a:t>Для </a:t>
            </a:r>
            <a:r>
              <a:rPr lang="ru-RU" b="1" i="0" dirty="0">
                <a:solidFill>
                  <a:srgbClr val="000000"/>
                </a:solidFill>
                <a:latin typeface="Arial" pitchFamily="34" charset="0"/>
                <a:cs typeface="Arial" pitchFamily="34" charset="0"/>
              </a:rPr>
              <a:t>каждой услуги</a:t>
            </a:r>
            <a:r>
              <a:rPr lang="ru-RU" b="0" i="0" dirty="0">
                <a:solidFill>
                  <a:srgbClr val="000000"/>
                </a:solidFill>
                <a:latin typeface="Arial" pitchFamily="34" charset="0"/>
                <a:cs typeface="Arial" pitchFamily="34" charset="0"/>
              </a:rPr>
              <a:t>, входящей в каталог услуг, </a:t>
            </a:r>
            <a:r>
              <a:rPr lang="ru-RU" b="1" i="0" dirty="0">
                <a:solidFill>
                  <a:srgbClr val="000000"/>
                </a:solidFill>
                <a:latin typeface="Arial" pitchFamily="34" charset="0"/>
                <a:cs typeface="Arial" pitchFamily="34" charset="0"/>
              </a:rPr>
              <a:t>определен связанный с ней рабочий процесс оркестрации</a:t>
            </a:r>
            <a:r>
              <a:rPr lang="ru-RU" b="0" i="0" dirty="0">
                <a:solidFill>
                  <a:srgbClr val="000000"/>
                </a:solidFill>
                <a:latin typeface="Arial" pitchFamily="34" charset="0"/>
                <a:cs typeface="Arial" pitchFamily="34" charset="0"/>
              </a:rPr>
              <a:t>. </a:t>
            </a:r>
          </a:p>
          <a:p>
            <a:pPr indent="457200" defTabSz="914400" eaLnBrk="0" fontAlgn="base" hangingPunct="0">
              <a:spcBef>
                <a:spcPts val="600"/>
              </a:spcBef>
              <a:defRPr/>
            </a:pPr>
            <a:r>
              <a:rPr lang="ru-RU" b="0" i="0" dirty="0">
                <a:solidFill>
                  <a:srgbClr val="000000"/>
                </a:solidFill>
                <a:latin typeface="Arial" pitchFamily="34" charset="0"/>
                <a:cs typeface="Arial" pitchFamily="34" charset="0"/>
              </a:rPr>
              <a:t>При </a:t>
            </a:r>
            <a:r>
              <a:rPr lang="ru-RU" b="1" i="0" dirty="0">
                <a:solidFill>
                  <a:srgbClr val="000000"/>
                </a:solidFill>
                <a:latin typeface="Arial" pitchFamily="34" charset="0"/>
                <a:cs typeface="Arial" pitchFamily="34" charset="0"/>
              </a:rPr>
              <a:t>выборе услуги </a:t>
            </a:r>
            <a:r>
              <a:rPr lang="ru-RU" b="0" i="0" dirty="0">
                <a:solidFill>
                  <a:srgbClr val="000000"/>
                </a:solidFill>
                <a:latin typeface="Arial" pitchFamily="34" charset="0"/>
                <a:cs typeface="Arial" pitchFamily="34" charset="0"/>
              </a:rPr>
              <a:t>в каталоге услуг на уровне оркестрации </a:t>
            </a:r>
            <a:r>
              <a:rPr lang="ru-RU" b="1" i="0" dirty="0">
                <a:solidFill>
                  <a:srgbClr val="000000"/>
                </a:solidFill>
                <a:latin typeface="Arial" pitchFamily="34" charset="0"/>
                <a:cs typeface="Arial" pitchFamily="34" charset="0"/>
              </a:rPr>
              <a:t>запускается связанный с ней рабочий процесс</a:t>
            </a:r>
            <a:r>
              <a:rPr lang="ru-RU" b="0" i="0" dirty="0">
                <a:solidFill>
                  <a:srgbClr val="000000"/>
                </a:solidFill>
                <a:latin typeface="Arial" pitchFamily="34" charset="0"/>
                <a:cs typeface="Arial" pitchFamily="34" charset="0"/>
              </a:rPr>
              <a:t>. </a:t>
            </a:r>
          </a:p>
          <a:p>
            <a:pPr indent="457200" defTabSz="914400" eaLnBrk="0" fontAlgn="base" hangingPunct="0">
              <a:spcBef>
                <a:spcPts val="600"/>
              </a:spcBef>
              <a:defRPr/>
            </a:pPr>
            <a:r>
              <a:rPr lang="ru-RU" b="0" i="0" dirty="0">
                <a:solidFill>
                  <a:srgbClr val="000000"/>
                </a:solidFill>
                <a:latin typeface="Arial" pitchFamily="34" charset="0"/>
                <a:cs typeface="Arial" pitchFamily="34" charset="0"/>
              </a:rPr>
              <a:t>На основе этого рабочего процесса программное обеспечение для оркестрации взаимодействует с компонентами на программно-определяемом уровне, а также с функциями обеспечения непрерывности бизнеса, безопасности и управления, чтобы инициировать</a:t>
            </a:r>
            <a:r>
              <a:rPr lang="ru-RU" b="0" i="0" dirty="0">
                <a:solidFill>
                  <a:srgbClr val="FFC000"/>
                </a:solidFill>
                <a:latin typeface="Arial" pitchFamily="34" charset="0"/>
                <a:cs typeface="Arial" pitchFamily="34" charset="0"/>
              </a:rPr>
              <a:t> </a:t>
            </a:r>
            <a:r>
              <a:rPr lang="ru-RU" b="0" i="0" dirty="0">
                <a:solidFill>
                  <a:srgbClr val="000000"/>
                </a:solidFill>
                <a:latin typeface="Arial" pitchFamily="34" charset="0"/>
                <a:cs typeface="Arial" pitchFamily="34" charset="0"/>
              </a:rPr>
              <a:t>выполнение этими элементами задач по выделению ресурсов.</a:t>
            </a:r>
          </a:p>
        </p:txBody>
      </p:sp>
    </p:spTree>
    <p:extLst>
      <p:ext uri="{BB962C8B-B14F-4D97-AF65-F5344CB8AC3E}">
        <p14:creationId xmlns:p14="http://schemas.microsoft.com/office/powerpoint/2010/main" val="4013462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Аналогично облачным услугам, ИТ-</a:t>
            </a:r>
            <a:r>
              <a:rPr lang="ru-RU" b="0" i="1" dirty="0">
                <a:solidFill>
                  <a:srgbClr val="000000"/>
                </a:solidFill>
                <a:latin typeface="Arial" pitchFamily="34" charset="0"/>
                <a:cs typeface="Arial" pitchFamily="34" charset="0"/>
              </a:rPr>
              <a:t>услуга </a:t>
            </a:r>
            <a:r>
              <a:rPr lang="ru-RU" b="1" i="0" dirty="0">
                <a:solidFill>
                  <a:srgbClr val="000000"/>
                </a:solidFill>
                <a:latin typeface="Arial" pitchFamily="34" charset="0"/>
                <a:cs typeface="Arial" pitchFamily="34" charset="0"/>
              </a:rPr>
              <a:t>служит средством предоставления конечным пользователям ИТ-ресурсов</a:t>
            </a:r>
            <a:r>
              <a:rPr lang="ru-RU" b="0" i="0" dirty="0">
                <a:solidFill>
                  <a:srgbClr val="000000"/>
                </a:solidFill>
                <a:latin typeface="Arial" pitchFamily="34" charset="0"/>
                <a:cs typeface="Arial" pitchFamily="34" charset="0"/>
              </a:rPr>
              <a:t>, которые позволяют достигать требуемых бизнес-результатов </a:t>
            </a:r>
            <a:r>
              <a:rPr lang="ru-RU" b="1" i="0" dirty="0">
                <a:solidFill>
                  <a:srgbClr val="000000"/>
                </a:solidFill>
                <a:latin typeface="Arial" pitchFamily="34" charset="0"/>
                <a:cs typeface="Arial" pitchFamily="34" charset="0"/>
              </a:rPr>
              <a:t>без рисков и затрат, связанных с владением собственными ресурсами</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Примерами таких услуг могут служить </a:t>
            </a:r>
            <a:r>
              <a:rPr lang="ru-RU" b="1" i="0" dirty="0">
                <a:solidFill>
                  <a:srgbClr val="000000"/>
                </a:solidFill>
                <a:latin typeface="Arial" pitchFamily="34" charset="0"/>
                <a:cs typeface="Arial" pitchFamily="34" charset="0"/>
              </a:rPr>
              <a:t>хостинг приложений, емкость хранения, файловые сервисы и электронная почта</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Уровень услуг доступен </a:t>
            </a:r>
            <a:r>
              <a:rPr lang="ru-RU" b="1" i="0" dirty="0">
                <a:solidFill>
                  <a:srgbClr val="000000"/>
                </a:solidFill>
                <a:latin typeface="Arial" pitchFamily="34" charset="0"/>
                <a:cs typeface="Arial" pitchFamily="34" charset="0"/>
              </a:rPr>
              <a:t>для приложений и конечных пользователей</a:t>
            </a:r>
            <a:r>
              <a:rPr lang="ru-RU" b="0" i="0" dirty="0">
                <a:solidFill>
                  <a:srgbClr val="000000"/>
                </a:solidFill>
                <a:latin typeface="Arial" pitchFamily="34" charset="0"/>
                <a:cs typeface="Arial" pitchFamily="34" charset="0"/>
              </a:rPr>
              <a:t>.</a:t>
            </a:r>
          </a:p>
          <a:p>
            <a:pPr indent="457200">
              <a:spcBef>
                <a:spcPts val="600"/>
              </a:spcBef>
            </a:pPr>
            <a:r>
              <a:rPr lang="ru-RU" b="0" i="0" dirty="0">
                <a:solidFill>
                  <a:srgbClr val="000000"/>
                </a:solidFill>
                <a:latin typeface="Arial" pitchFamily="34" charset="0"/>
                <a:cs typeface="Arial" pitchFamily="34" charset="0"/>
              </a:rPr>
              <a:t>Этот уровень включает </a:t>
            </a:r>
            <a:r>
              <a:rPr lang="ru-RU" b="1" i="0" dirty="0">
                <a:solidFill>
                  <a:srgbClr val="000000"/>
                </a:solidFill>
                <a:latin typeface="Arial" pitchFamily="34" charset="0"/>
                <a:cs typeface="Arial" pitchFamily="34" charset="0"/>
              </a:rPr>
              <a:t>каталог услуг</a:t>
            </a:r>
            <a:r>
              <a:rPr lang="ru-RU" b="0" i="0" dirty="0">
                <a:solidFill>
                  <a:srgbClr val="000000"/>
                </a:solidFill>
                <a:latin typeface="Arial" pitchFamily="34" charset="0"/>
                <a:cs typeface="Arial" pitchFamily="34" charset="0"/>
              </a:rPr>
              <a:t>, в котором представлена информация обо всех ИТ-ресурсах, предлагаемых как услуга. </a:t>
            </a:r>
          </a:p>
          <a:p>
            <a:pPr indent="457200">
              <a:spcBef>
                <a:spcPts val="600"/>
              </a:spcBef>
            </a:pPr>
            <a:r>
              <a:rPr lang="ru-RU" b="0" i="0" dirty="0">
                <a:solidFill>
                  <a:srgbClr val="000000"/>
                </a:solidFill>
                <a:latin typeface="Arial" pitchFamily="34" charset="0"/>
                <a:cs typeface="Arial" pitchFamily="34" charset="0"/>
              </a:rPr>
              <a:t>Каталог услуг — это </a:t>
            </a:r>
            <a:r>
              <a:rPr lang="ru-RU" b="1" i="0" dirty="0">
                <a:solidFill>
                  <a:srgbClr val="000000"/>
                </a:solidFill>
                <a:latin typeface="Arial" pitchFamily="34" charset="0"/>
                <a:cs typeface="Arial" pitchFamily="34" charset="0"/>
              </a:rPr>
              <a:t>база данных</a:t>
            </a:r>
            <a:r>
              <a:rPr lang="ru-RU" b="0" i="0" dirty="0">
                <a:solidFill>
                  <a:srgbClr val="000000"/>
                </a:solidFill>
                <a:latin typeface="Arial" pitchFamily="34" charset="0"/>
                <a:cs typeface="Arial" pitchFamily="34" charset="0"/>
              </a:rPr>
              <a:t>, в которой хранится информация об услугах. </a:t>
            </a:r>
          </a:p>
          <a:p>
            <a:pPr indent="457200">
              <a:spcBef>
                <a:spcPts val="600"/>
              </a:spcBef>
            </a:pPr>
            <a:r>
              <a:rPr lang="ru-RU" b="0" i="0" dirty="0">
                <a:solidFill>
                  <a:srgbClr val="000000"/>
                </a:solidFill>
                <a:latin typeface="Arial" pitchFamily="34" charset="0"/>
                <a:cs typeface="Arial" pitchFamily="34" charset="0"/>
              </a:rPr>
              <a:t>Он включает различные сведения об услугах, в том числе описание услуг, их типы, стоимость, поддерживаемые соглашения об уровне обслуживания и механизмы обеспечения безопасности. </a:t>
            </a:r>
          </a:p>
          <a:p>
            <a:pPr indent="457200">
              <a:spcBef>
                <a:spcPts val="600"/>
              </a:spcBef>
            </a:pPr>
            <a:r>
              <a:rPr lang="ru-RU" b="0" i="0" dirty="0">
                <a:solidFill>
                  <a:srgbClr val="000000"/>
                </a:solidFill>
                <a:latin typeface="Arial" pitchFamily="34" charset="0"/>
                <a:cs typeface="Arial" pitchFamily="34" charset="0"/>
              </a:rPr>
              <a:t>Запросы на выделение ресурсов и управление передаются на уровень оркестрации, на котором определены рабочие процессы, предназначенные для выполнения этих запросов.</a:t>
            </a:r>
          </a:p>
        </p:txBody>
      </p:sp>
    </p:spTree>
    <p:extLst>
      <p:ext uri="{BB962C8B-B14F-4D97-AF65-F5344CB8AC3E}">
        <p14:creationId xmlns:p14="http://schemas.microsoft.com/office/powerpoint/2010/main" val="2830617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1" dirty="0">
                <a:solidFill>
                  <a:srgbClr val="000000"/>
                </a:solidFill>
                <a:latin typeface="Arial" pitchFamily="34" charset="0"/>
                <a:cs typeface="Arial" pitchFamily="34" charset="0"/>
              </a:rPr>
              <a:t>Межуровневая функция </a:t>
            </a:r>
            <a:r>
              <a:rPr lang="ru-RU" b="1" i="0" dirty="0">
                <a:solidFill>
                  <a:srgbClr val="000000"/>
                </a:solidFill>
                <a:latin typeface="Arial" pitchFamily="34" charset="0"/>
                <a:cs typeface="Arial" pitchFamily="34" charset="0"/>
              </a:rPr>
              <a:t>непрерывности бизнеса </a:t>
            </a:r>
            <a:r>
              <a:rPr lang="ru-RU" b="0" i="0" dirty="0">
                <a:solidFill>
                  <a:srgbClr val="000000"/>
                </a:solidFill>
                <a:latin typeface="Arial" pitchFamily="34" charset="0"/>
                <a:cs typeface="Arial" pitchFamily="34" charset="0"/>
              </a:rPr>
              <a:t>определяет внедрение </a:t>
            </a:r>
            <a:r>
              <a:rPr lang="ru-RU" b="1" i="0" dirty="0">
                <a:solidFill>
                  <a:srgbClr val="000000"/>
                </a:solidFill>
                <a:latin typeface="Arial" pitchFamily="34" charset="0"/>
                <a:cs typeface="Arial" pitchFamily="34" charset="0"/>
              </a:rPr>
              <a:t>упреждающих и пассивных мер</a:t>
            </a:r>
            <a:r>
              <a:rPr lang="ru-RU" b="0" i="0" dirty="0">
                <a:solidFill>
                  <a:srgbClr val="000000"/>
                </a:solidFill>
                <a:latin typeface="Arial" pitchFamily="34" charset="0"/>
                <a:cs typeface="Arial" pitchFamily="34" charset="0"/>
              </a:rPr>
              <a:t>, дающих организациям возможность </a:t>
            </a:r>
            <a:r>
              <a:rPr lang="ru-RU" b="1" i="0" dirty="0">
                <a:solidFill>
                  <a:srgbClr val="000000"/>
                </a:solidFill>
                <a:latin typeface="Arial" pitchFamily="34" charset="0"/>
                <a:cs typeface="Arial" pitchFamily="34" charset="0"/>
              </a:rPr>
              <a:t>уменьшить влияние плановых и внеплановых простоев</a:t>
            </a:r>
            <a:r>
              <a:rPr lang="ru-RU" b="0" i="0" dirty="0">
                <a:solidFill>
                  <a:srgbClr val="000000"/>
                </a:solidFill>
                <a:latin typeface="Arial" pitchFamily="34" charset="0"/>
                <a:cs typeface="Arial" pitchFamily="34" charset="0"/>
              </a:rPr>
              <a:t>. </a:t>
            </a:r>
          </a:p>
          <a:p>
            <a:pPr>
              <a:spcBef>
                <a:spcPts val="600"/>
              </a:spcBef>
              <a:defRPr/>
            </a:pPr>
            <a:r>
              <a:rPr lang="ru-RU" b="1" i="0" dirty="0">
                <a:solidFill>
                  <a:srgbClr val="000000"/>
                </a:solidFill>
                <a:latin typeface="Arial" pitchFamily="34" charset="0"/>
                <a:cs typeface="Arial" pitchFamily="34" charset="0"/>
              </a:rPr>
              <a:t>Упреждающие меры </a:t>
            </a:r>
            <a:r>
              <a:rPr lang="ru-RU" b="0" i="0" dirty="0">
                <a:solidFill>
                  <a:srgbClr val="000000"/>
                </a:solidFill>
                <a:latin typeface="Arial" pitchFamily="34" charset="0"/>
                <a:cs typeface="Arial" pitchFamily="34" charset="0"/>
              </a:rPr>
              <a:t>включают такие действия и процессы, как анализ последствий для бизнеса и оценка рисков, а также технические решения, например</a:t>
            </a:r>
            <a:r>
              <a:rPr lang="ru-RU" b="1" i="0" dirty="0">
                <a:solidFill>
                  <a:srgbClr val="000000"/>
                </a:solidFill>
                <a:latin typeface="Arial" pitchFamily="34" charset="0"/>
                <a:cs typeface="Arial" pitchFamily="34" charset="0"/>
              </a:rPr>
              <a:t>, резервное копирование, архивирование и репликацию</a:t>
            </a:r>
            <a:r>
              <a:rPr lang="ru-RU" b="0" i="0" dirty="0">
                <a:solidFill>
                  <a:srgbClr val="000000"/>
                </a:solidFill>
                <a:latin typeface="Arial" pitchFamily="34" charset="0"/>
                <a:cs typeface="Arial" pitchFamily="34" charset="0"/>
              </a:rPr>
              <a:t>. </a:t>
            </a:r>
          </a:p>
          <a:p>
            <a:pPr>
              <a:spcBef>
                <a:spcPts val="600"/>
              </a:spcBef>
              <a:defRPr/>
            </a:pPr>
            <a:r>
              <a:rPr lang="ru-RU" b="1" i="0" dirty="0">
                <a:solidFill>
                  <a:srgbClr val="000000"/>
                </a:solidFill>
                <a:latin typeface="Arial" pitchFamily="34" charset="0"/>
                <a:cs typeface="Arial" pitchFamily="34" charset="0"/>
              </a:rPr>
              <a:t>Пассивные меры </a:t>
            </a:r>
            <a:r>
              <a:rPr lang="ru-RU" b="0" i="0" dirty="0">
                <a:solidFill>
                  <a:srgbClr val="000000"/>
                </a:solidFill>
                <a:latin typeface="Arial" pitchFamily="34" charset="0"/>
                <a:cs typeface="Arial" pitchFamily="34" charset="0"/>
              </a:rPr>
              <a:t>включают такие действия и процессы, </a:t>
            </a:r>
            <a:r>
              <a:rPr lang="ru-RU" b="1" i="0" dirty="0">
                <a:solidFill>
                  <a:srgbClr val="000000"/>
                </a:solidFill>
                <a:latin typeface="Arial" pitchFamily="34" charset="0"/>
                <a:cs typeface="Arial" pitchFamily="34" charset="0"/>
              </a:rPr>
              <a:t>как аварийное восстановление и аварийный перезапуск</a:t>
            </a:r>
            <a:r>
              <a:rPr lang="ru-RU" b="0" i="0" dirty="0">
                <a:solidFill>
                  <a:srgbClr val="000000"/>
                </a:solidFill>
                <a:latin typeface="Arial" pitchFamily="34" charset="0"/>
                <a:cs typeface="Arial" pitchFamily="34" charset="0"/>
              </a:rPr>
              <a:t>, инициируемые в случае сбоя в предоставлении услуг. </a:t>
            </a:r>
          </a:p>
          <a:p>
            <a:pPr>
              <a:spcBef>
                <a:spcPts val="600"/>
              </a:spcBef>
              <a:defRPr/>
            </a:pPr>
            <a:r>
              <a:rPr lang="ru-RU" b="0" i="0" dirty="0">
                <a:solidFill>
                  <a:srgbClr val="000000"/>
                </a:solidFill>
                <a:latin typeface="Arial" pitchFamily="34" charset="0"/>
                <a:cs typeface="Arial" pitchFamily="34" charset="0"/>
              </a:rPr>
              <a:t>Эта функция </a:t>
            </a:r>
            <a:r>
              <a:rPr lang="ru-RU" b="1" i="0" dirty="0">
                <a:solidFill>
                  <a:srgbClr val="000000"/>
                </a:solidFill>
                <a:latin typeface="Arial" pitchFamily="34" charset="0"/>
                <a:cs typeface="Arial" pitchFamily="34" charset="0"/>
              </a:rPr>
              <a:t>поддерживает все уровни</a:t>
            </a:r>
            <a:r>
              <a:rPr lang="ru-RU" b="0" i="0" dirty="0">
                <a:solidFill>
                  <a:srgbClr val="000000"/>
                </a:solidFill>
                <a:latin typeface="Arial" pitchFamily="34" charset="0"/>
                <a:cs typeface="Arial" pitchFamily="34" charset="0"/>
              </a:rPr>
              <a:t> — </a:t>
            </a:r>
            <a:r>
              <a:rPr lang="ru-RU" b="1" i="0" dirty="0">
                <a:solidFill>
                  <a:srgbClr val="000000"/>
                </a:solidFill>
                <a:latin typeface="Arial" pitchFamily="34" charset="0"/>
                <a:cs typeface="Arial" pitchFamily="34" charset="0"/>
              </a:rPr>
              <a:t>физический, виртуальный, программно-определяемый, уровень оркестрации и уровень услуг</a:t>
            </a:r>
            <a:r>
              <a:rPr lang="ru-RU" b="0" i="0" dirty="0">
                <a:solidFill>
                  <a:srgbClr val="000000"/>
                </a:solidFill>
                <a:latin typeface="Arial" pitchFamily="34" charset="0"/>
                <a:cs typeface="Arial" pitchFamily="34" charset="0"/>
              </a:rPr>
              <a:t> — с целью бесперебойного предоставления пользователям различных услуг. </a:t>
            </a:r>
          </a:p>
          <a:p>
            <a:pPr>
              <a:spcBef>
                <a:spcPts val="600"/>
              </a:spcBef>
              <a:defRPr/>
            </a:pPr>
            <a:r>
              <a:rPr lang="ru-RU" b="0" i="0" dirty="0">
                <a:solidFill>
                  <a:srgbClr val="000000"/>
                </a:solidFill>
                <a:latin typeface="Arial" pitchFamily="34" charset="0"/>
                <a:cs typeface="Arial" pitchFamily="34" charset="0"/>
              </a:rPr>
              <a:t>Межуровневая функция непрерывности бизнеса, присутствующая в облачной инфраструктуре, </a:t>
            </a:r>
            <a:r>
              <a:rPr lang="ru-RU" b="1" i="0" dirty="0">
                <a:solidFill>
                  <a:srgbClr val="000000"/>
                </a:solidFill>
                <a:latin typeface="Arial" pitchFamily="34" charset="0"/>
                <a:cs typeface="Arial" pitchFamily="34" charset="0"/>
              </a:rPr>
              <a:t>позволяет предприятиям обеспечить доступность услуг в соответствии с соглашением об уровне обслуживания</a:t>
            </a:r>
            <a:r>
              <a:rPr lang="ru-RU" b="0" i="0" dirty="0">
                <a:solidFill>
                  <a:srgbClr val="000000"/>
                </a:solidFill>
                <a:latin typeface="Arial" pitchFamily="34" charset="0"/>
                <a:cs typeface="Arial" pitchFamily="34" charset="0"/>
              </a:rPr>
              <a:t>. </a:t>
            </a:r>
          </a:p>
          <a:p>
            <a:pPr>
              <a:spcBef>
                <a:spcPts val="600"/>
              </a:spcBef>
              <a:defRPr/>
            </a:pPr>
            <a:r>
              <a:rPr lang="ru-RU" b="0" i="0" dirty="0">
                <a:solidFill>
                  <a:srgbClr val="000000"/>
                </a:solidFill>
                <a:latin typeface="Arial" pitchFamily="34" charset="0"/>
                <a:cs typeface="Arial" pitchFamily="34" charset="0"/>
              </a:rPr>
              <a:t>Непрерывность бизнеса и решения для обеспечения непрерывности бизнеса рассматриваются в модулях 12 («Введение в непрерывность бизнеса»), 13 («Резервное копирование и архивирование») и 14 («Репликация»).</a:t>
            </a:r>
          </a:p>
        </p:txBody>
      </p:sp>
    </p:spTree>
    <p:extLst>
      <p:ext uri="{BB962C8B-B14F-4D97-AF65-F5344CB8AC3E}">
        <p14:creationId xmlns:p14="http://schemas.microsoft.com/office/powerpoint/2010/main" val="2870179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Межуровневая функция </a:t>
            </a:r>
            <a:r>
              <a:rPr lang="ru-RU" b="1" i="0" dirty="0">
                <a:solidFill>
                  <a:srgbClr val="000000"/>
                </a:solidFill>
                <a:latin typeface="Arial" pitchFamily="34" charset="0"/>
                <a:cs typeface="Arial" pitchFamily="34" charset="0"/>
              </a:rPr>
              <a:t>обеспечения безопасности </a:t>
            </a:r>
            <a:r>
              <a:rPr lang="ru-RU" b="0" i="0" dirty="0">
                <a:solidFill>
                  <a:srgbClr val="000000"/>
                </a:solidFill>
                <a:latin typeface="Arial" pitchFamily="34" charset="0"/>
                <a:cs typeface="Arial" pitchFamily="34" charset="0"/>
              </a:rPr>
              <a:t>поддерживает </a:t>
            </a:r>
            <a:r>
              <a:rPr lang="ru-RU" b="1" i="0" dirty="0">
                <a:solidFill>
                  <a:srgbClr val="000000"/>
                </a:solidFill>
                <a:latin typeface="Arial" pitchFamily="34" charset="0"/>
                <a:cs typeface="Arial" pitchFamily="34" charset="0"/>
              </a:rPr>
              <a:t>все уровни инфраструктуры</a:t>
            </a:r>
            <a:r>
              <a:rPr lang="ru-RU" b="0" i="0" dirty="0">
                <a:solidFill>
                  <a:srgbClr val="000000"/>
                </a:solidFill>
                <a:latin typeface="Arial" pitchFamily="34" charset="0"/>
                <a:cs typeface="Arial" pitchFamily="34" charset="0"/>
              </a:rPr>
              <a:t> — физический, виртуальный, программно-определяемый, уровень оркестрации и уровень услуг — с целью предоставления пользователям безопасных услуг. </a:t>
            </a:r>
          </a:p>
          <a:p>
            <a:pPr>
              <a:spcBef>
                <a:spcPts val="600"/>
              </a:spcBef>
            </a:pPr>
            <a:r>
              <a:rPr lang="ru-RU" b="0" i="0" dirty="0">
                <a:solidFill>
                  <a:srgbClr val="000000"/>
                </a:solidFill>
                <a:latin typeface="Arial" pitchFamily="34" charset="0"/>
                <a:cs typeface="Arial" pitchFamily="34" charset="0"/>
              </a:rPr>
              <a:t>Функция обеспечения безопасности определяет </a:t>
            </a:r>
            <a:r>
              <a:rPr lang="ru-RU" b="1" i="0" dirty="0">
                <a:solidFill>
                  <a:srgbClr val="000000"/>
                </a:solidFill>
                <a:latin typeface="Arial" pitchFamily="34" charset="0"/>
                <a:cs typeface="Arial" pitchFamily="34" charset="0"/>
              </a:rPr>
              <a:t>внедрение административных и технических механизмов</a:t>
            </a:r>
            <a:r>
              <a:rPr lang="ru-RU" b="0" i="0" dirty="0">
                <a:solidFill>
                  <a:srgbClr val="000000"/>
                </a:solidFill>
                <a:latin typeface="Arial" pitchFamily="34" charset="0"/>
                <a:cs typeface="Arial" pitchFamily="34" charset="0"/>
              </a:rPr>
              <a:t>, которые </a:t>
            </a:r>
            <a:r>
              <a:rPr lang="ru-RU" b="1" i="0" dirty="0">
                <a:solidFill>
                  <a:srgbClr val="000000"/>
                </a:solidFill>
                <a:latin typeface="Arial" pitchFamily="34" charset="0"/>
                <a:cs typeface="Arial" pitchFamily="34" charset="0"/>
              </a:rPr>
              <a:t>снижают или сводят до минимума угрозы безопасности и предоставляют безопасную среду центра обработки данных</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Административные механизмы включают </a:t>
            </a:r>
            <a:r>
              <a:rPr lang="ru-RU" b="1" i="0" dirty="0">
                <a:solidFill>
                  <a:srgbClr val="000000"/>
                </a:solidFill>
                <a:latin typeface="Arial" pitchFamily="34" charset="0"/>
                <a:cs typeface="Arial" pitchFamily="34" charset="0"/>
              </a:rPr>
              <a:t>политики в области безопасности и управления персоналом </a:t>
            </a:r>
            <a:r>
              <a:rPr lang="ru-RU" b="0" i="0" dirty="0">
                <a:solidFill>
                  <a:srgbClr val="000000"/>
                </a:solidFill>
                <a:latin typeface="Arial" pitchFamily="34" charset="0"/>
                <a:cs typeface="Arial" pitchFamily="34" charset="0"/>
              </a:rPr>
              <a:t>или </a:t>
            </a:r>
            <a:r>
              <a:rPr lang="ru-RU" b="1" i="0" dirty="0">
                <a:solidFill>
                  <a:srgbClr val="000000"/>
                </a:solidFill>
                <a:latin typeface="Arial" pitchFamily="34" charset="0"/>
                <a:cs typeface="Arial" pitchFamily="34" charset="0"/>
              </a:rPr>
              <a:t>стандартные процедуры по управлению безопасным выполнением различных операций</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Технические механизмы обычно реализуются при посредстве инструментов или устройств, развертываемых в ИТ-инфраструктуре. </a:t>
            </a:r>
          </a:p>
          <a:p>
            <a:pPr>
              <a:spcBef>
                <a:spcPts val="600"/>
              </a:spcBef>
            </a:pPr>
            <a:r>
              <a:rPr lang="ru-RU" b="0" i="0" dirty="0">
                <a:solidFill>
                  <a:srgbClr val="000000"/>
                </a:solidFill>
                <a:latin typeface="Arial" pitchFamily="34" charset="0"/>
                <a:cs typeface="Arial" pitchFamily="34" charset="0"/>
              </a:rPr>
              <a:t>Примеры </a:t>
            </a:r>
            <a:r>
              <a:rPr lang="ru-RU" b="1" i="0" dirty="0">
                <a:solidFill>
                  <a:srgbClr val="000000"/>
                </a:solidFill>
                <a:latin typeface="Arial" pitchFamily="34" charset="0"/>
                <a:cs typeface="Arial" pitchFamily="34" charset="0"/>
              </a:rPr>
              <a:t>технических механизмов </a:t>
            </a:r>
            <a:r>
              <a:rPr lang="ru-RU" b="0" i="0" dirty="0">
                <a:solidFill>
                  <a:srgbClr val="000000"/>
                </a:solidFill>
                <a:latin typeface="Arial" pitchFamily="34" charset="0"/>
                <a:cs typeface="Arial" pitchFamily="34" charset="0"/>
              </a:rPr>
              <a:t>включают </a:t>
            </a:r>
            <a:r>
              <a:rPr lang="ru-RU" b="1" i="0" dirty="0">
                <a:solidFill>
                  <a:srgbClr val="000000"/>
                </a:solidFill>
                <a:latin typeface="Arial" pitchFamily="34" charset="0"/>
                <a:cs typeface="Arial" pitchFamily="34" charset="0"/>
              </a:rPr>
              <a:t>брандмауэр, системы обнаружения и предотвращения атак, а также антивирусное программное обеспечение.</a:t>
            </a:r>
          </a:p>
          <a:p>
            <a:pPr>
              <a:spcBef>
                <a:spcPts val="600"/>
              </a:spcBef>
            </a:pPr>
            <a:r>
              <a:rPr lang="ru-RU" b="1" i="0" dirty="0">
                <a:solidFill>
                  <a:srgbClr val="000000"/>
                </a:solidFill>
                <a:latin typeface="Arial" pitchFamily="34" charset="0"/>
                <a:cs typeface="Arial" pitchFamily="34" charset="0"/>
              </a:rPr>
              <a:t>Стратегическое управление, управление рисками и соответствие требованиям регуляторов </a:t>
            </a:r>
            <a:r>
              <a:rPr lang="ru-RU" b="0" i="0" dirty="0">
                <a:solidFill>
                  <a:srgbClr val="000000"/>
                </a:solidFill>
                <a:latin typeface="Arial" pitchFamily="34" charset="0"/>
                <a:cs typeface="Arial" pitchFamily="34" charset="0"/>
              </a:rPr>
              <a:t>(GRC) определяют процессы, помогающие организации действовать в соответствии </a:t>
            </a:r>
            <a:r>
              <a:rPr lang="ru-RU" b="1" i="0" dirty="0">
                <a:solidFill>
                  <a:srgbClr val="000000"/>
                </a:solidFill>
                <a:latin typeface="Arial" pitchFamily="34" charset="0"/>
                <a:cs typeface="Arial" pitchFamily="34" charset="0"/>
              </a:rPr>
              <a:t>с этическими нормами, приемлемым уровнем риска, внутренними политиками и общепринятыми стандартами</a:t>
            </a:r>
            <a:r>
              <a:rPr lang="ru-RU" b="0" i="0" dirty="0">
                <a:solidFill>
                  <a:srgbClr val="000000"/>
                </a:solidFill>
                <a:latin typeface="Arial" pitchFamily="34" charset="0"/>
                <a:cs typeface="Arial" pitchFamily="34" charset="0"/>
              </a:rPr>
              <a:t>. Чтобы обеспечить </a:t>
            </a:r>
            <a:r>
              <a:rPr lang="ru-RU" b="1" i="0" dirty="0">
                <a:solidFill>
                  <a:srgbClr val="000000"/>
                </a:solidFill>
                <a:latin typeface="Arial" pitchFamily="34" charset="0"/>
                <a:cs typeface="Arial" pitchFamily="34" charset="0"/>
              </a:rPr>
              <a:t>соответствие требованиям GRC, следует развертывать механизмы обеспечения безопасности</a:t>
            </a:r>
            <a:r>
              <a:rPr lang="ru-RU" b="0" i="0" dirty="0">
                <a:solidFill>
                  <a:srgbClr val="000000"/>
                </a:solidFill>
                <a:latin typeface="Arial" pitchFamily="34" charset="0"/>
                <a:cs typeface="Arial" pitchFamily="34" charset="0"/>
              </a:rPr>
              <a:t>. </a:t>
            </a:r>
            <a:r>
              <a:rPr lang="ru-RU" sz="1000" b="0" i="0" dirty="0">
                <a:solidFill>
                  <a:srgbClr val="000000"/>
                </a:solidFill>
                <a:latin typeface="Arial" pitchFamily="34" charset="0"/>
                <a:cs typeface="Arial" pitchFamily="34" charset="0"/>
              </a:rPr>
              <a:t>(GRC - </a:t>
            </a:r>
            <a:r>
              <a:rPr lang="en-US" sz="1000" dirty="0"/>
              <a:t>Governance, Risk and Compliance)</a:t>
            </a:r>
            <a:br>
              <a:rPr lang="en-US" sz="1000" dirty="0"/>
            </a:br>
            <a:r>
              <a:rPr lang="en-US" sz="1000" dirty="0"/>
              <a:t> </a:t>
            </a:r>
            <a:endParaRPr lang="ru-RU" b="0" i="0" dirty="0">
              <a:solidFill>
                <a:srgbClr val="000000"/>
              </a:solidFill>
              <a:latin typeface="Arial" pitchFamily="34" charset="0"/>
              <a:cs typeface="Arial" pitchFamily="34" charset="0"/>
            </a:endParaRPr>
          </a:p>
          <a:p>
            <a:pPr>
              <a:spcBef>
                <a:spcPts val="600"/>
              </a:spcBef>
            </a:pPr>
            <a:r>
              <a:rPr lang="ru-RU" b="0" i="0" dirty="0">
                <a:solidFill>
                  <a:srgbClr val="000000"/>
                </a:solidFill>
                <a:latin typeface="Arial" pitchFamily="34" charset="0"/>
                <a:cs typeface="Arial" pitchFamily="34" charset="0"/>
              </a:rPr>
              <a:t>Безопасность и GRC рассматриваются в модуле 15 («Обеспечение безопасности инфраструктуры хранения данных»).</a:t>
            </a:r>
          </a:p>
        </p:txBody>
      </p:sp>
    </p:spTree>
    <p:extLst>
      <p:ext uri="{BB962C8B-B14F-4D97-AF65-F5344CB8AC3E}">
        <p14:creationId xmlns:p14="http://schemas.microsoft.com/office/powerpoint/2010/main" val="1824680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Межуровневая функция </a:t>
            </a:r>
            <a:r>
              <a:rPr lang="ru-RU" b="1" i="0" dirty="0">
                <a:solidFill>
                  <a:srgbClr val="000000"/>
                </a:solidFill>
                <a:latin typeface="Arial" pitchFamily="34" charset="0"/>
                <a:cs typeface="Arial" pitchFamily="34" charset="0"/>
              </a:rPr>
              <a:t>управления</a:t>
            </a:r>
            <a:r>
              <a:rPr lang="ru-RU" b="0" i="0" dirty="0">
                <a:solidFill>
                  <a:srgbClr val="000000"/>
                </a:solidFill>
                <a:latin typeface="Arial" pitchFamily="34" charset="0"/>
                <a:cs typeface="Arial" pitchFamily="34" charset="0"/>
              </a:rPr>
              <a:t> определяет внедрение мер, связанных с управлением работой центра обработки данных. </a:t>
            </a:r>
          </a:p>
          <a:p>
            <a:pPr>
              <a:spcBef>
                <a:spcPts val="600"/>
              </a:spcBef>
            </a:pPr>
            <a:r>
              <a:rPr lang="ru-RU" b="0" i="0" dirty="0">
                <a:solidFill>
                  <a:srgbClr val="000000"/>
                </a:solidFill>
                <a:latin typeface="Arial" pitchFamily="34" charset="0"/>
                <a:cs typeface="Arial" pitchFamily="34" charset="0"/>
              </a:rPr>
              <a:t>Реализация этих мер позволяет организации привести </a:t>
            </a:r>
            <a:r>
              <a:rPr lang="ru-RU" b="1" i="0" dirty="0">
                <a:solidFill>
                  <a:srgbClr val="000000"/>
                </a:solidFill>
                <a:latin typeface="Arial" pitchFamily="34" charset="0"/>
                <a:cs typeface="Arial" pitchFamily="34" charset="0"/>
              </a:rPr>
              <a:t>создание и предоставление ИТ-услуг </a:t>
            </a:r>
            <a:r>
              <a:rPr lang="ru-RU" b="0" i="0" dirty="0">
                <a:solidFill>
                  <a:srgbClr val="000000"/>
                </a:solidFill>
                <a:latin typeface="Arial" pitchFamily="34" charset="0"/>
                <a:cs typeface="Arial" pitchFamily="34" charset="0"/>
              </a:rPr>
              <a:t>в соответствие со </a:t>
            </a:r>
            <a:r>
              <a:rPr lang="ru-RU" b="1" i="0" dirty="0">
                <a:solidFill>
                  <a:srgbClr val="000000"/>
                </a:solidFill>
                <a:latin typeface="Arial" pitchFamily="34" charset="0"/>
                <a:cs typeface="Arial" pitchFamily="34" charset="0"/>
              </a:rPr>
              <a:t>своими бизнес целями</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В этом курсе основное внимание уделяется </a:t>
            </a:r>
            <a:r>
              <a:rPr lang="ru-RU" b="1" i="0" dirty="0">
                <a:solidFill>
                  <a:srgbClr val="000000"/>
                </a:solidFill>
                <a:latin typeface="Arial" pitchFamily="34" charset="0"/>
                <a:cs typeface="Arial" pitchFamily="34" charset="0"/>
              </a:rPr>
              <a:t>управлению инфраструктурой хранения данных</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Управление работой системы хранения позволяет ИТ-администраторам управлять инфраструктурой и сервисами центра обработки данных.</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Задачи управления работой системы хранения включают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управление конфигурацией инфраструктуры,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выделение ресурсов,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разрешение проблем,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емкость, </a:t>
            </a:r>
          </a:p>
          <a:p>
            <a:pPr lvl="1">
              <a:spcBef>
                <a:spcPts val="600"/>
              </a:spcBef>
              <a:buFont typeface="Arial" pitchFamily="34" charset="0"/>
              <a:buChar char="•"/>
            </a:pPr>
            <a:r>
              <a:rPr lang="ru-RU" b="0" i="0" dirty="0">
                <a:solidFill>
                  <a:srgbClr val="000000"/>
                </a:solidFill>
                <a:latin typeface="Arial" pitchFamily="34" charset="0"/>
                <a:cs typeface="Arial" pitchFamily="34" charset="0"/>
              </a:rPr>
              <a:t>доступность и соответствие требованиям регуляторов. </a:t>
            </a:r>
          </a:p>
          <a:p>
            <a:pPr>
              <a:spcBef>
                <a:spcPts val="600"/>
              </a:spcBef>
            </a:pPr>
            <a:r>
              <a:rPr lang="ru-RU" b="0" i="0" dirty="0">
                <a:solidFill>
                  <a:srgbClr val="000000"/>
                </a:solidFill>
                <a:latin typeface="Arial" pitchFamily="34" charset="0"/>
                <a:cs typeface="Arial" pitchFamily="34" charset="0"/>
              </a:rPr>
              <a:t>Данная функция поддерживает выполнение управления, мониторинга и отчетности для элементов инфраструктуры на всех уровнях. Управление инфраструктурой хранения данных рассматривается в модуле 16 («Управление инфраструктурой хранения данных»).</a:t>
            </a:r>
          </a:p>
        </p:txBody>
      </p:sp>
    </p:spTree>
    <p:extLst>
      <p:ext uri="{BB962C8B-B14F-4D97-AF65-F5344CB8AC3E}">
        <p14:creationId xmlns:p14="http://schemas.microsoft.com/office/powerpoint/2010/main" val="11103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Существует </a:t>
            </a:r>
            <a:r>
              <a:rPr lang="ru-RU" b="1" i="0" dirty="0">
                <a:solidFill>
                  <a:srgbClr val="000000"/>
                </a:solidFill>
                <a:latin typeface="Arial" pitchFamily="34" charset="0"/>
                <a:cs typeface="Arial" pitchFamily="34" charset="0"/>
              </a:rPr>
              <a:t>два варианта создания инфраструктуры центра обработки данных </a:t>
            </a:r>
            <a:r>
              <a:rPr lang="ru-RU" b="0" i="0" dirty="0">
                <a:solidFill>
                  <a:srgbClr val="000000"/>
                </a:solidFill>
                <a:latin typeface="Arial" pitchFamily="34" charset="0"/>
                <a:cs typeface="Arial" pitchFamily="34" charset="0"/>
              </a:rPr>
              <a:t>— путем интеграции лучших в своем классе компонентов инфраструктуры, либо путем приобретения и развертывания конвергентной инфраструктуры. </a:t>
            </a:r>
          </a:p>
          <a:p>
            <a:pPr indent="457200">
              <a:spcBef>
                <a:spcPts val="600"/>
              </a:spcBef>
            </a:pPr>
            <a:r>
              <a:rPr lang="ru-RU" b="1" i="0" dirty="0">
                <a:solidFill>
                  <a:srgbClr val="000000"/>
                </a:solidFill>
                <a:latin typeface="Arial" pitchFamily="34" charset="0"/>
                <a:cs typeface="Arial" pitchFamily="34" charset="0"/>
              </a:rPr>
              <a:t>1. </a:t>
            </a:r>
            <a:r>
              <a:rPr lang="ru-RU" b="1" i="0" u="sng" dirty="0">
                <a:solidFill>
                  <a:srgbClr val="000000"/>
                </a:solidFill>
                <a:latin typeface="Arial" pitchFamily="34" charset="0"/>
                <a:cs typeface="Arial" pitchFamily="34" charset="0"/>
              </a:rPr>
              <a:t>Лучшая в своем классе инфраструктура</a:t>
            </a:r>
            <a:r>
              <a:rPr lang="ru-RU" b="1" i="0" dirty="0">
                <a:solidFill>
                  <a:srgbClr val="000000"/>
                </a:solidFill>
                <a:latin typeface="Arial" pitchFamily="34" charset="0"/>
                <a:cs typeface="Arial" pitchFamily="34" charset="0"/>
              </a:rPr>
              <a:t>.</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При этом подходе организации интегрируют лучшие в своем классе компоненты инфраструктуры (аппаратные и программные), приобретаемые у нескольких разных поставщиков. </a:t>
            </a:r>
          </a:p>
          <a:p>
            <a:pPr indent="457200">
              <a:spcBef>
                <a:spcPts val="600"/>
              </a:spcBef>
            </a:pPr>
            <a:r>
              <a:rPr lang="ru-RU" b="0" i="0" dirty="0">
                <a:solidFill>
                  <a:srgbClr val="000000"/>
                </a:solidFill>
                <a:latin typeface="Arial" pitchFamily="34" charset="0"/>
                <a:cs typeface="Arial" pitchFamily="34" charset="0"/>
              </a:rPr>
              <a:t>Это позволяет организациям использовать преимущества высококачественных продуктов и услуг от ведущих поставщиков в соответствующем сегменте. Такой подход обеспечивает необходимую гибкость, позволяющую менять отдельных поставщиков в тех случаях, когда они не предоставляют предусмотренную поддержку или не соблюдают соглашения об уровне обслуживания (</a:t>
            </a:r>
            <a:r>
              <a:rPr lang="en-US" sz="1000" b="1" i="0" kern="1200" dirty="0">
                <a:solidFill>
                  <a:schemeClr val="tx1"/>
                </a:solidFill>
                <a:latin typeface="+mn-lt"/>
                <a:ea typeface="+mn-ea"/>
                <a:cs typeface="Calibri" panose="020F0502020204030204" pitchFamily="34" charset="0"/>
              </a:rPr>
              <a:t>Service</a:t>
            </a:r>
            <a:r>
              <a:rPr lang="en-US" sz="1000" b="0" i="0" kern="1200" dirty="0">
                <a:solidFill>
                  <a:schemeClr val="tx1"/>
                </a:solidFill>
                <a:latin typeface="+mn-lt"/>
                <a:ea typeface="+mn-ea"/>
                <a:cs typeface="Calibri" panose="020F0502020204030204" pitchFamily="34" charset="0"/>
              </a:rPr>
              <a:t> </a:t>
            </a:r>
            <a:r>
              <a:rPr lang="en-US" sz="1000" b="1" i="0" kern="1200" dirty="0">
                <a:solidFill>
                  <a:schemeClr val="tx1"/>
                </a:solidFill>
                <a:latin typeface="+mn-lt"/>
                <a:ea typeface="+mn-ea"/>
                <a:cs typeface="Calibri" panose="020F0502020204030204" pitchFamily="34" charset="0"/>
              </a:rPr>
              <a:t>Level</a:t>
            </a:r>
            <a:r>
              <a:rPr lang="en-US" sz="1000" b="0" i="0" kern="1200" dirty="0">
                <a:solidFill>
                  <a:schemeClr val="tx1"/>
                </a:solidFill>
                <a:latin typeface="+mn-lt"/>
                <a:ea typeface="+mn-ea"/>
                <a:cs typeface="Calibri" panose="020F0502020204030204" pitchFamily="34" charset="0"/>
              </a:rPr>
              <a:t> </a:t>
            </a:r>
            <a:r>
              <a:rPr lang="en-US" sz="1000" b="1" i="0" kern="1200" dirty="0">
                <a:solidFill>
                  <a:schemeClr val="tx1"/>
                </a:solidFill>
                <a:latin typeface="+mn-lt"/>
                <a:ea typeface="+mn-ea"/>
                <a:cs typeface="Calibri" panose="020F0502020204030204" pitchFamily="34" charset="0"/>
              </a:rPr>
              <a:t>Agreement</a:t>
            </a:r>
            <a:r>
              <a:rPr lang="en-US" sz="1000" b="0" i="0" kern="1200" dirty="0">
                <a:solidFill>
                  <a:schemeClr val="tx1"/>
                </a:solidFill>
                <a:latin typeface="+mn-lt"/>
                <a:ea typeface="+mn-ea"/>
                <a:cs typeface="Calibri" panose="020F0502020204030204" pitchFamily="34" charset="0"/>
              </a:rPr>
              <a:t>, </a:t>
            </a:r>
            <a:r>
              <a:rPr lang="en-US" sz="1000" b="1" i="0" kern="1200" dirty="0">
                <a:solidFill>
                  <a:schemeClr val="tx1"/>
                </a:solidFill>
                <a:latin typeface="+mn-lt"/>
                <a:ea typeface="+mn-ea"/>
                <a:cs typeface="Calibri" panose="020F0502020204030204" pitchFamily="34" charset="0"/>
              </a:rPr>
              <a:t>SLA</a:t>
            </a:r>
            <a:r>
              <a:rPr lang="ru-RU" sz="1000" b="1" i="0" kern="1200" dirty="0">
                <a:solidFill>
                  <a:schemeClr val="tx1"/>
                </a:solidFill>
                <a:latin typeface="+mn-lt"/>
                <a:ea typeface="+mn-ea"/>
                <a:cs typeface="Calibri" panose="020F0502020204030204" pitchFamily="34" charset="0"/>
              </a:rPr>
              <a:t>)</a:t>
            </a:r>
            <a:r>
              <a:rPr lang="ru-RU" b="0" i="0" dirty="0">
                <a:solidFill>
                  <a:srgbClr val="000000"/>
                </a:solidFill>
                <a:latin typeface="Arial" pitchFamily="34" charset="0"/>
                <a:cs typeface="Arial" pitchFamily="34" charset="0"/>
              </a:rPr>
              <a:t>. </a:t>
            </a:r>
          </a:p>
          <a:p>
            <a:pPr indent="457200">
              <a:spcBef>
                <a:spcPts val="600"/>
              </a:spcBef>
            </a:pPr>
            <a:r>
              <a:rPr lang="ru-RU" b="0" i="0" dirty="0">
                <a:solidFill>
                  <a:srgbClr val="000000"/>
                </a:solidFill>
                <a:latin typeface="Arial" pitchFamily="34" charset="0"/>
                <a:cs typeface="Arial" pitchFamily="34" charset="0"/>
              </a:rPr>
              <a:t>Кроме того, этот подход позволяет организациям перепрофилировать существующие компоненты инфраструктуры и таким образом снизить затраты. Тем не менее, </a:t>
            </a:r>
            <a:r>
              <a:rPr lang="ru-RU" b="1" i="0" dirty="0">
                <a:solidFill>
                  <a:srgbClr val="000000"/>
                </a:solidFill>
                <a:latin typeface="Arial" pitchFamily="34" charset="0"/>
                <a:cs typeface="Arial" pitchFamily="34" charset="0"/>
              </a:rPr>
              <a:t>данный подход требует значительных капитальных и эксплуатационных затрат</a:t>
            </a:r>
            <a:r>
              <a:rPr lang="ru-RU" b="0" i="0" dirty="0">
                <a:solidFill>
                  <a:srgbClr val="000000"/>
                </a:solidFill>
                <a:latin typeface="Arial" pitchFamily="34" charset="0"/>
                <a:cs typeface="Arial" pitchFamily="34" charset="0"/>
              </a:rPr>
              <a:t>, а также затрат времени, поскольку он включает оценку, приобретение, тестирование, развертывание, настройку и интеграцию нескольких разрозненных аппаратных и программных компонентов. </a:t>
            </a:r>
          </a:p>
          <a:p>
            <a:pPr indent="457200">
              <a:spcBef>
                <a:spcPts val="600"/>
              </a:spcBef>
            </a:pPr>
            <a:r>
              <a:rPr lang="ru-RU" b="0" i="0" dirty="0">
                <a:solidFill>
                  <a:srgbClr val="000000"/>
                </a:solidFill>
                <a:latin typeface="Arial" pitchFamily="34" charset="0"/>
                <a:cs typeface="Arial" pitchFamily="34" charset="0"/>
              </a:rPr>
              <a:t>Кроме того, масштабирование такой инфраструктуры занимает гораздо больше времени, поскольку каждый новый компонент проходит такой же процесс от оценки до интеграции. </a:t>
            </a:r>
          </a:p>
          <a:p>
            <a:pPr marR="0" indent="457200" defTabSz="457200" rtl="0" eaLnBrk="1" fontAlgn="auto" latinLnBrk="0" hangingPunct="1">
              <a:spcBef>
                <a:spcPts val="600"/>
              </a:spcBef>
              <a:buClrTx/>
              <a:buSzTx/>
              <a:tabLst/>
              <a:defRPr/>
            </a:pPr>
            <a:endParaRPr lang="ru-RU" b="1" i="0" dirty="0">
              <a:solidFill>
                <a:srgbClr val="000000"/>
              </a:solidFill>
              <a:latin typeface="Arial" pitchFamily="34" charset="0"/>
              <a:cs typeface="Arial" pitchFamily="34" charset="0"/>
            </a:endParaRPr>
          </a:p>
          <a:p>
            <a:pPr marR="0" indent="45720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 2. </a:t>
            </a:r>
            <a:r>
              <a:rPr lang="ru-RU" b="1" i="0" u="sng" dirty="0">
                <a:solidFill>
                  <a:srgbClr val="000000"/>
                </a:solidFill>
                <a:latin typeface="Arial" pitchFamily="34" charset="0"/>
                <a:cs typeface="Arial" pitchFamily="34" charset="0"/>
              </a:rPr>
              <a:t>Конвергентная инфраструктура</a:t>
            </a:r>
            <a:r>
              <a:rPr lang="ru-RU" b="1" i="0" dirty="0">
                <a:solidFill>
                  <a:srgbClr val="000000"/>
                </a:solidFill>
                <a:latin typeface="Arial" pitchFamily="34" charset="0"/>
                <a:cs typeface="Arial" pitchFamily="34" charset="0"/>
              </a:rPr>
              <a:t>.</a:t>
            </a:r>
            <a:r>
              <a:rPr lang="ru-RU" b="0" i="0" dirty="0">
                <a:solidFill>
                  <a:srgbClr val="000000"/>
                </a:solidFill>
                <a:latin typeface="Arial" pitchFamily="34" charset="0"/>
                <a:cs typeface="Arial" pitchFamily="34" charset="0"/>
              </a:rPr>
              <a:t> </a:t>
            </a:r>
          </a:p>
          <a:p>
            <a:pPr marL="0" marR="0" indent="457200" algn="l" defTabSz="457200" rtl="0" eaLnBrk="1" fontAlgn="auto" latinLnBrk="0" hangingPunct="1">
              <a:lnSpc>
                <a:spcPct val="100000"/>
              </a:lnSpc>
              <a:spcBef>
                <a:spcPts val="600"/>
              </a:spcBef>
              <a:spcAft>
                <a:spcPts val="0"/>
              </a:spcAft>
              <a:buClrTx/>
              <a:buSzTx/>
              <a:buFontTx/>
              <a:buNone/>
              <a:tabLst/>
              <a:defRPr/>
            </a:pPr>
            <a:r>
              <a:rPr lang="ru-RU" sz="1000" b="1" i="0" kern="1200" dirty="0" err="1">
                <a:solidFill>
                  <a:schemeClr val="tx1"/>
                </a:solidFill>
                <a:latin typeface="+mn-lt"/>
                <a:ea typeface="+mn-ea"/>
                <a:cs typeface="Calibri" panose="020F0502020204030204" pitchFamily="34" charset="0"/>
              </a:rPr>
              <a:t>Конверге́нция</a:t>
            </a:r>
            <a:r>
              <a:rPr lang="ru-RU" sz="1000" b="0" i="0" kern="1200" dirty="0">
                <a:solidFill>
                  <a:schemeClr val="tx1"/>
                </a:solidFill>
                <a:latin typeface="+mn-lt"/>
                <a:ea typeface="+mn-ea"/>
                <a:cs typeface="Calibri" panose="020F0502020204030204" pitchFamily="34" charset="0"/>
              </a:rPr>
              <a:t> (от </a:t>
            </a:r>
            <a:r>
              <a:rPr lang="ru-RU" sz="1000" b="0" i="0" u="none" strike="noStrike" kern="1200" dirty="0">
                <a:solidFill>
                  <a:schemeClr val="tx1"/>
                </a:solidFill>
                <a:latin typeface="+mn-lt"/>
                <a:ea typeface="+mn-ea"/>
                <a:cs typeface="Calibri" panose="020F0502020204030204" pitchFamily="34" charset="0"/>
                <a:hlinkClick r:id="rId3" tooltip="Латинский язык"/>
              </a:rPr>
              <a:t>лат.</a:t>
            </a:r>
            <a:r>
              <a:rPr lang="ru-RU" sz="1000" b="0" i="0" kern="1200" dirty="0">
                <a:solidFill>
                  <a:schemeClr val="tx1"/>
                </a:solidFill>
                <a:latin typeface="+mn-lt"/>
                <a:ea typeface="+mn-ea"/>
                <a:cs typeface="Calibri" panose="020F0502020204030204" pitchFamily="34" charset="0"/>
              </a:rPr>
              <a:t> </a:t>
            </a:r>
            <a:r>
              <a:rPr lang="ru-RU" sz="1000" b="0" i="1" kern="1200" dirty="0" err="1">
                <a:solidFill>
                  <a:schemeClr val="tx1"/>
                </a:solidFill>
                <a:latin typeface="+mn-lt"/>
                <a:ea typeface="+mn-ea"/>
                <a:cs typeface="Calibri" panose="020F0502020204030204" pitchFamily="34" charset="0"/>
              </a:rPr>
              <a:t>convergo</a:t>
            </a:r>
            <a:r>
              <a:rPr lang="ru-RU" sz="1000" b="0" i="0" kern="1200" dirty="0">
                <a:solidFill>
                  <a:schemeClr val="tx1"/>
                </a:solidFill>
                <a:latin typeface="+mn-lt"/>
                <a:ea typeface="+mn-ea"/>
                <a:cs typeface="Calibri" panose="020F0502020204030204" pitchFamily="34" charset="0"/>
              </a:rPr>
              <a:t> «сближаю») — процесс сближения, схождения (в разном смысле), компромиссов; противоположна </a:t>
            </a:r>
            <a:r>
              <a:rPr lang="ru-RU" sz="1000" b="0" i="0" u="none" strike="noStrike" kern="1200" dirty="0">
                <a:solidFill>
                  <a:schemeClr val="tx1"/>
                </a:solidFill>
                <a:latin typeface="+mn-lt"/>
                <a:ea typeface="+mn-ea"/>
                <a:cs typeface="Calibri" panose="020F0502020204030204" pitchFamily="34" charset="0"/>
                <a:hlinkClick r:id="rId4" tooltip="Дивергенция (значения)"/>
              </a:rPr>
              <a:t>дивергенции</a:t>
            </a:r>
            <a:r>
              <a:rPr lang="ru-RU" sz="1000" b="0" i="0" kern="1200" dirty="0">
                <a:solidFill>
                  <a:schemeClr val="tx1"/>
                </a:solidFill>
                <a:latin typeface="+mn-lt"/>
                <a:ea typeface="+mn-ea"/>
                <a:cs typeface="Calibri" panose="020F0502020204030204" pitchFamily="34" charset="0"/>
              </a:rPr>
              <a:t>. Термин употребителен в различных естественных и гуманитарных науках.</a:t>
            </a:r>
            <a:r>
              <a:rPr lang="ru-RU" sz="1000" b="0" i="0" kern="1200" baseline="0" dirty="0">
                <a:solidFill>
                  <a:schemeClr val="tx1"/>
                </a:solidFill>
                <a:latin typeface="+mn-lt"/>
                <a:ea typeface="+mn-ea"/>
                <a:cs typeface="Calibri" panose="020F0502020204030204" pitchFamily="34" charset="0"/>
              </a:rPr>
              <a:t> </a:t>
            </a:r>
            <a:endParaRPr lang="en-US" sz="1000" b="0" i="0" kern="1200" baseline="0" dirty="0">
              <a:solidFill>
                <a:schemeClr val="tx1"/>
              </a:solidFill>
              <a:latin typeface="+mn-lt"/>
              <a:ea typeface="+mn-ea"/>
              <a:cs typeface="Calibri" panose="020F0502020204030204" pitchFamily="34" charset="0"/>
            </a:endParaRPr>
          </a:p>
          <a:p>
            <a:pPr marL="0" marR="0" indent="457200" algn="l" defTabSz="457200" rtl="0" eaLnBrk="1" fontAlgn="auto" latinLnBrk="0" hangingPunct="1">
              <a:lnSpc>
                <a:spcPct val="100000"/>
              </a:lnSpc>
              <a:spcBef>
                <a:spcPts val="600"/>
              </a:spcBef>
              <a:spcAft>
                <a:spcPts val="0"/>
              </a:spcAft>
              <a:buClrTx/>
              <a:buSzTx/>
              <a:buFontTx/>
              <a:buNone/>
              <a:tabLst/>
              <a:defRPr/>
            </a:pPr>
            <a:r>
              <a:rPr lang="ru-RU" sz="1000" b="1" i="0" kern="1200" dirty="0">
                <a:solidFill>
                  <a:schemeClr val="tx1"/>
                </a:solidFill>
                <a:latin typeface="+mn-lt"/>
                <a:ea typeface="+mn-ea"/>
                <a:cs typeface="Calibri" panose="020F0502020204030204" pitchFamily="34" charset="0"/>
              </a:rPr>
              <a:t>Конвергенция телекоммуникационных сетей</a:t>
            </a:r>
            <a:r>
              <a:rPr lang="ru-RU" sz="1000" b="0" i="0" kern="1200" dirty="0">
                <a:solidFill>
                  <a:schemeClr val="tx1"/>
                </a:solidFill>
                <a:latin typeface="+mn-lt"/>
                <a:ea typeface="+mn-ea"/>
                <a:cs typeface="Calibri" panose="020F0502020204030204" pitchFamily="34" charset="0"/>
              </a:rPr>
              <a:t> — объединение нескольких, бывших ранее раздельными, услуг в рамках одной услуги.</a:t>
            </a:r>
            <a:endParaRPr lang="ru-RU" b="0" i="0" dirty="0">
              <a:solidFill>
                <a:srgbClr val="000000"/>
              </a:solidFill>
              <a:latin typeface="Arial" pitchFamily="34" charset="0"/>
              <a:cs typeface="Arial" pitchFamily="34" charset="0"/>
            </a:endParaRP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Конвергентная инфраструктура </a:t>
            </a:r>
            <a:r>
              <a:rPr lang="ru-RU" b="1" i="0" dirty="0">
                <a:solidFill>
                  <a:srgbClr val="000000"/>
                </a:solidFill>
                <a:latin typeface="Arial" pitchFamily="34" charset="0"/>
                <a:cs typeface="Arial" pitchFamily="34" charset="0"/>
              </a:rPr>
              <a:t>интегрирует программные и аппаратные компоненты</a:t>
            </a:r>
            <a:r>
              <a:rPr lang="ru-RU" b="0" i="0" dirty="0">
                <a:solidFill>
                  <a:srgbClr val="000000"/>
                </a:solidFill>
                <a:latin typeface="Arial" pitchFamily="34" charset="0"/>
                <a:cs typeface="Arial" pitchFamily="34" charset="0"/>
              </a:rPr>
              <a:t>, образующие центр обработки данных, в </a:t>
            </a:r>
            <a:r>
              <a:rPr lang="ru-RU" b="1" i="0" dirty="0">
                <a:solidFill>
                  <a:srgbClr val="000000"/>
                </a:solidFill>
                <a:latin typeface="Arial" pitchFamily="34" charset="0"/>
                <a:cs typeface="Arial" pitchFamily="34" charset="0"/>
              </a:rPr>
              <a:t>единое пакетное решение</a:t>
            </a:r>
            <a:r>
              <a:rPr lang="ru-RU" b="0" i="0" dirty="0">
                <a:solidFill>
                  <a:srgbClr val="000000"/>
                </a:solidFill>
                <a:latin typeface="Arial" pitchFamily="34" charset="0"/>
                <a:cs typeface="Arial" pitchFamily="34" charset="0"/>
              </a:rPr>
              <a:t>. </a:t>
            </a: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Этот пакет представляет собой автономный модуль, который может быть развернут независимо или объединен с другими пакетами для соответствия дополнительным требованиям к емкости и производительности. </a:t>
            </a: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Данный пакет предварительно настроен и оптимизирован, что сокращает затраты времени на приобретение и развертывание инфраструктуры. Это также снижает требования к питанию и занимаемому месту. </a:t>
            </a: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Кроме того, поставщики предоставляют конвергентную инфраструктуру с поддержкой облака и встроенными возможностями для организации защищенного многопользовательского режима. </a:t>
            </a: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Конвергентная инфраструктура использует </a:t>
            </a:r>
            <a:r>
              <a:rPr lang="ru-RU" b="1" i="0" dirty="0">
                <a:solidFill>
                  <a:srgbClr val="000000"/>
                </a:solidFill>
                <a:latin typeface="Arial" pitchFamily="34" charset="0"/>
                <a:cs typeface="Arial" pitchFamily="34" charset="0"/>
              </a:rPr>
              <a:t>единое программное обеспечение для управления, способное управлять всеми аппаратными и программными компонентами, входящими в пакет</a:t>
            </a:r>
            <a:r>
              <a:rPr lang="ru-RU" b="0" i="0" dirty="0">
                <a:solidFill>
                  <a:srgbClr val="000000"/>
                </a:solidFill>
                <a:latin typeface="Arial" pitchFamily="34" charset="0"/>
                <a:cs typeface="Arial" pitchFamily="34" charset="0"/>
              </a:rPr>
              <a:t>. </a:t>
            </a: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Потенциальные проблемы при использовании решений для конвергентной инфраструктуры связаны с </a:t>
            </a:r>
            <a:r>
              <a:rPr lang="ru-RU" b="1" i="0" dirty="0">
                <a:solidFill>
                  <a:srgbClr val="000000"/>
                </a:solidFill>
                <a:latin typeface="Arial" pitchFamily="34" charset="0"/>
                <a:cs typeface="Arial" pitchFamily="34" charset="0"/>
              </a:rPr>
              <a:t>недостаточной гибкостью</a:t>
            </a:r>
            <a:r>
              <a:rPr lang="ru-RU" b="0" i="0" dirty="0">
                <a:solidFill>
                  <a:srgbClr val="000000"/>
                </a:solidFill>
                <a:latin typeface="Arial" pitchFamily="34" charset="0"/>
                <a:cs typeface="Arial" pitchFamily="34" charset="0"/>
              </a:rPr>
              <a:t>, не позволяющей использовать </a:t>
            </a:r>
            <a:r>
              <a:rPr lang="ru-RU" b="1" i="0" dirty="0">
                <a:solidFill>
                  <a:srgbClr val="000000"/>
                </a:solidFill>
                <a:latin typeface="Arial" pitchFamily="34" charset="0"/>
                <a:cs typeface="Arial" pitchFamily="34" charset="0"/>
              </a:rPr>
              <a:t>компоненты инфраструктуры от разных поставщиков</a:t>
            </a:r>
            <a:r>
              <a:rPr lang="ru-RU" b="0" i="0" dirty="0">
                <a:solidFill>
                  <a:srgbClr val="000000"/>
                </a:solidFill>
                <a:latin typeface="Arial" pitchFamily="34" charset="0"/>
                <a:cs typeface="Arial" pitchFamily="34" charset="0"/>
              </a:rPr>
              <a:t>. </a:t>
            </a:r>
            <a:endParaRPr lang="en-US" b="0" i="0" dirty="0">
              <a:solidFill>
                <a:srgbClr val="000000"/>
              </a:solidFill>
              <a:latin typeface="Arial" pitchFamily="34" charset="0"/>
              <a:cs typeface="Arial" pitchFamily="34" charset="0"/>
            </a:endParaRPr>
          </a:p>
          <a:p>
            <a:pPr marR="0" indent="457200" defTabSz="457200" rtl="0" eaLnBrk="1" fontAlgn="auto" latinLnBrk="0" hangingPunct="1">
              <a:spcBef>
                <a:spcPts val="600"/>
              </a:spcBef>
              <a:buClrTx/>
              <a:buSzTx/>
              <a:tabLst/>
              <a:defRPr/>
            </a:pPr>
            <a:r>
              <a:rPr lang="ru-RU" b="0" i="0" dirty="0">
                <a:solidFill>
                  <a:srgbClr val="000000"/>
                </a:solidFill>
                <a:latin typeface="Arial" pitchFamily="34" charset="0"/>
                <a:cs typeface="Arial" pitchFamily="34" charset="0"/>
              </a:rPr>
              <a:t>Некоторые поставщики могут предоставлять широкие возможности выбора компонентов разнородной инфраструктуры для данного решения, например, сетевых устройств, вычислительных систем и гипервизоров.</a:t>
            </a:r>
          </a:p>
        </p:txBody>
      </p:sp>
    </p:spTree>
    <p:extLst>
      <p:ext uri="{BB962C8B-B14F-4D97-AF65-F5344CB8AC3E}">
        <p14:creationId xmlns:p14="http://schemas.microsoft.com/office/powerpoint/2010/main" val="2100549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рассматривались строительные блоки инфраструктуры центра обработки данных. Рассматривались компоненты и функции пяти уровней центра обработки данных. Кроме того, здесь рассматривались три межуровневые функции центра обработки данных. Также в этом уроке были рассмотрены лучшая в своем классе и конвергентная инфраструктура.</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этом уроке рассматривается вычислительная система, а также ее ключевые физические и логические компоненты. Также рассматриваются типы вычислительных систем.</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914400" eaLnBrk="0" fontAlgn="base" hangingPunct="0">
              <a:spcBef>
                <a:spcPts val="600"/>
              </a:spcBef>
              <a:defRPr/>
            </a:pPr>
            <a:r>
              <a:rPr lang="ru-RU" b="0" i="0" dirty="0">
                <a:solidFill>
                  <a:srgbClr val="000000"/>
                </a:solidFill>
                <a:latin typeface="Arial" pitchFamily="34" charset="0"/>
                <a:cs typeface="Arial" pitchFamily="34" charset="0"/>
              </a:rPr>
              <a:t>Вычислительная система представляет собой вычислительное устройство (включающее оборудование, встроенное ПО и системное ПО), на котором запускаются бизнес-приложения. </a:t>
            </a:r>
            <a:r>
              <a:rPr lang="ru-RU" b="0" i="0" u="none" dirty="0">
                <a:solidFill>
                  <a:srgbClr val="000000"/>
                </a:solidFill>
                <a:latin typeface="Arial" pitchFamily="34" charset="0"/>
                <a:cs typeface="Arial" pitchFamily="34" charset="0"/>
              </a:rPr>
              <a:t>Примеры вычислительных систем включают физические серверы, настольные ПК, ноутбуки и мобильные устройства. Как упоминалось в модуле 1 («</a:t>
            </a:r>
            <a:r>
              <a:rPr lang="ru-RU" b="0" i="0" dirty="0">
                <a:solidFill>
                  <a:srgbClr val="000000"/>
                </a:solidFill>
                <a:latin typeface="Arial" pitchFamily="34" charset="0"/>
                <a:cs typeface="Arial" pitchFamily="34" charset="0"/>
              </a:rPr>
              <a:t>Введение в систему хранения информации») </a:t>
            </a:r>
            <a:r>
              <a:rPr lang="ru-RU" b="0" i="0" u="none" dirty="0">
                <a:solidFill>
                  <a:srgbClr val="000000"/>
                </a:solidFill>
                <a:latin typeface="Arial" pitchFamily="34" charset="0"/>
                <a:cs typeface="Arial" pitchFamily="34" charset="0"/>
              </a:rPr>
              <a:t>данного курса, термин «вычислительная система» относится к физическим серверам и хостам, на которых развертываются платформенное ПО, программное обеспечение для управления и бизнес-приложения организации.</a:t>
            </a:r>
          </a:p>
          <a:p>
            <a:pPr marL="0" marR="0" indent="0" defTabSz="914400" rtl="0" eaLnBrk="0" fontAlgn="base" latinLnBrk="0" hangingPunct="0">
              <a:spcBef>
                <a:spcPts val="600"/>
              </a:spcBef>
              <a:buClrTx/>
              <a:buSzTx/>
              <a:buFontTx/>
              <a:buNone/>
              <a:tabLst/>
              <a:defRPr/>
            </a:pPr>
            <a:r>
              <a:rPr lang="ru-RU" b="0" i="0" u="none" dirty="0">
                <a:solidFill>
                  <a:srgbClr val="000000"/>
                </a:solidFill>
                <a:latin typeface="Arial" pitchFamily="34" charset="0"/>
                <a:cs typeface="Arial" pitchFamily="34" charset="0"/>
              </a:rPr>
              <a:t>Оборудование вычислительной системы включает в себя процессор(ы), память, внутреннее хранилище и устройства ввода-вывода. Логические компоненты вычислительной системы включают операционную систему (ОС), файловую систему, диспетчер логических томов и драйверы устройств. ОС может включать другое программное обеспечение, или же эти программы могут устанавливаться по отдельности. </a:t>
            </a:r>
          </a:p>
          <a:p>
            <a:pPr defTabSz="914400" eaLnBrk="0" fontAlgn="base" hangingPunct="0">
              <a:spcBef>
                <a:spcPts val="600"/>
              </a:spcBef>
              <a:defRPr/>
            </a:pPr>
            <a:r>
              <a:rPr lang="ru-RU" b="0" i="0" u="none" dirty="0">
                <a:solidFill>
                  <a:srgbClr val="000000"/>
                </a:solidFill>
                <a:latin typeface="Arial" pitchFamily="34" charset="0"/>
                <a:cs typeface="Arial" pitchFamily="34" charset="0"/>
              </a:rPr>
              <a:t>В центре обработки данных предприятия приложения обычно развертываются в вычислительных кластерах</a:t>
            </a:r>
            <a:r>
              <a:rPr lang="ru-RU" b="0" i="0" dirty="0">
                <a:solidFill>
                  <a:srgbClr val="000000"/>
                </a:solidFill>
                <a:latin typeface="Arial" pitchFamily="34" charset="0"/>
                <a:cs typeface="Arial" pitchFamily="34" charset="0"/>
              </a:rPr>
              <a:t> для обеспечения высокой доступности и балансировки вычислительных рабочих нагрузок. Вычислительный кластер — это</a:t>
            </a:r>
            <a:r>
              <a:rPr lang="ru-RU" b="0" i="0" u="none"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группа из двух или большего числа вычислительных систем, которые совместно функционируют, совместно используют определенные сетевые ресурсы и ресурсы хранения, и логически представлены в виде единой системы. Вычислительные кластеры подробно рассматриваются в модуле 12 («Введение в непрерывность бизнеса»). </a:t>
            </a:r>
          </a:p>
        </p:txBody>
      </p:sp>
    </p:spTree>
    <p:extLst>
      <p:ext uri="{BB962C8B-B14F-4D97-AF65-F5344CB8AC3E}">
        <p14:creationId xmlns:p14="http://schemas.microsoft.com/office/powerpoint/2010/main" val="3460422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i="0" dirty="0">
                <a:solidFill>
                  <a:srgbClr val="000000"/>
                </a:solidFill>
                <a:latin typeface="Arial" pitchFamily="34" charset="0"/>
                <a:cs typeface="Arial" pitchFamily="34" charset="0"/>
              </a:rPr>
              <a:t>Вычислительная система состоит из нескольких физических аппаратных компонентов, заключенных в металлический корпус. Ниже приведено описание некоторых ключевых компонентов. </a:t>
            </a:r>
          </a:p>
          <a:p>
            <a:pPr>
              <a:spcBef>
                <a:spcPts val="600"/>
              </a:spcBef>
            </a:pPr>
            <a:r>
              <a:rPr lang="ru-RU" b="1" i="0" dirty="0">
                <a:solidFill>
                  <a:srgbClr val="000000"/>
                </a:solidFill>
                <a:latin typeface="Arial" pitchFamily="34" charset="0"/>
                <a:cs typeface="Arial" pitchFamily="34" charset="0"/>
              </a:rPr>
              <a:t>Процессор: </a:t>
            </a:r>
            <a:r>
              <a:rPr lang="ru-RU" i="0" dirty="0">
                <a:solidFill>
                  <a:srgbClr val="000000"/>
                </a:solidFill>
                <a:latin typeface="Arial" pitchFamily="34" charset="0"/>
                <a:cs typeface="Arial" pitchFamily="34" charset="0"/>
              </a:rPr>
              <a:t>Процессор, называемый также центральным процессором (ЦП), представляет собой интегральную схему, исполняющую инструкции программы путем выполнения базовых арифметических и логических операций, а также операций ввода-вывода. В качестве архитектуры процессора / набора команд обычно используется x86-архитектура с возможностью обработки 32- и 64-разрядных команд. Современные процессоры имеют несколько ядер (независимых процессорных блоков), каждое из которых может функционировать как отдельный процессор.</a:t>
            </a:r>
          </a:p>
          <a:p>
            <a:pPr>
              <a:spcBef>
                <a:spcPts val="600"/>
              </a:spcBef>
            </a:pPr>
            <a:r>
              <a:rPr lang="ru-RU" b="1" i="0" dirty="0">
                <a:solidFill>
                  <a:srgbClr val="000000"/>
                </a:solidFill>
                <a:latin typeface="Arial" pitchFamily="34" charset="0"/>
                <a:cs typeface="Arial" pitchFamily="34" charset="0"/>
              </a:rPr>
              <a:t>Оперативная память (ОЗУ). </a:t>
            </a:r>
            <a:r>
              <a:rPr lang="ru-RU" i="0" dirty="0">
                <a:solidFill>
                  <a:srgbClr val="000000"/>
                </a:solidFill>
                <a:latin typeface="Arial" pitchFamily="34" charset="0"/>
                <a:cs typeface="Arial" pitchFamily="34" charset="0"/>
              </a:rPr>
              <a:t>ОЗУ, или основная память, представляет собой микросхему, которая выполняет для вычислительной системы роль внутреннего хранилища данных с произвольным доступом. Процессор имеет прямой доступ к ОЗУ, в котором хранятся программы для выполнения и данные, используемые процессором.</a:t>
            </a:r>
          </a:p>
          <a:p>
            <a:pPr>
              <a:spcBef>
                <a:spcPts val="600"/>
              </a:spcBef>
            </a:pPr>
            <a:r>
              <a:rPr lang="ru-RU" b="1" i="0" dirty="0">
                <a:solidFill>
                  <a:srgbClr val="000000"/>
                </a:solidFill>
                <a:latin typeface="Arial" pitchFamily="34" charset="0"/>
                <a:cs typeface="Arial" pitchFamily="34" charset="0"/>
              </a:rPr>
              <a:t>Постоянное запоминающее устройство (ПЗУ).</a:t>
            </a:r>
            <a:r>
              <a:rPr lang="en-US" b="1" i="0" dirty="0">
                <a:solidFill>
                  <a:srgbClr val="000000"/>
                </a:solidFill>
                <a:latin typeface="Arial" pitchFamily="34" charset="0"/>
                <a:cs typeface="Arial" pitchFamily="34" charset="0"/>
              </a:rPr>
              <a:t> </a:t>
            </a:r>
            <a:r>
              <a:rPr lang="ru-RU" i="0" dirty="0">
                <a:solidFill>
                  <a:srgbClr val="000000"/>
                </a:solidFill>
                <a:latin typeface="Arial" pitchFamily="34" charset="0"/>
                <a:cs typeface="Arial" pitchFamily="34" charset="0"/>
              </a:rPr>
              <a:t>ПЗУ представляет собой энергонезависимую полупроводниковую память, из которой данные можно только считывать, но не записывать. Оно содержит встроенное ПО загрузки (обеспечивающее запуск вычислительной системы), управления питанием и другое встроенное ПО для конкретных устройств.</a:t>
            </a:r>
          </a:p>
          <a:p>
            <a:pPr>
              <a:spcBef>
                <a:spcPts val="600"/>
              </a:spcBef>
            </a:pPr>
            <a:r>
              <a:rPr lang="ru-RU" b="1" i="0" dirty="0">
                <a:solidFill>
                  <a:srgbClr val="000000"/>
                </a:solidFill>
                <a:latin typeface="Arial" pitchFamily="34" charset="0"/>
                <a:cs typeface="Arial" pitchFamily="34" charset="0"/>
              </a:rPr>
              <a:t>Материнская плата.</a:t>
            </a:r>
            <a:r>
              <a:rPr lang="en-US" b="1" i="0" dirty="0">
                <a:solidFill>
                  <a:srgbClr val="000000"/>
                </a:solidFill>
                <a:latin typeface="Arial" pitchFamily="34" charset="0"/>
                <a:cs typeface="Arial" pitchFamily="34" charset="0"/>
              </a:rPr>
              <a:t> </a:t>
            </a:r>
            <a:r>
              <a:rPr lang="ru-RU" i="0" dirty="0">
                <a:solidFill>
                  <a:srgbClr val="000000"/>
                </a:solidFill>
                <a:latin typeface="Arial" pitchFamily="34" charset="0"/>
                <a:cs typeface="Arial" pitchFamily="34" charset="0"/>
              </a:rPr>
              <a:t>Материнская плата представляет собой печатную плату, к которой подключены все компоненты вычислительной системы. Она имеет разъемы для установки таких компонентов, как микропроцессор, ОЗУ и ПЗУ. Кроме того, на ней размещены сетевые порты, порты ввода-вывода для подключения таких устройств, как клавиатура, мышь и принтеры, а также элементы, необходимые для выполнения вычислительных операций. Материнская плата может иметь дополнительные интегрированные компоненты, например, видеокарту, сетевую карту и адаптеры для подключения внешних устройств хранения данных. Питание материнских плат (и других внутренних компонентов) обеспечивается источником питания.</a:t>
            </a:r>
          </a:p>
          <a:p>
            <a:pPr>
              <a:spcBef>
                <a:spcPts val="600"/>
              </a:spcBef>
            </a:pPr>
            <a:r>
              <a:rPr lang="ru-RU" b="1" dirty="0">
                <a:latin typeface="Arial" pitchFamily="34" charset="0"/>
                <a:cs typeface="Arial" pitchFamily="34" charset="0"/>
              </a:rPr>
              <a:t>Чипсет. </a:t>
            </a:r>
            <a:r>
              <a:rPr lang="ru-RU" dirty="0">
                <a:latin typeface="Arial" pitchFamily="34" charset="0"/>
                <a:cs typeface="Arial" pitchFamily="34" charset="0"/>
              </a:rPr>
              <a:t>Чипсет — это набор микросхем на материнской плате, предназначенный для выполнения определенных функций. Существует два типа чипсетов — северный мост и южный мост. Северный мост управляет доступом процессора к ОЗУ и видеокарте, а южный мост подключает процессор к различным периферийным портам, например, к портам USB.</a:t>
            </a:r>
          </a:p>
          <a:p>
            <a:pPr>
              <a:spcBef>
                <a:spcPts val="600"/>
              </a:spcBef>
            </a:pPr>
            <a:r>
              <a:rPr lang="ru-RU" b="1" dirty="0">
                <a:latin typeface="Arial" pitchFamily="34" charset="0"/>
                <a:cs typeface="Arial" pitchFamily="34" charset="0"/>
              </a:rPr>
              <a:t>Внешнее запоминающее устройство. </a:t>
            </a:r>
            <a:r>
              <a:rPr lang="ru-RU" dirty="0">
                <a:latin typeface="Arial" pitchFamily="34" charset="0"/>
                <a:cs typeface="Arial" pitchFamily="34" charset="0"/>
              </a:rPr>
              <a:t>Внешнее запоминающее устройство — это постоянное устройство хранения данных, (например, жесткий или твердотельный диск), на котором установлены ОС и программное обеспечение приложений. Процессор не может получить прямой доступ к внешнему запоминающему устройству. Требуемые приложения и данные загружаются из внешнего запоминающего устройства в ОЗУ, чтобы процессор смог получить к ним доступ.</a:t>
            </a:r>
          </a:p>
          <a:p>
            <a:pPr>
              <a:spcBef>
                <a:spcPts val="600"/>
              </a:spcBef>
            </a:pPr>
            <a:r>
              <a:rPr lang="ru-RU" dirty="0">
                <a:latin typeface="Arial" pitchFamily="34" charset="0"/>
                <a:cs typeface="Arial" pitchFamily="34" charset="0"/>
              </a:rPr>
              <a:t>Организация должна принять несколько важных решений, связанных с выбором аппаратного обеспечения вычислительной системы, предназначенного для развертывания в центре обработки данных. Эти решения должны учитывать бизнес-требования и требования производительности, стоимость оборудования и прогнозируемые темпы роста. Данные решения включают количество развертываемых вычислительных систем, число, тип и скорость процессоров, требуемый объем ОЗУ, емкость ОЗУ, размещенного на материнской плате, число и тип слотов расширения на материнской плате, число и тип карт ввода-вывода, а также вопросы установки и настройки.</a:t>
            </a:r>
          </a:p>
          <a:p>
            <a:pPr>
              <a:spcBef>
                <a:spcPts val="600"/>
              </a:spcBef>
            </a:pPr>
            <a:endParaRPr lang="ru-RU" i="0" dirty="0">
              <a:solidFill>
                <a:srgbClr val="000000"/>
              </a:solidFill>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285912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defTabSz="914400" rtl="0" eaLnBrk="0" fontAlgn="base" latinLnBrk="0" hangingPunct="0">
              <a:spcBef>
                <a:spcPts val="600"/>
              </a:spcBef>
              <a:buClrTx/>
              <a:buSzTx/>
              <a:buFontTx/>
              <a:buNone/>
              <a:tabLst/>
              <a:defRPr/>
            </a:pPr>
            <a:r>
              <a:rPr lang="ru-RU" b="0" i="0" dirty="0">
                <a:solidFill>
                  <a:srgbClr val="000000"/>
                </a:solidFill>
                <a:latin typeface="Arial" pitchFamily="34" charset="0"/>
                <a:cs typeface="Arial" pitchFamily="34" charset="0"/>
              </a:rPr>
              <a:t>Ключевые логические компоненты вычислительной системы. </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Операционная система</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Виртуальная память</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Диспетчер логических томов</a:t>
            </a:r>
          </a:p>
          <a:p>
            <a:pPr marL="171450" indent="-17145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Файловая система</a:t>
            </a:r>
          </a:p>
          <a:p>
            <a:pPr marL="0" indent="0">
              <a:spcBef>
                <a:spcPts val="600"/>
              </a:spcBef>
              <a:buFont typeface="Arial" panose="020B0604020202020204" pitchFamily="34" charset="0"/>
              <a:buNone/>
            </a:pPr>
            <a:r>
              <a:rPr lang="ru-RU" b="0" i="0" dirty="0">
                <a:solidFill>
                  <a:srgbClr val="000000"/>
                </a:solidFill>
                <a:latin typeface="Arial" pitchFamily="34" charset="0"/>
                <a:cs typeface="Arial" pitchFamily="34" charset="0"/>
              </a:rPr>
              <a:t>Подробное описание логических элементов выходит за рамки данного курса. Тем не менее, эти компоненты будут кратко рассмотрены на следующих слайдах.</a:t>
            </a:r>
            <a:endParaRPr lang="en-US" b="0" i="0" dirty="0">
              <a:solidFill>
                <a:srgbClr val="000000"/>
              </a:solidFill>
              <a:latin typeface="Arial" pitchFamily="34" charset="0"/>
              <a:cs typeface="Arial" pitchFamily="34" charset="0"/>
            </a:endParaRPr>
          </a:p>
          <a:p>
            <a:pPr marL="0" indent="0">
              <a:spcBef>
                <a:spcPts val="600"/>
              </a:spcBef>
              <a:buFont typeface="Arial" panose="020B0604020202020204" pitchFamily="34" charset="0"/>
              <a:buNone/>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2978298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1" dirty="0">
                <a:solidFill>
                  <a:srgbClr val="000000"/>
                </a:solidFill>
                <a:latin typeface="Arial" pitchFamily="34" charset="0"/>
                <a:cs typeface="Arial" pitchFamily="34" charset="0"/>
              </a:rPr>
              <a:t>Операционная система</a:t>
            </a:r>
            <a:r>
              <a:rPr lang="ru-RU" b="0" i="0" dirty="0">
                <a:solidFill>
                  <a:srgbClr val="000000"/>
                </a:solidFill>
                <a:latin typeface="Arial" pitchFamily="34" charset="0"/>
                <a:cs typeface="Arial" pitchFamily="34" charset="0"/>
              </a:rPr>
              <a:t> (ОС) — это программное обеспечение, </a:t>
            </a:r>
            <a:r>
              <a:rPr lang="ru-RU" b="1" i="0" dirty="0">
                <a:solidFill>
                  <a:srgbClr val="000000"/>
                </a:solidFill>
                <a:latin typeface="Arial" pitchFamily="34" charset="0"/>
                <a:cs typeface="Arial" pitchFamily="34" charset="0"/>
              </a:rPr>
              <a:t>действующее как посредник </a:t>
            </a:r>
            <a:r>
              <a:rPr lang="ru-RU" b="0" i="0" dirty="0">
                <a:solidFill>
                  <a:srgbClr val="000000"/>
                </a:solidFill>
                <a:latin typeface="Arial" pitchFamily="34" charset="0"/>
                <a:cs typeface="Arial" pitchFamily="34" charset="0"/>
              </a:rPr>
              <a:t>между </a:t>
            </a:r>
            <a:r>
              <a:rPr lang="ru-RU" b="1" i="0" dirty="0">
                <a:solidFill>
                  <a:srgbClr val="000000"/>
                </a:solidFill>
                <a:latin typeface="Arial" pitchFamily="34" charset="0"/>
                <a:cs typeface="Arial" pitchFamily="34" charset="0"/>
              </a:rPr>
              <a:t>пользователем</a:t>
            </a:r>
            <a:r>
              <a:rPr lang="ru-RU" b="0" i="0" dirty="0">
                <a:solidFill>
                  <a:srgbClr val="000000"/>
                </a:solidFill>
                <a:latin typeface="Arial" pitchFamily="34" charset="0"/>
                <a:cs typeface="Arial" pitchFamily="34" charset="0"/>
              </a:rPr>
              <a:t> вычислительной системы и </a:t>
            </a:r>
            <a:r>
              <a:rPr lang="ru-RU" b="1" i="0" dirty="0">
                <a:solidFill>
                  <a:srgbClr val="000000"/>
                </a:solidFill>
                <a:latin typeface="Arial" pitchFamily="34" charset="0"/>
                <a:cs typeface="Arial" pitchFamily="34" charset="0"/>
              </a:rPr>
              <a:t>аппаратным обеспечением </a:t>
            </a:r>
            <a:r>
              <a:rPr lang="ru-RU" b="0" i="0" dirty="0">
                <a:solidFill>
                  <a:srgbClr val="000000"/>
                </a:solidFill>
                <a:latin typeface="Arial" pitchFamily="34" charset="0"/>
                <a:cs typeface="Arial" pitchFamily="34" charset="0"/>
              </a:rPr>
              <a:t>этой системы. Она осуществляет контроль и управление аппаратным и программным обеспечением вычислительной системы. ОС управляет аппаратными функциями, выполнением приложений и предоставляет интерфейс пользователя, в котором работают пользователи, использующие вычислительную систему. </a:t>
            </a:r>
          </a:p>
          <a:p>
            <a:pPr>
              <a:spcBef>
                <a:spcPts val="600"/>
              </a:spcBef>
              <a:defRPr/>
            </a:pPr>
            <a:r>
              <a:rPr lang="ru-RU" b="0" i="0" dirty="0">
                <a:solidFill>
                  <a:srgbClr val="000000"/>
                </a:solidFill>
                <a:latin typeface="Arial" pitchFamily="34" charset="0"/>
                <a:cs typeface="Arial" pitchFamily="34" charset="0"/>
              </a:rPr>
              <a:t>На рисунке на слайде изображена общая архитектура ОС. </a:t>
            </a:r>
          </a:p>
          <a:p>
            <a:pPr>
              <a:spcBef>
                <a:spcPts val="600"/>
              </a:spcBef>
              <a:defRPr/>
            </a:pPr>
            <a:r>
              <a:rPr lang="ru-RU" b="0" i="0" dirty="0">
                <a:solidFill>
                  <a:srgbClr val="000000"/>
                </a:solidFill>
                <a:latin typeface="Arial" pitchFamily="34" charset="0"/>
                <a:cs typeface="Arial" pitchFamily="34" charset="0"/>
              </a:rPr>
              <a:t>Некоторые функции (или службы) ОС включают выполнение программ, управление памятью, управление ресурсами и их распределение, а также управление операциями ввода-вывода. </a:t>
            </a:r>
          </a:p>
          <a:p>
            <a:pPr>
              <a:spcBef>
                <a:spcPts val="600"/>
              </a:spcBef>
              <a:defRPr/>
            </a:pPr>
            <a:r>
              <a:rPr lang="ru-RU" b="0" i="0" dirty="0">
                <a:solidFill>
                  <a:srgbClr val="000000"/>
                </a:solidFill>
                <a:latin typeface="Arial" pitchFamily="34" charset="0"/>
                <a:cs typeface="Arial" pitchFamily="34" charset="0"/>
              </a:rPr>
              <a:t>ОС также предоставляет сетевые возможности и базовую безопасность для доступа ко всем управляемым ресурсам и их использования. Кроме того, она выполняет базовые задачи по управлению хранением данных в процессе управления другими базовыми компонентами,такими как драйверы устройств, диспетчер логических томов и файловая система. ОС также содержит высокоуровневые программные интерфейсы (API), позволяющие программам запрашивать сервисы. </a:t>
            </a:r>
          </a:p>
          <a:p>
            <a:pPr marL="0" marR="0" indent="0" defTabSz="457200" rtl="0" eaLnBrk="1" fontAlgn="auto" latinLnBrk="0" hangingPunct="1">
              <a:spcBef>
                <a:spcPts val="600"/>
              </a:spcBef>
              <a:buClrTx/>
              <a:buSzTx/>
              <a:buFontTx/>
              <a:buNone/>
              <a:tabLst/>
              <a:defRPr/>
            </a:pPr>
            <a:r>
              <a:rPr lang="ru-RU" b="1" i="0" dirty="0">
                <a:solidFill>
                  <a:srgbClr val="000000"/>
                </a:solidFill>
                <a:latin typeface="Arial" pitchFamily="34" charset="0"/>
                <a:cs typeface="Arial" pitchFamily="34" charset="0"/>
              </a:rPr>
              <a:t>Для взаимодействия </a:t>
            </a:r>
            <a:r>
              <a:rPr lang="ru-RU" b="0" i="0" dirty="0">
                <a:solidFill>
                  <a:srgbClr val="000000"/>
                </a:solidFill>
                <a:latin typeface="Arial" pitchFamily="34" charset="0"/>
                <a:cs typeface="Arial" pitchFamily="34" charset="0"/>
              </a:rPr>
              <a:t>с определенным </a:t>
            </a:r>
            <a:r>
              <a:rPr lang="ru-RU" b="1" i="0" dirty="0">
                <a:solidFill>
                  <a:srgbClr val="000000"/>
                </a:solidFill>
                <a:latin typeface="Arial" pitchFamily="34" charset="0"/>
                <a:cs typeface="Arial" pitchFamily="34" charset="0"/>
              </a:rPr>
              <a:t>аппаратным ресурсом </a:t>
            </a:r>
            <a:r>
              <a:rPr lang="ru-RU" b="0" i="0" dirty="0">
                <a:solidFill>
                  <a:srgbClr val="000000"/>
                </a:solidFill>
                <a:latin typeface="Arial" pitchFamily="34" charset="0"/>
                <a:cs typeface="Arial" pitchFamily="34" charset="0"/>
              </a:rPr>
              <a:t>ОС необходим </a:t>
            </a:r>
            <a:r>
              <a:rPr lang="ru-RU" b="1" i="1" dirty="0">
                <a:solidFill>
                  <a:srgbClr val="000000"/>
                </a:solidFill>
                <a:latin typeface="Arial" pitchFamily="34" charset="0"/>
                <a:cs typeface="Arial" pitchFamily="34" charset="0"/>
              </a:rPr>
              <a:t>драйвер устройства</a:t>
            </a:r>
            <a:r>
              <a:rPr lang="ru-RU" b="0" i="0" dirty="0">
                <a:solidFill>
                  <a:srgbClr val="000000"/>
                </a:solidFill>
                <a:latin typeface="Arial" pitchFamily="34" charset="0"/>
                <a:cs typeface="Arial" pitchFamily="34" charset="0"/>
              </a:rPr>
              <a:t>, который представляет собой специальное системное программное обеспечение, позволяющее ОС взаимодействовать с этим устройством. Например, такому оборудованию, как принтер, мышь, дисковый накопитель, сетевые адаптеры и видеокарты, требуются драйверы устройств. Драйвер устройства дает ОС возможность распознавать устройство, получать к нему доступ и управлять им. Драйверы устройств аппаратно-зависимы и могут работать только в конкретной ОС. </a:t>
            </a:r>
          </a:p>
        </p:txBody>
      </p:sp>
    </p:spTree>
    <p:extLst>
      <p:ext uri="{BB962C8B-B14F-4D97-AF65-F5344CB8AC3E}">
        <p14:creationId xmlns:p14="http://schemas.microsoft.com/office/powerpoint/2010/main" val="3395629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Объем физической памяти (ОЗУ) в вычислительной системе определяет размер и количество приложений, которые могут быть запущены в этой системе. Виртуализация памяти представляет приложениям физическую память как единую логическую коллекцию непрерывных областей памяти, называемую </a:t>
            </a:r>
            <a:r>
              <a:rPr lang="ru-RU" b="0" i="1" dirty="0">
                <a:solidFill>
                  <a:srgbClr val="000000"/>
                </a:solidFill>
                <a:latin typeface="Arial" pitchFamily="34" charset="0"/>
                <a:cs typeface="Arial" pitchFamily="34" charset="0"/>
              </a:rPr>
              <a:t>виртуальной памятью</a:t>
            </a:r>
            <a:r>
              <a:rPr lang="ru-RU" b="0" i="0" dirty="0">
                <a:solidFill>
                  <a:srgbClr val="000000"/>
                </a:solidFill>
                <a:latin typeface="Arial" pitchFamily="34" charset="0"/>
                <a:cs typeface="Arial" pitchFamily="34" charset="0"/>
              </a:rPr>
              <a:t>. В процессе выполнения приложений процессор генерирует логические адреса (виртуальные адреса), которые сопоставляются с адресами в виртуальной памяти. Затем блок управления памятью процессора устанавливает соответствие между виртуальным и физическим адресами. Служебная программа ОС, называемая </a:t>
            </a:r>
            <a:r>
              <a:rPr lang="ru-RU" b="0" i="1" dirty="0">
                <a:solidFill>
                  <a:srgbClr val="000000"/>
                </a:solidFill>
                <a:latin typeface="Arial" pitchFamily="34" charset="0"/>
                <a:cs typeface="Arial" pitchFamily="34" charset="0"/>
              </a:rPr>
              <a:t>диспетчером виртуальной памяти</a:t>
            </a:r>
            <a:r>
              <a:rPr lang="ru-RU" b="0" i="0" dirty="0">
                <a:solidFill>
                  <a:srgbClr val="000000"/>
                </a:solidFill>
                <a:latin typeface="Arial" pitchFamily="34" charset="0"/>
                <a:cs typeface="Arial" pitchFamily="34" charset="0"/>
              </a:rPr>
              <a:t> (VMM), управляет виртуальной памятью, а также выделением физической памяти для виртуальной памяти. </a:t>
            </a:r>
          </a:p>
          <a:p>
            <a:pPr>
              <a:spcBef>
                <a:spcPts val="600"/>
              </a:spcBef>
            </a:pPr>
            <a:r>
              <a:rPr lang="ru-RU" b="0" i="0" dirty="0">
                <a:solidFill>
                  <a:srgbClr val="000000"/>
                </a:solidFill>
                <a:latin typeface="Arial" pitchFamily="34" charset="0"/>
                <a:cs typeface="Arial" pitchFamily="34" charset="0"/>
              </a:rPr>
              <a:t>Имеющаяся в ОС функция виртуализации дополнительной памяти позволяет выделять для виртуальной памяти емкость внешних устройств хранения данных. Это создает виртуальную память с пространством адресов, намного превышающим действительное пространство физической памяти, имеющееся в вычислительной системе. Благодаря этому в вычислительной системе могут выполняться, не оказывая влияния друг на друга, несколько приложений и процессов, чьи совокупные требования к памяти превышают объем доступной физической памяти. VMM управляет установкой соответствия между виртуальной и физической памятью и выбирает данные во внешнем запоминающем устройстве, когда какой-либо процесс ссылается на виртуальный адрес, указывающий на данные, хранимые в этом устройстве. Пространство, используемое диспетчером виртуальной памяти во внешнем запоминающем устройстве, называется областью подкачки. </a:t>
            </a:r>
            <a:r>
              <a:rPr lang="ru-RU" b="0" i="1" dirty="0">
                <a:solidFill>
                  <a:srgbClr val="000000"/>
                </a:solidFill>
                <a:latin typeface="Arial" pitchFamily="34" charset="0"/>
                <a:cs typeface="Arial" pitchFamily="34" charset="0"/>
              </a:rPr>
              <a:t>Область подкачки</a:t>
            </a:r>
            <a:r>
              <a:rPr lang="ru-RU" b="0" i="0" dirty="0">
                <a:solidFill>
                  <a:srgbClr val="000000"/>
                </a:solidFill>
                <a:latin typeface="Arial" pitchFamily="34" charset="0"/>
                <a:cs typeface="Arial" pitchFamily="34" charset="0"/>
              </a:rPr>
              <a:t> (известная также как </a:t>
            </a:r>
            <a:r>
              <a:rPr lang="ru-RU" b="0" i="1" dirty="0">
                <a:solidFill>
                  <a:srgbClr val="000000"/>
                </a:solidFill>
                <a:latin typeface="Arial" pitchFamily="34" charset="0"/>
                <a:cs typeface="Arial" pitchFamily="34" charset="0"/>
              </a:rPr>
              <a:t>файл подкачки</a:t>
            </a:r>
            <a:r>
              <a:rPr lang="ru-RU" b="0" i="0" dirty="0">
                <a:solidFill>
                  <a:srgbClr val="000000"/>
                </a:solidFill>
                <a:latin typeface="Arial" pitchFamily="34" charset="0"/>
                <a:cs typeface="Arial" pitchFamily="34" charset="0"/>
              </a:rPr>
              <a:t>) — это часть устройства хранения данных, которая используется в качестве физической памяти.</a:t>
            </a:r>
          </a:p>
          <a:p>
            <a:pPr>
              <a:spcBef>
                <a:spcPts val="600"/>
              </a:spcBef>
            </a:pPr>
            <a:r>
              <a:rPr lang="ru-RU" b="0" i="0" dirty="0">
                <a:solidFill>
                  <a:srgbClr val="000000"/>
                </a:solidFill>
                <a:latin typeface="Arial" pitchFamily="34" charset="0"/>
                <a:cs typeface="Arial" pitchFamily="34" charset="0"/>
              </a:rPr>
              <a:t>При создании виртуальной памяти память системы разделяется на непрерывные блоки страниц фиксированного размера. Процесс, называемый</a:t>
            </a:r>
            <a:r>
              <a:rPr lang="ru-RU" b="0" i="1" dirty="0">
                <a:solidFill>
                  <a:srgbClr val="000000"/>
                </a:solidFill>
                <a:latin typeface="Arial" pitchFamily="34" charset="0"/>
                <a:cs typeface="Arial" pitchFamily="34" charset="0"/>
              </a:rPr>
              <a:t> подкачкой страниц</a:t>
            </a:r>
            <a:r>
              <a:rPr lang="ru-RU" b="0" i="0" dirty="0">
                <a:solidFill>
                  <a:srgbClr val="000000"/>
                </a:solidFill>
                <a:latin typeface="Arial" pitchFamily="34" charset="0"/>
                <a:cs typeface="Arial" pitchFamily="34" charset="0"/>
              </a:rPr>
              <a:t>, перемещает неактивные страницы физической памяти в файл подкачки и при необходимости снова загружает их в физическую память. Это дает возможность различным приложениям эффективно использовать доступную физическую память. Обычно ОС перемещает редко используемые страницы в файл подкачки, чтобы более активные процессы могли использовать достаточный объем ОЗУ. Доступ к страницам файла подкачки выполняется медленнее, чем к страницам физической памяти, поскольку страницы файла подкачки располагаются на диске системы хранения, который работает медленнее, чем физическая память.</a:t>
            </a:r>
          </a:p>
        </p:txBody>
      </p:sp>
    </p:spTree>
    <p:extLst>
      <p:ext uri="{BB962C8B-B14F-4D97-AF65-F5344CB8AC3E}">
        <p14:creationId xmlns:p14="http://schemas.microsoft.com/office/powerpoint/2010/main" val="3232493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45720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Диспетчер логических томов</a:t>
            </a:r>
            <a:r>
              <a:rPr lang="ru-RU" b="0" i="0" dirty="0">
                <a:solidFill>
                  <a:srgbClr val="000000"/>
                </a:solidFill>
                <a:latin typeface="Arial" pitchFamily="34" charset="0"/>
                <a:cs typeface="Arial" pitchFamily="34" charset="0"/>
              </a:rPr>
              <a:t> (LVM) — это программное обеспечение, работающее в вычислительной системе и управляющее логической и физической системами хранения.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LVM представляет собой промежуточный уровень между файловой системой и физическими дисками. Он может разбивать диски большой емкости на виртуальные тома меньшей емкости (</a:t>
            </a:r>
            <a:r>
              <a:rPr lang="ru-RU" b="0" i="1" dirty="0">
                <a:solidFill>
                  <a:srgbClr val="000000"/>
                </a:solidFill>
                <a:latin typeface="Arial" pitchFamily="34" charset="0"/>
                <a:cs typeface="Arial" pitchFamily="34" charset="0"/>
              </a:rPr>
              <a:t>разбиение</a:t>
            </a:r>
            <a:r>
              <a:rPr lang="ru-RU" b="0" i="0" dirty="0">
                <a:solidFill>
                  <a:srgbClr val="000000"/>
                </a:solidFill>
                <a:latin typeface="Arial" pitchFamily="34" charset="0"/>
                <a:cs typeface="Arial" pitchFamily="34" charset="0"/>
              </a:rPr>
              <a:t>) или объединять несколько дисков небольшой емкости в более крупный виртуальный том (</a:t>
            </a:r>
            <a:r>
              <a:rPr lang="ru-RU" b="0" i="1" dirty="0">
                <a:solidFill>
                  <a:srgbClr val="000000"/>
                </a:solidFill>
                <a:latin typeface="Arial" pitchFamily="34" charset="0"/>
                <a:cs typeface="Arial" pitchFamily="34" charset="0"/>
              </a:rPr>
              <a:t>объединение</a:t>
            </a:r>
            <a:r>
              <a:rPr lang="ru-RU" b="0" i="0" dirty="0">
                <a:solidFill>
                  <a:srgbClr val="000000"/>
                </a:solidFill>
                <a:latin typeface="Arial" pitchFamily="34" charset="0"/>
                <a:cs typeface="Arial" pitchFamily="34" charset="0"/>
              </a:rPr>
              <a:t>).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Обычно диспетчеры логических томов входят в состав ОС. Раньше файловой системе или другому объекту данных, используемому ОС или приложением, обычно выделялся весь диск системы хранения. Недостатком этого метода было отсутствие гибкости. Если на диске системы хранения заканчивалось свободное место, не существовало простого способа увеличить размер файловой системы.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По мере увеличения емкости хранения дисковых накопителей выделение файловой системе целого диска часто приводило к недостаточно эффективному использованию емкости хранения.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Развитие диспетчеров логических томов обеспечило возможность динамического расширения емкости файловой системы и эффективного управления хранением данных. LVM предоставляет оптимизированный доступ к системе хранения и упрощает управление ресурсами хранения данных. Он скрывает сведения о физическом диске и расположении данных на диске. LVM дает возможность администраторам изменять распределение ресурсов хранения даже во время работы приложения.</a:t>
            </a:r>
          </a:p>
          <a:p>
            <a:pPr marL="0" marR="0" indent="457200" defTabSz="457200" rtl="0" eaLnBrk="1" fontAlgn="auto" latinLnBrk="0" hangingPunct="1">
              <a:spcBef>
                <a:spcPts val="600"/>
              </a:spcBef>
              <a:buClrTx/>
              <a:buSzTx/>
              <a:buFontTx/>
              <a:buNone/>
              <a:tabLst/>
              <a:defRPr/>
            </a:pPr>
            <a:r>
              <a:rPr lang="ru-RU" b="1" i="0" dirty="0">
                <a:solidFill>
                  <a:srgbClr val="000000"/>
                </a:solidFill>
                <a:latin typeface="Arial" pitchFamily="34" charset="0"/>
                <a:cs typeface="Arial" pitchFamily="34" charset="0"/>
              </a:rPr>
              <a:t>Основные компоненты LVM — это физические тома, логические тома и группы логических томов</a:t>
            </a:r>
            <a:r>
              <a:rPr lang="ru-RU" b="0" i="0" dirty="0">
                <a:solidFill>
                  <a:srgbClr val="000000"/>
                </a:solidFill>
                <a:latin typeface="Arial" pitchFamily="34" charset="0"/>
                <a:cs typeface="Arial" pitchFamily="34" charset="0"/>
              </a:rPr>
              <a:t>.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терминологии LVM каждый физический диск подключен к вычислительной системе как </a:t>
            </a:r>
            <a:r>
              <a:rPr lang="ru-RU" b="0" i="1" dirty="0">
                <a:solidFill>
                  <a:srgbClr val="000000"/>
                </a:solidFill>
                <a:latin typeface="Arial" pitchFamily="34" charset="0"/>
                <a:cs typeface="Arial" pitchFamily="34" charset="0"/>
              </a:rPr>
              <a:t>физический том</a:t>
            </a:r>
            <a:r>
              <a:rPr lang="ru-RU" b="0" i="0" dirty="0">
                <a:solidFill>
                  <a:srgbClr val="000000"/>
                </a:solidFill>
                <a:latin typeface="Arial" pitchFamily="34" charset="0"/>
                <a:cs typeface="Arial" pitchFamily="34" charset="0"/>
              </a:rPr>
              <a:t> (PV).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Группа томов</a:t>
            </a:r>
            <a:r>
              <a:rPr lang="ru-RU" b="0" i="0" dirty="0">
                <a:solidFill>
                  <a:srgbClr val="000000"/>
                </a:solidFill>
                <a:latin typeface="Arial" pitchFamily="34" charset="0"/>
                <a:cs typeface="Arial" pitchFamily="34" charset="0"/>
              </a:rPr>
              <a:t> создается путем группирования одного или нескольких PV.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Уникальный </a:t>
            </a:r>
            <a:r>
              <a:rPr lang="ru-RU" b="0" i="1" dirty="0">
                <a:solidFill>
                  <a:srgbClr val="000000"/>
                </a:solidFill>
                <a:latin typeface="Arial" pitchFamily="34" charset="0"/>
                <a:cs typeface="Arial" pitchFamily="34" charset="0"/>
              </a:rPr>
              <a:t>идентификатор физического тома</a:t>
            </a:r>
            <a:r>
              <a:rPr lang="ru-RU" b="0" i="0" dirty="0">
                <a:solidFill>
                  <a:srgbClr val="000000"/>
                </a:solidFill>
                <a:latin typeface="Arial" pitchFamily="34" charset="0"/>
                <a:cs typeface="Arial" pitchFamily="34" charset="0"/>
              </a:rPr>
              <a:t> (PVID) назначается каждому PV, когда он инициируется для использования диспетчером LVM. </a:t>
            </a:r>
            <a:endParaRPr lang="en-US" b="0" i="0" dirty="0">
              <a:solidFill>
                <a:srgbClr val="000000"/>
              </a:solidFill>
              <a:latin typeface="Arial" pitchFamily="34" charset="0"/>
              <a:cs typeface="Arial" pitchFamily="34" charset="0"/>
            </a:endParaRPr>
          </a:p>
          <a:p>
            <a:pPr marL="0" marR="0" indent="45720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Физические тома можно динамически добавлять в группу томов или удалять их. Они не могут совместно использоваться разными группами томов. Это означает, что весь PV становится частью группы томов. При создании группы томов каждый PV разделяется на блоки данных равного размера, которые называются </a:t>
            </a:r>
            <a:r>
              <a:rPr lang="ru-RU" b="0" i="1" dirty="0">
                <a:solidFill>
                  <a:srgbClr val="000000"/>
                </a:solidFill>
                <a:latin typeface="Arial" pitchFamily="34" charset="0"/>
                <a:cs typeface="Arial" pitchFamily="34" charset="0"/>
              </a:rPr>
              <a:t>физическими экстентами</a:t>
            </a:r>
            <a:r>
              <a:rPr lang="ru-RU" b="0" i="0" dirty="0">
                <a:solidFill>
                  <a:srgbClr val="000000"/>
                </a:solidFill>
                <a:latin typeface="Arial" pitchFamily="34" charset="0"/>
                <a:cs typeface="Arial" pitchFamily="34" charset="0"/>
              </a:rPr>
              <a:t>.</a:t>
            </a:r>
          </a:p>
          <a:p>
            <a:pPr indent="457200">
              <a:spcBef>
                <a:spcPts val="600"/>
              </a:spcBef>
            </a:pPr>
            <a:r>
              <a:rPr lang="ru-RU" b="0" i="1" dirty="0">
                <a:solidFill>
                  <a:srgbClr val="000000"/>
                </a:solidFill>
                <a:latin typeface="Arial" pitchFamily="34" charset="0"/>
                <a:cs typeface="Arial" pitchFamily="34" charset="0"/>
              </a:rPr>
              <a:t>Логические тома</a:t>
            </a:r>
            <a:r>
              <a:rPr lang="ru-RU" b="0" i="0" dirty="0">
                <a:solidFill>
                  <a:srgbClr val="000000"/>
                </a:solidFill>
                <a:latin typeface="Arial" pitchFamily="34" charset="0"/>
                <a:cs typeface="Arial" pitchFamily="34" charset="0"/>
              </a:rPr>
              <a:t> (LV) создаются внутри данной группы томов.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LV можно считать разделом диска, а саму группу томов можно рассматривать как диск.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Размер LV выбирается равным кратному количеству физических экстентов.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Для ОС LV выглядит как физическое устройство. LV образуется из несмежных физических экстентов и может охватывать несколько физических томов. Файловая система создается на логическом томе. Затем эти логические тома назначаются приложению. Можно также зеркалировать логический том для обеспечения повышенной доступности данных.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54591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Разбиение дисков было введено для повышения гибкости и более эффективного использования дисковых накопителей.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В процессе </a:t>
            </a:r>
            <a:r>
              <a:rPr lang="ru-RU" b="1" i="1" dirty="0">
                <a:solidFill>
                  <a:srgbClr val="000000"/>
                </a:solidFill>
                <a:latin typeface="Arial" pitchFamily="34" charset="0"/>
                <a:cs typeface="Arial" pitchFamily="34" charset="0"/>
              </a:rPr>
              <a:t>разбиения </a:t>
            </a:r>
            <a:r>
              <a:rPr lang="ru-RU" b="1" i="0" dirty="0">
                <a:solidFill>
                  <a:srgbClr val="000000"/>
                </a:solidFill>
                <a:latin typeface="Arial" pitchFamily="34" charset="0"/>
                <a:cs typeface="Arial" pitchFamily="34" charset="0"/>
              </a:rPr>
              <a:t>диск </a:t>
            </a:r>
            <a:r>
              <a:rPr lang="ru-RU" b="0" i="0" dirty="0">
                <a:solidFill>
                  <a:srgbClr val="000000"/>
                </a:solidFill>
                <a:latin typeface="Arial" pitchFamily="34" charset="0"/>
                <a:cs typeface="Arial" pitchFamily="34" charset="0"/>
              </a:rPr>
              <a:t>разделяется на логические контейнеры, называемые логическими томами.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Например, физический диск большой емкости можно разбить на несколько LV для хранения данных в соответствии с требованиями файловой системы и приложений. </a:t>
            </a:r>
            <a:endParaRPr lang="en-US" b="0" i="0" dirty="0">
              <a:solidFill>
                <a:srgbClr val="000000"/>
              </a:solidFill>
              <a:latin typeface="Arial" pitchFamily="34" charset="0"/>
              <a:cs typeface="Arial" pitchFamily="34" charset="0"/>
            </a:endParaRPr>
          </a:p>
          <a:p>
            <a:pPr indent="457200">
              <a:spcBef>
                <a:spcPts val="600"/>
              </a:spcBef>
            </a:pPr>
            <a:r>
              <a:rPr lang="ru-RU" b="0" i="0" dirty="0">
                <a:solidFill>
                  <a:srgbClr val="000000"/>
                </a:solidFill>
                <a:latin typeface="Arial" pitchFamily="34" charset="0"/>
                <a:cs typeface="Arial" pitchFamily="34" charset="0"/>
              </a:rPr>
              <a:t>Разделы создаются из групп смежных цилиндров, когда жесткий диск устанавливается на хосте. Файловая система хоста получает доступ к логическим томам, не имея никакой информации о разбиении диска на разделы и его физической структуре. </a:t>
            </a:r>
            <a:endParaRPr lang="en-US" b="0" i="0" dirty="0">
              <a:solidFill>
                <a:srgbClr val="000000"/>
              </a:solidFill>
              <a:latin typeface="Arial" pitchFamily="34" charset="0"/>
              <a:cs typeface="Arial" pitchFamily="34" charset="0"/>
            </a:endParaRPr>
          </a:p>
          <a:p>
            <a:pPr indent="457200">
              <a:spcBef>
                <a:spcPts val="600"/>
              </a:spcBef>
            </a:pPr>
            <a:r>
              <a:rPr lang="ru-RU" b="1" i="1" dirty="0">
                <a:solidFill>
                  <a:srgbClr val="000000"/>
                </a:solidFill>
                <a:latin typeface="Arial" pitchFamily="34" charset="0"/>
                <a:cs typeface="Arial" pitchFamily="34" charset="0"/>
              </a:rPr>
              <a:t>Объединение </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это процесс группирования нескольких физических дисков и представления их хосту в виде одного большого логического тома.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302454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i="1" dirty="0">
                <a:solidFill>
                  <a:srgbClr val="000000"/>
                </a:solidFill>
                <a:latin typeface="Arial" pitchFamily="34" charset="0"/>
                <a:cs typeface="Arial" pitchFamily="34" charset="0"/>
              </a:rPr>
              <a:t>Файл — </a:t>
            </a:r>
            <a:r>
              <a:rPr lang="ru-RU" i="0" dirty="0">
                <a:solidFill>
                  <a:srgbClr val="000000"/>
                </a:solidFill>
                <a:latin typeface="Arial" pitchFamily="34" charset="0"/>
                <a:cs typeface="Arial" pitchFamily="34" charset="0"/>
              </a:rPr>
              <a:t>это коллекция связанных записей или данных, хранимых в виде единого поименованного блока в непрерывном пространстве логических адресов. Файлы бывают различных типов, например, текст, исполняемый файл, изображение, аудио/видео, двоичный файл, библиотека и архив. Файлы имеют ряд атрибутов, например, имя, уникальный идентификатор, тип, размер, расположение, владелец и защита.</a:t>
            </a:r>
          </a:p>
          <a:p>
            <a:pPr indent="457200">
              <a:spcBef>
                <a:spcPts val="600"/>
              </a:spcBef>
            </a:pPr>
            <a:r>
              <a:rPr lang="ru-RU" i="1" dirty="0">
                <a:solidFill>
                  <a:srgbClr val="000000"/>
                </a:solidFill>
                <a:latin typeface="Arial" pitchFamily="34" charset="0"/>
                <a:cs typeface="Arial" pitchFamily="34" charset="0"/>
              </a:rPr>
              <a:t>Файловая система</a:t>
            </a:r>
            <a:r>
              <a:rPr lang="ru-RU" i="0" dirty="0">
                <a:solidFill>
                  <a:srgbClr val="000000"/>
                </a:solidFill>
                <a:latin typeface="Arial" pitchFamily="34" charset="0"/>
                <a:cs typeface="Arial" pitchFamily="34" charset="0"/>
              </a:rPr>
              <a:t> — это компонент ОС, осуществляющий контроль и управление хранением и извлечением файлов в вычислительной системе. Файловая система обеспечивает простой доступ к файлам, находящимся на дисках системы хранения, в разделах или логических томах. Она состоит из логических структур и программных процедур, управляющих доступом к файлам. </a:t>
            </a:r>
            <a:endParaRPr lang="en-US" i="0" dirty="0">
              <a:solidFill>
                <a:srgbClr val="000000"/>
              </a:solidFill>
              <a:latin typeface="Arial" pitchFamily="34" charset="0"/>
              <a:cs typeface="Arial" pitchFamily="34" charset="0"/>
            </a:endParaRPr>
          </a:p>
          <a:p>
            <a:pPr indent="457200">
              <a:spcBef>
                <a:spcPts val="600"/>
              </a:spcBef>
            </a:pPr>
            <a:r>
              <a:rPr lang="ru-RU" i="0" dirty="0">
                <a:solidFill>
                  <a:srgbClr val="000000"/>
                </a:solidFill>
                <a:latin typeface="Arial" pitchFamily="34" charset="0"/>
                <a:cs typeface="Arial" pitchFamily="34" charset="0"/>
              </a:rPr>
              <a:t>Файловая система предоставляет пользователям возможность выполнять различные операции с файлами, например, создание, доступ (последовательный или произвольный), запись, поиск, изменение и удаление.</a:t>
            </a:r>
          </a:p>
          <a:p>
            <a:pPr indent="457200">
              <a:spcBef>
                <a:spcPts val="600"/>
              </a:spcBef>
            </a:pPr>
            <a:r>
              <a:rPr lang="ru-RU" i="0" dirty="0">
                <a:solidFill>
                  <a:srgbClr val="000000"/>
                </a:solidFill>
                <a:latin typeface="Arial" pitchFamily="34" charset="0"/>
                <a:cs typeface="Arial" pitchFamily="34" charset="0"/>
              </a:rPr>
              <a:t>Обычно файловая система группирует и организует файлы в древоподобную иерархическую структуру. </a:t>
            </a:r>
            <a:endParaRPr lang="en-US" i="0" dirty="0">
              <a:solidFill>
                <a:srgbClr val="000000"/>
              </a:solidFill>
              <a:latin typeface="Arial" pitchFamily="34" charset="0"/>
              <a:cs typeface="Arial" pitchFamily="34" charset="0"/>
            </a:endParaRPr>
          </a:p>
          <a:p>
            <a:pPr indent="457200">
              <a:spcBef>
                <a:spcPts val="600"/>
              </a:spcBef>
            </a:pPr>
            <a:r>
              <a:rPr lang="ru-RU" i="0" dirty="0">
                <a:solidFill>
                  <a:srgbClr val="000000"/>
                </a:solidFill>
                <a:latin typeface="Arial" pitchFamily="34" charset="0"/>
                <a:cs typeface="Arial" pitchFamily="34" charset="0"/>
              </a:rPr>
              <a:t>Она позволяет пользователям группировать файлы внутри логических коллекций, называемых </a:t>
            </a:r>
            <a:r>
              <a:rPr lang="ru-RU" i="1" dirty="0">
                <a:solidFill>
                  <a:srgbClr val="000000"/>
                </a:solidFill>
                <a:latin typeface="Arial" pitchFamily="34" charset="0"/>
                <a:cs typeface="Arial" pitchFamily="34" charset="0"/>
              </a:rPr>
              <a:t>каталогами</a:t>
            </a:r>
            <a:r>
              <a:rPr lang="ru-RU" i="0" dirty="0">
                <a:solidFill>
                  <a:srgbClr val="000000"/>
                </a:solidFill>
                <a:latin typeface="Arial" pitchFamily="34" charset="0"/>
                <a:cs typeface="Arial" pitchFamily="34" charset="0"/>
              </a:rPr>
              <a:t>, которые представляют собой контейнеры для хранения указателей на несколько файлов. </a:t>
            </a:r>
            <a:endParaRPr lang="en-US" i="0" dirty="0">
              <a:solidFill>
                <a:srgbClr val="000000"/>
              </a:solidFill>
              <a:latin typeface="Arial" pitchFamily="34" charset="0"/>
              <a:cs typeface="Arial" pitchFamily="34" charset="0"/>
            </a:endParaRPr>
          </a:p>
          <a:p>
            <a:pPr indent="457200">
              <a:spcBef>
                <a:spcPts val="600"/>
              </a:spcBef>
            </a:pPr>
            <a:r>
              <a:rPr lang="ru-RU" i="0" dirty="0">
                <a:solidFill>
                  <a:srgbClr val="000000"/>
                </a:solidFill>
                <a:latin typeface="Arial" pitchFamily="34" charset="0"/>
                <a:cs typeface="Arial" pitchFamily="34" charset="0"/>
              </a:rPr>
              <a:t>Файловая система хранит карту указателей на каталоги, подкаталоги (если они существуют) и файлы, входящие в состав файловой системы. Кроме того, она хранит все метаданные (атрибуты файлов), связанные с этими файлами. </a:t>
            </a:r>
          </a:p>
          <a:p>
            <a:pPr indent="457200">
              <a:spcBef>
                <a:spcPts val="600"/>
              </a:spcBef>
            </a:pPr>
            <a:r>
              <a:rPr lang="ru-RU" i="1" dirty="0">
                <a:solidFill>
                  <a:srgbClr val="000000"/>
                </a:solidFill>
                <a:latin typeface="Arial" pitchFamily="34" charset="0"/>
                <a:cs typeface="Arial" pitchFamily="34" charset="0"/>
              </a:rPr>
              <a:t>Блок </a:t>
            </a:r>
            <a:r>
              <a:rPr lang="ru-RU" i="0" dirty="0">
                <a:solidFill>
                  <a:srgbClr val="000000"/>
                </a:solidFill>
                <a:latin typeface="Arial" pitchFamily="34" charset="0"/>
                <a:cs typeface="Arial" pitchFamily="34" charset="0"/>
              </a:rPr>
              <a:t>файловой системы — это минимальная единица емкости, выделяемая для хранения данных. Каждый блок файловой системы представляет собой непрерывную область на физическом диске. Размер блоков файловой системы фиксируется при ее создании. Размер файловой системы зависит от размера блоков и общего количества блоков файловой системы. Файл может охватывать несколько блоков файловой системы, поскольку большинство файлов имеют размер, превышающий предварительно заданный размер блоков файловой системы. При добавлении новых блоков или их удалении непрерывность расположения блоков файловой системы нарушается, и они становятся фрагментированными. Со временем, по мере увеличения размера файлов, файловая система становится фрагментированной.</a:t>
            </a:r>
          </a:p>
          <a:p>
            <a:pPr indent="457200">
              <a:spcBef>
                <a:spcPts val="600"/>
              </a:spcBef>
            </a:pPr>
            <a:r>
              <a:rPr lang="ru-RU" dirty="0">
                <a:latin typeface="Arial" pitchFamily="34" charset="0"/>
                <a:cs typeface="Arial" pitchFamily="34" charset="0"/>
              </a:rPr>
              <a:t>Самая общая классификация файловых систем включает дисковые, сетевые и виртуальные файловые системы. Эти системы описываются ниже.</a:t>
            </a:r>
          </a:p>
          <a:p>
            <a:pPr indent="457200">
              <a:spcBef>
                <a:spcPts val="600"/>
              </a:spcBef>
            </a:pPr>
            <a:r>
              <a:rPr lang="ru-RU" b="1" dirty="0">
                <a:latin typeface="Arial" pitchFamily="34" charset="0"/>
                <a:cs typeface="Arial" pitchFamily="34" charset="0"/>
              </a:rPr>
              <a:t>Дисковая файловая система. </a:t>
            </a:r>
            <a:r>
              <a:rPr lang="ru-RU" dirty="0">
                <a:latin typeface="Arial" pitchFamily="34" charset="0"/>
                <a:cs typeface="Arial" pitchFamily="34" charset="0"/>
              </a:rPr>
              <a:t>Дисковая файловая система управляет файлами, хранимыми в устройствах хранения данных, например, на твердотельных дисках (</a:t>
            </a:r>
            <a:r>
              <a:rPr lang="en-US" dirty="0">
                <a:latin typeface="Arial" pitchFamily="34" charset="0"/>
                <a:cs typeface="Arial" pitchFamily="34" charset="0"/>
              </a:rPr>
              <a:t>SSD), </a:t>
            </a:r>
            <a:r>
              <a:rPr lang="ru-RU" dirty="0">
                <a:latin typeface="Arial" pitchFamily="34" charset="0"/>
                <a:cs typeface="Arial" pitchFamily="34" charset="0"/>
              </a:rPr>
              <a:t>жестких дисках и накопителях на оптических дисках. Примерами дисковых файловых систем могут служить </a:t>
            </a:r>
            <a:r>
              <a:rPr lang="en-US" dirty="0">
                <a:latin typeface="Arial" pitchFamily="34" charset="0"/>
                <a:cs typeface="Arial" pitchFamily="34" charset="0"/>
              </a:rPr>
              <a:t>Microsoft NT File System (NTFS), Apple Hierarchical File System (HFS) Plus, </a:t>
            </a:r>
            <a:r>
              <a:rPr lang="ru-RU" dirty="0">
                <a:latin typeface="Arial" pitchFamily="34" charset="0"/>
                <a:cs typeface="Arial" pitchFamily="34" charset="0"/>
              </a:rPr>
              <a:t>семейство </a:t>
            </a:r>
            <a:r>
              <a:rPr lang="en-US" dirty="0">
                <a:latin typeface="Arial" pitchFamily="34" charset="0"/>
                <a:cs typeface="Arial" pitchFamily="34" charset="0"/>
              </a:rPr>
              <a:t>Extended File System </a:t>
            </a:r>
            <a:r>
              <a:rPr lang="ru-RU" dirty="0">
                <a:latin typeface="Arial" pitchFamily="34" charset="0"/>
                <a:cs typeface="Arial" pitchFamily="34" charset="0"/>
              </a:rPr>
              <a:t>для </a:t>
            </a:r>
            <a:r>
              <a:rPr lang="en-US" dirty="0">
                <a:latin typeface="Arial" pitchFamily="34" charset="0"/>
                <a:cs typeface="Arial" pitchFamily="34" charset="0"/>
              </a:rPr>
              <a:t>Linux, Oracle ZFS </a:t>
            </a:r>
            <a:r>
              <a:rPr lang="ru-RU" dirty="0">
                <a:latin typeface="Arial" pitchFamily="34" charset="0"/>
                <a:cs typeface="Arial" pitchFamily="34" charset="0"/>
              </a:rPr>
              <a:t>и </a:t>
            </a:r>
            <a:r>
              <a:rPr lang="en-US" dirty="0">
                <a:latin typeface="Arial" pitchFamily="34" charset="0"/>
                <a:cs typeface="Arial" pitchFamily="34" charset="0"/>
              </a:rPr>
              <a:t>Universal Disk Format (UDF).</a:t>
            </a:r>
          </a:p>
          <a:p>
            <a:pPr indent="457200">
              <a:spcBef>
                <a:spcPts val="600"/>
              </a:spcBef>
            </a:pPr>
            <a:r>
              <a:rPr lang="ru-RU" b="1" dirty="0">
                <a:latin typeface="Arial" pitchFamily="34" charset="0"/>
                <a:cs typeface="Arial" pitchFamily="34" charset="0"/>
              </a:rPr>
              <a:t>Сетевая файловая система. </a:t>
            </a:r>
            <a:r>
              <a:rPr lang="ru-RU" dirty="0">
                <a:latin typeface="Arial" pitchFamily="34" charset="0"/>
                <a:cs typeface="Arial" pitchFamily="34" charset="0"/>
              </a:rPr>
              <a:t>Сетевая файловая система использует сети для обеспечения доступа вычислительных систем к файловой системе. Сетевые файловые системы могут использовать либо клиент-серверную модель, либо могут быть распределенными или кластерными.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При использовании клиент-серверной модели файловая система находится на сервере, а клиенты получают к ней доступ по сети. Клиент-серверная модель позволяет клиентам монтировать удаленные файловые системы с сервера.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Сетевая файловая система NFS для сред UNIX и файловая система CIFS для сред Windows представляют собой два стандартных клиент-серверных протокола совместного доступа к файлам (обе эти файловые системы рассматриваются в модуле 6 («Файловая система хранения (NAS)»)). </a:t>
            </a:r>
            <a:endParaRPr lang="en-US" dirty="0">
              <a:latin typeface="Arial" pitchFamily="34" charset="0"/>
              <a:cs typeface="Arial" pitchFamily="34" charset="0"/>
            </a:endParaRPr>
          </a:p>
          <a:p>
            <a:pPr indent="457200">
              <a:spcBef>
                <a:spcPts val="600"/>
              </a:spcBef>
            </a:pPr>
            <a:r>
              <a:rPr lang="ru-RU" i="1" dirty="0">
                <a:latin typeface="Arial" pitchFamily="34" charset="0"/>
                <a:cs typeface="Arial" pitchFamily="34" charset="0"/>
              </a:rPr>
              <a:t>Кластерная файловая система — это файловая система, которая одновременно монтируется в нескольких вычислительных системах (или узлах), входящих в кластер. Это позволяет узлам кластера совместно использовать одно устройство хранения данных и одновременно получать к нему доступ. Кластерные файловые системы предоставляют такие функции, как независимая от местоположения адресация и резервирование. Кроме того, кластерная файловая система может распределять данные между несколькими узлами хранения для целей резервирования и/или для повышения производительности. </a:t>
            </a:r>
            <a:endParaRPr lang="en-US" i="1" dirty="0">
              <a:latin typeface="Arial" pitchFamily="34" charset="0"/>
              <a:cs typeface="Arial" pitchFamily="34" charset="0"/>
            </a:endParaRPr>
          </a:p>
          <a:p>
            <a:pPr indent="457200">
              <a:spcBef>
                <a:spcPts val="600"/>
              </a:spcBef>
            </a:pPr>
            <a:r>
              <a:rPr lang="ru-RU" i="1" dirty="0">
                <a:latin typeface="Arial" pitchFamily="34" charset="0"/>
                <a:cs typeface="Arial" pitchFamily="34" charset="0"/>
              </a:rPr>
              <a:t>Примерами сетевых файловых систем могут служить Microsoft Distributed File System (DFS), Hadoop Distributed File System (HDFS), VMware Virtual Machine File System (VMFS), Red Hat GlusterFS и Red Hat CephFS.</a:t>
            </a:r>
          </a:p>
          <a:p>
            <a:pPr indent="457200">
              <a:spcBef>
                <a:spcPts val="600"/>
              </a:spcBef>
            </a:pPr>
            <a:r>
              <a:rPr lang="ru-RU" b="1" dirty="0">
                <a:latin typeface="Arial" pitchFamily="34" charset="0"/>
                <a:cs typeface="Arial" pitchFamily="34" charset="0"/>
              </a:rPr>
              <a:t>Виртуальная файловая система. </a:t>
            </a:r>
            <a:r>
              <a:rPr lang="ru-RU" dirty="0">
                <a:latin typeface="Arial" pitchFamily="34" charset="0"/>
                <a:cs typeface="Arial" pitchFamily="34" charset="0"/>
              </a:rPr>
              <a:t>Виртуальная файловая система — это размещенная в памяти файловая система, которая позволяет вычислительным системам прозрачно получать доступ к различным типам файловых систем на локальных и сетевых устройствах хранения данных.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Она предоставляет уровень абстрагирования, обеспечивающий приложениям единообразный доступ к различным типам файловых систем. Она устраняет разногласия между файловыми системами различных операционных систем, причем приложения могут не знать, к какому типу файловой системы они получают доступ. Примерами виртуальных файловых систем служат Linux Virtual File System (VFS) и Oracle CacheFS.</a:t>
            </a:r>
          </a:p>
          <a:p>
            <a:pPr>
              <a:spcBef>
                <a:spcPts val="600"/>
              </a:spcBef>
            </a:pPr>
            <a:endParaRPr lang="ru-RU"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934784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b="0" i="0" dirty="0">
                <a:solidFill>
                  <a:srgbClr val="000000"/>
                </a:solidFill>
                <a:latin typeface="Arial" pitchFamily="34" charset="0"/>
                <a:cs typeface="Arial" pitchFamily="34" charset="0"/>
              </a:rPr>
              <a:t>Ниже описывается процесс привязки файлов пользователя к системе хранения, использующей диспетчер LVM: </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Файлы создаются и управляются пользователями и приложениями.</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Эти файлы находятся в файловых системах.</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Файловые системы привязаны к блокам файловых систем.</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Блоки файловой системы привязаны к логическим экстентам логического тома.</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Эти логические экстенты, в свою очередь, привязаны к физическим экстентам, либо в ОС, либо при помощи LVM.</a:t>
            </a:r>
          </a:p>
          <a:p>
            <a:pPr marL="573088" lvl="1" indent="457200">
              <a:spcBef>
                <a:spcPts val="600"/>
              </a:spcBef>
              <a:buFont typeface="+mj-lt"/>
              <a:buAutoNum type="arabicPeriod"/>
            </a:pPr>
            <a:r>
              <a:rPr lang="ru-RU" b="0" i="0" dirty="0">
                <a:solidFill>
                  <a:srgbClr val="000000"/>
                </a:solidFill>
                <a:latin typeface="Arial" pitchFamily="34" charset="0"/>
                <a:cs typeface="Arial" pitchFamily="34" charset="0"/>
              </a:rPr>
              <a:t>Эти физические экстенты привязаны к секторам в подсистеме хранения данных.</a:t>
            </a:r>
          </a:p>
          <a:p>
            <a:pPr indent="457200">
              <a:spcBef>
                <a:spcPts val="600"/>
              </a:spcBef>
            </a:pPr>
            <a:r>
              <a:rPr lang="ru-RU" b="0" i="0" dirty="0">
                <a:solidFill>
                  <a:srgbClr val="000000"/>
                </a:solidFill>
                <a:latin typeface="Arial" pitchFamily="34" charset="0"/>
                <a:cs typeface="Arial" pitchFamily="34" charset="0"/>
              </a:rPr>
              <a:t>Если диспетчер LVM отсутствует, логические экстенты тоже отсутствуют. Без LVM блоки файловой системы привязаны непосредственно к секторам.</a:t>
            </a:r>
          </a:p>
          <a:p>
            <a:pPr indent="457200">
              <a:spcBef>
                <a:spcPts val="600"/>
              </a:spcBef>
            </a:pPr>
            <a:r>
              <a:rPr lang="ru-RU" b="0" i="0" dirty="0">
                <a:solidFill>
                  <a:srgbClr val="000000"/>
                </a:solidFill>
                <a:latin typeface="Arial" pitchFamily="34" charset="0"/>
                <a:cs typeface="Arial" pitchFamily="34" charset="0"/>
              </a:rPr>
              <a:t>Помимо файлов и каталогов, файловая система включает также ряд других связанных записей, которые обобщенно называются </a:t>
            </a:r>
            <a:r>
              <a:rPr lang="ru-RU" b="0" i="1" dirty="0">
                <a:solidFill>
                  <a:srgbClr val="000000"/>
                </a:solidFill>
                <a:latin typeface="Arial" pitchFamily="34" charset="0"/>
                <a:cs typeface="Arial" pitchFamily="34" charset="0"/>
              </a:rPr>
              <a:t>метаданными</a:t>
            </a:r>
            <a:r>
              <a:rPr lang="ru-RU" b="0" i="0" dirty="0">
                <a:solidFill>
                  <a:srgbClr val="000000"/>
                </a:solidFill>
                <a:latin typeface="Arial" pitchFamily="34" charset="0"/>
                <a:cs typeface="Arial" pitchFamily="34" charset="0"/>
              </a:rPr>
              <a:t>. Метаданные файловой системы должны быть согласованными, чтобы файловая система считалась работоспособной. </a:t>
            </a:r>
          </a:p>
        </p:txBody>
      </p:sp>
    </p:spTree>
    <p:extLst>
      <p:ext uri="{BB962C8B-B14F-4D97-AF65-F5344CB8AC3E}">
        <p14:creationId xmlns:p14="http://schemas.microsoft.com/office/powerpoint/2010/main" val="2775491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457200" defTabSz="914400" rtl="0" eaLnBrk="0" fontAlgn="base" latinLnBrk="0" hangingPunct="0">
              <a:spcBef>
                <a:spcPts val="600"/>
              </a:spcBef>
              <a:buClrTx/>
              <a:buSzTx/>
              <a:buFontTx/>
              <a:buNone/>
              <a:tabLst/>
              <a:defRPr/>
            </a:pPr>
            <a:r>
              <a:rPr lang="ru-RU" dirty="0">
                <a:solidFill>
                  <a:srgbClr val="000000"/>
                </a:solidFill>
                <a:latin typeface="Arial" pitchFamily="34" charset="0"/>
                <a:cs typeface="Arial" pitchFamily="34" charset="0"/>
              </a:rPr>
              <a:t>Вычислительные системы, используемые при создании центров обработки данных, обычно подразделяются на три категории: башенные вычислительные системы, вычислительные системы, монтируемые в стойку, и вычислительные системы на блейд-модулях.</a:t>
            </a:r>
          </a:p>
          <a:p>
            <a:pPr indent="457200">
              <a:spcBef>
                <a:spcPts val="600"/>
              </a:spcBef>
            </a:pPr>
            <a:r>
              <a:rPr lang="ru-RU" b="1" dirty="0">
                <a:solidFill>
                  <a:srgbClr val="000000"/>
                </a:solidFill>
                <a:latin typeface="Arial" pitchFamily="34" charset="0"/>
                <a:cs typeface="Arial" pitchFamily="34" charset="0"/>
              </a:rPr>
              <a:t>Башенная вычислительная система</a:t>
            </a:r>
            <a:r>
              <a:rPr lang="ru-RU" dirty="0">
                <a:solidFill>
                  <a:srgbClr val="000000"/>
                </a:solidFill>
                <a:latin typeface="Arial" pitchFamily="34" charset="0"/>
                <a:cs typeface="Arial" pitchFamily="34" charset="0"/>
              </a:rPr>
              <a:t>, известная также как башенный сервер — это вычислительная система, собранная в вертикальном автономном корпусе, называемом «башней», который напоминает по внешнему виду корпус настольного ПК. </a:t>
            </a:r>
            <a:endParaRPr lang="en-US" dirty="0">
              <a:solidFill>
                <a:srgbClr val="000000"/>
              </a:solidFill>
              <a:latin typeface="Arial" pitchFamily="34" charset="0"/>
              <a:cs typeface="Arial" pitchFamily="34" charset="0"/>
            </a:endParaRPr>
          </a:p>
          <a:p>
            <a:pPr indent="457200">
              <a:spcBef>
                <a:spcPts val="600"/>
              </a:spcBef>
            </a:pPr>
            <a:r>
              <a:rPr lang="ru-RU" dirty="0">
                <a:solidFill>
                  <a:srgbClr val="000000"/>
                </a:solidFill>
                <a:latin typeface="Arial" pitchFamily="34" charset="0"/>
                <a:cs typeface="Arial" pitchFamily="34" charset="0"/>
              </a:rPr>
              <a:t>Башенные серверы отличаются прочной конструкцией и имеют встроенные источник питания и систему охлаждения. Обычно они комплектуются отдельными монитором, клавиатурой и мышью. </a:t>
            </a:r>
            <a:endParaRPr lang="en-US">
              <a:solidFill>
                <a:srgbClr val="000000"/>
              </a:solidFill>
              <a:latin typeface="Arial" pitchFamily="34" charset="0"/>
              <a:cs typeface="Arial" pitchFamily="34" charset="0"/>
            </a:endParaRPr>
          </a:p>
          <a:p>
            <a:pPr indent="457200">
              <a:spcBef>
                <a:spcPts val="600"/>
              </a:spcBef>
            </a:pPr>
            <a:r>
              <a:rPr lang="ru-RU">
                <a:solidFill>
                  <a:srgbClr val="000000"/>
                </a:solidFill>
                <a:latin typeface="Arial" pitchFamily="34" charset="0"/>
                <a:cs typeface="Arial" pitchFamily="34" charset="0"/>
              </a:rPr>
              <a:t>Башенные </a:t>
            </a:r>
            <a:r>
              <a:rPr lang="ru-RU" dirty="0">
                <a:solidFill>
                  <a:srgbClr val="000000"/>
                </a:solidFill>
                <a:latin typeface="Arial" pitchFamily="34" charset="0"/>
                <a:cs typeface="Arial" pitchFamily="34" charset="0"/>
              </a:rPr>
              <a:t>серверы занимают значительную площадь и требуют сложных кабельных подключений при развертывании в центре обработки данных. Они имеют большие габариты, и вентиляторы системы охлаждения группы башенных серверов производят значительный шум. Башенные серверы обычно используют в небольших инфраструктурах. Развертывание большого количества башенных серверов в крупных инфраструктурах может быть сопряжено со значительными расходами.</a:t>
            </a:r>
          </a:p>
          <a:p>
            <a:pPr indent="457200">
              <a:spcBef>
                <a:spcPts val="600"/>
              </a:spcBef>
            </a:pPr>
            <a:r>
              <a:rPr lang="ru-RU" b="1" dirty="0">
                <a:solidFill>
                  <a:srgbClr val="000000"/>
                </a:solidFill>
                <a:latin typeface="Arial" pitchFamily="34" charset="0"/>
                <a:cs typeface="Arial" pitchFamily="34" charset="0"/>
              </a:rPr>
              <a:t>Вычислительная система, монтируемая в стойку</a:t>
            </a:r>
            <a:r>
              <a:rPr lang="ru-RU" dirty="0">
                <a:solidFill>
                  <a:srgbClr val="000000"/>
                </a:solidFill>
                <a:latin typeface="Arial" pitchFamily="34" charset="0"/>
                <a:cs typeface="Arial" pitchFamily="34" charset="0"/>
              </a:rPr>
              <a:t>, известна также как стоечный сервер и предназначена для закрепления в раме, которая называется «стойкой». Стойка — это стандартизованный корпус, содержащий несколько монтажных слотов,называемых «отсеками», в каждом из которых установлен сервер, закрепленный при помощи винтов. Одна стойка содержит несколько серверов, размещенных друг над другом в отсеках. Это упрощает подключение сетевых кабелей, консолидацию сетевого оборудования и уменьшает занимаемую площадь. </a:t>
            </a:r>
            <a:endParaRPr lang="en-US" dirty="0">
              <a:solidFill>
                <a:srgbClr val="000000"/>
              </a:solidFill>
              <a:latin typeface="Arial" pitchFamily="34" charset="0"/>
              <a:cs typeface="Arial" pitchFamily="34" charset="0"/>
            </a:endParaRPr>
          </a:p>
          <a:p>
            <a:pPr indent="457200">
              <a:spcBef>
                <a:spcPts val="600"/>
              </a:spcBef>
            </a:pPr>
            <a:r>
              <a:rPr lang="ru-RU" dirty="0">
                <a:solidFill>
                  <a:srgbClr val="000000"/>
                </a:solidFill>
                <a:latin typeface="Arial" pitchFamily="34" charset="0"/>
                <a:cs typeface="Arial" pitchFamily="34" charset="0"/>
              </a:rPr>
              <a:t>Каждый стоечный сервер имеет собственные источник питания и систему охлаждения. Обычно в стойке монтируется консоль, с которой администратор может управлять всеми серверами в стойке. Использование стоечных серверов связано с некоторыми сложностями: во-первых, с ними не очень удобно работать, а во-вторых, они вырабатывают очень много тепла, в связи с чем им требуется дополнительное охлаждение, а это, в свою очередь, увеличивает затраты на электроэнергию. </a:t>
            </a:r>
            <a:endParaRPr lang="en-US" dirty="0">
              <a:solidFill>
                <a:srgbClr val="000000"/>
              </a:solidFill>
              <a:latin typeface="Arial" pitchFamily="34" charset="0"/>
              <a:cs typeface="Arial" pitchFamily="34" charset="0"/>
            </a:endParaRPr>
          </a:p>
          <a:p>
            <a:pPr indent="457200">
              <a:spcBef>
                <a:spcPts val="600"/>
              </a:spcBef>
            </a:pPr>
            <a:r>
              <a:rPr lang="ru-RU" dirty="0">
                <a:solidFill>
                  <a:srgbClr val="000000"/>
                </a:solidFill>
                <a:latin typeface="Arial" pitchFamily="34" charset="0"/>
                <a:cs typeface="Arial" pitchFamily="34" charset="0"/>
              </a:rPr>
              <a:t>«Монтажная единица» (обозначаемая U или RU) — это единица измерения высоты сервера, предназначенного для установки в стойку. Одна монтажная единица равняется 44,45 мм. Стоечный сервер высотой 1 U обычно имеет ширину 19 дюймов (482,6 мм) </a:t>
            </a:r>
            <a:endParaRPr lang="en-US" dirty="0">
              <a:solidFill>
                <a:srgbClr val="000000"/>
              </a:solidFill>
              <a:latin typeface="Arial" pitchFamily="34" charset="0"/>
              <a:cs typeface="Arial" pitchFamily="34" charset="0"/>
            </a:endParaRPr>
          </a:p>
          <a:p>
            <a:pPr indent="457200">
              <a:spcBef>
                <a:spcPts val="600"/>
              </a:spcBef>
            </a:pPr>
            <a:r>
              <a:rPr lang="ru-RU" dirty="0">
                <a:solidFill>
                  <a:srgbClr val="000000"/>
                </a:solidFill>
                <a:latin typeface="Arial" pitchFamily="34" charset="0"/>
                <a:cs typeface="Arial" pitchFamily="34" charset="0"/>
              </a:rPr>
              <a:t>Стандартные стоечные шкафы имеют ширину 19 дюймов, а высота таких шкафов обычно составляет 42U, 37U и 27U. </a:t>
            </a:r>
            <a:endParaRPr lang="en-US" dirty="0">
              <a:solidFill>
                <a:srgbClr val="000000"/>
              </a:solidFill>
              <a:latin typeface="Arial" pitchFamily="34" charset="0"/>
              <a:cs typeface="Arial" pitchFamily="34" charset="0"/>
            </a:endParaRPr>
          </a:p>
          <a:p>
            <a:pPr indent="457200">
              <a:spcBef>
                <a:spcPts val="600"/>
              </a:spcBef>
            </a:pPr>
            <a:r>
              <a:rPr lang="ru-RU" dirty="0">
                <a:solidFill>
                  <a:srgbClr val="000000"/>
                </a:solidFill>
                <a:latin typeface="Arial" pitchFamily="34" charset="0"/>
                <a:cs typeface="Arial" pitchFamily="34" charset="0"/>
              </a:rPr>
              <a:t>Стоечные шкафы также используются для установки </a:t>
            </a:r>
            <a:r>
              <a:rPr lang="ru-RU" b="1" dirty="0">
                <a:solidFill>
                  <a:srgbClr val="000000"/>
                </a:solidFill>
                <a:latin typeface="Arial" pitchFamily="34" charset="0"/>
                <a:cs typeface="Arial" pitchFamily="34" charset="0"/>
              </a:rPr>
              <a:t>сетевых, телекоммуникационных модулей, модулей системы хранения и другого обору</a:t>
            </a:r>
            <a:r>
              <a:rPr lang="ru-RU" dirty="0">
                <a:solidFill>
                  <a:srgbClr val="000000"/>
                </a:solidFill>
                <a:latin typeface="Arial" pitchFamily="34" charset="0"/>
                <a:cs typeface="Arial" pitchFamily="34" charset="0"/>
              </a:rPr>
              <a:t>дования. Кроме того, в стоечный шкаф могут быть установлены модули оборудования различных типов.</a:t>
            </a:r>
            <a:endParaRPr lang="en-US" dirty="0">
              <a:solidFill>
                <a:srgbClr val="000000"/>
              </a:solidFill>
              <a:latin typeface="Arial" pitchFamily="34" charset="0"/>
              <a:cs typeface="Arial" pitchFamily="34" charset="0"/>
            </a:endParaRPr>
          </a:p>
          <a:p>
            <a:pPr indent="457200">
              <a:spcBef>
                <a:spcPts val="600"/>
              </a:spcBef>
            </a:pPr>
            <a:r>
              <a:rPr lang="ru-RU" b="1" dirty="0">
                <a:latin typeface="Arial" pitchFamily="34" charset="0"/>
                <a:cs typeface="Arial" pitchFamily="34" charset="0"/>
              </a:rPr>
              <a:t>Вычислительная система на блейд-модуле</a:t>
            </a:r>
            <a:r>
              <a:rPr lang="ru-RU" dirty="0">
                <a:latin typeface="Arial" pitchFamily="34" charset="0"/>
                <a:cs typeface="Arial" pitchFamily="34" charset="0"/>
              </a:rPr>
              <a:t>, называемая также блейд-сервером, представляет собой электронную печатную плату, на которой присутствуют только базовые компоненты обработки, такие как процессор(ы), память, интегрированные сетевые контроллеры, диск системы хранения, а также необходимые карты и порты ввода-вывода.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Каждый блейд-сервер представляет собой автономную вычислительную систему, выделенную обычно для единственного приложения. Блейд-сервер устанавливается в отсеке полки блейд-модуля (или шасси), которая содержит несколько блейд-модулей и имеет встроенные источник питания, систему охлаждения, сетевые функции и функции управления.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Полка блейд-модуля обеспечивает соединение между блейд-модулями по высокоскоростной шине, а также предоставляет возможность подключения к внешним системам хранения. Модульная конструкция блейд-серверов обеспечивает их компактность, что снижает требования к площади для размещения, повышает плотность расположения и масштабируемость вычислительной системы, а также обеспечивает более высокую энергоэффективность по сравнению с башенными и стоечными серверами. </a:t>
            </a:r>
            <a:endParaRPr lang="en-US" dirty="0">
              <a:latin typeface="Arial" pitchFamily="34" charset="0"/>
              <a:cs typeface="Arial" pitchFamily="34" charset="0"/>
            </a:endParaRPr>
          </a:p>
          <a:p>
            <a:pPr indent="457200">
              <a:spcBef>
                <a:spcPts val="600"/>
              </a:spcBef>
            </a:pPr>
            <a:r>
              <a:rPr lang="ru-RU" dirty="0">
                <a:latin typeface="Arial" pitchFamily="34" charset="0"/>
                <a:cs typeface="Arial" pitchFamily="34" charset="0"/>
              </a:rPr>
              <a:t>Кроме того, это снижает сложность инфраструктуры вычислительной системы и упрощает управление ею. Помимо этих преимуществ, блейд-серверы предоставляют те же возможности, что и вычислительные системы других типов. К недостаткам блейд-серверов можно отнести высокую стоимость системы на блейд-модулях (блейд-серверы и шасси), а также запатентованную архитектуру большинства блейд-систем, в связи с чем блейд-сервер обычно можно вставить только в шасси от того же производителя.</a:t>
            </a:r>
          </a:p>
          <a:p>
            <a:pPr>
              <a:spcBef>
                <a:spcPts val="600"/>
              </a:spcBef>
            </a:pPr>
            <a:endParaRPr lang="ru-RU"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713255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была рассмотрена вычислительная система, а также ее ключевые физические и логические компоненты. Кроме того, здесь были рассмотрены типы вычислительных систем.</a:t>
            </a: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виртуализация вычислительных ресурсов, гипервизор и виртуальная машина. Также рассматривается виртуализация приложений и используемые для этого методы Далее в этом уроке будет рассмотрена виртуализация рабочих мест и используемые для этого методы.</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Виртуализация вычислительных ресурсов — это метод абстрагирования физического оборудования вычислительной системы от операционной системы (ОС) и приложений. Отделение физического оборудования от ОС и приложений обеспечивает возможность</a:t>
            </a:r>
            <a:r>
              <a:rPr lang="ru-RU" b="1" i="0" dirty="0">
                <a:solidFill>
                  <a:srgbClr val="000000"/>
                </a:solidFill>
                <a:latin typeface="Arial" pitchFamily="34" charset="0"/>
                <a:cs typeface="Arial" pitchFamily="34" charset="0"/>
              </a:rPr>
              <a:t> параллельной работы нескольких операционных систем в одиночной или кластерной физической вычислительной системе</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Виртуализация вычислительных ресурсов позволяет создавать виртуальные вычислительные системы, называемые виртуальными машинами (ВМ). На каждой ВМ запущены операционная система и приложения, и такая ВМ изолирована от других ВМ в той же вычислительной системе. </a:t>
            </a:r>
            <a:r>
              <a:rPr lang="ru-RU" b="1" i="0" dirty="0">
                <a:solidFill>
                  <a:srgbClr val="000000"/>
                </a:solidFill>
                <a:latin typeface="Arial" pitchFamily="34" charset="0"/>
                <a:cs typeface="Arial" pitchFamily="34" charset="0"/>
              </a:rPr>
              <a:t>Виртуализация вычислительных ресурсов </a:t>
            </a:r>
            <a:r>
              <a:rPr lang="ru-RU" b="0" i="0" dirty="0">
                <a:solidFill>
                  <a:srgbClr val="000000"/>
                </a:solidFill>
                <a:latin typeface="Arial" pitchFamily="34" charset="0"/>
                <a:cs typeface="Arial" pitchFamily="34" charset="0"/>
              </a:rPr>
              <a:t>достигается за счет </a:t>
            </a:r>
            <a:r>
              <a:rPr lang="ru-RU" b="1" i="0" dirty="0">
                <a:solidFill>
                  <a:srgbClr val="000000"/>
                </a:solidFill>
                <a:latin typeface="Arial" pitchFamily="34" charset="0"/>
                <a:cs typeface="Arial" pitchFamily="34" charset="0"/>
              </a:rPr>
              <a:t>использования гипервизора</a:t>
            </a:r>
            <a:r>
              <a:rPr lang="ru-RU" b="0" i="0" dirty="0">
                <a:solidFill>
                  <a:srgbClr val="000000"/>
                </a:solidFill>
                <a:latin typeface="Arial" pitchFamily="34" charset="0"/>
                <a:cs typeface="Arial" pitchFamily="34" charset="0"/>
              </a:rPr>
              <a:t>, который представляет собой программное обеспечение для виртуализации, устанавливаемое в физической вычислительной системе. </a:t>
            </a:r>
          </a:p>
          <a:p>
            <a:pPr>
              <a:spcBef>
                <a:spcPts val="600"/>
              </a:spcBef>
            </a:pPr>
            <a:r>
              <a:rPr lang="ru-RU" b="0" i="0" dirty="0">
                <a:solidFill>
                  <a:srgbClr val="000000"/>
                </a:solidFill>
                <a:latin typeface="Arial" pitchFamily="34" charset="0"/>
                <a:cs typeface="Arial" pitchFamily="34" charset="0"/>
              </a:rPr>
              <a:t>Гипервизор предоставляет всем ВМ виртуальные аппаратные ресурсы: ЦП, память, ресурсы хранения и сетевые ресурсы. В зависимости от возможностей оборудования на одной физической вычислительной системе можно создать большое количество ВМ. </a:t>
            </a:r>
          </a:p>
          <a:p>
            <a:pPr>
              <a:spcBef>
                <a:spcPts val="600"/>
              </a:spcBef>
            </a:pPr>
            <a:r>
              <a:rPr lang="ru-RU" b="0" i="0" dirty="0">
                <a:solidFill>
                  <a:srgbClr val="000000"/>
                </a:solidFill>
                <a:latin typeface="Arial" pitchFamily="34" charset="0"/>
                <a:cs typeface="Arial" pitchFamily="34" charset="0"/>
              </a:rPr>
              <a:t>ВМ — это логический объект, но для ОС, запущенной на этой ВМ, она выглядит как физическая вычислительная система со своим процессором, памятью, сетевым контроллером и дисками. </a:t>
            </a:r>
          </a:p>
          <a:p>
            <a:pPr>
              <a:spcBef>
                <a:spcPts val="600"/>
              </a:spcBef>
            </a:pPr>
            <a:r>
              <a:rPr lang="ru-RU" b="0" i="0" dirty="0">
                <a:solidFill>
                  <a:srgbClr val="000000"/>
                </a:solidFill>
                <a:latin typeface="Arial" pitchFamily="34" charset="0"/>
                <a:cs typeface="Arial" pitchFamily="34" charset="0"/>
              </a:rPr>
              <a:t>Тем не менее, все ВМ совместно используют то же базовое физическое оборудование вычислительной системы, а гипервизор динамически выделяет каждой ВМ аппаратные ресурсы вычислительной системы. С точки зрения гипервизора каждая ВМ представляет собой отдельный набор файлов. Этот вопрос будет рассмотрен позже в этом уроке.</a:t>
            </a:r>
            <a:endParaRPr lang="en-US"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831402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физической вычислительной системе на базе x86-архитектуры программное и аппаратное обеспечение тесно связаны, и в ней можно одновременно запустить только одну ОС. </a:t>
            </a:r>
          </a:p>
          <a:p>
            <a:pPr>
              <a:spcBef>
                <a:spcPts val="600"/>
              </a:spcBef>
            </a:pPr>
            <a:r>
              <a:rPr lang="ru-RU" b="0" i="0" dirty="0">
                <a:solidFill>
                  <a:srgbClr val="000000"/>
                </a:solidFill>
                <a:latin typeface="Arial" pitchFamily="34" charset="0"/>
                <a:cs typeface="Arial" pitchFamily="34" charset="0"/>
              </a:rPr>
              <a:t>В физической вычислительной системе часто происходят конфликты на уровне ресурсов, когда несколько приложений, работающих на ее ресурсах, имеют несовместимые требования. </a:t>
            </a:r>
          </a:p>
          <a:p>
            <a:pPr>
              <a:spcBef>
                <a:spcPts val="600"/>
              </a:spcBef>
            </a:pPr>
            <a:r>
              <a:rPr lang="ru-RU" b="0" i="0" dirty="0">
                <a:solidFill>
                  <a:srgbClr val="000000"/>
                </a:solidFill>
                <a:latin typeface="Arial" pitchFamily="34" charset="0"/>
                <a:cs typeface="Arial" pitchFamily="34" charset="0"/>
              </a:rPr>
              <a:t>Например, конфликты могут возникать, когда приложениям </a:t>
            </a:r>
            <a:r>
              <a:rPr lang="ru-RU" b="1" i="0" dirty="0">
                <a:solidFill>
                  <a:srgbClr val="000000"/>
                </a:solidFill>
                <a:latin typeface="Arial" pitchFamily="34" charset="0"/>
                <a:cs typeface="Arial" pitchFamily="34" charset="0"/>
              </a:rPr>
              <a:t>требуются разные значения в одной и той же записи реестра или разные версии одной DLL-библиотеки</a:t>
            </a:r>
            <a:r>
              <a:rPr lang="ru-RU" b="0" i="0" dirty="0">
                <a:solidFill>
                  <a:srgbClr val="000000"/>
                </a:solidFill>
                <a:latin typeface="Arial" pitchFamily="34" charset="0"/>
                <a:cs typeface="Arial" pitchFamily="34" charset="0"/>
              </a:rPr>
              <a:t>. Эти проблемы еще больше осложняются, когда приложению требуется высокая доступность. </a:t>
            </a:r>
          </a:p>
          <a:p>
            <a:pPr>
              <a:spcBef>
                <a:spcPts val="600"/>
              </a:spcBef>
            </a:pPr>
            <a:r>
              <a:rPr lang="ru-RU" b="0" i="0" dirty="0">
                <a:solidFill>
                  <a:srgbClr val="000000"/>
                </a:solidFill>
                <a:latin typeface="Arial" pitchFamily="34" charset="0"/>
                <a:cs typeface="Arial" pitchFamily="34" charset="0"/>
              </a:rPr>
              <a:t>В результате вычислительная система </a:t>
            </a:r>
            <a:r>
              <a:rPr lang="ru-RU" b="1" i="0" dirty="0">
                <a:solidFill>
                  <a:srgbClr val="000000"/>
                </a:solidFill>
                <a:latin typeface="Arial" pitchFamily="34" charset="0"/>
                <a:cs typeface="Arial" pitchFamily="34" charset="0"/>
              </a:rPr>
              <a:t>обычно настраивается таким образом, чтобы одновременно обслуживать только одно приложение</a:t>
            </a:r>
            <a:r>
              <a:rPr lang="ru-RU" b="0" i="0" dirty="0">
                <a:solidFill>
                  <a:srgbClr val="000000"/>
                </a:solidFill>
                <a:latin typeface="Arial" pitchFamily="34" charset="0"/>
                <a:cs typeface="Arial" pitchFamily="34" charset="0"/>
              </a:rPr>
              <a:t>. </a:t>
            </a:r>
          </a:p>
          <a:p>
            <a:pPr>
              <a:spcBef>
                <a:spcPts val="600"/>
              </a:spcBef>
            </a:pPr>
            <a:r>
              <a:rPr lang="ru-RU" b="0" i="0" dirty="0">
                <a:solidFill>
                  <a:srgbClr val="000000"/>
                </a:solidFill>
                <a:latin typeface="Arial" pitchFamily="34" charset="0"/>
                <a:cs typeface="Arial" pitchFamily="34" charset="0"/>
              </a:rPr>
              <a:t>В связи с этим организации приобретают и настраивают новые вычислительные системы для каждого развертываемого ими приложения. </a:t>
            </a:r>
          </a:p>
          <a:p>
            <a:pPr>
              <a:spcBef>
                <a:spcPts val="600"/>
              </a:spcBef>
            </a:pPr>
            <a:r>
              <a:rPr lang="ru-RU" b="0" i="0" dirty="0">
                <a:solidFill>
                  <a:srgbClr val="000000"/>
                </a:solidFill>
                <a:latin typeface="Arial" pitchFamily="34" charset="0"/>
                <a:cs typeface="Arial" pitchFamily="34" charset="0"/>
              </a:rPr>
              <a:t>Это дорогостоящая и негибкая стратегия, которая в результате приводит к неконтролируемому росту количества серверов и созданию изолированных ИТ-инфраструктур. </a:t>
            </a:r>
          </a:p>
          <a:p>
            <a:pPr>
              <a:spcBef>
                <a:spcPts val="600"/>
              </a:spcBef>
            </a:pPr>
            <a:r>
              <a:rPr lang="ru-RU" b="0" i="0" dirty="0">
                <a:solidFill>
                  <a:srgbClr val="000000"/>
                </a:solidFill>
                <a:latin typeface="Arial" pitchFamily="34" charset="0"/>
                <a:cs typeface="Arial" pitchFamily="34" charset="0"/>
              </a:rPr>
              <a:t>Кроме того, многие приложения </a:t>
            </a:r>
            <a:r>
              <a:rPr lang="ru-RU" b="1" i="0" dirty="0">
                <a:solidFill>
                  <a:srgbClr val="000000"/>
                </a:solidFill>
                <a:latin typeface="Arial" pitchFamily="34" charset="0"/>
                <a:cs typeface="Arial" pitchFamily="34" charset="0"/>
              </a:rPr>
              <a:t>не используют в полной мере доступные им аппаратные возможности</a:t>
            </a:r>
            <a:r>
              <a:rPr lang="ru-RU" b="0" i="0" dirty="0">
                <a:solidFill>
                  <a:srgbClr val="000000"/>
                </a:solidFill>
                <a:latin typeface="Arial" pitchFamily="34" charset="0"/>
                <a:cs typeface="Arial" pitchFamily="34" charset="0"/>
              </a:rPr>
              <a:t>. В результате такие ресурсы, как процессоры, память и системы хранения часто используются недостаточно эффективно. </a:t>
            </a:r>
          </a:p>
          <a:p>
            <a:pPr>
              <a:spcBef>
                <a:spcPts val="600"/>
              </a:spcBef>
            </a:pPr>
            <a:r>
              <a:rPr lang="ru-RU" b="0" i="0" dirty="0">
                <a:solidFill>
                  <a:srgbClr val="000000"/>
                </a:solidFill>
                <a:latin typeface="Arial" pitchFamily="34" charset="0"/>
                <a:cs typeface="Arial" pitchFamily="34" charset="0"/>
              </a:rPr>
              <a:t>Кроме того, большое количество вычислительных систем </a:t>
            </a:r>
            <a:r>
              <a:rPr lang="ru-RU" b="1" i="0" dirty="0">
                <a:solidFill>
                  <a:srgbClr val="000000"/>
                </a:solidFill>
                <a:latin typeface="Arial" pitchFamily="34" charset="0"/>
                <a:cs typeface="Arial" pitchFamily="34" charset="0"/>
              </a:rPr>
              <a:t>требует сложных сетевых кабельных подключений, значительных площадей для размещения и больших объемов электроэнергии.</a:t>
            </a:r>
            <a:r>
              <a:rPr lang="ru-RU" b="0" i="0" dirty="0">
                <a:solidFill>
                  <a:srgbClr val="000000"/>
                </a:solidFill>
                <a:latin typeface="Arial" pitchFamily="34" charset="0"/>
                <a:cs typeface="Arial" pitchFamily="34" charset="0"/>
              </a:rPr>
              <a:t> Это усложняет конфигурацию оборудования, выделение ресурсов и управление, а также требует дополнительных затрат времени. Физические вычислительные ресурсы превращаются в критическую точку отказа, поскольку их сбой ведет к недоступности приложений.</a:t>
            </a:r>
          </a:p>
          <a:p>
            <a:pPr>
              <a:spcBef>
                <a:spcPts val="600"/>
              </a:spcBef>
            </a:pPr>
            <a:r>
              <a:rPr lang="ru-RU" b="0" i="0" dirty="0">
                <a:solidFill>
                  <a:srgbClr val="000000"/>
                </a:solidFill>
                <a:latin typeface="Arial" pitchFamily="34" charset="0"/>
                <a:cs typeface="Arial" pitchFamily="34" charset="0"/>
              </a:rPr>
              <a:t>Виртуализация вычислительных ресурсов позволяет преодолеть эти сложности, обеспечивая работу нескольких операционных систем и приложений в одной вычислительной системе. Она преобразует физические машины в виртуальные и консолидирует преобразованные машины в единую вычислительную систему. Консолидация серверов значительно повышает эффективность использования ресурсов и дает организациям возможность обеспечить работу центра обработки данных с меньшим количеством машин. </a:t>
            </a:r>
          </a:p>
          <a:p>
            <a:pPr>
              <a:spcBef>
                <a:spcPts val="600"/>
              </a:spcBef>
            </a:pPr>
            <a:r>
              <a:rPr lang="ru-RU" b="0" i="0" dirty="0">
                <a:solidFill>
                  <a:srgbClr val="000000"/>
                </a:solidFill>
                <a:latin typeface="Arial" pitchFamily="34" charset="0"/>
                <a:cs typeface="Arial" pitchFamily="34" charset="0"/>
              </a:rPr>
              <a:t>Это, в свою очередь, снижает затраты на приобретение оборудования и операционные издержки, экономит площади в центре обработки данных и снижает энергопотребление. </a:t>
            </a:r>
          </a:p>
          <a:p>
            <a:pPr>
              <a:spcBef>
                <a:spcPts val="600"/>
              </a:spcBef>
            </a:pPr>
            <a:r>
              <a:rPr lang="ru-RU" b="0" i="0" dirty="0">
                <a:solidFill>
                  <a:srgbClr val="000000"/>
                </a:solidFill>
                <a:latin typeface="Arial" pitchFamily="34" charset="0"/>
                <a:cs typeface="Arial" pitchFamily="34" charset="0"/>
              </a:rPr>
              <a:t>Виртуализация вычислительных ресурсов </a:t>
            </a:r>
            <a:r>
              <a:rPr lang="ru-RU" b="1" i="0" dirty="0">
                <a:solidFill>
                  <a:srgbClr val="000000"/>
                </a:solidFill>
                <a:latin typeface="Arial" pitchFamily="34" charset="0"/>
                <a:cs typeface="Arial" pitchFamily="34" charset="0"/>
              </a:rPr>
              <a:t>повышает эффективность управления и снижает затраты времени на обслуживание</a:t>
            </a:r>
            <a:r>
              <a:rPr lang="ru-RU" b="0" i="0" dirty="0">
                <a:solidFill>
                  <a:srgbClr val="000000"/>
                </a:solidFill>
                <a:latin typeface="Arial" pitchFamily="34" charset="0"/>
                <a:cs typeface="Arial" pitchFamily="34" charset="0"/>
              </a:rPr>
              <a:t>. Создание ВМ занимает меньше времени по сравнению с настройкой физических вычислительных ресурсов, и организации могут выделять вычислительные ресурсы быстрее и с меньшими усилиями, чтобы удовлетворить растущие потребности в ресурсах. Отдельные ВМ можно перезапускать, модернизировать или даже аварийно завершать их работу, не оказывая влияния на другие ВМ, работающие на тех же физических ресурсах. Кроме того, ВМ обладают свойством переносимости, их можно копировать и перемещать с одного физического ресурса на другой, и это не нарушит доступности приложений.</a:t>
            </a:r>
          </a:p>
        </p:txBody>
      </p:sp>
    </p:spTree>
    <p:extLst>
      <p:ext uri="{BB962C8B-B14F-4D97-AF65-F5344CB8AC3E}">
        <p14:creationId xmlns:p14="http://schemas.microsoft.com/office/powerpoint/2010/main" val="35582436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Гипервизор — </a:t>
            </a:r>
            <a:r>
              <a:rPr lang="ru-RU" b="0" i="0" dirty="0">
                <a:solidFill>
                  <a:srgbClr val="000000"/>
                </a:solidFill>
                <a:latin typeface="Arial" pitchFamily="34" charset="0"/>
                <a:cs typeface="Arial" pitchFamily="34" charset="0"/>
              </a:rPr>
              <a:t>это программное обеспечение для виртуализации ресурсов, устанавливаемое в вычислительной системе. Он предоставляет уровень виртуализации, который абстрагирует процессор, память, сеть и СХД вычислительной системы и позволяет создавать несколько виртуальных машин. </a:t>
            </a:r>
          </a:p>
          <a:p>
            <a:pPr>
              <a:spcBef>
                <a:spcPts val="600"/>
              </a:spcBef>
            </a:pPr>
            <a:r>
              <a:rPr lang="ru-RU" b="0" i="0" dirty="0">
                <a:solidFill>
                  <a:srgbClr val="000000"/>
                </a:solidFill>
                <a:latin typeface="Arial" pitchFamily="34" charset="0"/>
                <a:cs typeface="Arial" pitchFamily="34" charset="0"/>
              </a:rPr>
              <a:t>На каждой ВМ работает собственная ОС, и это фактически дает возможность параллельно запускать несколько операционных систем в одной физической вычислительной системе. Гипервизор предоставляет стандартизованные аппаратные ресурсы всем ВМ. </a:t>
            </a:r>
          </a:p>
          <a:p>
            <a:pPr marL="0" marR="0" indent="0" defTabSz="914400" rtl="0" eaLnBrk="0" fontAlgn="base" latinLnBrk="0" hangingPunct="0">
              <a:spcBef>
                <a:spcPts val="600"/>
              </a:spcBef>
              <a:buClrTx/>
              <a:buSzTx/>
              <a:buFontTx/>
              <a:buNone/>
              <a:tabLst/>
              <a:defRPr/>
            </a:pPr>
            <a:r>
              <a:rPr lang="ru-RU" b="0" i="0" dirty="0">
                <a:solidFill>
                  <a:srgbClr val="000000"/>
                </a:solidFill>
                <a:latin typeface="Arial" pitchFamily="34" charset="0"/>
                <a:cs typeface="Arial" pitchFamily="34" charset="0"/>
              </a:rPr>
              <a:t>Гипервизор имеет два ключевых компонента: ядро и диспетчер виртуальных машин (VMM). Ядро гипервизора предоставляет ту же функциональность, что и ядро любой ОС, включая управление процессами, файловой системой и памятью. Оно предназначено и оптимизировано для параллельного управления несколькими ВМ. Оно получает запросы на выделение ресурсов через VMM и представляет эти запросы физическому оборудованию. Каждая виртуальная машина назначается диспетчеру VMM, который получает от физической вычислительной системы часть ресурсов процессора, памяти, устройств ввода-вывода и системы хранения, необходимых для успешной работы ВМ. VMM абстрагирует физическое оборудование и выглядит как физическая вычислительная система с процессором, памятью, устройствами ввода-вывода и другими компонентами, необходимыми для работы ОС и приложений. VMM получает от ВМ запросы на выделение ресурсов, которые он передает ядру и предоставляет ВМ виртуальное оборудование.</a:t>
            </a:r>
          </a:p>
          <a:p>
            <a:pPr marL="0" marR="0" indent="0" defTabSz="914400" rtl="0" eaLnBrk="0" fontAlgn="base" latinLnBrk="0" hangingPunct="0">
              <a:spcBef>
                <a:spcPts val="600"/>
              </a:spcBef>
              <a:buClrTx/>
              <a:buSzTx/>
              <a:buFontTx/>
              <a:buNone/>
              <a:tabLst/>
              <a:defRPr/>
            </a:pPr>
            <a:r>
              <a:rPr lang="ru-RU" b="0" i="0" dirty="0">
                <a:solidFill>
                  <a:srgbClr val="000000"/>
                </a:solidFill>
                <a:latin typeface="Arial" pitchFamily="34" charset="0"/>
                <a:cs typeface="Arial" pitchFamily="34" charset="0"/>
              </a:rPr>
              <a:t>Гипервизоры подразделяются на два типа: автономные и клиентские. </a:t>
            </a:r>
          </a:p>
          <a:p>
            <a:pPr marL="0" marR="0" indent="0" defTabSz="914400" rtl="0" eaLnBrk="0" fontAlgn="base" latinLnBrk="0" hangingPunct="0">
              <a:spcBef>
                <a:spcPts val="600"/>
              </a:spcBef>
              <a:buClrTx/>
              <a:buSzTx/>
              <a:buFontTx/>
              <a:buNone/>
              <a:tabLst/>
              <a:defRPr/>
            </a:pPr>
            <a:r>
              <a:rPr lang="ru-RU" b="0" i="1" dirty="0">
                <a:solidFill>
                  <a:srgbClr val="000000"/>
                </a:solidFill>
                <a:latin typeface="Arial" pitchFamily="34" charset="0"/>
                <a:cs typeface="Arial" pitchFamily="34" charset="0"/>
              </a:rPr>
              <a:t>Автономный гипервизор</a:t>
            </a:r>
            <a:r>
              <a:rPr lang="ru-RU" b="0" i="0" dirty="0">
                <a:solidFill>
                  <a:srgbClr val="000000"/>
                </a:solidFill>
                <a:latin typeface="Arial" pitchFamily="34" charset="0"/>
                <a:cs typeface="Arial" pitchFamily="34" charset="0"/>
              </a:rPr>
              <a:t> устанавливается непосредственно на физическое вычислительное оборудование так же, как ОС. </a:t>
            </a:r>
          </a:p>
          <a:p>
            <a:pPr marL="0" marR="0" indent="0" defTabSz="914400" rtl="0" eaLnBrk="0" fontAlgn="base" latinLnBrk="0" hangingPunct="0">
              <a:spcBef>
                <a:spcPts val="600"/>
              </a:spcBef>
              <a:buClrTx/>
              <a:buSzTx/>
              <a:buFontTx/>
              <a:buNone/>
              <a:tabLst/>
              <a:defRPr/>
            </a:pPr>
            <a:r>
              <a:rPr lang="ru-RU" b="0" i="0" dirty="0">
                <a:solidFill>
                  <a:srgbClr val="000000"/>
                </a:solidFill>
                <a:latin typeface="Arial" pitchFamily="34" charset="0"/>
                <a:cs typeface="Arial" pitchFamily="34" charset="0"/>
              </a:rPr>
              <a:t>Он имеет прямой доступ к аппаратным ресурсам вычислительной системы и поэтому более эффективен, чем клиентский гипервизор. </a:t>
            </a:r>
          </a:p>
          <a:p>
            <a:pPr marL="0" marR="0" indent="0" defTabSz="914400" rtl="0" eaLnBrk="0" fontAlgn="base" latinLnBrk="0" hangingPunct="0">
              <a:spcBef>
                <a:spcPts val="600"/>
              </a:spcBef>
              <a:buClrTx/>
              <a:buSzTx/>
              <a:buFontTx/>
              <a:buNone/>
              <a:tabLst/>
              <a:defRPr/>
            </a:pPr>
            <a:r>
              <a:rPr lang="ru-RU" b="1" i="0" dirty="0">
                <a:solidFill>
                  <a:srgbClr val="000000"/>
                </a:solidFill>
                <a:latin typeface="Arial" pitchFamily="34" charset="0"/>
                <a:cs typeface="Arial" pitchFamily="34" charset="0"/>
              </a:rPr>
              <a:t>Автономный гипервизор </a:t>
            </a:r>
            <a:r>
              <a:rPr lang="ru-RU" b="0" i="0" dirty="0">
                <a:solidFill>
                  <a:srgbClr val="000000"/>
                </a:solidFill>
                <a:latin typeface="Arial" pitchFamily="34" charset="0"/>
                <a:cs typeface="Arial" pitchFamily="34" charset="0"/>
              </a:rPr>
              <a:t>предназначен для центров обработки данных предприятий и </a:t>
            </a:r>
            <a:r>
              <a:rPr lang="ru-RU" b="1" i="0" dirty="0">
                <a:solidFill>
                  <a:srgbClr val="000000"/>
                </a:solidFill>
                <a:latin typeface="Arial" pitchFamily="34" charset="0"/>
                <a:cs typeface="Arial" pitchFamily="34" charset="0"/>
              </a:rPr>
              <a:t>для инфраструктуры третьей платформы</a:t>
            </a:r>
            <a:r>
              <a:rPr lang="ru-RU" b="0" i="0" dirty="0">
                <a:solidFill>
                  <a:srgbClr val="000000"/>
                </a:solidFill>
                <a:latin typeface="Arial" pitchFamily="34" charset="0"/>
                <a:cs typeface="Arial" pitchFamily="34" charset="0"/>
              </a:rPr>
              <a:t>. </a:t>
            </a:r>
          </a:p>
          <a:p>
            <a:pPr marL="0" marR="0" indent="0" defTabSz="914400" rtl="0" eaLnBrk="0" fontAlgn="base" latinLnBrk="0" hangingPunct="0">
              <a:spcBef>
                <a:spcPts val="600"/>
              </a:spcBef>
              <a:buClrTx/>
              <a:buSzTx/>
              <a:buFontTx/>
              <a:buNone/>
              <a:tabLst/>
              <a:defRPr/>
            </a:pPr>
            <a:r>
              <a:rPr lang="ru-RU" b="0" i="0" dirty="0">
                <a:solidFill>
                  <a:srgbClr val="000000"/>
                </a:solidFill>
                <a:latin typeface="Arial" pitchFamily="34" charset="0"/>
                <a:cs typeface="Arial" pitchFamily="34" charset="0"/>
              </a:rPr>
              <a:t>Он также поддерживает такие расширенные возможности, как управление ресурсами, высокая доступность и безопасность. На приведенном на слайде рисунке изображен автономный гипервизор. </a:t>
            </a:r>
          </a:p>
          <a:p>
            <a:pPr marL="0" marR="0" indent="0" defTabSz="914400" rtl="0" eaLnBrk="0" fontAlgn="base" latinLnBrk="0" hangingPunct="0">
              <a:spcBef>
                <a:spcPts val="600"/>
              </a:spcBef>
              <a:buClrTx/>
              <a:buSzTx/>
              <a:buFontTx/>
              <a:buNone/>
              <a:tabLst/>
              <a:defRPr/>
            </a:pPr>
            <a:r>
              <a:rPr lang="ru-RU" b="0" i="1" dirty="0">
                <a:solidFill>
                  <a:srgbClr val="000000"/>
                </a:solidFill>
                <a:latin typeface="Arial" pitchFamily="34" charset="0"/>
                <a:cs typeface="Arial" pitchFamily="34" charset="0"/>
              </a:rPr>
              <a:t>Клиентский гипервизор </a:t>
            </a:r>
            <a:r>
              <a:rPr lang="ru-RU" b="0" i="0" dirty="0">
                <a:solidFill>
                  <a:srgbClr val="000000"/>
                </a:solidFill>
                <a:latin typeface="Arial" pitchFamily="34" charset="0"/>
                <a:cs typeface="Arial" pitchFamily="34" charset="0"/>
              </a:rPr>
              <a:t>устанавливается в виде приложения в операционной системе. Клиентский гипервизор не имеет прямого доступа к оборудованию и все запросы передает через ОС, работающую в физической вычислительной системе. По сравнению с автономным гипервизором клиентский гипервизор вносит дополнительные задержки. Это связано с тем, что в ОС выполняются другие процессы, которые потребляют вычислительные ресурсы. Поэтому клиентский гипервизор лучше подходит для целей разработки, тестирования и обучения.</a:t>
            </a:r>
          </a:p>
          <a:p>
            <a:pPr marL="0" marR="0" indent="0" defTabSz="914400" rtl="0" eaLnBrk="0" fontAlgn="base" latinLnBrk="0" hangingPunct="0">
              <a:spcBef>
                <a:spcPts val="600"/>
              </a:spcBef>
              <a:buClrTx/>
              <a:buSzTx/>
              <a:buFontTx/>
              <a:buNone/>
              <a:tabLst/>
              <a:defRPr/>
            </a:pPr>
            <a:endParaRPr lang="ru-RU" kern="1200" dirty="0">
              <a:effectLst/>
              <a:latin typeface="Arial" pitchFamily="34" charset="0"/>
              <a:cs typeface="Arial" pitchFamily="34" charset="0"/>
            </a:endParaRPr>
          </a:p>
          <a:p>
            <a:pPr marL="0" marR="0" indent="0" defTabSz="914400" rtl="0" eaLnBrk="0" fontAlgn="base" latinLnBrk="0" hangingPunct="0">
              <a:spcBef>
                <a:spcPts val="600"/>
              </a:spcBef>
              <a:buClrTx/>
              <a:buSzTx/>
              <a:buFontTx/>
              <a:buNone/>
              <a:tabLst/>
              <a:defRPr/>
            </a:pPr>
            <a:endParaRPr lang="ru-RU" kern="1200" dirty="0">
              <a:effectLst/>
              <a:latin typeface="Arial" pitchFamily="34" charset="0"/>
              <a:cs typeface="Arial" pitchFamily="34" charset="0"/>
            </a:endParaRPr>
          </a:p>
        </p:txBody>
      </p:sp>
    </p:spTree>
    <p:extLst>
      <p:ext uri="{BB962C8B-B14F-4D97-AF65-F5344CB8AC3E}">
        <p14:creationId xmlns:p14="http://schemas.microsoft.com/office/powerpoint/2010/main" val="15596165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Виртуальная машина (ВМ) — это логическая вычислительная система с виртуальным оборудованием, на котором работают поддерживаемая гостевая ОС и ее приложения. ВМ создается клиентским или автономным гипервизором, установленным в физической вычислительной машине. ОС, называемая «гостевой ОС», устанавливается на ВМ точно так же, как она устанавливается в физической вычислительной системе.</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С точки зрения гостевой ОС ВМ выглядит как физическая вычислительная система. ВМ имеет автономную операционную среду, включающую ОС, приложения и виртуальное оборудование, например, виртуальный процессор, виртуальную память, виртуальную систему хранения и виртуальные сетевые ресурсы. Как обсуждалось выше, выделенный диспетчер виртуальных машин (VMM) отвечает за выполнение ВМ. Каждая ВМ имеет собственную конфигурацию для оборудования, программного обеспечения, сети и безопасности. ВМ ведет себя подобно физической вычислительной системе, но не имеет прямого доступа ни к базовой хостовой ОС (в случае использования клиентского гипервизора), ни к оборудованию физической вычислительной системы, в которой она была создана. Гипервизор преобразует запросы на выделение ресурсов, поступающие от ВМ, и привязывает виртуальное оборудование ВМ к оборудованию физической вычислительной системы. Например, поступающие от ВМ запросы ввода-вывода к виртуальному диску преобразуются гипервизором и привязываются к файлу, находящемуся на диске физической вычислительной системы.</a:t>
            </a:r>
          </a:p>
          <a:p>
            <a:pPr>
              <a:spcBef>
                <a:spcPts val="600"/>
              </a:spcBef>
            </a:pPr>
            <a:r>
              <a:rPr lang="ru-RU" b="0" i="0" dirty="0">
                <a:solidFill>
                  <a:srgbClr val="000000"/>
                </a:solidFill>
                <a:latin typeface="Arial" pitchFamily="34" charset="0"/>
                <a:cs typeface="Arial" pitchFamily="34" charset="0"/>
              </a:rPr>
              <a:t>Программное обеспечение для виртуализации ресурсов позволяет создавать несколько ВМ, каждая из которых имеет собственную отличную от других ОС, и управлять ими в физической вычислительной системе или в вычислительном кластере. ВМ создаются в вычислительной системе и выделяются разным пользователям для развертывания их приложений. Аппаратное и программное обеспечение ВМ настраивается в соответствии с требованиями приложения. Различные ВМ изолированы друг от друга, поэтому приложения и сервисы, запущенные на одной ВМ, не создают помехи для приложений, запущенных на других ВМ. Эта изоляция обеспечивает также отказоустойчивость, чтобы сбой одной из ВМ не повлиял на работу других ВМ.</a:t>
            </a:r>
          </a:p>
        </p:txBody>
      </p:sp>
    </p:spTree>
    <p:extLst>
      <p:ext uri="{BB962C8B-B14F-4D97-AF65-F5344CB8AC3E}">
        <p14:creationId xmlns:p14="http://schemas.microsoft.com/office/powerpoint/2010/main" val="24211548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При создании ВМ ей предоставляются виртуальные аппаратные компоненты, которые для гостевой ОС выглядят как физические аппаратные компоненты. В рамках инфраструктуры конкретного поставщика каждая ВМ имеет стандартизованные аппаратные компоненты, что позволяет переносить их из одной физической вычислительной системы в другую. Эти виртуальные компоненты можно добавлять в ВМ и удалять из нее в зависимости от предъявляемых к ней требований. Тем не менее, не все компоненты доступны для добавления и настройки. Некоторые аппаратные устройства входят в состав виртуальной материнской платы и не могут быть изменены или удалены. Например, видеокарта и контроллеры PCI доступны по умолчанию и не могут быть удалены. На приведенном на слайде рисунке показаны типичные аппаратные компоненты ВМ. Они включают виртуальный процессор (или процессоры), виртуальную материнскую плату, виртуальное ОЗУ, виртуальный диск, виртуальный сетевой адаптер, оптические дисководы, последовательные и параллельные порты, а также периферийные устройства.</a:t>
            </a:r>
          </a:p>
          <a:p>
            <a:pPr>
              <a:spcBef>
                <a:spcPts val="600"/>
              </a:spcBef>
            </a:pPr>
            <a:r>
              <a:rPr lang="ru-RU" b="0" i="0" dirty="0">
                <a:solidFill>
                  <a:srgbClr val="000000"/>
                </a:solidFill>
                <a:latin typeface="Arial" pitchFamily="34" charset="0"/>
                <a:cs typeface="Arial" pitchFamily="34" charset="0"/>
              </a:rPr>
              <a:t>Конфигурация ВМ может включать один или несколько виртуальных процессоров. В зависимости от требований число виртуальных процессоров в ВМ можно увеличить или уменьшить. При запуске ВМ ядро гипервизора составляет график работы ее виртуальных процессоров на базе физических процессоров. Каждой ВМ назначается виртуальная материнская плата со стандартизованными устройствами, необходимыми для функционирования вычислительной системы. Виртуальное ОЗУ — это объем физической памяти, выделенный ВМ, который можно настраивать в зависимости от требований. Виртуальный диск — это физический файл большого размера или набор файлов, в котором хранятся ОС ВМ, программные файлы, данные приложений и другие данные, связанные с этой ВМ. Виртуальный адаптер сети функционирует подобно физическому сетевому адаптеру. Он обеспечивает возможность подключения между ВМ, запущенными в одной или разных вычислительных системах, а также между ВМ и физическими вычислительными системами. Виртуальные дисководы оптических и гибких дисков можно настроить для подключения либо к физическим устройствам, либо к файлам образов, например, к файлам ISO и образам гибких дисков (.flp), размещенным в системе хранения. Виртуальные контроллеры SCSI/IDE обеспечивают возможность подключения ВМ к устройствам хранения данных. Виртуальный контроллер USB используется для подключения к физическому контроллеру USB и для получения доступа к подключенным USB-устройствам. Последовательные и параллельные порты предоставляют интерфейс для подключения к ВМ периферийных устройств.</a:t>
            </a:r>
          </a:p>
        </p:txBody>
      </p:sp>
    </p:spTree>
    <p:extLst>
      <p:ext uri="{BB962C8B-B14F-4D97-AF65-F5344CB8AC3E}">
        <p14:creationId xmlns:p14="http://schemas.microsoft.com/office/powerpoint/2010/main" val="30568030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С точки зрения гипервизора ВМ представляет собой отдельный набор файлов, размещенный на устройстве хранения данных. Ключевыми файлами, образующими ВМ, служат файл конфигурации, файл виртуального диска, файл памяти и файл журнала. Файл конфигурации хранит информацию о конфигурации ВМ, в том числе имя ВМ, расположение, информацию BIOS, тип гостевой ОС, параметры виртуального диска, количество процессоров, размер памяти, количество адаптеров и связанные с ними MAC-адреса, тип контроллера SCSI и тип дискового накопителя. В файле виртуального диска хранится содержание дискового накопителя ВМ. ВМ может иметь несколько файлов виртуального диска, каждый из которых выглядит для ВМ как отдельный дисковый накопитель. Файл состояния памяти хранит содержимое памяти ВМ и используется для возобновления работы ВМ, находящейся в состоянии ожидания. Файл моментального снимка хранит текущее состояние ВМ, включая ее настройки и виртуальный диск, и может при необходимости включать состояние памяти ВМ. Обычно он используется для возврата ВМ в предыдущее состояние. Файлы журнала используются для регистрации действий ВМ и часто используются с целью поиска и устранения неполадок.</a:t>
            </a:r>
          </a:p>
          <a:p>
            <a:pPr>
              <a:spcBef>
                <a:spcPts val="600"/>
              </a:spcBef>
            </a:pPr>
            <a:r>
              <a:rPr lang="ru-RU" b="0" i="0" dirty="0">
                <a:solidFill>
                  <a:srgbClr val="000000"/>
                </a:solidFill>
                <a:latin typeface="Arial" pitchFamily="34" charset="0"/>
                <a:cs typeface="Arial" pitchFamily="34" charset="0"/>
              </a:rPr>
              <a:t>Для управления файлами ВМ гипервизор может использовать встроенную кластерную файловую систему или сетевую файловую систему NFS. Встроенная кластерная файловая система гипервизора оптимизирована для хранения файлов ВМ. Она может быть развернута в системе хранения, использующей протоколы Fibre Channel и iSCSI (будут рассмотрены позже в этом курсе), отдельно от локальной системы хранения. Виртуальные диски хранятся как файлы во встроенной кластерной файловой системе. Сетевая файловая система NFS обеспечивает хранение файлов ВМ на удаленных файловых серверах (устройство NAS), доступ к которым осуществляется по IP-сети. Для обмена данными с устройством NAS встроенный в гипервизор клиент NFS использует протокол NFS. Устройства NAS и сетевая файловая система NFS рассматриваются в модуле 6 («Файловая система хранения (NAS)»).</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542902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Виртуализация приложений — это метод отделения приложения от базовой вычислительной платформы (ОС и оборудования), позволяющий использовать приложение в вычислительной системе без установки. При виртуализации приложений приложение либо развертывается в удаленной вычислительной системе и предоставляется клиентской системе по сети, либо инкапсулируется в виртуализированном контейнере наряду с ресурсами, необходимыми для его выполнения. В обоих случаях приложение может быть использовано без необходимости устанавливать его в вычислительной системе пользователя приложения. Ниже описываются некоторые из ключевых преимуществ виртуализации приложений.</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Упрощенное управление приложениями.</a:t>
            </a:r>
            <a:r>
              <a:rPr lang="ru-RU" b="0" i="0" dirty="0">
                <a:solidFill>
                  <a:srgbClr val="000000"/>
                </a:solidFill>
                <a:latin typeface="Arial" pitchFamily="34" charset="0"/>
                <a:cs typeface="Arial" pitchFamily="34" charset="0"/>
              </a:rPr>
              <a:t> Виртуализация приложений предоставляет решение, удовлетворяющее потребность организации в упрощении и оптимизации развертывания и предоставления приложений, а также в повышении их управляемости. Она сокращает затраты на интеграцию и обслуживание системы за счет предоставления общего базового программного обеспечения, используемого во множестве разнородных конечных устройств.</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Исключение изменений ОС.</a:t>
            </a:r>
            <a:r>
              <a:rPr lang="ru-RU" b="0" i="0" dirty="0">
                <a:solidFill>
                  <a:srgbClr val="000000"/>
                </a:solidFill>
                <a:latin typeface="Arial" pitchFamily="34" charset="0"/>
                <a:cs typeface="Arial" pitchFamily="34" charset="0"/>
              </a:rPr>
              <a:t> Поскольку виртуализация приложений отделяет приложение от ОС, она оставляет базовую ОС в неизменном виде. Это обеспечивает дополнительную безопасность и защищает ОС от потенциальных повреждений и проблем, которые могут возникнуть вследствие повреждения файловой системы и регистра. </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Разрешение конфликтов между приложениями и проблем совместимости.</a:t>
            </a:r>
            <a:r>
              <a:rPr lang="ru-RU" b="0" i="0" dirty="0">
                <a:solidFill>
                  <a:srgbClr val="000000"/>
                </a:solidFill>
                <a:latin typeface="Arial" pitchFamily="34" charset="0"/>
                <a:cs typeface="Arial" pitchFamily="34" charset="0"/>
              </a:rPr>
              <a:t> Виртуализация приложений позволяет использовать конфликтующие приложения на одном конечном устройстве. Кроме того, она дает возможность использовать приложения, которые при других обстоятельствах не работают на конечном устройстве из-за несовместимости с базовой вычислительной платформой.</a:t>
            </a:r>
          </a:p>
          <a:p>
            <a:pPr>
              <a:spcBef>
                <a:spcPts val="600"/>
              </a:spcBef>
              <a:defRPr/>
            </a:pPr>
            <a:r>
              <a:rPr lang="ru-RU" b="1" i="0" dirty="0">
                <a:solidFill>
                  <a:srgbClr val="000000"/>
                </a:solidFill>
                <a:latin typeface="Arial" pitchFamily="34" charset="0"/>
                <a:cs typeface="Arial" pitchFamily="34" charset="0"/>
              </a:rPr>
              <a:t>Упрощение управления образами ОС.</a:t>
            </a:r>
            <a:r>
              <a:rPr lang="ru-RU" b="0" i="0" dirty="0">
                <a:solidFill>
                  <a:srgbClr val="000000"/>
                </a:solidFill>
                <a:latin typeface="Arial" pitchFamily="34" charset="0"/>
                <a:cs typeface="Arial" pitchFamily="34" charset="0"/>
              </a:rPr>
              <a:t> Виртуализация приложений упрощает управление образами ОС. Поскольку доставка приложений отделена от ОС, нет необходимости включать «стандартные» приложения в образы конечных точек. В результате упрощается управление образами, особенно в контексте исправлений и модернизаций ОС.</a:t>
            </a:r>
          </a:p>
          <a:p>
            <a:pPr>
              <a:spcBef>
                <a:spcPts val="600"/>
              </a:spcBef>
              <a:defRPr/>
            </a:pPr>
            <a:r>
              <a:rPr lang="ru-RU" b="1" i="0" dirty="0">
                <a:solidFill>
                  <a:srgbClr val="000000"/>
                </a:solidFill>
                <a:latin typeface="Arial" pitchFamily="34" charset="0"/>
                <a:cs typeface="Arial" pitchFamily="34" charset="0"/>
              </a:rPr>
              <a:t>Гибкость доступа.</a:t>
            </a:r>
            <a:r>
              <a:rPr lang="ru-RU" b="0" i="0" dirty="0">
                <a:solidFill>
                  <a:srgbClr val="000000"/>
                </a:solidFill>
                <a:latin typeface="Arial" pitchFamily="34" charset="0"/>
                <a:cs typeface="Arial" pitchFamily="34" charset="0"/>
              </a:rPr>
              <a:t> Виртуализация приложений предоставляет сотрудникам организации и заказчикам возможность получать доступ к приложениям, размещенным в удаленной вычислительной системе, из любого места и при помощи конечных устройств различных типов.</a:t>
            </a:r>
          </a:p>
        </p:txBody>
      </p:sp>
    </p:spTree>
    <p:extLst>
      <p:ext uri="{BB962C8B-B14F-4D97-AF65-F5344CB8AC3E}">
        <p14:creationId xmlns:p14="http://schemas.microsoft.com/office/powerpoint/2010/main" val="267854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dirty="0">
                <a:solidFill>
                  <a:srgbClr val="000000"/>
                </a:solidFill>
                <a:latin typeface="Arial" pitchFamily="34" charset="0"/>
                <a:cs typeface="Arial" pitchFamily="34" charset="0"/>
              </a:rPr>
              <a:t>Существует три метода виртуализации приложений: инкапсуляция приложений, представление приложений и потоковая передача приложений</a:t>
            </a:r>
          </a:p>
          <a:p>
            <a:pPr>
              <a:spcBef>
                <a:spcPts val="600"/>
              </a:spcBef>
            </a:pPr>
            <a:r>
              <a:rPr lang="ru-RU" b="0" dirty="0">
                <a:solidFill>
                  <a:srgbClr val="000000"/>
                </a:solidFill>
                <a:latin typeface="Arial" pitchFamily="34" charset="0"/>
                <a:cs typeface="Arial" pitchFamily="34" charset="0"/>
              </a:rPr>
              <a:t>При инкапсуляции приложения оно помещается в виртуализированный контейнер вместе с ресурсами (например, файлы, виртуальный регистр и библиотеки классов), необходимыми для его выполнения. Этот процесс, известный как упаковка или установление последовательности, преобразует приложение в автономный исполняемый пакет, который может запускаться непосредственно в вычислительной системе. Необходимые для выполнения ресурсы включены в виртуальный контейнер. Таким образом, приложение никак не зависит от базовой ОС и не требует традиционной установки в вычислительной системе. Виртуальный контейнер приложения изолирует его от базовой ОС и других приложений, тем самым сводя к минимуму конфликты между приложениями. Во время выполнения приложения все вызовы функций, в которых приложение обращается к ОС для получения ресурсов, перенаправляются к ресурсам внутри виртуального контейнера. Таким образом, приложению запрещено выполнять запись в файловую систему или регистр ОС, либо изменять ОС каким-либо иным образом.</a:t>
            </a:r>
          </a:p>
          <a:p>
            <a:pPr>
              <a:spcBef>
                <a:spcPts val="600"/>
              </a:spcBef>
            </a:pPr>
            <a:r>
              <a:rPr lang="ru-RU" b="0" dirty="0">
                <a:solidFill>
                  <a:srgbClr val="000000"/>
                </a:solidFill>
                <a:latin typeface="Arial" pitchFamily="34" charset="0"/>
                <a:cs typeface="Arial" pitchFamily="34" charset="0"/>
              </a:rPr>
              <a:t>При представлении приложений интерфейс пользователя приложения отделен от его выполнения. Приложение выполняется в удаленной вычислительной системе, а его интерфейс пользователя представлен по сети в конечном клиентском устройстве. Когда пользователь получает доступ к приложению, информация о пикселях экрана (и при необходимости звук) для данного приложения передаются на клиент. Установленный на клиенте программный агент получает эту информацию и обновляет экран клиента. Агент также передает из клиента информацию о нажатии клавиш и графическом вводе, давая тем самым пользователю возможность управлять приложением. Благодаря этому процессу все выглядит так, как будто приложение запущено на клиенте, тогда как в действительности оно запущено в удаленной вычислительной системе. Представление приложений обеспечивает доставку приложений на устройства, которые имеют меньшую вычислительную мощность, чем обычно требуется для выполнения данного приложения. При представлении приложений сессии приложений создаются в удаленной вычислительной системе, а пользователь подключается с клиента к отдельной сессии при помощи программного агента. Отдельные сессии изолированы друг от друга. Это позволяет защитить данные каждого пользователя, а также защищает приложение от сбоев.</a:t>
            </a:r>
          </a:p>
          <a:p>
            <a:pPr>
              <a:spcBef>
                <a:spcPts val="600"/>
              </a:spcBef>
            </a:pPr>
            <a:r>
              <a:rPr lang="ru-RU" i="1" dirty="0">
                <a:latin typeface="Arial" pitchFamily="34" charset="0"/>
                <a:cs typeface="Arial" pitchFamily="34" charset="0"/>
              </a:rPr>
              <a:t>При потоковой передаче приложения </a:t>
            </a:r>
            <a:r>
              <a:rPr lang="ru-RU" dirty="0">
                <a:latin typeface="Arial" pitchFamily="34" charset="0"/>
                <a:cs typeface="Arial" pitchFamily="34" charset="0"/>
              </a:rPr>
              <a:t>оно развертывается в удаленной вычислительной системе и загружается по частям на конечное клиентское устройство для локального выполнения. Пользователь обычно запускает приложение при помощи ярлыка, что заставляет клиент подключиться к удаленной вычислительной системе, чтобы начать процесс потоковой передачи. На первоначальном этапе в память загружается лишь ограниченная часть приложения. Этой части достаточно, чтобы начать выполнение приложения на клиенте. Поскольку до запуска приложения на клиент доставляется ограниченная часть приложения, для пользователя запуск приложения происходит очень быстро. Кроме того, использование потоковой передачи уменьшает сетевой трафик. Когда пользователь обращается к различным функциям приложения, на клиент загружаются дополнительные части этого приложения. Эти дополнительные части приложения могут также загружаться в фоновом режиме без вмешательства пользователя. Потоковая передача приложений требует установки на клиенте агента или клиентского программного обеспечения. В другом варианте возможна потоковая передача приложения в веб-браузер при помощи подключаемого модуля, установленного на клиенте. В некоторых случаях потоковая передача приложений позволяет получать доступ к приложению в автономном режиме путем его локального кэширования на клиенте. </a:t>
            </a:r>
          </a:p>
          <a:p>
            <a:pPr>
              <a:spcBef>
                <a:spcPts val="600"/>
              </a:spcBef>
            </a:pPr>
            <a:endParaRPr lang="ru-RU" b="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27041616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i="0" dirty="0">
                <a:solidFill>
                  <a:srgbClr val="000000"/>
                </a:solidFill>
                <a:latin typeface="Arial" pitchFamily="34" charset="0"/>
                <a:cs typeface="Arial" pitchFamily="34" charset="0"/>
              </a:rPr>
              <a:t>В традиционных настольных машинах ОС, приложения и профили пользователя были привязаны к конкретному оборудованию. При использовании таких настольных ПК эффективность бизнес-деятельности резко снижается в случае поломки или потери клиентского устройства. Управление обширной инфраструктурой рабочих мест также представляет собой сложную задачу. </a:t>
            </a:r>
          </a:p>
          <a:p>
            <a:pPr>
              <a:spcBef>
                <a:spcPts val="600"/>
              </a:spcBef>
            </a:pPr>
            <a:r>
              <a:rPr lang="ru-RU" i="1" dirty="0">
                <a:solidFill>
                  <a:srgbClr val="000000"/>
                </a:solidFill>
                <a:latin typeface="Arial" pitchFamily="34" charset="0"/>
                <a:cs typeface="Arial" pitchFamily="34" charset="0"/>
              </a:rPr>
              <a:t>Виртуализация рабочих мест </a:t>
            </a:r>
            <a:r>
              <a:rPr lang="ru-RU" i="0" dirty="0">
                <a:solidFill>
                  <a:srgbClr val="000000"/>
                </a:solidFill>
                <a:latin typeface="Arial" pitchFamily="34" charset="0"/>
                <a:cs typeface="Arial" pitchFamily="34" charset="0"/>
              </a:rPr>
              <a:t>отделяет ОС, приложения и состояние пользователя (профили, данные и настройки) от физической вычислительной системы. Эти компоненты, обобщенно называемые </a:t>
            </a:r>
            <a:r>
              <a:rPr lang="ru-RU" i="1" dirty="0">
                <a:solidFill>
                  <a:srgbClr val="000000"/>
                </a:solidFill>
                <a:latin typeface="Arial" pitchFamily="34" charset="0"/>
                <a:cs typeface="Arial" pitchFamily="34" charset="0"/>
              </a:rPr>
              <a:t>виртуальным рабочим местом</a:t>
            </a:r>
            <a:r>
              <a:rPr lang="ru-RU" i="0" dirty="0">
                <a:solidFill>
                  <a:srgbClr val="000000"/>
                </a:solidFill>
                <a:latin typeface="Arial" pitchFamily="34" charset="0"/>
                <a:cs typeface="Arial" pitchFamily="34" charset="0"/>
              </a:rPr>
              <a:t>, размещаются в удаленной вычислительной системе, и пользователь может получить к ним доступ с любого клиентского устройства, например, с ноутбука, настольного ПК, тонкого клиента или мобильного устройства. Пользователь получает доступ к среде виртуальных рабочих мест по сети с клиента, используя веб-браузер или клиентское приложение. </a:t>
            </a:r>
          </a:p>
          <a:p>
            <a:pPr>
              <a:spcBef>
                <a:spcPts val="600"/>
              </a:spcBef>
            </a:pPr>
            <a:r>
              <a:rPr lang="ru-RU" i="0" dirty="0">
                <a:solidFill>
                  <a:srgbClr val="000000"/>
                </a:solidFill>
                <a:latin typeface="Arial" pitchFamily="34" charset="0"/>
                <a:cs typeface="Arial" pitchFamily="34" charset="0"/>
              </a:rPr>
              <a:t>ОС и приложения виртуального настольного ПК выполняются в удаленной вычислительной системе, а представление интерфейса пользователя виртуального ПК отображается в конечном устройстве. Это представление виртуального ПК позволяет пользователю взаимодействовать с ним при помощи периферийных устройств (клавиатура и мышь) на конечном устройстве. Виртуализация рабочих мест использует </a:t>
            </a:r>
            <a:r>
              <a:rPr lang="ru-RU" i="1" dirty="0">
                <a:solidFill>
                  <a:srgbClr val="000000"/>
                </a:solidFill>
                <a:latin typeface="Arial" pitchFamily="34" charset="0"/>
                <a:cs typeface="Arial" pitchFamily="34" charset="0"/>
              </a:rPr>
              <a:t>протокол удаленного отображения</a:t>
            </a:r>
            <a:r>
              <a:rPr lang="ru-RU" i="0" dirty="0">
                <a:solidFill>
                  <a:srgbClr val="000000"/>
                </a:solidFill>
                <a:latin typeface="Arial" pitchFamily="34" charset="0"/>
                <a:cs typeface="Arial" pitchFamily="34" charset="0"/>
              </a:rPr>
              <a:t> для передачи интерфейса пользователя виртуального ПК на конечные устройства. Протокол удаленного отображения отправляет также с конечного устройства информацию о нажатии клавиш и графическом вводе, обеспечивая тем самым взаимодействие пользователя с виртуальным ПК. Хотя виртуальный ПК работает удаленно, работа пользователя аналогична использованию ОС и приложений, установленных локально на конечном устройстве.</a:t>
            </a:r>
          </a:p>
          <a:p>
            <a:pPr>
              <a:spcBef>
                <a:spcPts val="600"/>
              </a:spcBef>
            </a:pPr>
            <a:r>
              <a:rPr lang="ru-RU" dirty="0">
                <a:latin typeface="Arial" pitchFamily="34" charset="0"/>
                <a:cs typeface="Arial" pitchFamily="34" charset="0"/>
              </a:rPr>
              <a:t>Некоторые из ключевых преимуществ виртуализации рабочих мест описаны ниже.</a:t>
            </a:r>
          </a:p>
          <a:p>
            <a:pPr>
              <a:spcBef>
                <a:spcPts val="600"/>
              </a:spcBef>
            </a:pPr>
            <a:r>
              <a:rPr lang="ru-RU" b="1" dirty="0">
                <a:latin typeface="Arial" pitchFamily="34" charset="0"/>
                <a:cs typeface="Arial" pitchFamily="34" charset="0"/>
              </a:rPr>
              <a:t>Упрощенное управление инфраструктурой рабочих мест. </a:t>
            </a:r>
            <a:r>
              <a:rPr lang="ru-RU" dirty="0">
                <a:latin typeface="Arial" pitchFamily="34" charset="0"/>
                <a:cs typeface="Arial" pitchFamily="34" charset="0"/>
              </a:rPr>
              <a:t>Виртуализация рабочих мест упрощает управление инфраструктурой рабочих мест и создает возможности для сокращения затрат на ее обслуживание. Новые виртуальные рабочие места можно настраивать и развертывать быстрее, чем физические машины. Можно централизованно применять к ОС и приложениям исправления, обновления и модернизации. Это позволяет упростить или исключить многие лишние, выполняемые вручную и отнимающие много времени задачи. Кроме того, виртуальные рабочие места создаются на базе стандартизированных образов, что упрощает управление инфраструктурой. Это также упрощает диагностику и устранение проблем.</a:t>
            </a:r>
          </a:p>
          <a:p>
            <a:pPr>
              <a:spcBef>
                <a:spcPts val="600"/>
              </a:spcBef>
            </a:pPr>
            <a:r>
              <a:rPr lang="ru-RU" b="1" dirty="0">
                <a:latin typeface="Arial" pitchFamily="34" charset="0"/>
                <a:cs typeface="Arial" pitchFamily="34" charset="0"/>
              </a:rPr>
              <a:t>Улучшенная защита данных и соответствие требованиям регуляторов. </a:t>
            </a:r>
            <a:r>
              <a:rPr lang="ru-RU" dirty="0">
                <a:latin typeface="Arial" pitchFamily="34" charset="0"/>
                <a:cs typeface="Arial" pitchFamily="34" charset="0"/>
              </a:rPr>
              <a:t>Приложения и данные хранятся централизованно, поэтому в случае потери или кражи устройства критически важным для бизнеса данным ничего не угрожает. Кроме того, резервное копирование виртуальных рабочих мест выполнять проще, чем развертывать решения для резервного копирования на конечных устройствах.</a:t>
            </a:r>
          </a:p>
          <a:p>
            <a:pPr>
              <a:spcBef>
                <a:spcPts val="600"/>
              </a:spcBef>
            </a:pPr>
            <a:r>
              <a:rPr lang="ru-RU" b="1" dirty="0">
                <a:latin typeface="Arial" pitchFamily="34" charset="0"/>
                <a:cs typeface="Arial" pitchFamily="34" charset="0"/>
              </a:rPr>
              <a:t>Гибкость доступа. </a:t>
            </a:r>
            <a:r>
              <a:rPr lang="ru-RU" dirty="0">
                <a:latin typeface="Arial" pitchFamily="34" charset="0"/>
                <a:cs typeface="Arial" pitchFamily="34" charset="0"/>
              </a:rPr>
              <a:t>Виртуализация рабочих мест позволяет пользователям получать доступ к своим рабочим местам и приложениям без привязки к конкретному конечному устройству. Можно удаленно получать доступ к виртуальным рабочим местам с различных конечных устройств. Это создает гибкий сценарий работы и обеспечивает возможность эффективной удаленной работы пользователей. Помимо этого, виртуализация рабочих мест дает возможность использовать для работы личные устройства, что создает предпосылки для сокращения затрат на приобретение и операционных издержек.</a:t>
            </a:r>
          </a:p>
          <a:p>
            <a:pPr>
              <a:spcBef>
                <a:spcPts val="600"/>
              </a:spcBef>
            </a:pPr>
            <a:endParaRPr lang="en-US" dirty="0">
              <a:latin typeface="Arial" pitchFamily="34" charset="0"/>
              <a:cs typeface="Arial" pitchFamily="34" charset="0"/>
            </a:endParaRPr>
          </a:p>
          <a:p>
            <a:pPr>
              <a:spcBef>
                <a:spcPts val="600"/>
              </a:spcBef>
            </a:pPr>
            <a:endParaRPr lang="en-US" dirty="0">
              <a:latin typeface="Arial" pitchFamily="34" charset="0"/>
              <a:cs typeface="Arial" pitchFamily="34" charset="0"/>
            </a:endParaRPr>
          </a:p>
          <a:p>
            <a:pPr>
              <a:spcBef>
                <a:spcPts val="600"/>
              </a:spcBef>
            </a:pPr>
            <a:endParaRPr lang="ru-RU" i="0" dirty="0">
              <a:solidFill>
                <a:srgbClr val="000000"/>
              </a:solidFill>
              <a:latin typeface="Arial" pitchFamily="34" charset="0"/>
              <a:cs typeface="Arial" pitchFamily="34" charset="0"/>
            </a:endParaRPr>
          </a:p>
          <a:p>
            <a:pPr marL="0" marR="0" indent="0" defTabSz="457200" rtl="0" eaLnBrk="1" fontAlgn="auto" latinLnBrk="0" hangingPunct="1">
              <a:spcBef>
                <a:spcPts val="600"/>
              </a:spcBef>
              <a:buClrTx/>
              <a:buSzTx/>
              <a:buFontTx/>
              <a:buNone/>
              <a:tabLst/>
              <a:defRPr/>
            </a:pPr>
            <a:endParaRPr lang="ru-RU"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67854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dirty="0">
                <a:solidFill>
                  <a:srgbClr val="000000"/>
                </a:solidFill>
                <a:latin typeface="Arial" pitchFamily="34" charset="0"/>
                <a:cs typeface="Arial" pitchFamily="34" charset="0"/>
              </a:rPr>
              <a:t>Существует два метода виртуализации рабочих мест: службы удаленных рабочих мест (RDS) и инфраструктура виртуальных рабочих мест (VDI).</a:t>
            </a:r>
          </a:p>
          <a:p>
            <a:pPr>
              <a:spcBef>
                <a:spcPts val="600"/>
              </a:spcBef>
            </a:pPr>
            <a:r>
              <a:rPr lang="ru-RU" dirty="0">
                <a:solidFill>
                  <a:srgbClr val="000000"/>
                </a:solidFill>
                <a:latin typeface="Arial" pitchFamily="34" charset="0"/>
                <a:cs typeface="Arial" pitchFamily="34" charset="0"/>
              </a:rPr>
              <a:t>При использовании служб удаленных рабочих мест ОС и приложения размещаются в удаленной вычислительной системе и совместно используются несколькими пользователями. RDS схожа с представлением приложений, но дает возможность предоставлять виртуальные рабочие места, а не отдельные приложения. Каждый пользователь использует отдельную сессию виртуального рабочего места, в рамках которой выполняются приложения. Обычно пользователь подключается к сессии удаленного рабочего места при помощи клиентского программного обеспечения. Для подключения к сессии удаленного рабочего места пользователь указывает URL-адрес службы удаленных рабочих мест. При подключении клиента к службе удаленных рабочих мест создается уникальная сессия, в которой пользователь может выполнять приложения. Во время сессии пользователь работает на конечном устройстве, как на настоящем настольном ПК. Интерфейс пользователя настольного ПК передается на конечное устройство по протоколу удаленного отображения, который обеспечивает возможность взаимодействия пользователя с рабочим местом и приложениями. Каждая пользовательская сессия изолирована от сессий других пользователей, что обеспечивает защиту приложения и данных. При использовании RDS пользователи обычно не имеют возможности устанавливать или изменять приложения в удаленной ОС.</a:t>
            </a:r>
          </a:p>
          <a:p>
            <a:pPr>
              <a:spcBef>
                <a:spcPts val="600"/>
              </a:spcBef>
            </a:pPr>
            <a:r>
              <a:rPr lang="ru-RU" dirty="0">
                <a:solidFill>
                  <a:srgbClr val="000000"/>
                </a:solidFill>
                <a:latin typeface="Arial" pitchFamily="34" charset="0"/>
                <a:cs typeface="Arial" pitchFamily="34" charset="0"/>
              </a:rPr>
              <a:t>RDS поддерживает очень высокую плотность пользователей, поскольку каждое процессорное ядро может обслуживать несколько сессий рабочих мест. Этот метод виртуализации обычно используется в сценариях, в которых группа пользователей получает доступ по требованию к базовому набору приложений. Он предоставляет нескольким пользователям среду, оптимизированную и стандартизированную для этих приложений. Тем не менее, непредсказуемые нагрузки приложений могут приводить к нестабильной производительности. Кроме того, многопользовательская среда, используемая в RDS, может подходить не для всех приложений. Возможно, для использования в средах RDS некоторые приложения придется переписывать.</a:t>
            </a:r>
          </a:p>
          <a:p>
            <a:pPr>
              <a:spcBef>
                <a:spcPts val="600"/>
              </a:spcBef>
            </a:pPr>
            <a:r>
              <a:rPr lang="ru-RU" i="1" dirty="0">
                <a:latin typeface="Arial" pitchFamily="34" charset="0"/>
                <a:cs typeface="Arial" pitchFamily="34" charset="0"/>
              </a:rPr>
              <a:t>В инфраструктуре виртуальных рабочих мест </a:t>
            </a:r>
            <a:r>
              <a:rPr lang="ru-RU" dirty="0">
                <a:latin typeface="Arial" pitchFamily="34" charset="0"/>
                <a:cs typeface="Arial" pitchFamily="34" charset="0"/>
              </a:rPr>
              <a:t>ОС и приложения размещаются на виртуальных машинах, запущенных в удаленной вычислительной системе. ВМ виртуальных рабочих мест обычно размещаются на автономном гипервизоре. Каждому пользователю предоставляется отдельная ВМ рабочего места с собственной ОС и приложениями. Интерфейс пользователя ОС и приложений в ВМ рабочего места передается на конечное устройство по протоколу удаленного отображения, обеспечивающему возможность взаимодействия пользователя с виртуальным рабочим местом. В инфраструктуре VDI ВМ рабочих мест могут быть постоянными или непостоянными. Постоянная ВМ рабочего места хранит между входами данные и настройки пользователя и обычно выделяется определенному пользователю. Непостоянная ВМ рабочего места не сохраняет данные и настройки пользователя. Она выделяется пользователю из пула ВМ рабочих мест. Когда пользователь выходит из системы, ВМ рабочего места возвращается в пул ВМ рабочих мест и может быть повторно выделена другим пользователям. ВМ рабочих мест могут выделяться из шаблонов. Вносимые в шаблоны изменения впоследствии автоматически передаются в соответствующие ВМ рабочих мест, не оказывая влияния на данные и приложения пользователя.</a:t>
            </a:r>
          </a:p>
          <a:p>
            <a:pPr>
              <a:spcBef>
                <a:spcPts val="600"/>
              </a:spcBef>
            </a:pPr>
            <a:r>
              <a:rPr lang="ru-RU" dirty="0">
                <a:latin typeface="Arial" pitchFamily="34" charset="0"/>
                <a:cs typeface="Arial" pitchFamily="34" charset="0"/>
              </a:rPr>
              <a:t>В инфраструктуре VDI доступ к ВМ рабочих мест обычно осуществляется при помощи программного обеспечения посредника подключений. Посредник подключений устанавливает подключение между конечным устройством и ВМ рабочего места и управляет им. Если ВМ рабочих мест выделяются из пула, посредник подключений подключает пользователя к доступной ВМ рабочего места в пуле. Перед подключением к ВМ рабочего места посредник подключений может выполнить аутентификацию запроса на выделение рабочего места. Посредник подключений может обладать возможностью приостанавливать и возобновлять работу ВМ рабочих мест на основе политик, чтобы обеспечить эффективное использование таких ресурсов, как процессор и память. Кроме того, посредник подключений может поддерживать механизмы шифрования, чтобы обеспечить безопасное подключение между конечным устройством и ВМ рабочего места. </a:t>
            </a:r>
          </a:p>
          <a:p>
            <a:pPr>
              <a:spcBef>
                <a:spcPts val="600"/>
              </a:spcBef>
            </a:pPr>
            <a:r>
              <a:rPr lang="ru-RU" dirty="0">
                <a:latin typeface="Arial" pitchFamily="34" charset="0"/>
                <a:cs typeface="Arial" pitchFamily="34" charset="0"/>
              </a:rPr>
              <a:t>В инфраструктуре VDI ВМ рабочих мест полностью изолированы друг от друга. Это обеспечивает надежность и безопасность. В случае постоянных ВМ рабочих мест пользователям могут быть предоставлены полные права администратора и право установки локальных приложений на своих личных ВМ рабочих мест. Можно выполнять миграцию ВМ рабочих мест внутри кластера без прерывания работы. Это обеспечивает эффективность управления и обслуживания. На уровне ОС ВМ рабочего места неотличима от физической вычислительной системы. Это обеспечивает более высокую совместимость программного обеспечения с VDI по сравнению с технологией удаленных рабочих мест.</a:t>
            </a:r>
          </a:p>
          <a:p>
            <a:pPr>
              <a:spcBef>
                <a:spcPts val="600"/>
              </a:spcBef>
            </a:pPr>
            <a:endParaRPr lang="ru-RU"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0214382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Виртуализация приложений и виртуализация рабочих мест обеспечивают организациям серьезные преимущества и упрощают переход к третьей платформе. Ниже описываются два сценария использования виртуализации приложений и рабочих мест.</a:t>
            </a:r>
          </a:p>
          <a:p>
            <a:pPr>
              <a:spcBef>
                <a:spcPts val="600"/>
              </a:spcBef>
            </a:pPr>
            <a:r>
              <a:rPr lang="ru-RU" b="1" i="0" dirty="0">
                <a:solidFill>
                  <a:srgbClr val="000000"/>
                </a:solidFill>
                <a:latin typeface="Arial" pitchFamily="34" charset="0"/>
                <a:cs typeface="Arial" pitchFamily="34" charset="0"/>
              </a:rPr>
              <a:t>Потоковая передача облачных приложений.</a:t>
            </a:r>
            <a:r>
              <a:rPr lang="ru-RU" b="0" i="0" dirty="0">
                <a:solidFill>
                  <a:srgbClr val="000000"/>
                </a:solidFill>
                <a:latin typeface="Arial" pitchFamily="34" charset="0"/>
                <a:cs typeface="Arial" pitchFamily="34" charset="0"/>
              </a:rPr>
              <a:t> Потоковая передача облачных приложений использует виртуализацию приложений для потоковой передачи приложений из облака на клиентские устройства. Потоковая передача приложений из облака позволяет организациям обеспечивать работу большего количества пользователей на множестве устройств без существенного изменения кода приложения. Приложение развертывается в облачной инфраструктуре, а результат его работы передается на клиентские устройства, например, на настольные ПК, планшеты и мобильные телефоны. Поскольку приложение работает в облаке, его можно гибко масштабировать для удовлетворения быстро растущих потребностей в обработке и хранении данных независимо от клиентских устройств, используемых конечными пользователями. Облачная служба может организовать поточную передачу из облака либо всего приложения, либо его частей. Потоковая передача облачных приложений позволяет предоставлять приложение на клиентских устройствах, на которых работа этого приложения в обычном формате может оказаться невозможной.</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Рабочее место как услуга.</a:t>
            </a:r>
            <a:r>
              <a:rPr lang="ru-RU" b="0" i="0" dirty="0">
                <a:solidFill>
                  <a:srgbClr val="000000"/>
                </a:solidFill>
                <a:latin typeface="Arial" pitchFamily="34" charset="0"/>
                <a:cs typeface="Arial" pitchFamily="34" charset="0"/>
              </a:rPr>
              <a:t> Рабочее место как услуга (DaaS) — это облачная услуга, при которой инфраструктура виртуальных рабочих мест (VDI) размещается на сервере поставщика облачных услуг. Поставщик предлагает готовое решение для VDI, готовое для использования в бизнес-подразделениях и предоставляемое как услуга либо по подписке, либо с оплатой за фактическое использование. Поставщик услуг (внутренняя ИТ-служба или публичный) управляет развертыванием виртуальных рабочих мест, хранением данных, резервным копированием, безопасностью, а также обновлениями и модернизацией ОС. Виртуальные рабочие места безопасно размещаются в облаке и управляются поставщиком. DaaS имеет многопользовательскую архитектуру, в которой виртуальные рабочие места нескольких пользователей совместно используют одну базовую инфраструктуру. Тем не менее, отдельные виртуальные рабочие места изолированы друг от друга и защищены от несанкционированного доступа, а также от сбоев других виртуальных рабочих мест. Можно с минимальными усилиями выделять потребителям виртуальные рабочие места, которые через Интернет предоставляются на любом клиентском устройстве. DaaS позволяет организациям использовать простой, гибкий и эффективный подход к ИТ. Он обеспечивает снижение капитальных и эксплуатационных расходов на приобретение и управление инфраструктурой среды конечных пользователей. </a:t>
            </a:r>
          </a:p>
        </p:txBody>
      </p:sp>
    </p:spTree>
    <p:extLst>
      <p:ext uri="{BB962C8B-B14F-4D97-AF65-F5344CB8AC3E}">
        <p14:creationId xmlns:p14="http://schemas.microsoft.com/office/powerpoint/2010/main" val="3041980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рассматривались виртуализация ресурсов, гипервизор и виртуальная машина. Также была рассмотрена виртуализация приложений и используемые для этого методы Наконец, в этом уроке была рассмотрена виртуализация рабочих мест и используемые для этого методы.</a:t>
            </a:r>
            <a:endParaRPr lang="en-US" b="0" i="0" dirty="0">
              <a:solidFill>
                <a:srgbClr val="000000"/>
              </a:solidFill>
              <a:latin typeface="Arial" pitchFamily="34" charset="0"/>
              <a:cs typeface="Arial" pitchFamily="34" charset="0"/>
            </a:endParaRPr>
          </a:p>
          <a:p>
            <a:pPr>
              <a:spcBef>
                <a:spcPts val="600"/>
              </a:spcBef>
            </a:pPr>
            <a:endParaRPr lang="ru-RU" b="0" i="0" dirty="0">
              <a:solidFill>
                <a:srgbClr val="000000"/>
              </a:solidFill>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рассматривается развитие архитектуры систем хранения и типы устройств хранения данных. Также рассматриваются возможности подключения вычислительной системы к вычислительной системе и к системе хранения. Наконец, в этом уроке рассматриваются различные протоколы подключения систем хранения.</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традиционной инфраструктуре бизнес-подразделения или отделы организации имеют собственные серверы, на которых запущены бизнес-приложения соответствующего подразделения или отдела. Устройства хранения данных подключены непосредственно к серверам и обычно выполняют роль внутреннего хранилища сервера. Эти устройства хранения данных не могут совместно использоваться другими серверами. Такая архитектура называется </a:t>
            </a:r>
            <a:r>
              <a:rPr lang="ru-RU" b="0" i="1" dirty="0">
                <a:solidFill>
                  <a:srgbClr val="000000"/>
                </a:solidFill>
                <a:latin typeface="Arial" pitchFamily="34" charset="0"/>
                <a:cs typeface="Arial" pitchFamily="34" charset="0"/>
              </a:rPr>
              <a:t>сервер-ориентированной</a:t>
            </a:r>
            <a:r>
              <a:rPr lang="ru-RU" b="0" i="0" dirty="0">
                <a:solidFill>
                  <a:srgbClr val="000000"/>
                </a:solidFill>
                <a:latin typeface="Arial" pitchFamily="34" charset="0"/>
                <a:cs typeface="Arial" pitchFamily="34" charset="0"/>
              </a:rPr>
              <a:t>. В этой архитектуре каждый сервер имеет ограниченное число устройств хранения данных, а каждое устройство хранения данных существует только в привязке к серверу, к которому оно подключено. На рисунке на слайде показан пример сервер-ориентированной архитектуры. На этом рисунке серверы различных отделов организации имеют системы хранения, подключенные непосредственно к ним, а клиенты подключаются к серверам по локальной (LAN) или глобальной сети (WAN). </a:t>
            </a:r>
          </a:p>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Традиционная сервер-ориентированная архитектура имеет несколько ограничений и поэтому не может в полной мере удовлетворить растущий спрос на емкость хранения в инфраструктурах третьей платформы. Количество устройств хранения данных, которые можно подключить к одному серверу, ограничено, и емкость системы невозможно масштабировать. Кроме того, сервер не может получить прямой доступ к неиспользуемому пространству хранения, имеющемуся на других серверах. Сбой сервера или любые административные задачи, например, обслуживание сервера или увеличение его емкости хранения, оборачиваются недоступностью информации. Кроме того, увеличение количества серверов в отделах организации приводит к образованию изолированных точек хранения информации, которыми трудно управлять, а также влечет за собой увеличение капитальных и эксплуатационных затрат.</a:t>
            </a:r>
            <a:endParaRPr lang="en-US"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31189869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Дальнейшее развитие систем хранения, направленное на преодоление сложностей сервер-ориентированной архитектуры, привело к созданию информационно-ориентированной архитектуры. В информационно-ориентированной архитектуре устройства хранения данных существуют совершенно независимо от серверов. Они управляются централизованно и совместно используются несколькими вычислительными системами. Устройства хранения данных, установленные в системах хранения, образуют пулы хранения данных, и несколько вычислительных систем получают доступ к одному пулу по специализированной высокоскоростной сети хранения данных (SAN). Сеть SAN используется для обмена информацией между вычислительными системами и системами хранения, а также для подключения систем хранения. Она дает возможность вычислительным системам совместно использовать ресурсы хранения данных, повышает эффективность использования систем хранения и облегчает централизованное управление ресурсами хранения. Сети SAN классифицируются на основе поддерживаемых ими протоколов. К самым распространенным типам развертывания SAN относятся Fibre Channel SAN (FC SAN), Internet Protocol SAN (IP SAN) и Fibre Channel over Ethernet SAN (FCoE SAN). Эти сети будут рассмотрены позже в рамках этого курса. </a:t>
            </a:r>
          </a:p>
          <a:p>
            <a:pPr>
              <a:spcBef>
                <a:spcPts val="600"/>
              </a:spcBef>
              <a:defRPr/>
            </a:pPr>
            <a:r>
              <a:rPr lang="ru-RU" b="0" i="0" dirty="0">
                <a:solidFill>
                  <a:srgbClr val="000000"/>
                </a:solidFill>
                <a:latin typeface="Arial" pitchFamily="34" charset="0"/>
                <a:cs typeface="Arial" pitchFamily="34" charset="0"/>
              </a:rPr>
              <a:t>На рисунке на слайде показан пример информационно-ориентированной архитектуры. На этом рисунке серверы различных отделов организации подключены к системе хранения данных общего доступа по сети SAN, а клиенты подключаются к серверам по локальной или глобальной сети. При развертывании нового сервера в инфраструктуре этому серверу назначаются ресурсы хранения из того же общего пула устройств хранения данных. Можно динамически наращивать емкость хранения, не оказывая влияния на доступность информации, путем добавления в пул новых устройств хранения данных. Эта архитектура повышает общую эффективность использования емкости хранения и позволяет управлять информацией и ресурсами хранения более гибко и с минимальными затратами.</a:t>
            </a:r>
          </a:p>
        </p:txBody>
      </p:sp>
    </p:spTree>
    <p:extLst>
      <p:ext uri="{BB962C8B-B14F-4D97-AF65-F5344CB8AC3E}">
        <p14:creationId xmlns:p14="http://schemas.microsoft.com/office/powerpoint/2010/main" val="16434208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dirty="0">
                <a:solidFill>
                  <a:srgbClr val="000000"/>
                </a:solidFill>
                <a:latin typeface="Arial" pitchFamily="34" charset="0"/>
                <a:cs typeface="Arial" pitchFamily="34" charset="0"/>
              </a:rPr>
              <a:t>Магнитный диск представляет собой вращающийся носитель данных из немагнитного материала (обычно сплава), покрытый ферромагнитным материалом. Данные хранятся на обеих поверхностях магнитного диска (верхней и нижней), а их запись производится путем поляризации части поверхности диска. Дисковый накопитель представляет собой устройство с несколькими вращающимися магнитными дисками, называемыми пластинами и расположенными вертикально внутри металлического или пластикового корпуса. Каждая пластина снабжена быстро перемещающимся рычагом привода магнитных головок для чтения данных с диска и записи на диск. В настоящее время дисковые накопители — самые популярные носители информации, используемые для хранения данных и получения к ним доступа в приложениях с высокими требованиями к производительности. Диски поддерживают быстрый доступ к данным, расположенным в произвольных местах, и обеспечивают возможность быстрой записи или извлечения данных для нескольких одновременно работающих пользователей или приложений. Дисковые накопители используют стандартные протоколы, например, Advanced Technology Attachment (ATA), Serial ATA (SATA), Small Computer System Interface (SCSI), Serial Attached SCSI (SAS) и Fibre Channel (FC). Эти протоколы хранятся в контроллерах дискового интерфейса, которые обычно встроены в дисковые накопители. Каждый протокол обеспечивает уникальное сочетание характеристик производительности, стоимости и емкости дисков. </a:t>
            </a:r>
          </a:p>
          <a:p>
            <a:pPr>
              <a:spcBef>
                <a:spcPts val="600"/>
              </a:spcBef>
            </a:pPr>
            <a:r>
              <a:rPr lang="ru-RU" b="0" dirty="0">
                <a:solidFill>
                  <a:srgbClr val="000000"/>
                </a:solidFill>
                <a:latin typeface="Arial" pitchFamily="34" charset="0"/>
                <a:cs typeface="Arial" pitchFamily="34" charset="0"/>
              </a:rPr>
              <a:t>Твердотельный диск (SSD) использует для хранения данных память на основе полупроводников, например, микросхемы NAND и NOR. Твердотельные диски, известные также как «флэш-диски», обеспечивают сверхвысокое быстродействие, необходимое для приложений с высокими требованиями к производительности. В отличие от обычных механических дисковых накопителей эти устройства не содержат движущихся частей, и в них отсутствуют задержки, связанные с перемещением головок чтения-записи и вращением дисков. По сравнению с другими доступными устройствами хранения данных твердотельные диски обеспечивают относительно высокое число операций ввода-вывода в секунду (IOPS) с очень малым временем отклика. Кроме того, они потребляют меньше энергии и обычно имеют более длительный срок службы по сравнению с механическими дисковыми накопителями. Тем не менее, флэш-диски имеют самую высокую стоимость в расчете на гигабайт ($/Гбайт).</a:t>
            </a:r>
            <a:endParaRPr lang="en-US" b="0" dirty="0">
              <a:solidFill>
                <a:srgbClr val="000000"/>
              </a:solidFill>
              <a:latin typeface="Arial" pitchFamily="34" charset="0"/>
              <a:cs typeface="Arial" pitchFamily="34" charset="0"/>
            </a:endParaRPr>
          </a:p>
          <a:p>
            <a:pPr>
              <a:spcBef>
                <a:spcPts val="600"/>
              </a:spcBef>
            </a:pPr>
            <a:r>
              <a:rPr lang="ru-RU" i="1" dirty="0">
                <a:latin typeface="Arial" pitchFamily="34" charset="0"/>
                <a:cs typeface="Arial" pitchFamily="34" charset="0"/>
              </a:rPr>
              <a:t>Магнитная лента </a:t>
            </a:r>
            <a:r>
              <a:rPr lang="ru-RU" dirty="0">
                <a:latin typeface="Arial" pitchFamily="34" charset="0"/>
                <a:cs typeface="Arial" pitchFamily="34" charset="0"/>
              </a:rPr>
              <a:t>представляет собой тонкую длинную полосу пластиковой пленки, покрытую ферромагнитным материалом, например, ферритом бария. Эта лента упаковывается в пластиковые кассеты и картриджи. Ленточный накопитель — это устройство для записи данных на магнитную ленту и их извлечения. Ленточные накопители обеспечивают линейный последовательный доступ к данным для чтения и записи. Ленточный накопитель может быть автономным или входить в состав ленточной библиотеки. Ленточная библиотека включает один или несколько ленточных накопителей и ресурс хранения с рядом картриджей с магнитной лентой, вставленных в гнезда. Благодаря сравнительно низкой стоимости и удобству переноски лента часто используется в качестве носителя для долгосрочного хранения данных. Ленточные накопители обычно используются организациями для хранения больших объемов данных, например, для резервного копирования, создания автономных архивов и аварийного восстановления. Основными ограничивающими факторами при использовании ленты служат низкая скорость доступа к данным, обусловленная последовательным механизмом доступа, отсутствие возможности одновременного доступа к ленте нескольких приложений и ухудшение свойств поверхности ленты из-за постоянного контакта с головкой чтения-записи.</a:t>
            </a:r>
          </a:p>
          <a:p>
            <a:pPr>
              <a:spcBef>
                <a:spcPts val="600"/>
              </a:spcBef>
            </a:pPr>
            <a:r>
              <a:rPr lang="ru-RU" i="1" dirty="0">
                <a:latin typeface="Arial" pitchFamily="34" charset="0"/>
                <a:cs typeface="Arial" pitchFamily="34" charset="0"/>
              </a:rPr>
              <a:t>Оптический диск </a:t>
            </a:r>
            <a:r>
              <a:rPr lang="ru-RU" dirty="0">
                <a:latin typeface="Arial" pitchFamily="34" charset="0"/>
                <a:cs typeface="Arial" pitchFamily="34" charset="0"/>
              </a:rPr>
              <a:t>— это плоский круглый носитель информации, изготовленный из поликарбоната, одна из поверхностей которого имеет специальное отражающее покрытие (например, алюминиевое). Оптический дисковод использует записывающий лазер для записи данных на диск в виде микроскопических светлых и темных точек. Считывающий лазер считывает эти точки и генерирует электрические сигналы, представляющие эти данные. К самым распространенным типам оптических дисков относятся компакт-диски (CD), универсальные цифровые диски (DVD) и диски Blu-ray (BD). Эти диски могут записываемыми или перезаписываемыми. Записываемые или ROM-диски используют схему «одна запись, многократное чтение» и обычно применяются в качестве распространяемого носителя для приложений или как средство передачи небольших объемов данных из одной системы в другую. Ограниченная емкость и скорость оптических дисков сдерживают их использование в качестве универсального решения для хранения данных предприятия. Тем не менее, оптические диски высокой плотности иногда используют в качестве решения для хранения данных фиксированного содержания и архивных данных. Некоторые поставщики, использующие модель «хранение данных как услуга», предлагают возможность копирования файлов резервных копий на зашифрованные оптические диски и последующей отправки их потребителям.</a:t>
            </a:r>
          </a:p>
          <a:p>
            <a:pPr>
              <a:spcBef>
                <a:spcPts val="600"/>
              </a:spcBef>
            </a:pPr>
            <a:endParaRPr lang="ru-RU" b="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15993065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Виртуализация хранилища</a:t>
            </a:r>
            <a:r>
              <a:rPr lang="ru-RU" b="0" i="0" dirty="0">
                <a:solidFill>
                  <a:srgbClr val="000000"/>
                </a:solidFill>
                <a:latin typeface="Arial" pitchFamily="34" charset="0"/>
                <a:cs typeface="Arial" pitchFamily="34" charset="0"/>
              </a:rPr>
              <a:t> — это метод абстрагирования физических ресурсов хранения данных с целью создания виртуальных ресурсов хранения. Программное обеспечение для виртуализации хранилища способно объединять в пул и абстрагировать физические ресурсы хранения данных, а также представлять их в виде логических ресурсов хранения, например, виртуальных томов, файлов виртуальных дисков и виртуальных систем хранения. Программное обеспечение для виртуализации хранилища либо встроено в операционную среду системы хранения, либо установлено в независимой вычислительной системе, либо доступно в качестве функциональности гипервизора. Виртуализация хранилища будет подробно рассмотрена в модулях этого курса, посвященных системам хранения.</a:t>
            </a:r>
          </a:p>
        </p:txBody>
      </p:sp>
    </p:spTree>
    <p:extLst>
      <p:ext uri="{BB962C8B-B14F-4D97-AF65-F5344CB8AC3E}">
        <p14:creationId xmlns:p14="http://schemas.microsoft.com/office/powerpoint/2010/main" val="33146346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Под возможностью подключения имеются в виду пути передачи данных между компонентами ИТ-инфраструктуры для обмена информацией и совместного использования ресурсов. Два основных типа возможностей подключения предусматривают подключение между вычислительными системами, а также между вычислительной системой и системой хранения. </a:t>
            </a:r>
          </a:p>
        </p:txBody>
      </p:sp>
    </p:spTree>
    <p:extLst>
      <p:ext uri="{BB962C8B-B14F-4D97-AF65-F5344CB8AC3E}">
        <p14:creationId xmlns:p14="http://schemas.microsoft.com/office/powerpoint/2010/main" val="5569132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Для подключения вычислительной системы к вычислительной системе обычно используют протоколы на основе Internet Protocol (IP). Каждая физическая вычислительная система подключена к сети через одно или несколько устройств интерфейса хоста, называемых </a:t>
            </a:r>
            <a:r>
              <a:rPr lang="ru-RU" b="0" i="1" dirty="0">
                <a:solidFill>
                  <a:srgbClr val="000000"/>
                </a:solidFill>
                <a:latin typeface="Arial" pitchFamily="34" charset="0"/>
                <a:cs typeface="Arial" pitchFamily="34" charset="0"/>
              </a:rPr>
              <a:t>сетевыми картами</a:t>
            </a:r>
            <a:r>
              <a:rPr lang="ru-RU" b="0" i="0" dirty="0">
                <a:solidFill>
                  <a:srgbClr val="000000"/>
                </a:solidFill>
                <a:latin typeface="Arial" pitchFamily="34" charset="0"/>
                <a:cs typeface="Arial" pitchFamily="34" charset="0"/>
              </a:rPr>
              <a:t> (NIC). Для подключения обычно используют физические коммутаторы и маршрутизаторы. Коммутатор дает возможность различным вычислительным системам в сети связываться друг с другом. Маршрутизатор — это OSI-устройство 3-го уровня, которое позволяет различным сетям связываться друг с другом. Обычно в качестве сетевых кабелей используются медные и волоконно-оптические кабели. На приведенном на слайде рисунке показана сеть (локальная или глобальная), которая обеспечивает подключения между физическими вычислительными системами. Чтобы обеспечить требуемую производительность сети, необходимо убедиться в доступности соответствующих коммутаторов и маршрутизаторов с достаточной полосой пропускания и нужными портами.</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0347586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в основном обсуждается возможность подключения между вычислительными системами и системой хранения. Система хранения может быть подключена непосредственно к вычислительной системе или по сети хранения данных, как обсуждалось раньше в этом уроке. Возможность подключения и обмен данными между вычислительной системой и системой хранения обеспечиваются при посредстве физических компонентов и протоколов обмена данными. Физические компоненты, которые подключают вычислительную систему к системе хранения — это устройство интерфейса хоста, порт и кабель. </a:t>
            </a:r>
          </a:p>
          <a:p>
            <a:pPr>
              <a:spcBef>
                <a:spcPts val="600"/>
              </a:spcBef>
            </a:pPr>
            <a:r>
              <a:rPr lang="ru-RU" b="1" i="0" dirty="0">
                <a:solidFill>
                  <a:srgbClr val="000000"/>
                </a:solidFill>
                <a:latin typeface="Arial" pitchFamily="34" charset="0"/>
                <a:cs typeface="Arial" pitchFamily="34" charset="0"/>
              </a:rPr>
              <a:t>HBA-адаптер.</a:t>
            </a:r>
            <a:r>
              <a:rPr lang="ru-RU" b="0" i="0" dirty="0">
                <a:solidFill>
                  <a:srgbClr val="000000"/>
                </a:solidFill>
                <a:latin typeface="Arial" pitchFamily="34" charset="0"/>
                <a:cs typeface="Arial" pitchFamily="34" charset="0"/>
              </a:rPr>
              <a:t> </a:t>
            </a:r>
            <a:r>
              <a:rPr lang="ru-RU" b="0" i="1" dirty="0">
                <a:solidFill>
                  <a:srgbClr val="000000"/>
                </a:solidFill>
                <a:latin typeface="Arial" pitchFamily="34" charset="0"/>
                <a:cs typeface="Arial" pitchFamily="34" charset="0"/>
              </a:rPr>
              <a:t>HBA-адаптер</a:t>
            </a:r>
            <a:r>
              <a:rPr lang="ru-RU" b="0" i="0" dirty="0">
                <a:solidFill>
                  <a:srgbClr val="000000"/>
                </a:solidFill>
                <a:latin typeface="Arial" pitchFamily="34" charset="0"/>
                <a:cs typeface="Arial" pitchFamily="34" charset="0"/>
              </a:rPr>
              <a:t> — это устройство интерфейса хоста, которое подключает вычислительную систему к системе хранения или к сети хранения данных. Это плата со специализированной интегральной микросхемой (ASIC), которая выполняет функции интерфейса ввода-вывода между вычислительной системой и системой хранения, освобождая процессор от дополнительной рабочей нагрузки по обработке ввода-вывода. Обычно вычислительная система имеет несколько HBA-адаптеров. </a:t>
            </a:r>
          </a:p>
          <a:p>
            <a:pPr>
              <a:spcBef>
                <a:spcPts val="600"/>
              </a:spcBef>
            </a:pPr>
            <a:r>
              <a:rPr lang="ru-RU" b="1" i="0" dirty="0">
                <a:solidFill>
                  <a:srgbClr val="000000"/>
                </a:solidFill>
                <a:latin typeface="Arial" pitchFamily="34" charset="0"/>
                <a:cs typeface="Arial" pitchFamily="34" charset="0"/>
              </a:rPr>
              <a:t>Порт.</a:t>
            </a:r>
            <a:r>
              <a:rPr lang="ru-RU" b="0" i="0" dirty="0">
                <a:solidFill>
                  <a:srgbClr val="000000"/>
                </a:solidFill>
                <a:latin typeface="Arial" pitchFamily="34" charset="0"/>
                <a:cs typeface="Arial" pitchFamily="34" charset="0"/>
              </a:rPr>
              <a:t> Порт — это специализированный разъем, обеспечивающий возможность подключения между вычислительной системой и системой хранения. HBA-адаптер может иметь один или несколько портов для подключения вычислительной системы к системе хранения. Кабели подключают вычислительные системы к внутренним или внешним устройствам при помощи медного провода или оптоволокна.</a:t>
            </a:r>
          </a:p>
          <a:p>
            <a:pPr>
              <a:spcBef>
                <a:spcPts val="600"/>
              </a:spcBef>
            </a:pPr>
            <a:r>
              <a:rPr lang="ru-RU" b="1" i="0" dirty="0">
                <a:solidFill>
                  <a:srgbClr val="000000"/>
                </a:solidFill>
                <a:latin typeface="Arial" pitchFamily="34" charset="0"/>
                <a:cs typeface="Arial" pitchFamily="34" charset="0"/>
              </a:rPr>
              <a:t>Протокол.</a:t>
            </a:r>
            <a:r>
              <a:rPr lang="ru-RU" b="0" i="0" dirty="0">
                <a:solidFill>
                  <a:srgbClr val="000000"/>
                </a:solidFill>
                <a:latin typeface="Arial" pitchFamily="34" charset="0"/>
                <a:cs typeface="Arial" pitchFamily="34" charset="0"/>
              </a:rPr>
              <a:t> Протокол обеспечивает обмен данными между вычислительной системой и системой хранения. Протоколы реализуются при помощи устройств интерфейса (или контроллеров), имеющихся в устройстве-источнике и устройстве назначения. Для обмена данными между вычислительной системой и системой хранения чаще всего используют протоколы Integrated Device Electronics/Advanced Technology Attachment (IDE/ATA), Small Computer System Interface (SCSI), Fibre Channel (FC) и Internet Protocol (IP).</a:t>
            </a:r>
          </a:p>
          <a:p>
            <a:pPr>
              <a:spcBef>
                <a:spcPts val="600"/>
              </a:spcBef>
            </a:pPr>
            <a:endParaRPr lang="ru-RU" dirty="0">
              <a:latin typeface="Arial" pitchFamily="34" charset="0"/>
              <a:cs typeface="Arial" pitchFamily="34" charset="0"/>
            </a:endParaRPr>
          </a:p>
          <a:p>
            <a:pPr>
              <a:spcBef>
                <a:spcPts val="600"/>
              </a:spcBef>
            </a:pPr>
            <a:endParaRPr lang="ru-RU" dirty="0">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5096958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Integrated Device Electronics (IDE)/Advanced Technology Attachment (ATA) — это популярный стандартный протокол обмена данными, используемый для подключения устройств хранения данных (например, дисковых накопителей и оптических дисководов). Этот протокол поддерживает параллельную передачу данных и в связи с этим известен также как Parallel ATA (PATA), или просто ATA. Протокол IDE/ATA имеет несколько различных стандартов и названий. Ultra DMA/133-версия протокола ATA поддерживает пропускную способность 133 Мбайт/с. В конфигурации «ведущий-ведомый» интерфейс ATA поддерживает два устройства хранения данных, подключенных к одному коннектору. Тем не менее, если важно обеспечить высокую производительность дискового накопителя, не рекомендуется совместное использование одного порта двумя устройствами. </a:t>
            </a:r>
          </a:p>
          <a:p>
            <a:pPr>
              <a:spcBef>
                <a:spcPts val="600"/>
              </a:spcBef>
            </a:pPr>
            <a:r>
              <a:rPr lang="ru-RU" b="0" i="0" dirty="0">
                <a:solidFill>
                  <a:srgbClr val="000000"/>
                </a:solidFill>
                <a:latin typeface="Arial" pitchFamily="34" charset="0"/>
                <a:cs typeface="Arial" pitchFamily="34" charset="0"/>
              </a:rPr>
              <a:t>Последовательная версия этого протокола поддерживает однобитную последовательную передачу и известна под названием Serial ATA (SATA). Высокопроизводительный и недорогой протокол SATA в большинстве случаев заменил PATA в новых системах. Версия 3.2 протокола SATA обеспечивает скорость передачи данных до 16 Гбит/с.</a:t>
            </a:r>
          </a:p>
          <a:p>
            <a:pPr>
              <a:spcBef>
                <a:spcPts val="600"/>
              </a:spcBef>
            </a:pPr>
            <a:r>
              <a:rPr lang="ru-RU" b="0" i="0" dirty="0">
                <a:solidFill>
                  <a:srgbClr val="000000"/>
                </a:solidFill>
                <a:latin typeface="Arial" pitchFamily="34" charset="0"/>
                <a:cs typeface="Arial" pitchFamily="34" charset="0"/>
              </a:rPr>
              <a:t>SCSI возник как предпочтительный протокол для подключения в вычислительных системах высшего класса. Этот протокол поддерживает параллельную передачу и предлагает улучшенную производительность, масштабируемость и совместимость по сравнению с ATA. Однако высокая стоимость систем, в которых используется SCSI, ограничивает его популярность среди домашних пользователей или пользователей настольных ПК. С годами протокол SCSI был усовершенствован и теперь включает широкий круг связанных с ним технологий и стандартов. SCSI поддерживает до 16 устройств на одной шине и обеспечивает скорость передачи данных до 640 Мбайт/с (для версии Ultra-640).</a:t>
            </a:r>
          </a:p>
          <a:p>
            <a:pPr>
              <a:spcBef>
                <a:spcPts val="600"/>
              </a:spcBef>
            </a:pPr>
            <a:r>
              <a:rPr lang="ru-RU" b="0" i="0" dirty="0">
                <a:solidFill>
                  <a:srgbClr val="000000"/>
                </a:solidFill>
                <a:latin typeface="Arial" pitchFamily="34" charset="0"/>
                <a:cs typeface="Arial" pitchFamily="34" charset="0"/>
              </a:rPr>
              <a:t>Serial attached SCSI (SAS) — это последовательный протокол «точка-точка», представляющий собой альтернативу параллельному SCSI. Новая версия последовательного протокола SCSI (SAS 3.0) поддерживает скорость передачи данных до 12 Гбит/с.</a:t>
            </a:r>
            <a:endParaRPr lang="en-US" b="0" i="0" dirty="0">
              <a:solidFill>
                <a:srgbClr val="000000"/>
              </a:solidFill>
              <a:latin typeface="Arial" pitchFamily="34" charset="0"/>
              <a:cs typeface="Arial" pitchFamily="34" charset="0"/>
            </a:endParaRPr>
          </a:p>
          <a:p>
            <a:pPr>
              <a:spcBef>
                <a:spcPts val="600"/>
              </a:spcBef>
            </a:pPr>
            <a:r>
              <a:rPr lang="ru-RU" dirty="0">
                <a:latin typeface="Arial" pitchFamily="34" charset="0"/>
                <a:cs typeface="Arial" pitchFamily="34" charset="0"/>
              </a:rPr>
              <a:t>Fibre Channel — это широко используемый протокол для высокоскоростного обмена данными с устройством хранения данных. Интерфейс Fibre Channel обеспечивает скорость работы сети порядка гигабит в секунду. Он осуществляет последовательную передачу данных по медному проводу и волоконно-оптическому кабелю. Последняя версия интерфейса Fibre Channel «16FC» позволяет передавать данные со скоростью до 16 Гбит/с Протокол Fibre Channel и его функции более подробно рассматриваются в модуле 9 («Сеть хранения данных Fibre Channel (FC)»).</a:t>
            </a:r>
          </a:p>
          <a:p>
            <a:pPr>
              <a:spcBef>
                <a:spcPts val="600"/>
              </a:spcBef>
            </a:pPr>
            <a:r>
              <a:rPr lang="ru-RU" dirty="0">
                <a:latin typeface="Arial" pitchFamily="34" charset="0"/>
                <a:cs typeface="Arial" pitchFamily="34" charset="0"/>
              </a:rPr>
              <a:t>IP — это сетевой протокол, который традиционно использовался для трафика между вычислительными системами. С приходом новых технологий IP-сеть превратилась в перспективный вариант для обмена данными между вычислительной системой и системой хранения. IP предлагает несколько преимуществ с точки зрения стоимости и зрелости и позволяет организациям использовать свои существующие IP-сети. Протоколы iSCSI и FCIP служат типичным примером использования IP для обмена данными между вычислительной системой и системой хранения. Эти протоколы подробно рассматриваются в модуле 10 («Internet Protocol (IP) SAN»).</a:t>
            </a:r>
          </a:p>
          <a:p>
            <a:pPr>
              <a:spcBef>
                <a:spcPts val="600"/>
              </a:spcBef>
            </a:pPr>
            <a:endParaRPr lang="en-US" dirty="0">
              <a:latin typeface="Arial" pitchFamily="34" charset="0"/>
              <a:cs typeface="Arial" pitchFamily="34" charset="0"/>
            </a:endParaRPr>
          </a:p>
          <a:p>
            <a:pPr>
              <a:spcBef>
                <a:spcPts val="600"/>
              </a:spcBef>
            </a:pPr>
            <a:endParaRPr lang="en-US" dirty="0">
              <a:latin typeface="Arial" pitchFamily="34" charset="0"/>
              <a:cs typeface="Arial" pitchFamily="34" charset="0"/>
            </a:endParaRPr>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2746683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Виртуализация сети</a:t>
            </a:r>
            <a:r>
              <a:rPr lang="ru-RU" b="0" i="0" dirty="0">
                <a:solidFill>
                  <a:srgbClr val="000000"/>
                </a:solidFill>
                <a:latin typeface="Arial" pitchFamily="34" charset="0"/>
                <a:cs typeface="Arial" pitchFamily="34" charset="0"/>
              </a:rPr>
              <a:t> — это метод абстрагирования физических сетевых ресурсов с целью создания виртуальных сетевых ресурсов. Программное обеспечение для виртуализации сети либо встроено в операционную среду сетевого устройства, либо установлено в независимой вычислительной системе, либо доступно в качестве функциональности гипервизора. Программное обеспечение для виртуализации сети способно абстрагировать физические сетевые ресурсы (например, коммутаторы и маршрутизаторы) для создания виртуальных ресурсов (например, виртуальных коммутаторов). Кроме того, оно может разделять физическую сеть на несколько виртуальных сетей, например, на виртуальные локальные сети и виртуальные сети хранения данных. Виртуализация сети, доступная в качестве функциональности гипервизора, может эмулировать способность к сетевому подключению между виртуальными машинами (ВМ) в физической вычислительной системе. Кроме того, она позволяет создавать виртуальные коммутаторы, которые для ВМ выглядят как физические коммутаторы. Виртуализация сети будет рассмотрена позже в рамках этого курса в модулях 9 («Сеть хранения данных Fibre Channel (FC)»), 10 («Сеть хранения данных Internet Protocol (IP)») и 11 («Сеть хранения данных FC over Ethernet (FCoE)»).</a:t>
            </a:r>
          </a:p>
        </p:txBody>
      </p:sp>
    </p:spTree>
    <p:extLst>
      <p:ext uri="{BB962C8B-B14F-4D97-AF65-F5344CB8AC3E}">
        <p14:creationId xmlns:p14="http://schemas.microsoft.com/office/powerpoint/2010/main" val="33146346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было рассмотрено развитие архитектуры систем хранения и типы устройств хранения данных. Также рассматривались возможности подключения вычислительной системы к вычислительной системе и к системе хранения. Наконец, в этом уроке были рассмотрены различные протоколы подключения систем хранения.</a:t>
            </a:r>
            <a:endParaRPr lang="en-US" b="0" i="0" dirty="0">
              <a:solidFill>
                <a:srgbClr val="000000"/>
              </a:solidFill>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этом уроке рассматривается программно-определяемый центр обработки данных и его архитектура. Будут также рассмотрены программно-определяемый контроллер и преимущества программно-определяемой архитектуры.</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Программно-определяемый центр обработки данных</a:t>
            </a:r>
            <a:r>
              <a:rPr lang="ru-RU" b="0" i="0" dirty="0">
                <a:solidFill>
                  <a:srgbClr val="000000"/>
                </a:solidFill>
                <a:latin typeface="Arial" pitchFamily="34" charset="0"/>
                <a:cs typeface="Arial" pitchFamily="34" charset="0"/>
              </a:rPr>
              <a:t> — это архитектурный подход к ИТ-инфраструктуре, распространяющий концепции виртуализации (абстрагирование, создание пулов, автоматизацию и т. п.) на все ресурсы и сервисы ЦОД для реализации модели «ИТ как услуга» (ITaaS). Вычислительные ресурсы, ресурсы хранения, сети, сервисы безопасности и обеспечения доступности в программно-определяемом ЦОД объединяются в пулы, агрегируются и предоставляются как единая услуга. Управление услугами программно-определяемого ЦОД осуществляется с помощью интеллектуального ПО на базе политик.</a:t>
            </a:r>
          </a:p>
          <a:p>
            <a:pPr>
              <a:spcBef>
                <a:spcPts val="600"/>
              </a:spcBef>
            </a:pPr>
            <a:r>
              <a:rPr lang="ru-RU" b="0" i="0" dirty="0">
                <a:solidFill>
                  <a:srgbClr val="000000"/>
                </a:solidFill>
                <a:latin typeface="Arial" pitchFamily="34" charset="0"/>
                <a:cs typeface="Arial" pitchFamily="34" charset="0"/>
              </a:rPr>
              <a:t>Концепцию программно-определяемого ЦОД можно интерпретировать по-разному и реализовывать в различных версиях архитектур. Как правило, программно-определяемый ЦОД рассматривается как конгломерат компонентов виртуальной инфраструктуры, среди которых присутствуют программно-определяемая вычислительная система (виртуализация вычислительных ресурсов), программно-определяемая сеть (SDN) и программно-определяемая система хранения (SDS). Программно-определяемый ЦОД рассматривается как важный этап на пути к созданию полностью виртуализированного центра обработки данных и считается необходимой базовой инфраструктурой для перехода к третьей платформе.</a:t>
            </a:r>
          </a:p>
        </p:txBody>
      </p:sp>
    </p:spTree>
    <p:extLst>
      <p:ext uri="{BB962C8B-B14F-4D97-AF65-F5344CB8AC3E}">
        <p14:creationId xmlns:p14="http://schemas.microsoft.com/office/powerpoint/2010/main" val="8861620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Программно-определяемый подход отделяет функции контроля или управления от базовых компонентов и предоставляет их внешнему программному обеспечению. Внешнее программное обеспечение берет на себя операции управления и обеспечивает возможность централизованного управления компонентами инфраструктуры от различных производителей. </a:t>
            </a:r>
          </a:p>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общем случае, компонент физической инфраструктуры (вычислительный, сетевой или устройство хранения) имеет путь управления и путь передачи данных. </a:t>
            </a:r>
            <a:r>
              <a:rPr lang="ru-RU" b="0" i="1" dirty="0">
                <a:solidFill>
                  <a:srgbClr val="000000"/>
                </a:solidFill>
                <a:latin typeface="Arial" pitchFamily="34" charset="0"/>
                <a:cs typeface="Arial" pitchFamily="34" charset="0"/>
              </a:rPr>
              <a:t>Путь управления</a:t>
            </a:r>
            <a:r>
              <a:rPr lang="ru-RU" b="0" i="0" dirty="0">
                <a:solidFill>
                  <a:srgbClr val="000000"/>
                </a:solidFill>
                <a:latin typeface="Arial" pitchFamily="34" charset="0"/>
                <a:cs typeface="Arial" pitchFamily="34" charset="0"/>
              </a:rPr>
              <a:t> устанавливает политики для ресурсов и управляет ими, а </a:t>
            </a:r>
            <a:r>
              <a:rPr lang="ru-RU" b="0" i="1" dirty="0">
                <a:solidFill>
                  <a:srgbClr val="000000"/>
                </a:solidFill>
                <a:latin typeface="Arial" pitchFamily="34" charset="0"/>
                <a:cs typeface="Arial" pitchFamily="34" charset="0"/>
              </a:rPr>
              <a:t>путь передачи данных</a:t>
            </a:r>
            <a:r>
              <a:rPr lang="ru-RU" b="0" i="0" dirty="0">
                <a:solidFill>
                  <a:srgbClr val="000000"/>
                </a:solidFill>
                <a:latin typeface="Arial" pitchFamily="34" charset="0"/>
                <a:cs typeface="Arial" pitchFamily="34" charset="0"/>
              </a:rPr>
              <a:t> выполняет действительную передачу данных. Программно-определяемый подход отделяет путь управления от пути передачи данных. Благодаря абстрагированию пути управления функция управления ресурсами действует на уровне управления. Это дает возможность разбивать пулы ресурсов и управлять ими на основе уникальных политик. Такое разделение пути управления и пути передачи данных обеспечивает централизацию задач предоставления данных и управления ими при помощи программного обеспечения, которое является внешним для компонентов инфраструктуры. Это программное обеспечение работает в централизованной вычислительной системе или на автономном устройстве, называемом </a:t>
            </a:r>
            <a:r>
              <a:rPr lang="ru-RU" b="0" i="1" dirty="0">
                <a:solidFill>
                  <a:srgbClr val="000000"/>
                </a:solidFill>
                <a:latin typeface="Arial" pitchFamily="34" charset="0"/>
                <a:cs typeface="Arial" pitchFamily="34" charset="0"/>
              </a:rPr>
              <a:t>программно-определяемым контроллером</a:t>
            </a:r>
            <a:r>
              <a:rPr lang="ru-RU" b="0" i="0" dirty="0">
                <a:solidFill>
                  <a:srgbClr val="000000"/>
                </a:solidFill>
                <a:latin typeface="Arial" pitchFamily="34" charset="0"/>
                <a:cs typeface="Arial" pitchFamily="34" charset="0"/>
              </a:rPr>
              <a:t>. Рисунок на слайде служит иллюстрацией программно-определяемой архитектуры, в которой функция управления абстрагирована при помощи контроллера от компонентов базовой инфраструктуры. </a:t>
            </a:r>
          </a:p>
        </p:txBody>
      </p:sp>
    </p:spTree>
    <p:extLst>
      <p:ext uri="{BB962C8B-B14F-4D97-AF65-F5344CB8AC3E}">
        <p14:creationId xmlns:p14="http://schemas.microsoft.com/office/powerpoint/2010/main" val="3877539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0" i="1" dirty="0">
                <a:solidFill>
                  <a:srgbClr val="000000"/>
                </a:solidFill>
                <a:latin typeface="Arial" pitchFamily="34" charset="0"/>
                <a:cs typeface="Arial" pitchFamily="34" charset="0"/>
              </a:rPr>
              <a:t>Программно-определяемый контроллер</a:t>
            </a:r>
            <a:r>
              <a:rPr lang="ru-RU" b="0" i="0" dirty="0">
                <a:solidFill>
                  <a:srgbClr val="000000"/>
                </a:solidFill>
                <a:latin typeface="Arial" pitchFamily="34" charset="0"/>
                <a:cs typeface="Arial" pitchFamily="34" charset="0"/>
              </a:rPr>
              <a:t> — это программное обеспечение со встроенными интеллектуальными функциями, которое автоматизирует выделение ресурсов и настройку на основе определенных политик. Оно предоставляет организациям возможность динамически и единообразно изменять свою инфраструктуру и упрощает управление ею. Контроллер обнаруживает доступные базовые ресурсы и обеспечивает сводное представление ресурсов. Он абстрагирует базовые аппаратные ресурсы (вычислительные, сетевые и ресурсы хранения) и объединяет их в пул. Это обеспечивает быстрое выделение ресурсов из пула на основе предварительно определенных политик, которые соответствуют соглашениям об уровне обслуживания для различных потребителей.</a:t>
            </a:r>
          </a:p>
          <a:p>
            <a:pPr>
              <a:spcBef>
                <a:spcPts val="600"/>
              </a:spcBef>
              <a:defRPr/>
            </a:pPr>
            <a:r>
              <a:rPr lang="ru-RU" b="0" i="0" dirty="0">
                <a:solidFill>
                  <a:srgbClr val="000000"/>
                </a:solidFill>
                <a:latin typeface="Arial" pitchFamily="34" charset="0"/>
                <a:cs typeface="Arial" pitchFamily="34" charset="0"/>
              </a:rPr>
              <a:t>Контроллер предоставляет единую точку управления для всей инфраструктуры, обеспечивая возможность управления инфраструктурой на основе политик. Контроллер позволяет администратору использовать программный интерфейс для управления ресурсами, возможностями подключения узлов и потоком трафика; контролировать поведение базовых компонентов; единообразно применять политики ко всем компонентам инфраструктуры; обеспечивать безопасность. Кроме того, контроллер предоставляет интерфейсы, которые позволяют внешним для контроллера приложениям запрашивать ресурсы и получать к ним доступ как к услугам. </a:t>
            </a:r>
          </a:p>
          <a:p>
            <a:pPr marL="0" marR="0" indent="0" defTabSz="457200" rtl="0" eaLnBrk="1" fontAlgn="auto" latinLnBrk="0" hangingPunct="1">
              <a:spcBef>
                <a:spcPts val="600"/>
              </a:spcBef>
              <a:buClrTx/>
              <a:buSzTx/>
              <a:buFontTx/>
              <a:buNone/>
              <a:tabLst/>
              <a:defRPr/>
            </a:pPr>
            <a:endParaRPr lang="ru-RU" kern="1200" dirty="0">
              <a:solidFill>
                <a:schemeClr val="tx1"/>
              </a:solidFill>
              <a:latin typeface="Arial" pitchFamily="34" charset="0"/>
              <a:cs typeface="Arial" pitchFamily="34" charset="0"/>
            </a:endParaRPr>
          </a:p>
          <a:p>
            <a:pPr>
              <a:spcBef>
                <a:spcPts val="600"/>
              </a:spcBef>
              <a:defRPr/>
            </a:pPr>
            <a:endParaRPr lang="ru-RU" dirty="0">
              <a:latin typeface="Arial" pitchFamily="34" charset="0"/>
              <a:cs typeface="Arial" pitchFamily="34" charset="0"/>
            </a:endParaRPr>
          </a:p>
        </p:txBody>
      </p:sp>
    </p:spTree>
    <p:extLst>
      <p:ext uri="{BB962C8B-B14F-4D97-AF65-F5344CB8AC3E}">
        <p14:creationId xmlns:p14="http://schemas.microsoft.com/office/powerpoint/2010/main" val="17284449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Использование программно-определяемого центра обработки данных позволяет распространить виртуализацию на весь центр обработки данных и тем самым предоставляет организациям несколько преимуществ. Некоторые ключевые преимущества описаны ниже.</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Оперативность.</a:t>
            </a:r>
            <a:r>
              <a:rPr lang="ru-RU" b="0" i="0" dirty="0">
                <a:solidFill>
                  <a:srgbClr val="000000"/>
                </a:solidFill>
                <a:latin typeface="Arial" pitchFamily="34" charset="0"/>
                <a:cs typeface="Arial" pitchFamily="34" charset="0"/>
              </a:rPr>
              <a:t> Программно-определяемый центр обработки данных обеспечивает более быстрое выделение ресурсов на основе политик рабочей нагрузки. Потребители выделяют ресурсы инфраструктуры через портал самообслуживания. Это значительно повышает оперативность бизнеса. </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Экономичность.</a:t>
            </a:r>
            <a:r>
              <a:rPr lang="ru-RU" b="0" i="0" dirty="0">
                <a:solidFill>
                  <a:srgbClr val="000000"/>
                </a:solidFill>
                <a:latin typeface="Arial" pitchFamily="34" charset="0"/>
                <a:cs typeface="Arial" pitchFamily="34" charset="0"/>
              </a:rPr>
              <a:t> Программно-определяемый центр обработки данных позволяет организациям использовать стандартное оборудование и существующую инфраструктуру, что значительно снижает капитальные затраты. </a:t>
            </a:r>
          </a:p>
          <a:p>
            <a:pPr marR="0" defTabSz="457200" rtl="0" eaLnBrk="1" fontAlgn="auto" latinLnBrk="0" hangingPunct="1">
              <a:spcBef>
                <a:spcPts val="600"/>
              </a:spcBef>
              <a:buClrTx/>
              <a:buSzTx/>
              <a:tabLst/>
              <a:defRPr/>
            </a:pPr>
            <a:r>
              <a:rPr lang="ru-RU" b="1" i="0" dirty="0">
                <a:solidFill>
                  <a:srgbClr val="000000"/>
                </a:solidFill>
                <a:latin typeface="Arial" pitchFamily="34" charset="0"/>
                <a:cs typeface="Arial" pitchFamily="34" charset="0"/>
              </a:rPr>
              <a:t>Более эффективное управление.</a:t>
            </a:r>
            <a:r>
              <a:rPr lang="ru-RU" b="0" i="0" dirty="0">
                <a:solidFill>
                  <a:srgbClr val="000000"/>
                </a:solidFill>
                <a:latin typeface="Arial" pitchFamily="34" charset="0"/>
                <a:cs typeface="Arial" pitchFamily="34" charset="0"/>
              </a:rPr>
              <a:t> Программно-определяемый центр обработки данных обеспечивает более эффективное управление доступностью приложений и безопасностью за счет стратегического управления на основе политик. Программно-определяемый центр обработки данных предоставляет автоматизированные функции обеспечения непрерывности бизнеса и аварийного восстановления. Он также имеет функции обеспечения безопасности и соответствия требованиям регуляторов, использующие возможности виртуализации, а также обеспечивает поддержку выполнения операционной аналитики.</a:t>
            </a:r>
          </a:p>
          <a:p>
            <a:pPr>
              <a:spcBef>
                <a:spcPts val="600"/>
              </a:spcBef>
              <a:defRPr/>
            </a:pPr>
            <a:r>
              <a:rPr lang="ru-RU" b="1" i="0" dirty="0">
                <a:solidFill>
                  <a:srgbClr val="000000"/>
                </a:solidFill>
                <a:latin typeface="Arial" pitchFamily="34" charset="0"/>
                <a:cs typeface="Arial" pitchFamily="34" charset="0"/>
              </a:rPr>
              <a:t>Централизованное управление.</a:t>
            </a:r>
            <a:r>
              <a:rPr lang="ru-RU" b="0" i="0" dirty="0">
                <a:solidFill>
                  <a:srgbClr val="000000"/>
                </a:solidFill>
                <a:latin typeface="Arial" pitchFamily="34" charset="0"/>
                <a:cs typeface="Arial" pitchFamily="34" charset="0"/>
              </a:rPr>
              <a:t> Программно-определяемый центр обработки данных автоматизирован и работает под управлением интеллектуального программного обеспечения для управления ЦОД на основе политик. Это значительно упрощает стратегическое управление и операции. Единая унифицированная платформа управления позволяет осуществлять централизованный мониторинг и администрирование всех гетерогенных физических и виртуальных ресурсов, расположенных в разных регионах и в гибридных облаках. </a:t>
            </a:r>
          </a:p>
          <a:p>
            <a:pPr>
              <a:spcBef>
                <a:spcPts val="600"/>
              </a:spcBef>
              <a:defRPr/>
            </a:pPr>
            <a:r>
              <a:rPr lang="ru-RU" b="1" i="0" dirty="0">
                <a:solidFill>
                  <a:srgbClr val="000000"/>
                </a:solidFill>
                <a:latin typeface="Arial" pitchFamily="34" charset="0"/>
                <a:cs typeface="Arial" pitchFamily="34" charset="0"/>
              </a:rPr>
              <a:t>Гибкость</a:t>
            </a:r>
            <a:r>
              <a:rPr lang="ru-RU" b="0" i="0" dirty="0">
                <a:solidFill>
                  <a:srgbClr val="000000"/>
                </a:solidFill>
                <a:latin typeface="Arial" pitchFamily="34" charset="0"/>
                <a:cs typeface="Arial" pitchFamily="34" charset="0"/>
              </a:rPr>
              <a:t>. Программно-определяемый центр обработки данных предоставляет организациям возможность использовать по своему усмотрению разнородное стандартное оборудование и самые современные аппаратные технологии. Менее важные рабочие нагрузки можно запускать на стандартном оборудовании, а программные сервисы и критически важные приложения могут работать на более современной интеллектуальной инфраструктуре. Кроме того, программно-определяемый центр обработки данных поддерживает внедрение модели гибридного облака за счет использования стандартных протоколов и API.</a:t>
            </a:r>
          </a:p>
        </p:txBody>
      </p:sp>
    </p:spTree>
    <p:extLst>
      <p:ext uri="{BB962C8B-B14F-4D97-AF65-F5344CB8AC3E}">
        <p14:creationId xmlns:p14="http://schemas.microsoft.com/office/powerpoint/2010/main" val="26214579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этом уроке рассматривался программно-определяемый центр обработки данных и его архитектура. Были также рассмотрены программно-определяемый контроллер и преимущества программно-определяемой архитектуры.</a:t>
            </a:r>
            <a:endParaRPr lang="en-US" b="0" i="0" dirty="0">
              <a:solidFill>
                <a:srgbClr val="000000"/>
              </a:solidFill>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otes Placeholder 5"/>
          <p:cNvSpPr>
            <a:spLocks noGrp="1"/>
          </p:cNvSpPr>
          <p:nvPr>
            <p:ph type="body" sz="quarter" idx="10"/>
          </p:nvPr>
        </p:nvSpPr>
        <p:spPr/>
        <p:txBody>
          <a:bodyPr>
            <a:normAutofit/>
          </a:bodyPr>
          <a:lstStyle/>
          <a:p>
            <a:pPr>
              <a:spcBef>
                <a:spcPts val="600"/>
              </a:spcBef>
            </a:pPr>
            <a:r>
              <a:rPr lang="ru-RU" dirty="0">
                <a:solidFill>
                  <a:srgbClr val="000000"/>
                </a:solidFill>
                <a:latin typeface="Arial" pitchFamily="34" charset="0"/>
                <a:cs typeface="Arial" pitchFamily="34" charset="0"/>
              </a:rPr>
              <a:t>В разделе «Практическая реализация концепций» рассматриваются VCE Vblock, EMC VSPEX, VMware ESXi, VMware ThinApp, VMware Horizon и VMware NSX.</a:t>
            </a:r>
          </a:p>
          <a:p>
            <a:pPr>
              <a:spcBef>
                <a:spcPts val="600"/>
              </a:spcBef>
            </a:pPr>
            <a:r>
              <a:rPr lang="ru-RU" i="1" dirty="0">
                <a:solidFill>
                  <a:srgbClr val="000000"/>
                </a:solidFill>
                <a:latin typeface="Arial" pitchFamily="34" charset="0"/>
                <a:cs typeface="Arial" pitchFamily="34" charset="0"/>
              </a:rPr>
              <a:t>Примечание.</a:t>
            </a:r>
          </a:p>
          <a:p>
            <a:pPr fontAlgn="auto">
              <a:spcBef>
                <a:spcPts val="600"/>
              </a:spcBef>
              <a:defRPr/>
            </a:pPr>
            <a:r>
              <a:rPr lang="ru-RU" i="1" dirty="0">
                <a:solidFill>
                  <a:srgbClr val="000000"/>
                </a:solidFill>
                <a:latin typeface="Arial" pitchFamily="34" charset="0"/>
                <a:cs typeface="Arial" pitchFamily="34" charset="0"/>
              </a:rPr>
              <a:t>Актуальную информацию о продуктах VCE см. на сайте </a:t>
            </a:r>
            <a:r>
              <a:rPr lang="ru-RU" i="1" dirty="0">
                <a:solidFill>
                  <a:srgbClr val="000000"/>
                </a:solidFill>
                <a:latin typeface="Arial" pitchFamily="34" charset="0"/>
                <a:cs typeface="Arial" pitchFamily="34" charset="0"/>
                <a:hlinkClick r:id="rId3"/>
              </a:rPr>
              <a:t>www.vce.com</a:t>
            </a:r>
            <a:r>
              <a:rPr lang="ru-RU" i="1" dirty="0">
                <a:solidFill>
                  <a:srgbClr val="000000"/>
                </a:solidFill>
                <a:latin typeface="Arial" pitchFamily="34" charset="0"/>
                <a:cs typeface="Arial" pitchFamily="34" charset="0"/>
              </a:rPr>
              <a:t>.</a:t>
            </a:r>
          </a:p>
          <a:p>
            <a:pPr fontAlgn="auto">
              <a:spcBef>
                <a:spcPts val="600"/>
              </a:spcBef>
              <a:defRPr/>
            </a:pPr>
            <a:r>
              <a:rPr lang="ru-RU" i="1" dirty="0">
                <a:solidFill>
                  <a:srgbClr val="000000"/>
                </a:solidFill>
                <a:latin typeface="Arial" pitchFamily="34" charset="0"/>
                <a:cs typeface="Arial" pitchFamily="34" charset="0"/>
              </a:rPr>
              <a:t>Актуальную информацию о продуктах EMC см. на сайте </a:t>
            </a:r>
            <a:r>
              <a:rPr lang="ru-RU" i="1" dirty="0">
                <a:solidFill>
                  <a:srgbClr val="000000"/>
                </a:solidFill>
                <a:latin typeface="Arial" pitchFamily="34" charset="0"/>
                <a:cs typeface="Arial" pitchFamily="34" charset="0"/>
                <a:hlinkClick r:id="rId4"/>
              </a:rPr>
              <a:t>http://russia.emc.com</a:t>
            </a:r>
            <a:r>
              <a:rPr lang="ru-RU" i="1" dirty="0">
                <a:solidFill>
                  <a:srgbClr val="000000"/>
                </a:solidFill>
                <a:latin typeface="Arial" pitchFamily="34" charset="0"/>
                <a:cs typeface="Arial" pitchFamily="34" charset="0"/>
              </a:rPr>
              <a:t>.</a:t>
            </a:r>
          </a:p>
          <a:p>
            <a:pPr>
              <a:spcBef>
                <a:spcPts val="600"/>
              </a:spcBef>
            </a:pPr>
            <a:r>
              <a:rPr lang="ru-RU" i="1" dirty="0">
                <a:solidFill>
                  <a:srgbClr val="000000"/>
                </a:solidFill>
                <a:latin typeface="Arial" pitchFamily="34" charset="0"/>
                <a:cs typeface="Arial" pitchFamily="34" charset="0"/>
              </a:rPr>
              <a:t>Актуальную информацию о продуктах VMware см. на сайте </a:t>
            </a:r>
            <a:r>
              <a:rPr lang="ru-RU" i="1" dirty="0">
                <a:solidFill>
                  <a:srgbClr val="000000"/>
                </a:solidFill>
                <a:latin typeface="Arial" pitchFamily="34" charset="0"/>
                <a:cs typeface="Arial" pitchFamily="34" charset="0"/>
                <a:hlinkClick r:id="rId5"/>
              </a:rPr>
              <a:t>www.vmware.com</a:t>
            </a:r>
            <a:r>
              <a:rPr lang="ru-RU" i="1" dirty="0">
                <a:solidFill>
                  <a:srgbClr val="000000"/>
                </a:solidFill>
                <a:latin typeface="Arial" pitchFamily="34" charset="0"/>
                <a:cs typeface="Arial" pitchFamily="34" charset="0"/>
              </a:rPr>
              <a:t>.</a:t>
            </a:r>
          </a:p>
          <a:p>
            <a:pPr>
              <a:spcBef>
                <a:spcPts val="600"/>
              </a:spcBef>
            </a:pPr>
            <a:endParaRPr lang="en-US" i="1" dirty="0">
              <a:latin typeface="Arial" pitchFamily="34" charset="0"/>
              <a:cs typeface="Arial" pitchFamily="34" charset="0"/>
            </a:endParaRPr>
          </a:p>
          <a:p>
            <a:pPr>
              <a:spcBef>
                <a:spcPts val="600"/>
              </a:spcBef>
            </a:pPr>
            <a:endParaRPr lang="en-US" dirty="0">
              <a:latin typeface="Arial" pitchFamily="34" charset="0"/>
              <a:cs typeface="Arial" pitchFamily="34" charset="0"/>
            </a:endParaRPr>
          </a:p>
        </p:txBody>
      </p:sp>
      <p:sp>
        <p:nvSpPr>
          <p:cNvPr id="4" name="Slide Image Placeholder 6"/>
          <p:cNvSpPr>
            <a:spLocks noGrp="1" noRot="1" noChangeAspect="1"/>
          </p:cNvSpPr>
          <p:nvPr>
            <p:ph type="sldImg" idx="2"/>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914400" rtl="0" eaLnBrk="0" fontAlgn="base" latinLnBrk="0" hangingPunct="0">
              <a:spcBef>
                <a:spcPts val="600"/>
              </a:spcBef>
              <a:buClrTx/>
              <a:buSzTx/>
              <a:buFontTx/>
              <a:buNone/>
              <a:tabLst/>
              <a:defRPr/>
            </a:pPr>
            <a:r>
              <a:rPr lang="ru-RU" b="1" i="0" dirty="0">
                <a:solidFill>
                  <a:srgbClr val="000000"/>
                </a:solidFill>
                <a:latin typeface="Arial" pitchFamily="34" charset="0"/>
                <a:cs typeface="Arial" pitchFamily="34" charset="0"/>
              </a:rPr>
              <a:t>VCE Vblock</a:t>
            </a:r>
            <a:r>
              <a:rPr lang="ru-RU" b="0" i="0" dirty="0">
                <a:solidFill>
                  <a:srgbClr val="000000"/>
                </a:solidFill>
                <a:latin typeface="Arial" pitchFamily="34" charset="0"/>
                <a:cs typeface="Arial" pitchFamily="34" charset="0"/>
              </a:rPr>
              <a:t> — это полностью интегрированная ИТ-инфраструктура, предлагаемая компанией Virtual Computing Environment Company (VCE), которая включает вычислительные, сетевые продукты, продукты для хранения данных и виртуализации. Эти продукты предоставлены EMC (поставщик решения для хранения данных), VMware (поставщик решения для виртуализации) и Cisco (поставщик решения для сетевых и вычислительных ресурсов), которые сформировали коалицию для создания систем Vblock. Vblock — это интегрированное решение для создания ИТ-инфраструктуры, объединяющее в единый пакет вычислительные ресурсы, ресурсы хранения и сетевые ресурсы, средства виртуализации и обеспечения безопасности, а также программное обеспечение для управления. Это решение представляет собой автономный модуль, который ускоряет развертывание центра обработки данных или инфраструктуры третьей платформы. Системы Vblock имеют заранее заданную архитектуру, предварительно настроены и протестированы и обладают определенными атрибутами производительности и доступности. Система Vblock избавляет заказчиков от необходимости</a:t>
            </a:r>
            <a:r>
              <a:rPr lang="ru-RU" b="0" i="0" dirty="0">
                <a:solidFill>
                  <a:srgbClr val="FFC000"/>
                </a:solidFill>
                <a:latin typeface="Arial" pitchFamily="34" charset="0"/>
                <a:cs typeface="Arial" pitchFamily="34" charset="0"/>
              </a:rPr>
              <a:t> </a:t>
            </a:r>
            <a:r>
              <a:rPr lang="ru-RU" b="0" i="0" dirty="0">
                <a:solidFill>
                  <a:srgbClr val="000000"/>
                </a:solidFill>
                <a:latin typeface="Arial" pitchFamily="34" charset="0"/>
                <a:cs typeface="Arial" pitchFamily="34" charset="0"/>
              </a:rPr>
              <a:t>покупать и собирать воедино</a:t>
            </a:r>
            <a:r>
              <a:rPr lang="ru-RU" b="0" i="0" dirty="0">
                <a:solidFill>
                  <a:srgbClr val="FFC000"/>
                </a:solidFill>
                <a:latin typeface="Arial" pitchFamily="34" charset="0"/>
                <a:cs typeface="Arial" pitchFamily="34" charset="0"/>
              </a:rPr>
              <a:t> </a:t>
            </a:r>
            <a:r>
              <a:rPr lang="ru-RU" b="0" i="0" dirty="0">
                <a:solidFill>
                  <a:srgbClr val="000000"/>
                </a:solidFill>
                <a:latin typeface="Arial" pitchFamily="34" charset="0"/>
                <a:cs typeface="Arial" pitchFamily="34" charset="0"/>
              </a:rPr>
              <a:t>отдельные компоненты ИТ-инфраструктуры, предоставляя решение, которое прошло валидацию и подготовлено в заводских условиях к развертыванию и работе. Это обеспечивает значительную экономию средств и времени на развертывание при создании инфраструктуры центра обработки данных.</a:t>
            </a:r>
          </a:p>
          <a:p>
            <a:pPr defTabSz="914400" eaLnBrk="0" fontAlgn="base" hangingPunct="0">
              <a:spcBef>
                <a:spcPts val="600"/>
              </a:spcBef>
              <a:defRPr/>
            </a:pPr>
            <a:r>
              <a:rPr lang="ru-RU" b="1" i="0" dirty="0">
                <a:solidFill>
                  <a:srgbClr val="000000"/>
                </a:solidFill>
                <a:latin typeface="Arial" pitchFamily="34" charset="0"/>
                <a:cs typeface="Arial" pitchFamily="34" charset="0"/>
              </a:rPr>
              <a:t>EMC VSPEX</a:t>
            </a:r>
            <a:r>
              <a:rPr lang="ru-RU" b="0" i="0" dirty="0">
                <a:solidFill>
                  <a:srgbClr val="000000"/>
                </a:solidFill>
                <a:latin typeface="Arial" pitchFamily="34" charset="0"/>
                <a:cs typeface="Arial" pitchFamily="34" charset="0"/>
              </a:rPr>
              <a:t> — это комплексное решение для виртуализированной инфраструктуры, которое включает вычислительные, сетевые продукты, продукты для хранения данных, виртуализации и резервного копирования. В число поставщиков продуктов входят EMC, Brocade, Cisco, Citrix, Intel, Microsoft и VMware. VSPEX предлагает заказчикам возможность выбора гипервизора, вычислительных систем и сетевых компонентов. Благодаря этому заказчики могут гибко выбирать</a:t>
            </a:r>
            <a:r>
              <a:rPr lang="ru-RU" b="0" i="0" dirty="0">
                <a:solidFill>
                  <a:srgbClr val="FFC000"/>
                </a:solidFill>
                <a:latin typeface="Arial" pitchFamily="34" charset="0"/>
                <a:cs typeface="Arial" pitchFamily="34" charset="0"/>
              </a:rPr>
              <a:t> </a:t>
            </a:r>
            <a:r>
              <a:rPr lang="ru-RU" b="0" i="0" dirty="0">
                <a:solidFill>
                  <a:srgbClr val="000000"/>
                </a:solidFill>
                <a:latin typeface="Arial" pitchFamily="34" charset="0"/>
                <a:cs typeface="Arial" pitchFamily="34" charset="0"/>
              </a:rPr>
              <a:t>компоненты инфраструктуры, которые подходят к их существующим ИТ-инфраструктурам. EMC VSPEX — это готовое решение для виртуализации, ускоряющее</a:t>
            </a:r>
            <a:r>
              <a:rPr lang="ru-RU" b="0" i="0" dirty="0">
                <a:solidFill>
                  <a:srgbClr val="FFC000"/>
                </a:solidFill>
                <a:latin typeface="Arial" pitchFamily="34" charset="0"/>
                <a:cs typeface="Arial" pitchFamily="34" charset="0"/>
              </a:rPr>
              <a:t> </a:t>
            </a:r>
            <a:r>
              <a:rPr lang="ru-RU" b="0" i="0" dirty="0">
                <a:solidFill>
                  <a:srgbClr val="000000"/>
                </a:solidFill>
                <a:latin typeface="Arial" pitchFamily="34" charset="0"/>
                <a:cs typeface="Arial" pitchFamily="34" charset="0"/>
              </a:rPr>
              <a:t>развертывание инфраструктур центров обработки данных. Оно позволяет заказчикам выбирать по своему усмотрению гипервизор, вычислительную систему и сетевую технологию, наряду с унифицированными системами хранения EMC VNX и VNXe, а также решениями EMC для резервного копирования и восстановления. Валидация решения VSPEX гарантирует быстрое развертывание с минимальными рисками вне зависимости от выбранных заказчиком гипервизоров, вычислительных систем и сетевых технологий. VSPEX значительно снижает трудоемкость этапов планирования, определения конфигурации и настройки, обычно сопровождающих проектирование, интеграцию и развертывание лучшего в своем классе решения. В отличие от систем Vblock решение VSPEX не предлагает возможностей унифицированного управления. Оно включает инструменты управления элементами, в частности Microsoft System Center, VMware vCenter Operations Management Suite и EMC Unisphere. Но оно предлагает заказчиками возможность выбора сервисных элементов, составляющих данное решение. </a:t>
            </a:r>
          </a:p>
        </p:txBody>
      </p:sp>
    </p:spTree>
    <p:extLst>
      <p:ext uri="{BB962C8B-B14F-4D97-AF65-F5344CB8AC3E}">
        <p14:creationId xmlns:p14="http://schemas.microsoft.com/office/powerpoint/2010/main" val="14152231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1" i="0" dirty="0">
                <a:solidFill>
                  <a:srgbClr val="000000"/>
                </a:solidFill>
                <a:latin typeface="Arial" pitchFamily="34" charset="0"/>
                <a:cs typeface="Arial" pitchFamily="34" charset="0"/>
              </a:rPr>
              <a:t>VMware ESXi</a:t>
            </a:r>
            <a:r>
              <a:rPr lang="ru-RU" b="0" i="0" dirty="0">
                <a:solidFill>
                  <a:srgbClr val="000000"/>
                </a:solidFill>
                <a:latin typeface="Arial" pitchFamily="34" charset="0"/>
                <a:cs typeface="Arial" pitchFamily="34" charset="0"/>
              </a:rPr>
              <a:t> представляет собой автономный гипервизор. ESXi имеет компактную архитектуру, предназначенную для интеграции непосредственно в оборудование вычислительной системы, оптимизированной для виртуализации. Это обеспечивает его быструю установку, настройку и развертывание. ESXi абстрагирует процессор, память, систему хранения и сетевые ресурсы, создавая на их основе несколько виртуальных машин, на которых запущены неизмененные операционные системы и приложения. Архитектура ESXi включает базовую операционную систему, называемую</a:t>
            </a:r>
            <a:r>
              <a:rPr lang="ru-RU" b="0" i="0" dirty="0">
                <a:solidFill>
                  <a:srgbClr val="FF0000"/>
                </a:solidFill>
                <a:latin typeface="Arial" pitchFamily="34" charset="0"/>
                <a:cs typeface="Arial" pitchFamily="34" charset="0"/>
              </a:rPr>
              <a:t> </a:t>
            </a:r>
            <a:r>
              <a:rPr lang="ru-RU" b="0" i="0" dirty="0">
                <a:solidFill>
                  <a:srgbClr val="000000"/>
                </a:solidFill>
                <a:latin typeface="Arial" pitchFamily="34" charset="0"/>
                <a:cs typeface="Arial" pitchFamily="34" charset="0"/>
              </a:rPr>
              <a:t>VMkernel, которая предоставляет средства для запуска приложений для управления и ВМ. VMkernel контролирует все аппаратные ресурсы в вычислительной системе и управляет ресурсами для приложений. Она предоставляет базовую функциональность ОС, например, управление процессами, файловую систему, планирование ресурсов и драйверы устройств. </a:t>
            </a:r>
          </a:p>
          <a:p>
            <a:pPr>
              <a:spcBef>
                <a:spcPts val="600"/>
              </a:spcBef>
            </a:pPr>
            <a:r>
              <a:rPr lang="ru-RU" b="1" i="0" dirty="0">
                <a:solidFill>
                  <a:srgbClr val="000000"/>
                </a:solidFill>
                <a:latin typeface="Arial" pitchFamily="34" charset="0"/>
                <a:cs typeface="Arial" pitchFamily="34" charset="0"/>
              </a:rPr>
              <a:t>VMware ThinApp</a:t>
            </a:r>
            <a:r>
              <a:rPr lang="ru-RU" b="0" i="0" dirty="0">
                <a:solidFill>
                  <a:srgbClr val="000000"/>
                </a:solidFill>
                <a:latin typeface="Arial" pitchFamily="34" charset="0"/>
                <a:cs typeface="Arial" pitchFamily="34" charset="0"/>
              </a:rPr>
              <a:t> — это решение для виртуализации приложений. ThinApp инкапсулирует приложение вместе с необходимыми ему ресурсами в единый пакет, который можно развертывать, обновлять и управлять им независимо от базовой ОС. Приложение ThinApp представляет собой одиночный исполняемый файл, которые можно запустить для исполнения непосредственно в вычислительной системе. Можно распространять пакет приложения в инфраструктуре организации из централизованного расположения, например, из облака. Приложения ThinApp могут выполняться в двух режимах: в развернутом режиме или в режиме потоковой передачи. В обоих случаях программный агент на конечном устройстве не требуется. В развернутом режиме пакеты ThinApp копируются в вычислительную систему, которая затем выполняет пакет локально. В развернутом режиме приложение может работать независимо от доступности сетевых подключений. В режиме потоковой передачи выполняется потоковая передача приложения по сети из централизованного расположения в вычислительную систему.</a:t>
            </a:r>
          </a:p>
        </p:txBody>
      </p:sp>
    </p:spTree>
    <p:extLst>
      <p:ext uri="{BB962C8B-B14F-4D97-AF65-F5344CB8AC3E}">
        <p14:creationId xmlns:p14="http://schemas.microsoft.com/office/powerpoint/2010/main" val="14152231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defRPr/>
            </a:pPr>
            <a:r>
              <a:rPr lang="ru-RU" b="1" i="0" dirty="0">
                <a:solidFill>
                  <a:srgbClr val="000000"/>
                </a:solidFill>
                <a:latin typeface="Arial" pitchFamily="34" charset="0"/>
                <a:cs typeface="Arial" pitchFamily="34" charset="0"/>
              </a:rPr>
              <a:t>VMware Horizon</a:t>
            </a:r>
            <a:r>
              <a:rPr lang="ru-RU" b="0" i="0" dirty="0">
                <a:solidFill>
                  <a:srgbClr val="000000"/>
                </a:solidFill>
                <a:latin typeface="Arial" pitchFamily="34" charset="0"/>
                <a:cs typeface="Arial" pitchFamily="34" charset="0"/>
              </a:rPr>
              <a:t> — это решение для VDI, которое предоставляет конечным пользователям виртуализированные или размещенные на сервере рабочие места и приложения в рамках единой платформы. Доступ к этим службам рабочих мест и приложений — включая RDS, размещенные на сервере приложения, пакетные приложения с VMware ThinApp и приложения SaaS — можно получать из единого унифицированного рабочего пространства, объединяющего различные устройства и местоположения. Horizon предоставляет ИТ-службе оптимизированный подход к предоставлению, защите и управлению рабочими местами и приложениями, сдерживая затраты и обеспечивая работу конечных пользователей в любое время, из любого места и с любого устройства. Horizon поддерживает рабочие места как на базе Windows, так и Linux.</a:t>
            </a:r>
          </a:p>
          <a:p>
            <a:pPr>
              <a:spcBef>
                <a:spcPts val="600"/>
              </a:spcBef>
            </a:pPr>
            <a:r>
              <a:rPr lang="ru-RU" b="1" i="0" dirty="0">
                <a:solidFill>
                  <a:srgbClr val="000000"/>
                </a:solidFill>
                <a:latin typeface="Arial" pitchFamily="34" charset="0"/>
                <a:cs typeface="Arial" pitchFamily="34" charset="0"/>
              </a:rPr>
              <a:t>VMware NSX</a:t>
            </a:r>
            <a:r>
              <a:rPr lang="ru-RU" b="0" i="0" dirty="0">
                <a:solidFill>
                  <a:srgbClr val="000000"/>
                </a:solidFill>
                <a:latin typeface="Arial" pitchFamily="34" charset="0"/>
                <a:cs typeface="Arial" pitchFamily="34" charset="0"/>
              </a:rPr>
              <a:t> — это платформа для виртуализации сети, предназначенная для программно-определяемых центров обработки данных. Аналогично виртуальным машинам для вычислительных систем, выделение ресурсов виртуальных сетей и управление ими осуществляется программными средствами независимо от базового оборудования NSX воспроизводит модель всей сети в программном обеспечении, позволяя создавать и выделять сетевые ресурсы с любой топологией — от простых до сложных многоуровневых сетей. Она позволяет создать библиотеку логических сетевых элементов и сервисов, таких как логические коммутаторы, маршрутизаторы, брандмауэры, балансировщики нагрузки, сети VPN и безопасность рабочих нагрузок. Пользователи могут создавать изолированные виртуальные сети, используя настраиваемые сочетания этих функциональностей. NSX идеально подходит для центров обработки данных с более чем 500 виртуальными машинами, для многопользовательских облаков, крупных частных облаков предприятий и облаков, предназначенных для исследований и разработок, а также для облачных инфраструктур с несколькими гипервизорами. </a:t>
            </a:r>
          </a:p>
        </p:txBody>
      </p:sp>
    </p:spTree>
    <p:extLst>
      <p:ext uri="{BB962C8B-B14F-4D97-AF65-F5344CB8AC3E}">
        <p14:creationId xmlns:p14="http://schemas.microsoft.com/office/powerpoint/2010/main" val="2480411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defRPr/>
            </a:pPr>
            <a:r>
              <a:rPr lang="ru-RU" b="0" i="0" dirty="0">
                <a:solidFill>
                  <a:srgbClr val="000000"/>
                </a:solidFill>
                <a:latin typeface="Arial" pitchFamily="34" charset="0"/>
                <a:cs typeface="Arial" pitchFamily="34" charset="0"/>
              </a:rPr>
              <a:t>В этом модуле были рассмотрены строительные блоки среды центра обработки данных. Были рассмотрены также вычислительная система, ее компоненты и типы. Кроме того, были рассмотрены виртуализация вычислительных ресурсов, приложений и рабочих мест. Помимо этого, в данном модуле был представлен обзор ресурсов хранения и возможностей подключения в центре обработки данных. Наконец, в этом модуле был представлен обзор программно-определяемого центра обработки данных.</a:t>
            </a:r>
          </a:p>
          <a:p>
            <a:pPr>
              <a:spcBef>
                <a:spcPts val="600"/>
              </a:spcBef>
            </a:pPr>
            <a:r>
              <a:rPr lang="ru-RU" b="0" i="0" dirty="0">
                <a:solidFill>
                  <a:srgbClr val="000000"/>
                </a:solidFill>
                <a:latin typeface="Arial" pitchFamily="34" charset="0"/>
                <a:cs typeface="Arial" pitchFamily="34" charset="0"/>
              </a:rPr>
              <a:t>Курс завершен.</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7037498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normAutofit/>
          </a:bodyPr>
          <a:lstStyle/>
          <a:p>
            <a:endParaRPr lang="en-US">
              <a:latin typeface="Arial" pitchFamily="34" charset="0"/>
              <a:cs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8972343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5"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28807" y="3105151"/>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4038600" y="4933950"/>
            <a:ext cx="3657602" cy="1538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a:t>
            </a:r>
            <a:r>
              <a:rPr lang="en-US" sz="1000" b="0" i="0" baseline="0" dirty="0">
                <a:solidFill>
                  <a:srgbClr val="000000"/>
                </a:solidFill>
                <a:latin typeface="Arial" pitchFamily="34" charset="0"/>
                <a:cs typeface="Arial" pitchFamily="34" charset="0"/>
                <a:hlinkClick r:id="rId3"/>
              </a:rPr>
              <a:t> </a:t>
            </a:r>
            <a:r>
              <a:rPr lang="ru-RU" sz="1000" b="0" i="0" dirty="0">
                <a:solidFill>
                  <a:srgbClr val="000000"/>
                </a:solidFill>
                <a:latin typeface="Arial" pitchFamily="34" charset="0"/>
                <a:cs typeface="Arial" pitchFamily="34" charset="0"/>
                <a:hlinkClick r:id="rId3"/>
              </a:rPr>
              <a:t>Services</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49913" y="4100959"/>
            <a:ext cx="813087" cy="106159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TextBox 4"/>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TextBox 5"/>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TextBox 7"/>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5" name="TextBox 4"/>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5"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Box 8"/>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6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9"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9"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6"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xercis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75008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ru-RU" sz="1800" b="0" i="0" dirty="0">
                <a:solidFill>
                  <a:srgbClr val="000000"/>
                </a:solidFill>
              </a:rPr>
              <a:t>Этот слайд намеренно оставлен пустым.</a:t>
            </a:r>
          </a:p>
        </p:txBody>
      </p:sp>
      <p:sp>
        <p:nvSpPr>
          <p:cNvPr id="5" name="TextBox 4"/>
          <p:cNvSpPr txBox="1"/>
          <p:nvPr userDrawn="1"/>
        </p:nvSpPr>
        <p:spPr bwMode="gray">
          <a:xfrm>
            <a:off x="6202431"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8"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4267200" y="4933950"/>
            <a:ext cx="3352800" cy="1539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sp>
        <p:nvSpPr>
          <p:cNvPr id="5" name="Slide Number Placeholder 4"/>
          <p:cNvSpPr>
            <a:spLocks noGrp="1"/>
          </p:cNvSpPr>
          <p:nvPr>
            <p:ph type="sldNum" sz="quarter" idx="11"/>
          </p:nvPr>
        </p:nvSpPr>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6200" y="4086561"/>
            <a:ext cx="923925" cy="1080641"/>
          </a:xfrm>
          <a:prstGeom prst="rect">
            <a:avLst/>
          </a:prstGeom>
        </p:spPr>
      </p:pic>
    </p:spTree>
    <p:custDataLst>
      <p:tags r:id="rId1"/>
    </p:custDataLst>
    <p:extLst>
      <p:ext uri="{BB962C8B-B14F-4D97-AF65-F5344CB8AC3E}">
        <p14:creationId xmlns:p14="http://schemas.microsoft.com/office/powerpoint/2010/main" val="1974467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999914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40007225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054159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a:xfrm>
            <a:off x="8610600" y="4887913"/>
            <a:ext cx="381000" cy="274637"/>
          </a:xfrm>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extBox 5"/>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9234987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7" name="TextBox 6"/>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7390711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351536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0999862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367306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0122159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6832173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2660354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37985234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2320489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eedback  ">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pic>
        <p:nvPicPr>
          <p:cNvPr id="6" name="Picture 10"/>
          <p:cNvPicPr>
            <a:picLocks noChangeAspect="1" noChangeArrowheads="1"/>
          </p:cNvPicPr>
          <p:nvPr userDrawn="1"/>
        </p:nvPicPr>
        <p:blipFill>
          <a:blip r:embed="rId3" cstate="print">
            <a:lum bright="70000" contrast="-70000"/>
          </a:blip>
          <a:srcRect/>
          <a:stretch>
            <a:fillRect/>
          </a:stretch>
        </p:blipFill>
        <p:spPr bwMode="auto">
          <a:xfrm>
            <a:off x="1828800" y="1123950"/>
            <a:ext cx="3754579" cy="2514600"/>
          </a:xfrm>
          <a:prstGeom prst="rect">
            <a:avLst/>
          </a:prstGeom>
          <a:noFill/>
          <a:ln w="28575" algn="ctr">
            <a:noFill/>
            <a:miter lim="800000"/>
            <a:headEnd/>
            <a:tailEnd/>
          </a:ln>
        </p:spPr>
      </p:pic>
      <p:sp>
        <p:nvSpPr>
          <p:cNvPr id="8" name="Rounded Rectangle 7"/>
          <p:cNvSpPr/>
          <p:nvPr userDrawn="1"/>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b="0" i="0" dirty="0">
                <a:solidFill>
                  <a:srgbClr val="FFFFFF"/>
                </a:solidFill>
                <a:latin typeface="Arial" pitchFamily="18" charset="0"/>
              </a:rPr>
              <a:t>Отправить отзыв</a:t>
            </a:r>
          </a:p>
        </p:txBody>
      </p:sp>
      <p:sp>
        <p:nvSpPr>
          <p:cNvPr id="9"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custDataLst>
      <p:tags r:id="rId1"/>
    </p:custDataLst>
    <p:extLst>
      <p:ext uri="{BB962C8B-B14F-4D97-AF65-F5344CB8AC3E}">
        <p14:creationId xmlns:p14="http://schemas.microsoft.com/office/powerpoint/2010/main" val="1157618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143792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
        <p:nvSpPr>
          <p:cNvPr id="6" name="TextBox 5"/>
          <p:cNvSpPr txBox="1"/>
          <p:nvPr userDrawn="1"/>
        </p:nvSpPr>
        <p:spPr bwMode="gray">
          <a:xfrm>
            <a:off x="6019800" y="4994017"/>
            <a:ext cx="1798569" cy="92333"/>
          </a:xfrm>
          <a:prstGeom prst="rect">
            <a:avLst/>
          </a:prstGeom>
          <a:noFill/>
        </p:spPr>
        <p:txBody>
          <a:bodyPr wrap="none" lIns="0" tIns="0" rIns="0" bIns="0" rtlCol="0">
            <a:spAutoFit/>
          </a:bodyPr>
          <a:lstStyle/>
          <a:p>
            <a:pPr rtl="0"/>
            <a:r>
              <a:rPr lang="ru-RU" sz="600" kern="1200" baseline="0" dirty="0">
                <a:solidFill>
                  <a:schemeClr val="accent4">
                    <a:lumMod val="50000"/>
                  </a:schemeClr>
                </a:solidFill>
                <a:latin typeface="Arial" pitchFamily="34" charset="0"/>
                <a:ea typeface="+mn-ea"/>
                <a:cs typeface="Arial" pitchFamily="34" charset="0"/>
              </a:rPr>
              <a:t>ISM v3 модуль 3: среда центра обработки данных</a:t>
            </a:r>
          </a:p>
        </p:txBody>
      </p:sp>
    </p:spTree>
    <p:extLst>
      <p:ext uri="{BB962C8B-B14F-4D97-AF65-F5344CB8AC3E}">
        <p14:creationId xmlns:p14="http://schemas.microsoft.com/office/powerpoint/2010/main" val="4042837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ags" Target="../tags/tag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00039" y="5013995"/>
            <a:ext cx="1804981"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600" b="0" i="0" kern="1200" dirty="0">
                <a:solidFill>
                  <a:srgbClr val="717073"/>
                </a:solidFill>
                <a:latin typeface="Arial" pitchFamily="34" charset="0"/>
                <a:ea typeface="+mn-ea"/>
                <a:cs typeface="Arial" pitchFamily="34" charset="0"/>
              </a:rPr>
              <a:t>© </a:t>
            </a:r>
            <a:r>
              <a:rPr lang="ru-RU" sz="600" b="0" i="0" kern="1200" dirty="0">
                <a:solidFill>
                  <a:srgbClr val="717073"/>
                </a:solidFill>
                <a:latin typeface="Arial" pitchFamily="34" charset="0"/>
                <a:ea typeface="+mn-ea"/>
                <a:cs typeface="Arial" pitchFamily="34" charset="0"/>
              </a:rPr>
              <a:t>К</a:t>
            </a:r>
            <a:r>
              <a:rPr lang="ru-RU" sz="600" b="0" i="0" dirty="0">
                <a:solidFill>
                  <a:srgbClr val="717073"/>
                </a:solidFill>
                <a:latin typeface="Arial" pitchFamily="34" charset="0"/>
                <a:cs typeface="Arial" pitchFamily="34" charset="0"/>
              </a:rPr>
              <a:t>орпорация EMC, 2015 г. Все права защищены.</a:t>
            </a: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229162" y="4438650"/>
            <a:ext cx="533838" cy="709502"/>
          </a:xfrm>
          <a:prstGeom prst="rect">
            <a:avLst/>
          </a:prstGeom>
        </p:spPr>
      </p:pic>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5" r:id="rId15"/>
    <p:sldLayoutId id="2147483771" r:id="rId16"/>
    <p:sldLayoutId id="2147483768"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1"/>
            <a:ext cx="1804981"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600" b="0" i="0" kern="1200" dirty="0">
                <a:solidFill>
                  <a:srgbClr val="717073"/>
                </a:solidFill>
                <a:latin typeface="Arial" pitchFamily="34" charset="0"/>
                <a:ea typeface="+mn-ea"/>
                <a:cs typeface="Arial" pitchFamily="34" charset="0"/>
              </a:rPr>
              <a:t>©</a:t>
            </a:r>
            <a:r>
              <a:rPr lang="ru-RU" sz="600" b="0" i="0" dirty="0">
                <a:solidFill>
                  <a:srgbClr val="717073"/>
                </a:solidFill>
                <a:latin typeface="Arial" pitchFamily="34" charset="0"/>
                <a:cs typeface="Arial" pitchFamily="34" charset="0"/>
              </a:rPr>
              <a:t> Корпорация EMC, 2015 г. Все права защищены.</a:t>
            </a:r>
          </a:p>
        </p:txBody>
      </p:sp>
      <p:sp>
        <p:nvSpPr>
          <p:cNvPr id="4" name="Slide Number Placeholder 3"/>
          <p:cNvSpPr>
            <a:spLocks noGrp="1"/>
          </p:cNvSpPr>
          <p:nvPr>
            <p:ph type="sldNum" sz="quarter" idx="4"/>
          </p:nvPr>
        </p:nvSpPr>
        <p:spPr>
          <a:xfrm>
            <a:off x="8763000" y="4857750"/>
            <a:ext cx="381000" cy="274637"/>
          </a:xfrm>
          <a:prstGeom prst="rect">
            <a:avLst/>
          </a:prstGeom>
        </p:spPr>
        <p:txBody>
          <a:bodyPr vert="horz" lIns="91440" tIns="45720" rIns="91440" bIns="45720" rtlCol="0" anchor="ctr"/>
          <a:lstStyle>
            <a:lvl1pPr algn="r">
              <a:defRPr sz="600">
                <a:solidFill>
                  <a:schemeClr val="tx1">
                    <a:tint val="75000"/>
                  </a:schemeClr>
                </a:solidFill>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Tree>
    <p:custDataLst>
      <p:tags r:id="rId19"/>
    </p:custDataLst>
    <p:extLst>
      <p:ext uri="{BB962C8B-B14F-4D97-AF65-F5344CB8AC3E}">
        <p14:creationId xmlns:p14="http://schemas.microsoft.com/office/powerpoint/2010/main" val="3608203162"/>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4.xml.rels><?xml version="1.0" encoding="UTF-8" standalone="yes"?>
<Relationships xmlns="http://schemas.openxmlformats.org/package/2006/relationships"><Relationship Id="rId13" Type="http://schemas.openxmlformats.org/officeDocument/2006/relationships/tags" Target="../tags/tag52.xml"/><Relationship Id="rId18" Type="http://schemas.openxmlformats.org/officeDocument/2006/relationships/tags" Target="../tags/tag57.xml"/><Relationship Id="rId26" Type="http://schemas.openxmlformats.org/officeDocument/2006/relationships/tags" Target="../tags/tag65.xml"/><Relationship Id="rId21" Type="http://schemas.openxmlformats.org/officeDocument/2006/relationships/tags" Target="../tags/tag60.xml"/><Relationship Id="rId34" Type="http://schemas.openxmlformats.org/officeDocument/2006/relationships/tags" Target="../tags/tag73.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tags" Target="../tags/tag56.xml"/><Relationship Id="rId25" Type="http://schemas.openxmlformats.org/officeDocument/2006/relationships/tags" Target="../tags/tag64.xml"/><Relationship Id="rId33" Type="http://schemas.openxmlformats.org/officeDocument/2006/relationships/tags" Target="../tags/tag72.xml"/><Relationship Id="rId38" Type="http://schemas.openxmlformats.org/officeDocument/2006/relationships/image" Target="../media/image5.png"/><Relationship Id="rId2" Type="http://schemas.openxmlformats.org/officeDocument/2006/relationships/tags" Target="../tags/tag41.xml"/><Relationship Id="rId16" Type="http://schemas.openxmlformats.org/officeDocument/2006/relationships/tags" Target="../tags/tag55.xml"/><Relationship Id="rId20" Type="http://schemas.openxmlformats.org/officeDocument/2006/relationships/tags" Target="../tags/tag59.xml"/><Relationship Id="rId29" Type="http://schemas.openxmlformats.org/officeDocument/2006/relationships/tags" Target="../tags/tag68.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24" Type="http://schemas.openxmlformats.org/officeDocument/2006/relationships/tags" Target="../tags/tag63.xml"/><Relationship Id="rId32" Type="http://schemas.openxmlformats.org/officeDocument/2006/relationships/tags" Target="../tags/tag71.xml"/><Relationship Id="rId37" Type="http://schemas.openxmlformats.org/officeDocument/2006/relationships/notesSlide" Target="../notesSlides/notesSlide4.xml"/><Relationship Id="rId5" Type="http://schemas.openxmlformats.org/officeDocument/2006/relationships/tags" Target="../tags/tag44.xml"/><Relationship Id="rId15" Type="http://schemas.openxmlformats.org/officeDocument/2006/relationships/tags" Target="../tags/tag54.xml"/><Relationship Id="rId23" Type="http://schemas.openxmlformats.org/officeDocument/2006/relationships/tags" Target="../tags/tag62.xml"/><Relationship Id="rId28" Type="http://schemas.openxmlformats.org/officeDocument/2006/relationships/tags" Target="../tags/tag67.xml"/><Relationship Id="rId36" Type="http://schemas.openxmlformats.org/officeDocument/2006/relationships/slideLayout" Target="../slideLayouts/slideLayout2.xml"/><Relationship Id="rId10" Type="http://schemas.openxmlformats.org/officeDocument/2006/relationships/tags" Target="../tags/tag49.xml"/><Relationship Id="rId19" Type="http://schemas.openxmlformats.org/officeDocument/2006/relationships/tags" Target="../tags/tag58.xml"/><Relationship Id="rId31" Type="http://schemas.openxmlformats.org/officeDocument/2006/relationships/tags" Target="../tags/tag70.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 Id="rId22" Type="http://schemas.openxmlformats.org/officeDocument/2006/relationships/tags" Target="../tags/tag61.xml"/><Relationship Id="rId27" Type="http://schemas.openxmlformats.org/officeDocument/2006/relationships/tags" Target="../tags/tag66.xml"/><Relationship Id="rId30" Type="http://schemas.openxmlformats.org/officeDocument/2006/relationships/tags" Target="../tags/tag69.xml"/><Relationship Id="rId35" Type="http://schemas.openxmlformats.org/officeDocument/2006/relationships/tags" Target="../tags/tag74.xml"/><Relationship Id="rId8" Type="http://schemas.openxmlformats.org/officeDocument/2006/relationships/tags" Target="../tags/tag47.xml"/><Relationship Id="rId3" Type="http://schemas.openxmlformats.org/officeDocument/2006/relationships/tags" Target="../tags/tag4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7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7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7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79.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8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8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8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8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8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17.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notesSlide" Target="../notesSlides/notesSlide17.xml"/><Relationship Id="rId10" Type="http://schemas.openxmlformats.org/officeDocument/2006/relationships/tags" Target="../tags/tag96.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0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0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103.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06.xml"/><Relationship Id="rId7" Type="http://schemas.openxmlformats.org/officeDocument/2006/relationships/image" Target="../media/image9.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tags" Target="../tags/tag107.xml"/><Relationship Id="rId9"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109.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8" Type="http://schemas.openxmlformats.org/officeDocument/2006/relationships/image" Target="../media/image16.gif"/><Relationship Id="rId3" Type="http://schemas.openxmlformats.org/officeDocument/2006/relationships/notesSlide" Target="../notesSlides/notesSlide25.xml"/><Relationship Id="rId7"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1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12.xml"/></Relationships>
</file>

<file path=ppt/slides/_rels/slide28.xml.rels><?xml version="1.0" encoding="UTF-8" standalone="yes"?>
<Relationships xmlns="http://schemas.openxmlformats.org/package/2006/relationships"><Relationship Id="rId13" Type="http://schemas.openxmlformats.org/officeDocument/2006/relationships/tags" Target="../tags/tag125.xml"/><Relationship Id="rId18" Type="http://schemas.openxmlformats.org/officeDocument/2006/relationships/tags" Target="../tags/tag130.xml"/><Relationship Id="rId26" Type="http://schemas.openxmlformats.org/officeDocument/2006/relationships/tags" Target="../tags/tag138.xml"/><Relationship Id="rId21" Type="http://schemas.openxmlformats.org/officeDocument/2006/relationships/tags" Target="../tags/tag133.xml"/><Relationship Id="rId34" Type="http://schemas.openxmlformats.org/officeDocument/2006/relationships/image" Target="../media/image22.png"/><Relationship Id="rId7" Type="http://schemas.openxmlformats.org/officeDocument/2006/relationships/tags" Target="../tags/tag119.xml"/><Relationship Id="rId12" Type="http://schemas.openxmlformats.org/officeDocument/2006/relationships/tags" Target="../tags/tag124.xml"/><Relationship Id="rId17" Type="http://schemas.openxmlformats.org/officeDocument/2006/relationships/tags" Target="../tags/tag129.xml"/><Relationship Id="rId25" Type="http://schemas.openxmlformats.org/officeDocument/2006/relationships/tags" Target="../tags/tag137.xml"/><Relationship Id="rId33" Type="http://schemas.openxmlformats.org/officeDocument/2006/relationships/image" Target="../media/image21.png"/><Relationship Id="rId2" Type="http://schemas.openxmlformats.org/officeDocument/2006/relationships/tags" Target="../tags/tag114.xml"/><Relationship Id="rId16" Type="http://schemas.openxmlformats.org/officeDocument/2006/relationships/tags" Target="../tags/tag128.xml"/><Relationship Id="rId20" Type="http://schemas.openxmlformats.org/officeDocument/2006/relationships/tags" Target="../tags/tag132.xml"/><Relationship Id="rId29" Type="http://schemas.openxmlformats.org/officeDocument/2006/relationships/image" Target="../media/image17.png"/><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24" Type="http://schemas.openxmlformats.org/officeDocument/2006/relationships/tags" Target="../tags/tag136.xml"/><Relationship Id="rId32" Type="http://schemas.openxmlformats.org/officeDocument/2006/relationships/image" Target="../media/image20.png"/><Relationship Id="rId37" Type="http://schemas.openxmlformats.org/officeDocument/2006/relationships/image" Target="../media/image25.png"/><Relationship Id="rId5" Type="http://schemas.openxmlformats.org/officeDocument/2006/relationships/tags" Target="../tags/tag117.xml"/><Relationship Id="rId15" Type="http://schemas.openxmlformats.org/officeDocument/2006/relationships/tags" Target="../tags/tag127.xml"/><Relationship Id="rId23" Type="http://schemas.openxmlformats.org/officeDocument/2006/relationships/tags" Target="../tags/tag135.xml"/><Relationship Id="rId28" Type="http://schemas.openxmlformats.org/officeDocument/2006/relationships/notesSlide" Target="../notesSlides/notesSlide28.xml"/><Relationship Id="rId36" Type="http://schemas.openxmlformats.org/officeDocument/2006/relationships/image" Target="../media/image24.png"/><Relationship Id="rId10" Type="http://schemas.openxmlformats.org/officeDocument/2006/relationships/tags" Target="../tags/tag122.xml"/><Relationship Id="rId19" Type="http://schemas.openxmlformats.org/officeDocument/2006/relationships/tags" Target="../tags/tag131.xml"/><Relationship Id="rId31" Type="http://schemas.openxmlformats.org/officeDocument/2006/relationships/image" Target="../media/image19.png"/><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 Id="rId22" Type="http://schemas.openxmlformats.org/officeDocument/2006/relationships/tags" Target="../tags/tag134.xml"/><Relationship Id="rId27" Type="http://schemas.openxmlformats.org/officeDocument/2006/relationships/slideLayout" Target="../slideLayouts/slideLayout2.xml"/><Relationship Id="rId30" Type="http://schemas.openxmlformats.org/officeDocument/2006/relationships/image" Target="../media/image18.png"/><Relationship Id="rId35" Type="http://schemas.openxmlformats.org/officeDocument/2006/relationships/image" Target="../media/image23.png"/><Relationship Id="rId8" Type="http://schemas.openxmlformats.org/officeDocument/2006/relationships/tags" Target="../tags/tag120.xml"/><Relationship Id="rId3" Type="http://schemas.openxmlformats.org/officeDocument/2006/relationships/tags" Target="../tags/tag115.xml"/></Relationships>
</file>

<file path=ppt/slides/_rels/slide29.xml.rels><?xml version="1.0" encoding="UTF-8" standalone="yes"?>
<Relationships xmlns="http://schemas.openxmlformats.org/package/2006/relationships"><Relationship Id="rId13" Type="http://schemas.openxmlformats.org/officeDocument/2006/relationships/tags" Target="../tags/tag151.xml"/><Relationship Id="rId18" Type="http://schemas.openxmlformats.org/officeDocument/2006/relationships/tags" Target="../tags/tag156.xml"/><Relationship Id="rId26" Type="http://schemas.openxmlformats.org/officeDocument/2006/relationships/tags" Target="../tags/tag164.xml"/><Relationship Id="rId39" Type="http://schemas.openxmlformats.org/officeDocument/2006/relationships/image" Target="../media/image22.png"/><Relationship Id="rId21" Type="http://schemas.openxmlformats.org/officeDocument/2006/relationships/tags" Target="../tags/tag159.xml"/><Relationship Id="rId34" Type="http://schemas.openxmlformats.org/officeDocument/2006/relationships/image" Target="../media/image17.png"/><Relationship Id="rId42" Type="http://schemas.openxmlformats.org/officeDocument/2006/relationships/image" Target="../media/image25.png"/><Relationship Id="rId7" Type="http://schemas.openxmlformats.org/officeDocument/2006/relationships/tags" Target="../tags/tag145.xml"/><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29" Type="http://schemas.openxmlformats.org/officeDocument/2006/relationships/tags" Target="../tags/tag167.xml"/><Relationship Id="rId41" Type="http://schemas.openxmlformats.org/officeDocument/2006/relationships/image" Target="../media/image24.png"/><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tags" Target="../tags/tag162.xml"/><Relationship Id="rId32" Type="http://schemas.openxmlformats.org/officeDocument/2006/relationships/slideLayout" Target="../slideLayouts/slideLayout2.xml"/><Relationship Id="rId37" Type="http://schemas.openxmlformats.org/officeDocument/2006/relationships/image" Target="../media/image20.png"/><Relationship Id="rId40" Type="http://schemas.openxmlformats.org/officeDocument/2006/relationships/image" Target="../media/image23.png"/><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tags" Target="../tags/tag161.xml"/><Relationship Id="rId28" Type="http://schemas.openxmlformats.org/officeDocument/2006/relationships/tags" Target="../tags/tag166.xml"/><Relationship Id="rId36" Type="http://schemas.openxmlformats.org/officeDocument/2006/relationships/image" Target="../media/image19.png"/><Relationship Id="rId10" Type="http://schemas.openxmlformats.org/officeDocument/2006/relationships/tags" Target="../tags/tag148.xml"/><Relationship Id="rId19" Type="http://schemas.openxmlformats.org/officeDocument/2006/relationships/tags" Target="../tags/tag157.xml"/><Relationship Id="rId31" Type="http://schemas.openxmlformats.org/officeDocument/2006/relationships/tags" Target="../tags/tag169.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 Id="rId27" Type="http://schemas.openxmlformats.org/officeDocument/2006/relationships/tags" Target="../tags/tag165.xml"/><Relationship Id="rId30" Type="http://schemas.openxmlformats.org/officeDocument/2006/relationships/tags" Target="../tags/tag168.xml"/><Relationship Id="rId35" Type="http://schemas.openxmlformats.org/officeDocument/2006/relationships/image" Target="../media/image18.png"/><Relationship Id="rId43" Type="http://schemas.openxmlformats.org/officeDocument/2006/relationships/image" Target="../media/image26.png"/><Relationship Id="rId8" Type="http://schemas.openxmlformats.org/officeDocument/2006/relationships/tags" Target="../tags/tag146.xml"/><Relationship Id="rId3" Type="http://schemas.openxmlformats.org/officeDocument/2006/relationships/tags" Target="../tags/tag141.xml"/><Relationship Id="rId12" Type="http://schemas.openxmlformats.org/officeDocument/2006/relationships/tags" Target="../tags/tag150.xml"/><Relationship Id="rId17" Type="http://schemas.openxmlformats.org/officeDocument/2006/relationships/tags" Target="../tags/tag155.xml"/><Relationship Id="rId25" Type="http://schemas.openxmlformats.org/officeDocument/2006/relationships/tags" Target="../tags/tag163.xml"/><Relationship Id="rId33" Type="http://schemas.openxmlformats.org/officeDocument/2006/relationships/notesSlide" Target="../notesSlides/notesSlide29.xml"/><Relationship Id="rId38"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hyperlink" Target="https://ru.wikipedia.org/wiki/Xen" TargetMode="External"/><Relationship Id="rId18" Type="http://schemas.openxmlformats.org/officeDocument/2006/relationships/image" Target="../media/image11.png"/><Relationship Id="rId3" Type="http://schemas.openxmlformats.org/officeDocument/2006/relationships/tags" Target="../tags/tag172.xml"/><Relationship Id="rId7" Type="http://schemas.openxmlformats.org/officeDocument/2006/relationships/tags" Target="../tags/tag176.xml"/><Relationship Id="rId12" Type="http://schemas.openxmlformats.org/officeDocument/2006/relationships/hyperlink" Target="https://ru.wikipedia.org/wiki/Logical_Domains" TargetMode="External"/><Relationship Id="rId17" Type="http://schemas.openxmlformats.org/officeDocument/2006/relationships/hyperlink" Target="https://ru.wikipedia.org/wiki/VMware_Workstation" TargetMode="External"/><Relationship Id="rId2" Type="http://schemas.openxmlformats.org/officeDocument/2006/relationships/tags" Target="../tags/tag171.xml"/><Relationship Id="rId16" Type="http://schemas.openxmlformats.org/officeDocument/2006/relationships/hyperlink" Target="https://ru.wikipedia.org/wiki/Microsoft_Hyper-V" TargetMode="Externa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hyperlink" Target="https://ru.wikipedia.org/w/index.php?title=Microsoft_Virtual_Server&amp;action=edit&amp;redlink=1" TargetMode="External"/><Relationship Id="rId5" Type="http://schemas.openxmlformats.org/officeDocument/2006/relationships/tags" Target="../tags/tag174.xml"/><Relationship Id="rId15" Type="http://schemas.openxmlformats.org/officeDocument/2006/relationships/hyperlink" Target="https://ru.wikipedia.org/wiki/XenServer" TargetMode="External"/><Relationship Id="rId10" Type="http://schemas.openxmlformats.org/officeDocument/2006/relationships/notesSlide" Target="../notesSlides/notesSlide30.xml"/><Relationship Id="rId19" Type="http://schemas.openxmlformats.org/officeDocument/2006/relationships/image" Target="../media/image27.png"/><Relationship Id="rId4" Type="http://schemas.openxmlformats.org/officeDocument/2006/relationships/tags" Target="../tags/tag173.xml"/><Relationship Id="rId9" Type="http://schemas.openxmlformats.org/officeDocument/2006/relationships/slideLayout" Target="../slideLayouts/slideLayout2.xml"/><Relationship Id="rId14" Type="http://schemas.openxmlformats.org/officeDocument/2006/relationships/hyperlink" Target="https://ru.wikipedia.org/wiki/Citrix"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32.xml.rels><?xml version="1.0" encoding="UTF-8" standalone="yes"?>
<Relationships xmlns="http://schemas.openxmlformats.org/package/2006/relationships"><Relationship Id="rId13" Type="http://schemas.openxmlformats.org/officeDocument/2006/relationships/tags" Target="../tags/tag191.xml"/><Relationship Id="rId18" Type="http://schemas.openxmlformats.org/officeDocument/2006/relationships/tags" Target="../tags/tag196.xml"/><Relationship Id="rId26" Type="http://schemas.openxmlformats.org/officeDocument/2006/relationships/tags" Target="../tags/tag204.xml"/><Relationship Id="rId39" Type="http://schemas.openxmlformats.org/officeDocument/2006/relationships/image" Target="../media/image32.png"/><Relationship Id="rId21" Type="http://schemas.openxmlformats.org/officeDocument/2006/relationships/tags" Target="../tags/tag199.xml"/><Relationship Id="rId34" Type="http://schemas.openxmlformats.org/officeDocument/2006/relationships/image" Target="../media/image28.png"/><Relationship Id="rId42" Type="http://schemas.openxmlformats.org/officeDocument/2006/relationships/image" Target="../media/image35.png"/><Relationship Id="rId47" Type="http://schemas.openxmlformats.org/officeDocument/2006/relationships/image" Target="../media/image40.png"/><Relationship Id="rId7" Type="http://schemas.openxmlformats.org/officeDocument/2006/relationships/tags" Target="../tags/tag185.xml"/><Relationship Id="rId2" Type="http://schemas.openxmlformats.org/officeDocument/2006/relationships/tags" Target="../tags/tag180.xml"/><Relationship Id="rId16" Type="http://schemas.openxmlformats.org/officeDocument/2006/relationships/tags" Target="../tags/tag194.xml"/><Relationship Id="rId29" Type="http://schemas.openxmlformats.org/officeDocument/2006/relationships/tags" Target="../tags/tag207.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24" Type="http://schemas.openxmlformats.org/officeDocument/2006/relationships/tags" Target="../tags/tag202.xml"/><Relationship Id="rId32" Type="http://schemas.openxmlformats.org/officeDocument/2006/relationships/slideLayout" Target="../slideLayouts/slideLayout2.xml"/><Relationship Id="rId37" Type="http://schemas.openxmlformats.org/officeDocument/2006/relationships/image" Target="../media/image30.png"/><Relationship Id="rId40" Type="http://schemas.openxmlformats.org/officeDocument/2006/relationships/image" Target="../media/image33.png"/><Relationship Id="rId45" Type="http://schemas.openxmlformats.org/officeDocument/2006/relationships/image" Target="../media/image38.png"/><Relationship Id="rId5" Type="http://schemas.openxmlformats.org/officeDocument/2006/relationships/tags" Target="../tags/tag183.xml"/><Relationship Id="rId15" Type="http://schemas.openxmlformats.org/officeDocument/2006/relationships/tags" Target="../tags/tag193.xml"/><Relationship Id="rId23" Type="http://schemas.openxmlformats.org/officeDocument/2006/relationships/tags" Target="../tags/tag201.xml"/><Relationship Id="rId28" Type="http://schemas.openxmlformats.org/officeDocument/2006/relationships/tags" Target="../tags/tag206.xml"/><Relationship Id="rId36" Type="http://schemas.openxmlformats.org/officeDocument/2006/relationships/image" Target="../media/image17.png"/><Relationship Id="rId10" Type="http://schemas.openxmlformats.org/officeDocument/2006/relationships/tags" Target="../tags/tag188.xml"/><Relationship Id="rId19" Type="http://schemas.openxmlformats.org/officeDocument/2006/relationships/tags" Target="../tags/tag197.xml"/><Relationship Id="rId31" Type="http://schemas.openxmlformats.org/officeDocument/2006/relationships/tags" Target="../tags/tag209.xml"/><Relationship Id="rId44" Type="http://schemas.openxmlformats.org/officeDocument/2006/relationships/image" Target="../media/image37.png"/><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 Id="rId22" Type="http://schemas.openxmlformats.org/officeDocument/2006/relationships/tags" Target="../tags/tag200.xml"/><Relationship Id="rId27" Type="http://schemas.openxmlformats.org/officeDocument/2006/relationships/tags" Target="../tags/tag205.xml"/><Relationship Id="rId30" Type="http://schemas.openxmlformats.org/officeDocument/2006/relationships/tags" Target="../tags/tag208.xml"/><Relationship Id="rId35" Type="http://schemas.openxmlformats.org/officeDocument/2006/relationships/image" Target="../media/image29.png"/><Relationship Id="rId43" Type="http://schemas.openxmlformats.org/officeDocument/2006/relationships/image" Target="../media/image36.png"/><Relationship Id="rId8" Type="http://schemas.openxmlformats.org/officeDocument/2006/relationships/tags" Target="../tags/tag186.xml"/><Relationship Id="rId3" Type="http://schemas.openxmlformats.org/officeDocument/2006/relationships/tags" Target="../tags/tag181.xml"/><Relationship Id="rId12" Type="http://schemas.openxmlformats.org/officeDocument/2006/relationships/tags" Target="../tags/tag190.xml"/><Relationship Id="rId17" Type="http://schemas.openxmlformats.org/officeDocument/2006/relationships/tags" Target="../tags/tag195.xml"/><Relationship Id="rId25" Type="http://schemas.openxmlformats.org/officeDocument/2006/relationships/tags" Target="../tags/tag203.xml"/><Relationship Id="rId33" Type="http://schemas.openxmlformats.org/officeDocument/2006/relationships/notesSlide" Target="../notesSlides/notesSlide32.xml"/><Relationship Id="rId38" Type="http://schemas.openxmlformats.org/officeDocument/2006/relationships/image" Target="../media/image31.png"/><Relationship Id="rId46" Type="http://schemas.openxmlformats.org/officeDocument/2006/relationships/image" Target="../media/image39.jpeg"/><Relationship Id="rId20" Type="http://schemas.openxmlformats.org/officeDocument/2006/relationships/tags" Target="../tags/tag198.xml"/><Relationship Id="rId41"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213.xml"/></Relationships>
</file>

<file path=ppt/slides/_rels/slide37.xml.rels><?xml version="1.0" encoding="UTF-8" standalone="yes"?>
<Relationships xmlns="http://schemas.openxmlformats.org/package/2006/relationships"><Relationship Id="rId8" Type="http://schemas.openxmlformats.org/officeDocument/2006/relationships/tags" Target="../tags/tag221.xml"/><Relationship Id="rId13" Type="http://schemas.openxmlformats.org/officeDocument/2006/relationships/tags" Target="../tags/tag226.xml"/><Relationship Id="rId18" Type="http://schemas.openxmlformats.org/officeDocument/2006/relationships/tags" Target="../tags/tag231.xml"/><Relationship Id="rId26" Type="http://schemas.openxmlformats.org/officeDocument/2006/relationships/image" Target="../media/image43.png"/><Relationship Id="rId3" Type="http://schemas.openxmlformats.org/officeDocument/2006/relationships/tags" Target="../tags/tag216.xml"/><Relationship Id="rId21" Type="http://schemas.openxmlformats.org/officeDocument/2006/relationships/slideLayout" Target="../slideLayouts/slideLayout2.xml"/><Relationship Id="rId7" Type="http://schemas.openxmlformats.org/officeDocument/2006/relationships/tags" Target="../tags/tag220.xml"/><Relationship Id="rId12" Type="http://schemas.openxmlformats.org/officeDocument/2006/relationships/tags" Target="../tags/tag225.xml"/><Relationship Id="rId17" Type="http://schemas.openxmlformats.org/officeDocument/2006/relationships/tags" Target="../tags/tag230.xml"/><Relationship Id="rId25" Type="http://schemas.openxmlformats.org/officeDocument/2006/relationships/image" Target="../media/image42.png"/><Relationship Id="rId2" Type="http://schemas.openxmlformats.org/officeDocument/2006/relationships/tags" Target="../tags/tag215.xml"/><Relationship Id="rId16" Type="http://schemas.openxmlformats.org/officeDocument/2006/relationships/tags" Target="../tags/tag229.xml"/><Relationship Id="rId20" Type="http://schemas.openxmlformats.org/officeDocument/2006/relationships/tags" Target="../tags/tag233.xml"/><Relationship Id="rId1" Type="http://schemas.openxmlformats.org/officeDocument/2006/relationships/tags" Target="../tags/tag214.xml"/><Relationship Id="rId6" Type="http://schemas.openxmlformats.org/officeDocument/2006/relationships/tags" Target="../tags/tag219.xml"/><Relationship Id="rId11" Type="http://schemas.openxmlformats.org/officeDocument/2006/relationships/tags" Target="../tags/tag224.xml"/><Relationship Id="rId24" Type="http://schemas.openxmlformats.org/officeDocument/2006/relationships/image" Target="../media/image41.png"/><Relationship Id="rId5" Type="http://schemas.openxmlformats.org/officeDocument/2006/relationships/tags" Target="../tags/tag218.xml"/><Relationship Id="rId15" Type="http://schemas.openxmlformats.org/officeDocument/2006/relationships/tags" Target="../tags/tag228.xml"/><Relationship Id="rId23" Type="http://schemas.openxmlformats.org/officeDocument/2006/relationships/image" Target="../media/image11.png"/><Relationship Id="rId28" Type="http://schemas.openxmlformats.org/officeDocument/2006/relationships/image" Target="../media/image21.png"/><Relationship Id="rId10" Type="http://schemas.openxmlformats.org/officeDocument/2006/relationships/tags" Target="../tags/tag223.xml"/><Relationship Id="rId19" Type="http://schemas.openxmlformats.org/officeDocument/2006/relationships/tags" Target="../tags/tag232.xml"/><Relationship Id="rId4" Type="http://schemas.openxmlformats.org/officeDocument/2006/relationships/tags" Target="../tags/tag217.xml"/><Relationship Id="rId9" Type="http://schemas.openxmlformats.org/officeDocument/2006/relationships/tags" Target="../tags/tag222.xml"/><Relationship Id="rId14" Type="http://schemas.openxmlformats.org/officeDocument/2006/relationships/tags" Target="../tags/tag227.xml"/><Relationship Id="rId22" Type="http://schemas.openxmlformats.org/officeDocument/2006/relationships/notesSlide" Target="../notesSlides/notesSlide37.xml"/><Relationship Id="rId27"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3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23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236.xml"/></Relationships>
</file>

<file path=ppt/slides/_rels/slide41.xml.rels><?xml version="1.0" encoding="UTF-8" standalone="yes"?>
<Relationships xmlns="http://schemas.openxmlformats.org/package/2006/relationships"><Relationship Id="rId8" Type="http://schemas.openxmlformats.org/officeDocument/2006/relationships/tags" Target="../tags/tag244.xml"/><Relationship Id="rId13" Type="http://schemas.openxmlformats.org/officeDocument/2006/relationships/tags" Target="../tags/tag249.xml"/><Relationship Id="rId18" Type="http://schemas.openxmlformats.org/officeDocument/2006/relationships/tags" Target="../tags/tag254.xml"/><Relationship Id="rId26" Type="http://schemas.openxmlformats.org/officeDocument/2006/relationships/slideLayout" Target="../slideLayouts/slideLayout6.xml"/><Relationship Id="rId3" Type="http://schemas.openxmlformats.org/officeDocument/2006/relationships/tags" Target="../tags/tag239.xml"/><Relationship Id="rId21" Type="http://schemas.openxmlformats.org/officeDocument/2006/relationships/tags" Target="../tags/tag257.xml"/><Relationship Id="rId7" Type="http://schemas.openxmlformats.org/officeDocument/2006/relationships/tags" Target="../tags/tag243.xml"/><Relationship Id="rId12" Type="http://schemas.openxmlformats.org/officeDocument/2006/relationships/tags" Target="../tags/tag248.xml"/><Relationship Id="rId17" Type="http://schemas.openxmlformats.org/officeDocument/2006/relationships/tags" Target="../tags/tag253.xml"/><Relationship Id="rId25" Type="http://schemas.openxmlformats.org/officeDocument/2006/relationships/tags" Target="../tags/tag261.xml"/><Relationship Id="rId2" Type="http://schemas.openxmlformats.org/officeDocument/2006/relationships/tags" Target="../tags/tag238.xml"/><Relationship Id="rId16" Type="http://schemas.openxmlformats.org/officeDocument/2006/relationships/tags" Target="../tags/tag252.xml"/><Relationship Id="rId20" Type="http://schemas.openxmlformats.org/officeDocument/2006/relationships/tags" Target="../tags/tag256.xml"/><Relationship Id="rId29" Type="http://schemas.openxmlformats.org/officeDocument/2006/relationships/image" Target="../media/image8.png"/><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tags" Target="../tags/tag247.xml"/><Relationship Id="rId24" Type="http://schemas.openxmlformats.org/officeDocument/2006/relationships/tags" Target="../tags/tag260.xml"/><Relationship Id="rId32" Type="http://schemas.openxmlformats.org/officeDocument/2006/relationships/image" Target="../media/image44.png"/><Relationship Id="rId5" Type="http://schemas.openxmlformats.org/officeDocument/2006/relationships/tags" Target="../tags/tag241.xml"/><Relationship Id="rId15" Type="http://schemas.openxmlformats.org/officeDocument/2006/relationships/tags" Target="../tags/tag251.xml"/><Relationship Id="rId23" Type="http://schemas.openxmlformats.org/officeDocument/2006/relationships/tags" Target="../tags/tag259.xml"/><Relationship Id="rId28" Type="http://schemas.openxmlformats.org/officeDocument/2006/relationships/image" Target="../media/image45.png"/><Relationship Id="rId10" Type="http://schemas.openxmlformats.org/officeDocument/2006/relationships/tags" Target="../tags/tag246.xml"/><Relationship Id="rId19" Type="http://schemas.openxmlformats.org/officeDocument/2006/relationships/tags" Target="../tags/tag255.xml"/><Relationship Id="rId31" Type="http://schemas.openxmlformats.org/officeDocument/2006/relationships/image" Target="../media/image43.png"/><Relationship Id="rId4" Type="http://schemas.openxmlformats.org/officeDocument/2006/relationships/tags" Target="../tags/tag240.xml"/><Relationship Id="rId9" Type="http://schemas.openxmlformats.org/officeDocument/2006/relationships/tags" Target="../tags/tag245.xml"/><Relationship Id="rId14" Type="http://schemas.openxmlformats.org/officeDocument/2006/relationships/tags" Target="../tags/tag250.xml"/><Relationship Id="rId22" Type="http://schemas.openxmlformats.org/officeDocument/2006/relationships/tags" Target="../tags/tag258.xml"/><Relationship Id="rId27" Type="http://schemas.openxmlformats.org/officeDocument/2006/relationships/notesSlide" Target="../notesSlides/notesSlide41.xml"/><Relationship Id="rId30" Type="http://schemas.openxmlformats.org/officeDocument/2006/relationships/image" Target="../media/image11.png"/></Relationships>
</file>

<file path=ppt/slides/_rels/slide42.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tags" Target="../tags/tag274.xml"/><Relationship Id="rId18" Type="http://schemas.openxmlformats.org/officeDocument/2006/relationships/tags" Target="../tags/tag279.xml"/><Relationship Id="rId26" Type="http://schemas.openxmlformats.org/officeDocument/2006/relationships/image" Target="../media/image8.png"/><Relationship Id="rId3" Type="http://schemas.openxmlformats.org/officeDocument/2006/relationships/tags" Target="../tags/tag264.xml"/><Relationship Id="rId21" Type="http://schemas.openxmlformats.org/officeDocument/2006/relationships/tags" Target="../tags/tag282.xml"/><Relationship Id="rId7" Type="http://schemas.openxmlformats.org/officeDocument/2006/relationships/tags" Target="../tags/tag268.xml"/><Relationship Id="rId12" Type="http://schemas.openxmlformats.org/officeDocument/2006/relationships/tags" Target="../tags/tag273.xml"/><Relationship Id="rId17" Type="http://schemas.openxmlformats.org/officeDocument/2006/relationships/tags" Target="../tags/tag278.xml"/><Relationship Id="rId25" Type="http://schemas.openxmlformats.org/officeDocument/2006/relationships/image" Target="../media/image46.png"/><Relationship Id="rId2" Type="http://schemas.openxmlformats.org/officeDocument/2006/relationships/tags" Target="../tags/tag263.xml"/><Relationship Id="rId16" Type="http://schemas.openxmlformats.org/officeDocument/2006/relationships/tags" Target="../tags/tag277.xml"/><Relationship Id="rId20" Type="http://schemas.openxmlformats.org/officeDocument/2006/relationships/tags" Target="../tags/tag281.xml"/><Relationship Id="rId29" Type="http://schemas.openxmlformats.org/officeDocument/2006/relationships/image" Target="../media/image43.png"/><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24" Type="http://schemas.openxmlformats.org/officeDocument/2006/relationships/notesSlide" Target="../notesSlides/notesSlide42.xml"/><Relationship Id="rId5" Type="http://schemas.openxmlformats.org/officeDocument/2006/relationships/tags" Target="../tags/tag266.xml"/><Relationship Id="rId15" Type="http://schemas.openxmlformats.org/officeDocument/2006/relationships/tags" Target="../tags/tag276.xml"/><Relationship Id="rId23" Type="http://schemas.openxmlformats.org/officeDocument/2006/relationships/slideLayout" Target="../slideLayouts/slideLayout6.xml"/><Relationship Id="rId28" Type="http://schemas.openxmlformats.org/officeDocument/2006/relationships/image" Target="../media/image11.png"/><Relationship Id="rId10" Type="http://schemas.openxmlformats.org/officeDocument/2006/relationships/tags" Target="../tags/tag271.xml"/><Relationship Id="rId19" Type="http://schemas.openxmlformats.org/officeDocument/2006/relationships/tags" Target="../tags/tag280.xml"/><Relationship Id="rId31" Type="http://schemas.openxmlformats.org/officeDocument/2006/relationships/image" Target="../media/image47.png"/><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tags" Target="../tags/tag275.xml"/><Relationship Id="rId22" Type="http://schemas.openxmlformats.org/officeDocument/2006/relationships/tags" Target="../tags/tag283.xml"/><Relationship Id="rId27" Type="http://schemas.openxmlformats.org/officeDocument/2006/relationships/image" Target="../media/image45.png"/><Relationship Id="rId30" Type="http://schemas.openxmlformats.org/officeDocument/2006/relationships/image" Target="../media/image44.png"/></Relationships>
</file>

<file path=ppt/slides/_rels/slide4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43.xml"/><Relationship Id="rId9" Type="http://schemas.microsoft.com/office/2007/relationships/diagramDrawing" Target="../diagrams/drawing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28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287.xml"/></Relationships>
</file>

<file path=ppt/slides/_rels/slide46.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tags" Target="../tags/tag300.xml"/><Relationship Id="rId18" Type="http://schemas.openxmlformats.org/officeDocument/2006/relationships/image" Target="../media/image49.png"/><Relationship Id="rId3" Type="http://schemas.openxmlformats.org/officeDocument/2006/relationships/tags" Target="../tags/tag290.xml"/><Relationship Id="rId21" Type="http://schemas.openxmlformats.org/officeDocument/2006/relationships/image" Target="../media/image44.png"/><Relationship Id="rId7" Type="http://schemas.openxmlformats.org/officeDocument/2006/relationships/tags" Target="../tags/tag294.xml"/><Relationship Id="rId12" Type="http://schemas.openxmlformats.org/officeDocument/2006/relationships/tags" Target="../tags/tag299.xml"/><Relationship Id="rId17" Type="http://schemas.openxmlformats.org/officeDocument/2006/relationships/image" Target="../media/image48.png"/><Relationship Id="rId2" Type="http://schemas.openxmlformats.org/officeDocument/2006/relationships/tags" Target="../tags/tag289.xml"/><Relationship Id="rId16" Type="http://schemas.openxmlformats.org/officeDocument/2006/relationships/notesSlide" Target="../notesSlides/notesSlide46.xml"/><Relationship Id="rId20" Type="http://schemas.openxmlformats.org/officeDocument/2006/relationships/image" Target="../media/image51.png"/><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tags" Target="../tags/tag298.xml"/><Relationship Id="rId5" Type="http://schemas.openxmlformats.org/officeDocument/2006/relationships/tags" Target="../tags/tag292.xml"/><Relationship Id="rId15" Type="http://schemas.openxmlformats.org/officeDocument/2006/relationships/slideLayout" Target="../slideLayouts/slideLayout2.xml"/><Relationship Id="rId10" Type="http://schemas.openxmlformats.org/officeDocument/2006/relationships/tags" Target="../tags/tag297.xml"/><Relationship Id="rId19" Type="http://schemas.openxmlformats.org/officeDocument/2006/relationships/image" Target="../media/image50.png"/><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tags" Target="../tags/tag301.xml"/><Relationship Id="rId22"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302.xml"/><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30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30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30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30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307.xml"/></Relationships>
</file>

<file path=ppt/slides/_rels/slide53.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tags" Target="../tags/tag320.xml"/><Relationship Id="rId18" Type="http://schemas.openxmlformats.org/officeDocument/2006/relationships/slideLayout" Target="../slideLayouts/slideLayout2.xml"/><Relationship Id="rId3" Type="http://schemas.openxmlformats.org/officeDocument/2006/relationships/tags" Target="../tags/tag310.xml"/><Relationship Id="rId21" Type="http://schemas.openxmlformats.org/officeDocument/2006/relationships/image" Target="../media/image52.png"/><Relationship Id="rId7" Type="http://schemas.openxmlformats.org/officeDocument/2006/relationships/tags" Target="../tags/tag314.xml"/><Relationship Id="rId12" Type="http://schemas.openxmlformats.org/officeDocument/2006/relationships/tags" Target="../tags/tag319.xml"/><Relationship Id="rId17" Type="http://schemas.openxmlformats.org/officeDocument/2006/relationships/tags" Target="../tags/tag324.xml"/><Relationship Id="rId2" Type="http://schemas.openxmlformats.org/officeDocument/2006/relationships/tags" Target="../tags/tag309.xml"/><Relationship Id="rId16" Type="http://schemas.openxmlformats.org/officeDocument/2006/relationships/tags" Target="../tags/tag323.xml"/><Relationship Id="rId20" Type="http://schemas.openxmlformats.org/officeDocument/2006/relationships/image" Target="../media/image11.png"/><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tags" Target="../tags/tag322.xml"/><Relationship Id="rId23" Type="http://schemas.openxmlformats.org/officeDocument/2006/relationships/image" Target="../media/image54.png"/><Relationship Id="rId10" Type="http://schemas.openxmlformats.org/officeDocument/2006/relationships/tags" Target="../tags/tag317.xml"/><Relationship Id="rId19" Type="http://schemas.openxmlformats.org/officeDocument/2006/relationships/notesSlide" Target="../notesSlides/notesSlide53.xml"/><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tags" Target="../tags/tag321.xml"/><Relationship Id="rId22"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32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32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32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32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32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33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33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332.xml"/></Relationships>
</file>

<file path=ppt/slides/_rels/slide62.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tags" Target="../tags/tag335.xml"/><Relationship Id="rId7" Type="http://schemas.openxmlformats.org/officeDocument/2006/relationships/image" Target="../media/image55.png"/><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notesSlide" Target="../notesSlides/notesSlide62.xml"/><Relationship Id="rId5" Type="http://schemas.openxmlformats.org/officeDocument/2006/relationships/slideLayout" Target="../slideLayouts/slideLayout34.xml"/><Relationship Id="rId10" Type="http://schemas.openxmlformats.org/officeDocument/2006/relationships/image" Target="../media/image58.png"/><Relationship Id="rId4" Type="http://schemas.openxmlformats.org/officeDocument/2006/relationships/tags" Target="../tags/tag336.xml"/><Relationship Id="rId9" Type="http://schemas.openxmlformats.org/officeDocument/2006/relationships/image" Target="../media/image57.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9.xml"/><Relationship Id="rId1" Type="http://schemas.openxmlformats.org/officeDocument/2006/relationships/tags" Target="../tags/tag337.xml"/><Relationship Id="rId5" Type="http://schemas.openxmlformats.org/officeDocument/2006/relationships/hyperlink" Target="https://secure.testcraft.com/emc/assess.aspx?aid=MR-1SP-ISMV3INTRO&amp;apass=PASSWORD"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dirty="0"/>
              <a:t>ISM v3 модуль 3: среда центра обработки данных</a:t>
            </a:r>
            <a:endParaRPr lang="ru-RU" sz="2800" b="0" i="0" dirty="0">
              <a:solidFill>
                <a:srgbClr val="2C95DD"/>
              </a:solidFill>
              <a:latin typeface="Arial"/>
            </a:endParaRPr>
          </a:p>
        </p:txBody>
      </p:sp>
      <p:sp>
        <p:nvSpPr>
          <p:cNvPr id="3" name="TextBox 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412923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модуля</a:t>
            </a:r>
          </a:p>
        </p:txBody>
      </p:sp>
      <p:graphicFrame>
        <p:nvGraphicFramePr>
          <p:cNvPr id="8" name="Content Placeholder 7"/>
          <p:cNvGraphicFramePr>
            <a:graphicFrameLocks noGrp="1"/>
          </p:cNvGraphicFramePr>
          <p:nvPr>
            <p:ph sz="quarter" idx="10"/>
            <p:extLst>
              <p:ext uri="{D42A27DB-BD31-4B8C-83A1-F6EECF244321}">
                <p14:modId xmlns:p14="http://schemas.microsoft.com/office/powerpoint/2010/main" val="3563678959"/>
              </p:ext>
            </p:extLst>
          </p:nvPr>
        </p:nvGraphicFramePr>
        <p:xfrm>
          <a:off x="379413" y="990600"/>
          <a:ext cx="8458200" cy="2748280"/>
        </p:xfrm>
        <a:graphic>
          <a:graphicData uri="http://schemas.openxmlformats.org/drawingml/2006/table">
            <a:tbl>
              <a:tblPr firstCol="1" bandRow="1">
                <a:tableStyleId>{5C22544A-7EE6-4342-B048-85BDC9FD1C3A}</a:tableStyleId>
              </a:tblPr>
              <a:tblGrid>
                <a:gridCol w="1373187">
                  <a:extLst>
                    <a:ext uri="{9D8B030D-6E8A-4147-A177-3AD203B41FA5}">
                      <a16:colId xmlns:a16="http://schemas.microsoft.com/office/drawing/2014/main" val="20000"/>
                    </a:ext>
                  </a:extLst>
                </a:gridCol>
                <a:gridCol w="7085013">
                  <a:extLst>
                    <a:ext uri="{9D8B030D-6E8A-4147-A177-3AD203B41FA5}">
                      <a16:colId xmlns:a16="http://schemas.microsoft.com/office/drawing/2014/main" val="2000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latin typeface="Arial" pitchFamily="34" charset="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Описание</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Arial" pitchFamily="34" charset="0"/>
                        <a:ea typeface="+mn-ea"/>
                        <a:cs typeface="Arial" pitchFamily="34" charset="0"/>
                      </a:endParaRPr>
                    </a:p>
                  </a:txBody>
                  <a:tcPr anchor="ctr">
                    <a:gradFill>
                      <a:gsLst>
                        <a:gs pos="0">
                          <a:schemeClr val="tx2">
                            <a:lumMod val="75000"/>
                          </a:schemeClr>
                        </a:gs>
                        <a:gs pos="100000">
                          <a:schemeClr val="tx2"/>
                        </a:gs>
                      </a:gsLst>
                      <a:lin ang="2700000" scaled="1"/>
                    </a:gradFill>
                  </a:tcPr>
                </a:tc>
                <a:tc>
                  <a:txBody>
                    <a:bodyPr/>
                    <a:lstStyle/>
                    <a:p>
                      <a:pPr marL="171450" marR="0" lvl="0" indent="0" algn="l" defTabSz="457200" rtl="0" eaLnBrk="1" fontAlgn="auto" latinLnBrk="0" hangingPunct="1">
                        <a:lnSpc>
                          <a:spcPct val="100000"/>
                        </a:lnSpc>
                        <a:spcBef>
                          <a:spcPts val="0"/>
                        </a:spcBef>
                        <a:spcAft>
                          <a:spcPts val="0"/>
                        </a:spcAft>
                        <a:buClrTx/>
                        <a:buSzTx/>
                        <a:buFontTx/>
                        <a:buNone/>
                        <a:tabLst/>
                        <a:defRPr/>
                      </a:pPr>
                      <a:r>
                        <a:rPr lang="ru-RU" sz="1200" b="0" i="0" dirty="0">
                          <a:solidFill>
                            <a:srgbClr val="000000"/>
                          </a:solidFill>
                          <a:latin typeface="Arial" pitchFamily="34" charset="0"/>
                          <a:cs typeface="Arial" pitchFamily="34" charset="0"/>
                        </a:rPr>
                        <a:t>Этот модуль поможет слушателю в освоении среды центра обработки данных. В нем описывается вычислительная система, ее компоненты и типы. Кроме того, здесь описывается виртуализация вычислительных ресурсов, приложений и рабочих мест. Данный модуль представляет обзор ресурсов хранения и возможностей подключения в центре обработки данных. Он также содержит обзор программно-определяемого центра обработки данных.</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0"/>
                  </a:ext>
                </a:extLst>
              </a:tr>
              <a:tr h="370840">
                <a:tc>
                  <a:txBody>
                    <a:bodyPr/>
                    <a:lstStyle/>
                    <a:p>
                      <a:pPr algn="l"/>
                      <a:r>
                        <a:rPr lang="ru-RU" sz="1400" b="1" i="0" dirty="0">
                          <a:solidFill>
                            <a:srgbClr val="FFFFFF"/>
                          </a:solidFill>
                          <a:latin typeface="Arial" pitchFamily="34" charset="0"/>
                          <a:cs typeface="Arial" pitchFamily="34" charset="0"/>
                        </a:rPr>
                        <a:t>Аудитория</a:t>
                      </a:r>
                    </a:p>
                  </a:txBody>
                  <a:tcPr anchor="ctr">
                    <a:gradFill>
                      <a:gsLst>
                        <a:gs pos="0">
                          <a:schemeClr val="tx2">
                            <a:lumMod val="75000"/>
                          </a:schemeClr>
                        </a:gs>
                        <a:gs pos="100000">
                          <a:schemeClr val="tx2"/>
                        </a:gs>
                      </a:gsLst>
                      <a:lin ang="2700000" scaled="1"/>
                    </a:gradFill>
                  </a:tcPr>
                </a:tc>
                <a:tc>
                  <a:txBody>
                    <a:bodyPr/>
                    <a:lstStyle/>
                    <a:p>
                      <a:pPr marL="114300" marR="251460" lvl="0" indent="44450" algn="l" defTabSz="914400" rtl="0" eaLnBrk="1" fontAlgn="auto" latinLnBrk="0" hangingPunct="1">
                        <a:lnSpc>
                          <a:spcPct val="115000"/>
                        </a:lnSpc>
                        <a:spcBef>
                          <a:spcPts val="0"/>
                        </a:spcBef>
                        <a:spcAft>
                          <a:spcPts val="1000"/>
                        </a:spcAft>
                        <a:buClrTx/>
                        <a:buSzTx/>
                        <a:buFontTx/>
                        <a:buNone/>
                        <a:tabLst>
                          <a:tab pos="2743200" algn="ctr"/>
                          <a:tab pos="5486400" algn="r"/>
                        </a:tabLst>
                        <a:defRPr/>
                      </a:pPr>
                      <a:r>
                        <a:rPr lang="ru-RU" sz="1200" b="0" i="0" u="none" dirty="0">
                          <a:solidFill>
                            <a:srgbClr val="000000"/>
                          </a:solidFill>
                          <a:latin typeface="Arial" pitchFamily="34" charset="0"/>
                          <a:cs typeface="Arial" pitchFamily="34" charset="0"/>
                        </a:rPr>
                        <a:t>Заказчики, партнеры, сотрудники EMC и отраслевые специалисты (включая студентов)</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Цели</a:t>
                      </a:r>
                    </a:p>
                  </a:txBody>
                  <a:tcPr anchor="ctr">
                    <a:gradFill>
                      <a:gsLst>
                        <a:gs pos="0">
                          <a:schemeClr val="tx2">
                            <a:lumMod val="75000"/>
                          </a:schemeClr>
                        </a:gs>
                        <a:gs pos="100000">
                          <a:schemeClr val="tx2"/>
                        </a:gs>
                      </a:gsLst>
                      <a:lin ang="2700000" scaled="1"/>
                    </a:gradFill>
                  </a:tcPr>
                </a:tc>
                <a:tc>
                  <a:txBody>
                    <a:bodyPr/>
                    <a:lstStyle/>
                    <a:p>
                      <a:pPr marL="342900" marR="0" lvl="0" indent="-171450" algn="l" defTabSz="914400" rtl="0" eaLnBrk="1" fontAlgn="base" latinLnBrk="0" hangingPunct="1">
                        <a:lnSpc>
                          <a:spcPct val="100000"/>
                        </a:lnSpc>
                        <a:spcBef>
                          <a:spcPct val="0"/>
                        </a:spcBef>
                        <a:spcAft>
                          <a:spcPct val="0"/>
                        </a:spcAft>
                        <a:buClrTx/>
                        <a:buSzTx/>
                        <a:buFontTx/>
                        <a:buNone/>
                        <a:tabLst/>
                        <a:defRPr/>
                      </a:pPr>
                      <a:r>
                        <a:rPr lang="ru-RU" sz="1200" b="0" i="0" u="none" dirty="0">
                          <a:solidFill>
                            <a:srgbClr val="000000"/>
                          </a:solidFill>
                          <a:latin typeface="Arial" pitchFamily="34" charset="0"/>
                          <a:cs typeface="Arial" pitchFamily="34" charset="0"/>
                        </a:rPr>
                        <a:t>По окончании этого модуля вы должны уметь:</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строительные блоки центра обработки данных;</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вычислительную систему, ее компоненты и типы;</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виртуализацию вычислительных ресурсов, приложений и рабочих мест;</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представлять обзор ресурсов хранения и возможностей подключения в центре обработки данных;</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делать обзор программно-определяемого центра обработки данных. </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2"/>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951065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Строительные блоки инфраструктуры центра обработки данных</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Уровни инфраструктуры центра обработки данных</a:t>
            </a:r>
          </a:p>
          <a:p>
            <a:pPr>
              <a:defRPr/>
            </a:pPr>
            <a:r>
              <a:rPr lang="ru-RU" sz="2000" b="0" i="0" dirty="0">
                <a:solidFill>
                  <a:srgbClr val="000000"/>
                </a:solidFill>
                <a:latin typeface="Arial" pitchFamily="34" charset="0"/>
                <a:cs typeface="Arial" pitchFamily="34" charset="0"/>
              </a:rPr>
              <a:t>Компоненты и функции каждого уровня</a:t>
            </a:r>
          </a:p>
          <a:p>
            <a:pPr>
              <a:defRPr/>
            </a:pPr>
            <a:r>
              <a:rPr lang="ru-RU" sz="2000" b="0" i="0" dirty="0">
                <a:solidFill>
                  <a:srgbClr val="000000"/>
                </a:solidFill>
                <a:latin typeface="Arial" pitchFamily="34" charset="0"/>
                <a:cs typeface="Arial" pitchFamily="34" charset="0"/>
              </a:rPr>
              <a:t>Межуровневые функции в центре обработки данных</a:t>
            </a:r>
          </a:p>
          <a:p>
            <a:pPr>
              <a:defRPr/>
            </a:pPr>
            <a:r>
              <a:rPr lang="ru-RU" sz="2000" b="0" i="0" dirty="0">
                <a:solidFill>
                  <a:srgbClr val="000000"/>
                </a:solidFill>
                <a:latin typeface="Arial" pitchFamily="34" charset="0"/>
                <a:cs typeface="Arial" pitchFamily="34" charset="0"/>
              </a:rPr>
              <a:t>Лучшая в своем классе инфраструктура и конвергентная инфраструктура</a:t>
            </a:r>
          </a:p>
          <a:p>
            <a:pPr>
              <a:defRPr/>
            </a:pPr>
            <a:endParaRPr lang="en-US" dirty="0">
              <a:solidFill>
                <a:schemeClr val="tx1"/>
              </a:solidFill>
              <a:latin typeface="Arial" pitchFamily="34" charset="0"/>
              <a:cs typeface="Arial" pitchFamily="34" charset="0"/>
            </a:endParaRP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5561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4" y="133350"/>
            <a:ext cx="8458200" cy="457200"/>
          </a:xfrm>
        </p:spPr>
        <p:txBody>
          <a:bodyPr/>
          <a:lstStyle/>
          <a:p>
            <a:r>
              <a:rPr lang="ru-RU" sz="2800" b="0" i="0" dirty="0">
                <a:solidFill>
                  <a:srgbClr val="2C95DD"/>
                </a:solidFill>
                <a:latin typeface="Arial" pitchFamily="34" charset="0"/>
                <a:cs typeface="Arial" pitchFamily="34" charset="0"/>
              </a:rPr>
              <a:t>Инфраструктура центра обработки данных</a:t>
            </a:r>
          </a:p>
        </p:txBody>
      </p:sp>
      <p:grpSp>
        <p:nvGrpSpPr>
          <p:cNvPr id="5" name="Group 4"/>
          <p:cNvGrpSpPr/>
          <p:nvPr/>
        </p:nvGrpSpPr>
        <p:grpSpPr>
          <a:xfrm>
            <a:off x="402468" y="707162"/>
            <a:ext cx="8360532" cy="3617188"/>
            <a:chOff x="402468" y="707162"/>
            <a:chExt cx="8360084" cy="3719836"/>
          </a:xfrm>
        </p:grpSpPr>
        <p:sp>
          <p:nvSpPr>
            <p:cNvPr id="45" name="Rectangle 44"/>
            <p:cNvSpPr/>
            <p:nvPr>
              <p:custDataLst>
                <p:tags r:id="rId2"/>
              </p:custDataLst>
            </p:nvPr>
          </p:nvSpPr>
          <p:spPr>
            <a:xfrm>
              <a:off x="402468" y="1355234"/>
              <a:ext cx="8360084" cy="3071764"/>
            </a:xfrm>
            <a:prstGeom prst="rect">
              <a:avLst/>
            </a:prstGeom>
            <a:solidFill>
              <a:schemeClr val="tx2">
                <a:lumMod val="60000"/>
                <a:lumOff val="4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400" b="1" i="0" dirty="0">
                  <a:solidFill>
                    <a:srgbClr val="717074"/>
                  </a:solidFill>
                  <a:latin typeface="Arial" pitchFamily="34" charset="0"/>
                  <a:cs typeface="Arial" pitchFamily="34" charset="0"/>
                </a:rPr>
                <a:t>ИНФРАСТРУКТУРА ЦЕНТРА ОБРАБОТКИ ДАННЫХ</a:t>
              </a:r>
            </a:p>
          </p:txBody>
        </p:sp>
        <p:sp>
          <p:nvSpPr>
            <p:cNvPr id="46" name="Rectangle 45"/>
            <p:cNvSpPr/>
            <p:nvPr>
              <p:custDataLst>
                <p:tags r:id="rId3"/>
              </p:custDataLst>
            </p:nvPr>
          </p:nvSpPr>
          <p:spPr>
            <a:xfrm>
              <a:off x="7546508" y="1598310"/>
              <a:ext cx="1152000" cy="2762724"/>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vert="horz" rtlCol="0" anchor="t"/>
            <a:lstStyle/>
            <a:p>
              <a:pPr algn="ctr"/>
              <a:r>
                <a:rPr lang="ru-RU" sz="800" b="1" i="0" dirty="0">
                  <a:solidFill>
                    <a:srgbClr val="717074"/>
                  </a:solidFill>
                  <a:latin typeface="Arial" pitchFamily="34" charset="0"/>
                  <a:cs typeface="Arial" pitchFamily="34" charset="0"/>
                </a:rPr>
                <a:t>БЕЗОПАСНОСТЬ</a:t>
              </a:r>
            </a:p>
          </p:txBody>
        </p:sp>
        <p:sp>
          <p:nvSpPr>
            <p:cNvPr id="47" name="Rectangle 46"/>
            <p:cNvSpPr/>
            <p:nvPr>
              <p:custDataLst>
                <p:tags r:id="rId4"/>
              </p:custDataLst>
            </p:nvPr>
          </p:nvSpPr>
          <p:spPr>
            <a:xfrm>
              <a:off x="6320402" y="1598310"/>
              <a:ext cx="1152000" cy="2762724"/>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vert="horz" rtlCol="0" anchor="t"/>
            <a:lstStyle/>
            <a:p>
              <a:pPr algn="ctr"/>
              <a:r>
                <a:rPr lang="ru-RU" sz="800" b="1" i="0" dirty="0">
                  <a:solidFill>
                    <a:srgbClr val="717074"/>
                  </a:solidFill>
                  <a:latin typeface="Arial" pitchFamily="34" charset="0"/>
                  <a:cs typeface="Arial" pitchFamily="34" charset="0"/>
                </a:rPr>
                <a:t>НЕПРЕРЫВНОСТЬ БИЗНЕСА</a:t>
              </a:r>
            </a:p>
          </p:txBody>
        </p:sp>
        <p:sp>
          <p:nvSpPr>
            <p:cNvPr id="48" name="Rectangle 47"/>
            <p:cNvSpPr/>
            <p:nvPr>
              <p:custDataLst>
                <p:tags r:id="rId5"/>
              </p:custDataLst>
            </p:nvPr>
          </p:nvSpPr>
          <p:spPr>
            <a:xfrm>
              <a:off x="448188" y="1598310"/>
              <a:ext cx="1152000" cy="2762724"/>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vert="horz" rtlCol="0" anchor="t"/>
            <a:lstStyle/>
            <a:p>
              <a:pPr algn="ctr"/>
              <a:r>
                <a:rPr lang="ru-RU" sz="1000" b="1" i="0" dirty="0">
                  <a:solidFill>
                    <a:srgbClr val="717074"/>
                  </a:solidFill>
                  <a:latin typeface="Arial" pitchFamily="34" charset="0"/>
                  <a:cs typeface="Arial" pitchFamily="34" charset="0"/>
                </a:rPr>
                <a:t>УПРАВЛЕНИЕ</a:t>
              </a:r>
            </a:p>
          </p:txBody>
        </p:sp>
        <p:sp>
          <p:nvSpPr>
            <p:cNvPr id="49" name="Rectangle 48"/>
            <p:cNvSpPr/>
            <p:nvPr>
              <p:custDataLst>
                <p:tags r:id="rId6"/>
              </p:custDataLst>
            </p:nvPr>
          </p:nvSpPr>
          <p:spPr>
            <a:xfrm>
              <a:off x="1674295" y="3821034"/>
              <a:ext cx="4572000" cy="540000"/>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900" b="1" i="0" dirty="0">
                  <a:solidFill>
                    <a:srgbClr val="717074"/>
                  </a:solidFill>
                  <a:latin typeface="Arial" pitchFamily="34" charset="0"/>
                  <a:cs typeface="Arial" pitchFamily="34" charset="0"/>
                </a:rPr>
                <a:t>ФИЗИЧЕСКАЯ ИНФРАСТРУКТУРА (ЛУЧШАЯ В СВОЕМ КЛАССЕ / КОНВЕРГЕНТНАЯ)</a:t>
              </a:r>
            </a:p>
          </p:txBody>
        </p:sp>
        <p:sp>
          <p:nvSpPr>
            <p:cNvPr id="50" name="Rounded Rectangle 49"/>
            <p:cNvSpPr/>
            <p:nvPr>
              <p:custDataLst>
                <p:tags r:id="rId7"/>
              </p:custDataLst>
            </p:nvPr>
          </p:nvSpPr>
          <p:spPr>
            <a:xfrm>
              <a:off x="2751747" y="4029306"/>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Вычислительные ресурсы</a:t>
              </a:r>
            </a:p>
          </p:txBody>
        </p:sp>
        <p:sp>
          <p:nvSpPr>
            <p:cNvPr id="51" name="Rounded Rectangle 50"/>
            <p:cNvSpPr/>
            <p:nvPr>
              <p:custDataLst>
                <p:tags r:id="rId8"/>
              </p:custDataLst>
            </p:nvPr>
          </p:nvSpPr>
          <p:spPr>
            <a:xfrm>
              <a:off x="3919792" y="4029306"/>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СХД</a:t>
              </a:r>
            </a:p>
          </p:txBody>
        </p:sp>
        <p:sp>
          <p:nvSpPr>
            <p:cNvPr id="52" name="Rectangle 51"/>
            <p:cNvSpPr/>
            <p:nvPr>
              <p:custDataLst>
                <p:tags r:id="rId9"/>
              </p:custDataLst>
            </p:nvPr>
          </p:nvSpPr>
          <p:spPr>
            <a:xfrm>
              <a:off x="2543919" y="3233745"/>
              <a:ext cx="3702375" cy="540000"/>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000" b="1" i="0" dirty="0">
                  <a:solidFill>
                    <a:srgbClr val="717074"/>
                  </a:solidFill>
                  <a:latin typeface="Arial" pitchFamily="34" charset="0"/>
                  <a:cs typeface="Arial" pitchFamily="34" charset="0"/>
                </a:rPr>
                <a:t>ВИРТУАЛЬНАЯ ИНФРАСТРУКТУРА</a:t>
              </a:r>
            </a:p>
          </p:txBody>
        </p:sp>
        <p:sp>
          <p:nvSpPr>
            <p:cNvPr id="53" name="Rounded Rectangle 52"/>
            <p:cNvSpPr/>
            <p:nvPr>
              <p:custDataLst>
                <p:tags r:id="rId10"/>
              </p:custDataLst>
            </p:nvPr>
          </p:nvSpPr>
          <p:spPr>
            <a:xfrm>
              <a:off x="5087837" y="3432959"/>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Виртуальная сеть</a:t>
              </a:r>
            </a:p>
          </p:txBody>
        </p:sp>
        <p:sp>
          <p:nvSpPr>
            <p:cNvPr id="54" name="Rounded Rectangle 53"/>
            <p:cNvSpPr/>
            <p:nvPr>
              <p:custDataLst>
                <p:tags r:id="rId11"/>
              </p:custDataLst>
            </p:nvPr>
          </p:nvSpPr>
          <p:spPr>
            <a:xfrm>
              <a:off x="2751747" y="3432959"/>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Виртуальные ресурсы</a:t>
              </a:r>
            </a:p>
          </p:txBody>
        </p:sp>
        <p:sp>
          <p:nvSpPr>
            <p:cNvPr id="55" name="Rounded Rectangle 54"/>
            <p:cNvSpPr/>
            <p:nvPr>
              <p:custDataLst>
                <p:tags r:id="rId12"/>
              </p:custDataLst>
            </p:nvPr>
          </p:nvSpPr>
          <p:spPr>
            <a:xfrm>
              <a:off x="3919792" y="3432959"/>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Виртуальное хранилище</a:t>
              </a:r>
            </a:p>
          </p:txBody>
        </p:sp>
        <p:sp>
          <p:nvSpPr>
            <p:cNvPr id="56" name="Rectangle 55"/>
            <p:cNvSpPr/>
            <p:nvPr>
              <p:custDataLst>
                <p:tags r:id="rId13"/>
              </p:custDataLst>
            </p:nvPr>
          </p:nvSpPr>
          <p:spPr>
            <a:xfrm>
              <a:off x="1676400" y="2163318"/>
              <a:ext cx="4571999" cy="381000"/>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ru-RU" sz="1000" b="1" i="0" dirty="0">
                  <a:solidFill>
                    <a:srgbClr val="717074"/>
                  </a:solidFill>
                  <a:latin typeface="Arial" pitchFamily="34" charset="0"/>
                  <a:cs typeface="Arial" pitchFamily="34" charset="0"/>
                </a:rPr>
                <a:t>ОРКЕСТРАЦИЯ</a:t>
              </a:r>
            </a:p>
          </p:txBody>
        </p:sp>
        <p:sp>
          <p:nvSpPr>
            <p:cNvPr id="57" name="Rectangle 56"/>
            <p:cNvSpPr/>
            <p:nvPr>
              <p:custDataLst>
                <p:tags r:id="rId14"/>
              </p:custDataLst>
            </p:nvPr>
          </p:nvSpPr>
          <p:spPr>
            <a:xfrm>
              <a:off x="1674294" y="1598310"/>
              <a:ext cx="4572001" cy="516240"/>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000" b="1" i="0" dirty="0">
                  <a:solidFill>
                    <a:srgbClr val="717074"/>
                  </a:solidFill>
                  <a:latin typeface="Arial" pitchFamily="34" charset="0"/>
                  <a:cs typeface="Arial" pitchFamily="34" charset="0"/>
                </a:rPr>
                <a:t>УСЛУГИ</a:t>
              </a:r>
            </a:p>
          </p:txBody>
        </p:sp>
        <p:sp>
          <p:nvSpPr>
            <p:cNvPr id="58" name="Rounded Rectangle 57"/>
            <p:cNvSpPr/>
            <p:nvPr>
              <p:custDataLst>
                <p:tags r:id="rId15"/>
              </p:custDataLst>
            </p:nvPr>
          </p:nvSpPr>
          <p:spPr>
            <a:xfrm>
              <a:off x="5087837" y="1750350"/>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Каталог услуг</a:t>
              </a:r>
            </a:p>
          </p:txBody>
        </p:sp>
        <p:sp>
          <p:nvSpPr>
            <p:cNvPr id="59" name="Rectangle 3"/>
            <p:cNvSpPr/>
            <p:nvPr>
              <p:custDataLst>
                <p:tags r:id="rId16"/>
              </p:custDataLst>
            </p:nvPr>
          </p:nvSpPr>
          <p:spPr>
            <a:xfrm>
              <a:off x="1674295" y="2592888"/>
              <a:ext cx="4572000" cy="1180857"/>
            </a:xfrm>
            <a:custGeom>
              <a:avLst/>
              <a:gdLst>
                <a:gd name="connsiteX0" fmla="*/ 0 w 4480560"/>
                <a:gd name="connsiteY0" fmla="*/ 0 h 1706881"/>
                <a:gd name="connsiteX1" fmla="*/ 4480560 w 4480560"/>
                <a:gd name="connsiteY1" fmla="*/ 0 h 1706881"/>
                <a:gd name="connsiteX2" fmla="*/ 4480560 w 4480560"/>
                <a:gd name="connsiteY2" fmla="*/ 777240 h 1706881"/>
                <a:gd name="connsiteX3" fmla="*/ 769772 w 4480560"/>
                <a:gd name="connsiteY3" fmla="*/ 732083 h 1706881"/>
                <a:gd name="connsiteX4" fmla="*/ 777240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69772 w 4480560"/>
                <a:gd name="connsiteY3" fmla="*/ 732083 h 1706881"/>
                <a:gd name="connsiteX4" fmla="*/ 777240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83774 w 4480560"/>
                <a:gd name="connsiteY3" fmla="*/ 732082 h 1706881"/>
                <a:gd name="connsiteX4" fmla="*/ 777240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69773 w 4480560"/>
                <a:gd name="connsiteY3" fmla="*/ 732082 h 1706881"/>
                <a:gd name="connsiteX4" fmla="*/ 777240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93110 w 4480560"/>
                <a:gd name="connsiteY3" fmla="*/ 732082 h 1706881"/>
                <a:gd name="connsiteX4" fmla="*/ 777240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93110 w 4480560"/>
                <a:gd name="connsiteY3" fmla="*/ 732082 h 1706881"/>
                <a:gd name="connsiteX4" fmla="*/ 791242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93110 w 4480560"/>
                <a:gd name="connsiteY3" fmla="*/ 738924 h 1706881"/>
                <a:gd name="connsiteX4" fmla="*/ 791242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80560 w 4480560"/>
                <a:gd name="connsiteY2" fmla="*/ 732083 h 1706881"/>
                <a:gd name="connsiteX3" fmla="*/ 788442 w 4480560"/>
                <a:gd name="connsiteY3" fmla="*/ 773138 h 1706881"/>
                <a:gd name="connsiteX4" fmla="*/ 791242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75892 w 4480560"/>
                <a:gd name="connsiteY2" fmla="*/ 779981 h 1706881"/>
                <a:gd name="connsiteX3" fmla="*/ 788442 w 4480560"/>
                <a:gd name="connsiteY3" fmla="*/ 773138 h 1706881"/>
                <a:gd name="connsiteX4" fmla="*/ 791242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75892 w 4480560"/>
                <a:gd name="connsiteY2" fmla="*/ 779981 h 1706881"/>
                <a:gd name="connsiteX3" fmla="*/ 797777 w 4480560"/>
                <a:gd name="connsiteY3" fmla="*/ 768576 h 1706881"/>
                <a:gd name="connsiteX4" fmla="*/ 791242 w 4480560"/>
                <a:gd name="connsiteY4" fmla="*/ 170688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11443"/>
                <a:gd name="connsiteX1" fmla="*/ 4480560 w 4480560"/>
                <a:gd name="connsiteY1" fmla="*/ 0 h 1711443"/>
                <a:gd name="connsiteX2" fmla="*/ 4475892 w 4480560"/>
                <a:gd name="connsiteY2" fmla="*/ 779981 h 1711443"/>
                <a:gd name="connsiteX3" fmla="*/ 797777 w 4480560"/>
                <a:gd name="connsiteY3" fmla="*/ 768576 h 1711443"/>
                <a:gd name="connsiteX4" fmla="*/ 797465 w 4480560"/>
                <a:gd name="connsiteY4" fmla="*/ 1711443 h 1711443"/>
                <a:gd name="connsiteX5" fmla="*/ 0 w 4480560"/>
                <a:gd name="connsiteY5" fmla="*/ 1706881 h 1711443"/>
                <a:gd name="connsiteX6" fmla="*/ 0 w 4480560"/>
                <a:gd name="connsiteY6" fmla="*/ 777240 h 1711443"/>
                <a:gd name="connsiteX7" fmla="*/ 0 w 4480560"/>
                <a:gd name="connsiteY7" fmla="*/ 655318 h 1711443"/>
                <a:gd name="connsiteX8" fmla="*/ 0 w 4480560"/>
                <a:gd name="connsiteY8" fmla="*/ 0 h 1711443"/>
                <a:gd name="connsiteX0" fmla="*/ 0 w 4480560"/>
                <a:gd name="connsiteY0" fmla="*/ 0 h 1711443"/>
                <a:gd name="connsiteX1" fmla="*/ 4480560 w 4480560"/>
                <a:gd name="connsiteY1" fmla="*/ 0 h 1711443"/>
                <a:gd name="connsiteX2" fmla="*/ 4475892 w 4480560"/>
                <a:gd name="connsiteY2" fmla="*/ 779981 h 1711443"/>
                <a:gd name="connsiteX3" fmla="*/ 804000 w 4480560"/>
                <a:gd name="connsiteY3" fmla="*/ 841564 h 1711443"/>
                <a:gd name="connsiteX4" fmla="*/ 797465 w 4480560"/>
                <a:gd name="connsiteY4" fmla="*/ 1711443 h 1711443"/>
                <a:gd name="connsiteX5" fmla="*/ 0 w 4480560"/>
                <a:gd name="connsiteY5" fmla="*/ 1706881 h 1711443"/>
                <a:gd name="connsiteX6" fmla="*/ 0 w 4480560"/>
                <a:gd name="connsiteY6" fmla="*/ 777240 h 1711443"/>
                <a:gd name="connsiteX7" fmla="*/ 0 w 4480560"/>
                <a:gd name="connsiteY7" fmla="*/ 655318 h 1711443"/>
                <a:gd name="connsiteX8" fmla="*/ 0 w 4480560"/>
                <a:gd name="connsiteY8" fmla="*/ 0 h 1711443"/>
                <a:gd name="connsiteX0" fmla="*/ 0 w 4480560"/>
                <a:gd name="connsiteY0" fmla="*/ 0 h 1711443"/>
                <a:gd name="connsiteX1" fmla="*/ 4480560 w 4480560"/>
                <a:gd name="connsiteY1" fmla="*/ 0 h 1711443"/>
                <a:gd name="connsiteX2" fmla="*/ 4475892 w 4480560"/>
                <a:gd name="connsiteY2" fmla="*/ 779981 h 1711443"/>
                <a:gd name="connsiteX3" fmla="*/ 794665 w 4480560"/>
                <a:gd name="connsiteY3" fmla="*/ 850688 h 1711443"/>
                <a:gd name="connsiteX4" fmla="*/ 797465 w 4480560"/>
                <a:gd name="connsiteY4" fmla="*/ 1711443 h 1711443"/>
                <a:gd name="connsiteX5" fmla="*/ 0 w 4480560"/>
                <a:gd name="connsiteY5" fmla="*/ 1706881 h 1711443"/>
                <a:gd name="connsiteX6" fmla="*/ 0 w 4480560"/>
                <a:gd name="connsiteY6" fmla="*/ 777240 h 1711443"/>
                <a:gd name="connsiteX7" fmla="*/ 0 w 4480560"/>
                <a:gd name="connsiteY7" fmla="*/ 655318 h 1711443"/>
                <a:gd name="connsiteX8" fmla="*/ 0 w 4480560"/>
                <a:gd name="connsiteY8" fmla="*/ 0 h 1711443"/>
                <a:gd name="connsiteX0" fmla="*/ 0 w 4480560"/>
                <a:gd name="connsiteY0" fmla="*/ 0 h 1706881"/>
                <a:gd name="connsiteX1" fmla="*/ 4480560 w 4480560"/>
                <a:gd name="connsiteY1" fmla="*/ 0 h 1706881"/>
                <a:gd name="connsiteX2" fmla="*/ 4475892 w 4480560"/>
                <a:gd name="connsiteY2" fmla="*/ 779981 h 1706881"/>
                <a:gd name="connsiteX3" fmla="*/ 794665 w 4480560"/>
                <a:gd name="connsiteY3" fmla="*/ 850688 h 1706881"/>
                <a:gd name="connsiteX4" fmla="*/ 797465 w 4480560"/>
                <a:gd name="connsiteY4" fmla="*/ 1702320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11444"/>
                <a:gd name="connsiteX1" fmla="*/ 4480560 w 4480560"/>
                <a:gd name="connsiteY1" fmla="*/ 0 h 1711444"/>
                <a:gd name="connsiteX2" fmla="*/ 4475892 w 4480560"/>
                <a:gd name="connsiteY2" fmla="*/ 779981 h 1711444"/>
                <a:gd name="connsiteX3" fmla="*/ 794665 w 4480560"/>
                <a:gd name="connsiteY3" fmla="*/ 850688 h 1711444"/>
                <a:gd name="connsiteX4" fmla="*/ 800577 w 4480560"/>
                <a:gd name="connsiteY4" fmla="*/ 1711444 h 1711444"/>
                <a:gd name="connsiteX5" fmla="*/ 0 w 4480560"/>
                <a:gd name="connsiteY5" fmla="*/ 1706881 h 1711444"/>
                <a:gd name="connsiteX6" fmla="*/ 0 w 4480560"/>
                <a:gd name="connsiteY6" fmla="*/ 777240 h 1711444"/>
                <a:gd name="connsiteX7" fmla="*/ 0 w 4480560"/>
                <a:gd name="connsiteY7" fmla="*/ 655318 h 1711444"/>
                <a:gd name="connsiteX8" fmla="*/ 0 w 4480560"/>
                <a:gd name="connsiteY8" fmla="*/ 0 h 1711444"/>
                <a:gd name="connsiteX0" fmla="*/ 0 w 4480560"/>
                <a:gd name="connsiteY0" fmla="*/ 0 h 1706881"/>
                <a:gd name="connsiteX1" fmla="*/ 4480560 w 4480560"/>
                <a:gd name="connsiteY1" fmla="*/ 0 h 1706881"/>
                <a:gd name="connsiteX2" fmla="*/ 4475892 w 4480560"/>
                <a:gd name="connsiteY2" fmla="*/ 779981 h 1706881"/>
                <a:gd name="connsiteX3" fmla="*/ 794665 w 4480560"/>
                <a:gd name="connsiteY3" fmla="*/ 850688 h 1706881"/>
                <a:gd name="connsiteX4" fmla="*/ 800578 w 4480560"/>
                <a:gd name="connsiteY4" fmla="*/ 170232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9163"/>
                <a:gd name="connsiteX1" fmla="*/ 4480560 w 4480560"/>
                <a:gd name="connsiteY1" fmla="*/ 0 h 1709163"/>
                <a:gd name="connsiteX2" fmla="*/ 4475892 w 4480560"/>
                <a:gd name="connsiteY2" fmla="*/ 779981 h 1709163"/>
                <a:gd name="connsiteX3" fmla="*/ 794665 w 4480560"/>
                <a:gd name="connsiteY3" fmla="*/ 850688 h 1709163"/>
                <a:gd name="connsiteX4" fmla="*/ 802912 w 4480560"/>
                <a:gd name="connsiteY4" fmla="*/ 1709163 h 1709163"/>
                <a:gd name="connsiteX5" fmla="*/ 0 w 4480560"/>
                <a:gd name="connsiteY5" fmla="*/ 1706881 h 1709163"/>
                <a:gd name="connsiteX6" fmla="*/ 0 w 4480560"/>
                <a:gd name="connsiteY6" fmla="*/ 777240 h 1709163"/>
                <a:gd name="connsiteX7" fmla="*/ 0 w 4480560"/>
                <a:gd name="connsiteY7" fmla="*/ 655318 h 1709163"/>
                <a:gd name="connsiteX8" fmla="*/ 0 w 4480560"/>
                <a:gd name="connsiteY8" fmla="*/ 0 h 1709163"/>
                <a:gd name="connsiteX0" fmla="*/ 0 w 4480560"/>
                <a:gd name="connsiteY0" fmla="*/ 0 h 1706881"/>
                <a:gd name="connsiteX1" fmla="*/ 4480560 w 4480560"/>
                <a:gd name="connsiteY1" fmla="*/ 0 h 1706881"/>
                <a:gd name="connsiteX2" fmla="*/ 4475892 w 4480560"/>
                <a:gd name="connsiteY2" fmla="*/ 779981 h 1706881"/>
                <a:gd name="connsiteX3" fmla="*/ 794665 w 4480560"/>
                <a:gd name="connsiteY3" fmla="*/ 850688 h 1706881"/>
                <a:gd name="connsiteX4" fmla="*/ 800578 w 4480560"/>
                <a:gd name="connsiteY4" fmla="*/ 170232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6881"/>
                <a:gd name="connsiteX1" fmla="*/ 4480560 w 4480560"/>
                <a:gd name="connsiteY1" fmla="*/ 0 h 1706881"/>
                <a:gd name="connsiteX2" fmla="*/ 4475892 w 4480560"/>
                <a:gd name="connsiteY2" fmla="*/ 779981 h 1706881"/>
                <a:gd name="connsiteX3" fmla="*/ 799332 w 4480560"/>
                <a:gd name="connsiteY3" fmla="*/ 860950 h 1706881"/>
                <a:gd name="connsiteX4" fmla="*/ 800578 w 4480560"/>
                <a:gd name="connsiteY4" fmla="*/ 1702321 h 1706881"/>
                <a:gd name="connsiteX5" fmla="*/ 0 w 4480560"/>
                <a:gd name="connsiteY5" fmla="*/ 1706881 h 1706881"/>
                <a:gd name="connsiteX6" fmla="*/ 0 w 4480560"/>
                <a:gd name="connsiteY6" fmla="*/ 777240 h 1706881"/>
                <a:gd name="connsiteX7" fmla="*/ 0 w 4480560"/>
                <a:gd name="connsiteY7" fmla="*/ 655318 h 1706881"/>
                <a:gd name="connsiteX8" fmla="*/ 0 w 4480560"/>
                <a:gd name="connsiteY8" fmla="*/ 0 h 1706881"/>
                <a:gd name="connsiteX0" fmla="*/ 0 w 4480560"/>
                <a:gd name="connsiteY0" fmla="*/ 0 h 1702321"/>
                <a:gd name="connsiteX1" fmla="*/ 4480560 w 4480560"/>
                <a:gd name="connsiteY1" fmla="*/ 0 h 1702321"/>
                <a:gd name="connsiteX2" fmla="*/ 4475892 w 4480560"/>
                <a:gd name="connsiteY2" fmla="*/ 779981 h 1702321"/>
                <a:gd name="connsiteX3" fmla="*/ 799332 w 4480560"/>
                <a:gd name="connsiteY3" fmla="*/ 860950 h 1702321"/>
                <a:gd name="connsiteX4" fmla="*/ 800578 w 4480560"/>
                <a:gd name="connsiteY4" fmla="*/ 1702321 h 1702321"/>
                <a:gd name="connsiteX5" fmla="*/ 0 w 4480560"/>
                <a:gd name="connsiteY5" fmla="*/ 1696618 h 1702321"/>
                <a:gd name="connsiteX6" fmla="*/ 0 w 4480560"/>
                <a:gd name="connsiteY6" fmla="*/ 777240 h 1702321"/>
                <a:gd name="connsiteX7" fmla="*/ 0 w 4480560"/>
                <a:gd name="connsiteY7" fmla="*/ 655318 h 1702321"/>
                <a:gd name="connsiteX8" fmla="*/ 0 w 4480560"/>
                <a:gd name="connsiteY8" fmla="*/ 0 h 1702321"/>
                <a:gd name="connsiteX0" fmla="*/ 0 w 4480560"/>
                <a:gd name="connsiteY0" fmla="*/ 0 h 1696618"/>
                <a:gd name="connsiteX1" fmla="*/ 4480560 w 4480560"/>
                <a:gd name="connsiteY1" fmla="*/ 0 h 1696618"/>
                <a:gd name="connsiteX2" fmla="*/ 4475892 w 4480560"/>
                <a:gd name="connsiteY2" fmla="*/ 779981 h 1696618"/>
                <a:gd name="connsiteX3" fmla="*/ 799332 w 4480560"/>
                <a:gd name="connsiteY3" fmla="*/ 860950 h 1696618"/>
                <a:gd name="connsiteX4" fmla="*/ 800578 w 4480560"/>
                <a:gd name="connsiteY4" fmla="*/ 1692057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799332 w 4480560"/>
                <a:gd name="connsiteY3" fmla="*/ 860950 h 1696618"/>
                <a:gd name="connsiteX4" fmla="*/ 800578 w 4480560"/>
                <a:gd name="connsiteY4" fmla="*/ 1692057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13333 w 4480560"/>
                <a:gd name="connsiteY3" fmla="*/ 847265 h 1696618"/>
                <a:gd name="connsiteX4" fmla="*/ 800578 w 4480560"/>
                <a:gd name="connsiteY4" fmla="*/ 1692057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13333 w 4480560"/>
                <a:gd name="connsiteY3" fmla="*/ 847265 h 1696618"/>
                <a:gd name="connsiteX4" fmla="*/ 800578 w 4480560"/>
                <a:gd name="connsiteY4" fmla="*/ 1692057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06332 w 4480560"/>
                <a:gd name="connsiteY3" fmla="*/ 850686 h 1696618"/>
                <a:gd name="connsiteX4" fmla="*/ 800578 w 4480560"/>
                <a:gd name="connsiteY4" fmla="*/ 1692057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06332 w 4480560"/>
                <a:gd name="connsiteY3" fmla="*/ 850686 h 1696618"/>
                <a:gd name="connsiteX4" fmla="*/ 809913 w 4480560"/>
                <a:gd name="connsiteY4" fmla="*/ 1692058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06332 w 4480560"/>
                <a:gd name="connsiteY3" fmla="*/ 850686 h 1696618"/>
                <a:gd name="connsiteX4" fmla="*/ 809913 w 4480560"/>
                <a:gd name="connsiteY4" fmla="*/ 1692058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10999 w 4480560"/>
                <a:gd name="connsiteY3" fmla="*/ 837001 h 1696618"/>
                <a:gd name="connsiteX4" fmla="*/ 809913 w 4480560"/>
                <a:gd name="connsiteY4" fmla="*/ 1692058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0560"/>
                <a:gd name="connsiteY0" fmla="*/ 0 h 1696618"/>
                <a:gd name="connsiteX1" fmla="*/ 4480560 w 4480560"/>
                <a:gd name="connsiteY1" fmla="*/ 0 h 1696618"/>
                <a:gd name="connsiteX2" fmla="*/ 4480559 w 4480560"/>
                <a:gd name="connsiteY2" fmla="*/ 827880 h 1696618"/>
                <a:gd name="connsiteX3" fmla="*/ 806332 w 4480560"/>
                <a:gd name="connsiteY3" fmla="*/ 843843 h 1696618"/>
                <a:gd name="connsiteX4" fmla="*/ 809913 w 4480560"/>
                <a:gd name="connsiteY4" fmla="*/ 1692058 h 1696618"/>
                <a:gd name="connsiteX5" fmla="*/ 0 w 4480560"/>
                <a:gd name="connsiteY5" fmla="*/ 1696618 h 1696618"/>
                <a:gd name="connsiteX6" fmla="*/ 0 w 4480560"/>
                <a:gd name="connsiteY6" fmla="*/ 777240 h 1696618"/>
                <a:gd name="connsiteX7" fmla="*/ 0 w 4480560"/>
                <a:gd name="connsiteY7" fmla="*/ 655318 h 1696618"/>
                <a:gd name="connsiteX8" fmla="*/ 0 w 4480560"/>
                <a:gd name="connsiteY8" fmla="*/ 0 h 1696618"/>
                <a:gd name="connsiteX0" fmla="*/ 0 w 4489894"/>
                <a:gd name="connsiteY0" fmla="*/ 0 h 1696618"/>
                <a:gd name="connsiteX1" fmla="*/ 4480560 w 4489894"/>
                <a:gd name="connsiteY1" fmla="*/ 0 h 1696618"/>
                <a:gd name="connsiteX2" fmla="*/ 4489894 w 4489894"/>
                <a:gd name="connsiteY2" fmla="*/ 841566 h 1696618"/>
                <a:gd name="connsiteX3" fmla="*/ 806332 w 4489894"/>
                <a:gd name="connsiteY3" fmla="*/ 843843 h 1696618"/>
                <a:gd name="connsiteX4" fmla="*/ 809913 w 4489894"/>
                <a:gd name="connsiteY4" fmla="*/ 1692058 h 1696618"/>
                <a:gd name="connsiteX5" fmla="*/ 0 w 4489894"/>
                <a:gd name="connsiteY5" fmla="*/ 1696618 h 1696618"/>
                <a:gd name="connsiteX6" fmla="*/ 0 w 4489894"/>
                <a:gd name="connsiteY6" fmla="*/ 777240 h 1696618"/>
                <a:gd name="connsiteX7" fmla="*/ 0 w 4489894"/>
                <a:gd name="connsiteY7" fmla="*/ 655318 h 1696618"/>
                <a:gd name="connsiteX8" fmla="*/ 0 w 4489894"/>
                <a:gd name="connsiteY8" fmla="*/ 0 h 1696618"/>
                <a:gd name="connsiteX0" fmla="*/ 0 w 4489895"/>
                <a:gd name="connsiteY0" fmla="*/ 0 h 1696618"/>
                <a:gd name="connsiteX1" fmla="*/ 4489895 w 4489895"/>
                <a:gd name="connsiteY1" fmla="*/ 0 h 1696618"/>
                <a:gd name="connsiteX2" fmla="*/ 4489894 w 4489895"/>
                <a:gd name="connsiteY2" fmla="*/ 841566 h 1696618"/>
                <a:gd name="connsiteX3" fmla="*/ 806332 w 4489895"/>
                <a:gd name="connsiteY3" fmla="*/ 843843 h 1696618"/>
                <a:gd name="connsiteX4" fmla="*/ 809913 w 4489895"/>
                <a:gd name="connsiteY4" fmla="*/ 1692058 h 1696618"/>
                <a:gd name="connsiteX5" fmla="*/ 0 w 4489895"/>
                <a:gd name="connsiteY5" fmla="*/ 1696618 h 1696618"/>
                <a:gd name="connsiteX6" fmla="*/ 0 w 4489895"/>
                <a:gd name="connsiteY6" fmla="*/ 777240 h 1696618"/>
                <a:gd name="connsiteX7" fmla="*/ 0 w 4489895"/>
                <a:gd name="connsiteY7" fmla="*/ 655318 h 1696618"/>
                <a:gd name="connsiteX8" fmla="*/ 0 w 4489895"/>
                <a:gd name="connsiteY8" fmla="*/ 0 h 169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89895" h="1696618">
                  <a:moveTo>
                    <a:pt x="0" y="0"/>
                  </a:moveTo>
                  <a:lnTo>
                    <a:pt x="4489895" y="0"/>
                  </a:lnTo>
                  <a:cubicBezTo>
                    <a:pt x="4489895" y="275960"/>
                    <a:pt x="4489894" y="565606"/>
                    <a:pt x="4489894" y="841566"/>
                  </a:cubicBezTo>
                  <a:lnTo>
                    <a:pt x="806332" y="843843"/>
                  </a:lnTo>
                  <a:cubicBezTo>
                    <a:pt x="805709" y="1168776"/>
                    <a:pt x="805870" y="1370546"/>
                    <a:pt x="809913" y="1692058"/>
                  </a:cubicBezTo>
                  <a:lnTo>
                    <a:pt x="0" y="1696618"/>
                  </a:lnTo>
                  <a:lnTo>
                    <a:pt x="0" y="777240"/>
                  </a:lnTo>
                  <a:lnTo>
                    <a:pt x="0" y="655318"/>
                  </a:lnTo>
                  <a:lnTo>
                    <a:pt x="0" y="0"/>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ru-RU" sz="1000" b="1" i="0" dirty="0">
                  <a:solidFill>
                    <a:srgbClr val="717074"/>
                  </a:solidFill>
                  <a:latin typeface="Arial" pitchFamily="34" charset="0"/>
                  <a:cs typeface="Arial" pitchFamily="34" charset="0"/>
                </a:rPr>
                <a:t>ПРОГРАММНО-ОПРЕДЕЛЯЕМАЯ ИНФРАСТРУКТУРА</a:t>
              </a:r>
            </a:p>
          </p:txBody>
        </p:sp>
        <p:sp>
          <p:nvSpPr>
            <p:cNvPr id="60" name="Rounded Rectangle 59"/>
            <p:cNvSpPr/>
            <p:nvPr>
              <p:custDataLst>
                <p:tags r:id="rId17"/>
              </p:custDataLst>
            </p:nvPr>
          </p:nvSpPr>
          <p:spPr>
            <a:xfrm>
              <a:off x="5087837" y="4029306"/>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Сеть</a:t>
              </a:r>
            </a:p>
          </p:txBody>
        </p:sp>
        <p:sp>
          <p:nvSpPr>
            <p:cNvPr id="61" name="Rounded Rectangle 60"/>
            <p:cNvSpPr/>
            <p:nvPr>
              <p:custDataLst>
                <p:tags r:id="rId18"/>
              </p:custDataLst>
            </p:nvPr>
          </p:nvSpPr>
          <p:spPr>
            <a:xfrm>
              <a:off x="2590683" y="2844574"/>
              <a:ext cx="1295517" cy="328625"/>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t" anchorCtr="0"/>
            <a:lstStyle/>
            <a:p>
              <a:pPr algn="ctr"/>
              <a:r>
                <a:rPr lang="ru-RU" sz="600" b="1" i="0" dirty="0">
                  <a:solidFill>
                    <a:srgbClr val="FFFFFF"/>
                  </a:solidFill>
                  <a:latin typeface="Arial" pitchFamily="34" charset="0"/>
                  <a:cs typeface="Arial" pitchFamily="34" charset="0"/>
                </a:rPr>
                <a:t>Программно-определяемые вычислительные ресурсы</a:t>
              </a:r>
            </a:p>
          </p:txBody>
        </p:sp>
        <p:sp>
          <p:nvSpPr>
            <p:cNvPr id="62" name="Rounded Rectangle 61"/>
            <p:cNvSpPr/>
            <p:nvPr>
              <p:custDataLst>
                <p:tags r:id="rId19"/>
              </p:custDataLst>
            </p:nvPr>
          </p:nvSpPr>
          <p:spPr>
            <a:xfrm>
              <a:off x="3919792" y="2844574"/>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Программно-определяемая система хранения</a:t>
              </a:r>
            </a:p>
          </p:txBody>
        </p:sp>
        <p:sp>
          <p:nvSpPr>
            <p:cNvPr id="63" name="Rounded Rectangle 62"/>
            <p:cNvSpPr/>
            <p:nvPr>
              <p:custDataLst>
                <p:tags r:id="rId20"/>
              </p:custDataLst>
            </p:nvPr>
          </p:nvSpPr>
          <p:spPr>
            <a:xfrm>
              <a:off x="5087837" y="2844574"/>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Программно-определяемая сеть</a:t>
              </a:r>
            </a:p>
          </p:txBody>
        </p:sp>
        <p:sp>
          <p:nvSpPr>
            <p:cNvPr id="64" name="Rounded Rectangle 63"/>
            <p:cNvSpPr/>
            <p:nvPr>
              <p:custDataLst>
                <p:tags r:id="rId21"/>
              </p:custDataLst>
            </p:nvPr>
          </p:nvSpPr>
          <p:spPr>
            <a:xfrm>
              <a:off x="6338402" y="2844574"/>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Механизмы отказоустойчивости</a:t>
              </a:r>
            </a:p>
          </p:txBody>
        </p:sp>
        <p:sp>
          <p:nvSpPr>
            <p:cNvPr id="65" name="Rounded Rectangle 64"/>
            <p:cNvSpPr/>
            <p:nvPr>
              <p:custDataLst>
                <p:tags r:id="rId22"/>
              </p:custDataLst>
            </p:nvPr>
          </p:nvSpPr>
          <p:spPr>
            <a:xfrm>
              <a:off x="6338402" y="3432959"/>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Резервное копирование и архивирование</a:t>
              </a:r>
            </a:p>
          </p:txBody>
        </p:sp>
        <p:sp>
          <p:nvSpPr>
            <p:cNvPr id="66" name="Rounded Rectangle 65"/>
            <p:cNvSpPr/>
            <p:nvPr>
              <p:custDataLst>
                <p:tags r:id="rId23"/>
              </p:custDataLst>
            </p:nvPr>
          </p:nvSpPr>
          <p:spPr>
            <a:xfrm>
              <a:off x="6338402" y="4026535"/>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Репликация</a:t>
              </a:r>
            </a:p>
          </p:txBody>
        </p:sp>
        <p:sp>
          <p:nvSpPr>
            <p:cNvPr id="67" name="Rounded Rectangle 66"/>
            <p:cNvSpPr/>
            <p:nvPr>
              <p:custDataLst>
                <p:tags r:id="rId24"/>
              </p:custDataLst>
            </p:nvPr>
          </p:nvSpPr>
          <p:spPr>
            <a:xfrm>
              <a:off x="7564508" y="3432959"/>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Механизмы обеспечения безопасности</a:t>
              </a:r>
            </a:p>
          </p:txBody>
        </p:sp>
        <p:sp>
          <p:nvSpPr>
            <p:cNvPr id="68" name="Rounded Rectangle 67"/>
            <p:cNvSpPr/>
            <p:nvPr>
              <p:custDataLst>
                <p:tags r:id="rId25"/>
              </p:custDataLst>
            </p:nvPr>
          </p:nvSpPr>
          <p:spPr>
            <a:xfrm>
              <a:off x="7564508" y="3867150"/>
              <a:ext cx="1116000" cy="447385"/>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500" b="1" i="0" dirty="0">
                  <a:solidFill>
                    <a:srgbClr val="FFFFFF"/>
                  </a:solidFill>
                  <a:latin typeface="Arial" pitchFamily="34" charset="0"/>
                  <a:cs typeface="Arial" pitchFamily="34" charset="0"/>
                </a:rPr>
                <a:t>Стратегическое управление, снижение рисков и обеспечение соответствия требованиям регуляторов</a:t>
              </a:r>
            </a:p>
          </p:txBody>
        </p:sp>
        <p:sp>
          <p:nvSpPr>
            <p:cNvPr id="69" name="Rectangle 68"/>
            <p:cNvSpPr/>
            <p:nvPr>
              <p:custDataLst>
                <p:tags r:id="rId26"/>
              </p:custDataLst>
            </p:nvPr>
          </p:nvSpPr>
          <p:spPr>
            <a:xfrm>
              <a:off x="1674295" y="707162"/>
              <a:ext cx="4572000" cy="540000"/>
            </a:xfrm>
            <a:prstGeom prst="rect">
              <a:avLst/>
            </a:prstGeom>
            <a:solidFill>
              <a:schemeClr val="accent1">
                <a:lumMod val="20000"/>
                <a:lumOff val="8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000" b="1" i="0" dirty="0">
                  <a:solidFill>
                    <a:srgbClr val="717074"/>
                  </a:solidFill>
                  <a:latin typeface="Arial" pitchFamily="34" charset="0"/>
                  <a:cs typeface="Arial" pitchFamily="34" charset="0"/>
                </a:rPr>
                <a:t>ПРИЛОЖЕНИЯ</a:t>
              </a:r>
            </a:p>
          </p:txBody>
        </p:sp>
        <p:sp>
          <p:nvSpPr>
            <p:cNvPr id="70" name="Rounded Rectangle 69"/>
            <p:cNvSpPr/>
            <p:nvPr>
              <p:custDataLst>
                <p:tags r:id="rId27"/>
              </p:custDataLst>
            </p:nvPr>
          </p:nvSpPr>
          <p:spPr>
            <a:xfrm>
              <a:off x="3919792" y="902437"/>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1" i="0" dirty="0">
                  <a:solidFill>
                    <a:srgbClr val="FFFFFF"/>
                  </a:solidFill>
                  <a:latin typeface="Arial" pitchFamily="34" charset="0"/>
                  <a:cs typeface="Arial" pitchFamily="34" charset="0"/>
                </a:rPr>
                <a:t>Бизнес-приложения</a:t>
              </a:r>
            </a:p>
          </p:txBody>
        </p:sp>
        <p:sp>
          <p:nvSpPr>
            <p:cNvPr id="71" name="Rounded Rectangle 70"/>
            <p:cNvSpPr/>
            <p:nvPr>
              <p:custDataLst>
                <p:tags r:id="rId28"/>
              </p:custDataLst>
            </p:nvPr>
          </p:nvSpPr>
          <p:spPr>
            <a:xfrm>
              <a:off x="2751747" y="902935"/>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1" i="0" dirty="0">
                  <a:solidFill>
                    <a:srgbClr val="FFFFFF"/>
                  </a:solidFill>
                  <a:latin typeface="Arial" pitchFamily="34" charset="0"/>
                  <a:cs typeface="Arial" pitchFamily="34" charset="0"/>
                </a:rPr>
                <a:t>Внутренние приложения</a:t>
              </a:r>
            </a:p>
          </p:txBody>
        </p:sp>
        <p:sp>
          <p:nvSpPr>
            <p:cNvPr id="72" name="Rounded Rectangle 71"/>
            <p:cNvSpPr/>
            <p:nvPr>
              <p:custDataLst>
                <p:tags r:id="rId29"/>
              </p:custDataLst>
            </p:nvPr>
          </p:nvSpPr>
          <p:spPr>
            <a:xfrm>
              <a:off x="5087837" y="902935"/>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Приложения для </a:t>
              </a:r>
              <a:br>
                <a:rPr lang="en-US" sz="600" b="1" i="0" dirty="0">
                  <a:solidFill>
                    <a:srgbClr val="FF00FF"/>
                  </a:solidFill>
                  <a:latin typeface="Arial" pitchFamily="34" charset="0"/>
                  <a:cs typeface="Arial" pitchFamily="34" charset="0"/>
                </a:rPr>
              </a:br>
              <a:r>
                <a:rPr lang="ru-RU" sz="600" b="1" i="0" dirty="0">
                  <a:solidFill>
                    <a:srgbClr val="FFFFFF"/>
                  </a:solidFill>
                  <a:latin typeface="Arial" pitchFamily="34" charset="0"/>
                  <a:cs typeface="Arial" pitchFamily="34" charset="0"/>
                </a:rPr>
                <a:t>3-й платформы</a:t>
              </a:r>
            </a:p>
          </p:txBody>
        </p:sp>
        <p:sp>
          <p:nvSpPr>
            <p:cNvPr id="73" name="Rounded Rectangle 72"/>
            <p:cNvSpPr/>
            <p:nvPr>
              <p:custDataLst>
                <p:tags r:id="rId30"/>
              </p:custDataLst>
            </p:nvPr>
          </p:nvSpPr>
          <p:spPr>
            <a:xfrm>
              <a:off x="463406" y="3885306"/>
              <a:ext cx="1116000" cy="432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500" b="1" i="0" dirty="0">
                  <a:solidFill>
                    <a:srgbClr val="FFFFFF"/>
                  </a:solidFill>
                  <a:latin typeface="Arial" pitchFamily="34" charset="0"/>
                  <a:cs typeface="Arial" pitchFamily="34" charset="0"/>
                </a:rPr>
                <a:t>Управление работой системы хранения</a:t>
              </a:r>
            </a:p>
          </p:txBody>
        </p:sp>
        <p:cxnSp>
          <p:nvCxnSpPr>
            <p:cNvPr id="74" name="Straight Arrow Connector 73"/>
            <p:cNvCxnSpPr/>
            <p:nvPr/>
          </p:nvCxnSpPr>
          <p:spPr>
            <a:xfrm>
              <a:off x="3960295" y="1247162"/>
              <a:ext cx="0" cy="324000"/>
            </a:xfrm>
            <a:prstGeom prst="straightConnector1">
              <a:avLst/>
            </a:prstGeom>
            <a:ln w="25400" cmpd="sng">
              <a:solidFill>
                <a:schemeClr val="bg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75" name="Picture 2"/>
            <p:cNvPicPr>
              <a:picLocks noChangeAspect="1" noChangeArrowheads="1"/>
            </p:cNvPicPr>
            <p:nvPr>
              <p:custDataLst>
                <p:tags r:id="rId31"/>
              </p:custDataLst>
            </p:nvPr>
          </p:nvPicPr>
          <p:blipFill>
            <a:blip r:embed="rId38">
              <a:extLst>
                <a:ext uri="{28A0092B-C50C-407E-A947-70E740481C1C}">
                  <a14:useLocalDpi xmlns:a14="http://schemas.microsoft.com/office/drawing/2010/main" val="0"/>
                </a:ext>
              </a:extLst>
            </a:blip>
            <a:srcRect/>
            <a:stretch>
              <a:fillRect/>
            </a:stretch>
          </p:blipFill>
          <p:spPr bwMode="auto">
            <a:xfrm>
              <a:off x="7693578" y="715726"/>
              <a:ext cx="1065396" cy="557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6" name="Group 75"/>
            <p:cNvGrpSpPr/>
            <p:nvPr/>
          </p:nvGrpSpPr>
          <p:grpSpPr>
            <a:xfrm>
              <a:off x="6647532" y="1059614"/>
              <a:ext cx="1044000" cy="288000"/>
              <a:chOff x="6652262" y="1059614"/>
              <a:chExt cx="1044000" cy="288000"/>
            </a:xfrm>
          </p:grpSpPr>
          <p:cxnSp>
            <p:nvCxnSpPr>
              <p:cNvPr id="79" name="Straight Arrow Connector 78"/>
              <p:cNvCxnSpPr/>
              <p:nvPr/>
            </p:nvCxnSpPr>
            <p:spPr>
              <a:xfrm>
                <a:off x="6664962" y="1059614"/>
                <a:ext cx="0" cy="288000"/>
              </a:xfrm>
              <a:prstGeom prst="straightConnector1">
                <a:avLst/>
              </a:prstGeom>
              <a:ln w="254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flipV="1">
                <a:off x="6652262" y="1062259"/>
                <a:ext cx="1044000" cy="498"/>
              </a:xfrm>
              <a:prstGeom prst="straightConnector1">
                <a:avLst/>
              </a:prstGeom>
              <a:ln w="254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sp>
          <p:nvSpPr>
            <p:cNvPr id="77" name="TextBox 76"/>
            <p:cNvSpPr txBox="1"/>
            <p:nvPr>
              <p:custDataLst>
                <p:tags r:id="rId32"/>
              </p:custDataLst>
            </p:nvPr>
          </p:nvSpPr>
          <p:spPr>
            <a:xfrm>
              <a:off x="6684352" y="761238"/>
              <a:ext cx="933219" cy="316511"/>
            </a:xfrm>
            <a:prstGeom prst="rect">
              <a:avLst/>
            </a:prstGeom>
            <a:noFill/>
          </p:spPr>
          <p:txBody>
            <a:bodyPr wrap="none" rtlCol="0">
              <a:spAutoFit/>
            </a:bodyPr>
            <a:lstStyle/>
            <a:p>
              <a:pPr algn="ctr"/>
              <a:r>
                <a:rPr lang="ru-RU" sz="700" b="1" i="0" dirty="0">
                  <a:solidFill>
                    <a:srgbClr val="717074"/>
                  </a:solidFill>
                  <a:latin typeface="Arial" pitchFamily="34" charset="0"/>
                  <a:cs typeface="Arial" pitchFamily="34" charset="0"/>
                </a:rPr>
                <a:t>Расширяемость</a:t>
              </a:r>
              <a:br>
                <a:rPr lang="en-US" sz="700" b="1" dirty="0">
                  <a:solidFill>
                    <a:srgbClr val="FF00FF"/>
                  </a:solidFill>
                  <a:latin typeface="Arial" pitchFamily="34" charset="0"/>
                  <a:cs typeface="Arial" pitchFamily="34" charset="0"/>
                </a:rPr>
              </a:br>
              <a:r>
                <a:rPr lang="ru-RU" sz="700" b="1" i="0" dirty="0">
                  <a:solidFill>
                    <a:srgbClr val="717074"/>
                  </a:solidFill>
                  <a:latin typeface="Arial" pitchFamily="34" charset="0"/>
                  <a:cs typeface="Arial" pitchFamily="34" charset="0"/>
                </a:rPr>
                <a:t>облачной среды</a:t>
              </a:r>
            </a:p>
          </p:txBody>
        </p:sp>
        <p:sp>
          <p:nvSpPr>
            <p:cNvPr id="78" name="TextBox 77"/>
            <p:cNvSpPr txBox="1"/>
            <p:nvPr>
              <p:custDataLst>
                <p:tags r:id="rId33"/>
              </p:custDataLst>
            </p:nvPr>
          </p:nvSpPr>
          <p:spPr>
            <a:xfrm>
              <a:off x="7862802" y="928424"/>
              <a:ext cx="627061" cy="221558"/>
            </a:xfrm>
            <a:prstGeom prst="rect">
              <a:avLst/>
            </a:prstGeom>
            <a:noFill/>
          </p:spPr>
          <p:txBody>
            <a:bodyPr wrap="none" rtlCol="0">
              <a:spAutoFit/>
            </a:bodyPr>
            <a:lstStyle/>
            <a:p>
              <a:r>
                <a:rPr lang="ru-RU" sz="800" b="1" i="0" dirty="0">
                  <a:solidFill>
                    <a:srgbClr val="717074"/>
                  </a:solidFill>
                  <a:latin typeface="Arial" pitchFamily="34" charset="0"/>
                  <a:cs typeface="Arial" pitchFamily="34" charset="0"/>
                </a:rPr>
                <a:t>ОБЛАКО</a:t>
              </a:r>
            </a:p>
          </p:txBody>
        </p:sp>
        <p:sp>
          <p:nvSpPr>
            <p:cNvPr id="81" name="Rounded Rectangle 80"/>
            <p:cNvSpPr/>
            <p:nvPr>
              <p:custDataLst>
                <p:tags r:id="rId34"/>
              </p:custDataLst>
            </p:nvPr>
          </p:nvSpPr>
          <p:spPr>
            <a:xfrm>
              <a:off x="5087837" y="2222458"/>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ПО для оркестрации</a:t>
              </a:r>
            </a:p>
          </p:txBody>
        </p:sp>
        <p:sp>
          <p:nvSpPr>
            <p:cNvPr id="42" name="Rounded Rectangle 41"/>
            <p:cNvSpPr/>
            <p:nvPr>
              <p:custDataLst>
                <p:tags r:id="rId35"/>
              </p:custDataLst>
            </p:nvPr>
          </p:nvSpPr>
          <p:spPr>
            <a:xfrm>
              <a:off x="3922555" y="1750350"/>
              <a:ext cx="1116000" cy="288000"/>
            </a:xfrm>
            <a:prstGeom prst="roundRect">
              <a:avLst/>
            </a:prstGeom>
            <a:solidFill>
              <a:schemeClr val="tx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600" b="1" i="0" dirty="0">
                  <a:solidFill>
                    <a:srgbClr val="FFFFFF"/>
                  </a:solidFill>
                  <a:latin typeface="Arial" pitchFamily="34" charset="0"/>
                  <a:cs typeface="Arial" pitchFamily="34" charset="0"/>
                </a:rPr>
                <a:t>Портал самообслуживания</a:t>
              </a:r>
            </a:p>
          </p:txBody>
        </p:sp>
      </p:grpSp>
      <p:sp>
        <p:nvSpPr>
          <p:cNvPr id="43" name="TextBox 4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79414" y="228600"/>
            <a:ext cx="5945186" cy="457200"/>
          </a:xfrm>
        </p:spPr>
        <p:txBody>
          <a:bodyPr/>
          <a:lstStyle/>
          <a:p>
            <a:r>
              <a:rPr lang="ru-RU" sz="2800" b="0" i="0" dirty="0">
                <a:solidFill>
                  <a:srgbClr val="2C95DD"/>
                </a:solidFill>
                <a:latin typeface="Arial" pitchFamily="34" charset="0"/>
                <a:cs typeface="Arial" pitchFamily="34" charset="0"/>
              </a:rPr>
              <a:t>Инфраструктура центра обработки</a:t>
            </a:r>
            <a:br>
              <a:rPr lang="en-US" sz="2800" b="0" i="0" dirty="0">
                <a:solidFill>
                  <a:srgbClr val="FF00FF"/>
                </a:solidFill>
                <a:latin typeface="Arial" pitchFamily="34" charset="0"/>
                <a:cs typeface="Arial" pitchFamily="34" charset="0"/>
              </a:rPr>
            </a:br>
            <a:r>
              <a:rPr lang="ru-RU" sz="2800" b="0" i="0" dirty="0">
                <a:solidFill>
                  <a:srgbClr val="2C95DD"/>
                </a:solidFill>
                <a:latin typeface="Arial" pitchFamily="34" charset="0"/>
                <a:cs typeface="Arial" pitchFamily="34" charset="0"/>
              </a:rPr>
              <a:t>данных</a:t>
            </a:r>
          </a:p>
        </p:txBody>
      </p:sp>
      <p:sp>
        <p:nvSpPr>
          <p:cNvPr id="122" name="Content Placeholder 121"/>
          <p:cNvSpPr>
            <a:spLocks noGrp="1"/>
          </p:cNvSpPr>
          <p:nvPr>
            <p:ph sz="quarter" idx="10"/>
          </p:nvPr>
        </p:nvSpPr>
        <p:spPr>
          <a:xfrm>
            <a:off x="379414" y="1733550"/>
            <a:ext cx="8458200" cy="3124200"/>
          </a:xfrm>
        </p:spPr>
        <p:txBody>
          <a:bodyPr/>
          <a:lstStyle/>
          <a:p>
            <a:r>
              <a:rPr lang="ru-RU" sz="2000" b="0" i="0" dirty="0">
                <a:solidFill>
                  <a:srgbClr val="000000"/>
                </a:solidFill>
                <a:latin typeface="Arial" pitchFamily="34" charset="0"/>
                <a:cs typeface="Arial" pitchFamily="34" charset="0"/>
              </a:rPr>
              <a:t>Базовый уровень инфраструктуры центра обработки данных</a:t>
            </a:r>
          </a:p>
          <a:p>
            <a:r>
              <a:rPr lang="ru-RU" sz="2000" b="0" i="0" dirty="0">
                <a:solidFill>
                  <a:srgbClr val="000000"/>
                </a:solidFill>
                <a:latin typeface="Arial" pitchFamily="34" charset="0"/>
                <a:cs typeface="Arial" pitchFamily="34" charset="0"/>
              </a:rPr>
              <a:t>Физические компоненты:</a:t>
            </a:r>
          </a:p>
          <a:p>
            <a:pPr lvl="1"/>
            <a:r>
              <a:rPr lang="ru-RU" sz="1800" b="0" i="0" dirty="0">
                <a:solidFill>
                  <a:srgbClr val="000000"/>
                </a:solidFill>
                <a:latin typeface="Arial" pitchFamily="34" charset="0"/>
                <a:cs typeface="Arial" pitchFamily="34" charset="0"/>
              </a:rPr>
              <a:t>Вычислительные системы, ресурсы хранения и сетевые устройства</a:t>
            </a:r>
          </a:p>
          <a:p>
            <a:pPr lvl="2"/>
            <a:r>
              <a:rPr lang="ru-RU" sz="1600" b="0" i="0" dirty="0">
                <a:solidFill>
                  <a:srgbClr val="000000"/>
                </a:solidFill>
                <a:latin typeface="Arial" pitchFamily="34" charset="0"/>
                <a:cs typeface="Arial" pitchFamily="34" charset="0"/>
              </a:rPr>
              <a:t>Для их функционирования необходимы операционные системы, системное ПО и протоколы</a:t>
            </a:r>
          </a:p>
          <a:p>
            <a:r>
              <a:rPr lang="ru-RU" sz="2000" b="0" i="0" dirty="0">
                <a:solidFill>
                  <a:srgbClr val="000000"/>
                </a:solidFill>
                <a:latin typeface="Arial" pitchFamily="34" charset="0"/>
                <a:cs typeface="Arial" pitchFamily="34" charset="0"/>
              </a:rPr>
              <a:t>Выполняет запросы, генерируемые виртуальным и программно-определяемым уровнями</a:t>
            </a:r>
          </a:p>
        </p:txBody>
      </p:sp>
      <p:sp>
        <p:nvSpPr>
          <p:cNvPr id="83" name="Subtitle 82"/>
          <p:cNvSpPr>
            <a:spLocks noGrp="1"/>
          </p:cNvSpPr>
          <p:nvPr>
            <p:ph type="subTitle" idx="1"/>
          </p:nvPr>
        </p:nvSpPr>
        <p:spPr>
          <a:xfrm>
            <a:off x="379413" y="1141154"/>
            <a:ext cx="8449733" cy="302417"/>
          </a:xfrm>
        </p:spPr>
        <p:txBody>
          <a:bodyPr/>
          <a:lstStyle/>
          <a:p>
            <a:r>
              <a:rPr lang="ru-RU" sz="2000" b="0" i="0" dirty="0">
                <a:solidFill>
                  <a:srgbClr val="000000"/>
                </a:solidFill>
                <a:latin typeface="Arial" pitchFamily="34" charset="0"/>
                <a:cs typeface="Arial" pitchFamily="34" charset="0"/>
              </a:rPr>
              <a:t>Физическая инфраструктура </a:t>
            </a:r>
          </a:p>
        </p:txBody>
      </p:sp>
      <p:sp>
        <p:nvSpPr>
          <p:cNvPr id="43" name="Rounded Rectangle 42"/>
          <p:cNvSpPr/>
          <p:nvPr/>
        </p:nvSpPr>
        <p:spPr>
          <a:xfrm>
            <a:off x="6782847" y="1037279"/>
            <a:ext cx="1343519" cy="172800"/>
          </a:xfrm>
          <a:prstGeom prst="roundRect">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84216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Инфраструктура центра обработки</a:t>
            </a:r>
            <a:br>
              <a:rPr lang="en-US" sz="2600" b="0" i="0" dirty="0">
                <a:solidFill>
                  <a:srgbClr val="FF00FF"/>
                </a:solidFill>
                <a:latin typeface="Arial" pitchFamily="34" charset="0"/>
                <a:cs typeface="Arial" pitchFamily="34" charset="0"/>
              </a:rPr>
            </a:br>
            <a:r>
              <a:rPr lang="ru-RU" sz="2600" b="0" i="0" dirty="0">
                <a:solidFill>
                  <a:srgbClr val="2C95DD"/>
                </a:solidFill>
                <a:latin typeface="Arial" pitchFamily="34" charset="0"/>
                <a:cs typeface="Arial" pitchFamily="34" charset="0"/>
              </a:rPr>
              <a:t>данных </a:t>
            </a:r>
          </a:p>
        </p:txBody>
      </p:sp>
      <p:sp>
        <p:nvSpPr>
          <p:cNvPr id="10" name="Content Placeholder 9"/>
          <p:cNvSpPr>
            <a:spLocks noGrp="1"/>
          </p:cNvSpPr>
          <p:nvPr>
            <p:ph sz="quarter" idx="10"/>
          </p:nvPr>
        </p:nvSpPr>
        <p:spPr>
          <a:xfrm>
            <a:off x="379414" y="1809750"/>
            <a:ext cx="8458200" cy="3124200"/>
          </a:xfrm>
        </p:spPr>
        <p:txBody>
          <a:bodyPr/>
          <a:lstStyle/>
          <a:p>
            <a:r>
              <a:rPr lang="ru-RU" sz="1600" b="0" i="0" dirty="0">
                <a:solidFill>
                  <a:srgbClr val="000000"/>
                </a:solidFill>
                <a:latin typeface="Arial" pitchFamily="34" charset="0"/>
                <a:cs typeface="Arial" pitchFamily="34" charset="0"/>
              </a:rPr>
              <a:t>Виртуализация абстрагирует физические ресурсы и создает виртуальные ресурсы.</a:t>
            </a:r>
          </a:p>
          <a:p>
            <a:r>
              <a:rPr lang="ru-RU" sz="1600" b="0" i="0" dirty="0">
                <a:solidFill>
                  <a:srgbClr val="000000"/>
                </a:solidFill>
                <a:latin typeface="Arial" pitchFamily="34" charset="0"/>
                <a:cs typeface="Arial" pitchFamily="34" charset="0"/>
              </a:rPr>
              <a:t>Виртуальные компоненты:</a:t>
            </a:r>
          </a:p>
          <a:p>
            <a:pPr lvl="1"/>
            <a:r>
              <a:rPr lang="ru-RU" sz="1400" b="0" i="0" dirty="0">
                <a:solidFill>
                  <a:srgbClr val="000000"/>
                </a:solidFill>
                <a:latin typeface="Arial" pitchFamily="34" charset="0"/>
                <a:cs typeface="Arial" pitchFamily="34" charset="0"/>
              </a:rPr>
              <a:t>Виртуальные вычислительные ресурсы, виртуальные ресурсы хранения и виртуальная сеть</a:t>
            </a:r>
          </a:p>
          <a:p>
            <a:pPr lvl="2"/>
            <a:r>
              <a:rPr lang="ru-RU" sz="1200" b="0" i="0" dirty="0">
                <a:solidFill>
                  <a:srgbClr val="000000"/>
                </a:solidFill>
                <a:latin typeface="Arial" pitchFamily="34" charset="0"/>
                <a:cs typeface="Arial" pitchFamily="34" charset="0"/>
              </a:rPr>
              <a:t>Созданы из пулов физических ресурсов при помощи программного обеспечения для виртуализации</a:t>
            </a:r>
          </a:p>
          <a:p>
            <a:r>
              <a:rPr lang="ru-RU" sz="1600" b="0" i="0" dirty="0">
                <a:solidFill>
                  <a:srgbClr val="000000"/>
                </a:solidFill>
                <a:latin typeface="Arial" pitchFamily="34" charset="0"/>
                <a:cs typeface="Arial" pitchFamily="34" charset="0"/>
              </a:rPr>
              <a:t>Преимущества виртуализации:</a:t>
            </a:r>
          </a:p>
          <a:p>
            <a:pPr lvl="1"/>
            <a:r>
              <a:rPr lang="ru-RU" sz="1400" b="0" i="0" dirty="0">
                <a:solidFill>
                  <a:srgbClr val="000000"/>
                </a:solidFill>
                <a:latin typeface="Arial" pitchFamily="34" charset="0"/>
                <a:cs typeface="Arial" pitchFamily="34" charset="0"/>
              </a:rPr>
              <a:t>Консолидация ресурсов и многопользовательская среда</a:t>
            </a:r>
          </a:p>
          <a:p>
            <a:pPr lvl="1"/>
            <a:r>
              <a:rPr lang="ru-RU" sz="1400" b="0" i="0" dirty="0">
                <a:solidFill>
                  <a:srgbClr val="000000"/>
                </a:solidFill>
                <a:latin typeface="Arial" pitchFamily="34" charset="0"/>
                <a:cs typeface="Arial" pitchFamily="34" charset="0"/>
              </a:rPr>
              <a:t>Более эффективное использование ресурсов и повышенная окупаемость инвестиций</a:t>
            </a:r>
          </a:p>
          <a:p>
            <a:pPr lvl="1"/>
            <a:r>
              <a:rPr lang="ru-RU" sz="1400" b="0" i="0" dirty="0">
                <a:solidFill>
                  <a:srgbClr val="000000"/>
                </a:solidFill>
                <a:latin typeface="Arial" pitchFamily="34" charset="0"/>
                <a:cs typeface="Arial" pitchFamily="34" charset="0"/>
              </a:rPr>
              <a:t>Гибкое выделение ресурсов, оперативность и эластичность</a:t>
            </a:r>
          </a:p>
          <a:p>
            <a:endParaRPr lang="en-US" sz="1600" dirty="0">
              <a:latin typeface="Arial" pitchFamily="34" charset="0"/>
              <a:cs typeface="Arial" pitchFamily="34" charset="0"/>
            </a:endParaRPr>
          </a:p>
        </p:txBody>
      </p:sp>
      <p:sp>
        <p:nvSpPr>
          <p:cNvPr id="9" name="Subtitle 8"/>
          <p:cNvSpPr>
            <a:spLocks noGrp="1"/>
          </p:cNvSpPr>
          <p:nvPr>
            <p:ph type="subTitle" idx="1"/>
          </p:nvPr>
        </p:nvSpPr>
        <p:spPr>
          <a:xfrm>
            <a:off x="379413" y="988754"/>
            <a:ext cx="8449733" cy="302417"/>
          </a:xfrm>
        </p:spPr>
        <p:txBody>
          <a:bodyPr/>
          <a:lstStyle/>
          <a:p>
            <a:r>
              <a:rPr lang="ru-RU" sz="1800" b="0" i="0" dirty="0">
                <a:solidFill>
                  <a:srgbClr val="000000"/>
                </a:solidFill>
                <a:latin typeface="Arial" pitchFamily="34" charset="0"/>
                <a:cs typeface="Arial" pitchFamily="34" charset="0"/>
              </a:rPr>
              <a:t>Виртуальная инфраструктура </a:t>
            </a:r>
          </a:p>
        </p:txBody>
      </p:sp>
      <p:sp>
        <p:nvSpPr>
          <p:cNvPr id="7" name="Rounded Rectangle 6"/>
          <p:cNvSpPr/>
          <p:nvPr/>
        </p:nvSpPr>
        <p:spPr>
          <a:xfrm>
            <a:off x="7032354" y="868676"/>
            <a:ext cx="1088639" cy="172800"/>
          </a:xfrm>
          <a:prstGeom prst="roundRect">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Инфраструктура центра обработки</a:t>
            </a:r>
            <a:br>
              <a:rPr lang="en-US" dirty="0">
                <a:solidFill>
                  <a:srgbClr val="FF00FF"/>
                </a:solidFill>
                <a:latin typeface="Arial" pitchFamily="34" charset="0"/>
                <a:cs typeface="Arial" pitchFamily="34" charset="0"/>
              </a:rPr>
            </a:br>
            <a:r>
              <a:rPr lang="ru-RU" sz="2800" b="0" i="0" dirty="0">
                <a:solidFill>
                  <a:srgbClr val="2C95DD"/>
                </a:solidFill>
                <a:latin typeface="Arial" pitchFamily="34" charset="0"/>
                <a:cs typeface="Arial" pitchFamily="34" charset="0"/>
              </a:rPr>
              <a:t>данных </a:t>
            </a:r>
          </a:p>
        </p:txBody>
      </p:sp>
      <p:sp>
        <p:nvSpPr>
          <p:cNvPr id="14" name="Content Placeholder 13"/>
          <p:cNvSpPr>
            <a:spLocks noGrp="1"/>
          </p:cNvSpPr>
          <p:nvPr>
            <p:ph sz="quarter" idx="10"/>
          </p:nvPr>
        </p:nvSpPr>
        <p:spPr>
          <a:xfrm>
            <a:off x="379414" y="1733550"/>
            <a:ext cx="8078786" cy="3124200"/>
          </a:xfrm>
        </p:spPr>
        <p:txBody>
          <a:bodyPr/>
          <a:lstStyle/>
          <a:p>
            <a:r>
              <a:rPr lang="ru-RU" sz="1400" b="0" i="0" dirty="0">
                <a:solidFill>
                  <a:srgbClr val="000000"/>
                </a:solidFill>
                <a:latin typeface="Arial" pitchFamily="34" charset="0"/>
                <a:cs typeface="Arial" pitchFamily="34" charset="0"/>
              </a:rPr>
              <a:t>Развертывание либо на виртуальном, либо на физическом уровне</a:t>
            </a:r>
          </a:p>
          <a:p>
            <a:r>
              <a:rPr lang="ru-RU" sz="1400" b="0" i="0" dirty="0">
                <a:solidFill>
                  <a:srgbClr val="000000"/>
                </a:solidFill>
                <a:latin typeface="Arial" pitchFamily="34" charset="0"/>
                <a:cs typeface="Arial" pitchFamily="34" charset="0"/>
              </a:rPr>
              <a:t>Все компоненты инфраструктуры виртуализируются и объединяются в пулы</a:t>
            </a:r>
          </a:p>
          <a:p>
            <a:pPr lvl="1"/>
            <a:r>
              <a:rPr lang="ru-RU" sz="1400" b="0" i="0" dirty="0">
                <a:solidFill>
                  <a:srgbClr val="000000"/>
                </a:solidFill>
                <a:latin typeface="Arial" pitchFamily="34" charset="0"/>
                <a:cs typeface="Arial" pitchFamily="34" charset="0"/>
              </a:rPr>
              <a:t>Абстрагирование базовых ресурсов от приложений</a:t>
            </a:r>
          </a:p>
          <a:p>
            <a:pPr lvl="1"/>
            <a:r>
              <a:rPr lang="ru-RU" sz="1400" b="0" i="0" dirty="0">
                <a:solidFill>
                  <a:srgbClr val="000000"/>
                </a:solidFill>
                <a:latin typeface="Arial" pitchFamily="34" charset="0"/>
                <a:cs typeface="Arial" pitchFamily="34" charset="0"/>
              </a:rPr>
              <a:t>Реализация модели «ИТ как услуга»</a:t>
            </a:r>
          </a:p>
          <a:p>
            <a:r>
              <a:rPr lang="ru-RU" sz="1400" b="0" i="0" dirty="0">
                <a:solidFill>
                  <a:srgbClr val="000000"/>
                </a:solidFill>
                <a:latin typeface="Arial" pitchFamily="34" charset="0"/>
                <a:cs typeface="Arial" pitchFamily="34" charset="0"/>
              </a:rPr>
              <a:t>Централизованное автоматизированное управление и предоставление гетерогенных ресурсов на основе правил</a:t>
            </a:r>
          </a:p>
          <a:p>
            <a:r>
              <a:rPr lang="ru-RU" sz="1400" b="0" i="0" dirty="0">
                <a:solidFill>
                  <a:srgbClr val="000000"/>
                </a:solidFill>
                <a:latin typeface="Arial" pitchFamily="34" charset="0"/>
                <a:cs typeface="Arial" pitchFamily="34" charset="0"/>
              </a:rPr>
              <a:t>Компоненты:</a:t>
            </a:r>
          </a:p>
          <a:p>
            <a:pPr lvl="1"/>
            <a:r>
              <a:rPr lang="ru-RU" sz="1400" b="0" i="0" dirty="0">
                <a:solidFill>
                  <a:srgbClr val="000000"/>
                </a:solidFill>
                <a:latin typeface="Arial" pitchFamily="34" charset="0"/>
                <a:cs typeface="Arial" pitchFamily="34" charset="0"/>
              </a:rPr>
              <a:t>Программно-определяемые вычислительные ресурсы</a:t>
            </a:r>
          </a:p>
          <a:p>
            <a:pPr lvl="1"/>
            <a:r>
              <a:rPr lang="ru-RU" sz="1400" b="0" i="0" dirty="0">
                <a:solidFill>
                  <a:srgbClr val="000000"/>
                </a:solidFill>
                <a:latin typeface="Arial" pitchFamily="34" charset="0"/>
                <a:cs typeface="Arial" pitchFamily="34" charset="0"/>
              </a:rPr>
              <a:t>Программно-определяемая система хранения</a:t>
            </a:r>
          </a:p>
          <a:p>
            <a:pPr lvl="1"/>
            <a:r>
              <a:rPr lang="ru-RU" sz="1400" b="0" i="0" dirty="0">
                <a:solidFill>
                  <a:srgbClr val="000000"/>
                </a:solidFill>
                <a:latin typeface="Arial" pitchFamily="34" charset="0"/>
                <a:cs typeface="Arial" pitchFamily="34" charset="0"/>
              </a:rPr>
              <a:t>Программно-определяемая сеть</a:t>
            </a:r>
          </a:p>
        </p:txBody>
      </p:sp>
      <p:sp>
        <p:nvSpPr>
          <p:cNvPr id="13" name="Subtitle 12"/>
          <p:cNvSpPr>
            <a:spLocks noGrp="1"/>
          </p:cNvSpPr>
          <p:nvPr>
            <p:ph type="subTitle" idx="1"/>
          </p:nvPr>
        </p:nvSpPr>
        <p:spPr>
          <a:xfrm>
            <a:off x="379413" y="1114425"/>
            <a:ext cx="8449733" cy="302417"/>
          </a:xfrm>
        </p:spPr>
        <p:txBody>
          <a:bodyPr/>
          <a:lstStyle/>
          <a:p>
            <a:r>
              <a:rPr lang="ru-RU" sz="2000" b="0" i="0" dirty="0">
                <a:solidFill>
                  <a:srgbClr val="000000"/>
                </a:solidFill>
                <a:latin typeface="Arial" pitchFamily="34" charset="0"/>
                <a:cs typeface="Arial" pitchFamily="34" charset="0"/>
              </a:rPr>
              <a:t>Программно-определяемая инфраструктура </a:t>
            </a:r>
          </a:p>
        </p:txBody>
      </p:sp>
      <p:sp>
        <p:nvSpPr>
          <p:cNvPr id="9" name="Rounded Rectangle 8"/>
          <p:cNvSpPr/>
          <p:nvPr/>
        </p:nvSpPr>
        <p:spPr>
          <a:xfrm>
            <a:off x="6781928" y="684428"/>
            <a:ext cx="1339199" cy="345600"/>
          </a:xfrm>
          <a:custGeom>
            <a:avLst/>
            <a:gdLst/>
            <a:ahLst/>
            <a:cxnLst/>
            <a:rect l="l" t="t" r="r" b="b"/>
            <a:pathLst>
              <a:path w="1143000" h="438152">
                <a:moveTo>
                  <a:pt x="36513" y="0"/>
                </a:moveTo>
                <a:lnTo>
                  <a:pt x="38101" y="0"/>
                </a:lnTo>
                <a:lnTo>
                  <a:pt x="182563" y="0"/>
                </a:lnTo>
                <a:lnTo>
                  <a:pt x="1104899" y="0"/>
                </a:lnTo>
                <a:cubicBezTo>
                  <a:pt x="1125942" y="0"/>
                  <a:pt x="1143000" y="17058"/>
                  <a:pt x="1143000" y="38101"/>
                </a:cubicBezTo>
                <a:lnTo>
                  <a:pt x="1143000" y="190499"/>
                </a:lnTo>
                <a:cubicBezTo>
                  <a:pt x="1143000" y="211542"/>
                  <a:pt x="1125942" y="228600"/>
                  <a:pt x="1104899" y="228600"/>
                </a:cubicBezTo>
                <a:lnTo>
                  <a:pt x="219076" y="228600"/>
                </a:lnTo>
                <a:lnTo>
                  <a:pt x="219076" y="401639"/>
                </a:lnTo>
                <a:cubicBezTo>
                  <a:pt x="219076" y="421805"/>
                  <a:pt x="202729" y="438152"/>
                  <a:pt x="182563" y="438152"/>
                </a:cubicBezTo>
                <a:lnTo>
                  <a:pt x="36513" y="438152"/>
                </a:lnTo>
                <a:cubicBezTo>
                  <a:pt x="16347" y="438152"/>
                  <a:pt x="0" y="421805"/>
                  <a:pt x="0" y="401639"/>
                </a:cubicBezTo>
                <a:lnTo>
                  <a:pt x="0" y="190499"/>
                </a:lnTo>
                <a:lnTo>
                  <a:pt x="0" y="38101"/>
                </a:lnTo>
                <a:lnTo>
                  <a:pt x="0" y="36513"/>
                </a:lnTo>
                <a:cubicBezTo>
                  <a:pt x="0" y="16347"/>
                  <a:pt x="16347" y="0"/>
                  <a:pt x="36513" y="0"/>
                </a:cubicBezTo>
                <a:close/>
              </a:path>
            </a:pathLst>
          </a:custGeom>
          <a:noFill/>
          <a:ln w="190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Инфраструктура центра обработки</a:t>
            </a:r>
            <a:br>
              <a:rPr lang="en-US" sz="2800" b="0" i="0" dirty="0">
                <a:solidFill>
                  <a:srgbClr val="FF00FF"/>
                </a:solidFill>
                <a:latin typeface="Arial" pitchFamily="34" charset="0"/>
                <a:cs typeface="Arial" pitchFamily="34" charset="0"/>
              </a:rPr>
            </a:br>
            <a:r>
              <a:rPr lang="ru-RU" sz="2800" b="0" i="0" dirty="0">
                <a:solidFill>
                  <a:srgbClr val="2C95DD"/>
                </a:solidFill>
                <a:latin typeface="Arial" pitchFamily="34" charset="0"/>
                <a:cs typeface="Arial" pitchFamily="34" charset="0"/>
              </a:rPr>
              <a:t>данных </a:t>
            </a:r>
          </a:p>
        </p:txBody>
      </p:sp>
      <p:sp>
        <p:nvSpPr>
          <p:cNvPr id="12" name="Content Placeholder 11"/>
          <p:cNvSpPr>
            <a:spLocks noGrp="1"/>
          </p:cNvSpPr>
          <p:nvPr>
            <p:ph sz="quarter" idx="10"/>
          </p:nvPr>
        </p:nvSpPr>
        <p:spPr>
          <a:xfrm>
            <a:off x="379414" y="1657350"/>
            <a:ext cx="8458200" cy="3124200"/>
          </a:xfrm>
        </p:spPr>
        <p:txBody>
          <a:bodyPr/>
          <a:lstStyle/>
          <a:p>
            <a:r>
              <a:rPr lang="ru-RU" sz="2000" b="0" i="0" dirty="0">
                <a:solidFill>
                  <a:srgbClr val="000000"/>
                </a:solidFill>
                <a:latin typeface="Arial" pitchFamily="34" charset="0"/>
                <a:cs typeface="Arial" pitchFamily="34" charset="0"/>
              </a:rPr>
              <a:t>Компонент:</a:t>
            </a:r>
          </a:p>
          <a:p>
            <a:pPr lvl="1"/>
            <a:r>
              <a:rPr lang="ru-RU" sz="1800" b="0" i="0" dirty="0">
                <a:solidFill>
                  <a:srgbClr val="000000"/>
                </a:solidFill>
                <a:latin typeface="Arial" pitchFamily="34" charset="0"/>
                <a:cs typeface="Arial" pitchFamily="34" charset="0"/>
              </a:rPr>
              <a:t>ПО для оркестрации</a:t>
            </a:r>
          </a:p>
          <a:p>
            <a:r>
              <a:rPr lang="ru-RU" sz="2000" b="0" i="0" dirty="0">
                <a:solidFill>
                  <a:srgbClr val="000000"/>
                </a:solidFill>
                <a:latin typeface="Arial" pitchFamily="34" charset="0"/>
                <a:cs typeface="Arial" pitchFamily="34" charset="0"/>
              </a:rPr>
              <a:t>Предоставляет рабочие процессы для выполнения автоматизированных задач</a:t>
            </a:r>
          </a:p>
          <a:p>
            <a:r>
              <a:rPr lang="ru-RU" sz="2000" b="0" i="0" dirty="0">
                <a:solidFill>
                  <a:srgbClr val="000000"/>
                </a:solidFill>
                <a:latin typeface="Arial" pitchFamily="34" charset="0"/>
                <a:cs typeface="Arial" pitchFamily="34" charset="0"/>
              </a:rPr>
              <a:t>Взаимодействует с различными компонентами, расположенными на разных уровнях и обеспечивающими различные функции, </a:t>
            </a:r>
            <a:br>
              <a:rPr lang="en-US" sz="2000" b="0" i="0" dirty="0">
                <a:solidFill>
                  <a:srgbClr val="FF00FF"/>
                </a:solidFill>
                <a:latin typeface="Arial" pitchFamily="34" charset="0"/>
                <a:cs typeface="Arial" pitchFamily="34" charset="0"/>
              </a:rPr>
            </a:br>
            <a:r>
              <a:rPr lang="ru-RU" sz="2000" b="0" i="0" dirty="0">
                <a:solidFill>
                  <a:srgbClr val="000000"/>
                </a:solidFill>
                <a:latin typeface="Arial" pitchFamily="34" charset="0"/>
                <a:cs typeface="Arial" pitchFamily="34" charset="0"/>
              </a:rPr>
              <a:t>для инициирования задач по выделению ресурсов</a:t>
            </a:r>
          </a:p>
          <a:p>
            <a:endParaRPr lang="en-US" dirty="0">
              <a:latin typeface="Arial" pitchFamily="34" charset="0"/>
              <a:cs typeface="Arial" pitchFamily="34" charset="0"/>
            </a:endParaRPr>
          </a:p>
        </p:txBody>
      </p:sp>
      <p:sp>
        <p:nvSpPr>
          <p:cNvPr id="11" name="Subtitle 10"/>
          <p:cNvSpPr>
            <a:spLocks noGrp="1"/>
          </p:cNvSpPr>
          <p:nvPr>
            <p:ph type="subTitle" idx="1"/>
          </p:nvPr>
        </p:nvSpPr>
        <p:spPr>
          <a:xfrm>
            <a:off x="379413" y="1064954"/>
            <a:ext cx="8449733" cy="302417"/>
          </a:xfrm>
        </p:spPr>
        <p:txBody>
          <a:bodyPr/>
          <a:lstStyle/>
          <a:p>
            <a:r>
              <a:rPr lang="ru-RU" sz="2000" b="0" i="0" dirty="0" err="1">
                <a:solidFill>
                  <a:srgbClr val="000000"/>
                </a:solidFill>
                <a:latin typeface="Arial" pitchFamily="34" charset="0"/>
                <a:cs typeface="Arial" pitchFamily="34" charset="0"/>
              </a:rPr>
              <a:t>Оркестрация</a:t>
            </a:r>
            <a:r>
              <a:rPr lang="ru-RU" sz="2000" b="0" i="0" dirty="0">
                <a:solidFill>
                  <a:srgbClr val="000000"/>
                </a:solidFill>
                <a:latin typeface="Arial" pitchFamily="34" charset="0"/>
                <a:cs typeface="Arial" pitchFamily="34" charset="0"/>
              </a:rPr>
              <a:t> (</a:t>
            </a:r>
            <a:r>
              <a:rPr lang="ru-RU" sz="1400" dirty="0">
                <a:solidFill>
                  <a:srgbClr val="000000"/>
                </a:solidFill>
                <a:latin typeface="Arial" pitchFamily="34" charset="0"/>
                <a:cs typeface="Arial" pitchFamily="34" charset="0"/>
              </a:rPr>
              <a:t>автоматизированная организация, координация задач и управление </a:t>
            </a:r>
            <a:r>
              <a:rPr lang="ru-RU" dirty="0">
                <a:solidFill>
                  <a:srgbClr val="000000"/>
                </a:solidFill>
                <a:latin typeface="Arial" pitchFamily="34" charset="0"/>
                <a:cs typeface="Arial" pitchFamily="34" charset="0"/>
              </a:rPr>
              <a:t>)</a:t>
            </a:r>
            <a:endParaRPr lang="ru-RU" sz="2000" b="0" i="0" dirty="0">
              <a:solidFill>
                <a:srgbClr val="000000"/>
              </a:solidFill>
              <a:latin typeface="Arial" pitchFamily="34" charset="0"/>
              <a:cs typeface="Arial" pitchFamily="34" charset="0"/>
            </a:endParaRPr>
          </a:p>
        </p:txBody>
      </p:sp>
      <p:sp>
        <p:nvSpPr>
          <p:cNvPr id="10" name="Rounded Rectangle 9"/>
          <p:cNvSpPr/>
          <p:nvPr/>
        </p:nvSpPr>
        <p:spPr>
          <a:xfrm>
            <a:off x="6783617" y="560894"/>
            <a:ext cx="1343519" cy="129600"/>
          </a:xfrm>
          <a:prstGeom prst="roundRect">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Инфраструктура центра обработки</a:t>
            </a:r>
            <a:br>
              <a:rPr lang="en-US" sz="2800" b="0" i="0" dirty="0">
                <a:solidFill>
                  <a:srgbClr val="FF00FF"/>
                </a:solidFill>
                <a:latin typeface="Arial" pitchFamily="34" charset="0"/>
                <a:cs typeface="Arial" pitchFamily="34" charset="0"/>
              </a:rPr>
            </a:br>
            <a:r>
              <a:rPr lang="ru-RU" sz="2800" b="0" i="0" dirty="0">
                <a:solidFill>
                  <a:srgbClr val="2C95DD"/>
                </a:solidFill>
                <a:latin typeface="Arial" pitchFamily="34" charset="0"/>
                <a:cs typeface="Arial" pitchFamily="34" charset="0"/>
              </a:rPr>
              <a:t>данных </a:t>
            </a:r>
          </a:p>
        </p:txBody>
      </p:sp>
      <p:sp>
        <p:nvSpPr>
          <p:cNvPr id="9" name="Content Placeholder 8"/>
          <p:cNvSpPr>
            <a:spLocks noGrp="1"/>
          </p:cNvSpPr>
          <p:nvPr>
            <p:ph sz="quarter" idx="10"/>
          </p:nvPr>
        </p:nvSpPr>
        <p:spPr>
          <a:xfrm>
            <a:off x="379414" y="1657350"/>
            <a:ext cx="8458200" cy="3124200"/>
          </a:xfrm>
        </p:spPr>
        <p:txBody>
          <a:bodyPr/>
          <a:lstStyle/>
          <a:p>
            <a:r>
              <a:rPr lang="ru-RU" sz="1600" b="0" i="0" dirty="0">
                <a:solidFill>
                  <a:srgbClr val="000000"/>
                </a:solidFill>
                <a:latin typeface="Arial" pitchFamily="34" charset="0"/>
                <a:cs typeface="Arial" pitchFamily="34" charset="0"/>
              </a:rPr>
              <a:t>Предоставляет пользователям ИТ-ресурсы как услугу </a:t>
            </a:r>
          </a:p>
          <a:p>
            <a:pPr lvl="1"/>
            <a:r>
              <a:rPr lang="ru-RU" sz="1600" b="0" i="0" dirty="0">
                <a:solidFill>
                  <a:srgbClr val="000000"/>
                </a:solidFill>
                <a:latin typeface="Arial" pitchFamily="34" charset="0"/>
                <a:cs typeface="Arial" pitchFamily="34" charset="0"/>
              </a:rPr>
              <a:t>Позволяет пользователям достигать требуемых бизнес-результатов </a:t>
            </a:r>
          </a:p>
          <a:p>
            <a:pPr lvl="1"/>
            <a:r>
              <a:rPr lang="ru-RU" sz="1600" b="0" i="0" dirty="0">
                <a:solidFill>
                  <a:srgbClr val="000000"/>
                </a:solidFill>
                <a:latin typeface="Arial" pitchFamily="34" charset="0"/>
                <a:cs typeface="Arial" pitchFamily="34" charset="0"/>
              </a:rPr>
              <a:t>У пользователей нет никаких обязательств, связанных с владением ресурсами</a:t>
            </a:r>
          </a:p>
          <a:p>
            <a:r>
              <a:rPr lang="ru-RU" sz="1600" b="0" i="0" dirty="0">
                <a:solidFill>
                  <a:srgbClr val="000000"/>
                </a:solidFill>
                <a:latin typeface="Arial" pitchFamily="34" charset="0"/>
                <a:cs typeface="Arial" pitchFamily="34" charset="0"/>
              </a:rPr>
              <a:t>Компоненты:</a:t>
            </a:r>
          </a:p>
          <a:p>
            <a:pPr lvl="1"/>
            <a:r>
              <a:rPr lang="ru-RU" sz="1600" b="0" i="0" dirty="0">
                <a:solidFill>
                  <a:srgbClr val="000000"/>
                </a:solidFill>
                <a:latin typeface="Arial" pitchFamily="34" charset="0"/>
                <a:cs typeface="Arial" pitchFamily="34" charset="0"/>
              </a:rPr>
              <a:t>Каталог услуг</a:t>
            </a:r>
          </a:p>
          <a:p>
            <a:pPr lvl="1"/>
            <a:r>
              <a:rPr lang="ru-RU" sz="1600" b="0" i="0" dirty="0">
                <a:solidFill>
                  <a:srgbClr val="000000"/>
                </a:solidFill>
                <a:latin typeface="Arial" pitchFamily="34" charset="0"/>
                <a:cs typeface="Arial" pitchFamily="34" charset="0"/>
              </a:rPr>
              <a:t>Портал самообслуживания</a:t>
            </a:r>
          </a:p>
          <a:p>
            <a:r>
              <a:rPr lang="ru-RU" sz="1600" b="0" i="0" dirty="0">
                <a:solidFill>
                  <a:srgbClr val="000000"/>
                </a:solidFill>
                <a:latin typeface="Arial" pitchFamily="34" charset="0"/>
                <a:cs typeface="Arial" pitchFamily="34" charset="0"/>
              </a:rPr>
              <a:t>Функции уровня услуг:</a:t>
            </a:r>
          </a:p>
          <a:p>
            <a:pPr lvl="1"/>
            <a:r>
              <a:rPr lang="ru-RU" sz="1600" b="0" i="0" dirty="0">
                <a:solidFill>
                  <a:srgbClr val="000000"/>
                </a:solidFill>
                <a:latin typeface="Arial" pitchFamily="34" charset="0"/>
                <a:cs typeface="Arial" pitchFamily="34" charset="0"/>
              </a:rPr>
              <a:t>Хранение информации об услугах в каталоге услуг и предоставление их пользователям</a:t>
            </a:r>
          </a:p>
          <a:p>
            <a:pPr lvl="1"/>
            <a:r>
              <a:rPr lang="ru-RU" sz="1600" b="0" i="0" dirty="0">
                <a:solidFill>
                  <a:srgbClr val="000000"/>
                </a:solidFill>
                <a:latin typeface="Arial" pitchFamily="34" charset="0"/>
                <a:cs typeface="Arial" pitchFamily="34" charset="0"/>
              </a:rPr>
              <a:t>Предоставление пользователям доступа к услугам через портал самообслуживания</a:t>
            </a:r>
          </a:p>
        </p:txBody>
      </p:sp>
      <p:sp>
        <p:nvSpPr>
          <p:cNvPr id="8" name="Subtitle 7"/>
          <p:cNvSpPr>
            <a:spLocks noGrp="1"/>
          </p:cNvSpPr>
          <p:nvPr>
            <p:ph type="subTitle" idx="1"/>
          </p:nvPr>
        </p:nvSpPr>
        <p:spPr>
          <a:xfrm>
            <a:off x="379413" y="1064954"/>
            <a:ext cx="8449733" cy="302417"/>
          </a:xfrm>
        </p:spPr>
        <p:txBody>
          <a:bodyPr/>
          <a:lstStyle/>
          <a:p>
            <a:r>
              <a:rPr lang="ru-RU" sz="2000" b="0" i="0" dirty="0">
                <a:solidFill>
                  <a:srgbClr val="000000"/>
                </a:solidFill>
                <a:latin typeface="Arial" pitchFamily="34" charset="0"/>
                <a:cs typeface="Arial" pitchFamily="34" charset="0"/>
              </a:rPr>
              <a:t>Услуги</a:t>
            </a:r>
          </a:p>
        </p:txBody>
      </p:sp>
      <p:sp>
        <p:nvSpPr>
          <p:cNvPr id="7" name="Rounded Rectangle 6"/>
          <p:cNvSpPr/>
          <p:nvPr/>
        </p:nvSpPr>
        <p:spPr>
          <a:xfrm>
            <a:off x="6783617" y="393770"/>
            <a:ext cx="1343519" cy="172800"/>
          </a:xfrm>
          <a:prstGeom prst="roundRect">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Инфраструктура центра обработки</a:t>
            </a:r>
            <a:br>
              <a:rPr lang="en-US" sz="2600" b="0" i="0" dirty="0">
                <a:solidFill>
                  <a:srgbClr val="FF00FF"/>
                </a:solidFill>
                <a:latin typeface="Arial" pitchFamily="34" charset="0"/>
                <a:cs typeface="Arial" pitchFamily="34" charset="0"/>
              </a:rPr>
            </a:br>
            <a:r>
              <a:rPr lang="ru-RU" sz="2600" b="0" i="0" dirty="0">
                <a:solidFill>
                  <a:srgbClr val="2C95DD"/>
                </a:solidFill>
                <a:latin typeface="Arial" pitchFamily="34" charset="0"/>
                <a:cs typeface="Arial" pitchFamily="34" charset="0"/>
              </a:rPr>
              <a:t>данных </a:t>
            </a:r>
          </a:p>
        </p:txBody>
      </p:sp>
      <p:sp>
        <p:nvSpPr>
          <p:cNvPr id="9" name="Content Placeholder 8"/>
          <p:cNvSpPr>
            <a:spLocks noGrp="1"/>
          </p:cNvSpPr>
          <p:nvPr>
            <p:ph sz="quarter" idx="10"/>
          </p:nvPr>
        </p:nvSpPr>
        <p:spPr>
          <a:xfrm>
            <a:off x="379414" y="1657350"/>
            <a:ext cx="8458200" cy="3124200"/>
          </a:xfrm>
        </p:spPr>
        <p:txBody>
          <a:bodyPr/>
          <a:lstStyle/>
          <a:p>
            <a:r>
              <a:rPr lang="ru-RU" sz="1800" b="0" i="0" dirty="0">
                <a:solidFill>
                  <a:srgbClr val="000000"/>
                </a:solidFill>
                <a:latin typeface="Arial" pitchFamily="34" charset="0"/>
                <a:cs typeface="Arial" pitchFamily="34" charset="0"/>
              </a:rPr>
              <a:t>Позволяет обеспечить доступность услуг в соответствии с соглашением об уровне обслуживания.</a:t>
            </a:r>
          </a:p>
          <a:p>
            <a:r>
              <a:rPr lang="ru-RU" sz="1800" b="0" i="0" dirty="0">
                <a:solidFill>
                  <a:srgbClr val="000000"/>
                </a:solidFill>
                <a:latin typeface="Arial" pitchFamily="34" charset="0"/>
                <a:cs typeface="Arial" pitchFamily="34" charset="0"/>
              </a:rPr>
              <a:t>Поддерживает все уровни с целью бесперебойного предоставления услуг</a:t>
            </a:r>
          </a:p>
          <a:p>
            <a:r>
              <a:rPr lang="ru-RU" sz="1800" b="0" i="0" dirty="0">
                <a:solidFill>
                  <a:srgbClr val="000000"/>
                </a:solidFill>
                <a:latin typeface="Arial" pitchFamily="34" charset="0"/>
                <a:cs typeface="Arial" pitchFamily="34" charset="0"/>
              </a:rPr>
              <a:t>Включает внедрение мер для снижения влияния простоев.</a:t>
            </a:r>
          </a:p>
          <a:p>
            <a:endParaRPr lang="en-US" sz="1800" dirty="0">
              <a:latin typeface="Arial" pitchFamily="34" charset="0"/>
              <a:cs typeface="Arial" pitchFamily="34" charset="0"/>
            </a:endParaRPr>
          </a:p>
        </p:txBody>
      </p:sp>
      <p:sp>
        <p:nvSpPr>
          <p:cNvPr id="8" name="Subtitle 7"/>
          <p:cNvSpPr>
            <a:spLocks noGrp="1"/>
          </p:cNvSpPr>
          <p:nvPr>
            <p:ph type="subTitle" idx="1"/>
          </p:nvPr>
        </p:nvSpPr>
        <p:spPr>
          <a:xfrm>
            <a:off x="379413" y="1064954"/>
            <a:ext cx="8449733" cy="302417"/>
          </a:xfrm>
        </p:spPr>
        <p:txBody>
          <a:bodyPr/>
          <a:lstStyle/>
          <a:p>
            <a:r>
              <a:rPr lang="ru-RU" sz="1800" b="0" i="0" dirty="0">
                <a:solidFill>
                  <a:srgbClr val="000000"/>
                </a:solidFill>
                <a:latin typeface="Arial" pitchFamily="34" charset="0"/>
                <a:cs typeface="Arial" pitchFamily="34" charset="0"/>
              </a:rPr>
              <a:t>Непрерывность бизнеса</a:t>
            </a:r>
          </a:p>
        </p:txBody>
      </p:sp>
      <p:sp>
        <p:nvSpPr>
          <p:cNvPr id="7" name="Rounded Rectangle 6"/>
          <p:cNvSpPr/>
          <p:nvPr/>
        </p:nvSpPr>
        <p:spPr>
          <a:xfrm>
            <a:off x="8130930" y="390913"/>
            <a:ext cx="354240" cy="820800"/>
          </a:xfrm>
          <a:prstGeom prst="roundRect">
            <a:avLst>
              <a:gd name="adj" fmla="val 10214"/>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320706046"/>
              </p:ext>
            </p:extLst>
          </p:nvPr>
        </p:nvGraphicFramePr>
        <p:xfrm>
          <a:off x="827874" y="3211830"/>
          <a:ext cx="7272518" cy="1188720"/>
        </p:xfrm>
        <a:graphic>
          <a:graphicData uri="http://schemas.openxmlformats.org/drawingml/2006/table">
            <a:tbl>
              <a:tblPr firstRow="1" bandRow="1">
                <a:tableStyleId>{5C22544A-7EE6-4342-B048-85BDC9FD1C3A}</a:tableStyleId>
              </a:tblPr>
              <a:tblGrid>
                <a:gridCol w="1379508">
                  <a:extLst>
                    <a:ext uri="{9D8B030D-6E8A-4147-A177-3AD203B41FA5}">
                      <a16:colId xmlns:a16="http://schemas.microsoft.com/office/drawing/2014/main" val="20000"/>
                    </a:ext>
                  </a:extLst>
                </a:gridCol>
                <a:gridCol w="5893010">
                  <a:extLst>
                    <a:ext uri="{9D8B030D-6E8A-4147-A177-3AD203B41FA5}">
                      <a16:colId xmlns:a16="http://schemas.microsoft.com/office/drawing/2014/main" val="20001"/>
                    </a:ext>
                  </a:extLst>
                </a:gridCol>
              </a:tblGrid>
              <a:tr h="14205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Меры</a:t>
                      </a:r>
                    </a:p>
                  </a:txBody>
                  <a:tcPr/>
                </a:tc>
                <a:tc>
                  <a:txBody>
                    <a:bodyPr/>
                    <a:lstStyle/>
                    <a:p>
                      <a:pPr algn="l"/>
                      <a:r>
                        <a:rPr lang="ru-RU" sz="10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8384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ru-RU" sz="1000" b="0" i="0" dirty="0">
                          <a:solidFill>
                            <a:srgbClr val="000000"/>
                          </a:solidFill>
                          <a:latin typeface="Arial" pitchFamily="34" charset="0"/>
                          <a:cs typeface="Arial" pitchFamily="34" charset="0"/>
                        </a:rPr>
                        <a:t>Упреждающие</a:t>
                      </a:r>
                    </a:p>
                    <a:p>
                      <a:pPr algn="l"/>
                      <a:endParaRPr lang="en-US" sz="1000" dirty="0">
                        <a:latin typeface="Arial" pitchFamily="34" charset="0"/>
                        <a:cs typeface="Arial" pitchFamily="34" charset="0"/>
                      </a:endParaRPr>
                    </a:p>
                  </a:txBody>
                  <a:tcPr anchor="ctr"/>
                </a:tc>
                <a:tc>
                  <a:txBody>
                    <a:bodyPr/>
                    <a:lstStyle/>
                    <a:p>
                      <a:pPr marL="285750" indent="-285750" algn="l">
                        <a:buFont typeface="Arial" panose="020B0604020202020204" pitchFamily="34" charset="0"/>
                        <a:buChar char="•"/>
                      </a:pPr>
                      <a:r>
                        <a:rPr lang="ru-RU" sz="1000" b="0" i="0" dirty="0">
                          <a:solidFill>
                            <a:srgbClr val="000000"/>
                          </a:solidFill>
                          <a:latin typeface="Arial" pitchFamily="34" charset="0"/>
                          <a:cs typeface="Arial" pitchFamily="34" charset="0"/>
                        </a:rPr>
                        <a:t>Анализ последствий для бизнеса</a:t>
                      </a:r>
                    </a:p>
                    <a:p>
                      <a:pPr marL="285750" indent="-285750" algn="l">
                        <a:buFont typeface="Arial" panose="020B0604020202020204" pitchFamily="34" charset="0"/>
                        <a:buChar char="•"/>
                      </a:pPr>
                      <a:r>
                        <a:rPr lang="ru-RU" sz="1000" b="0" i="0" dirty="0">
                          <a:solidFill>
                            <a:srgbClr val="000000"/>
                          </a:solidFill>
                          <a:latin typeface="Arial" pitchFamily="34" charset="0"/>
                          <a:cs typeface="Arial" pitchFamily="34" charset="0"/>
                        </a:rPr>
                        <a:t>Оценка степени риска</a:t>
                      </a:r>
                    </a:p>
                    <a:p>
                      <a:pPr marL="285750" indent="-285750" algn="l">
                        <a:buFont typeface="Arial" panose="020B0604020202020204" pitchFamily="34" charset="0"/>
                        <a:buChar char="•"/>
                      </a:pPr>
                      <a:r>
                        <a:rPr lang="ru-RU" sz="1000" b="0" i="0" dirty="0">
                          <a:solidFill>
                            <a:srgbClr val="000000"/>
                          </a:solidFill>
                          <a:latin typeface="Arial" pitchFamily="34" charset="0"/>
                          <a:cs typeface="Arial" pitchFamily="34" charset="0"/>
                        </a:rPr>
                        <a:t>Развертывание технических решений (резервное копирование и репликация)</a:t>
                      </a:r>
                    </a:p>
                  </a:txBody>
                  <a:tcPr/>
                </a:tc>
                <a:extLst>
                  <a:ext uri="{0D108BD9-81ED-4DB2-BD59-A6C34878D82A}">
                    <a16:rowId xmlns:a16="http://schemas.microsoft.com/office/drawing/2014/main" val="10001"/>
                  </a:ext>
                </a:extLst>
              </a:tr>
              <a:tr h="236760">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ru-RU" sz="1000" b="0" i="0" dirty="0">
                          <a:solidFill>
                            <a:srgbClr val="000000"/>
                          </a:solidFill>
                          <a:latin typeface="Arial" pitchFamily="34" charset="0"/>
                          <a:cs typeface="Arial" pitchFamily="34" charset="0"/>
                        </a:rPr>
                        <a:t>Пассивные</a:t>
                      </a:r>
                    </a:p>
                  </a:txBody>
                  <a:tcPr anchor="ctr"/>
                </a:tc>
                <a:tc>
                  <a:txBody>
                    <a:bodyPr/>
                    <a:lstStyle/>
                    <a:p>
                      <a:pPr marL="285750" indent="-285750" algn="l">
                        <a:buFont typeface="Arial" panose="020B0604020202020204" pitchFamily="34" charset="0"/>
                        <a:buChar char="•"/>
                      </a:pPr>
                      <a:r>
                        <a:rPr lang="ru-RU" sz="1000" b="0" i="0" dirty="0">
                          <a:solidFill>
                            <a:srgbClr val="000000"/>
                          </a:solidFill>
                          <a:latin typeface="Arial" pitchFamily="34" charset="0"/>
                          <a:cs typeface="Arial" pitchFamily="34" charset="0"/>
                        </a:rPr>
                        <a:t>Аварийное восстановление</a:t>
                      </a:r>
                    </a:p>
                    <a:p>
                      <a:pPr marL="285750" indent="-285750" algn="l">
                        <a:buFont typeface="Arial" panose="020B0604020202020204" pitchFamily="34" charset="0"/>
                        <a:buChar char="•"/>
                      </a:pPr>
                      <a:r>
                        <a:rPr lang="ru-RU" sz="1000" b="0" i="0" dirty="0">
                          <a:solidFill>
                            <a:srgbClr val="000000"/>
                          </a:solidFill>
                          <a:latin typeface="Arial" pitchFamily="34" charset="0"/>
                          <a:cs typeface="Arial" pitchFamily="34" charset="0"/>
                        </a:rPr>
                        <a:t>Аварийный перезапуск</a:t>
                      </a:r>
                    </a:p>
                  </a:txBody>
                  <a:tcPr/>
                </a:tc>
                <a:extLst>
                  <a:ext uri="{0D108BD9-81ED-4DB2-BD59-A6C34878D82A}">
                    <a16:rowId xmlns:a16="http://schemas.microsoft.com/office/drawing/2014/main" val="10002"/>
                  </a:ext>
                </a:extLst>
              </a:tr>
            </a:tbl>
          </a:graphicData>
        </a:graphic>
      </p:graphicFrame>
      <p:sp>
        <p:nvSpPr>
          <p:cNvPr id="12" name="TextBox 1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Инфраструктура центра обработки</a:t>
            </a:r>
            <a:br>
              <a:rPr lang="en-US" sz="2600" b="0" i="0" dirty="0">
                <a:solidFill>
                  <a:srgbClr val="FF00FF"/>
                </a:solidFill>
                <a:latin typeface="Arial" pitchFamily="34" charset="0"/>
                <a:cs typeface="Arial" pitchFamily="34" charset="0"/>
              </a:rPr>
            </a:br>
            <a:r>
              <a:rPr lang="ru-RU" sz="2600" b="0" i="0" dirty="0">
                <a:solidFill>
                  <a:srgbClr val="2C95DD"/>
                </a:solidFill>
                <a:latin typeface="Arial" pitchFamily="34" charset="0"/>
                <a:cs typeface="Arial" pitchFamily="34" charset="0"/>
              </a:rPr>
              <a:t>данных </a:t>
            </a:r>
          </a:p>
        </p:txBody>
      </p:sp>
      <p:sp>
        <p:nvSpPr>
          <p:cNvPr id="9" name="Content Placeholder 8"/>
          <p:cNvSpPr>
            <a:spLocks noGrp="1"/>
          </p:cNvSpPr>
          <p:nvPr>
            <p:ph sz="quarter" idx="10"/>
          </p:nvPr>
        </p:nvSpPr>
        <p:spPr>
          <a:xfrm>
            <a:off x="379414" y="1657350"/>
            <a:ext cx="8458200" cy="3124200"/>
          </a:xfrm>
        </p:spPr>
        <p:txBody>
          <a:bodyPr/>
          <a:lstStyle/>
          <a:p>
            <a:r>
              <a:rPr lang="ru-RU" sz="1200" b="0" i="0" dirty="0">
                <a:solidFill>
                  <a:srgbClr val="000000"/>
                </a:solidFill>
                <a:latin typeface="Arial" pitchFamily="34" charset="0"/>
                <a:cs typeface="Arial" pitchFamily="34" charset="0"/>
              </a:rPr>
              <a:t>Поддерживает все уровни с целью предоставления безопасных услуг</a:t>
            </a:r>
          </a:p>
          <a:p>
            <a:r>
              <a:rPr lang="ru-RU" sz="1200" b="0" i="0" dirty="0">
                <a:solidFill>
                  <a:srgbClr val="000000"/>
                </a:solidFill>
                <a:latin typeface="Arial" pitchFamily="34" charset="0"/>
                <a:cs typeface="Arial" pitchFamily="34" charset="0"/>
              </a:rPr>
              <a:t>Определяет внедрение:</a:t>
            </a:r>
          </a:p>
          <a:p>
            <a:pPr lvl="1"/>
            <a:r>
              <a:rPr lang="ru-RU" sz="1200" b="0" i="0" dirty="0">
                <a:solidFill>
                  <a:srgbClr val="000000"/>
                </a:solidFill>
                <a:latin typeface="Arial" pitchFamily="34" charset="0"/>
                <a:cs typeface="Arial" pitchFamily="34" charset="0"/>
              </a:rPr>
              <a:t>Административных механизмов</a:t>
            </a:r>
          </a:p>
          <a:p>
            <a:pPr lvl="2"/>
            <a:r>
              <a:rPr lang="ru-RU" sz="1200" b="0" i="0" dirty="0">
                <a:solidFill>
                  <a:srgbClr val="000000"/>
                </a:solidFill>
                <a:latin typeface="Arial" pitchFamily="34" charset="0"/>
                <a:cs typeface="Arial" pitchFamily="34" charset="0"/>
              </a:rPr>
              <a:t>Политики в области безопасности и управления персоналом </a:t>
            </a:r>
          </a:p>
          <a:p>
            <a:pPr lvl="2"/>
            <a:r>
              <a:rPr lang="ru-RU" sz="1200" b="0" i="0" dirty="0">
                <a:solidFill>
                  <a:srgbClr val="000000"/>
                </a:solidFill>
                <a:latin typeface="Arial" pitchFamily="34" charset="0"/>
                <a:cs typeface="Arial" pitchFamily="34" charset="0"/>
              </a:rPr>
              <a:t>Стандартные процедуры по управлению безопасным выполнением операций</a:t>
            </a:r>
          </a:p>
          <a:p>
            <a:pPr lvl="1"/>
            <a:r>
              <a:rPr lang="ru-RU" sz="1200" b="0" i="0" dirty="0">
                <a:solidFill>
                  <a:srgbClr val="000000"/>
                </a:solidFill>
                <a:latin typeface="Arial" pitchFamily="34" charset="0"/>
                <a:cs typeface="Arial" pitchFamily="34" charset="0"/>
              </a:rPr>
              <a:t>Технических механизмов</a:t>
            </a:r>
          </a:p>
          <a:p>
            <a:pPr lvl="2"/>
            <a:r>
              <a:rPr lang="ru-RU" sz="1200" b="0" i="0" dirty="0">
                <a:solidFill>
                  <a:srgbClr val="000000"/>
                </a:solidFill>
                <a:latin typeface="Arial" pitchFamily="34" charset="0"/>
                <a:cs typeface="Arial" pitchFamily="34" charset="0"/>
              </a:rPr>
              <a:t>Брандмауэр</a:t>
            </a:r>
          </a:p>
          <a:p>
            <a:pPr lvl="2"/>
            <a:r>
              <a:rPr lang="ru-RU" sz="1200" b="0" i="0" dirty="0">
                <a:solidFill>
                  <a:srgbClr val="000000"/>
                </a:solidFill>
                <a:latin typeface="Arial" pitchFamily="34" charset="0"/>
                <a:cs typeface="Arial" pitchFamily="34" charset="0"/>
              </a:rPr>
              <a:t>Системы обнаружения и предотвращения атак</a:t>
            </a:r>
          </a:p>
          <a:p>
            <a:pPr lvl="2"/>
            <a:r>
              <a:rPr lang="ru-RU" sz="1200" b="0" i="0" dirty="0">
                <a:solidFill>
                  <a:srgbClr val="000000"/>
                </a:solidFill>
                <a:latin typeface="Arial" pitchFamily="34" charset="0"/>
                <a:cs typeface="Arial" pitchFamily="34" charset="0"/>
              </a:rPr>
              <a:t>Антивирус</a:t>
            </a:r>
          </a:p>
          <a:p>
            <a:r>
              <a:rPr lang="ru-RU" sz="1200" b="0" i="0" dirty="0">
                <a:solidFill>
                  <a:srgbClr val="000000"/>
                </a:solidFill>
                <a:latin typeface="Arial" pitchFamily="34" charset="0"/>
                <a:cs typeface="Arial" pitchFamily="34" charset="0"/>
              </a:rPr>
              <a:t>Механизмы обеспечения безопасности позволяют обеспечить выполнение требований стратегического управления, управления рисками и соответствия требованиям регуляторов (GRC - </a:t>
            </a:r>
            <a:r>
              <a:rPr lang="en-US" sz="1200" dirty="0"/>
              <a:t>Governance, Risk and Compliance)</a:t>
            </a:r>
            <a:br>
              <a:rPr lang="en-US" sz="1200" dirty="0"/>
            </a:br>
            <a:br>
              <a:rPr lang="en-US" sz="1200" dirty="0"/>
            </a:br>
            <a:endParaRPr lang="ru-RU" sz="1200" b="0" i="0" dirty="0">
              <a:solidFill>
                <a:srgbClr val="000000"/>
              </a:solidFill>
              <a:latin typeface="Arial" pitchFamily="34" charset="0"/>
              <a:cs typeface="Arial" pitchFamily="34" charset="0"/>
            </a:endParaRPr>
          </a:p>
        </p:txBody>
      </p:sp>
      <p:sp>
        <p:nvSpPr>
          <p:cNvPr id="8" name="Subtitle 7"/>
          <p:cNvSpPr>
            <a:spLocks noGrp="1"/>
          </p:cNvSpPr>
          <p:nvPr>
            <p:ph type="subTitle" idx="1"/>
          </p:nvPr>
        </p:nvSpPr>
        <p:spPr>
          <a:xfrm>
            <a:off x="379413" y="1064954"/>
            <a:ext cx="8449733" cy="302417"/>
          </a:xfrm>
        </p:spPr>
        <p:txBody>
          <a:bodyPr/>
          <a:lstStyle/>
          <a:p>
            <a:r>
              <a:rPr lang="ru-RU" sz="1800" b="0" i="0" dirty="0">
                <a:solidFill>
                  <a:srgbClr val="000000"/>
                </a:solidFill>
                <a:latin typeface="Arial" pitchFamily="34" charset="0"/>
                <a:cs typeface="Arial" pitchFamily="34" charset="0"/>
              </a:rPr>
              <a:t>Безопасность</a:t>
            </a:r>
          </a:p>
        </p:txBody>
      </p:sp>
      <p:sp>
        <p:nvSpPr>
          <p:cNvPr id="7" name="Rounded Rectangle 6"/>
          <p:cNvSpPr/>
          <p:nvPr/>
        </p:nvSpPr>
        <p:spPr>
          <a:xfrm>
            <a:off x="8487997" y="390913"/>
            <a:ext cx="354240" cy="820800"/>
          </a:xfrm>
          <a:prstGeom prst="roundRect">
            <a:avLst>
              <a:gd name="adj" fmla="val 10214"/>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noChangeArrowheads="1"/>
          </p:cNvPicPr>
          <p:nvPr/>
        </p:nvPicPr>
        <p:blipFill>
          <a:blip r:embed="rId4"/>
          <a:stretch>
            <a:fillRect/>
          </a:stretch>
        </p:blipFill>
        <p:spPr bwMode="auto">
          <a:xfrm>
            <a:off x="6421630" y="146512"/>
            <a:ext cx="2426888" cy="106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Инфраструктура центра обработки</a:t>
            </a:r>
            <a:br>
              <a:rPr lang="en-US" sz="2800" b="0" i="0" dirty="0">
                <a:solidFill>
                  <a:srgbClr val="FF00FF"/>
                </a:solidFill>
                <a:latin typeface="Arial" pitchFamily="34" charset="0"/>
                <a:cs typeface="Arial" pitchFamily="34" charset="0"/>
              </a:rPr>
            </a:br>
            <a:r>
              <a:rPr lang="ru-RU" sz="2800" b="0" i="0" dirty="0">
                <a:solidFill>
                  <a:srgbClr val="2C95DD"/>
                </a:solidFill>
                <a:latin typeface="Arial" pitchFamily="34" charset="0"/>
                <a:cs typeface="Arial" pitchFamily="34" charset="0"/>
              </a:rPr>
              <a:t>данных </a:t>
            </a:r>
          </a:p>
        </p:txBody>
      </p:sp>
      <p:sp>
        <p:nvSpPr>
          <p:cNvPr id="8" name="Subtitle 7"/>
          <p:cNvSpPr>
            <a:spLocks noGrp="1"/>
          </p:cNvSpPr>
          <p:nvPr>
            <p:ph type="subTitle" idx="1"/>
          </p:nvPr>
        </p:nvSpPr>
        <p:spPr>
          <a:xfrm>
            <a:off x="379413" y="1064954"/>
            <a:ext cx="8449733" cy="302417"/>
          </a:xfrm>
        </p:spPr>
        <p:txBody>
          <a:bodyPr/>
          <a:lstStyle/>
          <a:p>
            <a:r>
              <a:rPr lang="ru-RU" sz="2000" b="0" i="0" dirty="0">
                <a:solidFill>
                  <a:srgbClr val="000000"/>
                </a:solidFill>
                <a:latin typeface="Arial" pitchFamily="34" charset="0"/>
                <a:cs typeface="Arial" pitchFamily="34" charset="0"/>
              </a:rPr>
              <a:t>Управление</a:t>
            </a:r>
          </a:p>
        </p:txBody>
      </p:sp>
      <p:sp>
        <p:nvSpPr>
          <p:cNvPr id="7" name="Rounded Rectangle 6"/>
          <p:cNvSpPr/>
          <p:nvPr/>
        </p:nvSpPr>
        <p:spPr>
          <a:xfrm>
            <a:off x="6425597" y="390913"/>
            <a:ext cx="354240" cy="820800"/>
          </a:xfrm>
          <a:prstGeom prst="roundRect">
            <a:avLst>
              <a:gd name="adj" fmla="val 10214"/>
            </a:avLst>
          </a:prstGeom>
          <a:noFill/>
          <a:ln w="19050" cmpd="sng">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3" name="Content Placeholder 2"/>
          <p:cNvSpPr>
            <a:spLocks noGrp="1"/>
          </p:cNvSpPr>
          <p:nvPr>
            <p:ph sz="quarter" idx="10"/>
          </p:nvPr>
        </p:nvSpPr>
        <p:spPr>
          <a:xfrm>
            <a:off x="379414" y="1657350"/>
            <a:ext cx="8458200" cy="3124200"/>
          </a:xfrm>
        </p:spPr>
        <p:txBody>
          <a:bodyPr/>
          <a:lstStyle/>
          <a:p>
            <a:r>
              <a:rPr lang="ru-RU" sz="2000" b="0" i="0" dirty="0">
                <a:solidFill>
                  <a:srgbClr val="000000"/>
                </a:solidFill>
                <a:latin typeface="Arial" pitchFamily="34" charset="0"/>
                <a:cs typeface="Arial" pitchFamily="34" charset="0"/>
              </a:rPr>
              <a:t>Обеспечивает настройку инфраструктуры хранения данных и управление конфигурацией инфраструктуры</a:t>
            </a:r>
          </a:p>
          <a:p>
            <a:r>
              <a:rPr lang="ru-RU" sz="2000" b="0" i="0" dirty="0">
                <a:solidFill>
                  <a:srgbClr val="000000"/>
                </a:solidFill>
                <a:latin typeface="Arial" pitchFamily="34" charset="0"/>
                <a:cs typeface="Arial" pitchFamily="34" charset="0"/>
              </a:rPr>
              <a:t>Обеспечивает выделение  ресурсов и разрешение проблем</a:t>
            </a:r>
          </a:p>
          <a:p>
            <a:r>
              <a:rPr lang="ru-RU" sz="2000" b="0" i="0" dirty="0">
                <a:solidFill>
                  <a:srgbClr val="000000"/>
                </a:solidFill>
                <a:latin typeface="Arial" pitchFamily="34" charset="0"/>
                <a:cs typeface="Arial" pitchFamily="34" charset="0"/>
              </a:rPr>
              <a:t>Обеспечивает управление емкостью и доступностью</a:t>
            </a:r>
          </a:p>
          <a:p>
            <a:r>
              <a:rPr lang="ru-RU" sz="2000" b="0" i="0" dirty="0">
                <a:solidFill>
                  <a:srgbClr val="000000"/>
                </a:solidFill>
                <a:latin typeface="Arial" pitchFamily="34" charset="0"/>
                <a:cs typeface="Arial" pitchFamily="34" charset="0"/>
              </a:rPr>
              <a:t>Обеспечивает соответствие требованиям регуляторов</a:t>
            </a:r>
          </a:p>
          <a:p>
            <a:r>
              <a:rPr lang="ru-RU" sz="2000" b="0" i="0" dirty="0">
                <a:solidFill>
                  <a:srgbClr val="000000"/>
                </a:solidFill>
                <a:latin typeface="Arial" pitchFamily="34" charset="0"/>
                <a:cs typeface="Arial" pitchFamily="34" charset="0"/>
              </a:rPr>
              <a:t>Предоставляет услуги по мониторингу</a:t>
            </a:r>
          </a:p>
        </p:txBody>
      </p:sp>
      <p:sp>
        <p:nvSpPr>
          <p:cNvPr id="10" name="TextBox 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85446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b="0" i="0" dirty="0">
                <a:solidFill>
                  <a:srgbClr val="2C95DD"/>
                </a:solidFill>
                <a:latin typeface="Arial" pitchFamily="34" charset="0"/>
                <a:cs typeface="Arial" pitchFamily="34" charset="0"/>
              </a:rPr>
              <a:t>Лучшая в своем классе и конвергентная инфраструктура</a:t>
            </a:r>
          </a:p>
        </p:txBody>
      </p:sp>
      <p:graphicFrame>
        <p:nvGraphicFramePr>
          <p:cNvPr id="3" name="Content Placeholder 2"/>
          <p:cNvGraphicFramePr>
            <a:graphicFrameLocks noGrp="1"/>
          </p:cNvGraphicFramePr>
          <p:nvPr>
            <p:ph sz="quarter" idx="10"/>
            <p:extLst>
              <p:ext uri="{D42A27DB-BD31-4B8C-83A1-F6EECF244321}">
                <p14:modId xmlns:p14="http://schemas.microsoft.com/office/powerpoint/2010/main" val="2623440380"/>
              </p:ext>
            </p:extLst>
          </p:nvPr>
        </p:nvGraphicFramePr>
        <p:xfrm>
          <a:off x="379413" y="1108710"/>
          <a:ext cx="8458200" cy="3291840"/>
        </p:xfrm>
        <a:graphic>
          <a:graphicData uri="http://schemas.openxmlformats.org/drawingml/2006/table">
            <a:tbl>
              <a:tblPr firstRow="1" bandRow="1">
                <a:tableStyleId>{5C22544A-7EE6-4342-B048-85BDC9FD1C3A}</a:tableStyleId>
              </a:tblPr>
              <a:tblGrid>
                <a:gridCol w="4336603">
                  <a:extLst>
                    <a:ext uri="{9D8B030D-6E8A-4147-A177-3AD203B41FA5}">
                      <a16:colId xmlns:a16="http://schemas.microsoft.com/office/drawing/2014/main" val="20000"/>
                    </a:ext>
                  </a:extLst>
                </a:gridCol>
                <a:gridCol w="4121597">
                  <a:extLst>
                    <a:ext uri="{9D8B030D-6E8A-4147-A177-3AD203B41FA5}">
                      <a16:colId xmlns:a16="http://schemas.microsoft.com/office/drawing/2014/main" val="20001"/>
                    </a:ext>
                  </a:extLst>
                </a:gridCol>
              </a:tblGrid>
              <a:tr h="370840">
                <a:tc>
                  <a:txBody>
                    <a:bodyPr/>
                    <a:lstStyle/>
                    <a:p>
                      <a:r>
                        <a:rPr lang="ru-RU" sz="1700" b="1" i="0" dirty="0">
                          <a:solidFill>
                            <a:srgbClr val="FFFFFF"/>
                          </a:solidFill>
                          <a:latin typeface="Arial" pitchFamily="34" charset="0"/>
                          <a:cs typeface="Arial" pitchFamily="34" charset="0"/>
                        </a:rPr>
                        <a:t>Лучшая в своем классе инфраструктура</a:t>
                      </a:r>
                    </a:p>
                  </a:txBody>
                  <a:tcPr/>
                </a:tc>
                <a:tc>
                  <a:txBody>
                    <a:bodyPr/>
                    <a:lstStyle/>
                    <a:p>
                      <a:r>
                        <a:rPr lang="ru-RU" sz="1700" b="1" i="0" dirty="0">
                          <a:solidFill>
                            <a:srgbClr val="FFFFFF"/>
                          </a:solidFill>
                          <a:latin typeface="Arial" pitchFamily="34" charset="0"/>
                          <a:cs typeface="Arial" pitchFamily="34" charset="0"/>
                        </a:rPr>
                        <a:t>Конвергентная инфраструктура</a:t>
                      </a:r>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Интеграция различных лучших в своем классе компонентов от нескольких поставщиков</a:t>
                      </a:r>
                    </a:p>
                    <a:p>
                      <a:pPr marL="0" indent="0">
                        <a:buFont typeface="Arial" panose="020B0604020202020204" pitchFamily="34" charset="0"/>
                        <a:buNone/>
                      </a:pPr>
                      <a:endParaRPr lang="en-US" sz="1700" dirty="0">
                        <a:latin typeface="Arial" pitchFamily="34" charset="0"/>
                        <a:cs typeface="Arial" pitchFamily="34" charset="0"/>
                      </a:endParaRPr>
                    </a:p>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Предотвращение привязки к оборудованию одного поставщика</a:t>
                      </a:r>
                    </a:p>
                    <a:p>
                      <a:pPr marL="0" indent="0">
                        <a:buFont typeface="Arial" panose="020B0604020202020204" pitchFamily="34" charset="0"/>
                        <a:buNone/>
                      </a:pPr>
                      <a:endParaRPr lang="en-US" sz="1700" dirty="0">
                        <a:latin typeface="Arial" pitchFamily="34" charset="0"/>
                        <a:cs typeface="Arial" pitchFamily="34" charset="0"/>
                      </a:endParaRPr>
                    </a:p>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Возможность перепрофилирования существующих компонентов инфраструктуры</a:t>
                      </a:r>
                    </a:p>
                  </a:txBody>
                  <a:tcPr/>
                </a:tc>
                <a:tc>
                  <a:txBody>
                    <a:bodyPr/>
                    <a:lstStyle/>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Интеграция всех аппаратных и программных компонентов в единый пакет</a:t>
                      </a:r>
                    </a:p>
                    <a:p>
                      <a:pPr marL="0" indent="0">
                        <a:buFont typeface="Arial" panose="020B0604020202020204" pitchFamily="34" charset="0"/>
                        <a:buNone/>
                      </a:pPr>
                      <a:endParaRPr lang="en-US" sz="1700" dirty="0">
                        <a:latin typeface="Arial" pitchFamily="34" charset="0"/>
                        <a:cs typeface="Arial" pitchFamily="34" charset="0"/>
                      </a:endParaRPr>
                    </a:p>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Предоставление предварительно настроенных и оптимизированных автономных модулей</a:t>
                      </a:r>
                    </a:p>
                    <a:p>
                      <a:pPr marL="0" indent="0">
                        <a:buFont typeface="Arial" panose="020B0604020202020204" pitchFamily="34" charset="0"/>
                        <a:buNone/>
                      </a:pPr>
                      <a:endParaRPr lang="en-US" sz="1700" dirty="0">
                        <a:latin typeface="Arial" pitchFamily="34" charset="0"/>
                        <a:cs typeface="Arial" pitchFamily="34" charset="0"/>
                      </a:endParaRPr>
                    </a:p>
                    <a:p>
                      <a:pPr marL="285750" indent="-285750">
                        <a:buFont typeface="Arial" panose="020B0604020202020204" pitchFamily="34" charset="0"/>
                        <a:buChar char="•"/>
                      </a:pPr>
                      <a:r>
                        <a:rPr lang="ru-RU" sz="1700" b="0" i="0" dirty="0">
                          <a:solidFill>
                            <a:srgbClr val="000000"/>
                          </a:solidFill>
                          <a:latin typeface="Arial" pitchFamily="34" charset="0"/>
                          <a:cs typeface="Arial" pitchFamily="34" charset="0"/>
                        </a:rPr>
                        <a:t>Ускорение приобретения и развертывания</a:t>
                      </a:r>
                    </a:p>
                  </a:txBody>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63110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Уровни инфраструктуры центра обработки данных</a:t>
            </a:r>
          </a:p>
          <a:p>
            <a:r>
              <a:rPr lang="ru-RU" sz="2000" b="0" i="0" dirty="0">
                <a:solidFill>
                  <a:srgbClr val="000000"/>
                </a:solidFill>
                <a:latin typeface="Arial" pitchFamily="34" charset="0"/>
                <a:cs typeface="Arial" pitchFamily="34" charset="0"/>
              </a:rPr>
              <a:t>Компоненты и функции каждого уровня</a:t>
            </a:r>
          </a:p>
          <a:p>
            <a:r>
              <a:rPr lang="ru-RU" sz="2000" b="0" i="0" dirty="0">
                <a:solidFill>
                  <a:srgbClr val="000000"/>
                </a:solidFill>
                <a:latin typeface="Arial" pitchFamily="34" charset="0"/>
                <a:cs typeface="Arial" pitchFamily="34" charset="0"/>
              </a:rPr>
              <a:t>Межуровневые функциональности в центре обработки данных</a:t>
            </a:r>
          </a:p>
          <a:p>
            <a:r>
              <a:rPr lang="ru-RU" sz="2000" b="0" i="0" dirty="0">
                <a:solidFill>
                  <a:srgbClr val="000000"/>
                </a:solidFill>
                <a:latin typeface="Arial" pitchFamily="34" charset="0"/>
                <a:cs typeface="Arial" pitchFamily="34" charset="0"/>
              </a:rPr>
              <a:t>Лучшая в своем классе инфраструктура и конвергентная инфраструктура</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59658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Вычислительная система</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Физические и логические компоненты вычислительной системы</a:t>
            </a:r>
          </a:p>
          <a:p>
            <a:pPr>
              <a:defRPr/>
            </a:pPr>
            <a:r>
              <a:rPr lang="ru-RU" sz="2000" b="0" i="0" dirty="0">
                <a:solidFill>
                  <a:srgbClr val="000000"/>
                </a:solidFill>
                <a:latin typeface="Arial" pitchFamily="34" charset="0"/>
                <a:cs typeface="Arial" pitchFamily="34" charset="0"/>
              </a:rPr>
              <a:t>Типы вычислительных систем</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19063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вычислительная система?</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Вычислительная платформа (оборудование и системное программное обеспечение), на которой запускаются приложения</a:t>
            </a:r>
          </a:p>
          <a:p>
            <a:pPr lvl="1"/>
            <a:r>
              <a:rPr lang="ru-RU" sz="1800" b="0" i="0" dirty="0">
                <a:solidFill>
                  <a:srgbClr val="000000"/>
                </a:solidFill>
                <a:latin typeface="Arial" pitchFamily="34" charset="0"/>
                <a:cs typeface="Arial" pitchFamily="34" charset="0"/>
              </a:rPr>
              <a:t>К физическим компонентам относятся процессор, память, внутренняя система хранения и устройства ввода-вывода.</a:t>
            </a:r>
          </a:p>
          <a:p>
            <a:pPr lvl="1"/>
            <a:r>
              <a:rPr lang="ru-RU" sz="1800" b="0" i="0" dirty="0">
                <a:solidFill>
                  <a:srgbClr val="000000"/>
                </a:solidFill>
                <a:latin typeface="Arial" pitchFamily="34" charset="0"/>
                <a:cs typeface="Arial" pitchFamily="34" charset="0"/>
              </a:rPr>
              <a:t>К логическим компонентам относятся ОС, драйверы устройств, файловая система и диспетчер логических томов</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542632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9786" cy="457200"/>
          </a:xfrm>
        </p:spPr>
        <p:txBody>
          <a:bodyPr/>
          <a:lstStyle/>
          <a:p>
            <a:r>
              <a:rPr lang="ru-RU" sz="2700" b="0" i="0" dirty="0">
                <a:solidFill>
                  <a:srgbClr val="2C95DD"/>
                </a:solidFill>
                <a:latin typeface="Arial" pitchFamily="34" charset="0"/>
                <a:cs typeface="Arial" pitchFamily="34" charset="0"/>
              </a:rPr>
              <a:t>Физические компоненты вычислительной системы</a:t>
            </a:r>
          </a:p>
        </p:txBody>
      </p:sp>
      <p:grpSp>
        <p:nvGrpSpPr>
          <p:cNvPr id="5" name="Group 4"/>
          <p:cNvGrpSpPr/>
          <p:nvPr/>
        </p:nvGrpSpPr>
        <p:grpSpPr>
          <a:xfrm>
            <a:off x="379413" y="895350"/>
            <a:ext cx="8458199" cy="3427116"/>
            <a:chOff x="379413" y="991541"/>
            <a:chExt cx="8458199" cy="3427116"/>
          </a:xfrm>
        </p:grpSpPr>
        <p:sp>
          <p:nvSpPr>
            <p:cNvPr id="6" name="Freeform 5"/>
            <p:cNvSpPr/>
            <p:nvPr>
              <p:custDataLst>
                <p:tags r:id="rId2"/>
              </p:custDataLst>
            </p:nvPr>
          </p:nvSpPr>
          <p:spPr>
            <a:xfrm>
              <a:off x="3424364" y="1046377"/>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algn="l"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Микросхема, исполняющая программы путем выполнения арифметических и логических операций, а также операций ввода-вывода</a:t>
              </a:r>
            </a:p>
          </p:txBody>
        </p:sp>
        <p:sp>
          <p:nvSpPr>
            <p:cNvPr id="7" name="Freeform 6"/>
            <p:cNvSpPr/>
            <p:nvPr>
              <p:custDataLst>
                <p:tags r:id="rId3"/>
              </p:custDataLst>
            </p:nvPr>
          </p:nvSpPr>
          <p:spPr>
            <a:xfrm>
              <a:off x="379413" y="991541"/>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solidFill>
              <a:srgbClr val="2C95DD"/>
            </a:solidFill>
            <a:ln>
              <a:solidFill>
                <a:srgbClr val="FFFFFF"/>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918" tIns="55343" rIns="83918" bIns="55343"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Процессор</a:t>
              </a:r>
            </a:p>
          </p:txBody>
        </p:sp>
        <p:sp>
          <p:nvSpPr>
            <p:cNvPr id="8" name="Freeform 7"/>
            <p:cNvSpPr/>
            <p:nvPr>
              <p:custDataLst>
                <p:tags r:id="rId4"/>
              </p:custDataLst>
            </p:nvPr>
          </p:nvSpPr>
          <p:spPr>
            <a:xfrm>
              <a:off x="3424364" y="1622132"/>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algn="l"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Система хранения данных с произвольным доступом, которая содержит программы для выполнения и данные, используемые процессором</a:t>
              </a:r>
            </a:p>
          </p:txBody>
        </p:sp>
        <p:sp>
          <p:nvSpPr>
            <p:cNvPr id="9" name="Freeform 8"/>
            <p:cNvSpPr/>
            <p:nvPr>
              <p:custDataLst>
                <p:tags r:id="rId5"/>
              </p:custDataLst>
            </p:nvPr>
          </p:nvSpPr>
          <p:spPr>
            <a:xfrm>
              <a:off x="379413" y="1567297"/>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solidFill>
              <a:srgbClr val="2C95DD"/>
            </a:solidFill>
            <a:ln>
              <a:solidFill>
                <a:srgbClr val="FFFFFF"/>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918" tIns="55343" rIns="83918" bIns="55343"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Оперативная память (ОЗУ)</a:t>
              </a:r>
            </a:p>
          </p:txBody>
        </p:sp>
        <p:sp>
          <p:nvSpPr>
            <p:cNvPr id="10" name="Freeform 9"/>
            <p:cNvSpPr/>
            <p:nvPr>
              <p:custDataLst>
                <p:tags r:id="rId6"/>
              </p:custDataLst>
            </p:nvPr>
          </p:nvSpPr>
          <p:spPr>
            <a:xfrm>
              <a:off x="3424364" y="2197888"/>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algn="l"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Полупроводниковая память, которая содержит встроенное ПО загрузки, управления питанием и другое встроенное ПО для конкретных устройств</a:t>
              </a:r>
            </a:p>
          </p:txBody>
        </p:sp>
        <p:sp>
          <p:nvSpPr>
            <p:cNvPr id="11" name="Freeform 10"/>
            <p:cNvSpPr/>
            <p:nvPr>
              <p:custDataLst>
                <p:tags r:id="rId7"/>
              </p:custDataLst>
            </p:nvPr>
          </p:nvSpPr>
          <p:spPr>
            <a:xfrm>
              <a:off x="379413" y="2143052"/>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solidFill>
              <a:srgbClr val="2C95DD"/>
            </a:solidFill>
            <a:ln>
              <a:solidFill>
                <a:srgbClr val="FFFFFF"/>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918" tIns="55343" rIns="83918" bIns="55343"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Постоянное запоминающее устройство (ПЗУ)</a:t>
              </a:r>
            </a:p>
          </p:txBody>
        </p:sp>
        <p:sp>
          <p:nvSpPr>
            <p:cNvPr id="12" name="Freeform 11"/>
            <p:cNvSpPr/>
            <p:nvPr>
              <p:custDataLst>
                <p:tags r:id="rId8"/>
              </p:custDataLst>
            </p:nvPr>
          </p:nvSpPr>
          <p:spPr>
            <a:xfrm>
              <a:off x="3424364" y="2773643"/>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algn="l"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Печатная плата, на которой размещены процессор, ОЗУ, ПЗУ, сетевые порты и порты ввода-вывода, а также другие интегрированные компоненты, например, видеокарта и сетевая карта</a:t>
              </a:r>
            </a:p>
          </p:txBody>
        </p:sp>
        <p:sp>
          <p:nvSpPr>
            <p:cNvPr id="13" name="Freeform 12"/>
            <p:cNvSpPr/>
            <p:nvPr>
              <p:custDataLst>
                <p:tags r:id="rId9"/>
              </p:custDataLst>
            </p:nvPr>
          </p:nvSpPr>
          <p:spPr>
            <a:xfrm>
              <a:off x="379413" y="2718808"/>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solidFill>
              <a:srgbClr val="2C95DD"/>
            </a:solidFill>
            <a:ln>
              <a:solidFill>
                <a:srgbClr val="FFFFFF"/>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918" tIns="55343" rIns="83918" bIns="55343"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Материнская плата</a:t>
              </a:r>
            </a:p>
          </p:txBody>
        </p:sp>
        <p:sp>
          <p:nvSpPr>
            <p:cNvPr id="14" name="Freeform 13"/>
            <p:cNvSpPr/>
            <p:nvPr>
              <p:custDataLst>
                <p:tags r:id="rId10"/>
              </p:custDataLst>
            </p:nvPr>
          </p:nvSpPr>
          <p:spPr>
            <a:xfrm>
              <a:off x="3424364" y="3349399"/>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algn="l"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Набор микросхем на материнской плате, предназначенный для управления определенными функциями, например, доступом процессора к ОЗУ и периферийным портам</a:t>
              </a:r>
            </a:p>
          </p:txBody>
        </p:sp>
        <p:sp>
          <p:nvSpPr>
            <p:cNvPr id="15" name="Freeform 14"/>
            <p:cNvSpPr/>
            <p:nvPr>
              <p:custDataLst>
                <p:tags r:id="rId11"/>
              </p:custDataLst>
            </p:nvPr>
          </p:nvSpPr>
          <p:spPr>
            <a:xfrm>
              <a:off x="379413" y="3294564"/>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solidFill>
              <a:srgbClr val="2C95DD"/>
            </a:solidFill>
            <a:ln>
              <a:solidFill>
                <a:srgbClr val="FFFFFF"/>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918" tIns="55343" rIns="83918" bIns="55343"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Чипсет</a:t>
              </a:r>
            </a:p>
          </p:txBody>
        </p:sp>
        <p:sp>
          <p:nvSpPr>
            <p:cNvPr id="16" name="Freeform 15"/>
            <p:cNvSpPr/>
            <p:nvPr>
              <p:custDataLst>
                <p:tags r:id="rId12"/>
              </p:custDataLst>
            </p:nvPr>
          </p:nvSpPr>
          <p:spPr>
            <a:xfrm>
              <a:off x="3424364" y="3925153"/>
              <a:ext cx="5413248" cy="438670"/>
            </a:xfrm>
            <a:custGeom>
              <a:avLst/>
              <a:gdLst>
                <a:gd name="connsiteX0" fmla="*/ 73113 w 438670"/>
                <a:gd name="connsiteY0" fmla="*/ 0 h 5413248"/>
                <a:gd name="connsiteX1" fmla="*/ 365557 w 438670"/>
                <a:gd name="connsiteY1" fmla="*/ 0 h 5413248"/>
                <a:gd name="connsiteX2" fmla="*/ 438670 w 438670"/>
                <a:gd name="connsiteY2" fmla="*/ 73113 h 5413248"/>
                <a:gd name="connsiteX3" fmla="*/ 438670 w 438670"/>
                <a:gd name="connsiteY3" fmla="*/ 5413248 h 5413248"/>
                <a:gd name="connsiteX4" fmla="*/ 438670 w 438670"/>
                <a:gd name="connsiteY4" fmla="*/ 5413248 h 5413248"/>
                <a:gd name="connsiteX5" fmla="*/ 0 w 438670"/>
                <a:gd name="connsiteY5" fmla="*/ 5413248 h 5413248"/>
                <a:gd name="connsiteX6" fmla="*/ 0 w 438670"/>
                <a:gd name="connsiteY6" fmla="*/ 5413248 h 5413248"/>
                <a:gd name="connsiteX7" fmla="*/ 0 w 438670"/>
                <a:gd name="connsiteY7" fmla="*/ 73113 h 5413248"/>
                <a:gd name="connsiteX8" fmla="*/ 73113 w 438670"/>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670" h="5413248">
                  <a:moveTo>
                    <a:pt x="438670" y="902229"/>
                  </a:moveTo>
                  <a:lnTo>
                    <a:pt x="438670" y="4511019"/>
                  </a:lnTo>
                  <a:cubicBezTo>
                    <a:pt x="438670" y="5009301"/>
                    <a:pt x="436017" y="5413242"/>
                    <a:pt x="432745" y="5413242"/>
                  </a:cubicBezTo>
                  <a:lnTo>
                    <a:pt x="0" y="5413242"/>
                  </a:lnTo>
                  <a:lnTo>
                    <a:pt x="0" y="5413242"/>
                  </a:lnTo>
                  <a:lnTo>
                    <a:pt x="0" y="6"/>
                  </a:lnTo>
                  <a:lnTo>
                    <a:pt x="0" y="6"/>
                  </a:lnTo>
                  <a:lnTo>
                    <a:pt x="432745" y="6"/>
                  </a:lnTo>
                  <a:cubicBezTo>
                    <a:pt x="436017" y="6"/>
                    <a:pt x="438670" y="403947"/>
                    <a:pt x="438670" y="902229"/>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 tIns="76278" rIns="131142" bIns="76278" numCol="1" spcCol="1270" anchor="ctr" anchorCtr="0">
              <a:noAutofit/>
            </a:bodyPr>
            <a:lstStyle/>
            <a:p>
              <a:pPr marL="0" lvl="1" defTabSz="533400">
                <a:lnSpc>
                  <a:spcPct val="90000"/>
                </a:lnSpc>
                <a:spcBef>
                  <a:spcPct val="0"/>
                </a:spcBef>
                <a:spcAft>
                  <a:spcPct val="15000"/>
                </a:spcAft>
              </a:pPr>
              <a:r>
                <a:rPr lang="ru-RU" sz="1100" b="0" i="0" dirty="0">
                  <a:solidFill>
                    <a:srgbClr val="000000"/>
                  </a:solidFill>
                  <a:latin typeface="Arial" pitchFamily="34" charset="0"/>
                  <a:cs typeface="Arial" pitchFamily="34" charset="0"/>
                </a:rPr>
                <a:t>Постоянное устройство хранения данных, например жесткий диск или твердотельный диск (SSD)</a:t>
              </a:r>
            </a:p>
          </p:txBody>
        </p:sp>
        <p:sp>
          <p:nvSpPr>
            <p:cNvPr id="17" name="Freeform 16"/>
            <p:cNvSpPr/>
            <p:nvPr>
              <p:custDataLst>
                <p:tags r:id="rId13"/>
              </p:custDataLst>
            </p:nvPr>
          </p:nvSpPr>
          <p:spPr>
            <a:xfrm>
              <a:off x="379413" y="3870319"/>
              <a:ext cx="3044952" cy="548338"/>
            </a:xfrm>
            <a:custGeom>
              <a:avLst/>
              <a:gdLst>
                <a:gd name="connsiteX0" fmla="*/ 0 w 3044952"/>
                <a:gd name="connsiteY0" fmla="*/ 91391 h 548338"/>
                <a:gd name="connsiteX1" fmla="*/ 91391 w 3044952"/>
                <a:gd name="connsiteY1" fmla="*/ 0 h 548338"/>
                <a:gd name="connsiteX2" fmla="*/ 2953561 w 3044952"/>
                <a:gd name="connsiteY2" fmla="*/ 0 h 548338"/>
                <a:gd name="connsiteX3" fmla="*/ 3044952 w 3044952"/>
                <a:gd name="connsiteY3" fmla="*/ 91391 h 548338"/>
                <a:gd name="connsiteX4" fmla="*/ 3044952 w 3044952"/>
                <a:gd name="connsiteY4" fmla="*/ 456947 h 548338"/>
                <a:gd name="connsiteX5" fmla="*/ 2953561 w 3044952"/>
                <a:gd name="connsiteY5" fmla="*/ 548338 h 548338"/>
                <a:gd name="connsiteX6" fmla="*/ 91391 w 3044952"/>
                <a:gd name="connsiteY6" fmla="*/ 548338 h 548338"/>
                <a:gd name="connsiteX7" fmla="*/ 0 w 3044952"/>
                <a:gd name="connsiteY7" fmla="*/ 456947 h 548338"/>
                <a:gd name="connsiteX8" fmla="*/ 0 w 3044952"/>
                <a:gd name="connsiteY8" fmla="*/ 91391 h 5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48338">
                  <a:moveTo>
                    <a:pt x="0" y="91391"/>
                  </a:moveTo>
                  <a:cubicBezTo>
                    <a:pt x="0" y="40917"/>
                    <a:pt x="40917" y="0"/>
                    <a:pt x="91391" y="0"/>
                  </a:cubicBezTo>
                  <a:lnTo>
                    <a:pt x="2953561" y="0"/>
                  </a:lnTo>
                  <a:cubicBezTo>
                    <a:pt x="3004035" y="0"/>
                    <a:pt x="3044952" y="40917"/>
                    <a:pt x="3044952" y="91391"/>
                  </a:cubicBezTo>
                  <a:lnTo>
                    <a:pt x="3044952" y="456947"/>
                  </a:lnTo>
                  <a:cubicBezTo>
                    <a:pt x="3044952" y="507421"/>
                    <a:pt x="3004035" y="548338"/>
                    <a:pt x="2953561" y="548338"/>
                  </a:cubicBezTo>
                  <a:lnTo>
                    <a:pt x="91391" y="548338"/>
                  </a:lnTo>
                  <a:cubicBezTo>
                    <a:pt x="40917" y="548338"/>
                    <a:pt x="0" y="507421"/>
                    <a:pt x="0" y="456947"/>
                  </a:cubicBezTo>
                  <a:lnTo>
                    <a:pt x="0" y="91391"/>
                  </a:lnTo>
                  <a:close/>
                </a:path>
              </a:pathLst>
            </a:custGeom>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6496" tIns="81632" rIns="136496" bIns="81632" numCol="1" spcCol="1270" anchor="ctr" anchorCtr="0">
              <a:noAutofit/>
            </a:bodyPr>
            <a:lstStyle/>
            <a:p>
              <a:pPr lvl="0" algn="ctr" defTabSz="666750">
                <a:lnSpc>
                  <a:spcPct val="90000"/>
                </a:lnSpc>
                <a:spcBef>
                  <a:spcPct val="0"/>
                </a:spcBef>
                <a:spcAft>
                  <a:spcPct val="35000"/>
                </a:spcAft>
              </a:pPr>
              <a:r>
                <a:rPr lang="ru-RU" sz="1400" b="1" i="0" dirty="0">
                  <a:solidFill>
                    <a:srgbClr val="FFFFFF"/>
                  </a:solidFill>
                  <a:latin typeface="Arial" pitchFamily="34" charset="0"/>
                  <a:cs typeface="Arial" pitchFamily="34" charset="0"/>
                </a:rPr>
                <a:t>Внешнее запоминающее устройство</a:t>
              </a:r>
            </a:p>
          </p:txBody>
        </p:sp>
      </p:gr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093985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Операционная система</a:t>
            </a:r>
          </a:p>
          <a:p>
            <a:r>
              <a:rPr lang="ru-RU" sz="2000" b="0" i="0" dirty="0">
                <a:solidFill>
                  <a:srgbClr val="000000"/>
                </a:solidFill>
                <a:latin typeface="Arial" pitchFamily="34" charset="0"/>
                <a:cs typeface="Arial" pitchFamily="34" charset="0"/>
              </a:rPr>
              <a:t>Виртуальная память</a:t>
            </a:r>
          </a:p>
          <a:p>
            <a:r>
              <a:rPr lang="ru-RU" sz="2000" b="0" i="0" dirty="0">
                <a:solidFill>
                  <a:srgbClr val="000000"/>
                </a:solidFill>
                <a:latin typeface="Arial" pitchFamily="34" charset="0"/>
                <a:cs typeface="Arial" pitchFamily="34" charset="0"/>
              </a:rPr>
              <a:t>Диспетчер логических томов</a:t>
            </a:r>
          </a:p>
          <a:p>
            <a:r>
              <a:rPr lang="ru-RU" sz="2000" b="0" i="0" dirty="0">
                <a:solidFill>
                  <a:srgbClr val="000000"/>
                </a:solidFill>
                <a:latin typeface="Arial" pitchFamily="34" charset="0"/>
                <a:cs typeface="Arial" pitchFamily="34" charset="0"/>
              </a:rPr>
              <a:t>Файловая система</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398115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5" name="Subtitle 4"/>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Операционная система</a:t>
            </a:r>
          </a:p>
        </p:txBody>
      </p:sp>
      <p:graphicFrame>
        <p:nvGraphicFramePr>
          <p:cNvPr id="10" name="Table 9"/>
          <p:cNvGraphicFramePr>
            <a:graphicFrameLocks noGrp="1"/>
          </p:cNvGraphicFramePr>
          <p:nvPr>
            <p:extLst>
              <p:ext uri="{D42A27DB-BD31-4B8C-83A1-F6EECF244321}">
                <p14:modId xmlns:p14="http://schemas.microsoft.com/office/powerpoint/2010/main" val="10850541"/>
              </p:ext>
            </p:extLst>
          </p:nvPr>
        </p:nvGraphicFramePr>
        <p:xfrm>
          <a:off x="431539" y="1190898"/>
          <a:ext cx="8326388" cy="3360573"/>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1097959">
                  <a:extLst>
                    <a:ext uri="{9D8B030D-6E8A-4147-A177-3AD203B41FA5}">
                      <a16:colId xmlns:a16="http://schemas.microsoft.com/office/drawing/2014/main" val="20001"/>
                    </a:ext>
                  </a:extLst>
                </a:gridCol>
                <a:gridCol w="1124910">
                  <a:extLst>
                    <a:ext uri="{9D8B030D-6E8A-4147-A177-3AD203B41FA5}">
                      <a16:colId xmlns:a16="http://schemas.microsoft.com/office/drawing/2014/main" val="20002"/>
                    </a:ext>
                  </a:extLst>
                </a:gridCol>
                <a:gridCol w="1183067">
                  <a:extLst>
                    <a:ext uri="{9D8B030D-6E8A-4147-A177-3AD203B41FA5}">
                      <a16:colId xmlns:a16="http://schemas.microsoft.com/office/drawing/2014/main" val="20003"/>
                    </a:ext>
                  </a:extLst>
                </a:gridCol>
                <a:gridCol w="548979">
                  <a:extLst>
                    <a:ext uri="{9D8B030D-6E8A-4147-A177-3AD203B41FA5}">
                      <a16:colId xmlns:a16="http://schemas.microsoft.com/office/drawing/2014/main" val="20004"/>
                    </a:ext>
                  </a:extLst>
                </a:gridCol>
                <a:gridCol w="548979">
                  <a:extLst>
                    <a:ext uri="{9D8B030D-6E8A-4147-A177-3AD203B41FA5}">
                      <a16:colId xmlns:a16="http://schemas.microsoft.com/office/drawing/2014/main" val="20005"/>
                    </a:ext>
                  </a:extLst>
                </a:gridCol>
                <a:gridCol w="1183066">
                  <a:extLst>
                    <a:ext uri="{9D8B030D-6E8A-4147-A177-3AD203B41FA5}">
                      <a16:colId xmlns:a16="http://schemas.microsoft.com/office/drawing/2014/main" val="20006"/>
                    </a:ext>
                  </a:extLst>
                </a:gridCol>
                <a:gridCol w="1124909">
                  <a:extLst>
                    <a:ext uri="{9D8B030D-6E8A-4147-A177-3AD203B41FA5}">
                      <a16:colId xmlns:a16="http://schemas.microsoft.com/office/drawing/2014/main" val="20007"/>
                    </a:ext>
                  </a:extLst>
                </a:gridCol>
                <a:gridCol w="1097959">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tblGrid>
              <a:tr h="335473">
                <a:tc gridSpan="10">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Приложения пользователя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F932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49099">
                <a:tc gridSpan="10">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US" sz="200" b="0" dirty="0">
                        <a:solidFill>
                          <a:schemeClr val="tx1"/>
                        </a:solidFill>
                        <a:latin typeface="Arial" pitchFamily="34" charset="0"/>
                        <a:cs typeface="Arial"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35473">
                <a:tc gridSpan="10">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Операционная система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188067">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US" sz="2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8">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Пользовательский интерфейс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2C2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3"/>
                  </a:ext>
                </a:extLst>
              </a:tr>
              <a:tr h="182347">
                <a:tc>
                  <a:txBody>
                    <a:bodyPr/>
                    <a:lstStyle/>
                    <a:p>
                      <a:pPr algn="ctr"/>
                      <a:endParaRPr lang="en-US" sz="2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4">
                  <a:txBody>
                    <a:bodyPr/>
                    <a:lstStyle/>
                    <a:p>
                      <a:pPr algn="ctr"/>
                      <a:r>
                        <a:rPr lang="ru-RU" sz="1000" b="1" i="0" dirty="0">
                          <a:solidFill>
                            <a:srgbClr val="FFFFFF"/>
                          </a:solidFill>
                          <a:latin typeface="Arial" pitchFamily="34" charset="0"/>
                          <a:cs typeface="Arial" pitchFamily="34" charset="0"/>
                        </a:rPr>
                        <a:t>Графический интерфейс пользователя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ru-RU" sz="1000" b="1" i="0" dirty="0">
                          <a:solidFill>
                            <a:srgbClr val="FFFFFF"/>
                          </a:solidFill>
                          <a:latin typeface="Arial" pitchFamily="34" charset="0"/>
                          <a:cs typeface="Arial" pitchFamily="34" charset="0"/>
                        </a:rPr>
                        <a:t>Командная строка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4"/>
                  </a:ext>
                </a:extLst>
              </a:tr>
              <a:tr h="149099">
                <a:tc>
                  <a:txBody>
                    <a:bodyPr/>
                    <a:lstStyle/>
                    <a:p>
                      <a:pPr algn="ctr"/>
                      <a:endParaRPr lang="en-US" sz="200" b="1"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8">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5"/>
                  </a:ext>
                </a:extLst>
              </a:tr>
              <a:tr h="161260">
                <a:tc>
                  <a:txBody>
                    <a:bodyPr/>
                    <a:lstStyle/>
                    <a:p>
                      <a:pPr algn="ctr"/>
                      <a:endParaRPr lang="en-US" sz="2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8">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Системные вызовы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2C2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6"/>
                  </a:ext>
                </a:extLst>
              </a:tr>
              <a:tr h="149099">
                <a:tc>
                  <a:txBody>
                    <a:bodyPr/>
                    <a:lstStyle/>
                    <a:p>
                      <a:pPr algn="ctr"/>
                      <a:endParaRPr lang="en-US" sz="200" b="1"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8">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7"/>
                  </a:ext>
                </a:extLst>
              </a:tr>
              <a:tr h="169889">
                <a:tc>
                  <a:txBody>
                    <a:bodyPr/>
                    <a:lstStyle/>
                    <a:p>
                      <a:pPr algn="ctr"/>
                      <a:endParaRPr lang="en-US" sz="2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gridSpan="8">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Службы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2C2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8"/>
                  </a:ext>
                </a:extLst>
              </a:tr>
              <a:tr h="169889">
                <a:tc>
                  <a:txBody>
                    <a:bodyPr/>
                    <a:lstStyle/>
                    <a:p>
                      <a:pPr algn="ctr"/>
                      <a:endParaRPr lang="en-US" sz="2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Выполнение программ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Управление памятью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Управление ресурсами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Операции ввода-вывода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hMerge="1">
                  <a:txBody>
                    <a:bodyPr/>
                    <a:lstStyle/>
                    <a:p>
                      <a:endParaRPr lang="en-US"/>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Управление файловой системой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Сеть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000" b="1" i="0" dirty="0">
                          <a:solidFill>
                            <a:srgbClr val="FFFFFF"/>
                          </a:solidFill>
                          <a:latin typeface="Arial" pitchFamily="34" charset="0"/>
                          <a:cs typeface="Arial" pitchFamily="34" charset="0"/>
                        </a:rPr>
                        <a:t>Безопасность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tc>
                  <a:txBody>
                    <a:bodyPr/>
                    <a:lstStyle/>
                    <a:p>
                      <a:pPr algn="ctr"/>
                      <a:endParaRPr lang="en-US" sz="2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07BAD"/>
                    </a:solidFill>
                  </a:tcPr>
                </a:tc>
                <a:extLst>
                  <a:ext uri="{0D108BD9-81ED-4DB2-BD59-A6C34878D82A}">
                    <a16:rowId xmlns:a16="http://schemas.microsoft.com/office/drawing/2014/main" val="10009"/>
                  </a:ext>
                </a:extLst>
              </a:tr>
              <a:tr h="149099">
                <a:tc gridSpan="10">
                  <a:txBody>
                    <a:bodyPr/>
                    <a:lstStyle/>
                    <a:p>
                      <a:pPr algn="ctr"/>
                      <a:endParaRPr lang="en-US" sz="200" b="1"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07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142318">
                <a:tc gridSpan="10">
                  <a:txBody>
                    <a:bodyPr/>
                    <a:lstStyle/>
                    <a:p>
                      <a:pPr algn="ctr"/>
                      <a:endParaRPr lang="en-US" sz="200" b="1" dirty="0">
                        <a:solidFill>
                          <a:schemeClr val="tx1"/>
                        </a:solidFill>
                        <a:latin typeface="Arial" pitchFamily="34" charset="0"/>
                        <a:cs typeface="Arial"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335473">
                <a:tc gridSpan="10">
                  <a:txBody>
                    <a:bodyPr/>
                    <a:lstStyle/>
                    <a:p>
                      <a:pPr algn="ctr"/>
                      <a:r>
                        <a:rPr lang="ru-RU" sz="1200" b="1" i="0" dirty="0">
                          <a:solidFill>
                            <a:srgbClr val="FFFFFF"/>
                          </a:solidFill>
                          <a:latin typeface="Arial" pitchFamily="34" charset="0"/>
                          <a:cs typeface="Arial" pitchFamily="34" charset="0"/>
                        </a:rPr>
                        <a:t>Аппаратное обеспечение вычислительной системы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4757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2"/>
                  </a:ext>
                </a:extLst>
              </a:tr>
            </a:tbl>
          </a:graphicData>
        </a:graphic>
      </p:graphicFrame>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63190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6" name="Subtitle 5"/>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Виртуальная память</a:t>
            </a:r>
          </a:p>
        </p:txBody>
      </p:sp>
      <p:graphicFrame>
        <p:nvGraphicFramePr>
          <p:cNvPr id="7" name="Table 6"/>
          <p:cNvGraphicFramePr>
            <a:graphicFrameLocks noGrp="1"/>
          </p:cNvGraphicFramePr>
          <p:nvPr>
            <p:extLst>
              <p:ext uri="{D42A27DB-BD31-4B8C-83A1-F6EECF244321}">
                <p14:modId xmlns:p14="http://schemas.microsoft.com/office/powerpoint/2010/main" val="3091195605"/>
              </p:ext>
            </p:extLst>
          </p:nvPr>
        </p:nvGraphicFramePr>
        <p:xfrm>
          <a:off x="1607659" y="1259564"/>
          <a:ext cx="1152128" cy="25958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tblGrid>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0000"/>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0001"/>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0002"/>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0003"/>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0004"/>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0005"/>
                  </a:ext>
                </a:extLst>
              </a:tr>
              <a:tr h="370840">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0006"/>
                  </a:ext>
                </a:extLst>
              </a:tr>
            </a:tbl>
          </a:graphicData>
        </a:graphic>
      </p:graphicFrame>
      <p:graphicFrame>
        <p:nvGraphicFramePr>
          <p:cNvPr id="198" name="Table 197"/>
          <p:cNvGraphicFramePr>
            <a:graphicFrameLocks noGrp="1"/>
          </p:cNvGraphicFramePr>
          <p:nvPr>
            <p:extLst>
              <p:ext uri="{D42A27DB-BD31-4B8C-83A1-F6EECF244321}">
                <p14:modId xmlns:p14="http://schemas.microsoft.com/office/powerpoint/2010/main" val="1180870359"/>
              </p:ext>
            </p:extLst>
          </p:nvPr>
        </p:nvGraphicFramePr>
        <p:xfrm>
          <a:off x="5444406" y="1259564"/>
          <a:ext cx="1152128" cy="222504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tblGrid>
              <a:tr h="370840">
                <a:tc>
                  <a:txBody>
                    <a:bodyPr/>
                    <a:lstStyle/>
                    <a:p>
                      <a:endParaRPr lang="en-US" sz="10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A93A"/>
                    </a:solidFill>
                  </a:tcPr>
                </a:tc>
                <a:extLst>
                  <a:ext uri="{0D108BD9-81ED-4DB2-BD59-A6C34878D82A}">
                    <a16:rowId xmlns:a16="http://schemas.microsoft.com/office/drawing/2014/main" val="10000"/>
                  </a:ext>
                </a:extLst>
              </a:tr>
              <a:tr h="370840">
                <a:tc>
                  <a:txBody>
                    <a:bodyPr/>
                    <a:lstStyle/>
                    <a:p>
                      <a:endParaRPr lang="en-US" sz="10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A93A"/>
                    </a:solidFill>
                  </a:tcPr>
                </a:tc>
                <a:extLst>
                  <a:ext uri="{0D108BD9-81ED-4DB2-BD59-A6C34878D82A}">
                    <a16:rowId xmlns:a16="http://schemas.microsoft.com/office/drawing/2014/main" val="10001"/>
                  </a:ext>
                </a:extLst>
              </a:tr>
              <a:tr h="370840">
                <a:tc>
                  <a:txBody>
                    <a:bodyPr/>
                    <a:lstStyle/>
                    <a:p>
                      <a:pPr algn="ctr"/>
                      <a:r>
                        <a:rPr lang="ru-RU" sz="1000" b="1" i="0" dirty="0">
                          <a:solidFill>
                            <a:srgbClr val="000000"/>
                          </a:solidFill>
                          <a:latin typeface="Arial" pitchFamily="34" charset="0"/>
                          <a:cs typeface="Arial" pitchFamily="34" charset="0"/>
                        </a:rPr>
                        <a:t>Недоступно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ru-RU" sz="1000" b="1" i="0" dirty="0">
                          <a:solidFill>
                            <a:srgbClr val="000000"/>
                          </a:solidFill>
                          <a:latin typeface="Arial" pitchFamily="34" charset="0"/>
                          <a:cs typeface="Arial" pitchFamily="34" charset="0"/>
                        </a:rPr>
                        <a:t>Недоступно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370840">
                <a:tc>
                  <a:txBody>
                    <a:bodyPr/>
                    <a:lstStyle/>
                    <a:p>
                      <a:endParaRPr lang="en-US" sz="10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A93A"/>
                    </a:solidFill>
                  </a:tcPr>
                </a:tc>
                <a:extLst>
                  <a:ext uri="{0D108BD9-81ED-4DB2-BD59-A6C34878D82A}">
                    <a16:rowId xmlns:a16="http://schemas.microsoft.com/office/drawing/2014/main" val="10004"/>
                  </a:ext>
                </a:extLst>
              </a:tr>
              <a:tr h="370840">
                <a:tc>
                  <a:txBody>
                    <a:bodyPr/>
                    <a:lstStyle/>
                    <a:p>
                      <a:endParaRPr lang="en-US" sz="1000" dirty="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A93A"/>
                    </a:solidFill>
                  </a:tcPr>
                </a:tc>
                <a:extLst>
                  <a:ext uri="{0D108BD9-81ED-4DB2-BD59-A6C34878D82A}">
                    <a16:rowId xmlns:a16="http://schemas.microsoft.com/office/drawing/2014/main" val="10005"/>
                  </a:ext>
                </a:extLst>
              </a:tr>
            </a:tbl>
          </a:graphicData>
        </a:graphic>
      </p:graphicFrame>
      <p:pic>
        <p:nvPicPr>
          <p:cNvPr id="199" name="Picture 37" descr="C:\Users\patils1\Desktop\2013 Projects\CIS v2\CIS Slide Deck_Based on Book\Colored Graphics\Striped Disk.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155" y="4092677"/>
            <a:ext cx="684000" cy="684000"/>
          </a:xfrm>
          <a:prstGeom prst="rect">
            <a:avLst/>
          </a:prstGeom>
          <a:noFill/>
          <a:extLst>
            <a:ext uri="{909E8E84-426E-40DD-AFC4-6F175D3DCCD1}">
              <a14:hiddenFill xmlns:a14="http://schemas.microsoft.com/office/drawing/2010/main">
                <a:solidFill>
                  <a:srgbClr val="FFFFFF"/>
                </a:solidFill>
              </a14:hiddenFill>
            </a:ext>
          </a:extLst>
        </p:spPr>
      </p:pic>
      <p:cxnSp>
        <p:nvCxnSpPr>
          <p:cNvPr id="200" name="Straight Arrow Connector 199"/>
          <p:cNvCxnSpPr/>
          <p:nvPr/>
        </p:nvCxnSpPr>
        <p:spPr>
          <a:xfrm>
            <a:off x="2760914" y="1467462"/>
            <a:ext cx="2664296" cy="355758"/>
          </a:xfrm>
          <a:prstGeom prst="straightConnector1">
            <a:avLst/>
          </a:prstGeom>
          <a:ln w="31750" cmpd="sng">
            <a:solidFill>
              <a:schemeClr val="tx2">
                <a:lumMod val="7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05" name="Straight Arrow Connector 204"/>
          <p:cNvCxnSpPr/>
          <p:nvPr/>
        </p:nvCxnSpPr>
        <p:spPr>
          <a:xfrm flipV="1">
            <a:off x="2760914" y="1467462"/>
            <a:ext cx="2664296" cy="711518"/>
          </a:xfrm>
          <a:prstGeom prst="straightConnector1">
            <a:avLst/>
          </a:prstGeom>
          <a:ln w="31750" cmpd="sng">
            <a:solidFill>
              <a:schemeClr val="tx2">
                <a:lumMod val="7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08" name="Straight Arrow Connector 207"/>
          <p:cNvCxnSpPr>
            <a:stCxn id="7" idx="3"/>
          </p:cNvCxnSpPr>
          <p:nvPr/>
        </p:nvCxnSpPr>
        <p:spPr>
          <a:xfrm>
            <a:off x="2759787" y="2557504"/>
            <a:ext cx="2665423" cy="344697"/>
          </a:xfrm>
          <a:prstGeom prst="straightConnector1">
            <a:avLst/>
          </a:prstGeom>
          <a:ln w="31750" cmpd="sng">
            <a:solidFill>
              <a:schemeClr val="tx2">
                <a:lumMod val="7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11" name="Straight Arrow Connector 210"/>
          <p:cNvCxnSpPr/>
          <p:nvPr/>
        </p:nvCxnSpPr>
        <p:spPr>
          <a:xfrm>
            <a:off x="2760914" y="3291517"/>
            <a:ext cx="2664296" cy="0"/>
          </a:xfrm>
          <a:prstGeom prst="straightConnector1">
            <a:avLst/>
          </a:prstGeom>
          <a:ln w="31750" cmpd="sng">
            <a:solidFill>
              <a:schemeClr val="tx2">
                <a:lumMod val="7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16" name="Straight Arrow Connector 215"/>
          <p:cNvCxnSpPr/>
          <p:nvPr/>
        </p:nvCxnSpPr>
        <p:spPr>
          <a:xfrm>
            <a:off x="2760914" y="1739832"/>
            <a:ext cx="2898360" cy="2564040"/>
          </a:xfrm>
          <a:prstGeom prst="straightConnector1">
            <a:avLst/>
          </a:prstGeom>
          <a:ln w="31750" cmpd="sng">
            <a:solidFill>
              <a:schemeClr val="accent2">
                <a:lumMod val="60000"/>
                <a:lumOff val="4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20" name="Straight Arrow Connector 219"/>
          <p:cNvCxnSpPr/>
          <p:nvPr/>
        </p:nvCxnSpPr>
        <p:spPr>
          <a:xfrm>
            <a:off x="2760914" y="2902201"/>
            <a:ext cx="2903241" cy="1532476"/>
          </a:xfrm>
          <a:prstGeom prst="straightConnector1">
            <a:avLst/>
          </a:prstGeom>
          <a:ln w="31750" cmpd="sng">
            <a:solidFill>
              <a:schemeClr val="accent2">
                <a:lumMod val="60000"/>
                <a:lumOff val="4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21" name="Straight Arrow Connector 220"/>
          <p:cNvCxnSpPr/>
          <p:nvPr/>
        </p:nvCxnSpPr>
        <p:spPr>
          <a:xfrm>
            <a:off x="2760914" y="3681511"/>
            <a:ext cx="2898360" cy="906463"/>
          </a:xfrm>
          <a:prstGeom prst="straightConnector1">
            <a:avLst/>
          </a:prstGeom>
          <a:ln w="31750" cmpd="sng">
            <a:solidFill>
              <a:schemeClr val="accent2">
                <a:lumMod val="60000"/>
                <a:lumOff val="4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501056" y="3875581"/>
            <a:ext cx="1417376"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b="0" i="0" dirty="0">
                <a:solidFill>
                  <a:srgbClr val="000000"/>
                </a:solidFill>
                <a:latin typeface="Arial" pitchFamily="34" charset="0"/>
                <a:cs typeface="Arial" pitchFamily="34" charset="0"/>
              </a:rPr>
              <a:t>Виртуальная память</a:t>
            </a:r>
          </a:p>
        </p:txBody>
      </p:sp>
      <p:sp>
        <p:nvSpPr>
          <p:cNvPr id="235" name="TextBox 234"/>
          <p:cNvSpPr txBox="1"/>
          <p:nvPr/>
        </p:nvSpPr>
        <p:spPr>
          <a:xfrm>
            <a:off x="5372998" y="3537634"/>
            <a:ext cx="1351652"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b="0" i="0" dirty="0">
                <a:solidFill>
                  <a:srgbClr val="000000"/>
                </a:solidFill>
                <a:latin typeface="Arial" pitchFamily="34" charset="0"/>
                <a:cs typeface="Arial" pitchFamily="34" charset="0"/>
              </a:rPr>
              <a:t>Физическая память</a:t>
            </a:r>
          </a:p>
        </p:txBody>
      </p:sp>
      <p:sp>
        <p:nvSpPr>
          <p:cNvPr id="236" name="TextBox 235"/>
          <p:cNvSpPr txBox="1"/>
          <p:nvPr/>
        </p:nvSpPr>
        <p:spPr>
          <a:xfrm>
            <a:off x="6383314" y="4311567"/>
            <a:ext cx="1640193"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b="0" i="0" dirty="0">
                <a:solidFill>
                  <a:srgbClr val="000000"/>
                </a:solidFill>
                <a:latin typeface="Arial" pitchFamily="34" charset="0"/>
                <a:cs typeface="Arial" pitchFamily="34" charset="0"/>
              </a:rPr>
              <a:t>Диск системы хранения</a:t>
            </a:r>
          </a:p>
        </p:txBody>
      </p:sp>
      <p:sp>
        <p:nvSpPr>
          <p:cNvPr id="237" name="TextBox 236"/>
          <p:cNvSpPr txBox="1"/>
          <p:nvPr/>
        </p:nvSpPr>
        <p:spPr>
          <a:xfrm>
            <a:off x="3275856" y="1101393"/>
            <a:ext cx="1729961"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b="0" i="0" dirty="0">
                <a:solidFill>
                  <a:srgbClr val="000000"/>
                </a:solidFill>
                <a:latin typeface="Arial" pitchFamily="34" charset="0"/>
                <a:cs typeface="Arial" pitchFamily="34" charset="0"/>
              </a:rPr>
              <a:t>Преобразование адресов</a:t>
            </a:r>
          </a:p>
        </p:txBody>
      </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37209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50" name="Content Placeholder 49"/>
          <p:cNvSpPr>
            <a:spLocks noGrp="1"/>
          </p:cNvSpPr>
          <p:nvPr>
            <p:ph sz="quarter" idx="10"/>
          </p:nvPr>
        </p:nvSpPr>
        <p:spPr>
          <a:xfrm>
            <a:off x="379414" y="1295400"/>
            <a:ext cx="4336602" cy="3124200"/>
          </a:xfrm>
        </p:spPr>
        <p:txBody>
          <a:bodyPr/>
          <a:lstStyle/>
          <a:p>
            <a:r>
              <a:rPr lang="ru-RU" sz="1600" b="0" i="0" dirty="0">
                <a:solidFill>
                  <a:srgbClr val="000000"/>
                </a:solidFill>
                <a:latin typeface="Arial" pitchFamily="34" charset="0"/>
                <a:cs typeface="Arial" pitchFamily="34" charset="0"/>
              </a:rPr>
              <a:t>Создает логическую систему хранения на уровне вычислительной системы и управляет ею</a:t>
            </a:r>
          </a:p>
          <a:p>
            <a:pPr lvl="1"/>
            <a:r>
              <a:rPr lang="ru-RU" sz="1400" b="0" i="0" dirty="0">
                <a:solidFill>
                  <a:srgbClr val="000000"/>
                </a:solidFill>
                <a:latin typeface="Arial" pitchFamily="34" charset="0"/>
                <a:cs typeface="Arial" pitchFamily="34" charset="0"/>
              </a:rPr>
              <a:t>Обеспечивает логическое представление физической системы хранения</a:t>
            </a:r>
          </a:p>
          <a:p>
            <a:pPr lvl="1"/>
            <a:r>
              <a:rPr lang="ru-RU" sz="1400" b="0" i="0" dirty="0">
                <a:solidFill>
                  <a:srgbClr val="000000"/>
                </a:solidFill>
                <a:latin typeface="Arial" pitchFamily="34" charset="0"/>
                <a:cs typeface="Arial" pitchFamily="34" charset="0"/>
              </a:rPr>
              <a:t>Устанавливает соответствие между логическими и физическими блоками данных</a:t>
            </a:r>
          </a:p>
          <a:p>
            <a:r>
              <a:rPr lang="ru-RU" sz="1600" b="0" i="0" dirty="0">
                <a:solidFill>
                  <a:srgbClr val="000000"/>
                </a:solidFill>
                <a:latin typeface="Arial" pitchFamily="34" charset="0"/>
                <a:cs typeface="Arial" pitchFamily="34" charset="0"/>
              </a:rPr>
              <a:t>Физические тома формируют группу томов</a:t>
            </a:r>
          </a:p>
          <a:p>
            <a:pPr lvl="1"/>
            <a:r>
              <a:rPr lang="ru-RU" sz="1400" b="0" i="0" dirty="0">
                <a:solidFill>
                  <a:srgbClr val="000000"/>
                </a:solidFill>
                <a:latin typeface="Arial" pitchFamily="34" charset="0"/>
                <a:cs typeface="Arial" pitchFamily="34" charset="0"/>
              </a:rPr>
              <a:t>LVM управляет группами томов как единым целым</a:t>
            </a:r>
          </a:p>
          <a:p>
            <a:r>
              <a:rPr lang="ru-RU" sz="1600" b="0" i="0" dirty="0">
                <a:solidFill>
                  <a:srgbClr val="000000"/>
                </a:solidFill>
                <a:latin typeface="Arial" pitchFamily="34" charset="0"/>
                <a:cs typeface="Arial" pitchFamily="34" charset="0"/>
              </a:rPr>
              <a:t>Логические тома создаются из группы томов</a:t>
            </a:r>
          </a:p>
          <a:p>
            <a:endParaRPr lang="en-US" sz="1800" dirty="0">
              <a:latin typeface="Arial" pitchFamily="34" charset="0"/>
              <a:cs typeface="Arial" pitchFamily="34" charset="0"/>
            </a:endParaRPr>
          </a:p>
        </p:txBody>
      </p:sp>
      <p:sp>
        <p:nvSpPr>
          <p:cNvPr id="6" name="Subtitle 5"/>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Диспетчер логических томов (LVM)</a:t>
            </a:r>
          </a:p>
        </p:txBody>
      </p:sp>
      <p:grpSp>
        <p:nvGrpSpPr>
          <p:cNvPr id="49" name="Group 48"/>
          <p:cNvGrpSpPr/>
          <p:nvPr/>
        </p:nvGrpSpPr>
        <p:grpSpPr>
          <a:xfrm>
            <a:off x="4614416" y="1131590"/>
            <a:ext cx="4152326" cy="3230835"/>
            <a:chOff x="2418110" y="1059582"/>
            <a:chExt cx="4152326" cy="3230835"/>
          </a:xfrm>
        </p:grpSpPr>
        <p:pic>
          <p:nvPicPr>
            <p:cNvPr id="8"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2196" y="1635646"/>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9368" y="1635646"/>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6788" y="1635646"/>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le 10"/>
            <p:cNvSpPr/>
            <p:nvPr/>
          </p:nvSpPr>
          <p:spPr>
            <a:xfrm>
              <a:off x="3052196" y="2518714"/>
              <a:ext cx="2895592" cy="471452"/>
            </a:xfrm>
            <a:prstGeom prst="roundRect">
              <a:avLst/>
            </a:prstGeom>
            <a:solidFill>
              <a:schemeClr val="tx2">
                <a:lumMod val="75000"/>
              </a:schemeClr>
            </a:solidFill>
            <a:ln w="9525" cap="flat" cmpd="sng" algn="ctr">
              <a:noFill/>
              <a:prstDash val="solid"/>
            </a:ln>
            <a:effectLst>
              <a:outerShdw blurRad="40000" dist="20000" dir="5400000" rotWithShape="0">
                <a:srgbClr val="000000">
                  <a:alpha val="38000"/>
                </a:srgbClr>
              </a:outerShdw>
            </a:effectLst>
          </p:spPr>
          <p:txBody>
            <a:bodyPr rtlCol="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lang="ru-RU" sz="1100" b="1" i="0" u="none" dirty="0">
                  <a:solidFill>
                    <a:srgbClr val="FFFFFF"/>
                  </a:solidFill>
                  <a:latin typeface="Arial" pitchFamily="34" charset="0"/>
                  <a:cs typeface="Arial" pitchFamily="34" charset="0"/>
                </a:rPr>
                <a:t>Группа томов</a:t>
              </a:r>
            </a:p>
          </p:txBody>
        </p:sp>
        <p:cxnSp>
          <p:nvCxnSpPr>
            <p:cNvPr id="12" name="Straight Arrow Connector 11"/>
            <p:cNvCxnSpPr>
              <a:stCxn id="8" idx="2"/>
            </p:cNvCxnSpPr>
            <p:nvPr/>
          </p:nvCxnSpPr>
          <p:spPr>
            <a:xfrm>
              <a:off x="3242696" y="2016646"/>
              <a:ext cx="7636" cy="502068"/>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9" idx="2"/>
            </p:cNvCxnSpPr>
            <p:nvPr/>
          </p:nvCxnSpPr>
          <p:spPr>
            <a:xfrm>
              <a:off x="4499868" y="2016646"/>
              <a:ext cx="124" cy="502068"/>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0" idx="2"/>
            </p:cNvCxnSpPr>
            <p:nvPr/>
          </p:nvCxnSpPr>
          <p:spPr>
            <a:xfrm flipH="1">
              <a:off x="5749652" y="2016646"/>
              <a:ext cx="7636" cy="502068"/>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3" name="Text Box 181"/>
            <p:cNvSpPr txBox="1">
              <a:spLocks noChangeArrowheads="1"/>
            </p:cNvSpPr>
            <p:nvPr/>
          </p:nvSpPr>
          <p:spPr bwMode="gray">
            <a:xfrm>
              <a:off x="3461544" y="1059582"/>
              <a:ext cx="2068195" cy="369332"/>
            </a:xfrm>
            <a:prstGeom prst="rect">
              <a:avLst/>
            </a:prstGeom>
            <a:noFill/>
          </p:spPr>
          <p:txBody>
            <a:bodyPr wrap="none" rtlCol="0">
              <a:spAutoFit/>
            </a:bodyPr>
            <a:lstStyle>
              <a:defPPr>
                <a:defRPr lang="en-US"/>
              </a:defPPr>
              <a:lvl1pPr>
                <a:defRPr sz="1000" b="1">
                  <a:solidFill>
                    <a:schemeClr val="bg2"/>
                  </a:solidFill>
                </a:defRPr>
              </a:lvl1pPr>
            </a:lstStyle>
            <a:p>
              <a:r>
                <a:rPr lang="ru-RU" sz="1800" b="0" i="0" dirty="0">
                  <a:solidFill>
                    <a:srgbClr val="000000"/>
                  </a:solidFill>
                  <a:latin typeface="Arial" pitchFamily="34" charset="0"/>
                  <a:cs typeface="Arial" pitchFamily="34" charset="0"/>
                </a:rPr>
                <a:t>Физические тома</a:t>
              </a:r>
            </a:p>
          </p:txBody>
        </p:sp>
        <p:sp>
          <p:nvSpPr>
            <p:cNvPr id="29" name="Rounded Rectangle 28"/>
            <p:cNvSpPr/>
            <p:nvPr/>
          </p:nvSpPr>
          <p:spPr>
            <a:xfrm>
              <a:off x="2418110" y="3786361"/>
              <a:ext cx="830936" cy="504056"/>
            </a:xfrm>
            <a:prstGeom prst="roundRect">
              <a:avLst/>
            </a:prstGeom>
            <a:solidFill>
              <a:schemeClr val="bg1">
                <a:lumMod val="65000"/>
              </a:schemeClr>
            </a:solidFill>
            <a:ln w="12700" cmpd="sng">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Логический том</a:t>
              </a:r>
            </a:p>
          </p:txBody>
        </p:sp>
        <p:sp>
          <p:nvSpPr>
            <p:cNvPr id="30" name="Rounded Rectangle 29"/>
            <p:cNvSpPr/>
            <p:nvPr/>
          </p:nvSpPr>
          <p:spPr>
            <a:xfrm>
              <a:off x="4078805" y="3786361"/>
              <a:ext cx="830936" cy="504056"/>
            </a:xfrm>
            <a:prstGeom prst="roundRect">
              <a:avLst/>
            </a:prstGeom>
            <a:solidFill>
              <a:schemeClr val="bg1">
                <a:lumMod val="65000"/>
              </a:schemeClr>
            </a:solidFill>
            <a:ln w="12700" cmpd="sng">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Логический том</a:t>
              </a:r>
            </a:p>
          </p:txBody>
        </p:sp>
        <p:sp>
          <p:nvSpPr>
            <p:cNvPr id="31" name="Rounded Rectangle 30"/>
            <p:cNvSpPr/>
            <p:nvPr/>
          </p:nvSpPr>
          <p:spPr>
            <a:xfrm>
              <a:off x="5739500" y="3786361"/>
              <a:ext cx="830936" cy="504056"/>
            </a:xfrm>
            <a:prstGeom prst="roundRect">
              <a:avLst/>
            </a:prstGeom>
            <a:solidFill>
              <a:schemeClr val="bg1">
                <a:lumMod val="65000"/>
              </a:schemeClr>
            </a:solidFill>
            <a:ln w="12700" cmpd="sng">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Логический том</a:t>
              </a:r>
            </a:p>
          </p:txBody>
        </p:sp>
        <p:sp>
          <p:nvSpPr>
            <p:cNvPr id="19" name="Left Brace 18"/>
            <p:cNvSpPr/>
            <p:nvPr/>
          </p:nvSpPr>
          <p:spPr>
            <a:xfrm rot="5400000">
              <a:off x="4398920" y="890"/>
              <a:ext cx="202144" cy="2895592"/>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itchFamily="34" charset="0"/>
                <a:cs typeface="Arial" pitchFamily="34" charset="0"/>
              </a:endParaRPr>
            </a:p>
          </p:txBody>
        </p:sp>
        <p:cxnSp>
          <p:nvCxnSpPr>
            <p:cNvPr id="20" name="Straight Arrow Connector 19"/>
            <p:cNvCxnSpPr/>
            <p:nvPr/>
          </p:nvCxnSpPr>
          <p:spPr>
            <a:xfrm>
              <a:off x="2833578" y="3288655"/>
              <a:ext cx="0" cy="497706"/>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814528" y="3291830"/>
              <a:ext cx="3360760" cy="0"/>
            </a:xfrm>
            <a:prstGeom prst="straightConnector1">
              <a:avLst/>
            </a:prstGeom>
            <a:ln w="38100" cmpd="sng">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154968" y="3275955"/>
              <a:ext cx="0" cy="510406"/>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4494273" y="3288655"/>
              <a:ext cx="0" cy="497706"/>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4494273" y="2990166"/>
              <a:ext cx="0" cy="288000"/>
            </a:xfrm>
            <a:prstGeom prst="straightConnector1">
              <a:avLst/>
            </a:prstGeom>
            <a:ln w="38100" cmpd="sng">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5" name="TextBox 2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909368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6" name="Subtitle 5"/>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Пример LVM: разбиение и объединение</a:t>
            </a:r>
          </a:p>
        </p:txBody>
      </p:sp>
      <p:sp>
        <p:nvSpPr>
          <p:cNvPr id="8" name="Line 1097"/>
          <p:cNvSpPr>
            <a:spLocks noChangeShapeType="1"/>
          </p:cNvSpPr>
          <p:nvPr/>
        </p:nvSpPr>
        <p:spPr bwMode="auto">
          <a:xfrm flipH="1">
            <a:off x="612000" y="1851670"/>
            <a:ext cx="7920000" cy="0"/>
          </a:xfrm>
          <a:prstGeom prst="line">
            <a:avLst/>
          </a:prstGeom>
          <a:ln w="38100" cmpd="sng">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txBody>
          <a:bodyPr/>
          <a:lstStyle/>
          <a:p>
            <a:endParaRPr lang="en-US">
              <a:latin typeface="Arial" pitchFamily="34" charset="0"/>
              <a:cs typeface="Arial" pitchFamily="34" charset="0"/>
            </a:endParaRPr>
          </a:p>
        </p:txBody>
      </p:sp>
      <p:sp>
        <p:nvSpPr>
          <p:cNvPr id="9" name="Line 1098"/>
          <p:cNvSpPr>
            <a:spLocks noChangeShapeType="1"/>
          </p:cNvSpPr>
          <p:nvPr/>
        </p:nvSpPr>
        <p:spPr bwMode="auto">
          <a:xfrm flipH="1">
            <a:off x="612000" y="3363838"/>
            <a:ext cx="7920000" cy="0"/>
          </a:xfrm>
          <a:prstGeom prst="line">
            <a:avLst/>
          </a:prstGeom>
          <a:ln w="38100" cmpd="sng">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txBody>
          <a:bodyPr/>
          <a:lstStyle/>
          <a:p>
            <a:endParaRPr lang="en-US">
              <a:latin typeface="Arial" pitchFamily="34" charset="0"/>
              <a:cs typeface="Arial" pitchFamily="34" charset="0"/>
            </a:endParaRPr>
          </a:p>
        </p:txBody>
      </p:sp>
      <p:grpSp>
        <p:nvGrpSpPr>
          <p:cNvPr id="65" name="Group 64"/>
          <p:cNvGrpSpPr/>
          <p:nvPr/>
        </p:nvGrpSpPr>
        <p:grpSpPr>
          <a:xfrm>
            <a:off x="611741" y="1303725"/>
            <a:ext cx="1971922" cy="2699856"/>
            <a:chOff x="602475" y="1303725"/>
            <a:chExt cx="1971922" cy="2699856"/>
          </a:xfrm>
        </p:grpSpPr>
        <p:sp>
          <p:nvSpPr>
            <p:cNvPr id="13" name="Rectangle 1102"/>
            <p:cNvSpPr>
              <a:spLocks noChangeArrowheads="1"/>
            </p:cNvSpPr>
            <p:nvPr>
              <p:custDataLst>
                <p:tags r:id="rId2"/>
              </p:custDataLst>
            </p:nvPr>
          </p:nvSpPr>
          <p:spPr bwMode="auto">
            <a:xfrm>
              <a:off x="612000" y="2530542"/>
              <a:ext cx="1303562" cy="246221"/>
            </a:xfrm>
            <a:prstGeom prst="rect">
              <a:avLst/>
            </a:prstGeom>
            <a:noFill/>
          </p:spPr>
          <p:txBody>
            <a:bodyPr wrap="none" rtlCol="0">
              <a:spAutoFit/>
            </a:bodyPr>
            <a:lstStyle/>
            <a:p>
              <a:r>
                <a:rPr lang="ru-RU" sz="1000" b="1" i="0" dirty="0">
                  <a:solidFill>
                    <a:srgbClr val="000000"/>
                  </a:solidFill>
                  <a:latin typeface="Arial" pitchFamily="34" charset="0"/>
                  <a:cs typeface="Arial" pitchFamily="34" charset="0"/>
                </a:rPr>
                <a:t>Логические тома</a:t>
              </a:r>
            </a:p>
          </p:txBody>
        </p:sp>
        <p:sp>
          <p:nvSpPr>
            <p:cNvPr id="14" name="Rectangle 1103"/>
            <p:cNvSpPr>
              <a:spLocks noChangeArrowheads="1"/>
            </p:cNvSpPr>
            <p:nvPr>
              <p:custDataLst>
                <p:tags r:id="rId3"/>
              </p:custDataLst>
            </p:nvPr>
          </p:nvSpPr>
          <p:spPr bwMode="auto">
            <a:xfrm>
              <a:off x="602475" y="3757360"/>
              <a:ext cx="1292341" cy="246221"/>
            </a:xfrm>
            <a:prstGeom prst="rect">
              <a:avLst/>
            </a:prstGeom>
            <a:noFill/>
          </p:spPr>
          <p:txBody>
            <a:bodyPr wrap="none" rtlCol="0">
              <a:spAutoFit/>
            </a:bodyPr>
            <a:lstStyle/>
            <a:p>
              <a:r>
                <a:rPr lang="ru-RU" sz="1000" b="1" i="0" dirty="0">
                  <a:solidFill>
                    <a:srgbClr val="000000"/>
                  </a:solidFill>
                  <a:latin typeface="Arial" pitchFamily="34" charset="0"/>
                  <a:cs typeface="Arial" pitchFamily="34" charset="0"/>
                </a:rPr>
                <a:t>Физические тома</a:t>
              </a:r>
            </a:p>
          </p:txBody>
        </p:sp>
        <p:sp>
          <p:nvSpPr>
            <p:cNvPr id="15" name="Rectangle 1104"/>
            <p:cNvSpPr>
              <a:spLocks noChangeArrowheads="1"/>
            </p:cNvSpPr>
            <p:nvPr>
              <p:custDataLst>
                <p:tags r:id="rId4"/>
              </p:custDataLst>
            </p:nvPr>
          </p:nvSpPr>
          <p:spPr bwMode="auto">
            <a:xfrm>
              <a:off x="612000" y="1303725"/>
              <a:ext cx="1962397" cy="246221"/>
            </a:xfrm>
            <a:prstGeom prst="rect">
              <a:avLst/>
            </a:prstGeom>
            <a:noFill/>
          </p:spPr>
          <p:txBody>
            <a:bodyPr wrap="none" rtlCol="0">
              <a:spAutoFit/>
            </a:bodyPr>
            <a:lstStyle/>
            <a:p>
              <a:r>
                <a:rPr lang="ru-RU" sz="1000" b="1" i="0" dirty="0">
                  <a:solidFill>
                    <a:srgbClr val="000000"/>
                  </a:solidFill>
                  <a:latin typeface="Arial" pitchFamily="34" charset="0"/>
                  <a:cs typeface="Arial" pitchFamily="34" charset="0"/>
                </a:rPr>
                <a:t>Вычислительные системы</a:t>
              </a:r>
            </a:p>
          </p:txBody>
        </p:sp>
      </p:grpSp>
      <p:grpSp>
        <p:nvGrpSpPr>
          <p:cNvPr id="62" name="Group 61"/>
          <p:cNvGrpSpPr/>
          <p:nvPr/>
        </p:nvGrpSpPr>
        <p:grpSpPr>
          <a:xfrm>
            <a:off x="2553496" y="1312981"/>
            <a:ext cx="2522560" cy="3198220"/>
            <a:chOff x="897312" y="1312981"/>
            <a:chExt cx="2522560" cy="3198220"/>
          </a:xfrm>
        </p:grpSpPr>
        <p:cxnSp>
          <p:nvCxnSpPr>
            <p:cNvPr id="36" name="Straight Connector 35"/>
            <p:cNvCxnSpPr>
              <a:stCxn id="25" idx="0"/>
              <a:endCxn id="33" idx="2"/>
            </p:cNvCxnSpPr>
            <p:nvPr/>
          </p:nvCxnSpPr>
          <p:spPr>
            <a:xfrm flipV="1">
              <a:off x="2150976" y="1523293"/>
              <a:ext cx="0" cy="2128577"/>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sp>
          <p:nvSpPr>
            <p:cNvPr id="10" name="Rectangle 1099"/>
            <p:cNvSpPr>
              <a:spLocks noChangeArrowheads="1"/>
            </p:cNvSpPr>
            <p:nvPr/>
          </p:nvSpPr>
          <p:spPr bwMode="auto">
            <a:xfrm>
              <a:off x="1677566" y="4249591"/>
              <a:ext cx="958917" cy="261610"/>
            </a:xfrm>
            <a:prstGeom prst="rect">
              <a:avLst/>
            </a:prstGeom>
            <a:noFill/>
          </p:spPr>
          <p:txBody>
            <a:bodyPr wrap="none" rtlCol="0">
              <a:spAutoFit/>
            </a:bodyPr>
            <a:lstStyle/>
            <a:p>
              <a:r>
                <a:rPr lang="ru-RU" sz="1100" b="1" i="0" dirty="0">
                  <a:solidFill>
                    <a:srgbClr val="000000"/>
                  </a:solidFill>
                  <a:latin typeface="Arial" pitchFamily="34" charset="0"/>
                  <a:cs typeface="Arial" pitchFamily="34" charset="0"/>
                </a:rPr>
                <a:t>Разбиение</a:t>
              </a:r>
            </a:p>
          </p:txBody>
        </p:sp>
        <p:sp>
          <p:nvSpPr>
            <p:cNvPr id="12" name="Freeform 1101"/>
            <p:cNvSpPr>
              <a:spLocks/>
            </p:cNvSpPr>
            <p:nvPr/>
          </p:nvSpPr>
          <p:spPr bwMode="auto">
            <a:xfrm>
              <a:off x="3029987" y="2561233"/>
              <a:ext cx="12700" cy="12700"/>
            </a:xfrm>
            <a:custGeom>
              <a:avLst/>
              <a:gdLst>
                <a:gd name="T0" fmla="*/ 24 w 24"/>
                <a:gd name="T1" fmla="*/ 12 h 24"/>
                <a:gd name="T2" fmla="*/ 23 w 24"/>
                <a:gd name="T3" fmla="*/ 12 h 24"/>
                <a:gd name="T4" fmla="*/ 23 w 24"/>
                <a:gd name="T5" fmla="*/ 13 h 24"/>
                <a:gd name="T6" fmla="*/ 23 w 24"/>
                <a:gd name="T7" fmla="*/ 15 h 24"/>
                <a:gd name="T8" fmla="*/ 20 w 24"/>
                <a:gd name="T9" fmla="*/ 20 h 24"/>
                <a:gd name="T10" fmla="*/ 16 w 24"/>
                <a:gd name="T11" fmla="*/ 23 h 24"/>
                <a:gd name="T12" fmla="*/ 13 w 24"/>
                <a:gd name="T13" fmla="*/ 23 h 24"/>
                <a:gd name="T14" fmla="*/ 12 w 24"/>
                <a:gd name="T15" fmla="*/ 23 h 24"/>
                <a:gd name="T16" fmla="*/ 12 w 24"/>
                <a:gd name="T17" fmla="*/ 24 h 24"/>
                <a:gd name="T18" fmla="*/ 7 w 24"/>
                <a:gd name="T19" fmla="*/ 23 h 24"/>
                <a:gd name="T20" fmla="*/ 4 w 24"/>
                <a:gd name="T21" fmla="*/ 20 h 24"/>
                <a:gd name="T22" fmla="*/ 0 w 24"/>
                <a:gd name="T23" fmla="*/ 15 h 24"/>
                <a:gd name="T24" fmla="*/ 0 w 24"/>
                <a:gd name="T25" fmla="*/ 12 h 24"/>
                <a:gd name="T26" fmla="*/ 4 w 24"/>
                <a:gd name="T27" fmla="*/ 3 h 24"/>
                <a:gd name="T28" fmla="*/ 12 w 24"/>
                <a:gd name="T29" fmla="*/ 0 h 24"/>
                <a:gd name="T30" fmla="*/ 16 w 24"/>
                <a:gd name="T31" fmla="*/ 0 h 24"/>
                <a:gd name="T32" fmla="*/ 20 w 24"/>
                <a:gd name="T33" fmla="*/ 3 h 24"/>
                <a:gd name="T34" fmla="*/ 23 w 24"/>
                <a:gd name="T35" fmla="*/ 7 h 24"/>
                <a:gd name="T36" fmla="*/ 24 w 24"/>
                <a:gd name="T3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4">
                  <a:moveTo>
                    <a:pt x="24" y="12"/>
                  </a:moveTo>
                  <a:lnTo>
                    <a:pt x="23" y="12"/>
                  </a:lnTo>
                  <a:lnTo>
                    <a:pt x="23" y="13"/>
                  </a:lnTo>
                  <a:lnTo>
                    <a:pt x="23" y="15"/>
                  </a:lnTo>
                  <a:lnTo>
                    <a:pt x="20" y="20"/>
                  </a:lnTo>
                  <a:lnTo>
                    <a:pt x="16" y="23"/>
                  </a:lnTo>
                  <a:lnTo>
                    <a:pt x="13" y="23"/>
                  </a:lnTo>
                  <a:lnTo>
                    <a:pt x="12" y="23"/>
                  </a:lnTo>
                  <a:lnTo>
                    <a:pt x="12" y="24"/>
                  </a:lnTo>
                  <a:lnTo>
                    <a:pt x="7" y="23"/>
                  </a:lnTo>
                  <a:lnTo>
                    <a:pt x="4" y="20"/>
                  </a:lnTo>
                  <a:lnTo>
                    <a:pt x="0" y="15"/>
                  </a:lnTo>
                  <a:lnTo>
                    <a:pt x="0" y="12"/>
                  </a:lnTo>
                  <a:lnTo>
                    <a:pt x="4" y="3"/>
                  </a:lnTo>
                  <a:lnTo>
                    <a:pt x="12" y="0"/>
                  </a:lnTo>
                  <a:lnTo>
                    <a:pt x="16" y="0"/>
                  </a:lnTo>
                  <a:lnTo>
                    <a:pt x="20" y="3"/>
                  </a:lnTo>
                  <a:lnTo>
                    <a:pt x="23" y="7"/>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pic>
          <p:nvPicPr>
            <p:cNvPr id="25" name="Picture 10" descr="C:\Documents and Settings\sridhs\Desktop\ISM Book L3\colored Icons\Standard disk.png"/>
            <p:cNvPicPr>
              <a:picLocks noChangeAspect="1" noChangeArrowheads="1"/>
            </p:cNvPicPr>
            <p:nvPr/>
          </p:nvPicPr>
          <p:blipFill>
            <a:blip r:embed="rId7" cstate="print"/>
            <a:srcRect/>
            <a:stretch>
              <a:fillRect/>
            </a:stretch>
          </p:blipFill>
          <p:spPr bwMode="auto">
            <a:xfrm flipH="1">
              <a:off x="1922376" y="3651870"/>
              <a:ext cx="457200" cy="457200"/>
            </a:xfrm>
            <a:prstGeom prst="rect">
              <a:avLst/>
            </a:prstGeom>
            <a:noFill/>
          </p:spPr>
        </p:pic>
        <p:pic>
          <p:nvPicPr>
            <p:cNvPr id="29" name="Picture 8" descr="C:\Documents and Settings\sridhs\Desktop\ISM Book L3\colored Icons\Logical Volume.png"/>
            <p:cNvPicPr>
              <a:picLocks noChangeAspect="1" noChangeArrowheads="1"/>
            </p:cNvPicPr>
            <p:nvPr/>
          </p:nvPicPr>
          <p:blipFill>
            <a:blip r:embed="rId8" cstate="print"/>
            <a:srcRect/>
            <a:stretch>
              <a:fillRect/>
            </a:stretch>
          </p:blipFill>
          <p:spPr bwMode="auto">
            <a:xfrm>
              <a:off x="2962672" y="2427734"/>
              <a:ext cx="457200" cy="457200"/>
            </a:xfrm>
            <a:prstGeom prst="rect">
              <a:avLst/>
            </a:prstGeom>
            <a:noFill/>
          </p:spPr>
        </p:pic>
        <p:pic>
          <p:nvPicPr>
            <p:cNvPr id="30" name="Picture 8" descr="C:\Documents and Settings\sridhs\Desktop\ISM Book L3\colored Icons\Logical Volume.png"/>
            <p:cNvPicPr>
              <a:picLocks noChangeAspect="1" noChangeArrowheads="1"/>
            </p:cNvPicPr>
            <p:nvPr/>
          </p:nvPicPr>
          <p:blipFill>
            <a:blip r:embed="rId8" cstate="print"/>
            <a:srcRect/>
            <a:stretch>
              <a:fillRect/>
            </a:stretch>
          </p:blipFill>
          <p:spPr bwMode="auto">
            <a:xfrm>
              <a:off x="1922376" y="2427734"/>
              <a:ext cx="457200" cy="457200"/>
            </a:xfrm>
            <a:prstGeom prst="rect">
              <a:avLst/>
            </a:prstGeom>
            <a:noFill/>
          </p:spPr>
        </p:pic>
        <p:pic>
          <p:nvPicPr>
            <p:cNvPr id="31" name="Picture 8" descr="C:\Documents and Settings\sridhs\Desktop\ISM Book L3\colored Icons\Logical Volume.png"/>
            <p:cNvPicPr>
              <a:picLocks noChangeAspect="1" noChangeArrowheads="1"/>
            </p:cNvPicPr>
            <p:nvPr/>
          </p:nvPicPr>
          <p:blipFill>
            <a:blip r:embed="rId8" cstate="print"/>
            <a:srcRect/>
            <a:stretch>
              <a:fillRect/>
            </a:stretch>
          </p:blipFill>
          <p:spPr bwMode="auto">
            <a:xfrm>
              <a:off x="897312" y="2427734"/>
              <a:ext cx="457200" cy="457200"/>
            </a:xfrm>
            <a:prstGeom prst="rect">
              <a:avLst/>
            </a:prstGeom>
            <a:noFill/>
          </p:spPr>
        </p:pic>
        <p:pic>
          <p:nvPicPr>
            <p:cNvPr id="33" name="Picture 29" descr="C:\Users\patils1\Desktop\2013 Projects\CIS v2\CIS Slide Deck_Based on Book\Colored Graphics\Physical Compute System.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3717" y="1312981"/>
              <a:ext cx="934518" cy="210312"/>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Connector 34"/>
            <p:cNvCxnSpPr>
              <a:stCxn id="31" idx="0"/>
              <a:endCxn id="33" idx="2"/>
            </p:cNvCxnSpPr>
            <p:nvPr/>
          </p:nvCxnSpPr>
          <p:spPr>
            <a:xfrm flipV="1">
              <a:off x="1125912" y="1523293"/>
              <a:ext cx="1025064" cy="904441"/>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29" idx="0"/>
              <a:endCxn id="33" idx="2"/>
            </p:cNvCxnSpPr>
            <p:nvPr/>
          </p:nvCxnSpPr>
          <p:spPr>
            <a:xfrm flipH="1" flipV="1">
              <a:off x="2150976" y="1523293"/>
              <a:ext cx="1040296" cy="904441"/>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25" idx="0"/>
              <a:endCxn id="31" idx="2"/>
            </p:cNvCxnSpPr>
            <p:nvPr/>
          </p:nvCxnSpPr>
          <p:spPr>
            <a:xfrm flipH="1" flipV="1">
              <a:off x="1125912" y="2884934"/>
              <a:ext cx="1025064" cy="766936"/>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a:stCxn id="25" idx="0"/>
              <a:endCxn id="29" idx="2"/>
            </p:cNvCxnSpPr>
            <p:nvPr/>
          </p:nvCxnSpPr>
          <p:spPr>
            <a:xfrm flipV="1">
              <a:off x="2150976" y="2884934"/>
              <a:ext cx="1040296" cy="766936"/>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63" name="Group 62"/>
          <p:cNvGrpSpPr/>
          <p:nvPr/>
        </p:nvGrpSpPr>
        <p:grpSpPr>
          <a:xfrm>
            <a:off x="5587172" y="1312981"/>
            <a:ext cx="2841008" cy="3198220"/>
            <a:chOff x="5334000" y="1312981"/>
            <a:chExt cx="2841008" cy="3198220"/>
          </a:xfrm>
        </p:grpSpPr>
        <p:cxnSp>
          <p:nvCxnSpPr>
            <p:cNvPr id="43" name="Straight Connector 42"/>
            <p:cNvCxnSpPr>
              <a:stCxn id="27" idx="0"/>
              <a:endCxn id="34" idx="2"/>
            </p:cNvCxnSpPr>
            <p:nvPr/>
          </p:nvCxnSpPr>
          <p:spPr>
            <a:xfrm flipV="1">
              <a:off x="6742533" y="1523293"/>
              <a:ext cx="0" cy="2128577"/>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sp>
          <p:nvSpPr>
            <p:cNvPr id="11" name="Rectangle 1100"/>
            <p:cNvSpPr>
              <a:spLocks noChangeArrowheads="1"/>
            </p:cNvSpPr>
            <p:nvPr/>
          </p:nvSpPr>
          <p:spPr bwMode="auto">
            <a:xfrm>
              <a:off x="6179485" y="4249591"/>
              <a:ext cx="1151277" cy="261610"/>
            </a:xfrm>
            <a:prstGeom prst="rect">
              <a:avLst/>
            </a:prstGeom>
            <a:noFill/>
          </p:spPr>
          <p:txBody>
            <a:bodyPr wrap="none" rtlCol="0">
              <a:spAutoFit/>
            </a:bodyPr>
            <a:lstStyle/>
            <a:p>
              <a:r>
                <a:rPr lang="ru-RU" sz="1100" b="1" i="0" dirty="0">
                  <a:solidFill>
                    <a:srgbClr val="000000"/>
                  </a:solidFill>
                  <a:latin typeface="Arial" pitchFamily="34" charset="0"/>
                  <a:cs typeface="Arial" pitchFamily="34" charset="0"/>
                </a:rPr>
                <a:t>Объединение</a:t>
              </a:r>
            </a:p>
          </p:txBody>
        </p:sp>
        <p:pic>
          <p:nvPicPr>
            <p:cNvPr id="26" name="Picture 10" descr="C:\Documents and Settings\sridhs\Desktop\ISM Book L3\colored Icons\Standard disk.png"/>
            <p:cNvPicPr>
              <a:picLocks noChangeAspect="1" noChangeArrowheads="1"/>
            </p:cNvPicPr>
            <p:nvPr/>
          </p:nvPicPr>
          <p:blipFill>
            <a:blip r:embed="rId7" cstate="print"/>
            <a:srcRect/>
            <a:stretch>
              <a:fillRect/>
            </a:stretch>
          </p:blipFill>
          <p:spPr bwMode="auto">
            <a:xfrm flipH="1">
              <a:off x="5334000" y="3651870"/>
              <a:ext cx="457200" cy="457200"/>
            </a:xfrm>
            <a:prstGeom prst="rect">
              <a:avLst/>
            </a:prstGeom>
            <a:noFill/>
          </p:spPr>
        </p:pic>
        <p:pic>
          <p:nvPicPr>
            <p:cNvPr id="27" name="Picture 10" descr="C:\Documents and Settings\sridhs\Desktop\ISM Book L3\colored Icons\Standard disk.png"/>
            <p:cNvPicPr>
              <a:picLocks noChangeAspect="1" noChangeArrowheads="1"/>
            </p:cNvPicPr>
            <p:nvPr/>
          </p:nvPicPr>
          <p:blipFill>
            <a:blip r:embed="rId7" cstate="print"/>
            <a:srcRect/>
            <a:stretch>
              <a:fillRect/>
            </a:stretch>
          </p:blipFill>
          <p:spPr bwMode="auto">
            <a:xfrm flipH="1">
              <a:off x="6513933" y="3651870"/>
              <a:ext cx="457200" cy="457200"/>
            </a:xfrm>
            <a:prstGeom prst="rect">
              <a:avLst/>
            </a:prstGeom>
            <a:noFill/>
          </p:spPr>
        </p:pic>
        <p:pic>
          <p:nvPicPr>
            <p:cNvPr id="28" name="Picture 10" descr="C:\Documents and Settings\sridhs\Desktop\ISM Book L3\colored Icons\Standard disk.png"/>
            <p:cNvPicPr>
              <a:picLocks noChangeAspect="1" noChangeArrowheads="1"/>
            </p:cNvPicPr>
            <p:nvPr/>
          </p:nvPicPr>
          <p:blipFill>
            <a:blip r:embed="rId7" cstate="print"/>
            <a:srcRect/>
            <a:stretch>
              <a:fillRect/>
            </a:stretch>
          </p:blipFill>
          <p:spPr bwMode="auto">
            <a:xfrm flipH="1">
              <a:off x="7717808" y="3651870"/>
              <a:ext cx="457200" cy="457200"/>
            </a:xfrm>
            <a:prstGeom prst="rect">
              <a:avLst/>
            </a:prstGeom>
            <a:noFill/>
          </p:spPr>
        </p:pic>
        <p:pic>
          <p:nvPicPr>
            <p:cNvPr id="32" name="Picture 8" descr="C:\Documents and Settings\sridhs\Desktop\ISM Book L3\colored Icons\Logical Volume.png"/>
            <p:cNvPicPr>
              <a:picLocks noChangeAspect="1" noChangeArrowheads="1"/>
            </p:cNvPicPr>
            <p:nvPr/>
          </p:nvPicPr>
          <p:blipFill>
            <a:blip r:embed="rId8" cstate="print"/>
            <a:srcRect/>
            <a:stretch>
              <a:fillRect/>
            </a:stretch>
          </p:blipFill>
          <p:spPr bwMode="auto">
            <a:xfrm>
              <a:off x="6513933" y="2427734"/>
              <a:ext cx="457200" cy="457200"/>
            </a:xfrm>
            <a:prstGeom prst="rect">
              <a:avLst/>
            </a:prstGeom>
            <a:noFill/>
          </p:spPr>
        </p:pic>
        <p:pic>
          <p:nvPicPr>
            <p:cNvPr id="34" name="Picture 29" descr="C:\Users\patils1\Desktop\2013 Projects\CIS v2\CIS Slide Deck_Based on Book\Colored Graphics\Physical Compute System.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75274" y="1312981"/>
              <a:ext cx="934518" cy="210312"/>
            </a:xfrm>
            <a:prstGeom prst="rect">
              <a:avLst/>
            </a:prstGeom>
            <a:noFill/>
            <a:extLst>
              <a:ext uri="{909E8E84-426E-40DD-AFC4-6F175D3DCCD1}">
                <a14:hiddenFill xmlns:a14="http://schemas.microsoft.com/office/drawing/2010/main">
                  <a:solidFill>
                    <a:srgbClr val="FFFFFF"/>
                  </a:solidFill>
                </a14:hiddenFill>
              </a:ext>
            </a:extLst>
          </p:spPr>
        </p:pic>
        <p:cxnSp>
          <p:nvCxnSpPr>
            <p:cNvPr id="53" name="Straight Connector 52"/>
            <p:cNvCxnSpPr>
              <a:stCxn id="26" idx="0"/>
              <a:endCxn id="32" idx="2"/>
            </p:cNvCxnSpPr>
            <p:nvPr/>
          </p:nvCxnSpPr>
          <p:spPr>
            <a:xfrm flipV="1">
              <a:off x="5562600" y="2884934"/>
              <a:ext cx="1179933" cy="766936"/>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28" idx="0"/>
              <a:endCxn id="32" idx="2"/>
            </p:cNvCxnSpPr>
            <p:nvPr/>
          </p:nvCxnSpPr>
          <p:spPr>
            <a:xfrm flipH="1" flipV="1">
              <a:off x="6742533" y="2884934"/>
              <a:ext cx="1203875" cy="766936"/>
            </a:xfrm>
            <a:prstGeom prst="line">
              <a:avLst/>
            </a:prstGeom>
            <a:ln w="12700" cmpd="sng">
              <a:solidFill>
                <a:schemeClr val="bg2"/>
              </a:solidFill>
              <a:prstDash val="sysDash"/>
            </a:ln>
            <a:effectLst/>
          </p:spPr>
          <p:style>
            <a:lnRef idx="2">
              <a:schemeClr val="accent1"/>
            </a:lnRef>
            <a:fillRef idx="0">
              <a:schemeClr val="accent1"/>
            </a:fillRef>
            <a:effectRef idx="1">
              <a:schemeClr val="accent1"/>
            </a:effectRef>
            <a:fontRef idx="minor">
              <a:schemeClr val="tx1"/>
            </a:fontRef>
          </p:style>
        </p:cxnSp>
      </p:grpSp>
      <p:sp>
        <p:nvSpPr>
          <p:cNvPr id="37" name="TextBox 3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194285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3" name="Content Placeholder 2"/>
          <p:cNvSpPr>
            <a:spLocks noGrp="1"/>
          </p:cNvSpPr>
          <p:nvPr>
            <p:ph sz="quarter" idx="10"/>
          </p:nvPr>
        </p:nvSpPr>
        <p:spPr>
          <a:xfrm>
            <a:off x="379414" y="1295400"/>
            <a:ext cx="8458200" cy="3379000"/>
          </a:xfrm>
        </p:spPr>
        <p:txBody>
          <a:bodyPr/>
          <a:lstStyle/>
          <a:p>
            <a:r>
              <a:rPr lang="ru-RU" sz="1600" b="0" i="0" dirty="0">
                <a:solidFill>
                  <a:srgbClr val="000000"/>
                </a:solidFill>
                <a:latin typeface="Arial" pitchFamily="34" charset="0"/>
                <a:cs typeface="Arial" pitchFamily="34" charset="0"/>
              </a:rPr>
              <a:t>Файл — это коллекция связанных записей, хранимых в виде единого поименованного блока в </a:t>
            </a:r>
            <a:r>
              <a:rPr lang="ru-RU" sz="1600" b="1" i="0" dirty="0">
                <a:solidFill>
                  <a:srgbClr val="000000"/>
                </a:solidFill>
                <a:latin typeface="Arial" pitchFamily="34" charset="0"/>
                <a:cs typeface="Arial" pitchFamily="34" charset="0"/>
              </a:rPr>
              <a:t>непрерывном пространстве логических адресов</a:t>
            </a:r>
          </a:p>
          <a:p>
            <a:r>
              <a:rPr lang="ru-RU" sz="1600" b="0" i="0" dirty="0">
                <a:solidFill>
                  <a:srgbClr val="000000"/>
                </a:solidFill>
                <a:latin typeface="Arial" pitchFamily="34" charset="0"/>
                <a:cs typeface="Arial" pitchFamily="34" charset="0"/>
              </a:rPr>
              <a:t>Файловая система осуществляет контроль и управление хранением и извлечением файлов. </a:t>
            </a:r>
          </a:p>
          <a:p>
            <a:pPr lvl="1"/>
            <a:r>
              <a:rPr lang="ru-RU" sz="1600" b="0" i="0" dirty="0">
                <a:solidFill>
                  <a:srgbClr val="000000"/>
                </a:solidFill>
                <a:latin typeface="Arial" pitchFamily="34" charset="0"/>
                <a:cs typeface="Arial" pitchFamily="34" charset="0"/>
              </a:rPr>
              <a:t>Предоставляет пользователям возможность выполнять различные операции над файлами</a:t>
            </a:r>
          </a:p>
          <a:p>
            <a:pPr lvl="1"/>
            <a:r>
              <a:rPr lang="ru-RU" sz="1600" b="0" i="0" dirty="0">
                <a:solidFill>
                  <a:srgbClr val="000000"/>
                </a:solidFill>
                <a:latin typeface="Arial" pitchFamily="34" charset="0"/>
                <a:cs typeface="Arial" pitchFamily="34" charset="0"/>
              </a:rPr>
              <a:t>Группирует файлы и организует их в иерархическую структуру</a:t>
            </a:r>
          </a:p>
          <a:p>
            <a:r>
              <a:rPr lang="ru-RU" sz="1600" b="0" i="0" dirty="0">
                <a:solidFill>
                  <a:srgbClr val="000000"/>
                </a:solidFill>
                <a:latin typeface="Arial" pitchFamily="34" charset="0"/>
                <a:cs typeface="Arial" pitchFamily="34" charset="0"/>
              </a:rPr>
              <a:t>Файловая система может быть в широком смысле классифицирована как:</a:t>
            </a:r>
          </a:p>
          <a:p>
            <a:pPr lvl="1"/>
            <a:r>
              <a:rPr lang="ru-RU" sz="1600" b="1" i="0" dirty="0">
                <a:solidFill>
                  <a:srgbClr val="000000"/>
                </a:solidFill>
                <a:latin typeface="Arial" pitchFamily="34" charset="0"/>
                <a:cs typeface="Arial" pitchFamily="34" charset="0"/>
              </a:rPr>
              <a:t>дисковая файловая система;</a:t>
            </a:r>
          </a:p>
          <a:p>
            <a:pPr lvl="1"/>
            <a:r>
              <a:rPr lang="ru-RU" sz="1600" b="1" i="0" dirty="0">
                <a:solidFill>
                  <a:srgbClr val="000000"/>
                </a:solidFill>
                <a:latin typeface="Arial" pitchFamily="34" charset="0"/>
                <a:cs typeface="Arial" pitchFamily="34" charset="0"/>
              </a:rPr>
              <a:t>сетевая файловая система;</a:t>
            </a:r>
          </a:p>
          <a:p>
            <a:pPr lvl="1"/>
            <a:r>
              <a:rPr lang="ru-RU" sz="1600" b="1" i="0" dirty="0">
                <a:solidFill>
                  <a:srgbClr val="000000"/>
                </a:solidFill>
                <a:latin typeface="Arial" pitchFamily="34" charset="0"/>
                <a:cs typeface="Arial" pitchFamily="34" charset="0"/>
              </a:rPr>
              <a:t>виртуальная файловая система</a:t>
            </a:r>
            <a:r>
              <a:rPr lang="ru-RU" sz="1600" b="0" i="0" dirty="0">
                <a:solidFill>
                  <a:srgbClr val="000000"/>
                </a:solidFill>
                <a:latin typeface="Arial" pitchFamily="34" charset="0"/>
                <a:cs typeface="Arial" pitchFamily="34" charset="0"/>
              </a:rPr>
              <a:t>.</a:t>
            </a:r>
          </a:p>
          <a:p>
            <a:pPr lvl="1"/>
            <a:endParaRPr lang="en-US" sz="1600" dirty="0">
              <a:latin typeface="Arial" pitchFamily="34" charset="0"/>
              <a:cs typeface="Arial" pitchFamily="34" charset="0"/>
            </a:endParaRPr>
          </a:p>
          <a:p>
            <a:endParaRPr lang="en-US" sz="1600" dirty="0">
              <a:latin typeface="Arial" pitchFamily="34" charset="0"/>
              <a:cs typeface="Arial" pitchFamily="34" charset="0"/>
            </a:endParaRPr>
          </a:p>
        </p:txBody>
      </p:sp>
      <p:sp>
        <p:nvSpPr>
          <p:cNvPr id="4" name="Subtitle 3"/>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Файловая система</a:t>
            </a: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539062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Логические компоненты вычислительной системы</a:t>
            </a:r>
          </a:p>
        </p:txBody>
      </p:sp>
      <p:sp>
        <p:nvSpPr>
          <p:cNvPr id="6" name="Subtitle 5"/>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Файловая система (продолжение)</a:t>
            </a:r>
          </a:p>
        </p:txBody>
      </p:sp>
      <p:grpSp>
        <p:nvGrpSpPr>
          <p:cNvPr id="2624" name="Group 2623"/>
          <p:cNvGrpSpPr/>
          <p:nvPr/>
        </p:nvGrpSpPr>
        <p:grpSpPr>
          <a:xfrm>
            <a:off x="778475" y="1131590"/>
            <a:ext cx="7679725" cy="3654318"/>
            <a:chOff x="479945" y="1011560"/>
            <a:chExt cx="7679725" cy="3654318"/>
          </a:xfrm>
        </p:grpSpPr>
        <p:cxnSp>
          <p:nvCxnSpPr>
            <p:cNvPr id="2615" name="Straight Arrow Connector 2614"/>
            <p:cNvCxnSpPr/>
            <p:nvPr/>
          </p:nvCxnSpPr>
          <p:spPr>
            <a:xfrm>
              <a:off x="3469230" y="2100535"/>
              <a:ext cx="3360760" cy="0"/>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2611" name="Group 2610"/>
            <p:cNvGrpSpPr/>
            <p:nvPr/>
          </p:nvGrpSpPr>
          <p:grpSpPr>
            <a:xfrm>
              <a:off x="2832100" y="1796529"/>
              <a:ext cx="544513" cy="608013"/>
              <a:chOff x="2732088" y="1940785"/>
              <a:chExt cx="544513" cy="608013"/>
            </a:xfrm>
          </p:grpSpPr>
          <p:sp>
            <p:nvSpPr>
              <p:cNvPr id="1739" name="Freeform 900"/>
              <p:cNvSpPr>
                <a:spLocks/>
              </p:cNvSpPr>
              <p:nvPr/>
            </p:nvSpPr>
            <p:spPr bwMode="auto">
              <a:xfrm>
                <a:off x="3161794" y="1940785"/>
                <a:ext cx="114807" cy="127259"/>
              </a:xfrm>
              <a:custGeom>
                <a:avLst/>
                <a:gdLst>
                  <a:gd name="T0" fmla="*/ 314 w 314"/>
                  <a:gd name="T1" fmla="*/ 324 h 324"/>
                  <a:gd name="T2" fmla="*/ 0 w 314"/>
                  <a:gd name="T3" fmla="*/ 0 h 324"/>
                  <a:gd name="T4" fmla="*/ 0 w 314"/>
                  <a:gd name="T5" fmla="*/ 324 h 324"/>
                  <a:gd name="T6" fmla="*/ 314 w 314"/>
                  <a:gd name="T7" fmla="*/ 324 h 324"/>
                </a:gdLst>
                <a:ahLst/>
                <a:cxnLst>
                  <a:cxn ang="0">
                    <a:pos x="T0" y="T1"/>
                  </a:cxn>
                  <a:cxn ang="0">
                    <a:pos x="T2" y="T3"/>
                  </a:cxn>
                  <a:cxn ang="0">
                    <a:pos x="T4" y="T5"/>
                  </a:cxn>
                  <a:cxn ang="0">
                    <a:pos x="T6" y="T7"/>
                  </a:cxn>
                </a:cxnLst>
                <a:rect l="0" t="0" r="r" b="b"/>
                <a:pathLst>
                  <a:path w="314" h="324">
                    <a:moveTo>
                      <a:pt x="314" y="324"/>
                    </a:moveTo>
                    <a:lnTo>
                      <a:pt x="0" y="0"/>
                    </a:lnTo>
                    <a:lnTo>
                      <a:pt x="0" y="324"/>
                    </a:lnTo>
                    <a:lnTo>
                      <a:pt x="314" y="324"/>
                    </a:lnTo>
                    <a:close/>
                  </a:path>
                </a:pathLst>
              </a:custGeom>
              <a:solidFill>
                <a:srgbClr val="FFCC99">
                  <a:alpha val="710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1740" name="Freeform 901"/>
              <p:cNvSpPr>
                <a:spLocks/>
              </p:cNvSpPr>
              <p:nvPr/>
            </p:nvSpPr>
            <p:spPr bwMode="auto">
              <a:xfrm>
                <a:off x="2855642" y="1940785"/>
                <a:ext cx="420959" cy="493716"/>
              </a:xfrm>
              <a:custGeom>
                <a:avLst/>
                <a:gdLst>
                  <a:gd name="T0" fmla="*/ 1155 w 1155"/>
                  <a:gd name="T1" fmla="*/ 324 h 1256"/>
                  <a:gd name="T2" fmla="*/ 841 w 1155"/>
                  <a:gd name="T3" fmla="*/ 324 h 1256"/>
                  <a:gd name="T4" fmla="*/ 841 w 1155"/>
                  <a:gd name="T5" fmla="*/ 0 h 1256"/>
                  <a:gd name="T6" fmla="*/ 0 w 1155"/>
                  <a:gd name="T7" fmla="*/ 0 h 1256"/>
                  <a:gd name="T8" fmla="*/ 0 w 1155"/>
                  <a:gd name="T9" fmla="*/ 1256 h 1256"/>
                  <a:gd name="T10" fmla="*/ 1155 w 1155"/>
                  <a:gd name="T11" fmla="*/ 1256 h 1256"/>
                  <a:gd name="T12" fmla="*/ 1155 w 1155"/>
                  <a:gd name="T13" fmla="*/ 324 h 1256"/>
                </a:gdLst>
                <a:ahLst/>
                <a:cxnLst>
                  <a:cxn ang="0">
                    <a:pos x="T0" y="T1"/>
                  </a:cxn>
                  <a:cxn ang="0">
                    <a:pos x="T2" y="T3"/>
                  </a:cxn>
                  <a:cxn ang="0">
                    <a:pos x="T4" y="T5"/>
                  </a:cxn>
                  <a:cxn ang="0">
                    <a:pos x="T6" y="T7"/>
                  </a:cxn>
                  <a:cxn ang="0">
                    <a:pos x="T8" y="T9"/>
                  </a:cxn>
                  <a:cxn ang="0">
                    <a:pos x="T10" y="T11"/>
                  </a:cxn>
                  <a:cxn ang="0">
                    <a:pos x="T12" y="T13"/>
                  </a:cxn>
                </a:cxnLst>
                <a:rect l="0" t="0" r="r" b="b"/>
                <a:pathLst>
                  <a:path w="1155" h="1256">
                    <a:moveTo>
                      <a:pt x="1155" y="324"/>
                    </a:moveTo>
                    <a:lnTo>
                      <a:pt x="841" y="324"/>
                    </a:lnTo>
                    <a:lnTo>
                      <a:pt x="841" y="0"/>
                    </a:lnTo>
                    <a:lnTo>
                      <a:pt x="0" y="0"/>
                    </a:lnTo>
                    <a:lnTo>
                      <a:pt x="0" y="1256"/>
                    </a:lnTo>
                    <a:lnTo>
                      <a:pt x="1155" y="1256"/>
                    </a:lnTo>
                    <a:lnTo>
                      <a:pt x="1155" y="324"/>
                    </a:lnTo>
                    <a:close/>
                  </a:path>
                </a:pathLst>
              </a:custGeom>
              <a:solidFill>
                <a:srgbClr val="FFCC99">
                  <a:alpha val="710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1741" name="Freeform 902"/>
              <p:cNvSpPr>
                <a:spLocks/>
              </p:cNvSpPr>
              <p:nvPr/>
            </p:nvSpPr>
            <p:spPr bwMode="auto">
              <a:xfrm>
                <a:off x="3161794" y="1940785"/>
                <a:ext cx="114807" cy="127259"/>
              </a:xfrm>
              <a:custGeom>
                <a:avLst/>
                <a:gdLst>
                  <a:gd name="T0" fmla="*/ 314 w 314"/>
                  <a:gd name="T1" fmla="*/ 324 h 324"/>
                  <a:gd name="T2" fmla="*/ 0 w 314"/>
                  <a:gd name="T3" fmla="*/ 324 h 324"/>
                  <a:gd name="T4" fmla="*/ 0 w 314"/>
                  <a:gd name="T5" fmla="*/ 0 h 324"/>
                </a:gdLst>
                <a:ahLst/>
                <a:cxnLst>
                  <a:cxn ang="0">
                    <a:pos x="T0" y="T1"/>
                  </a:cxn>
                  <a:cxn ang="0">
                    <a:pos x="T2" y="T3"/>
                  </a:cxn>
                  <a:cxn ang="0">
                    <a:pos x="T4" y="T5"/>
                  </a:cxn>
                </a:cxnLst>
                <a:rect l="0" t="0" r="r" b="b"/>
                <a:pathLst>
                  <a:path w="314" h="324">
                    <a:moveTo>
                      <a:pt x="314" y="324"/>
                    </a:moveTo>
                    <a:lnTo>
                      <a:pt x="0" y="324"/>
                    </a:lnTo>
                    <a:lnTo>
                      <a:pt x="0" y="0"/>
                    </a:lnTo>
                  </a:path>
                </a:pathLst>
              </a:custGeom>
              <a:solidFill>
                <a:srgbClr val="FFCC99">
                  <a:alpha val="71001"/>
                </a:srgbClr>
              </a:solidFill>
              <a:ln w="0">
                <a:solidFill>
                  <a:srgbClr val="999999"/>
                </a:solidFill>
                <a:prstDash val="solid"/>
                <a:round/>
                <a:headEnd/>
                <a:tailEnd/>
              </a:ln>
            </p:spPr>
            <p:txBody>
              <a:bodyPr/>
              <a:lstStyle/>
              <a:p>
                <a:endParaRPr lang="en-US">
                  <a:latin typeface="Arial" pitchFamily="34" charset="0"/>
                  <a:cs typeface="Arial" pitchFamily="34" charset="0"/>
                </a:endParaRPr>
              </a:p>
            </p:txBody>
          </p:sp>
          <p:sp>
            <p:nvSpPr>
              <p:cNvPr id="1742" name="Freeform 903"/>
              <p:cNvSpPr>
                <a:spLocks/>
              </p:cNvSpPr>
              <p:nvPr/>
            </p:nvSpPr>
            <p:spPr bwMode="auto">
              <a:xfrm>
                <a:off x="2855642" y="1940785"/>
                <a:ext cx="420959" cy="493716"/>
              </a:xfrm>
              <a:custGeom>
                <a:avLst/>
                <a:gdLst>
                  <a:gd name="T0" fmla="*/ 841 w 1155"/>
                  <a:gd name="T1" fmla="*/ 0 h 1256"/>
                  <a:gd name="T2" fmla="*/ 0 w 1155"/>
                  <a:gd name="T3" fmla="*/ 0 h 1256"/>
                  <a:gd name="T4" fmla="*/ 0 w 1155"/>
                  <a:gd name="T5" fmla="*/ 1256 h 1256"/>
                  <a:gd name="T6" fmla="*/ 1155 w 1155"/>
                  <a:gd name="T7" fmla="*/ 1256 h 1256"/>
                  <a:gd name="T8" fmla="*/ 1155 w 1155"/>
                  <a:gd name="T9" fmla="*/ 324 h 1256"/>
                </a:gdLst>
                <a:ahLst/>
                <a:cxnLst>
                  <a:cxn ang="0">
                    <a:pos x="T0" y="T1"/>
                  </a:cxn>
                  <a:cxn ang="0">
                    <a:pos x="T2" y="T3"/>
                  </a:cxn>
                  <a:cxn ang="0">
                    <a:pos x="T4" y="T5"/>
                  </a:cxn>
                  <a:cxn ang="0">
                    <a:pos x="T6" y="T7"/>
                  </a:cxn>
                  <a:cxn ang="0">
                    <a:pos x="T8" y="T9"/>
                  </a:cxn>
                </a:cxnLst>
                <a:rect l="0" t="0" r="r" b="b"/>
                <a:pathLst>
                  <a:path w="1155" h="1256">
                    <a:moveTo>
                      <a:pt x="841" y="0"/>
                    </a:moveTo>
                    <a:lnTo>
                      <a:pt x="0" y="0"/>
                    </a:lnTo>
                    <a:lnTo>
                      <a:pt x="0" y="1256"/>
                    </a:lnTo>
                    <a:lnTo>
                      <a:pt x="1155" y="1256"/>
                    </a:lnTo>
                    <a:lnTo>
                      <a:pt x="1155" y="324"/>
                    </a:lnTo>
                  </a:path>
                </a:pathLst>
              </a:custGeom>
              <a:solidFill>
                <a:srgbClr val="FFCC99">
                  <a:alpha val="71001"/>
                </a:srgbClr>
              </a:solidFill>
              <a:ln w="0">
                <a:solidFill>
                  <a:srgbClr val="999999"/>
                </a:solidFill>
                <a:prstDash val="solid"/>
                <a:round/>
                <a:headEnd/>
                <a:tailEnd/>
              </a:ln>
            </p:spPr>
            <p:txBody>
              <a:bodyPr/>
              <a:lstStyle/>
              <a:p>
                <a:endParaRPr lang="en-US">
                  <a:latin typeface="Arial" pitchFamily="34" charset="0"/>
                  <a:cs typeface="Arial" pitchFamily="34" charset="0"/>
                </a:endParaRPr>
              </a:p>
            </p:txBody>
          </p:sp>
          <p:sp>
            <p:nvSpPr>
              <p:cNvPr id="1743" name="Line 904"/>
              <p:cNvSpPr>
                <a:spLocks noChangeShapeType="1"/>
              </p:cNvSpPr>
              <p:nvPr/>
            </p:nvSpPr>
            <p:spPr bwMode="auto">
              <a:xfrm>
                <a:off x="3161794" y="1940785"/>
                <a:ext cx="114807" cy="127259"/>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744" name="Freeform 905"/>
              <p:cNvSpPr>
                <a:spLocks/>
              </p:cNvSpPr>
              <p:nvPr/>
            </p:nvSpPr>
            <p:spPr bwMode="auto">
              <a:xfrm>
                <a:off x="3039333" y="2055082"/>
                <a:ext cx="113714" cy="127259"/>
              </a:xfrm>
              <a:custGeom>
                <a:avLst/>
                <a:gdLst>
                  <a:gd name="T0" fmla="*/ 0 w 314"/>
                  <a:gd name="T1" fmla="*/ 324 h 324"/>
                  <a:gd name="T2" fmla="*/ 314 w 314"/>
                  <a:gd name="T3" fmla="*/ 324 h 324"/>
                  <a:gd name="T4" fmla="*/ 0 w 314"/>
                  <a:gd name="T5" fmla="*/ 0 h 324"/>
                  <a:gd name="T6" fmla="*/ 0 w 314"/>
                  <a:gd name="T7" fmla="*/ 324 h 324"/>
                </a:gdLst>
                <a:ahLst/>
                <a:cxnLst>
                  <a:cxn ang="0">
                    <a:pos x="T0" y="T1"/>
                  </a:cxn>
                  <a:cxn ang="0">
                    <a:pos x="T2" y="T3"/>
                  </a:cxn>
                  <a:cxn ang="0">
                    <a:pos x="T4" y="T5"/>
                  </a:cxn>
                  <a:cxn ang="0">
                    <a:pos x="T6" y="T7"/>
                  </a:cxn>
                </a:cxnLst>
                <a:rect l="0" t="0" r="r" b="b"/>
                <a:pathLst>
                  <a:path w="314" h="324">
                    <a:moveTo>
                      <a:pt x="0" y="324"/>
                    </a:moveTo>
                    <a:lnTo>
                      <a:pt x="314" y="324"/>
                    </a:lnTo>
                    <a:lnTo>
                      <a:pt x="0" y="0"/>
                    </a:lnTo>
                    <a:lnTo>
                      <a:pt x="0" y="324"/>
                    </a:lnTo>
                    <a:close/>
                  </a:path>
                </a:pathLst>
              </a:custGeom>
              <a:solidFill>
                <a:srgbClr val="FFCC99">
                  <a:alpha val="710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1745" name="Freeform 906"/>
              <p:cNvSpPr>
                <a:spLocks/>
              </p:cNvSpPr>
              <p:nvPr/>
            </p:nvSpPr>
            <p:spPr bwMode="auto">
              <a:xfrm>
                <a:off x="2732088" y="2055082"/>
                <a:ext cx="420959" cy="493716"/>
              </a:xfrm>
              <a:custGeom>
                <a:avLst/>
                <a:gdLst>
                  <a:gd name="T0" fmla="*/ 1156 w 1156"/>
                  <a:gd name="T1" fmla="*/ 324 h 1257"/>
                  <a:gd name="T2" fmla="*/ 842 w 1156"/>
                  <a:gd name="T3" fmla="*/ 324 h 1257"/>
                  <a:gd name="T4" fmla="*/ 842 w 1156"/>
                  <a:gd name="T5" fmla="*/ 0 h 1257"/>
                  <a:gd name="T6" fmla="*/ 0 w 1156"/>
                  <a:gd name="T7" fmla="*/ 0 h 1257"/>
                  <a:gd name="T8" fmla="*/ 0 w 1156"/>
                  <a:gd name="T9" fmla="*/ 1257 h 1257"/>
                  <a:gd name="T10" fmla="*/ 1156 w 1156"/>
                  <a:gd name="T11" fmla="*/ 1257 h 1257"/>
                  <a:gd name="T12" fmla="*/ 1156 w 1156"/>
                  <a:gd name="T13" fmla="*/ 324 h 1257"/>
                </a:gdLst>
                <a:ahLst/>
                <a:cxnLst>
                  <a:cxn ang="0">
                    <a:pos x="T0" y="T1"/>
                  </a:cxn>
                  <a:cxn ang="0">
                    <a:pos x="T2" y="T3"/>
                  </a:cxn>
                  <a:cxn ang="0">
                    <a:pos x="T4" y="T5"/>
                  </a:cxn>
                  <a:cxn ang="0">
                    <a:pos x="T6" y="T7"/>
                  </a:cxn>
                  <a:cxn ang="0">
                    <a:pos x="T8" y="T9"/>
                  </a:cxn>
                  <a:cxn ang="0">
                    <a:pos x="T10" y="T11"/>
                  </a:cxn>
                  <a:cxn ang="0">
                    <a:pos x="T12" y="T13"/>
                  </a:cxn>
                </a:cxnLst>
                <a:rect l="0" t="0" r="r" b="b"/>
                <a:pathLst>
                  <a:path w="1156" h="1257">
                    <a:moveTo>
                      <a:pt x="1156" y="324"/>
                    </a:moveTo>
                    <a:lnTo>
                      <a:pt x="842" y="324"/>
                    </a:lnTo>
                    <a:lnTo>
                      <a:pt x="842" y="0"/>
                    </a:lnTo>
                    <a:lnTo>
                      <a:pt x="0" y="0"/>
                    </a:lnTo>
                    <a:lnTo>
                      <a:pt x="0" y="1257"/>
                    </a:lnTo>
                    <a:lnTo>
                      <a:pt x="1156" y="1257"/>
                    </a:lnTo>
                    <a:lnTo>
                      <a:pt x="1156" y="324"/>
                    </a:lnTo>
                    <a:close/>
                  </a:path>
                </a:pathLst>
              </a:custGeom>
              <a:solidFill>
                <a:srgbClr val="FFCC99">
                  <a:alpha val="710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1746" name="Line 907"/>
              <p:cNvSpPr>
                <a:spLocks noChangeShapeType="1"/>
              </p:cNvSpPr>
              <p:nvPr/>
            </p:nvSpPr>
            <p:spPr bwMode="auto">
              <a:xfrm>
                <a:off x="3039333" y="2055082"/>
                <a:ext cx="113714" cy="127259"/>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747" name="Freeform 908"/>
              <p:cNvSpPr>
                <a:spLocks/>
              </p:cNvSpPr>
              <p:nvPr/>
            </p:nvSpPr>
            <p:spPr bwMode="auto">
              <a:xfrm>
                <a:off x="2732088" y="2055082"/>
                <a:ext cx="420959" cy="493716"/>
              </a:xfrm>
              <a:custGeom>
                <a:avLst/>
                <a:gdLst>
                  <a:gd name="T0" fmla="*/ 1156 w 1156"/>
                  <a:gd name="T1" fmla="*/ 324 h 1257"/>
                  <a:gd name="T2" fmla="*/ 1156 w 1156"/>
                  <a:gd name="T3" fmla="*/ 1257 h 1257"/>
                  <a:gd name="T4" fmla="*/ 0 w 1156"/>
                  <a:gd name="T5" fmla="*/ 1257 h 1257"/>
                  <a:gd name="T6" fmla="*/ 0 w 1156"/>
                  <a:gd name="T7" fmla="*/ 0 h 1257"/>
                  <a:gd name="T8" fmla="*/ 842 w 1156"/>
                  <a:gd name="T9" fmla="*/ 0 h 1257"/>
                </a:gdLst>
                <a:ahLst/>
                <a:cxnLst>
                  <a:cxn ang="0">
                    <a:pos x="T0" y="T1"/>
                  </a:cxn>
                  <a:cxn ang="0">
                    <a:pos x="T2" y="T3"/>
                  </a:cxn>
                  <a:cxn ang="0">
                    <a:pos x="T4" y="T5"/>
                  </a:cxn>
                  <a:cxn ang="0">
                    <a:pos x="T6" y="T7"/>
                  </a:cxn>
                  <a:cxn ang="0">
                    <a:pos x="T8" y="T9"/>
                  </a:cxn>
                </a:cxnLst>
                <a:rect l="0" t="0" r="r" b="b"/>
                <a:pathLst>
                  <a:path w="1156" h="1257">
                    <a:moveTo>
                      <a:pt x="1156" y="324"/>
                    </a:moveTo>
                    <a:lnTo>
                      <a:pt x="1156" y="1257"/>
                    </a:lnTo>
                    <a:lnTo>
                      <a:pt x="0" y="1257"/>
                    </a:lnTo>
                    <a:lnTo>
                      <a:pt x="0" y="0"/>
                    </a:lnTo>
                    <a:lnTo>
                      <a:pt x="842" y="0"/>
                    </a:lnTo>
                  </a:path>
                </a:pathLst>
              </a:custGeom>
              <a:solidFill>
                <a:srgbClr val="FFCC99">
                  <a:alpha val="71001"/>
                </a:srgbClr>
              </a:solidFill>
              <a:ln w="0">
                <a:solidFill>
                  <a:srgbClr val="999999"/>
                </a:solidFill>
                <a:prstDash val="solid"/>
                <a:round/>
                <a:headEnd/>
                <a:tailEnd/>
              </a:ln>
            </p:spPr>
            <p:txBody>
              <a:bodyPr/>
              <a:lstStyle/>
              <a:p>
                <a:endParaRPr lang="en-US">
                  <a:latin typeface="Arial" pitchFamily="34" charset="0"/>
                  <a:cs typeface="Arial" pitchFamily="34" charset="0"/>
                </a:endParaRPr>
              </a:p>
            </p:txBody>
          </p:sp>
          <p:sp>
            <p:nvSpPr>
              <p:cNvPr id="1748" name="Freeform 909"/>
              <p:cNvSpPr>
                <a:spLocks/>
              </p:cNvSpPr>
              <p:nvPr/>
            </p:nvSpPr>
            <p:spPr bwMode="auto">
              <a:xfrm>
                <a:off x="3039333" y="2055082"/>
                <a:ext cx="113714" cy="127259"/>
              </a:xfrm>
              <a:custGeom>
                <a:avLst/>
                <a:gdLst>
                  <a:gd name="T0" fmla="*/ 314 w 314"/>
                  <a:gd name="T1" fmla="*/ 324 h 324"/>
                  <a:gd name="T2" fmla="*/ 0 w 314"/>
                  <a:gd name="T3" fmla="*/ 324 h 324"/>
                  <a:gd name="T4" fmla="*/ 0 w 314"/>
                  <a:gd name="T5" fmla="*/ 0 h 324"/>
                </a:gdLst>
                <a:ahLst/>
                <a:cxnLst>
                  <a:cxn ang="0">
                    <a:pos x="T0" y="T1"/>
                  </a:cxn>
                  <a:cxn ang="0">
                    <a:pos x="T2" y="T3"/>
                  </a:cxn>
                  <a:cxn ang="0">
                    <a:pos x="T4" y="T5"/>
                  </a:cxn>
                </a:cxnLst>
                <a:rect l="0" t="0" r="r" b="b"/>
                <a:pathLst>
                  <a:path w="314" h="324">
                    <a:moveTo>
                      <a:pt x="314" y="324"/>
                    </a:moveTo>
                    <a:lnTo>
                      <a:pt x="0" y="324"/>
                    </a:lnTo>
                    <a:lnTo>
                      <a:pt x="0" y="0"/>
                    </a:lnTo>
                  </a:path>
                </a:pathLst>
              </a:custGeom>
              <a:solidFill>
                <a:srgbClr val="FFCC99">
                  <a:alpha val="71001"/>
                </a:srgbClr>
              </a:solidFill>
              <a:ln w="0">
                <a:solidFill>
                  <a:srgbClr val="999999"/>
                </a:solidFill>
                <a:prstDash val="solid"/>
                <a:round/>
                <a:headEnd/>
                <a:tailEnd/>
              </a:ln>
            </p:spPr>
            <p:txBody>
              <a:bodyPr/>
              <a:lstStyle/>
              <a:p>
                <a:endParaRPr lang="en-US">
                  <a:latin typeface="Arial" pitchFamily="34" charset="0"/>
                  <a:cs typeface="Arial" pitchFamily="34" charset="0"/>
                </a:endParaRPr>
              </a:p>
            </p:txBody>
          </p:sp>
        </p:grpSp>
        <p:grpSp>
          <p:nvGrpSpPr>
            <p:cNvPr id="1749" name="Group 1748"/>
            <p:cNvGrpSpPr/>
            <p:nvPr/>
          </p:nvGrpSpPr>
          <p:grpSpPr>
            <a:xfrm>
              <a:off x="6897688" y="1203598"/>
              <a:ext cx="1003300" cy="1793875"/>
              <a:chOff x="6988176" y="1318485"/>
              <a:chExt cx="1003300" cy="1793875"/>
            </a:xfrm>
          </p:grpSpPr>
          <p:sp>
            <p:nvSpPr>
              <p:cNvPr id="1750" name="Freeform 910"/>
              <p:cNvSpPr>
                <a:spLocks noEditPoints="1"/>
              </p:cNvSpPr>
              <p:nvPr/>
            </p:nvSpPr>
            <p:spPr bwMode="auto">
              <a:xfrm>
                <a:off x="6988176" y="1318485"/>
                <a:ext cx="1003300" cy="1793875"/>
              </a:xfrm>
              <a:custGeom>
                <a:avLst/>
                <a:gdLst>
                  <a:gd name="T0" fmla="*/ 1895 w 1895"/>
                  <a:gd name="T1" fmla="*/ 0 h 3391"/>
                  <a:gd name="T2" fmla="*/ 0 w 1895"/>
                  <a:gd name="T3" fmla="*/ 0 h 3391"/>
                  <a:gd name="T4" fmla="*/ 0 w 1895"/>
                  <a:gd name="T5" fmla="*/ 3391 h 3391"/>
                  <a:gd name="T6" fmla="*/ 1895 w 1895"/>
                  <a:gd name="T7" fmla="*/ 3391 h 3391"/>
                  <a:gd name="T8" fmla="*/ 1895 w 1895"/>
                  <a:gd name="T9" fmla="*/ 0 h 3391"/>
                  <a:gd name="T10" fmla="*/ 1346 w 1895"/>
                  <a:gd name="T11" fmla="*/ 302 h 3391"/>
                  <a:gd name="T12" fmla="*/ 1611 w 1895"/>
                  <a:gd name="T13" fmla="*/ 302 h 3391"/>
                  <a:gd name="T14" fmla="*/ 1611 w 1895"/>
                  <a:gd name="T15" fmla="*/ 466 h 3391"/>
                  <a:gd name="T16" fmla="*/ 1611 w 1895"/>
                  <a:gd name="T17" fmla="*/ 628 h 3391"/>
                  <a:gd name="T18" fmla="*/ 1611 w 1895"/>
                  <a:gd name="T19" fmla="*/ 791 h 3391"/>
                  <a:gd name="T20" fmla="*/ 1611 w 1895"/>
                  <a:gd name="T21" fmla="*/ 953 h 3391"/>
                  <a:gd name="T22" fmla="*/ 1611 w 1895"/>
                  <a:gd name="T23" fmla="*/ 1116 h 3391"/>
                  <a:gd name="T24" fmla="*/ 1611 w 1895"/>
                  <a:gd name="T25" fmla="*/ 1279 h 3391"/>
                  <a:gd name="T26" fmla="*/ 1611 w 1895"/>
                  <a:gd name="T27" fmla="*/ 1441 h 3391"/>
                  <a:gd name="T28" fmla="*/ 1611 w 1895"/>
                  <a:gd name="T29" fmla="*/ 1604 h 3391"/>
                  <a:gd name="T30" fmla="*/ 1611 w 1895"/>
                  <a:gd name="T31" fmla="*/ 1767 h 3391"/>
                  <a:gd name="T32" fmla="*/ 1611 w 1895"/>
                  <a:gd name="T33" fmla="*/ 1930 h 3391"/>
                  <a:gd name="T34" fmla="*/ 1611 w 1895"/>
                  <a:gd name="T35" fmla="*/ 2093 h 3391"/>
                  <a:gd name="T36" fmla="*/ 1611 w 1895"/>
                  <a:gd name="T37" fmla="*/ 2255 h 3391"/>
                  <a:gd name="T38" fmla="*/ 1611 w 1895"/>
                  <a:gd name="T39" fmla="*/ 2418 h 3391"/>
                  <a:gd name="T40" fmla="*/ 1611 w 1895"/>
                  <a:gd name="T41" fmla="*/ 2580 h 3391"/>
                  <a:gd name="T42" fmla="*/ 1611 w 1895"/>
                  <a:gd name="T43" fmla="*/ 2743 h 3391"/>
                  <a:gd name="T44" fmla="*/ 1611 w 1895"/>
                  <a:gd name="T45" fmla="*/ 2905 h 3391"/>
                  <a:gd name="T46" fmla="*/ 1611 w 1895"/>
                  <a:gd name="T47" fmla="*/ 3067 h 3391"/>
                  <a:gd name="T48" fmla="*/ 1346 w 1895"/>
                  <a:gd name="T49" fmla="*/ 3067 h 3391"/>
                  <a:gd name="T50" fmla="*/ 1079 w 1895"/>
                  <a:gd name="T51" fmla="*/ 3067 h 3391"/>
                  <a:gd name="T52" fmla="*/ 814 w 1895"/>
                  <a:gd name="T53" fmla="*/ 3067 h 3391"/>
                  <a:gd name="T54" fmla="*/ 549 w 1895"/>
                  <a:gd name="T55" fmla="*/ 3067 h 3391"/>
                  <a:gd name="T56" fmla="*/ 282 w 1895"/>
                  <a:gd name="T57" fmla="*/ 3067 h 3391"/>
                  <a:gd name="T58" fmla="*/ 282 w 1895"/>
                  <a:gd name="T59" fmla="*/ 2905 h 3391"/>
                  <a:gd name="T60" fmla="*/ 282 w 1895"/>
                  <a:gd name="T61" fmla="*/ 2743 h 3391"/>
                  <a:gd name="T62" fmla="*/ 282 w 1895"/>
                  <a:gd name="T63" fmla="*/ 2580 h 3391"/>
                  <a:gd name="T64" fmla="*/ 282 w 1895"/>
                  <a:gd name="T65" fmla="*/ 2418 h 3391"/>
                  <a:gd name="T66" fmla="*/ 282 w 1895"/>
                  <a:gd name="T67" fmla="*/ 2255 h 3391"/>
                  <a:gd name="T68" fmla="*/ 282 w 1895"/>
                  <a:gd name="T69" fmla="*/ 2093 h 3391"/>
                  <a:gd name="T70" fmla="*/ 282 w 1895"/>
                  <a:gd name="T71" fmla="*/ 1930 h 3391"/>
                  <a:gd name="T72" fmla="*/ 282 w 1895"/>
                  <a:gd name="T73" fmla="*/ 1767 h 3391"/>
                  <a:gd name="T74" fmla="*/ 282 w 1895"/>
                  <a:gd name="T75" fmla="*/ 1604 h 3391"/>
                  <a:gd name="T76" fmla="*/ 282 w 1895"/>
                  <a:gd name="T77" fmla="*/ 1441 h 3391"/>
                  <a:gd name="T78" fmla="*/ 282 w 1895"/>
                  <a:gd name="T79" fmla="*/ 1279 h 3391"/>
                  <a:gd name="T80" fmla="*/ 282 w 1895"/>
                  <a:gd name="T81" fmla="*/ 1116 h 3391"/>
                  <a:gd name="T82" fmla="*/ 282 w 1895"/>
                  <a:gd name="T83" fmla="*/ 953 h 3391"/>
                  <a:gd name="T84" fmla="*/ 282 w 1895"/>
                  <a:gd name="T85" fmla="*/ 791 h 3391"/>
                  <a:gd name="T86" fmla="*/ 282 w 1895"/>
                  <a:gd name="T87" fmla="*/ 628 h 3391"/>
                  <a:gd name="T88" fmla="*/ 282 w 1895"/>
                  <a:gd name="T89" fmla="*/ 466 h 3391"/>
                  <a:gd name="T90" fmla="*/ 282 w 1895"/>
                  <a:gd name="T91" fmla="*/ 302 h 3391"/>
                  <a:gd name="T92" fmla="*/ 549 w 1895"/>
                  <a:gd name="T93" fmla="*/ 302 h 3391"/>
                  <a:gd name="T94" fmla="*/ 814 w 1895"/>
                  <a:gd name="T95" fmla="*/ 302 h 3391"/>
                  <a:gd name="T96" fmla="*/ 1079 w 1895"/>
                  <a:gd name="T97" fmla="*/ 302 h 3391"/>
                  <a:gd name="T98" fmla="*/ 1346 w 1895"/>
                  <a:gd name="T99" fmla="*/ 302 h 3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95" h="3391">
                    <a:moveTo>
                      <a:pt x="1895" y="0"/>
                    </a:moveTo>
                    <a:lnTo>
                      <a:pt x="0" y="0"/>
                    </a:lnTo>
                    <a:lnTo>
                      <a:pt x="0" y="3391"/>
                    </a:lnTo>
                    <a:lnTo>
                      <a:pt x="1895" y="3391"/>
                    </a:lnTo>
                    <a:lnTo>
                      <a:pt x="1895" y="0"/>
                    </a:lnTo>
                    <a:close/>
                    <a:moveTo>
                      <a:pt x="1346" y="302"/>
                    </a:moveTo>
                    <a:lnTo>
                      <a:pt x="1611" y="302"/>
                    </a:lnTo>
                    <a:lnTo>
                      <a:pt x="1611" y="466"/>
                    </a:lnTo>
                    <a:lnTo>
                      <a:pt x="1611" y="628"/>
                    </a:lnTo>
                    <a:lnTo>
                      <a:pt x="1611" y="791"/>
                    </a:lnTo>
                    <a:lnTo>
                      <a:pt x="1611" y="953"/>
                    </a:lnTo>
                    <a:lnTo>
                      <a:pt x="1611" y="1116"/>
                    </a:lnTo>
                    <a:lnTo>
                      <a:pt x="1611" y="1279"/>
                    </a:lnTo>
                    <a:lnTo>
                      <a:pt x="1611" y="1441"/>
                    </a:lnTo>
                    <a:lnTo>
                      <a:pt x="1611" y="1604"/>
                    </a:lnTo>
                    <a:lnTo>
                      <a:pt x="1611" y="1767"/>
                    </a:lnTo>
                    <a:lnTo>
                      <a:pt x="1611" y="1930"/>
                    </a:lnTo>
                    <a:lnTo>
                      <a:pt x="1611" y="2093"/>
                    </a:lnTo>
                    <a:lnTo>
                      <a:pt x="1611" y="2255"/>
                    </a:lnTo>
                    <a:lnTo>
                      <a:pt x="1611" y="2418"/>
                    </a:lnTo>
                    <a:lnTo>
                      <a:pt x="1611" y="2580"/>
                    </a:lnTo>
                    <a:lnTo>
                      <a:pt x="1611" y="2743"/>
                    </a:lnTo>
                    <a:lnTo>
                      <a:pt x="1611" y="2905"/>
                    </a:lnTo>
                    <a:lnTo>
                      <a:pt x="1611" y="3067"/>
                    </a:lnTo>
                    <a:lnTo>
                      <a:pt x="1346" y="3067"/>
                    </a:lnTo>
                    <a:lnTo>
                      <a:pt x="1079" y="3067"/>
                    </a:lnTo>
                    <a:lnTo>
                      <a:pt x="814" y="3067"/>
                    </a:lnTo>
                    <a:lnTo>
                      <a:pt x="549" y="3067"/>
                    </a:lnTo>
                    <a:lnTo>
                      <a:pt x="282" y="3067"/>
                    </a:lnTo>
                    <a:lnTo>
                      <a:pt x="282" y="2905"/>
                    </a:lnTo>
                    <a:lnTo>
                      <a:pt x="282" y="2743"/>
                    </a:lnTo>
                    <a:lnTo>
                      <a:pt x="282" y="2580"/>
                    </a:lnTo>
                    <a:lnTo>
                      <a:pt x="282" y="2418"/>
                    </a:lnTo>
                    <a:lnTo>
                      <a:pt x="282" y="2255"/>
                    </a:lnTo>
                    <a:lnTo>
                      <a:pt x="282" y="2093"/>
                    </a:lnTo>
                    <a:lnTo>
                      <a:pt x="282" y="1930"/>
                    </a:lnTo>
                    <a:lnTo>
                      <a:pt x="282" y="1767"/>
                    </a:lnTo>
                    <a:lnTo>
                      <a:pt x="282" y="1604"/>
                    </a:lnTo>
                    <a:lnTo>
                      <a:pt x="282" y="1441"/>
                    </a:lnTo>
                    <a:lnTo>
                      <a:pt x="282" y="1279"/>
                    </a:lnTo>
                    <a:lnTo>
                      <a:pt x="282" y="1116"/>
                    </a:lnTo>
                    <a:lnTo>
                      <a:pt x="282" y="953"/>
                    </a:lnTo>
                    <a:lnTo>
                      <a:pt x="282" y="791"/>
                    </a:lnTo>
                    <a:lnTo>
                      <a:pt x="282" y="628"/>
                    </a:lnTo>
                    <a:lnTo>
                      <a:pt x="282" y="466"/>
                    </a:lnTo>
                    <a:lnTo>
                      <a:pt x="282" y="302"/>
                    </a:lnTo>
                    <a:lnTo>
                      <a:pt x="549" y="302"/>
                    </a:lnTo>
                    <a:lnTo>
                      <a:pt x="814" y="302"/>
                    </a:lnTo>
                    <a:lnTo>
                      <a:pt x="1079" y="302"/>
                    </a:lnTo>
                    <a:lnTo>
                      <a:pt x="1346" y="302"/>
                    </a:lnTo>
                    <a:close/>
                  </a:path>
                </a:pathLst>
              </a:custGeom>
              <a:solidFill>
                <a:srgbClr val="D18316"/>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endParaRPr lang="en-US">
                  <a:latin typeface="Arial" pitchFamily="34" charset="0"/>
                  <a:cs typeface="Arial" pitchFamily="34" charset="0"/>
                </a:endParaRPr>
              </a:p>
            </p:txBody>
          </p:sp>
          <p:sp>
            <p:nvSpPr>
              <p:cNvPr id="1751" name="Rectangle 911"/>
              <p:cNvSpPr>
                <a:spLocks noChangeArrowheads="1"/>
              </p:cNvSpPr>
              <p:nvPr/>
            </p:nvSpPr>
            <p:spPr bwMode="auto">
              <a:xfrm>
                <a:off x="7559676" y="1477235"/>
                <a:ext cx="141288"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2" name="Rectangle 912"/>
              <p:cNvSpPr>
                <a:spLocks noChangeArrowheads="1"/>
              </p:cNvSpPr>
              <p:nvPr/>
            </p:nvSpPr>
            <p:spPr bwMode="auto">
              <a:xfrm>
                <a:off x="7700963" y="1477235"/>
                <a:ext cx="139700"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3" name="Rectangle 913"/>
              <p:cNvSpPr>
                <a:spLocks noChangeArrowheads="1"/>
              </p:cNvSpPr>
              <p:nvPr/>
            </p:nvSpPr>
            <p:spPr bwMode="auto">
              <a:xfrm>
                <a:off x="7700963" y="1564548"/>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4" name="Rectangle 914"/>
              <p:cNvSpPr>
                <a:spLocks noChangeArrowheads="1"/>
              </p:cNvSpPr>
              <p:nvPr/>
            </p:nvSpPr>
            <p:spPr bwMode="auto">
              <a:xfrm>
                <a:off x="7700963" y="1650273"/>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5" name="Rectangle 915"/>
              <p:cNvSpPr>
                <a:spLocks noChangeArrowheads="1"/>
              </p:cNvSpPr>
              <p:nvPr/>
            </p:nvSpPr>
            <p:spPr bwMode="auto">
              <a:xfrm>
                <a:off x="7559676" y="16502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6" name="Rectangle 916"/>
              <p:cNvSpPr>
                <a:spLocks noChangeArrowheads="1"/>
              </p:cNvSpPr>
              <p:nvPr/>
            </p:nvSpPr>
            <p:spPr bwMode="auto">
              <a:xfrm>
                <a:off x="7559676" y="1821723"/>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7" name="Rectangle 917"/>
              <p:cNvSpPr>
                <a:spLocks noChangeArrowheads="1"/>
              </p:cNvSpPr>
              <p:nvPr/>
            </p:nvSpPr>
            <p:spPr bwMode="auto">
              <a:xfrm>
                <a:off x="7700963" y="1821723"/>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8" name="Rectangle 918"/>
              <p:cNvSpPr>
                <a:spLocks noChangeArrowheads="1"/>
              </p:cNvSpPr>
              <p:nvPr/>
            </p:nvSpPr>
            <p:spPr bwMode="auto">
              <a:xfrm>
                <a:off x="7700963" y="190903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59" name="Rectangle 919"/>
              <p:cNvSpPr>
                <a:spLocks noChangeArrowheads="1"/>
              </p:cNvSpPr>
              <p:nvPr/>
            </p:nvSpPr>
            <p:spPr bwMode="auto">
              <a:xfrm>
                <a:off x="7700963" y="1735998"/>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0" name="Rectangle 920"/>
              <p:cNvSpPr>
                <a:spLocks noChangeArrowheads="1"/>
              </p:cNvSpPr>
              <p:nvPr/>
            </p:nvSpPr>
            <p:spPr bwMode="auto">
              <a:xfrm>
                <a:off x="7559676" y="173599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1" name="Rectangle 921"/>
              <p:cNvSpPr>
                <a:spLocks noChangeArrowheads="1"/>
              </p:cNvSpPr>
              <p:nvPr/>
            </p:nvSpPr>
            <p:spPr bwMode="auto">
              <a:xfrm>
                <a:off x="7559676" y="156454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2" name="Rectangle 922"/>
              <p:cNvSpPr>
                <a:spLocks noChangeArrowheads="1"/>
              </p:cNvSpPr>
              <p:nvPr/>
            </p:nvSpPr>
            <p:spPr bwMode="auto">
              <a:xfrm>
                <a:off x="7559676" y="199476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3" name="Rectangle 923"/>
              <p:cNvSpPr>
                <a:spLocks noChangeArrowheads="1"/>
              </p:cNvSpPr>
              <p:nvPr/>
            </p:nvSpPr>
            <p:spPr bwMode="auto">
              <a:xfrm>
                <a:off x="7700963" y="1994760"/>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4" name="Rectangle 924"/>
              <p:cNvSpPr>
                <a:spLocks noChangeArrowheads="1"/>
              </p:cNvSpPr>
              <p:nvPr/>
            </p:nvSpPr>
            <p:spPr bwMode="auto">
              <a:xfrm>
                <a:off x="7700963" y="208048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5" name="Rectangle 925"/>
              <p:cNvSpPr>
                <a:spLocks noChangeArrowheads="1"/>
              </p:cNvSpPr>
              <p:nvPr/>
            </p:nvSpPr>
            <p:spPr bwMode="auto">
              <a:xfrm>
                <a:off x="7700963" y="2166210"/>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6" name="Rectangle 926"/>
              <p:cNvSpPr>
                <a:spLocks noChangeArrowheads="1"/>
              </p:cNvSpPr>
              <p:nvPr/>
            </p:nvSpPr>
            <p:spPr bwMode="auto">
              <a:xfrm>
                <a:off x="7559676" y="20804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7" name="Rectangle 927"/>
              <p:cNvSpPr>
                <a:spLocks noChangeArrowheads="1"/>
              </p:cNvSpPr>
              <p:nvPr/>
            </p:nvSpPr>
            <p:spPr bwMode="auto">
              <a:xfrm>
                <a:off x="7700963" y="2253523"/>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8" name="Rectangle 928"/>
              <p:cNvSpPr>
                <a:spLocks noChangeArrowheads="1"/>
              </p:cNvSpPr>
              <p:nvPr/>
            </p:nvSpPr>
            <p:spPr bwMode="auto">
              <a:xfrm>
                <a:off x="7559676" y="2253523"/>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69" name="Rectangle 929"/>
              <p:cNvSpPr>
                <a:spLocks noChangeArrowheads="1"/>
              </p:cNvSpPr>
              <p:nvPr/>
            </p:nvSpPr>
            <p:spPr bwMode="auto">
              <a:xfrm>
                <a:off x="7559676" y="24249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0" name="Rectangle 930"/>
              <p:cNvSpPr>
                <a:spLocks noChangeArrowheads="1"/>
              </p:cNvSpPr>
              <p:nvPr/>
            </p:nvSpPr>
            <p:spPr bwMode="auto">
              <a:xfrm>
                <a:off x="7700963" y="2424973"/>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1" name="Rectangle 931"/>
              <p:cNvSpPr>
                <a:spLocks noChangeArrowheads="1"/>
              </p:cNvSpPr>
              <p:nvPr/>
            </p:nvSpPr>
            <p:spPr bwMode="auto">
              <a:xfrm>
                <a:off x="7700963" y="2510698"/>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2" name="Rectangle 932"/>
              <p:cNvSpPr>
                <a:spLocks noChangeArrowheads="1"/>
              </p:cNvSpPr>
              <p:nvPr/>
            </p:nvSpPr>
            <p:spPr bwMode="auto">
              <a:xfrm>
                <a:off x="7700963" y="2339248"/>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3" name="Rectangle 933"/>
              <p:cNvSpPr>
                <a:spLocks noChangeArrowheads="1"/>
              </p:cNvSpPr>
              <p:nvPr/>
            </p:nvSpPr>
            <p:spPr bwMode="auto">
              <a:xfrm>
                <a:off x="7559676" y="2339248"/>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4" name="Rectangle 934"/>
              <p:cNvSpPr>
                <a:spLocks noChangeArrowheads="1"/>
              </p:cNvSpPr>
              <p:nvPr/>
            </p:nvSpPr>
            <p:spPr bwMode="auto">
              <a:xfrm>
                <a:off x="7559676" y="2166210"/>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5" name="Rectangle 935"/>
              <p:cNvSpPr>
                <a:spLocks noChangeArrowheads="1"/>
              </p:cNvSpPr>
              <p:nvPr/>
            </p:nvSpPr>
            <p:spPr bwMode="auto">
              <a:xfrm>
                <a:off x="7559676" y="190903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6" name="Rectangle 936"/>
              <p:cNvSpPr>
                <a:spLocks noChangeArrowheads="1"/>
              </p:cNvSpPr>
              <p:nvPr/>
            </p:nvSpPr>
            <p:spPr bwMode="auto">
              <a:xfrm>
                <a:off x="7278688" y="1477235"/>
                <a:ext cx="139700"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7" name="Rectangle 937"/>
              <p:cNvSpPr>
                <a:spLocks noChangeArrowheads="1"/>
              </p:cNvSpPr>
              <p:nvPr/>
            </p:nvSpPr>
            <p:spPr bwMode="auto">
              <a:xfrm>
                <a:off x="7418388" y="1477235"/>
                <a:ext cx="141288"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8" name="Rectangle 938"/>
              <p:cNvSpPr>
                <a:spLocks noChangeArrowheads="1"/>
              </p:cNvSpPr>
              <p:nvPr/>
            </p:nvSpPr>
            <p:spPr bwMode="auto">
              <a:xfrm>
                <a:off x="7418388" y="156454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79" name="Rectangle 939"/>
              <p:cNvSpPr>
                <a:spLocks noChangeArrowheads="1"/>
              </p:cNvSpPr>
              <p:nvPr/>
            </p:nvSpPr>
            <p:spPr bwMode="auto">
              <a:xfrm>
                <a:off x="7137401" y="1477235"/>
                <a:ext cx="141288"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0" name="Rectangle 940"/>
              <p:cNvSpPr>
                <a:spLocks noChangeArrowheads="1"/>
              </p:cNvSpPr>
              <p:nvPr/>
            </p:nvSpPr>
            <p:spPr bwMode="auto">
              <a:xfrm>
                <a:off x="7137401" y="16502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1" name="Rectangle 941"/>
              <p:cNvSpPr>
                <a:spLocks noChangeArrowheads="1"/>
              </p:cNvSpPr>
              <p:nvPr/>
            </p:nvSpPr>
            <p:spPr bwMode="auto">
              <a:xfrm>
                <a:off x="7278688" y="1650273"/>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2" name="Rectangle 942"/>
              <p:cNvSpPr>
                <a:spLocks noChangeArrowheads="1"/>
              </p:cNvSpPr>
              <p:nvPr/>
            </p:nvSpPr>
            <p:spPr bwMode="auto">
              <a:xfrm>
                <a:off x="7137401" y="1821723"/>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3" name="Rectangle 943"/>
              <p:cNvSpPr>
                <a:spLocks noChangeArrowheads="1"/>
              </p:cNvSpPr>
              <p:nvPr/>
            </p:nvSpPr>
            <p:spPr bwMode="auto">
              <a:xfrm>
                <a:off x="7278688" y="1821723"/>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4" name="Rectangle 944"/>
              <p:cNvSpPr>
                <a:spLocks noChangeArrowheads="1"/>
              </p:cNvSpPr>
              <p:nvPr/>
            </p:nvSpPr>
            <p:spPr bwMode="auto">
              <a:xfrm>
                <a:off x="7137401" y="173599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5" name="Rectangle 945"/>
              <p:cNvSpPr>
                <a:spLocks noChangeArrowheads="1"/>
              </p:cNvSpPr>
              <p:nvPr/>
            </p:nvSpPr>
            <p:spPr bwMode="auto">
              <a:xfrm>
                <a:off x="7278688" y="1735998"/>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6" name="Rectangle 946"/>
              <p:cNvSpPr>
                <a:spLocks noChangeArrowheads="1"/>
              </p:cNvSpPr>
              <p:nvPr/>
            </p:nvSpPr>
            <p:spPr bwMode="auto">
              <a:xfrm>
                <a:off x="7418388" y="16502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7" name="Rectangle 947"/>
              <p:cNvSpPr>
                <a:spLocks noChangeArrowheads="1"/>
              </p:cNvSpPr>
              <p:nvPr/>
            </p:nvSpPr>
            <p:spPr bwMode="auto">
              <a:xfrm>
                <a:off x="7418388" y="1821723"/>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8" name="Rectangle 948"/>
              <p:cNvSpPr>
                <a:spLocks noChangeArrowheads="1"/>
              </p:cNvSpPr>
              <p:nvPr/>
            </p:nvSpPr>
            <p:spPr bwMode="auto">
              <a:xfrm>
                <a:off x="7418388" y="190903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89" name="Rectangle 949"/>
              <p:cNvSpPr>
                <a:spLocks noChangeArrowheads="1"/>
              </p:cNvSpPr>
              <p:nvPr/>
            </p:nvSpPr>
            <p:spPr bwMode="auto">
              <a:xfrm>
                <a:off x="7418388" y="173599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0" name="Rectangle 950"/>
              <p:cNvSpPr>
                <a:spLocks noChangeArrowheads="1"/>
              </p:cNvSpPr>
              <p:nvPr/>
            </p:nvSpPr>
            <p:spPr bwMode="auto">
              <a:xfrm>
                <a:off x="7278688" y="1564548"/>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1" name="Rectangle 951"/>
              <p:cNvSpPr>
                <a:spLocks noChangeArrowheads="1"/>
              </p:cNvSpPr>
              <p:nvPr/>
            </p:nvSpPr>
            <p:spPr bwMode="auto">
              <a:xfrm>
                <a:off x="7137401" y="1564548"/>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2" name="Rectangle 952"/>
              <p:cNvSpPr>
                <a:spLocks noChangeArrowheads="1"/>
              </p:cNvSpPr>
              <p:nvPr/>
            </p:nvSpPr>
            <p:spPr bwMode="auto">
              <a:xfrm>
                <a:off x="7278688" y="190903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3" name="Rectangle 953"/>
              <p:cNvSpPr>
                <a:spLocks noChangeArrowheads="1"/>
              </p:cNvSpPr>
              <p:nvPr/>
            </p:nvSpPr>
            <p:spPr bwMode="auto">
              <a:xfrm>
                <a:off x="7137401" y="199476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4" name="Rectangle 954"/>
              <p:cNvSpPr>
                <a:spLocks noChangeArrowheads="1"/>
              </p:cNvSpPr>
              <p:nvPr/>
            </p:nvSpPr>
            <p:spPr bwMode="auto">
              <a:xfrm>
                <a:off x="7137401" y="20804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5" name="Rectangle 955"/>
              <p:cNvSpPr>
                <a:spLocks noChangeArrowheads="1"/>
              </p:cNvSpPr>
              <p:nvPr/>
            </p:nvSpPr>
            <p:spPr bwMode="auto">
              <a:xfrm>
                <a:off x="7137401" y="2166210"/>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6" name="Rectangle 956"/>
              <p:cNvSpPr>
                <a:spLocks noChangeArrowheads="1"/>
              </p:cNvSpPr>
              <p:nvPr/>
            </p:nvSpPr>
            <p:spPr bwMode="auto">
              <a:xfrm>
                <a:off x="7137401" y="2253523"/>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7" name="Rectangle 957"/>
              <p:cNvSpPr>
                <a:spLocks noChangeArrowheads="1"/>
              </p:cNvSpPr>
              <p:nvPr/>
            </p:nvSpPr>
            <p:spPr bwMode="auto">
              <a:xfrm>
                <a:off x="7137401" y="2339248"/>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8" name="Rectangle 958"/>
              <p:cNvSpPr>
                <a:spLocks noChangeArrowheads="1"/>
              </p:cNvSpPr>
              <p:nvPr/>
            </p:nvSpPr>
            <p:spPr bwMode="auto">
              <a:xfrm>
                <a:off x="7137401" y="24249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799" name="Rectangle 959"/>
              <p:cNvSpPr>
                <a:spLocks noChangeArrowheads="1"/>
              </p:cNvSpPr>
              <p:nvPr/>
            </p:nvSpPr>
            <p:spPr bwMode="auto">
              <a:xfrm>
                <a:off x="7418388" y="20804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0" name="Rectangle 960"/>
              <p:cNvSpPr>
                <a:spLocks noChangeArrowheads="1"/>
              </p:cNvSpPr>
              <p:nvPr/>
            </p:nvSpPr>
            <p:spPr bwMode="auto">
              <a:xfrm>
                <a:off x="7418388" y="2166210"/>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1" name="Rectangle 961"/>
              <p:cNvSpPr>
                <a:spLocks noChangeArrowheads="1"/>
              </p:cNvSpPr>
              <p:nvPr/>
            </p:nvSpPr>
            <p:spPr bwMode="auto">
              <a:xfrm>
                <a:off x="7278688" y="208048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2" name="Rectangle 962"/>
              <p:cNvSpPr>
                <a:spLocks noChangeArrowheads="1"/>
              </p:cNvSpPr>
              <p:nvPr/>
            </p:nvSpPr>
            <p:spPr bwMode="auto">
              <a:xfrm>
                <a:off x="7418388" y="199476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3" name="Rectangle 963"/>
              <p:cNvSpPr>
                <a:spLocks noChangeArrowheads="1"/>
              </p:cNvSpPr>
              <p:nvPr/>
            </p:nvSpPr>
            <p:spPr bwMode="auto">
              <a:xfrm>
                <a:off x="7278688" y="1994760"/>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4" name="Rectangle 964"/>
              <p:cNvSpPr>
                <a:spLocks noChangeArrowheads="1"/>
              </p:cNvSpPr>
              <p:nvPr/>
            </p:nvSpPr>
            <p:spPr bwMode="auto">
              <a:xfrm>
                <a:off x="7278688" y="2253523"/>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5" name="Rectangle 965"/>
              <p:cNvSpPr>
                <a:spLocks noChangeArrowheads="1"/>
              </p:cNvSpPr>
              <p:nvPr/>
            </p:nvSpPr>
            <p:spPr bwMode="auto">
              <a:xfrm>
                <a:off x="7278688" y="2424973"/>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6" name="Rectangle 966"/>
              <p:cNvSpPr>
                <a:spLocks noChangeArrowheads="1"/>
              </p:cNvSpPr>
              <p:nvPr/>
            </p:nvSpPr>
            <p:spPr bwMode="auto">
              <a:xfrm>
                <a:off x="7278688" y="2339248"/>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7" name="Rectangle 967"/>
              <p:cNvSpPr>
                <a:spLocks noChangeArrowheads="1"/>
              </p:cNvSpPr>
              <p:nvPr/>
            </p:nvSpPr>
            <p:spPr bwMode="auto">
              <a:xfrm>
                <a:off x="7418388" y="2253523"/>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8" name="Rectangle 968"/>
              <p:cNvSpPr>
                <a:spLocks noChangeArrowheads="1"/>
              </p:cNvSpPr>
              <p:nvPr/>
            </p:nvSpPr>
            <p:spPr bwMode="auto">
              <a:xfrm>
                <a:off x="7418388" y="2424973"/>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09" name="Rectangle 969"/>
              <p:cNvSpPr>
                <a:spLocks noChangeArrowheads="1"/>
              </p:cNvSpPr>
              <p:nvPr/>
            </p:nvSpPr>
            <p:spPr bwMode="auto">
              <a:xfrm>
                <a:off x="7418388" y="2510698"/>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0" name="Rectangle 970"/>
              <p:cNvSpPr>
                <a:spLocks noChangeArrowheads="1"/>
              </p:cNvSpPr>
              <p:nvPr/>
            </p:nvSpPr>
            <p:spPr bwMode="auto">
              <a:xfrm>
                <a:off x="7418388" y="2339248"/>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1" name="Rectangle 971"/>
              <p:cNvSpPr>
                <a:spLocks noChangeArrowheads="1"/>
              </p:cNvSpPr>
              <p:nvPr/>
            </p:nvSpPr>
            <p:spPr bwMode="auto">
              <a:xfrm>
                <a:off x="7278688" y="2166210"/>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2" name="Rectangle 972"/>
              <p:cNvSpPr>
                <a:spLocks noChangeArrowheads="1"/>
              </p:cNvSpPr>
              <p:nvPr/>
            </p:nvSpPr>
            <p:spPr bwMode="auto">
              <a:xfrm>
                <a:off x="7278688" y="2510698"/>
                <a:ext cx="13970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3" name="Rectangle 973"/>
              <p:cNvSpPr>
                <a:spLocks noChangeArrowheads="1"/>
              </p:cNvSpPr>
              <p:nvPr/>
            </p:nvSpPr>
            <p:spPr bwMode="auto">
              <a:xfrm>
                <a:off x="7137401" y="190903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4" name="Rectangle 974"/>
              <p:cNvSpPr>
                <a:spLocks noChangeArrowheads="1"/>
              </p:cNvSpPr>
              <p:nvPr/>
            </p:nvSpPr>
            <p:spPr bwMode="auto">
              <a:xfrm>
                <a:off x="7137401" y="2510698"/>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5" name="Rectangle 975"/>
              <p:cNvSpPr>
                <a:spLocks noChangeArrowheads="1"/>
              </p:cNvSpPr>
              <p:nvPr/>
            </p:nvSpPr>
            <p:spPr bwMode="auto">
              <a:xfrm>
                <a:off x="7559676" y="259801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6" name="Rectangle 976"/>
              <p:cNvSpPr>
                <a:spLocks noChangeArrowheads="1"/>
              </p:cNvSpPr>
              <p:nvPr/>
            </p:nvSpPr>
            <p:spPr bwMode="auto">
              <a:xfrm>
                <a:off x="7418388" y="259801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7" name="Rectangle 977"/>
              <p:cNvSpPr>
                <a:spLocks noChangeArrowheads="1"/>
              </p:cNvSpPr>
              <p:nvPr/>
            </p:nvSpPr>
            <p:spPr bwMode="auto">
              <a:xfrm>
                <a:off x="7278688" y="2598010"/>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8" name="Rectangle 978"/>
              <p:cNvSpPr>
                <a:spLocks noChangeArrowheads="1"/>
              </p:cNvSpPr>
              <p:nvPr/>
            </p:nvSpPr>
            <p:spPr bwMode="auto">
              <a:xfrm>
                <a:off x="7278688" y="2769460"/>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19" name="Rectangle 979"/>
              <p:cNvSpPr>
                <a:spLocks noChangeArrowheads="1"/>
              </p:cNvSpPr>
              <p:nvPr/>
            </p:nvSpPr>
            <p:spPr bwMode="auto">
              <a:xfrm>
                <a:off x="7418388" y="2769460"/>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0" name="Rectangle 980"/>
              <p:cNvSpPr>
                <a:spLocks noChangeArrowheads="1"/>
              </p:cNvSpPr>
              <p:nvPr/>
            </p:nvSpPr>
            <p:spPr bwMode="auto">
              <a:xfrm>
                <a:off x="7559676" y="2769460"/>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1" name="Rectangle 981"/>
              <p:cNvSpPr>
                <a:spLocks noChangeArrowheads="1"/>
              </p:cNvSpPr>
              <p:nvPr/>
            </p:nvSpPr>
            <p:spPr bwMode="auto">
              <a:xfrm>
                <a:off x="7418388" y="28551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2" name="Rectangle 982"/>
              <p:cNvSpPr>
                <a:spLocks noChangeArrowheads="1"/>
              </p:cNvSpPr>
              <p:nvPr/>
            </p:nvSpPr>
            <p:spPr bwMode="auto">
              <a:xfrm>
                <a:off x="7418388" y="2683735"/>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3" name="Rectangle 983"/>
              <p:cNvSpPr>
                <a:spLocks noChangeArrowheads="1"/>
              </p:cNvSpPr>
              <p:nvPr/>
            </p:nvSpPr>
            <p:spPr bwMode="auto">
              <a:xfrm>
                <a:off x="7559676" y="2683735"/>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4" name="Rectangle 984"/>
              <p:cNvSpPr>
                <a:spLocks noChangeArrowheads="1"/>
              </p:cNvSpPr>
              <p:nvPr/>
            </p:nvSpPr>
            <p:spPr bwMode="auto">
              <a:xfrm>
                <a:off x="7278688" y="2683735"/>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5" name="Rectangle 985"/>
              <p:cNvSpPr>
                <a:spLocks noChangeArrowheads="1"/>
              </p:cNvSpPr>
              <p:nvPr/>
            </p:nvSpPr>
            <p:spPr bwMode="auto">
              <a:xfrm>
                <a:off x="7137401" y="2683735"/>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6" name="Rectangle 986"/>
              <p:cNvSpPr>
                <a:spLocks noChangeArrowheads="1"/>
              </p:cNvSpPr>
              <p:nvPr/>
            </p:nvSpPr>
            <p:spPr bwMode="auto">
              <a:xfrm>
                <a:off x="7137401" y="2769460"/>
                <a:ext cx="1412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7" name="Rectangle 987"/>
              <p:cNvSpPr>
                <a:spLocks noChangeArrowheads="1"/>
              </p:cNvSpPr>
              <p:nvPr/>
            </p:nvSpPr>
            <p:spPr bwMode="auto">
              <a:xfrm>
                <a:off x="7137401" y="2598010"/>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8" name="Rectangle 988"/>
              <p:cNvSpPr>
                <a:spLocks noChangeArrowheads="1"/>
              </p:cNvSpPr>
              <p:nvPr/>
            </p:nvSpPr>
            <p:spPr bwMode="auto">
              <a:xfrm>
                <a:off x="7137401" y="28551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29" name="Rectangle 989"/>
              <p:cNvSpPr>
                <a:spLocks noChangeArrowheads="1"/>
              </p:cNvSpPr>
              <p:nvPr/>
            </p:nvSpPr>
            <p:spPr bwMode="auto">
              <a:xfrm>
                <a:off x="7278688" y="285518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0" name="Rectangle 990"/>
              <p:cNvSpPr>
                <a:spLocks noChangeArrowheads="1"/>
              </p:cNvSpPr>
              <p:nvPr/>
            </p:nvSpPr>
            <p:spPr bwMode="auto">
              <a:xfrm>
                <a:off x="7559676" y="2855185"/>
                <a:ext cx="1412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1" name="Rectangle 991"/>
              <p:cNvSpPr>
                <a:spLocks noChangeArrowheads="1"/>
              </p:cNvSpPr>
              <p:nvPr/>
            </p:nvSpPr>
            <p:spPr bwMode="auto">
              <a:xfrm>
                <a:off x="7700963" y="2598010"/>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2" name="Rectangle 992"/>
              <p:cNvSpPr>
                <a:spLocks noChangeArrowheads="1"/>
              </p:cNvSpPr>
              <p:nvPr/>
            </p:nvSpPr>
            <p:spPr bwMode="auto">
              <a:xfrm>
                <a:off x="7700963" y="2769460"/>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3" name="Rectangle 993"/>
              <p:cNvSpPr>
                <a:spLocks noChangeArrowheads="1"/>
              </p:cNvSpPr>
              <p:nvPr/>
            </p:nvSpPr>
            <p:spPr bwMode="auto">
              <a:xfrm>
                <a:off x="7700963" y="2683735"/>
                <a:ext cx="13970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4" name="Rectangle 994"/>
              <p:cNvSpPr>
                <a:spLocks noChangeArrowheads="1"/>
              </p:cNvSpPr>
              <p:nvPr/>
            </p:nvSpPr>
            <p:spPr bwMode="auto">
              <a:xfrm>
                <a:off x="7700963" y="2855185"/>
                <a:ext cx="13970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5" name="Rectangle 995"/>
              <p:cNvSpPr>
                <a:spLocks noChangeArrowheads="1"/>
              </p:cNvSpPr>
              <p:nvPr/>
            </p:nvSpPr>
            <p:spPr bwMode="auto">
              <a:xfrm>
                <a:off x="7559676" y="2510698"/>
                <a:ext cx="1412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1836" name="Rectangle 996"/>
              <p:cNvSpPr>
                <a:spLocks noChangeArrowheads="1"/>
              </p:cNvSpPr>
              <p:nvPr/>
            </p:nvSpPr>
            <p:spPr bwMode="auto">
              <a:xfrm>
                <a:off x="6988176" y="1318485"/>
                <a:ext cx="1003300" cy="1793875"/>
              </a:xfrm>
              <a:prstGeom prst="rect">
                <a:avLst/>
              </a:prstGeom>
              <a:noFill/>
              <a:ln w="0">
                <a:solidFill>
                  <a:srgbClr val="999999"/>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1837" name="Freeform 997"/>
              <p:cNvSpPr>
                <a:spLocks/>
              </p:cNvSpPr>
              <p:nvPr/>
            </p:nvSpPr>
            <p:spPr bwMode="auto">
              <a:xfrm>
                <a:off x="7700963" y="1477235"/>
                <a:ext cx="139700" cy="87313"/>
              </a:xfrm>
              <a:custGeom>
                <a:avLst/>
                <a:gdLst>
                  <a:gd name="T0" fmla="*/ 265 w 265"/>
                  <a:gd name="T1" fmla="*/ 164 h 164"/>
                  <a:gd name="T2" fmla="*/ 265 w 265"/>
                  <a:gd name="T3" fmla="*/ 0 h 164"/>
                  <a:gd name="T4" fmla="*/ 0 w 265"/>
                  <a:gd name="T5" fmla="*/ 0 h 164"/>
                </a:gdLst>
                <a:ahLst/>
                <a:cxnLst>
                  <a:cxn ang="0">
                    <a:pos x="T0" y="T1"/>
                  </a:cxn>
                  <a:cxn ang="0">
                    <a:pos x="T2" y="T3"/>
                  </a:cxn>
                  <a:cxn ang="0">
                    <a:pos x="T4" y="T5"/>
                  </a:cxn>
                </a:cxnLst>
                <a:rect l="0" t="0" r="r" b="b"/>
                <a:pathLst>
                  <a:path w="265" h="164">
                    <a:moveTo>
                      <a:pt x="265" y="164"/>
                    </a:moveTo>
                    <a:lnTo>
                      <a:pt x="265" y="0"/>
                    </a:lnTo>
                    <a:lnTo>
                      <a:pt x="0"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1838" name="Line 998"/>
              <p:cNvSpPr>
                <a:spLocks noChangeShapeType="1"/>
              </p:cNvSpPr>
              <p:nvPr/>
            </p:nvSpPr>
            <p:spPr bwMode="auto">
              <a:xfrm>
                <a:off x="7700963" y="156454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39" name="Line 999"/>
              <p:cNvSpPr>
                <a:spLocks noChangeShapeType="1"/>
              </p:cNvSpPr>
              <p:nvPr/>
            </p:nvSpPr>
            <p:spPr bwMode="auto">
              <a:xfrm flipV="1">
                <a:off x="7840663"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0" name="Line 1000"/>
              <p:cNvSpPr>
                <a:spLocks noChangeShapeType="1"/>
              </p:cNvSpPr>
              <p:nvPr/>
            </p:nvSpPr>
            <p:spPr bwMode="auto">
              <a:xfrm>
                <a:off x="7700963"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1" name="Line 1001"/>
              <p:cNvSpPr>
                <a:spLocks noChangeShapeType="1"/>
              </p:cNvSpPr>
              <p:nvPr/>
            </p:nvSpPr>
            <p:spPr bwMode="auto">
              <a:xfrm>
                <a:off x="7700963"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2" name="Line 1002"/>
              <p:cNvSpPr>
                <a:spLocks noChangeShapeType="1"/>
              </p:cNvSpPr>
              <p:nvPr/>
            </p:nvSpPr>
            <p:spPr bwMode="auto">
              <a:xfrm flipV="1">
                <a:off x="7840663"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3" name="Line 1003"/>
              <p:cNvSpPr>
                <a:spLocks noChangeShapeType="1"/>
              </p:cNvSpPr>
              <p:nvPr/>
            </p:nvSpPr>
            <p:spPr bwMode="auto">
              <a:xfrm>
                <a:off x="7700963" y="190903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4" name="Line 1004"/>
              <p:cNvSpPr>
                <a:spLocks noChangeShapeType="1"/>
              </p:cNvSpPr>
              <p:nvPr/>
            </p:nvSpPr>
            <p:spPr bwMode="auto">
              <a:xfrm flipV="1">
                <a:off x="7840663"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5" name="Line 1005"/>
              <p:cNvSpPr>
                <a:spLocks noChangeShapeType="1"/>
              </p:cNvSpPr>
              <p:nvPr/>
            </p:nvSpPr>
            <p:spPr bwMode="auto">
              <a:xfrm flipH="1">
                <a:off x="7700963" y="165027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6" name="Line 1006"/>
              <p:cNvSpPr>
                <a:spLocks noChangeShapeType="1"/>
              </p:cNvSpPr>
              <p:nvPr/>
            </p:nvSpPr>
            <p:spPr bwMode="auto">
              <a:xfrm>
                <a:off x="7700963" y="173599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7" name="Line 1007"/>
              <p:cNvSpPr>
                <a:spLocks noChangeShapeType="1"/>
              </p:cNvSpPr>
              <p:nvPr/>
            </p:nvSpPr>
            <p:spPr bwMode="auto">
              <a:xfrm flipV="1">
                <a:off x="7700963"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8" name="Line 1008"/>
              <p:cNvSpPr>
                <a:spLocks noChangeShapeType="1"/>
              </p:cNvSpPr>
              <p:nvPr/>
            </p:nvSpPr>
            <p:spPr bwMode="auto">
              <a:xfrm flipH="1">
                <a:off x="7700963" y="182172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49" name="Line 1009"/>
              <p:cNvSpPr>
                <a:spLocks noChangeShapeType="1"/>
              </p:cNvSpPr>
              <p:nvPr/>
            </p:nvSpPr>
            <p:spPr bwMode="auto">
              <a:xfrm flipV="1">
                <a:off x="7840663"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0" name="Line 1010"/>
              <p:cNvSpPr>
                <a:spLocks noChangeShapeType="1"/>
              </p:cNvSpPr>
              <p:nvPr/>
            </p:nvSpPr>
            <p:spPr bwMode="auto">
              <a:xfrm flipV="1">
                <a:off x="7700963"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1" name="Line 1011"/>
              <p:cNvSpPr>
                <a:spLocks noChangeShapeType="1"/>
              </p:cNvSpPr>
              <p:nvPr/>
            </p:nvSpPr>
            <p:spPr bwMode="auto">
              <a:xfrm>
                <a:off x="7700963"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2" name="Line 1012"/>
              <p:cNvSpPr>
                <a:spLocks noChangeShapeType="1"/>
              </p:cNvSpPr>
              <p:nvPr/>
            </p:nvSpPr>
            <p:spPr bwMode="auto">
              <a:xfrm flipH="1">
                <a:off x="7700963" y="216621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3" name="Line 1013"/>
              <p:cNvSpPr>
                <a:spLocks noChangeShapeType="1"/>
              </p:cNvSpPr>
              <p:nvPr/>
            </p:nvSpPr>
            <p:spPr bwMode="auto">
              <a:xfrm flipV="1">
                <a:off x="7840663"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4" name="Line 1014"/>
              <p:cNvSpPr>
                <a:spLocks noChangeShapeType="1"/>
              </p:cNvSpPr>
              <p:nvPr/>
            </p:nvSpPr>
            <p:spPr bwMode="auto">
              <a:xfrm flipV="1">
                <a:off x="7840663"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5" name="Line 1015"/>
              <p:cNvSpPr>
                <a:spLocks noChangeShapeType="1"/>
              </p:cNvSpPr>
              <p:nvPr/>
            </p:nvSpPr>
            <p:spPr bwMode="auto">
              <a:xfrm flipH="1">
                <a:off x="7700963" y="199476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6" name="Line 1016"/>
              <p:cNvSpPr>
                <a:spLocks noChangeShapeType="1"/>
              </p:cNvSpPr>
              <p:nvPr/>
            </p:nvSpPr>
            <p:spPr bwMode="auto">
              <a:xfrm>
                <a:off x="7700963" y="208048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7" name="Line 1017"/>
              <p:cNvSpPr>
                <a:spLocks noChangeShapeType="1"/>
              </p:cNvSpPr>
              <p:nvPr/>
            </p:nvSpPr>
            <p:spPr bwMode="auto">
              <a:xfrm flipV="1">
                <a:off x="7700963"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8" name="Line 1018"/>
              <p:cNvSpPr>
                <a:spLocks noChangeShapeType="1"/>
              </p:cNvSpPr>
              <p:nvPr/>
            </p:nvSpPr>
            <p:spPr bwMode="auto">
              <a:xfrm flipV="1">
                <a:off x="7840663"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59" name="Line 1019"/>
              <p:cNvSpPr>
                <a:spLocks noChangeShapeType="1"/>
              </p:cNvSpPr>
              <p:nvPr/>
            </p:nvSpPr>
            <p:spPr bwMode="auto">
              <a:xfrm>
                <a:off x="7700963"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0" name="Line 1020"/>
              <p:cNvSpPr>
                <a:spLocks noChangeShapeType="1"/>
              </p:cNvSpPr>
              <p:nvPr/>
            </p:nvSpPr>
            <p:spPr bwMode="auto">
              <a:xfrm>
                <a:off x="7700963"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1" name="Line 1021"/>
              <p:cNvSpPr>
                <a:spLocks noChangeShapeType="1"/>
              </p:cNvSpPr>
              <p:nvPr/>
            </p:nvSpPr>
            <p:spPr bwMode="auto">
              <a:xfrm flipV="1">
                <a:off x="7840663"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2" name="Line 1022"/>
              <p:cNvSpPr>
                <a:spLocks noChangeShapeType="1"/>
              </p:cNvSpPr>
              <p:nvPr/>
            </p:nvSpPr>
            <p:spPr bwMode="auto">
              <a:xfrm>
                <a:off x="7700963" y="251069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3" name="Line 1023"/>
              <p:cNvSpPr>
                <a:spLocks noChangeShapeType="1"/>
              </p:cNvSpPr>
              <p:nvPr/>
            </p:nvSpPr>
            <p:spPr bwMode="auto">
              <a:xfrm flipV="1">
                <a:off x="7840663"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4" name="Line 1024"/>
              <p:cNvSpPr>
                <a:spLocks noChangeShapeType="1"/>
              </p:cNvSpPr>
              <p:nvPr/>
            </p:nvSpPr>
            <p:spPr bwMode="auto">
              <a:xfrm>
                <a:off x="7700963" y="233924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5" name="Line 1025"/>
              <p:cNvSpPr>
                <a:spLocks noChangeShapeType="1"/>
              </p:cNvSpPr>
              <p:nvPr/>
            </p:nvSpPr>
            <p:spPr bwMode="auto">
              <a:xfrm flipV="1">
                <a:off x="7700963"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6" name="Line 1026"/>
              <p:cNvSpPr>
                <a:spLocks noChangeShapeType="1"/>
              </p:cNvSpPr>
              <p:nvPr/>
            </p:nvSpPr>
            <p:spPr bwMode="auto">
              <a:xfrm flipH="1">
                <a:off x="7700963" y="242497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7" name="Line 1027"/>
              <p:cNvSpPr>
                <a:spLocks noChangeShapeType="1"/>
              </p:cNvSpPr>
              <p:nvPr/>
            </p:nvSpPr>
            <p:spPr bwMode="auto">
              <a:xfrm>
                <a:off x="7700963" y="225352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8" name="Line 1028"/>
              <p:cNvSpPr>
                <a:spLocks noChangeShapeType="1"/>
              </p:cNvSpPr>
              <p:nvPr/>
            </p:nvSpPr>
            <p:spPr bwMode="auto">
              <a:xfrm>
                <a:off x="7700963"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69" name="Line 1029"/>
              <p:cNvSpPr>
                <a:spLocks noChangeShapeType="1"/>
              </p:cNvSpPr>
              <p:nvPr/>
            </p:nvSpPr>
            <p:spPr bwMode="auto">
              <a:xfrm flipV="1">
                <a:off x="7840663"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0" name="Line 1030"/>
              <p:cNvSpPr>
                <a:spLocks noChangeShapeType="1"/>
              </p:cNvSpPr>
              <p:nvPr/>
            </p:nvSpPr>
            <p:spPr bwMode="auto">
              <a:xfrm flipV="1">
                <a:off x="7700963"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1" name="Line 1031"/>
              <p:cNvSpPr>
                <a:spLocks noChangeShapeType="1"/>
              </p:cNvSpPr>
              <p:nvPr/>
            </p:nvSpPr>
            <p:spPr bwMode="auto">
              <a:xfrm flipV="1">
                <a:off x="7840663"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2" name="Line 1032"/>
              <p:cNvSpPr>
                <a:spLocks noChangeShapeType="1"/>
              </p:cNvSpPr>
              <p:nvPr/>
            </p:nvSpPr>
            <p:spPr bwMode="auto">
              <a:xfrm>
                <a:off x="7418388" y="1477235"/>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3" name="Line 1033"/>
              <p:cNvSpPr>
                <a:spLocks noChangeShapeType="1"/>
              </p:cNvSpPr>
              <p:nvPr/>
            </p:nvSpPr>
            <p:spPr bwMode="auto">
              <a:xfrm flipV="1">
                <a:off x="7559676" y="1477235"/>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4" name="Line 1034"/>
              <p:cNvSpPr>
                <a:spLocks noChangeShapeType="1"/>
              </p:cNvSpPr>
              <p:nvPr/>
            </p:nvSpPr>
            <p:spPr bwMode="auto">
              <a:xfrm flipH="1">
                <a:off x="7418388" y="14772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5" name="Line 1035"/>
              <p:cNvSpPr>
                <a:spLocks noChangeShapeType="1"/>
              </p:cNvSpPr>
              <p:nvPr/>
            </p:nvSpPr>
            <p:spPr bwMode="auto">
              <a:xfrm>
                <a:off x="7418388" y="15645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6" name="Line 1036"/>
              <p:cNvSpPr>
                <a:spLocks noChangeShapeType="1"/>
              </p:cNvSpPr>
              <p:nvPr/>
            </p:nvSpPr>
            <p:spPr bwMode="auto">
              <a:xfrm>
                <a:off x="7278688" y="1477235"/>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7" name="Line 1037"/>
              <p:cNvSpPr>
                <a:spLocks noChangeShapeType="1"/>
              </p:cNvSpPr>
              <p:nvPr/>
            </p:nvSpPr>
            <p:spPr bwMode="auto">
              <a:xfrm>
                <a:off x="7278688"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8" name="Line 1038"/>
              <p:cNvSpPr>
                <a:spLocks noChangeShapeType="1"/>
              </p:cNvSpPr>
              <p:nvPr/>
            </p:nvSpPr>
            <p:spPr bwMode="auto">
              <a:xfrm>
                <a:off x="7278688"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79" name="Line 1039"/>
              <p:cNvSpPr>
                <a:spLocks noChangeShapeType="1"/>
              </p:cNvSpPr>
              <p:nvPr/>
            </p:nvSpPr>
            <p:spPr bwMode="auto">
              <a:xfrm>
                <a:off x="7278688"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0" name="Line 1040"/>
              <p:cNvSpPr>
                <a:spLocks noChangeShapeType="1"/>
              </p:cNvSpPr>
              <p:nvPr/>
            </p:nvSpPr>
            <p:spPr bwMode="auto">
              <a:xfrm flipV="1">
                <a:off x="7559676"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1" name="Line 1041"/>
              <p:cNvSpPr>
                <a:spLocks noChangeShapeType="1"/>
              </p:cNvSpPr>
              <p:nvPr/>
            </p:nvSpPr>
            <p:spPr bwMode="auto">
              <a:xfrm flipV="1">
                <a:off x="7418388"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2" name="Line 1042"/>
              <p:cNvSpPr>
                <a:spLocks noChangeShapeType="1"/>
              </p:cNvSpPr>
              <p:nvPr/>
            </p:nvSpPr>
            <p:spPr bwMode="auto">
              <a:xfrm>
                <a:off x="7418388"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3" name="Line 1043"/>
              <p:cNvSpPr>
                <a:spLocks noChangeShapeType="1"/>
              </p:cNvSpPr>
              <p:nvPr/>
            </p:nvSpPr>
            <p:spPr bwMode="auto">
              <a:xfrm flipV="1">
                <a:off x="7559676"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4" name="Line 1044"/>
              <p:cNvSpPr>
                <a:spLocks noChangeShapeType="1"/>
              </p:cNvSpPr>
              <p:nvPr/>
            </p:nvSpPr>
            <p:spPr bwMode="auto">
              <a:xfrm>
                <a:off x="7418388" y="19090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5" name="Line 1045"/>
              <p:cNvSpPr>
                <a:spLocks noChangeShapeType="1"/>
              </p:cNvSpPr>
              <p:nvPr/>
            </p:nvSpPr>
            <p:spPr bwMode="auto">
              <a:xfrm flipH="1">
                <a:off x="7418388" y="16502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6" name="Line 1046"/>
              <p:cNvSpPr>
                <a:spLocks noChangeShapeType="1"/>
              </p:cNvSpPr>
              <p:nvPr/>
            </p:nvSpPr>
            <p:spPr bwMode="auto">
              <a:xfrm flipH="1">
                <a:off x="7418388" y="17359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7" name="Line 1047"/>
              <p:cNvSpPr>
                <a:spLocks noChangeShapeType="1"/>
              </p:cNvSpPr>
              <p:nvPr/>
            </p:nvSpPr>
            <p:spPr bwMode="auto">
              <a:xfrm flipV="1">
                <a:off x="7418388"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8" name="Line 1048"/>
              <p:cNvSpPr>
                <a:spLocks noChangeShapeType="1"/>
              </p:cNvSpPr>
              <p:nvPr/>
            </p:nvSpPr>
            <p:spPr bwMode="auto">
              <a:xfrm flipH="1">
                <a:off x="7418388" y="18217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89" name="Line 1049"/>
              <p:cNvSpPr>
                <a:spLocks noChangeShapeType="1"/>
              </p:cNvSpPr>
              <p:nvPr/>
            </p:nvSpPr>
            <p:spPr bwMode="auto">
              <a:xfrm>
                <a:off x="7559676"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0" name="Line 1050"/>
              <p:cNvSpPr>
                <a:spLocks noChangeShapeType="1"/>
              </p:cNvSpPr>
              <p:nvPr/>
            </p:nvSpPr>
            <p:spPr bwMode="auto">
              <a:xfrm flipH="1">
                <a:off x="7278688" y="165027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1" name="Line 1051"/>
              <p:cNvSpPr>
                <a:spLocks noChangeShapeType="1"/>
              </p:cNvSpPr>
              <p:nvPr/>
            </p:nvSpPr>
            <p:spPr bwMode="auto">
              <a:xfrm flipV="1">
                <a:off x="7278688"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2" name="Line 1052"/>
              <p:cNvSpPr>
                <a:spLocks noChangeShapeType="1"/>
              </p:cNvSpPr>
              <p:nvPr/>
            </p:nvSpPr>
            <p:spPr bwMode="auto">
              <a:xfrm>
                <a:off x="7278688" y="173599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3" name="Line 1053"/>
              <p:cNvSpPr>
                <a:spLocks noChangeShapeType="1"/>
              </p:cNvSpPr>
              <p:nvPr/>
            </p:nvSpPr>
            <p:spPr bwMode="auto">
              <a:xfrm flipH="1">
                <a:off x="7278688" y="156454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4" name="Line 1054"/>
              <p:cNvSpPr>
                <a:spLocks noChangeShapeType="1"/>
              </p:cNvSpPr>
              <p:nvPr/>
            </p:nvSpPr>
            <p:spPr bwMode="auto">
              <a:xfrm>
                <a:off x="7278688" y="190903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5" name="Line 1055"/>
              <p:cNvSpPr>
                <a:spLocks noChangeShapeType="1"/>
              </p:cNvSpPr>
              <p:nvPr/>
            </p:nvSpPr>
            <p:spPr bwMode="auto">
              <a:xfrm>
                <a:off x="7278688" y="182172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6" name="Line 1056"/>
              <p:cNvSpPr>
                <a:spLocks noChangeShapeType="1"/>
              </p:cNvSpPr>
              <p:nvPr/>
            </p:nvSpPr>
            <p:spPr bwMode="auto">
              <a:xfrm flipH="1">
                <a:off x="7278688" y="147723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7" name="Line 1057"/>
              <p:cNvSpPr>
                <a:spLocks noChangeShapeType="1"/>
              </p:cNvSpPr>
              <p:nvPr/>
            </p:nvSpPr>
            <p:spPr bwMode="auto">
              <a:xfrm flipV="1">
                <a:off x="7418388"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8" name="Line 1058"/>
              <p:cNvSpPr>
                <a:spLocks noChangeShapeType="1"/>
              </p:cNvSpPr>
              <p:nvPr/>
            </p:nvSpPr>
            <p:spPr bwMode="auto">
              <a:xfrm>
                <a:off x="7559676"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899" name="Freeform 1059"/>
              <p:cNvSpPr>
                <a:spLocks/>
              </p:cNvSpPr>
              <p:nvPr/>
            </p:nvSpPr>
            <p:spPr bwMode="auto">
              <a:xfrm>
                <a:off x="7137401" y="1477235"/>
                <a:ext cx="141288" cy="87313"/>
              </a:xfrm>
              <a:custGeom>
                <a:avLst/>
                <a:gdLst>
                  <a:gd name="T0" fmla="*/ 267 w 267"/>
                  <a:gd name="T1" fmla="*/ 0 h 164"/>
                  <a:gd name="T2" fmla="*/ 0 w 267"/>
                  <a:gd name="T3" fmla="*/ 0 h 164"/>
                  <a:gd name="T4" fmla="*/ 0 w 267"/>
                  <a:gd name="T5" fmla="*/ 164 h 164"/>
                </a:gdLst>
                <a:ahLst/>
                <a:cxnLst>
                  <a:cxn ang="0">
                    <a:pos x="T0" y="T1"/>
                  </a:cxn>
                  <a:cxn ang="0">
                    <a:pos x="T2" y="T3"/>
                  </a:cxn>
                  <a:cxn ang="0">
                    <a:pos x="T4" y="T5"/>
                  </a:cxn>
                </a:cxnLst>
                <a:rect l="0" t="0" r="r" b="b"/>
                <a:pathLst>
                  <a:path w="267" h="164">
                    <a:moveTo>
                      <a:pt x="267" y="0"/>
                    </a:moveTo>
                    <a:lnTo>
                      <a:pt x="0" y="0"/>
                    </a:lnTo>
                    <a:lnTo>
                      <a:pt x="0" y="164"/>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1900" name="Line 1060"/>
              <p:cNvSpPr>
                <a:spLocks noChangeShapeType="1"/>
              </p:cNvSpPr>
              <p:nvPr/>
            </p:nvSpPr>
            <p:spPr bwMode="auto">
              <a:xfrm>
                <a:off x="7137401" y="15645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1" name="Line 1061"/>
              <p:cNvSpPr>
                <a:spLocks noChangeShapeType="1"/>
              </p:cNvSpPr>
              <p:nvPr/>
            </p:nvSpPr>
            <p:spPr bwMode="auto">
              <a:xfrm>
                <a:off x="7137401" y="16502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2" name="Line 1062"/>
              <p:cNvSpPr>
                <a:spLocks noChangeShapeType="1"/>
              </p:cNvSpPr>
              <p:nvPr/>
            </p:nvSpPr>
            <p:spPr bwMode="auto">
              <a:xfrm>
                <a:off x="7137401" y="173599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3" name="Line 1063"/>
              <p:cNvSpPr>
                <a:spLocks noChangeShapeType="1"/>
              </p:cNvSpPr>
              <p:nvPr/>
            </p:nvSpPr>
            <p:spPr bwMode="auto">
              <a:xfrm>
                <a:off x="7137401" y="182172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4" name="Line 1064"/>
              <p:cNvSpPr>
                <a:spLocks noChangeShapeType="1"/>
              </p:cNvSpPr>
              <p:nvPr/>
            </p:nvSpPr>
            <p:spPr bwMode="auto">
              <a:xfrm>
                <a:off x="7137401"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5" name="Line 1065"/>
              <p:cNvSpPr>
                <a:spLocks noChangeShapeType="1"/>
              </p:cNvSpPr>
              <p:nvPr/>
            </p:nvSpPr>
            <p:spPr bwMode="auto">
              <a:xfrm>
                <a:off x="7137401"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6" name="Line 1066"/>
              <p:cNvSpPr>
                <a:spLocks noChangeShapeType="1"/>
              </p:cNvSpPr>
              <p:nvPr/>
            </p:nvSpPr>
            <p:spPr bwMode="auto">
              <a:xfrm>
                <a:off x="7137401"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7" name="Line 1067"/>
              <p:cNvSpPr>
                <a:spLocks noChangeShapeType="1"/>
              </p:cNvSpPr>
              <p:nvPr/>
            </p:nvSpPr>
            <p:spPr bwMode="auto">
              <a:xfrm>
                <a:off x="7137401"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8" name="Line 1068"/>
              <p:cNvSpPr>
                <a:spLocks noChangeShapeType="1"/>
              </p:cNvSpPr>
              <p:nvPr/>
            </p:nvSpPr>
            <p:spPr bwMode="auto">
              <a:xfrm>
                <a:off x="7137401"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09" name="Line 1069"/>
              <p:cNvSpPr>
                <a:spLocks noChangeShapeType="1"/>
              </p:cNvSpPr>
              <p:nvPr/>
            </p:nvSpPr>
            <p:spPr bwMode="auto">
              <a:xfrm>
                <a:off x="7137401"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0" name="Line 1070"/>
              <p:cNvSpPr>
                <a:spLocks noChangeShapeType="1"/>
              </p:cNvSpPr>
              <p:nvPr/>
            </p:nvSpPr>
            <p:spPr bwMode="auto">
              <a:xfrm flipH="1">
                <a:off x="7418388" y="21662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1" name="Line 1071"/>
              <p:cNvSpPr>
                <a:spLocks noChangeShapeType="1"/>
              </p:cNvSpPr>
              <p:nvPr/>
            </p:nvSpPr>
            <p:spPr bwMode="auto">
              <a:xfrm flipV="1">
                <a:off x="7418388"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2" name="Line 1072"/>
              <p:cNvSpPr>
                <a:spLocks noChangeShapeType="1"/>
              </p:cNvSpPr>
              <p:nvPr/>
            </p:nvSpPr>
            <p:spPr bwMode="auto">
              <a:xfrm>
                <a:off x="7418388" y="20804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3" name="Line 1073"/>
              <p:cNvSpPr>
                <a:spLocks noChangeShapeType="1"/>
              </p:cNvSpPr>
              <p:nvPr/>
            </p:nvSpPr>
            <p:spPr bwMode="auto">
              <a:xfrm>
                <a:off x="7559676"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4" name="Line 1074"/>
              <p:cNvSpPr>
                <a:spLocks noChangeShapeType="1"/>
              </p:cNvSpPr>
              <p:nvPr/>
            </p:nvSpPr>
            <p:spPr bwMode="auto">
              <a:xfrm flipV="1">
                <a:off x="7559676"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5" name="Line 1075"/>
              <p:cNvSpPr>
                <a:spLocks noChangeShapeType="1"/>
              </p:cNvSpPr>
              <p:nvPr/>
            </p:nvSpPr>
            <p:spPr bwMode="auto">
              <a:xfrm flipH="1">
                <a:off x="7418388" y="19947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6" name="Line 1076"/>
              <p:cNvSpPr>
                <a:spLocks noChangeShapeType="1"/>
              </p:cNvSpPr>
              <p:nvPr/>
            </p:nvSpPr>
            <p:spPr bwMode="auto">
              <a:xfrm>
                <a:off x="7418388"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7" name="Line 1077"/>
              <p:cNvSpPr>
                <a:spLocks noChangeShapeType="1"/>
              </p:cNvSpPr>
              <p:nvPr/>
            </p:nvSpPr>
            <p:spPr bwMode="auto">
              <a:xfrm>
                <a:off x="7278688" y="20804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8" name="Line 1078"/>
              <p:cNvSpPr>
                <a:spLocks noChangeShapeType="1"/>
              </p:cNvSpPr>
              <p:nvPr/>
            </p:nvSpPr>
            <p:spPr bwMode="auto">
              <a:xfrm flipV="1">
                <a:off x="7278688" y="19947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19" name="Line 1079"/>
              <p:cNvSpPr>
                <a:spLocks noChangeShapeType="1"/>
              </p:cNvSpPr>
              <p:nvPr/>
            </p:nvSpPr>
            <p:spPr bwMode="auto">
              <a:xfrm flipV="1">
                <a:off x="7278688"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0" name="Line 1080"/>
              <p:cNvSpPr>
                <a:spLocks noChangeShapeType="1"/>
              </p:cNvSpPr>
              <p:nvPr/>
            </p:nvSpPr>
            <p:spPr bwMode="auto">
              <a:xfrm flipV="1">
                <a:off x="7278688"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1" name="Line 1081"/>
              <p:cNvSpPr>
                <a:spLocks noChangeShapeType="1"/>
              </p:cNvSpPr>
              <p:nvPr/>
            </p:nvSpPr>
            <p:spPr bwMode="auto">
              <a:xfrm>
                <a:off x="7278688"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2" name="Line 1082"/>
              <p:cNvSpPr>
                <a:spLocks noChangeShapeType="1"/>
              </p:cNvSpPr>
              <p:nvPr/>
            </p:nvSpPr>
            <p:spPr bwMode="auto">
              <a:xfrm flipV="1">
                <a:off x="7559676"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3" name="Line 1083"/>
              <p:cNvSpPr>
                <a:spLocks noChangeShapeType="1"/>
              </p:cNvSpPr>
              <p:nvPr/>
            </p:nvSpPr>
            <p:spPr bwMode="auto">
              <a:xfrm>
                <a:off x="7418388" y="225352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4" name="Line 1084"/>
              <p:cNvSpPr>
                <a:spLocks noChangeShapeType="1"/>
              </p:cNvSpPr>
              <p:nvPr/>
            </p:nvSpPr>
            <p:spPr bwMode="auto">
              <a:xfrm>
                <a:off x="7418388"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5" name="Line 1085"/>
              <p:cNvSpPr>
                <a:spLocks noChangeShapeType="1"/>
              </p:cNvSpPr>
              <p:nvPr/>
            </p:nvSpPr>
            <p:spPr bwMode="auto">
              <a:xfrm flipV="1">
                <a:off x="7559676" y="242497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6" name="Line 1086"/>
              <p:cNvSpPr>
                <a:spLocks noChangeShapeType="1"/>
              </p:cNvSpPr>
              <p:nvPr/>
            </p:nvSpPr>
            <p:spPr bwMode="auto">
              <a:xfrm flipH="1">
                <a:off x="7418388" y="25106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7" name="Line 1087"/>
              <p:cNvSpPr>
                <a:spLocks noChangeShapeType="1"/>
              </p:cNvSpPr>
              <p:nvPr/>
            </p:nvSpPr>
            <p:spPr bwMode="auto">
              <a:xfrm>
                <a:off x="7559676"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8" name="Line 1088"/>
              <p:cNvSpPr>
                <a:spLocks noChangeShapeType="1"/>
              </p:cNvSpPr>
              <p:nvPr/>
            </p:nvSpPr>
            <p:spPr bwMode="auto">
              <a:xfrm>
                <a:off x="7418388" y="23392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29" name="Line 1089"/>
              <p:cNvSpPr>
                <a:spLocks noChangeShapeType="1"/>
              </p:cNvSpPr>
              <p:nvPr/>
            </p:nvSpPr>
            <p:spPr bwMode="auto">
              <a:xfrm flipV="1">
                <a:off x="7418388" y="233924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0" name="Line 1090"/>
              <p:cNvSpPr>
                <a:spLocks noChangeShapeType="1"/>
              </p:cNvSpPr>
              <p:nvPr/>
            </p:nvSpPr>
            <p:spPr bwMode="auto">
              <a:xfrm flipH="1">
                <a:off x="7418388" y="24249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1" name="Line 1091"/>
              <p:cNvSpPr>
                <a:spLocks noChangeShapeType="1"/>
              </p:cNvSpPr>
              <p:nvPr/>
            </p:nvSpPr>
            <p:spPr bwMode="auto">
              <a:xfrm>
                <a:off x="7418388" y="22535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2" name="Line 1092"/>
              <p:cNvSpPr>
                <a:spLocks noChangeShapeType="1"/>
              </p:cNvSpPr>
              <p:nvPr/>
            </p:nvSpPr>
            <p:spPr bwMode="auto">
              <a:xfrm flipV="1">
                <a:off x="7278688"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3" name="Line 1093"/>
              <p:cNvSpPr>
                <a:spLocks noChangeShapeType="1"/>
              </p:cNvSpPr>
              <p:nvPr/>
            </p:nvSpPr>
            <p:spPr bwMode="auto">
              <a:xfrm>
                <a:off x="7278688" y="216621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4" name="Line 1094"/>
              <p:cNvSpPr>
                <a:spLocks noChangeShapeType="1"/>
              </p:cNvSpPr>
              <p:nvPr/>
            </p:nvSpPr>
            <p:spPr bwMode="auto">
              <a:xfrm>
                <a:off x="7418388"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5" name="Line 1095"/>
              <p:cNvSpPr>
                <a:spLocks noChangeShapeType="1"/>
              </p:cNvSpPr>
              <p:nvPr/>
            </p:nvSpPr>
            <p:spPr bwMode="auto">
              <a:xfrm>
                <a:off x="7278688" y="225352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6" name="Line 1096"/>
              <p:cNvSpPr>
                <a:spLocks noChangeShapeType="1"/>
              </p:cNvSpPr>
              <p:nvPr/>
            </p:nvSpPr>
            <p:spPr bwMode="auto">
              <a:xfrm flipH="1">
                <a:off x="7278688" y="233924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7" name="Line 1097"/>
              <p:cNvSpPr>
                <a:spLocks noChangeShapeType="1"/>
              </p:cNvSpPr>
              <p:nvPr/>
            </p:nvSpPr>
            <p:spPr bwMode="auto">
              <a:xfrm>
                <a:off x="7278688" y="2424973"/>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8" name="Line 1098"/>
              <p:cNvSpPr>
                <a:spLocks noChangeShapeType="1"/>
              </p:cNvSpPr>
              <p:nvPr/>
            </p:nvSpPr>
            <p:spPr bwMode="auto">
              <a:xfrm flipH="1">
                <a:off x="7278688" y="2510698"/>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39" name="Line 1099"/>
              <p:cNvSpPr>
                <a:spLocks noChangeShapeType="1"/>
              </p:cNvSpPr>
              <p:nvPr/>
            </p:nvSpPr>
            <p:spPr bwMode="auto">
              <a:xfrm flipV="1">
                <a:off x="7559676" y="216621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0" name="Line 1100"/>
              <p:cNvSpPr>
                <a:spLocks noChangeShapeType="1"/>
              </p:cNvSpPr>
              <p:nvPr/>
            </p:nvSpPr>
            <p:spPr bwMode="auto">
              <a:xfrm flipH="1">
                <a:off x="7278688" y="199476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1" name="Line 1101"/>
              <p:cNvSpPr>
                <a:spLocks noChangeShapeType="1"/>
              </p:cNvSpPr>
              <p:nvPr/>
            </p:nvSpPr>
            <p:spPr bwMode="auto">
              <a:xfrm flipH="1">
                <a:off x="7278688" y="208048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2" name="Line 1102"/>
              <p:cNvSpPr>
                <a:spLocks noChangeShapeType="1"/>
              </p:cNvSpPr>
              <p:nvPr/>
            </p:nvSpPr>
            <p:spPr bwMode="auto">
              <a:xfrm flipH="1">
                <a:off x="7137401" y="15645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3" name="Line 1103"/>
              <p:cNvSpPr>
                <a:spLocks noChangeShapeType="1"/>
              </p:cNvSpPr>
              <p:nvPr/>
            </p:nvSpPr>
            <p:spPr bwMode="auto">
              <a:xfrm flipH="1">
                <a:off x="7137401" y="19947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4" name="Line 1104"/>
              <p:cNvSpPr>
                <a:spLocks noChangeShapeType="1"/>
              </p:cNvSpPr>
              <p:nvPr/>
            </p:nvSpPr>
            <p:spPr bwMode="auto">
              <a:xfrm flipH="1">
                <a:off x="7137401" y="21662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5" name="Line 1105"/>
              <p:cNvSpPr>
                <a:spLocks noChangeShapeType="1"/>
              </p:cNvSpPr>
              <p:nvPr/>
            </p:nvSpPr>
            <p:spPr bwMode="auto">
              <a:xfrm flipH="1">
                <a:off x="7137401" y="22535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6" name="Line 1106"/>
              <p:cNvSpPr>
                <a:spLocks noChangeShapeType="1"/>
              </p:cNvSpPr>
              <p:nvPr/>
            </p:nvSpPr>
            <p:spPr bwMode="auto">
              <a:xfrm flipH="1">
                <a:off x="7137401" y="24249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7" name="Line 1107"/>
              <p:cNvSpPr>
                <a:spLocks noChangeShapeType="1"/>
              </p:cNvSpPr>
              <p:nvPr/>
            </p:nvSpPr>
            <p:spPr bwMode="auto">
              <a:xfrm>
                <a:off x="7137401" y="25106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8" name="Line 1108"/>
              <p:cNvSpPr>
                <a:spLocks noChangeShapeType="1"/>
              </p:cNvSpPr>
              <p:nvPr/>
            </p:nvSpPr>
            <p:spPr bwMode="auto">
              <a:xfrm flipH="1">
                <a:off x="7137401" y="19090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49" name="Line 1109"/>
              <p:cNvSpPr>
                <a:spLocks noChangeShapeType="1"/>
              </p:cNvSpPr>
              <p:nvPr/>
            </p:nvSpPr>
            <p:spPr bwMode="auto">
              <a:xfrm>
                <a:off x="7137401" y="23392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0" name="Line 1110"/>
              <p:cNvSpPr>
                <a:spLocks noChangeShapeType="1"/>
              </p:cNvSpPr>
              <p:nvPr/>
            </p:nvSpPr>
            <p:spPr bwMode="auto">
              <a:xfrm>
                <a:off x="7137401" y="20804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1" name="Line 1111"/>
              <p:cNvSpPr>
                <a:spLocks noChangeShapeType="1"/>
              </p:cNvSpPr>
              <p:nvPr/>
            </p:nvSpPr>
            <p:spPr bwMode="auto">
              <a:xfrm flipV="1">
                <a:off x="7278688"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2" name="Line 1112"/>
              <p:cNvSpPr>
                <a:spLocks noChangeShapeType="1"/>
              </p:cNvSpPr>
              <p:nvPr/>
            </p:nvSpPr>
            <p:spPr bwMode="auto">
              <a:xfrm>
                <a:off x="7559676"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3" name="Line 1113"/>
              <p:cNvSpPr>
                <a:spLocks noChangeShapeType="1"/>
              </p:cNvSpPr>
              <p:nvPr/>
            </p:nvSpPr>
            <p:spPr bwMode="auto">
              <a:xfrm flipV="1">
                <a:off x="7418388"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4" name="Line 1114"/>
              <p:cNvSpPr>
                <a:spLocks noChangeShapeType="1"/>
              </p:cNvSpPr>
              <p:nvPr/>
            </p:nvSpPr>
            <p:spPr bwMode="auto">
              <a:xfrm>
                <a:off x="7137401" y="16502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5" name="Line 1115"/>
              <p:cNvSpPr>
                <a:spLocks noChangeShapeType="1"/>
              </p:cNvSpPr>
              <p:nvPr/>
            </p:nvSpPr>
            <p:spPr bwMode="auto">
              <a:xfrm>
                <a:off x="7137401" y="17359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6" name="Line 1116"/>
              <p:cNvSpPr>
                <a:spLocks noChangeShapeType="1"/>
              </p:cNvSpPr>
              <p:nvPr/>
            </p:nvSpPr>
            <p:spPr bwMode="auto">
              <a:xfrm flipH="1">
                <a:off x="7137401" y="18217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7" name="Line 1117"/>
              <p:cNvSpPr>
                <a:spLocks noChangeShapeType="1"/>
              </p:cNvSpPr>
              <p:nvPr/>
            </p:nvSpPr>
            <p:spPr bwMode="auto">
              <a:xfrm>
                <a:off x="7137401" y="19090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8" name="Line 1118"/>
              <p:cNvSpPr>
                <a:spLocks noChangeShapeType="1"/>
              </p:cNvSpPr>
              <p:nvPr/>
            </p:nvSpPr>
            <p:spPr bwMode="auto">
              <a:xfrm flipV="1">
                <a:off x="7559676"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59" name="Line 1119"/>
              <p:cNvSpPr>
                <a:spLocks noChangeShapeType="1"/>
              </p:cNvSpPr>
              <p:nvPr/>
            </p:nvSpPr>
            <p:spPr bwMode="auto">
              <a:xfrm>
                <a:off x="7418388"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0" name="Line 1120"/>
              <p:cNvSpPr>
                <a:spLocks noChangeShapeType="1"/>
              </p:cNvSpPr>
              <p:nvPr/>
            </p:nvSpPr>
            <p:spPr bwMode="auto">
              <a:xfrm>
                <a:off x="7418388"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1" name="Line 1121"/>
              <p:cNvSpPr>
                <a:spLocks noChangeShapeType="1"/>
              </p:cNvSpPr>
              <p:nvPr/>
            </p:nvSpPr>
            <p:spPr bwMode="auto">
              <a:xfrm>
                <a:off x="7559676"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2" name="Line 1122"/>
              <p:cNvSpPr>
                <a:spLocks noChangeShapeType="1"/>
              </p:cNvSpPr>
              <p:nvPr/>
            </p:nvSpPr>
            <p:spPr bwMode="auto">
              <a:xfrm>
                <a:off x="7418388" y="28551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3" name="Line 1123"/>
              <p:cNvSpPr>
                <a:spLocks noChangeShapeType="1"/>
              </p:cNvSpPr>
              <p:nvPr/>
            </p:nvSpPr>
            <p:spPr bwMode="auto">
              <a:xfrm>
                <a:off x="7418388" y="27694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4" name="Line 1124"/>
              <p:cNvSpPr>
                <a:spLocks noChangeShapeType="1"/>
              </p:cNvSpPr>
              <p:nvPr/>
            </p:nvSpPr>
            <p:spPr bwMode="auto">
              <a:xfrm flipH="1">
                <a:off x="7418388" y="26837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5" name="Line 1125"/>
              <p:cNvSpPr>
                <a:spLocks noChangeShapeType="1"/>
              </p:cNvSpPr>
              <p:nvPr/>
            </p:nvSpPr>
            <p:spPr bwMode="auto">
              <a:xfrm flipV="1">
                <a:off x="7559676"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6" name="Line 1126"/>
              <p:cNvSpPr>
                <a:spLocks noChangeShapeType="1"/>
              </p:cNvSpPr>
              <p:nvPr/>
            </p:nvSpPr>
            <p:spPr bwMode="auto">
              <a:xfrm>
                <a:off x="7418388" y="25980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7" name="Line 1127"/>
              <p:cNvSpPr>
                <a:spLocks noChangeShapeType="1"/>
              </p:cNvSpPr>
              <p:nvPr/>
            </p:nvSpPr>
            <p:spPr bwMode="auto">
              <a:xfrm>
                <a:off x="7418388"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8" name="Line 1128"/>
              <p:cNvSpPr>
                <a:spLocks noChangeShapeType="1"/>
              </p:cNvSpPr>
              <p:nvPr/>
            </p:nvSpPr>
            <p:spPr bwMode="auto">
              <a:xfrm>
                <a:off x="7278688"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69" name="Line 1129"/>
              <p:cNvSpPr>
                <a:spLocks noChangeShapeType="1"/>
              </p:cNvSpPr>
              <p:nvPr/>
            </p:nvSpPr>
            <p:spPr bwMode="auto">
              <a:xfrm flipV="1">
                <a:off x="7278688"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0" name="Line 1130"/>
              <p:cNvSpPr>
                <a:spLocks noChangeShapeType="1"/>
              </p:cNvSpPr>
              <p:nvPr/>
            </p:nvSpPr>
            <p:spPr bwMode="auto">
              <a:xfrm flipV="1">
                <a:off x="7278688"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1" name="Line 1131"/>
              <p:cNvSpPr>
                <a:spLocks noChangeShapeType="1"/>
              </p:cNvSpPr>
              <p:nvPr/>
            </p:nvSpPr>
            <p:spPr bwMode="auto">
              <a:xfrm>
                <a:off x="7418388" y="29409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2" name="Line 1132"/>
              <p:cNvSpPr>
                <a:spLocks noChangeShapeType="1"/>
              </p:cNvSpPr>
              <p:nvPr/>
            </p:nvSpPr>
            <p:spPr bwMode="auto">
              <a:xfrm>
                <a:off x="7278688" y="28551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3" name="Line 1133"/>
              <p:cNvSpPr>
                <a:spLocks noChangeShapeType="1"/>
              </p:cNvSpPr>
              <p:nvPr/>
            </p:nvSpPr>
            <p:spPr bwMode="auto">
              <a:xfrm>
                <a:off x="7559676" y="28551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4" name="Line 1134"/>
              <p:cNvSpPr>
                <a:spLocks noChangeShapeType="1"/>
              </p:cNvSpPr>
              <p:nvPr/>
            </p:nvSpPr>
            <p:spPr bwMode="auto">
              <a:xfrm flipV="1">
                <a:off x="7418388" y="28551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5" name="Line 1135"/>
              <p:cNvSpPr>
                <a:spLocks noChangeShapeType="1"/>
              </p:cNvSpPr>
              <p:nvPr/>
            </p:nvSpPr>
            <p:spPr bwMode="auto">
              <a:xfrm flipH="1">
                <a:off x="7278688" y="285518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6" name="Line 1136"/>
              <p:cNvSpPr>
                <a:spLocks noChangeShapeType="1"/>
              </p:cNvSpPr>
              <p:nvPr/>
            </p:nvSpPr>
            <p:spPr bwMode="auto">
              <a:xfrm>
                <a:off x="7278688" y="294091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7" name="Line 1137"/>
              <p:cNvSpPr>
                <a:spLocks noChangeShapeType="1"/>
              </p:cNvSpPr>
              <p:nvPr/>
            </p:nvSpPr>
            <p:spPr bwMode="auto">
              <a:xfrm>
                <a:off x="7278688" y="259801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8" name="Line 1138"/>
              <p:cNvSpPr>
                <a:spLocks noChangeShapeType="1"/>
              </p:cNvSpPr>
              <p:nvPr/>
            </p:nvSpPr>
            <p:spPr bwMode="auto">
              <a:xfrm flipH="1">
                <a:off x="7278688" y="268373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79" name="Line 1139"/>
              <p:cNvSpPr>
                <a:spLocks noChangeShapeType="1"/>
              </p:cNvSpPr>
              <p:nvPr/>
            </p:nvSpPr>
            <p:spPr bwMode="auto">
              <a:xfrm>
                <a:off x="7278688" y="276946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0" name="Line 1140"/>
              <p:cNvSpPr>
                <a:spLocks noChangeShapeType="1"/>
              </p:cNvSpPr>
              <p:nvPr/>
            </p:nvSpPr>
            <p:spPr bwMode="auto">
              <a:xfrm>
                <a:off x="7137401"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1" name="Line 1141"/>
              <p:cNvSpPr>
                <a:spLocks noChangeShapeType="1"/>
              </p:cNvSpPr>
              <p:nvPr/>
            </p:nvSpPr>
            <p:spPr bwMode="auto">
              <a:xfrm>
                <a:off x="7137401"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2" name="Line 1142"/>
              <p:cNvSpPr>
                <a:spLocks noChangeShapeType="1"/>
              </p:cNvSpPr>
              <p:nvPr/>
            </p:nvSpPr>
            <p:spPr bwMode="auto">
              <a:xfrm>
                <a:off x="7137401"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3" name="Freeform 1143"/>
              <p:cNvSpPr>
                <a:spLocks/>
              </p:cNvSpPr>
              <p:nvPr/>
            </p:nvSpPr>
            <p:spPr bwMode="auto">
              <a:xfrm>
                <a:off x="7137401" y="2855185"/>
                <a:ext cx="141288" cy="85725"/>
              </a:xfrm>
              <a:custGeom>
                <a:avLst/>
                <a:gdLst>
                  <a:gd name="T0" fmla="*/ 0 w 267"/>
                  <a:gd name="T1" fmla="*/ 0 h 162"/>
                  <a:gd name="T2" fmla="*/ 0 w 267"/>
                  <a:gd name="T3" fmla="*/ 162 h 162"/>
                  <a:gd name="T4" fmla="*/ 267 w 267"/>
                  <a:gd name="T5" fmla="*/ 162 h 162"/>
                </a:gdLst>
                <a:ahLst/>
                <a:cxnLst>
                  <a:cxn ang="0">
                    <a:pos x="T0" y="T1"/>
                  </a:cxn>
                  <a:cxn ang="0">
                    <a:pos x="T2" y="T3"/>
                  </a:cxn>
                  <a:cxn ang="0">
                    <a:pos x="T4" y="T5"/>
                  </a:cxn>
                </a:cxnLst>
                <a:rect l="0" t="0" r="r" b="b"/>
                <a:pathLst>
                  <a:path w="267" h="162">
                    <a:moveTo>
                      <a:pt x="0" y="0"/>
                    </a:moveTo>
                    <a:lnTo>
                      <a:pt x="0" y="162"/>
                    </a:lnTo>
                    <a:lnTo>
                      <a:pt x="267" y="162"/>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1984" name="Line 1144"/>
              <p:cNvSpPr>
                <a:spLocks noChangeShapeType="1"/>
              </p:cNvSpPr>
              <p:nvPr/>
            </p:nvSpPr>
            <p:spPr bwMode="auto">
              <a:xfrm flipH="1">
                <a:off x="7137401" y="25980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5" name="Line 1145"/>
              <p:cNvSpPr>
                <a:spLocks noChangeShapeType="1"/>
              </p:cNvSpPr>
              <p:nvPr/>
            </p:nvSpPr>
            <p:spPr bwMode="auto">
              <a:xfrm>
                <a:off x="7137401" y="28551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6" name="Line 1146"/>
              <p:cNvSpPr>
                <a:spLocks noChangeShapeType="1"/>
              </p:cNvSpPr>
              <p:nvPr/>
            </p:nvSpPr>
            <p:spPr bwMode="auto">
              <a:xfrm>
                <a:off x="7137401" y="26837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7" name="Line 1147"/>
              <p:cNvSpPr>
                <a:spLocks noChangeShapeType="1"/>
              </p:cNvSpPr>
              <p:nvPr/>
            </p:nvSpPr>
            <p:spPr bwMode="auto">
              <a:xfrm flipH="1">
                <a:off x="7137401" y="27694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8" name="Line 1148"/>
              <p:cNvSpPr>
                <a:spLocks noChangeShapeType="1"/>
              </p:cNvSpPr>
              <p:nvPr/>
            </p:nvSpPr>
            <p:spPr bwMode="auto">
              <a:xfrm flipV="1">
                <a:off x="7840663"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89" name="Line 1149"/>
              <p:cNvSpPr>
                <a:spLocks noChangeShapeType="1"/>
              </p:cNvSpPr>
              <p:nvPr/>
            </p:nvSpPr>
            <p:spPr bwMode="auto">
              <a:xfrm>
                <a:off x="7700963" y="259801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0" name="Line 1150"/>
              <p:cNvSpPr>
                <a:spLocks noChangeShapeType="1"/>
              </p:cNvSpPr>
              <p:nvPr/>
            </p:nvSpPr>
            <p:spPr bwMode="auto">
              <a:xfrm>
                <a:off x="7700963"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1" name="Line 1151"/>
              <p:cNvSpPr>
                <a:spLocks noChangeShapeType="1"/>
              </p:cNvSpPr>
              <p:nvPr/>
            </p:nvSpPr>
            <p:spPr bwMode="auto">
              <a:xfrm flipV="1">
                <a:off x="7840663" y="276946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2" name="Line 1152"/>
              <p:cNvSpPr>
                <a:spLocks noChangeShapeType="1"/>
              </p:cNvSpPr>
              <p:nvPr/>
            </p:nvSpPr>
            <p:spPr bwMode="auto">
              <a:xfrm flipH="1">
                <a:off x="7700963" y="276946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3" name="Line 1153"/>
              <p:cNvSpPr>
                <a:spLocks noChangeShapeType="1"/>
              </p:cNvSpPr>
              <p:nvPr/>
            </p:nvSpPr>
            <p:spPr bwMode="auto">
              <a:xfrm>
                <a:off x="7700963"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4" name="Line 1154"/>
              <p:cNvSpPr>
                <a:spLocks noChangeShapeType="1"/>
              </p:cNvSpPr>
              <p:nvPr/>
            </p:nvSpPr>
            <p:spPr bwMode="auto">
              <a:xfrm flipH="1">
                <a:off x="7700963" y="2598010"/>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5" name="Line 1155"/>
              <p:cNvSpPr>
                <a:spLocks noChangeShapeType="1"/>
              </p:cNvSpPr>
              <p:nvPr/>
            </p:nvSpPr>
            <p:spPr bwMode="auto">
              <a:xfrm flipV="1">
                <a:off x="7840663" y="268373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6" name="Line 1156"/>
              <p:cNvSpPr>
                <a:spLocks noChangeShapeType="1"/>
              </p:cNvSpPr>
              <p:nvPr/>
            </p:nvSpPr>
            <p:spPr bwMode="auto">
              <a:xfrm>
                <a:off x="7700963" y="268373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7" name="Line 1157"/>
              <p:cNvSpPr>
                <a:spLocks noChangeShapeType="1"/>
              </p:cNvSpPr>
              <p:nvPr/>
            </p:nvSpPr>
            <p:spPr bwMode="auto">
              <a:xfrm>
                <a:off x="7700963" y="2855185"/>
                <a:ext cx="13970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1998" name="Freeform 1158"/>
              <p:cNvSpPr>
                <a:spLocks/>
              </p:cNvSpPr>
              <p:nvPr/>
            </p:nvSpPr>
            <p:spPr bwMode="auto">
              <a:xfrm>
                <a:off x="7700963" y="2855185"/>
                <a:ext cx="139700" cy="85725"/>
              </a:xfrm>
              <a:custGeom>
                <a:avLst/>
                <a:gdLst>
                  <a:gd name="T0" fmla="*/ 0 w 265"/>
                  <a:gd name="T1" fmla="*/ 162 h 162"/>
                  <a:gd name="T2" fmla="*/ 265 w 265"/>
                  <a:gd name="T3" fmla="*/ 162 h 162"/>
                  <a:gd name="T4" fmla="*/ 265 w 265"/>
                  <a:gd name="T5" fmla="*/ 0 h 162"/>
                </a:gdLst>
                <a:ahLst/>
                <a:cxnLst>
                  <a:cxn ang="0">
                    <a:pos x="T0" y="T1"/>
                  </a:cxn>
                  <a:cxn ang="0">
                    <a:pos x="T2" y="T3"/>
                  </a:cxn>
                  <a:cxn ang="0">
                    <a:pos x="T4" y="T5"/>
                  </a:cxn>
                </a:cxnLst>
                <a:rect l="0" t="0" r="r" b="b"/>
                <a:pathLst>
                  <a:path w="265" h="162">
                    <a:moveTo>
                      <a:pt x="0" y="162"/>
                    </a:moveTo>
                    <a:lnTo>
                      <a:pt x="265" y="162"/>
                    </a:lnTo>
                    <a:lnTo>
                      <a:pt x="265"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1999" name="Line 1159"/>
              <p:cNvSpPr>
                <a:spLocks noChangeShapeType="1"/>
              </p:cNvSpPr>
              <p:nvPr/>
            </p:nvSpPr>
            <p:spPr bwMode="auto">
              <a:xfrm flipV="1">
                <a:off x="7700963" y="285518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0" name="Line 1160"/>
              <p:cNvSpPr>
                <a:spLocks noChangeShapeType="1"/>
              </p:cNvSpPr>
              <p:nvPr/>
            </p:nvSpPr>
            <p:spPr bwMode="auto">
              <a:xfrm flipV="1">
                <a:off x="7559676"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1" name="Line 1161"/>
              <p:cNvSpPr>
                <a:spLocks noChangeShapeType="1"/>
              </p:cNvSpPr>
              <p:nvPr/>
            </p:nvSpPr>
            <p:spPr bwMode="auto">
              <a:xfrm flipV="1">
                <a:off x="7418388"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2" name="Line 1162"/>
              <p:cNvSpPr>
                <a:spLocks noChangeShapeType="1"/>
              </p:cNvSpPr>
              <p:nvPr/>
            </p:nvSpPr>
            <p:spPr bwMode="auto">
              <a:xfrm>
                <a:off x="7700963" y="1477235"/>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3" name="Line 1163"/>
              <p:cNvSpPr>
                <a:spLocks noChangeShapeType="1"/>
              </p:cNvSpPr>
              <p:nvPr/>
            </p:nvSpPr>
            <p:spPr bwMode="auto">
              <a:xfrm>
                <a:off x="7559676" y="28551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4" name="Line 1164"/>
              <p:cNvSpPr>
                <a:spLocks noChangeShapeType="1"/>
              </p:cNvSpPr>
              <p:nvPr/>
            </p:nvSpPr>
            <p:spPr bwMode="auto">
              <a:xfrm flipH="1">
                <a:off x="7559676" y="27694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5" name="Line 1165"/>
              <p:cNvSpPr>
                <a:spLocks noChangeShapeType="1"/>
              </p:cNvSpPr>
              <p:nvPr/>
            </p:nvSpPr>
            <p:spPr bwMode="auto">
              <a:xfrm>
                <a:off x="7559676" y="25980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6" name="Line 1166"/>
              <p:cNvSpPr>
                <a:spLocks noChangeShapeType="1"/>
              </p:cNvSpPr>
              <p:nvPr/>
            </p:nvSpPr>
            <p:spPr bwMode="auto">
              <a:xfrm flipH="1">
                <a:off x="7559676" y="26837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7" name="Line 1167"/>
              <p:cNvSpPr>
                <a:spLocks noChangeShapeType="1"/>
              </p:cNvSpPr>
              <p:nvPr/>
            </p:nvSpPr>
            <p:spPr bwMode="auto">
              <a:xfrm>
                <a:off x="7278688"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8" name="Line 1168"/>
              <p:cNvSpPr>
                <a:spLocks noChangeShapeType="1"/>
              </p:cNvSpPr>
              <p:nvPr/>
            </p:nvSpPr>
            <p:spPr bwMode="auto">
              <a:xfrm>
                <a:off x="7559676" y="21662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09" name="Line 1169"/>
              <p:cNvSpPr>
                <a:spLocks noChangeShapeType="1"/>
              </p:cNvSpPr>
              <p:nvPr/>
            </p:nvSpPr>
            <p:spPr bwMode="auto">
              <a:xfrm flipV="1">
                <a:off x="7700963"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0" name="Line 1170"/>
              <p:cNvSpPr>
                <a:spLocks noChangeShapeType="1"/>
              </p:cNvSpPr>
              <p:nvPr/>
            </p:nvSpPr>
            <p:spPr bwMode="auto">
              <a:xfrm>
                <a:off x="7559676" y="24249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1" name="Line 1171"/>
              <p:cNvSpPr>
                <a:spLocks noChangeShapeType="1"/>
              </p:cNvSpPr>
              <p:nvPr/>
            </p:nvSpPr>
            <p:spPr bwMode="auto">
              <a:xfrm flipH="1">
                <a:off x="7559676" y="25106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2" name="Line 1172"/>
              <p:cNvSpPr>
                <a:spLocks noChangeShapeType="1"/>
              </p:cNvSpPr>
              <p:nvPr/>
            </p:nvSpPr>
            <p:spPr bwMode="auto">
              <a:xfrm>
                <a:off x="7559676" y="22535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3" name="Line 1173"/>
              <p:cNvSpPr>
                <a:spLocks noChangeShapeType="1"/>
              </p:cNvSpPr>
              <p:nvPr/>
            </p:nvSpPr>
            <p:spPr bwMode="auto">
              <a:xfrm flipH="1">
                <a:off x="7559676" y="23392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4" name="Line 1174"/>
              <p:cNvSpPr>
                <a:spLocks noChangeShapeType="1"/>
              </p:cNvSpPr>
              <p:nvPr/>
            </p:nvSpPr>
            <p:spPr bwMode="auto">
              <a:xfrm flipH="1">
                <a:off x="7559676" y="208048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5" name="Line 1175"/>
              <p:cNvSpPr>
                <a:spLocks noChangeShapeType="1"/>
              </p:cNvSpPr>
              <p:nvPr/>
            </p:nvSpPr>
            <p:spPr bwMode="auto">
              <a:xfrm>
                <a:off x="7559676" y="199476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6" name="Line 1176"/>
              <p:cNvSpPr>
                <a:spLocks noChangeShapeType="1"/>
              </p:cNvSpPr>
              <p:nvPr/>
            </p:nvSpPr>
            <p:spPr bwMode="auto">
              <a:xfrm flipH="1">
                <a:off x="7559676" y="19090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7" name="Line 1177"/>
              <p:cNvSpPr>
                <a:spLocks noChangeShapeType="1"/>
              </p:cNvSpPr>
              <p:nvPr/>
            </p:nvSpPr>
            <p:spPr bwMode="auto">
              <a:xfrm>
                <a:off x="7559676" y="182172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8" name="Line 1178"/>
              <p:cNvSpPr>
                <a:spLocks noChangeShapeType="1"/>
              </p:cNvSpPr>
              <p:nvPr/>
            </p:nvSpPr>
            <p:spPr bwMode="auto">
              <a:xfrm flipH="1">
                <a:off x="7559676" y="173599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19" name="Line 1179"/>
              <p:cNvSpPr>
                <a:spLocks noChangeShapeType="1"/>
              </p:cNvSpPr>
              <p:nvPr/>
            </p:nvSpPr>
            <p:spPr bwMode="auto">
              <a:xfrm>
                <a:off x="7559676" y="1650273"/>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20" name="Line 1180"/>
              <p:cNvSpPr>
                <a:spLocks noChangeShapeType="1"/>
              </p:cNvSpPr>
              <p:nvPr/>
            </p:nvSpPr>
            <p:spPr bwMode="auto">
              <a:xfrm>
                <a:off x="7137401"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21" name="Line 1181"/>
              <p:cNvSpPr>
                <a:spLocks noChangeShapeType="1"/>
              </p:cNvSpPr>
              <p:nvPr/>
            </p:nvSpPr>
            <p:spPr bwMode="auto">
              <a:xfrm>
                <a:off x="7559676" y="2940910"/>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22" name="Line 1182"/>
              <p:cNvSpPr>
                <a:spLocks noChangeShapeType="1"/>
              </p:cNvSpPr>
              <p:nvPr/>
            </p:nvSpPr>
            <p:spPr bwMode="auto">
              <a:xfrm flipV="1">
                <a:off x="7840663" y="251069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23" name="Line 1183"/>
              <p:cNvSpPr>
                <a:spLocks noChangeShapeType="1"/>
              </p:cNvSpPr>
              <p:nvPr/>
            </p:nvSpPr>
            <p:spPr bwMode="auto">
              <a:xfrm flipH="1">
                <a:off x="7559676" y="1564548"/>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24" name="Line 1184"/>
              <p:cNvSpPr>
                <a:spLocks noChangeShapeType="1"/>
              </p:cNvSpPr>
              <p:nvPr/>
            </p:nvSpPr>
            <p:spPr bwMode="auto">
              <a:xfrm>
                <a:off x="7559676" y="1477235"/>
                <a:ext cx="1412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grpSp>
          <p:nvGrpSpPr>
            <p:cNvPr id="2025" name="Group 2024"/>
            <p:cNvGrpSpPr/>
            <p:nvPr/>
          </p:nvGrpSpPr>
          <p:grpSpPr>
            <a:xfrm>
              <a:off x="1173386" y="2865099"/>
              <a:ext cx="1003300" cy="1795463"/>
              <a:chOff x="1935163" y="4215763"/>
              <a:chExt cx="1003300" cy="1795463"/>
            </a:xfrm>
          </p:grpSpPr>
          <p:sp>
            <p:nvSpPr>
              <p:cNvPr id="2026" name="Freeform 1252"/>
              <p:cNvSpPr>
                <a:spLocks noEditPoints="1"/>
              </p:cNvSpPr>
              <p:nvPr/>
            </p:nvSpPr>
            <p:spPr bwMode="auto">
              <a:xfrm>
                <a:off x="1935163" y="4215763"/>
                <a:ext cx="1003300" cy="1795463"/>
              </a:xfrm>
              <a:custGeom>
                <a:avLst/>
                <a:gdLst>
                  <a:gd name="T0" fmla="*/ 0 w 1895"/>
                  <a:gd name="T1" fmla="*/ 0 h 3392"/>
                  <a:gd name="T2" fmla="*/ 0 w 1895"/>
                  <a:gd name="T3" fmla="*/ 3392 h 3392"/>
                  <a:gd name="T4" fmla="*/ 1895 w 1895"/>
                  <a:gd name="T5" fmla="*/ 3392 h 3392"/>
                  <a:gd name="T6" fmla="*/ 1895 w 1895"/>
                  <a:gd name="T7" fmla="*/ 0 h 3392"/>
                  <a:gd name="T8" fmla="*/ 0 w 1895"/>
                  <a:gd name="T9" fmla="*/ 0 h 3392"/>
                  <a:gd name="T10" fmla="*/ 310 w 1895"/>
                  <a:gd name="T11" fmla="*/ 3068 h 3392"/>
                  <a:gd name="T12" fmla="*/ 310 w 1895"/>
                  <a:gd name="T13" fmla="*/ 303 h 3392"/>
                  <a:gd name="T14" fmla="*/ 870 w 1895"/>
                  <a:gd name="T15" fmla="*/ 303 h 3392"/>
                  <a:gd name="T16" fmla="*/ 870 w 1895"/>
                  <a:gd name="T17" fmla="*/ 3068 h 3392"/>
                  <a:gd name="T18" fmla="*/ 310 w 1895"/>
                  <a:gd name="T19" fmla="*/ 3068 h 3392"/>
                  <a:gd name="T20" fmla="*/ 1045 w 1895"/>
                  <a:gd name="T21" fmla="*/ 303 h 3392"/>
                  <a:gd name="T22" fmla="*/ 1606 w 1895"/>
                  <a:gd name="T23" fmla="*/ 303 h 3392"/>
                  <a:gd name="T24" fmla="*/ 1606 w 1895"/>
                  <a:gd name="T25" fmla="*/ 3068 h 3392"/>
                  <a:gd name="T26" fmla="*/ 1045 w 1895"/>
                  <a:gd name="T27" fmla="*/ 3068 h 3392"/>
                  <a:gd name="T28" fmla="*/ 1045 w 1895"/>
                  <a:gd name="T29" fmla="*/ 303 h 3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95" h="3392">
                    <a:moveTo>
                      <a:pt x="0" y="0"/>
                    </a:moveTo>
                    <a:lnTo>
                      <a:pt x="0" y="3392"/>
                    </a:lnTo>
                    <a:lnTo>
                      <a:pt x="1895" y="3392"/>
                    </a:lnTo>
                    <a:lnTo>
                      <a:pt x="1895" y="0"/>
                    </a:lnTo>
                    <a:lnTo>
                      <a:pt x="0" y="0"/>
                    </a:lnTo>
                    <a:close/>
                    <a:moveTo>
                      <a:pt x="310" y="3068"/>
                    </a:moveTo>
                    <a:lnTo>
                      <a:pt x="310" y="303"/>
                    </a:lnTo>
                    <a:lnTo>
                      <a:pt x="870" y="303"/>
                    </a:lnTo>
                    <a:lnTo>
                      <a:pt x="870" y="3068"/>
                    </a:lnTo>
                    <a:lnTo>
                      <a:pt x="310" y="3068"/>
                    </a:lnTo>
                    <a:close/>
                    <a:moveTo>
                      <a:pt x="1045" y="303"/>
                    </a:moveTo>
                    <a:lnTo>
                      <a:pt x="1606" y="303"/>
                    </a:lnTo>
                    <a:lnTo>
                      <a:pt x="1606" y="3068"/>
                    </a:lnTo>
                    <a:lnTo>
                      <a:pt x="1045" y="3068"/>
                    </a:lnTo>
                    <a:lnTo>
                      <a:pt x="1045" y="303"/>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027" name="Rectangle 1253"/>
              <p:cNvSpPr>
                <a:spLocks noChangeArrowheads="1"/>
              </p:cNvSpPr>
              <p:nvPr/>
            </p:nvSpPr>
            <p:spPr bwMode="auto">
              <a:xfrm>
                <a:off x="1935163" y="4215763"/>
                <a:ext cx="1003300" cy="1795463"/>
              </a:xfrm>
              <a:prstGeom prst="rect">
                <a:avLst/>
              </a:prstGeom>
              <a:solidFill>
                <a:srgbClr val="776BB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endParaRPr lang="en-US">
                  <a:latin typeface="Arial" pitchFamily="34" charset="0"/>
                  <a:cs typeface="Arial" pitchFamily="34" charset="0"/>
                </a:endParaRPr>
              </a:p>
            </p:txBody>
          </p:sp>
          <p:sp>
            <p:nvSpPr>
              <p:cNvPr id="2028" name="Rectangle 1254"/>
              <p:cNvSpPr>
                <a:spLocks noChangeArrowheads="1"/>
              </p:cNvSpPr>
              <p:nvPr/>
            </p:nvSpPr>
            <p:spPr bwMode="auto">
              <a:xfrm>
                <a:off x="2098676" y="4376100"/>
                <a:ext cx="296863"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29" name="Rectangle 1255"/>
              <p:cNvSpPr>
                <a:spLocks noChangeArrowheads="1"/>
              </p:cNvSpPr>
              <p:nvPr/>
            </p:nvSpPr>
            <p:spPr bwMode="auto">
              <a:xfrm>
                <a:off x="2098676" y="4463413"/>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0" name="Rectangle 1256"/>
              <p:cNvSpPr>
                <a:spLocks noChangeArrowheads="1"/>
              </p:cNvSpPr>
              <p:nvPr/>
            </p:nvSpPr>
            <p:spPr bwMode="auto">
              <a:xfrm>
                <a:off x="2098676" y="4549138"/>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1" name="Rectangle 1257"/>
              <p:cNvSpPr>
                <a:spLocks noChangeArrowheads="1"/>
              </p:cNvSpPr>
              <p:nvPr/>
            </p:nvSpPr>
            <p:spPr bwMode="auto">
              <a:xfrm>
                <a:off x="2098676" y="4634863"/>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2" name="Rectangle 1258"/>
              <p:cNvSpPr>
                <a:spLocks noChangeArrowheads="1"/>
              </p:cNvSpPr>
              <p:nvPr/>
            </p:nvSpPr>
            <p:spPr bwMode="auto">
              <a:xfrm>
                <a:off x="2098676" y="4720588"/>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3" name="Rectangle 1259"/>
              <p:cNvSpPr>
                <a:spLocks noChangeArrowheads="1"/>
              </p:cNvSpPr>
              <p:nvPr/>
            </p:nvSpPr>
            <p:spPr bwMode="auto">
              <a:xfrm>
                <a:off x="2098676" y="4893625"/>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4" name="Rectangle 1260"/>
              <p:cNvSpPr>
                <a:spLocks noChangeArrowheads="1"/>
              </p:cNvSpPr>
              <p:nvPr/>
            </p:nvSpPr>
            <p:spPr bwMode="auto">
              <a:xfrm>
                <a:off x="2098676" y="4979350"/>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5" name="Rectangle 1261"/>
              <p:cNvSpPr>
                <a:spLocks noChangeArrowheads="1"/>
              </p:cNvSpPr>
              <p:nvPr/>
            </p:nvSpPr>
            <p:spPr bwMode="auto">
              <a:xfrm>
                <a:off x="2098676" y="5065075"/>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6" name="Rectangle 1262"/>
              <p:cNvSpPr>
                <a:spLocks noChangeArrowheads="1"/>
              </p:cNvSpPr>
              <p:nvPr/>
            </p:nvSpPr>
            <p:spPr bwMode="auto">
              <a:xfrm>
                <a:off x="2098676" y="5150800"/>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7" name="Rectangle 1263"/>
              <p:cNvSpPr>
                <a:spLocks noChangeArrowheads="1"/>
              </p:cNvSpPr>
              <p:nvPr/>
            </p:nvSpPr>
            <p:spPr bwMode="auto">
              <a:xfrm>
                <a:off x="2098676" y="5238113"/>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8" name="Rectangle 1264"/>
              <p:cNvSpPr>
                <a:spLocks noChangeArrowheads="1"/>
              </p:cNvSpPr>
              <p:nvPr/>
            </p:nvSpPr>
            <p:spPr bwMode="auto">
              <a:xfrm>
                <a:off x="2098676" y="5323838"/>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39" name="Rectangle 1265"/>
              <p:cNvSpPr>
                <a:spLocks noChangeArrowheads="1"/>
              </p:cNvSpPr>
              <p:nvPr/>
            </p:nvSpPr>
            <p:spPr bwMode="auto">
              <a:xfrm>
                <a:off x="2098676" y="5496875"/>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0" name="Rectangle 1266"/>
              <p:cNvSpPr>
                <a:spLocks noChangeArrowheads="1"/>
              </p:cNvSpPr>
              <p:nvPr/>
            </p:nvSpPr>
            <p:spPr bwMode="auto">
              <a:xfrm>
                <a:off x="2098676" y="5582600"/>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1" name="Rectangle 1267"/>
              <p:cNvSpPr>
                <a:spLocks noChangeArrowheads="1"/>
              </p:cNvSpPr>
              <p:nvPr/>
            </p:nvSpPr>
            <p:spPr bwMode="auto">
              <a:xfrm>
                <a:off x="2098676" y="5668325"/>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2" name="Rectangle 1268"/>
              <p:cNvSpPr>
                <a:spLocks noChangeArrowheads="1"/>
              </p:cNvSpPr>
              <p:nvPr/>
            </p:nvSpPr>
            <p:spPr bwMode="auto">
              <a:xfrm>
                <a:off x="2098676" y="5754050"/>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3" name="Rectangle 1269"/>
              <p:cNvSpPr>
                <a:spLocks noChangeArrowheads="1"/>
              </p:cNvSpPr>
              <p:nvPr/>
            </p:nvSpPr>
            <p:spPr bwMode="auto">
              <a:xfrm>
                <a:off x="2098676" y="5409563"/>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4" name="Rectangle 1270"/>
              <p:cNvSpPr>
                <a:spLocks noChangeArrowheads="1"/>
              </p:cNvSpPr>
              <p:nvPr/>
            </p:nvSpPr>
            <p:spPr bwMode="auto">
              <a:xfrm>
                <a:off x="2098676" y="4807900"/>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5" name="Rectangle 1271"/>
              <p:cNvSpPr>
                <a:spLocks noChangeArrowheads="1"/>
              </p:cNvSpPr>
              <p:nvPr/>
            </p:nvSpPr>
            <p:spPr bwMode="auto">
              <a:xfrm>
                <a:off x="2487613" y="4376100"/>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6" name="Rectangle 1272"/>
              <p:cNvSpPr>
                <a:spLocks noChangeArrowheads="1"/>
              </p:cNvSpPr>
              <p:nvPr/>
            </p:nvSpPr>
            <p:spPr bwMode="auto">
              <a:xfrm>
                <a:off x="2487613" y="4549138"/>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7" name="Rectangle 1273"/>
              <p:cNvSpPr>
                <a:spLocks noChangeArrowheads="1"/>
              </p:cNvSpPr>
              <p:nvPr/>
            </p:nvSpPr>
            <p:spPr bwMode="auto">
              <a:xfrm>
                <a:off x="2487613" y="4720588"/>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8" name="Rectangle 1274"/>
              <p:cNvSpPr>
                <a:spLocks noChangeArrowheads="1"/>
              </p:cNvSpPr>
              <p:nvPr/>
            </p:nvSpPr>
            <p:spPr bwMode="auto">
              <a:xfrm>
                <a:off x="2487613" y="4634863"/>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49" name="Rectangle 1275"/>
              <p:cNvSpPr>
                <a:spLocks noChangeArrowheads="1"/>
              </p:cNvSpPr>
              <p:nvPr/>
            </p:nvSpPr>
            <p:spPr bwMode="auto">
              <a:xfrm>
                <a:off x="2487613" y="4463413"/>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0" name="Rectangle 1276"/>
              <p:cNvSpPr>
                <a:spLocks noChangeArrowheads="1"/>
              </p:cNvSpPr>
              <p:nvPr/>
            </p:nvSpPr>
            <p:spPr bwMode="auto">
              <a:xfrm>
                <a:off x="2487613" y="4807900"/>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1" name="Rectangle 1277"/>
              <p:cNvSpPr>
                <a:spLocks noChangeArrowheads="1"/>
              </p:cNvSpPr>
              <p:nvPr/>
            </p:nvSpPr>
            <p:spPr bwMode="auto">
              <a:xfrm>
                <a:off x="2487613" y="5323838"/>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2" name="Rectangle 1278"/>
              <p:cNvSpPr>
                <a:spLocks noChangeArrowheads="1"/>
              </p:cNvSpPr>
              <p:nvPr/>
            </p:nvSpPr>
            <p:spPr bwMode="auto">
              <a:xfrm>
                <a:off x="2487613" y="5238113"/>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3" name="Rectangle 1279"/>
              <p:cNvSpPr>
                <a:spLocks noChangeArrowheads="1"/>
              </p:cNvSpPr>
              <p:nvPr/>
            </p:nvSpPr>
            <p:spPr bwMode="auto">
              <a:xfrm>
                <a:off x="2487613" y="5150800"/>
                <a:ext cx="296863"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4" name="Rectangle 1280"/>
              <p:cNvSpPr>
                <a:spLocks noChangeArrowheads="1"/>
              </p:cNvSpPr>
              <p:nvPr/>
            </p:nvSpPr>
            <p:spPr bwMode="auto">
              <a:xfrm>
                <a:off x="2487613" y="5065075"/>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5" name="Rectangle 1281"/>
              <p:cNvSpPr>
                <a:spLocks noChangeArrowheads="1"/>
              </p:cNvSpPr>
              <p:nvPr/>
            </p:nvSpPr>
            <p:spPr bwMode="auto">
              <a:xfrm>
                <a:off x="2487613" y="4979350"/>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6" name="Rectangle 1282"/>
              <p:cNvSpPr>
                <a:spLocks noChangeArrowheads="1"/>
              </p:cNvSpPr>
              <p:nvPr/>
            </p:nvSpPr>
            <p:spPr bwMode="auto">
              <a:xfrm>
                <a:off x="2487613" y="4893625"/>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7" name="Rectangle 1283"/>
              <p:cNvSpPr>
                <a:spLocks noChangeArrowheads="1"/>
              </p:cNvSpPr>
              <p:nvPr/>
            </p:nvSpPr>
            <p:spPr bwMode="auto">
              <a:xfrm>
                <a:off x="2487613" y="5496875"/>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8" name="Rectangle 1284"/>
              <p:cNvSpPr>
                <a:spLocks noChangeArrowheads="1"/>
              </p:cNvSpPr>
              <p:nvPr/>
            </p:nvSpPr>
            <p:spPr bwMode="auto">
              <a:xfrm>
                <a:off x="2487613" y="5582600"/>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59" name="Rectangle 1285"/>
              <p:cNvSpPr>
                <a:spLocks noChangeArrowheads="1"/>
              </p:cNvSpPr>
              <p:nvPr/>
            </p:nvSpPr>
            <p:spPr bwMode="auto">
              <a:xfrm>
                <a:off x="2487613" y="5668325"/>
                <a:ext cx="2968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60" name="Rectangle 1286"/>
              <p:cNvSpPr>
                <a:spLocks noChangeArrowheads="1"/>
              </p:cNvSpPr>
              <p:nvPr/>
            </p:nvSpPr>
            <p:spPr bwMode="auto">
              <a:xfrm>
                <a:off x="2487613" y="5754050"/>
                <a:ext cx="2968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61" name="Rectangle 1287"/>
              <p:cNvSpPr>
                <a:spLocks noChangeArrowheads="1"/>
              </p:cNvSpPr>
              <p:nvPr/>
            </p:nvSpPr>
            <p:spPr bwMode="auto">
              <a:xfrm>
                <a:off x="2487613" y="5409563"/>
                <a:ext cx="2968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062" name="Freeform 1288"/>
              <p:cNvSpPr>
                <a:spLocks/>
              </p:cNvSpPr>
              <p:nvPr/>
            </p:nvSpPr>
            <p:spPr bwMode="auto">
              <a:xfrm>
                <a:off x="2098676" y="4376100"/>
                <a:ext cx="296863" cy="87313"/>
              </a:xfrm>
              <a:custGeom>
                <a:avLst/>
                <a:gdLst>
                  <a:gd name="T0" fmla="*/ 560 w 560"/>
                  <a:gd name="T1" fmla="*/ 163 h 163"/>
                  <a:gd name="T2" fmla="*/ 560 w 560"/>
                  <a:gd name="T3" fmla="*/ 0 h 163"/>
                  <a:gd name="T4" fmla="*/ 0 w 560"/>
                  <a:gd name="T5" fmla="*/ 0 h 163"/>
                  <a:gd name="T6" fmla="*/ 0 w 560"/>
                  <a:gd name="T7" fmla="*/ 163 h 163"/>
                </a:gdLst>
                <a:ahLst/>
                <a:cxnLst>
                  <a:cxn ang="0">
                    <a:pos x="T0" y="T1"/>
                  </a:cxn>
                  <a:cxn ang="0">
                    <a:pos x="T2" y="T3"/>
                  </a:cxn>
                  <a:cxn ang="0">
                    <a:pos x="T4" y="T5"/>
                  </a:cxn>
                  <a:cxn ang="0">
                    <a:pos x="T6" y="T7"/>
                  </a:cxn>
                </a:cxnLst>
                <a:rect l="0" t="0" r="r" b="b"/>
                <a:pathLst>
                  <a:path w="560" h="163">
                    <a:moveTo>
                      <a:pt x="560" y="163"/>
                    </a:moveTo>
                    <a:lnTo>
                      <a:pt x="560" y="0"/>
                    </a:lnTo>
                    <a:lnTo>
                      <a:pt x="0" y="0"/>
                    </a:lnTo>
                    <a:lnTo>
                      <a:pt x="0" y="163"/>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063" name="Line 1289"/>
              <p:cNvSpPr>
                <a:spLocks noChangeShapeType="1"/>
              </p:cNvSpPr>
              <p:nvPr/>
            </p:nvSpPr>
            <p:spPr bwMode="auto">
              <a:xfrm>
                <a:off x="2098676"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4" name="Line 1290"/>
              <p:cNvSpPr>
                <a:spLocks noChangeShapeType="1"/>
              </p:cNvSpPr>
              <p:nvPr/>
            </p:nvSpPr>
            <p:spPr bwMode="auto">
              <a:xfrm>
                <a:off x="2098676"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5" name="Line 1291"/>
              <p:cNvSpPr>
                <a:spLocks noChangeShapeType="1"/>
              </p:cNvSpPr>
              <p:nvPr/>
            </p:nvSpPr>
            <p:spPr bwMode="auto">
              <a:xfrm>
                <a:off x="2098676"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6" name="Line 1292"/>
              <p:cNvSpPr>
                <a:spLocks noChangeShapeType="1"/>
              </p:cNvSpPr>
              <p:nvPr/>
            </p:nvSpPr>
            <p:spPr bwMode="auto">
              <a:xfrm>
                <a:off x="2098676"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7" name="Line 1293"/>
              <p:cNvSpPr>
                <a:spLocks noChangeShapeType="1"/>
              </p:cNvSpPr>
              <p:nvPr/>
            </p:nvSpPr>
            <p:spPr bwMode="auto">
              <a:xfrm>
                <a:off x="2098676"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8" name="Line 1294"/>
              <p:cNvSpPr>
                <a:spLocks noChangeShapeType="1"/>
              </p:cNvSpPr>
              <p:nvPr/>
            </p:nvSpPr>
            <p:spPr bwMode="auto">
              <a:xfrm>
                <a:off x="2098676"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69" name="Line 1295"/>
              <p:cNvSpPr>
                <a:spLocks noChangeShapeType="1"/>
              </p:cNvSpPr>
              <p:nvPr/>
            </p:nvSpPr>
            <p:spPr bwMode="auto">
              <a:xfrm>
                <a:off x="2098676"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0" name="Line 1296"/>
              <p:cNvSpPr>
                <a:spLocks noChangeShapeType="1"/>
              </p:cNvSpPr>
              <p:nvPr/>
            </p:nvSpPr>
            <p:spPr bwMode="auto">
              <a:xfrm>
                <a:off x="2098676"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1" name="Line 1297"/>
              <p:cNvSpPr>
                <a:spLocks noChangeShapeType="1"/>
              </p:cNvSpPr>
              <p:nvPr/>
            </p:nvSpPr>
            <p:spPr bwMode="auto">
              <a:xfrm>
                <a:off x="2098676"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2" name="Line 1298"/>
              <p:cNvSpPr>
                <a:spLocks noChangeShapeType="1"/>
              </p:cNvSpPr>
              <p:nvPr/>
            </p:nvSpPr>
            <p:spPr bwMode="auto">
              <a:xfrm>
                <a:off x="2098676"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3" name="Line 1299"/>
              <p:cNvSpPr>
                <a:spLocks noChangeShapeType="1"/>
              </p:cNvSpPr>
              <p:nvPr/>
            </p:nvSpPr>
            <p:spPr bwMode="auto">
              <a:xfrm>
                <a:off x="2098676"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4" name="Line 1300"/>
              <p:cNvSpPr>
                <a:spLocks noChangeShapeType="1"/>
              </p:cNvSpPr>
              <p:nvPr/>
            </p:nvSpPr>
            <p:spPr bwMode="auto">
              <a:xfrm>
                <a:off x="2098676"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5" name="Line 1301"/>
              <p:cNvSpPr>
                <a:spLocks noChangeShapeType="1"/>
              </p:cNvSpPr>
              <p:nvPr/>
            </p:nvSpPr>
            <p:spPr bwMode="auto">
              <a:xfrm>
                <a:off x="2098676"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6" name="Freeform 1302"/>
              <p:cNvSpPr>
                <a:spLocks/>
              </p:cNvSpPr>
              <p:nvPr/>
            </p:nvSpPr>
            <p:spPr bwMode="auto">
              <a:xfrm>
                <a:off x="2098676" y="5754050"/>
                <a:ext cx="296863" cy="85725"/>
              </a:xfrm>
              <a:custGeom>
                <a:avLst/>
                <a:gdLst>
                  <a:gd name="T0" fmla="*/ 0 w 560"/>
                  <a:gd name="T1" fmla="*/ 0 h 162"/>
                  <a:gd name="T2" fmla="*/ 0 w 560"/>
                  <a:gd name="T3" fmla="*/ 162 h 162"/>
                  <a:gd name="T4" fmla="*/ 560 w 560"/>
                  <a:gd name="T5" fmla="*/ 162 h 162"/>
                  <a:gd name="T6" fmla="*/ 560 w 560"/>
                  <a:gd name="T7" fmla="*/ 0 h 162"/>
                </a:gdLst>
                <a:ahLst/>
                <a:cxnLst>
                  <a:cxn ang="0">
                    <a:pos x="T0" y="T1"/>
                  </a:cxn>
                  <a:cxn ang="0">
                    <a:pos x="T2" y="T3"/>
                  </a:cxn>
                  <a:cxn ang="0">
                    <a:pos x="T4" y="T5"/>
                  </a:cxn>
                  <a:cxn ang="0">
                    <a:pos x="T6" y="T7"/>
                  </a:cxn>
                </a:cxnLst>
                <a:rect l="0" t="0" r="r" b="b"/>
                <a:pathLst>
                  <a:path w="560" h="162">
                    <a:moveTo>
                      <a:pt x="0" y="0"/>
                    </a:moveTo>
                    <a:lnTo>
                      <a:pt x="0" y="162"/>
                    </a:lnTo>
                    <a:lnTo>
                      <a:pt x="560" y="162"/>
                    </a:lnTo>
                    <a:lnTo>
                      <a:pt x="560"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077" name="Line 1303"/>
              <p:cNvSpPr>
                <a:spLocks noChangeShapeType="1"/>
              </p:cNvSpPr>
              <p:nvPr/>
            </p:nvSpPr>
            <p:spPr bwMode="auto">
              <a:xfrm>
                <a:off x="2098676"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8" name="Line 1304"/>
              <p:cNvSpPr>
                <a:spLocks noChangeShapeType="1"/>
              </p:cNvSpPr>
              <p:nvPr/>
            </p:nvSpPr>
            <p:spPr bwMode="auto">
              <a:xfrm>
                <a:off x="2098676"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79" name="Freeform 1305"/>
              <p:cNvSpPr>
                <a:spLocks/>
              </p:cNvSpPr>
              <p:nvPr/>
            </p:nvSpPr>
            <p:spPr bwMode="auto">
              <a:xfrm>
                <a:off x="2487613" y="4376100"/>
                <a:ext cx="296863" cy="87313"/>
              </a:xfrm>
              <a:custGeom>
                <a:avLst/>
                <a:gdLst>
                  <a:gd name="T0" fmla="*/ 561 w 561"/>
                  <a:gd name="T1" fmla="*/ 163 h 163"/>
                  <a:gd name="T2" fmla="*/ 561 w 561"/>
                  <a:gd name="T3" fmla="*/ 0 h 163"/>
                  <a:gd name="T4" fmla="*/ 0 w 561"/>
                  <a:gd name="T5" fmla="*/ 0 h 163"/>
                  <a:gd name="T6" fmla="*/ 0 w 561"/>
                  <a:gd name="T7" fmla="*/ 163 h 163"/>
                </a:gdLst>
                <a:ahLst/>
                <a:cxnLst>
                  <a:cxn ang="0">
                    <a:pos x="T0" y="T1"/>
                  </a:cxn>
                  <a:cxn ang="0">
                    <a:pos x="T2" y="T3"/>
                  </a:cxn>
                  <a:cxn ang="0">
                    <a:pos x="T4" y="T5"/>
                  </a:cxn>
                  <a:cxn ang="0">
                    <a:pos x="T6" y="T7"/>
                  </a:cxn>
                </a:cxnLst>
                <a:rect l="0" t="0" r="r" b="b"/>
                <a:pathLst>
                  <a:path w="561" h="163">
                    <a:moveTo>
                      <a:pt x="561" y="163"/>
                    </a:moveTo>
                    <a:lnTo>
                      <a:pt x="561" y="0"/>
                    </a:lnTo>
                    <a:lnTo>
                      <a:pt x="0" y="0"/>
                    </a:lnTo>
                    <a:lnTo>
                      <a:pt x="0" y="163"/>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080" name="Line 1306"/>
              <p:cNvSpPr>
                <a:spLocks noChangeShapeType="1"/>
              </p:cNvSpPr>
              <p:nvPr/>
            </p:nvSpPr>
            <p:spPr bwMode="auto">
              <a:xfrm>
                <a:off x="2487613"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1" name="Line 1307"/>
              <p:cNvSpPr>
                <a:spLocks noChangeShapeType="1"/>
              </p:cNvSpPr>
              <p:nvPr/>
            </p:nvSpPr>
            <p:spPr bwMode="auto">
              <a:xfrm flipV="1">
                <a:off x="2395538"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2" name="Line 1308"/>
              <p:cNvSpPr>
                <a:spLocks noChangeShapeType="1"/>
              </p:cNvSpPr>
              <p:nvPr/>
            </p:nvSpPr>
            <p:spPr bwMode="auto">
              <a:xfrm flipV="1">
                <a:off x="2395538"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3" name="Line 1309"/>
              <p:cNvSpPr>
                <a:spLocks noChangeShapeType="1"/>
              </p:cNvSpPr>
              <p:nvPr/>
            </p:nvSpPr>
            <p:spPr bwMode="auto">
              <a:xfrm flipV="1">
                <a:off x="2395538"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4" name="Line 1310"/>
              <p:cNvSpPr>
                <a:spLocks noChangeShapeType="1"/>
              </p:cNvSpPr>
              <p:nvPr/>
            </p:nvSpPr>
            <p:spPr bwMode="auto">
              <a:xfrm>
                <a:off x="2487613"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5" name="Line 1311"/>
              <p:cNvSpPr>
                <a:spLocks noChangeShapeType="1"/>
              </p:cNvSpPr>
              <p:nvPr/>
            </p:nvSpPr>
            <p:spPr bwMode="auto">
              <a:xfrm>
                <a:off x="2487613"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6" name="Line 1312"/>
              <p:cNvSpPr>
                <a:spLocks noChangeShapeType="1"/>
              </p:cNvSpPr>
              <p:nvPr/>
            </p:nvSpPr>
            <p:spPr bwMode="auto">
              <a:xfrm flipV="1">
                <a:off x="2395538"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7" name="Line 1313"/>
              <p:cNvSpPr>
                <a:spLocks noChangeShapeType="1"/>
              </p:cNvSpPr>
              <p:nvPr/>
            </p:nvSpPr>
            <p:spPr bwMode="auto">
              <a:xfrm>
                <a:off x="2487613"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8" name="Line 1314"/>
              <p:cNvSpPr>
                <a:spLocks noChangeShapeType="1"/>
              </p:cNvSpPr>
              <p:nvPr/>
            </p:nvSpPr>
            <p:spPr bwMode="auto">
              <a:xfrm flipV="1">
                <a:off x="2784476"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89" name="Line 1315"/>
              <p:cNvSpPr>
                <a:spLocks noChangeShapeType="1"/>
              </p:cNvSpPr>
              <p:nvPr/>
            </p:nvSpPr>
            <p:spPr bwMode="auto">
              <a:xfrm flipV="1">
                <a:off x="2784476"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0" name="Line 1316"/>
              <p:cNvSpPr>
                <a:spLocks noChangeShapeType="1"/>
              </p:cNvSpPr>
              <p:nvPr/>
            </p:nvSpPr>
            <p:spPr bwMode="auto">
              <a:xfrm flipV="1">
                <a:off x="2784476"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1" name="Line 1317"/>
              <p:cNvSpPr>
                <a:spLocks noChangeShapeType="1"/>
              </p:cNvSpPr>
              <p:nvPr/>
            </p:nvSpPr>
            <p:spPr bwMode="auto">
              <a:xfrm flipV="1">
                <a:off x="2784476"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2" name="Line 1318"/>
              <p:cNvSpPr>
                <a:spLocks noChangeShapeType="1"/>
              </p:cNvSpPr>
              <p:nvPr/>
            </p:nvSpPr>
            <p:spPr bwMode="auto">
              <a:xfrm>
                <a:off x="2487613" y="446341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3" name="Line 1319"/>
              <p:cNvSpPr>
                <a:spLocks noChangeShapeType="1"/>
              </p:cNvSpPr>
              <p:nvPr/>
            </p:nvSpPr>
            <p:spPr bwMode="auto">
              <a:xfrm flipH="1">
                <a:off x="2487613" y="472058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4" name="Line 1320"/>
              <p:cNvSpPr>
                <a:spLocks noChangeShapeType="1"/>
              </p:cNvSpPr>
              <p:nvPr/>
            </p:nvSpPr>
            <p:spPr bwMode="auto">
              <a:xfrm>
                <a:off x="2487613" y="48079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5" name="Line 1321"/>
              <p:cNvSpPr>
                <a:spLocks noChangeShapeType="1"/>
              </p:cNvSpPr>
              <p:nvPr/>
            </p:nvSpPr>
            <p:spPr bwMode="auto">
              <a:xfrm flipH="1">
                <a:off x="2487613" y="463486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6" name="Line 1322"/>
              <p:cNvSpPr>
                <a:spLocks noChangeShapeType="1"/>
              </p:cNvSpPr>
              <p:nvPr/>
            </p:nvSpPr>
            <p:spPr bwMode="auto">
              <a:xfrm>
                <a:off x="2487613" y="454913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7" name="Line 1323"/>
              <p:cNvSpPr>
                <a:spLocks noChangeShapeType="1"/>
              </p:cNvSpPr>
              <p:nvPr/>
            </p:nvSpPr>
            <p:spPr bwMode="auto">
              <a:xfrm flipV="1">
                <a:off x="2784476"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8" name="Line 1324"/>
              <p:cNvSpPr>
                <a:spLocks noChangeShapeType="1"/>
              </p:cNvSpPr>
              <p:nvPr/>
            </p:nvSpPr>
            <p:spPr bwMode="auto">
              <a:xfrm flipV="1">
                <a:off x="2784476"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099" name="Line 1325"/>
              <p:cNvSpPr>
                <a:spLocks noChangeShapeType="1"/>
              </p:cNvSpPr>
              <p:nvPr/>
            </p:nvSpPr>
            <p:spPr bwMode="auto">
              <a:xfrm flipV="1">
                <a:off x="2784476"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0" name="Line 1326"/>
              <p:cNvSpPr>
                <a:spLocks noChangeShapeType="1"/>
              </p:cNvSpPr>
              <p:nvPr/>
            </p:nvSpPr>
            <p:spPr bwMode="auto">
              <a:xfrm flipV="1">
                <a:off x="2784476"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1" name="Line 1327"/>
              <p:cNvSpPr>
                <a:spLocks noChangeShapeType="1"/>
              </p:cNvSpPr>
              <p:nvPr/>
            </p:nvSpPr>
            <p:spPr bwMode="auto">
              <a:xfrm flipV="1">
                <a:off x="2784476"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2" name="Line 1328"/>
              <p:cNvSpPr>
                <a:spLocks noChangeShapeType="1"/>
              </p:cNvSpPr>
              <p:nvPr/>
            </p:nvSpPr>
            <p:spPr bwMode="auto">
              <a:xfrm flipV="1">
                <a:off x="2784476"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3" name="Line 1329"/>
              <p:cNvSpPr>
                <a:spLocks noChangeShapeType="1"/>
              </p:cNvSpPr>
              <p:nvPr/>
            </p:nvSpPr>
            <p:spPr bwMode="auto">
              <a:xfrm>
                <a:off x="2487613"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4" name="Line 1330"/>
              <p:cNvSpPr>
                <a:spLocks noChangeShapeType="1"/>
              </p:cNvSpPr>
              <p:nvPr/>
            </p:nvSpPr>
            <p:spPr bwMode="auto">
              <a:xfrm>
                <a:off x="2487613"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5" name="Line 1331"/>
              <p:cNvSpPr>
                <a:spLocks noChangeShapeType="1"/>
              </p:cNvSpPr>
              <p:nvPr/>
            </p:nvSpPr>
            <p:spPr bwMode="auto">
              <a:xfrm flipV="1">
                <a:off x="2395538"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6" name="Line 1332"/>
              <p:cNvSpPr>
                <a:spLocks noChangeShapeType="1"/>
              </p:cNvSpPr>
              <p:nvPr/>
            </p:nvSpPr>
            <p:spPr bwMode="auto">
              <a:xfrm flipV="1">
                <a:off x="2395538"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7" name="Line 1333"/>
              <p:cNvSpPr>
                <a:spLocks noChangeShapeType="1"/>
              </p:cNvSpPr>
              <p:nvPr/>
            </p:nvSpPr>
            <p:spPr bwMode="auto">
              <a:xfrm flipV="1">
                <a:off x="2395538"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8" name="Line 1334"/>
              <p:cNvSpPr>
                <a:spLocks noChangeShapeType="1"/>
              </p:cNvSpPr>
              <p:nvPr/>
            </p:nvSpPr>
            <p:spPr bwMode="auto">
              <a:xfrm flipV="1">
                <a:off x="2395538"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09" name="Line 1335"/>
              <p:cNvSpPr>
                <a:spLocks noChangeShapeType="1"/>
              </p:cNvSpPr>
              <p:nvPr/>
            </p:nvSpPr>
            <p:spPr bwMode="auto">
              <a:xfrm flipV="1">
                <a:off x="2395538"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0" name="Line 1336"/>
              <p:cNvSpPr>
                <a:spLocks noChangeShapeType="1"/>
              </p:cNvSpPr>
              <p:nvPr/>
            </p:nvSpPr>
            <p:spPr bwMode="auto">
              <a:xfrm>
                <a:off x="2487613"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1" name="Line 1337"/>
              <p:cNvSpPr>
                <a:spLocks noChangeShapeType="1"/>
              </p:cNvSpPr>
              <p:nvPr/>
            </p:nvSpPr>
            <p:spPr bwMode="auto">
              <a:xfrm>
                <a:off x="2487613"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2" name="Line 1338"/>
              <p:cNvSpPr>
                <a:spLocks noChangeShapeType="1"/>
              </p:cNvSpPr>
              <p:nvPr/>
            </p:nvSpPr>
            <p:spPr bwMode="auto">
              <a:xfrm>
                <a:off x="2487613"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3" name="Line 1339"/>
              <p:cNvSpPr>
                <a:spLocks noChangeShapeType="1"/>
              </p:cNvSpPr>
              <p:nvPr/>
            </p:nvSpPr>
            <p:spPr bwMode="auto">
              <a:xfrm>
                <a:off x="2487613"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4" name="Line 1340"/>
              <p:cNvSpPr>
                <a:spLocks noChangeShapeType="1"/>
              </p:cNvSpPr>
              <p:nvPr/>
            </p:nvSpPr>
            <p:spPr bwMode="auto">
              <a:xfrm flipV="1">
                <a:off x="2395538"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5" name="Line 1341"/>
              <p:cNvSpPr>
                <a:spLocks noChangeShapeType="1"/>
              </p:cNvSpPr>
              <p:nvPr/>
            </p:nvSpPr>
            <p:spPr bwMode="auto">
              <a:xfrm>
                <a:off x="2487613"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6" name="Line 1342"/>
              <p:cNvSpPr>
                <a:spLocks noChangeShapeType="1"/>
              </p:cNvSpPr>
              <p:nvPr/>
            </p:nvSpPr>
            <p:spPr bwMode="auto">
              <a:xfrm>
                <a:off x="2487613"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7" name="Line 1343"/>
              <p:cNvSpPr>
                <a:spLocks noChangeShapeType="1"/>
              </p:cNvSpPr>
              <p:nvPr/>
            </p:nvSpPr>
            <p:spPr bwMode="auto">
              <a:xfrm>
                <a:off x="2487613"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18" name="Freeform 1344"/>
              <p:cNvSpPr>
                <a:spLocks/>
              </p:cNvSpPr>
              <p:nvPr/>
            </p:nvSpPr>
            <p:spPr bwMode="auto">
              <a:xfrm>
                <a:off x="2487613" y="5754050"/>
                <a:ext cx="296863" cy="85725"/>
              </a:xfrm>
              <a:custGeom>
                <a:avLst/>
                <a:gdLst>
                  <a:gd name="T0" fmla="*/ 0 w 561"/>
                  <a:gd name="T1" fmla="*/ 0 h 162"/>
                  <a:gd name="T2" fmla="*/ 0 w 561"/>
                  <a:gd name="T3" fmla="*/ 162 h 162"/>
                  <a:gd name="T4" fmla="*/ 561 w 561"/>
                  <a:gd name="T5" fmla="*/ 162 h 162"/>
                  <a:gd name="T6" fmla="*/ 561 w 561"/>
                  <a:gd name="T7" fmla="*/ 0 h 162"/>
                </a:gdLst>
                <a:ahLst/>
                <a:cxnLst>
                  <a:cxn ang="0">
                    <a:pos x="T0" y="T1"/>
                  </a:cxn>
                  <a:cxn ang="0">
                    <a:pos x="T2" y="T3"/>
                  </a:cxn>
                  <a:cxn ang="0">
                    <a:pos x="T4" y="T5"/>
                  </a:cxn>
                  <a:cxn ang="0">
                    <a:pos x="T6" y="T7"/>
                  </a:cxn>
                </a:cxnLst>
                <a:rect l="0" t="0" r="r" b="b"/>
                <a:pathLst>
                  <a:path w="561" h="162">
                    <a:moveTo>
                      <a:pt x="0" y="0"/>
                    </a:moveTo>
                    <a:lnTo>
                      <a:pt x="0" y="162"/>
                    </a:lnTo>
                    <a:lnTo>
                      <a:pt x="561" y="162"/>
                    </a:lnTo>
                    <a:lnTo>
                      <a:pt x="561"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119" name="Line 1345"/>
              <p:cNvSpPr>
                <a:spLocks noChangeShapeType="1"/>
              </p:cNvSpPr>
              <p:nvPr/>
            </p:nvSpPr>
            <p:spPr bwMode="auto">
              <a:xfrm flipV="1">
                <a:off x="2395538"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0" name="Line 1346"/>
              <p:cNvSpPr>
                <a:spLocks noChangeShapeType="1"/>
              </p:cNvSpPr>
              <p:nvPr/>
            </p:nvSpPr>
            <p:spPr bwMode="auto">
              <a:xfrm flipV="1">
                <a:off x="2395538"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1" name="Line 1347"/>
              <p:cNvSpPr>
                <a:spLocks noChangeShapeType="1"/>
              </p:cNvSpPr>
              <p:nvPr/>
            </p:nvSpPr>
            <p:spPr bwMode="auto">
              <a:xfrm flipV="1">
                <a:off x="2395538"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2" name="Line 1348"/>
              <p:cNvSpPr>
                <a:spLocks noChangeShapeType="1"/>
              </p:cNvSpPr>
              <p:nvPr/>
            </p:nvSpPr>
            <p:spPr bwMode="auto">
              <a:xfrm flipV="1">
                <a:off x="2784476"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3" name="Line 1349"/>
              <p:cNvSpPr>
                <a:spLocks noChangeShapeType="1"/>
              </p:cNvSpPr>
              <p:nvPr/>
            </p:nvSpPr>
            <p:spPr bwMode="auto">
              <a:xfrm flipV="1">
                <a:off x="2784476"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4" name="Line 1350"/>
              <p:cNvSpPr>
                <a:spLocks noChangeShapeType="1"/>
              </p:cNvSpPr>
              <p:nvPr/>
            </p:nvSpPr>
            <p:spPr bwMode="auto">
              <a:xfrm flipV="1">
                <a:off x="2784476"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5" name="Line 1351"/>
              <p:cNvSpPr>
                <a:spLocks noChangeShapeType="1"/>
              </p:cNvSpPr>
              <p:nvPr/>
            </p:nvSpPr>
            <p:spPr bwMode="auto">
              <a:xfrm>
                <a:off x="2487613" y="540956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6" name="Line 1352"/>
              <p:cNvSpPr>
                <a:spLocks noChangeShapeType="1"/>
              </p:cNvSpPr>
              <p:nvPr/>
            </p:nvSpPr>
            <p:spPr bwMode="auto">
              <a:xfrm flipH="1">
                <a:off x="2487613" y="532383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7" name="Line 1353"/>
              <p:cNvSpPr>
                <a:spLocks noChangeShapeType="1"/>
              </p:cNvSpPr>
              <p:nvPr/>
            </p:nvSpPr>
            <p:spPr bwMode="auto">
              <a:xfrm>
                <a:off x="2487613" y="523811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8" name="Line 1354"/>
              <p:cNvSpPr>
                <a:spLocks noChangeShapeType="1"/>
              </p:cNvSpPr>
              <p:nvPr/>
            </p:nvSpPr>
            <p:spPr bwMode="auto">
              <a:xfrm flipH="1">
                <a:off x="2487613" y="51508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29" name="Line 1355"/>
              <p:cNvSpPr>
                <a:spLocks noChangeShapeType="1"/>
              </p:cNvSpPr>
              <p:nvPr/>
            </p:nvSpPr>
            <p:spPr bwMode="auto">
              <a:xfrm>
                <a:off x="2487613" y="506507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0" name="Line 1356"/>
              <p:cNvSpPr>
                <a:spLocks noChangeShapeType="1"/>
              </p:cNvSpPr>
              <p:nvPr/>
            </p:nvSpPr>
            <p:spPr bwMode="auto">
              <a:xfrm flipH="1">
                <a:off x="2487613" y="497935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1" name="Line 1357"/>
              <p:cNvSpPr>
                <a:spLocks noChangeShapeType="1"/>
              </p:cNvSpPr>
              <p:nvPr/>
            </p:nvSpPr>
            <p:spPr bwMode="auto">
              <a:xfrm flipH="1">
                <a:off x="2487613" y="489362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2" name="Line 1358"/>
              <p:cNvSpPr>
                <a:spLocks noChangeShapeType="1"/>
              </p:cNvSpPr>
              <p:nvPr/>
            </p:nvSpPr>
            <p:spPr bwMode="auto">
              <a:xfrm flipH="1">
                <a:off x="2487613" y="549687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3" name="Line 1359"/>
              <p:cNvSpPr>
                <a:spLocks noChangeShapeType="1"/>
              </p:cNvSpPr>
              <p:nvPr/>
            </p:nvSpPr>
            <p:spPr bwMode="auto">
              <a:xfrm>
                <a:off x="2487613" y="55826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4" name="Line 1360"/>
              <p:cNvSpPr>
                <a:spLocks noChangeShapeType="1"/>
              </p:cNvSpPr>
              <p:nvPr/>
            </p:nvSpPr>
            <p:spPr bwMode="auto">
              <a:xfrm flipH="1">
                <a:off x="2487613" y="566832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5" name="Line 1361"/>
              <p:cNvSpPr>
                <a:spLocks noChangeShapeType="1"/>
              </p:cNvSpPr>
              <p:nvPr/>
            </p:nvSpPr>
            <p:spPr bwMode="auto">
              <a:xfrm>
                <a:off x="2487613" y="575405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6" name="Line 1362"/>
              <p:cNvSpPr>
                <a:spLocks noChangeShapeType="1"/>
              </p:cNvSpPr>
              <p:nvPr/>
            </p:nvSpPr>
            <p:spPr bwMode="auto">
              <a:xfrm>
                <a:off x="2487613"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7" name="Line 1363"/>
              <p:cNvSpPr>
                <a:spLocks noChangeShapeType="1"/>
              </p:cNvSpPr>
              <p:nvPr/>
            </p:nvSpPr>
            <p:spPr bwMode="auto">
              <a:xfrm flipV="1">
                <a:off x="2784476"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8" name="Line 1364"/>
              <p:cNvSpPr>
                <a:spLocks noChangeShapeType="1"/>
              </p:cNvSpPr>
              <p:nvPr/>
            </p:nvSpPr>
            <p:spPr bwMode="auto">
              <a:xfrm flipV="1">
                <a:off x="2395538"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39" name="Line 1365"/>
              <p:cNvSpPr>
                <a:spLocks noChangeShapeType="1"/>
              </p:cNvSpPr>
              <p:nvPr/>
            </p:nvSpPr>
            <p:spPr bwMode="auto">
              <a:xfrm>
                <a:off x="2487613"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0" name="Line 1366"/>
              <p:cNvSpPr>
                <a:spLocks noChangeShapeType="1"/>
              </p:cNvSpPr>
              <p:nvPr/>
            </p:nvSpPr>
            <p:spPr bwMode="auto">
              <a:xfrm flipV="1">
                <a:off x="2784476"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1" name="Line 1367"/>
              <p:cNvSpPr>
                <a:spLocks noChangeShapeType="1"/>
              </p:cNvSpPr>
              <p:nvPr/>
            </p:nvSpPr>
            <p:spPr bwMode="auto">
              <a:xfrm flipV="1">
                <a:off x="2395538"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2" name="Line 1368"/>
              <p:cNvSpPr>
                <a:spLocks noChangeShapeType="1"/>
              </p:cNvSpPr>
              <p:nvPr/>
            </p:nvSpPr>
            <p:spPr bwMode="auto">
              <a:xfrm>
                <a:off x="2098676" y="446341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3" name="Line 1369"/>
              <p:cNvSpPr>
                <a:spLocks noChangeShapeType="1"/>
              </p:cNvSpPr>
              <p:nvPr/>
            </p:nvSpPr>
            <p:spPr bwMode="auto">
              <a:xfrm flipH="1">
                <a:off x="2098676" y="454913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4" name="Line 1370"/>
              <p:cNvSpPr>
                <a:spLocks noChangeShapeType="1"/>
              </p:cNvSpPr>
              <p:nvPr/>
            </p:nvSpPr>
            <p:spPr bwMode="auto">
              <a:xfrm>
                <a:off x="2098676" y="463486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5" name="Line 1371"/>
              <p:cNvSpPr>
                <a:spLocks noChangeShapeType="1"/>
              </p:cNvSpPr>
              <p:nvPr/>
            </p:nvSpPr>
            <p:spPr bwMode="auto">
              <a:xfrm flipH="1">
                <a:off x="2098676" y="472058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6" name="Line 1372"/>
              <p:cNvSpPr>
                <a:spLocks noChangeShapeType="1"/>
              </p:cNvSpPr>
              <p:nvPr/>
            </p:nvSpPr>
            <p:spPr bwMode="auto">
              <a:xfrm>
                <a:off x="2098676" y="48079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7" name="Line 1373"/>
              <p:cNvSpPr>
                <a:spLocks noChangeShapeType="1"/>
              </p:cNvSpPr>
              <p:nvPr/>
            </p:nvSpPr>
            <p:spPr bwMode="auto">
              <a:xfrm flipH="1">
                <a:off x="2098676" y="489362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8" name="Line 1374"/>
              <p:cNvSpPr>
                <a:spLocks noChangeShapeType="1"/>
              </p:cNvSpPr>
              <p:nvPr/>
            </p:nvSpPr>
            <p:spPr bwMode="auto">
              <a:xfrm>
                <a:off x="2098676" y="497935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49" name="Line 1375"/>
              <p:cNvSpPr>
                <a:spLocks noChangeShapeType="1"/>
              </p:cNvSpPr>
              <p:nvPr/>
            </p:nvSpPr>
            <p:spPr bwMode="auto">
              <a:xfrm flipH="1">
                <a:off x="2098676" y="506507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0" name="Line 1376"/>
              <p:cNvSpPr>
                <a:spLocks noChangeShapeType="1"/>
              </p:cNvSpPr>
              <p:nvPr/>
            </p:nvSpPr>
            <p:spPr bwMode="auto">
              <a:xfrm>
                <a:off x="2098676" y="51508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1" name="Line 1377"/>
              <p:cNvSpPr>
                <a:spLocks noChangeShapeType="1"/>
              </p:cNvSpPr>
              <p:nvPr/>
            </p:nvSpPr>
            <p:spPr bwMode="auto">
              <a:xfrm flipH="1">
                <a:off x="2098676" y="523811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2" name="Line 1378"/>
              <p:cNvSpPr>
                <a:spLocks noChangeShapeType="1"/>
              </p:cNvSpPr>
              <p:nvPr/>
            </p:nvSpPr>
            <p:spPr bwMode="auto">
              <a:xfrm>
                <a:off x="2098676" y="5323838"/>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3" name="Line 1379"/>
              <p:cNvSpPr>
                <a:spLocks noChangeShapeType="1"/>
              </p:cNvSpPr>
              <p:nvPr/>
            </p:nvSpPr>
            <p:spPr bwMode="auto">
              <a:xfrm flipH="1">
                <a:off x="2098676" y="549687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4" name="Line 1380"/>
              <p:cNvSpPr>
                <a:spLocks noChangeShapeType="1"/>
              </p:cNvSpPr>
              <p:nvPr/>
            </p:nvSpPr>
            <p:spPr bwMode="auto">
              <a:xfrm>
                <a:off x="2098676" y="558260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5" name="Line 1381"/>
              <p:cNvSpPr>
                <a:spLocks noChangeShapeType="1"/>
              </p:cNvSpPr>
              <p:nvPr/>
            </p:nvSpPr>
            <p:spPr bwMode="auto">
              <a:xfrm flipH="1">
                <a:off x="2098676" y="5668325"/>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6" name="Line 1382"/>
              <p:cNvSpPr>
                <a:spLocks noChangeShapeType="1"/>
              </p:cNvSpPr>
              <p:nvPr/>
            </p:nvSpPr>
            <p:spPr bwMode="auto">
              <a:xfrm>
                <a:off x="2098676" y="5754050"/>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157" name="Line 1383"/>
              <p:cNvSpPr>
                <a:spLocks noChangeShapeType="1"/>
              </p:cNvSpPr>
              <p:nvPr/>
            </p:nvSpPr>
            <p:spPr bwMode="auto">
              <a:xfrm flipH="1">
                <a:off x="2098676" y="5409563"/>
                <a:ext cx="2968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grpSp>
          <p:nvGrpSpPr>
            <p:cNvPr id="2158" name="Group 2157"/>
            <p:cNvGrpSpPr/>
            <p:nvPr/>
          </p:nvGrpSpPr>
          <p:grpSpPr>
            <a:xfrm>
              <a:off x="3280929" y="2865099"/>
              <a:ext cx="1003300" cy="1795463"/>
              <a:chOff x="4206876" y="4215763"/>
              <a:chExt cx="1003300" cy="1795463"/>
            </a:xfrm>
          </p:grpSpPr>
          <p:sp>
            <p:nvSpPr>
              <p:cNvPr id="2159" name="Rectangle 1384"/>
              <p:cNvSpPr>
                <a:spLocks noChangeArrowheads="1"/>
              </p:cNvSpPr>
              <p:nvPr/>
            </p:nvSpPr>
            <p:spPr bwMode="auto">
              <a:xfrm>
                <a:off x="4206876" y="4215763"/>
                <a:ext cx="1003300" cy="1795463"/>
              </a:xfrm>
              <a:prstGeom prst="rect">
                <a:avLst/>
              </a:prstGeom>
              <a:solidFill>
                <a:srgbClr val="B5121B"/>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endParaRPr lang="en-US">
                  <a:latin typeface="Arial" pitchFamily="34" charset="0"/>
                  <a:cs typeface="Arial" pitchFamily="34" charset="0"/>
                </a:endParaRPr>
              </a:p>
            </p:txBody>
          </p:sp>
          <p:sp>
            <p:nvSpPr>
              <p:cNvPr id="2160" name="Rectangle 1385"/>
              <p:cNvSpPr>
                <a:spLocks noChangeArrowheads="1"/>
              </p:cNvSpPr>
              <p:nvPr/>
            </p:nvSpPr>
            <p:spPr bwMode="auto">
              <a:xfrm>
                <a:off x="4206876" y="4215763"/>
                <a:ext cx="1003300" cy="1795463"/>
              </a:xfrm>
              <a:prstGeom prst="rect">
                <a:avLst/>
              </a:prstGeom>
              <a:noFill/>
              <a:ln w="0">
                <a:solidFill>
                  <a:srgbClr val="999999"/>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161" name="Freeform 1386"/>
              <p:cNvSpPr>
                <a:spLocks/>
              </p:cNvSpPr>
              <p:nvPr/>
            </p:nvSpPr>
            <p:spPr bwMode="auto">
              <a:xfrm>
                <a:off x="4556126" y="4376100"/>
                <a:ext cx="95250" cy="87313"/>
              </a:xfrm>
              <a:custGeom>
                <a:avLst/>
                <a:gdLst>
                  <a:gd name="T0" fmla="*/ 0 w 181"/>
                  <a:gd name="T1" fmla="*/ 0 h 163"/>
                  <a:gd name="T2" fmla="*/ 0 w 181"/>
                  <a:gd name="T3" fmla="*/ 163 h 163"/>
                  <a:gd name="T4" fmla="*/ 180 w 181"/>
                  <a:gd name="T5" fmla="*/ 163 h 163"/>
                  <a:gd name="T6" fmla="*/ 181 w 181"/>
                  <a:gd name="T7" fmla="*/ 141 h 163"/>
                  <a:gd name="T8" fmla="*/ 180 w 181"/>
                  <a:gd name="T9" fmla="*/ 0 h 163"/>
                  <a:gd name="T10" fmla="*/ 0 w 181"/>
                  <a:gd name="T11" fmla="*/ 0 h 163"/>
                </a:gdLst>
                <a:ahLst/>
                <a:cxnLst>
                  <a:cxn ang="0">
                    <a:pos x="T0" y="T1"/>
                  </a:cxn>
                  <a:cxn ang="0">
                    <a:pos x="T2" y="T3"/>
                  </a:cxn>
                  <a:cxn ang="0">
                    <a:pos x="T4" y="T5"/>
                  </a:cxn>
                  <a:cxn ang="0">
                    <a:pos x="T6" y="T7"/>
                  </a:cxn>
                  <a:cxn ang="0">
                    <a:pos x="T8" y="T9"/>
                  </a:cxn>
                  <a:cxn ang="0">
                    <a:pos x="T10" y="T11"/>
                  </a:cxn>
                </a:cxnLst>
                <a:rect l="0" t="0" r="r" b="b"/>
                <a:pathLst>
                  <a:path w="181" h="163">
                    <a:moveTo>
                      <a:pt x="0" y="0"/>
                    </a:moveTo>
                    <a:lnTo>
                      <a:pt x="0" y="163"/>
                    </a:lnTo>
                    <a:lnTo>
                      <a:pt x="180" y="163"/>
                    </a:lnTo>
                    <a:lnTo>
                      <a:pt x="181" y="141"/>
                    </a:lnTo>
                    <a:lnTo>
                      <a:pt x="18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162" name="Rectangle 1387"/>
              <p:cNvSpPr>
                <a:spLocks noChangeArrowheads="1"/>
              </p:cNvSpPr>
              <p:nvPr/>
            </p:nvSpPr>
            <p:spPr bwMode="auto">
              <a:xfrm>
                <a:off x="4452938" y="4376100"/>
                <a:ext cx="103188"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3" name="Rectangle 1388"/>
              <p:cNvSpPr>
                <a:spLocks noChangeArrowheads="1"/>
              </p:cNvSpPr>
              <p:nvPr/>
            </p:nvSpPr>
            <p:spPr bwMode="auto">
              <a:xfrm>
                <a:off x="4556126" y="4463413"/>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4" name="Rectangle 1389"/>
              <p:cNvSpPr>
                <a:spLocks noChangeArrowheads="1"/>
              </p:cNvSpPr>
              <p:nvPr/>
            </p:nvSpPr>
            <p:spPr bwMode="auto">
              <a:xfrm>
                <a:off x="4354513" y="4376100"/>
                <a:ext cx="98425"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5" name="Rectangle 1390"/>
              <p:cNvSpPr>
                <a:spLocks noChangeArrowheads="1"/>
              </p:cNvSpPr>
              <p:nvPr/>
            </p:nvSpPr>
            <p:spPr bwMode="auto">
              <a:xfrm>
                <a:off x="4354513" y="4463413"/>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6" name="Rectangle 1391"/>
              <p:cNvSpPr>
                <a:spLocks noChangeArrowheads="1"/>
              </p:cNvSpPr>
              <p:nvPr/>
            </p:nvSpPr>
            <p:spPr bwMode="auto">
              <a:xfrm>
                <a:off x="4452938" y="4549138"/>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7" name="Rectangle 1392"/>
              <p:cNvSpPr>
                <a:spLocks noChangeArrowheads="1"/>
              </p:cNvSpPr>
              <p:nvPr/>
            </p:nvSpPr>
            <p:spPr bwMode="auto">
              <a:xfrm>
                <a:off x="4354513" y="4549138"/>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8" name="Rectangle 1393"/>
              <p:cNvSpPr>
                <a:spLocks noChangeArrowheads="1"/>
              </p:cNvSpPr>
              <p:nvPr/>
            </p:nvSpPr>
            <p:spPr bwMode="auto">
              <a:xfrm>
                <a:off x="4354513" y="4720588"/>
                <a:ext cx="98425"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69" name="Rectangle 1394"/>
              <p:cNvSpPr>
                <a:spLocks noChangeArrowheads="1"/>
              </p:cNvSpPr>
              <p:nvPr/>
            </p:nvSpPr>
            <p:spPr bwMode="auto">
              <a:xfrm>
                <a:off x="4452938" y="4720588"/>
                <a:ext cx="1031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0" name="Rectangle 1395"/>
              <p:cNvSpPr>
                <a:spLocks noChangeArrowheads="1"/>
              </p:cNvSpPr>
              <p:nvPr/>
            </p:nvSpPr>
            <p:spPr bwMode="auto">
              <a:xfrm>
                <a:off x="4354513" y="4807900"/>
                <a:ext cx="98425"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1" name="Rectangle 1396"/>
              <p:cNvSpPr>
                <a:spLocks noChangeArrowheads="1"/>
              </p:cNvSpPr>
              <p:nvPr/>
            </p:nvSpPr>
            <p:spPr bwMode="auto">
              <a:xfrm>
                <a:off x="4354513" y="4634863"/>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2" name="Rectangle 1397"/>
              <p:cNvSpPr>
                <a:spLocks noChangeArrowheads="1"/>
              </p:cNvSpPr>
              <p:nvPr/>
            </p:nvSpPr>
            <p:spPr bwMode="auto">
              <a:xfrm>
                <a:off x="4452938" y="4634863"/>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3" name="Rectangle 1398"/>
              <p:cNvSpPr>
                <a:spLocks noChangeArrowheads="1"/>
              </p:cNvSpPr>
              <p:nvPr/>
            </p:nvSpPr>
            <p:spPr bwMode="auto">
              <a:xfrm>
                <a:off x="4556126" y="4549138"/>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4" name="Rectangle 1399"/>
              <p:cNvSpPr>
                <a:spLocks noChangeArrowheads="1"/>
              </p:cNvSpPr>
              <p:nvPr/>
            </p:nvSpPr>
            <p:spPr bwMode="auto">
              <a:xfrm>
                <a:off x="4556126" y="4634863"/>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5" name="Rectangle 1400"/>
              <p:cNvSpPr>
                <a:spLocks noChangeArrowheads="1"/>
              </p:cNvSpPr>
              <p:nvPr/>
            </p:nvSpPr>
            <p:spPr bwMode="auto">
              <a:xfrm>
                <a:off x="4556126" y="4720588"/>
                <a:ext cx="9525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6" name="Rectangle 1401"/>
              <p:cNvSpPr>
                <a:spLocks noChangeArrowheads="1"/>
              </p:cNvSpPr>
              <p:nvPr/>
            </p:nvSpPr>
            <p:spPr bwMode="auto">
              <a:xfrm>
                <a:off x="4556126" y="4807900"/>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7" name="Rectangle 1402"/>
              <p:cNvSpPr>
                <a:spLocks noChangeArrowheads="1"/>
              </p:cNvSpPr>
              <p:nvPr/>
            </p:nvSpPr>
            <p:spPr bwMode="auto">
              <a:xfrm>
                <a:off x="4452938" y="4463413"/>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8" name="Rectangle 1403"/>
              <p:cNvSpPr>
                <a:spLocks noChangeArrowheads="1"/>
              </p:cNvSpPr>
              <p:nvPr/>
            </p:nvSpPr>
            <p:spPr bwMode="auto">
              <a:xfrm>
                <a:off x="4452938" y="4807900"/>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79" name="Rectangle 1404"/>
              <p:cNvSpPr>
                <a:spLocks noChangeArrowheads="1"/>
              </p:cNvSpPr>
              <p:nvPr/>
            </p:nvSpPr>
            <p:spPr bwMode="auto">
              <a:xfrm>
                <a:off x="4556126" y="4893625"/>
                <a:ext cx="9525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0" name="Rectangle 1405"/>
              <p:cNvSpPr>
                <a:spLocks noChangeArrowheads="1"/>
              </p:cNvSpPr>
              <p:nvPr/>
            </p:nvSpPr>
            <p:spPr bwMode="auto">
              <a:xfrm>
                <a:off x="4556126" y="4979350"/>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1" name="Rectangle 1406"/>
              <p:cNvSpPr>
                <a:spLocks noChangeArrowheads="1"/>
              </p:cNvSpPr>
              <p:nvPr/>
            </p:nvSpPr>
            <p:spPr bwMode="auto">
              <a:xfrm>
                <a:off x="4452938" y="4979350"/>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2" name="Rectangle 1407"/>
              <p:cNvSpPr>
                <a:spLocks noChangeArrowheads="1"/>
              </p:cNvSpPr>
              <p:nvPr/>
            </p:nvSpPr>
            <p:spPr bwMode="auto">
              <a:xfrm>
                <a:off x="4556126" y="5065075"/>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3" name="Rectangle 1408"/>
              <p:cNvSpPr>
                <a:spLocks noChangeArrowheads="1"/>
              </p:cNvSpPr>
              <p:nvPr/>
            </p:nvSpPr>
            <p:spPr bwMode="auto">
              <a:xfrm>
                <a:off x="4452938" y="4893625"/>
                <a:ext cx="1031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4" name="Rectangle 1409"/>
              <p:cNvSpPr>
                <a:spLocks noChangeArrowheads="1"/>
              </p:cNvSpPr>
              <p:nvPr/>
            </p:nvSpPr>
            <p:spPr bwMode="auto">
              <a:xfrm>
                <a:off x="4354513" y="4979350"/>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5" name="Rectangle 1410"/>
              <p:cNvSpPr>
                <a:spLocks noChangeArrowheads="1"/>
              </p:cNvSpPr>
              <p:nvPr/>
            </p:nvSpPr>
            <p:spPr bwMode="auto">
              <a:xfrm>
                <a:off x="4354513" y="5065075"/>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6" name="Rectangle 1411"/>
              <p:cNvSpPr>
                <a:spLocks noChangeArrowheads="1"/>
              </p:cNvSpPr>
              <p:nvPr/>
            </p:nvSpPr>
            <p:spPr bwMode="auto">
              <a:xfrm>
                <a:off x="4354513" y="4893625"/>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7" name="Rectangle 1412"/>
              <p:cNvSpPr>
                <a:spLocks noChangeArrowheads="1"/>
              </p:cNvSpPr>
              <p:nvPr/>
            </p:nvSpPr>
            <p:spPr bwMode="auto">
              <a:xfrm>
                <a:off x="4452938" y="5150800"/>
                <a:ext cx="1031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8" name="Rectangle 1413"/>
              <p:cNvSpPr>
                <a:spLocks noChangeArrowheads="1"/>
              </p:cNvSpPr>
              <p:nvPr/>
            </p:nvSpPr>
            <p:spPr bwMode="auto">
              <a:xfrm>
                <a:off x="4354513" y="5150800"/>
                <a:ext cx="98425"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89" name="Rectangle 1414"/>
              <p:cNvSpPr>
                <a:spLocks noChangeArrowheads="1"/>
              </p:cNvSpPr>
              <p:nvPr/>
            </p:nvSpPr>
            <p:spPr bwMode="auto">
              <a:xfrm>
                <a:off x="4354513" y="5323838"/>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0" name="Rectangle 1415"/>
              <p:cNvSpPr>
                <a:spLocks noChangeArrowheads="1"/>
              </p:cNvSpPr>
              <p:nvPr/>
            </p:nvSpPr>
            <p:spPr bwMode="auto">
              <a:xfrm>
                <a:off x="4452938" y="5323838"/>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1" name="Rectangle 1416"/>
              <p:cNvSpPr>
                <a:spLocks noChangeArrowheads="1"/>
              </p:cNvSpPr>
              <p:nvPr/>
            </p:nvSpPr>
            <p:spPr bwMode="auto">
              <a:xfrm>
                <a:off x="4354513" y="5409563"/>
                <a:ext cx="98425"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2" name="Rectangle 1417"/>
              <p:cNvSpPr>
                <a:spLocks noChangeArrowheads="1"/>
              </p:cNvSpPr>
              <p:nvPr/>
            </p:nvSpPr>
            <p:spPr bwMode="auto">
              <a:xfrm>
                <a:off x="4354513" y="5238113"/>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3" name="Rectangle 1418"/>
              <p:cNvSpPr>
                <a:spLocks noChangeArrowheads="1"/>
              </p:cNvSpPr>
              <p:nvPr/>
            </p:nvSpPr>
            <p:spPr bwMode="auto">
              <a:xfrm>
                <a:off x="4452938" y="5238113"/>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4" name="Rectangle 1419"/>
              <p:cNvSpPr>
                <a:spLocks noChangeArrowheads="1"/>
              </p:cNvSpPr>
              <p:nvPr/>
            </p:nvSpPr>
            <p:spPr bwMode="auto">
              <a:xfrm>
                <a:off x="4556126" y="5150800"/>
                <a:ext cx="9525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5" name="Rectangle 1420"/>
              <p:cNvSpPr>
                <a:spLocks noChangeArrowheads="1"/>
              </p:cNvSpPr>
              <p:nvPr/>
            </p:nvSpPr>
            <p:spPr bwMode="auto">
              <a:xfrm>
                <a:off x="4556126" y="5238113"/>
                <a:ext cx="9525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6" name="Rectangle 1421"/>
              <p:cNvSpPr>
                <a:spLocks noChangeArrowheads="1"/>
              </p:cNvSpPr>
              <p:nvPr/>
            </p:nvSpPr>
            <p:spPr bwMode="auto">
              <a:xfrm>
                <a:off x="4556126" y="5409563"/>
                <a:ext cx="95250"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7" name="Rectangle 1422"/>
              <p:cNvSpPr>
                <a:spLocks noChangeArrowheads="1"/>
              </p:cNvSpPr>
              <p:nvPr/>
            </p:nvSpPr>
            <p:spPr bwMode="auto">
              <a:xfrm>
                <a:off x="4556126" y="5323838"/>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8" name="Rectangle 1423"/>
              <p:cNvSpPr>
                <a:spLocks noChangeArrowheads="1"/>
              </p:cNvSpPr>
              <p:nvPr/>
            </p:nvSpPr>
            <p:spPr bwMode="auto">
              <a:xfrm>
                <a:off x="4452938" y="5065075"/>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199" name="Rectangle 1424"/>
              <p:cNvSpPr>
                <a:spLocks noChangeArrowheads="1"/>
              </p:cNvSpPr>
              <p:nvPr/>
            </p:nvSpPr>
            <p:spPr bwMode="auto">
              <a:xfrm>
                <a:off x="4452938" y="5409563"/>
                <a:ext cx="103188"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0" name="Rectangle 1425"/>
              <p:cNvSpPr>
                <a:spLocks noChangeArrowheads="1"/>
              </p:cNvSpPr>
              <p:nvPr/>
            </p:nvSpPr>
            <p:spPr bwMode="auto">
              <a:xfrm>
                <a:off x="4556126" y="5496875"/>
                <a:ext cx="95250"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1" name="Rectangle 1426"/>
              <p:cNvSpPr>
                <a:spLocks noChangeArrowheads="1"/>
              </p:cNvSpPr>
              <p:nvPr/>
            </p:nvSpPr>
            <p:spPr bwMode="auto">
              <a:xfrm>
                <a:off x="4556126" y="5582600"/>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2" name="Rectangle 1427"/>
              <p:cNvSpPr>
                <a:spLocks noChangeArrowheads="1"/>
              </p:cNvSpPr>
              <p:nvPr/>
            </p:nvSpPr>
            <p:spPr bwMode="auto">
              <a:xfrm>
                <a:off x="4452938" y="5496875"/>
                <a:ext cx="1031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3" name="Rectangle 1428"/>
              <p:cNvSpPr>
                <a:spLocks noChangeArrowheads="1"/>
              </p:cNvSpPr>
              <p:nvPr/>
            </p:nvSpPr>
            <p:spPr bwMode="auto">
              <a:xfrm>
                <a:off x="4556126" y="5668325"/>
                <a:ext cx="95250"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4" name="Freeform 1429"/>
              <p:cNvSpPr>
                <a:spLocks/>
              </p:cNvSpPr>
              <p:nvPr/>
            </p:nvSpPr>
            <p:spPr bwMode="auto">
              <a:xfrm>
                <a:off x="4556126" y="5754050"/>
                <a:ext cx="95250" cy="85725"/>
              </a:xfrm>
              <a:custGeom>
                <a:avLst/>
                <a:gdLst>
                  <a:gd name="T0" fmla="*/ 180 w 181"/>
                  <a:gd name="T1" fmla="*/ 0 h 162"/>
                  <a:gd name="T2" fmla="*/ 0 w 181"/>
                  <a:gd name="T3" fmla="*/ 0 h 162"/>
                  <a:gd name="T4" fmla="*/ 0 w 181"/>
                  <a:gd name="T5" fmla="*/ 162 h 162"/>
                  <a:gd name="T6" fmla="*/ 180 w 181"/>
                  <a:gd name="T7" fmla="*/ 162 h 162"/>
                  <a:gd name="T8" fmla="*/ 181 w 181"/>
                  <a:gd name="T9" fmla="*/ 25 h 162"/>
                  <a:gd name="T10" fmla="*/ 180 w 181"/>
                  <a:gd name="T11" fmla="*/ 0 h 162"/>
                </a:gdLst>
                <a:ahLst/>
                <a:cxnLst>
                  <a:cxn ang="0">
                    <a:pos x="T0" y="T1"/>
                  </a:cxn>
                  <a:cxn ang="0">
                    <a:pos x="T2" y="T3"/>
                  </a:cxn>
                  <a:cxn ang="0">
                    <a:pos x="T4" y="T5"/>
                  </a:cxn>
                  <a:cxn ang="0">
                    <a:pos x="T6" y="T7"/>
                  </a:cxn>
                  <a:cxn ang="0">
                    <a:pos x="T8" y="T9"/>
                  </a:cxn>
                  <a:cxn ang="0">
                    <a:pos x="T10" y="T11"/>
                  </a:cxn>
                </a:cxnLst>
                <a:rect l="0" t="0" r="r" b="b"/>
                <a:pathLst>
                  <a:path w="181" h="162">
                    <a:moveTo>
                      <a:pt x="180" y="0"/>
                    </a:moveTo>
                    <a:lnTo>
                      <a:pt x="0" y="0"/>
                    </a:lnTo>
                    <a:lnTo>
                      <a:pt x="0" y="162"/>
                    </a:lnTo>
                    <a:lnTo>
                      <a:pt x="180" y="162"/>
                    </a:lnTo>
                    <a:lnTo>
                      <a:pt x="181" y="25"/>
                    </a:lnTo>
                    <a:lnTo>
                      <a:pt x="180"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205" name="Rectangle 1430"/>
              <p:cNvSpPr>
                <a:spLocks noChangeArrowheads="1"/>
              </p:cNvSpPr>
              <p:nvPr/>
            </p:nvSpPr>
            <p:spPr bwMode="auto">
              <a:xfrm>
                <a:off x="4452938" y="5668325"/>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6" name="Rectangle 1431"/>
              <p:cNvSpPr>
                <a:spLocks noChangeArrowheads="1"/>
              </p:cNvSpPr>
              <p:nvPr/>
            </p:nvSpPr>
            <p:spPr bwMode="auto">
              <a:xfrm>
                <a:off x="4452938" y="5582600"/>
                <a:ext cx="103188"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7" name="Rectangle 1432"/>
              <p:cNvSpPr>
                <a:spLocks noChangeArrowheads="1"/>
              </p:cNvSpPr>
              <p:nvPr/>
            </p:nvSpPr>
            <p:spPr bwMode="auto">
              <a:xfrm>
                <a:off x="4354513" y="5496875"/>
                <a:ext cx="98425"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8" name="Rectangle 1433"/>
              <p:cNvSpPr>
                <a:spLocks noChangeArrowheads="1"/>
              </p:cNvSpPr>
              <p:nvPr/>
            </p:nvSpPr>
            <p:spPr bwMode="auto">
              <a:xfrm>
                <a:off x="4354513" y="5668325"/>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09" name="Rectangle 1434"/>
              <p:cNvSpPr>
                <a:spLocks noChangeArrowheads="1"/>
              </p:cNvSpPr>
              <p:nvPr/>
            </p:nvSpPr>
            <p:spPr bwMode="auto">
              <a:xfrm>
                <a:off x="4354513" y="5582600"/>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10" name="Rectangle 1435"/>
              <p:cNvSpPr>
                <a:spLocks noChangeArrowheads="1"/>
              </p:cNvSpPr>
              <p:nvPr/>
            </p:nvSpPr>
            <p:spPr bwMode="auto">
              <a:xfrm>
                <a:off x="4354513" y="5754050"/>
                <a:ext cx="98425"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11" name="Rectangle 1436"/>
              <p:cNvSpPr>
                <a:spLocks noChangeArrowheads="1"/>
              </p:cNvSpPr>
              <p:nvPr/>
            </p:nvSpPr>
            <p:spPr bwMode="auto">
              <a:xfrm>
                <a:off x="4452938" y="5754050"/>
                <a:ext cx="103188"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212" name="Line 1437"/>
              <p:cNvSpPr>
                <a:spLocks noChangeShapeType="1"/>
              </p:cNvSpPr>
              <p:nvPr/>
            </p:nvSpPr>
            <p:spPr bwMode="auto">
              <a:xfrm flipV="1">
                <a:off x="4556126" y="43761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13" name="Line 1438"/>
              <p:cNvSpPr>
                <a:spLocks noChangeShapeType="1"/>
              </p:cNvSpPr>
              <p:nvPr/>
            </p:nvSpPr>
            <p:spPr bwMode="auto">
              <a:xfrm flipH="1">
                <a:off x="4556126" y="4463413"/>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14" name="Freeform 1439"/>
              <p:cNvSpPr>
                <a:spLocks/>
              </p:cNvSpPr>
              <p:nvPr/>
            </p:nvSpPr>
            <p:spPr bwMode="auto">
              <a:xfrm>
                <a:off x="4556126" y="4376100"/>
                <a:ext cx="96838" cy="1463675"/>
              </a:xfrm>
              <a:custGeom>
                <a:avLst/>
                <a:gdLst>
                  <a:gd name="T0" fmla="*/ 0 w 184"/>
                  <a:gd name="T1" fmla="*/ 0 h 2765"/>
                  <a:gd name="T2" fmla="*/ 180 w 184"/>
                  <a:gd name="T3" fmla="*/ 0 h 2765"/>
                  <a:gd name="T4" fmla="*/ 181 w 184"/>
                  <a:gd name="T5" fmla="*/ 141 h 2765"/>
                  <a:gd name="T6" fmla="*/ 184 w 184"/>
                  <a:gd name="T7" fmla="*/ 1384 h 2765"/>
                  <a:gd name="T8" fmla="*/ 181 w 184"/>
                  <a:gd name="T9" fmla="*/ 2628 h 2765"/>
                  <a:gd name="T10" fmla="*/ 180 w 184"/>
                  <a:gd name="T11" fmla="*/ 2765 h 2765"/>
                  <a:gd name="T12" fmla="*/ 0 w 184"/>
                  <a:gd name="T13" fmla="*/ 2765 h 2765"/>
                </a:gdLst>
                <a:ahLst/>
                <a:cxnLst>
                  <a:cxn ang="0">
                    <a:pos x="T0" y="T1"/>
                  </a:cxn>
                  <a:cxn ang="0">
                    <a:pos x="T2" y="T3"/>
                  </a:cxn>
                  <a:cxn ang="0">
                    <a:pos x="T4" y="T5"/>
                  </a:cxn>
                  <a:cxn ang="0">
                    <a:pos x="T6" y="T7"/>
                  </a:cxn>
                  <a:cxn ang="0">
                    <a:pos x="T8" y="T9"/>
                  </a:cxn>
                  <a:cxn ang="0">
                    <a:pos x="T10" y="T11"/>
                  </a:cxn>
                  <a:cxn ang="0">
                    <a:pos x="T12" y="T13"/>
                  </a:cxn>
                </a:cxnLst>
                <a:rect l="0" t="0" r="r" b="b"/>
                <a:pathLst>
                  <a:path w="184" h="2765">
                    <a:moveTo>
                      <a:pt x="0" y="0"/>
                    </a:moveTo>
                    <a:lnTo>
                      <a:pt x="180" y="0"/>
                    </a:lnTo>
                    <a:lnTo>
                      <a:pt x="181" y="141"/>
                    </a:lnTo>
                    <a:lnTo>
                      <a:pt x="184" y="1384"/>
                    </a:lnTo>
                    <a:lnTo>
                      <a:pt x="181" y="2628"/>
                    </a:lnTo>
                    <a:lnTo>
                      <a:pt x="180" y="2765"/>
                    </a:lnTo>
                    <a:lnTo>
                      <a:pt x="0" y="2765"/>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215" name="Line 1440"/>
              <p:cNvSpPr>
                <a:spLocks noChangeShapeType="1"/>
              </p:cNvSpPr>
              <p:nvPr/>
            </p:nvSpPr>
            <p:spPr bwMode="auto">
              <a:xfrm flipH="1">
                <a:off x="4354513" y="4463413"/>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16" name="Line 1441"/>
              <p:cNvSpPr>
                <a:spLocks noChangeShapeType="1"/>
              </p:cNvSpPr>
              <p:nvPr/>
            </p:nvSpPr>
            <p:spPr bwMode="auto">
              <a:xfrm>
                <a:off x="4452938" y="43761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17" name="Freeform 1442"/>
              <p:cNvSpPr>
                <a:spLocks/>
              </p:cNvSpPr>
              <p:nvPr/>
            </p:nvSpPr>
            <p:spPr bwMode="auto">
              <a:xfrm>
                <a:off x="4354513" y="4376100"/>
                <a:ext cx="98425" cy="87313"/>
              </a:xfrm>
              <a:custGeom>
                <a:avLst/>
                <a:gdLst>
                  <a:gd name="T0" fmla="*/ 0 w 186"/>
                  <a:gd name="T1" fmla="*/ 163 h 163"/>
                  <a:gd name="T2" fmla="*/ 0 w 186"/>
                  <a:gd name="T3" fmla="*/ 0 h 163"/>
                  <a:gd name="T4" fmla="*/ 186 w 186"/>
                  <a:gd name="T5" fmla="*/ 0 h 163"/>
                </a:gdLst>
                <a:ahLst/>
                <a:cxnLst>
                  <a:cxn ang="0">
                    <a:pos x="T0" y="T1"/>
                  </a:cxn>
                  <a:cxn ang="0">
                    <a:pos x="T2" y="T3"/>
                  </a:cxn>
                  <a:cxn ang="0">
                    <a:pos x="T4" y="T5"/>
                  </a:cxn>
                </a:cxnLst>
                <a:rect l="0" t="0" r="r" b="b"/>
                <a:pathLst>
                  <a:path w="186" h="163">
                    <a:moveTo>
                      <a:pt x="0" y="163"/>
                    </a:moveTo>
                    <a:lnTo>
                      <a:pt x="0" y="0"/>
                    </a:lnTo>
                    <a:lnTo>
                      <a:pt x="186"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218" name="Line 1443"/>
              <p:cNvSpPr>
                <a:spLocks noChangeShapeType="1"/>
              </p:cNvSpPr>
              <p:nvPr/>
            </p:nvSpPr>
            <p:spPr bwMode="auto">
              <a:xfrm flipV="1">
                <a:off x="4452938"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19" name="Line 1444"/>
              <p:cNvSpPr>
                <a:spLocks noChangeShapeType="1"/>
              </p:cNvSpPr>
              <p:nvPr/>
            </p:nvSpPr>
            <p:spPr bwMode="auto">
              <a:xfrm flipV="1">
                <a:off x="4354513"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0" name="Line 1445"/>
              <p:cNvSpPr>
                <a:spLocks noChangeShapeType="1"/>
              </p:cNvSpPr>
              <p:nvPr/>
            </p:nvSpPr>
            <p:spPr bwMode="auto">
              <a:xfrm>
                <a:off x="4354513"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1" name="Line 1446"/>
              <p:cNvSpPr>
                <a:spLocks noChangeShapeType="1"/>
              </p:cNvSpPr>
              <p:nvPr/>
            </p:nvSpPr>
            <p:spPr bwMode="auto">
              <a:xfrm flipV="1">
                <a:off x="4452938"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2" name="Line 1447"/>
              <p:cNvSpPr>
                <a:spLocks noChangeShapeType="1"/>
              </p:cNvSpPr>
              <p:nvPr/>
            </p:nvSpPr>
            <p:spPr bwMode="auto">
              <a:xfrm>
                <a:off x="4354513" y="4807900"/>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3" name="Line 1448"/>
              <p:cNvSpPr>
                <a:spLocks noChangeShapeType="1"/>
              </p:cNvSpPr>
              <p:nvPr/>
            </p:nvSpPr>
            <p:spPr bwMode="auto">
              <a:xfrm flipH="1">
                <a:off x="4354513" y="4634863"/>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4" name="Line 1449"/>
              <p:cNvSpPr>
                <a:spLocks noChangeShapeType="1"/>
              </p:cNvSpPr>
              <p:nvPr/>
            </p:nvSpPr>
            <p:spPr bwMode="auto">
              <a:xfrm>
                <a:off x="4354513"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5" name="Line 1450"/>
              <p:cNvSpPr>
                <a:spLocks noChangeShapeType="1"/>
              </p:cNvSpPr>
              <p:nvPr/>
            </p:nvSpPr>
            <p:spPr bwMode="auto">
              <a:xfrm flipV="1">
                <a:off x="4452938"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6" name="Line 1451"/>
              <p:cNvSpPr>
                <a:spLocks noChangeShapeType="1"/>
              </p:cNvSpPr>
              <p:nvPr/>
            </p:nvSpPr>
            <p:spPr bwMode="auto">
              <a:xfrm flipH="1">
                <a:off x="4354513" y="4549138"/>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7" name="Line 1452"/>
              <p:cNvSpPr>
                <a:spLocks noChangeShapeType="1"/>
              </p:cNvSpPr>
              <p:nvPr/>
            </p:nvSpPr>
            <p:spPr bwMode="auto">
              <a:xfrm flipH="1">
                <a:off x="4354513" y="4720588"/>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8" name="Line 1453"/>
              <p:cNvSpPr>
                <a:spLocks noChangeShapeType="1"/>
              </p:cNvSpPr>
              <p:nvPr/>
            </p:nvSpPr>
            <p:spPr bwMode="auto">
              <a:xfrm>
                <a:off x="4556126"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29" name="Line 1454"/>
              <p:cNvSpPr>
                <a:spLocks noChangeShapeType="1"/>
              </p:cNvSpPr>
              <p:nvPr/>
            </p:nvSpPr>
            <p:spPr bwMode="auto">
              <a:xfrm>
                <a:off x="4556126" y="4549138"/>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0" name="Line 1455"/>
              <p:cNvSpPr>
                <a:spLocks noChangeShapeType="1"/>
              </p:cNvSpPr>
              <p:nvPr/>
            </p:nvSpPr>
            <p:spPr bwMode="auto">
              <a:xfrm flipH="1">
                <a:off x="4556126" y="4634863"/>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1" name="Line 1456"/>
              <p:cNvSpPr>
                <a:spLocks noChangeShapeType="1"/>
              </p:cNvSpPr>
              <p:nvPr/>
            </p:nvSpPr>
            <p:spPr bwMode="auto">
              <a:xfrm>
                <a:off x="4556126"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2" name="Line 1457"/>
              <p:cNvSpPr>
                <a:spLocks noChangeShapeType="1"/>
              </p:cNvSpPr>
              <p:nvPr/>
            </p:nvSpPr>
            <p:spPr bwMode="auto">
              <a:xfrm>
                <a:off x="4556126" y="4720588"/>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3" name="Line 1458"/>
              <p:cNvSpPr>
                <a:spLocks noChangeShapeType="1"/>
              </p:cNvSpPr>
              <p:nvPr/>
            </p:nvSpPr>
            <p:spPr bwMode="auto">
              <a:xfrm>
                <a:off x="4556126" y="4807900"/>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4" name="Line 1459"/>
              <p:cNvSpPr>
                <a:spLocks noChangeShapeType="1"/>
              </p:cNvSpPr>
              <p:nvPr/>
            </p:nvSpPr>
            <p:spPr bwMode="auto">
              <a:xfrm>
                <a:off x="4556126"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5" name="Line 1460"/>
              <p:cNvSpPr>
                <a:spLocks noChangeShapeType="1"/>
              </p:cNvSpPr>
              <p:nvPr/>
            </p:nvSpPr>
            <p:spPr bwMode="auto">
              <a:xfrm flipV="1">
                <a:off x="4354513"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6" name="Line 1461"/>
              <p:cNvSpPr>
                <a:spLocks noChangeShapeType="1"/>
              </p:cNvSpPr>
              <p:nvPr/>
            </p:nvSpPr>
            <p:spPr bwMode="auto">
              <a:xfrm>
                <a:off x="4556126"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7" name="Line 1462"/>
              <p:cNvSpPr>
                <a:spLocks noChangeShapeType="1"/>
              </p:cNvSpPr>
              <p:nvPr/>
            </p:nvSpPr>
            <p:spPr bwMode="auto">
              <a:xfrm>
                <a:off x="4452938" y="4463413"/>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8" name="Line 1463"/>
              <p:cNvSpPr>
                <a:spLocks noChangeShapeType="1"/>
              </p:cNvSpPr>
              <p:nvPr/>
            </p:nvSpPr>
            <p:spPr bwMode="auto">
              <a:xfrm>
                <a:off x="4452938" y="4376100"/>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39" name="Line 1464"/>
              <p:cNvSpPr>
                <a:spLocks noChangeShapeType="1"/>
              </p:cNvSpPr>
              <p:nvPr/>
            </p:nvSpPr>
            <p:spPr bwMode="auto">
              <a:xfrm>
                <a:off x="4452938"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0" name="Line 1465"/>
              <p:cNvSpPr>
                <a:spLocks noChangeShapeType="1"/>
              </p:cNvSpPr>
              <p:nvPr/>
            </p:nvSpPr>
            <p:spPr bwMode="auto">
              <a:xfrm>
                <a:off x="4452938" y="4720588"/>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1" name="Line 1466"/>
              <p:cNvSpPr>
                <a:spLocks noChangeShapeType="1"/>
              </p:cNvSpPr>
              <p:nvPr/>
            </p:nvSpPr>
            <p:spPr bwMode="auto">
              <a:xfrm flipH="1">
                <a:off x="4452938" y="4807900"/>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2" name="Line 1467"/>
              <p:cNvSpPr>
                <a:spLocks noChangeShapeType="1"/>
              </p:cNvSpPr>
              <p:nvPr/>
            </p:nvSpPr>
            <p:spPr bwMode="auto">
              <a:xfrm>
                <a:off x="4452938" y="4549138"/>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3" name="Line 1468"/>
              <p:cNvSpPr>
                <a:spLocks noChangeShapeType="1"/>
              </p:cNvSpPr>
              <p:nvPr/>
            </p:nvSpPr>
            <p:spPr bwMode="auto">
              <a:xfrm flipH="1">
                <a:off x="4452938" y="4634863"/>
                <a:ext cx="103188"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4" name="Line 1469"/>
              <p:cNvSpPr>
                <a:spLocks noChangeShapeType="1"/>
              </p:cNvSpPr>
              <p:nvPr/>
            </p:nvSpPr>
            <p:spPr bwMode="auto">
              <a:xfrm flipH="1">
                <a:off x="4556126" y="4893625"/>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5" name="Line 1470"/>
              <p:cNvSpPr>
                <a:spLocks noChangeShapeType="1"/>
              </p:cNvSpPr>
              <p:nvPr/>
            </p:nvSpPr>
            <p:spPr bwMode="auto">
              <a:xfrm flipV="1">
                <a:off x="4556126"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6" name="Line 1471"/>
              <p:cNvSpPr>
                <a:spLocks noChangeShapeType="1"/>
              </p:cNvSpPr>
              <p:nvPr/>
            </p:nvSpPr>
            <p:spPr bwMode="auto">
              <a:xfrm flipH="1">
                <a:off x="4556126" y="5065075"/>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7" name="Line 1472"/>
              <p:cNvSpPr>
                <a:spLocks noChangeShapeType="1"/>
              </p:cNvSpPr>
              <p:nvPr/>
            </p:nvSpPr>
            <p:spPr bwMode="auto">
              <a:xfrm>
                <a:off x="4556126" y="4979350"/>
                <a:ext cx="9525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8" name="Line 1473"/>
              <p:cNvSpPr>
                <a:spLocks noChangeShapeType="1"/>
              </p:cNvSpPr>
              <p:nvPr/>
            </p:nvSpPr>
            <p:spPr bwMode="auto">
              <a:xfrm>
                <a:off x="4556126"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49" name="Line 1474"/>
              <p:cNvSpPr>
                <a:spLocks noChangeShapeType="1"/>
              </p:cNvSpPr>
              <p:nvPr/>
            </p:nvSpPr>
            <p:spPr bwMode="auto">
              <a:xfrm flipV="1">
                <a:off x="4452938"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0" name="Line 1475"/>
              <p:cNvSpPr>
                <a:spLocks noChangeShapeType="1"/>
              </p:cNvSpPr>
              <p:nvPr/>
            </p:nvSpPr>
            <p:spPr bwMode="auto">
              <a:xfrm>
                <a:off x="4354513" y="5065075"/>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1" name="Line 1476"/>
              <p:cNvSpPr>
                <a:spLocks noChangeShapeType="1"/>
              </p:cNvSpPr>
              <p:nvPr/>
            </p:nvSpPr>
            <p:spPr bwMode="auto">
              <a:xfrm flipH="1">
                <a:off x="4354513" y="4979350"/>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2" name="Line 1477"/>
              <p:cNvSpPr>
                <a:spLocks noChangeShapeType="1"/>
              </p:cNvSpPr>
              <p:nvPr/>
            </p:nvSpPr>
            <p:spPr bwMode="auto">
              <a:xfrm>
                <a:off x="4354513"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nvGrpSpPr>
              <p:cNvPr id="2253" name="Group 1478"/>
              <p:cNvGrpSpPr>
                <a:grpSpLocks/>
              </p:cNvGrpSpPr>
              <p:nvPr/>
            </p:nvGrpSpPr>
            <p:grpSpPr bwMode="auto">
              <a:xfrm>
                <a:off x="4354513" y="4376100"/>
                <a:ext cx="719138" cy="1463675"/>
                <a:chOff x="2743" y="2954"/>
                <a:chExt cx="453" cy="922"/>
              </a:xfrm>
            </p:grpSpPr>
            <p:sp>
              <p:nvSpPr>
                <p:cNvPr id="2268" name="Line 1479"/>
                <p:cNvSpPr>
                  <a:spLocks noChangeShapeType="1"/>
                </p:cNvSpPr>
                <p:nvPr/>
              </p:nvSpPr>
              <p:spPr bwMode="auto">
                <a:xfrm>
                  <a:off x="2743" y="333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9" name="Line 1480"/>
                <p:cNvSpPr>
                  <a:spLocks noChangeShapeType="1"/>
                </p:cNvSpPr>
                <p:nvPr/>
              </p:nvSpPr>
              <p:spPr bwMode="auto">
                <a:xfrm flipV="1">
                  <a:off x="2805" y="328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0" name="Line 1481"/>
                <p:cNvSpPr>
                  <a:spLocks noChangeShapeType="1"/>
                </p:cNvSpPr>
                <p:nvPr/>
              </p:nvSpPr>
              <p:spPr bwMode="auto">
                <a:xfrm flipH="1">
                  <a:off x="2743" y="3280"/>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1" name="Line 1482"/>
                <p:cNvSpPr>
                  <a:spLocks noChangeShapeType="1"/>
                </p:cNvSpPr>
                <p:nvPr/>
              </p:nvSpPr>
              <p:spPr bwMode="auto">
                <a:xfrm flipV="1">
                  <a:off x="2805"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2" name="Line 1483"/>
                <p:cNvSpPr>
                  <a:spLocks noChangeShapeType="1"/>
                </p:cNvSpPr>
                <p:nvPr/>
              </p:nvSpPr>
              <p:spPr bwMode="auto">
                <a:xfrm>
                  <a:off x="2743"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3" name="Line 1484"/>
                <p:cNvSpPr>
                  <a:spLocks noChangeShapeType="1"/>
                </p:cNvSpPr>
                <p:nvPr/>
              </p:nvSpPr>
              <p:spPr bwMode="auto">
                <a:xfrm>
                  <a:off x="2743"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4" name="Line 1485"/>
                <p:cNvSpPr>
                  <a:spLocks noChangeShapeType="1"/>
                </p:cNvSpPr>
                <p:nvPr/>
              </p:nvSpPr>
              <p:spPr bwMode="auto">
                <a:xfrm flipV="1">
                  <a:off x="2805"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5" name="Line 1486"/>
                <p:cNvSpPr>
                  <a:spLocks noChangeShapeType="1"/>
                </p:cNvSpPr>
                <p:nvPr/>
              </p:nvSpPr>
              <p:spPr bwMode="auto">
                <a:xfrm flipH="1">
                  <a:off x="2743" y="3605"/>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6" name="Line 1487"/>
                <p:cNvSpPr>
                  <a:spLocks noChangeShapeType="1"/>
                </p:cNvSpPr>
                <p:nvPr/>
              </p:nvSpPr>
              <p:spPr bwMode="auto">
                <a:xfrm>
                  <a:off x="2743"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7" name="Line 1488"/>
                <p:cNvSpPr>
                  <a:spLocks noChangeShapeType="1"/>
                </p:cNvSpPr>
                <p:nvPr/>
              </p:nvSpPr>
              <p:spPr bwMode="auto">
                <a:xfrm flipH="1">
                  <a:off x="2743" y="3442"/>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8" name="Line 1489"/>
                <p:cNvSpPr>
                  <a:spLocks noChangeShapeType="1"/>
                </p:cNvSpPr>
                <p:nvPr/>
              </p:nvSpPr>
              <p:spPr bwMode="auto">
                <a:xfrm>
                  <a:off x="2743" y="3551"/>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79" name="Line 1490"/>
                <p:cNvSpPr>
                  <a:spLocks noChangeShapeType="1"/>
                </p:cNvSpPr>
                <p:nvPr/>
              </p:nvSpPr>
              <p:spPr bwMode="auto">
                <a:xfrm flipH="1">
                  <a:off x="2743" y="3497"/>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0" name="Line 1491"/>
                <p:cNvSpPr>
                  <a:spLocks noChangeShapeType="1"/>
                </p:cNvSpPr>
                <p:nvPr/>
              </p:nvSpPr>
              <p:spPr bwMode="auto">
                <a:xfrm flipV="1">
                  <a:off x="2805"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1" name="Line 1492"/>
                <p:cNvSpPr>
                  <a:spLocks noChangeShapeType="1"/>
                </p:cNvSpPr>
                <p:nvPr/>
              </p:nvSpPr>
              <p:spPr bwMode="auto">
                <a:xfrm>
                  <a:off x="2870"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2" name="Line 1493"/>
                <p:cNvSpPr>
                  <a:spLocks noChangeShapeType="1"/>
                </p:cNvSpPr>
                <p:nvPr/>
              </p:nvSpPr>
              <p:spPr bwMode="auto">
                <a:xfrm>
                  <a:off x="2870" y="3442"/>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3" name="Line 1494"/>
                <p:cNvSpPr>
                  <a:spLocks noChangeShapeType="1"/>
                </p:cNvSpPr>
                <p:nvPr/>
              </p:nvSpPr>
              <p:spPr bwMode="auto">
                <a:xfrm>
                  <a:off x="2870" y="3497"/>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4" name="Line 1495"/>
                <p:cNvSpPr>
                  <a:spLocks noChangeShapeType="1"/>
                </p:cNvSpPr>
                <p:nvPr/>
              </p:nvSpPr>
              <p:spPr bwMode="auto">
                <a:xfrm>
                  <a:off x="2870" y="3605"/>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5" name="Line 1496"/>
                <p:cNvSpPr>
                  <a:spLocks noChangeShapeType="1"/>
                </p:cNvSpPr>
                <p:nvPr/>
              </p:nvSpPr>
              <p:spPr bwMode="auto">
                <a:xfrm>
                  <a:off x="2870"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6" name="Line 1497"/>
                <p:cNvSpPr>
                  <a:spLocks noChangeShapeType="1"/>
                </p:cNvSpPr>
                <p:nvPr/>
              </p:nvSpPr>
              <p:spPr bwMode="auto">
                <a:xfrm flipH="1">
                  <a:off x="2870" y="3551"/>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7" name="Line 1498"/>
                <p:cNvSpPr>
                  <a:spLocks noChangeShapeType="1"/>
                </p:cNvSpPr>
                <p:nvPr/>
              </p:nvSpPr>
              <p:spPr bwMode="auto">
                <a:xfrm flipV="1">
                  <a:off x="2870"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8" name="Line 1499"/>
                <p:cNvSpPr>
                  <a:spLocks noChangeShapeType="1"/>
                </p:cNvSpPr>
                <p:nvPr/>
              </p:nvSpPr>
              <p:spPr bwMode="auto">
                <a:xfrm flipV="1">
                  <a:off x="2870"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89" name="Line 1500"/>
                <p:cNvSpPr>
                  <a:spLocks noChangeShapeType="1"/>
                </p:cNvSpPr>
                <p:nvPr/>
              </p:nvSpPr>
              <p:spPr bwMode="auto">
                <a:xfrm>
                  <a:off x="2805" y="3551"/>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0" name="Line 1501"/>
                <p:cNvSpPr>
                  <a:spLocks noChangeShapeType="1"/>
                </p:cNvSpPr>
                <p:nvPr/>
              </p:nvSpPr>
              <p:spPr bwMode="auto">
                <a:xfrm flipH="1">
                  <a:off x="2805" y="3605"/>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1" name="Line 1502"/>
                <p:cNvSpPr>
                  <a:spLocks noChangeShapeType="1"/>
                </p:cNvSpPr>
                <p:nvPr/>
              </p:nvSpPr>
              <p:spPr bwMode="auto">
                <a:xfrm>
                  <a:off x="2805" y="3442"/>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2" name="Line 1503"/>
                <p:cNvSpPr>
                  <a:spLocks noChangeShapeType="1"/>
                </p:cNvSpPr>
                <p:nvPr/>
              </p:nvSpPr>
              <p:spPr bwMode="auto">
                <a:xfrm flipH="1">
                  <a:off x="2805" y="3497"/>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3" name="Line 1504"/>
                <p:cNvSpPr>
                  <a:spLocks noChangeShapeType="1"/>
                </p:cNvSpPr>
                <p:nvPr/>
              </p:nvSpPr>
              <p:spPr bwMode="auto">
                <a:xfrm flipH="1">
                  <a:off x="2805" y="3388"/>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4" name="Line 1505"/>
                <p:cNvSpPr>
                  <a:spLocks noChangeShapeType="1"/>
                </p:cNvSpPr>
                <p:nvPr/>
              </p:nvSpPr>
              <p:spPr bwMode="auto">
                <a:xfrm>
                  <a:off x="2805"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5" name="Line 1506"/>
                <p:cNvSpPr>
                  <a:spLocks noChangeShapeType="1"/>
                </p:cNvSpPr>
                <p:nvPr/>
              </p:nvSpPr>
              <p:spPr bwMode="auto">
                <a:xfrm>
                  <a:off x="2743"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6" name="Line 1507"/>
                <p:cNvSpPr>
                  <a:spLocks noChangeShapeType="1"/>
                </p:cNvSpPr>
                <p:nvPr/>
              </p:nvSpPr>
              <p:spPr bwMode="auto">
                <a:xfrm flipH="1">
                  <a:off x="2805" y="3334"/>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7" name="Line 1508"/>
                <p:cNvSpPr>
                  <a:spLocks noChangeShapeType="1"/>
                </p:cNvSpPr>
                <p:nvPr/>
              </p:nvSpPr>
              <p:spPr bwMode="auto">
                <a:xfrm>
                  <a:off x="2805" y="3280"/>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8" name="Line 1509"/>
                <p:cNvSpPr>
                  <a:spLocks noChangeShapeType="1"/>
                </p:cNvSpPr>
                <p:nvPr/>
              </p:nvSpPr>
              <p:spPr bwMode="auto">
                <a:xfrm flipH="1">
                  <a:off x="2870" y="3714"/>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99" name="Line 1510"/>
                <p:cNvSpPr>
                  <a:spLocks noChangeShapeType="1"/>
                </p:cNvSpPr>
                <p:nvPr/>
              </p:nvSpPr>
              <p:spPr bwMode="auto">
                <a:xfrm flipV="1">
                  <a:off x="2870"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0" name="Line 1511"/>
                <p:cNvSpPr>
                  <a:spLocks noChangeShapeType="1"/>
                </p:cNvSpPr>
                <p:nvPr/>
              </p:nvSpPr>
              <p:spPr bwMode="auto">
                <a:xfrm flipH="1">
                  <a:off x="2870" y="3660"/>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1" name="Line 1512"/>
                <p:cNvSpPr>
                  <a:spLocks noChangeShapeType="1"/>
                </p:cNvSpPr>
                <p:nvPr/>
              </p:nvSpPr>
              <p:spPr bwMode="auto">
                <a:xfrm flipH="1">
                  <a:off x="2870" y="3822"/>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2" name="Line 1513"/>
                <p:cNvSpPr>
                  <a:spLocks noChangeShapeType="1"/>
                </p:cNvSpPr>
                <p:nvPr/>
              </p:nvSpPr>
              <p:spPr bwMode="auto">
                <a:xfrm flipV="1">
                  <a:off x="2870"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3" name="Line 1514"/>
                <p:cNvSpPr>
                  <a:spLocks noChangeShapeType="1"/>
                </p:cNvSpPr>
                <p:nvPr/>
              </p:nvSpPr>
              <p:spPr bwMode="auto">
                <a:xfrm>
                  <a:off x="2870" y="3768"/>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4" name="Line 1515"/>
                <p:cNvSpPr>
                  <a:spLocks noChangeShapeType="1"/>
                </p:cNvSpPr>
                <p:nvPr/>
              </p:nvSpPr>
              <p:spPr bwMode="auto">
                <a:xfrm flipV="1">
                  <a:off x="2870"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5" name="Line 1516"/>
                <p:cNvSpPr>
                  <a:spLocks noChangeShapeType="1"/>
                </p:cNvSpPr>
                <p:nvPr/>
              </p:nvSpPr>
              <p:spPr bwMode="auto">
                <a:xfrm>
                  <a:off x="2805"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6" name="Line 1517"/>
                <p:cNvSpPr>
                  <a:spLocks noChangeShapeType="1"/>
                </p:cNvSpPr>
                <p:nvPr/>
              </p:nvSpPr>
              <p:spPr bwMode="auto">
                <a:xfrm flipV="1">
                  <a:off x="2743"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7" name="Line 1518"/>
                <p:cNvSpPr>
                  <a:spLocks noChangeShapeType="1"/>
                </p:cNvSpPr>
                <p:nvPr/>
              </p:nvSpPr>
              <p:spPr bwMode="auto">
                <a:xfrm>
                  <a:off x="2743"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8" name="Line 1519"/>
                <p:cNvSpPr>
                  <a:spLocks noChangeShapeType="1"/>
                </p:cNvSpPr>
                <p:nvPr/>
              </p:nvSpPr>
              <p:spPr bwMode="auto">
                <a:xfrm>
                  <a:off x="2805"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09" name="Line 1520"/>
                <p:cNvSpPr>
                  <a:spLocks noChangeShapeType="1"/>
                </p:cNvSpPr>
                <p:nvPr/>
              </p:nvSpPr>
              <p:spPr bwMode="auto">
                <a:xfrm flipV="1">
                  <a:off x="2805"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0" name="Line 1521"/>
                <p:cNvSpPr>
                  <a:spLocks noChangeShapeType="1"/>
                </p:cNvSpPr>
                <p:nvPr/>
              </p:nvSpPr>
              <p:spPr bwMode="auto">
                <a:xfrm>
                  <a:off x="2743" y="3660"/>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1" name="Line 1522"/>
                <p:cNvSpPr>
                  <a:spLocks noChangeShapeType="1"/>
                </p:cNvSpPr>
                <p:nvPr/>
              </p:nvSpPr>
              <p:spPr bwMode="auto">
                <a:xfrm flipH="1">
                  <a:off x="2743" y="3714"/>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2" name="Line 1523"/>
                <p:cNvSpPr>
                  <a:spLocks noChangeShapeType="1"/>
                </p:cNvSpPr>
                <p:nvPr/>
              </p:nvSpPr>
              <p:spPr bwMode="auto">
                <a:xfrm>
                  <a:off x="2743"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3" name="Line 1524"/>
                <p:cNvSpPr>
                  <a:spLocks noChangeShapeType="1"/>
                </p:cNvSpPr>
                <p:nvPr/>
              </p:nvSpPr>
              <p:spPr bwMode="auto">
                <a:xfrm flipH="1">
                  <a:off x="2743" y="3822"/>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4" name="Line 1525"/>
                <p:cNvSpPr>
                  <a:spLocks noChangeShapeType="1"/>
                </p:cNvSpPr>
                <p:nvPr/>
              </p:nvSpPr>
              <p:spPr bwMode="auto">
                <a:xfrm>
                  <a:off x="2743" y="3768"/>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5" name="Freeform 1526"/>
                <p:cNvSpPr>
                  <a:spLocks/>
                </p:cNvSpPr>
                <p:nvPr/>
              </p:nvSpPr>
              <p:spPr bwMode="auto">
                <a:xfrm>
                  <a:off x="2743" y="3822"/>
                  <a:ext cx="62" cy="54"/>
                </a:xfrm>
                <a:custGeom>
                  <a:avLst/>
                  <a:gdLst>
                    <a:gd name="T0" fmla="*/ 0 w 186"/>
                    <a:gd name="T1" fmla="*/ 0 h 162"/>
                    <a:gd name="T2" fmla="*/ 0 w 186"/>
                    <a:gd name="T3" fmla="*/ 162 h 162"/>
                    <a:gd name="T4" fmla="*/ 186 w 186"/>
                    <a:gd name="T5" fmla="*/ 162 h 162"/>
                  </a:gdLst>
                  <a:ahLst/>
                  <a:cxnLst>
                    <a:cxn ang="0">
                      <a:pos x="T0" y="T1"/>
                    </a:cxn>
                    <a:cxn ang="0">
                      <a:pos x="T2" y="T3"/>
                    </a:cxn>
                    <a:cxn ang="0">
                      <a:pos x="T4" y="T5"/>
                    </a:cxn>
                  </a:cxnLst>
                  <a:rect l="0" t="0" r="r" b="b"/>
                  <a:pathLst>
                    <a:path w="186" h="162">
                      <a:moveTo>
                        <a:pt x="0" y="0"/>
                      </a:moveTo>
                      <a:lnTo>
                        <a:pt x="0" y="162"/>
                      </a:lnTo>
                      <a:lnTo>
                        <a:pt x="186" y="162"/>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316" name="Line 1527"/>
                <p:cNvSpPr>
                  <a:spLocks noChangeShapeType="1"/>
                </p:cNvSpPr>
                <p:nvPr/>
              </p:nvSpPr>
              <p:spPr bwMode="auto">
                <a:xfrm>
                  <a:off x="2805" y="3714"/>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7" name="Line 1528"/>
                <p:cNvSpPr>
                  <a:spLocks noChangeShapeType="1"/>
                </p:cNvSpPr>
                <p:nvPr/>
              </p:nvSpPr>
              <p:spPr bwMode="auto">
                <a:xfrm>
                  <a:off x="2805" y="3660"/>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8" name="Line 1529"/>
                <p:cNvSpPr>
                  <a:spLocks noChangeShapeType="1"/>
                </p:cNvSpPr>
                <p:nvPr/>
              </p:nvSpPr>
              <p:spPr bwMode="auto">
                <a:xfrm flipH="1">
                  <a:off x="2805" y="3876"/>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19" name="Line 1530"/>
                <p:cNvSpPr>
                  <a:spLocks noChangeShapeType="1"/>
                </p:cNvSpPr>
                <p:nvPr/>
              </p:nvSpPr>
              <p:spPr bwMode="auto">
                <a:xfrm flipV="1">
                  <a:off x="2805" y="3822"/>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0" name="Line 1531"/>
                <p:cNvSpPr>
                  <a:spLocks noChangeShapeType="1"/>
                </p:cNvSpPr>
                <p:nvPr/>
              </p:nvSpPr>
              <p:spPr bwMode="auto">
                <a:xfrm>
                  <a:off x="2805" y="3822"/>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1" name="Line 1532"/>
                <p:cNvSpPr>
                  <a:spLocks noChangeShapeType="1"/>
                </p:cNvSpPr>
                <p:nvPr/>
              </p:nvSpPr>
              <p:spPr bwMode="auto">
                <a:xfrm flipV="1">
                  <a:off x="2870" y="3822"/>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2" name="Line 1533"/>
                <p:cNvSpPr>
                  <a:spLocks noChangeShapeType="1"/>
                </p:cNvSpPr>
                <p:nvPr/>
              </p:nvSpPr>
              <p:spPr bwMode="auto">
                <a:xfrm flipH="1">
                  <a:off x="2805" y="3768"/>
                  <a:ext cx="6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3" name="Line 1534"/>
                <p:cNvSpPr>
                  <a:spLocks noChangeShapeType="1"/>
                </p:cNvSpPr>
                <p:nvPr/>
              </p:nvSpPr>
              <p:spPr bwMode="auto">
                <a:xfrm>
                  <a:off x="2805" y="3605"/>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4" name="Line 1535"/>
                <p:cNvSpPr>
                  <a:spLocks noChangeShapeType="1"/>
                </p:cNvSpPr>
                <p:nvPr/>
              </p:nvSpPr>
              <p:spPr bwMode="auto">
                <a:xfrm flipV="1">
                  <a:off x="2870" y="3605"/>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5" name="Line 1536"/>
                <p:cNvSpPr>
                  <a:spLocks noChangeShapeType="1"/>
                </p:cNvSpPr>
                <p:nvPr/>
              </p:nvSpPr>
              <p:spPr bwMode="auto">
                <a:xfrm>
                  <a:off x="2743" y="3605"/>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6" name="Line 1537"/>
                <p:cNvSpPr>
                  <a:spLocks noChangeShapeType="1"/>
                </p:cNvSpPr>
                <p:nvPr/>
              </p:nvSpPr>
              <p:spPr bwMode="auto">
                <a:xfrm flipV="1">
                  <a:off x="2870" y="3226"/>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7" name="Line 1538"/>
                <p:cNvSpPr>
                  <a:spLocks noChangeShapeType="1"/>
                </p:cNvSpPr>
                <p:nvPr/>
              </p:nvSpPr>
              <p:spPr bwMode="auto">
                <a:xfrm flipV="1">
                  <a:off x="2743" y="3226"/>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8" name="Line 1539"/>
                <p:cNvSpPr>
                  <a:spLocks noChangeShapeType="1"/>
                </p:cNvSpPr>
                <p:nvPr/>
              </p:nvSpPr>
              <p:spPr bwMode="auto">
                <a:xfrm>
                  <a:off x="2805" y="3226"/>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29" name="Rectangle 1540"/>
                <p:cNvSpPr>
                  <a:spLocks noChangeArrowheads="1"/>
                </p:cNvSpPr>
                <p:nvPr/>
              </p:nvSpPr>
              <p:spPr bwMode="auto">
                <a:xfrm>
                  <a:off x="3008" y="3063"/>
                  <a:ext cx="62"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0" name="Rectangle 1541"/>
                <p:cNvSpPr>
                  <a:spLocks noChangeArrowheads="1"/>
                </p:cNvSpPr>
                <p:nvPr/>
              </p:nvSpPr>
              <p:spPr bwMode="auto">
                <a:xfrm>
                  <a:off x="3008" y="3117"/>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1" name="Rectangle 1542"/>
                <p:cNvSpPr>
                  <a:spLocks noChangeArrowheads="1"/>
                </p:cNvSpPr>
                <p:nvPr/>
              </p:nvSpPr>
              <p:spPr bwMode="auto">
                <a:xfrm>
                  <a:off x="3008" y="3171"/>
                  <a:ext cx="62"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2" name="Rectangle 1543"/>
                <p:cNvSpPr>
                  <a:spLocks noChangeArrowheads="1"/>
                </p:cNvSpPr>
                <p:nvPr/>
              </p:nvSpPr>
              <p:spPr bwMode="auto">
                <a:xfrm>
                  <a:off x="3008" y="2954"/>
                  <a:ext cx="62"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3" name="Rectangle 1544"/>
                <p:cNvSpPr>
                  <a:spLocks noChangeArrowheads="1"/>
                </p:cNvSpPr>
                <p:nvPr/>
              </p:nvSpPr>
              <p:spPr bwMode="auto">
                <a:xfrm>
                  <a:off x="3008" y="3009"/>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4" name="Freeform 1545"/>
                <p:cNvSpPr>
                  <a:spLocks/>
                </p:cNvSpPr>
                <p:nvPr/>
              </p:nvSpPr>
              <p:spPr bwMode="auto">
                <a:xfrm>
                  <a:off x="3134" y="2954"/>
                  <a:ext cx="61" cy="55"/>
                </a:xfrm>
                <a:custGeom>
                  <a:avLst/>
                  <a:gdLst>
                    <a:gd name="T0" fmla="*/ 181 w 181"/>
                    <a:gd name="T1" fmla="*/ 141 h 163"/>
                    <a:gd name="T2" fmla="*/ 180 w 181"/>
                    <a:gd name="T3" fmla="*/ 0 h 163"/>
                    <a:gd name="T4" fmla="*/ 0 w 181"/>
                    <a:gd name="T5" fmla="*/ 0 h 163"/>
                    <a:gd name="T6" fmla="*/ 0 w 181"/>
                    <a:gd name="T7" fmla="*/ 163 h 163"/>
                    <a:gd name="T8" fmla="*/ 180 w 181"/>
                    <a:gd name="T9" fmla="*/ 163 h 163"/>
                    <a:gd name="T10" fmla="*/ 181 w 181"/>
                    <a:gd name="T11" fmla="*/ 141 h 163"/>
                  </a:gdLst>
                  <a:ahLst/>
                  <a:cxnLst>
                    <a:cxn ang="0">
                      <a:pos x="T0" y="T1"/>
                    </a:cxn>
                    <a:cxn ang="0">
                      <a:pos x="T2" y="T3"/>
                    </a:cxn>
                    <a:cxn ang="0">
                      <a:pos x="T4" y="T5"/>
                    </a:cxn>
                    <a:cxn ang="0">
                      <a:pos x="T6" y="T7"/>
                    </a:cxn>
                    <a:cxn ang="0">
                      <a:pos x="T8" y="T9"/>
                    </a:cxn>
                    <a:cxn ang="0">
                      <a:pos x="T10" y="T11"/>
                    </a:cxn>
                  </a:cxnLst>
                  <a:rect l="0" t="0" r="r" b="b"/>
                  <a:pathLst>
                    <a:path w="181" h="163">
                      <a:moveTo>
                        <a:pt x="181" y="141"/>
                      </a:moveTo>
                      <a:lnTo>
                        <a:pt x="180" y="0"/>
                      </a:lnTo>
                      <a:lnTo>
                        <a:pt x="0" y="0"/>
                      </a:lnTo>
                      <a:lnTo>
                        <a:pt x="0" y="163"/>
                      </a:lnTo>
                      <a:lnTo>
                        <a:pt x="180" y="163"/>
                      </a:lnTo>
                      <a:lnTo>
                        <a:pt x="181" y="1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335" name="Rectangle 1546"/>
                <p:cNvSpPr>
                  <a:spLocks noChangeArrowheads="1"/>
                </p:cNvSpPr>
                <p:nvPr/>
              </p:nvSpPr>
              <p:spPr bwMode="auto">
                <a:xfrm>
                  <a:off x="3070" y="2954"/>
                  <a:ext cx="64"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6" name="Rectangle 1547"/>
                <p:cNvSpPr>
                  <a:spLocks noChangeArrowheads="1"/>
                </p:cNvSpPr>
                <p:nvPr/>
              </p:nvSpPr>
              <p:spPr bwMode="auto">
                <a:xfrm>
                  <a:off x="3070" y="3009"/>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7" name="Rectangle 1548"/>
                <p:cNvSpPr>
                  <a:spLocks noChangeArrowheads="1"/>
                </p:cNvSpPr>
                <p:nvPr/>
              </p:nvSpPr>
              <p:spPr bwMode="auto">
                <a:xfrm>
                  <a:off x="3134" y="3063"/>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8" name="Rectangle 1549"/>
                <p:cNvSpPr>
                  <a:spLocks noChangeArrowheads="1"/>
                </p:cNvSpPr>
                <p:nvPr/>
              </p:nvSpPr>
              <p:spPr bwMode="auto">
                <a:xfrm>
                  <a:off x="3070" y="3063"/>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39" name="Rectangle 1550"/>
                <p:cNvSpPr>
                  <a:spLocks noChangeArrowheads="1"/>
                </p:cNvSpPr>
                <p:nvPr/>
              </p:nvSpPr>
              <p:spPr bwMode="auto">
                <a:xfrm>
                  <a:off x="3070" y="3171"/>
                  <a:ext cx="64"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0" name="Rectangle 1551"/>
                <p:cNvSpPr>
                  <a:spLocks noChangeArrowheads="1"/>
                </p:cNvSpPr>
                <p:nvPr/>
              </p:nvSpPr>
              <p:spPr bwMode="auto">
                <a:xfrm>
                  <a:off x="3134" y="3171"/>
                  <a:ext cx="60"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1" name="Rectangle 1552"/>
                <p:cNvSpPr>
                  <a:spLocks noChangeArrowheads="1"/>
                </p:cNvSpPr>
                <p:nvPr/>
              </p:nvSpPr>
              <p:spPr bwMode="auto">
                <a:xfrm>
                  <a:off x="3134" y="3117"/>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2" name="Rectangle 1553"/>
                <p:cNvSpPr>
                  <a:spLocks noChangeArrowheads="1"/>
                </p:cNvSpPr>
                <p:nvPr/>
              </p:nvSpPr>
              <p:spPr bwMode="auto">
                <a:xfrm>
                  <a:off x="3070" y="3117"/>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3" name="Rectangle 1554"/>
                <p:cNvSpPr>
                  <a:spLocks noChangeArrowheads="1"/>
                </p:cNvSpPr>
                <p:nvPr/>
              </p:nvSpPr>
              <p:spPr bwMode="auto">
                <a:xfrm>
                  <a:off x="3070" y="3226"/>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4" name="Rectangle 1555"/>
                <p:cNvSpPr>
                  <a:spLocks noChangeArrowheads="1"/>
                </p:cNvSpPr>
                <p:nvPr/>
              </p:nvSpPr>
              <p:spPr bwMode="auto">
                <a:xfrm>
                  <a:off x="3134" y="3226"/>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5" name="Rectangle 1556"/>
                <p:cNvSpPr>
                  <a:spLocks noChangeArrowheads="1"/>
                </p:cNvSpPr>
                <p:nvPr/>
              </p:nvSpPr>
              <p:spPr bwMode="auto">
                <a:xfrm>
                  <a:off x="3134" y="3009"/>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6" name="Rectangle 1557"/>
                <p:cNvSpPr>
                  <a:spLocks noChangeArrowheads="1"/>
                </p:cNvSpPr>
                <p:nvPr/>
              </p:nvSpPr>
              <p:spPr bwMode="auto">
                <a:xfrm>
                  <a:off x="3008" y="3226"/>
                  <a:ext cx="62"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7" name="Rectangle 1558"/>
                <p:cNvSpPr>
                  <a:spLocks noChangeArrowheads="1"/>
                </p:cNvSpPr>
                <p:nvPr/>
              </p:nvSpPr>
              <p:spPr bwMode="auto">
                <a:xfrm>
                  <a:off x="3134" y="3280"/>
                  <a:ext cx="60"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8" name="Rectangle 1559"/>
                <p:cNvSpPr>
                  <a:spLocks noChangeArrowheads="1"/>
                </p:cNvSpPr>
                <p:nvPr/>
              </p:nvSpPr>
              <p:spPr bwMode="auto">
                <a:xfrm>
                  <a:off x="3134" y="3334"/>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49" name="Rectangle 1560"/>
                <p:cNvSpPr>
                  <a:spLocks noChangeArrowheads="1"/>
                </p:cNvSpPr>
                <p:nvPr/>
              </p:nvSpPr>
              <p:spPr bwMode="auto">
                <a:xfrm>
                  <a:off x="3070" y="3334"/>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0" name="Rectangle 1561"/>
                <p:cNvSpPr>
                  <a:spLocks noChangeArrowheads="1"/>
                </p:cNvSpPr>
                <p:nvPr/>
              </p:nvSpPr>
              <p:spPr bwMode="auto">
                <a:xfrm>
                  <a:off x="3070" y="3388"/>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1" name="Rectangle 1562"/>
                <p:cNvSpPr>
                  <a:spLocks noChangeArrowheads="1"/>
                </p:cNvSpPr>
                <p:nvPr/>
              </p:nvSpPr>
              <p:spPr bwMode="auto">
                <a:xfrm>
                  <a:off x="3008" y="3334"/>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2" name="Rectangle 1563"/>
                <p:cNvSpPr>
                  <a:spLocks noChangeArrowheads="1"/>
                </p:cNvSpPr>
                <p:nvPr/>
              </p:nvSpPr>
              <p:spPr bwMode="auto">
                <a:xfrm>
                  <a:off x="3070" y="3280"/>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3" name="Rectangle 1564"/>
                <p:cNvSpPr>
                  <a:spLocks noChangeArrowheads="1"/>
                </p:cNvSpPr>
                <p:nvPr/>
              </p:nvSpPr>
              <p:spPr bwMode="auto">
                <a:xfrm>
                  <a:off x="3008" y="3280"/>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4" name="Rectangle 1565"/>
                <p:cNvSpPr>
                  <a:spLocks noChangeArrowheads="1"/>
                </p:cNvSpPr>
                <p:nvPr/>
              </p:nvSpPr>
              <p:spPr bwMode="auto">
                <a:xfrm>
                  <a:off x="3134" y="3442"/>
                  <a:ext cx="60"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5" name="Rectangle 1566"/>
                <p:cNvSpPr>
                  <a:spLocks noChangeArrowheads="1"/>
                </p:cNvSpPr>
                <p:nvPr/>
              </p:nvSpPr>
              <p:spPr bwMode="auto">
                <a:xfrm>
                  <a:off x="3070" y="3442"/>
                  <a:ext cx="64" cy="5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6" name="Rectangle 1567"/>
                <p:cNvSpPr>
                  <a:spLocks noChangeArrowheads="1"/>
                </p:cNvSpPr>
                <p:nvPr/>
              </p:nvSpPr>
              <p:spPr bwMode="auto">
                <a:xfrm>
                  <a:off x="3008" y="3442"/>
                  <a:ext cx="62" cy="5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7" name="Rectangle 1568"/>
                <p:cNvSpPr>
                  <a:spLocks noChangeArrowheads="1"/>
                </p:cNvSpPr>
                <p:nvPr/>
              </p:nvSpPr>
              <p:spPr bwMode="auto">
                <a:xfrm>
                  <a:off x="3070" y="3551"/>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8" name="Rectangle 1569"/>
                <p:cNvSpPr>
                  <a:spLocks noChangeArrowheads="1"/>
                </p:cNvSpPr>
                <p:nvPr/>
              </p:nvSpPr>
              <p:spPr bwMode="auto">
                <a:xfrm>
                  <a:off x="3008" y="3551"/>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59" name="Rectangle 1570"/>
                <p:cNvSpPr>
                  <a:spLocks noChangeArrowheads="1"/>
                </p:cNvSpPr>
                <p:nvPr/>
              </p:nvSpPr>
              <p:spPr bwMode="auto">
                <a:xfrm>
                  <a:off x="3134" y="3551"/>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0" name="Rectangle 1571"/>
                <p:cNvSpPr>
                  <a:spLocks noChangeArrowheads="1"/>
                </p:cNvSpPr>
                <p:nvPr/>
              </p:nvSpPr>
              <p:spPr bwMode="auto">
                <a:xfrm>
                  <a:off x="3008" y="3497"/>
                  <a:ext cx="62"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1" name="Rectangle 1572"/>
                <p:cNvSpPr>
                  <a:spLocks noChangeArrowheads="1"/>
                </p:cNvSpPr>
                <p:nvPr/>
              </p:nvSpPr>
              <p:spPr bwMode="auto">
                <a:xfrm>
                  <a:off x="3070" y="3497"/>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2" name="Rectangle 1573"/>
                <p:cNvSpPr>
                  <a:spLocks noChangeArrowheads="1"/>
                </p:cNvSpPr>
                <p:nvPr/>
              </p:nvSpPr>
              <p:spPr bwMode="auto">
                <a:xfrm>
                  <a:off x="3070" y="3605"/>
                  <a:ext cx="64"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3" name="Rectangle 1574"/>
                <p:cNvSpPr>
                  <a:spLocks noChangeArrowheads="1"/>
                </p:cNvSpPr>
                <p:nvPr/>
              </p:nvSpPr>
              <p:spPr bwMode="auto">
                <a:xfrm>
                  <a:off x="3134" y="3497"/>
                  <a:ext cx="60"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4" name="Rectangle 1575"/>
                <p:cNvSpPr>
                  <a:spLocks noChangeArrowheads="1"/>
                </p:cNvSpPr>
                <p:nvPr/>
              </p:nvSpPr>
              <p:spPr bwMode="auto">
                <a:xfrm>
                  <a:off x="3134" y="3388"/>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5" name="Rectangle 1576"/>
                <p:cNvSpPr>
                  <a:spLocks noChangeArrowheads="1"/>
                </p:cNvSpPr>
                <p:nvPr/>
              </p:nvSpPr>
              <p:spPr bwMode="auto">
                <a:xfrm>
                  <a:off x="3134" y="3605"/>
                  <a:ext cx="60"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6" name="Rectangle 1577"/>
                <p:cNvSpPr>
                  <a:spLocks noChangeArrowheads="1"/>
                </p:cNvSpPr>
                <p:nvPr/>
              </p:nvSpPr>
              <p:spPr bwMode="auto">
                <a:xfrm>
                  <a:off x="3008" y="3388"/>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7" name="Rectangle 1578"/>
                <p:cNvSpPr>
                  <a:spLocks noChangeArrowheads="1"/>
                </p:cNvSpPr>
                <p:nvPr/>
              </p:nvSpPr>
              <p:spPr bwMode="auto">
                <a:xfrm>
                  <a:off x="3008" y="3660"/>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8" name="Rectangle 1579"/>
                <p:cNvSpPr>
                  <a:spLocks noChangeArrowheads="1"/>
                </p:cNvSpPr>
                <p:nvPr/>
              </p:nvSpPr>
              <p:spPr bwMode="auto">
                <a:xfrm>
                  <a:off x="3008" y="3714"/>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69" name="Rectangle 1580"/>
                <p:cNvSpPr>
                  <a:spLocks noChangeArrowheads="1"/>
                </p:cNvSpPr>
                <p:nvPr/>
              </p:nvSpPr>
              <p:spPr bwMode="auto">
                <a:xfrm>
                  <a:off x="3008" y="3768"/>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0" name="Rectangle 1581"/>
                <p:cNvSpPr>
                  <a:spLocks noChangeArrowheads="1"/>
                </p:cNvSpPr>
                <p:nvPr/>
              </p:nvSpPr>
              <p:spPr bwMode="auto">
                <a:xfrm>
                  <a:off x="3008" y="3822"/>
                  <a:ext cx="62"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1" name="Rectangle 1582"/>
                <p:cNvSpPr>
                  <a:spLocks noChangeArrowheads="1"/>
                </p:cNvSpPr>
                <p:nvPr/>
              </p:nvSpPr>
              <p:spPr bwMode="auto">
                <a:xfrm>
                  <a:off x="3134" y="3660"/>
                  <a:ext cx="60"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2" name="Rectangle 1583"/>
                <p:cNvSpPr>
                  <a:spLocks noChangeArrowheads="1"/>
                </p:cNvSpPr>
                <p:nvPr/>
              </p:nvSpPr>
              <p:spPr bwMode="auto">
                <a:xfrm>
                  <a:off x="3134" y="3714"/>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3" name="Rectangle 1584"/>
                <p:cNvSpPr>
                  <a:spLocks noChangeArrowheads="1"/>
                </p:cNvSpPr>
                <p:nvPr/>
              </p:nvSpPr>
              <p:spPr bwMode="auto">
                <a:xfrm>
                  <a:off x="3134" y="3768"/>
                  <a:ext cx="60"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4" name="Rectangle 1585"/>
                <p:cNvSpPr>
                  <a:spLocks noChangeArrowheads="1"/>
                </p:cNvSpPr>
                <p:nvPr/>
              </p:nvSpPr>
              <p:spPr bwMode="auto">
                <a:xfrm>
                  <a:off x="3070" y="3660"/>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5" name="Rectangle 1586"/>
                <p:cNvSpPr>
                  <a:spLocks noChangeArrowheads="1"/>
                </p:cNvSpPr>
                <p:nvPr/>
              </p:nvSpPr>
              <p:spPr bwMode="auto">
                <a:xfrm>
                  <a:off x="3070" y="3768"/>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6" name="Rectangle 1587"/>
                <p:cNvSpPr>
                  <a:spLocks noChangeArrowheads="1"/>
                </p:cNvSpPr>
                <p:nvPr/>
              </p:nvSpPr>
              <p:spPr bwMode="auto">
                <a:xfrm>
                  <a:off x="3070" y="3714"/>
                  <a:ext cx="64" cy="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7" name="Rectangle 1588"/>
                <p:cNvSpPr>
                  <a:spLocks noChangeArrowheads="1"/>
                </p:cNvSpPr>
                <p:nvPr/>
              </p:nvSpPr>
              <p:spPr bwMode="auto">
                <a:xfrm>
                  <a:off x="3070" y="3822"/>
                  <a:ext cx="64" cy="54"/>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78" name="Freeform 1589"/>
                <p:cNvSpPr>
                  <a:spLocks/>
                </p:cNvSpPr>
                <p:nvPr/>
              </p:nvSpPr>
              <p:spPr bwMode="auto">
                <a:xfrm>
                  <a:off x="3134" y="3822"/>
                  <a:ext cx="61" cy="54"/>
                </a:xfrm>
                <a:custGeom>
                  <a:avLst/>
                  <a:gdLst>
                    <a:gd name="T0" fmla="*/ 180 w 181"/>
                    <a:gd name="T1" fmla="*/ 162 h 162"/>
                    <a:gd name="T2" fmla="*/ 181 w 181"/>
                    <a:gd name="T3" fmla="*/ 25 h 162"/>
                    <a:gd name="T4" fmla="*/ 180 w 181"/>
                    <a:gd name="T5" fmla="*/ 0 h 162"/>
                    <a:gd name="T6" fmla="*/ 0 w 181"/>
                    <a:gd name="T7" fmla="*/ 0 h 162"/>
                    <a:gd name="T8" fmla="*/ 0 w 181"/>
                    <a:gd name="T9" fmla="*/ 162 h 162"/>
                    <a:gd name="T10" fmla="*/ 180 w 181"/>
                    <a:gd name="T11" fmla="*/ 162 h 162"/>
                  </a:gdLst>
                  <a:ahLst/>
                  <a:cxnLst>
                    <a:cxn ang="0">
                      <a:pos x="T0" y="T1"/>
                    </a:cxn>
                    <a:cxn ang="0">
                      <a:pos x="T2" y="T3"/>
                    </a:cxn>
                    <a:cxn ang="0">
                      <a:pos x="T4" y="T5"/>
                    </a:cxn>
                    <a:cxn ang="0">
                      <a:pos x="T6" y="T7"/>
                    </a:cxn>
                    <a:cxn ang="0">
                      <a:pos x="T8" y="T9"/>
                    </a:cxn>
                    <a:cxn ang="0">
                      <a:pos x="T10" y="T11"/>
                    </a:cxn>
                  </a:cxnLst>
                  <a:rect l="0" t="0" r="r" b="b"/>
                  <a:pathLst>
                    <a:path w="181" h="162">
                      <a:moveTo>
                        <a:pt x="180" y="162"/>
                      </a:moveTo>
                      <a:lnTo>
                        <a:pt x="181" y="25"/>
                      </a:lnTo>
                      <a:lnTo>
                        <a:pt x="180" y="0"/>
                      </a:lnTo>
                      <a:lnTo>
                        <a:pt x="0" y="0"/>
                      </a:lnTo>
                      <a:lnTo>
                        <a:pt x="0" y="162"/>
                      </a:lnTo>
                      <a:lnTo>
                        <a:pt x="180" y="162"/>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379" name="Rectangle 1590"/>
                <p:cNvSpPr>
                  <a:spLocks noChangeArrowheads="1"/>
                </p:cNvSpPr>
                <p:nvPr/>
              </p:nvSpPr>
              <p:spPr bwMode="auto">
                <a:xfrm>
                  <a:off x="3008" y="3605"/>
                  <a:ext cx="62"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380" name="Line 1591"/>
                <p:cNvSpPr>
                  <a:spLocks noChangeShapeType="1"/>
                </p:cNvSpPr>
                <p:nvPr/>
              </p:nvSpPr>
              <p:spPr bwMode="auto">
                <a:xfrm>
                  <a:off x="3008" y="3063"/>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1" name="Line 1592"/>
                <p:cNvSpPr>
                  <a:spLocks noChangeShapeType="1"/>
                </p:cNvSpPr>
                <p:nvPr/>
              </p:nvSpPr>
              <p:spPr bwMode="auto">
                <a:xfrm>
                  <a:off x="3008" y="311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2" name="Line 1593"/>
                <p:cNvSpPr>
                  <a:spLocks noChangeShapeType="1"/>
                </p:cNvSpPr>
                <p:nvPr/>
              </p:nvSpPr>
              <p:spPr bwMode="auto">
                <a:xfrm>
                  <a:off x="3008" y="3171"/>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3" name="Freeform 1594"/>
                <p:cNvSpPr>
                  <a:spLocks/>
                </p:cNvSpPr>
                <p:nvPr/>
              </p:nvSpPr>
              <p:spPr bwMode="auto">
                <a:xfrm>
                  <a:off x="3008" y="2954"/>
                  <a:ext cx="62" cy="55"/>
                </a:xfrm>
                <a:custGeom>
                  <a:avLst/>
                  <a:gdLst>
                    <a:gd name="T0" fmla="*/ 186 w 186"/>
                    <a:gd name="T1" fmla="*/ 0 h 163"/>
                    <a:gd name="T2" fmla="*/ 0 w 186"/>
                    <a:gd name="T3" fmla="*/ 0 h 163"/>
                    <a:gd name="T4" fmla="*/ 0 w 186"/>
                    <a:gd name="T5" fmla="*/ 163 h 163"/>
                  </a:gdLst>
                  <a:ahLst/>
                  <a:cxnLst>
                    <a:cxn ang="0">
                      <a:pos x="T0" y="T1"/>
                    </a:cxn>
                    <a:cxn ang="0">
                      <a:pos x="T2" y="T3"/>
                    </a:cxn>
                    <a:cxn ang="0">
                      <a:pos x="T4" y="T5"/>
                    </a:cxn>
                  </a:cxnLst>
                  <a:rect l="0" t="0" r="r" b="b"/>
                  <a:pathLst>
                    <a:path w="186" h="163">
                      <a:moveTo>
                        <a:pt x="186" y="0"/>
                      </a:moveTo>
                      <a:lnTo>
                        <a:pt x="0" y="0"/>
                      </a:lnTo>
                      <a:lnTo>
                        <a:pt x="0" y="163"/>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384" name="Line 1595"/>
                <p:cNvSpPr>
                  <a:spLocks noChangeShapeType="1"/>
                </p:cNvSpPr>
                <p:nvPr/>
              </p:nvSpPr>
              <p:spPr bwMode="auto">
                <a:xfrm>
                  <a:off x="3008" y="3009"/>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5" name="Freeform 1596"/>
                <p:cNvSpPr>
                  <a:spLocks/>
                </p:cNvSpPr>
                <p:nvPr/>
              </p:nvSpPr>
              <p:spPr bwMode="auto">
                <a:xfrm>
                  <a:off x="3134" y="2954"/>
                  <a:ext cx="62" cy="922"/>
                </a:xfrm>
                <a:custGeom>
                  <a:avLst/>
                  <a:gdLst>
                    <a:gd name="T0" fmla="*/ 0 w 184"/>
                    <a:gd name="T1" fmla="*/ 2765 h 2765"/>
                    <a:gd name="T2" fmla="*/ 180 w 184"/>
                    <a:gd name="T3" fmla="*/ 2765 h 2765"/>
                    <a:gd name="T4" fmla="*/ 181 w 184"/>
                    <a:gd name="T5" fmla="*/ 2628 h 2765"/>
                    <a:gd name="T6" fmla="*/ 184 w 184"/>
                    <a:gd name="T7" fmla="*/ 1384 h 2765"/>
                    <a:gd name="T8" fmla="*/ 181 w 184"/>
                    <a:gd name="T9" fmla="*/ 141 h 2765"/>
                    <a:gd name="T10" fmla="*/ 180 w 184"/>
                    <a:gd name="T11" fmla="*/ 0 h 2765"/>
                    <a:gd name="T12" fmla="*/ 0 w 184"/>
                    <a:gd name="T13" fmla="*/ 0 h 2765"/>
                  </a:gdLst>
                  <a:ahLst/>
                  <a:cxnLst>
                    <a:cxn ang="0">
                      <a:pos x="T0" y="T1"/>
                    </a:cxn>
                    <a:cxn ang="0">
                      <a:pos x="T2" y="T3"/>
                    </a:cxn>
                    <a:cxn ang="0">
                      <a:pos x="T4" y="T5"/>
                    </a:cxn>
                    <a:cxn ang="0">
                      <a:pos x="T6" y="T7"/>
                    </a:cxn>
                    <a:cxn ang="0">
                      <a:pos x="T8" y="T9"/>
                    </a:cxn>
                    <a:cxn ang="0">
                      <a:pos x="T10" y="T11"/>
                    </a:cxn>
                    <a:cxn ang="0">
                      <a:pos x="T12" y="T13"/>
                    </a:cxn>
                  </a:cxnLst>
                  <a:rect l="0" t="0" r="r" b="b"/>
                  <a:pathLst>
                    <a:path w="184" h="2765">
                      <a:moveTo>
                        <a:pt x="0" y="2765"/>
                      </a:moveTo>
                      <a:lnTo>
                        <a:pt x="180" y="2765"/>
                      </a:lnTo>
                      <a:lnTo>
                        <a:pt x="181" y="2628"/>
                      </a:lnTo>
                      <a:lnTo>
                        <a:pt x="184" y="1384"/>
                      </a:lnTo>
                      <a:lnTo>
                        <a:pt x="181" y="141"/>
                      </a:lnTo>
                      <a:lnTo>
                        <a:pt x="180" y="0"/>
                      </a:lnTo>
                      <a:lnTo>
                        <a:pt x="0"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386" name="Line 1597"/>
                <p:cNvSpPr>
                  <a:spLocks noChangeShapeType="1"/>
                </p:cNvSpPr>
                <p:nvPr/>
              </p:nvSpPr>
              <p:spPr bwMode="auto">
                <a:xfrm flipV="1">
                  <a:off x="3070" y="2954"/>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7" name="Line 1598"/>
                <p:cNvSpPr>
                  <a:spLocks noChangeShapeType="1"/>
                </p:cNvSpPr>
                <p:nvPr/>
              </p:nvSpPr>
              <p:spPr bwMode="auto">
                <a:xfrm flipV="1">
                  <a:off x="3134" y="2954"/>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8" name="Line 1599"/>
                <p:cNvSpPr>
                  <a:spLocks noChangeShapeType="1"/>
                </p:cNvSpPr>
                <p:nvPr/>
              </p:nvSpPr>
              <p:spPr bwMode="auto">
                <a:xfrm>
                  <a:off x="3070" y="3009"/>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89" name="Line 1600"/>
                <p:cNvSpPr>
                  <a:spLocks noChangeShapeType="1"/>
                </p:cNvSpPr>
                <p:nvPr/>
              </p:nvSpPr>
              <p:spPr bwMode="auto">
                <a:xfrm flipH="1">
                  <a:off x="3070" y="2954"/>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0" name="Line 1601"/>
                <p:cNvSpPr>
                  <a:spLocks noChangeShapeType="1"/>
                </p:cNvSpPr>
                <p:nvPr/>
              </p:nvSpPr>
              <p:spPr bwMode="auto">
                <a:xfrm flipV="1">
                  <a:off x="3134" y="3063"/>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1" name="Line 1602"/>
                <p:cNvSpPr>
                  <a:spLocks noChangeShapeType="1"/>
                </p:cNvSpPr>
                <p:nvPr/>
              </p:nvSpPr>
              <p:spPr bwMode="auto">
                <a:xfrm flipV="1">
                  <a:off x="3070" y="3063"/>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2" name="Line 1603"/>
                <p:cNvSpPr>
                  <a:spLocks noChangeShapeType="1"/>
                </p:cNvSpPr>
                <p:nvPr/>
              </p:nvSpPr>
              <p:spPr bwMode="auto">
                <a:xfrm flipV="1">
                  <a:off x="3070" y="3171"/>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3" name="Line 1604"/>
                <p:cNvSpPr>
                  <a:spLocks noChangeShapeType="1"/>
                </p:cNvSpPr>
                <p:nvPr/>
              </p:nvSpPr>
              <p:spPr bwMode="auto">
                <a:xfrm>
                  <a:off x="3134" y="3171"/>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4" name="Line 1605"/>
                <p:cNvSpPr>
                  <a:spLocks noChangeShapeType="1"/>
                </p:cNvSpPr>
                <p:nvPr/>
              </p:nvSpPr>
              <p:spPr bwMode="auto">
                <a:xfrm flipV="1">
                  <a:off x="3134" y="311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5" name="Line 1606"/>
                <p:cNvSpPr>
                  <a:spLocks noChangeShapeType="1"/>
                </p:cNvSpPr>
                <p:nvPr/>
              </p:nvSpPr>
              <p:spPr bwMode="auto">
                <a:xfrm flipH="1">
                  <a:off x="3070" y="3063"/>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6" name="Line 1607"/>
                <p:cNvSpPr>
                  <a:spLocks noChangeShapeType="1"/>
                </p:cNvSpPr>
                <p:nvPr/>
              </p:nvSpPr>
              <p:spPr bwMode="auto">
                <a:xfrm flipH="1">
                  <a:off x="3070" y="3117"/>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7" name="Line 1608"/>
                <p:cNvSpPr>
                  <a:spLocks noChangeShapeType="1"/>
                </p:cNvSpPr>
                <p:nvPr/>
              </p:nvSpPr>
              <p:spPr bwMode="auto">
                <a:xfrm>
                  <a:off x="3070" y="3171"/>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8" name="Line 1609"/>
                <p:cNvSpPr>
                  <a:spLocks noChangeShapeType="1"/>
                </p:cNvSpPr>
                <p:nvPr/>
              </p:nvSpPr>
              <p:spPr bwMode="auto">
                <a:xfrm flipH="1">
                  <a:off x="3070" y="3226"/>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399" name="Line 1610"/>
                <p:cNvSpPr>
                  <a:spLocks noChangeShapeType="1"/>
                </p:cNvSpPr>
                <p:nvPr/>
              </p:nvSpPr>
              <p:spPr bwMode="auto">
                <a:xfrm>
                  <a:off x="3070" y="311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0" name="Line 1611"/>
                <p:cNvSpPr>
                  <a:spLocks noChangeShapeType="1"/>
                </p:cNvSpPr>
                <p:nvPr/>
              </p:nvSpPr>
              <p:spPr bwMode="auto">
                <a:xfrm>
                  <a:off x="3134" y="3226"/>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1" name="Line 1612"/>
                <p:cNvSpPr>
                  <a:spLocks noChangeShapeType="1"/>
                </p:cNvSpPr>
                <p:nvPr/>
              </p:nvSpPr>
              <p:spPr bwMode="auto">
                <a:xfrm>
                  <a:off x="3134" y="3063"/>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2" name="Line 1613"/>
                <p:cNvSpPr>
                  <a:spLocks noChangeShapeType="1"/>
                </p:cNvSpPr>
                <p:nvPr/>
              </p:nvSpPr>
              <p:spPr bwMode="auto">
                <a:xfrm flipH="1">
                  <a:off x="3134" y="3171"/>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3" name="Line 1614"/>
                <p:cNvSpPr>
                  <a:spLocks noChangeShapeType="1"/>
                </p:cNvSpPr>
                <p:nvPr/>
              </p:nvSpPr>
              <p:spPr bwMode="auto">
                <a:xfrm flipH="1">
                  <a:off x="3134" y="3117"/>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4" name="Line 1615"/>
                <p:cNvSpPr>
                  <a:spLocks noChangeShapeType="1"/>
                </p:cNvSpPr>
                <p:nvPr/>
              </p:nvSpPr>
              <p:spPr bwMode="auto">
                <a:xfrm flipH="1">
                  <a:off x="3134" y="3009"/>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5" name="Line 1616"/>
                <p:cNvSpPr>
                  <a:spLocks noChangeShapeType="1"/>
                </p:cNvSpPr>
                <p:nvPr/>
              </p:nvSpPr>
              <p:spPr bwMode="auto">
                <a:xfrm flipV="1">
                  <a:off x="3070" y="3009"/>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6" name="Line 1617"/>
                <p:cNvSpPr>
                  <a:spLocks noChangeShapeType="1"/>
                </p:cNvSpPr>
                <p:nvPr/>
              </p:nvSpPr>
              <p:spPr bwMode="auto">
                <a:xfrm>
                  <a:off x="3134" y="3009"/>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7" name="Line 1618"/>
                <p:cNvSpPr>
                  <a:spLocks noChangeShapeType="1"/>
                </p:cNvSpPr>
                <p:nvPr/>
              </p:nvSpPr>
              <p:spPr bwMode="auto">
                <a:xfrm flipH="1">
                  <a:off x="3008" y="3063"/>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8" name="Line 1619"/>
                <p:cNvSpPr>
                  <a:spLocks noChangeShapeType="1"/>
                </p:cNvSpPr>
                <p:nvPr/>
              </p:nvSpPr>
              <p:spPr bwMode="auto">
                <a:xfrm flipH="1">
                  <a:off x="3008" y="3226"/>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09" name="Line 1620"/>
                <p:cNvSpPr>
                  <a:spLocks noChangeShapeType="1"/>
                </p:cNvSpPr>
                <p:nvPr/>
              </p:nvSpPr>
              <p:spPr bwMode="auto">
                <a:xfrm>
                  <a:off x="3008" y="3009"/>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0" name="Line 1621"/>
                <p:cNvSpPr>
                  <a:spLocks noChangeShapeType="1"/>
                </p:cNvSpPr>
                <p:nvPr/>
              </p:nvSpPr>
              <p:spPr bwMode="auto">
                <a:xfrm>
                  <a:off x="3008" y="3117"/>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1" name="Line 1622"/>
                <p:cNvSpPr>
                  <a:spLocks noChangeShapeType="1"/>
                </p:cNvSpPr>
                <p:nvPr/>
              </p:nvSpPr>
              <p:spPr bwMode="auto">
                <a:xfrm flipH="1">
                  <a:off x="3008" y="3171"/>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2" name="Line 1623"/>
                <p:cNvSpPr>
                  <a:spLocks noChangeShapeType="1"/>
                </p:cNvSpPr>
                <p:nvPr/>
              </p:nvSpPr>
              <p:spPr bwMode="auto">
                <a:xfrm>
                  <a:off x="3134" y="333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3" name="Line 1624"/>
                <p:cNvSpPr>
                  <a:spLocks noChangeShapeType="1"/>
                </p:cNvSpPr>
                <p:nvPr/>
              </p:nvSpPr>
              <p:spPr bwMode="auto">
                <a:xfrm flipH="1">
                  <a:off x="3070" y="3388"/>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4" name="Line 1625"/>
                <p:cNvSpPr>
                  <a:spLocks noChangeShapeType="1"/>
                </p:cNvSpPr>
                <p:nvPr/>
              </p:nvSpPr>
              <p:spPr bwMode="auto">
                <a:xfrm flipV="1">
                  <a:off x="3070" y="333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5" name="Line 1626"/>
                <p:cNvSpPr>
                  <a:spLocks noChangeShapeType="1"/>
                </p:cNvSpPr>
                <p:nvPr/>
              </p:nvSpPr>
              <p:spPr bwMode="auto">
                <a:xfrm>
                  <a:off x="3070" y="3280"/>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6" name="Line 1627"/>
                <p:cNvSpPr>
                  <a:spLocks noChangeShapeType="1"/>
                </p:cNvSpPr>
                <p:nvPr/>
              </p:nvSpPr>
              <p:spPr bwMode="auto">
                <a:xfrm>
                  <a:off x="3134" y="328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7" name="Line 1628"/>
                <p:cNvSpPr>
                  <a:spLocks noChangeShapeType="1"/>
                </p:cNvSpPr>
                <p:nvPr/>
              </p:nvSpPr>
              <p:spPr bwMode="auto">
                <a:xfrm flipV="1">
                  <a:off x="3070" y="328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8" name="Line 1629"/>
                <p:cNvSpPr>
                  <a:spLocks noChangeShapeType="1"/>
                </p:cNvSpPr>
                <p:nvPr/>
              </p:nvSpPr>
              <p:spPr bwMode="auto">
                <a:xfrm flipH="1">
                  <a:off x="3070" y="3334"/>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19" name="Line 1630"/>
                <p:cNvSpPr>
                  <a:spLocks noChangeShapeType="1"/>
                </p:cNvSpPr>
                <p:nvPr/>
              </p:nvSpPr>
              <p:spPr bwMode="auto">
                <a:xfrm flipV="1">
                  <a:off x="3134"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0" name="Line 1631"/>
                <p:cNvSpPr>
                  <a:spLocks noChangeShapeType="1"/>
                </p:cNvSpPr>
                <p:nvPr/>
              </p:nvSpPr>
              <p:spPr bwMode="auto">
                <a:xfrm flipV="1">
                  <a:off x="3070"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1" name="Line 1632"/>
                <p:cNvSpPr>
                  <a:spLocks noChangeShapeType="1"/>
                </p:cNvSpPr>
                <p:nvPr/>
              </p:nvSpPr>
              <p:spPr bwMode="auto">
                <a:xfrm flipV="1">
                  <a:off x="3070"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2" name="Line 1633"/>
                <p:cNvSpPr>
                  <a:spLocks noChangeShapeType="1"/>
                </p:cNvSpPr>
                <p:nvPr/>
              </p:nvSpPr>
              <p:spPr bwMode="auto">
                <a:xfrm>
                  <a:off x="3134"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3" name="Line 1634"/>
                <p:cNvSpPr>
                  <a:spLocks noChangeShapeType="1"/>
                </p:cNvSpPr>
                <p:nvPr/>
              </p:nvSpPr>
              <p:spPr bwMode="auto">
                <a:xfrm>
                  <a:off x="3070"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4" name="Line 1635"/>
                <p:cNvSpPr>
                  <a:spLocks noChangeShapeType="1"/>
                </p:cNvSpPr>
                <p:nvPr/>
              </p:nvSpPr>
              <p:spPr bwMode="auto">
                <a:xfrm flipH="1">
                  <a:off x="3070" y="3497"/>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5" name="Line 1636"/>
                <p:cNvSpPr>
                  <a:spLocks noChangeShapeType="1"/>
                </p:cNvSpPr>
                <p:nvPr/>
              </p:nvSpPr>
              <p:spPr bwMode="auto">
                <a:xfrm flipH="1">
                  <a:off x="3070" y="3605"/>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6" name="Line 1637"/>
                <p:cNvSpPr>
                  <a:spLocks noChangeShapeType="1"/>
                </p:cNvSpPr>
                <p:nvPr/>
              </p:nvSpPr>
              <p:spPr bwMode="auto">
                <a:xfrm>
                  <a:off x="3070" y="3551"/>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7" name="Line 1638"/>
                <p:cNvSpPr>
                  <a:spLocks noChangeShapeType="1"/>
                </p:cNvSpPr>
                <p:nvPr/>
              </p:nvSpPr>
              <p:spPr bwMode="auto">
                <a:xfrm flipH="1">
                  <a:off x="3070" y="3442"/>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8" name="Line 1639"/>
                <p:cNvSpPr>
                  <a:spLocks noChangeShapeType="1"/>
                </p:cNvSpPr>
                <p:nvPr/>
              </p:nvSpPr>
              <p:spPr bwMode="auto">
                <a:xfrm flipV="1">
                  <a:off x="3134"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29" name="Line 1640"/>
                <p:cNvSpPr>
                  <a:spLocks noChangeShapeType="1"/>
                </p:cNvSpPr>
                <p:nvPr/>
              </p:nvSpPr>
              <p:spPr bwMode="auto">
                <a:xfrm>
                  <a:off x="3134" y="3388"/>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0" name="Line 1641"/>
                <p:cNvSpPr>
                  <a:spLocks noChangeShapeType="1"/>
                </p:cNvSpPr>
                <p:nvPr/>
              </p:nvSpPr>
              <p:spPr bwMode="auto">
                <a:xfrm>
                  <a:off x="3134" y="3334"/>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1" name="Line 1642"/>
                <p:cNvSpPr>
                  <a:spLocks noChangeShapeType="1"/>
                </p:cNvSpPr>
                <p:nvPr/>
              </p:nvSpPr>
              <p:spPr bwMode="auto">
                <a:xfrm>
                  <a:off x="3134" y="3605"/>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2" name="Line 1643"/>
                <p:cNvSpPr>
                  <a:spLocks noChangeShapeType="1"/>
                </p:cNvSpPr>
                <p:nvPr/>
              </p:nvSpPr>
              <p:spPr bwMode="auto">
                <a:xfrm flipH="1">
                  <a:off x="3134" y="3442"/>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3" name="Line 1644"/>
                <p:cNvSpPr>
                  <a:spLocks noChangeShapeType="1"/>
                </p:cNvSpPr>
                <p:nvPr/>
              </p:nvSpPr>
              <p:spPr bwMode="auto">
                <a:xfrm flipV="1">
                  <a:off x="3070"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4" name="Line 1645"/>
                <p:cNvSpPr>
                  <a:spLocks noChangeShapeType="1"/>
                </p:cNvSpPr>
                <p:nvPr/>
              </p:nvSpPr>
              <p:spPr bwMode="auto">
                <a:xfrm flipH="1">
                  <a:off x="3134" y="3551"/>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5" name="Line 1646"/>
                <p:cNvSpPr>
                  <a:spLocks noChangeShapeType="1"/>
                </p:cNvSpPr>
                <p:nvPr/>
              </p:nvSpPr>
              <p:spPr bwMode="auto">
                <a:xfrm>
                  <a:off x="3134"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6" name="Line 1647"/>
                <p:cNvSpPr>
                  <a:spLocks noChangeShapeType="1"/>
                </p:cNvSpPr>
                <p:nvPr/>
              </p:nvSpPr>
              <p:spPr bwMode="auto">
                <a:xfrm flipH="1">
                  <a:off x="3134" y="3497"/>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7" name="Line 1648"/>
                <p:cNvSpPr>
                  <a:spLocks noChangeShapeType="1"/>
                </p:cNvSpPr>
                <p:nvPr/>
              </p:nvSpPr>
              <p:spPr bwMode="auto">
                <a:xfrm flipH="1">
                  <a:off x="3134" y="3280"/>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8" name="Line 1649"/>
                <p:cNvSpPr>
                  <a:spLocks noChangeShapeType="1"/>
                </p:cNvSpPr>
                <p:nvPr/>
              </p:nvSpPr>
              <p:spPr bwMode="auto">
                <a:xfrm>
                  <a:off x="3008" y="328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39" name="Line 1650"/>
                <p:cNvSpPr>
                  <a:spLocks noChangeShapeType="1"/>
                </p:cNvSpPr>
                <p:nvPr/>
              </p:nvSpPr>
              <p:spPr bwMode="auto">
                <a:xfrm>
                  <a:off x="3008" y="333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0" name="Line 1651"/>
                <p:cNvSpPr>
                  <a:spLocks noChangeShapeType="1"/>
                </p:cNvSpPr>
                <p:nvPr/>
              </p:nvSpPr>
              <p:spPr bwMode="auto">
                <a:xfrm>
                  <a:off x="3008" y="338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1" name="Line 1652"/>
                <p:cNvSpPr>
                  <a:spLocks noChangeShapeType="1"/>
                </p:cNvSpPr>
                <p:nvPr/>
              </p:nvSpPr>
              <p:spPr bwMode="auto">
                <a:xfrm>
                  <a:off x="3008" y="3442"/>
                  <a:ext cx="0" cy="5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2" name="Line 1653"/>
                <p:cNvSpPr>
                  <a:spLocks noChangeShapeType="1"/>
                </p:cNvSpPr>
                <p:nvPr/>
              </p:nvSpPr>
              <p:spPr bwMode="auto">
                <a:xfrm>
                  <a:off x="3008" y="3497"/>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3" name="Line 1654"/>
                <p:cNvSpPr>
                  <a:spLocks noChangeShapeType="1"/>
                </p:cNvSpPr>
                <p:nvPr/>
              </p:nvSpPr>
              <p:spPr bwMode="auto">
                <a:xfrm>
                  <a:off x="3008" y="3551"/>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4" name="Line 1655"/>
                <p:cNvSpPr>
                  <a:spLocks noChangeShapeType="1"/>
                </p:cNvSpPr>
                <p:nvPr/>
              </p:nvSpPr>
              <p:spPr bwMode="auto">
                <a:xfrm>
                  <a:off x="3008"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5" name="Line 1656"/>
                <p:cNvSpPr>
                  <a:spLocks noChangeShapeType="1"/>
                </p:cNvSpPr>
                <p:nvPr/>
              </p:nvSpPr>
              <p:spPr bwMode="auto">
                <a:xfrm>
                  <a:off x="3008"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6" name="Line 1657"/>
                <p:cNvSpPr>
                  <a:spLocks noChangeShapeType="1"/>
                </p:cNvSpPr>
                <p:nvPr/>
              </p:nvSpPr>
              <p:spPr bwMode="auto">
                <a:xfrm>
                  <a:off x="3008"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7" name="Freeform 1658"/>
                <p:cNvSpPr>
                  <a:spLocks/>
                </p:cNvSpPr>
                <p:nvPr/>
              </p:nvSpPr>
              <p:spPr bwMode="auto">
                <a:xfrm>
                  <a:off x="3008" y="3822"/>
                  <a:ext cx="62" cy="54"/>
                </a:xfrm>
                <a:custGeom>
                  <a:avLst/>
                  <a:gdLst>
                    <a:gd name="T0" fmla="*/ 0 w 186"/>
                    <a:gd name="T1" fmla="*/ 0 h 162"/>
                    <a:gd name="T2" fmla="*/ 0 w 186"/>
                    <a:gd name="T3" fmla="*/ 162 h 162"/>
                    <a:gd name="T4" fmla="*/ 186 w 186"/>
                    <a:gd name="T5" fmla="*/ 162 h 162"/>
                  </a:gdLst>
                  <a:ahLst/>
                  <a:cxnLst>
                    <a:cxn ang="0">
                      <a:pos x="T0" y="T1"/>
                    </a:cxn>
                    <a:cxn ang="0">
                      <a:pos x="T2" y="T3"/>
                    </a:cxn>
                    <a:cxn ang="0">
                      <a:pos x="T4" y="T5"/>
                    </a:cxn>
                  </a:cxnLst>
                  <a:rect l="0" t="0" r="r" b="b"/>
                  <a:pathLst>
                    <a:path w="186" h="162">
                      <a:moveTo>
                        <a:pt x="0" y="0"/>
                      </a:moveTo>
                      <a:lnTo>
                        <a:pt x="0" y="162"/>
                      </a:lnTo>
                      <a:lnTo>
                        <a:pt x="186" y="162"/>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448" name="Line 1659"/>
                <p:cNvSpPr>
                  <a:spLocks noChangeShapeType="1"/>
                </p:cNvSpPr>
                <p:nvPr/>
              </p:nvSpPr>
              <p:spPr bwMode="auto">
                <a:xfrm>
                  <a:off x="3134"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49" name="Line 1660"/>
                <p:cNvSpPr>
                  <a:spLocks noChangeShapeType="1"/>
                </p:cNvSpPr>
                <p:nvPr/>
              </p:nvSpPr>
              <p:spPr bwMode="auto">
                <a:xfrm flipV="1">
                  <a:off x="3070" y="3660"/>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0" name="Line 1661"/>
                <p:cNvSpPr>
                  <a:spLocks noChangeShapeType="1"/>
                </p:cNvSpPr>
                <p:nvPr/>
              </p:nvSpPr>
              <p:spPr bwMode="auto">
                <a:xfrm flipV="1">
                  <a:off x="3070"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1" name="Line 1662"/>
                <p:cNvSpPr>
                  <a:spLocks noChangeShapeType="1"/>
                </p:cNvSpPr>
                <p:nvPr/>
              </p:nvSpPr>
              <p:spPr bwMode="auto">
                <a:xfrm>
                  <a:off x="3134" y="3768"/>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2" name="Line 1663"/>
                <p:cNvSpPr>
                  <a:spLocks noChangeShapeType="1"/>
                </p:cNvSpPr>
                <p:nvPr/>
              </p:nvSpPr>
              <p:spPr bwMode="auto">
                <a:xfrm flipV="1">
                  <a:off x="3070"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3" name="Line 1664"/>
                <p:cNvSpPr>
                  <a:spLocks noChangeShapeType="1"/>
                </p:cNvSpPr>
                <p:nvPr/>
              </p:nvSpPr>
              <p:spPr bwMode="auto">
                <a:xfrm>
                  <a:off x="3070" y="3660"/>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4" name="Line 1665"/>
                <p:cNvSpPr>
                  <a:spLocks noChangeShapeType="1"/>
                </p:cNvSpPr>
                <p:nvPr/>
              </p:nvSpPr>
              <p:spPr bwMode="auto">
                <a:xfrm flipH="1">
                  <a:off x="3070" y="3714"/>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5" name="Line 1666"/>
                <p:cNvSpPr>
                  <a:spLocks noChangeShapeType="1"/>
                </p:cNvSpPr>
                <p:nvPr/>
              </p:nvSpPr>
              <p:spPr bwMode="auto">
                <a:xfrm>
                  <a:off x="3070" y="3768"/>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6" name="Line 1667"/>
                <p:cNvSpPr>
                  <a:spLocks noChangeShapeType="1"/>
                </p:cNvSpPr>
                <p:nvPr/>
              </p:nvSpPr>
              <p:spPr bwMode="auto">
                <a:xfrm flipH="1">
                  <a:off x="3070" y="3822"/>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7" name="Line 1668"/>
                <p:cNvSpPr>
                  <a:spLocks noChangeShapeType="1"/>
                </p:cNvSpPr>
                <p:nvPr/>
              </p:nvSpPr>
              <p:spPr bwMode="auto">
                <a:xfrm>
                  <a:off x="3134" y="3714"/>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8" name="Line 1669"/>
                <p:cNvSpPr>
                  <a:spLocks noChangeShapeType="1"/>
                </p:cNvSpPr>
                <p:nvPr/>
              </p:nvSpPr>
              <p:spPr bwMode="auto">
                <a:xfrm>
                  <a:off x="3070" y="3876"/>
                  <a:ext cx="64"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59" name="Line 1670"/>
                <p:cNvSpPr>
                  <a:spLocks noChangeShapeType="1"/>
                </p:cNvSpPr>
                <p:nvPr/>
              </p:nvSpPr>
              <p:spPr bwMode="auto">
                <a:xfrm>
                  <a:off x="3134" y="3768"/>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0" name="Line 1671"/>
                <p:cNvSpPr>
                  <a:spLocks noChangeShapeType="1"/>
                </p:cNvSpPr>
                <p:nvPr/>
              </p:nvSpPr>
              <p:spPr bwMode="auto">
                <a:xfrm>
                  <a:off x="3134" y="3714"/>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1" name="Line 1672"/>
                <p:cNvSpPr>
                  <a:spLocks noChangeShapeType="1"/>
                </p:cNvSpPr>
                <p:nvPr/>
              </p:nvSpPr>
              <p:spPr bwMode="auto">
                <a:xfrm>
                  <a:off x="3134" y="3822"/>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2" name="Line 1673"/>
                <p:cNvSpPr>
                  <a:spLocks noChangeShapeType="1"/>
                </p:cNvSpPr>
                <p:nvPr/>
              </p:nvSpPr>
              <p:spPr bwMode="auto">
                <a:xfrm flipV="1">
                  <a:off x="3134" y="3822"/>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3" name="Line 1674"/>
                <p:cNvSpPr>
                  <a:spLocks noChangeShapeType="1"/>
                </p:cNvSpPr>
                <p:nvPr/>
              </p:nvSpPr>
              <p:spPr bwMode="auto">
                <a:xfrm>
                  <a:off x="3070" y="3822"/>
                  <a:ext cx="0" cy="54"/>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4" name="Line 1675"/>
                <p:cNvSpPr>
                  <a:spLocks noChangeShapeType="1"/>
                </p:cNvSpPr>
                <p:nvPr/>
              </p:nvSpPr>
              <p:spPr bwMode="auto">
                <a:xfrm flipH="1">
                  <a:off x="3134" y="3660"/>
                  <a:ext cx="60"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5" name="Line 1676"/>
                <p:cNvSpPr>
                  <a:spLocks noChangeShapeType="1"/>
                </p:cNvSpPr>
                <p:nvPr/>
              </p:nvSpPr>
              <p:spPr bwMode="auto">
                <a:xfrm>
                  <a:off x="3008" y="3280"/>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6" name="Line 1677"/>
                <p:cNvSpPr>
                  <a:spLocks noChangeShapeType="1"/>
                </p:cNvSpPr>
                <p:nvPr/>
              </p:nvSpPr>
              <p:spPr bwMode="auto">
                <a:xfrm>
                  <a:off x="3008" y="3334"/>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67" name="Line 1678"/>
                <p:cNvSpPr>
                  <a:spLocks noChangeShapeType="1"/>
                </p:cNvSpPr>
                <p:nvPr/>
              </p:nvSpPr>
              <p:spPr bwMode="auto">
                <a:xfrm flipH="1">
                  <a:off x="3008" y="3442"/>
                  <a:ext cx="62"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sp>
            <p:nvSpPr>
              <p:cNvPr id="2254" name="Line 1679"/>
              <p:cNvSpPr>
                <a:spLocks noChangeShapeType="1"/>
              </p:cNvSpPr>
              <p:nvPr/>
            </p:nvSpPr>
            <p:spPr bwMode="auto">
              <a:xfrm flipH="1">
                <a:off x="4775201" y="5065075"/>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5" name="Line 1680"/>
              <p:cNvSpPr>
                <a:spLocks noChangeShapeType="1"/>
              </p:cNvSpPr>
              <p:nvPr/>
            </p:nvSpPr>
            <p:spPr bwMode="auto">
              <a:xfrm>
                <a:off x="4775201" y="5582600"/>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6" name="Line 1681"/>
              <p:cNvSpPr>
                <a:spLocks noChangeShapeType="1"/>
              </p:cNvSpPr>
              <p:nvPr/>
            </p:nvSpPr>
            <p:spPr bwMode="auto">
              <a:xfrm flipH="1">
                <a:off x="4775201" y="5668325"/>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7" name="Line 1682"/>
              <p:cNvSpPr>
                <a:spLocks noChangeShapeType="1"/>
              </p:cNvSpPr>
              <p:nvPr/>
            </p:nvSpPr>
            <p:spPr bwMode="auto">
              <a:xfrm>
                <a:off x="4775201" y="5409563"/>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8" name="Line 1683"/>
              <p:cNvSpPr>
                <a:spLocks noChangeShapeType="1"/>
              </p:cNvSpPr>
              <p:nvPr/>
            </p:nvSpPr>
            <p:spPr bwMode="auto">
              <a:xfrm>
                <a:off x="4873626"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59" name="Line 1684"/>
              <p:cNvSpPr>
                <a:spLocks noChangeShapeType="1"/>
              </p:cNvSpPr>
              <p:nvPr/>
            </p:nvSpPr>
            <p:spPr bwMode="auto">
              <a:xfrm flipH="1">
                <a:off x="4775201" y="5496875"/>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0" name="Line 1685"/>
              <p:cNvSpPr>
                <a:spLocks noChangeShapeType="1"/>
              </p:cNvSpPr>
              <p:nvPr/>
            </p:nvSpPr>
            <p:spPr bwMode="auto">
              <a:xfrm>
                <a:off x="4775201" y="5754050"/>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1" name="Line 1686"/>
              <p:cNvSpPr>
                <a:spLocks noChangeShapeType="1"/>
              </p:cNvSpPr>
              <p:nvPr/>
            </p:nvSpPr>
            <p:spPr bwMode="auto">
              <a:xfrm flipV="1">
                <a:off x="4975226"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2" name="Line 1687"/>
              <p:cNvSpPr>
                <a:spLocks noChangeShapeType="1"/>
              </p:cNvSpPr>
              <p:nvPr/>
            </p:nvSpPr>
            <p:spPr bwMode="auto">
              <a:xfrm>
                <a:off x="4775201" y="5238113"/>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3" name="Line 1688"/>
              <p:cNvSpPr>
                <a:spLocks noChangeShapeType="1"/>
              </p:cNvSpPr>
              <p:nvPr/>
            </p:nvSpPr>
            <p:spPr bwMode="auto">
              <a:xfrm flipH="1">
                <a:off x="4775201" y="5323838"/>
                <a:ext cx="98425"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4" name="Line 1689"/>
              <p:cNvSpPr>
                <a:spLocks noChangeShapeType="1"/>
              </p:cNvSpPr>
              <p:nvPr/>
            </p:nvSpPr>
            <p:spPr bwMode="auto">
              <a:xfrm>
                <a:off x="4775201"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5" name="Line 1690"/>
              <p:cNvSpPr>
                <a:spLocks noChangeShapeType="1"/>
              </p:cNvSpPr>
              <p:nvPr/>
            </p:nvSpPr>
            <p:spPr bwMode="auto">
              <a:xfrm flipV="1">
                <a:off x="4873626"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6" name="Line 1691"/>
              <p:cNvSpPr>
                <a:spLocks noChangeShapeType="1"/>
              </p:cNvSpPr>
              <p:nvPr/>
            </p:nvSpPr>
            <p:spPr bwMode="auto">
              <a:xfrm flipV="1">
                <a:off x="4975226"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267" name="Line 1692"/>
              <p:cNvSpPr>
                <a:spLocks noChangeShapeType="1"/>
              </p:cNvSpPr>
              <p:nvPr/>
            </p:nvSpPr>
            <p:spPr bwMode="auto">
              <a:xfrm>
                <a:off x="4775201"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grpSp>
          <p:nvGrpSpPr>
            <p:cNvPr id="2468" name="Group 2467"/>
            <p:cNvGrpSpPr/>
            <p:nvPr/>
          </p:nvGrpSpPr>
          <p:grpSpPr>
            <a:xfrm>
              <a:off x="5388471" y="2859782"/>
              <a:ext cx="1009170" cy="1806096"/>
              <a:chOff x="6480176" y="4215763"/>
              <a:chExt cx="1009170" cy="1806096"/>
            </a:xfrm>
          </p:grpSpPr>
          <p:sp>
            <p:nvSpPr>
              <p:cNvPr id="2469" name="Freeform 1185"/>
              <p:cNvSpPr>
                <a:spLocks noEditPoints="1"/>
              </p:cNvSpPr>
              <p:nvPr/>
            </p:nvSpPr>
            <p:spPr bwMode="auto">
              <a:xfrm>
                <a:off x="6487633" y="4226396"/>
                <a:ext cx="1001713" cy="1795463"/>
              </a:xfrm>
              <a:custGeom>
                <a:avLst/>
                <a:gdLst>
                  <a:gd name="T0" fmla="*/ 1895 w 1895"/>
                  <a:gd name="T1" fmla="*/ 0 h 3392"/>
                  <a:gd name="T2" fmla="*/ 0 w 1895"/>
                  <a:gd name="T3" fmla="*/ 0 h 3392"/>
                  <a:gd name="T4" fmla="*/ 0 w 1895"/>
                  <a:gd name="T5" fmla="*/ 3392 h 3392"/>
                  <a:gd name="T6" fmla="*/ 1895 w 1895"/>
                  <a:gd name="T7" fmla="*/ 3392 h 3392"/>
                  <a:gd name="T8" fmla="*/ 1895 w 1895"/>
                  <a:gd name="T9" fmla="*/ 0 h 3392"/>
                  <a:gd name="T10" fmla="*/ 1611 w 1895"/>
                  <a:gd name="T11" fmla="*/ 953 h 3392"/>
                  <a:gd name="T12" fmla="*/ 1611 w 1895"/>
                  <a:gd name="T13" fmla="*/ 1117 h 3392"/>
                  <a:gd name="T14" fmla="*/ 1611 w 1895"/>
                  <a:gd name="T15" fmla="*/ 1280 h 3392"/>
                  <a:gd name="T16" fmla="*/ 1611 w 1895"/>
                  <a:gd name="T17" fmla="*/ 1442 h 3392"/>
                  <a:gd name="T18" fmla="*/ 1611 w 1895"/>
                  <a:gd name="T19" fmla="*/ 1605 h 3392"/>
                  <a:gd name="T20" fmla="*/ 1611 w 1895"/>
                  <a:gd name="T21" fmla="*/ 1767 h 3392"/>
                  <a:gd name="T22" fmla="*/ 1611 w 1895"/>
                  <a:gd name="T23" fmla="*/ 1930 h 3392"/>
                  <a:gd name="T24" fmla="*/ 1611 w 1895"/>
                  <a:gd name="T25" fmla="*/ 2093 h 3392"/>
                  <a:gd name="T26" fmla="*/ 1611 w 1895"/>
                  <a:gd name="T27" fmla="*/ 2255 h 3392"/>
                  <a:gd name="T28" fmla="*/ 1611 w 1895"/>
                  <a:gd name="T29" fmla="*/ 2419 h 3392"/>
                  <a:gd name="T30" fmla="*/ 1611 w 1895"/>
                  <a:gd name="T31" fmla="*/ 2581 h 3392"/>
                  <a:gd name="T32" fmla="*/ 1611 w 1895"/>
                  <a:gd name="T33" fmla="*/ 2744 h 3392"/>
                  <a:gd name="T34" fmla="*/ 1611 w 1895"/>
                  <a:gd name="T35" fmla="*/ 2906 h 3392"/>
                  <a:gd name="T36" fmla="*/ 1611 w 1895"/>
                  <a:gd name="T37" fmla="*/ 3068 h 3392"/>
                  <a:gd name="T38" fmla="*/ 282 w 1895"/>
                  <a:gd name="T39" fmla="*/ 3068 h 3392"/>
                  <a:gd name="T40" fmla="*/ 282 w 1895"/>
                  <a:gd name="T41" fmla="*/ 2906 h 3392"/>
                  <a:gd name="T42" fmla="*/ 282 w 1895"/>
                  <a:gd name="T43" fmla="*/ 2744 h 3392"/>
                  <a:gd name="T44" fmla="*/ 282 w 1895"/>
                  <a:gd name="T45" fmla="*/ 2581 h 3392"/>
                  <a:gd name="T46" fmla="*/ 282 w 1895"/>
                  <a:gd name="T47" fmla="*/ 2419 h 3392"/>
                  <a:gd name="T48" fmla="*/ 282 w 1895"/>
                  <a:gd name="T49" fmla="*/ 2255 h 3392"/>
                  <a:gd name="T50" fmla="*/ 282 w 1895"/>
                  <a:gd name="T51" fmla="*/ 2093 h 3392"/>
                  <a:gd name="T52" fmla="*/ 282 w 1895"/>
                  <a:gd name="T53" fmla="*/ 1930 h 3392"/>
                  <a:gd name="T54" fmla="*/ 282 w 1895"/>
                  <a:gd name="T55" fmla="*/ 1767 h 3392"/>
                  <a:gd name="T56" fmla="*/ 282 w 1895"/>
                  <a:gd name="T57" fmla="*/ 1605 h 3392"/>
                  <a:gd name="T58" fmla="*/ 282 w 1895"/>
                  <a:gd name="T59" fmla="*/ 1442 h 3392"/>
                  <a:gd name="T60" fmla="*/ 282 w 1895"/>
                  <a:gd name="T61" fmla="*/ 1280 h 3392"/>
                  <a:gd name="T62" fmla="*/ 282 w 1895"/>
                  <a:gd name="T63" fmla="*/ 1117 h 3392"/>
                  <a:gd name="T64" fmla="*/ 282 w 1895"/>
                  <a:gd name="T65" fmla="*/ 953 h 3392"/>
                  <a:gd name="T66" fmla="*/ 282 w 1895"/>
                  <a:gd name="T67" fmla="*/ 791 h 3392"/>
                  <a:gd name="T68" fmla="*/ 282 w 1895"/>
                  <a:gd name="T69" fmla="*/ 628 h 3392"/>
                  <a:gd name="T70" fmla="*/ 282 w 1895"/>
                  <a:gd name="T71" fmla="*/ 466 h 3392"/>
                  <a:gd name="T72" fmla="*/ 282 w 1895"/>
                  <a:gd name="T73" fmla="*/ 303 h 3392"/>
                  <a:gd name="T74" fmla="*/ 1611 w 1895"/>
                  <a:gd name="T75" fmla="*/ 303 h 3392"/>
                  <a:gd name="T76" fmla="*/ 1611 w 1895"/>
                  <a:gd name="T77" fmla="*/ 466 h 3392"/>
                  <a:gd name="T78" fmla="*/ 1611 w 1895"/>
                  <a:gd name="T79" fmla="*/ 628 h 3392"/>
                  <a:gd name="T80" fmla="*/ 1611 w 1895"/>
                  <a:gd name="T81" fmla="*/ 791 h 3392"/>
                  <a:gd name="T82" fmla="*/ 1611 w 1895"/>
                  <a:gd name="T83" fmla="*/ 953 h 3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95" h="3392">
                    <a:moveTo>
                      <a:pt x="1895" y="0"/>
                    </a:moveTo>
                    <a:lnTo>
                      <a:pt x="0" y="0"/>
                    </a:lnTo>
                    <a:lnTo>
                      <a:pt x="0" y="3392"/>
                    </a:lnTo>
                    <a:lnTo>
                      <a:pt x="1895" y="3392"/>
                    </a:lnTo>
                    <a:lnTo>
                      <a:pt x="1895" y="0"/>
                    </a:lnTo>
                    <a:close/>
                    <a:moveTo>
                      <a:pt x="1611" y="953"/>
                    </a:moveTo>
                    <a:lnTo>
                      <a:pt x="1611" y="1117"/>
                    </a:lnTo>
                    <a:lnTo>
                      <a:pt x="1611" y="1280"/>
                    </a:lnTo>
                    <a:lnTo>
                      <a:pt x="1611" y="1442"/>
                    </a:lnTo>
                    <a:lnTo>
                      <a:pt x="1611" y="1605"/>
                    </a:lnTo>
                    <a:lnTo>
                      <a:pt x="1611" y="1767"/>
                    </a:lnTo>
                    <a:lnTo>
                      <a:pt x="1611" y="1930"/>
                    </a:lnTo>
                    <a:lnTo>
                      <a:pt x="1611" y="2093"/>
                    </a:lnTo>
                    <a:lnTo>
                      <a:pt x="1611" y="2255"/>
                    </a:lnTo>
                    <a:lnTo>
                      <a:pt x="1611" y="2419"/>
                    </a:lnTo>
                    <a:lnTo>
                      <a:pt x="1611" y="2581"/>
                    </a:lnTo>
                    <a:lnTo>
                      <a:pt x="1611" y="2744"/>
                    </a:lnTo>
                    <a:lnTo>
                      <a:pt x="1611" y="2906"/>
                    </a:lnTo>
                    <a:lnTo>
                      <a:pt x="1611" y="3068"/>
                    </a:lnTo>
                    <a:lnTo>
                      <a:pt x="282" y="3068"/>
                    </a:lnTo>
                    <a:lnTo>
                      <a:pt x="282" y="2906"/>
                    </a:lnTo>
                    <a:lnTo>
                      <a:pt x="282" y="2744"/>
                    </a:lnTo>
                    <a:lnTo>
                      <a:pt x="282" y="2581"/>
                    </a:lnTo>
                    <a:lnTo>
                      <a:pt x="282" y="2419"/>
                    </a:lnTo>
                    <a:lnTo>
                      <a:pt x="282" y="2255"/>
                    </a:lnTo>
                    <a:lnTo>
                      <a:pt x="282" y="2093"/>
                    </a:lnTo>
                    <a:lnTo>
                      <a:pt x="282" y="1930"/>
                    </a:lnTo>
                    <a:lnTo>
                      <a:pt x="282" y="1767"/>
                    </a:lnTo>
                    <a:lnTo>
                      <a:pt x="282" y="1605"/>
                    </a:lnTo>
                    <a:lnTo>
                      <a:pt x="282" y="1442"/>
                    </a:lnTo>
                    <a:lnTo>
                      <a:pt x="282" y="1280"/>
                    </a:lnTo>
                    <a:lnTo>
                      <a:pt x="282" y="1117"/>
                    </a:lnTo>
                    <a:lnTo>
                      <a:pt x="282" y="953"/>
                    </a:lnTo>
                    <a:lnTo>
                      <a:pt x="282" y="791"/>
                    </a:lnTo>
                    <a:lnTo>
                      <a:pt x="282" y="628"/>
                    </a:lnTo>
                    <a:lnTo>
                      <a:pt x="282" y="466"/>
                    </a:lnTo>
                    <a:lnTo>
                      <a:pt x="282" y="303"/>
                    </a:lnTo>
                    <a:lnTo>
                      <a:pt x="1611" y="303"/>
                    </a:lnTo>
                    <a:lnTo>
                      <a:pt x="1611" y="466"/>
                    </a:lnTo>
                    <a:lnTo>
                      <a:pt x="1611" y="628"/>
                    </a:lnTo>
                    <a:lnTo>
                      <a:pt x="1611" y="791"/>
                    </a:lnTo>
                    <a:lnTo>
                      <a:pt x="1611" y="953"/>
                    </a:lnTo>
                    <a:close/>
                  </a:path>
                </a:pathLst>
              </a:custGeom>
              <a:solidFill>
                <a:srgbClr val="005596"/>
              </a:solidFill>
              <a:ln>
                <a:noFill/>
              </a:ln>
              <a:effectLst/>
              <a:extLst>
                <a:ext uri="{91240B29-F687-4F45-9708-019B960494DF}">
                  <a14:hiddenLine xmlns:a14="http://schemas.microsoft.com/office/drawing/2010/main" w="9525" cap="flat" cmpd="sng">
                    <a:solidFill>
                      <a:schemeClr val="bg2"/>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endParaRPr lang="en-US">
                  <a:latin typeface="Arial" pitchFamily="34" charset="0"/>
                  <a:cs typeface="Arial" pitchFamily="34" charset="0"/>
                </a:endParaRPr>
              </a:p>
            </p:txBody>
          </p:sp>
          <p:sp>
            <p:nvSpPr>
              <p:cNvPr id="2470" name="Rectangle 1186"/>
              <p:cNvSpPr>
                <a:spLocks noChangeArrowheads="1"/>
              </p:cNvSpPr>
              <p:nvPr/>
            </p:nvSpPr>
            <p:spPr bwMode="auto">
              <a:xfrm>
                <a:off x="6629401" y="4720588"/>
                <a:ext cx="7032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1" name="Rectangle 1187"/>
              <p:cNvSpPr>
                <a:spLocks noChangeArrowheads="1"/>
              </p:cNvSpPr>
              <p:nvPr/>
            </p:nvSpPr>
            <p:spPr bwMode="auto">
              <a:xfrm>
                <a:off x="6629401" y="4634863"/>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2" name="Rectangle 1188"/>
              <p:cNvSpPr>
                <a:spLocks noChangeArrowheads="1"/>
              </p:cNvSpPr>
              <p:nvPr/>
            </p:nvSpPr>
            <p:spPr bwMode="auto">
              <a:xfrm>
                <a:off x="6629401" y="4549138"/>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3" name="Rectangle 1189"/>
              <p:cNvSpPr>
                <a:spLocks noChangeArrowheads="1"/>
              </p:cNvSpPr>
              <p:nvPr/>
            </p:nvSpPr>
            <p:spPr bwMode="auto">
              <a:xfrm>
                <a:off x="6629401" y="4463413"/>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4" name="Rectangle 1190"/>
              <p:cNvSpPr>
                <a:spLocks noChangeArrowheads="1"/>
              </p:cNvSpPr>
              <p:nvPr/>
            </p:nvSpPr>
            <p:spPr bwMode="auto">
              <a:xfrm>
                <a:off x="6629401" y="4376100"/>
                <a:ext cx="703263"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5" name="Rectangle 1191"/>
              <p:cNvSpPr>
                <a:spLocks noChangeArrowheads="1"/>
              </p:cNvSpPr>
              <p:nvPr/>
            </p:nvSpPr>
            <p:spPr bwMode="auto">
              <a:xfrm>
                <a:off x="6629401" y="4893625"/>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6" name="Rectangle 1192"/>
              <p:cNvSpPr>
                <a:spLocks noChangeArrowheads="1"/>
              </p:cNvSpPr>
              <p:nvPr/>
            </p:nvSpPr>
            <p:spPr bwMode="auto">
              <a:xfrm>
                <a:off x="6629401" y="4979350"/>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7" name="Rectangle 1193"/>
              <p:cNvSpPr>
                <a:spLocks noChangeArrowheads="1"/>
              </p:cNvSpPr>
              <p:nvPr/>
            </p:nvSpPr>
            <p:spPr bwMode="auto">
              <a:xfrm>
                <a:off x="6629401" y="5065075"/>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8" name="Rectangle 1194"/>
              <p:cNvSpPr>
                <a:spLocks noChangeArrowheads="1"/>
              </p:cNvSpPr>
              <p:nvPr/>
            </p:nvSpPr>
            <p:spPr bwMode="auto">
              <a:xfrm>
                <a:off x="6629401" y="5150800"/>
                <a:ext cx="703263" cy="87313"/>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79" name="Rectangle 1195"/>
              <p:cNvSpPr>
                <a:spLocks noChangeArrowheads="1"/>
              </p:cNvSpPr>
              <p:nvPr/>
            </p:nvSpPr>
            <p:spPr bwMode="auto">
              <a:xfrm>
                <a:off x="6629401" y="5238113"/>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0" name="Rectangle 1196"/>
              <p:cNvSpPr>
                <a:spLocks noChangeArrowheads="1"/>
              </p:cNvSpPr>
              <p:nvPr/>
            </p:nvSpPr>
            <p:spPr bwMode="auto">
              <a:xfrm>
                <a:off x="6629401" y="5323838"/>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1" name="Rectangle 1197"/>
              <p:cNvSpPr>
                <a:spLocks noChangeArrowheads="1"/>
              </p:cNvSpPr>
              <p:nvPr/>
            </p:nvSpPr>
            <p:spPr bwMode="auto">
              <a:xfrm>
                <a:off x="6629401" y="4807900"/>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2" name="Rectangle 1198"/>
              <p:cNvSpPr>
                <a:spLocks noChangeArrowheads="1"/>
              </p:cNvSpPr>
              <p:nvPr/>
            </p:nvSpPr>
            <p:spPr bwMode="auto">
              <a:xfrm>
                <a:off x="6629401" y="5409563"/>
                <a:ext cx="703263" cy="873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3" name="Rectangle 1199"/>
              <p:cNvSpPr>
                <a:spLocks noChangeArrowheads="1"/>
              </p:cNvSpPr>
              <p:nvPr/>
            </p:nvSpPr>
            <p:spPr bwMode="auto">
              <a:xfrm>
                <a:off x="6629401" y="5754050"/>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4" name="Rectangle 1200"/>
              <p:cNvSpPr>
                <a:spLocks noChangeArrowheads="1"/>
              </p:cNvSpPr>
              <p:nvPr/>
            </p:nvSpPr>
            <p:spPr bwMode="auto">
              <a:xfrm>
                <a:off x="6629401" y="5668325"/>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5" name="Rectangle 1201"/>
              <p:cNvSpPr>
                <a:spLocks noChangeArrowheads="1"/>
              </p:cNvSpPr>
              <p:nvPr/>
            </p:nvSpPr>
            <p:spPr bwMode="auto">
              <a:xfrm>
                <a:off x="6629401" y="5582600"/>
                <a:ext cx="703263" cy="85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6" name="Rectangle 1202"/>
              <p:cNvSpPr>
                <a:spLocks noChangeArrowheads="1"/>
              </p:cNvSpPr>
              <p:nvPr/>
            </p:nvSpPr>
            <p:spPr bwMode="auto">
              <a:xfrm>
                <a:off x="6629401" y="5496875"/>
                <a:ext cx="703263" cy="85725"/>
              </a:xfrm>
              <a:prstGeom prst="rect">
                <a:avLst/>
              </a:prstGeom>
              <a:solidFill>
                <a:srgbClr val="84848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sp>
            <p:nvSpPr>
              <p:cNvPr id="2487" name="Rectangle 1203"/>
              <p:cNvSpPr>
                <a:spLocks noChangeArrowheads="1"/>
              </p:cNvSpPr>
              <p:nvPr/>
            </p:nvSpPr>
            <p:spPr bwMode="auto">
              <a:xfrm>
                <a:off x="6480176" y="4215763"/>
                <a:ext cx="1001713" cy="1795463"/>
              </a:xfrm>
              <a:prstGeom prst="rect">
                <a:avLst/>
              </a:prstGeom>
              <a:noFill/>
              <a:ln w="0">
                <a:solidFill>
                  <a:srgbClr val="999999"/>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488" name="Line 1204"/>
              <p:cNvSpPr>
                <a:spLocks noChangeShapeType="1"/>
              </p:cNvSpPr>
              <p:nvPr/>
            </p:nvSpPr>
            <p:spPr bwMode="auto">
              <a:xfrm flipV="1">
                <a:off x="7332663"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89" name="Line 1205"/>
              <p:cNvSpPr>
                <a:spLocks noChangeShapeType="1"/>
              </p:cNvSpPr>
              <p:nvPr/>
            </p:nvSpPr>
            <p:spPr bwMode="auto">
              <a:xfrm flipV="1">
                <a:off x="7332663"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0" name="Line 1206"/>
              <p:cNvSpPr>
                <a:spLocks noChangeShapeType="1"/>
              </p:cNvSpPr>
              <p:nvPr/>
            </p:nvSpPr>
            <p:spPr bwMode="auto">
              <a:xfrm flipV="1">
                <a:off x="7332663"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1" name="Freeform 1207"/>
              <p:cNvSpPr>
                <a:spLocks/>
              </p:cNvSpPr>
              <p:nvPr/>
            </p:nvSpPr>
            <p:spPr bwMode="auto">
              <a:xfrm>
                <a:off x="6629401" y="4376100"/>
                <a:ext cx="703263" cy="87313"/>
              </a:xfrm>
              <a:custGeom>
                <a:avLst/>
                <a:gdLst>
                  <a:gd name="T0" fmla="*/ 1329 w 1329"/>
                  <a:gd name="T1" fmla="*/ 163 h 163"/>
                  <a:gd name="T2" fmla="*/ 1329 w 1329"/>
                  <a:gd name="T3" fmla="*/ 0 h 163"/>
                  <a:gd name="T4" fmla="*/ 0 w 1329"/>
                  <a:gd name="T5" fmla="*/ 0 h 163"/>
                  <a:gd name="T6" fmla="*/ 0 w 1329"/>
                  <a:gd name="T7" fmla="*/ 163 h 163"/>
                </a:gdLst>
                <a:ahLst/>
                <a:cxnLst>
                  <a:cxn ang="0">
                    <a:pos x="T0" y="T1"/>
                  </a:cxn>
                  <a:cxn ang="0">
                    <a:pos x="T2" y="T3"/>
                  </a:cxn>
                  <a:cxn ang="0">
                    <a:pos x="T4" y="T5"/>
                  </a:cxn>
                  <a:cxn ang="0">
                    <a:pos x="T6" y="T7"/>
                  </a:cxn>
                </a:cxnLst>
                <a:rect l="0" t="0" r="r" b="b"/>
                <a:pathLst>
                  <a:path w="1329" h="163">
                    <a:moveTo>
                      <a:pt x="1329" y="163"/>
                    </a:moveTo>
                    <a:lnTo>
                      <a:pt x="1329" y="0"/>
                    </a:lnTo>
                    <a:lnTo>
                      <a:pt x="0" y="0"/>
                    </a:lnTo>
                    <a:lnTo>
                      <a:pt x="0" y="163"/>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492" name="Line 1208"/>
              <p:cNvSpPr>
                <a:spLocks noChangeShapeType="1"/>
              </p:cNvSpPr>
              <p:nvPr/>
            </p:nvSpPr>
            <p:spPr bwMode="auto">
              <a:xfrm>
                <a:off x="6629401" y="44634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3" name="Line 1209"/>
              <p:cNvSpPr>
                <a:spLocks noChangeShapeType="1"/>
              </p:cNvSpPr>
              <p:nvPr/>
            </p:nvSpPr>
            <p:spPr bwMode="auto">
              <a:xfrm>
                <a:off x="6629401" y="45491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4" name="Line 1210"/>
              <p:cNvSpPr>
                <a:spLocks noChangeShapeType="1"/>
              </p:cNvSpPr>
              <p:nvPr/>
            </p:nvSpPr>
            <p:spPr bwMode="auto">
              <a:xfrm>
                <a:off x="6629401" y="463486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5" name="Line 1211"/>
              <p:cNvSpPr>
                <a:spLocks noChangeShapeType="1"/>
              </p:cNvSpPr>
              <p:nvPr/>
            </p:nvSpPr>
            <p:spPr bwMode="auto">
              <a:xfrm>
                <a:off x="6629401"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6" name="Line 1212"/>
              <p:cNvSpPr>
                <a:spLocks noChangeShapeType="1"/>
              </p:cNvSpPr>
              <p:nvPr/>
            </p:nvSpPr>
            <p:spPr bwMode="auto">
              <a:xfrm>
                <a:off x="6629401"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7" name="Line 1213"/>
              <p:cNvSpPr>
                <a:spLocks noChangeShapeType="1"/>
              </p:cNvSpPr>
              <p:nvPr/>
            </p:nvSpPr>
            <p:spPr bwMode="auto">
              <a:xfrm>
                <a:off x="6629401"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8" name="Line 1214"/>
              <p:cNvSpPr>
                <a:spLocks noChangeShapeType="1"/>
              </p:cNvSpPr>
              <p:nvPr/>
            </p:nvSpPr>
            <p:spPr bwMode="auto">
              <a:xfrm>
                <a:off x="6629401"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499" name="Line 1215"/>
              <p:cNvSpPr>
                <a:spLocks noChangeShapeType="1"/>
              </p:cNvSpPr>
              <p:nvPr/>
            </p:nvSpPr>
            <p:spPr bwMode="auto">
              <a:xfrm>
                <a:off x="6629401"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0" name="Line 1216"/>
              <p:cNvSpPr>
                <a:spLocks noChangeShapeType="1"/>
              </p:cNvSpPr>
              <p:nvPr/>
            </p:nvSpPr>
            <p:spPr bwMode="auto">
              <a:xfrm>
                <a:off x="6629401"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1" name="Line 1217"/>
              <p:cNvSpPr>
                <a:spLocks noChangeShapeType="1"/>
              </p:cNvSpPr>
              <p:nvPr/>
            </p:nvSpPr>
            <p:spPr bwMode="auto">
              <a:xfrm>
                <a:off x="6629401"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2" name="Line 1218"/>
              <p:cNvSpPr>
                <a:spLocks noChangeShapeType="1"/>
              </p:cNvSpPr>
              <p:nvPr/>
            </p:nvSpPr>
            <p:spPr bwMode="auto">
              <a:xfrm flipV="1">
                <a:off x="7332663" y="5323838"/>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3" name="Line 1219"/>
              <p:cNvSpPr>
                <a:spLocks noChangeShapeType="1"/>
              </p:cNvSpPr>
              <p:nvPr/>
            </p:nvSpPr>
            <p:spPr bwMode="auto">
              <a:xfrm flipV="1">
                <a:off x="7332663" y="5238113"/>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4" name="Line 1220"/>
              <p:cNvSpPr>
                <a:spLocks noChangeShapeType="1"/>
              </p:cNvSpPr>
              <p:nvPr/>
            </p:nvSpPr>
            <p:spPr bwMode="auto">
              <a:xfrm flipV="1">
                <a:off x="7332663" y="5150800"/>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5" name="Line 1221"/>
              <p:cNvSpPr>
                <a:spLocks noChangeShapeType="1"/>
              </p:cNvSpPr>
              <p:nvPr/>
            </p:nvSpPr>
            <p:spPr bwMode="auto">
              <a:xfrm flipV="1">
                <a:off x="7332663" y="50650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6" name="Line 1222"/>
              <p:cNvSpPr>
                <a:spLocks noChangeShapeType="1"/>
              </p:cNvSpPr>
              <p:nvPr/>
            </p:nvSpPr>
            <p:spPr bwMode="auto">
              <a:xfrm flipV="1">
                <a:off x="7332663" y="497935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7" name="Line 1223"/>
              <p:cNvSpPr>
                <a:spLocks noChangeShapeType="1"/>
              </p:cNvSpPr>
              <p:nvPr/>
            </p:nvSpPr>
            <p:spPr bwMode="auto">
              <a:xfrm flipV="1">
                <a:off x="7332663" y="48936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8" name="Line 1224"/>
              <p:cNvSpPr>
                <a:spLocks noChangeShapeType="1"/>
              </p:cNvSpPr>
              <p:nvPr/>
            </p:nvSpPr>
            <p:spPr bwMode="auto">
              <a:xfrm>
                <a:off x="6629401" y="4807900"/>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09" name="Line 1225"/>
              <p:cNvSpPr>
                <a:spLocks noChangeShapeType="1"/>
              </p:cNvSpPr>
              <p:nvPr/>
            </p:nvSpPr>
            <p:spPr bwMode="auto">
              <a:xfrm flipH="1">
                <a:off x="6629401" y="4720588"/>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0" name="Line 1226"/>
              <p:cNvSpPr>
                <a:spLocks noChangeShapeType="1"/>
              </p:cNvSpPr>
              <p:nvPr/>
            </p:nvSpPr>
            <p:spPr bwMode="auto">
              <a:xfrm>
                <a:off x="6629401" y="4634863"/>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1" name="Line 1227"/>
              <p:cNvSpPr>
                <a:spLocks noChangeShapeType="1"/>
              </p:cNvSpPr>
              <p:nvPr/>
            </p:nvSpPr>
            <p:spPr bwMode="auto">
              <a:xfrm flipH="1">
                <a:off x="6629401" y="4549138"/>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2" name="Line 1228"/>
              <p:cNvSpPr>
                <a:spLocks noChangeShapeType="1"/>
              </p:cNvSpPr>
              <p:nvPr/>
            </p:nvSpPr>
            <p:spPr bwMode="auto">
              <a:xfrm>
                <a:off x="6629401" y="4463413"/>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3" name="Line 1229"/>
              <p:cNvSpPr>
                <a:spLocks noChangeShapeType="1"/>
              </p:cNvSpPr>
              <p:nvPr/>
            </p:nvSpPr>
            <p:spPr bwMode="auto">
              <a:xfrm flipH="1">
                <a:off x="6629401" y="4893625"/>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4" name="Line 1230"/>
              <p:cNvSpPr>
                <a:spLocks noChangeShapeType="1"/>
              </p:cNvSpPr>
              <p:nvPr/>
            </p:nvSpPr>
            <p:spPr bwMode="auto">
              <a:xfrm>
                <a:off x="6629401" y="4979350"/>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5" name="Line 1231"/>
              <p:cNvSpPr>
                <a:spLocks noChangeShapeType="1"/>
              </p:cNvSpPr>
              <p:nvPr/>
            </p:nvSpPr>
            <p:spPr bwMode="auto">
              <a:xfrm flipH="1">
                <a:off x="6629401" y="5065075"/>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6" name="Line 1232"/>
              <p:cNvSpPr>
                <a:spLocks noChangeShapeType="1"/>
              </p:cNvSpPr>
              <p:nvPr/>
            </p:nvSpPr>
            <p:spPr bwMode="auto">
              <a:xfrm>
                <a:off x="6629401" y="5150800"/>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7" name="Line 1233"/>
              <p:cNvSpPr>
                <a:spLocks noChangeShapeType="1"/>
              </p:cNvSpPr>
              <p:nvPr/>
            </p:nvSpPr>
            <p:spPr bwMode="auto">
              <a:xfrm flipH="1">
                <a:off x="6629401" y="5238113"/>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8" name="Line 1234"/>
              <p:cNvSpPr>
                <a:spLocks noChangeShapeType="1"/>
              </p:cNvSpPr>
              <p:nvPr/>
            </p:nvSpPr>
            <p:spPr bwMode="auto">
              <a:xfrm>
                <a:off x="6629401" y="5323838"/>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19" name="Line 1235"/>
              <p:cNvSpPr>
                <a:spLocks noChangeShapeType="1"/>
              </p:cNvSpPr>
              <p:nvPr/>
            </p:nvSpPr>
            <p:spPr bwMode="auto">
              <a:xfrm>
                <a:off x="6629401" y="5409563"/>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0" name="Line 1236"/>
              <p:cNvSpPr>
                <a:spLocks noChangeShapeType="1"/>
              </p:cNvSpPr>
              <p:nvPr/>
            </p:nvSpPr>
            <p:spPr bwMode="auto">
              <a:xfrm>
                <a:off x="6629401"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1" name="Line 1237"/>
              <p:cNvSpPr>
                <a:spLocks noChangeShapeType="1"/>
              </p:cNvSpPr>
              <p:nvPr/>
            </p:nvSpPr>
            <p:spPr bwMode="auto">
              <a:xfrm flipV="1">
                <a:off x="7332663" y="48079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2" name="Freeform 1238"/>
              <p:cNvSpPr>
                <a:spLocks/>
              </p:cNvSpPr>
              <p:nvPr/>
            </p:nvSpPr>
            <p:spPr bwMode="auto">
              <a:xfrm>
                <a:off x="6629401" y="5754050"/>
                <a:ext cx="703263" cy="85725"/>
              </a:xfrm>
              <a:custGeom>
                <a:avLst/>
                <a:gdLst>
                  <a:gd name="T0" fmla="*/ 0 w 1329"/>
                  <a:gd name="T1" fmla="*/ 0 h 162"/>
                  <a:gd name="T2" fmla="*/ 0 w 1329"/>
                  <a:gd name="T3" fmla="*/ 162 h 162"/>
                  <a:gd name="T4" fmla="*/ 1329 w 1329"/>
                  <a:gd name="T5" fmla="*/ 162 h 162"/>
                  <a:gd name="T6" fmla="*/ 1329 w 1329"/>
                  <a:gd name="T7" fmla="*/ 0 h 162"/>
                </a:gdLst>
                <a:ahLst/>
                <a:cxnLst>
                  <a:cxn ang="0">
                    <a:pos x="T0" y="T1"/>
                  </a:cxn>
                  <a:cxn ang="0">
                    <a:pos x="T2" y="T3"/>
                  </a:cxn>
                  <a:cxn ang="0">
                    <a:pos x="T4" y="T5"/>
                  </a:cxn>
                  <a:cxn ang="0">
                    <a:pos x="T6" y="T7"/>
                  </a:cxn>
                </a:cxnLst>
                <a:rect l="0" t="0" r="r" b="b"/>
                <a:pathLst>
                  <a:path w="1329" h="162">
                    <a:moveTo>
                      <a:pt x="0" y="0"/>
                    </a:moveTo>
                    <a:lnTo>
                      <a:pt x="0" y="162"/>
                    </a:lnTo>
                    <a:lnTo>
                      <a:pt x="1329" y="162"/>
                    </a:lnTo>
                    <a:lnTo>
                      <a:pt x="1329" y="0"/>
                    </a:lnTo>
                  </a:path>
                </a:pathLst>
              </a:custGeom>
              <a:noFill/>
              <a:ln w="12700">
                <a:solidFill>
                  <a:srgbClr val="3C3C3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23" name="Line 1239"/>
              <p:cNvSpPr>
                <a:spLocks noChangeShapeType="1"/>
              </p:cNvSpPr>
              <p:nvPr/>
            </p:nvSpPr>
            <p:spPr bwMode="auto">
              <a:xfrm flipV="1">
                <a:off x="7332663"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4" name="Line 1240"/>
              <p:cNvSpPr>
                <a:spLocks noChangeShapeType="1"/>
              </p:cNvSpPr>
              <p:nvPr/>
            </p:nvSpPr>
            <p:spPr bwMode="auto">
              <a:xfrm flipV="1">
                <a:off x="7332663"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5" name="Line 1241"/>
              <p:cNvSpPr>
                <a:spLocks noChangeShapeType="1"/>
              </p:cNvSpPr>
              <p:nvPr/>
            </p:nvSpPr>
            <p:spPr bwMode="auto">
              <a:xfrm flipV="1">
                <a:off x="7332663"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6" name="Line 1242"/>
              <p:cNvSpPr>
                <a:spLocks noChangeShapeType="1"/>
              </p:cNvSpPr>
              <p:nvPr/>
            </p:nvSpPr>
            <p:spPr bwMode="auto">
              <a:xfrm>
                <a:off x="6629401" y="549687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7" name="Line 1243"/>
              <p:cNvSpPr>
                <a:spLocks noChangeShapeType="1"/>
              </p:cNvSpPr>
              <p:nvPr/>
            </p:nvSpPr>
            <p:spPr bwMode="auto">
              <a:xfrm>
                <a:off x="6629401" y="5582600"/>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8" name="Line 1244"/>
              <p:cNvSpPr>
                <a:spLocks noChangeShapeType="1"/>
              </p:cNvSpPr>
              <p:nvPr/>
            </p:nvSpPr>
            <p:spPr bwMode="auto">
              <a:xfrm>
                <a:off x="6629401" y="5668325"/>
                <a:ext cx="0" cy="85725"/>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29" name="Line 1245"/>
              <p:cNvSpPr>
                <a:spLocks noChangeShapeType="1"/>
              </p:cNvSpPr>
              <p:nvPr/>
            </p:nvSpPr>
            <p:spPr bwMode="auto">
              <a:xfrm flipH="1">
                <a:off x="6629401" y="5754050"/>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0" name="Line 1246"/>
              <p:cNvSpPr>
                <a:spLocks noChangeShapeType="1"/>
              </p:cNvSpPr>
              <p:nvPr/>
            </p:nvSpPr>
            <p:spPr bwMode="auto">
              <a:xfrm>
                <a:off x="6629401" y="5668325"/>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1" name="Line 1247"/>
              <p:cNvSpPr>
                <a:spLocks noChangeShapeType="1"/>
              </p:cNvSpPr>
              <p:nvPr/>
            </p:nvSpPr>
            <p:spPr bwMode="auto">
              <a:xfrm flipH="1">
                <a:off x="6629401" y="5582600"/>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2" name="Line 1248"/>
              <p:cNvSpPr>
                <a:spLocks noChangeShapeType="1"/>
              </p:cNvSpPr>
              <p:nvPr/>
            </p:nvSpPr>
            <p:spPr bwMode="auto">
              <a:xfrm flipH="1">
                <a:off x="6629401" y="5496875"/>
                <a:ext cx="703263" cy="0"/>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3" name="Line 1249"/>
              <p:cNvSpPr>
                <a:spLocks noChangeShapeType="1"/>
              </p:cNvSpPr>
              <p:nvPr/>
            </p:nvSpPr>
            <p:spPr bwMode="auto">
              <a:xfrm flipV="1">
                <a:off x="7332663" y="4720588"/>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4" name="Line 1250"/>
              <p:cNvSpPr>
                <a:spLocks noChangeShapeType="1"/>
              </p:cNvSpPr>
              <p:nvPr/>
            </p:nvSpPr>
            <p:spPr bwMode="auto">
              <a:xfrm>
                <a:off x="6629401"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35" name="Line 1251"/>
              <p:cNvSpPr>
                <a:spLocks noChangeShapeType="1"/>
              </p:cNvSpPr>
              <p:nvPr/>
            </p:nvSpPr>
            <p:spPr bwMode="auto">
              <a:xfrm flipV="1">
                <a:off x="7332663" y="5409563"/>
                <a:ext cx="0" cy="87313"/>
              </a:xfrm>
              <a:prstGeom prst="line">
                <a:avLst/>
              </a:prstGeom>
              <a:noFill/>
              <a:ln w="12700">
                <a:solidFill>
                  <a:srgbClr val="3C3C3C"/>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grpSp>
        <p:sp>
          <p:nvSpPr>
            <p:cNvPr id="2541" name="Freeform 1705"/>
            <p:cNvSpPr>
              <a:spLocks/>
            </p:cNvSpPr>
            <p:nvPr/>
          </p:nvSpPr>
          <p:spPr bwMode="auto">
            <a:xfrm>
              <a:off x="777876" y="2033861"/>
              <a:ext cx="31750" cy="26988"/>
            </a:xfrm>
            <a:custGeom>
              <a:avLst/>
              <a:gdLst>
                <a:gd name="T0" fmla="*/ 60 w 60"/>
                <a:gd name="T1" fmla="*/ 0 h 50"/>
                <a:gd name="T2" fmla="*/ 26 w 60"/>
                <a:gd name="T3" fmla="*/ 24 h 50"/>
                <a:gd name="T4" fmla="*/ 0 w 60"/>
                <a:gd name="T5" fmla="*/ 50 h 50"/>
                <a:gd name="T6" fmla="*/ 12 w 60"/>
                <a:gd name="T7" fmla="*/ 36 h 50"/>
                <a:gd name="T8" fmla="*/ 35 w 60"/>
                <a:gd name="T9" fmla="*/ 15 h 50"/>
                <a:gd name="T10" fmla="*/ 60 w 60"/>
                <a:gd name="T11" fmla="*/ 0 h 50"/>
              </a:gdLst>
              <a:ahLst/>
              <a:cxnLst>
                <a:cxn ang="0">
                  <a:pos x="T0" y="T1"/>
                </a:cxn>
                <a:cxn ang="0">
                  <a:pos x="T2" y="T3"/>
                </a:cxn>
                <a:cxn ang="0">
                  <a:pos x="T4" y="T5"/>
                </a:cxn>
                <a:cxn ang="0">
                  <a:pos x="T6" y="T7"/>
                </a:cxn>
                <a:cxn ang="0">
                  <a:pos x="T8" y="T9"/>
                </a:cxn>
                <a:cxn ang="0">
                  <a:pos x="T10" y="T11"/>
                </a:cxn>
              </a:cxnLst>
              <a:rect l="0" t="0" r="r" b="b"/>
              <a:pathLst>
                <a:path w="60" h="50">
                  <a:moveTo>
                    <a:pt x="60" y="0"/>
                  </a:moveTo>
                  <a:lnTo>
                    <a:pt x="26" y="24"/>
                  </a:lnTo>
                  <a:lnTo>
                    <a:pt x="0" y="50"/>
                  </a:lnTo>
                  <a:lnTo>
                    <a:pt x="12" y="36"/>
                  </a:lnTo>
                  <a:lnTo>
                    <a:pt x="35" y="15"/>
                  </a:lnTo>
                  <a:lnTo>
                    <a:pt x="60" y="0"/>
                  </a:lnTo>
                  <a:close/>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42" name="Freeform 1706"/>
            <p:cNvSpPr>
              <a:spLocks/>
            </p:cNvSpPr>
            <p:nvPr/>
          </p:nvSpPr>
          <p:spPr bwMode="auto">
            <a:xfrm>
              <a:off x="809626" y="2033861"/>
              <a:ext cx="0"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43" name="Freeform 1710"/>
            <p:cNvSpPr>
              <a:spLocks/>
            </p:cNvSpPr>
            <p:nvPr/>
          </p:nvSpPr>
          <p:spPr bwMode="auto">
            <a:xfrm>
              <a:off x="531813" y="1959248"/>
              <a:ext cx="0" cy="0"/>
            </a:xfrm>
            <a:custGeom>
              <a:avLst/>
              <a:gdLst>
                <a:gd name="T0" fmla="*/ 0 w 1"/>
                <a:gd name="T1" fmla="*/ 1 w 1"/>
                <a:gd name="T2" fmla="*/ 0 w 1"/>
              </a:gdLst>
              <a:ahLst/>
              <a:cxnLst>
                <a:cxn ang="0">
                  <a:pos x="T0" y="0"/>
                </a:cxn>
                <a:cxn ang="0">
                  <a:pos x="T1" y="0"/>
                </a:cxn>
                <a:cxn ang="0">
                  <a:pos x="T2" y="0"/>
                </a:cxn>
              </a:cxnLst>
              <a:rect l="0" t="0" r="r" b="b"/>
              <a:pathLst>
                <a:path w="1">
                  <a:moveTo>
                    <a:pt x="0" y="0"/>
                  </a:moveTo>
                  <a:lnTo>
                    <a:pt x="1" y="0"/>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44" name="Freeform 1713"/>
            <p:cNvSpPr>
              <a:spLocks/>
            </p:cNvSpPr>
            <p:nvPr/>
          </p:nvSpPr>
          <p:spPr bwMode="auto">
            <a:xfrm>
              <a:off x="500063" y="1959248"/>
              <a:ext cx="31750" cy="26988"/>
            </a:xfrm>
            <a:custGeom>
              <a:avLst/>
              <a:gdLst>
                <a:gd name="T0" fmla="*/ 60 w 60"/>
                <a:gd name="T1" fmla="*/ 0 h 51"/>
                <a:gd name="T2" fmla="*/ 25 w 60"/>
                <a:gd name="T3" fmla="*/ 24 h 51"/>
                <a:gd name="T4" fmla="*/ 0 w 60"/>
                <a:gd name="T5" fmla="*/ 51 h 51"/>
                <a:gd name="T6" fmla="*/ 12 w 60"/>
                <a:gd name="T7" fmla="*/ 36 h 51"/>
                <a:gd name="T8" fmla="*/ 35 w 60"/>
                <a:gd name="T9" fmla="*/ 16 h 51"/>
                <a:gd name="T10" fmla="*/ 60 w 60"/>
                <a:gd name="T11" fmla="*/ 0 h 51"/>
              </a:gdLst>
              <a:ahLst/>
              <a:cxnLst>
                <a:cxn ang="0">
                  <a:pos x="T0" y="T1"/>
                </a:cxn>
                <a:cxn ang="0">
                  <a:pos x="T2" y="T3"/>
                </a:cxn>
                <a:cxn ang="0">
                  <a:pos x="T4" y="T5"/>
                </a:cxn>
                <a:cxn ang="0">
                  <a:pos x="T6" y="T7"/>
                </a:cxn>
                <a:cxn ang="0">
                  <a:pos x="T8" y="T9"/>
                </a:cxn>
                <a:cxn ang="0">
                  <a:pos x="T10" y="T11"/>
                </a:cxn>
              </a:cxnLst>
              <a:rect l="0" t="0" r="r" b="b"/>
              <a:pathLst>
                <a:path w="60" h="51">
                  <a:moveTo>
                    <a:pt x="60" y="0"/>
                  </a:moveTo>
                  <a:lnTo>
                    <a:pt x="25" y="24"/>
                  </a:lnTo>
                  <a:lnTo>
                    <a:pt x="0" y="51"/>
                  </a:lnTo>
                  <a:lnTo>
                    <a:pt x="12" y="36"/>
                  </a:lnTo>
                  <a:lnTo>
                    <a:pt x="35" y="16"/>
                  </a:lnTo>
                  <a:lnTo>
                    <a:pt x="60" y="0"/>
                  </a:lnTo>
                  <a:close/>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47" name="Rectangle 1720"/>
            <p:cNvSpPr>
              <a:spLocks noChangeArrowheads="1"/>
            </p:cNvSpPr>
            <p:nvPr/>
          </p:nvSpPr>
          <p:spPr bwMode="auto">
            <a:xfrm>
              <a:off x="2032356" y="187511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ru-RU" sz="1000" b="1" i="0" dirty="0">
                  <a:solidFill>
                    <a:srgbClr val="000000"/>
                  </a:solidFill>
                  <a:latin typeface="Arial" pitchFamily="34" charset="0"/>
                  <a:cs typeface="Arial" pitchFamily="34" charset="0"/>
                </a:rPr>
                <a:t>1</a:t>
              </a:r>
            </a:p>
          </p:txBody>
        </p:sp>
        <p:sp>
          <p:nvSpPr>
            <p:cNvPr id="2548" name="Rectangle 1721"/>
            <p:cNvSpPr>
              <a:spLocks noChangeArrowheads="1"/>
            </p:cNvSpPr>
            <p:nvPr/>
          </p:nvSpPr>
          <p:spPr bwMode="auto">
            <a:xfrm>
              <a:off x="4090988" y="187511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1000" b="1" i="0" dirty="0">
                  <a:solidFill>
                    <a:srgbClr val="000000"/>
                  </a:solidFill>
                  <a:latin typeface="Arial" pitchFamily="34" charset="0"/>
                  <a:cs typeface="Arial" pitchFamily="34" charset="0"/>
                </a:rPr>
                <a:t>2</a:t>
              </a:r>
            </a:p>
          </p:txBody>
        </p:sp>
        <p:sp>
          <p:nvSpPr>
            <p:cNvPr id="2549" name="Rectangle 1722"/>
            <p:cNvSpPr>
              <a:spLocks noChangeArrowheads="1"/>
            </p:cNvSpPr>
            <p:nvPr/>
          </p:nvSpPr>
          <p:spPr bwMode="auto">
            <a:xfrm>
              <a:off x="6084168" y="187511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ru-RU" sz="1000" b="1" i="0" dirty="0">
                  <a:solidFill>
                    <a:srgbClr val="000000"/>
                  </a:solidFill>
                  <a:latin typeface="Arial" pitchFamily="34" charset="0"/>
                  <a:cs typeface="Arial" pitchFamily="34" charset="0"/>
                </a:rPr>
                <a:t>3</a:t>
              </a:r>
            </a:p>
          </p:txBody>
        </p:sp>
        <p:sp>
          <p:nvSpPr>
            <p:cNvPr id="2550" name="Rectangle 1723"/>
            <p:cNvSpPr>
              <a:spLocks noChangeArrowheads="1"/>
            </p:cNvSpPr>
            <p:nvPr/>
          </p:nvSpPr>
          <p:spPr bwMode="auto">
            <a:xfrm>
              <a:off x="6919551" y="353615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FontTx/>
                <a:buNone/>
              </a:pPr>
              <a:r>
                <a:rPr lang="ru-RU" sz="1000" b="1" i="0" dirty="0">
                  <a:solidFill>
                    <a:srgbClr val="000000"/>
                  </a:solidFill>
                  <a:latin typeface="Arial" pitchFamily="34" charset="0"/>
                  <a:cs typeface="Arial" pitchFamily="34" charset="0"/>
                </a:rPr>
                <a:t>4</a:t>
              </a:r>
            </a:p>
          </p:txBody>
        </p:sp>
        <p:sp>
          <p:nvSpPr>
            <p:cNvPr id="2551" name="Rectangle 1724"/>
            <p:cNvSpPr>
              <a:spLocks noChangeArrowheads="1"/>
            </p:cNvSpPr>
            <p:nvPr/>
          </p:nvSpPr>
          <p:spPr bwMode="auto">
            <a:xfrm>
              <a:off x="4774127" y="353615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FontTx/>
                <a:buNone/>
              </a:pPr>
              <a:r>
                <a:rPr lang="ru-RU" sz="1000" b="1" i="0" dirty="0">
                  <a:solidFill>
                    <a:srgbClr val="000000"/>
                  </a:solidFill>
                  <a:latin typeface="Arial" pitchFamily="34" charset="0"/>
                  <a:cs typeface="Arial" pitchFamily="34" charset="0"/>
                </a:rPr>
                <a:t>5</a:t>
              </a:r>
            </a:p>
          </p:txBody>
        </p:sp>
        <p:sp>
          <p:nvSpPr>
            <p:cNvPr id="2552" name="Rectangle 1725"/>
            <p:cNvSpPr>
              <a:spLocks noChangeArrowheads="1"/>
            </p:cNvSpPr>
            <p:nvPr/>
          </p:nvSpPr>
          <p:spPr bwMode="auto">
            <a:xfrm>
              <a:off x="2674254" y="353615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FontTx/>
                <a:buNone/>
              </a:pPr>
              <a:r>
                <a:rPr lang="ru-RU" sz="1000" b="1" i="0" dirty="0">
                  <a:solidFill>
                    <a:srgbClr val="000000"/>
                  </a:solidFill>
                  <a:latin typeface="Arial" pitchFamily="34" charset="0"/>
                  <a:cs typeface="Arial" pitchFamily="34" charset="0"/>
                </a:rPr>
                <a:t>6</a:t>
              </a:r>
            </a:p>
          </p:txBody>
        </p:sp>
        <p:sp>
          <p:nvSpPr>
            <p:cNvPr id="2553" name="Rectangle 1726"/>
            <p:cNvSpPr>
              <a:spLocks noChangeArrowheads="1"/>
            </p:cNvSpPr>
            <p:nvPr/>
          </p:nvSpPr>
          <p:spPr bwMode="auto">
            <a:xfrm>
              <a:off x="4323687" y="3823183"/>
              <a:ext cx="10451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Сопоставляется с</a:t>
              </a:r>
            </a:p>
          </p:txBody>
        </p:sp>
        <p:sp>
          <p:nvSpPr>
            <p:cNvPr id="2554" name="Rectangle 1727"/>
            <p:cNvSpPr>
              <a:spLocks noChangeArrowheads="1"/>
            </p:cNvSpPr>
            <p:nvPr/>
          </p:nvSpPr>
          <p:spPr bwMode="auto">
            <a:xfrm>
              <a:off x="2216070" y="3823183"/>
              <a:ext cx="10451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0"/>
                </a:spcBef>
                <a:buClrTx/>
                <a:buFontTx/>
                <a:buNone/>
              </a:pPr>
              <a:r>
                <a:rPr lang="ru-RU" sz="900" b="1" i="0" dirty="0">
                  <a:solidFill>
                    <a:srgbClr val="000000"/>
                  </a:solidFill>
                  <a:latin typeface="Arial" pitchFamily="34" charset="0"/>
                  <a:cs typeface="Arial" pitchFamily="34" charset="0"/>
                </a:rPr>
                <a:t>Сопоставляется с</a:t>
              </a:r>
            </a:p>
          </p:txBody>
        </p:sp>
        <p:sp>
          <p:nvSpPr>
            <p:cNvPr id="2555" name="Rectangle 1729"/>
            <p:cNvSpPr>
              <a:spLocks noChangeArrowheads="1"/>
            </p:cNvSpPr>
            <p:nvPr/>
          </p:nvSpPr>
          <p:spPr bwMode="auto">
            <a:xfrm>
              <a:off x="542798" y="1798712"/>
              <a:ext cx="825547"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Пользователи</a:t>
              </a:r>
            </a:p>
          </p:txBody>
        </p:sp>
        <p:sp>
          <p:nvSpPr>
            <p:cNvPr id="2556" name="Rectangle 1730"/>
            <p:cNvSpPr>
              <a:spLocks noChangeArrowheads="1"/>
            </p:cNvSpPr>
            <p:nvPr/>
          </p:nvSpPr>
          <p:spPr bwMode="auto">
            <a:xfrm>
              <a:off x="2911395" y="1524162"/>
              <a:ext cx="403957"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Файлы</a:t>
              </a:r>
            </a:p>
          </p:txBody>
        </p:sp>
        <p:sp>
          <p:nvSpPr>
            <p:cNvPr id="2557" name="Rectangle 1731"/>
            <p:cNvSpPr>
              <a:spLocks noChangeArrowheads="1"/>
            </p:cNvSpPr>
            <p:nvPr/>
          </p:nvSpPr>
          <p:spPr bwMode="auto">
            <a:xfrm>
              <a:off x="4605859" y="1524162"/>
              <a:ext cx="108683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Файловая система</a:t>
              </a:r>
            </a:p>
          </p:txBody>
        </p:sp>
        <p:sp>
          <p:nvSpPr>
            <p:cNvPr id="2558" name="Rectangle 1732"/>
            <p:cNvSpPr>
              <a:spLocks noChangeArrowheads="1"/>
            </p:cNvSpPr>
            <p:nvPr/>
          </p:nvSpPr>
          <p:spPr bwMode="auto">
            <a:xfrm>
              <a:off x="6630405" y="1011560"/>
              <a:ext cx="1529265"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Блоки файловой системы</a:t>
              </a:r>
            </a:p>
          </p:txBody>
        </p:sp>
        <p:sp>
          <p:nvSpPr>
            <p:cNvPr id="2559" name="Rectangle 1734"/>
            <p:cNvSpPr>
              <a:spLocks noChangeArrowheads="1"/>
            </p:cNvSpPr>
            <p:nvPr/>
          </p:nvSpPr>
          <p:spPr bwMode="auto">
            <a:xfrm>
              <a:off x="5182241" y="2670125"/>
              <a:ext cx="1538883"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Логические экстенты LVM</a:t>
              </a:r>
            </a:p>
          </p:txBody>
        </p:sp>
        <p:sp>
          <p:nvSpPr>
            <p:cNvPr id="2560" name="Rectangle 1735"/>
            <p:cNvSpPr>
              <a:spLocks noChangeArrowheads="1"/>
            </p:cNvSpPr>
            <p:nvPr/>
          </p:nvSpPr>
          <p:spPr bwMode="auto">
            <a:xfrm>
              <a:off x="2949495" y="2670125"/>
              <a:ext cx="1700787"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Физические экстенты дисков</a:t>
              </a:r>
            </a:p>
          </p:txBody>
        </p:sp>
        <p:sp>
          <p:nvSpPr>
            <p:cNvPr id="2562" name="Rectangle 1737"/>
            <p:cNvSpPr>
              <a:spLocks noChangeArrowheads="1"/>
            </p:cNvSpPr>
            <p:nvPr/>
          </p:nvSpPr>
          <p:spPr bwMode="auto">
            <a:xfrm>
              <a:off x="1229401" y="2670125"/>
              <a:ext cx="91371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Сектора дисков</a:t>
              </a:r>
            </a:p>
          </p:txBody>
        </p:sp>
        <p:sp>
          <p:nvSpPr>
            <p:cNvPr id="2563" name="Rectangle 1738"/>
            <p:cNvSpPr>
              <a:spLocks noChangeArrowheads="1"/>
            </p:cNvSpPr>
            <p:nvPr/>
          </p:nvSpPr>
          <p:spPr bwMode="auto">
            <a:xfrm>
              <a:off x="1711245" y="2168277"/>
              <a:ext cx="6796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Создание/</a:t>
              </a:r>
              <a:br>
                <a:rPr lang="en-US" sz="900" b="1" i="0" dirty="0">
                  <a:solidFill>
                    <a:srgbClr val="FF00FF"/>
                  </a:solidFill>
                  <a:latin typeface="Arial" pitchFamily="34" charset="0"/>
                  <a:cs typeface="Arial" pitchFamily="34" charset="0"/>
                </a:rPr>
              </a:br>
              <a:r>
                <a:rPr lang="ru-RU" sz="900" b="1" i="0" dirty="0">
                  <a:solidFill>
                    <a:srgbClr val="000000"/>
                  </a:solidFill>
                  <a:latin typeface="Arial" pitchFamily="34" charset="0"/>
                  <a:cs typeface="Arial" pitchFamily="34" charset="0"/>
                </a:rPr>
                <a:t>управление</a:t>
              </a:r>
            </a:p>
          </p:txBody>
        </p:sp>
        <p:sp>
          <p:nvSpPr>
            <p:cNvPr id="2565" name="Rectangle 1740"/>
            <p:cNvSpPr>
              <a:spLocks noChangeArrowheads="1"/>
            </p:cNvSpPr>
            <p:nvPr/>
          </p:nvSpPr>
          <p:spPr bwMode="auto">
            <a:xfrm>
              <a:off x="5603450" y="2168277"/>
              <a:ext cx="10451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Сопоставляется с</a:t>
              </a:r>
            </a:p>
          </p:txBody>
        </p:sp>
        <p:sp>
          <p:nvSpPr>
            <p:cNvPr id="2566" name="Rectangle 1741"/>
            <p:cNvSpPr>
              <a:spLocks noChangeArrowheads="1"/>
            </p:cNvSpPr>
            <p:nvPr/>
          </p:nvSpPr>
          <p:spPr bwMode="auto">
            <a:xfrm>
              <a:off x="3729034" y="2168277"/>
              <a:ext cx="724557"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Находится в</a:t>
              </a:r>
            </a:p>
          </p:txBody>
        </p:sp>
        <p:sp>
          <p:nvSpPr>
            <p:cNvPr id="2567" name="Rectangle 1742"/>
            <p:cNvSpPr>
              <a:spLocks noChangeArrowheads="1"/>
            </p:cNvSpPr>
            <p:nvPr/>
          </p:nvSpPr>
          <p:spPr bwMode="auto">
            <a:xfrm>
              <a:off x="6473745" y="3823183"/>
              <a:ext cx="104515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ru-RU" sz="900" b="1" i="0" dirty="0">
                  <a:solidFill>
                    <a:srgbClr val="000000"/>
                  </a:solidFill>
                  <a:latin typeface="Arial" pitchFamily="34" charset="0"/>
                  <a:cs typeface="Arial" pitchFamily="34" charset="0"/>
                </a:rPr>
                <a:t>Сопоставляется с</a:t>
              </a:r>
            </a:p>
          </p:txBody>
        </p:sp>
        <p:grpSp>
          <p:nvGrpSpPr>
            <p:cNvPr id="2568" name="Group 1747"/>
            <p:cNvGrpSpPr>
              <a:grpSpLocks/>
            </p:cNvGrpSpPr>
            <p:nvPr/>
          </p:nvGrpSpPr>
          <p:grpSpPr bwMode="auto">
            <a:xfrm>
              <a:off x="4794250" y="1727473"/>
              <a:ext cx="685800" cy="695325"/>
              <a:chOff x="1626" y="426"/>
              <a:chExt cx="287" cy="288"/>
            </a:xfrm>
          </p:grpSpPr>
          <p:sp>
            <p:nvSpPr>
              <p:cNvPr id="2569" name="Freeform 1748"/>
              <p:cNvSpPr>
                <a:spLocks/>
              </p:cNvSpPr>
              <p:nvPr/>
            </p:nvSpPr>
            <p:spPr bwMode="auto">
              <a:xfrm>
                <a:off x="1626" y="555"/>
                <a:ext cx="141" cy="159"/>
              </a:xfrm>
              <a:custGeom>
                <a:avLst/>
                <a:gdLst>
                  <a:gd name="T0" fmla="*/ 308 w 423"/>
                  <a:gd name="T1" fmla="*/ 122 h 475"/>
                  <a:gd name="T2" fmla="*/ 308 w 423"/>
                  <a:gd name="T3" fmla="*/ 0 h 475"/>
                  <a:gd name="T4" fmla="*/ 0 w 423"/>
                  <a:gd name="T5" fmla="*/ 0 h 475"/>
                  <a:gd name="T6" fmla="*/ 0 w 423"/>
                  <a:gd name="T7" fmla="*/ 475 h 475"/>
                  <a:gd name="T8" fmla="*/ 423 w 423"/>
                  <a:gd name="T9" fmla="*/ 475 h 475"/>
                  <a:gd name="T10" fmla="*/ 423 w 423"/>
                  <a:gd name="T11" fmla="*/ 122 h 475"/>
                  <a:gd name="T12" fmla="*/ 308 w 423"/>
                  <a:gd name="T13" fmla="*/ 122 h 475"/>
                </a:gdLst>
                <a:ahLst/>
                <a:cxnLst>
                  <a:cxn ang="0">
                    <a:pos x="T0" y="T1"/>
                  </a:cxn>
                  <a:cxn ang="0">
                    <a:pos x="T2" y="T3"/>
                  </a:cxn>
                  <a:cxn ang="0">
                    <a:pos x="T4" y="T5"/>
                  </a:cxn>
                  <a:cxn ang="0">
                    <a:pos x="T6" y="T7"/>
                  </a:cxn>
                  <a:cxn ang="0">
                    <a:pos x="T8" y="T9"/>
                  </a:cxn>
                  <a:cxn ang="0">
                    <a:pos x="T10" y="T11"/>
                  </a:cxn>
                  <a:cxn ang="0">
                    <a:pos x="T12" y="T13"/>
                  </a:cxn>
                </a:cxnLst>
                <a:rect l="0" t="0" r="r" b="b"/>
                <a:pathLst>
                  <a:path w="423" h="475">
                    <a:moveTo>
                      <a:pt x="308" y="122"/>
                    </a:moveTo>
                    <a:lnTo>
                      <a:pt x="308" y="0"/>
                    </a:lnTo>
                    <a:lnTo>
                      <a:pt x="0" y="0"/>
                    </a:lnTo>
                    <a:lnTo>
                      <a:pt x="0" y="475"/>
                    </a:lnTo>
                    <a:lnTo>
                      <a:pt x="423" y="475"/>
                    </a:lnTo>
                    <a:lnTo>
                      <a:pt x="423" y="122"/>
                    </a:lnTo>
                    <a:lnTo>
                      <a:pt x="308" y="122"/>
                    </a:lnTo>
                    <a:close/>
                  </a:path>
                </a:pathLst>
              </a:custGeom>
              <a:gradFill rotWithShape="1">
                <a:gsLst>
                  <a:gs pos="0">
                    <a:srgbClr val="B4B4B4"/>
                  </a:gs>
                  <a:gs pos="50000">
                    <a:srgbClr val="D9D9D9"/>
                  </a:gs>
                  <a:gs pos="100000">
                    <a:srgbClr val="B4B4B4"/>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itchFamily="34" charset="0"/>
                  <a:cs typeface="Arial" pitchFamily="34" charset="0"/>
                </a:endParaRPr>
              </a:p>
            </p:txBody>
          </p:sp>
          <p:sp>
            <p:nvSpPr>
              <p:cNvPr id="2570" name="Line 1749"/>
              <p:cNvSpPr>
                <a:spLocks noChangeShapeType="1"/>
              </p:cNvSpPr>
              <p:nvPr/>
            </p:nvSpPr>
            <p:spPr bwMode="auto">
              <a:xfrm>
                <a:off x="1648" y="612"/>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71" name="Line 1750"/>
              <p:cNvSpPr>
                <a:spLocks noChangeShapeType="1"/>
              </p:cNvSpPr>
              <p:nvPr/>
            </p:nvSpPr>
            <p:spPr bwMode="auto">
              <a:xfrm>
                <a:off x="1650" y="668"/>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72" name="Line 1751"/>
              <p:cNvSpPr>
                <a:spLocks noChangeShapeType="1"/>
              </p:cNvSpPr>
              <p:nvPr/>
            </p:nvSpPr>
            <p:spPr bwMode="auto">
              <a:xfrm>
                <a:off x="1648" y="640"/>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73" name="Freeform 1752"/>
              <p:cNvSpPr>
                <a:spLocks/>
              </p:cNvSpPr>
              <p:nvPr/>
            </p:nvSpPr>
            <p:spPr bwMode="auto">
              <a:xfrm>
                <a:off x="1729" y="555"/>
                <a:ext cx="38" cy="41"/>
              </a:xfrm>
              <a:custGeom>
                <a:avLst/>
                <a:gdLst>
                  <a:gd name="T0" fmla="*/ 0 w 115"/>
                  <a:gd name="T1" fmla="*/ 0 h 122"/>
                  <a:gd name="T2" fmla="*/ 0 w 115"/>
                  <a:gd name="T3" fmla="*/ 122 h 122"/>
                  <a:gd name="T4" fmla="*/ 115 w 115"/>
                  <a:gd name="T5" fmla="*/ 122 h 122"/>
                  <a:gd name="T6" fmla="*/ 0 w 115"/>
                  <a:gd name="T7" fmla="*/ 0 h 122"/>
                </a:gdLst>
                <a:ahLst/>
                <a:cxnLst>
                  <a:cxn ang="0">
                    <a:pos x="T0" y="T1"/>
                  </a:cxn>
                  <a:cxn ang="0">
                    <a:pos x="T2" y="T3"/>
                  </a:cxn>
                  <a:cxn ang="0">
                    <a:pos x="T4" y="T5"/>
                  </a:cxn>
                  <a:cxn ang="0">
                    <a:pos x="T6" y="T7"/>
                  </a:cxn>
                </a:cxnLst>
                <a:rect l="0" t="0" r="r" b="b"/>
                <a:pathLst>
                  <a:path w="115" h="122">
                    <a:moveTo>
                      <a:pt x="0" y="0"/>
                    </a:moveTo>
                    <a:lnTo>
                      <a:pt x="0" y="122"/>
                    </a:lnTo>
                    <a:lnTo>
                      <a:pt x="115" y="122"/>
                    </a:lnTo>
                    <a:lnTo>
                      <a:pt x="0"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74" name="Line 1753"/>
              <p:cNvSpPr>
                <a:spLocks noChangeShapeType="1"/>
              </p:cNvSpPr>
              <p:nvPr/>
            </p:nvSpPr>
            <p:spPr bwMode="auto">
              <a:xfrm>
                <a:off x="1729" y="555"/>
                <a:ext cx="38" cy="41"/>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75" name="Freeform 1754"/>
              <p:cNvSpPr>
                <a:spLocks/>
              </p:cNvSpPr>
              <p:nvPr/>
            </p:nvSpPr>
            <p:spPr bwMode="auto">
              <a:xfrm>
                <a:off x="1626" y="555"/>
                <a:ext cx="141" cy="159"/>
              </a:xfrm>
              <a:custGeom>
                <a:avLst/>
                <a:gdLst>
                  <a:gd name="T0" fmla="*/ 308 w 423"/>
                  <a:gd name="T1" fmla="*/ 0 h 475"/>
                  <a:gd name="T2" fmla="*/ 0 w 423"/>
                  <a:gd name="T3" fmla="*/ 0 h 475"/>
                  <a:gd name="T4" fmla="*/ 0 w 423"/>
                  <a:gd name="T5" fmla="*/ 475 h 475"/>
                  <a:gd name="T6" fmla="*/ 423 w 423"/>
                  <a:gd name="T7" fmla="*/ 475 h 475"/>
                  <a:gd name="T8" fmla="*/ 423 w 423"/>
                  <a:gd name="T9" fmla="*/ 122 h 475"/>
                </a:gdLst>
                <a:ahLst/>
                <a:cxnLst>
                  <a:cxn ang="0">
                    <a:pos x="T0" y="T1"/>
                  </a:cxn>
                  <a:cxn ang="0">
                    <a:pos x="T2" y="T3"/>
                  </a:cxn>
                  <a:cxn ang="0">
                    <a:pos x="T4" y="T5"/>
                  </a:cxn>
                  <a:cxn ang="0">
                    <a:pos x="T6" y="T7"/>
                  </a:cxn>
                  <a:cxn ang="0">
                    <a:pos x="T8" y="T9"/>
                  </a:cxn>
                </a:cxnLst>
                <a:rect l="0" t="0" r="r" b="b"/>
                <a:pathLst>
                  <a:path w="423" h="475">
                    <a:moveTo>
                      <a:pt x="308" y="0"/>
                    </a:moveTo>
                    <a:lnTo>
                      <a:pt x="0" y="0"/>
                    </a:lnTo>
                    <a:lnTo>
                      <a:pt x="0" y="475"/>
                    </a:lnTo>
                    <a:lnTo>
                      <a:pt x="423" y="475"/>
                    </a:lnTo>
                    <a:lnTo>
                      <a:pt x="423" y="122"/>
                    </a:lnTo>
                  </a:path>
                </a:pathLst>
              </a:custGeom>
              <a:noFill/>
              <a:ln w="0">
                <a:solidFill>
                  <a:srgbClr val="9999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76" name="Freeform 1755"/>
              <p:cNvSpPr>
                <a:spLocks/>
              </p:cNvSpPr>
              <p:nvPr/>
            </p:nvSpPr>
            <p:spPr bwMode="auto">
              <a:xfrm>
                <a:off x="1729" y="555"/>
                <a:ext cx="38" cy="41"/>
              </a:xfrm>
              <a:custGeom>
                <a:avLst/>
                <a:gdLst>
                  <a:gd name="T0" fmla="*/ 115 w 115"/>
                  <a:gd name="T1" fmla="*/ 122 h 122"/>
                  <a:gd name="T2" fmla="*/ 0 w 115"/>
                  <a:gd name="T3" fmla="*/ 122 h 122"/>
                  <a:gd name="T4" fmla="*/ 0 w 115"/>
                  <a:gd name="T5" fmla="*/ 0 h 122"/>
                </a:gdLst>
                <a:ahLst/>
                <a:cxnLst>
                  <a:cxn ang="0">
                    <a:pos x="T0" y="T1"/>
                  </a:cxn>
                  <a:cxn ang="0">
                    <a:pos x="T2" y="T3"/>
                  </a:cxn>
                  <a:cxn ang="0">
                    <a:pos x="T4" y="T5"/>
                  </a:cxn>
                </a:cxnLst>
                <a:rect l="0" t="0" r="r" b="b"/>
                <a:pathLst>
                  <a:path w="115" h="122">
                    <a:moveTo>
                      <a:pt x="115" y="122"/>
                    </a:moveTo>
                    <a:lnTo>
                      <a:pt x="0" y="122"/>
                    </a:lnTo>
                    <a:lnTo>
                      <a:pt x="0" y="0"/>
                    </a:lnTo>
                  </a:path>
                </a:pathLst>
              </a:custGeom>
              <a:noFill/>
              <a:ln w="0">
                <a:solidFill>
                  <a:srgbClr val="9999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77" name="Freeform 1756"/>
              <p:cNvSpPr>
                <a:spLocks/>
              </p:cNvSpPr>
              <p:nvPr/>
            </p:nvSpPr>
            <p:spPr bwMode="auto">
              <a:xfrm>
                <a:off x="1798" y="488"/>
                <a:ext cx="39" cy="41"/>
              </a:xfrm>
              <a:custGeom>
                <a:avLst/>
                <a:gdLst>
                  <a:gd name="T0" fmla="*/ 115 w 115"/>
                  <a:gd name="T1" fmla="*/ 123 h 123"/>
                  <a:gd name="T2" fmla="*/ 0 w 115"/>
                  <a:gd name="T3" fmla="*/ 0 h 123"/>
                  <a:gd name="T4" fmla="*/ 0 w 115"/>
                  <a:gd name="T5" fmla="*/ 123 h 123"/>
                  <a:gd name="T6" fmla="*/ 115 w 115"/>
                  <a:gd name="T7" fmla="*/ 123 h 123"/>
                </a:gdLst>
                <a:ahLst/>
                <a:cxnLst>
                  <a:cxn ang="0">
                    <a:pos x="T0" y="T1"/>
                  </a:cxn>
                  <a:cxn ang="0">
                    <a:pos x="T2" y="T3"/>
                  </a:cxn>
                  <a:cxn ang="0">
                    <a:pos x="T4" y="T5"/>
                  </a:cxn>
                  <a:cxn ang="0">
                    <a:pos x="T6" y="T7"/>
                  </a:cxn>
                </a:cxnLst>
                <a:rect l="0" t="0" r="r" b="b"/>
                <a:pathLst>
                  <a:path w="115" h="123">
                    <a:moveTo>
                      <a:pt x="115" y="123"/>
                    </a:moveTo>
                    <a:lnTo>
                      <a:pt x="0" y="0"/>
                    </a:lnTo>
                    <a:lnTo>
                      <a:pt x="0" y="123"/>
                    </a:lnTo>
                    <a:lnTo>
                      <a:pt x="115" y="123"/>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78" name="Freeform 1757"/>
              <p:cNvSpPr>
                <a:spLocks/>
              </p:cNvSpPr>
              <p:nvPr/>
            </p:nvSpPr>
            <p:spPr bwMode="auto">
              <a:xfrm>
                <a:off x="1798" y="488"/>
                <a:ext cx="39" cy="41"/>
              </a:xfrm>
              <a:custGeom>
                <a:avLst/>
                <a:gdLst>
                  <a:gd name="T0" fmla="*/ 115 w 115"/>
                  <a:gd name="T1" fmla="*/ 123 h 123"/>
                  <a:gd name="T2" fmla="*/ 0 w 115"/>
                  <a:gd name="T3" fmla="*/ 123 h 123"/>
                  <a:gd name="T4" fmla="*/ 0 w 115"/>
                  <a:gd name="T5" fmla="*/ 0 h 123"/>
                </a:gdLst>
                <a:ahLst/>
                <a:cxnLst>
                  <a:cxn ang="0">
                    <a:pos x="T0" y="T1"/>
                  </a:cxn>
                  <a:cxn ang="0">
                    <a:pos x="T2" y="T3"/>
                  </a:cxn>
                  <a:cxn ang="0">
                    <a:pos x="T4" y="T5"/>
                  </a:cxn>
                </a:cxnLst>
                <a:rect l="0" t="0" r="r" b="b"/>
                <a:pathLst>
                  <a:path w="115" h="123">
                    <a:moveTo>
                      <a:pt x="115" y="123"/>
                    </a:moveTo>
                    <a:lnTo>
                      <a:pt x="0" y="123"/>
                    </a:lnTo>
                    <a:lnTo>
                      <a:pt x="0" y="0"/>
                    </a:lnTo>
                  </a:path>
                </a:pathLst>
              </a:custGeom>
              <a:noFill/>
              <a:ln w="0">
                <a:solidFill>
                  <a:srgbClr val="9999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79" name="Freeform 1758"/>
              <p:cNvSpPr>
                <a:spLocks/>
              </p:cNvSpPr>
              <p:nvPr/>
            </p:nvSpPr>
            <p:spPr bwMode="auto">
              <a:xfrm>
                <a:off x="1696" y="488"/>
                <a:ext cx="141" cy="158"/>
              </a:xfrm>
              <a:custGeom>
                <a:avLst/>
                <a:gdLst>
                  <a:gd name="T0" fmla="*/ 422 w 422"/>
                  <a:gd name="T1" fmla="*/ 123 h 474"/>
                  <a:gd name="T2" fmla="*/ 307 w 422"/>
                  <a:gd name="T3" fmla="*/ 123 h 474"/>
                  <a:gd name="T4" fmla="*/ 307 w 422"/>
                  <a:gd name="T5" fmla="*/ 0 h 474"/>
                  <a:gd name="T6" fmla="*/ 0 w 422"/>
                  <a:gd name="T7" fmla="*/ 0 h 474"/>
                  <a:gd name="T8" fmla="*/ 0 w 422"/>
                  <a:gd name="T9" fmla="*/ 474 h 474"/>
                  <a:gd name="T10" fmla="*/ 422 w 422"/>
                  <a:gd name="T11" fmla="*/ 474 h 474"/>
                  <a:gd name="T12" fmla="*/ 422 w 422"/>
                  <a:gd name="T13" fmla="*/ 123 h 474"/>
                </a:gdLst>
                <a:ahLst/>
                <a:cxnLst>
                  <a:cxn ang="0">
                    <a:pos x="T0" y="T1"/>
                  </a:cxn>
                  <a:cxn ang="0">
                    <a:pos x="T2" y="T3"/>
                  </a:cxn>
                  <a:cxn ang="0">
                    <a:pos x="T4" y="T5"/>
                  </a:cxn>
                  <a:cxn ang="0">
                    <a:pos x="T6" y="T7"/>
                  </a:cxn>
                  <a:cxn ang="0">
                    <a:pos x="T8" y="T9"/>
                  </a:cxn>
                  <a:cxn ang="0">
                    <a:pos x="T10" y="T11"/>
                  </a:cxn>
                  <a:cxn ang="0">
                    <a:pos x="T12" y="T13"/>
                  </a:cxn>
                </a:cxnLst>
                <a:rect l="0" t="0" r="r" b="b"/>
                <a:pathLst>
                  <a:path w="422" h="474">
                    <a:moveTo>
                      <a:pt x="422" y="123"/>
                    </a:moveTo>
                    <a:lnTo>
                      <a:pt x="307" y="123"/>
                    </a:lnTo>
                    <a:lnTo>
                      <a:pt x="307" y="0"/>
                    </a:lnTo>
                    <a:lnTo>
                      <a:pt x="0" y="0"/>
                    </a:lnTo>
                    <a:lnTo>
                      <a:pt x="0" y="474"/>
                    </a:lnTo>
                    <a:lnTo>
                      <a:pt x="422" y="474"/>
                    </a:lnTo>
                    <a:lnTo>
                      <a:pt x="422" y="123"/>
                    </a:lnTo>
                    <a:close/>
                  </a:path>
                </a:pathLst>
              </a:custGeom>
              <a:gradFill rotWithShape="1">
                <a:gsLst>
                  <a:gs pos="0">
                    <a:srgbClr val="B4B4B4"/>
                  </a:gs>
                  <a:gs pos="50000">
                    <a:srgbClr val="D9D9D9"/>
                  </a:gs>
                  <a:gs pos="100000">
                    <a:srgbClr val="B4B4B4"/>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itchFamily="34" charset="0"/>
                  <a:cs typeface="Arial" pitchFamily="34" charset="0"/>
                </a:endParaRPr>
              </a:p>
            </p:txBody>
          </p:sp>
          <p:sp>
            <p:nvSpPr>
              <p:cNvPr id="2580" name="Line 1759"/>
              <p:cNvSpPr>
                <a:spLocks noChangeShapeType="1"/>
              </p:cNvSpPr>
              <p:nvPr/>
            </p:nvSpPr>
            <p:spPr bwMode="auto">
              <a:xfrm>
                <a:off x="1837" y="529"/>
                <a:ext cx="0" cy="117"/>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1" name="Line 1760"/>
              <p:cNvSpPr>
                <a:spLocks noChangeShapeType="1"/>
              </p:cNvSpPr>
              <p:nvPr/>
            </p:nvSpPr>
            <p:spPr bwMode="auto">
              <a:xfrm>
                <a:off x="1696" y="488"/>
                <a:ext cx="102" cy="0"/>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2" name="Line 1761"/>
              <p:cNvSpPr>
                <a:spLocks noChangeShapeType="1"/>
              </p:cNvSpPr>
              <p:nvPr/>
            </p:nvSpPr>
            <p:spPr bwMode="auto">
              <a:xfrm>
                <a:off x="1798" y="488"/>
                <a:ext cx="39" cy="41"/>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3" name="Freeform 1762"/>
              <p:cNvSpPr>
                <a:spLocks/>
              </p:cNvSpPr>
              <p:nvPr/>
            </p:nvSpPr>
            <p:spPr bwMode="auto">
              <a:xfrm>
                <a:off x="1874" y="426"/>
                <a:ext cx="39" cy="41"/>
              </a:xfrm>
              <a:custGeom>
                <a:avLst/>
                <a:gdLst>
                  <a:gd name="T0" fmla="*/ 0 w 115"/>
                  <a:gd name="T1" fmla="*/ 0 h 123"/>
                  <a:gd name="T2" fmla="*/ 0 w 115"/>
                  <a:gd name="T3" fmla="*/ 123 h 123"/>
                  <a:gd name="T4" fmla="*/ 115 w 115"/>
                  <a:gd name="T5" fmla="*/ 123 h 123"/>
                  <a:gd name="T6" fmla="*/ 0 w 115"/>
                  <a:gd name="T7" fmla="*/ 0 h 123"/>
                </a:gdLst>
                <a:ahLst/>
                <a:cxnLst>
                  <a:cxn ang="0">
                    <a:pos x="T0" y="T1"/>
                  </a:cxn>
                  <a:cxn ang="0">
                    <a:pos x="T2" y="T3"/>
                  </a:cxn>
                  <a:cxn ang="0">
                    <a:pos x="T4" y="T5"/>
                  </a:cxn>
                  <a:cxn ang="0">
                    <a:pos x="T6" y="T7"/>
                  </a:cxn>
                </a:cxnLst>
                <a:rect l="0" t="0" r="r" b="b"/>
                <a:pathLst>
                  <a:path w="115" h="123">
                    <a:moveTo>
                      <a:pt x="0" y="0"/>
                    </a:moveTo>
                    <a:lnTo>
                      <a:pt x="0" y="123"/>
                    </a:lnTo>
                    <a:lnTo>
                      <a:pt x="115" y="123"/>
                    </a:lnTo>
                    <a:lnTo>
                      <a:pt x="0"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Arial" pitchFamily="34" charset="0"/>
                  <a:cs typeface="Arial" pitchFamily="34" charset="0"/>
                </a:endParaRPr>
              </a:p>
            </p:txBody>
          </p:sp>
          <p:sp>
            <p:nvSpPr>
              <p:cNvPr id="2584" name="Line 1763"/>
              <p:cNvSpPr>
                <a:spLocks noChangeShapeType="1"/>
              </p:cNvSpPr>
              <p:nvPr/>
            </p:nvSpPr>
            <p:spPr bwMode="auto">
              <a:xfrm>
                <a:off x="1874" y="426"/>
                <a:ext cx="39" cy="41"/>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5" name="Line 1764"/>
              <p:cNvSpPr>
                <a:spLocks noChangeShapeType="1"/>
              </p:cNvSpPr>
              <p:nvPr/>
            </p:nvSpPr>
            <p:spPr bwMode="auto">
              <a:xfrm flipH="1">
                <a:off x="1772" y="426"/>
                <a:ext cx="102" cy="0"/>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6" name="Line 1765"/>
              <p:cNvSpPr>
                <a:spLocks noChangeShapeType="1"/>
              </p:cNvSpPr>
              <p:nvPr/>
            </p:nvSpPr>
            <p:spPr bwMode="auto">
              <a:xfrm flipV="1">
                <a:off x="1913" y="467"/>
                <a:ext cx="0" cy="118"/>
              </a:xfrm>
              <a:prstGeom prst="line">
                <a:avLst/>
              </a:prstGeom>
              <a:noFill/>
              <a:ln w="0">
                <a:solidFill>
                  <a:srgbClr val="999999"/>
                </a:solidFill>
                <a:round/>
                <a:headEnd/>
                <a:tailEnd/>
              </a:ln>
              <a:extLst>
                <a:ext uri="{909E8E84-426E-40DD-AFC4-6F175D3DCCD1}">
                  <a14:hiddenFill xmlns:a14="http://schemas.microsoft.com/office/drawing/2010/main">
                    <a:noFill/>
                  </a14:hiddenFill>
                </a:ext>
              </a:extLst>
            </p:spPr>
            <p:txBody>
              <a:bodyPr/>
              <a:lstStyle/>
              <a:p>
                <a:endParaRPr lang="en-US">
                  <a:latin typeface="Arial" pitchFamily="34" charset="0"/>
                  <a:cs typeface="Arial" pitchFamily="34" charset="0"/>
                </a:endParaRPr>
              </a:p>
            </p:txBody>
          </p:sp>
          <p:sp>
            <p:nvSpPr>
              <p:cNvPr id="2587" name="Freeform 1766"/>
              <p:cNvSpPr>
                <a:spLocks/>
              </p:cNvSpPr>
              <p:nvPr/>
            </p:nvSpPr>
            <p:spPr bwMode="auto">
              <a:xfrm>
                <a:off x="1772" y="426"/>
                <a:ext cx="141" cy="159"/>
              </a:xfrm>
              <a:custGeom>
                <a:avLst/>
                <a:gdLst>
                  <a:gd name="T0" fmla="*/ 0 w 423"/>
                  <a:gd name="T1" fmla="*/ 0 h 475"/>
                  <a:gd name="T2" fmla="*/ 0 w 423"/>
                  <a:gd name="T3" fmla="*/ 475 h 475"/>
                  <a:gd name="T4" fmla="*/ 423 w 423"/>
                  <a:gd name="T5" fmla="*/ 475 h 475"/>
                </a:gdLst>
                <a:ahLst/>
                <a:cxnLst>
                  <a:cxn ang="0">
                    <a:pos x="T0" y="T1"/>
                  </a:cxn>
                  <a:cxn ang="0">
                    <a:pos x="T2" y="T3"/>
                  </a:cxn>
                  <a:cxn ang="0">
                    <a:pos x="T4" y="T5"/>
                  </a:cxn>
                </a:cxnLst>
                <a:rect l="0" t="0" r="r" b="b"/>
                <a:pathLst>
                  <a:path w="423" h="475">
                    <a:moveTo>
                      <a:pt x="0" y="0"/>
                    </a:moveTo>
                    <a:lnTo>
                      <a:pt x="0" y="475"/>
                    </a:lnTo>
                    <a:lnTo>
                      <a:pt x="423" y="475"/>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88" name="Line 1767"/>
              <p:cNvSpPr>
                <a:spLocks noChangeShapeType="1"/>
              </p:cNvSpPr>
              <p:nvPr/>
            </p:nvSpPr>
            <p:spPr bwMode="auto">
              <a:xfrm>
                <a:off x="1716" y="540"/>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89" name="Line 1768"/>
              <p:cNvSpPr>
                <a:spLocks noChangeShapeType="1"/>
              </p:cNvSpPr>
              <p:nvPr/>
            </p:nvSpPr>
            <p:spPr bwMode="auto">
              <a:xfrm>
                <a:off x="1716" y="568"/>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90" name="Line 1769"/>
              <p:cNvSpPr>
                <a:spLocks noChangeShapeType="1"/>
              </p:cNvSpPr>
              <p:nvPr/>
            </p:nvSpPr>
            <p:spPr bwMode="auto">
              <a:xfrm>
                <a:off x="1718" y="596"/>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91" name="Freeform 1770"/>
              <p:cNvSpPr>
                <a:spLocks/>
              </p:cNvSpPr>
              <p:nvPr/>
            </p:nvSpPr>
            <p:spPr bwMode="auto">
              <a:xfrm>
                <a:off x="1772" y="426"/>
                <a:ext cx="141" cy="159"/>
              </a:xfrm>
              <a:custGeom>
                <a:avLst/>
                <a:gdLst>
                  <a:gd name="T0" fmla="*/ 308 w 423"/>
                  <a:gd name="T1" fmla="*/ 123 h 475"/>
                  <a:gd name="T2" fmla="*/ 308 w 423"/>
                  <a:gd name="T3" fmla="*/ 0 h 475"/>
                  <a:gd name="T4" fmla="*/ 0 w 423"/>
                  <a:gd name="T5" fmla="*/ 0 h 475"/>
                  <a:gd name="T6" fmla="*/ 0 w 423"/>
                  <a:gd name="T7" fmla="*/ 475 h 475"/>
                  <a:gd name="T8" fmla="*/ 423 w 423"/>
                  <a:gd name="T9" fmla="*/ 475 h 475"/>
                  <a:gd name="T10" fmla="*/ 423 w 423"/>
                  <a:gd name="T11" fmla="*/ 123 h 475"/>
                  <a:gd name="T12" fmla="*/ 308 w 423"/>
                  <a:gd name="T13" fmla="*/ 123 h 475"/>
                </a:gdLst>
                <a:ahLst/>
                <a:cxnLst>
                  <a:cxn ang="0">
                    <a:pos x="T0" y="T1"/>
                  </a:cxn>
                  <a:cxn ang="0">
                    <a:pos x="T2" y="T3"/>
                  </a:cxn>
                  <a:cxn ang="0">
                    <a:pos x="T4" y="T5"/>
                  </a:cxn>
                  <a:cxn ang="0">
                    <a:pos x="T6" y="T7"/>
                  </a:cxn>
                  <a:cxn ang="0">
                    <a:pos x="T8" y="T9"/>
                  </a:cxn>
                  <a:cxn ang="0">
                    <a:pos x="T10" y="T11"/>
                  </a:cxn>
                  <a:cxn ang="0">
                    <a:pos x="T12" y="T13"/>
                  </a:cxn>
                </a:cxnLst>
                <a:rect l="0" t="0" r="r" b="b"/>
                <a:pathLst>
                  <a:path w="423" h="475">
                    <a:moveTo>
                      <a:pt x="308" y="123"/>
                    </a:moveTo>
                    <a:lnTo>
                      <a:pt x="308" y="0"/>
                    </a:lnTo>
                    <a:lnTo>
                      <a:pt x="0" y="0"/>
                    </a:lnTo>
                    <a:lnTo>
                      <a:pt x="0" y="475"/>
                    </a:lnTo>
                    <a:lnTo>
                      <a:pt x="423" y="475"/>
                    </a:lnTo>
                    <a:lnTo>
                      <a:pt x="423" y="123"/>
                    </a:lnTo>
                    <a:lnTo>
                      <a:pt x="308" y="123"/>
                    </a:lnTo>
                    <a:close/>
                  </a:path>
                </a:pathLst>
              </a:custGeom>
              <a:gradFill rotWithShape="1">
                <a:gsLst>
                  <a:gs pos="0">
                    <a:srgbClr val="B4B4B4"/>
                  </a:gs>
                  <a:gs pos="50000">
                    <a:srgbClr val="D9D9D9"/>
                  </a:gs>
                  <a:gs pos="100000">
                    <a:srgbClr val="B4B4B4"/>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Arial" pitchFamily="34" charset="0"/>
                  <a:cs typeface="Arial" pitchFamily="34" charset="0"/>
                </a:endParaRPr>
              </a:p>
            </p:txBody>
          </p:sp>
          <p:sp>
            <p:nvSpPr>
              <p:cNvPr id="2592" name="Freeform 1771"/>
              <p:cNvSpPr>
                <a:spLocks/>
              </p:cNvSpPr>
              <p:nvPr/>
            </p:nvSpPr>
            <p:spPr bwMode="auto">
              <a:xfrm>
                <a:off x="1874" y="426"/>
                <a:ext cx="39" cy="41"/>
              </a:xfrm>
              <a:custGeom>
                <a:avLst/>
                <a:gdLst>
                  <a:gd name="T0" fmla="*/ 115 w 115"/>
                  <a:gd name="T1" fmla="*/ 123 h 123"/>
                  <a:gd name="T2" fmla="*/ 0 w 115"/>
                  <a:gd name="T3" fmla="*/ 123 h 123"/>
                  <a:gd name="T4" fmla="*/ 0 w 115"/>
                  <a:gd name="T5" fmla="*/ 0 h 123"/>
                </a:gdLst>
                <a:ahLst/>
                <a:cxnLst>
                  <a:cxn ang="0">
                    <a:pos x="T0" y="T1"/>
                  </a:cxn>
                  <a:cxn ang="0">
                    <a:pos x="T2" y="T3"/>
                  </a:cxn>
                  <a:cxn ang="0">
                    <a:pos x="T4" y="T5"/>
                  </a:cxn>
                </a:cxnLst>
                <a:rect l="0" t="0" r="r" b="b"/>
                <a:pathLst>
                  <a:path w="115" h="123">
                    <a:moveTo>
                      <a:pt x="115" y="123"/>
                    </a:moveTo>
                    <a:lnTo>
                      <a:pt x="0" y="123"/>
                    </a:lnTo>
                    <a:lnTo>
                      <a:pt x="0" y="0"/>
                    </a:lnTo>
                  </a:path>
                </a:pathLst>
              </a:custGeom>
              <a:noFill/>
              <a:ln w="0">
                <a:solidFill>
                  <a:srgbClr val="9999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sp>
            <p:nvSpPr>
              <p:cNvPr id="2593" name="Line 1772"/>
              <p:cNvSpPr>
                <a:spLocks noChangeShapeType="1"/>
              </p:cNvSpPr>
              <p:nvPr/>
            </p:nvSpPr>
            <p:spPr bwMode="auto">
              <a:xfrm>
                <a:off x="1796" y="480"/>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94" name="Line 1773"/>
              <p:cNvSpPr>
                <a:spLocks noChangeShapeType="1"/>
              </p:cNvSpPr>
              <p:nvPr/>
            </p:nvSpPr>
            <p:spPr bwMode="auto">
              <a:xfrm>
                <a:off x="1796" y="508"/>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95" name="Line 1774"/>
              <p:cNvSpPr>
                <a:spLocks noChangeShapeType="1"/>
              </p:cNvSpPr>
              <p:nvPr/>
            </p:nvSpPr>
            <p:spPr bwMode="auto">
              <a:xfrm>
                <a:off x="1798" y="535"/>
                <a:ext cx="9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itchFamily="34" charset="0"/>
                  <a:cs typeface="Arial" pitchFamily="34" charset="0"/>
                </a:endParaRPr>
              </a:p>
            </p:txBody>
          </p:sp>
          <p:sp>
            <p:nvSpPr>
              <p:cNvPr id="2596" name="Freeform 1775"/>
              <p:cNvSpPr>
                <a:spLocks/>
              </p:cNvSpPr>
              <p:nvPr/>
            </p:nvSpPr>
            <p:spPr bwMode="auto">
              <a:xfrm>
                <a:off x="1696" y="488"/>
                <a:ext cx="141" cy="158"/>
              </a:xfrm>
              <a:custGeom>
                <a:avLst/>
                <a:gdLst>
                  <a:gd name="T0" fmla="*/ 422 w 422"/>
                  <a:gd name="T1" fmla="*/ 474 h 474"/>
                  <a:gd name="T2" fmla="*/ 0 w 422"/>
                  <a:gd name="T3" fmla="*/ 474 h 474"/>
                  <a:gd name="T4" fmla="*/ 0 w 422"/>
                  <a:gd name="T5" fmla="*/ 0 h 474"/>
                </a:gdLst>
                <a:ahLst/>
                <a:cxnLst>
                  <a:cxn ang="0">
                    <a:pos x="T0" y="T1"/>
                  </a:cxn>
                  <a:cxn ang="0">
                    <a:pos x="T2" y="T3"/>
                  </a:cxn>
                  <a:cxn ang="0">
                    <a:pos x="T4" y="T5"/>
                  </a:cxn>
                </a:cxnLst>
                <a:rect l="0" t="0" r="r" b="b"/>
                <a:pathLst>
                  <a:path w="422" h="474">
                    <a:moveTo>
                      <a:pt x="422" y="474"/>
                    </a:moveTo>
                    <a:lnTo>
                      <a:pt x="0" y="474"/>
                    </a:lnTo>
                    <a:lnTo>
                      <a:pt x="0"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Arial" pitchFamily="34" charset="0"/>
                  <a:cs typeface="Arial" pitchFamily="34" charset="0"/>
                </a:endParaRPr>
              </a:p>
            </p:txBody>
          </p:sp>
        </p:grpSp>
        <p:pic>
          <p:nvPicPr>
            <p:cNvPr id="2598" name="Picture 29" descr="C:\Users\patils1\Desktop\2013 Projects\CIS v2\CIS Slide Deck_Based on Book\Colored Graphics\Physical Compute Syste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45" y="1995379"/>
              <a:ext cx="934518" cy="210312"/>
            </a:xfrm>
            <a:prstGeom prst="rect">
              <a:avLst/>
            </a:prstGeom>
            <a:noFill/>
            <a:extLst>
              <a:ext uri="{909E8E84-426E-40DD-AFC4-6F175D3DCCD1}">
                <a14:hiddenFill xmlns:a14="http://schemas.microsoft.com/office/drawing/2010/main">
                  <a:solidFill>
                    <a:srgbClr val="FFFFFF"/>
                  </a:solidFill>
                </a14:hiddenFill>
              </a:ext>
            </a:extLst>
          </p:spPr>
        </p:pic>
        <p:cxnSp>
          <p:nvCxnSpPr>
            <p:cNvPr id="2613" name="Straight Arrow Connector 2612"/>
            <p:cNvCxnSpPr/>
            <p:nvPr/>
          </p:nvCxnSpPr>
          <p:spPr>
            <a:xfrm>
              <a:off x="1543737" y="2100535"/>
              <a:ext cx="1149588" cy="0"/>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2623" name="Group 2622"/>
            <p:cNvGrpSpPr/>
            <p:nvPr/>
          </p:nvGrpSpPr>
          <p:grpSpPr>
            <a:xfrm>
              <a:off x="6515237" y="3013323"/>
              <a:ext cx="900000" cy="756000"/>
              <a:chOff x="6515237" y="3013323"/>
              <a:chExt cx="900000" cy="756000"/>
            </a:xfrm>
          </p:grpSpPr>
          <p:cxnSp>
            <p:nvCxnSpPr>
              <p:cNvPr id="2616" name="Straight Arrow Connector 2615"/>
              <p:cNvCxnSpPr/>
              <p:nvPr/>
            </p:nvCxnSpPr>
            <p:spPr>
              <a:xfrm flipH="1">
                <a:off x="6515237" y="3762830"/>
                <a:ext cx="900000" cy="0"/>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618" name="Straight Arrow Connector 2617"/>
              <p:cNvCxnSpPr/>
              <p:nvPr/>
            </p:nvCxnSpPr>
            <p:spPr>
              <a:xfrm>
                <a:off x="7399338" y="3013323"/>
                <a:ext cx="0" cy="756000"/>
              </a:xfrm>
              <a:prstGeom prst="straightConnector1">
                <a:avLst/>
              </a:prstGeom>
              <a:ln w="38100" cmpd="sng">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2621" name="Straight Arrow Connector 2620"/>
            <p:cNvCxnSpPr/>
            <p:nvPr/>
          </p:nvCxnSpPr>
          <p:spPr>
            <a:xfrm flipH="1">
              <a:off x="4369813" y="3762830"/>
              <a:ext cx="900000" cy="0"/>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622" name="Straight Arrow Connector 2621"/>
            <p:cNvCxnSpPr/>
            <p:nvPr/>
          </p:nvCxnSpPr>
          <p:spPr>
            <a:xfrm flipH="1">
              <a:off x="2269940" y="3762830"/>
              <a:ext cx="900000" cy="0"/>
            </a:xfrm>
            <a:prstGeom prst="straightConnector1">
              <a:avLst/>
            </a:prstGeom>
            <a:ln w="38100"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sp>
        <p:nvSpPr>
          <p:cNvPr id="863" name="TextBox 86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79313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Типы вычислительных систем</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115462280"/>
              </p:ext>
            </p:extLst>
          </p:nvPr>
        </p:nvGraphicFramePr>
        <p:xfrm>
          <a:off x="379413" y="819150"/>
          <a:ext cx="8369051" cy="35356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730251">
                  <a:extLst>
                    <a:ext uri="{9D8B030D-6E8A-4147-A177-3AD203B41FA5}">
                      <a16:colId xmlns:a16="http://schemas.microsoft.com/office/drawing/2014/main" val="20002"/>
                    </a:ext>
                  </a:extLst>
                </a:gridCol>
              </a:tblGrid>
              <a:tr h="285006">
                <a:tc>
                  <a:txBody>
                    <a:bodyPr/>
                    <a:lstStyle/>
                    <a:p>
                      <a:pPr algn="ctr"/>
                      <a:r>
                        <a:rPr lang="ru-RU" sz="1100" b="1" i="0" dirty="0">
                          <a:solidFill>
                            <a:srgbClr val="FFFFFF"/>
                          </a:solidFill>
                          <a:latin typeface="Arial" pitchFamily="34" charset="0"/>
                          <a:cs typeface="Arial" pitchFamily="34" charset="0"/>
                        </a:rPr>
                        <a:t>Башенная вычислительная система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ru-RU" sz="1100" b="1" i="0" dirty="0">
                          <a:solidFill>
                            <a:srgbClr val="FFFFFF"/>
                          </a:solidFill>
                          <a:latin typeface="Arial" pitchFamily="34" charset="0"/>
                          <a:cs typeface="Arial" pitchFamily="34" charset="0"/>
                        </a:rPr>
                        <a:t>Вычислительная система, монтируемая в стойку</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ru-RU" sz="1100" b="1" i="0" dirty="0">
                          <a:solidFill>
                            <a:srgbClr val="FFFFFF"/>
                          </a:solidFill>
                          <a:latin typeface="Arial" pitchFamily="34" charset="0"/>
                          <a:cs typeface="Arial" pitchFamily="34" charset="0"/>
                        </a:rPr>
                        <a:t>Вычислительная система на </a:t>
                      </a:r>
                      <a:br>
                        <a:rPr lang="en-US" sz="1100" b="1" i="0" dirty="0">
                          <a:solidFill>
                            <a:srgbClr val="FF00FF"/>
                          </a:solidFill>
                          <a:latin typeface="Arial" pitchFamily="34" charset="0"/>
                          <a:cs typeface="Arial" pitchFamily="34" charset="0"/>
                        </a:rPr>
                      </a:br>
                      <a:r>
                        <a:rPr lang="ru-RU" sz="1100" b="1" i="0" dirty="0">
                          <a:solidFill>
                            <a:srgbClr val="FFFFFF"/>
                          </a:solidFill>
                          <a:latin typeface="Arial" pitchFamily="34" charset="0"/>
                          <a:cs typeface="Arial" pitchFamily="34" charset="0"/>
                        </a:rPr>
                        <a:t>блейд-модулях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p>
                      <a:endParaRPr lang="en-US" sz="1800" dirty="0">
                        <a:latin typeface="Arial" pitchFamily="34" charset="0"/>
                        <a:cs typeface="Arial"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sz="1800" dirty="0">
                        <a:latin typeface="Arial" pitchFamily="34" charset="0"/>
                        <a:cs typeface="Arial"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sz="1800" dirty="0">
                        <a:latin typeface="Arial" pitchFamily="34" charset="0"/>
                        <a:cs typeface="Arial"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6" name="Picture 118" descr="server"/>
          <p:cNvPicPr>
            <a:picLocks noChangeAspect="1" noChangeArrowheads="1"/>
          </p:cNvPicPr>
          <p:nvPr/>
        </p:nvPicPr>
        <p:blipFill>
          <a:blip r:embed="rId4" cstate="print"/>
          <a:srcRect/>
          <a:stretch>
            <a:fillRect/>
          </a:stretch>
        </p:blipFill>
        <p:spPr bwMode="gray">
          <a:xfrm>
            <a:off x="827584" y="2257161"/>
            <a:ext cx="1913771" cy="1980000"/>
          </a:xfrm>
          <a:prstGeom prst="rect">
            <a:avLst/>
          </a:prstGeom>
          <a:noFill/>
          <a:ln w="9525">
            <a:noFill/>
            <a:miter lim="800000"/>
            <a:headEnd/>
            <a:tailEnd/>
          </a:ln>
        </p:spPr>
      </p:pic>
      <p:pic>
        <p:nvPicPr>
          <p:cNvPr id="7" name="Picture 6" descr="C:\Users\prasap1\Desktop\ucs_c_460_large.jp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1873" y="1267500"/>
            <a:ext cx="1671031" cy="828000"/>
          </a:xfrm>
          <a:prstGeom prst="rect">
            <a:avLst/>
          </a:prstGeom>
          <a:noFill/>
          <a:ln>
            <a:noFill/>
          </a:ln>
        </p:spPr>
      </p:pic>
      <p:pic>
        <p:nvPicPr>
          <p:cNvPr id="8" name="Picture 7" descr="C:\Users\prasap1\Desktop\Server-Rack-psd47615.png"/>
          <p:cNvPicPr/>
          <p:nvPr/>
        </p:nvPicPr>
        <p:blipFill rotWithShape="1">
          <a:blip r:embed="rId6">
            <a:extLst>
              <a:ext uri="{28A0092B-C50C-407E-A947-70E740481C1C}">
                <a14:useLocalDpi xmlns:a14="http://schemas.microsoft.com/office/drawing/2010/main" val="0"/>
              </a:ext>
            </a:extLst>
          </a:blip>
          <a:srcRect r="3833" b="11223"/>
          <a:stretch/>
        </p:blipFill>
        <p:spPr bwMode="auto">
          <a:xfrm>
            <a:off x="3419872" y="2114550"/>
            <a:ext cx="2335032" cy="2186750"/>
          </a:xfrm>
          <a:prstGeom prst="rect">
            <a:avLst/>
          </a:prstGeom>
          <a:noFill/>
          <a:ln>
            <a:noFill/>
          </a:ln>
          <a:extLst>
            <a:ext uri="{53640926-AAD7-44D8-BBD7-CCE9431645EC}">
              <a14:shadowObscured xmlns:a14="http://schemas.microsoft.com/office/drawing/2010/main"/>
            </a:ext>
          </a:extLst>
        </p:spPr>
      </p:pic>
      <p:pic>
        <p:nvPicPr>
          <p:cNvPr id="9" name="Picture 8" descr="C:\Users\prasap1\Desktop\b200_m3_blade_large.jpg"/>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31946" y="1275606"/>
            <a:ext cx="1672782" cy="828000"/>
          </a:xfrm>
          <a:prstGeom prst="rect">
            <a:avLst/>
          </a:prstGeom>
          <a:noFill/>
          <a:ln>
            <a:noFill/>
          </a:ln>
        </p:spPr>
      </p:pic>
      <p:pic>
        <p:nvPicPr>
          <p:cNvPr id="10" name="Picture 9" descr="C:\Users\prasap1\Desktop\UCS_HW.gif"/>
          <p:cNvPicPr/>
          <p:nvPr/>
        </p:nvPicPr>
        <p:blipFill rotWithShape="1">
          <a:blip r:embed="rId8" cstate="print">
            <a:extLst>
              <a:ext uri="{28A0092B-C50C-407E-A947-70E740481C1C}">
                <a14:useLocalDpi xmlns:a14="http://schemas.microsoft.com/office/drawing/2010/main" val="0"/>
              </a:ext>
            </a:extLst>
          </a:blip>
          <a:srcRect l="3438"/>
          <a:stretch/>
        </p:blipFill>
        <p:spPr bwMode="auto">
          <a:xfrm>
            <a:off x="6076664" y="2197519"/>
            <a:ext cx="2583347" cy="2099285"/>
          </a:xfrm>
          <a:prstGeom prst="rect">
            <a:avLst/>
          </a:prstGeom>
          <a:noFill/>
          <a:ln>
            <a:noFill/>
          </a:ln>
        </p:spPr>
      </p:pic>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692472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Физические и логические компоненты вычислительной системы</a:t>
            </a:r>
          </a:p>
          <a:p>
            <a:pPr>
              <a:defRPr/>
            </a:pPr>
            <a:r>
              <a:rPr lang="ru-RU" sz="2000" b="0" i="0" dirty="0">
                <a:solidFill>
                  <a:srgbClr val="000000"/>
                </a:solidFill>
                <a:latin typeface="Arial" pitchFamily="34" charset="0"/>
                <a:cs typeface="Arial" pitchFamily="34" charset="0"/>
              </a:rPr>
              <a:t>Типы вычислительных систем</a:t>
            </a: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23067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Виртуализация вычислительных ресурсов, приложений и рабочих мест</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Виртуализация вычислительных ресурсов, гипервизор и виртуальная машина</a:t>
            </a:r>
          </a:p>
          <a:p>
            <a:pPr>
              <a:defRPr/>
            </a:pPr>
            <a:r>
              <a:rPr lang="ru-RU" sz="2000" b="0" i="0" dirty="0">
                <a:solidFill>
                  <a:srgbClr val="000000"/>
                </a:solidFill>
                <a:latin typeface="Arial" pitchFamily="34" charset="0"/>
                <a:cs typeface="Arial" pitchFamily="34" charset="0"/>
              </a:rPr>
              <a:t>Виртуализация приложений и используемые для этого методы</a:t>
            </a:r>
          </a:p>
          <a:p>
            <a:pPr>
              <a:defRPr/>
            </a:pPr>
            <a:r>
              <a:rPr lang="ru-RU" sz="2000" b="0" i="0" dirty="0">
                <a:solidFill>
                  <a:srgbClr val="000000"/>
                </a:solidFill>
                <a:latin typeface="Arial" pitchFamily="34" charset="0"/>
                <a:cs typeface="Arial" pitchFamily="34" charset="0"/>
              </a:rPr>
              <a:t>Виртуализация рабочих мест и используемые для этого методы</a:t>
            </a:r>
          </a:p>
          <a:p>
            <a:pPr>
              <a:defRPr/>
            </a:pPr>
            <a:endParaRPr lang="en-US" dirty="0">
              <a:latin typeface="Arial" pitchFamily="34" charset="0"/>
              <a:cs typeface="Arial" pitchFamily="34" charset="0"/>
            </a:endParaRP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91786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639" y="228600"/>
            <a:ext cx="8764586" cy="457200"/>
          </a:xfrm>
        </p:spPr>
        <p:txBody>
          <a:bodyPr/>
          <a:lstStyle/>
          <a:p>
            <a:r>
              <a:rPr lang="ru-RU" sz="2700" b="0" i="0" dirty="0">
                <a:solidFill>
                  <a:srgbClr val="2C95DD"/>
                </a:solidFill>
                <a:latin typeface="Arial" pitchFamily="34" charset="0"/>
                <a:cs typeface="Arial" pitchFamily="34" charset="0"/>
              </a:rPr>
              <a:t>Что такое виртуализация вычислительных ресурсов?</a:t>
            </a:r>
          </a:p>
        </p:txBody>
      </p:sp>
      <p:grpSp>
        <p:nvGrpSpPr>
          <p:cNvPr id="5" name="Group 4"/>
          <p:cNvGrpSpPr/>
          <p:nvPr/>
        </p:nvGrpSpPr>
        <p:grpSpPr>
          <a:xfrm>
            <a:off x="334134" y="895350"/>
            <a:ext cx="8486338" cy="1267930"/>
            <a:chOff x="299409" y="798190"/>
            <a:chExt cx="8486338" cy="1267930"/>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170755" cy="10692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400" b="0" i="0" dirty="0">
                  <a:solidFill>
                    <a:srgbClr val="000000"/>
                  </a:solidFill>
                  <a:latin typeface="Arial" pitchFamily="34" charset="0"/>
                  <a:cs typeface="Arial" pitchFamily="34" charset="0"/>
                </a:rPr>
                <a:t>Метод абстрагирования физических вычислительных ресурсов от операционной системы и приложений, обеспечивающий возможность параллельной работы нескольких операционных систем в одиночной или кластерной физической вычислительной системе.</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400" b="1" i="0" dirty="0">
                  <a:solidFill>
                    <a:srgbClr val="FFFFFF"/>
                  </a:solidFill>
                  <a:latin typeface="Arial" pitchFamily="34" charset="0"/>
                  <a:cs typeface="Arial" pitchFamily="34" charset="0"/>
                </a:rPr>
                <a:t>Виртуализация вычислительных ресурсов</a:t>
              </a:r>
            </a:p>
          </p:txBody>
        </p:sp>
      </p:grpSp>
      <p:graphicFrame>
        <p:nvGraphicFramePr>
          <p:cNvPr id="11" name="Table 10"/>
          <p:cNvGraphicFramePr>
            <a:graphicFrameLocks noGrp="1"/>
          </p:cNvGraphicFramePr>
          <p:nvPr>
            <p:extLst>
              <p:ext uri="{D42A27DB-BD31-4B8C-83A1-F6EECF244321}">
                <p14:modId xmlns:p14="http://schemas.microsoft.com/office/powerpoint/2010/main" val="1656643897"/>
              </p:ext>
            </p:extLst>
          </p:nvPr>
        </p:nvGraphicFramePr>
        <p:xfrm>
          <a:off x="2760636" y="2933700"/>
          <a:ext cx="3676316" cy="1889760"/>
        </p:xfrm>
        <a:graphic>
          <a:graphicData uri="http://schemas.openxmlformats.org/drawingml/2006/table">
            <a:tbl>
              <a:tblPr firstRow="1" bandRow="1">
                <a:tableStyleId>{5C22544A-7EE6-4342-B048-85BDC9FD1C3A}</a:tableStyleId>
              </a:tblPr>
              <a:tblGrid>
                <a:gridCol w="3676316">
                  <a:extLst>
                    <a:ext uri="{9D8B030D-6E8A-4147-A177-3AD203B41FA5}">
                      <a16:colId xmlns:a16="http://schemas.microsoft.com/office/drawing/2014/main" val="20000"/>
                    </a:ext>
                  </a:extLst>
                </a:gridCol>
              </a:tblGrid>
              <a:tr h="457200">
                <a:tc>
                  <a:txBody>
                    <a:bodyPr/>
                    <a:lstStyle/>
                    <a:p>
                      <a:pPr algn="ctr"/>
                      <a:r>
                        <a:rPr lang="ru-RU" sz="1100" b="1" i="0" dirty="0">
                          <a:solidFill>
                            <a:srgbClr val="FFFFFF"/>
                          </a:solidFill>
                          <a:latin typeface="Arial" pitchFamily="34" charset="0"/>
                          <a:cs typeface="Arial" pitchFamily="34" charset="0"/>
                        </a:rPr>
                        <a:t>Виртуализация вычислительных ресурсов (гипервизор)</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40335">
                <a:tc>
                  <a:txBody>
                    <a:bodyPr/>
                    <a:lstStyle/>
                    <a:p>
                      <a:pPr algn="ctr"/>
                      <a:r>
                        <a:rPr lang="ru-RU" sz="1100" b="1" i="0" dirty="0">
                          <a:solidFill>
                            <a:srgbClr val="FFFFFF"/>
                          </a:solidFill>
                          <a:latin typeface="Arial" pitchFamily="34" charset="0"/>
                          <a:cs typeface="Arial" pitchFamily="34" charset="0"/>
                        </a:rPr>
                        <a:t>Пул вычислительных мощностей физических ресурсов (оборудование на базе x86-архитектуры)</a:t>
                      </a:r>
                    </a:p>
                    <a:p>
                      <a:pPr algn="ctr"/>
                      <a:endParaRPr lang="en-US" sz="1100" b="1" dirty="0">
                        <a:solidFill>
                          <a:schemeClr val="bg1"/>
                        </a:solidFill>
                        <a:latin typeface="Arial" pitchFamily="34" charset="0"/>
                        <a:cs typeface="Arial" pitchFamily="34" charset="0"/>
                      </a:endParaRPr>
                    </a:p>
                    <a:p>
                      <a:pPr algn="ctr"/>
                      <a:endParaRPr lang="en-US" sz="1100" b="1" dirty="0">
                        <a:solidFill>
                          <a:schemeClr val="bg1"/>
                        </a:solidFill>
                        <a:latin typeface="Arial" pitchFamily="34" charset="0"/>
                        <a:cs typeface="Arial" pitchFamily="34" charset="0"/>
                      </a:endParaRPr>
                    </a:p>
                    <a:p>
                      <a:pPr algn="ctr"/>
                      <a:endParaRPr lang="en-US" sz="1100" b="1" dirty="0">
                        <a:solidFill>
                          <a:schemeClr val="bg1"/>
                        </a:solidFill>
                        <a:latin typeface="Arial" pitchFamily="34" charset="0"/>
                        <a:cs typeface="Arial" pitchFamily="34" charset="0"/>
                      </a:endParaRPr>
                    </a:p>
                    <a:p>
                      <a:pPr algn="ctr"/>
                      <a:endParaRPr lang="en-US" sz="1100" b="1" dirty="0">
                        <a:solidFill>
                          <a:schemeClr val="bg1"/>
                        </a:solidFill>
                        <a:latin typeface="Arial" pitchFamily="34" charset="0"/>
                        <a:cs typeface="Arial" pitchFamily="34" charset="0"/>
                      </a:endParaRPr>
                    </a:p>
                    <a:p>
                      <a:pPr algn="ctr"/>
                      <a:endParaRPr lang="en-US" sz="1100" b="1" dirty="0">
                        <a:solidFill>
                          <a:schemeClr val="bg1"/>
                        </a:solidFill>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10001"/>
                  </a:ext>
                </a:extLst>
              </a:tr>
            </a:tbl>
          </a:graphicData>
        </a:graphic>
      </p:graphicFrame>
      <p:grpSp>
        <p:nvGrpSpPr>
          <p:cNvPr id="12" name="Group 11"/>
          <p:cNvGrpSpPr/>
          <p:nvPr/>
        </p:nvGrpSpPr>
        <p:grpSpPr>
          <a:xfrm>
            <a:off x="2950928" y="3927870"/>
            <a:ext cx="3281363" cy="574675"/>
            <a:chOff x="2815651" y="3723680"/>
            <a:chExt cx="3281363" cy="574675"/>
          </a:xfrm>
        </p:grpSpPr>
        <p:grpSp>
          <p:nvGrpSpPr>
            <p:cNvPr id="13" name="Group 12"/>
            <p:cNvGrpSpPr/>
            <p:nvPr/>
          </p:nvGrpSpPr>
          <p:grpSpPr>
            <a:xfrm>
              <a:off x="4340710" y="3758605"/>
              <a:ext cx="868363" cy="504825"/>
              <a:chOff x="4390451" y="3795117"/>
              <a:chExt cx="868363" cy="504825"/>
            </a:xfrm>
          </p:grpSpPr>
          <p:pic>
            <p:nvPicPr>
              <p:cNvPr id="17" name="Picture 359" descr="ICON_Memory_Q308"/>
              <p:cNvPicPr>
                <a:picLocks noChangeAspect="1" noChangeArrowheads="1"/>
              </p:cNvPicPr>
              <p:nvPr>
                <p:custDataLst>
                  <p:tags r:id="rId25"/>
                </p:custDataLst>
              </p:nvPr>
            </p:nvPicPr>
            <p:blipFill>
              <a:blip r:embed="rId29" cstate="print"/>
              <a:srcRect/>
              <a:stretch>
                <a:fillRect/>
              </a:stretch>
            </p:blipFill>
            <p:spPr bwMode="auto">
              <a:xfrm>
                <a:off x="4563489" y="3795117"/>
                <a:ext cx="695325" cy="504825"/>
              </a:xfrm>
              <a:prstGeom prst="rect">
                <a:avLst/>
              </a:prstGeom>
              <a:noFill/>
              <a:ln w="9525">
                <a:noFill/>
                <a:miter lim="800000"/>
                <a:headEnd/>
                <a:tailEnd/>
              </a:ln>
            </p:spPr>
          </p:pic>
          <p:pic>
            <p:nvPicPr>
              <p:cNvPr id="18" name="Picture 359" descr="ICON_Memory_Q308"/>
              <p:cNvPicPr>
                <a:picLocks noChangeAspect="1" noChangeArrowheads="1"/>
              </p:cNvPicPr>
              <p:nvPr>
                <p:custDataLst>
                  <p:tags r:id="rId26"/>
                </p:custDataLst>
              </p:nvPr>
            </p:nvPicPr>
            <p:blipFill>
              <a:blip r:embed="rId29" cstate="print"/>
              <a:srcRect/>
              <a:stretch>
                <a:fillRect/>
              </a:stretch>
            </p:blipFill>
            <p:spPr bwMode="auto">
              <a:xfrm>
                <a:off x="4390451" y="3795117"/>
                <a:ext cx="695325" cy="504825"/>
              </a:xfrm>
              <a:prstGeom prst="rect">
                <a:avLst/>
              </a:prstGeom>
              <a:noFill/>
              <a:ln w="9525">
                <a:noFill/>
                <a:miter lim="800000"/>
                <a:headEnd/>
                <a:tailEnd/>
              </a:ln>
            </p:spPr>
          </p:pic>
        </p:grpSp>
        <p:pic>
          <p:nvPicPr>
            <p:cNvPr id="14" name="Picture 357" descr="ICON_NIC_Q308"/>
            <p:cNvPicPr>
              <a:picLocks noChangeAspect="1" noChangeArrowheads="1"/>
            </p:cNvPicPr>
            <p:nvPr>
              <p:custDataLst>
                <p:tags r:id="rId22"/>
              </p:custDataLst>
            </p:nvPr>
          </p:nvPicPr>
          <p:blipFill>
            <a:blip r:embed="rId30" cstate="print"/>
            <a:srcRect/>
            <a:stretch>
              <a:fillRect/>
            </a:stretch>
          </p:blipFill>
          <p:spPr bwMode="auto">
            <a:xfrm>
              <a:off x="3430543" y="3725267"/>
              <a:ext cx="719138" cy="571500"/>
            </a:xfrm>
            <a:prstGeom prst="rect">
              <a:avLst/>
            </a:prstGeom>
            <a:noFill/>
            <a:ln w="9525">
              <a:noFill/>
              <a:miter lim="800000"/>
              <a:headEnd/>
              <a:tailEnd/>
            </a:ln>
          </p:spPr>
        </p:pic>
        <p:pic>
          <p:nvPicPr>
            <p:cNvPr id="15" name="Picture 382" descr="ICON_DiscDrive_Q308"/>
            <p:cNvPicPr>
              <a:picLocks noChangeAspect="1" noChangeArrowheads="1"/>
            </p:cNvPicPr>
            <p:nvPr>
              <p:custDataLst>
                <p:tags r:id="rId23"/>
              </p:custDataLst>
            </p:nvPr>
          </p:nvPicPr>
          <p:blipFill>
            <a:blip r:embed="rId31" cstate="print"/>
            <a:srcRect/>
            <a:stretch>
              <a:fillRect/>
            </a:stretch>
          </p:blipFill>
          <p:spPr bwMode="auto">
            <a:xfrm>
              <a:off x="5400101" y="3776067"/>
              <a:ext cx="696913" cy="469900"/>
            </a:xfrm>
            <a:prstGeom prst="rect">
              <a:avLst/>
            </a:prstGeom>
            <a:noFill/>
            <a:ln w="9525">
              <a:noFill/>
              <a:miter lim="800000"/>
              <a:headEnd/>
              <a:tailEnd/>
            </a:ln>
          </p:spPr>
        </p:pic>
        <p:pic>
          <p:nvPicPr>
            <p:cNvPr id="16" name="Picture 96" descr="CPU Single.png"/>
            <p:cNvPicPr>
              <a:picLocks noChangeAspect="1"/>
            </p:cNvPicPr>
            <p:nvPr>
              <p:custDataLst>
                <p:tags r:id="rId24"/>
              </p:custDataLst>
            </p:nvPr>
          </p:nvPicPr>
          <p:blipFill>
            <a:blip r:embed="rId32" cstate="print"/>
            <a:srcRect/>
            <a:stretch>
              <a:fillRect/>
            </a:stretch>
          </p:blipFill>
          <p:spPr bwMode="auto">
            <a:xfrm>
              <a:off x="2815651" y="3723680"/>
              <a:ext cx="423863" cy="574675"/>
            </a:xfrm>
            <a:prstGeom prst="rect">
              <a:avLst/>
            </a:prstGeom>
            <a:noFill/>
            <a:ln w="9525">
              <a:noFill/>
              <a:miter lim="800000"/>
              <a:headEnd/>
              <a:tailEnd/>
            </a:ln>
          </p:spPr>
        </p:pic>
      </p:grpSp>
      <p:cxnSp>
        <p:nvCxnSpPr>
          <p:cNvPr id="19" name="Straight Arrow Connector 18"/>
          <p:cNvCxnSpPr/>
          <p:nvPr/>
        </p:nvCxnSpPr>
        <p:spPr>
          <a:xfrm>
            <a:off x="2631212" y="2941261"/>
            <a:ext cx="0" cy="1800000"/>
          </a:xfrm>
          <a:prstGeom prst="straightConnector1">
            <a:avLst/>
          </a:prstGeom>
          <a:ln w="34925" cmpd="sng">
            <a:solidFill>
              <a:schemeClr val="bg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rot="16200000">
            <a:off x="1684124" y="3725845"/>
            <a:ext cx="1572866" cy="230832"/>
          </a:xfrm>
          <a:prstGeom prst="rect">
            <a:avLst/>
          </a:prstGeom>
          <a:noFill/>
        </p:spPr>
        <p:txBody>
          <a:bodyPr wrap="none" rtlCol="0">
            <a:spAutoFit/>
          </a:bodyPr>
          <a:lstStyle/>
          <a:p>
            <a:r>
              <a:rPr lang="ru-RU" sz="900" b="1" i="0" dirty="0">
                <a:solidFill>
                  <a:srgbClr val="000000"/>
                </a:solidFill>
                <a:latin typeface="Arial" pitchFamily="34" charset="0"/>
                <a:cs typeface="Arial" pitchFamily="34" charset="0"/>
              </a:rPr>
              <a:t>Отделены друг от друга</a:t>
            </a:r>
          </a:p>
        </p:txBody>
      </p:sp>
      <p:grpSp>
        <p:nvGrpSpPr>
          <p:cNvPr id="21" name="Group 20"/>
          <p:cNvGrpSpPr/>
          <p:nvPr/>
        </p:nvGrpSpPr>
        <p:grpSpPr>
          <a:xfrm>
            <a:off x="2760636" y="2309204"/>
            <a:ext cx="551220" cy="653012"/>
            <a:chOff x="3325652" y="1312194"/>
            <a:chExt cx="551220" cy="653012"/>
          </a:xfrm>
        </p:grpSpPr>
        <p:pic>
          <p:nvPicPr>
            <p:cNvPr id="22" name="Picture 41" descr="C:\Users\patils1\Desktop\2013 Projects\CIS v2\CIS Slide Deck_Based on Book\Colored Graphics\Virtual Machine with Application and OS.png"/>
            <p:cNvPicPr>
              <a:picLocks noChangeAspect="1" noChangeArrowheads="1"/>
            </p:cNvPicPr>
            <p:nvPr>
              <p:custDataLst>
                <p:tags r:id="rId17"/>
              </p:custDataLst>
            </p:nvPr>
          </p:nvPicPr>
          <p:blipFill>
            <a:blip r:embed="rId33">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p:cNvGrpSpPr>
              <a:grpSpLocks noChangeAspect="1"/>
            </p:cNvGrpSpPr>
            <p:nvPr/>
          </p:nvGrpSpPr>
          <p:grpSpPr>
            <a:xfrm>
              <a:off x="3336872" y="1829478"/>
              <a:ext cx="540000" cy="135728"/>
              <a:chOff x="5372100" y="4121149"/>
              <a:chExt cx="884238" cy="222251"/>
            </a:xfrm>
          </p:grpSpPr>
          <p:pic>
            <p:nvPicPr>
              <p:cNvPr id="24" name="Picture 382" descr="ICON_DiscDrive_Q308"/>
              <p:cNvPicPr>
                <a:picLocks noChangeAspect="1" noChangeArrowheads="1"/>
              </p:cNvPicPr>
              <p:nvPr>
                <p:custDataLst>
                  <p:tags r:id="rId18"/>
                </p:custDataLst>
              </p:nvPr>
            </p:nvPicPr>
            <p:blipFill>
              <a:blip r:embed="rId34" cstate="print"/>
              <a:srcRect/>
              <a:stretch>
                <a:fillRect/>
              </a:stretch>
            </p:blipFill>
            <p:spPr bwMode="auto">
              <a:xfrm>
                <a:off x="6034088" y="4143375"/>
                <a:ext cx="222250" cy="200025"/>
              </a:xfrm>
              <a:prstGeom prst="rect">
                <a:avLst/>
              </a:prstGeom>
              <a:noFill/>
              <a:ln w="9525">
                <a:noFill/>
                <a:miter lim="800000"/>
                <a:headEnd/>
                <a:tailEnd/>
              </a:ln>
            </p:spPr>
          </p:pic>
          <p:pic>
            <p:nvPicPr>
              <p:cNvPr id="25" name="Picture 359" descr="ICON_Memory_Q308"/>
              <p:cNvPicPr>
                <a:picLocks noChangeAspect="1" noChangeArrowheads="1"/>
              </p:cNvPicPr>
              <p:nvPr>
                <p:custDataLst>
                  <p:tags r:id="rId19"/>
                </p:custDataLst>
              </p:nvPr>
            </p:nvPicPr>
            <p:blipFill>
              <a:blip r:embed="rId35" cstate="print"/>
              <a:srcRect/>
              <a:stretch>
                <a:fillRect/>
              </a:stretch>
            </p:blipFill>
            <p:spPr bwMode="auto">
              <a:xfrm>
                <a:off x="5805488" y="4143374"/>
                <a:ext cx="195263" cy="200025"/>
              </a:xfrm>
              <a:prstGeom prst="rect">
                <a:avLst/>
              </a:prstGeom>
              <a:noFill/>
              <a:ln w="9525">
                <a:noFill/>
                <a:miter lim="800000"/>
                <a:headEnd/>
                <a:tailEnd/>
              </a:ln>
            </p:spPr>
          </p:pic>
          <p:pic>
            <p:nvPicPr>
              <p:cNvPr id="26" name="Picture 357" descr="ICON_NIC_Q308"/>
              <p:cNvPicPr>
                <a:picLocks noChangeAspect="1" noChangeArrowheads="1"/>
              </p:cNvPicPr>
              <p:nvPr>
                <p:custDataLst>
                  <p:tags r:id="rId20"/>
                </p:custDataLst>
              </p:nvPr>
            </p:nvPicPr>
            <p:blipFill>
              <a:blip r:embed="rId36" cstate="print"/>
              <a:srcRect/>
              <a:stretch>
                <a:fillRect/>
              </a:stretch>
            </p:blipFill>
            <p:spPr bwMode="auto">
              <a:xfrm>
                <a:off x="5576888" y="4157662"/>
                <a:ext cx="234950" cy="185738"/>
              </a:xfrm>
              <a:prstGeom prst="rect">
                <a:avLst/>
              </a:prstGeom>
              <a:noFill/>
              <a:ln w="9525">
                <a:noFill/>
                <a:miter lim="800000"/>
                <a:headEnd/>
                <a:tailEnd/>
              </a:ln>
            </p:spPr>
          </p:pic>
          <p:pic>
            <p:nvPicPr>
              <p:cNvPr id="27" name="Picture 96" descr="CPU Single.png"/>
              <p:cNvPicPr>
                <a:picLocks noChangeAspect="1"/>
              </p:cNvPicPr>
              <p:nvPr>
                <p:custDataLst>
                  <p:tags r:id="rId21"/>
                </p:custDataLst>
              </p:nvPr>
            </p:nvPicPr>
            <p:blipFill>
              <a:blip r:embed="rId37"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28" name="Group 27"/>
          <p:cNvGrpSpPr/>
          <p:nvPr/>
        </p:nvGrpSpPr>
        <p:grpSpPr>
          <a:xfrm>
            <a:off x="5885732" y="2309204"/>
            <a:ext cx="551220" cy="653012"/>
            <a:chOff x="3325652" y="1312194"/>
            <a:chExt cx="551220" cy="653012"/>
          </a:xfrm>
        </p:grpSpPr>
        <p:pic>
          <p:nvPicPr>
            <p:cNvPr id="29" name="Picture 41" descr="C:\Users\patils1\Desktop\2013 Projects\CIS v2\CIS Slide Deck_Based on Book\Colored Graphics\Virtual Machine with Application and OS.png"/>
            <p:cNvPicPr>
              <a:picLocks noChangeAspect="1" noChangeArrowheads="1"/>
            </p:cNvPicPr>
            <p:nvPr>
              <p:custDataLst>
                <p:tags r:id="rId12"/>
              </p:custDataLst>
            </p:nvPr>
          </p:nvPicPr>
          <p:blipFill>
            <a:blip r:embed="rId33">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up 29"/>
            <p:cNvGrpSpPr>
              <a:grpSpLocks noChangeAspect="1"/>
            </p:cNvGrpSpPr>
            <p:nvPr/>
          </p:nvGrpSpPr>
          <p:grpSpPr>
            <a:xfrm>
              <a:off x="3336872" y="1829478"/>
              <a:ext cx="540000" cy="135728"/>
              <a:chOff x="5372100" y="4121149"/>
              <a:chExt cx="884238" cy="222251"/>
            </a:xfrm>
          </p:grpSpPr>
          <p:pic>
            <p:nvPicPr>
              <p:cNvPr id="31" name="Picture 382" descr="ICON_DiscDrive_Q308"/>
              <p:cNvPicPr>
                <a:picLocks noChangeAspect="1" noChangeArrowheads="1"/>
              </p:cNvPicPr>
              <p:nvPr>
                <p:custDataLst>
                  <p:tags r:id="rId13"/>
                </p:custDataLst>
              </p:nvPr>
            </p:nvPicPr>
            <p:blipFill>
              <a:blip r:embed="rId34" cstate="print"/>
              <a:srcRect/>
              <a:stretch>
                <a:fillRect/>
              </a:stretch>
            </p:blipFill>
            <p:spPr bwMode="auto">
              <a:xfrm>
                <a:off x="6034088" y="4143375"/>
                <a:ext cx="222250" cy="200025"/>
              </a:xfrm>
              <a:prstGeom prst="rect">
                <a:avLst/>
              </a:prstGeom>
              <a:noFill/>
              <a:ln w="9525">
                <a:noFill/>
                <a:miter lim="800000"/>
                <a:headEnd/>
                <a:tailEnd/>
              </a:ln>
            </p:spPr>
          </p:pic>
          <p:pic>
            <p:nvPicPr>
              <p:cNvPr id="32" name="Picture 359" descr="ICON_Memory_Q308"/>
              <p:cNvPicPr>
                <a:picLocks noChangeAspect="1" noChangeArrowheads="1"/>
              </p:cNvPicPr>
              <p:nvPr>
                <p:custDataLst>
                  <p:tags r:id="rId14"/>
                </p:custDataLst>
              </p:nvPr>
            </p:nvPicPr>
            <p:blipFill>
              <a:blip r:embed="rId35" cstate="print"/>
              <a:srcRect/>
              <a:stretch>
                <a:fillRect/>
              </a:stretch>
            </p:blipFill>
            <p:spPr bwMode="auto">
              <a:xfrm>
                <a:off x="5805488" y="4143374"/>
                <a:ext cx="195263" cy="200025"/>
              </a:xfrm>
              <a:prstGeom prst="rect">
                <a:avLst/>
              </a:prstGeom>
              <a:noFill/>
              <a:ln w="9525">
                <a:noFill/>
                <a:miter lim="800000"/>
                <a:headEnd/>
                <a:tailEnd/>
              </a:ln>
            </p:spPr>
          </p:pic>
          <p:pic>
            <p:nvPicPr>
              <p:cNvPr id="33" name="Picture 357" descr="ICON_NIC_Q308"/>
              <p:cNvPicPr>
                <a:picLocks noChangeAspect="1" noChangeArrowheads="1"/>
              </p:cNvPicPr>
              <p:nvPr>
                <p:custDataLst>
                  <p:tags r:id="rId15"/>
                </p:custDataLst>
              </p:nvPr>
            </p:nvPicPr>
            <p:blipFill>
              <a:blip r:embed="rId36" cstate="print"/>
              <a:srcRect/>
              <a:stretch>
                <a:fillRect/>
              </a:stretch>
            </p:blipFill>
            <p:spPr bwMode="auto">
              <a:xfrm>
                <a:off x="5576888" y="4157662"/>
                <a:ext cx="234950" cy="185738"/>
              </a:xfrm>
              <a:prstGeom prst="rect">
                <a:avLst/>
              </a:prstGeom>
              <a:noFill/>
              <a:ln w="9525">
                <a:noFill/>
                <a:miter lim="800000"/>
                <a:headEnd/>
                <a:tailEnd/>
              </a:ln>
            </p:spPr>
          </p:pic>
          <p:pic>
            <p:nvPicPr>
              <p:cNvPr id="34" name="Picture 96" descr="CPU Single.png"/>
              <p:cNvPicPr>
                <a:picLocks noChangeAspect="1"/>
              </p:cNvPicPr>
              <p:nvPr>
                <p:custDataLst>
                  <p:tags r:id="rId16"/>
                </p:custDataLst>
              </p:nvPr>
            </p:nvPicPr>
            <p:blipFill>
              <a:blip r:embed="rId37"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35" name="Group 34"/>
          <p:cNvGrpSpPr/>
          <p:nvPr/>
        </p:nvGrpSpPr>
        <p:grpSpPr>
          <a:xfrm>
            <a:off x="4844034" y="2309204"/>
            <a:ext cx="551220" cy="653012"/>
            <a:chOff x="3325652" y="1312194"/>
            <a:chExt cx="551220" cy="653012"/>
          </a:xfrm>
        </p:grpSpPr>
        <p:pic>
          <p:nvPicPr>
            <p:cNvPr id="36" name="Picture 35" descr="C:\Users\patils1\Desktop\2013 Projects\CIS v2\CIS Slide Deck_Based on Book\Colored Graphics\Virtual Machine with Application and OS.png"/>
            <p:cNvPicPr>
              <a:picLocks noChangeAspect="1" noChangeArrowheads="1"/>
            </p:cNvPicPr>
            <p:nvPr>
              <p:custDataLst>
                <p:tags r:id="rId7"/>
              </p:custDataLst>
            </p:nvPr>
          </p:nvPicPr>
          <p:blipFill>
            <a:blip r:embed="rId33">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36"/>
            <p:cNvGrpSpPr>
              <a:grpSpLocks noChangeAspect="1"/>
            </p:cNvGrpSpPr>
            <p:nvPr/>
          </p:nvGrpSpPr>
          <p:grpSpPr>
            <a:xfrm>
              <a:off x="3336872" y="1829478"/>
              <a:ext cx="540000" cy="135728"/>
              <a:chOff x="5372100" y="4121149"/>
              <a:chExt cx="884238" cy="222251"/>
            </a:xfrm>
          </p:grpSpPr>
          <p:pic>
            <p:nvPicPr>
              <p:cNvPr id="38" name="Picture 382" descr="ICON_DiscDrive_Q308"/>
              <p:cNvPicPr>
                <a:picLocks noChangeAspect="1" noChangeArrowheads="1"/>
              </p:cNvPicPr>
              <p:nvPr>
                <p:custDataLst>
                  <p:tags r:id="rId8"/>
                </p:custDataLst>
              </p:nvPr>
            </p:nvPicPr>
            <p:blipFill>
              <a:blip r:embed="rId34" cstate="print"/>
              <a:srcRect/>
              <a:stretch>
                <a:fillRect/>
              </a:stretch>
            </p:blipFill>
            <p:spPr bwMode="auto">
              <a:xfrm>
                <a:off x="6034088" y="4143375"/>
                <a:ext cx="222250" cy="200025"/>
              </a:xfrm>
              <a:prstGeom prst="rect">
                <a:avLst/>
              </a:prstGeom>
              <a:noFill/>
              <a:ln w="9525">
                <a:noFill/>
                <a:miter lim="800000"/>
                <a:headEnd/>
                <a:tailEnd/>
              </a:ln>
            </p:spPr>
          </p:pic>
          <p:pic>
            <p:nvPicPr>
              <p:cNvPr id="39" name="Picture 359" descr="ICON_Memory_Q308"/>
              <p:cNvPicPr>
                <a:picLocks noChangeAspect="1" noChangeArrowheads="1"/>
              </p:cNvPicPr>
              <p:nvPr>
                <p:custDataLst>
                  <p:tags r:id="rId9"/>
                </p:custDataLst>
              </p:nvPr>
            </p:nvPicPr>
            <p:blipFill>
              <a:blip r:embed="rId35" cstate="print"/>
              <a:srcRect/>
              <a:stretch>
                <a:fillRect/>
              </a:stretch>
            </p:blipFill>
            <p:spPr bwMode="auto">
              <a:xfrm>
                <a:off x="5805488" y="4143374"/>
                <a:ext cx="195263" cy="200025"/>
              </a:xfrm>
              <a:prstGeom prst="rect">
                <a:avLst/>
              </a:prstGeom>
              <a:noFill/>
              <a:ln w="9525">
                <a:noFill/>
                <a:miter lim="800000"/>
                <a:headEnd/>
                <a:tailEnd/>
              </a:ln>
            </p:spPr>
          </p:pic>
          <p:pic>
            <p:nvPicPr>
              <p:cNvPr id="40" name="Picture 357" descr="ICON_NIC_Q308"/>
              <p:cNvPicPr>
                <a:picLocks noChangeAspect="1" noChangeArrowheads="1"/>
              </p:cNvPicPr>
              <p:nvPr>
                <p:custDataLst>
                  <p:tags r:id="rId10"/>
                </p:custDataLst>
              </p:nvPr>
            </p:nvPicPr>
            <p:blipFill>
              <a:blip r:embed="rId36" cstate="print"/>
              <a:srcRect/>
              <a:stretch>
                <a:fillRect/>
              </a:stretch>
            </p:blipFill>
            <p:spPr bwMode="auto">
              <a:xfrm>
                <a:off x="5576888" y="4157662"/>
                <a:ext cx="234950" cy="185738"/>
              </a:xfrm>
              <a:prstGeom prst="rect">
                <a:avLst/>
              </a:prstGeom>
              <a:noFill/>
              <a:ln w="9525">
                <a:noFill/>
                <a:miter lim="800000"/>
                <a:headEnd/>
                <a:tailEnd/>
              </a:ln>
            </p:spPr>
          </p:pic>
          <p:pic>
            <p:nvPicPr>
              <p:cNvPr id="41" name="Picture 96" descr="CPU Single.png"/>
              <p:cNvPicPr>
                <a:picLocks noChangeAspect="1"/>
              </p:cNvPicPr>
              <p:nvPr>
                <p:custDataLst>
                  <p:tags r:id="rId11"/>
                </p:custDataLst>
              </p:nvPr>
            </p:nvPicPr>
            <p:blipFill>
              <a:blip r:embed="rId37"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42" name="Group 41"/>
          <p:cNvGrpSpPr/>
          <p:nvPr/>
        </p:nvGrpSpPr>
        <p:grpSpPr>
          <a:xfrm>
            <a:off x="3802335" y="2309204"/>
            <a:ext cx="551220" cy="653012"/>
            <a:chOff x="3325652" y="1312194"/>
            <a:chExt cx="551220" cy="653012"/>
          </a:xfrm>
        </p:grpSpPr>
        <p:pic>
          <p:nvPicPr>
            <p:cNvPr id="43" name="Picture 41" descr="C:\Users\patils1\Desktop\2013 Projects\CIS v2\CIS Slide Deck_Based on Book\Colored Graphics\Virtual Machine with Application and OS.png"/>
            <p:cNvPicPr>
              <a:picLocks noChangeAspect="1" noChangeArrowheads="1"/>
            </p:cNvPicPr>
            <p:nvPr>
              <p:custDataLst>
                <p:tags r:id="rId2"/>
              </p:custDataLst>
            </p:nvPr>
          </p:nvPicPr>
          <p:blipFill>
            <a:blip r:embed="rId33">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43"/>
            <p:cNvGrpSpPr>
              <a:grpSpLocks noChangeAspect="1"/>
            </p:cNvGrpSpPr>
            <p:nvPr/>
          </p:nvGrpSpPr>
          <p:grpSpPr>
            <a:xfrm>
              <a:off x="3336872" y="1829478"/>
              <a:ext cx="540000" cy="135728"/>
              <a:chOff x="5372100" y="4121149"/>
              <a:chExt cx="884238" cy="222251"/>
            </a:xfrm>
          </p:grpSpPr>
          <p:pic>
            <p:nvPicPr>
              <p:cNvPr id="45" name="Picture 382" descr="ICON_DiscDrive_Q308"/>
              <p:cNvPicPr>
                <a:picLocks noChangeAspect="1" noChangeArrowheads="1"/>
              </p:cNvPicPr>
              <p:nvPr>
                <p:custDataLst>
                  <p:tags r:id="rId3"/>
                </p:custDataLst>
              </p:nvPr>
            </p:nvPicPr>
            <p:blipFill>
              <a:blip r:embed="rId34" cstate="print"/>
              <a:srcRect/>
              <a:stretch>
                <a:fillRect/>
              </a:stretch>
            </p:blipFill>
            <p:spPr bwMode="auto">
              <a:xfrm>
                <a:off x="6034088" y="4143375"/>
                <a:ext cx="222250" cy="200025"/>
              </a:xfrm>
              <a:prstGeom prst="rect">
                <a:avLst/>
              </a:prstGeom>
              <a:noFill/>
              <a:ln w="9525">
                <a:noFill/>
                <a:miter lim="800000"/>
                <a:headEnd/>
                <a:tailEnd/>
              </a:ln>
            </p:spPr>
          </p:pic>
          <p:pic>
            <p:nvPicPr>
              <p:cNvPr id="46" name="Picture 359" descr="ICON_Memory_Q308"/>
              <p:cNvPicPr>
                <a:picLocks noChangeAspect="1" noChangeArrowheads="1"/>
              </p:cNvPicPr>
              <p:nvPr>
                <p:custDataLst>
                  <p:tags r:id="rId4"/>
                </p:custDataLst>
              </p:nvPr>
            </p:nvPicPr>
            <p:blipFill>
              <a:blip r:embed="rId35" cstate="print"/>
              <a:srcRect/>
              <a:stretch>
                <a:fillRect/>
              </a:stretch>
            </p:blipFill>
            <p:spPr bwMode="auto">
              <a:xfrm>
                <a:off x="5805488" y="4143374"/>
                <a:ext cx="195263" cy="200025"/>
              </a:xfrm>
              <a:prstGeom prst="rect">
                <a:avLst/>
              </a:prstGeom>
              <a:noFill/>
              <a:ln w="9525">
                <a:noFill/>
                <a:miter lim="800000"/>
                <a:headEnd/>
                <a:tailEnd/>
              </a:ln>
            </p:spPr>
          </p:pic>
          <p:pic>
            <p:nvPicPr>
              <p:cNvPr id="47" name="Picture 357" descr="ICON_NIC_Q308"/>
              <p:cNvPicPr>
                <a:picLocks noChangeAspect="1" noChangeArrowheads="1"/>
              </p:cNvPicPr>
              <p:nvPr>
                <p:custDataLst>
                  <p:tags r:id="rId5"/>
                </p:custDataLst>
              </p:nvPr>
            </p:nvPicPr>
            <p:blipFill>
              <a:blip r:embed="rId36" cstate="print"/>
              <a:srcRect/>
              <a:stretch>
                <a:fillRect/>
              </a:stretch>
            </p:blipFill>
            <p:spPr bwMode="auto">
              <a:xfrm>
                <a:off x="5576888" y="4157662"/>
                <a:ext cx="234950" cy="185738"/>
              </a:xfrm>
              <a:prstGeom prst="rect">
                <a:avLst/>
              </a:prstGeom>
              <a:noFill/>
              <a:ln w="9525">
                <a:noFill/>
                <a:miter lim="800000"/>
                <a:headEnd/>
                <a:tailEnd/>
              </a:ln>
            </p:spPr>
          </p:pic>
          <p:pic>
            <p:nvPicPr>
              <p:cNvPr id="48" name="Picture 96" descr="CPU Single.png"/>
              <p:cNvPicPr>
                <a:picLocks noChangeAspect="1"/>
              </p:cNvPicPr>
              <p:nvPr>
                <p:custDataLst>
                  <p:tags r:id="rId6"/>
                </p:custDataLst>
              </p:nvPr>
            </p:nvPicPr>
            <p:blipFill>
              <a:blip r:embed="rId37" cstate="print"/>
              <a:srcRect/>
              <a:stretch>
                <a:fillRect/>
              </a:stretch>
            </p:blipFill>
            <p:spPr bwMode="auto">
              <a:xfrm>
                <a:off x="5372100" y="4121149"/>
                <a:ext cx="160338" cy="215900"/>
              </a:xfrm>
              <a:prstGeom prst="rect">
                <a:avLst/>
              </a:prstGeom>
              <a:noFill/>
              <a:ln w="9525">
                <a:noFill/>
                <a:miter lim="800000"/>
                <a:headEnd/>
                <a:tailEnd/>
              </a:ln>
            </p:spPr>
          </p:pic>
        </p:grpSp>
      </p:grpSp>
      <p:sp>
        <p:nvSpPr>
          <p:cNvPr id="49" name="Text Box 341"/>
          <p:cNvSpPr txBox="1">
            <a:spLocks noChangeArrowheads="1"/>
          </p:cNvSpPr>
          <p:nvPr/>
        </p:nvSpPr>
        <p:spPr bwMode="auto">
          <a:xfrm>
            <a:off x="2917825" y="4508728"/>
            <a:ext cx="501650" cy="215444"/>
          </a:xfrm>
          <a:prstGeom prst="rect">
            <a:avLst/>
          </a:prstGeom>
          <a:noFill/>
          <a:ln w="9525">
            <a:noFill/>
            <a:miter lim="800000"/>
            <a:headEnd/>
            <a:tailEnd/>
          </a:ln>
        </p:spPr>
        <p:txBody>
          <a:bodyPr>
            <a:spAutoFit/>
          </a:bodyPr>
          <a:lstStyle/>
          <a:p>
            <a:pPr algn="ctr"/>
            <a:r>
              <a:rPr lang="ru-RU" sz="800" b="1" i="0" dirty="0">
                <a:solidFill>
                  <a:srgbClr val="FFFFFF"/>
                </a:solidFill>
                <a:latin typeface="Arial" pitchFamily="34" charset="0"/>
                <a:cs typeface="Arial" pitchFamily="34" charset="0"/>
              </a:rPr>
              <a:t>ЦП</a:t>
            </a:r>
          </a:p>
        </p:txBody>
      </p:sp>
      <p:sp>
        <p:nvSpPr>
          <p:cNvPr id="50" name="Text Box 341"/>
          <p:cNvSpPr txBox="1">
            <a:spLocks noChangeArrowheads="1"/>
          </p:cNvSpPr>
          <p:nvPr/>
        </p:nvSpPr>
        <p:spPr bwMode="auto">
          <a:xfrm>
            <a:off x="4499992" y="4508728"/>
            <a:ext cx="798513" cy="215444"/>
          </a:xfrm>
          <a:prstGeom prst="rect">
            <a:avLst/>
          </a:prstGeom>
          <a:noFill/>
          <a:ln w="9525">
            <a:noFill/>
            <a:miter lim="800000"/>
            <a:headEnd/>
            <a:tailEnd/>
          </a:ln>
        </p:spPr>
        <p:txBody>
          <a:bodyPr>
            <a:spAutoFit/>
          </a:bodyPr>
          <a:lstStyle/>
          <a:p>
            <a:pPr algn="ctr"/>
            <a:r>
              <a:rPr lang="ru-RU" sz="800" b="1" i="0" dirty="0">
                <a:solidFill>
                  <a:srgbClr val="FFFFFF"/>
                </a:solidFill>
                <a:latin typeface="Arial" pitchFamily="34" charset="0"/>
                <a:cs typeface="Arial" pitchFamily="34" charset="0"/>
              </a:rPr>
              <a:t>Память</a:t>
            </a:r>
          </a:p>
        </p:txBody>
      </p:sp>
      <p:sp>
        <p:nvSpPr>
          <p:cNvPr id="51" name="Text Box 341"/>
          <p:cNvSpPr txBox="1">
            <a:spLocks noChangeArrowheads="1"/>
          </p:cNvSpPr>
          <p:nvPr/>
        </p:nvSpPr>
        <p:spPr bwMode="auto">
          <a:xfrm>
            <a:off x="3646776" y="4508728"/>
            <a:ext cx="620424" cy="338554"/>
          </a:xfrm>
          <a:prstGeom prst="rect">
            <a:avLst/>
          </a:prstGeom>
          <a:noFill/>
          <a:ln w="9525">
            <a:noFill/>
            <a:miter lim="800000"/>
            <a:headEnd/>
            <a:tailEnd/>
          </a:ln>
        </p:spPr>
        <p:txBody>
          <a:bodyPr wrap="square">
            <a:spAutoFit/>
          </a:bodyPr>
          <a:lstStyle/>
          <a:p>
            <a:pPr algn="ctr"/>
            <a:r>
              <a:rPr lang="ru-RU" sz="800" b="1" i="0" dirty="0">
                <a:solidFill>
                  <a:srgbClr val="FFFFFF"/>
                </a:solidFill>
                <a:latin typeface="Arial" pitchFamily="34" charset="0"/>
                <a:cs typeface="Arial" pitchFamily="34" charset="0"/>
              </a:rPr>
              <a:t>Сетевая карта</a:t>
            </a:r>
          </a:p>
        </p:txBody>
      </p:sp>
      <p:sp>
        <p:nvSpPr>
          <p:cNvPr id="52" name="Text Box 341"/>
          <p:cNvSpPr txBox="1">
            <a:spLocks noChangeArrowheads="1"/>
          </p:cNvSpPr>
          <p:nvPr/>
        </p:nvSpPr>
        <p:spPr bwMode="auto">
          <a:xfrm>
            <a:off x="5479223" y="4508728"/>
            <a:ext cx="883477" cy="215444"/>
          </a:xfrm>
          <a:prstGeom prst="rect">
            <a:avLst/>
          </a:prstGeom>
          <a:noFill/>
          <a:ln w="9525">
            <a:noFill/>
            <a:miter lim="800000"/>
            <a:headEnd/>
            <a:tailEnd/>
          </a:ln>
        </p:spPr>
        <p:txBody>
          <a:bodyPr wrap="square">
            <a:spAutoFit/>
          </a:bodyPr>
          <a:lstStyle/>
          <a:p>
            <a:pPr algn="ctr"/>
            <a:r>
              <a:rPr lang="ru-RU" sz="800" b="1" i="0" dirty="0">
                <a:solidFill>
                  <a:srgbClr val="FFFFFF"/>
                </a:solidFill>
                <a:latin typeface="Arial" pitchFamily="34" charset="0"/>
                <a:cs typeface="Arial" pitchFamily="34" charset="0"/>
              </a:rPr>
              <a:t>Жесткий диск</a:t>
            </a:r>
          </a:p>
        </p:txBody>
      </p:sp>
      <p:sp>
        <p:nvSpPr>
          <p:cNvPr id="53" name="TextBox 5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820548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09550"/>
            <a:ext cx="8764586" cy="762000"/>
          </a:xfrm>
        </p:spPr>
        <p:txBody>
          <a:bodyPr/>
          <a:lstStyle/>
          <a:p>
            <a:r>
              <a:rPr lang="ru-RU" sz="2600" b="0" i="0" dirty="0">
                <a:solidFill>
                  <a:srgbClr val="2C95DD"/>
                </a:solidFill>
                <a:latin typeface="Arial" pitchFamily="34" charset="0"/>
                <a:cs typeface="Arial" pitchFamily="34" charset="0"/>
              </a:rPr>
              <a:t>Необходимость виртуализации вычислительных ресурсов</a:t>
            </a:r>
          </a:p>
        </p:txBody>
      </p:sp>
      <p:graphicFrame>
        <p:nvGraphicFramePr>
          <p:cNvPr id="8" name="Content Placeholder 4"/>
          <p:cNvGraphicFramePr>
            <a:graphicFrameLocks/>
          </p:cNvGraphicFramePr>
          <p:nvPr>
            <p:extLst>
              <p:ext uri="{D42A27DB-BD31-4B8C-83A1-F6EECF244321}">
                <p14:modId xmlns:p14="http://schemas.microsoft.com/office/powerpoint/2010/main" val="2679113296"/>
              </p:ext>
            </p:extLst>
          </p:nvPr>
        </p:nvGraphicFramePr>
        <p:xfrm>
          <a:off x="360000" y="2859278"/>
          <a:ext cx="8424000" cy="1541272"/>
        </p:xfrm>
        <a:graphic>
          <a:graphicData uri="http://schemas.openxmlformats.org/drawingml/2006/table">
            <a:tbl>
              <a:tblPr firstRow="1" bandRow="1">
                <a:tableStyleId>{5C22544A-7EE6-4342-B048-85BDC9FD1C3A}</a:tableStyleId>
              </a:tblPr>
              <a:tblGrid>
                <a:gridCol w="4212000">
                  <a:extLst>
                    <a:ext uri="{9D8B030D-6E8A-4147-A177-3AD203B41FA5}">
                      <a16:colId xmlns:a16="http://schemas.microsoft.com/office/drawing/2014/main" val="20000"/>
                    </a:ext>
                  </a:extLst>
                </a:gridCol>
                <a:gridCol w="42120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b="1" i="0" dirty="0">
                          <a:solidFill>
                            <a:srgbClr val="FFFFFF"/>
                          </a:solidFill>
                          <a:latin typeface="Arial" pitchFamily="34" charset="0"/>
                          <a:cs typeface="Arial" pitchFamily="34" charset="0"/>
                        </a:rPr>
                        <a:t>До виртуализации</a:t>
                      </a:r>
                    </a:p>
                  </a:txBody>
                  <a:tcPr/>
                </a:tc>
                <a:tc>
                  <a:txBody>
                    <a:bodyPr/>
                    <a:lstStyle/>
                    <a:p>
                      <a:r>
                        <a:rPr lang="ru-RU" sz="1200" b="1" i="0" dirty="0">
                          <a:solidFill>
                            <a:srgbClr val="FFFFFF"/>
                          </a:solidFill>
                          <a:latin typeface="Arial" pitchFamily="34" charset="0"/>
                          <a:cs typeface="Arial" pitchFamily="34" charset="0"/>
                        </a:rPr>
                        <a:t>После виртуализации</a:t>
                      </a:r>
                    </a:p>
                  </a:txBody>
                  <a:tcPr/>
                </a:tc>
                <a:extLst>
                  <a:ext uri="{0D108BD9-81ED-4DB2-BD59-A6C34878D82A}">
                    <a16:rowId xmlns:a16="http://schemas.microsoft.com/office/drawing/2014/main" val="10000"/>
                  </a:ext>
                </a:extLst>
              </a:tr>
              <a:tr h="370840">
                <a:tc>
                  <a:txBody>
                    <a:bodyPr/>
                    <a:lstStyle/>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Изолированные и неэффективно используемые </a:t>
                      </a:r>
                      <a:br>
                        <a:rPr lang="en-US" sz="1200" b="0" i="0" u="none" dirty="0">
                          <a:solidFill>
                            <a:srgbClr val="FF00FF"/>
                          </a:solidFill>
                          <a:latin typeface="Arial" pitchFamily="34" charset="0"/>
                          <a:cs typeface="Arial" pitchFamily="34" charset="0"/>
                        </a:rPr>
                      </a:br>
                      <a:r>
                        <a:rPr lang="ru-RU" sz="1200" b="0" i="0" u="none" dirty="0">
                          <a:solidFill>
                            <a:srgbClr val="000000"/>
                          </a:solidFill>
                          <a:latin typeface="Arial" pitchFamily="34" charset="0"/>
                          <a:cs typeface="Arial" pitchFamily="34" charset="0"/>
                        </a:rPr>
                        <a:t>ИТ-ресурсы</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Недостаточная гибкость и высокая стоимость</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Неэффективность управления </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Риск простоев</a:t>
                      </a:r>
                    </a:p>
                  </a:txBody>
                  <a:tcPr/>
                </a:tc>
                <a:tc>
                  <a:txBody>
                    <a:bodyPr/>
                    <a:lstStyle/>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Консолидация серверов и более эффективное использование ресурсов</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Гибкая инфраструктура при более низких затратах</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Повышение эффективности управления</a:t>
                      </a:r>
                    </a:p>
                    <a:p>
                      <a:pPr marL="285750" marR="0" lvl="0" indent="-285750" algn="l" defTabSz="890588" rtl="0" eaLnBrk="1" fontAlgn="base" latinLnBrk="0" hangingPunct="1">
                        <a:lnSpc>
                          <a:spcPct val="100000"/>
                        </a:lnSpc>
                        <a:spcBef>
                          <a:spcPct val="30000"/>
                        </a:spcBef>
                        <a:spcAft>
                          <a:spcPct val="0"/>
                        </a:spcAft>
                        <a:buClrTx/>
                        <a:buSzTx/>
                        <a:buFont typeface="Arial" pitchFamily="34" charset="0"/>
                        <a:buChar char="•"/>
                        <a:tabLst>
                          <a:tab pos="6985000" algn="l"/>
                          <a:tab pos="7185025" algn="l"/>
                          <a:tab pos="7837488" algn="l"/>
                        </a:tabLst>
                        <a:defRPr/>
                      </a:pPr>
                      <a:r>
                        <a:rPr lang="ru-RU" sz="1200" b="0" i="0" u="none" dirty="0">
                          <a:solidFill>
                            <a:srgbClr val="000000"/>
                          </a:solidFill>
                          <a:latin typeface="Arial" pitchFamily="34" charset="0"/>
                          <a:cs typeface="Arial" pitchFamily="34" charset="0"/>
                        </a:rPr>
                        <a:t>Улучшенная доступность и непрерывность бизнеса</a:t>
                      </a:r>
                    </a:p>
                  </a:txBody>
                  <a:tcPr/>
                </a:tc>
                <a:extLst>
                  <a:ext uri="{0D108BD9-81ED-4DB2-BD59-A6C34878D82A}">
                    <a16:rowId xmlns:a16="http://schemas.microsoft.com/office/drawing/2014/main" val="10001"/>
                  </a:ext>
                </a:extLst>
              </a:tr>
            </a:tbl>
          </a:graphicData>
        </a:graphic>
      </p:graphicFrame>
      <p:graphicFrame>
        <p:nvGraphicFramePr>
          <p:cNvPr id="87" name="Table 86"/>
          <p:cNvGraphicFramePr>
            <a:graphicFrameLocks noGrp="1"/>
          </p:cNvGraphicFramePr>
          <p:nvPr>
            <p:extLst>
              <p:ext uri="{D42A27DB-BD31-4B8C-83A1-F6EECF244321}">
                <p14:modId xmlns:p14="http://schemas.microsoft.com/office/powerpoint/2010/main" val="1137957516"/>
              </p:ext>
            </p:extLst>
          </p:nvPr>
        </p:nvGraphicFramePr>
        <p:xfrm>
          <a:off x="5237641" y="1398301"/>
          <a:ext cx="2718735" cy="1348107"/>
        </p:xfrm>
        <a:graphic>
          <a:graphicData uri="http://schemas.openxmlformats.org/drawingml/2006/table">
            <a:tbl>
              <a:tblPr firstRow="1" bandRow="1">
                <a:tableStyleId>{5C22544A-7EE6-4342-B048-85BDC9FD1C3A}</a:tableStyleId>
              </a:tblPr>
              <a:tblGrid>
                <a:gridCol w="2718735">
                  <a:extLst>
                    <a:ext uri="{9D8B030D-6E8A-4147-A177-3AD203B41FA5}">
                      <a16:colId xmlns:a16="http://schemas.microsoft.com/office/drawing/2014/main" val="20000"/>
                    </a:ext>
                  </a:extLst>
                </a:gridCol>
              </a:tblGrid>
              <a:tr h="324128">
                <a:tc>
                  <a:txBody>
                    <a:bodyPr/>
                    <a:lstStyle/>
                    <a:p>
                      <a:pPr algn="ctr"/>
                      <a:r>
                        <a:rPr lang="ru-RU" sz="800" b="1" i="0" dirty="0">
                          <a:solidFill>
                            <a:srgbClr val="FFFFFF"/>
                          </a:solidFill>
                          <a:latin typeface="Arial" pitchFamily="34" charset="0"/>
                          <a:cs typeface="Arial" pitchFamily="34" charset="0"/>
                        </a:rPr>
                        <a:t>Виртуализация вычислительных ресурсов (гипервизор)</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012827">
                <a:tc>
                  <a:txBody>
                    <a:bodyPr/>
                    <a:lstStyle/>
                    <a:p>
                      <a:pPr algn="ctr"/>
                      <a:r>
                        <a:rPr lang="ru-RU" sz="800" b="1" i="0" spc="-30" baseline="0" dirty="0">
                          <a:solidFill>
                            <a:srgbClr val="FFFFFF"/>
                          </a:solidFill>
                          <a:latin typeface="Arial" pitchFamily="34" charset="0"/>
                          <a:cs typeface="Arial" pitchFamily="34" charset="0"/>
                        </a:rPr>
                        <a:t>Пул мощностей физических вычислительных ресурсов (оборудование на базе платформы x86)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10001"/>
                  </a:ext>
                </a:extLst>
              </a:tr>
            </a:tbl>
          </a:graphicData>
        </a:graphic>
      </p:graphicFrame>
      <p:grpSp>
        <p:nvGrpSpPr>
          <p:cNvPr id="88" name="Group 87"/>
          <p:cNvGrpSpPr>
            <a:grpSpLocks noChangeAspect="1"/>
          </p:cNvGrpSpPr>
          <p:nvPr/>
        </p:nvGrpSpPr>
        <p:grpSpPr>
          <a:xfrm>
            <a:off x="5746312" y="2193808"/>
            <a:ext cx="1850023" cy="324000"/>
            <a:chOff x="2815651" y="3723680"/>
            <a:chExt cx="3281363" cy="574675"/>
          </a:xfrm>
        </p:grpSpPr>
        <p:grpSp>
          <p:nvGrpSpPr>
            <p:cNvPr id="89" name="Group 88"/>
            <p:cNvGrpSpPr/>
            <p:nvPr/>
          </p:nvGrpSpPr>
          <p:grpSpPr>
            <a:xfrm>
              <a:off x="4340710" y="3758605"/>
              <a:ext cx="868363" cy="504825"/>
              <a:chOff x="4390451" y="3795117"/>
              <a:chExt cx="868363" cy="504825"/>
            </a:xfrm>
          </p:grpSpPr>
          <p:pic>
            <p:nvPicPr>
              <p:cNvPr id="93" name="Picture 359" descr="ICON_Memory_Q308"/>
              <p:cNvPicPr>
                <a:picLocks noChangeAspect="1" noChangeArrowheads="1"/>
              </p:cNvPicPr>
              <p:nvPr>
                <p:custDataLst>
                  <p:tags r:id="rId30"/>
                </p:custDataLst>
              </p:nvPr>
            </p:nvPicPr>
            <p:blipFill>
              <a:blip r:embed="rId34" cstate="print"/>
              <a:srcRect/>
              <a:stretch>
                <a:fillRect/>
              </a:stretch>
            </p:blipFill>
            <p:spPr bwMode="auto">
              <a:xfrm>
                <a:off x="4563489" y="3795117"/>
                <a:ext cx="695325" cy="504825"/>
              </a:xfrm>
              <a:prstGeom prst="rect">
                <a:avLst/>
              </a:prstGeom>
              <a:noFill/>
              <a:ln w="9525">
                <a:noFill/>
                <a:miter lim="800000"/>
                <a:headEnd/>
                <a:tailEnd/>
              </a:ln>
            </p:spPr>
          </p:pic>
          <p:pic>
            <p:nvPicPr>
              <p:cNvPr id="94" name="Picture 359" descr="ICON_Memory_Q308"/>
              <p:cNvPicPr>
                <a:picLocks noChangeAspect="1" noChangeArrowheads="1"/>
              </p:cNvPicPr>
              <p:nvPr>
                <p:custDataLst>
                  <p:tags r:id="rId31"/>
                </p:custDataLst>
              </p:nvPr>
            </p:nvPicPr>
            <p:blipFill>
              <a:blip r:embed="rId34" cstate="print"/>
              <a:srcRect/>
              <a:stretch>
                <a:fillRect/>
              </a:stretch>
            </p:blipFill>
            <p:spPr bwMode="auto">
              <a:xfrm>
                <a:off x="4390451" y="3795117"/>
                <a:ext cx="695325" cy="504825"/>
              </a:xfrm>
              <a:prstGeom prst="rect">
                <a:avLst/>
              </a:prstGeom>
              <a:noFill/>
              <a:ln w="9525">
                <a:noFill/>
                <a:miter lim="800000"/>
                <a:headEnd/>
                <a:tailEnd/>
              </a:ln>
            </p:spPr>
          </p:pic>
        </p:grpSp>
        <p:pic>
          <p:nvPicPr>
            <p:cNvPr id="90" name="Picture 357" descr="ICON_NIC_Q308"/>
            <p:cNvPicPr>
              <a:picLocks noChangeAspect="1" noChangeArrowheads="1"/>
            </p:cNvPicPr>
            <p:nvPr>
              <p:custDataLst>
                <p:tags r:id="rId27"/>
              </p:custDataLst>
            </p:nvPr>
          </p:nvPicPr>
          <p:blipFill>
            <a:blip r:embed="rId35" cstate="print"/>
            <a:srcRect/>
            <a:stretch>
              <a:fillRect/>
            </a:stretch>
          </p:blipFill>
          <p:spPr bwMode="auto">
            <a:xfrm>
              <a:off x="3430543" y="3725267"/>
              <a:ext cx="719138" cy="571500"/>
            </a:xfrm>
            <a:prstGeom prst="rect">
              <a:avLst/>
            </a:prstGeom>
            <a:noFill/>
            <a:ln w="9525">
              <a:noFill/>
              <a:miter lim="800000"/>
              <a:headEnd/>
              <a:tailEnd/>
            </a:ln>
          </p:spPr>
        </p:pic>
        <p:pic>
          <p:nvPicPr>
            <p:cNvPr id="91" name="Picture 382" descr="ICON_DiscDrive_Q308"/>
            <p:cNvPicPr>
              <a:picLocks noChangeAspect="1" noChangeArrowheads="1"/>
            </p:cNvPicPr>
            <p:nvPr>
              <p:custDataLst>
                <p:tags r:id="rId28"/>
              </p:custDataLst>
            </p:nvPr>
          </p:nvPicPr>
          <p:blipFill>
            <a:blip r:embed="rId36" cstate="print"/>
            <a:srcRect/>
            <a:stretch>
              <a:fillRect/>
            </a:stretch>
          </p:blipFill>
          <p:spPr bwMode="auto">
            <a:xfrm>
              <a:off x="5400101" y="3776067"/>
              <a:ext cx="696913" cy="469900"/>
            </a:xfrm>
            <a:prstGeom prst="rect">
              <a:avLst/>
            </a:prstGeom>
            <a:noFill/>
            <a:ln w="9525">
              <a:noFill/>
              <a:miter lim="800000"/>
              <a:headEnd/>
              <a:tailEnd/>
            </a:ln>
          </p:spPr>
        </p:pic>
        <p:pic>
          <p:nvPicPr>
            <p:cNvPr id="92" name="Picture 96" descr="CPU Single.png"/>
            <p:cNvPicPr>
              <a:picLocks noChangeAspect="1"/>
            </p:cNvPicPr>
            <p:nvPr>
              <p:custDataLst>
                <p:tags r:id="rId29"/>
              </p:custDataLst>
            </p:nvPr>
          </p:nvPicPr>
          <p:blipFill>
            <a:blip r:embed="rId37" cstate="print"/>
            <a:srcRect/>
            <a:stretch>
              <a:fillRect/>
            </a:stretch>
          </p:blipFill>
          <p:spPr bwMode="auto">
            <a:xfrm>
              <a:off x="2815651" y="3723680"/>
              <a:ext cx="423863" cy="574675"/>
            </a:xfrm>
            <a:prstGeom prst="rect">
              <a:avLst/>
            </a:prstGeom>
            <a:noFill/>
            <a:ln w="9525">
              <a:noFill/>
              <a:miter lim="800000"/>
              <a:headEnd/>
              <a:tailEnd/>
            </a:ln>
          </p:spPr>
        </p:pic>
      </p:grpSp>
      <p:grpSp>
        <p:nvGrpSpPr>
          <p:cNvPr id="95" name="Group 94"/>
          <p:cNvGrpSpPr>
            <a:grpSpLocks noChangeAspect="1"/>
          </p:cNvGrpSpPr>
          <p:nvPr/>
        </p:nvGrpSpPr>
        <p:grpSpPr>
          <a:xfrm>
            <a:off x="5237641" y="914400"/>
            <a:ext cx="425437" cy="504000"/>
            <a:chOff x="3325652" y="1312194"/>
            <a:chExt cx="551220" cy="653012"/>
          </a:xfrm>
        </p:grpSpPr>
        <p:pic>
          <p:nvPicPr>
            <p:cNvPr id="96" name="Picture 41" descr="C:\Users\patils1\Desktop\2013 Projects\CIS v2\CIS Slide Deck_Based on Book\Colored Graphics\Virtual Machine with Application and OS.png"/>
            <p:cNvPicPr>
              <a:picLocks noChangeAspect="1" noChangeArrowheads="1"/>
            </p:cNvPicPr>
            <p:nvPr>
              <p:custDataLst>
                <p:tags r:id="rId22"/>
              </p:custDataLst>
            </p:nvPr>
          </p:nvPicPr>
          <p:blipFill>
            <a:blip r:embed="rId38">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97" name="Group 96"/>
            <p:cNvGrpSpPr>
              <a:grpSpLocks noChangeAspect="1"/>
            </p:cNvGrpSpPr>
            <p:nvPr/>
          </p:nvGrpSpPr>
          <p:grpSpPr>
            <a:xfrm>
              <a:off x="3336872" y="1829478"/>
              <a:ext cx="540000" cy="135728"/>
              <a:chOff x="5372100" y="4121149"/>
              <a:chExt cx="884238" cy="222251"/>
            </a:xfrm>
          </p:grpSpPr>
          <p:pic>
            <p:nvPicPr>
              <p:cNvPr id="98" name="Picture 382" descr="ICON_DiscDrive_Q308"/>
              <p:cNvPicPr>
                <a:picLocks noChangeAspect="1" noChangeArrowheads="1"/>
              </p:cNvPicPr>
              <p:nvPr>
                <p:custDataLst>
                  <p:tags r:id="rId23"/>
                </p:custDataLst>
              </p:nvPr>
            </p:nvPicPr>
            <p:blipFill>
              <a:blip r:embed="rId39" cstate="print"/>
              <a:srcRect/>
              <a:stretch>
                <a:fillRect/>
              </a:stretch>
            </p:blipFill>
            <p:spPr bwMode="auto">
              <a:xfrm>
                <a:off x="6034088" y="4143375"/>
                <a:ext cx="222250" cy="200025"/>
              </a:xfrm>
              <a:prstGeom prst="rect">
                <a:avLst/>
              </a:prstGeom>
              <a:noFill/>
              <a:ln w="9525">
                <a:noFill/>
                <a:miter lim="800000"/>
                <a:headEnd/>
                <a:tailEnd/>
              </a:ln>
            </p:spPr>
          </p:pic>
          <p:pic>
            <p:nvPicPr>
              <p:cNvPr id="99" name="Picture 359" descr="ICON_Memory_Q308"/>
              <p:cNvPicPr>
                <a:picLocks noChangeAspect="1" noChangeArrowheads="1"/>
              </p:cNvPicPr>
              <p:nvPr>
                <p:custDataLst>
                  <p:tags r:id="rId24"/>
                </p:custDataLst>
              </p:nvPr>
            </p:nvPicPr>
            <p:blipFill>
              <a:blip r:embed="rId40" cstate="print"/>
              <a:srcRect/>
              <a:stretch>
                <a:fillRect/>
              </a:stretch>
            </p:blipFill>
            <p:spPr bwMode="auto">
              <a:xfrm>
                <a:off x="5805488" y="4143374"/>
                <a:ext cx="195263" cy="200025"/>
              </a:xfrm>
              <a:prstGeom prst="rect">
                <a:avLst/>
              </a:prstGeom>
              <a:noFill/>
              <a:ln w="9525">
                <a:noFill/>
                <a:miter lim="800000"/>
                <a:headEnd/>
                <a:tailEnd/>
              </a:ln>
            </p:spPr>
          </p:pic>
          <p:pic>
            <p:nvPicPr>
              <p:cNvPr id="100" name="Picture 357" descr="ICON_NIC_Q308"/>
              <p:cNvPicPr>
                <a:picLocks noChangeAspect="1" noChangeArrowheads="1"/>
              </p:cNvPicPr>
              <p:nvPr>
                <p:custDataLst>
                  <p:tags r:id="rId25"/>
                </p:custDataLst>
              </p:nvPr>
            </p:nvPicPr>
            <p:blipFill>
              <a:blip r:embed="rId41" cstate="print"/>
              <a:srcRect/>
              <a:stretch>
                <a:fillRect/>
              </a:stretch>
            </p:blipFill>
            <p:spPr bwMode="auto">
              <a:xfrm>
                <a:off x="5576888" y="4157662"/>
                <a:ext cx="234950" cy="185738"/>
              </a:xfrm>
              <a:prstGeom prst="rect">
                <a:avLst/>
              </a:prstGeom>
              <a:noFill/>
              <a:ln w="9525">
                <a:noFill/>
                <a:miter lim="800000"/>
                <a:headEnd/>
                <a:tailEnd/>
              </a:ln>
            </p:spPr>
          </p:pic>
          <p:pic>
            <p:nvPicPr>
              <p:cNvPr id="101" name="Picture 96" descr="CPU Single.png"/>
              <p:cNvPicPr>
                <a:picLocks noChangeAspect="1"/>
              </p:cNvPicPr>
              <p:nvPr>
                <p:custDataLst>
                  <p:tags r:id="rId26"/>
                </p:custDataLst>
              </p:nvPr>
            </p:nvPicPr>
            <p:blipFill>
              <a:blip r:embed="rId42"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102" name="Group 101"/>
          <p:cNvGrpSpPr>
            <a:grpSpLocks noChangeAspect="1"/>
          </p:cNvGrpSpPr>
          <p:nvPr/>
        </p:nvGrpSpPr>
        <p:grpSpPr>
          <a:xfrm>
            <a:off x="7530939" y="914400"/>
            <a:ext cx="425437" cy="504000"/>
            <a:chOff x="3325652" y="1312194"/>
            <a:chExt cx="551220" cy="653012"/>
          </a:xfrm>
        </p:grpSpPr>
        <p:pic>
          <p:nvPicPr>
            <p:cNvPr id="103" name="Picture 41" descr="C:\Users\patils1\Desktop\2013 Projects\CIS v2\CIS Slide Deck_Based on Book\Colored Graphics\Virtual Machine with Application and OS.png"/>
            <p:cNvPicPr>
              <a:picLocks noChangeAspect="1" noChangeArrowheads="1"/>
            </p:cNvPicPr>
            <p:nvPr>
              <p:custDataLst>
                <p:tags r:id="rId17"/>
              </p:custDataLst>
            </p:nvPr>
          </p:nvPicPr>
          <p:blipFill>
            <a:blip r:embed="rId38">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104" name="Group 103"/>
            <p:cNvGrpSpPr>
              <a:grpSpLocks noChangeAspect="1"/>
            </p:cNvGrpSpPr>
            <p:nvPr/>
          </p:nvGrpSpPr>
          <p:grpSpPr>
            <a:xfrm>
              <a:off x="3336872" y="1829478"/>
              <a:ext cx="540000" cy="135728"/>
              <a:chOff x="5372100" y="4121149"/>
              <a:chExt cx="884238" cy="222251"/>
            </a:xfrm>
          </p:grpSpPr>
          <p:pic>
            <p:nvPicPr>
              <p:cNvPr id="105" name="Picture 382" descr="ICON_DiscDrive_Q308"/>
              <p:cNvPicPr>
                <a:picLocks noChangeAspect="1" noChangeArrowheads="1"/>
              </p:cNvPicPr>
              <p:nvPr>
                <p:custDataLst>
                  <p:tags r:id="rId18"/>
                </p:custDataLst>
              </p:nvPr>
            </p:nvPicPr>
            <p:blipFill>
              <a:blip r:embed="rId39" cstate="print"/>
              <a:srcRect/>
              <a:stretch>
                <a:fillRect/>
              </a:stretch>
            </p:blipFill>
            <p:spPr bwMode="auto">
              <a:xfrm>
                <a:off x="6034088" y="4143375"/>
                <a:ext cx="222250" cy="200025"/>
              </a:xfrm>
              <a:prstGeom prst="rect">
                <a:avLst/>
              </a:prstGeom>
              <a:noFill/>
              <a:ln w="9525">
                <a:noFill/>
                <a:miter lim="800000"/>
                <a:headEnd/>
                <a:tailEnd/>
              </a:ln>
            </p:spPr>
          </p:pic>
          <p:pic>
            <p:nvPicPr>
              <p:cNvPr id="106" name="Picture 359" descr="ICON_Memory_Q308"/>
              <p:cNvPicPr>
                <a:picLocks noChangeAspect="1" noChangeArrowheads="1"/>
              </p:cNvPicPr>
              <p:nvPr>
                <p:custDataLst>
                  <p:tags r:id="rId19"/>
                </p:custDataLst>
              </p:nvPr>
            </p:nvPicPr>
            <p:blipFill>
              <a:blip r:embed="rId40" cstate="print"/>
              <a:srcRect/>
              <a:stretch>
                <a:fillRect/>
              </a:stretch>
            </p:blipFill>
            <p:spPr bwMode="auto">
              <a:xfrm>
                <a:off x="5805488" y="4143374"/>
                <a:ext cx="195263" cy="200025"/>
              </a:xfrm>
              <a:prstGeom prst="rect">
                <a:avLst/>
              </a:prstGeom>
              <a:noFill/>
              <a:ln w="9525">
                <a:noFill/>
                <a:miter lim="800000"/>
                <a:headEnd/>
                <a:tailEnd/>
              </a:ln>
            </p:spPr>
          </p:pic>
          <p:pic>
            <p:nvPicPr>
              <p:cNvPr id="107" name="Picture 357" descr="ICON_NIC_Q308"/>
              <p:cNvPicPr>
                <a:picLocks noChangeAspect="1" noChangeArrowheads="1"/>
              </p:cNvPicPr>
              <p:nvPr>
                <p:custDataLst>
                  <p:tags r:id="rId20"/>
                </p:custDataLst>
              </p:nvPr>
            </p:nvPicPr>
            <p:blipFill>
              <a:blip r:embed="rId41" cstate="print"/>
              <a:srcRect/>
              <a:stretch>
                <a:fillRect/>
              </a:stretch>
            </p:blipFill>
            <p:spPr bwMode="auto">
              <a:xfrm>
                <a:off x="5576888" y="4157662"/>
                <a:ext cx="234950" cy="185738"/>
              </a:xfrm>
              <a:prstGeom prst="rect">
                <a:avLst/>
              </a:prstGeom>
              <a:noFill/>
              <a:ln w="9525">
                <a:noFill/>
                <a:miter lim="800000"/>
                <a:headEnd/>
                <a:tailEnd/>
              </a:ln>
            </p:spPr>
          </p:pic>
          <p:pic>
            <p:nvPicPr>
              <p:cNvPr id="108" name="Picture 96" descr="CPU Single.png"/>
              <p:cNvPicPr>
                <a:picLocks noChangeAspect="1"/>
              </p:cNvPicPr>
              <p:nvPr>
                <p:custDataLst>
                  <p:tags r:id="rId21"/>
                </p:custDataLst>
              </p:nvPr>
            </p:nvPicPr>
            <p:blipFill>
              <a:blip r:embed="rId42"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109" name="Group 108"/>
          <p:cNvGrpSpPr>
            <a:grpSpLocks noChangeAspect="1"/>
          </p:cNvGrpSpPr>
          <p:nvPr/>
        </p:nvGrpSpPr>
        <p:grpSpPr>
          <a:xfrm>
            <a:off x="6002074" y="914400"/>
            <a:ext cx="425437" cy="504000"/>
            <a:chOff x="3325652" y="1312194"/>
            <a:chExt cx="551220" cy="653012"/>
          </a:xfrm>
        </p:grpSpPr>
        <p:pic>
          <p:nvPicPr>
            <p:cNvPr id="110" name="Picture 41" descr="C:\Users\patils1\Desktop\2013 Projects\CIS v2\CIS Slide Deck_Based on Book\Colored Graphics\Virtual Machine with Application and OS.png"/>
            <p:cNvPicPr>
              <a:picLocks noChangeAspect="1" noChangeArrowheads="1"/>
            </p:cNvPicPr>
            <p:nvPr>
              <p:custDataLst>
                <p:tags r:id="rId12"/>
              </p:custDataLst>
            </p:nvPr>
          </p:nvPicPr>
          <p:blipFill>
            <a:blip r:embed="rId38">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111" name="Group 110"/>
            <p:cNvGrpSpPr>
              <a:grpSpLocks noChangeAspect="1"/>
            </p:cNvGrpSpPr>
            <p:nvPr/>
          </p:nvGrpSpPr>
          <p:grpSpPr>
            <a:xfrm>
              <a:off x="3336872" y="1829478"/>
              <a:ext cx="540000" cy="135728"/>
              <a:chOff x="5372100" y="4121149"/>
              <a:chExt cx="884238" cy="222251"/>
            </a:xfrm>
          </p:grpSpPr>
          <p:pic>
            <p:nvPicPr>
              <p:cNvPr id="112" name="Picture 382" descr="ICON_DiscDrive_Q308"/>
              <p:cNvPicPr>
                <a:picLocks noChangeAspect="1" noChangeArrowheads="1"/>
              </p:cNvPicPr>
              <p:nvPr>
                <p:custDataLst>
                  <p:tags r:id="rId13"/>
                </p:custDataLst>
              </p:nvPr>
            </p:nvPicPr>
            <p:blipFill>
              <a:blip r:embed="rId39" cstate="print"/>
              <a:srcRect/>
              <a:stretch>
                <a:fillRect/>
              </a:stretch>
            </p:blipFill>
            <p:spPr bwMode="auto">
              <a:xfrm>
                <a:off x="6034088" y="4143375"/>
                <a:ext cx="222250" cy="200025"/>
              </a:xfrm>
              <a:prstGeom prst="rect">
                <a:avLst/>
              </a:prstGeom>
              <a:noFill/>
              <a:ln w="9525">
                <a:noFill/>
                <a:miter lim="800000"/>
                <a:headEnd/>
                <a:tailEnd/>
              </a:ln>
            </p:spPr>
          </p:pic>
          <p:pic>
            <p:nvPicPr>
              <p:cNvPr id="113" name="Picture 359" descr="ICON_Memory_Q308"/>
              <p:cNvPicPr>
                <a:picLocks noChangeAspect="1" noChangeArrowheads="1"/>
              </p:cNvPicPr>
              <p:nvPr>
                <p:custDataLst>
                  <p:tags r:id="rId14"/>
                </p:custDataLst>
              </p:nvPr>
            </p:nvPicPr>
            <p:blipFill>
              <a:blip r:embed="rId40" cstate="print"/>
              <a:srcRect/>
              <a:stretch>
                <a:fillRect/>
              </a:stretch>
            </p:blipFill>
            <p:spPr bwMode="auto">
              <a:xfrm>
                <a:off x="5805488" y="4143374"/>
                <a:ext cx="195263" cy="200025"/>
              </a:xfrm>
              <a:prstGeom prst="rect">
                <a:avLst/>
              </a:prstGeom>
              <a:noFill/>
              <a:ln w="9525">
                <a:noFill/>
                <a:miter lim="800000"/>
                <a:headEnd/>
                <a:tailEnd/>
              </a:ln>
            </p:spPr>
          </p:pic>
          <p:pic>
            <p:nvPicPr>
              <p:cNvPr id="114" name="Picture 357" descr="ICON_NIC_Q308"/>
              <p:cNvPicPr>
                <a:picLocks noChangeAspect="1" noChangeArrowheads="1"/>
              </p:cNvPicPr>
              <p:nvPr>
                <p:custDataLst>
                  <p:tags r:id="rId15"/>
                </p:custDataLst>
              </p:nvPr>
            </p:nvPicPr>
            <p:blipFill>
              <a:blip r:embed="rId41" cstate="print"/>
              <a:srcRect/>
              <a:stretch>
                <a:fillRect/>
              </a:stretch>
            </p:blipFill>
            <p:spPr bwMode="auto">
              <a:xfrm>
                <a:off x="5576888" y="4157662"/>
                <a:ext cx="234950" cy="185738"/>
              </a:xfrm>
              <a:prstGeom prst="rect">
                <a:avLst/>
              </a:prstGeom>
              <a:noFill/>
              <a:ln w="9525">
                <a:noFill/>
                <a:miter lim="800000"/>
                <a:headEnd/>
                <a:tailEnd/>
              </a:ln>
            </p:spPr>
          </p:pic>
          <p:pic>
            <p:nvPicPr>
              <p:cNvPr id="115" name="Picture 96" descr="CPU Single.png"/>
              <p:cNvPicPr>
                <a:picLocks noChangeAspect="1"/>
              </p:cNvPicPr>
              <p:nvPr>
                <p:custDataLst>
                  <p:tags r:id="rId16"/>
                </p:custDataLst>
              </p:nvPr>
            </p:nvPicPr>
            <p:blipFill>
              <a:blip r:embed="rId42" cstate="print"/>
              <a:srcRect/>
              <a:stretch>
                <a:fillRect/>
              </a:stretch>
            </p:blipFill>
            <p:spPr bwMode="auto">
              <a:xfrm>
                <a:off x="5372100" y="4121149"/>
                <a:ext cx="160338" cy="215900"/>
              </a:xfrm>
              <a:prstGeom prst="rect">
                <a:avLst/>
              </a:prstGeom>
              <a:noFill/>
              <a:ln w="9525">
                <a:noFill/>
                <a:miter lim="800000"/>
                <a:headEnd/>
                <a:tailEnd/>
              </a:ln>
            </p:spPr>
          </p:pic>
        </p:grpSp>
      </p:grpSp>
      <p:grpSp>
        <p:nvGrpSpPr>
          <p:cNvPr id="116" name="Group 115"/>
          <p:cNvGrpSpPr>
            <a:grpSpLocks noChangeAspect="1"/>
          </p:cNvGrpSpPr>
          <p:nvPr/>
        </p:nvGrpSpPr>
        <p:grpSpPr>
          <a:xfrm>
            <a:off x="6766507" y="914400"/>
            <a:ext cx="425437" cy="504000"/>
            <a:chOff x="3325652" y="1312194"/>
            <a:chExt cx="551220" cy="653012"/>
          </a:xfrm>
        </p:grpSpPr>
        <p:pic>
          <p:nvPicPr>
            <p:cNvPr id="117" name="Picture 41" descr="C:\Users\patils1\Desktop\2013 Projects\CIS v2\CIS Slide Deck_Based on Book\Colored Graphics\Virtual Machine with Application and OS.png"/>
            <p:cNvPicPr>
              <a:picLocks noChangeAspect="1" noChangeArrowheads="1"/>
            </p:cNvPicPr>
            <p:nvPr>
              <p:custDataLst>
                <p:tags r:id="rId7"/>
              </p:custDataLst>
            </p:nvPr>
          </p:nvPicPr>
          <p:blipFill>
            <a:blip r:embed="rId38">
              <a:extLst>
                <a:ext uri="{28A0092B-C50C-407E-A947-70E740481C1C}">
                  <a14:useLocalDpi xmlns:a14="http://schemas.microsoft.com/office/drawing/2010/main" val="0"/>
                </a:ext>
              </a:extLst>
            </a:blip>
            <a:srcRect/>
            <a:stretch>
              <a:fillRect/>
            </a:stretch>
          </p:blipFill>
          <p:spPr bwMode="auto">
            <a:xfrm>
              <a:off x="3325652" y="1312194"/>
              <a:ext cx="544000"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118" name="Group 117"/>
            <p:cNvGrpSpPr>
              <a:grpSpLocks noChangeAspect="1"/>
            </p:cNvGrpSpPr>
            <p:nvPr/>
          </p:nvGrpSpPr>
          <p:grpSpPr>
            <a:xfrm>
              <a:off x="3336872" y="1829478"/>
              <a:ext cx="540000" cy="135728"/>
              <a:chOff x="5372100" y="4121149"/>
              <a:chExt cx="884238" cy="222251"/>
            </a:xfrm>
          </p:grpSpPr>
          <p:pic>
            <p:nvPicPr>
              <p:cNvPr id="119" name="Picture 382" descr="ICON_DiscDrive_Q308"/>
              <p:cNvPicPr>
                <a:picLocks noChangeAspect="1" noChangeArrowheads="1"/>
              </p:cNvPicPr>
              <p:nvPr>
                <p:custDataLst>
                  <p:tags r:id="rId8"/>
                </p:custDataLst>
              </p:nvPr>
            </p:nvPicPr>
            <p:blipFill>
              <a:blip r:embed="rId39" cstate="print"/>
              <a:srcRect/>
              <a:stretch>
                <a:fillRect/>
              </a:stretch>
            </p:blipFill>
            <p:spPr bwMode="auto">
              <a:xfrm>
                <a:off x="6034088" y="4143375"/>
                <a:ext cx="222250" cy="200025"/>
              </a:xfrm>
              <a:prstGeom prst="rect">
                <a:avLst/>
              </a:prstGeom>
              <a:noFill/>
              <a:ln w="9525">
                <a:noFill/>
                <a:miter lim="800000"/>
                <a:headEnd/>
                <a:tailEnd/>
              </a:ln>
            </p:spPr>
          </p:pic>
          <p:pic>
            <p:nvPicPr>
              <p:cNvPr id="120" name="Picture 359" descr="ICON_Memory_Q308"/>
              <p:cNvPicPr>
                <a:picLocks noChangeAspect="1" noChangeArrowheads="1"/>
              </p:cNvPicPr>
              <p:nvPr>
                <p:custDataLst>
                  <p:tags r:id="rId9"/>
                </p:custDataLst>
              </p:nvPr>
            </p:nvPicPr>
            <p:blipFill>
              <a:blip r:embed="rId40" cstate="print"/>
              <a:srcRect/>
              <a:stretch>
                <a:fillRect/>
              </a:stretch>
            </p:blipFill>
            <p:spPr bwMode="auto">
              <a:xfrm>
                <a:off x="5805488" y="4143374"/>
                <a:ext cx="195263" cy="200025"/>
              </a:xfrm>
              <a:prstGeom prst="rect">
                <a:avLst/>
              </a:prstGeom>
              <a:noFill/>
              <a:ln w="9525">
                <a:noFill/>
                <a:miter lim="800000"/>
                <a:headEnd/>
                <a:tailEnd/>
              </a:ln>
            </p:spPr>
          </p:pic>
          <p:pic>
            <p:nvPicPr>
              <p:cNvPr id="121" name="Picture 357" descr="ICON_NIC_Q308"/>
              <p:cNvPicPr>
                <a:picLocks noChangeAspect="1" noChangeArrowheads="1"/>
              </p:cNvPicPr>
              <p:nvPr>
                <p:custDataLst>
                  <p:tags r:id="rId10"/>
                </p:custDataLst>
              </p:nvPr>
            </p:nvPicPr>
            <p:blipFill>
              <a:blip r:embed="rId41" cstate="print"/>
              <a:srcRect/>
              <a:stretch>
                <a:fillRect/>
              </a:stretch>
            </p:blipFill>
            <p:spPr bwMode="auto">
              <a:xfrm>
                <a:off x="5576888" y="4157662"/>
                <a:ext cx="234950" cy="185738"/>
              </a:xfrm>
              <a:prstGeom prst="rect">
                <a:avLst/>
              </a:prstGeom>
              <a:noFill/>
              <a:ln w="9525">
                <a:noFill/>
                <a:miter lim="800000"/>
                <a:headEnd/>
                <a:tailEnd/>
              </a:ln>
            </p:spPr>
          </p:pic>
          <p:pic>
            <p:nvPicPr>
              <p:cNvPr id="122" name="Picture 96" descr="CPU Single.png"/>
              <p:cNvPicPr>
                <a:picLocks noChangeAspect="1"/>
              </p:cNvPicPr>
              <p:nvPr>
                <p:custDataLst>
                  <p:tags r:id="rId11"/>
                </p:custDataLst>
              </p:nvPr>
            </p:nvPicPr>
            <p:blipFill>
              <a:blip r:embed="rId42" cstate="print"/>
              <a:srcRect/>
              <a:stretch>
                <a:fillRect/>
              </a:stretch>
            </p:blipFill>
            <p:spPr bwMode="auto">
              <a:xfrm>
                <a:off x="5372100" y="4121149"/>
                <a:ext cx="160338" cy="215900"/>
              </a:xfrm>
              <a:prstGeom prst="rect">
                <a:avLst/>
              </a:prstGeom>
              <a:noFill/>
              <a:ln w="9525">
                <a:noFill/>
                <a:miter lim="800000"/>
                <a:headEnd/>
                <a:tailEnd/>
              </a:ln>
            </p:spPr>
          </p:pic>
        </p:grpSp>
      </p:grpSp>
      <p:graphicFrame>
        <p:nvGraphicFramePr>
          <p:cNvPr id="123" name="Table 122"/>
          <p:cNvGraphicFramePr>
            <a:graphicFrameLocks noGrp="1"/>
          </p:cNvGraphicFramePr>
          <p:nvPr>
            <p:extLst>
              <p:ext uri="{D42A27DB-BD31-4B8C-83A1-F6EECF244321}">
                <p14:modId xmlns:p14="http://schemas.microsoft.com/office/powerpoint/2010/main" val="647479163"/>
              </p:ext>
            </p:extLst>
          </p:nvPr>
        </p:nvGraphicFramePr>
        <p:xfrm>
          <a:off x="971600" y="1118235"/>
          <a:ext cx="2718735" cy="1615440"/>
        </p:xfrm>
        <a:graphic>
          <a:graphicData uri="http://schemas.openxmlformats.org/drawingml/2006/table">
            <a:tbl>
              <a:tblPr firstRow="1" bandRow="1">
                <a:tableStyleId>{5C22544A-7EE6-4342-B048-85BDC9FD1C3A}</a:tableStyleId>
              </a:tblPr>
              <a:tblGrid>
                <a:gridCol w="2718735">
                  <a:extLst>
                    <a:ext uri="{9D8B030D-6E8A-4147-A177-3AD203B41FA5}">
                      <a16:colId xmlns:a16="http://schemas.microsoft.com/office/drawing/2014/main" val="20000"/>
                    </a:ext>
                  </a:extLst>
                </a:gridCol>
              </a:tblGrid>
              <a:tr h="1615440">
                <a:tc>
                  <a:txBody>
                    <a:bodyPr/>
                    <a:lstStyle/>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r>
                        <a:rPr lang="ru-RU" sz="800" b="1" i="0" dirty="0">
                          <a:solidFill>
                            <a:srgbClr val="FFFFFF"/>
                          </a:solidFill>
                          <a:latin typeface="Arial" pitchFamily="34" charset="0"/>
                          <a:cs typeface="Arial" pitchFamily="34" charset="0"/>
                        </a:rPr>
                        <a:t>Оборудование на базе архитектуры x86</a:t>
                      </a: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p>
                      <a:pPr algn="ctr"/>
                      <a:endParaRPr lang="en-US" sz="800" b="1" dirty="0">
                        <a:solidFill>
                          <a:schemeClr val="bg1"/>
                        </a:solidFill>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60000"/>
                        <a:lumOff val="40000"/>
                      </a:schemeClr>
                    </a:solidFill>
                  </a:tcPr>
                </a:tc>
                <a:extLst>
                  <a:ext uri="{0D108BD9-81ED-4DB2-BD59-A6C34878D82A}">
                    <a16:rowId xmlns:a16="http://schemas.microsoft.com/office/drawing/2014/main" val="10000"/>
                  </a:ext>
                </a:extLst>
              </a:tr>
            </a:tbl>
          </a:graphicData>
        </a:graphic>
      </p:graphicFrame>
      <p:grpSp>
        <p:nvGrpSpPr>
          <p:cNvPr id="124" name="Group 123"/>
          <p:cNvGrpSpPr>
            <a:grpSpLocks noChangeAspect="1"/>
          </p:cNvGrpSpPr>
          <p:nvPr/>
        </p:nvGrpSpPr>
        <p:grpSpPr>
          <a:xfrm>
            <a:off x="1408263" y="2257275"/>
            <a:ext cx="1850023" cy="324000"/>
            <a:chOff x="2815651" y="3723680"/>
            <a:chExt cx="3281363" cy="574675"/>
          </a:xfrm>
        </p:grpSpPr>
        <p:grpSp>
          <p:nvGrpSpPr>
            <p:cNvPr id="125" name="Group 124"/>
            <p:cNvGrpSpPr/>
            <p:nvPr/>
          </p:nvGrpSpPr>
          <p:grpSpPr>
            <a:xfrm>
              <a:off x="4340710" y="3758605"/>
              <a:ext cx="868363" cy="504825"/>
              <a:chOff x="4390451" y="3795117"/>
              <a:chExt cx="868363" cy="504825"/>
            </a:xfrm>
          </p:grpSpPr>
          <p:pic>
            <p:nvPicPr>
              <p:cNvPr id="129" name="Picture 359" descr="ICON_Memory_Q308"/>
              <p:cNvPicPr>
                <a:picLocks noChangeAspect="1" noChangeArrowheads="1"/>
              </p:cNvPicPr>
              <p:nvPr>
                <p:custDataLst>
                  <p:tags r:id="rId5"/>
                </p:custDataLst>
              </p:nvPr>
            </p:nvPicPr>
            <p:blipFill>
              <a:blip r:embed="rId34" cstate="print"/>
              <a:srcRect/>
              <a:stretch>
                <a:fillRect/>
              </a:stretch>
            </p:blipFill>
            <p:spPr bwMode="auto">
              <a:xfrm>
                <a:off x="4563489" y="3795117"/>
                <a:ext cx="695325" cy="504825"/>
              </a:xfrm>
              <a:prstGeom prst="rect">
                <a:avLst/>
              </a:prstGeom>
              <a:noFill/>
              <a:ln w="9525">
                <a:noFill/>
                <a:miter lim="800000"/>
                <a:headEnd/>
                <a:tailEnd/>
              </a:ln>
            </p:spPr>
          </p:pic>
          <p:pic>
            <p:nvPicPr>
              <p:cNvPr id="130" name="Picture 359" descr="ICON_Memory_Q308"/>
              <p:cNvPicPr>
                <a:picLocks noChangeAspect="1" noChangeArrowheads="1"/>
              </p:cNvPicPr>
              <p:nvPr>
                <p:custDataLst>
                  <p:tags r:id="rId6"/>
                </p:custDataLst>
              </p:nvPr>
            </p:nvPicPr>
            <p:blipFill>
              <a:blip r:embed="rId34" cstate="print"/>
              <a:srcRect/>
              <a:stretch>
                <a:fillRect/>
              </a:stretch>
            </p:blipFill>
            <p:spPr bwMode="auto">
              <a:xfrm>
                <a:off x="4390451" y="3795117"/>
                <a:ext cx="695325" cy="504825"/>
              </a:xfrm>
              <a:prstGeom prst="rect">
                <a:avLst/>
              </a:prstGeom>
              <a:noFill/>
              <a:ln w="9525">
                <a:noFill/>
                <a:miter lim="800000"/>
                <a:headEnd/>
                <a:tailEnd/>
              </a:ln>
            </p:spPr>
          </p:pic>
        </p:grpSp>
        <p:pic>
          <p:nvPicPr>
            <p:cNvPr id="126" name="Picture 357" descr="ICON_NIC_Q308"/>
            <p:cNvPicPr>
              <a:picLocks noChangeAspect="1" noChangeArrowheads="1"/>
            </p:cNvPicPr>
            <p:nvPr>
              <p:custDataLst>
                <p:tags r:id="rId2"/>
              </p:custDataLst>
            </p:nvPr>
          </p:nvPicPr>
          <p:blipFill>
            <a:blip r:embed="rId35" cstate="print"/>
            <a:srcRect/>
            <a:stretch>
              <a:fillRect/>
            </a:stretch>
          </p:blipFill>
          <p:spPr bwMode="auto">
            <a:xfrm>
              <a:off x="3430543" y="3725267"/>
              <a:ext cx="719138" cy="571500"/>
            </a:xfrm>
            <a:prstGeom prst="rect">
              <a:avLst/>
            </a:prstGeom>
            <a:noFill/>
            <a:ln w="9525">
              <a:noFill/>
              <a:miter lim="800000"/>
              <a:headEnd/>
              <a:tailEnd/>
            </a:ln>
          </p:spPr>
        </p:pic>
        <p:pic>
          <p:nvPicPr>
            <p:cNvPr id="127" name="Picture 382" descr="ICON_DiscDrive_Q308"/>
            <p:cNvPicPr>
              <a:picLocks noChangeAspect="1" noChangeArrowheads="1"/>
            </p:cNvPicPr>
            <p:nvPr>
              <p:custDataLst>
                <p:tags r:id="rId3"/>
              </p:custDataLst>
            </p:nvPr>
          </p:nvPicPr>
          <p:blipFill>
            <a:blip r:embed="rId36" cstate="print"/>
            <a:srcRect/>
            <a:stretch>
              <a:fillRect/>
            </a:stretch>
          </p:blipFill>
          <p:spPr bwMode="auto">
            <a:xfrm>
              <a:off x="5400101" y="3776067"/>
              <a:ext cx="696913" cy="469900"/>
            </a:xfrm>
            <a:prstGeom prst="rect">
              <a:avLst/>
            </a:prstGeom>
            <a:noFill/>
            <a:ln w="9525">
              <a:noFill/>
              <a:miter lim="800000"/>
              <a:headEnd/>
              <a:tailEnd/>
            </a:ln>
          </p:spPr>
        </p:pic>
        <p:pic>
          <p:nvPicPr>
            <p:cNvPr id="128" name="Picture 96" descr="CPU Single.png"/>
            <p:cNvPicPr>
              <a:picLocks noChangeAspect="1"/>
            </p:cNvPicPr>
            <p:nvPr>
              <p:custDataLst>
                <p:tags r:id="rId4"/>
              </p:custDataLst>
            </p:nvPr>
          </p:nvPicPr>
          <p:blipFill>
            <a:blip r:embed="rId37" cstate="print"/>
            <a:srcRect/>
            <a:stretch>
              <a:fillRect/>
            </a:stretch>
          </p:blipFill>
          <p:spPr bwMode="auto">
            <a:xfrm>
              <a:off x="2815651" y="3723680"/>
              <a:ext cx="423863" cy="574675"/>
            </a:xfrm>
            <a:prstGeom prst="rect">
              <a:avLst/>
            </a:prstGeom>
            <a:noFill/>
            <a:ln w="9525">
              <a:noFill/>
              <a:miter lim="800000"/>
              <a:headEnd/>
              <a:tailEnd/>
            </a:ln>
          </p:spPr>
        </p:pic>
      </p:grpSp>
      <p:pic>
        <p:nvPicPr>
          <p:cNvPr id="159" name="Picture 7" descr="C:\Users\patils1\Desktop\2013 Projects\CIS v2\CIS Slide Deck_Based on Book\Colored Graphics\Application And OS.png"/>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810969" y="1031475"/>
            <a:ext cx="1039996" cy="864000"/>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0523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гипервизор?</a:t>
            </a:r>
          </a:p>
        </p:txBody>
      </p:sp>
      <p:sp>
        <p:nvSpPr>
          <p:cNvPr id="3" name="Content Placeholder 2"/>
          <p:cNvSpPr>
            <a:spLocks noGrp="1"/>
          </p:cNvSpPr>
          <p:nvPr>
            <p:ph sz="quarter" idx="10"/>
          </p:nvPr>
        </p:nvSpPr>
        <p:spPr>
          <a:xfrm>
            <a:off x="304800" y="2349252"/>
            <a:ext cx="6629400" cy="2794248"/>
          </a:xfrm>
        </p:spPr>
        <p:txBody>
          <a:bodyPr/>
          <a:lstStyle/>
          <a:p>
            <a:r>
              <a:rPr lang="ru-RU" sz="1700" b="0" i="0" dirty="0">
                <a:solidFill>
                  <a:srgbClr val="000000"/>
                </a:solidFill>
                <a:latin typeface="Arial" pitchFamily="34" charset="0"/>
                <a:cs typeface="Arial" pitchFamily="34" charset="0"/>
              </a:rPr>
              <a:t>Два ключевых компонента:</a:t>
            </a:r>
          </a:p>
          <a:p>
            <a:pPr lvl="1"/>
            <a:r>
              <a:rPr lang="ru-RU" sz="1500" b="0" i="0" dirty="0">
                <a:solidFill>
                  <a:srgbClr val="000000"/>
                </a:solidFill>
                <a:latin typeface="Arial" pitchFamily="34" charset="0"/>
                <a:cs typeface="Arial" pitchFamily="34" charset="0"/>
              </a:rPr>
              <a:t>Ядро гипервизора </a:t>
            </a:r>
          </a:p>
          <a:p>
            <a:pPr lvl="2"/>
            <a:r>
              <a:rPr lang="ru-RU" sz="1300" b="0" i="0" dirty="0">
                <a:solidFill>
                  <a:srgbClr val="000000"/>
                </a:solidFill>
                <a:latin typeface="Arial" pitchFamily="34" charset="0"/>
                <a:cs typeface="Arial" pitchFamily="34" charset="0"/>
              </a:rPr>
              <a:t>Предоставляет функциональность, аналогичную ядру ОС</a:t>
            </a:r>
          </a:p>
          <a:p>
            <a:pPr lvl="2"/>
            <a:r>
              <a:rPr lang="ru-RU" sz="1300" b="0" i="0" dirty="0">
                <a:solidFill>
                  <a:srgbClr val="000000"/>
                </a:solidFill>
                <a:latin typeface="Arial" pitchFamily="34" charset="0"/>
                <a:cs typeface="Arial" pitchFamily="34" charset="0"/>
              </a:rPr>
              <a:t>Представляет запросы на ресурсы физическому оборудованию</a:t>
            </a:r>
          </a:p>
          <a:p>
            <a:pPr lvl="1"/>
            <a:r>
              <a:rPr lang="ru-RU" sz="1500" b="0" i="0" dirty="0">
                <a:solidFill>
                  <a:srgbClr val="000000"/>
                </a:solidFill>
                <a:latin typeface="Arial" pitchFamily="34" charset="0"/>
                <a:cs typeface="Arial" pitchFamily="34" charset="0"/>
              </a:rPr>
              <a:t>Диспетчер виртуальных машин (VMM)</a:t>
            </a:r>
          </a:p>
          <a:p>
            <a:pPr lvl="2"/>
            <a:r>
              <a:rPr lang="ru-RU" sz="1300" b="0" i="0" dirty="0">
                <a:solidFill>
                  <a:srgbClr val="000000"/>
                </a:solidFill>
                <a:latin typeface="Arial" pitchFamily="34" charset="0"/>
                <a:cs typeface="Arial" pitchFamily="34" charset="0"/>
              </a:rPr>
              <a:t>Каждая ВМ назначена диспетчеру VMM</a:t>
            </a:r>
          </a:p>
          <a:p>
            <a:pPr lvl="2"/>
            <a:r>
              <a:rPr lang="ru-RU" sz="1300" b="0" i="0" dirty="0">
                <a:solidFill>
                  <a:srgbClr val="000000"/>
                </a:solidFill>
                <a:latin typeface="Arial" pitchFamily="34" charset="0"/>
                <a:cs typeface="Arial" pitchFamily="34" charset="0"/>
              </a:rPr>
              <a:t>Абстрагирует физические аппаратные ресурсы и представляет их ВМ</a:t>
            </a:r>
          </a:p>
          <a:p>
            <a:r>
              <a:rPr lang="ru-RU" sz="1700" b="0" i="0" dirty="0">
                <a:solidFill>
                  <a:srgbClr val="000000"/>
                </a:solidFill>
                <a:latin typeface="Arial" pitchFamily="34" charset="0"/>
                <a:cs typeface="Arial" pitchFamily="34" charset="0"/>
              </a:rPr>
              <a:t>Два типа гипервизоров: автономный и клиентский</a:t>
            </a:r>
          </a:p>
          <a:p>
            <a:r>
              <a:rPr lang="en-US" sz="1400" dirty="0">
                <a:hlinkClick r:id="rId11" tooltip="Microsoft Virtual Server (страница отсутствует)"/>
              </a:rPr>
              <a:t>Microsoft Virtual Server</a:t>
            </a:r>
            <a:r>
              <a:rPr lang="en-US" sz="1400" dirty="0"/>
              <a:t>, </a:t>
            </a:r>
            <a:r>
              <a:rPr lang="en-US" sz="1400" dirty="0">
                <a:hlinkClick r:id="rId12" tooltip="Logical Domains"/>
              </a:rPr>
              <a:t>Sun Logical Domains</a:t>
            </a:r>
            <a:r>
              <a:rPr lang="en-US" sz="1400" dirty="0"/>
              <a:t>, </a:t>
            </a:r>
            <a:r>
              <a:rPr lang="en-US" sz="1400" dirty="0" err="1">
                <a:hlinkClick r:id="rId13" tooltip="Xen"/>
              </a:rPr>
              <a:t>Xen</a:t>
            </a:r>
            <a:r>
              <a:rPr lang="en-US" sz="1400" dirty="0"/>
              <a:t>, </a:t>
            </a:r>
            <a:r>
              <a:rPr lang="en-US" sz="1400" dirty="0">
                <a:hlinkClick r:id="rId14" tooltip="Citrix"/>
              </a:rPr>
              <a:t>Citrix</a:t>
            </a:r>
            <a:r>
              <a:rPr lang="en-US" sz="1400" dirty="0"/>
              <a:t> </a:t>
            </a:r>
            <a:r>
              <a:rPr lang="en-US" sz="1400" dirty="0" err="1">
                <a:hlinkClick r:id="rId15" tooltip="XenServer"/>
              </a:rPr>
              <a:t>XenServer</a:t>
            </a:r>
            <a:r>
              <a:rPr lang="en-US" sz="1400" dirty="0"/>
              <a:t>, </a:t>
            </a:r>
            <a:r>
              <a:rPr lang="en-US" sz="1400" dirty="0">
                <a:hlinkClick r:id="rId16" tooltip="Microsoft Hyper-V"/>
              </a:rPr>
              <a:t>Microsoft Hyper-</a:t>
            </a:r>
            <a:r>
              <a:rPr lang="en-US" sz="1400" dirty="0" err="1">
                <a:hlinkClick r:id="rId16" tooltip="Microsoft Hyper-V"/>
              </a:rPr>
              <a:t>V</a:t>
            </a:r>
            <a:r>
              <a:rPr lang="en-US" sz="1400" dirty="0" err="1"/>
              <a:t>,</a:t>
            </a:r>
            <a:r>
              <a:rPr lang="en-US" sz="1400" dirty="0" err="1">
                <a:hlinkClick r:id="rId17" tooltip="VMware Workstation"/>
              </a:rPr>
              <a:t>VMware</a:t>
            </a:r>
            <a:r>
              <a:rPr lang="en-US" sz="1400" dirty="0">
                <a:hlinkClick r:id="rId17" tooltip="VMware Workstation"/>
              </a:rPr>
              <a:t> Workstation</a:t>
            </a:r>
            <a:endParaRPr lang="ru-RU" sz="1400" b="0" i="0" dirty="0">
              <a:latin typeface="Arial" pitchFamily="34" charset="0"/>
              <a:cs typeface="Arial" pitchFamily="34" charset="0"/>
            </a:endParaRPr>
          </a:p>
        </p:txBody>
      </p:sp>
      <p:grpSp>
        <p:nvGrpSpPr>
          <p:cNvPr id="5" name="Group 4"/>
          <p:cNvGrpSpPr/>
          <p:nvPr/>
        </p:nvGrpSpPr>
        <p:grpSpPr>
          <a:xfrm>
            <a:off x="334134" y="952500"/>
            <a:ext cx="8486338" cy="1295400"/>
            <a:chOff x="299409" y="551140"/>
            <a:chExt cx="8486338" cy="1295400"/>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749870"/>
              <a:ext cx="8170755" cy="10966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500" b="0" i="0" dirty="0">
                  <a:solidFill>
                    <a:srgbClr val="000000"/>
                  </a:solidFill>
                  <a:latin typeface="Arial" pitchFamily="34" charset="0"/>
                  <a:cs typeface="Arial" pitchFamily="34" charset="0"/>
                </a:rPr>
                <a:t>Программное обеспечение, предоставляющее уровень виртуализации для абстрагирования аппаратного обеспечения вычислительной системы и позволяющее создавать несколько виртуальных машин.</a:t>
              </a:r>
            </a:p>
          </p:txBody>
        </p:sp>
        <p:sp>
          <p:nvSpPr>
            <p:cNvPr id="8" name="Rectangle 7"/>
            <p:cNvSpPr/>
            <p:nvPr/>
          </p:nvSpPr>
          <p:spPr>
            <a:xfrm>
              <a:off x="349179" y="55114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500" b="1" i="0" dirty="0">
                  <a:solidFill>
                    <a:srgbClr val="FFFFFF"/>
                  </a:solidFill>
                  <a:latin typeface="Arial" pitchFamily="34" charset="0"/>
                  <a:cs typeface="Arial" pitchFamily="34" charset="0"/>
                </a:rPr>
                <a:t>Гипервизор</a:t>
              </a:r>
            </a:p>
          </p:txBody>
        </p:sp>
      </p:grpSp>
      <p:grpSp>
        <p:nvGrpSpPr>
          <p:cNvPr id="21" name="Group 20"/>
          <p:cNvGrpSpPr/>
          <p:nvPr/>
        </p:nvGrpSpPr>
        <p:grpSpPr>
          <a:xfrm>
            <a:off x="6924676" y="2355726"/>
            <a:ext cx="1904999" cy="1986245"/>
            <a:chOff x="6949086" y="2571750"/>
            <a:chExt cx="1904999" cy="1986245"/>
          </a:xfrm>
        </p:grpSpPr>
        <p:grpSp>
          <p:nvGrpSpPr>
            <p:cNvPr id="10" name="Group 9"/>
            <p:cNvGrpSpPr/>
            <p:nvPr/>
          </p:nvGrpSpPr>
          <p:grpSpPr>
            <a:xfrm>
              <a:off x="7020273" y="3483501"/>
              <a:ext cx="1752601" cy="785361"/>
              <a:chOff x="9088040" y="3276600"/>
              <a:chExt cx="2570560" cy="1192948"/>
            </a:xfrm>
          </p:grpSpPr>
          <p:pic>
            <p:nvPicPr>
              <p:cNvPr id="15" name="Picture 29" descr="C:\Users\patils1\Desktop\2013 Projects\CIS v2\CIS Slide Deck_Based on Book\Colored Graphics\Physical Compute System.png"/>
              <p:cNvPicPr>
                <a:picLocks noChangeAspect="1" noChangeArrowheads="1"/>
              </p:cNvPicPr>
              <p:nvPr>
                <p:custDataLst>
                  <p:tags r:id="rId7"/>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9097566" y="3893191"/>
                <a:ext cx="2561034" cy="57635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custDataLst>
                  <p:tags r:id="rId8"/>
                </p:custDataLst>
              </p:nvPr>
            </p:nvSpPr>
            <p:spPr>
              <a:xfrm>
                <a:off x="9088040" y="3276600"/>
                <a:ext cx="2560320" cy="557783"/>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ru-RU" sz="1100" b="1" i="0" dirty="0">
                    <a:solidFill>
                      <a:srgbClr val="FFFFFF"/>
                    </a:solidFill>
                    <a:latin typeface="Arial" pitchFamily="34" charset="0"/>
                    <a:cs typeface="Arial" pitchFamily="34" charset="0"/>
                  </a:rPr>
                  <a:t>Ядро гипервизора</a:t>
                </a:r>
              </a:p>
            </p:txBody>
          </p:sp>
        </p:grpSp>
        <p:grpSp>
          <p:nvGrpSpPr>
            <p:cNvPr id="17" name="Group 16"/>
            <p:cNvGrpSpPr/>
            <p:nvPr/>
          </p:nvGrpSpPr>
          <p:grpSpPr>
            <a:xfrm>
              <a:off x="7020273" y="2571750"/>
              <a:ext cx="791849" cy="1004056"/>
              <a:chOff x="7079207" y="2627238"/>
              <a:chExt cx="791849" cy="1004056"/>
            </a:xfrm>
          </p:grpSpPr>
          <p:pic>
            <p:nvPicPr>
              <p:cNvPr id="14" name="Picture 28" descr="C:\Users\patils1\Desktop\2013 Projects\CIS v2\CIS Slide Deck_Based on Book\Colored Graphics\Physical Compute System With Hypervisor.png"/>
              <p:cNvPicPr>
                <a:picLocks noChangeAspect="1" noChangeArrowheads="1"/>
              </p:cNvPicPr>
              <p:nvPr>
                <p:custDataLst>
                  <p:tags r:id="rId5"/>
                </p:custDataLst>
              </p:nvPr>
            </p:nvPicPr>
            <p:blipFill rotWithShape="1">
              <a:blip r:embed="rId19" cstate="print">
                <a:extLst>
                  <a:ext uri="{28A0092B-C50C-407E-A947-70E740481C1C}">
                    <a14:useLocalDpi xmlns:a14="http://schemas.microsoft.com/office/drawing/2010/main" val="0"/>
                  </a:ext>
                </a:extLst>
              </a:blip>
              <a:srcRect r="53257" b="48422"/>
              <a:stretch/>
            </p:blipFill>
            <p:spPr bwMode="auto">
              <a:xfrm>
                <a:off x="7079207" y="2627238"/>
                <a:ext cx="791849" cy="81727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custDataLst>
                  <p:tags r:id="rId6"/>
                </p:custDataLst>
              </p:nvPr>
            </p:nvSpPr>
            <p:spPr>
              <a:xfrm>
                <a:off x="7151131" y="3390846"/>
                <a:ext cx="648000" cy="240448"/>
              </a:xfrm>
              <a:prstGeom prst="rect">
                <a:avLst/>
              </a:prstGeom>
              <a:solidFill>
                <a:srgbClr val="AEAB1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i="0" dirty="0">
                    <a:solidFill>
                      <a:srgbClr val="FFFFFF"/>
                    </a:solidFill>
                    <a:latin typeface="Arial" pitchFamily="34" charset="0"/>
                    <a:cs typeface="Arial" pitchFamily="34" charset="0"/>
                  </a:rPr>
                  <a:t>VMM</a:t>
                </a:r>
              </a:p>
            </p:txBody>
          </p:sp>
        </p:grpSp>
        <p:grpSp>
          <p:nvGrpSpPr>
            <p:cNvPr id="18" name="Group 17"/>
            <p:cNvGrpSpPr/>
            <p:nvPr/>
          </p:nvGrpSpPr>
          <p:grpSpPr>
            <a:xfrm>
              <a:off x="7988386" y="2571750"/>
              <a:ext cx="784488" cy="1004056"/>
              <a:chOff x="7929937" y="2627238"/>
              <a:chExt cx="784488" cy="1004056"/>
            </a:xfrm>
          </p:grpSpPr>
          <p:pic>
            <p:nvPicPr>
              <p:cNvPr id="11" name="Picture 28" descr="C:\Users\patils1\Desktop\2013 Projects\CIS v2\CIS Slide Deck_Based on Book\Colored Graphics\Physical Compute System With Hypervisor.png"/>
              <p:cNvPicPr>
                <a:picLocks noChangeAspect="1" noChangeArrowheads="1"/>
              </p:cNvPicPr>
              <p:nvPr>
                <p:custDataLst>
                  <p:tags r:id="rId3"/>
                </p:custDataLst>
              </p:nvPr>
            </p:nvPicPr>
            <p:blipFill rotWithShape="1">
              <a:blip r:embed="rId19" cstate="print">
                <a:extLst>
                  <a:ext uri="{28A0092B-C50C-407E-A947-70E740481C1C}">
                    <a14:useLocalDpi xmlns:a14="http://schemas.microsoft.com/office/drawing/2010/main" val="0"/>
                  </a:ext>
                </a:extLst>
              </a:blip>
              <a:srcRect l="53691" b="48422"/>
              <a:stretch/>
            </p:blipFill>
            <p:spPr bwMode="auto">
              <a:xfrm>
                <a:off x="7929937" y="2627238"/>
                <a:ext cx="784488" cy="81727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custDataLst>
                  <p:tags r:id="rId4"/>
                </p:custDataLst>
              </p:nvPr>
            </p:nvSpPr>
            <p:spPr>
              <a:xfrm>
                <a:off x="7998181" y="3390846"/>
                <a:ext cx="648000" cy="240448"/>
              </a:xfrm>
              <a:prstGeom prst="rect">
                <a:avLst/>
              </a:prstGeom>
              <a:solidFill>
                <a:srgbClr val="AEAB1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i="0" dirty="0">
                    <a:solidFill>
                      <a:srgbClr val="FFFFFF"/>
                    </a:solidFill>
                    <a:latin typeface="Arial" pitchFamily="34" charset="0"/>
                    <a:cs typeface="Arial" pitchFamily="34" charset="0"/>
                  </a:rPr>
                  <a:t>VMM</a:t>
                </a:r>
              </a:p>
            </p:txBody>
          </p:sp>
        </p:grpSp>
        <p:sp>
          <p:nvSpPr>
            <p:cNvPr id="20" name="TextBox 19"/>
            <p:cNvSpPr txBox="1"/>
            <p:nvPr>
              <p:custDataLst>
                <p:tags r:id="rId2"/>
              </p:custDataLst>
            </p:nvPr>
          </p:nvSpPr>
          <p:spPr>
            <a:xfrm>
              <a:off x="6949086" y="4311774"/>
              <a:ext cx="1904999" cy="246221"/>
            </a:xfrm>
            <a:prstGeom prst="rect">
              <a:avLst/>
            </a:prstGeom>
            <a:noFill/>
          </p:spPr>
          <p:txBody>
            <a:bodyPr wrap="square" rtlCol="0">
              <a:spAutoFit/>
            </a:bodyPr>
            <a:lstStyle/>
            <a:p>
              <a:pPr algn="ctr"/>
              <a:r>
                <a:rPr lang="ru-RU" sz="1000" b="1" i="0" dirty="0">
                  <a:solidFill>
                    <a:srgbClr val="000000"/>
                  </a:solidFill>
                  <a:latin typeface="Arial" pitchFamily="34" charset="0"/>
                  <a:cs typeface="Arial" pitchFamily="34" charset="0"/>
                </a:rPr>
                <a:t>Вычислительная система</a:t>
              </a:r>
            </a:p>
          </p:txBody>
        </p:sp>
      </p:grpSp>
      <p:sp>
        <p:nvSpPr>
          <p:cNvPr id="19" name="TextBox 1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757529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виртуальная машина?</a:t>
            </a:r>
          </a:p>
        </p:txBody>
      </p:sp>
      <p:sp>
        <p:nvSpPr>
          <p:cNvPr id="3" name="Content Placeholder 2"/>
          <p:cNvSpPr>
            <a:spLocks noGrp="1"/>
          </p:cNvSpPr>
          <p:nvPr>
            <p:ph sz="quarter" idx="10"/>
          </p:nvPr>
        </p:nvSpPr>
        <p:spPr>
          <a:xfrm>
            <a:off x="379414" y="1968852"/>
            <a:ext cx="8458200" cy="2279898"/>
          </a:xfrm>
        </p:spPr>
        <p:txBody>
          <a:bodyPr/>
          <a:lstStyle/>
          <a:p>
            <a:r>
              <a:rPr lang="ru-RU" sz="1700" b="0" i="0" dirty="0">
                <a:solidFill>
                  <a:srgbClr val="000000"/>
                </a:solidFill>
                <a:latin typeface="Arial" pitchFamily="34" charset="0"/>
                <a:cs typeface="Arial" pitchFamily="34" charset="0"/>
              </a:rPr>
              <a:t>Создается гипервизором и устанавливается в физической вычислительной системе</a:t>
            </a:r>
          </a:p>
          <a:p>
            <a:r>
              <a:rPr lang="ru-RU" sz="1700" b="0" i="0" dirty="0">
                <a:solidFill>
                  <a:srgbClr val="000000"/>
                </a:solidFill>
                <a:latin typeface="Arial" pitchFamily="34" charset="0"/>
                <a:cs typeface="Arial" pitchFamily="34" charset="0"/>
              </a:rPr>
              <a:t>Включает виртуальное оборудование, например, виртуальный процессор, виртуальную систему хранения и виртуальные сетевые ресурсы</a:t>
            </a:r>
          </a:p>
          <a:p>
            <a:pPr lvl="1"/>
            <a:r>
              <a:rPr lang="ru-RU" sz="1500" b="0" i="0" dirty="0">
                <a:solidFill>
                  <a:srgbClr val="000000"/>
                </a:solidFill>
                <a:latin typeface="Arial" pitchFamily="34" charset="0"/>
                <a:cs typeface="Arial" pitchFamily="34" charset="0"/>
              </a:rPr>
              <a:t>Для гостевой ОС выглядит как физическая вычислительная система</a:t>
            </a:r>
          </a:p>
          <a:p>
            <a:pPr lvl="1"/>
            <a:r>
              <a:rPr lang="ru-RU" sz="1500" b="0" i="0" dirty="0">
                <a:solidFill>
                  <a:srgbClr val="000000"/>
                </a:solidFill>
                <a:latin typeface="Arial" pitchFamily="34" charset="0"/>
                <a:cs typeface="Arial" pitchFamily="34" charset="0"/>
              </a:rPr>
              <a:t>Гипервизор устанавливает соответствие между виртуальным и физическим оборудованием</a:t>
            </a:r>
          </a:p>
          <a:p>
            <a:r>
              <a:rPr lang="ru-RU" sz="1700" b="0" i="0" dirty="0">
                <a:solidFill>
                  <a:srgbClr val="000000"/>
                </a:solidFill>
                <a:latin typeface="Arial" pitchFamily="34" charset="0"/>
                <a:cs typeface="Arial" pitchFamily="34" charset="0"/>
              </a:rPr>
              <a:t>Виртуальные машины в вычислительной системе изолированы друг от друга</a:t>
            </a:r>
          </a:p>
        </p:txBody>
      </p:sp>
      <p:grpSp>
        <p:nvGrpSpPr>
          <p:cNvPr id="5" name="Group 4"/>
          <p:cNvGrpSpPr/>
          <p:nvPr/>
        </p:nvGrpSpPr>
        <p:grpSpPr>
          <a:xfrm>
            <a:off x="334134" y="819150"/>
            <a:ext cx="8486338" cy="1005686"/>
            <a:chOff x="299409" y="798190"/>
            <a:chExt cx="8486338" cy="1005686"/>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170755" cy="8069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300" b="0" i="0" dirty="0">
                  <a:solidFill>
                    <a:srgbClr val="000000"/>
                  </a:solidFill>
                  <a:latin typeface="Arial" pitchFamily="34" charset="0"/>
                  <a:cs typeface="Arial" pitchFamily="34" charset="0"/>
                </a:rPr>
                <a:t>Логическая вычислительная система с виртуальным оборудованием, на котором работают поддерживаемая гостевая ОС и ее приложения.</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300" b="1" i="0" dirty="0">
                  <a:solidFill>
                    <a:srgbClr val="FFFFFF"/>
                  </a:solidFill>
                  <a:latin typeface="Arial" pitchFamily="34" charset="0"/>
                  <a:cs typeface="Arial" pitchFamily="34" charset="0"/>
                </a:rPr>
                <a:t>Виртуальная машина (ВМ)</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97770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Аппаратное обеспечение ВМ</a:t>
            </a:r>
          </a:p>
        </p:txBody>
      </p:sp>
      <p:grpSp>
        <p:nvGrpSpPr>
          <p:cNvPr id="6" name="Group 5"/>
          <p:cNvGrpSpPr/>
          <p:nvPr/>
        </p:nvGrpSpPr>
        <p:grpSpPr>
          <a:xfrm>
            <a:off x="1621129" y="798175"/>
            <a:ext cx="5998871" cy="3962474"/>
            <a:chOff x="1619672" y="942191"/>
            <a:chExt cx="5998871" cy="3962474"/>
          </a:xfrm>
        </p:grpSpPr>
        <p:sp>
          <p:nvSpPr>
            <p:cNvPr id="7" name="Text Box 10"/>
            <p:cNvSpPr txBox="1">
              <a:spLocks noChangeArrowheads="1"/>
            </p:cNvSpPr>
            <p:nvPr>
              <p:custDataLst>
                <p:tags r:id="rId2"/>
              </p:custDataLst>
            </p:nvPr>
          </p:nvSpPr>
          <p:spPr bwMode="auto">
            <a:xfrm>
              <a:off x="5724128" y="1258441"/>
              <a:ext cx="1894415" cy="493981"/>
            </a:xfrm>
            <a:prstGeom prst="rect">
              <a:avLst/>
            </a:prstGeom>
            <a:noFill/>
            <a:ln w="9525">
              <a:noFill/>
              <a:miter lim="800000"/>
              <a:headEnd/>
              <a:tailEnd/>
            </a:ln>
          </p:spPr>
          <p:txBody>
            <a:bodyPr wrap="squar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Дисководы и контроллеры гибких и оптических дисков</a:t>
              </a:r>
            </a:p>
          </p:txBody>
        </p:sp>
        <p:sp>
          <p:nvSpPr>
            <p:cNvPr id="8" name="Text Box 11"/>
            <p:cNvSpPr txBox="1">
              <a:spLocks noChangeArrowheads="1"/>
            </p:cNvSpPr>
            <p:nvPr>
              <p:custDataLst>
                <p:tags r:id="rId3"/>
              </p:custDataLst>
            </p:nvPr>
          </p:nvSpPr>
          <p:spPr bwMode="auto">
            <a:xfrm>
              <a:off x="2699792" y="4515966"/>
              <a:ext cx="970464" cy="226216"/>
            </a:xfrm>
            <a:prstGeom prst="rect">
              <a:avLst/>
            </a:prstGeom>
            <a:noFill/>
            <a:ln w="9525">
              <a:noFill/>
              <a:miter lim="800000"/>
              <a:headEnd/>
              <a:tailEnd/>
            </a:ln>
          </p:spPr>
          <p:txBody>
            <a:bodyPr wrap="squar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Процессор</a:t>
              </a:r>
            </a:p>
          </p:txBody>
        </p:sp>
        <p:sp>
          <p:nvSpPr>
            <p:cNvPr id="9" name="Text Box 8"/>
            <p:cNvSpPr txBox="1">
              <a:spLocks noChangeArrowheads="1"/>
            </p:cNvSpPr>
            <p:nvPr>
              <p:custDataLst>
                <p:tags r:id="rId4"/>
              </p:custDataLst>
            </p:nvPr>
          </p:nvSpPr>
          <p:spPr bwMode="auto">
            <a:xfrm>
              <a:off x="3754276" y="4544566"/>
              <a:ext cx="1578267" cy="360099"/>
            </a:xfrm>
            <a:prstGeom prst="rect">
              <a:avLst/>
            </a:prstGeom>
            <a:noFill/>
            <a:ln w="9525">
              <a:noFill/>
              <a:miter lim="800000"/>
              <a:headEnd/>
              <a:tailEnd/>
            </a:ln>
          </p:spPr>
          <p:txBody>
            <a:bodyPr wrap="squar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Контроллеры SCSI/IDE</a:t>
              </a:r>
            </a:p>
          </p:txBody>
        </p:sp>
        <p:sp>
          <p:nvSpPr>
            <p:cNvPr id="10" name="Text Box 7"/>
            <p:cNvSpPr txBox="1">
              <a:spLocks noChangeArrowheads="1"/>
            </p:cNvSpPr>
            <p:nvPr>
              <p:custDataLst>
                <p:tags r:id="rId5"/>
              </p:custDataLst>
            </p:nvPr>
          </p:nvSpPr>
          <p:spPr bwMode="auto">
            <a:xfrm>
              <a:off x="4741993" y="4443958"/>
              <a:ext cx="1196161" cy="226216"/>
            </a:xfrm>
            <a:prstGeom prst="rect">
              <a:avLst/>
            </a:prstGeom>
            <a:noFill/>
            <a:ln w="9525">
              <a:noFill/>
              <a:miter lim="800000"/>
              <a:headEnd/>
              <a:tailEnd/>
            </a:ln>
          </p:spPr>
          <p:txBody>
            <a:bodyPr wrap="non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Сетевые карты</a:t>
              </a:r>
            </a:p>
          </p:txBody>
        </p:sp>
        <p:pic>
          <p:nvPicPr>
            <p:cNvPr id="11" name="Picture 31" descr="Keyboard"/>
            <p:cNvPicPr>
              <a:picLocks noChangeAspect="1" noChangeArrowheads="1"/>
            </p:cNvPicPr>
            <p:nvPr>
              <p:custDataLst>
                <p:tags r:id="rId6"/>
              </p:custDataLst>
            </p:nvPr>
          </p:nvPicPr>
          <p:blipFill>
            <a:blip r:embed="rId34" cstate="print"/>
            <a:srcRect/>
            <a:stretch>
              <a:fillRect/>
            </a:stretch>
          </p:blipFill>
          <p:spPr bwMode="auto">
            <a:xfrm rot="21106464">
              <a:off x="5394607" y="2218510"/>
              <a:ext cx="1189333" cy="1152000"/>
            </a:xfrm>
            <a:prstGeom prst="rect">
              <a:avLst/>
            </a:prstGeom>
            <a:noFill/>
          </p:spPr>
        </p:pic>
        <p:pic>
          <p:nvPicPr>
            <p:cNvPr id="12" name="Picture 33" descr="Mouse"/>
            <p:cNvPicPr>
              <a:picLocks noChangeAspect="1" noChangeArrowheads="1"/>
            </p:cNvPicPr>
            <p:nvPr>
              <p:custDataLst>
                <p:tags r:id="rId7"/>
              </p:custDataLst>
            </p:nvPr>
          </p:nvPicPr>
          <p:blipFill>
            <a:blip r:embed="rId35" cstate="print"/>
            <a:srcRect/>
            <a:stretch>
              <a:fillRect/>
            </a:stretch>
          </p:blipFill>
          <p:spPr bwMode="auto">
            <a:xfrm>
              <a:off x="5689746" y="1659904"/>
              <a:ext cx="599054" cy="809726"/>
            </a:xfrm>
            <a:prstGeom prst="rect">
              <a:avLst/>
            </a:prstGeom>
            <a:noFill/>
          </p:spPr>
        </p:pic>
        <p:grpSp>
          <p:nvGrpSpPr>
            <p:cNvPr id="13" name="Group 34"/>
            <p:cNvGrpSpPr>
              <a:grpSpLocks noChangeAspect="1"/>
            </p:cNvGrpSpPr>
            <p:nvPr/>
          </p:nvGrpSpPr>
          <p:grpSpPr bwMode="auto">
            <a:xfrm>
              <a:off x="2879610" y="3226583"/>
              <a:ext cx="637359" cy="360000"/>
              <a:chOff x="720" y="2880"/>
              <a:chExt cx="563" cy="318"/>
            </a:xfrm>
          </p:grpSpPr>
          <p:pic>
            <p:nvPicPr>
              <p:cNvPr id="41" name="Picture 359" descr="ICON_Memory_Q308"/>
              <p:cNvPicPr>
                <a:picLocks noChangeAspect="1" noChangeArrowheads="1"/>
              </p:cNvPicPr>
              <p:nvPr>
                <p:custDataLst>
                  <p:tags r:id="rId30"/>
                </p:custDataLst>
              </p:nvPr>
            </p:nvPicPr>
            <p:blipFill>
              <a:blip r:embed="rId36" cstate="print"/>
              <a:srcRect/>
              <a:stretch>
                <a:fillRect/>
              </a:stretch>
            </p:blipFill>
            <p:spPr bwMode="auto">
              <a:xfrm>
                <a:off x="845" y="2880"/>
                <a:ext cx="438" cy="318"/>
              </a:xfrm>
              <a:prstGeom prst="rect">
                <a:avLst/>
              </a:prstGeom>
              <a:noFill/>
              <a:ln w="9525">
                <a:noFill/>
                <a:miter lim="800000"/>
                <a:headEnd/>
                <a:tailEnd/>
              </a:ln>
            </p:spPr>
          </p:pic>
          <p:pic>
            <p:nvPicPr>
              <p:cNvPr id="42" name="Picture 359" descr="ICON_Memory_Q308"/>
              <p:cNvPicPr>
                <a:picLocks noChangeAspect="1" noChangeArrowheads="1"/>
              </p:cNvPicPr>
              <p:nvPr>
                <p:custDataLst>
                  <p:tags r:id="rId31"/>
                </p:custDataLst>
              </p:nvPr>
            </p:nvPicPr>
            <p:blipFill>
              <a:blip r:embed="rId36" cstate="print"/>
              <a:srcRect/>
              <a:stretch>
                <a:fillRect/>
              </a:stretch>
            </p:blipFill>
            <p:spPr bwMode="auto">
              <a:xfrm>
                <a:off x="720" y="2880"/>
                <a:ext cx="438" cy="318"/>
              </a:xfrm>
              <a:prstGeom prst="rect">
                <a:avLst/>
              </a:prstGeom>
              <a:noFill/>
              <a:ln w="9525">
                <a:noFill/>
                <a:miter lim="800000"/>
                <a:headEnd/>
                <a:tailEnd/>
              </a:ln>
            </p:spPr>
          </p:pic>
        </p:grpSp>
        <p:pic>
          <p:nvPicPr>
            <p:cNvPr id="14" name="Picture 38" descr="Video"/>
            <p:cNvPicPr>
              <a:picLocks noChangeAspect="1" noChangeArrowheads="1"/>
            </p:cNvPicPr>
            <p:nvPr>
              <p:custDataLst>
                <p:tags r:id="rId8"/>
              </p:custDataLst>
            </p:nvPr>
          </p:nvPicPr>
          <p:blipFill>
            <a:blip r:embed="rId37" cstate="print"/>
            <a:srcRect/>
            <a:stretch>
              <a:fillRect/>
            </a:stretch>
          </p:blipFill>
          <p:spPr bwMode="auto">
            <a:xfrm>
              <a:off x="2958801" y="2441281"/>
              <a:ext cx="478977" cy="576000"/>
            </a:xfrm>
            <a:prstGeom prst="rect">
              <a:avLst/>
            </a:prstGeom>
            <a:noFill/>
          </p:spPr>
        </p:pic>
        <p:sp>
          <p:nvSpPr>
            <p:cNvPr id="15" name="Text Box 9"/>
            <p:cNvSpPr txBox="1">
              <a:spLocks noChangeArrowheads="1"/>
            </p:cNvSpPr>
            <p:nvPr>
              <p:custDataLst>
                <p:tags r:id="rId9"/>
              </p:custDataLst>
            </p:nvPr>
          </p:nvSpPr>
          <p:spPr bwMode="auto">
            <a:xfrm>
              <a:off x="1765003" y="2571750"/>
              <a:ext cx="1150813" cy="226216"/>
            </a:xfrm>
            <a:prstGeom prst="rect">
              <a:avLst/>
            </a:prstGeom>
            <a:noFill/>
            <a:ln w="9525">
              <a:noFill/>
              <a:miter lim="800000"/>
              <a:headEnd/>
              <a:tailEnd/>
            </a:ln>
          </p:spPr>
          <p:txBody>
            <a:bodyPr wrap="square">
              <a:spAutoFit/>
            </a:bodyPr>
            <a:lstStyle/>
            <a:p>
              <a:pPr algn="r">
                <a:lnSpc>
                  <a:spcPct val="87000"/>
                </a:lnSpc>
                <a:buClr>
                  <a:schemeClr val="tx2"/>
                </a:buClr>
                <a:buSzPct val="80000"/>
              </a:pPr>
              <a:r>
                <a:rPr lang="ru-RU" sz="1000" b="1" i="0" dirty="0">
                  <a:solidFill>
                    <a:srgbClr val="000000"/>
                  </a:solidFill>
                  <a:latin typeface="Arial" pitchFamily="34" charset="0"/>
                  <a:cs typeface="Arial" pitchFamily="34" charset="0"/>
                </a:rPr>
                <a:t>Видеокарта</a:t>
              </a:r>
            </a:p>
          </p:txBody>
        </p:sp>
        <p:sp>
          <p:nvSpPr>
            <p:cNvPr id="16" name="Text Box 9"/>
            <p:cNvSpPr txBox="1">
              <a:spLocks noChangeArrowheads="1"/>
            </p:cNvSpPr>
            <p:nvPr>
              <p:custDataLst>
                <p:tags r:id="rId10"/>
              </p:custDataLst>
            </p:nvPr>
          </p:nvSpPr>
          <p:spPr bwMode="auto">
            <a:xfrm>
              <a:off x="2220390" y="3256639"/>
              <a:ext cx="623418" cy="226216"/>
            </a:xfrm>
            <a:prstGeom prst="rect">
              <a:avLst/>
            </a:prstGeom>
            <a:noFill/>
            <a:ln w="9525">
              <a:noFill/>
              <a:miter lim="800000"/>
              <a:headEnd/>
              <a:tailEnd/>
            </a:ln>
          </p:spPr>
          <p:txBody>
            <a:bodyPr>
              <a:spAutoFit/>
            </a:bodyPr>
            <a:lstStyle/>
            <a:p>
              <a:pPr algn="r">
                <a:lnSpc>
                  <a:spcPct val="87000"/>
                </a:lnSpc>
                <a:buClr>
                  <a:schemeClr val="tx2"/>
                </a:buClr>
                <a:buSzPct val="80000"/>
              </a:pPr>
              <a:r>
                <a:rPr lang="ru-RU" sz="1000" b="1" i="0" dirty="0">
                  <a:solidFill>
                    <a:srgbClr val="000000"/>
                  </a:solidFill>
                  <a:latin typeface="Arial" pitchFamily="34" charset="0"/>
                  <a:cs typeface="Arial" pitchFamily="34" charset="0"/>
                </a:rPr>
                <a:t>ОЗУ</a:t>
              </a:r>
            </a:p>
          </p:txBody>
        </p:sp>
        <p:sp>
          <p:nvSpPr>
            <p:cNvPr id="17" name="Text Box 4"/>
            <p:cNvSpPr txBox="1">
              <a:spLocks noChangeArrowheads="1"/>
            </p:cNvSpPr>
            <p:nvPr>
              <p:custDataLst>
                <p:tags r:id="rId11"/>
              </p:custDataLst>
            </p:nvPr>
          </p:nvSpPr>
          <p:spPr bwMode="auto">
            <a:xfrm>
              <a:off x="1619672" y="1803217"/>
              <a:ext cx="1296144" cy="360099"/>
            </a:xfrm>
            <a:prstGeom prst="rect">
              <a:avLst/>
            </a:prstGeom>
            <a:noFill/>
            <a:ln w="9525">
              <a:noFill/>
              <a:miter lim="800000"/>
              <a:headEnd/>
              <a:tailEnd/>
            </a:ln>
          </p:spPr>
          <p:txBody>
            <a:bodyPr wrap="square">
              <a:spAutoFit/>
            </a:bodyPr>
            <a:lstStyle/>
            <a:p>
              <a:pPr algn="r">
                <a:lnSpc>
                  <a:spcPct val="87000"/>
                </a:lnSpc>
                <a:buClr>
                  <a:schemeClr val="tx2"/>
                </a:buClr>
                <a:buSzPct val="80000"/>
              </a:pPr>
              <a:r>
                <a:rPr lang="ru-RU" sz="1000" b="1" i="0" dirty="0">
                  <a:solidFill>
                    <a:srgbClr val="000000"/>
                  </a:solidFill>
                  <a:latin typeface="Arial" pitchFamily="34" charset="0"/>
                  <a:cs typeface="Arial" pitchFamily="34" charset="0"/>
                </a:rPr>
                <a:t>Диск системы хранения</a:t>
              </a:r>
            </a:p>
          </p:txBody>
        </p:sp>
        <p:sp>
          <p:nvSpPr>
            <p:cNvPr id="18" name="Text Box 42"/>
            <p:cNvSpPr txBox="1">
              <a:spLocks noChangeArrowheads="1"/>
            </p:cNvSpPr>
            <p:nvPr>
              <p:custDataLst>
                <p:tags r:id="rId12"/>
              </p:custDataLst>
            </p:nvPr>
          </p:nvSpPr>
          <p:spPr bwMode="auto">
            <a:xfrm>
              <a:off x="2436943" y="1115566"/>
              <a:ext cx="1524000" cy="553998"/>
            </a:xfrm>
            <a:prstGeom prst="rect">
              <a:avLst/>
            </a:prstGeom>
            <a:noFill/>
            <a:ln w="9525">
              <a:noFill/>
              <a:miter lim="800000"/>
              <a:headEnd/>
              <a:tailEnd/>
            </a:ln>
            <a:effectLst/>
          </p:spPr>
          <p:txBody>
            <a:bodyPr wrap="square">
              <a:spAutoFit/>
            </a:bodyPr>
            <a:lstStyle/>
            <a:p>
              <a:r>
                <a:rPr lang="ru-RU" sz="1000" b="1" i="0" dirty="0">
                  <a:solidFill>
                    <a:srgbClr val="000000"/>
                  </a:solidFill>
                  <a:latin typeface="Arial" pitchFamily="34" charset="0"/>
                  <a:cs typeface="Arial" pitchFamily="34" charset="0"/>
                </a:rPr>
                <a:t>Последовательные/параллельные порты</a:t>
              </a:r>
            </a:p>
          </p:txBody>
        </p:sp>
        <p:pic>
          <p:nvPicPr>
            <p:cNvPr id="19" name="Picture 43" descr="usb copy"/>
            <p:cNvPicPr>
              <a:picLocks noChangeAspect="1" noChangeArrowheads="1"/>
            </p:cNvPicPr>
            <p:nvPr>
              <p:custDataLst>
                <p:tags r:id="rId13"/>
              </p:custDataLst>
            </p:nvPr>
          </p:nvPicPr>
          <p:blipFill>
            <a:blip r:embed="rId38" cstate="print"/>
            <a:srcRect/>
            <a:stretch>
              <a:fillRect/>
            </a:stretch>
          </p:blipFill>
          <p:spPr bwMode="auto">
            <a:xfrm>
              <a:off x="4191000" y="1059582"/>
              <a:ext cx="600487" cy="792528"/>
            </a:xfrm>
            <a:prstGeom prst="rect">
              <a:avLst/>
            </a:prstGeom>
            <a:noFill/>
          </p:spPr>
        </p:pic>
        <p:sp>
          <p:nvSpPr>
            <p:cNvPr id="20" name="Text Box 10"/>
            <p:cNvSpPr txBox="1">
              <a:spLocks noChangeArrowheads="1"/>
            </p:cNvSpPr>
            <p:nvPr>
              <p:custDataLst>
                <p:tags r:id="rId14"/>
              </p:custDataLst>
            </p:nvPr>
          </p:nvSpPr>
          <p:spPr bwMode="auto">
            <a:xfrm>
              <a:off x="3894236" y="942191"/>
              <a:ext cx="1287532" cy="226216"/>
            </a:xfrm>
            <a:prstGeom prst="rect">
              <a:avLst/>
            </a:prstGeom>
            <a:noFill/>
            <a:ln w="9525">
              <a:noFill/>
              <a:miter lim="800000"/>
              <a:headEnd/>
              <a:tailEnd/>
            </a:ln>
          </p:spPr>
          <p:txBody>
            <a:bodyPr wrap="non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Контроллер USB</a:t>
              </a:r>
            </a:p>
          </p:txBody>
        </p:sp>
        <p:grpSp>
          <p:nvGrpSpPr>
            <p:cNvPr id="21" name="Group 20"/>
            <p:cNvGrpSpPr>
              <a:grpSpLocks noChangeAspect="1"/>
            </p:cNvGrpSpPr>
            <p:nvPr/>
          </p:nvGrpSpPr>
          <p:grpSpPr>
            <a:xfrm>
              <a:off x="2938941" y="3752631"/>
              <a:ext cx="518697" cy="720000"/>
              <a:chOff x="3023358" y="3946195"/>
              <a:chExt cx="598026" cy="830115"/>
            </a:xfrm>
          </p:grpSpPr>
          <p:pic>
            <p:nvPicPr>
              <p:cNvPr id="39" name="Picture 33" descr="C:\Users\patils1\Desktop\2013 Projects\CIS v2\CIS Slide Deck_Based on Book\Colored Graphics\Processor.png"/>
              <p:cNvPicPr>
                <a:picLocks noChangeAspect="1" noChangeArrowheads="1"/>
              </p:cNvPicPr>
              <p:nvPr>
                <p:custDataLst>
                  <p:tags r:id="rId28"/>
                </p:custDataLst>
              </p:nvPr>
            </p:nvPicPr>
            <p:blipFill>
              <a:blip r:embed="rId39" cstate="print">
                <a:extLst>
                  <a:ext uri="{28A0092B-C50C-407E-A947-70E740481C1C}">
                    <a14:useLocalDpi xmlns:a14="http://schemas.microsoft.com/office/drawing/2010/main" val="0"/>
                  </a:ext>
                </a:extLst>
              </a:blip>
              <a:srcRect/>
              <a:stretch>
                <a:fillRect/>
              </a:stretch>
            </p:blipFill>
            <p:spPr bwMode="auto">
              <a:xfrm>
                <a:off x="3023358" y="3946195"/>
                <a:ext cx="398685" cy="69040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3" descr="C:\Users\patils1\Desktop\2013 Projects\CIS v2\CIS Slide Deck_Based on Book\Colored Graphics\Processor.png"/>
              <p:cNvPicPr>
                <a:picLocks noChangeAspect="1" noChangeArrowheads="1"/>
              </p:cNvPicPr>
              <p:nvPr>
                <p:custDataLst>
                  <p:tags r:id="rId29"/>
                </p:custDataLst>
              </p:nvPr>
            </p:nvPicPr>
            <p:blipFill>
              <a:blip r:embed="rId39" cstate="print">
                <a:extLst>
                  <a:ext uri="{28A0092B-C50C-407E-A947-70E740481C1C}">
                    <a14:useLocalDpi xmlns:a14="http://schemas.microsoft.com/office/drawing/2010/main" val="0"/>
                  </a:ext>
                </a:extLst>
              </a:blip>
              <a:srcRect/>
              <a:stretch>
                <a:fillRect/>
              </a:stretch>
            </p:blipFill>
            <p:spPr bwMode="auto">
              <a:xfrm>
                <a:off x="3222699" y="4085907"/>
                <a:ext cx="398685" cy="6904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a:grpSpLocks noChangeAspect="1"/>
            </p:cNvGrpSpPr>
            <p:nvPr/>
          </p:nvGrpSpPr>
          <p:grpSpPr>
            <a:xfrm>
              <a:off x="4932040" y="3824631"/>
              <a:ext cx="641901" cy="576000"/>
              <a:chOff x="5189796" y="3915177"/>
              <a:chExt cx="757031" cy="679310"/>
            </a:xfrm>
          </p:grpSpPr>
          <p:pic>
            <p:nvPicPr>
              <p:cNvPr id="37" name="Picture 4" descr="C:\Users\patils1\Desktop\2013 Projects\CIS v2\CIS Slide Deck_Based on Book\Colored Graphics\Physical NIC.png"/>
              <p:cNvPicPr>
                <a:picLocks noChangeAspect="1" noChangeArrowheads="1"/>
              </p:cNvPicPr>
              <p:nvPr>
                <p:custDataLst>
                  <p:tags r:id="rId26"/>
                </p:custDataLst>
              </p:nvPr>
            </p:nvPicPr>
            <p:blipFill>
              <a:blip r:embed="rId40" cstate="print">
                <a:extLst>
                  <a:ext uri="{28A0092B-C50C-407E-A947-70E740481C1C}">
                    <a14:useLocalDpi xmlns:a14="http://schemas.microsoft.com/office/drawing/2010/main" val="0"/>
                  </a:ext>
                </a:extLst>
              </a:blip>
              <a:srcRect/>
              <a:stretch>
                <a:fillRect/>
              </a:stretch>
            </p:blipFill>
            <p:spPr bwMode="auto">
              <a:xfrm>
                <a:off x="5189796" y="3915177"/>
                <a:ext cx="504687" cy="62737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C:\Users\patils1\Desktop\2013 Projects\CIS v2\CIS Slide Deck_Based on Book\Colored Graphics\Physical NIC.png"/>
              <p:cNvPicPr>
                <a:picLocks noChangeAspect="1" noChangeArrowheads="1"/>
              </p:cNvPicPr>
              <p:nvPr>
                <p:custDataLst>
                  <p:tags r:id="rId27"/>
                </p:custDataLst>
              </p:nvPr>
            </p:nvPicPr>
            <p:blipFill>
              <a:blip r:embed="rId40" cstate="print">
                <a:extLst>
                  <a:ext uri="{28A0092B-C50C-407E-A947-70E740481C1C}">
                    <a14:useLocalDpi xmlns:a14="http://schemas.microsoft.com/office/drawing/2010/main" val="0"/>
                  </a:ext>
                </a:extLst>
              </a:blip>
              <a:srcRect/>
              <a:stretch>
                <a:fillRect/>
              </a:stretch>
            </p:blipFill>
            <p:spPr bwMode="auto">
              <a:xfrm>
                <a:off x="5442140" y="3967114"/>
                <a:ext cx="504687" cy="6273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p:cNvGrpSpPr>
              <a:grpSpLocks noChangeAspect="1"/>
            </p:cNvGrpSpPr>
            <p:nvPr/>
          </p:nvGrpSpPr>
          <p:grpSpPr>
            <a:xfrm>
              <a:off x="5634532" y="3255910"/>
              <a:ext cx="709483" cy="756000"/>
              <a:chOff x="6126465" y="3823256"/>
              <a:chExt cx="811745" cy="864967"/>
            </a:xfrm>
          </p:grpSpPr>
          <p:pic>
            <p:nvPicPr>
              <p:cNvPr id="35" name="Picture 30" descr="C:\Users\patils1\Desktop\2013 Projects\CIS v2\CIS Slide Deck_Based on Book\Colored Graphics\Physical HBA.png"/>
              <p:cNvPicPr>
                <a:picLocks noChangeAspect="1" noChangeArrowheads="1"/>
              </p:cNvPicPr>
              <p:nvPr>
                <p:custDataLst>
                  <p:tags r:id="rId24"/>
                </p:custDataLst>
              </p:nvPr>
            </p:nvPicPr>
            <p:blipFill>
              <a:blip r:embed="rId41" cstate="print">
                <a:extLst>
                  <a:ext uri="{28A0092B-C50C-407E-A947-70E740481C1C}">
                    <a14:useLocalDpi xmlns:a14="http://schemas.microsoft.com/office/drawing/2010/main" val="0"/>
                  </a:ext>
                </a:extLst>
              </a:blip>
              <a:srcRect/>
              <a:stretch>
                <a:fillRect/>
              </a:stretch>
            </p:blipFill>
            <p:spPr bwMode="auto">
              <a:xfrm>
                <a:off x="6126465" y="3823256"/>
                <a:ext cx="674163" cy="727386"/>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0" descr="C:\Users\patils1\Desktop\2013 Projects\CIS v2\CIS Slide Deck_Based on Book\Colored Graphics\Physical HBA.png"/>
              <p:cNvPicPr>
                <a:picLocks noChangeAspect="1" noChangeArrowheads="1"/>
              </p:cNvPicPr>
              <p:nvPr>
                <p:custDataLst>
                  <p:tags r:id="rId25"/>
                </p:custDataLst>
              </p:nvPr>
            </p:nvPicPr>
            <p:blipFill>
              <a:blip r:embed="rId41" cstate="print">
                <a:extLst>
                  <a:ext uri="{28A0092B-C50C-407E-A947-70E740481C1C}">
                    <a14:useLocalDpi xmlns:a14="http://schemas.microsoft.com/office/drawing/2010/main" val="0"/>
                  </a:ext>
                </a:extLst>
              </a:blip>
              <a:srcRect/>
              <a:stretch>
                <a:fillRect/>
              </a:stretch>
            </p:blipFill>
            <p:spPr bwMode="auto">
              <a:xfrm>
                <a:off x="6264047" y="3960837"/>
                <a:ext cx="674163" cy="727386"/>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 Box 7"/>
            <p:cNvSpPr txBox="1">
              <a:spLocks noChangeArrowheads="1"/>
            </p:cNvSpPr>
            <p:nvPr>
              <p:custDataLst>
                <p:tags r:id="rId15"/>
              </p:custDataLst>
            </p:nvPr>
          </p:nvSpPr>
          <p:spPr bwMode="auto">
            <a:xfrm>
              <a:off x="6372200" y="3573016"/>
              <a:ext cx="1127232" cy="226216"/>
            </a:xfrm>
            <a:prstGeom prst="rect">
              <a:avLst/>
            </a:prstGeom>
            <a:noFill/>
            <a:ln w="9525">
              <a:noFill/>
              <a:miter lim="800000"/>
              <a:headEnd/>
              <a:tailEnd/>
            </a:ln>
          </p:spPr>
          <p:txBody>
            <a:bodyPr wrap="non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HBA-адаптеры</a:t>
              </a:r>
            </a:p>
          </p:txBody>
        </p:sp>
        <p:pic>
          <p:nvPicPr>
            <p:cNvPr id="25" name="Picture 42" descr="C:\Users\patils1\Desktop\2013 Projects\CIS v2\CIS Slide Deck_Based on Book\Colored Graphics\Virtual Machine.png"/>
            <p:cNvPicPr>
              <a:picLocks noChangeAspect="1" noChangeArrowheads="1"/>
            </p:cNvPicPr>
            <p:nvPr>
              <p:custDataLst>
                <p:tags r:id="rId16"/>
              </p:custDataLst>
            </p:nvPr>
          </p:nvPicPr>
          <p:blipFill>
            <a:blip r:embed="rId42">
              <a:extLst>
                <a:ext uri="{28A0092B-C50C-407E-A947-70E740481C1C}">
                  <a14:useLocalDpi xmlns:a14="http://schemas.microsoft.com/office/drawing/2010/main" val="0"/>
                </a:ext>
              </a:extLst>
            </a:blip>
            <a:srcRect/>
            <a:stretch>
              <a:fillRect/>
            </a:stretch>
          </p:blipFill>
          <p:spPr bwMode="auto">
            <a:xfrm>
              <a:off x="3807000" y="1898464"/>
              <a:ext cx="1530000" cy="1620000"/>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p:cNvGrpSpPr>
              <a:grpSpLocks noChangeAspect="1"/>
            </p:cNvGrpSpPr>
            <p:nvPr/>
          </p:nvGrpSpPr>
          <p:grpSpPr>
            <a:xfrm>
              <a:off x="3707904" y="3716631"/>
              <a:ext cx="1064564" cy="792000"/>
              <a:chOff x="3649411" y="4764027"/>
              <a:chExt cx="1336073" cy="993994"/>
            </a:xfrm>
          </p:grpSpPr>
          <p:pic>
            <p:nvPicPr>
              <p:cNvPr id="33" name="Picture 37" descr="IDE"/>
              <p:cNvPicPr>
                <a:picLocks noChangeAspect="1" noChangeArrowheads="1"/>
              </p:cNvPicPr>
              <p:nvPr>
                <p:custDataLst>
                  <p:tags r:id="rId22"/>
                </p:custDataLst>
              </p:nvPr>
            </p:nvPicPr>
            <p:blipFill rotWithShape="1">
              <a:blip r:embed="rId43" cstate="print"/>
              <a:srcRect b="40704"/>
              <a:stretch/>
            </p:blipFill>
            <p:spPr bwMode="auto">
              <a:xfrm>
                <a:off x="4331434" y="4764027"/>
                <a:ext cx="654050" cy="749300"/>
              </a:xfrm>
              <a:prstGeom prst="rect">
                <a:avLst/>
              </a:prstGeom>
              <a:noFill/>
            </p:spPr>
          </p:pic>
          <p:pic>
            <p:nvPicPr>
              <p:cNvPr id="34" name="Picture 28" descr="SCSI"/>
              <p:cNvPicPr>
                <a:picLocks noChangeAspect="1" noChangeArrowheads="1"/>
              </p:cNvPicPr>
              <p:nvPr>
                <p:custDataLst>
                  <p:tags r:id="rId23"/>
                </p:custDataLst>
              </p:nvPr>
            </p:nvPicPr>
            <p:blipFill>
              <a:blip r:embed="rId44" cstate="print"/>
              <a:srcRect/>
              <a:stretch>
                <a:fillRect/>
              </a:stretch>
            </p:blipFill>
            <p:spPr bwMode="auto">
              <a:xfrm>
                <a:off x="3649411" y="5005546"/>
                <a:ext cx="1120775" cy="752475"/>
              </a:xfrm>
              <a:prstGeom prst="rect">
                <a:avLst/>
              </a:prstGeom>
              <a:noFill/>
            </p:spPr>
          </p:pic>
        </p:grpSp>
        <p:pic>
          <p:nvPicPr>
            <p:cNvPr id="27" name="Picture 11" descr="C:\Users\patils1\Desktop\2013 Projects\CIS v2\CIS Slide Deck_Based on Book\Colored Graphics\Disk Drive.png"/>
            <p:cNvPicPr>
              <a:picLocks noChangeAspect="1" noChangeArrowheads="1"/>
            </p:cNvPicPr>
            <p:nvPr>
              <p:custDataLst>
                <p:tags r:id="rId17"/>
              </p:custDataLst>
            </p:nvPr>
          </p:nvPicPr>
          <p:blipFill>
            <a:blip r:embed="rId45" cstate="print">
              <a:extLst>
                <a:ext uri="{28A0092B-C50C-407E-A947-70E740481C1C}">
                  <a14:useLocalDpi xmlns:a14="http://schemas.microsoft.com/office/drawing/2010/main" val="0"/>
                </a:ext>
              </a:extLst>
            </a:blip>
            <a:srcRect/>
            <a:stretch>
              <a:fillRect/>
            </a:stretch>
          </p:blipFill>
          <p:spPr bwMode="auto">
            <a:xfrm>
              <a:off x="2946289" y="1727979"/>
              <a:ext cx="504000" cy="504000"/>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p:cNvGrpSpPr>
              <a:grpSpLocks noChangeAspect="1"/>
            </p:cNvGrpSpPr>
            <p:nvPr/>
          </p:nvGrpSpPr>
          <p:grpSpPr>
            <a:xfrm>
              <a:off x="5146007" y="1277112"/>
              <a:ext cx="567963" cy="504000"/>
              <a:chOff x="5257800" y="1005045"/>
              <a:chExt cx="838200" cy="743802"/>
            </a:xfrm>
          </p:grpSpPr>
          <p:pic>
            <p:nvPicPr>
              <p:cNvPr id="31" name="Picture 2" descr="http://realitypod.com/wp-content/uploads/2010/08/Live-cd.jpg"/>
              <p:cNvPicPr>
                <a:picLocks noChangeAspect="1" noChangeArrowheads="1"/>
              </p:cNvPicPr>
              <p:nvPr>
                <p:custDataLst>
                  <p:tags r:id="rId20"/>
                </p:custDataLst>
              </p:nvPr>
            </p:nvPicPr>
            <p:blipFill>
              <a:blip r:embed="rId46" cstate="print">
                <a:extLst>
                  <a:ext uri="{28A0092B-C50C-407E-A947-70E740481C1C}">
                    <a14:useLocalDpi xmlns:a14="http://schemas.microsoft.com/office/drawing/2010/main" val="0"/>
                  </a:ext>
                </a:extLst>
              </a:blip>
              <a:srcRect/>
              <a:stretch>
                <a:fillRect/>
              </a:stretch>
            </p:blipFill>
            <p:spPr bwMode="auto">
              <a:xfrm>
                <a:off x="5479728" y="1066800"/>
                <a:ext cx="616272" cy="62126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2" descr="Floppy"/>
              <p:cNvPicPr>
                <a:picLocks noChangeAspect="1" noChangeArrowheads="1"/>
              </p:cNvPicPr>
              <p:nvPr>
                <p:custDataLst>
                  <p:tags r:id="rId21"/>
                </p:custDataLst>
              </p:nvPr>
            </p:nvPicPr>
            <p:blipFill>
              <a:blip r:embed="rId47" cstate="print"/>
              <a:srcRect/>
              <a:stretch>
                <a:fillRect/>
              </a:stretch>
            </p:blipFill>
            <p:spPr bwMode="auto">
              <a:xfrm>
                <a:off x="5257800" y="1005045"/>
                <a:ext cx="534563" cy="743802"/>
              </a:xfrm>
              <a:prstGeom prst="rect">
                <a:avLst/>
              </a:prstGeom>
              <a:noFill/>
            </p:spPr>
          </p:pic>
        </p:grpSp>
        <p:sp>
          <p:nvSpPr>
            <p:cNvPr id="29" name="Text Box 7"/>
            <p:cNvSpPr txBox="1">
              <a:spLocks noChangeArrowheads="1"/>
            </p:cNvSpPr>
            <p:nvPr>
              <p:custDataLst>
                <p:tags r:id="rId18"/>
              </p:custDataLst>
            </p:nvPr>
          </p:nvSpPr>
          <p:spPr bwMode="auto">
            <a:xfrm>
              <a:off x="6300192" y="2051378"/>
              <a:ext cx="587020" cy="226216"/>
            </a:xfrm>
            <a:prstGeom prst="rect">
              <a:avLst/>
            </a:prstGeom>
            <a:noFill/>
            <a:ln w="9525">
              <a:noFill/>
              <a:miter lim="800000"/>
              <a:headEnd/>
              <a:tailEnd/>
            </a:ln>
          </p:spPr>
          <p:txBody>
            <a:bodyPr wrap="non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Мышь</a:t>
              </a:r>
            </a:p>
          </p:txBody>
        </p:sp>
        <p:sp>
          <p:nvSpPr>
            <p:cNvPr id="30" name="Text Box 7"/>
            <p:cNvSpPr txBox="1">
              <a:spLocks noChangeArrowheads="1"/>
            </p:cNvSpPr>
            <p:nvPr>
              <p:custDataLst>
                <p:tags r:id="rId19"/>
              </p:custDataLst>
            </p:nvPr>
          </p:nvSpPr>
          <p:spPr bwMode="auto">
            <a:xfrm>
              <a:off x="6602221" y="2715766"/>
              <a:ext cx="925253" cy="226216"/>
            </a:xfrm>
            <a:prstGeom prst="rect">
              <a:avLst/>
            </a:prstGeom>
            <a:noFill/>
            <a:ln w="9525">
              <a:noFill/>
              <a:miter lim="800000"/>
              <a:headEnd/>
              <a:tailEnd/>
            </a:ln>
          </p:spPr>
          <p:txBody>
            <a:bodyPr wrap="none">
              <a:spAutoFit/>
            </a:bodyPr>
            <a:lstStyle/>
            <a:p>
              <a:pPr>
                <a:lnSpc>
                  <a:spcPct val="87000"/>
                </a:lnSpc>
                <a:buClr>
                  <a:schemeClr val="tx2"/>
                </a:buClr>
                <a:buSzPct val="80000"/>
              </a:pPr>
              <a:r>
                <a:rPr lang="ru-RU" sz="1000" b="1" i="0" dirty="0">
                  <a:solidFill>
                    <a:srgbClr val="000000"/>
                  </a:solidFill>
                  <a:latin typeface="Arial" pitchFamily="34" charset="0"/>
                  <a:cs typeface="Arial" pitchFamily="34" charset="0"/>
                </a:rPr>
                <a:t>Клавиатура</a:t>
              </a:r>
            </a:p>
          </p:txBody>
        </p:sp>
      </p:grpSp>
      <p:sp>
        <p:nvSpPr>
          <p:cNvPr id="43" name="TextBox 4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437005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Файлы ВМ</a:t>
            </a:r>
          </a:p>
        </p:txBody>
      </p:sp>
      <p:sp>
        <p:nvSpPr>
          <p:cNvPr id="6" name="Content Placeholder 5"/>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С точки зрения гипервизора ВМ представляет собой отдельный набор файлов, включающий следующее:</a:t>
            </a:r>
          </a:p>
        </p:txBody>
      </p:sp>
      <p:sp>
        <p:nvSpPr>
          <p:cNvPr id="4" name="Freeform 3"/>
          <p:cNvSpPr/>
          <p:nvPr/>
        </p:nvSpPr>
        <p:spPr>
          <a:xfrm>
            <a:off x="3424364" y="1711263"/>
            <a:ext cx="5413249" cy="421660"/>
          </a:xfrm>
          <a:custGeom>
            <a:avLst/>
            <a:gdLst>
              <a:gd name="connsiteX0" fmla="*/ 70278 w 421659"/>
              <a:gd name="connsiteY0" fmla="*/ 0 h 5413248"/>
              <a:gd name="connsiteX1" fmla="*/ 351381 w 421659"/>
              <a:gd name="connsiteY1" fmla="*/ 0 h 5413248"/>
              <a:gd name="connsiteX2" fmla="*/ 421659 w 421659"/>
              <a:gd name="connsiteY2" fmla="*/ 70278 h 5413248"/>
              <a:gd name="connsiteX3" fmla="*/ 421659 w 421659"/>
              <a:gd name="connsiteY3" fmla="*/ 5413248 h 5413248"/>
              <a:gd name="connsiteX4" fmla="*/ 421659 w 421659"/>
              <a:gd name="connsiteY4" fmla="*/ 5413248 h 5413248"/>
              <a:gd name="connsiteX5" fmla="*/ 0 w 421659"/>
              <a:gd name="connsiteY5" fmla="*/ 5413248 h 5413248"/>
              <a:gd name="connsiteX6" fmla="*/ 0 w 421659"/>
              <a:gd name="connsiteY6" fmla="*/ 5413248 h 5413248"/>
              <a:gd name="connsiteX7" fmla="*/ 0 w 421659"/>
              <a:gd name="connsiteY7" fmla="*/ 70278 h 5413248"/>
              <a:gd name="connsiteX8" fmla="*/ 70278 w 42165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59" h="5413248">
                <a:moveTo>
                  <a:pt x="421659" y="902232"/>
                </a:moveTo>
                <a:lnTo>
                  <a:pt x="421659" y="4511016"/>
                </a:lnTo>
                <a:cubicBezTo>
                  <a:pt x="421659" y="5009296"/>
                  <a:pt x="419208" y="5413242"/>
                  <a:pt x="416185" y="5413242"/>
                </a:cubicBezTo>
                <a:lnTo>
                  <a:pt x="0" y="5413242"/>
                </a:lnTo>
                <a:lnTo>
                  <a:pt x="0" y="5413242"/>
                </a:lnTo>
                <a:lnTo>
                  <a:pt x="0" y="6"/>
                </a:lnTo>
                <a:lnTo>
                  <a:pt x="0" y="6"/>
                </a:lnTo>
                <a:lnTo>
                  <a:pt x="416185" y="6"/>
                </a:lnTo>
                <a:cubicBezTo>
                  <a:pt x="419208" y="6"/>
                  <a:pt x="421659" y="403952"/>
                  <a:pt x="421659" y="90223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4409" rIns="268234" bIns="144410" numCol="1" spcCol="1270" anchor="ctr" anchorCtr="0">
            <a:noAutofit/>
          </a:bodyPr>
          <a:lstStyle/>
          <a:p>
            <a:pPr marL="285750" lvl="1" indent="-285750" algn="l" defTabSz="622300">
              <a:lnSpc>
                <a:spcPct val="90000"/>
              </a:lnSpc>
              <a:spcBef>
                <a:spcPct val="0"/>
              </a:spcBef>
              <a:spcAft>
                <a:spcPct val="15000"/>
              </a:spcAft>
              <a:buFont typeface="Arial" panose="020B0604020202020204" pitchFamily="34" charset="0"/>
              <a:buChar char="•"/>
            </a:pPr>
            <a:r>
              <a:rPr lang="ru-RU" sz="1400" b="0" i="0" dirty="0">
                <a:solidFill>
                  <a:srgbClr val="000000"/>
                </a:solidFill>
                <a:latin typeface="Arial" pitchFamily="34" charset="0"/>
                <a:cs typeface="Arial" pitchFamily="34" charset="0"/>
              </a:rPr>
              <a:t>Хранит информацию, например, имя ВМ, информацию BIOS, тип гостевой ОС, объем памяти</a:t>
            </a:r>
          </a:p>
        </p:txBody>
      </p:sp>
      <p:sp>
        <p:nvSpPr>
          <p:cNvPr id="8" name="Freeform 7"/>
          <p:cNvSpPr/>
          <p:nvPr/>
        </p:nvSpPr>
        <p:spPr>
          <a:xfrm>
            <a:off x="379413" y="1658555"/>
            <a:ext cx="3044952" cy="527074"/>
          </a:xfrm>
          <a:custGeom>
            <a:avLst/>
            <a:gdLst>
              <a:gd name="connsiteX0" fmla="*/ 0 w 3044952"/>
              <a:gd name="connsiteY0" fmla="*/ 87847 h 527074"/>
              <a:gd name="connsiteX1" fmla="*/ 87847 w 3044952"/>
              <a:gd name="connsiteY1" fmla="*/ 0 h 527074"/>
              <a:gd name="connsiteX2" fmla="*/ 2957105 w 3044952"/>
              <a:gd name="connsiteY2" fmla="*/ 0 h 527074"/>
              <a:gd name="connsiteX3" fmla="*/ 3044952 w 3044952"/>
              <a:gd name="connsiteY3" fmla="*/ 87847 h 527074"/>
              <a:gd name="connsiteX4" fmla="*/ 3044952 w 3044952"/>
              <a:gd name="connsiteY4" fmla="*/ 439227 h 527074"/>
              <a:gd name="connsiteX5" fmla="*/ 2957105 w 3044952"/>
              <a:gd name="connsiteY5" fmla="*/ 527074 h 527074"/>
              <a:gd name="connsiteX6" fmla="*/ 87847 w 3044952"/>
              <a:gd name="connsiteY6" fmla="*/ 527074 h 527074"/>
              <a:gd name="connsiteX7" fmla="*/ 0 w 3044952"/>
              <a:gd name="connsiteY7" fmla="*/ 439227 h 527074"/>
              <a:gd name="connsiteX8" fmla="*/ 0 w 3044952"/>
              <a:gd name="connsiteY8" fmla="*/ 87847 h 5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27074">
                <a:moveTo>
                  <a:pt x="0" y="87847"/>
                </a:moveTo>
                <a:cubicBezTo>
                  <a:pt x="0" y="39330"/>
                  <a:pt x="39330" y="0"/>
                  <a:pt x="87847" y="0"/>
                </a:cubicBezTo>
                <a:lnTo>
                  <a:pt x="2957105" y="0"/>
                </a:lnTo>
                <a:cubicBezTo>
                  <a:pt x="3005622" y="0"/>
                  <a:pt x="3044952" y="39330"/>
                  <a:pt x="3044952" y="87847"/>
                </a:cubicBezTo>
                <a:lnTo>
                  <a:pt x="3044952" y="439227"/>
                </a:lnTo>
                <a:cubicBezTo>
                  <a:pt x="3044952" y="487744"/>
                  <a:pt x="3005622" y="527074"/>
                  <a:pt x="2957105" y="527074"/>
                </a:cubicBezTo>
                <a:lnTo>
                  <a:pt x="87847" y="527074"/>
                </a:lnTo>
                <a:cubicBezTo>
                  <a:pt x="39330" y="527074"/>
                  <a:pt x="0" y="487744"/>
                  <a:pt x="0" y="439227"/>
                </a:cubicBezTo>
                <a:lnTo>
                  <a:pt x="0" y="87847"/>
                </a:lnTo>
                <a:close/>
              </a:path>
            </a:pathLst>
          </a:custGeom>
          <a:solidFill>
            <a:schemeClr val="accent1"/>
          </a:solidFill>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690" tIns="56210" rIns="86690" bIns="56210" numCol="1" spcCol="1270" anchor="ctr" anchorCtr="0">
            <a:noAutofit/>
          </a:bodyPr>
          <a:lstStyle/>
          <a:p>
            <a:pPr lvl="0" algn="ctr" defTabSz="711200">
              <a:lnSpc>
                <a:spcPct val="90000"/>
              </a:lnSpc>
              <a:spcBef>
                <a:spcPct val="0"/>
              </a:spcBef>
              <a:spcAft>
                <a:spcPct val="35000"/>
              </a:spcAft>
            </a:pPr>
            <a:r>
              <a:rPr lang="ru-RU" sz="1600" b="1" i="0" dirty="0">
                <a:solidFill>
                  <a:srgbClr val="FFFFFF"/>
                </a:solidFill>
                <a:latin typeface="Arial" pitchFamily="34" charset="0"/>
                <a:cs typeface="Arial" pitchFamily="34" charset="0"/>
              </a:rPr>
              <a:t>Файл конфигурации</a:t>
            </a:r>
          </a:p>
        </p:txBody>
      </p:sp>
      <p:sp>
        <p:nvSpPr>
          <p:cNvPr id="9" name="Freeform 8"/>
          <p:cNvSpPr/>
          <p:nvPr/>
        </p:nvSpPr>
        <p:spPr>
          <a:xfrm>
            <a:off x="3424364" y="2264692"/>
            <a:ext cx="5413249" cy="421660"/>
          </a:xfrm>
          <a:custGeom>
            <a:avLst/>
            <a:gdLst>
              <a:gd name="connsiteX0" fmla="*/ 70278 w 421659"/>
              <a:gd name="connsiteY0" fmla="*/ 0 h 5413248"/>
              <a:gd name="connsiteX1" fmla="*/ 351381 w 421659"/>
              <a:gd name="connsiteY1" fmla="*/ 0 h 5413248"/>
              <a:gd name="connsiteX2" fmla="*/ 421659 w 421659"/>
              <a:gd name="connsiteY2" fmla="*/ 70278 h 5413248"/>
              <a:gd name="connsiteX3" fmla="*/ 421659 w 421659"/>
              <a:gd name="connsiteY3" fmla="*/ 5413248 h 5413248"/>
              <a:gd name="connsiteX4" fmla="*/ 421659 w 421659"/>
              <a:gd name="connsiteY4" fmla="*/ 5413248 h 5413248"/>
              <a:gd name="connsiteX5" fmla="*/ 0 w 421659"/>
              <a:gd name="connsiteY5" fmla="*/ 5413248 h 5413248"/>
              <a:gd name="connsiteX6" fmla="*/ 0 w 421659"/>
              <a:gd name="connsiteY6" fmla="*/ 5413248 h 5413248"/>
              <a:gd name="connsiteX7" fmla="*/ 0 w 421659"/>
              <a:gd name="connsiteY7" fmla="*/ 70278 h 5413248"/>
              <a:gd name="connsiteX8" fmla="*/ 70278 w 42165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59" h="5413248">
                <a:moveTo>
                  <a:pt x="421659" y="902232"/>
                </a:moveTo>
                <a:lnTo>
                  <a:pt x="421659" y="4511016"/>
                </a:lnTo>
                <a:cubicBezTo>
                  <a:pt x="421659" y="5009296"/>
                  <a:pt x="419208" y="5413242"/>
                  <a:pt x="416185" y="5413242"/>
                </a:cubicBezTo>
                <a:lnTo>
                  <a:pt x="0" y="5413242"/>
                </a:lnTo>
                <a:lnTo>
                  <a:pt x="0" y="5413242"/>
                </a:lnTo>
                <a:lnTo>
                  <a:pt x="0" y="6"/>
                </a:lnTo>
                <a:lnTo>
                  <a:pt x="0" y="6"/>
                </a:lnTo>
                <a:lnTo>
                  <a:pt x="416185" y="6"/>
                </a:lnTo>
                <a:cubicBezTo>
                  <a:pt x="419208" y="6"/>
                  <a:pt x="421659" y="403952"/>
                  <a:pt x="421659" y="90223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4409" rIns="268234" bIns="144410" numCol="1" spcCol="1270" anchor="ctr" anchorCtr="0">
            <a:noAutofit/>
          </a:bodyPr>
          <a:lstStyle/>
          <a:p>
            <a:pPr marL="285750" lvl="1" indent="-285750" algn="l" defTabSz="622300">
              <a:lnSpc>
                <a:spcPct val="90000"/>
              </a:lnSpc>
              <a:spcBef>
                <a:spcPct val="0"/>
              </a:spcBef>
              <a:spcAft>
                <a:spcPct val="15000"/>
              </a:spcAft>
              <a:buFont typeface="Arial" panose="020B0604020202020204" pitchFamily="34" charset="0"/>
              <a:buChar char="•"/>
            </a:pPr>
            <a:r>
              <a:rPr lang="ru-RU" sz="1400" b="0" i="0" dirty="0">
                <a:solidFill>
                  <a:srgbClr val="000000"/>
                </a:solidFill>
                <a:latin typeface="Arial" pitchFamily="34" charset="0"/>
                <a:cs typeface="Arial" pitchFamily="34" charset="0"/>
              </a:rPr>
              <a:t>Хранит содержание диска ВМ</a:t>
            </a:r>
          </a:p>
        </p:txBody>
      </p:sp>
      <p:sp>
        <p:nvSpPr>
          <p:cNvPr id="10" name="Freeform 9"/>
          <p:cNvSpPr/>
          <p:nvPr/>
        </p:nvSpPr>
        <p:spPr>
          <a:xfrm>
            <a:off x="379413" y="2211984"/>
            <a:ext cx="3044952" cy="527074"/>
          </a:xfrm>
          <a:custGeom>
            <a:avLst/>
            <a:gdLst>
              <a:gd name="connsiteX0" fmla="*/ 0 w 3044952"/>
              <a:gd name="connsiteY0" fmla="*/ 87847 h 527074"/>
              <a:gd name="connsiteX1" fmla="*/ 87847 w 3044952"/>
              <a:gd name="connsiteY1" fmla="*/ 0 h 527074"/>
              <a:gd name="connsiteX2" fmla="*/ 2957105 w 3044952"/>
              <a:gd name="connsiteY2" fmla="*/ 0 h 527074"/>
              <a:gd name="connsiteX3" fmla="*/ 3044952 w 3044952"/>
              <a:gd name="connsiteY3" fmla="*/ 87847 h 527074"/>
              <a:gd name="connsiteX4" fmla="*/ 3044952 w 3044952"/>
              <a:gd name="connsiteY4" fmla="*/ 439227 h 527074"/>
              <a:gd name="connsiteX5" fmla="*/ 2957105 w 3044952"/>
              <a:gd name="connsiteY5" fmla="*/ 527074 h 527074"/>
              <a:gd name="connsiteX6" fmla="*/ 87847 w 3044952"/>
              <a:gd name="connsiteY6" fmla="*/ 527074 h 527074"/>
              <a:gd name="connsiteX7" fmla="*/ 0 w 3044952"/>
              <a:gd name="connsiteY7" fmla="*/ 439227 h 527074"/>
              <a:gd name="connsiteX8" fmla="*/ 0 w 3044952"/>
              <a:gd name="connsiteY8" fmla="*/ 87847 h 5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27074">
                <a:moveTo>
                  <a:pt x="0" y="87847"/>
                </a:moveTo>
                <a:cubicBezTo>
                  <a:pt x="0" y="39330"/>
                  <a:pt x="39330" y="0"/>
                  <a:pt x="87847" y="0"/>
                </a:cubicBezTo>
                <a:lnTo>
                  <a:pt x="2957105" y="0"/>
                </a:lnTo>
                <a:cubicBezTo>
                  <a:pt x="3005622" y="0"/>
                  <a:pt x="3044952" y="39330"/>
                  <a:pt x="3044952" y="87847"/>
                </a:cubicBezTo>
                <a:lnTo>
                  <a:pt x="3044952" y="439227"/>
                </a:lnTo>
                <a:cubicBezTo>
                  <a:pt x="3044952" y="487744"/>
                  <a:pt x="3005622" y="527074"/>
                  <a:pt x="2957105" y="527074"/>
                </a:cubicBezTo>
                <a:lnTo>
                  <a:pt x="87847" y="527074"/>
                </a:lnTo>
                <a:cubicBezTo>
                  <a:pt x="39330" y="527074"/>
                  <a:pt x="0" y="487744"/>
                  <a:pt x="0" y="439227"/>
                </a:cubicBezTo>
                <a:lnTo>
                  <a:pt x="0" y="87847"/>
                </a:lnTo>
                <a:close/>
              </a:path>
            </a:pathLst>
          </a:custGeom>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690" tIns="56210" rIns="86690" bIns="56210" numCol="1" spcCol="1270" anchor="ctr" anchorCtr="0">
            <a:noAutofit/>
          </a:bodyPr>
          <a:lstStyle/>
          <a:p>
            <a:pPr lvl="0" algn="ctr" defTabSz="711200">
              <a:lnSpc>
                <a:spcPct val="90000"/>
              </a:lnSpc>
              <a:spcBef>
                <a:spcPct val="0"/>
              </a:spcBef>
              <a:spcAft>
                <a:spcPct val="35000"/>
              </a:spcAft>
            </a:pPr>
            <a:r>
              <a:rPr lang="ru-RU" sz="1600" b="1" i="0" dirty="0">
                <a:solidFill>
                  <a:srgbClr val="FFFFFF"/>
                </a:solidFill>
                <a:latin typeface="Arial" pitchFamily="34" charset="0"/>
                <a:cs typeface="Arial" pitchFamily="34" charset="0"/>
              </a:rPr>
              <a:t>Файл виртуального диска</a:t>
            </a:r>
          </a:p>
        </p:txBody>
      </p:sp>
      <p:sp>
        <p:nvSpPr>
          <p:cNvPr id="11" name="Freeform 10"/>
          <p:cNvSpPr/>
          <p:nvPr/>
        </p:nvSpPr>
        <p:spPr>
          <a:xfrm>
            <a:off x="3424364" y="2818120"/>
            <a:ext cx="5413249" cy="421660"/>
          </a:xfrm>
          <a:custGeom>
            <a:avLst/>
            <a:gdLst>
              <a:gd name="connsiteX0" fmla="*/ 70278 w 421659"/>
              <a:gd name="connsiteY0" fmla="*/ 0 h 5413248"/>
              <a:gd name="connsiteX1" fmla="*/ 351381 w 421659"/>
              <a:gd name="connsiteY1" fmla="*/ 0 h 5413248"/>
              <a:gd name="connsiteX2" fmla="*/ 421659 w 421659"/>
              <a:gd name="connsiteY2" fmla="*/ 70278 h 5413248"/>
              <a:gd name="connsiteX3" fmla="*/ 421659 w 421659"/>
              <a:gd name="connsiteY3" fmla="*/ 5413248 h 5413248"/>
              <a:gd name="connsiteX4" fmla="*/ 421659 w 421659"/>
              <a:gd name="connsiteY4" fmla="*/ 5413248 h 5413248"/>
              <a:gd name="connsiteX5" fmla="*/ 0 w 421659"/>
              <a:gd name="connsiteY5" fmla="*/ 5413248 h 5413248"/>
              <a:gd name="connsiteX6" fmla="*/ 0 w 421659"/>
              <a:gd name="connsiteY6" fmla="*/ 5413248 h 5413248"/>
              <a:gd name="connsiteX7" fmla="*/ 0 w 421659"/>
              <a:gd name="connsiteY7" fmla="*/ 70278 h 5413248"/>
              <a:gd name="connsiteX8" fmla="*/ 70278 w 42165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59" h="5413248">
                <a:moveTo>
                  <a:pt x="421659" y="902232"/>
                </a:moveTo>
                <a:lnTo>
                  <a:pt x="421659" y="4511016"/>
                </a:lnTo>
                <a:cubicBezTo>
                  <a:pt x="421659" y="5009296"/>
                  <a:pt x="419208" y="5413242"/>
                  <a:pt x="416185" y="5413242"/>
                </a:cubicBezTo>
                <a:lnTo>
                  <a:pt x="0" y="5413242"/>
                </a:lnTo>
                <a:lnTo>
                  <a:pt x="0" y="5413242"/>
                </a:lnTo>
                <a:lnTo>
                  <a:pt x="0" y="6"/>
                </a:lnTo>
                <a:lnTo>
                  <a:pt x="0" y="6"/>
                </a:lnTo>
                <a:lnTo>
                  <a:pt x="416185" y="6"/>
                </a:lnTo>
                <a:cubicBezTo>
                  <a:pt x="419208" y="6"/>
                  <a:pt x="421659" y="403952"/>
                  <a:pt x="421659" y="90223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4409" rIns="268234" bIns="144410" numCol="1" spcCol="1270" anchor="ctr" anchorCtr="0">
            <a:noAutofit/>
          </a:bodyPr>
          <a:lstStyle/>
          <a:p>
            <a:pPr marL="285750" lvl="1" indent="-285750" algn="l" defTabSz="622300">
              <a:lnSpc>
                <a:spcPct val="90000"/>
              </a:lnSpc>
              <a:spcBef>
                <a:spcPct val="0"/>
              </a:spcBef>
              <a:spcAft>
                <a:spcPct val="15000"/>
              </a:spcAft>
              <a:buFont typeface="Arial" panose="020B0604020202020204" pitchFamily="34" charset="0"/>
              <a:buChar char="•"/>
            </a:pPr>
            <a:r>
              <a:rPr lang="ru-RU" sz="1400" b="0" i="0" dirty="0">
                <a:solidFill>
                  <a:srgbClr val="000000"/>
                </a:solidFill>
                <a:latin typeface="Arial" pitchFamily="34" charset="0"/>
                <a:cs typeface="Arial" pitchFamily="34" charset="0"/>
              </a:rPr>
              <a:t>Хранит содержание памяти ВМ, находящейся в состоянии ожидания</a:t>
            </a:r>
          </a:p>
        </p:txBody>
      </p:sp>
      <p:sp>
        <p:nvSpPr>
          <p:cNvPr id="12" name="Freeform 11"/>
          <p:cNvSpPr/>
          <p:nvPr/>
        </p:nvSpPr>
        <p:spPr>
          <a:xfrm>
            <a:off x="379413" y="2765412"/>
            <a:ext cx="3044952" cy="527074"/>
          </a:xfrm>
          <a:custGeom>
            <a:avLst/>
            <a:gdLst>
              <a:gd name="connsiteX0" fmla="*/ 0 w 3044952"/>
              <a:gd name="connsiteY0" fmla="*/ 87847 h 527074"/>
              <a:gd name="connsiteX1" fmla="*/ 87847 w 3044952"/>
              <a:gd name="connsiteY1" fmla="*/ 0 h 527074"/>
              <a:gd name="connsiteX2" fmla="*/ 2957105 w 3044952"/>
              <a:gd name="connsiteY2" fmla="*/ 0 h 527074"/>
              <a:gd name="connsiteX3" fmla="*/ 3044952 w 3044952"/>
              <a:gd name="connsiteY3" fmla="*/ 87847 h 527074"/>
              <a:gd name="connsiteX4" fmla="*/ 3044952 w 3044952"/>
              <a:gd name="connsiteY4" fmla="*/ 439227 h 527074"/>
              <a:gd name="connsiteX5" fmla="*/ 2957105 w 3044952"/>
              <a:gd name="connsiteY5" fmla="*/ 527074 h 527074"/>
              <a:gd name="connsiteX6" fmla="*/ 87847 w 3044952"/>
              <a:gd name="connsiteY6" fmla="*/ 527074 h 527074"/>
              <a:gd name="connsiteX7" fmla="*/ 0 w 3044952"/>
              <a:gd name="connsiteY7" fmla="*/ 439227 h 527074"/>
              <a:gd name="connsiteX8" fmla="*/ 0 w 3044952"/>
              <a:gd name="connsiteY8" fmla="*/ 87847 h 5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27074">
                <a:moveTo>
                  <a:pt x="0" y="87847"/>
                </a:moveTo>
                <a:cubicBezTo>
                  <a:pt x="0" y="39330"/>
                  <a:pt x="39330" y="0"/>
                  <a:pt x="87847" y="0"/>
                </a:cubicBezTo>
                <a:lnTo>
                  <a:pt x="2957105" y="0"/>
                </a:lnTo>
                <a:cubicBezTo>
                  <a:pt x="3005622" y="0"/>
                  <a:pt x="3044952" y="39330"/>
                  <a:pt x="3044952" y="87847"/>
                </a:cubicBezTo>
                <a:lnTo>
                  <a:pt x="3044952" y="439227"/>
                </a:lnTo>
                <a:cubicBezTo>
                  <a:pt x="3044952" y="487744"/>
                  <a:pt x="3005622" y="527074"/>
                  <a:pt x="2957105" y="527074"/>
                </a:cubicBezTo>
                <a:lnTo>
                  <a:pt x="87847" y="527074"/>
                </a:lnTo>
                <a:cubicBezTo>
                  <a:pt x="39330" y="527074"/>
                  <a:pt x="0" y="487744"/>
                  <a:pt x="0" y="439227"/>
                </a:cubicBezTo>
                <a:lnTo>
                  <a:pt x="0" y="87847"/>
                </a:lnTo>
                <a:close/>
              </a:path>
            </a:pathLst>
          </a:custGeom>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690" tIns="56210" rIns="86690" bIns="56210" numCol="1" spcCol="1270" anchor="ctr" anchorCtr="0">
            <a:noAutofit/>
          </a:bodyPr>
          <a:lstStyle/>
          <a:p>
            <a:pPr lvl="0" algn="ctr" defTabSz="711200">
              <a:lnSpc>
                <a:spcPct val="90000"/>
              </a:lnSpc>
              <a:spcBef>
                <a:spcPct val="0"/>
              </a:spcBef>
              <a:spcAft>
                <a:spcPct val="35000"/>
              </a:spcAft>
            </a:pPr>
            <a:r>
              <a:rPr lang="ru-RU" sz="1600" b="1" i="0" dirty="0">
                <a:solidFill>
                  <a:srgbClr val="FFFFFF"/>
                </a:solidFill>
                <a:latin typeface="Arial" pitchFamily="34" charset="0"/>
                <a:cs typeface="Arial" pitchFamily="34" charset="0"/>
              </a:rPr>
              <a:t>Файл состояния памяти</a:t>
            </a:r>
          </a:p>
        </p:txBody>
      </p:sp>
      <p:sp>
        <p:nvSpPr>
          <p:cNvPr id="13" name="Freeform 12"/>
          <p:cNvSpPr/>
          <p:nvPr/>
        </p:nvSpPr>
        <p:spPr>
          <a:xfrm>
            <a:off x="3424364" y="3371549"/>
            <a:ext cx="5413249" cy="421660"/>
          </a:xfrm>
          <a:custGeom>
            <a:avLst/>
            <a:gdLst>
              <a:gd name="connsiteX0" fmla="*/ 70278 w 421659"/>
              <a:gd name="connsiteY0" fmla="*/ 0 h 5413248"/>
              <a:gd name="connsiteX1" fmla="*/ 351381 w 421659"/>
              <a:gd name="connsiteY1" fmla="*/ 0 h 5413248"/>
              <a:gd name="connsiteX2" fmla="*/ 421659 w 421659"/>
              <a:gd name="connsiteY2" fmla="*/ 70278 h 5413248"/>
              <a:gd name="connsiteX3" fmla="*/ 421659 w 421659"/>
              <a:gd name="connsiteY3" fmla="*/ 5413248 h 5413248"/>
              <a:gd name="connsiteX4" fmla="*/ 421659 w 421659"/>
              <a:gd name="connsiteY4" fmla="*/ 5413248 h 5413248"/>
              <a:gd name="connsiteX5" fmla="*/ 0 w 421659"/>
              <a:gd name="connsiteY5" fmla="*/ 5413248 h 5413248"/>
              <a:gd name="connsiteX6" fmla="*/ 0 w 421659"/>
              <a:gd name="connsiteY6" fmla="*/ 5413248 h 5413248"/>
              <a:gd name="connsiteX7" fmla="*/ 0 w 421659"/>
              <a:gd name="connsiteY7" fmla="*/ 70278 h 5413248"/>
              <a:gd name="connsiteX8" fmla="*/ 70278 w 42165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59" h="5413248">
                <a:moveTo>
                  <a:pt x="421659" y="902232"/>
                </a:moveTo>
                <a:lnTo>
                  <a:pt x="421659" y="4511016"/>
                </a:lnTo>
                <a:cubicBezTo>
                  <a:pt x="421659" y="5009296"/>
                  <a:pt x="419208" y="5413242"/>
                  <a:pt x="416185" y="5413242"/>
                </a:cubicBezTo>
                <a:lnTo>
                  <a:pt x="0" y="5413242"/>
                </a:lnTo>
                <a:lnTo>
                  <a:pt x="0" y="5413242"/>
                </a:lnTo>
                <a:lnTo>
                  <a:pt x="0" y="6"/>
                </a:lnTo>
                <a:lnTo>
                  <a:pt x="0" y="6"/>
                </a:lnTo>
                <a:lnTo>
                  <a:pt x="416185" y="6"/>
                </a:lnTo>
                <a:cubicBezTo>
                  <a:pt x="419208" y="6"/>
                  <a:pt x="421659" y="403952"/>
                  <a:pt x="421659" y="90223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4409" rIns="268234" bIns="144410" numCol="1" spcCol="1270" anchor="ctr" anchorCtr="0">
            <a:noAutofit/>
          </a:bodyPr>
          <a:lstStyle/>
          <a:p>
            <a:pPr marL="285750" lvl="1" indent="-285750" algn="l" defTabSz="622300">
              <a:lnSpc>
                <a:spcPct val="90000"/>
              </a:lnSpc>
              <a:spcBef>
                <a:spcPct val="0"/>
              </a:spcBef>
              <a:spcAft>
                <a:spcPct val="15000"/>
              </a:spcAft>
              <a:buFont typeface="Arial" panose="020B0604020202020204" pitchFamily="34" charset="0"/>
              <a:buChar char="•"/>
            </a:pPr>
            <a:r>
              <a:rPr lang="ru-RU" sz="1400" b="0" i="0" dirty="0">
                <a:solidFill>
                  <a:srgbClr val="000000"/>
                </a:solidFill>
                <a:latin typeface="Arial" pitchFamily="34" charset="0"/>
                <a:cs typeface="Arial" pitchFamily="34" charset="0"/>
              </a:rPr>
              <a:t>Хранит настройки ВМ и виртуальный диск ВМ</a:t>
            </a:r>
          </a:p>
        </p:txBody>
      </p:sp>
      <p:sp>
        <p:nvSpPr>
          <p:cNvPr id="14" name="Freeform 13"/>
          <p:cNvSpPr/>
          <p:nvPr/>
        </p:nvSpPr>
        <p:spPr>
          <a:xfrm>
            <a:off x="379413" y="3318841"/>
            <a:ext cx="3044952" cy="527074"/>
          </a:xfrm>
          <a:custGeom>
            <a:avLst/>
            <a:gdLst>
              <a:gd name="connsiteX0" fmla="*/ 0 w 3044952"/>
              <a:gd name="connsiteY0" fmla="*/ 87847 h 527074"/>
              <a:gd name="connsiteX1" fmla="*/ 87847 w 3044952"/>
              <a:gd name="connsiteY1" fmla="*/ 0 h 527074"/>
              <a:gd name="connsiteX2" fmla="*/ 2957105 w 3044952"/>
              <a:gd name="connsiteY2" fmla="*/ 0 h 527074"/>
              <a:gd name="connsiteX3" fmla="*/ 3044952 w 3044952"/>
              <a:gd name="connsiteY3" fmla="*/ 87847 h 527074"/>
              <a:gd name="connsiteX4" fmla="*/ 3044952 w 3044952"/>
              <a:gd name="connsiteY4" fmla="*/ 439227 h 527074"/>
              <a:gd name="connsiteX5" fmla="*/ 2957105 w 3044952"/>
              <a:gd name="connsiteY5" fmla="*/ 527074 h 527074"/>
              <a:gd name="connsiteX6" fmla="*/ 87847 w 3044952"/>
              <a:gd name="connsiteY6" fmla="*/ 527074 h 527074"/>
              <a:gd name="connsiteX7" fmla="*/ 0 w 3044952"/>
              <a:gd name="connsiteY7" fmla="*/ 439227 h 527074"/>
              <a:gd name="connsiteX8" fmla="*/ 0 w 3044952"/>
              <a:gd name="connsiteY8" fmla="*/ 87847 h 5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27074">
                <a:moveTo>
                  <a:pt x="0" y="87847"/>
                </a:moveTo>
                <a:cubicBezTo>
                  <a:pt x="0" y="39330"/>
                  <a:pt x="39330" y="0"/>
                  <a:pt x="87847" y="0"/>
                </a:cubicBezTo>
                <a:lnTo>
                  <a:pt x="2957105" y="0"/>
                </a:lnTo>
                <a:cubicBezTo>
                  <a:pt x="3005622" y="0"/>
                  <a:pt x="3044952" y="39330"/>
                  <a:pt x="3044952" y="87847"/>
                </a:cubicBezTo>
                <a:lnTo>
                  <a:pt x="3044952" y="439227"/>
                </a:lnTo>
                <a:cubicBezTo>
                  <a:pt x="3044952" y="487744"/>
                  <a:pt x="3005622" y="527074"/>
                  <a:pt x="2957105" y="527074"/>
                </a:cubicBezTo>
                <a:lnTo>
                  <a:pt x="87847" y="527074"/>
                </a:lnTo>
                <a:cubicBezTo>
                  <a:pt x="39330" y="527074"/>
                  <a:pt x="0" y="487744"/>
                  <a:pt x="0" y="439227"/>
                </a:cubicBezTo>
                <a:lnTo>
                  <a:pt x="0" y="87847"/>
                </a:lnTo>
                <a:close/>
              </a:path>
            </a:pathLst>
          </a:custGeom>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690" tIns="56210" rIns="86690" bIns="56210" numCol="1" spcCol="1270" anchor="ctr" anchorCtr="0">
            <a:noAutofit/>
          </a:bodyPr>
          <a:lstStyle/>
          <a:p>
            <a:pPr lvl="0" algn="ctr" defTabSz="711200">
              <a:lnSpc>
                <a:spcPct val="90000"/>
              </a:lnSpc>
              <a:spcBef>
                <a:spcPct val="0"/>
              </a:spcBef>
              <a:spcAft>
                <a:spcPct val="35000"/>
              </a:spcAft>
            </a:pPr>
            <a:r>
              <a:rPr lang="ru-RU" sz="1600" b="1" i="0" dirty="0">
                <a:solidFill>
                  <a:srgbClr val="FFFFFF"/>
                </a:solidFill>
                <a:latin typeface="Arial" pitchFamily="34" charset="0"/>
                <a:cs typeface="Arial" pitchFamily="34" charset="0"/>
              </a:rPr>
              <a:t>Файл моментального снимка</a:t>
            </a:r>
          </a:p>
        </p:txBody>
      </p:sp>
      <p:sp>
        <p:nvSpPr>
          <p:cNvPr id="15" name="Freeform 14"/>
          <p:cNvSpPr/>
          <p:nvPr/>
        </p:nvSpPr>
        <p:spPr>
          <a:xfrm>
            <a:off x="3424364" y="3924978"/>
            <a:ext cx="5413249" cy="421660"/>
          </a:xfrm>
          <a:custGeom>
            <a:avLst/>
            <a:gdLst>
              <a:gd name="connsiteX0" fmla="*/ 70278 w 421659"/>
              <a:gd name="connsiteY0" fmla="*/ 0 h 5413248"/>
              <a:gd name="connsiteX1" fmla="*/ 351381 w 421659"/>
              <a:gd name="connsiteY1" fmla="*/ 0 h 5413248"/>
              <a:gd name="connsiteX2" fmla="*/ 421659 w 421659"/>
              <a:gd name="connsiteY2" fmla="*/ 70278 h 5413248"/>
              <a:gd name="connsiteX3" fmla="*/ 421659 w 421659"/>
              <a:gd name="connsiteY3" fmla="*/ 5413248 h 5413248"/>
              <a:gd name="connsiteX4" fmla="*/ 421659 w 421659"/>
              <a:gd name="connsiteY4" fmla="*/ 5413248 h 5413248"/>
              <a:gd name="connsiteX5" fmla="*/ 0 w 421659"/>
              <a:gd name="connsiteY5" fmla="*/ 5413248 h 5413248"/>
              <a:gd name="connsiteX6" fmla="*/ 0 w 421659"/>
              <a:gd name="connsiteY6" fmla="*/ 5413248 h 5413248"/>
              <a:gd name="connsiteX7" fmla="*/ 0 w 421659"/>
              <a:gd name="connsiteY7" fmla="*/ 70278 h 5413248"/>
              <a:gd name="connsiteX8" fmla="*/ 70278 w 421659"/>
              <a:gd name="connsiteY8" fmla="*/ 0 h 541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659" h="5413248">
                <a:moveTo>
                  <a:pt x="421659" y="902232"/>
                </a:moveTo>
                <a:lnTo>
                  <a:pt x="421659" y="4511016"/>
                </a:lnTo>
                <a:cubicBezTo>
                  <a:pt x="421659" y="5009296"/>
                  <a:pt x="419208" y="5413242"/>
                  <a:pt x="416185" y="5413242"/>
                </a:cubicBezTo>
                <a:lnTo>
                  <a:pt x="0" y="5413242"/>
                </a:lnTo>
                <a:lnTo>
                  <a:pt x="0" y="5413242"/>
                </a:lnTo>
                <a:lnTo>
                  <a:pt x="0" y="6"/>
                </a:lnTo>
                <a:lnTo>
                  <a:pt x="0" y="6"/>
                </a:lnTo>
                <a:lnTo>
                  <a:pt x="416185" y="6"/>
                </a:lnTo>
                <a:cubicBezTo>
                  <a:pt x="419208" y="6"/>
                  <a:pt x="421659" y="403952"/>
                  <a:pt x="421659" y="90223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44409" rIns="268234" bIns="144410" numCol="1" spcCol="1270" anchor="ctr" anchorCtr="0">
            <a:noAutofit/>
          </a:bodyPr>
          <a:lstStyle/>
          <a:p>
            <a:pPr marL="285750" lvl="1" indent="-285750" algn="l" defTabSz="622300">
              <a:lnSpc>
                <a:spcPct val="90000"/>
              </a:lnSpc>
              <a:spcBef>
                <a:spcPct val="0"/>
              </a:spcBef>
              <a:spcAft>
                <a:spcPct val="15000"/>
              </a:spcAft>
              <a:buFont typeface="Arial" panose="020B0604020202020204" pitchFamily="34" charset="0"/>
              <a:buChar char="•"/>
            </a:pPr>
            <a:r>
              <a:rPr lang="ru-RU" sz="1400" b="0" i="0" dirty="0">
                <a:solidFill>
                  <a:srgbClr val="000000"/>
                </a:solidFill>
                <a:latin typeface="Arial" pitchFamily="34" charset="0"/>
                <a:cs typeface="Arial" pitchFamily="34" charset="0"/>
              </a:rPr>
              <a:t>Хранит журнал действий ВМ и используется при поиске и устранении неполадок</a:t>
            </a:r>
          </a:p>
        </p:txBody>
      </p:sp>
      <p:sp>
        <p:nvSpPr>
          <p:cNvPr id="16" name="Freeform 15"/>
          <p:cNvSpPr/>
          <p:nvPr/>
        </p:nvSpPr>
        <p:spPr>
          <a:xfrm>
            <a:off x="379413" y="3872269"/>
            <a:ext cx="3044952" cy="527074"/>
          </a:xfrm>
          <a:custGeom>
            <a:avLst/>
            <a:gdLst>
              <a:gd name="connsiteX0" fmla="*/ 0 w 3044952"/>
              <a:gd name="connsiteY0" fmla="*/ 87847 h 527074"/>
              <a:gd name="connsiteX1" fmla="*/ 87847 w 3044952"/>
              <a:gd name="connsiteY1" fmla="*/ 0 h 527074"/>
              <a:gd name="connsiteX2" fmla="*/ 2957105 w 3044952"/>
              <a:gd name="connsiteY2" fmla="*/ 0 h 527074"/>
              <a:gd name="connsiteX3" fmla="*/ 3044952 w 3044952"/>
              <a:gd name="connsiteY3" fmla="*/ 87847 h 527074"/>
              <a:gd name="connsiteX4" fmla="*/ 3044952 w 3044952"/>
              <a:gd name="connsiteY4" fmla="*/ 439227 h 527074"/>
              <a:gd name="connsiteX5" fmla="*/ 2957105 w 3044952"/>
              <a:gd name="connsiteY5" fmla="*/ 527074 h 527074"/>
              <a:gd name="connsiteX6" fmla="*/ 87847 w 3044952"/>
              <a:gd name="connsiteY6" fmla="*/ 527074 h 527074"/>
              <a:gd name="connsiteX7" fmla="*/ 0 w 3044952"/>
              <a:gd name="connsiteY7" fmla="*/ 439227 h 527074"/>
              <a:gd name="connsiteX8" fmla="*/ 0 w 3044952"/>
              <a:gd name="connsiteY8" fmla="*/ 87847 h 52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52" h="527074">
                <a:moveTo>
                  <a:pt x="0" y="87847"/>
                </a:moveTo>
                <a:cubicBezTo>
                  <a:pt x="0" y="39330"/>
                  <a:pt x="39330" y="0"/>
                  <a:pt x="87847" y="0"/>
                </a:cubicBezTo>
                <a:lnTo>
                  <a:pt x="2957105" y="0"/>
                </a:lnTo>
                <a:cubicBezTo>
                  <a:pt x="3005622" y="0"/>
                  <a:pt x="3044952" y="39330"/>
                  <a:pt x="3044952" y="87847"/>
                </a:cubicBezTo>
                <a:lnTo>
                  <a:pt x="3044952" y="439227"/>
                </a:lnTo>
                <a:cubicBezTo>
                  <a:pt x="3044952" y="487744"/>
                  <a:pt x="3005622" y="527074"/>
                  <a:pt x="2957105" y="527074"/>
                </a:cubicBezTo>
                <a:lnTo>
                  <a:pt x="87847" y="527074"/>
                </a:lnTo>
                <a:cubicBezTo>
                  <a:pt x="39330" y="527074"/>
                  <a:pt x="0" y="487744"/>
                  <a:pt x="0" y="439227"/>
                </a:cubicBezTo>
                <a:lnTo>
                  <a:pt x="0" y="87847"/>
                </a:lnTo>
                <a:close/>
              </a:path>
            </a:pathLst>
          </a:custGeom>
          <a:ln>
            <a:solidFill>
              <a:srgbClr val="FFFFF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690" tIns="56210" rIns="86690" bIns="56210" numCol="1" spcCol="1270" anchor="ctr" anchorCtr="0">
            <a:noAutofit/>
          </a:bodyPr>
          <a:lstStyle/>
          <a:p>
            <a:pPr lvl="0" algn="ctr" defTabSz="711200">
              <a:lnSpc>
                <a:spcPct val="90000"/>
              </a:lnSpc>
              <a:spcBef>
                <a:spcPct val="0"/>
              </a:spcBef>
              <a:spcAft>
                <a:spcPct val="35000"/>
              </a:spcAft>
            </a:pPr>
            <a:r>
              <a:rPr lang="ru-RU" sz="1600" b="1" i="0" dirty="0">
                <a:solidFill>
                  <a:srgbClr val="FFFFFF"/>
                </a:solidFill>
                <a:latin typeface="Arial" pitchFamily="34" charset="0"/>
                <a:cs typeface="Arial" pitchFamily="34" charset="0"/>
              </a:rPr>
              <a:t>Файл журнала</a:t>
            </a:r>
          </a:p>
        </p:txBody>
      </p:sp>
      <p:sp>
        <p:nvSpPr>
          <p:cNvPr id="17" name="TextBox 1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95902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виртуализация приложений?</a:t>
            </a:r>
          </a:p>
        </p:txBody>
      </p:sp>
      <p:sp>
        <p:nvSpPr>
          <p:cNvPr id="3" name="Content Placeholder 2"/>
          <p:cNvSpPr>
            <a:spLocks noGrp="1"/>
          </p:cNvSpPr>
          <p:nvPr>
            <p:ph sz="quarter" idx="10"/>
          </p:nvPr>
        </p:nvSpPr>
        <p:spPr>
          <a:xfrm>
            <a:off x="379414" y="2427734"/>
            <a:ext cx="8458200" cy="1991866"/>
          </a:xfrm>
        </p:spPr>
        <p:txBody>
          <a:bodyPr/>
          <a:lstStyle/>
          <a:p>
            <a:r>
              <a:rPr lang="ru-RU" sz="1600" b="0" i="0" dirty="0">
                <a:solidFill>
                  <a:srgbClr val="000000"/>
                </a:solidFill>
                <a:latin typeface="Arial" pitchFamily="34" charset="0"/>
                <a:cs typeface="Arial" pitchFamily="34" charset="0"/>
              </a:rPr>
              <a:t>Приложение либо поставляется из удаленной вычислительной системы, </a:t>
            </a:r>
            <a:br>
              <a:rPr lang="en-US" sz="1600" b="0" i="0" dirty="0">
                <a:solidFill>
                  <a:srgbClr val="FF00FF"/>
                </a:solidFill>
                <a:latin typeface="Arial" pitchFamily="34" charset="0"/>
                <a:cs typeface="Arial" pitchFamily="34" charset="0"/>
              </a:rPr>
            </a:br>
            <a:r>
              <a:rPr lang="ru-RU" sz="1600" b="0" i="0" dirty="0">
                <a:solidFill>
                  <a:srgbClr val="000000"/>
                </a:solidFill>
                <a:latin typeface="Arial" pitchFamily="34" charset="0"/>
                <a:cs typeface="Arial" pitchFamily="34" charset="0"/>
              </a:rPr>
              <a:t>либо инкапсулируется в виртуализированный контейнер</a:t>
            </a:r>
          </a:p>
          <a:p>
            <a:r>
              <a:rPr lang="ru-RU" sz="1600" b="0" i="0" dirty="0">
                <a:solidFill>
                  <a:srgbClr val="000000"/>
                </a:solidFill>
                <a:latin typeface="Arial" pitchFamily="34" charset="0"/>
                <a:cs typeface="Arial" pitchFamily="34" charset="0"/>
              </a:rPr>
              <a:t>Преимущества виртуализации приложений</a:t>
            </a:r>
          </a:p>
          <a:p>
            <a:pPr lvl="1"/>
            <a:r>
              <a:rPr lang="ru-RU" sz="1600" b="0" i="0" dirty="0">
                <a:solidFill>
                  <a:srgbClr val="000000"/>
                </a:solidFill>
                <a:latin typeface="Arial" pitchFamily="34" charset="0"/>
                <a:cs typeface="Arial" pitchFamily="34" charset="0"/>
              </a:rPr>
              <a:t>Упрощенное развертывание приложений и управление ими</a:t>
            </a:r>
          </a:p>
          <a:p>
            <a:pPr lvl="1"/>
            <a:r>
              <a:rPr lang="ru-RU" sz="1600" b="0" i="0" dirty="0">
                <a:solidFill>
                  <a:srgbClr val="000000"/>
                </a:solidFill>
                <a:latin typeface="Arial" pitchFamily="34" charset="0"/>
                <a:cs typeface="Arial" pitchFamily="34" charset="0"/>
              </a:rPr>
              <a:t>Исключение изменений ОС</a:t>
            </a:r>
          </a:p>
          <a:p>
            <a:pPr lvl="1"/>
            <a:r>
              <a:rPr lang="ru-RU" sz="1600" b="0" i="0" dirty="0">
                <a:solidFill>
                  <a:srgbClr val="000000"/>
                </a:solidFill>
                <a:latin typeface="Arial" pitchFamily="34" charset="0"/>
                <a:cs typeface="Arial" pitchFamily="34" charset="0"/>
              </a:rPr>
              <a:t>Разрешение конфликтов между приложениями и проблем совместимости</a:t>
            </a:r>
          </a:p>
          <a:p>
            <a:pPr lvl="1"/>
            <a:r>
              <a:rPr lang="ru-RU" sz="1600" b="0" i="0" dirty="0">
                <a:solidFill>
                  <a:srgbClr val="000000"/>
                </a:solidFill>
                <a:latin typeface="Arial" pitchFamily="34" charset="0"/>
                <a:cs typeface="Arial" pitchFamily="34" charset="0"/>
              </a:rPr>
              <a:t>Гибкость доступа к приложениям</a:t>
            </a:r>
          </a:p>
          <a:p>
            <a:pPr lvl="1"/>
            <a:endParaRPr lang="en-US" sz="1600" dirty="0">
              <a:latin typeface="Arial" pitchFamily="34" charset="0"/>
              <a:cs typeface="Arial" pitchFamily="34" charset="0"/>
            </a:endParaRPr>
          </a:p>
        </p:txBody>
      </p:sp>
      <p:grpSp>
        <p:nvGrpSpPr>
          <p:cNvPr id="5" name="Group 4"/>
          <p:cNvGrpSpPr/>
          <p:nvPr/>
        </p:nvGrpSpPr>
        <p:grpSpPr>
          <a:xfrm>
            <a:off x="334134" y="990000"/>
            <a:ext cx="8486338" cy="1293718"/>
            <a:chOff x="299409" y="798190"/>
            <a:chExt cx="8486338" cy="1293718"/>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170755" cy="109498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Метод отделения приложения от базовой вычислительной платформы</a:t>
              </a:r>
              <a:br>
                <a:rPr lang="en-US" sz="1600" b="0" i="0" dirty="0">
                  <a:solidFill>
                    <a:srgbClr val="FF00FF"/>
                  </a:solidFill>
                  <a:latin typeface="Arial" pitchFamily="34" charset="0"/>
                  <a:cs typeface="Arial" pitchFamily="34" charset="0"/>
                </a:rPr>
              </a:br>
              <a:r>
                <a:rPr lang="ru-RU" sz="1600" b="0" i="0" dirty="0">
                  <a:solidFill>
                    <a:srgbClr val="000000"/>
                  </a:solidFill>
                  <a:latin typeface="Arial" pitchFamily="34" charset="0"/>
                  <a:cs typeface="Arial" pitchFamily="34" charset="0"/>
                </a:rPr>
                <a:t>(ОС и оборудования), позволяющий использовать приложение в вычислительной системе без установки.</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Виртуализация приложений</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121042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Методы виртуализации приложений</a:t>
            </a:r>
          </a:p>
        </p:txBody>
      </p:sp>
      <p:sp>
        <p:nvSpPr>
          <p:cNvPr id="3" name="Content Placeholder 2"/>
          <p:cNvSpPr>
            <a:spLocks noGrp="1"/>
          </p:cNvSpPr>
          <p:nvPr>
            <p:ph sz="quarter" idx="10"/>
          </p:nvPr>
        </p:nvSpPr>
        <p:spPr>
          <a:xfrm>
            <a:off x="379414" y="819150"/>
            <a:ext cx="8458200" cy="3429000"/>
          </a:xfrm>
        </p:spPr>
        <p:txBody>
          <a:bodyPr/>
          <a:lstStyle/>
          <a:p>
            <a:r>
              <a:rPr lang="ru-RU" sz="1600" b="0" i="0" dirty="0">
                <a:solidFill>
                  <a:srgbClr val="000000"/>
                </a:solidFill>
                <a:latin typeface="Arial" pitchFamily="34" charset="0"/>
                <a:cs typeface="Arial" pitchFamily="34" charset="0"/>
              </a:rPr>
              <a:t>Инкапсуляция приложений</a:t>
            </a:r>
          </a:p>
          <a:p>
            <a:pPr lvl="1"/>
            <a:r>
              <a:rPr lang="ru-RU" sz="1400" b="0" i="0" dirty="0">
                <a:solidFill>
                  <a:srgbClr val="000000"/>
                </a:solidFill>
                <a:latin typeface="Arial" pitchFamily="34" charset="0"/>
                <a:cs typeface="Arial" pitchFamily="34" charset="0"/>
              </a:rPr>
              <a:t>Приложение преобразуется в автономный исполняемый пакет </a:t>
            </a:r>
          </a:p>
          <a:p>
            <a:pPr lvl="1"/>
            <a:r>
              <a:rPr lang="ru-RU" sz="1400" b="0" i="0" dirty="0">
                <a:solidFill>
                  <a:srgbClr val="000000"/>
                </a:solidFill>
                <a:latin typeface="Arial" pitchFamily="34" charset="0"/>
                <a:cs typeface="Arial" pitchFamily="34" charset="0"/>
              </a:rPr>
              <a:t>Пакеты приложений могут запускаться непосредственно с локального диска, </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USB или оптического диска</a:t>
            </a:r>
          </a:p>
          <a:p>
            <a:r>
              <a:rPr lang="ru-RU" sz="1600" b="0" i="0" dirty="0">
                <a:solidFill>
                  <a:srgbClr val="000000"/>
                </a:solidFill>
                <a:latin typeface="Arial" pitchFamily="34" charset="0"/>
                <a:cs typeface="Arial" pitchFamily="34" charset="0"/>
              </a:rPr>
              <a:t>Представление приложений</a:t>
            </a:r>
          </a:p>
          <a:p>
            <a:pPr lvl="1"/>
            <a:r>
              <a:rPr lang="ru-RU" sz="1400" b="0" i="0" dirty="0">
                <a:solidFill>
                  <a:srgbClr val="000000"/>
                </a:solidFill>
                <a:latin typeface="Arial" pitchFamily="34" charset="0"/>
                <a:cs typeface="Arial" pitchFamily="34" charset="0"/>
              </a:rPr>
              <a:t>Приложение размещается на сервере и исполняется удаленно, а данные интерфейса пользователя приложения передаются в клиент</a:t>
            </a:r>
          </a:p>
          <a:p>
            <a:pPr lvl="1"/>
            <a:r>
              <a:rPr lang="ru-RU" sz="1400" b="0" i="0" dirty="0">
                <a:solidFill>
                  <a:srgbClr val="000000"/>
                </a:solidFill>
                <a:latin typeface="Arial" pitchFamily="34" charset="0"/>
                <a:cs typeface="Arial" pitchFamily="34" charset="0"/>
              </a:rPr>
              <a:t>Локально установленный агент в клиенте управляет обменом информацией интерфейса пользователя с сессией удаленного приложения пользователя</a:t>
            </a:r>
          </a:p>
          <a:p>
            <a:r>
              <a:rPr lang="ru-RU" sz="1600" b="0" i="0" dirty="0">
                <a:solidFill>
                  <a:srgbClr val="000000"/>
                </a:solidFill>
                <a:latin typeface="Arial" pitchFamily="34" charset="0"/>
                <a:cs typeface="Arial" pitchFamily="34" charset="0"/>
              </a:rPr>
              <a:t>Потоковая передача приложений</a:t>
            </a:r>
          </a:p>
          <a:p>
            <a:pPr lvl="1"/>
            <a:r>
              <a:rPr lang="ru-RU" sz="1400" b="0" i="0" dirty="0">
                <a:solidFill>
                  <a:srgbClr val="000000"/>
                </a:solidFill>
                <a:latin typeface="Arial" pitchFamily="34" charset="0"/>
                <a:cs typeface="Arial" pitchFamily="34" charset="0"/>
              </a:rPr>
              <a:t>Данные определенного приложения передаются по частям клиентам для локального выполнения</a:t>
            </a:r>
          </a:p>
          <a:p>
            <a:pPr lvl="1"/>
            <a:r>
              <a:rPr lang="ru-RU" sz="1400" b="0" i="0" dirty="0">
                <a:solidFill>
                  <a:srgbClr val="000000"/>
                </a:solidFill>
                <a:latin typeface="Arial" pitchFamily="34" charset="0"/>
                <a:cs typeface="Arial" pitchFamily="34" charset="0"/>
              </a:rPr>
              <a:t>Необходим локально установленный агент, клиентское программное обеспечение или подключаемый модуль веб-браузера</a:t>
            </a:r>
          </a:p>
          <a:p>
            <a:pPr lvl="1"/>
            <a:endParaRPr lang="en-US" sz="1400" dirty="0">
              <a:latin typeface="Arial" pitchFamily="34" charset="0"/>
              <a:cs typeface="Arial" pitchFamily="34" charset="0"/>
            </a:endParaRPr>
          </a:p>
          <a:p>
            <a:endParaRPr lang="en-US" sz="1600"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124495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Что такое виртуализация рабочих мест?</a:t>
            </a:r>
          </a:p>
        </p:txBody>
      </p:sp>
      <p:sp>
        <p:nvSpPr>
          <p:cNvPr id="3" name="Content Placeholder 2"/>
          <p:cNvSpPr>
            <a:spLocks noGrp="1"/>
          </p:cNvSpPr>
          <p:nvPr>
            <p:ph sz="quarter" idx="10"/>
          </p:nvPr>
        </p:nvSpPr>
        <p:spPr>
          <a:xfrm>
            <a:off x="379414" y="2571750"/>
            <a:ext cx="8458200" cy="1919858"/>
          </a:xfrm>
        </p:spPr>
        <p:txBody>
          <a:bodyPr/>
          <a:lstStyle/>
          <a:p>
            <a:r>
              <a:rPr lang="ru-RU" sz="2000" b="0" i="0" dirty="0">
                <a:solidFill>
                  <a:srgbClr val="000000"/>
                </a:solidFill>
                <a:latin typeface="Arial" pitchFamily="34" charset="0"/>
                <a:cs typeface="Arial" pitchFamily="34" charset="0"/>
              </a:rPr>
              <a:t>Рабочие места размещаются на сервере и управляются централизованно</a:t>
            </a:r>
          </a:p>
          <a:p>
            <a:r>
              <a:rPr lang="ru-RU" sz="2000" b="0" i="0" dirty="0">
                <a:solidFill>
                  <a:srgbClr val="000000"/>
                </a:solidFill>
                <a:latin typeface="Arial" pitchFamily="34" charset="0"/>
                <a:cs typeface="Arial" pitchFamily="34" charset="0"/>
              </a:rPr>
              <a:t>Преимущества виртуализации рабочих мест:</a:t>
            </a:r>
          </a:p>
          <a:p>
            <a:pPr lvl="1"/>
            <a:r>
              <a:rPr lang="ru-RU" sz="1800" b="0" i="0" dirty="0">
                <a:solidFill>
                  <a:srgbClr val="000000"/>
                </a:solidFill>
                <a:latin typeface="Arial" pitchFamily="34" charset="0"/>
                <a:cs typeface="Arial" pitchFamily="34" charset="0"/>
              </a:rPr>
              <a:t>Упрощенное управление инфраструктурой рабочих мест</a:t>
            </a:r>
          </a:p>
          <a:p>
            <a:pPr lvl="1"/>
            <a:r>
              <a:rPr lang="ru-RU" sz="1800" b="0" i="0" dirty="0">
                <a:solidFill>
                  <a:srgbClr val="000000"/>
                </a:solidFill>
                <a:latin typeface="Arial" pitchFamily="34" charset="0"/>
                <a:cs typeface="Arial" pitchFamily="34" charset="0"/>
              </a:rPr>
              <a:t>Улучшенная защита данных и соответствие требованиям регуляторов</a:t>
            </a:r>
          </a:p>
          <a:p>
            <a:pPr lvl="1"/>
            <a:r>
              <a:rPr lang="ru-RU" sz="1800" b="0" i="0" dirty="0">
                <a:solidFill>
                  <a:srgbClr val="000000"/>
                </a:solidFill>
                <a:latin typeface="Arial" pitchFamily="34" charset="0"/>
                <a:cs typeface="Arial" pitchFamily="34" charset="0"/>
              </a:rPr>
              <a:t>Гибкость доступа</a:t>
            </a:r>
          </a:p>
        </p:txBody>
      </p:sp>
      <p:grpSp>
        <p:nvGrpSpPr>
          <p:cNvPr id="5" name="Group 4"/>
          <p:cNvGrpSpPr/>
          <p:nvPr/>
        </p:nvGrpSpPr>
        <p:grpSpPr>
          <a:xfrm>
            <a:off x="334134" y="990000"/>
            <a:ext cx="8486338" cy="1505550"/>
            <a:chOff x="299409" y="798190"/>
            <a:chExt cx="8486338" cy="1505550"/>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170755" cy="130682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Технология, отделяющая ОС, приложения и состояние пользователя от физической вычислительной системы с целью создания виртуальной инфраструктуры рабочих мест, к которой можно получать доступ с любого клиентского устройства.</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Виртуализация рабочих мест</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189049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Методы виртуализации рабочих мест</a:t>
            </a:r>
          </a:p>
        </p:txBody>
      </p:sp>
      <p:sp>
        <p:nvSpPr>
          <p:cNvPr id="8" name="TextBox 7"/>
          <p:cNvSpPr txBox="1"/>
          <p:nvPr/>
        </p:nvSpPr>
        <p:spPr>
          <a:xfrm>
            <a:off x="685800" y="987574"/>
            <a:ext cx="3707746" cy="338554"/>
          </a:xfrm>
          <a:prstGeom prst="rect">
            <a:avLst/>
          </a:prstGeom>
          <a:noFill/>
        </p:spPr>
        <p:txBody>
          <a:bodyPr wrap="none" rtlCol="0">
            <a:spAutoFit/>
          </a:bodyPr>
          <a:lstStyle/>
          <a:p>
            <a:pPr algn="ctr"/>
            <a:r>
              <a:rPr lang="ru-RU" sz="1600" b="1" i="0" dirty="0">
                <a:solidFill>
                  <a:srgbClr val="000000"/>
                </a:solidFill>
                <a:latin typeface="Arial" pitchFamily="34" charset="0"/>
                <a:cs typeface="Arial" pitchFamily="34" charset="0"/>
              </a:rPr>
              <a:t>Службы удаленных рабочих мест</a:t>
            </a:r>
          </a:p>
        </p:txBody>
      </p:sp>
      <p:sp>
        <p:nvSpPr>
          <p:cNvPr id="9" name="TextBox 8"/>
          <p:cNvSpPr txBox="1"/>
          <p:nvPr/>
        </p:nvSpPr>
        <p:spPr>
          <a:xfrm>
            <a:off x="4989379" y="987574"/>
            <a:ext cx="3316421" cy="584775"/>
          </a:xfrm>
          <a:prstGeom prst="rect">
            <a:avLst/>
          </a:prstGeom>
          <a:noFill/>
        </p:spPr>
        <p:txBody>
          <a:bodyPr wrap="none" rtlCol="0">
            <a:spAutoFit/>
          </a:bodyPr>
          <a:lstStyle/>
          <a:p>
            <a:pPr algn="ctr"/>
            <a:r>
              <a:rPr lang="ru-RU" sz="1600" b="1" i="0" dirty="0">
                <a:solidFill>
                  <a:srgbClr val="000000"/>
                </a:solidFill>
                <a:latin typeface="Arial" pitchFamily="34" charset="0"/>
                <a:cs typeface="Arial" pitchFamily="34" charset="0"/>
              </a:rPr>
              <a:t>Инфраструктура виртуальных</a:t>
            </a:r>
            <a:br>
              <a:rPr lang="en-US" sz="1600" b="1" i="0" dirty="0">
                <a:solidFill>
                  <a:srgbClr val="FF00FF"/>
                </a:solidFill>
                <a:latin typeface="Arial" pitchFamily="34" charset="0"/>
                <a:cs typeface="Arial" pitchFamily="34" charset="0"/>
              </a:rPr>
            </a:br>
            <a:r>
              <a:rPr lang="ru-RU" sz="1600" b="1" i="0" dirty="0">
                <a:solidFill>
                  <a:srgbClr val="000000"/>
                </a:solidFill>
                <a:latin typeface="Arial" pitchFamily="34" charset="0"/>
                <a:cs typeface="Arial" pitchFamily="34" charset="0"/>
              </a:rPr>
              <a:t>рабочих мест (VDI)</a:t>
            </a:r>
          </a:p>
        </p:txBody>
      </p:sp>
      <p:grpSp>
        <p:nvGrpSpPr>
          <p:cNvPr id="16" name="Group 15"/>
          <p:cNvGrpSpPr/>
          <p:nvPr/>
        </p:nvGrpSpPr>
        <p:grpSpPr>
          <a:xfrm>
            <a:off x="1498942" y="1582592"/>
            <a:ext cx="2052000" cy="2645342"/>
            <a:chOff x="1498942" y="1582592"/>
            <a:chExt cx="2052000" cy="2645342"/>
          </a:xfrm>
        </p:grpSpPr>
        <p:pic>
          <p:nvPicPr>
            <p:cNvPr id="6" name="Picture 29" descr="C:\Users\patils1\Desktop\2013 Projects\CIS v2\CIS Slide Deck_Based on Book\Colored Graphics\Physical Compute System.png"/>
            <p:cNvPicPr>
              <a:picLocks noChangeAspect="1" noChangeArrowheads="1"/>
            </p:cNvPicPr>
            <p:nvPr>
              <p:custDataLst>
                <p:tags r:id="rId12"/>
              </p:custDataLst>
            </p:nvPr>
          </p:nvPicPr>
          <p:blipFill>
            <a:blip r:embed="rId23">
              <a:extLst>
                <a:ext uri="{28A0092B-C50C-407E-A947-70E740481C1C}">
                  <a14:useLocalDpi xmlns:a14="http://schemas.microsoft.com/office/drawing/2010/main" val="0"/>
                </a:ext>
              </a:extLst>
            </a:blip>
            <a:srcRect/>
            <a:stretch>
              <a:fillRect/>
            </a:stretch>
          </p:blipFill>
          <p:spPr bwMode="auto">
            <a:xfrm>
              <a:off x="1498942" y="3766134"/>
              <a:ext cx="2052000" cy="4618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custDataLst>
                <p:tags r:id="rId13"/>
              </p:custDataLst>
            </p:nvPr>
          </p:nvSpPr>
          <p:spPr>
            <a:xfrm>
              <a:off x="1498942" y="3270276"/>
              <a:ext cx="648000" cy="453602"/>
            </a:xfrm>
            <a:prstGeom prst="rect">
              <a:avLst/>
            </a:prstGeom>
            <a:solidFill>
              <a:schemeClr val="accent1"/>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Сессия</a:t>
              </a:r>
            </a:p>
          </p:txBody>
        </p:sp>
        <p:sp>
          <p:nvSpPr>
            <p:cNvPr id="11" name="Rectangle 10"/>
            <p:cNvSpPr/>
            <p:nvPr>
              <p:custDataLst>
                <p:tags r:id="rId14"/>
              </p:custDataLst>
            </p:nvPr>
          </p:nvSpPr>
          <p:spPr>
            <a:xfrm>
              <a:off x="2210369" y="3270276"/>
              <a:ext cx="648000" cy="453602"/>
            </a:xfrm>
            <a:prstGeom prst="rect">
              <a:avLst/>
            </a:prstGeom>
            <a:solidFill>
              <a:schemeClr val="accent2">
                <a:lumMod val="60000"/>
                <a:lumOff val="4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Сессия</a:t>
              </a:r>
            </a:p>
          </p:txBody>
        </p:sp>
        <p:sp>
          <p:nvSpPr>
            <p:cNvPr id="12" name="Rectangle 11"/>
            <p:cNvSpPr/>
            <p:nvPr>
              <p:custDataLst>
                <p:tags r:id="rId15"/>
              </p:custDataLst>
            </p:nvPr>
          </p:nvSpPr>
          <p:spPr>
            <a:xfrm>
              <a:off x="2902942" y="3270276"/>
              <a:ext cx="648000" cy="453602"/>
            </a:xfrm>
            <a:prstGeom prst="rect">
              <a:avLst/>
            </a:prstGeom>
            <a:solidFill>
              <a:srgbClr val="B218BE"/>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Сессия</a:t>
              </a:r>
            </a:p>
          </p:txBody>
        </p:sp>
        <p:pic>
          <p:nvPicPr>
            <p:cNvPr id="13" name="Picture 38" descr="C:\Users\patils1\Desktop\2013 Projects\CIS v2\CIS Slide Deck_Based on Book\Colored Graphics\Thin Client.png"/>
            <p:cNvPicPr>
              <a:picLocks noChangeAspect="1" noChangeArrowheads="1"/>
            </p:cNvPicPr>
            <p:nvPr>
              <p:custDataLst>
                <p:tags r:id="rId16"/>
              </p:custDataLst>
            </p:nvPr>
          </p:nvPicPr>
          <p:blipFill>
            <a:blip r:embed="rId24">
              <a:extLst>
                <a:ext uri="{28A0092B-C50C-407E-A947-70E740481C1C}">
                  <a14:useLocalDpi xmlns:a14="http://schemas.microsoft.com/office/drawing/2010/main" val="0"/>
                </a:ext>
              </a:extLst>
            </a:blip>
            <a:srcRect/>
            <a:stretch>
              <a:fillRect/>
            </a:stretch>
          </p:blipFill>
          <p:spPr bwMode="auto">
            <a:xfrm>
              <a:off x="1644206" y="1834592"/>
              <a:ext cx="357472" cy="324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C:\Users\patils1\Desktop\2013 Projects\CIS v2\CIS Slide Deck_Based on Book\Colored Graphics\Client.png"/>
            <p:cNvPicPr>
              <a:picLocks noChangeAspect="1" noChangeArrowheads="1"/>
            </p:cNvPicPr>
            <p:nvPr>
              <p:custDataLst>
                <p:tags r:id="rId17"/>
              </p:custDataLst>
            </p:nvPr>
          </p:nvPicPr>
          <p:blipFill>
            <a:blip r:embed="rId25">
              <a:extLst>
                <a:ext uri="{28A0092B-C50C-407E-A947-70E740481C1C}">
                  <a14:useLocalDpi xmlns:a14="http://schemas.microsoft.com/office/drawing/2010/main" val="0"/>
                </a:ext>
              </a:extLst>
            </a:blip>
            <a:srcRect/>
            <a:stretch>
              <a:fillRect/>
            </a:stretch>
          </p:blipFill>
          <p:spPr bwMode="auto">
            <a:xfrm>
              <a:off x="2277397" y="1582592"/>
              <a:ext cx="513944" cy="576000"/>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a:stCxn id="13" idx="2"/>
              <a:endCxn id="24" idx="2"/>
            </p:cNvCxnSpPr>
            <p:nvPr/>
          </p:nvCxnSpPr>
          <p:spPr>
            <a:xfrm>
              <a:off x="1822942" y="2158592"/>
              <a:ext cx="714208" cy="844638"/>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4" idx="2"/>
              <a:endCxn id="11" idx="0"/>
            </p:cNvCxnSpPr>
            <p:nvPr/>
          </p:nvCxnSpPr>
          <p:spPr>
            <a:xfrm>
              <a:off x="2534369" y="2158592"/>
              <a:ext cx="0" cy="1111684"/>
            </a:xfrm>
            <a:prstGeom prst="line">
              <a:avLst/>
            </a:prstGeom>
            <a:ln w="25400" cmpd="sng">
              <a:solidFill>
                <a:schemeClr val="accent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1026" idx="2"/>
              <a:endCxn id="24" idx="2"/>
            </p:cNvCxnSpPr>
            <p:nvPr/>
          </p:nvCxnSpPr>
          <p:spPr>
            <a:xfrm flipH="1">
              <a:off x="2537150" y="2158592"/>
              <a:ext cx="689127" cy="844638"/>
            </a:xfrm>
            <a:prstGeom prst="line">
              <a:avLst/>
            </a:prstGeom>
            <a:ln w="25400" cmpd="sng">
              <a:solidFill>
                <a:srgbClr val="B218BE"/>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7" idx="0"/>
              <a:endCxn id="24" idx="2"/>
            </p:cNvCxnSpPr>
            <p:nvPr/>
          </p:nvCxnSpPr>
          <p:spPr>
            <a:xfrm flipV="1">
              <a:off x="1822942" y="3003230"/>
              <a:ext cx="714208" cy="267046"/>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4" idx="2"/>
              <a:endCxn id="12" idx="0"/>
            </p:cNvCxnSpPr>
            <p:nvPr/>
          </p:nvCxnSpPr>
          <p:spPr>
            <a:xfrm>
              <a:off x="2537150" y="3003230"/>
              <a:ext cx="689792" cy="267046"/>
            </a:xfrm>
            <a:prstGeom prst="line">
              <a:avLst/>
            </a:prstGeom>
            <a:ln w="25400" cmpd="sng">
              <a:solidFill>
                <a:srgbClr val="B218BE"/>
              </a:solidFill>
            </a:ln>
            <a:effectLst/>
          </p:spPr>
          <p:style>
            <a:lnRef idx="2">
              <a:schemeClr val="accent1"/>
            </a:lnRef>
            <a:fillRef idx="0">
              <a:schemeClr val="accent1"/>
            </a:fillRef>
            <a:effectRef idx="1">
              <a:schemeClr val="accent1"/>
            </a:effectRef>
            <a:fontRef idx="minor">
              <a:schemeClr val="tx1"/>
            </a:fontRef>
          </p:style>
        </p:cxnSp>
        <p:pic>
          <p:nvPicPr>
            <p:cNvPr id="24" name="Picture 3" descr="C:\Users\patils1\Desktop\2013 Projects\CIS v2\CIS Slide Deck_Based on Book\Colored Graphics\LAN-WAN.png"/>
            <p:cNvPicPr>
              <a:picLocks noChangeAspect="1" noChangeArrowheads="1"/>
            </p:cNvPicPr>
            <p:nvPr>
              <p:custDataLst>
                <p:tags r:id="rId18"/>
              </p:custDataLst>
            </p:nvPr>
          </p:nvPicPr>
          <p:blipFill>
            <a:blip r:embed="rId26">
              <a:extLst>
                <a:ext uri="{28A0092B-C50C-407E-A947-70E740481C1C}">
                  <a14:useLocalDpi xmlns:a14="http://schemas.microsoft.com/office/drawing/2010/main" val="0"/>
                </a:ext>
              </a:extLst>
            </a:blip>
            <a:srcRect/>
            <a:stretch>
              <a:fillRect/>
            </a:stretch>
          </p:blipFill>
          <p:spPr bwMode="auto">
            <a:xfrm>
              <a:off x="2147215" y="2500310"/>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p:cNvSpPr txBox="1"/>
            <p:nvPr>
              <p:custDataLst>
                <p:tags r:id="rId19"/>
              </p:custDataLst>
            </p:nvPr>
          </p:nvSpPr>
          <p:spPr>
            <a:xfrm>
              <a:off x="2209419" y="2644048"/>
              <a:ext cx="662361" cy="215444"/>
            </a:xfrm>
            <a:prstGeom prst="rect">
              <a:avLst/>
            </a:prstGeom>
            <a:noFill/>
          </p:spPr>
          <p:txBody>
            <a:bodyPr wrap="none" rtlCol="0">
              <a:spAutoFit/>
            </a:bodyPr>
            <a:lstStyle/>
            <a:p>
              <a:r>
                <a:rPr lang="ru-RU" sz="800" b="1" i="0" dirty="0">
                  <a:solidFill>
                    <a:srgbClr val="000000"/>
                  </a:solidFill>
                  <a:latin typeface="Arial" pitchFamily="34" charset="0"/>
                  <a:cs typeface="Arial" pitchFamily="34" charset="0"/>
                </a:rPr>
                <a:t>LAN/WAN</a:t>
              </a:r>
            </a:p>
          </p:txBody>
        </p:sp>
        <p:pic>
          <p:nvPicPr>
            <p:cNvPr id="1026" name="Picture 2" descr="C:\1_Projects\1_ISM\ISM V3\Modules PPT\Module 3\Images\laptop4.png"/>
            <p:cNvPicPr>
              <a:picLocks noChangeAspect="1" noChangeArrowheads="1"/>
            </p:cNvPicPr>
            <p:nvPr>
              <p:custDataLst>
                <p:tags r:id="rId20"/>
              </p:custDataLst>
            </p:nvPr>
          </p:nvPicPr>
          <p:blipFill>
            <a:blip r:embed="rId27">
              <a:extLst>
                <a:ext uri="{28A0092B-C50C-407E-A947-70E740481C1C}">
                  <a14:useLocalDpi xmlns:a14="http://schemas.microsoft.com/office/drawing/2010/main" val="0"/>
                </a:ext>
              </a:extLst>
            </a:blip>
            <a:srcRect/>
            <a:stretch>
              <a:fillRect/>
            </a:stretch>
          </p:blipFill>
          <p:spPr bwMode="auto">
            <a:xfrm>
              <a:off x="2967077" y="1705594"/>
              <a:ext cx="518400" cy="4529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p:cNvGrpSpPr/>
          <p:nvPr/>
        </p:nvGrpSpPr>
        <p:grpSpPr>
          <a:xfrm>
            <a:off x="5623943" y="1582592"/>
            <a:ext cx="2052001" cy="3005382"/>
            <a:chOff x="5623943" y="1582592"/>
            <a:chExt cx="2052001" cy="3005382"/>
          </a:xfrm>
        </p:grpSpPr>
        <p:pic>
          <p:nvPicPr>
            <p:cNvPr id="42" name="Picture 29" descr="C:\Users\patils1\Desktop\2013 Projects\CIS v2\CIS Slide Deck_Based on Book\Colored Graphics\Physical Compute System.png"/>
            <p:cNvPicPr>
              <a:picLocks noChangeAspect="1" noChangeArrowheads="1"/>
            </p:cNvPicPr>
            <p:nvPr>
              <p:custDataLst>
                <p:tags r:id="rId2"/>
              </p:custDataLst>
            </p:nvPr>
          </p:nvPicPr>
          <p:blipFill>
            <a:blip r:embed="rId23">
              <a:extLst>
                <a:ext uri="{28A0092B-C50C-407E-A947-70E740481C1C}">
                  <a14:useLocalDpi xmlns:a14="http://schemas.microsoft.com/office/drawing/2010/main" val="0"/>
                </a:ext>
              </a:extLst>
            </a:blip>
            <a:srcRect/>
            <a:stretch>
              <a:fillRect/>
            </a:stretch>
          </p:blipFill>
          <p:spPr bwMode="auto">
            <a:xfrm>
              <a:off x="5623944" y="4126174"/>
              <a:ext cx="2052000" cy="4618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8" descr="C:\Users\patils1\Desktop\2013 Projects\CIS v2\CIS Slide Deck_Based on Book\Colored Graphics\Thin Client.png"/>
            <p:cNvPicPr>
              <a:picLocks noChangeAspect="1" noChangeArrowheads="1"/>
            </p:cNvPicPr>
            <p:nvPr>
              <p:custDataLst>
                <p:tags r:id="rId3"/>
              </p:custDataLst>
            </p:nvPr>
          </p:nvPicPr>
          <p:blipFill>
            <a:blip r:embed="rId24">
              <a:extLst>
                <a:ext uri="{28A0092B-C50C-407E-A947-70E740481C1C}">
                  <a14:useLocalDpi xmlns:a14="http://schemas.microsoft.com/office/drawing/2010/main" val="0"/>
                </a:ext>
              </a:extLst>
            </a:blip>
            <a:srcRect/>
            <a:stretch>
              <a:fillRect/>
            </a:stretch>
          </p:blipFill>
          <p:spPr bwMode="auto">
            <a:xfrm>
              <a:off x="5769208" y="1834592"/>
              <a:ext cx="357472" cy="32400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C:\Users\patils1\Desktop\2013 Projects\CIS v2\CIS Slide Deck_Based on Book\Colored Graphics\Client.png"/>
            <p:cNvPicPr>
              <a:picLocks noChangeAspect="1" noChangeArrowheads="1"/>
            </p:cNvPicPr>
            <p:nvPr>
              <p:custDataLst>
                <p:tags r:id="rId4"/>
              </p:custDataLst>
            </p:nvPr>
          </p:nvPicPr>
          <p:blipFill>
            <a:blip r:embed="rId25">
              <a:extLst>
                <a:ext uri="{28A0092B-C50C-407E-A947-70E740481C1C}">
                  <a14:useLocalDpi xmlns:a14="http://schemas.microsoft.com/office/drawing/2010/main" val="0"/>
                </a:ext>
              </a:extLst>
            </a:blip>
            <a:srcRect/>
            <a:stretch>
              <a:fillRect/>
            </a:stretch>
          </p:blipFill>
          <p:spPr bwMode="auto">
            <a:xfrm>
              <a:off x="6411826" y="1582592"/>
              <a:ext cx="513944" cy="576000"/>
            </a:xfrm>
            <a:prstGeom prst="rect">
              <a:avLst/>
            </a:prstGeom>
            <a:noFill/>
            <a:extLst>
              <a:ext uri="{909E8E84-426E-40DD-AFC4-6F175D3DCCD1}">
                <a14:hiddenFill xmlns:a14="http://schemas.microsoft.com/office/drawing/2010/main">
                  <a:solidFill>
                    <a:srgbClr val="FFFFFF"/>
                  </a:solidFill>
                </a14:hiddenFill>
              </a:ext>
            </a:extLst>
          </p:spPr>
        </p:pic>
        <p:cxnSp>
          <p:nvCxnSpPr>
            <p:cNvPr id="50" name="Straight Connector 49"/>
            <p:cNvCxnSpPr>
              <a:stCxn id="47" idx="2"/>
              <a:endCxn id="55" idx="2"/>
            </p:cNvCxnSpPr>
            <p:nvPr/>
          </p:nvCxnSpPr>
          <p:spPr>
            <a:xfrm>
              <a:off x="5947944" y="2158592"/>
              <a:ext cx="714208" cy="844638"/>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48" idx="2"/>
              <a:endCxn id="58" idx="0"/>
            </p:cNvCxnSpPr>
            <p:nvPr/>
          </p:nvCxnSpPr>
          <p:spPr>
            <a:xfrm>
              <a:off x="6668798" y="2158592"/>
              <a:ext cx="0" cy="1471724"/>
            </a:xfrm>
            <a:prstGeom prst="line">
              <a:avLst/>
            </a:prstGeom>
            <a:ln w="25400" cmpd="sng">
              <a:solidFill>
                <a:schemeClr val="accent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40" idx="2"/>
              <a:endCxn id="55" idx="2"/>
            </p:cNvCxnSpPr>
            <p:nvPr/>
          </p:nvCxnSpPr>
          <p:spPr>
            <a:xfrm flipH="1">
              <a:off x="6662152" y="2158592"/>
              <a:ext cx="702223" cy="844638"/>
            </a:xfrm>
            <a:prstGeom prst="line">
              <a:avLst/>
            </a:prstGeom>
            <a:ln w="25400" cmpd="sng">
              <a:solidFill>
                <a:srgbClr val="B218BE"/>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57" idx="0"/>
              <a:endCxn id="55" idx="2"/>
            </p:cNvCxnSpPr>
            <p:nvPr/>
          </p:nvCxnSpPr>
          <p:spPr>
            <a:xfrm flipV="1">
              <a:off x="5838145" y="3003230"/>
              <a:ext cx="824007" cy="627086"/>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55" idx="2"/>
              <a:endCxn id="59" idx="0"/>
            </p:cNvCxnSpPr>
            <p:nvPr/>
          </p:nvCxnSpPr>
          <p:spPr>
            <a:xfrm>
              <a:off x="6662152" y="3003230"/>
              <a:ext cx="799591" cy="627086"/>
            </a:xfrm>
            <a:prstGeom prst="line">
              <a:avLst/>
            </a:prstGeom>
            <a:ln w="25400" cmpd="sng">
              <a:solidFill>
                <a:srgbClr val="B218BE"/>
              </a:solidFill>
            </a:ln>
            <a:effectLst/>
          </p:spPr>
          <p:style>
            <a:lnRef idx="2">
              <a:schemeClr val="accent1"/>
            </a:lnRef>
            <a:fillRef idx="0">
              <a:schemeClr val="accent1"/>
            </a:fillRef>
            <a:effectRef idx="1">
              <a:schemeClr val="accent1"/>
            </a:effectRef>
            <a:fontRef idx="minor">
              <a:schemeClr val="tx1"/>
            </a:fontRef>
          </p:style>
        </p:cxnSp>
        <p:pic>
          <p:nvPicPr>
            <p:cNvPr id="55" name="Picture 3" descr="C:\Users\patils1\Desktop\2013 Projects\CIS v2\CIS Slide Deck_Based on Book\Colored Graphics\LAN-WAN.png"/>
            <p:cNvPicPr>
              <a:picLocks noChangeAspect="1" noChangeArrowheads="1"/>
            </p:cNvPicPr>
            <p:nvPr>
              <p:custDataLst>
                <p:tags r:id="rId5"/>
              </p:custDataLst>
            </p:nvPr>
          </p:nvPicPr>
          <p:blipFill>
            <a:blip r:embed="rId26">
              <a:extLst>
                <a:ext uri="{28A0092B-C50C-407E-A947-70E740481C1C}">
                  <a14:useLocalDpi xmlns:a14="http://schemas.microsoft.com/office/drawing/2010/main" val="0"/>
                </a:ext>
              </a:extLst>
            </a:blip>
            <a:srcRect/>
            <a:stretch>
              <a:fillRect/>
            </a:stretch>
          </p:blipFill>
          <p:spPr bwMode="auto">
            <a:xfrm>
              <a:off x="6272217" y="2500310"/>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p:cNvSpPr txBox="1"/>
            <p:nvPr>
              <p:custDataLst>
                <p:tags r:id="rId6"/>
              </p:custDataLst>
            </p:nvPr>
          </p:nvSpPr>
          <p:spPr>
            <a:xfrm>
              <a:off x="6338514" y="2644048"/>
              <a:ext cx="662361" cy="215444"/>
            </a:xfrm>
            <a:prstGeom prst="rect">
              <a:avLst/>
            </a:prstGeom>
            <a:noFill/>
          </p:spPr>
          <p:txBody>
            <a:bodyPr wrap="none" rtlCol="0">
              <a:spAutoFit/>
            </a:bodyPr>
            <a:lstStyle/>
            <a:p>
              <a:r>
                <a:rPr lang="ru-RU" sz="800" b="1" i="0" dirty="0">
                  <a:solidFill>
                    <a:srgbClr val="000000"/>
                  </a:solidFill>
                  <a:latin typeface="Arial" pitchFamily="34" charset="0"/>
                  <a:cs typeface="Arial" pitchFamily="34" charset="0"/>
                </a:rPr>
                <a:t>LAN/WAN</a:t>
              </a:r>
            </a:p>
          </p:txBody>
        </p:sp>
        <p:pic>
          <p:nvPicPr>
            <p:cNvPr id="57" name="Picture 41" descr="C:\Users\patils1\Desktop\2013 Projects\CIS v2\CIS Slide Deck_Based on Book\Colored Graphics\Virtual Machine with Application and OS.png"/>
            <p:cNvPicPr>
              <a:picLocks noChangeAspect="1" noChangeArrowheads="1"/>
            </p:cNvPicPr>
            <p:nvPr>
              <p:custDataLst>
                <p:tags r:id="rId7"/>
              </p:custDataLst>
            </p:nvPr>
          </p:nvPicPr>
          <p:blipFill>
            <a:blip r:embed="rId28">
              <a:extLst>
                <a:ext uri="{28A0092B-C50C-407E-A947-70E740481C1C}">
                  <a14:useLocalDpi xmlns:a14="http://schemas.microsoft.com/office/drawing/2010/main" val="0"/>
                </a:ext>
              </a:extLst>
            </a:blip>
            <a:srcRect/>
            <a:stretch>
              <a:fillRect/>
            </a:stretch>
          </p:blipFill>
          <p:spPr bwMode="auto">
            <a:xfrm>
              <a:off x="5623944" y="3630316"/>
              <a:ext cx="428402" cy="453602"/>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1" descr="C:\Users\patils1\Desktop\2013 Projects\CIS v2\CIS Slide Deck_Based on Book\Colored Graphics\Virtual Machine with Application and OS.png"/>
            <p:cNvPicPr>
              <a:picLocks noChangeAspect="1" noChangeArrowheads="1"/>
            </p:cNvPicPr>
            <p:nvPr>
              <p:custDataLst>
                <p:tags r:id="rId8"/>
              </p:custDataLst>
            </p:nvPr>
          </p:nvPicPr>
          <p:blipFill>
            <a:blip r:embed="rId28">
              <a:extLst>
                <a:ext uri="{28A0092B-C50C-407E-A947-70E740481C1C}">
                  <a14:useLocalDpi xmlns:a14="http://schemas.microsoft.com/office/drawing/2010/main" val="0"/>
                </a:ext>
              </a:extLst>
            </a:blip>
            <a:srcRect/>
            <a:stretch>
              <a:fillRect/>
            </a:stretch>
          </p:blipFill>
          <p:spPr bwMode="auto">
            <a:xfrm>
              <a:off x="6454597" y="3630316"/>
              <a:ext cx="428402" cy="45360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1" descr="C:\Users\patils1\Desktop\2013 Projects\CIS v2\CIS Slide Deck_Based on Book\Colored Graphics\Virtual Machine with Application and OS.png"/>
            <p:cNvPicPr>
              <a:picLocks noChangeAspect="1" noChangeArrowheads="1"/>
            </p:cNvPicPr>
            <p:nvPr>
              <p:custDataLst>
                <p:tags r:id="rId9"/>
              </p:custDataLst>
            </p:nvPr>
          </p:nvPicPr>
          <p:blipFill>
            <a:blip r:embed="rId28">
              <a:extLst>
                <a:ext uri="{28A0092B-C50C-407E-A947-70E740481C1C}">
                  <a14:useLocalDpi xmlns:a14="http://schemas.microsoft.com/office/drawing/2010/main" val="0"/>
                </a:ext>
              </a:extLst>
            </a:blip>
            <a:srcRect/>
            <a:stretch>
              <a:fillRect/>
            </a:stretch>
          </p:blipFill>
          <p:spPr bwMode="auto">
            <a:xfrm>
              <a:off x="7247542" y="3630316"/>
              <a:ext cx="428402" cy="453602"/>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p:cNvSpPr/>
            <p:nvPr>
              <p:custDataLst>
                <p:tags r:id="rId10"/>
              </p:custDataLst>
            </p:nvPr>
          </p:nvSpPr>
          <p:spPr>
            <a:xfrm>
              <a:off x="5623943" y="3167498"/>
              <a:ext cx="2052001" cy="340025"/>
            </a:xfrm>
            <a:prstGeom prst="rect">
              <a:avLst/>
            </a:prstGeom>
            <a:solidFill>
              <a:srgbClr val="BA2C2C"/>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1100" b="1" i="0" dirty="0">
                  <a:solidFill>
                    <a:srgbClr val="FFFFFF"/>
                  </a:solidFill>
                  <a:latin typeface="Arial" pitchFamily="34" charset="0"/>
                  <a:cs typeface="Arial" pitchFamily="34" charset="0"/>
                </a:rPr>
                <a:t>Посредник подключений</a:t>
              </a:r>
            </a:p>
          </p:txBody>
        </p:sp>
        <p:pic>
          <p:nvPicPr>
            <p:cNvPr id="40" name="Picture 2" descr="C:\1_Projects\1_ISM\ISM V3\Modules PPT\Module 3\Images\laptop4.png"/>
            <p:cNvPicPr>
              <a:picLocks noChangeAspect="1" noChangeArrowheads="1"/>
            </p:cNvPicPr>
            <p:nvPr>
              <p:custDataLst>
                <p:tags r:id="rId11"/>
              </p:custDataLst>
            </p:nvPr>
          </p:nvPicPr>
          <p:blipFill>
            <a:blip r:embed="rId27">
              <a:extLst>
                <a:ext uri="{28A0092B-C50C-407E-A947-70E740481C1C}">
                  <a14:useLocalDpi xmlns:a14="http://schemas.microsoft.com/office/drawing/2010/main" val="0"/>
                </a:ext>
              </a:extLst>
            </a:blip>
            <a:srcRect/>
            <a:stretch>
              <a:fillRect/>
            </a:stretch>
          </p:blipFill>
          <p:spPr bwMode="auto">
            <a:xfrm>
              <a:off x="7105175" y="1705594"/>
              <a:ext cx="518400" cy="452998"/>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TextBox 3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640242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Сценарии использования для виртуализации приложений и рабочих мест</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859773859"/>
              </p:ext>
            </p:extLst>
          </p:nvPr>
        </p:nvGraphicFramePr>
        <p:xfrm>
          <a:off x="379413" y="1243206"/>
          <a:ext cx="8458200" cy="2900680"/>
        </p:xfrm>
        <a:graphic>
          <a:graphicData uri="http://schemas.openxmlformats.org/drawingml/2006/table">
            <a:tbl>
              <a:tblPr firstRow="1" bandRow="1">
                <a:tableStyleId>{5C22544A-7EE6-4342-B048-85BDC9FD1C3A}</a:tableStyleId>
              </a:tblPr>
              <a:tblGrid>
                <a:gridCol w="2464395">
                  <a:extLst>
                    <a:ext uri="{9D8B030D-6E8A-4147-A177-3AD203B41FA5}">
                      <a16:colId xmlns:a16="http://schemas.microsoft.com/office/drawing/2014/main" val="20000"/>
                    </a:ext>
                  </a:extLst>
                </a:gridCol>
                <a:gridCol w="5993805">
                  <a:extLst>
                    <a:ext uri="{9D8B030D-6E8A-4147-A177-3AD203B41FA5}">
                      <a16:colId xmlns:a16="http://schemas.microsoft.com/office/drawing/2014/main" val="20001"/>
                    </a:ext>
                  </a:extLst>
                </a:gridCol>
              </a:tblGrid>
              <a:tr h="370840">
                <a:tc>
                  <a:txBody>
                    <a:bodyPr/>
                    <a:lstStyle/>
                    <a:p>
                      <a:r>
                        <a:rPr lang="ru-RU" sz="1400" b="1" i="0" dirty="0">
                          <a:solidFill>
                            <a:srgbClr val="FFFFFF"/>
                          </a:solidFill>
                          <a:latin typeface="Arial" pitchFamily="34" charset="0"/>
                          <a:cs typeface="Arial" pitchFamily="34" charset="0"/>
                        </a:rPr>
                        <a:t>Сценарий использования</a:t>
                      </a:r>
                    </a:p>
                  </a:txBody>
                  <a:tcPr/>
                </a:tc>
                <a:tc>
                  <a:txBody>
                    <a:bodyPr/>
                    <a:lstStyle/>
                    <a:p>
                      <a:r>
                        <a:rPr lang="ru-RU" sz="14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400" b="0" i="0" dirty="0">
                          <a:solidFill>
                            <a:srgbClr val="000000"/>
                          </a:solidFill>
                          <a:latin typeface="Arial" pitchFamily="34" charset="0"/>
                          <a:cs typeface="Arial" pitchFamily="34" charset="0"/>
                        </a:rPr>
                        <a:t>Потоковая передача облачных приложений</a:t>
                      </a:r>
                    </a:p>
                  </a:txBody>
                  <a:tcPr/>
                </a:tc>
                <a:tc>
                  <a:txBody>
                    <a:bodyPr/>
                    <a:lstStyle/>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Потоковая передача приложений из облака на различные клиентские устройства</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Приложения гибко масштабируются в соответствии с ростом потребностей обработки и хранения данных</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Приложения можно доставлять на устройства, на которых они могут быть запущены по умолчанию</a:t>
                      </a:r>
                    </a:p>
                  </a:txBody>
                  <a:tcPr/>
                </a:tc>
                <a:extLst>
                  <a:ext uri="{0D108BD9-81ED-4DB2-BD59-A6C34878D82A}">
                    <a16:rowId xmlns:a16="http://schemas.microsoft.com/office/drawing/2014/main" val="10001"/>
                  </a:ext>
                </a:extLst>
              </a:tr>
              <a:tr h="370840">
                <a:tc>
                  <a:txBody>
                    <a:bodyPr/>
                    <a:lstStyle/>
                    <a:p>
                      <a:r>
                        <a:rPr lang="ru-RU" sz="1400" b="0" i="0" dirty="0">
                          <a:solidFill>
                            <a:srgbClr val="000000"/>
                          </a:solidFill>
                          <a:latin typeface="Arial" pitchFamily="34" charset="0"/>
                          <a:cs typeface="Arial" pitchFamily="34" charset="0"/>
                        </a:rPr>
                        <a:t>Рабочее место как услуга (DaaS)</a:t>
                      </a:r>
                    </a:p>
                  </a:txBody>
                  <a:tcPr/>
                </a:tc>
                <a:tc>
                  <a:txBody>
                    <a:bodyPr/>
                    <a:lstStyle/>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Облачная услуга, в рамках которой инфраструктура VDI размещается на сервере поставщика облачных услуг</a:t>
                      </a:r>
                    </a:p>
                    <a:p>
                      <a:pPr marL="285750" indent="-285750">
                        <a:buFont typeface="Arial" panose="020B0604020202020204" pitchFamily="34" charset="0"/>
                        <a:buChar char="•"/>
                      </a:pPr>
                      <a:r>
                        <a:rPr lang="ru-RU" sz="1400" b="0" i="0" dirty="0">
                          <a:solidFill>
                            <a:srgbClr val="000000"/>
                          </a:solidFill>
                          <a:latin typeface="Arial" pitchFamily="34" charset="0"/>
                          <a:cs typeface="Arial" pitchFamily="34" charset="0"/>
                        </a:rPr>
                        <a:t>Поставщик управляет обновлением VDI и ОС</a:t>
                      </a:r>
                    </a:p>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400" b="0" i="0" dirty="0">
                          <a:solidFill>
                            <a:srgbClr val="000000"/>
                          </a:solidFill>
                          <a:latin typeface="Arial" pitchFamily="34" charset="0"/>
                          <a:cs typeface="Arial" pitchFamily="34" charset="0"/>
                        </a:rPr>
                        <a:t>Обеспечивает экономию за счет сокращения капитальных и эксплуатационных затрат</a:t>
                      </a:r>
                    </a:p>
                  </a:txBody>
                  <a:tcPr/>
                </a:tc>
                <a:extLst>
                  <a:ext uri="{0D108BD9-81ED-4DB2-BD59-A6C34878D82A}">
                    <a16:rowId xmlns:a16="http://schemas.microsoft.com/office/drawing/2014/main" val="10002"/>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742868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Виртуализация вычислительных ресурсов</a:t>
            </a:r>
          </a:p>
          <a:p>
            <a:r>
              <a:rPr lang="ru-RU" sz="2000" b="0" i="0" dirty="0">
                <a:solidFill>
                  <a:srgbClr val="000000"/>
                </a:solidFill>
                <a:latin typeface="Arial" pitchFamily="34" charset="0"/>
                <a:cs typeface="Arial" pitchFamily="34" charset="0"/>
              </a:rPr>
              <a:t>Виртуализация приложений и используемые для этого методы</a:t>
            </a:r>
          </a:p>
          <a:p>
            <a:r>
              <a:rPr lang="ru-RU" sz="2000" b="0" i="0" dirty="0">
                <a:solidFill>
                  <a:srgbClr val="000000"/>
                </a:solidFill>
                <a:latin typeface="Arial" pitchFamily="34" charset="0"/>
                <a:cs typeface="Arial" pitchFamily="34" charset="0"/>
              </a:rPr>
              <a:t>Виртуализация рабочих мест и используемые для этого методы</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483221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Система хранения и возможности подключения</a:t>
            </a:r>
          </a:p>
        </p:txBody>
      </p:sp>
      <p:sp>
        <p:nvSpPr>
          <p:cNvPr id="5" name="Content Placeholder 4"/>
          <p:cNvSpPr>
            <a:spLocks noGrp="1"/>
          </p:cNvSpPr>
          <p:nvPr>
            <p:ph sz="quarter" idx="10"/>
          </p:nvPr>
        </p:nvSpPr>
        <p:spPr>
          <a:xfrm>
            <a:off x="533402" y="1504950"/>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Развитие архитектуры систем хранения</a:t>
            </a:r>
          </a:p>
          <a:p>
            <a:pPr>
              <a:defRPr/>
            </a:pPr>
            <a:r>
              <a:rPr lang="ru-RU" sz="2000" b="0" i="0" dirty="0">
                <a:solidFill>
                  <a:srgbClr val="000000"/>
                </a:solidFill>
                <a:latin typeface="Arial" pitchFamily="34" charset="0"/>
                <a:cs typeface="Arial" pitchFamily="34" charset="0"/>
              </a:rPr>
              <a:t>Типы устройств хранения данных</a:t>
            </a:r>
          </a:p>
          <a:p>
            <a:pPr>
              <a:defRPr/>
            </a:pPr>
            <a:r>
              <a:rPr lang="ru-RU" sz="2000" b="0" i="0" dirty="0">
                <a:solidFill>
                  <a:srgbClr val="000000"/>
                </a:solidFill>
                <a:latin typeface="Arial" pitchFamily="34" charset="0"/>
                <a:cs typeface="Arial" pitchFamily="34" charset="0"/>
              </a:rPr>
              <a:t>Возможности подключения вычислительной системы к вычислительной системе и к системе хранения</a:t>
            </a:r>
          </a:p>
          <a:p>
            <a:pPr>
              <a:defRPr/>
            </a:pPr>
            <a:r>
              <a:rPr lang="ru-RU" sz="2000" b="0" i="0" dirty="0">
                <a:solidFill>
                  <a:srgbClr val="000000"/>
                </a:solidFill>
                <a:latin typeface="Arial" pitchFamily="34" charset="0"/>
                <a:cs typeface="Arial" pitchFamily="34" charset="0"/>
              </a:rPr>
              <a:t>Протоколы подключения систем хранения</a:t>
            </a:r>
          </a:p>
          <a:p>
            <a:pPr>
              <a:defRPr/>
            </a:pPr>
            <a:endParaRPr lang="en-US" dirty="0">
              <a:latin typeface="Arial" pitchFamily="34" charset="0"/>
              <a:cs typeface="Arial" pitchFamily="34" charset="0"/>
            </a:endParaRPr>
          </a:p>
          <a:p>
            <a:pPr>
              <a:defRPr/>
            </a:pPr>
            <a:endParaRPr lang="en-US" dirty="0">
              <a:latin typeface="Arial" pitchFamily="34" charset="0"/>
              <a:cs typeface="Arial" pitchFamily="34" charset="0"/>
            </a:endParaRP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450612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4" y="118530"/>
            <a:ext cx="8458200" cy="457200"/>
          </a:xfrm>
        </p:spPr>
        <p:txBody>
          <a:bodyPr/>
          <a:lstStyle/>
          <a:p>
            <a:r>
              <a:rPr lang="ru-RU" sz="2800" b="0" i="0" dirty="0">
                <a:solidFill>
                  <a:srgbClr val="2C95DD"/>
                </a:solidFill>
                <a:latin typeface="Arial" pitchFamily="34" charset="0"/>
                <a:cs typeface="Arial" pitchFamily="34" charset="0"/>
              </a:rPr>
              <a:t>Развитие архитектуры систем хранения</a:t>
            </a:r>
          </a:p>
        </p:txBody>
      </p:sp>
      <p:sp>
        <p:nvSpPr>
          <p:cNvPr id="50" name="Subtitle 49"/>
          <p:cNvSpPr>
            <a:spLocks noGrp="1"/>
          </p:cNvSpPr>
          <p:nvPr>
            <p:ph type="subTitle" idx="1"/>
          </p:nvPr>
        </p:nvSpPr>
        <p:spPr>
          <a:xfrm>
            <a:off x="379413" y="592933"/>
            <a:ext cx="8449733" cy="302417"/>
          </a:xfrm>
        </p:spPr>
        <p:txBody>
          <a:bodyPr/>
          <a:lstStyle/>
          <a:p>
            <a:r>
              <a:rPr lang="ru-RU" sz="2000" b="0" i="0" dirty="0">
                <a:solidFill>
                  <a:srgbClr val="000000"/>
                </a:solidFill>
                <a:latin typeface="Arial" pitchFamily="34" charset="0"/>
                <a:cs typeface="Arial" pitchFamily="34" charset="0"/>
              </a:rPr>
              <a:t>Сервер-ориентированная архитектура систем хранения</a:t>
            </a:r>
          </a:p>
        </p:txBody>
      </p:sp>
      <p:grpSp>
        <p:nvGrpSpPr>
          <p:cNvPr id="6" name="Group 5"/>
          <p:cNvGrpSpPr/>
          <p:nvPr/>
        </p:nvGrpSpPr>
        <p:grpSpPr>
          <a:xfrm>
            <a:off x="1087659" y="1059582"/>
            <a:ext cx="7332441" cy="3613077"/>
            <a:chOff x="1087659" y="1059582"/>
            <a:chExt cx="7332441" cy="3613077"/>
          </a:xfrm>
        </p:grpSpPr>
        <p:cxnSp>
          <p:nvCxnSpPr>
            <p:cNvPr id="103" name="Straight Connector 102"/>
            <p:cNvCxnSpPr/>
            <p:nvPr/>
          </p:nvCxnSpPr>
          <p:spPr>
            <a:xfrm flipV="1">
              <a:off x="3880731" y="1815774"/>
              <a:ext cx="0" cy="234000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flipV="1">
              <a:off x="4145903" y="1815774"/>
              <a:ext cx="0" cy="234000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2208551" y="2987213"/>
              <a:ext cx="3604546"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8" name="Picture 6" descr="C:\Users\patils1\Desktop\2013 Projects\CIS v2\CIS Slide Deck_Based on Book\Colored Graphics\Client.png"/>
            <p:cNvPicPr>
              <a:picLocks noChangeAspect="1" noChangeArrowheads="1"/>
            </p:cNvPicPr>
            <p:nvPr>
              <p:custDataLst>
                <p:tags r:id="rId2"/>
              </p:custDataLst>
            </p:nvPr>
          </p:nvPicPr>
          <p:blipFill>
            <a:blip r:embed="rId28" cstate="print">
              <a:extLst>
                <a:ext uri="{28A0092B-C50C-407E-A947-70E740481C1C}">
                  <a14:useLocalDpi xmlns:a14="http://schemas.microsoft.com/office/drawing/2010/main" val="0"/>
                </a:ext>
              </a:extLst>
            </a:blip>
            <a:srcRect/>
            <a:stretch>
              <a:fillRect/>
            </a:stretch>
          </p:blipFill>
          <p:spPr bwMode="auto">
            <a:xfrm>
              <a:off x="1720403" y="2699213"/>
              <a:ext cx="513945" cy="576000"/>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Group 54"/>
            <p:cNvGrpSpPr/>
            <p:nvPr/>
          </p:nvGrpSpPr>
          <p:grpSpPr>
            <a:xfrm>
              <a:off x="6580740" y="1355628"/>
              <a:ext cx="1361802" cy="464516"/>
              <a:chOff x="5226422" y="3812566"/>
              <a:chExt cx="1361802" cy="464516"/>
            </a:xfrm>
          </p:grpSpPr>
          <p:cxnSp>
            <p:nvCxnSpPr>
              <p:cNvPr id="53" name="Straight Connector 52"/>
              <p:cNvCxnSpPr/>
              <p:nvPr/>
            </p:nvCxnSpPr>
            <p:spPr>
              <a:xfrm>
                <a:off x="5598693" y="4090368"/>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6021459"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6444224"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35" name="Picture 11" descr="C:\Users\patils1\Desktop\2013 Projects\CIS v2\CIS Slide Deck_Based on Book\Colored Graphics\Disk Drive.png"/>
              <p:cNvPicPr>
                <a:picLocks noChangeAspect="1" noChangeArrowheads="1"/>
              </p:cNvPicPr>
              <p:nvPr>
                <p:custDataLst>
                  <p:tags r:id="rId23"/>
                </p:custDataLst>
              </p:nvPr>
            </p:nvPicPr>
            <p:blipFill>
              <a:blip r:embed="rId29">
                <a:extLst>
                  <a:ext uri="{28A0092B-C50C-407E-A947-70E740481C1C}">
                    <a14:useLocalDpi xmlns:a14="http://schemas.microsoft.com/office/drawing/2010/main" val="0"/>
                  </a:ext>
                </a:extLst>
              </a:blip>
              <a:srcRect/>
              <a:stretch>
                <a:fillRect/>
              </a:stretch>
            </p:blipFill>
            <p:spPr bwMode="auto">
              <a:xfrm>
                <a:off x="5454693" y="3812566"/>
                <a:ext cx="288000" cy="288000"/>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Connector 36"/>
              <p:cNvCxnSpPr/>
              <p:nvPr/>
            </p:nvCxnSpPr>
            <p:spPr>
              <a:xfrm>
                <a:off x="5226422" y="4277082"/>
                <a:ext cx="1224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46" name="Picture 11" descr="C:\Users\patils1\Desktop\2013 Projects\CIS v2\CIS Slide Deck_Based on Book\Colored Graphics\Disk Drive.png"/>
              <p:cNvPicPr>
                <a:picLocks noChangeAspect="1" noChangeArrowheads="1"/>
              </p:cNvPicPr>
              <p:nvPr>
                <p:custDataLst>
                  <p:tags r:id="rId24"/>
                </p:custDataLst>
              </p:nvPr>
            </p:nvPicPr>
            <p:blipFill>
              <a:blip r:embed="rId29">
                <a:extLst>
                  <a:ext uri="{28A0092B-C50C-407E-A947-70E740481C1C}">
                    <a14:useLocalDpi xmlns:a14="http://schemas.microsoft.com/office/drawing/2010/main" val="0"/>
                  </a:ext>
                </a:extLst>
              </a:blip>
              <a:srcRect/>
              <a:stretch>
                <a:fillRect/>
              </a:stretch>
            </p:blipFill>
            <p:spPr bwMode="auto">
              <a:xfrm>
                <a:off x="5877459" y="3812566"/>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1" descr="C:\Users\patils1\Desktop\2013 Projects\CIS v2\CIS Slide Deck_Based on Book\Colored Graphics\Disk Drive.png"/>
              <p:cNvPicPr>
                <a:picLocks noChangeAspect="1" noChangeArrowheads="1"/>
              </p:cNvPicPr>
              <p:nvPr>
                <p:custDataLst>
                  <p:tags r:id="rId25"/>
                </p:custDataLst>
              </p:nvPr>
            </p:nvPicPr>
            <p:blipFill>
              <a:blip r:embed="rId29">
                <a:extLst>
                  <a:ext uri="{28A0092B-C50C-407E-A947-70E740481C1C}">
                    <a14:useLocalDpi xmlns:a14="http://schemas.microsoft.com/office/drawing/2010/main" val="0"/>
                  </a:ext>
                </a:extLst>
              </a:blip>
              <a:srcRect/>
              <a:stretch>
                <a:fillRect/>
              </a:stretch>
            </p:blipFill>
            <p:spPr bwMode="auto">
              <a:xfrm>
                <a:off x="6300224" y="3812566"/>
                <a:ext cx="288000" cy="288000"/>
              </a:xfrm>
              <a:prstGeom prst="rect">
                <a:avLst/>
              </a:prstGeom>
              <a:noFill/>
              <a:extLst>
                <a:ext uri="{909E8E84-426E-40DD-AFC4-6F175D3DCCD1}">
                  <a14:hiddenFill xmlns:a14="http://schemas.microsoft.com/office/drawing/2010/main">
                    <a:solidFill>
                      <a:srgbClr val="FFFFFF"/>
                    </a:solidFill>
                  </a14:hiddenFill>
                </a:ext>
              </a:extLst>
            </p:spPr>
          </p:pic>
        </p:grpSp>
        <p:pic>
          <p:nvPicPr>
            <p:cNvPr id="22" name="Picture 29" descr="C:\Users\patils1\Desktop\2013 Projects\CIS v2\CIS Slide Deck_Based on Book\Colored Graphics\Physical Compute System.png"/>
            <p:cNvPicPr>
              <a:picLocks noChangeAspect="1" noChangeArrowheads="1"/>
            </p:cNvPicPr>
            <p:nvPr>
              <p:custDataLst>
                <p:tags r:id="rId3"/>
              </p:custDataLst>
            </p:nvPr>
          </p:nvPicPr>
          <p:blipFill>
            <a:blip r:embed="rId30">
              <a:extLst>
                <a:ext uri="{28A0092B-C50C-407E-A947-70E740481C1C}">
                  <a14:useLocalDpi xmlns:a14="http://schemas.microsoft.com/office/drawing/2010/main" val="0"/>
                </a:ext>
              </a:extLst>
            </a:blip>
            <a:srcRect/>
            <a:stretch>
              <a:fillRect/>
            </a:stretch>
          </p:blipFill>
          <p:spPr bwMode="auto">
            <a:xfrm>
              <a:off x="5813097" y="1714988"/>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60" name="Text Box 38"/>
            <p:cNvSpPr txBox="1">
              <a:spLocks noChangeArrowheads="1"/>
            </p:cNvSpPr>
            <p:nvPr>
              <p:custDataLst>
                <p:tags r:id="rId4"/>
              </p:custDataLst>
            </p:nvPr>
          </p:nvSpPr>
          <p:spPr bwMode="auto">
            <a:xfrm>
              <a:off x="6350303" y="1059582"/>
              <a:ext cx="2069797"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Устройства хранения данных</a:t>
              </a:r>
            </a:p>
          </p:txBody>
        </p:sp>
        <p:sp>
          <p:nvSpPr>
            <p:cNvPr id="61" name="Text Box 38"/>
            <p:cNvSpPr txBox="1">
              <a:spLocks noChangeArrowheads="1"/>
            </p:cNvSpPr>
            <p:nvPr>
              <p:custDataLst>
                <p:tags r:id="rId5"/>
              </p:custDataLst>
            </p:nvPr>
          </p:nvSpPr>
          <p:spPr bwMode="auto">
            <a:xfrm>
              <a:off x="5457442" y="1923678"/>
              <a:ext cx="1648208"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Сервер отдела продаж</a:t>
              </a:r>
            </a:p>
          </p:txBody>
        </p:sp>
        <p:grpSp>
          <p:nvGrpSpPr>
            <p:cNvPr id="62" name="Group 61"/>
            <p:cNvGrpSpPr/>
            <p:nvPr/>
          </p:nvGrpSpPr>
          <p:grpSpPr>
            <a:xfrm>
              <a:off x="6580740" y="2522697"/>
              <a:ext cx="1361802" cy="464516"/>
              <a:chOff x="5226422" y="3812566"/>
              <a:chExt cx="1361802" cy="464516"/>
            </a:xfrm>
          </p:grpSpPr>
          <p:cxnSp>
            <p:nvCxnSpPr>
              <p:cNvPr id="63" name="Straight Connector 62"/>
              <p:cNvCxnSpPr/>
              <p:nvPr/>
            </p:nvCxnSpPr>
            <p:spPr>
              <a:xfrm>
                <a:off x="5598693" y="4090368"/>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a:off x="6021459"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6444224"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66" name="Picture 11" descr="C:\Users\patils1\Desktop\2013 Projects\CIS v2\CIS Slide Deck_Based on Book\Colored Graphics\Disk Drive.png"/>
              <p:cNvPicPr>
                <a:picLocks noChangeAspect="1" noChangeArrowheads="1"/>
              </p:cNvPicPr>
              <p:nvPr>
                <p:custDataLst>
                  <p:tags r:id="rId20"/>
                </p:custDataLst>
              </p:nvPr>
            </p:nvPicPr>
            <p:blipFill>
              <a:blip r:embed="rId29">
                <a:extLst>
                  <a:ext uri="{28A0092B-C50C-407E-A947-70E740481C1C}">
                    <a14:useLocalDpi xmlns:a14="http://schemas.microsoft.com/office/drawing/2010/main" val="0"/>
                  </a:ext>
                </a:extLst>
              </a:blip>
              <a:srcRect/>
              <a:stretch>
                <a:fillRect/>
              </a:stretch>
            </p:blipFill>
            <p:spPr bwMode="auto">
              <a:xfrm>
                <a:off x="5454693" y="3812566"/>
                <a:ext cx="288000" cy="288000"/>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Connector 66"/>
              <p:cNvCxnSpPr/>
              <p:nvPr/>
            </p:nvCxnSpPr>
            <p:spPr>
              <a:xfrm>
                <a:off x="5226422" y="4277082"/>
                <a:ext cx="1224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68" name="Picture 11" descr="C:\Users\patils1\Desktop\2013 Projects\CIS v2\CIS Slide Deck_Based on Book\Colored Graphics\Disk Drive.png"/>
              <p:cNvPicPr>
                <a:picLocks noChangeAspect="1" noChangeArrowheads="1"/>
              </p:cNvPicPr>
              <p:nvPr>
                <p:custDataLst>
                  <p:tags r:id="rId21"/>
                </p:custDataLst>
              </p:nvPr>
            </p:nvPicPr>
            <p:blipFill>
              <a:blip r:embed="rId29">
                <a:extLst>
                  <a:ext uri="{28A0092B-C50C-407E-A947-70E740481C1C}">
                    <a14:useLocalDpi xmlns:a14="http://schemas.microsoft.com/office/drawing/2010/main" val="0"/>
                  </a:ext>
                </a:extLst>
              </a:blip>
              <a:srcRect/>
              <a:stretch>
                <a:fillRect/>
              </a:stretch>
            </p:blipFill>
            <p:spPr bwMode="auto">
              <a:xfrm>
                <a:off x="5877459" y="3812566"/>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1" descr="C:\Users\patils1\Desktop\2013 Projects\CIS v2\CIS Slide Deck_Based on Book\Colored Graphics\Disk Drive.png"/>
              <p:cNvPicPr>
                <a:picLocks noChangeAspect="1" noChangeArrowheads="1"/>
              </p:cNvPicPr>
              <p:nvPr>
                <p:custDataLst>
                  <p:tags r:id="rId22"/>
                </p:custDataLst>
              </p:nvPr>
            </p:nvPicPr>
            <p:blipFill>
              <a:blip r:embed="rId29">
                <a:extLst>
                  <a:ext uri="{28A0092B-C50C-407E-A947-70E740481C1C}">
                    <a14:useLocalDpi xmlns:a14="http://schemas.microsoft.com/office/drawing/2010/main" val="0"/>
                  </a:ext>
                </a:extLst>
              </a:blip>
              <a:srcRect/>
              <a:stretch>
                <a:fillRect/>
              </a:stretch>
            </p:blipFill>
            <p:spPr bwMode="auto">
              <a:xfrm>
                <a:off x="6300224" y="3812566"/>
                <a:ext cx="288000" cy="288000"/>
              </a:xfrm>
              <a:prstGeom prst="rect">
                <a:avLst/>
              </a:prstGeom>
              <a:noFill/>
              <a:extLst>
                <a:ext uri="{909E8E84-426E-40DD-AFC4-6F175D3DCCD1}">
                  <a14:hiddenFill xmlns:a14="http://schemas.microsoft.com/office/drawing/2010/main">
                    <a:solidFill>
                      <a:srgbClr val="FFFFFF"/>
                    </a:solidFill>
                  </a14:hiddenFill>
                </a:ext>
              </a:extLst>
            </p:spPr>
          </p:pic>
        </p:grpSp>
        <p:pic>
          <p:nvPicPr>
            <p:cNvPr id="70" name="Picture 29" descr="C:\Users\patils1\Desktop\2013 Projects\CIS v2\CIS Slide Deck_Based on Book\Colored Graphics\Physical Compute System.png"/>
            <p:cNvPicPr>
              <a:picLocks noChangeAspect="1" noChangeArrowheads="1"/>
            </p:cNvPicPr>
            <p:nvPr>
              <p:custDataLst>
                <p:tags r:id="rId6"/>
              </p:custDataLst>
            </p:nvPr>
          </p:nvPicPr>
          <p:blipFill>
            <a:blip r:embed="rId30">
              <a:extLst>
                <a:ext uri="{28A0092B-C50C-407E-A947-70E740481C1C}">
                  <a14:useLocalDpi xmlns:a14="http://schemas.microsoft.com/office/drawing/2010/main" val="0"/>
                </a:ext>
              </a:extLst>
            </a:blip>
            <a:srcRect/>
            <a:stretch>
              <a:fillRect/>
            </a:stretch>
          </p:blipFill>
          <p:spPr bwMode="auto">
            <a:xfrm>
              <a:off x="5813097" y="2882057"/>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71" name="Text Box 38"/>
            <p:cNvSpPr txBox="1">
              <a:spLocks noChangeArrowheads="1"/>
            </p:cNvSpPr>
            <p:nvPr>
              <p:custDataLst>
                <p:tags r:id="rId7"/>
              </p:custDataLst>
            </p:nvPr>
          </p:nvSpPr>
          <p:spPr bwMode="auto">
            <a:xfrm>
              <a:off x="6350303" y="2226651"/>
              <a:ext cx="2069797"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Устройства хранения данных</a:t>
              </a:r>
            </a:p>
          </p:txBody>
        </p:sp>
        <p:sp>
          <p:nvSpPr>
            <p:cNvPr id="72" name="Text Box 38"/>
            <p:cNvSpPr txBox="1">
              <a:spLocks noChangeArrowheads="1"/>
            </p:cNvSpPr>
            <p:nvPr>
              <p:custDataLst>
                <p:tags r:id="rId8"/>
              </p:custDataLst>
            </p:nvPr>
          </p:nvSpPr>
          <p:spPr bwMode="auto">
            <a:xfrm>
              <a:off x="5272839" y="3113203"/>
              <a:ext cx="2023311"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Сервер финансового отдела</a:t>
              </a:r>
            </a:p>
          </p:txBody>
        </p:sp>
        <p:grpSp>
          <p:nvGrpSpPr>
            <p:cNvPr id="73" name="Group 72"/>
            <p:cNvGrpSpPr/>
            <p:nvPr/>
          </p:nvGrpSpPr>
          <p:grpSpPr>
            <a:xfrm>
              <a:off x="6580740" y="3689767"/>
              <a:ext cx="1361802" cy="464516"/>
              <a:chOff x="5226422" y="3812566"/>
              <a:chExt cx="1361802" cy="464516"/>
            </a:xfrm>
          </p:grpSpPr>
          <p:cxnSp>
            <p:nvCxnSpPr>
              <p:cNvPr id="74" name="Straight Connector 73"/>
              <p:cNvCxnSpPr/>
              <p:nvPr/>
            </p:nvCxnSpPr>
            <p:spPr>
              <a:xfrm>
                <a:off x="5598693" y="4090368"/>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6021459"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6444224" y="4093303"/>
                <a:ext cx="0" cy="18000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77" name="Picture 11" descr="C:\Users\patils1\Desktop\2013 Projects\CIS v2\CIS Slide Deck_Based on Book\Colored Graphics\Disk Drive.png"/>
              <p:cNvPicPr>
                <a:picLocks noChangeAspect="1" noChangeArrowheads="1"/>
              </p:cNvPicPr>
              <p:nvPr>
                <p:custDataLst>
                  <p:tags r:id="rId17"/>
                </p:custDataLst>
              </p:nvPr>
            </p:nvPicPr>
            <p:blipFill>
              <a:blip r:embed="rId29">
                <a:extLst>
                  <a:ext uri="{28A0092B-C50C-407E-A947-70E740481C1C}">
                    <a14:useLocalDpi xmlns:a14="http://schemas.microsoft.com/office/drawing/2010/main" val="0"/>
                  </a:ext>
                </a:extLst>
              </a:blip>
              <a:srcRect/>
              <a:stretch>
                <a:fillRect/>
              </a:stretch>
            </p:blipFill>
            <p:spPr bwMode="auto">
              <a:xfrm>
                <a:off x="5454693" y="3812566"/>
                <a:ext cx="288000" cy="288000"/>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Connector 77"/>
              <p:cNvCxnSpPr/>
              <p:nvPr/>
            </p:nvCxnSpPr>
            <p:spPr>
              <a:xfrm>
                <a:off x="5226422" y="4277082"/>
                <a:ext cx="1224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79" name="Picture 11" descr="C:\Users\patils1\Desktop\2013 Projects\CIS v2\CIS Slide Deck_Based on Book\Colored Graphics\Disk Drive.png"/>
              <p:cNvPicPr>
                <a:picLocks noChangeAspect="1" noChangeArrowheads="1"/>
              </p:cNvPicPr>
              <p:nvPr>
                <p:custDataLst>
                  <p:tags r:id="rId18"/>
                </p:custDataLst>
              </p:nvPr>
            </p:nvPicPr>
            <p:blipFill>
              <a:blip r:embed="rId29">
                <a:extLst>
                  <a:ext uri="{28A0092B-C50C-407E-A947-70E740481C1C}">
                    <a14:useLocalDpi xmlns:a14="http://schemas.microsoft.com/office/drawing/2010/main" val="0"/>
                  </a:ext>
                </a:extLst>
              </a:blip>
              <a:srcRect/>
              <a:stretch>
                <a:fillRect/>
              </a:stretch>
            </p:blipFill>
            <p:spPr bwMode="auto">
              <a:xfrm>
                <a:off x="5877459" y="3812566"/>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11" descr="C:\Users\patils1\Desktop\2013 Projects\CIS v2\CIS Slide Deck_Based on Book\Colored Graphics\Disk Drive.png"/>
              <p:cNvPicPr>
                <a:picLocks noChangeAspect="1" noChangeArrowheads="1"/>
              </p:cNvPicPr>
              <p:nvPr>
                <p:custDataLst>
                  <p:tags r:id="rId19"/>
                </p:custDataLst>
              </p:nvPr>
            </p:nvPicPr>
            <p:blipFill>
              <a:blip r:embed="rId29">
                <a:extLst>
                  <a:ext uri="{28A0092B-C50C-407E-A947-70E740481C1C}">
                    <a14:useLocalDpi xmlns:a14="http://schemas.microsoft.com/office/drawing/2010/main" val="0"/>
                  </a:ext>
                </a:extLst>
              </a:blip>
              <a:srcRect/>
              <a:stretch>
                <a:fillRect/>
              </a:stretch>
            </p:blipFill>
            <p:spPr bwMode="auto">
              <a:xfrm>
                <a:off x="6300224" y="3812566"/>
                <a:ext cx="288000" cy="288000"/>
              </a:xfrm>
              <a:prstGeom prst="rect">
                <a:avLst/>
              </a:prstGeom>
              <a:noFill/>
              <a:extLst>
                <a:ext uri="{909E8E84-426E-40DD-AFC4-6F175D3DCCD1}">
                  <a14:hiddenFill xmlns:a14="http://schemas.microsoft.com/office/drawing/2010/main">
                    <a:solidFill>
                      <a:srgbClr val="FFFFFF"/>
                    </a:solidFill>
                  </a14:hiddenFill>
                </a:ext>
              </a:extLst>
            </p:spPr>
          </p:pic>
        </p:grpSp>
        <p:pic>
          <p:nvPicPr>
            <p:cNvPr id="81" name="Picture 29" descr="C:\Users\patils1\Desktop\2013 Projects\CIS v2\CIS Slide Deck_Based on Book\Colored Graphics\Physical Compute System.png"/>
            <p:cNvPicPr>
              <a:picLocks noChangeAspect="1" noChangeArrowheads="1"/>
            </p:cNvPicPr>
            <p:nvPr>
              <p:custDataLst>
                <p:tags r:id="rId9"/>
              </p:custDataLst>
            </p:nvPr>
          </p:nvPicPr>
          <p:blipFill>
            <a:blip r:embed="rId30">
              <a:extLst>
                <a:ext uri="{28A0092B-C50C-407E-A947-70E740481C1C}">
                  <a14:useLocalDpi xmlns:a14="http://schemas.microsoft.com/office/drawing/2010/main" val="0"/>
                </a:ext>
              </a:extLst>
            </a:blip>
            <a:srcRect/>
            <a:stretch>
              <a:fillRect/>
            </a:stretch>
          </p:blipFill>
          <p:spPr bwMode="auto">
            <a:xfrm>
              <a:off x="5813097" y="4049127"/>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38"/>
            <p:cNvSpPr txBox="1">
              <a:spLocks noChangeArrowheads="1"/>
            </p:cNvSpPr>
            <p:nvPr>
              <p:custDataLst>
                <p:tags r:id="rId10"/>
              </p:custDataLst>
            </p:nvPr>
          </p:nvSpPr>
          <p:spPr bwMode="auto">
            <a:xfrm>
              <a:off x="6350303" y="3393721"/>
              <a:ext cx="2069797"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Устройства хранения данных</a:t>
              </a:r>
            </a:p>
          </p:txBody>
        </p:sp>
        <p:sp>
          <p:nvSpPr>
            <p:cNvPr id="83" name="Text Box 38"/>
            <p:cNvSpPr txBox="1">
              <a:spLocks noChangeArrowheads="1"/>
            </p:cNvSpPr>
            <p:nvPr>
              <p:custDataLst>
                <p:tags r:id="rId11"/>
              </p:custDataLst>
            </p:nvPr>
          </p:nvSpPr>
          <p:spPr bwMode="auto">
            <a:xfrm>
              <a:off x="5239460" y="4272549"/>
              <a:ext cx="2085827"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a:solidFill>
                    <a:srgbClr val="000000"/>
                  </a:solidFill>
                  <a:latin typeface="Arial" pitchFamily="34" charset="0"/>
                  <a:cs typeface="Arial" pitchFamily="34" charset="0"/>
                </a:rPr>
                <a:t>Сервер отдела исследований</a:t>
              </a:r>
              <a:br>
                <a:rPr lang="en-US" i="0" dirty="0">
                  <a:solidFill>
                    <a:srgbClr val="FF00FF"/>
                  </a:solidFill>
                  <a:latin typeface="Arial" pitchFamily="34" charset="0"/>
                  <a:cs typeface="Arial" pitchFamily="34" charset="0"/>
                </a:rPr>
              </a:br>
              <a:r>
                <a:rPr lang="ru-RU" i="0" dirty="0">
                  <a:solidFill>
                    <a:srgbClr val="000000"/>
                  </a:solidFill>
                  <a:latin typeface="Arial" pitchFamily="34" charset="0"/>
                  <a:cs typeface="Arial" pitchFamily="34" charset="0"/>
                </a:rPr>
                <a:t>и разработок</a:t>
              </a:r>
            </a:p>
          </p:txBody>
        </p:sp>
        <p:grpSp>
          <p:nvGrpSpPr>
            <p:cNvPr id="5" name="Group 4"/>
            <p:cNvGrpSpPr/>
            <p:nvPr/>
          </p:nvGrpSpPr>
          <p:grpSpPr>
            <a:xfrm>
              <a:off x="3620889" y="2735753"/>
              <a:ext cx="779870" cy="502920"/>
              <a:chOff x="5652120" y="2396887"/>
              <a:chExt cx="779870" cy="502920"/>
            </a:xfrm>
          </p:grpSpPr>
          <p:pic>
            <p:nvPicPr>
              <p:cNvPr id="11" name="Picture 3" descr="C:\Users\patils1\Desktop\2013 Projects\CIS v2\CIS Slide Deck_Based on Book\Colored Graphics\LAN-WAN.png"/>
              <p:cNvPicPr>
                <a:picLocks noChangeAspect="1" noChangeArrowheads="1"/>
              </p:cNvPicPr>
              <p:nvPr>
                <p:custDataLst>
                  <p:tags r:id="rId15"/>
                </p:custDataLst>
              </p:nvPr>
            </p:nvPicPr>
            <p:blipFill>
              <a:blip r:embed="rId31">
                <a:extLst>
                  <a:ext uri="{28A0092B-C50C-407E-A947-70E740481C1C}">
                    <a14:useLocalDpi xmlns:a14="http://schemas.microsoft.com/office/drawing/2010/main" val="0"/>
                  </a:ext>
                </a:extLst>
              </a:blip>
              <a:srcRect/>
              <a:stretch>
                <a:fillRect/>
              </a:stretch>
            </p:blipFill>
            <p:spPr bwMode="auto">
              <a:xfrm>
                <a:off x="5652120" y="2396887"/>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114" name="Text Box 38"/>
              <p:cNvSpPr txBox="1">
                <a:spLocks noChangeArrowheads="1"/>
              </p:cNvSpPr>
              <p:nvPr>
                <p:custDataLst>
                  <p:tags r:id="rId16"/>
                </p:custDataLst>
              </p:nvPr>
            </p:nvSpPr>
            <p:spPr bwMode="auto">
              <a:xfrm>
                <a:off x="5712270" y="2541823"/>
                <a:ext cx="662361" cy="215444"/>
              </a:xfrm>
              <a:prstGeom prst="rect">
                <a:avLst/>
              </a:prstGeom>
              <a:noFill/>
              <a:ln w="9525">
                <a:noFill/>
                <a:miter lim="800000"/>
                <a:headEnd/>
                <a:tailEnd/>
              </a:ln>
            </p:spPr>
            <p:txBody>
              <a:bodyPr wrap="none">
                <a:spAutoFit/>
              </a:bodyPr>
              <a:lstStyle/>
              <a:p>
                <a:r>
                  <a:rPr lang="ru-RU" sz="800" b="1" i="0" dirty="0">
                    <a:solidFill>
                      <a:srgbClr val="000000"/>
                    </a:solidFill>
                    <a:latin typeface="Arial" pitchFamily="34" charset="0"/>
                    <a:cs typeface="Arial" pitchFamily="34" charset="0"/>
                  </a:rPr>
                  <a:t>LAN/WAN</a:t>
                </a:r>
              </a:p>
            </p:txBody>
          </p:sp>
        </p:grpSp>
        <p:sp>
          <p:nvSpPr>
            <p:cNvPr id="92" name="Text Box 38"/>
            <p:cNvSpPr txBox="1">
              <a:spLocks noChangeArrowheads="1"/>
            </p:cNvSpPr>
            <p:nvPr>
              <p:custDataLst>
                <p:tags r:id="rId12"/>
              </p:custDataLst>
            </p:nvPr>
          </p:nvSpPr>
          <p:spPr bwMode="auto">
            <a:xfrm rot="16200000">
              <a:off x="839514" y="2826071"/>
              <a:ext cx="742511"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i="0" dirty="0">
                  <a:solidFill>
                    <a:srgbClr val="000000"/>
                  </a:solidFill>
                  <a:latin typeface="Arial" pitchFamily="34" charset="0"/>
                  <a:cs typeface="Arial" pitchFamily="34" charset="0"/>
                </a:rPr>
                <a:t>Клиенты</a:t>
              </a:r>
            </a:p>
          </p:txBody>
        </p:sp>
        <p:sp>
          <p:nvSpPr>
            <p:cNvPr id="24" name="Left Brace 23"/>
            <p:cNvSpPr/>
            <p:nvPr/>
          </p:nvSpPr>
          <p:spPr>
            <a:xfrm>
              <a:off x="1365555" y="1769326"/>
              <a:ext cx="216000" cy="2412000"/>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cxnSp>
          <p:nvCxnSpPr>
            <p:cNvPr id="104" name="Straight Connector 103"/>
            <p:cNvCxnSpPr/>
            <p:nvPr/>
          </p:nvCxnSpPr>
          <p:spPr>
            <a:xfrm>
              <a:off x="4145903" y="1820144"/>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2213537" y="1820144"/>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2213537" y="4152332"/>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4145903" y="4157514"/>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2050" name="Picture 2" descr="C:\1_Projects\1_ISM\ISM V3\Modules PPT\Module 3\Images\laptop4.png"/>
            <p:cNvPicPr>
              <a:picLocks noChangeAspect="1" noChangeArrowheads="1"/>
            </p:cNvPicPr>
            <p:nvPr>
              <p:custDataLst>
                <p:tags r:id="rId13"/>
              </p:custDataLst>
            </p:nvPr>
          </p:nvPicPr>
          <p:blipFill>
            <a:blip r:embed="rId32">
              <a:extLst>
                <a:ext uri="{28A0092B-C50C-407E-A947-70E740481C1C}">
                  <a14:useLocalDpi xmlns:a14="http://schemas.microsoft.com/office/drawing/2010/main" val="0"/>
                </a:ext>
              </a:extLst>
            </a:blip>
            <a:srcRect/>
            <a:stretch>
              <a:fillRect/>
            </a:stretch>
          </p:blipFill>
          <p:spPr bwMode="auto">
            <a:xfrm>
              <a:off x="1653375" y="1530306"/>
              <a:ext cx="648000" cy="566248"/>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6" descr="C:\Users\patils1\Desktop\2013 Projects\CIS v2\CIS Slide Deck_Based on Book\Colored Graphics\Client.png"/>
            <p:cNvPicPr>
              <a:picLocks noChangeAspect="1" noChangeArrowheads="1"/>
            </p:cNvPicPr>
            <p:nvPr>
              <p:custDataLst>
                <p:tags r:id="rId14"/>
              </p:custDataLst>
            </p:nvPr>
          </p:nvPicPr>
          <p:blipFill>
            <a:blip r:embed="rId28" cstate="print">
              <a:extLst>
                <a:ext uri="{28A0092B-C50C-407E-A947-70E740481C1C}">
                  <a14:useLocalDpi xmlns:a14="http://schemas.microsoft.com/office/drawing/2010/main" val="0"/>
                </a:ext>
              </a:extLst>
            </a:blip>
            <a:srcRect/>
            <a:stretch>
              <a:fillRect/>
            </a:stretch>
          </p:blipFill>
          <p:spPr bwMode="auto">
            <a:xfrm>
              <a:off x="1720403" y="3832360"/>
              <a:ext cx="513945" cy="576000"/>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5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548846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Развитие архитектуры систем хранения (продолжение)</a:t>
            </a:r>
          </a:p>
        </p:txBody>
      </p:sp>
      <p:sp>
        <p:nvSpPr>
          <p:cNvPr id="13" name="Subtitle 12"/>
          <p:cNvSpPr>
            <a:spLocks noGrp="1"/>
          </p:cNvSpPr>
          <p:nvPr>
            <p:ph type="subTitle" idx="1"/>
          </p:nvPr>
        </p:nvSpPr>
        <p:spPr>
          <a:xfrm>
            <a:off x="379413" y="1047750"/>
            <a:ext cx="8449733" cy="302417"/>
          </a:xfrm>
        </p:spPr>
        <p:txBody>
          <a:bodyPr/>
          <a:lstStyle/>
          <a:p>
            <a:r>
              <a:rPr lang="ru-RU" sz="2000" b="0" i="0" dirty="0">
                <a:solidFill>
                  <a:srgbClr val="000000"/>
                </a:solidFill>
                <a:latin typeface="Arial" pitchFamily="34" charset="0"/>
                <a:cs typeface="Arial" pitchFamily="34" charset="0"/>
              </a:rPr>
              <a:t>Информационно-ориентированная архитектура систем хранения</a:t>
            </a:r>
          </a:p>
        </p:txBody>
      </p:sp>
      <p:grpSp>
        <p:nvGrpSpPr>
          <p:cNvPr id="3" name="Group 2"/>
          <p:cNvGrpSpPr/>
          <p:nvPr/>
        </p:nvGrpSpPr>
        <p:grpSpPr>
          <a:xfrm>
            <a:off x="360439" y="1668866"/>
            <a:ext cx="8398433" cy="3129711"/>
            <a:chOff x="360439" y="1324120"/>
            <a:chExt cx="8398433" cy="3129711"/>
          </a:xfrm>
        </p:grpSpPr>
        <p:cxnSp>
          <p:nvCxnSpPr>
            <p:cNvPr id="83" name="Straight Connector 82"/>
            <p:cNvCxnSpPr/>
            <p:nvPr/>
          </p:nvCxnSpPr>
          <p:spPr>
            <a:xfrm>
              <a:off x="6024911" y="1607244"/>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endCxn id="61" idx="1"/>
            </p:cNvCxnSpPr>
            <p:nvPr/>
          </p:nvCxnSpPr>
          <p:spPr>
            <a:xfrm>
              <a:off x="6024911" y="2772336"/>
              <a:ext cx="1365961"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6024911" y="3928683"/>
              <a:ext cx="7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6737070" y="1599851"/>
              <a:ext cx="0" cy="234000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 Box 38"/>
            <p:cNvSpPr txBox="1">
              <a:spLocks noChangeArrowheads="1"/>
            </p:cNvSpPr>
            <p:nvPr>
              <p:custDataLst>
                <p:tags r:id="rId2"/>
              </p:custDataLst>
            </p:nvPr>
          </p:nvSpPr>
          <p:spPr bwMode="auto">
            <a:xfrm>
              <a:off x="7429500" y="3233532"/>
              <a:ext cx="1303562"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a:solidFill>
                    <a:srgbClr val="000000"/>
                  </a:solidFill>
                  <a:latin typeface="Arial" pitchFamily="34" charset="0"/>
                  <a:cs typeface="Arial" pitchFamily="34" charset="0"/>
                </a:rPr>
                <a:t>Устройства</a:t>
              </a:r>
              <a:br>
                <a:rPr lang="en-US" i="0" dirty="0">
                  <a:solidFill>
                    <a:srgbClr val="FF00FF"/>
                  </a:solidFill>
                  <a:latin typeface="Arial" pitchFamily="34" charset="0"/>
                  <a:cs typeface="Arial" pitchFamily="34" charset="0"/>
                </a:rPr>
              </a:br>
              <a:r>
                <a:rPr lang="ru-RU" i="0" dirty="0">
                  <a:solidFill>
                    <a:srgbClr val="000000"/>
                  </a:solidFill>
                  <a:latin typeface="Arial" pitchFamily="34" charset="0"/>
                  <a:cs typeface="Arial" pitchFamily="34" charset="0"/>
                </a:rPr>
                <a:t>хранения данных</a:t>
              </a:r>
            </a:p>
          </p:txBody>
        </p:sp>
        <p:pic>
          <p:nvPicPr>
            <p:cNvPr id="56" name="Picture 34" descr="C:\Users\patils1\Desktop\2013 Projects\CIS v2\CIS Slide Deck_Based on Book\Colored Graphics\SAN.png"/>
            <p:cNvPicPr>
              <a:picLocks noChangeAspect="1" noChangeArrowheads="1"/>
            </p:cNvPicPr>
            <p:nvPr>
              <p:custDataLst>
                <p:tags r:id="rId3"/>
              </p:custDataLst>
            </p:nvPr>
          </p:nvPicPr>
          <p:blipFill>
            <a:blip r:embed="rId25">
              <a:extLst>
                <a:ext uri="{28A0092B-C50C-407E-A947-70E740481C1C}">
                  <a14:useLocalDpi xmlns:a14="http://schemas.microsoft.com/office/drawing/2010/main" val="0"/>
                </a:ext>
              </a:extLst>
            </a:blip>
            <a:srcRect/>
            <a:stretch>
              <a:fillRect/>
            </a:stretch>
          </p:blipFill>
          <p:spPr bwMode="auto">
            <a:xfrm>
              <a:off x="6346847" y="2520876"/>
              <a:ext cx="780446" cy="502920"/>
            </a:xfrm>
            <a:prstGeom prst="rect">
              <a:avLst/>
            </a:prstGeom>
            <a:noFill/>
            <a:extLst>
              <a:ext uri="{909E8E84-426E-40DD-AFC4-6F175D3DCCD1}">
                <a14:hiddenFill xmlns:a14="http://schemas.microsoft.com/office/drawing/2010/main">
                  <a:solidFill>
                    <a:srgbClr val="FFFFFF"/>
                  </a:solidFill>
                </a14:hiddenFill>
              </a:ext>
            </a:extLst>
          </p:spPr>
        </p:pic>
        <p:sp>
          <p:nvSpPr>
            <p:cNvPr id="57" name="Text Box 38"/>
            <p:cNvSpPr txBox="1">
              <a:spLocks noChangeArrowheads="1"/>
            </p:cNvSpPr>
            <p:nvPr>
              <p:custDataLst>
                <p:tags r:id="rId4"/>
              </p:custDataLst>
            </p:nvPr>
          </p:nvSpPr>
          <p:spPr bwMode="auto">
            <a:xfrm>
              <a:off x="6397875" y="2533649"/>
              <a:ext cx="688725" cy="461665"/>
            </a:xfrm>
            <a:prstGeom prst="rect">
              <a:avLst/>
            </a:prstGeom>
            <a:noFill/>
            <a:ln w="9525">
              <a:noFill/>
              <a:miter lim="800000"/>
              <a:headEnd/>
              <a:tailEnd/>
            </a:ln>
          </p:spPr>
          <p:txBody>
            <a:bodyPr wrap="square">
              <a:spAutoFit/>
            </a:bodyPr>
            <a:lstStyle/>
            <a:p>
              <a:pPr algn="ctr"/>
              <a:r>
                <a:rPr lang="ru-RU" sz="800" b="1" i="0" dirty="0">
                  <a:solidFill>
                    <a:srgbClr val="000000"/>
                  </a:solidFill>
                  <a:latin typeface="Arial" pitchFamily="34" charset="0"/>
                  <a:cs typeface="Arial" pitchFamily="34" charset="0"/>
                </a:rPr>
                <a:t>Cеть хранения данных</a:t>
              </a:r>
            </a:p>
          </p:txBody>
        </p:sp>
        <p:grpSp>
          <p:nvGrpSpPr>
            <p:cNvPr id="63" name="Group 62"/>
            <p:cNvGrpSpPr/>
            <p:nvPr/>
          </p:nvGrpSpPr>
          <p:grpSpPr>
            <a:xfrm>
              <a:off x="7390872" y="2340336"/>
              <a:ext cx="1368000" cy="864000"/>
              <a:chOff x="7668344" y="3024125"/>
              <a:chExt cx="1368000" cy="864000"/>
            </a:xfrm>
          </p:grpSpPr>
          <p:grpSp>
            <p:nvGrpSpPr>
              <p:cNvPr id="62" name="Group 61"/>
              <p:cNvGrpSpPr/>
              <p:nvPr/>
            </p:nvGrpSpPr>
            <p:grpSpPr>
              <a:xfrm>
                <a:off x="7785579" y="3133129"/>
                <a:ext cx="1133531" cy="645992"/>
                <a:chOff x="8103623" y="3146827"/>
                <a:chExt cx="1133531" cy="645992"/>
              </a:xfrm>
            </p:grpSpPr>
            <p:pic>
              <p:nvPicPr>
                <p:cNvPr id="45" name="Picture 11" descr="C:\Users\patils1\Desktop\2013 Projects\CIS v2\CIS Slide Deck_Based on Book\Colored Graphics\Disk Drive.png"/>
                <p:cNvPicPr>
                  <a:picLocks noChangeAspect="1" noChangeArrowheads="1"/>
                </p:cNvPicPr>
                <p:nvPr>
                  <p:custDataLst>
                    <p:tags r:id="rId17"/>
                  </p:custDataLst>
                </p:nvPr>
              </p:nvPicPr>
              <p:blipFill>
                <a:blip r:embed="rId26">
                  <a:extLst>
                    <a:ext uri="{28A0092B-C50C-407E-A947-70E740481C1C}">
                      <a14:useLocalDpi xmlns:a14="http://schemas.microsoft.com/office/drawing/2010/main" val="0"/>
                    </a:ext>
                  </a:extLst>
                </a:blip>
                <a:srcRect/>
                <a:stretch>
                  <a:fillRect/>
                </a:stretch>
              </p:blipFill>
              <p:spPr bwMode="auto">
                <a:xfrm>
                  <a:off x="8103623" y="3146827"/>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1" descr="C:\Users\patils1\Desktop\2013 Projects\CIS v2\CIS Slide Deck_Based on Book\Colored Graphics\Disk Drive.png"/>
                <p:cNvPicPr>
                  <a:picLocks noChangeAspect="1" noChangeArrowheads="1"/>
                </p:cNvPicPr>
                <p:nvPr>
                  <p:custDataLst>
                    <p:tags r:id="rId18"/>
                  </p:custDataLst>
                </p:nvPr>
              </p:nvPicPr>
              <p:blipFill>
                <a:blip r:embed="rId26">
                  <a:extLst>
                    <a:ext uri="{28A0092B-C50C-407E-A947-70E740481C1C}">
                      <a14:useLocalDpi xmlns:a14="http://schemas.microsoft.com/office/drawing/2010/main" val="0"/>
                    </a:ext>
                  </a:extLst>
                </a:blip>
                <a:srcRect/>
                <a:stretch>
                  <a:fillRect/>
                </a:stretch>
              </p:blipFill>
              <p:spPr bwMode="auto">
                <a:xfrm>
                  <a:off x="8526389" y="3146827"/>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1" descr="C:\Users\patils1\Desktop\2013 Projects\CIS v2\CIS Slide Deck_Based on Book\Colored Graphics\Disk Drive.png"/>
                <p:cNvPicPr>
                  <a:picLocks noChangeAspect="1" noChangeArrowheads="1"/>
                </p:cNvPicPr>
                <p:nvPr>
                  <p:custDataLst>
                    <p:tags r:id="rId19"/>
                  </p:custDataLst>
                </p:nvPr>
              </p:nvPicPr>
              <p:blipFill>
                <a:blip r:embed="rId26">
                  <a:extLst>
                    <a:ext uri="{28A0092B-C50C-407E-A947-70E740481C1C}">
                      <a14:useLocalDpi xmlns:a14="http://schemas.microsoft.com/office/drawing/2010/main" val="0"/>
                    </a:ext>
                  </a:extLst>
                </a:blip>
                <a:srcRect/>
                <a:stretch>
                  <a:fillRect/>
                </a:stretch>
              </p:blipFill>
              <p:spPr bwMode="auto">
                <a:xfrm>
                  <a:off x="8949154" y="3146827"/>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1" descr="C:\Users\patils1\Desktop\2013 Projects\CIS v2\CIS Slide Deck_Based on Book\Colored Graphics\Disk Drive.png"/>
                <p:cNvPicPr>
                  <a:picLocks noChangeAspect="1" noChangeArrowheads="1"/>
                </p:cNvPicPr>
                <p:nvPr>
                  <p:custDataLst>
                    <p:tags r:id="rId20"/>
                  </p:custDataLst>
                </p:nvPr>
              </p:nvPicPr>
              <p:blipFill>
                <a:blip r:embed="rId26">
                  <a:extLst>
                    <a:ext uri="{28A0092B-C50C-407E-A947-70E740481C1C}">
                      <a14:useLocalDpi xmlns:a14="http://schemas.microsoft.com/office/drawing/2010/main" val="0"/>
                    </a:ext>
                  </a:extLst>
                </a:blip>
                <a:srcRect/>
                <a:stretch>
                  <a:fillRect/>
                </a:stretch>
              </p:blipFill>
              <p:spPr bwMode="auto">
                <a:xfrm>
                  <a:off x="8103623" y="3504819"/>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1" descr="C:\Users\patils1\Desktop\2013 Projects\CIS v2\CIS Slide Deck_Based on Book\Colored Graphics\Disk Drive.png"/>
                <p:cNvPicPr>
                  <a:picLocks noChangeAspect="1" noChangeArrowheads="1"/>
                </p:cNvPicPr>
                <p:nvPr>
                  <p:custDataLst>
                    <p:tags r:id="rId21"/>
                  </p:custDataLst>
                </p:nvPr>
              </p:nvPicPr>
              <p:blipFill>
                <a:blip r:embed="rId26">
                  <a:extLst>
                    <a:ext uri="{28A0092B-C50C-407E-A947-70E740481C1C}">
                      <a14:useLocalDpi xmlns:a14="http://schemas.microsoft.com/office/drawing/2010/main" val="0"/>
                    </a:ext>
                  </a:extLst>
                </a:blip>
                <a:srcRect/>
                <a:stretch>
                  <a:fillRect/>
                </a:stretch>
              </p:blipFill>
              <p:spPr bwMode="auto">
                <a:xfrm>
                  <a:off x="8526389" y="3504819"/>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1" descr="C:\Users\patils1\Desktop\2013 Projects\CIS v2\CIS Slide Deck_Based on Book\Colored Graphics\Disk Drive.png"/>
                <p:cNvPicPr>
                  <a:picLocks noChangeAspect="1" noChangeArrowheads="1"/>
                </p:cNvPicPr>
                <p:nvPr>
                  <p:custDataLst>
                    <p:tags r:id="rId22"/>
                  </p:custDataLst>
                </p:nvPr>
              </p:nvPicPr>
              <p:blipFill>
                <a:blip r:embed="rId26">
                  <a:extLst>
                    <a:ext uri="{28A0092B-C50C-407E-A947-70E740481C1C}">
                      <a14:useLocalDpi xmlns:a14="http://schemas.microsoft.com/office/drawing/2010/main" val="0"/>
                    </a:ext>
                  </a:extLst>
                </a:blip>
                <a:srcRect/>
                <a:stretch>
                  <a:fillRect/>
                </a:stretch>
              </p:blipFill>
              <p:spPr bwMode="auto">
                <a:xfrm>
                  <a:off x="8949154" y="3504819"/>
                  <a:ext cx="288000" cy="288000"/>
                </a:xfrm>
                <a:prstGeom prst="rect">
                  <a:avLst/>
                </a:prstGeom>
                <a:noFill/>
                <a:extLst>
                  <a:ext uri="{909E8E84-426E-40DD-AFC4-6F175D3DCCD1}">
                    <a14:hiddenFill xmlns:a14="http://schemas.microsoft.com/office/drawing/2010/main">
                      <a:solidFill>
                        <a:srgbClr val="FFFFFF"/>
                      </a:solidFill>
                    </a14:hiddenFill>
                  </a:ext>
                </a:extLst>
              </p:spPr>
            </p:pic>
          </p:grpSp>
          <p:sp>
            <p:nvSpPr>
              <p:cNvPr id="61" name="Rounded Rectangle 60"/>
              <p:cNvSpPr/>
              <p:nvPr/>
            </p:nvSpPr>
            <p:spPr>
              <a:xfrm>
                <a:off x="7668344" y="3024125"/>
                <a:ext cx="1368000" cy="864000"/>
              </a:xfrm>
              <a:prstGeom prst="roundRect">
                <a:avLst/>
              </a:prstGeom>
              <a:noFill/>
              <a:ln w="12700" cmpd="sng">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latin typeface="Arial" pitchFamily="34" charset="0"/>
                  <a:cs typeface="Arial" pitchFamily="34" charset="0"/>
                </a:endParaRPr>
              </a:p>
            </p:txBody>
          </p:sp>
        </p:grpSp>
        <p:cxnSp>
          <p:nvCxnSpPr>
            <p:cNvPr id="77" name="Straight Connector 76"/>
            <p:cNvCxnSpPr/>
            <p:nvPr/>
          </p:nvCxnSpPr>
          <p:spPr>
            <a:xfrm flipV="1">
              <a:off x="3153512" y="1596946"/>
              <a:ext cx="0" cy="234000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flipV="1">
              <a:off x="3418684" y="1596946"/>
              <a:ext cx="0" cy="234000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1481332" y="2768385"/>
              <a:ext cx="3604546"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82" name="Picture 6" descr="C:\Users\patils1\Desktop\2013 Projects\CIS v2\CIS Slide Deck_Based on Book\Colored Graphics\Client.png"/>
            <p:cNvPicPr>
              <a:picLocks noChangeAspect="1" noChangeArrowheads="1"/>
            </p:cNvPicPr>
            <p:nvPr>
              <p:custDataLst>
                <p:tags r:id="rId5"/>
              </p:custDataLst>
            </p:nvPr>
          </p:nvPicPr>
          <p:blipFill>
            <a:blip r:embed="rId27" cstate="print">
              <a:extLst>
                <a:ext uri="{28A0092B-C50C-407E-A947-70E740481C1C}">
                  <a14:useLocalDpi xmlns:a14="http://schemas.microsoft.com/office/drawing/2010/main" val="0"/>
                </a:ext>
              </a:extLst>
            </a:blip>
            <a:srcRect/>
            <a:stretch>
              <a:fillRect/>
            </a:stretch>
          </p:blipFill>
          <p:spPr bwMode="auto">
            <a:xfrm>
              <a:off x="997449" y="2480385"/>
              <a:ext cx="513945" cy="576000"/>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9" descr="C:\Users\patils1\Desktop\2013 Projects\CIS v2\CIS Slide Deck_Based on Book\Colored Graphics\Physical Compute System.png"/>
            <p:cNvPicPr>
              <a:picLocks noChangeAspect="1" noChangeArrowheads="1"/>
            </p:cNvPicPr>
            <p:nvPr>
              <p:custDataLst>
                <p:tags r:id="rId6"/>
              </p:custDataLst>
            </p:nvPr>
          </p:nvPicPr>
          <p:blipFill>
            <a:blip r:embed="rId28">
              <a:extLst>
                <a:ext uri="{28A0092B-C50C-407E-A947-70E740481C1C}">
                  <a14:useLocalDpi xmlns:a14="http://schemas.microsoft.com/office/drawing/2010/main" val="0"/>
                </a:ext>
              </a:extLst>
            </a:blip>
            <a:srcRect/>
            <a:stretch>
              <a:fillRect/>
            </a:stretch>
          </p:blipFill>
          <p:spPr bwMode="auto">
            <a:xfrm>
              <a:off x="5085878" y="1496160"/>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87" name="Text Box 38"/>
            <p:cNvSpPr txBox="1">
              <a:spLocks noChangeArrowheads="1"/>
            </p:cNvSpPr>
            <p:nvPr>
              <p:custDataLst>
                <p:tags r:id="rId7"/>
              </p:custDataLst>
            </p:nvPr>
          </p:nvSpPr>
          <p:spPr bwMode="auto">
            <a:xfrm>
              <a:off x="4736662" y="1704850"/>
              <a:ext cx="1648208"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Сервер отдела продаж</a:t>
              </a:r>
            </a:p>
          </p:txBody>
        </p:sp>
        <p:pic>
          <p:nvPicPr>
            <p:cNvPr id="88" name="Picture 29" descr="C:\Users\patils1\Desktop\2013 Projects\CIS v2\CIS Slide Deck_Based on Book\Colored Graphics\Physical Compute System.png"/>
            <p:cNvPicPr>
              <a:picLocks noChangeAspect="1" noChangeArrowheads="1"/>
            </p:cNvPicPr>
            <p:nvPr>
              <p:custDataLst>
                <p:tags r:id="rId8"/>
              </p:custDataLst>
            </p:nvPr>
          </p:nvPicPr>
          <p:blipFill>
            <a:blip r:embed="rId28">
              <a:extLst>
                <a:ext uri="{28A0092B-C50C-407E-A947-70E740481C1C}">
                  <a14:useLocalDpi xmlns:a14="http://schemas.microsoft.com/office/drawing/2010/main" val="0"/>
                </a:ext>
              </a:extLst>
            </a:blip>
            <a:srcRect/>
            <a:stretch>
              <a:fillRect/>
            </a:stretch>
          </p:blipFill>
          <p:spPr bwMode="auto">
            <a:xfrm>
              <a:off x="5085878" y="2663229"/>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89" name="Text Box 38"/>
            <p:cNvSpPr txBox="1">
              <a:spLocks noChangeArrowheads="1"/>
            </p:cNvSpPr>
            <p:nvPr>
              <p:custDataLst>
                <p:tags r:id="rId9"/>
              </p:custDataLst>
            </p:nvPr>
          </p:nvSpPr>
          <p:spPr bwMode="auto">
            <a:xfrm>
              <a:off x="4782190" y="2876550"/>
              <a:ext cx="1542410"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a:solidFill>
                    <a:srgbClr val="000000"/>
                  </a:solidFill>
                  <a:latin typeface="Arial" pitchFamily="34" charset="0"/>
                  <a:cs typeface="Arial" pitchFamily="34" charset="0"/>
                </a:rPr>
                <a:t>Сервер финансового</a:t>
              </a:r>
              <a:br>
                <a:rPr lang="en-US" i="0" dirty="0">
                  <a:solidFill>
                    <a:srgbClr val="FF00FF"/>
                  </a:solidFill>
                  <a:latin typeface="Arial" pitchFamily="34" charset="0"/>
                  <a:cs typeface="Arial" pitchFamily="34" charset="0"/>
                </a:rPr>
              </a:br>
              <a:r>
                <a:rPr lang="ru-RU" i="0" dirty="0">
                  <a:solidFill>
                    <a:srgbClr val="000000"/>
                  </a:solidFill>
                  <a:latin typeface="Arial" pitchFamily="34" charset="0"/>
                  <a:cs typeface="Arial" pitchFamily="34" charset="0"/>
                </a:rPr>
                <a:t>отдела</a:t>
              </a:r>
            </a:p>
          </p:txBody>
        </p:sp>
        <p:pic>
          <p:nvPicPr>
            <p:cNvPr id="90" name="Picture 29" descr="C:\Users\patils1\Desktop\2013 Projects\CIS v2\CIS Slide Deck_Based on Book\Colored Graphics\Physical Compute System.png"/>
            <p:cNvPicPr>
              <a:picLocks noChangeAspect="1" noChangeArrowheads="1"/>
            </p:cNvPicPr>
            <p:nvPr>
              <p:custDataLst>
                <p:tags r:id="rId10"/>
              </p:custDataLst>
            </p:nvPr>
          </p:nvPicPr>
          <p:blipFill>
            <a:blip r:embed="rId28">
              <a:extLst>
                <a:ext uri="{28A0092B-C50C-407E-A947-70E740481C1C}">
                  <a14:useLocalDpi xmlns:a14="http://schemas.microsoft.com/office/drawing/2010/main" val="0"/>
                </a:ext>
              </a:extLst>
            </a:blip>
            <a:srcRect/>
            <a:stretch>
              <a:fillRect/>
            </a:stretch>
          </p:blipFill>
          <p:spPr bwMode="auto">
            <a:xfrm>
              <a:off x="5085878" y="3830299"/>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91" name="Text Box 38"/>
            <p:cNvSpPr txBox="1">
              <a:spLocks noChangeArrowheads="1"/>
            </p:cNvSpPr>
            <p:nvPr>
              <p:custDataLst>
                <p:tags r:id="rId11"/>
              </p:custDataLst>
            </p:nvPr>
          </p:nvSpPr>
          <p:spPr bwMode="auto">
            <a:xfrm>
              <a:off x="4514998" y="4053721"/>
              <a:ext cx="2085827"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a:solidFill>
                    <a:srgbClr val="000000"/>
                  </a:solidFill>
                  <a:latin typeface="Arial" pitchFamily="34" charset="0"/>
                  <a:cs typeface="Arial" pitchFamily="34" charset="0"/>
                </a:rPr>
                <a:t>Сервер отдела исследований</a:t>
              </a:r>
              <a:br>
                <a:rPr lang="en-US" i="0" dirty="0">
                  <a:solidFill>
                    <a:srgbClr val="FF00FF"/>
                  </a:solidFill>
                  <a:latin typeface="Arial" pitchFamily="34" charset="0"/>
                  <a:cs typeface="Arial" pitchFamily="34" charset="0"/>
                </a:rPr>
              </a:br>
              <a:r>
                <a:rPr lang="ru-RU" i="0" dirty="0">
                  <a:solidFill>
                    <a:srgbClr val="000000"/>
                  </a:solidFill>
                  <a:latin typeface="Arial" pitchFamily="34" charset="0"/>
                  <a:cs typeface="Arial" pitchFamily="34" charset="0"/>
                </a:rPr>
                <a:t>и разработок</a:t>
              </a:r>
            </a:p>
          </p:txBody>
        </p:sp>
        <p:grpSp>
          <p:nvGrpSpPr>
            <p:cNvPr id="92" name="Group 91"/>
            <p:cNvGrpSpPr/>
            <p:nvPr/>
          </p:nvGrpSpPr>
          <p:grpSpPr>
            <a:xfrm>
              <a:off x="2893670" y="2516925"/>
              <a:ext cx="779870" cy="502920"/>
              <a:chOff x="5652120" y="2396887"/>
              <a:chExt cx="779870" cy="502920"/>
            </a:xfrm>
          </p:grpSpPr>
          <p:pic>
            <p:nvPicPr>
              <p:cNvPr id="93" name="Picture 3" descr="C:\Users\patils1\Desktop\2013 Projects\CIS v2\CIS Slide Deck_Based on Book\Colored Graphics\LAN-WAN.png"/>
              <p:cNvPicPr>
                <a:picLocks noChangeAspect="1" noChangeArrowheads="1"/>
              </p:cNvPicPr>
              <p:nvPr>
                <p:custDataLst>
                  <p:tags r:id="rId15"/>
                </p:custDataLst>
              </p:nvPr>
            </p:nvPicPr>
            <p:blipFill>
              <a:blip r:embed="rId29">
                <a:extLst>
                  <a:ext uri="{28A0092B-C50C-407E-A947-70E740481C1C}">
                    <a14:useLocalDpi xmlns:a14="http://schemas.microsoft.com/office/drawing/2010/main" val="0"/>
                  </a:ext>
                </a:extLst>
              </a:blip>
              <a:srcRect/>
              <a:stretch>
                <a:fillRect/>
              </a:stretch>
            </p:blipFill>
            <p:spPr bwMode="auto">
              <a:xfrm>
                <a:off x="5652120" y="2396887"/>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94" name="Text Box 38"/>
              <p:cNvSpPr txBox="1">
                <a:spLocks noChangeArrowheads="1"/>
              </p:cNvSpPr>
              <p:nvPr>
                <p:custDataLst>
                  <p:tags r:id="rId16"/>
                </p:custDataLst>
              </p:nvPr>
            </p:nvSpPr>
            <p:spPr bwMode="auto">
              <a:xfrm>
                <a:off x="5720725" y="2541823"/>
                <a:ext cx="662361" cy="215444"/>
              </a:xfrm>
              <a:prstGeom prst="rect">
                <a:avLst/>
              </a:prstGeom>
              <a:noFill/>
              <a:ln w="9525">
                <a:noFill/>
                <a:miter lim="800000"/>
                <a:headEnd/>
                <a:tailEnd/>
              </a:ln>
            </p:spPr>
            <p:txBody>
              <a:bodyPr wrap="none">
                <a:spAutoFit/>
              </a:bodyPr>
              <a:lstStyle/>
              <a:p>
                <a:r>
                  <a:rPr lang="ru-RU" sz="800" b="1" i="0" dirty="0">
                    <a:solidFill>
                      <a:srgbClr val="000000"/>
                    </a:solidFill>
                    <a:latin typeface="Arial" pitchFamily="34" charset="0"/>
                    <a:cs typeface="Arial" pitchFamily="34" charset="0"/>
                  </a:rPr>
                  <a:t>LAN/WAN</a:t>
                </a:r>
              </a:p>
            </p:txBody>
          </p:sp>
        </p:grpSp>
        <p:sp>
          <p:nvSpPr>
            <p:cNvPr id="95" name="Text Box 38"/>
            <p:cNvSpPr txBox="1">
              <a:spLocks noChangeArrowheads="1"/>
            </p:cNvSpPr>
            <p:nvPr>
              <p:custDataLst>
                <p:tags r:id="rId12"/>
              </p:custDataLst>
            </p:nvPr>
          </p:nvSpPr>
          <p:spPr bwMode="auto">
            <a:xfrm rot="16200000">
              <a:off x="112294" y="2607242"/>
              <a:ext cx="742511"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a:solidFill>
                    <a:srgbClr val="000000"/>
                  </a:solidFill>
                  <a:latin typeface="Arial" pitchFamily="34" charset="0"/>
                  <a:cs typeface="Arial" pitchFamily="34" charset="0"/>
                </a:rPr>
                <a:t>Клиенты</a:t>
              </a:r>
            </a:p>
          </p:txBody>
        </p:sp>
        <p:sp>
          <p:nvSpPr>
            <p:cNvPr id="96" name="Left Brace 95"/>
            <p:cNvSpPr/>
            <p:nvPr/>
          </p:nvSpPr>
          <p:spPr>
            <a:xfrm>
              <a:off x="623096" y="1548976"/>
              <a:ext cx="216000" cy="2412000"/>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Arial" pitchFamily="34" charset="0"/>
                <a:cs typeface="Arial" pitchFamily="34" charset="0"/>
              </a:endParaRPr>
            </a:p>
          </p:txBody>
        </p:sp>
        <p:cxnSp>
          <p:nvCxnSpPr>
            <p:cNvPr id="98" name="Straight Connector 97"/>
            <p:cNvCxnSpPr/>
            <p:nvPr/>
          </p:nvCxnSpPr>
          <p:spPr>
            <a:xfrm>
              <a:off x="3418684" y="1601316"/>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1486318" y="1601316"/>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1486318" y="3933504"/>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3418684" y="3938686"/>
              <a:ext cx="1667194"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43" name="Picture 2" descr="C:\1_Projects\1_ISM\ISM V3\Modules PPT\Module 3\Images\laptop4.png"/>
            <p:cNvPicPr>
              <a:picLocks noChangeAspect="1" noChangeArrowheads="1"/>
            </p:cNvPicPr>
            <p:nvPr>
              <p:custDataLst>
                <p:tags r:id="rId13"/>
              </p:custDataLst>
            </p:nvPr>
          </p:nvPicPr>
          <p:blipFill>
            <a:blip r:embed="rId30">
              <a:extLst>
                <a:ext uri="{28A0092B-C50C-407E-A947-70E740481C1C}">
                  <a14:useLocalDpi xmlns:a14="http://schemas.microsoft.com/office/drawing/2010/main" val="0"/>
                </a:ext>
              </a:extLst>
            </a:blip>
            <a:srcRect/>
            <a:stretch>
              <a:fillRect/>
            </a:stretch>
          </p:blipFill>
          <p:spPr bwMode="auto">
            <a:xfrm>
              <a:off x="930421" y="1324120"/>
              <a:ext cx="648000" cy="56624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1_Projects\1_ISM\ISM V3\Modules PPT\Module 3\Images\tablet and phone_1.png"/>
            <p:cNvPicPr>
              <a:picLocks noChangeAspect="1" noChangeArrowheads="1"/>
            </p:cNvPicPr>
            <p:nvPr>
              <p:custDataLst>
                <p:tags r:id="rId14"/>
              </p:custDataLst>
            </p:nvPr>
          </p:nvPicPr>
          <p:blipFill>
            <a:blip r:embed="rId31">
              <a:extLst>
                <a:ext uri="{28A0092B-C50C-407E-A947-70E740481C1C}">
                  <a14:useLocalDpi xmlns:a14="http://schemas.microsoft.com/office/drawing/2010/main" val="0"/>
                </a:ext>
              </a:extLst>
            </a:blip>
            <a:srcRect/>
            <a:stretch>
              <a:fillRect/>
            </a:stretch>
          </p:blipFill>
          <p:spPr bwMode="auto">
            <a:xfrm>
              <a:off x="957421" y="3723878"/>
              <a:ext cx="594000" cy="421706"/>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TextBox 4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464078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600" b="0" i="0" dirty="0">
                <a:solidFill>
                  <a:srgbClr val="2C95DD"/>
                </a:solidFill>
                <a:latin typeface="Arial"/>
              </a:rPr>
              <a:t>Типы</a:t>
            </a:r>
            <a:r>
              <a:rPr lang="ru-RU" sz="2600" b="0" i="0" dirty="0">
                <a:solidFill>
                  <a:srgbClr val="2C95DD"/>
                </a:solidFill>
              </a:rPr>
              <a:t> </a:t>
            </a:r>
            <a:r>
              <a:rPr lang="ru-RU" sz="2600" b="0" i="0" dirty="0">
                <a:solidFill>
                  <a:srgbClr val="2C95DD"/>
                </a:solidFill>
                <a:latin typeface="Arial"/>
              </a:rPr>
              <a:t>устройств</a:t>
            </a:r>
            <a:r>
              <a:rPr lang="ru-RU" sz="2600" b="0" i="0" dirty="0">
                <a:solidFill>
                  <a:srgbClr val="2C95DD"/>
                </a:solidFill>
              </a:rPr>
              <a:t> </a:t>
            </a:r>
            <a:r>
              <a:rPr lang="ru-RU" sz="2600" b="0" i="0" dirty="0">
                <a:solidFill>
                  <a:srgbClr val="2C95DD"/>
                </a:solidFill>
                <a:latin typeface="Arial"/>
              </a:rPr>
              <a:t>хранения</a:t>
            </a:r>
            <a:r>
              <a:rPr lang="ru-RU" sz="2600" b="0" i="0" dirty="0">
                <a:solidFill>
                  <a:srgbClr val="2C95DD"/>
                </a:solidFill>
              </a:rPr>
              <a:t> </a:t>
            </a:r>
            <a:r>
              <a:rPr lang="ru-RU" sz="2600" b="0" i="0" dirty="0">
                <a:solidFill>
                  <a:srgbClr val="2C95DD"/>
                </a:solidFill>
                <a:latin typeface="Arial"/>
              </a:rPr>
              <a:t>данных</a:t>
            </a:r>
          </a:p>
        </p:txBody>
      </p:sp>
      <p:graphicFrame>
        <p:nvGraphicFramePr>
          <p:cNvPr id="7" name="Content Placeholder 5"/>
          <p:cNvGraphicFramePr>
            <a:graphicFrameLocks noGrp="1"/>
          </p:cNvGraphicFramePr>
          <p:nvPr>
            <p:ph sz="quarter" idx="10"/>
            <p:custDataLst>
              <p:tags r:id="rId2"/>
            </p:custDataLst>
            <p:extLst>
              <p:ext uri="{D42A27DB-BD31-4B8C-83A1-F6EECF244321}">
                <p14:modId xmlns:p14="http://schemas.microsoft.com/office/powerpoint/2010/main" val="3753377455"/>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93113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8458200" cy="457200"/>
          </a:xfrm>
        </p:spPr>
        <p:txBody>
          <a:bodyPr/>
          <a:lstStyle/>
          <a:p>
            <a:r>
              <a:rPr lang="ru-RU" sz="2800" b="0" i="0" dirty="0">
                <a:solidFill>
                  <a:srgbClr val="2C95DD"/>
                </a:solidFill>
                <a:latin typeface="Arial" pitchFamily="34" charset="0"/>
                <a:cs typeface="Arial" pitchFamily="34" charset="0"/>
              </a:rPr>
              <a:t>Обзор виртуализации хранилища</a:t>
            </a:r>
          </a:p>
        </p:txBody>
      </p:sp>
      <p:sp>
        <p:nvSpPr>
          <p:cNvPr id="3" name="Content Placeholder 2"/>
          <p:cNvSpPr>
            <a:spLocks noGrp="1"/>
          </p:cNvSpPr>
          <p:nvPr>
            <p:ph sz="quarter" idx="10"/>
          </p:nvPr>
        </p:nvSpPr>
        <p:spPr>
          <a:xfrm>
            <a:off x="228600" y="990600"/>
            <a:ext cx="8764586" cy="3429000"/>
          </a:xfrm>
        </p:spPr>
        <p:txBody>
          <a:bodyPr/>
          <a:lstStyle/>
          <a:p>
            <a:r>
              <a:rPr lang="ru-RU" sz="2000" b="0" i="0" dirty="0">
                <a:solidFill>
                  <a:srgbClr val="000000"/>
                </a:solidFill>
                <a:latin typeface="Arial" pitchFamily="34" charset="0"/>
                <a:cs typeface="Arial" pitchFamily="34" charset="0"/>
              </a:rPr>
              <a:t>Абстрагирование физических ресурсов хранения данных с целью создания виртуальных ресурсов хранения</a:t>
            </a:r>
          </a:p>
          <a:p>
            <a:pPr lvl="1"/>
            <a:r>
              <a:rPr lang="ru-RU" sz="1800" b="0" i="0" dirty="0">
                <a:solidFill>
                  <a:srgbClr val="000000"/>
                </a:solidFill>
                <a:latin typeface="Arial" pitchFamily="34" charset="0"/>
                <a:cs typeface="Arial" pitchFamily="34" charset="0"/>
              </a:rPr>
              <a:t>Виртуальные тома</a:t>
            </a:r>
          </a:p>
          <a:p>
            <a:pPr lvl="1"/>
            <a:r>
              <a:rPr lang="ru-RU" sz="1800" b="0" i="0" dirty="0">
                <a:solidFill>
                  <a:srgbClr val="000000"/>
                </a:solidFill>
                <a:latin typeface="Arial" pitchFamily="34" charset="0"/>
                <a:cs typeface="Arial" pitchFamily="34" charset="0"/>
              </a:rPr>
              <a:t>Файлы виртуальных дисков</a:t>
            </a:r>
          </a:p>
          <a:p>
            <a:pPr lvl="1"/>
            <a:r>
              <a:rPr lang="ru-RU" sz="1800" b="0" i="0" dirty="0">
                <a:solidFill>
                  <a:srgbClr val="000000"/>
                </a:solidFill>
                <a:latin typeface="Arial" pitchFamily="34" charset="0"/>
                <a:cs typeface="Arial" pitchFamily="34" charset="0"/>
              </a:rPr>
              <a:t>Виртуальные системы хранения</a:t>
            </a:r>
          </a:p>
          <a:p>
            <a:r>
              <a:rPr lang="ru-RU" sz="2000" b="0" i="0" dirty="0">
                <a:solidFill>
                  <a:srgbClr val="000000"/>
                </a:solidFill>
                <a:latin typeface="Arial" pitchFamily="34" charset="0"/>
                <a:cs typeface="Arial" pitchFamily="34" charset="0"/>
              </a:rPr>
              <a:t>Программное обеспечение для виртуализации хранилища может быть:</a:t>
            </a:r>
          </a:p>
          <a:p>
            <a:pPr lvl="1"/>
            <a:r>
              <a:rPr lang="ru-RU" sz="1800" b="0" i="0" dirty="0">
                <a:solidFill>
                  <a:srgbClr val="000000"/>
                </a:solidFill>
                <a:latin typeface="Arial" pitchFamily="34" charset="0"/>
                <a:cs typeface="Arial" pitchFamily="34" charset="0"/>
              </a:rPr>
              <a:t>встроено в операционную среду системы хранения;</a:t>
            </a:r>
          </a:p>
          <a:p>
            <a:pPr lvl="1"/>
            <a:r>
              <a:rPr lang="ru-RU" sz="1800" b="0" i="0" dirty="0">
                <a:solidFill>
                  <a:srgbClr val="000000"/>
                </a:solidFill>
                <a:latin typeface="Arial" pitchFamily="34" charset="0"/>
                <a:cs typeface="Arial" pitchFamily="34" charset="0"/>
              </a:rPr>
              <a:t>установлено в независимой вычислительной системе;</a:t>
            </a:r>
          </a:p>
          <a:p>
            <a:pPr lvl="1"/>
            <a:r>
              <a:rPr lang="ru-RU" sz="1800" b="0" i="0" dirty="0">
                <a:solidFill>
                  <a:srgbClr val="000000"/>
                </a:solidFill>
                <a:latin typeface="Arial" pitchFamily="34" charset="0"/>
                <a:cs typeface="Arial" pitchFamily="34" charset="0"/>
              </a:rPr>
              <a:t>встроено в гипервизор.</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598386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Введение в возможности подключения</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Пути передачи данных между компонентами ИТ-инфраструктуры для обмена информацией и совместного использования ресурсов</a:t>
            </a:r>
          </a:p>
          <a:p>
            <a:r>
              <a:rPr lang="ru-RU" sz="2000" b="0" i="0" dirty="0">
                <a:solidFill>
                  <a:srgbClr val="000000"/>
                </a:solidFill>
                <a:latin typeface="Arial" pitchFamily="34" charset="0"/>
                <a:cs typeface="Arial" pitchFamily="34" charset="0"/>
              </a:rPr>
              <a:t>Типы возможностей подключения:</a:t>
            </a:r>
          </a:p>
          <a:p>
            <a:pPr lvl="1"/>
            <a:r>
              <a:rPr lang="ru-RU" sz="1800" b="0" i="0" dirty="0">
                <a:solidFill>
                  <a:srgbClr val="000000"/>
                </a:solidFill>
                <a:latin typeface="Arial" pitchFamily="34" charset="0"/>
                <a:cs typeface="Arial" pitchFamily="34" charset="0"/>
              </a:rPr>
              <a:t>Возможность подключения вычислительной системы к вычислительной системе</a:t>
            </a:r>
          </a:p>
          <a:p>
            <a:pPr lvl="1"/>
            <a:r>
              <a:rPr lang="ru-RU" sz="1800" b="0" i="0" dirty="0">
                <a:solidFill>
                  <a:srgbClr val="000000"/>
                </a:solidFill>
                <a:latin typeface="Arial" pitchFamily="34" charset="0"/>
                <a:cs typeface="Arial" pitchFamily="34" charset="0"/>
              </a:rPr>
              <a:t>Возможность подключения вычислительной системы к системе хранения</a:t>
            </a: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13037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Возможность подключения вычислительной системы к вычислительной системе</a:t>
            </a:r>
          </a:p>
        </p:txBody>
      </p:sp>
      <p:grpSp>
        <p:nvGrpSpPr>
          <p:cNvPr id="5" name="Group 4"/>
          <p:cNvGrpSpPr/>
          <p:nvPr/>
        </p:nvGrpSpPr>
        <p:grpSpPr>
          <a:xfrm>
            <a:off x="1022535" y="1225562"/>
            <a:ext cx="7317941" cy="2692377"/>
            <a:chOff x="1022535" y="1304700"/>
            <a:chExt cx="7317941" cy="2692377"/>
          </a:xfrm>
        </p:grpSpPr>
        <p:cxnSp>
          <p:nvCxnSpPr>
            <p:cNvPr id="6" name="Straight Connector 5"/>
            <p:cNvCxnSpPr/>
            <p:nvPr/>
          </p:nvCxnSpPr>
          <p:spPr>
            <a:xfrm flipH="1">
              <a:off x="2575238" y="1928277"/>
              <a:ext cx="468000" cy="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466767" y="2856405"/>
              <a:ext cx="39600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8" name="Picture 28" descr="C:\Users\patils1\Desktop\2013 Projects\CIS v2\CIS Slide Deck_Based on Book\Colored Graphics\Physical Compute System With Hypervisor.png"/>
            <p:cNvPicPr>
              <a:picLocks noChangeAspect="1" noChangeArrowheads="1"/>
            </p:cNvPicPr>
            <p:nvPr>
              <p:custDataLst>
                <p:tags r:id="rId2"/>
              </p:custDataLst>
            </p:nvPr>
          </p:nvPicPr>
          <p:blipFill>
            <a:blip r:embed="rId17"/>
            <a:stretch>
              <a:fillRect/>
            </a:stretch>
          </p:blipFill>
          <p:spPr bwMode="auto">
            <a:xfrm>
              <a:off x="6917637" y="3090376"/>
              <a:ext cx="934176" cy="9067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8" descr="C:\Users\patils1\Desktop\2013 Projects\CIS v2\CIS Slide Deck_Based on Book\Colored Graphics\Physical Compute System With Hypervisor.png"/>
            <p:cNvPicPr>
              <a:picLocks noChangeAspect="1" noChangeArrowheads="1"/>
            </p:cNvPicPr>
            <p:nvPr>
              <p:custDataLst>
                <p:tags r:id="rId3"/>
              </p:custDataLst>
            </p:nvPr>
          </p:nvPicPr>
          <p:blipFill>
            <a:blip r:embed="rId17"/>
            <a:stretch>
              <a:fillRect/>
            </a:stretch>
          </p:blipFill>
          <p:spPr bwMode="auto">
            <a:xfrm>
              <a:off x="6917637" y="1304700"/>
              <a:ext cx="934176" cy="9067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C:\Users\patils1\Desktop\2013 Projects\CIS v2\CIS Slide Deck_Based on Book\Colored Graphics\Ethernet Switch.png"/>
            <p:cNvPicPr>
              <a:picLocks noChangeAspect="1" noChangeArrowheads="1"/>
            </p:cNvPicPr>
            <p:nvPr>
              <p:custDataLst>
                <p:tags r:id="rId4"/>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3335019" y="2489760"/>
              <a:ext cx="762000" cy="4758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3" descr="C:\Users\patils1\Desktop\2013 Projects\CIS v2\CIS Slide Deck_Based on Book\Colored Graphics\Ethernet Switch.png"/>
            <p:cNvPicPr>
              <a:picLocks noChangeAspect="1" noChangeArrowheads="1"/>
            </p:cNvPicPr>
            <p:nvPr>
              <p:custDataLst>
                <p:tags r:id="rId5"/>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5348971" y="2496110"/>
              <a:ext cx="762000" cy="47588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1" descr="C:\Users\patils1\Desktop\2013 Projects\CIS v2\CIS Slide Deck_Based on Book\Colored Graphics\IP Router.png"/>
            <p:cNvPicPr>
              <a:picLocks noChangeAspect="1" noChangeArrowheads="1"/>
            </p:cNvPicPr>
            <p:nvPr>
              <p:custDataLst>
                <p:tags r:id="rId6"/>
              </p:custDataLst>
            </p:nvPr>
          </p:nvPicPr>
          <p:blipFill>
            <a:blip r:embed="rId19" cstate="print">
              <a:extLst>
                <a:ext uri="{28A0092B-C50C-407E-A947-70E740481C1C}">
                  <a14:useLocalDpi xmlns:a14="http://schemas.microsoft.com/office/drawing/2010/main" val="0"/>
                </a:ext>
              </a:extLst>
            </a:blip>
            <a:srcRect/>
            <a:stretch>
              <a:fillRect/>
            </a:stretch>
          </p:blipFill>
          <p:spPr bwMode="auto">
            <a:xfrm>
              <a:off x="4338193" y="2496508"/>
              <a:ext cx="763707" cy="47548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Users\patils1\Desktop\2013 Projects\CIS v2\CIS Slide Deck_Based on Book\Colored Graphics\Client.png"/>
            <p:cNvPicPr>
              <a:picLocks noChangeAspect="1" noChangeArrowheads="1"/>
            </p:cNvPicPr>
            <p:nvPr>
              <p:custDataLst>
                <p:tags r:id="rId7"/>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2063096" y="2557136"/>
              <a:ext cx="562962" cy="63093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custDataLst>
                <p:tags r:id="rId8"/>
              </p:custDataLst>
            </p:nvPr>
          </p:nvSpPr>
          <p:spPr>
            <a:xfrm>
              <a:off x="6429375" y="2527778"/>
              <a:ext cx="1911101"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i="0" dirty="0">
                  <a:solidFill>
                    <a:srgbClr val="000000"/>
                  </a:solidFill>
                  <a:latin typeface="Arial" pitchFamily="34" charset="0"/>
                  <a:cs typeface="Arial" pitchFamily="34" charset="0"/>
                </a:rPr>
                <a:t>Вычислительные системы</a:t>
              </a:r>
            </a:p>
          </p:txBody>
        </p:sp>
        <p:sp>
          <p:nvSpPr>
            <p:cNvPr id="15" name="TextBox 14"/>
            <p:cNvSpPr txBox="1"/>
            <p:nvPr>
              <p:custDataLst>
                <p:tags r:id="rId9"/>
              </p:custDataLst>
            </p:nvPr>
          </p:nvSpPr>
          <p:spPr>
            <a:xfrm>
              <a:off x="3171825" y="2955688"/>
              <a:ext cx="1066800" cy="400110"/>
            </a:xfrm>
            <a:prstGeom prst="rect">
              <a:avLst/>
            </a:prstGeom>
            <a:noFill/>
          </p:spPr>
          <p:txBody>
            <a:bodyPr wrap="square" rtlCol="0">
              <a:spAutoFit/>
            </a:bodyPr>
            <a:lstStyle>
              <a:defPPr>
                <a:defRPr lang="en-US"/>
              </a:defPPr>
              <a:lvl1pPr>
                <a:defRPr sz="1100" b="1">
                  <a:solidFill>
                    <a:schemeClr val="bg2"/>
                  </a:solidFill>
                </a:defRPr>
              </a:lvl1pPr>
            </a:lstStyle>
            <a:p>
              <a:pPr algn="ctr"/>
              <a:r>
                <a:rPr lang="ru-RU" sz="1000" i="0" dirty="0">
                  <a:solidFill>
                    <a:srgbClr val="000000"/>
                  </a:solidFill>
                  <a:latin typeface="Arial" pitchFamily="34" charset="0"/>
                  <a:cs typeface="Arial" pitchFamily="34" charset="0"/>
                </a:rPr>
                <a:t>Коммутатор Ethernet</a:t>
              </a:r>
            </a:p>
          </p:txBody>
        </p:sp>
        <p:sp>
          <p:nvSpPr>
            <p:cNvPr id="16" name="TextBox 15"/>
            <p:cNvSpPr txBox="1"/>
            <p:nvPr>
              <p:custDataLst>
                <p:tags r:id="rId10"/>
              </p:custDataLst>
            </p:nvPr>
          </p:nvSpPr>
          <p:spPr>
            <a:xfrm>
              <a:off x="4172919" y="2977917"/>
              <a:ext cx="1180131" cy="400110"/>
            </a:xfrm>
            <a:prstGeom prst="rect">
              <a:avLst/>
            </a:prstGeom>
            <a:noFill/>
          </p:spPr>
          <p:txBody>
            <a:bodyPr wrap="none" rtlCol="0">
              <a:spAutoFit/>
            </a:bodyPr>
            <a:lstStyle>
              <a:defPPr>
                <a:defRPr lang="en-US"/>
              </a:defPPr>
              <a:lvl1pPr>
                <a:defRPr sz="1100" b="1">
                  <a:solidFill>
                    <a:schemeClr val="bg2"/>
                  </a:solidFill>
                </a:defRPr>
              </a:lvl1pPr>
            </a:lstStyle>
            <a:p>
              <a:pPr algn="ctr"/>
              <a:r>
                <a:rPr lang="ru-RU" sz="1000" i="0" dirty="0">
                  <a:solidFill>
                    <a:srgbClr val="000000"/>
                  </a:solidFill>
                  <a:latin typeface="Arial" pitchFamily="34" charset="0"/>
                  <a:cs typeface="Arial" pitchFamily="34" charset="0"/>
                </a:rPr>
                <a:t>IP-</a:t>
              </a:r>
              <a:br>
                <a:rPr lang="en-US" sz="1000" i="0" dirty="0">
                  <a:solidFill>
                    <a:srgbClr val="FF00FF"/>
                  </a:solidFill>
                  <a:latin typeface="Arial" pitchFamily="34" charset="0"/>
                  <a:cs typeface="Arial" pitchFamily="34" charset="0"/>
                </a:rPr>
              </a:br>
              <a:r>
                <a:rPr lang="ru-RU" sz="1000" i="0" dirty="0">
                  <a:solidFill>
                    <a:srgbClr val="000000"/>
                  </a:solidFill>
                  <a:latin typeface="Arial" pitchFamily="34" charset="0"/>
                  <a:cs typeface="Arial" pitchFamily="34" charset="0"/>
                </a:rPr>
                <a:t>маршрутизатор</a:t>
              </a:r>
            </a:p>
          </p:txBody>
        </p:sp>
        <p:sp>
          <p:nvSpPr>
            <p:cNvPr id="17" name="TextBox 16"/>
            <p:cNvSpPr txBox="1"/>
            <p:nvPr>
              <p:custDataLst>
                <p:tags r:id="rId11"/>
              </p:custDataLst>
            </p:nvPr>
          </p:nvSpPr>
          <p:spPr>
            <a:xfrm>
              <a:off x="1022535" y="2701252"/>
              <a:ext cx="742511" cy="246221"/>
            </a:xfrm>
            <a:prstGeom prst="rect">
              <a:avLst/>
            </a:prstGeom>
            <a:noFill/>
          </p:spPr>
          <p:txBody>
            <a:bodyPr wrap="none" rtlCol="0">
              <a:spAutoFit/>
            </a:bodyPr>
            <a:lstStyle>
              <a:defPPr>
                <a:defRPr lang="en-US"/>
              </a:defPPr>
              <a:lvl1pPr>
                <a:defRPr sz="1100" b="1">
                  <a:solidFill>
                    <a:schemeClr val="bg2"/>
                  </a:solidFill>
                </a:defRPr>
              </a:lvl1pPr>
            </a:lstStyle>
            <a:p>
              <a:r>
                <a:rPr lang="ru-RU" sz="1000" i="0" dirty="0">
                  <a:solidFill>
                    <a:srgbClr val="000000"/>
                  </a:solidFill>
                  <a:latin typeface="Arial" pitchFamily="34" charset="0"/>
                  <a:cs typeface="Arial" pitchFamily="34" charset="0"/>
                </a:rPr>
                <a:t>Клиенты</a:t>
              </a:r>
            </a:p>
          </p:txBody>
        </p:sp>
        <p:sp>
          <p:nvSpPr>
            <p:cNvPr id="18" name="TextBox 17"/>
            <p:cNvSpPr txBox="1"/>
            <p:nvPr>
              <p:custDataLst>
                <p:tags r:id="rId12"/>
              </p:custDataLst>
            </p:nvPr>
          </p:nvSpPr>
          <p:spPr>
            <a:xfrm>
              <a:off x="5229225" y="2955688"/>
              <a:ext cx="1018783" cy="400110"/>
            </a:xfrm>
            <a:prstGeom prst="rect">
              <a:avLst/>
            </a:prstGeom>
            <a:noFill/>
          </p:spPr>
          <p:txBody>
            <a:bodyPr wrap="square" rtlCol="0">
              <a:spAutoFit/>
            </a:bodyPr>
            <a:lstStyle>
              <a:defPPr>
                <a:defRPr lang="en-US"/>
              </a:defPPr>
              <a:lvl1pPr>
                <a:defRPr sz="1100" b="1">
                  <a:solidFill>
                    <a:schemeClr val="bg2"/>
                  </a:solidFill>
                </a:defRPr>
              </a:lvl1pPr>
            </a:lstStyle>
            <a:p>
              <a:pPr algn="ctr"/>
              <a:r>
                <a:rPr lang="ru-RU" sz="1000" i="0" dirty="0">
                  <a:solidFill>
                    <a:srgbClr val="000000"/>
                  </a:solidFill>
                  <a:latin typeface="Arial" pitchFamily="34" charset="0"/>
                  <a:cs typeface="Arial" pitchFamily="34" charset="0"/>
                </a:rPr>
                <a:t>Коммутатор Ethernet</a:t>
              </a:r>
            </a:p>
          </p:txBody>
        </p:sp>
        <p:cxnSp>
          <p:nvCxnSpPr>
            <p:cNvPr id="19" name="Straight Connector 18"/>
            <p:cNvCxnSpPr/>
            <p:nvPr/>
          </p:nvCxnSpPr>
          <p:spPr>
            <a:xfrm flipH="1">
              <a:off x="2575238" y="3784531"/>
              <a:ext cx="468000" cy="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043238" y="1928280"/>
              <a:ext cx="0" cy="185625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6431359" y="1928280"/>
              <a:ext cx="0" cy="185625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6431359" y="1928277"/>
              <a:ext cx="468000" cy="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6431359" y="3792370"/>
              <a:ext cx="468000" cy="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6" name="Left Brace 25"/>
            <p:cNvSpPr/>
            <p:nvPr/>
          </p:nvSpPr>
          <p:spPr>
            <a:xfrm>
              <a:off x="1725943" y="1815918"/>
              <a:ext cx="180000" cy="2016000"/>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dirty="0">
                <a:latin typeface="Arial" pitchFamily="34" charset="0"/>
                <a:cs typeface="Arial" pitchFamily="34" charset="0"/>
              </a:endParaRPr>
            </a:p>
          </p:txBody>
        </p:sp>
        <p:pic>
          <p:nvPicPr>
            <p:cNvPr id="27" name="Picture 2" descr="C:\1_Projects\1_ISM\ISM V3\Modules PPT\Module 3\Images\laptop4.png"/>
            <p:cNvPicPr>
              <a:picLocks noChangeAspect="1" noChangeArrowheads="1"/>
            </p:cNvPicPr>
            <p:nvPr>
              <p:custDataLst>
                <p:tags r:id="rId13"/>
              </p:custDataLst>
            </p:nvPr>
          </p:nvPicPr>
          <p:blipFill>
            <a:blip r:embed="rId21">
              <a:extLst>
                <a:ext uri="{28A0092B-C50C-407E-A947-70E740481C1C}">
                  <a14:useLocalDpi xmlns:a14="http://schemas.microsoft.com/office/drawing/2010/main" val="0"/>
                </a:ext>
              </a:extLst>
            </a:blip>
            <a:srcRect/>
            <a:stretch>
              <a:fillRect/>
            </a:stretch>
          </p:blipFill>
          <p:spPr bwMode="auto">
            <a:xfrm>
              <a:off x="2020577" y="1645153"/>
              <a:ext cx="648000" cy="56624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1_Projects\1_ISM\ISM V3\Modules PPT\Module 3\Images\tablet and phone_1.png"/>
            <p:cNvPicPr>
              <a:picLocks noChangeAspect="1" noChangeArrowheads="1"/>
            </p:cNvPicPr>
            <p:nvPr>
              <p:custDataLst>
                <p:tags r:id="rId14"/>
              </p:custDataLst>
            </p:nvPr>
          </p:nvPicPr>
          <p:blipFill>
            <a:blip r:embed="rId22">
              <a:extLst>
                <a:ext uri="{28A0092B-C50C-407E-A947-70E740481C1C}">
                  <a14:useLocalDpi xmlns:a14="http://schemas.microsoft.com/office/drawing/2010/main" val="0"/>
                </a:ext>
              </a:extLst>
            </a:blip>
            <a:srcRect/>
            <a:stretch>
              <a:fillRect/>
            </a:stretch>
          </p:blipFill>
          <p:spPr bwMode="auto">
            <a:xfrm>
              <a:off x="2047577" y="3575371"/>
              <a:ext cx="594000" cy="421706"/>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Box 29"/>
          <p:cNvSpPr txBox="1"/>
          <p:nvPr/>
        </p:nvSpPr>
        <p:spPr>
          <a:xfrm>
            <a:off x="6972300" y="1695450"/>
            <a:ext cx="788999" cy="215444"/>
          </a:xfrm>
          <a:prstGeom prst="rect">
            <a:avLst/>
          </a:prstGeom>
          <a:noFill/>
        </p:spPr>
        <p:txBody>
          <a:bodyPr wrap="none" rtlCol="0">
            <a:spAutoFit/>
          </a:bodyPr>
          <a:lstStyle>
            <a:defPPr>
              <a:defRPr lang="en-US"/>
            </a:defPPr>
            <a:lvl1pPr>
              <a:defRPr sz="1100" b="1">
                <a:solidFill>
                  <a:schemeClr val="bg2"/>
                </a:solidFill>
              </a:defRPr>
            </a:lvl1pPr>
          </a:lstStyle>
          <a:p>
            <a:r>
              <a:rPr lang="ru-RU" sz="800" i="0" dirty="0">
                <a:solidFill>
                  <a:srgbClr val="000000"/>
                </a:solidFill>
                <a:latin typeface="Arial" pitchFamily="34" charset="0"/>
                <a:cs typeface="Arial" pitchFamily="34" charset="0"/>
              </a:rPr>
              <a:t>Гипервизор</a:t>
            </a:r>
          </a:p>
        </p:txBody>
      </p:sp>
      <p:sp>
        <p:nvSpPr>
          <p:cNvPr id="31" name="TextBox 30"/>
          <p:cNvSpPr txBox="1"/>
          <p:nvPr/>
        </p:nvSpPr>
        <p:spPr>
          <a:xfrm>
            <a:off x="6962775" y="3486150"/>
            <a:ext cx="788999" cy="215444"/>
          </a:xfrm>
          <a:prstGeom prst="rect">
            <a:avLst/>
          </a:prstGeom>
          <a:noFill/>
        </p:spPr>
        <p:txBody>
          <a:bodyPr wrap="none" rtlCol="0">
            <a:spAutoFit/>
          </a:bodyPr>
          <a:lstStyle>
            <a:defPPr>
              <a:defRPr lang="en-US"/>
            </a:defPPr>
            <a:lvl1pPr>
              <a:defRPr sz="1100" b="1">
                <a:solidFill>
                  <a:schemeClr val="bg2"/>
                </a:solidFill>
              </a:defRPr>
            </a:lvl1pPr>
          </a:lstStyle>
          <a:p>
            <a:r>
              <a:rPr lang="ru-RU" sz="800" i="0" dirty="0">
                <a:solidFill>
                  <a:srgbClr val="000000"/>
                </a:solidFill>
                <a:latin typeface="Arial" pitchFamily="34" charset="0"/>
                <a:cs typeface="Arial" pitchFamily="34" charset="0"/>
              </a:rPr>
              <a:t>Гипервизор</a:t>
            </a:r>
          </a:p>
        </p:txBody>
      </p:sp>
      <p:sp>
        <p:nvSpPr>
          <p:cNvPr id="29" name="TextBox 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2082082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Возможность подключения вычислительной системы к системе хранения</a:t>
            </a:r>
          </a:p>
        </p:txBody>
      </p:sp>
      <p:sp>
        <p:nvSpPr>
          <p:cNvPr id="3" name="Content Placeholder 2"/>
          <p:cNvSpPr>
            <a:spLocks noGrp="1"/>
          </p:cNvSpPr>
          <p:nvPr>
            <p:ph sz="quarter" idx="10"/>
          </p:nvPr>
        </p:nvSpPr>
        <p:spPr>
          <a:xfrm>
            <a:off x="379414" y="1200150"/>
            <a:ext cx="4878386" cy="3429000"/>
          </a:xfrm>
        </p:spPr>
        <p:txBody>
          <a:bodyPr/>
          <a:lstStyle/>
          <a:p>
            <a:r>
              <a:rPr lang="ru-RU" sz="1600" b="0" i="0" dirty="0">
                <a:solidFill>
                  <a:srgbClr val="000000"/>
                </a:solidFill>
                <a:latin typeface="Arial" pitchFamily="34" charset="0"/>
                <a:cs typeface="Arial" pitchFamily="34" charset="0"/>
              </a:rPr>
              <a:t>Обеспечивается при посредстве физических компонентов и протоколов обмена данными</a:t>
            </a:r>
          </a:p>
          <a:p>
            <a:r>
              <a:rPr lang="ru-RU" sz="1600" b="0" i="0" dirty="0">
                <a:solidFill>
                  <a:srgbClr val="000000"/>
                </a:solidFill>
                <a:latin typeface="Arial" pitchFamily="34" charset="0"/>
                <a:cs typeface="Arial" pitchFamily="34" charset="0"/>
              </a:rPr>
              <a:t>Физические компоненты, обеспечивающие возможность подключения</a:t>
            </a:r>
          </a:p>
          <a:p>
            <a:pPr lvl="1"/>
            <a:r>
              <a:rPr lang="ru-RU" sz="1400" b="0" i="0" dirty="0">
                <a:solidFill>
                  <a:srgbClr val="000000"/>
                </a:solidFill>
                <a:latin typeface="Arial" pitchFamily="34" charset="0"/>
                <a:cs typeface="Arial" pitchFamily="34" charset="0"/>
              </a:rPr>
              <a:t>HBA-адаптер, порт и кабель</a:t>
            </a:r>
          </a:p>
          <a:p>
            <a:r>
              <a:rPr lang="ru-RU" sz="1600" b="0" i="0" dirty="0">
                <a:solidFill>
                  <a:srgbClr val="000000"/>
                </a:solidFill>
                <a:latin typeface="Arial" pitchFamily="34" charset="0"/>
                <a:cs typeface="Arial" pitchFamily="34" charset="0"/>
              </a:rPr>
              <a:t>Протоколы определяют форматы обмена данными между устройствами</a:t>
            </a:r>
          </a:p>
          <a:p>
            <a:pPr lvl="1"/>
            <a:r>
              <a:rPr lang="ru-RU" sz="1400" b="0" i="0" dirty="0">
                <a:solidFill>
                  <a:srgbClr val="000000"/>
                </a:solidFill>
                <a:latin typeface="Arial" pitchFamily="34" charset="0"/>
                <a:cs typeface="Arial" pitchFamily="34" charset="0"/>
              </a:rPr>
              <a:t>Популярные протоколы обмена данными, используемые в системах хранения: IDE/ATA, SCSI и FC</a:t>
            </a:r>
          </a:p>
          <a:p>
            <a:r>
              <a:rPr lang="ru-RU" sz="1600" b="0" i="0" dirty="0">
                <a:solidFill>
                  <a:srgbClr val="000000"/>
                </a:solidFill>
                <a:latin typeface="Arial" pitchFamily="34" charset="0"/>
                <a:cs typeface="Arial" pitchFamily="34" charset="0"/>
              </a:rPr>
              <a:t>Система хранения может быть подключена непосредственно или по сети хранения данных</a:t>
            </a:r>
          </a:p>
        </p:txBody>
      </p:sp>
      <p:grpSp>
        <p:nvGrpSpPr>
          <p:cNvPr id="5" name="Group 4"/>
          <p:cNvGrpSpPr/>
          <p:nvPr/>
        </p:nvGrpSpPr>
        <p:grpSpPr>
          <a:xfrm>
            <a:off x="5455528" y="1895493"/>
            <a:ext cx="3563857" cy="1603825"/>
            <a:chOff x="3302256" y="1646194"/>
            <a:chExt cx="3563857" cy="1603825"/>
          </a:xfrm>
        </p:grpSpPr>
        <p:sp>
          <p:nvSpPr>
            <p:cNvPr id="6" name="Rectangle 5"/>
            <p:cNvSpPr>
              <a:spLocks noChangeArrowheads="1"/>
            </p:cNvSpPr>
            <p:nvPr/>
          </p:nvSpPr>
          <p:spPr bwMode="auto">
            <a:xfrm>
              <a:off x="5927430" y="1959973"/>
              <a:ext cx="157163" cy="493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sp>
          <p:nvSpPr>
            <p:cNvPr id="7" name="Rectangle 6"/>
            <p:cNvSpPr>
              <a:spLocks noChangeArrowheads="1"/>
            </p:cNvSpPr>
            <p:nvPr/>
          </p:nvSpPr>
          <p:spPr bwMode="auto">
            <a:xfrm>
              <a:off x="4470930" y="1952550"/>
              <a:ext cx="1260000" cy="395288"/>
            </a:xfrm>
            <a:prstGeom prst="rect">
              <a:avLst/>
            </a:prstGeom>
            <a:gradFill rotWithShape="1">
              <a:gsLst>
                <a:gs pos="0">
                  <a:srgbClr val="FFC425">
                    <a:shade val="51000"/>
                    <a:satMod val="130000"/>
                  </a:srgbClr>
                </a:gs>
                <a:gs pos="80000">
                  <a:srgbClr val="FFC425">
                    <a:shade val="93000"/>
                    <a:satMod val="130000"/>
                  </a:srgbClr>
                </a:gs>
                <a:gs pos="100000">
                  <a:srgbClr val="FFC425">
                    <a:shade val="94000"/>
                    <a:satMod val="135000"/>
                  </a:srgbClr>
                </a:gs>
              </a:gsLst>
              <a:lin ang="16200000" scaled="0"/>
            </a:gradFill>
            <a:ln w="9525" cap="flat" cmpd="sng" algn="ctr">
              <a:solidFill>
                <a:srgbClr val="FFC425">
                  <a:shade val="95000"/>
                  <a:satMod val="105000"/>
                </a:srgbClr>
              </a:solidFill>
              <a:prstDash val="solid"/>
            </a:ln>
            <a:effectLst>
              <a:outerShdw blurRad="40000" dist="23000" dir="5400000" rotWithShape="0">
                <a:srgbClr val="000000">
                  <a:alpha val="35000"/>
                </a:srgbClr>
              </a:outerShdw>
            </a:effectLst>
          </p:spPr>
          <p:txBody>
            <a:bodyPr tIns="0" bIns="0" anchor="ctr"/>
            <a:lstStyle/>
            <a:p>
              <a:pPr lvl="0" algn="ctr" defTabSz="914400" fontAlgn="base">
                <a:spcBef>
                  <a:spcPct val="0"/>
                </a:spcBef>
                <a:spcAft>
                  <a:spcPct val="0"/>
                </a:spcAft>
              </a:pPr>
              <a:r>
                <a:rPr lang="ru-RU" sz="1100" b="1" i="0" dirty="0">
                  <a:solidFill>
                    <a:srgbClr val="FFFFFF"/>
                  </a:solidFill>
                  <a:latin typeface="Arial" pitchFamily="34" charset="0"/>
                  <a:cs typeface="Arial" pitchFamily="34" charset="0"/>
                </a:rPr>
                <a:t>Кабель</a:t>
              </a:r>
            </a:p>
          </p:txBody>
        </p:sp>
        <p:sp>
          <p:nvSpPr>
            <p:cNvPr id="8" name="Freeform 7"/>
            <p:cNvSpPr>
              <a:spLocks/>
            </p:cNvSpPr>
            <p:nvPr/>
          </p:nvSpPr>
          <p:spPr bwMode="auto">
            <a:xfrm>
              <a:off x="4298655" y="1959973"/>
              <a:ext cx="157163" cy="493713"/>
            </a:xfrm>
            <a:custGeom>
              <a:avLst/>
              <a:gdLst>
                <a:gd name="T0" fmla="*/ 253 w 253"/>
                <a:gd name="T1" fmla="*/ 0 h 611"/>
                <a:gd name="T2" fmla="*/ 0 w 253"/>
                <a:gd name="T3" fmla="*/ 0 h 611"/>
                <a:gd name="T4" fmla="*/ 0 w 253"/>
                <a:gd name="T5" fmla="*/ 611 h 611"/>
                <a:gd name="T6" fmla="*/ 253 w 253"/>
                <a:gd name="T7" fmla="*/ 611 h 611"/>
                <a:gd name="T8" fmla="*/ 253 w 253"/>
                <a:gd name="T9" fmla="*/ 474 h 611"/>
                <a:gd name="T10" fmla="*/ 253 w 253"/>
                <a:gd name="T11" fmla="*/ 126 h 611"/>
                <a:gd name="T12" fmla="*/ 253 w 253"/>
                <a:gd name="T13" fmla="*/ 0 h 611"/>
              </a:gdLst>
              <a:ahLst/>
              <a:cxnLst>
                <a:cxn ang="0">
                  <a:pos x="T0" y="T1"/>
                </a:cxn>
                <a:cxn ang="0">
                  <a:pos x="T2" y="T3"/>
                </a:cxn>
                <a:cxn ang="0">
                  <a:pos x="T4" y="T5"/>
                </a:cxn>
                <a:cxn ang="0">
                  <a:pos x="T6" y="T7"/>
                </a:cxn>
                <a:cxn ang="0">
                  <a:pos x="T8" y="T9"/>
                </a:cxn>
                <a:cxn ang="0">
                  <a:pos x="T10" y="T11"/>
                </a:cxn>
                <a:cxn ang="0">
                  <a:pos x="T12" y="T13"/>
                </a:cxn>
              </a:cxnLst>
              <a:rect l="0" t="0" r="r" b="b"/>
              <a:pathLst>
                <a:path w="253" h="611">
                  <a:moveTo>
                    <a:pt x="253" y="0"/>
                  </a:moveTo>
                  <a:lnTo>
                    <a:pt x="0" y="0"/>
                  </a:lnTo>
                  <a:lnTo>
                    <a:pt x="0" y="611"/>
                  </a:lnTo>
                  <a:lnTo>
                    <a:pt x="253" y="611"/>
                  </a:lnTo>
                  <a:lnTo>
                    <a:pt x="253" y="474"/>
                  </a:lnTo>
                  <a:lnTo>
                    <a:pt x="253" y="126"/>
                  </a:lnTo>
                  <a:lnTo>
                    <a:pt x="25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sp>
          <p:nvSpPr>
            <p:cNvPr id="9" name="Freeform 8"/>
            <p:cNvSpPr>
              <a:spLocks/>
            </p:cNvSpPr>
            <p:nvPr/>
          </p:nvSpPr>
          <p:spPr bwMode="auto">
            <a:xfrm rot="10800000">
              <a:off x="4309768" y="1903337"/>
              <a:ext cx="157163" cy="493713"/>
            </a:xfrm>
            <a:custGeom>
              <a:avLst/>
              <a:gdLst>
                <a:gd name="T0" fmla="*/ 253 w 253"/>
                <a:gd name="T1" fmla="*/ 474 h 611"/>
                <a:gd name="T2" fmla="*/ 253 w 253"/>
                <a:gd name="T3" fmla="*/ 611 h 611"/>
                <a:gd name="T4" fmla="*/ 0 w 253"/>
                <a:gd name="T5" fmla="*/ 611 h 611"/>
                <a:gd name="T6" fmla="*/ 0 w 253"/>
                <a:gd name="T7" fmla="*/ 0 h 611"/>
                <a:gd name="T8" fmla="*/ 253 w 253"/>
                <a:gd name="T9" fmla="*/ 0 h 611"/>
                <a:gd name="T10" fmla="*/ 253 w 253"/>
                <a:gd name="T11" fmla="*/ 126 h 611"/>
              </a:gdLst>
              <a:ahLst/>
              <a:cxnLst>
                <a:cxn ang="0">
                  <a:pos x="T0" y="T1"/>
                </a:cxn>
                <a:cxn ang="0">
                  <a:pos x="T2" y="T3"/>
                </a:cxn>
                <a:cxn ang="0">
                  <a:pos x="T4" y="T5"/>
                </a:cxn>
                <a:cxn ang="0">
                  <a:pos x="T6" y="T7"/>
                </a:cxn>
                <a:cxn ang="0">
                  <a:pos x="T8" y="T9"/>
                </a:cxn>
                <a:cxn ang="0">
                  <a:pos x="T10" y="T11"/>
                </a:cxn>
              </a:cxnLst>
              <a:rect l="0" t="0" r="r" b="b"/>
              <a:pathLst>
                <a:path w="253" h="611">
                  <a:moveTo>
                    <a:pt x="253" y="474"/>
                  </a:moveTo>
                  <a:lnTo>
                    <a:pt x="253" y="611"/>
                  </a:lnTo>
                  <a:lnTo>
                    <a:pt x="0" y="611"/>
                  </a:lnTo>
                  <a:lnTo>
                    <a:pt x="0" y="0"/>
                  </a:lnTo>
                  <a:lnTo>
                    <a:pt x="253" y="0"/>
                  </a:lnTo>
                  <a:lnTo>
                    <a:pt x="253" y="126"/>
                  </a:lnTo>
                </a:path>
              </a:pathLst>
            </a:custGeom>
            <a:gradFill rotWithShape="1">
              <a:gsLst>
                <a:gs pos="0">
                  <a:srgbClr val="6AA121">
                    <a:gamma/>
                    <a:shade val="46275"/>
                    <a:invGamma/>
                  </a:srgbClr>
                </a:gs>
                <a:gs pos="50000">
                  <a:srgbClr val="6AA121"/>
                </a:gs>
                <a:gs pos="100000">
                  <a:srgbClr val="6AA121">
                    <a:gamma/>
                    <a:shade val="46275"/>
                    <a:invGamma/>
                  </a:srgbClr>
                </a:gs>
              </a:gsLst>
              <a:lin ang="5400000" scaled="1"/>
            </a:gradFill>
            <a:ln w="254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sp>
          <p:nvSpPr>
            <p:cNvPr id="10" name="Rectangle 15"/>
            <p:cNvSpPr>
              <a:spLocks noChangeArrowheads="1"/>
            </p:cNvSpPr>
            <p:nvPr/>
          </p:nvSpPr>
          <p:spPr bwMode="auto">
            <a:xfrm>
              <a:off x="5724128" y="1912863"/>
              <a:ext cx="142875" cy="474663"/>
            </a:xfrm>
            <a:prstGeom prst="rect">
              <a:avLst/>
            </a:prstGeom>
            <a:gradFill rotWithShape="1">
              <a:gsLst>
                <a:gs pos="0">
                  <a:srgbClr val="6AA121">
                    <a:gamma/>
                    <a:shade val="46275"/>
                    <a:invGamma/>
                  </a:srgbClr>
                </a:gs>
                <a:gs pos="50000">
                  <a:srgbClr val="6AA121"/>
                </a:gs>
                <a:gs pos="100000">
                  <a:srgbClr val="6AA121">
                    <a:gamma/>
                    <a:shade val="46275"/>
                    <a:invGamma/>
                  </a:srgbClr>
                </a:gs>
              </a:gsLst>
              <a:lin ang="5400000" scaled="1"/>
            </a:gradFill>
            <a:ln w="254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sp>
          <p:nvSpPr>
            <p:cNvPr id="11" name="Freeform 20"/>
            <p:cNvSpPr>
              <a:spLocks/>
            </p:cNvSpPr>
            <p:nvPr/>
          </p:nvSpPr>
          <p:spPr bwMode="auto">
            <a:xfrm>
              <a:off x="3302256" y="1646194"/>
              <a:ext cx="1008000" cy="1008000"/>
            </a:xfrm>
            <a:custGeom>
              <a:avLst/>
              <a:gdLst>
                <a:gd name="T0" fmla="*/ 168 w 1997"/>
                <a:gd name="T1" fmla="*/ 0 h 1266"/>
                <a:gd name="T2" fmla="*/ 126 w 1997"/>
                <a:gd name="T3" fmla="*/ 6 h 1266"/>
                <a:gd name="T4" fmla="*/ 90 w 1997"/>
                <a:gd name="T5" fmla="*/ 18 h 1266"/>
                <a:gd name="T6" fmla="*/ 60 w 1997"/>
                <a:gd name="T7" fmla="*/ 36 h 1266"/>
                <a:gd name="T8" fmla="*/ 36 w 1997"/>
                <a:gd name="T9" fmla="*/ 60 h 1266"/>
                <a:gd name="T10" fmla="*/ 18 w 1997"/>
                <a:gd name="T11" fmla="*/ 90 h 1266"/>
                <a:gd name="T12" fmla="*/ 6 w 1997"/>
                <a:gd name="T13" fmla="*/ 126 h 1266"/>
                <a:gd name="T14" fmla="*/ 0 w 1997"/>
                <a:gd name="T15" fmla="*/ 168 h 1266"/>
                <a:gd name="T16" fmla="*/ 0 w 1997"/>
                <a:gd name="T17" fmla="*/ 1074 h 1266"/>
                <a:gd name="T18" fmla="*/ 3 w 1997"/>
                <a:gd name="T19" fmla="*/ 1118 h 1266"/>
                <a:gd name="T20" fmla="*/ 12 w 1997"/>
                <a:gd name="T21" fmla="*/ 1158 h 1266"/>
                <a:gd name="T22" fmla="*/ 27 w 1997"/>
                <a:gd name="T23" fmla="*/ 1190 h 1266"/>
                <a:gd name="T24" fmla="*/ 48 w 1997"/>
                <a:gd name="T25" fmla="*/ 1218 h 1266"/>
                <a:gd name="T26" fmla="*/ 75 w 1997"/>
                <a:gd name="T27" fmla="*/ 1238 h 1266"/>
                <a:gd name="T28" fmla="*/ 108 w 1997"/>
                <a:gd name="T29" fmla="*/ 1254 h 1266"/>
                <a:gd name="T30" fmla="*/ 147 w 1997"/>
                <a:gd name="T31" fmla="*/ 1262 h 1266"/>
                <a:gd name="T32" fmla="*/ 192 w 1997"/>
                <a:gd name="T33" fmla="*/ 1266 h 1266"/>
                <a:gd name="T34" fmla="*/ 1810 w 1997"/>
                <a:gd name="T35" fmla="*/ 1265 h 1266"/>
                <a:gd name="T36" fmla="*/ 1828 w 1997"/>
                <a:gd name="T37" fmla="*/ 1265 h 1266"/>
                <a:gd name="T38" fmla="*/ 1859 w 1997"/>
                <a:gd name="T39" fmla="*/ 1260 h 1266"/>
                <a:gd name="T40" fmla="*/ 1870 w 1997"/>
                <a:gd name="T41" fmla="*/ 1259 h 1266"/>
                <a:gd name="T42" fmla="*/ 1906 w 1997"/>
                <a:gd name="T43" fmla="*/ 1247 h 1266"/>
                <a:gd name="T44" fmla="*/ 1917 w 1997"/>
                <a:gd name="T45" fmla="*/ 1240 h 1266"/>
                <a:gd name="T46" fmla="*/ 1936 w 1997"/>
                <a:gd name="T47" fmla="*/ 1229 h 1266"/>
                <a:gd name="T48" fmla="*/ 1942 w 1997"/>
                <a:gd name="T49" fmla="*/ 1223 h 1266"/>
                <a:gd name="T50" fmla="*/ 1954 w 1997"/>
                <a:gd name="T51" fmla="*/ 1211 h 1266"/>
                <a:gd name="T52" fmla="*/ 1960 w 1997"/>
                <a:gd name="T53" fmla="*/ 1205 h 1266"/>
                <a:gd name="T54" fmla="*/ 1971 w 1997"/>
                <a:gd name="T55" fmla="*/ 1186 h 1266"/>
                <a:gd name="T56" fmla="*/ 1978 w 1997"/>
                <a:gd name="T57" fmla="*/ 1175 h 1266"/>
                <a:gd name="T58" fmla="*/ 1990 w 1997"/>
                <a:gd name="T59" fmla="*/ 1139 h 1266"/>
                <a:gd name="T60" fmla="*/ 1991 w 1997"/>
                <a:gd name="T61" fmla="*/ 1128 h 1266"/>
                <a:gd name="T62" fmla="*/ 1996 w 1997"/>
                <a:gd name="T63" fmla="*/ 1097 h 1266"/>
                <a:gd name="T64" fmla="*/ 1996 w 1997"/>
                <a:gd name="T65" fmla="*/ 1079 h 1266"/>
                <a:gd name="T66" fmla="*/ 1997 w 1997"/>
                <a:gd name="T67" fmla="*/ 192 h 1266"/>
                <a:gd name="T68" fmla="*/ 1994 w 1997"/>
                <a:gd name="T69" fmla="*/ 146 h 1266"/>
                <a:gd name="T70" fmla="*/ 1985 w 1997"/>
                <a:gd name="T71" fmla="*/ 108 h 1266"/>
                <a:gd name="T72" fmla="*/ 1970 w 1997"/>
                <a:gd name="T73" fmla="*/ 74 h 1266"/>
                <a:gd name="T74" fmla="*/ 1949 w 1997"/>
                <a:gd name="T75" fmla="*/ 48 h 1266"/>
                <a:gd name="T76" fmla="*/ 1922 w 1997"/>
                <a:gd name="T77" fmla="*/ 26 h 1266"/>
                <a:gd name="T78" fmla="*/ 1889 w 1997"/>
                <a:gd name="T79" fmla="*/ 12 h 1266"/>
                <a:gd name="T80" fmla="*/ 1850 w 1997"/>
                <a:gd name="T81" fmla="*/ 2 h 1266"/>
                <a:gd name="T82" fmla="*/ 1805 w 1997"/>
                <a:gd name="T83" fmla="*/ 0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97" h="1266">
                  <a:moveTo>
                    <a:pt x="192" y="0"/>
                  </a:moveTo>
                  <a:lnTo>
                    <a:pt x="168" y="0"/>
                  </a:lnTo>
                  <a:lnTo>
                    <a:pt x="147" y="2"/>
                  </a:lnTo>
                  <a:lnTo>
                    <a:pt x="126" y="6"/>
                  </a:lnTo>
                  <a:lnTo>
                    <a:pt x="108" y="12"/>
                  </a:lnTo>
                  <a:lnTo>
                    <a:pt x="90" y="18"/>
                  </a:lnTo>
                  <a:lnTo>
                    <a:pt x="75" y="26"/>
                  </a:lnTo>
                  <a:lnTo>
                    <a:pt x="60" y="36"/>
                  </a:lnTo>
                  <a:lnTo>
                    <a:pt x="48" y="48"/>
                  </a:lnTo>
                  <a:lnTo>
                    <a:pt x="36" y="60"/>
                  </a:lnTo>
                  <a:lnTo>
                    <a:pt x="27" y="74"/>
                  </a:lnTo>
                  <a:lnTo>
                    <a:pt x="18" y="90"/>
                  </a:lnTo>
                  <a:lnTo>
                    <a:pt x="12" y="108"/>
                  </a:lnTo>
                  <a:lnTo>
                    <a:pt x="6" y="126"/>
                  </a:lnTo>
                  <a:lnTo>
                    <a:pt x="3" y="146"/>
                  </a:lnTo>
                  <a:lnTo>
                    <a:pt x="0" y="168"/>
                  </a:lnTo>
                  <a:lnTo>
                    <a:pt x="0" y="192"/>
                  </a:lnTo>
                  <a:lnTo>
                    <a:pt x="0" y="1074"/>
                  </a:lnTo>
                  <a:lnTo>
                    <a:pt x="0" y="1097"/>
                  </a:lnTo>
                  <a:lnTo>
                    <a:pt x="3" y="1118"/>
                  </a:lnTo>
                  <a:lnTo>
                    <a:pt x="6" y="1139"/>
                  </a:lnTo>
                  <a:lnTo>
                    <a:pt x="12" y="1158"/>
                  </a:lnTo>
                  <a:lnTo>
                    <a:pt x="18" y="1175"/>
                  </a:lnTo>
                  <a:lnTo>
                    <a:pt x="27" y="1190"/>
                  </a:lnTo>
                  <a:lnTo>
                    <a:pt x="36" y="1205"/>
                  </a:lnTo>
                  <a:lnTo>
                    <a:pt x="48" y="1218"/>
                  </a:lnTo>
                  <a:lnTo>
                    <a:pt x="60" y="1229"/>
                  </a:lnTo>
                  <a:lnTo>
                    <a:pt x="75" y="1238"/>
                  </a:lnTo>
                  <a:lnTo>
                    <a:pt x="90" y="1247"/>
                  </a:lnTo>
                  <a:lnTo>
                    <a:pt x="108" y="1254"/>
                  </a:lnTo>
                  <a:lnTo>
                    <a:pt x="126" y="1259"/>
                  </a:lnTo>
                  <a:lnTo>
                    <a:pt x="147" y="1262"/>
                  </a:lnTo>
                  <a:lnTo>
                    <a:pt x="168" y="1265"/>
                  </a:lnTo>
                  <a:lnTo>
                    <a:pt x="192" y="1266"/>
                  </a:lnTo>
                  <a:lnTo>
                    <a:pt x="1805" y="1266"/>
                  </a:lnTo>
                  <a:lnTo>
                    <a:pt x="1810" y="1265"/>
                  </a:lnTo>
                  <a:lnTo>
                    <a:pt x="1816" y="1265"/>
                  </a:lnTo>
                  <a:lnTo>
                    <a:pt x="1828" y="1265"/>
                  </a:lnTo>
                  <a:lnTo>
                    <a:pt x="1850" y="1262"/>
                  </a:lnTo>
                  <a:lnTo>
                    <a:pt x="1859" y="1260"/>
                  </a:lnTo>
                  <a:lnTo>
                    <a:pt x="1864" y="1259"/>
                  </a:lnTo>
                  <a:lnTo>
                    <a:pt x="1870" y="1259"/>
                  </a:lnTo>
                  <a:lnTo>
                    <a:pt x="1889" y="1254"/>
                  </a:lnTo>
                  <a:lnTo>
                    <a:pt x="1906" y="1247"/>
                  </a:lnTo>
                  <a:lnTo>
                    <a:pt x="1913" y="1242"/>
                  </a:lnTo>
                  <a:lnTo>
                    <a:pt x="1917" y="1240"/>
                  </a:lnTo>
                  <a:lnTo>
                    <a:pt x="1922" y="1238"/>
                  </a:lnTo>
                  <a:lnTo>
                    <a:pt x="1936" y="1229"/>
                  </a:lnTo>
                  <a:lnTo>
                    <a:pt x="1938" y="1225"/>
                  </a:lnTo>
                  <a:lnTo>
                    <a:pt x="1942" y="1223"/>
                  </a:lnTo>
                  <a:lnTo>
                    <a:pt x="1949" y="1218"/>
                  </a:lnTo>
                  <a:lnTo>
                    <a:pt x="1954" y="1211"/>
                  </a:lnTo>
                  <a:lnTo>
                    <a:pt x="1956" y="1207"/>
                  </a:lnTo>
                  <a:lnTo>
                    <a:pt x="1960" y="1205"/>
                  </a:lnTo>
                  <a:lnTo>
                    <a:pt x="1970" y="1190"/>
                  </a:lnTo>
                  <a:lnTo>
                    <a:pt x="1971" y="1186"/>
                  </a:lnTo>
                  <a:lnTo>
                    <a:pt x="1973" y="1182"/>
                  </a:lnTo>
                  <a:lnTo>
                    <a:pt x="1978" y="1175"/>
                  </a:lnTo>
                  <a:lnTo>
                    <a:pt x="1985" y="1158"/>
                  </a:lnTo>
                  <a:lnTo>
                    <a:pt x="1990" y="1139"/>
                  </a:lnTo>
                  <a:lnTo>
                    <a:pt x="1990" y="1133"/>
                  </a:lnTo>
                  <a:lnTo>
                    <a:pt x="1991" y="1128"/>
                  </a:lnTo>
                  <a:lnTo>
                    <a:pt x="1994" y="1118"/>
                  </a:lnTo>
                  <a:lnTo>
                    <a:pt x="1996" y="1097"/>
                  </a:lnTo>
                  <a:lnTo>
                    <a:pt x="1996" y="1085"/>
                  </a:lnTo>
                  <a:lnTo>
                    <a:pt x="1996" y="1079"/>
                  </a:lnTo>
                  <a:lnTo>
                    <a:pt x="1997" y="1074"/>
                  </a:lnTo>
                  <a:lnTo>
                    <a:pt x="1997" y="192"/>
                  </a:lnTo>
                  <a:lnTo>
                    <a:pt x="1996" y="168"/>
                  </a:lnTo>
                  <a:lnTo>
                    <a:pt x="1994" y="146"/>
                  </a:lnTo>
                  <a:lnTo>
                    <a:pt x="1990" y="126"/>
                  </a:lnTo>
                  <a:lnTo>
                    <a:pt x="1985" y="108"/>
                  </a:lnTo>
                  <a:lnTo>
                    <a:pt x="1978" y="90"/>
                  </a:lnTo>
                  <a:lnTo>
                    <a:pt x="1970" y="74"/>
                  </a:lnTo>
                  <a:lnTo>
                    <a:pt x="1960" y="60"/>
                  </a:lnTo>
                  <a:lnTo>
                    <a:pt x="1949" y="48"/>
                  </a:lnTo>
                  <a:lnTo>
                    <a:pt x="1936" y="36"/>
                  </a:lnTo>
                  <a:lnTo>
                    <a:pt x="1922" y="26"/>
                  </a:lnTo>
                  <a:lnTo>
                    <a:pt x="1906" y="18"/>
                  </a:lnTo>
                  <a:lnTo>
                    <a:pt x="1889" y="12"/>
                  </a:lnTo>
                  <a:lnTo>
                    <a:pt x="1870" y="6"/>
                  </a:lnTo>
                  <a:lnTo>
                    <a:pt x="1850" y="2"/>
                  </a:lnTo>
                  <a:lnTo>
                    <a:pt x="1828" y="0"/>
                  </a:lnTo>
                  <a:lnTo>
                    <a:pt x="1805" y="0"/>
                  </a:lnTo>
                  <a:lnTo>
                    <a:pt x="192" y="0"/>
                  </a:lnTo>
                  <a:close/>
                </a:path>
              </a:pathLst>
            </a:custGeom>
            <a:gradFill rotWithShape="1">
              <a:gsLst>
                <a:gs pos="0">
                  <a:srgbClr val="2C95DD">
                    <a:shade val="51000"/>
                    <a:satMod val="130000"/>
                  </a:srgbClr>
                </a:gs>
                <a:gs pos="80000">
                  <a:srgbClr val="2C95DD">
                    <a:shade val="93000"/>
                    <a:satMod val="130000"/>
                  </a:srgbClr>
                </a:gs>
                <a:gs pos="100000">
                  <a:srgbClr val="2C95DD">
                    <a:shade val="94000"/>
                    <a:satMod val="135000"/>
                  </a:srgbClr>
                </a:gs>
              </a:gsLst>
              <a:lin ang="16200000" scaled="0"/>
            </a:gradFill>
            <a:ln w="9525" cap="flat" cmpd="sng" algn="ctr">
              <a:solidFill>
                <a:srgbClr val="2C95DD">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anchor="ctr"/>
            <a:lstStyle/>
            <a:p>
              <a:pPr algn="ctr" defTabSz="941388" fontAlgn="base">
                <a:spcBef>
                  <a:spcPct val="0"/>
                </a:spcBef>
                <a:spcAft>
                  <a:spcPct val="0"/>
                </a:spcAft>
              </a:pPr>
              <a:r>
                <a:rPr lang="ru-RU" sz="1100" b="1" i="0" dirty="0">
                  <a:solidFill>
                    <a:srgbClr val="FFFFFF"/>
                  </a:solidFill>
                  <a:latin typeface="Arial" pitchFamily="34" charset="0"/>
                  <a:cs typeface="Arial" pitchFamily="34" charset="0"/>
                </a:rPr>
                <a:t>HBA-адаптер</a:t>
              </a:r>
            </a:p>
          </p:txBody>
        </p:sp>
        <p:sp>
          <p:nvSpPr>
            <p:cNvPr id="12" name="Rectangle 35"/>
            <p:cNvSpPr>
              <a:spLocks noChangeArrowheads="1"/>
            </p:cNvSpPr>
            <p:nvPr/>
          </p:nvSpPr>
          <p:spPr bwMode="auto">
            <a:xfrm>
              <a:off x="4841744" y="3003798"/>
              <a:ext cx="623889" cy="246221"/>
            </a:xfrm>
            <a:prstGeom prst="rect">
              <a:avLst/>
            </a:prstGeom>
            <a:noFill/>
          </p:spPr>
          <p:txBody>
            <a:bodyPr wrap="none" rtlCol="0">
              <a:spAutoFit/>
            </a:bodyPr>
            <a:lstStyle/>
            <a:p>
              <a:r>
                <a:rPr lang="ru-RU" sz="1000" b="1" i="0" dirty="0">
                  <a:solidFill>
                    <a:srgbClr val="000000"/>
                  </a:solidFill>
                  <a:latin typeface="Arial" pitchFamily="34" charset="0"/>
                  <a:cs typeface="Arial" pitchFamily="34" charset="0"/>
                </a:rPr>
                <a:t>Порты</a:t>
              </a:r>
            </a:p>
          </p:txBody>
        </p:sp>
        <p:sp>
          <p:nvSpPr>
            <p:cNvPr id="13" name="Line 39"/>
            <p:cNvSpPr>
              <a:spLocks noChangeShapeType="1"/>
            </p:cNvSpPr>
            <p:nvPr/>
          </p:nvSpPr>
          <p:spPr bwMode="auto">
            <a:xfrm flipV="1">
              <a:off x="5220072" y="2427734"/>
              <a:ext cx="576000" cy="576000"/>
            </a:xfrm>
            <a:prstGeom prst="line">
              <a:avLst/>
            </a:prstGeom>
            <a:ln w="3810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txBody>
            <a:bodyPr lIns="0" tIns="0" rIns="0" bIns="0"/>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sp>
          <p:nvSpPr>
            <p:cNvPr id="14" name="Line 40"/>
            <p:cNvSpPr>
              <a:spLocks noChangeShapeType="1"/>
            </p:cNvSpPr>
            <p:nvPr/>
          </p:nvSpPr>
          <p:spPr bwMode="auto">
            <a:xfrm flipH="1" flipV="1">
              <a:off x="4449150" y="2427734"/>
              <a:ext cx="576000" cy="576000"/>
            </a:xfrm>
            <a:prstGeom prst="line">
              <a:avLst/>
            </a:prstGeom>
            <a:ln w="38100"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txBody>
            <a:bodyPr lIns="0" tIns="0" rIns="0" bIns="0"/>
            <a:lstStyle/>
            <a:p>
              <a:pPr defTabSz="914400" fontAlgn="base">
                <a:spcBef>
                  <a:spcPct val="0"/>
                </a:spcBef>
                <a:spcAft>
                  <a:spcPct val="0"/>
                </a:spcAft>
              </a:pPr>
              <a:endParaRPr lang="en-US" sz="1100" b="1">
                <a:solidFill>
                  <a:srgbClr val="000000"/>
                </a:solidFill>
                <a:latin typeface="Arial" pitchFamily="34" charset="0"/>
                <a:cs typeface="Arial" pitchFamily="34" charset="0"/>
              </a:endParaRPr>
            </a:p>
          </p:txBody>
        </p:sp>
        <p:pic>
          <p:nvPicPr>
            <p:cNvPr id="15"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5858113" y="1646194"/>
              <a:ext cx="1008000" cy="1008000"/>
            </a:xfrm>
            <a:prstGeom prst="rect">
              <a:avLst/>
            </a:prstGeom>
            <a:noFill/>
          </p:spPr>
        </p:pic>
        <p:sp>
          <p:nvSpPr>
            <p:cNvPr id="16" name="Rectangle 38"/>
            <p:cNvSpPr>
              <a:spLocks noChangeArrowheads="1"/>
            </p:cNvSpPr>
            <p:nvPr/>
          </p:nvSpPr>
          <p:spPr bwMode="auto">
            <a:xfrm>
              <a:off x="6225844" y="2132626"/>
              <a:ext cx="29815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54013" indent="-354013" defTabSz="941388" fontAlgn="base">
                <a:spcBef>
                  <a:spcPct val="0"/>
                </a:spcBef>
                <a:spcAft>
                  <a:spcPct val="0"/>
                </a:spcAft>
              </a:pPr>
              <a:r>
                <a:rPr lang="ru-RU" sz="1100" b="1" i="0" dirty="0">
                  <a:solidFill>
                    <a:srgbClr val="FFFFFF"/>
                  </a:solidFill>
                  <a:latin typeface="Arial" pitchFamily="34" charset="0"/>
                  <a:cs typeface="Arial" pitchFamily="34" charset="0"/>
                </a:rPr>
                <a:t>СХД</a:t>
              </a:r>
            </a:p>
          </p:txBody>
        </p:sp>
      </p:grpSp>
      <p:sp>
        <p:nvSpPr>
          <p:cNvPr id="17" name="TextBox 1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01875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Протоколы подключения систем хранения</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914921637"/>
              </p:ext>
            </p:extLst>
          </p:nvPr>
        </p:nvGraphicFramePr>
        <p:xfrm>
          <a:off x="379413" y="915566"/>
          <a:ext cx="8369051" cy="3357880"/>
        </p:xfrm>
        <a:graphic>
          <a:graphicData uri="http://schemas.openxmlformats.org/drawingml/2006/table">
            <a:tbl>
              <a:tblPr firstRow="1" bandRow="1">
                <a:tableStyleId>{5C22544A-7EE6-4342-B048-85BDC9FD1C3A}</a:tableStyleId>
              </a:tblPr>
              <a:tblGrid>
                <a:gridCol w="1168251">
                  <a:extLst>
                    <a:ext uri="{9D8B030D-6E8A-4147-A177-3AD203B41FA5}">
                      <a16:colId xmlns:a16="http://schemas.microsoft.com/office/drawing/2014/main" val="20000"/>
                    </a:ext>
                  </a:extLst>
                </a:gridCol>
                <a:gridCol w="7200800">
                  <a:extLst>
                    <a:ext uri="{9D8B030D-6E8A-4147-A177-3AD203B41FA5}">
                      <a16:colId xmlns:a16="http://schemas.microsoft.com/office/drawing/2014/main" val="20001"/>
                    </a:ext>
                  </a:extLst>
                </a:gridCol>
              </a:tblGrid>
              <a:tr h="370840">
                <a:tc>
                  <a:txBody>
                    <a:bodyPr/>
                    <a:lstStyle/>
                    <a:p>
                      <a:r>
                        <a:rPr lang="ru-RU" sz="1000" b="1" i="0" dirty="0">
                          <a:solidFill>
                            <a:srgbClr val="FFFFFF"/>
                          </a:solidFill>
                          <a:latin typeface="Arial" pitchFamily="34" charset="0"/>
                          <a:cs typeface="Arial" pitchFamily="34" charset="0"/>
                        </a:rPr>
                        <a:t>Протокол</a:t>
                      </a:r>
                    </a:p>
                  </a:txBody>
                  <a:tcPr/>
                </a:tc>
                <a:tc>
                  <a:txBody>
                    <a:bodyPr/>
                    <a:lstStyle/>
                    <a:p>
                      <a:r>
                        <a:rPr lang="ru-RU" sz="10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000" b="0" i="0" dirty="0">
                          <a:solidFill>
                            <a:srgbClr val="000000"/>
                          </a:solidFill>
                          <a:latin typeface="Arial" pitchFamily="34" charset="0"/>
                          <a:cs typeface="Arial" pitchFamily="34" charset="0"/>
                        </a:rPr>
                        <a:t>IDE/ATA</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Популярный интерфейс, используемый для подключения жестких и оптических дисков</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Версия Ultra DMA/133 протокола ATA поддерживает пропускную способность 133 Мбайт/с </a:t>
                      </a:r>
                    </a:p>
                  </a:txBody>
                  <a:tcPr/>
                </a:tc>
                <a:extLst>
                  <a:ext uri="{0D108BD9-81ED-4DB2-BD59-A6C34878D82A}">
                    <a16:rowId xmlns:a16="http://schemas.microsoft.com/office/drawing/2014/main" val="10001"/>
                  </a:ext>
                </a:extLst>
              </a:tr>
              <a:tr h="370840">
                <a:tc>
                  <a:txBody>
                    <a:bodyPr/>
                    <a:lstStyle/>
                    <a:p>
                      <a:r>
                        <a:rPr lang="ru-RU" sz="1000" b="0" i="0" dirty="0">
                          <a:solidFill>
                            <a:srgbClr val="000000"/>
                          </a:solidFill>
                          <a:latin typeface="Arial" pitchFamily="34" charset="0"/>
                          <a:cs typeface="Arial" pitchFamily="34" charset="0"/>
                        </a:rPr>
                        <a:t>Serial ATA</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Последовательная версия спецификации IDE/ATA обычно используется для внутренних подключений</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Обеспечивает скорость передачи данных до 16 Гбит/с (стандарт 3.2)</a:t>
                      </a:r>
                    </a:p>
                  </a:txBody>
                  <a:tcPr/>
                </a:tc>
                <a:extLst>
                  <a:ext uri="{0D108BD9-81ED-4DB2-BD59-A6C34878D82A}">
                    <a16:rowId xmlns:a16="http://schemas.microsoft.com/office/drawing/2014/main" val="10002"/>
                  </a:ext>
                </a:extLst>
              </a:tr>
              <a:tr h="370840">
                <a:tc>
                  <a:txBody>
                    <a:bodyPr/>
                    <a:lstStyle/>
                    <a:p>
                      <a:r>
                        <a:rPr lang="ru-RU" sz="1000" b="0" i="0" dirty="0">
                          <a:solidFill>
                            <a:srgbClr val="000000"/>
                          </a:solidFill>
                          <a:latin typeface="Arial" pitchFamily="34" charset="0"/>
                          <a:cs typeface="Arial" pitchFamily="34" charset="0"/>
                        </a:rPr>
                        <a:t>SCSI</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Популярный стандарт, используемый для подключения вычислительной системы к системе хранения </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Поддерживает до 16 устройств на одной шине </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Версия Ultra-640 обеспечивает скорость передачи данных до 640 Мбайт/с</a:t>
                      </a:r>
                    </a:p>
                  </a:txBody>
                  <a:tcPr/>
                </a:tc>
                <a:extLst>
                  <a:ext uri="{0D108BD9-81ED-4DB2-BD59-A6C34878D82A}">
                    <a16:rowId xmlns:a16="http://schemas.microsoft.com/office/drawing/2014/main" val="10003"/>
                  </a:ext>
                </a:extLst>
              </a:tr>
              <a:tr h="370840">
                <a:tc>
                  <a:txBody>
                    <a:bodyPr/>
                    <a:lstStyle/>
                    <a:p>
                      <a:r>
                        <a:rPr lang="ru-RU" sz="1000" b="0" i="0" dirty="0">
                          <a:solidFill>
                            <a:srgbClr val="000000"/>
                          </a:solidFill>
                          <a:latin typeface="Arial" pitchFamily="34" charset="0"/>
                          <a:cs typeface="Arial" pitchFamily="34" charset="0"/>
                        </a:rPr>
                        <a:t>SAS</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Последовательный протокол «точка-точка», заменяющий параллельный протокол SCSI</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Поддерживает скорость передачи данных до 12 Гбит/с (SAS 3.0)</a:t>
                      </a:r>
                    </a:p>
                  </a:txBody>
                  <a:tcPr/>
                </a:tc>
                <a:extLst>
                  <a:ext uri="{0D108BD9-81ED-4DB2-BD59-A6C34878D82A}">
                    <a16:rowId xmlns:a16="http://schemas.microsoft.com/office/drawing/2014/main" val="10004"/>
                  </a:ext>
                </a:extLst>
              </a:tr>
              <a:tr h="370840">
                <a:tc>
                  <a:txBody>
                    <a:bodyPr/>
                    <a:lstStyle/>
                    <a:p>
                      <a:r>
                        <a:rPr lang="ru-RU" sz="1000" b="0" i="0" dirty="0">
                          <a:solidFill>
                            <a:srgbClr val="000000"/>
                          </a:solidFill>
                          <a:latin typeface="Arial" pitchFamily="34" charset="0"/>
                          <a:cs typeface="Arial" pitchFamily="34" charset="0"/>
                        </a:rPr>
                        <a:t>FC</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Широко используемый протокол для высокоскоростного обмена данными между вычислительной системой и системой хранения</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Обеспечивает последовательную передачу данных, осуществляемую по медному и/или волоконно-оптическому кабелю</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Последняя версия интерфейса Fibre Channel «16FC» позволяет передавать данные со скоростью до 16 Гбит/с </a:t>
                      </a:r>
                    </a:p>
                  </a:txBody>
                  <a:tcPr/>
                </a:tc>
                <a:extLst>
                  <a:ext uri="{0D108BD9-81ED-4DB2-BD59-A6C34878D82A}">
                    <a16:rowId xmlns:a16="http://schemas.microsoft.com/office/drawing/2014/main" val="10005"/>
                  </a:ext>
                </a:extLst>
              </a:tr>
              <a:tr h="370840">
                <a:tc>
                  <a:txBody>
                    <a:bodyPr/>
                    <a:lstStyle/>
                    <a:p>
                      <a:r>
                        <a:rPr lang="ru-RU" sz="1000" b="0" i="0" dirty="0">
                          <a:solidFill>
                            <a:srgbClr val="000000"/>
                          </a:solidFill>
                          <a:latin typeface="Arial" pitchFamily="34" charset="0"/>
                          <a:cs typeface="Arial" pitchFamily="34" charset="0"/>
                        </a:rPr>
                        <a:t>IP</a:t>
                      </a:r>
                    </a:p>
                  </a:txBody>
                  <a:tcPr/>
                </a:tc>
                <a:tc>
                  <a:txBody>
                    <a:bodyPr/>
                    <a:lstStyle/>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Существующая сеть на основе протокола IP используется для обмена данными между системами хранения</a:t>
                      </a:r>
                    </a:p>
                    <a:p>
                      <a:pPr marL="285750" indent="-285750">
                        <a:buFont typeface="Arial" panose="020B0604020202020204" pitchFamily="34" charset="0"/>
                        <a:buChar char="•"/>
                      </a:pPr>
                      <a:r>
                        <a:rPr lang="ru-RU" sz="1000" b="0" i="0" dirty="0">
                          <a:solidFill>
                            <a:srgbClr val="000000"/>
                          </a:solidFill>
                          <a:latin typeface="Arial" pitchFamily="34" charset="0"/>
                          <a:cs typeface="Arial" pitchFamily="34" charset="0"/>
                        </a:rPr>
                        <a:t>Примеры: протоколы iSCSI и FCIP </a:t>
                      </a:r>
                    </a:p>
                  </a:txBody>
                  <a:tcPr/>
                </a:tc>
                <a:extLst>
                  <a:ext uri="{0D108BD9-81ED-4DB2-BD59-A6C34878D82A}">
                    <a16:rowId xmlns:a16="http://schemas.microsoft.com/office/drawing/2014/main" val="10006"/>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211735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виртуализации сетевых ресурсов</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Абстрагирование физических сетевых ресурсов с целью создания виртуальных сетевых ресурсов</a:t>
            </a:r>
          </a:p>
          <a:p>
            <a:pPr lvl="1"/>
            <a:r>
              <a:rPr lang="ru-RU" sz="1800" b="0" i="0" dirty="0">
                <a:solidFill>
                  <a:srgbClr val="000000"/>
                </a:solidFill>
                <a:latin typeface="Arial" pitchFamily="34" charset="0"/>
                <a:cs typeface="Arial" pitchFamily="34" charset="0"/>
              </a:rPr>
              <a:t>Виртуальный коммутатор</a:t>
            </a:r>
          </a:p>
          <a:p>
            <a:pPr lvl="1"/>
            <a:r>
              <a:rPr lang="ru-RU" sz="1800" b="0" i="0" dirty="0">
                <a:solidFill>
                  <a:srgbClr val="000000"/>
                </a:solidFill>
                <a:latin typeface="Arial" pitchFamily="34" charset="0"/>
                <a:cs typeface="Arial" pitchFamily="34" charset="0"/>
              </a:rPr>
              <a:t>Виртуальная локальная сеть (VLAN)</a:t>
            </a:r>
          </a:p>
          <a:p>
            <a:pPr lvl="1"/>
            <a:r>
              <a:rPr lang="ru-RU" sz="1800" b="0" i="0" dirty="0">
                <a:solidFill>
                  <a:srgbClr val="000000"/>
                </a:solidFill>
                <a:latin typeface="Arial" pitchFamily="34" charset="0"/>
                <a:cs typeface="Arial" pitchFamily="34" charset="0"/>
              </a:rPr>
              <a:t>Виртуальная сеть хранения данных</a:t>
            </a:r>
          </a:p>
          <a:p>
            <a:r>
              <a:rPr lang="ru-RU" sz="2000" b="0" i="0" dirty="0">
                <a:solidFill>
                  <a:srgbClr val="000000"/>
                </a:solidFill>
                <a:latin typeface="Arial" pitchFamily="34" charset="0"/>
                <a:cs typeface="Arial" pitchFamily="34" charset="0"/>
              </a:rPr>
              <a:t>Программное обеспечение для виртуализации сетевых ресурсов может быть:</a:t>
            </a:r>
          </a:p>
          <a:p>
            <a:pPr lvl="1"/>
            <a:r>
              <a:rPr lang="ru-RU" sz="1800" b="0" i="0" dirty="0">
                <a:solidFill>
                  <a:srgbClr val="000000"/>
                </a:solidFill>
                <a:latin typeface="Arial" pitchFamily="34" charset="0"/>
                <a:cs typeface="Arial" pitchFamily="34" charset="0"/>
              </a:rPr>
              <a:t>встроено в операционную среду сетевого устройства;</a:t>
            </a:r>
          </a:p>
          <a:p>
            <a:pPr lvl="1"/>
            <a:r>
              <a:rPr lang="ru-RU" sz="1800" b="0" i="0" dirty="0">
                <a:solidFill>
                  <a:srgbClr val="000000"/>
                </a:solidFill>
                <a:latin typeface="Arial" pitchFamily="34" charset="0"/>
                <a:cs typeface="Arial" pitchFamily="34" charset="0"/>
              </a:rPr>
              <a:t>установлено в независимой вычислительной системе;</a:t>
            </a:r>
          </a:p>
          <a:p>
            <a:pPr lvl="1"/>
            <a:r>
              <a:rPr lang="ru-RU" sz="1800" b="0" i="0" dirty="0">
                <a:solidFill>
                  <a:srgbClr val="000000"/>
                </a:solidFill>
                <a:latin typeface="Arial" pitchFamily="34" charset="0"/>
                <a:cs typeface="Arial" pitchFamily="34" charset="0"/>
              </a:rPr>
              <a:t>встроено в гипервизор.</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232411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Развитие архитектуры систем хранения</a:t>
            </a:r>
          </a:p>
          <a:p>
            <a:pPr>
              <a:defRPr/>
            </a:pPr>
            <a:r>
              <a:rPr lang="ru-RU" sz="2000" b="0" i="0" dirty="0">
                <a:solidFill>
                  <a:srgbClr val="000000"/>
                </a:solidFill>
                <a:latin typeface="Arial" pitchFamily="34" charset="0"/>
                <a:cs typeface="Arial" pitchFamily="34" charset="0"/>
              </a:rPr>
              <a:t>Типы устройств хранения данных</a:t>
            </a:r>
          </a:p>
          <a:p>
            <a:pPr>
              <a:defRPr/>
            </a:pPr>
            <a:r>
              <a:rPr lang="ru-RU" sz="2000" b="0" i="0" dirty="0">
                <a:solidFill>
                  <a:srgbClr val="000000"/>
                </a:solidFill>
                <a:latin typeface="Arial" pitchFamily="34" charset="0"/>
                <a:cs typeface="Arial" pitchFamily="34" charset="0"/>
              </a:rPr>
              <a:t>Возможности подключения вычислительной системы к вычислительной системе и к системе хранения</a:t>
            </a:r>
          </a:p>
          <a:p>
            <a:pPr>
              <a:defRPr/>
            </a:pPr>
            <a:r>
              <a:rPr lang="ru-RU" sz="2000" b="0" i="0" dirty="0">
                <a:solidFill>
                  <a:srgbClr val="000000"/>
                </a:solidFill>
                <a:latin typeface="Arial" pitchFamily="34" charset="0"/>
                <a:cs typeface="Arial" pitchFamily="34" charset="0"/>
              </a:rPr>
              <a:t>Протоколы подключения систем хранения</a:t>
            </a: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5651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5. Программно-определяемый ЦОД</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Архитектура программно-определяемого центра обработки данных</a:t>
            </a:r>
          </a:p>
          <a:p>
            <a:pPr>
              <a:defRPr/>
            </a:pPr>
            <a:r>
              <a:rPr lang="ru-RU" sz="2000" b="0" i="0" dirty="0">
                <a:solidFill>
                  <a:srgbClr val="000000"/>
                </a:solidFill>
                <a:latin typeface="Arial" pitchFamily="34" charset="0"/>
                <a:cs typeface="Arial" pitchFamily="34" charset="0"/>
              </a:rPr>
              <a:t>Программно-определяемый контроллер</a:t>
            </a:r>
          </a:p>
          <a:p>
            <a:pPr>
              <a:defRPr/>
            </a:pPr>
            <a:r>
              <a:rPr lang="ru-RU" sz="2000" b="0" i="0" dirty="0">
                <a:solidFill>
                  <a:srgbClr val="000000"/>
                </a:solidFill>
                <a:latin typeface="Arial" pitchFamily="34" charset="0"/>
                <a:cs typeface="Arial" pitchFamily="34" charset="0"/>
              </a:rPr>
              <a:t>Преимущества программно-определяемой архитектуры</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0317268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Что такое программно-определяемый центр обработки данных?</a:t>
            </a:r>
          </a:p>
        </p:txBody>
      </p:sp>
      <p:sp>
        <p:nvSpPr>
          <p:cNvPr id="3" name="Content Placeholder 2"/>
          <p:cNvSpPr>
            <a:spLocks noGrp="1"/>
          </p:cNvSpPr>
          <p:nvPr>
            <p:ph sz="quarter" idx="10"/>
          </p:nvPr>
        </p:nvSpPr>
        <p:spPr>
          <a:xfrm>
            <a:off x="379414" y="2556892"/>
            <a:ext cx="8458200" cy="1919858"/>
          </a:xfrm>
        </p:spPr>
        <p:txBody>
          <a:bodyPr/>
          <a:lstStyle/>
          <a:p>
            <a:r>
              <a:rPr lang="ru-RU" sz="1800" b="0" i="0" dirty="0">
                <a:solidFill>
                  <a:srgbClr val="000000"/>
                </a:solidFill>
                <a:latin typeface="Arial" pitchFamily="34" charset="0"/>
                <a:cs typeface="Arial" pitchFamily="34" charset="0"/>
              </a:rPr>
              <a:t>Вычислительные ресурсы, ресурсы хранения, сеть, сервисы безопасности и обеспечения доступности объединяются в пулы и предоставляются как услуга</a:t>
            </a:r>
          </a:p>
          <a:p>
            <a:pPr lvl="1"/>
            <a:r>
              <a:rPr lang="ru-RU" sz="1600" b="0" i="0" dirty="0">
                <a:solidFill>
                  <a:srgbClr val="000000"/>
                </a:solidFill>
                <a:latin typeface="Arial" pitchFamily="34" charset="0"/>
                <a:cs typeface="Arial" pitchFamily="34" charset="0"/>
              </a:rPr>
              <a:t>Управление услугами программно-определяемого ЦОД осуществляется с помощью интеллектуального ПО на базе политик</a:t>
            </a:r>
          </a:p>
          <a:p>
            <a:r>
              <a:rPr lang="ru-RU" sz="1800" b="0" i="0" dirty="0">
                <a:solidFill>
                  <a:srgbClr val="000000"/>
                </a:solidFill>
                <a:latin typeface="Arial" pitchFamily="34" charset="0"/>
                <a:cs typeface="Arial" pitchFamily="34" charset="0"/>
              </a:rPr>
              <a:t>Рассматривается как базовая инфраструктура для перехода к третьей платформе</a:t>
            </a:r>
          </a:p>
        </p:txBody>
      </p:sp>
      <p:grpSp>
        <p:nvGrpSpPr>
          <p:cNvPr id="5" name="Group 4"/>
          <p:cNvGrpSpPr/>
          <p:nvPr/>
        </p:nvGrpSpPr>
        <p:grpSpPr>
          <a:xfrm>
            <a:off x="334134" y="1076325"/>
            <a:ext cx="8486338" cy="1295400"/>
            <a:chOff x="299409" y="722590"/>
            <a:chExt cx="8486338" cy="1295400"/>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ectangle 6"/>
            <p:cNvSpPr/>
            <p:nvPr/>
          </p:nvSpPr>
          <p:spPr>
            <a:xfrm>
              <a:off x="614992" y="996920"/>
              <a:ext cx="8170755" cy="10210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400" b="0" i="0" dirty="0">
                  <a:solidFill>
                    <a:srgbClr val="000000"/>
                  </a:solidFill>
                  <a:latin typeface="Arial" pitchFamily="34" charset="0"/>
                  <a:cs typeface="Arial" pitchFamily="34" charset="0"/>
                </a:rPr>
                <a:t>Архитектурный подход к ИТ-инфраструктуре, распространяющий концепции виртуализации (абстрагирование, создание пулов, автоматизация) на все ресурсы и сервисы ЦОД для реализации модели «ИТ как услуга».</a:t>
              </a:r>
            </a:p>
          </p:txBody>
        </p:sp>
        <p:sp>
          <p:nvSpPr>
            <p:cNvPr id="8" name="Rectangle 7"/>
            <p:cNvSpPr/>
            <p:nvPr/>
          </p:nvSpPr>
          <p:spPr>
            <a:xfrm>
              <a:off x="349179" y="722590"/>
              <a:ext cx="4950096" cy="4730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400" b="1" i="0" dirty="0">
                  <a:solidFill>
                    <a:srgbClr val="FFFFFF"/>
                  </a:solidFill>
                  <a:latin typeface="Arial" pitchFamily="34" charset="0"/>
                  <a:cs typeface="Arial" pitchFamily="34" charset="0"/>
                </a:rPr>
                <a:t>Программно-определяемый центр обработки данных</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186471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Архитектура программно-определяемого центра обработки данных</a:t>
            </a:r>
          </a:p>
        </p:txBody>
      </p:sp>
      <p:grpSp>
        <p:nvGrpSpPr>
          <p:cNvPr id="30" name="Group 29"/>
          <p:cNvGrpSpPr/>
          <p:nvPr/>
        </p:nvGrpSpPr>
        <p:grpSpPr>
          <a:xfrm>
            <a:off x="395536" y="1155752"/>
            <a:ext cx="8352928" cy="3226510"/>
            <a:chOff x="405061" y="1025978"/>
            <a:chExt cx="8352928" cy="3226510"/>
          </a:xfrm>
        </p:grpSpPr>
        <p:sp>
          <p:nvSpPr>
            <p:cNvPr id="33" name="Rectangle 32"/>
            <p:cNvSpPr/>
            <p:nvPr/>
          </p:nvSpPr>
          <p:spPr>
            <a:xfrm>
              <a:off x="405061" y="1787978"/>
              <a:ext cx="8352928" cy="607572"/>
            </a:xfrm>
            <a:prstGeom prst="rect">
              <a:avLst/>
            </a:prstGeom>
            <a:solidFill>
              <a:schemeClr val="bg1">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endParaRPr lang="en-US" sz="1000" b="1" dirty="0">
                <a:solidFill>
                  <a:schemeClr val="bg1"/>
                </a:solidFill>
                <a:latin typeface="Arial" pitchFamily="34" charset="0"/>
                <a:cs typeface="Arial" pitchFamily="34" charset="0"/>
              </a:endParaRPr>
            </a:p>
          </p:txBody>
        </p:sp>
        <p:sp>
          <p:nvSpPr>
            <p:cNvPr id="32" name="Rectangle 31"/>
            <p:cNvSpPr/>
            <p:nvPr/>
          </p:nvSpPr>
          <p:spPr>
            <a:xfrm>
              <a:off x="405061" y="2878852"/>
              <a:ext cx="8352928" cy="1373636"/>
            </a:xfrm>
            <a:prstGeom prst="rect">
              <a:avLst/>
            </a:prstGeom>
            <a:solidFill>
              <a:srgbClr val="B8BE9E"/>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t"/>
            <a:lstStyle/>
            <a:p>
              <a:endParaRPr lang="en-US" sz="1000" dirty="0">
                <a:latin typeface="Arial" pitchFamily="34" charset="0"/>
                <a:cs typeface="Arial" pitchFamily="34" charset="0"/>
              </a:endParaRPr>
            </a:p>
          </p:txBody>
        </p:sp>
        <p:grpSp>
          <p:nvGrpSpPr>
            <p:cNvPr id="9" name="Group 8"/>
            <p:cNvGrpSpPr/>
            <p:nvPr/>
          </p:nvGrpSpPr>
          <p:grpSpPr>
            <a:xfrm>
              <a:off x="1396181" y="3217490"/>
              <a:ext cx="1239318" cy="552450"/>
              <a:chOff x="250029" y="1741483"/>
              <a:chExt cx="1239318" cy="552450"/>
            </a:xfrm>
          </p:grpSpPr>
          <p:pic>
            <p:nvPicPr>
              <p:cNvPr id="6" name="Picture 29" descr="C:\Users\patils1\Desktop\2013 Projects\CIS v2\CIS Slide Deck_Based on Book\Colored Graphics\Physical Compute System.png"/>
              <p:cNvPicPr>
                <a:picLocks noChangeAspect="1" noChangeArrowheads="1"/>
              </p:cNvPicPr>
              <p:nvPr>
                <p:custDataLst>
                  <p:tags r:id="rId15"/>
                </p:custDataLst>
              </p:nvPr>
            </p:nvPicPr>
            <p:blipFill>
              <a:blip r:embed="rId20">
                <a:extLst>
                  <a:ext uri="{28A0092B-C50C-407E-A947-70E740481C1C}">
                    <a14:useLocalDpi xmlns:a14="http://schemas.microsoft.com/office/drawing/2010/main" val="0"/>
                  </a:ext>
                </a:extLst>
              </a:blip>
              <a:srcRect/>
              <a:stretch>
                <a:fillRect/>
              </a:stretch>
            </p:blipFill>
            <p:spPr bwMode="auto">
              <a:xfrm>
                <a:off x="250029" y="1741483"/>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9" descr="C:\Users\patils1\Desktop\2013 Projects\CIS v2\CIS Slide Deck_Based on Book\Colored Graphics\Physical Compute System.png"/>
              <p:cNvPicPr>
                <a:picLocks noChangeAspect="1" noChangeArrowheads="1"/>
              </p:cNvPicPr>
              <p:nvPr>
                <p:custDataLst>
                  <p:tags r:id="rId16"/>
                </p:custDataLst>
              </p:nvPr>
            </p:nvPicPr>
            <p:blipFill>
              <a:blip r:embed="rId20">
                <a:extLst>
                  <a:ext uri="{28A0092B-C50C-407E-A947-70E740481C1C}">
                    <a14:useLocalDpi xmlns:a14="http://schemas.microsoft.com/office/drawing/2010/main" val="0"/>
                  </a:ext>
                </a:extLst>
              </a:blip>
              <a:srcRect/>
              <a:stretch>
                <a:fillRect/>
              </a:stretch>
            </p:blipFill>
            <p:spPr bwMode="auto">
              <a:xfrm>
                <a:off x="402429" y="1912171"/>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9" descr="C:\Users\patils1\Desktop\2013 Projects\CIS v2\CIS Slide Deck_Based on Book\Colored Graphics\Physical Compute System.png"/>
              <p:cNvPicPr>
                <a:picLocks noChangeAspect="1" noChangeArrowheads="1"/>
              </p:cNvPicPr>
              <p:nvPr>
                <p:custDataLst>
                  <p:tags r:id="rId17"/>
                </p:custDataLst>
              </p:nvPr>
            </p:nvPicPr>
            <p:blipFill>
              <a:blip r:embed="rId20">
                <a:extLst>
                  <a:ext uri="{28A0092B-C50C-407E-A947-70E740481C1C}">
                    <a14:useLocalDpi xmlns:a14="http://schemas.microsoft.com/office/drawing/2010/main" val="0"/>
                  </a:ext>
                </a:extLst>
              </a:blip>
              <a:srcRect/>
              <a:stretch>
                <a:fillRect/>
              </a:stretch>
            </p:blipFill>
            <p:spPr bwMode="auto">
              <a:xfrm>
                <a:off x="554829" y="2083621"/>
                <a:ext cx="934518" cy="2103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p:cNvGrpSpPr>
              <a:grpSpLocks noChangeAspect="1"/>
            </p:cNvGrpSpPr>
            <p:nvPr/>
          </p:nvGrpSpPr>
          <p:grpSpPr>
            <a:xfrm>
              <a:off x="4338955" y="3059637"/>
              <a:ext cx="485140" cy="936000"/>
              <a:chOff x="5098404" y="345052"/>
              <a:chExt cx="860994" cy="1661156"/>
            </a:xfrm>
          </p:grpSpPr>
          <p:pic>
            <p:nvPicPr>
              <p:cNvPr id="10" name="Picture 9" descr="C:\Users\patils1\Desktop\2013 Projects\CIS v2\CIS Slide Deck_Based on Book\Colored Graphics\Storage System.png"/>
              <p:cNvPicPr>
                <a:picLocks noChangeAspect="1" noChangeArrowheads="1"/>
              </p:cNvPicPr>
              <p:nvPr>
                <p:custDataLst>
                  <p:tags r:id="rId13"/>
                </p:custDataLst>
              </p:nvPr>
            </p:nvPicPr>
            <p:blipFill>
              <a:blip r:embed="rId21">
                <a:extLst>
                  <a:ext uri="{28A0092B-C50C-407E-A947-70E740481C1C}">
                    <a14:useLocalDpi xmlns:a14="http://schemas.microsoft.com/office/drawing/2010/main" val="0"/>
                  </a:ext>
                </a:extLst>
              </a:blip>
              <a:srcRect/>
              <a:stretch>
                <a:fillRect/>
              </a:stretch>
            </p:blipFill>
            <p:spPr bwMode="auto">
              <a:xfrm>
                <a:off x="5098404" y="345052"/>
                <a:ext cx="708594" cy="15087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 descr="C:\Users\patils1\Desktop\2013 Projects\CIS v2\CIS Slide Deck_Based on Book\Colored Graphics\Storage System.png"/>
              <p:cNvPicPr>
                <a:picLocks noChangeAspect="1" noChangeArrowheads="1"/>
              </p:cNvPicPr>
              <p:nvPr>
                <p:custDataLst>
                  <p:tags r:id="rId14"/>
                </p:custDataLst>
              </p:nvPr>
            </p:nvPicPr>
            <p:blipFill>
              <a:blip r:embed="rId21">
                <a:extLst>
                  <a:ext uri="{28A0092B-C50C-407E-A947-70E740481C1C}">
                    <a14:useLocalDpi xmlns:a14="http://schemas.microsoft.com/office/drawing/2010/main" val="0"/>
                  </a:ext>
                </a:extLst>
              </a:blip>
              <a:srcRect/>
              <a:stretch>
                <a:fillRect/>
              </a:stretch>
            </p:blipFill>
            <p:spPr bwMode="auto">
              <a:xfrm>
                <a:off x="5250804" y="497452"/>
                <a:ext cx="708594" cy="15087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p:cNvGrpSpPr/>
            <p:nvPr/>
          </p:nvGrpSpPr>
          <p:grpSpPr>
            <a:xfrm>
              <a:off x="6294399" y="3186107"/>
              <a:ext cx="1520954" cy="683061"/>
              <a:chOff x="4716015" y="3047370"/>
              <a:chExt cx="1520954" cy="683061"/>
            </a:xfrm>
          </p:grpSpPr>
          <p:pic>
            <p:nvPicPr>
              <p:cNvPr id="13" name="Picture 13" descr="C:\Users\patils1\Desktop\2013 Projects\CIS v2\CIS Slide Deck_Based on Book\Colored Graphics\Ethernet Switch.png"/>
              <p:cNvPicPr>
                <a:picLocks noChangeAspect="1" noChangeArrowheads="1"/>
              </p:cNvPicPr>
              <p:nvPr>
                <p:custDataLst>
                  <p:tags r:id="rId11"/>
                </p:custDataLst>
              </p:nvPr>
            </p:nvPicPr>
            <p:blipFill>
              <a:blip r:embed="rId22">
                <a:extLst>
                  <a:ext uri="{28A0092B-C50C-407E-A947-70E740481C1C}">
                    <a14:useLocalDpi xmlns:a14="http://schemas.microsoft.com/office/drawing/2010/main" val="0"/>
                  </a:ext>
                </a:extLst>
              </a:blip>
              <a:srcRect/>
              <a:stretch>
                <a:fillRect/>
              </a:stretch>
            </p:blipFill>
            <p:spPr bwMode="auto">
              <a:xfrm>
                <a:off x="5474969" y="3254545"/>
                <a:ext cx="762000" cy="47588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6" descr="C:\Users\patils1\Desktop\2013 Projects\CIS v2\CIS Slide Deck_Based on Book\Colored Graphics\FC Switch.png"/>
              <p:cNvPicPr>
                <a:picLocks noChangeAspect="1" noChangeArrowheads="1"/>
              </p:cNvPicPr>
              <p:nvPr>
                <p:custDataLst>
                  <p:tags r:id="rId12"/>
                </p:custDataLst>
              </p:nvPr>
            </p:nvPicPr>
            <p:blipFill>
              <a:blip r:embed="rId23">
                <a:extLst>
                  <a:ext uri="{28A0092B-C50C-407E-A947-70E740481C1C}">
                    <a14:useLocalDpi xmlns:a14="http://schemas.microsoft.com/office/drawing/2010/main" val="0"/>
                  </a:ext>
                </a:extLst>
              </a:blip>
              <a:srcRect/>
              <a:stretch>
                <a:fillRect/>
              </a:stretch>
            </p:blipFill>
            <p:spPr bwMode="auto">
              <a:xfrm>
                <a:off x="4716015" y="3047370"/>
                <a:ext cx="758953" cy="473982"/>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le 15"/>
            <p:cNvSpPr/>
            <p:nvPr>
              <p:custDataLst>
                <p:tags r:id="rId2"/>
              </p:custDataLst>
            </p:nvPr>
          </p:nvSpPr>
          <p:spPr>
            <a:xfrm>
              <a:off x="899840" y="1843350"/>
              <a:ext cx="2232000" cy="432000"/>
            </a:xfrm>
            <a:prstGeom prst="rect">
              <a:avLst/>
            </a:prstGeom>
            <a:solidFill>
              <a:schemeClr val="accent1"/>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900" b="1" i="0" dirty="0">
                  <a:solidFill>
                    <a:srgbClr val="FFFFFF"/>
                  </a:solidFill>
                  <a:latin typeface="Arial" pitchFamily="34" charset="0"/>
                  <a:cs typeface="Arial" pitchFamily="34" charset="0"/>
                </a:rPr>
                <a:t>Программно-определяемая вычислительная система (контроллер)</a:t>
              </a:r>
            </a:p>
          </p:txBody>
        </p:sp>
        <p:sp>
          <p:nvSpPr>
            <p:cNvPr id="17" name="Rectangle 16"/>
            <p:cNvSpPr/>
            <p:nvPr>
              <p:custDataLst>
                <p:tags r:id="rId3"/>
              </p:custDataLst>
            </p:nvPr>
          </p:nvSpPr>
          <p:spPr>
            <a:xfrm>
              <a:off x="3465525" y="1843350"/>
              <a:ext cx="2232000" cy="432000"/>
            </a:xfrm>
            <a:prstGeom prst="rect">
              <a:avLst/>
            </a:prstGeom>
            <a:solidFill>
              <a:schemeClr val="bg2">
                <a:lumMod val="7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900" b="1" i="0" dirty="0">
                  <a:solidFill>
                    <a:srgbClr val="FFFFFF"/>
                  </a:solidFill>
                  <a:latin typeface="Arial" pitchFamily="34" charset="0"/>
                  <a:cs typeface="Arial" pitchFamily="34" charset="0"/>
                </a:rPr>
                <a:t>Программно-определяемая система хранения (контроллер)</a:t>
              </a:r>
            </a:p>
          </p:txBody>
        </p:sp>
        <p:sp>
          <p:nvSpPr>
            <p:cNvPr id="18" name="Rectangle 17"/>
            <p:cNvSpPr/>
            <p:nvPr>
              <p:custDataLst>
                <p:tags r:id="rId4"/>
              </p:custDataLst>
            </p:nvPr>
          </p:nvSpPr>
          <p:spPr>
            <a:xfrm>
              <a:off x="5938876" y="1843350"/>
              <a:ext cx="2232000" cy="432000"/>
            </a:xfrm>
            <a:prstGeom prst="rect">
              <a:avLst/>
            </a:prstGeom>
            <a:solidFill>
              <a:schemeClr val="accent6">
                <a:lumMod val="60000"/>
                <a:lumOff val="40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900" b="1" i="0" dirty="0">
                  <a:solidFill>
                    <a:srgbClr val="FFFFFF"/>
                  </a:solidFill>
                  <a:latin typeface="Arial" pitchFamily="34" charset="0"/>
                  <a:cs typeface="Arial" pitchFamily="34" charset="0"/>
                </a:rPr>
                <a:t>Программно-определяемая сеть (контроллер)</a:t>
              </a:r>
            </a:p>
          </p:txBody>
        </p:sp>
        <p:sp>
          <p:nvSpPr>
            <p:cNvPr id="20" name="Rectangle 19"/>
            <p:cNvSpPr/>
            <p:nvPr>
              <p:custDataLst>
                <p:tags r:id="rId5"/>
              </p:custDataLst>
            </p:nvPr>
          </p:nvSpPr>
          <p:spPr>
            <a:xfrm>
              <a:off x="405525" y="1025978"/>
              <a:ext cx="8352000" cy="279600"/>
            </a:xfrm>
            <a:prstGeom prst="rect">
              <a:avLst/>
            </a:prstGeom>
            <a:solidFill>
              <a:srgbClr val="A66BD3"/>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900" b="1" i="0" dirty="0">
                  <a:solidFill>
                    <a:srgbClr val="FFFFFF"/>
                  </a:solidFill>
                  <a:latin typeface="Arial" pitchFamily="34" charset="0"/>
                  <a:cs typeface="Arial" pitchFamily="34" charset="0"/>
                </a:rPr>
                <a:t>Приложения</a:t>
              </a:r>
            </a:p>
          </p:txBody>
        </p:sp>
        <p:cxnSp>
          <p:nvCxnSpPr>
            <p:cNvPr id="25" name="Straight Arrow Connector 24"/>
            <p:cNvCxnSpPr/>
            <p:nvPr/>
          </p:nvCxnSpPr>
          <p:spPr>
            <a:xfrm>
              <a:off x="4579977" y="2296116"/>
              <a:ext cx="3096" cy="756000"/>
            </a:xfrm>
            <a:prstGeom prst="straightConnector1">
              <a:avLst/>
            </a:prstGeom>
            <a:ln w="25400" cmpd="sng">
              <a:solidFill>
                <a:schemeClr val="bg2"/>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4580752" y="1317170"/>
              <a:ext cx="1547" cy="504000"/>
            </a:xfrm>
            <a:prstGeom prst="straightConnector1">
              <a:avLst/>
            </a:prstGeom>
            <a:ln w="25400" cmpd="sng">
              <a:solidFill>
                <a:schemeClr val="bg2"/>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custDataLst>
                <p:tags r:id="rId6"/>
              </p:custDataLst>
            </p:nvPr>
          </p:nvSpPr>
          <p:spPr>
            <a:xfrm>
              <a:off x="1162050" y="4006267"/>
              <a:ext cx="1734770"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Вычислительные ресурсы</a:t>
              </a:r>
            </a:p>
          </p:txBody>
        </p:sp>
        <p:sp>
          <p:nvSpPr>
            <p:cNvPr id="47" name="TextBox 46"/>
            <p:cNvSpPr txBox="1"/>
            <p:nvPr>
              <p:custDataLst>
                <p:tags r:id="rId7"/>
              </p:custDataLst>
            </p:nvPr>
          </p:nvSpPr>
          <p:spPr>
            <a:xfrm>
              <a:off x="4392930" y="4006267"/>
              <a:ext cx="426720"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СХД</a:t>
              </a:r>
            </a:p>
          </p:txBody>
        </p:sp>
        <p:sp>
          <p:nvSpPr>
            <p:cNvPr id="48" name="TextBox 47"/>
            <p:cNvSpPr txBox="1"/>
            <p:nvPr>
              <p:custDataLst>
                <p:tags r:id="rId8"/>
              </p:custDataLst>
            </p:nvPr>
          </p:nvSpPr>
          <p:spPr>
            <a:xfrm>
              <a:off x="6837370" y="4006267"/>
              <a:ext cx="458780"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Сеть</a:t>
              </a:r>
            </a:p>
          </p:txBody>
        </p:sp>
        <p:sp>
          <p:nvSpPr>
            <p:cNvPr id="40" name="Rectangle 39"/>
            <p:cNvSpPr/>
            <p:nvPr>
              <p:custDataLst>
                <p:tags r:id="rId9"/>
              </p:custDataLst>
            </p:nvPr>
          </p:nvSpPr>
          <p:spPr>
            <a:xfrm>
              <a:off x="405061" y="1448587"/>
              <a:ext cx="8352928" cy="186991"/>
            </a:xfrm>
            <a:prstGeom prst="rect">
              <a:avLst/>
            </a:prstGeom>
            <a:solidFill>
              <a:srgbClr val="E47442"/>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1" i="0" dirty="0">
                  <a:solidFill>
                    <a:srgbClr val="FFFFFF"/>
                  </a:solidFill>
                  <a:latin typeface="Arial" pitchFamily="34" charset="0"/>
                  <a:cs typeface="Arial" pitchFamily="34" charset="0"/>
                </a:rPr>
                <a:t>API</a:t>
              </a:r>
            </a:p>
          </p:txBody>
        </p:sp>
        <p:cxnSp>
          <p:nvCxnSpPr>
            <p:cNvPr id="43" name="Straight Arrow Connector 42"/>
            <p:cNvCxnSpPr/>
            <p:nvPr/>
          </p:nvCxnSpPr>
          <p:spPr>
            <a:xfrm>
              <a:off x="2014292" y="2296116"/>
              <a:ext cx="0" cy="831660"/>
            </a:xfrm>
            <a:prstGeom prst="straightConnector1">
              <a:avLst/>
            </a:prstGeom>
            <a:ln w="25400" cmpd="sng">
              <a:solidFill>
                <a:schemeClr val="bg2"/>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7053328" y="2296116"/>
              <a:ext cx="3096" cy="900000"/>
            </a:xfrm>
            <a:prstGeom prst="straightConnector1">
              <a:avLst/>
            </a:prstGeom>
            <a:ln w="25400" cmpd="sng">
              <a:solidFill>
                <a:schemeClr val="bg2"/>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custDataLst>
                <p:tags r:id="rId10"/>
              </p:custDataLst>
            </p:nvPr>
          </p:nvSpPr>
          <p:spPr>
            <a:xfrm>
              <a:off x="405061" y="2536464"/>
              <a:ext cx="8352928" cy="186991"/>
            </a:xfrm>
            <a:prstGeom prst="rect">
              <a:avLst/>
            </a:prstGeom>
            <a:solidFill>
              <a:srgbClr val="E47442"/>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1" i="0" dirty="0">
                  <a:solidFill>
                    <a:srgbClr val="FFFFFF"/>
                  </a:solidFill>
                  <a:latin typeface="Arial" pitchFamily="34" charset="0"/>
                  <a:cs typeface="Arial" pitchFamily="34" charset="0"/>
                </a:rPr>
                <a:t>API</a:t>
              </a:r>
            </a:p>
          </p:txBody>
        </p:sp>
      </p:grpSp>
      <p:sp>
        <p:nvSpPr>
          <p:cNvPr id="29" name="TextBox 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735091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Программно-определяемый контроллер</a:t>
            </a:r>
          </a:p>
        </p:txBody>
      </p:sp>
      <p:sp>
        <p:nvSpPr>
          <p:cNvPr id="3" name="Content Placeholder 2"/>
          <p:cNvSpPr>
            <a:spLocks noGrp="1"/>
          </p:cNvSpPr>
          <p:nvPr>
            <p:ph sz="quarter" idx="10"/>
          </p:nvPr>
        </p:nvSpPr>
        <p:spPr/>
        <p:txBody>
          <a:bodyPr/>
          <a:lstStyle/>
          <a:p>
            <a:r>
              <a:rPr lang="ru-RU" sz="1900" b="0" i="0" dirty="0">
                <a:solidFill>
                  <a:srgbClr val="000000"/>
                </a:solidFill>
                <a:latin typeface="Arial" pitchFamily="34" charset="0"/>
                <a:cs typeface="Arial" pitchFamily="34" charset="0"/>
              </a:rPr>
              <a:t>Обнаруживает базовые ресурсы и обеспечивает сводное представление ресурсов</a:t>
            </a:r>
          </a:p>
          <a:p>
            <a:pPr lvl="1"/>
            <a:r>
              <a:rPr lang="ru-RU" sz="1700" b="0" i="0" dirty="0">
                <a:solidFill>
                  <a:srgbClr val="000000"/>
                </a:solidFill>
                <a:latin typeface="Arial" pitchFamily="34" charset="0"/>
                <a:cs typeface="Arial" pitchFamily="34" charset="0"/>
              </a:rPr>
              <a:t>Абстрагирует базовые аппаратные ресурсы и объединяет их в пул</a:t>
            </a:r>
          </a:p>
          <a:p>
            <a:r>
              <a:rPr lang="ru-RU" sz="1900" b="0" i="0" dirty="0">
                <a:solidFill>
                  <a:srgbClr val="000000"/>
                </a:solidFill>
                <a:latin typeface="Arial" pitchFamily="34" charset="0"/>
                <a:cs typeface="Arial" pitchFamily="34" charset="0"/>
              </a:rPr>
              <a:t>Обеспечивает быстрое выделение ресурсов на основе предварительно определенных политик</a:t>
            </a:r>
          </a:p>
          <a:p>
            <a:r>
              <a:rPr lang="ru-RU" sz="1900" b="0" i="0" dirty="0">
                <a:solidFill>
                  <a:srgbClr val="000000"/>
                </a:solidFill>
                <a:latin typeface="Arial" pitchFamily="34" charset="0"/>
                <a:cs typeface="Arial" pitchFamily="34" charset="0"/>
              </a:rPr>
              <a:t>Обеспечивает единообразное применение политик во всех компонентах инфраструктуры при помощи программного интерфейса</a:t>
            </a:r>
          </a:p>
          <a:p>
            <a:r>
              <a:rPr lang="ru-RU" sz="1900" b="0" i="0" dirty="0">
                <a:solidFill>
                  <a:srgbClr val="000000"/>
                </a:solidFill>
                <a:latin typeface="Arial" pitchFamily="34" charset="0"/>
                <a:cs typeface="Arial" pitchFamily="34" charset="0"/>
              </a:rPr>
              <a:t>Предоставляет интерфейсы, которые позволяют внешним для контроллера приложениям запрашивать ресурсы и получать к ним доступ как к услугам</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1123447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500" b="0" i="0" dirty="0">
                <a:solidFill>
                  <a:srgbClr val="2C95DD"/>
                </a:solidFill>
                <a:latin typeface="Arial"/>
              </a:rPr>
              <a:t>Преимущества</a:t>
            </a:r>
            <a:r>
              <a:rPr lang="ru-RU" sz="2500" b="0" i="0" dirty="0">
                <a:solidFill>
                  <a:srgbClr val="2C95DD"/>
                </a:solidFill>
              </a:rPr>
              <a:t> </a:t>
            </a:r>
            <a:r>
              <a:rPr lang="ru-RU" sz="2500" b="0" i="0" dirty="0">
                <a:solidFill>
                  <a:srgbClr val="2C95DD"/>
                </a:solidFill>
                <a:latin typeface="Arial"/>
              </a:rPr>
              <a:t>программно</a:t>
            </a:r>
            <a:r>
              <a:rPr lang="ru-RU" sz="2500" b="0" i="0" dirty="0">
                <a:solidFill>
                  <a:srgbClr val="2C95DD"/>
                </a:solidFill>
              </a:rPr>
              <a:t>-</a:t>
            </a:r>
            <a:r>
              <a:rPr lang="ru-RU" sz="2500" b="0" i="0" dirty="0">
                <a:solidFill>
                  <a:srgbClr val="2C95DD"/>
                </a:solidFill>
                <a:latin typeface="Arial"/>
              </a:rPr>
              <a:t>определяемой</a:t>
            </a:r>
            <a:r>
              <a:rPr lang="ru-RU" sz="2500" b="0" i="0" dirty="0">
                <a:solidFill>
                  <a:srgbClr val="2C95DD"/>
                </a:solidFill>
              </a:rPr>
              <a:t> </a:t>
            </a:r>
            <a:r>
              <a:rPr lang="ru-RU" sz="2500" b="0" i="0" dirty="0">
                <a:solidFill>
                  <a:srgbClr val="2C95DD"/>
                </a:solidFill>
                <a:latin typeface="Arial"/>
              </a:rPr>
              <a:t>архитектуры</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117628392"/>
              </p:ext>
            </p:extLst>
          </p:nvPr>
        </p:nvGraphicFramePr>
        <p:xfrm>
          <a:off x="379413" y="915566"/>
          <a:ext cx="8458200" cy="3403600"/>
        </p:xfrm>
        <a:graphic>
          <a:graphicData uri="http://schemas.openxmlformats.org/drawingml/2006/table">
            <a:tbl>
              <a:tblPr firstRow="1" bandRow="1">
                <a:tableStyleId>{5C22544A-7EE6-4342-B048-85BDC9FD1C3A}</a:tableStyleId>
              </a:tblPr>
              <a:tblGrid>
                <a:gridCol w="2104355">
                  <a:extLst>
                    <a:ext uri="{9D8B030D-6E8A-4147-A177-3AD203B41FA5}">
                      <a16:colId xmlns:a16="http://schemas.microsoft.com/office/drawing/2014/main" val="20000"/>
                    </a:ext>
                  </a:extLst>
                </a:gridCol>
                <a:gridCol w="6353845">
                  <a:extLst>
                    <a:ext uri="{9D8B030D-6E8A-4147-A177-3AD203B41FA5}">
                      <a16:colId xmlns:a16="http://schemas.microsoft.com/office/drawing/2014/main" val="20001"/>
                    </a:ext>
                  </a:extLst>
                </a:gridCol>
              </a:tblGrid>
              <a:tr h="370840">
                <a:tc>
                  <a:txBody>
                    <a:bodyPr/>
                    <a:lstStyle/>
                    <a:p>
                      <a:r>
                        <a:rPr lang="ru-RU" sz="1300" b="1" i="0" dirty="0">
                          <a:solidFill>
                            <a:srgbClr val="FFFFFF"/>
                          </a:solidFill>
                          <a:latin typeface="Arial" pitchFamily="34" charset="0"/>
                          <a:cs typeface="Arial" pitchFamily="34" charset="0"/>
                        </a:rPr>
                        <a:t>Преимущества</a:t>
                      </a:r>
                    </a:p>
                  </a:txBody>
                  <a:tcPr/>
                </a:tc>
                <a:tc>
                  <a:txBody>
                    <a:bodyPr/>
                    <a:lstStyle/>
                    <a:p>
                      <a:r>
                        <a:rPr lang="ru-RU" sz="1300" b="1" i="0" dirty="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70840">
                <a:tc>
                  <a:txBody>
                    <a:bodyPr/>
                    <a:lstStyle/>
                    <a:p>
                      <a:r>
                        <a:rPr lang="ru-RU" sz="1300" b="0" i="0" dirty="0">
                          <a:solidFill>
                            <a:srgbClr val="000000"/>
                          </a:solidFill>
                          <a:latin typeface="Arial" pitchFamily="34" charset="0"/>
                          <a:cs typeface="Arial" pitchFamily="34" charset="0"/>
                        </a:rPr>
                        <a:t>Оперативность</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Самообслуживание по требованию. </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Более быстрое выделение ресурсов </a:t>
                      </a:r>
                    </a:p>
                  </a:txBody>
                  <a:tcPr/>
                </a:tc>
                <a:extLst>
                  <a:ext uri="{0D108BD9-81ED-4DB2-BD59-A6C34878D82A}">
                    <a16:rowId xmlns:a16="http://schemas.microsoft.com/office/drawing/2014/main" val="10001"/>
                  </a:ext>
                </a:extLst>
              </a:tr>
              <a:tr h="370840">
                <a:tc>
                  <a:txBody>
                    <a:bodyPr/>
                    <a:lstStyle/>
                    <a:p>
                      <a:r>
                        <a:rPr lang="ru-RU" sz="1300" b="0" i="0" dirty="0">
                          <a:solidFill>
                            <a:srgbClr val="000000"/>
                          </a:solidFill>
                          <a:latin typeface="Arial" pitchFamily="34" charset="0"/>
                          <a:cs typeface="Arial" pitchFamily="34" charset="0"/>
                        </a:rPr>
                        <a:t>Экономичность</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Использование существующей инфраструктуры и стандартного оборудования снижает капитальные затраты</a:t>
                      </a:r>
                    </a:p>
                  </a:txBody>
                  <a:tcPr/>
                </a:tc>
                <a:extLst>
                  <a:ext uri="{0D108BD9-81ED-4DB2-BD59-A6C34878D82A}">
                    <a16:rowId xmlns:a16="http://schemas.microsoft.com/office/drawing/2014/main" val="10002"/>
                  </a:ext>
                </a:extLst>
              </a:tr>
              <a:tr h="370840">
                <a:tc>
                  <a:txBody>
                    <a:bodyPr/>
                    <a:lstStyle/>
                    <a:p>
                      <a:r>
                        <a:rPr lang="ru-RU" sz="1300" b="0" i="0" dirty="0">
                          <a:solidFill>
                            <a:srgbClr val="000000"/>
                          </a:solidFill>
                          <a:latin typeface="Arial" pitchFamily="34" charset="0"/>
                          <a:cs typeface="Arial" pitchFamily="34" charset="0"/>
                        </a:rPr>
                        <a:t>Более эффективное управление </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Стратегическое управление на основе политик</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Автоматизированное обеспечение непрерывности бизнеса и аварийное восстановление</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Поддержка операционной аналитики</a:t>
                      </a:r>
                    </a:p>
                  </a:txBody>
                  <a:tcPr/>
                </a:tc>
                <a:extLst>
                  <a:ext uri="{0D108BD9-81ED-4DB2-BD59-A6C34878D82A}">
                    <a16:rowId xmlns:a16="http://schemas.microsoft.com/office/drawing/2014/main" val="10003"/>
                  </a:ext>
                </a:extLst>
              </a:tr>
              <a:tr h="370840">
                <a:tc>
                  <a:txBody>
                    <a:bodyPr/>
                    <a:lstStyle/>
                    <a:p>
                      <a:r>
                        <a:rPr lang="ru-RU" sz="1300" b="0" i="0" dirty="0">
                          <a:solidFill>
                            <a:srgbClr val="000000"/>
                          </a:solidFill>
                          <a:latin typeface="Arial" pitchFamily="34" charset="0"/>
                          <a:cs typeface="Arial" pitchFamily="34" charset="0"/>
                        </a:rPr>
                        <a:t>Централизованное управление </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Унифицированная платформа управления для централизованного мониторинга и администрирования </a:t>
                      </a:r>
                    </a:p>
                  </a:txBody>
                  <a:tcPr/>
                </a:tc>
                <a:extLst>
                  <a:ext uri="{0D108BD9-81ED-4DB2-BD59-A6C34878D82A}">
                    <a16:rowId xmlns:a16="http://schemas.microsoft.com/office/drawing/2014/main" val="10004"/>
                  </a:ext>
                </a:extLst>
              </a:tr>
              <a:tr h="370840">
                <a:tc>
                  <a:txBody>
                    <a:bodyPr/>
                    <a:lstStyle/>
                    <a:p>
                      <a:r>
                        <a:rPr lang="ru-RU" sz="1300" b="0" i="0" dirty="0">
                          <a:solidFill>
                            <a:srgbClr val="000000"/>
                          </a:solidFill>
                          <a:latin typeface="Arial" pitchFamily="34" charset="0"/>
                          <a:cs typeface="Arial" pitchFamily="34" charset="0"/>
                        </a:rPr>
                        <a:t>Гибкость</a:t>
                      </a:r>
                    </a:p>
                  </a:txBody>
                  <a:tcPr/>
                </a:tc>
                <a:tc>
                  <a:txBody>
                    <a:bodyPr/>
                    <a:lstStyle/>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Использование стандартного оборудования и современных аппаратных технологий </a:t>
                      </a:r>
                    </a:p>
                    <a:p>
                      <a:pPr marL="285750" indent="-285750">
                        <a:buFont typeface="Arial" panose="020B0604020202020204" pitchFamily="34" charset="0"/>
                        <a:buChar char="•"/>
                      </a:pPr>
                      <a:r>
                        <a:rPr lang="ru-RU" sz="1300" b="0" i="0" dirty="0">
                          <a:solidFill>
                            <a:srgbClr val="000000"/>
                          </a:solidFill>
                          <a:latin typeface="Arial" pitchFamily="34" charset="0"/>
                          <a:cs typeface="Arial" pitchFamily="34" charset="0"/>
                        </a:rPr>
                        <a:t>Поддержка гибридного облака</a:t>
                      </a:r>
                    </a:p>
                  </a:txBody>
                  <a:tcPr/>
                </a:tc>
                <a:extLst>
                  <a:ext uri="{0D108BD9-81ED-4DB2-BD59-A6C34878D82A}">
                    <a16:rowId xmlns:a16="http://schemas.microsoft.com/office/drawing/2014/main" val="10005"/>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10166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5.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Архитектура программно-определяемого центра обработки данных</a:t>
            </a:r>
          </a:p>
          <a:p>
            <a:pPr>
              <a:defRPr/>
            </a:pPr>
            <a:r>
              <a:rPr lang="ru-RU" sz="2000" b="0" i="0" dirty="0">
                <a:solidFill>
                  <a:srgbClr val="000000"/>
                </a:solidFill>
                <a:latin typeface="Arial" pitchFamily="34" charset="0"/>
                <a:cs typeface="Arial" pitchFamily="34" charset="0"/>
              </a:rPr>
              <a:t>Программно-определяемый контроллер</a:t>
            </a:r>
          </a:p>
          <a:p>
            <a:pPr>
              <a:defRPr/>
            </a:pPr>
            <a:r>
              <a:rPr lang="ru-RU" sz="2000" b="0" i="0" dirty="0">
                <a:solidFill>
                  <a:srgbClr val="000000"/>
                </a:solidFill>
                <a:latin typeface="Arial" pitchFamily="34" charset="0"/>
                <a:cs typeface="Arial" pitchFamily="34" charset="0"/>
              </a:rPr>
              <a:t>Преимущества программно-определяемой архитектуры</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4049050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Практическая реализация концепций </a:t>
            </a:r>
          </a:p>
        </p:txBody>
      </p:sp>
      <p:sp>
        <p:nvSpPr>
          <p:cNvPr id="5" name="Content Placeholder 4"/>
          <p:cNvSpPr>
            <a:spLocks noGrp="1"/>
          </p:cNvSpPr>
          <p:nvPr>
            <p:ph sz="quarter" idx="10"/>
          </p:nvPr>
        </p:nvSpPr>
        <p:spPr/>
        <p:txBody>
          <a:bodyPr/>
          <a:lstStyle/>
          <a:p>
            <a:pPr>
              <a:defRPr/>
            </a:pPr>
            <a:r>
              <a:rPr lang="ru-RU" sz="2000" b="0" i="0" dirty="0">
                <a:solidFill>
                  <a:srgbClr val="000000"/>
                </a:solidFill>
                <a:latin typeface="Arial" pitchFamily="34" charset="0"/>
                <a:cs typeface="Arial" pitchFamily="34" charset="0"/>
              </a:rPr>
              <a:t>VCE Vblock</a:t>
            </a:r>
          </a:p>
          <a:p>
            <a:pPr>
              <a:defRPr/>
            </a:pPr>
            <a:r>
              <a:rPr lang="ru-RU" sz="2000" b="0" i="0" dirty="0">
                <a:solidFill>
                  <a:srgbClr val="000000"/>
                </a:solidFill>
                <a:latin typeface="Arial" pitchFamily="34" charset="0"/>
                <a:cs typeface="Arial" pitchFamily="34" charset="0"/>
              </a:rPr>
              <a:t>EMC VSPEX</a:t>
            </a:r>
          </a:p>
          <a:p>
            <a:pPr>
              <a:defRPr/>
            </a:pPr>
            <a:r>
              <a:rPr lang="ru-RU" sz="2000" b="0" i="0" dirty="0">
                <a:solidFill>
                  <a:srgbClr val="000000"/>
                </a:solidFill>
                <a:latin typeface="Arial" pitchFamily="34" charset="0"/>
                <a:cs typeface="Arial" pitchFamily="34" charset="0"/>
              </a:rPr>
              <a:t>VMware ESXi</a:t>
            </a:r>
          </a:p>
          <a:p>
            <a:pPr>
              <a:defRPr/>
            </a:pPr>
            <a:r>
              <a:rPr lang="ru-RU" sz="2000" b="0" i="0" dirty="0">
                <a:solidFill>
                  <a:srgbClr val="000000"/>
                </a:solidFill>
                <a:latin typeface="Arial" pitchFamily="34" charset="0"/>
                <a:cs typeface="Arial" pitchFamily="34" charset="0"/>
              </a:rPr>
              <a:t>VMware ThinApp</a:t>
            </a:r>
          </a:p>
          <a:p>
            <a:pPr>
              <a:defRPr/>
            </a:pPr>
            <a:r>
              <a:rPr lang="ru-RU" sz="2000" b="0" i="0" dirty="0">
                <a:solidFill>
                  <a:srgbClr val="000000"/>
                </a:solidFill>
                <a:latin typeface="Arial" pitchFamily="34" charset="0"/>
                <a:cs typeface="Arial" pitchFamily="34" charset="0"/>
              </a:rPr>
              <a:t>VMware Horizon</a:t>
            </a:r>
          </a:p>
          <a:p>
            <a:pPr>
              <a:defRPr/>
            </a:pPr>
            <a:r>
              <a:rPr lang="ru-RU" sz="2000" b="0" i="0" dirty="0">
                <a:solidFill>
                  <a:srgbClr val="000000"/>
                </a:solidFill>
                <a:latin typeface="Arial" pitchFamily="34" charset="0"/>
                <a:cs typeface="Arial" pitchFamily="34" charset="0"/>
              </a:rPr>
              <a:t>VMware NSX</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55941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800" b="0" i="0" dirty="0">
                <a:solidFill>
                  <a:srgbClr val="2C95DD"/>
                </a:solidFill>
                <a:latin typeface="Arial" pitchFamily="34" charset="0"/>
                <a:cs typeface="Arial" pitchFamily="34" charset="0"/>
              </a:rPr>
              <a:t>VCE Vblock и EMC VSPEX</a:t>
            </a:r>
          </a:p>
        </p:txBody>
      </p:sp>
      <p:graphicFrame>
        <p:nvGraphicFramePr>
          <p:cNvPr id="8" name="Content Placeholder 4"/>
          <p:cNvGraphicFramePr>
            <a:graphicFrameLocks noGrp="1"/>
          </p:cNvGraphicFramePr>
          <p:nvPr>
            <p:ph sz="quarter" idx="10"/>
            <p:extLst>
              <p:ext uri="{D42A27DB-BD31-4B8C-83A1-F6EECF244321}">
                <p14:modId xmlns:p14="http://schemas.microsoft.com/office/powerpoint/2010/main" val="1349408987"/>
              </p:ext>
            </p:extLst>
          </p:nvPr>
        </p:nvGraphicFramePr>
        <p:xfrm>
          <a:off x="379413" y="752475"/>
          <a:ext cx="8458200" cy="3578860"/>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500" b="1" i="0" dirty="0">
                          <a:solidFill>
                            <a:srgbClr val="FFFFFF"/>
                          </a:solidFill>
                          <a:latin typeface="Arial" pitchFamily="34" charset="0"/>
                          <a:cs typeface="Arial" pitchFamily="34" charset="0"/>
                        </a:rPr>
                        <a:t>Vblock</a:t>
                      </a:r>
                    </a:p>
                  </a:txBody>
                  <a:tcPr/>
                </a:tc>
                <a:tc>
                  <a:txBody>
                    <a:bodyPr/>
                    <a:lstStyle/>
                    <a:p>
                      <a:endParaRPr lang="en-US" sz="15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500" b="1" i="0" dirty="0">
                          <a:solidFill>
                            <a:srgbClr val="FFFFFF"/>
                          </a:solidFill>
                          <a:latin typeface="Arial" pitchFamily="34" charset="0"/>
                          <a:cs typeface="Arial" pitchFamily="34" charset="0"/>
                        </a:rPr>
                        <a:t>VSPEX</a:t>
                      </a:r>
                    </a:p>
                  </a:txBody>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Интегрированное решение для ИТ-инфраструктуры, предназначенное для развертывания центра обработки данных или третьей платформы </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Объединяет в единый пакет вычислительные ресурсы, ресурсы хранения и сетевые ресурсы, средства виртуализации и обеспечения безопасности, а также программное обеспечение для управления</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Решение, прошедшее валидацию и готовое к развертыванию</a:t>
                      </a:r>
                    </a:p>
                  </a:txBody>
                  <a:tcPr>
                    <a:solidFill>
                      <a:srgbClr val="BABCBE"/>
                    </a:solidFill>
                  </a:tcPr>
                </a:tc>
                <a:tc>
                  <a:txBody>
                    <a:bodyPr/>
                    <a:lstStyle/>
                    <a:p>
                      <a:endParaRPr lang="en-US" sz="15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Решение для ИТ-инфраструктуры, предназначенное для развертывания лучшего в своем классе центра обработки данных или третьей платформы</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Включает вычислительные, сетевые продукты, продукты для хранения данных, виртуализации и резервного копирования</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Позволяет выбирать гипервизор, вычислительную систему и сетевую технологию</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1500648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800" b="0" i="0" dirty="0">
                <a:solidFill>
                  <a:srgbClr val="2C95DD"/>
                </a:solidFill>
                <a:latin typeface="Arial" pitchFamily="34" charset="0"/>
                <a:cs typeface="Arial" pitchFamily="34" charset="0"/>
              </a:rPr>
              <a:t>VMware ESXi и VMware ThinApp</a:t>
            </a:r>
          </a:p>
        </p:txBody>
      </p:sp>
      <p:graphicFrame>
        <p:nvGraphicFramePr>
          <p:cNvPr id="8" name="Content Placeholder 4"/>
          <p:cNvGraphicFramePr>
            <a:graphicFrameLocks noGrp="1"/>
          </p:cNvGraphicFramePr>
          <p:nvPr>
            <p:ph sz="quarter" idx="10"/>
            <p:extLst>
              <p:ext uri="{D42A27DB-BD31-4B8C-83A1-F6EECF244321}">
                <p14:modId xmlns:p14="http://schemas.microsoft.com/office/powerpoint/2010/main" val="3284673929"/>
              </p:ext>
            </p:extLst>
          </p:nvPr>
        </p:nvGraphicFramePr>
        <p:xfrm>
          <a:off x="379413" y="1094400"/>
          <a:ext cx="8458200" cy="2405380"/>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600" b="1" i="0" dirty="0">
                          <a:solidFill>
                            <a:srgbClr val="FFFFFF"/>
                          </a:solidFill>
                        </a:rPr>
                        <a:t>ESXi</a:t>
                      </a:r>
                    </a:p>
                  </a:txBody>
                  <a:tcPr/>
                </a:tc>
                <a:tc>
                  <a:txBody>
                    <a:bodyPr/>
                    <a:lstStyle/>
                    <a:p>
                      <a:endParaRPr lang="en-US" sz="1600" dirty="0"/>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600" b="1" i="0" dirty="0">
                          <a:solidFill>
                            <a:srgbClr val="FFFFFF"/>
                          </a:solidFill>
                        </a:rPr>
                        <a:t>ThinApp</a:t>
                      </a:r>
                    </a:p>
                  </a:txBody>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ru-RU" sz="1600" b="0" i="0" dirty="0">
                          <a:solidFill>
                            <a:srgbClr val="000000"/>
                          </a:solidFill>
                          <a:latin typeface="Arial"/>
                        </a:rPr>
                        <a:t>Автономный</a:t>
                      </a:r>
                      <a:r>
                        <a:rPr lang="ru-RU" sz="1600" b="0" i="0" dirty="0">
                          <a:solidFill>
                            <a:srgbClr val="000000"/>
                          </a:solidFill>
                        </a:rPr>
                        <a:t> </a:t>
                      </a:r>
                      <a:r>
                        <a:rPr lang="ru-RU" sz="1600" b="0" i="0" dirty="0">
                          <a:solidFill>
                            <a:srgbClr val="000000"/>
                          </a:solidFill>
                          <a:latin typeface="Arial"/>
                        </a:rPr>
                        <a:t>гипервизор</a:t>
                      </a:r>
                    </a:p>
                    <a:p>
                      <a:pPr marL="171450" lvl="1" indent="-171450" algn="l" defTabSz="800100">
                        <a:lnSpc>
                          <a:spcPct val="100000"/>
                        </a:lnSpc>
                        <a:spcBef>
                          <a:spcPts val="1200"/>
                        </a:spcBef>
                        <a:spcAft>
                          <a:spcPct val="15000"/>
                        </a:spcAft>
                        <a:buChar char="••"/>
                      </a:pPr>
                      <a:r>
                        <a:rPr lang="ru-RU" sz="1600" b="0" i="0" dirty="0">
                          <a:solidFill>
                            <a:srgbClr val="000000"/>
                          </a:solidFill>
                          <a:latin typeface="Arial"/>
                        </a:rPr>
                        <a:t>Включает</a:t>
                      </a:r>
                      <a:r>
                        <a:rPr lang="ru-RU" sz="1600" b="0" i="0" dirty="0">
                          <a:solidFill>
                            <a:srgbClr val="000000"/>
                          </a:solidFill>
                        </a:rPr>
                        <a:t> </a:t>
                      </a:r>
                      <a:r>
                        <a:rPr lang="ru-RU" sz="1600" b="0" i="0" dirty="0">
                          <a:solidFill>
                            <a:srgbClr val="000000"/>
                          </a:solidFill>
                          <a:latin typeface="Arial"/>
                        </a:rPr>
                        <a:t>базовую</a:t>
                      </a:r>
                      <a:r>
                        <a:rPr lang="ru-RU" sz="1600" b="0" i="0" dirty="0">
                          <a:solidFill>
                            <a:srgbClr val="000000"/>
                          </a:solidFill>
                        </a:rPr>
                        <a:t> </a:t>
                      </a:r>
                      <a:r>
                        <a:rPr lang="ru-RU" sz="1600" b="0" i="0" dirty="0">
                          <a:solidFill>
                            <a:srgbClr val="000000"/>
                          </a:solidFill>
                          <a:latin typeface="Arial"/>
                        </a:rPr>
                        <a:t>ОС</a:t>
                      </a:r>
                      <a:r>
                        <a:rPr lang="ru-RU" sz="1600" b="0" i="0" dirty="0">
                          <a:solidFill>
                            <a:srgbClr val="000000"/>
                          </a:solidFill>
                        </a:rPr>
                        <a:t> VMkernel, </a:t>
                      </a:r>
                      <a:r>
                        <a:rPr lang="ru-RU" sz="1600" b="0" i="0" dirty="0">
                          <a:solidFill>
                            <a:srgbClr val="000000"/>
                          </a:solidFill>
                          <a:latin typeface="Arial"/>
                        </a:rPr>
                        <a:t>которая</a:t>
                      </a:r>
                      <a:r>
                        <a:rPr lang="ru-RU" sz="1600" b="0" i="0" dirty="0">
                          <a:solidFill>
                            <a:srgbClr val="000000"/>
                          </a:solidFill>
                        </a:rPr>
                        <a:t> </a:t>
                      </a:r>
                      <a:r>
                        <a:rPr lang="ru-RU" sz="1600" b="0" i="0" dirty="0">
                          <a:solidFill>
                            <a:srgbClr val="000000"/>
                          </a:solidFill>
                          <a:latin typeface="Arial"/>
                        </a:rPr>
                        <a:t>поддерживает</a:t>
                      </a:r>
                      <a:r>
                        <a:rPr lang="ru-RU" sz="1600" b="0" i="0" dirty="0">
                          <a:solidFill>
                            <a:srgbClr val="000000"/>
                          </a:solidFill>
                        </a:rPr>
                        <a:t> </a:t>
                      </a:r>
                      <a:r>
                        <a:rPr lang="ru-RU" sz="1600" b="0" i="0" dirty="0">
                          <a:solidFill>
                            <a:srgbClr val="000000"/>
                          </a:solidFill>
                          <a:latin typeface="Arial"/>
                        </a:rPr>
                        <a:t>работу</a:t>
                      </a:r>
                      <a:r>
                        <a:rPr lang="ru-RU" sz="1600" b="0" i="0" dirty="0">
                          <a:solidFill>
                            <a:srgbClr val="000000"/>
                          </a:solidFill>
                        </a:rPr>
                        <a:t> </a:t>
                      </a:r>
                      <a:r>
                        <a:rPr lang="ru-RU" sz="1600" b="0" i="0" dirty="0">
                          <a:solidFill>
                            <a:srgbClr val="000000"/>
                          </a:solidFill>
                          <a:latin typeface="Arial"/>
                        </a:rPr>
                        <a:t>нескольких</a:t>
                      </a:r>
                      <a:r>
                        <a:rPr lang="ru-RU" sz="1600" b="0" i="0" dirty="0">
                          <a:solidFill>
                            <a:srgbClr val="000000"/>
                          </a:solidFill>
                        </a:rPr>
                        <a:t> </a:t>
                      </a:r>
                      <a:r>
                        <a:rPr lang="ru-RU" sz="1600" b="0" i="0" dirty="0">
                          <a:solidFill>
                            <a:srgbClr val="000000"/>
                          </a:solidFill>
                          <a:latin typeface="Arial"/>
                        </a:rPr>
                        <a:t>ВМ</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400" b="0" i="0" dirty="0">
                          <a:solidFill>
                            <a:srgbClr val="000000"/>
                          </a:solidFill>
                        </a:rPr>
                        <a:t>VMkernel </a:t>
                      </a:r>
                      <a:r>
                        <a:rPr lang="ru-RU" sz="1400" b="0" i="0" dirty="0">
                          <a:solidFill>
                            <a:srgbClr val="000000"/>
                          </a:solidFill>
                          <a:latin typeface="Arial"/>
                        </a:rPr>
                        <a:t>осуществляет</a:t>
                      </a:r>
                      <a:r>
                        <a:rPr lang="ru-RU" sz="1400" b="0" i="0" dirty="0">
                          <a:solidFill>
                            <a:srgbClr val="000000"/>
                          </a:solidFill>
                        </a:rPr>
                        <a:t> </a:t>
                      </a:r>
                      <a:r>
                        <a:rPr lang="ru-RU" sz="1400" b="0" i="0" dirty="0">
                          <a:solidFill>
                            <a:srgbClr val="000000"/>
                          </a:solidFill>
                          <a:latin typeface="Arial"/>
                        </a:rPr>
                        <a:t>контроль</a:t>
                      </a:r>
                      <a:r>
                        <a:rPr lang="ru-RU" sz="1400" b="0" i="0" dirty="0">
                          <a:solidFill>
                            <a:srgbClr val="000000"/>
                          </a:solidFill>
                        </a:rPr>
                        <a:t> </a:t>
                      </a:r>
                      <a:r>
                        <a:rPr lang="ru-RU" sz="1400" b="0" i="0" dirty="0">
                          <a:solidFill>
                            <a:srgbClr val="000000"/>
                          </a:solidFill>
                          <a:latin typeface="Arial"/>
                        </a:rPr>
                        <a:t>и</a:t>
                      </a:r>
                      <a:r>
                        <a:rPr lang="ru-RU" sz="1400" b="0" i="0" dirty="0">
                          <a:solidFill>
                            <a:srgbClr val="000000"/>
                          </a:solidFill>
                        </a:rPr>
                        <a:t> </a:t>
                      </a:r>
                      <a:r>
                        <a:rPr lang="ru-RU" sz="1400" b="0" i="0" dirty="0">
                          <a:solidFill>
                            <a:srgbClr val="000000"/>
                          </a:solidFill>
                          <a:latin typeface="Arial"/>
                        </a:rPr>
                        <a:t>управляет</a:t>
                      </a:r>
                      <a:r>
                        <a:rPr lang="ru-RU" sz="1400" b="0" i="0" dirty="0">
                          <a:solidFill>
                            <a:srgbClr val="000000"/>
                          </a:solidFill>
                        </a:rPr>
                        <a:t> </a:t>
                      </a:r>
                      <a:r>
                        <a:rPr lang="ru-RU" sz="1400" b="0" i="0" dirty="0">
                          <a:solidFill>
                            <a:srgbClr val="000000"/>
                          </a:solidFill>
                          <a:latin typeface="Arial"/>
                        </a:rPr>
                        <a:t>вычислительными</a:t>
                      </a:r>
                      <a:r>
                        <a:rPr lang="ru-RU" sz="1400" b="0" i="0" dirty="0">
                          <a:solidFill>
                            <a:srgbClr val="000000"/>
                          </a:solidFill>
                        </a:rPr>
                        <a:t> </a:t>
                      </a:r>
                      <a:r>
                        <a:rPr lang="ru-RU" sz="1400" b="0" i="0" dirty="0">
                          <a:solidFill>
                            <a:srgbClr val="000000"/>
                          </a:solidFill>
                          <a:latin typeface="Arial"/>
                        </a:rPr>
                        <a:t>ресурсами</a:t>
                      </a:r>
                    </a:p>
                  </a:txBody>
                  <a:tcPr>
                    <a:solidFill>
                      <a:srgbClr val="BABCBE"/>
                    </a:solidFill>
                  </a:tcPr>
                </a:tc>
                <a:tc>
                  <a:txBody>
                    <a:bodyPr/>
                    <a:lstStyle/>
                    <a:p>
                      <a:endParaRPr lang="en-US" sz="1600" dirty="0"/>
                    </a:p>
                  </a:txBody>
                  <a:tcPr>
                    <a:noFill/>
                  </a:tcPr>
                </a:tc>
                <a:tc>
                  <a:txBody>
                    <a:bodyPr/>
                    <a:lstStyle/>
                    <a:p>
                      <a:pPr marL="171450" lvl="1" indent="-171450" algn="l" defTabSz="800100">
                        <a:lnSpc>
                          <a:spcPct val="100000"/>
                        </a:lnSpc>
                        <a:spcBef>
                          <a:spcPts val="1200"/>
                        </a:spcBef>
                        <a:spcAft>
                          <a:spcPct val="15000"/>
                        </a:spcAft>
                        <a:buChar char="••"/>
                      </a:pPr>
                      <a:r>
                        <a:rPr lang="ru-RU" sz="1600" b="0" i="0" dirty="0">
                          <a:solidFill>
                            <a:srgbClr val="000000"/>
                          </a:solidFill>
                          <a:latin typeface="Arial"/>
                        </a:rPr>
                        <a:t>Решение</a:t>
                      </a:r>
                      <a:r>
                        <a:rPr lang="ru-RU" sz="1600" b="0" i="0" dirty="0">
                          <a:solidFill>
                            <a:srgbClr val="000000"/>
                          </a:solidFill>
                        </a:rPr>
                        <a:t> </a:t>
                      </a:r>
                      <a:r>
                        <a:rPr lang="ru-RU" sz="1600" b="0" i="0" dirty="0">
                          <a:solidFill>
                            <a:srgbClr val="000000"/>
                          </a:solidFill>
                          <a:latin typeface="Arial"/>
                        </a:rPr>
                        <a:t>для</a:t>
                      </a:r>
                      <a:r>
                        <a:rPr lang="ru-RU" sz="1600" b="0" i="0" dirty="0">
                          <a:solidFill>
                            <a:srgbClr val="000000"/>
                          </a:solidFill>
                        </a:rPr>
                        <a:t> </a:t>
                      </a:r>
                      <a:r>
                        <a:rPr lang="ru-RU" sz="1600" b="0" i="0" dirty="0">
                          <a:solidFill>
                            <a:srgbClr val="000000"/>
                          </a:solidFill>
                          <a:latin typeface="Arial"/>
                        </a:rPr>
                        <a:t>виртуализации</a:t>
                      </a:r>
                      <a:r>
                        <a:rPr lang="ru-RU" sz="1600" b="0" i="0" dirty="0">
                          <a:solidFill>
                            <a:srgbClr val="000000"/>
                          </a:solidFill>
                        </a:rPr>
                        <a:t> </a:t>
                      </a:r>
                      <a:r>
                        <a:rPr lang="ru-RU" sz="1600" b="0" i="0" dirty="0">
                          <a:solidFill>
                            <a:srgbClr val="000000"/>
                          </a:solidFill>
                          <a:latin typeface="Arial"/>
                        </a:rPr>
                        <a:t>приложений</a:t>
                      </a:r>
                      <a:r>
                        <a:rPr lang="ru-RU" sz="1600" b="0" i="0" dirty="0">
                          <a:solidFill>
                            <a:srgbClr val="000000"/>
                          </a:solidFill>
                        </a:rPr>
                        <a:t>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400" b="0" i="0" dirty="0">
                          <a:solidFill>
                            <a:srgbClr val="000000"/>
                          </a:solidFill>
                          <a:latin typeface="Arial"/>
                        </a:rPr>
                        <a:t>Инкапсулирует</a:t>
                      </a:r>
                      <a:r>
                        <a:rPr lang="ru-RU" sz="1400" b="0" i="0" dirty="0">
                          <a:solidFill>
                            <a:srgbClr val="000000"/>
                          </a:solidFill>
                        </a:rPr>
                        <a:t> </a:t>
                      </a:r>
                      <a:r>
                        <a:rPr lang="ru-RU" sz="1400" b="0" i="0" dirty="0">
                          <a:solidFill>
                            <a:srgbClr val="000000"/>
                          </a:solidFill>
                          <a:latin typeface="Arial"/>
                        </a:rPr>
                        <a:t>приложение</a:t>
                      </a:r>
                      <a:r>
                        <a:rPr lang="ru-RU" sz="1400" b="0" i="0" dirty="0">
                          <a:solidFill>
                            <a:srgbClr val="000000"/>
                          </a:solidFill>
                        </a:rPr>
                        <a:t> </a:t>
                      </a:r>
                      <a:r>
                        <a:rPr lang="ru-RU" sz="1400" b="0" i="0" dirty="0">
                          <a:solidFill>
                            <a:srgbClr val="000000"/>
                          </a:solidFill>
                          <a:latin typeface="Arial"/>
                        </a:rPr>
                        <a:t>в</a:t>
                      </a:r>
                      <a:r>
                        <a:rPr lang="ru-RU" sz="1400" b="0" i="0" dirty="0">
                          <a:solidFill>
                            <a:srgbClr val="000000"/>
                          </a:solidFill>
                        </a:rPr>
                        <a:t> </a:t>
                      </a:r>
                      <a:r>
                        <a:rPr lang="ru-RU" sz="1400" b="0" i="0" dirty="0">
                          <a:solidFill>
                            <a:srgbClr val="000000"/>
                          </a:solidFill>
                          <a:latin typeface="Arial"/>
                        </a:rPr>
                        <a:t>единый</a:t>
                      </a:r>
                      <a:r>
                        <a:rPr lang="ru-RU" sz="1400" b="0" i="0" dirty="0">
                          <a:solidFill>
                            <a:srgbClr val="000000"/>
                          </a:solidFill>
                        </a:rPr>
                        <a:t> </a:t>
                      </a:r>
                      <a:r>
                        <a:rPr lang="ru-RU" sz="1400" b="0" i="0" dirty="0">
                          <a:solidFill>
                            <a:srgbClr val="000000"/>
                          </a:solidFill>
                          <a:latin typeface="Arial"/>
                        </a:rPr>
                        <a:t>исполняемый</a:t>
                      </a:r>
                      <a:r>
                        <a:rPr lang="ru-RU" sz="1400" b="0" i="0" dirty="0">
                          <a:solidFill>
                            <a:srgbClr val="000000"/>
                          </a:solidFill>
                        </a:rPr>
                        <a:t> </a:t>
                      </a:r>
                      <a:r>
                        <a:rPr lang="ru-RU" sz="1400" b="0" i="0" dirty="0">
                          <a:solidFill>
                            <a:srgbClr val="000000"/>
                          </a:solidFill>
                          <a:latin typeface="Arial"/>
                        </a:rPr>
                        <a:t>файл</a:t>
                      </a:r>
                      <a:r>
                        <a:rPr lang="ru-RU" sz="1400" b="0" i="0" dirty="0">
                          <a:solidFill>
                            <a:srgbClr val="000000"/>
                          </a:solidFill>
                        </a:rPr>
                        <a:t> </a:t>
                      </a:r>
                    </a:p>
                    <a:p>
                      <a:pPr marL="171450" lvl="1" indent="-171450" algn="l" defTabSz="800100">
                        <a:lnSpc>
                          <a:spcPct val="100000"/>
                        </a:lnSpc>
                        <a:spcBef>
                          <a:spcPts val="1200"/>
                        </a:spcBef>
                        <a:spcAft>
                          <a:spcPct val="15000"/>
                        </a:spcAft>
                        <a:buChar char="••"/>
                      </a:pPr>
                      <a:r>
                        <a:rPr lang="ru-RU" sz="1600" b="0" i="0" dirty="0">
                          <a:solidFill>
                            <a:srgbClr val="000000"/>
                          </a:solidFill>
                          <a:latin typeface="Arial"/>
                        </a:rPr>
                        <a:t>Приложения</a:t>
                      </a:r>
                      <a:r>
                        <a:rPr lang="ru-RU" sz="1600" b="0" i="0" dirty="0">
                          <a:solidFill>
                            <a:srgbClr val="000000"/>
                          </a:solidFill>
                        </a:rPr>
                        <a:t> </a:t>
                      </a:r>
                      <a:r>
                        <a:rPr lang="ru-RU" sz="1600" b="0" i="0" dirty="0">
                          <a:solidFill>
                            <a:srgbClr val="000000"/>
                          </a:solidFill>
                          <a:latin typeface="Arial"/>
                        </a:rPr>
                        <a:t>могут</a:t>
                      </a:r>
                      <a:r>
                        <a:rPr lang="ru-RU" sz="1600" b="0" i="0" dirty="0">
                          <a:solidFill>
                            <a:srgbClr val="000000"/>
                          </a:solidFill>
                        </a:rPr>
                        <a:t> </a:t>
                      </a:r>
                      <a:r>
                        <a:rPr lang="ru-RU" sz="1600" b="0" i="0" dirty="0">
                          <a:solidFill>
                            <a:srgbClr val="000000"/>
                          </a:solidFill>
                          <a:latin typeface="Arial"/>
                        </a:rPr>
                        <a:t>выполняться</a:t>
                      </a:r>
                      <a:r>
                        <a:rPr lang="ru-RU" sz="1600" b="0" i="0" dirty="0">
                          <a:solidFill>
                            <a:srgbClr val="000000"/>
                          </a:solidFill>
                        </a:rPr>
                        <a:t> </a:t>
                      </a:r>
                      <a:r>
                        <a:rPr lang="ru-RU" sz="1600" b="0" i="0" dirty="0">
                          <a:solidFill>
                            <a:srgbClr val="000000"/>
                          </a:solidFill>
                          <a:latin typeface="Arial"/>
                        </a:rPr>
                        <a:t>в</a:t>
                      </a:r>
                      <a:r>
                        <a:rPr lang="ru-RU" sz="1600" b="0" i="0" dirty="0">
                          <a:solidFill>
                            <a:srgbClr val="000000"/>
                          </a:solidFill>
                        </a:rPr>
                        <a:t> </a:t>
                      </a:r>
                      <a:r>
                        <a:rPr lang="ru-RU" sz="1600" b="0" i="0" dirty="0">
                          <a:solidFill>
                            <a:srgbClr val="000000"/>
                          </a:solidFill>
                          <a:latin typeface="Arial"/>
                        </a:rPr>
                        <a:t>развернутом</a:t>
                      </a:r>
                      <a:r>
                        <a:rPr lang="ru-RU" sz="1600" b="0" i="0" dirty="0">
                          <a:solidFill>
                            <a:srgbClr val="000000"/>
                          </a:solidFill>
                        </a:rPr>
                        <a:t> </a:t>
                      </a:r>
                      <a:r>
                        <a:rPr lang="ru-RU" sz="1600" b="0" i="0" dirty="0">
                          <a:solidFill>
                            <a:srgbClr val="000000"/>
                          </a:solidFill>
                          <a:latin typeface="Arial"/>
                        </a:rPr>
                        <a:t>режиме</a:t>
                      </a:r>
                      <a:r>
                        <a:rPr lang="ru-RU" sz="1600" b="0" i="0" dirty="0">
                          <a:solidFill>
                            <a:srgbClr val="000000"/>
                          </a:solidFill>
                        </a:rPr>
                        <a:t> </a:t>
                      </a:r>
                      <a:r>
                        <a:rPr lang="ru-RU" sz="1600" b="0" i="0" dirty="0">
                          <a:solidFill>
                            <a:srgbClr val="000000"/>
                          </a:solidFill>
                          <a:latin typeface="Arial"/>
                        </a:rPr>
                        <a:t>или</a:t>
                      </a:r>
                      <a:r>
                        <a:rPr lang="ru-RU" sz="1600" b="0" i="0" dirty="0">
                          <a:solidFill>
                            <a:srgbClr val="000000"/>
                          </a:solidFill>
                        </a:rPr>
                        <a:t> </a:t>
                      </a:r>
                      <a:r>
                        <a:rPr lang="ru-RU" sz="1600" b="0" i="0" dirty="0">
                          <a:solidFill>
                            <a:srgbClr val="000000"/>
                          </a:solidFill>
                          <a:latin typeface="Arial"/>
                        </a:rPr>
                        <a:t>в</a:t>
                      </a:r>
                      <a:r>
                        <a:rPr lang="ru-RU" sz="1600" b="0" i="0" dirty="0">
                          <a:solidFill>
                            <a:srgbClr val="000000"/>
                          </a:solidFill>
                        </a:rPr>
                        <a:t> </a:t>
                      </a:r>
                      <a:r>
                        <a:rPr lang="ru-RU" sz="1600" b="0" i="0" dirty="0">
                          <a:solidFill>
                            <a:srgbClr val="000000"/>
                          </a:solidFill>
                          <a:latin typeface="Arial"/>
                        </a:rPr>
                        <a:t>режиме</a:t>
                      </a:r>
                      <a:r>
                        <a:rPr lang="ru-RU" sz="1600" b="0" i="0" dirty="0">
                          <a:solidFill>
                            <a:srgbClr val="000000"/>
                          </a:solidFill>
                        </a:rPr>
                        <a:t> </a:t>
                      </a:r>
                      <a:r>
                        <a:rPr lang="ru-RU" sz="1600" b="0" i="0" dirty="0">
                          <a:solidFill>
                            <a:srgbClr val="000000"/>
                          </a:solidFill>
                          <a:latin typeface="Arial"/>
                        </a:rPr>
                        <a:t>потоковой</a:t>
                      </a:r>
                      <a:r>
                        <a:rPr lang="ru-RU" sz="1600" b="0" i="0" dirty="0">
                          <a:solidFill>
                            <a:srgbClr val="000000"/>
                          </a:solidFill>
                        </a:rPr>
                        <a:t> </a:t>
                      </a:r>
                      <a:r>
                        <a:rPr lang="ru-RU" sz="1600" b="0" i="0" dirty="0">
                          <a:solidFill>
                            <a:srgbClr val="000000"/>
                          </a:solidFill>
                          <a:latin typeface="Arial"/>
                        </a:rPr>
                        <a:t>передачи</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467915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800" b="0" i="0" dirty="0">
                <a:solidFill>
                  <a:srgbClr val="2C95DD"/>
                </a:solidFill>
                <a:latin typeface="Arial" pitchFamily="34" charset="0"/>
                <a:cs typeface="Arial" pitchFamily="34" charset="0"/>
              </a:rPr>
              <a:t>VMware Horizon и VMware NSX</a:t>
            </a:r>
          </a:p>
        </p:txBody>
      </p:sp>
      <p:graphicFrame>
        <p:nvGraphicFramePr>
          <p:cNvPr id="8" name="Content Placeholder 4"/>
          <p:cNvGraphicFramePr>
            <a:graphicFrameLocks noGrp="1"/>
          </p:cNvGraphicFramePr>
          <p:nvPr>
            <p:ph sz="quarter" idx="10"/>
            <p:extLst>
              <p:ext uri="{D42A27DB-BD31-4B8C-83A1-F6EECF244321}">
                <p14:modId xmlns:p14="http://schemas.microsoft.com/office/powerpoint/2010/main" val="3933565113"/>
              </p:ext>
            </p:extLst>
          </p:nvPr>
        </p:nvGraphicFramePr>
        <p:xfrm>
          <a:off x="379413" y="812546"/>
          <a:ext cx="8458200" cy="3578860"/>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500" b="1" i="0" dirty="0">
                          <a:solidFill>
                            <a:srgbClr val="FFFFFF"/>
                          </a:solidFill>
                          <a:latin typeface="Arial" pitchFamily="34" charset="0"/>
                          <a:cs typeface="Arial" pitchFamily="34" charset="0"/>
                        </a:rPr>
                        <a:t>Horizon</a:t>
                      </a:r>
                    </a:p>
                  </a:txBody>
                  <a:tcPr/>
                </a:tc>
                <a:tc>
                  <a:txBody>
                    <a:bodyPr/>
                    <a:lstStyle/>
                    <a:p>
                      <a:endParaRPr lang="en-US" sz="1500" dirty="0">
                        <a:latin typeface="Arial" pitchFamily="34" charset="0"/>
                        <a:cs typeface="Arial" pitchFamily="34" charset="0"/>
                      </a:endParaRP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1500" b="1" i="0" dirty="0">
                          <a:solidFill>
                            <a:srgbClr val="FFFFFF"/>
                          </a:solidFill>
                          <a:latin typeface="Arial" pitchFamily="34" charset="0"/>
                          <a:cs typeface="Arial" pitchFamily="34" charset="0"/>
                        </a:rPr>
                        <a:t>NSX</a:t>
                      </a:r>
                    </a:p>
                  </a:txBody>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Решение для VDI</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ru-RU" sz="1300" b="0" i="0" dirty="0">
                          <a:solidFill>
                            <a:srgbClr val="000000"/>
                          </a:solidFill>
                          <a:latin typeface="Arial" pitchFamily="34" charset="0"/>
                          <a:cs typeface="Arial" pitchFamily="34" charset="0"/>
                        </a:rPr>
                        <a:t>Предоставляет виртуализированные или размещенные на сервере рабочие места и приложения в рамках единой платформы</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Доступ ко всем приложениям RDS, ThinApp и SaaS можно получать из унифицированного рабочего пространства, объединяющего различные устройства и местоположения</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Поддерживает рабочие места на базе Windows и Linux</a:t>
                      </a:r>
                    </a:p>
                  </a:txBody>
                  <a:tcPr>
                    <a:solidFill>
                      <a:srgbClr val="BABCBE"/>
                    </a:solidFill>
                  </a:tcPr>
                </a:tc>
                <a:tc>
                  <a:txBody>
                    <a:bodyPr/>
                    <a:lstStyle/>
                    <a:p>
                      <a:endParaRPr lang="en-US" sz="1500" dirty="0">
                        <a:latin typeface="Arial" pitchFamily="34" charset="0"/>
                        <a:cs typeface="Arial" pitchFamily="34" charset="0"/>
                      </a:endParaRPr>
                    </a:p>
                  </a:txBody>
                  <a:tcPr>
                    <a:noFill/>
                  </a:tcPr>
                </a:tc>
                <a:tc>
                  <a:txBody>
                    <a:bodyPr/>
                    <a:lstStyle/>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Платформа виртуализации сети для программно-определяемого центра обработки данных</a:t>
                      </a:r>
                    </a:p>
                    <a:p>
                      <a:pPr marL="171450" lvl="1" indent="-171450" algn="l" defTabSz="800100">
                        <a:lnSpc>
                          <a:spcPct val="100000"/>
                        </a:lnSpc>
                        <a:spcBef>
                          <a:spcPts val="1200"/>
                        </a:spcBef>
                        <a:spcAft>
                          <a:spcPct val="15000"/>
                        </a:spcAft>
                        <a:buChar char="••"/>
                      </a:pPr>
                      <a:r>
                        <a:rPr lang="ru-RU" sz="1500" b="0" i="0" dirty="0">
                          <a:solidFill>
                            <a:srgbClr val="000000"/>
                          </a:solidFill>
                          <a:latin typeface="Arial" pitchFamily="34" charset="0"/>
                          <a:cs typeface="Arial" pitchFamily="34" charset="0"/>
                        </a:rPr>
                        <a:t>Выделение ресурсов виртуальных сетей и управление ими осуществляется программными средствами независимо от базового оборудования </a:t>
                      </a:r>
                    </a:p>
                    <a:p>
                      <a:pPr marL="171450" marR="0" lvl="1" indent="-171450" algn="l" defTabSz="800100" rtl="0" eaLnBrk="1" fontAlgn="auto" latinLnBrk="0" hangingPunct="1">
                        <a:lnSpc>
                          <a:spcPct val="100000"/>
                        </a:lnSpc>
                        <a:spcBef>
                          <a:spcPts val="1200"/>
                        </a:spcBef>
                        <a:spcAft>
                          <a:spcPct val="15000"/>
                        </a:spcAft>
                        <a:buClrTx/>
                        <a:buSzPct val="70000"/>
                        <a:buFont typeface="Verdana" panose="020B0604030504040204" pitchFamily="34" charset="0"/>
                        <a:buChar char="••"/>
                        <a:tabLst/>
                        <a:defRPr/>
                      </a:pPr>
                      <a:r>
                        <a:rPr lang="ru-RU" sz="1500" b="0" i="0" kern="1200" dirty="0">
                          <a:solidFill>
                            <a:srgbClr val="000000"/>
                          </a:solidFill>
                          <a:latin typeface="Arial" pitchFamily="34" charset="0"/>
                          <a:ea typeface="+mn-ea"/>
                          <a:cs typeface="Arial" pitchFamily="34" charset="0"/>
                        </a:rPr>
                        <a:t>Позволяет создать библиотеку логических сетевых элементов (логические коммутаторы, маршрутизаторы, брандмауэры и балансировщики нагрузки)</a:t>
                      </a:r>
                    </a:p>
                  </a:txBody>
                  <a:tcPr>
                    <a:solidFill>
                      <a:srgbClr val="BABCBE"/>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747538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Модуль 3. Резюме</a:t>
            </a:r>
          </a:p>
        </p:txBody>
      </p:sp>
      <p:sp>
        <p:nvSpPr>
          <p:cNvPr id="7" name="Content Placeholder 6"/>
          <p:cNvSpPr>
            <a:spLocks noGrp="1"/>
          </p:cNvSpPr>
          <p:nvPr>
            <p:ph sz="quarter" idx="10"/>
          </p:nvPr>
        </p:nvSpPr>
        <p:spPr>
          <a:xfrm>
            <a:off x="379414" y="990600"/>
            <a:ext cx="8002586" cy="3429000"/>
          </a:xfrm>
        </p:spPr>
        <p:txBody>
          <a:bodyPr/>
          <a:lstStyle/>
          <a:p>
            <a:pPr marL="0" indent="0">
              <a:buNone/>
            </a:pPr>
            <a:r>
              <a:rPr lang="ru-RU" sz="2000" b="0" i="0" dirty="0">
                <a:solidFill>
                  <a:srgbClr val="000000"/>
                </a:solidFill>
                <a:latin typeface="Arial" pitchFamily="34" charset="0"/>
                <a:cs typeface="Arial" pitchFamily="34" charset="0"/>
              </a:rPr>
              <a:t>В этом модуле были рассмотрены следующие ключевые вопросы:</a:t>
            </a:r>
          </a:p>
          <a:p>
            <a:r>
              <a:rPr lang="ru-RU" sz="2000" b="0" i="0" dirty="0">
                <a:solidFill>
                  <a:srgbClr val="000000"/>
                </a:solidFill>
                <a:latin typeface="Arial" pitchFamily="34" charset="0"/>
                <a:cs typeface="Arial" pitchFamily="34" charset="0"/>
              </a:rPr>
              <a:t>Строительные блоки центра обработки данных</a:t>
            </a:r>
          </a:p>
          <a:p>
            <a:r>
              <a:rPr lang="ru-RU" sz="2000" b="0" i="0" dirty="0">
                <a:solidFill>
                  <a:srgbClr val="000000"/>
                </a:solidFill>
                <a:latin typeface="Arial" pitchFamily="34" charset="0"/>
                <a:cs typeface="Arial" pitchFamily="34" charset="0"/>
              </a:rPr>
              <a:t>Вычислительная система, ее компоненты и типы</a:t>
            </a:r>
          </a:p>
          <a:p>
            <a:r>
              <a:rPr lang="ru-RU" sz="2000" b="0" i="0" dirty="0">
                <a:solidFill>
                  <a:srgbClr val="000000"/>
                </a:solidFill>
                <a:latin typeface="Arial" pitchFamily="34" charset="0"/>
                <a:cs typeface="Arial" pitchFamily="34" charset="0"/>
              </a:rPr>
              <a:t>Виртуализация вычислительных ресурсов, приложений и рабочих мест</a:t>
            </a:r>
          </a:p>
          <a:p>
            <a:r>
              <a:rPr lang="ru-RU" sz="2000" b="0" i="0" dirty="0">
                <a:solidFill>
                  <a:srgbClr val="000000"/>
                </a:solidFill>
                <a:latin typeface="Arial" pitchFamily="34" charset="0"/>
                <a:cs typeface="Arial" pitchFamily="34" charset="0"/>
              </a:rPr>
              <a:t>Обзор ресурсов хранения и возможностей подключения в центре обработки данных</a:t>
            </a:r>
          </a:p>
          <a:p>
            <a:r>
              <a:rPr lang="ru-RU" sz="2000" b="0" i="0" dirty="0">
                <a:solidFill>
                  <a:srgbClr val="000000"/>
                </a:solidFill>
                <a:latin typeface="Arial" pitchFamily="34" charset="0"/>
                <a:cs typeface="Arial" pitchFamily="34" charset="0"/>
              </a:rPr>
              <a:t>Обзор программно-определяемого центра обработки данных</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3119622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blipFill>
          <a:blip r:embed="rId7"/>
          <a:stretch>
            <a:fillRect/>
          </a:stretch>
        </a:blip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ru-RU"/>
              <a:t>ISM v3 модуль 3: Среда центра обработки данных. Опрос</a:t>
            </a:r>
            <a:endParaRPr lang="en-US"/>
          </a:p>
        </p:txBody>
      </p:sp>
      <p:sp>
        <p:nvSpPr>
          <p:cNvPr id="3" name="Slide Number Placeholder 2" hidden="1"/>
          <p:cNvSpPr>
            <a:spLocks noGrp="1"/>
          </p:cNvSpPr>
          <p:nvPr>
            <p:ph type="sldNum" sz="quarter" idx="10"/>
          </p:nvPr>
        </p:nvSpPr>
        <p:spPr/>
        <p:txBody>
          <a:bodyPr/>
          <a:lstStyle/>
          <a:p>
            <a:fld id="{B7FCCBDA-9680-4DD4-B999-2854C48CD6AB}" type="slidenum">
              <a:rPr lang="en-US" smtClean="0">
                <a:solidFill>
                  <a:srgbClr val="000000">
                    <a:tint val="75000"/>
                  </a:srgbClr>
                </a:solidFill>
              </a:rPr>
              <a:pPr/>
              <a:t>62</a:t>
            </a:fld>
            <a:endParaRPr lang="en-US" dirty="0">
              <a:solidFill>
                <a:srgbClr val="000000">
                  <a:tint val="75000"/>
                </a:srgbClr>
              </a:solidFill>
            </a:endParaRPr>
          </a:p>
        </p:txBody>
      </p:sp>
      <p:pic>
        <p:nvPicPr>
          <p:cNvPr id="13" name="Picture 12" descr="~t153532.emf"/>
          <p:cNvPicPr>
            <a:picLocks/>
          </p:cNvPicPr>
          <p:nvPr>
            <p:custDataLst>
              <p:tags r:id="rId2"/>
            </p:custDataLst>
          </p:nvPr>
        </p:nvPicPr>
        <p:blipFill>
          <a:blip r:embed="rId8"/>
          <a:stretch>
            <a:fillRect/>
          </a:stretch>
        </p:blipFill>
        <p:spPr>
          <a:xfrm>
            <a:off x="660400" y="2362200"/>
            <a:ext cx="5740400" cy="2346424"/>
          </a:xfrm>
          <a:prstGeom prst="rect">
            <a:avLst/>
          </a:prstGeom>
        </p:spPr>
      </p:pic>
      <p:pic>
        <p:nvPicPr>
          <p:cNvPr id="14" name="Picture 13" descr="qmb.png"/>
          <p:cNvPicPr>
            <a:picLocks/>
          </p:cNvPicPr>
          <p:nvPr>
            <p:custDataLst>
              <p:tags r:id="rId3"/>
            </p:custDataLst>
          </p:nvPr>
        </p:nvPicPr>
        <p:blipFill>
          <a:blip r:embed="rId9"/>
          <a:stretch>
            <a:fillRect/>
          </a:stretch>
        </p:blipFill>
        <p:spPr>
          <a:xfrm>
            <a:off x="5842000" y="3030423"/>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pic>
        <p:nvPicPr>
          <p:cNvPr id="15" name="Picture 14" descr="enga.png"/>
          <p:cNvPicPr>
            <a:picLocks/>
          </p:cNvPicPr>
          <p:nvPr>
            <p:custDataLst>
              <p:tags r:id="rId4"/>
            </p:custDataLst>
          </p:nvPr>
        </p:nvPicPr>
        <p:blipFill>
          <a:blip r:embed="rId10"/>
          <a:stretch>
            <a:fillRect/>
          </a:stretch>
        </p:blipFill>
        <p:spPr>
          <a:xfrm>
            <a:off x="5842000" y="3873500"/>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a:rPr>
              <a:t>Отзыв</a:t>
            </a:r>
            <a:r>
              <a:rPr lang="ru-RU" sz="2800" b="0" i="0" dirty="0">
                <a:solidFill>
                  <a:srgbClr val="2C95DD"/>
                </a:solidFill>
              </a:rPr>
              <a:t> </a:t>
            </a:r>
            <a:r>
              <a:rPr lang="ru-RU" sz="2800" b="0" i="0" dirty="0">
                <a:solidFill>
                  <a:srgbClr val="2C95DD"/>
                </a:solidFill>
                <a:latin typeface="Arial"/>
              </a:rPr>
              <a:t>о</a:t>
            </a:r>
            <a:r>
              <a:rPr lang="ru-RU" sz="2800" b="0" i="0" dirty="0">
                <a:solidFill>
                  <a:srgbClr val="2C95DD"/>
                </a:solidFill>
              </a:rPr>
              <a:t> </a:t>
            </a:r>
            <a:r>
              <a:rPr lang="ru-RU" sz="2800" b="0" i="0" dirty="0">
                <a:solidFill>
                  <a:srgbClr val="2C95DD"/>
                </a:solidFill>
                <a:latin typeface="Arial"/>
              </a:rPr>
              <a:t>курсе</a:t>
            </a:r>
            <a:r>
              <a:rPr lang="ru-RU" sz="2800" b="0" i="0" dirty="0">
                <a:solidFill>
                  <a:srgbClr val="2C95DD"/>
                </a:solidFill>
              </a:rPr>
              <a:t> </a:t>
            </a:r>
          </a:p>
        </p:txBody>
      </p:sp>
      <p:pic>
        <p:nvPicPr>
          <p:cNvPr id="5" name="Picture 10"/>
          <p:cNvPicPr>
            <a:picLocks noGrp="1" noChangeAspect="1" noChangeArrowheads="1"/>
          </p:cNvPicPr>
          <p:nvPr>
            <p:ph sz="quarter" idx="10"/>
          </p:nvPr>
        </p:nvPicPr>
        <p:blipFill>
          <a:blip r:embed="rId4" cstate="print">
            <a:lum bright="70000" contrast="-70000"/>
          </a:blip>
          <a:srcRect/>
          <a:stretch>
            <a:fillRect/>
          </a:stretch>
        </p:blipFill>
        <p:spPr bwMode="auto">
          <a:xfrm>
            <a:off x="1981200" y="1047750"/>
            <a:ext cx="3754579" cy="2514600"/>
          </a:xfrm>
          <a:prstGeom prst="rect">
            <a:avLst/>
          </a:prstGeom>
          <a:noFill/>
          <a:ln w="28575" algn="ctr">
            <a:noFill/>
            <a:miter lim="800000"/>
            <a:headEnd/>
            <a:tailEnd/>
          </a:ln>
        </p:spPr>
      </p:pic>
      <p:sp>
        <p:nvSpPr>
          <p:cNvPr id="6" name="Rounded Rectangle 7">
            <a:hlinkClick r:id="rId5"/>
          </p:cNvPr>
          <p:cNvSpPr/>
          <p:nvPr/>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sz="1800" b="0" i="0" dirty="0">
                <a:solidFill>
                  <a:srgbClr val="FFFFFF"/>
                </a:solidFill>
                <a:latin typeface="Arial"/>
              </a:rPr>
              <a:t>Отправить</a:t>
            </a:r>
            <a:r>
              <a:rPr lang="ru-RU" sz="1800" b="0" i="0" dirty="0">
                <a:solidFill>
                  <a:srgbClr val="FFFFFF"/>
                </a:solidFill>
                <a:latin typeface="Arial" pitchFamily="18" charset="0"/>
              </a:rPr>
              <a:t> </a:t>
            </a:r>
            <a:r>
              <a:rPr lang="ru-RU" sz="1800" b="0" i="0" dirty="0">
                <a:solidFill>
                  <a:srgbClr val="FFFFFF"/>
                </a:solidFill>
                <a:latin typeface="Arial"/>
              </a:rPr>
              <a:t>отзыв</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70697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97c4be55-23c3-4122-a1d8-c972e334da54"/>
  <p:tag name="ARTICULATE_SLIDE_COUNT" val="63"/>
  <p:tag name="ARTICULATE_PRESENTATION_ID" val="11110"/>
  <p:tag name="ARTICULATE_REFERENCE_TYPE_1" val="1"/>
  <p:tag name="ARTICULATE_REFERENCE_1" val="Z:\E\Project\EMC\C15038509011_SE15319_BPP_Tech_ISMv3_eLearning_CM\DTP\RU\Three\ISM v3 Module 3_eLearning_SRG.pdf"/>
  <p:tag name="ARTICULATE_REFERENCE_TITLE_1" val="Student Guide"/>
  <p:tag name="ARTICULATE_REFERENCE_ID_1" val="b4d0f704-6c59-4063-b1da-0e8c635d04f4"/>
  <p:tag name="ARTICULATE_REFERENCE_COUNT" val="1"/>
  <p:tag name="ARTICULATE_REFERENCE_DESCRIPTION" val="Ниже указаны полезные ссылки и документы."/>
  <p:tag name="ARTICULATE_PLAYER_GLOSSARY_XML" val="&lt;?xml version=&quot;1.0&quot; encoding=&quot;utf-16&quot;?&gt;&lt;glossary xmlns:xsi=&quot;http://www.w3.org/2001/XMLSchema-instance&quot; xmlns:xsd=&quot;http://www.w3.org/2001/XMLSchema&quot;&gt;&lt;terms /&gt;&lt;/glossary&gt;"/>
  <p:tag name="TAG_BACKING_FORM_KEY" val="1312226-z:\e\project\emc\c15038509011_se15319_bpp_tech_ismv3_elearning_cm\dtp\ru\three\ism v3 module 3_elearning_srg.pptx"/>
  <p:tag name="ARTICULATE_PRESENTER_VERSION" val="7"/>
  <p:tag name="ARTICULATE_PROJECT_OPEN" val="1"/>
  <p:tag name="ARTICULATE_USED_PAGE_ORIENTATION" val="1"/>
  <p:tag name="ARTICULATE_USED_PAGE_SIZE" val="15"/>
  <p:tag name="ARTICULATE_META_COURSE_ID" val="48Xxn05M2qu_course_id"/>
  <p:tag name="ARTICULATE_META_NAME" val="CSOFT"/>
  <p:tag name="ARTICULATE_META_NAME_SET" val="True"/>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UDIO_ID" val="494"/>
  <p:tag name="ORIGINAL_AUDIO_FILEPATH" val="Z:\E\Project_MEW\C15038509011_SE15319_BPP_Tech_ISMv3_eLearning_CM\DTP\RU\Batch1\DTP\audios\3\Slide 01.mp3"/>
  <p:tag name="ELAPSEDTIME" val="16.63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UDIO_ID" val="495"/>
  <p:tag name="ORIGINAL_AUDIO_FILEPATH" val="Z:\E\Project_MEW\C15038509011_SE15319_BPP_Tech_ISMv3_eLearning_CM\DTP\RU\Batch1\DTP\audios\3\Slide 02.mp3"/>
  <p:tag name="ELAPSEDTIME" val="29.40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9.xml><?xml version="1.0" encoding="utf-8"?>
<p:tagLst xmlns:a="http://schemas.openxmlformats.org/drawingml/2006/main" xmlns:r="http://schemas.openxmlformats.org/officeDocument/2006/relationships" xmlns:p="http://schemas.openxmlformats.org/presentationml/2006/main">
  <p:tag name="AUDIO_ID" val="313"/>
  <p:tag name="ORIGINAL_AUDIO_FILEPATH" val="Z:\E\Project_MEW\C15038509011_SE15319_BPP_Tech_ISMv3_eLearning_CM\DTP\RU\Batch1\DTP\audios\3\Slide 03.mp3"/>
  <p:tag name="ELAPSEDTIME" val="21.21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40.xml><?xml version="1.0" encoding="utf-8"?>
<p:tagLst xmlns:a="http://schemas.openxmlformats.org/drawingml/2006/main" xmlns:r="http://schemas.openxmlformats.org/officeDocument/2006/relationships" xmlns:p="http://schemas.openxmlformats.org/presentationml/2006/main">
  <p:tag name="AUDIO_ID" val="314"/>
  <p:tag name="ORIGINAL_AUDIO_FILEPATH" val="Z:\E\Project_MEW\C15038509011_SE15319_BPP_Tech_ISMv3_eLearning_CM\DTP\RU\Batch1\DTP\audios\3\Slide 04.mp3"/>
  <p:tag name="ELAPSEDTIME" val="127.44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1.xml><?xml version="1.0" encoding="utf-8"?>
<p:tagLst xmlns:a="http://schemas.openxmlformats.org/drawingml/2006/main" xmlns:r="http://schemas.openxmlformats.org/officeDocument/2006/relationships" xmlns:p="http://schemas.openxmlformats.org/presentationml/2006/main">
  <p:tag name="DUPLICATEID" val="44b3b5f5a6734f4485c29852180c3115"/>
</p:tagLst>
</file>

<file path=ppt/tags/tag42.xml><?xml version="1.0" encoding="utf-8"?>
<p:tagLst xmlns:a="http://schemas.openxmlformats.org/drawingml/2006/main" xmlns:r="http://schemas.openxmlformats.org/officeDocument/2006/relationships" xmlns:p="http://schemas.openxmlformats.org/presentationml/2006/main">
  <p:tag name="DUPLICATEID" val="5590119a98814879a2019a0f36f1cb52"/>
</p:tagLst>
</file>

<file path=ppt/tags/tag43.xml><?xml version="1.0" encoding="utf-8"?>
<p:tagLst xmlns:a="http://schemas.openxmlformats.org/drawingml/2006/main" xmlns:r="http://schemas.openxmlformats.org/officeDocument/2006/relationships" xmlns:p="http://schemas.openxmlformats.org/presentationml/2006/main">
  <p:tag name="DUPLICATEID" val="cf8fb8a533c14d17a2d2bc280d0105c5"/>
</p:tagLst>
</file>

<file path=ppt/tags/tag44.xml><?xml version="1.0" encoding="utf-8"?>
<p:tagLst xmlns:a="http://schemas.openxmlformats.org/drawingml/2006/main" xmlns:r="http://schemas.openxmlformats.org/officeDocument/2006/relationships" xmlns:p="http://schemas.openxmlformats.org/presentationml/2006/main">
  <p:tag name="DUPLICATEID" val="5d8e57bf8acb4be6ac86affd6daec5e3"/>
</p:tagLst>
</file>

<file path=ppt/tags/tag45.xml><?xml version="1.0" encoding="utf-8"?>
<p:tagLst xmlns:a="http://schemas.openxmlformats.org/drawingml/2006/main" xmlns:r="http://schemas.openxmlformats.org/officeDocument/2006/relationships" xmlns:p="http://schemas.openxmlformats.org/presentationml/2006/main">
  <p:tag name="DUPLICATEID" val="4002c17f0ab9416aa8615b49be96a549"/>
</p:tagLst>
</file>

<file path=ppt/tags/tag46.xml><?xml version="1.0" encoding="utf-8"?>
<p:tagLst xmlns:a="http://schemas.openxmlformats.org/drawingml/2006/main" xmlns:r="http://schemas.openxmlformats.org/officeDocument/2006/relationships" xmlns:p="http://schemas.openxmlformats.org/presentationml/2006/main">
  <p:tag name="DUPLICATEID" val="cccb58fb59484c0ab9e592be02ca17ba"/>
</p:tagLst>
</file>

<file path=ppt/tags/tag47.xml><?xml version="1.0" encoding="utf-8"?>
<p:tagLst xmlns:a="http://schemas.openxmlformats.org/drawingml/2006/main" xmlns:r="http://schemas.openxmlformats.org/officeDocument/2006/relationships" xmlns:p="http://schemas.openxmlformats.org/presentationml/2006/main">
  <p:tag name="DUPLICATEID" val="8aa6074ede9f4eb097b0a857239c926f"/>
</p:tagLst>
</file>

<file path=ppt/tags/tag48.xml><?xml version="1.0" encoding="utf-8"?>
<p:tagLst xmlns:a="http://schemas.openxmlformats.org/drawingml/2006/main" xmlns:r="http://schemas.openxmlformats.org/officeDocument/2006/relationships" xmlns:p="http://schemas.openxmlformats.org/presentationml/2006/main">
  <p:tag name="DUPLICATEID" val="d559f3ad6c014d42963e4a296fa5a040"/>
</p:tagLst>
</file>

<file path=ppt/tags/tag49.xml><?xml version="1.0" encoding="utf-8"?>
<p:tagLst xmlns:a="http://schemas.openxmlformats.org/drawingml/2006/main" xmlns:r="http://schemas.openxmlformats.org/officeDocument/2006/relationships" xmlns:p="http://schemas.openxmlformats.org/presentationml/2006/main">
  <p:tag name="DUPLICATEID" val="d058e808e0f94618bdd8e2a112b7921e"/>
</p:tagLst>
</file>

<file path=ppt/tags/tag50.xml><?xml version="1.0" encoding="utf-8"?>
<p:tagLst xmlns:a="http://schemas.openxmlformats.org/drawingml/2006/main" xmlns:r="http://schemas.openxmlformats.org/officeDocument/2006/relationships" xmlns:p="http://schemas.openxmlformats.org/presentationml/2006/main">
  <p:tag name="DUPLICATEID" val="d256f469cd5f494397f042ceda0f979d"/>
</p:tagLst>
</file>

<file path=ppt/tags/tag51.xml><?xml version="1.0" encoding="utf-8"?>
<p:tagLst xmlns:a="http://schemas.openxmlformats.org/drawingml/2006/main" xmlns:r="http://schemas.openxmlformats.org/officeDocument/2006/relationships" xmlns:p="http://schemas.openxmlformats.org/presentationml/2006/main">
  <p:tag name="DUPLICATEID" val="a31ec137a31344a5b952d2fca1a7b141"/>
</p:tagLst>
</file>

<file path=ppt/tags/tag52.xml><?xml version="1.0" encoding="utf-8"?>
<p:tagLst xmlns:a="http://schemas.openxmlformats.org/drawingml/2006/main" xmlns:r="http://schemas.openxmlformats.org/officeDocument/2006/relationships" xmlns:p="http://schemas.openxmlformats.org/presentationml/2006/main">
  <p:tag name="DUPLICATEID" val="cef9ac596a2f4ab4803a966b0c6e01fd"/>
</p:tagLst>
</file>

<file path=ppt/tags/tag53.xml><?xml version="1.0" encoding="utf-8"?>
<p:tagLst xmlns:a="http://schemas.openxmlformats.org/drawingml/2006/main" xmlns:r="http://schemas.openxmlformats.org/officeDocument/2006/relationships" xmlns:p="http://schemas.openxmlformats.org/presentationml/2006/main">
  <p:tag name="DUPLICATEID" val="319699f2d81e45a7b53c16c59dcc550d"/>
</p:tagLst>
</file>

<file path=ppt/tags/tag54.xml><?xml version="1.0" encoding="utf-8"?>
<p:tagLst xmlns:a="http://schemas.openxmlformats.org/drawingml/2006/main" xmlns:r="http://schemas.openxmlformats.org/officeDocument/2006/relationships" xmlns:p="http://schemas.openxmlformats.org/presentationml/2006/main">
  <p:tag name="DUPLICATEID" val="d89ba975dd0f47eda1244e10a43d4719"/>
</p:tagLst>
</file>

<file path=ppt/tags/tag55.xml><?xml version="1.0" encoding="utf-8"?>
<p:tagLst xmlns:a="http://schemas.openxmlformats.org/drawingml/2006/main" xmlns:r="http://schemas.openxmlformats.org/officeDocument/2006/relationships" xmlns:p="http://schemas.openxmlformats.org/presentationml/2006/main">
  <p:tag name="DUPLICATEID" val="dc1d932939bb4a05bb85bd577a54df71"/>
</p:tagLst>
</file>

<file path=ppt/tags/tag56.xml><?xml version="1.0" encoding="utf-8"?>
<p:tagLst xmlns:a="http://schemas.openxmlformats.org/drawingml/2006/main" xmlns:r="http://schemas.openxmlformats.org/officeDocument/2006/relationships" xmlns:p="http://schemas.openxmlformats.org/presentationml/2006/main">
  <p:tag name="DUPLICATEID" val="0cb8e108e0d743949617b4c8d66ff443"/>
</p:tagLst>
</file>

<file path=ppt/tags/tag57.xml><?xml version="1.0" encoding="utf-8"?>
<p:tagLst xmlns:a="http://schemas.openxmlformats.org/drawingml/2006/main" xmlns:r="http://schemas.openxmlformats.org/officeDocument/2006/relationships" xmlns:p="http://schemas.openxmlformats.org/presentationml/2006/main">
  <p:tag name="DUPLICATEID" val="fd65574581aa456297fa39896e23275b"/>
</p:tagLst>
</file>

<file path=ppt/tags/tag58.xml><?xml version="1.0" encoding="utf-8"?>
<p:tagLst xmlns:a="http://schemas.openxmlformats.org/drawingml/2006/main" xmlns:r="http://schemas.openxmlformats.org/officeDocument/2006/relationships" xmlns:p="http://schemas.openxmlformats.org/presentationml/2006/main">
  <p:tag name="DUPLICATEID" val="e4e9e7bc5ac14b7bb09e898de485d887"/>
</p:tagLst>
</file>

<file path=ppt/tags/tag59.xml><?xml version="1.0" encoding="utf-8"?>
<p:tagLst xmlns:a="http://schemas.openxmlformats.org/drawingml/2006/main" xmlns:r="http://schemas.openxmlformats.org/officeDocument/2006/relationships" xmlns:p="http://schemas.openxmlformats.org/presentationml/2006/main">
  <p:tag name="DUPLICATEID" val="8493810db63d430684f61688bc071456"/>
</p:tagLst>
</file>

<file path=ppt/tags/tag60.xml><?xml version="1.0" encoding="utf-8"?>
<p:tagLst xmlns:a="http://schemas.openxmlformats.org/drawingml/2006/main" xmlns:r="http://schemas.openxmlformats.org/officeDocument/2006/relationships" xmlns:p="http://schemas.openxmlformats.org/presentationml/2006/main">
  <p:tag name="DUPLICATEID" val="1e34a413f492464a99cc2b1a078220d7"/>
</p:tagLst>
</file>

<file path=ppt/tags/tag61.xml><?xml version="1.0" encoding="utf-8"?>
<p:tagLst xmlns:a="http://schemas.openxmlformats.org/drawingml/2006/main" xmlns:r="http://schemas.openxmlformats.org/officeDocument/2006/relationships" xmlns:p="http://schemas.openxmlformats.org/presentationml/2006/main">
  <p:tag name="DUPLICATEID" val="01c8b59b775e4a3b9869e07b8b49e4e1"/>
</p:tagLst>
</file>

<file path=ppt/tags/tag62.xml><?xml version="1.0" encoding="utf-8"?>
<p:tagLst xmlns:a="http://schemas.openxmlformats.org/drawingml/2006/main" xmlns:r="http://schemas.openxmlformats.org/officeDocument/2006/relationships" xmlns:p="http://schemas.openxmlformats.org/presentationml/2006/main">
  <p:tag name="DUPLICATEID" val="85ac1d6ffe0f414880fabe67566b0c3d"/>
</p:tagLst>
</file>

<file path=ppt/tags/tag63.xml><?xml version="1.0" encoding="utf-8"?>
<p:tagLst xmlns:a="http://schemas.openxmlformats.org/drawingml/2006/main" xmlns:r="http://schemas.openxmlformats.org/officeDocument/2006/relationships" xmlns:p="http://schemas.openxmlformats.org/presentationml/2006/main">
  <p:tag name="DUPLICATEID" val="739684a3283b4617b40894db54ff3d18"/>
</p:tagLst>
</file>

<file path=ppt/tags/tag64.xml><?xml version="1.0" encoding="utf-8"?>
<p:tagLst xmlns:a="http://schemas.openxmlformats.org/drawingml/2006/main" xmlns:r="http://schemas.openxmlformats.org/officeDocument/2006/relationships" xmlns:p="http://schemas.openxmlformats.org/presentationml/2006/main">
  <p:tag name="DUPLICATEID" val="1a041c1122ee4d4a95f772a237f8f410"/>
</p:tagLst>
</file>

<file path=ppt/tags/tag65.xml><?xml version="1.0" encoding="utf-8"?>
<p:tagLst xmlns:a="http://schemas.openxmlformats.org/drawingml/2006/main" xmlns:r="http://schemas.openxmlformats.org/officeDocument/2006/relationships" xmlns:p="http://schemas.openxmlformats.org/presentationml/2006/main">
  <p:tag name="DUPLICATEID" val="0e36d3cf39774bc1bc8174456d46e3a4"/>
</p:tagLst>
</file>

<file path=ppt/tags/tag66.xml><?xml version="1.0" encoding="utf-8"?>
<p:tagLst xmlns:a="http://schemas.openxmlformats.org/drawingml/2006/main" xmlns:r="http://schemas.openxmlformats.org/officeDocument/2006/relationships" xmlns:p="http://schemas.openxmlformats.org/presentationml/2006/main">
  <p:tag name="DUPLICATEID" val="e7c10ff18b48448ba8bf20ba7ee2ff71"/>
</p:tagLst>
</file>

<file path=ppt/tags/tag67.xml><?xml version="1.0" encoding="utf-8"?>
<p:tagLst xmlns:a="http://schemas.openxmlformats.org/drawingml/2006/main" xmlns:r="http://schemas.openxmlformats.org/officeDocument/2006/relationships" xmlns:p="http://schemas.openxmlformats.org/presentationml/2006/main">
  <p:tag name="DUPLICATEID" val="9cd6dac36b554c5ea4e7c14ffff016dc"/>
</p:tagLst>
</file>

<file path=ppt/tags/tag68.xml><?xml version="1.0" encoding="utf-8"?>
<p:tagLst xmlns:a="http://schemas.openxmlformats.org/drawingml/2006/main" xmlns:r="http://schemas.openxmlformats.org/officeDocument/2006/relationships" xmlns:p="http://schemas.openxmlformats.org/presentationml/2006/main">
  <p:tag name="DUPLICATEID" val="93d12667b1b54815845d2af8166f1639"/>
</p:tagLst>
</file>

<file path=ppt/tags/tag69.xml><?xml version="1.0" encoding="utf-8"?>
<p:tagLst xmlns:a="http://schemas.openxmlformats.org/drawingml/2006/main" xmlns:r="http://schemas.openxmlformats.org/officeDocument/2006/relationships" xmlns:p="http://schemas.openxmlformats.org/presentationml/2006/main">
  <p:tag name="DUPLICATEID" val="27c83a34d3554fab9102a2d301520c26"/>
</p:tagLst>
</file>

<file path=ppt/tags/tag70.xml><?xml version="1.0" encoding="utf-8"?>
<p:tagLst xmlns:a="http://schemas.openxmlformats.org/drawingml/2006/main" xmlns:r="http://schemas.openxmlformats.org/officeDocument/2006/relationships" xmlns:p="http://schemas.openxmlformats.org/presentationml/2006/main">
  <p:tag name="DUPLICATEID" val="6384a222d0a441a797f116cac63d81d1"/>
</p:tagLst>
</file>

<file path=ppt/tags/tag71.xml><?xml version="1.0" encoding="utf-8"?>
<p:tagLst xmlns:a="http://schemas.openxmlformats.org/drawingml/2006/main" xmlns:r="http://schemas.openxmlformats.org/officeDocument/2006/relationships" xmlns:p="http://schemas.openxmlformats.org/presentationml/2006/main">
  <p:tag name="DUPLICATEID" val="f645a7c524dc4b62a2ceb886c58dcff5"/>
</p:tagLst>
</file>

<file path=ppt/tags/tag72.xml><?xml version="1.0" encoding="utf-8"?>
<p:tagLst xmlns:a="http://schemas.openxmlformats.org/drawingml/2006/main" xmlns:r="http://schemas.openxmlformats.org/officeDocument/2006/relationships" xmlns:p="http://schemas.openxmlformats.org/presentationml/2006/main">
  <p:tag name="DUPLICATEID" val="dd4c026360624d7780215df4e66dd96b"/>
</p:tagLst>
</file>

<file path=ppt/tags/tag73.xml><?xml version="1.0" encoding="utf-8"?>
<p:tagLst xmlns:a="http://schemas.openxmlformats.org/drawingml/2006/main" xmlns:r="http://schemas.openxmlformats.org/officeDocument/2006/relationships" xmlns:p="http://schemas.openxmlformats.org/presentationml/2006/main">
  <p:tag name="DUPLICATEID" val="a0855ad676fc4caa8dd5cf052a11a2bf"/>
</p:tagLst>
</file>

<file path=ppt/tags/tag74.xml><?xml version="1.0" encoding="utf-8"?>
<p:tagLst xmlns:a="http://schemas.openxmlformats.org/drawingml/2006/main" xmlns:r="http://schemas.openxmlformats.org/officeDocument/2006/relationships" xmlns:p="http://schemas.openxmlformats.org/presentationml/2006/main">
  <p:tag name="DUPLICATEID" val="b79d9d665b244aca80bb6ec8a14b105f"/>
</p:tagLst>
</file>

<file path=ppt/tags/tag75.xml><?xml version="1.0" encoding="utf-8"?>
<p:tagLst xmlns:a="http://schemas.openxmlformats.org/drawingml/2006/main" xmlns:r="http://schemas.openxmlformats.org/officeDocument/2006/relationships" xmlns:p="http://schemas.openxmlformats.org/presentationml/2006/main">
  <p:tag name="AUDIO_ID" val="321"/>
  <p:tag name="ORIGINAL_AUDIO_FILEPATH" val="Z:\E\Project_MEW\C15038509011_SE15319_BPP_Tech_ISMv3_eLearning_CM\DTP\RU\Batch1\DTP\audios\3\Slide 05.mp3"/>
  <p:tag name="ELAPSEDTIME" val="82.03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76.xml><?xml version="1.0" encoding="utf-8"?>
<p:tagLst xmlns:a="http://schemas.openxmlformats.org/drawingml/2006/main" xmlns:r="http://schemas.openxmlformats.org/officeDocument/2006/relationships" xmlns:p="http://schemas.openxmlformats.org/presentationml/2006/main">
  <p:tag name="AUDIO_ID" val="406"/>
  <p:tag name="ORIGINAL_AUDIO_FILEPATH" val="Z:\E\Project_MEW\C15038509011_SE15319_BPP_Tech_ISMv3_eLearning_CM\DTP\RU\Batch1\DTP\audios\3\6_7.wav"/>
  <p:tag name="ELAPSEDTIME" val="208.27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77.xml><?xml version="1.0" encoding="utf-8"?>
<p:tagLst xmlns:a="http://schemas.openxmlformats.org/drawingml/2006/main" xmlns:r="http://schemas.openxmlformats.org/officeDocument/2006/relationships" xmlns:p="http://schemas.openxmlformats.org/presentationml/2006/main">
  <p:tag name="AUDIO_ID" val="407"/>
  <p:tag name="ORIGINAL_AUDIO_FILEPATH" val="Z:\E\Project_MEW\C15038509011_SE15319_BPP_Tech_ISMv3_eLearning_CM\DTP\RU\Batch1\DTP\audios\3\Slide 08.mp3"/>
  <p:tag name="ELAPSEDTIME" val="67.75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78.xml><?xml version="1.0" encoding="utf-8"?>
<p:tagLst xmlns:a="http://schemas.openxmlformats.org/drawingml/2006/main" xmlns:r="http://schemas.openxmlformats.org/officeDocument/2006/relationships" xmlns:p="http://schemas.openxmlformats.org/presentationml/2006/main">
  <p:tag name="AUDIO_ID" val="408"/>
  <p:tag name="ORIGINAL_AUDIO_FILEPATH" val="Z:\E\Project_MEW\C15038509011_SE15319_BPP_Tech_ISMv3_eLearning_CM\DTP\RU\Batch1\DTP\audios\3\Slide 09.mp3"/>
  <p:tag name="ELAPSEDTIME" val="69.6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79.xml><?xml version="1.0" encoding="utf-8"?>
<p:tagLst xmlns:a="http://schemas.openxmlformats.org/drawingml/2006/main" xmlns:r="http://schemas.openxmlformats.org/officeDocument/2006/relationships" xmlns:p="http://schemas.openxmlformats.org/presentationml/2006/main">
  <p:tag name="AUDIO_ID" val="409"/>
  <p:tag name="ORIGINAL_AUDIO_FILEPATH" val="Z:\E\Project_MEW\C15038509011_SE15319_BPP_Tech_ISMv3_eLearning_CM\DTP\RU\Batch1\DTP\audios\3\Slide 10.mp3"/>
  <p:tag name="ELAPSEDTIME" val="62.85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80.xml><?xml version="1.0" encoding="utf-8"?>
<p:tagLst xmlns:a="http://schemas.openxmlformats.org/drawingml/2006/main" xmlns:r="http://schemas.openxmlformats.org/officeDocument/2006/relationships" xmlns:p="http://schemas.openxmlformats.org/presentationml/2006/main">
  <p:tag name="AUDIO_ID" val="410"/>
  <p:tag name="ORIGINAL_AUDIO_FILEPATH" val="Z:\E\Project_MEW\C15038509011_SE15319_BPP_Tech_ISMv3_eLearning_CM\DTP\RU\Batch1\DTP\audios\3\Slide 11.mp3"/>
  <p:tag name="ELAPSEDTIME" val="73.51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81.xml><?xml version="1.0" encoding="utf-8"?>
<p:tagLst xmlns:a="http://schemas.openxmlformats.org/drawingml/2006/main" xmlns:r="http://schemas.openxmlformats.org/officeDocument/2006/relationships" xmlns:p="http://schemas.openxmlformats.org/presentationml/2006/main">
  <p:tag name="AUDIO_ID" val="411"/>
  <p:tag name="ORIGINAL_AUDIO_FILEPATH" val="Z:\E\Project_MEW\C15038509011_SE15319_BPP_Tech_ISMv3_eLearning_CM\DTP\RU\Batch1\DTP\audios\3\Slide 12.mp3"/>
  <p:tag name="ELAPSEDTIME" val="89.78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82.xml><?xml version="1.0" encoding="utf-8"?>
<p:tagLst xmlns:a="http://schemas.openxmlformats.org/drawingml/2006/main" xmlns:r="http://schemas.openxmlformats.org/officeDocument/2006/relationships" xmlns:p="http://schemas.openxmlformats.org/presentationml/2006/main">
  <p:tag name="AUDIO_ID" val="412"/>
  <p:tag name="ORIGINAL_AUDIO_FILEPATH" val="Z:\E\Project_MEW\C15038509011_SE15319_BPP_Tech_ISMv3_eLearning_CM\DTP\RU\Batch1\DTP\audios\3\Slide 13.mp3"/>
  <p:tag name="ELAPSEDTIME" val="58.84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83.xml><?xml version="1.0" encoding="utf-8"?>
<p:tagLst xmlns:a="http://schemas.openxmlformats.org/drawingml/2006/main" xmlns:r="http://schemas.openxmlformats.org/officeDocument/2006/relationships" xmlns:p="http://schemas.openxmlformats.org/presentationml/2006/main">
  <p:tag name="AUDIO_ID" val="477"/>
  <p:tag name="ORIGINAL_AUDIO_FILEPATH" val="Z:\E\Project_MEW\C15038509011_SE15319_BPP_Tech_ISMv3_eLearning_CM\DTP\RU\Batch1\DTP\audios\3\Slide 14.mp3"/>
  <p:tag name="ELAPSEDTIME" val="169.1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4.xml><?xml version="1.0" encoding="utf-8"?>
<p:tagLst xmlns:a="http://schemas.openxmlformats.org/drawingml/2006/main" xmlns:r="http://schemas.openxmlformats.org/officeDocument/2006/relationships" xmlns:p="http://schemas.openxmlformats.org/presentationml/2006/main">
  <p:tag name="AUDIO_ID" val="319"/>
  <p:tag name="ORIGINAL_AUDIO_FILEPATH" val="Z:\E\Project_MEW\C15038509011_SE15319_BPP_Tech_ISMv3_eLearning_CM\DTP\RU\Batch1\DTP\audios\3\Slide 15.mp3"/>
  <p:tag name="ELAPSEDTIME" val="21.64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5.xml><?xml version="1.0" encoding="utf-8"?>
<p:tagLst xmlns:a="http://schemas.openxmlformats.org/drawingml/2006/main" xmlns:r="http://schemas.openxmlformats.org/officeDocument/2006/relationships" xmlns:p="http://schemas.openxmlformats.org/presentationml/2006/main">
  <p:tag name="AUDIO_ID" val="416"/>
  <p:tag name="ORIGINAL_AUDIO_FILEPATH" val="Z:\E\Project_MEW\C15038509011_SE15319_BPP_Tech_ISMv3_eLearning_CM\DTP\RU\Batch1\DTP\audios\3\Slide 16.mp3"/>
  <p:tag name="ELAPSEDTIME" val="9.96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6.xml><?xml version="1.0" encoding="utf-8"?>
<p:tagLst xmlns:a="http://schemas.openxmlformats.org/drawingml/2006/main" xmlns:r="http://schemas.openxmlformats.org/officeDocument/2006/relationships" xmlns:p="http://schemas.openxmlformats.org/presentationml/2006/main">
  <p:tag name="AUDIO_ID" val="417"/>
  <p:tag name="ORIGINAL_AUDIO_FILEPATH" val="Z:\E\Project_MEW\C15038509011_SE15319_BPP_Tech_ISMv3_eLearning_CM\DTP\RU\Batch1\DTP\audios\3\Slide 17.mp3"/>
  <p:tag name="ELAPSEDTIME" val="95.98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7.xml><?xml version="1.0" encoding="utf-8"?>
<p:tagLst xmlns:a="http://schemas.openxmlformats.org/drawingml/2006/main" xmlns:r="http://schemas.openxmlformats.org/officeDocument/2006/relationships" xmlns:p="http://schemas.openxmlformats.org/presentationml/2006/main">
  <p:tag name="AUDIO_ID" val="418"/>
  <p:tag name="ORIGINAL_AUDIO_FILEPATH" val="Z:\E\Project_MEW\C15038509011_SE15319_BPP_Tech_ISMv3_eLearning_CM\DTP\RU\Batch1\DTP\audios\3\18_19.wav"/>
  <p:tag name="ELAPSEDTIME" val="225.93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8.xml><?xml version="1.0" encoding="utf-8"?>
<p:tagLst xmlns:a="http://schemas.openxmlformats.org/drawingml/2006/main" xmlns:r="http://schemas.openxmlformats.org/officeDocument/2006/relationships" xmlns:p="http://schemas.openxmlformats.org/presentationml/2006/main">
  <p:tag name="DUPLICATEID" val="d375fa033d524cf7a67e993a7f08ad78"/>
</p:tagLst>
</file>

<file path=ppt/tags/tag89.xml><?xml version="1.0" encoding="utf-8"?>
<p:tagLst xmlns:a="http://schemas.openxmlformats.org/drawingml/2006/main" xmlns:r="http://schemas.openxmlformats.org/officeDocument/2006/relationships" xmlns:p="http://schemas.openxmlformats.org/presentationml/2006/main">
  <p:tag name="DUPLICATEID" val="662f26c3fb9b4f0eac4e7bfa3ae62c3f"/>
</p:tagLst>
</file>

<file path=ppt/tags/tag90.xml><?xml version="1.0" encoding="utf-8"?>
<p:tagLst xmlns:a="http://schemas.openxmlformats.org/drawingml/2006/main" xmlns:r="http://schemas.openxmlformats.org/officeDocument/2006/relationships" xmlns:p="http://schemas.openxmlformats.org/presentationml/2006/main">
  <p:tag name="DUPLICATEID" val="667e788992464717b8667c9e066b9b6a"/>
</p:tagLst>
</file>

<file path=ppt/tags/tag91.xml><?xml version="1.0" encoding="utf-8"?>
<p:tagLst xmlns:a="http://schemas.openxmlformats.org/drawingml/2006/main" xmlns:r="http://schemas.openxmlformats.org/officeDocument/2006/relationships" xmlns:p="http://schemas.openxmlformats.org/presentationml/2006/main">
  <p:tag name="DUPLICATEID" val="7cc9ab7c35364b589403d0404281e0c1"/>
</p:tagLst>
</file>

<file path=ppt/tags/tag92.xml><?xml version="1.0" encoding="utf-8"?>
<p:tagLst xmlns:a="http://schemas.openxmlformats.org/drawingml/2006/main" xmlns:r="http://schemas.openxmlformats.org/officeDocument/2006/relationships" xmlns:p="http://schemas.openxmlformats.org/presentationml/2006/main">
  <p:tag name="DUPLICATEID" val="44a3b0019f3b4e458296f04b6cf33af8"/>
</p:tagLst>
</file>

<file path=ppt/tags/tag93.xml><?xml version="1.0" encoding="utf-8"?>
<p:tagLst xmlns:a="http://schemas.openxmlformats.org/drawingml/2006/main" xmlns:r="http://schemas.openxmlformats.org/officeDocument/2006/relationships" xmlns:p="http://schemas.openxmlformats.org/presentationml/2006/main">
  <p:tag name="DUPLICATEID" val="a4364159408e4cf89756ef7ab4224344"/>
</p:tagLst>
</file>

<file path=ppt/tags/tag94.xml><?xml version="1.0" encoding="utf-8"?>
<p:tagLst xmlns:a="http://schemas.openxmlformats.org/drawingml/2006/main" xmlns:r="http://schemas.openxmlformats.org/officeDocument/2006/relationships" xmlns:p="http://schemas.openxmlformats.org/presentationml/2006/main">
  <p:tag name="DUPLICATEID" val="4a5a0149e9804b92b833fb73104d9cbc"/>
</p:tagLst>
</file>

<file path=ppt/tags/tag95.xml><?xml version="1.0" encoding="utf-8"?>
<p:tagLst xmlns:a="http://schemas.openxmlformats.org/drawingml/2006/main" xmlns:r="http://schemas.openxmlformats.org/officeDocument/2006/relationships" xmlns:p="http://schemas.openxmlformats.org/presentationml/2006/main">
  <p:tag name="DUPLICATEID" val="bb12fd43887847edb88a5f8e035dba9f"/>
</p:tagLst>
</file>

<file path=ppt/tags/tag96.xml><?xml version="1.0" encoding="utf-8"?>
<p:tagLst xmlns:a="http://schemas.openxmlformats.org/drawingml/2006/main" xmlns:r="http://schemas.openxmlformats.org/officeDocument/2006/relationships" xmlns:p="http://schemas.openxmlformats.org/presentationml/2006/main">
  <p:tag name="DUPLICATEID" val="367ebfe823db4bdfbb6f95eb8c340294"/>
</p:tagLst>
</file>

<file path=ppt/tags/tag97.xml><?xml version="1.0" encoding="utf-8"?>
<p:tagLst xmlns:a="http://schemas.openxmlformats.org/drawingml/2006/main" xmlns:r="http://schemas.openxmlformats.org/officeDocument/2006/relationships" xmlns:p="http://schemas.openxmlformats.org/presentationml/2006/main">
  <p:tag name="DUPLICATEID" val="330e1fe4fbe84aa0a34fa63dd43bd4d5"/>
</p:tagLst>
</file>

<file path=ppt/tags/tag98.xml><?xml version="1.0" encoding="utf-8"?>
<p:tagLst xmlns:a="http://schemas.openxmlformats.org/drawingml/2006/main" xmlns:r="http://schemas.openxmlformats.org/officeDocument/2006/relationships" xmlns:p="http://schemas.openxmlformats.org/presentationml/2006/main">
  <p:tag name="DUPLICATEID" val="637d7cf145804e6fbd99577b7a9eddfc"/>
</p:tagLst>
</file>

<file path=ppt/tags/tag99.xml><?xml version="1.0" encoding="utf-8"?>
<p:tagLst xmlns:a="http://schemas.openxmlformats.org/drawingml/2006/main" xmlns:r="http://schemas.openxmlformats.org/officeDocument/2006/relationships" xmlns:p="http://schemas.openxmlformats.org/presentationml/2006/main">
  <p:tag name="DUPLICATEID" val="d74afe44ff4848a9975e199776607770"/>
</p:tagLst>
</file>

<file path=ppt/tags/tag100.xml><?xml version="1.0" encoding="utf-8"?>
<p:tagLst xmlns:a="http://schemas.openxmlformats.org/drawingml/2006/main" xmlns:r="http://schemas.openxmlformats.org/officeDocument/2006/relationships" xmlns:p="http://schemas.openxmlformats.org/presentationml/2006/main">
  <p:tag name="AUDIO_ID" val="420"/>
  <p:tag name="ORIGINAL_AUDIO_FILEPATH" val="Z:\E\Project_MEW\C15038509011_SE15319_BPP_Tech_ISMv3_eLearning_CM\DTP\RU\Batch1\DTP\audios\3\Slide 20.mp3"/>
  <p:tag name="ELAPSEDTIME" val="20.56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01.xml><?xml version="1.0" encoding="utf-8"?>
<p:tagLst xmlns:a="http://schemas.openxmlformats.org/drawingml/2006/main" xmlns:r="http://schemas.openxmlformats.org/officeDocument/2006/relationships" xmlns:p="http://schemas.openxmlformats.org/presentationml/2006/main">
  <p:tag name="AUDIO_ID" val="421"/>
  <p:tag name="ORIGINAL_AUDIO_FILEPATH" val="Z:\E\Project_MEW\C15038509011_SE15319_BPP_Tech_ISMv3_eLearning_CM\DTP\RU\Batch1\DTP\audios\3\Slide 21.mp3"/>
  <p:tag name="ELAPSEDTIME" val="106.7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02.xml><?xml version="1.0" encoding="utf-8"?>
<p:tagLst xmlns:a="http://schemas.openxmlformats.org/drawingml/2006/main" xmlns:r="http://schemas.openxmlformats.org/officeDocument/2006/relationships" xmlns:p="http://schemas.openxmlformats.org/presentationml/2006/main">
  <p:tag name="AUDIO_ID" val="422"/>
  <p:tag name="ORIGINAL_AUDIO_FILEPATH" val="Z:\E\Project_MEW\C15038509011_SE15319_BPP_Tech_ISMv3_eLearning_CM\DTP\RU\Batch1\DTP\audios\3\Slide 22.mp3"/>
  <p:tag name="ELAPSEDTIME" val="161.6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03.xml><?xml version="1.0" encoding="utf-8"?>
<p:tagLst xmlns:a="http://schemas.openxmlformats.org/drawingml/2006/main" xmlns:r="http://schemas.openxmlformats.org/officeDocument/2006/relationships" xmlns:p="http://schemas.openxmlformats.org/presentationml/2006/main">
  <p:tag name="AUDIO_ID" val="423"/>
  <p:tag name="ORIGINAL_AUDIO_FILEPATH" val="Z:\E\Project_MEW\C15038509011_SE15319_BPP_Tech_ISMv3_eLearning_CM\DTP\RU\Batch1\DTP\audios\3\Slide 23.mp3"/>
  <p:tag name="ELAPSEDTIME" val="186.0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04.xml><?xml version="1.0" encoding="utf-8"?>
<p:tagLst xmlns:a="http://schemas.openxmlformats.org/drawingml/2006/main" xmlns:r="http://schemas.openxmlformats.org/officeDocument/2006/relationships" xmlns:p="http://schemas.openxmlformats.org/presentationml/2006/main">
  <p:tag name="AUDIO_ID" val="424"/>
  <p:tag name="ORIGINAL_AUDIO_FILEPATH" val="Z:\E\Project_MEW\C15038509011_SE15319_BPP_Tech_ISMv3_eLearning_CM\DTP\RU\Batch1\DTP\audios\3\Slide 24.mp3"/>
  <p:tag name="ELAPSEDTIME" val="48.09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05.xml><?xml version="1.0" encoding="utf-8"?>
<p:tagLst xmlns:a="http://schemas.openxmlformats.org/drawingml/2006/main" xmlns:r="http://schemas.openxmlformats.org/officeDocument/2006/relationships" xmlns:p="http://schemas.openxmlformats.org/presentationml/2006/main">
  <p:tag name="DUPLICATEID" val="d8ea2b32faf141dda5624b0f0a6bc14a"/>
</p:tagLst>
</file>

<file path=ppt/tags/tag106.xml><?xml version="1.0" encoding="utf-8"?>
<p:tagLst xmlns:a="http://schemas.openxmlformats.org/drawingml/2006/main" xmlns:r="http://schemas.openxmlformats.org/officeDocument/2006/relationships" xmlns:p="http://schemas.openxmlformats.org/presentationml/2006/main">
  <p:tag name="DUPLICATEID" val="73b2e5a6cfdb4c3d88fd32ae72d7aeb3"/>
</p:tagLst>
</file>

<file path=ppt/tags/tag107.xml><?xml version="1.0" encoding="utf-8"?>
<p:tagLst xmlns:a="http://schemas.openxmlformats.org/drawingml/2006/main" xmlns:r="http://schemas.openxmlformats.org/officeDocument/2006/relationships" xmlns:p="http://schemas.openxmlformats.org/presentationml/2006/main">
  <p:tag name="DUPLICATEID" val="2b3343e7e9bd48bd904ed0cc2ce18eee"/>
</p:tagLst>
</file>

<file path=ppt/tags/tag108.xml><?xml version="1.0" encoding="utf-8"?>
<p:tagLst xmlns:a="http://schemas.openxmlformats.org/drawingml/2006/main" xmlns:r="http://schemas.openxmlformats.org/officeDocument/2006/relationships" xmlns:p="http://schemas.openxmlformats.org/presentationml/2006/main">
  <p:tag name="AUDIO_ID" val="490"/>
  <p:tag name="ORIGINAL_AUDIO_FILEPATH" val="Z:\E\Project_MEW\C15038509011_SE15319_BPP_Tech_ISMv3_eLearning_CM\DTP\RU\Batch1\DTP\audios\3\25_26.wav"/>
  <p:tag name="ELAPSEDTIME" val="333.31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09.xml><?xml version="1.0" encoding="utf-8"?>
<p:tagLst xmlns:a="http://schemas.openxmlformats.org/drawingml/2006/main" xmlns:r="http://schemas.openxmlformats.org/officeDocument/2006/relationships" xmlns:p="http://schemas.openxmlformats.org/presentationml/2006/main">
  <p:tag name="AUDIO_ID" val="425"/>
  <p:tag name="ORIGINAL_AUDIO_FILEPATH" val="Z:\E\Project_MEW\C15038509011_SE15319_BPP_Tech_ISMv3_eLearning_CM\DTP\RU\Batch1\DTP\audios\3\Slide 27.mp3"/>
  <p:tag name="ELAPSEDTIME" val="61.2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7"/>
</p:tagLst>
</file>

<file path=ppt/tags/tag110.xml><?xml version="1.0" encoding="utf-8"?>
<p:tagLst xmlns:a="http://schemas.openxmlformats.org/drawingml/2006/main" xmlns:r="http://schemas.openxmlformats.org/officeDocument/2006/relationships" xmlns:p="http://schemas.openxmlformats.org/presentationml/2006/main">
  <p:tag name="AUDIO_ID" val="427"/>
  <p:tag name="ORIGINAL_AUDIO_FILEPATH" val="Z:\E\Project_MEW\C15038509011_SE15319_BPP_Tech_ISMv3_eLearning_CM\DTP\RU\Batch1\DTP\audios\3\28_29.wav"/>
  <p:tag name="ELAPSEDTIME" val="282.21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1.xml><?xml version="1.0" encoding="utf-8"?>
<p:tagLst xmlns:a="http://schemas.openxmlformats.org/drawingml/2006/main" xmlns:r="http://schemas.openxmlformats.org/officeDocument/2006/relationships" xmlns:p="http://schemas.openxmlformats.org/presentationml/2006/main">
  <p:tag name="AUDIO_ID" val="429"/>
  <p:tag name="ORIGINAL_AUDIO_FILEPATH" val="Z:\E\Project_MEW\C15038509011_SE15319_BPP_Tech_ISMv3_eLearning_CM\DTP\RU\Batch1\DTP\audios\3\Slide 30.mp3"/>
  <p:tag name="ELAPSEDTIME" val="11.4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12.xml><?xml version="1.0" encoding="utf-8"?>
<p:tagLst xmlns:a="http://schemas.openxmlformats.org/drawingml/2006/main" xmlns:r="http://schemas.openxmlformats.org/officeDocument/2006/relationships" xmlns:p="http://schemas.openxmlformats.org/presentationml/2006/main">
  <p:tag name="AUDIO_ID" val="443"/>
  <p:tag name="ORIGINAL_AUDIO_FILEPATH" val="Z:\E\Project_MEW\C15038509011_SE15319_BPP_Tech_ISMv3_eLearning_CM\DTP\RU\Batch1\DTP\audios\3\Slide 31.mp3"/>
  <p:tag name="ELAPSEDTIME" val="18.43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13.xml><?xml version="1.0" encoding="utf-8"?>
<p:tagLst xmlns:a="http://schemas.openxmlformats.org/drawingml/2006/main" xmlns:r="http://schemas.openxmlformats.org/officeDocument/2006/relationships" xmlns:p="http://schemas.openxmlformats.org/presentationml/2006/main">
  <p:tag name="AUDIO_ID" val="444"/>
  <p:tag name="ORIGINAL_AUDIO_FILEPATH" val="Z:\E\Project_MEW\C15038509011_SE15319_BPP_Tech_ISMv3_eLearning_CM\DTP\RU\Batch1\DTP\audios\3\Slide 32.mp3"/>
  <p:tag name="ELAPSEDTIME" val="103.7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14.xml><?xml version="1.0" encoding="utf-8"?>
<p:tagLst xmlns:a="http://schemas.openxmlformats.org/drawingml/2006/main" xmlns:r="http://schemas.openxmlformats.org/officeDocument/2006/relationships" xmlns:p="http://schemas.openxmlformats.org/presentationml/2006/main">
  <p:tag name="DUPLICATEID" val="4bb48b604bbf41af9273d6a64557064e"/>
</p:tagLst>
</file>

<file path=ppt/tags/tag115.xml><?xml version="1.0" encoding="utf-8"?>
<p:tagLst xmlns:a="http://schemas.openxmlformats.org/drawingml/2006/main" xmlns:r="http://schemas.openxmlformats.org/officeDocument/2006/relationships" xmlns:p="http://schemas.openxmlformats.org/presentationml/2006/main">
  <p:tag name="DUPLICATEID" val="ef7647517ecc4949b3f7fcd8db30fa44"/>
</p:tagLst>
</file>

<file path=ppt/tags/tag116.xml><?xml version="1.0" encoding="utf-8"?>
<p:tagLst xmlns:a="http://schemas.openxmlformats.org/drawingml/2006/main" xmlns:r="http://schemas.openxmlformats.org/officeDocument/2006/relationships" xmlns:p="http://schemas.openxmlformats.org/presentationml/2006/main">
  <p:tag name="DUPLICATEID" val="06068c86b026418384542890827f7e45"/>
</p:tagLst>
</file>

<file path=ppt/tags/tag117.xml><?xml version="1.0" encoding="utf-8"?>
<p:tagLst xmlns:a="http://schemas.openxmlformats.org/drawingml/2006/main" xmlns:r="http://schemas.openxmlformats.org/officeDocument/2006/relationships" xmlns:p="http://schemas.openxmlformats.org/presentationml/2006/main">
  <p:tag name="DUPLICATEID" val="3a1b8500fd2e4b8b83f76d2eb47cf076"/>
</p:tagLst>
</file>

<file path=ppt/tags/tag118.xml><?xml version="1.0" encoding="utf-8"?>
<p:tagLst xmlns:a="http://schemas.openxmlformats.org/drawingml/2006/main" xmlns:r="http://schemas.openxmlformats.org/officeDocument/2006/relationships" xmlns:p="http://schemas.openxmlformats.org/presentationml/2006/main">
  <p:tag name="DUPLICATEID" val="cdb8ac06f0604138b9fe4c509d3696e0"/>
</p:tagLst>
</file>

<file path=ppt/tags/tag119.xml><?xml version="1.0" encoding="utf-8"?>
<p:tagLst xmlns:a="http://schemas.openxmlformats.org/drawingml/2006/main" xmlns:r="http://schemas.openxmlformats.org/officeDocument/2006/relationships" xmlns:p="http://schemas.openxmlformats.org/presentationml/2006/main">
  <p:tag name="DUPLICATEID" val="850e6802008f474a83e807b902ce9860"/>
</p:tagLst>
</file>

<file path=ppt/tags/tag120.xml><?xml version="1.0" encoding="utf-8"?>
<p:tagLst xmlns:a="http://schemas.openxmlformats.org/drawingml/2006/main" xmlns:r="http://schemas.openxmlformats.org/officeDocument/2006/relationships" xmlns:p="http://schemas.openxmlformats.org/presentationml/2006/main">
  <p:tag name="DUPLICATEID" val="d76cead5bef44fa4b593ce045646b1b1"/>
</p:tagLst>
</file>

<file path=ppt/tags/tag121.xml><?xml version="1.0" encoding="utf-8"?>
<p:tagLst xmlns:a="http://schemas.openxmlformats.org/drawingml/2006/main" xmlns:r="http://schemas.openxmlformats.org/officeDocument/2006/relationships" xmlns:p="http://schemas.openxmlformats.org/presentationml/2006/main">
  <p:tag name="DUPLICATEID" val="5ff78b25a9274ab5997aeb5e526f79c3"/>
</p:tagLst>
</file>

<file path=ppt/tags/tag122.xml><?xml version="1.0" encoding="utf-8"?>
<p:tagLst xmlns:a="http://schemas.openxmlformats.org/drawingml/2006/main" xmlns:r="http://schemas.openxmlformats.org/officeDocument/2006/relationships" xmlns:p="http://schemas.openxmlformats.org/presentationml/2006/main">
  <p:tag name="DUPLICATEID" val="be0d714e79734a2eb9bdc14db781ab0a"/>
</p:tagLst>
</file>

<file path=ppt/tags/tag123.xml><?xml version="1.0" encoding="utf-8"?>
<p:tagLst xmlns:a="http://schemas.openxmlformats.org/drawingml/2006/main" xmlns:r="http://schemas.openxmlformats.org/officeDocument/2006/relationships" xmlns:p="http://schemas.openxmlformats.org/presentationml/2006/main">
  <p:tag name="DUPLICATEID" val="082df53407cd4d3183e61ef164827a7a"/>
</p:tagLst>
</file>

<file path=ppt/tags/tag124.xml><?xml version="1.0" encoding="utf-8"?>
<p:tagLst xmlns:a="http://schemas.openxmlformats.org/drawingml/2006/main" xmlns:r="http://schemas.openxmlformats.org/officeDocument/2006/relationships" xmlns:p="http://schemas.openxmlformats.org/presentationml/2006/main">
  <p:tag name="DUPLICATEID" val="a1a06beed75c4d1e9eb8c588b3c3ffd8"/>
</p:tagLst>
</file>

<file path=ppt/tags/tag125.xml><?xml version="1.0" encoding="utf-8"?>
<p:tagLst xmlns:a="http://schemas.openxmlformats.org/drawingml/2006/main" xmlns:r="http://schemas.openxmlformats.org/officeDocument/2006/relationships" xmlns:p="http://schemas.openxmlformats.org/presentationml/2006/main">
  <p:tag name="DUPLICATEID" val="2c74c348fc6b4d3e9ed44152318eb0f2"/>
</p:tagLst>
</file>

<file path=ppt/tags/tag126.xml><?xml version="1.0" encoding="utf-8"?>
<p:tagLst xmlns:a="http://schemas.openxmlformats.org/drawingml/2006/main" xmlns:r="http://schemas.openxmlformats.org/officeDocument/2006/relationships" xmlns:p="http://schemas.openxmlformats.org/presentationml/2006/main">
  <p:tag name="DUPLICATEID" val="bd70b4828b304896b847fe647cf23af6"/>
</p:tagLst>
</file>

<file path=ppt/tags/tag127.xml><?xml version="1.0" encoding="utf-8"?>
<p:tagLst xmlns:a="http://schemas.openxmlformats.org/drawingml/2006/main" xmlns:r="http://schemas.openxmlformats.org/officeDocument/2006/relationships" xmlns:p="http://schemas.openxmlformats.org/presentationml/2006/main">
  <p:tag name="DUPLICATEID" val="799797d2df924900826abd0fda0fc3b4"/>
</p:tagLst>
</file>

<file path=ppt/tags/tag128.xml><?xml version="1.0" encoding="utf-8"?>
<p:tagLst xmlns:a="http://schemas.openxmlformats.org/drawingml/2006/main" xmlns:r="http://schemas.openxmlformats.org/officeDocument/2006/relationships" xmlns:p="http://schemas.openxmlformats.org/presentationml/2006/main">
  <p:tag name="DUPLICATEID" val="b6bb836a51bd4a909612e2bc60cdb956"/>
</p:tagLst>
</file>

<file path=ppt/tags/tag129.xml><?xml version="1.0" encoding="utf-8"?>
<p:tagLst xmlns:a="http://schemas.openxmlformats.org/drawingml/2006/main" xmlns:r="http://schemas.openxmlformats.org/officeDocument/2006/relationships" xmlns:p="http://schemas.openxmlformats.org/presentationml/2006/main">
  <p:tag name="DUPLICATEID" val="92e87e0df09046349639ea696599e727"/>
</p:tagLst>
</file>

<file path=ppt/tags/tag130.xml><?xml version="1.0" encoding="utf-8"?>
<p:tagLst xmlns:a="http://schemas.openxmlformats.org/drawingml/2006/main" xmlns:r="http://schemas.openxmlformats.org/officeDocument/2006/relationships" xmlns:p="http://schemas.openxmlformats.org/presentationml/2006/main">
  <p:tag name="DUPLICATEID" val="eaa8547e30b54275a7f542804a9edfbd"/>
</p:tagLst>
</file>

<file path=ppt/tags/tag131.xml><?xml version="1.0" encoding="utf-8"?>
<p:tagLst xmlns:a="http://schemas.openxmlformats.org/drawingml/2006/main" xmlns:r="http://schemas.openxmlformats.org/officeDocument/2006/relationships" xmlns:p="http://schemas.openxmlformats.org/presentationml/2006/main">
  <p:tag name="DUPLICATEID" val="cf8af2191482470fa41f7cfebf4e9d0c"/>
</p:tagLst>
</file>

<file path=ppt/tags/tag132.xml><?xml version="1.0" encoding="utf-8"?>
<p:tagLst xmlns:a="http://schemas.openxmlformats.org/drawingml/2006/main" xmlns:r="http://schemas.openxmlformats.org/officeDocument/2006/relationships" xmlns:p="http://schemas.openxmlformats.org/presentationml/2006/main">
  <p:tag name="DUPLICATEID" val="8af38fcff2a141a8bcd12b63fc84c4b2"/>
</p:tagLst>
</file>

<file path=ppt/tags/tag133.xml><?xml version="1.0" encoding="utf-8"?>
<p:tagLst xmlns:a="http://schemas.openxmlformats.org/drawingml/2006/main" xmlns:r="http://schemas.openxmlformats.org/officeDocument/2006/relationships" xmlns:p="http://schemas.openxmlformats.org/presentationml/2006/main">
  <p:tag name="DUPLICATEID" val="93a18f49d72e45fd9a77b45f3bfefc37"/>
</p:tagLst>
</file>

<file path=ppt/tags/tag134.xml><?xml version="1.0" encoding="utf-8"?>
<p:tagLst xmlns:a="http://schemas.openxmlformats.org/drawingml/2006/main" xmlns:r="http://schemas.openxmlformats.org/officeDocument/2006/relationships" xmlns:p="http://schemas.openxmlformats.org/presentationml/2006/main">
  <p:tag name="DUPLICATEID" val="8523860631d341978ce7c167acae33ea"/>
</p:tagLst>
</file>

<file path=ppt/tags/tag135.xml><?xml version="1.0" encoding="utf-8"?>
<p:tagLst xmlns:a="http://schemas.openxmlformats.org/drawingml/2006/main" xmlns:r="http://schemas.openxmlformats.org/officeDocument/2006/relationships" xmlns:p="http://schemas.openxmlformats.org/presentationml/2006/main">
  <p:tag name="DUPLICATEID" val="5e1be2bc69d34f5db89ce36e1163420c"/>
</p:tagLst>
</file>

<file path=ppt/tags/tag136.xml><?xml version="1.0" encoding="utf-8"?>
<p:tagLst xmlns:a="http://schemas.openxmlformats.org/drawingml/2006/main" xmlns:r="http://schemas.openxmlformats.org/officeDocument/2006/relationships" xmlns:p="http://schemas.openxmlformats.org/presentationml/2006/main">
  <p:tag name="DUPLICATEID" val="ce783c8d0d574c7dbe7047f72f8a981f"/>
</p:tagLst>
</file>

<file path=ppt/tags/tag137.xml><?xml version="1.0" encoding="utf-8"?>
<p:tagLst xmlns:a="http://schemas.openxmlformats.org/drawingml/2006/main" xmlns:r="http://schemas.openxmlformats.org/officeDocument/2006/relationships" xmlns:p="http://schemas.openxmlformats.org/presentationml/2006/main">
  <p:tag name="DUPLICATEID" val="7bff201c782a4c37bec5abd60ebf1297"/>
</p:tagLst>
</file>

<file path=ppt/tags/tag138.xml><?xml version="1.0" encoding="utf-8"?>
<p:tagLst xmlns:a="http://schemas.openxmlformats.org/drawingml/2006/main" xmlns:r="http://schemas.openxmlformats.org/officeDocument/2006/relationships" xmlns:p="http://schemas.openxmlformats.org/presentationml/2006/main">
  <p:tag name="DUPLICATEID" val="b9b674359fc34d718445186b99a115fd"/>
</p:tagLst>
</file>

<file path=ppt/tags/tag139.xml><?xml version="1.0" encoding="utf-8"?>
<p:tagLst xmlns:a="http://schemas.openxmlformats.org/drawingml/2006/main" xmlns:r="http://schemas.openxmlformats.org/officeDocument/2006/relationships" xmlns:p="http://schemas.openxmlformats.org/presentationml/2006/main">
  <p:tag name="AUDIO_ID" val="445"/>
  <p:tag name="ORIGINAL_AUDIO_FILEPATH" val="Z:\E\Project_MEW\C15038509011_SE15319_BPP_Tech_ISMv3_eLearning_CM\DTP\RU\Batch1\DTP\audios\3\Slide 33.mp3"/>
  <p:tag name="ELAPSEDTIME" val="192.69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40.xml><?xml version="1.0" encoding="utf-8"?>
<p:tagLst xmlns:a="http://schemas.openxmlformats.org/drawingml/2006/main" xmlns:r="http://schemas.openxmlformats.org/officeDocument/2006/relationships" xmlns:p="http://schemas.openxmlformats.org/presentationml/2006/main">
  <p:tag name="DUPLICATEID" val="1494e0eef3f546f1aff61c4301721c87"/>
</p:tagLst>
</file>

<file path=ppt/tags/tag141.xml><?xml version="1.0" encoding="utf-8"?>
<p:tagLst xmlns:a="http://schemas.openxmlformats.org/drawingml/2006/main" xmlns:r="http://schemas.openxmlformats.org/officeDocument/2006/relationships" xmlns:p="http://schemas.openxmlformats.org/presentationml/2006/main">
  <p:tag name="DUPLICATEID" val="d7de312c1f3241c1a109c5630d956022"/>
</p:tagLst>
</file>

<file path=ppt/tags/tag142.xml><?xml version="1.0" encoding="utf-8"?>
<p:tagLst xmlns:a="http://schemas.openxmlformats.org/drawingml/2006/main" xmlns:r="http://schemas.openxmlformats.org/officeDocument/2006/relationships" xmlns:p="http://schemas.openxmlformats.org/presentationml/2006/main">
  <p:tag name="DUPLICATEID" val="c21c6b05878e423489ff2d8794a146e0"/>
</p:tagLst>
</file>

<file path=ppt/tags/tag143.xml><?xml version="1.0" encoding="utf-8"?>
<p:tagLst xmlns:a="http://schemas.openxmlformats.org/drawingml/2006/main" xmlns:r="http://schemas.openxmlformats.org/officeDocument/2006/relationships" xmlns:p="http://schemas.openxmlformats.org/presentationml/2006/main">
  <p:tag name="DUPLICATEID" val="08086884383e4eb8b0290b2fc5059297"/>
</p:tagLst>
</file>

<file path=ppt/tags/tag144.xml><?xml version="1.0" encoding="utf-8"?>
<p:tagLst xmlns:a="http://schemas.openxmlformats.org/drawingml/2006/main" xmlns:r="http://schemas.openxmlformats.org/officeDocument/2006/relationships" xmlns:p="http://schemas.openxmlformats.org/presentationml/2006/main">
  <p:tag name="DUPLICATEID" val="f65168881c844f138b649fd40b45d64d"/>
</p:tagLst>
</file>

<file path=ppt/tags/tag145.xml><?xml version="1.0" encoding="utf-8"?>
<p:tagLst xmlns:a="http://schemas.openxmlformats.org/drawingml/2006/main" xmlns:r="http://schemas.openxmlformats.org/officeDocument/2006/relationships" xmlns:p="http://schemas.openxmlformats.org/presentationml/2006/main">
  <p:tag name="DUPLICATEID" val="3b2252ed365c435dbe52740d8b99d17d"/>
</p:tagLst>
</file>

<file path=ppt/tags/tag146.xml><?xml version="1.0" encoding="utf-8"?>
<p:tagLst xmlns:a="http://schemas.openxmlformats.org/drawingml/2006/main" xmlns:r="http://schemas.openxmlformats.org/officeDocument/2006/relationships" xmlns:p="http://schemas.openxmlformats.org/presentationml/2006/main">
  <p:tag name="DUPLICATEID" val="053d609c934b4968997a466cdd582d31"/>
</p:tagLst>
</file>

<file path=ppt/tags/tag147.xml><?xml version="1.0" encoding="utf-8"?>
<p:tagLst xmlns:a="http://schemas.openxmlformats.org/drawingml/2006/main" xmlns:r="http://schemas.openxmlformats.org/officeDocument/2006/relationships" xmlns:p="http://schemas.openxmlformats.org/presentationml/2006/main">
  <p:tag name="DUPLICATEID" val="2131cfac6cac49398a740f9089e85525"/>
</p:tagLst>
</file>

<file path=ppt/tags/tag148.xml><?xml version="1.0" encoding="utf-8"?>
<p:tagLst xmlns:a="http://schemas.openxmlformats.org/drawingml/2006/main" xmlns:r="http://schemas.openxmlformats.org/officeDocument/2006/relationships" xmlns:p="http://schemas.openxmlformats.org/presentationml/2006/main">
  <p:tag name="DUPLICATEID" val="3cafd3e19888403fa6ff542d76bdda2d"/>
</p:tagLst>
</file>

<file path=ppt/tags/tag149.xml><?xml version="1.0" encoding="utf-8"?>
<p:tagLst xmlns:a="http://schemas.openxmlformats.org/drawingml/2006/main" xmlns:r="http://schemas.openxmlformats.org/officeDocument/2006/relationships" xmlns:p="http://schemas.openxmlformats.org/presentationml/2006/main">
  <p:tag name="DUPLICATEID" val="2dc219ef2ec743318690819e190110fb"/>
</p:tagLst>
</file>

<file path=ppt/tags/tag150.xml><?xml version="1.0" encoding="utf-8"?>
<p:tagLst xmlns:a="http://schemas.openxmlformats.org/drawingml/2006/main" xmlns:r="http://schemas.openxmlformats.org/officeDocument/2006/relationships" xmlns:p="http://schemas.openxmlformats.org/presentationml/2006/main">
  <p:tag name="DUPLICATEID" val="aadccf27e0a64eec9cec818335965912"/>
</p:tagLst>
</file>

<file path=ppt/tags/tag151.xml><?xml version="1.0" encoding="utf-8"?>
<p:tagLst xmlns:a="http://schemas.openxmlformats.org/drawingml/2006/main" xmlns:r="http://schemas.openxmlformats.org/officeDocument/2006/relationships" xmlns:p="http://schemas.openxmlformats.org/presentationml/2006/main">
  <p:tag name="DUPLICATEID" val="c2a8dd0c77ae40f0bef2c6e3306af276"/>
</p:tagLst>
</file>

<file path=ppt/tags/tag152.xml><?xml version="1.0" encoding="utf-8"?>
<p:tagLst xmlns:a="http://schemas.openxmlformats.org/drawingml/2006/main" xmlns:r="http://schemas.openxmlformats.org/officeDocument/2006/relationships" xmlns:p="http://schemas.openxmlformats.org/presentationml/2006/main">
  <p:tag name="DUPLICATEID" val="32acd1a0d3fa4e40b175156b2c199c7b"/>
</p:tagLst>
</file>

<file path=ppt/tags/tag153.xml><?xml version="1.0" encoding="utf-8"?>
<p:tagLst xmlns:a="http://schemas.openxmlformats.org/drawingml/2006/main" xmlns:r="http://schemas.openxmlformats.org/officeDocument/2006/relationships" xmlns:p="http://schemas.openxmlformats.org/presentationml/2006/main">
  <p:tag name="DUPLICATEID" val="feb9a0d0ae854b89abb6419fdcdeeb85"/>
</p:tagLst>
</file>

<file path=ppt/tags/tag154.xml><?xml version="1.0" encoding="utf-8"?>
<p:tagLst xmlns:a="http://schemas.openxmlformats.org/drawingml/2006/main" xmlns:r="http://schemas.openxmlformats.org/officeDocument/2006/relationships" xmlns:p="http://schemas.openxmlformats.org/presentationml/2006/main">
  <p:tag name="DUPLICATEID" val="5139984d269942abae68358d4e00851d"/>
</p:tagLst>
</file>

<file path=ppt/tags/tag155.xml><?xml version="1.0" encoding="utf-8"?>
<p:tagLst xmlns:a="http://schemas.openxmlformats.org/drawingml/2006/main" xmlns:r="http://schemas.openxmlformats.org/officeDocument/2006/relationships" xmlns:p="http://schemas.openxmlformats.org/presentationml/2006/main">
  <p:tag name="DUPLICATEID" val="1ce86c625d9c49799ec47865ab95bf30"/>
</p:tagLst>
</file>

<file path=ppt/tags/tag156.xml><?xml version="1.0" encoding="utf-8"?>
<p:tagLst xmlns:a="http://schemas.openxmlformats.org/drawingml/2006/main" xmlns:r="http://schemas.openxmlformats.org/officeDocument/2006/relationships" xmlns:p="http://schemas.openxmlformats.org/presentationml/2006/main">
  <p:tag name="DUPLICATEID" val="10be4b3bc3a740caaa018a33351700db"/>
</p:tagLst>
</file>

<file path=ppt/tags/tag157.xml><?xml version="1.0" encoding="utf-8"?>
<p:tagLst xmlns:a="http://schemas.openxmlformats.org/drawingml/2006/main" xmlns:r="http://schemas.openxmlformats.org/officeDocument/2006/relationships" xmlns:p="http://schemas.openxmlformats.org/presentationml/2006/main">
  <p:tag name="DUPLICATEID" val="12800f217ff64e1a9b44cad01b5a5751"/>
</p:tagLst>
</file>

<file path=ppt/tags/tag158.xml><?xml version="1.0" encoding="utf-8"?>
<p:tagLst xmlns:a="http://schemas.openxmlformats.org/drawingml/2006/main" xmlns:r="http://schemas.openxmlformats.org/officeDocument/2006/relationships" xmlns:p="http://schemas.openxmlformats.org/presentationml/2006/main">
  <p:tag name="DUPLICATEID" val="a038253bdf134b76b4de1f61b3ba59da"/>
</p:tagLst>
</file>

<file path=ppt/tags/tag159.xml><?xml version="1.0" encoding="utf-8"?>
<p:tagLst xmlns:a="http://schemas.openxmlformats.org/drawingml/2006/main" xmlns:r="http://schemas.openxmlformats.org/officeDocument/2006/relationships" xmlns:p="http://schemas.openxmlformats.org/presentationml/2006/main">
  <p:tag name="DUPLICATEID" val="dfe6a986b2ee4950a75a46a6c51c4156"/>
</p:tagLst>
</file>

<file path=ppt/tags/tag160.xml><?xml version="1.0" encoding="utf-8"?>
<p:tagLst xmlns:a="http://schemas.openxmlformats.org/drawingml/2006/main" xmlns:r="http://schemas.openxmlformats.org/officeDocument/2006/relationships" xmlns:p="http://schemas.openxmlformats.org/presentationml/2006/main">
  <p:tag name="DUPLICATEID" val="d0af8872c63e45d1ae46f74f4e03f76d"/>
</p:tagLst>
</file>

<file path=ppt/tags/tag161.xml><?xml version="1.0" encoding="utf-8"?>
<p:tagLst xmlns:a="http://schemas.openxmlformats.org/drawingml/2006/main" xmlns:r="http://schemas.openxmlformats.org/officeDocument/2006/relationships" xmlns:p="http://schemas.openxmlformats.org/presentationml/2006/main">
  <p:tag name="DUPLICATEID" val="d8cf2f9d79244df0aac42d075a6adaab"/>
</p:tagLst>
</file>

<file path=ppt/tags/tag162.xml><?xml version="1.0" encoding="utf-8"?>
<p:tagLst xmlns:a="http://schemas.openxmlformats.org/drawingml/2006/main" xmlns:r="http://schemas.openxmlformats.org/officeDocument/2006/relationships" xmlns:p="http://schemas.openxmlformats.org/presentationml/2006/main">
  <p:tag name="DUPLICATEID" val="8cd168e416b3492385c9313368d35c1d"/>
</p:tagLst>
</file>

<file path=ppt/tags/tag163.xml><?xml version="1.0" encoding="utf-8"?>
<p:tagLst xmlns:a="http://schemas.openxmlformats.org/drawingml/2006/main" xmlns:r="http://schemas.openxmlformats.org/officeDocument/2006/relationships" xmlns:p="http://schemas.openxmlformats.org/presentationml/2006/main">
  <p:tag name="DUPLICATEID" val="f9251d8ad9954f0c82b07f4a84d07c4b"/>
</p:tagLst>
</file>

<file path=ppt/tags/tag164.xml><?xml version="1.0" encoding="utf-8"?>
<p:tagLst xmlns:a="http://schemas.openxmlformats.org/drawingml/2006/main" xmlns:r="http://schemas.openxmlformats.org/officeDocument/2006/relationships" xmlns:p="http://schemas.openxmlformats.org/presentationml/2006/main">
  <p:tag name="DUPLICATEID" val="503e0a148d2042de9addfc0fab88644e"/>
</p:tagLst>
</file>

<file path=ppt/tags/tag165.xml><?xml version="1.0" encoding="utf-8"?>
<p:tagLst xmlns:a="http://schemas.openxmlformats.org/drawingml/2006/main" xmlns:r="http://schemas.openxmlformats.org/officeDocument/2006/relationships" xmlns:p="http://schemas.openxmlformats.org/presentationml/2006/main">
  <p:tag name="DUPLICATEID" val="0dd3b409040f426e8caf38560dc4eb24"/>
</p:tagLst>
</file>

<file path=ppt/tags/tag166.xml><?xml version="1.0" encoding="utf-8"?>
<p:tagLst xmlns:a="http://schemas.openxmlformats.org/drawingml/2006/main" xmlns:r="http://schemas.openxmlformats.org/officeDocument/2006/relationships" xmlns:p="http://schemas.openxmlformats.org/presentationml/2006/main">
  <p:tag name="DUPLICATEID" val="975edf7c01864ff0b0ee76c984d43bb3"/>
</p:tagLst>
</file>

<file path=ppt/tags/tag167.xml><?xml version="1.0" encoding="utf-8"?>
<p:tagLst xmlns:a="http://schemas.openxmlformats.org/drawingml/2006/main" xmlns:r="http://schemas.openxmlformats.org/officeDocument/2006/relationships" xmlns:p="http://schemas.openxmlformats.org/presentationml/2006/main">
  <p:tag name="DUPLICATEID" val="3b9dd800fc734f61bc21bbbfee09ec36"/>
</p:tagLst>
</file>

<file path=ppt/tags/tag168.xml><?xml version="1.0" encoding="utf-8"?>
<p:tagLst xmlns:a="http://schemas.openxmlformats.org/drawingml/2006/main" xmlns:r="http://schemas.openxmlformats.org/officeDocument/2006/relationships" xmlns:p="http://schemas.openxmlformats.org/presentationml/2006/main">
  <p:tag name="DUPLICATEID" val="e6c7cf2884cc4b89b97d1a515fd39b72"/>
</p:tagLst>
</file>

<file path=ppt/tags/tag169.xml><?xml version="1.0" encoding="utf-8"?>
<p:tagLst xmlns:a="http://schemas.openxmlformats.org/drawingml/2006/main" xmlns:r="http://schemas.openxmlformats.org/officeDocument/2006/relationships" xmlns:p="http://schemas.openxmlformats.org/presentationml/2006/main">
  <p:tag name="DUPLICATEID" val="4b8bf2c4001d40cdbedb13470452b1e0"/>
</p:tagLst>
</file>

<file path=ppt/tags/tag170.xml><?xml version="1.0" encoding="utf-8"?>
<p:tagLst xmlns:a="http://schemas.openxmlformats.org/drawingml/2006/main" xmlns:r="http://schemas.openxmlformats.org/officeDocument/2006/relationships" xmlns:p="http://schemas.openxmlformats.org/presentationml/2006/main">
  <p:tag name="AUDIO_ID" val="446"/>
  <p:tag name="ORIGINAL_AUDIO_FILEPATH" val="Z:\E\Project_MEW\C15038509011_SE15319_BPP_Tech_ISMv3_eLearning_CM\DTP\RU\Batch1\DTP\audios\3\Slide 34.mp3"/>
  <p:tag name="ELAPSEDTIME" val="175.24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71.xml><?xml version="1.0" encoding="utf-8"?>
<p:tagLst xmlns:a="http://schemas.openxmlformats.org/drawingml/2006/main" xmlns:r="http://schemas.openxmlformats.org/officeDocument/2006/relationships" xmlns:p="http://schemas.openxmlformats.org/presentationml/2006/main">
  <p:tag name="DUPLICATEID" val="fa2d06f25d0d40509fa1f59070d3cdb1"/>
</p:tagLst>
</file>

<file path=ppt/tags/tag172.xml><?xml version="1.0" encoding="utf-8"?>
<p:tagLst xmlns:a="http://schemas.openxmlformats.org/drawingml/2006/main" xmlns:r="http://schemas.openxmlformats.org/officeDocument/2006/relationships" xmlns:p="http://schemas.openxmlformats.org/presentationml/2006/main">
  <p:tag name="DUPLICATEID" val="ce97ac437c7c4024adbc6e9787c289c1"/>
</p:tagLst>
</file>

<file path=ppt/tags/tag173.xml><?xml version="1.0" encoding="utf-8"?>
<p:tagLst xmlns:a="http://schemas.openxmlformats.org/drawingml/2006/main" xmlns:r="http://schemas.openxmlformats.org/officeDocument/2006/relationships" xmlns:p="http://schemas.openxmlformats.org/presentationml/2006/main">
  <p:tag name="DUPLICATEID" val="f242fb795b774d4b983ab0a14e97b486"/>
</p:tagLst>
</file>

<file path=ppt/tags/tag174.xml><?xml version="1.0" encoding="utf-8"?>
<p:tagLst xmlns:a="http://schemas.openxmlformats.org/drawingml/2006/main" xmlns:r="http://schemas.openxmlformats.org/officeDocument/2006/relationships" xmlns:p="http://schemas.openxmlformats.org/presentationml/2006/main">
  <p:tag name="DUPLICATEID" val="7896ae227f1844c28932553a82c5bee8"/>
</p:tagLst>
</file>

<file path=ppt/tags/tag175.xml><?xml version="1.0" encoding="utf-8"?>
<p:tagLst xmlns:a="http://schemas.openxmlformats.org/drawingml/2006/main" xmlns:r="http://schemas.openxmlformats.org/officeDocument/2006/relationships" xmlns:p="http://schemas.openxmlformats.org/presentationml/2006/main">
  <p:tag name="DUPLICATEID" val="2c33383917ca48bfbd6e549e9431b898"/>
</p:tagLst>
</file>

<file path=ppt/tags/tag176.xml><?xml version="1.0" encoding="utf-8"?>
<p:tagLst xmlns:a="http://schemas.openxmlformats.org/drawingml/2006/main" xmlns:r="http://schemas.openxmlformats.org/officeDocument/2006/relationships" xmlns:p="http://schemas.openxmlformats.org/presentationml/2006/main">
  <p:tag name="DUPLICATEID" val="c01096bcbd204ce483409588db90aa2d"/>
</p:tagLst>
</file>

<file path=ppt/tags/tag177.xml><?xml version="1.0" encoding="utf-8"?>
<p:tagLst xmlns:a="http://schemas.openxmlformats.org/drawingml/2006/main" xmlns:r="http://schemas.openxmlformats.org/officeDocument/2006/relationships" xmlns:p="http://schemas.openxmlformats.org/presentationml/2006/main">
  <p:tag name="DUPLICATEID" val="05a50c08fcad485fb8df11e7195c17f5"/>
</p:tagLst>
</file>

<file path=ppt/tags/tag178.xml><?xml version="1.0" encoding="utf-8"?>
<p:tagLst xmlns:a="http://schemas.openxmlformats.org/drawingml/2006/main" xmlns:r="http://schemas.openxmlformats.org/officeDocument/2006/relationships" xmlns:p="http://schemas.openxmlformats.org/presentationml/2006/main">
  <p:tag name="AUDIO_ID" val="447"/>
  <p:tag name="ORIGINAL_AUDIO_FILEPATH" val="Z:\E\Project_MEW\C15038509011_SE15319_BPP_Tech_ISMv3_eLearning_CM\DTP\RU\Batch1\DTP\audios\3\Slide 35.mp3"/>
  <p:tag name="ELAPSEDTIME" val="146.9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79.xml><?xml version="1.0" encoding="utf-8"?>
<p:tagLst xmlns:a="http://schemas.openxmlformats.org/drawingml/2006/main" xmlns:r="http://schemas.openxmlformats.org/officeDocument/2006/relationships" xmlns:p="http://schemas.openxmlformats.org/presentationml/2006/main">
  <p:tag name="AUDIO_ID" val="448"/>
  <p:tag name="ORIGINAL_AUDIO_FILEPATH" val="Z:\E\Project_MEW\C15038509011_SE15319_BPP_Tech_ISMv3_eLearning_CM\DTP\RU\Batch1\DTP\audios\3\Slide 36.mp3"/>
  <p:tag name="ELAPSEDTIME" val="174.07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80.xml><?xml version="1.0" encoding="utf-8"?>
<p:tagLst xmlns:a="http://schemas.openxmlformats.org/drawingml/2006/main" xmlns:r="http://schemas.openxmlformats.org/officeDocument/2006/relationships" xmlns:p="http://schemas.openxmlformats.org/presentationml/2006/main">
  <p:tag name="DUPLICATEID" val="4a3edc5f5372455ba74372549ddd6220"/>
</p:tagLst>
</file>

<file path=ppt/tags/tag181.xml><?xml version="1.0" encoding="utf-8"?>
<p:tagLst xmlns:a="http://schemas.openxmlformats.org/drawingml/2006/main" xmlns:r="http://schemas.openxmlformats.org/officeDocument/2006/relationships" xmlns:p="http://schemas.openxmlformats.org/presentationml/2006/main">
  <p:tag name="DUPLICATEID" val="9258db1b57fe48d99a3b2b98fa5dfb99"/>
</p:tagLst>
</file>

<file path=ppt/tags/tag182.xml><?xml version="1.0" encoding="utf-8"?>
<p:tagLst xmlns:a="http://schemas.openxmlformats.org/drawingml/2006/main" xmlns:r="http://schemas.openxmlformats.org/officeDocument/2006/relationships" xmlns:p="http://schemas.openxmlformats.org/presentationml/2006/main">
  <p:tag name="DUPLICATEID" val="fa32888ac66a452e9b47f065d4aa0da8"/>
</p:tagLst>
</file>

<file path=ppt/tags/tag183.xml><?xml version="1.0" encoding="utf-8"?>
<p:tagLst xmlns:a="http://schemas.openxmlformats.org/drawingml/2006/main" xmlns:r="http://schemas.openxmlformats.org/officeDocument/2006/relationships" xmlns:p="http://schemas.openxmlformats.org/presentationml/2006/main">
  <p:tag name="DUPLICATEID" val="3fc1194025744bdba3dc0a52adaffb17"/>
</p:tagLst>
</file>

<file path=ppt/tags/tag184.xml><?xml version="1.0" encoding="utf-8"?>
<p:tagLst xmlns:a="http://schemas.openxmlformats.org/drawingml/2006/main" xmlns:r="http://schemas.openxmlformats.org/officeDocument/2006/relationships" xmlns:p="http://schemas.openxmlformats.org/presentationml/2006/main">
  <p:tag name="DUPLICATEID" val="67518fcf68f049e0be559352ddc1fbcd"/>
</p:tagLst>
</file>

<file path=ppt/tags/tag185.xml><?xml version="1.0" encoding="utf-8"?>
<p:tagLst xmlns:a="http://schemas.openxmlformats.org/drawingml/2006/main" xmlns:r="http://schemas.openxmlformats.org/officeDocument/2006/relationships" xmlns:p="http://schemas.openxmlformats.org/presentationml/2006/main">
  <p:tag name="DUPLICATEID" val="149bc3ec47884da48f6505ba0280ec41"/>
</p:tagLst>
</file>

<file path=ppt/tags/tag186.xml><?xml version="1.0" encoding="utf-8"?>
<p:tagLst xmlns:a="http://schemas.openxmlformats.org/drawingml/2006/main" xmlns:r="http://schemas.openxmlformats.org/officeDocument/2006/relationships" xmlns:p="http://schemas.openxmlformats.org/presentationml/2006/main">
  <p:tag name="DUPLICATEID" val="82aac4b80b354987a9285dd89ad59c2e"/>
</p:tagLst>
</file>

<file path=ppt/tags/tag187.xml><?xml version="1.0" encoding="utf-8"?>
<p:tagLst xmlns:a="http://schemas.openxmlformats.org/drawingml/2006/main" xmlns:r="http://schemas.openxmlformats.org/officeDocument/2006/relationships" xmlns:p="http://schemas.openxmlformats.org/presentationml/2006/main">
  <p:tag name="DUPLICATEID" val="bd0e7c013885445da79a0a76d74cd010"/>
</p:tagLst>
</file>

<file path=ppt/tags/tag188.xml><?xml version="1.0" encoding="utf-8"?>
<p:tagLst xmlns:a="http://schemas.openxmlformats.org/drawingml/2006/main" xmlns:r="http://schemas.openxmlformats.org/officeDocument/2006/relationships" xmlns:p="http://schemas.openxmlformats.org/presentationml/2006/main">
  <p:tag name="DUPLICATEID" val="ffd5af2882de4a9db06816efa384f464"/>
</p:tagLst>
</file>

<file path=ppt/tags/tag189.xml><?xml version="1.0" encoding="utf-8"?>
<p:tagLst xmlns:a="http://schemas.openxmlformats.org/drawingml/2006/main" xmlns:r="http://schemas.openxmlformats.org/officeDocument/2006/relationships" xmlns:p="http://schemas.openxmlformats.org/presentationml/2006/main">
  <p:tag name="DUPLICATEID" val="d56d26af9b864b148312513d863401b6"/>
</p:tagLst>
</file>

<file path=ppt/tags/tag190.xml><?xml version="1.0" encoding="utf-8"?>
<p:tagLst xmlns:a="http://schemas.openxmlformats.org/drawingml/2006/main" xmlns:r="http://schemas.openxmlformats.org/officeDocument/2006/relationships" xmlns:p="http://schemas.openxmlformats.org/presentationml/2006/main">
  <p:tag name="DUPLICATEID" val="185e070d0bf04f91bd2d7465734a3615"/>
</p:tagLst>
</file>

<file path=ppt/tags/tag191.xml><?xml version="1.0" encoding="utf-8"?>
<p:tagLst xmlns:a="http://schemas.openxmlformats.org/drawingml/2006/main" xmlns:r="http://schemas.openxmlformats.org/officeDocument/2006/relationships" xmlns:p="http://schemas.openxmlformats.org/presentationml/2006/main">
  <p:tag name="DUPLICATEID" val="ea5413256760449e8252d8ddd78ddeca"/>
</p:tagLst>
</file>

<file path=ppt/tags/tag192.xml><?xml version="1.0" encoding="utf-8"?>
<p:tagLst xmlns:a="http://schemas.openxmlformats.org/drawingml/2006/main" xmlns:r="http://schemas.openxmlformats.org/officeDocument/2006/relationships" xmlns:p="http://schemas.openxmlformats.org/presentationml/2006/main">
  <p:tag name="DUPLICATEID" val="e724cae6d5f547a8bdcee1c8d57c8f1d"/>
</p:tagLst>
</file>

<file path=ppt/tags/tag193.xml><?xml version="1.0" encoding="utf-8"?>
<p:tagLst xmlns:a="http://schemas.openxmlformats.org/drawingml/2006/main" xmlns:r="http://schemas.openxmlformats.org/officeDocument/2006/relationships" xmlns:p="http://schemas.openxmlformats.org/presentationml/2006/main">
  <p:tag name="DUPLICATEID" val="92491e6e46184fd29b739910bc3d9172"/>
</p:tagLst>
</file>

<file path=ppt/tags/tag194.xml><?xml version="1.0" encoding="utf-8"?>
<p:tagLst xmlns:a="http://schemas.openxmlformats.org/drawingml/2006/main" xmlns:r="http://schemas.openxmlformats.org/officeDocument/2006/relationships" xmlns:p="http://schemas.openxmlformats.org/presentationml/2006/main">
  <p:tag name="DUPLICATEID" val="ff1f967af2b142318df195178a228778"/>
</p:tagLst>
</file>

<file path=ppt/tags/tag195.xml><?xml version="1.0" encoding="utf-8"?>
<p:tagLst xmlns:a="http://schemas.openxmlformats.org/drawingml/2006/main" xmlns:r="http://schemas.openxmlformats.org/officeDocument/2006/relationships" xmlns:p="http://schemas.openxmlformats.org/presentationml/2006/main">
  <p:tag name="DUPLICATEID" val="da58f605ef134d50841b4ca9e6103550"/>
</p:tagLst>
</file>

<file path=ppt/tags/tag196.xml><?xml version="1.0" encoding="utf-8"?>
<p:tagLst xmlns:a="http://schemas.openxmlformats.org/drawingml/2006/main" xmlns:r="http://schemas.openxmlformats.org/officeDocument/2006/relationships" xmlns:p="http://schemas.openxmlformats.org/presentationml/2006/main">
  <p:tag name="DUPLICATEID" val="2338ba434a974b368fea6007eb1dc69a"/>
</p:tagLst>
</file>

<file path=ppt/tags/tag197.xml><?xml version="1.0" encoding="utf-8"?>
<p:tagLst xmlns:a="http://schemas.openxmlformats.org/drawingml/2006/main" xmlns:r="http://schemas.openxmlformats.org/officeDocument/2006/relationships" xmlns:p="http://schemas.openxmlformats.org/presentationml/2006/main">
  <p:tag name="DUPLICATEID" val="ff16280fe07c4073969f6a8a0cf4038f"/>
</p:tagLst>
</file>

<file path=ppt/tags/tag198.xml><?xml version="1.0" encoding="utf-8"?>
<p:tagLst xmlns:a="http://schemas.openxmlformats.org/drawingml/2006/main" xmlns:r="http://schemas.openxmlformats.org/officeDocument/2006/relationships" xmlns:p="http://schemas.openxmlformats.org/presentationml/2006/main">
  <p:tag name="DUPLICATEID" val="b2902adb72644e3fb9586a198ef03a8d"/>
</p:tagLst>
</file>

<file path=ppt/tags/tag199.xml><?xml version="1.0" encoding="utf-8"?>
<p:tagLst xmlns:a="http://schemas.openxmlformats.org/drawingml/2006/main" xmlns:r="http://schemas.openxmlformats.org/officeDocument/2006/relationships" xmlns:p="http://schemas.openxmlformats.org/presentationml/2006/main">
  <p:tag name="DUPLICATEID" val="8ebf741804a24614a6d461a908ee68ba"/>
</p:tagLst>
</file>

<file path=ppt/tags/tag200.xml><?xml version="1.0" encoding="utf-8"?>
<p:tagLst xmlns:a="http://schemas.openxmlformats.org/drawingml/2006/main" xmlns:r="http://schemas.openxmlformats.org/officeDocument/2006/relationships" xmlns:p="http://schemas.openxmlformats.org/presentationml/2006/main">
  <p:tag name="DUPLICATEID" val="6a216758b6c34f53982f2161e118d4fc"/>
</p:tagLst>
</file>

<file path=ppt/tags/tag201.xml><?xml version="1.0" encoding="utf-8"?>
<p:tagLst xmlns:a="http://schemas.openxmlformats.org/drawingml/2006/main" xmlns:r="http://schemas.openxmlformats.org/officeDocument/2006/relationships" xmlns:p="http://schemas.openxmlformats.org/presentationml/2006/main">
  <p:tag name="DUPLICATEID" val="65002b45d0a54f8a97bf7a4e34f5b1ca"/>
</p:tagLst>
</file>

<file path=ppt/tags/tag202.xml><?xml version="1.0" encoding="utf-8"?>
<p:tagLst xmlns:a="http://schemas.openxmlformats.org/drawingml/2006/main" xmlns:r="http://schemas.openxmlformats.org/officeDocument/2006/relationships" xmlns:p="http://schemas.openxmlformats.org/presentationml/2006/main">
  <p:tag name="DUPLICATEID" val="926fde7055e34b3ba0a9f2646cbb7b06"/>
</p:tagLst>
</file>

<file path=ppt/tags/tag203.xml><?xml version="1.0" encoding="utf-8"?>
<p:tagLst xmlns:a="http://schemas.openxmlformats.org/drawingml/2006/main" xmlns:r="http://schemas.openxmlformats.org/officeDocument/2006/relationships" xmlns:p="http://schemas.openxmlformats.org/presentationml/2006/main">
  <p:tag name="DUPLICATEID" val="1bc25a7437b34ccd9cfeedc47cd0db47"/>
</p:tagLst>
</file>

<file path=ppt/tags/tag204.xml><?xml version="1.0" encoding="utf-8"?>
<p:tagLst xmlns:a="http://schemas.openxmlformats.org/drawingml/2006/main" xmlns:r="http://schemas.openxmlformats.org/officeDocument/2006/relationships" xmlns:p="http://schemas.openxmlformats.org/presentationml/2006/main">
  <p:tag name="DUPLICATEID" val="7995b3250b294fd0a30ead710cf90881"/>
</p:tagLst>
</file>

<file path=ppt/tags/tag205.xml><?xml version="1.0" encoding="utf-8"?>
<p:tagLst xmlns:a="http://schemas.openxmlformats.org/drawingml/2006/main" xmlns:r="http://schemas.openxmlformats.org/officeDocument/2006/relationships" xmlns:p="http://schemas.openxmlformats.org/presentationml/2006/main">
  <p:tag name="DUPLICATEID" val="4735cb7d5f844dcda2c0f8ae632efe86"/>
</p:tagLst>
</file>

<file path=ppt/tags/tag206.xml><?xml version="1.0" encoding="utf-8"?>
<p:tagLst xmlns:a="http://schemas.openxmlformats.org/drawingml/2006/main" xmlns:r="http://schemas.openxmlformats.org/officeDocument/2006/relationships" xmlns:p="http://schemas.openxmlformats.org/presentationml/2006/main">
  <p:tag name="DUPLICATEID" val="94e0741ae8bc43fb99295c5ca11553f5"/>
</p:tagLst>
</file>

<file path=ppt/tags/tag207.xml><?xml version="1.0" encoding="utf-8"?>
<p:tagLst xmlns:a="http://schemas.openxmlformats.org/drawingml/2006/main" xmlns:r="http://schemas.openxmlformats.org/officeDocument/2006/relationships" xmlns:p="http://schemas.openxmlformats.org/presentationml/2006/main">
  <p:tag name="DUPLICATEID" val="9a05dd2ba6de43c7b25e29a9e97e9648"/>
</p:tagLst>
</file>

<file path=ppt/tags/tag208.xml><?xml version="1.0" encoding="utf-8"?>
<p:tagLst xmlns:a="http://schemas.openxmlformats.org/drawingml/2006/main" xmlns:r="http://schemas.openxmlformats.org/officeDocument/2006/relationships" xmlns:p="http://schemas.openxmlformats.org/presentationml/2006/main">
  <p:tag name="DUPLICATEID" val="fa1c5d38a11c48919f104079032d940f"/>
</p:tagLst>
</file>

<file path=ppt/tags/tag209.xml><?xml version="1.0" encoding="utf-8"?>
<p:tagLst xmlns:a="http://schemas.openxmlformats.org/drawingml/2006/main" xmlns:r="http://schemas.openxmlformats.org/officeDocument/2006/relationships" xmlns:p="http://schemas.openxmlformats.org/presentationml/2006/main">
  <p:tag name="DUPLICATEID" val="e192cc1c45344c6eba0ffffb608e0e14"/>
</p:tagLst>
</file>

<file path=ppt/tags/tag210.xml><?xml version="1.0" encoding="utf-8"?>
<p:tagLst xmlns:a="http://schemas.openxmlformats.org/drawingml/2006/main" xmlns:r="http://schemas.openxmlformats.org/officeDocument/2006/relationships" xmlns:p="http://schemas.openxmlformats.org/presentationml/2006/main">
  <p:tag name="AUDIO_ID" val="449"/>
  <p:tag name="ORIGINAL_AUDIO_FILEPATH" val="Z:\E\Project_MEW\C15038509011_SE15319_BPP_Tech_ISMv3_eLearning_CM\DTP\RU\Batch1\DTP\audios\3\Slide 37.mp3"/>
  <p:tag name="ELAPSEDTIME" val="141.6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11.xml><?xml version="1.0" encoding="utf-8"?>
<p:tagLst xmlns:a="http://schemas.openxmlformats.org/drawingml/2006/main" xmlns:r="http://schemas.openxmlformats.org/officeDocument/2006/relationships" xmlns:p="http://schemas.openxmlformats.org/presentationml/2006/main">
  <p:tag name="AUDIO_ID" val="450"/>
  <p:tag name="ORIGINAL_AUDIO_FILEPATH" val="Z:\E\Project_MEW\C15038509011_SE15319_BPP_Tech_ISMv3_eLearning_CM\DTP\RU\Batch1\DTP\audios\3\Slide 38.mp3"/>
  <p:tag name="ELAPSEDTIME" val="151.3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12.xml><?xml version="1.0" encoding="utf-8"?>
<p:tagLst xmlns:a="http://schemas.openxmlformats.org/drawingml/2006/main" xmlns:r="http://schemas.openxmlformats.org/officeDocument/2006/relationships" xmlns:p="http://schemas.openxmlformats.org/presentationml/2006/main">
  <p:tag name="AUDIO_ID" val="452"/>
  <p:tag name="ORIGINAL_AUDIO_FILEPATH" val="Z:\E\Project_MEW\C15038509011_SE15319_BPP_Tech_ISMv3_eLearning_CM\DTP\RU\Batch1\DTP\audios\3\39_40.wav"/>
  <p:tag name="ELAPSEDTIME" val="242.06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13.xml><?xml version="1.0" encoding="utf-8"?>
<p:tagLst xmlns:a="http://schemas.openxmlformats.org/drawingml/2006/main" xmlns:r="http://schemas.openxmlformats.org/officeDocument/2006/relationships" xmlns:p="http://schemas.openxmlformats.org/presentationml/2006/main">
  <p:tag name="AUDIO_ID" val="454"/>
  <p:tag name="ORIGINAL_AUDIO_FILEPATH" val="Z:\E\Project_MEW\C15038509011_SE15319_BPP_Tech_ISMv3_eLearning_CM\DTP\RU\Batch1\DTP\audios\3\41_42.wav"/>
  <p:tag name="ELAPSEDTIME" val="220.0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14.xml><?xml version="1.0" encoding="utf-8"?>
<p:tagLst xmlns:a="http://schemas.openxmlformats.org/drawingml/2006/main" xmlns:r="http://schemas.openxmlformats.org/officeDocument/2006/relationships" xmlns:p="http://schemas.openxmlformats.org/presentationml/2006/main">
  <p:tag name="AUDIO_ID" val="456"/>
  <p:tag name="ORIGINAL_AUDIO_FILEPATH" val="Z:\E\Project_MEW\C15038509011_SE15319_BPP_Tech_ISMv3_eLearning_CM\DTP\RU\Batch1\DTP\audios\3\43_44.wav"/>
  <p:tag name="ELAPSEDTIME" val="320.5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15.xml><?xml version="1.0" encoding="utf-8"?>
<p:tagLst xmlns:a="http://schemas.openxmlformats.org/drawingml/2006/main" xmlns:r="http://schemas.openxmlformats.org/officeDocument/2006/relationships" xmlns:p="http://schemas.openxmlformats.org/presentationml/2006/main">
  <p:tag name="DUPLICATEID" val="ce571ab8d87d4a179d58be1728078bfa"/>
</p:tagLst>
</file>

<file path=ppt/tags/tag216.xml><?xml version="1.0" encoding="utf-8"?>
<p:tagLst xmlns:a="http://schemas.openxmlformats.org/drawingml/2006/main" xmlns:r="http://schemas.openxmlformats.org/officeDocument/2006/relationships" xmlns:p="http://schemas.openxmlformats.org/presentationml/2006/main">
  <p:tag name="DUPLICATEID" val="fb8c60eded514e33bddeca31fb09beac"/>
</p:tagLst>
</file>

<file path=ppt/tags/tag217.xml><?xml version="1.0" encoding="utf-8"?>
<p:tagLst xmlns:a="http://schemas.openxmlformats.org/drawingml/2006/main" xmlns:r="http://schemas.openxmlformats.org/officeDocument/2006/relationships" xmlns:p="http://schemas.openxmlformats.org/presentationml/2006/main">
  <p:tag name="DUPLICATEID" val="16ceda29808243d0b6123e08d03fd5b8"/>
</p:tagLst>
</file>

<file path=ppt/tags/tag218.xml><?xml version="1.0" encoding="utf-8"?>
<p:tagLst xmlns:a="http://schemas.openxmlformats.org/drawingml/2006/main" xmlns:r="http://schemas.openxmlformats.org/officeDocument/2006/relationships" xmlns:p="http://schemas.openxmlformats.org/presentationml/2006/main">
  <p:tag name="DUPLICATEID" val="e2d19bb1269f4f4cb0d97aa9d026ed11"/>
</p:tagLst>
</file>

<file path=ppt/tags/tag219.xml><?xml version="1.0" encoding="utf-8"?>
<p:tagLst xmlns:a="http://schemas.openxmlformats.org/drawingml/2006/main" xmlns:r="http://schemas.openxmlformats.org/officeDocument/2006/relationships" xmlns:p="http://schemas.openxmlformats.org/presentationml/2006/main">
  <p:tag name="DUPLICATEID" val="4eaa5f6757334b0095fce09dd00fa35c"/>
</p:tagLst>
</file>

<file path=ppt/tags/tag220.xml><?xml version="1.0" encoding="utf-8"?>
<p:tagLst xmlns:a="http://schemas.openxmlformats.org/drawingml/2006/main" xmlns:r="http://schemas.openxmlformats.org/officeDocument/2006/relationships" xmlns:p="http://schemas.openxmlformats.org/presentationml/2006/main">
  <p:tag name="DUPLICATEID" val="575a91cd59094b1a959d07d04c7a4237"/>
</p:tagLst>
</file>

<file path=ppt/tags/tag221.xml><?xml version="1.0" encoding="utf-8"?>
<p:tagLst xmlns:a="http://schemas.openxmlformats.org/drawingml/2006/main" xmlns:r="http://schemas.openxmlformats.org/officeDocument/2006/relationships" xmlns:p="http://schemas.openxmlformats.org/presentationml/2006/main">
  <p:tag name="DUPLICATEID" val="dd7a617ca353403e84287660bbf1dcf7"/>
</p:tagLst>
</file>

<file path=ppt/tags/tag222.xml><?xml version="1.0" encoding="utf-8"?>
<p:tagLst xmlns:a="http://schemas.openxmlformats.org/drawingml/2006/main" xmlns:r="http://schemas.openxmlformats.org/officeDocument/2006/relationships" xmlns:p="http://schemas.openxmlformats.org/presentationml/2006/main">
  <p:tag name="DUPLICATEID" val="487cfbbcbf77447ea759b57326e77ac0"/>
</p:tagLst>
</file>

<file path=ppt/tags/tag223.xml><?xml version="1.0" encoding="utf-8"?>
<p:tagLst xmlns:a="http://schemas.openxmlformats.org/drawingml/2006/main" xmlns:r="http://schemas.openxmlformats.org/officeDocument/2006/relationships" xmlns:p="http://schemas.openxmlformats.org/presentationml/2006/main">
  <p:tag name="DUPLICATEID" val="4aac39f1f1d14be683b682d362d9cb65"/>
</p:tagLst>
</file>

<file path=ppt/tags/tag224.xml><?xml version="1.0" encoding="utf-8"?>
<p:tagLst xmlns:a="http://schemas.openxmlformats.org/drawingml/2006/main" xmlns:r="http://schemas.openxmlformats.org/officeDocument/2006/relationships" xmlns:p="http://schemas.openxmlformats.org/presentationml/2006/main">
  <p:tag name="DUPLICATEID" val="4515952b9fd94072b708320371387d4c"/>
</p:tagLst>
</file>

<file path=ppt/tags/tag225.xml><?xml version="1.0" encoding="utf-8"?>
<p:tagLst xmlns:a="http://schemas.openxmlformats.org/drawingml/2006/main" xmlns:r="http://schemas.openxmlformats.org/officeDocument/2006/relationships" xmlns:p="http://schemas.openxmlformats.org/presentationml/2006/main">
  <p:tag name="DUPLICATEID" val="d8236a4f71614024b49a9ef37fb752fe"/>
</p:tagLst>
</file>

<file path=ppt/tags/tag226.xml><?xml version="1.0" encoding="utf-8"?>
<p:tagLst xmlns:a="http://schemas.openxmlformats.org/drawingml/2006/main" xmlns:r="http://schemas.openxmlformats.org/officeDocument/2006/relationships" xmlns:p="http://schemas.openxmlformats.org/presentationml/2006/main">
  <p:tag name="DUPLICATEID" val="62c8fac45e774c16bc083d5b6b64d0f6"/>
</p:tagLst>
</file>

<file path=ppt/tags/tag227.xml><?xml version="1.0" encoding="utf-8"?>
<p:tagLst xmlns:a="http://schemas.openxmlformats.org/drawingml/2006/main" xmlns:r="http://schemas.openxmlformats.org/officeDocument/2006/relationships" xmlns:p="http://schemas.openxmlformats.org/presentationml/2006/main">
  <p:tag name="DUPLICATEID" val="b1a6fe2e1255467285176fdd0116a927"/>
</p:tagLst>
</file>

<file path=ppt/tags/tag228.xml><?xml version="1.0" encoding="utf-8"?>
<p:tagLst xmlns:a="http://schemas.openxmlformats.org/drawingml/2006/main" xmlns:r="http://schemas.openxmlformats.org/officeDocument/2006/relationships" xmlns:p="http://schemas.openxmlformats.org/presentationml/2006/main">
  <p:tag name="DUPLICATEID" val="06f9900db7b941359c4e255bc370f633"/>
</p:tagLst>
</file>

<file path=ppt/tags/tag229.xml><?xml version="1.0" encoding="utf-8"?>
<p:tagLst xmlns:a="http://schemas.openxmlformats.org/drawingml/2006/main" xmlns:r="http://schemas.openxmlformats.org/officeDocument/2006/relationships" xmlns:p="http://schemas.openxmlformats.org/presentationml/2006/main">
  <p:tag name="DUPLICATEID" val="c358a5bd1e3c4c2e89a2b30d22d7e285"/>
</p:tagLst>
</file>

<file path=ppt/tags/tag230.xml><?xml version="1.0" encoding="utf-8"?>
<p:tagLst xmlns:a="http://schemas.openxmlformats.org/drawingml/2006/main" xmlns:r="http://schemas.openxmlformats.org/officeDocument/2006/relationships" xmlns:p="http://schemas.openxmlformats.org/presentationml/2006/main">
  <p:tag name="DUPLICATEID" val="239949666bf94e319c319a06035a3cf5"/>
</p:tagLst>
</file>

<file path=ppt/tags/tag231.xml><?xml version="1.0" encoding="utf-8"?>
<p:tagLst xmlns:a="http://schemas.openxmlformats.org/drawingml/2006/main" xmlns:r="http://schemas.openxmlformats.org/officeDocument/2006/relationships" xmlns:p="http://schemas.openxmlformats.org/presentationml/2006/main">
  <p:tag name="DUPLICATEID" val="901e56051bcb40ac90e64c4fff10d6bc"/>
</p:tagLst>
</file>

<file path=ppt/tags/tag232.xml><?xml version="1.0" encoding="utf-8"?>
<p:tagLst xmlns:a="http://schemas.openxmlformats.org/drawingml/2006/main" xmlns:r="http://schemas.openxmlformats.org/officeDocument/2006/relationships" xmlns:p="http://schemas.openxmlformats.org/presentationml/2006/main">
  <p:tag name="DUPLICATEID" val="37e83d27485245d5ac5c090d2b51c7f5"/>
</p:tagLst>
</file>

<file path=ppt/tags/tag233.xml><?xml version="1.0" encoding="utf-8"?>
<p:tagLst xmlns:a="http://schemas.openxmlformats.org/drawingml/2006/main" xmlns:r="http://schemas.openxmlformats.org/officeDocument/2006/relationships" xmlns:p="http://schemas.openxmlformats.org/presentationml/2006/main">
  <p:tag name="DUPLICATEID" val="42d0f79dd4404efaab00aa21bf06dea6"/>
</p:tagLst>
</file>

<file path=ppt/tags/tag234.xml><?xml version="1.0" encoding="utf-8"?>
<p:tagLst xmlns:a="http://schemas.openxmlformats.org/drawingml/2006/main" xmlns:r="http://schemas.openxmlformats.org/officeDocument/2006/relationships" xmlns:p="http://schemas.openxmlformats.org/presentationml/2006/main">
  <p:tag name="AUDIO_ID" val="458"/>
  <p:tag name="ORIGINAL_AUDIO_FILEPATH" val="Z:\E\Project_MEW\C15038509011_SE15319_BPP_Tech_ISMv3_eLearning_CM\DTP\RU\Batch1\DTP\audios\3\Slide 45.mp3"/>
  <p:tag name="ELAPSEDTIME" val="176.13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35.xml><?xml version="1.0" encoding="utf-8"?>
<p:tagLst xmlns:a="http://schemas.openxmlformats.org/drawingml/2006/main" xmlns:r="http://schemas.openxmlformats.org/officeDocument/2006/relationships" xmlns:p="http://schemas.openxmlformats.org/presentationml/2006/main">
  <p:tag name="AUDIO_ID" val="459"/>
  <p:tag name="ORIGINAL_AUDIO_FILEPATH" val="Z:\E\Project_MEW\C15038509011_SE15319_BPP_Tech_ISMv3_eLearning_CM\DTP\RU\Batch1\DTP\audios\3\Slide 46.mp3"/>
  <p:tag name="ELAPSEDTIME" val="17.85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236.xml><?xml version="1.0" encoding="utf-8"?>
<p:tagLst xmlns:a="http://schemas.openxmlformats.org/drawingml/2006/main" xmlns:r="http://schemas.openxmlformats.org/officeDocument/2006/relationships" xmlns:p="http://schemas.openxmlformats.org/presentationml/2006/main">
  <p:tag name="AUDIO_ID" val="460"/>
  <p:tag name="ORIGINAL_AUDIO_FILEPATH" val="Z:\E\Project_MEW\C15038509011_SE15319_BPP_Tech_ISMv3_eLearning_CM\DTP\RU\Batch1\DTP\audios\3\Slide 47.mp3"/>
  <p:tag name="ELAPSEDTIME" val="18.14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237.xml><?xml version="1.0" encoding="utf-8"?>
<p:tagLst xmlns:a="http://schemas.openxmlformats.org/drawingml/2006/main" xmlns:r="http://schemas.openxmlformats.org/officeDocument/2006/relationships" xmlns:p="http://schemas.openxmlformats.org/presentationml/2006/main">
  <p:tag name="AUDIO_ID" val="461"/>
  <p:tag name="ORIGINAL_AUDIO_FILEPATH" val="Z:\E\Project_MEW\C15038509011_SE15319_BPP_Tech_ISMv3_eLearning_CM\DTP\RU\Batch1\DTP\audios\3\Slide 48.mp3"/>
  <p:tag name="ELAPSEDTIME" val="111.79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6"/>
</p:tagLst>
</file>

<file path=ppt/tags/tag238.xml><?xml version="1.0" encoding="utf-8"?>
<p:tagLst xmlns:a="http://schemas.openxmlformats.org/drawingml/2006/main" xmlns:r="http://schemas.openxmlformats.org/officeDocument/2006/relationships" xmlns:p="http://schemas.openxmlformats.org/presentationml/2006/main">
  <p:tag name="DUPLICATEID" val="2c65d20c8400469b9bb3e634f13451b0"/>
</p:tagLst>
</file>

<file path=ppt/tags/tag239.xml><?xml version="1.0" encoding="utf-8"?>
<p:tagLst xmlns:a="http://schemas.openxmlformats.org/drawingml/2006/main" xmlns:r="http://schemas.openxmlformats.org/officeDocument/2006/relationships" xmlns:p="http://schemas.openxmlformats.org/presentationml/2006/main">
  <p:tag name="DUPLICATEID" val="71d18af371804aa49ff121f21176cdf1"/>
</p:tagLst>
</file>

<file path=ppt/tags/tag240.xml><?xml version="1.0" encoding="utf-8"?>
<p:tagLst xmlns:a="http://schemas.openxmlformats.org/drawingml/2006/main" xmlns:r="http://schemas.openxmlformats.org/officeDocument/2006/relationships" xmlns:p="http://schemas.openxmlformats.org/presentationml/2006/main">
  <p:tag name="DUPLICATEID" val="668608f408c24d86add33aad94c5a831"/>
</p:tagLst>
</file>

<file path=ppt/tags/tag241.xml><?xml version="1.0" encoding="utf-8"?>
<p:tagLst xmlns:a="http://schemas.openxmlformats.org/drawingml/2006/main" xmlns:r="http://schemas.openxmlformats.org/officeDocument/2006/relationships" xmlns:p="http://schemas.openxmlformats.org/presentationml/2006/main">
  <p:tag name="DUPLICATEID" val="e697643cd20b4b94afb7a16a3e601498"/>
</p:tagLst>
</file>

<file path=ppt/tags/tag242.xml><?xml version="1.0" encoding="utf-8"?>
<p:tagLst xmlns:a="http://schemas.openxmlformats.org/drawingml/2006/main" xmlns:r="http://schemas.openxmlformats.org/officeDocument/2006/relationships" xmlns:p="http://schemas.openxmlformats.org/presentationml/2006/main">
  <p:tag name="DUPLICATEID" val="75ae2e58dbcc491ba655304f0d97ba1d"/>
</p:tagLst>
</file>

<file path=ppt/tags/tag243.xml><?xml version="1.0" encoding="utf-8"?>
<p:tagLst xmlns:a="http://schemas.openxmlformats.org/drawingml/2006/main" xmlns:r="http://schemas.openxmlformats.org/officeDocument/2006/relationships" xmlns:p="http://schemas.openxmlformats.org/presentationml/2006/main">
  <p:tag name="DUPLICATEID" val="677a810e242a48eeaa9f45b43b2f15ff"/>
</p:tagLst>
</file>

<file path=ppt/tags/tag244.xml><?xml version="1.0" encoding="utf-8"?>
<p:tagLst xmlns:a="http://schemas.openxmlformats.org/drawingml/2006/main" xmlns:r="http://schemas.openxmlformats.org/officeDocument/2006/relationships" xmlns:p="http://schemas.openxmlformats.org/presentationml/2006/main">
  <p:tag name="DUPLICATEID" val="e5ba69e736cd4cac8b4c6a9c70e098d4"/>
</p:tagLst>
</file>

<file path=ppt/tags/tag245.xml><?xml version="1.0" encoding="utf-8"?>
<p:tagLst xmlns:a="http://schemas.openxmlformats.org/drawingml/2006/main" xmlns:r="http://schemas.openxmlformats.org/officeDocument/2006/relationships" xmlns:p="http://schemas.openxmlformats.org/presentationml/2006/main">
  <p:tag name="DUPLICATEID" val="a84ebeac41b541f08f45754dd099c593"/>
</p:tagLst>
</file>

<file path=ppt/tags/tag246.xml><?xml version="1.0" encoding="utf-8"?>
<p:tagLst xmlns:a="http://schemas.openxmlformats.org/drawingml/2006/main" xmlns:r="http://schemas.openxmlformats.org/officeDocument/2006/relationships" xmlns:p="http://schemas.openxmlformats.org/presentationml/2006/main">
  <p:tag name="DUPLICATEID" val="b7646e7bceca4761a8528fe2386389db"/>
</p:tagLst>
</file>

<file path=ppt/tags/tag247.xml><?xml version="1.0" encoding="utf-8"?>
<p:tagLst xmlns:a="http://schemas.openxmlformats.org/drawingml/2006/main" xmlns:r="http://schemas.openxmlformats.org/officeDocument/2006/relationships" xmlns:p="http://schemas.openxmlformats.org/presentationml/2006/main">
  <p:tag name="DUPLICATEID" val="e49ed0349dec442bbdd881d781ec37af"/>
</p:tagLst>
</file>

<file path=ppt/tags/tag248.xml><?xml version="1.0" encoding="utf-8"?>
<p:tagLst xmlns:a="http://schemas.openxmlformats.org/drawingml/2006/main" xmlns:r="http://schemas.openxmlformats.org/officeDocument/2006/relationships" xmlns:p="http://schemas.openxmlformats.org/presentationml/2006/main">
  <p:tag name="DUPLICATEID" val="d8ba3c4315be40f18745f4818a6f6bdb"/>
</p:tagLst>
</file>

<file path=ppt/tags/tag249.xml><?xml version="1.0" encoding="utf-8"?>
<p:tagLst xmlns:a="http://schemas.openxmlformats.org/drawingml/2006/main" xmlns:r="http://schemas.openxmlformats.org/officeDocument/2006/relationships" xmlns:p="http://schemas.openxmlformats.org/presentationml/2006/main">
  <p:tag name="DUPLICATEID" val="19ad01a90b2d4563ac90732b2a083754"/>
</p:tagLst>
</file>

<file path=ppt/tags/tag250.xml><?xml version="1.0" encoding="utf-8"?>
<p:tagLst xmlns:a="http://schemas.openxmlformats.org/drawingml/2006/main" xmlns:r="http://schemas.openxmlformats.org/officeDocument/2006/relationships" xmlns:p="http://schemas.openxmlformats.org/presentationml/2006/main">
  <p:tag name="DUPLICATEID" val="71fe39c13fa54fd2bd24307b60e97fb3"/>
</p:tagLst>
</file>

<file path=ppt/tags/tag251.xml><?xml version="1.0" encoding="utf-8"?>
<p:tagLst xmlns:a="http://schemas.openxmlformats.org/drawingml/2006/main" xmlns:r="http://schemas.openxmlformats.org/officeDocument/2006/relationships" xmlns:p="http://schemas.openxmlformats.org/presentationml/2006/main">
  <p:tag name="DUPLICATEID" val="fd37412e87ad42f8be6fd7644ec84819"/>
</p:tagLst>
</file>

<file path=ppt/tags/tag252.xml><?xml version="1.0" encoding="utf-8"?>
<p:tagLst xmlns:a="http://schemas.openxmlformats.org/drawingml/2006/main" xmlns:r="http://schemas.openxmlformats.org/officeDocument/2006/relationships" xmlns:p="http://schemas.openxmlformats.org/presentationml/2006/main">
  <p:tag name="DUPLICATEID" val="ccd2f038798c4afc97a065562caff5bc"/>
</p:tagLst>
</file>

<file path=ppt/tags/tag253.xml><?xml version="1.0" encoding="utf-8"?>
<p:tagLst xmlns:a="http://schemas.openxmlformats.org/drawingml/2006/main" xmlns:r="http://schemas.openxmlformats.org/officeDocument/2006/relationships" xmlns:p="http://schemas.openxmlformats.org/presentationml/2006/main">
  <p:tag name="DUPLICATEID" val="e0018a5830734aa198f3854bf32a7085"/>
</p:tagLst>
</file>

<file path=ppt/tags/tag254.xml><?xml version="1.0" encoding="utf-8"?>
<p:tagLst xmlns:a="http://schemas.openxmlformats.org/drawingml/2006/main" xmlns:r="http://schemas.openxmlformats.org/officeDocument/2006/relationships" xmlns:p="http://schemas.openxmlformats.org/presentationml/2006/main">
  <p:tag name="DUPLICATEID" val="699c34b1b94a46d0b4248a0bcaf39dfd"/>
</p:tagLst>
</file>

<file path=ppt/tags/tag255.xml><?xml version="1.0" encoding="utf-8"?>
<p:tagLst xmlns:a="http://schemas.openxmlformats.org/drawingml/2006/main" xmlns:r="http://schemas.openxmlformats.org/officeDocument/2006/relationships" xmlns:p="http://schemas.openxmlformats.org/presentationml/2006/main">
  <p:tag name="DUPLICATEID" val="0ed801468d1a45a4ade11ea11b53a8c0"/>
</p:tagLst>
</file>

<file path=ppt/tags/tag256.xml><?xml version="1.0" encoding="utf-8"?>
<p:tagLst xmlns:a="http://schemas.openxmlformats.org/drawingml/2006/main" xmlns:r="http://schemas.openxmlformats.org/officeDocument/2006/relationships" xmlns:p="http://schemas.openxmlformats.org/presentationml/2006/main">
  <p:tag name="DUPLICATEID" val="7e0c6cbf41614bb482ea3c085245fb30"/>
</p:tagLst>
</file>

<file path=ppt/tags/tag257.xml><?xml version="1.0" encoding="utf-8"?>
<p:tagLst xmlns:a="http://schemas.openxmlformats.org/drawingml/2006/main" xmlns:r="http://schemas.openxmlformats.org/officeDocument/2006/relationships" xmlns:p="http://schemas.openxmlformats.org/presentationml/2006/main">
  <p:tag name="DUPLICATEID" val="1004b88ac81b4972b95da37da72d0a83"/>
</p:tagLst>
</file>

<file path=ppt/tags/tag258.xml><?xml version="1.0" encoding="utf-8"?>
<p:tagLst xmlns:a="http://schemas.openxmlformats.org/drawingml/2006/main" xmlns:r="http://schemas.openxmlformats.org/officeDocument/2006/relationships" xmlns:p="http://schemas.openxmlformats.org/presentationml/2006/main">
  <p:tag name="DUPLICATEID" val="2102b5e092bc4665b8043e8399f6d7a2"/>
</p:tagLst>
</file>

<file path=ppt/tags/tag259.xml><?xml version="1.0" encoding="utf-8"?>
<p:tagLst xmlns:a="http://schemas.openxmlformats.org/drawingml/2006/main" xmlns:r="http://schemas.openxmlformats.org/officeDocument/2006/relationships" xmlns:p="http://schemas.openxmlformats.org/presentationml/2006/main">
  <p:tag name="DUPLICATEID" val="cffd56f9efdc436c9dba47efcfd433dd"/>
</p:tagLst>
</file>

<file path=ppt/tags/tag260.xml><?xml version="1.0" encoding="utf-8"?>
<p:tagLst xmlns:a="http://schemas.openxmlformats.org/drawingml/2006/main" xmlns:r="http://schemas.openxmlformats.org/officeDocument/2006/relationships" xmlns:p="http://schemas.openxmlformats.org/presentationml/2006/main">
  <p:tag name="DUPLICATEID" val="bd8fc22f3ac94e70a34e9fef12608d36"/>
</p:tagLst>
</file>

<file path=ppt/tags/tag261.xml><?xml version="1.0" encoding="utf-8"?>
<p:tagLst xmlns:a="http://schemas.openxmlformats.org/drawingml/2006/main" xmlns:r="http://schemas.openxmlformats.org/officeDocument/2006/relationships" xmlns:p="http://schemas.openxmlformats.org/presentationml/2006/main">
  <p:tag name="DUPLICATEID" val="93a8fe59cab24681a42b755cb454c62c"/>
</p:tagLst>
</file>

<file path=ppt/tags/tag262.xml><?xml version="1.0" encoding="utf-8"?>
<p:tagLst xmlns:a="http://schemas.openxmlformats.org/drawingml/2006/main" xmlns:r="http://schemas.openxmlformats.org/officeDocument/2006/relationships" xmlns:p="http://schemas.openxmlformats.org/presentationml/2006/main">
  <p:tag name="AUDIO_ID" val="462"/>
  <p:tag name="ORIGINAL_AUDIO_FILEPATH" val="Z:\E\Project_MEW\C15038509011_SE15319_BPP_Tech_ISMv3_eLearning_CM\DTP\RU\Batch1\DTP\audios\3\Slide 49.mp3"/>
  <p:tag name="ELAPSEDTIME" val="129.31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6"/>
</p:tagLst>
</file>

<file path=ppt/tags/tag263.xml><?xml version="1.0" encoding="utf-8"?>
<p:tagLst xmlns:a="http://schemas.openxmlformats.org/drawingml/2006/main" xmlns:r="http://schemas.openxmlformats.org/officeDocument/2006/relationships" xmlns:p="http://schemas.openxmlformats.org/presentationml/2006/main">
  <p:tag name="DUPLICATEID" val="479a74ac4de54125a4570d8326ae4e44"/>
</p:tagLst>
</file>

<file path=ppt/tags/tag264.xml><?xml version="1.0" encoding="utf-8"?>
<p:tagLst xmlns:a="http://schemas.openxmlformats.org/drawingml/2006/main" xmlns:r="http://schemas.openxmlformats.org/officeDocument/2006/relationships" xmlns:p="http://schemas.openxmlformats.org/presentationml/2006/main">
  <p:tag name="DUPLICATEID" val="b45ebee6964147da8cab96372669d214"/>
</p:tagLst>
</file>

<file path=ppt/tags/tag265.xml><?xml version="1.0" encoding="utf-8"?>
<p:tagLst xmlns:a="http://schemas.openxmlformats.org/drawingml/2006/main" xmlns:r="http://schemas.openxmlformats.org/officeDocument/2006/relationships" xmlns:p="http://schemas.openxmlformats.org/presentationml/2006/main">
  <p:tag name="DUPLICATEID" val="0c84e4d8809748fd91b384d3109309be"/>
</p:tagLst>
</file>

<file path=ppt/tags/tag266.xml><?xml version="1.0" encoding="utf-8"?>
<p:tagLst xmlns:a="http://schemas.openxmlformats.org/drawingml/2006/main" xmlns:r="http://schemas.openxmlformats.org/officeDocument/2006/relationships" xmlns:p="http://schemas.openxmlformats.org/presentationml/2006/main">
  <p:tag name="DUPLICATEID" val="f10ab005742e465d83363de8e47a0e72"/>
</p:tagLst>
</file>

<file path=ppt/tags/tag267.xml><?xml version="1.0" encoding="utf-8"?>
<p:tagLst xmlns:a="http://schemas.openxmlformats.org/drawingml/2006/main" xmlns:r="http://schemas.openxmlformats.org/officeDocument/2006/relationships" xmlns:p="http://schemas.openxmlformats.org/presentationml/2006/main">
  <p:tag name="DUPLICATEID" val="4a729c08912c49fd9034987fbcb6df9c"/>
</p:tagLst>
</file>

<file path=ppt/tags/tag268.xml><?xml version="1.0" encoding="utf-8"?>
<p:tagLst xmlns:a="http://schemas.openxmlformats.org/drawingml/2006/main" xmlns:r="http://schemas.openxmlformats.org/officeDocument/2006/relationships" xmlns:p="http://schemas.openxmlformats.org/presentationml/2006/main">
  <p:tag name="DUPLICATEID" val="8bb9bd1cfe2340b5b6983fe7977a4300"/>
</p:tagLst>
</file>

<file path=ppt/tags/tag269.xml><?xml version="1.0" encoding="utf-8"?>
<p:tagLst xmlns:a="http://schemas.openxmlformats.org/drawingml/2006/main" xmlns:r="http://schemas.openxmlformats.org/officeDocument/2006/relationships" xmlns:p="http://schemas.openxmlformats.org/presentationml/2006/main">
  <p:tag name="DUPLICATEID" val="3b8cef92c2954c24996036f2ed64a768"/>
</p:tagLst>
</file>

<file path=ppt/tags/tag270.xml><?xml version="1.0" encoding="utf-8"?>
<p:tagLst xmlns:a="http://schemas.openxmlformats.org/drawingml/2006/main" xmlns:r="http://schemas.openxmlformats.org/officeDocument/2006/relationships" xmlns:p="http://schemas.openxmlformats.org/presentationml/2006/main">
  <p:tag name="DUPLICATEID" val="120197884b4447f6a0570816a54bf6ea"/>
</p:tagLst>
</file>

<file path=ppt/tags/tag271.xml><?xml version="1.0" encoding="utf-8"?>
<p:tagLst xmlns:a="http://schemas.openxmlformats.org/drawingml/2006/main" xmlns:r="http://schemas.openxmlformats.org/officeDocument/2006/relationships" xmlns:p="http://schemas.openxmlformats.org/presentationml/2006/main">
  <p:tag name="DUPLICATEID" val="067d4326f1bb4cbeb4325df1e6ee9404"/>
</p:tagLst>
</file>

<file path=ppt/tags/tag272.xml><?xml version="1.0" encoding="utf-8"?>
<p:tagLst xmlns:a="http://schemas.openxmlformats.org/drawingml/2006/main" xmlns:r="http://schemas.openxmlformats.org/officeDocument/2006/relationships" xmlns:p="http://schemas.openxmlformats.org/presentationml/2006/main">
  <p:tag name="DUPLICATEID" val="9b9eea01febc42938bf4ddfbd2c3c5e9"/>
</p:tagLst>
</file>

<file path=ppt/tags/tag273.xml><?xml version="1.0" encoding="utf-8"?>
<p:tagLst xmlns:a="http://schemas.openxmlformats.org/drawingml/2006/main" xmlns:r="http://schemas.openxmlformats.org/officeDocument/2006/relationships" xmlns:p="http://schemas.openxmlformats.org/presentationml/2006/main">
  <p:tag name="DUPLICATEID" val="e9bbf38b55194f42bfeaa2b47625c5ef"/>
</p:tagLst>
</file>

<file path=ppt/tags/tag274.xml><?xml version="1.0" encoding="utf-8"?>
<p:tagLst xmlns:a="http://schemas.openxmlformats.org/drawingml/2006/main" xmlns:r="http://schemas.openxmlformats.org/officeDocument/2006/relationships" xmlns:p="http://schemas.openxmlformats.org/presentationml/2006/main">
  <p:tag name="DUPLICATEID" val="e959c93d6a8e4f848c60f64295b0ddf0"/>
</p:tagLst>
</file>

<file path=ppt/tags/tag275.xml><?xml version="1.0" encoding="utf-8"?>
<p:tagLst xmlns:a="http://schemas.openxmlformats.org/drawingml/2006/main" xmlns:r="http://schemas.openxmlformats.org/officeDocument/2006/relationships" xmlns:p="http://schemas.openxmlformats.org/presentationml/2006/main">
  <p:tag name="DUPLICATEID" val="9febba1fb43449b6b70bd517e77c1300"/>
</p:tagLst>
</file>

<file path=ppt/tags/tag276.xml><?xml version="1.0" encoding="utf-8"?>
<p:tagLst xmlns:a="http://schemas.openxmlformats.org/drawingml/2006/main" xmlns:r="http://schemas.openxmlformats.org/officeDocument/2006/relationships" xmlns:p="http://schemas.openxmlformats.org/presentationml/2006/main">
  <p:tag name="DUPLICATEID" val="9da020af60d34b4bbeeef6f92097338e"/>
</p:tagLst>
</file>

<file path=ppt/tags/tag277.xml><?xml version="1.0" encoding="utf-8"?>
<p:tagLst xmlns:a="http://schemas.openxmlformats.org/drawingml/2006/main" xmlns:r="http://schemas.openxmlformats.org/officeDocument/2006/relationships" xmlns:p="http://schemas.openxmlformats.org/presentationml/2006/main">
  <p:tag name="DUPLICATEID" val="eaf07e692e8846cc92805bebf4b30e98"/>
</p:tagLst>
</file>

<file path=ppt/tags/tag278.xml><?xml version="1.0" encoding="utf-8"?>
<p:tagLst xmlns:a="http://schemas.openxmlformats.org/drawingml/2006/main" xmlns:r="http://schemas.openxmlformats.org/officeDocument/2006/relationships" xmlns:p="http://schemas.openxmlformats.org/presentationml/2006/main">
  <p:tag name="DUPLICATEID" val="f94ed2a1c41e47ea9aa201a72fe2cca1"/>
</p:tagLst>
</file>

<file path=ppt/tags/tag279.xml><?xml version="1.0" encoding="utf-8"?>
<p:tagLst xmlns:a="http://schemas.openxmlformats.org/drawingml/2006/main" xmlns:r="http://schemas.openxmlformats.org/officeDocument/2006/relationships" xmlns:p="http://schemas.openxmlformats.org/presentationml/2006/main">
  <p:tag name="DUPLICATEID" val="7acd71a4c59342acb98c073d608800b0"/>
</p:tagLst>
</file>

<file path=ppt/tags/tag280.xml><?xml version="1.0" encoding="utf-8"?>
<p:tagLst xmlns:a="http://schemas.openxmlformats.org/drawingml/2006/main" xmlns:r="http://schemas.openxmlformats.org/officeDocument/2006/relationships" xmlns:p="http://schemas.openxmlformats.org/presentationml/2006/main">
  <p:tag name="DUPLICATEID" val="7910ef55442947289a80c604aefe36db"/>
</p:tagLst>
</file>

<file path=ppt/tags/tag281.xml><?xml version="1.0" encoding="utf-8"?>
<p:tagLst xmlns:a="http://schemas.openxmlformats.org/drawingml/2006/main" xmlns:r="http://schemas.openxmlformats.org/officeDocument/2006/relationships" xmlns:p="http://schemas.openxmlformats.org/presentationml/2006/main">
  <p:tag name="DUPLICATEID" val="b5e1143cdbd845ae80feb1919ddd07a6"/>
</p:tagLst>
</file>

<file path=ppt/tags/tag282.xml><?xml version="1.0" encoding="utf-8"?>
<p:tagLst xmlns:a="http://schemas.openxmlformats.org/drawingml/2006/main" xmlns:r="http://schemas.openxmlformats.org/officeDocument/2006/relationships" xmlns:p="http://schemas.openxmlformats.org/presentationml/2006/main">
  <p:tag name="DUPLICATEID" val="1373d7c5458044cc9804369a80f2baa0"/>
</p:tagLst>
</file>

<file path=ppt/tags/tag283.xml><?xml version="1.0" encoding="utf-8"?>
<p:tagLst xmlns:a="http://schemas.openxmlformats.org/drawingml/2006/main" xmlns:r="http://schemas.openxmlformats.org/officeDocument/2006/relationships" xmlns:p="http://schemas.openxmlformats.org/presentationml/2006/main">
  <p:tag name="DUPLICATEID" val="8f6f2a05e9364fb6a479fdecb101c76e"/>
</p:tagLst>
</file>

<file path=ppt/tags/tag284.xml><?xml version="1.0" encoding="utf-8"?>
<p:tagLst xmlns:a="http://schemas.openxmlformats.org/drawingml/2006/main" xmlns:r="http://schemas.openxmlformats.org/officeDocument/2006/relationships" xmlns:p="http://schemas.openxmlformats.org/presentationml/2006/main">
  <p:tag name="AUDIO_ID" val="463"/>
  <p:tag name="ORIGINAL_AUDIO_FILEPATH" val="Z:\E\Project_MEW\C15038509011_SE15319_BPP_Tech_ISMv3_eLearning_CM\DTP\RU\Batch1\DTP\audios\3\50_51.wav"/>
  <p:tag name="ELAPSEDTIME" val="331.51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85.xml><?xml version="1.0" encoding="utf-8"?>
<p:tagLst xmlns:a="http://schemas.openxmlformats.org/drawingml/2006/main" xmlns:r="http://schemas.openxmlformats.org/officeDocument/2006/relationships" xmlns:p="http://schemas.openxmlformats.org/presentationml/2006/main">
  <p:tag name="CHILD_ITEM_TEXT1" val="Данные хранятся на вращающемся диске с ферромагнитным покрытием&#10;Обеспечивает произвольный доступ для чтения и записи&#10;Самое популярное устройство хранения данных с большой емкостью хранения"/>
  <p:tag name="CHILD_ITEM_TEXT2" val="Накопитель на магнитных дисках"/>
  <p:tag name="CHILD_ITEM_TEXT3" val="Данные хранятся в памяти на основе полупроводников&#10;Чрезвычайно малые задержки операций ввода-вывода, низкое энергопотребление и очень высокая пропускная способность"/>
  <p:tag name="CHILD_ITEM_TEXT4" val="Твердотельный диск (флэш-диск)"/>
  <p:tag name="CHILD_ITEM_TEXT5" val="Данные хранятся на пластиковой пленке с магнитным покрытием&#10;Обеспечивает только последовательный доступ к данным&#10;Недорогое решение для длительного хранения данных"/>
  <p:tag name="CHILD_ITEM_TEXT6" val="Магнитный ленточный накопитель"/>
  <p:tag name="CHILD_ITEM_TEXT7" val="Данные хранятся на поликарбонатном диске с отражающим покрытием&#10;Возможность однократной записи и многократного чтения: CD, DVD, BD&#10;Недорогое решение для длительного хранения данных"/>
  <p:tag name="CHILD_ITEM_TEXT8" val="Оптический дисковод"/>
</p:tagLst>
</file>

<file path=ppt/tags/tag286.xml><?xml version="1.0" encoding="utf-8"?>
<p:tagLst xmlns:a="http://schemas.openxmlformats.org/drawingml/2006/main" xmlns:r="http://schemas.openxmlformats.org/officeDocument/2006/relationships" xmlns:p="http://schemas.openxmlformats.org/presentationml/2006/main">
  <p:tag name="AUDIO_ID" val="465"/>
  <p:tag name="ORIGINAL_AUDIO_FILEPATH" val="Z:\E\Project_MEW\C15038509011_SE15319_BPP_Tech_ISMv3_eLearning_CM\DTP\RU\Batch1\DTP\audios\3\Slide 52.mp3"/>
  <p:tag name="ELAPSEDTIME" val="47.88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87.xml><?xml version="1.0" encoding="utf-8"?>
<p:tagLst xmlns:a="http://schemas.openxmlformats.org/drawingml/2006/main" xmlns:r="http://schemas.openxmlformats.org/officeDocument/2006/relationships" xmlns:p="http://schemas.openxmlformats.org/presentationml/2006/main">
  <p:tag name="AUDIO_ID" val="466"/>
  <p:tag name="ORIGINAL_AUDIO_FILEPATH" val="Z:\E\Project_MEW\C15038509011_SE15319_BPP_Tech_ISMv3_eLearning_CM\DTP\RU\Batch1\DTP\audios\3\Slide 53.mp3"/>
  <p:tag name="ELAPSEDTIME" val="19.63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88.xml><?xml version="1.0" encoding="utf-8"?>
<p:tagLst xmlns:a="http://schemas.openxmlformats.org/drawingml/2006/main" xmlns:r="http://schemas.openxmlformats.org/officeDocument/2006/relationships" xmlns:p="http://schemas.openxmlformats.org/presentationml/2006/main">
  <p:tag name="AUDIO_ID" val="467"/>
  <p:tag name="ORIGINAL_AUDIO_FILEPATH" val="Z:\E\Project_MEW\C15038509011_SE15319_BPP_Tech_ISMv3_eLearning_CM\DTP\RU\Batch1\DTP\audios\3\Slide 54.mp3"/>
  <p:tag name="ELAPSEDTIME" val="62.16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289.xml><?xml version="1.0" encoding="utf-8"?>
<p:tagLst xmlns:a="http://schemas.openxmlformats.org/drawingml/2006/main" xmlns:r="http://schemas.openxmlformats.org/officeDocument/2006/relationships" xmlns:p="http://schemas.openxmlformats.org/presentationml/2006/main">
  <p:tag name="DUPLICATEID" val="42bed5a545eb49d3a4dcacfcd214ec36"/>
</p:tagLst>
</file>

<file path=ppt/tags/tag290.xml><?xml version="1.0" encoding="utf-8"?>
<p:tagLst xmlns:a="http://schemas.openxmlformats.org/drawingml/2006/main" xmlns:r="http://schemas.openxmlformats.org/officeDocument/2006/relationships" xmlns:p="http://schemas.openxmlformats.org/presentationml/2006/main">
  <p:tag name="DUPLICATEID" val="a8a89d1b405e4af984e3ab858b540d6b"/>
</p:tagLst>
</file>

<file path=ppt/tags/tag291.xml><?xml version="1.0" encoding="utf-8"?>
<p:tagLst xmlns:a="http://schemas.openxmlformats.org/drawingml/2006/main" xmlns:r="http://schemas.openxmlformats.org/officeDocument/2006/relationships" xmlns:p="http://schemas.openxmlformats.org/presentationml/2006/main">
  <p:tag name="DUPLICATEID" val="9512c290d3284c7daabf38ede6acb641"/>
</p:tagLst>
</file>

<file path=ppt/tags/tag292.xml><?xml version="1.0" encoding="utf-8"?>
<p:tagLst xmlns:a="http://schemas.openxmlformats.org/drawingml/2006/main" xmlns:r="http://schemas.openxmlformats.org/officeDocument/2006/relationships" xmlns:p="http://schemas.openxmlformats.org/presentationml/2006/main">
  <p:tag name="DUPLICATEID" val="aa4b3c0267684b269582b9dd58c791f2"/>
</p:tagLst>
</file>

<file path=ppt/tags/tag293.xml><?xml version="1.0" encoding="utf-8"?>
<p:tagLst xmlns:a="http://schemas.openxmlformats.org/drawingml/2006/main" xmlns:r="http://schemas.openxmlformats.org/officeDocument/2006/relationships" xmlns:p="http://schemas.openxmlformats.org/presentationml/2006/main">
  <p:tag name="DUPLICATEID" val="abe453b95a1a401ab42c3ef29a222b15"/>
</p:tagLst>
</file>

<file path=ppt/tags/tag294.xml><?xml version="1.0" encoding="utf-8"?>
<p:tagLst xmlns:a="http://schemas.openxmlformats.org/drawingml/2006/main" xmlns:r="http://schemas.openxmlformats.org/officeDocument/2006/relationships" xmlns:p="http://schemas.openxmlformats.org/presentationml/2006/main">
  <p:tag name="DUPLICATEID" val="5129d86784c04902bc779988f9eedfe8"/>
</p:tagLst>
</file>

<file path=ppt/tags/tag295.xml><?xml version="1.0" encoding="utf-8"?>
<p:tagLst xmlns:a="http://schemas.openxmlformats.org/drawingml/2006/main" xmlns:r="http://schemas.openxmlformats.org/officeDocument/2006/relationships" xmlns:p="http://schemas.openxmlformats.org/presentationml/2006/main">
  <p:tag name="DUPLICATEID" val="be5fa58f0ddd456ba0b9eb9fbf03cbc8"/>
</p:tagLst>
</file>

<file path=ppt/tags/tag296.xml><?xml version="1.0" encoding="utf-8"?>
<p:tagLst xmlns:a="http://schemas.openxmlformats.org/drawingml/2006/main" xmlns:r="http://schemas.openxmlformats.org/officeDocument/2006/relationships" xmlns:p="http://schemas.openxmlformats.org/presentationml/2006/main">
  <p:tag name="DUPLICATEID" val="f947ec5006c64f31990fe7fd70e1fe11"/>
</p:tagLst>
</file>

<file path=ppt/tags/tag297.xml><?xml version="1.0" encoding="utf-8"?>
<p:tagLst xmlns:a="http://schemas.openxmlformats.org/drawingml/2006/main" xmlns:r="http://schemas.openxmlformats.org/officeDocument/2006/relationships" xmlns:p="http://schemas.openxmlformats.org/presentationml/2006/main">
  <p:tag name="DUPLICATEID" val="c8638e4f2cb64bb0ab5387ea7384b1f4"/>
</p:tagLst>
</file>

<file path=ppt/tags/tag298.xml><?xml version="1.0" encoding="utf-8"?>
<p:tagLst xmlns:a="http://schemas.openxmlformats.org/drawingml/2006/main" xmlns:r="http://schemas.openxmlformats.org/officeDocument/2006/relationships" xmlns:p="http://schemas.openxmlformats.org/presentationml/2006/main">
  <p:tag name="DUPLICATEID" val="62a4ac1a861a484dafd0c05385bb18f2"/>
</p:tagLst>
</file>

<file path=ppt/tags/tag299.xml><?xml version="1.0" encoding="utf-8"?>
<p:tagLst xmlns:a="http://schemas.openxmlformats.org/drawingml/2006/main" xmlns:r="http://schemas.openxmlformats.org/officeDocument/2006/relationships" xmlns:p="http://schemas.openxmlformats.org/presentationml/2006/main">
  <p:tag name="DUPLICATEID" val="8203fc29c4794974bf85595f2fa827fe"/>
</p:tagLst>
</file>

<file path=ppt/tags/tag300.xml><?xml version="1.0" encoding="utf-8"?>
<p:tagLst xmlns:a="http://schemas.openxmlformats.org/drawingml/2006/main" xmlns:r="http://schemas.openxmlformats.org/officeDocument/2006/relationships" xmlns:p="http://schemas.openxmlformats.org/presentationml/2006/main">
  <p:tag name="DUPLICATEID" val="4c0e22d16a5248df9a6d202cd380438d"/>
</p:tagLst>
</file>

<file path=ppt/tags/tag301.xml><?xml version="1.0" encoding="utf-8"?>
<p:tagLst xmlns:a="http://schemas.openxmlformats.org/drawingml/2006/main" xmlns:r="http://schemas.openxmlformats.org/officeDocument/2006/relationships" xmlns:p="http://schemas.openxmlformats.org/presentationml/2006/main">
  <p:tag name="DUPLICATEID" val="89fa9aff84bd4b6e87be723965416fb2"/>
</p:tagLst>
</file>

<file path=ppt/tags/tag302.xml><?xml version="1.0" encoding="utf-8"?>
<p:tagLst xmlns:a="http://schemas.openxmlformats.org/drawingml/2006/main" xmlns:r="http://schemas.openxmlformats.org/officeDocument/2006/relationships" xmlns:p="http://schemas.openxmlformats.org/presentationml/2006/main">
  <p:tag name="AUDIO_ID" val="468"/>
  <p:tag name="ORIGINAL_AUDIO_FILEPATH" val="Z:\E\Project_MEW\C15038509011_SE15319_BPP_Tech_ISMv3_eLearning_CM\DTP\RU\Batch1\DTP\audios\3\Slide 55.mp3"/>
  <p:tag name="ELAPSEDTIME" val="126.38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03.xml><?xml version="1.0" encoding="utf-8"?>
<p:tagLst xmlns:a="http://schemas.openxmlformats.org/drawingml/2006/main" xmlns:r="http://schemas.openxmlformats.org/officeDocument/2006/relationships" xmlns:p="http://schemas.openxmlformats.org/presentationml/2006/main">
  <p:tag name="AUDIO_ID" val="469"/>
  <p:tag name="ORIGINAL_AUDIO_FILEPATH" val="Z:\E\Project_MEW\C15038509011_SE15319_BPP_Tech_ISMv3_eLearning_CM\DTP\RU\Batch1\DTP\audios\3\56_57.wav"/>
  <p:tag name="ELAPSEDTIME" val="216.4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04.xml><?xml version="1.0" encoding="utf-8"?>
<p:tagLst xmlns:a="http://schemas.openxmlformats.org/drawingml/2006/main" xmlns:r="http://schemas.openxmlformats.org/officeDocument/2006/relationships" xmlns:p="http://schemas.openxmlformats.org/presentationml/2006/main">
  <p:tag name="AUDIO_ID" val="471"/>
  <p:tag name="ORIGINAL_AUDIO_FILEPATH" val="Z:\E\Project_MEW\C15038509011_SE15319_BPP_Tech_ISMv3_eLearning_CM\DTP\RU\Batch1\DTP\audios\3\Slide 58.mp3"/>
  <p:tag name="ELAPSEDTIME" val="80.44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05.xml><?xml version="1.0" encoding="utf-8"?>
<p:tagLst xmlns:a="http://schemas.openxmlformats.org/drawingml/2006/main" xmlns:r="http://schemas.openxmlformats.org/officeDocument/2006/relationships" xmlns:p="http://schemas.openxmlformats.org/presentationml/2006/main">
  <p:tag name="AUDIO_ID" val="472"/>
  <p:tag name="ORIGINAL_AUDIO_FILEPATH" val="Z:\E\Project_MEW\C15038509011_SE15319_BPP_Tech_ISMv3_eLearning_CM\DTP\RU\Batch1\DTP\audios\3\Slide 59.mp3"/>
  <p:tag name="ELAPSEDTIME" val="18.62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306.xml><?xml version="1.0" encoding="utf-8"?>
<p:tagLst xmlns:a="http://schemas.openxmlformats.org/drawingml/2006/main" xmlns:r="http://schemas.openxmlformats.org/officeDocument/2006/relationships" xmlns:p="http://schemas.openxmlformats.org/presentationml/2006/main">
  <p:tag name="AUDIO_ID" val="478"/>
  <p:tag name="ORIGINAL_AUDIO_FILEPATH" val="Z:\E\Project_MEW\C15038509011_SE15319_BPP_Tech_ISMv3_eLearning_CM\DTP\RU\Batch1\DTP\audios\3\Slide 60.mp3"/>
  <p:tag name="ELAPSEDTIME" val="12.14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307.xml><?xml version="1.0" encoding="utf-8"?>
<p:tagLst xmlns:a="http://schemas.openxmlformats.org/drawingml/2006/main" xmlns:r="http://schemas.openxmlformats.org/officeDocument/2006/relationships" xmlns:p="http://schemas.openxmlformats.org/presentationml/2006/main">
  <p:tag name="AUDIO_ID" val="479"/>
  <p:tag name="ORIGINAL_AUDIO_FILEPATH" val="Z:\E\Project_MEW\C15038509011_SE15319_BPP_Tech_ISMv3_eLearning_CM\DTP\RU\Batch1\DTP\audios\3\Slide 61.mp3"/>
  <p:tag name="ELAPSEDTIME" val="82.46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08.xml><?xml version="1.0" encoding="utf-8"?>
<p:tagLst xmlns:a="http://schemas.openxmlformats.org/drawingml/2006/main" xmlns:r="http://schemas.openxmlformats.org/officeDocument/2006/relationships" xmlns:p="http://schemas.openxmlformats.org/presentationml/2006/main">
  <p:tag name="AUDIO_ID" val="492"/>
  <p:tag name="ORIGINAL_AUDIO_FILEPATH" val="Z:\E\Project_MEW\C15038509011_SE15319_BPP_Tech_ISMv3_eLearning_CM\DTP\RU\Batch1\DTP\audios\3\Slide 62.mp3"/>
  <p:tag name="ELAPSEDTIME" val="92.23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09.xml><?xml version="1.0" encoding="utf-8"?>
<p:tagLst xmlns:a="http://schemas.openxmlformats.org/drawingml/2006/main" xmlns:r="http://schemas.openxmlformats.org/officeDocument/2006/relationships" xmlns:p="http://schemas.openxmlformats.org/presentationml/2006/main">
  <p:tag name="DUPLICATEID" val="32014767ae054516a52295b58767f30e"/>
</p:tagLst>
</file>

<file path=ppt/tags/tag310.xml><?xml version="1.0" encoding="utf-8"?>
<p:tagLst xmlns:a="http://schemas.openxmlformats.org/drawingml/2006/main" xmlns:r="http://schemas.openxmlformats.org/officeDocument/2006/relationships" xmlns:p="http://schemas.openxmlformats.org/presentationml/2006/main">
  <p:tag name="DUPLICATEID" val="51a6afd4ffe740fa81f3ea87e0b40ac9"/>
</p:tagLst>
</file>

<file path=ppt/tags/tag311.xml><?xml version="1.0" encoding="utf-8"?>
<p:tagLst xmlns:a="http://schemas.openxmlformats.org/drawingml/2006/main" xmlns:r="http://schemas.openxmlformats.org/officeDocument/2006/relationships" xmlns:p="http://schemas.openxmlformats.org/presentationml/2006/main">
  <p:tag name="DUPLICATEID" val="09b10f916e244dda9860ea2cfdc16a5b"/>
</p:tagLst>
</file>

<file path=ppt/tags/tag312.xml><?xml version="1.0" encoding="utf-8"?>
<p:tagLst xmlns:a="http://schemas.openxmlformats.org/drawingml/2006/main" xmlns:r="http://schemas.openxmlformats.org/officeDocument/2006/relationships" xmlns:p="http://schemas.openxmlformats.org/presentationml/2006/main">
  <p:tag name="DUPLICATEID" val="43f73125c672491a8a2cdc8f752fa949"/>
</p:tagLst>
</file>

<file path=ppt/tags/tag313.xml><?xml version="1.0" encoding="utf-8"?>
<p:tagLst xmlns:a="http://schemas.openxmlformats.org/drawingml/2006/main" xmlns:r="http://schemas.openxmlformats.org/officeDocument/2006/relationships" xmlns:p="http://schemas.openxmlformats.org/presentationml/2006/main">
  <p:tag name="DUPLICATEID" val="6fc37d89a7e94025a4fb55b2f4e7757b"/>
</p:tagLst>
</file>

<file path=ppt/tags/tag314.xml><?xml version="1.0" encoding="utf-8"?>
<p:tagLst xmlns:a="http://schemas.openxmlformats.org/drawingml/2006/main" xmlns:r="http://schemas.openxmlformats.org/officeDocument/2006/relationships" xmlns:p="http://schemas.openxmlformats.org/presentationml/2006/main">
  <p:tag name="DUPLICATEID" val="63ea8aa90c20436d82732b69bc9f8724"/>
</p:tagLst>
</file>

<file path=ppt/tags/tag315.xml><?xml version="1.0" encoding="utf-8"?>
<p:tagLst xmlns:a="http://schemas.openxmlformats.org/drawingml/2006/main" xmlns:r="http://schemas.openxmlformats.org/officeDocument/2006/relationships" xmlns:p="http://schemas.openxmlformats.org/presentationml/2006/main">
  <p:tag name="DUPLICATEID" val="bca0694bf8b74805bc7d98b76406507a"/>
</p:tagLst>
</file>

<file path=ppt/tags/tag316.xml><?xml version="1.0" encoding="utf-8"?>
<p:tagLst xmlns:a="http://schemas.openxmlformats.org/drawingml/2006/main" xmlns:r="http://schemas.openxmlformats.org/officeDocument/2006/relationships" xmlns:p="http://schemas.openxmlformats.org/presentationml/2006/main">
  <p:tag name="DUPLICATEID" val="b6194fd425e04120b4815402e2dfda08"/>
</p:tagLst>
</file>

<file path=ppt/tags/tag317.xml><?xml version="1.0" encoding="utf-8"?>
<p:tagLst xmlns:a="http://schemas.openxmlformats.org/drawingml/2006/main" xmlns:r="http://schemas.openxmlformats.org/officeDocument/2006/relationships" xmlns:p="http://schemas.openxmlformats.org/presentationml/2006/main">
  <p:tag name="DUPLICATEID" val="565f1a80c96d426a947dcfda0c956aa0"/>
</p:tagLst>
</file>

<file path=ppt/tags/tag318.xml><?xml version="1.0" encoding="utf-8"?>
<p:tagLst xmlns:a="http://schemas.openxmlformats.org/drawingml/2006/main" xmlns:r="http://schemas.openxmlformats.org/officeDocument/2006/relationships" xmlns:p="http://schemas.openxmlformats.org/presentationml/2006/main">
  <p:tag name="DUPLICATEID" val="8b6b93fc479c42b6b6b8a4559b319f57"/>
</p:tagLst>
</file>

<file path=ppt/tags/tag319.xml><?xml version="1.0" encoding="utf-8"?>
<p:tagLst xmlns:a="http://schemas.openxmlformats.org/drawingml/2006/main" xmlns:r="http://schemas.openxmlformats.org/officeDocument/2006/relationships" xmlns:p="http://schemas.openxmlformats.org/presentationml/2006/main">
  <p:tag name="DUPLICATEID" val="663319194ac34565aff0f9a3218fc045"/>
</p:tagLst>
</file>

<file path=ppt/tags/tag320.xml><?xml version="1.0" encoding="utf-8"?>
<p:tagLst xmlns:a="http://schemas.openxmlformats.org/drawingml/2006/main" xmlns:r="http://schemas.openxmlformats.org/officeDocument/2006/relationships" xmlns:p="http://schemas.openxmlformats.org/presentationml/2006/main">
  <p:tag name="DUPLICATEID" val="92f3f2f07b6a49ac803a1e72623acde0"/>
</p:tagLst>
</file>

<file path=ppt/tags/tag321.xml><?xml version="1.0" encoding="utf-8"?>
<p:tagLst xmlns:a="http://schemas.openxmlformats.org/drawingml/2006/main" xmlns:r="http://schemas.openxmlformats.org/officeDocument/2006/relationships" xmlns:p="http://schemas.openxmlformats.org/presentationml/2006/main">
  <p:tag name="DUPLICATEID" val="be43e74b75c0490d9324e925683f2162"/>
</p:tagLst>
</file>

<file path=ppt/tags/tag322.xml><?xml version="1.0" encoding="utf-8"?>
<p:tagLst xmlns:a="http://schemas.openxmlformats.org/drawingml/2006/main" xmlns:r="http://schemas.openxmlformats.org/officeDocument/2006/relationships" xmlns:p="http://schemas.openxmlformats.org/presentationml/2006/main">
  <p:tag name="DUPLICATEID" val="2148e4539f374ffe8628a7609efbe9a0"/>
</p:tagLst>
</file>

<file path=ppt/tags/tag323.xml><?xml version="1.0" encoding="utf-8"?>
<p:tagLst xmlns:a="http://schemas.openxmlformats.org/drawingml/2006/main" xmlns:r="http://schemas.openxmlformats.org/officeDocument/2006/relationships" xmlns:p="http://schemas.openxmlformats.org/presentationml/2006/main">
  <p:tag name="DUPLICATEID" val="a38edea319d248ecb8f7be8bf14b5a8f"/>
</p:tagLst>
</file>

<file path=ppt/tags/tag324.xml><?xml version="1.0" encoding="utf-8"?>
<p:tagLst xmlns:a="http://schemas.openxmlformats.org/drawingml/2006/main" xmlns:r="http://schemas.openxmlformats.org/officeDocument/2006/relationships" xmlns:p="http://schemas.openxmlformats.org/presentationml/2006/main">
  <p:tag name="DUPLICATEID" val="b5508d200c2c4d6d991e7e916874d238"/>
</p:tagLst>
</file>

<file path=ppt/tags/tag325.xml><?xml version="1.0" encoding="utf-8"?>
<p:tagLst xmlns:a="http://schemas.openxmlformats.org/drawingml/2006/main" xmlns:r="http://schemas.openxmlformats.org/officeDocument/2006/relationships" xmlns:p="http://schemas.openxmlformats.org/presentationml/2006/main">
  <p:tag name="AUDIO_ID" val="488"/>
  <p:tag name="ORIGINAL_AUDIO_FILEPATH" val="Z:\E\Project_MEW\C15038509011_SE15319_BPP_Tech_ISMv3_eLearning_CM\DTP\RU\Batch1\DTP\audios\3\Slide 63.mp3"/>
  <p:tag name="ELAPSEDTIME" val="81.88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26.xml><?xml version="1.0" encoding="utf-8"?>
<p:tagLst xmlns:a="http://schemas.openxmlformats.org/drawingml/2006/main" xmlns:r="http://schemas.openxmlformats.org/officeDocument/2006/relationships" xmlns:p="http://schemas.openxmlformats.org/presentationml/2006/main">
  <p:tag name="AUDIO_ID" val="484"/>
  <p:tag name="ORIGINAL_AUDIO_FILEPATH" val="Z:\E\Project_MEW\C15038509011_SE15319_BPP_Tech_ISMv3_eLearning_CM\DTP\RU\Batch1\DTP\audios\3\Slide 64.mp3"/>
  <p:tag name="ELAPSEDTIME" val="145.00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27.xml><?xml version="1.0" encoding="utf-8"?>
<p:tagLst xmlns:a="http://schemas.openxmlformats.org/drawingml/2006/main" xmlns:r="http://schemas.openxmlformats.org/officeDocument/2006/relationships" xmlns:p="http://schemas.openxmlformats.org/presentationml/2006/main">
  <p:tag name="AUDIO_ID" val="485"/>
  <p:tag name="ORIGINAL_AUDIO_FILEPATH" val="Z:\E\Project_MEW\C15038509011_SE15319_BPP_Tech_ISMv3_eLearning_CM\DTP\RU\Batch1\DTP\audios\3\Slide 65.mp3"/>
  <p:tag name="ELAPSEDTIME" val="12.262"/>
  <p:tag name="ARTICULATE_NAV_LEVEL" val="2"/>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328.xml><?xml version="1.0" encoding="utf-8"?>
<p:tagLst xmlns:a="http://schemas.openxmlformats.org/drawingml/2006/main" xmlns:r="http://schemas.openxmlformats.org/officeDocument/2006/relationships" xmlns:p="http://schemas.openxmlformats.org/presentationml/2006/main">
  <p:tag name="AUDIO_ID" val="473"/>
  <p:tag name="ORIGINAL_AUDIO_FILEPATH" val="Z:\E\Project_MEW\C15038509011_SE15319_BPP_Tech_ISMv3_eLearning_CM\DTP\RU\Batch1\DTP\audios\3\Slide 66.mp3"/>
  <p:tag name="ELAPSEDTIME" val="38.64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4"/>
</p:tagLst>
</file>

<file path=ppt/tags/tag329.xml><?xml version="1.0" encoding="utf-8"?>
<p:tagLst xmlns:a="http://schemas.openxmlformats.org/drawingml/2006/main" xmlns:r="http://schemas.openxmlformats.org/officeDocument/2006/relationships" xmlns:p="http://schemas.openxmlformats.org/presentationml/2006/main">
  <p:tag name="AUDIO_ID" val="474"/>
  <p:tag name="ORIGINAL_AUDIO_FILEPATH" val="Z:\E\Project_MEW\C15038509011_SE15319_BPP_Tech_ISMv3_eLearning_CM\DTP\RU\Batch1\DTP\audios\3\Slide 67.mp3"/>
  <p:tag name="ELAPSEDTIME" val="201.84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30.xml><?xml version="1.0" encoding="utf-8"?>
<p:tagLst xmlns:a="http://schemas.openxmlformats.org/drawingml/2006/main" xmlns:r="http://schemas.openxmlformats.org/officeDocument/2006/relationships" xmlns:p="http://schemas.openxmlformats.org/presentationml/2006/main">
  <p:tag name="AUDIO_ID" val="475"/>
  <p:tag name="ORIGINAL_AUDIO_FILEPATH" val="Z:\E\Project_MEW\C15038509011_SE15319_BPP_Tech_ISMv3_eLearning_CM\DTP\RU\Batch1\DTP\audios\3\Slide 68.mp3"/>
  <p:tag name="ELAPSEDTIME" val="116.23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31.xml><?xml version="1.0" encoding="utf-8"?>
<p:tagLst xmlns:a="http://schemas.openxmlformats.org/drawingml/2006/main" xmlns:r="http://schemas.openxmlformats.org/officeDocument/2006/relationships" xmlns:p="http://schemas.openxmlformats.org/presentationml/2006/main">
  <p:tag name="AUDIO_ID" val="476"/>
  <p:tag name="ORIGINAL_AUDIO_FILEPATH" val="Z:\E\Project_MEW\C15038509011_SE15319_BPP_Tech_ISMv3_eLearning_CM\DTP\RU\Batch1\DTP\audios\3\Slide 69.mp3"/>
  <p:tag name="ELAPSEDTIME" val="121.46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32.xml><?xml version="1.0" encoding="utf-8"?>
<p:tagLst xmlns:a="http://schemas.openxmlformats.org/drawingml/2006/main" xmlns:r="http://schemas.openxmlformats.org/officeDocument/2006/relationships" xmlns:p="http://schemas.openxmlformats.org/presentationml/2006/main">
  <p:tag name="AUDIO_ID" val="496"/>
  <p:tag name="ORIGINAL_AUDIO_FILEPATH" val="Z:\E\Project_MEW\C15038509011_SE15319_BPP_Tech_ISMv3_eLearning_CM\DTP\RU\Batch1\DTP\audios\3\Slide 70.mp3"/>
  <p:tag name="ELAPSEDTIME" val="30.502"/>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ags/tag333.xml><?xml version="1.0" encoding="utf-8"?>
<p:tagLst xmlns:a="http://schemas.openxmlformats.org/drawingml/2006/main" xmlns:r="http://schemas.openxmlformats.org/officeDocument/2006/relationships" xmlns:p="http://schemas.openxmlformats.org/presentationml/2006/main">
  <p:tag name="QUIZMAKER_QUIZ_FILENAME" val="Z:\E\Project_MEW\C15038509011_SE15319_BPP_Tech_ISMv3_eLearning_CM\DTP\RU\Batch1\DTP\3\ISM v3 Module 3 Data Center Environment Quiz.quiz"/>
  <p:tag name="ARTICULATE_SHOW_IN_MENU" val="multipleitems"/>
  <p:tag name="AQP_PASS_ACTION" val="2"/>
  <p:tag name="AQP_FAIL_ACTION" val="0"/>
  <p:tag name="AUDIO_ID" val="499"/>
  <p:tag name="ARTICULATE_SLIDE_THUMBNAIL_REFRESH" val="1"/>
  <p:tag name="OVERRIDE" val="QUIZMAKER_QUIZ_SLIDE"/>
  <p:tag name="QUIZMAKER_QUIZ_TITLE" val="ISM v3 модуль 3: Среда центра обработки данных. Опрос"/>
  <p:tag name="ARTICULATE_DESCRIPTION" val="Quiz - 5 questions"/>
  <p:tag name="QUIZMAKER_QUIZ_SLIDE_ID" val="499"/>
  <p:tag name="QUIZMAKER_QUIZ_FORCE_UPDATE" val="0"/>
  <p:tag name="AQP_PASS_SCORE" val="80"/>
  <p:tag name="QUIZMAKER_LAST_MODIFY_DATE" val="42320.6496296296"/>
  <p:tag name="EMBEDDEDCONTENT_LASTWRITETIMEUTC" val="2015-11-12 07:35:28Z"/>
  <p:tag name="ELAPSEDTIME" val="0"/>
  <p:tag name="ARTICULATE_NAV_LEVEL" val="1"/>
  <p:tag name="ARTICULATE_SLIDE_PRESENTER_GUID" val="e03bb48f-23ac-484f-9dbb-aa4ec74d9cfa"/>
  <p:tag name="ARTICULATE_SLIDE_PAUSE" val="1"/>
  <p:tag name="ARTICULATE_LOCK_SLIDE" val="1"/>
  <p:tag name="ARTICULATE_HIDE_SLIDE" val="0"/>
  <p:tag name="ARTICULATE_PLAYER_CONTROL_PREVIOUS" val="True"/>
  <p:tag name="ARTICULATE_PLAYER_CONTROL_NEXT" val="True"/>
  <p:tag name="ARTICULATE_PLAYER_SEEKBAR" val="False"/>
  <p:tag name="ARTICULATE_PLAYER_CONTROL_PLAYPAUSE" val="False"/>
  <p:tag name="ARTICULATE_USED_LAYOUT" val="17"/>
</p:tagLst>
</file>

<file path=ppt/tags/tag334.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335.xml><?xml version="1.0" encoding="utf-8"?>
<p:tagLst xmlns:a="http://schemas.openxmlformats.org/drawingml/2006/main" xmlns:r="http://schemas.openxmlformats.org/officeDocument/2006/relationships" xmlns:p="http://schemas.openxmlformats.org/presentationml/2006/main">
  <p:tag name="QM_PROPERTY" val="1"/>
  <p:tag name="ART_QM_B" val="1"/>
</p:tagLst>
</file>

<file path=ppt/tags/tag336.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337.xml><?xml version="1.0" encoding="utf-8"?>
<p:tagLst xmlns:a="http://schemas.openxmlformats.org/drawingml/2006/main" xmlns:r="http://schemas.openxmlformats.org/officeDocument/2006/relationships" xmlns:p="http://schemas.openxmlformats.org/presentationml/2006/main">
  <p:tag name="AUDIO_ID" val="498"/>
  <p:tag name="ARTICULATE_NAV_LEVEL" val="1"/>
  <p:tag name="ARTICULATE_SLIDE_PRESENTER_GUID" val="e03bb48f-23ac-484f-9dbb-aa4ec74d9cfa"/>
  <p:tag name="ARTICULATE_SLIDE_PAUSE" val="1"/>
  <p:tag name="ARTICULATE_LOCK_SLIDE" val="0"/>
  <p:tag name="ARTICULATE_HIDE_SLIDE" val="0"/>
  <p:tag name="ARTICULATE_PLAYER_CONTROL_PREVIOUS" val="True"/>
  <p:tag name="ARTICULATE_PLAYER_CONTROL_NEXT" val="True"/>
  <p:tag name="ARTICULATE_USED_LAYOUT" val="2"/>
</p:tagLst>
</file>

<file path=ppt/theme/theme1.xml><?xml version="1.0" encoding="utf-8"?>
<a:theme xmlns:a="http://schemas.openxmlformats.org/drawingml/2006/main" name="D311-16x9_ILT OILT VILT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D311-16x9_elearning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D311-16x9_ILT OILT VILT Template_OPEN Curriculum-20151401</Template>
  <TotalTime>4090</TotalTime>
  <Words>18333</Words>
  <Application>Microsoft Office PowerPoint</Application>
  <PresentationFormat>Экран (16:9)</PresentationFormat>
  <Paragraphs>1012</Paragraphs>
  <Slides>63</Slides>
  <Notes>63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2</vt:i4>
      </vt:variant>
      <vt:variant>
        <vt:lpstr>Заголовки слайдов</vt:lpstr>
      </vt:variant>
      <vt:variant>
        <vt:i4>63</vt:i4>
      </vt:variant>
    </vt:vector>
  </HeadingPairs>
  <TitlesOfParts>
    <vt:vector size="69" baseType="lpstr">
      <vt:lpstr>Arial</vt:lpstr>
      <vt:lpstr>Lucida Grande</vt:lpstr>
      <vt:lpstr>Verdana</vt:lpstr>
      <vt:lpstr>Wingdings</vt:lpstr>
      <vt:lpstr>D311-16x9_ILT OILT VILT Template_OPEN Curriculum-20151401</vt:lpstr>
      <vt:lpstr>D311-16x9_elearning Template_OPEN Curriculum-20151401</vt:lpstr>
      <vt:lpstr>ISM v3 модуль 3: среда центра обработки данных</vt:lpstr>
      <vt:lpstr>Обзор модуля</vt:lpstr>
      <vt:lpstr>Урок 1. Строительные блоки инфраструктуры центра обработки данных</vt:lpstr>
      <vt:lpstr>Инфраструктура центра обработки данных</vt:lpstr>
      <vt:lpstr>Инфраструктура центра обработки данных</vt:lpstr>
      <vt:lpstr>Инфраструктура центра обработки данных </vt:lpstr>
      <vt:lpstr>Инфраструктура центра обработки данных </vt:lpstr>
      <vt:lpstr>Инфраструктура центра обработки данных </vt:lpstr>
      <vt:lpstr>Инфраструктура центра обработки данных </vt:lpstr>
      <vt:lpstr>Инфраструктура центра обработки данных </vt:lpstr>
      <vt:lpstr>Инфраструктура центра обработки данных </vt:lpstr>
      <vt:lpstr>Инфраструктура центра обработки данных </vt:lpstr>
      <vt:lpstr>Лучшая в своем классе и конвергентная инфраструктура</vt:lpstr>
      <vt:lpstr>Урок 1. Резюме</vt:lpstr>
      <vt:lpstr>Урок 2. Вычислительная система</vt:lpstr>
      <vt:lpstr>Что такое вычислительная система?</vt:lpstr>
      <vt:lpstr>Физические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Логические компоненты вычислительной системы</vt:lpstr>
      <vt:lpstr>Типы вычислительных систем</vt:lpstr>
      <vt:lpstr>Урок 2. Резюме</vt:lpstr>
      <vt:lpstr>Урок 3. Виртуализация вычислительных ресурсов, приложений и рабочих мест</vt:lpstr>
      <vt:lpstr>Что такое виртуализация вычислительных ресурсов?</vt:lpstr>
      <vt:lpstr>Необходимость виртуализации вычислительных ресурсов</vt:lpstr>
      <vt:lpstr>Что такое гипервизор?</vt:lpstr>
      <vt:lpstr>Что такое виртуальная машина?</vt:lpstr>
      <vt:lpstr>Аппаратное обеспечение ВМ</vt:lpstr>
      <vt:lpstr>Файлы ВМ</vt:lpstr>
      <vt:lpstr>Что такое виртуализация приложений?</vt:lpstr>
      <vt:lpstr>Методы виртуализации приложений</vt:lpstr>
      <vt:lpstr>Что такое виртуализация рабочих мест?</vt:lpstr>
      <vt:lpstr>Методы виртуализации рабочих мест</vt:lpstr>
      <vt:lpstr>Сценарии использования для виртуализации приложений и рабочих мест</vt:lpstr>
      <vt:lpstr>Урок 3. Резюме</vt:lpstr>
      <vt:lpstr>Урок 4. Система хранения и возможности подключения</vt:lpstr>
      <vt:lpstr>Развитие архитектуры систем хранения</vt:lpstr>
      <vt:lpstr>Развитие архитектуры систем хранения (продолжение)</vt:lpstr>
      <vt:lpstr>Типы устройств хранения данных</vt:lpstr>
      <vt:lpstr>Обзор виртуализации хранилища</vt:lpstr>
      <vt:lpstr>Введение в возможности подключения</vt:lpstr>
      <vt:lpstr>Возможность подключения вычислительной системы к вычислительной системе</vt:lpstr>
      <vt:lpstr>Возможность подключения вычислительной системы к системе хранения</vt:lpstr>
      <vt:lpstr>Протоколы подключения систем хранения</vt:lpstr>
      <vt:lpstr>Обзор виртуализации сетевых ресурсов</vt:lpstr>
      <vt:lpstr>Урок 4. Резюме</vt:lpstr>
      <vt:lpstr>Урок 5. Программно-определяемый ЦОД</vt:lpstr>
      <vt:lpstr>Что такое программно-определяемый центр обработки данных?</vt:lpstr>
      <vt:lpstr>Архитектура программно-определяемого центра обработки данных</vt:lpstr>
      <vt:lpstr>Программно-определяемый контроллер</vt:lpstr>
      <vt:lpstr>Преимущества программно-определяемой архитектуры</vt:lpstr>
      <vt:lpstr>Урок 5. Резюме</vt:lpstr>
      <vt:lpstr>Практическая реализация концепций </vt:lpstr>
      <vt:lpstr>VCE Vblock и EMC VSPEX</vt:lpstr>
      <vt:lpstr>VMware ESXi и VMware ThinApp</vt:lpstr>
      <vt:lpstr>VMware Horizon и VMware NSX</vt:lpstr>
      <vt:lpstr>Модуль 3. Резюме</vt:lpstr>
      <vt:lpstr>ISM v3 модуль 3: Среда центра обработки данных. Опрос</vt:lpstr>
      <vt:lpstr>Отзыв о курсе </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Pramod Prasad</dc:creator>
  <cp:lastModifiedBy>Борис Николаевич Пищик</cp:lastModifiedBy>
  <cp:revision>707</cp:revision>
  <cp:lastPrinted>2013-12-05T19:23:46Z</cp:lastPrinted>
  <dcterms:created xsi:type="dcterms:W3CDTF">2015-01-29T09:11:34Z</dcterms:created>
  <dcterms:modified xsi:type="dcterms:W3CDTF">2022-02-16T14:41:20Z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2014 Template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E18038EE-8EA8-4BB3-BE2D-CCCAC2775E58</vt:lpwstr>
  </property>
  <property fmtid="{D5CDD505-2E9C-101B-9397-08002B2CF9AE}" pid="6" name="ArticulateProjectFull">
    <vt:lpwstr>Z:\E\Project\EMC\C15038509011_SE15319_BPP_Tech_ISMv3_eLearning_CM\DTP\RU\Three\ISM v3 Module 3_eLearning_SRG.ppta</vt:lpwstr>
  </property>
</Properties>
</file>