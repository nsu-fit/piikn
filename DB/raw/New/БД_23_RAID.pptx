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7"/>
  </p:notesMasterIdLst>
  <p:handoutMasterIdLst>
    <p:handoutMasterId r:id="rId38"/>
  </p:handoutMasterIdLst>
  <p:sldIdLst>
    <p:sldId id="282" r:id="rId2"/>
    <p:sldId id="311" r:id="rId3"/>
    <p:sldId id="326" r:id="rId4"/>
    <p:sldId id="316" r:id="rId5"/>
    <p:sldId id="318" r:id="rId6"/>
    <p:sldId id="319" r:id="rId7"/>
    <p:sldId id="324" r:id="rId8"/>
    <p:sldId id="317" r:id="rId9"/>
    <p:sldId id="286" r:id="rId10"/>
    <p:sldId id="315" r:id="rId11"/>
    <p:sldId id="314" r:id="rId12"/>
    <p:sldId id="285" r:id="rId13"/>
    <p:sldId id="287" r:id="rId14"/>
    <p:sldId id="288" r:id="rId15"/>
    <p:sldId id="289" r:id="rId16"/>
    <p:sldId id="290" r:id="rId17"/>
    <p:sldId id="308" r:id="rId18"/>
    <p:sldId id="309" r:id="rId19"/>
    <p:sldId id="293" r:id="rId20"/>
    <p:sldId id="294" r:id="rId21"/>
    <p:sldId id="307" r:id="rId22"/>
    <p:sldId id="296" r:id="rId23"/>
    <p:sldId id="310" r:id="rId24"/>
    <p:sldId id="320" r:id="rId25"/>
    <p:sldId id="297" r:id="rId26"/>
    <p:sldId id="298" r:id="rId27"/>
    <p:sldId id="321" r:id="rId28"/>
    <p:sldId id="322" r:id="rId29"/>
    <p:sldId id="323" r:id="rId30"/>
    <p:sldId id="325" r:id="rId31"/>
    <p:sldId id="299" r:id="rId32"/>
    <p:sldId id="312" r:id="rId33"/>
    <p:sldId id="300" r:id="rId34"/>
    <p:sldId id="301" r:id="rId35"/>
    <p:sldId id="313" r:id="rId36"/>
  </p:sldIdLst>
  <p:sldSz cx="9144000" cy="6858000" type="screen4x3"/>
  <p:notesSz cx="6858000" cy="9137650"/>
  <p:custDataLst>
    <p:tags r:id="rId39"/>
  </p:custDataLst>
  <p:defaultTextStyle>
    <a:defPPr>
      <a:defRPr lang="en-US"/>
    </a:defPPr>
    <a:lvl1pPr algn="ctr" rtl="0" fontAlgn="base">
      <a:spcBef>
        <a:spcPct val="50000"/>
      </a:spcBef>
      <a:spcAft>
        <a:spcPct val="0"/>
      </a:spcAft>
      <a:buClr>
        <a:srgbClr val="003580"/>
      </a:buClr>
      <a:buFont typeface="Wingdings" pitchFamily="2" charset="2"/>
      <a:defRPr sz="2600" kern="1200">
        <a:solidFill>
          <a:srgbClr val="003580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50000"/>
      </a:spcBef>
      <a:spcAft>
        <a:spcPct val="0"/>
      </a:spcAft>
      <a:buClr>
        <a:srgbClr val="003580"/>
      </a:buClr>
      <a:buFont typeface="Wingdings" pitchFamily="2" charset="2"/>
      <a:defRPr sz="2600" kern="1200">
        <a:solidFill>
          <a:srgbClr val="003580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50000"/>
      </a:spcBef>
      <a:spcAft>
        <a:spcPct val="0"/>
      </a:spcAft>
      <a:buClr>
        <a:srgbClr val="003580"/>
      </a:buClr>
      <a:buFont typeface="Wingdings" pitchFamily="2" charset="2"/>
      <a:defRPr sz="2600" kern="1200">
        <a:solidFill>
          <a:srgbClr val="003580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50000"/>
      </a:spcBef>
      <a:spcAft>
        <a:spcPct val="0"/>
      </a:spcAft>
      <a:buClr>
        <a:srgbClr val="003580"/>
      </a:buClr>
      <a:buFont typeface="Wingdings" pitchFamily="2" charset="2"/>
      <a:defRPr sz="2600" kern="1200">
        <a:solidFill>
          <a:srgbClr val="003580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50000"/>
      </a:spcBef>
      <a:spcAft>
        <a:spcPct val="0"/>
      </a:spcAft>
      <a:buClr>
        <a:srgbClr val="003580"/>
      </a:buClr>
      <a:buFont typeface="Wingdings" pitchFamily="2" charset="2"/>
      <a:defRPr sz="2600" kern="1200">
        <a:solidFill>
          <a:srgbClr val="00358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600" kern="1200">
        <a:solidFill>
          <a:srgbClr val="00358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600" kern="1200">
        <a:solidFill>
          <a:srgbClr val="00358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600" kern="1200">
        <a:solidFill>
          <a:srgbClr val="00358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600" kern="1200">
        <a:solidFill>
          <a:srgbClr val="003580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hidden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CEDC8"/>
    <a:srgbClr val="3399FF"/>
    <a:srgbClr val="FF33CC"/>
    <a:srgbClr val="D6D991"/>
    <a:srgbClr val="003580"/>
    <a:srgbClr val="FF0000"/>
    <a:srgbClr val="C0C0C0"/>
    <a:srgbClr val="BFCCDF"/>
    <a:srgbClr val="F5D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8" autoAdjust="0"/>
    <p:restoredTop sz="84682" autoAdjust="0"/>
  </p:normalViewPr>
  <p:slideViewPr>
    <p:cSldViewPr snapToGrid="0">
      <p:cViewPr varScale="1">
        <p:scale>
          <a:sx n="67" d="100"/>
          <a:sy n="67" d="100"/>
        </p:scale>
        <p:origin x="105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72" y="-72"/>
      </p:cViewPr>
      <p:guideLst>
        <p:guide orient="horz" pos="287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936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936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7886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ru-RU"/>
              <a:t>Data Protection: RAID</a:t>
            </a:r>
          </a:p>
        </p:txBody>
      </p:sp>
      <p:sp>
        <p:nvSpPr>
          <p:cNvPr id="936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7886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AD2341F-93C3-4B05-BC2C-A602FE92C228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49225"/>
            <a:ext cx="6858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100000"/>
              </a:spcBef>
              <a:buClrTx/>
              <a:buFontTx/>
              <a:buNone/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368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0563" y="457200"/>
            <a:ext cx="5476875" cy="4106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spect="1" noChangeArrowheads="1"/>
          </p:cNvSpPr>
          <p:nvPr>
            <p:ph type="body" sz="quarter" idx="3"/>
          </p:nvPr>
        </p:nvSpPr>
        <p:spPr bwMode="auto">
          <a:xfrm>
            <a:off x="374650" y="4683125"/>
            <a:ext cx="6110288" cy="4000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noProof="0"/>
              <a:t>Click to edit Master text styles</a:t>
            </a:r>
          </a:p>
          <a:p>
            <a:pPr lvl="1"/>
            <a:r>
              <a:rPr lang="en-US" altLang="ru-RU" noProof="0"/>
              <a:t>Second level</a:t>
            </a:r>
          </a:p>
          <a:p>
            <a:pPr lvl="2"/>
            <a:r>
              <a:rPr lang="en-US" altLang="ru-RU" noProof="0"/>
              <a:t>Third level</a:t>
            </a:r>
          </a:p>
          <a:p>
            <a:pPr lvl="3"/>
            <a:r>
              <a:rPr lang="en-US" altLang="ru-RU" noProof="0"/>
              <a:t>Fourth level</a:t>
            </a:r>
          </a:p>
          <a:p>
            <a:pPr lvl="4"/>
            <a:r>
              <a:rPr lang="en-US" altLang="ru-RU" noProof="0"/>
              <a:t>Fifth level</a:t>
            </a:r>
          </a:p>
        </p:txBody>
      </p:sp>
      <p:sp>
        <p:nvSpPr>
          <p:cNvPr id="35845" name="Rectangle 9"/>
          <p:cNvSpPr>
            <a:spLocks noChangeArrowheads="1"/>
          </p:cNvSpPr>
          <p:nvPr/>
        </p:nvSpPr>
        <p:spPr bwMode="auto">
          <a:xfrm>
            <a:off x="2209800" y="8832850"/>
            <a:ext cx="4032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ru-RU" sz="800">
                <a:solidFill>
                  <a:schemeClr val="tx1"/>
                </a:solidFill>
              </a:rPr>
              <a:t>Data Protection: RAID</a:t>
            </a:r>
          </a:p>
        </p:txBody>
      </p:sp>
      <p:sp>
        <p:nvSpPr>
          <p:cNvPr id="35846" name="Rectangle 10"/>
          <p:cNvSpPr>
            <a:spLocks noChangeArrowheads="1"/>
          </p:cNvSpPr>
          <p:nvPr/>
        </p:nvSpPr>
        <p:spPr bwMode="auto">
          <a:xfrm>
            <a:off x="6057900" y="8818563"/>
            <a:ext cx="22415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ru-RU" sz="900">
                <a:solidFill>
                  <a:schemeClr val="tx1"/>
                </a:solidFill>
              </a:rPr>
              <a:t> - </a:t>
            </a:r>
            <a:fld id="{0D2E60D9-FA43-4FD5-8CE7-86172CCCEBB1}" type="slidenum">
              <a:rPr lang="en-US" altLang="ru-RU" sz="800" smtClean="0">
                <a:solidFill>
                  <a:schemeClr val="tx1"/>
                </a:solidFill>
              </a:rPr>
              <a:pPr algn="l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lang="en-US" altLang="ru-RU" sz="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228600" indent="-114300" algn="l" rtl="0" eaLnBrk="0" fontAlgn="base" hangingPunct="0">
      <a:spcBef>
        <a:spcPct val="20000"/>
      </a:spcBef>
      <a:spcAft>
        <a:spcPct val="0"/>
      </a:spcAft>
      <a:buFont typeface="Wingdings" pitchFamily="2" charset="2"/>
      <a:buChar char=""/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57200" indent="-114300" algn="l" rtl="0" eaLnBrk="0" fontAlgn="base" hangingPunct="0">
      <a:spcBef>
        <a:spcPct val="10000"/>
      </a:spcBef>
      <a:spcAft>
        <a:spcPct val="0"/>
      </a:spcAft>
      <a:buFont typeface="Times New Roman" pitchFamily="18" charset="0"/>
      <a:buChar char="−"/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685800" indent="-114300" algn="l" rtl="0" eaLnBrk="0" fontAlgn="base" hangingPunct="0">
      <a:spcBef>
        <a:spcPct val="10000"/>
      </a:spcBef>
      <a:spcAft>
        <a:spcPct val="0"/>
      </a:spcAft>
      <a:buSzPct val="85000"/>
      <a:buFont typeface="Wingdings" pitchFamily="2" charset="2"/>
      <a:buChar char="Ø"/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914400" indent="-114300" algn="l" rtl="0" eaLnBrk="0" fontAlgn="base" hangingPunct="0">
      <a:spcBef>
        <a:spcPct val="1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37891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38915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38915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39939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0963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1987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1987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3011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4036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74650" y="4721225"/>
            <a:ext cx="6110288" cy="4000500"/>
          </a:xfrm>
          <a:noFill/>
        </p:spPr>
        <p:txBody>
          <a:bodyPr/>
          <a:lstStyle/>
          <a:p>
            <a:pPr eaLnBrk="1" hangingPunct="1"/>
            <a:endParaRPr lang="ru-RU" altLang="ru-RU" sz="10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6084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74650" y="4721225"/>
            <a:ext cx="6110288" cy="4000500"/>
          </a:xfrm>
          <a:noFill/>
        </p:spPr>
        <p:txBody>
          <a:bodyPr/>
          <a:lstStyle/>
          <a:p>
            <a:pPr eaLnBrk="1" hangingPunct="1"/>
            <a:endParaRPr lang="ru-RU" altLang="ru-RU"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5060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74650" y="4721225"/>
            <a:ext cx="6110288" cy="4000500"/>
          </a:xfrm>
          <a:noFill/>
        </p:spPr>
        <p:txBody>
          <a:bodyPr/>
          <a:lstStyle/>
          <a:p>
            <a:pPr eaLnBrk="1" hangingPunct="1"/>
            <a:endParaRPr lang="ru-RU" altLang="ru-RU" sz="1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7108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8132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ru-RU"/>
              <a:t>RAID </a:t>
            </a:r>
            <a:r>
              <a:rPr lang="ru-RU" altLang="ru-RU"/>
              <a:t>уровни формируются на базе технологий:</a:t>
            </a:r>
          </a:p>
          <a:p>
            <a:pPr eaLnBrk="1" hangingPunct="1">
              <a:buFontTx/>
              <a:buChar char="-"/>
            </a:pPr>
            <a:r>
              <a:rPr lang="ru-RU" altLang="ru-RU"/>
              <a:t>распределения,</a:t>
            </a:r>
          </a:p>
          <a:p>
            <a:pPr eaLnBrk="1" hangingPunct="1">
              <a:buFontTx/>
              <a:buChar char="-"/>
            </a:pPr>
            <a:r>
              <a:rPr lang="ru-RU" altLang="ru-RU"/>
              <a:t>Зеркалирования,</a:t>
            </a:r>
          </a:p>
          <a:p>
            <a:pPr eaLnBrk="1" hangingPunct="1">
              <a:buFontTx/>
              <a:buChar char="-"/>
            </a:pPr>
            <a:r>
              <a:rPr lang="ru-RU" altLang="ru-RU"/>
              <a:t>Контроля четности.</a:t>
            </a:r>
          </a:p>
          <a:p>
            <a:pPr eaLnBrk="1" hangingPunct="1"/>
            <a:r>
              <a:rPr lang="ru-RU" altLang="ru-RU"/>
              <a:t>Эти технологии определяют доступность данных и характеристики производительности</a:t>
            </a:r>
          </a:p>
          <a:p>
            <a:pPr eaLnBrk="1" hangingPunct="1"/>
            <a:r>
              <a:rPr lang="ru-RU" altLang="ru-RU"/>
              <a:t>Некоторые </a:t>
            </a:r>
            <a:r>
              <a:rPr lang="en-US" altLang="ru-RU"/>
              <a:t>RAID-</a:t>
            </a:r>
            <a:r>
              <a:rPr lang="ru-RU" altLang="ru-RU"/>
              <a:t>массивы</a:t>
            </a:r>
            <a:r>
              <a:rPr lang="en-US" altLang="ru-RU"/>
              <a:t> </a:t>
            </a:r>
            <a:r>
              <a:rPr lang="ru-RU" altLang="ru-RU"/>
              <a:t>используют одну технологию, другие – несколько.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49156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0180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120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2228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3252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4276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5300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632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ru-RU" altLang="ru-RU" sz="9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7348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8372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59396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0420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144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2468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144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144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7200"/>
            <a:ext cx="5475288" cy="4106863"/>
          </a:xfrm>
          <a:ln/>
        </p:spPr>
      </p:sp>
      <p:sp>
        <p:nvSpPr>
          <p:cNvPr id="61444" name="Rectangle 3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3491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4515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458788"/>
            <a:ext cx="5473700" cy="4105275"/>
          </a:xfrm>
          <a:ln/>
        </p:spPr>
      </p:sp>
      <p:sp>
        <p:nvSpPr>
          <p:cNvPr id="65540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74650" y="4683125"/>
            <a:ext cx="6110288" cy="3998913"/>
          </a:xfrm>
          <a:noFill/>
        </p:spPr>
        <p:txBody>
          <a:bodyPr/>
          <a:lstStyle/>
          <a:p>
            <a:pPr eaLnBrk="1" hangingPunct="1"/>
            <a:endParaRPr lang="ru-RU" altLang="ru-RU" sz="10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6563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Copyright © 2009 EMC Corporation. Do not Copy - All Rights Reserved.</a:t>
            </a:r>
          </a:p>
        </p:txBody>
      </p:sp>
      <p:sp>
        <p:nvSpPr>
          <p:cNvPr id="68611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5"/>
          <p:cNvSpPr>
            <a:spLocks noGrp="1" noChangeAspec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003580"/>
                  </a:buClr>
                  <a:buFont typeface="Wingdings" pitchFamily="2" charset="2"/>
                  <a:defRPr sz="2600">
                    <a:solidFill>
                      <a:srgbClr val="00358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Защита данных: </a:t>
            </a:r>
            <a:r>
              <a:rPr lang="en-US"/>
              <a:t>RAID</a:t>
            </a: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6E7F4-5171-442E-A7BC-F715B8A3E9BD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90C09060-F0D3-4DE2-8A14-D3F49FD2CBBC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55495F1B-F5C9-42FA-BBD6-9CE6CCFEC71E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D1BF297E-5735-4B1D-A2E2-50BFD287F096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D2129FFF-E7B9-4D97-A9F1-8CABCD2E8CA7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D5A68F20-D6AE-4C85-98C4-4706324C7EB6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754F8723-E65C-41F4-877A-7D0DF92C7FE1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3F600D5A-A2F8-4668-850F-E69976477259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40E20643-D14A-49E1-AEAC-FD16CC920C78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2A19EF4B-FE66-4D80-8C1B-808B28F31026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A9B0BDDA-A0B4-482B-BAAA-7F8BA6F69881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r>
              <a:rPr lang="ru-RU" noProof="0"/>
              <a:t>Вставка таблицы</a:t>
            </a:r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FC45BF55-FA5F-4A5F-A290-D6A0226E9B84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01AFD88A-64D5-4B68-86BC-9FEEDE241841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225425" y="584200"/>
            <a:ext cx="8709025" cy="5978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4772025" y="6661150"/>
            <a:ext cx="3840163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469313" y="6646863"/>
            <a:ext cx="2135187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 - </a:t>
            </a:r>
            <a:fld id="{28A6B691-82C9-4F3B-80DE-78BFB717546D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en-US" altLang="ru-RU"/>
              <a:t> - </a:t>
            </a:r>
            <a:fld id="{4404AD14-80E2-4F1B-B585-A4AA62C2A877}" type="slidenum">
              <a:rPr lang="en-US" altLang="ru-RU" sz="800"/>
              <a:pPr>
                <a:defRPr/>
              </a:pPr>
              <a:t>‹#›</a:t>
            </a:fld>
            <a:endParaRPr lang="en-US" altLang="ru-RU" sz="80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3580"/>
                </a:buClr>
                <a:buFont typeface="Wingdings" pitchFamily="2" charset="2"/>
                <a:defRPr sz="2600">
                  <a:solidFill>
                    <a:srgbClr val="00358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  <a:defRPr/>
              </a:pPr>
              <a:endParaRPr lang="ru-RU" alt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6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25738" y="1828800"/>
            <a:ext cx="6265862" cy="2209800"/>
          </a:xfrm>
        </p:spPr>
        <p:txBody>
          <a:bodyPr/>
          <a:lstStyle/>
          <a:p>
            <a:pPr eaLnBrk="1" hangingPunct="1"/>
            <a:r>
              <a:rPr lang="ru-RU" altLang="ru-RU"/>
              <a:t>Отказы внешних устройств</a:t>
            </a:r>
            <a:r>
              <a:rPr lang="en-US" altLang="ru-RU"/>
              <a:t>: RAID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44704" y="4380932"/>
            <a:ext cx="4373870" cy="167185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ru-RU" altLang="ru-RU" sz="3200" i="1" dirty="0">
                <a:latin typeface="Times New Roman" pitchFamily="18" charset="0"/>
                <a:cs typeface="Times New Roman" pitchFamily="18" charset="0"/>
              </a:rPr>
              <a:t>Корпорация ЕМС</a:t>
            </a:r>
            <a:endParaRPr lang="ru-RU" altLang="ru-RU" sz="3200" dirty="0"/>
          </a:p>
          <a:p>
            <a:pPr eaLnBrk="1" hangingPunct="1">
              <a:lnSpc>
                <a:spcPct val="110000"/>
              </a:lnSpc>
            </a:pPr>
            <a:r>
              <a:rPr lang="ru-RU" altLang="ru-RU" sz="3200" dirty="0"/>
              <a:t>От хранения данных к управлению информацией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3200" dirty="0"/>
              <a:t>Глава 3</a:t>
            </a:r>
            <a:endParaRPr lang="en-US" altLang="ru-RU" sz="32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84477" y="4425784"/>
            <a:ext cx="3405140" cy="169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altLang="ru-RU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Г. Гарсия-Молина, </a:t>
            </a:r>
            <a:br>
              <a:rPr kumimoji="0" lang="ru-RU" altLang="ru-RU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0" lang="ru-RU" altLang="ru-RU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Дж. Ульман, </a:t>
            </a:r>
            <a:r>
              <a:rPr lang="ru-RU" altLang="ru-RU" sz="3200" i="1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Дж. </a:t>
            </a:r>
            <a:r>
              <a:rPr lang="ru-RU" altLang="ru-RU" sz="3200" i="1" kern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Уидом</a:t>
            </a:r>
            <a:endParaRPr lang="ru-RU" altLang="ru-RU" sz="3200" i="1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alt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Системы баз данных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alt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Глава 11</a:t>
            </a:r>
            <a:endParaRPr kumimoji="0" lang="en-US" altLang="ru-RU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7225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План</a:t>
            </a:r>
            <a:endParaRPr lang="en-US" altLang="ru-RU" sz="3600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80988" y="1293637"/>
            <a:ext cx="8604220" cy="4744828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/>
                </a:solidFill>
              </a:rPr>
              <a:t>Категории отказов дисковых устройств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/>
                </a:solidFill>
              </a:rPr>
              <a:t>Устойчивые хранилища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ru-RU" dirty="0">
                <a:solidFill>
                  <a:schemeClr val="bg2"/>
                </a:solidFill>
              </a:rPr>
              <a:t>RAID</a:t>
            </a:r>
            <a:r>
              <a:rPr lang="ru-RU" altLang="ru-RU" dirty="0">
                <a:solidFill>
                  <a:schemeClr val="bg2"/>
                </a:solidFill>
              </a:rPr>
              <a:t> массивы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/>
                </a:solidFill>
              </a:rPr>
              <a:t>Виды </a:t>
            </a:r>
            <a:r>
              <a:rPr lang="en-US" altLang="ru-RU" dirty="0">
                <a:solidFill>
                  <a:schemeClr val="bg2"/>
                </a:solidFill>
              </a:rPr>
              <a:t>RAID</a:t>
            </a:r>
            <a:r>
              <a:rPr lang="ru-RU" altLang="ru-RU" dirty="0">
                <a:solidFill>
                  <a:schemeClr val="bg2"/>
                </a:solidFill>
              </a:rPr>
              <a:t> массивов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/>
                </a:solidFill>
              </a:rPr>
              <a:t>Расчет числа дисков для </a:t>
            </a:r>
            <a:r>
              <a:rPr lang="en-US" altLang="ru-RU" dirty="0">
                <a:solidFill>
                  <a:schemeClr val="bg2"/>
                </a:solidFill>
              </a:rPr>
              <a:t>RAID</a:t>
            </a:r>
            <a:r>
              <a:rPr lang="ru-RU" altLang="ru-RU" dirty="0">
                <a:solidFill>
                  <a:schemeClr val="bg2"/>
                </a:solidFill>
              </a:rPr>
              <a:t> массивов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ru-RU" altLang="ru-RU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ru-RU" altLang="ru-RU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ru-RU" altLang="ru-RU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ru-RU" dirty="0"/>
          </a:p>
          <a:p>
            <a:pPr lvl="1"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5124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12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167688" y="6248400"/>
            <a:ext cx="519112" cy="6096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F7C3FAB3-655F-45A0-ADC5-C15375FCC8DB}" type="slidenum">
              <a:rPr lang="en-US" altLang="ru-RU" sz="800" smtClean="0"/>
              <a:pPr/>
              <a:t>2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7225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Отказы дисковых устройств</a:t>
            </a:r>
            <a:endParaRPr lang="en-US" altLang="ru-RU" sz="360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80988" y="758825"/>
            <a:ext cx="8786812" cy="5797550"/>
          </a:xfrm>
        </p:spPr>
        <p:txBody>
          <a:bodyPr>
            <a:normAutofit fontScale="70000" lnSpcReduction="20000"/>
          </a:bodyPr>
          <a:lstStyle/>
          <a:p>
            <a:pPr lvl="1" algn="ctr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3400" dirty="0"/>
              <a:t>Ситуации, связанные с отказами дисковых приводов, и способы преодоления возможных последствий.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b="1" dirty="0">
                <a:solidFill>
                  <a:srgbClr val="0000CC"/>
                </a:solidFill>
              </a:rPr>
              <a:t>Категории отказов:</a:t>
            </a:r>
          </a:p>
          <a:p>
            <a:pPr lvl="1" eaLnBrk="1" hangingPunct="1">
              <a:lnSpc>
                <a:spcPct val="120000"/>
              </a:lnSpc>
              <a:buClr>
                <a:schemeClr val="bg2"/>
              </a:buClr>
              <a:buSzPct val="100000"/>
              <a:buFont typeface="Wingdings" pitchFamily="2" charset="2"/>
              <a:buChar char="v"/>
              <a:defRPr/>
            </a:pPr>
            <a:r>
              <a:rPr lang="ru-RU" b="1" dirty="0"/>
              <a:t>Перемежающийся отказ </a:t>
            </a:r>
            <a:r>
              <a:rPr lang="ru-RU" dirty="0"/>
              <a:t>(</a:t>
            </a:r>
            <a:r>
              <a:rPr lang="en-US" dirty="0"/>
              <a:t>intermittent failure</a:t>
            </a:r>
            <a:r>
              <a:rPr lang="ru-RU" dirty="0"/>
              <a:t>) — возникает периодически и выражается в том, что одна попытка чтения/записи сектора оказывается безуспешной, но при ее повторении операцию удается выполнить</a:t>
            </a:r>
          </a:p>
          <a:p>
            <a:pPr lvl="1" eaLnBrk="1" hangingPunct="1">
              <a:lnSpc>
                <a:spcPct val="120000"/>
              </a:lnSpc>
              <a:buClr>
                <a:schemeClr val="bg2"/>
              </a:buClr>
              <a:buSzPct val="100000"/>
              <a:buFont typeface="Wingdings" pitchFamily="2" charset="2"/>
              <a:buChar char="v"/>
              <a:defRPr/>
            </a:pPr>
            <a:r>
              <a:rPr lang="ru-RU" b="1" dirty="0"/>
              <a:t>Отказ записи  </a:t>
            </a:r>
            <a:r>
              <a:rPr lang="ru-RU" dirty="0"/>
              <a:t>(</a:t>
            </a:r>
            <a:r>
              <a:rPr lang="en-US" dirty="0"/>
              <a:t>write</a:t>
            </a:r>
            <a:r>
              <a:rPr lang="ru-RU" dirty="0"/>
              <a:t>  </a:t>
            </a:r>
            <a:r>
              <a:rPr lang="en-US" dirty="0"/>
              <a:t>failure</a:t>
            </a:r>
            <a:r>
              <a:rPr lang="ru-RU" dirty="0"/>
              <a:t>) —  часто  возникает  из-за  сбоев  электропитания в момент выполнения операции записи сектора и проявляется в невозможности записи информации и считывания прежнего содержимого сектора.</a:t>
            </a:r>
          </a:p>
          <a:p>
            <a:pPr lvl="1" eaLnBrk="1" hangingPunct="1">
              <a:lnSpc>
                <a:spcPct val="120000"/>
              </a:lnSpc>
              <a:buClr>
                <a:schemeClr val="bg2"/>
              </a:buClr>
              <a:buSzPct val="100000"/>
              <a:buFont typeface="Wingdings" pitchFamily="2" charset="2"/>
              <a:buChar char="v"/>
              <a:defRPr/>
            </a:pPr>
            <a:r>
              <a:rPr lang="ru-RU" b="1" dirty="0"/>
              <a:t>Разрушение носители </a:t>
            </a:r>
            <a:r>
              <a:rPr lang="ru-RU" dirty="0"/>
              <a:t>(</a:t>
            </a:r>
            <a:r>
              <a:rPr lang="en-US" dirty="0"/>
              <a:t>media decay</a:t>
            </a:r>
            <a:r>
              <a:rPr lang="ru-RU" dirty="0"/>
              <a:t>) — часть сектора приходит в негодность, так что операция считывания данных из сектора не может быть выполнена ни при каких обстоятельствах и независимо от количества попыток.</a:t>
            </a:r>
          </a:p>
          <a:p>
            <a:pPr lvl="1" eaLnBrk="1" hangingPunct="1">
              <a:lnSpc>
                <a:spcPct val="120000"/>
              </a:lnSpc>
              <a:buClr>
                <a:schemeClr val="bg2"/>
              </a:buClr>
              <a:buSzPct val="100000"/>
              <a:buFont typeface="Wingdings" pitchFamily="2" charset="2"/>
              <a:buChar char="v"/>
              <a:defRPr/>
            </a:pPr>
            <a:r>
              <a:rPr lang="ru-RU" b="1" dirty="0"/>
              <a:t>Полный отказ диска </a:t>
            </a:r>
            <a:r>
              <a:rPr lang="ru-RU" dirty="0"/>
              <a:t>(</a:t>
            </a:r>
            <a:r>
              <a:rPr lang="en-US" dirty="0"/>
              <a:t>disk crash)</a:t>
            </a:r>
            <a:r>
              <a:rPr lang="ru-RU" dirty="0"/>
              <a:t> – внезапная поломка</a:t>
            </a:r>
            <a:r>
              <a:rPr lang="en-US" dirty="0"/>
              <a:t> </a:t>
            </a:r>
            <a:r>
              <a:rPr lang="ru-RU" dirty="0"/>
              <a:t>при которой дальнейшая эксплуатация НЕ возможна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ru-RU" dirty="0"/>
          </a:p>
          <a:p>
            <a:pPr lvl="1"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5124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512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167688" y="6248400"/>
            <a:ext cx="519112" cy="6096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F7C3FAB3-655F-45A0-ADC5-C15375FCC8DB}" type="slidenum">
              <a:rPr lang="en-US" altLang="ru-RU" sz="800" smtClean="0"/>
              <a:pPr/>
              <a:t>3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7225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Перемежающийся отказ</a:t>
            </a:r>
            <a:endParaRPr lang="en-US" altLang="ru-RU" sz="360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23568" y="758825"/>
            <a:ext cx="8944232" cy="579755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Диски обычно содержат </a:t>
            </a:r>
            <a:r>
              <a:rPr lang="ru-RU" altLang="ru-RU" dirty="0">
                <a:solidFill>
                  <a:srgbClr val="0000CC"/>
                </a:solidFill>
              </a:rPr>
              <a:t>дополнительные избыточные </a:t>
            </a:r>
            <a:r>
              <a:rPr lang="ru-RU" altLang="ru-RU" dirty="0"/>
              <a:t>секторы, позволяющие определить корректность считанной информации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Модель операции считывания/записи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Функция чтения возвращает пару (</a:t>
            </a:r>
            <a:r>
              <a:rPr lang="en-US" altLang="ru-RU" dirty="0" err="1"/>
              <a:t>w,s</a:t>
            </a:r>
            <a:r>
              <a:rPr lang="ru-RU" altLang="ru-RU" dirty="0"/>
              <a:t>), </a:t>
            </a:r>
            <a:br>
              <a:rPr lang="ru-RU" altLang="ru-RU" dirty="0"/>
            </a:br>
            <a:r>
              <a:rPr lang="ru-RU" altLang="ru-RU" dirty="0"/>
              <a:t>где </a:t>
            </a:r>
            <a:r>
              <a:rPr lang="en-US" altLang="ru-RU" b="1" dirty="0">
                <a:solidFill>
                  <a:srgbClr val="0000CC"/>
                </a:solidFill>
              </a:rPr>
              <a:t>w</a:t>
            </a:r>
            <a:r>
              <a:rPr lang="en-US" altLang="ru-RU" dirty="0"/>
              <a:t> – </a:t>
            </a:r>
            <a:r>
              <a:rPr lang="ru-RU" altLang="ru-RU" dirty="0"/>
              <a:t>собственно данные, </a:t>
            </a:r>
            <a:r>
              <a:rPr lang="en-US" altLang="ru-RU" b="1" dirty="0">
                <a:solidFill>
                  <a:srgbClr val="0000CC"/>
                </a:solidFill>
              </a:rPr>
              <a:t>s</a:t>
            </a:r>
            <a:r>
              <a:rPr lang="en-US" altLang="ru-RU" dirty="0"/>
              <a:t> – </a:t>
            </a:r>
            <a:r>
              <a:rPr lang="ru-RU" altLang="ru-RU" dirty="0"/>
              <a:t>бит индикации состояния, свидетельствующий о том успешен ли результат операции: «истина», «ложь».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Если в результате чтения </a:t>
            </a:r>
            <a:r>
              <a:rPr lang="en-US" altLang="ru-RU" dirty="0"/>
              <a:t>s </a:t>
            </a:r>
            <a:r>
              <a:rPr lang="ru-RU" altLang="ru-RU" dirty="0"/>
              <a:t>возвращает «ложь», то можно повторить операцию (предел -100 раз)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Для проверки корректности операции записи можно </a:t>
            </a:r>
            <a:r>
              <a:rPr lang="ru-RU" altLang="ru-RU" u="sng" dirty="0"/>
              <a:t>повторно считывать </a:t>
            </a:r>
            <a:r>
              <a:rPr lang="ru-RU" altLang="ru-RU" dirty="0"/>
              <a:t>записанный сектор и сопоставлять с содержимым того, что записывали. </a:t>
            </a:r>
            <a:br>
              <a:rPr lang="ru-RU" altLang="ru-RU" dirty="0"/>
            </a:br>
            <a:r>
              <a:rPr lang="ru-RU" altLang="ru-RU" dirty="0"/>
              <a:t>Если </a:t>
            </a:r>
            <a:r>
              <a:rPr lang="en-US" altLang="ru-RU" dirty="0"/>
              <a:t>s – </a:t>
            </a:r>
            <a:r>
              <a:rPr lang="ru-RU" altLang="ru-RU" dirty="0"/>
              <a:t>«истина», то считаем, что запись – успешна, если «ложь», то операцию записи следует повторить.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Нельзя полностью исключить ситуацию, когда </a:t>
            </a:r>
            <a:r>
              <a:rPr lang="en-US" altLang="ru-RU" dirty="0"/>
              <a:t>s – </a:t>
            </a:r>
            <a:r>
              <a:rPr lang="ru-RU" altLang="ru-RU" dirty="0"/>
              <a:t>«истина», но считанные данные не верны. Но можно </a:t>
            </a:r>
            <a:r>
              <a:rPr lang="ru-RU" altLang="ru-RU" u="sng" dirty="0"/>
              <a:t>повысить вероятность </a:t>
            </a:r>
            <a:r>
              <a:rPr lang="ru-RU" altLang="ru-RU" dirty="0"/>
              <a:t>того, что </a:t>
            </a:r>
            <a:r>
              <a:rPr lang="en-US" altLang="ru-RU" dirty="0"/>
              <a:t>s</a:t>
            </a:r>
            <a:r>
              <a:rPr lang="ru-RU" altLang="ru-RU" dirty="0"/>
              <a:t> корректно отражает состояние считанных данных.</a:t>
            </a:r>
            <a:endParaRPr lang="en-US" altLang="ru-RU" dirty="0"/>
          </a:p>
        </p:txBody>
      </p:sp>
      <p:sp>
        <p:nvSpPr>
          <p:cNvPr id="6148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6149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050497DF-0830-485A-8921-91B3E86CFA3E}" type="slidenum">
              <a:rPr lang="en-US" altLang="ru-RU" sz="800" smtClean="0"/>
              <a:pPr/>
              <a:t>4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57225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Контрольная сумма</a:t>
            </a:r>
            <a:endParaRPr lang="en-US" altLang="ru-RU" sz="3600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0125" y="778804"/>
            <a:ext cx="8795982" cy="5499169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Каждому сектору носителя соответствуют несколько </a:t>
            </a:r>
            <a:r>
              <a:rPr lang="ru-RU" altLang="ru-RU" dirty="0">
                <a:solidFill>
                  <a:srgbClr val="0000CC"/>
                </a:solidFill>
              </a:rPr>
              <a:t>дополнительных бит </a:t>
            </a:r>
            <a:r>
              <a:rPr lang="ru-RU" altLang="ru-RU" dirty="0"/>
              <a:t>– </a:t>
            </a:r>
            <a:r>
              <a:rPr lang="ru-RU" altLang="ru-RU" b="1" i="1" dirty="0"/>
              <a:t>контрольная сумма (КС)</a:t>
            </a:r>
            <a:r>
              <a:rPr lang="ru-RU" altLang="ru-RU" dirty="0"/>
              <a:t>, которая зависит от содержимого сектора.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Количество </a:t>
            </a:r>
            <a:r>
              <a:rPr lang="ru-RU" altLang="ru-RU" b="1" u="sng" dirty="0"/>
              <a:t>единиц</a:t>
            </a:r>
            <a:r>
              <a:rPr lang="ru-RU" altLang="ru-RU" dirty="0"/>
              <a:t> в наборе битов данных, включая бит четности – ВСЕГДА ЧЕТНО.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Если функция чтения обнаруживает </a:t>
            </a:r>
            <a:r>
              <a:rPr lang="ru-RU" altLang="ru-RU" dirty="0">
                <a:solidFill>
                  <a:srgbClr val="0000CC"/>
                </a:solidFill>
              </a:rPr>
              <a:t>несоответствие между данными и КС</a:t>
            </a:r>
            <a:r>
              <a:rPr lang="ru-RU" altLang="ru-RU" dirty="0"/>
              <a:t>, то она возвращает параметр </a:t>
            </a:r>
            <a:r>
              <a:rPr lang="en-US" altLang="ru-RU" dirty="0"/>
              <a:t>s =</a:t>
            </a:r>
            <a:r>
              <a:rPr lang="ru-RU" altLang="ru-RU" dirty="0"/>
              <a:t> «ложь», противном случае – «истина».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Есть вероятность, что данные в секторе – некорректны, а КС соответствует корректным данным. Например, изменились сразу 2 бита – КС осталась правильной. Вероятность ошибки - ½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Эту вероятность снижают увеличением битов КС.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Например, можно предусмотреть 8 битов четности по 1 на соответствующий бит каждого байта данных в секторе. </a:t>
            </a:r>
            <a:br>
              <a:rPr lang="ru-RU" altLang="ru-RU" dirty="0"/>
            </a:br>
            <a:r>
              <a:rPr lang="ru-RU" altLang="ru-RU" dirty="0"/>
              <a:t>Тогда вероятность ошибки  </a:t>
            </a:r>
            <a:r>
              <a:rPr lang="ru-RU" altLang="ru-RU" baseline="30000" dirty="0"/>
              <a:t>1</a:t>
            </a:r>
            <a:r>
              <a:rPr lang="ru-RU" altLang="ru-RU" dirty="0"/>
              <a:t>/</a:t>
            </a:r>
            <a:r>
              <a:rPr lang="ru-RU" altLang="ru-RU" baseline="-25000" dirty="0"/>
              <a:t>256</a:t>
            </a:r>
            <a:r>
              <a:rPr lang="ru-RU" altLang="ru-RU" dirty="0"/>
              <a:t>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Если использовать</a:t>
            </a:r>
            <a:r>
              <a:rPr lang="en-US" altLang="ru-RU" dirty="0"/>
              <a:t> </a:t>
            </a:r>
            <a:r>
              <a:rPr lang="en-US" altLang="ru-RU" sz="38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dirty="0"/>
              <a:t> </a:t>
            </a:r>
            <a:r>
              <a:rPr lang="ru-RU" altLang="ru-RU" dirty="0"/>
              <a:t>независимых битов четности, то вероятность незамеченных ошибок составляет 1/2</a:t>
            </a:r>
            <a:r>
              <a:rPr lang="en-US" altLang="ru-RU" baseline="30000" dirty="0"/>
              <a:t>n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И если под КС отвести </a:t>
            </a:r>
            <a:r>
              <a:rPr lang="ru-RU" altLang="ru-RU" b="1" dirty="0">
                <a:solidFill>
                  <a:srgbClr val="FF0000"/>
                </a:solidFill>
              </a:rPr>
              <a:t>4 байта</a:t>
            </a:r>
            <a:r>
              <a:rPr lang="ru-RU" altLang="ru-RU" dirty="0"/>
              <a:t>, то ошибка </a:t>
            </a:r>
            <a:r>
              <a:rPr lang="ru-RU" altLang="ru-RU" b="1" dirty="0">
                <a:solidFill>
                  <a:srgbClr val="FF0000"/>
                </a:solidFill>
              </a:rPr>
              <a:t>не будет обнаружена</a:t>
            </a:r>
            <a:r>
              <a:rPr lang="ru-RU" altLang="ru-RU" dirty="0">
                <a:solidFill>
                  <a:srgbClr val="FF0000"/>
                </a:solidFill>
              </a:rPr>
              <a:t> </a:t>
            </a:r>
            <a:r>
              <a:rPr lang="ru-RU" altLang="ru-RU" dirty="0"/>
              <a:t>в </a:t>
            </a:r>
            <a:r>
              <a:rPr lang="ru-RU" altLang="ru-RU" b="1" dirty="0">
                <a:solidFill>
                  <a:srgbClr val="FF0000"/>
                </a:solidFill>
              </a:rPr>
              <a:t>одном из 4 миллиардов</a:t>
            </a:r>
            <a:r>
              <a:rPr lang="ru-RU" altLang="ru-RU" dirty="0">
                <a:solidFill>
                  <a:srgbClr val="0000CC"/>
                </a:solidFill>
              </a:rPr>
              <a:t> </a:t>
            </a:r>
            <a:r>
              <a:rPr lang="ru-RU" altLang="ru-RU" dirty="0"/>
              <a:t>случаев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7172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7173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5182E081-958B-4A04-AF15-DF0B8F717FAB}" type="slidenum">
              <a:rPr lang="en-US" altLang="ru-RU" sz="800" smtClean="0"/>
              <a:pPr/>
              <a:t>5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60439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Устойчивые хранилища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91069" y="480642"/>
            <a:ext cx="8829105" cy="6152169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Механизм контрольных сумм </a:t>
            </a:r>
            <a:r>
              <a:rPr lang="ru-RU" altLang="ru-RU" b="1" i="1" dirty="0">
                <a:solidFill>
                  <a:srgbClr val="0000CC"/>
                </a:solidFill>
              </a:rPr>
              <a:t>позволяет</a:t>
            </a:r>
            <a:r>
              <a:rPr lang="ru-RU" altLang="ru-RU" i="1" dirty="0">
                <a:solidFill>
                  <a:srgbClr val="0000CC"/>
                </a:solidFill>
              </a:rPr>
              <a:t> </a:t>
            </a:r>
            <a:r>
              <a:rPr lang="ru-RU" altLang="ru-RU" b="1" i="1" dirty="0">
                <a:solidFill>
                  <a:srgbClr val="0000CC"/>
                </a:solidFill>
              </a:rPr>
              <a:t>обнаружить</a:t>
            </a:r>
            <a:r>
              <a:rPr lang="ru-RU" altLang="ru-RU" i="1" dirty="0">
                <a:solidFill>
                  <a:srgbClr val="0000CC"/>
                </a:solidFill>
              </a:rPr>
              <a:t> ошибки </a:t>
            </a:r>
            <a:r>
              <a:rPr lang="ru-RU" altLang="ru-RU" i="1" dirty="0"/>
              <a:t>чтения/записи, но </a:t>
            </a:r>
            <a:r>
              <a:rPr lang="ru-RU" altLang="ru-RU" b="1" i="1" dirty="0">
                <a:solidFill>
                  <a:srgbClr val="C00000"/>
                </a:solidFill>
              </a:rPr>
              <a:t>не позволяет </a:t>
            </a:r>
            <a:r>
              <a:rPr lang="ru-RU" altLang="ru-RU" i="1" dirty="0">
                <a:solidFill>
                  <a:srgbClr val="C00000"/>
                </a:solidFill>
              </a:rPr>
              <a:t>их исправить</a:t>
            </a:r>
            <a:r>
              <a:rPr lang="ru-RU" altLang="ru-RU" i="1" dirty="0"/>
              <a:t>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Вполне вероятна ситуация, когда при выполнении попытки записи выясняется, что </a:t>
            </a:r>
            <a:r>
              <a:rPr lang="ru-RU" altLang="ru-RU" dirty="0">
                <a:solidFill>
                  <a:srgbClr val="0000CC"/>
                </a:solidFill>
              </a:rPr>
              <a:t>старое значение сектора уже утрачено</a:t>
            </a:r>
            <a:r>
              <a:rPr lang="ru-RU" altLang="ru-RU" dirty="0"/>
              <a:t>, а </a:t>
            </a:r>
            <a:r>
              <a:rPr lang="ru-RU" altLang="ru-RU" dirty="0">
                <a:solidFill>
                  <a:srgbClr val="C00000"/>
                </a:solidFill>
              </a:rPr>
              <a:t>новое повторно считать не удается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Для преодоления проблемы на основе одного или нескольких дисков можно организовать так называемое </a:t>
            </a:r>
            <a:r>
              <a:rPr lang="ru-RU" altLang="ru-RU" b="1" i="1" dirty="0"/>
              <a:t>устойчивое хранилище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Общая идея – </a:t>
            </a:r>
            <a:r>
              <a:rPr lang="ru-RU" altLang="ru-RU" b="1" dirty="0">
                <a:solidFill>
                  <a:schemeClr val="bg2"/>
                </a:solidFill>
              </a:rPr>
              <a:t>хранить информацию каждого сектора в ПАРЕ</a:t>
            </a:r>
            <a:r>
              <a:rPr lang="ru-RU" altLang="ru-RU" dirty="0"/>
              <a:t>. </a:t>
            </a:r>
            <a:br>
              <a:rPr lang="ru-RU" altLang="ru-RU" dirty="0"/>
            </a:br>
            <a:r>
              <a:rPr lang="ru-RU" altLang="ru-RU" dirty="0">
                <a:solidFill>
                  <a:srgbClr val="0000CC"/>
                </a:solidFill>
              </a:rPr>
              <a:t>Пара</a:t>
            </a:r>
            <a:r>
              <a:rPr lang="ru-RU" altLang="ru-RU" dirty="0"/>
              <a:t> представляет </a:t>
            </a:r>
            <a:r>
              <a:rPr lang="ru-RU" altLang="ru-RU" dirty="0">
                <a:solidFill>
                  <a:srgbClr val="0000CC"/>
                </a:solidFill>
              </a:rPr>
              <a:t>содержимое одного сектора </a:t>
            </a:r>
            <a:r>
              <a:rPr lang="ru-RU" altLang="ru-RU" dirty="0"/>
              <a:t>Х.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Пара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dirty="0"/>
              <a:t>и </a:t>
            </a:r>
            <a:r>
              <a:rPr lang="en-US" altLang="ru-RU" dirty="0"/>
              <a:t>X</a:t>
            </a:r>
            <a:r>
              <a:rPr lang="en-US" altLang="ru-RU" baseline="-25000" dirty="0"/>
              <a:t>R </a:t>
            </a:r>
            <a:r>
              <a:rPr lang="ru-RU" altLang="ru-RU" dirty="0"/>
              <a:t>соответствует сектору Х. Каждый член пары имеет достаточное количество битов четности и если операция чтения возвращает </a:t>
            </a:r>
            <a:r>
              <a:rPr lang="ru-RU" altLang="ru-RU" dirty="0">
                <a:solidFill>
                  <a:srgbClr val="0000CC"/>
                </a:solidFill>
              </a:rPr>
              <a:t>значение сектора </a:t>
            </a:r>
            <a:r>
              <a:rPr lang="en-US" altLang="ru-RU" sz="4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ru-RU" sz="4400" dirty="0"/>
              <a:t> </a:t>
            </a:r>
            <a:r>
              <a:rPr lang="ru-RU" altLang="ru-RU" dirty="0"/>
              <a:t>и </a:t>
            </a:r>
            <a:r>
              <a:rPr lang="en-US" altLang="ru-RU" sz="36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dirty="0"/>
              <a:t> </a:t>
            </a:r>
            <a:r>
              <a:rPr lang="en-US" altLang="ru-RU" dirty="0"/>
              <a:t>–</a:t>
            </a:r>
            <a:r>
              <a:rPr lang="ru-RU" altLang="ru-RU" dirty="0"/>
              <a:t> «истина», то </a:t>
            </a:r>
            <a:r>
              <a:rPr lang="en-US" altLang="ru-RU" sz="36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ru-RU" sz="3600" dirty="0"/>
              <a:t> </a:t>
            </a:r>
            <a:r>
              <a:rPr lang="ru-RU" altLang="ru-RU" dirty="0"/>
              <a:t>верно отображает содержимое Х.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Алгоритм записи: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Сохранить Х в </a:t>
            </a:r>
            <a:r>
              <a:rPr lang="en-US" altLang="ru-RU" dirty="0"/>
              <a:t>X</a:t>
            </a:r>
            <a:r>
              <a:rPr lang="en-US" altLang="ru-RU" baseline="-25000" dirty="0"/>
              <a:t>L</a:t>
            </a:r>
            <a:r>
              <a:rPr lang="ru-RU" altLang="ru-RU" baseline="-25000" dirty="0"/>
              <a:t> </a:t>
            </a:r>
            <a:r>
              <a:rPr lang="ru-RU" altLang="ru-RU" dirty="0"/>
              <a:t>. Если бит индикации «ложь», то повторить операцию. Если после  несколько попыток не удается получить «истина», заменить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baseline="-25000" dirty="0"/>
              <a:t> </a:t>
            </a:r>
            <a:r>
              <a:rPr lang="ru-RU" altLang="ru-RU" dirty="0"/>
              <a:t>на другой сектор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Повторить действия для </a:t>
            </a:r>
            <a:r>
              <a:rPr lang="en-US" altLang="ru-RU" dirty="0"/>
              <a:t>X</a:t>
            </a:r>
            <a:r>
              <a:rPr lang="en-US" altLang="ru-RU" baseline="-25000" dirty="0"/>
              <a:t>R</a:t>
            </a: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Алгоритм чтения: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Считать значение Х из </a:t>
            </a:r>
            <a:r>
              <a:rPr lang="en-US" altLang="ru-RU" dirty="0"/>
              <a:t>X</a:t>
            </a:r>
            <a:r>
              <a:rPr lang="en-US" altLang="ru-RU" baseline="-25000" dirty="0"/>
              <a:t>L</a:t>
            </a:r>
            <a:r>
              <a:rPr lang="ru-RU" altLang="ru-RU" baseline="-25000" dirty="0"/>
              <a:t> </a:t>
            </a:r>
            <a:r>
              <a:rPr lang="ru-RU" altLang="ru-RU" dirty="0"/>
              <a:t>. Если бит индикации «ложь», то повторить операцию несколько раз. Если на некоторой итерации удается получить «истина», считаем, что считанные значения из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baseline="-25000" dirty="0"/>
              <a:t> </a:t>
            </a:r>
            <a:r>
              <a:rPr lang="ru-RU" altLang="ru-RU" dirty="0"/>
              <a:t>содержат Х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Если попытки чтения из </a:t>
            </a:r>
            <a:r>
              <a:rPr lang="en-US" altLang="ru-RU" dirty="0"/>
              <a:t>X</a:t>
            </a:r>
            <a:r>
              <a:rPr lang="en-US" altLang="ru-RU" baseline="-25000" dirty="0"/>
              <a:t>L</a:t>
            </a:r>
            <a:r>
              <a:rPr lang="ru-RU" altLang="ru-RU" dirty="0"/>
              <a:t> оказались безуспешными повторить действия для </a:t>
            </a:r>
            <a:r>
              <a:rPr lang="en-US" altLang="ru-RU" dirty="0"/>
              <a:t>X</a:t>
            </a:r>
            <a:r>
              <a:rPr lang="en-US" altLang="ru-RU" baseline="-25000" dirty="0"/>
              <a:t>R</a:t>
            </a: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8196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3124200" y="6413290"/>
            <a:ext cx="2895600" cy="407233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8197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454450" y="6263390"/>
            <a:ext cx="457199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 dirty="0"/>
              <a:t> - </a:t>
            </a:r>
            <a:fld id="{EFA048B4-D064-462B-AC98-EB9B175C6860}" type="slidenum">
              <a:rPr lang="en-US" altLang="ru-RU" sz="800" smtClean="0"/>
              <a:pPr/>
              <a:t>6</a:t>
            </a:fld>
            <a:endParaRPr lang="en-US" altLang="ru-RU" sz="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60439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1"/>
                </a:solidFill>
              </a:rPr>
              <a:t>Устранение</a:t>
            </a:r>
            <a:r>
              <a:rPr lang="ru-RU" altLang="ru-RU" sz="3200" dirty="0">
                <a:solidFill>
                  <a:schemeClr val="bg2"/>
                </a:solidFill>
              </a:rPr>
              <a:t> последствий ошибок</a:t>
            </a:r>
            <a:endParaRPr lang="en-US" altLang="ru-RU" sz="3200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91069" y="480642"/>
            <a:ext cx="8829105" cy="6152169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Стратегия с хранением информации </a:t>
            </a:r>
            <a:r>
              <a:rPr lang="ru-RU" altLang="ru-RU" b="1" dirty="0"/>
              <a:t>в паре секторов </a:t>
            </a:r>
            <a:r>
              <a:rPr lang="ru-RU" altLang="ru-RU" dirty="0"/>
              <a:t>способна обеспечить устранение последствий ошибок следующих категорий:</a:t>
            </a:r>
            <a:endParaRPr lang="ru-RU" altLang="ru-RU" i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b="1" i="1" dirty="0"/>
              <a:t>Разрушение носителя. </a:t>
            </a:r>
            <a:r>
              <a:rPr lang="ru-RU" altLang="ru-RU" dirty="0"/>
              <a:t>Если после сохранения данных Х в секторах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dirty="0"/>
              <a:t>и </a:t>
            </a:r>
            <a:r>
              <a:rPr lang="en-US" altLang="ru-RU" dirty="0"/>
              <a:t>X</a:t>
            </a:r>
            <a:r>
              <a:rPr lang="en-US" altLang="ru-RU" baseline="-25000" dirty="0"/>
              <a:t>R</a:t>
            </a:r>
            <a:r>
              <a:rPr lang="ru-RU" altLang="ru-RU" dirty="0"/>
              <a:t> один из них приходит в негодность из-за разрушения носителя и становится </a:t>
            </a:r>
            <a:r>
              <a:rPr lang="ru-RU" altLang="ru-RU" i="1" dirty="0"/>
              <a:t>нечитаемым,</a:t>
            </a:r>
            <a:r>
              <a:rPr lang="ru-RU" altLang="ru-RU" dirty="0"/>
              <a:t> то  восстановить значение Х удается всегда, обратившись к другому уцелевшему сектору. См. алгоритм выше. 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b="1" i="1" dirty="0"/>
              <a:t>Отказ записи.  </a:t>
            </a:r>
            <a:r>
              <a:rPr lang="ru-RU" altLang="ru-RU" dirty="0"/>
              <a:t>Пусть в момент записи значения Х произошел кратковременный сбой системы (отключение питания). Вероятна ситуация когда значение Х в ОП утрачено, а его копия повреждена при сохранении на диск. После перезапуска системы мы сможем восстановить либо старое значение, либо новое значение Х. Возможны ситуации: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Сбой произошел в момент записи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baseline="-25000" dirty="0"/>
              <a:t>.</a:t>
            </a:r>
            <a:r>
              <a:rPr lang="ru-RU" altLang="ru-RU" dirty="0"/>
              <a:t> Так как до момента сбоя новые данные в </a:t>
            </a:r>
            <a:r>
              <a:rPr lang="en-US" altLang="ru-RU" dirty="0"/>
              <a:t>X</a:t>
            </a:r>
            <a:r>
              <a:rPr lang="en-US" altLang="ru-RU" baseline="-25000" dirty="0"/>
              <a:t>R</a:t>
            </a:r>
            <a:r>
              <a:rPr lang="ru-RU" altLang="ru-RU" dirty="0"/>
              <a:t> не записывались, то можно извлечь старые корректные данные для Х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Сбой случился после записи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baseline="-25000" dirty="0"/>
              <a:t>.</a:t>
            </a:r>
            <a:r>
              <a:rPr lang="ru-RU" altLang="ru-RU" dirty="0"/>
              <a:t> Тогда в </a:t>
            </a:r>
            <a:r>
              <a:rPr lang="en-US" altLang="ru-RU" dirty="0"/>
              <a:t>X</a:t>
            </a:r>
            <a:r>
              <a:rPr lang="en-US" altLang="ru-RU" baseline="-25000" dirty="0"/>
              <a:t>L </a:t>
            </a:r>
            <a:r>
              <a:rPr lang="ru-RU" altLang="ru-RU" baseline="-25000" dirty="0"/>
              <a:t> </a:t>
            </a:r>
            <a:r>
              <a:rPr lang="ru-RU" altLang="ru-RU" dirty="0"/>
              <a:t> сохранилось уже новое корректное значение Х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8196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3124200" y="6413290"/>
            <a:ext cx="2895600" cy="407233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8197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454450" y="6263390"/>
            <a:ext cx="457199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 dirty="0"/>
              <a:t> - </a:t>
            </a:r>
            <a:fld id="{EFA048B4-D064-462B-AC98-EB9B175C6860}" type="slidenum">
              <a:rPr lang="en-US" altLang="ru-RU" sz="800" smtClean="0"/>
              <a:pPr/>
              <a:t>7</a:t>
            </a:fld>
            <a:endParaRPr lang="en-US" altLang="ru-RU" sz="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0"/>
            <a:ext cx="8382000" cy="590550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chemeClr val="bg1"/>
                </a:solidFill>
              </a:rPr>
              <a:t>Восстановление</a:t>
            </a:r>
            <a:r>
              <a:rPr lang="ru-RU" altLang="ru-RU" sz="2800" dirty="0">
                <a:solidFill>
                  <a:schemeClr val="bg2"/>
                </a:solidFill>
              </a:rPr>
              <a:t> при полном отказе диска</a:t>
            </a:r>
            <a:endParaRPr lang="en-US" altLang="ru-RU" sz="2800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7150" y="609600"/>
            <a:ext cx="9086850" cy="6119004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Полный отказ диска может наступить из-за соприкосновения головок с поверхностью диска. Если не было копии диска, то информация утрачена.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Стратегии, призванные снизить риск потери данных при поломках основаны на модели избыточности и обозначаются общим термином</a:t>
            </a:r>
            <a:r>
              <a:rPr lang="en-US" altLang="ru-RU" dirty="0"/>
              <a:t> RAID</a:t>
            </a: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ru-RU" dirty="0"/>
              <a:t>RAID – redundant (</a:t>
            </a:r>
            <a:r>
              <a:rPr lang="ru-RU" altLang="ru-RU" i="1" dirty="0">
                <a:solidFill>
                  <a:srgbClr val="003580"/>
                </a:solidFill>
              </a:rPr>
              <a:t>излишний</a:t>
            </a:r>
            <a:r>
              <a:rPr lang="ru-RU" altLang="ru-RU" dirty="0"/>
              <a:t>)</a:t>
            </a:r>
            <a:r>
              <a:rPr lang="en-US" altLang="ru-RU" dirty="0"/>
              <a:t> array of independent disks</a:t>
            </a:r>
            <a:endParaRPr lang="ru-RU" altLang="ru-RU" dirty="0"/>
          </a:p>
          <a:p>
            <a:pPr algn="ctr" eaLnBrk="1" hangingPunct="1">
              <a:lnSpc>
                <a:spcPct val="120000"/>
              </a:lnSpc>
              <a:buNone/>
              <a:defRPr/>
            </a:pPr>
            <a:r>
              <a:rPr lang="ru-RU" altLang="ru-RU" b="1" dirty="0"/>
              <a:t>Статистика отказов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Единичный жесткий диск имеет определенный срок службы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Измеряется в MTBF (</a:t>
            </a:r>
            <a:r>
              <a:rPr lang="en-US" altLang="ru-RU" i="1" dirty="0"/>
              <a:t>m</a:t>
            </a:r>
            <a:r>
              <a:rPr lang="en-US" i="1" dirty="0"/>
              <a:t>ean time between failure, </a:t>
            </a:r>
            <a:r>
              <a:rPr lang="ru-RU" altLang="ru-RU" dirty="0"/>
              <a:t>среднее время безотказной работы) </a:t>
            </a:r>
            <a:endParaRPr lang="en-US" altLang="ru-RU" dirty="0"/>
          </a:p>
          <a:p>
            <a:pPr marL="457200" lvl="1" indent="0" eaLnBrk="1" hangingPunct="1">
              <a:lnSpc>
                <a:spcPct val="120000"/>
              </a:lnSpc>
              <a:buClr>
                <a:srgbClr val="C00000"/>
              </a:buClr>
              <a:buNone/>
              <a:defRPr/>
            </a:pPr>
            <a:r>
              <a:rPr lang="en-US" altLang="ru-RU" dirty="0"/>
              <a:t>                       – </a:t>
            </a:r>
            <a:r>
              <a:rPr lang="ru-RU" altLang="ru-RU" dirty="0"/>
              <a:t>50% дисков выходят из строя  </a:t>
            </a:r>
            <a:r>
              <a:rPr lang="en-US" altLang="ru-RU" dirty="0"/>
              <a:t>~</a:t>
            </a:r>
            <a:r>
              <a:rPr lang="ru-RU" altLang="ru-RU" dirty="0"/>
              <a:t> 10 лет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Кривая живучести дисковых устройств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Пример</a:t>
            </a:r>
          </a:p>
          <a:p>
            <a:pPr marL="1080000" lvl="2" indent="0" eaLnBrk="1" hangingPunct="1">
              <a:lnSpc>
                <a:spcPct val="120000"/>
              </a:lnSpc>
              <a:buNone/>
              <a:defRPr/>
            </a:pPr>
            <a:r>
              <a:rPr lang="ru-RU" altLang="ru-RU" dirty="0"/>
              <a:t>Если время наработки на отказ </a:t>
            </a:r>
            <a:r>
              <a:rPr lang="ru-RU" altLang="ru-RU" dirty="0">
                <a:solidFill>
                  <a:srgbClr val="0000CC"/>
                </a:solidFill>
              </a:rPr>
              <a:t>одного диска 750</a:t>
            </a:r>
            <a:r>
              <a:rPr lang="en-US" altLang="ru-RU" dirty="0">
                <a:solidFill>
                  <a:srgbClr val="0000CC"/>
                </a:solidFill>
              </a:rPr>
              <a:t> </a:t>
            </a:r>
            <a:r>
              <a:rPr lang="ru-RU" altLang="ru-RU" dirty="0">
                <a:solidFill>
                  <a:srgbClr val="0000CC"/>
                </a:solidFill>
              </a:rPr>
              <a:t>000 </a:t>
            </a:r>
            <a:r>
              <a:rPr lang="ru-RU" altLang="ru-RU" dirty="0"/>
              <a:t>часов, и массив состоит из 1000 дисков, то MTBF </a:t>
            </a:r>
            <a:r>
              <a:rPr lang="ru-RU" altLang="ru-RU" dirty="0">
                <a:solidFill>
                  <a:srgbClr val="0000CC"/>
                </a:solidFill>
              </a:rPr>
              <a:t>массива становится 750 000/1000 или 750 часов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Среднее время наработки на отказ – это, однако, не то же самое, что среднее время потери данных. </a:t>
            </a:r>
            <a:r>
              <a:rPr lang="en-US" altLang="ru-RU" dirty="0"/>
              <a:t>RAID</a:t>
            </a:r>
            <a:r>
              <a:rPr lang="ru-RU" altLang="ru-RU" dirty="0"/>
              <a:t> позволяет сохранять информацию даже при выходе из строя нескольких дисков.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RAID был введен для смягчения этой проблемы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RAID обеспечивает: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Повышение работоспособности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Более высокую доступность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Повышение производительности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ru-RU" dirty="0"/>
          </a:p>
        </p:txBody>
      </p:sp>
      <p:sp>
        <p:nvSpPr>
          <p:cNvPr id="9220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9221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DE2518B0-F559-474F-93DB-E91B6AA923EC}" type="slidenum">
              <a:rPr lang="en-US" altLang="ru-RU" sz="800" smtClean="0"/>
              <a:pPr/>
              <a:t>8</a:t>
            </a:fld>
            <a:endParaRPr lang="en-US" altLang="ru-RU" sz="800"/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0300" y="5233860"/>
            <a:ext cx="2628900" cy="12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769938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Реализации </a:t>
            </a:r>
            <a:r>
              <a:rPr lang="en-US" altLang="ru-RU" sz="3600" dirty="0">
                <a:solidFill>
                  <a:schemeClr val="bg2"/>
                </a:solidFill>
              </a:rPr>
              <a:t>RAID</a:t>
            </a:r>
            <a:r>
              <a:rPr lang="ru-RU" altLang="ru-RU" sz="3600" dirty="0">
                <a:solidFill>
                  <a:schemeClr val="bg2"/>
                </a:solidFill>
              </a:rPr>
              <a:t> </a:t>
            </a:r>
            <a:endParaRPr lang="en-US" altLang="ru-RU" sz="3600" dirty="0">
              <a:solidFill>
                <a:schemeClr val="bg2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33350" y="1201738"/>
            <a:ext cx="8877300" cy="4462462"/>
          </a:xfrm>
        </p:spPr>
        <p:txBody>
          <a:bodyPr>
            <a:normAutofit/>
          </a:bodyPr>
          <a:lstStyle/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ru-RU" altLang="ru-RU" sz="3600" dirty="0">
                <a:ea typeface="+mn-ea"/>
              </a:rPr>
              <a:t>Существуют 2 реализации </a:t>
            </a:r>
            <a:r>
              <a:rPr lang="en-US" altLang="ru-RU" sz="3600" dirty="0">
                <a:ea typeface="+mn-ea"/>
              </a:rPr>
              <a:t>RAID:</a:t>
            </a:r>
            <a:endParaRPr lang="ru-RU" altLang="ru-RU" sz="3600" dirty="0">
              <a:ea typeface="+mn-ea"/>
            </a:endParaRP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600" dirty="0">
                <a:ea typeface="+mn-ea"/>
              </a:rPr>
              <a:t>На программном уровне</a:t>
            </a:r>
            <a:r>
              <a:rPr lang="en-US" altLang="ru-RU" sz="3600" dirty="0">
                <a:ea typeface="+mn-ea"/>
              </a:rPr>
              <a:t> </a:t>
            </a:r>
            <a:endParaRPr lang="ru-RU" altLang="ru-RU" sz="3600" dirty="0">
              <a:ea typeface="+mn-ea"/>
            </a:endParaRP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600" dirty="0"/>
              <a:t>На аппаратном  уровне</a:t>
            </a: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ru-RU" altLang="ru-RU" sz="3600" dirty="0"/>
              <a:t>		У каждой реализации есть</a:t>
            </a:r>
          </a:p>
          <a:p>
            <a:pPr marL="2114550" lvl="5" indent="-342900">
              <a:buClr>
                <a:srgbClr val="C00000"/>
              </a:buClr>
              <a:buSzPct val="80000"/>
              <a:buFont typeface="Wingdings" pitchFamily="2" charset="2"/>
              <a:buChar char="v"/>
              <a:defRPr/>
            </a:pPr>
            <a:r>
              <a:rPr lang="ru-RU" altLang="ru-RU" sz="3200" dirty="0"/>
              <a:t>плюсы</a:t>
            </a:r>
          </a:p>
          <a:p>
            <a:pPr marL="2114550" lvl="5" indent="-342900">
              <a:buClr>
                <a:srgbClr val="C00000"/>
              </a:buClr>
              <a:buSzPct val="80000"/>
              <a:buFont typeface="Wingdings" pitchFamily="2" charset="2"/>
              <a:buChar char="v"/>
              <a:defRPr/>
            </a:pPr>
            <a:r>
              <a:rPr lang="ru-RU" altLang="ru-RU" sz="3200" dirty="0"/>
              <a:t>минусы</a:t>
            </a: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endParaRPr lang="en-US" altLang="ru-RU" sz="3600" dirty="0">
              <a:ea typeface="+mn-ea"/>
            </a:endParaRPr>
          </a:p>
        </p:txBody>
      </p:sp>
      <p:sp>
        <p:nvSpPr>
          <p:cNvPr id="10244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0245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4F28EAB4-A88C-4845-AEDB-DAE35828494C}" type="slidenum">
              <a:rPr lang="en-US" altLang="ru-RU" sz="800" smtClean="0"/>
              <a:pPr/>
              <a:t>9</a:t>
            </a:fld>
            <a:endParaRPr lang="en-US" altLang="ru-RU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9938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Аппаратное устройство </a:t>
            </a:r>
            <a:r>
              <a:rPr lang="en-US" altLang="ru-RU" sz="3600">
                <a:solidFill>
                  <a:schemeClr val="bg2"/>
                </a:solidFill>
              </a:rPr>
              <a:t>RAID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33349" y="654605"/>
            <a:ext cx="8887083" cy="6088063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3300" dirty="0"/>
              <a:t>Основные функции: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400" dirty="0"/>
              <a:t>Управление группами дисков и их контроль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400" dirty="0"/>
              <a:t>Передача запросов на ввод/вывод между логическими и физическими дисками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400" dirty="0"/>
              <a:t>Восстановление данных после сбоев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500" dirty="0">
                <a:ea typeface="+mn-ea"/>
              </a:rPr>
              <a:t>Для операционной системы на компьютере массив выглядит как обычный диск</a:t>
            </a:r>
            <a:endParaRPr lang="en-US" altLang="ru-RU" sz="3500" dirty="0">
              <a:ea typeface="+mn-ea"/>
            </a:endParaRP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500" dirty="0">
                <a:ea typeface="+mn-ea"/>
              </a:rPr>
              <a:t>Поставляется с программным обеспечением для администратора</a:t>
            </a:r>
          </a:p>
          <a:p>
            <a:pPr algn="ctr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altLang="ru-RU" sz="3400" b="1" dirty="0"/>
              <a:t>Реализации 2-ух видов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300" b="1" dirty="0"/>
              <a:t>Встроенный </a:t>
            </a:r>
            <a:r>
              <a:rPr lang="en-US" altLang="ru-RU" sz="3300" b="1" dirty="0"/>
              <a:t>RAID</a:t>
            </a:r>
            <a:r>
              <a:rPr lang="ru-RU" altLang="ru-RU" sz="3300" b="1" dirty="0"/>
              <a:t>-контроллер </a:t>
            </a:r>
            <a:r>
              <a:rPr lang="ru-RU" altLang="ru-RU" sz="3300" dirty="0"/>
              <a:t>– плата </a:t>
            </a:r>
            <a:r>
              <a:rPr lang="en-US" altLang="ru-RU" sz="3300" dirty="0"/>
              <a:t>RAID</a:t>
            </a:r>
            <a:r>
              <a:rPr lang="ru-RU" altLang="ru-RU" sz="3300" dirty="0"/>
              <a:t>-контроллера устанавливается в компьютер, а жесткие диски подключаются непосредственно к контроллеру</a:t>
            </a:r>
          </a:p>
          <a:p>
            <a:pPr lvl="1" eaLnBrk="1" hangingPunct="1">
              <a:lnSpc>
                <a:spcPct val="120000"/>
              </a:lnSpc>
              <a:buClr>
                <a:srgbClr val="0000CC"/>
              </a:buClr>
              <a:buFont typeface="Wingdings" pitchFamily="2" charset="2"/>
              <a:buChar char="v"/>
              <a:defRPr/>
            </a:pPr>
            <a:r>
              <a:rPr lang="en-US" altLang="ru-RU" sz="2900" dirty="0"/>
              <a:t>RAID</a:t>
            </a:r>
            <a:r>
              <a:rPr lang="ru-RU" altLang="ru-RU" sz="2900" dirty="0"/>
              <a:t> контроллер работает с дисками по</a:t>
            </a:r>
            <a:r>
              <a:rPr lang="en-US" altLang="ru-RU" sz="2900" dirty="0"/>
              <a:t> PCI </a:t>
            </a:r>
            <a:r>
              <a:rPr lang="ru-RU" altLang="ru-RU" sz="2900" dirty="0"/>
              <a:t>шине</a:t>
            </a:r>
          </a:p>
          <a:p>
            <a:pPr lvl="1" eaLnBrk="1" hangingPunct="1">
              <a:lnSpc>
                <a:spcPct val="120000"/>
              </a:lnSpc>
              <a:buClr>
                <a:srgbClr val="0000CC"/>
              </a:buClr>
              <a:buFont typeface="Wingdings" pitchFamily="2" charset="2"/>
              <a:buChar char="v"/>
              <a:defRPr/>
            </a:pPr>
            <a:r>
              <a:rPr lang="ru-RU" altLang="ru-RU" sz="2900" dirty="0"/>
              <a:t>Выпускают также материнские платы со встроенным </a:t>
            </a:r>
            <a:r>
              <a:rPr lang="en-US" altLang="ru-RU" sz="2900" dirty="0"/>
              <a:t>RAID</a:t>
            </a:r>
            <a:endParaRPr lang="ru-RU" altLang="ru-RU" sz="2900" dirty="0"/>
          </a:p>
          <a:p>
            <a:pPr lvl="1" eaLnBrk="1" hangingPunct="1">
              <a:lnSpc>
                <a:spcPct val="120000"/>
              </a:lnSpc>
              <a:buClr>
                <a:srgbClr val="00B050"/>
              </a:buClr>
              <a:buFont typeface="Wingdings" pitchFamily="2" charset="2"/>
              <a:buChar char="Ø"/>
              <a:defRPr/>
            </a:pPr>
            <a:r>
              <a:rPr lang="ru-RU" altLang="ru-RU" sz="2900" b="1" dirty="0">
                <a:solidFill>
                  <a:srgbClr val="00B050"/>
                </a:solidFill>
              </a:rPr>
              <a:t>Плюс</a:t>
            </a:r>
            <a:r>
              <a:rPr lang="ru-RU" altLang="ru-RU" sz="2900" dirty="0"/>
              <a:t> – снижает общую стоимость системы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sz="2900" dirty="0">
                <a:solidFill>
                  <a:srgbClr val="C00000"/>
                </a:solidFill>
              </a:rPr>
              <a:t>Минус </a:t>
            </a:r>
            <a:r>
              <a:rPr lang="ru-RU" altLang="ru-RU" sz="2900" dirty="0"/>
              <a:t>– не дает гибкости, необходимой для высокотехнологичных систем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300" b="1" dirty="0"/>
              <a:t>Внешний </a:t>
            </a:r>
            <a:r>
              <a:rPr lang="en-US" altLang="ru-RU" sz="3300" b="1" dirty="0"/>
              <a:t>RAID</a:t>
            </a:r>
            <a:r>
              <a:rPr lang="ru-RU" altLang="ru-RU" sz="3300" b="1" dirty="0"/>
              <a:t>-контроллер</a:t>
            </a:r>
            <a:r>
              <a:rPr lang="ru-RU" altLang="ru-RU" sz="3300" dirty="0"/>
              <a:t> – устройство для </a:t>
            </a:r>
            <a:r>
              <a:rPr lang="en-US" altLang="ru-RU" sz="3300" dirty="0"/>
              <a:t>RAID</a:t>
            </a:r>
            <a:r>
              <a:rPr lang="ru-RU" altLang="ru-RU" sz="3300" dirty="0"/>
              <a:t>-массивов, функционирующее как интерфейс между компьютером и дисками. Он предоставляет тома дисков для хоста, а хост управляет посредством протокола.</a:t>
            </a:r>
          </a:p>
        </p:txBody>
      </p:sp>
      <p:sp>
        <p:nvSpPr>
          <p:cNvPr id="12292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2293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1BAC8CDF-887E-4A8B-ADE7-978F21251070}" type="slidenum">
              <a:rPr lang="en-US" altLang="ru-RU" sz="800" smtClean="0"/>
              <a:pPr/>
              <a:t>10</a:t>
            </a:fld>
            <a:endParaRPr lang="en-US" altLang="ru-RU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9938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Программная реализации </a:t>
            </a:r>
            <a:r>
              <a:rPr lang="en-US" altLang="ru-RU" sz="3600">
                <a:solidFill>
                  <a:schemeClr val="bg2"/>
                </a:solidFill>
              </a:rPr>
              <a:t>RAID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6874" y="954288"/>
            <a:ext cx="8937523" cy="575622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ru-RU" altLang="ru-RU" sz="2800" dirty="0"/>
              <a:t>Реализуется в виде программы и работает как часть операционной системы</a:t>
            </a:r>
          </a:p>
          <a:p>
            <a:pPr eaLnBrk="1" hangingPunct="1">
              <a:defRPr/>
            </a:pPr>
            <a:r>
              <a:rPr lang="ru-RU" altLang="ru-RU" sz="2800" dirty="0"/>
              <a:t>Не используются специальные контроллеры для управления </a:t>
            </a:r>
            <a:r>
              <a:rPr lang="en-US" altLang="ru-RU" sz="2800" dirty="0"/>
              <a:t>RAID</a:t>
            </a:r>
            <a:r>
              <a:rPr lang="ru-RU" altLang="ru-RU" sz="2800" dirty="0"/>
              <a:t>-массивом</a:t>
            </a:r>
          </a:p>
          <a:p>
            <a:pPr marL="360000" lvl="1" eaLnBrk="1" hangingPunct="1">
              <a:buClr>
                <a:srgbClr val="00B05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Плюсы</a:t>
            </a:r>
          </a:p>
          <a:p>
            <a:pPr marL="720000" lvl="2" eaLnBrk="1" hangingPunct="1">
              <a:buClr>
                <a:srgbClr val="00B05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ПО </a:t>
            </a:r>
            <a:r>
              <a:rPr lang="en-US" altLang="ru-RU" dirty="0"/>
              <a:t>RAID</a:t>
            </a:r>
            <a:r>
              <a:rPr lang="ru-RU" altLang="ru-RU" dirty="0"/>
              <a:t> более рентабельно в эксплуатации</a:t>
            </a:r>
          </a:p>
          <a:p>
            <a:pPr marL="720000" lvl="2" eaLnBrk="1" hangingPunct="1">
              <a:buClr>
                <a:srgbClr val="00B050"/>
              </a:buClr>
              <a:buFont typeface="Wingdings" pitchFamily="2" charset="2"/>
              <a:buChar char="Ø"/>
              <a:defRPr/>
            </a:pPr>
            <a:r>
              <a:rPr lang="ru-RU" altLang="ru-RU" dirty="0"/>
              <a:t>ПО </a:t>
            </a:r>
            <a:r>
              <a:rPr lang="en-US" altLang="ru-RU" dirty="0"/>
              <a:t>RAID</a:t>
            </a:r>
            <a:r>
              <a:rPr lang="ru-RU" altLang="ru-RU" dirty="0"/>
              <a:t> более просто в эксплуатации</a:t>
            </a:r>
          </a:p>
          <a:p>
            <a:pPr marL="360000" lvl="1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Минусы</a:t>
            </a:r>
          </a:p>
          <a:p>
            <a:pPr marL="720000" lvl="2" eaLnBrk="1" hangingPunct="1"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b="1" dirty="0"/>
              <a:t>Производительность: </a:t>
            </a:r>
            <a:r>
              <a:rPr lang="ru-RU" altLang="ru-RU" dirty="0"/>
              <a:t>ПО </a:t>
            </a:r>
            <a:r>
              <a:rPr lang="en-US" altLang="ru-RU" dirty="0"/>
              <a:t>RAID</a:t>
            </a:r>
            <a:r>
              <a:rPr lang="ru-RU" altLang="ru-RU" dirty="0"/>
              <a:t> снижает общую производительность системы,  зависит от загрузки процессора</a:t>
            </a:r>
          </a:p>
          <a:p>
            <a:pPr marL="720000" lvl="2" eaLnBrk="1" hangingPunct="1"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b="1" dirty="0"/>
              <a:t>Поддерживаемые уровни: </a:t>
            </a:r>
            <a:r>
              <a:rPr lang="ru-RU" altLang="ru-RU" dirty="0"/>
              <a:t>не поддерживает все RAID уровни</a:t>
            </a:r>
          </a:p>
          <a:p>
            <a:pPr marL="720000" lvl="2" eaLnBrk="1" hangingPunct="1"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altLang="ru-RU" b="1" dirty="0"/>
              <a:t>Совместимость с операционной системой: </a:t>
            </a:r>
            <a:r>
              <a:rPr lang="ru-RU" altLang="ru-RU" dirty="0"/>
              <a:t>ПО </a:t>
            </a:r>
            <a:r>
              <a:rPr lang="en-US" altLang="ru-RU" dirty="0"/>
              <a:t>RAID</a:t>
            </a:r>
            <a:r>
              <a:rPr lang="ru-RU" altLang="ru-RU" dirty="0"/>
              <a:t> связано с ОС хоста. Изменения в ОС или ПО </a:t>
            </a:r>
            <a:r>
              <a:rPr lang="en-US" altLang="ru-RU" dirty="0"/>
              <a:t>RAID</a:t>
            </a:r>
            <a:r>
              <a:rPr lang="ru-RU" altLang="ru-RU" dirty="0"/>
              <a:t> нужно проверять на совместимость. Теряется гибкость.</a:t>
            </a:r>
            <a:endParaRPr lang="en-US" altLang="ru-RU" dirty="0"/>
          </a:p>
        </p:txBody>
      </p:sp>
      <p:sp>
        <p:nvSpPr>
          <p:cNvPr id="11268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1269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 dirty="0"/>
              <a:t> - </a:t>
            </a:r>
            <a:fld id="{18AC5A48-C223-4490-A990-FFD95F133D11}" type="slidenum">
              <a:rPr lang="en-US" altLang="ru-RU" sz="800" smtClean="0"/>
              <a:pPr/>
              <a:t>11</a:t>
            </a:fld>
            <a:endParaRPr lang="en-US" altLang="ru-RU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6613"/>
          </a:xfrm>
        </p:spPr>
        <p:txBody>
          <a:bodyPr/>
          <a:lstStyle/>
          <a:p>
            <a:pPr algn="ctr" eaLnBrk="1" hangingPunct="1"/>
            <a:r>
              <a:rPr lang="ru-RU" altLang="ru-RU">
                <a:solidFill>
                  <a:srgbClr val="003580"/>
                </a:solidFill>
              </a:rPr>
              <a:t>Компоненты </a:t>
            </a:r>
            <a:r>
              <a:rPr lang="en-US" altLang="ru-RU">
                <a:solidFill>
                  <a:srgbClr val="003580"/>
                </a:solidFill>
              </a:rPr>
              <a:t>RAID </a:t>
            </a:r>
            <a:r>
              <a:rPr lang="ru-RU" altLang="ru-RU">
                <a:solidFill>
                  <a:srgbClr val="003580"/>
                </a:solidFill>
              </a:rPr>
              <a:t>массива</a:t>
            </a:r>
            <a:endParaRPr lang="en-US" altLang="ru-RU">
              <a:solidFill>
                <a:srgbClr val="003580"/>
              </a:solidFill>
            </a:endParaRPr>
          </a:p>
        </p:txBody>
      </p:sp>
      <p:sp>
        <p:nvSpPr>
          <p:cNvPr id="13315" name="Rectangle 7"/>
          <p:cNvSpPr>
            <a:spLocks noGrp="1" noChangeArrowheads="1"/>
          </p:cNvSpPr>
          <p:nvPr>
            <p:ph idx="1"/>
          </p:nvPr>
        </p:nvSpPr>
        <p:spPr>
          <a:xfrm>
            <a:off x="228600" y="1404938"/>
            <a:ext cx="7915275" cy="5329237"/>
          </a:xfrm>
        </p:spPr>
        <p:txBody>
          <a:bodyPr/>
          <a:lstStyle/>
          <a:p>
            <a:pPr marL="341313" indent="-341313" eaLnBrk="1" hangingPunct="1">
              <a:buFont typeface="Wingdings" pitchFamily="2" charset="2"/>
              <a:buNone/>
            </a:pPr>
            <a:endParaRPr lang="en-US" altLang="ru-RU" sz="1400"/>
          </a:p>
          <a:p>
            <a:pPr marL="341313" indent="-341313" eaLnBrk="1" hangingPunct="1"/>
            <a:endParaRPr lang="en-US" altLang="ru-RU" sz="1800"/>
          </a:p>
        </p:txBody>
      </p:sp>
      <p:sp>
        <p:nvSpPr>
          <p:cNvPr id="13316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331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A9820DAE-A076-49DD-A38F-61F6F79C9F1E}" type="slidenum">
              <a:rPr lang="en-US" altLang="ru-RU" sz="800" smtClean="0"/>
              <a:pPr/>
              <a:t>12</a:t>
            </a:fld>
            <a:endParaRPr lang="en-US" altLang="ru-RU" sz="800"/>
          </a:p>
        </p:txBody>
      </p:sp>
      <p:sp>
        <p:nvSpPr>
          <p:cNvPr id="13318" name="AutoShape 2"/>
          <p:cNvSpPr>
            <a:spLocks noChangeArrowheads="1"/>
          </p:cNvSpPr>
          <p:nvPr/>
        </p:nvSpPr>
        <p:spPr bwMode="auto">
          <a:xfrm>
            <a:off x="2873375" y="2092325"/>
            <a:ext cx="4287838" cy="2933700"/>
          </a:xfrm>
          <a:prstGeom prst="roundRect">
            <a:avLst>
              <a:gd name="adj" fmla="val 3338"/>
            </a:avLst>
          </a:prstGeom>
          <a:gradFill rotWithShape="1">
            <a:gsLst>
              <a:gs pos="0">
                <a:srgbClr val="EAF3F2"/>
              </a:gs>
              <a:gs pos="100000">
                <a:srgbClr val="D1E5E4"/>
              </a:gs>
            </a:gsLst>
            <a:lin ang="2700000" scaled="1"/>
          </a:gradFill>
          <a:ln w="12700" algn="ctr">
            <a:solidFill>
              <a:srgbClr val="88B8B6"/>
            </a:solidFill>
            <a:round/>
            <a:headEnd/>
            <a:tailEnd type="none" w="lg" len="med"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3319" name="AutoShape 3"/>
          <p:cNvSpPr>
            <a:spLocks noChangeArrowheads="1"/>
          </p:cNvSpPr>
          <p:nvPr/>
        </p:nvSpPr>
        <p:spPr bwMode="auto">
          <a:xfrm>
            <a:off x="4854575" y="2514600"/>
            <a:ext cx="1876425" cy="2346325"/>
          </a:xfrm>
          <a:prstGeom prst="roundRect">
            <a:avLst>
              <a:gd name="adj" fmla="val 11657"/>
            </a:avLst>
          </a:prstGeom>
          <a:gradFill rotWithShape="1">
            <a:gsLst>
              <a:gs pos="0">
                <a:srgbClr val="E2EAEA"/>
              </a:gs>
              <a:gs pos="100000">
                <a:srgbClr val="F8FAFA"/>
              </a:gs>
            </a:gsLst>
            <a:lin ang="2700000" scaled="1"/>
          </a:gradFill>
          <a:ln w="6350" algn="ctr">
            <a:solidFill>
              <a:srgbClr val="6F9995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3320" name="AutoShape 4"/>
          <p:cNvSpPr>
            <a:spLocks noChangeArrowheads="1"/>
          </p:cNvSpPr>
          <p:nvPr/>
        </p:nvSpPr>
        <p:spPr bwMode="auto">
          <a:xfrm>
            <a:off x="4987925" y="3619500"/>
            <a:ext cx="1590675" cy="1146175"/>
          </a:xfrm>
          <a:prstGeom prst="roundRect">
            <a:avLst>
              <a:gd name="adj" fmla="val 11657"/>
            </a:avLst>
          </a:prstGeom>
          <a:noFill/>
          <a:ln w="6350" algn="ctr">
            <a:solidFill>
              <a:srgbClr val="6F9995"/>
            </a:solidFill>
            <a:prstDash val="dash"/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3321" name="AutoShape 5"/>
          <p:cNvSpPr>
            <a:spLocks noChangeArrowheads="1"/>
          </p:cNvSpPr>
          <p:nvPr/>
        </p:nvSpPr>
        <p:spPr bwMode="auto">
          <a:xfrm>
            <a:off x="4968875" y="2609850"/>
            <a:ext cx="1590675" cy="917575"/>
          </a:xfrm>
          <a:prstGeom prst="roundRect">
            <a:avLst>
              <a:gd name="adj" fmla="val 11657"/>
            </a:avLst>
          </a:prstGeom>
          <a:noFill/>
          <a:ln w="6350" algn="ctr">
            <a:solidFill>
              <a:srgbClr val="6F9995"/>
            </a:solidFill>
            <a:prstDash val="dash"/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3322" name="Line 8"/>
          <p:cNvSpPr>
            <a:spLocks noChangeShapeType="1"/>
          </p:cNvSpPr>
          <p:nvPr/>
        </p:nvSpPr>
        <p:spPr bwMode="auto">
          <a:xfrm>
            <a:off x="1036638" y="3702050"/>
            <a:ext cx="22955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13323" name="Rectangle 9"/>
          <p:cNvSpPr>
            <a:spLocks noChangeArrowheads="1"/>
          </p:cNvSpPr>
          <p:nvPr/>
        </p:nvSpPr>
        <p:spPr bwMode="auto">
          <a:xfrm>
            <a:off x="3192463" y="3330575"/>
            <a:ext cx="1358900" cy="720725"/>
          </a:xfrm>
          <a:prstGeom prst="rect">
            <a:avLst/>
          </a:prstGeom>
          <a:gradFill rotWithShape="1">
            <a:gsLst>
              <a:gs pos="0">
                <a:srgbClr val="86BAB5"/>
              </a:gs>
              <a:gs pos="100000">
                <a:srgbClr val="5B7E7B"/>
              </a:gs>
            </a:gsLst>
            <a:lin ang="2700000" scaled="1"/>
          </a:gradFill>
          <a:ln w="12700" algn="ctr">
            <a:solidFill>
              <a:srgbClr val="88B8B6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3324" name="Text Box 10"/>
          <p:cNvSpPr txBox="1">
            <a:spLocks noChangeArrowheads="1"/>
          </p:cNvSpPr>
          <p:nvPr/>
        </p:nvSpPr>
        <p:spPr bwMode="auto">
          <a:xfrm>
            <a:off x="3386138" y="3467100"/>
            <a:ext cx="971550" cy="4413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lIns="0" tIns="0" rIns="0" bIns="0">
            <a:spAutoFit/>
          </a:bodyPr>
          <a:lstStyle/>
          <a:p>
            <a:pPr defTabSz="941388">
              <a:lnSpc>
                <a:spcPct val="90000"/>
              </a:lnSpc>
            </a:pPr>
            <a:r>
              <a:rPr lang="en-US" altLang="ru-RU" sz="1600" b="1">
                <a:solidFill>
                  <a:schemeClr val="bg1"/>
                </a:solidFill>
              </a:rPr>
              <a:t>RAID</a:t>
            </a:r>
            <a:br>
              <a:rPr lang="en-US" altLang="ru-RU" sz="1600" b="1">
                <a:solidFill>
                  <a:schemeClr val="bg1"/>
                </a:solidFill>
              </a:rPr>
            </a:br>
            <a:r>
              <a:rPr lang="en-US" altLang="ru-RU" sz="1600" b="1">
                <a:solidFill>
                  <a:schemeClr val="bg1"/>
                </a:solidFill>
              </a:rPr>
              <a:t>Controller</a:t>
            </a:r>
          </a:p>
        </p:txBody>
      </p:sp>
      <p:sp>
        <p:nvSpPr>
          <p:cNvPr id="13325" name="Line 11"/>
          <p:cNvSpPr>
            <a:spLocks noChangeShapeType="1"/>
          </p:cNvSpPr>
          <p:nvPr/>
        </p:nvSpPr>
        <p:spPr bwMode="auto">
          <a:xfrm flipH="1">
            <a:off x="6019800" y="4038600"/>
            <a:ext cx="1524000" cy="0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3326" name="Text Box 12"/>
          <p:cNvSpPr txBox="1">
            <a:spLocks noChangeArrowheads="1"/>
          </p:cNvSpPr>
          <p:nvPr/>
        </p:nvSpPr>
        <p:spPr bwMode="auto">
          <a:xfrm>
            <a:off x="7575550" y="3892550"/>
            <a:ext cx="1339850" cy="2127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algn="l" defTabSz="941388"/>
            <a:r>
              <a:rPr lang="en-US" altLang="ru-RU" sz="1400" b="1">
                <a:solidFill>
                  <a:srgbClr val="000610"/>
                </a:solidFill>
                <a:latin typeface="Verdana" pitchFamily="34" charset="0"/>
              </a:rPr>
              <a:t>Hard Disks</a:t>
            </a:r>
          </a:p>
        </p:txBody>
      </p:sp>
      <p:sp>
        <p:nvSpPr>
          <p:cNvPr id="13327" name="Line 13"/>
          <p:cNvSpPr>
            <a:spLocks noChangeShapeType="1"/>
          </p:cNvSpPr>
          <p:nvPr/>
        </p:nvSpPr>
        <p:spPr bwMode="auto">
          <a:xfrm flipH="1">
            <a:off x="6553200" y="2743200"/>
            <a:ext cx="914400" cy="381000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3328" name="Text Box 14"/>
          <p:cNvSpPr txBox="1">
            <a:spLocks noChangeArrowheads="1"/>
          </p:cNvSpPr>
          <p:nvPr/>
        </p:nvSpPr>
        <p:spPr bwMode="auto">
          <a:xfrm>
            <a:off x="7556500" y="2498725"/>
            <a:ext cx="1339850" cy="42545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algn="l" defTabSz="941388"/>
            <a:r>
              <a:rPr lang="en-US" altLang="ru-RU" sz="1400" b="1">
                <a:solidFill>
                  <a:srgbClr val="000610"/>
                </a:solidFill>
                <a:latin typeface="Verdana" pitchFamily="34" charset="0"/>
              </a:rPr>
              <a:t>Logical  Array</a:t>
            </a:r>
          </a:p>
        </p:txBody>
      </p:sp>
      <p:sp>
        <p:nvSpPr>
          <p:cNvPr id="13329" name="Text Box 15"/>
          <p:cNvSpPr txBox="1">
            <a:spLocks noChangeArrowheads="1"/>
          </p:cNvSpPr>
          <p:nvPr/>
        </p:nvSpPr>
        <p:spPr bwMode="auto">
          <a:xfrm>
            <a:off x="7575550" y="1524000"/>
            <a:ext cx="1339850" cy="42545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algn="l" defTabSz="941388"/>
            <a:r>
              <a:rPr lang="en-US" altLang="ru-RU" sz="1400" b="1">
                <a:solidFill>
                  <a:srgbClr val="000610"/>
                </a:solidFill>
                <a:latin typeface="Verdana" pitchFamily="34" charset="0"/>
              </a:rPr>
              <a:t>Physical Array</a:t>
            </a:r>
          </a:p>
        </p:txBody>
      </p:sp>
      <p:sp>
        <p:nvSpPr>
          <p:cNvPr id="13330" name="Line 16"/>
          <p:cNvSpPr>
            <a:spLocks noChangeShapeType="1"/>
          </p:cNvSpPr>
          <p:nvPr/>
        </p:nvSpPr>
        <p:spPr bwMode="auto">
          <a:xfrm flipH="1">
            <a:off x="6572250" y="1943100"/>
            <a:ext cx="914400" cy="0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non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3331" name="Line 17"/>
          <p:cNvSpPr>
            <a:spLocks noChangeShapeType="1"/>
          </p:cNvSpPr>
          <p:nvPr/>
        </p:nvSpPr>
        <p:spPr bwMode="auto">
          <a:xfrm flipH="1">
            <a:off x="5848350" y="1943100"/>
            <a:ext cx="723900" cy="533400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3332" name="Text Box 18"/>
          <p:cNvSpPr txBox="1">
            <a:spLocks noChangeArrowheads="1"/>
          </p:cNvSpPr>
          <p:nvPr/>
        </p:nvSpPr>
        <p:spPr bwMode="auto">
          <a:xfrm>
            <a:off x="4464050" y="5272088"/>
            <a:ext cx="1133475" cy="2127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400" b="1">
                <a:solidFill>
                  <a:srgbClr val="000610"/>
                </a:solidFill>
                <a:latin typeface="Verdana" pitchFamily="34" charset="0"/>
              </a:rPr>
              <a:t>RAID Array</a:t>
            </a:r>
          </a:p>
        </p:txBody>
      </p:sp>
      <p:sp>
        <p:nvSpPr>
          <p:cNvPr id="13333" name="Line 19"/>
          <p:cNvSpPr>
            <a:spLocks noChangeShapeType="1"/>
          </p:cNvSpPr>
          <p:nvPr/>
        </p:nvSpPr>
        <p:spPr bwMode="auto">
          <a:xfrm flipH="1">
            <a:off x="6553200" y="2819400"/>
            <a:ext cx="914400" cy="914400"/>
          </a:xfrm>
          <a:prstGeom prst="line">
            <a:avLst/>
          </a:prstGeom>
          <a:noFill/>
          <a:ln w="25400">
            <a:solidFill>
              <a:srgbClr val="000610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3334" name="Group 20"/>
          <p:cNvGrpSpPr>
            <a:grpSpLocks/>
          </p:cNvGrpSpPr>
          <p:nvPr/>
        </p:nvGrpSpPr>
        <p:grpSpPr bwMode="auto">
          <a:xfrm>
            <a:off x="5334000" y="3810000"/>
            <a:ext cx="838200" cy="838200"/>
            <a:chOff x="3264" y="384"/>
            <a:chExt cx="528" cy="528"/>
          </a:xfrm>
        </p:grpSpPr>
        <p:pic>
          <p:nvPicPr>
            <p:cNvPr id="13341" name="Picture 21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64" y="384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2" name="Picture 22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0" y="480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3" name="Picture 23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56" y="576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3335" name="Picture 24" descr="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7432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36" name="Picture 25" descr="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8956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337" name="Group 26"/>
          <p:cNvGrpSpPr>
            <a:grpSpLocks/>
          </p:cNvGrpSpPr>
          <p:nvPr/>
        </p:nvGrpSpPr>
        <p:grpSpPr bwMode="auto">
          <a:xfrm>
            <a:off x="371475" y="2819400"/>
            <a:ext cx="1441450" cy="2117725"/>
            <a:chOff x="234" y="1776"/>
            <a:chExt cx="908" cy="1334"/>
          </a:xfrm>
        </p:grpSpPr>
        <p:sp>
          <p:nvSpPr>
            <p:cNvPr id="13339" name="Text Box 27"/>
            <p:cNvSpPr txBox="1">
              <a:spLocks noChangeArrowheads="1"/>
            </p:cNvSpPr>
            <p:nvPr/>
          </p:nvSpPr>
          <p:spPr bwMode="auto">
            <a:xfrm>
              <a:off x="288" y="2976"/>
              <a:ext cx="854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  <p:pic>
          <p:nvPicPr>
            <p:cNvPr id="13340" name="Picture 28" descr="host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34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38" name="Line 29"/>
          <p:cNvSpPr>
            <a:spLocks noChangeShapeType="1"/>
          </p:cNvSpPr>
          <p:nvPr/>
        </p:nvSpPr>
        <p:spPr bwMode="auto">
          <a:xfrm>
            <a:off x="4541838" y="3733800"/>
            <a:ext cx="3048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635000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Уровни </a:t>
            </a:r>
            <a:r>
              <a:rPr lang="en-US" altLang="ru-RU" sz="3600">
                <a:solidFill>
                  <a:schemeClr val="bg2"/>
                </a:solidFill>
              </a:rPr>
              <a:t>RAID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73050" y="898525"/>
            <a:ext cx="8437563" cy="566261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0 – Распределенный  массив (</a:t>
            </a:r>
            <a:r>
              <a:rPr lang="en-US" altLang="ru-RU" dirty="0"/>
              <a:t>Striped array </a:t>
            </a:r>
            <a:r>
              <a:rPr lang="ru-RU" altLang="ru-RU" dirty="0"/>
              <a:t>) без отказоустойчивости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1 – </a:t>
            </a:r>
            <a:r>
              <a:rPr lang="ru-RU" altLang="ru-RU" dirty="0" err="1"/>
              <a:t>Зеркалирование</a:t>
            </a:r>
            <a:r>
              <a:rPr lang="ru-RU" altLang="ru-RU" dirty="0"/>
              <a:t> диска (</a:t>
            </a:r>
            <a:r>
              <a:rPr lang="en-US" altLang="ru-RU" dirty="0"/>
              <a:t>mirroring)</a:t>
            </a: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Вложенный RAID (т.е. 1 + 0, 0 + 1 и т.д.)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3 – Параллельный  доступ к массиву с выделенным диском четности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4 – Распределенный массив с чередованием независимых дисков и выделенным диском четности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5 – Распределенный массив с чередованием независимых дисков и распределенный контроль четности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6 массив с чередованием независимых дисков и двойной распределенной четностью</a:t>
            </a:r>
          </a:p>
        </p:txBody>
      </p:sp>
      <p:sp>
        <p:nvSpPr>
          <p:cNvPr id="14340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4341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E375CCC0-DD74-4FA4-8B1E-A75DC035676E}" type="slidenum">
              <a:rPr lang="en-US" altLang="ru-RU" sz="800" smtClean="0"/>
              <a:pPr/>
              <a:t>13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3663"/>
            <a:ext cx="9144000" cy="774700"/>
          </a:xfrm>
        </p:spPr>
        <p:txBody>
          <a:bodyPr/>
          <a:lstStyle/>
          <a:p>
            <a:pPr algn="ctr" eaLnBrk="1" hangingPunct="1"/>
            <a:r>
              <a:rPr lang="ru-RU" altLang="ru-RU" sz="3200">
                <a:solidFill>
                  <a:schemeClr val="bg2"/>
                </a:solidFill>
              </a:rPr>
              <a:t>Разбиение на полосы(</a:t>
            </a:r>
            <a:r>
              <a:rPr lang="en-US" altLang="ru-RU" sz="3200">
                <a:solidFill>
                  <a:schemeClr val="bg2"/>
                </a:solidFill>
              </a:rPr>
              <a:t>strip)</a:t>
            </a:r>
            <a:r>
              <a:rPr lang="ru-RU" altLang="ru-RU" sz="3200">
                <a:solidFill>
                  <a:schemeClr val="bg2"/>
                </a:solidFill>
              </a:rPr>
              <a:t> и дорожки (</a:t>
            </a:r>
            <a:r>
              <a:rPr lang="en-US" altLang="ru-RU" sz="3200">
                <a:solidFill>
                  <a:schemeClr val="bg2"/>
                </a:solidFill>
              </a:rPr>
              <a:t>stripe</a:t>
            </a:r>
            <a:r>
              <a:rPr lang="ru-RU" altLang="ru-RU" sz="3200">
                <a:solidFill>
                  <a:schemeClr val="bg2"/>
                </a:solidFill>
              </a:rPr>
              <a:t>)</a:t>
            </a:r>
            <a:r>
              <a:rPr lang="en-US" altLang="ru-RU" sz="32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363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3748088" y="6311900"/>
            <a:ext cx="28956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536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BE270B97-534E-4F5C-94BB-07E10F41BD2B}" type="slidenum">
              <a:rPr lang="en-US" altLang="ru-RU" sz="800" smtClean="0"/>
              <a:pPr/>
              <a:t>14</a:t>
            </a:fld>
            <a:endParaRPr lang="en-US" altLang="ru-RU" sz="800"/>
          </a:p>
        </p:txBody>
      </p:sp>
      <p:sp>
        <p:nvSpPr>
          <p:cNvPr id="15365" name="Line 8"/>
          <p:cNvSpPr>
            <a:spLocks noChangeShapeType="1"/>
          </p:cNvSpPr>
          <p:nvPr/>
        </p:nvSpPr>
        <p:spPr bwMode="auto">
          <a:xfrm flipH="1">
            <a:off x="3308350" y="6705600"/>
            <a:ext cx="47942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none" w="med" len="lg"/>
            <a:tailEnd type="triangle" w="med" len="med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15366" name="Line 16"/>
          <p:cNvSpPr>
            <a:spLocks noChangeShapeType="1"/>
          </p:cNvSpPr>
          <p:nvPr/>
        </p:nvSpPr>
        <p:spPr bwMode="auto">
          <a:xfrm>
            <a:off x="3886200" y="4800600"/>
            <a:ext cx="0" cy="381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5367" name="Line 17"/>
          <p:cNvSpPr>
            <a:spLocks noChangeShapeType="1"/>
          </p:cNvSpPr>
          <p:nvPr/>
        </p:nvSpPr>
        <p:spPr bwMode="auto">
          <a:xfrm>
            <a:off x="5715000" y="4800600"/>
            <a:ext cx="0" cy="381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non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5368" name="Text Box 18"/>
          <p:cNvSpPr txBox="1">
            <a:spLocks noChangeArrowheads="1"/>
          </p:cNvSpPr>
          <p:nvPr/>
        </p:nvSpPr>
        <p:spPr bwMode="auto">
          <a:xfrm>
            <a:off x="2398713" y="4892675"/>
            <a:ext cx="1430337" cy="182563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ru-RU" sz="1200" b="1">
                <a:latin typeface="Verdana" pitchFamily="34" charset="0"/>
              </a:rPr>
              <a:t>Strip 1=64KB</a:t>
            </a:r>
          </a:p>
        </p:txBody>
      </p:sp>
      <p:grpSp>
        <p:nvGrpSpPr>
          <p:cNvPr id="5" name="Группа 4"/>
          <p:cNvGrpSpPr>
            <a:grpSpLocks/>
          </p:cNvGrpSpPr>
          <p:nvPr/>
        </p:nvGrpSpPr>
        <p:grpSpPr bwMode="auto">
          <a:xfrm>
            <a:off x="457200" y="4084638"/>
            <a:ext cx="8229600" cy="2392362"/>
            <a:chOff x="457200" y="4084638"/>
            <a:chExt cx="8229600" cy="2392362"/>
          </a:xfrm>
        </p:grpSpPr>
        <p:grpSp>
          <p:nvGrpSpPr>
            <p:cNvPr id="16567" name="Группа 3"/>
            <p:cNvGrpSpPr>
              <a:grpSpLocks/>
            </p:cNvGrpSpPr>
            <p:nvPr/>
          </p:nvGrpSpPr>
          <p:grpSpPr bwMode="auto">
            <a:xfrm>
              <a:off x="1981200" y="4800600"/>
              <a:ext cx="5410200" cy="914400"/>
              <a:chOff x="1981200" y="4800600"/>
              <a:chExt cx="5410200" cy="914400"/>
            </a:xfrm>
          </p:grpSpPr>
          <p:sp>
            <p:nvSpPr>
              <p:cNvPr id="16584" name="Rectangle 15"/>
              <p:cNvSpPr>
                <a:spLocks noChangeArrowheads="1"/>
              </p:cNvSpPr>
              <p:nvPr/>
            </p:nvSpPr>
            <p:spPr bwMode="auto">
              <a:xfrm>
                <a:off x="2362200" y="4800600"/>
                <a:ext cx="5029200" cy="381000"/>
              </a:xfrm>
              <a:prstGeom prst="rect">
                <a:avLst/>
              </a:prstGeom>
              <a:solidFill>
                <a:schemeClr val="accent1">
                  <a:alpha val="70979"/>
                </a:schemeClr>
              </a:solidFill>
              <a:ln w="25400" algn="ctr">
                <a:solidFill>
                  <a:srgbClr val="000000"/>
                </a:solidFill>
                <a:miter lim="800000"/>
                <a:headEnd/>
                <a:tailEnd type="none" w="lg" len="med"/>
              </a:ln>
            </p:spPr>
            <p:txBody>
              <a:bodyPr wrap="none" lIns="0" tIns="0" rIns="0" bIns="0" anchor="ctr"/>
              <a:lstStyle/>
              <a:p>
                <a:endParaRPr lang="ru-RU" altLang="ru-RU"/>
              </a:p>
            </p:txBody>
          </p:sp>
          <p:sp>
            <p:nvSpPr>
              <p:cNvPr id="16585" name="Line 21"/>
              <p:cNvSpPr>
                <a:spLocks noChangeShapeType="1"/>
              </p:cNvSpPr>
              <p:nvPr/>
            </p:nvSpPr>
            <p:spPr bwMode="auto">
              <a:xfrm>
                <a:off x="3886200" y="5181600"/>
                <a:ext cx="609600" cy="533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  <p:sp>
            <p:nvSpPr>
              <p:cNvPr id="16586" name="Line 22"/>
              <p:cNvSpPr>
                <a:spLocks noChangeShapeType="1"/>
              </p:cNvSpPr>
              <p:nvPr/>
            </p:nvSpPr>
            <p:spPr bwMode="auto">
              <a:xfrm flipH="1">
                <a:off x="5334000" y="5181600"/>
                <a:ext cx="381000" cy="533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  <p:sp>
            <p:nvSpPr>
              <p:cNvPr id="16587" name="Line 24"/>
              <p:cNvSpPr>
                <a:spLocks noChangeShapeType="1"/>
              </p:cNvSpPr>
              <p:nvPr/>
            </p:nvSpPr>
            <p:spPr bwMode="auto">
              <a:xfrm flipH="1">
                <a:off x="1981200" y="5181600"/>
                <a:ext cx="381000" cy="4572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  <p:sp>
            <p:nvSpPr>
              <p:cNvPr id="16588" name="Line 25"/>
              <p:cNvSpPr>
                <a:spLocks noChangeShapeType="1"/>
              </p:cNvSpPr>
              <p:nvPr/>
            </p:nvSpPr>
            <p:spPr bwMode="auto">
              <a:xfrm flipH="1">
                <a:off x="2971800" y="5181600"/>
                <a:ext cx="914400" cy="4572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  <p:sp>
            <p:nvSpPr>
              <p:cNvPr id="16589" name="Line 26"/>
              <p:cNvSpPr>
                <a:spLocks noChangeShapeType="1"/>
              </p:cNvSpPr>
              <p:nvPr/>
            </p:nvSpPr>
            <p:spPr bwMode="auto">
              <a:xfrm>
                <a:off x="5715000" y="5181600"/>
                <a:ext cx="1219200" cy="533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</p:grpSp>
        <p:grpSp>
          <p:nvGrpSpPr>
            <p:cNvPr id="16568" name="Группа 2"/>
            <p:cNvGrpSpPr>
              <a:grpSpLocks/>
            </p:cNvGrpSpPr>
            <p:nvPr/>
          </p:nvGrpSpPr>
          <p:grpSpPr bwMode="auto">
            <a:xfrm>
              <a:off x="457200" y="4084638"/>
              <a:ext cx="8229600" cy="2392362"/>
              <a:chOff x="457200" y="4084638"/>
              <a:chExt cx="8229600" cy="2392362"/>
            </a:xfrm>
          </p:grpSpPr>
          <p:sp>
            <p:nvSpPr>
              <p:cNvPr id="2959363" name="Rectangle 3"/>
              <p:cNvSpPr>
                <a:spLocks noChangeArrowheads="1"/>
              </p:cNvSpPr>
              <p:nvPr/>
            </p:nvSpPr>
            <p:spPr bwMode="auto">
              <a:xfrm>
                <a:off x="466725" y="6000750"/>
                <a:ext cx="8220075" cy="177800"/>
              </a:xfrm>
              <a:prstGeom prst="rect">
                <a:avLst/>
              </a:pr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570" name="Rectangle 4"/>
              <p:cNvSpPr>
                <a:spLocks noChangeArrowheads="1"/>
              </p:cNvSpPr>
              <p:nvPr/>
            </p:nvSpPr>
            <p:spPr bwMode="auto">
              <a:xfrm flipV="1">
                <a:off x="457200" y="5721350"/>
                <a:ext cx="8220075" cy="176213"/>
              </a:xfrm>
              <a:prstGeom prst="rect">
                <a:avLst/>
              </a:prstGeom>
              <a:gradFill rotWithShape="1">
                <a:gsLst>
                  <a:gs pos="0">
                    <a:srgbClr val="D4786C"/>
                  </a:gs>
                  <a:gs pos="50000">
                    <a:srgbClr val="E5ACA5"/>
                  </a:gs>
                  <a:gs pos="100000">
                    <a:srgbClr val="D4786C"/>
                  </a:gs>
                </a:gsLst>
                <a:lin ang="5400000" scaled="1"/>
              </a:gra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 altLang="ru-RU"/>
              </a:p>
            </p:txBody>
          </p:sp>
          <p:sp>
            <p:nvSpPr>
              <p:cNvPr id="16571" name="Text Box 5"/>
              <p:cNvSpPr txBox="1">
                <a:spLocks noChangeArrowheads="1"/>
              </p:cNvSpPr>
              <p:nvPr/>
            </p:nvSpPr>
            <p:spPr bwMode="auto">
              <a:xfrm>
                <a:off x="542925" y="5705475"/>
                <a:ext cx="785813" cy="21272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 type="none" w="lg" len="med"/>
              </a:ln>
            </p:spPr>
            <p:txBody>
              <a:bodyPr wrap="none" lIns="0" tIns="0" rIns="0" bIns="0">
                <a:spAutoFit/>
              </a:bodyPr>
              <a:lstStyle/>
              <a:p>
                <a:pPr marL="354013" indent="-354013" defTabSz="941388"/>
                <a:r>
                  <a:rPr lang="en-US" altLang="ru-RU" sz="1400" b="1">
                    <a:solidFill>
                      <a:schemeClr val="bg1"/>
                    </a:solidFill>
                    <a:latin typeface="Verdana" pitchFamily="34" charset="0"/>
                  </a:rPr>
                  <a:t>Stripe 1</a:t>
                </a:r>
              </a:p>
            </p:txBody>
          </p:sp>
          <p:sp>
            <p:nvSpPr>
              <p:cNvPr id="16572" name="Text Box 6"/>
              <p:cNvSpPr txBox="1">
                <a:spLocks noChangeArrowheads="1"/>
              </p:cNvSpPr>
              <p:nvPr/>
            </p:nvSpPr>
            <p:spPr bwMode="auto">
              <a:xfrm>
                <a:off x="542925" y="5986463"/>
                <a:ext cx="785813" cy="21272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 type="none" w="lg" len="med"/>
              </a:ln>
            </p:spPr>
            <p:txBody>
              <a:bodyPr wrap="none" lIns="0" tIns="0" rIns="0" bIns="0">
                <a:spAutoFit/>
              </a:bodyPr>
              <a:lstStyle/>
              <a:p>
                <a:pPr marL="354013" indent="-354013" defTabSz="941388"/>
                <a:r>
                  <a:rPr lang="en-US" altLang="ru-RU" sz="1400" b="1">
                    <a:solidFill>
                      <a:schemeClr val="bg1"/>
                    </a:solidFill>
                    <a:latin typeface="Verdana" pitchFamily="34" charset="0"/>
                  </a:rPr>
                  <a:t>Stripe 2</a:t>
                </a:r>
              </a:p>
            </p:txBody>
          </p:sp>
          <p:pic>
            <p:nvPicPr>
              <p:cNvPr id="16573" name="Picture 9" descr="strippeddis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981200" y="5602288"/>
                <a:ext cx="9906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74" name="Line 10"/>
              <p:cNvSpPr>
                <a:spLocks noChangeShapeType="1"/>
              </p:cNvSpPr>
              <p:nvPr/>
            </p:nvSpPr>
            <p:spPr bwMode="auto">
              <a:xfrm>
                <a:off x="3786188" y="5800725"/>
                <a:ext cx="544512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none" w="med" len="lg"/>
                <a:tailEnd type="triangl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6575" name="Line 11"/>
              <p:cNvSpPr>
                <a:spLocks noChangeShapeType="1"/>
              </p:cNvSpPr>
              <p:nvPr/>
            </p:nvSpPr>
            <p:spPr bwMode="auto">
              <a:xfrm>
                <a:off x="3781425" y="6105525"/>
                <a:ext cx="549275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none" w="med" len="lg"/>
                <a:tailEnd type="triangl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6576" name="Line 12"/>
              <p:cNvSpPr>
                <a:spLocks noChangeShapeType="1"/>
              </p:cNvSpPr>
              <p:nvPr/>
            </p:nvSpPr>
            <p:spPr bwMode="auto">
              <a:xfrm flipH="1">
                <a:off x="3048000" y="5800725"/>
                <a:ext cx="736600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none" w="med" len="lg"/>
                <a:tailEnd type="triangl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6577" name="Line 13"/>
              <p:cNvSpPr>
                <a:spLocks noChangeShapeType="1"/>
              </p:cNvSpPr>
              <p:nvPr/>
            </p:nvSpPr>
            <p:spPr bwMode="auto">
              <a:xfrm flipH="1">
                <a:off x="3048000" y="6105525"/>
                <a:ext cx="731838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none" w="med" len="lg"/>
                <a:tailEnd type="triangle" w="med" len="med"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6578" name="Line 14"/>
              <p:cNvSpPr>
                <a:spLocks noChangeShapeType="1"/>
              </p:cNvSpPr>
              <p:nvPr/>
            </p:nvSpPr>
            <p:spPr bwMode="auto">
              <a:xfrm>
                <a:off x="3733800" y="5800725"/>
                <a:ext cx="7938" cy="609600"/>
              </a:xfrm>
              <a:prstGeom prst="line">
                <a:avLst/>
              </a:prstGeom>
              <a:noFill/>
              <a:ln w="1587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pic>
            <p:nvPicPr>
              <p:cNvPr id="16579" name="Picture 23" descr="strippeddis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19600" y="5638800"/>
                <a:ext cx="9906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580" name="Picture 28" descr="strippeddis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934200" y="5638800"/>
                <a:ext cx="9906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16581" name="Group 29"/>
              <p:cNvGrpSpPr>
                <a:grpSpLocks/>
              </p:cNvGrpSpPr>
              <p:nvPr/>
            </p:nvGrpSpPr>
            <p:grpSpPr bwMode="auto">
              <a:xfrm>
                <a:off x="2209800" y="4084638"/>
                <a:ext cx="5334000" cy="792162"/>
                <a:chOff x="1440" y="2477"/>
                <a:chExt cx="3360" cy="499"/>
              </a:xfrm>
            </p:grpSpPr>
            <p:sp>
              <p:nvSpPr>
                <p:cNvPr id="16582" name="AutoShape 30"/>
                <p:cNvSpPr>
                  <a:spLocks/>
                </p:cNvSpPr>
                <p:nvPr/>
              </p:nvSpPr>
              <p:spPr bwMode="auto">
                <a:xfrm rot="-5400000">
                  <a:off x="2928" y="1104"/>
                  <a:ext cx="384" cy="3360"/>
                </a:xfrm>
                <a:prstGeom prst="rightBrace">
                  <a:avLst>
                    <a:gd name="adj1" fmla="val 72917"/>
                    <a:gd name="adj2" fmla="val 50000"/>
                  </a:avLst>
                </a:prstGeom>
                <a:noFill/>
                <a:ln w="12700">
                  <a:solidFill>
                    <a:srgbClr val="FF00FF"/>
                  </a:solidFill>
                  <a:round/>
                  <a:headEnd/>
                  <a:tailEnd type="none" w="lg" len="med"/>
                </a:ln>
              </p:spPr>
              <p:txBody>
                <a:bodyPr wrap="none" lIns="0" tIns="0" rIns="0" bIns="0" anchor="ctr"/>
                <a:lstStyle/>
                <a:p>
                  <a:endParaRPr lang="ru-RU" altLang="ru-RU"/>
                </a:p>
              </p:txBody>
            </p:sp>
            <p:sp>
              <p:nvSpPr>
                <p:cNvPr id="1658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544" y="2477"/>
                  <a:ext cx="1152" cy="115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 type="none" w="lg" len="med"/>
                </a:ln>
              </p:spPr>
              <p:txBody>
                <a:bodyPr lIns="0" tIns="0" rIns="0" bIns="0">
                  <a:spAutoFit/>
                </a:bodyPr>
                <a:lstStyle/>
                <a:p>
                  <a:pPr marL="354013" indent="-354013" defTabSz="941388"/>
                  <a:r>
                    <a:rPr lang="en-US" altLang="ru-RU" sz="1200" b="1">
                      <a:latin typeface="Verdana" pitchFamily="34" charset="0"/>
                    </a:rPr>
                    <a:t>Stripe=192KB</a:t>
                  </a:r>
                </a:p>
              </p:txBody>
            </p:sp>
          </p:grpSp>
        </p:grpSp>
      </p:grpSp>
      <p:grpSp>
        <p:nvGrpSpPr>
          <p:cNvPr id="15390" name="Group 32"/>
          <p:cNvGrpSpPr>
            <a:grpSpLocks/>
          </p:cNvGrpSpPr>
          <p:nvPr/>
        </p:nvGrpSpPr>
        <p:grpSpPr bwMode="auto">
          <a:xfrm>
            <a:off x="501650" y="865188"/>
            <a:ext cx="7712075" cy="2895600"/>
            <a:chOff x="316" y="672"/>
            <a:chExt cx="4858" cy="1824"/>
          </a:xfrm>
        </p:grpSpPr>
        <p:sp>
          <p:nvSpPr>
            <p:cNvPr id="15379" name="Freeform 33"/>
            <p:cNvSpPr>
              <a:spLocks/>
            </p:cNvSpPr>
            <p:nvPr/>
          </p:nvSpPr>
          <p:spPr bwMode="auto">
            <a:xfrm>
              <a:off x="1500" y="672"/>
              <a:ext cx="324" cy="106"/>
            </a:xfrm>
            <a:custGeom>
              <a:avLst/>
              <a:gdLst>
                <a:gd name="T0" fmla="*/ 0 w 1298"/>
                <a:gd name="T1" fmla="*/ 0 h 425"/>
                <a:gd name="T2" fmla="*/ 0 w 1298"/>
                <a:gd name="T3" fmla="*/ 0 h 425"/>
                <a:gd name="T4" fmla="*/ 0 w 1298"/>
                <a:gd name="T5" fmla="*/ 0 h 425"/>
                <a:gd name="T6" fmla="*/ 0 w 1298"/>
                <a:gd name="T7" fmla="*/ 0 h 425"/>
                <a:gd name="T8" fmla="*/ 0 w 1298"/>
                <a:gd name="T9" fmla="*/ 0 h 425"/>
                <a:gd name="T10" fmla="*/ 0 w 1298"/>
                <a:gd name="T11" fmla="*/ 0 h 425"/>
                <a:gd name="T12" fmla="*/ 0 w 1298"/>
                <a:gd name="T13" fmla="*/ 0 h 425"/>
                <a:gd name="T14" fmla="*/ 0 w 1298"/>
                <a:gd name="T15" fmla="*/ 0 h 425"/>
                <a:gd name="T16" fmla="*/ 0 w 1298"/>
                <a:gd name="T17" fmla="*/ 0 h 425"/>
                <a:gd name="T18" fmla="*/ 0 w 1298"/>
                <a:gd name="T19" fmla="*/ 0 h 425"/>
                <a:gd name="T20" fmla="*/ 0 w 1298"/>
                <a:gd name="T21" fmla="*/ 0 h 425"/>
                <a:gd name="T22" fmla="*/ 0 w 1298"/>
                <a:gd name="T23" fmla="*/ 0 h 425"/>
                <a:gd name="T24" fmla="*/ 0 w 1298"/>
                <a:gd name="T25" fmla="*/ 0 h 425"/>
                <a:gd name="T26" fmla="*/ 0 w 1298"/>
                <a:gd name="T27" fmla="*/ 0 h 425"/>
                <a:gd name="T28" fmla="*/ 0 w 1298"/>
                <a:gd name="T29" fmla="*/ 0 h 425"/>
                <a:gd name="T30" fmla="*/ 0 w 1298"/>
                <a:gd name="T31" fmla="*/ 0 h 425"/>
                <a:gd name="T32" fmla="*/ 0 w 1298"/>
                <a:gd name="T33" fmla="*/ 0 h 425"/>
                <a:gd name="T34" fmla="*/ 0 w 1298"/>
                <a:gd name="T35" fmla="*/ 0 h 425"/>
                <a:gd name="T36" fmla="*/ 0 w 1298"/>
                <a:gd name="T37" fmla="*/ 0 h 425"/>
                <a:gd name="T38" fmla="*/ 0 w 1298"/>
                <a:gd name="T39" fmla="*/ 0 h 425"/>
                <a:gd name="T40" fmla="*/ 0 w 1298"/>
                <a:gd name="T41" fmla="*/ 0 h 425"/>
                <a:gd name="T42" fmla="*/ 0 w 1298"/>
                <a:gd name="T43" fmla="*/ 0 h 425"/>
                <a:gd name="T44" fmla="*/ 0 w 1298"/>
                <a:gd name="T45" fmla="*/ 0 h 425"/>
                <a:gd name="T46" fmla="*/ 0 w 1298"/>
                <a:gd name="T47" fmla="*/ 0 h 425"/>
                <a:gd name="T48" fmla="*/ 0 w 1298"/>
                <a:gd name="T49" fmla="*/ 0 h 425"/>
                <a:gd name="T50" fmla="*/ 0 w 1298"/>
                <a:gd name="T51" fmla="*/ 0 h 425"/>
                <a:gd name="T52" fmla="*/ 0 w 1298"/>
                <a:gd name="T53" fmla="*/ 0 h 425"/>
                <a:gd name="T54" fmla="*/ 0 w 1298"/>
                <a:gd name="T55" fmla="*/ 0 h 425"/>
                <a:gd name="T56" fmla="*/ 0 w 1298"/>
                <a:gd name="T57" fmla="*/ 0 h 425"/>
                <a:gd name="T58" fmla="*/ 0 w 1298"/>
                <a:gd name="T59" fmla="*/ 0 h 425"/>
                <a:gd name="T60" fmla="*/ 0 w 1298"/>
                <a:gd name="T61" fmla="*/ 0 h 425"/>
                <a:gd name="T62" fmla="*/ 0 w 1298"/>
                <a:gd name="T63" fmla="*/ 0 h 425"/>
                <a:gd name="T64" fmla="*/ 0 w 1298"/>
                <a:gd name="T65" fmla="*/ 0 h 425"/>
                <a:gd name="T66" fmla="*/ 0 w 1298"/>
                <a:gd name="T67" fmla="*/ 0 h 425"/>
                <a:gd name="T68" fmla="*/ 0 w 1298"/>
                <a:gd name="T69" fmla="*/ 0 h 425"/>
                <a:gd name="T70" fmla="*/ 0 w 1298"/>
                <a:gd name="T71" fmla="*/ 0 h 425"/>
                <a:gd name="T72" fmla="*/ 0 w 1298"/>
                <a:gd name="T73" fmla="*/ 0 h 425"/>
                <a:gd name="T74" fmla="*/ 0 w 1298"/>
                <a:gd name="T75" fmla="*/ 0 h 425"/>
                <a:gd name="T76" fmla="*/ 0 w 1298"/>
                <a:gd name="T77" fmla="*/ 0 h 425"/>
                <a:gd name="T78" fmla="*/ 0 w 1298"/>
                <a:gd name="T79" fmla="*/ 0 h 425"/>
                <a:gd name="T80" fmla="*/ 0 w 1298"/>
                <a:gd name="T81" fmla="*/ 0 h 425"/>
                <a:gd name="T82" fmla="*/ 0 w 1298"/>
                <a:gd name="T83" fmla="*/ 0 h 425"/>
                <a:gd name="T84" fmla="*/ 0 w 1298"/>
                <a:gd name="T85" fmla="*/ 0 h 425"/>
                <a:gd name="T86" fmla="*/ 0 w 1298"/>
                <a:gd name="T87" fmla="*/ 0 h 42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98"/>
                <a:gd name="T133" fmla="*/ 0 h 425"/>
                <a:gd name="T134" fmla="*/ 1298 w 1298"/>
                <a:gd name="T135" fmla="*/ 425 h 42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98" h="425">
                  <a:moveTo>
                    <a:pt x="26" y="0"/>
                  </a:moveTo>
                  <a:lnTo>
                    <a:pt x="0" y="0"/>
                  </a:lnTo>
                  <a:lnTo>
                    <a:pt x="0" y="130"/>
                  </a:lnTo>
                  <a:lnTo>
                    <a:pt x="7" y="130"/>
                  </a:lnTo>
                  <a:lnTo>
                    <a:pt x="9" y="130"/>
                  </a:lnTo>
                  <a:lnTo>
                    <a:pt x="77" y="130"/>
                  </a:lnTo>
                  <a:lnTo>
                    <a:pt x="145" y="133"/>
                  </a:lnTo>
                  <a:lnTo>
                    <a:pt x="211" y="136"/>
                  </a:lnTo>
                  <a:lnTo>
                    <a:pt x="277" y="143"/>
                  </a:lnTo>
                  <a:lnTo>
                    <a:pt x="341" y="150"/>
                  </a:lnTo>
                  <a:lnTo>
                    <a:pt x="405" y="159"/>
                  </a:lnTo>
                  <a:lnTo>
                    <a:pt x="468" y="169"/>
                  </a:lnTo>
                  <a:lnTo>
                    <a:pt x="530" y="182"/>
                  </a:lnTo>
                  <a:lnTo>
                    <a:pt x="591" y="195"/>
                  </a:lnTo>
                  <a:lnTo>
                    <a:pt x="651" y="211"/>
                  </a:lnTo>
                  <a:lnTo>
                    <a:pt x="709" y="228"/>
                  </a:lnTo>
                  <a:lnTo>
                    <a:pt x="767" y="248"/>
                  </a:lnTo>
                  <a:lnTo>
                    <a:pt x="823" y="268"/>
                  </a:lnTo>
                  <a:lnTo>
                    <a:pt x="879" y="291"/>
                  </a:lnTo>
                  <a:lnTo>
                    <a:pt x="934" y="314"/>
                  </a:lnTo>
                  <a:lnTo>
                    <a:pt x="988" y="341"/>
                  </a:lnTo>
                  <a:lnTo>
                    <a:pt x="1130" y="417"/>
                  </a:lnTo>
                  <a:lnTo>
                    <a:pt x="1135" y="421"/>
                  </a:lnTo>
                  <a:lnTo>
                    <a:pt x="1142" y="425"/>
                  </a:lnTo>
                  <a:lnTo>
                    <a:pt x="1298" y="329"/>
                  </a:lnTo>
                  <a:lnTo>
                    <a:pt x="1285" y="321"/>
                  </a:lnTo>
                  <a:lnTo>
                    <a:pt x="1274" y="314"/>
                  </a:lnTo>
                  <a:lnTo>
                    <a:pt x="1169" y="258"/>
                  </a:lnTo>
                  <a:lnTo>
                    <a:pt x="1106" y="225"/>
                  </a:lnTo>
                  <a:lnTo>
                    <a:pt x="1043" y="196"/>
                  </a:lnTo>
                  <a:lnTo>
                    <a:pt x="978" y="169"/>
                  </a:lnTo>
                  <a:lnTo>
                    <a:pt x="913" y="144"/>
                  </a:lnTo>
                  <a:lnTo>
                    <a:pt x="846" y="121"/>
                  </a:lnTo>
                  <a:lnTo>
                    <a:pt x="778" y="100"/>
                  </a:lnTo>
                  <a:lnTo>
                    <a:pt x="708" y="81"/>
                  </a:lnTo>
                  <a:lnTo>
                    <a:pt x="638" y="64"/>
                  </a:lnTo>
                  <a:lnTo>
                    <a:pt x="565" y="49"/>
                  </a:lnTo>
                  <a:lnTo>
                    <a:pt x="491" y="36"/>
                  </a:lnTo>
                  <a:lnTo>
                    <a:pt x="416" y="25"/>
                  </a:lnTo>
                  <a:lnTo>
                    <a:pt x="341" y="16"/>
                  </a:lnTo>
                  <a:lnTo>
                    <a:pt x="264" y="9"/>
                  </a:lnTo>
                  <a:lnTo>
                    <a:pt x="186" y="4"/>
                  </a:lnTo>
                  <a:lnTo>
                    <a:pt x="106" y="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5380" name="Group 34"/>
            <p:cNvGrpSpPr>
              <a:grpSpLocks/>
            </p:cNvGrpSpPr>
            <p:nvPr/>
          </p:nvGrpSpPr>
          <p:grpSpPr bwMode="auto">
            <a:xfrm>
              <a:off x="1153" y="936"/>
              <a:ext cx="911" cy="1512"/>
              <a:chOff x="1153" y="936"/>
              <a:chExt cx="911" cy="1512"/>
            </a:xfrm>
          </p:grpSpPr>
          <p:sp>
            <p:nvSpPr>
              <p:cNvPr id="16174" name="Freeform 35"/>
              <p:cNvSpPr>
                <a:spLocks/>
              </p:cNvSpPr>
              <p:nvPr/>
            </p:nvSpPr>
            <p:spPr bwMode="auto">
              <a:xfrm>
                <a:off x="1704" y="936"/>
                <a:ext cx="336" cy="72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5" name="Freeform 36"/>
              <p:cNvSpPr>
                <a:spLocks/>
              </p:cNvSpPr>
              <p:nvPr/>
            </p:nvSpPr>
            <p:spPr bwMode="auto">
              <a:xfrm>
                <a:off x="1609" y="1070"/>
                <a:ext cx="324" cy="5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6" name="Freeform 37"/>
              <p:cNvSpPr>
                <a:spLocks/>
              </p:cNvSpPr>
              <p:nvPr/>
            </p:nvSpPr>
            <p:spPr bwMode="auto">
              <a:xfrm>
                <a:off x="1273" y="1070"/>
                <a:ext cx="336" cy="58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7" name="Freeform 38"/>
              <p:cNvSpPr>
                <a:spLocks/>
              </p:cNvSpPr>
              <p:nvPr/>
            </p:nvSpPr>
            <p:spPr bwMode="auto">
              <a:xfrm>
                <a:off x="1609" y="2094"/>
                <a:ext cx="324" cy="66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2"/>
                    </a:lnTo>
                    <a:lnTo>
                      <a:pt x="709" y="229"/>
                    </a:lnTo>
                    <a:lnTo>
                      <a:pt x="767" y="249"/>
                    </a:lnTo>
                    <a:lnTo>
                      <a:pt x="823" y="269"/>
                    </a:lnTo>
                    <a:lnTo>
                      <a:pt x="879" y="292"/>
                    </a:lnTo>
                    <a:lnTo>
                      <a:pt x="934" y="315"/>
                    </a:lnTo>
                    <a:lnTo>
                      <a:pt x="988" y="342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30"/>
                    </a:lnTo>
                    <a:lnTo>
                      <a:pt x="1285" y="322"/>
                    </a:lnTo>
                    <a:lnTo>
                      <a:pt x="1274" y="315"/>
                    </a:lnTo>
                    <a:lnTo>
                      <a:pt x="1169" y="259"/>
                    </a:lnTo>
                    <a:lnTo>
                      <a:pt x="1106" y="226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8" name="Freeform 39"/>
              <p:cNvSpPr>
                <a:spLocks/>
              </p:cNvSpPr>
              <p:nvPr/>
            </p:nvSpPr>
            <p:spPr bwMode="auto">
              <a:xfrm>
                <a:off x="1273" y="2094"/>
                <a:ext cx="336" cy="72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40"/>
                    </a:lnTo>
                    <a:lnTo>
                      <a:pt x="425" y="313"/>
                    </a:lnTo>
                    <a:lnTo>
                      <a:pt x="482" y="288"/>
                    </a:lnTo>
                    <a:lnTo>
                      <a:pt x="542" y="265"/>
                    </a:lnTo>
                    <a:lnTo>
                      <a:pt x="601" y="242"/>
                    </a:lnTo>
                    <a:lnTo>
                      <a:pt x="663" y="223"/>
                    </a:lnTo>
                    <a:lnTo>
                      <a:pt x="725" y="205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9" name="Freeform 40"/>
              <p:cNvSpPr>
                <a:spLocks/>
              </p:cNvSpPr>
              <p:nvPr/>
            </p:nvSpPr>
            <p:spPr bwMode="auto">
              <a:xfrm>
                <a:off x="1609" y="2115"/>
                <a:ext cx="285" cy="60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9"/>
                    </a:lnTo>
                    <a:lnTo>
                      <a:pt x="2" y="128"/>
                    </a:lnTo>
                    <a:lnTo>
                      <a:pt x="5" y="129"/>
                    </a:lnTo>
                    <a:lnTo>
                      <a:pt x="7" y="129"/>
                    </a:lnTo>
                    <a:lnTo>
                      <a:pt x="66" y="128"/>
                    </a:lnTo>
                    <a:lnTo>
                      <a:pt x="125" y="130"/>
                    </a:lnTo>
                    <a:lnTo>
                      <a:pt x="183" y="133"/>
                    </a:lnTo>
                    <a:lnTo>
                      <a:pt x="241" y="138"/>
                    </a:lnTo>
                    <a:lnTo>
                      <a:pt x="297" y="143"/>
                    </a:lnTo>
                    <a:lnTo>
                      <a:pt x="353" y="151"/>
                    </a:lnTo>
                    <a:lnTo>
                      <a:pt x="407" y="160"/>
                    </a:lnTo>
                    <a:lnTo>
                      <a:pt x="462" y="172"/>
                    </a:lnTo>
                    <a:lnTo>
                      <a:pt x="514" y="183"/>
                    </a:lnTo>
                    <a:lnTo>
                      <a:pt x="567" y="197"/>
                    </a:lnTo>
                    <a:lnTo>
                      <a:pt x="618" y="212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0" name="Freeform 41"/>
              <p:cNvSpPr>
                <a:spLocks/>
              </p:cNvSpPr>
              <p:nvPr/>
            </p:nvSpPr>
            <p:spPr bwMode="auto">
              <a:xfrm>
                <a:off x="1609" y="2134"/>
                <a:ext cx="247" cy="56"/>
              </a:xfrm>
              <a:custGeom>
                <a:avLst/>
                <a:gdLst>
                  <a:gd name="T0" fmla="*/ 0 w 991"/>
                  <a:gd name="T1" fmla="*/ 0 h 355"/>
                  <a:gd name="T2" fmla="*/ 0 w 991"/>
                  <a:gd name="T3" fmla="*/ 0 h 355"/>
                  <a:gd name="T4" fmla="*/ 0 w 991"/>
                  <a:gd name="T5" fmla="*/ 0 h 355"/>
                  <a:gd name="T6" fmla="*/ 0 w 991"/>
                  <a:gd name="T7" fmla="*/ 0 h 355"/>
                  <a:gd name="T8" fmla="*/ 0 w 991"/>
                  <a:gd name="T9" fmla="*/ 0 h 355"/>
                  <a:gd name="T10" fmla="*/ 0 w 991"/>
                  <a:gd name="T11" fmla="*/ 0 h 355"/>
                  <a:gd name="T12" fmla="*/ 0 w 991"/>
                  <a:gd name="T13" fmla="*/ 0 h 355"/>
                  <a:gd name="T14" fmla="*/ 0 w 991"/>
                  <a:gd name="T15" fmla="*/ 0 h 355"/>
                  <a:gd name="T16" fmla="*/ 0 w 991"/>
                  <a:gd name="T17" fmla="*/ 0 h 355"/>
                  <a:gd name="T18" fmla="*/ 0 w 991"/>
                  <a:gd name="T19" fmla="*/ 0 h 355"/>
                  <a:gd name="T20" fmla="*/ 0 w 991"/>
                  <a:gd name="T21" fmla="*/ 0 h 355"/>
                  <a:gd name="T22" fmla="*/ 0 w 991"/>
                  <a:gd name="T23" fmla="*/ 0 h 355"/>
                  <a:gd name="T24" fmla="*/ 0 w 991"/>
                  <a:gd name="T25" fmla="*/ 0 h 355"/>
                  <a:gd name="T26" fmla="*/ 0 w 991"/>
                  <a:gd name="T27" fmla="*/ 0 h 355"/>
                  <a:gd name="T28" fmla="*/ 0 w 991"/>
                  <a:gd name="T29" fmla="*/ 0 h 355"/>
                  <a:gd name="T30" fmla="*/ 0 w 991"/>
                  <a:gd name="T31" fmla="*/ 0 h 355"/>
                  <a:gd name="T32" fmla="*/ 0 w 991"/>
                  <a:gd name="T33" fmla="*/ 0 h 355"/>
                  <a:gd name="T34" fmla="*/ 0 w 991"/>
                  <a:gd name="T35" fmla="*/ 0 h 355"/>
                  <a:gd name="T36" fmla="*/ 0 w 991"/>
                  <a:gd name="T37" fmla="*/ 0 h 355"/>
                  <a:gd name="T38" fmla="*/ 0 w 991"/>
                  <a:gd name="T39" fmla="*/ 0 h 355"/>
                  <a:gd name="T40" fmla="*/ 0 w 991"/>
                  <a:gd name="T41" fmla="*/ 0 h 355"/>
                  <a:gd name="T42" fmla="*/ 0 w 991"/>
                  <a:gd name="T43" fmla="*/ 0 h 355"/>
                  <a:gd name="T44" fmla="*/ 0 w 991"/>
                  <a:gd name="T45" fmla="*/ 0 h 355"/>
                  <a:gd name="T46" fmla="*/ 0 w 991"/>
                  <a:gd name="T47" fmla="*/ 0 h 355"/>
                  <a:gd name="T48" fmla="*/ 0 w 991"/>
                  <a:gd name="T49" fmla="*/ 0 h 355"/>
                  <a:gd name="T50" fmla="*/ 0 w 991"/>
                  <a:gd name="T51" fmla="*/ 0 h 355"/>
                  <a:gd name="T52" fmla="*/ 0 w 991"/>
                  <a:gd name="T53" fmla="*/ 0 h 355"/>
                  <a:gd name="T54" fmla="*/ 0 w 991"/>
                  <a:gd name="T55" fmla="*/ 0 h 355"/>
                  <a:gd name="T56" fmla="*/ 0 w 991"/>
                  <a:gd name="T57" fmla="*/ 0 h 355"/>
                  <a:gd name="T58" fmla="*/ 0 w 991"/>
                  <a:gd name="T59" fmla="*/ 0 h 355"/>
                  <a:gd name="T60" fmla="*/ 0 w 991"/>
                  <a:gd name="T61" fmla="*/ 0 h 355"/>
                  <a:gd name="T62" fmla="*/ 0 w 991"/>
                  <a:gd name="T63" fmla="*/ 0 h 355"/>
                  <a:gd name="T64" fmla="*/ 0 w 991"/>
                  <a:gd name="T65" fmla="*/ 0 h 355"/>
                  <a:gd name="T66" fmla="*/ 0 w 991"/>
                  <a:gd name="T67" fmla="*/ 0 h 355"/>
                  <a:gd name="T68" fmla="*/ 0 w 991"/>
                  <a:gd name="T69" fmla="*/ 0 h 355"/>
                  <a:gd name="T70" fmla="*/ 0 w 991"/>
                  <a:gd name="T71" fmla="*/ 0 h 355"/>
                  <a:gd name="T72" fmla="*/ 0 w 991"/>
                  <a:gd name="T73" fmla="*/ 0 h 355"/>
                  <a:gd name="T74" fmla="*/ 0 w 991"/>
                  <a:gd name="T75" fmla="*/ 0 h 355"/>
                  <a:gd name="T76" fmla="*/ 0 w 991"/>
                  <a:gd name="T77" fmla="*/ 0 h 355"/>
                  <a:gd name="T78" fmla="*/ 0 w 991"/>
                  <a:gd name="T79" fmla="*/ 0 h 355"/>
                  <a:gd name="T80" fmla="*/ 0 w 991"/>
                  <a:gd name="T81" fmla="*/ 0 h 355"/>
                  <a:gd name="T82" fmla="*/ 0 w 991"/>
                  <a:gd name="T83" fmla="*/ 0 h 355"/>
                  <a:gd name="T84" fmla="*/ 0 w 991"/>
                  <a:gd name="T85" fmla="*/ 0 h 355"/>
                  <a:gd name="T86" fmla="*/ 0 w 991"/>
                  <a:gd name="T87" fmla="*/ 0 h 355"/>
                  <a:gd name="T88" fmla="*/ 0 w 991"/>
                  <a:gd name="T89" fmla="*/ 0 h 355"/>
                  <a:gd name="T90" fmla="*/ 0 w 991"/>
                  <a:gd name="T91" fmla="*/ 0 h 355"/>
                  <a:gd name="T92" fmla="*/ 0 w 991"/>
                  <a:gd name="T93" fmla="*/ 0 h 355"/>
                  <a:gd name="T94" fmla="*/ 0 w 991"/>
                  <a:gd name="T95" fmla="*/ 0 h 355"/>
                  <a:gd name="T96" fmla="*/ 0 w 991"/>
                  <a:gd name="T97" fmla="*/ 0 h 35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5"/>
                  <a:gd name="T149" fmla="*/ 991 w 991"/>
                  <a:gd name="T150" fmla="*/ 355 h 35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5">
                    <a:moveTo>
                      <a:pt x="0" y="127"/>
                    </a:moveTo>
                    <a:lnTo>
                      <a:pt x="3" y="127"/>
                    </a:lnTo>
                    <a:lnTo>
                      <a:pt x="56" y="127"/>
                    </a:lnTo>
                    <a:lnTo>
                      <a:pt x="109" y="129"/>
                    </a:lnTo>
                    <a:lnTo>
                      <a:pt x="160" y="132"/>
                    </a:lnTo>
                    <a:lnTo>
                      <a:pt x="211" y="137"/>
                    </a:lnTo>
                    <a:lnTo>
                      <a:pt x="213" y="137"/>
                    </a:lnTo>
                    <a:lnTo>
                      <a:pt x="281" y="145"/>
                    </a:lnTo>
                    <a:lnTo>
                      <a:pt x="314" y="150"/>
                    </a:lnTo>
                    <a:lnTo>
                      <a:pt x="348" y="157"/>
                    </a:lnTo>
                    <a:lnTo>
                      <a:pt x="380" y="163"/>
                    </a:lnTo>
                    <a:lnTo>
                      <a:pt x="413" y="171"/>
                    </a:lnTo>
                    <a:lnTo>
                      <a:pt x="477" y="188"/>
                    </a:lnTo>
                    <a:lnTo>
                      <a:pt x="538" y="207"/>
                    </a:lnTo>
                    <a:lnTo>
                      <a:pt x="599" y="229"/>
                    </a:lnTo>
                    <a:lnTo>
                      <a:pt x="658" y="254"/>
                    </a:lnTo>
                    <a:lnTo>
                      <a:pt x="686" y="267"/>
                    </a:lnTo>
                    <a:lnTo>
                      <a:pt x="715" y="282"/>
                    </a:lnTo>
                    <a:lnTo>
                      <a:pt x="761" y="308"/>
                    </a:lnTo>
                    <a:lnTo>
                      <a:pt x="763" y="310"/>
                    </a:lnTo>
                    <a:lnTo>
                      <a:pt x="801" y="333"/>
                    </a:lnTo>
                    <a:lnTo>
                      <a:pt x="837" y="355"/>
                    </a:lnTo>
                    <a:lnTo>
                      <a:pt x="991" y="260"/>
                    </a:lnTo>
                    <a:lnTo>
                      <a:pt x="953" y="237"/>
                    </a:lnTo>
                    <a:lnTo>
                      <a:pt x="948" y="235"/>
                    </a:lnTo>
                    <a:lnTo>
                      <a:pt x="928" y="222"/>
                    </a:lnTo>
                    <a:lnTo>
                      <a:pt x="915" y="212"/>
                    </a:lnTo>
                    <a:lnTo>
                      <a:pt x="902" y="205"/>
                    </a:lnTo>
                    <a:lnTo>
                      <a:pt x="862" y="185"/>
                    </a:lnTo>
                    <a:lnTo>
                      <a:pt x="814" y="161"/>
                    </a:lnTo>
                    <a:lnTo>
                      <a:pt x="767" y="140"/>
                    </a:lnTo>
                    <a:lnTo>
                      <a:pt x="718" y="119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1" name="Freeform 42"/>
              <p:cNvSpPr>
                <a:spLocks/>
              </p:cNvSpPr>
              <p:nvPr/>
            </p:nvSpPr>
            <p:spPr bwMode="auto">
              <a:xfrm>
                <a:off x="1609" y="2154"/>
                <a:ext cx="209" cy="5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2" name="Freeform 43"/>
              <p:cNvSpPr>
                <a:spLocks/>
              </p:cNvSpPr>
              <p:nvPr/>
            </p:nvSpPr>
            <p:spPr bwMode="auto">
              <a:xfrm>
                <a:off x="1352" y="2134"/>
                <a:ext cx="257" cy="59"/>
              </a:xfrm>
              <a:custGeom>
                <a:avLst/>
                <a:gdLst>
                  <a:gd name="T0" fmla="*/ 0 w 1029"/>
                  <a:gd name="T1" fmla="*/ 0 h 380"/>
                  <a:gd name="T2" fmla="*/ 0 w 1029"/>
                  <a:gd name="T3" fmla="*/ 0 h 380"/>
                  <a:gd name="T4" fmla="*/ 0 w 1029"/>
                  <a:gd name="T5" fmla="*/ 0 h 380"/>
                  <a:gd name="T6" fmla="*/ 0 w 1029"/>
                  <a:gd name="T7" fmla="*/ 0 h 380"/>
                  <a:gd name="T8" fmla="*/ 0 w 1029"/>
                  <a:gd name="T9" fmla="*/ 0 h 380"/>
                  <a:gd name="T10" fmla="*/ 0 w 1029"/>
                  <a:gd name="T11" fmla="*/ 0 h 380"/>
                  <a:gd name="T12" fmla="*/ 0 w 1029"/>
                  <a:gd name="T13" fmla="*/ 0 h 380"/>
                  <a:gd name="T14" fmla="*/ 0 w 1029"/>
                  <a:gd name="T15" fmla="*/ 0 h 380"/>
                  <a:gd name="T16" fmla="*/ 0 w 1029"/>
                  <a:gd name="T17" fmla="*/ 0 h 380"/>
                  <a:gd name="T18" fmla="*/ 0 w 1029"/>
                  <a:gd name="T19" fmla="*/ 0 h 380"/>
                  <a:gd name="T20" fmla="*/ 0 w 1029"/>
                  <a:gd name="T21" fmla="*/ 0 h 380"/>
                  <a:gd name="T22" fmla="*/ 0 w 1029"/>
                  <a:gd name="T23" fmla="*/ 0 h 380"/>
                  <a:gd name="T24" fmla="*/ 0 w 1029"/>
                  <a:gd name="T25" fmla="*/ 0 h 380"/>
                  <a:gd name="T26" fmla="*/ 0 w 1029"/>
                  <a:gd name="T27" fmla="*/ 0 h 380"/>
                  <a:gd name="T28" fmla="*/ 0 w 1029"/>
                  <a:gd name="T29" fmla="*/ 0 h 380"/>
                  <a:gd name="T30" fmla="*/ 0 w 1029"/>
                  <a:gd name="T31" fmla="*/ 0 h 380"/>
                  <a:gd name="T32" fmla="*/ 0 w 1029"/>
                  <a:gd name="T33" fmla="*/ 0 h 380"/>
                  <a:gd name="T34" fmla="*/ 0 w 1029"/>
                  <a:gd name="T35" fmla="*/ 0 h 380"/>
                  <a:gd name="T36" fmla="*/ 0 w 1029"/>
                  <a:gd name="T37" fmla="*/ 0 h 380"/>
                  <a:gd name="T38" fmla="*/ 0 w 1029"/>
                  <a:gd name="T39" fmla="*/ 0 h 380"/>
                  <a:gd name="T40" fmla="*/ 0 w 1029"/>
                  <a:gd name="T41" fmla="*/ 0 h 380"/>
                  <a:gd name="T42" fmla="*/ 0 w 1029"/>
                  <a:gd name="T43" fmla="*/ 0 h 380"/>
                  <a:gd name="T44" fmla="*/ 0 w 1029"/>
                  <a:gd name="T45" fmla="*/ 0 h 380"/>
                  <a:gd name="T46" fmla="*/ 0 w 1029"/>
                  <a:gd name="T47" fmla="*/ 0 h 380"/>
                  <a:gd name="T48" fmla="*/ 0 w 1029"/>
                  <a:gd name="T49" fmla="*/ 0 h 380"/>
                  <a:gd name="T50" fmla="*/ 0 w 1029"/>
                  <a:gd name="T51" fmla="*/ 0 h 380"/>
                  <a:gd name="T52" fmla="*/ 0 w 1029"/>
                  <a:gd name="T53" fmla="*/ 0 h 380"/>
                  <a:gd name="T54" fmla="*/ 0 w 1029"/>
                  <a:gd name="T55" fmla="*/ 0 h 380"/>
                  <a:gd name="T56" fmla="*/ 0 w 1029"/>
                  <a:gd name="T57" fmla="*/ 0 h 380"/>
                  <a:gd name="T58" fmla="*/ 0 w 1029"/>
                  <a:gd name="T59" fmla="*/ 0 h 380"/>
                  <a:gd name="T60" fmla="*/ 0 w 1029"/>
                  <a:gd name="T61" fmla="*/ 0 h 380"/>
                  <a:gd name="T62" fmla="*/ 0 w 1029"/>
                  <a:gd name="T63" fmla="*/ 0 h 380"/>
                  <a:gd name="T64" fmla="*/ 0 w 1029"/>
                  <a:gd name="T65" fmla="*/ 0 h 380"/>
                  <a:gd name="T66" fmla="*/ 0 w 1029"/>
                  <a:gd name="T67" fmla="*/ 0 h 380"/>
                  <a:gd name="T68" fmla="*/ 0 w 1029"/>
                  <a:gd name="T69" fmla="*/ 0 h 380"/>
                  <a:gd name="T70" fmla="*/ 0 w 1029"/>
                  <a:gd name="T71" fmla="*/ 0 h 380"/>
                  <a:gd name="T72" fmla="*/ 0 w 1029"/>
                  <a:gd name="T73" fmla="*/ 0 h 380"/>
                  <a:gd name="T74" fmla="*/ 0 w 1029"/>
                  <a:gd name="T75" fmla="*/ 0 h 380"/>
                  <a:gd name="T76" fmla="*/ 0 w 1029"/>
                  <a:gd name="T77" fmla="*/ 0 h 380"/>
                  <a:gd name="T78" fmla="*/ 0 w 1029"/>
                  <a:gd name="T79" fmla="*/ 0 h 380"/>
                  <a:gd name="T80" fmla="*/ 0 w 1029"/>
                  <a:gd name="T81" fmla="*/ 0 h 3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0"/>
                  <a:gd name="T125" fmla="*/ 1029 w 1029"/>
                  <a:gd name="T126" fmla="*/ 380 h 3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0">
                    <a:moveTo>
                      <a:pt x="1029" y="127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7"/>
                    </a:lnTo>
                    <a:lnTo>
                      <a:pt x="275" y="137"/>
                    </a:lnTo>
                    <a:lnTo>
                      <a:pt x="225" y="160"/>
                    </a:lnTo>
                    <a:lnTo>
                      <a:pt x="176" y="183"/>
                    </a:lnTo>
                    <a:lnTo>
                      <a:pt x="129" y="210"/>
                    </a:lnTo>
                    <a:lnTo>
                      <a:pt x="16" y="277"/>
                    </a:lnTo>
                    <a:lnTo>
                      <a:pt x="7" y="282"/>
                    </a:lnTo>
                    <a:lnTo>
                      <a:pt x="0" y="290"/>
                    </a:lnTo>
                    <a:lnTo>
                      <a:pt x="162" y="380"/>
                    </a:lnTo>
                    <a:lnTo>
                      <a:pt x="190" y="359"/>
                    </a:lnTo>
                    <a:lnTo>
                      <a:pt x="222" y="340"/>
                    </a:lnTo>
                    <a:lnTo>
                      <a:pt x="252" y="323"/>
                    </a:lnTo>
                    <a:lnTo>
                      <a:pt x="292" y="298"/>
                    </a:lnTo>
                    <a:lnTo>
                      <a:pt x="334" y="276"/>
                    </a:lnTo>
                    <a:lnTo>
                      <a:pt x="376" y="255"/>
                    </a:lnTo>
                    <a:lnTo>
                      <a:pt x="421" y="237"/>
                    </a:lnTo>
                    <a:lnTo>
                      <a:pt x="466" y="218"/>
                    </a:lnTo>
                    <a:lnTo>
                      <a:pt x="512" y="203"/>
                    </a:lnTo>
                    <a:lnTo>
                      <a:pt x="559" y="188"/>
                    </a:lnTo>
                    <a:lnTo>
                      <a:pt x="608" y="176"/>
                    </a:lnTo>
                    <a:lnTo>
                      <a:pt x="656" y="163"/>
                    </a:lnTo>
                    <a:lnTo>
                      <a:pt x="706" y="154"/>
                    </a:lnTo>
                    <a:lnTo>
                      <a:pt x="757" y="145"/>
                    </a:lnTo>
                    <a:lnTo>
                      <a:pt x="810" y="139"/>
                    </a:lnTo>
                    <a:lnTo>
                      <a:pt x="862" y="133"/>
                    </a:lnTo>
                    <a:lnTo>
                      <a:pt x="917" y="130"/>
                    </a:lnTo>
                    <a:lnTo>
                      <a:pt x="972" y="127"/>
                    </a:lnTo>
                    <a:lnTo>
                      <a:pt x="1029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3" name="Freeform 44"/>
              <p:cNvSpPr>
                <a:spLocks/>
              </p:cNvSpPr>
              <p:nvPr/>
            </p:nvSpPr>
            <p:spPr bwMode="auto">
              <a:xfrm>
                <a:off x="1313" y="2115"/>
                <a:ext cx="296" cy="65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9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9"/>
                    </a:lnTo>
                    <a:lnTo>
                      <a:pt x="640" y="193"/>
                    </a:lnTo>
                    <a:lnTo>
                      <a:pt x="697" y="180"/>
                    </a:lnTo>
                    <a:lnTo>
                      <a:pt x="753" y="167"/>
                    </a:lnTo>
                    <a:lnTo>
                      <a:pt x="811" y="157"/>
                    </a:lnTo>
                    <a:lnTo>
                      <a:pt x="869" y="148"/>
                    </a:lnTo>
                    <a:lnTo>
                      <a:pt x="930" y="141"/>
                    </a:lnTo>
                    <a:lnTo>
                      <a:pt x="990" y="134"/>
                    </a:lnTo>
                    <a:lnTo>
                      <a:pt x="1053" y="131"/>
                    </a:lnTo>
                    <a:lnTo>
                      <a:pt x="1116" y="128"/>
                    </a:lnTo>
                    <a:lnTo>
                      <a:pt x="1181" y="12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4" name="Freeform 45"/>
              <p:cNvSpPr>
                <a:spLocks noEditPoints="1"/>
              </p:cNvSpPr>
              <p:nvPr/>
            </p:nvSpPr>
            <p:spPr bwMode="auto">
              <a:xfrm>
                <a:off x="1384" y="2175"/>
                <a:ext cx="449" cy="176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5"/>
                    </a:lnTo>
                    <a:lnTo>
                      <a:pt x="88" y="805"/>
                    </a:lnTo>
                    <a:lnTo>
                      <a:pt x="113" y="833"/>
                    </a:lnTo>
                    <a:lnTo>
                      <a:pt x="142" y="862"/>
                    </a:lnTo>
                    <a:lnTo>
                      <a:pt x="157" y="875"/>
                    </a:lnTo>
                    <a:lnTo>
                      <a:pt x="174" y="889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6"/>
                    </a:lnTo>
                    <a:lnTo>
                      <a:pt x="1661" y="854"/>
                    </a:lnTo>
                    <a:lnTo>
                      <a:pt x="1693" y="822"/>
                    </a:lnTo>
                    <a:lnTo>
                      <a:pt x="1719" y="788"/>
                    </a:lnTo>
                    <a:lnTo>
                      <a:pt x="1743" y="754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85" name="Freeform 46"/>
              <p:cNvSpPr>
                <a:spLocks/>
              </p:cNvSpPr>
              <p:nvPr/>
            </p:nvSpPr>
            <p:spPr bwMode="auto">
              <a:xfrm>
                <a:off x="1609" y="2270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6" name="Freeform 47"/>
              <p:cNvSpPr>
                <a:spLocks/>
              </p:cNvSpPr>
              <p:nvPr/>
            </p:nvSpPr>
            <p:spPr bwMode="auto">
              <a:xfrm>
                <a:off x="1609" y="2271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7" name="Freeform 48"/>
              <p:cNvSpPr>
                <a:spLocks/>
              </p:cNvSpPr>
              <p:nvPr/>
            </p:nvSpPr>
            <p:spPr bwMode="auto">
              <a:xfrm>
                <a:off x="1392" y="2154"/>
                <a:ext cx="217" cy="55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8" name="Freeform 49"/>
              <p:cNvSpPr>
                <a:spLocks/>
              </p:cNvSpPr>
              <p:nvPr/>
            </p:nvSpPr>
            <p:spPr bwMode="auto">
              <a:xfrm>
                <a:off x="1894" y="2145"/>
                <a:ext cx="170" cy="126"/>
              </a:xfrm>
              <a:custGeom>
                <a:avLst/>
                <a:gdLst>
                  <a:gd name="T0" fmla="*/ 0 w 680"/>
                  <a:gd name="T1" fmla="*/ 0 h 798"/>
                  <a:gd name="T2" fmla="*/ 0 w 680"/>
                  <a:gd name="T3" fmla="*/ 0 h 798"/>
                  <a:gd name="T4" fmla="*/ 0 w 680"/>
                  <a:gd name="T5" fmla="*/ 0 h 798"/>
                  <a:gd name="T6" fmla="*/ 0 w 680"/>
                  <a:gd name="T7" fmla="*/ 0 h 798"/>
                  <a:gd name="T8" fmla="*/ 0 w 680"/>
                  <a:gd name="T9" fmla="*/ 0 h 798"/>
                  <a:gd name="T10" fmla="*/ 0 w 680"/>
                  <a:gd name="T11" fmla="*/ 0 h 798"/>
                  <a:gd name="T12" fmla="*/ 0 w 680"/>
                  <a:gd name="T13" fmla="*/ 0 h 798"/>
                  <a:gd name="T14" fmla="*/ 0 w 680"/>
                  <a:gd name="T15" fmla="*/ 0 h 798"/>
                  <a:gd name="T16" fmla="*/ 0 w 680"/>
                  <a:gd name="T17" fmla="*/ 0 h 798"/>
                  <a:gd name="T18" fmla="*/ 0 w 680"/>
                  <a:gd name="T19" fmla="*/ 0 h 798"/>
                  <a:gd name="T20" fmla="*/ 0 w 680"/>
                  <a:gd name="T21" fmla="*/ 0 h 798"/>
                  <a:gd name="T22" fmla="*/ 0 w 680"/>
                  <a:gd name="T23" fmla="*/ 0 h 798"/>
                  <a:gd name="T24" fmla="*/ 0 w 680"/>
                  <a:gd name="T25" fmla="*/ 0 h 798"/>
                  <a:gd name="T26" fmla="*/ 0 w 680"/>
                  <a:gd name="T27" fmla="*/ 0 h 798"/>
                  <a:gd name="T28" fmla="*/ 0 w 680"/>
                  <a:gd name="T29" fmla="*/ 0 h 798"/>
                  <a:gd name="T30" fmla="*/ 0 w 680"/>
                  <a:gd name="T31" fmla="*/ 0 h 798"/>
                  <a:gd name="T32" fmla="*/ 0 w 680"/>
                  <a:gd name="T33" fmla="*/ 0 h 798"/>
                  <a:gd name="T34" fmla="*/ 0 w 680"/>
                  <a:gd name="T35" fmla="*/ 0 h 798"/>
                  <a:gd name="T36" fmla="*/ 0 w 680"/>
                  <a:gd name="T37" fmla="*/ 0 h 798"/>
                  <a:gd name="T38" fmla="*/ 0 w 680"/>
                  <a:gd name="T39" fmla="*/ 0 h 798"/>
                  <a:gd name="T40" fmla="*/ 0 w 680"/>
                  <a:gd name="T41" fmla="*/ 0 h 798"/>
                  <a:gd name="T42" fmla="*/ 0 w 680"/>
                  <a:gd name="T43" fmla="*/ 0 h 798"/>
                  <a:gd name="T44" fmla="*/ 0 w 680"/>
                  <a:gd name="T45" fmla="*/ 0 h 798"/>
                  <a:gd name="T46" fmla="*/ 0 w 680"/>
                  <a:gd name="T47" fmla="*/ 0 h 798"/>
                  <a:gd name="T48" fmla="*/ 0 w 680"/>
                  <a:gd name="T49" fmla="*/ 0 h 798"/>
                  <a:gd name="T50" fmla="*/ 0 w 680"/>
                  <a:gd name="T51" fmla="*/ 0 h 798"/>
                  <a:gd name="T52" fmla="*/ 0 w 680"/>
                  <a:gd name="T53" fmla="*/ 0 h 798"/>
                  <a:gd name="T54" fmla="*/ 0 w 680"/>
                  <a:gd name="T55" fmla="*/ 0 h 798"/>
                  <a:gd name="T56" fmla="*/ 0 w 680"/>
                  <a:gd name="T57" fmla="*/ 0 h 798"/>
                  <a:gd name="T58" fmla="*/ 0 w 680"/>
                  <a:gd name="T59" fmla="*/ 0 h 798"/>
                  <a:gd name="T60" fmla="*/ 0 w 680"/>
                  <a:gd name="T61" fmla="*/ 0 h 798"/>
                  <a:gd name="T62" fmla="*/ 0 w 680"/>
                  <a:gd name="T63" fmla="*/ 0 h 798"/>
                  <a:gd name="T64" fmla="*/ 0 w 680"/>
                  <a:gd name="T65" fmla="*/ 0 h 798"/>
                  <a:gd name="T66" fmla="*/ 0 w 680"/>
                  <a:gd name="T67" fmla="*/ 0 h 798"/>
                  <a:gd name="T68" fmla="*/ 0 w 680"/>
                  <a:gd name="T69" fmla="*/ 0 h 798"/>
                  <a:gd name="T70" fmla="*/ 0 w 680"/>
                  <a:gd name="T71" fmla="*/ 0 h 798"/>
                  <a:gd name="T72" fmla="*/ 0 w 680"/>
                  <a:gd name="T73" fmla="*/ 0 h 798"/>
                  <a:gd name="T74" fmla="*/ 0 w 680"/>
                  <a:gd name="T75" fmla="*/ 0 h 798"/>
                  <a:gd name="T76" fmla="*/ 0 w 680"/>
                  <a:gd name="T77" fmla="*/ 0 h 79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8"/>
                  <a:gd name="T119" fmla="*/ 680 w 680"/>
                  <a:gd name="T120" fmla="*/ 798 h 79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8">
                    <a:moveTo>
                      <a:pt x="156" y="0"/>
                    </a:moveTo>
                    <a:lnTo>
                      <a:pt x="0" y="95"/>
                    </a:lnTo>
                    <a:lnTo>
                      <a:pt x="50" y="128"/>
                    </a:lnTo>
                    <a:lnTo>
                      <a:pt x="97" y="163"/>
                    </a:lnTo>
                    <a:lnTo>
                      <a:pt x="141" y="198"/>
                    </a:lnTo>
                    <a:lnTo>
                      <a:pt x="183" y="235"/>
                    </a:lnTo>
                    <a:lnTo>
                      <a:pt x="221" y="272"/>
                    </a:lnTo>
                    <a:lnTo>
                      <a:pt x="257" y="310"/>
                    </a:lnTo>
                    <a:lnTo>
                      <a:pt x="289" y="349"/>
                    </a:lnTo>
                    <a:lnTo>
                      <a:pt x="319" y="390"/>
                    </a:lnTo>
                    <a:lnTo>
                      <a:pt x="344" y="430"/>
                    </a:lnTo>
                    <a:lnTo>
                      <a:pt x="367" y="472"/>
                    </a:lnTo>
                    <a:lnTo>
                      <a:pt x="387" y="515"/>
                    </a:lnTo>
                    <a:lnTo>
                      <a:pt x="405" y="559"/>
                    </a:lnTo>
                    <a:lnTo>
                      <a:pt x="418" y="603"/>
                    </a:lnTo>
                    <a:lnTo>
                      <a:pt x="429" y="649"/>
                    </a:lnTo>
                    <a:lnTo>
                      <a:pt x="437" y="695"/>
                    </a:lnTo>
                    <a:lnTo>
                      <a:pt x="443" y="743"/>
                    </a:lnTo>
                    <a:lnTo>
                      <a:pt x="443" y="748"/>
                    </a:lnTo>
                    <a:lnTo>
                      <a:pt x="444" y="798"/>
                    </a:lnTo>
                    <a:lnTo>
                      <a:pt x="680" y="798"/>
                    </a:lnTo>
                    <a:lnTo>
                      <a:pt x="679" y="748"/>
                    </a:lnTo>
                    <a:lnTo>
                      <a:pt x="679" y="743"/>
                    </a:lnTo>
                    <a:lnTo>
                      <a:pt x="672" y="688"/>
                    </a:lnTo>
                    <a:lnTo>
                      <a:pt x="662" y="635"/>
                    </a:lnTo>
                    <a:lnTo>
                      <a:pt x="649" y="582"/>
                    </a:lnTo>
                    <a:lnTo>
                      <a:pt x="633" y="531"/>
                    </a:lnTo>
                    <a:lnTo>
                      <a:pt x="612" y="480"/>
                    </a:lnTo>
                    <a:lnTo>
                      <a:pt x="588" y="431"/>
                    </a:lnTo>
                    <a:lnTo>
                      <a:pt x="561" y="383"/>
                    </a:lnTo>
                    <a:lnTo>
                      <a:pt x="531" y="337"/>
                    </a:lnTo>
                    <a:lnTo>
                      <a:pt x="495" y="290"/>
                    </a:lnTo>
                    <a:lnTo>
                      <a:pt x="457" y="245"/>
                    </a:lnTo>
                    <a:lnTo>
                      <a:pt x="415" y="201"/>
                    </a:lnTo>
                    <a:lnTo>
                      <a:pt x="371" y="159"/>
                    </a:lnTo>
                    <a:lnTo>
                      <a:pt x="322" y="117"/>
                    </a:lnTo>
                    <a:lnTo>
                      <a:pt x="270" y="77"/>
                    </a:lnTo>
                    <a:lnTo>
                      <a:pt x="214" y="37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89" name="Freeform 50"/>
              <p:cNvSpPr>
                <a:spLocks/>
              </p:cNvSpPr>
              <p:nvPr/>
            </p:nvSpPr>
            <p:spPr bwMode="auto">
              <a:xfrm>
                <a:off x="1834" y="2167"/>
                <a:ext cx="4" cy="0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0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0" name="Freeform 51"/>
              <p:cNvSpPr>
                <a:spLocks/>
              </p:cNvSpPr>
              <p:nvPr/>
            </p:nvSpPr>
            <p:spPr bwMode="auto">
              <a:xfrm>
                <a:off x="1837" y="2167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1" name="Freeform 52"/>
              <p:cNvSpPr>
                <a:spLocks/>
              </p:cNvSpPr>
              <p:nvPr/>
            </p:nvSpPr>
            <p:spPr bwMode="auto">
              <a:xfrm>
                <a:off x="1778" y="2190"/>
                <a:ext cx="113" cy="81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2" name="Freeform 53"/>
              <p:cNvSpPr>
                <a:spLocks/>
              </p:cNvSpPr>
              <p:nvPr/>
            </p:nvSpPr>
            <p:spPr bwMode="auto">
              <a:xfrm>
                <a:off x="1818" y="2175"/>
                <a:ext cx="132" cy="96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3" name="Freeform 54"/>
              <p:cNvSpPr>
                <a:spLocks/>
              </p:cNvSpPr>
              <p:nvPr/>
            </p:nvSpPr>
            <p:spPr bwMode="auto">
              <a:xfrm>
                <a:off x="1856" y="2160"/>
                <a:ext cx="149" cy="111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415" name="Freeform 55"/>
              <p:cNvSpPr>
                <a:spLocks/>
              </p:cNvSpPr>
              <p:nvPr/>
            </p:nvSpPr>
            <p:spPr bwMode="auto">
              <a:xfrm>
                <a:off x="1899" y="2271"/>
                <a:ext cx="165" cy="11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6 h 757"/>
                  <a:gd name="T16" fmla="*/ 391 w 663"/>
                  <a:gd name="T17" fmla="*/ 196 h 757"/>
                  <a:gd name="T18" fmla="*/ 387 w 663"/>
                  <a:gd name="T19" fmla="*/ 206 h 757"/>
                  <a:gd name="T20" fmla="*/ 385 w 663"/>
                  <a:gd name="T21" fmla="*/ 211 h 757"/>
                  <a:gd name="T22" fmla="*/ 384 w 663"/>
                  <a:gd name="T23" fmla="*/ 217 h 757"/>
                  <a:gd name="T24" fmla="*/ 367 w 663"/>
                  <a:gd name="T25" fmla="*/ 259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80 h 757"/>
                  <a:gd name="T100" fmla="*/ 615 w 663"/>
                  <a:gd name="T101" fmla="*/ 256 h 757"/>
                  <a:gd name="T102" fmla="*/ 623 w 663"/>
                  <a:gd name="T103" fmla="*/ 231 h 757"/>
                  <a:gd name="T104" fmla="*/ 632 w 663"/>
                  <a:gd name="T105" fmla="*/ 207 h 757"/>
                  <a:gd name="T106" fmla="*/ 638 w 663"/>
                  <a:gd name="T107" fmla="*/ 181 h 757"/>
                  <a:gd name="T108" fmla="*/ 644 w 663"/>
                  <a:gd name="T109" fmla="*/ 156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6"/>
                    </a:lnTo>
                    <a:lnTo>
                      <a:pt x="391" y="196"/>
                    </a:lnTo>
                    <a:lnTo>
                      <a:pt x="387" y="206"/>
                    </a:lnTo>
                    <a:lnTo>
                      <a:pt x="385" y="211"/>
                    </a:lnTo>
                    <a:lnTo>
                      <a:pt x="384" y="217"/>
                    </a:lnTo>
                    <a:lnTo>
                      <a:pt x="367" y="259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80"/>
                    </a:lnTo>
                    <a:lnTo>
                      <a:pt x="615" y="256"/>
                    </a:lnTo>
                    <a:lnTo>
                      <a:pt x="623" y="231"/>
                    </a:lnTo>
                    <a:lnTo>
                      <a:pt x="632" y="207"/>
                    </a:lnTo>
                    <a:lnTo>
                      <a:pt x="638" y="181"/>
                    </a:lnTo>
                    <a:lnTo>
                      <a:pt x="644" y="156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195" name="Freeform 56"/>
              <p:cNvSpPr>
                <a:spLocks/>
              </p:cNvSpPr>
              <p:nvPr/>
            </p:nvSpPr>
            <p:spPr bwMode="auto">
              <a:xfrm>
                <a:off x="1810" y="2271"/>
                <a:ext cx="140" cy="87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50"/>
                    </a:lnTo>
                    <a:lnTo>
                      <a:pt x="275" y="162"/>
                    </a:lnTo>
                    <a:lnTo>
                      <a:pt x="272" y="168"/>
                    </a:lnTo>
                    <a:lnTo>
                      <a:pt x="270" y="175"/>
                    </a:lnTo>
                    <a:lnTo>
                      <a:pt x="256" y="198"/>
                    </a:lnTo>
                    <a:lnTo>
                      <a:pt x="242" y="222"/>
                    </a:lnTo>
                    <a:lnTo>
                      <a:pt x="226" y="245"/>
                    </a:lnTo>
                    <a:lnTo>
                      <a:pt x="209" y="269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2"/>
                    </a:lnTo>
                    <a:lnTo>
                      <a:pt x="486" y="244"/>
                    </a:lnTo>
                    <a:lnTo>
                      <a:pt x="496" y="227"/>
                    </a:lnTo>
                    <a:lnTo>
                      <a:pt x="504" y="208"/>
                    </a:lnTo>
                    <a:lnTo>
                      <a:pt x="512" y="190"/>
                    </a:lnTo>
                    <a:lnTo>
                      <a:pt x="527" y="154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6" name="Freeform 57"/>
              <p:cNvSpPr>
                <a:spLocks/>
              </p:cNvSpPr>
              <p:nvPr/>
            </p:nvSpPr>
            <p:spPr bwMode="auto">
              <a:xfrm>
                <a:off x="1766" y="2271"/>
                <a:ext cx="125" cy="70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8"/>
                    </a:lnTo>
                    <a:lnTo>
                      <a:pt x="189" y="182"/>
                    </a:lnTo>
                    <a:lnTo>
                      <a:pt x="163" y="216"/>
                    </a:lnTo>
                    <a:lnTo>
                      <a:pt x="131" y="248"/>
                    </a:lnTo>
                    <a:lnTo>
                      <a:pt x="97" y="280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9"/>
                    </a:lnTo>
                    <a:lnTo>
                      <a:pt x="404" y="245"/>
                    </a:lnTo>
                    <a:lnTo>
                      <a:pt x="420" y="222"/>
                    </a:lnTo>
                    <a:lnTo>
                      <a:pt x="434" y="198"/>
                    </a:lnTo>
                    <a:lnTo>
                      <a:pt x="448" y="175"/>
                    </a:lnTo>
                    <a:lnTo>
                      <a:pt x="450" y="168"/>
                    </a:lnTo>
                    <a:lnTo>
                      <a:pt x="453" y="162"/>
                    </a:lnTo>
                    <a:lnTo>
                      <a:pt x="459" y="150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7" name="Freeform 58"/>
              <p:cNvSpPr>
                <a:spLocks/>
              </p:cNvSpPr>
              <p:nvPr/>
            </p:nvSpPr>
            <p:spPr bwMode="auto">
              <a:xfrm>
                <a:off x="1810" y="2340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8" name="Freeform 59"/>
              <p:cNvSpPr>
                <a:spLocks/>
              </p:cNvSpPr>
              <p:nvPr/>
            </p:nvSpPr>
            <p:spPr bwMode="auto">
              <a:xfrm>
                <a:off x="1609" y="2341"/>
                <a:ext cx="248" cy="58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99" name="Freeform 60"/>
              <p:cNvSpPr>
                <a:spLocks/>
              </p:cNvSpPr>
              <p:nvPr/>
            </p:nvSpPr>
            <p:spPr bwMode="auto">
              <a:xfrm>
                <a:off x="1609" y="2326"/>
                <a:ext cx="201" cy="48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0" name="Freeform 61"/>
              <p:cNvSpPr>
                <a:spLocks/>
              </p:cNvSpPr>
              <p:nvPr/>
            </p:nvSpPr>
            <p:spPr bwMode="auto">
              <a:xfrm>
                <a:off x="1609" y="2358"/>
                <a:ext cx="290" cy="65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1" name="Freeform 62"/>
              <p:cNvSpPr>
                <a:spLocks/>
              </p:cNvSpPr>
              <p:nvPr/>
            </p:nvSpPr>
            <p:spPr bwMode="auto">
              <a:xfrm>
                <a:off x="1857" y="2358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423" name="Freeform 63"/>
              <p:cNvSpPr>
                <a:spLocks/>
              </p:cNvSpPr>
              <p:nvPr/>
            </p:nvSpPr>
            <p:spPr bwMode="auto">
              <a:xfrm>
                <a:off x="1609" y="2373"/>
                <a:ext cx="336" cy="75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203" name="Freeform 64"/>
              <p:cNvSpPr>
                <a:spLocks/>
              </p:cNvSpPr>
              <p:nvPr/>
            </p:nvSpPr>
            <p:spPr bwMode="auto">
              <a:xfrm>
                <a:off x="1857" y="2271"/>
                <a:ext cx="148" cy="102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9"/>
                    </a:lnTo>
                    <a:lnTo>
                      <a:pt x="549" y="217"/>
                    </a:lnTo>
                    <a:lnTo>
                      <a:pt x="550" y="211"/>
                    </a:lnTo>
                    <a:lnTo>
                      <a:pt x="552" y="206"/>
                    </a:lnTo>
                    <a:lnTo>
                      <a:pt x="556" y="196"/>
                    </a:lnTo>
                    <a:lnTo>
                      <a:pt x="564" y="176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4" name="Freeform 65"/>
              <p:cNvSpPr>
                <a:spLocks/>
              </p:cNvSpPr>
              <p:nvPr/>
            </p:nvSpPr>
            <p:spPr bwMode="auto">
              <a:xfrm>
                <a:off x="1371" y="2345"/>
                <a:ext cx="238" cy="54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5" name="Freeform 66"/>
              <p:cNvSpPr>
                <a:spLocks/>
              </p:cNvSpPr>
              <p:nvPr/>
            </p:nvSpPr>
            <p:spPr bwMode="auto">
              <a:xfrm>
                <a:off x="1285" y="2378"/>
                <a:ext cx="324" cy="70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206" name="Freeform 67"/>
              <p:cNvSpPr>
                <a:spLocks/>
              </p:cNvSpPr>
              <p:nvPr/>
            </p:nvSpPr>
            <p:spPr bwMode="auto">
              <a:xfrm>
                <a:off x="1329" y="2362"/>
                <a:ext cx="280" cy="61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7" name="Freeform 68"/>
              <p:cNvSpPr>
                <a:spLocks/>
              </p:cNvSpPr>
              <p:nvPr/>
            </p:nvSpPr>
            <p:spPr bwMode="auto">
              <a:xfrm>
                <a:off x="1416" y="2329"/>
                <a:ext cx="193" cy="45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8" name="Freeform 69"/>
              <p:cNvSpPr>
                <a:spLocks/>
              </p:cNvSpPr>
              <p:nvPr/>
            </p:nvSpPr>
            <p:spPr bwMode="auto">
              <a:xfrm>
                <a:off x="1154" y="2151"/>
                <a:ext cx="159" cy="12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09" name="Freeform 70"/>
              <p:cNvSpPr>
                <a:spLocks/>
              </p:cNvSpPr>
              <p:nvPr/>
            </p:nvSpPr>
            <p:spPr bwMode="auto">
              <a:xfrm>
                <a:off x="1212" y="2166"/>
                <a:ext cx="140" cy="105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0" name="Freeform 71"/>
              <p:cNvSpPr>
                <a:spLocks/>
              </p:cNvSpPr>
              <p:nvPr/>
            </p:nvSpPr>
            <p:spPr bwMode="auto">
              <a:xfrm>
                <a:off x="1325" y="2193"/>
                <a:ext cx="108" cy="78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1" name="Freeform 72"/>
              <p:cNvSpPr>
                <a:spLocks/>
              </p:cNvSpPr>
              <p:nvPr/>
            </p:nvSpPr>
            <p:spPr bwMode="auto">
              <a:xfrm>
                <a:off x="1267" y="2179"/>
                <a:ext cx="125" cy="92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2" name="Freeform 73"/>
              <p:cNvSpPr>
                <a:spLocks/>
              </p:cNvSpPr>
              <p:nvPr/>
            </p:nvSpPr>
            <p:spPr bwMode="auto">
              <a:xfrm>
                <a:off x="1457" y="2328"/>
                <a:ext cx="1" cy="2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3" name="Freeform 74"/>
              <p:cNvSpPr>
                <a:spLocks/>
              </p:cNvSpPr>
              <p:nvPr/>
            </p:nvSpPr>
            <p:spPr bwMode="auto">
              <a:xfrm>
                <a:off x="1326" y="2271"/>
                <a:ext cx="131" cy="74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3"/>
                    </a:lnTo>
                    <a:lnTo>
                      <a:pt x="388" y="269"/>
                    </a:lnTo>
                    <a:lnTo>
                      <a:pt x="373" y="256"/>
                    </a:lnTo>
                    <a:lnTo>
                      <a:pt x="344" y="227"/>
                    </a:lnTo>
                    <a:lnTo>
                      <a:pt x="319" y="199"/>
                    </a:lnTo>
                    <a:lnTo>
                      <a:pt x="296" y="169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4" name="Freeform 75"/>
              <p:cNvSpPr>
                <a:spLocks/>
              </p:cNvSpPr>
              <p:nvPr/>
            </p:nvSpPr>
            <p:spPr bwMode="auto">
              <a:xfrm>
                <a:off x="1267" y="2271"/>
                <a:ext cx="149" cy="91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6"/>
                    </a:lnTo>
                    <a:lnTo>
                      <a:pt x="300" y="212"/>
                    </a:lnTo>
                    <a:lnTo>
                      <a:pt x="276" y="168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70"/>
                    </a:lnTo>
                    <a:lnTo>
                      <a:pt x="43" y="202"/>
                    </a:lnTo>
                    <a:lnTo>
                      <a:pt x="56" y="232"/>
                    </a:lnTo>
                    <a:lnTo>
                      <a:pt x="73" y="263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5" name="Freeform 76"/>
              <p:cNvSpPr>
                <a:spLocks/>
              </p:cNvSpPr>
              <p:nvPr/>
            </p:nvSpPr>
            <p:spPr bwMode="auto">
              <a:xfrm>
                <a:off x="1212" y="2271"/>
                <a:ext cx="159" cy="107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3"/>
                    </a:lnTo>
                    <a:lnTo>
                      <a:pt x="276" y="232"/>
                    </a:lnTo>
                    <a:lnTo>
                      <a:pt x="263" y="202"/>
                    </a:lnTo>
                    <a:lnTo>
                      <a:pt x="250" y="170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6" name="Freeform 77"/>
              <p:cNvSpPr>
                <a:spLocks/>
              </p:cNvSpPr>
              <p:nvPr/>
            </p:nvSpPr>
            <p:spPr bwMode="auto">
              <a:xfrm>
                <a:off x="1153" y="2271"/>
                <a:ext cx="176" cy="124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3"/>
                    </a:lnTo>
                    <a:lnTo>
                      <a:pt x="282" y="235"/>
                    </a:lnTo>
                    <a:lnTo>
                      <a:pt x="268" y="195"/>
                    </a:lnTo>
                    <a:lnTo>
                      <a:pt x="257" y="156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217" name="Freeform 78"/>
              <p:cNvSpPr>
                <a:spLocks/>
              </p:cNvSpPr>
              <p:nvPr/>
            </p:nvSpPr>
            <p:spPr bwMode="auto">
              <a:xfrm>
                <a:off x="1609" y="2094"/>
                <a:ext cx="324" cy="51"/>
              </a:xfrm>
              <a:custGeom>
                <a:avLst/>
                <a:gdLst>
                  <a:gd name="T0" fmla="*/ 0 w 1298"/>
                  <a:gd name="T1" fmla="*/ 0 h 330"/>
                  <a:gd name="T2" fmla="*/ 0 w 1298"/>
                  <a:gd name="T3" fmla="*/ 0 h 330"/>
                  <a:gd name="T4" fmla="*/ 0 w 1298"/>
                  <a:gd name="T5" fmla="*/ 0 h 330"/>
                  <a:gd name="T6" fmla="*/ 0 w 1298"/>
                  <a:gd name="T7" fmla="*/ 0 h 330"/>
                  <a:gd name="T8" fmla="*/ 0 w 1298"/>
                  <a:gd name="T9" fmla="*/ 0 h 330"/>
                  <a:gd name="T10" fmla="*/ 0 w 1298"/>
                  <a:gd name="T11" fmla="*/ 0 h 330"/>
                  <a:gd name="T12" fmla="*/ 0 w 1298"/>
                  <a:gd name="T13" fmla="*/ 0 h 330"/>
                  <a:gd name="T14" fmla="*/ 0 w 1298"/>
                  <a:gd name="T15" fmla="*/ 0 h 330"/>
                  <a:gd name="T16" fmla="*/ 0 w 1298"/>
                  <a:gd name="T17" fmla="*/ 0 h 330"/>
                  <a:gd name="T18" fmla="*/ 0 w 1298"/>
                  <a:gd name="T19" fmla="*/ 0 h 330"/>
                  <a:gd name="T20" fmla="*/ 0 w 1298"/>
                  <a:gd name="T21" fmla="*/ 0 h 330"/>
                  <a:gd name="T22" fmla="*/ 0 w 1298"/>
                  <a:gd name="T23" fmla="*/ 0 h 330"/>
                  <a:gd name="T24" fmla="*/ 0 w 1298"/>
                  <a:gd name="T25" fmla="*/ 0 h 330"/>
                  <a:gd name="T26" fmla="*/ 0 w 1298"/>
                  <a:gd name="T27" fmla="*/ 0 h 330"/>
                  <a:gd name="T28" fmla="*/ 0 w 1298"/>
                  <a:gd name="T29" fmla="*/ 0 h 330"/>
                  <a:gd name="T30" fmla="*/ 0 w 1298"/>
                  <a:gd name="T31" fmla="*/ 0 h 330"/>
                  <a:gd name="T32" fmla="*/ 0 w 1298"/>
                  <a:gd name="T33" fmla="*/ 0 h 330"/>
                  <a:gd name="T34" fmla="*/ 0 w 1298"/>
                  <a:gd name="T35" fmla="*/ 0 h 330"/>
                  <a:gd name="T36" fmla="*/ 0 w 1298"/>
                  <a:gd name="T37" fmla="*/ 0 h 330"/>
                  <a:gd name="T38" fmla="*/ 0 w 1298"/>
                  <a:gd name="T39" fmla="*/ 0 h 330"/>
                  <a:gd name="T40" fmla="*/ 0 w 1298"/>
                  <a:gd name="T41" fmla="*/ 0 h 3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30"/>
                  <a:gd name="T65" fmla="*/ 1298 w 1298"/>
                  <a:gd name="T66" fmla="*/ 330 h 33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30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6"/>
                    </a:lnTo>
                    <a:lnTo>
                      <a:pt x="1169" y="259"/>
                    </a:lnTo>
                    <a:lnTo>
                      <a:pt x="1274" y="315"/>
                    </a:lnTo>
                    <a:lnTo>
                      <a:pt x="1285" y="322"/>
                    </a:lnTo>
                    <a:lnTo>
                      <a:pt x="1298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8" name="Line 79"/>
              <p:cNvSpPr>
                <a:spLocks noChangeShapeType="1"/>
              </p:cNvSpPr>
              <p:nvPr/>
            </p:nvSpPr>
            <p:spPr bwMode="auto">
              <a:xfrm flipV="1">
                <a:off x="1609" y="2094"/>
                <a:ext cx="0" cy="2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19" name="Freeform 80"/>
              <p:cNvSpPr>
                <a:spLocks/>
              </p:cNvSpPr>
              <p:nvPr/>
            </p:nvSpPr>
            <p:spPr bwMode="auto">
              <a:xfrm>
                <a:off x="1609" y="2115"/>
                <a:ext cx="285" cy="45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0" name="Freeform 81"/>
              <p:cNvSpPr>
                <a:spLocks/>
              </p:cNvSpPr>
              <p:nvPr/>
            </p:nvSpPr>
            <p:spPr bwMode="auto">
              <a:xfrm>
                <a:off x="1609" y="2154"/>
                <a:ext cx="209" cy="36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1" name="Line 82"/>
              <p:cNvSpPr>
                <a:spLocks noChangeShapeType="1"/>
              </p:cNvSpPr>
              <p:nvPr/>
            </p:nvSpPr>
            <p:spPr bwMode="auto">
              <a:xfrm flipV="1">
                <a:off x="1609" y="2135"/>
                <a:ext cx="0" cy="1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2" name="Freeform 83"/>
              <p:cNvSpPr>
                <a:spLocks/>
              </p:cNvSpPr>
              <p:nvPr/>
            </p:nvSpPr>
            <p:spPr bwMode="auto">
              <a:xfrm>
                <a:off x="1609" y="2134"/>
                <a:ext cx="225" cy="33"/>
              </a:xfrm>
              <a:custGeom>
                <a:avLst/>
                <a:gdLst>
                  <a:gd name="T0" fmla="*/ 0 w 902"/>
                  <a:gd name="T1" fmla="*/ 0 h 205"/>
                  <a:gd name="T2" fmla="*/ 0 w 902"/>
                  <a:gd name="T3" fmla="*/ 0 h 205"/>
                  <a:gd name="T4" fmla="*/ 0 w 902"/>
                  <a:gd name="T5" fmla="*/ 0 h 205"/>
                  <a:gd name="T6" fmla="*/ 0 w 902"/>
                  <a:gd name="T7" fmla="*/ 0 h 205"/>
                  <a:gd name="T8" fmla="*/ 0 w 902"/>
                  <a:gd name="T9" fmla="*/ 0 h 205"/>
                  <a:gd name="T10" fmla="*/ 0 w 902"/>
                  <a:gd name="T11" fmla="*/ 0 h 205"/>
                  <a:gd name="T12" fmla="*/ 0 w 902"/>
                  <a:gd name="T13" fmla="*/ 0 h 205"/>
                  <a:gd name="T14" fmla="*/ 0 w 902"/>
                  <a:gd name="T15" fmla="*/ 0 h 205"/>
                  <a:gd name="T16" fmla="*/ 0 w 902"/>
                  <a:gd name="T17" fmla="*/ 0 h 205"/>
                  <a:gd name="T18" fmla="*/ 0 w 902"/>
                  <a:gd name="T19" fmla="*/ 0 h 205"/>
                  <a:gd name="T20" fmla="*/ 0 w 902"/>
                  <a:gd name="T21" fmla="*/ 0 h 205"/>
                  <a:gd name="T22" fmla="*/ 0 w 902"/>
                  <a:gd name="T23" fmla="*/ 0 h 205"/>
                  <a:gd name="T24" fmla="*/ 0 w 902"/>
                  <a:gd name="T25" fmla="*/ 0 h 205"/>
                  <a:gd name="T26" fmla="*/ 0 w 902"/>
                  <a:gd name="T27" fmla="*/ 0 h 205"/>
                  <a:gd name="T28" fmla="*/ 0 w 902"/>
                  <a:gd name="T29" fmla="*/ 0 h 205"/>
                  <a:gd name="T30" fmla="*/ 0 w 902"/>
                  <a:gd name="T31" fmla="*/ 0 h 205"/>
                  <a:gd name="T32" fmla="*/ 0 w 902"/>
                  <a:gd name="T33" fmla="*/ 0 h 205"/>
                  <a:gd name="T34" fmla="*/ 0 w 902"/>
                  <a:gd name="T35" fmla="*/ 0 h 205"/>
                  <a:gd name="T36" fmla="*/ 0 w 902"/>
                  <a:gd name="T37" fmla="*/ 0 h 205"/>
                  <a:gd name="T38" fmla="*/ 0 w 902"/>
                  <a:gd name="T39" fmla="*/ 0 h 205"/>
                  <a:gd name="T40" fmla="*/ 0 w 902"/>
                  <a:gd name="T41" fmla="*/ 0 h 20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5"/>
                  <a:gd name="T65" fmla="*/ 902 w 902"/>
                  <a:gd name="T66" fmla="*/ 205 h 20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5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19"/>
                    </a:lnTo>
                    <a:lnTo>
                      <a:pt x="767" y="140"/>
                    </a:lnTo>
                    <a:lnTo>
                      <a:pt x="814" y="161"/>
                    </a:lnTo>
                    <a:lnTo>
                      <a:pt x="862" y="185"/>
                    </a:lnTo>
                    <a:lnTo>
                      <a:pt x="902" y="20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3" name="Line 84"/>
              <p:cNvSpPr>
                <a:spLocks noChangeShapeType="1"/>
              </p:cNvSpPr>
              <p:nvPr/>
            </p:nvSpPr>
            <p:spPr bwMode="auto">
              <a:xfrm flipV="1">
                <a:off x="1609" y="2115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4" name="Line 85"/>
              <p:cNvSpPr>
                <a:spLocks noChangeShapeType="1"/>
              </p:cNvSpPr>
              <p:nvPr/>
            </p:nvSpPr>
            <p:spPr bwMode="auto">
              <a:xfrm>
                <a:off x="1154" y="2271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5" name="Freeform 86"/>
              <p:cNvSpPr>
                <a:spLocks/>
              </p:cNvSpPr>
              <p:nvPr/>
            </p:nvSpPr>
            <p:spPr bwMode="auto">
              <a:xfrm>
                <a:off x="1609" y="2175"/>
                <a:ext cx="169" cy="30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6" name="Line 87"/>
              <p:cNvSpPr>
                <a:spLocks noChangeShapeType="1"/>
              </p:cNvSpPr>
              <p:nvPr/>
            </p:nvSpPr>
            <p:spPr bwMode="auto">
              <a:xfrm flipV="1">
                <a:off x="1609" y="2154"/>
                <a:ext cx="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7" name="Line 88"/>
              <p:cNvSpPr>
                <a:spLocks noChangeShapeType="1"/>
              </p:cNvSpPr>
              <p:nvPr/>
            </p:nvSpPr>
            <p:spPr bwMode="auto">
              <a:xfrm flipH="1">
                <a:off x="1894" y="2145"/>
                <a:ext cx="39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8" name="Freeform 89"/>
              <p:cNvSpPr>
                <a:spLocks/>
              </p:cNvSpPr>
              <p:nvPr/>
            </p:nvSpPr>
            <p:spPr bwMode="auto">
              <a:xfrm>
                <a:off x="1837" y="2167"/>
                <a:ext cx="19" cy="8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29" name="Line 90"/>
              <p:cNvSpPr>
                <a:spLocks noChangeShapeType="1"/>
              </p:cNvSpPr>
              <p:nvPr/>
            </p:nvSpPr>
            <p:spPr bwMode="auto">
              <a:xfrm>
                <a:off x="1834" y="2167"/>
                <a:ext cx="3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0" name="Line 91"/>
              <p:cNvSpPr>
                <a:spLocks noChangeShapeType="1"/>
              </p:cNvSpPr>
              <p:nvPr/>
            </p:nvSpPr>
            <p:spPr bwMode="auto">
              <a:xfrm>
                <a:off x="1837" y="2167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1" name="Freeform 92"/>
              <p:cNvSpPr>
                <a:spLocks/>
              </p:cNvSpPr>
              <p:nvPr/>
            </p:nvSpPr>
            <p:spPr bwMode="auto">
              <a:xfrm>
                <a:off x="1837" y="2167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2" name="Line 93"/>
              <p:cNvSpPr>
                <a:spLocks noChangeShapeType="1"/>
              </p:cNvSpPr>
              <p:nvPr/>
            </p:nvSpPr>
            <p:spPr bwMode="auto">
              <a:xfrm>
                <a:off x="1834" y="2167"/>
                <a:ext cx="4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3" name="Freeform 94"/>
              <p:cNvSpPr>
                <a:spLocks/>
              </p:cNvSpPr>
              <p:nvPr/>
            </p:nvSpPr>
            <p:spPr bwMode="auto">
              <a:xfrm>
                <a:off x="1778" y="2205"/>
                <a:ext cx="55" cy="66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4" name="Line 95"/>
              <p:cNvSpPr>
                <a:spLocks noChangeShapeType="1"/>
              </p:cNvSpPr>
              <p:nvPr/>
            </p:nvSpPr>
            <p:spPr bwMode="auto">
              <a:xfrm flipH="1">
                <a:off x="1818" y="2175"/>
                <a:ext cx="38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5" name="Freeform 96"/>
              <p:cNvSpPr>
                <a:spLocks/>
              </p:cNvSpPr>
              <p:nvPr/>
            </p:nvSpPr>
            <p:spPr bwMode="auto">
              <a:xfrm>
                <a:off x="1856" y="2175"/>
                <a:ext cx="94" cy="96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6" name="Freeform 97"/>
              <p:cNvSpPr>
                <a:spLocks/>
              </p:cNvSpPr>
              <p:nvPr/>
            </p:nvSpPr>
            <p:spPr bwMode="auto">
              <a:xfrm>
                <a:off x="1818" y="2190"/>
                <a:ext cx="73" cy="81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7" name="Line 98"/>
              <p:cNvSpPr>
                <a:spLocks noChangeShapeType="1"/>
              </p:cNvSpPr>
              <p:nvPr/>
            </p:nvSpPr>
            <p:spPr bwMode="auto">
              <a:xfrm flipV="1">
                <a:off x="1856" y="2160"/>
                <a:ext cx="38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8" name="Line 99"/>
              <p:cNvSpPr>
                <a:spLocks noChangeShapeType="1"/>
              </p:cNvSpPr>
              <p:nvPr/>
            </p:nvSpPr>
            <p:spPr bwMode="auto">
              <a:xfrm flipH="1">
                <a:off x="1778" y="2190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39" name="Freeform 100"/>
              <p:cNvSpPr>
                <a:spLocks/>
              </p:cNvSpPr>
              <p:nvPr/>
            </p:nvSpPr>
            <p:spPr bwMode="auto">
              <a:xfrm>
                <a:off x="1933" y="2145"/>
                <a:ext cx="131" cy="126"/>
              </a:xfrm>
              <a:custGeom>
                <a:avLst/>
                <a:gdLst>
                  <a:gd name="T0" fmla="*/ 0 w 524"/>
                  <a:gd name="T1" fmla="*/ 0 h 798"/>
                  <a:gd name="T2" fmla="*/ 0 w 524"/>
                  <a:gd name="T3" fmla="*/ 0 h 798"/>
                  <a:gd name="T4" fmla="*/ 0 w 524"/>
                  <a:gd name="T5" fmla="*/ 0 h 798"/>
                  <a:gd name="T6" fmla="*/ 0 w 524"/>
                  <a:gd name="T7" fmla="*/ 0 h 798"/>
                  <a:gd name="T8" fmla="*/ 0 w 524"/>
                  <a:gd name="T9" fmla="*/ 0 h 798"/>
                  <a:gd name="T10" fmla="*/ 0 w 524"/>
                  <a:gd name="T11" fmla="*/ 0 h 798"/>
                  <a:gd name="T12" fmla="*/ 0 w 524"/>
                  <a:gd name="T13" fmla="*/ 0 h 798"/>
                  <a:gd name="T14" fmla="*/ 0 w 524"/>
                  <a:gd name="T15" fmla="*/ 0 h 798"/>
                  <a:gd name="T16" fmla="*/ 0 w 524"/>
                  <a:gd name="T17" fmla="*/ 0 h 798"/>
                  <a:gd name="T18" fmla="*/ 0 w 524"/>
                  <a:gd name="T19" fmla="*/ 0 h 798"/>
                  <a:gd name="T20" fmla="*/ 0 w 524"/>
                  <a:gd name="T21" fmla="*/ 0 h 798"/>
                  <a:gd name="T22" fmla="*/ 0 w 524"/>
                  <a:gd name="T23" fmla="*/ 0 h 798"/>
                  <a:gd name="T24" fmla="*/ 0 w 524"/>
                  <a:gd name="T25" fmla="*/ 0 h 798"/>
                  <a:gd name="T26" fmla="*/ 0 w 524"/>
                  <a:gd name="T27" fmla="*/ 0 h 798"/>
                  <a:gd name="T28" fmla="*/ 0 w 524"/>
                  <a:gd name="T29" fmla="*/ 0 h 798"/>
                  <a:gd name="T30" fmla="*/ 0 w 524"/>
                  <a:gd name="T31" fmla="*/ 0 h 798"/>
                  <a:gd name="T32" fmla="*/ 0 w 524"/>
                  <a:gd name="T33" fmla="*/ 0 h 798"/>
                  <a:gd name="T34" fmla="*/ 0 w 524"/>
                  <a:gd name="T35" fmla="*/ 0 h 798"/>
                  <a:gd name="T36" fmla="*/ 0 w 524"/>
                  <a:gd name="T37" fmla="*/ 0 h 7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8"/>
                  <a:gd name="T59" fmla="*/ 524 w 524"/>
                  <a:gd name="T60" fmla="*/ 798 h 7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8">
                    <a:moveTo>
                      <a:pt x="524" y="798"/>
                    </a:moveTo>
                    <a:lnTo>
                      <a:pt x="523" y="748"/>
                    </a:lnTo>
                    <a:lnTo>
                      <a:pt x="523" y="743"/>
                    </a:lnTo>
                    <a:lnTo>
                      <a:pt x="516" y="688"/>
                    </a:lnTo>
                    <a:lnTo>
                      <a:pt x="506" y="635"/>
                    </a:lnTo>
                    <a:lnTo>
                      <a:pt x="493" y="582"/>
                    </a:lnTo>
                    <a:lnTo>
                      <a:pt x="477" y="531"/>
                    </a:lnTo>
                    <a:lnTo>
                      <a:pt x="456" y="480"/>
                    </a:lnTo>
                    <a:lnTo>
                      <a:pt x="432" y="431"/>
                    </a:lnTo>
                    <a:lnTo>
                      <a:pt x="405" y="383"/>
                    </a:lnTo>
                    <a:lnTo>
                      <a:pt x="375" y="337"/>
                    </a:lnTo>
                    <a:lnTo>
                      <a:pt x="339" y="290"/>
                    </a:lnTo>
                    <a:lnTo>
                      <a:pt x="301" y="245"/>
                    </a:lnTo>
                    <a:lnTo>
                      <a:pt x="259" y="201"/>
                    </a:lnTo>
                    <a:lnTo>
                      <a:pt x="215" y="159"/>
                    </a:lnTo>
                    <a:lnTo>
                      <a:pt x="166" y="117"/>
                    </a:lnTo>
                    <a:lnTo>
                      <a:pt x="114" y="77"/>
                    </a:lnTo>
                    <a:lnTo>
                      <a:pt x="58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0" name="Freeform 101"/>
              <p:cNvSpPr>
                <a:spLocks/>
              </p:cNvSpPr>
              <p:nvPr/>
            </p:nvSpPr>
            <p:spPr bwMode="auto">
              <a:xfrm>
                <a:off x="1894" y="2160"/>
                <a:ext cx="111" cy="111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1" name="Line 102"/>
              <p:cNvSpPr>
                <a:spLocks noChangeShapeType="1"/>
              </p:cNvSpPr>
              <p:nvPr/>
            </p:nvSpPr>
            <p:spPr bwMode="auto">
              <a:xfrm>
                <a:off x="2005" y="2271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2" name="Line 103"/>
              <p:cNvSpPr>
                <a:spLocks noChangeShapeType="1"/>
              </p:cNvSpPr>
              <p:nvPr/>
            </p:nvSpPr>
            <p:spPr bwMode="auto">
              <a:xfrm>
                <a:off x="1891" y="2271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3" name="Freeform 104"/>
              <p:cNvSpPr>
                <a:spLocks/>
              </p:cNvSpPr>
              <p:nvPr/>
            </p:nvSpPr>
            <p:spPr bwMode="auto">
              <a:xfrm>
                <a:off x="1811" y="2271"/>
                <a:ext cx="80" cy="70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9"/>
                    </a:lnTo>
                    <a:lnTo>
                      <a:pt x="222" y="245"/>
                    </a:lnTo>
                    <a:lnTo>
                      <a:pt x="238" y="222"/>
                    </a:lnTo>
                    <a:lnTo>
                      <a:pt x="252" y="198"/>
                    </a:lnTo>
                    <a:lnTo>
                      <a:pt x="266" y="175"/>
                    </a:lnTo>
                    <a:lnTo>
                      <a:pt x="268" y="168"/>
                    </a:lnTo>
                    <a:lnTo>
                      <a:pt x="271" y="162"/>
                    </a:lnTo>
                    <a:lnTo>
                      <a:pt x="277" y="150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4" name="Freeform 105"/>
              <p:cNvSpPr>
                <a:spLocks/>
              </p:cNvSpPr>
              <p:nvPr/>
            </p:nvSpPr>
            <p:spPr bwMode="auto">
              <a:xfrm>
                <a:off x="1766" y="2271"/>
                <a:ext cx="66" cy="55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80"/>
                    </a:lnTo>
                    <a:lnTo>
                      <a:pt x="131" y="248"/>
                    </a:lnTo>
                    <a:lnTo>
                      <a:pt x="163" y="216"/>
                    </a:lnTo>
                    <a:lnTo>
                      <a:pt x="189" y="182"/>
                    </a:lnTo>
                    <a:lnTo>
                      <a:pt x="213" y="148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5" name="Line 106"/>
              <p:cNvSpPr>
                <a:spLocks noChangeShapeType="1"/>
              </p:cNvSpPr>
              <p:nvPr/>
            </p:nvSpPr>
            <p:spPr bwMode="auto">
              <a:xfrm flipH="1">
                <a:off x="1810" y="2341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6" name="Freeform 107"/>
              <p:cNvSpPr>
                <a:spLocks/>
              </p:cNvSpPr>
              <p:nvPr/>
            </p:nvSpPr>
            <p:spPr bwMode="auto">
              <a:xfrm>
                <a:off x="1609" y="2341"/>
                <a:ext cx="201" cy="3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7" name="Line 108"/>
              <p:cNvSpPr>
                <a:spLocks noChangeShapeType="1"/>
              </p:cNvSpPr>
              <p:nvPr/>
            </p:nvSpPr>
            <p:spPr bwMode="auto">
              <a:xfrm flipV="1">
                <a:off x="1810" y="2341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8" name="Freeform 109"/>
              <p:cNvSpPr>
                <a:spLocks/>
              </p:cNvSpPr>
              <p:nvPr/>
            </p:nvSpPr>
            <p:spPr bwMode="auto">
              <a:xfrm>
                <a:off x="1609" y="2358"/>
                <a:ext cx="248" cy="41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49" name="Line 110"/>
              <p:cNvSpPr>
                <a:spLocks noChangeShapeType="1"/>
              </p:cNvSpPr>
              <p:nvPr/>
            </p:nvSpPr>
            <p:spPr bwMode="auto">
              <a:xfrm flipH="1" flipV="1">
                <a:off x="1810" y="2341"/>
                <a:ext cx="47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0" name="Freeform 111"/>
              <p:cNvSpPr>
                <a:spLocks/>
              </p:cNvSpPr>
              <p:nvPr/>
            </p:nvSpPr>
            <p:spPr bwMode="auto">
              <a:xfrm>
                <a:off x="1609" y="2373"/>
                <a:ext cx="290" cy="5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1" name="Line 112"/>
              <p:cNvSpPr>
                <a:spLocks noChangeShapeType="1"/>
              </p:cNvSpPr>
              <p:nvPr/>
            </p:nvSpPr>
            <p:spPr bwMode="auto">
              <a:xfrm flipH="1" flipV="1">
                <a:off x="1899" y="2373"/>
                <a:ext cx="46" cy="1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2" name="Freeform 113"/>
              <p:cNvSpPr>
                <a:spLocks/>
              </p:cNvSpPr>
              <p:nvPr/>
            </p:nvSpPr>
            <p:spPr bwMode="auto">
              <a:xfrm>
                <a:off x="1899" y="2271"/>
                <a:ext cx="106" cy="102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9"/>
                    </a:lnTo>
                    <a:lnTo>
                      <a:pt x="384" y="217"/>
                    </a:lnTo>
                    <a:lnTo>
                      <a:pt x="385" y="211"/>
                    </a:lnTo>
                    <a:lnTo>
                      <a:pt x="387" y="206"/>
                    </a:lnTo>
                    <a:lnTo>
                      <a:pt x="391" y="196"/>
                    </a:lnTo>
                    <a:lnTo>
                      <a:pt x="399" y="176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474" name="Freeform 114"/>
              <p:cNvSpPr>
                <a:spLocks/>
              </p:cNvSpPr>
              <p:nvPr/>
            </p:nvSpPr>
            <p:spPr bwMode="auto">
              <a:xfrm>
                <a:off x="1609" y="2389"/>
                <a:ext cx="336" cy="59"/>
              </a:xfrm>
              <a:custGeom>
                <a:avLst/>
                <a:gdLst>
                  <a:gd name="T0" fmla="*/ 0 w 1346"/>
                  <a:gd name="T1" fmla="*/ 374 h 374"/>
                  <a:gd name="T2" fmla="*/ 46 w 1346"/>
                  <a:gd name="T3" fmla="*/ 372 h 374"/>
                  <a:gd name="T4" fmla="*/ 57 w 1346"/>
                  <a:gd name="T5" fmla="*/ 371 h 374"/>
                  <a:gd name="T6" fmla="*/ 69 w 1346"/>
                  <a:gd name="T7" fmla="*/ 371 h 374"/>
                  <a:gd name="T8" fmla="*/ 93 w 1346"/>
                  <a:gd name="T9" fmla="*/ 371 h 374"/>
                  <a:gd name="T10" fmla="*/ 115 w 1346"/>
                  <a:gd name="T11" fmla="*/ 369 h 374"/>
                  <a:gd name="T12" fmla="*/ 126 w 1346"/>
                  <a:gd name="T13" fmla="*/ 368 h 374"/>
                  <a:gd name="T14" fmla="*/ 138 w 1346"/>
                  <a:gd name="T15" fmla="*/ 368 h 374"/>
                  <a:gd name="T16" fmla="*/ 184 w 1346"/>
                  <a:gd name="T17" fmla="*/ 366 h 374"/>
                  <a:gd name="T18" fmla="*/ 274 w 1346"/>
                  <a:gd name="T19" fmla="*/ 358 h 374"/>
                  <a:gd name="T20" fmla="*/ 318 w 1346"/>
                  <a:gd name="T21" fmla="*/ 353 h 374"/>
                  <a:gd name="T22" fmla="*/ 363 w 1346"/>
                  <a:gd name="T23" fmla="*/ 349 h 374"/>
                  <a:gd name="T24" fmla="*/ 449 w 1346"/>
                  <a:gd name="T25" fmla="*/ 336 h 374"/>
                  <a:gd name="T26" fmla="*/ 491 w 1346"/>
                  <a:gd name="T27" fmla="*/ 329 h 374"/>
                  <a:gd name="T28" fmla="*/ 512 w 1346"/>
                  <a:gd name="T29" fmla="*/ 325 h 374"/>
                  <a:gd name="T30" fmla="*/ 534 w 1346"/>
                  <a:gd name="T31" fmla="*/ 322 h 374"/>
                  <a:gd name="T32" fmla="*/ 555 w 1346"/>
                  <a:gd name="T33" fmla="*/ 317 h 374"/>
                  <a:gd name="T34" fmla="*/ 576 w 1346"/>
                  <a:gd name="T35" fmla="*/ 313 h 374"/>
                  <a:gd name="T36" fmla="*/ 618 w 1346"/>
                  <a:gd name="T37" fmla="*/ 304 h 374"/>
                  <a:gd name="T38" fmla="*/ 700 w 1346"/>
                  <a:gd name="T39" fmla="*/ 285 h 374"/>
                  <a:gd name="T40" fmla="*/ 739 w 1346"/>
                  <a:gd name="T41" fmla="*/ 273 h 374"/>
                  <a:gd name="T42" fmla="*/ 779 w 1346"/>
                  <a:gd name="T43" fmla="*/ 262 h 374"/>
                  <a:gd name="T44" fmla="*/ 857 w 1346"/>
                  <a:gd name="T45" fmla="*/ 238 h 374"/>
                  <a:gd name="T46" fmla="*/ 933 w 1346"/>
                  <a:gd name="T47" fmla="*/ 210 h 374"/>
                  <a:gd name="T48" fmla="*/ 951 w 1346"/>
                  <a:gd name="T49" fmla="*/ 202 h 374"/>
                  <a:gd name="T50" fmla="*/ 960 w 1346"/>
                  <a:gd name="T51" fmla="*/ 198 h 374"/>
                  <a:gd name="T52" fmla="*/ 970 w 1346"/>
                  <a:gd name="T53" fmla="*/ 195 h 374"/>
                  <a:gd name="T54" fmla="*/ 1008 w 1346"/>
                  <a:gd name="T55" fmla="*/ 181 h 374"/>
                  <a:gd name="T56" fmla="*/ 1080 w 1346"/>
                  <a:gd name="T57" fmla="*/ 148 h 374"/>
                  <a:gd name="T58" fmla="*/ 1088 w 1346"/>
                  <a:gd name="T59" fmla="*/ 143 h 374"/>
                  <a:gd name="T60" fmla="*/ 1097 w 1346"/>
                  <a:gd name="T61" fmla="*/ 139 h 374"/>
                  <a:gd name="T62" fmla="*/ 1115 w 1346"/>
                  <a:gd name="T63" fmla="*/ 131 h 374"/>
                  <a:gd name="T64" fmla="*/ 1151 w 1346"/>
                  <a:gd name="T65" fmla="*/ 114 h 374"/>
                  <a:gd name="T66" fmla="*/ 1185 w 1346"/>
                  <a:gd name="T67" fmla="*/ 95 h 374"/>
                  <a:gd name="T68" fmla="*/ 1202 w 1346"/>
                  <a:gd name="T69" fmla="*/ 85 h 374"/>
                  <a:gd name="T70" fmla="*/ 1220 w 1346"/>
                  <a:gd name="T71" fmla="*/ 76 h 374"/>
                  <a:gd name="T72" fmla="*/ 1288 w 1346"/>
                  <a:gd name="T73" fmla="*/ 37 h 374"/>
                  <a:gd name="T74" fmla="*/ 1346 w 1346"/>
                  <a:gd name="T7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254" name="Freeform 115"/>
              <p:cNvSpPr>
                <a:spLocks/>
              </p:cNvSpPr>
              <p:nvPr/>
            </p:nvSpPr>
            <p:spPr bwMode="auto">
              <a:xfrm>
                <a:off x="1945" y="2271"/>
                <a:ext cx="119" cy="118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80"/>
                    </a:lnTo>
                    <a:lnTo>
                      <a:pt x="428" y="256"/>
                    </a:lnTo>
                    <a:lnTo>
                      <a:pt x="436" y="231"/>
                    </a:lnTo>
                    <a:lnTo>
                      <a:pt x="445" y="207"/>
                    </a:lnTo>
                    <a:lnTo>
                      <a:pt x="451" y="181"/>
                    </a:lnTo>
                    <a:lnTo>
                      <a:pt x="457" y="156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5" name="Line 116"/>
              <p:cNvSpPr>
                <a:spLocks noChangeShapeType="1"/>
              </p:cNvSpPr>
              <p:nvPr/>
            </p:nvSpPr>
            <p:spPr bwMode="auto">
              <a:xfrm>
                <a:off x="1857" y="2358"/>
                <a:ext cx="42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6" name="Freeform 117"/>
              <p:cNvSpPr>
                <a:spLocks/>
              </p:cNvSpPr>
              <p:nvPr/>
            </p:nvSpPr>
            <p:spPr bwMode="auto">
              <a:xfrm>
                <a:off x="1857" y="2271"/>
                <a:ext cx="93" cy="87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7" name="Line 118"/>
              <p:cNvSpPr>
                <a:spLocks noChangeShapeType="1"/>
              </p:cNvSpPr>
              <p:nvPr/>
            </p:nvSpPr>
            <p:spPr bwMode="auto">
              <a:xfrm flipH="1">
                <a:off x="1832" y="2271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8" name="Line 119"/>
              <p:cNvSpPr>
                <a:spLocks noChangeShapeType="1"/>
              </p:cNvSpPr>
              <p:nvPr/>
            </p:nvSpPr>
            <p:spPr bwMode="auto">
              <a:xfrm flipH="1">
                <a:off x="1212" y="2271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59" name="Line 120"/>
              <p:cNvSpPr>
                <a:spLocks noChangeShapeType="1"/>
              </p:cNvSpPr>
              <p:nvPr/>
            </p:nvSpPr>
            <p:spPr bwMode="auto">
              <a:xfrm flipV="1">
                <a:off x="1609" y="2374"/>
                <a:ext cx="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0" name="Line 121"/>
              <p:cNvSpPr>
                <a:spLocks noChangeShapeType="1"/>
              </p:cNvSpPr>
              <p:nvPr/>
            </p:nvSpPr>
            <p:spPr bwMode="auto">
              <a:xfrm flipV="1">
                <a:off x="1609" y="2423"/>
                <a:ext cx="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1" name="Line 122"/>
              <p:cNvSpPr>
                <a:spLocks noChangeShapeType="1"/>
              </p:cNvSpPr>
              <p:nvPr/>
            </p:nvSpPr>
            <p:spPr bwMode="auto">
              <a:xfrm flipV="1">
                <a:off x="1609" y="2399"/>
                <a:ext cx="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2" name="Line 123"/>
              <p:cNvSpPr>
                <a:spLocks noChangeShapeType="1"/>
              </p:cNvSpPr>
              <p:nvPr/>
            </p:nvSpPr>
            <p:spPr bwMode="auto">
              <a:xfrm flipV="1">
                <a:off x="1609" y="2351"/>
                <a:ext cx="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3" name="Freeform 124"/>
              <p:cNvSpPr>
                <a:spLocks/>
              </p:cNvSpPr>
              <p:nvPr/>
            </p:nvSpPr>
            <p:spPr bwMode="auto">
              <a:xfrm>
                <a:off x="1609" y="2326"/>
                <a:ext cx="157" cy="25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4" name="Line 125"/>
              <p:cNvSpPr>
                <a:spLocks noChangeShapeType="1"/>
              </p:cNvSpPr>
              <p:nvPr/>
            </p:nvSpPr>
            <p:spPr bwMode="auto">
              <a:xfrm flipH="1" flipV="1">
                <a:off x="1766" y="2326"/>
                <a:ext cx="44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5" name="Line 126"/>
              <p:cNvSpPr>
                <a:spLocks noChangeShapeType="1"/>
              </p:cNvSpPr>
              <p:nvPr/>
            </p:nvSpPr>
            <p:spPr bwMode="auto">
              <a:xfrm flipH="1">
                <a:off x="1950" y="2271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6" name="Freeform 127"/>
              <p:cNvSpPr>
                <a:spLocks/>
              </p:cNvSpPr>
              <p:nvPr/>
            </p:nvSpPr>
            <p:spPr bwMode="auto">
              <a:xfrm>
                <a:off x="1285" y="2395"/>
                <a:ext cx="324" cy="53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7" name="Freeform 128"/>
              <p:cNvSpPr>
                <a:spLocks/>
              </p:cNvSpPr>
              <p:nvPr/>
            </p:nvSpPr>
            <p:spPr bwMode="auto">
              <a:xfrm>
                <a:off x="1212" y="2166"/>
                <a:ext cx="101" cy="105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8" name="Freeform 129"/>
              <p:cNvSpPr>
                <a:spLocks/>
              </p:cNvSpPr>
              <p:nvPr/>
            </p:nvSpPr>
            <p:spPr bwMode="auto">
              <a:xfrm>
                <a:off x="1154" y="2151"/>
                <a:ext cx="119" cy="12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69" name="Freeform 130"/>
              <p:cNvSpPr>
                <a:spLocks/>
              </p:cNvSpPr>
              <p:nvPr/>
            </p:nvSpPr>
            <p:spPr bwMode="auto">
              <a:xfrm>
                <a:off x="1313" y="2115"/>
                <a:ext cx="296" cy="51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0" name="Line 131"/>
              <p:cNvSpPr>
                <a:spLocks noChangeShapeType="1"/>
              </p:cNvSpPr>
              <p:nvPr/>
            </p:nvSpPr>
            <p:spPr bwMode="auto">
              <a:xfrm>
                <a:off x="1273" y="2151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1" name="Freeform 132"/>
              <p:cNvSpPr>
                <a:spLocks/>
              </p:cNvSpPr>
              <p:nvPr/>
            </p:nvSpPr>
            <p:spPr bwMode="auto">
              <a:xfrm>
                <a:off x="1273" y="2094"/>
                <a:ext cx="336" cy="57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2" name="Freeform 133"/>
              <p:cNvSpPr>
                <a:spLocks/>
              </p:cNvSpPr>
              <p:nvPr/>
            </p:nvSpPr>
            <p:spPr bwMode="auto">
              <a:xfrm>
                <a:off x="1325" y="2193"/>
                <a:ext cx="67" cy="78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3" name="Freeform 134"/>
              <p:cNvSpPr>
                <a:spLocks/>
              </p:cNvSpPr>
              <p:nvPr/>
            </p:nvSpPr>
            <p:spPr bwMode="auto">
              <a:xfrm>
                <a:off x="1267" y="2180"/>
                <a:ext cx="85" cy="91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4" name="Line 135"/>
              <p:cNvSpPr>
                <a:spLocks noChangeShapeType="1"/>
              </p:cNvSpPr>
              <p:nvPr/>
            </p:nvSpPr>
            <p:spPr bwMode="auto">
              <a:xfrm>
                <a:off x="1392" y="2193"/>
                <a:ext cx="41" cy="1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5" name="Freeform 136"/>
              <p:cNvSpPr>
                <a:spLocks/>
              </p:cNvSpPr>
              <p:nvPr/>
            </p:nvSpPr>
            <p:spPr bwMode="auto">
              <a:xfrm>
                <a:off x="1392" y="2154"/>
                <a:ext cx="217" cy="39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6" name="Freeform 137"/>
              <p:cNvSpPr>
                <a:spLocks/>
              </p:cNvSpPr>
              <p:nvPr/>
            </p:nvSpPr>
            <p:spPr bwMode="auto">
              <a:xfrm>
                <a:off x="1352" y="2134"/>
                <a:ext cx="257" cy="46"/>
              </a:xfrm>
              <a:custGeom>
                <a:avLst/>
                <a:gdLst>
                  <a:gd name="T0" fmla="*/ 0 w 1029"/>
                  <a:gd name="T1" fmla="*/ 0 h 290"/>
                  <a:gd name="T2" fmla="*/ 0 w 1029"/>
                  <a:gd name="T3" fmla="*/ 0 h 290"/>
                  <a:gd name="T4" fmla="*/ 0 w 1029"/>
                  <a:gd name="T5" fmla="*/ 0 h 290"/>
                  <a:gd name="T6" fmla="*/ 0 w 1029"/>
                  <a:gd name="T7" fmla="*/ 0 h 290"/>
                  <a:gd name="T8" fmla="*/ 0 w 1029"/>
                  <a:gd name="T9" fmla="*/ 0 h 290"/>
                  <a:gd name="T10" fmla="*/ 0 w 1029"/>
                  <a:gd name="T11" fmla="*/ 0 h 290"/>
                  <a:gd name="T12" fmla="*/ 0 w 1029"/>
                  <a:gd name="T13" fmla="*/ 0 h 290"/>
                  <a:gd name="T14" fmla="*/ 0 w 1029"/>
                  <a:gd name="T15" fmla="*/ 0 h 290"/>
                  <a:gd name="T16" fmla="*/ 0 w 1029"/>
                  <a:gd name="T17" fmla="*/ 0 h 290"/>
                  <a:gd name="T18" fmla="*/ 0 w 1029"/>
                  <a:gd name="T19" fmla="*/ 0 h 290"/>
                  <a:gd name="T20" fmla="*/ 0 w 1029"/>
                  <a:gd name="T21" fmla="*/ 0 h 290"/>
                  <a:gd name="T22" fmla="*/ 0 w 1029"/>
                  <a:gd name="T23" fmla="*/ 0 h 290"/>
                  <a:gd name="T24" fmla="*/ 0 w 1029"/>
                  <a:gd name="T25" fmla="*/ 0 h 290"/>
                  <a:gd name="T26" fmla="*/ 0 w 1029"/>
                  <a:gd name="T27" fmla="*/ 0 h 290"/>
                  <a:gd name="T28" fmla="*/ 0 w 1029"/>
                  <a:gd name="T29" fmla="*/ 0 h 290"/>
                  <a:gd name="T30" fmla="*/ 0 w 1029"/>
                  <a:gd name="T31" fmla="*/ 0 h 290"/>
                  <a:gd name="T32" fmla="*/ 0 w 1029"/>
                  <a:gd name="T33" fmla="*/ 0 h 290"/>
                  <a:gd name="T34" fmla="*/ 0 w 1029"/>
                  <a:gd name="T35" fmla="*/ 0 h 290"/>
                  <a:gd name="T36" fmla="*/ 0 w 1029"/>
                  <a:gd name="T37" fmla="*/ 0 h 290"/>
                  <a:gd name="T38" fmla="*/ 0 w 1029"/>
                  <a:gd name="T39" fmla="*/ 0 h 2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0"/>
                  <a:gd name="T62" fmla="*/ 1029 w 1029"/>
                  <a:gd name="T63" fmla="*/ 290 h 2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0">
                    <a:moveTo>
                      <a:pt x="0" y="290"/>
                    </a:moveTo>
                    <a:lnTo>
                      <a:pt x="7" y="282"/>
                    </a:lnTo>
                    <a:lnTo>
                      <a:pt x="16" y="277"/>
                    </a:lnTo>
                    <a:lnTo>
                      <a:pt x="129" y="210"/>
                    </a:lnTo>
                    <a:lnTo>
                      <a:pt x="176" y="183"/>
                    </a:lnTo>
                    <a:lnTo>
                      <a:pt x="225" y="160"/>
                    </a:lnTo>
                    <a:lnTo>
                      <a:pt x="275" y="137"/>
                    </a:lnTo>
                    <a:lnTo>
                      <a:pt x="327" y="117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7" name="Freeform 138"/>
              <p:cNvSpPr>
                <a:spLocks/>
              </p:cNvSpPr>
              <p:nvPr/>
            </p:nvSpPr>
            <p:spPr bwMode="auto">
              <a:xfrm>
                <a:off x="1352" y="2179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8" name="Freeform 139"/>
              <p:cNvSpPr>
                <a:spLocks/>
              </p:cNvSpPr>
              <p:nvPr/>
            </p:nvSpPr>
            <p:spPr bwMode="auto">
              <a:xfrm>
                <a:off x="1384" y="2209"/>
                <a:ext cx="49" cy="62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79" name="Line 140"/>
              <p:cNvSpPr>
                <a:spLocks noChangeShapeType="1"/>
              </p:cNvSpPr>
              <p:nvPr/>
            </p:nvSpPr>
            <p:spPr bwMode="auto">
              <a:xfrm flipH="1" flipV="1">
                <a:off x="1352" y="2180"/>
                <a:ext cx="40" cy="1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0" name="Line 141"/>
              <p:cNvSpPr>
                <a:spLocks noChangeShapeType="1"/>
              </p:cNvSpPr>
              <p:nvPr/>
            </p:nvSpPr>
            <p:spPr bwMode="auto">
              <a:xfrm>
                <a:off x="1313" y="2166"/>
                <a:ext cx="39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1" name="Freeform 142"/>
              <p:cNvSpPr>
                <a:spLocks/>
              </p:cNvSpPr>
              <p:nvPr/>
            </p:nvSpPr>
            <p:spPr bwMode="auto">
              <a:xfrm>
                <a:off x="1433" y="2176"/>
                <a:ext cx="176" cy="33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2" name="Freeform 143"/>
              <p:cNvSpPr>
                <a:spLocks/>
              </p:cNvSpPr>
              <p:nvPr/>
            </p:nvSpPr>
            <p:spPr bwMode="auto">
              <a:xfrm>
                <a:off x="1416" y="2329"/>
                <a:ext cx="42" cy="1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3" name="Freeform 144"/>
              <p:cNvSpPr>
                <a:spLocks/>
              </p:cNvSpPr>
              <p:nvPr/>
            </p:nvSpPr>
            <p:spPr bwMode="auto">
              <a:xfrm>
                <a:off x="1416" y="2345"/>
                <a:ext cx="193" cy="29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4" name="Freeform 145"/>
              <p:cNvSpPr>
                <a:spLocks/>
              </p:cNvSpPr>
              <p:nvPr/>
            </p:nvSpPr>
            <p:spPr bwMode="auto">
              <a:xfrm>
                <a:off x="1458" y="2329"/>
                <a:ext cx="151" cy="22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5" name="Freeform 146"/>
              <p:cNvSpPr>
                <a:spLocks/>
              </p:cNvSpPr>
              <p:nvPr/>
            </p:nvSpPr>
            <p:spPr bwMode="auto">
              <a:xfrm>
                <a:off x="1384" y="2271"/>
                <a:ext cx="74" cy="58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3"/>
                    </a:lnTo>
                    <a:lnTo>
                      <a:pt x="154" y="269"/>
                    </a:lnTo>
                    <a:lnTo>
                      <a:pt x="139" y="256"/>
                    </a:lnTo>
                    <a:lnTo>
                      <a:pt x="110" y="227"/>
                    </a:lnTo>
                    <a:lnTo>
                      <a:pt x="85" y="199"/>
                    </a:lnTo>
                    <a:lnTo>
                      <a:pt x="62" y="169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6" name="Freeform 147"/>
              <p:cNvSpPr>
                <a:spLocks/>
              </p:cNvSpPr>
              <p:nvPr/>
            </p:nvSpPr>
            <p:spPr bwMode="auto">
              <a:xfrm>
                <a:off x="1267" y="2271"/>
                <a:ext cx="104" cy="91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3"/>
                    </a:lnTo>
                    <a:lnTo>
                      <a:pt x="56" y="232"/>
                    </a:lnTo>
                    <a:lnTo>
                      <a:pt x="43" y="202"/>
                    </a:lnTo>
                    <a:lnTo>
                      <a:pt x="30" y="170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7" name="Freeform 148"/>
              <p:cNvSpPr>
                <a:spLocks/>
              </p:cNvSpPr>
              <p:nvPr/>
            </p:nvSpPr>
            <p:spPr bwMode="auto">
              <a:xfrm>
                <a:off x="1326" y="2271"/>
                <a:ext cx="90" cy="74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8" name="Line 149"/>
              <p:cNvSpPr>
                <a:spLocks noChangeShapeType="1"/>
              </p:cNvSpPr>
              <p:nvPr/>
            </p:nvSpPr>
            <p:spPr bwMode="auto">
              <a:xfrm flipH="1">
                <a:off x="1371" y="2345"/>
                <a:ext cx="45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89" name="Line 150"/>
              <p:cNvSpPr>
                <a:spLocks noChangeShapeType="1"/>
              </p:cNvSpPr>
              <p:nvPr/>
            </p:nvSpPr>
            <p:spPr bwMode="auto">
              <a:xfrm>
                <a:off x="1267" y="2271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0" name="Freeform 151"/>
              <p:cNvSpPr>
                <a:spLocks/>
              </p:cNvSpPr>
              <p:nvPr/>
            </p:nvSpPr>
            <p:spPr bwMode="auto">
              <a:xfrm>
                <a:off x="1212" y="2271"/>
                <a:ext cx="117" cy="107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1" name="Line 152"/>
              <p:cNvSpPr>
                <a:spLocks noChangeShapeType="1"/>
              </p:cNvSpPr>
              <p:nvPr/>
            </p:nvSpPr>
            <p:spPr bwMode="auto">
              <a:xfrm flipH="1">
                <a:off x="1285" y="2378"/>
                <a:ext cx="44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2" name="Freeform 153"/>
              <p:cNvSpPr>
                <a:spLocks/>
              </p:cNvSpPr>
              <p:nvPr/>
            </p:nvSpPr>
            <p:spPr bwMode="auto">
              <a:xfrm>
                <a:off x="1153" y="2271"/>
                <a:ext cx="132" cy="124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3" name="Line 154"/>
              <p:cNvSpPr>
                <a:spLocks noChangeShapeType="1"/>
              </p:cNvSpPr>
              <p:nvPr/>
            </p:nvSpPr>
            <p:spPr bwMode="auto">
              <a:xfrm flipH="1">
                <a:off x="1329" y="2362"/>
                <a:ext cx="42" cy="1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4" name="Line 155"/>
              <p:cNvSpPr>
                <a:spLocks noChangeShapeType="1"/>
              </p:cNvSpPr>
              <p:nvPr/>
            </p:nvSpPr>
            <p:spPr bwMode="auto">
              <a:xfrm flipH="1">
                <a:off x="1326" y="2271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5" name="Freeform 156"/>
              <p:cNvSpPr>
                <a:spLocks/>
              </p:cNvSpPr>
              <p:nvPr/>
            </p:nvSpPr>
            <p:spPr bwMode="auto">
              <a:xfrm>
                <a:off x="1329" y="2378"/>
                <a:ext cx="280" cy="45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6" name="Freeform 157"/>
              <p:cNvSpPr>
                <a:spLocks/>
              </p:cNvSpPr>
              <p:nvPr/>
            </p:nvSpPr>
            <p:spPr bwMode="auto">
              <a:xfrm>
                <a:off x="1371" y="2362"/>
                <a:ext cx="238" cy="37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7" name="Freeform 158"/>
              <p:cNvSpPr>
                <a:spLocks/>
              </p:cNvSpPr>
              <p:nvPr/>
            </p:nvSpPr>
            <p:spPr bwMode="auto">
              <a:xfrm>
                <a:off x="1609" y="2270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8" name="Freeform 159"/>
              <p:cNvSpPr>
                <a:spLocks/>
              </p:cNvSpPr>
              <p:nvPr/>
            </p:nvSpPr>
            <p:spPr bwMode="auto">
              <a:xfrm>
                <a:off x="1609" y="2271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299" name="Line 160"/>
              <p:cNvSpPr>
                <a:spLocks noChangeShapeType="1"/>
              </p:cNvSpPr>
              <p:nvPr/>
            </p:nvSpPr>
            <p:spPr bwMode="auto">
              <a:xfrm>
                <a:off x="1609" y="2271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0" name="Freeform 161"/>
              <p:cNvSpPr>
                <a:spLocks/>
              </p:cNvSpPr>
              <p:nvPr/>
            </p:nvSpPr>
            <p:spPr bwMode="auto">
              <a:xfrm>
                <a:off x="1635" y="1766"/>
                <a:ext cx="13" cy="500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3" y="0"/>
                    </a:move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3"/>
                    </a:lnTo>
                    <a:lnTo>
                      <a:pt x="3" y="200"/>
                    </a:lnTo>
                    <a:lnTo>
                      <a:pt x="3" y="223"/>
                    </a:lnTo>
                    <a:lnTo>
                      <a:pt x="3" y="246"/>
                    </a:lnTo>
                    <a:lnTo>
                      <a:pt x="3" y="265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60"/>
                    </a:lnTo>
                    <a:lnTo>
                      <a:pt x="3" y="1289"/>
                    </a:lnTo>
                    <a:lnTo>
                      <a:pt x="3" y="1315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4"/>
                    </a:lnTo>
                    <a:lnTo>
                      <a:pt x="3" y="2335"/>
                    </a:lnTo>
                    <a:lnTo>
                      <a:pt x="3" y="2364"/>
                    </a:lnTo>
                    <a:lnTo>
                      <a:pt x="3" y="2390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lnTo>
                      <a:pt x="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01" name="Freeform 162"/>
              <p:cNvSpPr>
                <a:spLocks/>
              </p:cNvSpPr>
              <p:nvPr/>
            </p:nvSpPr>
            <p:spPr bwMode="auto">
              <a:xfrm>
                <a:off x="1621" y="1766"/>
                <a:ext cx="15" cy="5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90"/>
                    </a:lnTo>
                    <a:lnTo>
                      <a:pt x="60" y="2364"/>
                    </a:lnTo>
                    <a:lnTo>
                      <a:pt x="60" y="2335"/>
                    </a:lnTo>
                    <a:lnTo>
                      <a:pt x="60" y="2304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5"/>
                    </a:lnTo>
                    <a:lnTo>
                      <a:pt x="60" y="1289"/>
                    </a:lnTo>
                    <a:lnTo>
                      <a:pt x="60" y="1260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5"/>
                    </a:lnTo>
                    <a:lnTo>
                      <a:pt x="60" y="246"/>
                    </a:lnTo>
                    <a:lnTo>
                      <a:pt x="60" y="223"/>
                    </a:lnTo>
                    <a:lnTo>
                      <a:pt x="60" y="200"/>
                    </a:lnTo>
                    <a:lnTo>
                      <a:pt x="60" y="173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02" name="Freeform 163"/>
              <p:cNvSpPr>
                <a:spLocks/>
              </p:cNvSpPr>
              <p:nvPr/>
            </p:nvSpPr>
            <p:spPr bwMode="auto">
              <a:xfrm>
                <a:off x="1598" y="1766"/>
                <a:ext cx="25" cy="506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4"/>
                    </a:lnTo>
                    <a:lnTo>
                      <a:pt x="0" y="247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6"/>
                    </a:lnTo>
                    <a:lnTo>
                      <a:pt x="0" y="1302"/>
                    </a:lnTo>
                    <a:lnTo>
                      <a:pt x="0" y="1310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6"/>
                    </a:lnTo>
                    <a:lnTo>
                      <a:pt x="0" y="2365"/>
                    </a:lnTo>
                    <a:lnTo>
                      <a:pt x="0" y="2383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03" name="Freeform 164"/>
              <p:cNvSpPr>
                <a:spLocks/>
              </p:cNvSpPr>
              <p:nvPr/>
            </p:nvSpPr>
            <p:spPr bwMode="auto">
              <a:xfrm>
                <a:off x="1542" y="1766"/>
                <a:ext cx="59" cy="506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7"/>
                    </a:lnTo>
                    <a:lnTo>
                      <a:pt x="226" y="204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3"/>
                    </a:lnTo>
                    <a:lnTo>
                      <a:pt x="226" y="2365"/>
                    </a:lnTo>
                    <a:lnTo>
                      <a:pt x="226" y="2326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10"/>
                    </a:lnTo>
                    <a:lnTo>
                      <a:pt x="226" y="1302"/>
                    </a:lnTo>
                    <a:lnTo>
                      <a:pt x="226" y="1256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04" name="Line 165"/>
              <p:cNvSpPr>
                <a:spLocks noChangeShapeType="1"/>
              </p:cNvSpPr>
              <p:nvPr/>
            </p:nvSpPr>
            <p:spPr bwMode="auto">
              <a:xfrm>
                <a:off x="1542" y="1766"/>
                <a:ext cx="0" cy="49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5" name="Line 166"/>
              <p:cNvSpPr>
                <a:spLocks noChangeShapeType="1"/>
              </p:cNvSpPr>
              <p:nvPr/>
            </p:nvSpPr>
            <p:spPr bwMode="auto">
              <a:xfrm>
                <a:off x="1648" y="1766"/>
                <a:ext cx="0" cy="49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6" name="Freeform 167"/>
              <p:cNvSpPr>
                <a:spLocks/>
              </p:cNvSpPr>
              <p:nvPr/>
            </p:nvSpPr>
            <p:spPr bwMode="auto">
              <a:xfrm>
                <a:off x="1609" y="1569"/>
                <a:ext cx="324" cy="67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1"/>
                    </a:lnTo>
                    <a:lnTo>
                      <a:pt x="709" y="228"/>
                    </a:lnTo>
                    <a:lnTo>
                      <a:pt x="767" y="248"/>
                    </a:lnTo>
                    <a:lnTo>
                      <a:pt x="823" y="268"/>
                    </a:lnTo>
                    <a:lnTo>
                      <a:pt x="879" y="291"/>
                    </a:lnTo>
                    <a:lnTo>
                      <a:pt x="934" y="314"/>
                    </a:lnTo>
                    <a:lnTo>
                      <a:pt x="988" y="341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29"/>
                    </a:lnTo>
                    <a:lnTo>
                      <a:pt x="1285" y="321"/>
                    </a:lnTo>
                    <a:lnTo>
                      <a:pt x="1274" y="314"/>
                    </a:lnTo>
                    <a:lnTo>
                      <a:pt x="1169" y="258"/>
                    </a:lnTo>
                    <a:lnTo>
                      <a:pt x="1106" y="225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7" name="Freeform 168"/>
              <p:cNvSpPr>
                <a:spLocks/>
              </p:cNvSpPr>
              <p:nvPr/>
            </p:nvSpPr>
            <p:spPr bwMode="auto">
              <a:xfrm>
                <a:off x="1273" y="1569"/>
                <a:ext cx="336" cy="72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8" name="Freeform 169"/>
              <p:cNvSpPr>
                <a:spLocks/>
              </p:cNvSpPr>
              <p:nvPr/>
            </p:nvSpPr>
            <p:spPr bwMode="auto">
              <a:xfrm>
                <a:off x="1609" y="1589"/>
                <a:ext cx="285" cy="61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29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09" name="Freeform 170"/>
              <p:cNvSpPr>
                <a:spLocks/>
              </p:cNvSpPr>
              <p:nvPr/>
            </p:nvSpPr>
            <p:spPr bwMode="auto">
              <a:xfrm>
                <a:off x="1609" y="1609"/>
                <a:ext cx="247" cy="56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0" name="Freeform 171"/>
              <p:cNvSpPr>
                <a:spLocks/>
              </p:cNvSpPr>
              <p:nvPr/>
            </p:nvSpPr>
            <p:spPr bwMode="auto">
              <a:xfrm>
                <a:off x="1609" y="1629"/>
                <a:ext cx="209" cy="5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1" name="Freeform 172"/>
              <p:cNvSpPr>
                <a:spLocks/>
              </p:cNvSpPr>
              <p:nvPr/>
            </p:nvSpPr>
            <p:spPr bwMode="auto">
              <a:xfrm>
                <a:off x="1352" y="1609"/>
                <a:ext cx="257" cy="60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2" name="Freeform 173"/>
              <p:cNvSpPr>
                <a:spLocks/>
              </p:cNvSpPr>
              <p:nvPr/>
            </p:nvSpPr>
            <p:spPr bwMode="auto">
              <a:xfrm>
                <a:off x="1313" y="1589"/>
                <a:ext cx="296" cy="65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5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3" name="Freeform 174"/>
              <p:cNvSpPr>
                <a:spLocks noEditPoints="1"/>
              </p:cNvSpPr>
              <p:nvPr/>
            </p:nvSpPr>
            <p:spPr bwMode="auto">
              <a:xfrm>
                <a:off x="1384" y="1651"/>
                <a:ext cx="449" cy="175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1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14" name="Freeform 175"/>
              <p:cNvSpPr>
                <a:spLocks/>
              </p:cNvSpPr>
              <p:nvPr/>
            </p:nvSpPr>
            <p:spPr bwMode="auto">
              <a:xfrm>
                <a:off x="1609" y="1745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5" name="Freeform 176"/>
              <p:cNvSpPr>
                <a:spLocks/>
              </p:cNvSpPr>
              <p:nvPr/>
            </p:nvSpPr>
            <p:spPr bwMode="auto">
              <a:xfrm>
                <a:off x="1609" y="1746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6" name="Freeform 177"/>
              <p:cNvSpPr>
                <a:spLocks/>
              </p:cNvSpPr>
              <p:nvPr/>
            </p:nvSpPr>
            <p:spPr bwMode="auto">
              <a:xfrm>
                <a:off x="1392" y="1629"/>
                <a:ext cx="217" cy="54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7" name="Freeform 178"/>
              <p:cNvSpPr>
                <a:spLocks/>
              </p:cNvSpPr>
              <p:nvPr/>
            </p:nvSpPr>
            <p:spPr bwMode="auto">
              <a:xfrm>
                <a:off x="1894" y="1621"/>
                <a:ext cx="170" cy="125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8" name="Freeform 179"/>
              <p:cNvSpPr>
                <a:spLocks/>
              </p:cNvSpPr>
              <p:nvPr/>
            </p:nvSpPr>
            <p:spPr bwMode="auto">
              <a:xfrm>
                <a:off x="1834" y="1641"/>
                <a:ext cx="4" cy="1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19" name="Freeform 180"/>
              <p:cNvSpPr>
                <a:spLocks/>
              </p:cNvSpPr>
              <p:nvPr/>
            </p:nvSpPr>
            <p:spPr bwMode="auto">
              <a:xfrm>
                <a:off x="1837" y="1642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0" name="Freeform 181"/>
              <p:cNvSpPr>
                <a:spLocks/>
              </p:cNvSpPr>
              <p:nvPr/>
            </p:nvSpPr>
            <p:spPr bwMode="auto">
              <a:xfrm>
                <a:off x="1778" y="1665"/>
                <a:ext cx="113" cy="81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1" name="Freeform 182"/>
              <p:cNvSpPr>
                <a:spLocks/>
              </p:cNvSpPr>
              <p:nvPr/>
            </p:nvSpPr>
            <p:spPr bwMode="auto">
              <a:xfrm>
                <a:off x="1818" y="1650"/>
                <a:ext cx="132" cy="96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2" name="Freeform 183"/>
              <p:cNvSpPr>
                <a:spLocks/>
              </p:cNvSpPr>
              <p:nvPr/>
            </p:nvSpPr>
            <p:spPr bwMode="auto">
              <a:xfrm>
                <a:off x="1856" y="1636"/>
                <a:ext cx="149" cy="110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544" name="Freeform 184"/>
              <p:cNvSpPr>
                <a:spLocks/>
              </p:cNvSpPr>
              <p:nvPr/>
            </p:nvSpPr>
            <p:spPr bwMode="auto">
              <a:xfrm>
                <a:off x="1899" y="1746"/>
                <a:ext cx="165" cy="11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324" name="Freeform 185"/>
              <p:cNvSpPr>
                <a:spLocks/>
              </p:cNvSpPr>
              <p:nvPr/>
            </p:nvSpPr>
            <p:spPr bwMode="auto">
              <a:xfrm>
                <a:off x="1810" y="1746"/>
                <a:ext cx="140" cy="87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0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7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5" name="Freeform 186"/>
              <p:cNvSpPr>
                <a:spLocks/>
              </p:cNvSpPr>
              <p:nvPr/>
            </p:nvSpPr>
            <p:spPr bwMode="auto">
              <a:xfrm>
                <a:off x="1766" y="1746"/>
                <a:ext cx="125" cy="70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0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6" name="Freeform 187"/>
              <p:cNvSpPr>
                <a:spLocks/>
              </p:cNvSpPr>
              <p:nvPr/>
            </p:nvSpPr>
            <p:spPr bwMode="auto">
              <a:xfrm>
                <a:off x="1810" y="1815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7" name="Freeform 188"/>
              <p:cNvSpPr>
                <a:spLocks/>
              </p:cNvSpPr>
              <p:nvPr/>
            </p:nvSpPr>
            <p:spPr bwMode="auto">
              <a:xfrm>
                <a:off x="1609" y="1816"/>
                <a:ext cx="248" cy="58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8" name="Freeform 189"/>
              <p:cNvSpPr>
                <a:spLocks/>
              </p:cNvSpPr>
              <p:nvPr/>
            </p:nvSpPr>
            <p:spPr bwMode="auto">
              <a:xfrm>
                <a:off x="1609" y="1801"/>
                <a:ext cx="201" cy="48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29" name="Freeform 190"/>
              <p:cNvSpPr>
                <a:spLocks/>
              </p:cNvSpPr>
              <p:nvPr/>
            </p:nvSpPr>
            <p:spPr bwMode="auto">
              <a:xfrm>
                <a:off x="1609" y="1833"/>
                <a:ext cx="290" cy="65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0" name="Freeform 191"/>
              <p:cNvSpPr>
                <a:spLocks/>
              </p:cNvSpPr>
              <p:nvPr/>
            </p:nvSpPr>
            <p:spPr bwMode="auto">
              <a:xfrm>
                <a:off x="1857" y="1832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552" name="Freeform 192"/>
              <p:cNvSpPr>
                <a:spLocks/>
              </p:cNvSpPr>
              <p:nvPr/>
            </p:nvSpPr>
            <p:spPr bwMode="auto">
              <a:xfrm>
                <a:off x="1609" y="1847"/>
                <a:ext cx="336" cy="76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332" name="Freeform 193"/>
              <p:cNvSpPr>
                <a:spLocks/>
              </p:cNvSpPr>
              <p:nvPr/>
            </p:nvSpPr>
            <p:spPr bwMode="auto">
              <a:xfrm>
                <a:off x="1857" y="1746"/>
                <a:ext cx="148" cy="101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3" name="Freeform 194"/>
              <p:cNvSpPr>
                <a:spLocks/>
              </p:cNvSpPr>
              <p:nvPr/>
            </p:nvSpPr>
            <p:spPr bwMode="auto">
              <a:xfrm>
                <a:off x="1371" y="1820"/>
                <a:ext cx="238" cy="54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4" name="Freeform 195"/>
              <p:cNvSpPr>
                <a:spLocks/>
              </p:cNvSpPr>
              <p:nvPr/>
            </p:nvSpPr>
            <p:spPr bwMode="auto">
              <a:xfrm>
                <a:off x="1285" y="1854"/>
                <a:ext cx="324" cy="69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35" name="Freeform 196"/>
              <p:cNvSpPr>
                <a:spLocks/>
              </p:cNvSpPr>
              <p:nvPr/>
            </p:nvSpPr>
            <p:spPr bwMode="auto">
              <a:xfrm>
                <a:off x="1329" y="1837"/>
                <a:ext cx="280" cy="61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6" name="Freeform 197"/>
              <p:cNvSpPr>
                <a:spLocks/>
              </p:cNvSpPr>
              <p:nvPr/>
            </p:nvSpPr>
            <p:spPr bwMode="auto">
              <a:xfrm>
                <a:off x="1416" y="1804"/>
                <a:ext cx="193" cy="45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7" name="Freeform 198"/>
              <p:cNvSpPr>
                <a:spLocks/>
              </p:cNvSpPr>
              <p:nvPr/>
            </p:nvSpPr>
            <p:spPr bwMode="auto">
              <a:xfrm>
                <a:off x="1154" y="1627"/>
                <a:ext cx="159" cy="119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8" name="Freeform 199"/>
              <p:cNvSpPr>
                <a:spLocks/>
              </p:cNvSpPr>
              <p:nvPr/>
            </p:nvSpPr>
            <p:spPr bwMode="auto">
              <a:xfrm>
                <a:off x="1212" y="1641"/>
                <a:ext cx="140" cy="105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39" name="Freeform 200"/>
              <p:cNvSpPr>
                <a:spLocks/>
              </p:cNvSpPr>
              <p:nvPr/>
            </p:nvSpPr>
            <p:spPr bwMode="auto">
              <a:xfrm>
                <a:off x="1325" y="1669"/>
                <a:ext cx="108" cy="77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0" name="Freeform 201"/>
              <p:cNvSpPr>
                <a:spLocks/>
              </p:cNvSpPr>
              <p:nvPr/>
            </p:nvSpPr>
            <p:spPr bwMode="auto">
              <a:xfrm>
                <a:off x="1267" y="1654"/>
                <a:ext cx="125" cy="92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1" name="Freeform 202"/>
              <p:cNvSpPr>
                <a:spLocks/>
              </p:cNvSpPr>
              <p:nvPr/>
            </p:nvSpPr>
            <p:spPr bwMode="auto">
              <a:xfrm>
                <a:off x="1457" y="1804"/>
                <a:ext cx="1" cy="0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0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2" name="Freeform 203"/>
              <p:cNvSpPr>
                <a:spLocks/>
              </p:cNvSpPr>
              <p:nvPr/>
            </p:nvSpPr>
            <p:spPr bwMode="auto">
              <a:xfrm>
                <a:off x="1326" y="1746"/>
                <a:ext cx="131" cy="74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5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3" name="Freeform 204"/>
              <p:cNvSpPr>
                <a:spLocks/>
              </p:cNvSpPr>
              <p:nvPr/>
            </p:nvSpPr>
            <p:spPr bwMode="auto">
              <a:xfrm>
                <a:off x="1267" y="1746"/>
                <a:ext cx="149" cy="91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7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2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4" name="Freeform 205"/>
              <p:cNvSpPr>
                <a:spLocks/>
              </p:cNvSpPr>
              <p:nvPr/>
            </p:nvSpPr>
            <p:spPr bwMode="auto">
              <a:xfrm>
                <a:off x="1212" y="1746"/>
                <a:ext cx="159" cy="108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2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5" name="Freeform 206"/>
              <p:cNvSpPr>
                <a:spLocks/>
              </p:cNvSpPr>
              <p:nvPr/>
            </p:nvSpPr>
            <p:spPr bwMode="auto">
              <a:xfrm>
                <a:off x="1153" y="1746"/>
                <a:ext cx="176" cy="125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346" name="Freeform 207"/>
              <p:cNvSpPr>
                <a:spLocks/>
              </p:cNvSpPr>
              <p:nvPr/>
            </p:nvSpPr>
            <p:spPr bwMode="auto">
              <a:xfrm>
                <a:off x="1609" y="1569"/>
                <a:ext cx="324" cy="5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7" name="Line 208"/>
              <p:cNvSpPr>
                <a:spLocks noChangeShapeType="1"/>
              </p:cNvSpPr>
              <p:nvPr/>
            </p:nvSpPr>
            <p:spPr bwMode="auto">
              <a:xfrm flipV="1">
                <a:off x="1609" y="1569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8" name="Freeform 209"/>
              <p:cNvSpPr>
                <a:spLocks/>
              </p:cNvSpPr>
              <p:nvPr/>
            </p:nvSpPr>
            <p:spPr bwMode="auto">
              <a:xfrm>
                <a:off x="1609" y="1589"/>
                <a:ext cx="285" cy="47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49" name="Freeform 210"/>
              <p:cNvSpPr>
                <a:spLocks/>
              </p:cNvSpPr>
              <p:nvPr/>
            </p:nvSpPr>
            <p:spPr bwMode="auto">
              <a:xfrm>
                <a:off x="1609" y="1629"/>
                <a:ext cx="209" cy="36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0" name="Line 211"/>
              <p:cNvSpPr>
                <a:spLocks noChangeShapeType="1"/>
              </p:cNvSpPr>
              <p:nvPr/>
            </p:nvSpPr>
            <p:spPr bwMode="auto">
              <a:xfrm flipV="1">
                <a:off x="1609" y="1609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1" name="Freeform 212"/>
              <p:cNvSpPr>
                <a:spLocks/>
              </p:cNvSpPr>
              <p:nvPr/>
            </p:nvSpPr>
            <p:spPr bwMode="auto">
              <a:xfrm>
                <a:off x="1609" y="1609"/>
                <a:ext cx="225" cy="32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2" name="Line 213"/>
              <p:cNvSpPr>
                <a:spLocks noChangeShapeType="1"/>
              </p:cNvSpPr>
              <p:nvPr/>
            </p:nvSpPr>
            <p:spPr bwMode="auto">
              <a:xfrm flipV="1">
                <a:off x="1609" y="1589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3" name="Line 214"/>
              <p:cNvSpPr>
                <a:spLocks noChangeShapeType="1"/>
              </p:cNvSpPr>
              <p:nvPr/>
            </p:nvSpPr>
            <p:spPr bwMode="auto">
              <a:xfrm>
                <a:off x="1154" y="1746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4" name="Freeform 215"/>
              <p:cNvSpPr>
                <a:spLocks/>
              </p:cNvSpPr>
              <p:nvPr/>
            </p:nvSpPr>
            <p:spPr bwMode="auto">
              <a:xfrm>
                <a:off x="1609" y="1651"/>
                <a:ext cx="169" cy="29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5" name="Line 216"/>
              <p:cNvSpPr>
                <a:spLocks noChangeShapeType="1"/>
              </p:cNvSpPr>
              <p:nvPr/>
            </p:nvSpPr>
            <p:spPr bwMode="auto">
              <a:xfrm flipV="1">
                <a:off x="1609" y="1629"/>
                <a:ext cx="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6" name="Line 217"/>
              <p:cNvSpPr>
                <a:spLocks noChangeShapeType="1"/>
              </p:cNvSpPr>
              <p:nvPr/>
            </p:nvSpPr>
            <p:spPr bwMode="auto">
              <a:xfrm flipH="1">
                <a:off x="1894" y="1621"/>
                <a:ext cx="39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7" name="Freeform 218"/>
              <p:cNvSpPr>
                <a:spLocks/>
              </p:cNvSpPr>
              <p:nvPr/>
            </p:nvSpPr>
            <p:spPr bwMode="auto">
              <a:xfrm>
                <a:off x="1837" y="1642"/>
                <a:ext cx="19" cy="8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8" name="Line 219"/>
              <p:cNvSpPr>
                <a:spLocks noChangeShapeType="1"/>
              </p:cNvSpPr>
              <p:nvPr/>
            </p:nvSpPr>
            <p:spPr bwMode="auto">
              <a:xfrm>
                <a:off x="1834" y="1641"/>
                <a:ext cx="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59" name="Line 220"/>
              <p:cNvSpPr>
                <a:spLocks noChangeShapeType="1"/>
              </p:cNvSpPr>
              <p:nvPr/>
            </p:nvSpPr>
            <p:spPr bwMode="auto">
              <a:xfrm>
                <a:off x="1837" y="1642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0" name="Freeform 221"/>
              <p:cNvSpPr>
                <a:spLocks/>
              </p:cNvSpPr>
              <p:nvPr/>
            </p:nvSpPr>
            <p:spPr bwMode="auto">
              <a:xfrm>
                <a:off x="1837" y="1642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1" name="Line 222"/>
              <p:cNvSpPr>
                <a:spLocks noChangeShapeType="1"/>
              </p:cNvSpPr>
              <p:nvPr/>
            </p:nvSpPr>
            <p:spPr bwMode="auto">
              <a:xfrm>
                <a:off x="1834" y="1641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2" name="Freeform 223"/>
              <p:cNvSpPr>
                <a:spLocks/>
              </p:cNvSpPr>
              <p:nvPr/>
            </p:nvSpPr>
            <p:spPr bwMode="auto">
              <a:xfrm>
                <a:off x="1778" y="1680"/>
                <a:ext cx="55" cy="66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3" name="Line 224"/>
              <p:cNvSpPr>
                <a:spLocks noChangeShapeType="1"/>
              </p:cNvSpPr>
              <p:nvPr/>
            </p:nvSpPr>
            <p:spPr bwMode="auto">
              <a:xfrm flipH="1">
                <a:off x="1818" y="1650"/>
                <a:ext cx="38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4" name="Freeform 225"/>
              <p:cNvSpPr>
                <a:spLocks/>
              </p:cNvSpPr>
              <p:nvPr/>
            </p:nvSpPr>
            <p:spPr bwMode="auto">
              <a:xfrm>
                <a:off x="1856" y="1650"/>
                <a:ext cx="94" cy="96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5" name="Freeform 226"/>
              <p:cNvSpPr>
                <a:spLocks/>
              </p:cNvSpPr>
              <p:nvPr/>
            </p:nvSpPr>
            <p:spPr bwMode="auto">
              <a:xfrm>
                <a:off x="1818" y="1665"/>
                <a:ext cx="73" cy="81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6" name="Line 227"/>
              <p:cNvSpPr>
                <a:spLocks noChangeShapeType="1"/>
              </p:cNvSpPr>
              <p:nvPr/>
            </p:nvSpPr>
            <p:spPr bwMode="auto">
              <a:xfrm flipV="1">
                <a:off x="1856" y="1636"/>
                <a:ext cx="38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7" name="Line 228"/>
              <p:cNvSpPr>
                <a:spLocks noChangeShapeType="1"/>
              </p:cNvSpPr>
              <p:nvPr/>
            </p:nvSpPr>
            <p:spPr bwMode="auto">
              <a:xfrm flipH="1">
                <a:off x="1778" y="1665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8" name="Freeform 229"/>
              <p:cNvSpPr>
                <a:spLocks/>
              </p:cNvSpPr>
              <p:nvPr/>
            </p:nvSpPr>
            <p:spPr bwMode="auto">
              <a:xfrm>
                <a:off x="1933" y="1621"/>
                <a:ext cx="131" cy="125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69" name="Freeform 230"/>
              <p:cNvSpPr>
                <a:spLocks/>
              </p:cNvSpPr>
              <p:nvPr/>
            </p:nvSpPr>
            <p:spPr bwMode="auto">
              <a:xfrm>
                <a:off x="1894" y="1636"/>
                <a:ext cx="111" cy="110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0" name="Line 231"/>
              <p:cNvSpPr>
                <a:spLocks noChangeShapeType="1"/>
              </p:cNvSpPr>
              <p:nvPr/>
            </p:nvSpPr>
            <p:spPr bwMode="auto">
              <a:xfrm>
                <a:off x="2005" y="1746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1" name="Line 232"/>
              <p:cNvSpPr>
                <a:spLocks noChangeShapeType="1"/>
              </p:cNvSpPr>
              <p:nvPr/>
            </p:nvSpPr>
            <p:spPr bwMode="auto">
              <a:xfrm>
                <a:off x="1891" y="1746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2" name="Freeform 233"/>
              <p:cNvSpPr>
                <a:spLocks/>
              </p:cNvSpPr>
              <p:nvPr/>
            </p:nvSpPr>
            <p:spPr bwMode="auto">
              <a:xfrm>
                <a:off x="1811" y="1746"/>
                <a:ext cx="80" cy="69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0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3" name="Freeform 234"/>
              <p:cNvSpPr>
                <a:spLocks/>
              </p:cNvSpPr>
              <p:nvPr/>
            </p:nvSpPr>
            <p:spPr bwMode="auto">
              <a:xfrm>
                <a:off x="1766" y="1746"/>
                <a:ext cx="66" cy="55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4" name="Line 235"/>
              <p:cNvSpPr>
                <a:spLocks noChangeShapeType="1"/>
              </p:cNvSpPr>
              <p:nvPr/>
            </p:nvSpPr>
            <p:spPr bwMode="auto">
              <a:xfrm flipH="1">
                <a:off x="1810" y="1816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5" name="Freeform 236"/>
              <p:cNvSpPr>
                <a:spLocks/>
              </p:cNvSpPr>
              <p:nvPr/>
            </p:nvSpPr>
            <p:spPr bwMode="auto">
              <a:xfrm>
                <a:off x="1609" y="1816"/>
                <a:ext cx="201" cy="3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6" name="Line 237"/>
              <p:cNvSpPr>
                <a:spLocks noChangeShapeType="1"/>
              </p:cNvSpPr>
              <p:nvPr/>
            </p:nvSpPr>
            <p:spPr bwMode="auto">
              <a:xfrm flipV="1">
                <a:off x="1810" y="1815"/>
                <a:ext cx="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7" name="Freeform 238"/>
              <p:cNvSpPr>
                <a:spLocks/>
              </p:cNvSpPr>
              <p:nvPr/>
            </p:nvSpPr>
            <p:spPr bwMode="auto">
              <a:xfrm>
                <a:off x="1609" y="1833"/>
                <a:ext cx="248" cy="41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8" name="Line 239"/>
              <p:cNvSpPr>
                <a:spLocks noChangeShapeType="1"/>
              </p:cNvSpPr>
              <p:nvPr/>
            </p:nvSpPr>
            <p:spPr bwMode="auto">
              <a:xfrm flipH="1" flipV="1">
                <a:off x="1810" y="1816"/>
                <a:ext cx="47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79" name="Freeform 240"/>
              <p:cNvSpPr>
                <a:spLocks/>
              </p:cNvSpPr>
              <p:nvPr/>
            </p:nvSpPr>
            <p:spPr bwMode="auto">
              <a:xfrm>
                <a:off x="1609" y="1847"/>
                <a:ext cx="290" cy="51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0" name="Line 241"/>
              <p:cNvSpPr>
                <a:spLocks noChangeShapeType="1"/>
              </p:cNvSpPr>
              <p:nvPr/>
            </p:nvSpPr>
            <p:spPr bwMode="auto">
              <a:xfrm flipH="1" flipV="1">
                <a:off x="1899" y="1847"/>
                <a:ext cx="46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1" name="Freeform 242"/>
              <p:cNvSpPr>
                <a:spLocks/>
              </p:cNvSpPr>
              <p:nvPr/>
            </p:nvSpPr>
            <p:spPr bwMode="auto">
              <a:xfrm>
                <a:off x="1899" y="1746"/>
                <a:ext cx="106" cy="101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2" name="Freeform 243"/>
              <p:cNvSpPr>
                <a:spLocks/>
              </p:cNvSpPr>
              <p:nvPr/>
            </p:nvSpPr>
            <p:spPr bwMode="auto">
              <a:xfrm>
                <a:off x="1609" y="1864"/>
                <a:ext cx="336" cy="59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3" name="Freeform 244"/>
              <p:cNvSpPr>
                <a:spLocks/>
              </p:cNvSpPr>
              <p:nvPr/>
            </p:nvSpPr>
            <p:spPr bwMode="auto">
              <a:xfrm>
                <a:off x="1945" y="1746"/>
                <a:ext cx="119" cy="118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4" name="Line 245"/>
              <p:cNvSpPr>
                <a:spLocks noChangeShapeType="1"/>
              </p:cNvSpPr>
              <p:nvPr/>
            </p:nvSpPr>
            <p:spPr bwMode="auto">
              <a:xfrm>
                <a:off x="1857" y="1833"/>
                <a:ext cx="42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5" name="Freeform 246"/>
              <p:cNvSpPr>
                <a:spLocks/>
              </p:cNvSpPr>
              <p:nvPr/>
            </p:nvSpPr>
            <p:spPr bwMode="auto">
              <a:xfrm>
                <a:off x="1857" y="1746"/>
                <a:ext cx="93" cy="87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6" name="Line 247"/>
              <p:cNvSpPr>
                <a:spLocks noChangeShapeType="1"/>
              </p:cNvSpPr>
              <p:nvPr/>
            </p:nvSpPr>
            <p:spPr bwMode="auto">
              <a:xfrm flipH="1">
                <a:off x="1832" y="1746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7" name="Line 248"/>
              <p:cNvSpPr>
                <a:spLocks noChangeShapeType="1"/>
              </p:cNvSpPr>
              <p:nvPr/>
            </p:nvSpPr>
            <p:spPr bwMode="auto">
              <a:xfrm flipH="1">
                <a:off x="1212" y="1746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8" name="Line 249"/>
              <p:cNvSpPr>
                <a:spLocks noChangeShapeType="1"/>
              </p:cNvSpPr>
              <p:nvPr/>
            </p:nvSpPr>
            <p:spPr bwMode="auto">
              <a:xfrm flipV="1">
                <a:off x="1609" y="1849"/>
                <a:ext cx="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89" name="Line 250"/>
              <p:cNvSpPr>
                <a:spLocks noChangeShapeType="1"/>
              </p:cNvSpPr>
              <p:nvPr/>
            </p:nvSpPr>
            <p:spPr bwMode="auto">
              <a:xfrm flipV="1">
                <a:off x="1609" y="1898"/>
                <a:ext cx="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0" name="Line 251"/>
              <p:cNvSpPr>
                <a:spLocks noChangeShapeType="1"/>
              </p:cNvSpPr>
              <p:nvPr/>
            </p:nvSpPr>
            <p:spPr bwMode="auto">
              <a:xfrm flipV="1">
                <a:off x="1609" y="1874"/>
                <a:ext cx="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1" name="Line 252"/>
              <p:cNvSpPr>
                <a:spLocks noChangeShapeType="1"/>
              </p:cNvSpPr>
              <p:nvPr/>
            </p:nvSpPr>
            <p:spPr bwMode="auto">
              <a:xfrm flipV="1">
                <a:off x="1609" y="1826"/>
                <a:ext cx="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2" name="Freeform 253"/>
              <p:cNvSpPr>
                <a:spLocks/>
              </p:cNvSpPr>
              <p:nvPr/>
            </p:nvSpPr>
            <p:spPr bwMode="auto">
              <a:xfrm>
                <a:off x="1609" y="1801"/>
                <a:ext cx="157" cy="25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3" name="Line 254"/>
              <p:cNvSpPr>
                <a:spLocks noChangeShapeType="1"/>
              </p:cNvSpPr>
              <p:nvPr/>
            </p:nvSpPr>
            <p:spPr bwMode="auto">
              <a:xfrm flipH="1" flipV="1">
                <a:off x="1766" y="1801"/>
                <a:ext cx="44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4" name="Line 255"/>
              <p:cNvSpPr>
                <a:spLocks noChangeShapeType="1"/>
              </p:cNvSpPr>
              <p:nvPr/>
            </p:nvSpPr>
            <p:spPr bwMode="auto">
              <a:xfrm flipH="1">
                <a:off x="1950" y="1746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5" name="Freeform 256"/>
              <p:cNvSpPr>
                <a:spLocks/>
              </p:cNvSpPr>
              <p:nvPr/>
            </p:nvSpPr>
            <p:spPr bwMode="auto">
              <a:xfrm>
                <a:off x="1285" y="1871"/>
                <a:ext cx="324" cy="52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6" name="Freeform 257"/>
              <p:cNvSpPr>
                <a:spLocks/>
              </p:cNvSpPr>
              <p:nvPr/>
            </p:nvSpPr>
            <p:spPr bwMode="auto">
              <a:xfrm>
                <a:off x="1212" y="1641"/>
                <a:ext cx="101" cy="105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7" name="Freeform 258"/>
              <p:cNvSpPr>
                <a:spLocks/>
              </p:cNvSpPr>
              <p:nvPr/>
            </p:nvSpPr>
            <p:spPr bwMode="auto">
              <a:xfrm>
                <a:off x="1154" y="1627"/>
                <a:ext cx="119" cy="119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8" name="Freeform 259"/>
              <p:cNvSpPr>
                <a:spLocks/>
              </p:cNvSpPr>
              <p:nvPr/>
            </p:nvSpPr>
            <p:spPr bwMode="auto">
              <a:xfrm>
                <a:off x="1313" y="1589"/>
                <a:ext cx="296" cy="5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399" name="Line 260"/>
              <p:cNvSpPr>
                <a:spLocks noChangeShapeType="1"/>
              </p:cNvSpPr>
              <p:nvPr/>
            </p:nvSpPr>
            <p:spPr bwMode="auto">
              <a:xfrm>
                <a:off x="1273" y="1627"/>
                <a:ext cx="40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0" name="Freeform 261"/>
              <p:cNvSpPr>
                <a:spLocks/>
              </p:cNvSpPr>
              <p:nvPr/>
            </p:nvSpPr>
            <p:spPr bwMode="auto">
              <a:xfrm>
                <a:off x="1273" y="1569"/>
                <a:ext cx="336" cy="58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1" name="Freeform 262"/>
              <p:cNvSpPr>
                <a:spLocks/>
              </p:cNvSpPr>
              <p:nvPr/>
            </p:nvSpPr>
            <p:spPr bwMode="auto">
              <a:xfrm>
                <a:off x="1325" y="1669"/>
                <a:ext cx="67" cy="77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2" name="Freeform 263"/>
              <p:cNvSpPr>
                <a:spLocks/>
              </p:cNvSpPr>
              <p:nvPr/>
            </p:nvSpPr>
            <p:spPr bwMode="auto">
              <a:xfrm>
                <a:off x="1267" y="1654"/>
                <a:ext cx="85" cy="92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3" name="Line 264"/>
              <p:cNvSpPr>
                <a:spLocks noChangeShapeType="1"/>
              </p:cNvSpPr>
              <p:nvPr/>
            </p:nvSpPr>
            <p:spPr bwMode="auto">
              <a:xfrm>
                <a:off x="1392" y="1669"/>
                <a:ext cx="41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4" name="Freeform 265"/>
              <p:cNvSpPr>
                <a:spLocks/>
              </p:cNvSpPr>
              <p:nvPr/>
            </p:nvSpPr>
            <p:spPr bwMode="auto">
              <a:xfrm>
                <a:off x="1392" y="1629"/>
                <a:ext cx="217" cy="40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5" name="Freeform 266"/>
              <p:cNvSpPr>
                <a:spLocks/>
              </p:cNvSpPr>
              <p:nvPr/>
            </p:nvSpPr>
            <p:spPr bwMode="auto">
              <a:xfrm>
                <a:off x="1352" y="1609"/>
                <a:ext cx="257" cy="45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6" name="Freeform 267"/>
              <p:cNvSpPr>
                <a:spLocks/>
              </p:cNvSpPr>
              <p:nvPr/>
            </p:nvSpPr>
            <p:spPr bwMode="auto">
              <a:xfrm>
                <a:off x="1352" y="1654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7" name="Freeform 268"/>
              <p:cNvSpPr>
                <a:spLocks/>
              </p:cNvSpPr>
              <p:nvPr/>
            </p:nvSpPr>
            <p:spPr bwMode="auto">
              <a:xfrm>
                <a:off x="1384" y="1683"/>
                <a:ext cx="49" cy="63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8" name="Line 269"/>
              <p:cNvSpPr>
                <a:spLocks noChangeShapeType="1"/>
              </p:cNvSpPr>
              <p:nvPr/>
            </p:nvSpPr>
            <p:spPr bwMode="auto">
              <a:xfrm flipH="1" flipV="1">
                <a:off x="1352" y="1654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9" name="Line 270"/>
              <p:cNvSpPr>
                <a:spLocks noChangeShapeType="1"/>
              </p:cNvSpPr>
              <p:nvPr/>
            </p:nvSpPr>
            <p:spPr bwMode="auto">
              <a:xfrm>
                <a:off x="1313" y="1641"/>
                <a:ext cx="39" cy="1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0" name="Freeform 271"/>
              <p:cNvSpPr>
                <a:spLocks/>
              </p:cNvSpPr>
              <p:nvPr/>
            </p:nvSpPr>
            <p:spPr bwMode="auto">
              <a:xfrm>
                <a:off x="1433" y="1651"/>
                <a:ext cx="176" cy="3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1" name="Freeform 272"/>
              <p:cNvSpPr>
                <a:spLocks/>
              </p:cNvSpPr>
              <p:nvPr/>
            </p:nvSpPr>
            <p:spPr bwMode="auto">
              <a:xfrm>
                <a:off x="1416" y="1804"/>
                <a:ext cx="42" cy="1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2" name="Freeform 273"/>
              <p:cNvSpPr>
                <a:spLocks/>
              </p:cNvSpPr>
              <p:nvPr/>
            </p:nvSpPr>
            <p:spPr bwMode="auto">
              <a:xfrm>
                <a:off x="1416" y="1820"/>
                <a:ext cx="193" cy="29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3" name="Freeform 274"/>
              <p:cNvSpPr>
                <a:spLocks/>
              </p:cNvSpPr>
              <p:nvPr/>
            </p:nvSpPr>
            <p:spPr bwMode="auto">
              <a:xfrm>
                <a:off x="1458" y="1804"/>
                <a:ext cx="151" cy="22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4" name="Freeform 275"/>
              <p:cNvSpPr>
                <a:spLocks/>
              </p:cNvSpPr>
              <p:nvPr/>
            </p:nvSpPr>
            <p:spPr bwMode="auto">
              <a:xfrm>
                <a:off x="1384" y="1746"/>
                <a:ext cx="74" cy="58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5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5" name="Freeform 276"/>
              <p:cNvSpPr>
                <a:spLocks/>
              </p:cNvSpPr>
              <p:nvPr/>
            </p:nvSpPr>
            <p:spPr bwMode="auto">
              <a:xfrm>
                <a:off x="1267" y="1746"/>
                <a:ext cx="104" cy="91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2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6" name="Freeform 277"/>
              <p:cNvSpPr>
                <a:spLocks/>
              </p:cNvSpPr>
              <p:nvPr/>
            </p:nvSpPr>
            <p:spPr bwMode="auto">
              <a:xfrm>
                <a:off x="1326" y="1746"/>
                <a:ext cx="90" cy="74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7" name="Line 278"/>
              <p:cNvSpPr>
                <a:spLocks noChangeShapeType="1"/>
              </p:cNvSpPr>
              <p:nvPr/>
            </p:nvSpPr>
            <p:spPr bwMode="auto">
              <a:xfrm flipH="1">
                <a:off x="1371" y="1820"/>
                <a:ext cx="45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8" name="Line 279"/>
              <p:cNvSpPr>
                <a:spLocks noChangeShapeType="1"/>
              </p:cNvSpPr>
              <p:nvPr/>
            </p:nvSpPr>
            <p:spPr bwMode="auto">
              <a:xfrm>
                <a:off x="1267" y="1746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19" name="Freeform 280"/>
              <p:cNvSpPr>
                <a:spLocks/>
              </p:cNvSpPr>
              <p:nvPr/>
            </p:nvSpPr>
            <p:spPr bwMode="auto">
              <a:xfrm>
                <a:off x="1212" y="1746"/>
                <a:ext cx="117" cy="108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0" name="Line 281"/>
              <p:cNvSpPr>
                <a:spLocks noChangeShapeType="1"/>
              </p:cNvSpPr>
              <p:nvPr/>
            </p:nvSpPr>
            <p:spPr bwMode="auto">
              <a:xfrm flipH="1">
                <a:off x="1285" y="1854"/>
                <a:ext cx="44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1" name="Freeform 282"/>
              <p:cNvSpPr>
                <a:spLocks/>
              </p:cNvSpPr>
              <p:nvPr/>
            </p:nvSpPr>
            <p:spPr bwMode="auto">
              <a:xfrm>
                <a:off x="1153" y="1746"/>
                <a:ext cx="132" cy="125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2" name="Line 283"/>
              <p:cNvSpPr>
                <a:spLocks noChangeShapeType="1"/>
              </p:cNvSpPr>
              <p:nvPr/>
            </p:nvSpPr>
            <p:spPr bwMode="auto">
              <a:xfrm flipH="1">
                <a:off x="1329" y="1837"/>
                <a:ext cx="42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3" name="Line 284"/>
              <p:cNvSpPr>
                <a:spLocks noChangeShapeType="1"/>
              </p:cNvSpPr>
              <p:nvPr/>
            </p:nvSpPr>
            <p:spPr bwMode="auto">
              <a:xfrm flipH="1">
                <a:off x="1326" y="1746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4" name="Freeform 285"/>
              <p:cNvSpPr>
                <a:spLocks/>
              </p:cNvSpPr>
              <p:nvPr/>
            </p:nvSpPr>
            <p:spPr bwMode="auto">
              <a:xfrm>
                <a:off x="1329" y="1854"/>
                <a:ext cx="280" cy="44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5" name="Freeform 286"/>
              <p:cNvSpPr>
                <a:spLocks/>
              </p:cNvSpPr>
              <p:nvPr/>
            </p:nvSpPr>
            <p:spPr bwMode="auto">
              <a:xfrm>
                <a:off x="1371" y="1837"/>
                <a:ext cx="238" cy="37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6" name="Freeform 287"/>
              <p:cNvSpPr>
                <a:spLocks/>
              </p:cNvSpPr>
              <p:nvPr/>
            </p:nvSpPr>
            <p:spPr bwMode="auto">
              <a:xfrm>
                <a:off x="1609" y="1745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7" name="Freeform 288"/>
              <p:cNvSpPr>
                <a:spLocks/>
              </p:cNvSpPr>
              <p:nvPr/>
            </p:nvSpPr>
            <p:spPr bwMode="auto">
              <a:xfrm>
                <a:off x="1609" y="1746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8" name="Line 289"/>
              <p:cNvSpPr>
                <a:spLocks noChangeShapeType="1"/>
              </p:cNvSpPr>
              <p:nvPr/>
            </p:nvSpPr>
            <p:spPr bwMode="auto">
              <a:xfrm>
                <a:off x="1609" y="1746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29" name="Freeform 290"/>
              <p:cNvSpPr>
                <a:spLocks/>
              </p:cNvSpPr>
              <p:nvPr/>
            </p:nvSpPr>
            <p:spPr bwMode="auto">
              <a:xfrm>
                <a:off x="1635" y="1250"/>
                <a:ext cx="13" cy="500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51" y="0"/>
                    </a:moveTo>
                    <a:lnTo>
                      <a:pt x="3" y="0"/>
                    </a:ln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2"/>
                    </a:lnTo>
                    <a:lnTo>
                      <a:pt x="3" y="199"/>
                    </a:lnTo>
                    <a:lnTo>
                      <a:pt x="3" y="222"/>
                    </a:lnTo>
                    <a:lnTo>
                      <a:pt x="3" y="245"/>
                    </a:lnTo>
                    <a:lnTo>
                      <a:pt x="3" y="264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59"/>
                    </a:lnTo>
                    <a:lnTo>
                      <a:pt x="3" y="1288"/>
                    </a:lnTo>
                    <a:lnTo>
                      <a:pt x="3" y="1314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3"/>
                    </a:lnTo>
                    <a:lnTo>
                      <a:pt x="3" y="2334"/>
                    </a:lnTo>
                    <a:lnTo>
                      <a:pt x="3" y="2363"/>
                    </a:lnTo>
                    <a:lnTo>
                      <a:pt x="3" y="2389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30" name="Freeform 291"/>
              <p:cNvSpPr>
                <a:spLocks/>
              </p:cNvSpPr>
              <p:nvPr/>
            </p:nvSpPr>
            <p:spPr bwMode="auto">
              <a:xfrm>
                <a:off x="1621" y="1250"/>
                <a:ext cx="15" cy="5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89"/>
                    </a:lnTo>
                    <a:lnTo>
                      <a:pt x="60" y="2363"/>
                    </a:lnTo>
                    <a:lnTo>
                      <a:pt x="60" y="2334"/>
                    </a:lnTo>
                    <a:lnTo>
                      <a:pt x="60" y="2303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4"/>
                    </a:lnTo>
                    <a:lnTo>
                      <a:pt x="60" y="1288"/>
                    </a:lnTo>
                    <a:lnTo>
                      <a:pt x="60" y="1259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4"/>
                    </a:lnTo>
                    <a:lnTo>
                      <a:pt x="60" y="245"/>
                    </a:lnTo>
                    <a:lnTo>
                      <a:pt x="60" y="222"/>
                    </a:lnTo>
                    <a:lnTo>
                      <a:pt x="60" y="199"/>
                    </a:lnTo>
                    <a:lnTo>
                      <a:pt x="60" y="172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31" name="Freeform 292"/>
              <p:cNvSpPr>
                <a:spLocks/>
              </p:cNvSpPr>
              <p:nvPr/>
            </p:nvSpPr>
            <p:spPr bwMode="auto">
              <a:xfrm>
                <a:off x="1598" y="1250"/>
                <a:ext cx="25" cy="507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3"/>
                    </a:lnTo>
                    <a:lnTo>
                      <a:pt x="0" y="246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5"/>
                    </a:lnTo>
                    <a:lnTo>
                      <a:pt x="0" y="1301"/>
                    </a:lnTo>
                    <a:lnTo>
                      <a:pt x="0" y="1309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5"/>
                    </a:lnTo>
                    <a:lnTo>
                      <a:pt x="0" y="2364"/>
                    </a:lnTo>
                    <a:lnTo>
                      <a:pt x="0" y="2382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32" name="Freeform 293"/>
              <p:cNvSpPr>
                <a:spLocks/>
              </p:cNvSpPr>
              <p:nvPr/>
            </p:nvSpPr>
            <p:spPr bwMode="auto">
              <a:xfrm>
                <a:off x="1542" y="1250"/>
                <a:ext cx="59" cy="507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6"/>
                    </a:lnTo>
                    <a:lnTo>
                      <a:pt x="226" y="203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2"/>
                    </a:lnTo>
                    <a:lnTo>
                      <a:pt x="226" y="2364"/>
                    </a:lnTo>
                    <a:lnTo>
                      <a:pt x="226" y="2325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09"/>
                    </a:lnTo>
                    <a:lnTo>
                      <a:pt x="226" y="1301"/>
                    </a:lnTo>
                    <a:lnTo>
                      <a:pt x="226" y="1255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33" name="Line 294"/>
              <p:cNvSpPr>
                <a:spLocks noChangeShapeType="1"/>
              </p:cNvSpPr>
              <p:nvPr/>
            </p:nvSpPr>
            <p:spPr bwMode="auto">
              <a:xfrm>
                <a:off x="1542" y="1250"/>
                <a:ext cx="0" cy="49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4" name="Line 295"/>
              <p:cNvSpPr>
                <a:spLocks noChangeShapeType="1"/>
              </p:cNvSpPr>
              <p:nvPr/>
            </p:nvSpPr>
            <p:spPr bwMode="auto">
              <a:xfrm>
                <a:off x="1648" y="1250"/>
                <a:ext cx="0" cy="49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5" name="Freeform 296"/>
              <p:cNvSpPr>
                <a:spLocks/>
              </p:cNvSpPr>
              <p:nvPr/>
            </p:nvSpPr>
            <p:spPr bwMode="auto">
              <a:xfrm>
                <a:off x="1609" y="1091"/>
                <a:ext cx="285" cy="61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6" name="Freeform 297"/>
              <p:cNvSpPr>
                <a:spLocks/>
              </p:cNvSpPr>
              <p:nvPr/>
            </p:nvSpPr>
            <p:spPr bwMode="auto">
              <a:xfrm>
                <a:off x="1609" y="1111"/>
                <a:ext cx="247" cy="56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3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7" name="Freeform 298"/>
              <p:cNvSpPr>
                <a:spLocks/>
              </p:cNvSpPr>
              <p:nvPr/>
            </p:nvSpPr>
            <p:spPr bwMode="auto">
              <a:xfrm>
                <a:off x="1609" y="1131"/>
                <a:ext cx="209" cy="5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8" name="Freeform 299"/>
              <p:cNvSpPr>
                <a:spLocks/>
              </p:cNvSpPr>
              <p:nvPr/>
            </p:nvSpPr>
            <p:spPr bwMode="auto">
              <a:xfrm>
                <a:off x="1352" y="1111"/>
                <a:ext cx="257" cy="59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9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39" name="Freeform 300"/>
              <p:cNvSpPr>
                <a:spLocks/>
              </p:cNvSpPr>
              <p:nvPr/>
            </p:nvSpPr>
            <p:spPr bwMode="auto">
              <a:xfrm>
                <a:off x="1313" y="1091"/>
                <a:ext cx="296" cy="66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0" name="Freeform 301"/>
              <p:cNvSpPr>
                <a:spLocks noEditPoints="1"/>
              </p:cNvSpPr>
              <p:nvPr/>
            </p:nvSpPr>
            <p:spPr bwMode="auto">
              <a:xfrm>
                <a:off x="1384" y="1152"/>
                <a:ext cx="449" cy="175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41" name="Freeform 302"/>
              <p:cNvSpPr>
                <a:spLocks/>
              </p:cNvSpPr>
              <p:nvPr/>
            </p:nvSpPr>
            <p:spPr bwMode="auto">
              <a:xfrm>
                <a:off x="1609" y="124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2" name="Freeform 303"/>
              <p:cNvSpPr>
                <a:spLocks/>
              </p:cNvSpPr>
              <p:nvPr/>
            </p:nvSpPr>
            <p:spPr bwMode="auto">
              <a:xfrm>
                <a:off x="1609" y="124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3" name="Freeform 304"/>
              <p:cNvSpPr>
                <a:spLocks/>
              </p:cNvSpPr>
              <p:nvPr/>
            </p:nvSpPr>
            <p:spPr bwMode="auto">
              <a:xfrm>
                <a:off x="1392" y="1131"/>
                <a:ext cx="217" cy="54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4" name="Freeform 305"/>
              <p:cNvSpPr>
                <a:spLocks/>
              </p:cNvSpPr>
              <p:nvPr/>
            </p:nvSpPr>
            <p:spPr bwMode="auto">
              <a:xfrm>
                <a:off x="1894" y="1122"/>
                <a:ext cx="170" cy="126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5" name="Freeform 306"/>
              <p:cNvSpPr>
                <a:spLocks/>
              </p:cNvSpPr>
              <p:nvPr/>
            </p:nvSpPr>
            <p:spPr bwMode="auto">
              <a:xfrm>
                <a:off x="1834" y="1143"/>
                <a:ext cx="4" cy="1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6" name="Freeform 307"/>
              <p:cNvSpPr>
                <a:spLocks/>
              </p:cNvSpPr>
              <p:nvPr/>
            </p:nvSpPr>
            <p:spPr bwMode="auto">
              <a:xfrm>
                <a:off x="1837" y="1144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7" name="Freeform 308"/>
              <p:cNvSpPr>
                <a:spLocks/>
              </p:cNvSpPr>
              <p:nvPr/>
            </p:nvSpPr>
            <p:spPr bwMode="auto">
              <a:xfrm>
                <a:off x="1778" y="1167"/>
                <a:ext cx="113" cy="81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8" name="Freeform 309"/>
              <p:cNvSpPr>
                <a:spLocks/>
              </p:cNvSpPr>
              <p:nvPr/>
            </p:nvSpPr>
            <p:spPr bwMode="auto">
              <a:xfrm>
                <a:off x="1818" y="1152"/>
                <a:ext cx="132" cy="96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49" name="Freeform 310"/>
              <p:cNvSpPr>
                <a:spLocks/>
              </p:cNvSpPr>
              <p:nvPr/>
            </p:nvSpPr>
            <p:spPr bwMode="auto">
              <a:xfrm>
                <a:off x="1856" y="1137"/>
                <a:ext cx="149" cy="111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671" name="Freeform 311"/>
              <p:cNvSpPr>
                <a:spLocks/>
              </p:cNvSpPr>
              <p:nvPr/>
            </p:nvSpPr>
            <p:spPr bwMode="auto">
              <a:xfrm>
                <a:off x="1899" y="1248"/>
                <a:ext cx="165" cy="11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451" name="Freeform 312"/>
              <p:cNvSpPr>
                <a:spLocks/>
              </p:cNvSpPr>
              <p:nvPr/>
            </p:nvSpPr>
            <p:spPr bwMode="auto">
              <a:xfrm>
                <a:off x="1810" y="1248"/>
                <a:ext cx="140" cy="87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2" name="Freeform 313"/>
              <p:cNvSpPr>
                <a:spLocks/>
              </p:cNvSpPr>
              <p:nvPr/>
            </p:nvSpPr>
            <p:spPr bwMode="auto">
              <a:xfrm>
                <a:off x="1766" y="1248"/>
                <a:ext cx="125" cy="70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3" name="Freeform 314"/>
              <p:cNvSpPr>
                <a:spLocks/>
              </p:cNvSpPr>
              <p:nvPr/>
            </p:nvSpPr>
            <p:spPr bwMode="auto">
              <a:xfrm>
                <a:off x="1810" y="1317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4" name="Freeform 315"/>
              <p:cNvSpPr>
                <a:spLocks/>
              </p:cNvSpPr>
              <p:nvPr/>
            </p:nvSpPr>
            <p:spPr bwMode="auto">
              <a:xfrm>
                <a:off x="1609" y="1318"/>
                <a:ext cx="248" cy="58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5" name="Freeform 316"/>
              <p:cNvSpPr>
                <a:spLocks/>
              </p:cNvSpPr>
              <p:nvPr/>
            </p:nvSpPr>
            <p:spPr bwMode="auto">
              <a:xfrm>
                <a:off x="1609" y="1303"/>
                <a:ext cx="201" cy="48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6" name="Freeform 317"/>
              <p:cNvSpPr>
                <a:spLocks/>
              </p:cNvSpPr>
              <p:nvPr/>
            </p:nvSpPr>
            <p:spPr bwMode="auto">
              <a:xfrm>
                <a:off x="1609" y="1335"/>
                <a:ext cx="290" cy="64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57" name="Freeform 318"/>
              <p:cNvSpPr>
                <a:spLocks/>
              </p:cNvSpPr>
              <p:nvPr/>
            </p:nvSpPr>
            <p:spPr bwMode="auto">
              <a:xfrm>
                <a:off x="1857" y="1335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679" name="Freeform 319"/>
              <p:cNvSpPr>
                <a:spLocks/>
              </p:cNvSpPr>
              <p:nvPr/>
            </p:nvSpPr>
            <p:spPr bwMode="auto">
              <a:xfrm>
                <a:off x="1609" y="1349"/>
                <a:ext cx="336" cy="76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459" name="Freeform 320"/>
              <p:cNvSpPr>
                <a:spLocks/>
              </p:cNvSpPr>
              <p:nvPr/>
            </p:nvSpPr>
            <p:spPr bwMode="auto">
              <a:xfrm>
                <a:off x="1857" y="1248"/>
                <a:ext cx="148" cy="101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0" name="Freeform 321"/>
              <p:cNvSpPr>
                <a:spLocks/>
              </p:cNvSpPr>
              <p:nvPr/>
            </p:nvSpPr>
            <p:spPr bwMode="auto">
              <a:xfrm>
                <a:off x="1371" y="1322"/>
                <a:ext cx="238" cy="54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1" name="Freeform 322"/>
              <p:cNvSpPr>
                <a:spLocks/>
              </p:cNvSpPr>
              <p:nvPr/>
            </p:nvSpPr>
            <p:spPr bwMode="auto">
              <a:xfrm>
                <a:off x="1285" y="1355"/>
                <a:ext cx="324" cy="70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62" name="Freeform 323"/>
              <p:cNvSpPr>
                <a:spLocks/>
              </p:cNvSpPr>
              <p:nvPr/>
            </p:nvSpPr>
            <p:spPr bwMode="auto">
              <a:xfrm>
                <a:off x="1329" y="1339"/>
                <a:ext cx="280" cy="60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3" name="Freeform 324"/>
              <p:cNvSpPr>
                <a:spLocks/>
              </p:cNvSpPr>
              <p:nvPr/>
            </p:nvSpPr>
            <p:spPr bwMode="auto">
              <a:xfrm>
                <a:off x="1416" y="1306"/>
                <a:ext cx="193" cy="45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4" name="Freeform 325"/>
              <p:cNvSpPr>
                <a:spLocks/>
              </p:cNvSpPr>
              <p:nvPr/>
            </p:nvSpPr>
            <p:spPr bwMode="auto">
              <a:xfrm>
                <a:off x="1154" y="1128"/>
                <a:ext cx="159" cy="12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5" name="Freeform 326"/>
              <p:cNvSpPr>
                <a:spLocks/>
              </p:cNvSpPr>
              <p:nvPr/>
            </p:nvSpPr>
            <p:spPr bwMode="auto">
              <a:xfrm>
                <a:off x="1212" y="1143"/>
                <a:ext cx="140" cy="105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6" name="Freeform 327"/>
              <p:cNvSpPr>
                <a:spLocks/>
              </p:cNvSpPr>
              <p:nvPr/>
            </p:nvSpPr>
            <p:spPr bwMode="auto">
              <a:xfrm>
                <a:off x="1325" y="1170"/>
                <a:ext cx="108" cy="78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7" name="Freeform 328"/>
              <p:cNvSpPr>
                <a:spLocks/>
              </p:cNvSpPr>
              <p:nvPr/>
            </p:nvSpPr>
            <p:spPr bwMode="auto">
              <a:xfrm>
                <a:off x="1267" y="1156"/>
                <a:ext cx="125" cy="92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8" name="Freeform 329"/>
              <p:cNvSpPr>
                <a:spLocks/>
              </p:cNvSpPr>
              <p:nvPr/>
            </p:nvSpPr>
            <p:spPr bwMode="auto">
              <a:xfrm>
                <a:off x="1457" y="1305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69" name="Freeform 330"/>
              <p:cNvSpPr>
                <a:spLocks/>
              </p:cNvSpPr>
              <p:nvPr/>
            </p:nvSpPr>
            <p:spPr bwMode="auto">
              <a:xfrm>
                <a:off x="1326" y="1248"/>
                <a:ext cx="131" cy="74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0" name="Freeform 331"/>
              <p:cNvSpPr>
                <a:spLocks/>
              </p:cNvSpPr>
              <p:nvPr/>
            </p:nvSpPr>
            <p:spPr bwMode="auto">
              <a:xfrm>
                <a:off x="1267" y="1248"/>
                <a:ext cx="149" cy="91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1" name="Freeform 332"/>
              <p:cNvSpPr>
                <a:spLocks/>
              </p:cNvSpPr>
              <p:nvPr/>
            </p:nvSpPr>
            <p:spPr bwMode="auto">
              <a:xfrm>
                <a:off x="1212" y="1248"/>
                <a:ext cx="159" cy="107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2" name="Freeform 333"/>
              <p:cNvSpPr>
                <a:spLocks/>
              </p:cNvSpPr>
              <p:nvPr/>
            </p:nvSpPr>
            <p:spPr bwMode="auto">
              <a:xfrm>
                <a:off x="1153" y="1248"/>
                <a:ext cx="176" cy="124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473" name="Freeform 334"/>
              <p:cNvSpPr>
                <a:spLocks/>
              </p:cNvSpPr>
              <p:nvPr/>
            </p:nvSpPr>
            <p:spPr bwMode="auto">
              <a:xfrm>
                <a:off x="1609" y="1091"/>
                <a:ext cx="285" cy="46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4" name="Freeform 335"/>
              <p:cNvSpPr>
                <a:spLocks/>
              </p:cNvSpPr>
              <p:nvPr/>
            </p:nvSpPr>
            <p:spPr bwMode="auto">
              <a:xfrm>
                <a:off x="1609" y="1131"/>
                <a:ext cx="209" cy="36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5" name="Line 336"/>
              <p:cNvSpPr>
                <a:spLocks noChangeShapeType="1"/>
              </p:cNvSpPr>
              <p:nvPr/>
            </p:nvSpPr>
            <p:spPr bwMode="auto">
              <a:xfrm flipV="1">
                <a:off x="1609" y="1111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6" name="Freeform 337"/>
              <p:cNvSpPr>
                <a:spLocks/>
              </p:cNvSpPr>
              <p:nvPr/>
            </p:nvSpPr>
            <p:spPr bwMode="auto">
              <a:xfrm>
                <a:off x="1609" y="1111"/>
                <a:ext cx="225" cy="32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3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7" name="Line 338"/>
              <p:cNvSpPr>
                <a:spLocks noChangeShapeType="1"/>
              </p:cNvSpPr>
              <p:nvPr/>
            </p:nvSpPr>
            <p:spPr bwMode="auto">
              <a:xfrm flipV="1">
                <a:off x="1609" y="1091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8" name="Line 339"/>
              <p:cNvSpPr>
                <a:spLocks noChangeShapeType="1"/>
              </p:cNvSpPr>
              <p:nvPr/>
            </p:nvSpPr>
            <p:spPr bwMode="auto">
              <a:xfrm>
                <a:off x="1154" y="124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79" name="Freeform 340"/>
              <p:cNvSpPr>
                <a:spLocks/>
              </p:cNvSpPr>
              <p:nvPr/>
            </p:nvSpPr>
            <p:spPr bwMode="auto">
              <a:xfrm>
                <a:off x="1609" y="1152"/>
                <a:ext cx="169" cy="30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0" name="Line 341"/>
              <p:cNvSpPr>
                <a:spLocks noChangeShapeType="1"/>
              </p:cNvSpPr>
              <p:nvPr/>
            </p:nvSpPr>
            <p:spPr bwMode="auto">
              <a:xfrm flipV="1">
                <a:off x="1609" y="1131"/>
                <a:ext cx="0" cy="2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1" name="Line 342"/>
              <p:cNvSpPr>
                <a:spLocks noChangeShapeType="1"/>
              </p:cNvSpPr>
              <p:nvPr/>
            </p:nvSpPr>
            <p:spPr bwMode="auto">
              <a:xfrm flipH="1">
                <a:off x="1894" y="1122"/>
                <a:ext cx="39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2" name="Freeform 343"/>
              <p:cNvSpPr>
                <a:spLocks/>
              </p:cNvSpPr>
              <p:nvPr/>
            </p:nvSpPr>
            <p:spPr bwMode="auto">
              <a:xfrm>
                <a:off x="1837" y="1144"/>
                <a:ext cx="19" cy="8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3" name="Line 344"/>
              <p:cNvSpPr>
                <a:spLocks noChangeShapeType="1"/>
              </p:cNvSpPr>
              <p:nvPr/>
            </p:nvSpPr>
            <p:spPr bwMode="auto">
              <a:xfrm>
                <a:off x="1834" y="1143"/>
                <a:ext cx="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4" name="Line 345"/>
              <p:cNvSpPr>
                <a:spLocks noChangeShapeType="1"/>
              </p:cNvSpPr>
              <p:nvPr/>
            </p:nvSpPr>
            <p:spPr bwMode="auto">
              <a:xfrm>
                <a:off x="1837" y="1144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5" name="Freeform 346"/>
              <p:cNvSpPr>
                <a:spLocks/>
              </p:cNvSpPr>
              <p:nvPr/>
            </p:nvSpPr>
            <p:spPr bwMode="auto">
              <a:xfrm>
                <a:off x="1837" y="1144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6" name="Line 347"/>
              <p:cNvSpPr>
                <a:spLocks noChangeShapeType="1"/>
              </p:cNvSpPr>
              <p:nvPr/>
            </p:nvSpPr>
            <p:spPr bwMode="auto">
              <a:xfrm>
                <a:off x="1834" y="1143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7" name="Freeform 348"/>
              <p:cNvSpPr>
                <a:spLocks/>
              </p:cNvSpPr>
              <p:nvPr/>
            </p:nvSpPr>
            <p:spPr bwMode="auto">
              <a:xfrm>
                <a:off x="1778" y="1182"/>
                <a:ext cx="55" cy="66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8" name="Line 349"/>
              <p:cNvSpPr>
                <a:spLocks noChangeShapeType="1"/>
              </p:cNvSpPr>
              <p:nvPr/>
            </p:nvSpPr>
            <p:spPr bwMode="auto">
              <a:xfrm flipH="1">
                <a:off x="1818" y="1152"/>
                <a:ext cx="38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89" name="Freeform 350"/>
              <p:cNvSpPr>
                <a:spLocks/>
              </p:cNvSpPr>
              <p:nvPr/>
            </p:nvSpPr>
            <p:spPr bwMode="auto">
              <a:xfrm>
                <a:off x="1856" y="1152"/>
                <a:ext cx="94" cy="96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0" name="Freeform 351"/>
              <p:cNvSpPr>
                <a:spLocks/>
              </p:cNvSpPr>
              <p:nvPr/>
            </p:nvSpPr>
            <p:spPr bwMode="auto">
              <a:xfrm>
                <a:off x="1818" y="1167"/>
                <a:ext cx="73" cy="81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1" name="Line 352"/>
              <p:cNvSpPr>
                <a:spLocks noChangeShapeType="1"/>
              </p:cNvSpPr>
              <p:nvPr/>
            </p:nvSpPr>
            <p:spPr bwMode="auto">
              <a:xfrm flipV="1">
                <a:off x="1856" y="1137"/>
                <a:ext cx="38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2" name="Line 353"/>
              <p:cNvSpPr>
                <a:spLocks noChangeShapeType="1"/>
              </p:cNvSpPr>
              <p:nvPr/>
            </p:nvSpPr>
            <p:spPr bwMode="auto">
              <a:xfrm flipH="1">
                <a:off x="1778" y="1167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3" name="Freeform 354"/>
              <p:cNvSpPr>
                <a:spLocks/>
              </p:cNvSpPr>
              <p:nvPr/>
            </p:nvSpPr>
            <p:spPr bwMode="auto">
              <a:xfrm>
                <a:off x="1933" y="1122"/>
                <a:ext cx="131" cy="126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4" name="Freeform 355"/>
              <p:cNvSpPr>
                <a:spLocks/>
              </p:cNvSpPr>
              <p:nvPr/>
            </p:nvSpPr>
            <p:spPr bwMode="auto">
              <a:xfrm>
                <a:off x="1894" y="1137"/>
                <a:ext cx="111" cy="111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5" name="Line 356"/>
              <p:cNvSpPr>
                <a:spLocks noChangeShapeType="1"/>
              </p:cNvSpPr>
              <p:nvPr/>
            </p:nvSpPr>
            <p:spPr bwMode="auto">
              <a:xfrm>
                <a:off x="2005" y="124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6" name="Line 357"/>
              <p:cNvSpPr>
                <a:spLocks noChangeShapeType="1"/>
              </p:cNvSpPr>
              <p:nvPr/>
            </p:nvSpPr>
            <p:spPr bwMode="auto">
              <a:xfrm>
                <a:off x="1891" y="124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7" name="Freeform 358"/>
              <p:cNvSpPr>
                <a:spLocks/>
              </p:cNvSpPr>
              <p:nvPr/>
            </p:nvSpPr>
            <p:spPr bwMode="auto">
              <a:xfrm>
                <a:off x="1811" y="1248"/>
                <a:ext cx="80" cy="70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8" name="Freeform 359"/>
              <p:cNvSpPr>
                <a:spLocks/>
              </p:cNvSpPr>
              <p:nvPr/>
            </p:nvSpPr>
            <p:spPr bwMode="auto">
              <a:xfrm>
                <a:off x="1766" y="1248"/>
                <a:ext cx="66" cy="55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99" name="Line 360"/>
              <p:cNvSpPr>
                <a:spLocks noChangeShapeType="1"/>
              </p:cNvSpPr>
              <p:nvPr/>
            </p:nvSpPr>
            <p:spPr bwMode="auto">
              <a:xfrm flipH="1">
                <a:off x="1810" y="1318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0" name="Freeform 361"/>
              <p:cNvSpPr>
                <a:spLocks/>
              </p:cNvSpPr>
              <p:nvPr/>
            </p:nvSpPr>
            <p:spPr bwMode="auto">
              <a:xfrm>
                <a:off x="1609" y="1318"/>
                <a:ext cx="201" cy="3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1" name="Line 362"/>
              <p:cNvSpPr>
                <a:spLocks noChangeShapeType="1"/>
              </p:cNvSpPr>
              <p:nvPr/>
            </p:nvSpPr>
            <p:spPr bwMode="auto">
              <a:xfrm flipV="1">
                <a:off x="1810" y="131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2" name="Freeform 363"/>
              <p:cNvSpPr>
                <a:spLocks/>
              </p:cNvSpPr>
              <p:nvPr/>
            </p:nvSpPr>
            <p:spPr bwMode="auto">
              <a:xfrm>
                <a:off x="1609" y="1335"/>
                <a:ext cx="248" cy="41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3" name="Line 364"/>
              <p:cNvSpPr>
                <a:spLocks noChangeShapeType="1"/>
              </p:cNvSpPr>
              <p:nvPr/>
            </p:nvSpPr>
            <p:spPr bwMode="auto">
              <a:xfrm flipH="1" flipV="1">
                <a:off x="1810" y="1318"/>
                <a:ext cx="47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4" name="Freeform 365"/>
              <p:cNvSpPr>
                <a:spLocks/>
              </p:cNvSpPr>
              <p:nvPr/>
            </p:nvSpPr>
            <p:spPr bwMode="auto">
              <a:xfrm>
                <a:off x="1609" y="1349"/>
                <a:ext cx="290" cy="5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5" name="Line 366"/>
              <p:cNvSpPr>
                <a:spLocks noChangeShapeType="1"/>
              </p:cNvSpPr>
              <p:nvPr/>
            </p:nvSpPr>
            <p:spPr bwMode="auto">
              <a:xfrm flipH="1" flipV="1">
                <a:off x="1899" y="1349"/>
                <a:ext cx="46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6" name="Freeform 367"/>
              <p:cNvSpPr>
                <a:spLocks/>
              </p:cNvSpPr>
              <p:nvPr/>
            </p:nvSpPr>
            <p:spPr bwMode="auto">
              <a:xfrm>
                <a:off x="1899" y="1248"/>
                <a:ext cx="106" cy="101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7" name="Freeform 368"/>
              <p:cNvSpPr>
                <a:spLocks/>
              </p:cNvSpPr>
              <p:nvPr/>
            </p:nvSpPr>
            <p:spPr bwMode="auto">
              <a:xfrm>
                <a:off x="1609" y="1366"/>
                <a:ext cx="336" cy="59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8" name="Freeform 369"/>
              <p:cNvSpPr>
                <a:spLocks/>
              </p:cNvSpPr>
              <p:nvPr/>
            </p:nvSpPr>
            <p:spPr bwMode="auto">
              <a:xfrm>
                <a:off x="1945" y="1248"/>
                <a:ext cx="119" cy="118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09" name="Line 370"/>
              <p:cNvSpPr>
                <a:spLocks noChangeShapeType="1"/>
              </p:cNvSpPr>
              <p:nvPr/>
            </p:nvSpPr>
            <p:spPr bwMode="auto">
              <a:xfrm>
                <a:off x="1857" y="1335"/>
                <a:ext cx="42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0" name="Freeform 371"/>
              <p:cNvSpPr>
                <a:spLocks/>
              </p:cNvSpPr>
              <p:nvPr/>
            </p:nvSpPr>
            <p:spPr bwMode="auto">
              <a:xfrm>
                <a:off x="1857" y="1248"/>
                <a:ext cx="93" cy="87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1" name="Line 372"/>
              <p:cNvSpPr>
                <a:spLocks noChangeShapeType="1"/>
              </p:cNvSpPr>
              <p:nvPr/>
            </p:nvSpPr>
            <p:spPr bwMode="auto">
              <a:xfrm flipH="1">
                <a:off x="1832" y="124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2" name="Line 373"/>
              <p:cNvSpPr>
                <a:spLocks noChangeShapeType="1"/>
              </p:cNvSpPr>
              <p:nvPr/>
            </p:nvSpPr>
            <p:spPr bwMode="auto">
              <a:xfrm flipH="1">
                <a:off x="1212" y="124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3" name="Line 374"/>
              <p:cNvSpPr>
                <a:spLocks noChangeShapeType="1"/>
              </p:cNvSpPr>
              <p:nvPr/>
            </p:nvSpPr>
            <p:spPr bwMode="auto">
              <a:xfrm flipV="1">
                <a:off x="1609" y="1351"/>
                <a:ext cx="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4" name="Line 375"/>
              <p:cNvSpPr>
                <a:spLocks noChangeShapeType="1"/>
              </p:cNvSpPr>
              <p:nvPr/>
            </p:nvSpPr>
            <p:spPr bwMode="auto">
              <a:xfrm flipV="1">
                <a:off x="1609" y="1399"/>
                <a:ext cx="0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5" name="Line 376"/>
              <p:cNvSpPr>
                <a:spLocks noChangeShapeType="1"/>
              </p:cNvSpPr>
              <p:nvPr/>
            </p:nvSpPr>
            <p:spPr bwMode="auto">
              <a:xfrm flipV="1">
                <a:off x="1609" y="1376"/>
                <a:ext cx="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6" name="Line 377"/>
              <p:cNvSpPr>
                <a:spLocks noChangeShapeType="1"/>
              </p:cNvSpPr>
              <p:nvPr/>
            </p:nvSpPr>
            <p:spPr bwMode="auto">
              <a:xfrm flipV="1">
                <a:off x="1609" y="1327"/>
                <a:ext cx="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7" name="Freeform 378"/>
              <p:cNvSpPr>
                <a:spLocks/>
              </p:cNvSpPr>
              <p:nvPr/>
            </p:nvSpPr>
            <p:spPr bwMode="auto">
              <a:xfrm>
                <a:off x="1609" y="1303"/>
                <a:ext cx="157" cy="24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8" name="Line 379"/>
              <p:cNvSpPr>
                <a:spLocks noChangeShapeType="1"/>
              </p:cNvSpPr>
              <p:nvPr/>
            </p:nvSpPr>
            <p:spPr bwMode="auto">
              <a:xfrm flipH="1" flipV="1">
                <a:off x="1766" y="1303"/>
                <a:ext cx="44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19" name="Line 380"/>
              <p:cNvSpPr>
                <a:spLocks noChangeShapeType="1"/>
              </p:cNvSpPr>
              <p:nvPr/>
            </p:nvSpPr>
            <p:spPr bwMode="auto">
              <a:xfrm flipH="1">
                <a:off x="1950" y="124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0" name="Freeform 381"/>
              <p:cNvSpPr>
                <a:spLocks/>
              </p:cNvSpPr>
              <p:nvPr/>
            </p:nvSpPr>
            <p:spPr bwMode="auto">
              <a:xfrm>
                <a:off x="1285" y="1372"/>
                <a:ext cx="324" cy="53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1" name="Freeform 382"/>
              <p:cNvSpPr>
                <a:spLocks/>
              </p:cNvSpPr>
              <p:nvPr/>
            </p:nvSpPr>
            <p:spPr bwMode="auto">
              <a:xfrm>
                <a:off x="1212" y="1143"/>
                <a:ext cx="101" cy="105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2" name="Freeform 383"/>
              <p:cNvSpPr>
                <a:spLocks/>
              </p:cNvSpPr>
              <p:nvPr/>
            </p:nvSpPr>
            <p:spPr bwMode="auto">
              <a:xfrm>
                <a:off x="1154" y="1128"/>
                <a:ext cx="119" cy="12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3" name="Freeform 384"/>
              <p:cNvSpPr>
                <a:spLocks/>
              </p:cNvSpPr>
              <p:nvPr/>
            </p:nvSpPr>
            <p:spPr bwMode="auto">
              <a:xfrm>
                <a:off x="1313" y="1091"/>
                <a:ext cx="296" cy="5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4" name="Line 385"/>
              <p:cNvSpPr>
                <a:spLocks noChangeShapeType="1"/>
              </p:cNvSpPr>
              <p:nvPr/>
            </p:nvSpPr>
            <p:spPr bwMode="auto">
              <a:xfrm>
                <a:off x="1273" y="1128"/>
                <a:ext cx="40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5" name="Freeform 386"/>
              <p:cNvSpPr>
                <a:spLocks/>
              </p:cNvSpPr>
              <p:nvPr/>
            </p:nvSpPr>
            <p:spPr bwMode="auto">
              <a:xfrm>
                <a:off x="1325" y="1170"/>
                <a:ext cx="67" cy="78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6" name="Freeform 387"/>
              <p:cNvSpPr>
                <a:spLocks/>
              </p:cNvSpPr>
              <p:nvPr/>
            </p:nvSpPr>
            <p:spPr bwMode="auto">
              <a:xfrm>
                <a:off x="1267" y="1157"/>
                <a:ext cx="85" cy="91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7" name="Line 388"/>
              <p:cNvSpPr>
                <a:spLocks noChangeShapeType="1"/>
              </p:cNvSpPr>
              <p:nvPr/>
            </p:nvSpPr>
            <p:spPr bwMode="auto">
              <a:xfrm>
                <a:off x="1392" y="1170"/>
                <a:ext cx="41" cy="1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8" name="Freeform 389"/>
              <p:cNvSpPr>
                <a:spLocks/>
              </p:cNvSpPr>
              <p:nvPr/>
            </p:nvSpPr>
            <p:spPr bwMode="auto">
              <a:xfrm>
                <a:off x="1392" y="1131"/>
                <a:ext cx="217" cy="39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29" name="Freeform 390"/>
              <p:cNvSpPr>
                <a:spLocks/>
              </p:cNvSpPr>
              <p:nvPr/>
            </p:nvSpPr>
            <p:spPr bwMode="auto">
              <a:xfrm>
                <a:off x="1352" y="1111"/>
                <a:ext cx="257" cy="46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9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0" name="Freeform 391"/>
              <p:cNvSpPr>
                <a:spLocks/>
              </p:cNvSpPr>
              <p:nvPr/>
            </p:nvSpPr>
            <p:spPr bwMode="auto">
              <a:xfrm>
                <a:off x="1352" y="1156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1" name="Freeform 392"/>
              <p:cNvSpPr>
                <a:spLocks/>
              </p:cNvSpPr>
              <p:nvPr/>
            </p:nvSpPr>
            <p:spPr bwMode="auto">
              <a:xfrm>
                <a:off x="1384" y="1185"/>
                <a:ext cx="49" cy="63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2" name="Line 393"/>
              <p:cNvSpPr>
                <a:spLocks noChangeShapeType="1"/>
              </p:cNvSpPr>
              <p:nvPr/>
            </p:nvSpPr>
            <p:spPr bwMode="auto">
              <a:xfrm flipH="1" flipV="1">
                <a:off x="1352" y="1157"/>
                <a:ext cx="40" cy="1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3" name="Line 394"/>
              <p:cNvSpPr>
                <a:spLocks noChangeShapeType="1"/>
              </p:cNvSpPr>
              <p:nvPr/>
            </p:nvSpPr>
            <p:spPr bwMode="auto">
              <a:xfrm>
                <a:off x="1313" y="1143"/>
                <a:ext cx="39" cy="1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4" name="Freeform 395"/>
              <p:cNvSpPr>
                <a:spLocks/>
              </p:cNvSpPr>
              <p:nvPr/>
            </p:nvSpPr>
            <p:spPr bwMode="auto">
              <a:xfrm>
                <a:off x="1433" y="1152"/>
                <a:ext cx="176" cy="33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5" name="Freeform 396"/>
              <p:cNvSpPr>
                <a:spLocks/>
              </p:cNvSpPr>
              <p:nvPr/>
            </p:nvSpPr>
            <p:spPr bwMode="auto">
              <a:xfrm>
                <a:off x="1416" y="1306"/>
                <a:ext cx="42" cy="1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6" name="Freeform 397"/>
              <p:cNvSpPr>
                <a:spLocks/>
              </p:cNvSpPr>
              <p:nvPr/>
            </p:nvSpPr>
            <p:spPr bwMode="auto">
              <a:xfrm>
                <a:off x="1416" y="1322"/>
                <a:ext cx="193" cy="29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7" name="Freeform 398"/>
              <p:cNvSpPr>
                <a:spLocks/>
              </p:cNvSpPr>
              <p:nvPr/>
            </p:nvSpPr>
            <p:spPr bwMode="auto">
              <a:xfrm>
                <a:off x="1458" y="1306"/>
                <a:ext cx="151" cy="21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8" name="Freeform 399"/>
              <p:cNvSpPr>
                <a:spLocks/>
              </p:cNvSpPr>
              <p:nvPr/>
            </p:nvSpPr>
            <p:spPr bwMode="auto">
              <a:xfrm>
                <a:off x="1384" y="1248"/>
                <a:ext cx="74" cy="58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39" name="Freeform 400"/>
              <p:cNvSpPr>
                <a:spLocks/>
              </p:cNvSpPr>
              <p:nvPr/>
            </p:nvSpPr>
            <p:spPr bwMode="auto">
              <a:xfrm>
                <a:off x="1267" y="1248"/>
                <a:ext cx="104" cy="91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0" name="Freeform 401"/>
              <p:cNvSpPr>
                <a:spLocks/>
              </p:cNvSpPr>
              <p:nvPr/>
            </p:nvSpPr>
            <p:spPr bwMode="auto">
              <a:xfrm>
                <a:off x="1326" y="1248"/>
                <a:ext cx="90" cy="74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1" name="Line 402"/>
              <p:cNvSpPr>
                <a:spLocks noChangeShapeType="1"/>
              </p:cNvSpPr>
              <p:nvPr/>
            </p:nvSpPr>
            <p:spPr bwMode="auto">
              <a:xfrm flipH="1">
                <a:off x="1371" y="1322"/>
                <a:ext cx="45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2" name="Line 403"/>
              <p:cNvSpPr>
                <a:spLocks noChangeShapeType="1"/>
              </p:cNvSpPr>
              <p:nvPr/>
            </p:nvSpPr>
            <p:spPr bwMode="auto">
              <a:xfrm>
                <a:off x="1267" y="124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3" name="Freeform 404"/>
              <p:cNvSpPr>
                <a:spLocks/>
              </p:cNvSpPr>
              <p:nvPr/>
            </p:nvSpPr>
            <p:spPr bwMode="auto">
              <a:xfrm>
                <a:off x="1212" y="1248"/>
                <a:ext cx="117" cy="107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4" name="Line 405"/>
              <p:cNvSpPr>
                <a:spLocks noChangeShapeType="1"/>
              </p:cNvSpPr>
              <p:nvPr/>
            </p:nvSpPr>
            <p:spPr bwMode="auto">
              <a:xfrm flipH="1">
                <a:off x="1285" y="1355"/>
                <a:ext cx="44" cy="1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5" name="Freeform 406"/>
              <p:cNvSpPr>
                <a:spLocks/>
              </p:cNvSpPr>
              <p:nvPr/>
            </p:nvSpPr>
            <p:spPr bwMode="auto">
              <a:xfrm>
                <a:off x="1153" y="1248"/>
                <a:ext cx="132" cy="124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6" name="Line 407"/>
              <p:cNvSpPr>
                <a:spLocks noChangeShapeType="1"/>
              </p:cNvSpPr>
              <p:nvPr/>
            </p:nvSpPr>
            <p:spPr bwMode="auto">
              <a:xfrm flipH="1">
                <a:off x="1329" y="1339"/>
                <a:ext cx="42" cy="1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7" name="Line 408"/>
              <p:cNvSpPr>
                <a:spLocks noChangeShapeType="1"/>
              </p:cNvSpPr>
              <p:nvPr/>
            </p:nvSpPr>
            <p:spPr bwMode="auto">
              <a:xfrm flipH="1">
                <a:off x="1326" y="124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8" name="Freeform 409"/>
              <p:cNvSpPr>
                <a:spLocks/>
              </p:cNvSpPr>
              <p:nvPr/>
            </p:nvSpPr>
            <p:spPr bwMode="auto">
              <a:xfrm>
                <a:off x="1329" y="1355"/>
                <a:ext cx="280" cy="44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49" name="Freeform 410"/>
              <p:cNvSpPr>
                <a:spLocks/>
              </p:cNvSpPr>
              <p:nvPr/>
            </p:nvSpPr>
            <p:spPr bwMode="auto">
              <a:xfrm>
                <a:off x="1371" y="1339"/>
                <a:ext cx="238" cy="37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0" name="Freeform 411"/>
              <p:cNvSpPr>
                <a:spLocks/>
              </p:cNvSpPr>
              <p:nvPr/>
            </p:nvSpPr>
            <p:spPr bwMode="auto">
              <a:xfrm>
                <a:off x="1609" y="124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1" name="Freeform 412"/>
              <p:cNvSpPr>
                <a:spLocks/>
              </p:cNvSpPr>
              <p:nvPr/>
            </p:nvSpPr>
            <p:spPr bwMode="auto">
              <a:xfrm>
                <a:off x="1609" y="124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2" name="Line 413"/>
              <p:cNvSpPr>
                <a:spLocks noChangeShapeType="1"/>
              </p:cNvSpPr>
              <p:nvPr/>
            </p:nvSpPr>
            <p:spPr bwMode="auto">
              <a:xfrm>
                <a:off x="1609" y="124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3" name="Freeform 414"/>
              <p:cNvSpPr>
                <a:spLocks/>
              </p:cNvSpPr>
              <p:nvPr/>
            </p:nvSpPr>
            <p:spPr bwMode="auto">
              <a:xfrm>
                <a:off x="1542" y="1115"/>
                <a:ext cx="63" cy="136"/>
              </a:xfrm>
              <a:custGeom>
                <a:avLst/>
                <a:gdLst>
                  <a:gd name="T0" fmla="*/ 0 w 252"/>
                  <a:gd name="T1" fmla="*/ 0 h 870"/>
                  <a:gd name="T2" fmla="*/ 0 w 252"/>
                  <a:gd name="T3" fmla="*/ 0 h 870"/>
                  <a:gd name="T4" fmla="*/ 0 w 252"/>
                  <a:gd name="T5" fmla="*/ 0 h 870"/>
                  <a:gd name="T6" fmla="*/ 0 w 252"/>
                  <a:gd name="T7" fmla="*/ 0 h 870"/>
                  <a:gd name="T8" fmla="*/ 0 w 252"/>
                  <a:gd name="T9" fmla="*/ 0 h 870"/>
                  <a:gd name="T10" fmla="*/ 0 w 252"/>
                  <a:gd name="T11" fmla="*/ 0 h 870"/>
                  <a:gd name="T12" fmla="*/ 0 w 252"/>
                  <a:gd name="T13" fmla="*/ 0 h 870"/>
                  <a:gd name="T14" fmla="*/ 0 w 252"/>
                  <a:gd name="T15" fmla="*/ 0 h 870"/>
                  <a:gd name="T16" fmla="*/ 0 w 252"/>
                  <a:gd name="T17" fmla="*/ 0 h 870"/>
                  <a:gd name="T18" fmla="*/ 0 w 252"/>
                  <a:gd name="T19" fmla="*/ 0 h 870"/>
                  <a:gd name="T20" fmla="*/ 0 w 252"/>
                  <a:gd name="T21" fmla="*/ 0 h 870"/>
                  <a:gd name="T22" fmla="*/ 0 w 252"/>
                  <a:gd name="T23" fmla="*/ 0 h 870"/>
                  <a:gd name="T24" fmla="*/ 0 w 252"/>
                  <a:gd name="T25" fmla="*/ 0 h 870"/>
                  <a:gd name="T26" fmla="*/ 0 w 252"/>
                  <a:gd name="T27" fmla="*/ 0 h 870"/>
                  <a:gd name="T28" fmla="*/ 0 w 252"/>
                  <a:gd name="T29" fmla="*/ 0 h 870"/>
                  <a:gd name="T30" fmla="*/ 0 w 252"/>
                  <a:gd name="T31" fmla="*/ 0 h 870"/>
                  <a:gd name="T32" fmla="*/ 0 w 252"/>
                  <a:gd name="T33" fmla="*/ 0 h 870"/>
                  <a:gd name="T34" fmla="*/ 0 w 252"/>
                  <a:gd name="T35" fmla="*/ 0 h 870"/>
                  <a:gd name="T36" fmla="*/ 0 w 252"/>
                  <a:gd name="T37" fmla="*/ 0 h 870"/>
                  <a:gd name="T38" fmla="*/ 0 w 252"/>
                  <a:gd name="T39" fmla="*/ 0 h 870"/>
                  <a:gd name="T40" fmla="*/ 0 w 252"/>
                  <a:gd name="T41" fmla="*/ 0 h 870"/>
                  <a:gd name="T42" fmla="*/ 0 w 252"/>
                  <a:gd name="T43" fmla="*/ 0 h 870"/>
                  <a:gd name="T44" fmla="*/ 0 w 252"/>
                  <a:gd name="T45" fmla="*/ 0 h 870"/>
                  <a:gd name="T46" fmla="*/ 0 w 252"/>
                  <a:gd name="T47" fmla="*/ 0 h 870"/>
                  <a:gd name="T48" fmla="*/ 0 w 252"/>
                  <a:gd name="T49" fmla="*/ 0 h 870"/>
                  <a:gd name="T50" fmla="*/ 0 w 252"/>
                  <a:gd name="T51" fmla="*/ 0 h 870"/>
                  <a:gd name="T52" fmla="*/ 0 w 252"/>
                  <a:gd name="T53" fmla="*/ 0 h 870"/>
                  <a:gd name="T54" fmla="*/ 0 w 252"/>
                  <a:gd name="T55" fmla="*/ 0 h 870"/>
                  <a:gd name="T56" fmla="*/ 0 w 252"/>
                  <a:gd name="T57" fmla="*/ 0 h 870"/>
                  <a:gd name="T58" fmla="*/ 0 w 252"/>
                  <a:gd name="T59" fmla="*/ 0 h 870"/>
                  <a:gd name="T60" fmla="*/ 0 w 252"/>
                  <a:gd name="T61" fmla="*/ 0 h 870"/>
                  <a:gd name="T62" fmla="*/ 0 w 252"/>
                  <a:gd name="T63" fmla="*/ 0 h 870"/>
                  <a:gd name="T64" fmla="*/ 0 w 252"/>
                  <a:gd name="T65" fmla="*/ 0 h 870"/>
                  <a:gd name="T66" fmla="*/ 0 w 252"/>
                  <a:gd name="T67" fmla="*/ 0 h 870"/>
                  <a:gd name="T68" fmla="*/ 0 w 252"/>
                  <a:gd name="T69" fmla="*/ 0 h 870"/>
                  <a:gd name="T70" fmla="*/ 0 w 252"/>
                  <a:gd name="T71" fmla="*/ 0 h 870"/>
                  <a:gd name="T72" fmla="*/ 0 w 252"/>
                  <a:gd name="T73" fmla="*/ 0 h 870"/>
                  <a:gd name="T74" fmla="*/ 0 w 252"/>
                  <a:gd name="T75" fmla="*/ 0 h 870"/>
                  <a:gd name="T76" fmla="*/ 0 w 252"/>
                  <a:gd name="T77" fmla="*/ 0 h 870"/>
                  <a:gd name="T78" fmla="*/ 0 w 252"/>
                  <a:gd name="T79" fmla="*/ 0 h 870"/>
                  <a:gd name="T80" fmla="*/ 0 w 252"/>
                  <a:gd name="T81" fmla="*/ 0 h 870"/>
                  <a:gd name="T82" fmla="*/ 0 w 252"/>
                  <a:gd name="T83" fmla="*/ 0 h 870"/>
                  <a:gd name="T84" fmla="*/ 0 w 252"/>
                  <a:gd name="T85" fmla="*/ 0 h 870"/>
                  <a:gd name="T86" fmla="*/ 0 w 252"/>
                  <a:gd name="T87" fmla="*/ 0 h 870"/>
                  <a:gd name="T88" fmla="*/ 0 w 252"/>
                  <a:gd name="T89" fmla="*/ 0 h 870"/>
                  <a:gd name="T90" fmla="*/ 0 w 252"/>
                  <a:gd name="T91" fmla="*/ 0 h 870"/>
                  <a:gd name="T92" fmla="*/ 0 w 252"/>
                  <a:gd name="T93" fmla="*/ 0 h 870"/>
                  <a:gd name="T94" fmla="*/ 0 w 252"/>
                  <a:gd name="T95" fmla="*/ 0 h 870"/>
                  <a:gd name="T96" fmla="*/ 0 w 252"/>
                  <a:gd name="T97" fmla="*/ 0 h 870"/>
                  <a:gd name="T98" fmla="*/ 0 w 252"/>
                  <a:gd name="T99" fmla="*/ 0 h 870"/>
                  <a:gd name="T100" fmla="*/ 0 w 252"/>
                  <a:gd name="T101" fmla="*/ 0 h 870"/>
                  <a:gd name="T102" fmla="*/ 0 w 252"/>
                  <a:gd name="T103" fmla="*/ 0 h 870"/>
                  <a:gd name="T104" fmla="*/ 0 w 252"/>
                  <a:gd name="T105" fmla="*/ 0 h 870"/>
                  <a:gd name="T106" fmla="*/ 0 w 252"/>
                  <a:gd name="T107" fmla="*/ 0 h 870"/>
                  <a:gd name="T108" fmla="*/ 0 w 252"/>
                  <a:gd name="T109" fmla="*/ 0 h 870"/>
                  <a:gd name="T110" fmla="*/ 0 w 252"/>
                  <a:gd name="T111" fmla="*/ 0 h 870"/>
                  <a:gd name="T112" fmla="*/ 0 w 252"/>
                  <a:gd name="T113" fmla="*/ 0 h 8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2"/>
                  <a:gd name="T172" fmla="*/ 0 h 870"/>
                  <a:gd name="T173" fmla="*/ 252 w 252"/>
                  <a:gd name="T174" fmla="*/ 870 h 8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2" h="870">
                    <a:moveTo>
                      <a:pt x="0" y="0"/>
                    </a:moveTo>
                    <a:lnTo>
                      <a:pt x="0" y="769"/>
                    </a:lnTo>
                    <a:lnTo>
                      <a:pt x="19" y="793"/>
                    </a:lnTo>
                    <a:lnTo>
                      <a:pt x="42" y="814"/>
                    </a:lnTo>
                    <a:lnTo>
                      <a:pt x="67" y="832"/>
                    </a:lnTo>
                    <a:lnTo>
                      <a:pt x="80" y="839"/>
                    </a:lnTo>
                    <a:lnTo>
                      <a:pt x="95" y="847"/>
                    </a:lnTo>
                    <a:lnTo>
                      <a:pt x="109" y="852"/>
                    </a:lnTo>
                    <a:lnTo>
                      <a:pt x="125" y="857"/>
                    </a:lnTo>
                    <a:lnTo>
                      <a:pt x="158" y="865"/>
                    </a:lnTo>
                    <a:lnTo>
                      <a:pt x="175" y="867"/>
                    </a:lnTo>
                    <a:lnTo>
                      <a:pt x="194" y="869"/>
                    </a:lnTo>
                    <a:lnTo>
                      <a:pt x="233" y="870"/>
                    </a:lnTo>
                    <a:lnTo>
                      <a:pt x="235" y="870"/>
                    </a:lnTo>
                    <a:lnTo>
                      <a:pt x="232" y="850"/>
                    </a:lnTo>
                    <a:lnTo>
                      <a:pt x="230" y="829"/>
                    </a:lnTo>
                    <a:lnTo>
                      <a:pt x="228" y="807"/>
                    </a:lnTo>
                    <a:lnTo>
                      <a:pt x="226" y="784"/>
                    </a:lnTo>
                    <a:lnTo>
                      <a:pt x="226" y="781"/>
                    </a:lnTo>
                    <a:lnTo>
                      <a:pt x="226" y="776"/>
                    </a:lnTo>
                    <a:lnTo>
                      <a:pt x="226" y="769"/>
                    </a:lnTo>
                    <a:lnTo>
                      <a:pt x="226" y="760"/>
                    </a:lnTo>
                    <a:lnTo>
                      <a:pt x="226" y="747"/>
                    </a:lnTo>
                    <a:lnTo>
                      <a:pt x="226" y="734"/>
                    </a:lnTo>
                    <a:lnTo>
                      <a:pt x="226" y="718"/>
                    </a:lnTo>
                    <a:lnTo>
                      <a:pt x="226" y="701"/>
                    </a:lnTo>
                    <a:lnTo>
                      <a:pt x="226" y="680"/>
                    </a:lnTo>
                    <a:lnTo>
                      <a:pt x="226" y="657"/>
                    </a:lnTo>
                    <a:lnTo>
                      <a:pt x="226" y="632"/>
                    </a:lnTo>
                    <a:lnTo>
                      <a:pt x="226" y="606"/>
                    </a:lnTo>
                    <a:lnTo>
                      <a:pt x="226" y="576"/>
                    </a:lnTo>
                    <a:lnTo>
                      <a:pt x="226" y="545"/>
                    </a:lnTo>
                    <a:lnTo>
                      <a:pt x="226" y="511"/>
                    </a:lnTo>
                    <a:lnTo>
                      <a:pt x="226" y="476"/>
                    </a:lnTo>
                    <a:lnTo>
                      <a:pt x="226" y="440"/>
                    </a:lnTo>
                    <a:lnTo>
                      <a:pt x="226" y="407"/>
                    </a:lnTo>
                    <a:lnTo>
                      <a:pt x="226" y="376"/>
                    </a:lnTo>
                    <a:lnTo>
                      <a:pt x="226" y="348"/>
                    </a:lnTo>
                    <a:lnTo>
                      <a:pt x="226" y="321"/>
                    </a:lnTo>
                    <a:lnTo>
                      <a:pt x="226" y="297"/>
                    </a:lnTo>
                    <a:lnTo>
                      <a:pt x="226" y="275"/>
                    </a:lnTo>
                    <a:lnTo>
                      <a:pt x="226" y="256"/>
                    </a:lnTo>
                    <a:lnTo>
                      <a:pt x="226" y="238"/>
                    </a:lnTo>
                    <a:lnTo>
                      <a:pt x="226" y="223"/>
                    </a:lnTo>
                    <a:lnTo>
                      <a:pt x="226" y="210"/>
                    </a:lnTo>
                    <a:lnTo>
                      <a:pt x="226" y="199"/>
                    </a:lnTo>
                    <a:lnTo>
                      <a:pt x="226" y="190"/>
                    </a:lnTo>
                    <a:lnTo>
                      <a:pt x="226" y="183"/>
                    </a:lnTo>
                    <a:lnTo>
                      <a:pt x="226" y="178"/>
                    </a:lnTo>
                    <a:lnTo>
                      <a:pt x="226" y="177"/>
                    </a:lnTo>
                    <a:lnTo>
                      <a:pt x="227" y="148"/>
                    </a:lnTo>
                    <a:lnTo>
                      <a:pt x="229" y="123"/>
                    </a:lnTo>
                    <a:lnTo>
                      <a:pt x="235" y="76"/>
                    </a:lnTo>
                    <a:lnTo>
                      <a:pt x="242" y="34"/>
                    </a:lnTo>
                    <a:lnTo>
                      <a:pt x="246" y="15"/>
                    </a:lnTo>
                    <a:lnTo>
                      <a:pt x="25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554" name="Freeform 415"/>
              <p:cNvSpPr>
                <a:spLocks/>
              </p:cNvSpPr>
              <p:nvPr/>
            </p:nvSpPr>
            <p:spPr bwMode="auto">
              <a:xfrm>
                <a:off x="1635" y="1115"/>
                <a:ext cx="13" cy="131"/>
              </a:xfrm>
              <a:custGeom>
                <a:avLst/>
                <a:gdLst>
                  <a:gd name="T0" fmla="*/ 0 w 52"/>
                  <a:gd name="T1" fmla="*/ 0 h 832"/>
                  <a:gd name="T2" fmla="*/ 0 w 52"/>
                  <a:gd name="T3" fmla="*/ 0 h 832"/>
                  <a:gd name="T4" fmla="*/ 0 w 52"/>
                  <a:gd name="T5" fmla="*/ 0 h 832"/>
                  <a:gd name="T6" fmla="*/ 0 w 52"/>
                  <a:gd name="T7" fmla="*/ 0 h 832"/>
                  <a:gd name="T8" fmla="*/ 0 w 52"/>
                  <a:gd name="T9" fmla="*/ 0 h 832"/>
                  <a:gd name="T10" fmla="*/ 0 w 52"/>
                  <a:gd name="T11" fmla="*/ 0 h 832"/>
                  <a:gd name="T12" fmla="*/ 0 w 52"/>
                  <a:gd name="T13" fmla="*/ 0 h 832"/>
                  <a:gd name="T14" fmla="*/ 0 w 52"/>
                  <a:gd name="T15" fmla="*/ 0 h 832"/>
                  <a:gd name="T16" fmla="*/ 0 w 52"/>
                  <a:gd name="T17" fmla="*/ 0 h 832"/>
                  <a:gd name="T18" fmla="*/ 0 w 52"/>
                  <a:gd name="T19" fmla="*/ 0 h 832"/>
                  <a:gd name="T20" fmla="*/ 0 w 52"/>
                  <a:gd name="T21" fmla="*/ 0 h 832"/>
                  <a:gd name="T22" fmla="*/ 0 w 52"/>
                  <a:gd name="T23" fmla="*/ 0 h 832"/>
                  <a:gd name="T24" fmla="*/ 0 w 52"/>
                  <a:gd name="T25" fmla="*/ 0 h 832"/>
                  <a:gd name="T26" fmla="*/ 0 w 52"/>
                  <a:gd name="T27" fmla="*/ 0 h 832"/>
                  <a:gd name="T28" fmla="*/ 0 w 52"/>
                  <a:gd name="T29" fmla="*/ 0 h 832"/>
                  <a:gd name="T30" fmla="*/ 0 w 52"/>
                  <a:gd name="T31" fmla="*/ 0 h 832"/>
                  <a:gd name="T32" fmla="*/ 0 w 52"/>
                  <a:gd name="T33" fmla="*/ 0 h 832"/>
                  <a:gd name="T34" fmla="*/ 0 w 52"/>
                  <a:gd name="T35" fmla="*/ 0 h 832"/>
                  <a:gd name="T36" fmla="*/ 0 w 52"/>
                  <a:gd name="T37" fmla="*/ 0 h 832"/>
                  <a:gd name="T38" fmla="*/ 0 w 52"/>
                  <a:gd name="T39" fmla="*/ 0 h 832"/>
                  <a:gd name="T40" fmla="*/ 0 w 52"/>
                  <a:gd name="T41" fmla="*/ 0 h 832"/>
                  <a:gd name="T42" fmla="*/ 0 w 52"/>
                  <a:gd name="T43" fmla="*/ 0 h 832"/>
                  <a:gd name="T44" fmla="*/ 0 w 52"/>
                  <a:gd name="T45" fmla="*/ 0 h 832"/>
                  <a:gd name="T46" fmla="*/ 0 w 52"/>
                  <a:gd name="T47" fmla="*/ 0 h 832"/>
                  <a:gd name="T48" fmla="*/ 0 w 52"/>
                  <a:gd name="T49" fmla="*/ 0 h 832"/>
                  <a:gd name="T50" fmla="*/ 0 w 52"/>
                  <a:gd name="T51" fmla="*/ 0 h 832"/>
                  <a:gd name="T52" fmla="*/ 0 w 52"/>
                  <a:gd name="T53" fmla="*/ 0 h 832"/>
                  <a:gd name="T54" fmla="*/ 0 w 52"/>
                  <a:gd name="T55" fmla="*/ 0 h 832"/>
                  <a:gd name="T56" fmla="*/ 0 w 52"/>
                  <a:gd name="T57" fmla="*/ 0 h 832"/>
                  <a:gd name="T58" fmla="*/ 0 w 52"/>
                  <a:gd name="T59" fmla="*/ 0 h 832"/>
                  <a:gd name="T60" fmla="*/ 0 w 52"/>
                  <a:gd name="T61" fmla="*/ 0 h 832"/>
                  <a:gd name="T62" fmla="*/ 0 w 52"/>
                  <a:gd name="T63" fmla="*/ 0 h 832"/>
                  <a:gd name="T64" fmla="*/ 0 w 52"/>
                  <a:gd name="T65" fmla="*/ 0 h 832"/>
                  <a:gd name="T66" fmla="*/ 0 w 52"/>
                  <a:gd name="T67" fmla="*/ 0 h 832"/>
                  <a:gd name="T68" fmla="*/ 0 w 52"/>
                  <a:gd name="T69" fmla="*/ 0 h 832"/>
                  <a:gd name="T70" fmla="*/ 0 w 52"/>
                  <a:gd name="T71" fmla="*/ 0 h 832"/>
                  <a:gd name="T72" fmla="*/ 0 w 52"/>
                  <a:gd name="T73" fmla="*/ 0 h 832"/>
                  <a:gd name="T74" fmla="*/ 0 w 52"/>
                  <a:gd name="T75" fmla="*/ 0 h 832"/>
                  <a:gd name="T76" fmla="*/ 0 w 52"/>
                  <a:gd name="T77" fmla="*/ 0 h 832"/>
                  <a:gd name="T78" fmla="*/ 0 w 52"/>
                  <a:gd name="T79" fmla="*/ 0 h 832"/>
                  <a:gd name="T80" fmla="*/ 0 w 52"/>
                  <a:gd name="T81" fmla="*/ 0 h 832"/>
                  <a:gd name="T82" fmla="*/ 0 w 52"/>
                  <a:gd name="T83" fmla="*/ 0 h 832"/>
                  <a:gd name="T84" fmla="*/ 0 w 52"/>
                  <a:gd name="T85" fmla="*/ 0 h 83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52"/>
                  <a:gd name="T130" fmla="*/ 0 h 832"/>
                  <a:gd name="T131" fmla="*/ 52 w 52"/>
                  <a:gd name="T132" fmla="*/ 832 h 83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52" h="832">
                    <a:moveTo>
                      <a:pt x="52" y="0"/>
                    </a:moveTo>
                    <a:lnTo>
                      <a:pt x="38" y="0"/>
                    </a:lnTo>
                    <a:lnTo>
                      <a:pt x="31" y="19"/>
                    </a:lnTo>
                    <a:lnTo>
                      <a:pt x="25" y="42"/>
                    </a:lnTo>
                    <a:lnTo>
                      <a:pt x="20" y="68"/>
                    </a:lnTo>
                    <a:lnTo>
                      <a:pt x="16" y="97"/>
                    </a:lnTo>
                    <a:lnTo>
                      <a:pt x="12" y="127"/>
                    </a:lnTo>
                    <a:lnTo>
                      <a:pt x="9" y="161"/>
                    </a:lnTo>
                    <a:lnTo>
                      <a:pt x="6" y="197"/>
                    </a:lnTo>
                    <a:lnTo>
                      <a:pt x="4" y="237"/>
                    </a:lnTo>
                    <a:lnTo>
                      <a:pt x="4" y="274"/>
                    </a:lnTo>
                    <a:lnTo>
                      <a:pt x="4" y="309"/>
                    </a:lnTo>
                    <a:lnTo>
                      <a:pt x="4" y="342"/>
                    </a:lnTo>
                    <a:lnTo>
                      <a:pt x="4" y="373"/>
                    </a:lnTo>
                    <a:lnTo>
                      <a:pt x="4" y="401"/>
                    </a:lnTo>
                    <a:lnTo>
                      <a:pt x="4" y="428"/>
                    </a:lnTo>
                    <a:lnTo>
                      <a:pt x="4" y="451"/>
                    </a:lnTo>
                    <a:lnTo>
                      <a:pt x="4" y="474"/>
                    </a:lnTo>
                    <a:lnTo>
                      <a:pt x="4" y="493"/>
                    </a:lnTo>
                    <a:lnTo>
                      <a:pt x="4" y="510"/>
                    </a:lnTo>
                    <a:lnTo>
                      <a:pt x="4" y="525"/>
                    </a:lnTo>
                    <a:lnTo>
                      <a:pt x="4" y="538"/>
                    </a:lnTo>
                    <a:lnTo>
                      <a:pt x="4" y="547"/>
                    </a:lnTo>
                    <a:lnTo>
                      <a:pt x="4" y="556"/>
                    </a:lnTo>
                    <a:lnTo>
                      <a:pt x="4" y="561"/>
                    </a:lnTo>
                    <a:lnTo>
                      <a:pt x="4" y="566"/>
                    </a:lnTo>
                    <a:lnTo>
                      <a:pt x="1" y="632"/>
                    </a:lnTo>
                    <a:lnTo>
                      <a:pt x="0" y="699"/>
                    </a:lnTo>
                    <a:lnTo>
                      <a:pt x="0" y="765"/>
                    </a:lnTo>
                    <a:lnTo>
                      <a:pt x="2" y="832"/>
                    </a:lnTo>
                    <a:lnTo>
                      <a:pt x="10" y="824"/>
                    </a:lnTo>
                    <a:lnTo>
                      <a:pt x="14" y="820"/>
                    </a:lnTo>
                    <a:lnTo>
                      <a:pt x="16" y="818"/>
                    </a:lnTo>
                    <a:lnTo>
                      <a:pt x="16" y="817"/>
                    </a:lnTo>
                    <a:lnTo>
                      <a:pt x="17" y="817"/>
                    </a:lnTo>
                    <a:lnTo>
                      <a:pt x="19" y="817"/>
                    </a:lnTo>
                    <a:lnTo>
                      <a:pt x="27" y="809"/>
                    </a:lnTo>
                    <a:lnTo>
                      <a:pt x="35" y="802"/>
                    </a:lnTo>
                    <a:lnTo>
                      <a:pt x="36" y="797"/>
                    </a:lnTo>
                    <a:lnTo>
                      <a:pt x="40" y="794"/>
                    </a:lnTo>
                    <a:lnTo>
                      <a:pt x="46" y="781"/>
                    </a:lnTo>
                    <a:lnTo>
                      <a:pt x="52" y="769"/>
                    </a:lnTo>
                    <a:lnTo>
                      <a:pt x="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555" name="Freeform 416"/>
              <p:cNvSpPr>
                <a:spLocks/>
              </p:cNvSpPr>
              <p:nvPr/>
            </p:nvSpPr>
            <p:spPr bwMode="auto">
              <a:xfrm>
                <a:off x="1598" y="1115"/>
                <a:ext cx="25" cy="136"/>
              </a:xfrm>
              <a:custGeom>
                <a:avLst/>
                <a:gdLst>
                  <a:gd name="T0" fmla="*/ 0 w 98"/>
                  <a:gd name="T1" fmla="*/ 0 h 870"/>
                  <a:gd name="T2" fmla="*/ 0 w 98"/>
                  <a:gd name="T3" fmla="*/ 0 h 870"/>
                  <a:gd name="T4" fmla="*/ 0 w 98"/>
                  <a:gd name="T5" fmla="*/ 0 h 870"/>
                  <a:gd name="T6" fmla="*/ 0 w 98"/>
                  <a:gd name="T7" fmla="*/ 0 h 870"/>
                  <a:gd name="T8" fmla="*/ 0 w 98"/>
                  <a:gd name="T9" fmla="*/ 0 h 870"/>
                  <a:gd name="T10" fmla="*/ 0 w 98"/>
                  <a:gd name="T11" fmla="*/ 0 h 870"/>
                  <a:gd name="T12" fmla="*/ 0 w 98"/>
                  <a:gd name="T13" fmla="*/ 0 h 870"/>
                  <a:gd name="T14" fmla="*/ 0 w 98"/>
                  <a:gd name="T15" fmla="*/ 0 h 870"/>
                  <a:gd name="T16" fmla="*/ 0 w 98"/>
                  <a:gd name="T17" fmla="*/ 0 h 870"/>
                  <a:gd name="T18" fmla="*/ 0 w 98"/>
                  <a:gd name="T19" fmla="*/ 0 h 870"/>
                  <a:gd name="T20" fmla="*/ 0 w 98"/>
                  <a:gd name="T21" fmla="*/ 0 h 870"/>
                  <a:gd name="T22" fmla="*/ 0 w 98"/>
                  <a:gd name="T23" fmla="*/ 0 h 870"/>
                  <a:gd name="T24" fmla="*/ 0 w 98"/>
                  <a:gd name="T25" fmla="*/ 0 h 870"/>
                  <a:gd name="T26" fmla="*/ 0 w 98"/>
                  <a:gd name="T27" fmla="*/ 0 h 870"/>
                  <a:gd name="T28" fmla="*/ 0 w 98"/>
                  <a:gd name="T29" fmla="*/ 0 h 870"/>
                  <a:gd name="T30" fmla="*/ 0 w 98"/>
                  <a:gd name="T31" fmla="*/ 0 h 870"/>
                  <a:gd name="T32" fmla="*/ 0 w 98"/>
                  <a:gd name="T33" fmla="*/ 0 h 870"/>
                  <a:gd name="T34" fmla="*/ 0 w 98"/>
                  <a:gd name="T35" fmla="*/ 0 h 870"/>
                  <a:gd name="T36" fmla="*/ 0 w 98"/>
                  <a:gd name="T37" fmla="*/ 0 h 870"/>
                  <a:gd name="T38" fmla="*/ 0 w 98"/>
                  <a:gd name="T39" fmla="*/ 0 h 870"/>
                  <a:gd name="T40" fmla="*/ 0 w 98"/>
                  <a:gd name="T41" fmla="*/ 0 h 870"/>
                  <a:gd name="T42" fmla="*/ 0 w 98"/>
                  <a:gd name="T43" fmla="*/ 0 h 870"/>
                  <a:gd name="T44" fmla="*/ 0 w 98"/>
                  <a:gd name="T45" fmla="*/ 0 h 870"/>
                  <a:gd name="T46" fmla="*/ 0 w 98"/>
                  <a:gd name="T47" fmla="*/ 0 h 870"/>
                  <a:gd name="T48" fmla="*/ 0 w 98"/>
                  <a:gd name="T49" fmla="*/ 0 h 870"/>
                  <a:gd name="T50" fmla="*/ 0 w 98"/>
                  <a:gd name="T51" fmla="*/ 0 h 870"/>
                  <a:gd name="T52" fmla="*/ 0 w 98"/>
                  <a:gd name="T53" fmla="*/ 0 h 870"/>
                  <a:gd name="T54" fmla="*/ 0 w 98"/>
                  <a:gd name="T55" fmla="*/ 0 h 870"/>
                  <a:gd name="T56" fmla="*/ 0 w 98"/>
                  <a:gd name="T57" fmla="*/ 0 h 870"/>
                  <a:gd name="T58" fmla="*/ 0 w 98"/>
                  <a:gd name="T59" fmla="*/ 0 h 870"/>
                  <a:gd name="T60" fmla="*/ 0 w 98"/>
                  <a:gd name="T61" fmla="*/ 0 h 870"/>
                  <a:gd name="T62" fmla="*/ 0 w 98"/>
                  <a:gd name="T63" fmla="*/ 0 h 870"/>
                  <a:gd name="T64" fmla="*/ 0 w 98"/>
                  <a:gd name="T65" fmla="*/ 0 h 87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8"/>
                  <a:gd name="T100" fmla="*/ 0 h 870"/>
                  <a:gd name="T101" fmla="*/ 98 w 98"/>
                  <a:gd name="T102" fmla="*/ 870 h 87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8" h="870">
                    <a:moveTo>
                      <a:pt x="95" y="152"/>
                    </a:moveTo>
                    <a:lnTo>
                      <a:pt x="85" y="129"/>
                    </a:lnTo>
                    <a:lnTo>
                      <a:pt x="79" y="109"/>
                    </a:lnTo>
                    <a:lnTo>
                      <a:pt x="75" y="90"/>
                    </a:lnTo>
                    <a:lnTo>
                      <a:pt x="74" y="74"/>
                    </a:lnTo>
                    <a:lnTo>
                      <a:pt x="75" y="52"/>
                    </a:lnTo>
                    <a:lnTo>
                      <a:pt x="78" y="33"/>
                    </a:lnTo>
                    <a:lnTo>
                      <a:pt x="83" y="15"/>
                    </a:lnTo>
                    <a:lnTo>
                      <a:pt x="91" y="0"/>
                    </a:lnTo>
                    <a:lnTo>
                      <a:pt x="26" y="0"/>
                    </a:lnTo>
                    <a:lnTo>
                      <a:pt x="20" y="15"/>
                    </a:lnTo>
                    <a:lnTo>
                      <a:pt x="16" y="34"/>
                    </a:lnTo>
                    <a:lnTo>
                      <a:pt x="9" y="76"/>
                    </a:lnTo>
                    <a:lnTo>
                      <a:pt x="3" y="123"/>
                    </a:lnTo>
                    <a:lnTo>
                      <a:pt x="1" y="148"/>
                    </a:lnTo>
                    <a:lnTo>
                      <a:pt x="0" y="177"/>
                    </a:lnTo>
                    <a:lnTo>
                      <a:pt x="0" y="178"/>
                    </a:lnTo>
                    <a:lnTo>
                      <a:pt x="0" y="183"/>
                    </a:lnTo>
                    <a:lnTo>
                      <a:pt x="0" y="190"/>
                    </a:lnTo>
                    <a:lnTo>
                      <a:pt x="0" y="199"/>
                    </a:lnTo>
                    <a:lnTo>
                      <a:pt x="0" y="210"/>
                    </a:lnTo>
                    <a:lnTo>
                      <a:pt x="0" y="223"/>
                    </a:lnTo>
                    <a:lnTo>
                      <a:pt x="0" y="238"/>
                    </a:lnTo>
                    <a:lnTo>
                      <a:pt x="0" y="256"/>
                    </a:lnTo>
                    <a:lnTo>
                      <a:pt x="0" y="275"/>
                    </a:lnTo>
                    <a:lnTo>
                      <a:pt x="0" y="297"/>
                    </a:lnTo>
                    <a:lnTo>
                      <a:pt x="0" y="321"/>
                    </a:lnTo>
                    <a:lnTo>
                      <a:pt x="0" y="348"/>
                    </a:lnTo>
                    <a:lnTo>
                      <a:pt x="0" y="376"/>
                    </a:lnTo>
                    <a:lnTo>
                      <a:pt x="0" y="407"/>
                    </a:lnTo>
                    <a:lnTo>
                      <a:pt x="0" y="440"/>
                    </a:lnTo>
                    <a:lnTo>
                      <a:pt x="0" y="476"/>
                    </a:lnTo>
                    <a:lnTo>
                      <a:pt x="0" y="511"/>
                    </a:lnTo>
                    <a:lnTo>
                      <a:pt x="0" y="545"/>
                    </a:lnTo>
                    <a:lnTo>
                      <a:pt x="0" y="576"/>
                    </a:lnTo>
                    <a:lnTo>
                      <a:pt x="0" y="606"/>
                    </a:lnTo>
                    <a:lnTo>
                      <a:pt x="0" y="632"/>
                    </a:lnTo>
                    <a:lnTo>
                      <a:pt x="0" y="657"/>
                    </a:lnTo>
                    <a:lnTo>
                      <a:pt x="0" y="680"/>
                    </a:lnTo>
                    <a:lnTo>
                      <a:pt x="0" y="701"/>
                    </a:lnTo>
                    <a:lnTo>
                      <a:pt x="0" y="718"/>
                    </a:lnTo>
                    <a:lnTo>
                      <a:pt x="0" y="734"/>
                    </a:lnTo>
                    <a:lnTo>
                      <a:pt x="0" y="747"/>
                    </a:lnTo>
                    <a:lnTo>
                      <a:pt x="0" y="760"/>
                    </a:lnTo>
                    <a:lnTo>
                      <a:pt x="0" y="769"/>
                    </a:lnTo>
                    <a:lnTo>
                      <a:pt x="0" y="776"/>
                    </a:lnTo>
                    <a:lnTo>
                      <a:pt x="0" y="781"/>
                    </a:lnTo>
                    <a:lnTo>
                      <a:pt x="0" y="784"/>
                    </a:lnTo>
                    <a:lnTo>
                      <a:pt x="2" y="807"/>
                    </a:lnTo>
                    <a:lnTo>
                      <a:pt x="4" y="829"/>
                    </a:lnTo>
                    <a:lnTo>
                      <a:pt x="6" y="850"/>
                    </a:lnTo>
                    <a:lnTo>
                      <a:pt x="9" y="870"/>
                    </a:lnTo>
                    <a:lnTo>
                      <a:pt x="19" y="870"/>
                    </a:lnTo>
                    <a:lnTo>
                      <a:pt x="35" y="869"/>
                    </a:lnTo>
                    <a:lnTo>
                      <a:pt x="52" y="867"/>
                    </a:lnTo>
                    <a:lnTo>
                      <a:pt x="75" y="861"/>
                    </a:lnTo>
                    <a:lnTo>
                      <a:pt x="97" y="857"/>
                    </a:lnTo>
                    <a:lnTo>
                      <a:pt x="93" y="812"/>
                    </a:lnTo>
                    <a:lnTo>
                      <a:pt x="90" y="738"/>
                    </a:lnTo>
                    <a:lnTo>
                      <a:pt x="89" y="666"/>
                    </a:lnTo>
                    <a:lnTo>
                      <a:pt x="90" y="593"/>
                    </a:lnTo>
                    <a:lnTo>
                      <a:pt x="93" y="521"/>
                    </a:lnTo>
                    <a:lnTo>
                      <a:pt x="93" y="212"/>
                    </a:lnTo>
                    <a:lnTo>
                      <a:pt x="95" y="183"/>
                    </a:lnTo>
                    <a:lnTo>
                      <a:pt x="98" y="157"/>
                    </a:lnTo>
                    <a:lnTo>
                      <a:pt x="95" y="15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556" name="Freeform 417"/>
              <p:cNvSpPr>
                <a:spLocks/>
              </p:cNvSpPr>
              <p:nvPr/>
            </p:nvSpPr>
            <p:spPr bwMode="auto">
              <a:xfrm>
                <a:off x="1617" y="1115"/>
                <a:ext cx="14" cy="25"/>
              </a:xfrm>
              <a:custGeom>
                <a:avLst/>
                <a:gdLst>
                  <a:gd name="T0" fmla="*/ 0 w 55"/>
                  <a:gd name="T1" fmla="*/ 0 h 157"/>
                  <a:gd name="T2" fmla="*/ 0 w 55"/>
                  <a:gd name="T3" fmla="*/ 0 h 157"/>
                  <a:gd name="T4" fmla="*/ 0 w 55"/>
                  <a:gd name="T5" fmla="*/ 0 h 157"/>
                  <a:gd name="T6" fmla="*/ 0 w 55"/>
                  <a:gd name="T7" fmla="*/ 0 h 157"/>
                  <a:gd name="T8" fmla="*/ 0 w 55"/>
                  <a:gd name="T9" fmla="*/ 0 h 157"/>
                  <a:gd name="T10" fmla="*/ 0 w 55"/>
                  <a:gd name="T11" fmla="*/ 0 h 157"/>
                  <a:gd name="T12" fmla="*/ 0 w 55"/>
                  <a:gd name="T13" fmla="*/ 0 h 157"/>
                  <a:gd name="T14" fmla="*/ 0 w 55"/>
                  <a:gd name="T15" fmla="*/ 0 h 157"/>
                  <a:gd name="T16" fmla="*/ 0 w 55"/>
                  <a:gd name="T17" fmla="*/ 0 h 157"/>
                  <a:gd name="T18" fmla="*/ 0 w 55"/>
                  <a:gd name="T19" fmla="*/ 0 h 157"/>
                  <a:gd name="T20" fmla="*/ 0 w 55"/>
                  <a:gd name="T21" fmla="*/ 0 h 157"/>
                  <a:gd name="T22" fmla="*/ 0 w 55"/>
                  <a:gd name="T23" fmla="*/ 0 h 157"/>
                  <a:gd name="T24" fmla="*/ 0 w 55"/>
                  <a:gd name="T25" fmla="*/ 0 h 157"/>
                  <a:gd name="T26" fmla="*/ 0 w 55"/>
                  <a:gd name="T27" fmla="*/ 0 h 157"/>
                  <a:gd name="T28" fmla="*/ 0 w 55"/>
                  <a:gd name="T29" fmla="*/ 0 h 157"/>
                  <a:gd name="T30" fmla="*/ 0 w 55"/>
                  <a:gd name="T31" fmla="*/ 0 h 157"/>
                  <a:gd name="T32" fmla="*/ 0 w 55"/>
                  <a:gd name="T33" fmla="*/ 0 h 1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157"/>
                  <a:gd name="T53" fmla="*/ 55 w 55"/>
                  <a:gd name="T54" fmla="*/ 157 h 1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157">
                    <a:moveTo>
                      <a:pt x="0" y="74"/>
                    </a:moveTo>
                    <a:lnTo>
                      <a:pt x="1" y="90"/>
                    </a:lnTo>
                    <a:lnTo>
                      <a:pt x="5" y="109"/>
                    </a:lnTo>
                    <a:lnTo>
                      <a:pt x="11" y="129"/>
                    </a:lnTo>
                    <a:lnTo>
                      <a:pt x="21" y="152"/>
                    </a:lnTo>
                    <a:lnTo>
                      <a:pt x="24" y="157"/>
                    </a:lnTo>
                    <a:lnTo>
                      <a:pt x="29" y="108"/>
                    </a:lnTo>
                    <a:lnTo>
                      <a:pt x="32" y="85"/>
                    </a:lnTo>
                    <a:lnTo>
                      <a:pt x="36" y="65"/>
                    </a:lnTo>
                    <a:lnTo>
                      <a:pt x="40" y="46"/>
                    </a:lnTo>
                    <a:lnTo>
                      <a:pt x="44" y="29"/>
                    </a:lnTo>
                    <a:lnTo>
                      <a:pt x="55" y="0"/>
                    </a:lnTo>
                    <a:lnTo>
                      <a:pt x="17" y="0"/>
                    </a:lnTo>
                    <a:lnTo>
                      <a:pt x="9" y="15"/>
                    </a:lnTo>
                    <a:lnTo>
                      <a:pt x="4" y="33"/>
                    </a:lnTo>
                    <a:lnTo>
                      <a:pt x="1" y="52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AEAE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7" name="Freeform 418"/>
              <p:cNvSpPr>
                <a:spLocks/>
              </p:cNvSpPr>
              <p:nvPr/>
            </p:nvSpPr>
            <p:spPr bwMode="auto">
              <a:xfrm>
                <a:off x="1621" y="1115"/>
                <a:ext cx="23" cy="134"/>
              </a:xfrm>
              <a:custGeom>
                <a:avLst/>
                <a:gdLst>
                  <a:gd name="T0" fmla="*/ 0 w 95"/>
                  <a:gd name="T1" fmla="*/ 0 h 857"/>
                  <a:gd name="T2" fmla="*/ 0 w 95"/>
                  <a:gd name="T3" fmla="*/ 0 h 857"/>
                  <a:gd name="T4" fmla="*/ 0 w 95"/>
                  <a:gd name="T5" fmla="*/ 0 h 857"/>
                  <a:gd name="T6" fmla="*/ 0 w 95"/>
                  <a:gd name="T7" fmla="*/ 0 h 857"/>
                  <a:gd name="T8" fmla="*/ 0 w 95"/>
                  <a:gd name="T9" fmla="*/ 0 h 857"/>
                  <a:gd name="T10" fmla="*/ 0 w 95"/>
                  <a:gd name="T11" fmla="*/ 0 h 857"/>
                  <a:gd name="T12" fmla="*/ 0 w 95"/>
                  <a:gd name="T13" fmla="*/ 0 h 857"/>
                  <a:gd name="T14" fmla="*/ 0 w 95"/>
                  <a:gd name="T15" fmla="*/ 0 h 857"/>
                  <a:gd name="T16" fmla="*/ 0 w 95"/>
                  <a:gd name="T17" fmla="*/ 0 h 857"/>
                  <a:gd name="T18" fmla="*/ 0 w 95"/>
                  <a:gd name="T19" fmla="*/ 0 h 857"/>
                  <a:gd name="T20" fmla="*/ 0 w 95"/>
                  <a:gd name="T21" fmla="*/ 0 h 857"/>
                  <a:gd name="T22" fmla="*/ 0 w 95"/>
                  <a:gd name="T23" fmla="*/ 0 h 857"/>
                  <a:gd name="T24" fmla="*/ 0 w 95"/>
                  <a:gd name="T25" fmla="*/ 0 h 857"/>
                  <a:gd name="T26" fmla="*/ 0 w 95"/>
                  <a:gd name="T27" fmla="*/ 0 h 857"/>
                  <a:gd name="T28" fmla="*/ 0 w 95"/>
                  <a:gd name="T29" fmla="*/ 0 h 857"/>
                  <a:gd name="T30" fmla="*/ 0 w 95"/>
                  <a:gd name="T31" fmla="*/ 0 h 857"/>
                  <a:gd name="T32" fmla="*/ 0 w 95"/>
                  <a:gd name="T33" fmla="*/ 0 h 857"/>
                  <a:gd name="T34" fmla="*/ 0 w 95"/>
                  <a:gd name="T35" fmla="*/ 0 h 857"/>
                  <a:gd name="T36" fmla="*/ 0 w 95"/>
                  <a:gd name="T37" fmla="*/ 0 h 857"/>
                  <a:gd name="T38" fmla="*/ 0 w 95"/>
                  <a:gd name="T39" fmla="*/ 0 h 857"/>
                  <a:gd name="T40" fmla="*/ 0 w 95"/>
                  <a:gd name="T41" fmla="*/ 0 h 857"/>
                  <a:gd name="T42" fmla="*/ 0 w 95"/>
                  <a:gd name="T43" fmla="*/ 0 h 857"/>
                  <a:gd name="T44" fmla="*/ 0 w 95"/>
                  <a:gd name="T45" fmla="*/ 0 h 857"/>
                  <a:gd name="T46" fmla="*/ 0 w 95"/>
                  <a:gd name="T47" fmla="*/ 0 h 857"/>
                  <a:gd name="T48" fmla="*/ 0 w 95"/>
                  <a:gd name="T49" fmla="*/ 0 h 857"/>
                  <a:gd name="T50" fmla="*/ 0 w 95"/>
                  <a:gd name="T51" fmla="*/ 0 h 857"/>
                  <a:gd name="T52" fmla="*/ 0 w 95"/>
                  <a:gd name="T53" fmla="*/ 0 h 857"/>
                  <a:gd name="T54" fmla="*/ 0 w 95"/>
                  <a:gd name="T55" fmla="*/ 0 h 857"/>
                  <a:gd name="T56" fmla="*/ 0 w 95"/>
                  <a:gd name="T57" fmla="*/ 0 h 857"/>
                  <a:gd name="T58" fmla="*/ 0 w 95"/>
                  <a:gd name="T59" fmla="*/ 0 h 857"/>
                  <a:gd name="T60" fmla="*/ 0 w 95"/>
                  <a:gd name="T61" fmla="*/ 0 h 857"/>
                  <a:gd name="T62" fmla="*/ 0 w 95"/>
                  <a:gd name="T63" fmla="*/ 0 h 857"/>
                  <a:gd name="T64" fmla="*/ 0 w 95"/>
                  <a:gd name="T65" fmla="*/ 0 h 857"/>
                  <a:gd name="T66" fmla="*/ 0 w 95"/>
                  <a:gd name="T67" fmla="*/ 0 h 857"/>
                  <a:gd name="T68" fmla="*/ 0 w 95"/>
                  <a:gd name="T69" fmla="*/ 0 h 857"/>
                  <a:gd name="T70" fmla="*/ 0 w 95"/>
                  <a:gd name="T71" fmla="*/ 0 h 857"/>
                  <a:gd name="T72" fmla="*/ 0 w 95"/>
                  <a:gd name="T73" fmla="*/ 0 h 857"/>
                  <a:gd name="T74" fmla="*/ 0 w 95"/>
                  <a:gd name="T75" fmla="*/ 0 h 857"/>
                  <a:gd name="T76" fmla="*/ 0 w 95"/>
                  <a:gd name="T77" fmla="*/ 0 h 857"/>
                  <a:gd name="T78" fmla="*/ 0 w 95"/>
                  <a:gd name="T79" fmla="*/ 0 h 857"/>
                  <a:gd name="T80" fmla="*/ 0 w 95"/>
                  <a:gd name="T81" fmla="*/ 0 h 857"/>
                  <a:gd name="T82" fmla="*/ 0 w 95"/>
                  <a:gd name="T83" fmla="*/ 0 h 857"/>
                  <a:gd name="T84" fmla="*/ 0 w 95"/>
                  <a:gd name="T85" fmla="*/ 0 h 857"/>
                  <a:gd name="T86" fmla="*/ 0 w 95"/>
                  <a:gd name="T87" fmla="*/ 0 h 857"/>
                  <a:gd name="T88" fmla="*/ 0 w 95"/>
                  <a:gd name="T89" fmla="*/ 0 h 857"/>
                  <a:gd name="T90" fmla="*/ 0 w 95"/>
                  <a:gd name="T91" fmla="*/ 0 h 857"/>
                  <a:gd name="T92" fmla="*/ 0 w 95"/>
                  <a:gd name="T93" fmla="*/ 0 h 857"/>
                  <a:gd name="T94" fmla="*/ 0 w 95"/>
                  <a:gd name="T95" fmla="*/ 0 h 857"/>
                  <a:gd name="T96" fmla="*/ 0 w 95"/>
                  <a:gd name="T97" fmla="*/ 0 h 857"/>
                  <a:gd name="T98" fmla="*/ 0 w 95"/>
                  <a:gd name="T99" fmla="*/ 0 h 857"/>
                  <a:gd name="T100" fmla="*/ 0 w 95"/>
                  <a:gd name="T101" fmla="*/ 0 h 857"/>
                  <a:gd name="T102" fmla="*/ 0 w 95"/>
                  <a:gd name="T103" fmla="*/ 0 h 857"/>
                  <a:gd name="T104" fmla="*/ 0 w 95"/>
                  <a:gd name="T105" fmla="*/ 0 h 857"/>
                  <a:gd name="T106" fmla="*/ 0 w 95"/>
                  <a:gd name="T107" fmla="*/ 0 h 85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5"/>
                  <a:gd name="T163" fmla="*/ 0 h 857"/>
                  <a:gd name="T164" fmla="*/ 95 w 95"/>
                  <a:gd name="T165" fmla="*/ 857 h 857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5" h="857">
                    <a:moveTo>
                      <a:pt x="40" y="0"/>
                    </a:moveTo>
                    <a:lnTo>
                      <a:pt x="29" y="29"/>
                    </a:lnTo>
                    <a:lnTo>
                      <a:pt x="25" y="46"/>
                    </a:lnTo>
                    <a:lnTo>
                      <a:pt x="21" y="65"/>
                    </a:lnTo>
                    <a:lnTo>
                      <a:pt x="17" y="85"/>
                    </a:lnTo>
                    <a:lnTo>
                      <a:pt x="14" y="108"/>
                    </a:lnTo>
                    <a:lnTo>
                      <a:pt x="9" y="157"/>
                    </a:lnTo>
                    <a:lnTo>
                      <a:pt x="6" y="183"/>
                    </a:lnTo>
                    <a:lnTo>
                      <a:pt x="4" y="212"/>
                    </a:lnTo>
                    <a:lnTo>
                      <a:pt x="4" y="521"/>
                    </a:lnTo>
                    <a:lnTo>
                      <a:pt x="1" y="593"/>
                    </a:lnTo>
                    <a:lnTo>
                      <a:pt x="0" y="666"/>
                    </a:lnTo>
                    <a:lnTo>
                      <a:pt x="1" y="738"/>
                    </a:lnTo>
                    <a:lnTo>
                      <a:pt x="4" y="812"/>
                    </a:lnTo>
                    <a:lnTo>
                      <a:pt x="8" y="857"/>
                    </a:lnTo>
                    <a:lnTo>
                      <a:pt x="21" y="852"/>
                    </a:lnTo>
                    <a:lnTo>
                      <a:pt x="32" y="847"/>
                    </a:lnTo>
                    <a:lnTo>
                      <a:pt x="35" y="847"/>
                    </a:lnTo>
                    <a:lnTo>
                      <a:pt x="43" y="841"/>
                    </a:lnTo>
                    <a:lnTo>
                      <a:pt x="50" y="837"/>
                    </a:lnTo>
                    <a:lnTo>
                      <a:pt x="52" y="835"/>
                    </a:lnTo>
                    <a:lnTo>
                      <a:pt x="52" y="834"/>
                    </a:lnTo>
                    <a:lnTo>
                      <a:pt x="53" y="834"/>
                    </a:lnTo>
                    <a:lnTo>
                      <a:pt x="55" y="834"/>
                    </a:lnTo>
                    <a:lnTo>
                      <a:pt x="59" y="832"/>
                    </a:lnTo>
                    <a:lnTo>
                      <a:pt x="57" y="765"/>
                    </a:lnTo>
                    <a:lnTo>
                      <a:pt x="57" y="699"/>
                    </a:lnTo>
                    <a:lnTo>
                      <a:pt x="58" y="632"/>
                    </a:lnTo>
                    <a:lnTo>
                      <a:pt x="61" y="566"/>
                    </a:lnTo>
                    <a:lnTo>
                      <a:pt x="61" y="561"/>
                    </a:lnTo>
                    <a:lnTo>
                      <a:pt x="61" y="556"/>
                    </a:lnTo>
                    <a:lnTo>
                      <a:pt x="61" y="547"/>
                    </a:lnTo>
                    <a:lnTo>
                      <a:pt x="61" y="538"/>
                    </a:lnTo>
                    <a:lnTo>
                      <a:pt x="61" y="525"/>
                    </a:lnTo>
                    <a:lnTo>
                      <a:pt x="61" y="510"/>
                    </a:lnTo>
                    <a:lnTo>
                      <a:pt x="61" y="493"/>
                    </a:lnTo>
                    <a:lnTo>
                      <a:pt x="61" y="474"/>
                    </a:lnTo>
                    <a:lnTo>
                      <a:pt x="61" y="451"/>
                    </a:lnTo>
                    <a:lnTo>
                      <a:pt x="61" y="428"/>
                    </a:lnTo>
                    <a:lnTo>
                      <a:pt x="61" y="401"/>
                    </a:lnTo>
                    <a:lnTo>
                      <a:pt x="61" y="373"/>
                    </a:lnTo>
                    <a:lnTo>
                      <a:pt x="61" y="342"/>
                    </a:lnTo>
                    <a:lnTo>
                      <a:pt x="61" y="309"/>
                    </a:lnTo>
                    <a:lnTo>
                      <a:pt x="61" y="274"/>
                    </a:lnTo>
                    <a:lnTo>
                      <a:pt x="61" y="237"/>
                    </a:lnTo>
                    <a:lnTo>
                      <a:pt x="63" y="197"/>
                    </a:lnTo>
                    <a:lnTo>
                      <a:pt x="66" y="161"/>
                    </a:lnTo>
                    <a:lnTo>
                      <a:pt x="69" y="127"/>
                    </a:lnTo>
                    <a:lnTo>
                      <a:pt x="73" y="97"/>
                    </a:lnTo>
                    <a:lnTo>
                      <a:pt x="77" y="68"/>
                    </a:lnTo>
                    <a:lnTo>
                      <a:pt x="82" y="42"/>
                    </a:lnTo>
                    <a:lnTo>
                      <a:pt x="88" y="19"/>
                    </a:lnTo>
                    <a:lnTo>
                      <a:pt x="95" y="0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558" name="Line 419"/>
              <p:cNvSpPr>
                <a:spLocks noChangeShapeType="1"/>
              </p:cNvSpPr>
              <p:nvPr/>
            </p:nvSpPr>
            <p:spPr bwMode="auto">
              <a:xfrm flipV="1">
                <a:off x="1648" y="1115"/>
                <a:ext cx="0" cy="12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59" name="Line 420"/>
              <p:cNvSpPr>
                <a:spLocks noChangeShapeType="1"/>
              </p:cNvSpPr>
              <p:nvPr/>
            </p:nvSpPr>
            <p:spPr bwMode="auto">
              <a:xfrm>
                <a:off x="1542" y="1115"/>
                <a:ext cx="0" cy="121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0" name="Freeform 421"/>
              <p:cNvSpPr>
                <a:spLocks/>
              </p:cNvSpPr>
              <p:nvPr/>
            </p:nvSpPr>
            <p:spPr bwMode="auto">
              <a:xfrm>
                <a:off x="1548" y="1073"/>
                <a:ext cx="93" cy="37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16" y="204"/>
                    </a:move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1" name="Line 422"/>
              <p:cNvSpPr>
                <a:spLocks noChangeShapeType="1"/>
              </p:cNvSpPr>
              <p:nvPr/>
            </p:nvSpPr>
            <p:spPr bwMode="auto">
              <a:xfrm flipV="1">
                <a:off x="1617" y="1064"/>
                <a:ext cx="0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2" name="Freeform 423"/>
              <p:cNvSpPr>
                <a:spLocks/>
              </p:cNvSpPr>
              <p:nvPr/>
            </p:nvSpPr>
            <p:spPr bwMode="auto">
              <a:xfrm>
                <a:off x="1509" y="1065"/>
                <a:ext cx="183" cy="74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622" y="403"/>
                    </a:move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563" name="Freeform 424"/>
              <p:cNvSpPr>
                <a:spLocks/>
              </p:cNvSpPr>
              <p:nvPr/>
            </p:nvSpPr>
            <p:spPr bwMode="auto">
              <a:xfrm>
                <a:off x="1507" y="1065"/>
                <a:ext cx="183" cy="74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730" y="236"/>
                    </a:move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4" name="Freeform 425"/>
              <p:cNvSpPr>
                <a:spLocks/>
              </p:cNvSpPr>
              <p:nvPr/>
            </p:nvSpPr>
            <p:spPr bwMode="auto">
              <a:xfrm>
                <a:off x="1556" y="1066"/>
                <a:ext cx="93" cy="37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71" y="120"/>
                    </a:move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5" name="Freeform 426"/>
              <p:cNvSpPr>
                <a:spLocks/>
              </p:cNvSpPr>
              <p:nvPr/>
            </p:nvSpPr>
            <p:spPr bwMode="auto">
              <a:xfrm>
                <a:off x="1577" y="1064"/>
                <a:ext cx="51" cy="19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29" y="18"/>
                    </a:move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566" name="Freeform 427"/>
              <p:cNvSpPr>
                <a:spLocks/>
              </p:cNvSpPr>
              <p:nvPr/>
            </p:nvSpPr>
            <p:spPr bwMode="auto">
              <a:xfrm>
                <a:off x="1577" y="1064"/>
                <a:ext cx="51" cy="19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0" y="61"/>
                    </a:move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</p:grpSp>
        <p:grpSp>
          <p:nvGrpSpPr>
            <p:cNvPr id="15381" name="Group 428"/>
            <p:cNvGrpSpPr>
              <a:grpSpLocks/>
            </p:cNvGrpSpPr>
            <p:nvPr/>
          </p:nvGrpSpPr>
          <p:grpSpPr bwMode="auto">
            <a:xfrm>
              <a:off x="2641" y="936"/>
              <a:ext cx="911" cy="1512"/>
              <a:chOff x="1152" y="696"/>
              <a:chExt cx="911" cy="2412"/>
            </a:xfrm>
          </p:grpSpPr>
          <p:sp>
            <p:nvSpPr>
              <p:cNvPr id="15781" name="Freeform 429"/>
              <p:cNvSpPr>
                <a:spLocks/>
              </p:cNvSpPr>
              <p:nvPr/>
            </p:nvSpPr>
            <p:spPr bwMode="auto">
              <a:xfrm>
                <a:off x="1703" y="696"/>
                <a:ext cx="336" cy="115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2" name="Freeform 430"/>
              <p:cNvSpPr>
                <a:spLocks/>
              </p:cNvSpPr>
              <p:nvPr/>
            </p:nvSpPr>
            <p:spPr bwMode="auto">
              <a:xfrm>
                <a:off x="1608" y="910"/>
                <a:ext cx="324" cy="8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3" name="Freeform 431"/>
              <p:cNvSpPr>
                <a:spLocks/>
              </p:cNvSpPr>
              <p:nvPr/>
            </p:nvSpPr>
            <p:spPr bwMode="auto">
              <a:xfrm>
                <a:off x="1272" y="910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4" name="Freeform 432"/>
              <p:cNvSpPr>
                <a:spLocks/>
              </p:cNvSpPr>
              <p:nvPr/>
            </p:nvSpPr>
            <p:spPr bwMode="auto">
              <a:xfrm>
                <a:off x="1608" y="2543"/>
                <a:ext cx="324" cy="106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2"/>
                    </a:lnTo>
                    <a:lnTo>
                      <a:pt x="709" y="229"/>
                    </a:lnTo>
                    <a:lnTo>
                      <a:pt x="767" y="249"/>
                    </a:lnTo>
                    <a:lnTo>
                      <a:pt x="823" y="269"/>
                    </a:lnTo>
                    <a:lnTo>
                      <a:pt x="879" y="292"/>
                    </a:lnTo>
                    <a:lnTo>
                      <a:pt x="934" y="315"/>
                    </a:lnTo>
                    <a:lnTo>
                      <a:pt x="988" y="342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30"/>
                    </a:lnTo>
                    <a:lnTo>
                      <a:pt x="1285" y="322"/>
                    </a:lnTo>
                    <a:lnTo>
                      <a:pt x="1274" y="315"/>
                    </a:lnTo>
                    <a:lnTo>
                      <a:pt x="1169" y="259"/>
                    </a:lnTo>
                    <a:lnTo>
                      <a:pt x="1106" y="226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5" name="Freeform 433"/>
              <p:cNvSpPr>
                <a:spLocks/>
              </p:cNvSpPr>
              <p:nvPr/>
            </p:nvSpPr>
            <p:spPr bwMode="auto">
              <a:xfrm>
                <a:off x="1272" y="2543"/>
                <a:ext cx="336" cy="115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40"/>
                    </a:lnTo>
                    <a:lnTo>
                      <a:pt x="425" y="313"/>
                    </a:lnTo>
                    <a:lnTo>
                      <a:pt x="482" y="288"/>
                    </a:lnTo>
                    <a:lnTo>
                      <a:pt x="542" y="265"/>
                    </a:lnTo>
                    <a:lnTo>
                      <a:pt x="601" y="242"/>
                    </a:lnTo>
                    <a:lnTo>
                      <a:pt x="663" y="223"/>
                    </a:lnTo>
                    <a:lnTo>
                      <a:pt x="725" y="205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6" name="Freeform 434"/>
              <p:cNvSpPr>
                <a:spLocks/>
              </p:cNvSpPr>
              <p:nvPr/>
            </p:nvSpPr>
            <p:spPr bwMode="auto">
              <a:xfrm>
                <a:off x="1608" y="2576"/>
                <a:ext cx="285" cy="96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9"/>
                    </a:lnTo>
                    <a:lnTo>
                      <a:pt x="2" y="128"/>
                    </a:lnTo>
                    <a:lnTo>
                      <a:pt x="5" y="129"/>
                    </a:lnTo>
                    <a:lnTo>
                      <a:pt x="7" y="129"/>
                    </a:lnTo>
                    <a:lnTo>
                      <a:pt x="66" y="128"/>
                    </a:lnTo>
                    <a:lnTo>
                      <a:pt x="125" y="130"/>
                    </a:lnTo>
                    <a:lnTo>
                      <a:pt x="183" y="133"/>
                    </a:lnTo>
                    <a:lnTo>
                      <a:pt x="241" y="138"/>
                    </a:lnTo>
                    <a:lnTo>
                      <a:pt x="297" y="143"/>
                    </a:lnTo>
                    <a:lnTo>
                      <a:pt x="353" y="151"/>
                    </a:lnTo>
                    <a:lnTo>
                      <a:pt x="407" y="160"/>
                    </a:lnTo>
                    <a:lnTo>
                      <a:pt x="462" y="172"/>
                    </a:lnTo>
                    <a:lnTo>
                      <a:pt x="514" y="183"/>
                    </a:lnTo>
                    <a:lnTo>
                      <a:pt x="567" y="197"/>
                    </a:lnTo>
                    <a:lnTo>
                      <a:pt x="618" y="212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7" name="Freeform 435"/>
              <p:cNvSpPr>
                <a:spLocks/>
              </p:cNvSpPr>
              <p:nvPr/>
            </p:nvSpPr>
            <p:spPr bwMode="auto">
              <a:xfrm>
                <a:off x="1608" y="2607"/>
                <a:ext cx="247" cy="89"/>
              </a:xfrm>
              <a:custGeom>
                <a:avLst/>
                <a:gdLst>
                  <a:gd name="T0" fmla="*/ 0 w 991"/>
                  <a:gd name="T1" fmla="*/ 0 h 355"/>
                  <a:gd name="T2" fmla="*/ 0 w 991"/>
                  <a:gd name="T3" fmla="*/ 0 h 355"/>
                  <a:gd name="T4" fmla="*/ 0 w 991"/>
                  <a:gd name="T5" fmla="*/ 0 h 355"/>
                  <a:gd name="T6" fmla="*/ 0 w 991"/>
                  <a:gd name="T7" fmla="*/ 0 h 355"/>
                  <a:gd name="T8" fmla="*/ 0 w 991"/>
                  <a:gd name="T9" fmla="*/ 0 h 355"/>
                  <a:gd name="T10" fmla="*/ 0 w 991"/>
                  <a:gd name="T11" fmla="*/ 0 h 355"/>
                  <a:gd name="T12" fmla="*/ 0 w 991"/>
                  <a:gd name="T13" fmla="*/ 0 h 355"/>
                  <a:gd name="T14" fmla="*/ 0 w 991"/>
                  <a:gd name="T15" fmla="*/ 0 h 355"/>
                  <a:gd name="T16" fmla="*/ 0 w 991"/>
                  <a:gd name="T17" fmla="*/ 0 h 355"/>
                  <a:gd name="T18" fmla="*/ 0 w 991"/>
                  <a:gd name="T19" fmla="*/ 0 h 355"/>
                  <a:gd name="T20" fmla="*/ 0 w 991"/>
                  <a:gd name="T21" fmla="*/ 0 h 355"/>
                  <a:gd name="T22" fmla="*/ 0 w 991"/>
                  <a:gd name="T23" fmla="*/ 0 h 355"/>
                  <a:gd name="T24" fmla="*/ 0 w 991"/>
                  <a:gd name="T25" fmla="*/ 0 h 355"/>
                  <a:gd name="T26" fmla="*/ 0 w 991"/>
                  <a:gd name="T27" fmla="*/ 0 h 355"/>
                  <a:gd name="T28" fmla="*/ 0 w 991"/>
                  <a:gd name="T29" fmla="*/ 0 h 355"/>
                  <a:gd name="T30" fmla="*/ 0 w 991"/>
                  <a:gd name="T31" fmla="*/ 0 h 355"/>
                  <a:gd name="T32" fmla="*/ 0 w 991"/>
                  <a:gd name="T33" fmla="*/ 0 h 355"/>
                  <a:gd name="T34" fmla="*/ 0 w 991"/>
                  <a:gd name="T35" fmla="*/ 0 h 355"/>
                  <a:gd name="T36" fmla="*/ 0 w 991"/>
                  <a:gd name="T37" fmla="*/ 0 h 355"/>
                  <a:gd name="T38" fmla="*/ 0 w 991"/>
                  <a:gd name="T39" fmla="*/ 0 h 355"/>
                  <a:gd name="T40" fmla="*/ 0 w 991"/>
                  <a:gd name="T41" fmla="*/ 0 h 355"/>
                  <a:gd name="T42" fmla="*/ 0 w 991"/>
                  <a:gd name="T43" fmla="*/ 0 h 355"/>
                  <a:gd name="T44" fmla="*/ 0 w 991"/>
                  <a:gd name="T45" fmla="*/ 0 h 355"/>
                  <a:gd name="T46" fmla="*/ 0 w 991"/>
                  <a:gd name="T47" fmla="*/ 0 h 355"/>
                  <a:gd name="T48" fmla="*/ 0 w 991"/>
                  <a:gd name="T49" fmla="*/ 0 h 355"/>
                  <a:gd name="T50" fmla="*/ 0 w 991"/>
                  <a:gd name="T51" fmla="*/ 0 h 355"/>
                  <a:gd name="T52" fmla="*/ 0 w 991"/>
                  <a:gd name="T53" fmla="*/ 0 h 355"/>
                  <a:gd name="T54" fmla="*/ 0 w 991"/>
                  <a:gd name="T55" fmla="*/ 0 h 355"/>
                  <a:gd name="T56" fmla="*/ 0 w 991"/>
                  <a:gd name="T57" fmla="*/ 0 h 355"/>
                  <a:gd name="T58" fmla="*/ 0 w 991"/>
                  <a:gd name="T59" fmla="*/ 0 h 355"/>
                  <a:gd name="T60" fmla="*/ 0 w 991"/>
                  <a:gd name="T61" fmla="*/ 0 h 355"/>
                  <a:gd name="T62" fmla="*/ 0 w 991"/>
                  <a:gd name="T63" fmla="*/ 0 h 355"/>
                  <a:gd name="T64" fmla="*/ 0 w 991"/>
                  <a:gd name="T65" fmla="*/ 0 h 355"/>
                  <a:gd name="T66" fmla="*/ 0 w 991"/>
                  <a:gd name="T67" fmla="*/ 0 h 355"/>
                  <a:gd name="T68" fmla="*/ 0 w 991"/>
                  <a:gd name="T69" fmla="*/ 0 h 355"/>
                  <a:gd name="T70" fmla="*/ 0 w 991"/>
                  <a:gd name="T71" fmla="*/ 0 h 355"/>
                  <a:gd name="T72" fmla="*/ 0 w 991"/>
                  <a:gd name="T73" fmla="*/ 0 h 355"/>
                  <a:gd name="T74" fmla="*/ 0 w 991"/>
                  <a:gd name="T75" fmla="*/ 0 h 355"/>
                  <a:gd name="T76" fmla="*/ 0 w 991"/>
                  <a:gd name="T77" fmla="*/ 0 h 355"/>
                  <a:gd name="T78" fmla="*/ 0 w 991"/>
                  <a:gd name="T79" fmla="*/ 0 h 355"/>
                  <a:gd name="T80" fmla="*/ 0 w 991"/>
                  <a:gd name="T81" fmla="*/ 0 h 355"/>
                  <a:gd name="T82" fmla="*/ 0 w 991"/>
                  <a:gd name="T83" fmla="*/ 0 h 355"/>
                  <a:gd name="T84" fmla="*/ 0 w 991"/>
                  <a:gd name="T85" fmla="*/ 0 h 355"/>
                  <a:gd name="T86" fmla="*/ 0 w 991"/>
                  <a:gd name="T87" fmla="*/ 0 h 355"/>
                  <a:gd name="T88" fmla="*/ 0 w 991"/>
                  <a:gd name="T89" fmla="*/ 0 h 355"/>
                  <a:gd name="T90" fmla="*/ 0 w 991"/>
                  <a:gd name="T91" fmla="*/ 0 h 355"/>
                  <a:gd name="T92" fmla="*/ 0 w 991"/>
                  <a:gd name="T93" fmla="*/ 0 h 355"/>
                  <a:gd name="T94" fmla="*/ 0 w 991"/>
                  <a:gd name="T95" fmla="*/ 0 h 355"/>
                  <a:gd name="T96" fmla="*/ 0 w 991"/>
                  <a:gd name="T97" fmla="*/ 0 h 35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5"/>
                  <a:gd name="T149" fmla="*/ 991 w 991"/>
                  <a:gd name="T150" fmla="*/ 355 h 35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5">
                    <a:moveTo>
                      <a:pt x="0" y="127"/>
                    </a:moveTo>
                    <a:lnTo>
                      <a:pt x="3" y="127"/>
                    </a:lnTo>
                    <a:lnTo>
                      <a:pt x="56" y="127"/>
                    </a:lnTo>
                    <a:lnTo>
                      <a:pt x="109" y="129"/>
                    </a:lnTo>
                    <a:lnTo>
                      <a:pt x="160" y="132"/>
                    </a:lnTo>
                    <a:lnTo>
                      <a:pt x="211" y="137"/>
                    </a:lnTo>
                    <a:lnTo>
                      <a:pt x="213" y="137"/>
                    </a:lnTo>
                    <a:lnTo>
                      <a:pt x="281" y="145"/>
                    </a:lnTo>
                    <a:lnTo>
                      <a:pt x="314" y="150"/>
                    </a:lnTo>
                    <a:lnTo>
                      <a:pt x="348" y="157"/>
                    </a:lnTo>
                    <a:lnTo>
                      <a:pt x="380" y="163"/>
                    </a:lnTo>
                    <a:lnTo>
                      <a:pt x="413" y="171"/>
                    </a:lnTo>
                    <a:lnTo>
                      <a:pt x="477" y="188"/>
                    </a:lnTo>
                    <a:lnTo>
                      <a:pt x="538" y="207"/>
                    </a:lnTo>
                    <a:lnTo>
                      <a:pt x="599" y="229"/>
                    </a:lnTo>
                    <a:lnTo>
                      <a:pt x="658" y="254"/>
                    </a:lnTo>
                    <a:lnTo>
                      <a:pt x="686" y="267"/>
                    </a:lnTo>
                    <a:lnTo>
                      <a:pt x="715" y="282"/>
                    </a:lnTo>
                    <a:lnTo>
                      <a:pt x="761" y="308"/>
                    </a:lnTo>
                    <a:lnTo>
                      <a:pt x="763" y="310"/>
                    </a:lnTo>
                    <a:lnTo>
                      <a:pt x="801" y="333"/>
                    </a:lnTo>
                    <a:lnTo>
                      <a:pt x="837" y="355"/>
                    </a:lnTo>
                    <a:lnTo>
                      <a:pt x="991" y="260"/>
                    </a:lnTo>
                    <a:lnTo>
                      <a:pt x="953" y="237"/>
                    </a:lnTo>
                    <a:lnTo>
                      <a:pt x="948" y="235"/>
                    </a:lnTo>
                    <a:lnTo>
                      <a:pt x="928" y="222"/>
                    </a:lnTo>
                    <a:lnTo>
                      <a:pt x="915" y="212"/>
                    </a:lnTo>
                    <a:lnTo>
                      <a:pt x="902" y="205"/>
                    </a:lnTo>
                    <a:lnTo>
                      <a:pt x="862" y="185"/>
                    </a:lnTo>
                    <a:lnTo>
                      <a:pt x="814" y="161"/>
                    </a:lnTo>
                    <a:lnTo>
                      <a:pt x="767" y="140"/>
                    </a:lnTo>
                    <a:lnTo>
                      <a:pt x="718" y="119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8" name="Freeform 436"/>
              <p:cNvSpPr>
                <a:spLocks/>
              </p:cNvSpPr>
              <p:nvPr/>
            </p:nvSpPr>
            <p:spPr bwMode="auto">
              <a:xfrm>
                <a:off x="1608" y="2639"/>
                <a:ext cx="209" cy="82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9" name="Freeform 437"/>
              <p:cNvSpPr>
                <a:spLocks/>
              </p:cNvSpPr>
              <p:nvPr/>
            </p:nvSpPr>
            <p:spPr bwMode="auto">
              <a:xfrm>
                <a:off x="1351" y="2607"/>
                <a:ext cx="257" cy="95"/>
              </a:xfrm>
              <a:custGeom>
                <a:avLst/>
                <a:gdLst>
                  <a:gd name="T0" fmla="*/ 0 w 1029"/>
                  <a:gd name="T1" fmla="*/ 0 h 380"/>
                  <a:gd name="T2" fmla="*/ 0 w 1029"/>
                  <a:gd name="T3" fmla="*/ 0 h 380"/>
                  <a:gd name="T4" fmla="*/ 0 w 1029"/>
                  <a:gd name="T5" fmla="*/ 0 h 380"/>
                  <a:gd name="T6" fmla="*/ 0 w 1029"/>
                  <a:gd name="T7" fmla="*/ 0 h 380"/>
                  <a:gd name="T8" fmla="*/ 0 w 1029"/>
                  <a:gd name="T9" fmla="*/ 0 h 380"/>
                  <a:gd name="T10" fmla="*/ 0 w 1029"/>
                  <a:gd name="T11" fmla="*/ 0 h 380"/>
                  <a:gd name="T12" fmla="*/ 0 w 1029"/>
                  <a:gd name="T13" fmla="*/ 0 h 380"/>
                  <a:gd name="T14" fmla="*/ 0 w 1029"/>
                  <a:gd name="T15" fmla="*/ 0 h 380"/>
                  <a:gd name="T16" fmla="*/ 0 w 1029"/>
                  <a:gd name="T17" fmla="*/ 0 h 380"/>
                  <a:gd name="T18" fmla="*/ 0 w 1029"/>
                  <a:gd name="T19" fmla="*/ 0 h 380"/>
                  <a:gd name="T20" fmla="*/ 0 w 1029"/>
                  <a:gd name="T21" fmla="*/ 0 h 380"/>
                  <a:gd name="T22" fmla="*/ 0 w 1029"/>
                  <a:gd name="T23" fmla="*/ 0 h 380"/>
                  <a:gd name="T24" fmla="*/ 0 w 1029"/>
                  <a:gd name="T25" fmla="*/ 0 h 380"/>
                  <a:gd name="T26" fmla="*/ 0 w 1029"/>
                  <a:gd name="T27" fmla="*/ 0 h 380"/>
                  <a:gd name="T28" fmla="*/ 0 w 1029"/>
                  <a:gd name="T29" fmla="*/ 0 h 380"/>
                  <a:gd name="T30" fmla="*/ 0 w 1029"/>
                  <a:gd name="T31" fmla="*/ 0 h 380"/>
                  <a:gd name="T32" fmla="*/ 0 w 1029"/>
                  <a:gd name="T33" fmla="*/ 0 h 380"/>
                  <a:gd name="T34" fmla="*/ 0 w 1029"/>
                  <a:gd name="T35" fmla="*/ 0 h 380"/>
                  <a:gd name="T36" fmla="*/ 0 w 1029"/>
                  <a:gd name="T37" fmla="*/ 0 h 380"/>
                  <a:gd name="T38" fmla="*/ 0 w 1029"/>
                  <a:gd name="T39" fmla="*/ 0 h 380"/>
                  <a:gd name="T40" fmla="*/ 0 w 1029"/>
                  <a:gd name="T41" fmla="*/ 0 h 380"/>
                  <a:gd name="T42" fmla="*/ 0 w 1029"/>
                  <a:gd name="T43" fmla="*/ 0 h 380"/>
                  <a:gd name="T44" fmla="*/ 0 w 1029"/>
                  <a:gd name="T45" fmla="*/ 0 h 380"/>
                  <a:gd name="T46" fmla="*/ 0 w 1029"/>
                  <a:gd name="T47" fmla="*/ 0 h 380"/>
                  <a:gd name="T48" fmla="*/ 0 w 1029"/>
                  <a:gd name="T49" fmla="*/ 0 h 380"/>
                  <a:gd name="T50" fmla="*/ 0 w 1029"/>
                  <a:gd name="T51" fmla="*/ 0 h 380"/>
                  <a:gd name="T52" fmla="*/ 0 w 1029"/>
                  <a:gd name="T53" fmla="*/ 0 h 380"/>
                  <a:gd name="T54" fmla="*/ 0 w 1029"/>
                  <a:gd name="T55" fmla="*/ 0 h 380"/>
                  <a:gd name="T56" fmla="*/ 0 w 1029"/>
                  <a:gd name="T57" fmla="*/ 0 h 380"/>
                  <a:gd name="T58" fmla="*/ 0 w 1029"/>
                  <a:gd name="T59" fmla="*/ 0 h 380"/>
                  <a:gd name="T60" fmla="*/ 0 w 1029"/>
                  <a:gd name="T61" fmla="*/ 0 h 380"/>
                  <a:gd name="T62" fmla="*/ 0 w 1029"/>
                  <a:gd name="T63" fmla="*/ 0 h 380"/>
                  <a:gd name="T64" fmla="*/ 0 w 1029"/>
                  <a:gd name="T65" fmla="*/ 0 h 380"/>
                  <a:gd name="T66" fmla="*/ 0 w 1029"/>
                  <a:gd name="T67" fmla="*/ 0 h 380"/>
                  <a:gd name="T68" fmla="*/ 0 w 1029"/>
                  <a:gd name="T69" fmla="*/ 0 h 380"/>
                  <a:gd name="T70" fmla="*/ 0 w 1029"/>
                  <a:gd name="T71" fmla="*/ 0 h 380"/>
                  <a:gd name="T72" fmla="*/ 0 w 1029"/>
                  <a:gd name="T73" fmla="*/ 0 h 380"/>
                  <a:gd name="T74" fmla="*/ 0 w 1029"/>
                  <a:gd name="T75" fmla="*/ 0 h 380"/>
                  <a:gd name="T76" fmla="*/ 0 w 1029"/>
                  <a:gd name="T77" fmla="*/ 0 h 380"/>
                  <a:gd name="T78" fmla="*/ 0 w 1029"/>
                  <a:gd name="T79" fmla="*/ 0 h 380"/>
                  <a:gd name="T80" fmla="*/ 0 w 1029"/>
                  <a:gd name="T81" fmla="*/ 0 h 3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0"/>
                  <a:gd name="T125" fmla="*/ 1029 w 1029"/>
                  <a:gd name="T126" fmla="*/ 380 h 3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0">
                    <a:moveTo>
                      <a:pt x="1029" y="127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7"/>
                    </a:lnTo>
                    <a:lnTo>
                      <a:pt x="275" y="137"/>
                    </a:lnTo>
                    <a:lnTo>
                      <a:pt x="225" y="160"/>
                    </a:lnTo>
                    <a:lnTo>
                      <a:pt x="176" y="183"/>
                    </a:lnTo>
                    <a:lnTo>
                      <a:pt x="129" y="210"/>
                    </a:lnTo>
                    <a:lnTo>
                      <a:pt x="16" y="277"/>
                    </a:lnTo>
                    <a:lnTo>
                      <a:pt x="7" y="282"/>
                    </a:lnTo>
                    <a:lnTo>
                      <a:pt x="0" y="290"/>
                    </a:lnTo>
                    <a:lnTo>
                      <a:pt x="162" y="380"/>
                    </a:lnTo>
                    <a:lnTo>
                      <a:pt x="190" y="359"/>
                    </a:lnTo>
                    <a:lnTo>
                      <a:pt x="222" y="340"/>
                    </a:lnTo>
                    <a:lnTo>
                      <a:pt x="252" y="323"/>
                    </a:lnTo>
                    <a:lnTo>
                      <a:pt x="292" y="298"/>
                    </a:lnTo>
                    <a:lnTo>
                      <a:pt x="334" y="276"/>
                    </a:lnTo>
                    <a:lnTo>
                      <a:pt x="376" y="255"/>
                    </a:lnTo>
                    <a:lnTo>
                      <a:pt x="421" y="237"/>
                    </a:lnTo>
                    <a:lnTo>
                      <a:pt x="466" y="218"/>
                    </a:lnTo>
                    <a:lnTo>
                      <a:pt x="512" y="203"/>
                    </a:lnTo>
                    <a:lnTo>
                      <a:pt x="559" y="188"/>
                    </a:lnTo>
                    <a:lnTo>
                      <a:pt x="608" y="176"/>
                    </a:lnTo>
                    <a:lnTo>
                      <a:pt x="656" y="163"/>
                    </a:lnTo>
                    <a:lnTo>
                      <a:pt x="706" y="154"/>
                    </a:lnTo>
                    <a:lnTo>
                      <a:pt x="757" y="145"/>
                    </a:lnTo>
                    <a:lnTo>
                      <a:pt x="810" y="139"/>
                    </a:lnTo>
                    <a:lnTo>
                      <a:pt x="862" y="133"/>
                    </a:lnTo>
                    <a:lnTo>
                      <a:pt x="917" y="130"/>
                    </a:lnTo>
                    <a:lnTo>
                      <a:pt x="972" y="127"/>
                    </a:lnTo>
                    <a:lnTo>
                      <a:pt x="1029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0" name="Freeform 438"/>
              <p:cNvSpPr>
                <a:spLocks/>
              </p:cNvSpPr>
              <p:nvPr/>
            </p:nvSpPr>
            <p:spPr bwMode="auto">
              <a:xfrm>
                <a:off x="1312" y="2576"/>
                <a:ext cx="296" cy="104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9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9"/>
                    </a:lnTo>
                    <a:lnTo>
                      <a:pt x="640" y="193"/>
                    </a:lnTo>
                    <a:lnTo>
                      <a:pt x="697" y="180"/>
                    </a:lnTo>
                    <a:lnTo>
                      <a:pt x="753" y="167"/>
                    </a:lnTo>
                    <a:lnTo>
                      <a:pt x="811" y="157"/>
                    </a:lnTo>
                    <a:lnTo>
                      <a:pt x="869" y="148"/>
                    </a:lnTo>
                    <a:lnTo>
                      <a:pt x="930" y="141"/>
                    </a:lnTo>
                    <a:lnTo>
                      <a:pt x="990" y="134"/>
                    </a:lnTo>
                    <a:lnTo>
                      <a:pt x="1053" y="131"/>
                    </a:lnTo>
                    <a:lnTo>
                      <a:pt x="1116" y="128"/>
                    </a:lnTo>
                    <a:lnTo>
                      <a:pt x="1181" y="12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1" name="Freeform 439"/>
              <p:cNvSpPr>
                <a:spLocks noEditPoints="1"/>
              </p:cNvSpPr>
              <p:nvPr/>
            </p:nvSpPr>
            <p:spPr bwMode="auto">
              <a:xfrm>
                <a:off x="1383" y="2673"/>
                <a:ext cx="449" cy="280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5"/>
                    </a:lnTo>
                    <a:lnTo>
                      <a:pt x="88" y="805"/>
                    </a:lnTo>
                    <a:lnTo>
                      <a:pt x="113" y="833"/>
                    </a:lnTo>
                    <a:lnTo>
                      <a:pt x="142" y="862"/>
                    </a:lnTo>
                    <a:lnTo>
                      <a:pt x="157" y="875"/>
                    </a:lnTo>
                    <a:lnTo>
                      <a:pt x="174" y="889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6"/>
                    </a:lnTo>
                    <a:lnTo>
                      <a:pt x="1661" y="854"/>
                    </a:lnTo>
                    <a:lnTo>
                      <a:pt x="1693" y="822"/>
                    </a:lnTo>
                    <a:lnTo>
                      <a:pt x="1719" y="788"/>
                    </a:lnTo>
                    <a:lnTo>
                      <a:pt x="1743" y="754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92" name="Freeform 440"/>
              <p:cNvSpPr>
                <a:spLocks/>
              </p:cNvSpPr>
              <p:nvPr/>
            </p:nvSpPr>
            <p:spPr bwMode="auto">
              <a:xfrm>
                <a:off x="1608" y="2824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3" name="Freeform 441"/>
              <p:cNvSpPr>
                <a:spLocks/>
              </p:cNvSpPr>
              <p:nvPr/>
            </p:nvSpPr>
            <p:spPr bwMode="auto">
              <a:xfrm>
                <a:off x="1608" y="2825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4" name="Freeform 442"/>
              <p:cNvSpPr>
                <a:spLocks/>
              </p:cNvSpPr>
              <p:nvPr/>
            </p:nvSpPr>
            <p:spPr bwMode="auto">
              <a:xfrm>
                <a:off x="1391" y="2639"/>
                <a:ext cx="217" cy="87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5" name="Freeform 443"/>
              <p:cNvSpPr>
                <a:spLocks/>
              </p:cNvSpPr>
              <p:nvPr/>
            </p:nvSpPr>
            <p:spPr bwMode="auto">
              <a:xfrm>
                <a:off x="1893" y="2625"/>
                <a:ext cx="170" cy="200"/>
              </a:xfrm>
              <a:custGeom>
                <a:avLst/>
                <a:gdLst>
                  <a:gd name="T0" fmla="*/ 0 w 680"/>
                  <a:gd name="T1" fmla="*/ 0 h 798"/>
                  <a:gd name="T2" fmla="*/ 0 w 680"/>
                  <a:gd name="T3" fmla="*/ 0 h 798"/>
                  <a:gd name="T4" fmla="*/ 0 w 680"/>
                  <a:gd name="T5" fmla="*/ 0 h 798"/>
                  <a:gd name="T6" fmla="*/ 0 w 680"/>
                  <a:gd name="T7" fmla="*/ 0 h 798"/>
                  <a:gd name="T8" fmla="*/ 0 w 680"/>
                  <a:gd name="T9" fmla="*/ 0 h 798"/>
                  <a:gd name="T10" fmla="*/ 0 w 680"/>
                  <a:gd name="T11" fmla="*/ 0 h 798"/>
                  <a:gd name="T12" fmla="*/ 0 w 680"/>
                  <a:gd name="T13" fmla="*/ 0 h 798"/>
                  <a:gd name="T14" fmla="*/ 0 w 680"/>
                  <a:gd name="T15" fmla="*/ 0 h 798"/>
                  <a:gd name="T16" fmla="*/ 0 w 680"/>
                  <a:gd name="T17" fmla="*/ 0 h 798"/>
                  <a:gd name="T18" fmla="*/ 0 w 680"/>
                  <a:gd name="T19" fmla="*/ 0 h 798"/>
                  <a:gd name="T20" fmla="*/ 0 w 680"/>
                  <a:gd name="T21" fmla="*/ 0 h 798"/>
                  <a:gd name="T22" fmla="*/ 0 w 680"/>
                  <a:gd name="T23" fmla="*/ 0 h 798"/>
                  <a:gd name="T24" fmla="*/ 0 w 680"/>
                  <a:gd name="T25" fmla="*/ 0 h 798"/>
                  <a:gd name="T26" fmla="*/ 0 w 680"/>
                  <a:gd name="T27" fmla="*/ 0 h 798"/>
                  <a:gd name="T28" fmla="*/ 0 w 680"/>
                  <a:gd name="T29" fmla="*/ 0 h 798"/>
                  <a:gd name="T30" fmla="*/ 0 w 680"/>
                  <a:gd name="T31" fmla="*/ 0 h 798"/>
                  <a:gd name="T32" fmla="*/ 0 w 680"/>
                  <a:gd name="T33" fmla="*/ 0 h 798"/>
                  <a:gd name="T34" fmla="*/ 0 w 680"/>
                  <a:gd name="T35" fmla="*/ 0 h 798"/>
                  <a:gd name="T36" fmla="*/ 0 w 680"/>
                  <a:gd name="T37" fmla="*/ 0 h 798"/>
                  <a:gd name="T38" fmla="*/ 0 w 680"/>
                  <a:gd name="T39" fmla="*/ 0 h 798"/>
                  <a:gd name="T40" fmla="*/ 0 w 680"/>
                  <a:gd name="T41" fmla="*/ 0 h 798"/>
                  <a:gd name="T42" fmla="*/ 0 w 680"/>
                  <a:gd name="T43" fmla="*/ 0 h 798"/>
                  <a:gd name="T44" fmla="*/ 0 w 680"/>
                  <a:gd name="T45" fmla="*/ 0 h 798"/>
                  <a:gd name="T46" fmla="*/ 0 w 680"/>
                  <a:gd name="T47" fmla="*/ 0 h 798"/>
                  <a:gd name="T48" fmla="*/ 0 w 680"/>
                  <a:gd name="T49" fmla="*/ 0 h 798"/>
                  <a:gd name="T50" fmla="*/ 0 w 680"/>
                  <a:gd name="T51" fmla="*/ 0 h 798"/>
                  <a:gd name="T52" fmla="*/ 0 w 680"/>
                  <a:gd name="T53" fmla="*/ 0 h 798"/>
                  <a:gd name="T54" fmla="*/ 0 w 680"/>
                  <a:gd name="T55" fmla="*/ 0 h 798"/>
                  <a:gd name="T56" fmla="*/ 0 w 680"/>
                  <a:gd name="T57" fmla="*/ 0 h 798"/>
                  <a:gd name="T58" fmla="*/ 0 w 680"/>
                  <a:gd name="T59" fmla="*/ 0 h 798"/>
                  <a:gd name="T60" fmla="*/ 0 w 680"/>
                  <a:gd name="T61" fmla="*/ 0 h 798"/>
                  <a:gd name="T62" fmla="*/ 0 w 680"/>
                  <a:gd name="T63" fmla="*/ 0 h 798"/>
                  <a:gd name="T64" fmla="*/ 0 w 680"/>
                  <a:gd name="T65" fmla="*/ 0 h 798"/>
                  <a:gd name="T66" fmla="*/ 0 w 680"/>
                  <a:gd name="T67" fmla="*/ 0 h 798"/>
                  <a:gd name="T68" fmla="*/ 0 w 680"/>
                  <a:gd name="T69" fmla="*/ 0 h 798"/>
                  <a:gd name="T70" fmla="*/ 0 w 680"/>
                  <a:gd name="T71" fmla="*/ 0 h 798"/>
                  <a:gd name="T72" fmla="*/ 0 w 680"/>
                  <a:gd name="T73" fmla="*/ 0 h 798"/>
                  <a:gd name="T74" fmla="*/ 0 w 680"/>
                  <a:gd name="T75" fmla="*/ 0 h 798"/>
                  <a:gd name="T76" fmla="*/ 0 w 680"/>
                  <a:gd name="T77" fmla="*/ 0 h 79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8"/>
                  <a:gd name="T119" fmla="*/ 680 w 680"/>
                  <a:gd name="T120" fmla="*/ 798 h 79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8">
                    <a:moveTo>
                      <a:pt x="156" y="0"/>
                    </a:moveTo>
                    <a:lnTo>
                      <a:pt x="0" y="95"/>
                    </a:lnTo>
                    <a:lnTo>
                      <a:pt x="50" y="128"/>
                    </a:lnTo>
                    <a:lnTo>
                      <a:pt x="97" y="163"/>
                    </a:lnTo>
                    <a:lnTo>
                      <a:pt x="141" y="198"/>
                    </a:lnTo>
                    <a:lnTo>
                      <a:pt x="183" y="235"/>
                    </a:lnTo>
                    <a:lnTo>
                      <a:pt x="221" y="272"/>
                    </a:lnTo>
                    <a:lnTo>
                      <a:pt x="257" y="310"/>
                    </a:lnTo>
                    <a:lnTo>
                      <a:pt x="289" y="349"/>
                    </a:lnTo>
                    <a:lnTo>
                      <a:pt x="319" y="390"/>
                    </a:lnTo>
                    <a:lnTo>
                      <a:pt x="344" y="430"/>
                    </a:lnTo>
                    <a:lnTo>
                      <a:pt x="367" y="472"/>
                    </a:lnTo>
                    <a:lnTo>
                      <a:pt x="387" y="515"/>
                    </a:lnTo>
                    <a:lnTo>
                      <a:pt x="405" y="559"/>
                    </a:lnTo>
                    <a:lnTo>
                      <a:pt x="418" y="603"/>
                    </a:lnTo>
                    <a:lnTo>
                      <a:pt x="429" y="649"/>
                    </a:lnTo>
                    <a:lnTo>
                      <a:pt x="437" y="695"/>
                    </a:lnTo>
                    <a:lnTo>
                      <a:pt x="443" y="743"/>
                    </a:lnTo>
                    <a:lnTo>
                      <a:pt x="443" y="748"/>
                    </a:lnTo>
                    <a:lnTo>
                      <a:pt x="444" y="798"/>
                    </a:lnTo>
                    <a:lnTo>
                      <a:pt x="680" y="798"/>
                    </a:lnTo>
                    <a:lnTo>
                      <a:pt x="679" y="748"/>
                    </a:lnTo>
                    <a:lnTo>
                      <a:pt x="679" y="743"/>
                    </a:lnTo>
                    <a:lnTo>
                      <a:pt x="672" y="688"/>
                    </a:lnTo>
                    <a:lnTo>
                      <a:pt x="662" y="635"/>
                    </a:lnTo>
                    <a:lnTo>
                      <a:pt x="649" y="582"/>
                    </a:lnTo>
                    <a:lnTo>
                      <a:pt x="633" y="531"/>
                    </a:lnTo>
                    <a:lnTo>
                      <a:pt x="612" y="480"/>
                    </a:lnTo>
                    <a:lnTo>
                      <a:pt x="588" y="431"/>
                    </a:lnTo>
                    <a:lnTo>
                      <a:pt x="561" y="383"/>
                    </a:lnTo>
                    <a:lnTo>
                      <a:pt x="531" y="337"/>
                    </a:lnTo>
                    <a:lnTo>
                      <a:pt x="495" y="290"/>
                    </a:lnTo>
                    <a:lnTo>
                      <a:pt x="457" y="245"/>
                    </a:lnTo>
                    <a:lnTo>
                      <a:pt x="415" y="201"/>
                    </a:lnTo>
                    <a:lnTo>
                      <a:pt x="371" y="159"/>
                    </a:lnTo>
                    <a:lnTo>
                      <a:pt x="322" y="117"/>
                    </a:lnTo>
                    <a:lnTo>
                      <a:pt x="270" y="77"/>
                    </a:lnTo>
                    <a:lnTo>
                      <a:pt x="214" y="37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6" name="Freeform 444"/>
              <p:cNvSpPr>
                <a:spLocks/>
              </p:cNvSpPr>
              <p:nvPr/>
            </p:nvSpPr>
            <p:spPr bwMode="auto">
              <a:xfrm>
                <a:off x="1833" y="2659"/>
                <a:ext cx="4" cy="1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7" name="Freeform 445"/>
              <p:cNvSpPr>
                <a:spLocks/>
              </p:cNvSpPr>
              <p:nvPr/>
            </p:nvSpPr>
            <p:spPr bwMode="auto">
              <a:xfrm>
                <a:off x="1836" y="2660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8" name="Freeform 446"/>
              <p:cNvSpPr>
                <a:spLocks/>
              </p:cNvSpPr>
              <p:nvPr/>
            </p:nvSpPr>
            <p:spPr bwMode="auto">
              <a:xfrm>
                <a:off x="1777" y="2696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99" name="Freeform 447"/>
              <p:cNvSpPr>
                <a:spLocks/>
              </p:cNvSpPr>
              <p:nvPr/>
            </p:nvSpPr>
            <p:spPr bwMode="auto">
              <a:xfrm>
                <a:off x="1817" y="2672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0" name="Freeform 448"/>
              <p:cNvSpPr>
                <a:spLocks/>
              </p:cNvSpPr>
              <p:nvPr/>
            </p:nvSpPr>
            <p:spPr bwMode="auto">
              <a:xfrm>
                <a:off x="1855" y="2649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809" name="Freeform 449"/>
              <p:cNvSpPr>
                <a:spLocks/>
              </p:cNvSpPr>
              <p:nvPr/>
            </p:nvSpPr>
            <p:spPr bwMode="auto">
              <a:xfrm>
                <a:off x="1898" y="2826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6 h 757"/>
                  <a:gd name="T16" fmla="*/ 391 w 663"/>
                  <a:gd name="T17" fmla="*/ 196 h 757"/>
                  <a:gd name="T18" fmla="*/ 387 w 663"/>
                  <a:gd name="T19" fmla="*/ 206 h 757"/>
                  <a:gd name="T20" fmla="*/ 385 w 663"/>
                  <a:gd name="T21" fmla="*/ 211 h 757"/>
                  <a:gd name="T22" fmla="*/ 384 w 663"/>
                  <a:gd name="T23" fmla="*/ 217 h 757"/>
                  <a:gd name="T24" fmla="*/ 367 w 663"/>
                  <a:gd name="T25" fmla="*/ 259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80 h 757"/>
                  <a:gd name="T100" fmla="*/ 615 w 663"/>
                  <a:gd name="T101" fmla="*/ 256 h 757"/>
                  <a:gd name="T102" fmla="*/ 623 w 663"/>
                  <a:gd name="T103" fmla="*/ 231 h 757"/>
                  <a:gd name="T104" fmla="*/ 632 w 663"/>
                  <a:gd name="T105" fmla="*/ 207 h 757"/>
                  <a:gd name="T106" fmla="*/ 638 w 663"/>
                  <a:gd name="T107" fmla="*/ 181 h 757"/>
                  <a:gd name="T108" fmla="*/ 644 w 663"/>
                  <a:gd name="T109" fmla="*/ 156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6"/>
                    </a:lnTo>
                    <a:lnTo>
                      <a:pt x="391" y="196"/>
                    </a:lnTo>
                    <a:lnTo>
                      <a:pt x="387" y="206"/>
                    </a:lnTo>
                    <a:lnTo>
                      <a:pt x="385" y="211"/>
                    </a:lnTo>
                    <a:lnTo>
                      <a:pt x="384" y="217"/>
                    </a:lnTo>
                    <a:lnTo>
                      <a:pt x="367" y="259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80"/>
                    </a:lnTo>
                    <a:lnTo>
                      <a:pt x="615" y="256"/>
                    </a:lnTo>
                    <a:lnTo>
                      <a:pt x="623" y="231"/>
                    </a:lnTo>
                    <a:lnTo>
                      <a:pt x="632" y="207"/>
                    </a:lnTo>
                    <a:lnTo>
                      <a:pt x="638" y="181"/>
                    </a:lnTo>
                    <a:lnTo>
                      <a:pt x="644" y="156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802" name="Freeform 450"/>
              <p:cNvSpPr>
                <a:spLocks/>
              </p:cNvSpPr>
              <p:nvPr/>
            </p:nvSpPr>
            <p:spPr bwMode="auto">
              <a:xfrm>
                <a:off x="1809" y="2825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50"/>
                    </a:lnTo>
                    <a:lnTo>
                      <a:pt x="275" y="162"/>
                    </a:lnTo>
                    <a:lnTo>
                      <a:pt x="272" y="168"/>
                    </a:lnTo>
                    <a:lnTo>
                      <a:pt x="270" y="175"/>
                    </a:lnTo>
                    <a:lnTo>
                      <a:pt x="256" y="198"/>
                    </a:lnTo>
                    <a:lnTo>
                      <a:pt x="242" y="222"/>
                    </a:lnTo>
                    <a:lnTo>
                      <a:pt x="226" y="245"/>
                    </a:lnTo>
                    <a:lnTo>
                      <a:pt x="209" y="269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2"/>
                    </a:lnTo>
                    <a:lnTo>
                      <a:pt x="486" y="244"/>
                    </a:lnTo>
                    <a:lnTo>
                      <a:pt x="496" y="227"/>
                    </a:lnTo>
                    <a:lnTo>
                      <a:pt x="504" y="208"/>
                    </a:lnTo>
                    <a:lnTo>
                      <a:pt x="512" y="190"/>
                    </a:lnTo>
                    <a:lnTo>
                      <a:pt x="527" y="154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3" name="Freeform 451"/>
              <p:cNvSpPr>
                <a:spLocks/>
              </p:cNvSpPr>
              <p:nvPr/>
            </p:nvSpPr>
            <p:spPr bwMode="auto">
              <a:xfrm>
                <a:off x="1765" y="2825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8"/>
                    </a:lnTo>
                    <a:lnTo>
                      <a:pt x="189" y="182"/>
                    </a:lnTo>
                    <a:lnTo>
                      <a:pt x="163" y="216"/>
                    </a:lnTo>
                    <a:lnTo>
                      <a:pt x="131" y="248"/>
                    </a:lnTo>
                    <a:lnTo>
                      <a:pt x="97" y="280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9"/>
                    </a:lnTo>
                    <a:lnTo>
                      <a:pt x="404" y="245"/>
                    </a:lnTo>
                    <a:lnTo>
                      <a:pt x="420" y="222"/>
                    </a:lnTo>
                    <a:lnTo>
                      <a:pt x="434" y="198"/>
                    </a:lnTo>
                    <a:lnTo>
                      <a:pt x="448" y="175"/>
                    </a:lnTo>
                    <a:lnTo>
                      <a:pt x="450" y="168"/>
                    </a:lnTo>
                    <a:lnTo>
                      <a:pt x="453" y="162"/>
                    </a:lnTo>
                    <a:lnTo>
                      <a:pt x="459" y="150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4" name="Freeform 452"/>
              <p:cNvSpPr>
                <a:spLocks/>
              </p:cNvSpPr>
              <p:nvPr/>
            </p:nvSpPr>
            <p:spPr bwMode="auto">
              <a:xfrm>
                <a:off x="1809" y="2936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5" name="Freeform 453"/>
              <p:cNvSpPr>
                <a:spLocks/>
              </p:cNvSpPr>
              <p:nvPr/>
            </p:nvSpPr>
            <p:spPr bwMode="auto">
              <a:xfrm>
                <a:off x="1608" y="2937"/>
                <a:ext cx="248" cy="93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6" name="Freeform 454"/>
              <p:cNvSpPr>
                <a:spLocks/>
              </p:cNvSpPr>
              <p:nvPr/>
            </p:nvSpPr>
            <p:spPr bwMode="auto">
              <a:xfrm>
                <a:off x="1608" y="2913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7" name="Freeform 455"/>
              <p:cNvSpPr>
                <a:spLocks/>
              </p:cNvSpPr>
              <p:nvPr/>
            </p:nvSpPr>
            <p:spPr bwMode="auto">
              <a:xfrm>
                <a:off x="1608" y="2964"/>
                <a:ext cx="290" cy="104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08" name="Freeform 456"/>
              <p:cNvSpPr>
                <a:spLocks/>
              </p:cNvSpPr>
              <p:nvPr/>
            </p:nvSpPr>
            <p:spPr bwMode="auto">
              <a:xfrm>
                <a:off x="1856" y="2964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817" name="Freeform 457"/>
              <p:cNvSpPr>
                <a:spLocks/>
              </p:cNvSpPr>
              <p:nvPr/>
            </p:nvSpPr>
            <p:spPr bwMode="auto">
              <a:xfrm>
                <a:off x="1608" y="2988"/>
                <a:ext cx="336" cy="120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810" name="Freeform 458"/>
              <p:cNvSpPr>
                <a:spLocks/>
              </p:cNvSpPr>
              <p:nvPr/>
            </p:nvSpPr>
            <p:spPr bwMode="auto">
              <a:xfrm>
                <a:off x="1856" y="2825"/>
                <a:ext cx="148" cy="163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9"/>
                    </a:lnTo>
                    <a:lnTo>
                      <a:pt x="549" y="217"/>
                    </a:lnTo>
                    <a:lnTo>
                      <a:pt x="550" y="211"/>
                    </a:lnTo>
                    <a:lnTo>
                      <a:pt x="552" y="206"/>
                    </a:lnTo>
                    <a:lnTo>
                      <a:pt x="556" y="196"/>
                    </a:lnTo>
                    <a:lnTo>
                      <a:pt x="564" y="176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1" name="Freeform 459"/>
              <p:cNvSpPr>
                <a:spLocks/>
              </p:cNvSpPr>
              <p:nvPr/>
            </p:nvSpPr>
            <p:spPr bwMode="auto">
              <a:xfrm>
                <a:off x="1370" y="2944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2" name="Freeform 460"/>
              <p:cNvSpPr>
                <a:spLocks/>
              </p:cNvSpPr>
              <p:nvPr/>
            </p:nvSpPr>
            <p:spPr bwMode="auto">
              <a:xfrm>
                <a:off x="1284" y="2997"/>
                <a:ext cx="324" cy="111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813" name="Freeform 461"/>
              <p:cNvSpPr>
                <a:spLocks/>
              </p:cNvSpPr>
              <p:nvPr/>
            </p:nvSpPr>
            <p:spPr bwMode="auto">
              <a:xfrm>
                <a:off x="1328" y="2971"/>
                <a:ext cx="280" cy="97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4" name="Freeform 462"/>
              <p:cNvSpPr>
                <a:spLocks/>
              </p:cNvSpPr>
              <p:nvPr/>
            </p:nvSpPr>
            <p:spPr bwMode="auto">
              <a:xfrm>
                <a:off x="1415" y="2918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5" name="Freeform 463"/>
              <p:cNvSpPr>
                <a:spLocks/>
              </p:cNvSpPr>
              <p:nvPr/>
            </p:nvSpPr>
            <p:spPr bwMode="auto">
              <a:xfrm>
                <a:off x="1153" y="2635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6" name="Freeform 464"/>
              <p:cNvSpPr>
                <a:spLocks/>
              </p:cNvSpPr>
              <p:nvPr/>
            </p:nvSpPr>
            <p:spPr bwMode="auto">
              <a:xfrm>
                <a:off x="1211" y="2658"/>
                <a:ext cx="140" cy="167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7" name="Freeform 465"/>
              <p:cNvSpPr>
                <a:spLocks/>
              </p:cNvSpPr>
              <p:nvPr/>
            </p:nvSpPr>
            <p:spPr bwMode="auto">
              <a:xfrm>
                <a:off x="1324" y="2702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8" name="Freeform 466"/>
              <p:cNvSpPr>
                <a:spLocks/>
              </p:cNvSpPr>
              <p:nvPr/>
            </p:nvSpPr>
            <p:spPr bwMode="auto">
              <a:xfrm>
                <a:off x="1266" y="2679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19" name="Freeform 467"/>
              <p:cNvSpPr>
                <a:spLocks/>
              </p:cNvSpPr>
              <p:nvPr/>
            </p:nvSpPr>
            <p:spPr bwMode="auto">
              <a:xfrm>
                <a:off x="1456" y="2917"/>
                <a:ext cx="1" cy="2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0" name="Freeform 468"/>
              <p:cNvSpPr>
                <a:spLocks/>
              </p:cNvSpPr>
              <p:nvPr/>
            </p:nvSpPr>
            <p:spPr bwMode="auto">
              <a:xfrm>
                <a:off x="1325" y="2825"/>
                <a:ext cx="131" cy="119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3"/>
                    </a:lnTo>
                    <a:lnTo>
                      <a:pt x="388" y="269"/>
                    </a:lnTo>
                    <a:lnTo>
                      <a:pt x="373" y="256"/>
                    </a:lnTo>
                    <a:lnTo>
                      <a:pt x="344" y="227"/>
                    </a:lnTo>
                    <a:lnTo>
                      <a:pt x="319" y="199"/>
                    </a:lnTo>
                    <a:lnTo>
                      <a:pt x="296" y="169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1" name="Freeform 469"/>
              <p:cNvSpPr>
                <a:spLocks/>
              </p:cNvSpPr>
              <p:nvPr/>
            </p:nvSpPr>
            <p:spPr bwMode="auto">
              <a:xfrm>
                <a:off x="1266" y="2825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6"/>
                    </a:lnTo>
                    <a:lnTo>
                      <a:pt x="300" y="212"/>
                    </a:lnTo>
                    <a:lnTo>
                      <a:pt x="276" y="168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70"/>
                    </a:lnTo>
                    <a:lnTo>
                      <a:pt x="43" y="202"/>
                    </a:lnTo>
                    <a:lnTo>
                      <a:pt x="56" y="232"/>
                    </a:lnTo>
                    <a:lnTo>
                      <a:pt x="73" y="263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2" name="Freeform 470"/>
              <p:cNvSpPr>
                <a:spLocks/>
              </p:cNvSpPr>
              <p:nvPr/>
            </p:nvSpPr>
            <p:spPr bwMode="auto">
              <a:xfrm>
                <a:off x="1211" y="2825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3"/>
                    </a:lnTo>
                    <a:lnTo>
                      <a:pt x="276" y="232"/>
                    </a:lnTo>
                    <a:lnTo>
                      <a:pt x="263" y="202"/>
                    </a:lnTo>
                    <a:lnTo>
                      <a:pt x="250" y="170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3" name="Freeform 471"/>
              <p:cNvSpPr>
                <a:spLocks/>
              </p:cNvSpPr>
              <p:nvPr/>
            </p:nvSpPr>
            <p:spPr bwMode="auto">
              <a:xfrm>
                <a:off x="1152" y="2825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3"/>
                    </a:lnTo>
                    <a:lnTo>
                      <a:pt x="282" y="235"/>
                    </a:lnTo>
                    <a:lnTo>
                      <a:pt x="268" y="195"/>
                    </a:lnTo>
                    <a:lnTo>
                      <a:pt x="257" y="156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824" name="Freeform 472"/>
              <p:cNvSpPr>
                <a:spLocks/>
              </p:cNvSpPr>
              <p:nvPr/>
            </p:nvSpPr>
            <p:spPr bwMode="auto">
              <a:xfrm>
                <a:off x="1608" y="2543"/>
                <a:ext cx="324" cy="82"/>
              </a:xfrm>
              <a:custGeom>
                <a:avLst/>
                <a:gdLst>
                  <a:gd name="T0" fmla="*/ 0 w 1298"/>
                  <a:gd name="T1" fmla="*/ 0 h 330"/>
                  <a:gd name="T2" fmla="*/ 0 w 1298"/>
                  <a:gd name="T3" fmla="*/ 0 h 330"/>
                  <a:gd name="T4" fmla="*/ 0 w 1298"/>
                  <a:gd name="T5" fmla="*/ 0 h 330"/>
                  <a:gd name="T6" fmla="*/ 0 w 1298"/>
                  <a:gd name="T7" fmla="*/ 0 h 330"/>
                  <a:gd name="T8" fmla="*/ 0 w 1298"/>
                  <a:gd name="T9" fmla="*/ 0 h 330"/>
                  <a:gd name="T10" fmla="*/ 0 w 1298"/>
                  <a:gd name="T11" fmla="*/ 0 h 330"/>
                  <a:gd name="T12" fmla="*/ 0 w 1298"/>
                  <a:gd name="T13" fmla="*/ 0 h 330"/>
                  <a:gd name="T14" fmla="*/ 0 w 1298"/>
                  <a:gd name="T15" fmla="*/ 0 h 330"/>
                  <a:gd name="T16" fmla="*/ 0 w 1298"/>
                  <a:gd name="T17" fmla="*/ 0 h 330"/>
                  <a:gd name="T18" fmla="*/ 0 w 1298"/>
                  <a:gd name="T19" fmla="*/ 0 h 330"/>
                  <a:gd name="T20" fmla="*/ 0 w 1298"/>
                  <a:gd name="T21" fmla="*/ 0 h 330"/>
                  <a:gd name="T22" fmla="*/ 0 w 1298"/>
                  <a:gd name="T23" fmla="*/ 0 h 330"/>
                  <a:gd name="T24" fmla="*/ 0 w 1298"/>
                  <a:gd name="T25" fmla="*/ 0 h 330"/>
                  <a:gd name="T26" fmla="*/ 0 w 1298"/>
                  <a:gd name="T27" fmla="*/ 0 h 330"/>
                  <a:gd name="T28" fmla="*/ 0 w 1298"/>
                  <a:gd name="T29" fmla="*/ 0 h 330"/>
                  <a:gd name="T30" fmla="*/ 0 w 1298"/>
                  <a:gd name="T31" fmla="*/ 0 h 330"/>
                  <a:gd name="T32" fmla="*/ 0 w 1298"/>
                  <a:gd name="T33" fmla="*/ 0 h 330"/>
                  <a:gd name="T34" fmla="*/ 0 w 1298"/>
                  <a:gd name="T35" fmla="*/ 0 h 330"/>
                  <a:gd name="T36" fmla="*/ 0 w 1298"/>
                  <a:gd name="T37" fmla="*/ 0 h 330"/>
                  <a:gd name="T38" fmla="*/ 0 w 1298"/>
                  <a:gd name="T39" fmla="*/ 0 h 330"/>
                  <a:gd name="T40" fmla="*/ 0 w 1298"/>
                  <a:gd name="T41" fmla="*/ 0 h 3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30"/>
                  <a:gd name="T65" fmla="*/ 1298 w 1298"/>
                  <a:gd name="T66" fmla="*/ 330 h 33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30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6"/>
                    </a:lnTo>
                    <a:lnTo>
                      <a:pt x="1169" y="259"/>
                    </a:lnTo>
                    <a:lnTo>
                      <a:pt x="1274" y="315"/>
                    </a:lnTo>
                    <a:lnTo>
                      <a:pt x="1285" y="322"/>
                    </a:lnTo>
                    <a:lnTo>
                      <a:pt x="1298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5" name="Line 473"/>
              <p:cNvSpPr>
                <a:spLocks noChangeShapeType="1"/>
              </p:cNvSpPr>
              <p:nvPr/>
            </p:nvSpPr>
            <p:spPr bwMode="auto">
              <a:xfrm flipV="1">
                <a:off x="1608" y="2543"/>
                <a:ext cx="0" cy="3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6" name="Freeform 474"/>
              <p:cNvSpPr>
                <a:spLocks/>
              </p:cNvSpPr>
              <p:nvPr/>
            </p:nvSpPr>
            <p:spPr bwMode="auto">
              <a:xfrm>
                <a:off x="1608" y="2576"/>
                <a:ext cx="285" cy="73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7" name="Freeform 475"/>
              <p:cNvSpPr>
                <a:spLocks/>
              </p:cNvSpPr>
              <p:nvPr/>
            </p:nvSpPr>
            <p:spPr bwMode="auto">
              <a:xfrm>
                <a:off x="1608" y="2639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8" name="Line 476"/>
              <p:cNvSpPr>
                <a:spLocks noChangeShapeType="1"/>
              </p:cNvSpPr>
              <p:nvPr/>
            </p:nvSpPr>
            <p:spPr bwMode="auto">
              <a:xfrm flipV="1">
                <a:off x="1608" y="2608"/>
                <a:ext cx="0" cy="3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29" name="Freeform 477"/>
              <p:cNvSpPr>
                <a:spLocks/>
              </p:cNvSpPr>
              <p:nvPr/>
            </p:nvSpPr>
            <p:spPr bwMode="auto">
              <a:xfrm>
                <a:off x="1608" y="2607"/>
                <a:ext cx="225" cy="52"/>
              </a:xfrm>
              <a:custGeom>
                <a:avLst/>
                <a:gdLst>
                  <a:gd name="T0" fmla="*/ 0 w 902"/>
                  <a:gd name="T1" fmla="*/ 0 h 205"/>
                  <a:gd name="T2" fmla="*/ 0 w 902"/>
                  <a:gd name="T3" fmla="*/ 0 h 205"/>
                  <a:gd name="T4" fmla="*/ 0 w 902"/>
                  <a:gd name="T5" fmla="*/ 0 h 205"/>
                  <a:gd name="T6" fmla="*/ 0 w 902"/>
                  <a:gd name="T7" fmla="*/ 0 h 205"/>
                  <a:gd name="T8" fmla="*/ 0 w 902"/>
                  <a:gd name="T9" fmla="*/ 0 h 205"/>
                  <a:gd name="T10" fmla="*/ 0 w 902"/>
                  <a:gd name="T11" fmla="*/ 0 h 205"/>
                  <a:gd name="T12" fmla="*/ 0 w 902"/>
                  <a:gd name="T13" fmla="*/ 0 h 205"/>
                  <a:gd name="T14" fmla="*/ 0 w 902"/>
                  <a:gd name="T15" fmla="*/ 0 h 205"/>
                  <a:gd name="T16" fmla="*/ 0 w 902"/>
                  <a:gd name="T17" fmla="*/ 0 h 205"/>
                  <a:gd name="T18" fmla="*/ 0 w 902"/>
                  <a:gd name="T19" fmla="*/ 0 h 205"/>
                  <a:gd name="T20" fmla="*/ 0 w 902"/>
                  <a:gd name="T21" fmla="*/ 0 h 205"/>
                  <a:gd name="T22" fmla="*/ 0 w 902"/>
                  <a:gd name="T23" fmla="*/ 0 h 205"/>
                  <a:gd name="T24" fmla="*/ 0 w 902"/>
                  <a:gd name="T25" fmla="*/ 0 h 205"/>
                  <a:gd name="T26" fmla="*/ 0 w 902"/>
                  <a:gd name="T27" fmla="*/ 0 h 205"/>
                  <a:gd name="T28" fmla="*/ 0 w 902"/>
                  <a:gd name="T29" fmla="*/ 0 h 205"/>
                  <a:gd name="T30" fmla="*/ 0 w 902"/>
                  <a:gd name="T31" fmla="*/ 0 h 205"/>
                  <a:gd name="T32" fmla="*/ 0 w 902"/>
                  <a:gd name="T33" fmla="*/ 0 h 205"/>
                  <a:gd name="T34" fmla="*/ 0 w 902"/>
                  <a:gd name="T35" fmla="*/ 0 h 205"/>
                  <a:gd name="T36" fmla="*/ 0 w 902"/>
                  <a:gd name="T37" fmla="*/ 0 h 205"/>
                  <a:gd name="T38" fmla="*/ 0 w 902"/>
                  <a:gd name="T39" fmla="*/ 0 h 205"/>
                  <a:gd name="T40" fmla="*/ 0 w 902"/>
                  <a:gd name="T41" fmla="*/ 0 h 20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5"/>
                  <a:gd name="T65" fmla="*/ 902 w 902"/>
                  <a:gd name="T66" fmla="*/ 205 h 20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5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19"/>
                    </a:lnTo>
                    <a:lnTo>
                      <a:pt x="767" y="140"/>
                    </a:lnTo>
                    <a:lnTo>
                      <a:pt x="814" y="161"/>
                    </a:lnTo>
                    <a:lnTo>
                      <a:pt x="862" y="185"/>
                    </a:lnTo>
                    <a:lnTo>
                      <a:pt x="902" y="20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0" name="Line 478"/>
              <p:cNvSpPr>
                <a:spLocks noChangeShapeType="1"/>
              </p:cNvSpPr>
              <p:nvPr/>
            </p:nvSpPr>
            <p:spPr bwMode="auto">
              <a:xfrm flipV="1">
                <a:off x="1608" y="2576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1" name="Line 479"/>
              <p:cNvSpPr>
                <a:spLocks noChangeShapeType="1"/>
              </p:cNvSpPr>
              <p:nvPr/>
            </p:nvSpPr>
            <p:spPr bwMode="auto">
              <a:xfrm>
                <a:off x="1153" y="2825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2" name="Freeform 480"/>
              <p:cNvSpPr>
                <a:spLocks/>
              </p:cNvSpPr>
              <p:nvPr/>
            </p:nvSpPr>
            <p:spPr bwMode="auto">
              <a:xfrm>
                <a:off x="1608" y="2673"/>
                <a:ext cx="169" cy="48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3" name="Line 481"/>
              <p:cNvSpPr>
                <a:spLocks noChangeShapeType="1"/>
              </p:cNvSpPr>
              <p:nvPr/>
            </p:nvSpPr>
            <p:spPr bwMode="auto">
              <a:xfrm flipV="1">
                <a:off x="1608" y="2639"/>
                <a:ext cx="0" cy="3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4" name="Line 482"/>
              <p:cNvSpPr>
                <a:spLocks noChangeShapeType="1"/>
              </p:cNvSpPr>
              <p:nvPr/>
            </p:nvSpPr>
            <p:spPr bwMode="auto">
              <a:xfrm flipH="1">
                <a:off x="1893" y="2625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5" name="Freeform 483"/>
              <p:cNvSpPr>
                <a:spLocks/>
              </p:cNvSpPr>
              <p:nvPr/>
            </p:nvSpPr>
            <p:spPr bwMode="auto">
              <a:xfrm>
                <a:off x="1836" y="2660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6" name="Line 484"/>
              <p:cNvSpPr>
                <a:spLocks noChangeShapeType="1"/>
              </p:cNvSpPr>
              <p:nvPr/>
            </p:nvSpPr>
            <p:spPr bwMode="auto">
              <a:xfrm>
                <a:off x="1833" y="2659"/>
                <a:ext cx="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7" name="Line 485"/>
              <p:cNvSpPr>
                <a:spLocks noChangeShapeType="1"/>
              </p:cNvSpPr>
              <p:nvPr/>
            </p:nvSpPr>
            <p:spPr bwMode="auto">
              <a:xfrm>
                <a:off x="1836" y="2660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8" name="Freeform 486"/>
              <p:cNvSpPr>
                <a:spLocks/>
              </p:cNvSpPr>
              <p:nvPr/>
            </p:nvSpPr>
            <p:spPr bwMode="auto">
              <a:xfrm>
                <a:off x="1836" y="2660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39" name="Line 487"/>
              <p:cNvSpPr>
                <a:spLocks noChangeShapeType="1"/>
              </p:cNvSpPr>
              <p:nvPr/>
            </p:nvSpPr>
            <p:spPr bwMode="auto">
              <a:xfrm>
                <a:off x="1833" y="265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0" name="Freeform 488"/>
              <p:cNvSpPr>
                <a:spLocks/>
              </p:cNvSpPr>
              <p:nvPr/>
            </p:nvSpPr>
            <p:spPr bwMode="auto">
              <a:xfrm>
                <a:off x="1777" y="2721"/>
                <a:ext cx="55" cy="104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1" name="Line 489"/>
              <p:cNvSpPr>
                <a:spLocks noChangeShapeType="1"/>
              </p:cNvSpPr>
              <p:nvPr/>
            </p:nvSpPr>
            <p:spPr bwMode="auto">
              <a:xfrm flipH="1">
                <a:off x="1817" y="2672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2" name="Freeform 490"/>
              <p:cNvSpPr>
                <a:spLocks/>
              </p:cNvSpPr>
              <p:nvPr/>
            </p:nvSpPr>
            <p:spPr bwMode="auto">
              <a:xfrm>
                <a:off x="1855" y="2672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3" name="Freeform 491"/>
              <p:cNvSpPr>
                <a:spLocks/>
              </p:cNvSpPr>
              <p:nvPr/>
            </p:nvSpPr>
            <p:spPr bwMode="auto">
              <a:xfrm>
                <a:off x="1817" y="2696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4" name="Line 492"/>
              <p:cNvSpPr>
                <a:spLocks noChangeShapeType="1"/>
              </p:cNvSpPr>
              <p:nvPr/>
            </p:nvSpPr>
            <p:spPr bwMode="auto">
              <a:xfrm flipV="1">
                <a:off x="1855" y="2649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5" name="Line 493"/>
              <p:cNvSpPr>
                <a:spLocks noChangeShapeType="1"/>
              </p:cNvSpPr>
              <p:nvPr/>
            </p:nvSpPr>
            <p:spPr bwMode="auto">
              <a:xfrm flipH="1">
                <a:off x="1777" y="2696"/>
                <a:ext cx="4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6" name="Freeform 494"/>
              <p:cNvSpPr>
                <a:spLocks/>
              </p:cNvSpPr>
              <p:nvPr/>
            </p:nvSpPr>
            <p:spPr bwMode="auto">
              <a:xfrm>
                <a:off x="1932" y="2625"/>
                <a:ext cx="131" cy="200"/>
              </a:xfrm>
              <a:custGeom>
                <a:avLst/>
                <a:gdLst>
                  <a:gd name="T0" fmla="*/ 0 w 524"/>
                  <a:gd name="T1" fmla="*/ 0 h 798"/>
                  <a:gd name="T2" fmla="*/ 0 w 524"/>
                  <a:gd name="T3" fmla="*/ 0 h 798"/>
                  <a:gd name="T4" fmla="*/ 0 w 524"/>
                  <a:gd name="T5" fmla="*/ 0 h 798"/>
                  <a:gd name="T6" fmla="*/ 0 w 524"/>
                  <a:gd name="T7" fmla="*/ 0 h 798"/>
                  <a:gd name="T8" fmla="*/ 0 w 524"/>
                  <a:gd name="T9" fmla="*/ 0 h 798"/>
                  <a:gd name="T10" fmla="*/ 0 w 524"/>
                  <a:gd name="T11" fmla="*/ 0 h 798"/>
                  <a:gd name="T12" fmla="*/ 0 w 524"/>
                  <a:gd name="T13" fmla="*/ 0 h 798"/>
                  <a:gd name="T14" fmla="*/ 0 w 524"/>
                  <a:gd name="T15" fmla="*/ 0 h 798"/>
                  <a:gd name="T16" fmla="*/ 0 w 524"/>
                  <a:gd name="T17" fmla="*/ 0 h 798"/>
                  <a:gd name="T18" fmla="*/ 0 w 524"/>
                  <a:gd name="T19" fmla="*/ 0 h 798"/>
                  <a:gd name="T20" fmla="*/ 0 w 524"/>
                  <a:gd name="T21" fmla="*/ 0 h 798"/>
                  <a:gd name="T22" fmla="*/ 0 w 524"/>
                  <a:gd name="T23" fmla="*/ 0 h 798"/>
                  <a:gd name="T24" fmla="*/ 0 w 524"/>
                  <a:gd name="T25" fmla="*/ 0 h 798"/>
                  <a:gd name="T26" fmla="*/ 0 w 524"/>
                  <a:gd name="T27" fmla="*/ 0 h 798"/>
                  <a:gd name="T28" fmla="*/ 0 w 524"/>
                  <a:gd name="T29" fmla="*/ 0 h 798"/>
                  <a:gd name="T30" fmla="*/ 0 w 524"/>
                  <a:gd name="T31" fmla="*/ 0 h 798"/>
                  <a:gd name="T32" fmla="*/ 0 w 524"/>
                  <a:gd name="T33" fmla="*/ 0 h 798"/>
                  <a:gd name="T34" fmla="*/ 0 w 524"/>
                  <a:gd name="T35" fmla="*/ 0 h 798"/>
                  <a:gd name="T36" fmla="*/ 0 w 524"/>
                  <a:gd name="T37" fmla="*/ 0 h 7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8"/>
                  <a:gd name="T59" fmla="*/ 524 w 524"/>
                  <a:gd name="T60" fmla="*/ 798 h 7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8">
                    <a:moveTo>
                      <a:pt x="524" y="798"/>
                    </a:moveTo>
                    <a:lnTo>
                      <a:pt x="523" y="748"/>
                    </a:lnTo>
                    <a:lnTo>
                      <a:pt x="523" y="743"/>
                    </a:lnTo>
                    <a:lnTo>
                      <a:pt x="516" y="688"/>
                    </a:lnTo>
                    <a:lnTo>
                      <a:pt x="506" y="635"/>
                    </a:lnTo>
                    <a:lnTo>
                      <a:pt x="493" y="582"/>
                    </a:lnTo>
                    <a:lnTo>
                      <a:pt x="477" y="531"/>
                    </a:lnTo>
                    <a:lnTo>
                      <a:pt x="456" y="480"/>
                    </a:lnTo>
                    <a:lnTo>
                      <a:pt x="432" y="431"/>
                    </a:lnTo>
                    <a:lnTo>
                      <a:pt x="405" y="383"/>
                    </a:lnTo>
                    <a:lnTo>
                      <a:pt x="375" y="337"/>
                    </a:lnTo>
                    <a:lnTo>
                      <a:pt x="339" y="290"/>
                    </a:lnTo>
                    <a:lnTo>
                      <a:pt x="301" y="245"/>
                    </a:lnTo>
                    <a:lnTo>
                      <a:pt x="259" y="201"/>
                    </a:lnTo>
                    <a:lnTo>
                      <a:pt x="215" y="159"/>
                    </a:lnTo>
                    <a:lnTo>
                      <a:pt x="166" y="117"/>
                    </a:lnTo>
                    <a:lnTo>
                      <a:pt x="114" y="77"/>
                    </a:lnTo>
                    <a:lnTo>
                      <a:pt x="58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7" name="Freeform 495"/>
              <p:cNvSpPr>
                <a:spLocks/>
              </p:cNvSpPr>
              <p:nvPr/>
            </p:nvSpPr>
            <p:spPr bwMode="auto">
              <a:xfrm>
                <a:off x="1893" y="2649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8" name="Line 496"/>
              <p:cNvSpPr>
                <a:spLocks noChangeShapeType="1"/>
              </p:cNvSpPr>
              <p:nvPr/>
            </p:nvSpPr>
            <p:spPr bwMode="auto">
              <a:xfrm>
                <a:off x="2004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49" name="Line 497"/>
              <p:cNvSpPr>
                <a:spLocks noChangeShapeType="1"/>
              </p:cNvSpPr>
              <p:nvPr/>
            </p:nvSpPr>
            <p:spPr bwMode="auto">
              <a:xfrm>
                <a:off x="1890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0" name="Freeform 498"/>
              <p:cNvSpPr>
                <a:spLocks/>
              </p:cNvSpPr>
              <p:nvPr/>
            </p:nvSpPr>
            <p:spPr bwMode="auto">
              <a:xfrm>
                <a:off x="1810" y="2825"/>
                <a:ext cx="80" cy="112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9"/>
                    </a:lnTo>
                    <a:lnTo>
                      <a:pt x="222" y="245"/>
                    </a:lnTo>
                    <a:lnTo>
                      <a:pt x="238" y="222"/>
                    </a:lnTo>
                    <a:lnTo>
                      <a:pt x="252" y="198"/>
                    </a:lnTo>
                    <a:lnTo>
                      <a:pt x="266" y="175"/>
                    </a:lnTo>
                    <a:lnTo>
                      <a:pt x="268" y="168"/>
                    </a:lnTo>
                    <a:lnTo>
                      <a:pt x="271" y="162"/>
                    </a:lnTo>
                    <a:lnTo>
                      <a:pt x="277" y="150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1" name="Freeform 499"/>
              <p:cNvSpPr>
                <a:spLocks/>
              </p:cNvSpPr>
              <p:nvPr/>
            </p:nvSpPr>
            <p:spPr bwMode="auto">
              <a:xfrm>
                <a:off x="1765" y="2825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80"/>
                    </a:lnTo>
                    <a:lnTo>
                      <a:pt x="131" y="248"/>
                    </a:lnTo>
                    <a:lnTo>
                      <a:pt x="163" y="216"/>
                    </a:lnTo>
                    <a:lnTo>
                      <a:pt x="189" y="182"/>
                    </a:lnTo>
                    <a:lnTo>
                      <a:pt x="213" y="148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2" name="Line 500"/>
              <p:cNvSpPr>
                <a:spLocks noChangeShapeType="1"/>
              </p:cNvSpPr>
              <p:nvPr/>
            </p:nvSpPr>
            <p:spPr bwMode="auto">
              <a:xfrm flipH="1">
                <a:off x="1809" y="2937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3" name="Freeform 501"/>
              <p:cNvSpPr>
                <a:spLocks/>
              </p:cNvSpPr>
              <p:nvPr/>
            </p:nvSpPr>
            <p:spPr bwMode="auto">
              <a:xfrm>
                <a:off x="1608" y="2937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4" name="Line 502"/>
              <p:cNvSpPr>
                <a:spLocks noChangeShapeType="1"/>
              </p:cNvSpPr>
              <p:nvPr/>
            </p:nvSpPr>
            <p:spPr bwMode="auto">
              <a:xfrm flipV="1">
                <a:off x="1809" y="2937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5" name="Freeform 503"/>
              <p:cNvSpPr>
                <a:spLocks/>
              </p:cNvSpPr>
              <p:nvPr/>
            </p:nvSpPr>
            <p:spPr bwMode="auto">
              <a:xfrm>
                <a:off x="1608" y="2964"/>
                <a:ext cx="248" cy="66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6" name="Line 504"/>
              <p:cNvSpPr>
                <a:spLocks noChangeShapeType="1"/>
              </p:cNvSpPr>
              <p:nvPr/>
            </p:nvSpPr>
            <p:spPr bwMode="auto">
              <a:xfrm flipH="1" flipV="1">
                <a:off x="1809" y="2937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7" name="Freeform 505"/>
              <p:cNvSpPr>
                <a:spLocks/>
              </p:cNvSpPr>
              <p:nvPr/>
            </p:nvSpPr>
            <p:spPr bwMode="auto">
              <a:xfrm>
                <a:off x="1608" y="2988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8" name="Line 506"/>
              <p:cNvSpPr>
                <a:spLocks noChangeShapeType="1"/>
              </p:cNvSpPr>
              <p:nvPr/>
            </p:nvSpPr>
            <p:spPr bwMode="auto">
              <a:xfrm flipH="1" flipV="1">
                <a:off x="1898" y="2988"/>
                <a:ext cx="46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59" name="Freeform 507"/>
              <p:cNvSpPr>
                <a:spLocks/>
              </p:cNvSpPr>
              <p:nvPr/>
            </p:nvSpPr>
            <p:spPr bwMode="auto">
              <a:xfrm>
                <a:off x="1898" y="2825"/>
                <a:ext cx="106" cy="163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9"/>
                    </a:lnTo>
                    <a:lnTo>
                      <a:pt x="384" y="217"/>
                    </a:lnTo>
                    <a:lnTo>
                      <a:pt x="385" y="211"/>
                    </a:lnTo>
                    <a:lnTo>
                      <a:pt x="387" y="206"/>
                    </a:lnTo>
                    <a:lnTo>
                      <a:pt x="391" y="196"/>
                    </a:lnTo>
                    <a:lnTo>
                      <a:pt x="399" y="176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868" name="Freeform 508"/>
              <p:cNvSpPr>
                <a:spLocks/>
              </p:cNvSpPr>
              <p:nvPr/>
            </p:nvSpPr>
            <p:spPr bwMode="auto">
              <a:xfrm>
                <a:off x="1608" y="3014"/>
                <a:ext cx="336" cy="94"/>
              </a:xfrm>
              <a:custGeom>
                <a:avLst/>
                <a:gdLst>
                  <a:gd name="T0" fmla="*/ 0 w 1346"/>
                  <a:gd name="T1" fmla="*/ 374 h 374"/>
                  <a:gd name="T2" fmla="*/ 46 w 1346"/>
                  <a:gd name="T3" fmla="*/ 372 h 374"/>
                  <a:gd name="T4" fmla="*/ 57 w 1346"/>
                  <a:gd name="T5" fmla="*/ 371 h 374"/>
                  <a:gd name="T6" fmla="*/ 69 w 1346"/>
                  <a:gd name="T7" fmla="*/ 371 h 374"/>
                  <a:gd name="T8" fmla="*/ 93 w 1346"/>
                  <a:gd name="T9" fmla="*/ 371 h 374"/>
                  <a:gd name="T10" fmla="*/ 115 w 1346"/>
                  <a:gd name="T11" fmla="*/ 369 h 374"/>
                  <a:gd name="T12" fmla="*/ 126 w 1346"/>
                  <a:gd name="T13" fmla="*/ 368 h 374"/>
                  <a:gd name="T14" fmla="*/ 138 w 1346"/>
                  <a:gd name="T15" fmla="*/ 368 h 374"/>
                  <a:gd name="T16" fmla="*/ 184 w 1346"/>
                  <a:gd name="T17" fmla="*/ 366 h 374"/>
                  <a:gd name="T18" fmla="*/ 274 w 1346"/>
                  <a:gd name="T19" fmla="*/ 358 h 374"/>
                  <a:gd name="T20" fmla="*/ 318 w 1346"/>
                  <a:gd name="T21" fmla="*/ 353 h 374"/>
                  <a:gd name="T22" fmla="*/ 363 w 1346"/>
                  <a:gd name="T23" fmla="*/ 349 h 374"/>
                  <a:gd name="T24" fmla="*/ 449 w 1346"/>
                  <a:gd name="T25" fmla="*/ 336 h 374"/>
                  <a:gd name="T26" fmla="*/ 491 w 1346"/>
                  <a:gd name="T27" fmla="*/ 329 h 374"/>
                  <a:gd name="T28" fmla="*/ 512 w 1346"/>
                  <a:gd name="T29" fmla="*/ 325 h 374"/>
                  <a:gd name="T30" fmla="*/ 534 w 1346"/>
                  <a:gd name="T31" fmla="*/ 322 h 374"/>
                  <a:gd name="T32" fmla="*/ 555 w 1346"/>
                  <a:gd name="T33" fmla="*/ 317 h 374"/>
                  <a:gd name="T34" fmla="*/ 576 w 1346"/>
                  <a:gd name="T35" fmla="*/ 313 h 374"/>
                  <a:gd name="T36" fmla="*/ 618 w 1346"/>
                  <a:gd name="T37" fmla="*/ 304 h 374"/>
                  <a:gd name="T38" fmla="*/ 700 w 1346"/>
                  <a:gd name="T39" fmla="*/ 285 h 374"/>
                  <a:gd name="T40" fmla="*/ 739 w 1346"/>
                  <a:gd name="T41" fmla="*/ 273 h 374"/>
                  <a:gd name="T42" fmla="*/ 779 w 1346"/>
                  <a:gd name="T43" fmla="*/ 262 h 374"/>
                  <a:gd name="T44" fmla="*/ 857 w 1346"/>
                  <a:gd name="T45" fmla="*/ 238 h 374"/>
                  <a:gd name="T46" fmla="*/ 933 w 1346"/>
                  <a:gd name="T47" fmla="*/ 210 h 374"/>
                  <a:gd name="T48" fmla="*/ 951 w 1346"/>
                  <a:gd name="T49" fmla="*/ 202 h 374"/>
                  <a:gd name="T50" fmla="*/ 960 w 1346"/>
                  <a:gd name="T51" fmla="*/ 198 h 374"/>
                  <a:gd name="T52" fmla="*/ 970 w 1346"/>
                  <a:gd name="T53" fmla="*/ 195 h 374"/>
                  <a:gd name="T54" fmla="*/ 1008 w 1346"/>
                  <a:gd name="T55" fmla="*/ 181 h 374"/>
                  <a:gd name="T56" fmla="*/ 1080 w 1346"/>
                  <a:gd name="T57" fmla="*/ 148 h 374"/>
                  <a:gd name="T58" fmla="*/ 1088 w 1346"/>
                  <a:gd name="T59" fmla="*/ 143 h 374"/>
                  <a:gd name="T60" fmla="*/ 1097 w 1346"/>
                  <a:gd name="T61" fmla="*/ 139 h 374"/>
                  <a:gd name="T62" fmla="*/ 1115 w 1346"/>
                  <a:gd name="T63" fmla="*/ 131 h 374"/>
                  <a:gd name="T64" fmla="*/ 1151 w 1346"/>
                  <a:gd name="T65" fmla="*/ 114 h 374"/>
                  <a:gd name="T66" fmla="*/ 1185 w 1346"/>
                  <a:gd name="T67" fmla="*/ 95 h 374"/>
                  <a:gd name="T68" fmla="*/ 1202 w 1346"/>
                  <a:gd name="T69" fmla="*/ 85 h 374"/>
                  <a:gd name="T70" fmla="*/ 1220 w 1346"/>
                  <a:gd name="T71" fmla="*/ 76 h 374"/>
                  <a:gd name="T72" fmla="*/ 1288 w 1346"/>
                  <a:gd name="T73" fmla="*/ 37 h 374"/>
                  <a:gd name="T74" fmla="*/ 1346 w 1346"/>
                  <a:gd name="T7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861" name="Freeform 509"/>
              <p:cNvSpPr>
                <a:spLocks/>
              </p:cNvSpPr>
              <p:nvPr/>
            </p:nvSpPr>
            <p:spPr bwMode="auto">
              <a:xfrm>
                <a:off x="1944" y="2825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80"/>
                    </a:lnTo>
                    <a:lnTo>
                      <a:pt x="428" y="256"/>
                    </a:lnTo>
                    <a:lnTo>
                      <a:pt x="436" y="231"/>
                    </a:lnTo>
                    <a:lnTo>
                      <a:pt x="445" y="207"/>
                    </a:lnTo>
                    <a:lnTo>
                      <a:pt x="451" y="181"/>
                    </a:lnTo>
                    <a:lnTo>
                      <a:pt x="457" y="156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2" name="Line 510"/>
              <p:cNvSpPr>
                <a:spLocks noChangeShapeType="1"/>
              </p:cNvSpPr>
              <p:nvPr/>
            </p:nvSpPr>
            <p:spPr bwMode="auto">
              <a:xfrm>
                <a:off x="1856" y="2964"/>
                <a:ext cx="42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3" name="Freeform 511"/>
              <p:cNvSpPr>
                <a:spLocks/>
              </p:cNvSpPr>
              <p:nvPr/>
            </p:nvSpPr>
            <p:spPr bwMode="auto">
              <a:xfrm>
                <a:off x="1856" y="2825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4" name="Line 512"/>
              <p:cNvSpPr>
                <a:spLocks noChangeShapeType="1"/>
              </p:cNvSpPr>
              <p:nvPr/>
            </p:nvSpPr>
            <p:spPr bwMode="auto">
              <a:xfrm flipH="1">
                <a:off x="1831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5" name="Line 513"/>
              <p:cNvSpPr>
                <a:spLocks noChangeShapeType="1"/>
              </p:cNvSpPr>
              <p:nvPr/>
            </p:nvSpPr>
            <p:spPr bwMode="auto">
              <a:xfrm flipH="1">
                <a:off x="1211" y="2825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6" name="Line 514"/>
              <p:cNvSpPr>
                <a:spLocks noChangeShapeType="1"/>
              </p:cNvSpPr>
              <p:nvPr/>
            </p:nvSpPr>
            <p:spPr bwMode="auto">
              <a:xfrm flipV="1">
                <a:off x="1608" y="2990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7" name="Line 515"/>
              <p:cNvSpPr>
                <a:spLocks noChangeShapeType="1"/>
              </p:cNvSpPr>
              <p:nvPr/>
            </p:nvSpPr>
            <p:spPr bwMode="auto">
              <a:xfrm flipV="1">
                <a:off x="1608" y="3068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8" name="Line 516"/>
              <p:cNvSpPr>
                <a:spLocks noChangeShapeType="1"/>
              </p:cNvSpPr>
              <p:nvPr/>
            </p:nvSpPr>
            <p:spPr bwMode="auto">
              <a:xfrm flipV="1">
                <a:off x="1608" y="3030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69" name="Line 517"/>
              <p:cNvSpPr>
                <a:spLocks noChangeShapeType="1"/>
              </p:cNvSpPr>
              <p:nvPr/>
            </p:nvSpPr>
            <p:spPr bwMode="auto">
              <a:xfrm flipV="1">
                <a:off x="1608" y="2953"/>
                <a:ext cx="0" cy="3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0" name="Freeform 518"/>
              <p:cNvSpPr>
                <a:spLocks/>
              </p:cNvSpPr>
              <p:nvPr/>
            </p:nvSpPr>
            <p:spPr bwMode="auto">
              <a:xfrm>
                <a:off x="1608" y="2913"/>
                <a:ext cx="157" cy="40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1" name="Line 519"/>
              <p:cNvSpPr>
                <a:spLocks noChangeShapeType="1"/>
              </p:cNvSpPr>
              <p:nvPr/>
            </p:nvSpPr>
            <p:spPr bwMode="auto">
              <a:xfrm flipH="1" flipV="1">
                <a:off x="1765" y="2913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2" name="Line 520"/>
              <p:cNvSpPr>
                <a:spLocks noChangeShapeType="1"/>
              </p:cNvSpPr>
              <p:nvPr/>
            </p:nvSpPr>
            <p:spPr bwMode="auto">
              <a:xfrm flipH="1">
                <a:off x="1949" y="2825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3" name="Freeform 521"/>
              <p:cNvSpPr>
                <a:spLocks/>
              </p:cNvSpPr>
              <p:nvPr/>
            </p:nvSpPr>
            <p:spPr bwMode="auto">
              <a:xfrm>
                <a:off x="1284" y="3024"/>
                <a:ext cx="324" cy="84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4" name="Freeform 522"/>
              <p:cNvSpPr>
                <a:spLocks/>
              </p:cNvSpPr>
              <p:nvPr/>
            </p:nvSpPr>
            <p:spPr bwMode="auto">
              <a:xfrm>
                <a:off x="1211" y="2658"/>
                <a:ext cx="101" cy="167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5" name="Freeform 523"/>
              <p:cNvSpPr>
                <a:spLocks/>
              </p:cNvSpPr>
              <p:nvPr/>
            </p:nvSpPr>
            <p:spPr bwMode="auto">
              <a:xfrm>
                <a:off x="1153" y="2635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6" name="Freeform 524"/>
              <p:cNvSpPr>
                <a:spLocks/>
              </p:cNvSpPr>
              <p:nvPr/>
            </p:nvSpPr>
            <p:spPr bwMode="auto">
              <a:xfrm>
                <a:off x="1312" y="2576"/>
                <a:ext cx="296" cy="8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7" name="Line 525"/>
              <p:cNvSpPr>
                <a:spLocks noChangeShapeType="1"/>
              </p:cNvSpPr>
              <p:nvPr/>
            </p:nvSpPr>
            <p:spPr bwMode="auto">
              <a:xfrm>
                <a:off x="1272" y="2635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8" name="Freeform 526"/>
              <p:cNvSpPr>
                <a:spLocks/>
              </p:cNvSpPr>
              <p:nvPr/>
            </p:nvSpPr>
            <p:spPr bwMode="auto">
              <a:xfrm>
                <a:off x="1272" y="2543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79" name="Freeform 527"/>
              <p:cNvSpPr>
                <a:spLocks/>
              </p:cNvSpPr>
              <p:nvPr/>
            </p:nvSpPr>
            <p:spPr bwMode="auto">
              <a:xfrm>
                <a:off x="1324" y="2702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0" name="Freeform 528"/>
              <p:cNvSpPr>
                <a:spLocks/>
              </p:cNvSpPr>
              <p:nvPr/>
            </p:nvSpPr>
            <p:spPr bwMode="auto">
              <a:xfrm>
                <a:off x="1266" y="2680"/>
                <a:ext cx="85" cy="145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1" name="Line 529"/>
              <p:cNvSpPr>
                <a:spLocks noChangeShapeType="1"/>
              </p:cNvSpPr>
              <p:nvPr/>
            </p:nvSpPr>
            <p:spPr bwMode="auto">
              <a:xfrm>
                <a:off x="1391" y="2702"/>
                <a:ext cx="4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2" name="Freeform 530"/>
              <p:cNvSpPr>
                <a:spLocks/>
              </p:cNvSpPr>
              <p:nvPr/>
            </p:nvSpPr>
            <p:spPr bwMode="auto">
              <a:xfrm>
                <a:off x="1391" y="2639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3" name="Freeform 531"/>
              <p:cNvSpPr>
                <a:spLocks/>
              </p:cNvSpPr>
              <p:nvPr/>
            </p:nvSpPr>
            <p:spPr bwMode="auto">
              <a:xfrm>
                <a:off x="1351" y="2607"/>
                <a:ext cx="257" cy="73"/>
              </a:xfrm>
              <a:custGeom>
                <a:avLst/>
                <a:gdLst>
                  <a:gd name="T0" fmla="*/ 0 w 1029"/>
                  <a:gd name="T1" fmla="*/ 0 h 290"/>
                  <a:gd name="T2" fmla="*/ 0 w 1029"/>
                  <a:gd name="T3" fmla="*/ 0 h 290"/>
                  <a:gd name="T4" fmla="*/ 0 w 1029"/>
                  <a:gd name="T5" fmla="*/ 0 h 290"/>
                  <a:gd name="T6" fmla="*/ 0 w 1029"/>
                  <a:gd name="T7" fmla="*/ 0 h 290"/>
                  <a:gd name="T8" fmla="*/ 0 w 1029"/>
                  <a:gd name="T9" fmla="*/ 0 h 290"/>
                  <a:gd name="T10" fmla="*/ 0 w 1029"/>
                  <a:gd name="T11" fmla="*/ 0 h 290"/>
                  <a:gd name="T12" fmla="*/ 0 w 1029"/>
                  <a:gd name="T13" fmla="*/ 0 h 290"/>
                  <a:gd name="T14" fmla="*/ 0 w 1029"/>
                  <a:gd name="T15" fmla="*/ 0 h 290"/>
                  <a:gd name="T16" fmla="*/ 0 w 1029"/>
                  <a:gd name="T17" fmla="*/ 0 h 290"/>
                  <a:gd name="T18" fmla="*/ 0 w 1029"/>
                  <a:gd name="T19" fmla="*/ 0 h 290"/>
                  <a:gd name="T20" fmla="*/ 0 w 1029"/>
                  <a:gd name="T21" fmla="*/ 0 h 290"/>
                  <a:gd name="T22" fmla="*/ 0 w 1029"/>
                  <a:gd name="T23" fmla="*/ 0 h 290"/>
                  <a:gd name="T24" fmla="*/ 0 w 1029"/>
                  <a:gd name="T25" fmla="*/ 0 h 290"/>
                  <a:gd name="T26" fmla="*/ 0 w 1029"/>
                  <a:gd name="T27" fmla="*/ 0 h 290"/>
                  <a:gd name="T28" fmla="*/ 0 w 1029"/>
                  <a:gd name="T29" fmla="*/ 0 h 290"/>
                  <a:gd name="T30" fmla="*/ 0 w 1029"/>
                  <a:gd name="T31" fmla="*/ 0 h 290"/>
                  <a:gd name="T32" fmla="*/ 0 w 1029"/>
                  <a:gd name="T33" fmla="*/ 0 h 290"/>
                  <a:gd name="T34" fmla="*/ 0 w 1029"/>
                  <a:gd name="T35" fmla="*/ 0 h 290"/>
                  <a:gd name="T36" fmla="*/ 0 w 1029"/>
                  <a:gd name="T37" fmla="*/ 0 h 290"/>
                  <a:gd name="T38" fmla="*/ 0 w 1029"/>
                  <a:gd name="T39" fmla="*/ 0 h 2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0"/>
                  <a:gd name="T62" fmla="*/ 1029 w 1029"/>
                  <a:gd name="T63" fmla="*/ 290 h 2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0">
                    <a:moveTo>
                      <a:pt x="0" y="290"/>
                    </a:moveTo>
                    <a:lnTo>
                      <a:pt x="7" y="282"/>
                    </a:lnTo>
                    <a:lnTo>
                      <a:pt x="16" y="277"/>
                    </a:lnTo>
                    <a:lnTo>
                      <a:pt x="129" y="210"/>
                    </a:lnTo>
                    <a:lnTo>
                      <a:pt x="176" y="183"/>
                    </a:lnTo>
                    <a:lnTo>
                      <a:pt x="225" y="160"/>
                    </a:lnTo>
                    <a:lnTo>
                      <a:pt x="275" y="137"/>
                    </a:lnTo>
                    <a:lnTo>
                      <a:pt x="327" y="117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4" name="Freeform 532"/>
              <p:cNvSpPr>
                <a:spLocks/>
              </p:cNvSpPr>
              <p:nvPr/>
            </p:nvSpPr>
            <p:spPr bwMode="auto">
              <a:xfrm>
                <a:off x="1351" y="2679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5" name="Freeform 533"/>
              <p:cNvSpPr>
                <a:spLocks/>
              </p:cNvSpPr>
              <p:nvPr/>
            </p:nvSpPr>
            <p:spPr bwMode="auto">
              <a:xfrm>
                <a:off x="1383" y="2726"/>
                <a:ext cx="49" cy="99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6" name="Line 534"/>
              <p:cNvSpPr>
                <a:spLocks noChangeShapeType="1"/>
              </p:cNvSpPr>
              <p:nvPr/>
            </p:nvSpPr>
            <p:spPr bwMode="auto">
              <a:xfrm flipH="1" flipV="1">
                <a:off x="1351" y="2680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7" name="Line 535"/>
              <p:cNvSpPr>
                <a:spLocks noChangeShapeType="1"/>
              </p:cNvSpPr>
              <p:nvPr/>
            </p:nvSpPr>
            <p:spPr bwMode="auto">
              <a:xfrm>
                <a:off x="1312" y="2658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8" name="Freeform 536"/>
              <p:cNvSpPr>
                <a:spLocks/>
              </p:cNvSpPr>
              <p:nvPr/>
            </p:nvSpPr>
            <p:spPr bwMode="auto">
              <a:xfrm>
                <a:off x="1432" y="2674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89" name="Freeform 537"/>
              <p:cNvSpPr>
                <a:spLocks/>
              </p:cNvSpPr>
              <p:nvPr/>
            </p:nvSpPr>
            <p:spPr bwMode="auto">
              <a:xfrm>
                <a:off x="1415" y="2918"/>
                <a:ext cx="42" cy="2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0" name="Freeform 538"/>
              <p:cNvSpPr>
                <a:spLocks/>
              </p:cNvSpPr>
              <p:nvPr/>
            </p:nvSpPr>
            <p:spPr bwMode="auto">
              <a:xfrm>
                <a:off x="1415" y="2944"/>
                <a:ext cx="193" cy="46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1" name="Freeform 539"/>
              <p:cNvSpPr>
                <a:spLocks/>
              </p:cNvSpPr>
              <p:nvPr/>
            </p:nvSpPr>
            <p:spPr bwMode="auto">
              <a:xfrm>
                <a:off x="1457" y="2918"/>
                <a:ext cx="151" cy="35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2" name="Freeform 540"/>
              <p:cNvSpPr>
                <a:spLocks/>
              </p:cNvSpPr>
              <p:nvPr/>
            </p:nvSpPr>
            <p:spPr bwMode="auto">
              <a:xfrm>
                <a:off x="1383" y="2825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3"/>
                    </a:lnTo>
                    <a:lnTo>
                      <a:pt x="154" y="269"/>
                    </a:lnTo>
                    <a:lnTo>
                      <a:pt x="139" y="256"/>
                    </a:lnTo>
                    <a:lnTo>
                      <a:pt x="110" y="227"/>
                    </a:lnTo>
                    <a:lnTo>
                      <a:pt x="85" y="199"/>
                    </a:lnTo>
                    <a:lnTo>
                      <a:pt x="62" y="169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3" name="Freeform 541"/>
              <p:cNvSpPr>
                <a:spLocks/>
              </p:cNvSpPr>
              <p:nvPr/>
            </p:nvSpPr>
            <p:spPr bwMode="auto">
              <a:xfrm>
                <a:off x="1266" y="2825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3"/>
                    </a:lnTo>
                    <a:lnTo>
                      <a:pt x="56" y="232"/>
                    </a:lnTo>
                    <a:lnTo>
                      <a:pt x="43" y="202"/>
                    </a:lnTo>
                    <a:lnTo>
                      <a:pt x="30" y="170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4" name="Freeform 542"/>
              <p:cNvSpPr>
                <a:spLocks/>
              </p:cNvSpPr>
              <p:nvPr/>
            </p:nvSpPr>
            <p:spPr bwMode="auto">
              <a:xfrm>
                <a:off x="1325" y="2825"/>
                <a:ext cx="90" cy="119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5" name="Line 543"/>
              <p:cNvSpPr>
                <a:spLocks noChangeShapeType="1"/>
              </p:cNvSpPr>
              <p:nvPr/>
            </p:nvSpPr>
            <p:spPr bwMode="auto">
              <a:xfrm flipH="1">
                <a:off x="1370" y="2944"/>
                <a:ext cx="45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6" name="Line 544"/>
              <p:cNvSpPr>
                <a:spLocks noChangeShapeType="1"/>
              </p:cNvSpPr>
              <p:nvPr/>
            </p:nvSpPr>
            <p:spPr bwMode="auto">
              <a:xfrm>
                <a:off x="1266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7" name="Freeform 545"/>
              <p:cNvSpPr>
                <a:spLocks/>
              </p:cNvSpPr>
              <p:nvPr/>
            </p:nvSpPr>
            <p:spPr bwMode="auto">
              <a:xfrm>
                <a:off x="1211" y="2825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8" name="Line 546"/>
              <p:cNvSpPr>
                <a:spLocks noChangeShapeType="1"/>
              </p:cNvSpPr>
              <p:nvPr/>
            </p:nvSpPr>
            <p:spPr bwMode="auto">
              <a:xfrm flipH="1">
                <a:off x="1284" y="2997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899" name="Freeform 547"/>
              <p:cNvSpPr>
                <a:spLocks/>
              </p:cNvSpPr>
              <p:nvPr/>
            </p:nvSpPr>
            <p:spPr bwMode="auto">
              <a:xfrm>
                <a:off x="1152" y="2825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0" name="Line 548"/>
              <p:cNvSpPr>
                <a:spLocks noChangeShapeType="1"/>
              </p:cNvSpPr>
              <p:nvPr/>
            </p:nvSpPr>
            <p:spPr bwMode="auto">
              <a:xfrm flipH="1">
                <a:off x="1328" y="2971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1" name="Line 549"/>
              <p:cNvSpPr>
                <a:spLocks noChangeShapeType="1"/>
              </p:cNvSpPr>
              <p:nvPr/>
            </p:nvSpPr>
            <p:spPr bwMode="auto">
              <a:xfrm flipH="1">
                <a:off x="1325" y="2825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2" name="Freeform 550"/>
              <p:cNvSpPr>
                <a:spLocks/>
              </p:cNvSpPr>
              <p:nvPr/>
            </p:nvSpPr>
            <p:spPr bwMode="auto">
              <a:xfrm>
                <a:off x="1328" y="2997"/>
                <a:ext cx="280" cy="71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3" name="Freeform 551"/>
              <p:cNvSpPr>
                <a:spLocks/>
              </p:cNvSpPr>
              <p:nvPr/>
            </p:nvSpPr>
            <p:spPr bwMode="auto">
              <a:xfrm>
                <a:off x="1370" y="2971"/>
                <a:ext cx="238" cy="59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4" name="Freeform 552"/>
              <p:cNvSpPr>
                <a:spLocks/>
              </p:cNvSpPr>
              <p:nvPr/>
            </p:nvSpPr>
            <p:spPr bwMode="auto">
              <a:xfrm>
                <a:off x="1608" y="2824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5" name="Freeform 553"/>
              <p:cNvSpPr>
                <a:spLocks/>
              </p:cNvSpPr>
              <p:nvPr/>
            </p:nvSpPr>
            <p:spPr bwMode="auto">
              <a:xfrm>
                <a:off x="1608" y="2825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6" name="Line 554"/>
              <p:cNvSpPr>
                <a:spLocks noChangeShapeType="1"/>
              </p:cNvSpPr>
              <p:nvPr/>
            </p:nvSpPr>
            <p:spPr bwMode="auto">
              <a:xfrm>
                <a:off x="1608" y="2825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07" name="Freeform 555"/>
              <p:cNvSpPr>
                <a:spLocks/>
              </p:cNvSpPr>
              <p:nvPr/>
            </p:nvSpPr>
            <p:spPr bwMode="auto">
              <a:xfrm>
                <a:off x="1634" y="2020"/>
                <a:ext cx="13" cy="798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3" y="0"/>
                    </a:move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3"/>
                    </a:lnTo>
                    <a:lnTo>
                      <a:pt x="3" y="200"/>
                    </a:lnTo>
                    <a:lnTo>
                      <a:pt x="3" y="223"/>
                    </a:lnTo>
                    <a:lnTo>
                      <a:pt x="3" y="246"/>
                    </a:lnTo>
                    <a:lnTo>
                      <a:pt x="3" y="265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60"/>
                    </a:lnTo>
                    <a:lnTo>
                      <a:pt x="3" y="1289"/>
                    </a:lnTo>
                    <a:lnTo>
                      <a:pt x="3" y="1315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4"/>
                    </a:lnTo>
                    <a:lnTo>
                      <a:pt x="3" y="2335"/>
                    </a:lnTo>
                    <a:lnTo>
                      <a:pt x="3" y="2364"/>
                    </a:lnTo>
                    <a:lnTo>
                      <a:pt x="3" y="2390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lnTo>
                      <a:pt x="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08" name="Freeform 556"/>
              <p:cNvSpPr>
                <a:spLocks/>
              </p:cNvSpPr>
              <p:nvPr/>
            </p:nvSpPr>
            <p:spPr bwMode="auto">
              <a:xfrm>
                <a:off x="1620" y="2020"/>
                <a:ext cx="15" cy="8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90"/>
                    </a:lnTo>
                    <a:lnTo>
                      <a:pt x="60" y="2364"/>
                    </a:lnTo>
                    <a:lnTo>
                      <a:pt x="60" y="2335"/>
                    </a:lnTo>
                    <a:lnTo>
                      <a:pt x="60" y="2304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5"/>
                    </a:lnTo>
                    <a:lnTo>
                      <a:pt x="60" y="1289"/>
                    </a:lnTo>
                    <a:lnTo>
                      <a:pt x="60" y="1260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5"/>
                    </a:lnTo>
                    <a:lnTo>
                      <a:pt x="60" y="246"/>
                    </a:lnTo>
                    <a:lnTo>
                      <a:pt x="60" y="223"/>
                    </a:lnTo>
                    <a:lnTo>
                      <a:pt x="60" y="200"/>
                    </a:lnTo>
                    <a:lnTo>
                      <a:pt x="60" y="173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09" name="Freeform 557"/>
              <p:cNvSpPr>
                <a:spLocks/>
              </p:cNvSpPr>
              <p:nvPr/>
            </p:nvSpPr>
            <p:spPr bwMode="auto">
              <a:xfrm>
                <a:off x="1597" y="2020"/>
                <a:ext cx="25" cy="808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4"/>
                    </a:lnTo>
                    <a:lnTo>
                      <a:pt x="0" y="247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6"/>
                    </a:lnTo>
                    <a:lnTo>
                      <a:pt x="0" y="1302"/>
                    </a:lnTo>
                    <a:lnTo>
                      <a:pt x="0" y="1310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6"/>
                    </a:lnTo>
                    <a:lnTo>
                      <a:pt x="0" y="2365"/>
                    </a:lnTo>
                    <a:lnTo>
                      <a:pt x="0" y="2383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10" name="Freeform 558"/>
              <p:cNvSpPr>
                <a:spLocks/>
              </p:cNvSpPr>
              <p:nvPr/>
            </p:nvSpPr>
            <p:spPr bwMode="auto">
              <a:xfrm>
                <a:off x="1541" y="2020"/>
                <a:ext cx="59" cy="808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7"/>
                    </a:lnTo>
                    <a:lnTo>
                      <a:pt x="226" y="204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3"/>
                    </a:lnTo>
                    <a:lnTo>
                      <a:pt x="226" y="2365"/>
                    </a:lnTo>
                    <a:lnTo>
                      <a:pt x="226" y="2326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10"/>
                    </a:lnTo>
                    <a:lnTo>
                      <a:pt x="226" y="1302"/>
                    </a:lnTo>
                    <a:lnTo>
                      <a:pt x="226" y="1256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11" name="Line 559"/>
              <p:cNvSpPr>
                <a:spLocks noChangeShapeType="1"/>
              </p:cNvSpPr>
              <p:nvPr/>
            </p:nvSpPr>
            <p:spPr bwMode="auto">
              <a:xfrm>
                <a:off x="1541" y="2020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2" name="Line 560"/>
              <p:cNvSpPr>
                <a:spLocks noChangeShapeType="1"/>
              </p:cNvSpPr>
              <p:nvPr/>
            </p:nvSpPr>
            <p:spPr bwMode="auto">
              <a:xfrm>
                <a:off x="1647" y="2020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3" name="Freeform 561"/>
              <p:cNvSpPr>
                <a:spLocks/>
              </p:cNvSpPr>
              <p:nvPr/>
            </p:nvSpPr>
            <p:spPr bwMode="auto">
              <a:xfrm>
                <a:off x="1608" y="1706"/>
                <a:ext cx="324" cy="106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1"/>
                    </a:lnTo>
                    <a:lnTo>
                      <a:pt x="709" y="228"/>
                    </a:lnTo>
                    <a:lnTo>
                      <a:pt x="767" y="248"/>
                    </a:lnTo>
                    <a:lnTo>
                      <a:pt x="823" y="268"/>
                    </a:lnTo>
                    <a:lnTo>
                      <a:pt x="879" y="291"/>
                    </a:lnTo>
                    <a:lnTo>
                      <a:pt x="934" y="314"/>
                    </a:lnTo>
                    <a:lnTo>
                      <a:pt x="988" y="341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29"/>
                    </a:lnTo>
                    <a:lnTo>
                      <a:pt x="1285" y="321"/>
                    </a:lnTo>
                    <a:lnTo>
                      <a:pt x="1274" y="314"/>
                    </a:lnTo>
                    <a:lnTo>
                      <a:pt x="1169" y="258"/>
                    </a:lnTo>
                    <a:lnTo>
                      <a:pt x="1106" y="225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4" name="Freeform 562"/>
              <p:cNvSpPr>
                <a:spLocks/>
              </p:cNvSpPr>
              <p:nvPr/>
            </p:nvSpPr>
            <p:spPr bwMode="auto">
              <a:xfrm>
                <a:off x="1272" y="1706"/>
                <a:ext cx="336" cy="114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5" name="Freeform 563"/>
              <p:cNvSpPr>
                <a:spLocks/>
              </p:cNvSpPr>
              <p:nvPr/>
            </p:nvSpPr>
            <p:spPr bwMode="auto">
              <a:xfrm>
                <a:off x="1608" y="1738"/>
                <a:ext cx="285" cy="97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29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6" name="Freeform 564"/>
              <p:cNvSpPr>
                <a:spLocks/>
              </p:cNvSpPr>
              <p:nvPr/>
            </p:nvSpPr>
            <p:spPr bwMode="auto">
              <a:xfrm>
                <a:off x="1608" y="1770"/>
                <a:ext cx="247" cy="89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7" name="Freeform 565"/>
              <p:cNvSpPr>
                <a:spLocks/>
              </p:cNvSpPr>
              <p:nvPr/>
            </p:nvSpPr>
            <p:spPr bwMode="auto">
              <a:xfrm>
                <a:off x="1608" y="1802"/>
                <a:ext cx="209" cy="8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8" name="Freeform 566"/>
              <p:cNvSpPr>
                <a:spLocks/>
              </p:cNvSpPr>
              <p:nvPr/>
            </p:nvSpPr>
            <p:spPr bwMode="auto">
              <a:xfrm>
                <a:off x="1351" y="1770"/>
                <a:ext cx="257" cy="95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19" name="Freeform 567"/>
              <p:cNvSpPr>
                <a:spLocks/>
              </p:cNvSpPr>
              <p:nvPr/>
            </p:nvSpPr>
            <p:spPr bwMode="auto">
              <a:xfrm>
                <a:off x="1312" y="1738"/>
                <a:ext cx="296" cy="104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5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0" name="Freeform 568"/>
              <p:cNvSpPr>
                <a:spLocks noEditPoints="1"/>
              </p:cNvSpPr>
              <p:nvPr/>
            </p:nvSpPr>
            <p:spPr bwMode="auto">
              <a:xfrm>
                <a:off x="1383" y="1836"/>
                <a:ext cx="449" cy="279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1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21" name="Freeform 569"/>
              <p:cNvSpPr>
                <a:spLocks/>
              </p:cNvSpPr>
              <p:nvPr/>
            </p:nvSpPr>
            <p:spPr bwMode="auto">
              <a:xfrm>
                <a:off x="1608" y="198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2" name="Freeform 570"/>
              <p:cNvSpPr>
                <a:spLocks/>
              </p:cNvSpPr>
              <p:nvPr/>
            </p:nvSpPr>
            <p:spPr bwMode="auto">
              <a:xfrm>
                <a:off x="1608" y="198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3" name="Freeform 571"/>
              <p:cNvSpPr>
                <a:spLocks/>
              </p:cNvSpPr>
              <p:nvPr/>
            </p:nvSpPr>
            <p:spPr bwMode="auto">
              <a:xfrm>
                <a:off x="1391" y="1802"/>
                <a:ext cx="217" cy="86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4" name="Freeform 572"/>
              <p:cNvSpPr>
                <a:spLocks/>
              </p:cNvSpPr>
              <p:nvPr/>
            </p:nvSpPr>
            <p:spPr bwMode="auto">
              <a:xfrm>
                <a:off x="1893" y="1788"/>
                <a:ext cx="170" cy="200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5" name="Freeform 573"/>
              <p:cNvSpPr>
                <a:spLocks/>
              </p:cNvSpPr>
              <p:nvPr/>
            </p:nvSpPr>
            <p:spPr bwMode="auto">
              <a:xfrm>
                <a:off x="1833" y="1821"/>
                <a:ext cx="4" cy="2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6" name="Freeform 574"/>
              <p:cNvSpPr>
                <a:spLocks/>
              </p:cNvSpPr>
              <p:nvPr/>
            </p:nvSpPr>
            <p:spPr bwMode="auto">
              <a:xfrm>
                <a:off x="1836" y="1823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7" name="Freeform 575"/>
              <p:cNvSpPr>
                <a:spLocks/>
              </p:cNvSpPr>
              <p:nvPr/>
            </p:nvSpPr>
            <p:spPr bwMode="auto">
              <a:xfrm>
                <a:off x="1777" y="1859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8" name="Freeform 576"/>
              <p:cNvSpPr>
                <a:spLocks/>
              </p:cNvSpPr>
              <p:nvPr/>
            </p:nvSpPr>
            <p:spPr bwMode="auto">
              <a:xfrm>
                <a:off x="1817" y="1835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29" name="Freeform 577"/>
              <p:cNvSpPr>
                <a:spLocks/>
              </p:cNvSpPr>
              <p:nvPr/>
            </p:nvSpPr>
            <p:spPr bwMode="auto">
              <a:xfrm>
                <a:off x="1855" y="1812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938" name="Freeform 578"/>
              <p:cNvSpPr>
                <a:spLocks/>
              </p:cNvSpPr>
              <p:nvPr/>
            </p:nvSpPr>
            <p:spPr bwMode="auto">
              <a:xfrm>
                <a:off x="1898" y="1988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931" name="Freeform 579"/>
              <p:cNvSpPr>
                <a:spLocks/>
              </p:cNvSpPr>
              <p:nvPr/>
            </p:nvSpPr>
            <p:spPr bwMode="auto">
              <a:xfrm>
                <a:off x="1809" y="1988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0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7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2" name="Freeform 580"/>
              <p:cNvSpPr>
                <a:spLocks/>
              </p:cNvSpPr>
              <p:nvPr/>
            </p:nvSpPr>
            <p:spPr bwMode="auto">
              <a:xfrm>
                <a:off x="1765" y="1988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0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3" name="Freeform 581"/>
              <p:cNvSpPr>
                <a:spLocks/>
              </p:cNvSpPr>
              <p:nvPr/>
            </p:nvSpPr>
            <p:spPr bwMode="auto">
              <a:xfrm>
                <a:off x="1809" y="2099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4" name="Freeform 582"/>
              <p:cNvSpPr>
                <a:spLocks/>
              </p:cNvSpPr>
              <p:nvPr/>
            </p:nvSpPr>
            <p:spPr bwMode="auto">
              <a:xfrm>
                <a:off x="1608" y="2100"/>
                <a:ext cx="248" cy="92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5" name="Freeform 583"/>
              <p:cNvSpPr>
                <a:spLocks/>
              </p:cNvSpPr>
              <p:nvPr/>
            </p:nvSpPr>
            <p:spPr bwMode="auto">
              <a:xfrm>
                <a:off x="1608" y="2076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6" name="Freeform 584"/>
              <p:cNvSpPr>
                <a:spLocks/>
              </p:cNvSpPr>
              <p:nvPr/>
            </p:nvSpPr>
            <p:spPr bwMode="auto">
              <a:xfrm>
                <a:off x="1608" y="2127"/>
                <a:ext cx="290" cy="103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37" name="Freeform 585"/>
              <p:cNvSpPr>
                <a:spLocks/>
              </p:cNvSpPr>
              <p:nvPr/>
            </p:nvSpPr>
            <p:spPr bwMode="auto">
              <a:xfrm>
                <a:off x="1856" y="2126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59946" name="Freeform 586"/>
              <p:cNvSpPr>
                <a:spLocks/>
              </p:cNvSpPr>
              <p:nvPr/>
            </p:nvSpPr>
            <p:spPr bwMode="auto">
              <a:xfrm>
                <a:off x="1608" y="2149"/>
                <a:ext cx="336" cy="121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939" name="Freeform 587"/>
              <p:cNvSpPr>
                <a:spLocks/>
              </p:cNvSpPr>
              <p:nvPr/>
            </p:nvSpPr>
            <p:spPr bwMode="auto">
              <a:xfrm>
                <a:off x="1856" y="1988"/>
                <a:ext cx="148" cy="162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0" name="Freeform 588"/>
              <p:cNvSpPr>
                <a:spLocks/>
              </p:cNvSpPr>
              <p:nvPr/>
            </p:nvSpPr>
            <p:spPr bwMode="auto">
              <a:xfrm>
                <a:off x="1370" y="2106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1" name="Freeform 589"/>
              <p:cNvSpPr>
                <a:spLocks/>
              </p:cNvSpPr>
              <p:nvPr/>
            </p:nvSpPr>
            <p:spPr bwMode="auto">
              <a:xfrm>
                <a:off x="1284" y="2160"/>
                <a:ext cx="324" cy="110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42" name="Freeform 590"/>
              <p:cNvSpPr>
                <a:spLocks/>
              </p:cNvSpPr>
              <p:nvPr/>
            </p:nvSpPr>
            <p:spPr bwMode="auto">
              <a:xfrm>
                <a:off x="1328" y="2134"/>
                <a:ext cx="280" cy="96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3" name="Freeform 591"/>
              <p:cNvSpPr>
                <a:spLocks/>
              </p:cNvSpPr>
              <p:nvPr/>
            </p:nvSpPr>
            <p:spPr bwMode="auto">
              <a:xfrm>
                <a:off x="1415" y="2081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4" name="Freeform 592"/>
              <p:cNvSpPr>
                <a:spLocks/>
              </p:cNvSpPr>
              <p:nvPr/>
            </p:nvSpPr>
            <p:spPr bwMode="auto">
              <a:xfrm>
                <a:off x="1153" y="1798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5" name="Freeform 593"/>
              <p:cNvSpPr>
                <a:spLocks/>
              </p:cNvSpPr>
              <p:nvPr/>
            </p:nvSpPr>
            <p:spPr bwMode="auto">
              <a:xfrm>
                <a:off x="1211" y="1820"/>
                <a:ext cx="140" cy="168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6" name="Freeform 594"/>
              <p:cNvSpPr>
                <a:spLocks/>
              </p:cNvSpPr>
              <p:nvPr/>
            </p:nvSpPr>
            <p:spPr bwMode="auto">
              <a:xfrm>
                <a:off x="1324" y="1865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7" name="Freeform 595"/>
              <p:cNvSpPr>
                <a:spLocks/>
              </p:cNvSpPr>
              <p:nvPr/>
            </p:nvSpPr>
            <p:spPr bwMode="auto">
              <a:xfrm>
                <a:off x="1266" y="1842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8" name="Freeform 596"/>
              <p:cNvSpPr>
                <a:spLocks/>
              </p:cNvSpPr>
              <p:nvPr/>
            </p:nvSpPr>
            <p:spPr bwMode="auto">
              <a:xfrm>
                <a:off x="1456" y="2080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49" name="Freeform 597"/>
              <p:cNvSpPr>
                <a:spLocks/>
              </p:cNvSpPr>
              <p:nvPr/>
            </p:nvSpPr>
            <p:spPr bwMode="auto">
              <a:xfrm>
                <a:off x="1325" y="1988"/>
                <a:ext cx="131" cy="118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5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0" name="Freeform 598"/>
              <p:cNvSpPr>
                <a:spLocks/>
              </p:cNvSpPr>
              <p:nvPr/>
            </p:nvSpPr>
            <p:spPr bwMode="auto">
              <a:xfrm>
                <a:off x="1266" y="1988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7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2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1" name="Freeform 599"/>
              <p:cNvSpPr>
                <a:spLocks/>
              </p:cNvSpPr>
              <p:nvPr/>
            </p:nvSpPr>
            <p:spPr bwMode="auto">
              <a:xfrm>
                <a:off x="1211" y="1988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2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2" name="Freeform 600"/>
              <p:cNvSpPr>
                <a:spLocks/>
              </p:cNvSpPr>
              <p:nvPr/>
            </p:nvSpPr>
            <p:spPr bwMode="auto">
              <a:xfrm>
                <a:off x="1152" y="1988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953" name="Freeform 601"/>
              <p:cNvSpPr>
                <a:spLocks/>
              </p:cNvSpPr>
              <p:nvPr/>
            </p:nvSpPr>
            <p:spPr bwMode="auto">
              <a:xfrm>
                <a:off x="1608" y="1706"/>
                <a:ext cx="324" cy="8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4" name="Line 602"/>
              <p:cNvSpPr>
                <a:spLocks noChangeShapeType="1"/>
              </p:cNvSpPr>
              <p:nvPr/>
            </p:nvSpPr>
            <p:spPr bwMode="auto">
              <a:xfrm flipV="1">
                <a:off x="1608" y="1706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5" name="Freeform 603"/>
              <p:cNvSpPr>
                <a:spLocks/>
              </p:cNvSpPr>
              <p:nvPr/>
            </p:nvSpPr>
            <p:spPr bwMode="auto">
              <a:xfrm>
                <a:off x="1608" y="1738"/>
                <a:ext cx="285" cy="74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6" name="Freeform 604"/>
              <p:cNvSpPr>
                <a:spLocks/>
              </p:cNvSpPr>
              <p:nvPr/>
            </p:nvSpPr>
            <p:spPr bwMode="auto">
              <a:xfrm>
                <a:off x="1608" y="1802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7" name="Line 605"/>
              <p:cNvSpPr>
                <a:spLocks noChangeShapeType="1"/>
              </p:cNvSpPr>
              <p:nvPr/>
            </p:nvSpPr>
            <p:spPr bwMode="auto">
              <a:xfrm flipV="1">
                <a:off x="1608" y="1770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8" name="Freeform 606"/>
              <p:cNvSpPr>
                <a:spLocks/>
              </p:cNvSpPr>
              <p:nvPr/>
            </p:nvSpPr>
            <p:spPr bwMode="auto">
              <a:xfrm>
                <a:off x="1608" y="1770"/>
                <a:ext cx="225" cy="51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59" name="Line 607"/>
              <p:cNvSpPr>
                <a:spLocks noChangeShapeType="1"/>
              </p:cNvSpPr>
              <p:nvPr/>
            </p:nvSpPr>
            <p:spPr bwMode="auto">
              <a:xfrm flipV="1">
                <a:off x="1608" y="1738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0" name="Line 608"/>
              <p:cNvSpPr>
                <a:spLocks noChangeShapeType="1"/>
              </p:cNvSpPr>
              <p:nvPr/>
            </p:nvSpPr>
            <p:spPr bwMode="auto">
              <a:xfrm>
                <a:off x="1153" y="198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1" name="Freeform 609"/>
              <p:cNvSpPr>
                <a:spLocks/>
              </p:cNvSpPr>
              <p:nvPr/>
            </p:nvSpPr>
            <p:spPr bwMode="auto">
              <a:xfrm>
                <a:off x="1608" y="1836"/>
                <a:ext cx="169" cy="47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2" name="Line 610"/>
              <p:cNvSpPr>
                <a:spLocks noChangeShapeType="1"/>
              </p:cNvSpPr>
              <p:nvPr/>
            </p:nvSpPr>
            <p:spPr bwMode="auto">
              <a:xfrm flipV="1">
                <a:off x="1608" y="1802"/>
                <a:ext cx="0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3" name="Line 611"/>
              <p:cNvSpPr>
                <a:spLocks noChangeShapeType="1"/>
              </p:cNvSpPr>
              <p:nvPr/>
            </p:nvSpPr>
            <p:spPr bwMode="auto">
              <a:xfrm flipH="1">
                <a:off x="1893" y="1788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4" name="Freeform 612"/>
              <p:cNvSpPr>
                <a:spLocks/>
              </p:cNvSpPr>
              <p:nvPr/>
            </p:nvSpPr>
            <p:spPr bwMode="auto">
              <a:xfrm>
                <a:off x="1836" y="1823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5" name="Line 613"/>
              <p:cNvSpPr>
                <a:spLocks noChangeShapeType="1"/>
              </p:cNvSpPr>
              <p:nvPr/>
            </p:nvSpPr>
            <p:spPr bwMode="auto">
              <a:xfrm>
                <a:off x="1833" y="1821"/>
                <a:ext cx="3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6" name="Line 614"/>
              <p:cNvSpPr>
                <a:spLocks noChangeShapeType="1"/>
              </p:cNvSpPr>
              <p:nvPr/>
            </p:nvSpPr>
            <p:spPr bwMode="auto">
              <a:xfrm>
                <a:off x="1836" y="1823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7" name="Freeform 615"/>
              <p:cNvSpPr>
                <a:spLocks/>
              </p:cNvSpPr>
              <p:nvPr/>
            </p:nvSpPr>
            <p:spPr bwMode="auto">
              <a:xfrm>
                <a:off x="1836" y="1823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8" name="Line 616"/>
              <p:cNvSpPr>
                <a:spLocks noChangeShapeType="1"/>
              </p:cNvSpPr>
              <p:nvPr/>
            </p:nvSpPr>
            <p:spPr bwMode="auto">
              <a:xfrm>
                <a:off x="1833" y="1821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69" name="Freeform 617"/>
              <p:cNvSpPr>
                <a:spLocks/>
              </p:cNvSpPr>
              <p:nvPr/>
            </p:nvSpPr>
            <p:spPr bwMode="auto">
              <a:xfrm>
                <a:off x="1777" y="1883"/>
                <a:ext cx="55" cy="105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0" name="Line 618"/>
              <p:cNvSpPr>
                <a:spLocks noChangeShapeType="1"/>
              </p:cNvSpPr>
              <p:nvPr/>
            </p:nvSpPr>
            <p:spPr bwMode="auto">
              <a:xfrm flipH="1">
                <a:off x="1817" y="1835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1" name="Freeform 619"/>
              <p:cNvSpPr>
                <a:spLocks/>
              </p:cNvSpPr>
              <p:nvPr/>
            </p:nvSpPr>
            <p:spPr bwMode="auto">
              <a:xfrm>
                <a:off x="1855" y="1835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2" name="Freeform 620"/>
              <p:cNvSpPr>
                <a:spLocks/>
              </p:cNvSpPr>
              <p:nvPr/>
            </p:nvSpPr>
            <p:spPr bwMode="auto">
              <a:xfrm>
                <a:off x="1817" y="1859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3" name="Line 621"/>
              <p:cNvSpPr>
                <a:spLocks noChangeShapeType="1"/>
              </p:cNvSpPr>
              <p:nvPr/>
            </p:nvSpPr>
            <p:spPr bwMode="auto">
              <a:xfrm flipV="1">
                <a:off x="1855" y="1812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4" name="Line 622"/>
              <p:cNvSpPr>
                <a:spLocks noChangeShapeType="1"/>
              </p:cNvSpPr>
              <p:nvPr/>
            </p:nvSpPr>
            <p:spPr bwMode="auto">
              <a:xfrm flipH="1">
                <a:off x="1777" y="1859"/>
                <a:ext cx="4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5" name="Freeform 623"/>
              <p:cNvSpPr>
                <a:spLocks/>
              </p:cNvSpPr>
              <p:nvPr/>
            </p:nvSpPr>
            <p:spPr bwMode="auto">
              <a:xfrm>
                <a:off x="1932" y="1788"/>
                <a:ext cx="131" cy="200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6" name="Freeform 624"/>
              <p:cNvSpPr>
                <a:spLocks/>
              </p:cNvSpPr>
              <p:nvPr/>
            </p:nvSpPr>
            <p:spPr bwMode="auto">
              <a:xfrm>
                <a:off x="1893" y="1812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7" name="Line 625"/>
              <p:cNvSpPr>
                <a:spLocks noChangeShapeType="1"/>
              </p:cNvSpPr>
              <p:nvPr/>
            </p:nvSpPr>
            <p:spPr bwMode="auto">
              <a:xfrm>
                <a:off x="2004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8" name="Line 626"/>
              <p:cNvSpPr>
                <a:spLocks noChangeShapeType="1"/>
              </p:cNvSpPr>
              <p:nvPr/>
            </p:nvSpPr>
            <p:spPr bwMode="auto">
              <a:xfrm>
                <a:off x="1890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79" name="Freeform 627"/>
              <p:cNvSpPr>
                <a:spLocks/>
              </p:cNvSpPr>
              <p:nvPr/>
            </p:nvSpPr>
            <p:spPr bwMode="auto">
              <a:xfrm>
                <a:off x="1810" y="1988"/>
                <a:ext cx="80" cy="111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0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0" name="Freeform 628"/>
              <p:cNvSpPr>
                <a:spLocks/>
              </p:cNvSpPr>
              <p:nvPr/>
            </p:nvSpPr>
            <p:spPr bwMode="auto">
              <a:xfrm>
                <a:off x="1765" y="1988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1" name="Line 629"/>
              <p:cNvSpPr>
                <a:spLocks noChangeShapeType="1"/>
              </p:cNvSpPr>
              <p:nvPr/>
            </p:nvSpPr>
            <p:spPr bwMode="auto">
              <a:xfrm flipH="1">
                <a:off x="1809" y="2100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2" name="Freeform 630"/>
              <p:cNvSpPr>
                <a:spLocks/>
              </p:cNvSpPr>
              <p:nvPr/>
            </p:nvSpPr>
            <p:spPr bwMode="auto">
              <a:xfrm>
                <a:off x="1608" y="2100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3" name="Line 631"/>
              <p:cNvSpPr>
                <a:spLocks noChangeShapeType="1"/>
              </p:cNvSpPr>
              <p:nvPr/>
            </p:nvSpPr>
            <p:spPr bwMode="auto">
              <a:xfrm flipV="1">
                <a:off x="1809" y="2099"/>
                <a:ext cx="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4" name="Freeform 632"/>
              <p:cNvSpPr>
                <a:spLocks/>
              </p:cNvSpPr>
              <p:nvPr/>
            </p:nvSpPr>
            <p:spPr bwMode="auto">
              <a:xfrm>
                <a:off x="1608" y="2127"/>
                <a:ext cx="248" cy="65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5" name="Line 633"/>
              <p:cNvSpPr>
                <a:spLocks noChangeShapeType="1"/>
              </p:cNvSpPr>
              <p:nvPr/>
            </p:nvSpPr>
            <p:spPr bwMode="auto">
              <a:xfrm flipH="1" flipV="1">
                <a:off x="1809" y="2100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6" name="Freeform 634"/>
              <p:cNvSpPr>
                <a:spLocks/>
              </p:cNvSpPr>
              <p:nvPr/>
            </p:nvSpPr>
            <p:spPr bwMode="auto">
              <a:xfrm>
                <a:off x="1608" y="2150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7" name="Line 635"/>
              <p:cNvSpPr>
                <a:spLocks noChangeShapeType="1"/>
              </p:cNvSpPr>
              <p:nvPr/>
            </p:nvSpPr>
            <p:spPr bwMode="auto">
              <a:xfrm flipH="1" flipV="1">
                <a:off x="1898" y="2150"/>
                <a:ext cx="46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8" name="Freeform 636"/>
              <p:cNvSpPr>
                <a:spLocks/>
              </p:cNvSpPr>
              <p:nvPr/>
            </p:nvSpPr>
            <p:spPr bwMode="auto">
              <a:xfrm>
                <a:off x="1898" y="1988"/>
                <a:ext cx="106" cy="162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89" name="Freeform 637"/>
              <p:cNvSpPr>
                <a:spLocks/>
              </p:cNvSpPr>
              <p:nvPr/>
            </p:nvSpPr>
            <p:spPr bwMode="auto">
              <a:xfrm>
                <a:off x="1608" y="2177"/>
                <a:ext cx="336" cy="93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0" name="Freeform 638"/>
              <p:cNvSpPr>
                <a:spLocks/>
              </p:cNvSpPr>
              <p:nvPr/>
            </p:nvSpPr>
            <p:spPr bwMode="auto">
              <a:xfrm>
                <a:off x="1944" y="1988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1" name="Line 639"/>
              <p:cNvSpPr>
                <a:spLocks noChangeShapeType="1"/>
              </p:cNvSpPr>
              <p:nvPr/>
            </p:nvSpPr>
            <p:spPr bwMode="auto">
              <a:xfrm>
                <a:off x="1856" y="2127"/>
                <a:ext cx="42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2" name="Freeform 640"/>
              <p:cNvSpPr>
                <a:spLocks/>
              </p:cNvSpPr>
              <p:nvPr/>
            </p:nvSpPr>
            <p:spPr bwMode="auto">
              <a:xfrm>
                <a:off x="1856" y="1988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3" name="Line 641"/>
              <p:cNvSpPr>
                <a:spLocks noChangeShapeType="1"/>
              </p:cNvSpPr>
              <p:nvPr/>
            </p:nvSpPr>
            <p:spPr bwMode="auto">
              <a:xfrm flipH="1">
                <a:off x="1831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4" name="Line 642"/>
              <p:cNvSpPr>
                <a:spLocks noChangeShapeType="1"/>
              </p:cNvSpPr>
              <p:nvPr/>
            </p:nvSpPr>
            <p:spPr bwMode="auto">
              <a:xfrm flipH="1">
                <a:off x="1211" y="198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5" name="Line 643"/>
              <p:cNvSpPr>
                <a:spLocks noChangeShapeType="1"/>
              </p:cNvSpPr>
              <p:nvPr/>
            </p:nvSpPr>
            <p:spPr bwMode="auto">
              <a:xfrm flipV="1">
                <a:off x="1608" y="2153"/>
                <a:ext cx="0" cy="3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6" name="Line 644"/>
              <p:cNvSpPr>
                <a:spLocks noChangeShapeType="1"/>
              </p:cNvSpPr>
              <p:nvPr/>
            </p:nvSpPr>
            <p:spPr bwMode="auto">
              <a:xfrm flipV="1">
                <a:off x="1608" y="2230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7" name="Line 645"/>
              <p:cNvSpPr>
                <a:spLocks noChangeShapeType="1"/>
              </p:cNvSpPr>
              <p:nvPr/>
            </p:nvSpPr>
            <p:spPr bwMode="auto">
              <a:xfrm flipV="1">
                <a:off x="1608" y="2192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8" name="Line 646"/>
              <p:cNvSpPr>
                <a:spLocks noChangeShapeType="1"/>
              </p:cNvSpPr>
              <p:nvPr/>
            </p:nvSpPr>
            <p:spPr bwMode="auto">
              <a:xfrm flipV="1">
                <a:off x="1608" y="2115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999" name="Freeform 647"/>
              <p:cNvSpPr>
                <a:spLocks/>
              </p:cNvSpPr>
              <p:nvPr/>
            </p:nvSpPr>
            <p:spPr bwMode="auto">
              <a:xfrm>
                <a:off x="1608" y="2076"/>
                <a:ext cx="157" cy="39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0" name="Line 648"/>
              <p:cNvSpPr>
                <a:spLocks noChangeShapeType="1"/>
              </p:cNvSpPr>
              <p:nvPr/>
            </p:nvSpPr>
            <p:spPr bwMode="auto">
              <a:xfrm flipH="1" flipV="1">
                <a:off x="1765" y="2076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1" name="Line 649"/>
              <p:cNvSpPr>
                <a:spLocks noChangeShapeType="1"/>
              </p:cNvSpPr>
              <p:nvPr/>
            </p:nvSpPr>
            <p:spPr bwMode="auto">
              <a:xfrm flipH="1">
                <a:off x="1949" y="198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2" name="Freeform 650"/>
              <p:cNvSpPr>
                <a:spLocks/>
              </p:cNvSpPr>
              <p:nvPr/>
            </p:nvSpPr>
            <p:spPr bwMode="auto">
              <a:xfrm>
                <a:off x="1284" y="2187"/>
                <a:ext cx="324" cy="83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3" name="Freeform 651"/>
              <p:cNvSpPr>
                <a:spLocks/>
              </p:cNvSpPr>
              <p:nvPr/>
            </p:nvSpPr>
            <p:spPr bwMode="auto">
              <a:xfrm>
                <a:off x="1211" y="1820"/>
                <a:ext cx="101" cy="168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4" name="Freeform 652"/>
              <p:cNvSpPr>
                <a:spLocks/>
              </p:cNvSpPr>
              <p:nvPr/>
            </p:nvSpPr>
            <p:spPr bwMode="auto">
              <a:xfrm>
                <a:off x="1153" y="1798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5" name="Freeform 653"/>
              <p:cNvSpPr>
                <a:spLocks/>
              </p:cNvSpPr>
              <p:nvPr/>
            </p:nvSpPr>
            <p:spPr bwMode="auto">
              <a:xfrm>
                <a:off x="1312" y="1738"/>
                <a:ext cx="296" cy="8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6" name="Line 654"/>
              <p:cNvSpPr>
                <a:spLocks noChangeShapeType="1"/>
              </p:cNvSpPr>
              <p:nvPr/>
            </p:nvSpPr>
            <p:spPr bwMode="auto">
              <a:xfrm>
                <a:off x="1272" y="1798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7" name="Freeform 655"/>
              <p:cNvSpPr>
                <a:spLocks/>
              </p:cNvSpPr>
              <p:nvPr/>
            </p:nvSpPr>
            <p:spPr bwMode="auto">
              <a:xfrm>
                <a:off x="1272" y="1706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8" name="Freeform 656"/>
              <p:cNvSpPr>
                <a:spLocks/>
              </p:cNvSpPr>
              <p:nvPr/>
            </p:nvSpPr>
            <p:spPr bwMode="auto">
              <a:xfrm>
                <a:off x="1324" y="1865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09" name="Freeform 657"/>
              <p:cNvSpPr>
                <a:spLocks/>
              </p:cNvSpPr>
              <p:nvPr/>
            </p:nvSpPr>
            <p:spPr bwMode="auto">
              <a:xfrm>
                <a:off x="1266" y="1842"/>
                <a:ext cx="85" cy="146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0" name="Line 658"/>
              <p:cNvSpPr>
                <a:spLocks noChangeShapeType="1"/>
              </p:cNvSpPr>
              <p:nvPr/>
            </p:nvSpPr>
            <p:spPr bwMode="auto">
              <a:xfrm>
                <a:off x="1391" y="1865"/>
                <a:ext cx="4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1" name="Freeform 659"/>
              <p:cNvSpPr>
                <a:spLocks/>
              </p:cNvSpPr>
              <p:nvPr/>
            </p:nvSpPr>
            <p:spPr bwMode="auto">
              <a:xfrm>
                <a:off x="1391" y="1802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2" name="Freeform 660"/>
              <p:cNvSpPr>
                <a:spLocks/>
              </p:cNvSpPr>
              <p:nvPr/>
            </p:nvSpPr>
            <p:spPr bwMode="auto">
              <a:xfrm>
                <a:off x="1351" y="1770"/>
                <a:ext cx="257" cy="72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3" name="Freeform 661"/>
              <p:cNvSpPr>
                <a:spLocks/>
              </p:cNvSpPr>
              <p:nvPr/>
            </p:nvSpPr>
            <p:spPr bwMode="auto">
              <a:xfrm>
                <a:off x="1351" y="1842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4" name="Freeform 662"/>
              <p:cNvSpPr>
                <a:spLocks/>
              </p:cNvSpPr>
              <p:nvPr/>
            </p:nvSpPr>
            <p:spPr bwMode="auto">
              <a:xfrm>
                <a:off x="1383" y="1888"/>
                <a:ext cx="49" cy="100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5" name="Line 663"/>
              <p:cNvSpPr>
                <a:spLocks noChangeShapeType="1"/>
              </p:cNvSpPr>
              <p:nvPr/>
            </p:nvSpPr>
            <p:spPr bwMode="auto">
              <a:xfrm flipH="1" flipV="1">
                <a:off x="1351" y="1842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6" name="Line 664"/>
              <p:cNvSpPr>
                <a:spLocks noChangeShapeType="1"/>
              </p:cNvSpPr>
              <p:nvPr/>
            </p:nvSpPr>
            <p:spPr bwMode="auto">
              <a:xfrm>
                <a:off x="1312" y="1820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7" name="Freeform 665"/>
              <p:cNvSpPr>
                <a:spLocks/>
              </p:cNvSpPr>
              <p:nvPr/>
            </p:nvSpPr>
            <p:spPr bwMode="auto">
              <a:xfrm>
                <a:off x="1432" y="1836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8" name="Freeform 666"/>
              <p:cNvSpPr>
                <a:spLocks/>
              </p:cNvSpPr>
              <p:nvPr/>
            </p:nvSpPr>
            <p:spPr bwMode="auto">
              <a:xfrm>
                <a:off x="1415" y="2081"/>
                <a:ext cx="42" cy="25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19" name="Freeform 667"/>
              <p:cNvSpPr>
                <a:spLocks/>
              </p:cNvSpPr>
              <p:nvPr/>
            </p:nvSpPr>
            <p:spPr bwMode="auto">
              <a:xfrm>
                <a:off x="1415" y="2106"/>
                <a:ext cx="193" cy="47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0" name="Freeform 668"/>
              <p:cNvSpPr>
                <a:spLocks/>
              </p:cNvSpPr>
              <p:nvPr/>
            </p:nvSpPr>
            <p:spPr bwMode="auto">
              <a:xfrm>
                <a:off x="1457" y="2081"/>
                <a:ext cx="151" cy="34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1" name="Freeform 669"/>
              <p:cNvSpPr>
                <a:spLocks/>
              </p:cNvSpPr>
              <p:nvPr/>
            </p:nvSpPr>
            <p:spPr bwMode="auto">
              <a:xfrm>
                <a:off x="1383" y="1988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5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2" name="Freeform 670"/>
              <p:cNvSpPr>
                <a:spLocks/>
              </p:cNvSpPr>
              <p:nvPr/>
            </p:nvSpPr>
            <p:spPr bwMode="auto">
              <a:xfrm>
                <a:off x="1266" y="1988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2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3" name="Freeform 671"/>
              <p:cNvSpPr>
                <a:spLocks/>
              </p:cNvSpPr>
              <p:nvPr/>
            </p:nvSpPr>
            <p:spPr bwMode="auto">
              <a:xfrm>
                <a:off x="1325" y="1988"/>
                <a:ext cx="90" cy="118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4" name="Line 672"/>
              <p:cNvSpPr>
                <a:spLocks noChangeShapeType="1"/>
              </p:cNvSpPr>
              <p:nvPr/>
            </p:nvSpPr>
            <p:spPr bwMode="auto">
              <a:xfrm flipH="1">
                <a:off x="1370" y="2106"/>
                <a:ext cx="45" cy="2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5" name="Line 673"/>
              <p:cNvSpPr>
                <a:spLocks noChangeShapeType="1"/>
              </p:cNvSpPr>
              <p:nvPr/>
            </p:nvSpPr>
            <p:spPr bwMode="auto">
              <a:xfrm>
                <a:off x="1266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6" name="Freeform 674"/>
              <p:cNvSpPr>
                <a:spLocks/>
              </p:cNvSpPr>
              <p:nvPr/>
            </p:nvSpPr>
            <p:spPr bwMode="auto">
              <a:xfrm>
                <a:off x="1211" y="1988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7" name="Line 675"/>
              <p:cNvSpPr>
                <a:spLocks noChangeShapeType="1"/>
              </p:cNvSpPr>
              <p:nvPr/>
            </p:nvSpPr>
            <p:spPr bwMode="auto">
              <a:xfrm flipH="1">
                <a:off x="1284" y="2160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8" name="Freeform 676"/>
              <p:cNvSpPr>
                <a:spLocks/>
              </p:cNvSpPr>
              <p:nvPr/>
            </p:nvSpPr>
            <p:spPr bwMode="auto">
              <a:xfrm>
                <a:off x="1152" y="1988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29" name="Line 677"/>
              <p:cNvSpPr>
                <a:spLocks noChangeShapeType="1"/>
              </p:cNvSpPr>
              <p:nvPr/>
            </p:nvSpPr>
            <p:spPr bwMode="auto">
              <a:xfrm flipH="1">
                <a:off x="1328" y="2134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0" name="Line 678"/>
              <p:cNvSpPr>
                <a:spLocks noChangeShapeType="1"/>
              </p:cNvSpPr>
              <p:nvPr/>
            </p:nvSpPr>
            <p:spPr bwMode="auto">
              <a:xfrm flipH="1">
                <a:off x="1325" y="198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1" name="Freeform 679"/>
              <p:cNvSpPr>
                <a:spLocks/>
              </p:cNvSpPr>
              <p:nvPr/>
            </p:nvSpPr>
            <p:spPr bwMode="auto">
              <a:xfrm>
                <a:off x="1328" y="2160"/>
                <a:ext cx="280" cy="70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2" name="Freeform 680"/>
              <p:cNvSpPr>
                <a:spLocks/>
              </p:cNvSpPr>
              <p:nvPr/>
            </p:nvSpPr>
            <p:spPr bwMode="auto">
              <a:xfrm>
                <a:off x="1370" y="2134"/>
                <a:ext cx="238" cy="58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3" name="Freeform 681"/>
              <p:cNvSpPr>
                <a:spLocks/>
              </p:cNvSpPr>
              <p:nvPr/>
            </p:nvSpPr>
            <p:spPr bwMode="auto">
              <a:xfrm>
                <a:off x="1608" y="198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4" name="Freeform 682"/>
              <p:cNvSpPr>
                <a:spLocks/>
              </p:cNvSpPr>
              <p:nvPr/>
            </p:nvSpPr>
            <p:spPr bwMode="auto">
              <a:xfrm>
                <a:off x="1608" y="198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5" name="Line 683"/>
              <p:cNvSpPr>
                <a:spLocks noChangeShapeType="1"/>
              </p:cNvSpPr>
              <p:nvPr/>
            </p:nvSpPr>
            <p:spPr bwMode="auto">
              <a:xfrm>
                <a:off x="1608" y="198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36" name="Freeform 684"/>
              <p:cNvSpPr>
                <a:spLocks/>
              </p:cNvSpPr>
              <p:nvPr/>
            </p:nvSpPr>
            <p:spPr bwMode="auto">
              <a:xfrm>
                <a:off x="1634" y="1197"/>
                <a:ext cx="13" cy="798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51" y="0"/>
                    </a:moveTo>
                    <a:lnTo>
                      <a:pt x="3" y="0"/>
                    </a:ln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2"/>
                    </a:lnTo>
                    <a:lnTo>
                      <a:pt x="3" y="199"/>
                    </a:lnTo>
                    <a:lnTo>
                      <a:pt x="3" y="222"/>
                    </a:lnTo>
                    <a:lnTo>
                      <a:pt x="3" y="245"/>
                    </a:lnTo>
                    <a:lnTo>
                      <a:pt x="3" y="264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59"/>
                    </a:lnTo>
                    <a:lnTo>
                      <a:pt x="3" y="1288"/>
                    </a:lnTo>
                    <a:lnTo>
                      <a:pt x="3" y="1314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3"/>
                    </a:lnTo>
                    <a:lnTo>
                      <a:pt x="3" y="2334"/>
                    </a:lnTo>
                    <a:lnTo>
                      <a:pt x="3" y="2363"/>
                    </a:lnTo>
                    <a:lnTo>
                      <a:pt x="3" y="2389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37" name="Freeform 685"/>
              <p:cNvSpPr>
                <a:spLocks/>
              </p:cNvSpPr>
              <p:nvPr/>
            </p:nvSpPr>
            <p:spPr bwMode="auto">
              <a:xfrm>
                <a:off x="1620" y="1197"/>
                <a:ext cx="15" cy="8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89"/>
                    </a:lnTo>
                    <a:lnTo>
                      <a:pt x="60" y="2363"/>
                    </a:lnTo>
                    <a:lnTo>
                      <a:pt x="60" y="2334"/>
                    </a:lnTo>
                    <a:lnTo>
                      <a:pt x="60" y="2303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4"/>
                    </a:lnTo>
                    <a:lnTo>
                      <a:pt x="60" y="1288"/>
                    </a:lnTo>
                    <a:lnTo>
                      <a:pt x="60" y="1259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4"/>
                    </a:lnTo>
                    <a:lnTo>
                      <a:pt x="60" y="245"/>
                    </a:lnTo>
                    <a:lnTo>
                      <a:pt x="60" y="222"/>
                    </a:lnTo>
                    <a:lnTo>
                      <a:pt x="60" y="199"/>
                    </a:lnTo>
                    <a:lnTo>
                      <a:pt x="60" y="172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38" name="Freeform 686"/>
              <p:cNvSpPr>
                <a:spLocks/>
              </p:cNvSpPr>
              <p:nvPr/>
            </p:nvSpPr>
            <p:spPr bwMode="auto">
              <a:xfrm>
                <a:off x="1597" y="1197"/>
                <a:ext cx="25" cy="808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3"/>
                    </a:lnTo>
                    <a:lnTo>
                      <a:pt x="0" y="246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5"/>
                    </a:lnTo>
                    <a:lnTo>
                      <a:pt x="0" y="1301"/>
                    </a:lnTo>
                    <a:lnTo>
                      <a:pt x="0" y="1309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5"/>
                    </a:lnTo>
                    <a:lnTo>
                      <a:pt x="0" y="2364"/>
                    </a:lnTo>
                    <a:lnTo>
                      <a:pt x="0" y="2382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39" name="Freeform 687"/>
              <p:cNvSpPr>
                <a:spLocks/>
              </p:cNvSpPr>
              <p:nvPr/>
            </p:nvSpPr>
            <p:spPr bwMode="auto">
              <a:xfrm>
                <a:off x="1541" y="1197"/>
                <a:ext cx="59" cy="808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6"/>
                    </a:lnTo>
                    <a:lnTo>
                      <a:pt x="226" y="203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2"/>
                    </a:lnTo>
                    <a:lnTo>
                      <a:pt x="226" y="2364"/>
                    </a:lnTo>
                    <a:lnTo>
                      <a:pt x="226" y="2325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09"/>
                    </a:lnTo>
                    <a:lnTo>
                      <a:pt x="226" y="1301"/>
                    </a:lnTo>
                    <a:lnTo>
                      <a:pt x="226" y="1255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40" name="Line 688"/>
              <p:cNvSpPr>
                <a:spLocks noChangeShapeType="1"/>
              </p:cNvSpPr>
              <p:nvPr/>
            </p:nvSpPr>
            <p:spPr bwMode="auto">
              <a:xfrm>
                <a:off x="1541" y="1197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1" name="Line 689"/>
              <p:cNvSpPr>
                <a:spLocks noChangeShapeType="1"/>
              </p:cNvSpPr>
              <p:nvPr/>
            </p:nvSpPr>
            <p:spPr bwMode="auto">
              <a:xfrm>
                <a:off x="1647" y="1197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2" name="Freeform 690"/>
              <p:cNvSpPr>
                <a:spLocks/>
              </p:cNvSpPr>
              <p:nvPr/>
            </p:nvSpPr>
            <p:spPr bwMode="auto">
              <a:xfrm>
                <a:off x="1608" y="943"/>
                <a:ext cx="285" cy="97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3" name="Freeform 691"/>
              <p:cNvSpPr>
                <a:spLocks/>
              </p:cNvSpPr>
              <p:nvPr/>
            </p:nvSpPr>
            <p:spPr bwMode="auto">
              <a:xfrm>
                <a:off x="1608" y="975"/>
                <a:ext cx="247" cy="89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3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4" name="Freeform 692"/>
              <p:cNvSpPr>
                <a:spLocks/>
              </p:cNvSpPr>
              <p:nvPr/>
            </p:nvSpPr>
            <p:spPr bwMode="auto">
              <a:xfrm>
                <a:off x="1608" y="1007"/>
                <a:ext cx="209" cy="8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5" name="Freeform 693"/>
              <p:cNvSpPr>
                <a:spLocks/>
              </p:cNvSpPr>
              <p:nvPr/>
            </p:nvSpPr>
            <p:spPr bwMode="auto">
              <a:xfrm>
                <a:off x="1351" y="975"/>
                <a:ext cx="257" cy="95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9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6" name="Freeform 694"/>
              <p:cNvSpPr>
                <a:spLocks/>
              </p:cNvSpPr>
              <p:nvPr/>
            </p:nvSpPr>
            <p:spPr bwMode="auto">
              <a:xfrm>
                <a:off x="1312" y="943"/>
                <a:ext cx="296" cy="105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7" name="Freeform 695"/>
              <p:cNvSpPr>
                <a:spLocks noEditPoints="1"/>
              </p:cNvSpPr>
              <p:nvPr/>
            </p:nvSpPr>
            <p:spPr bwMode="auto">
              <a:xfrm>
                <a:off x="1383" y="1041"/>
                <a:ext cx="449" cy="279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48" name="Freeform 696"/>
              <p:cNvSpPr>
                <a:spLocks/>
              </p:cNvSpPr>
              <p:nvPr/>
            </p:nvSpPr>
            <p:spPr bwMode="auto">
              <a:xfrm>
                <a:off x="1608" y="1192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49" name="Freeform 697"/>
              <p:cNvSpPr>
                <a:spLocks/>
              </p:cNvSpPr>
              <p:nvPr/>
            </p:nvSpPr>
            <p:spPr bwMode="auto">
              <a:xfrm>
                <a:off x="1608" y="1193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0" name="Freeform 698"/>
              <p:cNvSpPr>
                <a:spLocks/>
              </p:cNvSpPr>
              <p:nvPr/>
            </p:nvSpPr>
            <p:spPr bwMode="auto">
              <a:xfrm>
                <a:off x="1391" y="1007"/>
                <a:ext cx="217" cy="86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1" name="Freeform 699"/>
              <p:cNvSpPr>
                <a:spLocks/>
              </p:cNvSpPr>
              <p:nvPr/>
            </p:nvSpPr>
            <p:spPr bwMode="auto">
              <a:xfrm>
                <a:off x="1893" y="993"/>
                <a:ext cx="170" cy="200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2" name="Freeform 700"/>
              <p:cNvSpPr>
                <a:spLocks/>
              </p:cNvSpPr>
              <p:nvPr/>
            </p:nvSpPr>
            <p:spPr bwMode="auto">
              <a:xfrm>
                <a:off x="1833" y="1026"/>
                <a:ext cx="4" cy="2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3" name="Freeform 701"/>
              <p:cNvSpPr>
                <a:spLocks/>
              </p:cNvSpPr>
              <p:nvPr/>
            </p:nvSpPr>
            <p:spPr bwMode="auto">
              <a:xfrm>
                <a:off x="1836" y="1028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4" name="Freeform 702"/>
              <p:cNvSpPr>
                <a:spLocks/>
              </p:cNvSpPr>
              <p:nvPr/>
            </p:nvSpPr>
            <p:spPr bwMode="auto">
              <a:xfrm>
                <a:off x="1777" y="1064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5" name="Freeform 703"/>
              <p:cNvSpPr>
                <a:spLocks/>
              </p:cNvSpPr>
              <p:nvPr/>
            </p:nvSpPr>
            <p:spPr bwMode="auto">
              <a:xfrm>
                <a:off x="1817" y="1040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6" name="Freeform 704"/>
              <p:cNvSpPr>
                <a:spLocks/>
              </p:cNvSpPr>
              <p:nvPr/>
            </p:nvSpPr>
            <p:spPr bwMode="auto">
              <a:xfrm>
                <a:off x="1855" y="1017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065" name="Freeform 705"/>
              <p:cNvSpPr>
                <a:spLocks/>
              </p:cNvSpPr>
              <p:nvPr/>
            </p:nvSpPr>
            <p:spPr bwMode="auto">
              <a:xfrm>
                <a:off x="1898" y="1194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058" name="Freeform 706"/>
              <p:cNvSpPr>
                <a:spLocks/>
              </p:cNvSpPr>
              <p:nvPr/>
            </p:nvSpPr>
            <p:spPr bwMode="auto">
              <a:xfrm>
                <a:off x="1809" y="1193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59" name="Freeform 707"/>
              <p:cNvSpPr>
                <a:spLocks/>
              </p:cNvSpPr>
              <p:nvPr/>
            </p:nvSpPr>
            <p:spPr bwMode="auto">
              <a:xfrm>
                <a:off x="1765" y="1193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0" name="Freeform 708"/>
              <p:cNvSpPr>
                <a:spLocks/>
              </p:cNvSpPr>
              <p:nvPr/>
            </p:nvSpPr>
            <p:spPr bwMode="auto">
              <a:xfrm>
                <a:off x="1809" y="1304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1" name="Freeform 709"/>
              <p:cNvSpPr>
                <a:spLocks/>
              </p:cNvSpPr>
              <p:nvPr/>
            </p:nvSpPr>
            <p:spPr bwMode="auto">
              <a:xfrm>
                <a:off x="1608" y="1305"/>
                <a:ext cx="248" cy="93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2" name="Freeform 710"/>
              <p:cNvSpPr>
                <a:spLocks/>
              </p:cNvSpPr>
              <p:nvPr/>
            </p:nvSpPr>
            <p:spPr bwMode="auto">
              <a:xfrm>
                <a:off x="1608" y="1281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3" name="Freeform 711"/>
              <p:cNvSpPr>
                <a:spLocks/>
              </p:cNvSpPr>
              <p:nvPr/>
            </p:nvSpPr>
            <p:spPr bwMode="auto">
              <a:xfrm>
                <a:off x="1608" y="1332"/>
                <a:ext cx="290" cy="103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4" name="Freeform 712"/>
              <p:cNvSpPr>
                <a:spLocks/>
              </p:cNvSpPr>
              <p:nvPr/>
            </p:nvSpPr>
            <p:spPr bwMode="auto">
              <a:xfrm>
                <a:off x="1856" y="1332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073" name="Freeform 713"/>
              <p:cNvSpPr>
                <a:spLocks/>
              </p:cNvSpPr>
              <p:nvPr/>
            </p:nvSpPr>
            <p:spPr bwMode="auto">
              <a:xfrm>
                <a:off x="1608" y="1355"/>
                <a:ext cx="336" cy="121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066" name="Freeform 714"/>
              <p:cNvSpPr>
                <a:spLocks/>
              </p:cNvSpPr>
              <p:nvPr/>
            </p:nvSpPr>
            <p:spPr bwMode="auto">
              <a:xfrm>
                <a:off x="1856" y="1193"/>
                <a:ext cx="148" cy="162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7" name="Freeform 715"/>
              <p:cNvSpPr>
                <a:spLocks/>
              </p:cNvSpPr>
              <p:nvPr/>
            </p:nvSpPr>
            <p:spPr bwMode="auto">
              <a:xfrm>
                <a:off x="1370" y="1312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68" name="Freeform 716"/>
              <p:cNvSpPr>
                <a:spLocks/>
              </p:cNvSpPr>
              <p:nvPr/>
            </p:nvSpPr>
            <p:spPr bwMode="auto">
              <a:xfrm>
                <a:off x="1284" y="1365"/>
                <a:ext cx="324" cy="111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69" name="Freeform 717"/>
              <p:cNvSpPr>
                <a:spLocks/>
              </p:cNvSpPr>
              <p:nvPr/>
            </p:nvSpPr>
            <p:spPr bwMode="auto">
              <a:xfrm>
                <a:off x="1328" y="1339"/>
                <a:ext cx="280" cy="96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0" name="Freeform 718"/>
              <p:cNvSpPr>
                <a:spLocks/>
              </p:cNvSpPr>
              <p:nvPr/>
            </p:nvSpPr>
            <p:spPr bwMode="auto">
              <a:xfrm>
                <a:off x="1415" y="1286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1" name="Freeform 719"/>
              <p:cNvSpPr>
                <a:spLocks/>
              </p:cNvSpPr>
              <p:nvPr/>
            </p:nvSpPr>
            <p:spPr bwMode="auto">
              <a:xfrm>
                <a:off x="1153" y="1003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2" name="Freeform 720"/>
              <p:cNvSpPr>
                <a:spLocks/>
              </p:cNvSpPr>
              <p:nvPr/>
            </p:nvSpPr>
            <p:spPr bwMode="auto">
              <a:xfrm>
                <a:off x="1211" y="1026"/>
                <a:ext cx="140" cy="167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3" name="Freeform 721"/>
              <p:cNvSpPr>
                <a:spLocks/>
              </p:cNvSpPr>
              <p:nvPr/>
            </p:nvSpPr>
            <p:spPr bwMode="auto">
              <a:xfrm>
                <a:off x="1324" y="1070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4" name="Freeform 722"/>
              <p:cNvSpPr>
                <a:spLocks/>
              </p:cNvSpPr>
              <p:nvPr/>
            </p:nvSpPr>
            <p:spPr bwMode="auto">
              <a:xfrm>
                <a:off x="1266" y="1047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5" name="Freeform 723"/>
              <p:cNvSpPr>
                <a:spLocks/>
              </p:cNvSpPr>
              <p:nvPr/>
            </p:nvSpPr>
            <p:spPr bwMode="auto">
              <a:xfrm>
                <a:off x="1456" y="1285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6" name="Freeform 724"/>
              <p:cNvSpPr>
                <a:spLocks/>
              </p:cNvSpPr>
              <p:nvPr/>
            </p:nvSpPr>
            <p:spPr bwMode="auto">
              <a:xfrm>
                <a:off x="1325" y="1193"/>
                <a:ext cx="131" cy="119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7" name="Freeform 725"/>
              <p:cNvSpPr>
                <a:spLocks/>
              </p:cNvSpPr>
              <p:nvPr/>
            </p:nvSpPr>
            <p:spPr bwMode="auto">
              <a:xfrm>
                <a:off x="1266" y="1193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8" name="Freeform 726"/>
              <p:cNvSpPr>
                <a:spLocks/>
              </p:cNvSpPr>
              <p:nvPr/>
            </p:nvSpPr>
            <p:spPr bwMode="auto">
              <a:xfrm>
                <a:off x="1211" y="1193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79" name="Freeform 727"/>
              <p:cNvSpPr>
                <a:spLocks/>
              </p:cNvSpPr>
              <p:nvPr/>
            </p:nvSpPr>
            <p:spPr bwMode="auto">
              <a:xfrm>
                <a:off x="1152" y="1193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080" name="Freeform 728"/>
              <p:cNvSpPr>
                <a:spLocks/>
              </p:cNvSpPr>
              <p:nvPr/>
            </p:nvSpPr>
            <p:spPr bwMode="auto">
              <a:xfrm>
                <a:off x="1608" y="943"/>
                <a:ext cx="285" cy="74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1" name="Freeform 729"/>
              <p:cNvSpPr>
                <a:spLocks/>
              </p:cNvSpPr>
              <p:nvPr/>
            </p:nvSpPr>
            <p:spPr bwMode="auto">
              <a:xfrm>
                <a:off x="1608" y="1007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2" name="Line 730"/>
              <p:cNvSpPr>
                <a:spLocks noChangeShapeType="1"/>
              </p:cNvSpPr>
              <p:nvPr/>
            </p:nvSpPr>
            <p:spPr bwMode="auto">
              <a:xfrm flipV="1">
                <a:off x="1608" y="975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3" name="Freeform 731"/>
              <p:cNvSpPr>
                <a:spLocks/>
              </p:cNvSpPr>
              <p:nvPr/>
            </p:nvSpPr>
            <p:spPr bwMode="auto">
              <a:xfrm>
                <a:off x="1608" y="975"/>
                <a:ext cx="225" cy="51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3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4" name="Line 732"/>
              <p:cNvSpPr>
                <a:spLocks noChangeShapeType="1"/>
              </p:cNvSpPr>
              <p:nvPr/>
            </p:nvSpPr>
            <p:spPr bwMode="auto">
              <a:xfrm flipV="1">
                <a:off x="1608" y="943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5" name="Line 733"/>
              <p:cNvSpPr>
                <a:spLocks noChangeShapeType="1"/>
              </p:cNvSpPr>
              <p:nvPr/>
            </p:nvSpPr>
            <p:spPr bwMode="auto">
              <a:xfrm>
                <a:off x="1153" y="1193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6" name="Freeform 734"/>
              <p:cNvSpPr>
                <a:spLocks/>
              </p:cNvSpPr>
              <p:nvPr/>
            </p:nvSpPr>
            <p:spPr bwMode="auto">
              <a:xfrm>
                <a:off x="1608" y="1041"/>
                <a:ext cx="169" cy="47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7" name="Line 735"/>
              <p:cNvSpPr>
                <a:spLocks noChangeShapeType="1"/>
              </p:cNvSpPr>
              <p:nvPr/>
            </p:nvSpPr>
            <p:spPr bwMode="auto">
              <a:xfrm flipV="1">
                <a:off x="1608" y="1007"/>
                <a:ext cx="0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8" name="Line 736"/>
              <p:cNvSpPr>
                <a:spLocks noChangeShapeType="1"/>
              </p:cNvSpPr>
              <p:nvPr/>
            </p:nvSpPr>
            <p:spPr bwMode="auto">
              <a:xfrm flipH="1">
                <a:off x="1893" y="993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89" name="Freeform 737"/>
              <p:cNvSpPr>
                <a:spLocks/>
              </p:cNvSpPr>
              <p:nvPr/>
            </p:nvSpPr>
            <p:spPr bwMode="auto">
              <a:xfrm>
                <a:off x="1836" y="1028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0" name="Line 738"/>
              <p:cNvSpPr>
                <a:spLocks noChangeShapeType="1"/>
              </p:cNvSpPr>
              <p:nvPr/>
            </p:nvSpPr>
            <p:spPr bwMode="auto">
              <a:xfrm>
                <a:off x="1833" y="1026"/>
                <a:ext cx="3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1" name="Line 739"/>
              <p:cNvSpPr>
                <a:spLocks noChangeShapeType="1"/>
              </p:cNvSpPr>
              <p:nvPr/>
            </p:nvSpPr>
            <p:spPr bwMode="auto">
              <a:xfrm>
                <a:off x="1836" y="102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2" name="Freeform 740"/>
              <p:cNvSpPr>
                <a:spLocks/>
              </p:cNvSpPr>
              <p:nvPr/>
            </p:nvSpPr>
            <p:spPr bwMode="auto">
              <a:xfrm>
                <a:off x="1836" y="1028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3" name="Line 741"/>
              <p:cNvSpPr>
                <a:spLocks noChangeShapeType="1"/>
              </p:cNvSpPr>
              <p:nvPr/>
            </p:nvSpPr>
            <p:spPr bwMode="auto">
              <a:xfrm>
                <a:off x="1833" y="102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4" name="Freeform 742"/>
              <p:cNvSpPr>
                <a:spLocks/>
              </p:cNvSpPr>
              <p:nvPr/>
            </p:nvSpPr>
            <p:spPr bwMode="auto">
              <a:xfrm>
                <a:off x="1777" y="1088"/>
                <a:ext cx="55" cy="105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5" name="Line 743"/>
              <p:cNvSpPr>
                <a:spLocks noChangeShapeType="1"/>
              </p:cNvSpPr>
              <p:nvPr/>
            </p:nvSpPr>
            <p:spPr bwMode="auto">
              <a:xfrm flipH="1">
                <a:off x="1817" y="1040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6" name="Freeform 744"/>
              <p:cNvSpPr>
                <a:spLocks/>
              </p:cNvSpPr>
              <p:nvPr/>
            </p:nvSpPr>
            <p:spPr bwMode="auto">
              <a:xfrm>
                <a:off x="1855" y="1040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7" name="Freeform 745"/>
              <p:cNvSpPr>
                <a:spLocks/>
              </p:cNvSpPr>
              <p:nvPr/>
            </p:nvSpPr>
            <p:spPr bwMode="auto">
              <a:xfrm>
                <a:off x="1817" y="1064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8" name="Line 746"/>
              <p:cNvSpPr>
                <a:spLocks noChangeShapeType="1"/>
              </p:cNvSpPr>
              <p:nvPr/>
            </p:nvSpPr>
            <p:spPr bwMode="auto">
              <a:xfrm flipV="1">
                <a:off x="1855" y="1017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099" name="Line 747"/>
              <p:cNvSpPr>
                <a:spLocks noChangeShapeType="1"/>
              </p:cNvSpPr>
              <p:nvPr/>
            </p:nvSpPr>
            <p:spPr bwMode="auto">
              <a:xfrm flipH="1">
                <a:off x="1777" y="1064"/>
                <a:ext cx="4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0" name="Freeform 748"/>
              <p:cNvSpPr>
                <a:spLocks/>
              </p:cNvSpPr>
              <p:nvPr/>
            </p:nvSpPr>
            <p:spPr bwMode="auto">
              <a:xfrm>
                <a:off x="1932" y="993"/>
                <a:ext cx="131" cy="200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1" name="Freeform 749"/>
              <p:cNvSpPr>
                <a:spLocks/>
              </p:cNvSpPr>
              <p:nvPr/>
            </p:nvSpPr>
            <p:spPr bwMode="auto">
              <a:xfrm>
                <a:off x="1893" y="1017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2" name="Line 750"/>
              <p:cNvSpPr>
                <a:spLocks noChangeShapeType="1"/>
              </p:cNvSpPr>
              <p:nvPr/>
            </p:nvSpPr>
            <p:spPr bwMode="auto">
              <a:xfrm>
                <a:off x="2004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3" name="Line 751"/>
              <p:cNvSpPr>
                <a:spLocks noChangeShapeType="1"/>
              </p:cNvSpPr>
              <p:nvPr/>
            </p:nvSpPr>
            <p:spPr bwMode="auto">
              <a:xfrm>
                <a:off x="1890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4" name="Freeform 752"/>
              <p:cNvSpPr>
                <a:spLocks/>
              </p:cNvSpPr>
              <p:nvPr/>
            </p:nvSpPr>
            <p:spPr bwMode="auto">
              <a:xfrm>
                <a:off x="1810" y="1193"/>
                <a:ext cx="80" cy="112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5" name="Freeform 753"/>
              <p:cNvSpPr>
                <a:spLocks/>
              </p:cNvSpPr>
              <p:nvPr/>
            </p:nvSpPr>
            <p:spPr bwMode="auto">
              <a:xfrm>
                <a:off x="1765" y="1193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6" name="Line 754"/>
              <p:cNvSpPr>
                <a:spLocks noChangeShapeType="1"/>
              </p:cNvSpPr>
              <p:nvPr/>
            </p:nvSpPr>
            <p:spPr bwMode="auto">
              <a:xfrm flipH="1">
                <a:off x="1809" y="1305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7" name="Freeform 755"/>
              <p:cNvSpPr>
                <a:spLocks/>
              </p:cNvSpPr>
              <p:nvPr/>
            </p:nvSpPr>
            <p:spPr bwMode="auto">
              <a:xfrm>
                <a:off x="1608" y="1305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8" name="Line 756"/>
              <p:cNvSpPr>
                <a:spLocks noChangeShapeType="1"/>
              </p:cNvSpPr>
              <p:nvPr/>
            </p:nvSpPr>
            <p:spPr bwMode="auto">
              <a:xfrm flipV="1">
                <a:off x="1809" y="1305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09" name="Freeform 757"/>
              <p:cNvSpPr>
                <a:spLocks/>
              </p:cNvSpPr>
              <p:nvPr/>
            </p:nvSpPr>
            <p:spPr bwMode="auto">
              <a:xfrm>
                <a:off x="1608" y="1332"/>
                <a:ext cx="248" cy="66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0" name="Line 758"/>
              <p:cNvSpPr>
                <a:spLocks noChangeShapeType="1"/>
              </p:cNvSpPr>
              <p:nvPr/>
            </p:nvSpPr>
            <p:spPr bwMode="auto">
              <a:xfrm flipH="1" flipV="1">
                <a:off x="1809" y="1305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1" name="Freeform 759"/>
              <p:cNvSpPr>
                <a:spLocks/>
              </p:cNvSpPr>
              <p:nvPr/>
            </p:nvSpPr>
            <p:spPr bwMode="auto">
              <a:xfrm>
                <a:off x="1608" y="1355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2" name="Line 760"/>
              <p:cNvSpPr>
                <a:spLocks noChangeShapeType="1"/>
              </p:cNvSpPr>
              <p:nvPr/>
            </p:nvSpPr>
            <p:spPr bwMode="auto">
              <a:xfrm flipH="1" flipV="1">
                <a:off x="1898" y="1355"/>
                <a:ext cx="46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3" name="Freeform 761"/>
              <p:cNvSpPr>
                <a:spLocks/>
              </p:cNvSpPr>
              <p:nvPr/>
            </p:nvSpPr>
            <p:spPr bwMode="auto">
              <a:xfrm>
                <a:off x="1898" y="1193"/>
                <a:ext cx="106" cy="162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4" name="Freeform 762"/>
              <p:cNvSpPr>
                <a:spLocks/>
              </p:cNvSpPr>
              <p:nvPr/>
            </p:nvSpPr>
            <p:spPr bwMode="auto">
              <a:xfrm>
                <a:off x="1608" y="1382"/>
                <a:ext cx="336" cy="94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5" name="Freeform 763"/>
              <p:cNvSpPr>
                <a:spLocks/>
              </p:cNvSpPr>
              <p:nvPr/>
            </p:nvSpPr>
            <p:spPr bwMode="auto">
              <a:xfrm>
                <a:off x="1944" y="1193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6" name="Line 764"/>
              <p:cNvSpPr>
                <a:spLocks noChangeShapeType="1"/>
              </p:cNvSpPr>
              <p:nvPr/>
            </p:nvSpPr>
            <p:spPr bwMode="auto">
              <a:xfrm>
                <a:off x="1856" y="1332"/>
                <a:ext cx="42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7" name="Freeform 765"/>
              <p:cNvSpPr>
                <a:spLocks/>
              </p:cNvSpPr>
              <p:nvPr/>
            </p:nvSpPr>
            <p:spPr bwMode="auto">
              <a:xfrm>
                <a:off x="1856" y="1193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8" name="Line 766"/>
              <p:cNvSpPr>
                <a:spLocks noChangeShapeType="1"/>
              </p:cNvSpPr>
              <p:nvPr/>
            </p:nvSpPr>
            <p:spPr bwMode="auto">
              <a:xfrm flipH="1">
                <a:off x="1831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19" name="Line 767"/>
              <p:cNvSpPr>
                <a:spLocks noChangeShapeType="1"/>
              </p:cNvSpPr>
              <p:nvPr/>
            </p:nvSpPr>
            <p:spPr bwMode="auto">
              <a:xfrm flipH="1">
                <a:off x="1211" y="1193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0" name="Line 768"/>
              <p:cNvSpPr>
                <a:spLocks noChangeShapeType="1"/>
              </p:cNvSpPr>
              <p:nvPr/>
            </p:nvSpPr>
            <p:spPr bwMode="auto">
              <a:xfrm flipV="1">
                <a:off x="1608" y="1358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1" name="Line 769"/>
              <p:cNvSpPr>
                <a:spLocks noChangeShapeType="1"/>
              </p:cNvSpPr>
              <p:nvPr/>
            </p:nvSpPr>
            <p:spPr bwMode="auto">
              <a:xfrm flipV="1">
                <a:off x="1608" y="1435"/>
                <a:ext cx="0" cy="4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2" name="Line 770"/>
              <p:cNvSpPr>
                <a:spLocks noChangeShapeType="1"/>
              </p:cNvSpPr>
              <p:nvPr/>
            </p:nvSpPr>
            <p:spPr bwMode="auto">
              <a:xfrm flipV="1">
                <a:off x="1608" y="1398"/>
                <a:ext cx="0" cy="3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3" name="Line 771"/>
              <p:cNvSpPr>
                <a:spLocks noChangeShapeType="1"/>
              </p:cNvSpPr>
              <p:nvPr/>
            </p:nvSpPr>
            <p:spPr bwMode="auto">
              <a:xfrm flipV="1">
                <a:off x="1608" y="1320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4" name="Freeform 772"/>
              <p:cNvSpPr>
                <a:spLocks/>
              </p:cNvSpPr>
              <p:nvPr/>
            </p:nvSpPr>
            <p:spPr bwMode="auto">
              <a:xfrm>
                <a:off x="1608" y="1281"/>
                <a:ext cx="157" cy="39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5" name="Line 773"/>
              <p:cNvSpPr>
                <a:spLocks noChangeShapeType="1"/>
              </p:cNvSpPr>
              <p:nvPr/>
            </p:nvSpPr>
            <p:spPr bwMode="auto">
              <a:xfrm flipH="1" flipV="1">
                <a:off x="1765" y="1281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6" name="Line 774"/>
              <p:cNvSpPr>
                <a:spLocks noChangeShapeType="1"/>
              </p:cNvSpPr>
              <p:nvPr/>
            </p:nvSpPr>
            <p:spPr bwMode="auto">
              <a:xfrm flipH="1">
                <a:off x="1949" y="1193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7" name="Freeform 775"/>
              <p:cNvSpPr>
                <a:spLocks/>
              </p:cNvSpPr>
              <p:nvPr/>
            </p:nvSpPr>
            <p:spPr bwMode="auto">
              <a:xfrm>
                <a:off x="1284" y="1392"/>
                <a:ext cx="324" cy="84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8" name="Freeform 776"/>
              <p:cNvSpPr>
                <a:spLocks/>
              </p:cNvSpPr>
              <p:nvPr/>
            </p:nvSpPr>
            <p:spPr bwMode="auto">
              <a:xfrm>
                <a:off x="1211" y="1026"/>
                <a:ext cx="101" cy="167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29" name="Freeform 777"/>
              <p:cNvSpPr>
                <a:spLocks/>
              </p:cNvSpPr>
              <p:nvPr/>
            </p:nvSpPr>
            <p:spPr bwMode="auto">
              <a:xfrm>
                <a:off x="1153" y="1003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0" name="Freeform 778"/>
              <p:cNvSpPr>
                <a:spLocks/>
              </p:cNvSpPr>
              <p:nvPr/>
            </p:nvSpPr>
            <p:spPr bwMode="auto">
              <a:xfrm>
                <a:off x="1312" y="943"/>
                <a:ext cx="296" cy="83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1" name="Line 779"/>
              <p:cNvSpPr>
                <a:spLocks noChangeShapeType="1"/>
              </p:cNvSpPr>
              <p:nvPr/>
            </p:nvSpPr>
            <p:spPr bwMode="auto">
              <a:xfrm>
                <a:off x="1272" y="1003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2" name="Freeform 780"/>
              <p:cNvSpPr>
                <a:spLocks/>
              </p:cNvSpPr>
              <p:nvPr/>
            </p:nvSpPr>
            <p:spPr bwMode="auto">
              <a:xfrm>
                <a:off x="1324" y="1070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3" name="Freeform 781"/>
              <p:cNvSpPr>
                <a:spLocks/>
              </p:cNvSpPr>
              <p:nvPr/>
            </p:nvSpPr>
            <p:spPr bwMode="auto">
              <a:xfrm>
                <a:off x="1266" y="1048"/>
                <a:ext cx="85" cy="145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4" name="Line 782"/>
              <p:cNvSpPr>
                <a:spLocks noChangeShapeType="1"/>
              </p:cNvSpPr>
              <p:nvPr/>
            </p:nvSpPr>
            <p:spPr bwMode="auto">
              <a:xfrm>
                <a:off x="1391" y="1070"/>
                <a:ext cx="4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5" name="Freeform 783"/>
              <p:cNvSpPr>
                <a:spLocks/>
              </p:cNvSpPr>
              <p:nvPr/>
            </p:nvSpPr>
            <p:spPr bwMode="auto">
              <a:xfrm>
                <a:off x="1391" y="1007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6" name="Freeform 784"/>
              <p:cNvSpPr>
                <a:spLocks/>
              </p:cNvSpPr>
              <p:nvPr/>
            </p:nvSpPr>
            <p:spPr bwMode="auto">
              <a:xfrm>
                <a:off x="1351" y="975"/>
                <a:ext cx="257" cy="73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9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7" name="Freeform 785"/>
              <p:cNvSpPr>
                <a:spLocks/>
              </p:cNvSpPr>
              <p:nvPr/>
            </p:nvSpPr>
            <p:spPr bwMode="auto">
              <a:xfrm>
                <a:off x="1351" y="1047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8" name="Freeform 786"/>
              <p:cNvSpPr>
                <a:spLocks/>
              </p:cNvSpPr>
              <p:nvPr/>
            </p:nvSpPr>
            <p:spPr bwMode="auto">
              <a:xfrm>
                <a:off x="1383" y="1093"/>
                <a:ext cx="49" cy="100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39" name="Line 787"/>
              <p:cNvSpPr>
                <a:spLocks noChangeShapeType="1"/>
              </p:cNvSpPr>
              <p:nvPr/>
            </p:nvSpPr>
            <p:spPr bwMode="auto">
              <a:xfrm flipH="1" flipV="1">
                <a:off x="1351" y="1048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0" name="Line 788"/>
              <p:cNvSpPr>
                <a:spLocks noChangeShapeType="1"/>
              </p:cNvSpPr>
              <p:nvPr/>
            </p:nvSpPr>
            <p:spPr bwMode="auto">
              <a:xfrm>
                <a:off x="1312" y="1026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1" name="Freeform 789"/>
              <p:cNvSpPr>
                <a:spLocks/>
              </p:cNvSpPr>
              <p:nvPr/>
            </p:nvSpPr>
            <p:spPr bwMode="auto">
              <a:xfrm>
                <a:off x="1432" y="1041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2" name="Freeform 790"/>
              <p:cNvSpPr>
                <a:spLocks/>
              </p:cNvSpPr>
              <p:nvPr/>
            </p:nvSpPr>
            <p:spPr bwMode="auto">
              <a:xfrm>
                <a:off x="1415" y="1286"/>
                <a:ext cx="42" cy="2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3" name="Freeform 791"/>
              <p:cNvSpPr>
                <a:spLocks/>
              </p:cNvSpPr>
              <p:nvPr/>
            </p:nvSpPr>
            <p:spPr bwMode="auto">
              <a:xfrm>
                <a:off x="1415" y="1312"/>
                <a:ext cx="193" cy="46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4" name="Freeform 792"/>
              <p:cNvSpPr>
                <a:spLocks/>
              </p:cNvSpPr>
              <p:nvPr/>
            </p:nvSpPr>
            <p:spPr bwMode="auto">
              <a:xfrm>
                <a:off x="1457" y="1286"/>
                <a:ext cx="151" cy="34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5" name="Freeform 793"/>
              <p:cNvSpPr>
                <a:spLocks/>
              </p:cNvSpPr>
              <p:nvPr/>
            </p:nvSpPr>
            <p:spPr bwMode="auto">
              <a:xfrm>
                <a:off x="1383" y="1193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6" name="Freeform 794"/>
              <p:cNvSpPr>
                <a:spLocks/>
              </p:cNvSpPr>
              <p:nvPr/>
            </p:nvSpPr>
            <p:spPr bwMode="auto">
              <a:xfrm>
                <a:off x="1266" y="1193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7" name="Freeform 795"/>
              <p:cNvSpPr>
                <a:spLocks/>
              </p:cNvSpPr>
              <p:nvPr/>
            </p:nvSpPr>
            <p:spPr bwMode="auto">
              <a:xfrm>
                <a:off x="1325" y="1193"/>
                <a:ext cx="90" cy="119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8" name="Line 796"/>
              <p:cNvSpPr>
                <a:spLocks noChangeShapeType="1"/>
              </p:cNvSpPr>
              <p:nvPr/>
            </p:nvSpPr>
            <p:spPr bwMode="auto">
              <a:xfrm flipH="1">
                <a:off x="1370" y="1312"/>
                <a:ext cx="45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49" name="Line 797"/>
              <p:cNvSpPr>
                <a:spLocks noChangeShapeType="1"/>
              </p:cNvSpPr>
              <p:nvPr/>
            </p:nvSpPr>
            <p:spPr bwMode="auto">
              <a:xfrm>
                <a:off x="1266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0" name="Freeform 798"/>
              <p:cNvSpPr>
                <a:spLocks/>
              </p:cNvSpPr>
              <p:nvPr/>
            </p:nvSpPr>
            <p:spPr bwMode="auto">
              <a:xfrm>
                <a:off x="1211" y="1193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1" name="Line 799"/>
              <p:cNvSpPr>
                <a:spLocks noChangeShapeType="1"/>
              </p:cNvSpPr>
              <p:nvPr/>
            </p:nvSpPr>
            <p:spPr bwMode="auto">
              <a:xfrm flipH="1">
                <a:off x="1284" y="1365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2" name="Freeform 800"/>
              <p:cNvSpPr>
                <a:spLocks/>
              </p:cNvSpPr>
              <p:nvPr/>
            </p:nvSpPr>
            <p:spPr bwMode="auto">
              <a:xfrm>
                <a:off x="1152" y="1193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3" name="Line 801"/>
              <p:cNvSpPr>
                <a:spLocks noChangeShapeType="1"/>
              </p:cNvSpPr>
              <p:nvPr/>
            </p:nvSpPr>
            <p:spPr bwMode="auto">
              <a:xfrm flipH="1">
                <a:off x="1328" y="1339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4" name="Line 802"/>
              <p:cNvSpPr>
                <a:spLocks noChangeShapeType="1"/>
              </p:cNvSpPr>
              <p:nvPr/>
            </p:nvSpPr>
            <p:spPr bwMode="auto">
              <a:xfrm flipH="1">
                <a:off x="1325" y="1193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5" name="Freeform 803"/>
              <p:cNvSpPr>
                <a:spLocks/>
              </p:cNvSpPr>
              <p:nvPr/>
            </p:nvSpPr>
            <p:spPr bwMode="auto">
              <a:xfrm>
                <a:off x="1328" y="1365"/>
                <a:ext cx="280" cy="70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6" name="Freeform 804"/>
              <p:cNvSpPr>
                <a:spLocks/>
              </p:cNvSpPr>
              <p:nvPr/>
            </p:nvSpPr>
            <p:spPr bwMode="auto">
              <a:xfrm>
                <a:off x="1370" y="1339"/>
                <a:ext cx="238" cy="59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7" name="Freeform 805"/>
              <p:cNvSpPr>
                <a:spLocks/>
              </p:cNvSpPr>
              <p:nvPr/>
            </p:nvSpPr>
            <p:spPr bwMode="auto">
              <a:xfrm>
                <a:off x="1608" y="1192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8" name="Freeform 806"/>
              <p:cNvSpPr>
                <a:spLocks/>
              </p:cNvSpPr>
              <p:nvPr/>
            </p:nvSpPr>
            <p:spPr bwMode="auto">
              <a:xfrm>
                <a:off x="1608" y="1193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59" name="Line 807"/>
              <p:cNvSpPr>
                <a:spLocks noChangeShapeType="1"/>
              </p:cNvSpPr>
              <p:nvPr/>
            </p:nvSpPr>
            <p:spPr bwMode="auto">
              <a:xfrm>
                <a:off x="1608" y="1193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0" name="Freeform 808"/>
              <p:cNvSpPr>
                <a:spLocks/>
              </p:cNvSpPr>
              <p:nvPr/>
            </p:nvSpPr>
            <p:spPr bwMode="auto">
              <a:xfrm>
                <a:off x="1541" y="982"/>
                <a:ext cx="63" cy="217"/>
              </a:xfrm>
              <a:custGeom>
                <a:avLst/>
                <a:gdLst>
                  <a:gd name="T0" fmla="*/ 0 w 252"/>
                  <a:gd name="T1" fmla="*/ 0 h 870"/>
                  <a:gd name="T2" fmla="*/ 0 w 252"/>
                  <a:gd name="T3" fmla="*/ 0 h 870"/>
                  <a:gd name="T4" fmla="*/ 0 w 252"/>
                  <a:gd name="T5" fmla="*/ 0 h 870"/>
                  <a:gd name="T6" fmla="*/ 0 w 252"/>
                  <a:gd name="T7" fmla="*/ 0 h 870"/>
                  <a:gd name="T8" fmla="*/ 0 w 252"/>
                  <a:gd name="T9" fmla="*/ 0 h 870"/>
                  <a:gd name="T10" fmla="*/ 0 w 252"/>
                  <a:gd name="T11" fmla="*/ 0 h 870"/>
                  <a:gd name="T12" fmla="*/ 0 w 252"/>
                  <a:gd name="T13" fmla="*/ 0 h 870"/>
                  <a:gd name="T14" fmla="*/ 0 w 252"/>
                  <a:gd name="T15" fmla="*/ 0 h 870"/>
                  <a:gd name="T16" fmla="*/ 0 w 252"/>
                  <a:gd name="T17" fmla="*/ 0 h 870"/>
                  <a:gd name="T18" fmla="*/ 0 w 252"/>
                  <a:gd name="T19" fmla="*/ 0 h 870"/>
                  <a:gd name="T20" fmla="*/ 0 w 252"/>
                  <a:gd name="T21" fmla="*/ 0 h 870"/>
                  <a:gd name="T22" fmla="*/ 0 w 252"/>
                  <a:gd name="T23" fmla="*/ 0 h 870"/>
                  <a:gd name="T24" fmla="*/ 0 w 252"/>
                  <a:gd name="T25" fmla="*/ 0 h 870"/>
                  <a:gd name="T26" fmla="*/ 0 w 252"/>
                  <a:gd name="T27" fmla="*/ 0 h 870"/>
                  <a:gd name="T28" fmla="*/ 0 w 252"/>
                  <a:gd name="T29" fmla="*/ 0 h 870"/>
                  <a:gd name="T30" fmla="*/ 0 w 252"/>
                  <a:gd name="T31" fmla="*/ 0 h 870"/>
                  <a:gd name="T32" fmla="*/ 0 w 252"/>
                  <a:gd name="T33" fmla="*/ 0 h 870"/>
                  <a:gd name="T34" fmla="*/ 0 w 252"/>
                  <a:gd name="T35" fmla="*/ 0 h 870"/>
                  <a:gd name="T36" fmla="*/ 0 w 252"/>
                  <a:gd name="T37" fmla="*/ 0 h 870"/>
                  <a:gd name="T38" fmla="*/ 0 w 252"/>
                  <a:gd name="T39" fmla="*/ 0 h 870"/>
                  <a:gd name="T40" fmla="*/ 0 w 252"/>
                  <a:gd name="T41" fmla="*/ 0 h 870"/>
                  <a:gd name="T42" fmla="*/ 0 w 252"/>
                  <a:gd name="T43" fmla="*/ 0 h 870"/>
                  <a:gd name="T44" fmla="*/ 0 w 252"/>
                  <a:gd name="T45" fmla="*/ 0 h 870"/>
                  <a:gd name="T46" fmla="*/ 0 w 252"/>
                  <a:gd name="T47" fmla="*/ 0 h 870"/>
                  <a:gd name="T48" fmla="*/ 0 w 252"/>
                  <a:gd name="T49" fmla="*/ 0 h 870"/>
                  <a:gd name="T50" fmla="*/ 0 w 252"/>
                  <a:gd name="T51" fmla="*/ 0 h 870"/>
                  <a:gd name="T52" fmla="*/ 0 w 252"/>
                  <a:gd name="T53" fmla="*/ 0 h 870"/>
                  <a:gd name="T54" fmla="*/ 0 w 252"/>
                  <a:gd name="T55" fmla="*/ 0 h 870"/>
                  <a:gd name="T56" fmla="*/ 0 w 252"/>
                  <a:gd name="T57" fmla="*/ 0 h 870"/>
                  <a:gd name="T58" fmla="*/ 0 w 252"/>
                  <a:gd name="T59" fmla="*/ 0 h 870"/>
                  <a:gd name="T60" fmla="*/ 0 w 252"/>
                  <a:gd name="T61" fmla="*/ 0 h 870"/>
                  <a:gd name="T62" fmla="*/ 0 w 252"/>
                  <a:gd name="T63" fmla="*/ 0 h 870"/>
                  <a:gd name="T64" fmla="*/ 0 w 252"/>
                  <a:gd name="T65" fmla="*/ 0 h 870"/>
                  <a:gd name="T66" fmla="*/ 0 w 252"/>
                  <a:gd name="T67" fmla="*/ 0 h 870"/>
                  <a:gd name="T68" fmla="*/ 0 w 252"/>
                  <a:gd name="T69" fmla="*/ 0 h 870"/>
                  <a:gd name="T70" fmla="*/ 0 w 252"/>
                  <a:gd name="T71" fmla="*/ 0 h 870"/>
                  <a:gd name="T72" fmla="*/ 0 w 252"/>
                  <a:gd name="T73" fmla="*/ 0 h 870"/>
                  <a:gd name="T74" fmla="*/ 0 w 252"/>
                  <a:gd name="T75" fmla="*/ 0 h 870"/>
                  <a:gd name="T76" fmla="*/ 0 w 252"/>
                  <a:gd name="T77" fmla="*/ 0 h 870"/>
                  <a:gd name="T78" fmla="*/ 0 w 252"/>
                  <a:gd name="T79" fmla="*/ 0 h 870"/>
                  <a:gd name="T80" fmla="*/ 0 w 252"/>
                  <a:gd name="T81" fmla="*/ 0 h 870"/>
                  <a:gd name="T82" fmla="*/ 0 w 252"/>
                  <a:gd name="T83" fmla="*/ 0 h 870"/>
                  <a:gd name="T84" fmla="*/ 0 w 252"/>
                  <a:gd name="T85" fmla="*/ 0 h 870"/>
                  <a:gd name="T86" fmla="*/ 0 w 252"/>
                  <a:gd name="T87" fmla="*/ 0 h 870"/>
                  <a:gd name="T88" fmla="*/ 0 w 252"/>
                  <a:gd name="T89" fmla="*/ 0 h 870"/>
                  <a:gd name="T90" fmla="*/ 0 w 252"/>
                  <a:gd name="T91" fmla="*/ 0 h 870"/>
                  <a:gd name="T92" fmla="*/ 0 w 252"/>
                  <a:gd name="T93" fmla="*/ 0 h 870"/>
                  <a:gd name="T94" fmla="*/ 0 w 252"/>
                  <a:gd name="T95" fmla="*/ 0 h 870"/>
                  <a:gd name="T96" fmla="*/ 0 w 252"/>
                  <a:gd name="T97" fmla="*/ 0 h 870"/>
                  <a:gd name="T98" fmla="*/ 0 w 252"/>
                  <a:gd name="T99" fmla="*/ 0 h 870"/>
                  <a:gd name="T100" fmla="*/ 0 w 252"/>
                  <a:gd name="T101" fmla="*/ 0 h 870"/>
                  <a:gd name="T102" fmla="*/ 0 w 252"/>
                  <a:gd name="T103" fmla="*/ 0 h 870"/>
                  <a:gd name="T104" fmla="*/ 0 w 252"/>
                  <a:gd name="T105" fmla="*/ 0 h 870"/>
                  <a:gd name="T106" fmla="*/ 0 w 252"/>
                  <a:gd name="T107" fmla="*/ 0 h 870"/>
                  <a:gd name="T108" fmla="*/ 0 w 252"/>
                  <a:gd name="T109" fmla="*/ 0 h 870"/>
                  <a:gd name="T110" fmla="*/ 0 w 252"/>
                  <a:gd name="T111" fmla="*/ 0 h 870"/>
                  <a:gd name="T112" fmla="*/ 0 w 252"/>
                  <a:gd name="T113" fmla="*/ 0 h 8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2"/>
                  <a:gd name="T172" fmla="*/ 0 h 870"/>
                  <a:gd name="T173" fmla="*/ 252 w 252"/>
                  <a:gd name="T174" fmla="*/ 870 h 8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2" h="870">
                    <a:moveTo>
                      <a:pt x="0" y="0"/>
                    </a:moveTo>
                    <a:lnTo>
                      <a:pt x="0" y="769"/>
                    </a:lnTo>
                    <a:lnTo>
                      <a:pt x="19" y="793"/>
                    </a:lnTo>
                    <a:lnTo>
                      <a:pt x="42" y="814"/>
                    </a:lnTo>
                    <a:lnTo>
                      <a:pt x="67" y="832"/>
                    </a:lnTo>
                    <a:lnTo>
                      <a:pt x="80" y="839"/>
                    </a:lnTo>
                    <a:lnTo>
                      <a:pt x="95" y="847"/>
                    </a:lnTo>
                    <a:lnTo>
                      <a:pt x="109" y="852"/>
                    </a:lnTo>
                    <a:lnTo>
                      <a:pt x="125" y="857"/>
                    </a:lnTo>
                    <a:lnTo>
                      <a:pt x="158" y="865"/>
                    </a:lnTo>
                    <a:lnTo>
                      <a:pt x="175" y="867"/>
                    </a:lnTo>
                    <a:lnTo>
                      <a:pt x="194" y="869"/>
                    </a:lnTo>
                    <a:lnTo>
                      <a:pt x="233" y="870"/>
                    </a:lnTo>
                    <a:lnTo>
                      <a:pt x="235" y="870"/>
                    </a:lnTo>
                    <a:lnTo>
                      <a:pt x="232" y="850"/>
                    </a:lnTo>
                    <a:lnTo>
                      <a:pt x="230" y="829"/>
                    </a:lnTo>
                    <a:lnTo>
                      <a:pt x="228" y="807"/>
                    </a:lnTo>
                    <a:lnTo>
                      <a:pt x="226" y="784"/>
                    </a:lnTo>
                    <a:lnTo>
                      <a:pt x="226" y="781"/>
                    </a:lnTo>
                    <a:lnTo>
                      <a:pt x="226" y="776"/>
                    </a:lnTo>
                    <a:lnTo>
                      <a:pt x="226" y="769"/>
                    </a:lnTo>
                    <a:lnTo>
                      <a:pt x="226" y="760"/>
                    </a:lnTo>
                    <a:lnTo>
                      <a:pt x="226" y="747"/>
                    </a:lnTo>
                    <a:lnTo>
                      <a:pt x="226" y="734"/>
                    </a:lnTo>
                    <a:lnTo>
                      <a:pt x="226" y="718"/>
                    </a:lnTo>
                    <a:lnTo>
                      <a:pt x="226" y="701"/>
                    </a:lnTo>
                    <a:lnTo>
                      <a:pt x="226" y="680"/>
                    </a:lnTo>
                    <a:lnTo>
                      <a:pt x="226" y="657"/>
                    </a:lnTo>
                    <a:lnTo>
                      <a:pt x="226" y="632"/>
                    </a:lnTo>
                    <a:lnTo>
                      <a:pt x="226" y="606"/>
                    </a:lnTo>
                    <a:lnTo>
                      <a:pt x="226" y="576"/>
                    </a:lnTo>
                    <a:lnTo>
                      <a:pt x="226" y="545"/>
                    </a:lnTo>
                    <a:lnTo>
                      <a:pt x="226" y="511"/>
                    </a:lnTo>
                    <a:lnTo>
                      <a:pt x="226" y="476"/>
                    </a:lnTo>
                    <a:lnTo>
                      <a:pt x="226" y="440"/>
                    </a:lnTo>
                    <a:lnTo>
                      <a:pt x="226" y="407"/>
                    </a:lnTo>
                    <a:lnTo>
                      <a:pt x="226" y="376"/>
                    </a:lnTo>
                    <a:lnTo>
                      <a:pt x="226" y="348"/>
                    </a:lnTo>
                    <a:lnTo>
                      <a:pt x="226" y="321"/>
                    </a:lnTo>
                    <a:lnTo>
                      <a:pt x="226" y="297"/>
                    </a:lnTo>
                    <a:lnTo>
                      <a:pt x="226" y="275"/>
                    </a:lnTo>
                    <a:lnTo>
                      <a:pt x="226" y="256"/>
                    </a:lnTo>
                    <a:lnTo>
                      <a:pt x="226" y="238"/>
                    </a:lnTo>
                    <a:lnTo>
                      <a:pt x="226" y="223"/>
                    </a:lnTo>
                    <a:lnTo>
                      <a:pt x="226" y="210"/>
                    </a:lnTo>
                    <a:lnTo>
                      <a:pt x="226" y="199"/>
                    </a:lnTo>
                    <a:lnTo>
                      <a:pt x="226" y="190"/>
                    </a:lnTo>
                    <a:lnTo>
                      <a:pt x="226" y="183"/>
                    </a:lnTo>
                    <a:lnTo>
                      <a:pt x="226" y="178"/>
                    </a:lnTo>
                    <a:lnTo>
                      <a:pt x="226" y="177"/>
                    </a:lnTo>
                    <a:lnTo>
                      <a:pt x="227" y="148"/>
                    </a:lnTo>
                    <a:lnTo>
                      <a:pt x="229" y="123"/>
                    </a:lnTo>
                    <a:lnTo>
                      <a:pt x="235" y="76"/>
                    </a:lnTo>
                    <a:lnTo>
                      <a:pt x="242" y="34"/>
                    </a:lnTo>
                    <a:lnTo>
                      <a:pt x="246" y="15"/>
                    </a:lnTo>
                    <a:lnTo>
                      <a:pt x="25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61" name="Freeform 809"/>
              <p:cNvSpPr>
                <a:spLocks/>
              </p:cNvSpPr>
              <p:nvPr/>
            </p:nvSpPr>
            <p:spPr bwMode="auto">
              <a:xfrm>
                <a:off x="1634" y="982"/>
                <a:ext cx="13" cy="208"/>
              </a:xfrm>
              <a:custGeom>
                <a:avLst/>
                <a:gdLst>
                  <a:gd name="T0" fmla="*/ 0 w 52"/>
                  <a:gd name="T1" fmla="*/ 0 h 832"/>
                  <a:gd name="T2" fmla="*/ 0 w 52"/>
                  <a:gd name="T3" fmla="*/ 0 h 832"/>
                  <a:gd name="T4" fmla="*/ 0 w 52"/>
                  <a:gd name="T5" fmla="*/ 0 h 832"/>
                  <a:gd name="T6" fmla="*/ 0 w 52"/>
                  <a:gd name="T7" fmla="*/ 0 h 832"/>
                  <a:gd name="T8" fmla="*/ 0 w 52"/>
                  <a:gd name="T9" fmla="*/ 0 h 832"/>
                  <a:gd name="T10" fmla="*/ 0 w 52"/>
                  <a:gd name="T11" fmla="*/ 0 h 832"/>
                  <a:gd name="T12" fmla="*/ 0 w 52"/>
                  <a:gd name="T13" fmla="*/ 0 h 832"/>
                  <a:gd name="T14" fmla="*/ 0 w 52"/>
                  <a:gd name="T15" fmla="*/ 0 h 832"/>
                  <a:gd name="T16" fmla="*/ 0 w 52"/>
                  <a:gd name="T17" fmla="*/ 0 h 832"/>
                  <a:gd name="T18" fmla="*/ 0 w 52"/>
                  <a:gd name="T19" fmla="*/ 0 h 832"/>
                  <a:gd name="T20" fmla="*/ 0 w 52"/>
                  <a:gd name="T21" fmla="*/ 0 h 832"/>
                  <a:gd name="T22" fmla="*/ 0 w 52"/>
                  <a:gd name="T23" fmla="*/ 0 h 832"/>
                  <a:gd name="T24" fmla="*/ 0 w 52"/>
                  <a:gd name="T25" fmla="*/ 0 h 832"/>
                  <a:gd name="T26" fmla="*/ 0 w 52"/>
                  <a:gd name="T27" fmla="*/ 0 h 832"/>
                  <a:gd name="T28" fmla="*/ 0 w 52"/>
                  <a:gd name="T29" fmla="*/ 0 h 832"/>
                  <a:gd name="T30" fmla="*/ 0 w 52"/>
                  <a:gd name="T31" fmla="*/ 0 h 832"/>
                  <a:gd name="T32" fmla="*/ 0 w 52"/>
                  <a:gd name="T33" fmla="*/ 0 h 832"/>
                  <a:gd name="T34" fmla="*/ 0 w 52"/>
                  <a:gd name="T35" fmla="*/ 0 h 832"/>
                  <a:gd name="T36" fmla="*/ 0 w 52"/>
                  <a:gd name="T37" fmla="*/ 0 h 832"/>
                  <a:gd name="T38" fmla="*/ 0 w 52"/>
                  <a:gd name="T39" fmla="*/ 0 h 832"/>
                  <a:gd name="T40" fmla="*/ 0 w 52"/>
                  <a:gd name="T41" fmla="*/ 0 h 832"/>
                  <a:gd name="T42" fmla="*/ 0 w 52"/>
                  <a:gd name="T43" fmla="*/ 0 h 832"/>
                  <a:gd name="T44" fmla="*/ 0 w 52"/>
                  <a:gd name="T45" fmla="*/ 0 h 832"/>
                  <a:gd name="T46" fmla="*/ 0 w 52"/>
                  <a:gd name="T47" fmla="*/ 0 h 832"/>
                  <a:gd name="T48" fmla="*/ 0 w 52"/>
                  <a:gd name="T49" fmla="*/ 0 h 832"/>
                  <a:gd name="T50" fmla="*/ 0 w 52"/>
                  <a:gd name="T51" fmla="*/ 0 h 832"/>
                  <a:gd name="T52" fmla="*/ 0 w 52"/>
                  <a:gd name="T53" fmla="*/ 0 h 832"/>
                  <a:gd name="T54" fmla="*/ 0 w 52"/>
                  <a:gd name="T55" fmla="*/ 0 h 832"/>
                  <a:gd name="T56" fmla="*/ 0 w 52"/>
                  <a:gd name="T57" fmla="*/ 0 h 832"/>
                  <a:gd name="T58" fmla="*/ 0 w 52"/>
                  <a:gd name="T59" fmla="*/ 0 h 832"/>
                  <a:gd name="T60" fmla="*/ 0 w 52"/>
                  <a:gd name="T61" fmla="*/ 0 h 832"/>
                  <a:gd name="T62" fmla="*/ 0 w 52"/>
                  <a:gd name="T63" fmla="*/ 0 h 832"/>
                  <a:gd name="T64" fmla="*/ 0 w 52"/>
                  <a:gd name="T65" fmla="*/ 0 h 832"/>
                  <a:gd name="T66" fmla="*/ 0 w 52"/>
                  <a:gd name="T67" fmla="*/ 0 h 832"/>
                  <a:gd name="T68" fmla="*/ 0 w 52"/>
                  <a:gd name="T69" fmla="*/ 0 h 832"/>
                  <a:gd name="T70" fmla="*/ 0 w 52"/>
                  <a:gd name="T71" fmla="*/ 0 h 832"/>
                  <a:gd name="T72" fmla="*/ 0 w 52"/>
                  <a:gd name="T73" fmla="*/ 0 h 832"/>
                  <a:gd name="T74" fmla="*/ 0 w 52"/>
                  <a:gd name="T75" fmla="*/ 0 h 832"/>
                  <a:gd name="T76" fmla="*/ 0 w 52"/>
                  <a:gd name="T77" fmla="*/ 0 h 832"/>
                  <a:gd name="T78" fmla="*/ 0 w 52"/>
                  <a:gd name="T79" fmla="*/ 0 h 832"/>
                  <a:gd name="T80" fmla="*/ 0 w 52"/>
                  <a:gd name="T81" fmla="*/ 0 h 832"/>
                  <a:gd name="T82" fmla="*/ 0 w 52"/>
                  <a:gd name="T83" fmla="*/ 0 h 832"/>
                  <a:gd name="T84" fmla="*/ 0 w 52"/>
                  <a:gd name="T85" fmla="*/ 0 h 83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52"/>
                  <a:gd name="T130" fmla="*/ 0 h 832"/>
                  <a:gd name="T131" fmla="*/ 52 w 52"/>
                  <a:gd name="T132" fmla="*/ 832 h 83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52" h="832">
                    <a:moveTo>
                      <a:pt x="52" y="0"/>
                    </a:moveTo>
                    <a:lnTo>
                      <a:pt x="38" y="0"/>
                    </a:lnTo>
                    <a:lnTo>
                      <a:pt x="31" y="19"/>
                    </a:lnTo>
                    <a:lnTo>
                      <a:pt x="25" y="42"/>
                    </a:lnTo>
                    <a:lnTo>
                      <a:pt x="20" y="68"/>
                    </a:lnTo>
                    <a:lnTo>
                      <a:pt x="16" y="97"/>
                    </a:lnTo>
                    <a:lnTo>
                      <a:pt x="12" y="127"/>
                    </a:lnTo>
                    <a:lnTo>
                      <a:pt x="9" y="161"/>
                    </a:lnTo>
                    <a:lnTo>
                      <a:pt x="6" y="197"/>
                    </a:lnTo>
                    <a:lnTo>
                      <a:pt x="4" y="237"/>
                    </a:lnTo>
                    <a:lnTo>
                      <a:pt x="4" y="274"/>
                    </a:lnTo>
                    <a:lnTo>
                      <a:pt x="4" y="309"/>
                    </a:lnTo>
                    <a:lnTo>
                      <a:pt x="4" y="342"/>
                    </a:lnTo>
                    <a:lnTo>
                      <a:pt x="4" y="373"/>
                    </a:lnTo>
                    <a:lnTo>
                      <a:pt x="4" y="401"/>
                    </a:lnTo>
                    <a:lnTo>
                      <a:pt x="4" y="428"/>
                    </a:lnTo>
                    <a:lnTo>
                      <a:pt x="4" y="451"/>
                    </a:lnTo>
                    <a:lnTo>
                      <a:pt x="4" y="474"/>
                    </a:lnTo>
                    <a:lnTo>
                      <a:pt x="4" y="493"/>
                    </a:lnTo>
                    <a:lnTo>
                      <a:pt x="4" y="510"/>
                    </a:lnTo>
                    <a:lnTo>
                      <a:pt x="4" y="525"/>
                    </a:lnTo>
                    <a:lnTo>
                      <a:pt x="4" y="538"/>
                    </a:lnTo>
                    <a:lnTo>
                      <a:pt x="4" y="547"/>
                    </a:lnTo>
                    <a:lnTo>
                      <a:pt x="4" y="556"/>
                    </a:lnTo>
                    <a:lnTo>
                      <a:pt x="4" y="561"/>
                    </a:lnTo>
                    <a:lnTo>
                      <a:pt x="4" y="566"/>
                    </a:lnTo>
                    <a:lnTo>
                      <a:pt x="1" y="632"/>
                    </a:lnTo>
                    <a:lnTo>
                      <a:pt x="0" y="699"/>
                    </a:lnTo>
                    <a:lnTo>
                      <a:pt x="0" y="765"/>
                    </a:lnTo>
                    <a:lnTo>
                      <a:pt x="2" y="832"/>
                    </a:lnTo>
                    <a:lnTo>
                      <a:pt x="10" y="824"/>
                    </a:lnTo>
                    <a:lnTo>
                      <a:pt x="14" y="820"/>
                    </a:lnTo>
                    <a:lnTo>
                      <a:pt x="16" y="818"/>
                    </a:lnTo>
                    <a:lnTo>
                      <a:pt x="16" y="817"/>
                    </a:lnTo>
                    <a:lnTo>
                      <a:pt x="17" y="817"/>
                    </a:lnTo>
                    <a:lnTo>
                      <a:pt x="19" y="817"/>
                    </a:lnTo>
                    <a:lnTo>
                      <a:pt x="27" y="809"/>
                    </a:lnTo>
                    <a:lnTo>
                      <a:pt x="35" y="802"/>
                    </a:lnTo>
                    <a:lnTo>
                      <a:pt x="36" y="797"/>
                    </a:lnTo>
                    <a:lnTo>
                      <a:pt x="40" y="794"/>
                    </a:lnTo>
                    <a:lnTo>
                      <a:pt x="46" y="781"/>
                    </a:lnTo>
                    <a:lnTo>
                      <a:pt x="52" y="769"/>
                    </a:lnTo>
                    <a:lnTo>
                      <a:pt x="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62" name="Freeform 810"/>
              <p:cNvSpPr>
                <a:spLocks/>
              </p:cNvSpPr>
              <p:nvPr/>
            </p:nvSpPr>
            <p:spPr bwMode="auto">
              <a:xfrm>
                <a:off x="1597" y="982"/>
                <a:ext cx="25" cy="217"/>
              </a:xfrm>
              <a:custGeom>
                <a:avLst/>
                <a:gdLst>
                  <a:gd name="T0" fmla="*/ 0 w 98"/>
                  <a:gd name="T1" fmla="*/ 0 h 870"/>
                  <a:gd name="T2" fmla="*/ 0 w 98"/>
                  <a:gd name="T3" fmla="*/ 0 h 870"/>
                  <a:gd name="T4" fmla="*/ 0 w 98"/>
                  <a:gd name="T5" fmla="*/ 0 h 870"/>
                  <a:gd name="T6" fmla="*/ 0 w 98"/>
                  <a:gd name="T7" fmla="*/ 0 h 870"/>
                  <a:gd name="T8" fmla="*/ 0 w 98"/>
                  <a:gd name="T9" fmla="*/ 0 h 870"/>
                  <a:gd name="T10" fmla="*/ 0 w 98"/>
                  <a:gd name="T11" fmla="*/ 0 h 870"/>
                  <a:gd name="T12" fmla="*/ 0 w 98"/>
                  <a:gd name="T13" fmla="*/ 0 h 870"/>
                  <a:gd name="T14" fmla="*/ 0 w 98"/>
                  <a:gd name="T15" fmla="*/ 0 h 870"/>
                  <a:gd name="T16" fmla="*/ 0 w 98"/>
                  <a:gd name="T17" fmla="*/ 0 h 870"/>
                  <a:gd name="T18" fmla="*/ 0 w 98"/>
                  <a:gd name="T19" fmla="*/ 0 h 870"/>
                  <a:gd name="T20" fmla="*/ 0 w 98"/>
                  <a:gd name="T21" fmla="*/ 0 h 870"/>
                  <a:gd name="T22" fmla="*/ 0 w 98"/>
                  <a:gd name="T23" fmla="*/ 0 h 870"/>
                  <a:gd name="T24" fmla="*/ 0 w 98"/>
                  <a:gd name="T25" fmla="*/ 0 h 870"/>
                  <a:gd name="T26" fmla="*/ 0 w 98"/>
                  <a:gd name="T27" fmla="*/ 0 h 870"/>
                  <a:gd name="T28" fmla="*/ 0 w 98"/>
                  <a:gd name="T29" fmla="*/ 0 h 870"/>
                  <a:gd name="T30" fmla="*/ 0 w 98"/>
                  <a:gd name="T31" fmla="*/ 0 h 870"/>
                  <a:gd name="T32" fmla="*/ 0 w 98"/>
                  <a:gd name="T33" fmla="*/ 0 h 870"/>
                  <a:gd name="T34" fmla="*/ 0 w 98"/>
                  <a:gd name="T35" fmla="*/ 0 h 870"/>
                  <a:gd name="T36" fmla="*/ 0 w 98"/>
                  <a:gd name="T37" fmla="*/ 0 h 870"/>
                  <a:gd name="T38" fmla="*/ 0 w 98"/>
                  <a:gd name="T39" fmla="*/ 0 h 870"/>
                  <a:gd name="T40" fmla="*/ 0 w 98"/>
                  <a:gd name="T41" fmla="*/ 0 h 870"/>
                  <a:gd name="T42" fmla="*/ 0 w 98"/>
                  <a:gd name="T43" fmla="*/ 0 h 870"/>
                  <a:gd name="T44" fmla="*/ 0 w 98"/>
                  <a:gd name="T45" fmla="*/ 0 h 870"/>
                  <a:gd name="T46" fmla="*/ 0 w 98"/>
                  <a:gd name="T47" fmla="*/ 0 h 870"/>
                  <a:gd name="T48" fmla="*/ 0 w 98"/>
                  <a:gd name="T49" fmla="*/ 0 h 870"/>
                  <a:gd name="T50" fmla="*/ 0 w 98"/>
                  <a:gd name="T51" fmla="*/ 0 h 870"/>
                  <a:gd name="T52" fmla="*/ 0 w 98"/>
                  <a:gd name="T53" fmla="*/ 0 h 870"/>
                  <a:gd name="T54" fmla="*/ 0 w 98"/>
                  <a:gd name="T55" fmla="*/ 0 h 870"/>
                  <a:gd name="T56" fmla="*/ 0 w 98"/>
                  <a:gd name="T57" fmla="*/ 0 h 870"/>
                  <a:gd name="T58" fmla="*/ 0 w 98"/>
                  <a:gd name="T59" fmla="*/ 0 h 870"/>
                  <a:gd name="T60" fmla="*/ 0 w 98"/>
                  <a:gd name="T61" fmla="*/ 0 h 870"/>
                  <a:gd name="T62" fmla="*/ 0 w 98"/>
                  <a:gd name="T63" fmla="*/ 0 h 870"/>
                  <a:gd name="T64" fmla="*/ 0 w 98"/>
                  <a:gd name="T65" fmla="*/ 0 h 87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8"/>
                  <a:gd name="T100" fmla="*/ 0 h 870"/>
                  <a:gd name="T101" fmla="*/ 98 w 98"/>
                  <a:gd name="T102" fmla="*/ 870 h 87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8" h="870">
                    <a:moveTo>
                      <a:pt x="95" y="152"/>
                    </a:moveTo>
                    <a:lnTo>
                      <a:pt x="85" y="129"/>
                    </a:lnTo>
                    <a:lnTo>
                      <a:pt x="79" y="109"/>
                    </a:lnTo>
                    <a:lnTo>
                      <a:pt x="75" y="90"/>
                    </a:lnTo>
                    <a:lnTo>
                      <a:pt x="74" y="74"/>
                    </a:lnTo>
                    <a:lnTo>
                      <a:pt x="75" y="52"/>
                    </a:lnTo>
                    <a:lnTo>
                      <a:pt x="78" y="33"/>
                    </a:lnTo>
                    <a:lnTo>
                      <a:pt x="83" y="15"/>
                    </a:lnTo>
                    <a:lnTo>
                      <a:pt x="91" y="0"/>
                    </a:lnTo>
                    <a:lnTo>
                      <a:pt x="26" y="0"/>
                    </a:lnTo>
                    <a:lnTo>
                      <a:pt x="20" y="15"/>
                    </a:lnTo>
                    <a:lnTo>
                      <a:pt x="16" y="34"/>
                    </a:lnTo>
                    <a:lnTo>
                      <a:pt x="9" y="76"/>
                    </a:lnTo>
                    <a:lnTo>
                      <a:pt x="3" y="123"/>
                    </a:lnTo>
                    <a:lnTo>
                      <a:pt x="1" y="148"/>
                    </a:lnTo>
                    <a:lnTo>
                      <a:pt x="0" y="177"/>
                    </a:lnTo>
                    <a:lnTo>
                      <a:pt x="0" y="178"/>
                    </a:lnTo>
                    <a:lnTo>
                      <a:pt x="0" y="183"/>
                    </a:lnTo>
                    <a:lnTo>
                      <a:pt x="0" y="190"/>
                    </a:lnTo>
                    <a:lnTo>
                      <a:pt x="0" y="199"/>
                    </a:lnTo>
                    <a:lnTo>
                      <a:pt x="0" y="210"/>
                    </a:lnTo>
                    <a:lnTo>
                      <a:pt x="0" y="223"/>
                    </a:lnTo>
                    <a:lnTo>
                      <a:pt x="0" y="238"/>
                    </a:lnTo>
                    <a:lnTo>
                      <a:pt x="0" y="256"/>
                    </a:lnTo>
                    <a:lnTo>
                      <a:pt x="0" y="275"/>
                    </a:lnTo>
                    <a:lnTo>
                      <a:pt x="0" y="297"/>
                    </a:lnTo>
                    <a:lnTo>
                      <a:pt x="0" y="321"/>
                    </a:lnTo>
                    <a:lnTo>
                      <a:pt x="0" y="348"/>
                    </a:lnTo>
                    <a:lnTo>
                      <a:pt x="0" y="376"/>
                    </a:lnTo>
                    <a:lnTo>
                      <a:pt x="0" y="407"/>
                    </a:lnTo>
                    <a:lnTo>
                      <a:pt x="0" y="440"/>
                    </a:lnTo>
                    <a:lnTo>
                      <a:pt x="0" y="476"/>
                    </a:lnTo>
                    <a:lnTo>
                      <a:pt x="0" y="511"/>
                    </a:lnTo>
                    <a:lnTo>
                      <a:pt x="0" y="545"/>
                    </a:lnTo>
                    <a:lnTo>
                      <a:pt x="0" y="576"/>
                    </a:lnTo>
                    <a:lnTo>
                      <a:pt x="0" y="606"/>
                    </a:lnTo>
                    <a:lnTo>
                      <a:pt x="0" y="632"/>
                    </a:lnTo>
                    <a:lnTo>
                      <a:pt x="0" y="657"/>
                    </a:lnTo>
                    <a:lnTo>
                      <a:pt x="0" y="680"/>
                    </a:lnTo>
                    <a:lnTo>
                      <a:pt x="0" y="701"/>
                    </a:lnTo>
                    <a:lnTo>
                      <a:pt x="0" y="718"/>
                    </a:lnTo>
                    <a:lnTo>
                      <a:pt x="0" y="734"/>
                    </a:lnTo>
                    <a:lnTo>
                      <a:pt x="0" y="747"/>
                    </a:lnTo>
                    <a:lnTo>
                      <a:pt x="0" y="760"/>
                    </a:lnTo>
                    <a:lnTo>
                      <a:pt x="0" y="769"/>
                    </a:lnTo>
                    <a:lnTo>
                      <a:pt x="0" y="776"/>
                    </a:lnTo>
                    <a:lnTo>
                      <a:pt x="0" y="781"/>
                    </a:lnTo>
                    <a:lnTo>
                      <a:pt x="0" y="784"/>
                    </a:lnTo>
                    <a:lnTo>
                      <a:pt x="2" y="807"/>
                    </a:lnTo>
                    <a:lnTo>
                      <a:pt x="4" y="829"/>
                    </a:lnTo>
                    <a:lnTo>
                      <a:pt x="6" y="850"/>
                    </a:lnTo>
                    <a:lnTo>
                      <a:pt x="9" y="870"/>
                    </a:lnTo>
                    <a:lnTo>
                      <a:pt x="19" y="870"/>
                    </a:lnTo>
                    <a:lnTo>
                      <a:pt x="35" y="869"/>
                    </a:lnTo>
                    <a:lnTo>
                      <a:pt x="52" y="867"/>
                    </a:lnTo>
                    <a:lnTo>
                      <a:pt x="75" y="861"/>
                    </a:lnTo>
                    <a:lnTo>
                      <a:pt x="97" y="857"/>
                    </a:lnTo>
                    <a:lnTo>
                      <a:pt x="93" y="812"/>
                    </a:lnTo>
                    <a:lnTo>
                      <a:pt x="90" y="738"/>
                    </a:lnTo>
                    <a:lnTo>
                      <a:pt x="89" y="666"/>
                    </a:lnTo>
                    <a:lnTo>
                      <a:pt x="90" y="593"/>
                    </a:lnTo>
                    <a:lnTo>
                      <a:pt x="93" y="521"/>
                    </a:lnTo>
                    <a:lnTo>
                      <a:pt x="93" y="212"/>
                    </a:lnTo>
                    <a:lnTo>
                      <a:pt x="95" y="183"/>
                    </a:lnTo>
                    <a:lnTo>
                      <a:pt x="98" y="157"/>
                    </a:lnTo>
                    <a:lnTo>
                      <a:pt x="95" y="15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63" name="Freeform 811"/>
              <p:cNvSpPr>
                <a:spLocks/>
              </p:cNvSpPr>
              <p:nvPr/>
            </p:nvSpPr>
            <p:spPr bwMode="auto">
              <a:xfrm>
                <a:off x="1616" y="982"/>
                <a:ext cx="14" cy="39"/>
              </a:xfrm>
              <a:custGeom>
                <a:avLst/>
                <a:gdLst>
                  <a:gd name="T0" fmla="*/ 0 w 55"/>
                  <a:gd name="T1" fmla="*/ 0 h 157"/>
                  <a:gd name="T2" fmla="*/ 0 w 55"/>
                  <a:gd name="T3" fmla="*/ 0 h 157"/>
                  <a:gd name="T4" fmla="*/ 0 w 55"/>
                  <a:gd name="T5" fmla="*/ 0 h 157"/>
                  <a:gd name="T6" fmla="*/ 0 w 55"/>
                  <a:gd name="T7" fmla="*/ 0 h 157"/>
                  <a:gd name="T8" fmla="*/ 0 w 55"/>
                  <a:gd name="T9" fmla="*/ 0 h 157"/>
                  <a:gd name="T10" fmla="*/ 0 w 55"/>
                  <a:gd name="T11" fmla="*/ 0 h 157"/>
                  <a:gd name="T12" fmla="*/ 0 w 55"/>
                  <a:gd name="T13" fmla="*/ 0 h 157"/>
                  <a:gd name="T14" fmla="*/ 0 w 55"/>
                  <a:gd name="T15" fmla="*/ 0 h 157"/>
                  <a:gd name="T16" fmla="*/ 0 w 55"/>
                  <a:gd name="T17" fmla="*/ 0 h 157"/>
                  <a:gd name="T18" fmla="*/ 0 w 55"/>
                  <a:gd name="T19" fmla="*/ 0 h 157"/>
                  <a:gd name="T20" fmla="*/ 0 w 55"/>
                  <a:gd name="T21" fmla="*/ 0 h 157"/>
                  <a:gd name="T22" fmla="*/ 0 w 55"/>
                  <a:gd name="T23" fmla="*/ 0 h 157"/>
                  <a:gd name="T24" fmla="*/ 0 w 55"/>
                  <a:gd name="T25" fmla="*/ 0 h 157"/>
                  <a:gd name="T26" fmla="*/ 0 w 55"/>
                  <a:gd name="T27" fmla="*/ 0 h 157"/>
                  <a:gd name="T28" fmla="*/ 0 w 55"/>
                  <a:gd name="T29" fmla="*/ 0 h 157"/>
                  <a:gd name="T30" fmla="*/ 0 w 55"/>
                  <a:gd name="T31" fmla="*/ 0 h 157"/>
                  <a:gd name="T32" fmla="*/ 0 w 55"/>
                  <a:gd name="T33" fmla="*/ 0 h 1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157"/>
                  <a:gd name="T53" fmla="*/ 55 w 55"/>
                  <a:gd name="T54" fmla="*/ 157 h 1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157">
                    <a:moveTo>
                      <a:pt x="0" y="74"/>
                    </a:moveTo>
                    <a:lnTo>
                      <a:pt x="1" y="90"/>
                    </a:lnTo>
                    <a:lnTo>
                      <a:pt x="5" y="109"/>
                    </a:lnTo>
                    <a:lnTo>
                      <a:pt x="11" y="129"/>
                    </a:lnTo>
                    <a:lnTo>
                      <a:pt x="21" y="152"/>
                    </a:lnTo>
                    <a:lnTo>
                      <a:pt x="24" y="157"/>
                    </a:lnTo>
                    <a:lnTo>
                      <a:pt x="29" y="108"/>
                    </a:lnTo>
                    <a:lnTo>
                      <a:pt x="32" y="85"/>
                    </a:lnTo>
                    <a:lnTo>
                      <a:pt x="36" y="65"/>
                    </a:lnTo>
                    <a:lnTo>
                      <a:pt x="40" y="46"/>
                    </a:lnTo>
                    <a:lnTo>
                      <a:pt x="44" y="29"/>
                    </a:lnTo>
                    <a:lnTo>
                      <a:pt x="55" y="0"/>
                    </a:lnTo>
                    <a:lnTo>
                      <a:pt x="17" y="0"/>
                    </a:lnTo>
                    <a:lnTo>
                      <a:pt x="9" y="15"/>
                    </a:lnTo>
                    <a:lnTo>
                      <a:pt x="4" y="33"/>
                    </a:lnTo>
                    <a:lnTo>
                      <a:pt x="1" y="52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AEAE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4" name="Freeform 812"/>
              <p:cNvSpPr>
                <a:spLocks/>
              </p:cNvSpPr>
              <p:nvPr/>
            </p:nvSpPr>
            <p:spPr bwMode="auto">
              <a:xfrm>
                <a:off x="1620" y="982"/>
                <a:ext cx="23" cy="214"/>
              </a:xfrm>
              <a:custGeom>
                <a:avLst/>
                <a:gdLst>
                  <a:gd name="T0" fmla="*/ 0 w 95"/>
                  <a:gd name="T1" fmla="*/ 0 h 857"/>
                  <a:gd name="T2" fmla="*/ 0 w 95"/>
                  <a:gd name="T3" fmla="*/ 0 h 857"/>
                  <a:gd name="T4" fmla="*/ 0 w 95"/>
                  <a:gd name="T5" fmla="*/ 0 h 857"/>
                  <a:gd name="T6" fmla="*/ 0 w 95"/>
                  <a:gd name="T7" fmla="*/ 0 h 857"/>
                  <a:gd name="T8" fmla="*/ 0 w 95"/>
                  <a:gd name="T9" fmla="*/ 0 h 857"/>
                  <a:gd name="T10" fmla="*/ 0 w 95"/>
                  <a:gd name="T11" fmla="*/ 0 h 857"/>
                  <a:gd name="T12" fmla="*/ 0 w 95"/>
                  <a:gd name="T13" fmla="*/ 0 h 857"/>
                  <a:gd name="T14" fmla="*/ 0 w 95"/>
                  <a:gd name="T15" fmla="*/ 0 h 857"/>
                  <a:gd name="T16" fmla="*/ 0 w 95"/>
                  <a:gd name="T17" fmla="*/ 0 h 857"/>
                  <a:gd name="T18" fmla="*/ 0 w 95"/>
                  <a:gd name="T19" fmla="*/ 0 h 857"/>
                  <a:gd name="T20" fmla="*/ 0 w 95"/>
                  <a:gd name="T21" fmla="*/ 0 h 857"/>
                  <a:gd name="T22" fmla="*/ 0 w 95"/>
                  <a:gd name="T23" fmla="*/ 0 h 857"/>
                  <a:gd name="T24" fmla="*/ 0 w 95"/>
                  <a:gd name="T25" fmla="*/ 0 h 857"/>
                  <a:gd name="T26" fmla="*/ 0 w 95"/>
                  <a:gd name="T27" fmla="*/ 0 h 857"/>
                  <a:gd name="T28" fmla="*/ 0 w 95"/>
                  <a:gd name="T29" fmla="*/ 0 h 857"/>
                  <a:gd name="T30" fmla="*/ 0 w 95"/>
                  <a:gd name="T31" fmla="*/ 0 h 857"/>
                  <a:gd name="T32" fmla="*/ 0 w 95"/>
                  <a:gd name="T33" fmla="*/ 0 h 857"/>
                  <a:gd name="T34" fmla="*/ 0 w 95"/>
                  <a:gd name="T35" fmla="*/ 0 h 857"/>
                  <a:gd name="T36" fmla="*/ 0 w 95"/>
                  <a:gd name="T37" fmla="*/ 0 h 857"/>
                  <a:gd name="T38" fmla="*/ 0 w 95"/>
                  <a:gd name="T39" fmla="*/ 0 h 857"/>
                  <a:gd name="T40" fmla="*/ 0 w 95"/>
                  <a:gd name="T41" fmla="*/ 0 h 857"/>
                  <a:gd name="T42" fmla="*/ 0 w 95"/>
                  <a:gd name="T43" fmla="*/ 0 h 857"/>
                  <a:gd name="T44" fmla="*/ 0 w 95"/>
                  <a:gd name="T45" fmla="*/ 0 h 857"/>
                  <a:gd name="T46" fmla="*/ 0 w 95"/>
                  <a:gd name="T47" fmla="*/ 0 h 857"/>
                  <a:gd name="T48" fmla="*/ 0 w 95"/>
                  <a:gd name="T49" fmla="*/ 0 h 857"/>
                  <a:gd name="T50" fmla="*/ 0 w 95"/>
                  <a:gd name="T51" fmla="*/ 0 h 857"/>
                  <a:gd name="T52" fmla="*/ 0 w 95"/>
                  <a:gd name="T53" fmla="*/ 0 h 857"/>
                  <a:gd name="T54" fmla="*/ 0 w 95"/>
                  <a:gd name="T55" fmla="*/ 0 h 857"/>
                  <a:gd name="T56" fmla="*/ 0 w 95"/>
                  <a:gd name="T57" fmla="*/ 0 h 857"/>
                  <a:gd name="T58" fmla="*/ 0 w 95"/>
                  <a:gd name="T59" fmla="*/ 0 h 857"/>
                  <a:gd name="T60" fmla="*/ 0 w 95"/>
                  <a:gd name="T61" fmla="*/ 0 h 857"/>
                  <a:gd name="T62" fmla="*/ 0 w 95"/>
                  <a:gd name="T63" fmla="*/ 0 h 857"/>
                  <a:gd name="T64" fmla="*/ 0 w 95"/>
                  <a:gd name="T65" fmla="*/ 0 h 857"/>
                  <a:gd name="T66" fmla="*/ 0 w 95"/>
                  <a:gd name="T67" fmla="*/ 0 h 857"/>
                  <a:gd name="T68" fmla="*/ 0 w 95"/>
                  <a:gd name="T69" fmla="*/ 0 h 857"/>
                  <a:gd name="T70" fmla="*/ 0 w 95"/>
                  <a:gd name="T71" fmla="*/ 0 h 857"/>
                  <a:gd name="T72" fmla="*/ 0 w 95"/>
                  <a:gd name="T73" fmla="*/ 0 h 857"/>
                  <a:gd name="T74" fmla="*/ 0 w 95"/>
                  <a:gd name="T75" fmla="*/ 0 h 857"/>
                  <a:gd name="T76" fmla="*/ 0 w 95"/>
                  <a:gd name="T77" fmla="*/ 0 h 857"/>
                  <a:gd name="T78" fmla="*/ 0 w 95"/>
                  <a:gd name="T79" fmla="*/ 0 h 857"/>
                  <a:gd name="T80" fmla="*/ 0 w 95"/>
                  <a:gd name="T81" fmla="*/ 0 h 857"/>
                  <a:gd name="T82" fmla="*/ 0 w 95"/>
                  <a:gd name="T83" fmla="*/ 0 h 857"/>
                  <a:gd name="T84" fmla="*/ 0 w 95"/>
                  <a:gd name="T85" fmla="*/ 0 h 857"/>
                  <a:gd name="T86" fmla="*/ 0 w 95"/>
                  <a:gd name="T87" fmla="*/ 0 h 857"/>
                  <a:gd name="T88" fmla="*/ 0 w 95"/>
                  <a:gd name="T89" fmla="*/ 0 h 857"/>
                  <a:gd name="T90" fmla="*/ 0 w 95"/>
                  <a:gd name="T91" fmla="*/ 0 h 857"/>
                  <a:gd name="T92" fmla="*/ 0 w 95"/>
                  <a:gd name="T93" fmla="*/ 0 h 857"/>
                  <a:gd name="T94" fmla="*/ 0 w 95"/>
                  <a:gd name="T95" fmla="*/ 0 h 857"/>
                  <a:gd name="T96" fmla="*/ 0 w 95"/>
                  <a:gd name="T97" fmla="*/ 0 h 857"/>
                  <a:gd name="T98" fmla="*/ 0 w 95"/>
                  <a:gd name="T99" fmla="*/ 0 h 857"/>
                  <a:gd name="T100" fmla="*/ 0 w 95"/>
                  <a:gd name="T101" fmla="*/ 0 h 857"/>
                  <a:gd name="T102" fmla="*/ 0 w 95"/>
                  <a:gd name="T103" fmla="*/ 0 h 857"/>
                  <a:gd name="T104" fmla="*/ 0 w 95"/>
                  <a:gd name="T105" fmla="*/ 0 h 857"/>
                  <a:gd name="T106" fmla="*/ 0 w 95"/>
                  <a:gd name="T107" fmla="*/ 0 h 85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5"/>
                  <a:gd name="T163" fmla="*/ 0 h 857"/>
                  <a:gd name="T164" fmla="*/ 95 w 95"/>
                  <a:gd name="T165" fmla="*/ 857 h 857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5" h="857">
                    <a:moveTo>
                      <a:pt x="40" y="0"/>
                    </a:moveTo>
                    <a:lnTo>
                      <a:pt x="29" y="29"/>
                    </a:lnTo>
                    <a:lnTo>
                      <a:pt x="25" y="46"/>
                    </a:lnTo>
                    <a:lnTo>
                      <a:pt x="21" y="65"/>
                    </a:lnTo>
                    <a:lnTo>
                      <a:pt x="17" y="85"/>
                    </a:lnTo>
                    <a:lnTo>
                      <a:pt x="14" y="108"/>
                    </a:lnTo>
                    <a:lnTo>
                      <a:pt x="9" y="157"/>
                    </a:lnTo>
                    <a:lnTo>
                      <a:pt x="6" y="183"/>
                    </a:lnTo>
                    <a:lnTo>
                      <a:pt x="4" y="212"/>
                    </a:lnTo>
                    <a:lnTo>
                      <a:pt x="4" y="521"/>
                    </a:lnTo>
                    <a:lnTo>
                      <a:pt x="1" y="593"/>
                    </a:lnTo>
                    <a:lnTo>
                      <a:pt x="0" y="666"/>
                    </a:lnTo>
                    <a:lnTo>
                      <a:pt x="1" y="738"/>
                    </a:lnTo>
                    <a:lnTo>
                      <a:pt x="4" y="812"/>
                    </a:lnTo>
                    <a:lnTo>
                      <a:pt x="8" y="857"/>
                    </a:lnTo>
                    <a:lnTo>
                      <a:pt x="21" y="852"/>
                    </a:lnTo>
                    <a:lnTo>
                      <a:pt x="32" y="847"/>
                    </a:lnTo>
                    <a:lnTo>
                      <a:pt x="35" y="847"/>
                    </a:lnTo>
                    <a:lnTo>
                      <a:pt x="43" y="841"/>
                    </a:lnTo>
                    <a:lnTo>
                      <a:pt x="50" y="837"/>
                    </a:lnTo>
                    <a:lnTo>
                      <a:pt x="52" y="835"/>
                    </a:lnTo>
                    <a:lnTo>
                      <a:pt x="52" y="834"/>
                    </a:lnTo>
                    <a:lnTo>
                      <a:pt x="53" y="834"/>
                    </a:lnTo>
                    <a:lnTo>
                      <a:pt x="55" y="834"/>
                    </a:lnTo>
                    <a:lnTo>
                      <a:pt x="59" y="832"/>
                    </a:lnTo>
                    <a:lnTo>
                      <a:pt x="57" y="765"/>
                    </a:lnTo>
                    <a:lnTo>
                      <a:pt x="57" y="699"/>
                    </a:lnTo>
                    <a:lnTo>
                      <a:pt x="58" y="632"/>
                    </a:lnTo>
                    <a:lnTo>
                      <a:pt x="61" y="566"/>
                    </a:lnTo>
                    <a:lnTo>
                      <a:pt x="61" y="561"/>
                    </a:lnTo>
                    <a:lnTo>
                      <a:pt x="61" y="556"/>
                    </a:lnTo>
                    <a:lnTo>
                      <a:pt x="61" y="547"/>
                    </a:lnTo>
                    <a:lnTo>
                      <a:pt x="61" y="538"/>
                    </a:lnTo>
                    <a:lnTo>
                      <a:pt x="61" y="525"/>
                    </a:lnTo>
                    <a:lnTo>
                      <a:pt x="61" y="510"/>
                    </a:lnTo>
                    <a:lnTo>
                      <a:pt x="61" y="493"/>
                    </a:lnTo>
                    <a:lnTo>
                      <a:pt x="61" y="474"/>
                    </a:lnTo>
                    <a:lnTo>
                      <a:pt x="61" y="451"/>
                    </a:lnTo>
                    <a:lnTo>
                      <a:pt x="61" y="428"/>
                    </a:lnTo>
                    <a:lnTo>
                      <a:pt x="61" y="401"/>
                    </a:lnTo>
                    <a:lnTo>
                      <a:pt x="61" y="373"/>
                    </a:lnTo>
                    <a:lnTo>
                      <a:pt x="61" y="342"/>
                    </a:lnTo>
                    <a:lnTo>
                      <a:pt x="61" y="309"/>
                    </a:lnTo>
                    <a:lnTo>
                      <a:pt x="61" y="274"/>
                    </a:lnTo>
                    <a:lnTo>
                      <a:pt x="61" y="237"/>
                    </a:lnTo>
                    <a:lnTo>
                      <a:pt x="63" y="197"/>
                    </a:lnTo>
                    <a:lnTo>
                      <a:pt x="66" y="161"/>
                    </a:lnTo>
                    <a:lnTo>
                      <a:pt x="69" y="127"/>
                    </a:lnTo>
                    <a:lnTo>
                      <a:pt x="73" y="97"/>
                    </a:lnTo>
                    <a:lnTo>
                      <a:pt x="77" y="68"/>
                    </a:lnTo>
                    <a:lnTo>
                      <a:pt x="82" y="42"/>
                    </a:lnTo>
                    <a:lnTo>
                      <a:pt x="88" y="19"/>
                    </a:lnTo>
                    <a:lnTo>
                      <a:pt x="95" y="0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65" name="Line 813"/>
              <p:cNvSpPr>
                <a:spLocks noChangeShapeType="1"/>
              </p:cNvSpPr>
              <p:nvPr/>
            </p:nvSpPr>
            <p:spPr bwMode="auto">
              <a:xfrm flipV="1">
                <a:off x="1647" y="982"/>
                <a:ext cx="0" cy="192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6" name="Line 814"/>
              <p:cNvSpPr>
                <a:spLocks noChangeShapeType="1"/>
              </p:cNvSpPr>
              <p:nvPr/>
            </p:nvSpPr>
            <p:spPr bwMode="auto">
              <a:xfrm>
                <a:off x="1541" y="982"/>
                <a:ext cx="0" cy="192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7" name="Freeform 815"/>
              <p:cNvSpPr>
                <a:spLocks/>
              </p:cNvSpPr>
              <p:nvPr/>
            </p:nvSpPr>
            <p:spPr bwMode="auto">
              <a:xfrm>
                <a:off x="1547" y="914"/>
                <a:ext cx="93" cy="60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16" y="204"/>
                    </a:move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8" name="Line 816"/>
              <p:cNvSpPr>
                <a:spLocks noChangeShapeType="1"/>
              </p:cNvSpPr>
              <p:nvPr/>
            </p:nvSpPr>
            <p:spPr bwMode="auto">
              <a:xfrm flipV="1">
                <a:off x="1616" y="900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69" name="Freeform 817"/>
              <p:cNvSpPr>
                <a:spLocks/>
              </p:cNvSpPr>
              <p:nvPr/>
            </p:nvSpPr>
            <p:spPr bwMode="auto">
              <a:xfrm>
                <a:off x="1508" y="902"/>
                <a:ext cx="183" cy="118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622" y="403"/>
                    </a:move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6170" name="Freeform 818"/>
              <p:cNvSpPr>
                <a:spLocks/>
              </p:cNvSpPr>
              <p:nvPr/>
            </p:nvSpPr>
            <p:spPr bwMode="auto">
              <a:xfrm>
                <a:off x="1506" y="902"/>
                <a:ext cx="183" cy="118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730" y="236"/>
                    </a:move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1" name="Freeform 819"/>
              <p:cNvSpPr>
                <a:spLocks/>
              </p:cNvSpPr>
              <p:nvPr/>
            </p:nvSpPr>
            <p:spPr bwMode="auto">
              <a:xfrm>
                <a:off x="1555" y="903"/>
                <a:ext cx="93" cy="60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71" y="120"/>
                    </a:move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2" name="Freeform 820"/>
              <p:cNvSpPr>
                <a:spLocks/>
              </p:cNvSpPr>
              <p:nvPr/>
            </p:nvSpPr>
            <p:spPr bwMode="auto">
              <a:xfrm>
                <a:off x="1576" y="900"/>
                <a:ext cx="51" cy="31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29" y="18"/>
                    </a:move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173" name="Freeform 821"/>
              <p:cNvSpPr>
                <a:spLocks/>
              </p:cNvSpPr>
              <p:nvPr/>
            </p:nvSpPr>
            <p:spPr bwMode="auto">
              <a:xfrm>
                <a:off x="1576" y="900"/>
                <a:ext cx="51" cy="31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0" y="61"/>
                    </a:move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</p:grpSp>
        <p:grpSp>
          <p:nvGrpSpPr>
            <p:cNvPr id="15382" name="Group 822"/>
            <p:cNvGrpSpPr>
              <a:grpSpLocks/>
            </p:cNvGrpSpPr>
            <p:nvPr/>
          </p:nvGrpSpPr>
          <p:grpSpPr bwMode="auto">
            <a:xfrm>
              <a:off x="4177" y="936"/>
              <a:ext cx="911" cy="1512"/>
              <a:chOff x="1152" y="696"/>
              <a:chExt cx="911" cy="2412"/>
            </a:xfrm>
          </p:grpSpPr>
          <p:sp>
            <p:nvSpPr>
              <p:cNvPr id="15388" name="Freeform 823"/>
              <p:cNvSpPr>
                <a:spLocks/>
              </p:cNvSpPr>
              <p:nvPr/>
            </p:nvSpPr>
            <p:spPr bwMode="auto">
              <a:xfrm>
                <a:off x="1703" y="696"/>
                <a:ext cx="336" cy="115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89" name="Freeform 824"/>
              <p:cNvSpPr>
                <a:spLocks/>
              </p:cNvSpPr>
              <p:nvPr/>
            </p:nvSpPr>
            <p:spPr bwMode="auto">
              <a:xfrm>
                <a:off x="1608" y="910"/>
                <a:ext cx="324" cy="8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" name="Freeform 825"/>
              <p:cNvSpPr>
                <a:spLocks/>
              </p:cNvSpPr>
              <p:nvPr/>
            </p:nvSpPr>
            <p:spPr bwMode="auto">
              <a:xfrm>
                <a:off x="1272" y="910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1" name="Freeform 826"/>
              <p:cNvSpPr>
                <a:spLocks/>
              </p:cNvSpPr>
              <p:nvPr/>
            </p:nvSpPr>
            <p:spPr bwMode="auto">
              <a:xfrm>
                <a:off x="1608" y="2543"/>
                <a:ext cx="324" cy="106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2"/>
                    </a:lnTo>
                    <a:lnTo>
                      <a:pt x="709" y="229"/>
                    </a:lnTo>
                    <a:lnTo>
                      <a:pt x="767" y="249"/>
                    </a:lnTo>
                    <a:lnTo>
                      <a:pt x="823" y="269"/>
                    </a:lnTo>
                    <a:lnTo>
                      <a:pt x="879" y="292"/>
                    </a:lnTo>
                    <a:lnTo>
                      <a:pt x="934" y="315"/>
                    </a:lnTo>
                    <a:lnTo>
                      <a:pt x="988" y="342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30"/>
                    </a:lnTo>
                    <a:lnTo>
                      <a:pt x="1285" y="322"/>
                    </a:lnTo>
                    <a:lnTo>
                      <a:pt x="1274" y="315"/>
                    </a:lnTo>
                    <a:lnTo>
                      <a:pt x="1169" y="259"/>
                    </a:lnTo>
                    <a:lnTo>
                      <a:pt x="1106" y="226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2" name="Freeform 827"/>
              <p:cNvSpPr>
                <a:spLocks/>
              </p:cNvSpPr>
              <p:nvPr/>
            </p:nvSpPr>
            <p:spPr bwMode="auto">
              <a:xfrm>
                <a:off x="1272" y="2543"/>
                <a:ext cx="336" cy="115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40"/>
                    </a:lnTo>
                    <a:lnTo>
                      <a:pt x="425" y="313"/>
                    </a:lnTo>
                    <a:lnTo>
                      <a:pt x="482" y="288"/>
                    </a:lnTo>
                    <a:lnTo>
                      <a:pt x="542" y="265"/>
                    </a:lnTo>
                    <a:lnTo>
                      <a:pt x="601" y="242"/>
                    </a:lnTo>
                    <a:lnTo>
                      <a:pt x="663" y="223"/>
                    </a:lnTo>
                    <a:lnTo>
                      <a:pt x="725" y="205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3" name="Freeform 828"/>
              <p:cNvSpPr>
                <a:spLocks/>
              </p:cNvSpPr>
              <p:nvPr/>
            </p:nvSpPr>
            <p:spPr bwMode="auto">
              <a:xfrm>
                <a:off x="1608" y="2576"/>
                <a:ext cx="285" cy="96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9"/>
                    </a:lnTo>
                    <a:lnTo>
                      <a:pt x="2" y="128"/>
                    </a:lnTo>
                    <a:lnTo>
                      <a:pt x="5" y="129"/>
                    </a:lnTo>
                    <a:lnTo>
                      <a:pt x="7" y="129"/>
                    </a:lnTo>
                    <a:lnTo>
                      <a:pt x="66" y="128"/>
                    </a:lnTo>
                    <a:lnTo>
                      <a:pt x="125" y="130"/>
                    </a:lnTo>
                    <a:lnTo>
                      <a:pt x="183" y="133"/>
                    </a:lnTo>
                    <a:lnTo>
                      <a:pt x="241" y="138"/>
                    </a:lnTo>
                    <a:lnTo>
                      <a:pt x="297" y="143"/>
                    </a:lnTo>
                    <a:lnTo>
                      <a:pt x="353" y="151"/>
                    </a:lnTo>
                    <a:lnTo>
                      <a:pt x="407" y="160"/>
                    </a:lnTo>
                    <a:lnTo>
                      <a:pt x="462" y="172"/>
                    </a:lnTo>
                    <a:lnTo>
                      <a:pt x="514" y="183"/>
                    </a:lnTo>
                    <a:lnTo>
                      <a:pt x="567" y="197"/>
                    </a:lnTo>
                    <a:lnTo>
                      <a:pt x="618" y="212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4" name="Freeform 829"/>
              <p:cNvSpPr>
                <a:spLocks/>
              </p:cNvSpPr>
              <p:nvPr/>
            </p:nvSpPr>
            <p:spPr bwMode="auto">
              <a:xfrm>
                <a:off x="1608" y="2607"/>
                <a:ext cx="247" cy="89"/>
              </a:xfrm>
              <a:custGeom>
                <a:avLst/>
                <a:gdLst>
                  <a:gd name="T0" fmla="*/ 0 w 991"/>
                  <a:gd name="T1" fmla="*/ 0 h 355"/>
                  <a:gd name="T2" fmla="*/ 0 w 991"/>
                  <a:gd name="T3" fmla="*/ 0 h 355"/>
                  <a:gd name="T4" fmla="*/ 0 w 991"/>
                  <a:gd name="T5" fmla="*/ 0 h 355"/>
                  <a:gd name="T6" fmla="*/ 0 w 991"/>
                  <a:gd name="T7" fmla="*/ 0 h 355"/>
                  <a:gd name="T8" fmla="*/ 0 w 991"/>
                  <a:gd name="T9" fmla="*/ 0 h 355"/>
                  <a:gd name="T10" fmla="*/ 0 w 991"/>
                  <a:gd name="T11" fmla="*/ 0 h 355"/>
                  <a:gd name="T12" fmla="*/ 0 w 991"/>
                  <a:gd name="T13" fmla="*/ 0 h 355"/>
                  <a:gd name="T14" fmla="*/ 0 w 991"/>
                  <a:gd name="T15" fmla="*/ 0 h 355"/>
                  <a:gd name="T16" fmla="*/ 0 w 991"/>
                  <a:gd name="T17" fmla="*/ 0 h 355"/>
                  <a:gd name="T18" fmla="*/ 0 w 991"/>
                  <a:gd name="T19" fmla="*/ 0 h 355"/>
                  <a:gd name="T20" fmla="*/ 0 w 991"/>
                  <a:gd name="T21" fmla="*/ 0 h 355"/>
                  <a:gd name="T22" fmla="*/ 0 w 991"/>
                  <a:gd name="T23" fmla="*/ 0 h 355"/>
                  <a:gd name="T24" fmla="*/ 0 w 991"/>
                  <a:gd name="T25" fmla="*/ 0 h 355"/>
                  <a:gd name="T26" fmla="*/ 0 w 991"/>
                  <a:gd name="T27" fmla="*/ 0 h 355"/>
                  <a:gd name="T28" fmla="*/ 0 w 991"/>
                  <a:gd name="T29" fmla="*/ 0 h 355"/>
                  <a:gd name="T30" fmla="*/ 0 w 991"/>
                  <a:gd name="T31" fmla="*/ 0 h 355"/>
                  <a:gd name="T32" fmla="*/ 0 w 991"/>
                  <a:gd name="T33" fmla="*/ 0 h 355"/>
                  <a:gd name="T34" fmla="*/ 0 w 991"/>
                  <a:gd name="T35" fmla="*/ 0 h 355"/>
                  <a:gd name="T36" fmla="*/ 0 w 991"/>
                  <a:gd name="T37" fmla="*/ 0 h 355"/>
                  <a:gd name="T38" fmla="*/ 0 w 991"/>
                  <a:gd name="T39" fmla="*/ 0 h 355"/>
                  <a:gd name="T40" fmla="*/ 0 w 991"/>
                  <a:gd name="T41" fmla="*/ 0 h 355"/>
                  <a:gd name="T42" fmla="*/ 0 w 991"/>
                  <a:gd name="T43" fmla="*/ 0 h 355"/>
                  <a:gd name="T44" fmla="*/ 0 w 991"/>
                  <a:gd name="T45" fmla="*/ 0 h 355"/>
                  <a:gd name="T46" fmla="*/ 0 w 991"/>
                  <a:gd name="T47" fmla="*/ 0 h 355"/>
                  <a:gd name="T48" fmla="*/ 0 w 991"/>
                  <a:gd name="T49" fmla="*/ 0 h 355"/>
                  <a:gd name="T50" fmla="*/ 0 w 991"/>
                  <a:gd name="T51" fmla="*/ 0 h 355"/>
                  <a:gd name="T52" fmla="*/ 0 w 991"/>
                  <a:gd name="T53" fmla="*/ 0 h 355"/>
                  <a:gd name="T54" fmla="*/ 0 w 991"/>
                  <a:gd name="T55" fmla="*/ 0 h 355"/>
                  <a:gd name="T56" fmla="*/ 0 w 991"/>
                  <a:gd name="T57" fmla="*/ 0 h 355"/>
                  <a:gd name="T58" fmla="*/ 0 w 991"/>
                  <a:gd name="T59" fmla="*/ 0 h 355"/>
                  <a:gd name="T60" fmla="*/ 0 w 991"/>
                  <a:gd name="T61" fmla="*/ 0 h 355"/>
                  <a:gd name="T62" fmla="*/ 0 w 991"/>
                  <a:gd name="T63" fmla="*/ 0 h 355"/>
                  <a:gd name="T64" fmla="*/ 0 w 991"/>
                  <a:gd name="T65" fmla="*/ 0 h 355"/>
                  <a:gd name="T66" fmla="*/ 0 w 991"/>
                  <a:gd name="T67" fmla="*/ 0 h 355"/>
                  <a:gd name="T68" fmla="*/ 0 w 991"/>
                  <a:gd name="T69" fmla="*/ 0 h 355"/>
                  <a:gd name="T70" fmla="*/ 0 w 991"/>
                  <a:gd name="T71" fmla="*/ 0 h 355"/>
                  <a:gd name="T72" fmla="*/ 0 w 991"/>
                  <a:gd name="T73" fmla="*/ 0 h 355"/>
                  <a:gd name="T74" fmla="*/ 0 w 991"/>
                  <a:gd name="T75" fmla="*/ 0 h 355"/>
                  <a:gd name="T76" fmla="*/ 0 w 991"/>
                  <a:gd name="T77" fmla="*/ 0 h 355"/>
                  <a:gd name="T78" fmla="*/ 0 w 991"/>
                  <a:gd name="T79" fmla="*/ 0 h 355"/>
                  <a:gd name="T80" fmla="*/ 0 w 991"/>
                  <a:gd name="T81" fmla="*/ 0 h 355"/>
                  <a:gd name="T82" fmla="*/ 0 w 991"/>
                  <a:gd name="T83" fmla="*/ 0 h 355"/>
                  <a:gd name="T84" fmla="*/ 0 w 991"/>
                  <a:gd name="T85" fmla="*/ 0 h 355"/>
                  <a:gd name="T86" fmla="*/ 0 w 991"/>
                  <a:gd name="T87" fmla="*/ 0 h 355"/>
                  <a:gd name="T88" fmla="*/ 0 w 991"/>
                  <a:gd name="T89" fmla="*/ 0 h 355"/>
                  <a:gd name="T90" fmla="*/ 0 w 991"/>
                  <a:gd name="T91" fmla="*/ 0 h 355"/>
                  <a:gd name="T92" fmla="*/ 0 w 991"/>
                  <a:gd name="T93" fmla="*/ 0 h 355"/>
                  <a:gd name="T94" fmla="*/ 0 w 991"/>
                  <a:gd name="T95" fmla="*/ 0 h 355"/>
                  <a:gd name="T96" fmla="*/ 0 w 991"/>
                  <a:gd name="T97" fmla="*/ 0 h 35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5"/>
                  <a:gd name="T149" fmla="*/ 991 w 991"/>
                  <a:gd name="T150" fmla="*/ 355 h 35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5">
                    <a:moveTo>
                      <a:pt x="0" y="127"/>
                    </a:moveTo>
                    <a:lnTo>
                      <a:pt x="3" y="127"/>
                    </a:lnTo>
                    <a:lnTo>
                      <a:pt x="56" y="127"/>
                    </a:lnTo>
                    <a:lnTo>
                      <a:pt x="109" y="129"/>
                    </a:lnTo>
                    <a:lnTo>
                      <a:pt x="160" y="132"/>
                    </a:lnTo>
                    <a:lnTo>
                      <a:pt x="211" y="137"/>
                    </a:lnTo>
                    <a:lnTo>
                      <a:pt x="213" y="137"/>
                    </a:lnTo>
                    <a:lnTo>
                      <a:pt x="281" y="145"/>
                    </a:lnTo>
                    <a:lnTo>
                      <a:pt x="314" y="150"/>
                    </a:lnTo>
                    <a:lnTo>
                      <a:pt x="348" y="157"/>
                    </a:lnTo>
                    <a:lnTo>
                      <a:pt x="380" y="163"/>
                    </a:lnTo>
                    <a:lnTo>
                      <a:pt x="413" y="171"/>
                    </a:lnTo>
                    <a:lnTo>
                      <a:pt x="477" y="188"/>
                    </a:lnTo>
                    <a:lnTo>
                      <a:pt x="538" y="207"/>
                    </a:lnTo>
                    <a:lnTo>
                      <a:pt x="599" y="229"/>
                    </a:lnTo>
                    <a:lnTo>
                      <a:pt x="658" y="254"/>
                    </a:lnTo>
                    <a:lnTo>
                      <a:pt x="686" y="267"/>
                    </a:lnTo>
                    <a:lnTo>
                      <a:pt x="715" y="282"/>
                    </a:lnTo>
                    <a:lnTo>
                      <a:pt x="761" y="308"/>
                    </a:lnTo>
                    <a:lnTo>
                      <a:pt x="763" y="310"/>
                    </a:lnTo>
                    <a:lnTo>
                      <a:pt x="801" y="333"/>
                    </a:lnTo>
                    <a:lnTo>
                      <a:pt x="837" y="355"/>
                    </a:lnTo>
                    <a:lnTo>
                      <a:pt x="991" y="260"/>
                    </a:lnTo>
                    <a:lnTo>
                      <a:pt x="953" y="237"/>
                    </a:lnTo>
                    <a:lnTo>
                      <a:pt x="948" y="235"/>
                    </a:lnTo>
                    <a:lnTo>
                      <a:pt x="928" y="222"/>
                    </a:lnTo>
                    <a:lnTo>
                      <a:pt x="915" y="212"/>
                    </a:lnTo>
                    <a:lnTo>
                      <a:pt x="902" y="205"/>
                    </a:lnTo>
                    <a:lnTo>
                      <a:pt x="862" y="185"/>
                    </a:lnTo>
                    <a:lnTo>
                      <a:pt x="814" y="161"/>
                    </a:lnTo>
                    <a:lnTo>
                      <a:pt x="767" y="140"/>
                    </a:lnTo>
                    <a:lnTo>
                      <a:pt x="718" y="119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5" name="Freeform 830"/>
              <p:cNvSpPr>
                <a:spLocks/>
              </p:cNvSpPr>
              <p:nvPr/>
            </p:nvSpPr>
            <p:spPr bwMode="auto">
              <a:xfrm>
                <a:off x="1608" y="2639"/>
                <a:ext cx="209" cy="82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6" name="Freeform 831"/>
              <p:cNvSpPr>
                <a:spLocks/>
              </p:cNvSpPr>
              <p:nvPr/>
            </p:nvSpPr>
            <p:spPr bwMode="auto">
              <a:xfrm>
                <a:off x="1351" y="2607"/>
                <a:ext cx="257" cy="95"/>
              </a:xfrm>
              <a:custGeom>
                <a:avLst/>
                <a:gdLst>
                  <a:gd name="T0" fmla="*/ 0 w 1029"/>
                  <a:gd name="T1" fmla="*/ 0 h 380"/>
                  <a:gd name="T2" fmla="*/ 0 w 1029"/>
                  <a:gd name="T3" fmla="*/ 0 h 380"/>
                  <a:gd name="T4" fmla="*/ 0 w 1029"/>
                  <a:gd name="T5" fmla="*/ 0 h 380"/>
                  <a:gd name="T6" fmla="*/ 0 w 1029"/>
                  <a:gd name="T7" fmla="*/ 0 h 380"/>
                  <a:gd name="T8" fmla="*/ 0 w 1029"/>
                  <a:gd name="T9" fmla="*/ 0 h 380"/>
                  <a:gd name="T10" fmla="*/ 0 w 1029"/>
                  <a:gd name="T11" fmla="*/ 0 h 380"/>
                  <a:gd name="T12" fmla="*/ 0 w 1029"/>
                  <a:gd name="T13" fmla="*/ 0 h 380"/>
                  <a:gd name="T14" fmla="*/ 0 w 1029"/>
                  <a:gd name="T15" fmla="*/ 0 h 380"/>
                  <a:gd name="T16" fmla="*/ 0 w 1029"/>
                  <a:gd name="T17" fmla="*/ 0 h 380"/>
                  <a:gd name="T18" fmla="*/ 0 w 1029"/>
                  <a:gd name="T19" fmla="*/ 0 h 380"/>
                  <a:gd name="T20" fmla="*/ 0 w 1029"/>
                  <a:gd name="T21" fmla="*/ 0 h 380"/>
                  <a:gd name="T22" fmla="*/ 0 w 1029"/>
                  <a:gd name="T23" fmla="*/ 0 h 380"/>
                  <a:gd name="T24" fmla="*/ 0 w 1029"/>
                  <a:gd name="T25" fmla="*/ 0 h 380"/>
                  <a:gd name="T26" fmla="*/ 0 w 1029"/>
                  <a:gd name="T27" fmla="*/ 0 h 380"/>
                  <a:gd name="T28" fmla="*/ 0 w 1029"/>
                  <a:gd name="T29" fmla="*/ 0 h 380"/>
                  <a:gd name="T30" fmla="*/ 0 w 1029"/>
                  <a:gd name="T31" fmla="*/ 0 h 380"/>
                  <a:gd name="T32" fmla="*/ 0 w 1029"/>
                  <a:gd name="T33" fmla="*/ 0 h 380"/>
                  <a:gd name="T34" fmla="*/ 0 w 1029"/>
                  <a:gd name="T35" fmla="*/ 0 h 380"/>
                  <a:gd name="T36" fmla="*/ 0 w 1029"/>
                  <a:gd name="T37" fmla="*/ 0 h 380"/>
                  <a:gd name="T38" fmla="*/ 0 w 1029"/>
                  <a:gd name="T39" fmla="*/ 0 h 380"/>
                  <a:gd name="T40" fmla="*/ 0 w 1029"/>
                  <a:gd name="T41" fmla="*/ 0 h 380"/>
                  <a:gd name="T42" fmla="*/ 0 w 1029"/>
                  <a:gd name="T43" fmla="*/ 0 h 380"/>
                  <a:gd name="T44" fmla="*/ 0 w 1029"/>
                  <a:gd name="T45" fmla="*/ 0 h 380"/>
                  <a:gd name="T46" fmla="*/ 0 w 1029"/>
                  <a:gd name="T47" fmla="*/ 0 h 380"/>
                  <a:gd name="T48" fmla="*/ 0 w 1029"/>
                  <a:gd name="T49" fmla="*/ 0 h 380"/>
                  <a:gd name="T50" fmla="*/ 0 w 1029"/>
                  <a:gd name="T51" fmla="*/ 0 h 380"/>
                  <a:gd name="T52" fmla="*/ 0 w 1029"/>
                  <a:gd name="T53" fmla="*/ 0 h 380"/>
                  <a:gd name="T54" fmla="*/ 0 w 1029"/>
                  <a:gd name="T55" fmla="*/ 0 h 380"/>
                  <a:gd name="T56" fmla="*/ 0 w 1029"/>
                  <a:gd name="T57" fmla="*/ 0 h 380"/>
                  <a:gd name="T58" fmla="*/ 0 w 1029"/>
                  <a:gd name="T59" fmla="*/ 0 h 380"/>
                  <a:gd name="T60" fmla="*/ 0 w 1029"/>
                  <a:gd name="T61" fmla="*/ 0 h 380"/>
                  <a:gd name="T62" fmla="*/ 0 w 1029"/>
                  <a:gd name="T63" fmla="*/ 0 h 380"/>
                  <a:gd name="T64" fmla="*/ 0 w 1029"/>
                  <a:gd name="T65" fmla="*/ 0 h 380"/>
                  <a:gd name="T66" fmla="*/ 0 w 1029"/>
                  <a:gd name="T67" fmla="*/ 0 h 380"/>
                  <a:gd name="T68" fmla="*/ 0 w 1029"/>
                  <a:gd name="T69" fmla="*/ 0 h 380"/>
                  <a:gd name="T70" fmla="*/ 0 w 1029"/>
                  <a:gd name="T71" fmla="*/ 0 h 380"/>
                  <a:gd name="T72" fmla="*/ 0 w 1029"/>
                  <a:gd name="T73" fmla="*/ 0 h 380"/>
                  <a:gd name="T74" fmla="*/ 0 w 1029"/>
                  <a:gd name="T75" fmla="*/ 0 h 380"/>
                  <a:gd name="T76" fmla="*/ 0 w 1029"/>
                  <a:gd name="T77" fmla="*/ 0 h 380"/>
                  <a:gd name="T78" fmla="*/ 0 w 1029"/>
                  <a:gd name="T79" fmla="*/ 0 h 380"/>
                  <a:gd name="T80" fmla="*/ 0 w 1029"/>
                  <a:gd name="T81" fmla="*/ 0 h 3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0"/>
                  <a:gd name="T125" fmla="*/ 1029 w 1029"/>
                  <a:gd name="T126" fmla="*/ 380 h 3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0">
                    <a:moveTo>
                      <a:pt x="1029" y="127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7"/>
                    </a:lnTo>
                    <a:lnTo>
                      <a:pt x="275" y="137"/>
                    </a:lnTo>
                    <a:lnTo>
                      <a:pt x="225" y="160"/>
                    </a:lnTo>
                    <a:lnTo>
                      <a:pt x="176" y="183"/>
                    </a:lnTo>
                    <a:lnTo>
                      <a:pt x="129" y="210"/>
                    </a:lnTo>
                    <a:lnTo>
                      <a:pt x="16" y="277"/>
                    </a:lnTo>
                    <a:lnTo>
                      <a:pt x="7" y="282"/>
                    </a:lnTo>
                    <a:lnTo>
                      <a:pt x="0" y="290"/>
                    </a:lnTo>
                    <a:lnTo>
                      <a:pt x="162" y="380"/>
                    </a:lnTo>
                    <a:lnTo>
                      <a:pt x="190" y="359"/>
                    </a:lnTo>
                    <a:lnTo>
                      <a:pt x="222" y="340"/>
                    </a:lnTo>
                    <a:lnTo>
                      <a:pt x="252" y="323"/>
                    </a:lnTo>
                    <a:lnTo>
                      <a:pt x="292" y="298"/>
                    </a:lnTo>
                    <a:lnTo>
                      <a:pt x="334" y="276"/>
                    </a:lnTo>
                    <a:lnTo>
                      <a:pt x="376" y="255"/>
                    </a:lnTo>
                    <a:lnTo>
                      <a:pt x="421" y="237"/>
                    </a:lnTo>
                    <a:lnTo>
                      <a:pt x="466" y="218"/>
                    </a:lnTo>
                    <a:lnTo>
                      <a:pt x="512" y="203"/>
                    </a:lnTo>
                    <a:lnTo>
                      <a:pt x="559" y="188"/>
                    </a:lnTo>
                    <a:lnTo>
                      <a:pt x="608" y="176"/>
                    </a:lnTo>
                    <a:lnTo>
                      <a:pt x="656" y="163"/>
                    </a:lnTo>
                    <a:lnTo>
                      <a:pt x="706" y="154"/>
                    </a:lnTo>
                    <a:lnTo>
                      <a:pt x="757" y="145"/>
                    </a:lnTo>
                    <a:lnTo>
                      <a:pt x="810" y="139"/>
                    </a:lnTo>
                    <a:lnTo>
                      <a:pt x="862" y="133"/>
                    </a:lnTo>
                    <a:lnTo>
                      <a:pt x="917" y="130"/>
                    </a:lnTo>
                    <a:lnTo>
                      <a:pt x="972" y="127"/>
                    </a:lnTo>
                    <a:lnTo>
                      <a:pt x="1029" y="1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7" name="Freeform 832"/>
              <p:cNvSpPr>
                <a:spLocks/>
              </p:cNvSpPr>
              <p:nvPr/>
            </p:nvSpPr>
            <p:spPr bwMode="auto">
              <a:xfrm>
                <a:off x="1312" y="2576"/>
                <a:ext cx="296" cy="104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9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9"/>
                    </a:lnTo>
                    <a:lnTo>
                      <a:pt x="640" y="193"/>
                    </a:lnTo>
                    <a:lnTo>
                      <a:pt x="697" y="180"/>
                    </a:lnTo>
                    <a:lnTo>
                      <a:pt x="753" y="167"/>
                    </a:lnTo>
                    <a:lnTo>
                      <a:pt x="811" y="157"/>
                    </a:lnTo>
                    <a:lnTo>
                      <a:pt x="869" y="148"/>
                    </a:lnTo>
                    <a:lnTo>
                      <a:pt x="930" y="141"/>
                    </a:lnTo>
                    <a:lnTo>
                      <a:pt x="990" y="134"/>
                    </a:lnTo>
                    <a:lnTo>
                      <a:pt x="1053" y="131"/>
                    </a:lnTo>
                    <a:lnTo>
                      <a:pt x="1116" y="128"/>
                    </a:lnTo>
                    <a:lnTo>
                      <a:pt x="1181" y="12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98" name="Freeform 833"/>
              <p:cNvSpPr>
                <a:spLocks noEditPoints="1"/>
              </p:cNvSpPr>
              <p:nvPr/>
            </p:nvSpPr>
            <p:spPr bwMode="auto">
              <a:xfrm>
                <a:off x="1383" y="2673"/>
                <a:ext cx="449" cy="280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5"/>
                    </a:lnTo>
                    <a:lnTo>
                      <a:pt x="88" y="805"/>
                    </a:lnTo>
                    <a:lnTo>
                      <a:pt x="113" y="833"/>
                    </a:lnTo>
                    <a:lnTo>
                      <a:pt x="142" y="862"/>
                    </a:lnTo>
                    <a:lnTo>
                      <a:pt x="157" y="875"/>
                    </a:lnTo>
                    <a:lnTo>
                      <a:pt x="174" y="889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6"/>
                    </a:lnTo>
                    <a:lnTo>
                      <a:pt x="1661" y="854"/>
                    </a:lnTo>
                    <a:lnTo>
                      <a:pt x="1693" y="822"/>
                    </a:lnTo>
                    <a:lnTo>
                      <a:pt x="1719" y="788"/>
                    </a:lnTo>
                    <a:lnTo>
                      <a:pt x="1743" y="754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399" name="Freeform 834"/>
              <p:cNvSpPr>
                <a:spLocks/>
              </p:cNvSpPr>
              <p:nvPr/>
            </p:nvSpPr>
            <p:spPr bwMode="auto">
              <a:xfrm>
                <a:off x="1608" y="2824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0" name="Freeform 835"/>
              <p:cNvSpPr>
                <a:spLocks/>
              </p:cNvSpPr>
              <p:nvPr/>
            </p:nvSpPr>
            <p:spPr bwMode="auto">
              <a:xfrm>
                <a:off x="1608" y="2825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1" name="Freeform 836"/>
              <p:cNvSpPr>
                <a:spLocks/>
              </p:cNvSpPr>
              <p:nvPr/>
            </p:nvSpPr>
            <p:spPr bwMode="auto">
              <a:xfrm>
                <a:off x="1391" y="2639"/>
                <a:ext cx="217" cy="87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2" name="Freeform 837"/>
              <p:cNvSpPr>
                <a:spLocks/>
              </p:cNvSpPr>
              <p:nvPr/>
            </p:nvSpPr>
            <p:spPr bwMode="auto">
              <a:xfrm>
                <a:off x="1893" y="2625"/>
                <a:ext cx="170" cy="200"/>
              </a:xfrm>
              <a:custGeom>
                <a:avLst/>
                <a:gdLst>
                  <a:gd name="T0" fmla="*/ 0 w 680"/>
                  <a:gd name="T1" fmla="*/ 0 h 798"/>
                  <a:gd name="T2" fmla="*/ 0 w 680"/>
                  <a:gd name="T3" fmla="*/ 0 h 798"/>
                  <a:gd name="T4" fmla="*/ 0 w 680"/>
                  <a:gd name="T5" fmla="*/ 0 h 798"/>
                  <a:gd name="T6" fmla="*/ 0 w 680"/>
                  <a:gd name="T7" fmla="*/ 0 h 798"/>
                  <a:gd name="T8" fmla="*/ 0 w 680"/>
                  <a:gd name="T9" fmla="*/ 0 h 798"/>
                  <a:gd name="T10" fmla="*/ 0 w 680"/>
                  <a:gd name="T11" fmla="*/ 0 h 798"/>
                  <a:gd name="T12" fmla="*/ 0 w 680"/>
                  <a:gd name="T13" fmla="*/ 0 h 798"/>
                  <a:gd name="T14" fmla="*/ 0 w 680"/>
                  <a:gd name="T15" fmla="*/ 0 h 798"/>
                  <a:gd name="T16" fmla="*/ 0 w 680"/>
                  <a:gd name="T17" fmla="*/ 0 h 798"/>
                  <a:gd name="T18" fmla="*/ 0 w 680"/>
                  <a:gd name="T19" fmla="*/ 0 h 798"/>
                  <a:gd name="T20" fmla="*/ 0 w 680"/>
                  <a:gd name="T21" fmla="*/ 0 h 798"/>
                  <a:gd name="T22" fmla="*/ 0 w 680"/>
                  <a:gd name="T23" fmla="*/ 0 h 798"/>
                  <a:gd name="T24" fmla="*/ 0 w 680"/>
                  <a:gd name="T25" fmla="*/ 0 h 798"/>
                  <a:gd name="T26" fmla="*/ 0 w 680"/>
                  <a:gd name="T27" fmla="*/ 0 h 798"/>
                  <a:gd name="T28" fmla="*/ 0 w 680"/>
                  <a:gd name="T29" fmla="*/ 0 h 798"/>
                  <a:gd name="T30" fmla="*/ 0 w 680"/>
                  <a:gd name="T31" fmla="*/ 0 h 798"/>
                  <a:gd name="T32" fmla="*/ 0 w 680"/>
                  <a:gd name="T33" fmla="*/ 0 h 798"/>
                  <a:gd name="T34" fmla="*/ 0 w 680"/>
                  <a:gd name="T35" fmla="*/ 0 h 798"/>
                  <a:gd name="T36" fmla="*/ 0 w 680"/>
                  <a:gd name="T37" fmla="*/ 0 h 798"/>
                  <a:gd name="T38" fmla="*/ 0 w 680"/>
                  <a:gd name="T39" fmla="*/ 0 h 798"/>
                  <a:gd name="T40" fmla="*/ 0 w 680"/>
                  <a:gd name="T41" fmla="*/ 0 h 798"/>
                  <a:gd name="T42" fmla="*/ 0 w 680"/>
                  <a:gd name="T43" fmla="*/ 0 h 798"/>
                  <a:gd name="T44" fmla="*/ 0 w 680"/>
                  <a:gd name="T45" fmla="*/ 0 h 798"/>
                  <a:gd name="T46" fmla="*/ 0 w 680"/>
                  <a:gd name="T47" fmla="*/ 0 h 798"/>
                  <a:gd name="T48" fmla="*/ 0 w 680"/>
                  <a:gd name="T49" fmla="*/ 0 h 798"/>
                  <a:gd name="T50" fmla="*/ 0 w 680"/>
                  <a:gd name="T51" fmla="*/ 0 h 798"/>
                  <a:gd name="T52" fmla="*/ 0 w 680"/>
                  <a:gd name="T53" fmla="*/ 0 h 798"/>
                  <a:gd name="T54" fmla="*/ 0 w 680"/>
                  <a:gd name="T55" fmla="*/ 0 h 798"/>
                  <a:gd name="T56" fmla="*/ 0 w 680"/>
                  <a:gd name="T57" fmla="*/ 0 h 798"/>
                  <a:gd name="T58" fmla="*/ 0 w 680"/>
                  <a:gd name="T59" fmla="*/ 0 h 798"/>
                  <a:gd name="T60" fmla="*/ 0 w 680"/>
                  <a:gd name="T61" fmla="*/ 0 h 798"/>
                  <a:gd name="T62" fmla="*/ 0 w 680"/>
                  <a:gd name="T63" fmla="*/ 0 h 798"/>
                  <a:gd name="T64" fmla="*/ 0 w 680"/>
                  <a:gd name="T65" fmla="*/ 0 h 798"/>
                  <a:gd name="T66" fmla="*/ 0 w 680"/>
                  <a:gd name="T67" fmla="*/ 0 h 798"/>
                  <a:gd name="T68" fmla="*/ 0 w 680"/>
                  <a:gd name="T69" fmla="*/ 0 h 798"/>
                  <a:gd name="T70" fmla="*/ 0 w 680"/>
                  <a:gd name="T71" fmla="*/ 0 h 798"/>
                  <a:gd name="T72" fmla="*/ 0 w 680"/>
                  <a:gd name="T73" fmla="*/ 0 h 798"/>
                  <a:gd name="T74" fmla="*/ 0 w 680"/>
                  <a:gd name="T75" fmla="*/ 0 h 798"/>
                  <a:gd name="T76" fmla="*/ 0 w 680"/>
                  <a:gd name="T77" fmla="*/ 0 h 79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8"/>
                  <a:gd name="T119" fmla="*/ 680 w 680"/>
                  <a:gd name="T120" fmla="*/ 798 h 79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8">
                    <a:moveTo>
                      <a:pt x="156" y="0"/>
                    </a:moveTo>
                    <a:lnTo>
                      <a:pt x="0" y="95"/>
                    </a:lnTo>
                    <a:lnTo>
                      <a:pt x="50" y="128"/>
                    </a:lnTo>
                    <a:lnTo>
                      <a:pt x="97" y="163"/>
                    </a:lnTo>
                    <a:lnTo>
                      <a:pt x="141" y="198"/>
                    </a:lnTo>
                    <a:lnTo>
                      <a:pt x="183" y="235"/>
                    </a:lnTo>
                    <a:lnTo>
                      <a:pt x="221" y="272"/>
                    </a:lnTo>
                    <a:lnTo>
                      <a:pt x="257" y="310"/>
                    </a:lnTo>
                    <a:lnTo>
                      <a:pt x="289" y="349"/>
                    </a:lnTo>
                    <a:lnTo>
                      <a:pt x="319" y="390"/>
                    </a:lnTo>
                    <a:lnTo>
                      <a:pt x="344" y="430"/>
                    </a:lnTo>
                    <a:lnTo>
                      <a:pt x="367" y="472"/>
                    </a:lnTo>
                    <a:lnTo>
                      <a:pt x="387" y="515"/>
                    </a:lnTo>
                    <a:lnTo>
                      <a:pt x="405" y="559"/>
                    </a:lnTo>
                    <a:lnTo>
                      <a:pt x="418" y="603"/>
                    </a:lnTo>
                    <a:lnTo>
                      <a:pt x="429" y="649"/>
                    </a:lnTo>
                    <a:lnTo>
                      <a:pt x="437" y="695"/>
                    </a:lnTo>
                    <a:lnTo>
                      <a:pt x="443" y="743"/>
                    </a:lnTo>
                    <a:lnTo>
                      <a:pt x="443" y="748"/>
                    </a:lnTo>
                    <a:lnTo>
                      <a:pt x="444" y="798"/>
                    </a:lnTo>
                    <a:lnTo>
                      <a:pt x="680" y="798"/>
                    </a:lnTo>
                    <a:lnTo>
                      <a:pt x="679" y="748"/>
                    </a:lnTo>
                    <a:lnTo>
                      <a:pt x="679" y="743"/>
                    </a:lnTo>
                    <a:lnTo>
                      <a:pt x="672" y="688"/>
                    </a:lnTo>
                    <a:lnTo>
                      <a:pt x="662" y="635"/>
                    </a:lnTo>
                    <a:lnTo>
                      <a:pt x="649" y="582"/>
                    </a:lnTo>
                    <a:lnTo>
                      <a:pt x="633" y="531"/>
                    </a:lnTo>
                    <a:lnTo>
                      <a:pt x="612" y="480"/>
                    </a:lnTo>
                    <a:lnTo>
                      <a:pt x="588" y="431"/>
                    </a:lnTo>
                    <a:lnTo>
                      <a:pt x="561" y="383"/>
                    </a:lnTo>
                    <a:lnTo>
                      <a:pt x="531" y="337"/>
                    </a:lnTo>
                    <a:lnTo>
                      <a:pt x="495" y="290"/>
                    </a:lnTo>
                    <a:lnTo>
                      <a:pt x="457" y="245"/>
                    </a:lnTo>
                    <a:lnTo>
                      <a:pt x="415" y="201"/>
                    </a:lnTo>
                    <a:lnTo>
                      <a:pt x="371" y="159"/>
                    </a:lnTo>
                    <a:lnTo>
                      <a:pt x="322" y="117"/>
                    </a:lnTo>
                    <a:lnTo>
                      <a:pt x="270" y="77"/>
                    </a:lnTo>
                    <a:lnTo>
                      <a:pt x="214" y="37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3" name="Freeform 838"/>
              <p:cNvSpPr>
                <a:spLocks/>
              </p:cNvSpPr>
              <p:nvPr/>
            </p:nvSpPr>
            <p:spPr bwMode="auto">
              <a:xfrm>
                <a:off x="1833" y="2659"/>
                <a:ext cx="4" cy="1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4" name="Freeform 839"/>
              <p:cNvSpPr>
                <a:spLocks/>
              </p:cNvSpPr>
              <p:nvPr/>
            </p:nvSpPr>
            <p:spPr bwMode="auto">
              <a:xfrm>
                <a:off x="1836" y="2660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5" name="Freeform 840"/>
              <p:cNvSpPr>
                <a:spLocks/>
              </p:cNvSpPr>
              <p:nvPr/>
            </p:nvSpPr>
            <p:spPr bwMode="auto">
              <a:xfrm>
                <a:off x="1777" y="2696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6" name="Freeform 841"/>
              <p:cNvSpPr>
                <a:spLocks/>
              </p:cNvSpPr>
              <p:nvPr/>
            </p:nvSpPr>
            <p:spPr bwMode="auto">
              <a:xfrm>
                <a:off x="1817" y="2672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07" name="Freeform 842"/>
              <p:cNvSpPr>
                <a:spLocks/>
              </p:cNvSpPr>
              <p:nvPr/>
            </p:nvSpPr>
            <p:spPr bwMode="auto">
              <a:xfrm>
                <a:off x="1855" y="2649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203" name="Freeform 843"/>
              <p:cNvSpPr>
                <a:spLocks/>
              </p:cNvSpPr>
              <p:nvPr/>
            </p:nvSpPr>
            <p:spPr bwMode="auto">
              <a:xfrm>
                <a:off x="1898" y="2826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6 h 757"/>
                  <a:gd name="T16" fmla="*/ 391 w 663"/>
                  <a:gd name="T17" fmla="*/ 196 h 757"/>
                  <a:gd name="T18" fmla="*/ 387 w 663"/>
                  <a:gd name="T19" fmla="*/ 206 h 757"/>
                  <a:gd name="T20" fmla="*/ 385 w 663"/>
                  <a:gd name="T21" fmla="*/ 211 h 757"/>
                  <a:gd name="T22" fmla="*/ 384 w 663"/>
                  <a:gd name="T23" fmla="*/ 217 h 757"/>
                  <a:gd name="T24" fmla="*/ 367 w 663"/>
                  <a:gd name="T25" fmla="*/ 259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80 h 757"/>
                  <a:gd name="T100" fmla="*/ 615 w 663"/>
                  <a:gd name="T101" fmla="*/ 256 h 757"/>
                  <a:gd name="T102" fmla="*/ 623 w 663"/>
                  <a:gd name="T103" fmla="*/ 231 h 757"/>
                  <a:gd name="T104" fmla="*/ 632 w 663"/>
                  <a:gd name="T105" fmla="*/ 207 h 757"/>
                  <a:gd name="T106" fmla="*/ 638 w 663"/>
                  <a:gd name="T107" fmla="*/ 181 h 757"/>
                  <a:gd name="T108" fmla="*/ 644 w 663"/>
                  <a:gd name="T109" fmla="*/ 156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6"/>
                    </a:lnTo>
                    <a:lnTo>
                      <a:pt x="391" y="196"/>
                    </a:lnTo>
                    <a:lnTo>
                      <a:pt x="387" y="206"/>
                    </a:lnTo>
                    <a:lnTo>
                      <a:pt x="385" y="211"/>
                    </a:lnTo>
                    <a:lnTo>
                      <a:pt x="384" y="217"/>
                    </a:lnTo>
                    <a:lnTo>
                      <a:pt x="367" y="259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80"/>
                    </a:lnTo>
                    <a:lnTo>
                      <a:pt x="615" y="256"/>
                    </a:lnTo>
                    <a:lnTo>
                      <a:pt x="623" y="231"/>
                    </a:lnTo>
                    <a:lnTo>
                      <a:pt x="632" y="207"/>
                    </a:lnTo>
                    <a:lnTo>
                      <a:pt x="638" y="181"/>
                    </a:lnTo>
                    <a:lnTo>
                      <a:pt x="644" y="156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409" name="Freeform 844"/>
              <p:cNvSpPr>
                <a:spLocks/>
              </p:cNvSpPr>
              <p:nvPr/>
            </p:nvSpPr>
            <p:spPr bwMode="auto">
              <a:xfrm>
                <a:off x="1809" y="2825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50"/>
                    </a:lnTo>
                    <a:lnTo>
                      <a:pt x="275" y="162"/>
                    </a:lnTo>
                    <a:lnTo>
                      <a:pt x="272" y="168"/>
                    </a:lnTo>
                    <a:lnTo>
                      <a:pt x="270" y="175"/>
                    </a:lnTo>
                    <a:lnTo>
                      <a:pt x="256" y="198"/>
                    </a:lnTo>
                    <a:lnTo>
                      <a:pt x="242" y="222"/>
                    </a:lnTo>
                    <a:lnTo>
                      <a:pt x="226" y="245"/>
                    </a:lnTo>
                    <a:lnTo>
                      <a:pt x="209" y="269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2"/>
                    </a:lnTo>
                    <a:lnTo>
                      <a:pt x="486" y="244"/>
                    </a:lnTo>
                    <a:lnTo>
                      <a:pt x="496" y="227"/>
                    </a:lnTo>
                    <a:lnTo>
                      <a:pt x="504" y="208"/>
                    </a:lnTo>
                    <a:lnTo>
                      <a:pt x="512" y="190"/>
                    </a:lnTo>
                    <a:lnTo>
                      <a:pt x="527" y="154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0" name="Freeform 845"/>
              <p:cNvSpPr>
                <a:spLocks/>
              </p:cNvSpPr>
              <p:nvPr/>
            </p:nvSpPr>
            <p:spPr bwMode="auto">
              <a:xfrm>
                <a:off x="1765" y="2825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8"/>
                    </a:lnTo>
                    <a:lnTo>
                      <a:pt x="189" y="182"/>
                    </a:lnTo>
                    <a:lnTo>
                      <a:pt x="163" y="216"/>
                    </a:lnTo>
                    <a:lnTo>
                      <a:pt x="131" y="248"/>
                    </a:lnTo>
                    <a:lnTo>
                      <a:pt x="97" y="280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9"/>
                    </a:lnTo>
                    <a:lnTo>
                      <a:pt x="404" y="245"/>
                    </a:lnTo>
                    <a:lnTo>
                      <a:pt x="420" y="222"/>
                    </a:lnTo>
                    <a:lnTo>
                      <a:pt x="434" y="198"/>
                    </a:lnTo>
                    <a:lnTo>
                      <a:pt x="448" y="175"/>
                    </a:lnTo>
                    <a:lnTo>
                      <a:pt x="450" y="168"/>
                    </a:lnTo>
                    <a:lnTo>
                      <a:pt x="453" y="162"/>
                    </a:lnTo>
                    <a:lnTo>
                      <a:pt x="459" y="150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1" name="Freeform 846"/>
              <p:cNvSpPr>
                <a:spLocks/>
              </p:cNvSpPr>
              <p:nvPr/>
            </p:nvSpPr>
            <p:spPr bwMode="auto">
              <a:xfrm>
                <a:off x="1809" y="2936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2" name="Freeform 847"/>
              <p:cNvSpPr>
                <a:spLocks/>
              </p:cNvSpPr>
              <p:nvPr/>
            </p:nvSpPr>
            <p:spPr bwMode="auto">
              <a:xfrm>
                <a:off x="1608" y="2937"/>
                <a:ext cx="248" cy="93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3" name="Freeform 848"/>
              <p:cNvSpPr>
                <a:spLocks/>
              </p:cNvSpPr>
              <p:nvPr/>
            </p:nvSpPr>
            <p:spPr bwMode="auto">
              <a:xfrm>
                <a:off x="1608" y="2913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4" name="Freeform 849"/>
              <p:cNvSpPr>
                <a:spLocks/>
              </p:cNvSpPr>
              <p:nvPr/>
            </p:nvSpPr>
            <p:spPr bwMode="auto">
              <a:xfrm>
                <a:off x="1608" y="2964"/>
                <a:ext cx="290" cy="104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5" name="Freeform 850"/>
              <p:cNvSpPr>
                <a:spLocks/>
              </p:cNvSpPr>
              <p:nvPr/>
            </p:nvSpPr>
            <p:spPr bwMode="auto">
              <a:xfrm>
                <a:off x="1856" y="2964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211" name="Freeform 851"/>
              <p:cNvSpPr>
                <a:spLocks/>
              </p:cNvSpPr>
              <p:nvPr/>
            </p:nvSpPr>
            <p:spPr bwMode="auto">
              <a:xfrm>
                <a:off x="1608" y="2988"/>
                <a:ext cx="336" cy="120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417" name="Freeform 852"/>
              <p:cNvSpPr>
                <a:spLocks/>
              </p:cNvSpPr>
              <p:nvPr/>
            </p:nvSpPr>
            <p:spPr bwMode="auto">
              <a:xfrm>
                <a:off x="1856" y="2825"/>
                <a:ext cx="148" cy="163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9"/>
                    </a:lnTo>
                    <a:lnTo>
                      <a:pt x="549" y="217"/>
                    </a:lnTo>
                    <a:lnTo>
                      <a:pt x="550" y="211"/>
                    </a:lnTo>
                    <a:lnTo>
                      <a:pt x="552" y="206"/>
                    </a:lnTo>
                    <a:lnTo>
                      <a:pt x="556" y="196"/>
                    </a:lnTo>
                    <a:lnTo>
                      <a:pt x="564" y="176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8" name="Freeform 853"/>
              <p:cNvSpPr>
                <a:spLocks/>
              </p:cNvSpPr>
              <p:nvPr/>
            </p:nvSpPr>
            <p:spPr bwMode="auto">
              <a:xfrm>
                <a:off x="1370" y="2944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19" name="Freeform 854"/>
              <p:cNvSpPr>
                <a:spLocks/>
              </p:cNvSpPr>
              <p:nvPr/>
            </p:nvSpPr>
            <p:spPr bwMode="auto">
              <a:xfrm>
                <a:off x="1284" y="2997"/>
                <a:ext cx="324" cy="111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420" name="Freeform 855"/>
              <p:cNvSpPr>
                <a:spLocks/>
              </p:cNvSpPr>
              <p:nvPr/>
            </p:nvSpPr>
            <p:spPr bwMode="auto">
              <a:xfrm>
                <a:off x="1328" y="2971"/>
                <a:ext cx="280" cy="97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1" name="Freeform 856"/>
              <p:cNvSpPr>
                <a:spLocks/>
              </p:cNvSpPr>
              <p:nvPr/>
            </p:nvSpPr>
            <p:spPr bwMode="auto">
              <a:xfrm>
                <a:off x="1415" y="2918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2" name="Freeform 857"/>
              <p:cNvSpPr>
                <a:spLocks/>
              </p:cNvSpPr>
              <p:nvPr/>
            </p:nvSpPr>
            <p:spPr bwMode="auto">
              <a:xfrm>
                <a:off x="1153" y="2635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3" name="Freeform 858"/>
              <p:cNvSpPr>
                <a:spLocks/>
              </p:cNvSpPr>
              <p:nvPr/>
            </p:nvSpPr>
            <p:spPr bwMode="auto">
              <a:xfrm>
                <a:off x="1211" y="2658"/>
                <a:ext cx="140" cy="167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4" name="Freeform 859"/>
              <p:cNvSpPr>
                <a:spLocks/>
              </p:cNvSpPr>
              <p:nvPr/>
            </p:nvSpPr>
            <p:spPr bwMode="auto">
              <a:xfrm>
                <a:off x="1324" y="2702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5" name="Freeform 860"/>
              <p:cNvSpPr>
                <a:spLocks/>
              </p:cNvSpPr>
              <p:nvPr/>
            </p:nvSpPr>
            <p:spPr bwMode="auto">
              <a:xfrm>
                <a:off x="1266" y="2679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6" name="Freeform 861"/>
              <p:cNvSpPr>
                <a:spLocks/>
              </p:cNvSpPr>
              <p:nvPr/>
            </p:nvSpPr>
            <p:spPr bwMode="auto">
              <a:xfrm>
                <a:off x="1456" y="2917"/>
                <a:ext cx="1" cy="2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7" name="Freeform 862"/>
              <p:cNvSpPr>
                <a:spLocks/>
              </p:cNvSpPr>
              <p:nvPr/>
            </p:nvSpPr>
            <p:spPr bwMode="auto">
              <a:xfrm>
                <a:off x="1325" y="2825"/>
                <a:ext cx="131" cy="119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3"/>
                    </a:lnTo>
                    <a:lnTo>
                      <a:pt x="388" y="269"/>
                    </a:lnTo>
                    <a:lnTo>
                      <a:pt x="373" y="256"/>
                    </a:lnTo>
                    <a:lnTo>
                      <a:pt x="344" y="227"/>
                    </a:lnTo>
                    <a:lnTo>
                      <a:pt x="319" y="199"/>
                    </a:lnTo>
                    <a:lnTo>
                      <a:pt x="296" y="169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8" name="Freeform 863"/>
              <p:cNvSpPr>
                <a:spLocks/>
              </p:cNvSpPr>
              <p:nvPr/>
            </p:nvSpPr>
            <p:spPr bwMode="auto">
              <a:xfrm>
                <a:off x="1266" y="2825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6"/>
                    </a:lnTo>
                    <a:lnTo>
                      <a:pt x="300" y="212"/>
                    </a:lnTo>
                    <a:lnTo>
                      <a:pt x="276" y="168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70"/>
                    </a:lnTo>
                    <a:lnTo>
                      <a:pt x="43" y="202"/>
                    </a:lnTo>
                    <a:lnTo>
                      <a:pt x="56" y="232"/>
                    </a:lnTo>
                    <a:lnTo>
                      <a:pt x="73" y="263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29" name="Freeform 864"/>
              <p:cNvSpPr>
                <a:spLocks/>
              </p:cNvSpPr>
              <p:nvPr/>
            </p:nvSpPr>
            <p:spPr bwMode="auto">
              <a:xfrm>
                <a:off x="1211" y="2825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3"/>
                    </a:lnTo>
                    <a:lnTo>
                      <a:pt x="276" y="232"/>
                    </a:lnTo>
                    <a:lnTo>
                      <a:pt x="263" y="202"/>
                    </a:lnTo>
                    <a:lnTo>
                      <a:pt x="250" y="170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0" name="Freeform 865"/>
              <p:cNvSpPr>
                <a:spLocks/>
              </p:cNvSpPr>
              <p:nvPr/>
            </p:nvSpPr>
            <p:spPr bwMode="auto">
              <a:xfrm>
                <a:off x="1152" y="2825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3"/>
                    </a:lnTo>
                    <a:lnTo>
                      <a:pt x="282" y="235"/>
                    </a:lnTo>
                    <a:lnTo>
                      <a:pt x="268" y="195"/>
                    </a:lnTo>
                    <a:lnTo>
                      <a:pt x="257" y="156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431" name="Freeform 866"/>
              <p:cNvSpPr>
                <a:spLocks/>
              </p:cNvSpPr>
              <p:nvPr/>
            </p:nvSpPr>
            <p:spPr bwMode="auto">
              <a:xfrm>
                <a:off x="1608" y="2543"/>
                <a:ext cx="324" cy="82"/>
              </a:xfrm>
              <a:custGeom>
                <a:avLst/>
                <a:gdLst>
                  <a:gd name="T0" fmla="*/ 0 w 1298"/>
                  <a:gd name="T1" fmla="*/ 0 h 330"/>
                  <a:gd name="T2" fmla="*/ 0 w 1298"/>
                  <a:gd name="T3" fmla="*/ 0 h 330"/>
                  <a:gd name="T4" fmla="*/ 0 w 1298"/>
                  <a:gd name="T5" fmla="*/ 0 h 330"/>
                  <a:gd name="T6" fmla="*/ 0 w 1298"/>
                  <a:gd name="T7" fmla="*/ 0 h 330"/>
                  <a:gd name="T8" fmla="*/ 0 w 1298"/>
                  <a:gd name="T9" fmla="*/ 0 h 330"/>
                  <a:gd name="T10" fmla="*/ 0 w 1298"/>
                  <a:gd name="T11" fmla="*/ 0 h 330"/>
                  <a:gd name="T12" fmla="*/ 0 w 1298"/>
                  <a:gd name="T13" fmla="*/ 0 h 330"/>
                  <a:gd name="T14" fmla="*/ 0 w 1298"/>
                  <a:gd name="T15" fmla="*/ 0 h 330"/>
                  <a:gd name="T16" fmla="*/ 0 w 1298"/>
                  <a:gd name="T17" fmla="*/ 0 h 330"/>
                  <a:gd name="T18" fmla="*/ 0 w 1298"/>
                  <a:gd name="T19" fmla="*/ 0 h 330"/>
                  <a:gd name="T20" fmla="*/ 0 w 1298"/>
                  <a:gd name="T21" fmla="*/ 0 h 330"/>
                  <a:gd name="T22" fmla="*/ 0 w 1298"/>
                  <a:gd name="T23" fmla="*/ 0 h 330"/>
                  <a:gd name="T24" fmla="*/ 0 w 1298"/>
                  <a:gd name="T25" fmla="*/ 0 h 330"/>
                  <a:gd name="T26" fmla="*/ 0 w 1298"/>
                  <a:gd name="T27" fmla="*/ 0 h 330"/>
                  <a:gd name="T28" fmla="*/ 0 w 1298"/>
                  <a:gd name="T29" fmla="*/ 0 h 330"/>
                  <a:gd name="T30" fmla="*/ 0 w 1298"/>
                  <a:gd name="T31" fmla="*/ 0 h 330"/>
                  <a:gd name="T32" fmla="*/ 0 w 1298"/>
                  <a:gd name="T33" fmla="*/ 0 h 330"/>
                  <a:gd name="T34" fmla="*/ 0 w 1298"/>
                  <a:gd name="T35" fmla="*/ 0 h 330"/>
                  <a:gd name="T36" fmla="*/ 0 w 1298"/>
                  <a:gd name="T37" fmla="*/ 0 h 330"/>
                  <a:gd name="T38" fmla="*/ 0 w 1298"/>
                  <a:gd name="T39" fmla="*/ 0 h 330"/>
                  <a:gd name="T40" fmla="*/ 0 w 1298"/>
                  <a:gd name="T41" fmla="*/ 0 h 3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30"/>
                  <a:gd name="T65" fmla="*/ 1298 w 1298"/>
                  <a:gd name="T66" fmla="*/ 330 h 33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30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6"/>
                    </a:lnTo>
                    <a:lnTo>
                      <a:pt x="1169" y="259"/>
                    </a:lnTo>
                    <a:lnTo>
                      <a:pt x="1274" y="315"/>
                    </a:lnTo>
                    <a:lnTo>
                      <a:pt x="1285" y="322"/>
                    </a:lnTo>
                    <a:lnTo>
                      <a:pt x="1298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2" name="Line 867"/>
              <p:cNvSpPr>
                <a:spLocks noChangeShapeType="1"/>
              </p:cNvSpPr>
              <p:nvPr/>
            </p:nvSpPr>
            <p:spPr bwMode="auto">
              <a:xfrm flipV="1">
                <a:off x="1608" y="2543"/>
                <a:ext cx="0" cy="3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3" name="Freeform 868"/>
              <p:cNvSpPr>
                <a:spLocks/>
              </p:cNvSpPr>
              <p:nvPr/>
            </p:nvSpPr>
            <p:spPr bwMode="auto">
              <a:xfrm>
                <a:off x="1608" y="2576"/>
                <a:ext cx="285" cy="73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2"/>
                    </a:lnTo>
                    <a:lnTo>
                      <a:pt x="934" y="185"/>
                    </a:lnTo>
                    <a:lnTo>
                      <a:pt x="879" y="162"/>
                    </a:lnTo>
                    <a:lnTo>
                      <a:pt x="823" y="139"/>
                    </a:lnTo>
                    <a:lnTo>
                      <a:pt x="767" y="119"/>
                    </a:lnTo>
                    <a:lnTo>
                      <a:pt x="709" y="99"/>
                    </a:lnTo>
                    <a:lnTo>
                      <a:pt x="651" y="82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4" name="Freeform 869"/>
              <p:cNvSpPr>
                <a:spLocks/>
              </p:cNvSpPr>
              <p:nvPr/>
            </p:nvSpPr>
            <p:spPr bwMode="auto">
              <a:xfrm>
                <a:off x="1608" y="2639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5" name="Line 870"/>
              <p:cNvSpPr>
                <a:spLocks noChangeShapeType="1"/>
              </p:cNvSpPr>
              <p:nvPr/>
            </p:nvSpPr>
            <p:spPr bwMode="auto">
              <a:xfrm flipV="1">
                <a:off x="1608" y="2608"/>
                <a:ext cx="0" cy="3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6" name="Freeform 871"/>
              <p:cNvSpPr>
                <a:spLocks/>
              </p:cNvSpPr>
              <p:nvPr/>
            </p:nvSpPr>
            <p:spPr bwMode="auto">
              <a:xfrm>
                <a:off x="1608" y="2607"/>
                <a:ext cx="225" cy="52"/>
              </a:xfrm>
              <a:custGeom>
                <a:avLst/>
                <a:gdLst>
                  <a:gd name="T0" fmla="*/ 0 w 902"/>
                  <a:gd name="T1" fmla="*/ 0 h 205"/>
                  <a:gd name="T2" fmla="*/ 0 w 902"/>
                  <a:gd name="T3" fmla="*/ 0 h 205"/>
                  <a:gd name="T4" fmla="*/ 0 w 902"/>
                  <a:gd name="T5" fmla="*/ 0 h 205"/>
                  <a:gd name="T6" fmla="*/ 0 w 902"/>
                  <a:gd name="T7" fmla="*/ 0 h 205"/>
                  <a:gd name="T8" fmla="*/ 0 w 902"/>
                  <a:gd name="T9" fmla="*/ 0 h 205"/>
                  <a:gd name="T10" fmla="*/ 0 w 902"/>
                  <a:gd name="T11" fmla="*/ 0 h 205"/>
                  <a:gd name="T12" fmla="*/ 0 w 902"/>
                  <a:gd name="T13" fmla="*/ 0 h 205"/>
                  <a:gd name="T14" fmla="*/ 0 w 902"/>
                  <a:gd name="T15" fmla="*/ 0 h 205"/>
                  <a:gd name="T16" fmla="*/ 0 w 902"/>
                  <a:gd name="T17" fmla="*/ 0 h 205"/>
                  <a:gd name="T18" fmla="*/ 0 w 902"/>
                  <a:gd name="T19" fmla="*/ 0 h 205"/>
                  <a:gd name="T20" fmla="*/ 0 w 902"/>
                  <a:gd name="T21" fmla="*/ 0 h 205"/>
                  <a:gd name="T22" fmla="*/ 0 w 902"/>
                  <a:gd name="T23" fmla="*/ 0 h 205"/>
                  <a:gd name="T24" fmla="*/ 0 w 902"/>
                  <a:gd name="T25" fmla="*/ 0 h 205"/>
                  <a:gd name="T26" fmla="*/ 0 w 902"/>
                  <a:gd name="T27" fmla="*/ 0 h 205"/>
                  <a:gd name="T28" fmla="*/ 0 w 902"/>
                  <a:gd name="T29" fmla="*/ 0 h 205"/>
                  <a:gd name="T30" fmla="*/ 0 w 902"/>
                  <a:gd name="T31" fmla="*/ 0 h 205"/>
                  <a:gd name="T32" fmla="*/ 0 w 902"/>
                  <a:gd name="T33" fmla="*/ 0 h 205"/>
                  <a:gd name="T34" fmla="*/ 0 w 902"/>
                  <a:gd name="T35" fmla="*/ 0 h 205"/>
                  <a:gd name="T36" fmla="*/ 0 w 902"/>
                  <a:gd name="T37" fmla="*/ 0 h 205"/>
                  <a:gd name="T38" fmla="*/ 0 w 902"/>
                  <a:gd name="T39" fmla="*/ 0 h 205"/>
                  <a:gd name="T40" fmla="*/ 0 w 902"/>
                  <a:gd name="T41" fmla="*/ 0 h 20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5"/>
                  <a:gd name="T65" fmla="*/ 902 w 902"/>
                  <a:gd name="T66" fmla="*/ 205 h 20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5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19"/>
                    </a:lnTo>
                    <a:lnTo>
                      <a:pt x="767" y="140"/>
                    </a:lnTo>
                    <a:lnTo>
                      <a:pt x="814" y="161"/>
                    </a:lnTo>
                    <a:lnTo>
                      <a:pt x="862" y="185"/>
                    </a:lnTo>
                    <a:lnTo>
                      <a:pt x="902" y="20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7" name="Line 872"/>
              <p:cNvSpPr>
                <a:spLocks noChangeShapeType="1"/>
              </p:cNvSpPr>
              <p:nvPr/>
            </p:nvSpPr>
            <p:spPr bwMode="auto">
              <a:xfrm flipV="1">
                <a:off x="1608" y="2576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8" name="Line 873"/>
              <p:cNvSpPr>
                <a:spLocks noChangeShapeType="1"/>
              </p:cNvSpPr>
              <p:nvPr/>
            </p:nvSpPr>
            <p:spPr bwMode="auto">
              <a:xfrm>
                <a:off x="1153" y="2825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39" name="Freeform 874"/>
              <p:cNvSpPr>
                <a:spLocks/>
              </p:cNvSpPr>
              <p:nvPr/>
            </p:nvSpPr>
            <p:spPr bwMode="auto">
              <a:xfrm>
                <a:off x="1608" y="2673"/>
                <a:ext cx="169" cy="48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0" name="Line 875"/>
              <p:cNvSpPr>
                <a:spLocks noChangeShapeType="1"/>
              </p:cNvSpPr>
              <p:nvPr/>
            </p:nvSpPr>
            <p:spPr bwMode="auto">
              <a:xfrm flipV="1">
                <a:off x="1608" y="2639"/>
                <a:ext cx="0" cy="3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1" name="Line 876"/>
              <p:cNvSpPr>
                <a:spLocks noChangeShapeType="1"/>
              </p:cNvSpPr>
              <p:nvPr/>
            </p:nvSpPr>
            <p:spPr bwMode="auto">
              <a:xfrm flipH="1">
                <a:off x="1893" y="2625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2" name="Freeform 877"/>
              <p:cNvSpPr>
                <a:spLocks/>
              </p:cNvSpPr>
              <p:nvPr/>
            </p:nvSpPr>
            <p:spPr bwMode="auto">
              <a:xfrm>
                <a:off x="1836" y="2660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3" name="Line 878"/>
              <p:cNvSpPr>
                <a:spLocks noChangeShapeType="1"/>
              </p:cNvSpPr>
              <p:nvPr/>
            </p:nvSpPr>
            <p:spPr bwMode="auto">
              <a:xfrm>
                <a:off x="1833" y="2659"/>
                <a:ext cx="3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4" name="Line 879"/>
              <p:cNvSpPr>
                <a:spLocks noChangeShapeType="1"/>
              </p:cNvSpPr>
              <p:nvPr/>
            </p:nvSpPr>
            <p:spPr bwMode="auto">
              <a:xfrm>
                <a:off x="1836" y="2660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5" name="Freeform 880"/>
              <p:cNvSpPr>
                <a:spLocks/>
              </p:cNvSpPr>
              <p:nvPr/>
            </p:nvSpPr>
            <p:spPr bwMode="auto">
              <a:xfrm>
                <a:off x="1836" y="2660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6" name="Line 881"/>
              <p:cNvSpPr>
                <a:spLocks noChangeShapeType="1"/>
              </p:cNvSpPr>
              <p:nvPr/>
            </p:nvSpPr>
            <p:spPr bwMode="auto">
              <a:xfrm>
                <a:off x="1833" y="2659"/>
                <a:ext cx="4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7" name="Freeform 882"/>
              <p:cNvSpPr>
                <a:spLocks/>
              </p:cNvSpPr>
              <p:nvPr/>
            </p:nvSpPr>
            <p:spPr bwMode="auto">
              <a:xfrm>
                <a:off x="1777" y="2721"/>
                <a:ext cx="55" cy="104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8" name="Line 883"/>
              <p:cNvSpPr>
                <a:spLocks noChangeShapeType="1"/>
              </p:cNvSpPr>
              <p:nvPr/>
            </p:nvSpPr>
            <p:spPr bwMode="auto">
              <a:xfrm flipH="1">
                <a:off x="1817" y="2672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49" name="Freeform 884"/>
              <p:cNvSpPr>
                <a:spLocks/>
              </p:cNvSpPr>
              <p:nvPr/>
            </p:nvSpPr>
            <p:spPr bwMode="auto">
              <a:xfrm>
                <a:off x="1855" y="2672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0" name="Freeform 885"/>
              <p:cNvSpPr>
                <a:spLocks/>
              </p:cNvSpPr>
              <p:nvPr/>
            </p:nvSpPr>
            <p:spPr bwMode="auto">
              <a:xfrm>
                <a:off x="1817" y="2696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1" name="Line 886"/>
              <p:cNvSpPr>
                <a:spLocks noChangeShapeType="1"/>
              </p:cNvSpPr>
              <p:nvPr/>
            </p:nvSpPr>
            <p:spPr bwMode="auto">
              <a:xfrm flipV="1">
                <a:off x="1855" y="2649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2" name="Line 887"/>
              <p:cNvSpPr>
                <a:spLocks noChangeShapeType="1"/>
              </p:cNvSpPr>
              <p:nvPr/>
            </p:nvSpPr>
            <p:spPr bwMode="auto">
              <a:xfrm flipH="1">
                <a:off x="1777" y="2696"/>
                <a:ext cx="40" cy="25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3" name="Freeform 888"/>
              <p:cNvSpPr>
                <a:spLocks/>
              </p:cNvSpPr>
              <p:nvPr/>
            </p:nvSpPr>
            <p:spPr bwMode="auto">
              <a:xfrm>
                <a:off x="1932" y="2625"/>
                <a:ext cx="131" cy="200"/>
              </a:xfrm>
              <a:custGeom>
                <a:avLst/>
                <a:gdLst>
                  <a:gd name="T0" fmla="*/ 0 w 524"/>
                  <a:gd name="T1" fmla="*/ 0 h 798"/>
                  <a:gd name="T2" fmla="*/ 0 w 524"/>
                  <a:gd name="T3" fmla="*/ 0 h 798"/>
                  <a:gd name="T4" fmla="*/ 0 w 524"/>
                  <a:gd name="T5" fmla="*/ 0 h 798"/>
                  <a:gd name="T6" fmla="*/ 0 w 524"/>
                  <a:gd name="T7" fmla="*/ 0 h 798"/>
                  <a:gd name="T8" fmla="*/ 0 w 524"/>
                  <a:gd name="T9" fmla="*/ 0 h 798"/>
                  <a:gd name="T10" fmla="*/ 0 w 524"/>
                  <a:gd name="T11" fmla="*/ 0 h 798"/>
                  <a:gd name="T12" fmla="*/ 0 w 524"/>
                  <a:gd name="T13" fmla="*/ 0 h 798"/>
                  <a:gd name="T14" fmla="*/ 0 w 524"/>
                  <a:gd name="T15" fmla="*/ 0 h 798"/>
                  <a:gd name="T16" fmla="*/ 0 w 524"/>
                  <a:gd name="T17" fmla="*/ 0 h 798"/>
                  <a:gd name="T18" fmla="*/ 0 w 524"/>
                  <a:gd name="T19" fmla="*/ 0 h 798"/>
                  <a:gd name="T20" fmla="*/ 0 w 524"/>
                  <a:gd name="T21" fmla="*/ 0 h 798"/>
                  <a:gd name="T22" fmla="*/ 0 w 524"/>
                  <a:gd name="T23" fmla="*/ 0 h 798"/>
                  <a:gd name="T24" fmla="*/ 0 w 524"/>
                  <a:gd name="T25" fmla="*/ 0 h 798"/>
                  <a:gd name="T26" fmla="*/ 0 w 524"/>
                  <a:gd name="T27" fmla="*/ 0 h 798"/>
                  <a:gd name="T28" fmla="*/ 0 w 524"/>
                  <a:gd name="T29" fmla="*/ 0 h 798"/>
                  <a:gd name="T30" fmla="*/ 0 w 524"/>
                  <a:gd name="T31" fmla="*/ 0 h 798"/>
                  <a:gd name="T32" fmla="*/ 0 w 524"/>
                  <a:gd name="T33" fmla="*/ 0 h 798"/>
                  <a:gd name="T34" fmla="*/ 0 w 524"/>
                  <a:gd name="T35" fmla="*/ 0 h 798"/>
                  <a:gd name="T36" fmla="*/ 0 w 524"/>
                  <a:gd name="T37" fmla="*/ 0 h 79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8"/>
                  <a:gd name="T59" fmla="*/ 524 w 524"/>
                  <a:gd name="T60" fmla="*/ 798 h 79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8">
                    <a:moveTo>
                      <a:pt x="524" y="798"/>
                    </a:moveTo>
                    <a:lnTo>
                      <a:pt x="523" y="748"/>
                    </a:lnTo>
                    <a:lnTo>
                      <a:pt x="523" y="743"/>
                    </a:lnTo>
                    <a:lnTo>
                      <a:pt x="516" y="688"/>
                    </a:lnTo>
                    <a:lnTo>
                      <a:pt x="506" y="635"/>
                    </a:lnTo>
                    <a:lnTo>
                      <a:pt x="493" y="582"/>
                    </a:lnTo>
                    <a:lnTo>
                      <a:pt x="477" y="531"/>
                    </a:lnTo>
                    <a:lnTo>
                      <a:pt x="456" y="480"/>
                    </a:lnTo>
                    <a:lnTo>
                      <a:pt x="432" y="431"/>
                    </a:lnTo>
                    <a:lnTo>
                      <a:pt x="405" y="383"/>
                    </a:lnTo>
                    <a:lnTo>
                      <a:pt x="375" y="337"/>
                    </a:lnTo>
                    <a:lnTo>
                      <a:pt x="339" y="290"/>
                    </a:lnTo>
                    <a:lnTo>
                      <a:pt x="301" y="245"/>
                    </a:lnTo>
                    <a:lnTo>
                      <a:pt x="259" y="201"/>
                    </a:lnTo>
                    <a:lnTo>
                      <a:pt x="215" y="159"/>
                    </a:lnTo>
                    <a:lnTo>
                      <a:pt x="166" y="117"/>
                    </a:lnTo>
                    <a:lnTo>
                      <a:pt x="114" y="77"/>
                    </a:lnTo>
                    <a:lnTo>
                      <a:pt x="58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4" name="Freeform 889"/>
              <p:cNvSpPr>
                <a:spLocks/>
              </p:cNvSpPr>
              <p:nvPr/>
            </p:nvSpPr>
            <p:spPr bwMode="auto">
              <a:xfrm>
                <a:off x="1893" y="2649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5" name="Line 890"/>
              <p:cNvSpPr>
                <a:spLocks noChangeShapeType="1"/>
              </p:cNvSpPr>
              <p:nvPr/>
            </p:nvSpPr>
            <p:spPr bwMode="auto">
              <a:xfrm>
                <a:off x="2004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6" name="Line 891"/>
              <p:cNvSpPr>
                <a:spLocks noChangeShapeType="1"/>
              </p:cNvSpPr>
              <p:nvPr/>
            </p:nvSpPr>
            <p:spPr bwMode="auto">
              <a:xfrm>
                <a:off x="1890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7" name="Freeform 892"/>
              <p:cNvSpPr>
                <a:spLocks/>
              </p:cNvSpPr>
              <p:nvPr/>
            </p:nvSpPr>
            <p:spPr bwMode="auto">
              <a:xfrm>
                <a:off x="1810" y="2825"/>
                <a:ext cx="80" cy="112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9"/>
                    </a:lnTo>
                    <a:lnTo>
                      <a:pt x="222" y="245"/>
                    </a:lnTo>
                    <a:lnTo>
                      <a:pt x="238" y="222"/>
                    </a:lnTo>
                    <a:lnTo>
                      <a:pt x="252" y="198"/>
                    </a:lnTo>
                    <a:lnTo>
                      <a:pt x="266" y="175"/>
                    </a:lnTo>
                    <a:lnTo>
                      <a:pt x="268" y="168"/>
                    </a:lnTo>
                    <a:lnTo>
                      <a:pt x="271" y="162"/>
                    </a:lnTo>
                    <a:lnTo>
                      <a:pt x="277" y="150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8" name="Freeform 893"/>
              <p:cNvSpPr>
                <a:spLocks/>
              </p:cNvSpPr>
              <p:nvPr/>
            </p:nvSpPr>
            <p:spPr bwMode="auto">
              <a:xfrm>
                <a:off x="1765" y="2825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80"/>
                    </a:lnTo>
                    <a:lnTo>
                      <a:pt x="131" y="248"/>
                    </a:lnTo>
                    <a:lnTo>
                      <a:pt x="163" y="216"/>
                    </a:lnTo>
                    <a:lnTo>
                      <a:pt x="189" y="182"/>
                    </a:lnTo>
                    <a:lnTo>
                      <a:pt x="213" y="148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59" name="Line 894"/>
              <p:cNvSpPr>
                <a:spLocks noChangeShapeType="1"/>
              </p:cNvSpPr>
              <p:nvPr/>
            </p:nvSpPr>
            <p:spPr bwMode="auto">
              <a:xfrm flipH="1">
                <a:off x="1809" y="2937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0" name="Freeform 895"/>
              <p:cNvSpPr>
                <a:spLocks/>
              </p:cNvSpPr>
              <p:nvPr/>
            </p:nvSpPr>
            <p:spPr bwMode="auto">
              <a:xfrm>
                <a:off x="1608" y="2937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1" name="Line 896"/>
              <p:cNvSpPr>
                <a:spLocks noChangeShapeType="1"/>
              </p:cNvSpPr>
              <p:nvPr/>
            </p:nvSpPr>
            <p:spPr bwMode="auto">
              <a:xfrm flipV="1">
                <a:off x="1809" y="2937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2" name="Freeform 897"/>
              <p:cNvSpPr>
                <a:spLocks/>
              </p:cNvSpPr>
              <p:nvPr/>
            </p:nvSpPr>
            <p:spPr bwMode="auto">
              <a:xfrm>
                <a:off x="1608" y="2964"/>
                <a:ext cx="248" cy="66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3" name="Line 898"/>
              <p:cNvSpPr>
                <a:spLocks noChangeShapeType="1"/>
              </p:cNvSpPr>
              <p:nvPr/>
            </p:nvSpPr>
            <p:spPr bwMode="auto">
              <a:xfrm flipH="1" flipV="1">
                <a:off x="1809" y="2937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4" name="Freeform 899"/>
              <p:cNvSpPr>
                <a:spLocks/>
              </p:cNvSpPr>
              <p:nvPr/>
            </p:nvSpPr>
            <p:spPr bwMode="auto">
              <a:xfrm>
                <a:off x="1608" y="2988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5" name="Line 900"/>
              <p:cNvSpPr>
                <a:spLocks noChangeShapeType="1"/>
              </p:cNvSpPr>
              <p:nvPr/>
            </p:nvSpPr>
            <p:spPr bwMode="auto">
              <a:xfrm flipH="1" flipV="1">
                <a:off x="1898" y="2988"/>
                <a:ext cx="46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6" name="Freeform 901"/>
              <p:cNvSpPr>
                <a:spLocks/>
              </p:cNvSpPr>
              <p:nvPr/>
            </p:nvSpPr>
            <p:spPr bwMode="auto">
              <a:xfrm>
                <a:off x="1898" y="2825"/>
                <a:ext cx="106" cy="163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9"/>
                    </a:lnTo>
                    <a:lnTo>
                      <a:pt x="384" y="217"/>
                    </a:lnTo>
                    <a:lnTo>
                      <a:pt x="385" y="211"/>
                    </a:lnTo>
                    <a:lnTo>
                      <a:pt x="387" y="206"/>
                    </a:lnTo>
                    <a:lnTo>
                      <a:pt x="391" y="196"/>
                    </a:lnTo>
                    <a:lnTo>
                      <a:pt x="399" y="176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262" name="Freeform 902"/>
              <p:cNvSpPr>
                <a:spLocks/>
              </p:cNvSpPr>
              <p:nvPr/>
            </p:nvSpPr>
            <p:spPr bwMode="auto">
              <a:xfrm>
                <a:off x="1608" y="3014"/>
                <a:ext cx="336" cy="94"/>
              </a:xfrm>
              <a:custGeom>
                <a:avLst/>
                <a:gdLst>
                  <a:gd name="T0" fmla="*/ 0 w 1346"/>
                  <a:gd name="T1" fmla="*/ 374 h 374"/>
                  <a:gd name="T2" fmla="*/ 46 w 1346"/>
                  <a:gd name="T3" fmla="*/ 372 h 374"/>
                  <a:gd name="T4" fmla="*/ 57 w 1346"/>
                  <a:gd name="T5" fmla="*/ 371 h 374"/>
                  <a:gd name="T6" fmla="*/ 69 w 1346"/>
                  <a:gd name="T7" fmla="*/ 371 h 374"/>
                  <a:gd name="T8" fmla="*/ 93 w 1346"/>
                  <a:gd name="T9" fmla="*/ 371 h 374"/>
                  <a:gd name="T10" fmla="*/ 115 w 1346"/>
                  <a:gd name="T11" fmla="*/ 369 h 374"/>
                  <a:gd name="T12" fmla="*/ 126 w 1346"/>
                  <a:gd name="T13" fmla="*/ 368 h 374"/>
                  <a:gd name="T14" fmla="*/ 138 w 1346"/>
                  <a:gd name="T15" fmla="*/ 368 h 374"/>
                  <a:gd name="T16" fmla="*/ 184 w 1346"/>
                  <a:gd name="T17" fmla="*/ 366 h 374"/>
                  <a:gd name="T18" fmla="*/ 274 w 1346"/>
                  <a:gd name="T19" fmla="*/ 358 h 374"/>
                  <a:gd name="T20" fmla="*/ 318 w 1346"/>
                  <a:gd name="T21" fmla="*/ 353 h 374"/>
                  <a:gd name="T22" fmla="*/ 363 w 1346"/>
                  <a:gd name="T23" fmla="*/ 349 h 374"/>
                  <a:gd name="T24" fmla="*/ 449 w 1346"/>
                  <a:gd name="T25" fmla="*/ 336 h 374"/>
                  <a:gd name="T26" fmla="*/ 491 w 1346"/>
                  <a:gd name="T27" fmla="*/ 329 h 374"/>
                  <a:gd name="T28" fmla="*/ 512 w 1346"/>
                  <a:gd name="T29" fmla="*/ 325 h 374"/>
                  <a:gd name="T30" fmla="*/ 534 w 1346"/>
                  <a:gd name="T31" fmla="*/ 322 h 374"/>
                  <a:gd name="T32" fmla="*/ 555 w 1346"/>
                  <a:gd name="T33" fmla="*/ 317 h 374"/>
                  <a:gd name="T34" fmla="*/ 576 w 1346"/>
                  <a:gd name="T35" fmla="*/ 313 h 374"/>
                  <a:gd name="T36" fmla="*/ 618 w 1346"/>
                  <a:gd name="T37" fmla="*/ 304 h 374"/>
                  <a:gd name="T38" fmla="*/ 700 w 1346"/>
                  <a:gd name="T39" fmla="*/ 285 h 374"/>
                  <a:gd name="T40" fmla="*/ 739 w 1346"/>
                  <a:gd name="T41" fmla="*/ 273 h 374"/>
                  <a:gd name="T42" fmla="*/ 779 w 1346"/>
                  <a:gd name="T43" fmla="*/ 262 h 374"/>
                  <a:gd name="T44" fmla="*/ 857 w 1346"/>
                  <a:gd name="T45" fmla="*/ 238 h 374"/>
                  <a:gd name="T46" fmla="*/ 933 w 1346"/>
                  <a:gd name="T47" fmla="*/ 210 h 374"/>
                  <a:gd name="T48" fmla="*/ 951 w 1346"/>
                  <a:gd name="T49" fmla="*/ 202 h 374"/>
                  <a:gd name="T50" fmla="*/ 960 w 1346"/>
                  <a:gd name="T51" fmla="*/ 198 h 374"/>
                  <a:gd name="T52" fmla="*/ 970 w 1346"/>
                  <a:gd name="T53" fmla="*/ 195 h 374"/>
                  <a:gd name="T54" fmla="*/ 1008 w 1346"/>
                  <a:gd name="T55" fmla="*/ 181 h 374"/>
                  <a:gd name="T56" fmla="*/ 1080 w 1346"/>
                  <a:gd name="T57" fmla="*/ 148 h 374"/>
                  <a:gd name="T58" fmla="*/ 1088 w 1346"/>
                  <a:gd name="T59" fmla="*/ 143 h 374"/>
                  <a:gd name="T60" fmla="*/ 1097 w 1346"/>
                  <a:gd name="T61" fmla="*/ 139 h 374"/>
                  <a:gd name="T62" fmla="*/ 1115 w 1346"/>
                  <a:gd name="T63" fmla="*/ 131 h 374"/>
                  <a:gd name="T64" fmla="*/ 1151 w 1346"/>
                  <a:gd name="T65" fmla="*/ 114 h 374"/>
                  <a:gd name="T66" fmla="*/ 1185 w 1346"/>
                  <a:gd name="T67" fmla="*/ 95 h 374"/>
                  <a:gd name="T68" fmla="*/ 1202 w 1346"/>
                  <a:gd name="T69" fmla="*/ 85 h 374"/>
                  <a:gd name="T70" fmla="*/ 1220 w 1346"/>
                  <a:gd name="T71" fmla="*/ 76 h 374"/>
                  <a:gd name="T72" fmla="*/ 1288 w 1346"/>
                  <a:gd name="T73" fmla="*/ 37 h 374"/>
                  <a:gd name="T74" fmla="*/ 1346 w 1346"/>
                  <a:gd name="T7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468" name="Freeform 903"/>
              <p:cNvSpPr>
                <a:spLocks/>
              </p:cNvSpPr>
              <p:nvPr/>
            </p:nvSpPr>
            <p:spPr bwMode="auto">
              <a:xfrm>
                <a:off x="1944" y="2825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80"/>
                    </a:lnTo>
                    <a:lnTo>
                      <a:pt x="428" y="256"/>
                    </a:lnTo>
                    <a:lnTo>
                      <a:pt x="436" y="231"/>
                    </a:lnTo>
                    <a:lnTo>
                      <a:pt x="445" y="207"/>
                    </a:lnTo>
                    <a:lnTo>
                      <a:pt x="451" y="181"/>
                    </a:lnTo>
                    <a:lnTo>
                      <a:pt x="457" y="156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69" name="Line 904"/>
              <p:cNvSpPr>
                <a:spLocks noChangeShapeType="1"/>
              </p:cNvSpPr>
              <p:nvPr/>
            </p:nvSpPr>
            <p:spPr bwMode="auto">
              <a:xfrm>
                <a:off x="1856" y="2964"/>
                <a:ext cx="42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0" name="Freeform 905"/>
              <p:cNvSpPr>
                <a:spLocks/>
              </p:cNvSpPr>
              <p:nvPr/>
            </p:nvSpPr>
            <p:spPr bwMode="auto">
              <a:xfrm>
                <a:off x="1856" y="2825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4"/>
                    </a:lnTo>
                    <a:lnTo>
                      <a:pt x="325" y="190"/>
                    </a:lnTo>
                    <a:lnTo>
                      <a:pt x="317" y="208"/>
                    </a:lnTo>
                    <a:lnTo>
                      <a:pt x="309" y="227"/>
                    </a:lnTo>
                    <a:lnTo>
                      <a:pt x="299" y="244"/>
                    </a:lnTo>
                    <a:lnTo>
                      <a:pt x="290" y="262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1" name="Line 906"/>
              <p:cNvSpPr>
                <a:spLocks noChangeShapeType="1"/>
              </p:cNvSpPr>
              <p:nvPr/>
            </p:nvSpPr>
            <p:spPr bwMode="auto">
              <a:xfrm flipH="1">
                <a:off x="1831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2" name="Line 907"/>
              <p:cNvSpPr>
                <a:spLocks noChangeShapeType="1"/>
              </p:cNvSpPr>
              <p:nvPr/>
            </p:nvSpPr>
            <p:spPr bwMode="auto">
              <a:xfrm flipH="1">
                <a:off x="1211" y="2825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3" name="Line 908"/>
              <p:cNvSpPr>
                <a:spLocks noChangeShapeType="1"/>
              </p:cNvSpPr>
              <p:nvPr/>
            </p:nvSpPr>
            <p:spPr bwMode="auto">
              <a:xfrm flipV="1">
                <a:off x="1608" y="2990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4" name="Line 909"/>
              <p:cNvSpPr>
                <a:spLocks noChangeShapeType="1"/>
              </p:cNvSpPr>
              <p:nvPr/>
            </p:nvSpPr>
            <p:spPr bwMode="auto">
              <a:xfrm flipV="1">
                <a:off x="1608" y="3068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5" name="Line 910"/>
              <p:cNvSpPr>
                <a:spLocks noChangeShapeType="1"/>
              </p:cNvSpPr>
              <p:nvPr/>
            </p:nvSpPr>
            <p:spPr bwMode="auto">
              <a:xfrm flipV="1">
                <a:off x="1608" y="3030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6" name="Line 911"/>
              <p:cNvSpPr>
                <a:spLocks noChangeShapeType="1"/>
              </p:cNvSpPr>
              <p:nvPr/>
            </p:nvSpPr>
            <p:spPr bwMode="auto">
              <a:xfrm flipV="1">
                <a:off x="1608" y="2953"/>
                <a:ext cx="0" cy="3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7" name="Freeform 912"/>
              <p:cNvSpPr>
                <a:spLocks/>
              </p:cNvSpPr>
              <p:nvPr/>
            </p:nvSpPr>
            <p:spPr bwMode="auto">
              <a:xfrm>
                <a:off x="1608" y="2913"/>
                <a:ext cx="157" cy="40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8" name="Line 913"/>
              <p:cNvSpPr>
                <a:spLocks noChangeShapeType="1"/>
              </p:cNvSpPr>
              <p:nvPr/>
            </p:nvSpPr>
            <p:spPr bwMode="auto">
              <a:xfrm flipH="1" flipV="1">
                <a:off x="1765" y="2913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79" name="Line 914"/>
              <p:cNvSpPr>
                <a:spLocks noChangeShapeType="1"/>
              </p:cNvSpPr>
              <p:nvPr/>
            </p:nvSpPr>
            <p:spPr bwMode="auto">
              <a:xfrm flipH="1">
                <a:off x="1949" y="2825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0" name="Freeform 915"/>
              <p:cNvSpPr>
                <a:spLocks/>
              </p:cNvSpPr>
              <p:nvPr/>
            </p:nvSpPr>
            <p:spPr bwMode="auto">
              <a:xfrm>
                <a:off x="1284" y="3024"/>
                <a:ext cx="324" cy="84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1" name="Freeform 916"/>
              <p:cNvSpPr>
                <a:spLocks/>
              </p:cNvSpPr>
              <p:nvPr/>
            </p:nvSpPr>
            <p:spPr bwMode="auto">
              <a:xfrm>
                <a:off x="1211" y="2658"/>
                <a:ext cx="101" cy="167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2" name="Freeform 917"/>
              <p:cNvSpPr>
                <a:spLocks/>
              </p:cNvSpPr>
              <p:nvPr/>
            </p:nvSpPr>
            <p:spPr bwMode="auto">
              <a:xfrm>
                <a:off x="1153" y="2635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3" name="Freeform 918"/>
              <p:cNvSpPr>
                <a:spLocks/>
              </p:cNvSpPr>
              <p:nvPr/>
            </p:nvSpPr>
            <p:spPr bwMode="auto">
              <a:xfrm>
                <a:off x="1312" y="2576"/>
                <a:ext cx="296" cy="8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5"/>
                    </a:lnTo>
                    <a:lnTo>
                      <a:pt x="500" y="93"/>
                    </a:lnTo>
                    <a:lnTo>
                      <a:pt x="438" y="112"/>
                    </a:lnTo>
                    <a:lnTo>
                      <a:pt x="379" y="135"/>
                    </a:lnTo>
                    <a:lnTo>
                      <a:pt x="319" y="158"/>
                    </a:lnTo>
                    <a:lnTo>
                      <a:pt x="262" y="183"/>
                    </a:lnTo>
                    <a:lnTo>
                      <a:pt x="205" y="210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4" name="Line 919"/>
              <p:cNvSpPr>
                <a:spLocks noChangeShapeType="1"/>
              </p:cNvSpPr>
              <p:nvPr/>
            </p:nvSpPr>
            <p:spPr bwMode="auto">
              <a:xfrm>
                <a:off x="1272" y="2635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5" name="Freeform 920"/>
              <p:cNvSpPr>
                <a:spLocks/>
              </p:cNvSpPr>
              <p:nvPr/>
            </p:nvSpPr>
            <p:spPr bwMode="auto">
              <a:xfrm>
                <a:off x="1272" y="2543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8"/>
                    </a:lnTo>
                    <a:lnTo>
                      <a:pt x="199" y="249"/>
                    </a:lnTo>
                    <a:lnTo>
                      <a:pt x="137" y="284"/>
                    </a:lnTo>
                    <a:lnTo>
                      <a:pt x="29" y="350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6" name="Freeform 921"/>
              <p:cNvSpPr>
                <a:spLocks/>
              </p:cNvSpPr>
              <p:nvPr/>
            </p:nvSpPr>
            <p:spPr bwMode="auto">
              <a:xfrm>
                <a:off x="1324" y="2702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7" name="Freeform 922"/>
              <p:cNvSpPr>
                <a:spLocks/>
              </p:cNvSpPr>
              <p:nvPr/>
            </p:nvSpPr>
            <p:spPr bwMode="auto">
              <a:xfrm>
                <a:off x="1266" y="2680"/>
                <a:ext cx="85" cy="145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8" name="Line 923"/>
              <p:cNvSpPr>
                <a:spLocks noChangeShapeType="1"/>
              </p:cNvSpPr>
              <p:nvPr/>
            </p:nvSpPr>
            <p:spPr bwMode="auto">
              <a:xfrm>
                <a:off x="1391" y="2702"/>
                <a:ext cx="41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89" name="Freeform 924"/>
              <p:cNvSpPr>
                <a:spLocks/>
              </p:cNvSpPr>
              <p:nvPr/>
            </p:nvSpPr>
            <p:spPr bwMode="auto">
              <a:xfrm>
                <a:off x="1391" y="2639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0" name="Freeform 925"/>
              <p:cNvSpPr>
                <a:spLocks/>
              </p:cNvSpPr>
              <p:nvPr/>
            </p:nvSpPr>
            <p:spPr bwMode="auto">
              <a:xfrm>
                <a:off x="1351" y="2607"/>
                <a:ext cx="257" cy="73"/>
              </a:xfrm>
              <a:custGeom>
                <a:avLst/>
                <a:gdLst>
                  <a:gd name="T0" fmla="*/ 0 w 1029"/>
                  <a:gd name="T1" fmla="*/ 0 h 290"/>
                  <a:gd name="T2" fmla="*/ 0 w 1029"/>
                  <a:gd name="T3" fmla="*/ 0 h 290"/>
                  <a:gd name="T4" fmla="*/ 0 w 1029"/>
                  <a:gd name="T5" fmla="*/ 0 h 290"/>
                  <a:gd name="T6" fmla="*/ 0 w 1029"/>
                  <a:gd name="T7" fmla="*/ 0 h 290"/>
                  <a:gd name="T8" fmla="*/ 0 w 1029"/>
                  <a:gd name="T9" fmla="*/ 0 h 290"/>
                  <a:gd name="T10" fmla="*/ 0 w 1029"/>
                  <a:gd name="T11" fmla="*/ 0 h 290"/>
                  <a:gd name="T12" fmla="*/ 0 w 1029"/>
                  <a:gd name="T13" fmla="*/ 0 h 290"/>
                  <a:gd name="T14" fmla="*/ 0 w 1029"/>
                  <a:gd name="T15" fmla="*/ 0 h 290"/>
                  <a:gd name="T16" fmla="*/ 0 w 1029"/>
                  <a:gd name="T17" fmla="*/ 0 h 290"/>
                  <a:gd name="T18" fmla="*/ 0 w 1029"/>
                  <a:gd name="T19" fmla="*/ 0 h 290"/>
                  <a:gd name="T20" fmla="*/ 0 w 1029"/>
                  <a:gd name="T21" fmla="*/ 0 h 290"/>
                  <a:gd name="T22" fmla="*/ 0 w 1029"/>
                  <a:gd name="T23" fmla="*/ 0 h 290"/>
                  <a:gd name="T24" fmla="*/ 0 w 1029"/>
                  <a:gd name="T25" fmla="*/ 0 h 290"/>
                  <a:gd name="T26" fmla="*/ 0 w 1029"/>
                  <a:gd name="T27" fmla="*/ 0 h 290"/>
                  <a:gd name="T28" fmla="*/ 0 w 1029"/>
                  <a:gd name="T29" fmla="*/ 0 h 290"/>
                  <a:gd name="T30" fmla="*/ 0 w 1029"/>
                  <a:gd name="T31" fmla="*/ 0 h 290"/>
                  <a:gd name="T32" fmla="*/ 0 w 1029"/>
                  <a:gd name="T33" fmla="*/ 0 h 290"/>
                  <a:gd name="T34" fmla="*/ 0 w 1029"/>
                  <a:gd name="T35" fmla="*/ 0 h 290"/>
                  <a:gd name="T36" fmla="*/ 0 w 1029"/>
                  <a:gd name="T37" fmla="*/ 0 h 290"/>
                  <a:gd name="T38" fmla="*/ 0 w 1029"/>
                  <a:gd name="T39" fmla="*/ 0 h 2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0"/>
                  <a:gd name="T62" fmla="*/ 1029 w 1029"/>
                  <a:gd name="T63" fmla="*/ 290 h 2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0">
                    <a:moveTo>
                      <a:pt x="0" y="290"/>
                    </a:moveTo>
                    <a:lnTo>
                      <a:pt x="7" y="282"/>
                    </a:lnTo>
                    <a:lnTo>
                      <a:pt x="16" y="277"/>
                    </a:lnTo>
                    <a:lnTo>
                      <a:pt x="129" y="210"/>
                    </a:lnTo>
                    <a:lnTo>
                      <a:pt x="176" y="183"/>
                    </a:lnTo>
                    <a:lnTo>
                      <a:pt x="225" y="160"/>
                    </a:lnTo>
                    <a:lnTo>
                      <a:pt x="275" y="137"/>
                    </a:lnTo>
                    <a:lnTo>
                      <a:pt x="327" y="117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1" name="Freeform 926"/>
              <p:cNvSpPr>
                <a:spLocks/>
              </p:cNvSpPr>
              <p:nvPr/>
            </p:nvSpPr>
            <p:spPr bwMode="auto">
              <a:xfrm>
                <a:off x="1351" y="2679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2" name="Freeform 927"/>
              <p:cNvSpPr>
                <a:spLocks/>
              </p:cNvSpPr>
              <p:nvPr/>
            </p:nvSpPr>
            <p:spPr bwMode="auto">
              <a:xfrm>
                <a:off x="1383" y="2726"/>
                <a:ext cx="49" cy="99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3" name="Line 928"/>
              <p:cNvSpPr>
                <a:spLocks noChangeShapeType="1"/>
              </p:cNvSpPr>
              <p:nvPr/>
            </p:nvSpPr>
            <p:spPr bwMode="auto">
              <a:xfrm flipH="1" flipV="1">
                <a:off x="1351" y="2680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4" name="Line 929"/>
              <p:cNvSpPr>
                <a:spLocks noChangeShapeType="1"/>
              </p:cNvSpPr>
              <p:nvPr/>
            </p:nvSpPr>
            <p:spPr bwMode="auto">
              <a:xfrm>
                <a:off x="1312" y="2658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5" name="Freeform 930"/>
              <p:cNvSpPr>
                <a:spLocks/>
              </p:cNvSpPr>
              <p:nvPr/>
            </p:nvSpPr>
            <p:spPr bwMode="auto">
              <a:xfrm>
                <a:off x="1432" y="2674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6" name="Freeform 931"/>
              <p:cNvSpPr>
                <a:spLocks/>
              </p:cNvSpPr>
              <p:nvPr/>
            </p:nvSpPr>
            <p:spPr bwMode="auto">
              <a:xfrm>
                <a:off x="1415" y="2918"/>
                <a:ext cx="42" cy="2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7" name="Freeform 932"/>
              <p:cNvSpPr>
                <a:spLocks/>
              </p:cNvSpPr>
              <p:nvPr/>
            </p:nvSpPr>
            <p:spPr bwMode="auto">
              <a:xfrm>
                <a:off x="1415" y="2944"/>
                <a:ext cx="193" cy="46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8" name="Freeform 933"/>
              <p:cNvSpPr>
                <a:spLocks/>
              </p:cNvSpPr>
              <p:nvPr/>
            </p:nvSpPr>
            <p:spPr bwMode="auto">
              <a:xfrm>
                <a:off x="1457" y="2918"/>
                <a:ext cx="151" cy="35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499" name="Freeform 934"/>
              <p:cNvSpPr>
                <a:spLocks/>
              </p:cNvSpPr>
              <p:nvPr/>
            </p:nvSpPr>
            <p:spPr bwMode="auto">
              <a:xfrm>
                <a:off x="1383" y="2825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3"/>
                    </a:lnTo>
                    <a:lnTo>
                      <a:pt x="154" y="269"/>
                    </a:lnTo>
                    <a:lnTo>
                      <a:pt x="139" y="256"/>
                    </a:lnTo>
                    <a:lnTo>
                      <a:pt x="110" y="227"/>
                    </a:lnTo>
                    <a:lnTo>
                      <a:pt x="85" y="199"/>
                    </a:lnTo>
                    <a:lnTo>
                      <a:pt x="62" y="169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0" name="Freeform 935"/>
              <p:cNvSpPr>
                <a:spLocks/>
              </p:cNvSpPr>
              <p:nvPr/>
            </p:nvSpPr>
            <p:spPr bwMode="auto">
              <a:xfrm>
                <a:off x="1266" y="2825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3"/>
                    </a:lnTo>
                    <a:lnTo>
                      <a:pt x="56" y="232"/>
                    </a:lnTo>
                    <a:lnTo>
                      <a:pt x="43" y="202"/>
                    </a:lnTo>
                    <a:lnTo>
                      <a:pt x="30" y="170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1" name="Freeform 936"/>
              <p:cNvSpPr>
                <a:spLocks/>
              </p:cNvSpPr>
              <p:nvPr/>
            </p:nvSpPr>
            <p:spPr bwMode="auto">
              <a:xfrm>
                <a:off x="1325" y="2825"/>
                <a:ext cx="90" cy="119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8"/>
                    </a:lnTo>
                    <a:lnTo>
                      <a:pt x="67" y="212"/>
                    </a:lnTo>
                    <a:lnTo>
                      <a:pt x="97" y="256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2" name="Line 937"/>
              <p:cNvSpPr>
                <a:spLocks noChangeShapeType="1"/>
              </p:cNvSpPr>
              <p:nvPr/>
            </p:nvSpPr>
            <p:spPr bwMode="auto">
              <a:xfrm flipH="1">
                <a:off x="1370" y="2944"/>
                <a:ext cx="45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3" name="Line 938"/>
              <p:cNvSpPr>
                <a:spLocks noChangeShapeType="1"/>
              </p:cNvSpPr>
              <p:nvPr/>
            </p:nvSpPr>
            <p:spPr bwMode="auto">
              <a:xfrm>
                <a:off x="1266" y="2825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4" name="Freeform 939"/>
              <p:cNvSpPr>
                <a:spLocks/>
              </p:cNvSpPr>
              <p:nvPr/>
            </p:nvSpPr>
            <p:spPr bwMode="auto">
              <a:xfrm>
                <a:off x="1211" y="2825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6"/>
                    </a:lnTo>
                    <a:lnTo>
                      <a:pt x="31" y="195"/>
                    </a:lnTo>
                    <a:lnTo>
                      <a:pt x="45" y="235"/>
                    </a:lnTo>
                    <a:lnTo>
                      <a:pt x="61" y="273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5" name="Line 940"/>
              <p:cNvSpPr>
                <a:spLocks noChangeShapeType="1"/>
              </p:cNvSpPr>
              <p:nvPr/>
            </p:nvSpPr>
            <p:spPr bwMode="auto">
              <a:xfrm flipH="1">
                <a:off x="1284" y="2997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6" name="Freeform 941"/>
              <p:cNvSpPr>
                <a:spLocks/>
              </p:cNvSpPr>
              <p:nvPr/>
            </p:nvSpPr>
            <p:spPr bwMode="auto">
              <a:xfrm>
                <a:off x="1152" y="2825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2"/>
                    </a:lnTo>
                    <a:lnTo>
                      <a:pt x="22" y="195"/>
                    </a:lnTo>
                    <a:lnTo>
                      <a:pt x="29" y="219"/>
                    </a:lnTo>
                    <a:lnTo>
                      <a:pt x="45" y="267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7" name="Line 942"/>
              <p:cNvSpPr>
                <a:spLocks noChangeShapeType="1"/>
              </p:cNvSpPr>
              <p:nvPr/>
            </p:nvSpPr>
            <p:spPr bwMode="auto">
              <a:xfrm flipH="1">
                <a:off x="1328" y="2971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8" name="Line 943"/>
              <p:cNvSpPr>
                <a:spLocks noChangeShapeType="1"/>
              </p:cNvSpPr>
              <p:nvPr/>
            </p:nvSpPr>
            <p:spPr bwMode="auto">
              <a:xfrm flipH="1">
                <a:off x="1325" y="2825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09" name="Freeform 944"/>
              <p:cNvSpPr>
                <a:spLocks/>
              </p:cNvSpPr>
              <p:nvPr/>
            </p:nvSpPr>
            <p:spPr bwMode="auto">
              <a:xfrm>
                <a:off x="1328" y="2997"/>
                <a:ext cx="280" cy="71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0" name="Freeform 945"/>
              <p:cNvSpPr>
                <a:spLocks/>
              </p:cNvSpPr>
              <p:nvPr/>
            </p:nvSpPr>
            <p:spPr bwMode="auto">
              <a:xfrm>
                <a:off x="1370" y="2971"/>
                <a:ext cx="238" cy="59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1" name="Freeform 946"/>
              <p:cNvSpPr>
                <a:spLocks/>
              </p:cNvSpPr>
              <p:nvPr/>
            </p:nvSpPr>
            <p:spPr bwMode="auto">
              <a:xfrm>
                <a:off x="1608" y="2824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2" name="Freeform 947"/>
              <p:cNvSpPr>
                <a:spLocks/>
              </p:cNvSpPr>
              <p:nvPr/>
            </p:nvSpPr>
            <p:spPr bwMode="auto">
              <a:xfrm>
                <a:off x="1608" y="2825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3" name="Line 948"/>
              <p:cNvSpPr>
                <a:spLocks noChangeShapeType="1"/>
              </p:cNvSpPr>
              <p:nvPr/>
            </p:nvSpPr>
            <p:spPr bwMode="auto">
              <a:xfrm>
                <a:off x="1608" y="2825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4" name="Freeform 949"/>
              <p:cNvSpPr>
                <a:spLocks/>
              </p:cNvSpPr>
              <p:nvPr/>
            </p:nvSpPr>
            <p:spPr bwMode="auto">
              <a:xfrm>
                <a:off x="1634" y="2020"/>
                <a:ext cx="13" cy="798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3" y="0"/>
                    </a:move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3"/>
                    </a:lnTo>
                    <a:lnTo>
                      <a:pt x="3" y="200"/>
                    </a:lnTo>
                    <a:lnTo>
                      <a:pt x="3" y="223"/>
                    </a:lnTo>
                    <a:lnTo>
                      <a:pt x="3" y="246"/>
                    </a:lnTo>
                    <a:lnTo>
                      <a:pt x="3" y="265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60"/>
                    </a:lnTo>
                    <a:lnTo>
                      <a:pt x="3" y="1289"/>
                    </a:lnTo>
                    <a:lnTo>
                      <a:pt x="3" y="1315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4"/>
                    </a:lnTo>
                    <a:lnTo>
                      <a:pt x="3" y="2335"/>
                    </a:lnTo>
                    <a:lnTo>
                      <a:pt x="3" y="2364"/>
                    </a:lnTo>
                    <a:lnTo>
                      <a:pt x="3" y="2390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lnTo>
                      <a:pt x="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15" name="Freeform 950"/>
              <p:cNvSpPr>
                <a:spLocks/>
              </p:cNvSpPr>
              <p:nvPr/>
            </p:nvSpPr>
            <p:spPr bwMode="auto">
              <a:xfrm>
                <a:off x="1620" y="2020"/>
                <a:ext cx="15" cy="8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90"/>
                    </a:lnTo>
                    <a:lnTo>
                      <a:pt x="60" y="2364"/>
                    </a:lnTo>
                    <a:lnTo>
                      <a:pt x="60" y="2335"/>
                    </a:lnTo>
                    <a:lnTo>
                      <a:pt x="60" y="2304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5"/>
                    </a:lnTo>
                    <a:lnTo>
                      <a:pt x="60" y="1289"/>
                    </a:lnTo>
                    <a:lnTo>
                      <a:pt x="60" y="1260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5"/>
                    </a:lnTo>
                    <a:lnTo>
                      <a:pt x="60" y="246"/>
                    </a:lnTo>
                    <a:lnTo>
                      <a:pt x="60" y="223"/>
                    </a:lnTo>
                    <a:lnTo>
                      <a:pt x="60" y="200"/>
                    </a:lnTo>
                    <a:lnTo>
                      <a:pt x="60" y="173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16" name="Freeform 951"/>
              <p:cNvSpPr>
                <a:spLocks/>
              </p:cNvSpPr>
              <p:nvPr/>
            </p:nvSpPr>
            <p:spPr bwMode="auto">
              <a:xfrm>
                <a:off x="1597" y="2020"/>
                <a:ext cx="25" cy="808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4"/>
                    </a:lnTo>
                    <a:lnTo>
                      <a:pt x="0" y="247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6"/>
                    </a:lnTo>
                    <a:lnTo>
                      <a:pt x="0" y="1302"/>
                    </a:lnTo>
                    <a:lnTo>
                      <a:pt x="0" y="1310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6"/>
                    </a:lnTo>
                    <a:lnTo>
                      <a:pt x="0" y="2365"/>
                    </a:lnTo>
                    <a:lnTo>
                      <a:pt x="0" y="2383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17" name="Freeform 952"/>
              <p:cNvSpPr>
                <a:spLocks/>
              </p:cNvSpPr>
              <p:nvPr/>
            </p:nvSpPr>
            <p:spPr bwMode="auto">
              <a:xfrm>
                <a:off x="1541" y="2020"/>
                <a:ext cx="59" cy="808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7"/>
                    </a:lnTo>
                    <a:lnTo>
                      <a:pt x="226" y="204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3"/>
                    </a:lnTo>
                    <a:lnTo>
                      <a:pt x="226" y="2365"/>
                    </a:lnTo>
                    <a:lnTo>
                      <a:pt x="226" y="2326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10"/>
                    </a:lnTo>
                    <a:lnTo>
                      <a:pt x="226" y="1302"/>
                    </a:lnTo>
                    <a:lnTo>
                      <a:pt x="226" y="1256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18" name="Line 953"/>
              <p:cNvSpPr>
                <a:spLocks noChangeShapeType="1"/>
              </p:cNvSpPr>
              <p:nvPr/>
            </p:nvSpPr>
            <p:spPr bwMode="auto">
              <a:xfrm>
                <a:off x="1541" y="2020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19" name="Line 954"/>
              <p:cNvSpPr>
                <a:spLocks noChangeShapeType="1"/>
              </p:cNvSpPr>
              <p:nvPr/>
            </p:nvSpPr>
            <p:spPr bwMode="auto">
              <a:xfrm>
                <a:off x="1647" y="2020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0" name="Freeform 955"/>
              <p:cNvSpPr>
                <a:spLocks/>
              </p:cNvSpPr>
              <p:nvPr/>
            </p:nvSpPr>
            <p:spPr bwMode="auto">
              <a:xfrm>
                <a:off x="1608" y="1706"/>
                <a:ext cx="324" cy="106"/>
              </a:xfrm>
              <a:custGeom>
                <a:avLst/>
                <a:gdLst>
                  <a:gd name="T0" fmla="*/ 0 w 1298"/>
                  <a:gd name="T1" fmla="*/ 0 h 425"/>
                  <a:gd name="T2" fmla="*/ 0 w 1298"/>
                  <a:gd name="T3" fmla="*/ 0 h 425"/>
                  <a:gd name="T4" fmla="*/ 0 w 1298"/>
                  <a:gd name="T5" fmla="*/ 0 h 425"/>
                  <a:gd name="T6" fmla="*/ 0 w 1298"/>
                  <a:gd name="T7" fmla="*/ 0 h 425"/>
                  <a:gd name="T8" fmla="*/ 0 w 1298"/>
                  <a:gd name="T9" fmla="*/ 0 h 425"/>
                  <a:gd name="T10" fmla="*/ 0 w 1298"/>
                  <a:gd name="T11" fmla="*/ 0 h 425"/>
                  <a:gd name="T12" fmla="*/ 0 w 1298"/>
                  <a:gd name="T13" fmla="*/ 0 h 425"/>
                  <a:gd name="T14" fmla="*/ 0 w 1298"/>
                  <a:gd name="T15" fmla="*/ 0 h 425"/>
                  <a:gd name="T16" fmla="*/ 0 w 1298"/>
                  <a:gd name="T17" fmla="*/ 0 h 425"/>
                  <a:gd name="T18" fmla="*/ 0 w 1298"/>
                  <a:gd name="T19" fmla="*/ 0 h 425"/>
                  <a:gd name="T20" fmla="*/ 0 w 1298"/>
                  <a:gd name="T21" fmla="*/ 0 h 425"/>
                  <a:gd name="T22" fmla="*/ 0 w 1298"/>
                  <a:gd name="T23" fmla="*/ 0 h 425"/>
                  <a:gd name="T24" fmla="*/ 0 w 1298"/>
                  <a:gd name="T25" fmla="*/ 0 h 425"/>
                  <a:gd name="T26" fmla="*/ 0 w 1298"/>
                  <a:gd name="T27" fmla="*/ 0 h 425"/>
                  <a:gd name="T28" fmla="*/ 0 w 1298"/>
                  <a:gd name="T29" fmla="*/ 0 h 425"/>
                  <a:gd name="T30" fmla="*/ 0 w 1298"/>
                  <a:gd name="T31" fmla="*/ 0 h 425"/>
                  <a:gd name="T32" fmla="*/ 0 w 1298"/>
                  <a:gd name="T33" fmla="*/ 0 h 425"/>
                  <a:gd name="T34" fmla="*/ 0 w 1298"/>
                  <a:gd name="T35" fmla="*/ 0 h 425"/>
                  <a:gd name="T36" fmla="*/ 0 w 1298"/>
                  <a:gd name="T37" fmla="*/ 0 h 425"/>
                  <a:gd name="T38" fmla="*/ 0 w 1298"/>
                  <a:gd name="T39" fmla="*/ 0 h 425"/>
                  <a:gd name="T40" fmla="*/ 0 w 1298"/>
                  <a:gd name="T41" fmla="*/ 0 h 425"/>
                  <a:gd name="T42" fmla="*/ 0 w 1298"/>
                  <a:gd name="T43" fmla="*/ 0 h 425"/>
                  <a:gd name="T44" fmla="*/ 0 w 1298"/>
                  <a:gd name="T45" fmla="*/ 0 h 425"/>
                  <a:gd name="T46" fmla="*/ 0 w 1298"/>
                  <a:gd name="T47" fmla="*/ 0 h 425"/>
                  <a:gd name="T48" fmla="*/ 0 w 1298"/>
                  <a:gd name="T49" fmla="*/ 0 h 425"/>
                  <a:gd name="T50" fmla="*/ 0 w 1298"/>
                  <a:gd name="T51" fmla="*/ 0 h 425"/>
                  <a:gd name="T52" fmla="*/ 0 w 1298"/>
                  <a:gd name="T53" fmla="*/ 0 h 425"/>
                  <a:gd name="T54" fmla="*/ 0 w 1298"/>
                  <a:gd name="T55" fmla="*/ 0 h 425"/>
                  <a:gd name="T56" fmla="*/ 0 w 1298"/>
                  <a:gd name="T57" fmla="*/ 0 h 425"/>
                  <a:gd name="T58" fmla="*/ 0 w 1298"/>
                  <a:gd name="T59" fmla="*/ 0 h 425"/>
                  <a:gd name="T60" fmla="*/ 0 w 1298"/>
                  <a:gd name="T61" fmla="*/ 0 h 425"/>
                  <a:gd name="T62" fmla="*/ 0 w 1298"/>
                  <a:gd name="T63" fmla="*/ 0 h 425"/>
                  <a:gd name="T64" fmla="*/ 0 w 1298"/>
                  <a:gd name="T65" fmla="*/ 0 h 425"/>
                  <a:gd name="T66" fmla="*/ 0 w 1298"/>
                  <a:gd name="T67" fmla="*/ 0 h 425"/>
                  <a:gd name="T68" fmla="*/ 0 w 1298"/>
                  <a:gd name="T69" fmla="*/ 0 h 425"/>
                  <a:gd name="T70" fmla="*/ 0 w 1298"/>
                  <a:gd name="T71" fmla="*/ 0 h 425"/>
                  <a:gd name="T72" fmla="*/ 0 w 1298"/>
                  <a:gd name="T73" fmla="*/ 0 h 425"/>
                  <a:gd name="T74" fmla="*/ 0 w 1298"/>
                  <a:gd name="T75" fmla="*/ 0 h 425"/>
                  <a:gd name="T76" fmla="*/ 0 w 1298"/>
                  <a:gd name="T77" fmla="*/ 0 h 425"/>
                  <a:gd name="T78" fmla="*/ 0 w 1298"/>
                  <a:gd name="T79" fmla="*/ 0 h 425"/>
                  <a:gd name="T80" fmla="*/ 0 w 1298"/>
                  <a:gd name="T81" fmla="*/ 0 h 425"/>
                  <a:gd name="T82" fmla="*/ 0 w 1298"/>
                  <a:gd name="T83" fmla="*/ 0 h 425"/>
                  <a:gd name="T84" fmla="*/ 0 w 1298"/>
                  <a:gd name="T85" fmla="*/ 0 h 425"/>
                  <a:gd name="T86" fmla="*/ 0 w 1298"/>
                  <a:gd name="T87" fmla="*/ 0 h 42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8"/>
                  <a:gd name="T133" fmla="*/ 0 h 425"/>
                  <a:gd name="T134" fmla="*/ 1298 w 1298"/>
                  <a:gd name="T135" fmla="*/ 425 h 42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8" h="425">
                    <a:moveTo>
                      <a:pt x="26" y="0"/>
                    </a:moveTo>
                    <a:lnTo>
                      <a:pt x="0" y="0"/>
                    </a:lnTo>
                    <a:lnTo>
                      <a:pt x="0" y="130"/>
                    </a:lnTo>
                    <a:lnTo>
                      <a:pt x="7" y="130"/>
                    </a:lnTo>
                    <a:lnTo>
                      <a:pt x="9" y="130"/>
                    </a:lnTo>
                    <a:lnTo>
                      <a:pt x="77" y="130"/>
                    </a:lnTo>
                    <a:lnTo>
                      <a:pt x="145" y="133"/>
                    </a:lnTo>
                    <a:lnTo>
                      <a:pt x="211" y="136"/>
                    </a:lnTo>
                    <a:lnTo>
                      <a:pt x="277" y="143"/>
                    </a:lnTo>
                    <a:lnTo>
                      <a:pt x="341" y="150"/>
                    </a:lnTo>
                    <a:lnTo>
                      <a:pt x="405" y="159"/>
                    </a:lnTo>
                    <a:lnTo>
                      <a:pt x="468" y="169"/>
                    </a:lnTo>
                    <a:lnTo>
                      <a:pt x="530" y="182"/>
                    </a:lnTo>
                    <a:lnTo>
                      <a:pt x="591" y="195"/>
                    </a:lnTo>
                    <a:lnTo>
                      <a:pt x="651" y="211"/>
                    </a:lnTo>
                    <a:lnTo>
                      <a:pt x="709" y="228"/>
                    </a:lnTo>
                    <a:lnTo>
                      <a:pt x="767" y="248"/>
                    </a:lnTo>
                    <a:lnTo>
                      <a:pt x="823" y="268"/>
                    </a:lnTo>
                    <a:lnTo>
                      <a:pt x="879" y="291"/>
                    </a:lnTo>
                    <a:lnTo>
                      <a:pt x="934" y="314"/>
                    </a:lnTo>
                    <a:lnTo>
                      <a:pt x="988" y="341"/>
                    </a:lnTo>
                    <a:lnTo>
                      <a:pt x="1130" y="417"/>
                    </a:lnTo>
                    <a:lnTo>
                      <a:pt x="1135" y="421"/>
                    </a:lnTo>
                    <a:lnTo>
                      <a:pt x="1142" y="425"/>
                    </a:lnTo>
                    <a:lnTo>
                      <a:pt x="1298" y="329"/>
                    </a:lnTo>
                    <a:lnTo>
                      <a:pt x="1285" y="321"/>
                    </a:lnTo>
                    <a:lnTo>
                      <a:pt x="1274" y="314"/>
                    </a:lnTo>
                    <a:lnTo>
                      <a:pt x="1169" y="258"/>
                    </a:lnTo>
                    <a:lnTo>
                      <a:pt x="1106" y="225"/>
                    </a:lnTo>
                    <a:lnTo>
                      <a:pt x="1043" y="196"/>
                    </a:lnTo>
                    <a:lnTo>
                      <a:pt x="978" y="169"/>
                    </a:lnTo>
                    <a:lnTo>
                      <a:pt x="913" y="144"/>
                    </a:lnTo>
                    <a:lnTo>
                      <a:pt x="846" y="121"/>
                    </a:lnTo>
                    <a:lnTo>
                      <a:pt x="778" y="100"/>
                    </a:lnTo>
                    <a:lnTo>
                      <a:pt x="708" y="81"/>
                    </a:lnTo>
                    <a:lnTo>
                      <a:pt x="638" y="64"/>
                    </a:lnTo>
                    <a:lnTo>
                      <a:pt x="565" y="49"/>
                    </a:lnTo>
                    <a:lnTo>
                      <a:pt x="491" y="36"/>
                    </a:lnTo>
                    <a:lnTo>
                      <a:pt x="416" y="25"/>
                    </a:lnTo>
                    <a:lnTo>
                      <a:pt x="341" y="16"/>
                    </a:lnTo>
                    <a:lnTo>
                      <a:pt x="264" y="9"/>
                    </a:lnTo>
                    <a:lnTo>
                      <a:pt x="186" y="4"/>
                    </a:lnTo>
                    <a:lnTo>
                      <a:pt x="106" y="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1" name="Freeform 956"/>
              <p:cNvSpPr>
                <a:spLocks/>
              </p:cNvSpPr>
              <p:nvPr/>
            </p:nvSpPr>
            <p:spPr bwMode="auto">
              <a:xfrm>
                <a:off x="1272" y="1706"/>
                <a:ext cx="336" cy="114"/>
              </a:xfrm>
              <a:custGeom>
                <a:avLst/>
                <a:gdLst>
                  <a:gd name="T0" fmla="*/ 0 w 1344"/>
                  <a:gd name="T1" fmla="*/ 0 h 460"/>
                  <a:gd name="T2" fmla="*/ 0 w 1344"/>
                  <a:gd name="T3" fmla="*/ 0 h 460"/>
                  <a:gd name="T4" fmla="*/ 0 w 1344"/>
                  <a:gd name="T5" fmla="*/ 0 h 460"/>
                  <a:gd name="T6" fmla="*/ 0 w 1344"/>
                  <a:gd name="T7" fmla="*/ 0 h 460"/>
                  <a:gd name="T8" fmla="*/ 0 w 1344"/>
                  <a:gd name="T9" fmla="*/ 0 h 460"/>
                  <a:gd name="T10" fmla="*/ 0 w 1344"/>
                  <a:gd name="T11" fmla="*/ 0 h 460"/>
                  <a:gd name="T12" fmla="*/ 0 w 1344"/>
                  <a:gd name="T13" fmla="*/ 0 h 460"/>
                  <a:gd name="T14" fmla="*/ 0 w 1344"/>
                  <a:gd name="T15" fmla="*/ 0 h 460"/>
                  <a:gd name="T16" fmla="*/ 0 w 1344"/>
                  <a:gd name="T17" fmla="*/ 0 h 460"/>
                  <a:gd name="T18" fmla="*/ 0 w 1344"/>
                  <a:gd name="T19" fmla="*/ 0 h 460"/>
                  <a:gd name="T20" fmla="*/ 0 w 1344"/>
                  <a:gd name="T21" fmla="*/ 0 h 460"/>
                  <a:gd name="T22" fmla="*/ 0 w 1344"/>
                  <a:gd name="T23" fmla="*/ 0 h 460"/>
                  <a:gd name="T24" fmla="*/ 0 w 1344"/>
                  <a:gd name="T25" fmla="*/ 0 h 460"/>
                  <a:gd name="T26" fmla="*/ 0 w 1344"/>
                  <a:gd name="T27" fmla="*/ 0 h 460"/>
                  <a:gd name="T28" fmla="*/ 0 w 1344"/>
                  <a:gd name="T29" fmla="*/ 0 h 460"/>
                  <a:gd name="T30" fmla="*/ 0 w 1344"/>
                  <a:gd name="T31" fmla="*/ 0 h 460"/>
                  <a:gd name="T32" fmla="*/ 0 w 1344"/>
                  <a:gd name="T33" fmla="*/ 0 h 460"/>
                  <a:gd name="T34" fmla="*/ 0 w 1344"/>
                  <a:gd name="T35" fmla="*/ 0 h 460"/>
                  <a:gd name="T36" fmla="*/ 0 w 1344"/>
                  <a:gd name="T37" fmla="*/ 0 h 460"/>
                  <a:gd name="T38" fmla="*/ 0 w 1344"/>
                  <a:gd name="T39" fmla="*/ 0 h 460"/>
                  <a:gd name="T40" fmla="*/ 0 w 1344"/>
                  <a:gd name="T41" fmla="*/ 0 h 460"/>
                  <a:gd name="T42" fmla="*/ 0 w 1344"/>
                  <a:gd name="T43" fmla="*/ 0 h 460"/>
                  <a:gd name="T44" fmla="*/ 0 w 1344"/>
                  <a:gd name="T45" fmla="*/ 0 h 460"/>
                  <a:gd name="T46" fmla="*/ 0 w 1344"/>
                  <a:gd name="T47" fmla="*/ 0 h 460"/>
                  <a:gd name="T48" fmla="*/ 0 w 1344"/>
                  <a:gd name="T49" fmla="*/ 0 h 460"/>
                  <a:gd name="T50" fmla="*/ 0 w 1344"/>
                  <a:gd name="T51" fmla="*/ 0 h 460"/>
                  <a:gd name="T52" fmla="*/ 0 w 1344"/>
                  <a:gd name="T53" fmla="*/ 0 h 460"/>
                  <a:gd name="T54" fmla="*/ 0 w 1344"/>
                  <a:gd name="T55" fmla="*/ 0 h 460"/>
                  <a:gd name="T56" fmla="*/ 0 w 1344"/>
                  <a:gd name="T57" fmla="*/ 0 h 460"/>
                  <a:gd name="T58" fmla="*/ 0 w 1344"/>
                  <a:gd name="T59" fmla="*/ 0 h 460"/>
                  <a:gd name="T60" fmla="*/ 0 w 1344"/>
                  <a:gd name="T61" fmla="*/ 0 h 460"/>
                  <a:gd name="T62" fmla="*/ 0 w 1344"/>
                  <a:gd name="T63" fmla="*/ 0 h 460"/>
                  <a:gd name="T64" fmla="*/ 0 w 1344"/>
                  <a:gd name="T65" fmla="*/ 0 h 460"/>
                  <a:gd name="T66" fmla="*/ 0 w 1344"/>
                  <a:gd name="T67" fmla="*/ 0 h 460"/>
                  <a:gd name="T68" fmla="*/ 0 w 1344"/>
                  <a:gd name="T69" fmla="*/ 0 h 460"/>
                  <a:gd name="T70" fmla="*/ 0 w 1344"/>
                  <a:gd name="T71" fmla="*/ 0 h 460"/>
                  <a:gd name="T72" fmla="*/ 0 w 1344"/>
                  <a:gd name="T73" fmla="*/ 0 h 460"/>
                  <a:gd name="T74" fmla="*/ 0 w 1344"/>
                  <a:gd name="T75" fmla="*/ 0 h 460"/>
                  <a:gd name="T76" fmla="*/ 0 w 1344"/>
                  <a:gd name="T77" fmla="*/ 0 h 460"/>
                  <a:gd name="T78" fmla="*/ 0 w 1344"/>
                  <a:gd name="T79" fmla="*/ 0 h 460"/>
                  <a:gd name="T80" fmla="*/ 0 w 1344"/>
                  <a:gd name="T81" fmla="*/ 0 h 4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44"/>
                  <a:gd name="T124" fmla="*/ 0 h 460"/>
                  <a:gd name="T125" fmla="*/ 1344 w 1344"/>
                  <a:gd name="T126" fmla="*/ 460 h 4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44" h="460">
                    <a:moveTo>
                      <a:pt x="1344" y="130"/>
                    </a:moveTo>
                    <a:lnTo>
                      <a:pt x="1344" y="0"/>
                    </a:ln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  <a:lnTo>
                      <a:pt x="163" y="460"/>
                    </a:lnTo>
                    <a:lnTo>
                      <a:pt x="190" y="442"/>
                    </a:lnTo>
                    <a:lnTo>
                      <a:pt x="219" y="425"/>
                    </a:lnTo>
                    <a:lnTo>
                      <a:pt x="314" y="370"/>
                    </a:lnTo>
                    <a:lnTo>
                      <a:pt x="368" y="339"/>
                    </a:lnTo>
                    <a:lnTo>
                      <a:pt x="425" y="312"/>
                    </a:lnTo>
                    <a:lnTo>
                      <a:pt x="482" y="287"/>
                    </a:lnTo>
                    <a:lnTo>
                      <a:pt x="542" y="264"/>
                    </a:lnTo>
                    <a:lnTo>
                      <a:pt x="601" y="241"/>
                    </a:lnTo>
                    <a:lnTo>
                      <a:pt x="663" y="222"/>
                    </a:lnTo>
                    <a:lnTo>
                      <a:pt x="725" y="204"/>
                    </a:lnTo>
                    <a:lnTo>
                      <a:pt x="791" y="189"/>
                    </a:lnTo>
                    <a:lnTo>
                      <a:pt x="855" y="174"/>
                    </a:lnTo>
                    <a:lnTo>
                      <a:pt x="922" y="162"/>
                    </a:lnTo>
                    <a:lnTo>
                      <a:pt x="989" y="151"/>
                    </a:lnTo>
                    <a:lnTo>
                      <a:pt x="1058" y="144"/>
                    </a:lnTo>
                    <a:lnTo>
                      <a:pt x="1127" y="137"/>
                    </a:lnTo>
                    <a:lnTo>
                      <a:pt x="1198" y="133"/>
                    </a:lnTo>
                    <a:lnTo>
                      <a:pt x="1270" y="130"/>
                    </a:lnTo>
                    <a:lnTo>
                      <a:pt x="1344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2" name="Freeform 957"/>
              <p:cNvSpPr>
                <a:spLocks/>
              </p:cNvSpPr>
              <p:nvPr/>
            </p:nvSpPr>
            <p:spPr bwMode="auto">
              <a:xfrm>
                <a:off x="1608" y="1738"/>
                <a:ext cx="285" cy="97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29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3" name="Freeform 958"/>
              <p:cNvSpPr>
                <a:spLocks/>
              </p:cNvSpPr>
              <p:nvPr/>
            </p:nvSpPr>
            <p:spPr bwMode="auto">
              <a:xfrm>
                <a:off x="1608" y="1770"/>
                <a:ext cx="247" cy="89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2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4" name="Freeform 959"/>
              <p:cNvSpPr>
                <a:spLocks/>
              </p:cNvSpPr>
              <p:nvPr/>
            </p:nvSpPr>
            <p:spPr bwMode="auto">
              <a:xfrm>
                <a:off x="1608" y="1802"/>
                <a:ext cx="209" cy="8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5" name="Freeform 960"/>
              <p:cNvSpPr>
                <a:spLocks/>
              </p:cNvSpPr>
              <p:nvPr/>
            </p:nvSpPr>
            <p:spPr bwMode="auto">
              <a:xfrm>
                <a:off x="1351" y="1770"/>
                <a:ext cx="257" cy="95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8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6" name="Freeform 961"/>
              <p:cNvSpPr>
                <a:spLocks/>
              </p:cNvSpPr>
              <p:nvPr/>
            </p:nvSpPr>
            <p:spPr bwMode="auto">
              <a:xfrm>
                <a:off x="1312" y="1738"/>
                <a:ext cx="296" cy="104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5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7" name="Freeform 962"/>
              <p:cNvSpPr>
                <a:spLocks noEditPoints="1"/>
              </p:cNvSpPr>
              <p:nvPr/>
            </p:nvSpPr>
            <p:spPr bwMode="auto">
              <a:xfrm>
                <a:off x="1383" y="1836"/>
                <a:ext cx="449" cy="279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1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28" name="Freeform 963"/>
              <p:cNvSpPr>
                <a:spLocks/>
              </p:cNvSpPr>
              <p:nvPr/>
            </p:nvSpPr>
            <p:spPr bwMode="auto">
              <a:xfrm>
                <a:off x="1608" y="198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29" name="Freeform 964"/>
              <p:cNvSpPr>
                <a:spLocks/>
              </p:cNvSpPr>
              <p:nvPr/>
            </p:nvSpPr>
            <p:spPr bwMode="auto">
              <a:xfrm>
                <a:off x="1608" y="198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0" name="Freeform 965"/>
              <p:cNvSpPr>
                <a:spLocks/>
              </p:cNvSpPr>
              <p:nvPr/>
            </p:nvSpPr>
            <p:spPr bwMode="auto">
              <a:xfrm>
                <a:off x="1391" y="1802"/>
                <a:ext cx="217" cy="86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1" name="Freeform 966"/>
              <p:cNvSpPr>
                <a:spLocks/>
              </p:cNvSpPr>
              <p:nvPr/>
            </p:nvSpPr>
            <p:spPr bwMode="auto">
              <a:xfrm>
                <a:off x="1893" y="1788"/>
                <a:ext cx="170" cy="200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2" name="Freeform 967"/>
              <p:cNvSpPr>
                <a:spLocks/>
              </p:cNvSpPr>
              <p:nvPr/>
            </p:nvSpPr>
            <p:spPr bwMode="auto">
              <a:xfrm>
                <a:off x="1833" y="1821"/>
                <a:ext cx="4" cy="2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3" name="Freeform 968"/>
              <p:cNvSpPr>
                <a:spLocks/>
              </p:cNvSpPr>
              <p:nvPr/>
            </p:nvSpPr>
            <p:spPr bwMode="auto">
              <a:xfrm>
                <a:off x="1836" y="1823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4" name="Freeform 969"/>
              <p:cNvSpPr>
                <a:spLocks/>
              </p:cNvSpPr>
              <p:nvPr/>
            </p:nvSpPr>
            <p:spPr bwMode="auto">
              <a:xfrm>
                <a:off x="1777" y="1859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5" name="Freeform 970"/>
              <p:cNvSpPr>
                <a:spLocks/>
              </p:cNvSpPr>
              <p:nvPr/>
            </p:nvSpPr>
            <p:spPr bwMode="auto">
              <a:xfrm>
                <a:off x="1817" y="1835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6" name="Freeform 971"/>
              <p:cNvSpPr>
                <a:spLocks/>
              </p:cNvSpPr>
              <p:nvPr/>
            </p:nvSpPr>
            <p:spPr bwMode="auto">
              <a:xfrm>
                <a:off x="1855" y="1812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332" name="Freeform 972"/>
              <p:cNvSpPr>
                <a:spLocks/>
              </p:cNvSpPr>
              <p:nvPr/>
            </p:nvSpPr>
            <p:spPr bwMode="auto">
              <a:xfrm>
                <a:off x="1898" y="1988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538" name="Freeform 973"/>
              <p:cNvSpPr>
                <a:spLocks/>
              </p:cNvSpPr>
              <p:nvPr/>
            </p:nvSpPr>
            <p:spPr bwMode="auto">
              <a:xfrm>
                <a:off x="1809" y="1988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0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7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39" name="Freeform 974"/>
              <p:cNvSpPr>
                <a:spLocks/>
              </p:cNvSpPr>
              <p:nvPr/>
            </p:nvSpPr>
            <p:spPr bwMode="auto">
              <a:xfrm>
                <a:off x="1765" y="1988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0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0" name="Freeform 975"/>
              <p:cNvSpPr>
                <a:spLocks/>
              </p:cNvSpPr>
              <p:nvPr/>
            </p:nvSpPr>
            <p:spPr bwMode="auto">
              <a:xfrm>
                <a:off x="1809" y="2099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1" name="Freeform 976"/>
              <p:cNvSpPr>
                <a:spLocks/>
              </p:cNvSpPr>
              <p:nvPr/>
            </p:nvSpPr>
            <p:spPr bwMode="auto">
              <a:xfrm>
                <a:off x="1608" y="2100"/>
                <a:ext cx="248" cy="92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2" name="Freeform 977"/>
              <p:cNvSpPr>
                <a:spLocks/>
              </p:cNvSpPr>
              <p:nvPr/>
            </p:nvSpPr>
            <p:spPr bwMode="auto">
              <a:xfrm>
                <a:off x="1608" y="2076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3" name="Freeform 978"/>
              <p:cNvSpPr>
                <a:spLocks/>
              </p:cNvSpPr>
              <p:nvPr/>
            </p:nvSpPr>
            <p:spPr bwMode="auto">
              <a:xfrm>
                <a:off x="1608" y="2127"/>
                <a:ext cx="290" cy="103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4" name="Freeform 979"/>
              <p:cNvSpPr>
                <a:spLocks/>
              </p:cNvSpPr>
              <p:nvPr/>
            </p:nvSpPr>
            <p:spPr bwMode="auto">
              <a:xfrm>
                <a:off x="1856" y="2126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340" name="Freeform 980"/>
              <p:cNvSpPr>
                <a:spLocks/>
              </p:cNvSpPr>
              <p:nvPr/>
            </p:nvSpPr>
            <p:spPr bwMode="auto">
              <a:xfrm>
                <a:off x="1608" y="2149"/>
                <a:ext cx="336" cy="121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546" name="Freeform 981"/>
              <p:cNvSpPr>
                <a:spLocks/>
              </p:cNvSpPr>
              <p:nvPr/>
            </p:nvSpPr>
            <p:spPr bwMode="auto">
              <a:xfrm>
                <a:off x="1856" y="1988"/>
                <a:ext cx="148" cy="162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7" name="Freeform 982"/>
              <p:cNvSpPr>
                <a:spLocks/>
              </p:cNvSpPr>
              <p:nvPr/>
            </p:nvSpPr>
            <p:spPr bwMode="auto">
              <a:xfrm>
                <a:off x="1370" y="2106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48" name="Freeform 983"/>
              <p:cNvSpPr>
                <a:spLocks/>
              </p:cNvSpPr>
              <p:nvPr/>
            </p:nvSpPr>
            <p:spPr bwMode="auto">
              <a:xfrm>
                <a:off x="1284" y="2160"/>
                <a:ext cx="324" cy="110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49" name="Freeform 984"/>
              <p:cNvSpPr>
                <a:spLocks/>
              </p:cNvSpPr>
              <p:nvPr/>
            </p:nvSpPr>
            <p:spPr bwMode="auto">
              <a:xfrm>
                <a:off x="1328" y="2134"/>
                <a:ext cx="280" cy="96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0" name="Freeform 985"/>
              <p:cNvSpPr>
                <a:spLocks/>
              </p:cNvSpPr>
              <p:nvPr/>
            </p:nvSpPr>
            <p:spPr bwMode="auto">
              <a:xfrm>
                <a:off x="1415" y="2081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1" name="Freeform 986"/>
              <p:cNvSpPr>
                <a:spLocks/>
              </p:cNvSpPr>
              <p:nvPr/>
            </p:nvSpPr>
            <p:spPr bwMode="auto">
              <a:xfrm>
                <a:off x="1153" y="1798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2" name="Freeform 987"/>
              <p:cNvSpPr>
                <a:spLocks/>
              </p:cNvSpPr>
              <p:nvPr/>
            </p:nvSpPr>
            <p:spPr bwMode="auto">
              <a:xfrm>
                <a:off x="1211" y="1820"/>
                <a:ext cx="140" cy="168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3" name="Freeform 988"/>
              <p:cNvSpPr>
                <a:spLocks/>
              </p:cNvSpPr>
              <p:nvPr/>
            </p:nvSpPr>
            <p:spPr bwMode="auto">
              <a:xfrm>
                <a:off x="1324" y="1865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4" name="Freeform 989"/>
              <p:cNvSpPr>
                <a:spLocks/>
              </p:cNvSpPr>
              <p:nvPr/>
            </p:nvSpPr>
            <p:spPr bwMode="auto">
              <a:xfrm>
                <a:off x="1266" y="1842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5" name="Freeform 990"/>
              <p:cNvSpPr>
                <a:spLocks/>
              </p:cNvSpPr>
              <p:nvPr/>
            </p:nvSpPr>
            <p:spPr bwMode="auto">
              <a:xfrm>
                <a:off x="1456" y="2080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6" name="Freeform 991"/>
              <p:cNvSpPr>
                <a:spLocks/>
              </p:cNvSpPr>
              <p:nvPr/>
            </p:nvSpPr>
            <p:spPr bwMode="auto">
              <a:xfrm>
                <a:off x="1325" y="1988"/>
                <a:ext cx="131" cy="118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5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7" name="Freeform 992"/>
              <p:cNvSpPr>
                <a:spLocks/>
              </p:cNvSpPr>
              <p:nvPr/>
            </p:nvSpPr>
            <p:spPr bwMode="auto">
              <a:xfrm>
                <a:off x="1266" y="1988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7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2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8" name="Freeform 993"/>
              <p:cNvSpPr>
                <a:spLocks/>
              </p:cNvSpPr>
              <p:nvPr/>
            </p:nvSpPr>
            <p:spPr bwMode="auto">
              <a:xfrm>
                <a:off x="1211" y="1988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2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59" name="Freeform 994"/>
              <p:cNvSpPr>
                <a:spLocks/>
              </p:cNvSpPr>
              <p:nvPr/>
            </p:nvSpPr>
            <p:spPr bwMode="auto">
              <a:xfrm>
                <a:off x="1152" y="1988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560" name="Freeform 995"/>
              <p:cNvSpPr>
                <a:spLocks/>
              </p:cNvSpPr>
              <p:nvPr/>
            </p:nvSpPr>
            <p:spPr bwMode="auto">
              <a:xfrm>
                <a:off x="1608" y="1706"/>
                <a:ext cx="324" cy="82"/>
              </a:xfrm>
              <a:custGeom>
                <a:avLst/>
                <a:gdLst>
                  <a:gd name="T0" fmla="*/ 0 w 1298"/>
                  <a:gd name="T1" fmla="*/ 0 h 329"/>
                  <a:gd name="T2" fmla="*/ 0 w 1298"/>
                  <a:gd name="T3" fmla="*/ 0 h 329"/>
                  <a:gd name="T4" fmla="*/ 0 w 1298"/>
                  <a:gd name="T5" fmla="*/ 0 h 329"/>
                  <a:gd name="T6" fmla="*/ 0 w 1298"/>
                  <a:gd name="T7" fmla="*/ 0 h 329"/>
                  <a:gd name="T8" fmla="*/ 0 w 1298"/>
                  <a:gd name="T9" fmla="*/ 0 h 329"/>
                  <a:gd name="T10" fmla="*/ 0 w 1298"/>
                  <a:gd name="T11" fmla="*/ 0 h 329"/>
                  <a:gd name="T12" fmla="*/ 0 w 1298"/>
                  <a:gd name="T13" fmla="*/ 0 h 329"/>
                  <a:gd name="T14" fmla="*/ 0 w 1298"/>
                  <a:gd name="T15" fmla="*/ 0 h 329"/>
                  <a:gd name="T16" fmla="*/ 0 w 1298"/>
                  <a:gd name="T17" fmla="*/ 0 h 329"/>
                  <a:gd name="T18" fmla="*/ 0 w 1298"/>
                  <a:gd name="T19" fmla="*/ 0 h 329"/>
                  <a:gd name="T20" fmla="*/ 0 w 1298"/>
                  <a:gd name="T21" fmla="*/ 0 h 329"/>
                  <a:gd name="T22" fmla="*/ 0 w 1298"/>
                  <a:gd name="T23" fmla="*/ 0 h 329"/>
                  <a:gd name="T24" fmla="*/ 0 w 1298"/>
                  <a:gd name="T25" fmla="*/ 0 h 329"/>
                  <a:gd name="T26" fmla="*/ 0 w 1298"/>
                  <a:gd name="T27" fmla="*/ 0 h 329"/>
                  <a:gd name="T28" fmla="*/ 0 w 1298"/>
                  <a:gd name="T29" fmla="*/ 0 h 329"/>
                  <a:gd name="T30" fmla="*/ 0 w 1298"/>
                  <a:gd name="T31" fmla="*/ 0 h 329"/>
                  <a:gd name="T32" fmla="*/ 0 w 1298"/>
                  <a:gd name="T33" fmla="*/ 0 h 329"/>
                  <a:gd name="T34" fmla="*/ 0 w 1298"/>
                  <a:gd name="T35" fmla="*/ 0 h 329"/>
                  <a:gd name="T36" fmla="*/ 0 w 1298"/>
                  <a:gd name="T37" fmla="*/ 0 h 329"/>
                  <a:gd name="T38" fmla="*/ 0 w 1298"/>
                  <a:gd name="T39" fmla="*/ 0 h 329"/>
                  <a:gd name="T40" fmla="*/ 0 w 1298"/>
                  <a:gd name="T41" fmla="*/ 0 h 32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298"/>
                  <a:gd name="T64" fmla="*/ 0 h 329"/>
                  <a:gd name="T65" fmla="*/ 1298 w 1298"/>
                  <a:gd name="T66" fmla="*/ 329 h 32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298" h="329">
                    <a:moveTo>
                      <a:pt x="0" y="0"/>
                    </a:moveTo>
                    <a:lnTo>
                      <a:pt x="26" y="0"/>
                    </a:lnTo>
                    <a:lnTo>
                      <a:pt x="106" y="1"/>
                    </a:lnTo>
                    <a:lnTo>
                      <a:pt x="186" y="4"/>
                    </a:lnTo>
                    <a:lnTo>
                      <a:pt x="264" y="9"/>
                    </a:lnTo>
                    <a:lnTo>
                      <a:pt x="341" y="16"/>
                    </a:lnTo>
                    <a:lnTo>
                      <a:pt x="416" y="25"/>
                    </a:lnTo>
                    <a:lnTo>
                      <a:pt x="491" y="36"/>
                    </a:lnTo>
                    <a:lnTo>
                      <a:pt x="565" y="49"/>
                    </a:lnTo>
                    <a:lnTo>
                      <a:pt x="638" y="64"/>
                    </a:lnTo>
                    <a:lnTo>
                      <a:pt x="708" y="81"/>
                    </a:lnTo>
                    <a:lnTo>
                      <a:pt x="778" y="100"/>
                    </a:lnTo>
                    <a:lnTo>
                      <a:pt x="846" y="121"/>
                    </a:lnTo>
                    <a:lnTo>
                      <a:pt x="913" y="144"/>
                    </a:lnTo>
                    <a:lnTo>
                      <a:pt x="978" y="169"/>
                    </a:lnTo>
                    <a:lnTo>
                      <a:pt x="1043" y="196"/>
                    </a:lnTo>
                    <a:lnTo>
                      <a:pt x="1106" y="225"/>
                    </a:lnTo>
                    <a:lnTo>
                      <a:pt x="1169" y="258"/>
                    </a:lnTo>
                    <a:lnTo>
                      <a:pt x="1274" y="314"/>
                    </a:lnTo>
                    <a:lnTo>
                      <a:pt x="1285" y="321"/>
                    </a:lnTo>
                    <a:lnTo>
                      <a:pt x="1298" y="32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1" name="Line 996"/>
              <p:cNvSpPr>
                <a:spLocks noChangeShapeType="1"/>
              </p:cNvSpPr>
              <p:nvPr/>
            </p:nvSpPr>
            <p:spPr bwMode="auto">
              <a:xfrm flipV="1">
                <a:off x="1608" y="1706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2" name="Freeform 997"/>
              <p:cNvSpPr>
                <a:spLocks/>
              </p:cNvSpPr>
              <p:nvPr/>
            </p:nvSpPr>
            <p:spPr bwMode="auto">
              <a:xfrm>
                <a:off x="1608" y="1738"/>
                <a:ext cx="285" cy="74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3" name="Freeform 998"/>
              <p:cNvSpPr>
                <a:spLocks/>
              </p:cNvSpPr>
              <p:nvPr/>
            </p:nvSpPr>
            <p:spPr bwMode="auto">
              <a:xfrm>
                <a:off x="1608" y="1802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4" name="Line 999"/>
              <p:cNvSpPr>
                <a:spLocks noChangeShapeType="1"/>
              </p:cNvSpPr>
              <p:nvPr/>
            </p:nvSpPr>
            <p:spPr bwMode="auto">
              <a:xfrm flipV="1">
                <a:off x="1608" y="1770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5" name="Freeform 1000"/>
              <p:cNvSpPr>
                <a:spLocks/>
              </p:cNvSpPr>
              <p:nvPr/>
            </p:nvSpPr>
            <p:spPr bwMode="auto">
              <a:xfrm>
                <a:off x="1608" y="1770"/>
                <a:ext cx="225" cy="51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2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6" name="Line 1001"/>
              <p:cNvSpPr>
                <a:spLocks noChangeShapeType="1"/>
              </p:cNvSpPr>
              <p:nvPr/>
            </p:nvSpPr>
            <p:spPr bwMode="auto">
              <a:xfrm flipV="1">
                <a:off x="1608" y="1738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7" name="Line 1002"/>
              <p:cNvSpPr>
                <a:spLocks noChangeShapeType="1"/>
              </p:cNvSpPr>
              <p:nvPr/>
            </p:nvSpPr>
            <p:spPr bwMode="auto">
              <a:xfrm>
                <a:off x="1153" y="198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8" name="Freeform 1003"/>
              <p:cNvSpPr>
                <a:spLocks/>
              </p:cNvSpPr>
              <p:nvPr/>
            </p:nvSpPr>
            <p:spPr bwMode="auto">
              <a:xfrm>
                <a:off x="1608" y="1836"/>
                <a:ext cx="169" cy="47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69" name="Line 1004"/>
              <p:cNvSpPr>
                <a:spLocks noChangeShapeType="1"/>
              </p:cNvSpPr>
              <p:nvPr/>
            </p:nvSpPr>
            <p:spPr bwMode="auto">
              <a:xfrm flipV="1">
                <a:off x="1608" y="1802"/>
                <a:ext cx="0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0" name="Line 1005"/>
              <p:cNvSpPr>
                <a:spLocks noChangeShapeType="1"/>
              </p:cNvSpPr>
              <p:nvPr/>
            </p:nvSpPr>
            <p:spPr bwMode="auto">
              <a:xfrm flipH="1">
                <a:off x="1893" y="1788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1" name="Freeform 1006"/>
              <p:cNvSpPr>
                <a:spLocks/>
              </p:cNvSpPr>
              <p:nvPr/>
            </p:nvSpPr>
            <p:spPr bwMode="auto">
              <a:xfrm>
                <a:off x="1836" y="1823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2" name="Line 1007"/>
              <p:cNvSpPr>
                <a:spLocks noChangeShapeType="1"/>
              </p:cNvSpPr>
              <p:nvPr/>
            </p:nvSpPr>
            <p:spPr bwMode="auto">
              <a:xfrm>
                <a:off x="1833" y="1821"/>
                <a:ext cx="3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3" name="Line 1008"/>
              <p:cNvSpPr>
                <a:spLocks noChangeShapeType="1"/>
              </p:cNvSpPr>
              <p:nvPr/>
            </p:nvSpPr>
            <p:spPr bwMode="auto">
              <a:xfrm>
                <a:off x="1836" y="1823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4" name="Freeform 1009"/>
              <p:cNvSpPr>
                <a:spLocks/>
              </p:cNvSpPr>
              <p:nvPr/>
            </p:nvSpPr>
            <p:spPr bwMode="auto">
              <a:xfrm>
                <a:off x="1836" y="1823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5" name="Line 1010"/>
              <p:cNvSpPr>
                <a:spLocks noChangeShapeType="1"/>
              </p:cNvSpPr>
              <p:nvPr/>
            </p:nvSpPr>
            <p:spPr bwMode="auto">
              <a:xfrm>
                <a:off x="1833" y="1821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6" name="Freeform 1011"/>
              <p:cNvSpPr>
                <a:spLocks/>
              </p:cNvSpPr>
              <p:nvPr/>
            </p:nvSpPr>
            <p:spPr bwMode="auto">
              <a:xfrm>
                <a:off x="1777" y="1883"/>
                <a:ext cx="55" cy="105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7" name="Line 1012"/>
              <p:cNvSpPr>
                <a:spLocks noChangeShapeType="1"/>
              </p:cNvSpPr>
              <p:nvPr/>
            </p:nvSpPr>
            <p:spPr bwMode="auto">
              <a:xfrm flipH="1">
                <a:off x="1817" y="1835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8" name="Freeform 1013"/>
              <p:cNvSpPr>
                <a:spLocks/>
              </p:cNvSpPr>
              <p:nvPr/>
            </p:nvSpPr>
            <p:spPr bwMode="auto">
              <a:xfrm>
                <a:off x="1855" y="1835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79" name="Freeform 1014"/>
              <p:cNvSpPr>
                <a:spLocks/>
              </p:cNvSpPr>
              <p:nvPr/>
            </p:nvSpPr>
            <p:spPr bwMode="auto">
              <a:xfrm>
                <a:off x="1817" y="1859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0" name="Line 1015"/>
              <p:cNvSpPr>
                <a:spLocks noChangeShapeType="1"/>
              </p:cNvSpPr>
              <p:nvPr/>
            </p:nvSpPr>
            <p:spPr bwMode="auto">
              <a:xfrm flipV="1">
                <a:off x="1855" y="1812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1" name="Line 1016"/>
              <p:cNvSpPr>
                <a:spLocks noChangeShapeType="1"/>
              </p:cNvSpPr>
              <p:nvPr/>
            </p:nvSpPr>
            <p:spPr bwMode="auto">
              <a:xfrm flipH="1">
                <a:off x="1777" y="1859"/>
                <a:ext cx="4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2" name="Freeform 1017"/>
              <p:cNvSpPr>
                <a:spLocks/>
              </p:cNvSpPr>
              <p:nvPr/>
            </p:nvSpPr>
            <p:spPr bwMode="auto">
              <a:xfrm>
                <a:off x="1932" y="1788"/>
                <a:ext cx="131" cy="200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3" name="Freeform 1018"/>
              <p:cNvSpPr>
                <a:spLocks/>
              </p:cNvSpPr>
              <p:nvPr/>
            </p:nvSpPr>
            <p:spPr bwMode="auto">
              <a:xfrm>
                <a:off x="1893" y="1812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4" name="Line 1019"/>
              <p:cNvSpPr>
                <a:spLocks noChangeShapeType="1"/>
              </p:cNvSpPr>
              <p:nvPr/>
            </p:nvSpPr>
            <p:spPr bwMode="auto">
              <a:xfrm>
                <a:off x="2004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5" name="Line 1020"/>
              <p:cNvSpPr>
                <a:spLocks noChangeShapeType="1"/>
              </p:cNvSpPr>
              <p:nvPr/>
            </p:nvSpPr>
            <p:spPr bwMode="auto">
              <a:xfrm>
                <a:off x="1890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6" name="Freeform 1021"/>
              <p:cNvSpPr>
                <a:spLocks/>
              </p:cNvSpPr>
              <p:nvPr/>
            </p:nvSpPr>
            <p:spPr bwMode="auto">
              <a:xfrm>
                <a:off x="1810" y="1988"/>
                <a:ext cx="80" cy="111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0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7" name="Freeform 1022"/>
              <p:cNvSpPr>
                <a:spLocks/>
              </p:cNvSpPr>
              <p:nvPr/>
            </p:nvSpPr>
            <p:spPr bwMode="auto">
              <a:xfrm>
                <a:off x="1765" y="1988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8" name="Line 1023"/>
              <p:cNvSpPr>
                <a:spLocks noChangeShapeType="1"/>
              </p:cNvSpPr>
              <p:nvPr/>
            </p:nvSpPr>
            <p:spPr bwMode="auto">
              <a:xfrm flipH="1">
                <a:off x="1809" y="2100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89" name="Freeform 1024"/>
              <p:cNvSpPr>
                <a:spLocks/>
              </p:cNvSpPr>
              <p:nvPr/>
            </p:nvSpPr>
            <p:spPr bwMode="auto">
              <a:xfrm>
                <a:off x="1608" y="2100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0" name="Line 1025"/>
              <p:cNvSpPr>
                <a:spLocks noChangeShapeType="1"/>
              </p:cNvSpPr>
              <p:nvPr/>
            </p:nvSpPr>
            <p:spPr bwMode="auto">
              <a:xfrm flipV="1">
                <a:off x="1809" y="2099"/>
                <a:ext cx="1" cy="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1" name="Freeform 1026"/>
              <p:cNvSpPr>
                <a:spLocks/>
              </p:cNvSpPr>
              <p:nvPr/>
            </p:nvSpPr>
            <p:spPr bwMode="auto">
              <a:xfrm>
                <a:off x="1608" y="2127"/>
                <a:ext cx="248" cy="65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2" name="Line 1027"/>
              <p:cNvSpPr>
                <a:spLocks noChangeShapeType="1"/>
              </p:cNvSpPr>
              <p:nvPr/>
            </p:nvSpPr>
            <p:spPr bwMode="auto">
              <a:xfrm flipH="1" flipV="1">
                <a:off x="1809" y="2100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3" name="Freeform 1028"/>
              <p:cNvSpPr>
                <a:spLocks/>
              </p:cNvSpPr>
              <p:nvPr/>
            </p:nvSpPr>
            <p:spPr bwMode="auto">
              <a:xfrm>
                <a:off x="1608" y="2150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4" name="Line 1029"/>
              <p:cNvSpPr>
                <a:spLocks noChangeShapeType="1"/>
              </p:cNvSpPr>
              <p:nvPr/>
            </p:nvSpPr>
            <p:spPr bwMode="auto">
              <a:xfrm flipH="1" flipV="1">
                <a:off x="1898" y="2150"/>
                <a:ext cx="46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5" name="Freeform 1030"/>
              <p:cNvSpPr>
                <a:spLocks/>
              </p:cNvSpPr>
              <p:nvPr/>
            </p:nvSpPr>
            <p:spPr bwMode="auto">
              <a:xfrm>
                <a:off x="1898" y="1988"/>
                <a:ext cx="106" cy="162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6" name="Freeform 1031"/>
              <p:cNvSpPr>
                <a:spLocks/>
              </p:cNvSpPr>
              <p:nvPr/>
            </p:nvSpPr>
            <p:spPr bwMode="auto">
              <a:xfrm>
                <a:off x="1608" y="2177"/>
                <a:ext cx="336" cy="93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7" name="Freeform 1032"/>
              <p:cNvSpPr>
                <a:spLocks/>
              </p:cNvSpPr>
              <p:nvPr/>
            </p:nvSpPr>
            <p:spPr bwMode="auto">
              <a:xfrm>
                <a:off x="1944" y="1988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8" name="Line 1033"/>
              <p:cNvSpPr>
                <a:spLocks noChangeShapeType="1"/>
              </p:cNvSpPr>
              <p:nvPr/>
            </p:nvSpPr>
            <p:spPr bwMode="auto">
              <a:xfrm>
                <a:off x="1856" y="2127"/>
                <a:ext cx="42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599" name="Freeform 1034"/>
              <p:cNvSpPr>
                <a:spLocks/>
              </p:cNvSpPr>
              <p:nvPr/>
            </p:nvSpPr>
            <p:spPr bwMode="auto">
              <a:xfrm>
                <a:off x="1856" y="1988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7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0" name="Line 1035"/>
              <p:cNvSpPr>
                <a:spLocks noChangeShapeType="1"/>
              </p:cNvSpPr>
              <p:nvPr/>
            </p:nvSpPr>
            <p:spPr bwMode="auto">
              <a:xfrm flipH="1">
                <a:off x="1831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1" name="Line 1036"/>
              <p:cNvSpPr>
                <a:spLocks noChangeShapeType="1"/>
              </p:cNvSpPr>
              <p:nvPr/>
            </p:nvSpPr>
            <p:spPr bwMode="auto">
              <a:xfrm flipH="1">
                <a:off x="1211" y="198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2" name="Line 1037"/>
              <p:cNvSpPr>
                <a:spLocks noChangeShapeType="1"/>
              </p:cNvSpPr>
              <p:nvPr/>
            </p:nvSpPr>
            <p:spPr bwMode="auto">
              <a:xfrm flipV="1">
                <a:off x="1608" y="2153"/>
                <a:ext cx="0" cy="39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3" name="Line 1038"/>
              <p:cNvSpPr>
                <a:spLocks noChangeShapeType="1"/>
              </p:cNvSpPr>
              <p:nvPr/>
            </p:nvSpPr>
            <p:spPr bwMode="auto">
              <a:xfrm flipV="1">
                <a:off x="1608" y="2230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4" name="Line 1039"/>
              <p:cNvSpPr>
                <a:spLocks noChangeShapeType="1"/>
              </p:cNvSpPr>
              <p:nvPr/>
            </p:nvSpPr>
            <p:spPr bwMode="auto">
              <a:xfrm flipV="1">
                <a:off x="1608" y="2192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5" name="Line 1040"/>
              <p:cNvSpPr>
                <a:spLocks noChangeShapeType="1"/>
              </p:cNvSpPr>
              <p:nvPr/>
            </p:nvSpPr>
            <p:spPr bwMode="auto">
              <a:xfrm flipV="1">
                <a:off x="1608" y="2115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6" name="Freeform 1041"/>
              <p:cNvSpPr>
                <a:spLocks/>
              </p:cNvSpPr>
              <p:nvPr/>
            </p:nvSpPr>
            <p:spPr bwMode="auto">
              <a:xfrm>
                <a:off x="1608" y="2076"/>
                <a:ext cx="157" cy="39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7" name="Line 1042"/>
              <p:cNvSpPr>
                <a:spLocks noChangeShapeType="1"/>
              </p:cNvSpPr>
              <p:nvPr/>
            </p:nvSpPr>
            <p:spPr bwMode="auto">
              <a:xfrm flipH="1" flipV="1">
                <a:off x="1765" y="2076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8" name="Line 1043"/>
              <p:cNvSpPr>
                <a:spLocks noChangeShapeType="1"/>
              </p:cNvSpPr>
              <p:nvPr/>
            </p:nvSpPr>
            <p:spPr bwMode="auto">
              <a:xfrm flipH="1">
                <a:off x="1949" y="1988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09" name="Freeform 1044"/>
              <p:cNvSpPr>
                <a:spLocks/>
              </p:cNvSpPr>
              <p:nvPr/>
            </p:nvSpPr>
            <p:spPr bwMode="auto">
              <a:xfrm>
                <a:off x="1284" y="2187"/>
                <a:ext cx="324" cy="83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0" name="Freeform 1045"/>
              <p:cNvSpPr>
                <a:spLocks/>
              </p:cNvSpPr>
              <p:nvPr/>
            </p:nvSpPr>
            <p:spPr bwMode="auto">
              <a:xfrm>
                <a:off x="1211" y="1820"/>
                <a:ext cx="101" cy="168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1" name="Freeform 1046"/>
              <p:cNvSpPr>
                <a:spLocks/>
              </p:cNvSpPr>
              <p:nvPr/>
            </p:nvSpPr>
            <p:spPr bwMode="auto">
              <a:xfrm>
                <a:off x="1153" y="1798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2" name="Freeform 1047"/>
              <p:cNvSpPr>
                <a:spLocks/>
              </p:cNvSpPr>
              <p:nvPr/>
            </p:nvSpPr>
            <p:spPr bwMode="auto">
              <a:xfrm>
                <a:off x="1312" y="1738"/>
                <a:ext cx="296" cy="82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3" name="Line 1048"/>
              <p:cNvSpPr>
                <a:spLocks noChangeShapeType="1"/>
              </p:cNvSpPr>
              <p:nvPr/>
            </p:nvSpPr>
            <p:spPr bwMode="auto">
              <a:xfrm>
                <a:off x="1272" y="1798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4" name="Freeform 1049"/>
              <p:cNvSpPr>
                <a:spLocks/>
              </p:cNvSpPr>
              <p:nvPr/>
            </p:nvSpPr>
            <p:spPr bwMode="auto">
              <a:xfrm>
                <a:off x="1272" y="1706"/>
                <a:ext cx="336" cy="92"/>
              </a:xfrm>
              <a:custGeom>
                <a:avLst/>
                <a:gdLst>
                  <a:gd name="T0" fmla="*/ 0 w 1344"/>
                  <a:gd name="T1" fmla="*/ 0 h 370"/>
                  <a:gd name="T2" fmla="*/ 0 w 1344"/>
                  <a:gd name="T3" fmla="*/ 0 h 370"/>
                  <a:gd name="T4" fmla="*/ 0 w 1344"/>
                  <a:gd name="T5" fmla="*/ 0 h 370"/>
                  <a:gd name="T6" fmla="*/ 0 w 1344"/>
                  <a:gd name="T7" fmla="*/ 0 h 370"/>
                  <a:gd name="T8" fmla="*/ 0 w 1344"/>
                  <a:gd name="T9" fmla="*/ 0 h 370"/>
                  <a:gd name="T10" fmla="*/ 0 w 1344"/>
                  <a:gd name="T11" fmla="*/ 0 h 370"/>
                  <a:gd name="T12" fmla="*/ 0 w 1344"/>
                  <a:gd name="T13" fmla="*/ 0 h 370"/>
                  <a:gd name="T14" fmla="*/ 0 w 1344"/>
                  <a:gd name="T15" fmla="*/ 0 h 370"/>
                  <a:gd name="T16" fmla="*/ 0 w 1344"/>
                  <a:gd name="T17" fmla="*/ 0 h 370"/>
                  <a:gd name="T18" fmla="*/ 0 w 1344"/>
                  <a:gd name="T19" fmla="*/ 0 h 370"/>
                  <a:gd name="T20" fmla="*/ 0 w 1344"/>
                  <a:gd name="T21" fmla="*/ 0 h 370"/>
                  <a:gd name="T22" fmla="*/ 0 w 1344"/>
                  <a:gd name="T23" fmla="*/ 0 h 370"/>
                  <a:gd name="T24" fmla="*/ 0 w 1344"/>
                  <a:gd name="T25" fmla="*/ 0 h 370"/>
                  <a:gd name="T26" fmla="*/ 0 w 1344"/>
                  <a:gd name="T27" fmla="*/ 0 h 370"/>
                  <a:gd name="T28" fmla="*/ 0 w 1344"/>
                  <a:gd name="T29" fmla="*/ 0 h 370"/>
                  <a:gd name="T30" fmla="*/ 0 w 1344"/>
                  <a:gd name="T31" fmla="*/ 0 h 370"/>
                  <a:gd name="T32" fmla="*/ 0 w 1344"/>
                  <a:gd name="T33" fmla="*/ 0 h 370"/>
                  <a:gd name="T34" fmla="*/ 0 w 1344"/>
                  <a:gd name="T35" fmla="*/ 0 h 370"/>
                  <a:gd name="T36" fmla="*/ 0 w 1344"/>
                  <a:gd name="T37" fmla="*/ 0 h 370"/>
                  <a:gd name="T38" fmla="*/ 0 w 1344"/>
                  <a:gd name="T39" fmla="*/ 0 h 3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4"/>
                  <a:gd name="T61" fmla="*/ 0 h 370"/>
                  <a:gd name="T62" fmla="*/ 1344 w 1344"/>
                  <a:gd name="T63" fmla="*/ 370 h 3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4" h="370">
                    <a:moveTo>
                      <a:pt x="1344" y="0"/>
                    </a:moveTo>
                    <a:lnTo>
                      <a:pt x="1305" y="0"/>
                    </a:lnTo>
                    <a:lnTo>
                      <a:pt x="1221" y="1"/>
                    </a:lnTo>
                    <a:lnTo>
                      <a:pt x="1139" y="5"/>
                    </a:lnTo>
                    <a:lnTo>
                      <a:pt x="1058" y="10"/>
                    </a:lnTo>
                    <a:lnTo>
                      <a:pt x="980" y="19"/>
                    </a:lnTo>
                    <a:lnTo>
                      <a:pt x="902" y="28"/>
                    </a:lnTo>
                    <a:lnTo>
                      <a:pt x="826" y="41"/>
                    </a:lnTo>
                    <a:lnTo>
                      <a:pt x="750" y="56"/>
                    </a:lnTo>
                    <a:lnTo>
                      <a:pt x="677" y="73"/>
                    </a:lnTo>
                    <a:lnTo>
                      <a:pt x="604" y="91"/>
                    </a:lnTo>
                    <a:lnTo>
                      <a:pt x="533" y="112"/>
                    </a:lnTo>
                    <a:lnTo>
                      <a:pt x="463" y="135"/>
                    </a:lnTo>
                    <a:lnTo>
                      <a:pt x="396" y="160"/>
                    </a:lnTo>
                    <a:lnTo>
                      <a:pt x="328" y="187"/>
                    </a:lnTo>
                    <a:lnTo>
                      <a:pt x="263" y="217"/>
                    </a:lnTo>
                    <a:lnTo>
                      <a:pt x="199" y="248"/>
                    </a:lnTo>
                    <a:lnTo>
                      <a:pt x="137" y="283"/>
                    </a:lnTo>
                    <a:lnTo>
                      <a:pt x="29" y="349"/>
                    </a:lnTo>
                    <a:lnTo>
                      <a:pt x="0" y="37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5" name="Freeform 1050"/>
              <p:cNvSpPr>
                <a:spLocks/>
              </p:cNvSpPr>
              <p:nvPr/>
            </p:nvSpPr>
            <p:spPr bwMode="auto">
              <a:xfrm>
                <a:off x="1324" y="1865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6" name="Freeform 1051"/>
              <p:cNvSpPr>
                <a:spLocks/>
              </p:cNvSpPr>
              <p:nvPr/>
            </p:nvSpPr>
            <p:spPr bwMode="auto">
              <a:xfrm>
                <a:off x="1266" y="1842"/>
                <a:ext cx="85" cy="146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7" name="Line 1052"/>
              <p:cNvSpPr>
                <a:spLocks noChangeShapeType="1"/>
              </p:cNvSpPr>
              <p:nvPr/>
            </p:nvSpPr>
            <p:spPr bwMode="auto">
              <a:xfrm>
                <a:off x="1391" y="1865"/>
                <a:ext cx="4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8" name="Freeform 1053"/>
              <p:cNvSpPr>
                <a:spLocks/>
              </p:cNvSpPr>
              <p:nvPr/>
            </p:nvSpPr>
            <p:spPr bwMode="auto">
              <a:xfrm>
                <a:off x="1391" y="1802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19" name="Freeform 1054"/>
              <p:cNvSpPr>
                <a:spLocks/>
              </p:cNvSpPr>
              <p:nvPr/>
            </p:nvSpPr>
            <p:spPr bwMode="auto">
              <a:xfrm>
                <a:off x="1351" y="1770"/>
                <a:ext cx="257" cy="72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8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0" name="Freeform 1055"/>
              <p:cNvSpPr>
                <a:spLocks/>
              </p:cNvSpPr>
              <p:nvPr/>
            </p:nvSpPr>
            <p:spPr bwMode="auto">
              <a:xfrm>
                <a:off x="1351" y="1842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1" name="Freeform 1056"/>
              <p:cNvSpPr>
                <a:spLocks/>
              </p:cNvSpPr>
              <p:nvPr/>
            </p:nvSpPr>
            <p:spPr bwMode="auto">
              <a:xfrm>
                <a:off x="1383" y="1888"/>
                <a:ext cx="49" cy="100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2" name="Line 1057"/>
              <p:cNvSpPr>
                <a:spLocks noChangeShapeType="1"/>
              </p:cNvSpPr>
              <p:nvPr/>
            </p:nvSpPr>
            <p:spPr bwMode="auto">
              <a:xfrm flipH="1" flipV="1">
                <a:off x="1351" y="1842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3" name="Line 1058"/>
              <p:cNvSpPr>
                <a:spLocks noChangeShapeType="1"/>
              </p:cNvSpPr>
              <p:nvPr/>
            </p:nvSpPr>
            <p:spPr bwMode="auto">
              <a:xfrm>
                <a:off x="1312" y="1820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4" name="Freeform 1059"/>
              <p:cNvSpPr>
                <a:spLocks/>
              </p:cNvSpPr>
              <p:nvPr/>
            </p:nvSpPr>
            <p:spPr bwMode="auto">
              <a:xfrm>
                <a:off x="1432" y="1836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5" name="Freeform 1060"/>
              <p:cNvSpPr>
                <a:spLocks/>
              </p:cNvSpPr>
              <p:nvPr/>
            </p:nvSpPr>
            <p:spPr bwMode="auto">
              <a:xfrm>
                <a:off x="1415" y="2081"/>
                <a:ext cx="42" cy="25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6" name="Freeform 1061"/>
              <p:cNvSpPr>
                <a:spLocks/>
              </p:cNvSpPr>
              <p:nvPr/>
            </p:nvSpPr>
            <p:spPr bwMode="auto">
              <a:xfrm>
                <a:off x="1415" y="2106"/>
                <a:ext cx="193" cy="47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7" name="Freeform 1062"/>
              <p:cNvSpPr>
                <a:spLocks/>
              </p:cNvSpPr>
              <p:nvPr/>
            </p:nvSpPr>
            <p:spPr bwMode="auto">
              <a:xfrm>
                <a:off x="1457" y="2081"/>
                <a:ext cx="151" cy="34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8" name="Freeform 1063"/>
              <p:cNvSpPr>
                <a:spLocks/>
              </p:cNvSpPr>
              <p:nvPr/>
            </p:nvSpPr>
            <p:spPr bwMode="auto">
              <a:xfrm>
                <a:off x="1383" y="1988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5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29" name="Freeform 1064"/>
              <p:cNvSpPr>
                <a:spLocks/>
              </p:cNvSpPr>
              <p:nvPr/>
            </p:nvSpPr>
            <p:spPr bwMode="auto">
              <a:xfrm>
                <a:off x="1266" y="1988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2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0" name="Freeform 1065"/>
              <p:cNvSpPr>
                <a:spLocks/>
              </p:cNvSpPr>
              <p:nvPr/>
            </p:nvSpPr>
            <p:spPr bwMode="auto">
              <a:xfrm>
                <a:off x="1325" y="1988"/>
                <a:ext cx="90" cy="118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7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1" name="Line 1066"/>
              <p:cNvSpPr>
                <a:spLocks noChangeShapeType="1"/>
              </p:cNvSpPr>
              <p:nvPr/>
            </p:nvSpPr>
            <p:spPr bwMode="auto">
              <a:xfrm flipH="1">
                <a:off x="1370" y="2106"/>
                <a:ext cx="45" cy="2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2" name="Line 1067"/>
              <p:cNvSpPr>
                <a:spLocks noChangeShapeType="1"/>
              </p:cNvSpPr>
              <p:nvPr/>
            </p:nvSpPr>
            <p:spPr bwMode="auto">
              <a:xfrm>
                <a:off x="1266" y="1988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3" name="Freeform 1068"/>
              <p:cNvSpPr>
                <a:spLocks/>
              </p:cNvSpPr>
              <p:nvPr/>
            </p:nvSpPr>
            <p:spPr bwMode="auto">
              <a:xfrm>
                <a:off x="1211" y="1988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4" name="Line 1069"/>
              <p:cNvSpPr>
                <a:spLocks noChangeShapeType="1"/>
              </p:cNvSpPr>
              <p:nvPr/>
            </p:nvSpPr>
            <p:spPr bwMode="auto">
              <a:xfrm flipH="1">
                <a:off x="1284" y="2160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5" name="Freeform 1070"/>
              <p:cNvSpPr>
                <a:spLocks/>
              </p:cNvSpPr>
              <p:nvPr/>
            </p:nvSpPr>
            <p:spPr bwMode="auto">
              <a:xfrm>
                <a:off x="1152" y="1988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8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6" name="Line 1071"/>
              <p:cNvSpPr>
                <a:spLocks noChangeShapeType="1"/>
              </p:cNvSpPr>
              <p:nvPr/>
            </p:nvSpPr>
            <p:spPr bwMode="auto">
              <a:xfrm flipH="1">
                <a:off x="1328" y="2134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7" name="Line 1072"/>
              <p:cNvSpPr>
                <a:spLocks noChangeShapeType="1"/>
              </p:cNvSpPr>
              <p:nvPr/>
            </p:nvSpPr>
            <p:spPr bwMode="auto">
              <a:xfrm flipH="1">
                <a:off x="1325" y="1988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8" name="Freeform 1073"/>
              <p:cNvSpPr>
                <a:spLocks/>
              </p:cNvSpPr>
              <p:nvPr/>
            </p:nvSpPr>
            <p:spPr bwMode="auto">
              <a:xfrm>
                <a:off x="1328" y="2160"/>
                <a:ext cx="280" cy="70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39" name="Freeform 1074"/>
              <p:cNvSpPr>
                <a:spLocks/>
              </p:cNvSpPr>
              <p:nvPr/>
            </p:nvSpPr>
            <p:spPr bwMode="auto">
              <a:xfrm>
                <a:off x="1370" y="2134"/>
                <a:ext cx="238" cy="58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0" name="Freeform 1075"/>
              <p:cNvSpPr>
                <a:spLocks/>
              </p:cNvSpPr>
              <p:nvPr/>
            </p:nvSpPr>
            <p:spPr bwMode="auto">
              <a:xfrm>
                <a:off x="1608" y="1987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1" name="Freeform 1076"/>
              <p:cNvSpPr>
                <a:spLocks/>
              </p:cNvSpPr>
              <p:nvPr/>
            </p:nvSpPr>
            <p:spPr bwMode="auto">
              <a:xfrm>
                <a:off x="1608" y="1988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2" name="Line 1077"/>
              <p:cNvSpPr>
                <a:spLocks noChangeShapeType="1"/>
              </p:cNvSpPr>
              <p:nvPr/>
            </p:nvSpPr>
            <p:spPr bwMode="auto">
              <a:xfrm>
                <a:off x="1608" y="198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3" name="Freeform 1078"/>
              <p:cNvSpPr>
                <a:spLocks/>
              </p:cNvSpPr>
              <p:nvPr/>
            </p:nvSpPr>
            <p:spPr bwMode="auto">
              <a:xfrm>
                <a:off x="1634" y="1197"/>
                <a:ext cx="13" cy="798"/>
              </a:xfrm>
              <a:custGeom>
                <a:avLst/>
                <a:gdLst>
                  <a:gd name="T0" fmla="*/ 0 w 51"/>
                  <a:gd name="T1" fmla="*/ 0 h 3191"/>
                  <a:gd name="T2" fmla="*/ 0 w 51"/>
                  <a:gd name="T3" fmla="*/ 0 h 3191"/>
                  <a:gd name="T4" fmla="*/ 0 w 51"/>
                  <a:gd name="T5" fmla="*/ 0 h 3191"/>
                  <a:gd name="T6" fmla="*/ 0 w 51"/>
                  <a:gd name="T7" fmla="*/ 0 h 3191"/>
                  <a:gd name="T8" fmla="*/ 0 w 51"/>
                  <a:gd name="T9" fmla="*/ 0 h 3191"/>
                  <a:gd name="T10" fmla="*/ 0 w 51"/>
                  <a:gd name="T11" fmla="*/ 0 h 3191"/>
                  <a:gd name="T12" fmla="*/ 0 w 51"/>
                  <a:gd name="T13" fmla="*/ 0 h 3191"/>
                  <a:gd name="T14" fmla="*/ 0 w 51"/>
                  <a:gd name="T15" fmla="*/ 0 h 3191"/>
                  <a:gd name="T16" fmla="*/ 0 w 51"/>
                  <a:gd name="T17" fmla="*/ 0 h 3191"/>
                  <a:gd name="T18" fmla="*/ 0 w 51"/>
                  <a:gd name="T19" fmla="*/ 0 h 3191"/>
                  <a:gd name="T20" fmla="*/ 0 w 51"/>
                  <a:gd name="T21" fmla="*/ 0 h 3191"/>
                  <a:gd name="T22" fmla="*/ 0 w 51"/>
                  <a:gd name="T23" fmla="*/ 0 h 3191"/>
                  <a:gd name="T24" fmla="*/ 0 w 51"/>
                  <a:gd name="T25" fmla="*/ 0 h 3191"/>
                  <a:gd name="T26" fmla="*/ 0 w 51"/>
                  <a:gd name="T27" fmla="*/ 0 h 3191"/>
                  <a:gd name="T28" fmla="*/ 0 w 51"/>
                  <a:gd name="T29" fmla="*/ 0 h 3191"/>
                  <a:gd name="T30" fmla="*/ 0 w 51"/>
                  <a:gd name="T31" fmla="*/ 0 h 3191"/>
                  <a:gd name="T32" fmla="*/ 0 w 51"/>
                  <a:gd name="T33" fmla="*/ 0 h 3191"/>
                  <a:gd name="T34" fmla="*/ 0 w 51"/>
                  <a:gd name="T35" fmla="*/ 0 h 3191"/>
                  <a:gd name="T36" fmla="*/ 0 w 51"/>
                  <a:gd name="T37" fmla="*/ 0 h 3191"/>
                  <a:gd name="T38" fmla="*/ 0 w 51"/>
                  <a:gd name="T39" fmla="*/ 0 h 3191"/>
                  <a:gd name="T40" fmla="*/ 0 w 51"/>
                  <a:gd name="T41" fmla="*/ 0 h 3191"/>
                  <a:gd name="T42" fmla="*/ 0 w 51"/>
                  <a:gd name="T43" fmla="*/ 0 h 3191"/>
                  <a:gd name="T44" fmla="*/ 0 w 51"/>
                  <a:gd name="T45" fmla="*/ 0 h 3191"/>
                  <a:gd name="T46" fmla="*/ 0 w 51"/>
                  <a:gd name="T47" fmla="*/ 0 h 3191"/>
                  <a:gd name="T48" fmla="*/ 0 w 51"/>
                  <a:gd name="T49" fmla="*/ 0 h 3191"/>
                  <a:gd name="T50" fmla="*/ 0 w 51"/>
                  <a:gd name="T51" fmla="*/ 0 h 3191"/>
                  <a:gd name="T52" fmla="*/ 0 w 51"/>
                  <a:gd name="T53" fmla="*/ 0 h 3191"/>
                  <a:gd name="T54" fmla="*/ 0 w 51"/>
                  <a:gd name="T55" fmla="*/ 0 h 3191"/>
                  <a:gd name="T56" fmla="*/ 0 w 51"/>
                  <a:gd name="T57" fmla="*/ 0 h 3191"/>
                  <a:gd name="T58" fmla="*/ 0 w 51"/>
                  <a:gd name="T59" fmla="*/ 0 h 3191"/>
                  <a:gd name="T60" fmla="*/ 0 w 51"/>
                  <a:gd name="T61" fmla="*/ 0 h 3191"/>
                  <a:gd name="T62" fmla="*/ 0 w 51"/>
                  <a:gd name="T63" fmla="*/ 0 h 3191"/>
                  <a:gd name="T64" fmla="*/ 0 w 51"/>
                  <a:gd name="T65" fmla="*/ 0 h 3191"/>
                  <a:gd name="T66" fmla="*/ 0 w 51"/>
                  <a:gd name="T67" fmla="*/ 0 h 3191"/>
                  <a:gd name="T68" fmla="*/ 0 w 51"/>
                  <a:gd name="T69" fmla="*/ 0 h 3191"/>
                  <a:gd name="T70" fmla="*/ 0 w 51"/>
                  <a:gd name="T71" fmla="*/ 0 h 3191"/>
                  <a:gd name="T72" fmla="*/ 0 w 51"/>
                  <a:gd name="T73" fmla="*/ 0 h 3191"/>
                  <a:gd name="T74" fmla="*/ 0 w 51"/>
                  <a:gd name="T75" fmla="*/ 0 h 3191"/>
                  <a:gd name="T76" fmla="*/ 0 w 51"/>
                  <a:gd name="T77" fmla="*/ 0 h 3191"/>
                  <a:gd name="T78" fmla="*/ 0 w 51"/>
                  <a:gd name="T79" fmla="*/ 0 h 3191"/>
                  <a:gd name="T80" fmla="*/ 0 w 51"/>
                  <a:gd name="T81" fmla="*/ 0 h 3191"/>
                  <a:gd name="T82" fmla="*/ 0 w 51"/>
                  <a:gd name="T83" fmla="*/ 0 h 3191"/>
                  <a:gd name="T84" fmla="*/ 0 w 51"/>
                  <a:gd name="T85" fmla="*/ 0 h 3191"/>
                  <a:gd name="T86" fmla="*/ 0 w 51"/>
                  <a:gd name="T87" fmla="*/ 0 h 3191"/>
                  <a:gd name="T88" fmla="*/ 0 w 51"/>
                  <a:gd name="T89" fmla="*/ 0 h 3191"/>
                  <a:gd name="T90" fmla="*/ 0 w 51"/>
                  <a:gd name="T91" fmla="*/ 0 h 3191"/>
                  <a:gd name="T92" fmla="*/ 0 w 51"/>
                  <a:gd name="T93" fmla="*/ 0 h 3191"/>
                  <a:gd name="T94" fmla="*/ 0 w 51"/>
                  <a:gd name="T95" fmla="*/ 0 h 3191"/>
                  <a:gd name="T96" fmla="*/ 0 w 51"/>
                  <a:gd name="T97" fmla="*/ 0 h 3191"/>
                  <a:gd name="T98" fmla="*/ 0 w 51"/>
                  <a:gd name="T99" fmla="*/ 0 h 3191"/>
                  <a:gd name="T100" fmla="*/ 0 w 51"/>
                  <a:gd name="T101" fmla="*/ 0 h 3191"/>
                  <a:gd name="T102" fmla="*/ 0 w 51"/>
                  <a:gd name="T103" fmla="*/ 0 h 3191"/>
                  <a:gd name="T104" fmla="*/ 0 w 51"/>
                  <a:gd name="T105" fmla="*/ 0 h 3191"/>
                  <a:gd name="T106" fmla="*/ 0 w 51"/>
                  <a:gd name="T107" fmla="*/ 0 h 3191"/>
                  <a:gd name="T108" fmla="*/ 0 w 51"/>
                  <a:gd name="T109" fmla="*/ 0 h 3191"/>
                  <a:gd name="T110" fmla="*/ 0 w 51"/>
                  <a:gd name="T111" fmla="*/ 0 h 3191"/>
                  <a:gd name="T112" fmla="*/ 0 w 51"/>
                  <a:gd name="T113" fmla="*/ 0 h 3191"/>
                  <a:gd name="T114" fmla="*/ 0 w 51"/>
                  <a:gd name="T115" fmla="*/ 0 h 3191"/>
                  <a:gd name="T116" fmla="*/ 0 w 51"/>
                  <a:gd name="T117" fmla="*/ 0 h 3191"/>
                  <a:gd name="T118" fmla="*/ 0 w 51"/>
                  <a:gd name="T119" fmla="*/ 0 h 3191"/>
                  <a:gd name="T120" fmla="*/ 0 w 51"/>
                  <a:gd name="T121" fmla="*/ 0 h 3191"/>
                  <a:gd name="T122" fmla="*/ 0 w 51"/>
                  <a:gd name="T123" fmla="*/ 0 h 3191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51"/>
                  <a:gd name="T187" fmla="*/ 0 h 3191"/>
                  <a:gd name="T188" fmla="*/ 51 w 51"/>
                  <a:gd name="T189" fmla="*/ 3191 h 3191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51" h="3191">
                    <a:moveTo>
                      <a:pt x="51" y="0"/>
                    </a:moveTo>
                    <a:lnTo>
                      <a:pt x="3" y="0"/>
                    </a:lnTo>
                    <a:lnTo>
                      <a:pt x="3" y="7"/>
                    </a:lnTo>
                    <a:lnTo>
                      <a:pt x="3" y="44"/>
                    </a:lnTo>
                    <a:lnTo>
                      <a:pt x="3" y="80"/>
                    </a:lnTo>
                    <a:lnTo>
                      <a:pt x="3" y="113"/>
                    </a:lnTo>
                    <a:lnTo>
                      <a:pt x="3" y="144"/>
                    </a:lnTo>
                    <a:lnTo>
                      <a:pt x="3" y="172"/>
                    </a:lnTo>
                    <a:lnTo>
                      <a:pt x="3" y="199"/>
                    </a:lnTo>
                    <a:lnTo>
                      <a:pt x="3" y="222"/>
                    </a:lnTo>
                    <a:lnTo>
                      <a:pt x="3" y="245"/>
                    </a:lnTo>
                    <a:lnTo>
                      <a:pt x="3" y="264"/>
                    </a:lnTo>
                    <a:lnTo>
                      <a:pt x="3" y="282"/>
                    </a:lnTo>
                    <a:lnTo>
                      <a:pt x="3" y="296"/>
                    </a:lnTo>
                    <a:lnTo>
                      <a:pt x="3" y="309"/>
                    </a:lnTo>
                    <a:lnTo>
                      <a:pt x="3" y="318"/>
                    </a:lnTo>
                    <a:lnTo>
                      <a:pt x="3" y="327"/>
                    </a:lnTo>
                    <a:lnTo>
                      <a:pt x="3" y="332"/>
                    </a:lnTo>
                    <a:lnTo>
                      <a:pt x="3" y="337"/>
                    </a:lnTo>
                    <a:lnTo>
                      <a:pt x="2" y="377"/>
                    </a:lnTo>
                    <a:lnTo>
                      <a:pt x="3" y="377"/>
                    </a:lnTo>
                    <a:lnTo>
                      <a:pt x="3" y="385"/>
                    </a:lnTo>
                    <a:lnTo>
                      <a:pt x="3" y="416"/>
                    </a:lnTo>
                    <a:lnTo>
                      <a:pt x="3" y="446"/>
                    </a:lnTo>
                    <a:lnTo>
                      <a:pt x="3" y="475"/>
                    </a:lnTo>
                    <a:lnTo>
                      <a:pt x="3" y="503"/>
                    </a:lnTo>
                    <a:lnTo>
                      <a:pt x="3" y="510"/>
                    </a:lnTo>
                    <a:lnTo>
                      <a:pt x="3" y="535"/>
                    </a:lnTo>
                    <a:lnTo>
                      <a:pt x="3" y="559"/>
                    </a:lnTo>
                    <a:lnTo>
                      <a:pt x="3" y="582"/>
                    </a:lnTo>
                    <a:lnTo>
                      <a:pt x="3" y="603"/>
                    </a:lnTo>
                    <a:lnTo>
                      <a:pt x="3" y="714"/>
                    </a:lnTo>
                    <a:lnTo>
                      <a:pt x="3" y="735"/>
                    </a:lnTo>
                    <a:lnTo>
                      <a:pt x="3" y="754"/>
                    </a:lnTo>
                    <a:lnTo>
                      <a:pt x="3" y="761"/>
                    </a:lnTo>
                    <a:lnTo>
                      <a:pt x="3" y="839"/>
                    </a:lnTo>
                    <a:lnTo>
                      <a:pt x="0" y="906"/>
                    </a:lnTo>
                    <a:lnTo>
                      <a:pt x="0" y="973"/>
                    </a:lnTo>
                    <a:lnTo>
                      <a:pt x="0" y="1039"/>
                    </a:lnTo>
                    <a:lnTo>
                      <a:pt x="2" y="1105"/>
                    </a:lnTo>
                    <a:lnTo>
                      <a:pt x="3" y="1105"/>
                    </a:lnTo>
                    <a:lnTo>
                      <a:pt x="3" y="1149"/>
                    </a:lnTo>
                    <a:lnTo>
                      <a:pt x="3" y="1189"/>
                    </a:lnTo>
                    <a:lnTo>
                      <a:pt x="3" y="1225"/>
                    </a:lnTo>
                    <a:lnTo>
                      <a:pt x="3" y="1259"/>
                    </a:lnTo>
                    <a:lnTo>
                      <a:pt x="3" y="1288"/>
                    </a:lnTo>
                    <a:lnTo>
                      <a:pt x="3" y="1314"/>
                    </a:lnTo>
                    <a:lnTo>
                      <a:pt x="3" y="1337"/>
                    </a:lnTo>
                    <a:lnTo>
                      <a:pt x="3" y="1357"/>
                    </a:lnTo>
                    <a:lnTo>
                      <a:pt x="3" y="1365"/>
                    </a:lnTo>
                    <a:lnTo>
                      <a:pt x="3" y="1393"/>
                    </a:lnTo>
                    <a:lnTo>
                      <a:pt x="3" y="1439"/>
                    </a:lnTo>
                    <a:lnTo>
                      <a:pt x="3" y="1482"/>
                    </a:lnTo>
                    <a:lnTo>
                      <a:pt x="3" y="1520"/>
                    </a:lnTo>
                    <a:lnTo>
                      <a:pt x="3" y="1556"/>
                    </a:lnTo>
                    <a:lnTo>
                      <a:pt x="3" y="1587"/>
                    </a:lnTo>
                    <a:lnTo>
                      <a:pt x="3" y="1615"/>
                    </a:lnTo>
                    <a:lnTo>
                      <a:pt x="3" y="1639"/>
                    </a:lnTo>
                    <a:lnTo>
                      <a:pt x="3" y="1659"/>
                    </a:lnTo>
                    <a:lnTo>
                      <a:pt x="3" y="1672"/>
                    </a:lnTo>
                    <a:lnTo>
                      <a:pt x="3" y="1682"/>
                    </a:lnTo>
                    <a:lnTo>
                      <a:pt x="3" y="1689"/>
                    </a:lnTo>
                    <a:lnTo>
                      <a:pt x="3" y="1694"/>
                    </a:lnTo>
                    <a:lnTo>
                      <a:pt x="1" y="1751"/>
                    </a:lnTo>
                    <a:lnTo>
                      <a:pt x="0" y="1809"/>
                    </a:lnTo>
                    <a:lnTo>
                      <a:pt x="3" y="1809"/>
                    </a:lnTo>
                    <a:lnTo>
                      <a:pt x="3" y="1817"/>
                    </a:lnTo>
                    <a:lnTo>
                      <a:pt x="3" y="1960"/>
                    </a:lnTo>
                    <a:lnTo>
                      <a:pt x="3" y="1993"/>
                    </a:lnTo>
                    <a:lnTo>
                      <a:pt x="3" y="2023"/>
                    </a:lnTo>
                    <a:lnTo>
                      <a:pt x="3" y="2050"/>
                    </a:lnTo>
                    <a:lnTo>
                      <a:pt x="3" y="2074"/>
                    </a:lnTo>
                    <a:lnTo>
                      <a:pt x="3" y="2094"/>
                    </a:lnTo>
                    <a:lnTo>
                      <a:pt x="3" y="2111"/>
                    </a:lnTo>
                    <a:lnTo>
                      <a:pt x="3" y="2125"/>
                    </a:lnTo>
                    <a:lnTo>
                      <a:pt x="3" y="2136"/>
                    </a:lnTo>
                    <a:lnTo>
                      <a:pt x="3" y="2143"/>
                    </a:lnTo>
                    <a:lnTo>
                      <a:pt x="3" y="2146"/>
                    </a:lnTo>
                    <a:lnTo>
                      <a:pt x="3" y="2189"/>
                    </a:lnTo>
                    <a:lnTo>
                      <a:pt x="3" y="2230"/>
                    </a:lnTo>
                    <a:lnTo>
                      <a:pt x="3" y="2268"/>
                    </a:lnTo>
                    <a:lnTo>
                      <a:pt x="3" y="2303"/>
                    </a:lnTo>
                    <a:lnTo>
                      <a:pt x="3" y="2334"/>
                    </a:lnTo>
                    <a:lnTo>
                      <a:pt x="3" y="2363"/>
                    </a:lnTo>
                    <a:lnTo>
                      <a:pt x="3" y="2389"/>
                    </a:lnTo>
                    <a:lnTo>
                      <a:pt x="3" y="2413"/>
                    </a:lnTo>
                    <a:lnTo>
                      <a:pt x="3" y="2425"/>
                    </a:lnTo>
                    <a:lnTo>
                      <a:pt x="3" y="2436"/>
                    </a:lnTo>
                    <a:lnTo>
                      <a:pt x="3" y="2454"/>
                    </a:lnTo>
                    <a:lnTo>
                      <a:pt x="3" y="2466"/>
                    </a:lnTo>
                    <a:lnTo>
                      <a:pt x="3" y="2470"/>
                    </a:lnTo>
                    <a:lnTo>
                      <a:pt x="3" y="2473"/>
                    </a:lnTo>
                    <a:lnTo>
                      <a:pt x="0" y="2589"/>
                    </a:lnTo>
                    <a:lnTo>
                      <a:pt x="3" y="2589"/>
                    </a:lnTo>
                    <a:lnTo>
                      <a:pt x="3" y="2596"/>
                    </a:lnTo>
                    <a:lnTo>
                      <a:pt x="3" y="2635"/>
                    </a:lnTo>
                    <a:lnTo>
                      <a:pt x="3" y="2672"/>
                    </a:lnTo>
                    <a:lnTo>
                      <a:pt x="3" y="2706"/>
                    </a:lnTo>
                    <a:lnTo>
                      <a:pt x="3" y="2739"/>
                    </a:lnTo>
                    <a:lnTo>
                      <a:pt x="3" y="2779"/>
                    </a:lnTo>
                    <a:lnTo>
                      <a:pt x="3" y="2815"/>
                    </a:lnTo>
                    <a:lnTo>
                      <a:pt x="3" y="2831"/>
                    </a:lnTo>
                    <a:lnTo>
                      <a:pt x="3" y="2846"/>
                    </a:lnTo>
                    <a:lnTo>
                      <a:pt x="3" y="2872"/>
                    </a:lnTo>
                    <a:lnTo>
                      <a:pt x="3" y="2892"/>
                    </a:lnTo>
                    <a:lnTo>
                      <a:pt x="3" y="2908"/>
                    </a:lnTo>
                    <a:lnTo>
                      <a:pt x="3" y="2914"/>
                    </a:lnTo>
                    <a:lnTo>
                      <a:pt x="3" y="2919"/>
                    </a:lnTo>
                    <a:lnTo>
                      <a:pt x="3" y="2925"/>
                    </a:lnTo>
                    <a:lnTo>
                      <a:pt x="0" y="2992"/>
                    </a:lnTo>
                    <a:lnTo>
                      <a:pt x="0" y="3059"/>
                    </a:lnTo>
                    <a:lnTo>
                      <a:pt x="0" y="3125"/>
                    </a:lnTo>
                    <a:lnTo>
                      <a:pt x="2" y="3191"/>
                    </a:lnTo>
                    <a:lnTo>
                      <a:pt x="10" y="3184"/>
                    </a:lnTo>
                    <a:lnTo>
                      <a:pt x="14" y="3180"/>
                    </a:lnTo>
                    <a:lnTo>
                      <a:pt x="16" y="3178"/>
                    </a:lnTo>
                    <a:lnTo>
                      <a:pt x="16" y="3177"/>
                    </a:lnTo>
                    <a:lnTo>
                      <a:pt x="17" y="3177"/>
                    </a:lnTo>
                    <a:lnTo>
                      <a:pt x="19" y="3177"/>
                    </a:lnTo>
                    <a:lnTo>
                      <a:pt x="26" y="3169"/>
                    </a:lnTo>
                    <a:lnTo>
                      <a:pt x="34" y="3161"/>
                    </a:lnTo>
                    <a:lnTo>
                      <a:pt x="39" y="3154"/>
                    </a:lnTo>
                    <a:lnTo>
                      <a:pt x="51" y="3129"/>
                    </a:lnTo>
                    <a:lnTo>
                      <a:pt x="5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44" name="Freeform 1079"/>
              <p:cNvSpPr>
                <a:spLocks/>
              </p:cNvSpPr>
              <p:nvPr/>
            </p:nvSpPr>
            <p:spPr bwMode="auto">
              <a:xfrm>
                <a:off x="1620" y="1197"/>
                <a:ext cx="15" cy="804"/>
              </a:xfrm>
              <a:custGeom>
                <a:avLst/>
                <a:gdLst>
                  <a:gd name="T0" fmla="*/ 0 w 60"/>
                  <a:gd name="T1" fmla="*/ 0 h 3216"/>
                  <a:gd name="T2" fmla="*/ 0 w 60"/>
                  <a:gd name="T3" fmla="*/ 0 h 3216"/>
                  <a:gd name="T4" fmla="*/ 0 w 60"/>
                  <a:gd name="T5" fmla="*/ 0 h 3216"/>
                  <a:gd name="T6" fmla="*/ 0 w 60"/>
                  <a:gd name="T7" fmla="*/ 0 h 3216"/>
                  <a:gd name="T8" fmla="*/ 0 w 60"/>
                  <a:gd name="T9" fmla="*/ 0 h 3216"/>
                  <a:gd name="T10" fmla="*/ 0 w 60"/>
                  <a:gd name="T11" fmla="*/ 0 h 3216"/>
                  <a:gd name="T12" fmla="*/ 0 w 60"/>
                  <a:gd name="T13" fmla="*/ 0 h 3216"/>
                  <a:gd name="T14" fmla="*/ 0 w 60"/>
                  <a:gd name="T15" fmla="*/ 0 h 3216"/>
                  <a:gd name="T16" fmla="*/ 0 w 60"/>
                  <a:gd name="T17" fmla="*/ 0 h 3216"/>
                  <a:gd name="T18" fmla="*/ 0 w 60"/>
                  <a:gd name="T19" fmla="*/ 0 h 3216"/>
                  <a:gd name="T20" fmla="*/ 0 w 60"/>
                  <a:gd name="T21" fmla="*/ 0 h 3216"/>
                  <a:gd name="T22" fmla="*/ 0 w 60"/>
                  <a:gd name="T23" fmla="*/ 0 h 3216"/>
                  <a:gd name="T24" fmla="*/ 0 w 60"/>
                  <a:gd name="T25" fmla="*/ 0 h 3216"/>
                  <a:gd name="T26" fmla="*/ 0 w 60"/>
                  <a:gd name="T27" fmla="*/ 0 h 3216"/>
                  <a:gd name="T28" fmla="*/ 0 w 60"/>
                  <a:gd name="T29" fmla="*/ 0 h 3216"/>
                  <a:gd name="T30" fmla="*/ 0 w 60"/>
                  <a:gd name="T31" fmla="*/ 0 h 3216"/>
                  <a:gd name="T32" fmla="*/ 0 w 60"/>
                  <a:gd name="T33" fmla="*/ 0 h 3216"/>
                  <a:gd name="T34" fmla="*/ 0 w 60"/>
                  <a:gd name="T35" fmla="*/ 0 h 3216"/>
                  <a:gd name="T36" fmla="*/ 0 w 60"/>
                  <a:gd name="T37" fmla="*/ 0 h 3216"/>
                  <a:gd name="T38" fmla="*/ 0 w 60"/>
                  <a:gd name="T39" fmla="*/ 0 h 3216"/>
                  <a:gd name="T40" fmla="*/ 0 w 60"/>
                  <a:gd name="T41" fmla="*/ 0 h 3216"/>
                  <a:gd name="T42" fmla="*/ 0 w 60"/>
                  <a:gd name="T43" fmla="*/ 0 h 3216"/>
                  <a:gd name="T44" fmla="*/ 0 w 60"/>
                  <a:gd name="T45" fmla="*/ 0 h 3216"/>
                  <a:gd name="T46" fmla="*/ 0 w 60"/>
                  <a:gd name="T47" fmla="*/ 0 h 3216"/>
                  <a:gd name="T48" fmla="*/ 0 w 60"/>
                  <a:gd name="T49" fmla="*/ 0 h 3216"/>
                  <a:gd name="T50" fmla="*/ 0 w 60"/>
                  <a:gd name="T51" fmla="*/ 0 h 3216"/>
                  <a:gd name="T52" fmla="*/ 0 w 60"/>
                  <a:gd name="T53" fmla="*/ 0 h 3216"/>
                  <a:gd name="T54" fmla="*/ 0 w 60"/>
                  <a:gd name="T55" fmla="*/ 0 h 3216"/>
                  <a:gd name="T56" fmla="*/ 0 w 60"/>
                  <a:gd name="T57" fmla="*/ 0 h 3216"/>
                  <a:gd name="T58" fmla="*/ 0 w 60"/>
                  <a:gd name="T59" fmla="*/ 0 h 3216"/>
                  <a:gd name="T60" fmla="*/ 0 w 60"/>
                  <a:gd name="T61" fmla="*/ 0 h 3216"/>
                  <a:gd name="T62" fmla="*/ 0 w 60"/>
                  <a:gd name="T63" fmla="*/ 0 h 3216"/>
                  <a:gd name="T64" fmla="*/ 0 w 60"/>
                  <a:gd name="T65" fmla="*/ 0 h 3216"/>
                  <a:gd name="T66" fmla="*/ 0 w 60"/>
                  <a:gd name="T67" fmla="*/ 0 h 3216"/>
                  <a:gd name="T68" fmla="*/ 0 w 60"/>
                  <a:gd name="T69" fmla="*/ 0 h 3216"/>
                  <a:gd name="T70" fmla="*/ 0 w 60"/>
                  <a:gd name="T71" fmla="*/ 0 h 3216"/>
                  <a:gd name="T72" fmla="*/ 0 w 60"/>
                  <a:gd name="T73" fmla="*/ 0 h 3216"/>
                  <a:gd name="T74" fmla="*/ 0 w 60"/>
                  <a:gd name="T75" fmla="*/ 0 h 3216"/>
                  <a:gd name="T76" fmla="*/ 0 w 60"/>
                  <a:gd name="T77" fmla="*/ 0 h 3216"/>
                  <a:gd name="T78" fmla="*/ 0 w 60"/>
                  <a:gd name="T79" fmla="*/ 0 h 3216"/>
                  <a:gd name="T80" fmla="*/ 0 w 60"/>
                  <a:gd name="T81" fmla="*/ 0 h 3216"/>
                  <a:gd name="T82" fmla="*/ 0 w 60"/>
                  <a:gd name="T83" fmla="*/ 0 h 3216"/>
                  <a:gd name="T84" fmla="*/ 0 w 60"/>
                  <a:gd name="T85" fmla="*/ 0 h 3216"/>
                  <a:gd name="T86" fmla="*/ 0 w 60"/>
                  <a:gd name="T87" fmla="*/ 0 h 3216"/>
                  <a:gd name="T88" fmla="*/ 0 w 60"/>
                  <a:gd name="T89" fmla="*/ 0 h 3216"/>
                  <a:gd name="T90" fmla="*/ 0 w 60"/>
                  <a:gd name="T91" fmla="*/ 0 h 3216"/>
                  <a:gd name="T92" fmla="*/ 0 w 60"/>
                  <a:gd name="T93" fmla="*/ 0 h 3216"/>
                  <a:gd name="T94" fmla="*/ 0 w 60"/>
                  <a:gd name="T95" fmla="*/ 0 h 3216"/>
                  <a:gd name="T96" fmla="*/ 0 w 60"/>
                  <a:gd name="T97" fmla="*/ 0 h 3216"/>
                  <a:gd name="T98" fmla="*/ 0 w 60"/>
                  <a:gd name="T99" fmla="*/ 0 h 321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0"/>
                  <a:gd name="T151" fmla="*/ 0 h 3216"/>
                  <a:gd name="T152" fmla="*/ 60 w 60"/>
                  <a:gd name="T153" fmla="*/ 3216 h 321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0" h="3216">
                    <a:moveTo>
                      <a:pt x="60" y="7"/>
                    </a:moveTo>
                    <a:lnTo>
                      <a:pt x="60" y="0"/>
                    </a:lnTo>
                    <a:lnTo>
                      <a:pt x="4" y="0"/>
                    </a:lnTo>
                    <a:lnTo>
                      <a:pt x="4" y="292"/>
                    </a:lnTo>
                    <a:lnTo>
                      <a:pt x="2" y="334"/>
                    </a:lnTo>
                    <a:lnTo>
                      <a:pt x="2" y="377"/>
                    </a:lnTo>
                    <a:lnTo>
                      <a:pt x="4" y="377"/>
                    </a:lnTo>
                    <a:lnTo>
                      <a:pt x="4" y="794"/>
                    </a:lnTo>
                    <a:lnTo>
                      <a:pt x="1" y="866"/>
                    </a:lnTo>
                    <a:lnTo>
                      <a:pt x="0" y="939"/>
                    </a:lnTo>
                    <a:lnTo>
                      <a:pt x="1" y="1011"/>
                    </a:lnTo>
                    <a:lnTo>
                      <a:pt x="4" y="1085"/>
                    </a:lnTo>
                    <a:lnTo>
                      <a:pt x="7" y="1131"/>
                    </a:lnTo>
                    <a:lnTo>
                      <a:pt x="4" y="1131"/>
                    </a:lnTo>
                    <a:lnTo>
                      <a:pt x="4" y="1347"/>
                    </a:lnTo>
                    <a:lnTo>
                      <a:pt x="4" y="1357"/>
                    </a:lnTo>
                    <a:lnTo>
                      <a:pt x="4" y="1649"/>
                    </a:lnTo>
                    <a:lnTo>
                      <a:pt x="2" y="1684"/>
                    </a:lnTo>
                    <a:lnTo>
                      <a:pt x="0" y="1746"/>
                    </a:lnTo>
                    <a:lnTo>
                      <a:pt x="0" y="1809"/>
                    </a:lnTo>
                    <a:lnTo>
                      <a:pt x="4" y="1809"/>
                    </a:lnTo>
                    <a:lnTo>
                      <a:pt x="4" y="2101"/>
                    </a:lnTo>
                    <a:lnTo>
                      <a:pt x="2" y="2136"/>
                    </a:lnTo>
                    <a:lnTo>
                      <a:pt x="4" y="2136"/>
                    </a:lnTo>
                    <a:lnTo>
                      <a:pt x="4" y="2428"/>
                    </a:lnTo>
                    <a:lnTo>
                      <a:pt x="4" y="2438"/>
                    </a:lnTo>
                    <a:lnTo>
                      <a:pt x="1" y="2513"/>
                    </a:lnTo>
                    <a:lnTo>
                      <a:pt x="0" y="2589"/>
                    </a:lnTo>
                    <a:lnTo>
                      <a:pt x="4" y="2589"/>
                    </a:lnTo>
                    <a:lnTo>
                      <a:pt x="4" y="2880"/>
                    </a:lnTo>
                    <a:lnTo>
                      <a:pt x="1" y="2952"/>
                    </a:lnTo>
                    <a:lnTo>
                      <a:pt x="0" y="3025"/>
                    </a:lnTo>
                    <a:lnTo>
                      <a:pt x="1" y="3097"/>
                    </a:lnTo>
                    <a:lnTo>
                      <a:pt x="4" y="3171"/>
                    </a:lnTo>
                    <a:lnTo>
                      <a:pt x="7" y="3216"/>
                    </a:lnTo>
                    <a:lnTo>
                      <a:pt x="21" y="3211"/>
                    </a:lnTo>
                    <a:lnTo>
                      <a:pt x="31" y="3206"/>
                    </a:lnTo>
                    <a:lnTo>
                      <a:pt x="35" y="3206"/>
                    </a:lnTo>
                    <a:lnTo>
                      <a:pt x="50" y="3196"/>
                    </a:lnTo>
                    <a:lnTo>
                      <a:pt x="54" y="3193"/>
                    </a:lnTo>
                    <a:lnTo>
                      <a:pt x="59" y="3191"/>
                    </a:lnTo>
                    <a:lnTo>
                      <a:pt x="57" y="3125"/>
                    </a:lnTo>
                    <a:lnTo>
                      <a:pt x="57" y="3059"/>
                    </a:lnTo>
                    <a:lnTo>
                      <a:pt x="57" y="2992"/>
                    </a:lnTo>
                    <a:lnTo>
                      <a:pt x="60" y="2925"/>
                    </a:lnTo>
                    <a:lnTo>
                      <a:pt x="60" y="2919"/>
                    </a:lnTo>
                    <a:lnTo>
                      <a:pt x="60" y="2914"/>
                    </a:lnTo>
                    <a:lnTo>
                      <a:pt x="60" y="2908"/>
                    </a:lnTo>
                    <a:lnTo>
                      <a:pt x="60" y="2892"/>
                    </a:lnTo>
                    <a:lnTo>
                      <a:pt x="60" y="2872"/>
                    </a:lnTo>
                    <a:lnTo>
                      <a:pt x="60" y="2846"/>
                    </a:lnTo>
                    <a:lnTo>
                      <a:pt x="60" y="2831"/>
                    </a:lnTo>
                    <a:lnTo>
                      <a:pt x="60" y="2815"/>
                    </a:lnTo>
                    <a:lnTo>
                      <a:pt x="60" y="2779"/>
                    </a:lnTo>
                    <a:lnTo>
                      <a:pt x="60" y="2739"/>
                    </a:lnTo>
                    <a:lnTo>
                      <a:pt x="60" y="2706"/>
                    </a:lnTo>
                    <a:lnTo>
                      <a:pt x="60" y="2672"/>
                    </a:lnTo>
                    <a:lnTo>
                      <a:pt x="60" y="2635"/>
                    </a:lnTo>
                    <a:lnTo>
                      <a:pt x="60" y="2596"/>
                    </a:lnTo>
                    <a:lnTo>
                      <a:pt x="60" y="2589"/>
                    </a:lnTo>
                    <a:lnTo>
                      <a:pt x="57" y="2589"/>
                    </a:lnTo>
                    <a:lnTo>
                      <a:pt x="60" y="2473"/>
                    </a:lnTo>
                    <a:lnTo>
                      <a:pt x="60" y="2470"/>
                    </a:lnTo>
                    <a:lnTo>
                      <a:pt x="60" y="2466"/>
                    </a:lnTo>
                    <a:lnTo>
                      <a:pt x="60" y="2454"/>
                    </a:lnTo>
                    <a:lnTo>
                      <a:pt x="60" y="2436"/>
                    </a:lnTo>
                    <a:lnTo>
                      <a:pt x="60" y="2425"/>
                    </a:lnTo>
                    <a:lnTo>
                      <a:pt x="60" y="2413"/>
                    </a:lnTo>
                    <a:lnTo>
                      <a:pt x="60" y="2389"/>
                    </a:lnTo>
                    <a:lnTo>
                      <a:pt x="60" y="2363"/>
                    </a:lnTo>
                    <a:lnTo>
                      <a:pt x="60" y="2334"/>
                    </a:lnTo>
                    <a:lnTo>
                      <a:pt x="60" y="2303"/>
                    </a:lnTo>
                    <a:lnTo>
                      <a:pt x="60" y="2268"/>
                    </a:lnTo>
                    <a:lnTo>
                      <a:pt x="60" y="2230"/>
                    </a:lnTo>
                    <a:lnTo>
                      <a:pt x="60" y="2189"/>
                    </a:lnTo>
                    <a:lnTo>
                      <a:pt x="60" y="2146"/>
                    </a:lnTo>
                    <a:lnTo>
                      <a:pt x="60" y="2143"/>
                    </a:lnTo>
                    <a:lnTo>
                      <a:pt x="60" y="2136"/>
                    </a:lnTo>
                    <a:lnTo>
                      <a:pt x="60" y="2125"/>
                    </a:lnTo>
                    <a:lnTo>
                      <a:pt x="60" y="2111"/>
                    </a:lnTo>
                    <a:lnTo>
                      <a:pt x="60" y="2094"/>
                    </a:lnTo>
                    <a:lnTo>
                      <a:pt x="60" y="2074"/>
                    </a:lnTo>
                    <a:lnTo>
                      <a:pt x="60" y="2050"/>
                    </a:lnTo>
                    <a:lnTo>
                      <a:pt x="60" y="2023"/>
                    </a:lnTo>
                    <a:lnTo>
                      <a:pt x="60" y="1993"/>
                    </a:lnTo>
                    <a:lnTo>
                      <a:pt x="60" y="1960"/>
                    </a:lnTo>
                    <a:lnTo>
                      <a:pt x="60" y="1817"/>
                    </a:lnTo>
                    <a:lnTo>
                      <a:pt x="60" y="1809"/>
                    </a:lnTo>
                    <a:lnTo>
                      <a:pt x="57" y="1809"/>
                    </a:lnTo>
                    <a:lnTo>
                      <a:pt x="58" y="1751"/>
                    </a:lnTo>
                    <a:lnTo>
                      <a:pt x="60" y="1694"/>
                    </a:lnTo>
                    <a:lnTo>
                      <a:pt x="60" y="1689"/>
                    </a:lnTo>
                    <a:lnTo>
                      <a:pt x="60" y="1682"/>
                    </a:lnTo>
                    <a:lnTo>
                      <a:pt x="60" y="1672"/>
                    </a:lnTo>
                    <a:lnTo>
                      <a:pt x="60" y="1659"/>
                    </a:lnTo>
                    <a:lnTo>
                      <a:pt x="60" y="1639"/>
                    </a:lnTo>
                    <a:lnTo>
                      <a:pt x="60" y="1615"/>
                    </a:lnTo>
                    <a:lnTo>
                      <a:pt x="60" y="1587"/>
                    </a:lnTo>
                    <a:lnTo>
                      <a:pt x="60" y="1556"/>
                    </a:lnTo>
                    <a:lnTo>
                      <a:pt x="60" y="1520"/>
                    </a:lnTo>
                    <a:lnTo>
                      <a:pt x="60" y="1482"/>
                    </a:lnTo>
                    <a:lnTo>
                      <a:pt x="60" y="1439"/>
                    </a:lnTo>
                    <a:lnTo>
                      <a:pt x="60" y="1393"/>
                    </a:lnTo>
                    <a:lnTo>
                      <a:pt x="60" y="1365"/>
                    </a:lnTo>
                    <a:lnTo>
                      <a:pt x="60" y="1357"/>
                    </a:lnTo>
                    <a:lnTo>
                      <a:pt x="60" y="1337"/>
                    </a:lnTo>
                    <a:lnTo>
                      <a:pt x="60" y="1314"/>
                    </a:lnTo>
                    <a:lnTo>
                      <a:pt x="60" y="1288"/>
                    </a:lnTo>
                    <a:lnTo>
                      <a:pt x="60" y="1259"/>
                    </a:lnTo>
                    <a:lnTo>
                      <a:pt x="60" y="1225"/>
                    </a:lnTo>
                    <a:lnTo>
                      <a:pt x="60" y="1189"/>
                    </a:lnTo>
                    <a:lnTo>
                      <a:pt x="60" y="1149"/>
                    </a:lnTo>
                    <a:lnTo>
                      <a:pt x="60" y="1105"/>
                    </a:lnTo>
                    <a:lnTo>
                      <a:pt x="59" y="1105"/>
                    </a:lnTo>
                    <a:lnTo>
                      <a:pt x="57" y="1039"/>
                    </a:lnTo>
                    <a:lnTo>
                      <a:pt x="57" y="973"/>
                    </a:lnTo>
                    <a:lnTo>
                      <a:pt x="57" y="906"/>
                    </a:lnTo>
                    <a:lnTo>
                      <a:pt x="60" y="839"/>
                    </a:lnTo>
                    <a:lnTo>
                      <a:pt x="60" y="761"/>
                    </a:lnTo>
                    <a:lnTo>
                      <a:pt x="60" y="754"/>
                    </a:lnTo>
                    <a:lnTo>
                      <a:pt x="60" y="735"/>
                    </a:lnTo>
                    <a:lnTo>
                      <a:pt x="60" y="714"/>
                    </a:lnTo>
                    <a:lnTo>
                      <a:pt x="60" y="603"/>
                    </a:lnTo>
                    <a:lnTo>
                      <a:pt x="60" y="582"/>
                    </a:lnTo>
                    <a:lnTo>
                      <a:pt x="60" y="559"/>
                    </a:lnTo>
                    <a:lnTo>
                      <a:pt x="60" y="535"/>
                    </a:lnTo>
                    <a:lnTo>
                      <a:pt x="60" y="510"/>
                    </a:lnTo>
                    <a:lnTo>
                      <a:pt x="60" y="503"/>
                    </a:lnTo>
                    <a:lnTo>
                      <a:pt x="60" y="475"/>
                    </a:lnTo>
                    <a:lnTo>
                      <a:pt x="60" y="446"/>
                    </a:lnTo>
                    <a:lnTo>
                      <a:pt x="60" y="416"/>
                    </a:lnTo>
                    <a:lnTo>
                      <a:pt x="60" y="385"/>
                    </a:lnTo>
                    <a:lnTo>
                      <a:pt x="60" y="377"/>
                    </a:lnTo>
                    <a:lnTo>
                      <a:pt x="59" y="377"/>
                    </a:lnTo>
                    <a:lnTo>
                      <a:pt x="60" y="337"/>
                    </a:lnTo>
                    <a:lnTo>
                      <a:pt x="60" y="332"/>
                    </a:lnTo>
                    <a:lnTo>
                      <a:pt x="60" y="327"/>
                    </a:lnTo>
                    <a:lnTo>
                      <a:pt x="60" y="318"/>
                    </a:lnTo>
                    <a:lnTo>
                      <a:pt x="60" y="309"/>
                    </a:lnTo>
                    <a:lnTo>
                      <a:pt x="60" y="296"/>
                    </a:lnTo>
                    <a:lnTo>
                      <a:pt x="60" y="282"/>
                    </a:lnTo>
                    <a:lnTo>
                      <a:pt x="60" y="264"/>
                    </a:lnTo>
                    <a:lnTo>
                      <a:pt x="60" y="245"/>
                    </a:lnTo>
                    <a:lnTo>
                      <a:pt x="60" y="222"/>
                    </a:lnTo>
                    <a:lnTo>
                      <a:pt x="60" y="199"/>
                    </a:lnTo>
                    <a:lnTo>
                      <a:pt x="60" y="172"/>
                    </a:lnTo>
                    <a:lnTo>
                      <a:pt x="60" y="144"/>
                    </a:lnTo>
                    <a:lnTo>
                      <a:pt x="60" y="113"/>
                    </a:lnTo>
                    <a:lnTo>
                      <a:pt x="60" y="80"/>
                    </a:lnTo>
                    <a:lnTo>
                      <a:pt x="60" y="44"/>
                    </a:lnTo>
                    <a:lnTo>
                      <a:pt x="60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45" name="Freeform 1080"/>
              <p:cNvSpPr>
                <a:spLocks/>
              </p:cNvSpPr>
              <p:nvPr/>
            </p:nvSpPr>
            <p:spPr bwMode="auto">
              <a:xfrm>
                <a:off x="1597" y="1197"/>
                <a:ext cx="25" cy="808"/>
              </a:xfrm>
              <a:custGeom>
                <a:avLst/>
                <a:gdLst>
                  <a:gd name="T0" fmla="*/ 0 w 96"/>
                  <a:gd name="T1" fmla="*/ 0 h 3229"/>
                  <a:gd name="T2" fmla="*/ 0 w 96"/>
                  <a:gd name="T3" fmla="*/ 0 h 3229"/>
                  <a:gd name="T4" fmla="*/ 0 w 96"/>
                  <a:gd name="T5" fmla="*/ 0 h 3229"/>
                  <a:gd name="T6" fmla="*/ 0 w 96"/>
                  <a:gd name="T7" fmla="*/ 0 h 3229"/>
                  <a:gd name="T8" fmla="*/ 0 w 96"/>
                  <a:gd name="T9" fmla="*/ 0 h 3229"/>
                  <a:gd name="T10" fmla="*/ 0 w 96"/>
                  <a:gd name="T11" fmla="*/ 0 h 3229"/>
                  <a:gd name="T12" fmla="*/ 0 w 96"/>
                  <a:gd name="T13" fmla="*/ 0 h 3229"/>
                  <a:gd name="T14" fmla="*/ 0 w 96"/>
                  <a:gd name="T15" fmla="*/ 0 h 3229"/>
                  <a:gd name="T16" fmla="*/ 0 w 96"/>
                  <a:gd name="T17" fmla="*/ 0 h 3229"/>
                  <a:gd name="T18" fmla="*/ 0 w 96"/>
                  <a:gd name="T19" fmla="*/ 0 h 3229"/>
                  <a:gd name="T20" fmla="*/ 0 w 96"/>
                  <a:gd name="T21" fmla="*/ 0 h 3229"/>
                  <a:gd name="T22" fmla="*/ 0 w 96"/>
                  <a:gd name="T23" fmla="*/ 0 h 3229"/>
                  <a:gd name="T24" fmla="*/ 0 w 96"/>
                  <a:gd name="T25" fmla="*/ 0 h 3229"/>
                  <a:gd name="T26" fmla="*/ 0 w 96"/>
                  <a:gd name="T27" fmla="*/ 0 h 3229"/>
                  <a:gd name="T28" fmla="*/ 0 w 96"/>
                  <a:gd name="T29" fmla="*/ 0 h 3229"/>
                  <a:gd name="T30" fmla="*/ 0 w 96"/>
                  <a:gd name="T31" fmla="*/ 0 h 3229"/>
                  <a:gd name="T32" fmla="*/ 0 w 96"/>
                  <a:gd name="T33" fmla="*/ 0 h 3229"/>
                  <a:gd name="T34" fmla="*/ 0 w 96"/>
                  <a:gd name="T35" fmla="*/ 0 h 3229"/>
                  <a:gd name="T36" fmla="*/ 0 w 96"/>
                  <a:gd name="T37" fmla="*/ 0 h 3229"/>
                  <a:gd name="T38" fmla="*/ 0 w 96"/>
                  <a:gd name="T39" fmla="*/ 0 h 3229"/>
                  <a:gd name="T40" fmla="*/ 0 w 96"/>
                  <a:gd name="T41" fmla="*/ 0 h 3229"/>
                  <a:gd name="T42" fmla="*/ 0 w 96"/>
                  <a:gd name="T43" fmla="*/ 0 h 3229"/>
                  <a:gd name="T44" fmla="*/ 0 w 96"/>
                  <a:gd name="T45" fmla="*/ 0 h 3229"/>
                  <a:gd name="T46" fmla="*/ 0 w 96"/>
                  <a:gd name="T47" fmla="*/ 0 h 3229"/>
                  <a:gd name="T48" fmla="*/ 0 w 96"/>
                  <a:gd name="T49" fmla="*/ 0 h 3229"/>
                  <a:gd name="T50" fmla="*/ 0 w 96"/>
                  <a:gd name="T51" fmla="*/ 0 h 3229"/>
                  <a:gd name="T52" fmla="*/ 0 w 96"/>
                  <a:gd name="T53" fmla="*/ 0 h 3229"/>
                  <a:gd name="T54" fmla="*/ 0 w 96"/>
                  <a:gd name="T55" fmla="*/ 0 h 3229"/>
                  <a:gd name="T56" fmla="*/ 0 w 96"/>
                  <a:gd name="T57" fmla="*/ 0 h 3229"/>
                  <a:gd name="T58" fmla="*/ 0 w 96"/>
                  <a:gd name="T59" fmla="*/ 0 h 3229"/>
                  <a:gd name="T60" fmla="*/ 0 w 96"/>
                  <a:gd name="T61" fmla="*/ 0 h 3229"/>
                  <a:gd name="T62" fmla="*/ 0 w 96"/>
                  <a:gd name="T63" fmla="*/ 0 h 3229"/>
                  <a:gd name="T64" fmla="*/ 0 w 96"/>
                  <a:gd name="T65" fmla="*/ 0 h 3229"/>
                  <a:gd name="T66" fmla="*/ 0 w 96"/>
                  <a:gd name="T67" fmla="*/ 0 h 3229"/>
                  <a:gd name="T68" fmla="*/ 0 w 96"/>
                  <a:gd name="T69" fmla="*/ 0 h 3229"/>
                  <a:gd name="T70" fmla="*/ 0 w 96"/>
                  <a:gd name="T71" fmla="*/ 0 h 3229"/>
                  <a:gd name="T72" fmla="*/ 0 w 96"/>
                  <a:gd name="T73" fmla="*/ 0 h 3229"/>
                  <a:gd name="T74" fmla="*/ 0 w 96"/>
                  <a:gd name="T75" fmla="*/ 0 h 3229"/>
                  <a:gd name="T76" fmla="*/ 0 w 96"/>
                  <a:gd name="T77" fmla="*/ 0 h 3229"/>
                  <a:gd name="T78" fmla="*/ 0 w 96"/>
                  <a:gd name="T79" fmla="*/ 0 h 3229"/>
                  <a:gd name="T80" fmla="*/ 0 w 96"/>
                  <a:gd name="T81" fmla="*/ 0 h 3229"/>
                  <a:gd name="T82" fmla="*/ 0 w 96"/>
                  <a:gd name="T83" fmla="*/ 0 h 3229"/>
                  <a:gd name="T84" fmla="*/ 0 w 96"/>
                  <a:gd name="T85" fmla="*/ 0 h 3229"/>
                  <a:gd name="T86" fmla="*/ 0 w 96"/>
                  <a:gd name="T87" fmla="*/ 0 h 3229"/>
                  <a:gd name="T88" fmla="*/ 0 w 96"/>
                  <a:gd name="T89" fmla="*/ 0 h 3229"/>
                  <a:gd name="T90" fmla="*/ 0 w 96"/>
                  <a:gd name="T91" fmla="*/ 0 h 3229"/>
                  <a:gd name="T92" fmla="*/ 0 w 96"/>
                  <a:gd name="T93" fmla="*/ 0 h 3229"/>
                  <a:gd name="T94" fmla="*/ 0 w 96"/>
                  <a:gd name="T95" fmla="*/ 0 h 3229"/>
                  <a:gd name="T96" fmla="*/ 0 w 96"/>
                  <a:gd name="T97" fmla="*/ 0 h 3229"/>
                  <a:gd name="T98" fmla="*/ 0 w 96"/>
                  <a:gd name="T99" fmla="*/ 0 h 322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6"/>
                  <a:gd name="T151" fmla="*/ 0 h 3229"/>
                  <a:gd name="T152" fmla="*/ 96 w 96"/>
                  <a:gd name="T153" fmla="*/ 3229 h 322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6" h="3229">
                    <a:moveTo>
                      <a:pt x="93" y="0"/>
                    </a:moveTo>
                    <a:lnTo>
                      <a:pt x="0" y="0"/>
                    </a:lnTo>
                    <a:lnTo>
                      <a:pt x="0" y="19"/>
                    </a:lnTo>
                    <a:lnTo>
                      <a:pt x="0" y="42"/>
                    </a:lnTo>
                    <a:lnTo>
                      <a:pt x="0" y="67"/>
                    </a:lnTo>
                    <a:lnTo>
                      <a:pt x="0" y="97"/>
                    </a:lnTo>
                    <a:lnTo>
                      <a:pt x="0" y="129"/>
                    </a:lnTo>
                    <a:lnTo>
                      <a:pt x="0" y="165"/>
                    </a:lnTo>
                    <a:lnTo>
                      <a:pt x="0" y="203"/>
                    </a:lnTo>
                    <a:lnTo>
                      <a:pt x="0" y="246"/>
                    </a:lnTo>
                    <a:lnTo>
                      <a:pt x="0" y="282"/>
                    </a:lnTo>
                    <a:lnTo>
                      <a:pt x="0" y="316"/>
                    </a:lnTo>
                    <a:lnTo>
                      <a:pt x="0" y="347"/>
                    </a:lnTo>
                    <a:lnTo>
                      <a:pt x="0" y="377"/>
                    </a:lnTo>
                    <a:lnTo>
                      <a:pt x="0" y="401"/>
                    </a:lnTo>
                    <a:lnTo>
                      <a:pt x="0" y="430"/>
                    </a:lnTo>
                    <a:lnTo>
                      <a:pt x="0" y="464"/>
                    </a:lnTo>
                    <a:lnTo>
                      <a:pt x="0" y="503"/>
                    </a:lnTo>
                    <a:lnTo>
                      <a:pt x="0" y="556"/>
                    </a:lnTo>
                    <a:lnTo>
                      <a:pt x="0" y="623"/>
                    </a:lnTo>
                    <a:lnTo>
                      <a:pt x="0" y="641"/>
                    </a:lnTo>
                    <a:lnTo>
                      <a:pt x="0" y="754"/>
                    </a:lnTo>
                    <a:lnTo>
                      <a:pt x="0" y="769"/>
                    </a:lnTo>
                    <a:lnTo>
                      <a:pt x="0" y="786"/>
                    </a:lnTo>
                    <a:lnTo>
                      <a:pt x="0" y="827"/>
                    </a:lnTo>
                    <a:lnTo>
                      <a:pt x="0" y="850"/>
                    </a:lnTo>
                    <a:lnTo>
                      <a:pt x="0" y="875"/>
                    </a:lnTo>
                    <a:lnTo>
                      <a:pt x="0" y="932"/>
                    </a:lnTo>
                    <a:lnTo>
                      <a:pt x="0" y="1000"/>
                    </a:lnTo>
                    <a:lnTo>
                      <a:pt x="0" y="1018"/>
                    </a:lnTo>
                    <a:lnTo>
                      <a:pt x="0" y="1058"/>
                    </a:lnTo>
                    <a:lnTo>
                      <a:pt x="3" y="1102"/>
                    </a:lnTo>
                    <a:lnTo>
                      <a:pt x="5" y="1123"/>
                    </a:lnTo>
                    <a:lnTo>
                      <a:pt x="9" y="1143"/>
                    </a:lnTo>
                    <a:lnTo>
                      <a:pt x="7" y="1143"/>
                    </a:lnTo>
                    <a:lnTo>
                      <a:pt x="0" y="1143"/>
                    </a:lnTo>
                    <a:lnTo>
                      <a:pt x="0" y="1176"/>
                    </a:lnTo>
                    <a:lnTo>
                      <a:pt x="0" y="1214"/>
                    </a:lnTo>
                    <a:lnTo>
                      <a:pt x="0" y="1255"/>
                    </a:lnTo>
                    <a:lnTo>
                      <a:pt x="0" y="1301"/>
                    </a:lnTo>
                    <a:lnTo>
                      <a:pt x="0" y="1309"/>
                    </a:lnTo>
                    <a:lnTo>
                      <a:pt x="0" y="1334"/>
                    </a:lnTo>
                    <a:lnTo>
                      <a:pt x="0" y="1357"/>
                    </a:lnTo>
                    <a:lnTo>
                      <a:pt x="0" y="1395"/>
                    </a:lnTo>
                    <a:lnTo>
                      <a:pt x="0" y="1416"/>
                    </a:lnTo>
                    <a:lnTo>
                      <a:pt x="0" y="1436"/>
                    </a:lnTo>
                    <a:lnTo>
                      <a:pt x="0" y="1474"/>
                    </a:lnTo>
                    <a:lnTo>
                      <a:pt x="0" y="1506"/>
                    </a:lnTo>
                    <a:lnTo>
                      <a:pt x="0" y="1521"/>
                    </a:lnTo>
                    <a:lnTo>
                      <a:pt x="0" y="1535"/>
                    </a:lnTo>
                    <a:lnTo>
                      <a:pt x="0" y="1547"/>
                    </a:lnTo>
                    <a:lnTo>
                      <a:pt x="0" y="1558"/>
                    </a:lnTo>
                    <a:lnTo>
                      <a:pt x="0" y="1578"/>
                    </a:lnTo>
                    <a:lnTo>
                      <a:pt x="0" y="1592"/>
                    </a:lnTo>
                    <a:lnTo>
                      <a:pt x="0" y="1604"/>
                    </a:lnTo>
                    <a:lnTo>
                      <a:pt x="0" y="1608"/>
                    </a:lnTo>
                    <a:lnTo>
                      <a:pt x="0" y="1611"/>
                    </a:lnTo>
                    <a:lnTo>
                      <a:pt x="0" y="1654"/>
                    </a:lnTo>
                    <a:lnTo>
                      <a:pt x="0" y="1696"/>
                    </a:lnTo>
                    <a:lnTo>
                      <a:pt x="0" y="1728"/>
                    </a:lnTo>
                    <a:lnTo>
                      <a:pt x="0" y="1758"/>
                    </a:lnTo>
                    <a:lnTo>
                      <a:pt x="0" y="1784"/>
                    </a:lnTo>
                    <a:lnTo>
                      <a:pt x="0" y="1809"/>
                    </a:lnTo>
                    <a:lnTo>
                      <a:pt x="0" y="1912"/>
                    </a:lnTo>
                    <a:lnTo>
                      <a:pt x="0" y="1952"/>
                    </a:lnTo>
                    <a:lnTo>
                      <a:pt x="0" y="1998"/>
                    </a:lnTo>
                    <a:lnTo>
                      <a:pt x="0" y="2055"/>
                    </a:lnTo>
                    <a:lnTo>
                      <a:pt x="0" y="2096"/>
                    </a:lnTo>
                    <a:lnTo>
                      <a:pt x="0" y="2136"/>
                    </a:lnTo>
                    <a:lnTo>
                      <a:pt x="0" y="2154"/>
                    </a:lnTo>
                    <a:lnTo>
                      <a:pt x="0" y="2176"/>
                    </a:lnTo>
                    <a:lnTo>
                      <a:pt x="0" y="2200"/>
                    </a:lnTo>
                    <a:lnTo>
                      <a:pt x="0" y="2228"/>
                    </a:lnTo>
                    <a:lnTo>
                      <a:pt x="0" y="2257"/>
                    </a:lnTo>
                    <a:lnTo>
                      <a:pt x="0" y="2290"/>
                    </a:lnTo>
                    <a:lnTo>
                      <a:pt x="0" y="2325"/>
                    </a:lnTo>
                    <a:lnTo>
                      <a:pt x="0" y="2364"/>
                    </a:lnTo>
                    <a:lnTo>
                      <a:pt x="0" y="2382"/>
                    </a:lnTo>
                    <a:lnTo>
                      <a:pt x="0" y="2451"/>
                    </a:lnTo>
                    <a:lnTo>
                      <a:pt x="0" y="2490"/>
                    </a:lnTo>
                    <a:lnTo>
                      <a:pt x="0" y="2526"/>
                    </a:lnTo>
                    <a:lnTo>
                      <a:pt x="0" y="2559"/>
                    </a:lnTo>
                    <a:lnTo>
                      <a:pt x="0" y="2589"/>
                    </a:lnTo>
                    <a:lnTo>
                      <a:pt x="0" y="2610"/>
                    </a:lnTo>
                    <a:lnTo>
                      <a:pt x="0" y="2630"/>
                    </a:lnTo>
                    <a:lnTo>
                      <a:pt x="0" y="2647"/>
                    </a:lnTo>
                    <a:lnTo>
                      <a:pt x="0" y="2662"/>
                    </a:lnTo>
                    <a:lnTo>
                      <a:pt x="0" y="2673"/>
                    </a:lnTo>
                    <a:lnTo>
                      <a:pt x="0" y="2682"/>
                    </a:lnTo>
                    <a:lnTo>
                      <a:pt x="0" y="2688"/>
                    </a:lnTo>
                    <a:lnTo>
                      <a:pt x="0" y="2692"/>
                    </a:lnTo>
                    <a:lnTo>
                      <a:pt x="0" y="2731"/>
                    </a:lnTo>
                    <a:lnTo>
                      <a:pt x="0" y="2777"/>
                    </a:lnTo>
                    <a:lnTo>
                      <a:pt x="0" y="2835"/>
                    </a:lnTo>
                    <a:lnTo>
                      <a:pt x="0" y="2870"/>
                    </a:lnTo>
                    <a:lnTo>
                      <a:pt x="0" y="2904"/>
                    </a:lnTo>
                    <a:lnTo>
                      <a:pt x="0" y="2935"/>
                    </a:lnTo>
                    <a:lnTo>
                      <a:pt x="0" y="2965"/>
                    </a:lnTo>
                    <a:lnTo>
                      <a:pt x="0" y="2991"/>
                    </a:lnTo>
                    <a:lnTo>
                      <a:pt x="0" y="3016"/>
                    </a:lnTo>
                    <a:lnTo>
                      <a:pt x="0" y="3039"/>
                    </a:lnTo>
                    <a:lnTo>
                      <a:pt x="0" y="3060"/>
                    </a:lnTo>
                    <a:lnTo>
                      <a:pt x="0" y="3077"/>
                    </a:lnTo>
                    <a:lnTo>
                      <a:pt x="0" y="3093"/>
                    </a:lnTo>
                    <a:lnTo>
                      <a:pt x="0" y="3106"/>
                    </a:lnTo>
                    <a:lnTo>
                      <a:pt x="0" y="3119"/>
                    </a:lnTo>
                    <a:lnTo>
                      <a:pt x="0" y="3128"/>
                    </a:lnTo>
                    <a:lnTo>
                      <a:pt x="0" y="3135"/>
                    </a:lnTo>
                    <a:lnTo>
                      <a:pt x="0" y="3140"/>
                    </a:lnTo>
                    <a:lnTo>
                      <a:pt x="0" y="3144"/>
                    </a:lnTo>
                    <a:lnTo>
                      <a:pt x="3" y="3188"/>
                    </a:lnTo>
                    <a:lnTo>
                      <a:pt x="5" y="3209"/>
                    </a:lnTo>
                    <a:lnTo>
                      <a:pt x="9" y="3229"/>
                    </a:lnTo>
                    <a:lnTo>
                      <a:pt x="19" y="3229"/>
                    </a:lnTo>
                    <a:lnTo>
                      <a:pt x="35" y="3228"/>
                    </a:lnTo>
                    <a:lnTo>
                      <a:pt x="43" y="3227"/>
                    </a:lnTo>
                    <a:lnTo>
                      <a:pt x="52" y="3227"/>
                    </a:lnTo>
                    <a:lnTo>
                      <a:pt x="75" y="3221"/>
                    </a:lnTo>
                    <a:lnTo>
                      <a:pt x="96" y="3216"/>
                    </a:lnTo>
                    <a:lnTo>
                      <a:pt x="93" y="3171"/>
                    </a:lnTo>
                    <a:lnTo>
                      <a:pt x="90" y="3097"/>
                    </a:lnTo>
                    <a:lnTo>
                      <a:pt x="89" y="3025"/>
                    </a:lnTo>
                    <a:lnTo>
                      <a:pt x="90" y="2952"/>
                    </a:lnTo>
                    <a:lnTo>
                      <a:pt x="93" y="2880"/>
                    </a:lnTo>
                    <a:lnTo>
                      <a:pt x="93" y="2589"/>
                    </a:lnTo>
                    <a:lnTo>
                      <a:pt x="89" y="2589"/>
                    </a:lnTo>
                    <a:lnTo>
                      <a:pt x="90" y="2513"/>
                    </a:lnTo>
                    <a:lnTo>
                      <a:pt x="93" y="2438"/>
                    </a:lnTo>
                    <a:lnTo>
                      <a:pt x="93" y="2428"/>
                    </a:lnTo>
                    <a:lnTo>
                      <a:pt x="93" y="2136"/>
                    </a:lnTo>
                    <a:lnTo>
                      <a:pt x="91" y="2136"/>
                    </a:lnTo>
                    <a:lnTo>
                      <a:pt x="93" y="2101"/>
                    </a:lnTo>
                    <a:lnTo>
                      <a:pt x="93" y="1809"/>
                    </a:lnTo>
                    <a:lnTo>
                      <a:pt x="89" y="1809"/>
                    </a:lnTo>
                    <a:lnTo>
                      <a:pt x="89" y="1746"/>
                    </a:lnTo>
                    <a:lnTo>
                      <a:pt x="91" y="1684"/>
                    </a:lnTo>
                    <a:lnTo>
                      <a:pt x="93" y="1649"/>
                    </a:lnTo>
                    <a:lnTo>
                      <a:pt x="93" y="1357"/>
                    </a:lnTo>
                    <a:lnTo>
                      <a:pt x="93" y="1347"/>
                    </a:lnTo>
                    <a:lnTo>
                      <a:pt x="93" y="1131"/>
                    </a:lnTo>
                    <a:lnTo>
                      <a:pt x="96" y="1131"/>
                    </a:lnTo>
                    <a:lnTo>
                      <a:pt x="93" y="1085"/>
                    </a:lnTo>
                    <a:lnTo>
                      <a:pt x="90" y="1011"/>
                    </a:lnTo>
                    <a:lnTo>
                      <a:pt x="89" y="939"/>
                    </a:lnTo>
                    <a:lnTo>
                      <a:pt x="90" y="866"/>
                    </a:lnTo>
                    <a:lnTo>
                      <a:pt x="93" y="794"/>
                    </a:lnTo>
                    <a:lnTo>
                      <a:pt x="93" y="377"/>
                    </a:lnTo>
                    <a:lnTo>
                      <a:pt x="91" y="377"/>
                    </a:lnTo>
                    <a:lnTo>
                      <a:pt x="91" y="334"/>
                    </a:lnTo>
                    <a:lnTo>
                      <a:pt x="93" y="292"/>
                    </a:lnTo>
                    <a:lnTo>
                      <a:pt x="9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46" name="Freeform 1081"/>
              <p:cNvSpPr>
                <a:spLocks/>
              </p:cNvSpPr>
              <p:nvPr/>
            </p:nvSpPr>
            <p:spPr bwMode="auto">
              <a:xfrm>
                <a:off x="1541" y="1197"/>
                <a:ext cx="59" cy="808"/>
              </a:xfrm>
              <a:custGeom>
                <a:avLst/>
                <a:gdLst>
                  <a:gd name="T0" fmla="*/ 0 w 235"/>
                  <a:gd name="T1" fmla="*/ 0 h 3229"/>
                  <a:gd name="T2" fmla="*/ 0 w 235"/>
                  <a:gd name="T3" fmla="*/ 0 h 3229"/>
                  <a:gd name="T4" fmla="*/ 0 w 235"/>
                  <a:gd name="T5" fmla="*/ 0 h 3229"/>
                  <a:gd name="T6" fmla="*/ 0 w 235"/>
                  <a:gd name="T7" fmla="*/ 0 h 3229"/>
                  <a:gd name="T8" fmla="*/ 0 w 235"/>
                  <a:gd name="T9" fmla="*/ 0 h 3229"/>
                  <a:gd name="T10" fmla="*/ 0 w 235"/>
                  <a:gd name="T11" fmla="*/ 0 h 3229"/>
                  <a:gd name="T12" fmla="*/ 0 w 235"/>
                  <a:gd name="T13" fmla="*/ 0 h 3229"/>
                  <a:gd name="T14" fmla="*/ 0 w 235"/>
                  <a:gd name="T15" fmla="*/ 0 h 3229"/>
                  <a:gd name="T16" fmla="*/ 0 w 235"/>
                  <a:gd name="T17" fmla="*/ 0 h 3229"/>
                  <a:gd name="T18" fmla="*/ 0 w 235"/>
                  <a:gd name="T19" fmla="*/ 0 h 3229"/>
                  <a:gd name="T20" fmla="*/ 0 w 235"/>
                  <a:gd name="T21" fmla="*/ 0 h 3229"/>
                  <a:gd name="T22" fmla="*/ 0 w 235"/>
                  <a:gd name="T23" fmla="*/ 0 h 3229"/>
                  <a:gd name="T24" fmla="*/ 0 w 235"/>
                  <a:gd name="T25" fmla="*/ 0 h 3229"/>
                  <a:gd name="T26" fmla="*/ 0 w 235"/>
                  <a:gd name="T27" fmla="*/ 0 h 3229"/>
                  <a:gd name="T28" fmla="*/ 0 w 235"/>
                  <a:gd name="T29" fmla="*/ 0 h 3229"/>
                  <a:gd name="T30" fmla="*/ 0 w 235"/>
                  <a:gd name="T31" fmla="*/ 0 h 3229"/>
                  <a:gd name="T32" fmla="*/ 0 w 235"/>
                  <a:gd name="T33" fmla="*/ 0 h 3229"/>
                  <a:gd name="T34" fmla="*/ 0 w 235"/>
                  <a:gd name="T35" fmla="*/ 0 h 3229"/>
                  <a:gd name="T36" fmla="*/ 0 w 235"/>
                  <a:gd name="T37" fmla="*/ 0 h 3229"/>
                  <a:gd name="T38" fmla="*/ 0 w 235"/>
                  <a:gd name="T39" fmla="*/ 0 h 3229"/>
                  <a:gd name="T40" fmla="*/ 0 w 235"/>
                  <a:gd name="T41" fmla="*/ 0 h 3229"/>
                  <a:gd name="T42" fmla="*/ 0 w 235"/>
                  <a:gd name="T43" fmla="*/ 0 h 3229"/>
                  <a:gd name="T44" fmla="*/ 0 w 235"/>
                  <a:gd name="T45" fmla="*/ 0 h 3229"/>
                  <a:gd name="T46" fmla="*/ 0 w 235"/>
                  <a:gd name="T47" fmla="*/ 0 h 3229"/>
                  <a:gd name="T48" fmla="*/ 0 w 235"/>
                  <a:gd name="T49" fmla="*/ 0 h 3229"/>
                  <a:gd name="T50" fmla="*/ 0 w 235"/>
                  <a:gd name="T51" fmla="*/ 0 h 3229"/>
                  <a:gd name="T52" fmla="*/ 0 w 235"/>
                  <a:gd name="T53" fmla="*/ 0 h 3229"/>
                  <a:gd name="T54" fmla="*/ 0 w 235"/>
                  <a:gd name="T55" fmla="*/ 0 h 3229"/>
                  <a:gd name="T56" fmla="*/ 0 w 235"/>
                  <a:gd name="T57" fmla="*/ 0 h 3229"/>
                  <a:gd name="T58" fmla="*/ 0 w 235"/>
                  <a:gd name="T59" fmla="*/ 0 h 3229"/>
                  <a:gd name="T60" fmla="*/ 0 w 235"/>
                  <a:gd name="T61" fmla="*/ 0 h 3229"/>
                  <a:gd name="T62" fmla="*/ 0 w 235"/>
                  <a:gd name="T63" fmla="*/ 0 h 3229"/>
                  <a:gd name="T64" fmla="*/ 0 w 235"/>
                  <a:gd name="T65" fmla="*/ 0 h 3229"/>
                  <a:gd name="T66" fmla="*/ 0 w 235"/>
                  <a:gd name="T67" fmla="*/ 0 h 3229"/>
                  <a:gd name="T68" fmla="*/ 0 w 235"/>
                  <a:gd name="T69" fmla="*/ 0 h 3229"/>
                  <a:gd name="T70" fmla="*/ 0 w 235"/>
                  <a:gd name="T71" fmla="*/ 0 h 3229"/>
                  <a:gd name="T72" fmla="*/ 0 w 235"/>
                  <a:gd name="T73" fmla="*/ 0 h 3229"/>
                  <a:gd name="T74" fmla="*/ 0 w 235"/>
                  <a:gd name="T75" fmla="*/ 0 h 3229"/>
                  <a:gd name="T76" fmla="*/ 0 w 235"/>
                  <a:gd name="T77" fmla="*/ 0 h 3229"/>
                  <a:gd name="T78" fmla="*/ 0 w 235"/>
                  <a:gd name="T79" fmla="*/ 0 h 3229"/>
                  <a:gd name="T80" fmla="*/ 0 w 235"/>
                  <a:gd name="T81" fmla="*/ 0 h 3229"/>
                  <a:gd name="T82" fmla="*/ 0 w 235"/>
                  <a:gd name="T83" fmla="*/ 0 h 322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35"/>
                  <a:gd name="T127" fmla="*/ 0 h 3229"/>
                  <a:gd name="T128" fmla="*/ 235 w 235"/>
                  <a:gd name="T129" fmla="*/ 3229 h 322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35" h="3229">
                    <a:moveTo>
                      <a:pt x="226" y="641"/>
                    </a:moveTo>
                    <a:lnTo>
                      <a:pt x="226" y="623"/>
                    </a:lnTo>
                    <a:lnTo>
                      <a:pt x="226" y="556"/>
                    </a:lnTo>
                    <a:lnTo>
                      <a:pt x="226" y="503"/>
                    </a:lnTo>
                    <a:lnTo>
                      <a:pt x="226" y="464"/>
                    </a:lnTo>
                    <a:lnTo>
                      <a:pt x="226" y="430"/>
                    </a:lnTo>
                    <a:lnTo>
                      <a:pt x="226" y="401"/>
                    </a:lnTo>
                    <a:lnTo>
                      <a:pt x="226" y="377"/>
                    </a:lnTo>
                    <a:lnTo>
                      <a:pt x="226" y="347"/>
                    </a:lnTo>
                    <a:lnTo>
                      <a:pt x="226" y="316"/>
                    </a:lnTo>
                    <a:lnTo>
                      <a:pt x="226" y="282"/>
                    </a:lnTo>
                    <a:lnTo>
                      <a:pt x="226" y="246"/>
                    </a:lnTo>
                    <a:lnTo>
                      <a:pt x="226" y="203"/>
                    </a:lnTo>
                    <a:lnTo>
                      <a:pt x="226" y="165"/>
                    </a:lnTo>
                    <a:lnTo>
                      <a:pt x="226" y="129"/>
                    </a:lnTo>
                    <a:lnTo>
                      <a:pt x="226" y="97"/>
                    </a:lnTo>
                    <a:lnTo>
                      <a:pt x="226" y="67"/>
                    </a:lnTo>
                    <a:lnTo>
                      <a:pt x="226" y="42"/>
                    </a:lnTo>
                    <a:lnTo>
                      <a:pt x="226" y="19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3129"/>
                    </a:lnTo>
                    <a:lnTo>
                      <a:pt x="19" y="3153"/>
                    </a:lnTo>
                    <a:lnTo>
                      <a:pt x="29" y="3163"/>
                    </a:lnTo>
                    <a:lnTo>
                      <a:pt x="41" y="3174"/>
                    </a:lnTo>
                    <a:lnTo>
                      <a:pt x="66" y="3191"/>
                    </a:lnTo>
                    <a:lnTo>
                      <a:pt x="79" y="3198"/>
                    </a:lnTo>
                    <a:lnTo>
                      <a:pt x="94" y="3206"/>
                    </a:lnTo>
                    <a:lnTo>
                      <a:pt x="108" y="3211"/>
                    </a:lnTo>
                    <a:lnTo>
                      <a:pt x="124" y="3216"/>
                    </a:lnTo>
                    <a:lnTo>
                      <a:pt x="140" y="3220"/>
                    </a:lnTo>
                    <a:lnTo>
                      <a:pt x="158" y="3224"/>
                    </a:lnTo>
                    <a:lnTo>
                      <a:pt x="175" y="3226"/>
                    </a:lnTo>
                    <a:lnTo>
                      <a:pt x="194" y="3228"/>
                    </a:lnTo>
                    <a:lnTo>
                      <a:pt x="233" y="3229"/>
                    </a:lnTo>
                    <a:lnTo>
                      <a:pt x="235" y="3229"/>
                    </a:lnTo>
                    <a:lnTo>
                      <a:pt x="231" y="3209"/>
                    </a:lnTo>
                    <a:lnTo>
                      <a:pt x="229" y="3188"/>
                    </a:lnTo>
                    <a:lnTo>
                      <a:pt x="226" y="3144"/>
                    </a:lnTo>
                    <a:lnTo>
                      <a:pt x="226" y="3140"/>
                    </a:lnTo>
                    <a:lnTo>
                      <a:pt x="226" y="3135"/>
                    </a:lnTo>
                    <a:lnTo>
                      <a:pt x="226" y="3128"/>
                    </a:lnTo>
                    <a:lnTo>
                      <a:pt x="226" y="3119"/>
                    </a:lnTo>
                    <a:lnTo>
                      <a:pt x="226" y="3106"/>
                    </a:lnTo>
                    <a:lnTo>
                      <a:pt x="226" y="3093"/>
                    </a:lnTo>
                    <a:lnTo>
                      <a:pt x="226" y="3077"/>
                    </a:lnTo>
                    <a:lnTo>
                      <a:pt x="226" y="3060"/>
                    </a:lnTo>
                    <a:lnTo>
                      <a:pt x="226" y="3039"/>
                    </a:lnTo>
                    <a:lnTo>
                      <a:pt x="226" y="3016"/>
                    </a:lnTo>
                    <a:lnTo>
                      <a:pt x="226" y="2991"/>
                    </a:lnTo>
                    <a:lnTo>
                      <a:pt x="226" y="2965"/>
                    </a:lnTo>
                    <a:lnTo>
                      <a:pt x="226" y="2935"/>
                    </a:lnTo>
                    <a:lnTo>
                      <a:pt x="226" y="2904"/>
                    </a:lnTo>
                    <a:lnTo>
                      <a:pt x="226" y="2870"/>
                    </a:lnTo>
                    <a:lnTo>
                      <a:pt x="226" y="2835"/>
                    </a:lnTo>
                    <a:lnTo>
                      <a:pt x="226" y="2777"/>
                    </a:lnTo>
                    <a:lnTo>
                      <a:pt x="226" y="2731"/>
                    </a:lnTo>
                    <a:lnTo>
                      <a:pt x="226" y="2692"/>
                    </a:lnTo>
                    <a:lnTo>
                      <a:pt x="226" y="2688"/>
                    </a:lnTo>
                    <a:lnTo>
                      <a:pt x="226" y="2682"/>
                    </a:lnTo>
                    <a:lnTo>
                      <a:pt x="226" y="2673"/>
                    </a:lnTo>
                    <a:lnTo>
                      <a:pt x="226" y="2662"/>
                    </a:lnTo>
                    <a:lnTo>
                      <a:pt x="226" y="2647"/>
                    </a:lnTo>
                    <a:lnTo>
                      <a:pt x="226" y="2630"/>
                    </a:lnTo>
                    <a:lnTo>
                      <a:pt x="226" y="2610"/>
                    </a:lnTo>
                    <a:lnTo>
                      <a:pt x="226" y="2589"/>
                    </a:lnTo>
                    <a:lnTo>
                      <a:pt x="226" y="2559"/>
                    </a:lnTo>
                    <a:lnTo>
                      <a:pt x="226" y="2526"/>
                    </a:lnTo>
                    <a:lnTo>
                      <a:pt x="226" y="2490"/>
                    </a:lnTo>
                    <a:lnTo>
                      <a:pt x="226" y="2451"/>
                    </a:lnTo>
                    <a:lnTo>
                      <a:pt x="226" y="2382"/>
                    </a:lnTo>
                    <a:lnTo>
                      <a:pt x="226" y="2364"/>
                    </a:lnTo>
                    <a:lnTo>
                      <a:pt x="226" y="2325"/>
                    </a:lnTo>
                    <a:lnTo>
                      <a:pt x="226" y="2290"/>
                    </a:lnTo>
                    <a:lnTo>
                      <a:pt x="226" y="2257"/>
                    </a:lnTo>
                    <a:lnTo>
                      <a:pt x="226" y="2228"/>
                    </a:lnTo>
                    <a:lnTo>
                      <a:pt x="226" y="2200"/>
                    </a:lnTo>
                    <a:lnTo>
                      <a:pt x="226" y="2176"/>
                    </a:lnTo>
                    <a:lnTo>
                      <a:pt x="226" y="2154"/>
                    </a:lnTo>
                    <a:lnTo>
                      <a:pt x="226" y="2136"/>
                    </a:lnTo>
                    <a:lnTo>
                      <a:pt x="226" y="2096"/>
                    </a:lnTo>
                    <a:lnTo>
                      <a:pt x="226" y="2055"/>
                    </a:lnTo>
                    <a:lnTo>
                      <a:pt x="226" y="1998"/>
                    </a:lnTo>
                    <a:lnTo>
                      <a:pt x="226" y="1952"/>
                    </a:lnTo>
                    <a:lnTo>
                      <a:pt x="226" y="1912"/>
                    </a:lnTo>
                    <a:lnTo>
                      <a:pt x="226" y="1809"/>
                    </a:lnTo>
                    <a:lnTo>
                      <a:pt x="226" y="1784"/>
                    </a:lnTo>
                    <a:lnTo>
                      <a:pt x="226" y="1758"/>
                    </a:lnTo>
                    <a:lnTo>
                      <a:pt x="226" y="1728"/>
                    </a:lnTo>
                    <a:lnTo>
                      <a:pt x="226" y="1696"/>
                    </a:lnTo>
                    <a:lnTo>
                      <a:pt x="226" y="1654"/>
                    </a:lnTo>
                    <a:lnTo>
                      <a:pt x="226" y="1611"/>
                    </a:lnTo>
                    <a:lnTo>
                      <a:pt x="226" y="1608"/>
                    </a:lnTo>
                    <a:lnTo>
                      <a:pt x="226" y="1604"/>
                    </a:lnTo>
                    <a:lnTo>
                      <a:pt x="226" y="1592"/>
                    </a:lnTo>
                    <a:lnTo>
                      <a:pt x="226" y="1578"/>
                    </a:lnTo>
                    <a:lnTo>
                      <a:pt x="226" y="1558"/>
                    </a:lnTo>
                    <a:lnTo>
                      <a:pt x="226" y="1547"/>
                    </a:lnTo>
                    <a:lnTo>
                      <a:pt x="226" y="1535"/>
                    </a:lnTo>
                    <a:lnTo>
                      <a:pt x="226" y="1521"/>
                    </a:lnTo>
                    <a:lnTo>
                      <a:pt x="226" y="1506"/>
                    </a:lnTo>
                    <a:lnTo>
                      <a:pt x="226" y="1474"/>
                    </a:lnTo>
                    <a:lnTo>
                      <a:pt x="226" y="1436"/>
                    </a:lnTo>
                    <a:lnTo>
                      <a:pt x="226" y="1416"/>
                    </a:lnTo>
                    <a:lnTo>
                      <a:pt x="226" y="1395"/>
                    </a:lnTo>
                    <a:lnTo>
                      <a:pt x="226" y="1357"/>
                    </a:lnTo>
                    <a:lnTo>
                      <a:pt x="226" y="1334"/>
                    </a:lnTo>
                    <a:lnTo>
                      <a:pt x="226" y="1309"/>
                    </a:lnTo>
                    <a:lnTo>
                      <a:pt x="226" y="1301"/>
                    </a:lnTo>
                    <a:lnTo>
                      <a:pt x="226" y="1255"/>
                    </a:lnTo>
                    <a:lnTo>
                      <a:pt x="226" y="1214"/>
                    </a:lnTo>
                    <a:lnTo>
                      <a:pt x="226" y="1176"/>
                    </a:lnTo>
                    <a:lnTo>
                      <a:pt x="226" y="1143"/>
                    </a:lnTo>
                    <a:lnTo>
                      <a:pt x="233" y="1143"/>
                    </a:lnTo>
                    <a:lnTo>
                      <a:pt x="235" y="1143"/>
                    </a:lnTo>
                    <a:lnTo>
                      <a:pt x="231" y="1123"/>
                    </a:lnTo>
                    <a:lnTo>
                      <a:pt x="229" y="1102"/>
                    </a:lnTo>
                    <a:lnTo>
                      <a:pt x="226" y="1058"/>
                    </a:lnTo>
                    <a:lnTo>
                      <a:pt x="226" y="1018"/>
                    </a:lnTo>
                    <a:lnTo>
                      <a:pt x="226" y="1000"/>
                    </a:lnTo>
                    <a:lnTo>
                      <a:pt x="226" y="932"/>
                    </a:lnTo>
                    <a:lnTo>
                      <a:pt x="226" y="875"/>
                    </a:lnTo>
                    <a:lnTo>
                      <a:pt x="226" y="850"/>
                    </a:lnTo>
                    <a:lnTo>
                      <a:pt x="226" y="827"/>
                    </a:lnTo>
                    <a:lnTo>
                      <a:pt x="226" y="786"/>
                    </a:lnTo>
                    <a:lnTo>
                      <a:pt x="226" y="769"/>
                    </a:lnTo>
                    <a:lnTo>
                      <a:pt x="226" y="754"/>
                    </a:lnTo>
                    <a:lnTo>
                      <a:pt x="226" y="64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47" name="Line 1082"/>
              <p:cNvSpPr>
                <a:spLocks noChangeShapeType="1"/>
              </p:cNvSpPr>
              <p:nvPr/>
            </p:nvSpPr>
            <p:spPr bwMode="auto">
              <a:xfrm>
                <a:off x="1541" y="1197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8" name="Line 1083"/>
              <p:cNvSpPr>
                <a:spLocks noChangeShapeType="1"/>
              </p:cNvSpPr>
              <p:nvPr/>
            </p:nvSpPr>
            <p:spPr bwMode="auto">
              <a:xfrm>
                <a:off x="1647" y="1197"/>
                <a:ext cx="0" cy="783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49" name="Freeform 1084"/>
              <p:cNvSpPr>
                <a:spLocks/>
              </p:cNvSpPr>
              <p:nvPr/>
            </p:nvSpPr>
            <p:spPr bwMode="auto">
              <a:xfrm>
                <a:off x="1608" y="943"/>
                <a:ext cx="285" cy="97"/>
              </a:xfrm>
              <a:custGeom>
                <a:avLst/>
                <a:gdLst>
                  <a:gd name="T0" fmla="*/ 0 w 1142"/>
                  <a:gd name="T1" fmla="*/ 0 h 388"/>
                  <a:gd name="T2" fmla="*/ 0 w 1142"/>
                  <a:gd name="T3" fmla="*/ 0 h 388"/>
                  <a:gd name="T4" fmla="*/ 0 w 1142"/>
                  <a:gd name="T5" fmla="*/ 0 h 388"/>
                  <a:gd name="T6" fmla="*/ 0 w 1142"/>
                  <a:gd name="T7" fmla="*/ 0 h 388"/>
                  <a:gd name="T8" fmla="*/ 0 w 1142"/>
                  <a:gd name="T9" fmla="*/ 0 h 388"/>
                  <a:gd name="T10" fmla="*/ 0 w 1142"/>
                  <a:gd name="T11" fmla="*/ 0 h 388"/>
                  <a:gd name="T12" fmla="*/ 0 w 1142"/>
                  <a:gd name="T13" fmla="*/ 0 h 388"/>
                  <a:gd name="T14" fmla="*/ 0 w 1142"/>
                  <a:gd name="T15" fmla="*/ 0 h 388"/>
                  <a:gd name="T16" fmla="*/ 0 w 1142"/>
                  <a:gd name="T17" fmla="*/ 0 h 388"/>
                  <a:gd name="T18" fmla="*/ 0 w 1142"/>
                  <a:gd name="T19" fmla="*/ 0 h 388"/>
                  <a:gd name="T20" fmla="*/ 0 w 1142"/>
                  <a:gd name="T21" fmla="*/ 0 h 388"/>
                  <a:gd name="T22" fmla="*/ 0 w 1142"/>
                  <a:gd name="T23" fmla="*/ 0 h 388"/>
                  <a:gd name="T24" fmla="*/ 0 w 1142"/>
                  <a:gd name="T25" fmla="*/ 0 h 388"/>
                  <a:gd name="T26" fmla="*/ 0 w 1142"/>
                  <a:gd name="T27" fmla="*/ 0 h 388"/>
                  <a:gd name="T28" fmla="*/ 0 w 1142"/>
                  <a:gd name="T29" fmla="*/ 0 h 388"/>
                  <a:gd name="T30" fmla="*/ 0 w 1142"/>
                  <a:gd name="T31" fmla="*/ 0 h 388"/>
                  <a:gd name="T32" fmla="*/ 0 w 1142"/>
                  <a:gd name="T33" fmla="*/ 0 h 388"/>
                  <a:gd name="T34" fmla="*/ 0 w 1142"/>
                  <a:gd name="T35" fmla="*/ 0 h 388"/>
                  <a:gd name="T36" fmla="*/ 0 w 1142"/>
                  <a:gd name="T37" fmla="*/ 0 h 388"/>
                  <a:gd name="T38" fmla="*/ 0 w 1142"/>
                  <a:gd name="T39" fmla="*/ 0 h 388"/>
                  <a:gd name="T40" fmla="*/ 0 w 1142"/>
                  <a:gd name="T41" fmla="*/ 0 h 388"/>
                  <a:gd name="T42" fmla="*/ 0 w 1142"/>
                  <a:gd name="T43" fmla="*/ 0 h 388"/>
                  <a:gd name="T44" fmla="*/ 0 w 1142"/>
                  <a:gd name="T45" fmla="*/ 0 h 388"/>
                  <a:gd name="T46" fmla="*/ 0 w 1142"/>
                  <a:gd name="T47" fmla="*/ 0 h 388"/>
                  <a:gd name="T48" fmla="*/ 0 w 1142"/>
                  <a:gd name="T49" fmla="*/ 0 h 388"/>
                  <a:gd name="T50" fmla="*/ 0 w 1142"/>
                  <a:gd name="T51" fmla="*/ 0 h 388"/>
                  <a:gd name="T52" fmla="*/ 0 w 1142"/>
                  <a:gd name="T53" fmla="*/ 0 h 388"/>
                  <a:gd name="T54" fmla="*/ 0 w 1142"/>
                  <a:gd name="T55" fmla="*/ 0 h 388"/>
                  <a:gd name="T56" fmla="*/ 0 w 1142"/>
                  <a:gd name="T57" fmla="*/ 0 h 388"/>
                  <a:gd name="T58" fmla="*/ 0 w 1142"/>
                  <a:gd name="T59" fmla="*/ 0 h 388"/>
                  <a:gd name="T60" fmla="*/ 0 w 1142"/>
                  <a:gd name="T61" fmla="*/ 0 h 388"/>
                  <a:gd name="T62" fmla="*/ 0 w 1142"/>
                  <a:gd name="T63" fmla="*/ 0 h 388"/>
                  <a:gd name="T64" fmla="*/ 0 w 1142"/>
                  <a:gd name="T65" fmla="*/ 0 h 388"/>
                  <a:gd name="T66" fmla="*/ 0 w 1142"/>
                  <a:gd name="T67" fmla="*/ 0 h 388"/>
                  <a:gd name="T68" fmla="*/ 0 w 1142"/>
                  <a:gd name="T69" fmla="*/ 0 h 388"/>
                  <a:gd name="T70" fmla="*/ 0 w 1142"/>
                  <a:gd name="T71" fmla="*/ 0 h 388"/>
                  <a:gd name="T72" fmla="*/ 0 w 1142"/>
                  <a:gd name="T73" fmla="*/ 0 h 388"/>
                  <a:gd name="T74" fmla="*/ 0 w 1142"/>
                  <a:gd name="T75" fmla="*/ 0 h 388"/>
                  <a:gd name="T76" fmla="*/ 0 w 1142"/>
                  <a:gd name="T77" fmla="*/ 0 h 388"/>
                  <a:gd name="T78" fmla="*/ 0 w 1142"/>
                  <a:gd name="T79" fmla="*/ 0 h 388"/>
                  <a:gd name="T80" fmla="*/ 0 w 1142"/>
                  <a:gd name="T81" fmla="*/ 0 h 388"/>
                  <a:gd name="T82" fmla="*/ 0 w 1142"/>
                  <a:gd name="T83" fmla="*/ 0 h 388"/>
                  <a:gd name="T84" fmla="*/ 0 w 1142"/>
                  <a:gd name="T85" fmla="*/ 0 h 388"/>
                  <a:gd name="T86" fmla="*/ 0 w 1142"/>
                  <a:gd name="T87" fmla="*/ 0 h 388"/>
                  <a:gd name="T88" fmla="*/ 0 w 1142"/>
                  <a:gd name="T89" fmla="*/ 0 h 388"/>
                  <a:gd name="T90" fmla="*/ 0 w 1142"/>
                  <a:gd name="T91" fmla="*/ 0 h 388"/>
                  <a:gd name="T92" fmla="*/ 0 w 1142"/>
                  <a:gd name="T93" fmla="*/ 0 h 388"/>
                  <a:gd name="T94" fmla="*/ 0 w 1142"/>
                  <a:gd name="T95" fmla="*/ 0 h 388"/>
                  <a:gd name="T96" fmla="*/ 0 w 1142"/>
                  <a:gd name="T97" fmla="*/ 0 h 388"/>
                  <a:gd name="T98" fmla="*/ 0 w 1142"/>
                  <a:gd name="T99" fmla="*/ 0 h 388"/>
                  <a:gd name="T100" fmla="*/ 0 w 1142"/>
                  <a:gd name="T101" fmla="*/ 0 h 38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42"/>
                  <a:gd name="T154" fmla="*/ 0 h 388"/>
                  <a:gd name="T155" fmla="*/ 1142 w 1142"/>
                  <a:gd name="T156" fmla="*/ 388 h 38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42" h="388">
                    <a:moveTo>
                      <a:pt x="7" y="0"/>
                    </a:moveTo>
                    <a:lnTo>
                      <a:pt x="0" y="0"/>
                    </a:lnTo>
                    <a:lnTo>
                      <a:pt x="0" y="128"/>
                    </a:lnTo>
                    <a:lnTo>
                      <a:pt x="2" y="127"/>
                    </a:lnTo>
                    <a:lnTo>
                      <a:pt x="5" y="128"/>
                    </a:lnTo>
                    <a:lnTo>
                      <a:pt x="7" y="128"/>
                    </a:lnTo>
                    <a:lnTo>
                      <a:pt x="66" y="127"/>
                    </a:lnTo>
                    <a:lnTo>
                      <a:pt x="125" y="129"/>
                    </a:lnTo>
                    <a:lnTo>
                      <a:pt x="183" y="132"/>
                    </a:lnTo>
                    <a:lnTo>
                      <a:pt x="241" y="137"/>
                    </a:lnTo>
                    <a:lnTo>
                      <a:pt x="297" y="142"/>
                    </a:lnTo>
                    <a:lnTo>
                      <a:pt x="353" y="150"/>
                    </a:lnTo>
                    <a:lnTo>
                      <a:pt x="407" y="159"/>
                    </a:lnTo>
                    <a:lnTo>
                      <a:pt x="462" y="171"/>
                    </a:lnTo>
                    <a:lnTo>
                      <a:pt x="514" y="182"/>
                    </a:lnTo>
                    <a:lnTo>
                      <a:pt x="567" y="196"/>
                    </a:lnTo>
                    <a:lnTo>
                      <a:pt x="618" y="211"/>
                    </a:lnTo>
                    <a:lnTo>
                      <a:pt x="669" y="230"/>
                    </a:lnTo>
                    <a:lnTo>
                      <a:pt x="718" y="247"/>
                    </a:lnTo>
                    <a:lnTo>
                      <a:pt x="767" y="268"/>
                    </a:lnTo>
                    <a:lnTo>
                      <a:pt x="814" y="289"/>
                    </a:lnTo>
                    <a:lnTo>
                      <a:pt x="862" y="313"/>
                    </a:lnTo>
                    <a:lnTo>
                      <a:pt x="902" y="333"/>
                    </a:lnTo>
                    <a:lnTo>
                      <a:pt x="917" y="340"/>
                    </a:lnTo>
                    <a:lnTo>
                      <a:pt x="919" y="340"/>
                    </a:lnTo>
                    <a:lnTo>
                      <a:pt x="915" y="340"/>
                    </a:lnTo>
                    <a:lnTo>
                      <a:pt x="928" y="350"/>
                    </a:lnTo>
                    <a:lnTo>
                      <a:pt x="948" y="363"/>
                    </a:lnTo>
                    <a:lnTo>
                      <a:pt x="953" y="365"/>
                    </a:lnTo>
                    <a:lnTo>
                      <a:pt x="991" y="388"/>
                    </a:lnTo>
                    <a:lnTo>
                      <a:pt x="1142" y="295"/>
                    </a:ln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0" name="Freeform 1085"/>
              <p:cNvSpPr>
                <a:spLocks/>
              </p:cNvSpPr>
              <p:nvPr/>
            </p:nvSpPr>
            <p:spPr bwMode="auto">
              <a:xfrm>
                <a:off x="1608" y="975"/>
                <a:ext cx="247" cy="89"/>
              </a:xfrm>
              <a:custGeom>
                <a:avLst/>
                <a:gdLst>
                  <a:gd name="T0" fmla="*/ 0 w 991"/>
                  <a:gd name="T1" fmla="*/ 0 h 356"/>
                  <a:gd name="T2" fmla="*/ 0 w 991"/>
                  <a:gd name="T3" fmla="*/ 0 h 356"/>
                  <a:gd name="T4" fmla="*/ 0 w 991"/>
                  <a:gd name="T5" fmla="*/ 0 h 356"/>
                  <a:gd name="T6" fmla="*/ 0 w 991"/>
                  <a:gd name="T7" fmla="*/ 0 h 356"/>
                  <a:gd name="T8" fmla="*/ 0 w 991"/>
                  <a:gd name="T9" fmla="*/ 0 h 356"/>
                  <a:gd name="T10" fmla="*/ 0 w 991"/>
                  <a:gd name="T11" fmla="*/ 0 h 356"/>
                  <a:gd name="T12" fmla="*/ 0 w 991"/>
                  <a:gd name="T13" fmla="*/ 0 h 356"/>
                  <a:gd name="T14" fmla="*/ 0 w 991"/>
                  <a:gd name="T15" fmla="*/ 0 h 356"/>
                  <a:gd name="T16" fmla="*/ 0 w 991"/>
                  <a:gd name="T17" fmla="*/ 0 h 356"/>
                  <a:gd name="T18" fmla="*/ 0 w 991"/>
                  <a:gd name="T19" fmla="*/ 0 h 356"/>
                  <a:gd name="T20" fmla="*/ 0 w 991"/>
                  <a:gd name="T21" fmla="*/ 0 h 356"/>
                  <a:gd name="T22" fmla="*/ 0 w 991"/>
                  <a:gd name="T23" fmla="*/ 0 h 356"/>
                  <a:gd name="T24" fmla="*/ 0 w 991"/>
                  <a:gd name="T25" fmla="*/ 0 h 356"/>
                  <a:gd name="T26" fmla="*/ 0 w 991"/>
                  <a:gd name="T27" fmla="*/ 0 h 356"/>
                  <a:gd name="T28" fmla="*/ 0 w 991"/>
                  <a:gd name="T29" fmla="*/ 0 h 356"/>
                  <a:gd name="T30" fmla="*/ 0 w 991"/>
                  <a:gd name="T31" fmla="*/ 0 h 356"/>
                  <a:gd name="T32" fmla="*/ 0 w 991"/>
                  <a:gd name="T33" fmla="*/ 0 h 356"/>
                  <a:gd name="T34" fmla="*/ 0 w 991"/>
                  <a:gd name="T35" fmla="*/ 0 h 356"/>
                  <a:gd name="T36" fmla="*/ 0 w 991"/>
                  <a:gd name="T37" fmla="*/ 0 h 356"/>
                  <a:gd name="T38" fmla="*/ 0 w 991"/>
                  <a:gd name="T39" fmla="*/ 0 h 356"/>
                  <a:gd name="T40" fmla="*/ 0 w 991"/>
                  <a:gd name="T41" fmla="*/ 0 h 356"/>
                  <a:gd name="T42" fmla="*/ 0 w 991"/>
                  <a:gd name="T43" fmla="*/ 0 h 356"/>
                  <a:gd name="T44" fmla="*/ 0 w 991"/>
                  <a:gd name="T45" fmla="*/ 0 h 356"/>
                  <a:gd name="T46" fmla="*/ 0 w 991"/>
                  <a:gd name="T47" fmla="*/ 0 h 356"/>
                  <a:gd name="T48" fmla="*/ 0 w 991"/>
                  <a:gd name="T49" fmla="*/ 0 h 356"/>
                  <a:gd name="T50" fmla="*/ 0 w 991"/>
                  <a:gd name="T51" fmla="*/ 0 h 356"/>
                  <a:gd name="T52" fmla="*/ 0 w 991"/>
                  <a:gd name="T53" fmla="*/ 0 h 356"/>
                  <a:gd name="T54" fmla="*/ 0 w 991"/>
                  <a:gd name="T55" fmla="*/ 0 h 356"/>
                  <a:gd name="T56" fmla="*/ 0 w 991"/>
                  <a:gd name="T57" fmla="*/ 0 h 356"/>
                  <a:gd name="T58" fmla="*/ 0 w 991"/>
                  <a:gd name="T59" fmla="*/ 0 h 356"/>
                  <a:gd name="T60" fmla="*/ 0 w 991"/>
                  <a:gd name="T61" fmla="*/ 0 h 356"/>
                  <a:gd name="T62" fmla="*/ 0 w 991"/>
                  <a:gd name="T63" fmla="*/ 0 h 356"/>
                  <a:gd name="T64" fmla="*/ 0 w 991"/>
                  <a:gd name="T65" fmla="*/ 0 h 356"/>
                  <a:gd name="T66" fmla="*/ 0 w 991"/>
                  <a:gd name="T67" fmla="*/ 0 h 356"/>
                  <a:gd name="T68" fmla="*/ 0 w 991"/>
                  <a:gd name="T69" fmla="*/ 0 h 356"/>
                  <a:gd name="T70" fmla="*/ 0 w 991"/>
                  <a:gd name="T71" fmla="*/ 0 h 356"/>
                  <a:gd name="T72" fmla="*/ 0 w 991"/>
                  <a:gd name="T73" fmla="*/ 0 h 356"/>
                  <a:gd name="T74" fmla="*/ 0 w 991"/>
                  <a:gd name="T75" fmla="*/ 0 h 356"/>
                  <a:gd name="T76" fmla="*/ 0 w 991"/>
                  <a:gd name="T77" fmla="*/ 0 h 356"/>
                  <a:gd name="T78" fmla="*/ 0 w 991"/>
                  <a:gd name="T79" fmla="*/ 0 h 356"/>
                  <a:gd name="T80" fmla="*/ 0 w 991"/>
                  <a:gd name="T81" fmla="*/ 0 h 356"/>
                  <a:gd name="T82" fmla="*/ 0 w 991"/>
                  <a:gd name="T83" fmla="*/ 0 h 356"/>
                  <a:gd name="T84" fmla="*/ 0 w 991"/>
                  <a:gd name="T85" fmla="*/ 0 h 356"/>
                  <a:gd name="T86" fmla="*/ 0 w 991"/>
                  <a:gd name="T87" fmla="*/ 0 h 356"/>
                  <a:gd name="T88" fmla="*/ 0 w 991"/>
                  <a:gd name="T89" fmla="*/ 0 h 356"/>
                  <a:gd name="T90" fmla="*/ 0 w 991"/>
                  <a:gd name="T91" fmla="*/ 0 h 356"/>
                  <a:gd name="T92" fmla="*/ 0 w 991"/>
                  <a:gd name="T93" fmla="*/ 0 h 356"/>
                  <a:gd name="T94" fmla="*/ 0 w 991"/>
                  <a:gd name="T95" fmla="*/ 0 h 356"/>
                  <a:gd name="T96" fmla="*/ 0 w 991"/>
                  <a:gd name="T97" fmla="*/ 0 h 35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1"/>
                  <a:gd name="T148" fmla="*/ 0 h 356"/>
                  <a:gd name="T149" fmla="*/ 991 w 991"/>
                  <a:gd name="T150" fmla="*/ 356 h 35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1" h="356">
                    <a:moveTo>
                      <a:pt x="0" y="128"/>
                    </a:moveTo>
                    <a:lnTo>
                      <a:pt x="3" y="128"/>
                    </a:lnTo>
                    <a:lnTo>
                      <a:pt x="56" y="128"/>
                    </a:lnTo>
                    <a:lnTo>
                      <a:pt x="109" y="130"/>
                    </a:lnTo>
                    <a:lnTo>
                      <a:pt x="160" y="133"/>
                    </a:lnTo>
                    <a:lnTo>
                      <a:pt x="211" y="138"/>
                    </a:lnTo>
                    <a:lnTo>
                      <a:pt x="213" y="138"/>
                    </a:lnTo>
                    <a:lnTo>
                      <a:pt x="281" y="146"/>
                    </a:lnTo>
                    <a:lnTo>
                      <a:pt x="314" y="151"/>
                    </a:lnTo>
                    <a:lnTo>
                      <a:pt x="348" y="158"/>
                    </a:lnTo>
                    <a:lnTo>
                      <a:pt x="380" y="164"/>
                    </a:lnTo>
                    <a:lnTo>
                      <a:pt x="413" y="172"/>
                    </a:lnTo>
                    <a:lnTo>
                      <a:pt x="477" y="189"/>
                    </a:lnTo>
                    <a:lnTo>
                      <a:pt x="538" y="208"/>
                    </a:lnTo>
                    <a:lnTo>
                      <a:pt x="599" y="230"/>
                    </a:lnTo>
                    <a:lnTo>
                      <a:pt x="658" y="255"/>
                    </a:lnTo>
                    <a:lnTo>
                      <a:pt x="686" y="268"/>
                    </a:lnTo>
                    <a:lnTo>
                      <a:pt x="715" y="283"/>
                    </a:lnTo>
                    <a:lnTo>
                      <a:pt x="761" y="309"/>
                    </a:lnTo>
                    <a:lnTo>
                      <a:pt x="763" y="311"/>
                    </a:lnTo>
                    <a:lnTo>
                      <a:pt x="801" y="334"/>
                    </a:lnTo>
                    <a:lnTo>
                      <a:pt x="837" y="356"/>
                    </a:lnTo>
                    <a:lnTo>
                      <a:pt x="991" y="261"/>
                    </a:lnTo>
                    <a:lnTo>
                      <a:pt x="953" y="238"/>
                    </a:lnTo>
                    <a:lnTo>
                      <a:pt x="948" y="236"/>
                    </a:lnTo>
                    <a:lnTo>
                      <a:pt x="928" y="223"/>
                    </a:lnTo>
                    <a:lnTo>
                      <a:pt x="915" y="213"/>
                    </a:lnTo>
                    <a:lnTo>
                      <a:pt x="902" y="206"/>
                    </a:lnTo>
                    <a:lnTo>
                      <a:pt x="862" y="186"/>
                    </a:lnTo>
                    <a:lnTo>
                      <a:pt x="814" y="162"/>
                    </a:lnTo>
                    <a:lnTo>
                      <a:pt x="767" y="141"/>
                    </a:lnTo>
                    <a:lnTo>
                      <a:pt x="718" y="120"/>
                    </a:lnTo>
                    <a:lnTo>
                      <a:pt x="669" y="103"/>
                    </a:lnTo>
                    <a:lnTo>
                      <a:pt x="618" y="84"/>
                    </a:lnTo>
                    <a:lnTo>
                      <a:pt x="567" y="69"/>
                    </a:lnTo>
                    <a:lnTo>
                      <a:pt x="514" y="55"/>
                    </a:lnTo>
                    <a:lnTo>
                      <a:pt x="462" y="44"/>
                    </a:lnTo>
                    <a:lnTo>
                      <a:pt x="407" y="32"/>
                    </a:lnTo>
                    <a:lnTo>
                      <a:pt x="353" y="23"/>
                    </a:lnTo>
                    <a:lnTo>
                      <a:pt x="297" y="15"/>
                    </a:lnTo>
                    <a:lnTo>
                      <a:pt x="241" y="10"/>
                    </a:lnTo>
                    <a:lnTo>
                      <a:pt x="183" y="5"/>
                    </a:lnTo>
                    <a:lnTo>
                      <a:pt x="125" y="2"/>
                    </a:lnTo>
                    <a:lnTo>
                      <a:pt x="66" y="0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1" name="Freeform 1086"/>
              <p:cNvSpPr>
                <a:spLocks/>
              </p:cNvSpPr>
              <p:nvPr/>
            </p:nvSpPr>
            <p:spPr bwMode="auto">
              <a:xfrm>
                <a:off x="1608" y="1007"/>
                <a:ext cx="209" cy="81"/>
              </a:xfrm>
              <a:custGeom>
                <a:avLst/>
                <a:gdLst>
                  <a:gd name="T0" fmla="*/ 0 w 837"/>
                  <a:gd name="T1" fmla="*/ 0 h 326"/>
                  <a:gd name="T2" fmla="*/ 0 w 837"/>
                  <a:gd name="T3" fmla="*/ 0 h 326"/>
                  <a:gd name="T4" fmla="*/ 0 w 837"/>
                  <a:gd name="T5" fmla="*/ 0 h 326"/>
                  <a:gd name="T6" fmla="*/ 0 w 837"/>
                  <a:gd name="T7" fmla="*/ 0 h 326"/>
                  <a:gd name="T8" fmla="*/ 0 w 837"/>
                  <a:gd name="T9" fmla="*/ 0 h 326"/>
                  <a:gd name="T10" fmla="*/ 0 w 837"/>
                  <a:gd name="T11" fmla="*/ 0 h 326"/>
                  <a:gd name="T12" fmla="*/ 0 w 837"/>
                  <a:gd name="T13" fmla="*/ 0 h 326"/>
                  <a:gd name="T14" fmla="*/ 0 w 837"/>
                  <a:gd name="T15" fmla="*/ 0 h 326"/>
                  <a:gd name="T16" fmla="*/ 0 w 837"/>
                  <a:gd name="T17" fmla="*/ 0 h 326"/>
                  <a:gd name="T18" fmla="*/ 0 w 837"/>
                  <a:gd name="T19" fmla="*/ 0 h 326"/>
                  <a:gd name="T20" fmla="*/ 0 w 837"/>
                  <a:gd name="T21" fmla="*/ 0 h 326"/>
                  <a:gd name="T22" fmla="*/ 0 w 837"/>
                  <a:gd name="T23" fmla="*/ 0 h 326"/>
                  <a:gd name="T24" fmla="*/ 0 w 837"/>
                  <a:gd name="T25" fmla="*/ 0 h 326"/>
                  <a:gd name="T26" fmla="*/ 0 w 837"/>
                  <a:gd name="T27" fmla="*/ 0 h 326"/>
                  <a:gd name="T28" fmla="*/ 0 w 837"/>
                  <a:gd name="T29" fmla="*/ 0 h 326"/>
                  <a:gd name="T30" fmla="*/ 0 w 837"/>
                  <a:gd name="T31" fmla="*/ 0 h 326"/>
                  <a:gd name="T32" fmla="*/ 0 w 837"/>
                  <a:gd name="T33" fmla="*/ 0 h 326"/>
                  <a:gd name="T34" fmla="*/ 0 w 837"/>
                  <a:gd name="T35" fmla="*/ 0 h 326"/>
                  <a:gd name="T36" fmla="*/ 0 w 837"/>
                  <a:gd name="T37" fmla="*/ 0 h 326"/>
                  <a:gd name="T38" fmla="*/ 0 w 837"/>
                  <a:gd name="T39" fmla="*/ 0 h 326"/>
                  <a:gd name="T40" fmla="*/ 0 w 837"/>
                  <a:gd name="T41" fmla="*/ 0 h 326"/>
                  <a:gd name="T42" fmla="*/ 0 w 837"/>
                  <a:gd name="T43" fmla="*/ 0 h 326"/>
                  <a:gd name="T44" fmla="*/ 0 w 837"/>
                  <a:gd name="T45" fmla="*/ 0 h 326"/>
                  <a:gd name="T46" fmla="*/ 0 w 837"/>
                  <a:gd name="T47" fmla="*/ 0 h 326"/>
                  <a:gd name="T48" fmla="*/ 0 w 837"/>
                  <a:gd name="T49" fmla="*/ 0 h 326"/>
                  <a:gd name="T50" fmla="*/ 0 w 837"/>
                  <a:gd name="T51" fmla="*/ 0 h 326"/>
                  <a:gd name="T52" fmla="*/ 0 w 837"/>
                  <a:gd name="T53" fmla="*/ 0 h 326"/>
                  <a:gd name="T54" fmla="*/ 0 w 837"/>
                  <a:gd name="T55" fmla="*/ 0 h 326"/>
                  <a:gd name="T56" fmla="*/ 0 w 837"/>
                  <a:gd name="T57" fmla="*/ 0 h 326"/>
                  <a:gd name="T58" fmla="*/ 0 w 837"/>
                  <a:gd name="T59" fmla="*/ 0 h 326"/>
                  <a:gd name="T60" fmla="*/ 0 w 837"/>
                  <a:gd name="T61" fmla="*/ 0 h 326"/>
                  <a:gd name="T62" fmla="*/ 0 w 837"/>
                  <a:gd name="T63" fmla="*/ 0 h 326"/>
                  <a:gd name="T64" fmla="*/ 0 w 837"/>
                  <a:gd name="T65" fmla="*/ 0 h 326"/>
                  <a:gd name="T66" fmla="*/ 0 w 837"/>
                  <a:gd name="T67" fmla="*/ 0 h 326"/>
                  <a:gd name="T68" fmla="*/ 0 w 837"/>
                  <a:gd name="T69" fmla="*/ 0 h 326"/>
                  <a:gd name="T70" fmla="*/ 0 w 837"/>
                  <a:gd name="T71" fmla="*/ 0 h 326"/>
                  <a:gd name="T72" fmla="*/ 0 w 837"/>
                  <a:gd name="T73" fmla="*/ 0 h 326"/>
                  <a:gd name="T74" fmla="*/ 0 w 837"/>
                  <a:gd name="T75" fmla="*/ 0 h 326"/>
                  <a:gd name="T76" fmla="*/ 0 w 837"/>
                  <a:gd name="T77" fmla="*/ 0 h 326"/>
                  <a:gd name="T78" fmla="*/ 0 w 837"/>
                  <a:gd name="T79" fmla="*/ 0 h 326"/>
                  <a:gd name="T80" fmla="*/ 0 w 837"/>
                  <a:gd name="T81" fmla="*/ 0 h 326"/>
                  <a:gd name="T82" fmla="*/ 0 w 837"/>
                  <a:gd name="T83" fmla="*/ 0 h 326"/>
                  <a:gd name="T84" fmla="*/ 0 w 837"/>
                  <a:gd name="T85" fmla="*/ 0 h 326"/>
                  <a:gd name="T86" fmla="*/ 0 w 837"/>
                  <a:gd name="T87" fmla="*/ 0 h 326"/>
                  <a:gd name="T88" fmla="*/ 0 w 837"/>
                  <a:gd name="T89" fmla="*/ 0 h 32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37"/>
                  <a:gd name="T136" fmla="*/ 0 h 326"/>
                  <a:gd name="T137" fmla="*/ 837 w 837"/>
                  <a:gd name="T138" fmla="*/ 326 h 32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37" h="326">
                    <a:moveTo>
                      <a:pt x="3" y="0"/>
                    </a:moveTo>
                    <a:lnTo>
                      <a:pt x="0" y="0"/>
                    </a:lnTo>
                    <a:lnTo>
                      <a:pt x="0" y="138"/>
                    </a:lnTo>
                    <a:lnTo>
                      <a:pt x="3" y="138"/>
                    </a:lnTo>
                    <a:lnTo>
                      <a:pt x="41" y="137"/>
                    </a:lnTo>
                    <a:lnTo>
                      <a:pt x="79" y="138"/>
                    </a:lnTo>
                    <a:lnTo>
                      <a:pt x="154" y="143"/>
                    </a:lnTo>
                    <a:lnTo>
                      <a:pt x="190" y="146"/>
                    </a:lnTo>
                    <a:lnTo>
                      <a:pt x="226" y="151"/>
                    </a:lnTo>
                    <a:lnTo>
                      <a:pt x="261" y="157"/>
                    </a:lnTo>
                    <a:lnTo>
                      <a:pt x="297" y="165"/>
                    </a:lnTo>
                    <a:lnTo>
                      <a:pt x="330" y="172"/>
                    </a:lnTo>
                    <a:lnTo>
                      <a:pt x="364" y="181"/>
                    </a:lnTo>
                    <a:lnTo>
                      <a:pt x="431" y="202"/>
                    </a:lnTo>
                    <a:lnTo>
                      <a:pt x="462" y="213"/>
                    </a:lnTo>
                    <a:lnTo>
                      <a:pt x="494" y="226"/>
                    </a:lnTo>
                    <a:lnTo>
                      <a:pt x="525" y="240"/>
                    </a:lnTo>
                    <a:lnTo>
                      <a:pt x="557" y="256"/>
                    </a:lnTo>
                    <a:lnTo>
                      <a:pt x="624" y="291"/>
                    </a:lnTo>
                    <a:lnTo>
                      <a:pt x="625" y="291"/>
                    </a:lnTo>
                    <a:lnTo>
                      <a:pt x="626" y="294"/>
                    </a:lnTo>
                    <a:lnTo>
                      <a:pt x="629" y="294"/>
                    </a:lnTo>
                    <a:lnTo>
                      <a:pt x="631" y="296"/>
                    </a:lnTo>
                    <a:lnTo>
                      <a:pt x="679" y="326"/>
                    </a:lnTo>
                    <a:lnTo>
                      <a:pt x="837" y="228"/>
                    </a:ln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2" name="Freeform 1087"/>
              <p:cNvSpPr>
                <a:spLocks/>
              </p:cNvSpPr>
              <p:nvPr/>
            </p:nvSpPr>
            <p:spPr bwMode="auto">
              <a:xfrm>
                <a:off x="1351" y="975"/>
                <a:ext cx="257" cy="95"/>
              </a:xfrm>
              <a:custGeom>
                <a:avLst/>
                <a:gdLst>
                  <a:gd name="T0" fmla="*/ 0 w 1029"/>
                  <a:gd name="T1" fmla="*/ 0 h 381"/>
                  <a:gd name="T2" fmla="*/ 0 w 1029"/>
                  <a:gd name="T3" fmla="*/ 0 h 381"/>
                  <a:gd name="T4" fmla="*/ 0 w 1029"/>
                  <a:gd name="T5" fmla="*/ 0 h 381"/>
                  <a:gd name="T6" fmla="*/ 0 w 1029"/>
                  <a:gd name="T7" fmla="*/ 0 h 381"/>
                  <a:gd name="T8" fmla="*/ 0 w 1029"/>
                  <a:gd name="T9" fmla="*/ 0 h 381"/>
                  <a:gd name="T10" fmla="*/ 0 w 1029"/>
                  <a:gd name="T11" fmla="*/ 0 h 381"/>
                  <a:gd name="T12" fmla="*/ 0 w 1029"/>
                  <a:gd name="T13" fmla="*/ 0 h 381"/>
                  <a:gd name="T14" fmla="*/ 0 w 1029"/>
                  <a:gd name="T15" fmla="*/ 0 h 381"/>
                  <a:gd name="T16" fmla="*/ 0 w 1029"/>
                  <a:gd name="T17" fmla="*/ 0 h 381"/>
                  <a:gd name="T18" fmla="*/ 0 w 1029"/>
                  <a:gd name="T19" fmla="*/ 0 h 381"/>
                  <a:gd name="T20" fmla="*/ 0 w 1029"/>
                  <a:gd name="T21" fmla="*/ 0 h 381"/>
                  <a:gd name="T22" fmla="*/ 0 w 1029"/>
                  <a:gd name="T23" fmla="*/ 0 h 381"/>
                  <a:gd name="T24" fmla="*/ 0 w 1029"/>
                  <a:gd name="T25" fmla="*/ 0 h 381"/>
                  <a:gd name="T26" fmla="*/ 0 w 1029"/>
                  <a:gd name="T27" fmla="*/ 0 h 381"/>
                  <a:gd name="T28" fmla="*/ 0 w 1029"/>
                  <a:gd name="T29" fmla="*/ 0 h 381"/>
                  <a:gd name="T30" fmla="*/ 0 w 1029"/>
                  <a:gd name="T31" fmla="*/ 0 h 381"/>
                  <a:gd name="T32" fmla="*/ 0 w 1029"/>
                  <a:gd name="T33" fmla="*/ 0 h 381"/>
                  <a:gd name="T34" fmla="*/ 0 w 1029"/>
                  <a:gd name="T35" fmla="*/ 0 h 381"/>
                  <a:gd name="T36" fmla="*/ 0 w 1029"/>
                  <a:gd name="T37" fmla="*/ 0 h 381"/>
                  <a:gd name="T38" fmla="*/ 0 w 1029"/>
                  <a:gd name="T39" fmla="*/ 0 h 381"/>
                  <a:gd name="T40" fmla="*/ 0 w 1029"/>
                  <a:gd name="T41" fmla="*/ 0 h 381"/>
                  <a:gd name="T42" fmla="*/ 0 w 1029"/>
                  <a:gd name="T43" fmla="*/ 0 h 381"/>
                  <a:gd name="T44" fmla="*/ 0 w 1029"/>
                  <a:gd name="T45" fmla="*/ 0 h 381"/>
                  <a:gd name="T46" fmla="*/ 0 w 1029"/>
                  <a:gd name="T47" fmla="*/ 0 h 381"/>
                  <a:gd name="T48" fmla="*/ 0 w 1029"/>
                  <a:gd name="T49" fmla="*/ 0 h 381"/>
                  <a:gd name="T50" fmla="*/ 0 w 1029"/>
                  <a:gd name="T51" fmla="*/ 0 h 381"/>
                  <a:gd name="T52" fmla="*/ 0 w 1029"/>
                  <a:gd name="T53" fmla="*/ 0 h 381"/>
                  <a:gd name="T54" fmla="*/ 0 w 1029"/>
                  <a:gd name="T55" fmla="*/ 0 h 381"/>
                  <a:gd name="T56" fmla="*/ 0 w 1029"/>
                  <a:gd name="T57" fmla="*/ 0 h 381"/>
                  <a:gd name="T58" fmla="*/ 0 w 1029"/>
                  <a:gd name="T59" fmla="*/ 0 h 381"/>
                  <a:gd name="T60" fmla="*/ 0 w 1029"/>
                  <a:gd name="T61" fmla="*/ 0 h 381"/>
                  <a:gd name="T62" fmla="*/ 0 w 1029"/>
                  <a:gd name="T63" fmla="*/ 0 h 381"/>
                  <a:gd name="T64" fmla="*/ 0 w 1029"/>
                  <a:gd name="T65" fmla="*/ 0 h 381"/>
                  <a:gd name="T66" fmla="*/ 0 w 1029"/>
                  <a:gd name="T67" fmla="*/ 0 h 381"/>
                  <a:gd name="T68" fmla="*/ 0 w 1029"/>
                  <a:gd name="T69" fmla="*/ 0 h 381"/>
                  <a:gd name="T70" fmla="*/ 0 w 1029"/>
                  <a:gd name="T71" fmla="*/ 0 h 381"/>
                  <a:gd name="T72" fmla="*/ 0 w 1029"/>
                  <a:gd name="T73" fmla="*/ 0 h 381"/>
                  <a:gd name="T74" fmla="*/ 0 w 1029"/>
                  <a:gd name="T75" fmla="*/ 0 h 381"/>
                  <a:gd name="T76" fmla="*/ 0 w 1029"/>
                  <a:gd name="T77" fmla="*/ 0 h 381"/>
                  <a:gd name="T78" fmla="*/ 0 w 1029"/>
                  <a:gd name="T79" fmla="*/ 0 h 381"/>
                  <a:gd name="T80" fmla="*/ 0 w 1029"/>
                  <a:gd name="T81" fmla="*/ 0 h 38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029"/>
                  <a:gd name="T124" fmla="*/ 0 h 381"/>
                  <a:gd name="T125" fmla="*/ 1029 w 1029"/>
                  <a:gd name="T126" fmla="*/ 381 h 38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029" h="381">
                    <a:moveTo>
                      <a:pt x="1029" y="128"/>
                    </a:moveTo>
                    <a:lnTo>
                      <a:pt x="1029" y="1"/>
                    </a:lnTo>
                    <a:lnTo>
                      <a:pt x="964" y="0"/>
                    </a:lnTo>
                    <a:lnTo>
                      <a:pt x="901" y="3"/>
                    </a:lnTo>
                    <a:lnTo>
                      <a:pt x="838" y="6"/>
                    </a:lnTo>
                    <a:lnTo>
                      <a:pt x="778" y="13"/>
                    </a:lnTo>
                    <a:lnTo>
                      <a:pt x="717" y="20"/>
                    </a:lnTo>
                    <a:lnTo>
                      <a:pt x="659" y="29"/>
                    </a:lnTo>
                    <a:lnTo>
                      <a:pt x="601" y="39"/>
                    </a:lnTo>
                    <a:lnTo>
                      <a:pt x="545" y="52"/>
                    </a:lnTo>
                    <a:lnTo>
                      <a:pt x="488" y="65"/>
                    </a:lnTo>
                    <a:lnTo>
                      <a:pt x="433" y="81"/>
                    </a:lnTo>
                    <a:lnTo>
                      <a:pt x="379" y="99"/>
                    </a:lnTo>
                    <a:lnTo>
                      <a:pt x="327" y="118"/>
                    </a:lnTo>
                    <a:lnTo>
                      <a:pt x="275" y="138"/>
                    </a:lnTo>
                    <a:lnTo>
                      <a:pt x="225" y="161"/>
                    </a:lnTo>
                    <a:lnTo>
                      <a:pt x="176" y="184"/>
                    </a:lnTo>
                    <a:lnTo>
                      <a:pt x="129" y="211"/>
                    </a:lnTo>
                    <a:lnTo>
                      <a:pt x="16" y="278"/>
                    </a:lnTo>
                    <a:lnTo>
                      <a:pt x="7" y="283"/>
                    </a:lnTo>
                    <a:lnTo>
                      <a:pt x="0" y="291"/>
                    </a:lnTo>
                    <a:lnTo>
                      <a:pt x="162" y="381"/>
                    </a:lnTo>
                    <a:lnTo>
                      <a:pt x="190" y="360"/>
                    </a:lnTo>
                    <a:lnTo>
                      <a:pt x="222" y="341"/>
                    </a:lnTo>
                    <a:lnTo>
                      <a:pt x="252" y="324"/>
                    </a:lnTo>
                    <a:lnTo>
                      <a:pt x="292" y="299"/>
                    </a:lnTo>
                    <a:lnTo>
                      <a:pt x="334" y="277"/>
                    </a:lnTo>
                    <a:lnTo>
                      <a:pt x="376" y="256"/>
                    </a:lnTo>
                    <a:lnTo>
                      <a:pt x="421" y="238"/>
                    </a:lnTo>
                    <a:lnTo>
                      <a:pt x="466" y="219"/>
                    </a:lnTo>
                    <a:lnTo>
                      <a:pt x="512" y="204"/>
                    </a:lnTo>
                    <a:lnTo>
                      <a:pt x="559" y="189"/>
                    </a:lnTo>
                    <a:lnTo>
                      <a:pt x="608" y="177"/>
                    </a:lnTo>
                    <a:lnTo>
                      <a:pt x="656" y="164"/>
                    </a:lnTo>
                    <a:lnTo>
                      <a:pt x="706" y="155"/>
                    </a:lnTo>
                    <a:lnTo>
                      <a:pt x="757" y="146"/>
                    </a:lnTo>
                    <a:lnTo>
                      <a:pt x="810" y="140"/>
                    </a:lnTo>
                    <a:lnTo>
                      <a:pt x="862" y="134"/>
                    </a:lnTo>
                    <a:lnTo>
                      <a:pt x="917" y="131"/>
                    </a:lnTo>
                    <a:lnTo>
                      <a:pt x="972" y="128"/>
                    </a:lnTo>
                    <a:lnTo>
                      <a:pt x="1029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3" name="Freeform 1088"/>
              <p:cNvSpPr>
                <a:spLocks/>
              </p:cNvSpPr>
              <p:nvPr/>
            </p:nvSpPr>
            <p:spPr bwMode="auto">
              <a:xfrm>
                <a:off x="1312" y="943"/>
                <a:ext cx="296" cy="105"/>
              </a:xfrm>
              <a:custGeom>
                <a:avLst/>
                <a:gdLst>
                  <a:gd name="T0" fmla="*/ 0 w 1181"/>
                  <a:gd name="T1" fmla="*/ 0 h 418"/>
                  <a:gd name="T2" fmla="*/ 0 w 1181"/>
                  <a:gd name="T3" fmla="*/ 0 h 418"/>
                  <a:gd name="T4" fmla="*/ 0 w 1181"/>
                  <a:gd name="T5" fmla="*/ 0 h 418"/>
                  <a:gd name="T6" fmla="*/ 0 w 1181"/>
                  <a:gd name="T7" fmla="*/ 0 h 418"/>
                  <a:gd name="T8" fmla="*/ 0 w 1181"/>
                  <a:gd name="T9" fmla="*/ 0 h 418"/>
                  <a:gd name="T10" fmla="*/ 0 w 1181"/>
                  <a:gd name="T11" fmla="*/ 0 h 418"/>
                  <a:gd name="T12" fmla="*/ 0 w 1181"/>
                  <a:gd name="T13" fmla="*/ 0 h 418"/>
                  <a:gd name="T14" fmla="*/ 0 w 1181"/>
                  <a:gd name="T15" fmla="*/ 0 h 418"/>
                  <a:gd name="T16" fmla="*/ 0 w 1181"/>
                  <a:gd name="T17" fmla="*/ 0 h 418"/>
                  <a:gd name="T18" fmla="*/ 0 w 1181"/>
                  <a:gd name="T19" fmla="*/ 0 h 418"/>
                  <a:gd name="T20" fmla="*/ 0 w 1181"/>
                  <a:gd name="T21" fmla="*/ 0 h 418"/>
                  <a:gd name="T22" fmla="*/ 0 w 1181"/>
                  <a:gd name="T23" fmla="*/ 0 h 418"/>
                  <a:gd name="T24" fmla="*/ 0 w 1181"/>
                  <a:gd name="T25" fmla="*/ 0 h 418"/>
                  <a:gd name="T26" fmla="*/ 0 w 1181"/>
                  <a:gd name="T27" fmla="*/ 0 h 418"/>
                  <a:gd name="T28" fmla="*/ 0 w 1181"/>
                  <a:gd name="T29" fmla="*/ 0 h 418"/>
                  <a:gd name="T30" fmla="*/ 0 w 1181"/>
                  <a:gd name="T31" fmla="*/ 0 h 418"/>
                  <a:gd name="T32" fmla="*/ 0 w 1181"/>
                  <a:gd name="T33" fmla="*/ 0 h 418"/>
                  <a:gd name="T34" fmla="*/ 0 w 1181"/>
                  <a:gd name="T35" fmla="*/ 0 h 418"/>
                  <a:gd name="T36" fmla="*/ 0 w 1181"/>
                  <a:gd name="T37" fmla="*/ 0 h 418"/>
                  <a:gd name="T38" fmla="*/ 0 w 1181"/>
                  <a:gd name="T39" fmla="*/ 0 h 418"/>
                  <a:gd name="T40" fmla="*/ 0 w 1181"/>
                  <a:gd name="T41" fmla="*/ 0 h 418"/>
                  <a:gd name="T42" fmla="*/ 0 w 1181"/>
                  <a:gd name="T43" fmla="*/ 0 h 418"/>
                  <a:gd name="T44" fmla="*/ 0 w 1181"/>
                  <a:gd name="T45" fmla="*/ 0 h 418"/>
                  <a:gd name="T46" fmla="*/ 0 w 1181"/>
                  <a:gd name="T47" fmla="*/ 0 h 418"/>
                  <a:gd name="T48" fmla="*/ 0 w 1181"/>
                  <a:gd name="T49" fmla="*/ 0 h 418"/>
                  <a:gd name="T50" fmla="*/ 0 w 1181"/>
                  <a:gd name="T51" fmla="*/ 0 h 418"/>
                  <a:gd name="T52" fmla="*/ 0 w 1181"/>
                  <a:gd name="T53" fmla="*/ 0 h 418"/>
                  <a:gd name="T54" fmla="*/ 0 w 1181"/>
                  <a:gd name="T55" fmla="*/ 0 h 418"/>
                  <a:gd name="T56" fmla="*/ 0 w 1181"/>
                  <a:gd name="T57" fmla="*/ 0 h 418"/>
                  <a:gd name="T58" fmla="*/ 0 w 1181"/>
                  <a:gd name="T59" fmla="*/ 0 h 418"/>
                  <a:gd name="T60" fmla="*/ 0 w 1181"/>
                  <a:gd name="T61" fmla="*/ 0 h 418"/>
                  <a:gd name="T62" fmla="*/ 0 w 1181"/>
                  <a:gd name="T63" fmla="*/ 0 h 418"/>
                  <a:gd name="T64" fmla="*/ 0 w 1181"/>
                  <a:gd name="T65" fmla="*/ 0 h 418"/>
                  <a:gd name="T66" fmla="*/ 0 w 1181"/>
                  <a:gd name="T67" fmla="*/ 0 h 418"/>
                  <a:gd name="T68" fmla="*/ 0 w 1181"/>
                  <a:gd name="T69" fmla="*/ 0 h 418"/>
                  <a:gd name="T70" fmla="*/ 0 w 1181"/>
                  <a:gd name="T71" fmla="*/ 0 h 418"/>
                  <a:gd name="T72" fmla="*/ 0 w 1181"/>
                  <a:gd name="T73" fmla="*/ 0 h 418"/>
                  <a:gd name="T74" fmla="*/ 0 w 1181"/>
                  <a:gd name="T75" fmla="*/ 0 h 418"/>
                  <a:gd name="T76" fmla="*/ 0 w 1181"/>
                  <a:gd name="T77" fmla="*/ 0 h 418"/>
                  <a:gd name="T78" fmla="*/ 0 w 1181"/>
                  <a:gd name="T79" fmla="*/ 0 h 418"/>
                  <a:gd name="T80" fmla="*/ 0 w 1181"/>
                  <a:gd name="T81" fmla="*/ 0 h 418"/>
                  <a:gd name="T82" fmla="*/ 0 w 1181"/>
                  <a:gd name="T83" fmla="*/ 0 h 418"/>
                  <a:gd name="T84" fmla="*/ 0 w 1181"/>
                  <a:gd name="T85" fmla="*/ 0 h 41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181"/>
                  <a:gd name="T130" fmla="*/ 0 h 418"/>
                  <a:gd name="T131" fmla="*/ 1181 w 1181"/>
                  <a:gd name="T132" fmla="*/ 418 h 41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181" h="418">
                    <a:moveTo>
                      <a:pt x="1181" y="128"/>
                    </a:moveTo>
                    <a:lnTo>
                      <a:pt x="1181" y="0"/>
                    </a:ln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  <a:lnTo>
                      <a:pt x="152" y="418"/>
                    </a:lnTo>
                    <a:lnTo>
                      <a:pt x="152" y="416"/>
                    </a:lnTo>
                    <a:lnTo>
                      <a:pt x="152" y="418"/>
                    </a:lnTo>
                    <a:lnTo>
                      <a:pt x="159" y="410"/>
                    </a:lnTo>
                    <a:lnTo>
                      <a:pt x="168" y="405"/>
                    </a:lnTo>
                    <a:lnTo>
                      <a:pt x="281" y="338"/>
                    </a:lnTo>
                    <a:lnTo>
                      <a:pt x="328" y="311"/>
                    </a:lnTo>
                    <a:lnTo>
                      <a:pt x="377" y="288"/>
                    </a:lnTo>
                    <a:lnTo>
                      <a:pt x="427" y="265"/>
                    </a:lnTo>
                    <a:lnTo>
                      <a:pt x="479" y="245"/>
                    </a:lnTo>
                    <a:lnTo>
                      <a:pt x="531" y="226"/>
                    </a:lnTo>
                    <a:lnTo>
                      <a:pt x="585" y="208"/>
                    </a:lnTo>
                    <a:lnTo>
                      <a:pt x="640" y="192"/>
                    </a:lnTo>
                    <a:lnTo>
                      <a:pt x="697" y="179"/>
                    </a:lnTo>
                    <a:lnTo>
                      <a:pt x="753" y="166"/>
                    </a:lnTo>
                    <a:lnTo>
                      <a:pt x="811" y="156"/>
                    </a:lnTo>
                    <a:lnTo>
                      <a:pt x="869" y="147"/>
                    </a:lnTo>
                    <a:lnTo>
                      <a:pt x="930" y="140"/>
                    </a:lnTo>
                    <a:lnTo>
                      <a:pt x="990" y="133"/>
                    </a:lnTo>
                    <a:lnTo>
                      <a:pt x="1053" y="130"/>
                    </a:lnTo>
                    <a:lnTo>
                      <a:pt x="1116" y="127"/>
                    </a:lnTo>
                    <a:lnTo>
                      <a:pt x="1181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4" name="Freeform 1089"/>
              <p:cNvSpPr>
                <a:spLocks noEditPoints="1"/>
              </p:cNvSpPr>
              <p:nvPr/>
            </p:nvSpPr>
            <p:spPr bwMode="auto">
              <a:xfrm>
                <a:off x="1383" y="1041"/>
                <a:ext cx="449" cy="279"/>
              </a:xfrm>
              <a:custGeom>
                <a:avLst/>
                <a:gdLst>
                  <a:gd name="T0" fmla="*/ 0 w 1799"/>
                  <a:gd name="T1" fmla="*/ 0 h 1117"/>
                  <a:gd name="T2" fmla="*/ 0 w 1799"/>
                  <a:gd name="T3" fmla="*/ 0 h 1117"/>
                  <a:gd name="T4" fmla="*/ 0 w 1799"/>
                  <a:gd name="T5" fmla="*/ 0 h 1117"/>
                  <a:gd name="T6" fmla="*/ 0 w 1799"/>
                  <a:gd name="T7" fmla="*/ 0 h 1117"/>
                  <a:gd name="T8" fmla="*/ 0 w 1799"/>
                  <a:gd name="T9" fmla="*/ 0 h 1117"/>
                  <a:gd name="T10" fmla="*/ 0 w 1799"/>
                  <a:gd name="T11" fmla="*/ 0 h 1117"/>
                  <a:gd name="T12" fmla="*/ 0 w 1799"/>
                  <a:gd name="T13" fmla="*/ 0 h 1117"/>
                  <a:gd name="T14" fmla="*/ 0 w 1799"/>
                  <a:gd name="T15" fmla="*/ 0 h 1117"/>
                  <a:gd name="T16" fmla="*/ 0 w 1799"/>
                  <a:gd name="T17" fmla="*/ 0 h 1117"/>
                  <a:gd name="T18" fmla="*/ 0 w 1799"/>
                  <a:gd name="T19" fmla="*/ 0 h 1117"/>
                  <a:gd name="T20" fmla="*/ 0 w 1799"/>
                  <a:gd name="T21" fmla="*/ 0 h 1117"/>
                  <a:gd name="T22" fmla="*/ 0 w 1799"/>
                  <a:gd name="T23" fmla="*/ 0 h 1117"/>
                  <a:gd name="T24" fmla="*/ 0 w 1799"/>
                  <a:gd name="T25" fmla="*/ 0 h 1117"/>
                  <a:gd name="T26" fmla="*/ 0 w 1799"/>
                  <a:gd name="T27" fmla="*/ 0 h 1117"/>
                  <a:gd name="T28" fmla="*/ 0 w 1799"/>
                  <a:gd name="T29" fmla="*/ 0 h 1117"/>
                  <a:gd name="T30" fmla="*/ 0 w 1799"/>
                  <a:gd name="T31" fmla="*/ 0 h 1117"/>
                  <a:gd name="T32" fmla="*/ 0 w 1799"/>
                  <a:gd name="T33" fmla="*/ 0 h 1117"/>
                  <a:gd name="T34" fmla="*/ 0 w 1799"/>
                  <a:gd name="T35" fmla="*/ 0 h 1117"/>
                  <a:gd name="T36" fmla="*/ 0 w 1799"/>
                  <a:gd name="T37" fmla="*/ 0 h 1117"/>
                  <a:gd name="T38" fmla="*/ 0 w 1799"/>
                  <a:gd name="T39" fmla="*/ 0 h 1117"/>
                  <a:gd name="T40" fmla="*/ 0 w 1799"/>
                  <a:gd name="T41" fmla="*/ 0 h 1117"/>
                  <a:gd name="T42" fmla="*/ 0 w 1799"/>
                  <a:gd name="T43" fmla="*/ 0 h 1117"/>
                  <a:gd name="T44" fmla="*/ 0 w 1799"/>
                  <a:gd name="T45" fmla="*/ 0 h 1117"/>
                  <a:gd name="T46" fmla="*/ 0 w 1799"/>
                  <a:gd name="T47" fmla="*/ 0 h 1117"/>
                  <a:gd name="T48" fmla="*/ 0 w 1799"/>
                  <a:gd name="T49" fmla="*/ 0 h 1117"/>
                  <a:gd name="T50" fmla="*/ 0 w 1799"/>
                  <a:gd name="T51" fmla="*/ 0 h 1117"/>
                  <a:gd name="T52" fmla="*/ 0 w 1799"/>
                  <a:gd name="T53" fmla="*/ 0 h 1117"/>
                  <a:gd name="T54" fmla="*/ 0 w 1799"/>
                  <a:gd name="T55" fmla="*/ 0 h 1117"/>
                  <a:gd name="T56" fmla="*/ 0 w 1799"/>
                  <a:gd name="T57" fmla="*/ 0 h 1117"/>
                  <a:gd name="T58" fmla="*/ 0 w 1799"/>
                  <a:gd name="T59" fmla="*/ 0 h 1117"/>
                  <a:gd name="T60" fmla="*/ 0 w 1799"/>
                  <a:gd name="T61" fmla="*/ 0 h 1117"/>
                  <a:gd name="T62" fmla="*/ 0 w 1799"/>
                  <a:gd name="T63" fmla="*/ 0 h 1117"/>
                  <a:gd name="T64" fmla="*/ 0 w 1799"/>
                  <a:gd name="T65" fmla="*/ 0 h 1117"/>
                  <a:gd name="T66" fmla="*/ 0 w 1799"/>
                  <a:gd name="T67" fmla="*/ 0 h 1117"/>
                  <a:gd name="T68" fmla="*/ 0 w 1799"/>
                  <a:gd name="T69" fmla="*/ 0 h 1117"/>
                  <a:gd name="T70" fmla="*/ 0 w 1799"/>
                  <a:gd name="T71" fmla="*/ 0 h 1117"/>
                  <a:gd name="T72" fmla="*/ 0 w 1799"/>
                  <a:gd name="T73" fmla="*/ 0 h 1117"/>
                  <a:gd name="T74" fmla="*/ 0 w 1799"/>
                  <a:gd name="T75" fmla="*/ 0 h 1117"/>
                  <a:gd name="T76" fmla="*/ 0 w 1799"/>
                  <a:gd name="T77" fmla="*/ 0 h 1117"/>
                  <a:gd name="T78" fmla="*/ 0 w 1799"/>
                  <a:gd name="T79" fmla="*/ 0 h 1117"/>
                  <a:gd name="T80" fmla="*/ 0 w 1799"/>
                  <a:gd name="T81" fmla="*/ 0 h 1117"/>
                  <a:gd name="T82" fmla="*/ 0 w 1799"/>
                  <a:gd name="T83" fmla="*/ 0 h 1117"/>
                  <a:gd name="T84" fmla="*/ 0 w 1799"/>
                  <a:gd name="T85" fmla="*/ 0 h 1117"/>
                  <a:gd name="T86" fmla="*/ 0 w 1799"/>
                  <a:gd name="T87" fmla="*/ 0 h 1117"/>
                  <a:gd name="T88" fmla="*/ 0 w 1799"/>
                  <a:gd name="T89" fmla="*/ 0 h 111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799"/>
                  <a:gd name="T136" fmla="*/ 0 h 1117"/>
                  <a:gd name="T137" fmla="*/ 1799 w 1799"/>
                  <a:gd name="T138" fmla="*/ 1117 h 111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799" h="1117">
                    <a:moveTo>
                      <a:pt x="904" y="1"/>
                    </a:moveTo>
                    <a:lnTo>
                      <a:pt x="901" y="1"/>
                    </a:lnTo>
                    <a:lnTo>
                      <a:pt x="812" y="2"/>
                    </a:lnTo>
                    <a:lnTo>
                      <a:pt x="727" y="9"/>
                    </a:lnTo>
                    <a:lnTo>
                      <a:pt x="685" y="13"/>
                    </a:lnTo>
                    <a:lnTo>
                      <a:pt x="645" y="20"/>
                    </a:lnTo>
                    <a:lnTo>
                      <a:pt x="605" y="27"/>
                    </a:lnTo>
                    <a:lnTo>
                      <a:pt x="567" y="37"/>
                    </a:lnTo>
                    <a:lnTo>
                      <a:pt x="528" y="46"/>
                    </a:lnTo>
                    <a:lnTo>
                      <a:pt x="491" y="58"/>
                    </a:lnTo>
                    <a:lnTo>
                      <a:pt x="420" y="84"/>
                    </a:lnTo>
                    <a:lnTo>
                      <a:pt x="351" y="115"/>
                    </a:lnTo>
                    <a:lnTo>
                      <a:pt x="317" y="132"/>
                    </a:lnTo>
                    <a:lnTo>
                      <a:pt x="286" y="152"/>
                    </a:lnTo>
                    <a:lnTo>
                      <a:pt x="241" y="179"/>
                    </a:lnTo>
                    <a:lnTo>
                      <a:pt x="198" y="209"/>
                    </a:lnTo>
                    <a:lnTo>
                      <a:pt x="160" y="238"/>
                    </a:lnTo>
                    <a:lnTo>
                      <a:pt x="126" y="269"/>
                    </a:lnTo>
                    <a:lnTo>
                      <a:pt x="96" y="300"/>
                    </a:lnTo>
                    <a:lnTo>
                      <a:pt x="72" y="333"/>
                    </a:lnTo>
                    <a:lnTo>
                      <a:pt x="50" y="366"/>
                    </a:lnTo>
                    <a:lnTo>
                      <a:pt x="32" y="401"/>
                    </a:lnTo>
                    <a:lnTo>
                      <a:pt x="18" y="437"/>
                    </a:lnTo>
                    <a:lnTo>
                      <a:pt x="10" y="475"/>
                    </a:lnTo>
                    <a:lnTo>
                      <a:pt x="5" y="492"/>
                    </a:lnTo>
                    <a:lnTo>
                      <a:pt x="3" y="510"/>
                    </a:lnTo>
                    <a:lnTo>
                      <a:pt x="1" y="546"/>
                    </a:lnTo>
                    <a:lnTo>
                      <a:pt x="1" y="551"/>
                    </a:lnTo>
                    <a:lnTo>
                      <a:pt x="0" y="578"/>
                    </a:lnTo>
                    <a:lnTo>
                      <a:pt x="3" y="606"/>
                    </a:lnTo>
                    <a:lnTo>
                      <a:pt x="4" y="624"/>
                    </a:lnTo>
                    <a:lnTo>
                      <a:pt x="8" y="643"/>
                    </a:lnTo>
                    <a:lnTo>
                      <a:pt x="20" y="681"/>
                    </a:lnTo>
                    <a:lnTo>
                      <a:pt x="31" y="712"/>
                    </a:lnTo>
                    <a:lnTo>
                      <a:pt x="47" y="744"/>
                    </a:lnTo>
                    <a:lnTo>
                      <a:pt x="65" y="774"/>
                    </a:lnTo>
                    <a:lnTo>
                      <a:pt x="88" y="804"/>
                    </a:lnTo>
                    <a:lnTo>
                      <a:pt x="113" y="832"/>
                    </a:lnTo>
                    <a:lnTo>
                      <a:pt x="142" y="861"/>
                    </a:lnTo>
                    <a:lnTo>
                      <a:pt x="157" y="874"/>
                    </a:lnTo>
                    <a:lnTo>
                      <a:pt x="174" y="888"/>
                    </a:lnTo>
                    <a:lnTo>
                      <a:pt x="191" y="902"/>
                    </a:lnTo>
                    <a:lnTo>
                      <a:pt x="210" y="916"/>
                    </a:lnTo>
                    <a:lnTo>
                      <a:pt x="293" y="976"/>
                    </a:lnTo>
                    <a:lnTo>
                      <a:pt x="294" y="976"/>
                    </a:lnTo>
                    <a:lnTo>
                      <a:pt x="298" y="979"/>
                    </a:lnTo>
                    <a:lnTo>
                      <a:pt x="362" y="1009"/>
                    </a:lnTo>
                    <a:lnTo>
                      <a:pt x="429" y="1037"/>
                    </a:lnTo>
                    <a:lnTo>
                      <a:pt x="463" y="1049"/>
                    </a:lnTo>
                    <a:lnTo>
                      <a:pt x="498" y="1060"/>
                    </a:lnTo>
                    <a:lnTo>
                      <a:pt x="534" y="1070"/>
                    </a:lnTo>
                    <a:lnTo>
                      <a:pt x="572" y="1080"/>
                    </a:lnTo>
                    <a:lnTo>
                      <a:pt x="647" y="1094"/>
                    </a:lnTo>
                    <a:lnTo>
                      <a:pt x="726" y="1106"/>
                    </a:lnTo>
                    <a:lnTo>
                      <a:pt x="766" y="1110"/>
                    </a:lnTo>
                    <a:lnTo>
                      <a:pt x="808" y="1113"/>
                    </a:lnTo>
                    <a:lnTo>
                      <a:pt x="850" y="1115"/>
                    </a:lnTo>
                    <a:lnTo>
                      <a:pt x="894" y="1117"/>
                    </a:lnTo>
                    <a:lnTo>
                      <a:pt x="901" y="1117"/>
                    </a:lnTo>
                    <a:lnTo>
                      <a:pt x="945" y="1115"/>
                    </a:lnTo>
                    <a:lnTo>
                      <a:pt x="990" y="1113"/>
                    </a:lnTo>
                    <a:lnTo>
                      <a:pt x="1033" y="1109"/>
                    </a:lnTo>
                    <a:lnTo>
                      <a:pt x="1077" y="1105"/>
                    </a:lnTo>
                    <a:lnTo>
                      <a:pt x="1118" y="1099"/>
                    </a:lnTo>
                    <a:lnTo>
                      <a:pt x="1160" y="1092"/>
                    </a:lnTo>
                    <a:lnTo>
                      <a:pt x="1200" y="1084"/>
                    </a:lnTo>
                    <a:lnTo>
                      <a:pt x="1220" y="1079"/>
                    </a:lnTo>
                    <a:lnTo>
                      <a:pt x="1241" y="1075"/>
                    </a:lnTo>
                    <a:lnTo>
                      <a:pt x="1279" y="1064"/>
                    </a:lnTo>
                    <a:lnTo>
                      <a:pt x="1317" y="1052"/>
                    </a:lnTo>
                    <a:lnTo>
                      <a:pt x="1335" y="1045"/>
                    </a:lnTo>
                    <a:lnTo>
                      <a:pt x="1354" y="1039"/>
                    </a:lnTo>
                    <a:lnTo>
                      <a:pt x="1372" y="1032"/>
                    </a:lnTo>
                    <a:lnTo>
                      <a:pt x="1391" y="1026"/>
                    </a:lnTo>
                    <a:lnTo>
                      <a:pt x="1426" y="1010"/>
                    </a:lnTo>
                    <a:lnTo>
                      <a:pt x="1462" y="994"/>
                    </a:lnTo>
                    <a:lnTo>
                      <a:pt x="1496" y="977"/>
                    </a:lnTo>
                    <a:lnTo>
                      <a:pt x="1530" y="959"/>
                    </a:lnTo>
                    <a:lnTo>
                      <a:pt x="1535" y="954"/>
                    </a:lnTo>
                    <a:lnTo>
                      <a:pt x="1542" y="951"/>
                    </a:lnTo>
                    <a:lnTo>
                      <a:pt x="1541" y="948"/>
                    </a:lnTo>
                    <a:lnTo>
                      <a:pt x="1542" y="948"/>
                    </a:lnTo>
                    <a:lnTo>
                      <a:pt x="1542" y="946"/>
                    </a:lnTo>
                    <a:lnTo>
                      <a:pt x="1545" y="946"/>
                    </a:lnTo>
                    <a:lnTo>
                      <a:pt x="1587" y="916"/>
                    </a:lnTo>
                    <a:lnTo>
                      <a:pt x="1627" y="885"/>
                    </a:lnTo>
                    <a:lnTo>
                      <a:pt x="1661" y="853"/>
                    </a:lnTo>
                    <a:lnTo>
                      <a:pt x="1693" y="821"/>
                    </a:lnTo>
                    <a:lnTo>
                      <a:pt x="1719" y="787"/>
                    </a:lnTo>
                    <a:lnTo>
                      <a:pt x="1743" y="753"/>
                    </a:lnTo>
                    <a:lnTo>
                      <a:pt x="1763" y="717"/>
                    </a:lnTo>
                    <a:lnTo>
                      <a:pt x="1779" y="681"/>
                    </a:lnTo>
                    <a:lnTo>
                      <a:pt x="1789" y="643"/>
                    </a:lnTo>
                    <a:lnTo>
                      <a:pt x="1790" y="633"/>
                    </a:lnTo>
                    <a:lnTo>
                      <a:pt x="1792" y="624"/>
                    </a:lnTo>
                    <a:lnTo>
                      <a:pt x="1796" y="606"/>
                    </a:lnTo>
                    <a:lnTo>
                      <a:pt x="1798" y="578"/>
                    </a:lnTo>
                    <a:lnTo>
                      <a:pt x="1799" y="551"/>
                    </a:lnTo>
                    <a:lnTo>
                      <a:pt x="1799" y="546"/>
                    </a:lnTo>
                    <a:lnTo>
                      <a:pt x="1797" y="510"/>
                    </a:lnTo>
                    <a:lnTo>
                      <a:pt x="1794" y="492"/>
                    </a:lnTo>
                    <a:lnTo>
                      <a:pt x="1792" y="475"/>
                    </a:lnTo>
                    <a:lnTo>
                      <a:pt x="1780" y="434"/>
                    </a:lnTo>
                    <a:lnTo>
                      <a:pt x="1773" y="414"/>
                    </a:lnTo>
                    <a:lnTo>
                      <a:pt x="1765" y="395"/>
                    </a:lnTo>
                    <a:lnTo>
                      <a:pt x="1745" y="357"/>
                    </a:lnTo>
                    <a:lnTo>
                      <a:pt x="1721" y="321"/>
                    </a:lnTo>
                    <a:lnTo>
                      <a:pt x="1691" y="285"/>
                    </a:lnTo>
                    <a:lnTo>
                      <a:pt x="1659" y="252"/>
                    </a:lnTo>
                    <a:lnTo>
                      <a:pt x="1621" y="219"/>
                    </a:lnTo>
                    <a:lnTo>
                      <a:pt x="1601" y="203"/>
                    </a:lnTo>
                    <a:lnTo>
                      <a:pt x="1580" y="189"/>
                    </a:lnTo>
                    <a:lnTo>
                      <a:pt x="1532" y="159"/>
                    </a:lnTo>
                    <a:lnTo>
                      <a:pt x="1530" y="157"/>
                    </a:lnTo>
                    <a:lnTo>
                      <a:pt x="1527" y="157"/>
                    </a:lnTo>
                    <a:lnTo>
                      <a:pt x="1526" y="154"/>
                    </a:lnTo>
                    <a:lnTo>
                      <a:pt x="1525" y="154"/>
                    </a:lnTo>
                    <a:lnTo>
                      <a:pt x="1458" y="119"/>
                    </a:lnTo>
                    <a:lnTo>
                      <a:pt x="1426" y="103"/>
                    </a:lnTo>
                    <a:lnTo>
                      <a:pt x="1395" y="89"/>
                    </a:lnTo>
                    <a:lnTo>
                      <a:pt x="1363" y="76"/>
                    </a:lnTo>
                    <a:lnTo>
                      <a:pt x="1332" y="65"/>
                    </a:lnTo>
                    <a:lnTo>
                      <a:pt x="1265" y="44"/>
                    </a:lnTo>
                    <a:lnTo>
                      <a:pt x="1231" y="35"/>
                    </a:lnTo>
                    <a:lnTo>
                      <a:pt x="1198" y="28"/>
                    </a:lnTo>
                    <a:lnTo>
                      <a:pt x="1162" y="20"/>
                    </a:lnTo>
                    <a:lnTo>
                      <a:pt x="1127" y="14"/>
                    </a:lnTo>
                    <a:lnTo>
                      <a:pt x="1091" y="9"/>
                    </a:lnTo>
                    <a:lnTo>
                      <a:pt x="1055" y="6"/>
                    </a:lnTo>
                    <a:lnTo>
                      <a:pt x="980" y="1"/>
                    </a:lnTo>
                    <a:lnTo>
                      <a:pt x="942" y="0"/>
                    </a:lnTo>
                    <a:lnTo>
                      <a:pt x="904" y="1"/>
                    </a:lnTo>
                    <a:close/>
                    <a:moveTo>
                      <a:pt x="901" y="603"/>
                    </a:moveTo>
                    <a:lnTo>
                      <a:pt x="904" y="606"/>
                    </a:lnTo>
                    <a:lnTo>
                      <a:pt x="906" y="606"/>
                    </a:lnTo>
                    <a:lnTo>
                      <a:pt x="901" y="606"/>
                    </a:lnTo>
                    <a:lnTo>
                      <a:pt x="901" y="6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55" name="Freeform 1090"/>
              <p:cNvSpPr>
                <a:spLocks/>
              </p:cNvSpPr>
              <p:nvPr/>
            </p:nvSpPr>
            <p:spPr bwMode="auto">
              <a:xfrm>
                <a:off x="1608" y="1192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w 3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"/>
                  <a:gd name="T13" fmla="*/ 0 h 3"/>
                  <a:gd name="T14" fmla="*/ 3 w 3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6" name="Freeform 1091"/>
              <p:cNvSpPr>
                <a:spLocks/>
              </p:cNvSpPr>
              <p:nvPr/>
            </p:nvSpPr>
            <p:spPr bwMode="auto">
              <a:xfrm>
                <a:off x="1608" y="1193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w 5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5"/>
                  <a:gd name="T9" fmla="*/ 5 w 5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7" name="Freeform 1092"/>
              <p:cNvSpPr>
                <a:spLocks/>
              </p:cNvSpPr>
              <p:nvPr/>
            </p:nvSpPr>
            <p:spPr bwMode="auto">
              <a:xfrm>
                <a:off x="1391" y="1007"/>
                <a:ext cx="217" cy="86"/>
              </a:xfrm>
              <a:custGeom>
                <a:avLst/>
                <a:gdLst>
                  <a:gd name="T0" fmla="*/ 0 w 867"/>
                  <a:gd name="T1" fmla="*/ 0 h 346"/>
                  <a:gd name="T2" fmla="*/ 0 w 867"/>
                  <a:gd name="T3" fmla="*/ 0 h 346"/>
                  <a:gd name="T4" fmla="*/ 0 w 867"/>
                  <a:gd name="T5" fmla="*/ 0 h 346"/>
                  <a:gd name="T6" fmla="*/ 0 w 867"/>
                  <a:gd name="T7" fmla="*/ 0 h 346"/>
                  <a:gd name="T8" fmla="*/ 0 w 867"/>
                  <a:gd name="T9" fmla="*/ 0 h 346"/>
                  <a:gd name="T10" fmla="*/ 0 w 867"/>
                  <a:gd name="T11" fmla="*/ 0 h 346"/>
                  <a:gd name="T12" fmla="*/ 0 w 867"/>
                  <a:gd name="T13" fmla="*/ 0 h 346"/>
                  <a:gd name="T14" fmla="*/ 0 w 867"/>
                  <a:gd name="T15" fmla="*/ 0 h 346"/>
                  <a:gd name="T16" fmla="*/ 0 w 867"/>
                  <a:gd name="T17" fmla="*/ 0 h 346"/>
                  <a:gd name="T18" fmla="*/ 0 w 867"/>
                  <a:gd name="T19" fmla="*/ 0 h 346"/>
                  <a:gd name="T20" fmla="*/ 0 w 867"/>
                  <a:gd name="T21" fmla="*/ 0 h 346"/>
                  <a:gd name="T22" fmla="*/ 0 w 867"/>
                  <a:gd name="T23" fmla="*/ 0 h 346"/>
                  <a:gd name="T24" fmla="*/ 0 w 867"/>
                  <a:gd name="T25" fmla="*/ 0 h 346"/>
                  <a:gd name="T26" fmla="*/ 0 w 867"/>
                  <a:gd name="T27" fmla="*/ 0 h 346"/>
                  <a:gd name="T28" fmla="*/ 0 w 867"/>
                  <a:gd name="T29" fmla="*/ 0 h 346"/>
                  <a:gd name="T30" fmla="*/ 0 w 867"/>
                  <a:gd name="T31" fmla="*/ 0 h 346"/>
                  <a:gd name="T32" fmla="*/ 0 w 867"/>
                  <a:gd name="T33" fmla="*/ 0 h 346"/>
                  <a:gd name="T34" fmla="*/ 0 w 867"/>
                  <a:gd name="T35" fmla="*/ 0 h 346"/>
                  <a:gd name="T36" fmla="*/ 0 w 867"/>
                  <a:gd name="T37" fmla="*/ 0 h 346"/>
                  <a:gd name="T38" fmla="*/ 0 w 867"/>
                  <a:gd name="T39" fmla="*/ 0 h 346"/>
                  <a:gd name="T40" fmla="*/ 0 w 867"/>
                  <a:gd name="T41" fmla="*/ 0 h 346"/>
                  <a:gd name="T42" fmla="*/ 0 w 867"/>
                  <a:gd name="T43" fmla="*/ 0 h 346"/>
                  <a:gd name="T44" fmla="*/ 0 w 867"/>
                  <a:gd name="T45" fmla="*/ 0 h 346"/>
                  <a:gd name="T46" fmla="*/ 0 w 867"/>
                  <a:gd name="T47" fmla="*/ 0 h 346"/>
                  <a:gd name="T48" fmla="*/ 0 w 867"/>
                  <a:gd name="T49" fmla="*/ 0 h 346"/>
                  <a:gd name="T50" fmla="*/ 0 w 867"/>
                  <a:gd name="T51" fmla="*/ 0 h 346"/>
                  <a:gd name="T52" fmla="*/ 0 w 867"/>
                  <a:gd name="T53" fmla="*/ 0 h 346"/>
                  <a:gd name="T54" fmla="*/ 0 w 867"/>
                  <a:gd name="T55" fmla="*/ 0 h 346"/>
                  <a:gd name="T56" fmla="*/ 0 w 867"/>
                  <a:gd name="T57" fmla="*/ 0 h 346"/>
                  <a:gd name="T58" fmla="*/ 0 w 867"/>
                  <a:gd name="T59" fmla="*/ 0 h 346"/>
                  <a:gd name="T60" fmla="*/ 0 w 867"/>
                  <a:gd name="T61" fmla="*/ 0 h 346"/>
                  <a:gd name="T62" fmla="*/ 0 w 867"/>
                  <a:gd name="T63" fmla="*/ 0 h 346"/>
                  <a:gd name="T64" fmla="*/ 0 w 867"/>
                  <a:gd name="T65" fmla="*/ 0 h 346"/>
                  <a:gd name="T66" fmla="*/ 0 w 867"/>
                  <a:gd name="T67" fmla="*/ 0 h 346"/>
                  <a:gd name="T68" fmla="*/ 0 w 867"/>
                  <a:gd name="T69" fmla="*/ 0 h 346"/>
                  <a:gd name="T70" fmla="*/ 0 w 867"/>
                  <a:gd name="T71" fmla="*/ 0 h 34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67"/>
                  <a:gd name="T109" fmla="*/ 0 h 346"/>
                  <a:gd name="T110" fmla="*/ 867 w 867"/>
                  <a:gd name="T111" fmla="*/ 346 h 34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67" h="346">
                    <a:moveTo>
                      <a:pt x="867" y="138"/>
                    </a:moveTo>
                    <a:lnTo>
                      <a:pt x="867" y="0"/>
                    </a:ln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  <a:lnTo>
                      <a:pt x="164" y="346"/>
                    </a:lnTo>
                    <a:lnTo>
                      <a:pt x="207" y="316"/>
                    </a:lnTo>
                    <a:lnTo>
                      <a:pt x="252" y="289"/>
                    </a:lnTo>
                    <a:lnTo>
                      <a:pt x="283" y="269"/>
                    </a:lnTo>
                    <a:lnTo>
                      <a:pt x="317" y="252"/>
                    </a:lnTo>
                    <a:lnTo>
                      <a:pt x="386" y="221"/>
                    </a:lnTo>
                    <a:lnTo>
                      <a:pt x="457" y="195"/>
                    </a:lnTo>
                    <a:lnTo>
                      <a:pt x="494" y="183"/>
                    </a:lnTo>
                    <a:lnTo>
                      <a:pt x="533" y="174"/>
                    </a:lnTo>
                    <a:lnTo>
                      <a:pt x="571" y="164"/>
                    </a:lnTo>
                    <a:lnTo>
                      <a:pt x="611" y="157"/>
                    </a:lnTo>
                    <a:lnTo>
                      <a:pt x="651" y="150"/>
                    </a:lnTo>
                    <a:lnTo>
                      <a:pt x="693" y="146"/>
                    </a:lnTo>
                    <a:lnTo>
                      <a:pt x="778" y="139"/>
                    </a:lnTo>
                    <a:lnTo>
                      <a:pt x="867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8" name="Freeform 1093"/>
              <p:cNvSpPr>
                <a:spLocks/>
              </p:cNvSpPr>
              <p:nvPr/>
            </p:nvSpPr>
            <p:spPr bwMode="auto">
              <a:xfrm>
                <a:off x="1893" y="993"/>
                <a:ext cx="170" cy="200"/>
              </a:xfrm>
              <a:custGeom>
                <a:avLst/>
                <a:gdLst>
                  <a:gd name="T0" fmla="*/ 0 w 680"/>
                  <a:gd name="T1" fmla="*/ 0 h 799"/>
                  <a:gd name="T2" fmla="*/ 0 w 680"/>
                  <a:gd name="T3" fmla="*/ 0 h 799"/>
                  <a:gd name="T4" fmla="*/ 0 w 680"/>
                  <a:gd name="T5" fmla="*/ 0 h 799"/>
                  <a:gd name="T6" fmla="*/ 0 w 680"/>
                  <a:gd name="T7" fmla="*/ 0 h 799"/>
                  <a:gd name="T8" fmla="*/ 0 w 680"/>
                  <a:gd name="T9" fmla="*/ 0 h 799"/>
                  <a:gd name="T10" fmla="*/ 0 w 680"/>
                  <a:gd name="T11" fmla="*/ 0 h 799"/>
                  <a:gd name="T12" fmla="*/ 0 w 680"/>
                  <a:gd name="T13" fmla="*/ 0 h 799"/>
                  <a:gd name="T14" fmla="*/ 0 w 680"/>
                  <a:gd name="T15" fmla="*/ 0 h 799"/>
                  <a:gd name="T16" fmla="*/ 0 w 680"/>
                  <a:gd name="T17" fmla="*/ 0 h 799"/>
                  <a:gd name="T18" fmla="*/ 0 w 680"/>
                  <a:gd name="T19" fmla="*/ 0 h 799"/>
                  <a:gd name="T20" fmla="*/ 0 w 680"/>
                  <a:gd name="T21" fmla="*/ 0 h 799"/>
                  <a:gd name="T22" fmla="*/ 0 w 680"/>
                  <a:gd name="T23" fmla="*/ 0 h 799"/>
                  <a:gd name="T24" fmla="*/ 0 w 680"/>
                  <a:gd name="T25" fmla="*/ 0 h 799"/>
                  <a:gd name="T26" fmla="*/ 0 w 680"/>
                  <a:gd name="T27" fmla="*/ 0 h 799"/>
                  <a:gd name="T28" fmla="*/ 0 w 680"/>
                  <a:gd name="T29" fmla="*/ 0 h 799"/>
                  <a:gd name="T30" fmla="*/ 0 w 680"/>
                  <a:gd name="T31" fmla="*/ 0 h 799"/>
                  <a:gd name="T32" fmla="*/ 0 w 680"/>
                  <a:gd name="T33" fmla="*/ 0 h 799"/>
                  <a:gd name="T34" fmla="*/ 0 w 680"/>
                  <a:gd name="T35" fmla="*/ 0 h 799"/>
                  <a:gd name="T36" fmla="*/ 0 w 680"/>
                  <a:gd name="T37" fmla="*/ 0 h 799"/>
                  <a:gd name="T38" fmla="*/ 0 w 680"/>
                  <a:gd name="T39" fmla="*/ 0 h 799"/>
                  <a:gd name="T40" fmla="*/ 0 w 680"/>
                  <a:gd name="T41" fmla="*/ 0 h 799"/>
                  <a:gd name="T42" fmla="*/ 0 w 680"/>
                  <a:gd name="T43" fmla="*/ 0 h 799"/>
                  <a:gd name="T44" fmla="*/ 0 w 680"/>
                  <a:gd name="T45" fmla="*/ 0 h 799"/>
                  <a:gd name="T46" fmla="*/ 0 w 680"/>
                  <a:gd name="T47" fmla="*/ 0 h 799"/>
                  <a:gd name="T48" fmla="*/ 0 w 680"/>
                  <a:gd name="T49" fmla="*/ 0 h 799"/>
                  <a:gd name="T50" fmla="*/ 0 w 680"/>
                  <a:gd name="T51" fmla="*/ 0 h 799"/>
                  <a:gd name="T52" fmla="*/ 0 w 680"/>
                  <a:gd name="T53" fmla="*/ 0 h 799"/>
                  <a:gd name="T54" fmla="*/ 0 w 680"/>
                  <a:gd name="T55" fmla="*/ 0 h 799"/>
                  <a:gd name="T56" fmla="*/ 0 w 680"/>
                  <a:gd name="T57" fmla="*/ 0 h 799"/>
                  <a:gd name="T58" fmla="*/ 0 w 680"/>
                  <a:gd name="T59" fmla="*/ 0 h 799"/>
                  <a:gd name="T60" fmla="*/ 0 w 680"/>
                  <a:gd name="T61" fmla="*/ 0 h 799"/>
                  <a:gd name="T62" fmla="*/ 0 w 680"/>
                  <a:gd name="T63" fmla="*/ 0 h 799"/>
                  <a:gd name="T64" fmla="*/ 0 w 680"/>
                  <a:gd name="T65" fmla="*/ 0 h 799"/>
                  <a:gd name="T66" fmla="*/ 0 w 680"/>
                  <a:gd name="T67" fmla="*/ 0 h 799"/>
                  <a:gd name="T68" fmla="*/ 0 w 680"/>
                  <a:gd name="T69" fmla="*/ 0 h 799"/>
                  <a:gd name="T70" fmla="*/ 0 w 680"/>
                  <a:gd name="T71" fmla="*/ 0 h 799"/>
                  <a:gd name="T72" fmla="*/ 0 w 680"/>
                  <a:gd name="T73" fmla="*/ 0 h 799"/>
                  <a:gd name="T74" fmla="*/ 0 w 680"/>
                  <a:gd name="T75" fmla="*/ 0 h 799"/>
                  <a:gd name="T76" fmla="*/ 0 w 680"/>
                  <a:gd name="T77" fmla="*/ 0 h 79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80"/>
                  <a:gd name="T118" fmla="*/ 0 h 799"/>
                  <a:gd name="T119" fmla="*/ 680 w 680"/>
                  <a:gd name="T120" fmla="*/ 799 h 79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80" h="799">
                    <a:moveTo>
                      <a:pt x="156" y="0"/>
                    </a:moveTo>
                    <a:lnTo>
                      <a:pt x="0" y="96"/>
                    </a:lnTo>
                    <a:lnTo>
                      <a:pt x="50" y="129"/>
                    </a:lnTo>
                    <a:lnTo>
                      <a:pt x="97" y="164"/>
                    </a:lnTo>
                    <a:lnTo>
                      <a:pt x="141" y="199"/>
                    </a:lnTo>
                    <a:lnTo>
                      <a:pt x="183" y="236"/>
                    </a:lnTo>
                    <a:lnTo>
                      <a:pt x="221" y="273"/>
                    </a:lnTo>
                    <a:lnTo>
                      <a:pt x="257" y="311"/>
                    </a:lnTo>
                    <a:lnTo>
                      <a:pt x="289" y="350"/>
                    </a:lnTo>
                    <a:lnTo>
                      <a:pt x="319" y="391"/>
                    </a:lnTo>
                    <a:lnTo>
                      <a:pt x="344" y="431"/>
                    </a:lnTo>
                    <a:lnTo>
                      <a:pt x="367" y="473"/>
                    </a:lnTo>
                    <a:lnTo>
                      <a:pt x="387" y="516"/>
                    </a:lnTo>
                    <a:lnTo>
                      <a:pt x="405" y="560"/>
                    </a:lnTo>
                    <a:lnTo>
                      <a:pt x="418" y="604"/>
                    </a:lnTo>
                    <a:lnTo>
                      <a:pt x="429" y="650"/>
                    </a:lnTo>
                    <a:lnTo>
                      <a:pt x="437" y="696"/>
                    </a:lnTo>
                    <a:lnTo>
                      <a:pt x="443" y="744"/>
                    </a:lnTo>
                    <a:lnTo>
                      <a:pt x="443" y="749"/>
                    </a:lnTo>
                    <a:lnTo>
                      <a:pt x="444" y="799"/>
                    </a:lnTo>
                    <a:lnTo>
                      <a:pt x="680" y="799"/>
                    </a:lnTo>
                    <a:lnTo>
                      <a:pt x="679" y="749"/>
                    </a:lnTo>
                    <a:lnTo>
                      <a:pt x="679" y="744"/>
                    </a:lnTo>
                    <a:lnTo>
                      <a:pt x="672" y="689"/>
                    </a:lnTo>
                    <a:lnTo>
                      <a:pt x="662" y="636"/>
                    </a:lnTo>
                    <a:lnTo>
                      <a:pt x="649" y="583"/>
                    </a:lnTo>
                    <a:lnTo>
                      <a:pt x="633" y="532"/>
                    </a:lnTo>
                    <a:lnTo>
                      <a:pt x="612" y="481"/>
                    </a:lnTo>
                    <a:lnTo>
                      <a:pt x="588" y="432"/>
                    </a:lnTo>
                    <a:lnTo>
                      <a:pt x="561" y="384"/>
                    </a:lnTo>
                    <a:lnTo>
                      <a:pt x="531" y="338"/>
                    </a:lnTo>
                    <a:lnTo>
                      <a:pt x="495" y="291"/>
                    </a:lnTo>
                    <a:lnTo>
                      <a:pt x="457" y="246"/>
                    </a:lnTo>
                    <a:lnTo>
                      <a:pt x="415" y="202"/>
                    </a:lnTo>
                    <a:lnTo>
                      <a:pt x="371" y="160"/>
                    </a:lnTo>
                    <a:lnTo>
                      <a:pt x="322" y="118"/>
                    </a:lnTo>
                    <a:lnTo>
                      <a:pt x="270" y="78"/>
                    </a:lnTo>
                    <a:lnTo>
                      <a:pt x="214" y="3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59" name="Freeform 1094"/>
              <p:cNvSpPr>
                <a:spLocks/>
              </p:cNvSpPr>
              <p:nvPr/>
            </p:nvSpPr>
            <p:spPr bwMode="auto">
              <a:xfrm>
                <a:off x="1833" y="1026"/>
                <a:ext cx="4" cy="2"/>
              </a:xfrm>
              <a:custGeom>
                <a:avLst/>
                <a:gdLst>
                  <a:gd name="T0" fmla="*/ 0 w 15"/>
                  <a:gd name="T1" fmla="*/ 0 h 7"/>
                  <a:gd name="T2" fmla="*/ 0 w 15"/>
                  <a:gd name="T3" fmla="*/ 0 h 7"/>
                  <a:gd name="T4" fmla="*/ 0 w 15"/>
                  <a:gd name="T5" fmla="*/ 0 h 7"/>
                  <a:gd name="T6" fmla="*/ 0 w 15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7"/>
                  <a:gd name="T14" fmla="*/ 15 w 15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7">
                    <a:moveTo>
                      <a:pt x="0" y="0"/>
                    </a:moveTo>
                    <a:lnTo>
                      <a:pt x="13" y="7"/>
                    </a:lnTo>
                    <a:lnTo>
                      <a:pt x="15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D0D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0" name="Freeform 1095"/>
              <p:cNvSpPr>
                <a:spLocks/>
              </p:cNvSpPr>
              <p:nvPr/>
            </p:nvSpPr>
            <p:spPr bwMode="auto">
              <a:xfrm>
                <a:off x="1836" y="1028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w 4"/>
                  <a:gd name="T4" fmla="*/ 0 60000 65536"/>
                  <a:gd name="T5" fmla="*/ 0 60000 65536"/>
                  <a:gd name="T6" fmla="*/ 0 60000 65536"/>
                  <a:gd name="T7" fmla="*/ 0 60000 65536"/>
                  <a:gd name="T8" fmla="*/ 0 w 4"/>
                  <a:gd name="T9" fmla="*/ 4 w 4"/>
                </a:gdLst>
                <a:ahLst/>
                <a:cxnLst>
                  <a:cxn ang="T4">
                    <a:pos x="T0" y="0"/>
                  </a:cxn>
                  <a:cxn ang="T5">
                    <a:pos x="T1" y="0"/>
                  </a:cxn>
                  <a:cxn ang="T6">
                    <a:pos x="T2" y="0"/>
                  </a:cxn>
                  <a:cxn ang="T7">
                    <a:pos x="T3" y="0"/>
                  </a:cxn>
                </a:cxnLst>
                <a:rect l="T8" t="0" r="T9" b="0"/>
                <a:pathLst>
                  <a:path w="4">
                    <a:moveTo>
                      <a:pt x="2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1" name="Freeform 1096"/>
              <p:cNvSpPr>
                <a:spLocks/>
              </p:cNvSpPr>
              <p:nvPr/>
            </p:nvSpPr>
            <p:spPr bwMode="auto">
              <a:xfrm>
                <a:off x="1777" y="1064"/>
                <a:ext cx="113" cy="129"/>
              </a:xfrm>
              <a:custGeom>
                <a:avLst/>
                <a:gdLst>
                  <a:gd name="T0" fmla="*/ 0 w 451"/>
                  <a:gd name="T1" fmla="*/ 0 h 515"/>
                  <a:gd name="T2" fmla="*/ 0 w 451"/>
                  <a:gd name="T3" fmla="*/ 0 h 515"/>
                  <a:gd name="T4" fmla="*/ 0 w 451"/>
                  <a:gd name="T5" fmla="*/ 0 h 515"/>
                  <a:gd name="T6" fmla="*/ 0 w 451"/>
                  <a:gd name="T7" fmla="*/ 0 h 515"/>
                  <a:gd name="T8" fmla="*/ 0 w 451"/>
                  <a:gd name="T9" fmla="*/ 0 h 515"/>
                  <a:gd name="T10" fmla="*/ 0 w 451"/>
                  <a:gd name="T11" fmla="*/ 0 h 515"/>
                  <a:gd name="T12" fmla="*/ 0 w 451"/>
                  <a:gd name="T13" fmla="*/ 0 h 515"/>
                  <a:gd name="T14" fmla="*/ 0 w 451"/>
                  <a:gd name="T15" fmla="*/ 0 h 515"/>
                  <a:gd name="T16" fmla="*/ 0 w 451"/>
                  <a:gd name="T17" fmla="*/ 0 h 515"/>
                  <a:gd name="T18" fmla="*/ 0 w 451"/>
                  <a:gd name="T19" fmla="*/ 0 h 515"/>
                  <a:gd name="T20" fmla="*/ 0 w 451"/>
                  <a:gd name="T21" fmla="*/ 0 h 515"/>
                  <a:gd name="T22" fmla="*/ 0 w 451"/>
                  <a:gd name="T23" fmla="*/ 0 h 515"/>
                  <a:gd name="T24" fmla="*/ 0 w 451"/>
                  <a:gd name="T25" fmla="*/ 0 h 515"/>
                  <a:gd name="T26" fmla="*/ 0 w 451"/>
                  <a:gd name="T27" fmla="*/ 0 h 515"/>
                  <a:gd name="T28" fmla="*/ 0 w 451"/>
                  <a:gd name="T29" fmla="*/ 0 h 515"/>
                  <a:gd name="T30" fmla="*/ 0 w 451"/>
                  <a:gd name="T31" fmla="*/ 0 h 515"/>
                  <a:gd name="T32" fmla="*/ 0 w 451"/>
                  <a:gd name="T33" fmla="*/ 0 h 515"/>
                  <a:gd name="T34" fmla="*/ 0 w 451"/>
                  <a:gd name="T35" fmla="*/ 0 h 515"/>
                  <a:gd name="T36" fmla="*/ 0 w 451"/>
                  <a:gd name="T37" fmla="*/ 0 h 515"/>
                  <a:gd name="T38" fmla="*/ 0 w 451"/>
                  <a:gd name="T39" fmla="*/ 0 h 515"/>
                  <a:gd name="T40" fmla="*/ 0 w 451"/>
                  <a:gd name="T41" fmla="*/ 0 h 515"/>
                  <a:gd name="T42" fmla="*/ 0 w 451"/>
                  <a:gd name="T43" fmla="*/ 0 h 515"/>
                  <a:gd name="T44" fmla="*/ 0 w 451"/>
                  <a:gd name="T45" fmla="*/ 0 h 515"/>
                  <a:gd name="T46" fmla="*/ 0 w 451"/>
                  <a:gd name="T47" fmla="*/ 0 h 515"/>
                  <a:gd name="T48" fmla="*/ 0 w 451"/>
                  <a:gd name="T49" fmla="*/ 0 h 515"/>
                  <a:gd name="T50" fmla="*/ 0 w 451"/>
                  <a:gd name="T51" fmla="*/ 0 h 515"/>
                  <a:gd name="T52" fmla="*/ 0 w 451"/>
                  <a:gd name="T53" fmla="*/ 0 h 515"/>
                  <a:gd name="T54" fmla="*/ 0 w 451"/>
                  <a:gd name="T55" fmla="*/ 0 h 515"/>
                  <a:gd name="T56" fmla="*/ 0 w 451"/>
                  <a:gd name="T57" fmla="*/ 0 h 515"/>
                  <a:gd name="T58" fmla="*/ 0 w 451"/>
                  <a:gd name="T59" fmla="*/ 0 h 515"/>
                  <a:gd name="T60" fmla="*/ 0 w 451"/>
                  <a:gd name="T61" fmla="*/ 0 h 515"/>
                  <a:gd name="T62" fmla="*/ 0 w 451"/>
                  <a:gd name="T63" fmla="*/ 0 h 515"/>
                  <a:gd name="T64" fmla="*/ 0 w 451"/>
                  <a:gd name="T65" fmla="*/ 0 h 515"/>
                  <a:gd name="T66" fmla="*/ 0 w 451"/>
                  <a:gd name="T67" fmla="*/ 0 h 515"/>
                  <a:gd name="T68" fmla="*/ 0 w 451"/>
                  <a:gd name="T69" fmla="*/ 0 h 515"/>
                  <a:gd name="T70" fmla="*/ 0 w 451"/>
                  <a:gd name="T71" fmla="*/ 0 h 515"/>
                  <a:gd name="T72" fmla="*/ 0 w 451"/>
                  <a:gd name="T73" fmla="*/ 0 h 515"/>
                  <a:gd name="T74" fmla="*/ 0 w 451"/>
                  <a:gd name="T75" fmla="*/ 0 h 515"/>
                  <a:gd name="T76" fmla="*/ 0 w 451"/>
                  <a:gd name="T77" fmla="*/ 0 h 51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51"/>
                  <a:gd name="T118" fmla="*/ 0 h 515"/>
                  <a:gd name="T119" fmla="*/ 451 w 451"/>
                  <a:gd name="T120" fmla="*/ 515 h 51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51" h="515">
                    <a:moveTo>
                      <a:pt x="219" y="455"/>
                    </a:moveTo>
                    <a:lnTo>
                      <a:pt x="219" y="460"/>
                    </a:lnTo>
                    <a:lnTo>
                      <a:pt x="218" y="487"/>
                    </a:lnTo>
                    <a:lnTo>
                      <a:pt x="216" y="515"/>
                    </a:lnTo>
                    <a:lnTo>
                      <a:pt x="449" y="515"/>
                    </a:lnTo>
                    <a:lnTo>
                      <a:pt x="451" y="460"/>
                    </a:lnTo>
                    <a:lnTo>
                      <a:pt x="451" y="457"/>
                    </a:lnTo>
                    <a:lnTo>
                      <a:pt x="448" y="420"/>
                    </a:lnTo>
                    <a:lnTo>
                      <a:pt x="444" y="384"/>
                    </a:lnTo>
                    <a:lnTo>
                      <a:pt x="437" y="356"/>
                    </a:lnTo>
                    <a:lnTo>
                      <a:pt x="429" y="329"/>
                    </a:lnTo>
                    <a:lnTo>
                      <a:pt x="420" y="302"/>
                    </a:lnTo>
                    <a:lnTo>
                      <a:pt x="409" y="276"/>
                    </a:lnTo>
                    <a:lnTo>
                      <a:pt x="396" y="250"/>
                    </a:lnTo>
                    <a:lnTo>
                      <a:pt x="382" y="225"/>
                    </a:lnTo>
                    <a:lnTo>
                      <a:pt x="367" y="201"/>
                    </a:lnTo>
                    <a:lnTo>
                      <a:pt x="350" y="177"/>
                    </a:lnTo>
                    <a:lnTo>
                      <a:pt x="331" y="153"/>
                    </a:lnTo>
                    <a:lnTo>
                      <a:pt x="311" y="129"/>
                    </a:lnTo>
                    <a:lnTo>
                      <a:pt x="289" y="106"/>
                    </a:lnTo>
                    <a:lnTo>
                      <a:pt x="266" y="84"/>
                    </a:lnTo>
                    <a:lnTo>
                      <a:pt x="241" y="62"/>
                    </a:lnTo>
                    <a:lnTo>
                      <a:pt x="215" y="41"/>
                    </a:lnTo>
                    <a:lnTo>
                      <a:pt x="187" y="20"/>
                    </a:lnTo>
                    <a:lnTo>
                      <a:pt x="158" y="0"/>
                    </a:lnTo>
                    <a:lnTo>
                      <a:pt x="0" y="98"/>
                    </a:lnTo>
                    <a:lnTo>
                      <a:pt x="21" y="112"/>
                    </a:lnTo>
                    <a:lnTo>
                      <a:pt x="41" y="128"/>
                    </a:lnTo>
                    <a:lnTo>
                      <a:pt x="79" y="161"/>
                    </a:lnTo>
                    <a:lnTo>
                      <a:pt x="111" y="194"/>
                    </a:lnTo>
                    <a:lnTo>
                      <a:pt x="141" y="230"/>
                    </a:lnTo>
                    <a:lnTo>
                      <a:pt x="165" y="266"/>
                    </a:lnTo>
                    <a:lnTo>
                      <a:pt x="185" y="304"/>
                    </a:lnTo>
                    <a:lnTo>
                      <a:pt x="193" y="323"/>
                    </a:lnTo>
                    <a:lnTo>
                      <a:pt x="200" y="343"/>
                    </a:lnTo>
                    <a:lnTo>
                      <a:pt x="212" y="384"/>
                    </a:lnTo>
                    <a:lnTo>
                      <a:pt x="214" y="401"/>
                    </a:lnTo>
                    <a:lnTo>
                      <a:pt x="217" y="419"/>
                    </a:lnTo>
                    <a:lnTo>
                      <a:pt x="219" y="45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2" name="Freeform 1097"/>
              <p:cNvSpPr>
                <a:spLocks/>
              </p:cNvSpPr>
              <p:nvPr/>
            </p:nvSpPr>
            <p:spPr bwMode="auto">
              <a:xfrm>
                <a:off x="1817" y="1040"/>
                <a:ext cx="132" cy="153"/>
              </a:xfrm>
              <a:custGeom>
                <a:avLst/>
                <a:gdLst>
                  <a:gd name="T0" fmla="*/ 0 w 529"/>
                  <a:gd name="T1" fmla="*/ 0 h 610"/>
                  <a:gd name="T2" fmla="*/ 0 w 529"/>
                  <a:gd name="T3" fmla="*/ 0 h 610"/>
                  <a:gd name="T4" fmla="*/ 0 w 529"/>
                  <a:gd name="T5" fmla="*/ 0 h 610"/>
                  <a:gd name="T6" fmla="*/ 0 w 529"/>
                  <a:gd name="T7" fmla="*/ 0 h 610"/>
                  <a:gd name="T8" fmla="*/ 0 w 529"/>
                  <a:gd name="T9" fmla="*/ 0 h 610"/>
                  <a:gd name="T10" fmla="*/ 0 w 529"/>
                  <a:gd name="T11" fmla="*/ 0 h 610"/>
                  <a:gd name="T12" fmla="*/ 0 w 529"/>
                  <a:gd name="T13" fmla="*/ 0 h 610"/>
                  <a:gd name="T14" fmla="*/ 0 w 529"/>
                  <a:gd name="T15" fmla="*/ 0 h 610"/>
                  <a:gd name="T16" fmla="*/ 0 w 529"/>
                  <a:gd name="T17" fmla="*/ 0 h 610"/>
                  <a:gd name="T18" fmla="*/ 0 w 529"/>
                  <a:gd name="T19" fmla="*/ 0 h 610"/>
                  <a:gd name="T20" fmla="*/ 0 w 529"/>
                  <a:gd name="T21" fmla="*/ 0 h 610"/>
                  <a:gd name="T22" fmla="*/ 0 w 529"/>
                  <a:gd name="T23" fmla="*/ 0 h 610"/>
                  <a:gd name="T24" fmla="*/ 0 w 529"/>
                  <a:gd name="T25" fmla="*/ 0 h 610"/>
                  <a:gd name="T26" fmla="*/ 0 w 529"/>
                  <a:gd name="T27" fmla="*/ 0 h 610"/>
                  <a:gd name="T28" fmla="*/ 0 w 529"/>
                  <a:gd name="T29" fmla="*/ 0 h 610"/>
                  <a:gd name="T30" fmla="*/ 0 w 529"/>
                  <a:gd name="T31" fmla="*/ 0 h 610"/>
                  <a:gd name="T32" fmla="*/ 0 w 529"/>
                  <a:gd name="T33" fmla="*/ 0 h 610"/>
                  <a:gd name="T34" fmla="*/ 0 w 529"/>
                  <a:gd name="T35" fmla="*/ 0 h 610"/>
                  <a:gd name="T36" fmla="*/ 0 w 529"/>
                  <a:gd name="T37" fmla="*/ 0 h 610"/>
                  <a:gd name="T38" fmla="*/ 0 w 529"/>
                  <a:gd name="T39" fmla="*/ 0 h 610"/>
                  <a:gd name="T40" fmla="*/ 0 w 529"/>
                  <a:gd name="T41" fmla="*/ 0 h 610"/>
                  <a:gd name="T42" fmla="*/ 0 w 529"/>
                  <a:gd name="T43" fmla="*/ 0 h 610"/>
                  <a:gd name="T44" fmla="*/ 0 w 529"/>
                  <a:gd name="T45" fmla="*/ 0 h 610"/>
                  <a:gd name="T46" fmla="*/ 0 w 529"/>
                  <a:gd name="T47" fmla="*/ 0 h 610"/>
                  <a:gd name="T48" fmla="*/ 0 w 529"/>
                  <a:gd name="T49" fmla="*/ 0 h 610"/>
                  <a:gd name="T50" fmla="*/ 0 w 529"/>
                  <a:gd name="T51" fmla="*/ 0 h 610"/>
                  <a:gd name="T52" fmla="*/ 0 w 529"/>
                  <a:gd name="T53" fmla="*/ 0 h 610"/>
                  <a:gd name="T54" fmla="*/ 0 w 529"/>
                  <a:gd name="T55" fmla="*/ 0 h 610"/>
                  <a:gd name="T56" fmla="*/ 0 w 529"/>
                  <a:gd name="T57" fmla="*/ 0 h 610"/>
                  <a:gd name="T58" fmla="*/ 0 w 529"/>
                  <a:gd name="T59" fmla="*/ 0 h 610"/>
                  <a:gd name="T60" fmla="*/ 0 w 529"/>
                  <a:gd name="T61" fmla="*/ 0 h 610"/>
                  <a:gd name="T62" fmla="*/ 0 w 529"/>
                  <a:gd name="T63" fmla="*/ 0 h 610"/>
                  <a:gd name="T64" fmla="*/ 0 w 529"/>
                  <a:gd name="T65" fmla="*/ 0 h 610"/>
                  <a:gd name="T66" fmla="*/ 0 w 529"/>
                  <a:gd name="T67" fmla="*/ 0 h 610"/>
                  <a:gd name="T68" fmla="*/ 0 w 529"/>
                  <a:gd name="T69" fmla="*/ 0 h 610"/>
                  <a:gd name="T70" fmla="*/ 0 w 529"/>
                  <a:gd name="T71" fmla="*/ 0 h 610"/>
                  <a:gd name="T72" fmla="*/ 0 w 529"/>
                  <a:gd name="T73" fmla="*/ 0 h 610"/>
                  <a:gd name="T74" fmla="*/ 0 w 529"/>
                  <a:gd name="T75" fmla="*/ 0 h 610"/>
                  <a:gd name="T76" fmla="*/ 0 w 529"/>
                  <a:gd name="T77" fmla="*/ 0 h 610"/>
                  <a:gd name="T78" fmla="*/ 0 w 529"/>
                  <a:gd name="T79" fmla="*/ 0 h 610"/>
                  <a:gd name="T80" fmla="*/ 0 w 529"/>
                  <a:gd name="T81" fmla="*/ 0 h 610"/>
                  <a:gd name="T82" fmla="*/ 0 w 529"/>
                  <a:gd name="T83" fmla="*/ 0 h 61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29"/>
                  <a:gd name="T127" fmla="*/ 0 h 610"/>
                  <a:gd name="T128" fmla="*/ 529 w 529"/>
                  <a:gd name="T129" fmla="*/ 610 h 610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29" h="610">
                    <a:moveTo>
                      <a:pt x="154" y="0"/>
                    </a:moveTo>
                    <a:lnTo>
                      <a:pt x="0" y="95"/>
                    </a:lnTo>
                    <a:lnTo>
                      <a:pt x="29" y="115"/>
                    </a:lnTo>
                    <a:lnTo>
                      <a:pt x="57" y="136"/>
                    </a:lnTo>
                    <a:lnTo>
                      <a:pt x="83" y="157"/>
                    </a:lnTo>
                    <a:lnTo>
                      <a:pt x="108" y="179"/>
                    </a:lnTo>
                    <a:lnTo>
                      <a:pt x="131" y="201"/>
                    </a:lnTo>
                    <a:lnTo>
                      <a:pt x="153" y="224"/>
                    </a:lnTo>
                    <a:lnTo>
                      <a:pt x="173" y="248"/>
                    </a:lnTo>
                    <a:lnTo>
                      <a:pt x="192" y="272"/>
                    </a:lnTo>
                    <a:lnTo>
                      <a:pt x="209" y="296"/>
                    </a:lnTo>
                    <a:lnTo>
                      <a:pt x="224" y="320"/>
                    </a:lnTo>
                    <a:lnTo>
                      <a:pt x="238" y="345"/>
                    </a:lnTo>
                    <a:lnTo>
                      <a:pt x="251" y="371"/>
                    </a:lnTo>
                    <a:lnTo>
                      <a:pt x="262" y="397"/>
                    </a:lnTo>
                    <a:lnTo>
                      <a:pt x="271" y="424"/>
                    </a:lnTo>
                    <a:lnTo>
                      <a:pt x="279" y="451"/>
                    </a:lnTo>
                    <a:lnTo>
                      <a:pt x="286" y="479"/>
                    </a:lnTo>
                    <a:lnTo>
                      <a:pt x="290" y="515"/>
                    </a:lnTo>
                    <a:lnTo>
                      <a:pt x="293" y="552"/>
                    </a:lnTo>
                    <a:lnTo>
                      <a:pt x="293" y="555"/>
                    </a:lnTo>
                    <a:lnTo>
                      <a:pt x="291" y="610"/>
                    </a:lnTo>
                    <a:lnTo>
                      <a:pt x="528" y="610"/>
                    </a:lnTo>
                    <a:lnTo>
                      <a:pt x="529" y="582"/>
                    </a:lnTo>
                    <a:lnTo>
                      <a:pt x="528" y="557"/>
                    </a:lnTo>
                    <a:lnTo>
                      <a:pt x="528" y="555"/>
                    </a:lnTo>
                    <a:lnTo>
                      <a:pt x="523" y="514"/>
                    </a:lnTo>
                    <a:lnTo>
                      <a:pt x="517" y="474"/>
                    </a:lnTo>
                    <a:lnTo>
                      <a:pt x="508" y="435"/>
                    </a:lnTo>
                    <a:lnTo>
                      <a:pt x="497" y="397"/>
                    </a:lnTo>
                    <a:lnTo>
                      <a:pt x="482" y="359"/>
                    </a:lnTo>
                    <a:lnTo>
                      <a:pt x="466" y="322"/>
                    </a:lnTo>
                    <a:lnTo>
                      <a:pt x="446" y="286"/>
                    </a:lnTo>
                    <a:lnTo>
                      <a:pt x="425" y="252"/>
                    </a:lnTo>
                    <a:lnTo>
                      <a:pt x="399" y="217"/>
                    </a:lnTo>
                    <a:lnTo>
                      <a:pt x="372" y="184"/>
                    </a:lnTo>
                    <a:lnTo>
                      <a:pt x="342" y="151"/>
                    </a:lnTo>
                    <a:lnTo>
                      <a:pt x="310" y="120"/>
                    </a:lnTo>
                    <a:lnTo>
                      <a:pt x="274" y="88"/>
                    </a:lnTo>
                    <a:lnTo>
                      <a:pt x="237" y="58"/>
                    </a:lnTo>
                    <a:lnTo>
                      <a:pt x="196" y="28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3" name="Freeform 1098"/>
              <p:cNvSpPr>
                <a:spLocks/>
              </p:cNvSpPr>
              <p:nvPr/>
            </p:nvSpPr>
            <p:spPr bwMode="auto">
              <a:xfrm>
                <a:off x="1855" y="1017"/>
                <a:ext cx="149" cy="176"/>
              </a:xfrm>
              <a:custGeom>
                <a:avLst/>
                <a:gdLst>
                  <a:gd name="T0" fmla="*/ 0 w 595"/>
                  <a:gd name="T1" fmla="*/ 0 h 703"/>
                  <a:gd name="T2" fmla="*/ 0 w 595"/>
                  <a:gd name="T3" fmla="*/ 0 h 703"/>
                  <a:gd name="T4" fmla="*/ 0 w 595"/>
                  <a:gd name="T5" fmla="*/ 0 h 703"/>
                  <a:gd name="T6" fmla="*/ 0 w 595"/>
                  <a:gd name="T7" fmla="*/ 0 h 703"/>
                  <a:gd name="T8" fmla="*/ 0 w 595"/>
                  <a:gd name="T9" fmla="*/ 0 h 703"/>
                  <a:gd name="T10" fmla="*/ 0 w 595"/>
                  <a:gd name="T11" fmla="*/ 0 h 703"/>
                  <a:gd name="T12" fmla="*/ 0 w 595"/>
                  <a:gd name="T13" fmla="*/ 0 h 703"/>
                  <a:gd name="T14" fmla="*/ 0 w 595"/>
                  <a:gd name="T15" fmla="*/ 0 h 703"/>
                  <a:gd name="T16" fmla="*/ 0 w 595"/>
                  <a:gd name="T17" fmla="*/ 0 h 703"/>
                  <a:gd name="T18" fmla="*/ 0 w 595"/>
                  <a:gd name="T19" fmla="*/ 0 h 703"/>
                  <a:gd name="T20" fmla="*/ 0 w 595"/>
                  <a:gd name="T21" fmla="*/ 0 h 703"/>
                  <a:gd name="T22" fmla="*/ 0 w 595"/>
                  <a:gd name="T23" fmla="*/ 0 h 703"/>
                  <a:gd name="T24" fmla="*/ 0 w 595"/>
                  <a:gd name="T25" fmla="*/ 0 h 703"/>
                  <a:gd name="T26" fmla="*/ 0 w 595"/>
                  <a:gd name="T27" fmla="*/ 0 h 703"/>
                  <a:gd name="T28" fmla="*/ 0 w 595"/>
                  <a:gd name="T29" fmla="*/ 0 h 703"/>
                  <a:gd name="T30" fmla="*/ 0 w 595"/>
                  <a:gd name="T31" fmla="*/ 0 h 703"/>
                  <a:gd name="T32" fmla="*/ 0 w 595"/>
                  <a:gd name="T33" fmla="*/ 0 h 703"/>
                  <a:gd name="T34" fmla="*/ 0 w 595"/>
                  <a:gd name="T35" fmla="*/ 0 h 703"/>
                  <a:gd name="T36" fmla="*/ 0 w 595"/>
                  <a:gd name="T37" fmla="*/ 0 h 703"/>
                  <a:gd name="T38" fmla="*/ 0 w 595"/>
                  <a:gd name="T39" fmla="*/ 0 h 703"/>
                  <a:gd name="T40" fmla="*/ 0 w 595"/>
                  <a:gd name="T41" fmla="*/ 0 h 703"/>
                  <a:gd name="T42" fmla="*/ 0 w 595"/>
                  <a:gd name="T43" fmla="*/ 0 h 703"/>
                  <a:gd name="T44" fmla="*/ 0 w 595"/>
                  <a:gd name="T45" fmla="*/ 0 h 703"/>
                  <a:gd name="T46" fmla="*/ 0 w 595"/>
                  <a:gd name="T47" fmla="*/ 0 h 703"/>
                  <a:gd name="T48" fmla="*/ 0 w 595"/>
                  <a:gd name="T49" fmla="*/ 0 h 703"/>
                  <a:gd name="T50" fmla="*/ 0 w 595"/>
                  <a:gd name="T51" fmla="*/ 0 h 703"/>
                  <a:gd name="T52" fmla="*/ 0 w 595"/>
                  <a:gd name="T53" fmla="*/ 0 h 703"/>
                  <a:gd name="T54" fmla="*/ 0 w 595"/>
                  <a:gd name="T55" fmla="*/ 0 h 703"/>
                  <a:gd name="T56" fmla="*/ 0 w 595"/>
                  <a:gd name="T57" fmla="*/ 0 h 703"/>
                  <a:gd name="T58" fmla="*/ 0 w 595"/>
                  <a:gd name="T59" fmla="*/ 0 h 703"/>
                  <a:gd name="T60" fmla="*/ 0 w 595"/>
                  <a:gd name="T61" fmla="*/ 0 h 703"/>
                  <a:gd name="T62" fmla="*/ 0 w 595"/>
                  <a:gd name="T63" fmla="*/ 0 h 703"/>
                  <a:gd name="T64" fmla="*/ 0 w 595"/>
                  <a:gd name="T65" fmla="*/ 0 h 703"/>
                  <a:gd name="T66" fmla="*/ 0 w 595"/>
                  <a:gd name="T67" fmla="*/ 0 h 703"/>
                  <a:gd name="T68" fmla="*/ 0 w 595"/>
                  <a:gd name="T69" fmla="*/ 0 h 703"/>
                  <a:gd name="T70" fmla="*/ 0 w 595"/>
                  <a:gd name="T71" fmla="*/ 0 h 703"/>
                  <a:gd name="T72" fmla="*/ 0 w 595"/>
                  <a:gd name="T73" fmla="*/ 0 h 703"/>
                  <a:gd name="T74" fmla="*/ 0 w 595"/>
                  <a:gd name="T75" fmla="*/ 0 h 703"/>
                  <a:gd name="T76" fmla="*/ 0 w 595"/>
                  <a:gd name="T77" fmla="*/ 0 h 703"/>
                  <a:gd name="T78" fmla="*/ 0 w 595"/>
                  <a:gd name="T79" fmla="*/ 0 h 70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5"/>
                  <a:gd name="T121" fmla="*/ 0 h 703"/>
                  <a:gd name="T122" fmla="*/ 595 w 595"/>
                  <a:gd name="T123" fmla="*/ 703 h 70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5" h="703">
                    <a:moveTo>
                      <a:pt x="374" y="648"/>
                    </a:moveTo>
                    <a:lnTo>
                      <a:pt x="374" y="650"/>
                    </a:lnTo>
                    <a:lnTo>
                      <a:pt x="375" y="675"/>
                    </a:lnTo>
                    <a:lnTo>
                      <a:pt x="374" y="703"/>
                    </a:lnTo>
                    <a:lnTo>
                      <a:pt x="595" y="703"/>
                    </a:lnTo>
                    <a:lnTo>
                      <a:pt x="594" y="653"/>
                    </a:lnTo>
                    <a:lnTo>
                      <a:pt x="594" y="648"/>
                    </a:lnTo>
                    <a:lnTo>
                      <a:pt x="588" y="600"/>
                    </a:lnTo>
                    <a:lnTo>
                      <a:pt x="580" y="554"/>
                    </a:lnTo>
                    <a:lnTo>
                      <a:pt x="569" y="508"/>
                    </a:lnTo>
                    <a:lnTo>
                      <a:pt x="556" y="464"/>
                    </a:lnTo>
                    <a:lnTo>
                      <a:pt x="538" y="420"/>
                    </a:lnTo>
                    <a:lnTo>
                      <a:pt x="518" y="377"/>
                    </a:lnTo>
                    <a:lnTo>
                      <a:pt x="495" y="335"/>
                    </a:lnTo>
                    <a:lnTo>
                      <a:pt x="470" y="295"/>
                    </a:lnTo>
                    <a:lnTo>
                      <a:pt x="440" y="254"/>
                    </a:lnTo>
                    <a:lnTo>
                      <a:pt x="408" y="215"/>
                    </a:lnTo>
                    <a:lnTo>
                      <a:pt x="372" y="177"/>
                    </a:lnTo>
                    <a:lnTo>
                      <a:pt x="334" y="140"/>
                    </a:lnTo>
                    <a:lnTo>
                      <a:pt x="292" y="103"/>
                    </a:lnTo>
                    <a:lnTo>
                      <a:pt x="248" y="68"/>
                    </a:lnTo>
                    <a:lnTo>
                      <a:pt x="201" y="33"/>
                    </a:lnTo>
                    <a:lnTo>
                      <a:pt x="151" y="0"/>
                    </a:lnTo>
                    <a:lnTo>
                      <a:pt x="0" y="93"/>
                    </a:lnTo>
                    <a:lnTo>
                      <a:pt x="42" y="121"/>
                    </a:lnTo>
                    <a:lnTo>
                      <a:pt x="83" y="151"/>
                    </a:lnTo>
                    <a:lnTo>
                      <a:pt x="120" y="181"/>
                    </a:lnTo>
                    <a:lnTo>
                      <a:pt x="156" y="213"/>
                    </a:lnTo>
                    <a:lnTo>
                      <a:pt x="188" y="244"/>
                    </a:lnTo>
                    <a:lnTo>
                      <a:pt x="218" y="277"/>
                    </a:lnTo>
                    <a:lnTo>
                      <a:pt x="245" y="310"/>
                    </a:lnTo>
                    <a:lnTo>
                      <a:pt x="271" y="345"/>
                    </a:lnTo>
                    <a:lnTo>
                      <a:pt x="292" y="379"/>
                    </a:lnTo>
                    <a:lnTo>
                      <a:pt x="312" y="415"/>
                    </a:lnTo>
                    <a:lnTo>
                      <a:pt x="328" y="452"/>
                    </a:lnTo>
                    <a:lnTo>
                      <a:pt x="343" y="490"/>
                    </a:lnTo>
                    <a:lnTo>
                      <a:pt x="354" y="528"/>
                    </a:lnTo>
                    <a:lnTo>
                      <a:pt x="363" y="567"/>
                    </a:lnTo>
                    <a:lnTo>
                      <a:pt x="369" y="607"/>
                    </a:lnTo>
                    <a:lnTo>
                      <a:pt x="374" y="6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459" name="Freeform 1099"/>
              <p:cNvSpPr>
                <a:spLocks/>
              </p:cNvSpPr>
              <p:nvPr/>
            </p:nvSpPr>
            <p:spPr bwMode="auto">
              <a:xfrm>
                <a:off x="1898" y="1194"/>
                <a:ext cx="165" cy="188"/>
              </a:xfrm>
              <a:custGeom>
                <a:avLst/>
                <a:gdLst>
                  <a:gd name="T0" fmla="*/ 663 w 663"/>
                  <a:gd name="T1" fmla="*/ 0 h 757"/>
                  <a:gd name="T2" fmla="*/ 427 w 663"/>
                  <a:gd name="T3" fmla="*/ 0 h 757"/>
                  <a:gd name="T4" fmla="*/ 424 w 663"/>
                  <a:gd name="T5" fmla="*/ 44 h 757"/>
                  <a:gd name="T6" fmla="*/ 419 w 663"/>
                  <a:gd name="T7" fmla="*/ 88 h 757"/>
                  <a:gd name="T8" fmla="*/ 416 w 663"/>
                  <a:gd name="T9" fmla="*/ 98 h 757"/>
                  <a:gd name="T10" fmla="*/ 414 w 663"/>
                  <a:gd name="T11" fmla="*/ 109 h 757"/>
                  <a:gd name="T12" fmla="*/ 410 w 663"/>
                  <a:gd name="T13" fmla="*/ 131 h 757"/>
                  <a:gd name="T14" fmla="*/ 399 w 663"/>
                  <a:gd name="T15" fmla="*/ 175 h 757"/>
                  <a:gd name="T16" fmla="*/ 391 w 663"/>
                  <a:gd name="T17" fmla="*/ 195 h 757"/>
                  <a:gd name="T18" fmla="*/ 387 w 663"/>
                  <a:gd name="T19" fmla="*/ 205 h 757"/>
                  <a:gd name="T20" fmla="*/ 385 w 663"/>
                  <a:gd name="T21" fmla="*/ 210 h 757"/>
                  <a:gd name="T22" fmla="*/ 384 w 663"/>
                  <a:gd name="T23" fmla="*/ 216 h 757"/>
                  <a:gd name="T24" fmla="*/ 367 w 663"/>
                  <a:gd name="T25" fmla="*/ 258 h 757"/>
                  <a:gd name="T26" fmla="*/ 346 w 663"/>
                  <a:gd name="T27" fmla="*/ 299 h 757"/>
                  <a:gd name="T28" fmla="*/ 334 w 663"/>
                  <a:gd name="T29" fmla="*/ 319 h 757"/>
                  <a:gd name="T30" fmla="*/ 328 w 663"/>
                  <a:gd name="T31" fmla="*/ 329 h 757"/>
                  <a:gd name="T32" fmla="*/ 325 w 663"/>
                  <a:gd name="T33" fmla="*/ 334 h 757"/>
                  <a:gd name="T34" fmla="*/ 323 w 663"/>
                  <a:gd name="T35" fmla="*/ 340 h 757"/>
                  <a:gd name="T36" fmla="*/ 296 w 663"/>
                  <a:gd name="T37" fmla="*/ 378 h 757"/>
                  <a:gd name="T38" fmla="*/ 288 w 663"/>
                  <a:gd name="T39" fmla="*/ 387 h 757"/>
                  <a:gd name="T40" fmla="*/ 281 w 663"/>
                  <a:gd name="T41" fmla="*/ 397 h 757"/>
                  <a:gd name="T42" fmla="*/ 267 w 663"/>
                  <a:gd name="T43" fmla="*/ 417 h 757"/>
                  <a:gd name="T44" fmla="*/ 234 w 663"/>
                  <a:gd name="T45" fmla="*/ 455 h 757"/>
                  <a:gd name="T46" fmla="*/ 199 w 663"/>
                  <a:gd name="T47" fmla="*/ 493 h 757"/>
                  <a:gd name="T48" fmla="*/ 160 w 663"/>
                  <a:gd name="T49" fmla="*/ 529 h 757"/>
                  <a:gd name="T50" fmla="*/ 119 w 663"/>
                  <a:gd name="T51" fmla="*/ 565 h 757"/>
                  <a:gd name="T52" fmla="*/ 107 w 663"/>
                  <a:gd name="T53" fmla="*/ 573 h 757"/>
                  <a:gd name="T54" fmla="*/ 101 w 663"/>
                  <a:gd name="T55" fmla="*/ 577 h 757"/>
                  <a:gd name="T56" fmla="*/ 96 w 663"/>
                  <a:gd name="T57" fmla="*/ 582 h 757"/>
                  <a:gd name="T58" fmla="*/ 74 w 663"/>
                  <a:gd name="T59" fmla="*/ 600 h 757"/>
                  <a:gd name="T60" fmla="*/ 28 w 663"/>
                  <a:gd name="T61" fmla="*/ 636 h 757"/>
                  <a:gd name="T62" fmla="*/ 0 w 663"/>
                  <a:gd name="T63" fmla="*/ 651 h 757"/>
                  <a:gd name="T64" fmla="*/ 187 w 663"/>
                  <a:gd name="T65" fmla="*/ 757 h 757"/>
                  <a:gd name="T66" fmla="*/ 196 w 663"/>
                  <a:gd name="T67" fmla="*/ 749 h 757"/>
                  <a:gd name="T68" fmla="*/ 252 w 663"/>
                  <a:gd name="T69" fmla="*/ 707 h 757"/>
                  <a:gd name="T70" fmla="*/ 278 w 663"/>
                  <a:gd name="T71" fmla="*/ 686 h 757"/>
                  <a:gd name="T72" fmla="*/ 304 w 663"/>
                  <a:gd name="T73" fmla="*/ 666 h 757"/>
                  <a:gd name="T74" fmla="*/ 328 w 663"/>
                  <a:gd name="T75" fmla="*/ 644 h 757"/>
                  <a:gd name="T76" fmla="*/ 340 w 663"/>
                  <a:gd name="T77" fmla="*/ 633 h 757"/>
                  <a:gd name="T78" fmla="*/ 353 w 663"/>
                  <a:gd name="T79" fmla="*/ 623 h 757"/>
                  <a:gd name="T80" fmla="*/ 399 w 663"/>
                  <a:gd name="T81" fmla="*/ 581 h 757"/>
                  <a:gd name="T82" fmla="*/ 419 w 663"/>
                  <a:gd name="T83" fmla="*/ 558 h 757"/>
                  <a:gd name="T84" fmla="*/ 440 w 663"/>
                  <a:gd name="T85" fmla="*/ 536 h 757"/>
                  <a:gd name="T86" fmla="*/ 478 w 663"/>
                  <a:gd name="T87" fmla="*/ 492 h 757"/>
                  <a:gd name="T88" fmla="*/ 513 w 663"/>
                  <a:gd name="T89" fmla="*/ 446 h 757"/>
                  <a:gd name="T90" fmla="*/ 529 w 663"/>
                  <a:gd name="T91" fmla="*/ 423 h 757"/>
                  <a:gd name="T92" fmla="*/ 545 w 663"/>
                  <a:gd name="T93" fmla="*/ 401 h 757"/>
                  <a:gd name="T94" fmla="*/ 571 w 663"/>
                  <a:gd name="T95" fmla="*/ 353 h 757"/>
                  <a:gd name="T96" fmla="*/ 595 w 663"/>
                  <a:gd name="T97" fmla="*/ 305 h 757"/>
                  <a:gd name="T98" fmla="*/ 605 w 663"/>
                  <a:gd name="T99" fmla="*/ 279 h 757"/>
                  <a:gd name="T100" fmla="*/ 615 w 663"/>
                  <a:gd name="T101" fmla="*/ 255 h 757"/>
                  <a:gd name="T102" fmla="*/ 623 w 663"/>
                  <a:gd name="T103" fmla="*/ 230 h 757"/>
                  <a:gd name="T104" fmla="*/ 632 w 663"/>
                  <a:gd name="T105" fmla="*/ 206 h 757"/>
                  <a:gd name="T106" fmla="*/ 638 w 663"/>
                  <a:gd name="T107" fmla="*/ 180 h 757"/>
                  <a:gd name="T108" fmla="*/ 644 w 663"/>
                  <a:gd name="T109" fmla="*/ 155 h 757"/>
                  <a:gd name="T110" fmla="*/ 649 w 663"/>
                  <a:gd name="T111" fmla="*/ 129 h 757"/>
                  <a:gd name="T112" fmla="*/ 651 w 663"/>
                  <a:gd name="T113" fmla="*/ 116 h 757"/>
                  <a:gd name="T114" fmla="*/ 654 w 663"/>
                  <a:gd name="T115" fmla="*/ 104 h 757"/>
                  <a:gd name="T116" fmla="*/ 660 w 663"/>
                  <a:gd name="T117" fmla="*/ 52 h 757"/>
                  <a:gd name="T118" fmla="*/ 663 w 663"/>
                  <a:gd name="T119" fmla="*/ 0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63" h="757">
                    <a:moveTo>
                      <a:pt x="663" y="0"/>
                    </a:moveTo>
                    <a:lnTo>
                      <a:pt x="427" y="0"/>
                    </a:lnTo>
                    <a:lnTo>
                      <a:pt x="424" y="44"/>
                    </a:lnTo>
                    <a:lnTo>
                      <a:pt x="419" y="88"/>
                    </a:lnTo>
                    <a:lnTo>
                      <a:pt x="416" y="98"/>
                    </a:lnTo>
                    <a:lnTo>
                      <a:pt x="414" y="109"/>
                    </a:lnTo>
                    <a:lnTo>
                      <a:pt x="410" y="131"/>
                    </a:lnTo>
                    <a:lnTo>
                      <a:pt x="399" y="175"/>
                    </a:lnTo>
                    <a:lnTo>
                      <a:pt x="391" y="195"/>
                    </a:lnTo>
                    <a:lnTo>
                      <a:pt x="387" y="205"/>
                    </a:lnTo>
                    <a:lnTo>
                      <a:pt x="385" y="210"/>
                    </a:lnTo>
                    <a:lnTo>
                      <a:pt x="384" y="216"/>
                    </a:lnTo>
                    <a:lnTo>
                      <a:pt x="367" y="258"/>
                    </a:lnTo>
                    <a:lnTo>
                      <a:pt x="346" y="299"/>
                    </a:lnTo>
                    <a:lnTo>
                      <a:pt x="334" y="319"/>
                    </a:lnTo>
                    <a:lnTo>
                      <a:pt x="328" y="329"/>
                    </a:lnTo>
                    <a:lnTo>
                      <a:pt x="325" y="334"/>
                    </a:lnTo>
                    <a:lnTo>
                      <a:pt x="323" y="340"/>
                    </a:lnTo>
                    <a:lnTo>
                      <a:pt x="296" y="378"/>
                    </a:lnTo>
                    <a:lnTo>
                      <a:pt x="288" y="387"/>
                    </a:lnTo>
                    <a:lnTo>
                      <a:pt x="281" y="397"/>
                    </a:lnTo>
                    <a:lnTo>
                      <a:pt x="267" y="417"/>
                    </a:lnTo>
                    <a:lnTo>
                      <a:pt x="234" y="455"/>
                    </a:lnTo>
                    <a:lnTo>
                      <a:pt x="199" y="493"/>
                    </a:lnTo>
                    <a:lnTo>
                      <a:pt x="160" y="529"/>
                    </a:lnTo>
                    <a:lnTo>
                      <a:pt x="119" y="565"/>
                    </a:lnTo>
                    <a:lnTo>
                      <a:pt x="107" y="573"/>
                    </a:lnTo>
                    <a:lnTo>
                      <a:pt x="101" y="577"/>
                    </a:lnTo>
                    <a:lnTo>
                      <a:pt x="96" y="582"/>
                    </a:lnTo>
                    <a:lnTo>
                      <a:pt x="74" y="600"/>
                    </a:lnTo>
                    <a:lnTo>
                      <a:pt x="28" y="636"/>
                    </a:lnTo>
                    <a:lnTo>
                      <a:pt x="0" y="651"/>
                    </a:lnTo>
                    <a:lnTo>
                      <a:pt x="187" y="757"/>
                    </a:lnTo>
                    <a:lnTo>
                      <a:pt x="196" y="749"/>
                    </a:lnTo>
                    <a:lnTo>
                      <a:pt x="252" y="707"/>
                    </a:lnTo>
                    <a:lnTo>
                      <a:pt x="278" y="686"/>
                    </a:lnTo>
                    <a:lnTo>
                      <a:pt x="304" y="666"/>
                    </a:lnTo>
                    <a:lnTo>
                      <a:pt x="328" y="644"/>
                    </a:lnTo>
                    <a:lnTo>
                      <a:pt x="340" y="633"/>
                    </a:lnTo>
                    <a:lnTo>
                      <a:pt x="353" y="623"/>
                    </a:lnTo>
                    <a:lnTo>
                      <a:pt x="399" y="581"/>
                    </a:lnTo>
                    <a:lnTo>
                      <a:pt x="419" y="558"/>
                    </a:lnTo>
                    <a:lnTo>
                      <a:pt x="440" y="536"/>
                    </a:lnTo>
                    <a:lnTo>
                      <a:pt x="478" y="492"/>
                    </a:lnTo>
                    <a:lnTo>
                      <a:pt x="513" y="446"/>
                    </a:lnTo>
                    <a:lnTo>
                      <a:pt x="529" y="423"/>
                    </a:lnTo>
                    <a:lnTo>
                      <a:pt x="545" y="401"/>
                    </a:lnTo>
                    <a:lnTo>
                      <a:pt x="571" y="353"/>
                    </a:lnTo>
                    <a:lnTo>
                      <a:pt x="595" y="305"/>
                    </a:lnTo>
                    <a:lnTo>
                      <a:pt x="605" y="279"/>
                    </a:lnTo>
                    <a:lnTo>
                      <a:pt x="615" y="255"/>
                    </a:lnTo>
                    <a:lnTo>
                      <a:pt x="623" y="230"/>
                    </a:lnTo>
                    <a:lnTo>
                      <a:pt x="632" y="206"/>
                    </a:lnTo>
                    <a:lnTo>
                      <a:pt x="638" y="180"/>
                    </a:lnTo>
                    <a:lnTo>
                      <a:pt x="644" y="155"/>
                    </a:lnTo>
                    <a:lnTo>
                      <a:pt x="649" y="129"/>
                    </a:lnTo>
                    <a:lnTo>
                      <a:pt x="651" y="116"/>
                    </a:lnTo>
                    <a:lnTo>
                      <a:pt x="654" y="104"/>
                    </a:lnTo>
                    <a:lnTo>
                      <a:pt x="660" y="52"/>
                    </a:lnTo>
                    <a:lnTo>
                      <a:pt x="6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665" name="Freeform 1100"/>
              <p:cNvSpPr>
                <a:spLocks/>
              </p:cNvSpPr>
              <p:nvPr/>
            </p:nvSpPr>
            <p:spPr bwMode="auto">
              <a:xfrm>
                <a:off x="1809" y="1193"/>
                <a:ext cx="140" cy="139"/>
              </a:xfrm>
              <a:custGeom>
                <a:avLst/>
                <a:gdLst>
                  <a:gd name="T0" fmla="*/ 0 w 558"/>
                  <a:gd name="T1" fmla="*/ 0 h 558"/>
                  <a:gd name="T2" fmla="*/ 0 w 558"/>
                  <a:gd name="T3" fmla="*/ 0 h 558"/>
                  <a:gd name="T4" fmla="*/ 0 w 558"/>
                  <a:gd name="T5" fmla="*/ 0 h 558"/>
                  <a:gd name="T6" fmla="*/ 0 w 558"/>
                  <a:gd name="T7" fmla="*/ 0 h 558"/>
                  <a:gd name="T8" fmla="*/ 0 w 558"/>
                  <a:gd name="T9" fmla="*/ 0 h 558"/>
                  <a:gd name="T10" fmla="*/ 0 w 558"/>
                  <a:gd name="T11" fmla="*/ 0 h 558"/>
                  <a:gd name="T12" fmla="*/ 0 w 558"/>
                  <a:gd name="T13" fmla="*/ 0 h 558"/>
                  <a:gd name="T14" fmla="*/ 0 w 558"/>
                  <a:gd name="T15" fmla="*/ 0 h 558"/>
                  <a:gd name="T16" fmla="*/ 0 w 558"/>
                  <a:gd name="T17" fmla="*/ 0 h 558"/>
                  <a:gd name="T18" fmla="*/ 0 w 558"/>
                  <a:gd name="T19" fmla="*/ 0 h 558"/>
                  <a:gd name="T20" fmla="*/ 0 w 558"/>
                  <a:gd name="T21" fmla="*/ 0 h 558"/>
                  <a:gd name="T22" fmla="*/ 0 w 558"/>
                  <a:gd name="T23" fmla="*/ 0 h 558"/>
                  <a:gd name="T24" fmla="*/ 0 w 558"/>
                  <a:gd name="T25" fmla="*/ 0 h 558"/>
                  <a:gd name="T26" fmla="*/ 0 w 558"/>
                  <a:gd name="T27" fmla="*/ 0 h 558"/>
                  <a:gd name="T28" fmla="*/ 0 w 558"/>
                  <a:gd name="T29" fmla="*/ 0 h 558"/>
                  <a:gd name="T30" fmla="*/ 0 w 558"/>
                  <a:gd name="T31" fmla="*/ 0 h 558"/>
                  <a:gd name="T32" fmla="*/ 0 w 558"/>
                  <a:gd name="T33" fmla="*/ 0 h 558"/>
                  <a:gd name="T34" fmla="*/ 0 w 558"/>
                  <a:gd name="T35" fmla="*/ 0 h 558"/>
                  <a:gd name="T36" fmla="*/ 0 w 558"/>
                  <a:gd name="T37" fmla="*/ 0 h 558"/>
                  <a:gd name="T38" fmla="*/ 0 w 558"/>
                  <a:gd name="T39" fmla="*/ 0 h 558"/>
                  <a:gd name="T40" fmla="*/ 0 w 558"/>
                  <a:gd name="T41" fmla="*/ 0 h 558"/>
                  <a:gd name="T42" fmla="*/ 0 w 558"/>
                  <a:gd name="T43" fmla="*/ 0 h 558"/>
                  <a:gd name="T44" fmla="*/ 0 w 558"/>
                  <a:gd name="T45" fmla="*/ 0 h 558"/>
                  <a:gd name="T46" fmla="*/ 0 w 558"/>
                  <a:gd name="T47" fmla="*/ 0 h 558"/>
                  <a:gd name="T48" fmla="*/ 0 w 558"/>
                  <a:gd name="T49" fmla="*/ 0 h 558"/>
                  <a:gd name="T50" fmla="*/ 0 w 558"/>
                  <a:gd name="T51" fmla="*/ 0 h 558"/>
                  <a:gd name="T52" fmla="*/ 0 w 558"/>
                  <a:gd name="T53" fmla="*/ 0 h 558"/>
                  <a:gd name="T54" fmla="*/ 0 w 558"/>
                  <a:gd name="T55" fmla="*/ 0 h 558"/>
                  <a:gd name="T56" fmla="*/ 0 w 558"/>
                  <a:gd name="T57" fmla="*/ 0 h 558"/>
                  <a:gd name="T58" fmla="*/ 0 w 558"/>
                  <a:gd name="T59" fmla="*/ 0 h 558"/>
                  <a:gd name="T60" fmla="*/ 0 w 558"/>
                  <a:gd name="T61" fmla="*/ 0 h 558"/>
                  <a:gd name="T62" fmla="*/ 0 w 558"/>
                  <a:gd name="T63" fmla="*/ 0 h 558"/>
                  <a:gd name="T64" fmla="*/ 0 w 558"/>
                  <a:gd name="T65" fmla="*/ 0 h 558"/>
                  <a:gd name="T66" fmla="*/ 0 w 558"/>
                  <a:gd name="T67" fmla="*/ 0 h 558"/>
                  <a:gd name="T68" fmla="*/ 0 w 558"/>
                  <a:gd name="T69" fmla="*/ 0 h 558"/>
                  <a:gd name="T70" fmla="*/ 0 w 558"/>
                  <a:gd name="T71" fmla="*/ 0 h 558"/>
                  <a:gd name="T72" fmla="*/ 0 w 558"/>
                  <a:gd name="T73" fmla="*/ 0 h 558"/>
                  <a:gd name="T74" fmla="*/ 0 w 558"/>
                  <a:gd name="T75" fmla="*/ 0 h 558"/>
                  <a:gd name="T76" fmla="*/ 0 w 558"/>
                  <a:gd name="T77" fmla="*/ 0 h 558"/>
                  <a:gd name="T78" fmla="*/ 0 w 558"/>
                  <a:gd name="T79" fmla="*/ 0 h 558"/>
                  <a:gd name="T80" fmla="*/ 0 w 558"/>
                  <a:gd name="T81" fmla="*/ 0 h 558"/>
                  <a:gd name="T82" fmla="*/ 0 w 558"/>
                  <a:gd name="T83" fmla="*/ 0 h 558"/>
                  <a:gd name="T84" fmla="*/ 0 w 558"/>
                  <a:gd name="T85" fmla="*/ 0 h 558"/>
                  <a:gd name="T86" fmla="*/ 0 w 558"/>
                  <a:gd name="T87" fmla="*/ 0 h 558"/>
                  <a:gd name="T88" fmla="*/ 0 w 558"/>
                  <a:gd name="T89" fmla="*/ 0 h 558"/>
                  <a:gd name="T90" fmla="*/ 0 w 558"/>
                  <a:gd name="T91" fmla="*/ 0 h 558"/>
                  <a:gd name="T92" fmla="*/ 0 w 558"/>
                  <a:gd name="T93" fmla="*/ 0 h 558"/>
                  <a:gd name="T94" fmla="*/ 0 w 558"/>
                  <a:gd name="T95" fmla="*/ 0 h 558"/>
                  <a:gd name="T96" fmla="*/ 0 w 558"/>
                  <a:gd name="T97" fmla="*/ 0 h 558"/>
                  <a:gd name="T98" fmla="*/ 0 w 558"/>
                  <a:gd name="T99" fmla="*/ 0 h 558"/>
                  <a:gd name="T100" fmla="*/ 0 w 558"/>
                  <a:gd name="T101" fmla="*/ 0 h 558"/>
                  <a:gd name="T102" fmla="*/ 0 w 558"/>
                  <a:gd name="T103" fmla="*/ 0 h 558"/>
                  <a:gd name="T104" fmla="*/ 0 w 558"/>
                  <a:gd name="T105" fmla="*/ 0 h 558"/>
                  <a:gd name="T106" fmla="*/ 0 w 558"/>
                  <a:gd name="T107" fmla="*/ 0 h 558"/>
                  <a:gd name="T108" fmla="*/ 0 w 558"/>
                  <a:gd name="T109" fmla="*/ 0 h 558"/>
                  <a:gd name="T110" fmla="*/ 0 w 558"/>
                  <a:gd name="T111" fmla="*/ 0 h 558"/>
                  <a:gd name="T112" fmla="*/ 0 w 558"/>
                  <a:gd name="T113" fmla="*/ 0 h 55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58"/>
                  <a:gd name="T172" fmla="*/ 0 h 558"/>
                  <a:gd name="T173" fmla="*/ 558 w 558"/>
                  <a:gd name="T174" fmla="*/ 558 h 55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58" h="558">
                    <a:moveTo>
                      <a:pt x="558" y="0"/>
                    </a:moveTo>
                    <a:lnTo>
                      <a:pt x="321" y="0"/>
                    </a:lnTo>
                    <a:lnTo>
                      <a:pt x="318" y="18"/>
                    </a:lnTo>
                    <a:lnTo>
                      <a:pt x="316" y="37"/>
                    </a:lnTo>
                    <a:lnTo>
                      <a:pt x="309" y="75"/>
                    </a:lnTo>
                    <a:lnTo>
                      <a:pt x="301" y="99"/>
                    </a:lnTo>
                    <a:lnTo>
                      <a:pt x="292" y="125"/>
                    </a:lnTo>
                    <a:lnTo>
                      <a:pt x="281" y="149"/>
                    </a:lnTo>
                    <a:lnTo>
                      <a:pt x="275" y="161"/>
                    </a:lnTo>
                    <a:lnTo>
                      <a:pt x="272" y="167"/>
                    </a:lnTo>
                    <a:lnTo>
                      <a:pt x="270" y="174"/>
                    </a:lnTo>
                    <a:lnTo>
                      <a:pt x="256" y="197"/>
                    </a:lnTo>
                    <a:lnTo>
                      <a:pt x="242" y="221"/>
                    </a:lnTo>
                    <a:lnTo>
                      <a:pt x="226" y="244"/>
                    </a:lnTo>
                    <a:lnTo>
                      <a:pt x="209" y="268"/>
                    </a:lnTo>
                    <a:lnTo>
                      <a:pt x="189" y="291"/>
                    </a:lnTo>
                    <a:lnTo>
                      <a:pt x="169" y="314"/>
                    </a:lnTo>
                    <a:lnTo>
                      <a:pt x="147" y="336"/>
                    </a:lnTo>
                    <a:lnTo>
                      <a:pt x="124" y="358"/>
                    </a:lnTo>
                    <a:lnTo>
                      <a:pt x="111" y="368"/>
                    </a:lnTo>
                    <a:lnTo>
                      <a:pt x="99" y="379"/>
                    </a:lnTo>
                    <a:lnTo>
                      <a:pt x="73" y="401"/>
                    </a:lnTo>
                    <a:lnTo>
                      <a:pt x="45" y="421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4" y="445"/>
                    </a:lnTo>
                    <a:lnTo>
                      <a:pt x="2" y="448"/>
                    </a:lnTo>
                    <a:lnTo>
                      <a:pt x="0" y="450"/>
                    </a:lnTo>
                    <a:lnTo>
                      <a:pt x="187" y="558"/>
                    </a:lnTo>
                    <a:lnTo>
                      <a:pt x="187" y="556"/>
                    </a:lnTo>
                    <a:lnTo>
                      <a:pt x="187" y="558"/>
                    </a:lnTo>
                    <a:lnTo>
                      <a:pt x="229" y="526"/>
                    </a:lnTo>
                    <a:lnTo>
                      <a:pt x="249" y="510"/>
                    </a:lnTo>
                    <a:lnTo>
                      <a:pt x="269" y="495"/>
                    </a:lnTo>
                    <a:lnTo>
                      <a:pt x="306" y="463"/>
                    </a:lnTo>
                    <a:lnTo>
                      <a:pt x="324" y="447"/>
                    </a:lnTo>
                    <a:lnTo>
                      <a:pt x="342" y="432"/>
                    </a:lnTo>
                    <a:lnTo>
                      <a:pt x="374" y="398"/>
                    </a:lnTo>
                    <a:lnTo>
                      <a:pt x="377" y="393"/>
                    </a:lnTo>
                    <a:lnTo>
                      <a:pt x="381" y="389"/>
                    </a:lnTo>
                    <a:lnTo>
                      <a:pt x="389" y="381"/>
                    </a:lnTo>
                    <a:lnTo>
                      <a:pt x="404" y="365"/>
                    </a:lnTo>
                    <a:lnTo>
                      <a:pt x="431" y="331"/>
                    </a:lnTo>
                    <a:lnTo>
                      <a:pt x="443" y="314"/>
                    </a:lnTo>
                    <a:lnTo>
                      <a:pt x="456" y="298"/>
                    </a:lnTo>
                    <a:lnTo>
                      <a:pt x="477" y="261"/>
                    </a:lnTo>
                    <a:lnTo>
                      <a:pt x="486" y="243"/>
                    </a:lnTo>
                    <a:lnTo>
                      <a:pt x="496" y="226"/>
                    </a:lnTo>
                    <a:lnTo>
                      <a:pt x="504" y="207"/>
                    </a:lnTo>
                    <a:lnTo>
                      <a:pt x="512" y="189"/>
                    </a:lnTo>
                    <a:lnTo>
                      <a:pt x="527" y="153"/>
                    </a:lnTo>
                    <a:lnTo>
                      <a:pt x="538" y="115"/>
                    </a:lnTo>
                    <a:lnTo>
                      <a:pt x="547" y="77"/>
                    </a:lnTo>
                    <a:lnTo>
                      <a:pt x="550" y="57"/>
                    </a:lnTo>
                    <a:lnTo>
                      <a:pt x="551" y="47"/>
                    </a:lnTo>
                    <a:lnTo>
                      <a:pt x="553" y="38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6" name="Freeform 1101"/>
              <p:cNvSpPr>
                <a:spLocks/>
              </p:cNvSpPr>
              <p:nvPr/>
            </p:nvSpPr>
            <p:spPr bwMode="auto">
              <a:xfrm>
                <a:off x="1765" y="1193"/>
                <a:ext cx="125" cy="112"/>
              </a:xfrm>
              <a:custGeom>
                <a:avLst/>
                <a:gdLst>
                  <a:gd name="T0" fmla="*/ 0 w 499"/>
                  <a:gd name="T1" fmla="*/ 0 h 450"/>
                  <a:gd name="T2" fmla="*/ 0 w 499"/>
                  <a:gd name="T3" fmla="*/ 0 h 450"/>
                  <a:gd name="T4" fmla="*/ 0 w 499"/>
                  <a:gd name="T5" fmla="*/ 0 h 450"/>
                  <a:gd name="T6" fmla="*/ 0 w 499"/>
                  <a:gd name="T7" fmla="*/ 0 h 450"/>
                  <a:gd name="T8" fmla="*/ 0 w 499"/>
                  <a:gd name="T9" fmla="*/ 0 h 450"/>
                  <a:gd name="T10" fmla="*/ 0 w 499"/>
                  <a:gd name="T11" fmla="*/ 0 h 450"/>
                  <a:gd name="T12" fmla="*/ 0 w 499"/>
                  <a:gd name="T13" fmla="*/ 0 h 450"/>
                  <a:gd name="T14" fmla="*/ 0 w 499"/>
                  <a:gd name="T15" fmla="*/ 0 h 450"/>
                  <a:gd name="T16" fmla="*/ 0 w 499"/>
                  <a:gd name="T17" fmla="*/ 0 h 450"/>
                  <a:gd name="T18" fmla="*/ 0 w 499"/>
                  <a:gd name="T19" fmla="*/ 0 h 450"/>
                  <a:gd name="T20" fmla="*/ 0 w 499"/>
                  <a:gd name="T21" fmla="*/ 0 h 450"/>
                  <a:gd name="T22" fmla="*/ 0 w 499"/>
                  <a:gd name="T23" fmla="*/ 0 h 450"/>
                  <a:gd name="T24" fmla="*/ 0 w 499"/>
                  <a:gd name="T25" fmla="*/ 0 h 450"/>
                  <a:gd name="T26" fmla="*/ 0 w 499"/>
                  <a:gd name="T27" fmla="*/ 0 h 450"/>
                  <a:gd name="T28" fmla="*/ 0 w 499"/>
                  <a:gd name="T29" fmla="*/ 0 h 450"/>
                  <a:gd name="T30" fmla="*/ 0 w 499"/>
                  <a:gd name="T31" fmla="*/ 0 h 450"/>
                  <a:gd name="T32" fmla="*/ 0 w 499"/>
                  <a:gd name="T33" fmla="*/ 0 h 450"/>
                  <a:gd name="T34" fmla="*/ 0 w 499"/>
                  <a:gd name="T35" fmla="*/ 0 h 450"/>
                  <a:gd name="T36" fmla="*/ 0 w 499"/>
                  <a:gd name="T37" fmla="*/ 0 h 450"/>
                  <a:gd name="T38" fmla="*/ 0 w 499"/>
                  <a:gd name="T39" fmla="*/ 0 h 450"/>
                  <a:gd name="T40" fmla="*/ 0 w 499"/>
                  <a:gd name="T41" fmla="*/ 0 h 450"/>
                  <a:gd name="T42" fmla="*/ 0 w 499"/>
                  <a:gd name="T43" fmla="*/ 0 h 450"/>
                  <a:gd name="T44" fmla="*/ 0 w 499"/>
                  <a:gd name="T45" fmla="*/ 0 h 450"/>
                  <a:gd name="T46" fmla="*/ 0 w 499"/>
                  <a:gd name="T47" fmla="*/ 0 h 450"/>
                  <a:gd name="T48" fmla="*/ 0 w 499"/>
                  <a:gd name="T49" fmla="*/ 0 h 450"/>
                  <a:gd name="T50" fmla="*/ 0 w 499"/>
                  <a:gd name="T51" fmla="*/ 0 h 450"/>
                  <a:gd name="T52" fmla="*/ 0 w 499"/>
                  <a:gd name="T53" fmla="*/ 0 h 450"/>
                  <a:gd name="T54" fmla="*/ 0 w 499"/>
                  <a:gd name="T55" fmla="*/ 0 h 450"/>
                  <a:gd name="T56" fmla="*/ 0 w 499"/>
                  <a:gd name="T57" fmla="*/ 0 h 450"/>
                  <a:gd name="T58" fmla="*/ 0 w 499"/>
                  <a:gd name="T59" fmla="*/ 0 h 450"/>
                  <a:gd name="T60" fmla="*/ 0 w 499"/>
                  <a:gd name="T61" fmla="*/ 0 h 450"/>
                  <a:gd name="T62" fmla="*/ 0 w 499"/>
                  <a:gd name="T63" fmla="*/ 0 h 450"/>
                  <a:gd name="T64" fmla="*/ 0 w 499"/>
                  <a:gd name="T65" fmla="*/ 0 h 450"/>
                  <a:gd name="T66" fmla="*/ 0 w 499"/>
                  <a:gd name="T67" fmla="*/ 0 h 450"/>
                  <a:gd name="T68" fmla="*/ 0 w 499"/>
                  <a:gd name="T69" fmla="*/ 0 h 450"/>
                  <a:gd name="T70" fmla="*/ 0 w 499"/>
                  <a:gd name="T71" fmla="*/ 0 h 450"/>
                  <a:gd name="T72" fmla="*/ 0 w 499"/>
                  <a:gd name="T73" fmla="*/ 0 h 450"/>
                  <a:gd name="T74" fmla="*/ 0 w 499"/>
                  <a:gd name="T75" fmla="*/ 0 h 450"/>
                  <a:gd name="T76" fmla="*/ 0 w 499"/>
                  <a:gd name="T77" fmla="*/ 0 h 450"/>
                  <a:gd name="T78" fmla="*/ 0 w 499"/>
                  <a:gd name="T79" fmla="*/ 0 h 450"/>
                  <a:gd name="T80" fmla="*/ 0 w 499"/>
                  <a:gd name="T81" fmla="*/ 0 h 450"/>
                  <a:gd name="T82" fmla="*/ 0 w 499"/>
                  <a:gd name="T83" fmla="*/ 0 h 450"/>
                  <a:gd name="T84" fmla="*/ 0 w 499"/>
                  <a:gd name="T85" fmla="*/ 0 h 450"/>
                  <a:gd name="T86" fmla="*/ 0 w 499"/>
                  <a:gd name="T87" fmla="*/ 0 h 450"/>
                  <a:gd name="T88" fmla="*/ 0 w 499"/>
                  <a:gd name="T89" fmla="*/ 0 h 450"/>
                  <a:gd name="T90" fmla="*/ 0 w 499"/>
                  <a:gd name="T91" fmla="*/ 0 h 45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99"/>
                  <a:gd name="T139" fmla="*/ 0 h 450"/>
                  <a:gd name="T140" fmla="*/ 499 w 499"/>
                  <a:gd name="T141" fmla="*/ 450 h 45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99" h="450">
                    <a:moveTo>
                      <a:pt x="487" y="75"/>
                    </a:moveTo>
                    <a:lnTo>
                      <a:pt x="494" y="37"/>
                    </a:lnTo>
                    <a:lnTo>
                      <a:pt x="496" y="18"/>
                    </a:lnTo>
                    <a:lnTo>
                      <a:pt x="499" y="0"/>
                    </a:lnTo>
                    <a:lnTo>
                      <a:pt x="266" y="0"/>
                    </a:lnTo>
                    <a:lnTo>
                      <a:pt x="262" y="18"/>
                    </a:lnTo>
                    <a:lnTo>
                      <a:pt x="260" y="27"/>
                    </a:lnTo>
                    <a:lnTo>
                      <a:pt x="259" y="37"/>
                    </a:lnTo>
                    <a:lnTo>
                      <a:pt x="249" y="75"/>
                    </a:lnTo>
                    <a:lnTo>
                      <a:pt x="233" y="111"/>
                    </a:lnTo>
                    <a:lnTo>
                      <a:pt x="213" y="147"/>
                    </a:lnTo>
                    <a:lnTo>
                      <a:pt x="189" y="181"/>
                    </a:lnTo>
                    <a:lnTo>
                      <a:pt x="163" y="215"/>
                    </a:lnTo>
                    <a:lnTo>
                      <a:pt x="131" y="247"/>
                    </a:lnTo>
                    <a:lnTo>
                      <a:pt x="97" y="279"/>
                    </a:lnTo>
                    <a:lnTo>
                      <a:pt x="57" y="310"/>
                    </a:lnTo>
                    <a:lnTo>
                      <a:pt x="15" y="340"/>
                    </a:lnTo>
                    <a:lnTo>
                      <a:pt x="12" y="340"/>
                    </a:lnTo>
                    <a:lnTo>
                      <a:pt x="12" y="342"/>
                    </a:lnTo>
                    <a:lnTo>
                      <a:pt x="11" y="342"/>
                    </a:lnTo>
                    <a:lnTo>
                      <a:pt x="12" y="345"/>
                    </a:lnTo>
                    <a:lnTo>
                      <a:pt x="5" y="348"/>
                    </a:lnTo>
                    <a:lnTo>
                      <a:pt x="0" y="353"/>
                    </a:lnTo>
                    <a:lnTo>
                      <a:pt x="177" y="450"/>
                    </a:lnTo>
                    <a:lnTo>
                      <a:pt x="182" y="445"/>
                    </a:lnTo>
                    <a:lnTo>
                      <a:pt x="185" y="448"/>
                    </a:lnTo>
                    <a:lnTo>
                      <a:pt x="194" y="443"/>
                    </a:lnTo>
                    <a:lnTo>
                      <a:pt x="223" y="421"/>
                    </a:lnTo>
                    <a:lnTo>
                      <a:pt x="251" y="401"/>
                    </a:lnTo>
                    <a:lnTo>
                      <a:pt x="277" y="379"/>
                    </a:lnTo>
                    <a:lnTo>
                      <a:pt x="289" y="368"/>
                    </a:lnTo>
                    <a:lnTo>
                      <a:pt x="302" y="358"/>
                    </a:lnTo>
                    <a:lnTo>
                      <a:pt x="325" y="336"/>
                    </a:lnTo>
                    <a:lnTo>
                      <a:pt x="347" y="314"/>
                    </a:lnTo>
                    <a:lnTo>
                      <a:pt x="367" y="291"/>
                    </a:lnTo>
                    <a:lnTo>
                      <a:pt x="387" y="268"/>
                    </a:lnTo>
                    <a:lnTo>
                      <a:pt x="404" y="244"/>
                    </a:lnTo>
                    <a:lnTo>
                      <a:pt x="420" y="221"/>
                    </a:lnTo>
                    <a:lnTo>
                      <a:pt x="434" y="197"/>
                    </a:lnTo>
                    <a:lnTo>
                      <a:pt x="448" y="174"/>
                    </a:lnTo>
                    <a:lnTo>
                      <a:pt x="450" y="167"/>
                    </a:lnTo>
                    <a:lnTo>
                      <a:pt x="453" y="161"/>
                    </a:lnTo>
                    <a:lnTo>
                      <a:pt x="459" y="149"/>
                    </a:lnTo>
                    <a:lnTo>
                      <a:pt x="470" y="125"/>
                    </a:lnTo>
                    <a:lnTo>
                      <a:pt x="479" y="99"/>
                    </a:lnTo>
                    <a:lnTo>
                      <a:pt x="487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7" name="Freeform 1102"/>
              <p:cNvSpPr>
                <a:spLocks/>
              </p:cNvSpPr>
              <p:nvPr/>
            </p:nvSpPr>
            <p:spPr bwMode="auto">
              <a:xfrm>
                <a:off x="1809" y="1304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5"/>
                    </a:moveTo>
                    <a:lnTo>
                      <a:pt x="1" y="5"/>
                    </a:lnTo>
                    <a:lnTo>
                      <a:pt x="3" y="3"/>
                    </a:lnTo>
                    <a:lnTo>
                      <a:pt x="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8" name="Freeform 1103"/>
              <p:cNvSpPr>
                <a:spLocks/>
              </p:cNvSpPr>
              <p:nvPr/>
            </p:nvSpPr>
            <p:spPr bwMode="auto">
              <a:xfrm>
                <a:off x="1608" y="1305"/>
                <a:ext cx="248" cy="93"/>
              </a:xfrm>
              <a:custGeom>
                <a:avLst/>
                <a:gdLst>
                  <a:gd name="T0" fmla="*/ 0 w 994"/>
                  <a:gd name="T1" fmla="*/ 0 h 370"/>
                  <a:gd name="T2" fmla="*/ 0 w 994"/>
                  <a:gd name="T3" fmla="*/ 0 h 370"/>
                  <a:gd name="T4" fmla="*/ 0 w 994"/>
                  <a:gd name="T5" fmla="*/ 0 h 370"/>
                  <a:gd name="T6" fmla="*/ 0 w 994"/>
                  <a:gd name="T7" fmla="*/ 0 h 370"/>
                  <a:gd name="T8" fmla="*/ 0 w 994"/>
                  <a:gd name="T9" fmla="*/ 0 h 370"/>
                  <a:gd name="T10" fmla="*/ 0 w 994"/>
                  <a:gd name="T11" fmla="*/ 0 h 370"/>
                  <a:gd name="T12" fmla="*/ 0 w 994"/>
                  <a:gd name="T13" fmla="*/ 0 h 370"/>
                  <a:gd name="T14" fmla="*/ 0 w 994"/>
                  <a:gd name="T15" fmla="*/ 0 h 370"/>
                  <a:gd name="T16" fmla="*/ 0 w 994"/>
                  <a:gd name="T17" fmla="*/ 0 h 370"/>
                  <a:gd name="T18" fmla="*/ 0 w 994"/>
                  <a:gd name="T19" fmla="*/ 0 h 370"/>
                  <a:gd name="T20" fmla="*/ 0 w 994"/>
                  <a:gd name="T21" fmla="*/ 0 h 370"/>
                  <a:gd name="T22" fmla="*/ 0 w 994"/>
                  <a:gd name="T23" fmla="*/ 0 h 370"/>
                  <a:gd name="T24" fmla="*/ 0 w 994"/>
                  <a:gd name="T25" fmla="*/ 0 h 370"/>
                  <a:gd name="T26" fmla="*/ 0 w 994"/>
                  <a:gd name="T27" fmla="*/ 0 h 370"/>
                  <a:gd name="T28" fmla="*/ 0 w 994"/>
                  <a:gd name="T29" fmla="*/ 0 h 370"/>
                  <a:gd name="T30" fmla="*/ 0 w 994"/>
                  <a:gd name="T31" fmla="*/ 0 h 370"/>
                  <a:gd name="T32" fmla="*/ 0 w 994"/>
                  <a:gd name="T33" fmla="*/ 0 h 370"/>
                  <a:gd name="T34" fmla="*/ 0 w 994"/>
                  <a:gd name="T35" fmla="*/ 0 h 370"/>
                  <a:gd name="T36" fmla="*/ 0 w 994"/>
                  <a:gd name="T37" fmla="*/ 0 h 370"/>
                  <a:gd name="T38" fmla="*/ 0 w 994"/>
                  <a:gd name="T39" fmla="*/ 0 h 370"/>
                  <a:gd name="T40" fmla="*/ 0 w 994"/>
                  <a:gd name="T41" fmla="*/ 0 h 370"/>
                  <a:gd name="T42" fmla="*/ 0 w 994"/>
                  <a:gd name="T43" fmla="*/ 0 h 370"/>
                  <a:gd name="T44" fmla="*/ 0 w 994"/>
                  <a:gd name="T45" fmla="*/ 0 h 370"/>
                  <a:gd name="T46" fmla="*/ 0 w 994"/>
                  <a:gd name="T47" fmla="*/ 0 h 370"/>
                  <a:gd name="T48" fmla="*/ 0 w 994"/>
                  <a:gd name="T49" fmla="*/ 0 h 370"/>
                  <a:gd name="T50" fmla="*/ 0 w 994"/>
                  <a:gd name="T51" fmla="*/ 0 h 370"/>
                  <a:gd name="T52" fmla="*/ 0 w 994"/>
                  <a:gd name="T53" fmla="*/ 0 h 370"/>
                  <a:gd name="T54" fmla="*/ 0 w 994"/>
                  <a:gd name="T55" fmla="*/ 0 h 370"/>
                  <a:gd name="T56" fmla="*/ 0 w 994"/>
                  <a:gd name="T57" fmla="*/ 0 h 370"/>
                  <a:gd name="T58" fmla="*/ 0 w 994"/>
                  <a:gd name="T59" fmla="*/ 0 h 370"/>
                  <a:gd name="T60" fmla="*/ 0 w 994"/>
                  <a:gd name="T61" fmla="*/ 0 h 370"/>
                  <a:gd name="T62" fmla="*/ 0 w 994"/>
                  <a:gd name="T63" fmla="*/ 0 h 370"/>
                  <a:gd name="T64" fmla="*/ 0 w 994"/>
                  <a:gd name="T65" fmla="*/ 0 h 370"/>
                  <a:gd name="T66" fmla="*/ 0 w 994"/>
                  <a:gd name="T67" fmla="*/ 0 h 370"/>
                  <a:gd name="T68" fmla="*/ 0 w 994"/>
                  <a:gd name="T69" fmla="*/ 0 h 370"/>
                  <a:gd name="T70" fmla="*/ 0 w 994"/>
                  <a:gd name="T71" fmla="*/ 0 h 370"/>
                  <a:gd name="T72" fmla="*/ 0 w 994"/>
                  <a:gd name="T73" fmla="*/ 0 h 370"/>
                  <a:gd name="T74" fmla="*/ 0 w 994"/>
                  <a:gd name="T75" fmla="*/ 0 h 370"/>
                  <a:gd name="T76" fmla="*/ 0 w 994"/>
                  <a:gd name="T77" fmla="*/ 0 h 370"/>
                  <a:gd name="T78" fmla="*/ 0 w 994"/>
                  <a:gd name="T79" fmla="*/ 0 h 370"/>
                  <a:gd name="T80" fmla="*/ 0 w 994"/>
                  <a:gd name="T81" fmla="*/ 0 h 370"/>
                  <a:gd name="T82" fmla="*/ 0 w 994"/>
                  <a:gd name="T83" fmla="*/ 0 h 370"/>
                  <a:gd name="T84" fmla="*/ 0 w 994"/>
                  <a:gd name="T85" fmla="*/ 0 h 370"/>
                  <a:gd name="T86" fmla="*/ 0 w 994"/>
                  <a:gd name="T87" fmla="*/ 0 h 370"/>
                  <a:gd name="T88" fmla="*/ 0 w 994"/>
                  <a:gd name="T89" fmla="*/ 0 h 370"/>
                  <a:gd name="T90" fmla="*/ 0 w 994"/>
                  <a:gd name="T91" fmla="*/ 0 h 370"/>
                  <a:gd name="T92" fmla="*/ 0 w 994"/>
                  <a:gd name="T93" fmla="*/ 0 h 370"/>
                  <a:gd name="T94" fmla="*/ 0 w 994"/>
                  <a:gd name="T95" fmla="*/ 0 h 370"/>
                  <a:gd name="T96" fmla="*/ 0 w 994"/>
                  <a:gd name="T97" fmla="*/ 0 h 370"/>
                  <a:gd name="T98" fmla="*/ 0 w 994"/>
                  <a:gd name="T99" fmla="*/ 0 h 370"/>
                  <a:gd name="T100" fmla="*/ 0 w 994"/>
                  <a:gd name="T101" fmla="*/ 0 h 370"/>
                  <a:gd name="T102" fmla="*/ 0 w 994"/>
                  <a:gd name="T103" fmla="*/ 0 h 37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994"/>
                  <a:gd name="T157" fmla="*/ 0 h 370"/>
                  <a:gd name="T158" fmla="*/ 994 w 994"/>
                  <a:gd name="T159" fmla="*/ 370 h 37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994" h="370">
                    <a:moveTo>
                      <a:pt x="807" y="0"/>
                    </a:moveTo>
                    <a:lnTo>
                      <a:pt x="806" y="0"/>
                    </a:lnTo>
                    <a:lnTo>
                      <a:pt x="785" y="13"/>
                    </a:lnTo>
                    <a:lnTo>
                      <a:pt x="743" y="36"/>
                    </a:lnTo>
                    <a:lnTo>
                      <a:pt x="701" y="58"/>
                    </a:lnTo>
                    <a:lnTo>
                      <a:pt x="657" y="78"/>
                    </a:lnTo>
                    <a:lnTo>
                      <a:pt x="613" y="97"/>
                    </a:lnTo>
                    <a:lnTo>
                      <a:pt x="567" y="114"/>
                    </a:lnTo>
                    <a:lnTo>
                      <a:pt x="520" y="130"/>
                    </a:lnTo>
                    <a:lnTo>
                      <a:pt x="472" y="144"/>
                    </a:lnTo>
                    <a:lnTo>
                      <a:pt x="424" y="158"/>
                    </a:lnTo>
                    <a:lnTo>
                      <a:pt x="374" y="169"/>
                    </a:lnTo>
                    <a:lnTo>
                      <a:pt x="324" y="179"/>
                    </a:lnTo>
                    <a:lnTo>
                      <a:pt x="272" y="188"/>
                    </a:lnTo>
                    <a:lnTo>
                      <a:pt x="220" y="196"/>
                    </a:lnTo>
                    <a:lnTo>
                      <a:pt x="166" y="201"/>
                    </a:lnTo>
                    <a:lnTo>
                      <a:pt x="112" y="206"/>
                    </a:lnTo>
                    <a:lnTo>
                      <a:pt x="56" y="209"/>
                    </a:lnTo>
                    <a:lnTo>
                      <a:pt x="0" y="211"/>
                    </a:lnTo>
                    <a:lnTo>
                      <a:pt x="0" y="370"/>
                    </a:lnTo>
                    <a:lnTo>
                      <a:pt x="35" y="368"/>
                    </a:lnTo>
                    <a:lnTo>
                      <a:pt x="71" y="367"/>
                    </a:lnTo>
                    <a:lnTo>
                      <a:pt x="141" y="364"/>
                    </a:lnTo>
                    <a:lnTo>
                      <a:pt x="175" y="361"/>
                    </a:lnTo>
                    <a:lnTo>
                      <a:pt x="210" y="359"/>
                    </a:lnTo>
                    <a:lnTo>
                      <a:pt x="278" y="352"/>
                    </a:lnTo>
                    <a:lnTo>
                      <a:pt x="344" y="341"/>
                    </a:lnTo>
                    <a:lnTo>
                      <a:pt x="376" y="335"/>
                    </a:lnTo>
                    <a:lnTo>
                      <a:pt x="392" y="332"/>
                    </a:lnTo>
                    <a:lnTo>
                      <a:pt x="409" y="330"/>
                    </a:lnTo>
                    <a:lnTo>
                      <a:pt x="473" y="317"/>
                    </a:lnTo>
                    <a:lnTo>
                      <a:pt x="504" y="309"/>
                    </a:lnTo>
                    <a:lnTo>
                      <a:pt x="536" y="302"/>
                    </a:lnTo>
                    <a:lnTo>
                      <a:pt x="567" y="292"/>
                    </a:lnTo>
                    <a:lnTo>
                      <a:pt x="574" y="289"/>
                    </a:lnTo>
                    <a:lnTo>
                      <a:pt x="582" y="287"/>
                    </a:lnTo>
                    <a:lnTo>
                      <a:pt x="598" y="283"/>
                    </a:lnTo>
                    <a:lnTo>
                      <a:pt x="658" y="264"/>
                    </a:lnTo>
                    <a:lnTo>
                      <a:pt x="672" y="258"/>
                    </a:lnTo>
                    <a:lnTo>
                      <a:pt x="679" y="255"/>
                    </a:lnTo>
                    <a:lnTo>
                      <a:pt x="687" y="253"/>
                    </a:lnTo>
                    <a:lnTo>
                      <a:pt x="717" y="243"/>
                    </a:lnTo>
                    <a:lnTo>
                      <a:pt x="775" y="220"/>
                    </a:lnTo>
                    <a:lnTo>
                      <a:pt x="831" y="195"/>
                    </a:lnTo>
                    <a:lnTo>
                      <a:pt x="858" y="181"/>
                    </a:lnTo>
                    <a:lnTo>
                      <a:pt x="886" y="168"/>
                    </a:lnTo>
                    <a:lnTo>
                      <a:pt x="940" y="139"/>
                    </a:lnTo>
                    <a:lnTo>
                      <a:pt x="966" y="123"/>
                    </a:lnTo>
                    <a:lnTo>
                      <a:pt x="979" y="115"/>
                    </a:lnTo>
                    <a:lnTo>
                      <a:pt x="993" y="108"/>
                    </a:lnTo>
                    <a:lnTo>
                      <a:pt x="994" y="108"/>
                    </a:lnTo>
                    <a:lnTo>
                      <a:pt x="8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69" name="Freeform 1104"/>
              <p:cNvSpPr>
                <a:spLocks/>
              </p:cNvSpPr>
              <p:nvPr/>
            </p:nvSpPr>
            <p:spPr bwMode="auto">
              <a:xfrm>
                <a:off x="1608" y="1281"/>
                <a:ext cx="201" cy="77"/>
              </a:xfrm>
              <a:custGeom>
                <a:avLst/>
                <a:gdLst>
                  <a:gd name="T0" fmla="*/ 0 w 806"/>
                  <a:gd name="T1" fmla="*/ 0 h 308"/>
                  <a:gd name="T2" fmla="*/ 0 w 806"/>
                  <a:gd name="T3" fmla="*/ 0 h 308"/>
                  <a:gd name="T4" fmla="*/ 0 w 806"/>
                  <a:gd name="T5" fmla="*/ 0 h 308"/>
                  <a:gd name="T6" fmla="*/ 0 w 806"/>
                  <a:gd name="T7" fmla="*/ 0 h 308"/>
                  <a:gd name="T8" fmla="*/ 0 w 806"/>
                  <a:gd name="T9" fmla="*/ 0 h 308"/>
                  <a:gd name="T10" fmla="*/ 0 w 806"/>
                  <a:gd name="T11" fmla="*/ 0 h 308"/>
                  <a:gd name="T12" fmla="*/ 0 w 806"/>
                  <a:gd name="T13" fmla="*/ 0 h 308"/>
                  <a:gd name="T14" fmla="*/ 0 w 806"/>
                  <a:gd name="T15" fmla="*/ 0 h 308"/>
                  <a:gd name="T16" fmla="*/ 0 w 806"/>
                  <a:gd name="T17" fmla="*/ 0 h 308"/>
                  <a:gd name="T18" fmla="*/ 0 w 806"/>
                  <a:gd name="T19" fmla="*/ 0 h 308"/>
                  <a:gd name="T20" fmla="*/ 0 w 806"/>
                  <a:gd name="T21" fmla="*/ 0 h 308"/>
                  <a:gd name="T22" fmla="*/ 0 w 806"/>
                  <a:gd name="T23" fmla="*/ 0 h 308"/>
                  <a:gd name="T24" fmla="*/ 0 w 806"/>
                  <a:gd name="T25" fmla="*/ 0 h 308"/>
                  <a:gd name="T26" fmla="*/ 0 w 806"/>
                  <a:gd name="T27" fmla="*/ 0 h 308"/>
                  <a:gd name="T28" fmla="*/ 0 w 806"/>
                  <a:gd name="T29" fmla="*/ 0 h 308"/>
                  <a:gd name="T30" fmla="*/ 0 w 806"/>
                  <a:gd name="T31" fmla="*/ 0 h 308"/>
                  <a:gd name="T32" fmla="*/ 0 w 806"/>
                  <a:gd name="T33" fmla="*/ 0 h 308"/>
                  <a:gd name="T34" fmla="*/ 0 w 806"/>
                  <a:gd name="T35" fmla="*/ 0 h 308"/>
                  <a:gd name="T36" fmla="*/ 0 w 806"/>
                  <a:gd name="T37" fmla="*/ 0 h 308"/>
                  <a:gd name="T38" fmla="*/ 0 w 806"/>
                  <a:gd name="T39" fmla="*/ 0 h 308"/>
                  <a:gd name="T40" fmla="*/ 0 w 806"/>
                  <a:gd name="T41" fmla="*/ 0 h 308"/>
                  <a:gd name="T42" fmla="*/ 0 w 806"/>
                  <a:gd name="T43" fmla="*/ 0 h 308"/>
                  <a:gd name="T44" fmla="*/ 0 w 806"/>
                  <a:gd name="T45" fmla="*/ 0 h 308"/>
                  <a:gd name="T46" fmla="*/ 0 w 806"/>
                  <a:gd name="T47" fmla="*/ 0 h 308"/>
                  <a:gd name="T48" fmla="*/ 0 w 806"/>
                  <a:gd name="T49" fmla="*/ 0 h 308"/>
                  <a:gd name="T50" fmla="*/ 0 w 806"/>
                  <a:gd name="T51" fmla="*/ 0 h 308"/>
                  <a:gd name="T52" fmla="*/ 0 w 806"/>
                  <a:gd name="T53" fmla="*/ 0 h 308"/>
                  <a:gd name="T54" fmla="*/ 0 w 806"/>
                  <a:gd name="T55" fmla="*/ 0 h 308"/>
                  <a:gd name="T56" fmla="*/ 0 w 806"/>
                  <a:gd name="T57" fmla="*/ 0 h 308"/>
                  <a:gd name="T58" fmla="*/ 0 w 806"/>
                  <a:gd name="T59" fmla="*/ 0 h 308"/>
                  <a:gd name="T60" fmla="*/ 0 w 806"/>
                  <a:gd name="T61" fmla="*/ 0 h 308"/>
                  <a:gd name="T62" fmla="*/ 0 w 806"/>
                  <a:gd name="T63" fmla="*/ 0 h 308"/>
                  <a:gd name="T64" fmla="*/ 0 w 806"/>
                  <a:gd name="T65" fmla="*/ 0 h 308"/>
                  <a:gd name="T66" fmla="*/ 0 w 806"/>
                  <a:gd name="T67" fmla="*/ 0 h 308"/>
                  <a:gd name="T68" fmla="*/ 0 w 806"/>
                  <a:gd name="T69" fmla="*/ 0 h 308"/>
                  <a:gd name="T70" fmla="*/ 0 w 806"/>
                  <a:gd name="T71" fmla="*/ 0 h 308"/>
                  <a:gd name="T72" fmla="*/ 0 w 806"/>
                  <a:gd name="T73" fmla="*/ 0 h 308"/>
                  <a:gd name="T74" fmla="*/ 0 w 806"/>
                  <a:gd name="T75" fmla="*/ 0 h 308"/>
                  <a:gd name="T76" fmla="*/ 0 w 806"/>
                  <a:gd name="T77" fmla="*/ 0 h 30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6"/>
                  <a:gd name="T118" fmla="*/ 0 h 308"/>
                  <a:gd name="T119" fmla="*/ 806 w 806"/>
                  <a:gd name="T120" fmla="*/ 308 h 30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6" h="308">
                    <a:moveTo>
                      <a:pt x="785" y="110"/>
                    </a:moveTo>
                    <a:lnTo>
                      <a:pt x="806" y="97"/>
                    </a:lnTo>
                    <a:lnTo>
                      <a:pt x="629" y="0"/>
                    </a:lnTo>
                    <a:lnTo>
                      <a:pt x="595" y="18"/>
                    </a:lnTo>
                    <a:lnTo>
                      <a:pt x="561" y="35"/>
                    </a:lnTo>
                    <a:lnTo>
                      <a:pt x="525" y="51"/>
                    </a:lnTo>
                    <a:lnTo>
                      <a:pt x="490" y="67"/>
                    </a:lnTo>
                    <a:lnTo>
                      <a:pt x="471" y="73"/>
                    </a:lnTo>
                    <a:lnTo>
                      <a:pt x="453" y="80"/>
                    </a:lnTo>
                    <a:lnTo>
                      <a:pt x="434" y="86"/>
                    </a:lnTo>
                    <a:lnTo>
                      <a:pt x="416" y="93"/>
                    </a:lnTo>
                    <a:lnTo>
                      <a:pt x="378" y="105"/>
                    </a:lnTo>
                    <a:lnTo>
                      <a:pt x="340" y="116"/>
                    </a:lnTo>
                    <a:lnTo>
                      <a:pt x="319" y="120"/>
                    </a:lnTo>
                    <a:lnTo>
                      <a:pt x="299" y="125"/>
                    </a:lnTo>
                    <a:lnTo>
                      <a:pt x="259" y="133"/>
                    </a:lnTo>
                    <a:lnTo>
                      <a:pt x="217" y="140"/>
                    </a:lnTo>
                    <a:lnTo>
                      <a:pt x="176" y="146"/>
                    </a:lnTo>
                    <a:lnTo>
                      <a:pt x="132" y="150"/>
                    </a:lnTo>
                    <a:lnTo>
                      <a:pt x="89" y="154"/>
                    </a:lnTo>
                    <a:lnTo>
                      <a:pt x="44" y="156"/>
                    </a:lnTo>
                    <a:lnTo>
                      <a:pt x="0" y="158"/>
                    </a:lnTo>
                    <a:lnTo>
                      <a:pt x="0" y="308"/>
                    </a:lnTo>
                    <a:lnTo>
                      <a:pt x="56" y="306"/>
                    </a:lnTo>
                    <a:lnTo>
                      <a:pt x="112" y="303"/>
                    </a:lnTo>
                    <a:lnTo>
                      <a:pt x="166" y="298"/>
                    </a:lnTo>
                    <a:lnTo>
                      <a:pt x="220" y="293"/>
                    </a:lnTo>
                    <a:lnTo>
                      <a:pt x="272" y="285"/>
                    </a:lnTo>
                    <a:lnTo>
                      <a:pt x="324" y="276"/>
                    </a:lnTo>
                    <a:lnTo>
                      <a:pt x="374" y="266"/>
                    </a:lnTo>
                    <a:lnTo>
                      <a:pt x="424" y="255"/>
                    </a:lnTo>
                    <a:lnTo>
                      <a:pt x="472" y="241"/>
                    </a:lnTo>
                    <a:lnTo>
                      <a:pt x="520" y="227"/>
                    </a:lnTo>
                    <a:lnTo>
                      <a:pt x="567" y="211"/>
                    </a:lnTo>
                    <a:lnTo>
                      <a:pt x="613" y="194"/>
                    </a:lnTo>
                    <a:lnTo>
                      <a:pt x="657" y="175"/>
                    </a:lnTo>
                    <a:lnTo>
                      <a:pt x="701" y="155"/>
                    </a:lnTo>
                    <a:lnTo>
                      <a:pt x="743" y="133"/>
                    </a:lnTo>
                    <a:lnTo>
                      <a:pt x="785" y="1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0" name="Freeform 1105"/>
              <p:cNvSpPr>
                <a:spLocks/>
              </p:cNvSpPr>
              <p:nvPr/>
            </p:nvSpPr>
            <p:spPr bwMode="auto">
              <a:xfrm>
                <a:off x="1608" y="1332"/>
                <a:ext cx="290" cy="103"/>
              </a:xfrm>
              <a:custGeom>
                <a:avLst/>
                <a:gdLst>
                  <a:gd name="T0" fmla="*/ 0 w 1159"/>
                  <a:gd name="T1" fmla="*/ 0 h 412"/>
                  <a:gd name="T2" fmla="*/ 0 w 1159"/>
                  <a:gd name="T3" fmla="*/ 0 h 412"/>
                  <a:gd name="T4" fmla="*/ 0 w 1159"/>
                  <a:gd name="T5" fmla="*/ 0 h 412"/>
                  <a:gd name="T6" fmla="*/ 0 w 1159"/>
                  <a:gd name="T7" fmla="*/ 0 h 412"/>
                  <a:gd name="T8" fmla="*/ 0 w 1159"/>
                  <a:gd name="T9" fmla="*/ 0 h 412"/>
                  <a:gd name="T10" fmla="*/ 0 w 1159"/>
                  <a:gd name="T11" fmla="*/ 0 h 412"/>
                  <a:gd name="T12" fmla="*/ 0 w 1159"/>
                  <a:gd name="T13" fmla="*/ 0 h 412"/>
                  <a:gd name="T14" fmla="*/ 0 w 1159"/>
                  <a:gd name="T15" fmla="*/ 0 h 412"/>
                  <a:gd name="T16" fmla="*/ 0 w 1159"/>
                  <a:gd name="T17" fmla="*/ 0 h 412"/>
                  <a:gd name="T18" fmla="*/ 0 w 1159"/>
                  <a:gd name="T19" fmla="*/ 0 h 412"/>
                  <a:gd name="T20" fmla="*/ 0 w 1159"/>
                  <a:gd name="T21" fmla="*/ 0 h 412"/>
                  <a:gd name="T22" fmla="*/ 0 w 1159"/>
                  <a:gd name="T23" fmla="*/ 0 h 412"/>
                  <a:gd name="T24" fmla="*/ 0 w 1159"/>
                  <a:gd name="T25" fmla="*/ 0 h 412"/>
                  <a:gd name="T26" fmla="*/ 0 w 1159"/>
                  <a:gd name="T27" fmla="*/ 0 h 412"/>
                  <a:gd name="T28" fmla="*/ 0 w 1159"/>
                  <a:gd name="T29" fmla="*/ 0 h 412"/>
                  <a:gd name="T30" fmla="*/ 0 w 1159"/>
                  <a:gd name="T31" fmla="*/ 0 h 412"/>
                  <a:gd name="T32" fmla="*/ 0 w 1159"/>
                  <a:gd name="T33" fmla="*/ 0 h 412"/>
                  <a:gd name="T34" fmla="*/ 0 w 1159"/>
                  <a:gd name="T35" fmla="*/ 0 h 412"/>
                  <a:gd name="T36" fmla="*/ 0 w 1159"/>
                  <a:gd name="T37" fmla="*/ 0 h 412"/>
                  <a:gd name="T38" fmla="*/ 0 w 1159"/>
                  <a:gd name="T39" fmla="*/ 0 h 412"/>
                  <a:gd name="T40" fmla="*/ 0 w 1159"/>
                  <a:gd name="T41" fmla="*/ 0 h 412"/>
                  <a:gd name="T42" fmla="*/ 0 w 1159"/>
                  <a:gd name="T43" fmla="*/ 0 h 412"/>
                  <a:gd name="T44" fmla="*/ 0 w 1159"/>
                  <a:gd name="T45" fmla="*/ 0 h 412"/>
                  <a:gd name="T46" fmla="*/ 0 w 1159"/>
                  <a:gd name="T47" fmla="*/ 0 h 412"/>
                  <a:gd name="T48" fmla="*/ 0 w 1159"/>
                  <a:gd name="T49" fmla="*/ 0 h 412"/>
                  <a:gd name="T50" fmla="*/ 0 w 1159"/>
                  <a:gd name="T51" fmla="*/ 0 h 412"/>
                  <a:gd name="T52" fmla="*/ 0 w 1159"/>
                  <a:gd name="T53" fmla="*/ 0 h 412"/>
                  <a:gd name="T54" fmla="*/ 0 w 1159"/>
                  <a:gd name="T55" fmla="*/ 0 h 412"/>
                  <a:gd name="T56" fmla="*/ 0 w 1159"/>
                  <a:gd name="T57" fmla="*/ 0 h 412"/>
                  <a:gd name="T58" fmla="*/ 0 w 1159"/>
                  <a:gd name="T59" fmla="*/ 0 h 412"/>
                  <a:gd name="T60" fmla="*/ 0 w 1159"/>
                  <a:gd name="T61" fmla="*/ 0 h 412"/>
                  <a:gd name="T62" fmla="*/ 0 w 1159"/>
                  <a:gd name="T63" fmla="*/ 0 h 4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412"/>
                  <a:gd name="T98" fmla="*/ 1159 w 1159"/>
                  <a:gd name="T99" fmla="*/ 412 h 4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41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  <a:lnTo>
                      <a:pt x="0" y="412"/>
                    </a:lnTo>
                    <a:lnTo>
                      <a:pt x="39" y="410"/>
                    </a:lnTo>
                    <a:lnTo>
                      <a:pt x="79" y="409"/>
                    </a:lnTo>
                    <a:lnTo>
                      <a:pt x="157" y="405"/>
                    </a:lnTo>
                    <a:lnTo>
                      <a:pt x="233" y="398"/>
                    </a:lnTo>
                    <a:lnTo>
                      <a:pt x="270" y="394"/>
                    </a:lnTo>
                    <a:lnTo>
                      <a:pt x="308" y="391"/>
                    </a:lnTo>
                    <a:lnTo>
                      <a:pt x="344" y="385"/>
                    </a:lnTo>
                    <a:lnTo>
                      <a:pt x="362" y="382"/>
                    </a:lnTo>
                    <a:lnTo>
                      <a:pt x="381" y="380"/>
                    </a:lnTo>
                    <a:lnTo>
                      <a:pt x="417" y="374"/>
                    </a:lnTo>
                    <a:lnTo>
                      <a:pt x="454" y="368"/>
                    </a:lnTo>
                    <a:lnTo>
                      <a:pt x="489" y="360"/>
                    </a:lnTo>
                    <a:lnTo>
                      <a:pt x="525" y="353"/>
                    </a:lnTo>
                    <a:lnTo>
                      <a:pt x="596" y="337"/>
                    </a:lnTo>
                    <a:lnTo>
                      <a:pt x="629" y="327"/>
                    </a:lnTo>
                    <a:lnTo>
                      <a:pt x="663" y="317"/>
                    </a:lnTo>
                    <a:lnTo>
                      <a:pt x="679" y="311"/>
                    </a:lnTo>
                    <a:lnTo>
                      <a:pt x="687" y="308"/>
                    </a:lnTo>
                    <a:lnTo>
                      <a:pt x="696" y="306"/>
                    </a:lnTo>
                    <a:lnTo>
                      <a:pt x="730" y="296"/>
                    </a:lnTo>
                    <a:lnTo>
                      <a:pt x="762" y="284"/>
                    </a:lnTo>
                    <a:lnTo>
                      <a:pt x="795" y="272"/>
                    </a:lnTo>
                    <a:lnTo>
                      <a:pt x="859" y="247"/>
                    </a:lnTo>
                    <a:lnTo>
                      <a:pt x="921" y="218"/>
                    </a:lnTo>
                    <a:lnTo>
                      <a:pt x="951" y="203"/>
                    </a:lnTo>
                    <a:lnTo>
                      <a:pt x="982" y="189"/>
                    </a:lnTo>
                    <a:lnTo>
                      <a:pt x="1042" y="156"/>
                    </a:lnTo>
                    <a:lnTo>
                      <a:pt x="1056" y="147"/>
                    </a:lnTo>
                    <a:lnTo>
                      <a:pt x="1071" y="139"/>
                    </a:lnTo>
                    <a:lnTo>
                      <a:pt x="1101" y="123"/>
                    </a:lnTo>
                    <a:lnTo>
                      <a:pt x="1159" y="93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1" name="Freeform 1106"/>
              <p:cNvSpPr>
                <a:spLocks/>
              </p:cNvSpPr>
              <p:nvPr/>
            </p:nvSpPr>
            <p:spPr bwMode="auto">
              <a:xfrm>
                <a:off x="1856" y="1332"/>
                <a:ext cx="0" cy="0"/>
              </a:xfrm>
              <a:custGeom>
                <a:avLst/>
                <a:gdLst>
                  <a:gd name="T0" fmla="*/ 0 h 2"/>
                  <a:gd name="T1" fmla="*/ 0 h 2"/>
                  <a:gd name="T2" fmla="*/ 0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60467" name="Freeform 1107"/>
              <p:cNvSpPr>
                <a:spLocks/>
              </p:cNvSpPr>
              <p:nvPr/>
            </p:nvSpPr>
            <p:spPr bwMode="auto">
              <a:xfrm>
                <a:off x="1608" y="1355"/>
                <a:ext cx="336" cy="121"/>
              </a:xfrm>
              <a:custGeom>
                <a:avLst/>
                <a:gdLst>
                  <a:gd name="T0" fmla="*/ 1101 w 1346"/>
                  <a:gd name="T1" fmla="*/ 30 h 480"/>
                  <a:gd name="T2" fmla="*/ 1056 w 1346"/>
                  <a:gd name="T3" fmla="*/ 54 h 480"/>
                  <a:gd name="T4" fmla="*/ 982 w 1346"/>
                  <a:gd name="T5" fmla="*/ 96 h 480"/>
                  <a:gd name="T6" fmla="*/ 921 w 1346"/>
                  <a:gd name="T7" fmla="*/ 125 h 480"/>
                  <a:gd name="T8" fmla="*/ 795 w 1346"/>
                  <a:gd name="T9" fmla="*/ 179 h 480"/>
                  <a:gd name="T10" fmla="*/ 730 w 1346"/>
                  <a:gd name="T11" fmla="*/ 203 h 480"/>
                  <a:gd name="T12" fmla="*/ 687 w 1346"/>
                  <a:gd name="T13" fmla="*/ 215 h 480"/>
                  <a:gd name="T14" fmla="*/ 663 w 1346"/>
                  <a:gd name="T15" fmla="*/ 224 h 480"/>
                  <a:gd name="T16" fmla="*/ 596 w 1346"/>
                  <a:gd name="T17" fmla="*/ 244 h 480"/>
                  <a:gd name="T18" fmla="*/ 489 w 1346"/>
                  <a:gd name="T19" fmla="*/ 267 h 480"/>
                  <a:gd name="T20" fmla="*/ 417 w 1346"/>
                  <a:gd name="T21" fmla="*/ 281 h 480"/>
                  <a:gd name="T22" fmla="*/ 362 w 1346"/>
                  <a:gd name="T23" fmla="*/ 289 h 480"/>
                  <a:gd name="T24" fmla="*/ 308 w 1346"/>
                  <a:gd name="T25" fmla="*/ 298 h 480"/>
                  <a:gd name="T26" fmla="*/ 233 w 1346"/>
                  <a:gd name="T27" fmla="*/ 305 h 480"/>
                  <a:gd name="T28" fmla="*/ 79 w 1346"/>
                  <a:gd name="T29" fmla="*/ 316 h 480"/>
                  <a:gd name="T30" fmla="*/ 0 w 1346"/>
                  <a:gd name="T31" fmla="*/ 319 h 480"/>
                  <a:gd name="T32" fmla="*/ 46 w 1346"/>
                  <a:gd name="T33" fmla="*/ 478 h 480"/>
                  <a:gd name="T34" fmla="*/ 69 w 1346"/>
                  <a:gd name="T35" fmla="*/ 477 h 480"/>
                  <a:gd name="T36" fmla="*/ 115 w 1346"/>
                  <a:gd name="T37" fmla="*/ 475 h 480"/>
                  <a:gd name="T38" fmla="*/ 138 w 1346"/>
                  <a:gd name="T39" fmla="*/ 474 h 480"/>
                  <a:gd name="T40" fmla="*/ 274 w 1346"/>
                  <a:gd name="T41" fmla="*/ 464 h 480"/>
                  <a:gd name="T42" fmla="*/ 363 w 1346"/>
                  <a:gd name="T43" fmla="*/ 455 h 480"/>
                  <a:gd name="T44" fmla="*/ 491 w 1346"/>
                  <a:gd name="T45" fmla="*/ 435 h 480"/>
                  <a:gd name="T46" fmla="*/ 534 w 1346"/>
                  <a:gd name="T47" fmla="*/ 428 h 480"/>
                  <a:gd name="T48" fmla="*/ 576 w 1346"/>
                  <a:gd name="T49" fmla="*/ 419 h 480"/>
                  <a:gd name="T50" fmla="*/ 700 w 1346"/>
                  <a:gd name="T51" fmla="*/ 391 h 480"/>
                  <a:gd name="T52" fmla="*/ 779 w 1346"/>
                  <a:gd name="T53" fmla="*/ 368 h 480"/>
                  <a:gd name="T54" fmla="*/ 933 w 1346"/>
                  <a:gd name="T55" fmla="*/ 316 h 480"/>
                  <a:gd name="T56" fmla="*/ 960 w 1346"/>
                  <a:gd name="T57" fmla="*/ 304 h 480"/>
                  <a:gd name="T58" fmla="*/ 1008 w 1346"/>
                  <a:gd name="T59" fmla="*/ 287 h 480"/>
                  <a:gd name="T60" fmla="*/ 1088 w 1346"/>
                  <a:gd name="T61" fmla="*/ 249 h 480"/>
                  <a:gd name="T62" fmla="*/ 1115 w 1346"/>
                  <a:gd name="T63" fmla="*/ 237 h 480"/>
                  <a:gd name="T64" fmla="*/ 1185 w 1346"/>
                  <a:gd name="T65" fmla="*/ 201 h 480"/>
                  <a:gd name="T66" fmla="*/ 1220 w 1346"/>
                  <a:gd name="T67" fmla="*/ 182 h 480"/>
                  <a:gd name="T68" fmla="*/ 1346 w 1346"/>
                  <a:gd name="T69" fmla="*/ 10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6" h="480">
                    <a:moveTo>
                      <a:pt x="1159" y="0"/>
                    </a:moveTo>
                    <a:lnTo>
                      <a:pt x="1101" y="30"/>
                    </a:lnTo>
                    <a:lnTo>
                      <a:pt x="1071" y="46"/>
                    </a:lnTo>
                    <a:lnTo>
                      <a:pt x="1056" y="54"/>
                    </a:lnTo>
                    <a:lnTo>
                      <a:pt x="1042" y="63"/>
                    </a:lnTo>
                    <a:lnTo>
                      <a:pt x="982" y="96"/>
                    </a:lnTo>
                    <a:lnTo>
                      <a:pt x="951" y="110"/>
                    </a:lnTo>
                    <a:lnTo>
                      <a:pt x="921" y="125"/>
                    </a:lnTo>
                    <a:lnTo>
                      <a:pt x="859" y="154"/>
                    </a:lnTo>
                    <a:lnTo>
                      <a:pt x="795" y="179"/>
                    </a:lnTo>
                    <a:lnTo>
                      <a:pt x="762" y="191"/>
                    </a:lnTo>
                    <a:lnTo>
                      <a:pt x="730" y="203"/>
                    </a:lnTo>
                    <a:lnTo>
                      <a:pt x="696" y="213"/>
                    </a:lnTo>
                    <a:lnTo>
                      <a:pt x="687" y="215"/>
                    </a:lnTo>
                    <a:lnTo>
                      <a:pt x="679" y="218"/>
                    </a:lnTo>
                    <a:lnTo>
                      <a:pt x="663" y="224"/>
                    </a:lnTo>
                    <a:lnTo>
                      <a:pt x="629" y="234"/>
                    </a:lnTo>
                    <a:lnTo>
                      <a:pt x="596" y="244"/>
                    </a:lnTo>
                    <a:lnTo>
                      <a:pt x="525" y="260"/>
                    </a:lnTo>
                    <a:lnTo>
                      <a:pt x="489" y="267"/>
                    </a:lnTo>
                    <a:lnTo>
                      <a:pt x="454" y="275"/>
                    </a:lnTo>
                    <a:lnTo>
                      <a:pt x="417" y="281"/>
                    </a:lnTo>
                    <a:lnTo>
                      <a:pt x="381" y="287"/>
                    </a:lnTo>
                    <a:lnTo>
                      <a:pt x="362" y="289"/>
                    </a:lnTo>
                    <a:lnTo>
                      <a:pt x="344" y="292"/>
                    </a:lnTo>
                    <a:lnTo>
                      <a:pt x="308" y="298"/>
                    </a:lnTo>
                    <a:lnTo>
                      <a:pt x="270" y="301"/>
                    </a:lnTo>
                    <a:lnTo>
                      <a:pt x="233" y="305"/>
                    </a:lnTo>
                    <a:lnTo>
                      <a:pt x="157" y="312"/>
                    </a:lnTo>
                    <a:lnTo>
                      <a:pt x="79" y="316"/>
                    </a:lnTo>
                    <a:lnTo>
                      <a:pt x="39" y="317"/>
                    </a:lnTo>
                    <a:lnTo>
                      <a:pt x="0" y="319"/>
                    </a:lnTo>
                    <a:lnTo>
                      <a:pt x="0" y="480"/>
                    </a:lnTo>
                    <a:lnTo>
                      <a:pt x="46" y="478"/>
                    </a:lnTo>
                    <a:lnTo>
                      <a:pt x="57" y="477"/>
                    </a:lnTo>
                    <a:lnTo>
                      <a:pt x="69" y="477"/>
                    </a:lnTo>
                    <a:lnTo>
                      <a:pt x="93" y="477"/>
                    </a:lnTo>
                    <a:lnTo>
                      <a:pt x="115" y="475"/>
                    </a:lnTo>
                    <a:lnTo>
                      <a:pt x="126" y="474"/>
                    </a:lnTo>
                    <a:lnTo>
                      <a:pt x="138" y="474"/>
                    </a:lnTo>
                    <a:lnTo>
                      <a:pt x="184" y="472"/>
                    </a:lnTo>
                    <a:lnTo>
                      <a:pt x="274" y="464"/>
                    </a:lnTo>
                    <a:lnTo>
                      <a:pt x="318" y="459"/>
                    </a:lnTo>
                    <a:lnTo>
                      <a:pt x="363" y="455"/>
                    </a:lnTo>
                    <a:lnTo>
                      <a:pt x="449" y="442"/>
                    </a:lnTo>
                    <a:lnTo>
                      <a:pt x="491" y="435"/>
                    </a:lnTo>
                    <a:lnTo>
                      <a:pt x="512" y="431"/>
                    </a:lnTo>
                    <a:lnTo>
                      <a:pt x="534" y="428"/>
                    </a:lnTo>
                    <a:lnTo>
                      <a:pt x="555" y="423"/>
                    </a:lnTo>
                    <a:lnTo>
                      <a:pt x="576" y="419"/>
                    </a:lnTo>
                    <a:lnTo>
                      <a:pt x="618" y="410"/>
                    </a:lnTo>
                    <a:lnTo>
                      <a:pt x="700" y="391"/>
                    </a:lnTo>
                    <a:lnTo>
                      <a:pt x="739" y="379"/>
                    </a:lnTo>
                    <a:lnTo>
                      <a:pt x="779" y="368"/>
                    </a:lnTo>
                    <a:lnTo>
                      <a:pt x="857" y="344"/>
                    </a:lnTo>
                    <a:lnTo>
                      <a:pt x="933" y="316"/>
                    </a:lnTo>
                    <a:lnTo>
                      <a:pt x="951" y="308"/>
                    </a:lnTo>
                    <a:lnTo>
                      <a:pt x="960" y="304"/>
                    </a:lnTo>
                    <a:lnTo>
                      <a:pt x="970" y="301"/>
                    </a:lnTo>
                    <a:lnTo>
                      <a:pt x="1008" y="287"/>
                    </a:lnTo>
                    <a:lnTo>
                      <a:pt x="1080" y="254"/>
                    </a:lnTo>
                    <a:lnTo>
                      <a:pt x="1088" y="249"/>
                    </a:lnTo>
                    <a:lnTo>
                      <a:pt x="1097" y="245"/>
                    </a:lnTo>
                    <a:lnTo>
                      <a:pt x="1115" y="237"/>
                    </a:lnTo>
                    <a:lnTo>
                      <a:pt x="1151" y="220"/>
                    </a:lnTo>
                    <a:lnTo>
                      <a:pt x="1185" y="201"/>
                    </a:lnTo>
                    <a:lnTo>
                      <a:pt x="1202" y="191"/>
                    </a:lnTo>
                    <a:lnTo>
                      <a:pt x="1220" y="182"/>
                    </a:lnTo>
                    <a:lnTo>
                      <a:pt x="1288" y="143"/>
                    </a:lnTo>
                    <a:lnTo>
                      <a:pt x="1346" y="106"/>
                    </a:lnTo>
                    <a:lnTo>
                      <a:pt x="1159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>
                      <a:gamma/>
                      <a:shade val="59608"/>
                      <a:invGamma/>
                    </a:schemeClr>
                  </a:gs>
                  <a:gs pos="50000">
                    <a:schemeClr val="tx1"/>
                  </a:gs>
                  <a:gs pos="100000">
                    <a:schemeClr val="tx1">
                      <a:gamma/>
                      <a:shade val="59608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673" name="Freeform 1108"/>
              <p:cNvSpPr>
                <a:spLocks/>
              </p:cNvSpPr>
              <p:nvPr/>
            </p:nvSpPr>
            <p:spPr bwMode="auto">
              <a:xfrm>
                <a:off x="1856" y="1193"/>
                <a:ext cx="148" cy="162"/>
              </a:xfrm>
              <a:custGeom>
                <a:avLst/>
                <a:gdLst>
                  <a:gd name="T0" fmla="*/ 0 w 592"/>
                  <a:gd name="T1" fmla="*/ 0 h 651"/>
                  <a:gd name="T2" fmla="*/ 0 w 592"/>
                  <a:gd name="T3" fmla="*/ 0 h 651"/>
                  <a:gd name="T4" fmla="*/ 0 w 592"/>
                  <a:gd name="T5" fmla="*/ 0 h 651"/>
                  <a:gd name="T6" fmla="*/ 0 w 592"/>
                  <a:gd name="T7" fmla="*/ 0 h 651"/>
                  <a:gd name="T8" fmla="*/ 0 w 592"/>
                  <a:gd name="T9" fmla="*/ 0 h 651"/>
                  <a:gd name="T10" fmla="*/ 0 w 592"/>
                  <a:gd name="T11" fmla="*/ 0 h 651"/>
                  <a:gd name="T12" fmla="*/ 0 w 592"/>
                  <a:gd name="T13" fmla="*/ 0 h 651"/>
                  <a:gd name="T14" fmla="*/ 0 w 592"/>
                  <a:gd name="T15" fmla="*/ 0 h 651"/>
                  <a:gd name="T16" fmla="*/ 0 w 592"/>
                  <a:gd name="T17" fmla="*/ 0 h 651"/>
                  <a:gd name="T18" fmla="*/ 0 w 592"/>
                  <a:gd name="T19" fmla="*/ 0 h 651"/>
                  <a:gd name="T20" fmla="*/ 0 w 592"/>
                  <a:gd name="T21" fmla="*/ 0 h 651"/>
                  <a:gd name="T22" fmla="*/ 0 w 592"/>
                  <a:gd name="T23" fmla="*/ 0 h 651"/>
                  <a:gd name="T24" fmla="*/ 0 w 592"/>
                  <a:gd name="T25" fmla="*/ 0 h 651"/>
                  <a:gd name="T26" fmla="*/ 0 w 592"/>
                  <a:gd name="T27" fmla="*/ 0 h 651"/>
                  <a:gd name="T28" fmla="*/ 0 w 592"/>
                  <a:gd name="T29" fmla="*/ 0 h 651"/>
                  <a:gd name="T30" fmla="*/ 0 w 592"/>
                  <a:gd name="T31" fmla="*/ 0 h 651"/>
                  <a:gd name="T32" fmla="*/ 0 w 592"/>
                  <a:gd name="T33" fmla="*/ 0 h 651"/>
                  <a:gd name="T34" fmla="*/ 0 w 592"/>
                  <a:gd name="T35" fmla="*/ 0 h 651"/>
                  <a:gd name="T36" fmla="*/ 0 w 592"/>
                  <a:gd name="T37" fmla="*/ 0 h 651"/>
                  <a:gd name="T38" fmla="*/ 0 w 592"/>
                  <a:gd name="T39" fmla="*/ 0 h 651"/>
                  <a:gd name="T40" fmla="*/ 0 w 592"/>
                  <a:gd name="T41" fmla="*/ 0 h 651"/>
                  <a:gd name="T42" fmla="*/ 0 w 592"/>
                  <a:gd name="T43" fmla="*/ 0 h 651"/>
                  <a:gd name="T44" fmla="*/ 0 w 592"/>
                  <a:gd name="T45" fmla="*/ 0 h 651"/>
                  <a:gd name="T46" fmla="*/ 0 w 592"/>
                  <a:gd name="T47" fmla="*/ 0 h 651"/>
                  <a:gd name="T48" fmla="*/ 0 w 592"/>
                  <a:gd name="T49" fmla="*/ 0 h 651"/>
                  <a:gd name="T50" fmla="*/ 0 w 592"/>
                  <a:gd name="T51" fmla="*/ 0 h 651"/>
                  <a:gd name="T52" fmla="*/ 0 w 592"/>
                  <a:gd name="T53" fmla="*/ 0 h 651"/>
                  <a:gd name="T54" fmla="*/ 0 w 592"/>
                  <a:gd name="T55" fmla="*/ 0 h 651"/>
                  <a:gd name="T56" fmla="*/ 0 w 592"/>
                  <a:gd name="T57" fmla="*/ 0 h 651"/>
                  <a:gd name="T58" fmla="*/ 0 w 592"/>
                  <a:gd name="T59" fmla="*/ 0 h 651"/>
                  <a:gd name="T60" fmla="*/ 0 w 592"/>
                  <a:gd name="T61" fmla="*/ 0 h 651"/>
                  <a:gd name="T62" fmla="*/ 0 w 592"/>
                  <a:gd name="T63" fmla="*/ 0 h 651"/>
                  <a:gd name="T64" fmla="*/ 0 w 592"/>
                  <a:gd name="T65" fmla="*/ 0 h 651"/>
                  <a:gd name="T66" fmla="*/ 0 w 592"/>
                  <a:gd name="T67" fmla="*/ 0 h 651"/>
                  <a:gd name="T68" fmla="*/ 0 w 592"/>
                  <a:gd name="T69" fmla="*/ 0 h 651"/>
                  <a:gd name="T70" fmla="*/ 0 w 592"/>
                  <a:gd name="T71" fmla="*/ 0 h 651"/>
                  <a:gd name="T72" fmla="*/ 0 w 592"/>
                  <a:gd name="T73" fmla="*/ 0 h 651"/>
                  <a:gd name="T74" fmla="*/ 0 w 592"/>
                  <a:gd name="T75" fmla="*/ 0 h 651"/>
                  <a:gd name="T76" fmla="*/ 0 w 592"/>
                  <a:gd name="T77" fmla="*/ 0 h 651"/>
                  <a:gd name="T78" fmla="*/ 0 w 592"/>
                  <a:gd name="T79" fmla="*/ 0 h 651"/>
                  <a:gd name="T80" fmla="*/ 0 w 592"/>
                  <a:gd name="T81" fmla="*/ 0 h 651"/>
                  <a:gd name="T82" fmla="*/ 0 w 592"/>
                  <a:gd name="T83" fmla="*/ 0 h 651"/>
                  <a:gd name="T84" fmla="*/ 0 w 592"/>
                  <a:gd name="T85" fmla="*/ 0 h 651"/>
                  <a:gd name="T86" fmla="*/ 0 w 592"/>
                  <a:gd name="T87" fmla="*/ 0 h 651"/>
                  <a:gd name="T88" fmla="*/ 0 w 592"/>
                  <a:gd name="T89" fmla="*/ 0 h 651"/>
                  <a:gd name="T90" fmla="*/ 0 w 592"/>
                  <a:gd name="T91" fmla="*/ 0 h 651"/>
                  <a:gd name="T92" fmla="*/ 0 w 592"/>
                  <a:gd name="T93" fmla="*/ 0 h 651"/>
                  <a:gd name="T94" fmla="*/ 0 w 592"/>
                  <a:gd name="T95" fmla="*/ 0 h 651"/>
                  <a:gd name="T96" fmla="*/ 0 w 592"/>
                  <a:gd name="T97" fmla="*/ 0 h 651"/>
                  <a:gd name="T98" fmla="*/ 0 w 592"/>
                  <a:gd name="T99" fmla="*/ 0 h 651"/>
                  <a:gd name="T100" fmla="*/ 0 w 592"/>
                  <a:gd name="T101" fmla="*/ 0 h 651"/>
                  <a:gd name="T102" fmla="*/ 0 w 592"/>
                  <a:gd name="T103" fmla="*/ 0 h 651"/>
                  <a:gd name="T104" fmla="*/ 0 w 592"/>
                  <a:gd name="T105" fmla="*/ 0 h 651"/>
                  <a:gd name="T106" fmla="*/ 0 w 592"/>
                  <a:gd name="T107" fmla="*/ 0 h 651"/>
                  <a:gd name="T108" fmla="*/ 0 w 592"/>
                  <a:gd name="T109" fmla="*/ 0 h 651"/>
                  <a:gd name="T110" fmla="*/ 0 w 592"/>
                  <a:gd name="T111" fmla="*/ 0 h 651"/>
                  <a:gd name="T112" fmla="*/ 0 w 592"/>
                  <a:gd name="T113" fmla="*/ 0 h 651"/>
                  <a:gd name="T114" fmla="*/ 0 w 592"/>
                  <a:gd name="T115" fmla="*/ 0 h 651"/>
                  <a:gd name="T116" fmla="*/ 0 w 592"/>
                  <a:gd name="T117" fmla="*/ 0 h 65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92"/>
                  <a:gd name="T178" fmla="*/ 0 h 651"/>
                  <a:gd name="T179" fmla="*/ 592 w 592"/>
                  <a:gd name="T180" fmla="*/ 651 h 65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92" h="651">
                    <a:moveTo>
                      <a:pt x="165" y="651"/>
                    </a:moveTo>
                    <a:lnTo>
                      <a:pt x="193" y="636"/>
                    </a:lnTo>
                    <a:lnTo>
                      <a:pt x="239" y="600"/>
                    </a:lnTo>
                    <a:lnTo>
                      <a:pt x="261" y="582"/>
                    </a:lnTo>
                    <a:lnTo>
                      <a:pt x="266" y="577"/>
                    </a:lnTo>
                    <a:lnTo>
                      <a:pt x="272" y="573"/>
                    </a:lnTo>
                    <a:lnTo>
                      <a:pt x="284" y="565"/>
                    </a:lnTo>
                    <a:lnTo>
                      <a:pt x="325" y="529"/>
                    </a:lnTo>
                    <a:lnTo>
                      <a:pt x="364" y="493"/>
                    </a:lnTo>
                    <a:lnTo>
                      <a:pt x="399" y="455"/>
                    </a:lnTo>
                    <a:lnTo>
                      <a:pt x="432" y="417"/>
                    </a:lnTo>
                    <a:lnTo>
                      <a:pt x="446" y="397"/>
                    </a:lnTo>
                    <a:lnTo>
                      <a:pt x="453" y="387"/>
                    </a:lnTo>
                    <a:lnTo>
                      <a:pt x="461" y="378"/>
                    </a:lnTo>
                    <a:lnTo>
                      <a:pt x="488" y="340"/>
                    </a:lnTo>
                    <a:lnTo>
                      <a:pt x="490" y="334"/>
                    </a:lnTo>
                    <a:lnTo>
                      <a:pt x="493" y="329"/>
                    </a:lnTo>
                    <a:lnTo>
                      <a:pt x="499" y="319"/>
                    </a:lnTo>
                    <a:lnTo>
                      <a:pt x="511" y="299"/>
                    </a:lnTo>
                    <a:lnTo>
                      <a:pt x="532" y="258"/>
                    </a:lnTo>
                    <a:lnTo>
                      <a:pt x="549" y="216"/>
                    </a:lnTo>
                    <a:lnTo>
                      <a:pt x="550" y="210"/>
                    </a:lnTo>
                    <a:lnTo>
                      <a:pt x="552" y="205"/>
                    </a:lnTo>
                    <a:lnTo>
                      <a:pt x="556" y="195"/>
                    </a:lnTo>
                    <a:lnTo>
                      <a:pt x="564" y="175"/>
                    </a:lnTo>
                    <a:lnTo>
                      <a:pt x="575" y="131"/>
                    </a:lnTo>
                    <a:lnTo>
                      <a:pt x="579" y="109"/>
                    </a:lnTo>
                    <a:lnTo>
                      <a:pt x="581" y="98"/>
                    </a:lnTo>
                    <a:lnTo>
                      <a:pt x="584" y="88"/>
                    </a:lnTo>
                    <a:lnTo>
                      <a:pt x="589" y="44"/>
                    </a:lnTo>
                    <a:lnTo>
                      <a:pt x="592" y="0"/>
                    </a:lnTo>
                    <a:lnTo>
                      <a:pt x="371" y="0"/>
                    </a:ln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  <a:lnTo>
                      <a:pt x="165" y="65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4" name="Freeform 1109"/>
              <p:cNvSpPr>
                <a:spLocks/>
              </p:cNvSpPr>
              <p:nvPr/>
            </p:nvSpPr>
            <p:spPr bwMode="auto">
              <a:xfrm>
                <a:off x="1370" y="1312"/>
                <a:ext cx="238" cy="86"/>
              </a:xfrm>
              <a:custGeom>
                <a:avLst/>
                <a:gdLst>
                  <a:gd name="T0" fmla="*/ 0 w 952"/>
                  <a:gd name="T1" fmla="*/ 0 h 344"/>
                  <a:gd name="T2" fmla="*/ 0 w 952"/>
                  <a:gd name="T3" fmla="*/ 0 h 344"/>
                  <a:gd name="T4" fmla="*/ 0 w 952"/>
                  <a:gd name="T5" fmla="*/ 0 h 344"/>
                  <a:gd name="T6" fmla="*/ 0 w 952"/>
                  <a:gd name="T7" fmla="*/ 0 h 344"/>
                  <a:gd name="T8" fmla="*/ 0 w 952"/>
                  <a:gd name="T9" fmla="*/ 0 h 344"/>
                  <a:gd name="T10" fmla="*/ 0 w 952"/>
                  <a:gd name="T11" fmla="*/ 0 h 344"/>
                  <a:gd name="T12" fmla="*/ 0 w 952"/>
                  <a:gd name="T13" fmla="*/ 0 h 344"/>
                  <a:gd name="T14" fmla="*/ 0 w 952"/>
                  <a:gd name="T15" fmla="*/ 0 h 344"/>
                  <a:gd name="T16" fmla="*/ 0 w 952"/>
                  <a:gd name="T17" fmla="*/ 0 h 344"/>
                  <a:gd name="T18" fmla="*/ 0 w 952"/>
                  <a:gd name="T19" fmla="*/ 0 h 344"/>
                  <a:gd name="T20" fmla="*/ 0 w 952"/>
                  <a:gd name="T21" fmla="*/ 0 h 344"/>
                  <a:gd name="T22" fmla="*/ 0 w 952"/>
                  <a:gd name="T23" fmla="*/ 0 h 344"/>
                  <a:gd name="T24" fmla="*/ 0 w 952"/>
                  <a:gd name="T25" fmla="*/ 0 h 344"/>
                  <a:gd name="T26" fmla="*/ 0 w 952"/>
                  <a:gd name="T27" fmla="*/ 0 h 344"/>
                  <a:gd name="T28" fmla="*/ 0 w 952"/>
                  <a:gd name="T29" fmla="*/ 0 h 344"/>
                  <a:gd name="T30" fmla="*/ 0 w 952"/>
                  <a:gd name="T31" fmla="*/ 0 h 344"/>
                  <a:gd name="T32" fmla="*/ 0 w 952"/>
                  <a:gd name="T33" fmla="*/ 0 h 344"/>
                  <a:gd name="T34" fmla="*/ 0 w 952"/>
                  <a:gd name="T35" fmla="*/ 0 h 344"/>
                  <a:gd name="T36" fmla="*/ 0 w 952"/>
                  <a:gd name="T37" fmla="*/ 0 h 344"/>
                  <a:gd name="T38" fmla="*/ 0 w 952"/>
                  <a:gd name="T39" fmla="*/ 0 h 344"/>
                  <a:gd name="T40" fmla="*/ 0 w 952"/>
                  <a:gd name="T41" fmla="*/ 0 h 344"/>
                  <a:gd name="T42" fmla="*/ 0 w 952"/>
                  <a:gd name="T43" fmla="*/ 0 h 344"/>
                  <a:gd name="T44" fmla="*/ 0 w 952"/>
                  <a:gd name="T45" fmla="*/ 0 h 344"/>
                  <a:gd name="T46" fmla="*/ 0 w 952"/>
                  <a:gd name="T47" fmla="*/ 0 h 344"/>
                  <a:gd name="T48" fmla="*/ 0 w 952"/>
                  <a:gd name="T49" fmla="*/ 0 h 344"/>
                  <a:gd name="T50" fmla="*/ 0 w 952"/>
                  <a:gd name="T51" fmla="*/ 0 h 344"/>
                  <a:gd name="T52" fmla="*/ 0 w 952"/>
                  <a:gd name="T53" fmla="*/ 0 h 344"/>
                  <a:gd name="T54" fmla="*/ 0 w 952"/>
                  <a:gd name="T55" fmla="*/ 0 h 344"/>
                  <a:gd name="T56" fmla="*/ 0 w 952"/>
                  <a:gd name="T57" fmla="*/ 0 h 344"/>
                  <a:gd name="T58" fmla="*/ 0 w 952"/>
                  <a:gd name="T59" fmla="*/ 0 h 344"/>
                  <a:gd name="T60" fmla="*/ 0 w 952"/>
                  <a:gd name="T61" fmla="*/ 0 h 344"/>
                  <a:gd name="T62" fmla="*/ 0 w 952"/>
                  <a:gd name="T63" fmla="*/ 0 h 344"/>
                  <a:gd name="T64" fmla="*/ 0 w 952"/>
                  <a:gd name="T65" fmla="*/ 0 h 344"/>
                  <a:gd name="T66" fmla="*/ 0 w 952"/>
                  <a:gd name="T67" fmla="*/ 0 h 344"/>
                  <a:gd name="T68" fmla="*/ 0 w 952"/>
                  <a:gd name="T69" fmla="*/ 0 h 344"/>
                  <a:gd name="T70" fmla="*/ 0 w 952"/>
                  <a:gd name="T71" fmla="*/ 0 h 344"/>
                  <a:gd name="T72" fmla="*/ 0 w 952"/>
                  <a:gd name="T73" fmla="*/ 0 h 344"/>
                  <a:gd name="T74" fmla="*/ 0 w 952"/>
                  <a:gd name="T75" fmla="*/ 0 h 3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952"/>
                  <a:gd name="T115" fmla="*/ 0 h 344"/>
                  <a:gd name="T116" fmla="*/ 952 w 952"/>
                  <a:gd name="T117" fmla="*/ 344 h 34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952" h="344">
                    <a:moveTo>
                      <a:pt x="952" y="344"/>
                    </a:moveTo>
                    <a:lnTo>
                      <a:pt x="952" y="185"/>
                    </a:lnTo>
                    <a:lnTo>
                      <a:pt x="945" y="185"/>
                    </a:lnTo>
                    <a:lnTo>
                      <a:pt x="943" y="185"/>
                    </a:lnTo>
                    <a:lnTo>
                      <a:pt x="887" y="184"/>
                    </a:lnTo>
                    <a:lnTo>
                      <a:pt x="833" y="182"/>
                    </a:lnTo>
                    <a:lnTo>
                      <a:pt x="779" y="178"/>
                    </a:lnTo>
                    <a:lnTo>
                      <a:pt x="727" y="173"/>
                    </a:lnTo>
                    <a:lnTo>
                      <a:pt x="675" y="166"/>
                    </a:lnTo>
                    <a:lnTo>
                      <a:pt x="625" y="158"/>
                    </a:lnTo>
                    <a:lnTo>
                      <a:pt x="575" y="148"/>
                    </a:lnTo>
                    <a:lnTo>
                      <a:pt x="528" y="138"/>
                    </a:lnTo>
                    <a:lnTo>
                      <a:pt x="480" y="125"/>
                    </a:lnTo>
                    <a:lnTo>
                      <a:pt x="434" y="111"/>
                    </a:lnTo>
                    <a:lnTo>
                      <a:pt x="389" y="96"/>
                    </a:lnTo>
                    <a:lnTo>
                      <a:pt x="345" y="80"/>
                    </a:lnTo>
                    <a:lnTo>
                      <a:pt x="301" y="62"/>
                    </a:lnTo>
                    <a:lnTo>
                      <a:pt x="259" y="43"/>
                    </a:lnTo>
                    <a:lnTo>
                      <a:pt x="218" y="22"/>
                    </a:lnTo>
                    <a:lnTo>
                      <a:pt x="179" y="0"/>
                    </a:lnTo>
                    <a:lnTo>
                      <a:pt x="0" y="110"/>
                    </a:lnTo>
                    <a:lnTo>
                      <a:pt x="48" y="137"/>
                    </a:lnTo>
                    <a:lnTo>
                      <a:pt x="99" y="164"/>
                    </a:lnTo>
                    <a:lnTo>
                      <a:pt x="150" y="189"/>
                    </a:lnTo>
                    <a:lnTo>
                      <a:pt x="204" y="212"/>
                    </a:lnTo>
                    <a:lnTo>
                      <a:pt x="258" y="233"/>
                    </a:lnTo>
                    <a:lnTo>
                      <a:pt x="314" y="252"/>
                    </a:lnTo>
                    <a:lnTo>
                      <a:pt x="371" y="269"/>
                    </a:lnTo>
                    <a:lnTo>
                      <a:pt x="431" y="285"/>
                    </a:lnTo>
                    <a:lnTo>
                      <a:pt x="490" y="298"/>
                    </a:lnTo>
                    <a:lnTo>
                      <a:pt x="551" y="310"/>
                    </a:lnTo>
                    <a:lnTo>
                      <a:pt x="613" y="320"/>
                    </a:lnTo>
                    <a:lnTo>
                      <a:pt x="677" y="329"/>
                    </a:lnTo>
                    <a:lnTo>
                      <a:pt x="741" y="335"/>
                    </a:lnTo>
                    <a:lnTo>
                      <a:pt x="808" y="340"/>
                    </a:lnTo>
                    <a:lnTo>
                      <a:pt x="875" y="343"/>
                    </a:lnTo>
                    <a:lnTo>
                      <a:pt x="945" y="344"/>
                    </a:lnTo>
                    <a:lnTo>
                      <a:pt x="952" y="34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5" name="Freeform 1110"/>
              <p:cNvSpPr>
                <a:spLocks/>
              </p:cNvSpPr>
              <p:nvPr/>
            </p:nvSpPr>
            <p:spPr bwMode="auto">
              <a:xfrm>
                <a:off x="1284" y="1365"/>
                <a:ext cx="324" cy="111"/>
              </a:xfrm>
              <a:custGeom>
                <a:avLst/>
                <a:gdLst>
                  <a:gd name="T0" fmla="*/ 0 w 1295"/>
                  <a:gd name="T1" fmla="*/ 0 h 442"/>
                  <a:gd name="T2" fmla="*/ 0 w 1295"/>
                  <a:gd name="T3" fmla="*/ 0 h 442"/>
                  <a:gd name="T4" fmla="*/ 0 w 1295"/>
                  <a:gd name="T5" fmla="*/ 0 h 442"/>
                  <a:gd name="T6" fmla="*/ 0 w 1295"/>
                  <a:gd name="T7" fmla="*/ 0 h 442"/>
                  <a:gd name="T8" fmla="*/ 0 w 1295"/>
                  <a:gd name="T9" fmla="*/ 0 h 442"/>
                  <a:gd name="T10" fmla="*/ 0 w 1295"/>
                  <a:gd name="T11" fmla="*/ 0 h 442"/>
                  <a:gd name="T12" fmla="*/ 0 w 1295"/>
                  <a:gd name="T13" fmla="*/ 0 h 442"/>
                  <a:gd name="T14" fmla="*/ 0 w 1295"/>
                  <a:gd name="T15" fmla="*/ 0 h 442"/>
                  <a:gd name="T16" fmla="*/ 0 w 1295"/>
                  <a:gd name="T17" fmla="*/ 0 h 442"/>
                  <a:gd name="T18" fmla="*/ 0 w 1295"/>
                  <a:gd name="T19" fmla="*/ 0 h 442"/>
                  <a:gd name="T20" fmla="*/ 0 w 1295"/>
                  <a:gd name="T21" fmla="*/ 0 h 442"/>
                  <a:gd name="T22" fmla="*/ 0 w 1295"/>
                  <a:gd name="T23" fmla="*/ 0 h 442"/>
                  <a:gd name="T24" fmla="*/ 0 w 1295"/>
                  <a:gd name="T25" fmla="*/ 0 h 442"/>
                  <a:gd name="T26" fmla="*/ 0 w 1295"/>
                  <a:gd name="T27" fmla="*/ 0 h 442"/>
                  <a:gd name="T28" fmla="*/ 0 w 1295"/>
                  <a:gd name="T29" fmla="*/ 0 h 442"/>
                  <a:gd name="T30" fmla="*/ 0 w 1295"/>
                  <a:gd name="T31" fmla="*/ 0 h 442"/>
                  <a:gd name="T32" fmla="*/ 0 w 1295"/>
                  <a:gd name="T33" fmla="*/ 0 h 442"/>
                  <a:gd name="T34" fmla="*/ 0 w 1295"/>
                  <a:gd name="T35" fmla="*/ 0 h 442"/>
                  <a:gd name="T36" fmla="*/ 0 w 1295"/>
                  <a:gd name="T37" fmla="*/ 0 h 442"/>
                  <a:gd name="T38" fmla="*/ 0 w 1295"/>
                  <a:gd name="T39" fmla="*/ 0 h 442"/>
                  <a:gd name="T40" fmla="*/ 0 w 1295"/>
                  <a:gd name="T41" fmla="*/ 0 h 442"/>
                  <a:gd name="T42" fmla="*/ 0 w 1295"/>
                  <a:gd name="T43" fmla="*/ 0 h 442"/>
                  <a:gd name="T44" fmla="*/ 0 w 1295"/>
                  <a:gd name="T45" fmla="*/ 0 h 442"/>
                  <a:gd name="T46" fmla="*/ 0 w 1295"/>
                  <a:gd name="T47" fmla="*/ 0 h 442"/>
                  <a:gd name="T48" fmla="*/ 0 w 1295"/>
                  <a:gd name="T49" fmla="*/ 0 h 442"/>
                  <a:gd name="T50" fmla="*/ 0 w 1295"/>
                  <a:gd name="T51" fmla="*/ 0 h 442"/>
                  <a:gd name="T52" fmla="*/ 0 w 1295"/>
                  <a:gd name="T53" fmla="*/ 0 h 442"/>
                  <a:gd name="T54" fmla="*/ 0 w 1295"/>
                  <a:gd name="T55" fmla="*/ 0 h 442"/>
                  <a:gd name="T56" fmla="*/ 0 w 1295"/>
                  <a:gd name="T57" fmla="*/ 0 h 442"/>
                  <a:gd name="T58" fmla="*/ 0 w 1295"/>
                  <a:gd name="T59" fmla="*/ 0 h 442"/>
                  <a:gd name="T60" fmla="*/ 0 w 1295"/>
                  <a:gd name="T61" fmla="*/ 0 h 442"/>
                  <a:gd name="T62" fmla="*/ 0 w 1295"/>
                  <a:gd name="T63" fmla="*/ 0 h 442"/>
                  <a:gd name="T64" fmla="*/ 0 w 1295"/>
                  <a:gd name="T65" fmla="*/ 0 h 442"/>
                  <a:gd name="T66" fmla="*/ 0 w 1295"/>
                  <a:gd name="T67" fmla="*/ 0 h 442"/>
                  <a:gd name="T68" fmla="*/ 0 w 1295"/>
                  <a:gd name="T69" fmla="*/ 0 h 442"/>
                  <a:gd name="T70" fmla="*/ 0 w 1295"/>
                  <a:gd name="T71" fmla="*/ 0 h 442"/>
                  <a:gd name="T72" fmla="*/ 0 w 1295"/>
                  <a:gd name="T73" fmla="*/ 0 h 442"/>
                  <a:gd name="T74" fmla="*/ 0 w 1295"/>
                  <a:gd name="T75" fmla="*/ 0 h 442"/>
                  <a:gd name="T76" fmla="*/ 0 w 1295"/>
                  <a:gd name="T77" fmla="*/ 0 h 44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95"/>
                  <a:gd name="T118" fmla="*/ 0 h 442"/>
                  <a:gd name="T119" fmla="*/ 1295 w 1295"/>
                  <a:gd name="T120" fmla="*/ 442 h 44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95" h="442">
                    <a:moveTo>
                      <a:pt x="1295" y="442"/>
                    </a:moveTo>
                    <a:lnTo>
                      <a:pt x="1295" y="281"/>
                    </a:lnTo>
                    <a:lnTo>
                      <a:pt x="1288" y="281"/>
                    </a:lnTo>
                    <a:lnTo>
                      <a:pt x="1205" y="279"/>
                    </a:lnTo>
                    <a:lnTo>
                      <a:pt x="1126" y="276"/>
                    </a:lnTo>
                    <a:lnTo>
                      <a:pt x="1047" y="270"/>
                    </a:lnTo>
                    <a:lnTo>
                      <a:pt x="971" y="263"/>
                    </a:lnTo>
                    <a:lnTo>
                      <a:pt x="895" y="252"/>
                    </a:lnTo>
                    <a:lnTo>
                      <a:pt x="822" y="240"/>
                    </a:lnTo>
                    <a:lnTo>
                      <a:pt x="750" y="225"/>
                    </a:lnTo>
                    <a:lnTo>
                      <a:pt x="680" y="210"/>
                    </a:lnTo>
                    <a:lnTo>
                      <a:pt x="611" y="191"/>
                    </a:lnTo>
                    <a:lnTo>
                      <a:pt x="544" y="170"/>
                    </a:lnTo>
                    <a:lnTo>
                      <a:pt x="478" y="147"/>
                    </a:lnTo>
                    <a:lnTo>
                      <a:pt x="415" y="122"/>
                    </a:lnTo>
                    <a:lnTo>
                      <a:pt x="352" y="94"/>
                    </a:lnTo>
                    <a:lnTo>
                      <a:pt x="292" y="65"/>
                    </a:lnTo>
                    <a:lnTo>
                      <a:pt x="233" y="33"/>
                    </a:lnTo>
                    <a:lnTo>
                      <a:pt x="177" y="0"/>
                    </a:lnTo>
                    <a:lnTo>
                      <a:pt x="0" y="108"/>
                    </a:lnTo>
                    <a:lnTo>
                      <a:pt x="65" y="147"/>
                    </a:lnTo>
                    <a:lnTo>
                      <a:pt x="133" y="184"/>
                    </a:lnTo>
                    <a:lnTo>
                      <a:pt x="202" y="218"/>
                    </a:lnTo>
                    <a:lnTo>
                      <a:pt x="275" y="251"/>
                    </a:lnTo>
                    <a:lnTo>
                      <a:pt x="348" y="280"/>
                    </a:lnTo>
                    <a:lnTo>
                      <a:pt x="423" y="308"/>
                    </a:lnTo>
                    <a:lnTo>
                      <a:pt x="500" y="332"/>
                    </a:lnTo>
                    <a:lnTo>
                      <a:pt x="581" y="355"/>
                    </a:lnTo>
                    <a:lnTo>
                      <a:pt x="662" y="374"/>
                    </a:lnTo>
                    <a:lnTo>
                      <a:pt x="746" y="391"/>
                    </a:lnTo>
                    <a:lnTo>
                      <a:pt x="831" y="405"/>
                    </a:lnTo>
                    <a:lnTo>
                      <a:pt x="919" y="418"/>
                    </a:lnTo>
                    <a:lnTo>
                      <a:pt x="1008" y="427"/>
                    </a:lnTo>
                    <a:lnTo>
                      <a:pt x="1099" y="435"/>
                    </a:lnTo>
                    <a:lnTo>
                      <a:pt x="1192" y="439"/>
                    </a:lnTo>
                    <a:lnTo>
                      <a:pt x="1288" y="442"/>
                    </a:lnTo>
                    <a:lnTo>
                      <a:pt x="1289" y="440"/>
                    </a:lnTo>
                    <a:lnTo>
                      <a:pt x="1291" y="440"/>
                    </a:lnTo>
                    <a:lnTo>
                      <a:pt x="1295" y="44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76" name="Freeform 1111"/>
              <p:cNvSpPr>
                <a:spLocks/>
              </p:cNvSpPr>
              <p:nvPr/>
            </p:nvSpPr>
            <p:spPr bwMode="auto">
              <a:xfrm>
                <a:off x="1328" y="1339"/>
                <a:ext cx="280" cy="96"/>
              </a:xfrm>
              <a:custGeom>
                <a:avLst/>
                <a:gdLst>
                  <a:gd name="T0" fmla="*/ 0 w 1118"/>
                  <a:gd name="T1" fmla="*/ 0 h 384"/>
                  <a:gd name="T2" fmla="*/ 0 w 1118"/>
                  <a:gd name="T3" fmla="*/ 0 h 384"/>
                  <a:gd name="T4" fmla="*/ 0 w 1118"/>
                  <a:gd name="T5" fmla="*/ 0 h 384"/>
                  <a:gd name="T6" fmla="*/ 0 w 1118"/>
                  <a:gd name="T7" fmla="*/ 0 h 384"/>
                  <a:gd name="T8" fmla="*/ 0 w 1118"/>
                  <a:gd name="T9" fmla="*/ 0 h 384"/>
                  <a:gd name="T10" fmla="*/ 0 w 1118"/>
                  <a:gd name="T11" fmla="*/ 0 h 384"/>
                  <a:gd name="T12" fmla="*/ 0 w 1118"/>
                  <a:gd name="T13" fmla="*/ 0 h 384"/>
                  <a:gd name="T14" fmla="*/ 0 w 1118"/>
                  <a:gd name="T15" fmla="*/ 0 h 384"/>
                  <a:gd name="T16" fmla="*/ 0 w 1118"/>
                  <a:gd name="T17" fmla="*/ 0 h 384"/>
                  <a:gd name="T18" fmla="*/ 0 w 1118"/>
                  <a:gd name="T19" fmla="*/ 0 h 384"/>
                  <a:gd name="T20" fmla="*/ 0 w 1118"/>
                  <a:gd name="T21" fmla="*/ 0 h 384"/>
                  <a:gd name="T22" fmla="*/ 0 w 1118"/>
                  <a:gd name="T23" fmla="*/ 0 h 384"/>
                  <a:gd name="T24" fmla="*/ 0 w 1118"/>
                  <a:gd name="T25" fmla="*/ 0 h 384"/>
                  <a:gd name="T26" fmla="*/ 0 w 1118"/>
                  <a:gd name="T27" fmla="*/ 0 h 384"/>
                  <a:gd name="T28" fmla="*/ 0 w 1118"/>
                  <a:gd name="T29" fmla="*/ 0 h 384"/>
                  <a:gd name="T30" fmla="*/ 0 w 1118"/>
                  <a:gd name="T31" fmla="*/ 0 h 384"/>
                  <a:gd name="T32" fmla="*/ 0 w 1118"/>
                  <a:gd name="T33" fmla="*/ 0 h 384"/>
                  <a:gd name="T34" fmla="*/ 0 w 1118"/>
                  <a:gd name="T35" fmla="*/ 0 h 384"/>
                  <a:gd name="T36" fmla="*/ 0 w 1118"/>
                  <a:gd name="T37" fmla="*/ 0 h 384"/>
                  <a:gd name="T38" fmla="*/ 0 w 1118"/>
                  <a:gd name="T39" fmla="*/ 0 h 384"/>
                  <a:gd name="T40" fmla="*/ 0 w 1118"/>
                  <a:gd name="T41" fmla="*/ 0 h 384"/>
                  <a:gd name="T42" fmla="*/ 0 w 1118"/>
                  <a:gd name="T43" fmla="*/ 0 h 384"/>
                  <a:gd name="T44" fmla="*/ 0 w 1118"/>
                  <a:gd name="T45" fmla="*/ 0 h 384"/>
                  <a:gd name="T46" fmla="*/ 0 w 1118"/>
                  <a:gd name="T47" fmla="*/ 0 h 384"/>
                  <a:gd name="T48" fmla="*/ 0 w 1118"/>
                  <a:gd name="T49" fmla="*/ 0 h 384"/>
                  <a:gd name="T50" fmla="*/ 0 w 1118"/>
                  <a:gd name="T51" fmla="*/ 0 h 384"/>
                  <a:gd name="T52" fmla="*/ 0 w 1118"/>
                  <a:gd name="T53" fmla="*/ 0 h 384"/>
                  <a:gd name="T54" fmla="*/ 0 w 1118"/>
                  <a:gd name="T55" fmla="*/ 0 h 384"/>
                  <a:gd name="T56" fmla="*/ 0 w 1118"/>
                  <a:gd name="T57" fmla="*/ 0 h 384"/>
                  <a:gd name="T58" fmla="*/ 0 w 1118"/>
                  <a:gd name="T59" fmla="*/ 0 h 384"/>
                  <a:gd name="T60" fmla="*/ 0 w 1118"/>
                  <a:gd name="T61" fmla="*/ 0 h 384"/>
                  <a:gd name="T62" fmla="*/ 0 w 1118"/>
                  <a:gd name="T63" fmla="*/ 0 h 384"/>
                  <a:gd name="T64" fmla="*/ 0 w 1118"/>
                  <a:gd name="T65" fmla="*/ 0 h 384"/>
                  <a:gd name="T66" fmla="*/ 0 w 1118"/>
                  <a:gd name="T67" fmla="*/ 0 h 384"/>
                  <a:gd name="T68" fmla="*/ 0 w 1118"/>
                  <a:gd name="T69" fmla="*/ 0 h 384"/>
                  <a:gd name="T70" fmla="*/ 0 w 1118"/>
                  <a:gd name="T71" fmla="*/ 0 h 384"/>
                  <a:gd name="T72" fmla="*/ 0 w 1118"/>
                  <a:gd name="T73" fmla="*/ 0 h 3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8"/>
                  <a:gd name="T112" fmla="*/ 0 h 384"/>
                  <a:gd name="T113" fmla="*/ 1118 w 1118"/>
                  <a:gd name="T114" fmla="*/ 384 h 3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8" h="384">
                    <a:moveTo>
                      <a:pt x="1118" y="384"/>
                    </a:moveTo>
                    <a:lnTo>
                      <a:pt x="1118" y="234"/>
                    </a:lnTo>
                    <a:lnTo>
                      <a:pt x="1111" y="234"/>
                    </a:lnTo>
                    <a:lnTo>
                      <a:pt x="1041" y="233"/>
                    </a:lnTo>
                    <a:lnTo>
                      <a:pt x="974" y="230"/>
                    </a:lnTo>
                    <a:lnTo>
                      <a:pt x="907" y="225"/>
                    </a:lnTo>
                    <a:lnTo>
                      <a:pt x="843" y="219"/>
                    </a:lnTo>
                    <a:lnTo>
                      <a:pt x="779" y="210"/>
                    </a:lnTo>
                    <a:lnTo>
                      <a:pt x="717" y="200"/>
                    </a:lnTo>
                    <a:lnTo>
                      <a:pt x="656" y="188"/>
                    </a:lnTo>
                    <a:lnTo>
                      <a:pt x="597" y="175"/>
                    </a:lnTo>
                    <a:lnTo>
                      <a:pt x="537" y="159"/>
                    </a:lnTo>
                    <a:lnTo>
                      <a:pt x="480" y="142"/>
                    </a:lnTo>
                    <a:lnTo>
                      <a:pt x="424" y="123"/>
                    </a:lnTo>
                    <a:lnTo>
                      <a:pt x="370" y="102"/>
                    </a:lnTo>
                    <a:lnTo>
                      <a:pt x="316" y="79"/>
                    </a:lnTo>
                    <a:lnTo>
                      <a:pt x="265" y="54"/>
                    </a:lnTo>
                    <a:lnTo>
                      <a:pt x="214" y="27"/>
                    </a:lnTo>
                    <a:lnTo>
                      <a:pt x="166" y="0"/>
                    </a:lnTo>
                    <a:lnTo>
                      <a:pt x="0" y="103"/>
                    </a:lnTo>
                    <a:lnTo>
                      <a:pt x="56" y="136"/>
                    </a:lnTo>
                    <a:lnTo>
                      <a:pt x="115" y="168"/>
                    </a:lnTo>
                    <a:lnTo>
                      <a:pt x="175" y="197"/>
                    </a:lnTo>
                    <a:lnTo>
                      <a:pt x="238" y="225"/>
                    </a:lnTo>
                    <a:lnTo>
                      <a:pt x="301" y="250"/>
                    </a:lnTo>
                    <a:lnTo>
                      <a:pt x="367" y="273"/>
                    </a:lnTo>
                    <a:lnTo>
                      <a:pt x="434" y="294"/>
                    </a:lnTo>
                    <a:lnTo>
                      <a:pt x="503" y="313"/>
                    </a:lnTo>
                    <a:lnTo>
                      <a:pt x="573" y="328"/>
                    </a:lnTo>
                    <a:lnTo>
                      <a:pt x="645" y="343"/>
                    </a:lnTo>
                    <a:lnTo>
                      <a:pt x="718" y="355"/>
                    </a:lnTo>
                    <a:lnTo>
                      <a:pt x="794" y="366"/>
                    </a:lnTo>
                    <a:lnTo>
                      <a:pt x="870" y="373"/>
                    </a:lnTo>
                    <a:lnTo>
                      <a:pt x="949" y="379"/>
                    </a:lnTo>
                    <a:lnTo>
                      <a:pt x="1028" y="382"/>
                    </a:lnTo>
                    <a:lnTo>
                      <a:pt x="1111" y="384"/>
                    </a:lnTo>
                    <a:lnTo>
                      <a:pt x="1118" y="38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7" name="Freeform 1112"/>
              <p:cNvSpPr>
                <a:spLocks/>
              </p:cNvSpPr>
              <p:nvPr/>
            </p:nvSpPr>
            <p:spPr bwMode="auto">
              <a:xfrm>
                <a:off x="1415" y="1286"/>
                <a:ext cx="193" cy="72"/>
              </a:xfrm>
              <a:custGeom>
                <a:avLst/>
                <a:gdLst>
                  <a:gd name="T0" fmla="*/ 0 w 773"/>
                  <a:gd name="T1" fmla="*/ 0 h 288"/>
                  <a:gd name="T2" fmla="*/ 0 w 773"/>
                  <a:gd name="T3" fmla="*/ 0 h 288"/>
                  <a:gd name="T4" fmla="*/ 0 w 773"/>
                  <a:gd name="T5" fmla="*/ 0 h 288"/>
                  <a:gd name="T6" fmla="*/ 0 w 773"/>
                  <a:gd name="T7" fmla="*/ 0 h 288"/>
                  <a:gd name="T8" fmla="*/ 0 w 773"/>
                  <a:gd name="T9" fmla="*/ 0 h 288"/>
                  <a:gd name="T10" fmla="*/ 0 w 773"/>
                  <a:gd name="T11" fmla="*/ 0 h 288"/>
                  <a:gd name="T12" fmla="*/ 0 w 773"/>
                  <a:gd name="T13" fmla="*/ 0 h 288"/>
                  <a:gd name="T14" fmla="*/ 0 w 773"/>
                  <a:gd name="T15" fmla="*/ 0 h 288"/>
                  <a:gd name="T16" fmla="*/ 0 w 773"/>
                  <a:gd name="T17" fmla="*/ 0 h 288"/>
                  <a:gd name="T18" fmla="*/ 0 w 773"/>
                  <a:gd name="T19" fmla="*/ 0 h 288"/>
                  <a:gd name="T20" fmla="*/ 0 w 773"/>
                  <a:gd name="T21" fmla="*/ 0 h 288"/>
                  <a:gd name="T22" fmla="*/ 0 w 773"/>
                  <a:gd name="T23" fmla="*/ 0 h 288"/>
                  <a:gd name="T24" fmla="*/ 0 w 773"/>
                  <a:gd name="T25" fmla="*/ 0 h 288"/>
                  <a:gd name="T26" fmla="*/ 0 w 773"/>
                  <a:gd name="T27" fmla="*/ 0 h 288"/>
                  <a:gd name="T28" fmla="*/ 0 w 773"/>
                  <a:gd name="T29" fmla="*/ 0 h 288"/>
                  <a:gd name="T30" fmla="*/ 0 w 773"/>
                  <a:gd name="T31" fmla="*/ 0 h 288"/>
                  <a:gd name="T32" fmla="*/ 0 w 773"/>
                  <a:gd name="T33" fmla="*/ 0 h 288"/>
                  <a:gd name="T34" fmla="*/ 0 w 773"/>
                  <a:gd name="T35" fmla="*/ 0 h 288"/>
                  <a:gd name="T36" fmla="*/ 0 w 773"/>
                  <a:gd name="T37" fmla="*/ 0 h 288"/>
                  <a:gd name="T38" fmla="*/ 0 w 773"/>
                  <a:gd name="T39" fmla="*/ 0 h 288"/>
                  <a:gd name="T40" fmla="*/ 0 w 773"/>
                  <a:gd name="T41" fmla="*/ 0 h 288"/>
                  <a:gd name="T42" fmla="*/ 0 w 773"/>
                  <a:gd name="T43" fmla="*/ 0 h 288"/>
                  <a:gd name="T44" fmla="*/ 0 w 773"/>
                  <a:gd name="T45" fmla="*/ 0 h 288"/>
                  <a:gd name="T46" fmla="*/ 0 w 773"/>
                  <a:gd name="T47" fmla="*/ 0 h 288"/>
                  <a:gd name="T48" fmla="*/ 0 w 773"/>
                  <a:gd name="T49" fmla="*/ 0 h 288"/>
                  <a:gd name="T50" fmla="*/ 0 w 773"/>
                  <a:gd name="T51" fmla="*/ 0 h 288"/>
                  <a:gd name="T52" fmla="*/ 0 w 773"/>
                  <a:gd name="T53" fmla="*/ 0 h 288"/>
                  <a:gd name="T54" fmla="*/ 0 w 773"/>
                  <a:gd name="T55" fmla="*/ 0 h 288"/>
                  <a:gd name="T56" fmla="*/ 0 w 773"/>
                  <a:gd name="T57" fmla="*/ 0 h 288"/>
                  <a:gd name="T58" fmla="*/ 0 w 773"/>
                  <a:gd name="T59" fmla="*/ 0 h 288"/>
                  <a:gd name="T60" fmla="*/ 0 w 773"/>
                  <a:gd name="T61" fmla="*/ 0 h 288"/>
                  <a:gd name="T62" fmla="*/ 0 w 773"/>
                  <a:gd name="T63" fmla="*/ 0 h 288"/>
                  <a:gd name="T64" fmla="*/ 0 w 773"/>
                  <a:gd name="T65" fmla="*/ 0 h 288"/>
                  <a:gd name="T66" fmla="*/ 0 w 773"/>
                  <a:gd name="T67" fmla="*/ 0 h 288"/>
                  <a:gd name="T68" fmla="*/ 0 w 773"/>
                  <a:gd name="T69" fmla="*/ 0 h 28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773"/>
                  <a:gd name="T106" fmla="*/ 0 h 288"/>
                  <a:gd name="T107" fmla="*/ 773 w 773"/>
                  <a:gd name="T108" fmla="*/ 288 h 28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773" h="288">
                    <a:moveTo>
                      <a:pt x="773" y="288"/>
                    </a:moveTo>
                    <a:lnTo>
                      <a:pt x="773" y="138"/>
                    </a:lnTo>
                    <a:lnTo>
                      <a:pt x="766" y="138"/>
                    </a:lnTo>
                    <a:lnTo>
                      <a:pt x="722" y="136"/>
                    </a:lnTo>
                    <a:lnTo>
                      <a:pt x="680" y="134"/>
                    </a:lnTo>
                    <a:lnTo>
                      <a:pt x="638" y="131"/>
                    </a:lnTo>
                    <a:lnTo>
                      <a:pt x="598" y="127"/>
                    </a:lnTo>
                    <a:lnTo>
                      <a:pt x="519" y="115"/>
                    </a:lnTo>
                    <a:lnTo>
                      <a:pt x="444" y="101"/>
                    </a:lnTo>
                    <a:lnTo>
                      <a:pt x="406" y="91"/>
                    </a:lnTo>
                    <a:lnTo>
                      <a:pt x="370" y="81"/>
                    </a:lnTo>
                    <a:lnTo>
                      <a:pt x="335" y="70"/>
                    </a:lnTo>
                    <a:lnTo>
                      <a:pt x="301" y="58"/>
                    </a:lnTo>
                    <a:lnTo>
                      <a:pt x="234" y="30"/>
                    </a:lnTo>
                    <a:lnTo>
                      <a:pt x="170" y="0"/>
                    </a:lnTo>
                    <a:lnTo>
                      <a:pt x="166" y="2"/>
                    </a:lnTo>
                    <a:lnTo>
                      <a:pt x="0" y="103"/>
                    </a:lnTo>
                    <a:lnTo>
                      <a:pt x="39" y="125"/>
                    </a:lnTo>
                    <a:lnTo>
                      <a:pt x="80" y="146"/>
                    </a:lnTo>
                    <a:lnTo>
                      <a:pt x="122" y="165"/>
                    </a:lnTo>
                    <a:lnTo>
                      <a:pt x="166" y="183"/>
                    </a:lnTo>
                    <a:lnTo>
                      <a:pt x="210" y="199"/>
                    </a:lnTo>
                    <a:lnTo>
                      <a:pt x="255" y="214"/>
                    </a:lnTo>
                    <a:lnTo>
                      <a:pt x="301" y="228"/>
                    </a:lnTo>
                    <a:lnTo>
                      <a:pt x="349" y="241"/>
                    </a:lnTo>
                    <a:lnTo>
                      <a:pt x="396" y="251"/>
                    </a:lnTo>
                    <a:lnTo>
                      <a:pt x="446" y="261"/>
                    </a:lnTo>
                    <a:lnTo>
                      <a:pt x="496" y="269"/>
                    </a:lnTo>
                    <a:lnTo>
                      <a:pt x="548" y="276"/>
                    </a:lnTo>
                    <a:lnTo>
                      <a:pt x="600" y="281"/>
                    </a:lnTo>
                    <a:lnTo>
                      <a:pt x="654" y="285"/>
                    </a:lnTo>
                    <a:lnTo>
                      <a:pt x="708" y="287"/>
                    </a:lnTo>
                    <a:lnTo>
                      <a:pt x="764" y="288"/>
                    </a:lnTo>
                    <a:lnTo>
                      <a:pt x="766" y="288"/>
                    </a:lnTo>
                    <a:lnTo>
                      <a:pt x="773" y="28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8" name="Freeform 1113"/>
              <p:cNvSpPr>
                <a:spLocks/>
              </p:cNvSpPr>
              <p:nvPr/>
            </p:nvSpPr>
            <p:spPr bwMode="auto">
              <a:xfrm>
                <a:off x="1153" y="1003"/>
                <a:ext cx="159" cy="190"/>
              </a:xfrm>
              <a:custGeom>
                <a:avLst/>
                <a:gdLst>
                  <a:gd name="T0" fmla="*/ 0 w 640"/>
                  <a:gd name="T1" fmla="*/ 0 h 758"/>
                  <a:gd name="T2" fmla="*/ 0 w 640"/>
                  <a:gd name="T3" fmla="*/ 0 h 758"/>
                  <a:gd name="T4" fmla="*/ 0 w 640"/>
                  <a:gd name="T5" fmla="*/ 0 h 758"/>
                  <a:gd name="T6" fmla="*/ 0 w 640"/>
                  <a:gd name="T7" fmla="*/ 0 h 758"/>
                  <a:gd name="T8" fmla="*/ 0 w 640"/>
                  <a:gd name="T9" fmla="*/ 0 h 758"/>
                  <a:gd name="T10" fmla="*/ 0 w 640"/>
                  <a:gd name="T11" fmla="*/ 0 h 758"/>
                  <a:gd name="T12" fmla="*/ 0 w 640"/>
                  <a:gd name="T13" fmla="*/ 0 h 758"/>
                  <a:gd name="T14" fmla="*/ 0 w 640"/>
                  <a:gd name="T15" fmla="*/ 0 h 758"/>
                  <a:gd name="T16" fmla="*/ 0 w 640"/>
                  <a:gd name="T17" fmla="*/ 0 h 758"/>
                  <a:gd name="T18" fmla="*/ 0 w 640"/>
                  <a:gd name="T19" fmla="*/ 0 h 758"/>
                  <a:gd name="T20" fmla="*/ 0 w 640"/>
                  <a:gd name="T21" fmla="*/ 0 h 758"/>
                  <a:gd name="T22" fmla="*/ 0 w 640"/>
                  <a:gd name="T23" fmla="*/ 0 h 758"/>
                  <a:gd name="T24" fmla="*/ 0 w 640"/>
                  <a:gd name="T25" fmla="*/ 0 h 758"/>
                  <a:gd name="T26" fmla="*/ 0 w 640"/>
                  <a:gd name="T27" fmla="*/ 0 h 758"/>
                  <a:gd name="T28" fmla="*/ 0 w 640"/>
                  <a:gd name="T29" fmla="*/ 0 h 758"/>
                  <a:gd name="T30" fmla="*/ 0 w 640"/>
                  <a:gd name="T31" fmla="*/ 0 h 758"/>
                  <a:gd name="T32" fmla="*/ 0 w 640"/>
                  <a:gd name="T33" fmla="*/ 0 h 758"/>
                  <a:gd name="T34" fmla="*/ 0 w 640"/>
                  <a:gd name="T35" fmla="*/ 0 h 758"/>
                  <a:gd name="T36" fmla="*/ 0 w 640"/>
                  <a:gd name="T37" fmla="*/ 0 h 758"/>
                  <a:gd name="T38" fmla="*/ 0 w 640"/>
                  <a:gd name="T39" fmla="*/ 0 h 758"/>
                  <a:gd name="T40" fmla="*/ 0 w 640"/>
                  <a:gd name="T41" fmla="*/ 0 h 758"/>
                  <a:gd name="T42" fmla="*/ 0 w 640"/>
                  <a:gd name="T43" fmla="*/ 0 h 758"/>
                  <a:gd name="T44" fmla="*/ 0 w 640"/>
                  <a:gd name="T45" fmla="*/ 0 h 758"/>
                  <a:gd name="T46" fmla="*/ 0 w 640"/>
                  <a:gd name="T47" fmla="*/ 0 h 758"/>
                  <a:gd name="T48" fmla="*/ 0 w 640"/>
                  <a:gd name="T49" fmla="*/ 0 h 758"/>
                  <a:gd name="T50" fmla="*/ 0 w 640"/>
                  <a:gd name="T51" fmla="*/ 0 h 758"/>
                  <a:gd name="T52" fmla="*/ 0 w 640"/>
                  <a:gd name="T53" fmla="*/ 0 h 758"/>
                  <a:gd name="T54" fmla="*/ 0 w 640"/>
                  <a:gd name="T55" fmla="*/ 0 h 758"/>
                  <a:gd name="T56" fmla="*/ 0 w 640"/>
                  <a:gd name="T57" fmla="*/ 0 h 758"/>
                  <a:gd name="T58" fmla="*/ 0 w 640"/>
                  <a:gd name="T59" fmla="*/ 0 h 758"/>
                  <a:gd name="T60" fmla="*/ 0 w 640"/>
                  <a:gd name="T61" fmla="*/ 0 h 758"/>
                  <a:gd name="T62" fmla="*/ 0 w 640"/>
                  <a:gd name="T63" fmla="*/ 0 h 758"/>
                  <a:gd name="T64" fmla="*/ 0 w 640"/>
                  <a:gd name="T65" fmla="*/ 0 h 758"/>
                  <a:gd name="T66" fmla="*/ 0 w 640"/>
                  <a:gd name="T67" fmla="*/ 0 h 758"/>
                  <a:gd name="T68" fmla="*/ 0 w 640"/>
                  <a:gd name="T69" fmla="*/ 0 h 758"/>
                  <a:gd name="T70" fmla="*/ 0 w 640"/>
                  <a:gd name="T71" fmla="*/ 0 h 758"/>
                  <a:gd name="T72" fmla="*/ 0 w 640"/>
                  <a:gd name="T73" fmla="*/ 0 h 758"/>
                  <a:gd name="T74" fmla="*/ 0 w 640"/>
                  <a:gd name="T75" fmla="*/ 0 h 758"/>
                  <a:gd name="T76" fmla="*/ 0 w 640"/>
                  <a:gd name="T77" fmla="*/ 0 h 758"/>
                  <a:gd name="T78" fmla="*/ 0 w 640"/>
                  <a:gd name="T79" fmla="*/ 0 h 758"/>
                  <a:gd name="T80" fmla="*/ 0 w 640"/>
                  <a:gd name="T81" fmla="*/ 0 h 758"/>
                  <a:gd name="T82" fmla="*/ 0 w 640"/>
                  <a:gd name="T83" fmla="*/ 0 h 7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640"/>
                  <a:gd name="T127" fmla="*/ 0 h 758"/>
                  <a:gd name="T128" fmla="*/ 640 w 640"/>
                  <a:gd name="T129" fmla="*/ 758 h 7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640" h="758">
                    <a:moveTo>
                      <a:pt x="238" y="703"/>
                    </a:moveTo>
                    <a:lnTo>
                      <a:pt x="248" y="627"/>
                    </a:lnTo>
                    <a:lnTo>
                      <a:pt x="255" y="588"/>
                    </a:lnTo>
                    <a:lnTo>
                      <a:pt x="265" y="550"/>
                    </a:lnTo>
                    <a:lnTo>
                      <a:pt x="277" y="513"/>
                    </a:lnTo>
                    <a:lnTo>
                      <a:pt x="292" y="477"/>
                    </a:lnTo>
                    <a:lnTo>
                      <a:pt x="309" y="441"/>
                    </a:lnTo>
                    <a:lnTo>
                      <a:pt x="328" y="406"/>
                    </a:lnTo>
                    <a:lnTo>
                      <a:pt x="349" y="371"/>
                    </a:lnTo>
                    <a:lnTo>
                      <a:pt x="373" y="338"/>
                    </a:lnTo>
                    <a:lnTo>
                      <a:pt x="398" y="304"/>
                    </a:lnTo>
                    <a:lnTo>
                      <a:pt x="426" y="272"/>
                    </a:lnTo>
                    <a:lnTo>
                      <a:pt x="455" y="240"/>
                    </a:lnTo>
                    <a:lnTo>
                      <a:pt x="488" y="209"/>
                    </a:lnTo>
                    <a:lnTo>
                      <a:pt x="522" y="178"/>
                    </a:lnTo>
                    <a:lnTo>
                      <a:pt x="559" y="148"/>
                    </a:lnTo>
                    <a:lnTo>
                      <a:pt x="598" y="118"/>
                    </a:lnTo>
                    <a:lnTo>
                      <a:pt x="640" y="90"/>
                    </a:lnTo>
                    <a:lnTo>
                      <a:pt x="477" y="0"/>
                    </a:ln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  <a:lnTo>
                      <a:pt x="236" y="758"/>
                    </a:lnTo>
                    <a:lnTo>
                      <a:pt x="238" y="708"/>
                    </a:lnTo>
                    <a:lnTo>
                      <a:pt x="238" y="70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79" name="Freeform 1114"/>
              <p:cNvSpPr>
                <a:spLocks/>
              </p:cNvSpPr>
              <p:nvPr/>
            </p:nvSpPr>
            <p:spPr bwMode="auto">
              <a:xfrm>
                <a:off x="1211" y="1026"/>
                <a:ext cx="140" cy="167"/>
              </a:xfrm>
              <a:custGeom>
                <a:avLst/>
                <a:gdLst>
                  <a:gd name="T0" fmla="*/ 0 w 556"/>
                  <a:gd name="T1" fmla="*/ 0 h 668"/>
                  <a:gd name="T2" fmla="*/ 0 w 556"/>
                  <a:gd name="T3" fmla="*/ 0 h 668"/>
                  <a:gd name="T4" fmla="*/ 0 w 556"/>
                  <a:gd name="T5" fmla="*/ 0 h 668"/>
                  <a:gd name="T6" fmla="*/ 0 w 556"/>
                  <a:gd name="T7" fmla="*/ 0 h 668"/>
                  <a:gd name="T8" fmla="*/ 0 w 556"/>
                  <a:gd name="T9" fmla="*/ 0 h 668"/>
                  <a:gd name="T10" fmla="*/ 0 w 556"/>
                  <a:gd name="T11" fmla="*/ 0 h 668"/>
                  <a:gd name="T12" fmla="*/ 0 w 556"/>
                  <a:gd name="T13" fmla="*/ 0 h 668"/>
                  <a:gd name="T14" fmla="*/ 0 w 556"/>
                  <a:gd name="T15" fmla="*/ 0 h 668"/>
                  <a:gd name="T16" fmla="*/ 0 w 556"/>
                  <a:gd name="T17" fmla="*/ 0 h 668"/>
                  <a:gd name="T18" fmla="*/ 0 w 556"/>
                  <a:gd name="T19" fmla="*/ 0 h 668"/>
                  <a:gd name="T20" fmla="*/ 0 w 556"/>
                  <a:gd name="T21" fmla="*/ 0 h 668"/>
                  <a:gd name="T22" fmla="*/ 0 w 556"/>
                  <a:gd name="T23" fmla="*/ 0 h 668"/>
                  <a:gd name="T24" fmla="*/ 0 w 556"/>
                  <a:gd name="T25" fmla="*/ 0 h 668"/>
                  <a:gd name="T26" fmla="*/ 0 w 556"/>
                  <a:gd name="T27" fmla="*/ 0 h 668"/>
                  <a:gd name="T28" fmla="*/ 0 w 556"/>
                  <a:gd name="T29" fmla="*/ 0 h 668"/>
                  <a:gd name="T30" fmla="*/ 0 w 556"/>
                  <a:gd name="T31" fmla="*/ 0 h 668"/>
                  <a:gd name="T32" fmla="*/ 0 w 556"/>
                  <a:gd name="T33" fmla="*/ 0 h 668"/>
                  <a:gd name="T34" fmla="*/ 0 w 556"/>
                  <a:gd name="T35" fmla="*/ 0 h 668"/>
                  <a:gd name="T36" fmla="*/ 0 w 556"/>
                  <a:gd name="T37" fmla="*/ 0 h 668"/>
                  <a:gd name="T38" fmla="*/ 0 w 556"/>
                  <a:gd name="T39" fmla="*/ 0 h 668"/>
                  <a:gd name="T40" fmla="*/ 0 w 556"/>
                  <a:gd name="T41" fmla="*/ 0 h 668"/>
                  <a:gd name="T42" fmla="*/ 0 w 556"/>
                  <a:gd name="T43" fmla="*/ 0 h 668"/>
                  <a:gd name="T44" fmla="*/ 0 w 556"/>
                  <a:gd name="T45" fmla="*/ 0 h 668"/>
                  <a:gd name="T46" fmla="*/ 0 w 556"/>
                  <a:gd name="T47" fmla="*/ 0 h 668"/>
                  <a:gd name="T48" fmla="*/ 0 w 556"/>
                  <a:gd name="T49" fmla="*/ 0 h 668"/>
                  <a:gd name="T50" fmla="*/ 0 w 556"/>
                  <a:gd name="T51" fmla="*/ 0 h 668"/>
                  <a:gd name="T52" fmla="*/ 0 w 556"/>
                  <a:gd name="T53" fmla="*/ 0 h 668"/>
                  <a:gd name="T54" fmla="*/ 0 w 556"/>
                  <a:gd name="T55" fmla="*/ 0 h 668"/>
                  <a:gd name="T56" fmla="*/ 0 w 556"/>
                  <a:gd name="T57" fmla="*/ 0 h 668"/>
                  <a:gd name="T58" fmla="*/ 0 w 556"/>
                  <a:gd name="T59" fmla="*/ 0 h 668"/>
                  <a:gd name="T60" fmla="*/ 0 w 556"/>
                  <a:gd name="T61" fmla="*/ 0 h 668"/>
                  <a:gd name="T62" fmla="*/ 0 w 556"/>
                  <a:gd name="T63" fmla="*/ 0 h 668"/>
                  <a:gd name="T64" fmla="*/ 0 w 556"/>
                  <a:gd name="T65" fmla="*/ 0 h 668"/>
                  <a:gd name="T66" fmla="*/ 0 w 556"/>
                  <a:gd name="T67" fmla="*/ 0 h 668"/>
                  <a:gd name="T68" fmla="*/ 0 w 556"/>
                  <a:gd name="T69" fmla="*/ 0 h 668"/>
                  <a:gd name="T70" fmla="*/ 0 w 556"/>
                  <a:gd name="T71" fmla="*/ 0 h 668"/>
                  <a:gd name="T72" fmla="*/ 0 w 556"/>
                  <a:gd name="T73" fmla="*/ 0 h 668"/>
                  <a:gd name="T74" fmla="*/ 0 w 556"/>
                  <a:gd name="T75" fmla="*/ 0 h 668"/>
                  <a:gd name="T76" fmla="*/ 0 w 556"/>
                  <a:gd name="T77" fmla="*/ 0 h 668"/>
                  <a:gd name="T78" fmla="*/ 0 w 556"/>
                  <a:gd name="T79" fmla="*/ 0 h 6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56"/>
                  <a:gd name="T121" fmla="*/ 0 h 668"/>
                  <a:gd name="T122" fmla="*/ 556 w 556"/>
                  <a:gd name="T123" fmla="*/ 668 h 668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56" h="668">
                    <a:moveTo>
                      <a:pt x="12" y="537"/>
                    </a:move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  <a:lnTo>
                      <a:pt x="220" y="668"/>
                    </a:lnTo>
                    <a:lnTo>
                      <a:pt x="219" y="640"/>
                    </a:lnTo>
                    <a:lnTo>
                      <a:pt x="220" y="615"/>
                    </a:lnTo>
                    <a:lnTo>
                      <a:pt x="220" y="613"/>
                    </a:lnTo>
                    <a:lnTo>
                      <a:pt x="223" y="574"/>
                    </a:lnTo>
                    <a:lnTo>
                      <a:pt x="230" y="537"/>
                    </a:lnTo>
                    <a:lnTo>
                      <a:pt x="235" y="504"/>
                    </a:lnTo>
                    <a:lnTo>
                      <a:pt x="244" y="472"/>
                    </a:lnTo>
                    <a:lnTo>
                      <a:pt x="267" y="411"/>
                    </a:lnTo>
                    <a:lnTo>
                      <a:pt x="296" y="352"/>
                    </a:lnTo>
                    <a:lnTo>
                      <a:pt x="313" y="323"/>
                    </a:lnTo>
                    <a:lnTo>
                      <a:pt x="334" y="295"/>
                    </a:lnTo>
                    <a:lnTo>
                      <a:pt x="355" y="267"/>
                    </a:lnTo>
                    <a:lnTo>
                      <a:pt x="378" y="240"/>
                    </a:lnTo>
                    <a:lnTo>
                      <a:pt x="403" y="213"/>
                    </a:lnTo>
                    <a:lnTo>
                      <a:pt x="430" y="187"/>
                    </a:lnTo>
                    <a:lnTo>
                      <a:pt x="489" y="136"/>
                    </a:lnTo>
                    <a:lnTo>
                      <a:pt x="521" y="111"/>
                    </a:lnTo>
                    <a:lnTo>
                      <a:pt x="556" y="88"/>
                    </a:lnTo>
                    <a:lnTo>
                      <a:pt x="404" y="0"/>
                    </a:ln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0" name="Freeform 1115"/>
              <p:cNvSpPr>
                <a:spLocks/>
              </p:cNvSpPr>
              <p:nvPr/>
            </p:nvSpPr>
            <p:spPr bwMode="auto">
              <a:xfrm>
                <a:off x="1324" y="1070"/>
                <a:ext cx="108" cy="123"/>
              </a:xfrm>
              <a:custGeom>
                <a:avLst/>
                <a:gdLst>
                  <a:gd name="T0" fmla="*/ 0 w 431"/>
                  <a:gd name="T1" fmla="*/ 0 h 490"/>
                  <a:gd name="T2" fmla="*/ 0 w 431"/>
                  <a:gd name="T3" fmla="*/ 0 h 490"/>
                  <a:gd name="T4" fmla="*/ 0 w 431"/>
                  <a:gd name="T5" fmla="*/ 0 h 490"/>
                  <a:gd name="T6" fmla="*/ 0 w 431"/>
                  <a:gd name="T7" fmla="*/ 0 h 490"/>
                  <a:gd name="T8" fmla="*/ 0 w 431"/>
                  <a:gd name="T9" fmla="*/ 0 h 490"/>
                  <a:gd name="T10" fmla="*/ 0 w 431"/>
                  <a:gd name="T11" fmla="*/ 0 h 490"/>
                  <a:gd name="T12" fmla="*/ 0 w 431"/>
                  <a:gd name="T13" fmla="*/ 0 h 490"/>
                  <a:gd name="T14" fmla="*/ 0 w 431"/>
                  <a:gd name="T15" fmla="*/ 0 h 490"/>
                  <a:gd name="T16" fmla="*/ 0 w 431"/>
                  <a:gd name="T17" fmla="*/ 0 h 490"/>
                  <a:gd name="T18" fmla="*/ 0 w 431"/>
                  <a:gd name="T19" fmla="*/ 0 h 490"/>
                  <a:gd name="T20" fmla="*/ 0 w 431"/>
                  <a:gd name="T21" fmla="*/ 0 h 490"/>
                  <a:gd name="T22" fmla="*/ 0 w 431"/>
                  <a:gd name="T23" fmla="*/ 0 h 490"/>
                  <a:gd name="T24" fmla="*/ 0 w 431"/>
                  <a:gd name="T25" fmla="*/ 0 h 490"/>
                  <a:gd name="T26" fmla="*/ 0 w 431"/>
                  <a:gd name="T27" fmla="*/ 0 h 490"/>
                  <a:gd name="T28" fmla="*/ 0 w 431"/>
                  <a:gd name="T29" fmla="*/ 0 h 490"/>
                  <a:gd name="T30" fmla="*/ 0 w 431"/>
                  <a:gd name="T31" fmla="*/ 0 h 490"/>
                  <a:gd name="T32" fmla="*/ 0 w 431"/>
                  <a:gd name="T33" fmla="*/ 0 h 490"/>
                  <a:gd name="T34" fmla="*/ 0 w 431"/>
                  <a:gd name="T35" fmla="*/ 0 h 490"/>
                  <a:gd name="T36" fmla="*/ 0 w 431"/>
                  <a:gd name="T37" fmla="*/ 0 h 490"/>
                  <a:gd name="T38" fmla="*/ 0 w 431"/>
                  <a:gd name="T39" fmla="*/ 0 h 490"/>
                  <a:gd name="T40" fmla="*/ 0 w 431"/>
                  <a:gd name="T41" fmla="*/ 0 h 490"/>
                  <a:gd name="T42" fmla="*/ 0 w 431"/>
                  <a:gd name="T43" fmla="*/ 0 h 490"/>
                  <a:gd name="T44" fmla="*/ 0 w 431"/>
                  <a:gd name="T45" fmla="*/ 0 h 490"/>
                  <a:gd name="T46" fmla="*/ 0 w 431"/>
                  <a:gd name="T47" fmla="*/ 0 h 490"/>
                  <a:gd name="T48" fmla="*/ 0 w 431"/>
                  <a:gd name="T49" fmla="*/ 0 h 490"/>
                  <a:gd name="T50" fmla="*/ 0 w 431"/>
                  <a:gd name="T51" fmla="*/ 0 h 490"/>
                  <a:gd name="T52" fmla="*/ 0 w 431"/>
                  <a:gd name="T53" fmla="*/ 0 h 490"/>
                  <a:gd name="T54" fmla="*/ 0 w 431"/>
                  <a:gd name="T55" fmla="*/ 0 h 490"/>
                  <a:gd name="T56" fmla="*/ 0 w 431"/>
                  <a:gd name="T57" fmla="*/ 0 h 490"/>
                  <a:gd name="T58" fmla="*/ 0 w 431"/>
                  <a:gd name="T59" fmla="*/ 0 h 49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31"/>
                  <a:gd name="T91" fmla="*/ 0 h 490"/>
                  <a:gd name="T92" fmla="*/ 431 w 431"/>
                  <a:gd name="T93" fmla="*/ 490 h 490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31" h="490">
                    <a:moveTo>
                      <a:pt x="1" y="432"/>
                    </a:moveTo>
                    <a:lnTo>
                      <a:pt x="1" y="435"/>
                    </a:lnTo>
                    <a:lnTo>
                      <a:pt x="0" y="462"/>
                    </a:lnTo>
                    <a:lnTo>
                      <a:pt x="2" y="490"/>
                    </a:lnTo>
                    <a:lnTo>
                      <a:pt x="236" y="490"/>
                    </a:lnTo>
                    <a:lnTo>
                      <a:pt x="233" y="462"/>
                    </a:lnTo>
                    <a:lnTo>
                      <a:pt x="234" y="435"/>
                    </a:lnTo>
                    <a:lnTo>
                      <a:pt x="234" y="430"/>
                    </a:lnTo>
                    <a:lnTo>
                      <a:pt x="236" y="394"/>
                    </a:lnTo>
                    <a:lnTo>
                      <a:pt x="238" y="376"/>
                    </a:lnTo>
                    <a:lnTo>
                      <a:pt x="243" y="359"/>
                    </a:lnTo>
                    <a:lnTo>
                      <a:pt x="251" y="321"/>
                    </a:lnTo>
                    <a:lnTo>
                      <a:pt x="265" y="285"/>
                    </a:lnTo>
                    <a:lnTo>
                      <a:pt x="283" y="250"/>
                    </a:lnTo>
                    <a:lnTo>
                      <a:pt x="305" y="217"/>
                    </a:lnTo>
                    <a:lnTo>
                      <a:pt x="329" y="184"/>
                    </a:lnTo>
                    <a:lnTo>
                      <a:pt x="359" y="153"/>
                    </a:lnTo>
                    <a:lnTo>
                      <a:pt x="393" y="122"/>
                    </a:lnTo>
                    <a:lnTo>
                      <a:pt x="431" y="93"/>
                    </a:lnTo>
                    <a:lnTo>
                      <a:pt x="267" y="0"/>
                    </a:lnTo>
                    <a:lnTo>
                      <a:pt x="214" y="38"/>
                    </a:lnTo>
                    <a:lnTo>
                      <a:pt x="168" y="79"/>
                    </a:lnTo>
                    <a:lnTo>
                      <a:pt x="127" y="121"/>
                    </a:lnTo>
                    <a:lnTo>
                      <a:pt x="92" y="166"/>
                    </a:lnTo>
                    <a:lnTo>
                      <a:pt x="62" y="211"/>
                    </a:lnTo>
                    <a:lnTo>
                      <a:pt x="39" y="259"/>
                    </a:lnTo>
                    <a:lnTo>
                      <a:pt x="20" y="308"/>
                    </a:lnTo>
                    <a:lnTo>
                      <a:pt x="9" y="359"/>
                    </a:lnTo>
                    <a:lnTo>
                      <a:pt x="3" y="395"/>
                    </a:lnTo>
                    <a:lnTo>
                      <a:pt x="1" y="4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1" name="Freeform 1116"/>
              <p:cNvSpPr>
                <a:spLocks/>
              </p:cNvSpPr>
              <p:nvPr/>
            </p:nvSpPr>
            <p:spPr bwMode="auto">
              <a:xfrm>
                <a:off x="1266" y="1047"/>
                <a:ext cx="125" cy="146"/>
              </a:xfrm>
              <a:custGeom>
                <a:avLst/>
                <a:gdLst>
                  <a:gd name="T0" fmla="*/ 0 w 499"/>
                  <a:gd name="T1" fmla="*/ 0 h 582"/>
                  <a:gd name="T2" fmla="*/ 0 w 499"/>
                  <a:gd name="T3" fmla="*/ 0 h 582"/>
                  <a:gd name="T4" fmla="*/ 0 w 499"/>
                  <a:gd name="T5" fmla="*/ 0 h 582"/>
                  <a:gd name="T6" fmla="*/ 0 w 499"/>
                  <a:gd name="T7" fmla="*/ 0 h 582"/>
                  <a:gd name="T8" fmla="*/ 0 w 499"/>
                  <a:gd name="T9" fmla="*/ 0 h 582"/>
                  <a:gd name="T10" fmla="*/ 0 w 499"/>
                  <a:gd name="T11" fmla="*/ 0 h 582"/>
                  <a:gd name="T12" fmla="*/ 0 w 499"/>
                  <a:gd name="T13" fmla="*/ 0 h 582"/>
                  <a:gd name="T14" fmla="*/ 0 w 499"/>
                  <a:gd name="T15" fmla="*/ 0 h 582"/>
                  <a:gd name="T16" fmla="*/ 0 w 499"/>
                  <a:gd name="T17" fmla="*/ 0 h 582"/>
                  <a:gd name="T18" fmla="*/ 0 w 499"/>
                  <a:gd name="T19" fmla="*/ 0 h 582"/>
                  <a:gd name="T20" fmla="*/ 0 w 499"/>
                  <a:gd name="T21" fmla="*/ 0 h 582"/>
                  <a:gd name="T22" fmla="*/ 0 w 499"/>
                  <a:gd name="T23" fmla="*/ 0 h 582"/>
                  <a:gd name="T24" fmla="*/ 0 w 499"/>
                  <a:gd name="T25" fmla="*/ 0 h 582"/>
                  <a:gd name="T26" fmla="*/ 0 w 499"/>
                  <a:gd name="T27" fmla="*/ 0 h 582"/>
                  <a:gd name="T28" fmla="*/ 0 w 499"/>
                  <a:gd name="T29" fmla="*/ 0 h 582"/>
                  <a:gd name="T30" fmla="*/ 0 w 499"/>
                  <a:gd name="T31" fmla="*/ 0 h 582"/>
                  <a:gd name="T32" fmla="*/ 0 w 499"/>
                  <a:gd name="T33" fmla="*/ 0 h 582"/>
                  <a:gd name="T34" fmla="*/ 0 w 499"/>
                  <a:gd name="T35" fmla="*/ 0 h 582"/>
                  <a:gd name="T36" fmla="*/ 0 w 499"/>
                  <a:gd name="T37" fmla="*/ 0 h 582"/>
                  <a:gd name="T38" fmla="*/ 0 w 499"/>
                  <a:gd name="T39" fmla="*/ 0 h 582"/>
                  <a:gd name="T40" fmla="*/ 0 w 499"/>
                  <a:gd name="T41" fmla="*/ 0 h 582"/>
                  <a:gd name="T42" fmla="*/ 0 w 499"/>
                  <a:gd name="T43" fmla="*/ 0 h 582"/>
                  <a:gd name="T44" fmla="*/ 0 w 499"/>
                  <a:gd name="T45" fmla="*/ 0 h 582"/>
                  <a:gd name="T46" fmla="*/ 0 w 499"/>
                  <a:gd name="T47" fmla="*/ 0 h 582"/>
                  <a:gd name="T48" fmla="*/ 0 w 499"/>
                  <a:gd name="T49" fmla="*/ 0 h 582"/>
                  <a:gd name="T50" fmla="*/ 0 w 499"/>
                  <a:gd name="T51" fmla="*/ 0 h 582"/>
                  <a:gd name="T52" fmla="*/ 0 w 499"/>
                  <a:gd name="T53" fmla="*/ 0 h 582"/>
                  <a:gd name="T54" fmla="*/ 0 w 499"/>
                  <a:gd name="T55" fmla="*/ 0 h 582"/>
                  <a:gd name="T56" fmla="*/ 0 w 499"/>
                  <a:gd name="T57" fmla="*/ 0 h 582"/>
                  <a:gd name="T58" fmla="*/ 0 w 499"/>
                  <a:gd name="T59" fmla="*/ 0 h 582"/>
                  <a:gd name="T60" fmla="*/ 0 w 499"/>
                  <a:gd name="T61" fmla="*/ 0 h 582"/>
                  <a:gd name="T62" fmla="*/ 0 w 499"/>
                  <a:gd name="T63" fmla="*/ 0 h 582"/>
                  <a:gd name="T64" fmla="*/ 0 w 499"/>
                  <a:gd name="T65" fmla="*/ 0 h 582"/>
                  <a:gd name="T66" fmla="*/ 0 w 499"/>
                  <a:gd name="T67" fmla="*/ 0 h 582"/>
                  <a:gd name="T68" fmla="*/ 0 w 499"/>
                  <a:gd name="T69" fmla="*/ 0 h 582"/>
                  <a:gd name="T70" fmla="*/ 0 w 499"/>
                  <a:gd name="T71" fmla="*/ 0 h 5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499"/>
                  <a:gd name="T109" fmla="*/ 0 h 582"/>
                  <a:gd name="T110" fmla="*/ 499 w 499"/>
                  <a:gd name="T111" fmla="*/ 582 h 5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499" h="582">
                    <a:moveTo>
                      <a:pt x="233" y="527"/>
                    </a:moveTo>
                    <a:lnTo>
                      <a:pt x="233" y="524"/>
                    </a:lnTo>
                    <a:lnTo>
                      <a:pt x="235" y="487"/>
                    </a:lnTo>
                    <a:lnTo>
                      <a:pt x="241" y="451"/>
                    </a:lnTo>
                    <a:lnTo>
                      <a:pt x="252" y="400"/>
                    </a:lnTo>
                    <a:lnTo>
                      <a:pt x="271" y="351"/>
                    </a:lnTo>
                    <a:lnTo>
                      <a:pt x="294" y="303"/>
                    </a:lnTo>
                    <a:lnTo>
                      <a:pt x="324" y="258"/>
                    </a:lnTo>
                    <a:lnTo>
                      <a:pt x="359" y="213"/>
                    </a:lnTo>
                    <a:lnTo>
                      <a:pt x="400" y="171"/>
                    </a:lnTo>
                    <a:lnTo>
                      <a:pt x="446" y="130"/>
                    </a:lnTo>
                    <a:lnTo>
                      <a:pt x="499" y="92"/>
                    </a:lnTo>
                    <a:lnTo>
                      <a:pt x="337" y="2"/>
                    </a:lnTo>
                    <a:lnTo>
                      <a:pt x="337" y="0"/>
                    </a:lnTo>
                    <a:lnTo>
                      <a:pt x="337" y="2"/>
                    </a:lnTo>
                    <a:lnTo>
                      <a:pt x="302" y="25"/>
                    </a:lnTo>
                    <a:lnTo>
                      <a:pt x="270" y="50"/>
                    </a:lnTo>
                    <a:lnTo>
                      <a:pt x="211" y="101"/>
                    </a:lnTo>
                    <a:lnTo>
                      <a:pt x="184" y="127"/>
                    </a:lnTo>
                    <a:lnTo>
                      <a:pt x="159" y="154"/>
                    </a:lnTo>
                    <a:lnTo>
                      <a:pt x="136" y="181"/>
                    </a:lnTo>
                    <a:lnTo>
                      <a:pt x="115" y="209"/>
                    </a:lnTo>
                    <a:lnTo>
                      <a:pt x="94" y="237"/>
                    </a:lnTo>
                    <a:lnTo>
                      <a:pt x="77" y="266"/>
                    </a:lnTo>
                    <a:lnTo>
                      <a:pt x="48" y="325"/>
                    </a:lnTo>
                    <a:lnTo>
                      <a:pt x="25" y="386"/>
                    </a:lnTo>
                    <a:lnTo>
                      <a:pt x="16" y="418"/>
                    </a:lnTo>
                    <a:lnTo>
                      <a:pt x="11" y="451"/>
                    </a:lnTo>
                    <a:lnTo>
                      <a:pt x="4" y="488"/>
                    </a:lnTo>
                    <a:lnTo>
                      <a:pt x="1" y="527"/>
                    </a:lnTo>
                    <a:lnTo>
                      <a:pt x="1" y="529"/>
                    </a:lnTo>
                    <a:lnTo>
                      <a:pt x="0" y="554"/>
                    </a:lnTo>
                    <a:lnTo>
                      <a:pt x="1" y="582"/>
                    </a:lnTo>
                    <a:lnTo>
                      <a:pt x="234" y="582"/>
                    </a:lnTo>
                    <a:lnTo>
                      <a:pt x="232" y="554"/>
                    </a:lnTo>
                    <a:lnTo>
                      <a:pt x="233" y="52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2" name="Freeform 1117"/>
              <p:cNvSpPr>
                <a:spLocks/>
              </p:cNvSpPr>
              <p:nvPr/>
            </p:nvSpPr>
            <p:spPr bwMode="auto">
              <a:xfrm>
                <a:off x="1456" y="1285"/>
                <a:ext cx="1" cy="1"/>
              </a:xfrm>
              <a:custGeom>
                <a:avLst/>
                <a:gdLst>
                  <a:gd name="T0" fmla="*/ 0 w 5"/>
                  <a:gd name="T1" fmla="*/ 0 h 5"/>
                  <a:gd name="T2" fmla="*/ 0 w 5"/>
                  <a:gd name="T3" fmla="*/ 0 h 5"/>
                  <a:gd name="T4" fmla="*/ 0 w 5"/>
                  <a:gd name="T5" fmla="*/ 0 h 5"/>
                  <a:gd name="T6" fmla="*/ 0 w 5"/>
                  <a:gd name="T7" fmla="*/ 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1" y="5"/>
                    </a:moveTo>
                    <a:lnTo>
                      <a:pt x="5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3" name="Freeform 1118"/>
              <p:cNvSpPr>
                <a:spLocks/>
              </p:cNvSpPr>
              <p:nvPr/>
            </p:nvSpPr>
            <p:spPr bwMode="auto">
              <a:xfrm>
                <a:off x="1325" y="1193"/>
                <a:ext cx="131" cy="119"/>
              </a:xfrm>
              <a:custGeom>
                <a:avLst/>
                <a:gdLst>
                  <a:gd name="T0" fmla="*/ 0 w 525"/>
                  <a:gd name="T1" fmla="*/ 0 h 476"/>
                  <a:gd name="T2" fmla="*/ 0 w 525"/>
                  <a:gd name="T3" fmla="*/ 0 h 476"/>
                  <a:gd name="T4" fmla="*/ 0 w 525"/>
                  <a:gd name="T5" fmla="*/ 0 h 476"/>
                  <a:gd name="T6" fmla="*/ 0 w 525"/>
                  <a:gd name="T7" fmla="*/ 0 h 476"/>
                  <a:gd name="T8" fmla="*/ 0 w 525"/>
                  <a:gd name="T9" fmla="*/ 0 h 476"/>
                  <a:gd name="T10" fmla="*/ 0 w 525"/>
                  <a:gd name="T11" fmla="*/ 0 h 476"/>
                  <a:gd name="T12" fmla="*/ 0 w 525"/>
                  <a:gd name="T13" fmla="*/ 0 h 476"/>
                  <a:gd name="T14" fmla="*/ 0 w 525"/>
                  <a:gd name="T15" fmla="*/ 0 h 476"/>
                  <a:gd name="T16" fmla="*/ 0 w 525"/>
                  <a:gd name="T17" fmla="*/ 0 h 476"/>
                  <a:gd name="T18" fmla="*/ 0 w 525"/>
                  <a:gd name="T19" fmla="*/ 0 h 476"/>
                  <a:gd name="T20" fmla="*/ 0 w 525"/>
                  <a:gd name="T21" fmla="*/ 0 h 476"/>
                  <a:gd name="T22" fmla="*/ 0 w 525"/>
                  <a:gd name="T23" fmla="*/ 0 h 476"/>
                  <a:gd name="T24" fmla="*/ 0 w 525"/>
                  <a:gd name="T25" fmla="*/ 0 h 476"/>
                  <a:gd name="T26" fmla="*/ 0 w 525"/>
                  <a:gd name="T27" fmla="*/ 0 h 476"/>
                  <a:gd name="T28" fmla="*/ 0 w 525"/>
                  <a:gd name="T29" fmla="*/ 0 h 476"/>
                  <a:gd name="T30" fmla="*/ 0 w 525"/>
                  <a:gd name="T31" fmla="*/ 0 h 476"/>
                  <a:gd name="T32" fmla="*/ 0 w 525"/>
                  <a:gd name="T33" fmla="*/ 0 h 476"/>
                  <a:gd name="T34" fmla="*/ 0 w 525"/>
                  <a:gd name="T35" fmla="*/ 0 h 476"/>
                  <a:gd name="T36" fmla="*/ 0 w 525"/>
                  <a:gd name="T37" fmla="*/ 0 h 476"/>
                  <a:gd name="T38" fmla="*/ 0 w 525"/>
                  <a:gd name="T39" fmla="*/ 0 h 476"/>
                  <a:gd name="T40" fmla="*/ 0 w 525"/>
                  <a:gd name="T41" fmla="*/ 0 h 476"/>
                  <a:gd name="T42" fmla="*/ 0 w 525"/>
                  <a:gd name="T43" fmla="*/ 0 h 476"/>
                  <a:gd name="T44" fmla="*/ 0 w 525"/>
                  <a:gd name="T45" fmla="*/ 0 h 476"/>
                  <a:gd name="T46" fmla="*/ 0 w 525"/>
                  <a:gd name="T47" fmla="*/ 0 h 476"/>
                  <a:gd name="T48" fmla="*/ 0 w 525"/>
                  <a:gd name="T49" fmla="*/ 0 h 476"/>
                  <a:gd name="T50" fmla="*/ 0 w 525"/>
                  <a:gd name="T51" fmla="*/ 0 h 476"/>
                  <a:gd name="T52" fmla="*/ 0 w 525"/>
                  <a:gd name="T53" fmla="*/ 0 h 476"/>
                  <a:gd name="T54" fmla="*/ 0 w 525"/>
                  <a:gd name="T55" fmla="*/ 0 h 476"/>
                  <a:gd name="T56" fmla="*/ 0 w 525"/>
                  <a:gd name="T57" fmla="*/ 0 h 476"/>
                  <a:gd name="T58" fmla="*/ 0 w 525"/>
                  <a:gd name="T59" fmla="*/ 0 h 476"/>
                  <a:gd name="T60" fmla="*/ 0 w 525"/>
                  <a:gd name="T61" fmla="*/ 0 h 476"/>
                  <a:gd name="T62" fmla="*/ 0 w 525"/>
                  <a:gd name="T63" fmla="*/ 0 h 476"/>
                  <a:gd name="T64" fmla="*/ 0 w 525"/>
                  <a:gd name="T65" fmla="*/ 0 h 476"/>
                  <a:gd name="T66" fmla="*/ 0 w 525"/>
                  <a:gd name="T67" fmla="*/ 0 h 4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5"/>
                  <a:gd name="T103" fmla="*/ 0 h 476"/>
                  <a:gd name="T104" fmla="*/ 525 w 525"/>
                  <a:gd name="T105" fmla="*/ 476 h 4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5" h="476">
                    <a:moveTo>
                      <a:pt x="525" y="375"/>
                    </a:moveTo>
                    <a:lnTo>
                      <a:pt x="524" y="370"/>
                    </a:lnTo>
                    <a:lnTo>
                      <a:pt x="441" y="310"/>
                    </a:lnTo>
                    <a:lnTo>
                      <a:pt x="422" y="296"/>
                    </a:lnTo>
                    <a:lnTo>
                      <a:pt x="405" y="282"/>
                    </a:lnTo>
                    <a:lnTo>
                      <a:pt x="388" y="268"/>
                    </a:lnTo>
                    <a:lnTo>
                      <a:pt x="373" y="255"/>
                    </a:lnTo>
                    <a:lnTo>
                      <a:pt x="344" y="226"/>
                    </a:lnTo>
                    <a:lnTo>
                      <a:pt x="319" y="198"/>
                    </a:lnTo>
                    <a:lnTo>
                      <a:pt x="296" y="168"/>
                    </a:lnTo>
                    <a:lnTo>
                      <a:pt x="278" y="138"/>
                    </a:lnTo>
                    <a:lnTo>
                      <a:pt x="262" y="106"/>
                    </a:lnTo>
                    <a:lnTo>
                      <a:pt x="251" y="75"/>
                    </a:lnTo>
                    <a:lnTo>
                      <a:pt x="239" y="37"/>
                    </a:lnTo>
                    <a:lnTo>
                      <a:pt x="235" y="18"/>
                    </a:lnTo>
                    <a:lnTo>
                      <a:pt x="234" y="0"/>
                    </a:lnTo>
                    <a:lnTo>
                      <a:pt x="0" y="0"/>
                    </a:ln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  <a:lnTo>
                      <a:pt x="525" y="3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4" name="Freeform 1119"/>
              <p:cNvSpPr>
                <a:spLocks/>
              </p:cNvSpPr>
              <p:nvPr/>
            </p:nvSpPr>
            <p:spPr bwMode="auto">
              <a:xfrm>
                <a:off x="1266" y="1193"/>
                <a:ext cx="149" cy="146"/>
              </a:xfrm>
              <a:custGeom>
                <a:avLst/>
                <a:gdLst>
                  <a:gd name="T0" fmla="*/ 0 w 592"/>
                  <a:gd name="T1" fmla="*/ 0 h 586"/>
                  <a:gd name="T2" fmla="*/ 0 w 592"/>
                  <a:gd name="T3" fmla="*/ 0 h 586"/>
                  <a:gd name="T4" fmla="*/ 0 w 592"/>
                  <a:gd name="T5" fmla="*/ 0 h 586"/>
                  <a:gd name="T6" fmla="*/ 0 w 592"/>
                  <a:gd name="T7" fmla="*/ 0 h 586"/>
                  <a:gd name="T8" fmla="*/ 0 w 592"/>
                  <a:gd name="T9" fmla="*/ 0 h 586"/>
                  <a:gd name="T10" fmla="*/ 0 w 592"/>
                  <a:gd name="T11" fmla="*/ 0 h 586"/>
                  <a:gd name="T12" fmla="*/ 0 w 592"/>
                  <a:gd name="T13" fmla="*/ 0 h 586"/>
                  <a:gd name="T14" fmla="*/ 0 w 592"/>
                  <a:gd name="T15" fmla="*/ 0 h 586"/>
                  <a:gd name="T16" fmla="*/ 0 w 592"/>
                  <a:gd name="T17" fmla="*/ 0 h 586"/>
                  <a:gd name="T18" fmla="*/ 0 w 592"/>
                  <a:gd name="T19" fmla="*/ 0 h 586"/>
                  <a:gd name="T20" fmla="*/ 0 w 592"/>
                  <a:gd name="T21" fmla="*/ 0 h 586"/>
                  <a:gd name="T22" fmla="*/ 0 w 592"/>
                  <a:gd name="T23" fmla="*/ 0 h 586"/>
                  <a:gd name="T24" fmla="*/ 0 w 592"/>
                  <a:gd name="T25" fmla="*/ 0 h 586"/>
                  <a:gd name="T26" fmla="*/ 0 w 592"/>
                  <a:gd name="T27" fmla="*/ 0 h 586"/>
                  <a:gd name="T28" fmla="*/ 0 w 592"/>
                  <a:gd name="T29" fmla="*/ 0 h 586"/>
                  <a:gd name="T30" fmla="*/ 0 w 592"/>
                  <a:gd name="T31" fmla="*/ 0 h 586"/>
                  <a:gd name="T32" fmla="*/ 0 w 592"/>
                  <a:gd name="T33" fmla="*/ 0 h 586"/>
                  <a:gd name="T34" fmla="*/ 0 w 592"/>
                  <a:gd name="T35" fmla="*/ 0 h 586"/>
                  <a:gd name="T36" fmla="*/ 0 w 592"/>
                  <a:gd name="T37" fmla="*/ 0 h 586"/>
                  <a:gd name="T38" fmla="*/ 0 w 592"/>
                  <a:gd name="T39" fmla="*/ 0 h 586"/>
                  <a:gd name="T40" fmla="*/ 0 w 592"/>
                  <a:gd name="T41" fmla="*/ 0 h 586"/>
                  <a:gd name="T42" fmla="*/ 0 w 592"/>
                  <a:gd name="T43" fmla="*/ 0 h 586"/>
                  <a:gd name="T44" fmla="*/ 0 w 592"/>
                  <a:gd name="T45" fmla="*/ 0 h 586"/>
                  <a:gd name="T46" fmla="*/ 0 w 592"/>
                  <a:gd name="T47" fmla="*/ 0 h 586"/>
                  <a:gd name="T48" fmla="*/ 0 w 592"/>
                  <a:gd name="T49" fmla="*/ 0 h 586"/>
                  <a:gd name="T50" fmla="*/ 0 w 592"/>
                  <a:gd name="T51" fmla="*/ 0 h 586"/>
                  <a:gd name="T52" fmla="*/ 0 w 592"/>
                  <a:gd name="T53" fmla="*/ 0 h 586"/>
                  <a:gd name="T54" fmla="*/ 0 w 592"/>
                  <a:gd name="T55" fmla="*/ 0 h 586"/>
                  <a:gd name="T56" fmla="*/ 0 w 592"/>
                  <a:gd name="T57" fmla="*/ 0 h 586"/>
                  <a:gd name="T58" fmla="*/ 0 w 592"/>
                  <a:gd name="T59" fmla="*/ 0 h 586"/>
                  <a:gd name="T60" fmla="*/ 0 w 592"/>
                  <a:gd name="T61" fmla="*/ 0 h 586"/>
                  <a:gd name="T62" fmla="*/ 0 w 592"/>
                  <a:gd name="T63" fmla="*/ 0 h 586"/>
                  <a:gd name="T64" fmla="*/ 0 w 592"/>
                  <a:gd name="T65" fmla="*/ 0 h 586"/>
                  <a:gd name="T66" fmla="*/ 0 w 592"/>
                  <a:gd name="T67" fmla="*/ 0 h 586"/>
                  <a:gd name="T68" fmla="*/ 0 w 592"/>
                  <a:gd name="T69" fmla="*/ 0 h 586"/>
                  <a:gd name="T70" fmla="*/ 0 w 592"/>
                  <a:gd name="T71" fmla="*/ 0 h 586"/>
                  <a:gd name="T72" fmla="*/ 0 w 592"/>
                  <a:gd name="T73" fmla="*/ 0 h 586"/>
                  <a:gd name="T74" fmla="*/ 0 w 592"/>
                  <a:gd name="T75" fmla="*/ 0 h 586"/>
                  <a:gd name="T76" fmla="*/ 0 w 592"/>
                  <a:gd name="T77" fmla="*/ 0 h 586"/>
                  <a:gd name="T78" fmla="*/ 0 w 592"/>
                  <a:gd name="T79" fmla="*/ 0 h 5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592"/>
                  <a:gd name="T121" fmla="*/ 0 h 586"/>
                  <a:gd name="T122" fmla="*/ 592 w 592"/>
                  <a:gd name="T123" fmla="*/ 586 h 58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592" h="586">
                    <a:moveTo>
                      <a:pt x="347" y="543"/>
                    </a:moveTo>
                    <a:lnTo>
                      <a:pt x="377" y="563"/>
                    </a:lnTo>
                    <a:lnTo>
                      <a:pt x="395" y="575"/>
                    </a:lnTo>
                    <a:lnTo>
                      <a:pt x="413" y="586"/>
                    </a:lnTo>
                    <a:lnTo>
                      <a:pt x="592" y="476"/>
                    </a:lnTo>
                    <a:lnTo>
                      <a:pt x="573" y="465"/>
                    </a:lnTo>
                    <a:lnTo>
                      <a:pt x="547" y="448"/>
                    </a:lnTo>
                    <a:lnTo>
                      <a:pt x="542" y="448"/>
                    </a:lnTo>
                    <a:lnTo>
                      <a:pt x="499" y="418"/>
                    </a:lnTo>
                    <a:lnTo>
                      <a:pt x="472" y="398"/>
                    </a:lnTo>
                    <a:lnTo>
                      <a:pt x="448" y="379"/>
                    </a:lnTo>
                    <a:lnTo>
                      <a:pt x="404" y="339"/>
                    </a:lnTo>
                    <a:lnTo>
                      <a:pt x="383" y="318"/>
                    </a:lnTo>
                    <a:lnTo>
                      <a:pt x="364" y="298"/>
                    </a:lnTo>
                    <a:lnTo>
                      <a:pt x="330" y="255"/>
                    </a:lnTo>
                    <a:lnTo>
                      <a:pt x="300" y="211"/>
                    </a:lnTo>
                    <a:lnTo>
                      <a:pt x="276" y="167"/>
                    </a:lnTo>
                    <a:lnTo>
                      <a:pt x="257" y="121"/>
                    </a:lnTo>
                    <a:lnTo>
                      <a:pt x="244" y="75"/>
                    </a:lnTo>
                    <a:lnTo>
                      <a:pt x="236" y="37"/>
                    </a:lnTo>
                    <a:lnTo>
                      <a:pt x="233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7" y="75"/>
                    </a:lnTo>
                    <a:lnTo>
                      <a:pt x="12" y="106"/>
                    </a:lnTo>
                    <a:lnTo>
                      <a:pt x="21" y="138"/>
                    </a:lnTo>
                    <a:lnTo>
                      <a:pt x="30" y="169"/>
                    </a:lnTo>
                    <a:lnTo>
                      <a:pt x="43" y="201"/>
                    </a:lnTo>
                    <a:lnTo>
                      <a:pt x="56" y="231"/>
                    </a:lnTo>
                    <a:lnTo>
                      <a:pt x="73" y="262"/>
                    </a:lnTo>
                    <a:lnTo>
                      <a:pt x="92" y="293"/>
                    </a:lnTo>
                    <a:lnTo>
                      <a:pt x="113" y="323"/>
                    </a:lnTo>
                    <a:lnTo>
                      <a:pt x="134" y="351"/>
                    </a:lnTo>
                    <a:lnTo>
                      <a:pt x="159" y="380"/>
                    </a:lnTo>
                    <a:lnTo>
                      <a:pt x="184" y="408"/>
                    </a:lnTo>
                    <a:lnTo>
                      <a:pt x="213" y="436"/>
                    </a:lnTo>
                    <a:lnTo>
                      <a:pt x="242" y="462"/>
                    </a:lnTo>
                    <a:lnTo>
                      <a:pt x="275" y="490"/>
                    </a:lnTo>
                    <a:lnTo>
                      <a:pt x="310" y="516"/>
                    </a:lnTo>
                    <a:lnTo>
                      <a:pt x="347" y="54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5" name="Freeform 1120"/>
              <p:cNvSpPr>
                <a:spLocks/>
              </p:cNvSpPr>
              <p:nvPr/>
            </p:nvSpPr>
            <p:spPr bwMode="auto">
              <a:xfrm>
                <a:off x="1211" y="1193"/>
                <a:ext cx="159" cy="172"/>
              </a:xfrm>
              <a:custGeom>
                <a:avLst/>
                <a:gdLst>
                  <a:gd name="T0" fmla="*/ 0 w 633"/>
                  <a:gd name="T1" fmla="*/ 0 h 689"/>
                  <a:gd name="T2" fmla="*/ 0 w 633"/>
                  <a:gd name="T3" fmla="*/ 0 h 689"/>
                  <a:gd name="T4" fmla="*/ 0 w 633"/>
                  <a:gd name="T5" fmla="*/ 0 h 689"/>
                  <a:gd name="T6" fmla="*/ 0 w 633"/>
                  <a:gd name="T7" fmla="*/ 0 h 689"/>
                  <a:gd name="T8" fmla="*/ 0 w 633"/>
                  <a:gd name="T9" fmla="*/ 0 h 689"/>
                  <a:gd name="T10" fmla="*/ 0 w 633"/>
                  <a:gd name="T11" fmla="*/ 0 h 689"/>
                  <a:gd name="T12" fmla="*/ 0 w 633"/>
                  <a:gd name="T13" fmla="*/ 0 h 689"/>
                  <a:gd name="T14" fmla="*/ 0 w 633"/>
                  <a:gd name="T15" fmla="*/ 0 h 689"/>
                  <a:gd name="T16" fmla="*/ 0 w 633"/>
                  <a:gd name="T17" fmla="*/ 0 h 689"/>
                  <a:gd name="T18" fmla="*/ 0 w 633"/>
                  <a:gd name="T19" fmla="*/ 0 h 689"/>
                  <a:gd name="T20" fmla="*/ 0 w 633"/>
                  <a:gd name="T21" fmla="*/ 0 h 689"/>
                  <a:gd name="T22" fmla="*/ 0 w 633"/>
                  <a:gd name="T23" fmla="*/ 0 h 689"/>
                  <a:gd name="T24" fmla="*/ 0 w 633"/>
                  <a:gd name="T25" fmla="*/ 0 h 689"/>
                  <a:gd name="T26" fmla="*/ 0 w 633"/>
                  <a:gd name="T27" fmla="*/ 0 h 689"/>
                  <a:gd name="T28" fmla="*/ 0 w 633"/>
                  <a:gd name="T29" fmla="*/ 0 h 689"/>
                  <a:gd name="T30" fmla="*/ 0 w 633"/>
                  <a:gd name="T31" fmla="*/ 0 h 689"/>
                  <a:gd name="T32" fmla="*/ 0 w 633"/>
                  <a:gd name="T33" fmla="*/ 0 h 689"/>
                  <a:gd name="T34" fmla="*/ 0 w 633"/>
                  <a:gd name="T35" fmla="*/ 0 h 689"/>
                  <a:gd name="T36" fmla="*/ 0 w 633"/>
                  <a:gd name="T37" fmla="*/ 0 h 689"/>
                  <a:gd name="T38" fmla="*/ 0 w 633"/>
                  <a:gd name="T39" fmla="*/ 0 h 689"/>
                  <a:gd name="T40" fmla="*/ 0 w 633"/>
                  <a:gd name="T41" fmla="*/ 0 h 689"/>
                  <a:gd name="T42" fmla="*/ 0 w 633"/>
                  <a:gd name="T43" fmla="*/ 0 h 689"/>
                  <a:gd name="T44" fmla="*/ 0 w 633"/>
                  <a:gd name="T45" fmla="*/ 0 h 689"/>
                  <a:gd name="T46" fmla="*/ 0 w 633"/>
                  <a:gd name="T47" fmla="*/ 0 h 689"/>
                  <a:gd name="T48" fmla="*/ 0 w 633"/>
                  <a:gd name="T49" fmla="*/ 0 h 689"/>
                  <a:gd name="T50" fmla="*/ 0 w 633"/>
                  <a:gd name="T51" fmla="*/ 0 h 689"/>
                  <a:gd name="T52" fmla="*/ 0 w 633"/>
                  <a:gd name="T53" fmla="*/ 0 h 689"/>
                  <a:gd name="T54" fmla="*/ 0 w 633"/>
                  <a:gd name="T55" fmla="*/ 0 h 689"/>
                  <a:gd name="T56" fmla="*/ 0 w 633"/>
                  <a:gd name="T57" fmla="*/ 0 h 689"/>
                  <a:gd name="T58" fmla="*/ 0 w 633"/>
                  <a:gd name="T59" fmla="*/ 0 h 689"/>
                  <a:gd name="T60" fmla="*/ 0 w 633"/>
                  <a:gd name="T61" fmla="*/ 0 h 689"/>
                  <a:gd name="T62" fmla="*/ 0 w 633"/>
                  <a:gd name="T63" fmla="*/ 0 h 689"/>
                  <a:gd name="T64" fmla="*/ 0 w 633"/>
                  <a:gd name="T65" fmla="*/ 0 h 689"/>
                  <a:gd name="T66" fmla="*/ 0 w 633"/>
                  <a:gd name="T67" fmla="*/ 0 h 689"/>
                  <a:gd name="T68" fmla="*/ 0 w 633"/>
                  <a:gd name="T69" fmla="*/ 0 h 689"/>
                  <a:gd name="T70" fmla="*/ 0 w 633"/>
                  <a:gd name="T71" fmla="*/ 0 h 689"/>
                  <a:gd name="T72" fmla="*/ 0 w 633"/>
                  <a:gd name="T73" fmla="*/ 0 h 689"/>
                  <a:gd name="T74" fmla="*/ 0 w 633"/>
                  <a:gd name="T75" fmla="*/ 0 h 689"/>
                  <a:gd name="T76" fmla="*/ 0 w 633"/>
                  <a:gd name="T77" fmla="*/ 0 h 689"/>
                  <a:gd name="T78" fmla="*/ 0 w 633"/>
                  <a:gd name="T79" fmla="*/ 0 h 689"/>
                  <a:gd name="T80" fmla="*/ 0 w 633"/>
                  <a:gd name="T81" fmla="*/ 0 h 689"/>
                  <a:gd name="T82" fmla="*/ 0 w 633"/>
                  <a:gd name="T83" fmla="*/ 0 h 689"/>
                  <a:gd name="T84" fmla="*/ 0 w 633"/>
                  <a:gd name="T85" fmla="*/ 0 h 689"/>
                  <a:gd name="T86" fmla="*/ 0 w 633"/>
                  <a:gd name="T87" fmla="*/ 0 h 689"/>
                  <a:gd name="T88" fmla="*/ 0 w 633"/>
                  <a:gd name="T89" fmla="*/ 0 h 689"/>
                  <a:gd name="T90" fmla="*/ 0 w 633"/>
                  <a:gd name="T91" fmla="*/ 0 h 689"/>
                  <a:gd name="T92" fmla="*/ 0 w 633"/>
                  <a:gd name="T93" fmla="*/ 0 h 689"/>
                  <a:gd name="T94" fmla="*/ 0 w 633"/>
                  <a:gd name="T95" fmla="*/ 0 h 689"/>
                  <a:gd name="T96" fmla="*/ 0 w 633"/>
                  <a:gd name="T97" fmla="*/ 0 h 68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33"/>
                  <a:gd name="T148" fmla="*/ 0 h 689"/>
                  <a:gd name="T149" fmla="*/ 633 w 633"/>
                  <a:gd name="T150" fmla="*/ 689 h 68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33" h="689">
                    <a:moveTo>
                      <a:pt x="597" y="563"/>
                    </a:moveTo>
                    <a:lnTo>
                      <a:pt x="567" y="543"/>
                    </a:lnTo>
                    <a:lnTo>
                      <a:pt x="530" y="516"/>
                    </a:lnTo>
                    <a:lnTo>
                      <a:pt x="495" y="490"/>
                    </a:lnTo>
                    <a:lnTo>
                      <a:pt x="462" y="462"/>
                    </a:lnTo>
                    <a:lnTo>
                      <a:pt x="433" y="436"/>
                    </a:lnTo>
                    <a:lnTo>
                      <a:pt x="404" y="408"/>
                    </a:lnTo>
                    <a:lnTo>
                      <a:pt x="379" y="380"/>
                    </a:lnTo>
                    <a:lnTo>
                      <a:pt x="354" y="351"/>
                    </a:lnTo>
                    <a:lnTo>
                      <a:pt x="333" y="323"/>
                    </a:lnTo>
                    <a:lnTo>
                      <a:pt x="312" y="293"/>
                    </a:lnTo>
                    <a:lnTo>
                      <a:pt x="293" y="262"/>
                    </a:lnTo>
                    <a:lnTo>
                      <a:pt x="276" y="231"/>
                    </a:lnTo>
                    <a:lnTo>
                      <a:pt x="263" y="201"/>
                    </a:lnTo>
                    <a:lnTo>
                      <a:pt x="250" y="169"/>
                    </a:lnTo>
                    <a:lnTo>
                      <a:pt x="241" y="138"/>
                    </a:lnTo>
                    <a:lnTo>
                      <a:pt x="232" y="106"/>
                    </a:lnTo>
                    <a:lnTo>
                      <a:pt x="227" y="75"/>
                    </a:lnTo>
                    <a:lnTo>
                      <a:pt x="221" y="37"/>
                    </a:lnTo>
                    <a:lnTo>
                      <a:pt x="220" y="0"/>
                    </a:lnTo>
                    <a:lnTo>
                      <a:pt x="0" y="0"/>
                    </a:ln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  <a:lnTo>
                      <a:pt x="633" y="586"/>
                    </a:lnTo>
                    <a:lnTo>
                      <a:pt x="615" y="575"/>
                    </a:lnTo>
                    <a:lnTo>
                      <a:pt x="597" y="56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6" name="Freeform 1121"/>
              <p:cNvSpPr>
                <a:spLocks/>
              </p:cNvSpPr>
              <p:nvPr/>
            </p:nvSpPr>
            <p:spPr bwMode="auto">
              <a:xfrm>
                <a:off x="1152" y="1193"/>
                <a:ext cx="176" cy="199"/>
              </a:xfrm>
              <a:custGeom>
                <a:avLst/>
                <a:gdLst>
                  <a:gd name="T0" fmla="*/ 0 w 704"/>
                  <a:gd name="T1" fmla="*/ 0 h 797"/>
                  <a:gd name="T2" fmla="*/ 0 w 704"/>
                  <a:gd name="T3" fmla="*/ 0 h 797"/>
                  <a:gd name="T4" fmla="*/ 0 w 704"/>
                  <a:gd name="T5" fmla="*/ 0 h 797"/>
                  <a:gd name="T6" fmla="*/ 0 w 704"/>
                  <a:gd name="T7" fmla="*/ 0 h 797"/>
                  <a:gd name="T8" fmla="*/ 0 w 704"/>
                  <a:gd name="T9" fmla="*/ 0 h 797"/>
                  <a:gd name="T10" fmla="*/ 0 w 704"/>
                  <a:gd name="T11" fmla="*/ 0 h 797"/>
                  <a:gd name="T12" fmla="*/ 0 w 704"/>
                  <a:gd name="T13" fmla="*/ 0 h 797"/>
                  <a:gd name="T14" fmla="*/ 0 w 704"/>
                  <a:gd name="T15" fmla="*/ 0 h 797"/>
                  <a:gd name="T16" fmla="*/ 0 w 704"/>
                  <a:gd name="T17" fmla="*/ 0 h 797"/>
                  <a:gd name="T18" fmla="*/ 0 w 704"/>
                  <a:gd name="T19" fmla="*/ 0 h 797"/>
                  <a:gd name="T20" fmla="*/ 0 w 704"/>
                  <a:gd name="T21" fmla="*/ 0 h 797"/>
                  <a:gd name="T22" fmla="*/ 0 w 704"/>
                  <a:gd name="T23" fmla="*/ 0 h 797"/>
                  <a:gd name="T24" fmla="*/ 0 w 704"/>
                  <a:gd name="T25" fmla="*/ 0 h 797"/>
                  <a:gd name="T26" fmla="*/ 0 w 704"/>
                  <a:gd name="T27" fmla="*/ 0 h 797"/>
                  <a:gd name="T28" fmla="*/ 0 w 704"/>
                  <a:gd name="T29" fmla="*/ 0 h 797"/>
                  <a:gd name="T30" fmla="*/ 0 w 704"/>
                  <a:gd name="T31" fmla="*/ 0 h 797"/>
                  <a:gd name="T32" fmla="*/ 0 w 704"/>
                  <a:gd name="T33" fmla="*/ 0 h 797"/>
                  <a:gd name="T34" fmla="*/ 0 w 704"/>
                  <a:gd name="T35" fmla="*/ 0 h 797"/>
                  <a:gd name="T36" fmla="*/ 0 w 704"/>
                  <a:gd name="T37" fmla="*/ 0 h 797"/>
                  <a:gd name="T38" fmla="*/ 0 w 704"/>
                  <a:gd name="T39" fmla="*/ 0 h 797"/>
                  <a:gd name="T40" fmla="*/ 0 w 704"/>
                  <a:gd name="T41" fmla="*/ 0 h 797"/>
                  <a:gd name="T42" fmla="*/ 0 w 704"/>
                  <a:gd name="T43" fmla="*/ 0 h 797"/>
                  <a:gd name="T44" fmla="*/ 0 w 704"/>
                  <a:gd name="T45" fmla="*/ 0 h 797"/>
                  <a:gd name="T46" fmla="*/ 0 w 704"/>
                  <a:gd name="T47" fmla="*/ 0 h 797"/>
                  <a:gd name="T48" fmla="*/ 0 w 704"/>
                  <a:gd name="T49" fmla="*/ 0 h 797"/>
                  <a:gd name="T50" fmla="*/ 0 w 704"/>
                  <a:gd name="T51" fmla="*/ 0 h 797"/>
                  <a:gd name="T52" fmla="*/ 0 w 704"/>
                  <a:gd name="T53" fmla="*/ 0 h 797"/>
                  <a:gd name="T54" fmla="*/ 0 w 704"/>
                  <a:gd name="T55" fmla="*/ 0 h 797"/>
                  <a:gd name="T56" fmla="*/ 0 w 704"/>
                  <a:gd name="T57" fmla="*/ 0 h 797"/>
                  <a:gd name="T58" fmla="*/ 0 w 704"/>
                  <a:gd name="T59" fmla="*/ 0 h 797"/>
                  <a:gd name="T60" fmla="*/ 0 w 704"/>
                  <a:gd name="T61" fmla="*/ 0 h 797"/>
                  <a:gd name="T62" fmla="*/ 0 w 704"/>
                  <a:gd name="T63" fmla="*/ 0 h 797"/>
                  <a:gd name="T64" fmla="*/ 0 w 704"/>
                  <a:gd name="T65" fmla="*/ 0 h 797"/>
                  <a:gd name="T66" fmla="*/ 0 w 704"/>
                  <a:gd name="T67" fmla="*/ 0 h 797"/>
                  <a:gd name="T68" fmla="*/ 0 w 704"/>
                  <a:gd name="T69" fmla="*/ 0 h 797"/>
                  <a:gd name="T70" fmla="*/ 0 w 704"/>
                  <a:gd name="T71" fmla="*/ 0 h 797"/>
                  <a:gd name="T72" fmla="*/ 0 w 704"/>
                  <a:gd name="T73" fmla="*/ 0 h 797"/>
                  <a:gd name="T74" fmla="*/ 0 w 704"/>
                  <a:gd name="T75" fmla="*/ 0 h 797"/>
                  <a:gd name="T76" fmla="*/ 0 w 704"/>
                  <a:gd name="T77" fmla="*/ 0 h 797"/>
                  <a:gd name="T78" fmla="*/ 0 w 704"/>
                  <a:gd name="T79" fmla="*/ 0 h 797"/>
                  <a:gd name="T80" fmla="*/ 0 w 704"/>
                  <a:gd name="T81" fmla="*/ 0 h 797"/>
                  <a:gd name="T82" fmla="*/ 0 w 704"/>
                  <a:gd name="T83" fmla="*/ 0 h 797"/>
                  <a:gd name="T84" fmla="*/ 0 w 704"/>
                  <a:gd name="T85" fmla="*/ 0 h 797"/>
                  <a:gd name="T86" fmla="*/ 0 w 704"/>
                  <a:gd name="T87" fmla="*/ 0 h 797"/>
                  <a:gd name="T88" fmla="*/ 0 w 704"/>
                  <a:gd name="T89" fmla="*/ 0 h 797"/>
                  <a:gd name="T90" fmla="*/ 0 w 704"/>
                  <a:gd name="T91" fmla="*/ 0 h 797"/>
                  <a:gd name="T92" fmla="*/ 0 w 704"/>
                  <a:gd name="T93" fmla="*/ 0 h 797"/>
                  <a:gd name="T94" fmla="*/ 0 w 704"/>
                  <a:gd name="T95" fmla="*/ 0 h 797"/>
                  <a:gd name="T96" fmla="*/ 0 w 704"/>
                  <a:gd name="T97" fmla="*/ 0 h 797"/>
                  <a:gd name="T98" fmla="*/ 0 w 704"/>
                  <a:gd name="T99" fmla="*/ 0 h 797"/>
                  <a:gd name="T100" fmla="*/ 0 w 704"/>
                  <a:gd name="T101" fmla="*/ 0 h 797"/>
                  <a:gd name="T102" fmla="*/ 0 w 704"/>
                  <a:gd name="T103" fmla="*/ 0 h 797"/>
                  <a:gd name="T104" fmla="*/ 0 w 704"/>
                  <a:gd name="T105" fmla="*/ 0 h 797"/>
                  <a:gd name="T106" fmla="*/ 0 w 704"/>
                  <a:gd name="T107" fmla="*/ 0 h 797"/>
                  <a:gd name="T108" fmla="*/ 0 w 704"/>
                  <a:gd name="T109" fmla="*/ 0 h 797"/>
                  <a:gd name="T110" fmla="*/ 0 w 704"/>
                  <a:gd name="T111" fmla="*/ 0 h 797"/>
                  <a:gd name="T112" fmla="*/ 0 w 704"/>
                  <a:gd name="T113" fmla="*/ 0 h 79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704"/>
                  <a:gd name="T172" fmla="*/ 0 h 797"/>
                  <a:gd name="T173" fmla="*/ 704 w 704"/>
                  <a:gd name="T174" fmla="*/ 797 h 797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704" h="797">
                    <a:moveTo>
                      <a:pt x="661" y="661"/>
                    </a:moveTo>
                    <a:lnTo>
                      <a:pt x="614" y="628"/>
                    </a:lnTo>
                    <a:lnTo>
                      <a:pt x="591" y="611"/>
                    </a:lnTo>
                    <a:lnTo>
                      <a:pt x="570" y="595"/>
                    </a:lnTo>
                    <a:lnTo>
                      <a:pt x="529" y="561"/>
                    </a:lnTo>
                    <a:lnTo>
                      <a:pt x="509" y="544"/>
                    </a:lnTo>
                    <a:lnTo>
                      <a:pt x="491" y="528"/>
                    </a:lnTo>
                    <a:lnTo>
                      <a:pt x="455" y="492"/>
                    </a:lnTo>
                    <a:lnTo>
                      <a:pt x="422" y="457"/>
                    </a:lnTo>
                    <a:lnTo>
                      <a:pt x="392" y="421"/>
                    </a:lnTo>
                    <a:lnTo>
                      <a:pt x="365" y="386"/>
                    </a:lnTo>
                    <a:lnTo>
                      <a:pt x="340" y="348"/>
                    </a:lnTo>
                    <a:lnTo>
                      <a:pt x="328" y="329"/>
                    </a:lnTo>
                    <a:lnTo>
                      <a:pt x="318" y="311"/>
                    </a:lnTo>
                    <a:lnTo>
                      <a:pt x="298" y="272"/>
                    </a:lnTo>
                    <a:lnTo>
                      <a:pt x="282" y="234"/>
                    </a:lnTo>
                    <a:lnTo>
                      <a:pt x="268" y="194"/>
                    </a:lnTo>
                    <a:lnTo>
                      <a:pt x="257" y="155"/>
                    </a:lnTo>
                    <a:lnTo>
                      <a:pt x="248" y="115"/>
                    </a:lnTo>
                    <a:lnTo>
                      <a:pt x="243" y="75"/>
                    </a:lnTo>
                    <a:lnTo>
                      <a:pt x="238" y="37"/>
                    </a:lnTo>
                    <a:lnTo>
                      <a:pt x="237" y="0"/>
                    </a:lnTo>
                    <a:lnTo>
                      <a:pt x="1" y="0"/>
                    </a:ln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  <a:lnTo>
                      <a:pt x="704" y="689"/>
                    </a:lnTo>
                    <a:lnTo>
                      <a:pt x="685" y="676"/>
                    </a:lnTo>
                    <a:lnTo>
                      <a:pt x="668" y="666"/>
                    </a:lnTo>
                    <a:lnTo>
                      <a:pt x="664" y="663"/>
                    </a:lnTo>
                    <a:lnTo>
                      <a:pt x="661" y="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786C"/>
                  </a:gs>
                  <a:gs pos="100000">
                    <a:srgbClr val="E5ACA5"/>
                  </a:gs>
                </a:gsLst>
                <a:lin ang="54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687" name="Freeform 1122"/>
              <p:cNvSpPr>
                <a:spLocks/>
              </p:cNvSpPr>
              <p:nvPr/>
            </p:nvSpPr>
            <p:spPr bwMode="auto">
              <a:xfrm>
                <a:off x="1608" y="943"/>
                <a:ext cx="285" cy="74"/>
              </a:xfrm>
              <a:custGeom>
                <a:avLst/>
                <a:gdLst>
                  <a:gd name="T0" fmla="*/ 0 w 1142"/>
                  <a:gd name="T1" fmla="*/ 0 h 295"/>
                  <a:gd name="T2" fmla="*/ 0 w 1142"/>
                  <a:gd name="T3" fmla="*/ 0 h 295"/>
                  <a:gd name="T4" fmla="*/ 0 w 1142"/>
                  <a:gd name="T5" fmla="*/ 0 h 295"/>
                  <a:gd name="T6" fmla="*/ 0 w 1142"/>
                  <a:gd name="T7" fmla="*/ 0 h 295"/>
                  <a:gd name="T8" fmla="*/ 0 w 1142"/>
                  <a:gd name="T9" fmla="*/ 0 h 295"/>
                  <a:gd name="T10" fmla="*/ 0 w 1142"/>
                  <a:gd name="T11" fmla="*/ 0 h 295"/>
                  <a:gd name="T12" fmla="*/ 0 w 1142"/>
                  <a:gd name="T13" fmla="*/ 0 h 295"/>
                  <a:gd name="T14" fmla="*/ 0 w 1142"/>
                  <a:gd name="T15" fmla="*/ 0 h 295"/>
                  <a:gd name="T16" fmla="*/ 0 w 1142"/>
                  <a:gd name="T17" fmla="*/ 0 h 295"/>
                  <a:gd name="T18" fmla="*/ 0 w 1142"/>
                  <a:gd name="T19" fmla="*/ 0 h 295"/>
                  <a:gd name="T20" fmla="*/ 0 w 1142"/>
                  <a:gd name="T21" fmla="*/ 0 h 295"/>
                  <a:gd name="T22" fmla="*/ 0 w 1142"/>
                  <a:gd name="T23" fmla="*/ 0 h 295"/>
                  <a:gd name="T24" fmla="*/ 0 w 1142"/>
                  <a:gd name="T25" fmla="*/ 0 h 295"/>
                  <a:gd name="T26" fmla="*/ 0 w 1142"/>
                  <a:gd name="T27" fmla="*/ 0 h 295"/>
                  <a:gd name="T28" fmla="*/ 0 w 1142"/>
                  <a:gd name="T29" fmla="*/ 0 h 295"/>
                  <a:gd name="T30" fmla="*/ 0 w 1142"/>
                  <a:gd name="T31" fmla="*/ 0 h 295"/>
                  <a:gd name="T32" fmla="*/ 0 w 1142"/>
                  <a:gd name="T33" fmla="*/ 0 h 295"/>
                  <a:gd name="T34" fmla="*/ 0 w 1142"/>
                  <a:gd name="T35" fmla="*/ 0 h 295"/>
                  <a:gd name="T36" fmla="*/ 0 w 1142"/>
                  <a:gd name="T37" fmla="*/ 0 h 295"/>
                  <a:gd name="T38" fmla="*/ 0 w 1142"/>
                  <a:gd name="T39" fmla="*/ 0 h 295"/>
                  <a:gd name="T40" fmla="*/ 0 w 1142"/>
                  <a:gd name="T41" fmla="*/ 0 h 295"/>
                  <a:gd name="T42" fmla="*/ 0 w 1142"/>
                  <a:gd name="T43" fmla="*/ 0 h 29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42"/>
                  <a:gd name="T67" fmla="*/ 0 h 295"/>
                  <a:gd name="T68" fmla="*/ 1142 w 1142"/>
                  <a:gd name="T69" fmla="*/ 295 h 29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42" h="295">
                    <a:moveTo>
                      <a:pt x="1142" y="295"/>
                    </a:moveTo>
                    <a:lnTo>
                      <a:pt x="1135" y="291"/>
                    </a:lnTo>
                    <a:lnTo>
                      <a:pt x="1130" y="287"/>
                    </a:lnTo>
                    <a:lnTo>
                      <a:pt x="988" y="211"/>
                    </a:lnTo>
                    <a:lnTo>
                      <a:pt x="934" y="184"/>
                    </a:lnTo>
                    <a:lnTo>
                      <a:pt x="879" y="161"/>
                    </a:lnTo>
                    <a:lnTo>
                      <a:pt x="823" y="138"/>
                    </a:lnTo>
                    <a:lnTo>
                      <a:pt x="767" y="118"/>
                    </a:lnTo>
                    <a:lnTo>
                      <a:pt x="709" y="98"/>
                    </a:lnTo>
                    <a:lnTo>
                      <a:pt x="651" y="81"/>
                    </a:lnTo>
                    <a:lnTo>
                      <a:pt x="591" y="65"/>
                    </a:lnTo>
                    <a:lnTo>
                      <a:pt x="530" y="52"/>
                    </a:lnTo>
                    <a:lnTo>
                      <a:pt x="468" y="39"/>
                    </a:lnTo>
                    <a:lnTo>
                      <a:pt x="405" y="29"/>
                    </a:lnTo>
                    <a:lnTo>
                      <a:pt x="341" y="20"/>
                    </a:lnTo>
                    <a:lnTo>
                      <a:pt x="277" y="13"/>
                    </a:lnTo>
                    <a:lnTo>
                      <a:pt x="211" y="6"/>
                    </a:lnTo>
                    <a:lnTo>
                      <a:pt x="145" y="3"/>
                    </a:lnTo>
                    <a:lnTo>
                      <a:pt x="77" y="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8" name="Freeform 1123"/>
              <p:cNvSpPr>
                <a:spLocks/>
              </p:cNvSpPr>
              <p:nvPr/>
            </p:nvSpPr>
            <p:spPr bwMode="auto">
              <a:xfrm>
                <a:off x="1608" y="1007"/>
                <a:ext cx="209" cy="57"/>
              </a:xfrm>
              <a:custGeom>
                <a:avLst/>
                <a:gdLst>
                  <a:gd name="T0" fmla="*/ 0 w 837"/>
                  <a:gd name="T1" fmla="*/ 0 h 228"/>
                  <a:gd name="T2" fmla="*/ 0 w 837"/>
                  <a:gd name="T3" fmla="*/ 0 h 228"/>
                  <a:gd name="T4" fmla="*/ 0 w 837"/>
                  <a:gd name="T5" fmla="*/ 0 h 228"/>
                  <a:gd name="T6" fmla="*/ 0 w 837"/>
                  <a:gd name="T7" fmla="*/ 0 h 228"/>
                  <a:gd name="T8" fmla="*/ 0 w 837"/>
                  <a:gd name="T9" fmla="*/ 0 h 228"/>
                  <a:gd name="T10" fmla="*/ 0 w 837"/>
                  <a:gd name="T11" fmla="*/ 0 h 228"/>
                  <a:gd name="T12" fmla="*/ 0 w 837"/>
                  <a:gd name="T13" fmla="*/ 0 h 228"/>
                  <a:gd name="T14" fmla="*/ 0 w 837"/>
                  <a:gd name="T15" fmla="*/ 0 h 228"/>
                  <a:gd name="T16" fmla="*/ 0 w 837"/>
                  <a:gd name="T17" fmla="*/ 0 h 228"/>
                  <a:gd name="T18" fmla="*/ 0 w 837"/>
                  <a:gd name="T19" fmla="*/ 0 h 228"/>
                  <a:gd name="T20" fmla="*/ 0 w 837"/>
                  <a:gd name="T21" fmla="*/ 0 h 228"/>
                  <a:gd name="T22" fmla="*/ 0 w 837"/>
                  <a:gd name="T23" fmla="*/ 0 h 228"/>
                  <a:gd name="T24" fmla="*/ 0 w 837"/>
                  <a:gd name="T25" fmla="*/ 0 h 228"/>
                  <a:gd name="T26" fmla="*/ 0 w 837"/>
                  <a:gd name="T27" fmla="*/ 0 h 228"/>
                  <a:gd name="T28" fmla="*/ 0 w 837"/>
                  <a:gd name="T29" fmla="*/ 0 h 228"/>
                  <a:gd name="T30" fmla="*/ 0 w 837"/>
                  <a:gd name="T31" fmla="*/ 0 h 228"/>
                  <a:gd name="T32" fmla="*/ 0 w 837"/>
                  <a:gd name="T33" fmla="*/ 0 h 228"/>
                  <a:gd name="T34" fmla="*/ 0 w 837"/>
                  <a:gd name="T35" fmla="*/ 0 h 228"/>
                  <a:gd name="T36" fmla="*/ 0 w 837"/>
                  <a:gd name="T37" fmla="*/ 0 h 228"/>
                  <a:gd name="T38" fmla="*/ 0 w 837"/>
                  <a:gd name="T39" fmla="*/ 0 h 228"/>
                  <a:gd name="T40" fmla="*/ 0 w 837"/>
                  <a:gd name="T41" fmla="*/ 0 h 228"/>
                  <a:gd name="T42" fmla="*/ 0 w 837"/>
                  <a:gd name="T43" fmla="*/ 0 h 2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37"/>
                  <a:gd name="T67" fmla="*/ 0 h 228"/>
                  <a:gd name="T68" fmla="*/ 837 w 837"/>
                  <a:gd name="T69" fmla="*/ 228 h 22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37" h="228">
                    <a:moveTo>
                      <a:pt x="837" y="228"/>
                    </a:moveTo>
                    <a:lnTo>
                      <a:pt x="801" y="206"/>
                    </a:lnTo>
                    <a:lnTo>
                      <a:pt x="763" y="183"/>
                    </a:lnTo>
                    <a:lnTo>
                      <a:pt x="761" y="181"/>
                    </a:lnTo>
                    <a:lnTo>
                      <a:pt x="715" y="155"/>
                    </a:lnTo>
                    <a:lnTo>
                      <a:pt x="686" y="140"/>
                    </a:lnTo>
                    <a:lnTo>
                      <a:pt x="658" y="127"/>
                    </a:lnTo>
                    <a:lnTo>
                      <a:pt x="599" y="102"/>
                    </a:lnTo>
                    <a:lnTo>
                      <a:pt x="538" y="80"/>
                    </a:lnTo>
                    <a:lnTo>
                      <a:pt x="477" y="61"/>
                    </a:lnTo>
                    <a:lnTo>
                      <a:pt x="413" y="44"/>
                    </a:lnTo>
                    <a:lnTo>
                      <a:pt x="380" y="36"/>
                    </a:lnTo>
                    <a:lnTo>
                      <a:pt x="348" y="30"/>
                    </a:lnTo>
                    <a:lnTo>
                      <a:pt x="314" y="23"/>
                    </a:lnTo>
                    <a:lnTo>
                      <a:pt x="281" y="18"/>
                    </a:lnTo>
                    <a:lnTo>
                      <a:pt x="213" y="10"/>
                    </a:lnTo>
                    <a:lnTo>
                      <a:pt x="211" y="10"/>
                    </a:lnTo>
                    <a:lnTo>
                      <a:pt x="160" y="5"/>
                    </a:lnTo>
                    <a:lnTo>
                      <a:pt x="109" y="2"/>
                    </a:lnTo>
                    <a:lnTo>
                      <a:pt x="56" y="0"/>
                    </a:lnTo>
                    <a:lnTo>
                      <a:pt x="3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89" name="Line 1124"/>
              <p:cNvSpPr>
                <a:spLocks noChangeShapeType="1"/>
              </p:cNvSpPr>
              <p:nvPr/>
            </p:nvSpPr>
            <p:spPr bwMode="auto">
              <a:xfrm flipV="1">
                <a:off x="1608" y="975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0" name="Freeform 1125"/>
              <p:cNvSpPr>
                <a:spLocks/>
              </p:cNvSpPr>
              <p:nvPr/>
            </p:nvSpPr>
            <p:spPr bwMode="auto">
              <a:xfrm>
                <a:off x="1608" y="975"/>
                <a:ext cx="225" cy="51"/>
              </a:xfrm>
              <a:custGeom>
                <a:avLst/>
                <a:gdLst>
                  <a:gd name="T0" fmla="*/ 0 w 902"/>
                  <a:gd name="T1" fmla="*/ 0 h 206"/>
                  <a:gd name="T2" fmla="*/ 0 w 902"/>
                  <a:gd name="T3" fmla="*/ 0 h 206"/>
                  <a:gd name="T4" fmla="*/ 0 w 902"/>
                  <a:gd name="T5" fmla="*/ 0 h 206"/>
                  <a:gd name="T6" fmla="*/ 0 w 902"/>
                  <a:gd name="T7" fmla="*/ 0 h 206"/>
                  <a:gd name="T8" fmla="*/ 0 w 902"/>
                  <a:gd name="T9" fmla="*/ 0 h 206"/>
                  <a:gd name="T10" fmla="*/ 0 w 902"/>
                  <a:gd name="T11" fmla="*/ 0 h 206"/>
                  <a:gd name="T12" fmla="*/ 0 w 902"/>
                  <a:gd name="T13" fmla="*/ 0 h 206"/>
                  <a:gd name="T14" fmla="*/ 0 w 902"/>
                  <a:gd name="T15" fmla="*/ 0 h 206"/>
                  <a:gd name="T16" fmla="*/ 0 w 902"/>
                  <a:gd name="T17" fmla="*/ 0 h 206"/>
                  <a:gd name="T18" fmla="*/ 0 w 902"/>
                  <a:gd name="T19" fmla="*/ 0 h 206"/>
                  <a:gd name="T20" fmla="*/ 0 w 902"/>
                  <a:gd name="T21" fmla="*/ 0 h 206"/>
                  <a:gd name="T22" fmla="*/ 0 w 902"/>
                  <a:gd name="T23" fmla="*/ 0 h 206"/>
                  <a:gd name="T24" fmla="*/ 0 w 902"/>
                  <a:gd name="T25" fmla="*/ 0 h 206"/>
                  <a:gd name="T26" fmla="*/ 0 w 902"/>
                  <a:gd name="T27" fmla="*/ 0 h 206"/>
                  <a:gd name="T28" fmla="*/ 0 w 902"/>
                  <a:gd name="T29" fmla="*/ 0 h 206"/>
                  <a:gd name="T30" fmla="*/ 0 w 902"/>
                  <a:gd name="T31" fmla="*/ 0 h 206"/>
                  <a:gd name="T32" fmla="*/ 0 w 902"/>
                  <a:gd name="T33" fmla="*/ 0 h 206"/>
                  <a:gd name="T34" fmla="*/ 0 w 902"/>
                  <a:gd name="T35" fmla="*/ 0 h 206"/>
                  <a:gd name="T36" fmla="*/ 0 w 902"/>
                  <a:gd name="T37" fmla="*/ 0 h 206"/>
                  <a:gd name="T38" fmla="*/ 0 w 902"/>
                  <a:gd name="T39" fmla="*/ 0 h 206"/>
                  <a:gd name="T40" fmla="*/ 0 w 902"/>
                  <a:gd name="T41" fmla="*/ 0 h 20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02"/>
                  <a:gd name="T64" fmla="*/ 0 h 206"/>
                  <a:gd name="T65" fmla="*/ 902 w 902"/>
                  <a:gd name="T66" fmla="*/ 206 h 20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02" h="206">
                    <a:moveTo>
                      <a:pt x="0" y="1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66" y="0"/>
                    </a:lnTo>
                    <a:lnTo>
                      <a:pt x="125" y="2"/>
                    </a:lnTo>
                    <a:lnTo>
                      <a:pt x="183" y="5"/>
                    </a:lnTo>
                    <a:lnTo>
                      <a:pt x="241" y="10"/>
                    </a:lnTo>
                    <a:lnTo>
                      <a:pt x="297" y="15"/>
                    </a:lnTo>
                    <a:lnTo>
                      <a:pt x="353" y="23"/>
                    </a:lnTo>
                    <a:lnTo>
                      <a:pt x="407" y="32"/>
                    </a:lnTo>
                    <a:lnTo>
                      <a:pt x="462" y="44"/>
                    </a:lnTo>
                    <a:lnTo>
                      <a:pt x="514" y="55"/>
                    </a:lnTo>
                    <a:lnTo>
                      <a:pt x="567" y="69"/>
                    </a:lnTo>
                    <a:lnTo>
                      <a:pt x="618" y="84"/>
                    </a:lnTo>
                    <a:lnTo>
                      <a:pt x="669" y="103"/>
                    </a:lnTo>
                    <a:lnTo>
                      <a:pt x="718" y="120"/>
                    </a:lnTo>
                    <a:lnTo>
                      <a:pt x="767" y="141"/>
                    </a:lnTo>
                    <a:lnTo>
                      <a:pt x="814" y="162"/>
                    </a:lnTo>
                    <a:lnTo>
                      <a:pt x="862" y="186"/>
                    </a:lnTo>
                    <a:lnTo>
                      <a:pt x="902" y="20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1" name="Line 1126"/>
              <p:cNvSpPr>
                <a:spLocks noChangeShapeType="1"/>
              </p:cNvSpPr>
              <p:nvPr/>
            </p:nvSpPr>
            <p:spPr bwMode="auto">
              <a:xfrm flipV="1">
                <a:off x="1608" y="943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2" name="Line 1127"/>
              <p:cNvSpPr>
                <a:spLocks noChangeShapeType="1"/>
              </p:cNvSpPr>
              <p:nvPr/>
            </p:nvSpPr>
            <p:spPr bwMode="auto">
              <a:xfrm>
                <a:off x="1153" y="1193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3" name="Freeform 1128"/>
              <p:cNvSpPr>
                <a:spLocks/>
              </p:cNvSpPr>
              <p:nvPr/>
            </p:nvSpPr>
            <p:spPr bwMode="auto">
              <a:xfrm>
                <a:off x="1608" y="1041"/>
                <a:ext cx="169" cy="47"/>
              </a:xfrm>
              <a:custGeom>
                <a:avLst/>
                <a:gdLst>
                  <a:gd name="T0" fmla="*/ 0 w 679"/>
                  <a:gd name="T1" fmla="*/ 0 h 189"/>
                  <a:gd name="T2" fmla="*/ 0 w 679"/>
                  <a:gd name="T3" fmla="*/ 0 h 189"/>
                  <a:gd name="T4" fmla="*/ 0 w 679"/>
                  <a:gd name="T5" fmla="*/ 0 h 189"/>
                  <a:gd name="T6" fmla="*/ 0 w 679"/>
                  <a:gd name="T7" fmla="*/ 0 h 189"/>
                  <a:gd name="T8" fmla="*/ 0 w 679"/>
                  <a:gd name="T9" fmla="*/ 0 h 189"/>
                  <a:gd name="T10" fmla="*/ 0 w 679"/>
                  <a:gd name="T11" fmla="*/ 0 h 189"/>
                  <a:gd name="T12" fmla="*/ 0 w 679"/>
                  <a:gd name="T13" fmla="*/ 0 h 189"/>
                  <a:gd name="T14" fmla="*/ 0 w 679"/>
                  <a:gd name="T15" fmla="*/ 0 h 189"/>
                  <a:gd name="T16" fmla="*/ 0 w 679"/>
                  <a:gd name="T17" fmla="*/ 0 h 189"/>
                  <a:gd name="T18" fmla="*/ 0 w 679"/>
                  <a:gd name="T19" fmla="*/ 0 h 189"/>
                  <a:gd name="T20" fmla="*/ 0 w 679"/>
                  <a:gd name="T21" fmla="*/ 0 h 189"/>
                  <a:gd name="T22" fmla="*/ 0 w 679"/>
                  <a:gd name="T23" fmla="*/ 0 h 189"/>
                  <a:gd name="T24" fmla="*/ 0 w 679"/>
                  <a:gd name="T25" fmla="*/ 0 h 189"/>
                  <a:gd name="T26" fmla="*/ 0 w 679"/>
                  <a:gd name="T27" fmla="*/ 0 h 189"/>
                  <a:gd name="T28" fmla="*/ 0 w 679"/>
                  <a:gd name="T29" fmla="*/ 0 h 189"/>
                  <a:gd name="T30" fmla="*/ 0 w 679"/>
                  <a:gd name="T31" fmla="*/ 0 h 189"/>
                  <a:gd name="T32" fmla="*/ 0 w 679"/>
                  <a:gd name="T33" fmla="*/ 0 h 189"/>
                  <a:gd name="T34" fmla="*/ 0 w 679"/>
                  <a:gd name="T35" fmla="*/ 0 h 189"/>
                  <a:gd name="T36" fmla="*/ 0 w 679"/>
                  <a:gd name="T37" fmla="*/ 0 h 189"/>
                  <a:gd name="T38" fmla="*/ 0 w 679"/>
                  <a:gd name="T39" fmla="*/ 0 h 189"/>
                  <a:gd name="T40" fmla="*/ 0 w 679"/>
                  <a:gd name="T41" fmla="*/ 0 h 189"/>
                  <a:gd name="T42" fmla="*/ 0 w 679"/>
                  <a:gd name="T43" fmla="*/ 0 h 1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79"/>
                  <a:gd name="T67" fmla="*/ 0 h 189"/>
                  <a:gd name="T68" fmla="*/ 679 w 679"/>
                  <a:gd name="T69" fmla="*/ 189 h 18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79" h="189">
                    <a:moveTo>
                      <a:pt x="679" y="189"/>
                    </a:moveTo>
                    <a:lnTo>
                      <a:pt x="631" y="159"/>
                    </a:lnTo>
                    <a:lnTo>
                      <a:pt x="629" y="157"/>
                    </a:lnTo>
                    <a:lnTo>
                      <a:pt x="626" y="157"/>
                    </a:lnTo>
                    <a:lnTo>
                      <a:pt x="625" y="154"/>
                    </a:lnTo>
                    <a:lnTo>
                      <a:pt x="624" y="154"/>
                    </a:lnTo>
                    <a:lnTo>
                      <a:pt x="557" y="119"/>
                    </a:lnTo>
                    <a:lnTo>
                      <a:pt x="525" y="103"/>
                    </a:lnTo>
                    <a:lnTo>
                      <a:pt x="494" y="89"/>
                    </a:lnTo>
                    <a:lnTo>
                      <a:pt x="462" y="76"/>
                    </a:lnTo>
                    <a:lnTo>
                      <a:pt x="431" y="65"/>
                    </a:lnTo>
                    <a:lnTo>
                      <a:pt x="364" y="44"/>
                    </a:lnTo>
                    <a:lnTo>
                      <a:pt x="330" y="35"/>
                    </a:lnTo>
                    <a:lnTo>
                      <a:pt x="297" y="28"/>
                    </a:lnTo>
                    <a:lnTo>
                      <a:pt x="261" y="20"/>
                    </a:lnTo>
                    <a:lnTo>
                      <a:pt x="226" y="14"/>
                    </a:lnTo>
                    <a:lnTo>
                      <a:pt x="190" y="9"/>
                    </a:lnTo>
                    <a:lnTo>
                      <a:pt x="154" y="6"/>
                    </a:lnTo>
                    <a:lnTo>
                      <a:pt x="79" y="1"/>
                    </a:lnTo>
                    <a:lnTo>
                      <a:pt x="41" y="0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4" name="Line 1129"/>
              <p:cNvSpPr>
                <a:spLocks noChangeShapeType="1"/>
              </p:cNvSpPr>
              <p:nvPr/>
            </p:nvSpPr>
            <p:spPr bwMode="auto">
              <a:xfrm flipV="1">
                <a:off x="1608" y="1007"/>
                <a:ext cx="0" cy="3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5" name="Line 1130"/>
              <p:cNvSpPr>
                <a:spLocks noChangeShapeType="1"/>
              </p:cNvSpPr>
              <p:nvPr/>
            </p:nvSpPr>
            <p:spPr bwMode="auto">
              <a:xfrm flipH="1">
                <a:off x="1893" y="993"/>
                <a:ext cx="39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6" name="Freeform 1131"/>
              <p:cNvSpPr>
                <a:spLocks/>
              </p:cNvSpPr>
              <p:nvPr/>
            </p:nvSpPr>
            <p:spPr bwMode="auto">
              <a:xfrm>
                <a:off x="1836" y="1028"/>
                <a:ext cx="19" cy="12"/>
              </a:xfrm>
              <a:custGeom>
                <a:avLst/>
                <a:gdLst>
                  <a:gd name="T0" fmla="*/ 0 w 76"/>
                  <a:gd name="T1" fmla="*/ 0 h 48"/>
                  <a:gd name="T2" fmla="*/ 0 w 76"/>
                  <a:gd name="T3" fmla="*/ 0 h 48"/>
                  <a:gd name="T4" fmla="*/ 0 w 76"/>
                  <a:gd name="T5" fmla="*/ 0 h 48"/>
                  <a:gd name="T6" fmla="*/ 0 w 76"/>
                  <a:gd name="T7" fmla="*/ 0 h 48"/>
                  <a:gd name="T8" fmla="*/ 0 w 76"/>
                  <a:gd name="T9" fmla="*/ 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48"/>
                  <a:gd name="T17" fmla="*/ 76 w 76"/>
                  <a:gd name="T18" fmla="*/ 48 h 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48">
                    <a:moveTo>
                      <a:pt x="0" y="0"/>
                    </a:moveTo>
                    <a:lnTo>
                      <a:pt x="13" y="10"/>
                    </a:lnTo>
                    <a:lnTo>
                      <a:pt x="33" y="23"/>
                    </a:lnTo>
                    <a:lnTo>
                      <a:pt x="38" y="25"/>
                    </a:lnTo>
                    <a:lnTo>
                      <a:pt x="76" y="4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7" name="Line 1132"/>
              <p:cNvSpPr>
                <a:spLocks noChangeShapeType="1"/>
              </p:cNvSpPr>
              <p:nvPr/>
            </p:nvSpPr>
            <p:spPr bwMode="auto">
              <a:xfrm>
                <a:off x="1833" y="1026"/>
                <a:ext cx="3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8" name="Line 1133"/>
              <p:cNvSpPr>
                <a:spLocks noChangeShapeType="1"/>
              </p:cNvSpPr>
              <p:nvPr/>
            </p:nvSpPr>
            <p:spPr bwMode="auto">
              <a:xfrm>
                <a:off x="1836" y="1028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699" name="Freeform 1134"/>
              <p:cNvSpPr>
                <a:spLocks/>
              </p:cNvSpPr>
              <p:nvPr/>
            </p:nvSpPr>
            <p:spPr bwMode="auto">
              <a:xfrm>
                <a:off x="1836" y="1028"/>
                <a:ext cx="1" cy="0"/>
              </a:xfrm>
              <a:custGeom>
                <a:avLst/>
                <a:gdLst>
                  <a:gd name="T0" fmla="*/ 0 w 4"/>
                  <a:gd name="T1" fmla="*/ 0 w 4"/>
                  <a:gd name="T2" fmla="*/ 0 w 4"/>
                  <a:gd name="T3" fmla="*/ 0 60000 65536"/>
                  <a:gd name="T4" fmla="*/ 0 60000 65536"/>
                  <a:gd name="T5" fmla="*/ 0 60000 65536"/>
                  <a:gd name="T6" fmla="*/ 0 w 4"/>
                  <a:gd name="T7" fmla="*/ 4 w 4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4">
                    <a:moveTo>
                      <a:pt x="2" y="0"/>
                    </a:move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0" name="Line 1135"/>
              <p:cNvSpPr>
                <a:spLocks noChangeShapeType="1"/>
              </p:cNvSpPr>
              <p:nvPr/>
            </p:nvSpPr>
            <p:spPr bwMode="auto">
              <a:xfrm>
                <a:off x="1833" y="1026"/>
                <a:ext cx="4" cy="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1" name="Freeform 1136"/>
              <p:cNvSpPr>
                <a:spLocks/>
              </p:cNvSpPr>
              <p:nvPr/>
            </p:nvSpPr>
            <p:spPr bwMode="auto">
              <a:xfrm>
                <a:off x="1777" y="1088"/>
                <a:ext cx="55" cy="105"/>
              </a:xfrm>
              <a:custGeom>
                <a:avLst/>
                <a:gdLst>
                  <a:gd name="T0" fmla="*/ 0 w 219"/>
                  <a:gd name="T1" fmla="*/ 0 h 417"/>
                  <a:gd name="T2" fmla="*/ 0 w 219"/>
                  <a:gd name="T3" fmla="*/ 0 h 417"/>
                  <a:gd name="T4" fmla="*/ 0 w 219"/>
                  <a:gd name="T5" fmla="*/ 0 h 417"/>
                  <a:gd name="T6" fmla="*/ 0 w 219"/>
                  <a:gd name="T7" fmla="*/ 0 h 417"/>
                  <a:gd name="T8" fmla="*/ 0 w 219"/>
                  <a:gd name="T9" fmla="*/ 0 h 417"/>
                  <a:gd name="T10" fmla="*/ 0 w 219"/>
                  <a:gd name="T11" fmla="*/ 0 h 417"/>
                  <a:gd name="T12" fmla="*/ 0 w 219"/>
                  <a:gd name="T13" fmla="*/ 0 h 417"/>
                  <a:gd name="T14" fmla="*/ 0 w 219"/>
                  <a:gd name="T15" fmla="*/ 0 h 417"/>
                  <a:gd name="T16" fmla="*/ 0 w 219"/>
                  <a:gd name="T17" fmla="*/ 0 h 417"/>
                  <a:gd name="T18" fmla="*/ 0 w 219"/>
                  <a:gd name="T19" fmla="*/ 0 h 417"/>
                  <a:gd name="T20" fmla="*/ 0 w 219"/>
                  <a:gd name="T21" fmla="*/ 0 h 417"/>
                  <a:gd name="T22" fmla="*/ 0 w 219"/>
                  <a:gd name="T23" fmla="*/ 0 h 417"/>
                  <a:gd name="T24" fmla="*/ 0 w 219"/>
                  <a:gd name="T25" fmla="*/ 0 h 417"/>
                  <a:gd name="T26" fmla="*/ 0 w 219"/>
                  <a:gd name="T27" fmla="*/ 0 h 417"/>
                  <a:gd name="T28" fmla="*/ 0 w 219"/>
                  <a:gd name="T29" fmla="*/ 0 h 417"/>
                  <a:gd name="T30" fmla="*/ 0 w 219"/>
                  <a:gd name="T31" fmla="*/ 0 h 417"/>
                  <a:gd name="T32" fmla="*/ 0 w 219"/>
                  <a:gd name="T33" fmla="*/ 0 h 4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9"/>
                  <a:gd name="T52" fmla="*/ 0 h 417"/>
                  <a:gd name="T53" fmla="*/ 219 w 219"/>
                  <a:gd name="T54" fmla="*/ 417 h 4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9" h="417">
                    <a:moveTo>
                      <a:pt x="216" y="417"/>
                    </a:moveTo>
                    <a:lnTo>
                      <a:pt x="218" y="389"/>
                    </a:lnTo>
                    <a:lnTo>
                      <a:pt x="219" y="362"/>
                    </a:lnTo>
                    <a:lnTo>
                      <a:pt x="219" y="357"/>
                    </a:lnTo>
                    <a:lnTo>
                      <a:pt x="217" y="321"/>
                    </a:lnTo>
                    <a:lnTo>
                      <a:pt x="214" y="303"/>
                    </a:lnTo>
                    <a:lnTo>
                      <a:pt x="212" y="286"/>
                    </a:lnTo>
                    <a:lnTo>
                      <a:pt x="200" y="245"/>
                    </a:lnTo>
                    <a:lnTo>
                      <a:pt x="193" y="225"/>
                    </a:lnTo>
                    <a:lnTo>
                      <a:pt x="185" y="206"/>
                    </a:lnTo>
                    <a:lnTo>
                      <a:pt x="165" y="168"/>
                    </a:lnTo>
                    <a:lnTo>
                      <a:pt x="141" y="132"/>
                    </a:lnTo>
                    <a:lnTo>
                      <a:pt x="111" y="96"/>
                    </a:lnTo>
                    <a:lnTo>
                      <a:pt x="79" y="63"/>
                    </a:lnTo>
                    <a:lnTo>
                      <a:pt x="41" y="30"/>
                    </a:lnTo>
                    <a:lnTo>
                      <a:pt x="21" y="14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2" name="Line 1137"/>
              <p:cNvSpPr>
                <a:spLocks noChangeShapeType="1"/>
              </p:cNvSpPr>
              <p:nvPr/>
            </p:nvSpPr>
            <p:spPr bwMode="auto">
              <a:xfrm flipH="1">
                <a:off x="1817" y="1040"/>
                <a:ext cx="38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3" name="Freeform 1138"/>
              <p:cNvSpPr>
                <a:spLocks/>
              </p:cNvSpPr>
              <p:nvPr/>
            </p:nvSpPr>
            <p:spPr bwMode="auto">
              <a:xfrm>
                <a:off x="1855" y="1040"/>
                <a:ext cx="94" cy="153"/>
              </a:xfrm>
              <a:custGeom>
                <a:avLst/>
                <a:gdLst>
                  <a:gd name="T0" fmla="*/ 0 w 375"/>
                  <a:gd name="T1" fmla="*/ 0 h 610"/>
                  <a:gd name="T2" fmla="*/ 0 w 375"/>
                  <a:gd name="T3" fmla="*/ 0 h 610"/>
                  <a:gd name="T4" fmla="*/ 0 w 375"/>
                  <a:gd name="T5" fmla="*/ 0 h 610"/>
                  <a:gd name="T6" fmla="*/ 0 w 375"/>
                  <a:gd name="T7" fmla="*/ 0 h 610"/>
                  <a:gd name="T8" fmla="*/ 0 w 375"/>
                  <a:gd name="T9" fmla="*/ 0 h 610"/>
                  <a:gd name="T10" fmla="*/ 0 w 375"/>
                  <a:gd name="T11" fmla="*/ 0 h 610"/>
                  <a:gd name="T12" fmla="*/ 0 w 375"/>
                  <a:gd name="T13" fmla="*/ 0 h 610"/>
                  <a:gd name="T14" fmla="*/ 0 w 375"/>
                  <a:gd name="T15" fmla="*/ 0 h 610"/>
                  <a:gd name="T16" fmla="*/ 0 w 375"/>
                  <a:gd name="T17" fmla="*/ 0 h 610"/>
                  <a:gd name="T18" fmla="*/ 0 w 375"/>
                  <a:gd name="T19" fmla="*/ 0 h 610"/>
                  <a:gd name="T20" fmla="*/ 0 w 375"/>
                  <a:gd name="T21" fmla="*/ 0 h 610"/>
                  <a:gd name="T22" fmla="*/ 0 w 375"/>
                  <a:gd name="T23" fmla="*/ 0 h 610"/>
                  <a:gd name="T24" fmla="*/ 0 w 375"/>
                  <a:gd name="T25" fmla="*/ 0 h 610"/>
                  <a:gd name="T26" fmla="*/ 0 w 375"/>
                  <a:gd name="T27" fmla="*/ 0 h 610"/>
                  <a:gd name="T28" fmla="*/ 0 w 375"/>
                  <a:gd name="T29" fmla="*/ 0 h 610"/>
                  <a:gd name="T30" fmla="*/ 0 w 375"/>
                  <a:gd name="T31" fmla="*/ 0 h 610"/>
                  <a:gd name="T32" fmla="*/ 0 w 375"/>
                  <a:gd name="T33" fmla="*/ 0 h 610"/>
                  <a:gd name="T34" fmla="*/ 0 w 375"/>
                  <a:gd name="T35" fmla="*/ 0 h 610"/>
                  <a:gd name="T36" fmla="*/ 0 w 375"/>
                  <a:gd name="T37" fmla="*/ 0 h 610"/>
                  <a:gd name="T38" fmla="*/ 0 w 375"/>
                  <a:gd name="T39" fmla="*/ 0 h 61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75"/>
                  <a:gd name="T61" fmla="*/ 0 h 610"/>
                  <a:gd name="T62" fmla="*/ 375 w 375"/>
                  <a:gd name="T63" fmla="*/ 610 h 61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75" h="610">
                    <a:moveTo>
                      <a:pt x="374" y="610"/>
                    </a:moveTo>
                    <a:lnTo>
                      <a:pt x="375" y="582"/>
                    </a:lnTo>
                    <a:lnTo>
                      <a:pt x="374" y="557"/>
                    </a:lnTo>
                    <a:lnTo>
                      <a:pt x="374" y="555"/>
                    </a:lnTo>
                    <a:lnTo>
                      <a:pt x="369" y="514"/>
                    </a:lnTo>
                    <a:lnTo>
                      <a:pt x="363" y="474"/>
                    </a:lnTo>
                    <a:lnTo>
                      <a:pt x="354" y="435"/>
                    </a:lnTo>
                    <a:lnTo>
                      <a:pt x="343" y="397"/>
                    </a:lnTo>
                    <a:lnTo>
                      <a:pt x="328" y="359"/>
                    </a:lnTo>
                    <a:lnTo>
                      <a:pt x="312" y="322"/>
                    </a:lnTo>
                    <a:lnTo>
                      <a:pt x="292" y="286"/>
                    </a:lnTo>
                    <a:lnTo>
                      <a:pt x="271" y="252"/>
                    </a:lnTo>
                    <a:lnTo>
                      <a:pt x="245" y="217"/>
                    </a:lnTo>
                    <a:lnTo>
                      <a:pt x="218" y="184"/>
                    </a:lnTo>
                    <a:lnTo>
                      <a:pt x="188" y="151"/>
                    </a:lnTo>
                    <a:lnTo>
                      <a:pt x="156" y="120"/>
                    </a:lnTo>
                    <a:lnTo>
                      <a:pt x="120" y="88"/>
                    </a:lnTo>
                    <a:lnTo>
                      <a:pt x="83" y="58"/>
                    </a:lnTo>
                    <a:lnTo>
                      <a:pt x="42" y="2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4" name="Freeform 1139"/>
              <p:cNvSpPr>
                <a:spLocks/>
              </p:cNvSpPr>
              <p:nvPr/>
            </p:nvSpPr>
            <p:spPr bwMode="auto">
              <a:xfrm>
                <a:off x="1817" y="1064"/>
                <a:ext cx="73" cy="129"/>
              </a:xfrm>
              <a:custGeom>
                <a:avLst/>
                <a:gdLst>
                  <a:gd name="T0" fmla="*/ 0 w 293"/>
                  <a:gd name="T1" fmla="*/ 0 h 515"/>
                  <a:gd name="T2" fmla="*/ 0 w 293"/>
                  <a:gd name="T3" fmla="*/ 0 h 515"/>
                  <a:gd name="T4" fmla="*/ 0 w 293"/>
                  <a:gd name="T5" fmla="*/ 0 h 515"/>
                  <a:gd name="T6" fmla="*/ 0 w 293"/>
                  <a:gd name="T7" fmla="*/ 0 h 515"/>
                  <a:gd name="T8" fmla="*/ 0 w 293"/>
                  <a:gd name="T9" fmla="*/ 0 h 515"/>
                  <a:gd name="T10" fmla="*/ 0 w 293"/>
                  <a:gd name="T11" fmla="*/ 0 h 515"/>
                  <a:gd name="T12" fmla="*/ 0 w 293"/>
                  <a:gd name="T13" fmla="*/ 0 h 515"/>
                  <a:gd name="T14" fmla="*/ 0 w 293"/>
                  <a:gd name="T15" fmla="*/ 0 h 515"/>
                  <a:gd name="T16" fmla="*/ 0 w 293"/>
                  <a:gd name="T17" fmla="*/ 0 h 515"/>
                  <a:gd name="T18" fmla="*/ 0 w 293"/>
                  <a:gd name="T19" fmla="*/ 0 h 515"/>
                  <a:gd name="T20" fmla="*/ 0 w 293"/>
                  <a:gd name="T21" fmla="*/ 0 h 515"/>
                  <a:gd name="T22" fmla="*/ 0 w 293"/>
                  <a:gd name="T23" fmla="*/ 0 h 515"/>
                  <a:gd name="T24" fmla="*/ 0 w 293"/>
                  <a:gd name="T25" fmla="*/ 0 h 515"/>
                  <a:gd name="T26" fmla="*/ 0 w 293"/>
                  <a:gd name="T27" fmla="*/ 0 h 515"/>
                  <a:gd name="T28" fmla="*/ 0 w 293"/>
                  <a:gd name="T29" fmla="*/ 0 h 515"/>
                  <a:gd name="T30" fmla="*/ 0 w 293"/>
                  <a:gd name="T31" fmla="*/ 0 h 515"/>
                  <a:gd name="T32" fmla="*/ 0 w 293"/>
                  <a:gd name="T33" fmla="*/ 0 h 515"/>
                  <a:gd name="T34" fmla="*/ 0 w 293"/>
                  <a:gd name="T35" fmla="*/ 0 h 515"/>
                  <a:gd name="T36" fmla="*/ 0 w 293"/>
                  <a:gd name="T37" fmla="*/ 0 h 515"/>
                  <a:gd name="T38" fmla="*/ 0 w 293"/>
                  <a:gd name="T39" fmla="*/ 0 h 515"/>
                  <a:gd name="T40" fmla="*/ 0 w 293"/>
                  <a:gd name="T41" fmla="*/ 0 h 5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93"/>
                  <a:gd name="T64" fmla="*/ 0 h 515"/>
                  <a:gd name="T65" fmla="*/ 293 w 293"/>
                  <a:gd name="T66" fmla="*/ 515 h 5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93" h="515">
                    <a:moveTo>
                      <a:pt x="0" y="0"/>
                    </a:moveTo>
                    <a:lnTo>
                      <a:pt x="29" y="20"/>
                    </a:lnTo>
                    <a:lnTo>
                      <a:pt x="57" y="41"/>
                    </a:lnTo>
                    <a:lnTo>
                      <a:pt x="83" y="62"/>
                    </a:lnTo>
                    <a:lnTo>
                      <a:pt x="108" y="84"/>
                    </a:lnTo>
                    <a:lnTo>
                      <a:pt x="131" y="106"/>
                    </a:lnTo>
                    <a:lnTo>
                      <a:pt x="153" y="129"/>
                    </a:lnTo>
                    <a:lnTo>
                      <a:pt x="173" y="153"/>
                    </a:lnTo>
                    <a:lnTo>
                      <a:pt x="192" y="177"/>
                    </a:lnTo>
                    <a:lnTo>
                      <a:pt x="209" y="201"/>
                    </a:lnTo>
                    <a:lnTo>
                      <a:pt x="224" y="225"/>
                    </a:lnTo>
                    <a:lnTo>
                      <a:pt x="238" y="250"/>
                    </a:lnTo>
                    <a:lnTo>
                      <a:pt x="251" y="276"/>
                    </a:lnTo>
                    <a:lnTo>
                      <a:pt x="262" y="302"/>
                    </a:lnTo>
                    <a:lnTo>
                      <a:pt x="271" y="329"/>
                    </a:lnTo>
                    <a:lnTo>
                      <a:pt x="279" y="356"/>
                    </a:lnTo>
                    <a:lnTo>
                      <a:pt x="286" y="384"/>
                    </a:lnTo>
                    <a:lnTo>
                      <a:pt x="290" y="420"/>
                    </a:lnTo>
                    <a:lnTo>
                      <a:pt x="293" y="457"/>
                    </a:lnTo>
                    <a:lnTo>
                      <a:pt x="293" y="460"/>
                    </a:lnTo>
                    <a:lnTo>
                      <a:pt x="291" y="515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5" name="Line 1140"/>
              <p:cNvSpPr>
                <a:spLocks noChangeShapeType="1"/>
              </p:cNvSpPr>
              <p:nvPr/>
            </p:nvSpPr>
            <p:spPr bwMode="auto">
              <a:xfrm flipV="1">
                <a:off x="1855" y="1017"/>
                <a:ext cx="38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6" name="Line 1141"/>
              <p:cNvSpPr>
                <a:spLocks noChangeShapeType="1"/>
              </p:cNvSpPr>
              <p:nvPr/>
            </p:nvSpPr>
            <p:spPr bwMode="auto">
              <a:xfrm flipH="1">
                <a:off x="1777" y="1064"/>
                <a:ext cx="40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7" name="Freeform 1142"/>
              <p:cNvSpPr>
                <a:spLocks/>
              </p:cNvSpPr>
              <p:nvPr/>
            </p:nvSpPr>
            <p:spPr bwMode="auto">
              <a:xfrm>
                <a:off x="1932" y="993"/>
                <a:ext cx="131" cy="200"/>
              </a:xfrm>
              <a:custGeom>
                <a:avLst/>
                <a:gdLst>
                  <a:gd name="T0" fmla="*/ 0 w 524"/>
                  <a:gd name="T1" fmla="*/ 0 h 799"/>
                  <a:gd name="T2" fmla="*/ 0 w 524"/>
                  <a:gd name="T3" fmla="*/ 0 h 799"/>
                  <a:gd name="T4" fmla="*/ 0 w 524"/>
                  <a:gd name="T5" fmla="*/ 0 h 799"/>
                  <a:gd name="T6" fmla="*/ 0 w 524"/>
                  <a:gd name="T7" fmla="*/ 0 h 799"/>
                  <a:gd name="T8" fmla="*/ 0 w 524"/>
                  <a:gd name="T9" fmla="*/ 0 h 799"/>
                  <a:gd name="T10" fmla="*/ 0 w 524"/>
                  <a:gd name="T11" fmla="*/ 0 h 799"/>
                  <a:gd name="T12" fmla="*/ 0 w 524"/>
                  <a:gd name="T13" fmla="*/ 0 h 799"/>
                  <a:gd name="T14" fmla="*/ 0 w 524"/>
                  <a:gd name="T15" fmla="*/ 0 h 799"/>
                  <a:gd name="T16" fmla="*/ 0 w 524"/>
                  <a:gd name="T17" fmla="*/ 0 h 799"/>
                  <a:gd name="T18" fmla="*/ 0 w 524"/>
                  <a:gd name="T19" fmla="*/ 0 h 799"/>
                  <a:gd name="T20" fmla="*/ 0 w 524"/>
                  <a:gd name="T21" fmla="*/ 0 h 799"/>
                  <a:gd name="T22" fmla="*/ 0 w 524"/>
                  <a:gd name="T23" fmla="*/ 0 h 799"/>
                  <a:gd name="T24" fmla="*/ 0 w 524"/>
                  <a:gd name="T25" fmla="*/ 0 h 799"/>
                  <a:gd name="T26" fmla="*/ 0 w 524"/>
                  <a:gd name="T27" fmla="*/ 0 h 799"/>
                  <a:gd name="T28" fmla="*/ 0 w 524"/>
                  <a:gd name="T29" fmla="*/ 0 h 799"/>
                  <a:gd name="T30" fmla="*/ 0 w 524"/>
                  <a:gd name="T31" fmla="*/ 0 h 799"/>
                  <a:gd name="T32" fmla="*/ 0 w 524"/>
                  <a:gd name="T33" fmla="*/ 0 h 799"/>
                  <a:gd name="T34" fmla="*/ 0 w 524"/>
                  <a:gd name="T35" fmla="*/ 0 h 799"/>
                  <a:gd name="T36" fmla="*/ 0 w 524"/>
                  <a:gd name="T37" fmla="*/ 0 h 7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"/>
                  <a:gd name="T58" fmla="*/ 0 h 799"/>
                  <a:gd name="T59" fmla="*/ 524 w 524"/>
                  <a:gd name="T60" fmla="*/ 799 h 7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" h="799">
                    <a:moveTo>
                      <a:pt x="524" y="799"/>
                    </a:moveTo>
                    <a:lnTo>
                      <a:pt x="523" y="749"/>
                    </a:lnTo>
                    <a:lnTo>
                      <a:pt x="523" y="744"/>
                    </a:lnTo>
                    <a:lnTo>
                      <a:pt x="516" y="689"/>
                    </a:lnTo>
                    <a:lnTo>
                      <a:pt x="506" y="636"/>
                    </a:lnTo>
                    <a:lnTo>
                      <a:pt x="493" y="583"/>
                    </a:lnTo>
                    <a:lnTo>
                      <a:pt x="477" y="532"/>
                    </a:lnTo>
                    <a:lnTo>
                      <a:pt x="456" y="481"/>
                    </a:lnTo>
                    <a:lnTo>
                      <a:pt x="432" y="432"/>
                    </a:lnTo>
                    <a:lnTo>
                      <a:pt x="405" y="384"/>
                    </a:lnTo>
                    <a:lnTo>
                      <a:pt x="375" y="338"/>
                    </a:lnTo>
                    <a:lnTo>
                      <a:pt x="339" y="291"/>
                    </a:lnTo>
                    <a:lnTo>
                      <a:pt x="301" y="246"/>
                    </a:lnTo>
                    <a:lnTo>
                      <a:pt x="259" y="202"/>
                    </a:lnTo>
                    <a:lnTo>
                      <a:pt x="215" y="160"/>
                    </a:lnTo>
                    <a:lnTo>
                      <a:pt x="166" y="118"/>
                    </a:lnTo>
                    <a:lnTo>
                      <a:pt x="114" y="78"/>
                    </a:lnTo>
                    <a:lnTo>
                      <a:pt x="58" y="3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8" name="Freeform 1143"/>
              <p:cNvSpPr>
                <a:spLocks/>
              </p:cNvSpPr>
              <p:nvPr/>
            </p:nvSpPr>
            <p:spPr bwMode="auto">
              <a:xfrm>
                <a:off x="1893" y="1017"/>
                <a:ext cx="111" cy="176"/>
              </a:xfrm>
              <a:custGeom>
                <a:avLst/>
                <a:gdLst>
                  <a:gd name="T0" fmla="*/ 0 w 444"/>
                  <a:gd name="T1" fmla="*/ 0 h 703"/>
                  <a:gd name="T2" fmla="*/ 0 w 444"/>
                  <a:gd name="T3" fmla="*/ 0 h 703"/>
                  <a:gd name="T4" fmla="*/ 0 w 444"/>
                  <a:gd name="T5" fmla="*/ 0 h 703"/>
                  <a:gd name="T6" fmla="*/ 0 w 444"/>
                  <a:gd name="T7" fmla="*/ 0 h 703"/>
                  <a:gd name="T8" fmla="*/ 0 w 444"/>
                  <a:gd name="T9" fmla="*/ 0 h 703"/>
                  <a:gd name="T10" fmla="*/ 0 w 444"/>
                  <a:gd name="T11" fmla="*/ 0 h 703"/>
                  <a:gd name="T12" fmla="*/ 0 w 444"/>
                  <a:gd name="T13" fmla="*/ 0 h 703"/>
                  <a:gd name="T14" fmla="*/ 0 w 444"/>
                  <a:gd name="T15" fmla="*/ 0 h 703"/>
                  <a:gd name="T16" fmla="*/ 0 w 444"/>
                  <a:gd name="T17" fmla="*/ 0 h 703"/>
                  <a:gd name="T18" fmla="*/ 0 w 444"/>
                  <a:gd name="T19" fmla="*/ 0 h 703"/>
                  <a:gd name="T20" fmla="*/ 0 w 444"/>
                  <a:gd name="T21" fmla="*/ 0 h 703"/>
                  <a:gd name="T22" fmla="*/ 0 w 444"/>
                  <a:gd name="T23" fmla="*/ 0 h 703"/>
                  <a:gd name="T24" fmla="*/ 0 w 444"/>
                  <a:gd name="T25" fmla="*/ 0 h 703"/>
                  <a:gd name="T26" fmla="*/ 0 w 444"/>
                  <a:gd name="T27" fmla="*/ 0 h 703"/>
                  <a:gd name="T28" fmla="*/ 0 w 444"/>
                  <a:gd name="T29" fmla="*/ 0 h 703"/>
                  <a:gd name="T30" fmla="*/ 0 w 444"/>
                  <a:gd name="T31" fmla="*/ 0 h 703"/>
                  <a:gd name="T32" fmla="*/ 0 w 444"/>
                  <a:gd name="T33" fmla="*/ 0 h 703"/>
                  <a:gd name="T34" fmla="*/ 0 w 444"/>
                  <a:gd name="T35" fmla="*/ 0 h 703"/>
                  <a:gd name="T36" fmla="*/ 0 w 444"/>
                  <a:gd name="T37" fmla="*/ 0 h 7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4"/>
                  <a:gd name="T58" fmla="*/ 0 h 703"/>
                  <a:gd name="T59" fmla="*/ 444 w 444"/>
                  <a:gd name="T60" fmla="*/ 703 h 70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4" h="703">
                    <a:moveTo>
                      <a:pt x="0" y="0"/>
                    </a:moveTo>
                    <a:lnTo>
                      <a:pt x="50" y="33"/>
                    </a:lnTo>
                    <a:lnTo>
                      <a:pt x="97" y="68"/>
                    </a:lnTo>
                    <a:lnTo>
                      <a:pt x="141" y="103"/>
                    </a:lnTo>
                    <a:lnTo>
                      <a:pt x="183" y="140"/>
                    </a:lnTo>
                    <a:lnTo>
                      <a:pt x="221" y="177"/>
                    </a:lnTo>
                    <a:lnTo>
                      <a:pt x="257" y="215"/>
                    </a:lnTo>
                    <a:lnTo>
                      <a:pt x="289" y="254"/>
                    </a:lnTo>
                    <a:lnTo>
                      <a:pt x="319" y="295"/>
                    </a:lnTo>
                    <a:lnTo>
                      <a:pt x="344" y="335"/>
                    </a:lnTo>
                    <a:lnTo>
                      <a:pt x="367" y="377"/>
                    </a:lnTo>
                    <a:lnTo>
                      <a:pt x="387" y="420"/>
                    </a:lnTo>
                    <a:lnTo>
                      <a:pt x="405" y="464"/>
                    </a:lnTo>
                    <a:lnTo>
                      <a:pt x="418" y="508"/>
                    </a:lnTo>
                    <a:lnTo>
                      <a:pt x="429" y="554"/>
                    </a:lnTo>
                    <a:lnTo>
                      <a:pt x="437" y="600"/>
                    </a:lnTo>
                    <a:lnTo>
                      <a:pt x="443" y="648"/>
                    </a:lnTo>
                    <a:lnTo>
                      <a:pt x="443" y="653"/>
                    </a:lnTo>
                    <a:lnTo>
                      <a:pt x="444" y="7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09" name="Line 1144"/>
              <p:cNvSpPr>
                <a:spLocks noChangeShapeType="1"/>
              </p:cNvSpPr>
              <p:nvPr/>
            </p:nvSpPr>
            <p:spPr bwMode="auto">
              <a:xfrm>
                <a:off x="2004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0" name="Line 1145"/>
              <p:cNvSpPr>
                <a:spLocks noChangeShapeType="1"/>
              </p:cNvSpPr>
              <p:nvPr/>
            </p:nvSpPr>
            <p:spPr bwMode="auto">
              <a:xfrm>
                <a:off x="1890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1" name="Freeform 1146"/>
              <p:cNvSpPr>
                <a:spLocks/>
              </p:cNvSpPr>
              <p:nvPr/>
            </p:nvSpPr>
            <p:spPr bwMode="auto">
              <a:xfrm>
                <a:off x="1810" y="1193"/>
                <a:ext cx="80" cy="112"/>
              </a:xfrm>
              <a:custGeom>
                <a:avLst/>
                <a:gdLst>
                  <a:gd name="T0" fmla="*/ 0 w 317"/>
                  <a:gd name="T1" fmla="*/ 0 h 448"/>
                  <a:gd name="T2" fmla="*/ 0 w 317"/>
                  <a:gd name="T3" fmla="*/ 0 h 448"/>
                  <a:gd name="T4" fmla="*/ 0 w 317"/>
                  <a:gd name="T5" fmla="*/ 0 h 448"/>
                  <a:gd name="T6" fmla="*/ 0 w 317"/>
                  <a:gd name="T7" fmla="*/ 0 h 448"/>
                  <a:gd name="T8" fmla="*/ 0 w 317"/>
                  <a:gd name="T9" fmla="*/ 0 h 448"/>
                  <a:gd name="T10" fmla="*/ 0 w 317"/>
                  <a:gd name="T11" fmla="*/ 0 h 448"/>
                  <a:gd name="T12" fmla="*/ 0 w 317"/>
                  <a:gd name="T13" fmla="*/ 0 h 448"/>
                  <a:gd name="T14" fmla="*/ 0 w 317"/>
                  <a:gd name="T15" fmla="*/ 0 h 448"/>
                  <a:gd name="T16" fmla="*/ 0 w 317"/>
                  <a:gd name="T17" fmla="*/ 0 h 448"/>
                  <a:gd name="T18" fmla="*/ 0 w 317"/>
                  <a:gd name="T19" fmla="*/ 0 h 448"/>
                  <a:gd name="T20" fmla="*/ 0 w 317"/>
                  <a:gd name="T21" fmla="*/ 0 h 448"/>
                  <a:gd name="T22" fmla="*/ 0 w 317"/>
                  <a:gd name="T23" fmla="*/ 0 h 448"/>
                  <a:gd name="T24" fmla="*/ 0 w 317"/>
                  <a:gd name="T25" fmla="*/ 0 h 448"/>
                  <a:gd name="T26" fmla="*/ 0 w 317"/>
                  <a:gd name="T27" fmla="*/ 0 h 448"/>
                  <a:gd name="T28" fmla="*/ 0 w 317"/>
                  <a:gd name="T29" fmla="*/ 0 h 448"/>
                  <a:gd name="T30" fmla="*/ 0 w 317"/>
                  <a:gd name="T31" fmla="*/ 0 h 448"/>
                  <a:gd name="T32" fmla="*/ 0 w 317"/>
                  <a:gd name="T33" fmla="*/ 0 h 448"/>
                  <a:gd name="T34" fmla="*/ 0 w 317"/>
                  <a:gd name="T35" fmla="*/ 0 h 448"/>
                  <a:gd name="T36" fmla="*/ 0 w 317"/>
                  <a:gd name="T37" fmla="*/ 0 h 448"/>
                  <a:gd name="T38" fmla="*/ 0 w 317"/>
                  <a:gd name="T39" fmla="*/ 0 h 448"/>
                  <a:gd name="T40" fmla="*/ 0 w 317"/>
                  <a:gd name="T41" fmla="*/ 0 h 448"/>
                  <a:gd name="T42" fmla="*/ 0 w 317"/>
                  <a:gd name="T43" fmla="*/ 0 h 448"/>
                  <a:gd name="T44" fmla="*/ 0 w 317"/>
                  <a:gd name="T45" fmla="*/ 0 h 448"/>
                  <a:gd name="T46" fmla="*/ 0 w 317"/>
                  <a:gd name="T47" fmla="*/ 0 h 448"/>
                  <a:gd name="T48" fmla="*/ 0 w 317"/>
                  <a:gd name="T49" fmla="*/ 0 h 44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17"/>
                  <a:gd name="T76" fmla="*/ 0 h 448"/>
                  <a:gd name="T77" fmla="*/ 317 w 317"/>
                  <a:gd name="T78" fmla="*/ 448 h 44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17" h="448">
                    <a:moveTo>
                      <a:pt x="0" y="445"/>
                    </a:moveTo>
                    <a:lnTo>
                      <a:pt x="3" y="448"/>
                    </a:lnTo>
                    <a:lnTo>
                      <a:pt x="12" y="443"/>
                    </a:lnTo>
                    <a:lnTo>
                      <a:pt x="41" y="421"/>
                    </a:lnTo>
                    <a:lnTo>
                      <a:pt x="69" y="401"/>
                    </a:lnTo>
                    <a:lnTo>
                      <a:pt x="95" y="379"/>
                    </a:lnTo>
                    <a:lnTo>
                      <a:pt x="107" y="368"/>
                    </a:lnTo>
                    <a:lnTo>
                      <a:pt x="120" y="358"/>
                    </a:lnTo>
                    <a:lnTo>
                      <a:pt x="143" y="336"/>
                    </a:lnTo>
                    <a:lnTo>
                      <a:pt x="165" y="314"/>
                    </a:lnTo>
                    <a:lnTo>
                      <a:pt x="185" y="291"/>
                    </a:lnTo>
                    <a:lnTo>
                      <a:pt x="205" y="268"/>
                    </a:lnTo>
                    <a:lnTo>
                      <a:pt x="222" y="244"/>
                    </a:lnTo>
                    <a:lnTo>
                      <a:pt x="238" y="221"/>
                    </a:lnTo>
                    <a:lnTo>
                      <a:pt x="252" y="197"/>
                    </a:lnTo>
                    <a:lnTo>
                      <a:pt x="266" y="174"/>
                    </a:lnTo>
                    <a:lnTo>
                      <a:pt x="268" y="167"/>
                    </a:lnTo>
                    <a:lnTo>
                      <a:pt x="271" y="161"/>
                    </a:lnTo>
                    <a:lnTo>
                      <a:pt x="277" y="149"/>
                    </a:lnTo>
                    <a:lnTo>
                      <a:pt x="288" y="125"/>
                    </a:lnTo>
                    <a:lnTo>
                      <a:pt x="297" y="99"/>
                    </a:lnTo>
                    <a:lnTo>
                      <a:pt x="305" y="75"/>
                    </a:lnTo>
                    <a:lnTo>
                      <a:pt x="312" y="37"/>
                    </a:lnTo>
                    <a:lnTo>
                      <a:pt x="314" y="18"/>
                    </a:lnTo>
                    <a:lnTo>
                      <a:pt x="31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2" name="Freeform 1147"/>
              <p:cNvSpPr>
                <a:spLocks/>
              </p:cNvSpPr>
              <p:nvPr/>
            </p:nvSpPr>
            <p:spPr bwMode="auto">
              <a:xfrm>
                <a:off x="1765" y="1193"/>
                <a:ext cx="66" cy="88"/>
              </a:xfrm>
              <a:custGeom>
                <a:avLst/>
                <a:gdLst>
                  <a:gd name="T0" fmla="*/ 0 w 266"/>
                  <a:gd name="T1" fmla="*/ 0 h 353"/>
                  <a:gd name="T2" fmla="*/ 0 w 266"/>
                  <a:gd name="T3" fmla="*/ 0 h 353"/>
                  <a:gd name="T4" fmla="*/ 0 w 266"/>
                  <a:gd name="T5" fmla="*/ 0 h 353"/>
                  <a:gd name="T6" fmla="*/ 0 w 266"/>
                  <a:gd name="T7" fmla="*/ 0 h 353"/>
                  <a:gd name="T8" fmla="*/ 0 w 266"/>
                  <a:gd name="T9" fmla="*/ 0 h 353"/>
                  <a:gd name="T10" fmla="*/ 0 w 266"/>
                  <a:gd name="T11" fmla="*/ 0 h 353"/>
                  <a:gd name="T12" fmla="*/ 0 w 266"/>
                  <a:gd name="T13" fmla="*/ 0 h 353"/>
                  <a:gd name="T14" fmla="*/ 0 w 266"/>
                  <a:gd name="T15" fmla="*/ 0 h 353"/>
                  <a:gd name="T16" fmla="*/ 0 w 266"/>
                  <a:gd name="T17" fmla="*/ 0 h 353"/>
                  <a:gd name="T18" fmla="*/ 0 w 266"/>
                  <a:gd name="T19" fmla="*/ 0 h 353"/>
                  <a:gd name="T20" fmla="*/ 0 w 266"/>
                  <a:gd name="T21" fmla="*/ 0 h 353"/>
                  <a:gd name="T22" fmla="*/ 0 w 266"/>
                  <a:gd name="T23" fmla="*/ 0 h 353"/>
                  <a:gd name="T24" fmla="*/ 0 w 266"/>
                  <a:gd name="T25" fmla="*/ 0 h 353"/>
                  <a:gd name="T26" fmla="*/ 0 w 266"/>
                  <a:gd name="T27" fmla="*/ 0 h 353"/>
                  <a:gd name="T28" fmla="*/ 0 w 266"/>
                  <a:gd name="T29" fmla="*/ 0 h 353"/>
                  <a:gd name="T30" fmla="*/ 0 w 266"/>
                  <a:gd name="T31" fmla="*/ 0 h 353"/>
                  <a:gd name="T32" fmla="*/ 0 w 266"/>
                  <a:gd name="T33" fmla="*/ 0 h 353"/>
                  <a:gd name="T34" fmla="*/ 0 w 266"/>
                  <a:gd name="T35" fmla="*/ 0 h 353"/>
                  <a:gd name="T36" fmla="*/ 0 w 266"/>
                  <a:gd name="T37" fmla="*/ 0 h 3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6"/>
                  <a:gd name="T58" fmla="*/ 0 h 353"/>
                  <a:gd name="T59" fmla="*/ 266 w 266"/>
                  <a:gd name="T60" fmla="*/ 353 h 3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6" h="353">
                    <a:moveTo>
                      <a:pt x="0" y="353"/>
                    </a:moveTo>
                    <a:lnTo>
                      <a:pt x="5" y="348"/>
                    </a:lnTo>
                    <a:lnTo>
                      <a:pt x="12" y="345"/>
                    </a:lnTo>
                    <a:lnTo>
                      <a:pt x="11" y="342"/>
                    </a:lnTo>
                    <a:lnTo>
                      <a:pt x="12" y="342"/>
                    </a:lnTo>
                    <a:lnTo>
                      <a:pt x="12" y="340"/>
                    </a:lnTo>
                    <a:lnTo>
                      <a:pt x="15" y="340"/>
                    </a:lnTo>
                    <a:lnTo>
                      <a:pt x="57" y="310"/>
                    </a:lnTo>
                    <a:lnTo>
                      <a:pt x="97" y="279"/>
                    </a:lnTo>
                    <a:lnTo>
                      <a:pt x="131" y="247"/>
                    </a:lnTo>
                    <a:lnTo>
                      <a:pt x="163" y="215"/>
                    </a:lnTo>
                    <a:lnTo>
                      <a:pt x="189" y="181"/>
                    </a:lnTo>
                    <a:lnTo>
                      <a:pt x="213" y="147"/>
                    </a:lnTo>
                    <a:lnTo>
                      <a:pt x="233" y="111"/>
                    </a:lnTo>
                    <a:lnTo>
                      <a:pt x="249" y="75"/>
                    </a:lnTo>
                    <a:lnTo>
                      <a:pt x="259" y="37"/>
                    </a:lnTo>
                    <a:lnTo>
                      <a:pt x="260" y="27"/>
                    </a:lnTo>
                    <a:lnTo>
                      <a:pt x="262" y="18"/>
                    </a:lnTo>
                    <a:lnTo>
                      <a:pt x="26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3" name="Line 1148"/>
              <p:cNvSpPr>
                <a:spLocks noChangeShapeType="1"/>
              </p:cNvSpPr>
              <p:nvPr/>
            </p:nvSpPr>
            <p:spPr bwMode="auto">
              <a:xfrm flipH="1">
                <a:off x="1809" y="1305"/>
                <a:ext cx="0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4" name="Freeform 1149"/>
              <p:cNvSpPr>
                <a:spLocks/>
              </p:cNvSpPr>
              <p:nvPr/>
            </p:nvSpPr>
            <p:spPr bwMode="auto">
              <a:xfrm>
                <a:off x="1608" y="1305"/>
                <a:ext cx="201" cy="53"/>
              </a:xfrm>
              <a:custGeom>
                <a:avLst/>
                <a:gdLst>
                  <a:gd name="T0" fmla="*/ 0 w 806"/>
                  <a:gd name="T1" fmla="*/ 0 h 211"/>
                  <a:gd name="T2" fmla="*/ 0 w 806"/>
                  <a:gd name="T3" fmla="*/ 0 h 211"/>
                  <a:gd name="T4" fmla="*/ 0 w 806"/>
                  <a:gd name="T5" fmla="*/ 0 h 211"/>
                  <a:gd name="T6" fmla="*/ 0 w 806"/>
                  <a:gd name="T7" fmla="*/ 0 h 211"/>
                  <a:gd name="T8" fmla="*/ 0 w 806"/>
                  <a:gd name="T9" fmla="*/ 0 h 211"/>
                  <a:gd name="T10" fmla="*/ 0 w 806"/>
                  <a:gd name="T11" fmla="*/ 0 h 211"/>
                  <a:gd name="T12" fmla="*/ 0 w 806"/>
                  <a:gd name="T13" fmla="*/ 0 h 211"/>
                  <a:gd name="T14" fmla="*/ 0 w 806"/>
                  <a:gd name="T15" fmla="*/ 0 h 211"/>
                  <a:gd name="T16" fmla="*/ 0 w 806"/>
                  <a:gd name="T17" fmla="*/ 0 h 211"/>
                  <a:gd name="T18" fmla="*/ 0 w 806"/>
                  <a:gd name="T19" fmla="*/ 0 h 211"/>
                  <a:gd name="T20" fmla="*/ 0 w 806"/>
                  <a:gd name="T21" fmla="*/ 0 h 211"/>
                  <a:gd name="T22" fmla="*/ 0 w 806"/>
                  <a:gd name="T23" fmla="*/ 0 h 211"/>
                  <a:gd name="T24" fmla="*/ 0 w 806"/>
                  <a:gd name="T25" fmla="*/ 0 h 211"/>
                  <a:gd name="T26" fmla="*/ 0 w 806"/>
                  <a:gd name="T27" fmla="*/ 0 h 211"/>
                  <a:gd name="T28" fmla="*/ 0 w 806"/>
                  <a:gd name="T29" fmla="*/ 0 h 211"/>
                  <a:gd name="T30" fmla="*/ 0 w 806"/>
                  <a:gd name="T31" fmla="*/ 0 h 211"/>
                  <a:gd name="T32" fmla="*/ 0 w 806"/>
                  <a:gd name="T33" fmla="*/ 0 h 211"/>
                  <a:gd name="T34" fmla="*/ 0 w 806"/>
                  <a:gd name="T35" fmla="*/ 0 h 21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06"/>
                  <a:gd name="T55" fmla="*/ 0 h 211"/>
                  <a:gd name="T56" fmla="*/ 806 w 806"/>
                  <a:gd name="T57" fmla="*/ 211 h 21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06" h="211">
                    <a:moveTo>
                      <a:pt x="0" y="211"/>
                    </a:moveTo>
                    <a:lnTo>
                      <a:pt x="56" y="209"/>
                    </a:lnTo>
                    <a:lnTo>
                      <a:pt x="112" y="206"/>
                    </a:lnTo>
                    <a:lnTo>
                      <a:pt x="166" y="201"/>
                    </a:lnTo>
                    <a:lnTo>
                      <a:pt x="220" y="196"/>
                    </a:lnTo>
                    <a:lnTo>
                      <a:pt x="272" y="188"/>
                    </a:lnTo>
                    <a:lnTo>
                      <a:pt x="324" y="179"/>
                    </a:lnTo>
                    <a:lnTo>
                      <a:pt x="374" y="169"/>
                    </a:lnTo>
                    <a:lnTo>
                      <a:pt x="424" y="158"/>
                    </a:lnTo>
                    <a:lnTo>
                      <a:pt x="472" y="144"/>
                    </a:lnTo>
                    <a:lnTo>
                      <a:pt x="520" y="130"/>
                    </a:lnTo>
                    <a:lnTo>
                      <a:pt x="567" y="114"/>
                    </a:lnTo>
                    <a:lnTo>
                      <a:pt x="613" y="97"/>
                    </a:lnTo>
                    <a:lnTo>
                      <a:pt x="657" y="78"/>
                    </a:lnTo>
                    <a:lnTo>
                      <a:pt x="701" y="58"/>
                    </a:lnTo>
                    <a:lnTo>
                      <a:pt x="743" y="36"/>
                    </a:lnTo>
                    <a:lnTo>
                      <a:pt x="785" y="13"/>
                    </a:lnTo>
                    <a:lnTo>
                      <a:pt x="80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5" name="Line 1150"/>
              <p:cNvSpPr>
                <a:spLocks noChangeShapeType="1"/>
              </p:cNvSpPr>
              <p:nvPr/>
            </p:nvSpPr>
            <p:spPr bwMode="auto">
              <a:xfrm flipV="1">
                <a:off x="1809" y="1305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6" name="Freeform 1151"/>
              <p:cNvSpPr>
                <a:spLocks/>
              </p:cNvSpPr>
              <p:nvPr/>
            </p:nvSpPr>
            <p:spPr bwMode="auto">
              <a:xfrm>
                <a:off x="1608" y="1332"/>
                <a:ext cx="248" cy="66"/>
              </a:xfrm>
              <a:custGeom>
                <a:avLst/>
                <a:gdLst>
                  <a:gd name="T0" fmla="*/ 0 w 994"/>
                  <a:gd name="T1" fmla="*/ 0 h 262"/>
                  <a:gd name="T2" fmla="*/ 0 w 994"/>
                  <a:gd name="T3" fmla="*/ 0 h 262"/>
                  <a:gd name="T4" fmla="*/ 0 w 994"/>
                  <a:gd name="T5" fmla="*/ 0 h 262"/>
                  <a:gd name="T6" fmla="*/ 0 w 994"/>
                  <a:gd name="T7" fmla="*/ 0 h 262"/>
                  <a:gd name="T8" fmla="*/ 0 w 994"/>
                  <a:gd name="T9" fmla="*/ 0 h 262"/>
                  <a:gd name="T10" fmla="*/ 0 w 994"/>
                  <a:gd name="T11" fmla="*/ 0 h 262"/>
                  <a:gd name="T12" fmla="*/ 0 w 994"/>
                  <a:gd name="T13" fmla="*/ 0 h 262"/>
                  <a:gd name="T14" fmla="*/ 0 w 994"/>
                  <a:gd name="T15" fmla="*/ 0 h 262"/>
                  <a:gd name="T16" fmla="*/ 0 w 994"/>
                  <a:gd name="T17" fmla="*/ 0 h 262"/>
                  <a:gd name="T18" fmla="*/ 0 w 994"/>
                  <a:gd name="T19" fmla="*/ 0 h 262"/>
                  <a:gd name="T20" fmla="*/ 0 w 994"/>
                  <a:gd name="T21" fmla="*/ 0 h 262"/>
                  <a:gd name="T22" fmla="*/ 0 w 994"/>
                  <a:gd name="T23" fmla="*/ 0 h 262"/>
                  <a:gd name="T24" fmla="*/ 0 w 994"/>
                  <a:gd name="T25" fmla="*/ 0 h 262"/>
                  <a:gd name="T26" fmla="*/ 0 w 994"/>
                  <a:gd name="T27" fmla="*/ 0 h 262"/>
                  <a:gd name="T28" fmla="*/ 0 w 994"/>
                  <a:gd name="T29" fmla="*/ 0 h 262"/>
                  <a:gd name="T30" fmla="*/ 0 w 994"/>
                  <a:gd name="T31" fmla="*/ 0 h 262"/>
                  <a:gd name="T32" fmla="*/ 0 w 994"/>
                  <a:gd name="T33" fmla="*/ 0 h 262"/>
                  <a:gd name="T34" fmla="*/ 0 w 994"/>
                  <a:gd name="T35" fmla="*/ 0 h 262"/>
                  <a:gd name="T36" fmla="*/ 0 w 994"/>
                  <a:gd name="T37" fmla="*/ 0 h 262"/>
                  <a:gd name="T38" fmla="*/ 0 w 994"/>
                  <a:gd name="T39" fmla="*/ 0 h 262"/>
                  <a:gd name="T40" fmla="*/ 0 w 994"/>
                  <a:gd name="T41" fmla="*/ 0 h 262"/>
                  <a:gd name="T42" fmla="*/ 0 w 994"/>
                  <a:gd name="T43" fmla="*/ 0 h 262"/>
                  <a:gd name="T44" fmla="*/ 0 w 994"/>
                  <a:gd name="T45" fmla="*/ 0 h 262"/>
                  <a:gd name="T46" fmla="*/ 0 w 994"/>
                  <a:gd name="T47" fmla="*/ 0 h 262"/>
                  <a:gd name="T48" fmla="*/ 0 w 994"/>
                  <a:gd name="T49" fmla="*/ 0 h 262"/>
                  <a:gd name="T50" fmla="*/ 0 w 994"/>
                  <a:gd name="T51" fmla="*/ 0 h 262"/>
                  <a:gd name="T52" fmla="*/ 0 w 994"/>
                  <a:gd name="T53" fmla="*/ 0 h 262"/>
                  <a:gd name="T54" fmla="*/ 0 w 994"/>
                  <a:gd name="T55" fmla="*/ 0 h 262"/>
                  <a:gd name="T56" fmla="*/ 0 w 994"/>
                  <a:gd name="T57" fmla="*/ 0 h 262"/>
                  <a:gd name="T58" fmla="*/ 0 w 994"/>
                  <a:gd name="T59" fmla="*/ 0 h 262"/>
                  <a:gd name="T60" fmla="*/ 0 w 994"/>
                  <a:gd name="T61" fmla="*/ 0 h 262"/>
                  <a:gd name="T62" fmla="*/ 0 w 994"/>
                  <a:gd name="T63" fmla="*/ 0 h 2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94"/>
                  <a:gd name="T97" fmla="*/ 0 h 262"/>
                  <a:gd name="T98" fmla="*/ 994 w 994"/>
                  <a:gd name="T99" fmla="*/ 262 h 26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94" h="262">
                    <a:moveTo>
                      <a:pt x="994" y="0"/>
                    </a:moveTo>
                    <a:lnTo>
                      <a:pt x="993" y="0"/>
                    </a:lnTo>
                    <a:lnTo>
                      <a:pt x="979" y="7"/>
                    </a:lnTo>
                    <a:lnTo>
                      <a:pt x="966" y="15"/>
                    </a:lnTo>
                    <a:lnTo>
                      <a:pt x="940" y="31"/>
                    </a:lnTo>
                    <a:lnTo>
                      <a:pt x="886" y="60"/>
                    </a:lnTo>
                    <a:lnTo>
                      <a:pt x="858" y="73"/>
                    </a:lnTo>
                    <a:lnTo>
                      <a:pt x="831" y="87"/>
                    </a:lnTo>
                    <a:lnTo>
                      <a:pt x="775" y="112"/>
                    </a:lnTo>
                    <a:lnTo>
                      <a:pt x="717" y="135"/>
                    </a:lnTo>
                    <a:lnTo>
                      <a:pt x="687" y="145"/>
                    </a:lnTo>
                    <a:lnTo>
                      <a:pt x="679" y="147"/>
                    </a:lnTo>
                    <a:lnTo>
                      <a:pt x="672" y="150"/>
                    </a:lnTo>
                    <a:lnTo>
                      <a:pt x="658" y="156"/>
                    </a:lnTo>
                    <a:lnTo>
                      <a:pt x="598" y="175"/>
                    </a:lnTo>
                    <a:lnTo>
                      <a:pt x="582" y="179"/>
                    </a:lnTo>
                    <a:lnTo>
                      <a:pt x="574" y="181"/>
                    </a:lnTo>
                    <a:lnTo>
                      <a:pt x="567" y="184"/>
                    </a:lnTo>
                    <a:lnTo>
                      <a:pt x="536" y="194"/>
                    </a:lnTo>
                    <a:lnTo>
                      <a:pt x="504" y="201"/>
                    </a:lnTo>
                    <a:lnTo>
                      <a:pt x="473" y="209"/>
                    </a:lnTo>
                    <a:lnTo>
                      <a:pt x="409" y="222"/>
                    </a:lnTo>
                    <a:lnTo>
                      <a:pt x="392" y="224"/>
                    </a:lnTo>
                    <a:lnTo>
                      <a:pt x="376" y="227"/>
                    </a:lnTo>
                    <a:lnTo>
                      <a:pt x="344" y="233"/>
                    </a:lnTo>
                    <a:lnTo>
                      <a:pt x="278" y="244"/>
                    </a:lnTo>
                    <a:lnTo>
                      <a:pt x="210" y="251"/>
                    </a:lnTo>
                    <a:lnTo>
                      <a:pt x="175" y="253"/>
                    </a:lnTo>
                    <a:lnTo>
                      <a:pt x="141" y="256"/>
                    </a:lnTo>
                    <a:lnTo>
                      <a:pt x="71" y="259"/>
                    </a:lnTo>
                    <a:lnTo>
                      <a:pt x="35" y="260"/>
                    </a:lnTo>
                    <a:lnTo>
                      <a:pt x="0" y="26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7" name="Line 1152"/>
              <p:cNvSpPr>
                <a:spLocks noChangeShapeType="1"/>
              </p:cNvSpPr>
              <p:nvPr/>
            </p:nvSpPr>
            <p:spPr bwMode="auto">
              <a:xfrm flipH="1" flipV="1">
                <a:off x="1809" y="1305"/>
                <a:ext cx="47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8" name="Freeform 1153"/>
              <p:cNvSpPr>
                <a:spLocks/>
              </p:cNvSpPr>
              <p:nvPr/>
            </p:nvSpPr>
            <p:spPr bwMode="auto">
              <a:xfrm>
                <a:off x="1608" y="1355"/>
                <a:ext cx="290" cy="80"/>
              </a:xfrm>
              <a:custGeom>
                <a:avLst/>
                <a:gdLst>
                  <a:gd name="T0" fmla="*/ 0 w 1159"/>
                  <a:gd name="T1" fmla="*/ 0 h 319"/>
                  <a:gd name="T2" fmla="*/ 0 w 1159"/>
                  <a:gd name="T3" fmla="*/ 0 h 319"/>
                  <a:gd name="T4" fmla="*/ 0 w 1159"/>
                  <a:gd name="T5" fmla="*/ 0 h 319"/>
                  <a:gd name="T6" fmla="*/ 0 w 1159"/>
                  <a:gd name="T7" fmla="*/ 0 h 319"/>
                  <a:gd name="T8" fmla="*/ 0 w 1159"/>
                  <a:gd name="T9" fmla="*/ 0 h 319"/>
                  <a:gd name="T10" fmla="*/ 0 w 1159"/>
                  <a:gd name="T11" fmla="*/ 0 h 319"/>
                  <a:gd name="T12" fmla="*/ 0 w 1159"/>
                  <a:gd name="T13" fmla="*/ 0 h 319"/>
                  <a:gd name="T14" fmla="*/ 0 w 1159"/>
                  <a:gd name="T15" fmla="*/ 0 h 319"/>
                  <a:gd name="T16" fmla="*/ 0 w 1159"/>
                  <a:gd name="T17" fmla="*/ 0 h 319"/>
                  <a:gd name="T18" fmla="*/ 0 w 1159"/>
                  <a:gd name="T19" fmla="*/ 0 h 319"/>
                  <a:gd name="T20" fmla="*/ 0 w 1159"/>
                  <a:gd name="T21" fmla="*/ 0 h 319"/>
                  <a:gd name="T22" fmla="*/ 0 w 1159"/>
                  <a:gd name="T23" fmla="*/ 0 h 319"/>
                  <a:gd name="T24" fmla="*/ 0 w 1159"/>
                  <a:gd name="T25" fmla="*/ 0 h 319"/>
                  <a:gd name="T26" fmla="*/ 0 w 1159"/>
                  <a:gd name="T27" fmla="*/ 0 h 319"/>
                  <a:gd name="T28" fmla="*/ 0 w 1159"/>
                  <a:gd name="T29" fmla="*/ 0 h 319"/>
                  <a:gd name="T30" fmla="*/ 0 w 1159"/>
                  <a:gd name="T31" fmla="*/ 0 h 319"/>
                  <a:gd name="T32" fmla="*/ 0 w 1159"/>
                  <a:gd name="T33" fmla="*/ 0 h 319"/>
                  <a:gd name="T34" fmla="*/ 0 w 1159"/>
                  <a:gd name="T35" fmla="*/ 0 h 319"/>
                  <a:gd name="T36" fmla="*/ 0 w 1159"/>
                  <a:gd name="T37" fmla="*/ 0 h 319"/>
                  <a:gd name="T38" fmla="*/ 0 w 1159"/>
                  <a:gd name="T39" fmla="*/ 0 h 319"/>
                  <a:gd name="T40" fmla="*/ 0 w 1159"/>
                  <a:gd name="T41" fmla="*/ 0 h 319"/>
                  <a:gd name="T42" fmla="*/ 0 w 1159"/>
                  <a:gd name="T43" fmla="*/ 0 h 319"/>
                  <a:gd name="T44" fmla="*/ 0 w 1159"/>
                  <a:gd name="T45" fmla="*/ 0 h 319"/>
                  <a:gd name="T46" fmla="*/ 0 w 1159"/>
                  <a:gd name="T47" fmla="*/ 0 h 319"/>
                  <a:gd name="T48" fmla="*/ 0 w 1159"/>
                  <a:gd name="T49" fmla="*/ 0 h 319"/>
                  <a:gd name="T50" fmla="*/ 0 w 1159"/>
                  <a:gd name="T51" fmla="*/ 0 h 319"/>
                  <a:gd name="T52" fmla="*/ 0 w 1159"/>
                  <a:gd name="T53" fmla="*/ 0 h 319"/>
                  <a:gd name="T54" fmla="*/ 0 w 1159"/>
                  <a:gd name="T55" fmla="*/ 0 h 319"/>
                  <a:gd name="T56" fmla="*/ 0 w 1159"/>
                  <a:gd name="T57" fmla="*/ 0 h 319"/>
                  <a:gd name="T58" fmla="*/ 0 w 1159"/>
                  <a:gd name="T59" fmla="*/ 0 h 319"/>
                  <a:gd name="T60" fmla="*/ 0 w 1159"/>
                  <a:gd name="T61" fmla="*/ 0 h 319"/>
                  <a:gd name="T62" fmla="*/ 0 w 1159"/>
                  <a:gd name="T63" fmla="*/ 0 h 31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159"/>
                  <a:gd name="T97" fmla="*/ 0 h 319"/>
                  <a:gd name="T98" fmla="*/ 1159 w 1159"/>
                  <a:gd name="T99" fmla="*/ 319 h 31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159" h="319">
                    <a:moveTo>
                      <a:pt x="0" y="319"/>
                    </a:moveTo>
                    <a:lnTo>
                      <a:pt x="39" y="317"/>
                    </a:lnTo>
                    <a:lnTo>
                      <a:pt x="79" y="316"/>
                    </a:lnTo>
                    <a:lnTo>
                      <a:pt x="157" y="312"/>
                    </a:lnTo>
                    <a:lnTo>
                      <a:pt x="233" y="305"/>
                    </a:lnTo>
                    <a:lnTo>
                      <a:pt x="270" y="301"/>
                    </a:lnTo>
                    <a:lnTo>
                      <a:pt x="308" y="298"/>
                    </a:lnTo>
                    <a:lnTo>
                      <a:pt x="344" y="292"/>
                    </a:lnTo>
                    <a:lnTo>
                      <a:pt x="362" y="289"/>
                    </a:lnTo>
                    <a:lnTo>
                      <a:pt x="381" y="287"/>
                    </a:lnTo>
                    <a:lnTo>
                      <a:pt x="417" y="281"/>
                    </a:lnTo>
                    <a:lnTo>
                      <a:pt x="454" y="275"/>
                    </a:lnTo>
                    <a:lnTo>
                      <a:pt x="489" y="267"/>
                    </a:lnTo>
                    <a:lnTo>
                      <a:pt x="525" y="260"/>
                    </a:lnTo>
                    <a:lnTo>
                      <a:pt x="596" y="244"/>
                    </a:lnTo>
                    <a:lnTo>
                      <a:pt x="629" y="234"/>
                    </a:lnTo>
                    <a:lnTo>
                      <a:pt x="663" y="224"/>
                    </a:lnTo>
                    <a:lnTo>
                      <a:pt x="679" y="218"/>
                    </a:lnTo>
                    <a:lnTo>
                      <a:pt x="687" y="215"/>
                    </a:lnTo>
                    <a:lnTo>
                      <a:pt x="696" y="213"/>
                    </a:lnTo>
                    <a:lnTo>
                      <a:pt x="730" y="203"/>
                    </a:lnTo>
                    <a:lnTo>
                      <a:pt x="762" y="191"/>
                    </a:lnTo>
                    <a:lnTo>
                      <a:pt x="795" y="179"/>
                    </a:lnTo>
                    <a:lnTo>
                      <a:pt x="859" y="154"/>
                    </a:lnTo>
                    <a:lnTo>
                      <a:pt x="921" y="125"/>
                    </a:lnTo>
                    <a:lnTo>
                      <a:pt x="951" y="110"/>
                    </a:lnTo>
                    <a:lnTo>
                      <a:pt x="982" y="96"/>
                    </a:lnTo>
                    <a:lnTo>
                      <a:pt x="1042" y="63"/>
                    </a:lnTo>
                    <a:lnTo>
                      <a:pt x="1056" y="54"/>
                    </a:lnTo>
                    <a:lnTo>
                      <a:pt x="1071" y="46"/>
                    </a:lnTo>
                    <a:lnTo>
                      <a:pt x="1101" y="30"/>
                    </a:lnTo>
                    <a:lnTo>
                      <a:pt x="115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19" name="Line 1154"/>
              <p:cNvSpPr>
                <a:spLocks noChangeShapeType="1"/>
              </p:cNvSpPr>
              <p:nvPr/>
            </p:nvSpPr>
            <p:spPr bwMode="auto">
              <a:xfrm flipH="1" flipV="1">
                <a:off x="1898" y="1355"/>
                <a:ext cx="46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0" name="Freeform 1155"/>
              <p:cNvSpPr>
                <a:spLocks/>
              </p:cNvSpPr>
              <p:nvPr/>
            </p:nvSpPr>
            <p:spPr bwMode="auto">
              <a:xfrm>
                <a:off x="1898" y="1193"/>
                <a:ext cx="106" cy="162"/>
              </a:xfrm>
              <a:custGeom>
                <a:avLst/>
                <a:gdLst>
                  <a:gd name="T0" fmla="*/ 0 w 427"/>
                  <a:gd name="T1" fmla="*/ 0 h 651"/>
                  <a:gd name="T2" fmla="*/ 0 w 427"/>
                  <a:gd name="T3" fmla="*/ 0 h 651"/>
                  <a:gd name="T4" fmla="*/ 0 w 427"/>
                  <a:gd name="T5" fmla="*/ 0 h 651"/>
                  <a:gd name="T6" fmla="*/ 0 w 427"/>
                  <a:gd name="T7" fmla="*/ 0 h 651"/>
                  <a:gd name="T8" fmla="*/ 0 w 427"/>
                  <a:gd name="T9" fmla="*/ 0 h 651"/>
                  <a:gd name="T10" fmla="*/ 0 w 427"/>
                  <a:gd name="T11" fmla="*/ 0 h 651"/>
                  <a:gd name="T12" fmla="*/ 0 w 427"/>
                  <a:gd name="T13" fmla="*/ 0 h 651"/>
                  <a:gd name="T14" fmla="*/ 0 w 427"/>
                  <a:gd name="T15" fmla="*/ 0 h 651"/>
                  <a:gd name="T16" fmla="*/ 0 w 427"/>
                  <a:gd name="T17" fmla="*/ 0 h 651"/>
                  <a:gd name="T18" fmla="*/ 0 w 427"/>
                  <a:gd name="T19" fmla="*/ 0 h 651"/>
                  <a:gd name="T20" fmla="*/ 0 w 427"/>
                  <a:gd name="T21" fmla="*/ 0 h 651"/>
                  <a:gd name="T22" fmla="*/ 0 w 427"/>
                  <a:gd name="T23" fmla="*/ 0 h 651"/>
                  <a:gd name="T24" fmla="*/ 0 w 427"/>
                  <a:gd name="T25" fmla="*/ 0 h 651"/>
                  <a:gd name="T26" fmla="*/ 0 w 427"/>
                  <a:gd name="T27" fmla="*/ 0 h 651"/>
                  <a:gd name="T28" fmla="*/ 0 w 427"/>
                  <a:gd name="T29" fmla="*/ 0 h 651"/>
                  <a:gd name="T30" fmla="*/ 0 w 427"/>
                  <a:gd name="T31" fmla="*/ 0 h 651"/>
                  <a:gd name="T32" fmla="*/ 0 w 427"/>
                  <a:gd name="T33" fmla="*/ 0 h 651"/>
                  <a:gd name="T34" fmla="*/ 0 w 427"/>
                  <a:gd name="T35" fmla="*/ 0 h 651"/>
                  <a:gd name="T36" fmla="*/ 0 w 427"/>
                  <a:gd name="T37" fmla="*/ 0 h 651"/>
                  <a:gd name="T38" fmla="*/ 0 w 427"/>
                  <a:gd name="T39" fmla="*/ 0 h 651"/>
                  <a:gd name="T40" fmla="*/ 0 w 427"/>
                  <a:gd name="T41" fmla="*/ 0 h 651"/>
                  <a:gd name="T42" fmla="*/ 0 w 427"/>
                  <a:gd name="T43" fmla="*/ 0 h 651"/>
                  <a:gd name="T44" fmla="*/ 0 w 427"/>
                  <a:gd name="T45" fmla="*/ 0 h 651"/>
                  <a:gd name="T46" fmla="*/ 0 w 427"/>
                  <a:gd name="T47" fmla="*/ 0 h 651"/>
                  <a:gd name="T48" fmla="*/ 0 w 427"/>
                  <a:gd name="T49" fmla="*/ 0 h 651"/>
                  <a:gd name="T50" fmla="*/ 0 w 427"/>
                  <a:gd name="T51" fmla="*/ 0 h 651"/>
                  <a:gd name="T52" fmla="*/ 0 w 427"/>
                  <a:gd name="T53" fmla="*/ 0 h 651"/>
                  <a:gd name="T54" fmla="*/ 0 w 427"/>
                  <a:gd name="T55" fmla="*/ 0 h 651"/>
                  <a:gd name="T56" fmla="*/ 0 w 427"/>
                  <a:gd name="T57" fmla="*/ 0 h 651"/>
                  <a:gd name="T58" fmla="*/ 0 w 427"/>
                  <a:gd name="T59" fmla="*/ 0 h 651"/>
                  <a:gd name="T60" fmla="*/ 0 w 427"/>
                  <a:gd name="T61" fmla="*/ 0 h 65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27"/>
                  <a:gd name="T94" fmla="*/ 0 h 651"/>
                  <a:gd name="T95" fmla="*/ 427 w 427"/>
                  <a:gd name="T96" fmla="*/ 651 h 651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27" h="651">
                    <a:moveTo>
                      <a:pt x="0" y="651"/>
                    </a:moveTo>
                    <a:lnTo>
                      <a:pt x="28" y="636"/>
                    </a:lnTo>
                    <a:lnTo>
                      <a:pt x="74" y="600"/>
                    </a:lnTo>
                    <a:lnTo>
                      <a:pt x="96" y="582"/>
                    </a:lnTo>
                    <a:lnTo>
                      <a:pt x="101" y="577"/>
                    </a:lnTo>
                    <a:lnTo>
                      <a:pt x="107" y="573"/>
                    </a:lnTo>
                    <a:lnTo>
                      <a:pt x="119" y="565"/>
                    </a:lnTo>
                    <a:lnTo>
                      <a:pt x="160" y="529"/>
                    </a:lnTo>
                    <a:lnTo>
                      <a:pt x="199" y="493"/>
                    </a:lnTo>
                    <a:lnTo>
                      <a:pt x="234" y="455"/>
                    </a:lnTo>
                    <a:lnTo>
                      <a:pt x="267" y="417"/>
                    </a:lnTo>
                    <a:lnTo>
                      <a:pt x="281" y="397"/>
                    </a:lnTo>
                    <a:lnTo>
                      <a:pt x="288" y="387"/>
                    </a:lnTo>
                    <a:lnTo>
                      <a:pt x="296" y="378"/>
                    </a:lnTo>
                    <a:lnTo>
                      <a:pt x="323" y="340"/>
                    </a:lnTo>
                    <a:lnTo>
                      <a:pt x="325" y="334"/>
                    </a:lnTo>
                    <a:lnTo>
                      <a:pt x="328" y="329"/>
                    </a:lnTo>
                    <a:lnTo>
                      <a:pt x="334" y="319"/>
                    </a:lnTo>
                    <a:lnTo>
                      <a:pt x="346" y="299"/>
                    </a:lnTo>
                    <a:lnTo>
                      <a:pt x="367" y="258"/>
                    </a:lnTo>
                    <a:lnTo>
                      <a:pt x="384" y="216"/>
                    </a:lnTo>
                    <a:lnTo>
                      <a:pt x="385" y="210"/>
                    </a:lnTo>
                    <a:lnTo>
                      <a:pt x="387" y="205"/>
                    </a:lnTo>
                    <a:lnTo>
                      <a:pt x="391" y="195"/>
                    </a:lnTo>
                    <a:lnTo>
                      <a:pt x="399" y="175"/>
                    </a:lnTo>
                    <a:lnTo>
                      <a:pt x="410" y="131"/>
                    </a:lnTo>
                    <a:lnTo>
                      <a:pt x="414" y="109"/>
                    </a:lnTo>
                    <a:lnTo>
                      <a:pt x="416" y="98"/>
                    </a:lnTo>
                    <a:lnTo>
                      <a:pt x="419" y="88"/>
                    </a:lnTo>
                    <a:lnTo>
                      <a:pt x="424" y="44"/>
                    </a:lnTo>
                    <a:lnTo>
                      <a:pt x="42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1" name="Freeform 1156"/>
              <p:cNvSpPr>
                <a:spLocks/>
              </p:cNvSpPr>
              <p:nvPr/>
            </p:nvSpPr>
            <p:spPr bwMode="auto">
              <a:xfrm>
                <a:off x="1608" y="1382"/>
                <a:ext cx="336" cy="94"/>
              </a:xfrm>
              <a:custGeom>
                <a:avLst/>
                <a:gdLst>
                  <a:gd name="T0" fmla="*/ 0 w 1346"/>
                  <a:gd name="T1" fmla="*/ 0 h 374"/>
                  <a:gd name="T2" fmla="*/ 0 w 1346"/>
                  <a:gd name="T3" fmla="*/ 0 h 374"/>
                  <a:gd name="T4" fmla="*/ 0 w 1346"/>
                  <a:gd name="T5" fmla="*/ 0 h 374"/>
                  <a:gd name="T6" fmla="*/ 0 w 1346"/>
                  <a:gd name="T7" fmla="*/ 0 h 374"/>
                  <a:gd name="T8" fmla="*/ 0 w 1346"/>
                  <a:gd name="T9" fmla="*/ 0 h 374"/>
                  <a:gd name="T10" fmla="*/ 0 w 1346"/>
                  <a:gd name="T11" fmla="*/ 0 h 374"/>
                  <a:gd name="T12" fmla="*/ 0 w 1346"/>
                  <a:gd name="T13" fmla="*/ 0 h 374"/>
                  <a:gd name="T14" fmla="*/ 0 w 1346"/>
                  <a:gd name="T15" fmla="*/ 0 h 374"/>
                  <a:gd name="T16" fmla="*/ 0 w 1346"/>
                  <a:gd name="T17" fmla="*/ 0 h 374"/>
                  <a:gd name="T18" fmla="*/ 0 w 1346"/>
                  <a:gd name="T19" fmla="*/ 0 h 374"/>
                  <a:gd name="T20" fmla="*/ 0 w 1346"/>
                  <a:gd name="T21" fmla="*/ 0 h 374"/>
                  <a:gd name="T22" fmla="*/ 0 w 1346"/>
                  <a:gd name="T23" fmla="*/ 0 h 374"/>
                  <a:gd name="T24" fmla="*/ 0 w 1346"/>
                  <a:gd name="T25" fmla="*/ 0 h 374"/>
                  <a:gd name="T26" fmla="*/ 0 w 1346"/>
                  <a:gd name="T27" fmla="*/ 0 h 374"/>
                  <a:gd name="T28" fmla="*/ 0 w 1346"/>
                  <a:gd name="T29" fmla="*/ 0 h 374"/>
                  <a:gd name="T30" fmla="*/ 0 w 1346"/>
                  <a:gd name="T31" fmla="*/ 0 h 374"/>
                  <a:gd name="T32" fmla="*/ 0 w 1346"/>
                  <a:gd name="T33" fmla="*/ 0 h 374"/>
                  <a:gd name="T34" fmla="*/ 0 w 1346"/>
                  <a:gd name="T35" fmla="*/ 0 h 374"/>
                  <a:gd name="T36" fmla="*/ 0 w 1346"/>
                  <a:gd name="T37" fmla="*/ 0 h 374"/>
                  <a:gd name="T38" fmla="*/ 0 w 1346"/>
                  <a:gd name="T39" fmla="*/ 0 h 374"/>
                  <a:gd name="T40" fmla="*/ 0 w 1346"/>
                  <a:gd name="T41" fmla="*/ 0 h 374"/>
                  <a:gd name="T42" fmla="*/ 0 w 1346"/>
                  <a:gd name="T43" fmla="*/ 0 h 374"/>
                  <a:gd name="T44" fmla="*/ 0 w 1346"/>
                  <a:gd name="T45" fmla="*/ 0 h 374"/>
                  <a:gd name="T46" fmla="*/ 0 w 1346"/>
                  <a:gd name="T47" fmla="*/ 0 h 374"/>
                  <a:gd name="T48" fmla="*/ 0 w 1346"/>
                  <a:gd name="T49" fmla="*/ 0 h 374"/>
                  <a:gd name="T50" fmla="*/ 0 w 1346"/>
                  <a:gd name="T51" fmla="*/ 0 h 374"/>
                  <a:gd name="T52" fmla="*/ 0 w 1346"/>
                  <a:gd name="T53" fmla="*/ 0 h 374"/>
                  <a:gd name="T54" fmla="*/ 0 w 1346"/>
                  <a:gd name="T55" fmla="*/ 0 h 374"/>
                  <a:gd name="T56" fmla="*/ 0 w 1346"/>
                  <a:gd name="T57" fmla="*/ 0 h 374"/>
                  <a:gd name="T58" fmla="*/ 0 w 1346"/>
                  <a:gd name="T59" fmla="*/ 0 h 374"/>
                  <a:gd name="T60" fmla="*/ 0 w 1346"/>
                  <a:gd name="T61" fmla="*/ 0 h 374"/>
                  <a:gd name="T62" fmla="*/ 0 w 1346"/>
                  <a:gd name="T63" fmla="*/ 0 h 374"/>
                  <a:gd name="T64" fmla="*/ 0 w 1346"/>
                  <a:gd name="T65" fmla="*/ 0 h 374"/>
                  <a:gd name="T66" fmla="*/ 0 w 1346"/>
                  <a:gd name="T67" fmla="*/ 0 h 374"/>
                  <a:gd name="T68" fmla="*/ 0 w 1346"/>
                  <a:gd name="T69" fmla="*/ 0 h 374"/>
                  <a:gd name="T70" fmla="*/ 0 w 1346"/>
                  <a:gd name="T71" fmla="*/ 0 h 374"/>
                  <a:gd name="T72" fmla="*/ 0 w 1346"/>
                  <a:gd name="T73" fmla="*/ 0 h 374"/>
                  <a:gd name="T74" fmla="*/ 0 w 1346"/>
                  <a:gd name="T75" fmla="*/ 0 h 37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346"/>
                  <a:gd name="T115" fmla="*/ 0 h 374"/>
                  <a:gd name="T116" fmla="*/ 1346 w 1346"/>
                  <a:gd name="T117" fmla="*/ 374 h 37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346" h="374">
                    <a:moveTo>
                      <a:pt x="0" y="374"/>
                    </a:moveTo>
                    <a:lnTo>
                      <a:pt x="46" y="372"/>
                    </a:lnTo>
                    <a:lnTo>
                      <a:pt x="57" y="371"/>
                    </a:lnTo>
                    <a:lnTo>
                      <a:pt x="69" y="371"/>
                    </a:lnTo>
                    <a:lnTo>
                      <a:pt x="93" y="371"/>
                    </a:lnTo>
                    <a:lnTo>
                      <a:pt x="115" y="369"/>
                    </a:lnTo>
                    <a:lnTo>
                      <a:pt x="126" y="368"/>
                    </a:lnTo>
                    <a:lnTo>
                      <a:pt x="138" y="368"/>
                    </a:lnTo>
                    <a:lnTo>
                      <a:pt x="184" y="366"/>
                    </a:lnTo>
                    <a:lnTo>
                      <a:pt x="274" y="358"/>
                    </a:lnTo>
                    <a:lnTo>
                      <a:pt x="318" y="353"/>
                    </a:lnTo>
                    <a:lnTo>
                      <a:pt x="363" y="349"/>
                    </a:lnTo>
                    <a:lnTo>
                      <a:pt x="449" y="336"/>
                    </a:lnTo>
                    <a:lnTo>
                      <a:pt x="491" y="329"/>
                    </a:lnTo>
                    <a:lnTo>
                      <a:pt x="512" y="325"/>
                    </a:lnTo>
                    <a:lnTo>
                      <a:pt x="534" y="322"/>
                    </a:lnTo>
                    <a:lnTo>
                      <a:pt x="555" y="317"/>
                    </a:lnTo>
                    <a:lnTo>
                      <a:pt x="576" y="313"/>
                    </a:lnTo>
                    <a:lnTo>
                      <a:pt x="618" y="304"/>
                    </a:lnTo>
                    <a:lnTo>
                      <a:pt x="700" y="285"/>
                    </a:lnTo>
                    <a:lnTo>
                      <a:pt x="739" y="273"/>
                    </a:lnTo>
                    <a:lnTo>
                      <a:pt x="779" y="262"/>
                    </a:lnTo>
                    <a:lnTo>
                      <a:pt x="857" y="238"/>
                    </a:lnTo>
                    <a:lnTo>
                      <a:pt x="933" y="210"/>
                    </a:lnTo>
                    <a:lnTo>
                      <a:pt x="951" y="202"/>
                    </a:lnTo>
                    <a:lnTo>
                      <a:pt x="960" y="198"/>
                    </a:lnTo>
                    <a:lnTo>
                      <a:pt x="970" y="195"/>
                    </a:lnTo>
                    <a:lnTo>
                      <a:pt x="1008" y="181"/>
                    </a:lnTo>
                    <a:lnTo>
                      <a:pt x="1080" y="148"/>
                    </a:lnTo>
                    <a:lnTo>
                      <a:pt x="1088" y="143"/>
                    </a:lnTo>
                    <a:lnTo>
                      <a:pt x="1097" y="139"/>
                    </a:lnTo>
                    <a:lnTo>
                      <a:pt x="1115" y="131"/>
                    </a:lnTo>
                    <a:lnTo>
                      <a:pt x="1151" y="114"/>
                    </a:lnTo>
                    <a:lnTo>
                      <a:pt x="1185" y="95"/>
                    </a:lnTo>
                    <a:lnTo>
                      <a:pt x="1202" y="85"/>
                    </a:lnTo>
                    <a:lnTo>
                      <a:pt x="1220" y="76"/>
                    </a:lnTo>
                    <a:lnTo>
                      <a:pt x="1288" y="37"/>
                    </a:lnTo>
                    <a:lnTo>
                      <a:pt x="134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2" name="Freeform 1157"/>
              <p:cNvSpPr>
                <a:spLocks/>
              </p:cNvSpPr>
              <p:nvPr/>
            </p:nvSpPr>
            <p:spPr bwMode="auto">
              <a:xfrm>
                <a:off x="1944" y="1193"/>
                <a:ext cx="119" cy="189"/>
              </a:xfrm>
              <a:custGeom>
                <a:avLst/>
                <a:gdLst>
                  <a:gd name="T0" fmla="*/ 0 w 476"/>
                  <a:gd name="T1" fmla="*/ 0 h 757"/>
                  <a:gd name="T2" fmla="*/ 0 w 476"/>
                  <a:gd name="T3" fmla="*/ 0 h 757"/>
                  <a:gd name="T4" fmla="*/ 0 w 476"/>
                  <a:gd name="T5" fmla="*/ 0 h 757"/>
                  <a:gd name="T6" fmla="*/ 0 w 476"/>
                  <a:gd name="T7" fmla="*/ 0 h 757"/>
                  <a:gd name="T8" fmla="*/ 0 w 476"/>
                  <a:gd name="T9" fmla="*/ 0 h 757"/>
                  <a:gd name="T10" fmla="*/ 0 w 476"/>
                  <a:gd name="T11" fmla="*/ 0 h 757"/>
                  <a:gd name="T12" fmla="*/ 0 w 476"/>
                  <a:gd name="T13" fmla="*/ 0 h 757"/>
                  <a:gd name="T14" fmla="*/ 0 w 476"/>
                  <a:gd name="T15" fmla="*/ 0 h 757"/>
                  <a:gd name="T16" fmla="*/ 0 w 476"/>
                  <a:gd name="T17" fmla="*/ 0 h 757"/>
                  <a:gd name="T18" fmla="*/ 0 w 476"/>
                  <a:gd name="T19" fmla="*/ 0 h 757"/>
                  <a:gd name="T20" fmla="*/ 0 w 476"/>
                  <a:gd name="T21" fmla="*/ 0 h 757"/>
                  <a:gd name="T22" fmla="*/ 0 w 476"/>
                  <a:gd name="T23" fmla="*/ 0 h 757"/>
                  <a:gd name="T24" fmla="*/ 0 w 476"/>
                  <a:gd name="T25" fmla="*/ 0 h 757"/>
                  <a:gd name="T26" fmla="*/ 0 w 476"/>
                  <a:gd name="T27" fmla="*/ 0 h 757"/>
                  <a:gd name="T28" fmla="*/ 0 w 476"/>
                  <a:gd name="T29" fmla="*/ 0 h 757"/>
                  <a:gd name="T30" fmla="*/ 0 w 476"/>
                  <a:gd name="T31" fmla="*/ 0 h 757"/>
                  <a:gd name="T32" fmla="*/ 0 w 476"/>
                  <a:gd name="T33" fmla="*/ 0 h 757"/>
                  <a:gd name="T34" fmla="*/ 0 w 476"/>
                  <a:gd name="T35" fmla="*/ 0 h 757"/>
                  <a:gd name="T36" fmla="*/ 0 w 476"/>
                  <a:gd name="T37" fmla="*/ 0 h 757"/>
                  <a:gd name="T38" fmla="*/ 0 w 476"/>
                  <a:gd name="T39" fmla="*/ 0 h 757"/>
                  <a:gd name="T40" fmla="*/ 0 w 476"/>
                  <a:gd name="T41" fmla="*/ 0 h 757"/>
                  <a:gd name="T42" fmla="*/ 0 w 476"/>
                  <a:gd name="T43" fmla="*/ 0 h 757"/>
                  <a:gd name="T44" fmla="*/ 0 w 476"/>
                  <a:gd name="T45" fmla="*/ 0 h 757"/>
                  <a:gd name="T46" fmla="*/ 0 w 476"/>
                  <a:gd name="T47" fmla="*/ 0 h 757"/>
                  <a:gd name="T48" fmla="*/ 0 w 476"/>
                  <a:gd name="T49" fmla="*/ 0 h 757"/>
                  <a:gd name="T50" fmla="*/ 0 w 476"/>
                  <a:gd name="T51" fmla="*/ 0 h 757"/>
                  <a:gd name="T52" fmla="*/ 0 w 476"/>
                  <a:gd name="T53" fmla="*/ 0 h 757"/>
                  <a:gd name="T54" fmla="*/ 0 w 476"/>
                  <a:gd name="T55" fmla="*/ 0 h 7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476"/>
                  <a:gd name="T85" fmla="*/ 0 h 757"/>
                  <a:gd name="T86" fmla="*/ 476 w 476"/>
                  <a:gd name="T87" fmla="*/ 757 h 7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476" h="757">
                    <a:moveTo>
                      <a:pt x="0" y="757"/>
                    </a:moveTo>
                    <a:lnTo>
                      <a:pt x="9" y="749"/>
                    </a:lnTo>
                    <a:lnTo>
                      <a:pt x="65" y="707"/>
                    </a:lnTo>
                    <a:lnTo>
                      <a:pt x="91" y="686"/>
                    </a:lnTo>
                    <a:lnTo>
                      <a:pt x="117" y="666"/>
                    </a:lnTo>
                    <a:lnTo>
                      <a:pt x="141" y="644"/>
                    </a:lnTo>
                    <a:lnTo>
                      <a:pt x="153" y="633"/>
                    </a:lnTo>
                    <a:lnTo>
                      <a:pt x="166" y="623"/>
                    </a:lnTo>
                    <a:lnTo>
                      <a:pt x="212" y="581"/>
                    </a:lnTo>
                    <a:lnTo>
                      <a:pt x="232" y="558"/>
                    </a:lnTo>
                    <a:lnTo>
                      <a:pt x="253" y="536"/>
                    </a:lnTo>
                    <a:lnTo>
                      <a:pt x="291" y="492"/>
                    </a:lnTo>
                    <a:lnTo>
                      <a:pt x="326" y="446"/>
                    </a:lnTo>
                    <a:lnTo>
                      <a:pt x="342" y="423"/>
                    </a:lnTo>
                    <a:lnTo>
                      <a:pt x="358" y="401"/>
                    </a:lnTo>
                    <a:lnTo>
                      <a:pt x="384" y="353"/>
                    </a:lnTo>
                    <a:lnTo>
                      <a:pt x="408" y="305"/>
                    </a:lnTo>
                    <a:lnTo>
                      <a:pt x="418" y="279"/>
                    </a:lnTo>
                    <a:lnTo>
                      <a:pt x="428" y="255"/>
                    </a:lnTo>
                    <a:lnTo>
                      <a:pt x="436" y="230"/>
                    </a:lnTo>
                    <a:lnTo>
                      <a:pt x="445" y="206"/>
                    </a:lnTo>
                    <a:lnTo>
                      <a:pt x="451" y="180"/>
                    </a:lnTo>
                    <a:lnTo>
                      <a:pt x="457" y="155"/>
                    </a:lnTo>
                    <a:lnTo>
                      <a:pt x="462" y="129"/>
                    </a:lnTo>
                    <a:lnTo>
                      <a:pt x="464" y="116"/>
                    </a:lnTo>
                    <a:lnTo>
                      <a:pt x="467" y="104"/>
                    </a:lnTo>
                    <a:lnTo>
                      <a:pt x="473" y="52"/>
                    </a:lnTo>
                    <a:lnTo>
                      <a:pt x="476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3" name="Line 1158"/>
              <p:cNvSpPr>
                <a:spLocks noChangeShapeType="1"/>
              </p:cNvSpPr>
              <p:nvPr/>
            </p:nvSpPr>
            <p:spPr bwMode="auto">
              <a:xfrm>
                <a:off x="1856" y="1332"/>
                <a:ext cx="42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4" name="Freeform 1159"/>
              <p:cNvSpPr>
                <a:spLocks/>
              </p:cNvSpPr>
              <p:nvPr/>
            </p:nvSpPr>
            <p:spPr bwMode="auto">
              <a:xfrm>
                <a:off x="1856" y="1193"/>
                <a:ext cx="93" cy="139"/>
              </a:xfrm>
              <a:custGeom>
                <a:avLst/>
                <a:gdLst>
                  <a:gd name="T0" fmla="*/ 0 w 371"/>
                  <a:gd name="T1" fmla="*/ 0 h 558"/>
                  <a:gd name="T2" fmla="*/ 0 w 371"/>
                  <a:gd name="T3" fmla="*/ 0 h 558"/>
                  <a:gd name="T4" fmla="*/ 0 w 371"/>
                  <a:gd name="T5" fmla="*/ 0 h 558"/>
                  <a:gd name="T6" fmla="*/ 0 w 371"/>
                  <a:gd name="T7" fmla="*/ 0 h 558"/>
                  <a:gd name="T8" fmla="*/ 0 w 371"/>
                  <a:gd name="T9" fmla="*/ 0 h 558"/>
                  <a:gd name="T10" fmla="*/ 0 w 371"/>
                  <a:gd name="T11" fmla="*/ 0 h 558"/>
                  <a:gd name="T12" fmla="*/ 0 w 371"/>
                  <a:gd name="T13" fmla="*/ 0 h 558"/>
                  <a:gd name="T14" fmla="*/ 0 w 371"/>
                  <a:gd name="T15" fmla="*/ 0 h 558"/>
                  <a:gd name="T16" fmla="*/ 0 w 371"/>
                  <a:gd name="T17" fmla="*/ 0 h 558"/>
                  <a:gd name="T18" fmla="*/ 0 w 371"/>
                  <a:gd name="T19" fmla="*/ 0 h 558"/>
                  <a:gd name="T20" fmla="*/ 0 w 371"/>
                  <a:gd name="T21" fmla="*/ 0 h 558"/>
                  <a:gd name="T22" fmla="*/ 0 w 371"/>
                  <a:gd name="T23" fmla="*/ 0 h 558"/>
                  <a:gd name="T24" fmla="*/ 0 w 371"/>
                  <a:gd name="T25" fmla="*/ 0 h 558"/>
                  <a:gd name="T26" fmla="*/ 0 w 371"/>
                  <a:gd name="T27" fmla="*/ 0 h 558"/>
                  <a:gd name="T28" fmla="*/ 0 w 371"/>
                  <a:gd name="T29" fmla="*/ 0 h 558"/>
                  <a:gd name="T30" fmla="*/ 0 w 371"/>
                  <a:gd name="T31" fmla="*/ 0 h 558"/>
                  <a:gd name="T32" fmla="*/ 0 w 371"/>
                  <a:gd name="T33" fmla="*/ 0 h 558"/>
                  <a:gd name="T34" fmla="*/ 0 w 371"/>
                  <a:gd name="T35" fmla="*/ 0 h 558"/>
                  <a:gd name="T36" fmla="*/ 0 w 371"/>
                  <a:gd name="T37" fmla="*/ 0 h 558"/>
                  <a:gd name="T38" fmla="*/ 0 w 371"/>
                  <a:gd name="T39" fmla="*/ 0 h 558"/>
                  <a:gd name="T40" fmla="*/ 0 w 371"/>
                  <a:gd name="T41" fmla="*/ 0 h 558"/>
                  <a:gd name="T42" fmla="*/ 0 w 371"/>
                  <a:gd name="T43" fmla="*/ 0 h 558"/>
                  <a:gd name="T44" fmla="*/ 0 w 371"/>
                  <a:gd name="T45" fmla="*/ 0 h 558"/>
                  <a:gd name="T46" fmla="*/ 0 w 371"/>
                  <a:gd name="T47" fmla="*/ 0 h 558"/>
                  <a:gd name="T48" fmla="*/ 0 w 371"/>
                  <a:gd name="T49" fmla="*/ 0 h 558"/>
                  <a:gd name="T50" fmla="*/ 0 w 371"/>
                  <a:gd name="T51" fmla="*/ 0 h 558"/>
                  <a:gd name="T52" fmla="*/ 0 w 371"/>
                  <a:gd name="T53" fmla="*/ 0 h 5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1"/>
                  <a:gd name="T82" fmla="*/ 0 h 558"/>
                  <a:gd name="T83" fmla="*/ 371 w 371"/>
                  <a:gd name="T84" fmla="*/ 558 h 5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1" h="558">
                    <a:moveTo>
                      <a:pt x="371" y="0"/>
                    </a:moveTo>
                    <a:lnTo>
                      <a:pt x="366" y="38"/>
                    </a:lnTo>
                    <a:lnTo>
                      <a:pt x="364" y="47"/>
                    </a:lnTo>
                    <a:lnTo>
                      <a:pt x="363" y="57"/>
                    </a:lnTo>
                    <a:lnTo>
                      <a:pt x="360" y="77"/>
                    </a:lnTo>
                    <a:lnTo>
                      <a:pt x="351" y="115"/>
                    </a:lnTo>
                    <a:lnTo>
                      <a:pt x="340" y="153"/>
                    </a:lnTo>
                    <a:lnTo>
                      <a:pt x="325" y="189"/>
                    </a:lnTo>
                    <a:lnTo>
                      <a:pt x="317" y="207"/>
                    </a:lnTo>
                    <a:lnTo>
                      <a:pt x="309" y="226"/>
                    </a:lnTo>
                    <a:lnTo>
                      <a:pt x="299" y="243"/>
                    </a:lnTo>
                    <a:lnTo>
                      <a:pt x="290" y="261"/>
                    </a:lnTo>
                    <a:lnTo>
                      <a:pt x="269" y="298"/>
                    </a:lnTo>
                    <a:lnTo>
                      <a:pt x="256" y="314"/>
                    </a:lnTo>
                    <a:lnTo>
                      <a:pt x="244" y="331"/>
                    </a:lnTo>
                    <a:lnTo>
                      <a:pt x="217" y="365"/>
                    </a:lnTo>
                    <a:lnTo>
                      <a:pt x="202" y="381"/>
                    </a:lnTo>
                    <a:lnTo>
                      <a:pt x="194" y="389"/>
                    </a:lnTo>
                    <a:lnTo>
                      <a:pt x="190" y="393"/>
                    </a:lnTo>
                    <a:lnTo>
                      <a:pt x="187" y="398"/>
                    </a:lnTo>
                    <a:lnTo>
                      <a:pt x="155" y="432"/>
                    </a:lnTo>
                    <a:lnTo>
                      <a:pt x="137" y="447"/>
                    </a:lnTo>
                    <a:lnTo>
                      <a:pt x="119" y="463"/>
                    </a:lnTo>
                    <a:lnTo>
                      <a:pt x="82" y="495"/>
                    </a:lnTo>
                    <a:lnTo>
                      <a:pt x="62" y="510"/>
                    </a:lnTo>
                    <a:lnTo>
                      <a:pt x="42" y="526"/>
                    </a:lnTo>
                    <a:lnTo>
                      <a:pt x="0" y="5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5" name="Line 1160"/>
              <p:cNvSpPr>
                <a:spLocks noChangeShapeType="1"/>
              </p:cNvSpPr>
              <p:nvPr/>
            </p:nvSpPr>
            <p:spPr bwMode="auto">
              <a:xfrm flipH="1">
                <a:off x="1831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6" name="Line 1161"/>
              <p:cNvSpPr>
                <a:spLocks noChangeShapeType="1"/>
              </p:cNvSpPr>
              <p:nvPr/>
            </p:nvSpPr>
            <p:spPr bwMode="auto">
              <a:xfrm flipH="1">
                <a:off x="1211" y="1193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7" name="Line 1162"/>
              <p:cNvSpPr>
                <a:spLocks noChangeShapeType="1"/>
              </p:cNvSpPr>
              <p:nvPr/>
            </p:nvSpPr>
            <p:spPr bwMode="auto">
              <a:xfrm flipV="1">
                <a:off x="1608" y="1358"/>
                <a:ext cx="0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8" name="Line 1163"/>
              <p:cNvSpPr>
                <a:spLocks noChangeShapeType="1"/>
              </p:cNvSpPr>
              <p:nvPr/>
            </p:nvSpPr>
            <p:spPr bwMode="auto">
              <a:xfrm flipV="1">
                <a:off x="1608" y="1435"/>
                <a:ext cx="0" cy="41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29" name="Line 1164"/>
              <p:cNvSpPr>
                <a:spLocks noChangeShapeType="1"/>
              </p:cNvSpPr>
              <p:nvPr/>
            </p:nvSpPr>
            <p:spPr bwMode="auto">
              <a:xfrm flipV="1">
                <a:off x="1608" y="1398"/>
                <a:ext cx="0" cy="3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0" name="Line 1165"/>
              <p:cNvSpPr>
                <a:spLocks noChangeShapeType="1"/>
              </p:cNvSpPr>
              <p:nvPr/>
            </p:nvSpPr>
            <p:spPr bwMode="auto">
              <a:xfrm flipV="1">
                <a:off x="1608" y="1320"/>
                <a:ext cx="0" cy="3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1" name="Freeform 1166"/>
              <p:cNvSpPr>
                <a:spLocks/>
              </p:cNvSpPr>
              <p:nvPr/>
            </p:nvSpPr>
            <p:spPr bwMode="auto">
              <a:xfrm>
                <a:off x="1608" y="1281"/>
                <a:ext cx="157" cy="39"/>
              </a:xfrm>
              <a:custGeom>
                <a:avLst/>
                <a:gdLst>
                  <a:gd name="T0" fmla="*/ 0 w 629"/>
                  <a:gd name="T1" fmla="*/ 0 h 158"/>
                  <a:gd name="T2" fmla="*/ 0 w 629"/>
                  <a:gd name="T3" fmla="*/ 0 h 158"/>
                  <a:gd name="T4" fmla="*/ 0 w 629"/>
                  <a:gd name="T5" fmla="*/ 0 h 158"/>
                  <a:gd name="T6" fmla="*/ 0 w 629"/>
                  <a:gd name="T7" fmla="*/ 0 h 158"/>
                  <a:gd name="T8" fmla="*/ 0 w 629"/>
                  <a:gd name="T9" fmla="*/ 0 h 158"/>
                  <a:gd name="T10" fmla="*/ 0 w 629"/>
                  <a:gd name="T11" fmla="*/ 0 h 158"/>
                  <a:gd name="T12" fmla="*/ 0 w 629"/>
                  <a:gd name="T13" fmla="*/ 0 h 158"/>
                  <a:gd name="T14" fmla="*/ 0 w 629"/>
                  <a:gd name="T15" fmla="*/ 0 h 158"/>
                  <a:gd name="T16" fmla="*/ 0 w 629"/>
                  <a:gd name="T17" fmla="*/ 0 h 158"/>
                  <a:gd name="T18" fmla="*/ 0 w 629"/>
                  <a:gd name="T19" fmla="*/ 0 h 158"/>
                  <a:gd name="T20" fmla="*/ 0 w 629"/>
                  <a:gd name="T21" fmla="*/ 0 h 158"/>
                  <a:gd name="T22" fmla="*/ 0 w 629"/>
                  <a:gd name="T23" fmla="*/ 0 h 158"/>
                  <a:gd name="T24" fmla="*/ 0 w 629"/>
                  <a:gd name="T25" fmla="*/ 0 h 158"/>
                  <a:gd name="T26" fmla="*/ 0 w 629"/>
                  <a:gd name="T27" fmla="*/ 0 h 158"/>
                  <a:gd name="T28" fmla="*/ 0 w 629"/>
                  <a:gd name="T29" fmla="*/ 0 h 158"/>
                  <a:gd name="T30" fmla="*/ 0 w 629"/>
                  <a:gd name="T31" fmla="*/ 0 h 158"/>
                  <a:gd name="T32" fmla="*/ 0 w 629"/>
                  <a:gd name="T33" fmla="*/ 0 h 158"/>
                  <a:gd name="T34" fmla="*/ 0 w 629"/>
                  <a:gd name="T35" fmla="*/ 0 h 158"/>
                  <a:gd name="T36" fmla="*/ 0 w 629"/>
                  <a:gd name="T37" fmla="*/ 0 h 158"/>
                  <a:gd name="T38" fmla="*/ 0 w 629"/>
                  <a:gd name="T39" fmla="*/ 0 h 15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29"/>
                  <a:gd name="T61" fmla="*/ 0 h 158"/>
                  <a:gd name="T62" fmla="*/ 629 w 629"/>
                  <a:gd name="T63" fmla="*/ 158 h 15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29" h="158">
                    <a:moveTo>
                      <a:pt x="0" y="158"/>
                    </a:moveTo>
                    <a:lnTo>
                      <a:pt x="44" y="156"/>
                    </a:lnTo>
                    <a:lnTo>
                      <a:pt x="89" y="154"/>
                    </a:lnTo>
                    <a:lnTo>
                      <a:pt x="132" y="150"/>
                    </a:lnTo>
                    <a:lnTo>
                      <a:pt x="176" y="146"/>
                    </a:lnTo>
                    <a:lnTo>
                      <a:pt x="217" y="140"/>
                    </a:lnTo>
                    <a:lnTo>
                      <a:pt x="259" y="133"/>
                    </a:lnTo>
                    <a:lnTo>
                      <a:pt x="299" y="125"/>
                    </a:lnTo>
                    <a:lnTo>
                      <a:pt x="319" y="120"/>
                    </a:lnTo>
                    <a:lnTo>
                      <a:pt x="340" y="116"/>
                    </a:lnTo>
                    <a:lnTo>
                      <a:pt x="378" y="105"/>
                    </a:lnTo>
                    <a:lnTo>
                      <a:pt x="416" y="93"/>
                    </a:lnTo>
                    <a:lnTo>
                      <a:pt x="434" y="86"/>
                    </a:lnTo>
                    <a:lnTo>
                      <a:pt x="453" y="80"/>
                    </a:lnTo>
                    <a:lnTo>
                      <a:pt x="471" y="73"/>
                    </a:lnTo>
                    <a:lnTo>
                      <a:pt x="490" y="67"/>
                    </a:lnTo>
                    <a:lnTo>
                      <a:pt x="525" y="51"/>
                    </a:lnTo>
                    <a:lnTo>
                      <a:pt x="561" y="35"/>
                    </a:lnTo>
                    <a:lnTo>
                      <a:pt x="595" y="18"/>
                    </a:lnTo>
                    <a:lnTo>
                      <a:pt x="629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2" name="Line 1167"/>
              <p:cNvSpPr>
                <a:spLocks noChangeShapeType="1"/>
              </p:cNvSpPr>
              <p:nvPr/>
            </p:nvSpPr>
            <p:spPr bwMode="auto">
              <a:xfrm flipH="1" flipV="1">
                <a:off x="1765" y="1281"/>
                <a:ext cx="44" cy="24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3" name="Line 1168"/>
              <p:cNvSpPr>
                <a:spLocks noChangeShapeType="1"/>
              </p:cNvSpPr>
              <p:nvPr/>
            </p:nvSpPr>
            <p:spPr bwMode="auto">
              <a:xfrm flipH="1">
                <a:off x="1949" y="1193"/>
                <a:ext cx="55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4" name="Freeform 1169"/>
              <p:cNvSpPr>
                <a:spLocks/>
              </p:cNvSpPr>
              <p:nvPr/>
            </p:nvSpPr>
            <p:spPr bwMode="auto">
              <a:xfrm>
                <a:off x="1284" y="1392"/>
                <a:ext cx="324" cy="84"/>
              </a:xfrm>
              <a:custGeom>
                <a:avLst/>
                <a:gdLst>
                  <a:gd name="T0" fmla="*/ 0 w 1295"/>
                  <a:gd name="T1" fmla="*/ 0 h 334"/>
                  <a:gd name="T2" fmla="*/ 0 w 1295"/>
                  <a:gd name="T3" fmla="*/ 0 h 334"/>
                  <a:gd name="T4" fmla="*/ 0 w 1295"/>
                  <a:gd name="T5" fmla="*/ 0 h 334"/>
                  <a:gd name="T6" fmla="*/ 0 w 1295"/>
                  <a:gd name="T7" fmla="*/ 0 h 334"/>
                  <a:gd name="T8" fmla="*/ 0 w 1295"/>
                  <a:gd name="T9" fmla="*/ 0 h 334"/>
                  <a:gd name="T10" fmla="*/ 0 w 1295"/>
                  <a:gd name="T11" fmla="*/ 0 h 334"/>
                  <a:gd name="T12" fmla="*/ 0 w 1295"/>
                  <a:gd name="T13" fmla="*/ 0 h 334"/>
                  <a:gd name="T14" fmla="*/ 0 w 1295"/>
                  <a:gd name="T15" fmla="*/ 0 h 334"/>
                  <a:gd name="T16" fmla="*/ 0 w 1295"/>
                  <a:gd name="T17" fmla="*/ 0 h 334"/>
                  <a:gd name="T18" fmla="*/ 0 w 1295"/>
                  <a:gd name="T19" fmla="*/ 0 h 334"/>
                  <a:gd name="T20" fmla="*/ 0 w 1295"/>
                  <a:gd name="T21" fmla="*/ 0 h 334"/>
                  <a:gd name="T22" fmla="*/ 0 w 1295"/>
                  <a:gd name="T23" fmla="*/ 0 h 334"/>
                  <a:gd name="T24" fmla="*/ 0 w 1295"/>
                  <a:gd name="T25" fmla="*/ 0 h 334"/>
                  <a:gd name="T26" fmla="*/ 0 w 1295"/>
                  <a:gd name="T27" fmla="*/ 0 h 334"/>
                  <a:gd name="T28" fmla="*/ 0 w 1295"/>
                  <a:gd name="T29" fmla="*/ 0 h 334"/>
                  <a:gd name="T30" fmla="*/ 0 w 1295"/>
                  <a:gd name="T31" fmla="*/ 0 h 334"/>
                  <a:gd name="T32" fmla="*/ 0 w 1295"/>
                  <a:gd name="T33" fmla="*/ 0 h 334"/>
                  <a:gd name="T34" fmla="*/ 0 w 1295"/>
                  <a:gd name="T35" fmla="*/ 0 h 334"/>
                  <a:gd name="T36" fmla="*/ 0 w 1295"/>
                  <a:gd name="T37" fmla="*/ 0 h 334"/>
                  <a:gd name="T38" fmla="*/ 0 w 1295"/>
                  <a:gd name="T39" fmla="*/ 0 h 33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95"/>
                  <a:gd name="T61" fmla="*/ 0 h 334"/>
                  <a:gd name="T62" fmla="*/ 1295 w 1295"/>
                  <a:gd name="T63" fmla="*/ 334 h 33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95" h="334">
                    <a:moveTo>
                      <a:pt x="0" y="0"/>
                    </a:moveTo>
                    <a:lnTo>
                      <a:pt x="65" y="39"/>
                    </a:lnTo>
                    <a:lnTo>
                      <a:pt x="133" y="76"/>
                    </a:lnTo>
                    <a:lnTo>
                      <a:pt x="202" y="110"/>
                    </a:lnTo>
                    <a:lnTo>
                      <a:pt x="275" y="143"/>
                    </a:lnTo>
                    <a:lnTo>
                      <a:pt x="348" y="172"/>
                    </a:lnTo>
                    <a:lnTo>
                      <a:pt x="423" y="200"/>
                    </a:lnTo>
                    <a:lnTo>
                      <a:pt x="500" y="224"/>
                    </a:lnTo>
                    <a:lnTo>
                      <a:pt x="581" y="247"/>
                    </a:lnTo>
                    <a:lnTo>
                      <a:pt x="662" y="266"/>
                    </a:lnTo>
                    <a:lnTo>
                      <a:pt x="746" y="283"/>
                    </a:lnTo>
                    <a:lnTo>
                      <a:pt x="831" y="297"/>
                    </a:lnTo>
                    <a:lnTo>
                      <a:pt x="919" y="310"/>
                    </a:lnTo>
                    <a:lnTo>
                      <a:pt x="1008" y="319"/>
                    </a:lnTo>
                    <a:lnTo>
                      <a:pt x="1099" y="327"/>
                    </a:lnTo>
                    <a:lnTo>
                      <a:pt x="1192" y="331"/>
                    </a:lnTo>
                    <a:lnTo>
                      <a:pt x="1288" y="334"/>
                    </a:lnTo>
                    <a:lnTo>
                      <a:pt x="1289" y="332"/>
                    </a:lnTo>
                    <a:lnTo>
                      <a:pt x="1291" y="332"/>
                    </a:lnTo>
                    <a:lnTo>
                      <a:pt x="1295" y="334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5" name="Freeform 1170"/>
              <p:cNvSpPr>
                <a:spLocks/>
              </p:cNvSpPr>
              <p:nvPr/>
            </p:nvSpPr>
            <p:spPr bwMode="auto">
              <a:xfrm>
                <a:off x="1211" y="1026"/>
                <a:ext cx="101" cy="167"/>
              </a:xfrm>
              <a:custGeom>
                <a:avLst/>
                <a:gdLst>
                  <a:gd name="T0" fmla="*/ 0 w 404"/>
                  <a:gd name="T1" fmla="*/ 0 h 668"/>
                  <a:gd name="T2" fmla="*/ 0 w 404"/>
                  <a:gd name="T3" fmla="*/ 0 h 668"/>
                  <a:gd name="T4" fmla="*/ 0 w 404"/>
                  <a:gd name="T5" fmla="*/ 0 h 668"/>
                  <a:gd name="T6" fmla="*/ 0 w 404"/>
                  <a:gd name="T7" fmla="*/ 0 h 668"/>
                  <a:gd name="T8" fmla="*/ 0 w 404"/>
                  <a:gd name="T9" fmla="*/ 0 h 668"/>
                  <a:gd name="T10" fmla="*/ 0 w 404"/>
                  <a:gd name="T11" fmla="*/ 0 h 668"/>
                  <a:gd name="T12" fmla="*/ 0 w 404"/>
                  <a:gd name="T13" fmla="*/ 0 h 668"/>
                  <a:gd name="T14" fmla="*/ 0 w 404"/>
                  <a:gd name="T15" fmla="*/ 0 h 668"/>
                  <a:gd name="T16" fmla="*/ 0 w 404"/>
                  <a:gd name="T17" fmla="*/ 0 h 668"/>
                  <a:gd name="T18" fmla="*/ 0 w 404"/>
                  <a:gd name="T19" fmla="*/ 0 h 668"/>
                  <a:gd name="T20" fmla="*/ 0 w 404"/>
                  <a:gd name="T21" fmla="*/ 0 h 668"/>
                  <a:gd name="T22" fmla="*/ 0 w 404"/>
                  <a:gd name="T23" fmla="*/ 0 h 668"/>
                  <a:gd name="T24" fmla="*/ 0 w 404"/>
                  <a:gd name="T25" fmla="*/ 0 h 668"/>
                  <a:gd name="T26" fmla="*/ 0 w 404"/>
                  <a:gd name="T27" fmla="*/ 0 h 668"/>
                  <a:gd name="T28" fmla="*/ 0 w 404"/>
                  <a:gd name="T29" fmla="*/ 0 h 668"/>
                  <a:gd name="T30" fmla="*/ 0 w 404"/>
                  <a:gd name="T31" fmla="*/ 0 h 668"/>
                  <a:gd name="T32" fmla="*/ 0 w 404"/>
                  <a:gd name="T33" fmla="*/ 0 h 668"/>
                  <a:gd name="T34" fmla="*/ 0 w 404"/>
                  <a:gd name="T35" fmla="*/ 0 h 668"/>
                  <a:gd name="T36" fmla="*/ 0 w 404"/>
                  <a:gd name="T37" fmla="*/ 0 h 668"/>
                  <a:gd name="T38" fmla="*/ 0 w 404"/>
                  <a:gd name="T39" fmla="*/ 0 h 6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04"/>
                  <a:gd name="T61" fmla="*/ 0 h 668"/>
                  <a:gd name="T62" fmla="*/ 404 w 404"/>
                  <a:gd name="T63" fmla="*/ 668 h 6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04" h="668">
                    <a:moveTo>
                      <a:pt x="404" y="0"/>
                    </a:moveTo>
                    <a:lnTo>
                      <a:pt x="362" y="28"/>
                    </a:lnTo>
                    <a:lnTo>
                      <a:pt x="323" y="58"/>
                    </a:lnTo>
                    <a:lnTo>
                      <a:pt x="286" y="88"/>
                    </a:lnTo>
                    <a:lnTo>
                      <a:pt x="252" y="119"/>
                    </a:lnTo>
                    <a:lnTo>
                      <a:pt x="219" y="150"/>
                    </a:lnTo>
                    <a:lnTo>
                      <a:pt x="190" y="182"/>
                    </a:lnTo>
                    <a:lnTo>
                      <a:pt x="162" y="214"/>
                    </a:lnTo>
                    <a:lnTo>
                      <a:pt x="137" y="248"/>
                    </a:lnTo>
                    <a:lnTo>
                      <a:pt x="113" y="281"/>
                    </a:lnTo>
                    <a:lnTo>
                      <a:pt x="92" y="316"/>
                    </a:lnTo>
                    <a:lnTo>
                      <a:pt x="73" y="351"/>
                    </a:lnTo>
                    <a:lnTo>
                      <a:pt x="56" y="387"/>
                    </a:lnTo>
                    <a:lnTo>
                      <a:pt x="41" y="423"/>
                    </a:lnTo>
                    <a:lnTo>
                      <a:pt x="29" y="460"/>
                    </a:lnTo>
                    <a:lnTo>
                      <a:pt x="19" y="498"/>
                    </a:lnTo>
                    <a:lnTo>
                      <a:pt x="12" y="537"/>
                    </a:lnTo>
                    <a:lnTo>
                      <a:pt x="2" y="613"/>
                    </a:lnTo>
                    <a:lnTo>
                      <a:pt x="2" y="618"/>
                    </a:lnTo>
                    <a:lnTo>
                      <a:pt x="0" y="66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6" name="Freeform 1171"/>
              <p:cNvSpPr>
                <a:spLocks/>
              </p:cNvSpPr>
              <p:nvPr/>
            </p:nvSpPr>
            <p:spPr bwMode="auto">
              <a:xfrm>
                <a:off x="1153" y="1003"/>
                <a:ext cx="119" cy="190"/>
              </a:xfrm>
              <a:custGeom>
                <a:avLst/>
                <a:gdLst>
                  <a:gd name="T0" fmla="*/ 0 w 477"/>
                  <a:gd name="T1" fmla="*/ 0 h 758"/>
                  <a:gd name="T2" fmla="*/ 0 w 477"/>
                  <a:gd name="T3" fmla="*/ 0 h 758"/>
                  <a:gd name="T4" fmla="*/ 0 w 477"/>
                  <a:gd name="T5" fmla="*/ 0 h 758"/>
                  <a:gd name="T6" fmla="*/ 0 w 477"/>
                  <a:gd name="T7" fmla="*/ 0 h 758"/>
                  <a:gd name="T8" fmla="*/ 0 w 477"/>
                  <a:gd name="T9" fmla="*/ 0 h 758"/>
                  <a:gd name="T10" fmla="*/ 0 w 477"/>
                  <a:gd name="T11" fmla="*/ 0 h 758"/>
                  <a:gd name="T12" fmla="*/ 0 w 477"/>
                  <a:gd name="T13" fmla="*/ 0 h 758"/>
                  <a:gd name="T14" fmla="*/ 0 w 477"/>
                  <a:gd name="T15" fmla="*/ 0 h 758"/>
                  <a:gd name="T16" fmla="*/ 0 w 477"/>
                  <a:gd name="T17" fmla="*/ 0 h 758"/>
                  <a:gd name="T18" fmla="*/ 0 w 477"/>
                  <a:gd name="T19" fmla="*/ 0 h 758"/>
                  <a:gd name="T20" fmla="*/ 0 w 477"/>
                  <a:gd name="T21" fmla="*/ 0 h 758"/>
                  <a:gd name="T22" fmla="*/ 0 w 477"/>
                  <a:gd name="T23" fmla="*/ 0 h 758"/>
                  <a:gd name="T24" fmla="*/ 0 w 477"/>
                  <a:gd name="T25" fmla="*/ 0 h 758"/>
                  <a:gd name="T26" fmla="*/ 0 w 477"/>
                  <a:gd name="T27" fmla="*/ 0 h 758"/>
                  <a:gd name="T28" fmla="*/ 0 w 477"/>
                  <a:gd name="T29" fmla="*/ 0 h 758"/>
                  <a:gd name="T30" fmla="*/ 0 w 477"/>
                  <a:gd name="T31" fmla="*/ 0 h 758"/>
                  <a:gd name="T32" fmla="*/ 0 w 477"/>
                  <a:gd name="T33" fmla="*/ 0 h 758"/>
                  <a:gd name="T34" fmla="*/ 0 w 477"/>
                  <a:gd name="T35" fmla="*/ 0 h 758"/>
                  <a:gd name="T36" fmla="*/ 0 w 477"/>
                  <a:gd name="T37" fmla="*/ 0 h 758"/>
                  <a:gd name="T38" fmla="*/ 0 w 477"/>
                  <a:gd name="T39" fmla="*/ 0 h 758"/>
                  <a:gd name="T40" fmla="*/ 0 w 477"/>
                  <a:gd name="T41" fmla="*/ 0 h 7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7"/>
                  <a:gd name="T64" fmla="*/ 0 h 758"/>
                  <a:gd name="T65" fmla="*/ 477 w 477"/>
                  <a:gd name="T66" fmla="*/ 758 h 75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7" h="758">
                    <a:moveTo>
                      <a:pt x="477" y="0"/>
                    </a:moveTo>
                    <a:lnTo>
                      <a:pt x="428" y="32"/>
                    </a:lnTo>
                    <a:lnTo>
                      <a:pt x="382" y="66"/>
                    </a:lnTo>
                    <a:lnTo>
                      <a:pt x="338" y="101"/>
                    </a:lnTo>
                    <a:lnTo>
                      <a:pt x="298" y="137"/>
                    </a:lnTo>
                    <a:lnTo>
                      <a:pt x="259" y="173"/>
                    </a:lnTo>
                    <a:lnTo>
                      <a:pt x="224" y="210"/>
                    </a:lnTo>
                    <a:lnTo>
                      <a:pt x="191" y="248"/>
                    </a:lnTo>
                    <a:lnTo>
                      <a:pt x="161" y="288"/>
                    </a:lnTo>
                    <a:lnTo>
                      <a:pt x="132" y="327"/>
                    </a:lnTo>
                    <a:lnTo>
                      <a:pt x="107" y="367"/>
                    </a:lnTo>
                    <a:lnTo>
                      <a:pt x="84" y="408"/>
                    </a:lnTo>
                    <a:lnTo>
                      <a:pt x="65" y="451"/>
                    </a:lnTo>
                    <a:lnTo>
                      <a:pt x="47" y="493"/>
                    </a:lnTo>
                    <a:lnTo>
                      <a:pt x="33" y="537"/>
                    </a:lnTo>
                    <a:lnTo>
                      <a:pt x="21" y="581"/>
                    </a:lnTo>
                    <a:lnTo>
                      <a:pt x="12" y="627"/>
                    </a:lnTo>
                    <a:lnTo>
                      <a:pt x="6" y="665"/>
                    </a:lnTo>
                    <a:lnTo>
                      <a:pt x="4" y="703"/>
                    </a:lnTo>
                    <a:lnTo>
                      <a:pt x="2" y="708"/>
                    </a:lnTo>
                    <a:lnTo>
                      <a:pt x="0" y="75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7" name="Freeform 1172"/>
              <p:cNvSpPr>
                <a:spLocks/>
              </p:cNvSpPr>
              <p:nvPr/>
            </p:nvSpPr>
            <p:spPr bwMode="auto">
              <a:xfrm>
                <a:off x="1312" y="943"/>
                <a:ext cx="296" cy="83"/>
              </a:xfrm>
              <a:custGeom>
                <a:avLst/>
                <a:gdLst>
                  <a:gd name="T0" fmla="*/ 0 w 1181"/>
                  <a:gd name="T1" fmla="*/ 0 h 330"/>
                  <a:gd name="T2" fmla="*/ 0 w 1181"/>
                  <a:gd name="T3" fmla="*/ 0 h 330"/>
                  <a:gd name="T4" fmla="*/ 0 w 1181"/>
                  <a:gd name="T5" fmla="*/ 0 h 330"/>
                  <a:gd name="T6" fmla="*/ 0 w 1181"/>
                  <a:gd name="T7" fmla="*/ 0 h 330"/>
                  <a:gd name="T8" fmla="*/ 0 w 1181"/>
                  <a:gd name="T9" fmla="*/ 0 h 330"/>
                  <a:gd name="T10" fmla="*/ 0 w 1181"/>
                  <a:gd name="T11" fmla="*/ 0 h 330"/>
                  <a:gd name="T12" fmla="*/ 0 w 1181"/>
                  <a:gd name="T13" fmla="*/ 0 h 330"/>
                  <a:gd name="T14" fmla="*/ 0 w 1181"/>
                  <a:gd name="T15" fmla="*/ 0 h 330"/>
                  <a:gd name="T16" fmla="*/ 0 w 1181"/>
                  <a:gd name="T17" fmla="*/ 0 h 330"/>
                  <a:gd name="T18" fmla="*/ 0 w 1181"/>
                  <a:gd name="T19" fmla="*/ 0 h 330"/>
                  <a:gd name="T20" fmla="*/ 0 w 1181"/>
                  <a:gd name="T21" fmla="*/ 0 h 330"/>
                  <a:gd name="T22" fmla="*/ 0 w 1181"/>
                  <a:gd name="T23" fmla="*/ 0 h 330"/>
                  <a:gd name="T24" fmla="*/ 0 w 1181"/>
                  <a:gd name="T25" fmla="*/ 0 h 330"/>
                  <a:gd name="T26" fmla="*/ 0 w 1181"/>
                  <a:gd name="T27" fmla="*/ 0 h 330"/>
                  <a:gd name="T28" fmla="*/ 0 w 1181"/>
                  <a:gd name="T29" fmla="*/ 0 h 330"/>
                  <a:gd name="T30" fmla="*/ 0 w 1181"/>
                  <a:gd name="T31" fmla="*/ 0 h 330"/>
                  <a:gd name="T32" fmla="*/ 0 w 1181"/>
                  <a:gd name="T33" fmla="*/ 0 h 330"/>
                  <a:gd name="T34" fmla="*/ 0 w 1181"/>
                  <a:gd name="T35" fmla="*/ 0 h 330"/>
                  <a:gd name="T36" fmla="*/ 0 w 1181"/>
                  <a:gd name="T37" fmla="*/ 0 h 330"/>
                  <a:gd name="T38" fmla="*/ 0 w 1181"/>
                  <a:gd name="T39" fmla="*/ 0 h 3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181"/>
                  <a:gd name="T61" fmla="*/ 0 h 330"/>
                  <a:gd name="T62" fmla="*/ 1181 w 1181"/>
                  <a:gd name="T63" fmla="*/ 330 h 3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181" h="330">
                    <a:moveTo>
                      <a:pt x="1181" y="0"/>
                    </a:moveTo>
                    <a:lnTo>
                      <a:pt x="1107" y="0"/>
                    </a:lnTo>
                    <a:lnTo>
                      <a:pt x="1035" y="3"/>
                    </a:lnTo>
                    <a:lnTo>
                      <a:pt x="964" y="7"/>
                    </a:lnTo>
                    <a:lnTo>
                      <a:pt x="895" y="14"/>
                    </a:lnTo>
                    <a:lnTo>
                      <a:pt x="826" y="21"/>
                    </a:lnTo>
                    <a:lnTo>
                      <a:pt x="759" y="32"/>
                    </a:lnTo>
                    <a:lnTo>
                      <a:pt x="692" y="44"/>
                    </a:lnTo>
                    <a:lnTo>
                      <a:pt x="628" y="59"/>
                    </a:lnTo>
                    <a:lnTo>
                      <a:pt x="562" y="74"/>
                    </a:lnTo>
                    <a:lnTo>
                      <a:pt x="500" y="92"/>
                    </a:lnTo>
                    <a:lnTo>
                      <a:pt x="438" y="111"/>
                    </a:lnTo>
                    <a:lnTo>
                      <a:pt x="379" y="134"/>
                    </a:lnTo>
                    <a:lnTo>
                      <a:pt x="319" y="157"/>
                    </a:lnTo>
                    <a:lnTo>
                      <a:pt x="262" y="182"/>
                    </a:lnTo>
                    <a:lnTo>
                      <a:pt x="205" y="209"/>
                    </a:lnTo>
                    <a:lnTo>
                      <a:pt x="151" y="240"/>
                    </a:lnTo>
                    <a:lnTo>
                      <a:pt x="56" y="295"/>
                    </a:lnTo>
                    <a:lnTo>
                      <a:pt x="27" y="312"/>
                    </a:lnTo>
                    <a:lnTo>
                      <a:pt x="0" y="33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8" name="Line 1173"/>
              <p:cNvSpPr>
                <a:spLocks noChangeShapeType="1"/>
              </p:cNvSpPr>
              <p:nvPr/>
            </p:nvSpPr>
            <p:spPr bwMode="auto">
              <a:xfrm>
                <a:off x="1272" y="1003"/>
                <a:ext cx="40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39" name="Freeform 1174"/>
              <p:cNvSpPr>
                <a:spLocks/>
              </p:cNvSpPr>
              <p:nvPr/>
            </p:nvSpPr>
            <p:spPr bwMode="auto">
              <a:xfrm>
                <a:off x="1324" y="1070"/>
                <a:ext cx="67" cy="123"/>
              </a:xfrm>
              <a:custGeom>
                <a:avLst/>
                <a:gdLst>
                  <a:gd name="T0" fmla="*/ 0 w 267"/>
                  <a:gd name="T1" fmla="*/ 0 h 490"/>
                  <a:gd name="T2" fmla="*/ 0 w 267"/>
                  <a:gd name="T3" fmla="*/ 0 h 490"/>
                  <a:gd name="T4" fmla="*/ 0 w 267"/>
                  <a:gd name="T5" fmla="*/ 0 h 490"/>
                  <a:gd name="T6" fmla="*/ 0 w 267"/>
                  <a:gd name="T7" fmla="*/ 0 h 490"/>
                  <a:gd name="T8" fmla="*/ 0 w 267"/>
                  <a:gd name="T9" fmla="*/ 0 h 490"/>
                  <a:gd name="T10" fmla="*/ 0 w 267"/>
                  <a:gd name="T11" fmla="*/ 0 h 490"/>
                  <a:gd name="T12" fmla="*/ 0 w 267"/>
                  <a:gd name="T13" fmla="*/ 0 h 490"/>
                  <a:gd name="T14" fmla="*/ 0 w 267"/>
                  <a:gd name="T15" fmla="*/ 0 h 490"/>
                  <a:gd name="T16" fmla="*/ 0 w 267"/>
                  <a:gd name="T17" fmla="*/ 0 h 490"/>
                  <a:gd name="T18" fmla="*/ 0 w 267"/>
                  <a:gd name="T19" fmla="*/ 0 h 490"/>
                  <a:gd name="T20" fmla="*/ 0 w 267"/>
                  <a:gd name="T21" fmla="*/ 0 h 490"/>
                  <a:gd name="T22" fmla="*/ 0 w 267"/>
                  <a:gd name="T23" fmla="*/ 0 h 490"/>
                  <a:gd name="T24" fmla="*/ 0 w 267"/>
                  <a:gd name="T25" fmla="*/ 0 h 490"/>
                  <a:gd name="T26" fmla="*/ 0 w 267"/>
                  <a:gd name="T27" fmla="*/ 0 h 4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7"/>
                  <a:gd name="T43" fmla="*/ 0 h 490"/>
                  <a:gd name="T44" fmla="*/ 267 w 267"/>
                  <a:gd name="T45" fmla="*/ 490 h 4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7" h="490">
                    <a:moveTo>
                      <a:pt x="2" y="490"/>
                    </a:moveTo>
                    <a:lnTo>
                      <a:pt x="0" y="462"/>
                    </a:lnTo>
                    <a:lnTo>
                      <a:pt x="1" y="435"/>
                    </a:lnTo>
                    <a:lnTo>
                      <a:pt x="1" y="432"/>
                    </a:lnTo>
                    <a:lnTo>
                      <a:pt x="3" y="395"/>
                    </a:lnTo>
                    <a:lnTo>
                      <a:pt x="9" y="359"/>
                    </a:lnTo>
                    <a:lnTo>
                      <a:pt x="20" y="308"/>
                    </a:lnTo>
                    <a:lnTo>
                      <a:pt x="39" y="259"/>
                    </a:lnTo>
                    <a:lnTo>
                      <a:pt x="62" y="211"/>
                    </a:lnTo>
                    <a:lnTo>
                      <a:pt x="92" y="166"/>
                    </a:lnTo>
                    <a:lnTo>
                      <a:pt x="127" y="121"/>
                    </a:lnTo>
                    <a:lnTo>
                      <a:pt x="168" y="79"/>
                    </a:lnTo>
                    <a:lnTo>
                      <a:pt x="214" y="38"/>
                    </a:lnTo>
                    <a:lnTo>
                      <a:pt x="267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0" name="Freeform 1175"/>
              <p:cNvSpPr>
                <a:spLocks/>
              </p:cNvSpPr>
              <p:nvPr/>
            </p:nvSpPr>
            <p:spPr bwMode="auto">
              <a:xfrm>
                <a:off x="1266" y="1048"/>
                <a:ext cx="85" cy="145"/>
              </a:xfrm>
              <a:custGeom>
                <a:avLst/>
                <a:gdLst>
                  <a:gd name="T0" fmla="*/ 0 w 337"/>
                  <a:gd name="T1" fmla="*/ 0 h 580"/>
                  <a:gd name="T2" fmla="*/ 0 w 337"/>
                  <a:gd name="T3" fmla="*/ 0 h 580"/>
                  <a:gd name="T4" fmla="*/ 0 w 337"/>
                  <a:gd name="T5" fmla="*/ 0 h 580"/>
                  <a:gd name="T6" fmla="*/ 0 w 337"/>
                  <a:gd name="T7" fmla="*/ 0 h 580"/>
                  <a:gd name="T8" fmla="*/ 0 w 337"/>
                  <a:gd name="T9" fmla="*/ 0 h 580"/>
                  <a:gd name="T10" fmla="*/ 0 w 337"/>
                  <a:gd name="T11" fmla="*/ 0 h 580"/>
                  <a:gd name="T12" fmla="*/ 0 w 337"/>
                  <a:gd name="T13" fmla="*/ 0 h 580"/>
                  <a:gd name="T14" fmla="*/ 0 w 337"/>
                  <a:gd name="T15" fmla="*/ 0 h 580"/>
                  <a:gd name="T16" fmla="*/ 0 w 337"/>
                  <a:gd name="T17" fmla="*/ 0 h 580"/>
                  <a:gd name="T18" fmla="*/ 0 w 337"/>
                  <a:gd name="T19" fmla="*/ 0 h 580"/>
                  <a:gd name="T20" fmla="*/ 0 w 337"/>
                  <a:gd name="T21" fmla="*/ 0 h 580"/>
                  <a:gd name="T22" fmla="*/ 0 w 337"/>
                  <a:gd name="T23" fmla="*/ 0 h 580"/>
                  <a:gd name="T24" fmla="*/ 0 w 337"/>
                  <a:gd name="T25" fmla="*/ 0 h 580"/>
                  <a:gd name="T26" fmla="*/ 0 w 337"/>
                  <a:gd name="T27" fmla="*/ 0 h 580"/>
                  <a:gd name="T28" fmla="*/ 0 w 337"/>
                  <a:gd name="T29" fmla="*/ 0 h 580"/>
                  <a:gd name="T30" fmla="*/ 0 w 337"/>
                  <a:gd name="T31" fmla="*/ 0 h 580"/>
                  <a:gd name="T32" fmla="*/ 0 w 337"/>
                  <a:gd name="T33" fmla="*/ 0 h 580"/>
                  <a:gd name="T34" fmla="*/ 0 w 337"/>
                  <a:gd name="T35" fmla="*/ 0 h 580"/>
                  <a:gd name="T36" fmla="*/ 0 w 337"/>
                  <a:gd name="T37" fmla="*/ 0 h 58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37"/>
                  <a:gd name="T58" fmla="*/ 0 h 580"/>
                  <a:gd name="T59" fmla="*/ 337 w 337"/>
                  <a:gd name="T60" fmla="*/ 580 h 58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37" h="580">
                    <a:moveTo>
                      <a:pt x="337" y="0"/>
                    </a:moveTo>
                    <a:lnTo>
                      <a:pt x="302" y="23"/>
                    </a:lnTo>
                    <a:lnTo>
                      <a:pt x="270" y="48"/>
                    </a:lnTo>
                    <a:lnTo>
                      <a:pt x="211" y="99"/>
                    </a:lnTo>
                    <a:lnTo>
                      <a:pt x="184" y="125"/>
                    </a:lnTo>
                    <a:lnTo>
                      <a:pt x="159" y="152"/>
                    </a:lnTo>
                    <a:lnTo>
                      <a:pt x="136" y="179"/>
                    </a:lnTo>
                    <a:lnTo>
                      <a:pt x="115" y="207"/>
                    </a:lnTo>
                    <a:lnTo>
                      <a:pt x="94" y="235"/>
                    </a:lnTo>
                    <a:lnTo>
                      <a:pt x="77" y="264"/>
                    </a:lnTo>
                    <a:lnTo>
                      <a:pt x="48" y="323"/>
                    </a:lnTo>
                    <a:lnTo>
                      <a:pt x="25" y="384"/>
                    </a:lnTo>
                    <a:lnTo>
                      <a:pt x="16" y="416"/>
                    </a:lnTo>
                    <a:lnTo>
                      <a:pt x="11" y="449"/>
                    </a:lnTo>
                    <a:lnTo>
                      <a:pt x="4" y="486"/>
                    </a:lnTo>
                    <a:lnTo>
                      <a:pt x="1" y="525"/>
                    </a:lnTo>
                    <a:lnTo>
                      <a:pt x="1" y="527"/>
                    </a:lnTo>
                    <a:lnTo>
                      <a:pt x="0" y="552"/>
                    </a:lnTo>
                    <a:lnTo>
                      <a:pt x="1" y="58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1" name="Line 1176"/>
              <p:cNvSpPr>
                <a:spLocks noChangeShapeType="1"/>
              </p:cNvSpPr>
              <p:nvPr/>
            </p:nvSpPr>
            <p:spPr bwMode="auto">
              <a:xfrm>
                <a:off x="1391" y="1070"/>
                <a:ext cx="41" cy="2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2" name="Freeform 1177"/>
              <p:cNvSpPr>
                <a:spLocks/>
              </p:cNvSpPr>
              <p:nvPr/>
            </p:nvSpPr>
            <p:spPr bwMode="auto">
              <a:xfrm>
                <a:off x="1391" y="1007"/>
                <a:ext cx="217" cy="63"/>
              </a:xfrm>
              <a:custGeom>
                <a:avLst/>
                <a:gdLst>
                  <a:gd name="T0" fmla="*/ 0 w 867"/>
                  <a:gd name="T1" fmla="*/ 0 h 253"/>
                  <a:gd name="T2" fmla="*/ 0 w 867"/>
                  <a:gd name="T3" fmla="*/ 0 h 253"/>
                  <a:gd name="T4" fmla="*/ 0 w 867"/>
                  <a:gd name="T5" fmla="*/ 0 h 253"/>
                  <a:gd name="T6" fmla="*/ 0 w 867"/>
                  <a:gd name="T7" fmla="*/ 0 h 253"/>
                  <a:gd name="T8" fmla="*/ 0 w 867"/>
                  <a:gd name="T9" fmla="*/ 0 h 253"/>
                  <a:gd name="T10" fmla="*/ 0 w 867"/>
                  <a:gd name="T11" fmla="*/ 0 h 253"/>
                  <a:gd name="T12" fmla="*/ 0 w 867"/>
                  <a:gd name="T13" fmla="*/ 0 h 253"/>
                  <a:gd name="T14" fmla="*/ 0 w 867"/>
                  <a:gd name="T15" fmla="*/ 0 h 253"/>
                  <a:gd name="T16" fmla="*/ 0 w 867"/>
                  <a:gd name="T17" fmla="*/ 0 h 253"/>
                  <a:gd name="T18" fmla="*/ 0 w 867"/>
                  <a:gd name="T19" fmla="*/ 0 h 253"/>
                  <a:gd name="T20" fmla="*/ 0 w 867"/>
                  <a:gd name="T21" fmla="*/ 0 h 253"/>
                  <a:gd name="T22" fmla="*/ 0 w 867"/>
                  <a:gd name="T23" fmla="*/ 0 h 253"/>
                  <a:gd name="T24" fmla="*/ 0 w 867"/>
                  <a:gd name="T25" fmla="*/ 0 h 253"/>
                  <a:gd name="T26" fmla="*/ 0 w 867"/>
                  <a:gd name="T27" fmla="*/ 0 h 253"/>
                  <a:gd name="T28" fmla="*/ 0 w 867"/>
                  <a:gd name="T29" fmla="*/ 0 h 253"/>
                  <a:gd name="T30" fmla="*/ 0 w 867"/>
                  <a:gd name="T31" fmla="*/ 0 h 253"/>
                  <a:gd name="T32" fmla="*/ 0 w 867"/>
                  <a:gd name="T33" fmla="*/ 0 h 253"/>
                  <a:gd name="T34" fmla="*/ 0 w 867"/>
                  <a:gd name="T35" fmla="*/ 0 h 253"/>
                  <a:gd name="T36" fmla="*/ 0 w 867"/>
                  <a:gd name="T37" fmla="*/ 0 h 253"/>
                  <a:gd name="T38" fmla="*/ 0 w 867"/>
                  <a:gd name="T39" fmla="*/ 0 h 2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67"/>
                  <a:gd name="T61" fmla="*/ 0 h 253"/>
                  <a:gd name="T62" fmla="*/ 867 w 867"/>
                  <a:gd name="T63" fmla="*/ 253 h 2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67" h="253">
                    <a:moveTo>
                      <a:pt x="867" y="0"/>
                    </a:moveTo>
                    <a:lnTo>
                      <a:pt x="810" y="0"/>
                    </a:lnTo>
                    <a:lnTo>
                      <a:pt x="755" y="3"/>
                    </a:lnTo>
                    <a:lnTo>
                      <a:pt x="700" y="6"/>
                    </a:lnTo>
                    <a:lnTo>
                      <a:pt x="648" y="12"/>
                    </a:lnTo>
                    <a:lnTo>
                      <a:pt x="595" y="18"/>
                    </a:lnTo>
                    <a:lnTo>
                      <a:pt x="544" y="27"/>
                    </a:lnTo>
                    <a:lnTo>
                      <a:pt x="494" y="36"/>
                    </a:lnTo>
                    <a:lnTo>
                      <a:pt x="446" y="49"/>
                    </a:lnTo>
                    <a:lnTo>
                      <a:pt x="397" y="61"/>
                    </a:lnTo>
                    <a:lnTo>
                      <a:pt x="350" y="76"/>
                    </a:lnTo>
                    <a:lnTo>
                      <a:pt x="304" y="91"/>
                    </a:lnTo>
                    <a:lnTo>
                      <a:pt x="259" y="110"/>
                    </a:lnTo>
                    <a:lnTo>
                      <a:pt x="214" y="128"/>
                    </a:lnTo>
                    <a:lnTo>
                      <a:pt x="172" y="149"/>
                    </a:lnTo>
                    <a:lnTo>
                      <a:pt x="130" y="171"/>
                    </a:lnTo>
                    <a:lnTo>
                      <a:pt x="90" y="196"/>
                    </a:lnTo>
                    <a:lnTo>
                      <a:pt x="60" y="213"/>
                    </a:lnTo>
                    <a:lnTo>
                      <a:pt x="28" y="232"/>
                    </a:lnTo>
                    <a:lnTo>
                      <a:pt x="0" y="25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3" name="Freeform 1178"/>
              <p:cNvSpPr>
                <a:spLocks/>
              </p:cNvSpPr>
              <p:nvPr/>
            </p:nvSpPr>
            <p:spPr bwMode="auto">
              <a:xfrm>
                <a:off x="1351" y="975"/>
                <a:ext cx="257" cy="73"/>
              </a:xfrm>
              <a:custGeom>
                <a:avLst/>
                <a:gdLst>
                  <a:gd name="T0" fmla="*/ 0 w 1029"/>
                  <a:gd name="T1" fmla="*/ 0 h 291"/>
                  <a:gd name="T2" fmla="*/ 0 w 1029"/>
                  <a:gd name="T3" fmla="*/ 0 h 291"/>
                  <a:gd name="T4" fmla="*/ 0 w 1029"/>
                  <a:gd name="T5" fmla="*/ 0 h 291"/>
                  <a:gd name="T6" fmla="*/ 0 w 1029"/>
                  <a:gd name="T7" fmla="*/ 0 h 291"/>
                  <a:gd name="T8" fmla="*/ 0 w 1029"/>
                  <a:gd name="T9" fmla="*/ 0 h 291"/>
                  <a:gd name="T10" fmla="*/ 0 w 1029"/>
                  <a:gd name="T11" fmla="*/ 0 h 291"/>
                  <a:gd name="T12" fmla="*/ 0 w 1029"/>
                  <a:gd name="T13" fmla="*/ 0 h 291"/>
                  <a:gd name="T14" fmla="*/ 0 w 1029"/>
                  <a:gd name="T15" fmla="*/ 0 h 291"/>
                  <a:gd name="T16" fmla="*/ 0 w 1029"/>
                  <a:gd name="T17" fmla="*/ 0 h 291"/>
                  <a:gd name="T18" fmla="*/ 0 w 1029"/>
                  <a:gd name="T19" fmla="*/ 0 h 291"/>
                  <a:gd name="T20" fmla="*/ 0 w 1029"/>
                  <a:gd name="T21" fmla="*/ 0 h 291"/>
                  <a:gd name="T22" fmla="*/ 0 w 1029"/>
                  <a:gd name="T23" fmla="*/ 0 h 291"/>
                  <a:gd name="T24" fmla="*/ 0 w 1029"/>
                  <a:gd name="T25" fmla="*/ 0 h 291"/>
                  <a:gd name="T26" fmla="*/ 0 w 1029"/>
                  <a:gd name="T27" fmla="*/ 0 h 291"/>
                  <a:gd name="T28" fmla="*/ 0 w 1029"/>
                  <a:gd name="T29" fmla="*/ 0 h 291"/>
                  <a:gd name="T30" fmla="*/ 0 w 1029"/>
                  <a:gd name="T31" fmla="*/ 0 h 291"/>
                  <a:gd name="T32" fmla="*/ 0 w 1029"/>
                  <a:gd name="T33" fmla="*/ 0 h 291"/>
                  <a:gd name="T34" fmla="*/ 0 w 1029"/>
                  <a:gd name="T35" fmla="*/ 0 h 291"/>
                  <a:gd name="T36" fmla="*/ 0 w 1029"/>
                  <a:gd name="T37" fmla="*/ 0 h 291"/>
                  <a:gd name="T38" fmla="*/ 0 w 1029"/>
                  <a:gd name="T39" fmla="*/ 0 h 29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029"/>
                  <a:gd name="T61" fmla="*/ 0 h 291"/>
                  <a:gd name="T62" fmla="*/ 1029 w 1029"/>
                  <a:gd name="T63" fmla="*/ 291 h 29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029" h="291">
                    <a:moveTo>
                      <a:pt x="0" y="291"/>
                    </a:moveTo>
                    <a:lnTo>
                      <a:pt x="7" y="283"/>
                    </a:lnTo>
                    <a:lnTo>
                      <a:pt x="16" y="278"/>
                    </a:lnTo>
                    <a:lnTo>
                      <a:pt x="129" y="211"/>
                    </a:lnTo>
                    <a:lnTo>
                      <a:pt x="176" y="184"/>
                    </a:lnTo>
                    <a:lnTo>
                      <a:pt x="225" y="161"/>
                    </a:lnTo>
                    <a:lnTo>
                      <a:pt x="275" y="138"/>
                    </a:lnTo>
                    <a:lnTo>
                      <a:pt x="327" y="118"/>
                    </a:lnTo>
                    <a:lnTo>
                      <a:pt x="379" y="99"/>
                    </a:lnTo>
                    <a:lnTo>
                      <a:pt x="433" y="81"/>
                    </a:lnTo>
                    <a:lnTo>
                      <a:pt x="488" y="65"/>
                    </a:lnTo>
                    <a:lnTo>
                      <a:pt x="545" y="52"/>
                    </a:lnTo>
                    <a:lnTo>
                      <a:pt x="601" y="39"/>
                    </a:lnTo>
                    <a:lnTo>
                      <a:pt x="659" y="29"/>
                    </a:lnTo>
                    <a:lnTo>
                      <a:pt x="717" y="20"/>
                    </a:lnTo>
                    <a:lnTo>
                      <a:pt x="778" y="13"/>
                    </a:lnTo>
                    <a:lnTo>
                      <a:pt x="838" y="6"/>
                    </a:lnTo>
                    <a:lnTo>
                      <a:pt x="901" y="3"/>
                    </a:lnTo>
                    <a:lnTo>
                      <a:pt x="964" y="0"/>
                    </a:lnTo>
                    <a:lnTo>
                      <a:pt x="1029" y="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4" name="Freeform 1179"/>
              <p:cNvSpPr>
                <a:spLocks/>
              </p:cNvSpPr>
              <p:nvPr/>
            </p:nvSpPr>
            <p:spPr bwMode="auto">
              <a:xfrm>
                <a:off x="1351" y="1047"/>
                <a:ext cx="0" cy="1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  <a:gd name="T3" fmla="*/ 0 60000 65536"/>
                  <a:gd name="T4" fmla="*/ 0 60000 65536"/>
                  <a:gd name="T5" fmla="*/ 0 60000 65536"/>
                  <a:gd name="T6" fmla="*/ 0 h 2"/>
                  <a:gd name="T7" fmla="*/ 2 h 2"/>
                </a:gdLst>
                <a:ahLst/>
                <a:cxnLst>
                  <a:cxn ang="T3">
                    <a:pos x="0" y="T0"/>
                  </a:cxn>
                  <a:cxn ang="T4">
                    <a:pos x="0" y="T1"/>
                  </a:cxn>
                  <a:cxn ang="T5">
                    <a:pos x="0" y="T2"/>
                  </a:cxn>
                </a:cxnLst>
                <a:rect l="0" t="T6" r="0" b="T7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5" name="Freeform 1180"/>
              <p:cNvSpPr>
                <a:spLocks/>
              </p:cNvSpPr>
              <p:nvPr/>
            </p:nvSpPr>
            <p:spPr bwMode="auto">
              <a:xfrm>
                <a:off x="1383" y="1093"/>
                <a:ext cx="49" cy="100"/>
              </a:xfrm>
              <a:custGeom>
                <a:avLst/>
                <a:gdLst>
                  <a:gd name="T0" fmla="*/ 0 w 198"/>
                  <a:gd name="T1" fmla="*/ 0 h 397"/>
                  <a:gd name="T2" fmla="*/ 0 w 198"/>
                  <a:gd name="T3" fmla="*/ 0 h 397"/>
                  <a:gd name="T4" fmla="*/ 0 w 198"/>
                  <a:gd name="T5" fmla="*/ 0 h 397"/>
                  <a:gd name="T6" fmla="*/ 0 w 198"/>
                  <a:gd name="T7" fmla="*/ 0 h 397"/>
                  <a:gd name="T8" fmla="*/ 0 w 198"/>
                  <a:gd name="T9" fmla="*/ 0 h 397"/>
                  <a:gd name="T10" fmla="*/ 0 w 198"/>
                  <a:gd name="T11" fmla="*/ 0 h 397"/>
                  <a:gd name="T12" fmla="*/ 0 w 198"/>
                  <a:gd name="T13" fmla="*/ 0 h 397"/>
                  <a:gd name="T14" fmla="*/ 0 w 198"/>
                  <a:gd name="T15" fmla="*/ 0 h 397"/>
                  <a:gd name="T16" fmla="*/ 0 w 198"/>
                  <a:gd name="T17" fmla="*/ 0 h 397"/>
                  <a:gd name="T18" fmla="*/ 0 w 198"/>
                  <a:gd name="T19" fmla="*/ 0 h 397"/>
                  <a:gd name="T20" fmla="*/ 0 w 198"/>
                  <a:gd name="T21" fmla="*/ 0 h 397"/>
                  <a:gd name="T22" fmla="*/ 0 w 198"/>
                  <a:gd name="T23" fmla="*/ 0 h 397"/>
                  <a:gd name="T24" fmla="*/ 0 w 198"/>
                  <a:gd name="T25" fmla="*/ 0 h 397"/>
                  <a:gd name="T26" fmla="*/ 0 w 198"/>
                  <a:gd name="T27" fmla="*/ 0 h 397"/>
                  <a:gd name="T28" fmla="*/ 0 w 198"/>
                  <a:gd name="T29" fmla="*/ 0 h 3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98"/>
                  <a:gd name="T46" fmla="*/ 0 h 397"/>
                  <a:gd name="T47" fmla="*/ 198 w 198"/>
                  <a:gd name="T48" fmla="*/ 397 h 3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98" h="397">
                    <a:moveTo>
                      <a:pt x="198" y="0"/>
                    </a:moveTo>
                    <a:lnTo>
                      <a:pt x="160" y="29"/>
                    </a:lnTo>
                    <a:lnTo>
                      <a:pt x="126" y="60"/>
                    </a:lnTo>
                    <a:lnTo>
                      <a:pt x="96" y="91"/>
                    </a:lnTo>
                    <a:lnTo>
                      <a:pt x="72" y="124"/>
                    </a:lnTo>
                    <a:lnTo>
                      <a:pt x="50" y="157"/>
                    </a:lnTo>
                    <a:lnTo>
                      <a:pt x="32" y="192"/>
                    </a:lnTo>
                    <a:lnTo>
                      <a:pt x="18" y="228"/>
                    </a:lnTo>
                    <a:lnTo>
                      <a:pt x="10" y="266"/>
                    </a:lnTo>
                    <a:lnTo>
                      <a:pt x="5" y="283"/>
                    </a:lnTo>
                    <a:lnTo>
                      <a:pt x="3" y="301"/>
                    </a:lnTo>
                    <a:lnTo>
                      <a:pt x="1" y="337"/>
                    </a:lnTo>
                    <a:lnTo>
                      <a:pt x="1" y="342"/>
                    </a:lnTo>
                    <a:lnTo>
                      <a:pt x="0" y="369"/>
                    </a:lnTo>
                    <a:lnTo>
                      <a:pt x="3" y="3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6" name="Line 1181"/>
              <p:cNvSpPr>
                <a:spLocks noChangeShapeType="1"/>
              </p:cNvSpPr>
              <p:nvPr/>
            </p:nvSpPr>
            <p:spPr bwMode="auto">
              <a:xfrm flipH="1" flipV="1">
                <a:off x="1351" y="1048"/>
                <a:ext cx="40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7" name="Line 1182"/>
              <p:cNvSpPr>
                <a:spLocks noChangeShapeType="1"/>
              </p:cNvSpPr>
              <p:nvPr/>
            </p:nvSpPr>
            <p:spPr bwMode="auto">
              <a:xfrm>
                <a:off x="1312" y="1026"/>
                <a:ext cx="39" cy="2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8" name="Freeform 1183"/>
              <p:cNvSpPr>
                <a:spLocks/>
              </p:cNvSpPr>
              <p:nvPr/>
            </p:nvSpPr>
            <p:spPr bwMode="auto">
              <a:xfrm>
                <a:off x="1432" y="1041"/>
                <a:ext cx="176" cy="52"/>
              </a:xfrm>
              <a:custGeom>
                <a:avLst/>
                <a:gdLst>
                  <a:gd name="T0" fmla="*/ 0 w 703"/>
                  <a:gd name="T1" fmla="*/ 0 h 208"/>
                  <a:gd name="T2" fmla="*/ 0 w 703"/>
                  <a:gd name="T3" fmla="*/ 0 h 208"/>
                  <a:gd name="T4" fmla="*/ 0 w 703"/>
                  <a:gd name="T5" fmla="*/ 0 h 208"/>
                  <a:gd name="T6" fmla="*/ 0 w 703"/>
                  <a:gd name="T7" fmla="*/ 0 h 208"/>
                  <a:gd name="T8" fmla="*/ 0 w 703"/>
                  <a:gd name="T9" fmla="*/ 0 h 208"/>
                  <a:gd name="T10" fmla="*/ 0 w 703"/>
                  <a:gd name="T11" fmla="*/ 0 h 208"/>
                  <a:gd name="T12" fmla="*/ 0 w 703"/>
                  <a:gd name="T13" fmla="*/ 0 h 208"/>
                  <a:gd name="T14" fmla="*/ 0 w 703"/>
                  <a:gd name="T15" fmla="*/ 0 h 208"/>
                  <a:gd name="T16" fmla="*/ 0 w 703"/>
                  <a:gd name="T17" fmla="*/ 0 h 208"/>
                  <a:gd name="T18" fmla="*/ 0 w 703"/>
                  <a:gd name="T19" fmla="*/ 0 h 208"/>
                  <a:gd name="T20" fmla="*/ 0 w 703"/>
                  <a:gd name="T21" fmla="*/ 0 h 208"/>
                  <a:gd name="T22" fmla="*/ 0 w 703"/>
                  <a:gd name="T23" fmla="*/ 0 h 208"/>
                  <a:gd name="T24" fmla="*/ 0 w 703"/>
                  <a:gd name="T25" fmla="*/ 0 h 208"/>
                  <a:gd name="T26" fmla="*/ 0 w 703"/>
                  <a:gd name="T27" fmla="*/ 0 h 208"/>
                  <a:gd name="T28" fmla="*/ 0 w 703"/>
                  <a:gd name="T29" fmla="*/ 0 h 2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3"/>
                  <a:gd name="T46" fmla="*/ 0 h 208"/>
                  <a:gd name="T47" fmla="*/ 703 w 703"/>
                  <a:gd name="T48" fmla="*/ 208 h 2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3" h="208">
                    <a:moveTo>
                      <a:pt x="703" y="0"/>
                    </a:moveTo>
                    <a:lnTo>
                      <a:pt x="614" y="1"/>
                    </a:lnTo>
                    <a:lnTo>
                      <a:pt x="529" y="8"/>
                    </a:lnTo>
                    <a:lnTo>
                      <a:pt x="487" y="12"/>
                    </a:lnTo>
                    <a:lnTo>
                      <a:pt x="447" y="19"/>
                    </a:lnTo>
                    <a:lnTo>
                      <a:pt x="407" y="26"/>
                    </a:lnTo>
                    <a:lnTo>
                      <a:pt x="369" y="36"/>
                    </a:lnTo>
                    <a:lnTo>
                      <a:pt x="330" y="45"/>
                    </a:lnTo>
                    <a:lnTo>
                      <a:pt x="293" y="57"/>
                    </a:lnTo>
                    <a:lnTo>
                      <a:pt x="222" y="83"/>
                    </a:lnTo>
                    <a:lnTo>
                      <a:pt x="153" y="114"/>
                    </a:lnTo>
                    <a:lnTo>
                      <a:pt x="119" y="131"/>
                    </a:lnTo>
                    <a:lnTo>
                      <a:pt x="88" y="151"/>
                    </a:lnTo>
                    <a:lnTo>
                      <a:pt x="43" y="178"/>
                    </a:lnTo>
                    <a:lnTo>
                      <a:pt x="0" y="208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49" name="Freeform 1184"/>
              <p:cNvSpPr>
                <a:spLocks/>
              </p:cNvSpPr>
              <p:nvPr/>
            </p:nvSpPr>
            <p:spPr bwMode="auto">
              <a:xfrm>
                <a:off x="1415" y="1286"/>
                <a:ext cx="42" cy="26"/>
              </a:xfrm>
              <a:custGeom>
                <a:avLst/>
                <a:gdLst>
                  <a:gd name="T0" fmla="*/ 0 w 170"/>
                  <a:gd name="T1" fmla="*/ 0 h 103"/>
                  <a:gd name="T2" fmla="*/ 0 w 170"/>
                  <a:gd name="T3" fmla="*/ 0 h 103"/>
                  <a:gd name="T4" fmla="*/ 0 w 170"/>
                  <a:gd name="T5" fmla="*/ 0 h 103"/>
                  <a:gd name="T6" fmla="*/ 0 60000 65536"/>
                  <a:gd name="T7" fmla="*/ 0 60000 65536"/>
                  <a:gd name="T8" fmla="*/ 0 60000 65536"/>
                  <a:gd name="T9" fmla="*/ 0 w 170"/>
                  <a:gd name="T10" fmla="*/ 0 h 103"/>
                  <a:gd name="T11" fmla="*/ 170 w 170"/>
                  <a:gd name="T12" fmla="*/ 103 h 1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0" h="103">
                    <a:moveTo>
                      <a:pt x="170" y="0"/>
                    </a:moveTo>
                    <a:lnTo>
                      <a:pt x="166" y="2"/>
                    </a:lnTo>
                    <a:lnTo>
                      <a:pt x="0" y="103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0" name="Freeform 1185"/>
              <p:cNvSpPr>
                <a:spLocks/>
              </p:cNvSpPr>
              <p:nvPr/>
            </p:nvSpPr>
            <p:spPr bwMode="auto">
              <a:xfrm>
                <a:off x="1415" y="1312"/>
                <a:ext cx="193" cy="46"/>
              </a:xfrm>
              <a:custGeom>
                <a:avLst/>
                <a:gdLst>
                  <a:gd name="T0" fmla="*/ 0 w 773"/>
                  <a:gd name="T1" fmla="*/ 0 h 185"/>
                  <a:gd name="T2" fmla="*/ 0 w 773"/>
                  <a:gd name="T3" fmla="*/ 0 h 185"/>
                  <a:gd name="T4" fmla="*/ 0 w 773"/>
                  <a:gd name="T5" fmla="*/ 0 h 185"/>
                  <a:gd name="T6" fmla="*/ 0 w 773"/>
                  <a:gd name="T7" fmla="*/ 0 h 185"/>
                  <a:gd name="T8" fmla="*/ 0 w 773"/>
                  <a:gd name="T9" fmla="*/ 0 h 185"/>
                  <a:gd name="T10" fmla="*/ 0 w 773"/>
                  <a:gd name="T11" fmla="*/ 0 h 185"/>
                  <a:gd name="T12" fmla="*/ 0 w 773"/>
                  <a:gd name="T13" fmla="*/ 0 h 185"/>
                  <a:gd name="T14" fmla="*/ 0 w 773"/>
                  <a:gd name="T15" fmla="*/ 0 h 185"/>
                  <a:gd name="T16" fmla="*/ 0 w 773"/>
                  <a:gd name="T17" fmla="*/ 0 h 185"/>
                  <a:gd name="T18" fmla="*/ 0 w 773"/>
                  <a:gd name="T19" fmla="*/ 0 h 185"/>
                  <a:gd name="T20" fmla="*/ 0 w 773"/>
                  <a:gd name="T21" fmla="*/ 0 h 185"/>
                  <a:gd name="T22" fmla="*/ 0 w 773"/>
                  <a:gd name="T23" fmla="*/ 0 h 185"/>
                  <a:gd name="T24" fmla="*/ 0 w 773"/>
                  <a:gd name="T25" fmla="*/ 0 h 185"/>
                  <a:gd name="T26" fmla="*/ 0 w 773"/>
                  <a:gd name="T27" fmla="*/ 0 h 185"/>
                  <a:gd name="T28" fmla="*/ 0 w 773"/>
                  <a:gd name="T29" fmla="*/ 0 h 185"/>
                  <a:gd name="T30" fmla="*/ 0 w 773"/>
                  <a:gd name="T31" fmla="*/ 0 h 185"/>
                  <a:gd name="T32" fmla="*/ 0 w 773"/>
                  <a:gd name="T33" fmla="*/ 0 h 185"/>
                  <a:gd name="T34" fmla="*/ 0 w 773"/>
                  <a:gd name="T35" fmla="*/ 0 h 185"/>
                  <a:gd name="T36" fmla="*/ 0 w 773"/>
                  <a:gd name="T37" fmla="*/ 0 h 1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73"/>
                  <a:gd name="T58" fmla="*/ 0 h 185"/>
                  <a:gd name="T59" fmla="*/ 773 w 773"/>
                  <a:gd name="T60" fmla="*/ 185 h 18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73" h="185">
                    <a:moveTo>
                      <a:pt x="773" y="185"/>
                    </a:moveTo>
                    <a:lnTo>
                      <a:pt x="766" y="185"/>
                    </a:lnTo>
                    <a:lnTo>
                      <a:pt x="764" y="185"/>
                    </a:lnTo>
                    <a:lnTo>
                      <a:pt x="708" y="184"/>
                    </a:lnTo>
                    <a:lnTo>
                      <a:pt x="654" y="182"/>
                    </a:lnTo>
                    <a:lnTo>
                      <a:pt x="600" y="178"/>
                    </a:lnTo>
                    <a:lnTo>
                      <a:pt x="548" y="173"/>
                    </a:lnTo>
                    <a:lnTo>
                      <a:pt x="496" y="166"/>
                    </a:lnTo>
                    <a:lnTo>
                      <a:pt x="446" y="158"/>
                    </a:lnTo>
                    <a:lnTo>
                      <a:pt x="396" y="148"/>
                    </a:lnTo>
                    <a:lnTo>
                      <a:pt x="349" y="138"/>
                    </a:lnTo>
                    <a:lnTo>
                      <a:pt x="301" y="125"/>
                    </a:lnTo>
                    <a:lnTo>
                      <a:pt x="255" y="111"/>
                    </a:lnTo>
                    <a:lnTo>
                      <a:pt x="210" y="96"/>
                    </a:lnTo>
                    <a:lnTo>
                      <a:pt x="166" y="80"/>
                    </a:lnTo>
                    <a:lnTo>
                      <a:pt x="122" y="62"/>
                    </a:lnTo>
                    <a:lnTo>
                      <a:pt x="80" y="43"/>
                    </a:lnTo>
                    <a:lnTo>
                      <a:pt x="39" y="22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1" name="Freeform 1186"/>
              <p:cNvSpPr>
                <a:spLocks/>
              </p:cNvSpPr>
              <p:nvPr/>
            </p:nvSpPr>
            <p:spPr bwMode="auto">
              <a:xfrm>
                <a:off x="1457" y="1286"/>
                <a:ext cx="151" cy="34"/>
              </a:xfrm>
              <a:custGeom>
                <a:avLst/>
                <a:gdLst>
                  <a:gd name="T0" fmla="*/ 0 w 603"/>
                  <a:gd name="T1" fmla="*/ 0 h 138"/>
                  <a:gd name="T2" fmla="*/ 0 w 603"/>
                  <a:gd name="T3" fmla="*/ 0 h 138"/>
                  <a:gd name="T4" fmla="*/ 0 w 603"/>
                  <a:gd name="T5" fmla="*/ 0 h 138"/>
                  <a:gd name="T6" fmla="*/ 0 w 603"/>
                  <a:gd name="T7" fmla="*/ 0 h 138"/>
                  <a:gd name="T8" fmla="*/ 0 w 603"/>
                  <a:gd name="T9" fmla="*/ 0 h 138"/>
                  <a:gd name="T10" fmla="*/ 0 w 603"/>
                  <a:gd name="T11" fmla="*/ 0 h 138"/>
                  <a:gd name="T12" fmla="*/ 0 w 603"/>
                  <a:gd name="T13" fmla="*/ 0 h 138"/>
                  <a:gd name="T14" fmla="*/ 0 w 603"/>
                  <a:gd name="T15" fmla="*/ 0 h 138"/>
                  <a:gd name="T16" fmla="*/ 0 w 603"/>
                  <a:gd name="T17" fmla="*/ 0 h 138"/>
                  <a:gd name="T18" fmla="*/ 0 w 603"/>
                  <a:gd name="T19" fmla="*/ 0 h 138"/>
                  <a:gd name="T20" fmla="*/ 0 w 603"/>
                  <a:gd name="T21" fmla="*/ 0 h 138"/>
                  <a:gd name="T22" fmla="*/ 0 w 603"/>
                  <a:gd name="T23" fmla="*/ 0 h 138"/>
                  <a:gd name="T24" fmla="*/ 0 w 603"/>
                  <a:gd name="T25" fmla="*/ 0 h 138"/>
                  <a:gd name="T26" fmla="*/ 0 w 603"/>
                  <a:gd name="T27" fmla="*/ 0 h 13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03"/>
                  <a:gd name="T43" fmla="*/ 0 h 138"/>
                  <a:gd name="T44" fmla="*/ 603 w 603"/>
                  <a:gd name="T45" fmla="*/ 138 h 13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03" h="138">
                    <a:moveTo>
                      <a:pt x="603" y="138"/>
                    </a:moveTo>
                    <a:lnTo>
                      <a:pt x="596" y="138"/>
                    </a:lnTo>
                    <a:lnTo>
                      <a:pt x="552" y="136"/>
                    </a:lnTo>
                    <a:lnTo>
                      <a:pt x="510" y="134"/>
                    </a:lnTo>
                    <a:lnTo>
                      <a:pt x="468" y="131"/>
                    </a:lnTo>
                    <a:lnTo>
                      <a:pt x="428" y="127"/>
                    </a:lnTo>
                    <a:lnTo>
                      <a:pt x="349" y="115"/>
                    </a:lnTo>
                    <a:lnTo>
                      <a:pt x="274" y="101"/>
                    </a:lnTo>
                    <a:lnTo>
                      <a:pt x="236" y="91"/>
                    </a:lnTo>
                    <a:lnTo>
                      <a:pt x="200" y="81"/>
                    </a:lnTo>
                    <a:lnTo>
                      <a:pt x="165" y="70"/>
                    </a:lnTo>
                    <a:lnTo>
                      <a:pt x="131" y="58"/>
                    </a:lnTo>
                    <a:lnTo>
                      <a:pt x="64" y="30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2" name="Freeform 1187"/>
              <p:cNvSpPr>
                <a:spLocks/>
              </p:cNvSpPr>
              <p:nvPr/>
            </p:nvSpPr>
            <p:spPr bwMode="auto">
              <a:xfrm>
                <a:off x="1383" y="1193"/>
                <a:ext cx="74" cy="93"/>
              </a:xfrm>
              <a:custGeom>
                <a:avLst/>
                <a:gdLst>
                  <a:gd name="T0" fmla="*/ 0 w 295"/>
                  <a:gd name="T1" fmla="*/ 0 h 373"/>
                  <a:gd name="T2" fmla="*/ 0 w 295"/>
                  <a:gd name="T3" fmla="*/ 0 h 373"/>
                  <a:gd name="T4" fmla="*/ 0 w 295"/>
                  <a:gd name="T5" fmla="*/ 0 h 373"/>
                  <a:gd name="T6" fmla="*/ 0 w 295"/>
                  <a:gd name="T7" fmla="*/ 0 h 373"/>
                  <a:gd name="T8" fmla="*/ 0 w 295"/>
                  <a:gd name="T9" fmla="*/ 0 h 373"/>
                  <a:gd name="T10" fmla="*/ 0 w 295"/>
                  <a:gd name="T11" fmla="*/ 0 h 373"/>
                  <a:gd name="T12" fmla="*/ 0 w 295"/>
                  <a:gd name="T13" fmla="*/ 0 h 373"/>
                  <a:gd name="T14" fmla="*/ 0 w 295"/>
                  <a:gd name="T15" fmla="*/ 0 h 373"/>
                  <a:gd name="T16" fmla="*/ 0 w 295"/>
                  <a:gd name="T17" fmla="*/ 0 h 373"/>
                  <a:gd name="T18" fmla="*/ 0 w 295"/>
                  <a:gd name="T19" fmla="*/ 0 h 373"/>
                  <a:gd name="T20" fmla="*/ 0 w 295"/>
                  <a:gd name="T21" fmla="*/ 0 h 373"/>
                  <a:gd name="T22" fmla="*/ 0 w 295"/>
                  <a:gd name="T23" fmla="*/ 0 h 373"/>
                  <a:gd name="T24" fmla="*/ 0 w 295"/>
                  <a:gd name="T25" fmla="*/ 0 h 373"/>
                  <a:gd name="T26" fmla="*/ 0 w 295"/>
                  <a:gd name="T27" fmla="*/ 0 h 373"/>
                  <a:gd name="T28" fmla="*/ 0 w 295"/>
                  <a:gd name="T29" fmla="*/ 0 h 373"/>
                  <a:gd name="T30" fmla="*/ 0 w 295"/>
                  <a:gd name="T31" fmla="*/ 0 h 373"/>
                  <a:gd name="T32" fmla="*/ 0 w 295"/>
                  <a:gd name="T33" fmla="*/ 0 h 37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95"/>
                  <a:gd name="T52" fmla="*/ 0 h 373"/>
                  <a:gd name="T53" fmla="*/ 295 w 295"/>
                  <a:gd name="T54" fmla="*/ 373 h 37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95" h="373">
                    <a:moveTo>
                      <a:pt x="295" y="373"/>
                    </a:moveTo>
                    <a:lnTo>
                      <a:pt x="291" y="370"/>
                    </a:lnTo>
                    <a:lnTo>
                      <a:pt x="290" y="370"/>
                    </a:lnTo>
                    <a:lnTo>
                      <a:pt x="207" y="310"/>
                    </a:lnTo>
                    <a:lnTo>
                      <a:pt x="188" y="296"/>
                    </a:lnTo>
                    <a:lnTo>
                      <a:pt x="171" y="282"/>
                    </a:lnTo>
                    <a:lnTo>
                      <a:pt x="154" y="268"/>
                    </a:lnTo>
                    <a:lnTo>
                      <a:pt x="139" y="255"/>
                    </a:lnTo>
                    <a:lnTo>
                      <a:pt x="110" y="226"/>
                    </a:lnTo>
                    <a:lnTo>
                      <a:pt x="85" y="198"/>
                    </a:lnTo>
                    <a:lnTo>
                      <a:pt x="62" y="168"/>
                    </a:lnTo>
                    <a:lnTo>
                      <a:pt x="44" y="138"/>
                    </a:lnTo>
                    <a:lnTo>
                      <a:pt x="28" y="106"/>
                    </a:lnTo>
                    <a:lnTo>
                      <a:pt x="17" y="75"/>
                    </a:lnTo>
                    <a:lnTo>
                      <a:pt x="5" y="37"/>
                    </a:lnTo>
                    <a:lnTo>
                      <a:pt x="1" y="18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3" name="Freeform 1188"/>
              <p:cNvSpPr>
                <a:spLocks/>
              </p:cNvSpPr>
              <p:nvPr/>
            </p:nvSpPr>
            <p:spPr bwMode="auto">
              <a:xfrm>
                <a:off x="1266" y="1193"/>
                <a:ext cx="104" cy="146"/>
              </a:xfrm>
              <a:custGeom>
                <a:avLst/>
                <a:gdLst>
                  <a:gd name="T0" fmla="*/ 0 w 413"/>
                  <a:gd name="T1" fmla="*/ 0 h 586"/>
                  <a:gd name="T2" fmla="*/ 0 w 413"/>
                  <a:gd name="T3" fmla="*/ 0 h 586"/>
                  <a:gd name="T4" fmla="*/ 0 w 413"/>
                  <a:gd name="T5" fmla="*/ 0 h 586"/>
                  <a:gd name="T6" fmla="*/ 0 w 413"/>
                  <a:gd name="T7" fmla="*/ 0 h 586"/>
                  <a:gd name="T8" fmla="*/ 0 w 413"/>
                  <a:gd name="T9" fmla="*/ 0 h 586"/>
                  <a:gd name="T10" fmla="*/ 0 w 413"/>
                  <a:gd name="T11" fmla="*/ 0 h 586"/>
                  <a:gd name="T12" fmla="*/ 0 w 413"/>
                  <a:gd name="T13" fmla="*/ 0 h 586"/>
                  <a:gd name="T14" fmla="*/ 0 w 413"/>
                  <a:gd name="T15" fmla="*/ 0 h 586"/>
                  <a:gd name="T16" fmla="*/ 0 w 413"/>
                  <a:gd name="T17" fmla="*/ 0 h 586"/>
                  <a:gd name="T18" fmla="*/ 0 w 413"/>
                  <a:gd name="T19" fmla="*/ 0 h 586"/>
                  <a:gd name="T20" fmla="*/ 0 w 413"/>
                  <a:gd name="T21" fmla="*/ 0 h 586"/>
                  <a:gd name="T22" fmla="*/ 0 w 413"/>
                  <a:gd name="T23" fmla="*/ 0 h 586"/>
                  <a:gd name="T24" fmla="*/ 0 w 413"/>
                  <a:gd name="T25" fmla="*/ 0 h 586"/>
                  <a:gd name="T26" fmla="*/ 0 w 413"/>
                  <a:gd name="T27" fmla="*/ 0 h 586"/>
                  <a:gd name="T28" fmla="*/ 0 w 413"/>
                  <a:gd name="T29" fmla="*/ 0 h 586"/>
                  <a:gd name="T30" fmla="*/ 0 w 413"/>
                  <a:gd name="T31" fmla="*/ 0 h 586"/>
                  <a:gd name="T32" fmla="*/ 0 w 413"/>
                  <a:gd name="T33" fmla="*/ 0 h 586"/>
                  <a:gd name="T34" fmla="*/ 0 w 413"/>
                  <a:gd name="T35" fmla="*/ 0 h 586"/>
                  <a:gd name="T36" fmla="*/ 0 w 413"/>
                  <a:gd name="T37" fmla="*/ 0 h 586"/>
                  <a:gd name="T38" fmla="*/ 0 w 413"/>
                  <a:gd name="T39" fmla="*/ 0 h 586"/>
                  <a:gd name="T40" fmla="*/ 0 w 413"/>
                  <a:gd name="T41" fmla="*/ 0 h 586"/>
                  <a:gd name="T42" fmla="*/ 0 w 413"/>
                  <a:gd name="T43" fmla="*/ 0 h 5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13"/>
                  <a:gd name="T67" fmla="*/ 0 h 586"/>
                  <a:gd name="T68" fmla="*/ 413 w 413"/>
                  <a:gd name="T69" fmla="*/ 586 h 5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13" h="586">
                    <a:moveTo>
                      <a:pt x="413" y="586"/>
                    </a:moveTo>
                    <a:lnTo>
                      <a:pt x="395" y="575"/>
                    </a:lnTo>
                    <a:lnTo>
                      <a:pt x="377" y="563"/>
                    </a:lnTo>
                    <a:lnTo>
                      <a:pt x="347" y="543"/>
                    </a:lnTo>
                    <a:lnTo>
                      <a:pt x="310" y="516"/>
                    </a:lnTo>
                    <a:lnTo>
                      <a:pt x="275" y="490"/>
                    </a:lnTo>
                    <a:lnTo>
                      <a:pt x="242" y="462"/>
                    </a:lnTo>
                    <a:lnTo>
                      <a:pt x="213" y="436"/>
                    </a:lnTo>
                    <a:lnTo>
                      <a:pt x="184" y="408"/>
                    </a:lnTo>
                    <a:lnTo>
                      <a:pt x="159" y="380"/>
                    </a:lnTo>
                    <a:lnTo>
                      <a:pt x="134" y="351"/>
                    </a:lnTo>
                    <a:lnTo>
                      <a:pt x="113" y="323"/>
                    </a:lnTo>
                    <a:lnTo>
                      <a:pt x="92" y="293"/>
                    </a:lnTo>
                    <a:lnTo>
                      <a:pt x="73" y="262"/>
                    </a:lnTo>
                    <a:lnTo>
                      <a:pt x="56" y="231"/>
                    </a:lnTo>
                    <a:lnTo>
                      <a:pt x="43" y="201"/>
                    </a:lnTo>
                    <a:lnTo>
                      <a:pt x="30" y="169"/>
                    </a:lnTo>
                    <a:lnTo>
                      <a:pt x="21" y="138"/>
                    </a:lnTo>
                    <a:lnTo>
                      <a:pt x="12" y="106"/>
                    </a:lnTo>
                    <a:lnTo>
                      <a:pt x="7" y="75"/>
                    </a:lnTo>
                    <a:lnTo>
                      <a:pt x="1" y="3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4" name="Freeform 1189"/>
              <p:cNvSpPr>
                <a:spLocks/>
              </p:cNvSpPr>
              <p:nvPr/>
            </p:nvSpPr>
            <p:spPr bwMode="auto">
              <a:xfrm>
                <a:off x="1325" y="1193"/>
                <a:ext cx="90" cy="119"/>
              </a:xfrm>
              <a:custGeom>
                <a:avLst/>
                <a:gdLst>
                  <a:gd name="T0" fmla="*/ 0 w 359"/>
                  <a:gd name="T1" fmla="*/ 0 h 476"/>
                  <a:gd name="T2" fmla="*/ 0 w 359"/>
                  <a:gd name="T3" fmla="*/ 0 h 476"/>
                  <a:gd name="T4" fmla="*/ 0 w 359"/>
                  <a:gd name="T5" fmla="*/ 0 h 476"/>
                  <a:gd name="T6" fmla="*/ 0 w 359"/>
                  <a:gd name="T7" fmla="*/ 0 h 476"/>
                  <a:gd name="T8" fmla="*/ 0 w 359"/>
                  <a:gd name="T9" fmla="*/ 0 h 476"/>
                  <a:gd name="T10" fmla="*/ 0 w 359"/>
                  <a:gd name="T11" fmla="*/ 0 h 476"/>
                  <a:gd name="T12" fmla="*/ 0 w 359"/>
                  <a:gd name="T13" fmla="*/ 0 h 476"/>
                  <a:gd name="T14" fmla="*/ 0 w 359"/>
                  <a:gd name="T15" fmla="*/ 0 h 476"/>
                  <a:gd name="T16" fmla="*/ 0 w 359"/>
                  <a:gd name="T17" fmla="*/ 0 h 476"/>
                  <a:gd name="T18" fmla="*/ 0 w 359"/>
                  <a:gd name="T19" fmla="*/ 0 h 476"/>
                  <a:gd name="T20" fmla="*/ 0 w 359"/>
                  <a:gd name="T21" fmla="*/ 0 h 476"/>
                  <a:gd name="T22" fmla="*/ 0 w 359"/>
                  <a:gd name="T23" fmla="*/ 0 h 476"/>
                  <a:gd name="T24" fmla="*/ 0 w 359"/>
                  <a:gd name="T25" fmla="*/ 0 h 476"/>
                  <a:gd name="T26" fmla="*/ 0 w 359"/>
                  <a:gd name="T27" fmla="*/ 0 h 476"/>
                  <a:gd name="T28" fmla="*/ 0 w 359"/>
                  <a:gd name="T29" fmla="*/ 0 h 476"/>
                  <a:gd name="T30" fmla="*/ 0 w 359"/>
                  <a:gd name="T31" fmla="*/ 0 h 476"/>
                  <a:gd name="T32" fmla="*/ 0 w 359"/>
                  <a:gd name="T33" fmla="*/ 0 h 4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9"/>
                  <a:gd name="T52" fmla="*/ 0 h 476"/>
                  <a:gd name="T53" fmla="*/ 359 w 359"/>
                  <a:gd name="T54" fmla="*/ 476 h 4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9" h="476">
                    <a:moveTo>
                      <a:pt x="0" y="0"/>
                    </a:moveTo>
                    <a:lnTo>
                      <a:pt x="3" y="37"/>
                    </a:lnTo>
                    <a:lnTo>
                      <a:pt x="11" y="75"/>
                    </a:lnTo>
                    <a:lnTo>
                      <a:pt x="24" y="121"/>
                    </a:lnTo>
                    <a:lnTo>
                      <a:pt x="43" y="167"/>
                    </a:lnTo>
                    <a:lnTo>
                      <a:pt x="67" y="211"/>
                    </a:lnTo>
                    <a:lnTo>
                      <a:pt x="97" y="255"/>
                    </a:lnTo>
                    <a:lnTo>
                      <a:pt x="131" y="298"/>
                    </a:lnTo>
                    <a:lnTo>
                      <a:pt x="150" y="318"/>
                    </a:lnTo>
                    <a:lnTo>
                      <a:pt x="171" y="339"/>
                    </a:lnTo>
                    <a:lnTo>
                      <a:pt x="215" y="379"/>
                    </a:lnTo>
                    <a:lnTo>
                      <a:pt x="239" y="398"/>
                    </a:lnTo>
                    <a:lnTo>
                      <a:pt x="266" y="418"/>
                    </a:lnTo>
                    <a:lnTo>
                      <a:pt x="309" y="448"/>
                    </a:lnTo>
                    <a:lnTo>
                      <a:pt x="314" y="448"/>
                    </a:lnTo>
                    <a:lnTo>
                      <a:pt x="340" y="465"/>
                    </a:lnTo>
                    <a:lnTo>
                      <a:pt x="359" y="476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5" name="Line 1190"/>
              <p:cNvSpPr>
                <a:spLocks noChangeShapeType="1"/>
              </p:cNvSpPr>
              <p:nvPr/>
            </p:nvSpPr>
            <p:spPr bwMode="auto">
              <a:xfrm flipH="1">
                <a:off x="1370" y="1312"/>
                <a:ext cx="45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6" name="Line 1191"/>
              <p:cNvSpPr>
                <a:spLocks noChangeShapeType="1"/>
              </p:cNvSpPr>
              <p:nvPr/>
            </p:nvSpPr>
            <p:spPr bwMode="auto">
              <a:xfrm>
                <a:off x="1266" y="1193"/>
                <a:ext cx="59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7" name="Freeform 1192"/>
              <p:cNvSpPr>
                <a:spLocks/>
              </p:cNvSpPr>
              <p:nvPr/>
            </p:nvSpPr>
            <p:spPr bwMode="auto">
              <a:xfrm>
                <a:off x="1211" y="1193"/>
                <a:ext cx="117" cy="172"/>
              </a:xfrm>
              <a:custGeom>
                <a:avLst/>
                <a:gdLst>
                  <a:gd name="T0" fmla="*/ 0 w 467"/>
                  <a:gd name="T1" fmla="*/ 0 h 689"/>
                  <a:gd name="T2" fmla="*/ 0 w 467"/>
                  <a:gd name="T3" fmla="*/ 0 h 689"/>
                  <a:gd name="T4" fmla="*/ 0 w 467"/>
                  <a:gd name="T5" fmla="*/ 0 h 689"/>
                  <a:gd name="T6" fmla="*/ 0 w 467"/>
                  <a:gd name="T7" fmla="*/ 0 h 689"/>
                  <a:gd name="T8" fmla="*/ 0 w 467"/>
                  <a:gd name="T9" fmla="*/ 0 h 689"/>
                  <a:gd name="T10" fmla="*/ 0 w 467"/>
                  <a:gd name="T11" fmla="*/ 0 h 689"/>
                  <a:gd name="T12" fmla="*/ 0 w 467"/>
                  <a:gd name="T13" fmla="*/ 0 h 689"/>
                  <a:gd name="T14" fmla="*/ 0 w 467"/>
                  <a:gd name="T15" fmla="*/ 0 h 689"/>
                  <a:gd name="T16" fmla="*/ 0 w 467"/>
                  <a:gd name="T17" fmla="*/ 0 h 689"/>
                  <a:gd name="T18" fmla="*/ 0 w 467"/>
                  <a:gd name="T19" fmla="*/ 0 h 689"/>
                  <a:gd name="T20" fmla="*/ 0 w 467"/>
                  <a:gd name="T21" fmla="*/ 0 h 689"/>
                  <a:gd name="T22" fmla="*/ 0 w 467"/>
                  <a:gd name="T23" fmla="*/ 0 h 689"/>
                  <a:gd name="T24" fmla="*/ 0 w 467"/>
                  <a:gd name="T25" fmla="*/ 0 h 689"/>
                  <a:gd name="T26" fmla="*/ 0 w 467"/>
                  <a:gd name="T27" fmla="*/ 0 h 689"/>
                  <a:gd name="T28" fmla="*/ 0 w 467"/>
                  <a:gd name="T29" fmla="*/ 0 h 689"/>
                  <a:gd name="T30" fmla="*/ 0 w 467"/>
                  <a:gd name="T31" fmla="*/ 0 h 689"/>
                  <a:gd name="T32" fmla="*/ 0 w 467"/>
                  <a:gd name="T33" fmla="*/ 0 h 689"/>
                  <a:gd name="T34" fmla="*/ 0 w 467"/>
                  <a:gd name="T35" fmla="*/ 0 h 689"/>
                  <a:gd name="T36" fmla="*/ 0 w 467"/>
                  <a:gd name="T37" fmla="*/ 0 h 689"/>
                  <a:gd name="T38" fmla="*/ 0 w 467"/>
                  <a:gd name="T39" fmla="*/ 0 h 689"/>
                  <a:gd name="T40" fmla="*/ 0 w 467"/>
                  <a:gd name="T41" fmla="*/ 0 h 689"/>
                  <a:gd name="T42" fmla="*/ 0 w 467"/>
                  <a:gd name="T43" fmla="*/ 0 h 689"/>
                  <a:gd name="T44" fmla="*/ 0 w 467"/>
                  <a:gd name="T45" fmla="*/ 0 h 689"/>
                  <a:gd name="T46" fmla="*/ 0 w 467"/>
                  <a:gd name="T47" fmla="*/ 0 h 689"/>
                  <a:gd name="T48" fmla="*/ 0 w 467"/>
                  <a:gd name="T49" fmla="*/ 0 h 689"/>
                  <a:gd name="T50" fmla="*/ 0 w 467"/>
                  <a:gd name="T51" fmla="*/ 0 h 6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67"/>
                  <a:gd name="T79" fmla="*/ 0 h 689"/>
                  <a:gd name="T80" fmla="*/ 467 w 467"/>
                  <a:gd name="T81" fmla="*/ 689 h 6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67" h="689">
                    <a:moveTo>
                      <a:pt x="0" y="0"/>
                    </a:moveTo>
                    <a:lnTo>
                      <a:pt x="1" y="37"/>
                    </a:lnTo>
                    <a:lnTo>
                      <a:pt x="6" y="75"/>
                    </a:lnTo>
                    <a:lnTo>
                      <a:pt x="11" y="115"/>
                    </a:lnTo>
                    <a:lnTo>
                      <a:pt x="20" y="155"/>
                    </a:lnTo>
                    <a:lnTo>
                      <a:pt x="31" y="194"/>
                    </a:lnTo>
                    <a:lnTo>
                      <a:pt x="45" y="234"/>
                    </a:lnTo>
                    <a:lnTo>
                      <a:pt x="61" y="272"/>
                    </a:lnTo>
                    <a:lnTo>
                      <a:pt x="81" y="311"/>
                    </a:lnTo>
                    <a:lnTo>
                      <a:pt x="91" y="329"/>
                    </a:lnTo>
                    <a:lnTo>
                      <a:pt x="103" y="348"/>
                    </a:lnTo>
                    <a:lnTo>
                      <a:pt x="128" y="386"/>
                    </a:lnTo>
                    <a:lnTo>
                      <a:pt x="155" y="421"/>
                    </a:lnTo>
                    <a:lnTo>
                      <a:pt x="185" y="457"/>
                    </a:lnTo>
                    <a:lnTo>
                      <a:pt x="218" y="492"/>
                    </a:lnTo>
                    <a:lnTo>
                      <a:pt x="254" y="528"/>
                    </a:lnTo>
                    <a:lnTo>
                      <a:pt x="272" y="544"/>
                    </a:lnTo>
                    <a:lnTo>
                      <a:pt x="292" y="561"/>
                    </a:lnTo>
                    <a:lnTo>
                      <a:pt x="333" y="595"/>
                    </a:lnTo>
                    <a:lnTo>
                      <a:pt x="354" y="611"/>
                    </a:lnTo>
                    <a:lnTo>
                      <a:pt x="377" y="628"/>
                    </a:lnTo>
                    <a:lnTo>
                      <a:pt x="424" y="661"/>
                    </a:lnTo>
                    <a:lnTo>
                      <a:pt x="427" y="663"/>
                    </a:lnTo>
                    <a:lnTo>
                      <a:pt x="431" y="666"/>
                    </a:lnTo>
                    <a:lnTo>
                      <a:pt x="448" y="676"/>
                    </a:lnTo>
                    <a:lnTo>
                      <a:pt x="467" y="689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8" name="Line 1193"/>
              <p:cNvSpPr>
                <a:spLocks noChangeShapeType="1"/>
              </p:cNvSpPr>
              <p:nvPr/>
            </p:nvSpPr>
            <p:spPr bwMode="auto">
              <a:xfrm flipH="1">
                <a:off x="1284" y="1365"/>
                <a:ext cx="44" cy="27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59" name="Freeform 1194"/>
              <p:cNvSpPr>
                <a:spLocks/>
              </p:cNvSpPr>
              <p:nvPr/>
            </p:nvSpPr>
            <p:spPr bwMode="auto">
              <a:xfrm>
                <a:off x="1152" y="1193"/>
                <a:ext cx="132" cy="199"/>
              </a:xfrm>
              <a:custGeom>
                <a:avLst/>
                <a:gdLst>
                  <a:gd name="T0" fmla="*/ 0 w 527"/>
                  <a:gd name="T1" fmla="*/ 0 h 797"/>
                  <a:gd name="T2" fmla="*/ 0 w 527"/>
                  <a:gd name="T3" fmla="*/ 0 h 797"/>
                  <a:gd name="T4" fmla="*/ 0 w 527"/>
                  <a:gd name="T5" fmla="*/ 0 h 797"/>
                  <a:gd name="T6" fmla="*/ 0 w 527"/>
                  <a:gd name="T7" fmla="*/ 0 h 797"/>
                  <a:gd name="T8" fmla="*/ 0 w 527"/>
                  <a:gd name="T9" fmla="*/ 0 h 797"/>
                  <a:gd name="T10" fmla="*/ 0 w 527"/>
                  <a:gd name="T11" fmla="*/ 0 h 797"/>
                  <a:gd name="T12" fmla="*/ 0 w 527"/>
                  <a:gd name="T13" fmla="*/ 0 h 797"/>
                  <a:gd name="T14" fmla="*/ 0 w 527"/>
                  <a:gd name="T15" fmla="*/ 0 h 797"/>
                  <a:gd name="T16" fmla="*/ 0 w 527"/>
                  <a:gd name="T17" fmla="*/ 0 h 797"/>
                  <a:gd name="T18" fmla="*/ 0 w 527"/>
                  <a:gd name="T19" fmla="*/ 0 h 797"/>
                  <a:gd name="T20" fmla="*/ 0 w 527"/>
                  <a:gd name="T21" fmla="*/ 0 h 797"/>
                  <a:gd name="T22" fmla="*/ 0 w 527"/>
                  <a:gd name="T23" fmla="*/ 0 h 797"/>
                  <a:gd name="T24" fmla="*/ 0 w 527"/>
                  <a:gd name="T25" fmla="*/ 0 h 797"/>
                  <a:gd name="T26" fmla="*/ 0 w 527"/>
                  <a:gd name="T27" fmla="*/ 0 h 797"/>
                  <a:gd name="T28" fmla="*/ 0 w 527"/>
                  <a:gd name="T29" fmla="*/ 0 h 797"/>
                  <a:gd name="T30" fmla="*/ 0 w 527"/>
                  <a:gd name="T31" fmla="*/ 0 h 797"/>
                  <a:gd name="T32" fmla="*/ 0 w 527"/>
                  <a:gd name="T33" fmla="*/ 0 h 797"/>
                  <a:gd name="T34" fmla="*/ 0 w 527"/>
                  <a:gd name="T35" fmla="*/ 0 h 797"/>
                  <a:gd name="T36" fmla="*/ 0 w 527"/>
                  <a:gd name="T37" fmla="*/ 0 h 797"/>
                  <a:gd name="T38" fmla="*/ 0 w 527"/>
                  <a:gd name="T39" fmla="*/ 0 h 797"/>
                  <a:gd name="T40" fmla="*/ 0 w 527"/>
                  <a:gd name="T41" fmla="*/ 0 h 797"/>
                  <a:gd name="T42" fmla="*/ 0 w 527"/>
                  <a:gd name="T43" fmla="*/ 0 h 797"/>
                  <a:gd name="T44" fmla="*/ 0 w 527"/>
                  <a:gd name="T45" fmla="*/ 0 h 797"/>
                  <a:gd name="T46" fmla="*/ 0 w 527"/>
                  <a:gd name="T47" fmla="*/ 0 h 797"/>
                  <a:gd name="T48" fmla="*/ 0 w 527"/>
                  <a:gd name="T49" fmla="*/ 0 h 797"/>
                  <a:gd name="T50" fmla="*/ 0 w 527"/>
                  <a:gd name="T51" fmla="*/ 0 h 797"/>
                  <a:gd name="T52" fmla="*/ 0 w 527"/>
                  <a:gd name="T53" fmla="*/ 0 h 797"/>
                  <a:gd name="T54" fmla="*/ 0 w 527"/>
                  <a:gd name="T55" fmla="*/ 0 h 797"/>
                  <a:gd name="T56" fmla="*/ 0 w 527"/>
                  <a:gd name="T57" fmla="*/ 0 h 797"/>
                  <a:gd name="T58" fmla="*/ 0 w 527"/>
                  <a:gd name="T59" fmla="*/ 0 h 797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27"/>
                  <a:gd name="T91" fmla="*/ 0 h 797"/>
                  <a:gd name="T92" fmla="*/ 527 w 527"/>
                  <a:gd name="T93" fmla="*/ 797 h 797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27" h="797">
                    <a:moveTo>
                      <a:pt x="1" y="0"/>
                    </a:moveTo>
                    <a:lnTo>
                      <a:pt x="0" y="37"/>
                    </a:lnTo>
                    <a:lnTo>
                      <a:pt x="3" y="75"/>
                    </a:lnTo>
                    <a:lnTo>
                      <a:pt x="8" y="123"/>
                    </a:lnTo>
                    <a:lnTo>
                      <a:pt x="17" y="171"/>
                    </a:lnTo>
                    <a:lnTo>
                      <a:pt x="22" y="194"/>
                    </a:lnTo>
                    <a:lnTo>
                      <a:pt x="29" y="218"/>
                    </a:lnTo>
                    <a:lnTo>
                      <a:pt x="45" y="266"/>
                    </a:lnTo>
                    <a:lnTo>
                      <a:pt x="53" y="289"/>
                    </a:lnTo>
                    <a:lnTo>
                      <a:pt x="63" y="312"/>
                    </a:lnTo>
                    <a:lnTo>
                      <a:pt x="85" y="358"/>
                    </a:lnTo>
                    <a:lnTo>
                      <a:pt x="110" y="402"/>
                    </a:lnTo>
                    <a:lnTo>
                      <a:pt x="124" y="424"/>
                    </a:lnTo>
                    <a:lnTo>
                      <a:pt x="141" y="447"/>
                    </a:lnTo>
                    <a:lnTo>
                      <a:pt x="172" y="489"/>
                    </a:lnTo>
                    <a:lnTo>
                      <a:pt x="207" y="532"/>
                    </a:lnTo>
                    <a:lnTo>
                      <a:pt x="225" y="552"/>
                    </a:lnTo>
                    <a:lnTo>
                      <a:pt x="245" y="573"/>
                    </a:lnTo>
                    <a:lnTo>
                      <a:pt x="288" y="615"/>
                    </a:lnTo>
                    <a:lnTo>
                      <a:pt x="309" y="634"/>
                    </a:lnTo>
                    <a:lnTo>
                      <a:pt x="332" y="654"/>
                    </a:lnTo>
                    <a:lnTo>
                      <a:pt x="381" y="694"/>
                    </a:lnTo>
                    <a:lnTo>
                      <a:pt x="432" y="733"/>
                    </a:lnTo>
                    <a:lnTo>
                      <a:pt x="459" y="752"/>
                    </a:lnTo>
                    <a:lnTo>
                      <a:pt x="488" y="772"/>
                    </a:lnTo>
                    <a:lnTo>
                      <a:pt x="490" y="772"/>
                    </a:lnTo>
                    <a:lnTo>
                      <a:pt x="490" y="773"/>
                    </a:lnTo>
                    <a:lnTo>
                      <a:pt x="493" y="774"/>
                    </a:lnTo>
                    <a:lnTo>
                      <a:pt x="508" y="784"/>
                    </a:lnTo>
                    <a:lnTo>
                      <a:pt x="527" y="797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0" name="Line 1195"/>
              <p:cNvSpPr>
                <a:spLocks noChangeShapeType="1"/>
              </p:cNvSpPr>
              <p:nvPr/>
            </p:nvSpPr>
            <p:spPr bwMode="auto">
              <a:xfrm flipH="1">
                <a:off x="1328" y="1339"/>
                <a:ext cx="42" cy="26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1" name="Line 1196"/>
              <p:cNvSpPr>
                <a:spLocks noChangeShapeType="1"/>
              </p:cNvSpPr>
              <p:nvPr/>
            </p:nvSpPr>
            <p:spPr bwMode="auto">
              <a:xfrm flipH="1">
                <a:off x="1325" y="1193"/>
                <a:ext cx="58" cy="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2" name="Freeform 1197"/>
              <p:cNvSpPr>
                <a:spLocks/>
              </p:cNvSpPr>
              <p:nvPr/>
            </p:nvSpPr>
            <p:spPr bwMode="auto">
              <a:xfrm>
                <a:off x="1328" y="1365"/>
                <a:ext cx="280" cy="70"/>
              </a:xfrm>
              <a:custGeom>
                <a:avLst/>
                <a:gdLst>
                  <a:gd name="T0" fmla="*/ 0 w 1118"/>
                  <a:gd name="T1" fmla="*/ 0 h 281"/>
                  <a:gd name="T2" fmla="*/ 0 w 1118"/>
                  <a:gd name="T3" fmla="*/ 0 h 281"/>
                  <a:gd name="T4" fmla="*/ 0 w 1118"/>
                  <a:gd name="T5" fmla="*/ 0 h 281"/>
                  <a:gd name="T6" fmla="*/ 0 w 1118"/>
                  <a:gd name="T7" fmla="*/ 0 h 281"/>
                  <a:gd name="T8" fmla="*/ 0 w 1118"/>
                  <a:gd name="T9" fmla="*/ 0 h 281"/>
                  <a:gd name="T10" fmla="*/ 0 w 1118"/>
                  <a:gd name="T11" fmla="*/ 0 h 281"/>
                  <a:gd name="T12" fmla="*/ 0 w 1118"/>
                  <a:gd name="T13" fmla="*/ 0 h 281"/>
                  <a:gd name="T14" fmla="*/ 0 w 1118"/>
                  <a:gd name="T15" fmla="*/ 0 h 281"/>
                  <a:gd name="T16" fmla="*/ 0 w 1118"/>
                  <a:gd name="T17" fmla="*/ 0 h 281"/>
                  <a:gd name="T18" fmla="*/ 0 w 1118"/>
                  <a:gd name="T19" fmla="*/ 0 h 281"/>
                  <a:gd name="T20" fmla="*/ 0 w 1118"/>
                  <a:gd name="T21" fmla="*/ 0 h 281"/>
                  <a:gd name="T22" fmla="*/ 0 w 1118"/>
                  <a:gd name="T23" fmla="*/ 0 h 281"/>
                  <a:gd name="T24" fmla="*/ 0 w 1118"/>
                  <a:gd name="T25" fmla="*/ 0 h 281"/>
                  <a:gd name="T26" fmla="*/ 0 w 1118"/>
                  <a:gd name="T27" fmla="*/ 0 h 281"/>
                  <a:gd name="T28" fmla="*/ 0 w 1118"/>
                  <a:gd name="T29" fmla="*/ 0 h 281"/>
                  <a:gd name="T30" fmla="*/ 0 w 1118"/>
                  <a:gd name="T31" fmla="*/ 0 h 281"/>
                  <a:gd name="T32" fmla="*/ 0 w 1118"/>
                  <a:gd name="T33" fmla="*/ 0 h 281"/>
                  <a:gd name="T34" fmla="*/ 0 w 1118"/>
                  <a:gd name="T35" fmla="*/ 0 h 2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18"/>
                  <a:gd name="T55" fmla="*/ 0 h 281"/>
                  <a:gd name="T56" fmla="*/ 1118 w 1118"/>
                  <a:gd name="T57" fmla="*/ 281 h 2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18" h="281">
                    <a:moveTo>
                      <a:pt x="0" y="0"/>
                    </a:moveTo>
                    <a:lnTo>
                      <a:pt x="56" y="33"/>
                    </a:lnTo>
                    <a:lnTo>
                      <a:pt x="115" y="65"/>
                    </a:lnTo>
                    <a:lnTo>
                      <a:pt x="175" y="94"/>
                    </a:lnTo>
                    <a:lnTo>
                      <a:pt x="238" y="122"/>
                    </a:lnTo>
                    <a:lnTo>
                      <a:pt x="301" y="147"/>
                    </a:lnTo>
                    <a:lnTo>
                      <a:pt x="367" y="170"/>
                    </a:lnTo>
                    <a:lnTo>
                      <a:pt x="434" y="191"/>
                    </a:lnTo>
                    <a:lnTo>
                      <a:pt x="503" y="210"/>
                    </a:lnTo>
                    <a:lnTo>
                      <a:pt x="573" y="225"/>
                    </a:lnTo>
                    <a:lnTo>
                      <a:pt x="645" y="240"/>
                    </a:lnTo>
                    <a:lnTo>
                      <a:pt x="718" y="252"/>
                    </a:lnTo>
                    <a:lnTo>
                      <a:pt x="794" y="263"/>
                    </a:lnTo>
                    <a:lnTo>
                      <a:pt x="870" y="270"/>
                    </a:lnTo>
                    <a:lnTo>
                      <a:pt x="949" y="276"/>
                    </a:lnTo>
                    <a:lnTo>
                      <a:pt x="1028" y="279"/>
                    </a:lnTo>
                    <a:lnTo>
                      <a:pt x="1111" y="281"/>
                    </a:lnTo>
                    <a:lnTo>
                      <a:pt x="1118" y="281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3" name="Freeform 1198"/>
              <p:cNvSpPr>
                <a:spLocks/>
              </p:cNvSpPr>
              <p:nvPr/>
            </p:nvSpPr>
            <p:spPr bwMode="auto">
              <a:xfrm>
                <a:off x="1370" y="1339"/>
                <a:ext cx="238" cy="59"/>
              </a:xfrm>
              <a:custGeom>
                <a:avLst/>
                <a:gdLst>
                  <a:gd name="T0" fmla="*/ 0 w 952"/>
                  <a:gd name="T1" fmla="*/ 0 h 234"/>
                  <a:gd name="T2" fmla="*/ 0 w 952"/>
                  <a:gd name="T3" fmla="*/ 0 h 234"/>
                  <a:gd name="T4" fmla="*/ 0 w 952"/>
                  <a:gd name="T5" fmla="*/ 0 h 234"/>
                  <a:gd name="T6" fmla="*/ 0 w 952"/>
                  <a:gd name="T7" fmla="*/ 0 h 234"/>
                  <a:gd name="T8" fmla="*/ 0 w 952"/>
                  <a:gd name="T9" fmla="*/ 0 h 234"/>
                  <a:gd name="T10" fmla="*/ 0 w 952"/>
                  <a:gd name="T11" fmla="*/ 0 h 234"/>
                  <a:gd name="T12" fmla="*/ 0 w 952"/>
                  <a:gd name="T13" fmla="*/ 0 h 234"/>
                  <a:gd name="T14" fmla="*/ 0 w 952"/>
                  <a:gd name="T15" fmla="*/ 0 h 234"/>
                  <a:gd name="T16" fmla="*/ 0 w 952"/>
                  <a:gd name="T17" fmla="*/ 0 h 234"/>
                  <a:gd name="T18" fmla="*/ 0 w 952"/>
                  <a:gd name="T19" fmla="*/ 0 h 234"/>
                  <a:gd name="T20" fmla="*/ 0 w 952"/>
                  <a:gd name="T21" fmla="*/ 0 h 234"/>
                  <a:gd name="T22" fmla="*/ 0 w 952"/>
                  <a:gd name="T23" fmla="*/ 0 h 234"/>
                  <a:gd name="T24" fmla="*/ 0 w 952"/>
                  <a:gd name="T25" fmla="*/ 0 h 234"/>
                  <a:gd name="T26" fmla="*/ 0 w 952"/>
                  <a:gd name="T27" fmla="*/ 0 h 234"/>
                  <a:gd name="T28" fmla="*/ 0 w 952"/>
                  <a:gd name="T29" fmla="*/ 0 h 234"/>
                  <a:gd name="T30" fmla="*/ 0 w 952"/>
                  <a:gd name="T31" fmla="*/ 0 h 234"/>
                  <a:gd name="T32" fmla="*/ 0 w 952"/>
                  <a:gd name="T33" fmla="*/ 0 h 234"/>
                  <a:gd name="T34" fmla="*/ 0 w 952"/>
                  <a:gd name="T35" fmla="*/ 0 h 23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52"/>
                  <a:gd name="T55" fmla="*/ 0 h 234"/>
                  <a:gd name="T56" fmla="*/ 952 w 952"/>
                  <a:gd name="T57" fmla="*/ 234 h 23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52" h="234">
                    <a:moveTo>
                      <a:pt x="952" y="234"/>
                    </a:moveTo>
                    <a:lnTo>
                      <a:pt x="945" y="234"/>
                    </a:lnTo>
                    <a:lnTo>
                      <a:pt x="875" y="233"/>
                    </a:lnTo>
                    <a:lnTo>
                      <a:pt x="808" y="230"/>
                    </a:lnTo>
                    <a:lnTo>
                      <a:pt x="741" y="225"/>
                    </a:lnTo>
                    <a:lnTo>
                      <a:pt x="677" y="219"/>
                    </a:lnTo>
                    <a:lnTo>
                      <a:pt x="613" y="210"/>
                    </a:lnTo>
                    <a:lnTo>
                      <a:pt x="551" y="200"/>
                    </a:lnTo>
                    <a:lnTo>
                      <a:pt x="490" y="188"/>
                    </a:lnTo>
                    <a:lnTo>
                      <a:pt x="431" y="175"/>
                    </a:lnTo>
                    <a:lnTo>
                      <a:pt x="371" y="159"/>
                    </a:lnTo>
                    <a:lnTo>
                      <a:pt x="314" y="142"/>
                    </a:lnTo>
                    <a:lnTo>
                      <a:pt x="258" y="123"/>
                    </a:lnTo>
                    <a:lnTo>
                      <a:pt x="204" y="102"/>
                    </a:lnTo>
                    <a:lnTo>
                      <a:pt x="150" y="79"/>
                    </a:lnTo>
                    <a:lnTo>
                      <a:pt x="99" y="54"/>
                    </a:lnTo>
                    <a:lnTo>
                      <a:pt x="48" y="27"/>
                    </a:lnTo>
                    <a:lnTo>
                      <a:pt x="0" y="0"/>
                    </a:lnTo>
                  </a:path>
                </a:pathLst>
              </a:cu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4" name="Freeform 1199"/>
              <p:cNvSpPr>
                <a:spLocks/>
              </p:cNvSpPr>
              <p:nvPr/>
            </p:nvSpPr>
            <p:spPr bwMode="auto">
              <a:xfrm>
                <a:off x="1608" y="1192"/>
                <a:ext cx="1" cy="1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0 w 3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3"/>
                  <a:gd name="T11" fmla="*/ 3 w 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3">
                    <a:moveTo>
                      <a:pt x="3" y="3"/>
                    </a:move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5" name="Freeform 1200"/>
              <p:cNvSpPr>
                <a:spLocks/>
              </p:cNvSpPr>
              <p:nvPr/>
            </p:nvSpPr>
            <p:spPr bwMode="auto">
              <a:xfrm>
                <a:off x="1608" y="1193"/>
                <a:ext cx="1" cy="0"/>
              </a:xfrm>
              <a:custGeom>
                <a:avLst/>
                <a:gdLst>
                  <a:gd name="T0" fmla="*/ 0 w 5"/>
                  <a:gd name="T1" fmla="*/ 0 w 5"/>
                  <a:gd name="T2" fmla="*/ 0 w 5"/>
                  <a:gd name="T3" fmla="*/ 0 60000 65536"/>
                  <a:gd name="T4" fmla="*/ 0 60000 65536"/>
                  <a:gd name="T5" fmla="*/ 0 60000 65536"/>
                  <a:gd name="T6" fmla="*/ 0 w 5"/>
                  <a:gd name="T7" fmla="*/ 5 w 5"/>
                </a:gdLst>
                <a:ahLst/>
                <a:cxnLst>
                  <a:cxn ang="T3">
                    <a:pos x="T0" y="0"/>
                  </a:cxn>
                  <a:cxn ang="T4">
                    <a:pos x="T1" y="0"/>
                  </a:cxn>
                  <a:cxn ang="T5">
                    <a:pos x="T2" y="0"/>
                  </a:cxn>
                </a:cxnLst>
                <a:rect l="T6" t="0" r="T7" b="0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3" y="0"/>
                    </a:lnTo>
                  </a:path>
                </a:pathLst>
              </a:cu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6" name="Line 1201"/>
              <p:cNvSpPr>
                <a:spLocks noChangeShapeType="1"/>
              </p:cNvSpPr>
              <p:nvPr/>
            </p:nvSpPr>
            <p:spPr bwMode="auto">
              <a:xfrm>
                <a:off x="1608" y="1193"/>
                <a:ext cx="1" cy="0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67" name="Freeform 1202"/>
              <p:cNvSpPr>
                <a:spLocks/>
              </p:cNvSpPr>
              <p:nvPr/>
            </p:nvSpPr>
            <p:spPr bwMode="auto">
              <a:xfrm>
                <a:off x="1541" y="982"/>
                <a:ext cx="63" cy="217"/>
              </a:xfrm>
              <a:custGeom>
                <a:avLst/>
                <a:gdLst>
                  <a:gd name="T0" fmla="*/ 0 w 252"/>
                  <a:gd name="T1" fmla="*/ 0 h 870"/>
                  <a:gd name="T2" fmla="*/ 0 w 252"/>
                  <a:gd name="T3" fmla="*/ 0 h 870"/>
                  <a:gd name="T4" fmla="*/ 0 w 252"/>
                  <a:gd name="T5" fmla="*/ 0 h 870"/>
                  <a:gd name="T6" fmla="*/ 0 w 252"/>
                  <a:gd name="T7" fmla="*/ 0 h 870"/>
                  <a:gd name="T8" fmla="*/ 0 w 252"/>
                  <a:gd name="T9" fmla="*/ 0 h 870"/>
                  <a:gd name="T10" fmla="*/ 0 w 252"/>
                  <a:gd name="T11" fmla="*/ 0 h 870"/>
                  <a:gd name="T12" fmla="*/ 0 w 252"/>
                  <a:gd name="T13" fmla="*/ 0 h 870"/>
                  <a:gd name="T14" fmla="*/ 0 w 252"/>
                  <a:gd name="T15" fmla="*/ 0 h 870"/>
                  <a:gd name="T16" fmla="*/ 0 w 252"/>
                  <a:gd name="T17" fmla="*/ 0 h 870"/>
                  <a:gd name="T18" fmla="*/ 0 w 252"/>
                  <a:gd name="T19" fmla="*/ 0 h 870"/>
                  <a:gd name="T20" fmla="*/ 0 w 252"/>
                  <a:gd name="T21" fmla="*/ 0 h 870"/>
                  <a:gd name="T22" fmla="*/ 0 w 252"/>
                  <a:gd name="T23" fmla="*/ 0 h 870"/>
                  <a:gd name="T24" fmla="*/ 0 w 252"/>
                  <a:gd name="T25" fmla="*/ 0 h 870"/>
                  <a:gd name="T26" fmla="*/ 0 w 252"/>
                  <a:gd name="T27" fmla="*/ 0 h 870"/>
                  <a:gd name="T28" fmla="*/ 0 w 252"/>
                  <a:gd name="T29" fmla="*/ 0 h 870"/>
                  <a:gd name="T30" fmla="*/ 0 w 252"/>
                  <a:gd name="T31" fmla="*/ 0 h 870"/>
                  <a:gd name="T32" fmla="*/ 0 w 252"/>
                  <a:gd name="T33" fmla="*/ 0 h 870"/>
                  <a:gd name="T34" fmla="*/ 0 w 252"/>
                  <a:gd name="T35" fmla="*/ 0 h 870"/>
                  <a:gd name="T36" fmla="*/ 0 w 252"/>
                  <a:gd name="T37" fmla="*/ 0 h 870"/>
                  <a:gd name="T38" fmla="*/ 0 w 252"/>
                  <a:gd name="T39" fmla="*/ 0 h 870"/>
                  <a:gd name="T40" fmla="*/ 0 w 252"/>
                  <a:gd name="T41" fmla="*/ 0 h 870"/>
                  <a:gd name="T42" fmla="*/ 0 w 252"/>
                  <a:gd name="T43" fmla="*/ 0 h 870"/>
                  <a:gd name="T44" fmla="*/ 0 w 252"/>
                  <a:gd name="T45" fmla="*/ 0 h 870"/>
                  <a:gd name="T46" fmla="*/ 0 w 252"/>
                  <a:gd name="T47" fmla="*/ 0 h 870"/>
                  <a:gd name="T48" fmla="*/ 0 w 252"/>
                  <a:gd name="T49" fmla="*/ 0 h 870"/>
                  <a:gd name="T50" fmla="*/ 0 w 252"/>
                  <a:gd name="T51" fmla="*/ 0 h 870"/>
                  <a:gd name="T52" fmla="*/ 0 w 252"/>
                  <a:gd name="T53" fmla="*/ 0 h 870"/>
                  <a:gd name="T54" fmla="*/ 0 w 252"/>
                  <a:gd name="T55" fmla="*/ 0 h 870"/>
                  <a:gd name="T56" fmla="*/ 0 w 252"/>
                  <a:gd name="T57" fmla="*/ 0 h 870"/>
                  <a:gd name="T58" fmla="*/ 0 w 252"/>
                  <a:gd name="T59" fmla="*/ 0 h 870"/>
                  <a:gd name="T60" fmla="*/ 0 w 252"/>
                  <a:gd name="T61" fmla="*/ 0 h 870"/>
                  <a:gd name="T62" fmla="*/ 0 w 252"/>
                  <a:gd name="T63" fmla="*/ 0 h 870"/>
                  <a:gd name="T64" fmla="*/ 0 w 252"/>
                  <a:gd name="T65" fmla="*/ 0 h 870"/>
                  <a:gd name="T66" fmla="*/ 0 w 252"/>
                  <a:gd name="T67" fmla="*/ 0 h 870"/>
                  <a:gd name="T68" fmla="*/ 0 w 252"/>
                  <a:gd name="T69" fmla="*/ 0 h 870"/>
                  <a:gd name="T70" fmla="*/ 0 w 252"/>
                  <a:gd name="T71" fmla="*/ 0 h 870"/>
                  <a:gd name="T72" fmla="*/ 0 w 252"/>
                  <a:gd name="T73" fmla="*/ 0 h 870"/>
                  <a:gd name="T74" fmla="*/ 0 w 252"/>
                  <a:gd name="T75" fmla="*/ 0 h 870"/>
                  <a:gd name="T76" fmla="*/ 0 w 252"/>
                  <a:gd name="T77" fmla="*/ 0 h 870"/>
                  <a:gd name="T78" fmla="*/ 0 w 252"/>
                  <a:gd name="T79" fmla="*/ 0 h 870"/>
                  <a:gd name="T80" fmla="*/ 0 w 252"/>
                  <a:gd name="T81" fmla="*/ 0 h 870"/>
                  <a:gd name="T82" fmla="*/ 0 w 252"/>
                  <a:gd name="T83" fmla="*/ 0 h 870"/>
                  <a:gd name="T84" fmla="*/ 0 w 252"/>
                  <a:gd name="T85" fmla="*/ 0 h 870"/>
                  <a:gd name="T86" fmla="*/ 0 w 252"/>
                  <a:gd name="T87" fmla="*/ 0 h 870"/>
                  <a:gd name="T88" fmla="*/ 0 w 252"/>
                  <a:gd name="T89" fmla="*/ 0 h 870"/>
                  <a:gd name="T90" fmla="*/ 0 w 252"/>
                  <a:gd name="T91" fmla="*/ 0 h 870"/>
                  <a:gd name="T92" fmla="*/ 0 w 252"/>
                  <a:gd name="T93" fmla="*/ 0 h 870"/>
                  <a:gd name="T94" fmla="*/ 0 w 252"/>
                  <a:gd name="T95" fmla="*/ 0 h 870"/>
                  <a:gd name="T96" fmla="*/ 0 w 252"/>
                  <a:gd name="T97" fmla="*/ 0 h 870"/>
                  <a:gd name="T98" fmla="*/ 0 w 252"/>
                  <a:gd name="T99" fmla="*/ 0 h 870"/>
                  <a:gd name="T100" fmla="*/ 0 w 252"/>
                  <a:gd name="T101" fmla="*/ 0 h 870"/>
                  <a:gd name="T102" fmla="*/ 0 w 252"/>
                  <a:gd name="T103" fmla="*/ 0 h 870"/>
                  <a:gd name="T104" fmla="*/ 0 w 252"/>
                  <a:gd name="T105" fmla="*/ 0 h 870"/>
                  <a:gd name="T106" fmla="*/ 0 w 252"/>
                  <a:gd name="T107" fmla="*/ 0 h 870"/>
                  <a:gd name="T108" fmla="*/ 0 w 252"/>
                  <a:gd name="T109" fmla="*/ 0 h 870"/>
                  <a:gd name="T110" fmla="*/ 0 w 252"/>
                  <a:gd name="T111" fmla="*/ 0 h 870"/>
                  <a:gd name="T112" fmla="*/ 0 w 252"/>
                  <a:gd name="T113" fmla="*/ 0 h 8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2"/>
                  <a:gd name="T172" fmla="*/ 0 h 870"/>
                  <a:gd name="T173" fmla="*/ 252 w 252"/>
                  <a:gd name="T174" fmla="*/ 870 h 87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2" h="870">
                    <a:moveTo>
                      <a:pt x="0" y="0"/>
                    </a:moveTo>
                    <a:lnTo>
                      <a:pt x="0" y="769"/>
                    </a:lnTo>
                    <a:lnTo>
                      <a:pt x="19" y="793"/>
                    </a:lnTo>
                    <a:lnTo>
                      <a:pt x="42" y="814"/>
                    </a:lnTo>
                    <a:lnTo>
                      <a:pt x="67" y="832"/>
                    </a:lnTo>
                    <a:lnTo>
                      <a:pt x="80" y="839"/>
                    </a:lnTo>
                    <a:lnTo>
                      <a:pt x="95" y="847"/>
                    </a:lnTo>
                    <a:lnTo>
                      <a:pt x="109" y="852"/>
                    </a:lnTo>
                    <a:lnTo>
                      <a:pt x="125" y="857"/>
                    </a:lnTo>
                    <a:lnTo>
                      <a:pt x="158" y="865"/>
                    </a:lnTo>
                    <a:lnTo>
                      <a:pt x="175" y="867"/>
                    </a:lnTo>
                    <a:lnTo>
                      <a:pt x="194" y="869"/>
                    </a:lnTo>
                    <a:lnTo>
                      <a:pt x="233" y="870"/>
                    </a:lnTo>
                    <a:lnTo>
                      <a:pt x="235" y="870"/>
                    </a:lnTo>
                    <a:lnTo>
                      <a:pt x="232" y="850"/>
                    </a:lnTo>
                    <a:lnTo>
                      <a:pt x="230" y="829"/>
                    </a:lnTo>
                    <a:lnTo>
                      <a:pt x="228" y="807"/>
                    </a:lnTo>
                    <a:lnTo>
                      <a:pt x="226" y="784"/>
                    </a:lnTo>
                    <a:lnTo>
                      <a:pt x="226" y="781"/>
                    </a:lnTo>
                    <a:lnTo>
                      <a:pt x="226" y="776"/>
                    </a:lnTo>
                    <a:lnTo>
                      <a:pt x="226" y="769"/>
                    </a:lnTo>
                    <a:lnTo>
                      <a:pt x="226" y="760"/>
                    </a:lnTo>
                    <a:lnTo>
                      <a:pt x="226" y="747"/>
                    </a:lnTo>
                    <a:lnTo>
                      <a:pt x="226" y="734"/>
                    </a:lnTo>
                    <a:lnTo>
                      <a:pt x="226" y="718"/>
                    </a:lnTo>
                    <a:lnTo>
                      <a:pt x="226" y="701"/>
                    </a:lnTo>
                    <a:lnTo>
                      <a:pt x="226" y="680"/>
                    </a:lnTo>
                    <a:lnTo>
                      <a:pt x="226" y="657"/>
                    </a:lnTo>
                    <a:lnTo>
                      <a:pt x="226" y="632"/>
                    </a:lnTo>
                    <a:lnTo>
                      <a:pt x="226" y="606"/>
                    </a:lnTo>
                    <a:lnTo>
                      <a:pt x="226" y="576"/>
                    </a:lnTo>
                    <a:lnTo>
                      <a:pt x="226" y="545"/>
                    </a:lnTo>
                    <a:lnTo>
                      <a:pt x="226" y="511"/>
                    </a:lnTo>
                    <a:lnTo>
                      <a:pt x="226" y="476"/>
                    </a:lnTo>
                    <a:lnTo>
                      <a:pt x="226" y="440"/>
                    </a:lnTo>
                    <a:lnTo>
                      <a:pt x="226" y="407"/>
                    </a:lnTo>
                    <a:lnTo>
                      <a:pt x="226" y="376"/>
                    </a:lnTo>
                    <a:lnTo>
                      <a:pt x="226" y="348"/>
                    </a:lnTo>
                    <a:lnTo>
                      <a:pt x="226" y="321"/>
                    </a:lnTo>
                    <a:lnTo>
                      <a:pt x="226" y="297"/>
                    </a:lnTo>
                    <a:lnTo>
                      <a:pt x="226" y="275"/>
                    </a:lnTo>
                    <a:lnTo>
                      <a:pt x="226" y="256"/>
                    </a:lnTo>
                    <a:lnTo>
                      <a:pt x="226" y="238"/>
                    </a:lnTo>
                    <a:lnTo>
                      <a:pt x="226" y="223"/>
                    </a:lnTo>
                    <a:lnTo>
                      <a:pt x="226" y="210"/>
                    </a:lnTo>
                    <a:lnTo>
                      <a:pt x="226" y="199"/>
                    </a:lnTo>
                    <a:lnTo>
                      <a:pt x="226" y="190"/>
                    </a:lnTo>
                    <a:lnTo>
                      <a:pt x="226" y="183"/>
                    </a:lnTo>
                    <a:lnTo>
                      <a:pt x="226" y="178"/>
                    </a:lnTo>
                    <a:lnTo>
                      <a:pt x="226" y="177"/>
                    </a:lnTo>
                    <a:lnTo>
                      <a:pt x="227" y="148"/>
                    </a:lnTo>
                    <a:lnTo>
                      <a:pt x="229" y="123"/>
                    </a:lnTo>
                    <a:lnTo>
                      <a:pt x="235" y="76"/>
                    </a:lnTo>
                    <a:lnTo>
                      <a:pt x="242" y="34"/>
                    </a:lnTo>
                    <a:lnTo>
                      <a:pt x="246" y="15"/>
                    </a:lnTo>
                    <a:lnTo>
                      <a:pt x="25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C4C0"/>
                  </a:gs>
                  <a:gs pos="100000">
                    <a:srgbClr val="668582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68" name="Freeform 1203"/>
              <p:cNvSpPr>
                <a:spLocks/>
              </p:cNvSpPr>
              <p:nvPr/>
            </p:nvSpPr>
            <p:spPr bwMode="auto">
              <a:xfrm>
                <a:off x="1634" y="982"/>
                <a:ext cx="13" cy="208"/>
              </a:xfrm>
              <a:custGeom>
                <a:avLst/>
                <a:gdLst>
                  <a:gd name="T0" fmla="*/ 0 w 52"/>
                  <a:gd name="T1" fmla="*/ 0 h 832"/>
                  <a:gd name="T2" fmla="*/ 0 w 52"/>
                  <a:gd name="T3" fmla="*/ 0 h 832"/>
                  <a:gd name="T4" fmla="*/ 0 w 52"/>
                  <a:gd name="T5" fmla="*/ 0 h 832"/>
                  <a:gd name="T6" fmla="*/ 0 w 52"/>
                  <a:gd name="T7" fmla="*/ 0 h 832"/>
                  <a:gd name="T8" fmla="*/ 0 w 52"/>
                  <a:gd name="T9" fmla="*/ 0 h 832"/>
                  <a:gd name="T10" fmla="*/ 0 w 52"/>
                  <a:gd name="T11" fmla="*/ 0 h 832"/>
                  <a:gd name="T12" fmla="*/ 0 w 52"/>
                  <a:gd name="T13" fmla="*/ 0 h 832"/>
                  <a:gd name="T14" fmla="*/ 0 w 52"/>
                  <a:gd name="T15" fmla="*/ 0 h 832"/>
                  <a:gd name="T16" fmla="*/ 0 w 52"/>
                  <a:gd name="T17" fmla="*/ 0 h 832"/>
                  <a:gd name="T18" fmla="*/ 0 w 52"/>
                  <a:gd name="T19" fmla="*/ 0 h 832"/>
                  <a:gd name="T20" fmla="*/ 0 w 52"/>
                  <a:gd name="T21" fmla="*/ 0 h 832"/>
                  <a:gd name="T22" fmla="*/ 0 w 52"/>
                  <a:gd name="T23" fmla="*/ 0 h 832"/>
                  <a:gd name="T24" fmla="*/ 0 w 52"/>
                  <a:gd name="T25" fmla="*/ 0 h 832"/>
                  <a:gd name="T26" fmla="*/ 0 w 52"/>
                  <a:gd name="T27" fmla="*/ 0 h 832"/>
                  <a:gd name="T28" fmla="*/ 0 w 52"/>
                  <a:gd name="T29" fmla="*/ 0 h 832"/>
                  <a:gd name="T30" fmla="*/ 0 w 52"/>
                  <a:gd name="T31" fmla="*/ 0 h 832"/>
                  <a:gd name="T32" fmla="*/ 0 w 52"/>
                  <a:gd name="T33" fmla="*/ 0 h 832"/>
                  <a:gd name="T34" fmla="*/ 0 w 52"/>
                  <a:gd name="T35" fmla="*/ 0 h 832"/>
                  <a:gd name="T36" fmla="*/ 0 w 52"/>
                  <a:gd name="T37" fmla="*/ 0 h 832"/>
                  <a:gd name="T38" fmla="*/ 0 w 52"/>
                  <a:gd name="T39" fmla="*/ 0 h 832"/>
                  <a:gd name="T40" fmla="*/ 0 w 52"/>
                  <a:gd name="T41" fmla="*/ 0 h 832"/>
                  <a:gd name="T42" fmla="*/ 0 w 52"/>
                  <a:gd name="T43" fmla="*/ 0 h 832"/>
                  <a:gd name="T44" fmla="*/ 0 w 52"/>
                  <a:gd name="T45" fmla="*/ 0 h 832"/>
                  <a:gd name="T46" fmla="*/ 0 w 52"/>
                  <a:gd name="T47" fmla="*/ 0 h 832"/>
                  <a:gd name="T48" fmla="*/ 0 w 52"/>
                  <a:gd name="T49" fmla="*/ 0 h 832"/>
                  <a:gd name="T50" fmla="*/ 0 w 52"/>
                  <a:gd name="T51" fmla="*/ 0 h 832"/>
                  <a:gd name="T52" fmla="*/ 0 w 52"/>
                  <a:gd name="T53" fmla="*/ 0 h 832"/>
                  <a:gd name="T54" fmla="*/ 0 w 52"/>
                  <a:gd name="T55" fmla="*/ 0 h 832"/>
                  <a:gd name="T56" fmla="*/ 0 w 52"/>
                  <a:gd name="T57" fmla="*/ 0 h 832"/>
                  <a:gd name="T58" fmla="*/ 0 w 52"/>
                  <a:gd name="T59" fmla="*/ 0 h 832"/>
                  <a:gd name="T60" fmla="*/ 0 w 52"/>
                  <a:gd name="T61" fmla="*/ 0 h 832"/>
                  <a:gd name="T62" fmla="*/ 0 w 52"/>
                  <a:gd name="T63" fmla="*/ 0 h 832"/>
                  <a:gd name="T64" fmla="*/ 0 w 52"/>
                  <a:gd name="T65" fmla="*/ 0 h 832"/>
                  <a:gd name="T66" fmla="*/ 0 w 52"/>
                  <a:gd name="T67" fmla="*/ 0 h 832"/>
                  <a:gd name="T68" fmla="*/ 0 w 52"/>
                  <a:gd name="T69" fmla="*/ 0 h 832"/>
                  <a:gd name="T70" fmla="*/ 0 w 52"/>
                  <a:gd name="T71" fmla="*/ 0 h 832"/>
                  <a:gd name="T72" fmla="*/ 0 w 52"/>
                  <a:gd name="T73" fmla="*/ 0 h 832"/>
                  <a:gd name="T74" fmla="*/ 0 w 52"/>
                  <a:gd name="T75" fmla="*/ 0 h 832"/>
                  <a:gd name="T76" fmla="*/ 0 w 52"/>
                  <a:gd name="T77" fmla="*/ 0 h 832"/>
                  <a:gd name="T78" fmla="*/ 0 w 52"/>
                  <a:gd name="T79" fmla="*/ 0 h 832"/>
                  <a:gd name="T80" fmla="*/ 0 w 52"/>
                  <a:gd name="T81" fmla="*/ 0 h 832"/>
                  <a:gd name="T82" fmla="*/ 0 w 52"/>
                  <a:gd name="T83" fmla="*/ 0 h 832"/>
                  <a:gd name="T84" fmla="*/ 0 w 52"/>
                  <a:gd name="T85" fmla="*/ 0 h 83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52"/>
                  <a:gd name="T130" fmla="*/ 0 h 832"/>
                  <a:gd name="T131" fmla="*/ 52 w 52"/>
                  <a:gd name="T132" fmla="*/ 832 h 832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52" h="832">
                    <a:moveTo>
                      <a:pt x="52" y="0"/>
                    </a:moveTo>
                    <a:lnTo>
                      <a:pt x="38" y="0"/>
                    </a:lnTo>
                    <a:lnTo>
                      <a:pt x="31" y="19"/>
                    </a:lnTo>
                    <a:lnTo>
                      <a:pt x="25" y="42"/>
                    </a:lnTo>
                    <a:lnTo>
                      <a:pt x="20" y="68"/>
                    </a:lnTo>
                    <a:lnTo>
                      <a:pt x="16" y="97"/>
                    </a:lnTo>
                    <a:lnTo>
                      <a:pt x="12" y="127"/>
                    </a:lnTo>
                    <a:lnTo>
                      <a:pt x="9" y="161"/>
                    </a:lnTo>
                    <a:lnTo>
                      <a:pt x="6" y="197"/>
                    </a:lnTo>
                    <a:lnTo>
                      <a:pt x="4" y="237"/>
                    </a:lnTo>
                    <a:lnTo>
                      <a:pt x="4" y="274"/>
                    </a:lnTo>
                    <a:lnTo>
                      <a:pt x="4" y="309"/>
                    </a:lnTo>
                    <a:lnTo>
                      <a:pt x="4" y="342"/>
                    </a:lnTo>
                    <a:lnTo>
                      <a:pt x="4" y="373"/>
                    </a:lnTo>
                    <a:lnTo>
                      <a:pt x="4" y="401"/>
                    </a:lnTo>
                    <a:lnTo>
                      <a:pt x="4" y="428"/>
                    </a:lnTo>
                    <a:lnTo>
                      <a:pt x="4" y="451"/>
                    </a:lnTo>
                    <a:lnTo>
                      <a:pt x="4" y="474"/>
                    </a:lnTo>
                    <a:lnTo>
                      <a:pt x="4" y="493"/>
                    </a:lnTo>
                    <a:lnTo>
                      <a:pt x="4" y="510"/>
                    </a:lnTo>
                    <a:lnTo>
                      <a:pt x="4" y="525"/>
                    </a:lnTo>
                    <a:lnTo>
                      <a:pt x="4" y="538"/>
                    </a:lnTo>
                    <a:lnTo>
                      <a:pt x="4" y="547"/>
                    </a:lnTo>
                    <a:lnTo>
                      <a:pt x="4" y="556"/>
                    </a:lnTo>
                    <a:lnTo>
                      <a:pt x="4" y="561"/>
                    </a:lnTo>
                    <a:lnTo>
                      <a:pt x="4" y="566"/>
                    </a:lnTo>
                    <a:lnTo>
                      <a:pt x="1" y="632"/>
                    </a:lnTo>
                    <a:lnTo>
                      <a:pt x="0" y="699"/>
                    </a:lnTo>
                    <a:lnTo>
                      <a:pt x="0" y="765"/>
                    </a:lnTo>
                    <a:lnTo>
                      <a:pt x="2" y="832"/>
                    </a:lnTo>
                    <a:lnTo>
                      <a:pt x="10" y="824"/>
                    </a:lnTo>
                    <a:lnTo>
                      <a:pt x="14" y="820"/>
                    </a:lnTo>
                    <a:lnTo>
                      <a:pt x="16" y="818"/>
                    </a:lnTo>
                    <a:lnTo>
                      <a:pt x="16" y="817"/>
                    </a:lnTo>
                    <a:lnTo>
                      <a:pt x="17" y="817"/>
                    </a:lnTo>
                    <a:lnTo>
                      <a:pt x="19" y="817"/>
                    </a:lnTo>
                    <a:lnTo>
                      <a:pt x="27" y="809"/>
                    </a:lnTo>
                    <a:lnTo>
                      <a:pt x="35" y="802"/>
                    </a:lnTo>
                    <a:lnTo>
                      <a:pt x="36" y="797"/>
                    </a:lnTo>
                    <a:lnTo>
                      <a:pt x="40" y="794"/>
                    </a:lnTo>
                    <a:lnTo>
                      <a:pt x="46" y="781"/>
                    </a:lnTo>
                    <a:lnTo>
                      <a:pt x="52" y="769"/>
                    </a:lnTo>
                    <a:lnTo>
                      <a:pt x="5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D6B67"/>
                  </a:gs>
                  <a:gs pos="100000">
                    <a:srgbClr val="294946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69" name="Freeform 1204"/>
              <p:cNvSpPr>
                <a:spLocks/>
              </p:cNvSpPr>
              <p:nvPr/>
            </p:nvSpPr>
            <p:spPr bwMode="auto">
              <a:xfrm>
                <a:off x="1597" y="982"/>
                <a:ext cx="25" cy="217"/>
              </a:xfrm>
              <a:custGeom>
                <a:avLst/>
                <a:gdLst>
                  <a:gd name="T0" fmla="*/ 0 w 98"/>
                  <a:gd name="T1" fmla="*/ 0 h 870"/>
                  <a:gd name="T2" fmla="*/ 0 w 98"/>
                  <a:gd name="T3" fmla="*/ 0 h 870"/>
                  <a:gd name="T4" fmla="*/ 0 w 98"/>
                  <a:gd name="T5" fmla="*/ 0 h 870"/>
                  <a:gd name="T6" fmla="*/ 0 w 98"/>
                  <a:gd name="T7" fmla="*/ 0 h 870"/>
                  <a:gd name="T8" fmla="*/ 0 w 98"/>
                  <a:gd name="T9" fmla="*/ 0 h 870"/>
                  <a:gd name="T10" fmla="*/ 0 w 98"/>
                  <a:gd name="T11" fmla="*/ 0 h 870"/>
                  <a:gd name="T12" fmla="*/ 0 w 98"/>
                  <a:gd name="T13" fmla="*/ 0 h 870"/>
                  <a:gd name="T14" fmla="*/ 0 w 98"/>
                  <a:gd name="T15" fmla="*/ 0 h 870"/>
                  <a:gd name="T16" fmla="*/ 0 w 98"/>
                  <a:gd name="T17" fmla="*/ 0 h 870"/>
                  <a:gd name="T18" fmla="*/ 0 w 98"/>
                  <a:gd name="T19" fmla="*/ 0 h 870"/>
                  <a:gd name="T20" fmla="*/ 0 w 98"/>
                  <a:gd name="T21" fmla="*/ 0 h 870"/>
                  <a:gd name="T22" fmla="*/ 0 w 98"/>
                  <a:gd name="T23" fmla="*/ 0 h 870"/>
                  <a:gd name="T24" fmla="*/ 0 w 98"/>
                  <a:gd name="T25" fmla="*/ 0 h 870"/>
                  <a:gd name="T26" fmla="*/ 0 w 98"/>
                  <a:gd name="T27" fmla="*/ 0 h 870"/>
                  <a:gd name="T28" fmla="*/ 0 w 98"/>
                  <a:gd name="T29" fmla="*/ 0 h 870"/>
                  <a:gd name="T30" fmla="*/ 0 w 98"/>
                  <a:gd name="T31" fmla="*/ 0 h 870"/>
                  <a:gd name="T32" fmla="*/ 0 w 98"/>
                  <a:gd name="T33" fmla="*/ 0 h 870"/>
                  <a:gd name="T34" fmla="*/ 0 w 98"/>
                  <a:gd name="T35" fmla="*/ 0 h 870"/>
                  <a:gd name="T36" fmla="*/ 0 w 98"/>
                  <a:gd name="T37" fmla="*/ 0 h 870"/>
                  <a:gd name="T38" fmla="*/ 0 w 98"/>
                  <a:gd name="T39" fmla="*/ 0 h 870"/>
                  <a:gd name="T40" fmla="*/ 0 w 98"/>
                  <a:gd name="T41" fmla="*/ 0 h 870"/>
                  <a:gd name="T42" fmla="*/ 0 w 98"/>
                  <a:gd name="T43" fmla="*/ 0 h 870"/>
                  <a:gd name="T44" fmla="*/ 0 w 98"/>
                  <a:gd name="T45" fmla="*/ 0 h 870"/>
                  <a:gd name="T46" fmla="*/ 0 w 98"/>
                  <a:gd name="T47" fmla="*/ 0 h 870"/>
                  <a:gd name="T48" fmla="*/ 0 w 98"/>
                  <a:gd name="T49" fmla="*/ 0 h 870"/>
                  <a:gd name="T50" fmla="*/ 0 w 98"/>
                  <a:gd name="T51" fmla="*/ 0 h 870"/>
                  <a:gd name="T52" fmla="*/ 0 w 98"/>
                  <a:gd name="T53" fmla="*/ 0 h 870"/>
                  <a:gd name="T54" fmla="*/ 0 w 98"/>
                  <a:gd name="T55" fmla="*/ 0 h 870"/>
                  <a:gd name="T56" fmla="*/ 0 w 98"/>
                  <a:gd name="T57" fmla="*/ 0 h 870"/>
                  <a:gd name="T58" fmla="*/ 0 w 98"/>
                  <a:gd name="T59" fmla="*/ 0 h 870"/>
                  <a:gd name="T60" fmla="*/ 0 w 98"/>
                  <a:gd name="T61" fmla="*/ 0 h 870"/>
                  <a:gd name="T62" fmla="*/ 0 w 98"/>
                  <a:gd name="T63" fmla="*/ 0 h 870"/>
                  <a:gd name="T64" fmla="*/ 0 w 98"/>
                  <a:gd name="T65" fmla="*/ 0 h 87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8"/>
                  <a:gd name="T100" fmla="*/ 0 h 870"/>
                  <a:gd name="T101" fmla="*/ 98 w 98"/>
                  <a:gd name="T102" fmla="*/ 870 h 87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8" h="870">
                    <a:moveTo>
                      <a:pt x="95" y="152"/>
                    </a:moveTo>
                    <a:lnTo>
                      <a:pt x="85" y="129"/>
                    </a:lnTo>
                    <a:lnTo>
                      <a:pt x="79" y="109"/>
                    </a:lnTo>
                    <a:lnTo>
                      <a:pt x="75" y="90"/>
                    </a:lnTo>
                    <a:lnTo>
                      <a:pt x="74" y="74"/>
                    </a:lnTo>
                    <a:lnTo>
                      <a:pt x="75" y="52"/>
                    </a:lnTo>
                    <a:lnTo>
                      <a:pt x="78" y="33"/>
                    </a:lnTo>
                    <a:lnTo>
                      <a:pt x="83" y="15"/>
                    </a:lnTo>
                    <a:lnTo>
                      <a:pt x="91" y="0"/>
                    </a:lnTo>
                    <a:lnTo>
                      <a:pt x="26" y="0"/>
                    </a:lnTo>
                    <a:lnTo>
                      <a:pt x="20" y="15"/>
                    </a:lnTo>
                    <a:lnTo>
                      <a:pt x="16" y="34"/>
                    </a:lnTo>
                    <a:lnTo>
                      <a:pt x="9" y="76"/>
                    </a:lnTo>
                    <a:lnTo>
                      <a:pt x="3" y="123"/>
                    </a:lnTo>
                    <a:lnTo>
                      <a:pt x="1" y="148"/>
                    </a:lnTo>
                    <a:lnTo>
                      <a:pt x="0" y="177"/>
                    </a:lnTo>
                    <a:lnTo>
                      <a:pt x="0" y="178"/>
                    </a:lnTo>
                    <a:lnTo>
                      <a:pt x="0" y="183"/>
                    </a:lnTo>
                    <a:lnTo>
                      <a:pt x="0" y="190"/>
                    </a:lnTo>
                    <a:lnTo>
                      <a:pt x="0" y="199"/>
                    </a:lnTo>
                    <a:lnTo>
                      <a:pt x="0" y="210"/>
                    </a:lnTo>
                    <a:lnTo>
                      <a:pt x="0" y="223"/>
                    </a:lnTo>
                    <a:lnTo>
                      <a:pt x="0" y="238"/>
                    </a:lnTo>
                    <a:lnTo>
                      <a:pt x="0" y="256"/>
                    </a:lnTo>
                    <a:lnTo>
                      <a:pt x="0" y="275"/>
                    </a:lnTo>
                    <a:lnTo>
                      <a:pt x="0" y="297"/>
                    </a:lnTo>
                    <a:lnTo>
                      <a:pt x="0" y="321"/>
                    </a:lnTo>
                    <a:lnTo>
                      <a:pt x="0" y="348"/>
                    </a:lnTo>
                    <a:lnTo>
                      <a:pt x="0" y="376"/>
                    </a:lnTo>
                    <a:lnTo>
                      <a:pt x="0" y="407"/>
                    </a:lnTo>
                    <a:lnTo>
                      <a:pt x="0" y="440"/>
                    </a:lnTo>
                    <a:lnTo>
                      <a:pt x="0" y="476"/>
                    </a:lnTo>
                    <a:lnTo>
                      <a:pt x="0" y="511"/>
                    </a:lnTo>
                    <a:lnTo>
                      <a:pt x="0" y="545"/>
                    </a:lnTo>
                    <a:lnTo>
                      <a:pt x="0" y="576"/>
                    </a:lnTo>
                    <a:lnTo>
                      <a:pt x="0" y="606"/>
                    </a:lnTo>
                    <a:lnTo>
                      <a:pt x="0" y="632"/>
                    </a:lnTo>
                    <a:lnTo>
                      <a:pt x="0" y="657"/>
                    </a:lnTo>
                    <a:lnTo>
                      <a:pt x="0" y="680"/>
                    </a:lnTo>
                    <a:lnTo>
                      <a:pt x="0" y="701"/>
                    </a:lnTo>
                    <a:lnTo>
                      <a:pt x="0" y="718"/>
                    </a:lnTo>
                    <a:lnTo>
                      <a:pt x="0" y="734"/>
                    </a:lnTo>
                    <a:lnTo>
                      <a:pt x="0" y="747"/>
                    </a:lnTo>
                    <a:lnTo>
                      <a:pt x="0" y="760"/>
                    </a:lnTo>
                    <a:lnTo>
                      <a:pt x="0" y="769"/>
                    </a:lnTo>
                    <a:lnTo>
                      <a:pt x="0" y="776"/>
                    </a:lnTo>
                    <a:lnTo>
                      <a:pt x="0" y="781"/>
                    </a:lnTo>
                    <a:lnTo>
                      <a:pt x="0" y="784"/>
                    </a:lnTo>
                    <a:lnTo>
                      <a:pt x="2" y="807"/>
                    </a:lnTo>
                    <a:lnTo>
                      <a:pt x="4" y="829"/>
                    </a:lnTo>
                    <a:lnTo>
                      <a:pt x="6" y="850"/>
                    </a:lnTo>
                    <a:lnTo>
                      <a:pt x="9" y="870"/>
                    </a:lnTo>
                    <a:lnTo>
                      <a:pt x="19" y="870"/>
                    </a:lnTo>
                    <a:lnTo>
                      <a:pt x="35" y="869"/>
                    </a:lnTo>
                    <a:lnTo>
                      <a:pt x="52" y="867"/>
                    </a:lnTo>
                    <a:lnTo>
                      <a:pt x="75" y="861"/>
                    </a:lnTo>
                    <a:lnTo>
                      <a:pt x="97" y="857"/>
                    </a:lnTo>
                    <a:lnTo>
                      <a:pt x="93" y="812"/>
                    </a:lnTo>
                    <a:lnTo>
                      <a:pt x="90" y="738"/>
                    </a:lnTo>
                    <a:lnTo>
                      <a:pt x="89" y="666"/>
                    </a:lnTo>
                    <a:lnTo>
                      <a:pt x="90" y="593"/>
                    </a:lnTo>
                    <a:lnTo>
                      <a:pt x="93" y="521"/>
                    </a:lnTo>
                    <a:lnTo>
                      <a:pt x="93" y="212"/>
                    </a:lnTo>
                    <a:lnTo>
                      <a:pt x="95" y="183"/>
                    </a:lnTo>
                    <a:lnTo>
                      <a:pt x="98" y="157"/>
                    </a:lnTo>
                    <a:lnTo>
                      <a:pt x="95" y="15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70" name="Freeform 1205"/>
              <p:cNvSpPr>
                <a:spLocks/>
              </p:cNvSpPr>
              <p:nvPr/>
            </p:nvSpPr>
            <p:spPr bwMode="auto">
              <a:xfrm>
                <a:off x="1616" y="982"/>
                <a:ext cx="14" cy="39"/>
              </a:xfrm>
              <a:custGeom>
                <a:avLst/>
                <a:gdLst>
                  <a:gd name="T0" fmla="*/ 0 w 55"/>
                  <a:gd name="T1" fmla="*/ 0 h 157"/>
                  <a:gd name="T2" fmla="*/ 0 w 55"/>
                  <a:gd name="T3" fmla="*/ 0 h 157"/>
                  <a:gd name="T4" fmla="*/ 0 w 55"/>
                  <a:gd name="T5" fmla="*/ 0 h 157"/>
                  <a:gd name="T6" fmla="*/ 0 w 55"/>
                  <a:gd name="T7" fmla="*/ 0 h 157"/>
                  <a:gd name="T8" fmla="*/ 0 w 55"/>
                  <a:gd name="T9" fmla="*/ 0 h 157"/>
                  <a:gd name="T10" fmla="*/ 0 w 55"/>
                  <a:gd name="T11" fmla="*/ 0 h 157"/>
                  <a:gd name="T12" fmla="*/ 0 w 55"/>
                  <a:gd name="T13" fmla="*/ 0 h 157"/>
                  <a:gd name="T14" fmla="*/ 0 w 55"/>
                  <a:gd name="T15" fmla="*/ 0 h 157"/>
                  <a:gd name="T16" fmla="*/ 0 w 55"/>
                  <a:gd name="T17" fmla="*/ 0 h 157"/>
                  <a:gd name="T18" fmla="*/ 0 w 55"/>
                  <a:gd name="T19" fmla="*/ 0 h 157"/>
                  <a:gd name="T20" fmla="*/ 0 w 55"/>
                  <a:gd name="T21" fmla="*/ 0 h 157"/>
                  <a:gd name="T22" fmla="*/ 0 w 55"/>
                  <a:gd name="T23" fmla="*/ 0 h 157"/>
                  <a:gd name="T24" fmla="*/ 0 w 55"/>
                  <a:gd name="T25" fmla="*/ 0 h 157"/>
                  <a:gd name="T26" fmla="*/ 0 w 55"/>
                  <a:gd name="T27" fmla="*/ 0 h 157"/>
                  <a:gd name="T28" fmla="*/ 0 w 55"/>
                  <a:gd name="T29" fmla="*/ 0 h 157"/>
                  <a:gd name="T30" fmla="*/ 0 w 55"/>
                  <a:gd name="T31" fmla="*/ 0 h 157"/>
                  <a:gd name="T32" fmla="*/ 0 w 55"/>
                  <a:gd name="T33" fmla="*/ 0 h 1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5"/>
                  <a:gd name="T52" fmla="*/ 0 h 157"/>
                  <a:gd name="T53" fmla="*/ 55 w 55"/>
                  <a:gd name="T54" fmla="*/ 157 h 1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5" h="157">
                    <a:moveTo>
                      <a:pt x="0" y="74"/>
                    </a:moveTo>
                    <a:lnTo>
                      <a:pt x="1" y="90"/>
                    </a:lnTo>
                    <a:lnTo>
                      <a:pt x="5" y="109"/>
                    </a:lnTo>
                    <a:lnTo>
                      <a:pt x="11" y="129"/>
                    </a:lnTo>
                    <a:lnTo>
                      <a:pt x="21" y="152"/>
                    </a:lnTo>
                    <a:lnTo>
                      <a:pt x="24" y="157"/>
                    </a:lnTo>
                    <a:lnTo>
                      <a:pt x="29" y="108"/>
                    </a:lnTo>
                    <a:lnTo>
                      <a:pt x="32" y="85"/>
                    </a:lnTo>
                    <a:lnTo>
                      <a:pt x="36" y="65"/>
                    </a:lnTo>
                    <a:lnTo>
                      <a:pt x="40" y="46"/>
                    </a:lnTo>
                    <a:lnTo>
                      <a:pt x="44" y="29"/>
                    </a:lnTo>
                    <a:lnTo>
                      <a:pt x="55" y="0"/>
                    </a:lnTo>
                    <a:lnTo>
                      <a:pt x="17" y="0"/>
                    </a:lnTo>
                    <a:lnTo>
                      <a:pt x="9" y="15"/>
                    </a:lnTo>
                    <a:lnTo>
                      <a:pt x="4" y="33"/>
                    </a:lnTo>
                    <a:lnTo>
                      <a:pt x="1" y="52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AEAE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1" name="Freeform 1206"/>
              <p:cNvSpPr>
                <a:spLocks/>
              </p:cNvSpPr>
              <p:nvPr/>
            </p:nvSpPr>
            <p:spPr bwMode="auto">
              <a:xfrm>
                <a:off x="1620" y="982"/>
                <a:ext cx="23" cy="214"/>
              </a:xfrm>
              <a:custGeom>
                <a:avLst/>
                <a:gdLst>
                  <a:gd name="T0" fmla="*/ 0 w 95"/>
                  <a:gd name="T1" fmla="*/ 0 h 857"/>
                  <a:gd name="T2" fmla="*/ 0 w 95"/>
                  <a:gd name="T3" fmla="*/ 0 h 857"/>
                  <a:gd name="T4" fmla="*/ 0 w 95"/>
                  <a:gd name="T5" fmla="*/ 0 h 857"/>
                  <a:gd name="T6" fmla="*/ 0 w 95"/>
                  <a:gd name="T7" fmla="*/ 0 h 857"/>
                  <a:gd name="T8" fmla="*/ 0 w 95"/>
                  <a:gd name="T9" fmla="*/ 0 h 857"/>
                  <a:gd name="T10" fmla="*/ 0 w 95"/>
                  <a:gd name="T11" fmla="*/ 0 h 857"/>
                  <a:gd name="T12" fmla="*/ 0 w 95"/>
                  <a:gd name="T13" fmla="*/ 0 h 857"/>
                  <a:gd name="T14" fmla="*/ 0 w 95"/>
                  <a:gd name="T15" fmla="*/ 0 h 857"/>
                  <a:gd name="T16" fmla="*/ 0 w 95"/>
                  <a:gd name="T17" fmla="*/ 0 h 857"/>
                  <a:gd name="T18" fmla="*/ 0 w 95"/>
                  <a:gd name="T19" fmla="*/ 0 h 857"/>
                  <a:gd name="T20" fmla="*/ 0 w 95"/>
                  <a:gd name="T21" fmla="*/ 0 h 857"/>
                  <a:gd name="T22" fmla="*/ 0 w 95"/>
                  <a:gd name="T23" fmla="*/ 0 h 857"/>
                  <a:gd name="T24" fmla="*/ 0 w 95"/>
                  <a:gd name="T25" fmla="*/ 0 h 857"/>
                  <a:gd name="T26" fmla="*/ 0 w 95"/>
                  <a:gd name="T27" fmla="*/ 0 h 857"/>
                  <a:gd name="T28" fmla="*/ 0 w 95"/>
                  <a:gd name="T29" fmla="*/ 0 h 857"/>
                  <a:gd name="T30" fmla="*/ 0 w 95"/>
                  <a:gd name="T31" fmla="*/ 0 h 857"/>
                  <a:gd name="T32" fmla="*/ 0 w 95"/>
                  <a:gd name="T33" fmla="*/ 0 h 857"/>
                  <a:gd name="T34" fmla="*/ 0 w 95"/>
                  <a:gd name="T35" fmla="*/ 0 h 857"/>
                  <a:gd name="T36" fmla="*/ 0 w 95"/>
                  <a:gd name="T37" fmla="*/ 0 h 857"/>
                  <a:gd name="T38" fmla="*/ 0 w 95"/>
                  <a:gd name="T39" fmla="*/ 0 h 857"/>
                  <a:gd name="T40" fmla="*/ 0 w 95"/>
                  <a:gd name="T41" fmla="*/ 0 h 857"/>
                  <a:gd name="T42" fmla="*/ 0 w 95"/>
                  <a:gd name="T43" fmla="*/ 0 h 857"/>
                  <a:gd name="T44" fmla="*/ 0 w 95"/>
                  <a:gd name="T45" fmla="*/ 0 h 857"/>
                  <a:gd name="T46" fmla="*/ 0 w 95"/>
                  <a:gd name="T47" fmla="*/ 0 h 857"/>
                  <a:gd name="T48" fmla="*/ 0 w 95"/>
                  <a:gd name="T49" fmla="*/ 0 h 857"/>
                  <a:gd name="T50" fmla="*/ 0 w 95"/>
                  <a:gd name="T51" fmla="*/ 0 h 857"/>
                  <a:gd name="T52" fmla="*/ 0 w 95"/>
                  <a:gd name="T53" fmla="*/ 0 h 857"/>
                  <a:gd name="T54" fmla="*/ 0 w 95"/>
                  <a:gd name="T55" fmla="*/ 0 h 857"/>
                  <a:gd name="T56" fmla="*/ 0 w 95"/>
                  <a:gd name="T57" fmla="*/ 0 h 857"/>
                  <a:gd name="T58" fmla="*/ 0 w 95"/>
                  <a:gd name="T59" fmla="*/ 0 h 857"/>
                  <a:gd name="T60" fmla="*/ 0 w 95"/>
                  <a:gd name="T61" fmla="*/ 0 h 857"/>
                  <a:gd name="T62" fmla="*/ 0 w 95"/>
                  <a:gd name="T63" fmla="*/ 0 h 857"/>
                  <a:gd name="T64" fmla="*/ 0 w 95"/>
                  <a:gd name="T65" fmla="*/ 0 h 857"/>
                  <a:gd name="T66" fmla="*/ 0 w 95"/>
                  <a:gd name="T67" fmla="*/ 0 h 857"/>
                  <a:gd name="T68" fmla="*/ 0 w 95"/>
                  <a:gd name="T69" fmla="*/ 0 h 857"/>
                  <a:gd name="T70" fmla="*/ 0 w 95"/>
                  <a:gd name="T71" fmla="*/ 0 h 857"/>
                  <a:gd name="T72" fmla="*/ 0 w 95"/>
                  <a:gd name="T73" fmla="*/ 0 h 857"/>
                  <a:gd name="T74" fmla="*/ 0 w 95"/>
                  <a:gd name="T75" fmla="*/ 0 h 857"/>
                  <a:gd name="T76" fmla="*/ 0 w 95"/>
                  <a:gd name="T77" fmla="*/ 0 h 857"/>
                  <a:gd name="T78" fmla="*/ 0 w 95"/>
                  <a:gd name="T79" fmla="*/ 0 h 857"/>
                  <a:gd name="T80" fmla="*/ 0 w 95"/>
                  <a:gd name="T81" fmla="*/ 0 h 857"/>
                  <a:gd name="T82" fmla="*/ 0 w 95"/>
                  <a:gd name="T83" fmla="*/ 0 h 857"/>
                  <a:gd name="T84" fmla="*/ 0 w 95"/>
                  <a:gd name="T85" fmla="*/ 0 h 857"/>
                  <a:gd name="T86" fmla="*/ 0 w 95"/>
                  <a:gd name="T87" fmla="*/ 0 h 857"/>
                  <a:gd name="T88" fmla="*/ 0 w 95"/>
                  <a:gd name="T89" fmla="*/ 0 h 857"/>
                  <a:gd name="T90" fmla="*/ 0 w 95"/>
                  <a:gd name="T91" fmla="*/ 0 h 857"/>
                  <a:gd name="T92" fmla="*/ 0 w 95"/>
                  <a:gd name="T93" fmla="*/ 0 h 857"/>
                  <a:gd name="T94" fmla="*/ 0 w 95"/>
                  <a:gd name="T95" fmla="*/ 0 h 857"/>
                  <a:gd name="T96" fmla="*/ 0 w 95"/>
                  <a:gd name="T97" fmla="*/ 0 h 857"/>
                  <a:gd name="T98" fmla="*/ 0 w 95"/>
                  <a:gd name="T99" fmla="*/ 0 h 857"/>
                  <a:gd name="T100" fmla="*/ 0 w 95"/>
                  <a:gd name="T101" fmla="*/ 0 h 857"/>
                  <a:gd name="T102" fmla="*/ 0 w 95"/>
                  <a:gd name="T103" fmla="*/ 0 h 857"/>
                  <a:gd name="T104" fmla="*/ 0 w 95"/>
                  <a:gd name="T105" fmla="*/ 0 h 857"/>
                  <a:gd name="T106" fmla="*/ 0 w 95"/>
                  <a:gd name="T107" fmla="*/ 0 h 85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5"/>
                  <a:gd name="T163" fmla="*/ 0 h 857"/>
                  <a:gd name="T164" fmla="*/ 95 w 95"/>
                  <a:gd name="T165" fmla="*/ 857 h 857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5" h="857">
                    <a:moveTo>
                      <a:pt x="40" y="0"/>
                    </a:moveTo>
                    <a:lnTo>
                      <a:pt x="29" y="29"/>
                    </a:lnTo>
                    <a:lnTo>
                      <a:pt x="25" y="46"/>
                    </a:lnTo>
                    <a:lnTo>
                      <a:pt x="21" y="65"/>
                    </a:lnTo>
                    <a:lnTo>
                      <a:pt x="17" y="85"/>
                    </a:lnTo>
                    <a:lnTo>
                      <a:pt x="14" y="108"/>
                    </a:lnTo>
                    <a:lnTo>
                      <a:pt x="9" y="157"/>
                    </a:lnTo>
                    <a:lnTo>
                      <a:pt x="6" y="183"/>
                    </a:lnTo>
                    <a:lnTo>
                      <a:pt x="4" y="212"/>
                    </a:lnTo>
                    <a:lnTo>
                      <a:pt x="4" y="521"/>
                    </a:lnTo>
                    <a:lnTo>
                      <a:pt x="1" y="593"/>
                    </a:lnTo>
                    <a:lnTo>
                      <a:pt x="0" y="666"/>
                    </a:lnTo>
                    <a:lnTo>
                      <a:pt x="1" y="738"/>
                    </a:lnTo>
                    <a:lnTo>
                      <a:pt x="4" y="812"/>
                    </a:lnTo>
                    <a:lnTo>
                      <a:pt x="8" y="857"/>
                    </a:lnTo>
                    <a:lnTo>
                      <a:pt x="21" y="852"/>
                    </a:lnTo>
                    <a:lnTo>
                      <a:pt x="32" y="847"/>
                    </a:lnTo>
                    <a:lnTo>
                      <a:pt x="35" y="847"/>
                    </a:lnTo>
                    <a:lnTo>
                      <a:pt x="43" y="841"/>
                    </a:lnTo>
                    <a:lnTo>
                      <a:pt x="50" y="837"/>
                    </a:lnTo>
                    <a:lnTo>
                      <a:pt x="52" y="835"/>
                    </a:lnTo>
                    <a:lnTo>
                      <a:pt x="52" y="834"/>
                    </a:lnTo>
                    <a:lnTo>
                      <a:pt x="53" y="834"/>
                    </a:lnTo>
                    <a:lnTo>
                      <a:pt x="55" y="834"/>
                    </a:lnTo>
                    <a:lnTo>
                      <a:pt x="59" y="832"/>
                    </a:lnTo>
                    <a:lnTo>
                      <a:pt x="57" y="765"/>
                    </a:lnTo>
                    <a:lnTo>
                      <a:pt x="57" y="699"/>
                    </a:lnTo>
                    <a:lnTo>
                      <a:pt x="58" y="632"/>
                    </a:lnTo>
                    <a:lnTo>
                      <a:pt x="61" y="566"/>
                    </a:lnTo>
                    <a:lnTo>
                      <a:pt x="61" y="561"/>
                    </a:lnTo>
                    <a:lnTo>
                      <a:pt x="61" y="556"/>
                    </a:lnTo>
                    <a:lnTo>
                      <a:pt x="61" y="547"/>
                    </a:lnTo>
                    <a:lnTo>
                      <a:pt x="61" y="538"/>
                    </a:lnTo>
                    <a:lnTo>
                      <a:pt x="61" y="525"/>
                    </a:lnTo>
                    <a:lnTo>
                      <a:pt x="61" y="510"/>
                    </a:lnTo>
                    <a:lnTo>
                      <a:pt x="61" y="493"/>
                    </a:lnTo>
                    <a:lnTo>
                      <a:pt x="61" y="474"/>
                    </a:lnTo>
                    <a:lnTo>
                      <a:pt x="61" y="451"/>
                    </a:lnTo>
                    <a:lnTo>
                      <a:pt x="61" y="428"/>
                    </a:lnTo>
                    <a:lnTo>
                      <a:pt x="61" y="401"/>
                    </a:lnTo>
                    <a:lnTo>
                      <a:pt x="61" y="373"/>
                    </a:lnTo>
                    <a:lnTo>
                      <a:pt x="61" y="342"/>
                    </a:lnTo>
                    <a:lnTo>
                      <a:pt x="61" y="309"/>
                    </a:lnTo>
                    <a:lnTo>
                      <a:pt x="61" y="274"/>
                    </a:lnTo>
                    <a:lnTo>
                      <a:pt x="61" y="237"/>
                    </a:lnTo>
                    <a:lnTo>
                      <a:pt x="63" y="197"/>
                    </a:lnTo>
                    <a:lnTo>
                      <a:pt x="66" y="161"/>
                    </a:lnTo>
                    <a:lnTo>
                      <a:pt x="69" y="127"/>
                    </a:lnTo>
                    <a:lnTo>
                      <a:pt x="73" y="97"/>
                    </a:lnTo>
                    <a:lnTo>
                      <a:pt x="77" y="68"/>
                    </a:lnTo>
                    <a:lnTo>
                      <a:pt x="82" y="42"/>
                    </a:lnTo>
                    <a:lnTo>
                      <a:pt x="88" y="19"/>
                    </a:lnTo>
                    <a:lnTo>
                      <a:pt x="95" y="0"/>
                    </a:lnTo>
                    <a:lnTo>
                      <a:pt x="4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C9E98"/>
                  </a:gs>
                  <a:gs pos="100000">
                    <a:srgbClr val="3E6B67"/>
                  </a:gs>
                </a:gsLst>
                <a:lin ang="2700000" scaled="1"/>
              </a:gradFill>
              <a:ln w="12700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72" name="Line 1207"/>
              <p:cNvSpPr>
                <a:spLocks noChangeShapeType="1"/>
              </p:cNvSpPr>
              <p:nvPr/>
            </p:nvSpPr>
            <p:spPr bwMode="auto">
              <a:xfrm flipV="1">
                <a:off x="1647" y="982"/>
                <a:ext cx="0" cy="192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3" name="Line 1208"/>
              <p:cNvSpPr>
                <a:spLocks noChangeShapeType="1"/>
              </p:cNvSpPr>
              <p:nvPr/>
            </p:nvSpPr>
            <p:spPr bwMode="auto">
              <a:xfrm>
                <a:off x="1541" y="982"/>
                <a:ext cx="0" cy="192"/>
              </a:xfrm>
              <a:prstGeom prst="line">
                <a:avLst/>
              </a:prstGeom>
              <a:noFill/>
              <a:ln w="1588">
                <a:solidFill>
                  <a:srgbClr val="6A6A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4" name="Freeform 1209"/>
              <p:cNvSpPr>
                <a:spLocks/>
              </p:cNvSpPr>
              <p:nvPr/>
            </p:nvSpPr>
            <p:spPr bwMode="auto">
              <a:xfrm>
                <a:off x="1547" y="914"/>
                <a:ext cx="93" cy="60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16" y="204"/>
                    </a:move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5" name="Line 1210"/>
              <p:cNvSpPr>
                <a:spLocks noChangeShapeType="1"/>
              </p:cNvSpPr>
              <p:nvPr/>
            </p:nvSpPr>
            <p:spPr bwMode="auto">
              <a:xfrm flipV="1">
                <a:off x="1616" y="900"/>
                <a:ext cx="0" cy="32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6" name="Freeform 1211"/>
              <p:cNvSpPr>
                <a:spLocks/>
              </p:cNvSpPr>
              <p:nvPr/>
            </p:nvSpPr>
            <p:spPr bwMode="auto">
              <a:xfrm>
                <a:off x="1508" y="902"/>
                <a:ext cx="183" cy="118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622" y="403"/>
                    </a:move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12700">
                <a:solidFill>
                  <a:srgbClr val="88B8B6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  <p:sp>
            <p:nvSpPr>
              <p:cNvPr id="15777" name="Freeform 1212"/>
              <p:cNvSpPr>
                <a:spLocks/>
              </p:cNvSpPr>
              <p:nvPr/>
            </p:nvSpPr>
            <p:spPr bwMode="auto">
              <a:xfrm>
                <a:off x="1506" y="902"/>
                <a:ext cx="183" cy="118"/>
              </a:xfrm>
              <a:custGeom>
                <a:avLst/>
                <a:gdLst>
                  <a:gd name="T0" fmla="*/ 0 w 730"/>
                  <a:gd name="T1" fmla="*/ 0 h 473"/>
                  <a:gd name="T2" fmla="*/ 0 w 730"/>
                  <a:gd name="T3" fmla="*/ 0 h 473"/>
                  <a:gd name="T4" fmla="*/ 0 w 730"/>
                  <a:gd name="T5" fmla="*/ 0 h 473"/>
                  <a:gd name="T6" fmla="*/ 0 w 730"/>
                  <a:gd name="T7" fmla="*/ 0 h 473"/>
                  <a:gd name="T8" fmla="*/ 0 w 730"/>
                  <a:gd name="T9" fmla="*/ 0 h 473"/>
                  <a:gd name="T10" fmla="*/ 0 w 730"/>
                  <a:gd name="T11" fmla="*/ 0 h 473"/>
                  <a:gd name="T12" fmla="*/ 0 w 730"/>
                  <a:gd name="T13" fmla="*/ 0 h 473"/>
                  <a:gd name="T14" fmla="*/ 0 w 730"/>
                  <a:gd name="T15" fmla="*/ 0 h 473"/>
                  <a:gd name="T16" fmla="*/ 0 w 730"/>
                  <a:gd name="T17" fmla="*/ 0 h 473"/>
                  <a:gd name="T18" fmla="*/ 0 w 730"/>
                  <a:gd name="T19" fmla="*/ 0 h 473"/>
                  <a:gd name="T20" fmla="*/ 0 w 730"/>
                  <a:gd name="T21" fmla="*/ 0 h 473"/>
                  <a:gd name="T22" fmla="*/ 0 w 730"/>
                  <a:gd name="T23" fmla="*/ 0 h 473"/>
                  <a:gd name="T24" fmla="*/ 0 w 730"/>
                  <a:gd name="T25" fmla="*/ 0 h 473"/>
                  <a:gd name="T26" fmla="*/ 0 w 730"/>
                  <a:gd name="T27" fmla="*/ 0 h 473"/>
                  <a:gd name="T28" fmla="*/ 0 w 730"/>
                  <a:gd name="T29" fmla="*/ 0 h 473"/>
                  <a:gd name="T30" fmla="*/ 0 w 730"/>
                  <a:gd name="T31" fmla="*/ 0 h 473"/>
                  <a:gd name="T32" fmla="*/ 0 w 730"/>
                  <a:gd name="T33" fmla="*/ 0 h 473"/>
                  <a:gd name="T34" fmla="*/ 0 w 730"/>
                  <a:gd name="T35" fmla="*/ 0 h 473"/>
                  <a:gd name="T36" fmla="*/ 0 w 730"/>
                  <a:gd name="T37" fmla="*/ 0 h 473"/>
                  <a:gd name="T38" fmla="*/ 0 w 730"/>
                  <a:gd name="T39" fmla="*/ 0 h 473"/>
                  <a:gd name="T40" fmla="*/ 0 w 730"/>
                  <a:gd name="T41" fmla="*/ 0 h 473"/>
                  <a:gd name="T42" fmla="*/ 0 w 730"/>
                  <a:gd name="T43" fmla="*/ 0 h 473"/>
                  <a:gd name="T44" fmla="*/ 0 w 730"/>
                  <a:gd name="T45" fmla="*/ 0 h 473"/>
                  <a:gd name="T46" fmla="*/ 0 w 730"/>
                  <a:gd name="T47" fmla="*/ 0 h 473"/>
                  <a:gd name="T48" fmla="*/ 0 w 730"/>
                  <a:gd name="T49" fmla="*/ 0 h 473"/>
                  <a:gd name="T50" fmla="*/ 0 w 730"/>
                  <a:gd name="T51" fmla="*/ 0 h 473"/>
                  <a:gd name="T52" fmla="*/ 0 w 730"/>
                  <a:gd name="T53" fmla="*/ 0 h 473"/>
                  <a:gd name="T54" fmla="*/ 0 w 730"/>
                  <a:gd name="T55" fmla="*/ 0 h 473"/>
                  <a:gd name="T56" fmla="*/ 0 w 730"/>
                  <a:gd name="T57" fmla="*/ 0 h 473"/>
                  <a:gd name="T58" fmla="*/ 0 w 730"/>
                  <a:gd name="T59" fmla="*/ 0 h 473"/>
                  <a:gd name="T60" fmla="*/ 0 w 730"/>
                  <a:gd name="T61" fmla="*/ 0 h 473"/>
                  <a:gd name="T62" fmla="*/ 0 w 730"/>
                  <a:gd name="T63" fmla="*/ 0 h 473"/>
                  <a:gd name="T64" fmla="*/ 0 w 730"/>
                  <a:gd name="T65" fmla="*/ 0 h 473"/>
                  <a:gd name="T66" fmla="*/ 0 w 730"/>
                  <a:gd name="T67" fmla="*/ 0 h 473"/>
                  <a:gd name="T68" fmla="*/ 0 w 730"/>
                  <a:gd name="T69" fmla="*/ 0 h 473"/>
                  <a:gd name="T70" fmla="*/ 0 w 730"/>
                  <a:gd name="T71" fmla="*/ 0 h 473"/>
                  <a:gd name="T72" fmla="*/ 0 w 730"/>
                  <a:gd name="T73" fmla="*/ 0 h 473"/>
                  <a:gd name="T74" fmla="*/ 0 w 730"/>
                  <a:gd name="T75" fmla="*/ 0 h 47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30"/>
                  <a:gd name="T115" fmla="*/ 0 h 473"/>
                  <a:gd name="T116" fmla="*/ 730 w 730"/>
                  <a:gd name="T117" fmla="*/ 473 h 47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30" h="473">
                    <a:moveTo>
                      <a:pt x="730" y="236"/>
                    </a:moveTo>
                    <a:lnTo>
                      <a:pt x="728" y="211"/>
                    </a:lnTo>
                    <a:lnTo>
                      <a:pt x="723" y="188"/>
                    </a:lnTo>
                    <a:lnTo>
                      <a:pt x="714" y="166"/>
                    </a:lnTo>
                    <a:lnTo>
                      <a:pt x="703" y="145"/>
                    </a:lnTo>
                    <a:lnTo>
                      <a:pt x="687" y="124"/>
                    </a:lnTo>
                    <a:lnTo>
                      <a:pt x="669" y="104"/>
                    </a:lnTo>
                    <a:lnTo>
                      <a:pt x="647" y="85"/>
                    </a:lnTo>
                    <a:lnTo>
                      <a:pt x="622" y="68"/>
                    </a:lnTo>
                    <a:lnTo>
                      <a:pt x="594" y="51"/>
                    </a:lnTo>
                    <a:lnTo>
                      <a:pt x="565" y="38"/>
                    </a:lnTo>
                    <a:lnTo>
                      <a:pt x="535" y="26"/>
                    </a:lnTo>
                    <a:lnTo>
                      <a:pt x="504" y="17"/>
                    </a:lnTo>
                    <a:lnTo>
                      <a:pt x="487" y="12"/>
                    </a:lnTo>
                    <a:lnTo>
                      <a:pt x="471" y="9"/>
                    </a:lnTo>
                    <a:lnTo>
                      <a:pt x="437" y="4"/>
                    </a:lnTo>
                    <a:lnTo>
                      <a:pt x="401" y="1"/>
                    </a:lnTo>
                    <a:lnTo>
                      <a:pt x="365" y="0"/>
                    </a:lnTo>
                    <a:lnTo>
                      <a:pt x="327" y="1"/>
                    </a:lnTo>
                    <a:lnTo>
                      <a:pt x="291" y="4"/>
                    </a:lnTo>
                    <a:lnTo>
                      <a:pt x="256" y="9"/>
                    </a:lnTo>
                    <a:lnTo>
                      <a:pt x="224" y="17"/>
                    </a:lnTo>
                    <a:lnTo>
                      <a:pt x="192" y="26"/>
                    </a:lnTo>
                    <a:lnTo>
                      <a:pt x="162" y="38"/>
                    </a:lnTo>
                    <a:lnTo>
                      <a:pt x="133" y="51"/>
                    </a:lnTo>
                    <a:lnTo>
                      <a:pt x="106" y="68"/>
                    </a:lnTo>
                    <a:lnTo>
                      <a:pt x="80" y="85"/>
                    </a:lnTo>
                    <a:lnTo>
                      <a:pt x="59" y="104"/>
                    </a:lnTo>
                    <a:lnTo>
                      <a:pt x="40" y="124"/>
                    </a:lnTo>
                    <a:lnTo>
                      <a:pt x="26" y="145"/>
                    </a:lnTo>
                    <a:lnTo>
                      <a:pt x="14" y="166"/>
                    </a:lnTo>
                    <a:lnTo>
                      <a:pt x="6" y="188"/>
                    </a:lnTo>
                    <a:lnTo>
                      <a:pt x="1" y="211"/>
                    </a:lnTo>
                    <a:lnTo>
                      <a:pt x="0" y="236"/>
                    </a:lnTo>
                    <a:lnTo>
                      <a:pt x="1" y="259"/>
                    </a:lnTo>
                    <a:lnTo>
                      <a:pt x="6" y="282"/>
                    </a:lnTo>
                    <a:lnTo>
                      <a:pt x="14" y="304"/>
                    </a:lnTo>
                    <a:lnTo>
                      <a:pt x="26" y="326"/>
                    </a:lnTo>
                    <a:lnTo>
                      <a:pt x="40" y="346"/>
                    </a:lnTo>
                    <a:lnTo>
                      <a:pt x="59" y="367"/>
                    </a:lnTo>
                    <a:lnTo>
                      <a:pt x="80" y="385"/>
                    </a:lnTo>
                    <a:lnTo>
                      <a:pt x="106" y="403"/>
                    </a:lnTo>
                    <a:lnTo>
                      <a:pt x="133" y="418"/>
                    </a:lnTo>
                    <a:lnTo>
                      <a:pt x="162" y="433"/>
                    </a:lnTo>
                    <a:lnTo>
                      <a:pt x="192" y="444"/>
                    </a:lnTo>
                    <a:lnTo>
                      <a:pt x="224" y="455"/>
                    </a:lnTo>
                    <a:lnTo>
                      <a:pt x="256" y="462"/>
                    </a:lnTo>
                    <a:lnTo>
                      <a:pt x="291" y="468"/>
                    </a:lnTo>
                    <a:lnTo>
                      <a:pt x="327" y="471"/>
                    </a:lnTo>
                    <a:lnTo>
                      <a:pt x="365" y="473"/>
                    </a:lnTo>
                    <a:lnTo>
                      <a:pt x="401" y="471"/>
                    </a:lnTo>
                    <a:lnTo>
                      <a:pt x="437" y="468"/>
                    </a:lnTo>
                    <a:lnTo>
                      <a:pt x="471" y="462"/>
                    </a:lnTo>
                    <a:lnTo>
                      <a:pt x="487" y="458"/>
                    </a:lnTo>
                    <a:lnTo>
                      <a:pt x="495" y="456"/>
                    </a:lnTo>
                    <a:lnTo>
                      <a:pt x="499" y="455"/>
                    </a:lnTo>
                    <a:lnTo>
                      <a:pt x="504" y="455"/>
                    </a:lnTo>
                    <a:lnTo>
                      <a:pt x="519" y="449"/>
                    </a:lnTo>
                    <a:lnTo>
                      <a:pt x="535" y="444"/>
                    </a:lnTo>
                    <a:lnTo>
                      <a:pt x="565" y="433"/>
                    </a:lnTo>
                    <a:lnTo>
                      <a:pt x="579" y="425"/>
                    </a:lnTo>
                    <a:lnTo>
                      <a:pt x="586" y="421"/>
                    </a:lnTo>
                    <a:lnTo>
                      <a:pt x="594" y="418"/>
                    </a:lnTo>
                    <a:lnTo>
                      <a:pt x="622" y="403"/>
                    </a:lnTo>
                    <a:lnTo>
                      <a:pt x="647" y="385"/>
                    </a:lnTo>
                    <a:lnTo>
                      <a:pt x="669" y="367"/>
                    </a:lnTo>
                    <a:lnTo>
                      <a:pt x="687" y="346"/>
                    </a:lnTo>
                    <a:lnTo>
                      <a:pt x="703" y="326"/>
                    </a:lnTo>
                    <a:lnTo>
                      <a:pt x="714" y="304"/>
                    </a:lnTo>
                    <a:lnTo>
                      <a:pt x="723" y="282"/>
                    </a:lnTo>
                    <a:lnTo>
                      <a:pt x="725" y="270"/>
                    </a:lnTo>
                    <a:lnTo>
                      <a:pt x="726" y="264"/>
                    </a:lnTo>
                    <a:lnTo>
                      <a:pt x="728" y="259"/>
                    </a:lnTo>
                    <a:lnTo>
                      <a:pt x="729" y="247"/>
                    </a:lnTo>
                    <a:lnTo>
                      <a:pt x="729" y="241"/>
                    </a:lnTo>
                    <a:lnTo>
                      <a:pt x="729" y="238"/>
                    </a:lnTo>
                    <a:lnTo>
                      <a:pt x="730" y="236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8" name="Freeform 1213"/>
              <p:cNvSpPr>
                <a:spLocks/>
              </p:cNvSpPr>
              <p:nvPr/>
            </p:nvSpPr>
            <p:spPr bwMode="auto">
              <a:xfrm>
                <a:off x="1555" y="903"/>
                <a:ext cx="93" cy="60"/>
              </a:xfrm>
              <a:custGeom>
                <a:avLst/>
                <a:gdLst>
                  <a:gd name="T0" fmla="*/ 0 w 371"/>
                  <a:gd name="T1" fmla="*/ 0 h 240"/>
                  <a:gd name="T2" fmla="*/ 0 w 371"/>
                  <a:gd name="T3" fmla="*/ 0 h 240"/>
                  <a:gd name="T4" fmla="*/ 0 w 371"/>
                  <a:gd name="T5" fmla="*/ 0 h 240"/>
                  <a:gd name="T6" fmla="*/ 0 w 371"/>
                  <a:gd name="T7" fmla="*/ 0 h 240"/>
                  <a:gd name="T8" fmla="*/ 0 w 371"/>
                  <a:gd name="T9" fmla="*/ 0 h 240"/>
                  <a:gd name="T10" fmla="*/ 0 w 371"/>
                  <a:gd name="T11" fmla="*/ 0 h 240"/>
                  <a:gd name="T12" fmla="*/ 0 w 371"/>
                  <a:gd name="T13" fmla="*/ 0 h 240"/>
                  <a:gd name="T14" fmla="*/ 0 w 371"/>
                  <a:gd name="T15" fmla="*/ 0 h 240"/>
                  <a:gd name="T16" fmla="*/ 0 w 371"/>
                  <a:gd name="T17" fmla="*/ 0 h 240"/>
                  <a:gd name="T18" fmla="*/ 0 w 371"/>
                  <a:gd name="T19" fmla="*/ 0 h 240"/>
                  <a:gd name="T20" fmla="*/ 0 w 371"/>
                  <a:gd name="T21" fmla="*/ 0 h 240"/>
                  <a:gd name="T22" fmla="*/ 0 w 371"/>
                  <a:gd name="T23" fmla="*/ 0 h 240"/>
                  <a:gd name="T24" fmla="*/ 0 w 371"/>
                  <a:gd name="T25" fmla="*/ 0 h 240"/>
                  <a:gd name="T26" fmla="*/ 0 w 371"/>
                  <a:gd name="T27" fmla="*/ 0 h 240"/>
                  <a:gd name="T28" fmla="*/ 0 w 371"/>
                  <a:gd name="T29" fmla="*/ 0 h 240"/>
                  <a:gd name="T30" fmla="*/ 0 w 371"/>
                  <a:gd name="T31" fmla="*/ 0 h 240"/>
                  <a:gd name="T32" fmla="*/ 0 w 371"/>
                  <a:gd name="T33" fmla="*/ 0 h 240"/>
                  <a:gd name="T34" fmla="*/ 0 w 371"/>
                  <a:gd name="T35" fmla="*/ 0 h 240"/>
                  <a:gd name="T36" fmla="*/ 0 w 371"/>
                  <a:gd name="T37" fmla="*/ 0 h 240"/>
                  <a:gd name="T38" fmla="*/ 0 w 371"/>
                  <a:gd name="T39" fmla="*/ 0 h 240"/>
                  <a:gd name="T40" fmla="*/ 0 w 371"/>
                  <a:gd name="T41" fmla="*/ 0 h 240"/>
                  <a:gd name="T42" fmla="*/ 0 w 371"/>
                  <a:gd name="T43" fmla="*/ 0 h 240"/>
                  <a:gd name="T44" fmla="*/ 0 w 371"/>
                  <a:gd name="T45" fmla="*/ 0 h 240"/>
                  <a:gd name="T46" fmla="*/ 0 w 371"/>
                  <a:gd name="T47" fmla="*/ 0 h 240"/>
                  <a:gd name="T48" fmla="*/ 0 w 371"/>
                  <a:gd name="T49" fmla="*/ 0 h 240"/>
                  <a:gd name="T50" fmla="*/ 0 w 371"/>
                  <a:gd name="T51" fmla="*/ 0 h 240"/>
                  <a:gd name="T52" fmla="*/ 0 w 371"/>
                  <a:gd name="T53" fmla="*/ 0 h 240"/>
                  <a:gd name="T54" fmla="*/ 0 w 371"/>
                  <a:gd name="T55" fmla="*/ 0 h 240"/>
                  <a:gd name="T56" fmla="*/ 0 w 371"/>
                  <a:gd name="T57" fmla="*/ 0 h 240"/>
                  <a:gd name="T58" fmla="*/ 0 w 371"/>
                  <a:gd name="T59" fmla="*/ 0 h 240"/>
                  <a:gd name="T60" fmla="*/ 0 w 371"/>
                  <a:gd name="T61" fmla="*/ 0 h 240"/>
                  <a:gd name="T62" fmla="*/ 0 w 371"/>
                  <a:gd name="T63" fmla="*/ 0 h 240"/>
                  <a:gd name="T64" fmla="*/ 0 w 371"/>
                  <a:gd name="T65" fmla="*/ 0 h 240"/>
                  <a:gd name="T66" fmla="*/ 0 w 371"/>
                  <a:gd name="T67" fmla="*/ 0 h 240"/>
                  <a:gd name="T68" fmla="*/ 0 w 371"/>
                  <a:gd name="T69" fmla="*/ 0 h 240"/>
                  <a:gd name="T70" fmla="*/ 0 w 371"/>
                  <a:gd name="T71" fmla="*/ 0 h 240"/>
                  <a:gd name="T72" fmla="*/ 0 w 371"/>
                  <a:gd name="T73" fmla="*/ 0 h 240"/>
                  <a:gd name="T74" fmla="*/ 0 w 371"/>
                  <a:gd name="T75" fmla="*/ 0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71"/>
                  <a:gd name="T115" fmla="*/ 0 h 240"/>
                  <a:gd name="T116" fmla="*/ 371 w 371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71" h="240">
                    <a:moveTo>
                      <a:pt x="371" y="120"/>
                    </a:moveTo>
                    <a:lnTo>
                      <a:pt x="370" y="107"/>
                    </a:lnTo>
                    <a:lnTo>
                      <a:pt x="367" y="95"/>
                    </a:lnTo>
                    <a:lnTo>
                      <a:pt x="362" y="83"/>
                    </a:lnTo>
                    <a:lnTo>
                      <a:pt x="357" y="73"/>
                    </a:lnTo>
                    <a:lnTo>
                      <a:pt x="348" y="62"/>
                    </a:lnTo>
                    <a:lnTo>
                      <a:pt x="339" y="52"/>
                    </a:lnTo>
                    <a:lnTo>
                      <a:pt x="328" y="43"/>
                    </a:lnTo>
                    <a:lnTo>
                      <a:pt x="316" y="35"/>
                    </a:lnTo>
                    <a:lnTo>
                      <a:pt x="301" y="26"/>
                    </a:lnTo>
                    <a:lnTo>
                      <a:pt x="287" y="19"/>
                    </a:lnTo>
                    <a:lnTo>
                      <a:pt x="271" y="12"/>
                    </a:lnTo>
                    <a:lnTo>
                      <a:pt x="256" y="8"/>
                    </a:lnTo>
                    <a:lnTo>
                      <a:pt x="239" y="4"/>
                    </a:lnTo>
                    <a:lnTo>
                      <a:pt x="222" y="2"/>
                    </a:lnTo>
                    <a:lnTo>
                      <a:pt x="204" y="0"/>
                    </a:lnTo>
                    <a:lnTo>
                      <a:pt x="186" y="0"/>
                    </a:lnTo>
                    <a:lnTo>
                      <a:pt x="166" y="0"/>
                    </a:lnTo>
                    <a:lnTo>
                      <a:pt x="148" y="2"/>
                    </a:lnTo>
                    <a:lnTo>
                      <a:pt x="130" y="4"/>
                    </a:lnTo>
                    <a:lnTo>
                      <a:pt x="114" y="8"/>
                    </a:lnTo>
                    <a:lnTo>
                      <a:pt x="97" y="12"/>
                    </a:lnTo>
                    <a:lnTo>
                      <a:pt x="82" y="19"/>
                    </a:lnTo>
                    <a:lnTo>
                      <a:pt x="67" y="26"/>
                    </a:lnTo>
                    <a:lnTo>
                      <a:pt x="54" y="35"/>
                    </a:lnTo>
                    <a:lnTo>
                      <a:pt x="41" y="43"/>
                    </a:lnTo>
                    <a:lnTo>
                      <a:pt x="30" y="52"/>
                    </a:lnTo>
                    <a:lnTo>
                      <a:pt x="13" y="73"/>
                    </a:lnTo>
                    <a:lnTo>
                      <a:pt x="6" y="83"/>
                    </a:lnTo>
                    <a:lnTo>
                      <a:pt x="3" y="95"/>
                    </a:lnTo>
                    <a:lnTo>
                      <a:pt x="0" y="120"/>
                    </a:lnTo>
                    <a:lnTo>
                      <a:pt x="0" y="131"/>
                    </a:lnTo>
                    <a:lnTo>
                      <a:pt x="3" y="143"/>
                    </a:lnTo>
                    <a:lnTo>
                      <a:pt x="6" y="154"/>
                    </a:lnTo>
                    <a:lnTo>
                      <a:pt x="13" y="166"/>
                    </a:lnTo>
                    <a:lnTo>
                      <a:pt x="20" y="175"/>
                    </a:lnTo>
                    <a:lnTo>
                      <a:pt x="30" y="185"/>
                    </a:lnTo>
                    <a:lnTo>
                      <a:pt x="41" y="194"/>
                    </a:lnTo>
                    <a:lnTo>
                      <a:pt x="54" y="204"/>
                    </a:lnTo>
                    <a:lnTo>
                      <a:pt x="67" y="212"/>
                    </a:lnTo>
                    <a:lnTo>
                      <a:pt x="82" y="219"/>
                    </a:lnTo>
                    <a:lnTo>
                      <a:pt x="97" y="225"/>
                    </a:lnTo>
                    <a:lnTo>
                      <a:pt x="114" y="231"/>
                    </a:lnTo>
                    <a:lnTo>
                      <a:pt x="130" y="234"/>
                    </a:lnTo>
                    <a:lnTo>
                      <a:pt x="148" y="237"/>
                    </a:lnTo>
                    <a:lnTo>
                      <a:pt x="166" y="239"/>
                    </a:lnTo>
                    <a:lnTo>
                      <a:pt x="186" y="240"/>
                    </a:lnTo>
                    <a:lnTo>
                      <a:pt x="204" y="239"/>
                    </a:lnTo>
                    <a:lnTo>
                      <a:pt x="222" y="237"/>
                    </a:lnTo>
                    <a:lnTo>
                      <a:pt x="230" y="235"/>
                    </a:lnTo>
                    <a:lnTo>
                      <a:pt x="234" y="234"/>
                    </a:lnTo>
                    <a:lnTo>
                      <a:pt x="239" y="234"/>
                    </a:lnTo>
                    <a:lnTo>
                      <a:pt x="247" y="232"/>
                    </a:lnTo>
                    <a:lnTo>
                      <a:pt x="251" y="231"/>
                    </a:lnTo>
                    <a:lnTo>
                      <a:pt x="256" y="231"/>
                    </a:lnTo>
                    <a:lnTo>
                      <a:pt x="271" y="225"/>
                    </a:lnTo>
                    <a:lnTo>
                      <a:pt x="287" y="219"/>
                    </a:lnTo>
                    <a:lnTo>
                      <a:pt x="301" y="212"/>
                    </a:lnTo>
                    <a:lnTo>
                      <a:pt x="316" y="204"/>
                    </a:lnTo>
                    <a:lnTo>
                      <a:pt x="328" y="194"/>
                    </a:lnTo>
                    <a:lnTo>
                      <a:pt x="330" y="191"/>
                    </a:lnTo>
                    <a:lnTo>
                      <a:pt x="333" y="189"/>
                    </a:lnTo>
                    <a:lnTo>
                      <a:pt x="339" y="185"/>
                    </a:lnTo>
                    <a:lnTo>
                      <a:pt x="348" y="175"/>
                    </a:lnTo>
                    <a:lnTo>
                      <a:pt x="352" y="170"/>
                    </a:lnTo>
                    <a:lnTo>
                      <a:pt x="357" y="166"/>
                    </a:lnTo>
                    <a:lnTo>
                      <a:pt x="362" y="154"/>
                    </a:lnTo>
                    <a:lnTo>
                      <a:pt x="364" y="148"/>
                    </a:lnTo>
                    <a:lnTo>
                      <a:pt x="364" y="146"/>
                    </a:lnTo>
                    <a:lnTo>
                      <a:pt x="364" y="145"/>
                    </a:lnTo>
                    <a:lnTo>
                      <a:pt x="365" y="145"/>
                    </a:lnTo>
                    <a:lnTo>
                      <a:pt x="367" y="143"/>
                    </a:lnTo>
                    <a:lnTo>
                      <a:pt x="370" y="131"/>
                    </a:lnTo>
                    <a:lnTo>
                      <a:pt x="370" y="125"/>
                    </a:lnTo>
                    <a:lnTo>
                      <a:pt x="370" y="122"/>
                    </a:lnTo>
                    <a:lnTo>
                      <a:pt x="371" y="120"/>
                    </a:lnTo>
                  </a:path>
                </a:pathLst>
              </a:custGeom>
              <a:noFill/>
              <a:ln w="1651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79" name="Freeform 1214"/>
              <p:cNvSpPr>
                <a:spLocks/>
              </p:cNvSpPr>
              <p:nvPr/>
            </p:nvSpPr>
            <p:spPr bwMode="auto">
              <a:xfrm>
                <a:off x="1576" y="900"/>
                <a:ext cx="51" cy="31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29" y="18"/>
                    </a:move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780" name="Freeform 1215"/>
              <p:cNvSpPr>
                <a:spLocks/>
              </p:cNvSpPr>
              <p:nvPr/>
            </p:nvSpPr>
            <p:spPr bwMode="auto">
              <a:xfrm>
                <a:off x="1576" y="900"/>
                <a:ext cx="51" cy="31"/>
              </a:xfrm>
              <a:custGeom>
                <a:avLst/>
                <a:gdLst>
                  <a:gd name="T0" fmla="*/ 0 w 204"/>
                  <a:gd name="T1" fmla="*/ 0 h 122"/>
                  <a:gd name="T2" fmla="*/ 0 w 204"/>
                  <a:gd name="T3" fmla="*/ 0 h 122"/>
                  <a:gd name="T4" fmla="*/ 0 w 204"/>
                  <a:gd name="T5" fmla="*/ 0 h 122"/>
                  <a:gd name="T6" fmla="*/ 0 w 204"/>
                  <a:gd name="T7" fmla="*/ 0 h 122"/>
                  <a:gd name="T8" fmla="*/ 0 w 204"/>
                  <a:gd name="T9" fmla="*/ 0 h 122"/>
                  <a:gd name="T10" fmla="*/ 0 w 204"/>
                  <a:gd name="T11" fmla="*/ 0 h 122"/>
                  <a:gd name="T12" fmla="*/ 0 w 204"/>
                  <a:gd name="T13" fmla="*/ 0 h 122"/>
                  <a:gd name="T14" fmla="*/ 0 w 204"/>
                  <a:gd name="T15" fmla="*/ 0 h 122"/>
                  <a:gd name="T16" fmla="*/ 0 w 204"/>
                  <a:gd name="T17" fmla="*/ 0 h 122"/>
                  <a:gd name="T18" fmla="*/ 0 w 204"/>
                  <a:gd name="T19" fmla="*/ 0 h 122"/>
                  <a:gd name="T20" fmla="*/ 0 w 204"/>
                  <a:gd name="T21" fmla="*/ 0 h 122"/>
                  <a:gd name="T22" fmla="*/ 0 w 204"/>
                  <a:gd name="T23" fmla="*/ 0 h 122"/>
                  <a:gd name="T24" fmla="*/ 0 w 204"/>
                  <a:gd name="T25" fmla="*/ 0 h 122"/>
                  <a:gd name="T26" fmla="*/ 0 w 204"/>
                  <a:gd name="T27" fmla="*/ 0 h 122"/>
                  <a:gd name="T28" fmla="*/ 0 w 204"/>
                  <a:gd name="T29" fmla="*/ 0 h 122"/>
                  <a:gd name="T30" fmla="*/ 0 w 204"/>
                  <a:gd name="T31" fmla="*/ 0 h 122"/>
                  <a:gd name="T32" fmla="*/ 0 w 204"/>
                  <a:gd name="T33" fmla="*/ 0 h 122"/>
                  <a:gd name="T34" fmla="*/ 0 w 204"/>
                  <a:gd name="T35" fmla="*/ 0 h 122"/>
                  <a:gd name="T36" fmla="*/ 0 w 204"/>
                  <a:gd name="T37" fmla="*/ 0 h 122"/>
                  <a:gd name="T38" fmla="*/ 0 w 204"/>
                  <a:gd name="T39" fmla="*/ 0 h 122"/>
                  <a:gd name="T40" fmla="*/ 0 w 204"/>
                  <a:gd name="T41" fmla="*/ 0 h 122"/>
                  <a:gd name="T42" fmla="*/ 0 w 204"/>
                  <a:gd name="T43" fmla="*/ 0 h 122"/>
                  <a:gd name="T44" fmla="*/ 0 w 204"/>
                  <a:gd name="T45" fmla="*/ 0 h 122"/>
                  <a:gd name="T46" fmla="*/ 0 w 204"/>
                  <a:gd name="T47" fmla="*/ 0 h 122"/>
                  <a:gd name="T48" fmla="*/ 0 w 204"/>
                  <a:gd name="T49" fmla="*/ 0 h 122"/>
                  <a:gd name="T50" fmla="*/ 0 w 204"/>
                  <a:gd name="T51" fmla="*/ 0 h 122"/>
                  <a:gd name="T52" fmla="*/ 0 w 204"/>
                  <a:gd name="T53" fmla="*/ 0 h 122"/>
                  <a:gd name="T54" fmla="*/ 0 w 204"/>
                  <a:gd name="T55" fmla="*/ 0 h 122"/>
                  <a:gd name="T56" fmla="*/ 0 w 204"/>
                  <a:gd name="T57" fmla="*/ 0 h 122"/>
                  <a:gd name="T58" fmla="*/ 0 w 204"/>
                  <a:gd name="T59" fmla="*/ 0 h 122"/>
                  <a:gd name="T60" fmla="*/ 0 w 204"/>
                  <a:gd name="T61" fmla="*/ 0 h 122"/>
                  <a:gd name="T62" fmla="*/ 0 w 204"/>
                  <a:gd name="T63" fmla="*/ 0 h 122"/>
                  <a:gd name="T64" fmla="*/ 0 w 204"/>
                  <a:gd name="T65" fmla="*/ 0 h 122"/>
                  <a:gd name="T66" fmla="*/ 0 w 204"/>
                  <a:gd name="T67" fmla="*/ 0 h 122"/>
                  <a:gd name="T68" fmla="*/ 0 w 204"/>
                  <a:gd name="T69" fmla="*/ 0 h 122"/>
                  <a:gd name="T70" fmla="*/ 0 w 204"/>
                  <a:gd name="T71" fmla="*/ 0 h 122"/>
                  <a:gd name="T72" fmla="*/ 0 w 204"/>
                  <a:gd name="T73" fmla="*/ 0 h 122"/>
                  <a:gd name="T74" fmla="*/ 0 w 204"/>
                  <a:gd name="T75" fmla="*/ 0 h 12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4"/>
                  <a:gd name="T115" fmla="*/ 0 h 122"/>
                  <a:gd name="T116" fmla="*/ 204 w 204"/>
                  <a:gd name="T117" fmla="*/ 122 h 12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4" h="122">
                    <a:moveTo>
                      <a:pt x="0" y="61"/>
                    </a:moveTo>
                    <a:lnTo>
                      <a:pt x="1" y="72"/>
                    </a:lnTo>
                    <a:lnTo>
                      <a:pt x="7" y="84"/>
                    </a:lnTo>
                    <a:lnTo>
                      <a:pt x="15" y="94"/>
                    </a:lnTo>
                    <a:lnTo>
                      <a:pt x="29" y="104"/>
                    </a:lnTo>
                    <a:lnTo>
                      <a:pt x="44" y="111"/>
                    </a:lnTo>
                    <a:lnTo>
                      <a:pt x="62" y="116"/>
                    </a:lnTo>
                    <a:lnTo>
                      <a:pt x="81" y="119"/>
                    </a:lnTo>
                    <a:lnTo>
                      <a:pt x="102" y="122"/>
                    </a:lnTo>
                    <a:lnTo>
                      <a:pt x="111" y="120"/>
                    </a:lnTo>
                    <a:lnTo>
                      <a:pt x="121" y="119"/>
                    </a:lnTo>
                    <a:lnTo>
                      <a:pt x="130" y="117"/>
                    </a:lnTo>
                    <a:lnTo>
                      <a:pt x="140" y="116"/>
                    </a:lnTo>
                    <a:lnTo>
                      <a:pt x="148" y="113"/>
                    </a:lnTo>
                    <a:lnTo>
                      <a:pt x="157" y="111"/>
                    </a:lnTo>
                    <a:lnTo>
                      <a:pt x="173" y="104"/>
                    </a:lnTo>
                    <a:lnTo>
                      <a:pt x="186" y="94"/>
                    </a:lnTo>
                    <a:lnTo>
                      <a:pt x="196" y="84"/>
                    </a:lnTo>
                    <a:lnTo>
                      <a:pt x="202" y="72"/>
                    </a:lnTo>
                    <a:lnTo>
                      <a:pt x="203" y="66"/>
                    </a:lnTo>
                    <a:lnTo>
                      <a:pt x="203" y="63"/>
                    </a:lnTo>
                    <a:lnTo>
                      <a:pt x="204" y="61"/>
                    </a:lnTo>
                    <a:lnTo>
                      <a:pt x="202" y="48"/>
                    </a:lnTo>
                    <a:lnTo>
                      <a:pt x="196" y="37"/>
                    </a:lnTo>
                    <a:lnTo>
                      <a:pt x="186" y="27"/>
                    </a:lnTo>
                    <a:lnTo>
                      <a:pt x="173" y="18"/>
                    </a:lnTo>
                    <a:lnTo>
                      <a:pt x="157" y="9"/>
                    </a:lnTo>
                    <a:lnTo>
                      <a:pt x="140" y="4"/>
                    </a:lnTo>
                    <a:lnTo>
                      <a:pt x="121" y="1"/>
                    </a:lnTo>
                    <a:lnTo>
                      <a:pt x="102" y="0"/>
                    </a:lnTo>
                    <a:lnTo>
                      <a:pt x="81" y="1"/>
                    </a:lnTo>
                    <a:lnTo>
                      <a:pt x="62" y="4"/>
                    </a:lnTo>
                    <a:lnTo>
                      <a:pt x="44" y="9"/>
                    </a:lnTo>
                    <a:lnTo>
                      <a:pt x="29" y="18"/>
                    </a:lnTo>
                    <a:lnTo>
                      <a:pt x="15" y="27"/>
                    </a:lnTo>
                    <a:lnTo>
                      <a:pt x="7" y="37"/>
                    </a:lnTo>
                    <a:lnTo>
                      <a:pt x="1" y="48"/>
                    </a:lnTo>
                    <a:lnTo>
                      <a:pt x="0" y="61"/>
                    </a:lnTo>
                  </a:path>
                </a:pathLst>
              </a:custGeom>
              <a:gradFill rotWithShape="1">
                <a:gsLst>
                  <a:gs pos="0">
                    <a:srgbClr val="86BAB5"/>
                  </a:gs>
                  <a:gs pos="100000">
                    <a:srgbClr val="5B7E7B"/>
                  </a:gs>
                </a:gsLst>
                <a:lin ang="2700000" scaled="1"/>
              </a:gra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ru-RU"/>
              </a:p>
            </p:txBody>
          </p:sp>
        </p:grpSp>
        <p:sp>
          <p:nvSpPr>
            <p:cNvPr id="15383" name="AutoShape 1216"/>
            <p:cNvSpPr>
              <a:spLocks/>
            </p:cNvSpPr>
            <p:nvPr/>
          </p:nvSpPr>
          <p:spPr bwMode="auto">
            <a:xfrm rot="10800000">
              <a:off x="624" y="1056"/>
              <a:ext cx="336" cy="1440"/>
            </a:xfrm>
            <a:prstGeom prst="rightBrace">
              <a:avLst>
                <a:gd name="adj1" fmla="val 35714"/>
                <a:gd name="adj2" fmla="val 50000"/>
              </a:avLst>
            </a:prstGeom>
            <a:noFill/>
            <a:ln w="12700">
              <a:solidFill>
                <a:srgbClr val="FF00FF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5384" name="Text Box 1217"/>
            <p:cNvSpPr txBox="1">
              <a:spLocks noChangeArrowheads="1"/>
            </p:cNvSpPr>
            <p:nvPr/>
          </p:nvSpPr>
          <p:spPr bwMode="auto">
            <a:xfrm>
              <a:off x="316" y="1709"/>
              <a:ext cx="260" cy="11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200" b="1">
                  <a:latin typeface="Verdana" pitchFamily="34" charset="0"/>
                </a:rPr>
                <a:t>Strip</a:t>
              </a:r>
            </a:p>
          </p:txBody>
        </p:sp>
        <p:grpSp>
          <p:nvGrpSpPr>
            <p:cNvPr id="15385" name="Group 1218"/>
            <p:cNvGrpSpPr>
              <a:grpSpLocks/>
            </p:cNvGrpSpPr>
            <p:nvPr/>
          </p:nvGrpSpPr>
          <p:grpSpPr bwMode="auto">
            <a:xfrm>
              <a:off x="1094" y="672"/>
              <a:ext cx="4080" cy="499"/>
              <a:chOff x="1440" y="2477"/>
              <a:chExt cx="3360" cy="499"/>
            </a:xfrm>
          </p:grpSpPr>
          <p:sp>
            <p:nvSpPr>
              <p:cNvPr id="15386" name="AutoShape 1219"/>
              <p:cNvSpPr>
                <a:spLocks/>
              </p:cNvSpPr>
              <p:nvPr/>
            </p:nvSpPr>
            <p:spPr bwMode="auto">
              <a:xfrm rot="-5400000">
                <a:off x="2928" y="1104"/>
                <a:ext cx="384" cy="3360"/>
              </a:xfrm>
              <a:prstGeom prst="rightBrace">
                <a:avLst>
                  <a:gd name="adj1" fmla="val 72917"/>
                  <a:gd name="adj2" fmla="val 50000"/>
                </a:avLst>
              </a:prstGeom>
              <a:noFill/>
              <a:ln w="12700">
                <a:solidFill>
                  <a:srgbClr val="FF00FF"/>
                </a:solidFill>
                <a:round/>
                <a:headEnd/>
                <a:tailEnd type="none" w="lg" len="med"/>
              </a:ln>
            </p:spPr>
            <p:txBody>
              <a:bodyPr wrap="none" lIns="0" tIns="0" rIns="0" bIns="0" anchor="ctr"/>
              <a:lstStyle/>
              <a:p>
                <a:endParaRPr lang="ru-RU" altLang="ru-RU"/>
              </a:p>
            </p:txBody>
          </p:sp>
          <p:sp>
            <p:nvSpPr>
              <p:cNvPr id="15387" name="Text Box 1220"/>
              <p:cNvSpPr txBox="1">
                <a:spLocks noChangeArrowheads="1"/>
              </p:cNvSpPr>
              <p:nvPr/>
            </p:nvSpPr>
            <p:spPr bwMode="auto">
              <a:xfrm>
                <a:off x="2544" y="2477"/>
                <a:ext cx="1152" cy="11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 type="none" w="lg" len="med"/>
              </a:ln>
            </p:spPr>
            <p:txBody>
              <a:bodyPr lIns="0" tIns="0" rIns="0" bIns="0">
                <a:spAutoFit/>
              </a:bodyPr>
              <a:lstStyle/>
              <a:p>
                <a:pPr marL="354013" indent="-354013" defTabSz="941388"/>
                <a:r>
                  <a:rPr lang="en-US" altLang="ru-RU" sz="1200" b="1">
                    <a:latin typeface="Verdana" pitchFamily="34" charset="0"/>
                  </a:rPr>
                  <a:t>Stripe</a:t>
                </a:r>
              </a:p>
            </p:txBody>
          </p:sp>
        </p:grpSp>
      </p:grpSp>
      <p:sp>
        <p:nvSpPr>
          <p:cNvPr id="15371" name="Text Box 1221"/>
          <p:cNvSpPr txBox="1">
            <a:spLocks noChangeArrowheads="1"/>
          </p:cNvSpPr>
          <p:nvPr/>
        </p:nvSpPr>
        <p:spPr bwMode="auto">
          <a:xfrm>
            <a:off x="4043363" y="4902200"/>
            <a:ext cx="1430337" cy="182563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ru-RU" sz="1200" b="1">
                <a:latin typeface="Verdana" pitchFamily="34" charset="0"/>
              </a:rPr>
              <a:t>Strip 2=64KB</a:t>
            </a:r>
          </a:p>
        </p:txBody>
      </p:sp>
      <p:grpSp>
        <p:nvGrpSpPr>
          <p:cNvPr id="15372" name="Группа 6"/>
          <p:cNvGrpSpPr>
            <a:grpSpLocks/>
          </p:cNvGrpSpPr>
          <p:nvPr/>
        </p:nvGrpSpPr>
        <p:grpSpPr bwMode="auto">
          <a:xfrm>
            <a:off x="3494088" y="4902200"/>
            <a:ext cx="4430712" cy="1757363"/>
            <a:chOff x="3494088" y="4902200"/>
            <a:chExt cx="4430712" cy="1757363"/>
          </a:xfrm>
        </p:grpSpPr>
        <p:sp>
          <p:nvSpPr>
            <p:cNvPr id="15375" name="Text Box 7"/>
            <p:cNvSpPr txBox="1">
              <a:spLocks noChangeArrowheads="1"/>
            </p:cNvSpPr>
            <p:nvPr/>
          </p:nvSpPr>
          <p:spPr bwMode="auto">
            <a:xfrm>
              <a:off x="3494088" y="6477000"/>
              <a:ext cx="503237" cy="18256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200" b="1">
                  <a:solidFill>
                    <a:srgbClr val="000610"/>
                  </a:solidFill>
                  <a:latin typeface="Verdana" pitchFamily="34" charset="0"/>
                </a:rPr>
                <a:t>Strips</a:t>
              </a:r>
            </a:p>
          </p:txBody>
        </p:sp>
        <p:grpSp>
          <p:nvGrpSpPr>
            <p:cNvPr id="15376" name="Группа 5"/>
            <p:cNvGrpSpPr>
              <a:grpSpLocks/>
            </p:cNvGrpSpPr>
            <p:nvPr/>
          </p:nvGrpSpPr>
          <p:grpSpPr bwMode="auto">
            <a:xfrm>
              <a:off x="5741988" y="4902200"/>
              <a:ext cx="2182812" cy="812800"/>
              <a:chOff x="5741988" y="4902200"/>
              <a:chExt cx="2182812" cy="812800"/>
            </a:xfrm>
          </p:grpSpPr>
          <p:sp>
            <p:nvSpPr>
              <p:cNvPr id="15377" name="Line 27"/>
              <p:cNvSpPr>
                <a:spLocks noChangeShapeType="1"/>
              </p:cNvSpPr>
              <p:nvPr/>
            </p:nvSpPr>
            <p:spPr bwMode="auto">
              <a:xfrm>
                <a:off x="7391400" y="5181600"/>
                <a:ext cx="533400" cy="533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ysDot"/>
                <a:round/>
                <a:headEnd/>
                <a:tailEnd type="none" w="lg" len="med"/>
              </a:ln>
            </p:spPr>
            <p:txBody>
              <a:bodyPr lIns="0" tIns="0" rIns="0" bIns="0"/>
              <a:lstStyle/>
              <a:p>
                <a:endParaRPr lang="ru-RU"/>
              </a:p>
            </p:txBody>
          </p:sp>
          <p:sp>
            <p:nvSpPr>
              <p:cNvPr id="15378" name="Text Box 1222"/>
              <p:cNvSpPr txBox="1">
                <a:spLocks noChangeArrowheads="1"/>
              </p:cNvSpPr>
              <p:nvPr/>
            </p:nvSpPr>
            <p:spPr bwMode="auto">
              <a:xfrm>
                <a:off x="5741988" y="4902200"/>
                <a:ext cx="1430337" cy="182563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 type="none" w="lg" len="med"/>
              </a:ln>
            </p:spPr>
            <p:txBody>
              <a:bodyPr lIns="0" tIns="0" rIns="0" bIns="0">
                <a:spAutoFit/>
              </a:bodyPr>
              <a:lstStyle/>
              <a:p>
                <a:pPr marL="354013" indent="-354013" defTabSz="941388"/>
                <a:r>
                  <a:rPr lang="en-US" altLang="ru-RU" sz="1200" b="1">
                    <a:latin typeface="Verdana" pitchFamily="34" charset="0"/>
                  </a:rPr>
                  <a:t>Strip 3=64KB</a:t>
                </a:r>
              </a:p>
            </p:txBody>
          </p:sp>
        </p:grpSp>
      </p:grp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13880" y="3785379"/>
            <a:ext cx="346868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ru-RU" altLang="ru-RU" sz="1400" dirty="0"/>
              <a:t>Совокупность блоков одного диска со смежной адресацией – </a:t>
            </a:r>
            <a:r>
              <a:rPr lang="ru-RU" altLang="ru-RU" sz="1400" b="1" dirty="0">
                <a:solidFill>
                  <a:srgbClr val="C00000"/>
                </a:solidFill>
              </a:rPr>
              <a:t>полоса (</a:t>
            </a:r>
            <a:r>
              <a:rPr lang="en-US" altLang="ru-RU" sz="1400" b="1" dirty="0">
                <a:solidFill>
                  <a:srgbClr val="C00000"/>
                </a:solidFill>
              </a:rPr>
              <a:t>strip</a:t>
            </a:r>
            <a:r>
              <a:rPr lang="en-US" altLang="ru-RU" sz="1400" dirty="0"/>
              <a:t>)</a:t>
            </a:r>
            <a:endParaRPr lang="ru-RU" altLang="ru-RU" sz="1400" dirty="0"/>
          </a:p>
        </p:txBody>
      </p:sp>
      <p:sp>
        <p:nvSpPr>
          <p:cNvPr id="1224" name="TextBox 1223"/>
          <p:cNvSpPr txBox="1">
            <a:spLocks noChangeArrowheads="1"/>
          </p:cNvSpPr>
          <p:nvPr/>
        </p:nvSpPr>
        <p:spPr bwMode="auto">
          <a:xfrm>
            <a:off x="5673725" y="3733620"/>
            <a:ext cx="34702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ru-RU" altLang="ru-RU" sz="1400" dirty="0"/>
              <a:t>Совокупность полос всех дисков </a:t>
            </a:r>
            <a:r>
              <a:rPr lang="en-US" altLang="ru-RU" sz="1400" dirty="0"/>
              <a:t>RAID</a:t>
            </a:r>
            <a:r>
              <a:rPr lang="ru-RU" altLang="ru-RU" sz="1400" dirty="0"/>
              <a:t> группы – </a:t>
            </a:r>
            <a:r>
              <a:rPr lang="ru-RU" altLang="ru-RU" sz="1400" b="1" dirty="0">
                <a:solidFill>
                  <a:srgbClr val="C00000"/>
                </a:solidFill>
              </a:rPr>
              <a:t>дорожка (</a:t>
            </a:r>
            <a:r>
              <a:rPr lang="en-US" altLang="ru-RU" sz="1400" b="1" dirty="0">
                <a:solidFill>
                  <a:srgbClr val="C00000"/>
                </a:solidFill>
              </a:rPr>
              <a:t>stripe</a:t>
            </a:r>
            <a:r>
              <a:rPr lang="en-US" altLang="ru-RU" sz="1400" dirty="0"/>
              <a:t>)</a:t>
            </a:r>
            <a:endParaRPr lang="ru-RU" altLang="ru-RU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Grp="1" noChangeArrowheads="1"/>
          </p:cNvSpPr>
          <p:nvPr>
            <p:ph type="title"/>
          </p:nvPr>
        </p:nvSpPr>
        <p:spPr>
          <a:xfrm>
            <a:off x="584617" y="272658"/>
            <a:ext cx="8259580" cy="641740"/>
          </a:xfrm>
        </p:spPr>
        <p:txBody>
          <a:bodyPr/>
          <a:lstStyle/>
          <a:p>
            <a:pPr algn="ctr" eaLnBrk="1" hangingPunct="1"/>
            <a:r>
              <a:rPr lang="en-US" altLang="ru-RU" sz="3600" dirty="0">
                <a:solidFill>
                  <a:schemeClr val="bg2"/>
                </a:solidFill>
              </a:rPr>
              <a:t>RAID 0</a:t>
            </a:r>
            <a:r>
              <a:rPr lang="ru-RU" altLang="ru-RU" sz="3600" dirty="0">
                <a:solidFill>
                  <a:schemeClr val="bg2"/>
                </a:solidFill>
              </a:rPr>
              <a:t> – распределенный  массив </a:t>
            </a:r>
            <a:endParaRPr lang="en-US" altLang="ru-RU" sz="3600" dirty="0">
              <a:solidFill>
                <a:schemeClr val="bg2"/>
              </a:solidFill>
            </a:endParaRPr>
          </a:p>
        </p:txBody>
      </p:sp>
      <p:sp>
        <p:nvSpPr>
          <p:cNvPr id="17411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706C79B4-BD76-4738-9EA4-F0087CB90AE9}" type="slidenum">
              <a:rPr lang="en-US" altLang="ru-RU" sz="800" smtClean="0"/>
              <a:pPr/>
              <a:t>15</a:t>
            </a:fld>
            <a:endParaRPr lang="en-US" altLang="ru-RU" sz="800"/>
          </a:p>
        </p:txBody>
      </p:sp>
      <p:sp>
        <p:nvSpPr>
          <p:cNvPr id="17413" name="Line 2"/>
          <p:cNvSpPr>
            <a:spLocks noChangeShapeType="1"/>
          </p:cNvSpPr>
          <p:nvPr/>
        </p:nvSpPr>
        <p:spPr bwMode="auto">
          <a:xfrm>
            <a:off x="5392738" y="2824163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17414" name="Line 3"/>
          <p:cNvSpPr>
            <a:spLocks noChangeShapeType="1"/>
          </p:cNvSpPr>
          <p:nvPr/>
        </p:nvSpPr>
        <p:spPr bwMode="auto">
          <a:xfrm>
            <a:off x="1400175" y="3817938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17415" name="Line 4"/>
          <p:cNvSpPr>
            <a:spLocks noChangeShapeType="1"/>
          </p:cNvSpPr>
          <p:nvPr/>
        </p:nvSpPr>
        <p:spPr bwMode="auto">
          <a:xfrm>
            <a:off x="5392738" y="4810125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17416" name="Freeform 5"/>
          <p:cNvSpPr>
            <a:spLocks/>
          </p:cNvSpPr>
          <p:nvPr/>
        </p:nvSpPr>
        <p:spPr bwMode="auto">
          <a:xfrm>
            <a:off x="5392738" y="1827213"/>
            <a:ext cx="641350" cy="3968750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pic>
        <p:nvPicPr>
          <p:cNvPr id="17417" name="Picture 6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7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9" name="Picture 8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9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1" name="Picture 10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22" name="Text Box 12"/>
          <p:cNvSpPr txBox="1">
            <a:spLocks noChangeArrowheads="1"/>
          </p:cNvSpPr>
          <p:nvPr/>
        </p:nvSpPr>
        <p:spPr bwMode="auto">
          <a:xfrm>
            <a:off x="7888288" y="2446338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423" name="Text Box 13"/>
          <p:cNvSpPr txBox="1">
            <a:spLocks noChangeArrowheads="1"/>
          </p:cNvSpPr>
          <p:nvPr/>
        </p:nvSpPr>
        <p:spPr bwMode="auto">
          <a:xfrm>
            <a:off x="7878763" y="29384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7424" name="Text Box 14"/>
          <p:cNvSpPr txBox="1">
            <a:spLocks noChangeArrowheads="1"/>
          </p:cNvSpPr>
          <p:nvPr/>
        </p:nvSpPr>
        <p:spPr bwMode="auto">
          <a:xfrm>
            <a:off x="7885113" y="26971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425" name="Text Box 15"/>
          <p:cNvSpPr txBox="1">
            <a:spLocks noChangeArrowheads="1"/>
          </p:cNvSpPr>
          <p:nvPr/>
        </p:nvSpPr>
        <p:spPr bwMode="auto">
          <a:xfrm>
            <a:off x="7888288" y="3475038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426" name="Text Box 16"/>
          <p:cNvSpPr txBox="1">
            <a:spLocks noChangeArrowheads="1"/>
          </p:cNvSpPr>
          <p:nvPr/>
        </p:nvSpPr>
        <p:spPr bwMode="auto">
          <a:xfrm>
            <a:off x="7826375" y="3967163"/>
            <a:ext cx="225425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427" name="Text Box 17"/>
          <p:cNvSpPr txBox="1">
            <a:spLocks noChangeArrowheads="1"/>
          </p:cNvSpPr>
          <p:nvPr/>
        </p:nvSpPr>
        <p:spPr bwMode="auto">
          <a:xfrm>
            <a:off x="7888288" y="37258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428" name="Text Box 18"/>
          <p:cNvSpPr txBox="1">
            <a:spLocks noChangeArrowheads="1"/>
          </p:cNvSpPr>
          <p:nvPr/>
        </p:nvSpPr>
        <p:spPr bwMode="auto">
          <a:xfrm>
            <a:off x="7888288" y="4389438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429" name="Text Box 19"/>
          <p:cNvSpPr txBox="1">
            <a:spLocks noChangeArrowheads="1"/>
          </p:cNvSpPr>
          <p:nvPr/>
        </p:nvSpPr>
        <p:spPr bwMode="auto">
          <a:xfrm>
            <a:off x="7826375" y="4881563"/>
            <a:ext cx="225425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7430" name="Text Box 20"/>
          <p:cNvSpPr txBox="1">
            <a:spLocks noChangeArrowheads="1"/>
          </p:cNvSpPr>
          <p:nvPr/>
        </p:nvSpPr>
        <p:spPr bwMode="auto">
          <a:xfrm>
            <a:off x="7888288" y="46402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962453" name="AutoShape 21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62454" name="AutoShape 22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62455" name="AutoShape 23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62456" name="AutoShape 24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62457" name="AutoShape 25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7436" name="Text Box 26"/>
          <p:cNvSpPr txBox="1">
            <a:spLocks noChangeArrowheads="1"/>
          </p:cNvSpPr>
          <p:nvPr/>
        </p:nvSpPr>
        <p:spPr bwMode="auto">
          <a:xfrm>
            <a:off x="2471738" y="16176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0</a:t>
            </a:r>
          </a:p>
        </p:txBody>
      </p:sp>
      <p:grpSp>
        <p:nvGrpSpPr>
          <p:cNvPr id="17437" name="Group 27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17443" name="Picture 28" descr="host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44" name="Text Box 29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2962462" name="AutoShape 30"/>
          <p:cNvSpPr>
            <a:spLocks noChangeArrowheads="1"/>
          </p:cNvSpPr>
          <p:nvPr/>
        </p:nvSpPr>
        <p:spPr bwMode="auto">
          <a:xfrm flipV="1">
            <a:off x="1284288" y="3505200"/>
            <a:ext cx="436562" cy="628650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grpSp>
        <p:nvGrpSpPr>
          <p:cNvPr id="17439" name="Group 31"/>
          <p:cNvGrpSpPr>
            <a:grpSpLocks/>
          </p:cNvGrpSpPr>
          <p:nvPr/>
        </p:nvGrpSpPr>
        <p:grpSpPr bwMode="auto">
          <a:xfrm>
            <a:off x="3438525" y="3451225"/>
            <a:ext cx="1358900" cy="720725"/>
            <a:chOff x="2166" y="2174"/>
            <a:chExt cx="856" cy="454"/>
          </a:xfrm>
        </p:grpSpPr>
        <p:sp>
          <p:nvSpPr>
            <p:cNvPr id="17441" name="Rectangle 32"/>
            <p:cNvSpPr>
              <a:spLocks noChangeArrowheads="1"/>
            </p:cNvSpPr>
            <p:nvPr/>
          </p:nvSpPr>
          <p:spPr bwMode="auto">
            <a:xfrm>
              <a:off x="2166" y="217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7442" name="Text Box 33"/>
            <p:cNvSpPr txBox="1">
              <a:spLocks noChangeArrowheads="1"/>
            </p:cNvSpPr>
            <p:nvPr/>
          </p:nvSpPr>
          <p:spPr bwMode="auto">
            <a:xfrm>
              <a:off x="2288" y="2264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304801" y="896526"/>
            <a:ext cx="4975122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lvl1pPr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3580"/>
              </a:buClr>
              <a:buFont typeface="Wingdings" pitchFamily="2" charset="2"/>
              <a:defRPr sz="2600">
                <a:solidFill>
                  <a:srgbClr val="003580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sz="1800" b="1" dirty="0">
                <a:solidFill>
                  <a:schemeClr val="tx1"/>
                </a:solidFill>
              </a:rPr>
              <a:t>Файл равномерно распределяется по дорожкам дискового массива</a:t>
            </a:r>
            <a:endParaRPr lang="en-US" altLang="ru-RU" sz="1800" b="1" dirty="0">
              <a:solidFill>
                <a:schemeClr val="tx1"/>
              </a:solidFill>
            </a:endParaRPr>
          </a:p>
          <a:p>
            <a:pPr algn="l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sz="1800" b="1" dirty="0">
                <a:solidFill>
                  <a:schemeClr val="tx1"/>
                </a:solidFill>
              </a:rPr>
              <a:t>Не защищает данные</a:t>
            </a:r>
          </a:p>
          <a:p>
            <a:pPr marL="180000" indent="-180000" algn="l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sz="1800" b="1" dirty="0">
                <a:solidFill>
                  <a:schemeClr val="tx1"/>
                </a:solidFill>
              </a:rPr>
              <a:t>Используется там, где требуется повысить производительность ввода/вывода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0.24531 -4.44444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62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296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07778 -0.00116 L 0.07778 -0.29054 L 0.17986 -0.29054 " pathEditMode="relative" rAng="0" ptsTypes="AAAA">
                                      <p:cBhvr>
                                        <p:cTn id="13" dur="2000" fill="hold"/>
                                        <p:tgtEl>
                                          <p:spTgt spid="2962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14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07778 -0.00116 L 0.07778 -0.14643 L 0.17986 -0.14643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2962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7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17691 -0.0011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962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069 L 0.07778 0.00069 L 0.07778 0.14318 L 0.17986 0.14318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2962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7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023 L 0.07778 0.00023 L 0.07778 0.28753 L 0.17986 0.28753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2962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2453" grpId="0" animBg="1"/>
      <p:bldP spid="2962454" grpId="0" animBg="1"/>
      <p:bldP spid="2962455" grpId="0" animBg="1"/>
      <p:bldP spid="2962456" grpId="0" animBg="1"/>
      <p:bldP spid="2962457" grpId="0" animBg="1"/>
      <p:bldP spid="2962462" grpId="0" animBg="1"/>
      <p:bldP spid="2962462" grpId="1" animBg="1"/>
      <p:bldP spid="3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title"/>
          </p:nvPr>
        </p:nvSpPr>
        <p:spPr>
          <a:xfrm>
            <a:off x="254834" y="209862"/>
            <a:ext cx="8889166" cy="626751"/>
          </a:xfrm>
        </p:spPr>
        <p:txBody>
          <a:bodyPr/>
          <a:lstStyle/>
          <a:p>
            <a:pPr algn="ctr" eaLnBrk="1" hangingPunct="1"/>
            <a:r>
              <a:rPr lang="en-US" altLang="ru-RU" sz="4000" dirty="0">
                <a:solidFill>
                  <a:schemeClr val="bg2"/>
                </a:solidFill>
              </a:rPr>
              <a:t>RAID 1</a:t>
            </a:r>
            <a:r>
              <a:rPr lang="ru-RU" altLang="ru-RU" sz="4000" dirty="0">
                <a:solidFill>
                  <a:schemeClr val="bg2"/>
                </a:solidFill>
              </a:rPr>
              <a:t> – </a:t>
            </a:r>
            <a:r>
              <a:rPr lang="ru-RU" altLang="ru-RU" sz="4000" dirty="0" err="1">
                <a:solidFill>
                  <a:schemeClr val="bg2"/>
                </a:solidFill>
              </a:rPr>
              <a:t>зеркалирование</a:t>
            </a:r>
            <a:r>
              <a:rPr lang="ru-RU" altLang="ru-RU" sz="4000" dirty="0">
                <a:solidFill>
                  <a:schemeClr val="bg2"/>
                </a:solidFill>
              </a:rPr>
              <a:t> диска </a:t>
            </a:r>
            <a:endParaRPr lang="en-US" altLang="ru-RU" sz="4000" dirty="0">
              <a:solidFill>
                <a:schemeClr val="bg2"/>
              </a:solidFill>
            </a:endParaRPr>
          </a:p>
        </p:txBody>
      </p:sp>
      <p:sp>
        <p:nvSpPr>
          <p:cNvPr id="18435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ru-RU"/>
          </a:p>
        </p:txBody>
      </p:sp>
      <p:sp>
        <p:nvSpPr>
          <p:cNvPr id="18436" name="Номер слайда 5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71203A7F-397D-484E-83EE-AB1039FB656B}" type="slidenum">
              <a:rPr lang="en-US" altLang="ru-RU" sz="800" smtClean="0"/>
              <a:pPr/>
              <a:t>16</a:t>
            </a:fld>
            <a:endParaRPr lang="en-US" altLang="ru-RU" sz="800"/>
          </a:p>
        </p:txBody>
      </p:sp>
      <p:sp>
        <p:nvSpPr>
          <p:cNvPr id="18437" name="Line 2"/>
          <p:cNvSpPr>
            <a:spLocks noChangeShapeType="1"/>
          </p:cNvSpPr>
          <p:nvPr/>
        </p:nvSpPr>
        <p:spPr bwMode="auto">
          <a:xfrm flipV="1">
            <a:off x="2133600" y="3732213"/>
            <a:ext cx="303847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pic>
        <p:nvPicPr>
          <p:cNvPr id="18438" name="Picture 3" descr="host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819400"/>
            <a:ext cx="12287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Freeform 4"/>
          <p:cNvSpPr>
            <a:spLocks/>
          </p:cNvSpPr>
          <p:nvPr/>
        </p:nvSpPr>
        <p:spPr bwMode="auto">
          <a:xfrm>
            <a:off x="5176838" y="2743200"/>
            <a:ext cx="1147762" cy="1871663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71600" y="3560763"/>
            <a:ext cx="762000" cy="325437"/>
            <a:chOff x="1607" y="3273"/>
            <a:chExt cx="618" cy="205"/>
          </a:xfrm>
        </p:grpSpPr>
        <p:sp>
          <p:nvSpPr>
            <p:cNvPr id="18466" name="Rectangle 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67" name="Text Box 8"/>
            <p:cNvSpPr txBox="1">
              <a:spLocks noChangeArrowheads="1"/>
            </p:cNvSpPr>
            <p:nvPr/>
          </p:nvSpPr>
          <p:spPr bwMode="auto">
            <a:xfrm>
              <a:off x="1624" y="3306"/>
              <a:ext cx="586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370263" y="3570288"/>
            <a:ext cx="820737" cy="325437"/>
            <a:chOff x="1607" y="3273"/>
            <a:chExt cx="618" cy="205"/>
          </a:xfrm>
        </p:grpSpPr>
        <p:sp>
          <p:nvSpPr>
            <p:cNvPr id="18464" name="Rectangle 10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65" name="Text Box 11"/>
            <p:cNvSpPr txBox="1">
              <a:spLocks noChangeArrowheads="1"/>
            </p:cNvSpPr>
            <p:nvPr/>
          </p:nvSpPr>
          <p:spPr bwMode="auto">
            <a:xfrm>
              <a:off x="1645" y="3306"/>
              <a:ext cx="54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370263" y="3570288"/>
            <a:ext cx="820737" cy="325437"/>
            <a:chOff x="1607" y="3273"/>
            <a:chExt cx="618" cy="205"/>
          </a:xfrm>
        </p:grpSpPr>
        <p:sp>
          <p:nvSpPr>
            <p:cNvPr id="18462" name="Rectangle 1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63" name="Text Box 14"/>
            <p:cNvSpPr txBox="1">
              <a:spLocks noChangeArrowheads="1"/>
            </p:cNvSpPr>
            <p:nvPr/>
          </p:nvSpPr>
          <p:spPr bwMode="auto">
            <a:xfrm>
              <a:off x="1645" y="3306"/>
              <a:ext cx="54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370263" y="3570288"/>
            <a:ext cx="820737" cy="325437"/>
            <a:chOff x="1607" y="3273"/>
            <a:chExt cx="618" cy="205"/>
          </a:xfrm>
        </p:grpSpPr>
        <p:sp>
          <p:nvSpPr>
            <p:cNvPr id="18460" name="Rectangle 1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61" name="Text Box 17"/>
            <p:cNvSpPr txBox="1">
              <a:spLocks noChangeArrowheads="1"/>
            </p:cNvSpPr>
            <p:nvPr/>
          </p:nvSpPr>
          <p:spPr bwMode="auto">
            <a:xfrm>
              <a:off x="1645" y="3306"/>
              <a:ext cx="54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370263" y="3570288"/>
            <a:ext cx="820737" cy="325437"/>
            <a:chOff x="1607" y="3273"/>
            <a:chExt cx="618" cy="205"/>
          </a:xfrm>
        </p:grpSpPr>
        <p:sp>
          <p:nvSpPr>
            <p:cNvPr id="18458" name="Rectangle 1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59" name="Text Box 20"/>
            <p:cNvSpPr txBox="1">
              <a:spLocks noChangeArrowheads="1"/>
            </p:cNvSpPr>
            <p:nvPr/>
          </p:nvSpPr>
          <p:spPr bwMode="auto">
            <a:xfrm>
              <a:off x="1645" y="3306"/>
              <a:ext cx="54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sp>
        <p:nvSpPr>
          <p:cNvPr id="18445" name="Text Box 21"/>
          <p:cNvSpPr txBox="1">
            <a:spLocks noChangeArrowheads="1"/>
          </p:cNvSpPr>
          <p:nvPr/>
        </p:nvSpPr>
        <p:spPr bwMode="auto">
          <a:xfrm>
            <a:off x="1828800" y="4740275"/>
            <a:ext cx="457200" cy="2127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400" b="1">
                <a:solidFill>
                  <a:srgbClr val="000610"/>
                </a:solidFill>
                <a:latin typeface="Verdana" pitchFamily="34" charset="0"/>
              </a:rPr>
              <a:t>Host</a:t>
            </a:r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1358900" y="3560763"/>
            <a:ext cx="774700" cy="325437"/>
            <a:chOff x="1607" y="3273"/>
            <a:chExt cx="618" cy="205"/>
          </a:xfrm>
        </p:grpSpPr>
        <p:sp>
          <p:nvSpPr>
            <p:cNvPr id="18456" name="Rectangle 2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8457" name="Text Box 24"/>
            <p:cNvSpPr txBox="1">
              <a:spLocks noChangeArrowheads="1"/>
            </p:cNvSpPr>
            <p:nvPr/>
          </p:nvSpPr>
          <p:spPr bwMode="auto">
            <a:xfrm>
              <a:off x="1629" y="3306"/>
              <a:ext cx="576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pic>
        <p:nvPicPr>
          <p:cNvPr id="18447" name="Picture 25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8" name="Picture 26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4419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9" name="Rectangle 27"/>
          <p:cNvSpPr>
            <a:spLocks noChangeArrowheads="1"/>
          </p:cNvSpPr>
          <p:nvPr/>
        </p:nvSpPr>
        <p:spPr bwMode="auto">
          <a:xfrm>
            <a:off x="3200400" y="3371850"/>
            <a:ext cx="1358900" cy="720725"/>
          </a:xfrm>
          <a:prstGeom prst="rect">
            <a:avLst/>
          </a:prstGeom>
          <a:gradFill rotWithShape="1">
            <a:gsLst>
              <a:gs pos="0">
                <a:srgbClr val="86BAB5"/>
              </a:gs>
              <a:gs pos="100000">
                <a:srgbClr val="5B7E7B"/>
              </a:gs>
            </a:gsLst>
            <a:lin ang="2700000" scaled="1"/>
          </a:gradFill>
          <a:ln w="12700" algn="ctr">
            <a:solidFill>
              <a:srgbClr val="88B8B6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18450" name="Text Box 28"/>
          <p:cNvSpPr txBox="1">
            <a:spLocks noChangeArrowheads="1"/>
          </p:cNvSpPr>
          <p:nvPr/>
        </p:nvSpPr>
        <p:spPr bwMode="auto">
          <a:xfrm>
            <a:off x="3370263" y="3511550"/>
            <a:ext cx="971550" cy="44132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lIns="0" tIns="0" rIns="0" bIns="0">
            <a:spAutoFit/>
          </a:bodyPr>
          <a:lstStyle/>
          <a:p>
            <a:pPr defTabSz="941388">
              <a:lnSpc>
                <a:spcPct val="90000"/>
              </a:lnSpc>
            </a:pPr>
            <a:r>
              <a:rPr lang="en-US" altLang="ru-RU" sz="1600" b="1">
                <a:solidFill>
                  <a:schemeClr val="bg1"/>
                </a:solidFill>
              </a:rPr>
              <a:t>RAID</a:t>
            </a:r>
            <a:br>
              <a:rPr lang="en-US" altLang="ru-RU" sz="1600" b="1">
                <a:solidFill>
                  <a:schemeClr val="bg1"/>
                </a:solidFill>
              </a:rPr>
            </a:br>
            <a:r>
              <a:rPr lang="en-US" altLang="ru-RU" sz="1600" b="1">
                <a:solidFill>
                  <a:schemeClr val="bg1"/>
                </a:solidFill>
              </a:rPr>
              <a:t>Controller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437188" y="1314450"/>
            <a:ext cx="33655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Улучшает скорость чтения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Скорость записи снижается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01613" y="852488"/>
            <a:ext cx="564197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Полная избыточность, дорогостоящая технология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Обеспечивает защиту данных и быстрое восстановление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Не заменяет резервное копирование, которое фиксирует образы в определенное время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09563" y="4992688"/>
            <a:ext cx="4262437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10% дисков ломается в любом году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Неприятность – поломка второго диска во время восстановления первого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Пусть замена длится 3 часа – </a:t>
            </a:r>
            <a:r>
              <a:rPr lang="ru-RU" altLang="ru-RU" sz="1600" b="1" baseline="30000" dirty="0"/>
              <a:t>1</a:t>
            </a:r>
            <a:r>
              <a:rPr lang="ru-RU" altLang="ru-RU" sz="1600" b="1" dirty="0"/>
              <a:t>/</a:t>
            </a:r>
            <a:r>
              <a:rPr lang="ru-RU" altLang="ru-RU" sz="1600" b="1" baseline="-25000" dirty="0"/>
              <a:t>2920</a:t>
            </a:r>
            <a:r>
              <a:rPr lang="ru-RU" altLang="ru-RU" sz="1600" b="1" dirty="0"/>
              <a:t> года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572000" y="5002213"/>
            <a:ext cx="4572000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Вероятность того, что диск выйдет из строя в момент копирования на него (1/10)*(1/2920) = 1/29200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Тогда один из 2 дисков может отказать раз в 5 лет и только один из 29200 отказов повлечет потерю данных.</a:t>
            </a:r>
          </a:p>
          <a:p>
            <a:pPr algn="l">
              <a:buClr>
                <a:srgbClr val="C00000"/>
              </a:buClr>
            </a:pPr>
            <a:endParaRPr lang="ru-RU" altLang="ru-RU" sz="1600" b="1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5559425" y="3429000"/>
            <a:ext cx="3365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 dirty="0"/>
              <a:t>То есть </a:t>
            </a:r>
            <a:r>
              <a:rPr lang="en-US" altLang="ru-RU" sz="1600" b="1"/>
              <a:t>MTBF</a:t>
            </a:r>
            <a:r>
              <a:rPr lang="ru-RU" altLang="ru-RU" sz="1600" b="1" dirty="0"/>
              <a:t> для </a:t>
            </a:r>
            <a:r>
              <a:rPr lang="en-US" altLang="ru-RU" sz="1600" b="1" dirty="0"/>
              <a:t>RAID 1 </a:t>
            </a:r>
            <a:r>
              <a:rPr lang="ru-RU" altLang="ru-RU" sz="1600" b="1" dirty="0"/>
              <a:t>         </a:t>
            </a:r>
            <a:r>
              <a:rPr lang="en-US" altLang="ru-RU" sz="1600" b="1" dirty="0"/>
              <a:t>5*29200 = 146</a:t>
            </a:r>
            <a:r>
              <a:rPr lang="ru-RU" altLang="ru-RU" sz="1600" b="1" dirty="0"/>
              <a:t> </a:t>
            </a:r>
            <a:r>
              <a:rPr lang="en-US" altLang="ru-RU" sz="1600" b="1" dirty="0"/>
              <a:t>000 </a:t>
            </a:r>
            <a:r>
              <a:rPr lang="ru-RU" altLang="ru-RU" sz="1600" b="1" dirty="0"/>
              <a:t>лет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.00162 L 0.23212 0.001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2.96296E-6 L 0.1441 -2.96296E-6 L 0.1441 -0.17291 L 0.41285 -0.17268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-87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2.96296E-6 L 0.1441 -2.96296E-6 L 0.1441 0.11505 L 0.41285 0.11482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162 L 0.23211 0.00162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2.96296E-6 L 0.1441 -2.96296E-6 L 0.1441 -0.11458 L 0.41285 -0.11458 " pathEditMode="relative" rAng="0" ptsTypes="AAAA"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-57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3796E-6 L 0.1434 3.3796E-6 L 0.1434 0.17765 L 0.41163 0.1758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" y="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32" grpId="0" build="p"/>
      <p:bldP spid="33" grpId="0" build="p"/>
      <p:bldP spid="34" grpId="0" build="p"/>
      <p:bldP spid="3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Вложенный</a:t>
            </a:r>
            <a:r>
              <a:rPr lang="en-US" altLang="ru-RU" sz="3600">
                <a:solidFill>
                  <a:schemeClr val="bg2"/>
                </a:solidFill>
              </a:rPr>
              <a:t> RAID – 0+1 </a:t>
            </a:r>
            <a:br>
              <a:rPr lang="en-US" altLang="ru-RU" sz="3600">
                <a:solidFill>
                  <a:schemeClr val="bg2"/>
                </a:solidFill>
              </a:rPr>
            </a:br>
            <a:r>
              <a:rPr lang="en-US" altLang="ru-RU" sz="3600">
                <a:solidFill>
                  <a:schemeClr val="bg2"/>
                </a:solidFill>
              </a:rPr>
              <a:t>(Striping and Mirroring)</a:t>
            </a:r>
          </a:p>
        </p:txBody>
      </p:sp>
      <p:sp>
        <p:nvSpPr>
          <p:cNvPr id="19459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1946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B1173D22-BA51-4DA3-B83A-9B95F654E6B6}" type="slidenum">
              <a:rPr lang="en-US" altLang="ru-RU" sz="800" smtClean="0"/>
              <a:pPr/>
              <a:t>17</a:t>
            </a:fld>
            <a:endParaRPr lang="en-US" altLang="ru-RU" sz="800"/>
          </a:p>
        </p:txBody>
      </p:sp>
      <p:sp>
        <p:nvSpPr>
          <p:cNvPr id="19461" name="Line 2"/>
          <p:cNvSpPr>
            <a:spLocks noChangeShapeType="1"/>
          </p:cNvSpPr>
          <p:nvPr/>
        </p:nvSpPr>
        <p:spPr bwMode="auto">
          <a:xfrm>
            <a:off x="1141413" y="3732213"/>
            <a:ext cx="290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19462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19508" name="Picture 4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09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543175" y="3562350"/>
            <a:ext cx="812800" cy="325438"/>
            <a:chOff x="1607" y="3273"/>
            <a:chExt cx="618" cy="205"/>
          </a:xfrm>
        </p:grpSpPr>
        <p:sp>
          <p:nvSpPr>
            <p:cNvPr id="19506" name="Rectangle 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507" name="Text Box 8"/>
            <p:cNvSpPr txBox="1">
              <a:spLocks noChangeArrowheads="1"/>
            </p:cNvSpPr>
            <p:nvPr/>
          </p:nvSpPr>
          <p:spPr bwMode="auto">
            <a:xfrm>
              <a:off x="1642" y="3306"/>
              <a:ext cx="55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528888" y="3562350"/>
            <a:ext cx="812800" cy="325438"/>
            <a:chOff x="1607" y="3273"/>
            <a:chExt cx="618" cy="205"/>
          </a:xfrm>
        </p:grpSpPr>
        <p:sp>
          <p:nvSpPr>
            <p:cNvPr id="19504" name="Rectangle 10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505" name="Text Box 11"/>
            <p:cNvSpPr txBox="1">
              <a:spLocks noChangeArrowheads="1"/>
            </p:cNvSpPr>
            <p:nvPr/>
          </p:nvSpPr>
          <p:spPr bwMode="auto">
            <a:xfrm>
              <a:off x="1642" y="3306"/>
              <a:ext cx="55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557463" y="3533775"/>
            <a:ext cx="812800" cy="325438"/>
            <a:chOff x="1607" y="3273"/>
            <a:chExt cx="618" cy="205"/>
          </a:xfrm>
        </p:grpSpPr>
        <p:sp>
          <p:nvSpPr>
            <p:cNvPr id="19502" name="Rectangle 1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503" name="Text Box 14"/>
            <p:cNvSpPr txBox="1">
              <a:spLocks noChangeArrowheads="1"/>
            </p:cNvSpPr>
            <p:nvPr/>
          </p:nvSpPr>
          <p:spPr bwMode="auto">
            <a:xfrm>
              <a:off x="1642" y="3306"/>
              <a:ext cx="55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2543175" y="3546475"/>
            <a:ext cx="812800" cy="325438"/>
            <a:chOff x="1607" y="3273"/>
            <a:chExt cx="618" cy="205"/>
          </a:xfrm>
        </p:grpSpPr>
        <p:sp>
          <p:nvSpPr>
            <p:cNvPr id="19500" name="Rectangle 1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501" name="Text Box 17"/>
            <p:cNvSpPr txBox="1">
              <a:spLocks noChangeArrowheads="1"/>
            </p:cNvSpPr>
            <p:nvPr/>
          </p:nvSpPr>
          <p:spPr bwMode="auto">
            <a:xfrm>
              <a:off x="1642" y="3306"/>
              <a:ext cx="55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sp>
        <p:nvSpPr>
          <p:cNvPr id="19467" name="Freeform 18"/>
          <p:cNvSpPr>
            <a:spLocks/>
          </p:cNvSpPr>
          <p:nvPr/>
        </p:nvSpPr>
        <p:spPr bwMode="auto">
          <a:xfrm>
            <a:off x="4052888" y="2732088"/>
            <a:ext cx="3795712" cy="1852612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356225" y="4646613"/>
            <a:ext cx="815975" cy="325437"/>
            <a:chOff x="1607" y="3273"/>
            <a:chExt cx="618" cy="205"/>
          </a:xfrm>
        </p:grpSpPr>
        <p:sp>
          <p:nvSpPr>
            <p:cNvPr id="19498" name="Rectangle 21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99" name="Text Box 22"/>
            <p:cNvSpPr txBox="1">
              <a:spLocks noChangeArrowheads="1"/>
            </p:cNvSpPr>
            <p:nvPr/>
          </p:nvSpPr>
          <p:spPr bwMode="auto">
            <a:xfrm>
              <a:off x="1643" y="3306"/>
              <a:ext cx="54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5356225" y="2809875"/>
            <a:ext cx="815975" cy="325438"/>
            <a:chOff x="1607" y="3273"/>
            <a:chExt cx="618" cy="205"/>
          </a:xfrm>
        </p:grpSpPr>
        <p:sp>
          <p:nvSpPr>
            <p:cNvPr id="19496" name="Rectangle 24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97" name="Text Box 25"/>
            <p:cNvSpPr txBox="1">
              <a:spLocks noChangeArrowheads="1"/>
            </p:cNvSpPr>
            <p:nvPr/>
          </p:nvSpPr>
          <p:spPr bwMode="auto">
            <a:xfrm>
              <a:off x="1643" y="3306"/>
              <a:ext cx="54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356225" y="4171950"/>
            <a:ext cx="815975" cy="325438"/>
            <a:chOff x="1607" y="3273"/>
            <a:chExt cx="618" cy="205"/>
          </a:xfrm>
        </p:grpSpPr>
        <p:sp>
          <p:nvSpPr>
            <p:cNvPr id="19494" name="Rectangle 2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95" name="Text Box 28"/>
            <p:cNvSpPr txBox="1">
              <a:spLocks noChangeArrowheads="1"/>
            </p:cNvSpPr>
            <p:nvPr/>
          </p:nvSpPr>
          <p:spPr bwMode="auto">
            <a:xfrm>
              <a:off x="1643" y="3306"/>
              <a:ext cx="54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400800" y="2344738"/>
            <a:ext cx="1206500" cy="2616200"/>
            <a:chOff x="3346" y="1477"/>
            <a:chExt cx="760" cy="1648"/>
          </a:xfrm>
        </p:grpSpPr>
        <p:sp>
          <p:nvSpPr>
            <p:cNvPr id="19492" name="AutoShape 30"/>
            <p:cNvSpPr>
              <a:spLocks/>
            </p:cNvSpPr>
            <p:nvPr/>
          </p:nvSpPr>
          <p:spPr bwMode="auto">
            <a:xfrm>
              <a:off x="3346" y="1477"/>
              <a:ext cx="225" cy="1648"/>
            </a:xfrm>
            <a:prstGeom prst="rightBrace">
              <a:avLst>
                <a:gd name="adj1" fmla="val 61037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93" name="Text Box 31"/>
            <p:cNvSpPr txBox="1">
              <a:spLocks noChangeArrowheads="1"/>
            </p:cNvSpPr>
            <p:nvPr/>
          </p:nvSpPr>
          <p:spPr bwMode="auto">
            <a:xfrm>
              <a:off x="3659" y="2250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356225" y="2347913"/>
            <a:ext cx="815975" cy="325437"/>
            <a:chOff x="1607" y="3273"/>
            <a:chExt cx="618" cy="205"/>
          </a:xfrm>
        </p:grpSpPr>
        <p:sp>
          <p:nvSpPr>
            <p:cNvPr id="19490" name="Rectangle 3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91" name="Text Box 34"/>
            <p:cNvSpPr txBox="1">
              <a:spLocks noChangeArrowheads="1"/>
            </p:cNvSpPr>
            <p:nvPr/>
          </p:nvSpPr>
          <p:spPr bwMode="auto">
            <a:xfrm>
              <a:off x="1643" y="3306"/>
              <a:ext cx="54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4319588" y="1685925"/>
            <a:ext cx="4692650" cy="630238"/>
            <a:chOff x="2721" y="1062"/>
            <a:chExt cx="2956" cy="397"/>
          </a:xfrm>
        </p:grpSpPr>
        <p:sp>
          <p:nvSpPr>
            <p:cNvPr id="19488" name="AutoShape 36"/>
            <p:cNvSpPr>
              <a:spLocks/>
            </p:cNvSpPr>
            <p:nvPr/>
          </p:nvSpPr>
          <p:spPr bwMode="auto">
            <a:xfrm rot="-5400000">
              <a:off x="4086" y="-131"/>
              <a:ext cx="225" cy="2956"/>
            </a:xfrm>
            <a:prstGeom prst="rightBrace">
              <a:avLst>
                <a:gd name="adj1" fmla="val 48415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89" name="Text Box 37"/>
            <p:cNvSpPr txBox="1">
              <a:spLocks noChangeArrowheads="1"/>
            </p:cNvSpPr>
            <p:nvPr/>
          </p:nvSpPr>
          <p:spPr bwMode="auto">
            <a:xfrm>
              <a:off x="3937" y="1062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1</a:t>
              </a:r>
            </a:p>
          </p:txBody>
        </p:sp>
      </p:grpSp>
      <p:pic>
        <p:nvPicPr>
          <p:cNvPr id="19474" name="Picture 38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2486025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75" name="Picture 39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76" name="Picture 40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77" name="Picture 41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42"/>
          <p:cNvGrpSpPr>
            <a:grpSpLocks/>
          </p:cNvGrpSpPr>
          <p:nvPr/>
        </p:nvGrpSpPr>
        <p:grpSpPr bwMode="auto">
          <a:xfrm>
            <a:off x="684213" y="3567113"/>
            <a:ext cx="815975" cy="325437"/>
            <a:chOff x="1607" y="3273"/>
            <a:chExt cx="618" cy="205"/>
          </a:xfrm>
        </p:grpSpPr>
        <p:sp>
          <p:nvSpPr>
            <p:cNvPr id="19486" name="Rectangle 4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87" name="Text Box 44"/>
            <p:cNvSpPr txBox="1">
              <a:spLocks noChangeArrowheads="1"/>
            </p:cNvSpPr>
            <p:nvPr/>
          </p:nvSpPr>
          <p:spPr bwMode="auto">
            <a:xfrm>
              <a:off x="1643" y="3306"/>
              <a:ext cx="54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14" name="Group 45"/>
          <p:cNvGrpSpPr>
            <a:grpSpLocks/>
          </p:cNvGrpSpPr>
          <p:nvPr/>
        </p:nvGrpSpPr>
        <p:grpSpPr bwMode="auto">
          <a:xfrm>
            <a:off x="657225" y="3560763"/>
            <a:ext cx="855663" cy="312737"/>
            <a:chOff x="1607" y="3273"/>
            <a:chExt cx="618" cy="205"/>
          </a:xfrm>
        </p:grpSpPr>
        <p:sp>
          <p:nvSpPr>
            <p:cNvPr id="19484" name="Rectangle 4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85" name="Text Box 47"/>
            <p:cNvSpPr txBox="1">
              <a:spLocks noChangeArrowheads="1"/>
            </p:cNvSpPr>
            <p:nvPr/>
          </p:nvSpPr>
          <p:spPr bwMode="auto">
            <a:xfrm>
              <a:off x="1657" y="3306"/>
              <a:ext cx="522" cy="14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grpSp>
        <p:nvGrpSpPr>
          <p:cNvPr id="19480" name="Group 48"/>
          <p:cNvGrpSpPr>
            <a:grpSpLocks/>
          </p:cNvGrpSpPr>
          <p:nvPr/>
        </p:nvGrpSpPr>
        <p:grpSpPr bwMode="auto">
          <a:xfrm>
            <a:off x="2265363" y="3357563"/>
            <a:ext cx="1358900" cy="720725"/>
            <a:chOff x="1471" y="2124"/>
            <a:chExt cx="856" cy="454"/>
          </a:xfrm>
        </p:grpSpPr>
        <p:sp>
          <p:nvSpPr>
            <p:cNvPr id="19482" name="Rectangle 49"/>
            <p:cNvSpPr>
              <a:spLocks noChangeArrowheads="1"/>
            </p:cNvSpPr>
            <p:nvPr/>
          </p:nvSpPr>
          <p:spPr bwMode="auto">
            <a:xfrm>
              <a:off x="1471" y="212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19483" name="Text Box 50"/>
            <p:cNvSpPr txBox="1">
              <a:spLocks noChangeArrowheads="1"/>
            </p:cNvSpPr>
            <p:nvPr/>
          </p:nvSpPr>
          <p:spPr bwMode="auto">
            <a:xfrm>
              <a:off x="1593" y="2212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30188" y="5095875"/>
            <a:ext cx="7023100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rgbClr val="C00000"/>
              </a:buClr>
            </a:pPr>
            <a:r>
              <a:rPr lang="ru-RU" altLang="ru-RU" sz="1600" b="1"/>
              <a:t>Технология сочетает :</a:t>
            </a:r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 производительность  </a:t>
            </a:r>
            <a:r>
              <a:rPr lang="en-US" altLang="ru-RU" sz="1600" b="1"/>
              <a:t>RAID 0</a:t>
            </a:r>
            <a:endParaRPr lang="ru-RU" altLang="ru-RU" sz="1600" b="1"/>
          </a:p>
          <a:p>
            <a:pPr algn="l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600" b="1"/>
              <a:t> избыточность</a:t>
            </a:r>
            <a:r>
              <a:rPr lang="en-US" altLang="ru-RU" sz="1600" b="1"/>
              <a:t> RAID 1</a:t>
            </a:r>
            <a:endParaRPr lang="ru-RU" altLang="ru-RU" sz="1600" b="1"/>
          </a:p>
          <a:p>
            <a:pPr algn="l">
              <a:buClr>
                <a:srgbClr val="C00000"/>
              </a:buClr>
            </a:pPr>
            <a:r>
              <a:rPr lang="ru-RU" altLang="ru-RU" sz="1600" b="1"/>
              <a:t>	Требуют четного количества дисков – минимум 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5.55042E-8 L 0.1783 5.55042E-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208 L 0.179 -0.0004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8.97317E-7 L 0.19879 8.97317E-7 L 0.19879 -0.17507 L 0.31632 -0.17507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" y="-8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393 L 0.20017 0.00393 L 0.20017 0.09436 L 0.31718 0.09436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014 0.00162 L 0.31476 0.0023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0.00138 L 0.31337 0.0027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7 0.00208 L 0.20173 0.0020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90472E-6 L 0.19792 2.90472E-6 L 0.19792 -0.11194 L 0.31528 -0.11194 " pathEditMode="relative" rAng="0" ptsTypes="AAAA">
                                      <p:cBhvr>
                                        <p:cTn id="5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" y="-56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05273E-6 L 0.19913 -3.05273E-6 L 0.19913 0.16305 L 0.31857 0.16305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" y="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4 0.00139 L 0.31302 0.00139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4 -0.00115 L 0.31302 -0.0023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altLang="ru-RU">
                <a:solidFill>
                  <a:schemeClr val="bg2"/>
                </a:solidFill>
              </a:rPr>
              <a:t>Вложенный</a:t>
            </a:r>
            <a:r>
              <a:rPr lang="en-US" altLang="ru-RU">
                <a:solidFill>
                  <a:schemeClr val="bg2"/>
                </a:solidFill>
              </a:rPr>
              <a:t> RAID – 0+1 </a:t>
            </a:r>
            <a:br>
              <a:rPr lang="en-US" altLang="ru-RU">
                <a:solidFill>
                  <a:schemeClr val="bg2"/>
                </a:solidFill>
              </a:rPr>
            </a:br>
            <a:r>
              <a:rPr lang="en-US" altLang="ru-RU">
                <a:solidFill>
                  <a:schemeClr val="bg2"/>
                </a:solidFill>
              </a:rPr>
              <a:t>(</a:t>
            </a:r>
            <a:r>
              <a:rPr lang="en-US" altLang="ru-RU" sz="3600">
                <a:solidFill>
                  <a:schemeClr val="bg2"/>
                </a:solidFill>
              </a:rPr>
              <a:t>Striping</a:t>
            </a:r>
            <a:r>
              <a:rPr lang="en-US" altLang="ru-RU">
                <a:solidFill>
                  <a:schemeClr val="bg2"/>
                </a:solidFill>
              </a:rPr>
              <a:t> and Mirroring)</a:t>
            </a:r>
            <a:endParaRPr lang="en-US" altLang="ru-RU"/>
          </a:p>
        </p:txBody>
      </p:sp>
      <p:sp>
        <p:nvSpPr>
          <p:cNvPr id="20483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052DCD58-A0E4-4CA4-A801-51844B629881}" type="slidenum">
              <a:rPr lang="en-US" altLang="ru-RU" sz="800" smtClean="0"/>
              <a:pPr/>
              <a:t>18</a:t>
            </a:fld>
            <a:endParaRPr lang="en-US" altLang="ru-RU" sz="800"/>
          </a:p>
        </p:txBody>
      </p:sp>
      <p:sp>
        <p:nvSpPr>
          <p:cNvPr id="20485" name="Freeform 3"/>
          <p:cNvSpPr>
            <a:spLocks/>
          </p:cNvSpPr>
          <p:nvPr/>
        </p:nvSpPr>
        <p:spPr bwMode="auto">
          <a:xfrm>
            <a:off x="4052888" y="2760663"/>
            <a:ext cx="3546475" cy="1835150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0486" name="Line 4"/>
          <p:cNvSpPr>
            <a:spLocks noChangeShapeType="1"/>
          </p:cNvSpPr>
          <p:nvPr/>
        </p:nvSpPr>
        <p:spPr bwMode="auto">
          <a:xfrm>
            <a:off x="1141413" y="3732213"/>
            <a:ext cx="290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0487" name="Group 5"/>
          <p:cNvGrpSpPr>
            <a:grpSpLocks/>
          </p:cNvGrpSpPr>
          <p:nvPr/>
        </p:nvGrpSpPr>
        <p:grpSpPr bwMode="auto">
          <a:xfrm>
            <a:off x="2265363" y="3371850"/>
            <a:ext cx="1358900" cy="720725"/>
            <a:chOff x="1471" y="2124"/>
            <a:chExt cx="856" cy="454"/>
          </a:xfrm>
        </p:grpSpPr>
        <p:sp>
          <p:nvSpPr>
            <p:cNvPr id="20540" name="Rectangle 6"/>
            <p:cNvSpPr>
              <a:spLocks noChangeArrowheads="1"/>
            </p:cNvSpPr>
            <p:nvPr/>
          </p:nvSpPr>
          <p:spPr bwMode="auto">
            <a:xfrm>
              <a:off x="1471" y="212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41" name="Text Box 7"/>
            <p:cNvSpPr txBox="1">
              <a:spLocks noChangeArrowheads="1"/>
            </p:cNvSpPr>
            <p:nvPr/>
          </p:nvSpPr>
          <p:spPr bwMode="auto">
            <a:xfrm>
              <a:off x="1593" y="2212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440363" y="4646613"/>
            <a:ext cx="896937" cy="325437"/>
            <a:chOff x="1607" y="3273"/>
            <a:chExt cx="618" cy="205"/>
          </a:xfrm>
        </p:grpSpPr>
        <p:sp>
          <p:nvSpPr>
            <p:cNvPr id="20538" name="Rectangle 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39" name="Text Box 10"/>
            <p:cNvSpPr txBox="1">
              <a:spLocks noChangeArrowheads="1"/>
            </p:cNvSpPr>
            <p:nvPr/>
          </p:nvSpPr>
          <p:spPr bwMode="auto">
            <a:xfrm>
              <a:off x="1668" y="3306"/>
              <a:ext cx="498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462588" y="2809875"/>
            <a:ext cx="874712" cy="325438"/>
            <a:chOff x="1607" y="3273"/>
            <a:chExt cx="618" cy="205"/>
          </a:xfrm>
        </p:grpSpPr>
        <p:sp>
          <p:nvSpPr>
            <p:cNvPr id="20536" name="Rectangle 12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37" name="Text Box 13"/>
            <p:cNvSpPr txBox="1">
              <a:spLocks noChangeArrowheads="1"/>
            </p:cNvSpPr>
            <p:nvPr/>
          </p:nvSpPr>
          <p:spPr bwMode="auto">
            <a:xfrm>
              <a:off x="1662" y="3306"/>
              <a:ext cx="51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440363" y="4171950"/>
            <a:ext cx="896937" cy="325438"/>
            <a:chOff x="1607" y="3273"/>
            <a:chExt cx="618" cy="205"/>
          </a:xfrm>
        </p:grpSpPr>
        <p:sp>
          <p:nvSpPr>
            <p:cNvPr id="20534" name="Rectangle 1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35" name="Text Box 16"/>
            <p:cNvSpPr txBox="1">
              <a:spLocks noChangeArrowheads="1"/>
            </p:cNvSpPr>
            <p:nvPr/>
          </p:nvSpPr>
          <p:spPr bwMode="auto">
            <a:xfrm>
              <a:off x="1668" y="3306"/>
              <a:ext cx="498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20491" name="Group 17"/>
          <p:cNvGrpSpPr>
            <a:grpSpLocks/>
          </p:cNvGrpSpPr>
          <p:nvPr/>
        </p:nvGrpSpPr>
        <p:grpSpPr bwMode="auto">
          <a:xfrm>
            <a:off x="6400800" y="2344738"/>
            <a:ext cx="1206500" cy="2616200"/>
            <a:chOff x="3346" y="1477"/>
            <a:chExt cx="760" cy="1648"/>
          </a:xfrm>
        </p:grpSpPr>
        <p:sp>
          <p:nvSpPr>
            <p:cNvPr id="20532" name="AutoShape 18"/>
            <p:cNvSpPr>
              <a:spLocks/>
            </p:cNvSpPr>
            <p:nvPr/>
          </p:nvSpPr>
          <p:spPr bwMode="auto">
            <a:xfrm>
              <a:off x="3346" y="1477"/>
              <a:ext cx="225" cy="1648"/>
            </a:xfrm>
            <a:prstGeom prst="rightBrace">
              <a:avLst>
                <a:gd name="adj1" fmla="val 61037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33" name="Text Box 19"/>
            <p:cNvSpPr txBox="1">
              <a:spLocks noChangeArrowheads="1"/>
            </p:cNvSpPr>
            <p:nvPr/>
          </p:nvSpPr>
          <p:spPr bwMode="auto">
            <a:xfrm>
              <a:off x="3659" y="2250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0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451475" y="2347913"/>
            <a:ext cx="885825" cy="325437"/>
            <a:chOff x="1607" y="3273"/>
            <a:chExt cx="618" cy="205"/>
          </a:xfrm>
        </p:grpSpPr>
        <p:sp>
          <p:nvSpPr>
            <p:cNvPr id="20530" name="Rectangle 21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31" name="Text Box 22"/>
            <p:cNvSpPr txBox="1">
              <a:spLocks noChangeArrowheads="1"/>
            </p:cNvSpPr>
            <p:nvPr/>
          </p:nvSpPr>
          <p:spPr bwMode="auto">
            <a:xfrm>
              <a:off x="1665" y="3306"/>
              <a:ext cx="50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20493" name="Group 23"/>
          <p:cNvGrpSpPr>
            <a:grpSpLocks/>
          </p:cNvGrpSpPr>
          <p:nvPr/>
        </p:nvGrpSpPr>
        <p:grpSpPr bwMode="auto">
          <a:xfrm>
            <a:off x="4319588" y="1685925"/>
            <a:ext cx="4692650" cy="630238"/>
            <a:chOff x="2721" y="1062"/>
            <a:chExt cx="2956" cy="397"/>
          </a:xfrm>
        </p:grpSpPr>
        <p:sp>
          <p:nvSpPr>
            <p:cNvPr id="20528" name="AutoShape 24"/>
            <p:cNvSpPr>
              <a:spLocks/>
            </p:cNvSpPr>
            <p:nvPr/>
          </p:nvSpPr>
          <p:spPr bwMode="auto">
            <a:xfrm rot="-5400000">
              <a:off x="4086" y="-131"/>
              <a:ext cx="225" cy="2956"/>
            </a:xfrm>
            <a:prstGeom prst="rightBrace">
              <a:avLst>
                <a:gd name="adj1" fmla="val 48415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29" name="Text Box 25"/>
            <p:cNvSpPr txBox="1">
              <a:spLocks noChangeArrowheads="1"/>
            </p:cNvSpPr>
            <p:nvPr/>
          </p:nvSpPr>
          <p:spPr bwMode="auto">
            <a:xfrm>
              <a:off x="3937" y="1062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1</a:t>
              </a:r>
            </a:p>
          </p:txBody>
        </p:sp>
      </p:grpSp>
      <p:grpSp>
        <p:nvGrpSpPr>
          <p:cNvPr id="20494" name="Group 26"/>
          <p:cNvGrpSpPr>
            <a:grpSpLocks/>
          </p:cNvGrpSpPr>
          <p:nvPr/>
        </p:nvGrpSpPr>
        <p:grpSpPr bwMode="auto">
          <a:xfrm>
            <a:off x="7908925" y="4646613"/>
            <a:ext cx="887413" cy="325437"/>
            <a:chOff x="1607" y="3273"/>
            <a:chExt cx="618" cy="205"/>
          </a:xfrm>
        </p:grpSpPr>
        <p:sp>
          <p:nvSpPr>
            <p:cNvPr id="20526" name="Rectangle 2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27" name="Text Box 28"/>
            <p:cNvSpPr txBox="1">
              <a:spLocks noChangeArrowheads="1"/>
            </p:cNvSpPr>
            <p:nvPr/>
          </p:nvSpPr>
          <p:spPr bwMode="auto">
            <a:xfrm>
              <a:off x="1666" y="3306"/>
              <a:ext cx="50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20495" name="Group 29"/>
          <p:cNvGrpSpPr>
            <a:grpSpLocks/>
          </p:cNvGrpSpPr>
          <p:nvPr/>
        </p:nvGrpSpPr>
        <p:grpSpPr bwMode="auto">
          <a:xfrm>
            <a:off x="7908925" y="2809875"/>
            <a:ext cx="898525" cy="325438"/>
            <a:chOff x="1607" y="3273"/>
            <a:chExt cx="618" cy="205"/>
          </a:xfrm>
        </p:grpSpPr>
        <p:sp>
          <p:nvSpPr>
            <p:cNvPr id="20524" name="Rectangle 30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25" name="Text Box 31"/>
            <p:cNvSpPr txBox="1">
              <a:spLocks noChangeArrowheads="1"/>
            </p:cNvSpPr>
            <p:nvPr/>
          </p:nvSpPr>
          <p:spPr bwMode="auto">
            <a:xfrm>
              <a:off x="1668" y="3306"/>
              <a:ext cx="49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20496" name="Group 32"/>
          <p:cNvGrpSpPr>
            <a:grpSpLocks/>
          </p:cNvGrpSpPr>
          <p:nvPr/>
        </p:nvGrpSpPr>
        <p:grpSpPr bwMode="auto">
          <a:xfrm>
            <a:off x="7908925" y="4171950"/>
            <a:ext cx="874713" cy="325438"/>
            <a:chOff x="1607" y="3273"/>
            <a:chExt cx="618" cy="205"/>
          </a:xfrm>
        </p:grpSpPr>
        <p:sp>
          <p:nvSpPr>
            <p:cNvPr id="20522" name="Rectangle 3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23" name="Text Box 34"/>
            <p:cNvSpPr txBox="1">
              <a:spLocks noChangeArrowheads="1"/>
            </p:cNvSpPr>
            <p:nvPr/>
          </p:nvSpPr>
          <p:spPr bwMode="auto">
            <a:xfrm>
              <a:off x="1662" y="3306"/>
              <a:ext cx="51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20497" name="Group 35"/>
          <p:cNvGrpSpPr>
            <a:grpSpLocks/>
          </p:cNvGrpSpPr>
          <p:nvPr/>
        </p:nvGrpSpPr>
        <p:grpSpPr bwMode="auto">
          <a:xfrm>
            <a:off x="7908925" y="2347913"/>
            <a:ext cx="898525" cy="325437"/>
            <a:chOff x="1607" y="3273"/>
            <a:chExt cx="618" cy="205"/>
          </a:xfrm>
        </p:grpSpPr>
        <p:sp>
          <p:nvSpPr>
            <p:cNvPr id="20520" name="Rectangle 3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21" name="Text Box 37"/>
            <p:cNvSpPr txBox="1">
              <a:spLocks noChangeArrowheads="1"/>
            </p:cNvSpPr>
            <p:nvPr/>
          </p:nvSpPr>
          <p:spPr bwMode="auto">
            <a:xfrm>
              <a:off x="1668" y="3306"/>
              <a:ext cx="49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7908925" y="4646613"/>
            <a:ext cx="874713" cy="325437"/>
            <a:chOff x="1607" y="3273"/>
            <a:chExt cx="618" cy="205"/>
          </a:xfrm>
        </p:grpSpPr>
        <p:sp>
          <p:nvSpPr>
            <p:cNvPr id="20518" name="Rectangle 3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19" name="Text Box 40"/>
            <p:cNvSpPr txBox="1">
              <a:spLocks noChangeArrowheads="1"/>
            </p:cNvSpPr>
            <p:nvPr/>
          </p:nvSpPr>
          <p:spPr bwMode="auto">
            <a:xfrm>
              <a:off x="1662" y="3306"/>
              <a:ext cx="510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7908925" y="2809875"/>
            <a:ext cx="887413" cy="325438"/>
            <a:chOff x="1607" y="3273"/>
            <a:chExt cx="618" cy="205"/>
          </a:xfrm>
        </p:grpSpPr>
        <p:sp>
          <p:nvSpPr>
            <p:cNvPr id="20516" name="Rectangle 42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17" name="Text Box 43"/>
            <p:cNvSpPr txBox="1">
              <a:spLocks noChangeArrowheads="1"/>
            </p:cNvSpPr>
            <p:nvPr/>
          </p:nvSpPr>
          <p:spPr bwMode="auto">
            <a:xfrm>
              <a:off x="1666" y="3306"/>
              <a:ext cx="50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7908925" y="4186238"/>
            <a:ext cx="863600" cy="325437"/>
            <a:chOff x="1607" y="3273"/>
            <a:chExt cx="618" cy="205"/>
          </a:xfrm>
        </p:grpSpPr>
        <p:sp>
          <p:nvSpPr>
            <p:cNvPr id="20514" name="Rectangle 4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15" name="Text Box 46"/>
            <p:cNvSpPr txBox="1">
              <a:spLocks noChangeArrowheads="1"/>
            </p:cNvSpPr>
            <p:nvPr/>
          </p:nvSpPr>
          <p:spPr bwMode="auto">
            <a:xfrm>
              <a:off x="1658" y="3306"/>
              <a:ext cx="51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7908925" y="2347913"/>
            <a:ext cx="898525" cy="325437"/>
            <a:chOff x="1607" y="3273"/>
            <a:chExt cx="618" cy="205"/>
          </a:xfrm>
        </p:grpSpPr>
        <p:sp>
          <p:nvSpPr>
            <p:cNvPr id="20512" name="Rectangle 48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0513" name="Text Box 49"/>
            <p:cNvSpPr txBox="1">
              <a:spLocks noChangeArrowheads="1"/>
            </p:cNvSpPr>
            <p:nvPr/>
          </p:nvSpPr>
          <p:spPr bwMode="auto">
            <a:xfrm>
              <a:off x="1668" y="3306"/>
              <a:ext cx="497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20502" name="Group 50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0510" name="Picture 51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11" name="Text Box 52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pic>
        <p:nvPicPr>
          <p:cNvPr id="20503" name="Picture 53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4" name="Picture 54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5" name="Picture 55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6" name="Picture 56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07545" name="AutoShape 57"/>
          <p:cNvSpPr>
            <a:spLocks noChangeArrowheads="1"/>
          </p:cNvSpPr>
          <p:nvPr/>
        </p:nvSpPr>
        <p:spPr bwMode="auto">
          <a:xfrm>
            <a:off x="4124325" y="2581275"/>
            <a:ext cx="2181225" cy="21812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820" y="16642"/>
                </a:moveTo>
                <a:cubicBezTo>
                  <a:pt x="19186" y="15001"/>
                  <a:pt x="19934" y="12934"/>
                  <a:pt x="19934" y="10800"/>
                </a:cubicBezTo>
                <a:cubicBezTo>
                  <a:pt x="19934" y="5755"/>
                  <a:pt x="15844" y="1666"/>
                  <a:pt x="10800" y="1666"/>
                </a:cubicBezTo>
                <a:cubicBezTo>
                  <a:pt x="8665" y="1666"/>
                  <a:pt x="6598" y="2413"/>
                  <a:pt x="4957" y="3779"/>
                </a:cubicBezTo>
                <a:lnTo>
                  <a:pt x="17820" y="16642"/>
                </a:lnTo>
                <a:close/>
                <a:moveTo>
                  <a:pt x="3779" y="4957"/>
                </a:moveTo>
                <a:cubicBezTo>
                  <a:pt x="2413" y="6598"/>
                  <a:pt x="1666" y="8665"/>
                  <a:pt x="1666" y="10799"/>
                </a:cubicBezTo>
                <a:cubicBezTo>
                  <a:pt x="1666" y="15844"/>
                  <a:pt x="5755" y="19934"/>
                  <a:pt x="10800" y="19934"/>
                </a:cubicBezTo>
                <a:cubicBezTo>
                  <a:pt x="12934" y="19933"/>
                  <a:pt x="15001" y="19186"/>
                  <a:pt x="16642" y="17820"/>
                </a:cubicBezTo>
                <a:lnTo>
                  <a:pt x="3779" y="4957"/>
                </a:lnTo>
                <a:close/>
              </a:path>
            </a:pathLst>
          </a:custGeom>
          <a:solidFill>
            <a:srgbClr val="FF0000"/>
          </a:solidFill>
          <a:ln w="25400" algn="ctr">
            <a:solidFill>
              <a:schemeClr val="bg1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/>
          </a:p>
        </p:txBody>
      </p:sp>
      <p:sp>
        <p:nvSpPr>
          <p:cNvPr id="3007546" name="AutoShape 58"/>
          <p:cNvSpPr>
            <a:spLocks noChangeArrowheads="1"/>
          </p:cNvSpPr>
          <p:nvPr/>
        </p:nvSpPr>
        <p:spPr bwMode="auto">
          <a:xfrm>
            <a:off x="4762500" y="2295525"/>
            <a:ext cx="904875" cy="9048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700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899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0000"/>
          </a:solidFill>
          <a:ln w="25400" algn="ctr">
            <a:solidFill>
              <a:schemeClr val="bg1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/>
          </a:p>
        </p:txBody>
      </p:sp>
      <p:sp>
        <p:nvSpPr>
          <p:cNvPr id="20509" name="TextBox 60"/>
          <p:cNvSpPr txBox="1">
            <a:spLocks noChangeArrowheads="1"/>
          </p:cNvSpPr>
          <p:nvPr/>
        </p:nvSpPr>
        <p:spPr bwMode="auto">
          <a:xfrm>
            <a:off x="1038225" y="5470525"/>
            <a:ext cx="446405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Зеркалированная дорожка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0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0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22222E-6 L -0.28021 -2.22222E-6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33333E-6 L -0.27952 -3.33333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44444E-6 L -0.27952 -4.44444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59259E-6 L -0.27917 2.59259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7545" grpId="0" animBg="1"/>
      <p:bldP spid="3007545" grpId="1" animBg="1"/>
      <p:bldP spid="3007546" grpId="0" animBg="1"/>
      <p:bldP spid="300754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1507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3F48D8F4-B0F7-40BB-AC1B-AC3D97B9FA3D}" type="slidenum">
              <a:rPr lang="en-US" altLang="ru-RU" sz="800" smtClean="0"/>
              <a:pPr/>
              <a:t>19</a:t>
            </a:fld>
            <a:endParaRPr lang="en-US" altLang="ru-RU" sz="800"/>
          </a:p>
        </p:txBody>
      </p:sp>
      <p:sp>
        <p:nvSpPr>
          <p:cNvPr id="21508" name="Line 2"/>
          <p:cNvSpPr>
            <a:spLocks noChangeShapeType="1"/>
          </p:cNvSpPr>
          <p:nvPr/>
        </p:nvSpPr>
        <p:spPr bwMode="auto">
          <a:xfrm>
            <a:off x="1128713" y="3732213"/>
            <a:ext cx="29146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1509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1562" name="Picture 4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63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21510" name="Freeform 7"/>
          <p:cNvSpPr>
            <a:spLocks/>
          </p:cNvSpPr>
          <p:nvPr/>
        </p:nvSpPr>
        <p:spPr bwMode="auto">
          <a:xfrm>
            <a:off x="4052888" y="2741613"/>
            <a:ext cx="3489325" cy="1825625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368925" y="2805113"/>
            <a:ext cx="981075" cy="325437"/>
            <a:chOff x="1607" y="3273"/>
            <a:chExt cx="618" cy="205"/>
          </a:xfrm>
        </p:grpSpPr>
        <p:sp>
          <p:nvSpPr>
            <p:cNvPr id="21560" name="Rectangle 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61" name="Text Box 10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368925" y="4629150"/>
            <a:ext cx="981075" cy="325438"/>
            <a:chOff x="1607" y="3273"/>
            <a:chExt cx="618" cy="205"/>
          </a:xfrm>
        </p:grpSpPr>
        <p:sp>
          <p:nvSpPr>
            <p:cNvPr id="21558" name="Rectangle 12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59" name="Text Box 13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368925" y="2352675"/>
            <a:ext cx="981075" cy="325438"/>
            <a:chOff x="1607" y="3273"/>
            <a:chExt cx="618" cy="205"/>
          </a:xfrm>
        </p:grpSpPr>
        <p:sp>
          <p:nvSpPr>
            <p:cNvPr id="21556" name="Rectangle 1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57" name="Text Box 16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400800" y="2344738"/>
            <a:ext cx="1206500" cy="2616200"/>
            <a:chOff x="3346" y="1477"/>
            <a:chExt cx="760" cy="1648"/>
          </a:xfrm>
        </p:grpSpPr>
        <p:sp>
          <p:nvSpPr>
            <p:cNvPr id="21554" name="AutoShape 18"/>
            <p:cNvSpPr>
              <a:spLocks/>
            </p:cNvSpPr>
            <p:nvPr/>
          </p:nvSpPr>
          <p:spPr bwMode="auto">
            <a:xfrm>
              <a:off x="3346" y="1477"/>
              <a:ext cx="225" cy="1648"/>
            </a:xfrm>
            <a:prstGeom prst="rightBrace">
              <a:avLst>
                <a:gd name="adj1" fmla="val 61037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55" name="Text Box 19"/>
            <p:cNvSpPr txBox="1">
              <a:spLocks noChangeArrowheads="1"/>
            </p:cNvSpPr>
            <p:nvPr/>
          </p:nvSpPr>
          <p:spPr bwMode="auto">
            <a:xfrm>
              <a:off x="3659" y="2250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1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17525" y="3563938"/>
            <a:ext cx="981075" cy="325437"/>
            <a:chOff x="1607" y="3273"/>
            <a:chExt cx="618" cy="205"/>
          </a:xfrm>
        </p:grpSpPr>
        <p:sp>
          <p:nvSpPr>
            <p:cNvPr id="21552" name="Rectangle 21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53" name="Text Box 22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517525" y="3563938"/>
            <a:ext cx="981075" cy="325437"/>
            <a:chOff x="1607" y="3273"/>
            <a:chExt cx="618" cy="205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368925" y="4181475"/>
            <a:ext cx="981075" cy="325438"/>
            <a:chOff x="1607" y="3273"/>
            <a:chExt cx="618" cy="205"/>
          </a:xfrm>
        </p:grpSpPr>
        <p:sp>
          <p:nvSpPr>
            <p:cNvPr id="21548" name="Rectangle 2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49" name="Text Box 28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4319588" y="1685925"/>
            <a:ext cx="4692650" cy="630238"/>
            <a:chOff x="2721" y="1062"/>
            <a:chExt cx="2956" cy="397"/>
          </a:xfrm>
        </p:grpSpPr>
        <p:sp>
          <p:nvSpPr>
            <p:cNvPr id="21546" name="AutoShape 30"/>
            <p:cNvSpPr>
              <a:spLocks/>
            </p:cNvSpPr>
            <p:nvPr/>
          </p:nvSpPr>
          <p:spPr bwMode="auto">
            <a:xfrm rot="-5400000">
              <a:off x="4086" y="-131"/>
              <a:ext cx="225" cy="2956"/>
            </a:xfrm>
            <a:prstGeom prst="rightBrace">
              <a:avLst>
                <a:gd name="adj1" fmla="val 48415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47" name="Text Box 31"/>
            <p:cNvSpPr txBox="1">
              <a:spLocks noChangeArrowheads="1"/>
            </p:cNvSpPr>
            <p:nvPr/>
          </p:nvSpPr>
          <p:spPr bwMode="auto">
            <a:xfrm>
              <a:off x="3937" y="1062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17525" y="3560763"/>
            <a:ext cx="981075" cy="325437"/>
            <a:chOff x="1607" y="3273"/>
            <a:chExt cx="618" cy="205"/>
          </a:xfrm>
        </p:grpSpPr>
        <p:sp>
          <p:nvSpPr>
            <p:cNvPr id="21544" name="Rectangle 3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45" name="Text Box 34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517525" y="3560763"/>
            <a:ext cx="981075" cy="325437"/>
            <a:chOff x="1607" y="3273"/>
            <a:chExt cx="618" cy="205"/>
          </a:xfrm>
        </p:grpSpPr>
        <p:sp>
          <p:nvSpPr>
            <p:cNvPr id="21542" name="Rectangle 3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43" name="Text Box 37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pic>
        <p:nvPicPr>
          <p:cNvPr id="21521" name="Picture 38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22" name="Picture 39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23" name="Picture 40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24" name="Picture 41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525" name="Group 42"/>
          <p:cNvGrpSpPr>
            <a:grpSpLocks/>
          </p:cNvGrpSpPr>
          <p:nvPr/>
        </p:nvGrpSpPr>
        <p:grpSpPr bwMode="auto">
          <a:xfrm>
            <a:off x="2265363" y="3349625"/>
            <a:ext cx="1358900" cy="720725"/>
            <a:chOff x="1471" y="2124"/>
            <a:chExt cx="856" cy="454"/>
          </a:xfrm>
        </p:grpSpPr>
        <p:sp>
          <p:nvSpPr>
            <p:cNvPr id="21540" name="Rectangle 43"/>
            <p:cNvSpPr>
              <a:spLocks noChangeArrowheads="1"/>
            </p:cNvSpPr>
            <p:nvPr/>
          </p:nvSpPr>
          <p:spPr bwMode="auto">
            <a:xfrm>
              <a:off x="1471" y="212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41" name="Text Box 44"/>
            <p:cNvSpPr txBox="1">
              <a:spLocks noChangeArrowheads="1"/>
            </p:cNvSpPr>
            <p:nvPr/>
          </p:nvSpPr>
          <p:spPr bwMode="auto">
            <a:xfrm>
              <a:off x="1593" y="2212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14" name="Group 45"/>
          <p:cNvGrpSpPr>
            <a:grpSpLocks/>
          </p:cNvGrpSpPr>
          <p:nvPr/>
        </p:nvGrpSpPr>
        <p:grpSpPr bwMode="auto">
          <a:xfrm>
            <a:off x="5378450" y="2346325"/>
            <a:ext cx="981075" cy="325438"/>
            <a:chOff x="1607" y="3273"/>
            <a:chExt cx="618" cy="205"/>
          </a:xfrm>
        </p:grpSpPr>
        <p:sp>
          <p:nvSpPr>
            <p:cNvPr id="21538" name="Rectangle 4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39" name="Text Box 47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15" name="Group 48"/>
          <p:cNvGrpSpPr>
            <a:grpSpLocks/>
          </p:cNvGrpSpPr>
          <p:nvPr/>
        </p:nvGrpSpPr>
        <p:grpSpPr bwMode="auto">
          <a:xfrm>
            <a:off x="5378450" y="4175125"/>
            <a:ext cx="981075" cy="325438"/>
            <a:chOff x="1607" y="3273"/>
            <a:chExt cx="618" cy="205"/>
          </a:xfrm>
        </p:grpSpPr>
        <p:sp>
          <p:nvSpPr>
            <p:cNvPr id="21536" name="Rectangle 4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37" name="Text Box 50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16" name="Group 51"/>
          <p:cNvGrpSpPr>
            <a:grpSpLocks/>
          </p:cNvGrpSpPr>
          <p:nvPr/>
        </p:nvGrpSpPr>
        <p:grpSpPr bwMode="auto">
          <a:xfrm>
            <a:off x="5365750" y="2801938"/>
            <a:ext cx="981075" cy="325437"/>
            <a:chOff x="1607" y="3273"/>
            <a:chExt cx="618" cy="205"/>
          </a:xfrm>
        </p:grpSpPr>
        <p:sp>
          <p:nvSpPr>
            <p:cNvPr id="21534" name="Rectangle 52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35" name="Text Box 53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17" name="Group 54"/>
          <p:cNvGrpSpPr>
            <a:grpSpLocks/>
          </p:cNvGrpSpPr>
          <p:nvPr/>
        </p:nvGrpSpPr>
        <p:grpSpPr bwMode="auto">
          <a:xfrm>
            <a:off x="5365750" y="4625975"/>
            <a:ext cx="981075" cy="325438"/>
            <a:chOff x="1607" y="3273"/>
            <a:chExt cx="618" cy="205"/>
          </a:xfrm>
        </p:grpSpPr>
        <p:sp>
          <p:nvSpPr>
            <p:cNvPr id="21532" name="Rectangle 5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1533" name="Text Box 56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sp>
        <p:nvSpPr>
          <p:cNvPr id="21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Вложенный</a:t>
            </a:r>
            <a:r>
              <a:rPr lang="en-US" altLang="ru-RU" sz="3600">
                <a:solidFill>
                  <a:schemeClr val="bg2"/>
                </a:solidFill>
              </a:rPr>
              <a:t> RAID – </a:t>
            </a:r>
            <a:r>
              <a:rPr lang="ru-RU" altLang="ru-RU" sz="3600">
                <a:solidFill>
                  <a:srgbClr val="FF0000"/>
                </a:solidFill>
              </a:rPr>
              <a:t>1</a:t>
            </a:r>
            <a:r>
              <a:rPr lang="en-US" altLang="ru-RU" sz="3600">
                <a:solidFill>
                  <a:srgbClr val="FF0000"/>
                </a:solidFill>
              </a:rPr>
              <a:t>+</a:t>
            </a:r>
            <a:r>
              <a:rPr lang="ru-RU" altLang="ru-RU" sz="3600">
                <a:solidFill>
                  <a:srgbClr val="FF0000"/>
                </a:solidFill>
              </a:rPr>
              <a:t>0</a:t>
            </a:r>
            <a:br>
              <a:rPr lang="en-US" altLang="ru-RU" sz="3600">
                <a:solidFill>
                  <a:schemeClr val="bg2"/>
                </a:solidFill>
              </a:rPr>
            </a:br>
            <a:r>
              <a:rPr lang="en-US" altLang="ru-RU" sz="3600">
                <a:solidFill>
                  <a:schemeClr val="bg2"/>
                </a:solidFill>
              </a:rPr>
              <a:t>(Mirroring</a:t>
            </a:r>
            <a:r>
              <a:rPr lang="ru-RU" altLang="ru-RU" sz="3600">
                <a:solidFill>
                  <a:schemeClr val="bg2"/>
                </a:solidFill>
              </a:rPr>
              <a:t> </a:t>
            </a:r>
            <a:r>
              <a:rPr lang="en-US" altLang="ru-RU" sz="3600">
                <a:solidFill>
                  <a:schemeClr val="bg2"/>
                </a:solidFill>
              </a:rPr>
              <a:t>and Striping )</a:t>
            </a:r>
            <a:endParaRPr lang="en-US" altLang="ru-RU" sz="3600"/>
          </a:p>
        </p:txBody>
      </p:sp>
      <p:sp>
        <p:nvSpPr>
          <p:cNvPr id="21531" name="TextBox 58"/>
          <p:cNvSpPr txBox="1">
            <a:spLocks noChangeArrowheads="1"/>
          </p:cNvSpPr>
          <p:nvPr/>
        </p:nvSpPr>
        <p:spPr bwMode="auto">
          <a:xfrm>
            <a:off x="1038225" y="5470525"/>
            <a:ext cx="446405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Сегментированное зеркало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00116 L 0.33247 0.00116 L 0.33247 -0.17534 L 0.53039 -0.17534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" y="-8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-0.00023 L 0.33247 -0.00023 L 0.33247 0.08998 L 0.53039 0.08998 " pathEditMode="relative" rAng="0" ptsTypes="AAAA">
                                      <p:cBhvr>
                                        <p:cTn id="11" dur="2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3.33333E-6 L 0.27743 3.33333E-6 " pathEditMode="relative" rAng="0" ptsTypes="AA">
                                      <p:cBhvr>
                                        <p:cTn id="3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3.33333E-6 L 0.27743 -0.00069 " pathEditMode="relative" rAng="0" ptsTypes="AA">
                                      <p:cBhvr>
                                        <p:cTn id="3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62 L 0.33264 0.00162 L 0.33264 0.15706 L 0.53108 0.15706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" y="78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162 L 0.33264 0.00162 L 0.33264 -0.10942 L 0.53108 -0.10942 " pathEditMode="relative" rAng="0" ptsTypes="AAAA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" y="-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46 L 0.27708 -0.00046 " pathEditMode="relative" rAng="0" ptsTypes="AA">
                                      <p:cBhvr>
                                        <p:cTn id="7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23 L 0.27708 0.00023 " pathEditMode="relative" rAng="0" ptsTypes="AA">
                                      <p:cBhvr>
                                        <p:cTn id="7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2531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69D486CA-5531-4375-A9E8-C95CB943D12F}" type="slidenum">
              <a:rPr lang="en-US" altLang="ru-RU" sz="800" smtClean="0"/>
              <a:pPr/>
              <a:t>20</a:t>
            </a:fld>
            <a:endParaRPr lang="en-US" altLang="ru-RU" sz="800"/>
          </a:p>
        </p:txBody>
      </p:sp>
      <p:sp>
        <p:nvSpPr>
          <p:cNvPr id="22532" name="Freeform 2"/>
          <p:cNvSpPr>
            <a:spLocks/>
          </p:cNvSpPr>
          <p:nvPr/>
        </p:nvSpPr>
        <p:spPr bwMode="auto">
          <a:xfrm>
            <a:off x="4052888" y="2741613"/>
            <a:ext cx="3489325" cy="1825625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pic>
        <p:nvPicPr>
          <p:cNvPr id="22533" name="Picture 3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Line 4"/>
          <p:cNvSpPr>
            <a:spLocks noChangeShapeType="1"/>
          </p:cNvSpPr>
          <p:nvPr/>
        </p:nvSpPr>
        <p:spPr bwMode="auto">
          <a:xfrm>
            <a:off x="1128713" y="3732213"/>
            <a:ext cx="29146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2535" name="Group 5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2581" name="Picture 6" descr="host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82" name="Text Box 7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grpSp>
        <p:nvGrpSpPr>
          <p:cNvPr id="22536" name="Group 9"/>
          <p:cNvGrpSpPr>
            <a:grpSpLocks/>
          </p:cNvGrpSpPr>
          <p:nvPr/>
        </p:nvGrpSpPr>
        <p:grpSpPr bwMode="auto">
          <a:xfrm>
            <a:off x="2265363" y="3371850"/>
            <a:ext cx="1358900" cy="720725"/>
            <a:chOff x="1471" y="2124"/>
            <a:chExt cx="856" cy="454"/>
          </a:xfrm>
        </p:grpSpPr>
        <p:sp>
          <p:nvSpPr>
            <p:cNvPr id="22579" name="Rectangle 10"/>
            <p:cNvSpPr>
              <a:spLocks noChangeArrowheads="1"/>
            </p:cNvSpPr>
            <p:nvPr/>
          </p:nvSpPr>
          <p:spPr bwMode="auto">
            <a:xfrm>
              <a:off x="1471" y="212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80" name="Text Box 11"/>
            <p:cNvSpPr txBox="1">
              <a:spLocks noChangeArrowheads="1"/>
            </p:cNvSpPr>
            <p:nvPr/>
          </p:nvSpPr>
          <p:spPr bwMode="auto">
            <a:xfrm>
              <a:off x="1593" y="2212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22537" name="Group 12"/>
          <p:cNvGrpSpPr>
            <a:grpSpLocks/>
          </p:cNvGrpSpPr>
          <p:nvPr/>
        </p:nvGrpSpPr>
        <p:grpSpPr bwMode="auto">
          <a:xfrm>
            <a:off x="6400800" y="2344738"/>
            <a:ext cx="1206500" cy="2616200"/>
            <a:chOff x="3346" y="1477"/>
            <a:chExt cx="760" cy="1648"/>
          </a:xfrm>
        </p:grpSpPr>
        <p:sp>
          <p:nvSpPr>
            <p:cNvPr id="22577" name="AutoShape 13"/>
            <p:cNvSpPr>
              <a:spLocks/>
            </p:cNvSpPr>
            <p:nvPr/>
          </p:nvSpPr>
          <p:spPr bwMode="auto">
            <a:xfrm>
              <a:off x="3346" y="1477"/>
              <a:ext cx="225" cy="1648"/>
            </a:xfrm>
            <a:prstGeom prst="rightBrace">
              <a:avLst>
                <a:gd name="adj1" fmla="val 61037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78" name="Text Box 14"/>
            <p:cNvSpPr txBox="1">
              <a:spLocks noChangeArrowheads="1"/>
            </p:cNvSpPr>
            <p:nvPr/>
          </p:nvSpPr>
          <p:spPr bwMode="auto">
            <a:xfrm>
              <a:off x="3659" y="2250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1</a:t>
              </a:r>
            </a:p>
          </p:txBody>
        </p:sp>
      </p:grpSp>
      <p:grpSp>
        <p:nvGrpSpPr>
          <p:cNvPr id="22538" name="Group 15"/>
          <p:cNvGrpSpPr>
            <a:grpSpLocks/>
          </p:cNvGrpSpPr>
          <p:nvPr/>
        </p:nvGrpSpPr>
        <p:grpSpPr bwMode="auto">
          <a:xfrm>
            <a:off x="5368925" y="4181475"/>
            <a:ext cx="981075" cy="325438"/>
            <a:chOff x="1607" y="3273"/>
            <a:chExt cx="618" cy="205"/>
          </a:xfrm>
        </p:grpSpPr>
        <p:sp>
          <p:nvSpPr>
            <p:cNvPr id="22575" name="Rectangle 1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76" name="Text Box 17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5368925" y="2352675"/>
            <a:ext cx="981075" cy="325438"/>
            <a:chOff x="1607" y="3273"/>
            <a:chExt cx="618" cy="205"/>
          </a:xfrm>
        </p:grpSpPr>
        <p:sp>
          <p:nvSpPr>
            <p:cNvPr id="22573" name="Rectangle 1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74" name="Text Box 20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22540" name="Group 21"/>
          <p:cNvGrpSpPr>
            <a:grpSpLocks/>
          </p:cNvGrpSpPr>
          <p:nvPr/>
        </p:nvGrpSpPr>
        <p:grpSpPr bwMode="auto">
          <a:xfrm>
            <a:off x="4319588" y="1685925"/>
            <a:ext cx="4692650" cy="630238"/>
            <a:chOff x="2721" y="1062"/>
            <a:chExt cx="2956" cy="397"/>
          </a:xfrm>
        </p:grpSpPr>
        <p:sp>
          <p:nvSpPr>
            <p:cNvPr id="22571" name="AutoShape 22"/>
            <p:cNvSpPr>
              <a:spLocks/>
            </p:cNvSpPr>
            <p:nvPr/>
          </p:nvSpPr>
          <p:spPr bwMode="auto">
            <a:xfrm rot="-5400000">
              <a:off x="4086" y="-131"/>
              <a:ext cx="225" cy="2956"/>
            </a:xfrm>
            <a:prstGeom prst="rightBrace">
              <a:avLst>
                <a:gd name="adj1" fmla="val 48415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72" name="Text Box 23"/>
            <p:cNvSpPr txBox="1">
              <a:spLocks noChangeArrowheads="1"/>
            </p:cNvSpPr>
            <p:nvPr/>
          </p:nvSpPr>
          <p:spPr bwMode="auto">
            <a:xfrm>
              <a:off x="3937" y="1062"/>
              <a:ext cx="447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algn="l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RAID 0</a:t>
              </a:r>
            </a:p>
          </p:txBody>
        </p:sp>
      </p:grpSp>
      <p:grpSp>
        <p:nvGrpSpPr>
          <p:cNvPr id="22541" name="Group 24"/>
          <p:cNvGrpSpPr>
            <a:grpSpLocks/>
          </p:cNvGrpSpPr>
          <p:nvPr/>
        </p:nvGrpSpPr>
        <p:grpSpPr bwMode="auto">
          <a:xfrm>
            <a:off x="5368925" y="4629150"/>
            <a:ext cx="981075" cy="325438"/>
            <a:chOff x="1607" y="3273"/>
            <a:chExt cx="618" cy="205"/>
          </a:xfrm>
        </p:grpSpPr>
        <p:sp>
          <p:nvSpPr>
            <p:cNvPr id="22569" name="Rectangle 2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70" name="Text Box 26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5368925" y="2805113"/>
            <a:ext cx="981075" cy="325437"/>
            <a:chOff x="1607" y="3273"/>
            <a:chExt cx="618" cy="205"/>
          </a:xfrm>
        </p:grpSpPr>
        <p:sp>
          <p:nvSpPr>
            <p:cNvPr id="22567" name="Rectangle 28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68" name="Text Box 29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22543" name="Group 30"/>
          <p:cNvGrpSpPr>
            <a:grpSpLocks/>
          </p:cNvGrpSpPr>
          <p:nvPr/>
        </p:nvGrpSpPr>
        <p:grpSpPr bwMode="auto">
          <a:xfrm>
            <a:off x="7912100" y="2805113"/>
            <a:ext cx="981075" cy="325437"/>
            <a:chOff x="1607" y="3273"/>
            <a:chExt cx="618" cy="205"/>
          </a:xfrm>
        </p:grpSpPr>
        <p:sp>
          <p:nvSpPr>
            <p:cNvPr id="22565" name="Rectangle 31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66" name="Text Box 32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22544" name="Group 33"/>
          <p:cNvGrpSpPr>
            <a:grpSpLocks/>
          </p:cNvGrpSpPr>
          <p:nvPr/>
        </p:nvGrpSpPr>
        <p:grpSpPr bwMode="auto">
          <a:xfrm>
            <a:off x="7912100" y="4629150"/>
            <a:ext cx="981075" cy="325438"/>
            <a:chOff x="1607" y="3273"/>
            <a:chExt cx="618" cy="205"/>
          </a:xfrm>
        </p:grpSpPr>
        <p:sp>
          <p:nvSpPr>
            <p:cNvPr id="22563" name="Rectangle 34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64" name="Text Box 35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22545" name="Group 36"/>
          <p:cNvGrpSpPr>
            <a:grpSpLocks/>
          </p:cNvGrpSpPr>
          <p:nvPr/>
        </p:nvGrpSpPr>
        <p:grpSpPr bwMode="auto">
          <a:xfrm>
            <a:off x="7912100" y="2352675"/>
            <a:ext cx="981075" cy="325438"/>
            <a:chOff x="1607" y="3273"/>
            <a:chExt cx="618" cy="205"/>
          </a:xfrm>
        </p:grpSpPr>
        <p:sp>
          <p:nvSpPr>
            <p:cNvPr id="22561" name="Rectangle 3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62" name="Text Box 38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22546" name="Group 39"/>
          <p:cNvGrpSpPr>
            <a:grpSpLocks/>
          </p:cNvGrpSpPr>
          <p:nvPr/>
        </p:nvGrpSpPr>
        <p:grpSpPr bwMode="auto">
          <a:xfrm>
            <a:off x="7912100" y="4181475"/>
            <a:ext cx="981075" cy="325438"/>
            <a:chOff x="1607" y="3273"/>
            <a:chExt cx="618" cy="205"/>
          </a:xfrm>
        </p:grpSpPr>
        <p:sp>
          <p:nvSpPr>
            <p:cNvPr id="22559" name="Rectangle 40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60" name="Text Box 41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sp>
        <p:nvSpPr>
          <p:cNvPr id="2972714" name="AutoShape 42"/>
          <p:cNvSpPr>
            <a:spLocks noChangeArrowheads="1"/>
          </p:cNvSpPr>
          <p:nvPr/>
        </p:nvSpPr>
        <p:spPr bwMode="auto">
          <a:xfrm>
            <a:off x="4762500" y="2295525"/>
            <a:ext cx="904875" cy="9048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700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899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0000"/>
          </a:solidFill>
          <a:ln w="25400" algn="ctr">
            <a:solidFill>
              <a:schemeClr val="bg1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/>
          </a:p>
        </p:txBody>
      </p:sp>
      <p:grpSp>
        <p:nvGrpSpPr>
          <p:cNvPr id="14" name="Group 43"/>
          <p:cNvGrpSpPr>
            <a:grpSpLocks/>
          </p:cNvGrpSpPr>
          <p:nvPr/>
        </p:nvGrpSpPr>
        <p:grpSpPr bwMode="auto">
          <a:xfrm>
            <a:off x="5368925" y="4181475"/>
            <a:ext cx="981075" cy="325438"/>
            <a:chOff x="1607" y="3273"/>
            <a:chExt cx="618" cy="205"/>
          </a:xfrm>
        </p:grpSpPr>
        <p:sp>
          <p:nvSpPr>
            <p:cNvPr id="22557" name="Rectangle 44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58" name="Text Box 45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15" name="Group 46"/>
          <p:cNvGrpSpPr>
            <a:grpSpLocks/>
          </p:cNvGrpSpPr>
          <p:nvPr/>
        </p:nvGrpSpPr>
        <p:grpSpPr bwMode="auto">
          <a:xfrm>
            <a:off x="5368925" y="4629150"/>
            <a:ext cx="981075" cy="325438"/>
            <a:chOff x="1607" y="3273"/>
            <a:chExt cx="618" cy="205"/>
          </a:xfrm>
        </p:grpSpPr>
        <p:sp>
          <p:nvSpPr>
            <p:cNvPr id="22555" name="Rectangle 4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2556" name="Text Box 48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pic>
        <p:nvPicPr>
          <p:cNvPr id="22550" name="Picture 49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51" name="Picture 50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4343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52" name="Picture 51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altLang="ru-RU">
                <a:solidFill>
                  <a:schemeClr val="bg2"/>
                </a:solidFill>
              </a:rPr>
              <a:t>Вложенный</a:t>
            </a:r>
            <a:r>
              <a:rPr lang="en-US" altLang="ru-RU">
                <a:solidFill>
                  <a:schemeClr val="bg2"/>
                </a:solidFill>
              </a:rPr>
              <a:t> RAID – </a:t>
            </a:r>
            <a:r>
              <a:rPr lang="ru-RU" altLang="ru-RU">
                <a:solidFill>
                  <a:srgbClr val="FF0000"/>
                </a:solidFill>
              </a:rPr>
              <a:t>1+0</a:t>
            </a:r>
            <a:r>
              <a:rPr lang="en-US" altLang="ru-RU">
                <a:solidFill>
                  <a:schemeClr val="bg2"/>
                </a:solidFill>
              </a:rPr>
              <a:t> </a:t>
            </a:r>
            <a:br>
              <a:rPr lang="en-US" altLang="ru-RU">
                <a:solidFill>
                  <a:schemeClr val="bg2"/>
                </a:solidFill>
              </a:rPr>
            </a:br>
            <a:r>
              <a:rPr lang="en-US" altLang="ru-RU">
                <a:solidFill>
                  <a:schemeClr val="bg2"/>
                </a:solidFill>
              </a:rPr>
              <a:t>(Mirroring and Striping)</a:t>
            </a:r>
            <a:endParaRPr lang="en-US" altLang="ru-RU"/>
          </a:p>
        </p:txBody>
      </p:sp>
      <p:sp>
        <p:nvSpPr>
          <p:cNvPr id="22554" name="TextBox 53"/>
          <p:cNvSpPr txBox="1">
            <a:spLocks noChangeArrowheads="1"/>
          </p:cNvSpPr>
          <p:nvPr/>
        </p:nvSpPr>
        <p:spPr bwMode="auto">
          <a:xfrm>
            <a:off x="1038225" y="5470525"/>
            <a:ext cx="446405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Сегментированное зеркало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972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1.38889E-6 -0.26805 " pathEditMode="relative" rAng="0" ptsTypes="AA">
                                      <p:cBhvr>
                                        <p:cTn id="2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1.38889E-6 -0.26528 " pathEditMode="relative" rAng="0" ptsTypes="AA">
                                      <p:cBhvr>
                                        <p:cTn id="3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714" grpId="0" animBg="1"/>
      <p:bldP spid="297271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1"/>
          <p:cNvSpPr>
            <a:spLocks noGrp="1" noChangeArrowheads="1"/>
          </p:cNvSpPr>
          <p:nvPr>
            <p:ph type="title"/>
          </p:nvPr>
        </p:nvSpPr>
        <p:spPr>
          <a:xfrm>
            <a:off x="152400" y="411163"/>
            <a:ext cx="8699500" cy="542925"/>
          </a:xfrm>
        </p:spPr>
        <p:txBody>
          <a:bodyPr/>
          <a:lstStyle/>
          <a:p>
            <a:pPr algn="ctr" eaLnBrk="1" hangingPunct="1"/>
            <a:r>
              <a:rPr lang="en-US" altLang="ru-RU" sz="3600"/>
              <a:t>RAID </a:t>
            </a:r>
            <a:r>
              <a:rPr lang="ru-RU" altLang="ru-RU" sz="3600"/>
              <a:t>отказоустойчивость</a:t>
            </a:r>
            <a:r>
              <a:rPr lang="en-US" altLang="ru-RU" sz="3600"/>
              <a:t>: </a:t>
            </a:r>
            <a:r>
              <a:rPr lang="ru-RU" altLang="ru-RU" sz="3600"/>
              <a:t>четность</a:t>
            </a:r>
            <a:r>
              <a:rPr lang="en-US" altLang="ru-RU" sz="3600"/>
              <a:t> </a:t>
            </a:r>
          </a:p>
        </p:txBody>
      </p:sp>
      <p:sp>
        <p:nvSpPr>
          <p:cNvPr id="23555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B10C61F4-8D99-4111-8B69-31BF87D8AEAE}" type="slidenum">
              <a:rPr lang="en-US" altLang="ru-RU" sz="800" smtClean="0"/>
              <a:pPr/>
              <a:t>21</a:t>
            </a:fld>
            <a:endParaRPr lang="en-US" altLang="ru-RU" sz="800"/>
          </a:p>
        </p:txBody>
      </p:sp>
      <p:sp>
        <p:nvSpPr>
          <p:cNvPr id="23557" name="Line 2"/>
          <p:cNvSpPr>
            <a:spLocks noChangeShapeType="1"/>
          </p:cNvSpPr>
          <p:nvPr/>
        </p:nvSpPr>
        <p:spPr bwMode="auto">
          <a:xfrm>
            <a:off x="5392738" y="2824163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3558" name="Line 3"/>
          <p:cNvSpPr>
            <a:spLocks noChangeShapeType="1"/>
          </p:cNvSpPr>
          <p:nvPr/>
        </p:nvSpPr>
        <p:spPr bwMode="auto">
          <a:xfrm>
            <a:off x="1400175" y="3817938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3559" name="Line 4"/>
          <p:cNvSpPr>
            <a:spLocks noChangeShapeType="1"/>
          </p:cNvSpPr>
          <p:nvPr/>
        </p:nvSpPr>
        <p:spPr bwMode="auto">
          <a:xfrm>
            <a:off x="5392738" y="4810125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3560" name="Freeform 5"/>
          <p:cNvSpPr>
            <a:spLocks/>
          </p:cNvSpPr>
          <p:nvPr/>
        </p:nvSpPr>
        <p:spPr bwMode="auto">
          <a:xfrm>
            <a:off x="5392738" y="1827213"/>
            <a:ext cx="641350" cy="3968750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pic>
        <p:nvPicPr>
          <p:cNvPr id="23561" name="Picture 6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2" name="Picture 7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3" name="Picture 8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4" name="Picture 9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5" name="Picture 10" descr="strippeddis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6" name="Line 12"/>
          <p:cNvSpPr>
            <a:spLocks noChangeShapeType="1"/>
          </p:cNvSpPr>
          <p:nvPr/>
        </p:nvSpPr>
        <p:spPr bwMode="auto">
          <a:xfrm>
            <a:off x="5503863" y="6469063"/>
            <a:ext cx="779462" cy="0"/>
          </a:xfrm>
          <a:prstGeom prst="line">
            <a:avLst/>
          </a:prstGeom>
          <a:noFill/>
          <a:ln w="9525">
            <a:solidFill>
              <a:srgbClr val="000610"/>
            </a:solidFill>
            <a:round/>
            <a:headEnd/>
            <a:tailEnd type="non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3567" name="Line 13"/>
          <p:cNvSpPr>
            <a:spLocks noChangeShapeType="1"/>
          </p:cNvSpPr>
          <p:nvPr/>
        </p:nvSpPr>
        <p:spPr bwMode="auto">
          <a:xfrm flipV="1">
            <a:off x="6269038" y="6073775"/>
            <a:ext cx="65087" cy="395288"/>
          </a:xfrm>
          <a:prstGeom prst="line">
            <a:avLst/>
          </a:prstGeom>
          <a:noFill/>
          <a:ln w="9525">
            <a:solidFill>
              <a:srgbClr val="000610"/>
            </a:solidFill>
            <a:round/>
            <a:headEnd/>
            <a:tailEnd type="triangle" w="med" len="lg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3568" name="Text Box 14"/>
          <p:cNvSpPr txBox="1">
            <a:spLocks noChangeArrowheads="1"/>
          </p:cNvSpPr>
          <p:nvPr/>
        </p:nvSpPr>
        <p:spPr bwMode="auto">
          <a:xfrm>
            <a:off x="4117975" y="6242050"/>
            <a:ext cx="1595438" cy="21590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ru-RU" altLang="ru-RU" sz="1400" b="1">
                <a:solidFill>
                  <a:srgbClr val="000610"/>
                </a:solidFill>
                <a:latin typeface="Verdana" pitchFamily="34" charset="0"/>
              </a:rPr>
              <a:t>Диск четности</a:t>
            </a:r>
            <a:endParaRPr lang="en-US" altLang="ru-RU" sz="1400" b="1">
              <a:solidFill>
                <a:srgbClr val="000610"/>
              </a:solidFill>
              <a:latin typeface="Verdana" pitchFamily="34" charset="0"/>
            </a:endParaRPr>
          </a:p>
        </p:txBody>
      </p:sp>
      <p:sp>
        <p:nvSpPr>
          <p:cNvPr id="23569" name="Text Box 15"/>
          <p:cNvSpPr txBox="1">
            <a:spLocks noChangeArrowheads="1"/>
          </p:cNvSpPr>
          <p:nvPr/>
        </p:nvSpPr>
        <p:spPr bwMode="auto">
          <a:xfrm>
            <a:off x="7888288" y="2446338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570" name="Text Box 16"/>
          <p:cNvSpPr txBox="1">
            <a:spLocks noChangeArrowheads="1"/>
          </p:cNvSpPr>
          <p:nvPr/>
        </p:nvSpPr>
        <p:spPr bwMode="auto">
          <a:xfrm>
            <a:off x="7878763" y="29384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3571" name="Text Box 17"/>
          <p:cNvSpPr txBox="1">
            <a:spLocks noChangeArrowheads="1"/>
          </p:cNvSpPr>
          <p:nvPr/>
        </p:nvSpPr>
        <p:spPr bwMode="auto">
          <a:xfrm>
            <a:off x="7885113" y="26971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572" name="Text Box 18"/>
          <p:cNvSpPr txBox="1">
            <a:spLocks noChangeArrowheads="1"/>
          </p:cNvSpPr>
          <p:nvPr/>
        </p:nvSpPr>
        <p:spPr bwMode="auto">
          <a:xfrm>
            <a:off x="7888288" y="4389438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573" name="Text Box 19"/>
          <p:cNvSpPr txBox="1">
            <a:spLocks noChangeArrowheads="1"/>
          </p:cNvSpPr>
          <p:nvPr/>
        </p:nvSpPr>
        <p:spPr bwMode="auto">
          <a:xfrm>
            <a:off x="7826375" y="4881563"/>
            <a:ext cx="225425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3574" name="Text Box 20"/>
          <p:cNvSpPr txBox="1">
            <a:spLocks noChangeArrowheads="1"/>
          </p:cNvSpPr>
          <p:nvPr/>
        </p:nvSpPr>
        <p:spPr bwMode="auto">
          <a:xfrm>
            <a:off x="7888288" y="46402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02389" name="AutoShape 21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002390" name="AutoShape 22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002391" name="AutoShape 23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002392" name="AutoShape 24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002393" name="AutoShape 25"/>
          <p:cNvSpPr>
            <a:spLocks noChangeAspect="1" noChangeArrowheads="1"/>
          </p:cNvSpPr>
          <p:nvPr/>
        </p:nvSpPr>
        <p:spPr bwMode="auto">
          <a:xfrm flipV="1">
            <a:off x="4605338" y="3694113"/>
            <a:ext cx="173037" cy="249237"/>
          </a:xfrm>
          <a:prstGeom prst="foldedCorner">
            <a:avLst>
              <a:gd name="adj" fmla="val 30912"/>
            </a:avLst>
          </a:prstGeom>
          <a:solidFill>
            <a:srgbClr val="993300"/>
          </a:solidFill>
          <a:ln w="28575">
            <a:solidFill>
              <a:srgbClr val="00000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3580" name="Text Box 26"/>
          <p:cNvSpPr txBox="1">
            <a:spLocks noChangeArrowheads="1"/>
          </p:cNvSpPr>
          <p:nvPr/>
        </p:nvSpPr>
        <p:spPr bwMode="auto">
          <a:xfrm>
            <a:off x="2471738" y="1617663"/>
            <a:ext cx="112712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3581" name="Text Box 27"/>
          <p:cNvSpPr txBox="1">
            <a:spLocks noChangeArrowheads="1"/>
          </p:cNvSpPr>
          <p:nvPr/>
        </p:nvSpPr>
        <p:spPr bwMode="auto">
          <a:xfrm>
            <a:off x="7332663" y="5389563"/>
            <a:ext cx="622300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0 1 2 3</a:t>
            </a:r>
          </a:p>
        </p:txBody>
      </p:sp>
      <p:sp>
        <p:nvSpPr>
          <p:cNvPr id="23582" name="Text Box 28"/>
          <p:cNvSpPr txBox="1">
            <a:spLocks noChangeArrowheads="1"/>
          </p:cNvSpPr>
          <p:nvPr/>
        </p:nvSpPr>
        <p:spPr bwMode="auto">
          <a:xfrm>
            <a:off x="7334250" y="5640388"/>
            <a:ext cx="622300" cy="2444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600">
                <a:solidFill>
                  <a:schemeClr val="bg1"/>
                </a:solidFill>
              </a:rPr>
              <a:t>4 5 6 7</a:t>
            </a:r>
          </a:p>
        </p:txBody>
      </p:sp>
      <p:sp>
        <p:nvSpPr>
          <p:cNvPr id="3002397" name="Rectangle 29"/>
          <p:cNvSpPr>
            <a:spLocks noChangeArrowheads="1"/>
          </p:cNvSpPr>
          <p:nvPr/>
        </p:nvSpPr>
        <p:spPr bwMode="auto">
          <a:xfrm>
            <a:off x="7264400" y="1685925"/>
            <a:ext cx="889000" cy="219075"/>
          </a:xfrm>
          <a:prstGeom prst="rect">
            <a:avLst/>
          </a:prstGeom>
          <a:solidFill>
            <a:srgbClr val="C08E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800"/>
              <a:t>4</a:t>
            </a:r>
          </a:p>
        </p:txBody>
      </p:sp>
      <p:sp>
        <p:nvSpPr>
          <p:cNvPr id="3002398" name="Line 30"/>
          <p:cNvSpPr>
            <a:spLocks noChangeShapeType="1"/>
          </p:cNvSpPr>
          <p:nvPr/>
        </p:nvSpPr>
        <p:spPr bwMode="auto">
          <a:xfrm>
            <a:off x="6400800" y="1792288"/>
            <a:ext cx="914400" cy="0"/>
          </a:xfrm>
          <a:prstGeom prst="line">
            <a:avLst/>
          </a:prstGeom>
          <a:noFill/>
          <a:ln w="15875">
            <a:solidFill>
              <a:srgbClr val="C08E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02399" name="Rectangle 31"/>
          <p:cNvSpPr>
            <a:spLocks noChangeArrowheads="1"/>
          </p:cNvSpPr>
          <p:nvPr/>
        </p:nvSpPr>
        <p:spPr bwMode="auto">
          <a:xfrm>
            <a:off x="7264400" y="2676525"/>
            <a:ext cx="889000" cy="219075"/>
          </a:xfrm>
          <a:prstGeom prst="rect">
            <a:avLst/>
          </a:prstGeom>
          <a:solidFill>
            <a:srgbClr val="C08E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800"/>
              <a:t>6</a:t>
            </a:r>
          </a:p>
        </p:txBody>
      </p:sp>
      <p:sp>
        <p:nvSpPr>
          <p:cNvPr id="3002400" name="Line 32"/>
          <p:cNvSpPr>
            <a:spLocks noChangeShapeType="1"/>
          </p:cNvSpPr>
          <p:nvPr/>
        </p:nvSpPr>
        <p:spPr bwMode="auto">
          <a:xfrm>
            <a:off x="6400800" y="2795588"/>
            <a:ext cx="914400" cy="0"/>
          </a:xfrm>
          <a:prstGeom prst="line">
            <a:avLst/>
          </a:prstGeom>
          <a:noFill/>
          <a:ln w="15875">
            <a:solidFill>
              <a:srgbClr val="C08E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02401" name="Rectangle 33"/>
          <p:cNvSpPr>
            <a:spLocks noChangeArrowheads="1"/>
          </p:cNvSpPr>
          <p:nvPr/>
        </p:nvSpPr>
        <p:spPr bwMode="auto">
          <a:xfrm>
            <a:off x="7264400" y="3654425"/>
            <a:ext cx="889000" cy="219075"/>
          </a:xfrm>
          <a:prstGeom prst="rect">
            <a:avLst/>
          </a:prstGeom>
          <a:solidFill>
            <a:srgbClr val="C08E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600"/>
              <a:t>1</a:t>
            </a:r>
          </a:p>
        </p:txBody>
      </p:sp>
      <p:sp>
        <p:nvSpPr>
          <p:cNvPr id="3002402" name="Line 34"/>
          <p:cNvSpPr>
            <a:spLocks noChangeShapeType="1"/>
          </p:cNvSpPr>
          <p:nvPr/>
        </p:nvSpPr>
        <p:spPr bwMode="auto">
          <a:xfrm>
            <a:off x="6400800" y="3786188"/>
            <a:ext cx="914400" cy="0"/>
          </a:xfrm>
          <a:prstGeom prst="line">
            <a:avLst/>
          </a:prstGeom>
          <a:noFill/>
          <a:ln w="15875">
            <a:solidFill>
              <a:srgbClr val="C08E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02403" name="Rectangle 35"/>
          <p:cNvSpPr>
            <a:spLocks noChangeArrowheads="1"/>
          </p:cNvSpPr>
          <p:nvPr/>
        </p:nvSpPr>
        <p:spPr bwMode="auto">
          <a:xfrm>
            <a:off x="7264400" y="4657725"/>
            <a:ext cx="889000" cy="219075"/>
          </a:xfrm>
          <a:prstGeom prst="rect">
            <a:avLst/>
          </a:prstGeom>
          <a:solidFill>
            <a:srgbClr val="C08E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800"/>
              <a:t>7</a:t>
            </a:r>
          </a:p>
        </p:txBody>
      </p:sp>
      <p:sp>
        <p:nvSpPr>
          <p:cNvPr id="3002404" name="Line 36"/>
          <p:cNvSpPr>
            <a:spLocks noChangeShapeType="1"/>
          </p:cNvSpPr>
          <p:nvPr/>
        </p:nvSpPr>
        <p:spPr bwMode="auto">
          <a:xfrm>
            <a:off x="6400800" y="4776788"/>
            <a:ext cx="914400" cy="0"/>
          </a:xfrm>
          <a:prstGeom prst="line">
            <a:avLst/>
          </a:prstGeom>
          <a:noFill/>
          <a:ln w="15875">
            <a:solidFill>
              <a:srgbClr val="C08E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02405" name="Rectangle 37"/>
          <p:cNvSpPr>
            <a:spLocks noChangeArrowheads="1"/>
          </p:cNvSpPr>
          <p:nvPr/>
        </p:nvSpPr>
        <p:spPr bwMode="auto">
          <a:xfrm>
            <a:off x="7264400" y="5648325"/>
            <a:ext cx="889000" cy="219075"/>
          </a:xfrm>
          <a:prstGeom prst="rect">
            <a:avLst/>
          </a:prstGeom>
          <a:solidFill>
            <a:srgbClr val="C08E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800"/>
              <a:t>18</a:t>
            </a:r>
          </a:p>
        </p:txBody>
      </p:sp>
      <p:sp>
        <p:nvSpPr>
          <p:cNvPr id="3002406" name="Line 38"/>
          <p:cNvSpPr>
            <a:spLocks noChangeShapeType="1"/>
          </p:cNvSpPr>
          <p:nvPr/>
        </p:nvSpPr>
        <p:spPr bwMode="auto">
          <a:xfrm>
            <a:off x="6400800" y="5765800"/>
            <a:ext cx="914400" cy="0"/>
          </a:xfrm>
          <a:prstGeom prst="line">
            <a:avLst/>
          </a:prstGeom>
          <a:noFill/>
          <a:ln w="15875">
            <a:solidFill>
              <a:srgbClr val="C08E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23593" name="Group 39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3604" name="Picture 40" descr="host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605" name="Text Box 41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3002410" name="AutoShape 42"/>
          <p:cNvSpPr>
            <a:spLocks noChangeArrowheads="1"/>
          </p:cNvSpPr>
          <p:nvPr/>
        </p:nvSpPr>
        <p:spPr bwMode="auto">
          <a:xfrm flipV="1">
            <a:off x="1284288" y="3505200"/>
            <a:ext cx="436562" cy="628650"/>
          </a:xfrm>
          <a:prstGeom prst="foldedCorner">
            <a:avLst>
              <a:gd name="adj" fmla="val 30912"/>
            </a:avLst>
          </a:prstGeom>
          <a:solidFill>
            <a:schemeClr val="accent1"/>
          </a:solidFill>
          <a:ln w="28575">
            <a:solidFill>
              <a:srgbClr val="000610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grpSp>
        <p:nvGrpSpPr>
          <p:cNvPr id="23595" name="Group 43"/>
          <p:cNvGrpSpPr>
            <a:grpSpLocks/>
          </p:cNvGrpSpPr>
          <p:nvPr/>
        </p:nvGrpSpPr>
        <p:grpSpPr bwMode="auto">
          <a:xfrm>
            <a:off x="3438525" y="3451225"/>
            <a:ext cx="1358900" cy="720725"/>
            <a:chOff x="2166" y="2174"/>
            <a:chExt cx="856" cy="454"/>
          </a:xfrm>
        </p:grpSpPr>
        <p:sp>
          <p:nvSpPr>
            <p:cNvPr id="23602" name="Rectangle 44"/>
            <p:cNvSpPr>
              <a:spLocks noChangeArrowheads="1"/>
            </p:cNvSpPr>
            <p:nvPr/>
          </p:nvSpPr>
          <p:spPr bwMode="auto">
            <a:xfrm>
              <a:off x="2166" y="2174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3603" name="Text Box 45"/>
            <p:cNvSpPr txBox="1">
              <a:spLocks noChangeArrowheads="1"/>
            </p:cNvSpPr>
            <p:nvPr/>
          </p:nvSpPr>
          <p:spPr bwMode="auto">
            <a:xfrm>
              <a:off x="2288" y="2264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sp>
        <p:nvSpPr>
          <p:cNvPr id="3002414" name="Text Box 46"/>
          <p:cNvSpPr txBox="1">
            <a:spLocks noChangeArrowheads="1"/>
          </p:cNvSpPr>
          <p:nvPr/>
        </p:nvSpPr>
        <p:spPr bwMode="auto">
          <a:xfrm>
            <a:off x="225425" y="5081588"/>
            <a:ext cx="4803775" cy="246062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marL="354013" indent="-354013" algn="l" defTabSz="941388"/>
            <a:r>
              <a:rPr lang="ru-RU" altLang="ru-RU" sz="1600" b="1">
                <a:solidFill>
                  <a:srgbClr val="000610"/>
                </a:solidFill>
                <a:latin typeface="Verdana" pitchFamily="34" charset="0"/>
              </a:rPr>
              <a:t>Вычисление четности </a:t>
            </a:r>
            <a:r>
              <a:rPr lang="en-US" altLang="ru-RU" sz="1600" b="1">
                <a:solidFill>
                  <a:srgbClr val="000610"/>
                </a:solidFill>
                <a:latin typeface="Verdana" pitchFamily="34" charset="0"/>
              </a:rPr>
              <a:t>4 + 6 + 1 + 7 = 18</a:t>
            </a:r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41300" y="3429000"/>
            <a:ext cx="6330950" cy="2187575"/>
            <a:chOff x="152" y="2160"/>
            <a:chExt cx="3988" cy="1378"/>
          </a:xfrm>
        </p:grpSpPr>
        <p:sp>
          <p:nvSpPr>
            <p:cNvPr id="23600" name="Text Box 48"/>
            <p:cNvSpPr txBox="1">
              <a:spLocks noChangeArrowheads="1"/>
            </p:cNvSpPr>
            <p:nvPr/>
          </p:nvSpPr>
          <p:spPr bwMode="auto">
            <a:xfrm>
              <a:off x="152" y="3384"/>
              <a:ext cx="2364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algn="l" defTabSz="941388"/>
              <a:r>
                <a:rPr lang="ru-RU" altLang="ru-RU" sz="1600" b="1">
                  <a:solidFill>
                    <a:srgbClr val="000610"/>
                  </a:solidFill>
                  <a:latin typeface="Verdana" pitchFamily="34" charset="0"/>
                </a:rPr>
                <a:t>Отказ одного диска</a:t>
              </a:r>
              <a:r>
                <a:rPr lang="en-US" altLang="ru-RU" sz="1600" b="1">
                  <a:solidFill>
                    <a:srgbClr val="000610"/>
                  </a:solidFill>
                  <a:latin typeface="Verdana" pitchFamily="34" charset="0"/>
                </a:rPr>
                <a:t>:</a:t>
              </a:r>
            </a:p>
          </p:txBody>
        </p:sp>
        <p:sp>
          <p:nvSpPr>
            <p:cNvPr id="23601" name="AutoShape 49"/>
            <p:cNvSpPr>
              <a:spLocks noChangeAspect="1" noChangeArrowheads="1"/>
            </p:cNvSpPr>
            <p:nvPr/>
          </p:nvSpPr>
          <p:spPr bwMode="auto">
            <a:xfrm>
              <a:off x="3648" y="2160"/>
              <a:ext cx="492" cy="4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61 h 21600"/>
                <a:gd name="T26" fmla="*/ 18439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700"/>
                    <a:pt x="7477" y="3223"/>
                    <a:pt x="6106" y="4198"/>
                  </a:cubicBezTo>
                  <a:lnTo>
                    <a:pt x="17401" y="15493"/>
                  </a:ln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899"/>
                    <a:pt x="14122" y="18376"/>
                    <a:pt x="15493" y="17401"/>
                  </a:cubicBezTo>
                  <a:lnTo>
                    <a:pt x="4198" y="6106"/>
                  </a:lnTo>
                  <a:close/>
                </a:path>
              </a:pathLst>
            </a:custGeom>
            <a:solidFill>
              <a:srgbClr val="FF0000"/>
            </a:solidFill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/>
            </a:p>
          </p:txBody>
        </p:sp>
      </p:grpSp>
      <p:sp>
        <p:nvSpPr>
          <p:cNvPr id="3002418" name="Rectangle 50"/>
          <p:cNvSpPr>
            <a:spLocks noChangeArrowheads="1"/>
          </p:cNvSpPr>
          <p:nvPr/>
        </p:nvSpPr>
        <p:spPr bwMode="auto">
          <a:xfrm>
            <a:off x="1066800" y="5664200"/>
            <a:ext cx="2743200" cy="1100138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lIns="0" tIns="0" rIns="0" bIns="0">
            <a:spAutoFit/>
          </a:bodyPr>
          <a:lstStyle/>
          <a:p>
            <a:pPr marL="354013" indent="-354013" defTabSz="941388"/>
            <a:r>
              <a:rPr lang="en-US" altLang="ru-RU" sz="1800">
                <a:solidFill>
                  <a:srgbClr val="000610"/>
                </a:solidFill>
              </a:rPr>
              <a:t>4 + 6 + ? + 7 = 18</a:t>
            </a:r>
          </a:p>
          <a:p>
            <a:pPr marL="354013" indent="-354013" defTabSz="941388"/>
            <a:r>
              <a:rPr lang="en-US" altLang="ru-RU" sz="1800">
                <a:solidFill>
                  <a:srgbClr val="000610"/>
                </a:solidFill>
              </a:rPr>
              <a:t>? = 18 – 4 – 6 – 7</a:t>
            </a:r>
          </a:p>
          <a:p>
            <a:pPr marL="354013" indent="-354013" defTabSz="941388"/>
            <a:r>
              <a:rPr lang="en-US" altLang="ru-RU" sz="1800">
                <a:solidFill>
                  <a:srgbClr val="000610"/>
                </a:solidFill>
              </a:rPr>
              <a:t>? = 1</a:t>
            </a:r>
          </a:p>
        </p:txBody>
      </p:sp>
      <p:sp>
        <p:nvSpPr>
          <p:cNvPr id="3002419" name="Rectangle 51"/>
          <p:cNvSpPr>
            <a:spLocks noChangeArrowheads="1"/>
          </p:cNvSpPr>
          <p:nvPr/>
        </p:nvSpPr>
        <p:spPr bwMode="auto">
          <a:xfrm>
            <a:off x="7264400" y="3657600"/>
            <a:ext cx="889000" cy="219075"/>
          </a:xfrm>
          <a:prstGeom prst="rect">
            <a:avLst/>
          </a:prstGeom>
          <a:solidFill>
            <a:srgbClr val="FF000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160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0.24531 -4.44444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0024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30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07778 -0.00116 L 0.07778 -0.29054 L 0.17986 -0.29054 " pathEditMode="relative" rAng="0" ptsTypes="AAAA">
                                      <p:cBhvr>
                                        <p:cTn id="13" dur="2000" fill="hold"/>
                                        <p:tgtEl>
                                          <p:spTgt spid="30023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14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07778 -0.00116 L 0.07778 -0.14643 L 0.17986 -0.14643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30023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7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116 L 0.17691 -0.0011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02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069 L 0.07778 0.00069 L 0.07778 0.14318 L 0.17986 0.14318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3002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7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023 L 0.07778 0.00023 L 0.07778 0.28753 L 0.17986 0.28753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3002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2389" grpId="0" animBg="1"/>
      <p:bldP spid="3002390" grpId="0" animBg="1"/>
      <p:bldP spid="3002391" grpId="0" animBg="1"/>
      <p:bldP spid="3002392" grpId="0" animBg="1"/>
      <p:bldP spid="3002393" grpId="0" animBg="1"/>
      <p:bldP spid="3002397" grpId="0" animBg="1"/>
      <p:bldP spid="3002398" grpId="0" animBg="1"/>
      <p:bldP spid="3002399" grpId="0" animBg="1"/>
      <p:bldP spid="3002400" grpId="0" animBg="1"/>
      <p:bldP spid="3002401" grpId="0" animBg="1"/>
      <p:bldP spid="3002402" grpId="0" animBg="1"/>
      <p:bldP spid="3002403" grpId="0" animBg="1"/>
      <p:bldP spid="3002404" grpId="0" animBg="1"/>
      <p:bldP spid="3002405" grpId="0" animBg="1"/>
      <p:bldP spid="3002406" grpId="0" animBg="1"/>
      <p:bldP spid="3002410" grpId="0" animBg="1"/>
      <p:bldP spid="3002410" grpId="1" animBg="1"/>
      <p:bldP spid="3002414" grpId="0"/>
      <p:bldP spid="3002414" grpId="1"/>
      <p:bldP spid="3002418" grpId="0"/>
      <p:bldP spid="3002419" grpId="0" animBg="1"/>
      <p:bldP spid="300241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2"/>
          <p:cNvSpPr>
            <a:spLocks noGrp="1" noChangeArrowheads="1"/>
          </p:cNvSpPr>
          <p:nvPr>
            <p:ph type="title"/>
          </p:nvPr>
        </p:nvSpPr>
        <p:spPr>
          <a:xfrm>
            <a:off x="2856272" y="0"/>
            <a:ext cx="2644876" cy="635615"/>
          </a:xfrm>
          <a:noFill/>
        </p:spPr>
        <p:txBody>
          <a:bodyPr/>
          <a:lstStyle/>
          <a:p>
            <a:pPr eaLnBrk="1" hangingPunct="1"/>
            <a:r>
              <a:rPr lang="en-US" altLang="ru-RU" sz="3600" dirty="0">
                <a:solidFill>
                  <a:schemeClr val="accent1">
                    <a:lumMod val="75000"/>
                  </a:schemeClr>
                </a:solidFill>
              </a:rPr>
              <a:t>RAID 3</a:t>
            </a:r>
          </a:p>
        </p:txBody>
      </p:sp>
      <p:sp>
        <p:nvSpPr>
          <p:cNvPr id="24579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3124200" y="6445044"/>
            <a:ext cx="2895600" cy="26055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>
                <a:solidFill>
                  <a:schemeClr val="accent2"/>
                </a:solidFill>
              </a:rPr>
              <a:t>Защита данных: </a:t>
            </a:r>
            <a:r>
              <a:rPr lang="en-US" altLang="ru-RU" dirty="0">
                <a:solidFill>
                  <a:schemeClr val="accent2"/>
                </a:solidFill>
              </a:rPr>
              <a:t>RAID</a:t>
            </a:r>
          </a:p>
        </p:txBody>
      </p:sp>
      <p:sp>
        <p:nvSpPr>
          <p:cNvPr id="2458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216EE281-6E84-4786-99FE-E9226F80F405}" type="slidenum">
              <a:rPr lang="en-US" altLang="ru-RU" sz="800" smtClean="0"/>
              <a:pPr/>
              <a:t>22</a:t>
            </a:fld>
            <a:endParaRPr lang="en-US" altLang="ru-RU" sz="800"/>
          </a:p>
        </p:txBody>
      </p:sp>
      <p:sp>
        <p:nvSpPr>
          <p:cNvPr id="24581" name="Line 2"/>
          <p:cNvSpPr>
            <a:spLocks noChangeShapeType="1"/>
          </p:cNvSpPr>
          <p:nvPr/>
        </p:nvSpPr>
        <p:spPr bwMode="auto">
          <a:xfrm>
            <a:off x="1400175" y="3765550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4582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4617" name="Picture 4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618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24583" name="Line 6"/>
          <p:cNvSpPr>
            <a:spLocks noChangeShapeType="1"/>
          </p:cNvSpPr>
          <p:nvPr/>
        </p:nvSpPr>
        <p:spPr bwMode="auto">
          <a:xfrm>
            <a:off x="5392738" y="475615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4584" name="Line 7"/>
          <p:cNvSpPr>
            <a:spLocks noChangeShapeType="1"/>
          </p:cNvSpPr>
          <p:nvPr/>
        </p:nvSpPr>
        <p:spPr bwMode="auto">
          <a:xfrm>
            <a:off x="5392738" y="279400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4585" name="Freeform 8"/>
          <p:cNvSpPr>
            <a:spLocks/>
          </p:cNvSpPr>
          <p:nvPr/>
        </p:nvSpPr>
        <p:spPr bwMode="auto">
          <a:xfrm>
            <a:off x="5392738" y="1817688"/>
            <a:ext cx="641350" cy="3919537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4586" name="Group 9"/>
          <p:cNvGrpSpPr>
            <a:grpSpLocks/>
          </p:cNvGrpSpPr>
          <p:nvPr/>
        </p:nvGrpSpPr>
        <p:grpSpPr bwMode="auto">
          <a:xfrm>
            <a:off x="2955925" y="3425825"/>
            <a:ext cx="1358900" cy="720725"/>
            <a:chOff x="2166" y="2158"/>
            <a:chExt cx="856" cy="454"/>
          </a:xfrm>
        </p:grpSpPr>
        <p:sp>
          <p:nvSpPr>
            <p:cNvPr id="24615" name="Rectangle 10"/>
            <p:cNvSpPr>
              <a:spLocks noChangeArrowheads="1"/>
            </p:cNvSpPr>
            <p:nvPr/>
          </p:nvSpPr>
          <p:spPr bwMode="auto">
            <a:xfrm>
              <a:off x="2166" y="2158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16" name="Text Box 11"/>
            <p:cNvSpPr txBox="1">
              <a:spLocks noChangeArrowheads="1"/>
            </p:cNvSpPr>
            <p:nvPr/>
          </p:nvSpPr>
          <p:spPr bwMode="auto">
            <a:xfrm>
              <a:off x="2288" y="2246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144838" y="4010025"/>
            <a:ext cx="981075" cy="325438"/>
            <a:chOff x="1607" y="3273"/>
            <a:chExt cx="618" cy="205"/>
          </a:xfrm>
        </p:grpSpPr>
        <p:sp>
          <p:nvSpPr>
            <p:cNvPr id="24613" name="Rectangle 13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14" name="Text Box 14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144838" y="4406900"/>
            <a:ext cx="981075" cy="325438"/>
            <a:chOff x="1607" y="3273"/>
            <a:chExt cx="618" cy="205"/>
          </a:xfrm>
        </p:grpSpPr>
        <p:sp>
          <p:nvSpPr>
            <p:cNvPr id="24611" name="Rectangle 16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12" name="Text Box 17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144838" y="4803775"/>
            <a:ext cx="981075" cy="325438"/>
            <a:chOff x="1607" y="3273"/>
            <a:chExt cx="618" cy="205"/>
          </a:xfrm>
        </p:grpSpPr>
        <p:sp>
          <p:nvSpPr>
            <p:cNvPr id="24609" name="Rectangle 19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10" name="Text Box 20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144838" y="5202238"/>
            <a:ext cx="981075" cy="325437"/>
            <a:chOff x="1981" y="3277"/>
            <a:chExt cx="618" cy="205"/>
          </a:xfrm>
        </p:grpSpPr>
        <p:sp>
          <p:nvSpPr>
            <p:cNvPr id="24607" name="Rectangle 22"/>
            <p:cNvSpPr>
              <a:spLocks noChangeArrowheads="1"/>
            </p:cNvSpPr>
            <p:nvPr/>
          </p:nvSpPr>
          <p:spPr bwMode="auto">
            <a:xfrm>
              <a:off x="1981" y="3277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08" name="Text Box 23"/>
            <p:cNvSpPr txBox="1">
              <a:spLocks noChangeArrowheads="1"/>
            </p:cNvSpPr>
            <p:nvPr/>
          </p:nvSpPr>
          <p:spPr bwMode="auto">
            <a:xfrm>
              <a:off x="2035" y="3310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 0 1 2 3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607" y="3273"/>
            <a:chExt cx="618" cy="205"/>
          </a:xfrm>
        </p:grpSpPr>
        <p:sp>
          <p:nvSpPr>
            <p:cNvPr id="24605" name="Rectangle 25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06" name="Text Box 26"/>
            <p:cNvSpPr txBox="1">
              <a:spLocks noChangeArrowheads="1"/>
            </p:cNvSpPr>
            <p:nvPr/>
          </p:nvSpPr>
          <p:spPr bwMode="auto">
            <a:xfrm>
              <a:off x="1689" y="3306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742950" y="3579813"/>
            <a:ext cx="981075" cy="325437"/>
            <a:chOff x="1607" y="3273"/>
            <a:chExt cx="618" cy="205"/>
          </a:xfrm>
        </p:grpSpPr>
        <p:sp>
          <p:nvSpPr>
            <p:cNvPr id="24603" name="Rectangle 37"/>
            <p:cNvSpPr>
              <a:spLocks noChangeArrowheads="1"/>
            </p:cNvSpPr>
            <p:nvPr/>
          </p:nvSpPr>
          <p:spPr bwMode="auto">
            <a:xfrm>
              <a:off x="1607" y="3273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04" name="Text Box 38"/>
            <p:cNvSpPr txBox="1">
              <a:spLocks noChangeArrowheads="1"/>
            </p:cNvSpPr>
            <p:nvPr/>
          </p:nvSpPr>
          <p:spPr bwMode="auto">
            <a:xfrm>
              <a:off x="1724" y="3306"/>
              <a:ext cx="384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</a:t>
              </a:r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2994025" y="3536950"/>
            <a:ext cx="1281113" cy="1630363"/>
            <a:chOff x="1886" y="2228"/>
            <a:chExt cx="807" cy="1027"/>
          </a:xfrm>
        </p:grpSpPr>
        <p:sp>
          <p:nvSpPr>
            <p:cNvPr id="24601" name="AutoShape 40"/>
            <p:cNvSpPr>
              <a:spLocks noChangeArrowheads="1"/>
            </p:cNvSpPr>
            <p:nvPr/>
          </p:nvSpPr>
          <p:spPr bwMode="auto">
            <a:xfrm>
              <a:off x="1886" y="2228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B2DEC7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4602" name="Text Box 41"/>
            <p:cNvSpPr txBox="1">
              <a:spLocks noChangeArrowheads="1"/>
            </p:cNvSpPr>
            <p:nvPr/>
          </p:nvSpPr>
          <p:spPr bwMode="auto">
            <a:xfrm>
              <a:off x="1973" y="2603"/>
              <a:ext cx="633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Parity</a:t>
              </a:r>
              <a:br>
                <a:rPr lang="en-US" altLang="ru-RU" sz="1600" b="1">
                  <a:solidFill>
                    <a:srgbClr val="000000"/>
                  </a:solidFill>
                </a:rPr>
              </a:br>
              <a:r>
                <a:rPr lang="en-US" altLang="ru-RU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pic>
        <p:nvPicPr>
          <p:cNvPr id="24594" name="Picture 43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5" name="Picture 44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6" name="Picture 45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7" name="Picture 46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8" name="Picture 47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67532" y="1002460"/>
            <a:ext cx="5167313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ru-RU" altLang="ru-RU" sz="2000" dirty="0"/>
              <a:t>Имеет хорошую полосу пропускания</a:t>
            </a:r>
          </a:p>
          <a:p>
            <a:pPr marL="457200" indent="-4572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ru-RU" altLang="ru-RU" sz="2000" dirty="0"/>
              <a:t>Используется для приложений с последовательным доступом к большим объемам данных, например, потоковое видео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31763" y="5980616"/>
            <a:ext cx="86803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ru-RU" altLang="ru-RU" sz="1800" dirty="0"/>
              <a:t>Всегда считывает и записывает полные дорожки данных на все диски, так как диски работают параллельно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36479" y="545910"/>
            <a:ext cx="8871044" cy="511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92500"/>
          </a:bodyPr>
          <a:lstStyle/>
          <a:p>
            <a:pPr marL="457200" indent="-457200" algn="just">
              <a:spcBef>
                <a:spcPts val="600"/>
              </a:spcBef>
            </a:pPr>
            <a:r>
              <a:rPr lang="ru-RU" altLang="ru-RU" sz="2000" dirty="0"/>
              <a:t>Массив параллельного доступа со специальным диском контроля четности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601 L 0.26841 -0.00601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02 L 0.18333 -0.00602 L 0.18333 -0.29031 L 0.38663 -0.29031 " pathEditMode="relative" rAng="0" ptsTypes="AAAA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" y="-142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0277 L 0.1842 0.00277 L 0.1842 -0.19431 L 0.3875 -0.19431 " pathEditMode="relative" rAng="0" ptsTypes="AAAA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" y="-9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.00046 L 0.18646 0.00046 L 0.18646 -0.12167 L 0.3941 -0.12167 " pathEditMode="relative" rAng="0" ptsTypes="AAAA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" y="-6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02706E-6 L 0.18715 -1.02706E-6 L 0.18715 -0.03331 L 0.3941 -0.03331 " pathEditMode="relative" rAng="0" ptsTypes="AAAA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" y="-1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1251E-6 L 0.18889 -3.31251E-6 L 0.18889 0.0546 L 0.3941 0.0546 " pathEditMode="relative" rAng="0" ptsTypes="AAAA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8"/>
          <p:cNvSpPr>
            <a:spLocks noGrp="1" noChangeArrowheads="1"/>
          </p:cNvSpPr>
          <p:nvPr>
            <p:ph type="title"/>
          </p:nvPr>
        </p:nvSpPr>
        <p:spPr>
          <a:xfrm>
            <a:off x="533400" y="314325"/>
            <a:ext cx="8229600" cy="852488"/>
          </a:xfrm>
          <a:noFill/>
        </p:spPr>
        <p:txBody>
          <a:bodyPr/>
          <a:lstStyle/>
          <a:p>
            <a:pPr eaLnBrk="1" hangingPunct="1"/>
            <a:r>
              <a:rPr lang="en-US" altLang="ru-RU" sz="3600"/>
              <a:t>RAID 4</a:t>
            </a:r>
          </a:p>
        </p:txBody>
      </p:sp>
      <p:sp>
        <p:nvSpPr>
          <p:cNvPr id="25603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5604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C6B1AF3A-8E82-4306-BDE0-92E6907EE8FE}" type="slidenum">
              <a:rPr lang="en-US" altLang="ru-RU" sz="800" smtClean="0"/>
              <a:pPr/>
              <a:t>23</a:t>
            </a:fld>
            <a:endParaRPr lang="en-US" altLang="ru-RU" sz="800"/>
          </a:p>
        </p:txBody>
      </p:sp>
      <p:sp>
        <p:nvSpPr>
          <p:cNvPr id="25605" name="Line 2"/>
          <p:cNvSpPr>
            <a:spLocks noChangeShapeType="1"/>
          </p:cNvSpPr>
          <p:nvPr/>
        </p:nvSpPr>
        <p:spPr bwMode="auto">
          <a:xfrm>
            <a:off x="1400175" y="3765550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5606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5667" name="Picture 4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68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25607" name="Freeform 6"/>
          <p:cNvSpPr>
            <a:spLocks/>
          </p:cNvSpPr>
          <p:nvPr/>
        </p:nvSpPr>
        <p:spPr bwMode="auto">
          <a:xfrm>
            <a:off x="5392738" y="1817688"/>
            <a:ext cx="641350" cy="3919537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25665" name="Rectangle 8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66" name="Text Box 9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25663" name="Rectangle 11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64" name="Text Box 12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0 1 2 3</a:t>
              </a:r>
            </a:p>
          </p:txBody>
        </p:sp>
      </p:grpSp>
      <p:grpSp>
        <p:nvGrpSpPr>
          <p:cNvPr id="25610" name="Group 13"/>
          <p:cNvGrpSpPr>
            <a:grpSpLocks/>
          </p:cNvGrpSpPr>
          <p:nvPr/>
        </p:nvGrpSpPr>
        <p:grpSpPr bwMode="auto">
          <a:xfrm>
            <a:off x="6927850" y="5765800"/>
            <a:ext cx="981075" cy="325438"/>
            <a:chOff x="4364" y="1154"/>
            <a:chExt cx="618" cy="205"/>
          </a:xfrm>
        </p:grpSpPr>
        <p:sp>
          <p:nvSpPr>
            <p:cNvPr id="25661" name="Rectangle 1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62" name="Text Box 15"/>
            <p:cNvSpPr txBox="1">
              <a:spLocks noChangeArrowheads="1"/>
            </p:cNvSpPr>
            <p:nvPr/>
          </p:nvSpPr>
          <p:spPr bwMode="auto">
            <a:xfrm>
              <a:off x="4417" y="1187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4 5 6 7</a:t>
              </a:r>
            </a:p>
          </p:txBody>
        </p:sp>
      </p:grpSp>
      <p:sp>
        <p:nvSpPr>
          <p:cNvPr id="25611" name="Line 16"/>
          <p:cNvSpPr>
            <a:spLocks noChangeShapeType="1"/>
          </p:cNvSpPr>
          <p:nvPr/>
        </p:nvSpPr>
        <p:spPr bwMode="auto">
          <a:xfrm>
            <a:off x="5392738" y="279400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5612" name="Line 17"/>
          <p:cNvSpPr>
            <a:spLocks noChangeShapeType="1"/>
          </p:cNvSpPr>
          <p:nvPr/>
        </p:nvSpPr>
        <p:spPr bwMode="auto">
          <a:xfrm>
            <a:off x="5392738" y="475615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5613" name="Group 18"/>
          <p:cNvGrpSpPr>
            <a:grpSpLocks/>
          </p:cNvGrpSpPr>
          <p:nvPr/>
        </p:nvGrpSpPr>
        <p:grpSpPr bwMode="auto">
          <a:xfrm>
            <a:off x="2955925" y="3425825"/>
            <a:ext cx="1358900" cy="720725"/>
            <a:chOff x="2166" y="2158"/>
            <a:chExt cx="856" cy="454"/>
          </a:xfrm>
        </p:grpSpPr>
        <p:sp>
          <p:nvSpPr>
            <p:cNvPr id="25659" name="Rectangle 19"/>
            <p:cNvSpPr>
              <a:spLocks noChangeArrowheads="1"/>
            </p:cNvSpPr>
            <p:nvPr/>
          </p:nvSpPr>
          <p:spPr bwMode="auto">
            <a:xfrm>
              <a:off x="2166" y="2158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60" name="Text Box 20"/>
            <p:cNvSpPr txBox="1">
              <a:spLocks noChangeArrowheads="1"/>
            </p:cNvSpPr>
            <p:nvPr/>
          </p:nvSpPr>
          <p:spPr bwMode="auto">
            <a:xfrm>
              <a:off x="2288" y="2246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3277"/>
            <a:chExt cx="618" cy="205"/>
          </a:xfrm>
        </p:grpSpPr>
        <p:sp>
          <p:nvSpPr>
            <p:cNvPr id="25657" name="Rectangle 22"/>
            <p:cNvSpPr>
              <a:spLocks noChangeArrowheads="1"/>
            </p:cNvSpPr>
            <p:nvPr/>
          </p:nvSpPr>
          <p:spPr bwMode="auto">
            <a:xfrm>
              <a:off x="1981" y="3277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58" name="Text Box 23"/>
            <p:cNvSpPr txBox="1">
              <a:spLocks noChangeArrowheads="1"/>
            </p:cNvSpPr>
            <p:nvPr/>
          </p:nvSpPr>
          <p:spPr bwMode="auto">
            <a:xfrm>
              <a:off x="2035" y="3310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 0 1 2 3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25655" name="Rectangle 25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56" name="Text Box 26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698500" y="3602038"/>
            <a:ext cx="981075" cy="325437"/>
            <a:chOff x="440" y="2276"/>
            <a:chExt cx="618" cy="205"/>
          </a:xfrm>
        </p:grpSpPr>
        <p:sp>
          <p:nvSpPr>
            <p:cNvPr id="25653" name="Rectangle 31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54" name="Text Box 32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25617" name="Group 33"/>
          <p:cNvGrpSpPr>
            <a:grpSpLocks/>
          </p:cNvGrpSpPr>
          <p:nvPr/>
        </p:nvGrpSpPr>
        <p:grpSpPr bwMode="auto">
          <a:xfrm>
            <a:off x="6927850" y="2441575"/>
            <a:ext cx="981075" cy="325438"/>
            <a:chOff x="4364" y="926"/>
            <a:chExt cx="618" cy="205"/>
          </a:xfrm>
        </p:grpSpPr>
        <p:sp>
          <p:nvSpPr>
            <p:cNvPr id="25651" name="Rectangle 34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52" name="Text Box 35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25618" name="Group 36"/>
          <p:cNvGrpSpPr>
            <a:grpSpLocks/>
          </p:cNvGrpSpPr>
          <p:nvPr/>
        </p:nvGrpSpPr>
        <p:grpSpPr bwMode="auto">
          <a:xfrm>
            <a:off x="6927850" y="2822575"/>
            <a:ext cx="981075" cy="325438"/>
            <a:chOff x="4364" y="1154"/>
            <a:chExt cx="618" cy="205"/>
          </a:xfrm>
        </p:grpSpPr>
        <p:sp>
          <p:nvSpPr>
            <p:cNvPr id="25649" name="Rectangle 37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50" name="Text Box 38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25619" name="Group 39"/>
          <p:cNvGrpSpPr>
            <a:grpSpLocks/>
          </p:cNvGrpSpPr>
          <p:nvPr/>
        </p:nvGrpSpPr>
        <p:grpSpPr bwMode="auto">
          <a:xfrm>
            <a:off x="6927850" y="3422650"/>
            <a:ext cx="981075" cy="325438"/>
            <a:chOff x="4364" y="926"/>
            <a:chExt cx="618" cy="205"/>
          </a:xfrm>
        </p:grpSpPr>
        <p:sp>
          <p:nvSpPr>
            <p:cNvPr id="25647" name="Rectangle 40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48" name="Text Box 41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25620" name="Group 42"/>
          <p:cNvGrpSpPr>
            <a:grpSpLocks/>
          </p:cNvGrpSpPr>
          <p:nvPr/>
        </p:nvGrpSpPr>
        <p:grpSpPr bwMode="auto">
          <a:xfrm>
            <a:off x="6927850" y="3803650"/>
            <a:ext cx="981075" cy="325438"/>
            <a:chOff x="4364" y="1154"/>
            <a:chExt cx="618" cy="205"/>
          </a:xfrm>
        </p:grpSpPr>
        <p:sp>
          <p:nvSpPr>
            <p:cNvPr id="25645" name="Rectangle 43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46" name="Text Box 44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6</a:t>
              </a:r>
            </a:p>
          </p:txBody>
        </p:sp>
      </p:grpSp>
      <p:grpSp>
        <p:nvGrpSpPr>
          <p:cNvPr id="25621" name="Group 45"/>
          <p:cNvGrpSpPr>
            <a:grpSpLocks/>
          </p:cNvGrpSpPr>
          <p:nvPr/>
        </p:nvGrpSpPr>
        <p:grpSpPr bwMode="auto">
          <a:xfrm>
            <a:off x="6927850" y="4403725"/>
            <a:ext cx="981075" cy="325438"/>
            <a:chOff x="4364" y="926"/>
            <a:chExt cx="618" cy="205"/>
          </a:xfrm>
        </p:grpSpPr>
        <p:sp>
          <p:nvSpPr>
            <p:cNvPr id="25643" name="Rectangle 46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44" name="Text Box 47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grpSp>
        <p:nvGrpSpPr>
          <p:cNvPr id="15" name="Group 48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2228"/>
            <a:chExt cx="807" cy="1027"/>
          </a:xfrm>
        </p:grpSpPr>
        <p:sp>
          <p:nvSpPr>
            <p:cNvPr id="25641" name="AutoShape 49"/>
            <p:cNvSpPr>
              <a:spLocks noChangeArrowheads="1"/>
            </p:cNvSpPr>
            <p:nvPr/>
          </p:nvSpPr>
          <p:spPr bwMode="auto">
            <a:xfrm>
              <a:off x="1886" y="2228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B2DEC7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42" name="Text Box 50"/>
            <p:cNvSpPr txBox="1">
              <a:spLocks noChangeArrowheads="1"/>
            </p:cNvSpPr>
            <p:nvPr/>
          </p:nvSpPr>
          <p:spPr bwMode="auto">
            <a:xfrm>
              <a:off x="1973" y="2603"/>
              <a:ext cx="633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Parity</a:t>
              </a:r>
              <a:br>
                <a:rPr lang="en-US" altLang="ru-RU" sz="1600" b="1">
                  <a:solidFill>
                    <a:srgbClr val="000000"/>
                  </a:solidFill>
                </a:rPr>
              </a:br>
              <a:r>
                <a:rPr lang="en-US" altLang="ru-RU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grpSp>
        <p:nvGrpSpPr>
          <p:cNvPr id="16" name="Group 51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25639" name="Rectangle 52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40" name="Text Box 53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17" name="Group 54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25637" name="Rectangle 55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38" name="Text Box 56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0 1 2 3</a:t>
              </a:r>
            </a:p>
          </p:txBody>
        </p:sp>
      </p:grpSp>
      <p:grpSp>
        <p:nvGrpSpPr>
          <p:cNvPr id="25625" name="Group 57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25635" name="Rectangle 58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36" name="Text Box 59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25626" name="Group 63"/>
          <p:cNvGrpSpPr>
            <a:grpSpLocks/>
          </p:cNvGrpSpPr>
          <p:nvPr/>
        </p:nvGrpSpPr>
        <p:grpSpPr bwMode="auto">
          <a:xfrm>
            <a:off x="6927850" y="4806950"/>
            <a:ext cx="981075" cy="325438"/>
            <a:chOff x="4364" y="1154"/>
            <a:chExt cx="618" cy="205"/>
          </a:xfrm>
        </p:grpSpPr>
        <p:sp>
          <p:nvSpPr>
            <p:cNvPr id="25633" name="Rectangle 6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5634" name="Text Box 65"/>
            <p:cNvSpPr txBox="1">
              <a:spLocks noChangeArrowheads="1"/>
            </p:cNvSpPr>
            <p:nvPr/>
          </p:nvSpPr>
          <p:spPr bwMode="auto">
            <a:xfrm>
              <a:off x="4447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7</a:t>
              </a:r>
            </a:p>
          </p:txBody>
        </p:sp>
      </p:grpSp>
      <p:pic>
        <p:nvPicPr>
          <p:cNvPr id="25627" name="Picture 79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28" name="Picture 80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29" name="Picture 81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30" name="Picture 82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31" name="Picture 83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23838" y="1087438"/>
            <a:ext cx="51689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 altLang="ru-RU"/>
              <a:t>В отличие от </a:t>
            </a:r>
            <a:r>
              <a:rPr lang="en-US" altLang="ru-RU"/>
              <a:t>RAID 3 </a:t>
            </a:r>
            <a:r>
              <a:rPr lang="ru-RU" altLang="ru-RU"/>
              <a:t>можно считывать отдельные блоки, а не всю дорожку.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0509 L 0.26789 0.0050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47 L -0.2217 -0.00047 L -0.2217 -0.19491 L -0.4144 -0.19491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" y="-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 L -0.22066 0 L -0.22066 0.25 L -0.41336 0.25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023 L 0.19201 0.00023 L 0.19201 0.19467 L 0.41371 0.19467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97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2.96296E-6 L 0.19305 2.96296E-6 L 0.19305 -0.31389 L 0.41389 -0.31389 " pathEditMode="relative" ptsTypes="AAAA">
                                      <p:cBhvr>
                                        <p:cTn id="4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8"/>
          <p:cNvSpPr>
            <a:spLocks noGrp="1" noChangeArrowheads="1"/>
          </p:cNvSpPr>
          <p:nvPr>
            <p:ph type="title"/>
          </p:nvPr>
        </p:nvSpPr>
        <p:spPr>
          <a:xfrm>
            <a:off x="692522" y="223736"/>
            <a:ext cx="3309937" cy="984250"/>
          </a:xfrm>
          <a:noFill/>
        </p:spPr>
        <p:txBody>
          <a:bodyPr/>
          <a:lstStyle/>
          <a:p>
            <a:pPr eaLnBrk="1" hangingPunct="1"/>
            <a:r>
              <a:rPr lang="en-US" altLang="ru-RU" dirty="0">
                <a:solidFill>
                  <a:schemeClr val="bg2"/>
                </a:solidFill>
              </a:rPr>
              <a:t>RAID 5 </a:t>
            </a:r>
          </a:p>
        </p:txBody>
      </p:sp>
      <p:sp>
        <p:nvSpPr>
          <p:cNvPr id="26627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6628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168252C7-6FE1-44AC-A7BF-677901DEC19D}" type="slidenum">
              <a:rPr lang="en-US" altLang="ru-RU" sz="800" smtClean="0"/>
              <a:pPr/>
              <a:t>24</a:t>
            </a:fld>
            <a:endParaRPr lang="en-US" altLang="ru-RU" sz="800"/>
          </a:p>
        </p:txBody>
      </p:sp>
      <p:pic>
        <p:nvPicPr>
          <p:cNvPr id="26629" name="Picture 2" descr="RisRaid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6750" y="1146175"/>
            <a:ext cx="5548313" cy="390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30238" y="5226050"/>
            <a:ext cx="7883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 altLang="ru-RU" sz="2400"/>
              <a:t>Используется для обслуживания приложений средней производительности – реляционных СУБД, когда администраторы оптимизируют доступ к 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ru-RU" dirty="0">
                <a:solidFill>
                  <a:schemeClr val="bg2"/>
                </a:solidFill>
              </a:rPr>
              <a:t>RAID 5</a:t>
            </a:r>
            <a:r>
              <a:rPr lang="en-US" altLang="ru-RU" dirty="0"/>
              <a:t> </a:t>
            </a:r>
          </a:p>
        </p:txBody>
      </p:sp>
      <p:sp>
        <p:nvSpPr>
          <p:cNvPr id="27651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7652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E5BE9834-9BE7-4FA9-A62D-3B16E8A34E84}" type="slidenum">
              <a:rPr lang="en-US" altLang="ru-RU" sz="800" smtClean="0"/>
              <a:pPr/>
              <a:t>25</a:t>
            </a:fld>
            <a:endParaRPr lang="en-US" altLang="ru-RU" sz="800"/>
          </a:p>
        </p:txBody>
      </p:sp>
      <p:sp>
        <p:nvSpPr>
          <p:cNvPr id="27653" name="Line 2"/>
          <p:cNvSpPr>
            <a:spLocks noChangeShapeType="1"/>
          </p:cNvSpPr>
          <p:nvPr/>
        </p:nvSpPr>
        <p:spPr bwMode="auto">
          <a:xfrm>
            <a:off x="1400175" y="3765550"/>
            <a:ext cx="4921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7654" name="Group 3"/>
          <p:cNvGrpSpPr>
            <a:grpSpLocks/>
          </p:cNvGrpSpPr>
          <p:nvPr/>
        </p:nvGrpSpPr>
        <p:grpSpPr bwMode="auto">
          <a:xfrm>
            <a:off x="533400" y="2819400"/>
            <a:ext cx="1228725" cy="2133600"/>
            <a:chOff x="336" y="1776"/>
            <a:chExt cx="774" cy="1344"/>
          </a:xfrm>
        </p:grpSpPr>
        <p:pic>
          <p:nvPicPr>
            <p:cNvPr id="27732" name="Picture 4" descr="host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1776"/>
              <a:ext cx="774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733" name="Text Box 5"/>
            <p:cNvSpPr txBox="1">
              <a:spLocks noChangeArrowheads="1"/>
            </p:cNvSpPr>
            <p:nvPr/>
          </p:nvSpPr>
          <p:spPr bwMode="auto">
            <a:xfrm>
              <a:off x="672" y="2986"/>
              <a:ext cx="288" cy="1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400" b="1">
                  <a:solidFill>
                    <a:srgbClr val="000610"/>
                  </a:solidFill>
                  <a:latin typeface="Verdana" pitchFamily="34" charset="0"/>
                </a:rPr>
                <a:t>Host</a:t>
              </a:r>
            </a:p>
          </p:txBody>
        </p:sp>
      </p:grpSp>
      <p:sp>
        <p:nvSpPr>
          <p:cNvPr id="27655" name="Freeform 6"/>
          <p:cNvSpPr>
            <a:spLocks/>
          </p:cNvSpPr>
          <p:nvPr/>
        </p:nvSpPr>
        <p:spPr bwMode="auto">
          <a:xfrm>
            <a:off x="5392738" y="1817688"/>
            <a:ext cx="641350" cy="3919537"/>
          </a:xfrm>
          <a:custGeom>
            <a:avLst/>
            <a:gdLst>
              <a:gd name="T0" fmla="*/ 2147483647 w 404"/>
              <a:gd name="T1" fmla="*/ 0 h 2488"/>
              <a:gd name="T2" fmla="*/ 0 w 404"/>
              <a:gd name="T3" fmla="*/ 0 h 2488"/>
              <a:gd name="T4" fmla="*/ 0 w 404"/>
              <a:gd name="T5" fmla="*/ 2147483647 h 2488"/>
              <a:gd name="T6" fmla="*/ 2147483647 w 404"/>
              <a:gd name="T7" fmla="*/ 2147483647 h 2488"/>
              <a:gd name="T8" fmla="*/ 0 60000 65536"/>
              <a:gd name="T9" fmla="*/ 0 60000 65536"/>
              <a:gd name="T10" fmla="*/ 0 60000 65536"/>
              <a:gd name="T11" fmla="*/ 0 60000 65536"/>
              <a:gd name="T12" fmla="*/ 0 w 404"/>
              <a:gd name="T13" fmla="*/ 0 h 2488"/>
              <a:gd name="T14" fmla="*/ 404 w 404"/>
              <a:gd name="T15" fmla="*/ 2488 h 2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4" h="2488">
                <a:moveTo>
                  <a:pt x="380" y="0"/>
                </a:moveTo>
                <a:lnTo>
                  <a:pt x="0" y="0"/>
                </a:lnTo>
                <a:lnTo>
                  <a:pt x="0" y="2488"/>
                </a:lnTo>
                <a:lnTo>
                  <a:pt x="404" y="248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lg"/>
            <a:tailEnd type="none" w="med" len="lg"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27730" name="Rectangle 8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31" name="Text Box 9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27728" name="Rectangle 11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29" name="Text Box 12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0 1 2 3</a:t>
              </a:r>
            </a:p>
          </p:txBody>
        </p:sp>
      </p:grpSp>
      <p:grpSp>
        <p:nvGrpSpPr>
          <p:cNvPr id="27658" name="Group 13"/>
          <p:cNvGrpSpPr>
            <a:grpSpLocks/>
          </p:cNvGrpSpPr>
          <p:nvPr/>
        </p:nvGrpSpPr>
        <p:grpSpPr bwMode="auto">
          <a:xfrm>
            <a:off x="6927850" y="5765800"/>
            <a:ext cx="981075" cy="325438"/>
            <a:chOff x="4364" y="1154"/>
            <a:chExt cx="618" cy="205"/>
          </a:xfrm>
        </p:grpSpPr>
        <p:sp>
          <p:nvSpPr>
            <p:cNvPr id="27726" name="Rectangle 1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27" name="Text Box 15"/>
            <p:cNvSpPr txBox="1">
              <a:spLocks noChangeArrowheads="1"/>
            </p:cNvSpPr>
            <p:nvPr/>
          </p:nvSpPr>
          <p:spPr bwMode="auto">
            <a:xfrm>
              <a:off x="4448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7</a:t>
              </a:r>
            </a:p>
          </p:txBody>
        </p:sp>
      </p:grpSp>
      <p:sp>
        <p:nvSpPr>
          <p:cNvPr id="27659" name="Line 16"/>
          <p:cNvSpPr>
            <a:spLocks noChangeShapeType="1"/>
          </p:cNvSpPr>
          <p:nvPr/>
        </p:nvSpPr>
        <p:spPr bwMode="auto">
          <a:xfrm>
            <a:off x="5392738" y="279400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27660" name="Line 17"/>
          <p:cNvSpPr>
            <a:spLocks noChangeShapeType="1"/>
          </p:cNvSpPr>
          <p:nvPr/>
        </p:nvSpPr>
        <p:spPr bwMode="auto">
          <a:xfrm>
            <a:off x="5392738" y="4756150"/>
            <a:ext cx="554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27661" name="Group 18"/>
          <p:cNvGrpSpPr>
            <a:grpSpLocks/>
          </p:cNvGrpSpPr>
          <p:nvPr/>
        </p:nvGrpSpPr>
        <p:grpSpPr bwMode="auto">
          <a:xfrm>
            <a:off x="2955925" y="3425825"/>
            <a:ext cx="1358900" cy="720725"/>
            <a:chOff x="2166" y="2158"/>
            <a:chExt cx="856" cy="454"/>
          </a:xfrm>
        </p:grpSpPr>
        <p:sp>
          <p:nvSpPr>
            <p:cNvPr id="27724" name="Rectangle 19"/>
            <p:cNvSpPr>
              <a:spLocks noChangeArrowheads="1"/>
            </p:cNvSpPr>
            <p:nvPr/>
          </p:nvSpPr>
          <p:spPr bwMode="auto">
            <a:xfrm>
              <a:off x="2166" y="2158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25" name="Text Box 20"/>
            <p:cNvSpPr txBox="1">
              <a:spLocks noChangeArrowheads="1"/>
            </p:cNvSpPr>
            <p:nvPr/>
          </p:nvSpPr>
          <p:spPr bwMode="auto">
            <a:xfrm>
              <a:off x="2288" y="2246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3277"/>
            <a:chExt cx="618" cy="205"/>
          </a:xfrm>
        </p:grpSpPr>
        <p:sp>
          <p:nvSpPr>
            <p:cNvPr id="27722" name="Rectangle 22"/>
            <p:cNvSpPr>
              <a:spLocks noChangeArrowheads="1"/>
            </p:cNvSpPr>
            <p:nvPr/>
          </p:nvSpPr>
          <p:spPr bwMode="auto">
            <a:xfrm>
              <a:off x="1981" y="3277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23" name="Text Box 23"/>
            <p:cNvSpPr txBox="1">
              <a:spLocks noChangeArrowheads="1"/>
            </p:cNvSpPr>
            <p:nvPr/>
          </p:nvSpPr>
          <p:spPr bwMode="auto">
            <a:xfrm>
              <a:off x="2035" y="3310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 0 1 2 3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27720" name="Rectangle 25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21" name="Text Box 26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698500" y="3613150"/>
            <a:ext cx="981075" cy="325438"/>
            <a:chOff x="440" y="2276"/>
            <a:chExt cx="618" cy="205"/>
          </a:xfrm>
        </p:grpSpPr>
        <p:sp>
          <p:nvSpPr>
            <p:cNvPr id="27718" name="Rectangle 28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19" name="Text Box 29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4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698500" y="3613150"/>
            <a:ext cx="981075" cy="325438"/>
            <a:chOff x="440" y="2276"/>
            <a:chExt cx="618" cy="205"/>
          </a:xfrm>
        </p:grpSpPr>
        <p:sp>
          <p:nvSpPr>
            <p:cNvPr id="27716" name="Rectangle 31"/>
            <p:cNvSpPr>
              <a:spLocks noChangeArrowheads="1"/>
            </p:cNvSpPr>
            <p:nvPr/>
          </p:nvSpPr>
          <p:spPr bwMode="auto">
            <a:xfrm>
              <a:off x="440" y="2276"/>
              <a:ext cx="618" cy="205"/>
            </a:xfrm>
            <a:prstGeom prst="rect">
              <a:avLst/>
            </a:prstGeom>
            <a:solidFill>
              <a:srgbClr val="B2DEC7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17" name="Text Box 32"/>
            <p:cNvSpPr txBox="1">
              <a:spLocks noChangeArrowheads="1"/>
            </p:cNvSpPr>
            <p:nvPr/>
          </p:nvSpPr>
          <p:spPr bwMode="auto">
            <a:xfrm>
              <a:off x="522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0</a:t>
              </a:r>
            </a:p>
          </p:txBody>
        </p:sp>
      </p:grpSp>
      <p:grpSp>
        <p:nvGrpSpPr>
          <p:cNvPr id="27666" name="Group 33"/>
          <p:cNvGrpSpPr>
            <a:grpSpLocks/>
          </p:cNvGrpSpPr>
          <p:nvPr/>
        </p:nvGrpSpPr>
        <p:grpSpPr bwMode="auto">
          <a:xfrm>
            <a:off x="6927850" y="2441575"/>
            <a:ext cx="981075" cy="325438"/>
            <a:chOff x="4364" y="926"/>
            <a:chExt cx="618" cy="205"/>
          </a:xfrm>
        </p:grpSpPr>
        <p:sp>
          <p:nvSpPr>
            <p:cNvPr id="27714" name="Rectangle 34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15" name="Text Box 35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1</a:t>
              </a:r>
            </a:p>
          </p:txBody>
        </p:sp>
      </p:grpSp>
      <p:grpSp>
        <p:nvGrpSpPr>
          <p:cNvPr id="27667" name="Group 36"/>
          <p:cNvGrpSpPr>
            <a:grpSpLocks/>
          </p:cNvGrpSpPr>
          <p:nvPr/>
        </p:nvGrpSpPr>
        <p:grpSpPr bwMode="auto">
          <a:xfrm>
            <a:off x="6927850" y="2822575"/>
            <a:ext cx="981075" cy="325438"/>
            <a:chOff x="4364" y="1154"/>
            <a:chExt cx="618" cy="205"/>
          </a:xfrm>
        </p:grpSpPr>
        <p:sp>
          <p:nvSpPr>
            <p:cNvPr id="27712" name="Rectangle 37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13" name="Text Box 38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5</a:t>
              </a:r>
            </a:p>
          </p:txBody>
        </p:sp>
      </p:grpSp>
      <p:grpSp>
        <p:nvGrpSpPr>
          <p:cNvPr id="27668" name="Group 39"/>
          <p:cNvGrpSpPr>
            <a:grpSpLocks/>
          </p:cNvGrpSpPr>
          <p:nvPr/>
        </p:nvGrpSpPr>
        <p:grpSpPr bwMode="auto">
          <a:xfrm>
            <a:off x="6927850" y="3422650"/>
            <a:ext cx="981075" cy="325438"/>
            <a:chOff x="4364" y="926"/>
            <a:chExt cx="618" cy="205"/>
          </a:xfrm>
        </p:grpSpPr>
        <p:sp>
          <p:nvSpPr>
            <p:cNvPr id="27710" name="Rectangle 40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11" name="Text Box 41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2</a:t>
              </a:r>
            </a:p>
          </p:txBody>
        </p:sp>
      </p:grpSp>
      <p:grpSp>
        <p:nvGrpSpPr>
          <p:cNvPr id="27669" name="Group 42"/>
          <p:cNvGrpSpPr>
            <a:grpSpLocks/>
          </p:cNvGrpSpPr>
          <p:nvPr/>
        </p:nvGrpSpPr>
        <p:grpSpPr bwMode="auto">
          <a:xfrm>
            <a:off x="6927850" y="3803650"/>
            <a:ext cx="981075" cy="325438"/>
            <a:chOff x="4364" y="1154"/>
            <a:chExt cx="618" cy="205"/>
          </a:xfrm>
        </p:grpSpPr>
        <p:sp>
          <p:nvSpPr>
            <p:cNvPr id="27708" name="Rectangle 43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09" name="Text Box 44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6</a:t>
              </a:r>
            </a:p>
          </p:txBody>
        </p:sp>
      </p:grpSp>
      <p:grpSp>
        <p:nvGrpSpPr>
          <p:cNvPr id="27670" name="Group 45"/>
          <p:cNvGrpSpPr>
            <a:grpSpLocks/>
          </p:cNvGrpSpPr>
          <p:nvPr/>
        </p:nvGrpSpPr>
        <p:grpSpPr bwMode="auto">
          <a:xfrm>
            <a:off x="6927850" y="4403725"/>
            <a:ext cx="981075" cy="325438"/>
            <a:chOff x="4364" y="926"/>
            <a:chExt cx="618" cy="205"/>
          </a:xfrm>
        </p:grpSpPr>
        <p:sp>
          <p:nvSpPr>
            <p:cNvPr id="27706" name="Rectangle 46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07" name="Text Box 47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3</a:t>
              </a:r>
            </a:p>
          </p:txBody>
        </p:sp>
      </p:grpSp>
      <p:grpSp>
        <p:nvGrpSpPr>
          <p:cNvPr id="16" name="Group 48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2228"/>
            <a:chExt cx="807" cy="1027"/>
          </a:xfrm>
        </p:grpSpPr>
        <p:sp>
          <p:nvSpPr>
            <p:cNvPr id="27704" name="AutoShape 49"/>
            <p:cNvSpPr>
              <a:spLocks noChangeArrowheads="1"/>
            </p:cNvSpPr>
            <p:nvPr/>
          </p:nvSpPr>
          <p:spPr bwMode="auto">
            <a:xfrm>
              <a:off x="1886" y="2228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B2DEC7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05" name="Text Box 50"/>
            <p:cNvSpPr txBox="1">
              <a:spLocks noChangeArrowheads="1"/>
            </p:cNvSpPr>
            <p:nvPr/>
          </p:nvSpPr>
          <p:spPr bwMode="auto">
            <a:xfrm>
              <a:off x="1973" y="2603"/>
              <a:ext cx="633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Parity</a:t>
              </a:r>
              <a:br>
                <a:rPr lang="en-US" altLang="ru-RU" sz="1600" b="1">
                  <a:solidFill>
                    <a:srgbClr val="000000"/>
                  </a:solidFill>
                </a:rPr>
              </a:br>
              <a:r>
                <a:rPr lang="en-US" altLang="ru-RU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grpSp>
        <p:nvGrpSpPr>
          <p:cNvPr id="17" name="Group 51"/>
          <p:cNvGrpSpPr>
            <a:grpSpLocks/>
          </p:cNvGrpSpPr>
          <p:nvPr/>
        </p:nvGrpSpPr>
        <p:grpSpPr bwMode="auto">
          <a:xfrm>
            <a:off x="6927850" y="1460500"/>
            <a:ext cx="981075" cy="325438"/>
            <a:chOff x="4364" y="926"/>
            <a:chExt cx="618" cy="205"/>
          </a:xfrm>
        </p:grpSpPr>
        <p:sp>
          <p:nvSpPr>
            <p:cNvPr id="27702" name="Rectangle 52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03" name="Text Box 53"/>
            <p:cNvSpPr txBox="1">
              <a:spLocks noChangeArrowheads="1"/>
            </p:cNvSpPr>
            <p:nvPr/>
          </p:nvSpPr>
          <p:spPr bwMode="auto">
            <a:xfrm>
              <a:off x="4446" y="95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0</a:t>
              </a:r>
            </a:p>
          </p:txBody>
        </p:sp>
      </p:grpSp>
      <p:grpSp>
        <p:nvGrpSpPr>
          <p:cNvPr id="18" name="Group 54"/>
          <p:cNvGrpSpPr>
            <a:grpSpLocks/>
          </p:cNvGrpSpPr>
          <p:nvPr/>
        </p:nvGrpSpPr>
        <p:grpSpPr bwMode="auto">
          <a:xfrm>
            <a:off x="6927850" y="5384800"/>
            <a:ext cx="981075" cy="325438"/>
            <a:chOff x="4364" y="926"/>
            <a:chExt cx="618" cy="205"/>
          </a:xfrm>
        </p:grpSpPr>
        <p:sp>
          <p:nvSpPr>
            <p:cNvPr id="27700" name="Rectangle 55"/>
            <p:cNvSpPr>
              <a:spLocks noChangeArrowheads="1"/>
            </p:cNvSpPr>
            <p:nvPr/>
          </p:nvSpPr>
          <p:spPr bwMode="auto">
            <a:xfrm>
              <a:off x="4364" y="926"/>
              <a:ext cx="618" cy="205"/>
            </a:xfrm>
            <a:prstGeom prst="rect">
              <a:avLst/>
            </a:prstGeom>
            <a:solidFill>
              <a:srgbClr val="43996C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701" name="Text Box 56"/>
            <p:cNvSpPr txBox="1">
              <a:spLocks noChangeArrowheads="1"/>
            </p:cNvSpPr>
            <p:nvPr/>
          </p:nvSpPr>
          <p:spPr bwMode="auto">
            <a:xfrm>
              <a:off x="4419" y="959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0 1 2 3</a:t>
              </a:r>
            </a:p>
          </p:txBody>
        </p:sp>
      </p:grpSp>
      <p:grpSp>
        <p:nvGrpSpPr>
          <p:cNvPr id="19" name="Group 57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27698" name="Rectangle 58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99" name="Text Box 59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20" name="Group 60"/>
          <p:cNvGrpSpPr>
            <a:grpSpLocks/>
          </p:cNvGrpSpPr>
          <p:nvPr/>
        </p:nvGrpSpPr>
        <p:grpSpPr bwMode="auto">
          <a:xfrm>
            <a:off x="6927850" y="4784725"/>
            <a:ext cx="981075" cy="325438"/>
            <a:chOff x="4364" y="1154"/>
            <a:chExt cx="618" cy="205"/>
          </a:xfrm>
        </p:grpSpPr>
        <p:sp>
          <p:nvSpPr>
            <p:cNvPr id="27696" name="Rectangle 61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97" name="Text Box 62"/>
            <p:cNvSpPr txBox="1">
              <a:spLocks noChangeArrowheads="1"/>
            </p:cNvSpPr>
            <p:nvPr/>
          </p:nvSpPr>
          <p:spPr bwMode="auto">
            <a:xfrm>
              <a:off x="4417" y="1187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4 5 6 7</a:t>
              </a:r>
            </a:p>
          </p:txBody>
        </p:sp>
      </p:grpSp>
      <p:grpSp>
        <p:nvGrpSpPr>
          <p:cNvPr id="21" name="Group 63"/>
          <p:cNvGrpSpPr>
            <a:grpSpLocks/>
          </p:cNvGrpSpPr>
          <p:nvPr/>
        </p:nvGrpSpPr>
        <p:grpSpPr bwMode="auto">
          <a:xfrm>
            <a:off x="6927850" y="4784725"/>
            <a:ext cx="981075" cy="325438"/>
            <a:chOff x="4364" y="1154"/>
            <a:chExt cx="618" cy="205"/>
          </a:xfrm>
        </p:grpSpPr>
        <p:sp>
          <p:nvSpPr>
            <p:cNvPr id="27694" name="Rectangle 64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95" name="Text Box 65"/>
            <p:cNvSpPr txBox="1">
              <a:spLocks noChangeArrowheads="1"/>
            </p:cNvSpPr>
            <p:nvPr/>
          </p:nvSpPr>
          <p:spPr bwMode="auto">
            <a:xfrm>
              <a:off x="4417" y="1187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P 4 5 6 7</a:t>
              </a:r>
            </a:p>
          </p:txBody>
        </p:sp>
      </p:grpSp>
      <p:grpSp>
        <p:nvGrpSpPr>
          <p:cNvPr id="22" name="Group 66"/>
          <p:cNvGrpSpPr>
            <a:grpSpLocks/>
          </p:cNvGrpSpPr>
          <p:nvPr/>
        </p:nvGrpSpPr>
        <p:grpSpPr bwMode="auto">
          <a:xfrm>
            <a:off x="6927850" y="1841500"/>
            <a:ext cx="981075" cy="325438"/>
            <a:chOff x="4364" y="1154"/>
            <a:chExt cx="618" cy="205"/>
          </a:xfrm>
        </p:grpSpPr>
        <p:sp>
          <p:nvSpPr>
            <p:cNvPr id="27692" name="Rectangle 67"/>
            <p:cNvSpPr>
              <a:spLocks noChangeArrowheads="1"/>
            </p:cNvSpPr>
            <p:nvPr/>
          </p:nvSpPr>
          <p:spPr bwMode="auto">
            <a:xfrm>
              <a:off x="4364" y="1154"/>
              <a:ext cx="618" cy="205"/>
            </a:xfrm>
            <a:prstGeom prst="rect">
              <a:avLst/>
            </a:prstGeom>
            <a:solidFill>
              <a:srgbClr val="E46620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93" name="Text Box 68"/>
            <p:cNvSpPr txBox="1">
              <a:spLocks noChangeArrowheads="1"/>
            </p:cNvSpPr>
            <p:nvPr/>
          </p:nvSpPr>
          <p:spPr bwMode="auto">
            <a:xfrm>
              <a:off x="4446" y="1187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Block 4</a:t>
              </a:r>
            </a:p>
          </p:txBody>
        </p:sp>
      </p:grpSp>
      <p:grpSp>
        <p:nvGrpSpPr>
          <p:cNvPr id="23" name="Group 69"/>
          <p:cNvGrpSpPr>
            <a:grpSpLocks/>
          </p:cNvGrpSpPr>
          <p:nvPr/>
        </p:nvGrpSpPr>
        <p:grpSpPr bwMode="auto">
          <a:xfrm>
            <a:off x="3144838" y="4046538"/>
            <a:ext cx="981075" cy="325437"/>
            <a:chOff x="1981" y="2549"/>
            <a:chExt cx="618" cy="205"/>
          </a:xfrm>
        </p:grpSpPr>
        <p:sp>
          <p:nvSpPr>
            <p:cNvPr id="27690" name="Rectangle 70"/>
            <p:cNvSpPr>
              <a:spLocks noChangeArrowheads="1"/>
            </p:cNvSpPr>
            <p:nvPr/>
          </p:nvSpPr>
          <p:spPr bwMode="auto">
            <a:xfrm>
              <a:off x="1981" y="2549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91" name="Text Box 71"/>
            <p:cNvSpPr txBox="1">
              <a:spLocks noChangeArrowheads="1"/>
            </p:cNvSpPr>
            <p:nvPr/>
          </p:nvSpPr>
          <p:spPr bwMode="auto">
            <a:xfrm>
              <a:off x="2035" y="2582"/>
              <a:ext cx="513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 4 5 6 7</a:t>
              </a:r>
            </a:p>
          </p:txBody>
        </p:sp>
      </p:grpSp>
      <p:grpSp>
        <p:nvGrpSpPr>
          <p:cNvPr id="24" name="Group 72"/>
          <p:cNvGrpSpPr>
            <a:grpSpLocks/>
          </p:cNvGrpSpPr>
          <p:nvPr/>
        </p:nvGrpSpPr>
        <p:grpSpPr bwMode="auto">
          <a:xfrm>
            <a:off x="3144838" y="3613150"/>
            <a:ext cx="981075" cy="325438"/>
            <a:chOff x="1981" y="2276"/>
            <a:chExt cx="618" cy="205"/>
          </a:xfrm>
        </p:grpSpPr>
        <p:sp>
          <p:nvSpPr>
            <p:cNvPr id="27688" name="Rectangle 73"/>
            <p:cNvSpPr>
              <a:spLocks noChangeArrowheads="1"/>
            </p:cNvSpPr>
            <p:nvPr/>
          </p:nvSpPr>
          <p:spPr bwMode="auto">
            <a:xfrm>
              <a:off x="1981" y="2276"/>
              <a:ext cx="618" cy="205"/>
            </a:xfrm>
            <a:prstGeom prst="rect">
              <a:avLst/>
            </a:prstGeom>
            <a:solidFill>
              <a:srgbClr val="FCB994"/>
            </a:solidFill>
            <a:ln w="28575" algn="ctr">
              <a:solidFill>
                <a:srgbClr val="000610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89" name="Text Box 74"/>
            <p:cNvSpPr txBox="1">
              <a:spLocks noChangeArrowheads="1"/>
            </p:cNvSpPr>
            <p:nvPr/>
          </p:nvSpPr>
          <p:spPr bwMode="auto">
            <a:xfrm>
              <a:off x="2063" y="2309"/>
              <a:ext cx="455" cy="1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algn="l"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Block 4</a:t>
              </a:r>
            </a:p>
          </p:txBody>
        </p:sp>
      </p:grpSp>
      <p:grpSp>
        <p:nvGrpSpPr>
          <p:cNvPr id="25" name="Group 75"/>
          <p:cNvGrpSpPr>
            <a:grpSpLocks/>
          </p:cNvGrpSpPr>
          <p:nvPr/>
        </p:nvGrpSpPr>
        <p:grpSpPr bwMode="auto">
          <a:xfrm>
            <a:off x="2994025" y="2965450"/>
            <a:ext cx="1281113" cy="1630363"/>
            <a:chOff x="1886" y="770"/>
            <a:chExt cx="807" cy="1027"/>
          </a:xfrm>
        </p:grpSpPr>
        <p:sp>
          <p:nvSpPr>
            <p:cNvPr id="27686" name="AutoShape 76"/>
            <p:cNvSpPr>
              <a:spLocks noChangeArrowheads="1"/>
            </p:cNvSpPr>
            <p:nvPr/>
          </p:nvSpPr>
          <p:spPr bwMode="auto">
            <a:xfrm>
              <a:off x="1886" y="770"/>
              <a:ext cx="807" cy="1027"/>
            </a:xfrm>
            <a:prstGeom prst="roundRect">
              <a:avLst>
                <a:gd name="adj" fmla="val 12019"/>
              </a:avLst>
            </a:prstGeom>
            <a:solidFill>
              <a:srgbClr val="FCB994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27687" name="Text Box 77"/>
            <p:cNvSpPr txBox="1">
              <a:spLocks noChangeArrowheads="1"/>
            </p:cNvSpPr>
            <p:nvPr/>
          </p:nvSpPr>
          <p:spPr bwMode="auto">
            <a:xfrm>
              <a:off x="1973" y="1145"/>
              <a:ext cx="633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rgbClr val="000000"/>
                  </a:solidFill>
                </a:rPr>
                <a:t>Parity</a:t>
              </a:r>
              <a:br>
                <a:rPr lang="en-US" altLang="ru-RU" sz="1600" b="1">
                  <a:solidFill>
                    <a:srgbClr val="000000"/>
                  </a:solidFill>
                </a:rPr>
              </a:br>
              <a:r>
                <a:rPr lang="en-US" altLang="ru-RU" sz="1600" b="1">
                  <a:solidFill>
                    <a:srgbClr val="000000"/>
                  </a:solidFill>
                </a:rPr>
                <a:t>Generated</a:t>
              </a:r>
            </a:p>
          </p:txBody>
        </p:sp>
      </p:grpSp>
      <p:pic>
        <p:nvPicPr>
          <p:cNvPr id="27681" name="Picture 79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15240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82" name="Picture 80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25146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83" name="Picture 81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35052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84" name="Picture 82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44958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85" name="Picture 83" descr="strippeddis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5486400"/>
            <a:ext cx="53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0509 L 0.26789 0.0050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47 L -0.2217 -0.00047 L -0.2217 -0.19491 L -0.4144 -0.19491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" y="-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 L -0.22066 0 L -0.22066 0.25 L -0.41336 0.25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023 L 0.19201 0.00023 L 0.19201 0.19467 L 0.41371 0.19467 " pathEditMode="relative" rAng="0" ptsTypes="AAAA"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9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2.96296E-6 L 0.19305 2.96296E-6 L 0.19305 -0.31389 L 0.41389 -0.31389 " pathEditMode="relative" ptsTypes="AA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0509 L 0.26875 0.00509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-0.00047 L -0.2217 -0.00047 L -0.2217 -0.1088 L -0.4144 -0.1088 " pathEditMode="relative" ptsTypes="AA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4.44444E-6 L -0.2198 4.44444E-6 L -0.2198 0.19583 L -0.4125 0.19583 " pathEditMode="relative" rAng="0" ptsTypes="AAAA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" y="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59259E-6 L 0.1927 -2.59259E-6 L 0.1927 0.10833 L 0.41354 0.10833 " pathEditMode="relative" ptsTypes="AAAA">
                                      <p:cBhvr>
                                        <p:cTn id="8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0.00139 L 0.19392 0.00139 L 0.19392 -0.25833 L 0.41476 -0.25833 " pathEditMode="relative" rAng="0" ptsTypes="AAAA">
                                      <p:cBhvr>
                                        <p:cTn id="9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" y="-13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0"/>
            <a:ext cx="7568119" cy="742004"/>
          </a:xfrm>
        </p:spPr>
        <p:txBody>
          <a:bodyPr/>
          <a:lstStyle/>
          <a:p>
            <a:pPr algn="ctr" eaLnBrk="1" hangingPunct="1"/>
            <a:r>
              <a:rPr lang="en-US" altLang="ru-RU" sz="3600" dirty="0">
                <a:solidFill>
                  <a:srgbClr val="003580"/>
                </a:solidFill>
              </a:rPr>
              <a:t>RAID 6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84826" y="1049171"/>
            <a:ext cx="8959174" cy="5302993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Увеличение количества дисков в массиве и увеличение емкости дисков приводит  к </a:t>
            </a:r>
            <a:r>
              <a:rPr lang="ru-RU" altLang="ru-RU" b="1" dirty="0"/>
              <a:t>увеличению</a:t>
            </a:r>
            <a:r>
              <a:rPr lang="ru-RU" altLang="ru-RU" dirty="0"/>
              <a:t> </a:t>
            </a:r>
            <a:r>
              <a:rPr lang="ru-RU" altLang="ru-RU" b="1" dirty="0"/>
              <a:t>вероятности</a:t>
            </a:r>
            <a:r>
              <a:rPr lang="ru-RU" altLang="ru-RU" dirty="0"/>
              <a:t> одновременного </a:t>
            </a:r>
            <a:r>
              <a:rPr lang="ru-RU" altLang="ru-RU" b="1" dirty="0"/>
              <a:t>отказа двух и более дисков </a:t>
            </a:r>
            <a:r>
              <a:rPr lang="ru-RU" altLang="ru-RU" dirty="0"/>
              <a:t>в массиве.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При потере 2 –</a:t>
            </a:r>
            <a:r>
              <a:rPr lang="ru-RU" altLang="ru-RU" dirty="0" err="1"/>
              <a:t>х</a:t>
            </a:r>
            <a:r>
              <a:rPr lang="ru-RU" altLang="ru-RU" dirty="0"/>
              <a:t> дисков </a:t>
            </a:r>
            <a:r>
              <a:rPr lang="en-US" altLang="ru-RU" dirty="0"/>
              <a:t>RAID-3, 4, and 5</a:t>
            </a:r>
            <a:r>
              <a:rPr lang="ru-RU" altLang="ru-RU" dirty="0"/>
              <a:t> (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с одним резервным диском</a:t>
            </a:r>
            <a:r>
              <a:rPr lang="ru-RU" altLang="ru-RU" dirty="0"/>
              <a:t>) не обеспечивают восстановление.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Теория восстановления данных после отказа нескольких (основных или резервных), реализованная в схеме </a:t>
            </a:r>
            <a:r>
              <a:rPr lang="en-US" altLang="ru-RU" dirty="0"/>
              <a:t>RAID </a:t>
            </a:r>
            <a:r>
              <a:rPr lang="ru-RU" altLang="ru-RU" dirty="0"/>
              <a:t>наивысшего уровня (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</a:rPr>
              <a:t>RAID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 6</a:t>
            </a:r>
            <a:r>
              <a:rPr lang="ru-RU" altLang="ru-RU" dirty="0"/>
              <a:t>) </a:t>
            </a:r>
            <a:r>
              <a:rPr lang="en-US" altLang="ru-RU" dirty="0"/>
              <a:t> </a:t>
            </a:r>
            <a:r>
              <a:rPr lang="ru-RU" altLang="ru-RU" dirty="0"/>
              <a:t>основана на теории кодов с исправлением ошибок.</a:t>
            </a:r>
            <a:endParaRPr lang="en-US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Такой подход позволяет справиться с аварией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любой тяжести </a:t>
            </a:r>
            <a:r>
              <a:rPr lang="ru-RU" altLang="ru-RU" dirty="0"/>
              <a:t>– лишь бы количество резервных дисков оказалось достаточным.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Пример</a:t>
            </a:r>
            <a:r>
              <a:rPr lang="ru-RU" altLang="ru-RU" dirty="0"/>
              <a:t>: 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en-US" altLang="ru-RU" dirty="0"/>
              <a:t>RAID 6 </a:t>
            </a:r>
            <a:r>
              <a:rPr lang="ru-RU" altLang="ru-RU" dirty="0"/>
              <a:t>на основе кода Хэмминга</a:t>
            </a:r>
            <a:r>
              <a:rPr lang="en-US" altLang="ru-RU" dirty="0"/>
              <a:t> </a:t>
            </a:r>
            <a:r>
              <a:rPr lang="ru-RU" altLang="ru-RU" dirty="0"/>
              <a:t>обеспечивает восстановление при потере 2-х дисков </a:t>
            </a:r>
          </a:p>
        </p:txBody>
      </p:sp>
      <p:sp>
        <p:nvSpPr>
          <p:cNvPr id="28676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867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28017268-35D2-4384-BF12-76D0C6E188D7}" type="slidenum">
              <a:rPr lang="en-US" altLang="ru-RU" sz="800" smtClean="0"/>
              <a:pPr/>
              <a:t>26</a:t>
            </a:fld>
            <a:endParaRPr lang="en-US" altLang="ru-RU" sz="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5971" y="-31097"/>
            <a:ext cx="8900652" cy="612775"/>
          </a:xfrm>
        </p:spPr>
        <p:txBody>
          <a:bodyPr/>
          <a:lstStyle/>
          <a:p>
            <a:pPr algn="ctr" eaLnBrk="1" hangingPunct="1"/>
            <a:r>
              <a:rPr lang="en-US" altLang="ru-RU" sz="3200" dirty="0">
                <a:solidFill>
                  <a:srgbClr val="FCEDC8"/>
                </a:solidFill>
              </a:rPr>
              <a:t>RAID 6 </a:t>
            </a:r>
            <a:r>
              <a:rPr lang="en-US" altLang="ru-RU" sz="3200" dirty="0">
                <a:solidFill>
                  <a:srgbClr val="003580"/>
                </a:solidFill>
              </a:rPr>
              <a:t>–</a:t>
            </a:r>
            <a:r>
              <a:rPr lang="ru-RU" altLang="ru-RU" sz="3200" dirty="0">
                <a:solidFill>
                  <a:srgbClr val="003580"/>
                </a:solidFill>
              </a:rPr>
              <a:t> резервирование кодом Хэмминга</a:t>
            </a:r>
            <a:endParaRPr lang="en-US" altLang="ru-RU" sz="3200" dirty="0">
              <a:solidFill>
                <a:srgbClr val="00358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0" y="576280"/>
            <a:ext cx="9144001" cy="6178484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Взаимосвязи между дисками описываются матрицей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Заметим, что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двоичная сумма элементов строки </a:t>
            </a:r>
            <a:r>
              <a:rPr lang="ru-RU" altLang="ru-RU" sz="1800" dirty="0"/>
              <a:t>всегда =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Смысл строки: диски, помеченные в строке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единицей</a:t>
            </a:r>
            <a:r>
              <a:rPr lang="ru-RU" altLang="ru-RU" sz="1800" dirty="0"/>
              <a:t>, объединены в массив  </a:t>
            </a:r>
            <a:r>
              <a:rPr lang="en-US" altLang="ru-RU" sz="1800" dirty="0"/>
              <a:t>RAID </a:t>
            </a:r>
            <a:r>
              <a:rPr lang="ru-RU" altLang="ru-RU" sz="1800" dirty="0"/>
              <a:t>4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Матрица содержит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столбцы</a:t>
            </a:r>
            <a:r>
              <a:rPr lang="ru-RU" altLang="ru-RU" sz="1800" dirty="0"/>
              <a:t> с всевозможными наборами 3-битовых последовательностей, кроме 000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Столбцы, отвечающие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дискам данных</a:t>
            </a:r>
            <a:r>
              <a:rPr lang="ru-RU" altLang="ru-RU" sz="1800" dirty="0"/>
              <a:t>, содержат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не менее 2-х </a:t>
            </a:r>
            <a:r>
              <a:rPr lang="ru-RU" altLang="ru-RU" sz="1800" dirty="0"/>
              <a:t>единиц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Столбец</a:t>
            </a:r>
            <a:r>
              <a:rPr lang="ru-RU" altLang="ru-RU" sz="1800" dirty="0"/>
              <a:t>, соответствующий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резервному диску</a:t>
            </a:r>
            <a:r>
              <a:rPr lang="ru-RU" altLang="ru-RU" sz="1800" dirty="0"/>
              <a:t>, имеет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единицу</a:t>
            </a:r>
            <a:r>
              <a:rPr lang="ru-RU" altLang="ru-RU" sz="1800" dirty="0"/>
              <a:t> в строке в том случае, когда  этот диск содержит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значения контроля четности </a:t>
            </a:r>
            <a:r>
              <a:rPr lang="ru-RU" altLang="ru-RU" sz="1800" dirty="0"/>
              <a:t>для 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дисков данных,</a:t>
            </a:r>
            <a:r>
              <a:rPr lang="ru-RU" altLang="ru-RU" sz="1800" dirty="0"/>
              <a:t> имеющих в этой строке </a:t>
            </a:r>
            <a:r>
              <a:rPr lang="ru-RU" altLang="ru-RU" sz="1800" dirty="0">
                <a:solidFill>
                  <a:schemeClr val="accent1">
                    <a:lumMod val="75000"/>
                  </a:schemeClr>
                </a:solidFill>
              </a:rPr>
              <a:t>по единице</a:t>
            </a:r>
            <a:r>
              <a:rPr lang="ru-RU" altLang="ru-RU" sz="1800" dirty="0"/>
              <a:t>.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Биты диска 5 – это сумма по модулю 2 соответствующих битов дисков 1,2 и 3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Биты диска 6 – это сумма по модулю 2 соответствующих битов дисков 1,2 и 4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r>
              <a:rPr lang="ru-RU" altLang="ru-RU" sz="1800" dirty="0"/>
              <a:t>Биты диска 7 – это сумма по модулю 2 соответствующих битов дисков 1,3 и 4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ru-RU" altLang="ru-RU" sz="1800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</a:pPr>
            <a:endParaRPr lang="en-US" altLang="ru-RU" sz="1800" dirty="0"/>
          </a:p>
        </p:txBody>
      </p:sp>
      <p:sp>
        <p:nvSpPr>
          <p:cNvPr id="29700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3124200" y="6429982"/>
            <a:ext cx="2895600" cy="275617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29701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210144" y="6248400"/>
            <a:ext cx="476655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 dirty="0"/>
              <a:t> - </a:t>
            </a:r>
            <a:fld id="{574AE156-F254-4B62-9A75-5637245E727B}" type="slidenum">
              <a:rPr lang="en-US" altLang="ru-RU" sz="800" smtClean="0"/>
              <a:pPr/>
              <a:t>27</a:t>
            </a:fld>
            <a:endParaRPr lang="en-US" altLang="ru-RU" sz="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61589" y="950975"/>
          <a:ext cx="68385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9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504">
                <a:tc gridSpan="4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Диски данных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Резервные диски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0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1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2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3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4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5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6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Диск</a:t>
                      </a:r>
                      <a:r>
                        <a:rPr lang="ru-RU" baseline="0" dirty="0"/>
                        <a:t> 7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0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0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0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3999" y="0"/>
            <a:ext cx="7568119" cy="546510"/>
          </a:xfrm>
        </p:spPr>
        <p:txBody>
          <a:bodyPr/>
          <a:lstStyle/>
          <a:p>
            <a:pPr algn="ctr" eaLnBrk="1" hangingPunct="1"/>
            <a:r>
              <a:rPr lang="en-US" altLang="ru-RU" sz="3600" dirty="0">
                <a:solidFill>
                  <a:srgbClr val="003580"/>
                </a:solidFill>
              </a:rPr>
              <a:t>RAID 6</a:t>
            </a:r>
            <a:r>
              <a:rPr lang="ru-RU" altLang="ru-RU" sz="3600" dirty="0">
                <a:solidFill>
                  <a:srgbClr val="003580"/>
                </a:solidFill>
              </a:rPr>
              <a:t> отказ 2 дисков</a:t>
            </a:r>
            <a:endParaRPr lang="en-US" altLang="ru-RU" sz="3600" dirty="0">
              <a:solidFill>
                <a:srgbClr val="00358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32349" y="569626"/>
            <a:ext cx="8911652" cy="5943599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buNone/>
              <a:defRPr/>
            </a:pPr>
            <a:endParaRPr lang="ru-RU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Так как каждый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диск с данными </a:t>
            </a:r>
            <a:r>
              <a:rPr lang="ru-RU" altLang="ru-RU" dirty="0"/>
              <a:t>резервирован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не менее чем на </a:t>
            </a:r>
            <a:r>
              <a:rPr lang="ru-RU" altLang="ru-RU" dirty="0">
                <a:solidFill>
                  <a:srgbClr val="FF0000"/>
                </a:solidFill>
              </a:rPr>
              <a:t>двух разных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резервных дисках</a:t>
            </a:r>
            <a:r>
              <a:rPr lang="ru-RU" altLang="ru-RU" dirty="0"/>
              <a:t>, то отказ 2-х дисков не является фатальным.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Например, при отказе 2 –</a:t>
            </a:r>
            <a:r>
              <a:rPr lang="ru-RU" altLang="ru-RU" dirty="0" err="1"/>
              <a:t>х</a:t>
            </a:r>
            <a:r>
              <a:rPr lang="ru-RU" altLang="ru-RU" dirty="0"/>
              <a:t> дисков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Диск 1 </a:t>
            </a:r>
            <a:r>
              <a:rPr lang="ru-RU" altLang="ru-RU" dirty="0"/>
              <a:t>и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Диск 2 </a:t>
            </a:r>
          </a:p>
          <a:p>
            <a:pPr marL="540000" lvl="1" indent="-180000" eaLnBrk="1" hangingPunct="1">
              <a:lnSpc>
                <a:spcPct val="120000"/>
              </a:lnSpc>
              <a:buClrTx/>
              <a:buSzPct val="100000"/>
              <a:buFont typeface="Times New Roman" pitchFamily="18" charset="0"/>
              <a:buChar char="−"/>
              <a:defRPr/>
            </a:pPr>
            <a:r>
              <a:rPr lang="ru-RU" altLang="ru-RU" dirty="0"/>
              <a:t>сначала восстанавливается Диск 1 = Диск 3      Диск 4      Диск 7</a:t>
            </a:r>
          </a:p>
          <a:p>
            <a:pPr marL="540000" lvl="1" indent="-180000" eaLnBrk="1" hangingPunct="1">
              <a:lnSpc>
                <a:spcPct val="120000"/>
              </a:lnSpc>
              <a:buClrTx/>
              <a:buSzPct val="100000"/>
              <a:buFont typeface="Times New Roman" pitchFamily="18" charset="0"/>
              <a:buChar char="−"/>
              <a:defRPr/>
            </a:pPr>
            <a:r>
              <a:rPr lang="ru-RU" altLang="ru-RU" dirty="0"/>
              <a:t>затем    восстанавливается  Диск 2 = Диск 1      Диск 4      Диск 6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Аналогично при отказе Диска 2 и Диска 3 их данные </a:t>
            </a:r>
          </a:p>
          <a:p>
            <a:pPr marL="540000" lvl="1" indent="-180000" eaLnBrk="1" hangingPunct="1">
              <a:lnSpc>
                <a:spcPct val="120000"/>
              </a:lnSpc>
              <a:buClrTx/>
              <a:buSzPct val="100000"/>
              <a:buFont typeface="Times New Roman" pitchFamily="18" charset="0"/>
              <a:buChar char="−"/>
              <a:defRPr/>
            </a:pPr>
            <a:r>
              <a:rPr lang="ru-RU" altLang="ru-RU" dirty="0"/>
              <a:t>восстанавливаются с Диска 1, Диска 4 и Диска 6 или 7 (строка 2 или 3  таблицы)</a:t>
            </a:r>
          </a:p>
          <a:p>
            <a:pPr marL="540000" lvl="1" indent="-180000" eaLnBrk="1" hangingPunct="1">
              <a:lnSpc>
                <a:spcPct val="120000"/>
              </a:lnSpc>
              <a:buClrTx/>
              <a:buSzPct val="100000"/>
              <a:buFont typeface="Times New Roman" pitchFamily="18" charset="0"/>
              <a:buChar char="−"/>
              <a:defRPr/>
            </a:pPr>
            <a:r>
              <a:rPr lang="ru-RU" altLang="ru-RU" dirty="0"/>
              <a:t>а затем используется восстановленный диск и Диски 1 и 5 из первой строки таблицы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Отказ даже </a:t>
            </a:r>
            <a:r>
              <a:rPr lang="ru-RU" altLang="ru-RU" sz="3200" dirty="0">
                <a:solidFill>
                  <a:srgbClr val="FF0000"/>
                </a:solidFill>
                <a:ea typeface="+mn-ea"/>
              </a:rPr>
              <a:t>всех резервных дисков </a:t>
            </a:r>
            <a:r>
              <a:rPr lang="ru-RU" altLang="ru-RU" sz="3200" dirty="0">
                <a:ea typeface="+mn-ea"/>
              </a:rPr>
              <a:t>НЕ является ФАТАЛЬНЫМ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Схема </a:t>
            </a:r>
            <a:r>
              <a:rPr lang="en-US" altLang="ru-RU" sz="3200" dirty="0">
                <a:ea typeface="+mn-ea"/>
              </a:rPr>
              <a:t>RAID 6</a:t>
            </a:r>
            <a:r>
              <a:rPr lang="ru-RU" altLang="ru-RU" sz="3200" dirty="0">
                <a:ea typeface="+mn-ea"/>
              </a:rPr>
              <a:t> не ограничена 4-мя дисками данных.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Общее количество дисков может быть </a:t>
            </a:r>
            <a:r>
              <a:rPr lang="en-US" altLang="ru-RU" sz="3200" dirty="0">
                <a:ea typeface="+mn-ea"/>
              </a:rPr>
              <a:t>&lt; 2</a:t>
            </a:r>
            <a:r>
              <a:rPr lang="en-US" altLang="ru-RU" sz="3200" baseline="30000" dirty="0">
                <a:ea typeface="+mn-ea"/>
              </a:rPr>
              <a:t>k </a:t>
            </a:r>
            <a:r>
              <a:rPr lang="ru-RU" altLang="ru-RU" sz="3200" dirty="0">
                <a:ea typeface="+mn-ea"/>
              </a:rPr>
              <a:t>, например </a:t>
            </a:r>
            <a:r>
              <a:rPr lang="en-US" altLang="ru-RU" sz="3200" dirty="0">
                <a:solidFill>
                  <a:schemeClr val="tx1"/>
                </a:solidFill>
                <a:latin typeface="+mn-lt"/>
                <a:cs typeface="+mn-cs"/>
              </a:rPr>
              <a:t>2</a:t>
            </a:r>
            <a:r>
              <a:rPr lang="en-US" altLang="ru-RU" sz="3200" baseline="30000" dirty="0">
                <a:solidFill>
                  <a:schemeClr val="tx1"/>
                </a:solidFill>
                <a:latin typeface="+mn-lt"/>
                <a:cs typeface="+mn-cs"/>
              </a:rPr>
              <a:t>k</a:t>
            </a:r>
            <a:r>
              <a:rPr lang="ru-RU" altLang="ru-RU" sz="3200" dirty="0">
                <a:ea typeface="+mn-ea"/>
              </a:rPr>
              <a:t> </a:t>
            </a:r>
            <a:r>
              <a:rPr lang="en-US" altLang="ru-RU" sz="3200" dirty="0">
                <a:ea typeface="+mn-ea"/>
              </a:rPr>
              <a:t>– 1</a:t>
            </a:r>
            <a:r>
              <a:rPr lang="ru-RU" altLang="ru-RU" sz="3200" dirty="0">
                <a:ea typeface="+mn-ea"/>
              </a:rPr>
              <a:t>, где </a:t>
            </a:r>
            <a:r>
              <a:rPr lang="en-US" altLang="ru-RU" sz="3200" dirty="0">
                <a:ea typeface="+mn-ea"/>
              </a:rPr>
              <a:t>k </a:t>
            </a:r>
            <a:r>
              <a:rPr lang="ru-RU" altLang="ru-RU" sz="3200" dirty="0">
                <a:ea typeface="+mn-ea"/>
              </a:rPr>
              <a:t>– число резервных дисков, а остальные </a:t>
            </a:r>
            <a:r>
              <a:rPr lang="en-US" altLang="ru-RU" sz="3200" dirty="0">
                <a:solidFill>
                  <a:schemeClr val="tx1"/>
                </a:solidFill>
                <a:latin typeface="+mn-lt"/>
                <a:cs typeface="+mn-cs"/>
              </a:rPr>
              <a:t>2</a:t>
            </a:r>
            <a:r>
              <a:rPr lang="en-US" altLang="ru-RU" sz="3200" baseline="30000" dirty="0">
                <a:solidFill>
                  <a:schemeClr val="tx1"/>
                </a:solidFill>
                <a:latin typeface="+mn-lt"/>
                <a:cs typeface="+mn-cs"/>
              </a:rPr>
              <a:t>k</a:t>
            </a:r>
            <a:r>
              <a:rPr lang="en-US" altLang="ru-RU" sz="3200" dirty="0">
                <a:solidFill>
                  <a:schemeClr val="tx1"/>
                </a:solidFill>
                <a:latin typeface="+mn-lt"/>
                <a:cs typeface="+mn-cs"/>
              </a:rPr>
              <a:t>– 1</a:t>
            </a:r>
            <a:r>
              <a:rPr lang="en-US" altLang="ru-RU" sz="3200" dirty="0"/>
              <a:t> –</a:t>
            </a:r>
            <a:r>
              <a:rPr lang="ru-RU" altLang="ru-RU" sz="3200" dirty="0"/>
              <a:t> </a:t>
            </a:r>
            <a:r>
              <a:rPr lang="en-US" altLang="ru-RU" sz="3200" dirty="0"/>
              <a:t>k</a:t>
            </a:r>
            <a:r>
              <a:rPr lang="en-US" altLang="ru-RU" sz="3200" dirty="0">
                <a:solidFill>
                  <a:schemeClr val="tx1"/>
                </a:solidFill>
                <a:latin typeface="+mn-lt"/>
                <a:cs typeface="+mn-cs"/>
              </a:rPr>
              <a:t>  </a:t>
            </a:r>
            <a:r>
              <a:rPr lang="ru-RU" altLang="ru-RU" sz="3200" dirty="0">
                <a:solidFill>
                  <a:schemeClr val="tx1"/>
                </a:solidFill>
                <a:latin typeface="+mn-lt"/>
                <a:cs typeface="+mn-cs"/>
              </a:rPr>
              <a:t>- это диски данных.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Таким образом, степень резервирования возрастает </a:t>
            </a:r>
            <a:r>
              <a:rPr lang="en-US" altLang="ru-RU" sz="3200" dirty="0">
                <a:ea typeface="+mn-ea"/>
              </a:rPr>
              <a:t>~</a:t>
            </a:r>
            <a:r>
              <a:rPr lang="ru-RU" altLang="ru-RU" sz="3200" dirty="0">
                <a:ea typeface="+mn-ea"/>
              </a:rPr>
              <a:t> как </a:t>
            </a:r>
            <a:r>
              <a:rPr lang="en-US" altLang="ru-RU" sz="3200" i="1" dirty="0">
                <a:latin typeface="Times New Roman" pitchFamily="18" charset="0"/>
                <a:ea typeface="+mn-ea"/>
                <a:cs typeface="Times New Roman" pitchFamily="18" charset="0"/>
              </a:rPr>
              <a:t>log</a:t>
            </a:r>
            <a:r>
              <a:rPr lang="ru-RU" altLang="ru-RU" sz="3200" i="1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altLang="ru-RU" sz="3200" i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ru-RU" altLang="ru-RU" sz="3200" i="1" dirty="0">
                <a:latin typeface="Times New Roman" pitchFamily="18" charset="0"/>
                <a:ea typeface="+mn-ea"/>
                <a:cs typeface="Times New Roman" pitchFamily="18" charset="0"/>
              </a:rPr>
              <a:t>кол-во дисков данных)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3200" dirty="0">
                <a:ea typeface="+mn-ea"/>
              </a:rPr>
              <a:t>Для </a:t>
            </a:r>
            <a:r>
              <a:rPr lang="ru-RU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любого </a:t>
            </a:r>
            <a:r>
              <a:rPr lang="en-US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k</a:t>
            </a:r>
            <a:r>
              <a:rPr lang="ru-RU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 </a:t>
            </a:r>
            <a:r>
              <a:rPr lang="en-US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&gt; 2</a:t>
            </a:r>
            <a:r>
              <a:rPr lang="ru-RU" altLang="ru-RU" sz="3200" dirty="0">
                <a:ea typeface="+mn-ea"/>
              </a:rPr>
              <a:t> </a:t>
            </a:r>
            <a:r>
              <a:rPr lang="ru-RU" altLang="ru-RU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ru-RU" altLang="ru-RU" sz="3200" i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число резервных дисков</a:t>
            </a:r>
            <a:r>
              <a:rPr lang="ru-RU" altLang="ru-RU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ru-RU" altLang="ru-RU" sz="3200" dirty="0">
                <a:ea typeface="+mn-ea"/>
              </a:rPr>
              <a:t> не трудно построить аналогичную матрицу, столбцы которой содержат </a:t>
            </a:r>
            <a:r>
              <a:rPr lang="ru-RU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все различные битовые вектора </a:t>
            </a:r>
            <a:r>
              <a:rPr lang="ru-RU" altLang="ru-RU" sz="3200" dirty="0">
                <a:ea typeface="+mn-ea"/>
              </a:rPr>
              <a:t>(</a:t>
            </a:r>
            <a:r>
              <a:rPr lang="ru-RU" altLang="ru-RU" sz="3200" dirty="0">
                <a:solidFill>
                  <a:srgbClr val="FF0000"/>
                </a:solidFill>
                <a:ea typeface="+mn-ea"/>
              </a:rPr>
              <a:t>кроме всех нулей</a:t>
            </a:r>
            <a:r>
              <a:rPr lang="ru-RU" altLang="ru-RU" sz="3200" dirty="0">
                <a:ea typeface="+mn-ea"/>
              </a:rPr>
              <a:t>), причем столбцы с </a:t>
            </a:r>
            <a:r>
              <a:rPr lang="ru-RU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единственной единицей </a:t>
            </a:r>
            <a:r>
              <a:rPr lang="ru-RU" altLang="ru-RU" sz="3200" dirty="0">
                <a:ea typeface="+mn-ea"/>
              </a:rPr>
              <a:t>соответствуют </a:t>
            </a:r>
            <a:r>
              <a:rPr lang="ru-RU" altLang="ru-RU" sz="3200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резервным дискам</a:t>
            </a:r>
            <a:r>
              <a:rPr lang="ru-RU" altLang="ru-RU" sz="3200" dirty="0">
                <a:ea typeface="+mn-ea"/>
              </a:rPr>
              <a:t>. </a:t>
            </a:r>
          </a:p>
        </p:txBody>
      </p:sp>
      <p:sp>
        <p:nvSpPr>
          <p:cNvPr id="28676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8677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139658" y="6248400"/>
            <a:ext cx="547141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 dirty="0"/>
              <a:t> - </a:t>
            </a:r>
            <a:fld id="{28017268-35D2-4384-BF12-76D0C6E188D7}" type="slidenum">
              <a:rPr lang="en-US" altLang="ru-RU" sz="800" smtClean="0"/>
              <a:pPr/>
              <a:t>28</a:t>
            </a:fld>
            <a:endParaRPr lang="en-US" altLang="ru-RU" sz="8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41815" y="631873"/>
          <a:ext cx="621342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348"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Диски данных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Резервные диски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4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1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2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3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4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5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6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Диск</a:t>
                      </a:r>
                      <a:r>
                        <a:rPr lang="ru-RU" sz="1400" baseline="0" dirty="0"/>
                        <a:t> 7</a:t>
                      </a:r>
                      <a:endParaRPr lang="ru-RU" sz="14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34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34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Группа 22"/>
          <p:cNvGrpSpPr/>
          <p:nvPr/>
        </p:nvGrpSpPr>
        <p:grpSpPr>
          <a:xfrm>
            <a:off x="4324661" y="3060000"/>
            <a:ext cx="903495" cy="144000"/>
            <a:chOff x="4324661" y="3060000"/>
            <a:chExt cx="903495" cy="144000"/>
          </a:xfrm>
        </p:grpSpPr>
        <p:sp>
          <p:nvSpPr>
            <p:cNvPr id="20" name="Блок-схема: ИЛИ 19"/>
            <p:cNvSpPr/>
            <p:nvPr/>
          </p:nvSpPr>
          <p:spPr>
            <a:xfrm>
              <a:off x="4324661" y="3060000"/>
              <a:ext cx="144000" cy="144000"/>
            </a:xfrm>
            <a:prstGeom prst="flowChartOr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/>
            </a:p>
          </p:txBody>
        </p:sp>
        <p:sp>
          <p:nvSpPr>
            <p:cNvPr id="22" name="Блок-схема: ИЛИ 21"/>
            <p:cNvSpPr/>
            <p:nvPr/>
          </p:nvSpPr>
          <p:spPr>
            <a:xfrm>
              <a:off x="5084156" y="3060000"/>
              <a:ext cx="144000" cy="144000"/>
            </a:xfrm>
            <a:prstGeom prst="flowChartOr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4327161" y="3302340"/>
            <a:ext cx="903495" cy="144000"/>
            <a:chOff x="4324661" y="3060000"/>
            <a:chExt cx="903495" cy="144000"/>
          </a:xfrm>
        </p:grpSpPr>
        <p:sp>
          <p:nvSpPr>
            <p:cNvPr id="25" name="Блок-схема: ИЛИ 24"/>
            <p:cNvSpPr/>
            <p:nvPr/>
          </p:nvSpPr>
          <p:spPr>
            <a:xfrm>
              <a:off x="4324661" y="3060000"/>
              <a:ext cx="144000" cy="144000"/>
            </a:xfrm>
            <a:prstGeom prst="flowChartOr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/>
            </a:p>
          </p:txBody>
        </p:sp>
        <p:sp>
          <p:nvSpPr>
            <p:cNvPr id="26" name="Блок-схема: ИЛИ 25"/>
            <p:cNvSpPr/>
            <p:nvPr/>
          </p:nvSpPr>
          <p:spPr>
            <a:xfrm>
              <a:off x="5084156" y="3060000"/>
              <a:ext cx="144000" cy="144000"/>
            </a:xfrm>
            <a:prstGeom prst="flowChartOr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56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6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091" y="0"/>
            <a:ext cx="8826909" cy="589935"/>
          </a:xfrm>
          <a:ln>
            <a:solidFill>
              <a:srgbClr val="3399FF"/>
            </a:solidFill>
          </a:ln>
        </p:spPr>
        <p:txBody>
          <a:bodyPr/>
          <a:lstStyle/>
          <a:p>
            <a:pPr algn="ctr" eaLnBrk="1" hangingPunct="1"/>
            <a:r>
              <a:rPr lang="en-US" altLang="ru-RU" sz="3200" dirty="0">
                <a:solidFill>
                  <a:schemeClr val="bg1"/>
                </a:solidFill>
              </a:rPr>
              <a:t>RAID 6</a:t>
            </a:r>
            <a:r>
              <a:rPr lang="ru-RU" altLang="ru-RU" sz="3200" dirty="0">
                <a:solidFill>
                  <a:schemeClr val="bg1"/>
                </a:solidFill>
              </a:rPr>
              <a:t> и коды </a:t>
            </a:r>
            <a:r>
              <a:rPr lang="ru-RU" altLang="ru-RU" sz="3200" dirty="0">
                <a:solidFill>
                  <a:srgbClr val="0000CC"/>
                </a:solidFill>
              </a:rPr>
              <a:t>с исправлением ошибок</a:t>
            </a:r>
            <a:endParaRPr lang="en-US" altLang="ru-RU" sz="3200" dirty="0">
              <a:solidFill>
                <a:srgbClr val="0000CC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84826" y="680463"/>
            <a:ext cx="8959174" cy="599318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Выбор подходящей матрицы резервирования делается на основе 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теории кодов с исправлением ошибок.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Код длины </a:t>
            </a:r>
            <a:r>
              <a:rPr lang="en-US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u-RU" dirty="0"/>
              <a:t>– </a:t>
            </a:r>
            <a:r>
              <a:rPr lang="ru-RU" altLang="ru-RU" dirty="0"/>
              <a:t>это множество 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битовых векторов длины </a:t>
            </a:r>
            <a:r>
              <a:rPr lang="en-US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altLang="ru-RU" dirty="0"/>
              <a:t>называемых </a:t>
            </a: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кодовыми словами</a:t>
            </a:r>
            <a:r>
              <a:rPr lang="ru-RU" altLang="ru-RU" sz="38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Расстоянием Хемминга</a:t>
            </a:r>
            <a:r>
              <a:rPr lang="en-US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altLang="ru-RU" dirty="0"/>
              <a:t>между двумя кодовыми словами называется 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количество</a:t>
            </a:r>
            <a:r>
              <a:rPr lang="ru-RU" altLang="ru-RU" dirty="0"/>
              <a:t> 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позиций</a:t>
            </a:r>
            <a:r>
              <a:rPr lang="ru-RU" altLang="ru-RU" dirty="0"/>
              <a:t> в которых эти два слова различаются. Например, расстояние между 010010010 и 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10</a:t>
            </a:r>
            <a:r>
              <a:rPr lang="ru-RU" altLang="ru-RU" dirty="0"/>
              <a:t>001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1101</a:t>
            </a:r>
            <a:r>
              <a:rPr lang="ru-RU" altLang="ru-RU" dirty="0"/>
              <a:t> равно 6.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Минимальное расстояние </a:t>
            </a:r>
            <a:r>
              <a:rPr lang="ru-RU" altLang="ru-RU" dirty="0">
                <a:solidFill>
                  <a:srgbClr val="C00000"/>
                </a:solidFill>
              </a:rPr>
              <a:t>кода</a:t>
            </a:r>
            <a:r>
              <a:rPr lang="ru-RU" alt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altLang="ru-RU" dirty="0"/>
              <a:t>– наименьшее расстояние Хемминга между двумя любыми кодовыми словами.</a:t>
            </a:r>
            <a:endParaRPr lang="en-US" altLang="ru-RU" dirty="0"/>
          </a:p>
        </p:txBody>
      </p:sp>
      <p:sp>
        <p:nvSpPr>
          <p:cNvPr id="28676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2867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28017268-35D2-4384-BF12-76D0C6E188D7}" type="slidenum">
              <a:rPr lang="en-US" altLang="ru-RU" sz="800" smtClean="0"/>
              <a:pPr/>
              <a:t>29</a:t>
            </a:fld>
            <a:endParaRPr lang="en-US" altLang="ru-RU" sz="800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120" imgH="215640" progId="">
                  <p:embed/>
                </p:oleObj>
              </mc:Choice>
              <mc:Fallback>
                <p:oleObj name="Формула" r:id="rId3" imgW="114120" imgH="215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091" y="0"/>
            <a:ext cx="8826909" cy="589935"/>
          </a:xfrm>
          <a:ln>
            <a:solidFill>
              <a:srgbClr val="3399FF"/>
            </a:solidFill>
          </a:ln>
        </p:spPr>
        <p:txBody>
          <a:bodyPr/>
          <a:lstStyle/>
          <a:p>
            <a:pPr algn="ctr" eaLnBrk="1" hangingPunct="1"/>
            <a:r>
              <a:rPr lang="en-US" altLang="ru-RU" sz="3200" dirty="0">
                <a:solidFill>
                  <a:schemeClr val="bg1"/>
                </a:solidFill>
              </a:rPr>
              <a:t>RAID 6</a:t>
            </a:r>
            <a:r>
              <a:rPr lang="ru-RU" altLang="ru-RU" sz="3200" dirty="0">
                <a:solidFill>
                  <a:schemeClr val="bg1"/>
                </a:solidFill>
              </a:rPr>
              <a:t> и коды </a:t>
            </a:r>
            <a:r>
              <a:rPr lang="ru-RU" altLang="ru-RU" sz="3200" dirty="0">
                <a:solidFill>
                  <a:srgbClr val="0000CC"/>
                </a:solidFill>
              </a:rPr>
              <a:t>с исправлением ошибок</a:t>
            </a:r>
            <a:endParaRPr lang="en-US" altLang="ru-RU" sz="3200" dirty="0">
              <a:solidFill>
                <a:srgbClr val="0000CC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84826" y="680462"/>
            <a:ext cx="8959174" cy="617753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Если С – произвольный код длины </a:t>
            </a:r>
            <a:r>
              <a:rPr lang="en-US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dirty="0"/>
              <a:t>, то можно потребовать, чтобы</a:t>
            </a:r>
            <a:r>
              <a:rPr lang="en-US" altLang="ru-RU" dirty="0"/>
              <a:t> </a:t>
            </a:r>
            <a:r>
              <a:rPr lang="ru-RU" altLang="ru-RU" dirty="0"/>
              <a:t>соответствующие биты блоков </a:t>
            </a:r>
            <a:r>
              <a:rPr lang="en-US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40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дисков </a:t>
            </a:r>
            <a:r>
              <a:rPr lang="ru-RU" altLang="ru-RU" dirty="0"/>
              <a:t>образовывали последовательности, являющиеся словами кода С.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ru-RU" altLang="ru-RU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ru-RU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дисков           слово длины </a:t>
            </a:r>
            <a:r>
              <a:rPr lang="en-US" altLang="ru-RU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ru-RU" altLang="ru-RU" dirty="0"/>
              <a:t>таблица 1</a:t>
            </a:r>
          </a:p>
          <a:p>
            <a:pPr marL="360000" eaLnBrk="1" hangingPunct="1">
              <a:lnSpc>
                <a:spcPct val="120000"/>
              </a:lnSpc>
              <a:spcBef>
                <a:spcPts val="1200"/>
              </a:spcBef>
              <a:buNone/>
              <a:defRPr/>
            </a:pPr>
            <a:r>
              <a:rPr lang="ru-RU" altLang="ru-RU" dirty="0"/>
              <a:t>        …               = 10 … 011 </a:t>
            </a:r>
          </a:p>
          <a:p>
            <a:pPr marL="360000" eaLnBrk="1" hangingPunct="1">
              <a:lnSpc>
                <a:spcPct val="120000"/>
              </a:lnSpc>
              <a:spcBef>
                <a:spcPts val="1200"/>
              </a:spcBef>
              <a:defRPr/>
            </a:pPr>
            <a:endParaRPr lang="ru-RU" altLang="ru-RU" dirty="0"/>
          </a:p>
          <a:p>
            <a:pPr marL="360000" eaLnBrk="1" hangingPunct="1">
              <a:lnSpc>
                <a:spcPct val="120000"/>
              </a:lnSpc>
              <a:spcBef>
                <a:spcPts val="600"/>
              </a:spcBef>
              <a:buNone/>
              <a:defRPr/>
            </a:pPr>
            <a:endParaRPr lang="ru-RU" altLang="ru-RU" dirty="0"/>
          </a:p>
          <a:p>
            <a:pPr marL="360000" algn="ctr" eaLnBrk="1" hangingPunct="1">
              <a:lnSpc>
                <a:spcPct val="120000"/>
              </a:lnSpc>
              <a:spcBef>
                <a:spcPts val="600"/>
              </a:spcBef>
              <a:buNone/>
              <a:defRPr/>
            </a:pPr>
            <a:r>
              <a:rPr lang="ru-RU" altLang="ru-RU" dirty="0">
                <a:solidFill>
                  <a:schemeClr val="accent1">
                    <a:lumMod val="75000"/>
                  </a:schemeClr>
                </a:solidFill>
              </a:rPr>
              <a:t>                                                           </a:t>
            </a:r>
            <a:endParaRPr lang="ru-RU" altLang="ru-RU" dirty="0"/>
          </a:p>
          <a:p>
            <a:pPr marL="360000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altLang="ru-RU" dirty="0"/>
              <a:t>В </a:t>
            </a:r>
            <a:r>
              <a:rPr lang="ru-RU" altLang="ru-RU" sz="3100" dirty="0"/>
              <a:t>простейшем случае зеркальный диск , где </a:t>
            </a:r>
            <a:r>
              <a:rPr lang="en-US" altLang="ru-RU" sz="3100" dirty="0"/>
              <a:t>n=2</a:t>
            </a:r>
            <a:r>
              <a:rPr lang="ru-RU" altLang="ru-RU" sz="3100" dirty="0"/>
              <a:t> можно использовать код С =</a:t>
            </a:r>
            <a:r>
              <a:rPr lang="en-US" altLang="ru-RU" sz="3100" dirty="0"/>
              <a:t>{00,11}</a:t>
            </a:r>
            <a:r>
              <a:rPr lang="ru-RU" altLang="ru-RU" sz="3100" dirty="0"/>
              <a:t>, то есть одноименные биты обоих дисков должны быть одинаковы.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100" dirty="0"/>
              <a:t>Если минимальное расстояние кода равно </a:t>
            </a:r>
            <a:r>
              <a:rPr lang="en-US" altLang="ru-RU" sz="3100" dirty="0"/>
              <a:t>d, </a:t>
            </a:r>
            <a:r>
              <a:rPr lang="ru-RU" altLang="ru-RU" sz="3100" dirty="0"/>
              <a:t>то система, диски которой содержат биты, образующие слова кода, способна устоять против одновременного отказа </a:t>
            </a:r>
            <a:r>
              <a:rPr lang="en-US" altLang="ru-RU" sz="3100" dirty="0"/>
              <a:t>d-1 </a:t>
            </a:r>
            <a:r>
              <a:rPr lang="ru-RU" altLang="ru-RU" sz="3100" dirty="0"/>
              <a:t>дисков.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3100" dirty="0"/>
              <a:t>Система с матрицей в таблице 1 имеет определяет код Хемминга с минимальным расстоянием 3. Следовательно, способна справиться с одновременным отказом 2-х дисков</a:t>
            </a:r>
          </a:p>
        </p:txBody>
      </p:sp>
      <p:sp>
        <p:nvSpPr>
          <p:cNvPr id="28676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4753495" y="6400800"/>
            <a:ext cx="28956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2867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28017268-35D2-4384-BF12-76D0C6E188D7}" type="slidenum">
              <a:rPr lang="en-US" altLang="ru-RU" sz="800" smtClean="0"/>
              <a:pPr/>
              <a:t>30</a:t>
            </a:fld>
            <a:endParaRPr lang="en-US" altLang="ru-RU" sz="80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29131" y="2385934"/>
          <a:ext cx="208280" cy="1202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861"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77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77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77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120" imgH="215640" progId="">
                  <p:embed/>
                </p:oleObj>
              </mc:Choice>
              <mc:Fallback>
                <p:oleObj name="Формула" r:id="rId3" imgW="114120" imgH="2156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авая фигурная скобка 9"/>
          <p:cNvSpPr/>
          <p:nvPr/>
        </p:nvSpPr>
        <p:spPr>
          <a:xfrm>
            <a:off x="1018570" y="1365481"/>
            <a:ext cx="235974" cy="1873042"/>
          </a:xfrm>
          <a:prstGeom prst="rightBrace">
            <a:avLst>
              <a:gd name="adj1" fmla="val 55208"/>
              <a:gd name="adj2" fmla="val 48077"/>
            </a:avLst>
          </a:prstGeom>
          <a:ln>
            <a:solidFill>
              <a:schemeClr val="bg2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833796" y="2378468"/>
          <a:ext cx="208280" cy="116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968"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558267" y="2388152"/>
          <a:ext cx="208280" cy="116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968"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Правая фигурная скобка 12"/>
          <p:cNvSpPr/>
          <p:nvPr/>
        </p:nvSpPr>
        <p:spPr>
          <a:xfrm>
            <a:off x="2809584" y="1678989"/>
            <a:ext cx="235974" cy="1229023"/>
          </a:xfrm>
          <a:prstGeom prst="rightBrace">
            <a:avLst>
              <a:gd name="adj1" fmla="val 55208"/>
              <a:gd name="adj2" fmla="val 48077"/>
            </a:avLst>
          </a:prstGeom>
          <a:ln>
            <a:solidFill>
              <a:schemeClr val="bg2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1531551" y="2364302"/>
          <a:ext cx="208280" cy="116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968"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1221110" y="2371676"/>
          <a:ext cx="208280" cy="116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968">
                <a:tc>
                  <a:txBody>
                    <a:bodyPr/>
                    <a:lstStyle/>
                    <a:p>
                      <a:pPr algn="ctr"/>
                      <a:r>
                        <a:rPr lang="ru-RU" sz="9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20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" name="Рисунок 25" descr="таб 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4743" y="2208778"/>
            <a:ext cx="4157738" cy="117548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10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2914" name="Group 2"/>
          <p:cNvGraphicFramePr>
            <a:graphicFrameLocks noGrp="1"/>
          </p:cNvGraphicFramePr>
          <p:nvPr>
            <p:ph/>
          </p:nvPr>
        </p:nvGraphicFramePr>
        <p:xfrm>
          <a:off x="255588" y="598488"/>
          <a:ext cx="8686800" cy="5764211"/>
        </p:xfrm>
        <a:graphic>
          <a:graphicData uri="http://schemas.openxmlformats.org/drawingml/2006/table">
            <a:tbl>
              <a:tblPr/>
              <a:tblGrid>
                <a:gridCol w="49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9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41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28439"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RAID</a:t>
                      </a: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Мин дисков</a:t>
                      </a:r>
                      <a:endParaRPr kumimoji="0" lang="en-US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Эффект. хранения данных, % </a:t>
                      </a: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Стоимость </a:t>
                      </a: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Скорость считывания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Скорость записи</a:t>
                      </a: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Дополнительные расходы на запись</a:t>
                      </a:r>
                      <a:endParaRPr kumimoji="0" lang="en-US" altLang="ru-RU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953"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100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Низкая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Отличная как при произвольном так  и последовательном считывания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Отличная 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Нет 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943"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2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50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Высокая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Лучше считывания с одного диска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Медленнее, чем на единичном диске, поскольку каждая запись производится на несколько дисков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Приемлемые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943"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(n-1)*100/n</a:t>
                      </a:r>
                      <a:b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</a:b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где </a:t>
                      </a: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n = </a:t>
                      </a: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количество дисков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Средняя 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 </a:t>
                      </a: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при произвольном и</a:t>
                      </a: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отличная последовательном считывании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Плохая или приемлемая при небольших записях в произвольном порядке.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 при объемных последовательных записях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Большие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2933"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4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3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(n-1)*100/n</a:t>
                      </a:r>
                      <a:b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</a:b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где </a:t>
                      </a:r>
                      <a:r>
                        <a:rPr kumimoji="0" lang="en-US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n = </a:t>
                      </a: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количество дисков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Средняя 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Отличная при произвольном считывании.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 или отличная при последовательном считывании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defRPr sz="2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1pPr>
                      <a:lvl2pPr algn="l" eaLnBrk="0" hangingPunct="0">
                        <a:spcBef>
                          <a:spcPct val="25000"/>
                        </a:spcBef>
                        <a:buFont typeface="Times New Roman" pitchFamily="18" charset="0"/>
                        <a:defRPr sz="19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2pPr>
                      <a:lvl3pPr algn="l" eaLnBrk="0" hangingPunct="0">
                        <a:spcBef>
                          <a:spcPct val="25000"/>
                        </a:spcBef>
                        <a:defRPr sz="17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3pPr>
                      <a:lvl4pPr algn="l" eaLnBrk="0" hangingPunct="0">
                        <a:spcBef>
                          <a:spcPct val="25000"/>
                        </a:spcBef>
                        <a:defRPr sz="14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4pPr>
                      <a:lvl5pPr algn="l" eaLnBrk="0" hangingPunct="0">
                        <a:spcBef>
                          <a:spcPct val="25000"/>
                        </a:spcBef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5pPr>
                      <a:lvl6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6pPr>
                      <a:lvl7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7pPr>
                      <a:lvl8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8pPr>
                      <a:lvl9pPr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3580"/>
                        </a:buClr>
                        <a:buFont typeface="Wingdings" pitchFamily="2" charset="2"/>
                        <a:defRPr sz="1200">
                          <a:solidFill>
                            <a:schemeClr val="tx2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Плохая или приемлемая при произвольных записях.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Times New Roman" pitchFamily="18" charset="0"/>
                        </a:rPr>
                        <a:t>Хорошая при последовательных записях.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Большие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72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2651125" y="6562725"/>
            <a:ext cx="3840163" cy="2286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30773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85150" y="6189663"/>
            <a:ext cx="646113" cy="51276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ACC36FB8-B828-4F1F-BF7D-48B59443D681}" type="slidenum">
              <a:rPr lang="en-US" altLang="ru-RU" sz="800" smtClean="0"/>
              <a:pPr/>
              <a:t>31</a:t>
            </a:fld>
            <a:endParaRPr lang="en-US" altLang="ru-RU" sz="800"/>
          </a:p>
        </p:txBody>
      </p:sp>
      <p:sp>
        <p:nvSpPr>
          <p:cNvPr id="30774" name="Rectangle 60"/>
          <p:cNvSpPr>
            <a:spLocks noChangeArrowheads="1"/>
          </p:cNvSpPr>
          <p:nvPr/>
        </p:nvSpPr>
        <p:spPr bwMode="auto">
          <a:xfrm>
            <a:off x="219075" y="0"/>
            <a:ext cx="87058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41388">
              <a:spcBef>
                <a:spcPct val="0"/>
              </a:spcBef>
              <a:buClrTx/>
              <a:buFontTx/>
              <a:buNone/>
            </a:pPr>
            <a:r>
              <a:rPr lang="ru-RU" altLang="ru-RU" sz="2800" b="1" i="1"/>
              <a:t> </a:t>
            </a:r>
            <a:r>
              <a:rPr lang="ru-RU" altLang="ru-RU" sz="3600"/>
              <a:t>Сравнение </a:t>
            </a:r>
            <a:r>
              <a:rPr lang="en-US" altLang="ru-RU" sz="3600"/>
              <a:t>RAID’</a:t>
            </a:r>
            <a:r>
              <a:rPr lang="ru-RU" altLang="ru-RU" sz="3600"/>
              <a:t> ов</a:t>
            </a:r>
            <a:endParaRPr lang="en-US" altLang="ru-RU"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2914" name="Group 2"/>
          <p:cNvGraphicFramePr>
            <a:graphicFrameLocks noGrp="1"/>
          </p:cNvGraphicFramePr>
          <p:nvPr>
            <p:ph/>
          </p:nvPr>
        </p:nvGraphicFramePr>
        <p:xfrm>
          <a:off x="488950" y="965200"/>
          <a:ext cx="8355013" cy="5403895"/>
        </p:xfrm>
        <a:graphic>
          <a:graphicData uri="http://schemas.openxmlformats.org/drawingml/2006/table">
            <a:tbl>
              <a:tblPr/>
              <a:tblGrid>
                <a:gridCol w="465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3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90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RAID</a:t>
                      </a: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Мин дисков</a:t>
                      </a:r>
                      <a:endParaRPr kumimoji="0" lang="en-US" altLang="ru-RU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Эффект. хранения данных, % </a:t>
                      </a: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Стоимость </a:t>
                      </a: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Скорость считывания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Скорость записи</a:t>
                      </a: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Дополнительные расходы на запись</a:t>
                      </a: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3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(n-1)*100/n</a:t>
                      </a:r>
                      <a:b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</a:b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где </a:t>
                      </a: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N = </a:t>
                      </a: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количеству дисков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Средняя 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Очень хорошая для случайного чтения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Хорошая для последовательного чтения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Приемлемая при произвольных записях.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Замедление объясняется дополнительными расходами на запись четности.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Приемлемая или хорошая при последовательной записи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Большие 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21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(n-2)*100/n</a:t>
                      </a:r>
                      <a:b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</a:b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где </a:t>
                      </a: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N = </a:t>
                      </a: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количеству дисков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Средняя,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но больше</a:t>
                      </a: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 </a:t>
                      </a: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чем</a:t>
                      </a: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 RAID 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Очень хорошая для случайного чтения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Хорошая для последовательного чтения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Хорошая для небольших произвольных записей </a:t>
                      </a:r>
                      <a:b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</a:b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(бывают необходимы дополнительные затраты на запись)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Очень большие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5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1+0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и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0+1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Высокая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Отличная 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Хорошая</a:t>
                      </a:r>
                      <a:endParaRPr kumimoji="0" lang="en-US" altLang="ru-RU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Умеренные</a:t>
                      </a:r>
                      <a:endParaRPr kumimoji="0" lang="en-US" altLang="ru-RU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88" name="Нижний колонтитул 2"/>
          <p:cNvSpPr>
            <a:spLocks noGrp="1"/>
          </p:cNvSpPr>
          <p:nvPr>
            <p:ph type="ftr" sz="quarter" idx="10"/>
          </p:nvPr>
        </p:nvSpPr>
        <p:spPr>
          <a:xfrm>
            <a:off x="2651125" y="6562725"/>
            <a:ext cx="3840163" cy="2286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31789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85150" y="6189663"/>
            <a:ext cx="646113" cy="512762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34BD625D-C393-4F64-8750-09B54B8AB8A4}" type="slidenum">
              <a:rPr lang="en-US" altLang="ru-RU" sz="800" smtClean="0"/>
              <a:pPr/>
              <a:t>32</a:t>
            </a:fld>
            <a:endParaRPr lang="en-US" altLang="ru-RU" sz="800"/>
          </a:p>
        </p:txBody>
      </p:sp>
      <p:sp>
        <p:nvSpPr>
          <p:cNvPr id="31790" name="Rectangle 60"/>
          <p:cNvSpPr>
            <a:spLocks noChangeArrowheads="1"/>
          </p:cNvSpPr>
          <p:nvPr/>
        </p:nvSpPr>
        <p:spPr bwMode="auto">
          <a:xfrm>
            <a:off x="219075" y="0"/>
            <a:ext cx="87058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41388">
              <a:spcBef>
                <a:spcPct val="0"/>
              </a:spcBef>
              <a:buClrTx/>
              <a:buFontTx/>
              <a:buNone/>
            </a:pPr>
            <a:r>
              <a:rPr lang="ru-RU" altLang="ru-RU" sz="2800" b="1" i="1"/>
              <a:t> </a:t>
            </a:r>
            <a:r>
              <a:rPr lang="ru-RU" altLang="ru-RU" sz="3600"/>
              <a:t>Сравнение </a:t>
            </a:r>
            <a:r>
              <a:rPr lang="en-US" altLang="ru-RU" sz="3600"/>
              <a:t>RAID’</a:t>
            </a:r>
            <a:r>
              <a:rPr lang="ru-RU" altLang="ru-RU" sz="3600"/>
              <a:t> ов (2)</a:t>
            </a:r>
            <a:endParaRPr lang="en-US" altLang="ru-RU"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5"/>
          <p:cNvSpPr>
            <a:spLocks noGrp="1" noChangeArrowheads="1"/>
          </p:cNvSpPr>
          <p:nvPr>
            <p:ph type="title"/>
          </p:nvPr>
        </p:nvSpPr>
        <p:spPr>
          <a:xfrm>
            <a:off x="337458" y="1"/>
            <a:ext cx="8382000" cy="544286"/>
          </a:xfrm>
          <a:noFill/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chemeClr val="bg1"/>
                </a:solidFill>
              </a:rPr>
              <a:t>Контроль четности </a:t>
            </a:r>
            <a:r>
              <a:rPr lang="ru-RU" altLang="ru-RU" sz="2800" dirty="0">
                <a:solidFill>
                  <a:srgbClr val="0000CC"/>
                </a:solidFill>
              </a:rPr>
              <a:t>и производительность диска</a:t>
            </a:r>
            <a:endParaRPr lang="en-US" altLang="ru-RU" sz="2800" dirty="0">
              <a:solidFill>
                <a:srgbClr val="0000CC"/>
              </a:solidFill>
            </a:endParaRPr>
          </a:p>
        </p:txBody>
      </p:sp>
      <p:sp>
        <p:nvSpPr>
          <p:cNvPr id="31747" name="Rectangle 4"/>
          <p:cNvSpPr>
            <a:spLocks noGrp="1" noChangeArrowheads="1"/>
          </p:cNvSpPr>
          <p:nvPr>
            <p:ph idx="1"/>
          </p:nvPr>
        </p:nvSpPr>
        <p:spPr>
          <a:xfrm>
            <a:off x="130630" y="3309258"/>
            <a:ext cx="8908596" cy="3253468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1900" dirty="0"/>
              <a:t>Общий расчет накладных считываний для поддержки </a:t>
            </a:r>
            <a:r>
              <a:rPr lang="en-US" altLang="ru-RU" sz="1900" dirty="0"/>
              <a:t>RAID</a:t>
            </a:r>
            <a:r>
              <a:rPr lang="ru-RU" altLang="ru-RU" sz="1900" dirty="0"/>
              <a:t> 3 и </a:t>
            </a:r>
            <a:r>
              <a:rPr lang="en-US" altLang="ru-RU" sz="1900" dirty="0"/>
              <a:t>RAID 4 c </a:t>
            </a:r>
            <a:r>
              <a:rPr lang="ru-RU" altLang="ru-RU" sz="1900" dirty="0"/>
              <a:t>выделенным диском</a:t>
            </a:r>
            <a:r>
              <a:rPr lang="en-US" altLang="ru-RU" sz="1900" dirty="0"/>
              <a:t> </a:t>
            </a:r>
            <a:r>
              <a:rPr lang="ru-RU" altLang="ru-RU" sz="1900" dirty="0"/>
              <a:t>контроля четности.</a:t>
            </a:r>
          </a:p>
          <a:p>
            <a:pPr marL="0" indent="0" algn="ctr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1900" dirty="0"/>
              <a:t>Формула расчета контроля четности в контроллере</a:t>
            </a:r>
            <a:endParaRPr lang="en-US" altLang="ru-RU" sz="1900" dirty="0"/>
          </a:p>
          <a:p>
            <a:pPr marL="0" indent="0" algn="ctr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altLang="ru-RU" sz="1700" dirty="0"/>
              <a:t>	</a:t>
            </a:r>
            <a:r>
              <a:rPr lang="en-US" altLang="ru-RU" sz="1700" dirty="0"/>
              <a:t>Ep = E1 + E2 + E3 + E4 (</a:t>
            </a:r>
            <a:r>
              <a:rPr lang="ru-RU" altLang="ru-RU" sz="1700" dirty="0"/>
              <a:t>операции </a:t>
            </a:r>
            <a:r>
              <a:rPr lang="en-US" altLang="ru-RU" sz="1700" dirty="0"/>
              <a:t>XOR)</a:t>
            </a:r>
            <a:endParaRPr lang="ru-RU" altLang="ru-RU" sz="17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ru-RU" altLang="ru-RU" sz="1800" dirty="0"/>
              <a:t>Чтобы сохранить четность</a:t>
            </a:r>
            <a:r>
              <a:rPr lang="en-US" altLang="ru-RU" sz="1800" dirty="0"/>
              <a:t>: E</a:t>
            </a:r>
            <a:r>
              <a:rPr lang="en-US" altLang="ru-RU" sz="1800" baseline="-25000" dirty="0"/>
              <a:t>p new</a:t>
            </a:r>
            <a:r>
              <a:rPr lang="en-US" altLang="ru-RU" sz="1800" dirty="0"/>
              <a:t> = E</a:t>
            </a:r>
            <a:r>
              <a:rPr lang="en-US" altLang="ru-RU" sz="1800" baseline="-25000" dirty="0"/>
              <a:t>p old</a:t>
            </a:r>
            <a:r>
              <a:rPr lang="en-US" altLang="ru-RU" sz="1800" dirty="0"/>
              <a:t> – E</a:t>
            </a:r>
            <a:r>
              <a:rPr lang="en-US" altLang="ru-RU" sz="1800" baseline="-25000" dirty="0"/>
              <a:t>4 old</a:t>
            </a:r>
            <a:r>
              <a:rPr lang="en-US" altLang="ru-RU" sz="1800" dirty="0"/>
              <a:t> + E</a:t>
            </a:r>
            <a:r>
              <a:rPr lang="en-US" altLang="ru-RU" sz="1800" baseline="-25000" dirty="0"/>
              <a:t>4 new</a:t>
            </a:r>
            <a:r>
              <a:rPr lang="en-US" altLang="ru-RU" sz="1800" dirty="0"/>
              <a:t> (</a:t>
            </a:r>
            <a:r>
              <a:rPr lang="ru-RU" altLang="ru-RU" sz="1800" dirty="0"/>
              <a:t>делается 4 операции)</a:t>
            </a:r>
            <a:endParaRPr lang="en-US" altLang="ru-RU" sz="18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ru-RU" altLang="ru-RU" sz="1600" dirty="0"/>
              <a:t>Считываются блоки с </a:t>
            </a:r>
            <a:r>
              <a:rPr lang="en-US" altLang="ru-RU" sz="1600" dirty="0"/>
              <a:t>2 </a:t>
            </a:r>
            <a:r>
              <a:rPr lang="ru-RU" altLang="ru-RU" sz="1600" dirty="0"/>
              <a:t>дисков    (</a:t>
            </a:r>
            <a:r>
              <a:rPr lang="en-US" altLang="ru-RU" sz="1600" dirty="0"/>
              <a:t>E</a:t>
            </a:r>
            <a:r>
              <a:rPr lang="en-US" altLang="ru-RU" sz="1600" baseline="-25000" dirty="0"/>
              <a:t>4 old</a:t>
            </a:r>
            <a:r>
              <a:rPr lang="en-US" altLang="ru-RU" sz="1600" dirty="0"/>
              <a:t>  </a:t>
            </a:r>
            <a:r>
              <a:rPr lang="ru-RU" altLang="ru-RU" sz="1600" dirty="0"/>
              <a:t>  </a:t>
            </a:r>
            <a:r>
              <a:rPr lang="en-US" altLang="ru-RU" sz="1600" dirty="0"/>
              <a:t>c D</a:t>
            </a:r>
            <a:r>
              <a:rPr lang="en-US" altLang="ru-RU" sz="1600" baseline="-25000" dirty="0"/>
              <a:t>4</a:t>
            </a:r>
            <a:r>
              <a:rPr lang="en-US" altLang="ru-RU" sz="1600" dirty="0"/>
              <a:t>, </a:t>
            </a:r>
            <a:r>
              <a:rPr lang="en-US" altLang="ru-RU" sz="1600" dirty="0" err="1"/>
              <a:t>E</a:t>
            </a:r>
            <a:r>
              <a:rPr lang="en-US" altLang="ru-RU" sz="1600" baseline="-25000" dirty="0" err="1"/>
              <a:t>p</a:t>
            </a:r>
            <a:r>
              <a:rPr lang="en-US" altLang="ru-RU" sz="1600" baseline="-25000" dirty="0"/>
              <a:t> old</a:t>
            </a:r>
            <a:r>
              <a:rPr lang="en-US" altLang="ru-RU" sz="1600" dirty="0"/>
              <a:t>  </a:t>
            </a:r>
            <a:r>
              <a:rPr lang="ru-RU" altLang="ru-RU" sz="1600" dirty="0"/>
              <a:t>   </a:t>
            </a:r>
            <a:r>
              <a:rPr lang="en-US" altLang="ru-RU" sz="1600" dirty="0"/>
              <a:t>c P</a:t>
            </a:r>
            <a:r>
              <a:rPr lang="en-US" altLang="ru-RU" sz="1600" baseline="-25000" dirty="0"/>
              <a:t>0</a:t>
            </a:r>
            <a:r>
              <a:rPr lang="en-US" altLang="ru-RU" sz="1600" dirty="0"/>
              <a:t>)</a:t>
            </a:r>
            <a:endParaRPr lang="ru-RU" altLang="ru-RU" sz="16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ru-RU" altLang="ru-RU" sz="1600" dirty="0"/>
              <a:t>Записываются блоки на </a:t>
            </a:r>
            <a:r>
              <a:rPr lang="en-US" altLang="ru-RU" sz="1600" dirty="0"/>
              <a:t>2 </a:t>
            </a:r>
            <a:r>
              <a:rPr lang="ru-RU" altLang="ru-RU" sz="1600" dirty="0"/>
              <a:t>диска  (</a:t>
            </a:r>
            <a:r>
              <a:rPr lang="en-US" altLang="ru-RU" sz="1600" dirty="0"/>
              <a:t>E</a:t>
            </a:r>
            <a:r>
              <a:rPr lang="en-US" altLang="ru-RU" sz="1600" baseline="-25000" dirty="0"/>
              <a:t>4 new</a:t>
            </a:r>
            <a:r>
              <a:rPr lang="en-US" altLang="ru-RU" sz="1600" dirty="0"/>
              <a:t> </a:t>
            </a:r>
            <a:r>
              <a:rPr lang="ru-RU" altLang="ru-RU" sz="1600" dirty="0"/>
              <a:t>на </a:t>
            </a:r>
            <a:r>
              <a:rPr lang="en-US" altLang="ru-RU" sz="1600" dirty="0"/>
              <a:t>D</a:t>
            </a:r>
            <a:r>
              <a:rPr lang="en-US" altLang="ru-RU" sz="1600" baseline="-25000" dirty="0"/>
              <a:t>4</a:t>
            </a:r>
            <a:r>
              <a:rPr lang="en-US" altLang="ru-RU" sz="1600" dirty="0"/>
              <a:t>, </a:t>
            </a:r>
            <a:r>
              <a:rPr lang="en-US" altLang="ru-RU" sz="1600" dirty="0" err="1"/>
              <a:t>E</a:t>
            </a:r>
            <a:r>
              <a:rPr lang="en-US" altLang="ru-RU" sz="1600" baseline="-25000" dirty="0" err="1"/>
              <a:t>p</a:t>
            </a:r>
            <a:r>
              <a:rPr lang="en-US" altLang="ru-RU" sz="1600" baseline="-25000" dirty="0"/>
              <a:t> new</a:t>
            </a:r>
            <a:r>
              <a:rPr lang="en-US" altLang="ru-RU" sz="1600" dirty="0"/>
              <a:t> </a:t>
            </a:r>
            <a:r>
              <a:rPr lang="ru-RU" altLang="ru-RU" sz="1600" dirty="0"/>
              <a:t> на </a:t>
            </a:r>
            <a:r>
              <a:rPr lang="en-US" altLang="ru-RU" sz="1600" dirty="0"/>
              <a:t>P</a:t>
            </a:r>
            <a:r>
              <a:rPr lang="en-US" altLang="ru-RU" sz="1600" baseline="-25000" dirty="0"/>
              <a:t>0</a:t>
            </a:r>
            <a:r>
              <a:rPr lang="en-US" altLang="ru-RU" sz="1600" dirty="0"/>
              <a:t>) </a:t>
            </a:r>
            <a:br>
              <a:rPr lang="ru-RU" altLang="ru-RU" sz="1600" dirty="0"/>
            </a:br>
            <a:endParaRPr lang="ru-RU" altLang="ru-RU" sz="1600" dirty="0"/>
          </a:p>
          <a:p>
            <a:pPr marL="342900" lvl="1" indent="-342900" eaLnBrk="1" hangingPunct="1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1800" dirty="0">
                <a:ea typeface="+mn-ea"/>
              </a:rPr>
              <a:t>Это присуще </a:t>
            </a:r>
            <a:r>
              <a:rPr lang="en-US" altLang="ru-RU" sz="1800" dirty="0">
                <a:ea typeface="+mn-ea"/>
              </a:rPr>
              <a:t>RAID 3, RAID 4, RAID 5, RAID 6</a:t>
            </a:r>
          </a:p>
          <a:p>
            <a:pPr marL="342900" lvl="1" indent="-342900" eaLnBrk="1" hangingPunct="1">
              <a:lnSpc>
                <a:spcPct val="11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altLang="ru-RU" sz="1800" dirty="0">
                <a:ea typeface="+mn-ea"/>
              </a:rPr>
              <a:t>При этом варьируются затрагиваемые диски</a:t>
            </a:r>
            <a:endParaRPr lang="en-US" altLang="ru-RU" sz="1800" dirty="0">
              <a:ea typeface="+mn-ea"/>
            </a:endParaRPr>
          </a:p>
        </p:txBody>
      </p:sp>
      <p:sp>
        <p:nvSpPr>
          <p:cNvPr id="32772" name="Нижний колонтитул 3"/>
          <p:cNvSpPr>
            <a:spLocks noGrp="1"/>
          </p:cNvSpPr>
          <p:nvPr>
            <p:ph type="ftr" sz="quarter" idx="10"/>
          </p:nvPr>
        </p:nvSpPr>
        <p:spPr>
          <a:xfrm>
            <a:off x="3124200" y="6379028"/>
            <a:ext cx="2873829" cy="326571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/>
              <a:t>Защита данных: </a:t>
            </a:r>
            <a:r>
              <a:rPr lang="en-US" altLang="ru-RU" dirty="0"/>
              <a:t>RAID</a:t>
            </a:r>
          </a:p>
        </p:txBody>
      </p:sp>
      <p:sp>
        <p:nvSpPr>
          <p:cNvPr id="32773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2723BBC9-579E-4B56-90DF-5DC63736944E}" type="slidenum">
              <a:rPr lang="en-US" altLang="ru-RU" sz="800" smtClean="0"/>
              <a:pPr/>
              <a:t>33</a:t>
            </a:fld>
            <a:endParaRPr lang="en-US" altLang="ru-RU" sz="800"/>
          </a:p>
        </p:txBody>
      </p:sp>
      <p:sp>
        <p:nvSpPr>
          <p:cNvPr id="2984962" name="AutoShape 2"/>
          <p:cNvSpPr>
            <a:spLocks noChangeArrowheads="1"/>
          </p:cNvSpPr>
          <p:nvPr/>
        </p:nvSpPr>
        <p:spPr bwMode="auto">
          <a:xfrm>
            <a:off x="6727372" y="1186543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2540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84963" name="AutoShape 3"/>
          <p:cNvSpPr>
            <a:spLocks noChangeArrowheads="1"/>
          </p:cNvSpPr>
          <p:nvPr/>
        </p:nvSpPr>
        <p:spPr bwMode="auto">
          <a:xfrm>
            <a:off x="1328057" y="1230086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2540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2776" name="Rectangle 5"/>
          <p:cNvSpPr>
            <a:spLocks noChangeArrowheads="1"/>
          </p:cNvSpPr>
          <p:nvPr/>
        </p:nvSpPr>
        <p:spPr bwMode="auto">
          <a:xfrm>
            <a:off x="892629" y="990600"/>
            <a:ext cx="6934200" cy="762000"/>
          </a:xfrm>
          <a:prstGeom prst="rect">
            <a:avLst/>
          </a:prstGeom>
          <a:solidFill>
            <a:srgbClr val="D5FFFF"/>
          </a:solidFill>
          <a:ln w="31750" algn="ctr">
            <a:solidFill>
              <a:schemeClr val="bg2"/>
            </a:solidFill>
            <a:miter lim="800000"/>
            <a:headEnd/>
            <a:tailEnd type="none" w="lg" len="med"/>
          </a:ln>
        </p:spPr>
        <p:txBody>
          <a:bodyPr wrap="none" lIns="0" tIns="0" rIns="0" bIns="0" anchor="ctr"/>
          <a:lstStyle/>
          <a:p>
            <a:pPr marL="354013" indent="-354013" algn="l" defTabSz="941388"/>
            <a:r>
              <a:rPr lang="en-US" altLang="ru-RU"/>
              <a:t>                 </a:t>
            </a:r>
          </a:p>
        </p:txBody>
      </p:sp>
      <p:sp>
        <p:nvSpPr>
          <p:cNvPr id="2984966" name="AutoShape 6"/>
          <p:cNvSpPr>
            <a:spLocks noChangeArrowheads="1"/>
          </p:cNvSpPr>
          <p:nvPr/>
        </p:nvSpPr>
        <p:spPr bwMode="auto">
          <a:xfrm>
            <a:off x="1099457" y="1086304"/>
            <a:ext cx="1066800" cy="5334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3175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2200" dirty="0" err="1">
                <a:solidFill>
                  <a:schemeClr val="bg1"/>
                </a:solidFill>
              </a:rPr>
              <a:t>E</a:t>
            </a:r>
            <a:r>
              <a:rPr lang="en-US" altLang="ru-RU" sz="2200" baseline="-25000" dirty="0" err="1">
                <a:solidFill>
                  <a:schemeClr val="bg1"/>
                </a:solidFill>
              </a:rPr>
              <a:t>p</a:t>
            </a:r>
            <a:r>
              <a:rPr lang="en-US" altLang="ru-RU" sz="2200" baseline="-25000" dirty="0">
                <a:solidFill>
                  <a:schemeClr val="bg1"/>
                </a:solidFill>
              </a:rPr>
              <a:t> new</a:t>
            </a:r>
          </a:p>
        </p:txBody>
      </p:sp>
      <p:sp>
        <p:nvSpPr>
          <p:cNvPr id="32778" name="Text Box 7"/>
          <p:cNvSpPr txBox="1">
            <a:spLocks noChangeArrowheads="1"/>
          </p:cNvSpPr>
          <p:nvPr/>
        </p:nvSpPr>
        <p:spPr bwMode="auto">
          <a:xfrm>
            <a:off x="0" y="484188"/>
            <a:ext cx="8915400" cy="492443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square" lIns="0" tIns="0" rIns="0" bIns="0">
            <a:spAutoFit/>
          </a:bodyPr>
          <a:lstStyle/>
          <a:p>
            <a:pPr marL="354013" indent="-354013" defTabSz="941388">
              <a:spcBef>
                <a:spcPts val="0"/>
              </a:spcBef>
            </a:pPr>
            <a:r>
              <a:rPr lang="ru-RU" altLang="ru-RU" sz="1600" dirty="0">
                <a:solidFill>
                  <a:schemeClr val="tx1"/>
                </a:solidFill>
              </a:rPr>
              <a:t>Пусть в </a:t>
            </a:r>
            <a:r>
              <a:rPr lang="en-US" altLang="ru-RU" sz="1600" dirty="0">
                <a:solidFill>
                  <a:schemeClr val="tx1"/>
                </a:solidFill>
              </a:rPr>
              <a:t>RAID </a:t>
            </a:r>
            <a:r>
              <a:rPr lang="ru-RU" altLang="ru-RU" sz="1600" dirty="0">
                <a:solidFill>
                  <a:schemeClr val="tx1"/>
                </a:solidFill>
              </a:rPr>
              <a:t>массиве на диске </a:t>
            </a:r>
            <a:r>
              <a:rPr lang="en-US" altLang="ru-RU" sz="1600" b="1" dirty="0">
                <a:solidFill>
                  <a:schemeClr val="tx1"/>
                </a:solidFill>
              </a:rPr>
              <a:t>D</a:t>
            </a:r>
            <a:r>
              <a:rPr lang="ru-RU" altLang="ru-RU" sz="1600" b="1" baseline="-25000" dirty="0">
                <a:solidFill>
                  <a:schemeClr val="tx1"/>
                </a:solidFill>
              </a:rPr>
              <a:t>4</a:t>
            </a:r>
            <a:r>
              <a:rPr lang="en-US" altLang="ru-RU" sz="1600" b="1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обновился блок </a:t>
            </a:r>
            <a:r>
              <a:rPr lang="en-US" altLang="ru-RU" sz="1600" b="1" dirty="0">
                <a:solidFill>
                  <a:schemeClr val="tx1"/>
                </a:solidFill>
              </a:rPr>
              <a:t>E</a:t>
            </a:r>
            <a:r>
              <a:rPr lang="ru-RU" altLang="ru-RU" sz="1600" b="1" baseline="-25000" dirty="0">
                <a:solidFill>
                  <a:schemeClr val="tx1"/>
                </a:solidFill>
              </a:rPr>
              <a:t>4</a:t>
            </a:r>
            <a:r>
              <a:rPr lang="ru-RU" altLang="ru-RU" sz="1600" dirty="0">
                <a:solidFill>
                  <a:schemeClr val="tx1"/>
                </a:solidFill>
              </a:rPr>
              <a:t>. </a:t>
            </a:r>
          </a:p>
          <a:p>
            <a:pPr marL="354013" indent="-354013" defTabSz="941388">
              <a:spcBef>
                <a:spcPts val="0"/>
              </a:spcBef>
            </a:pPr>
            <a:r>
              <a:rPr lang="ru-RU" altLang="ru-RU" sz="1600" dirty="0">
                <a:solidFill>
                  <a:schemeClr val="tx1"/>
                </a:solidFill>
              </a:rPr>
              <a:t>Тогда </a:t>
            </a:r>
            <a:r>
              <a:rPr lang="en-US" altLang="ru-RU" sz="1600" dirty="0">
                <a:solidFill>
                  <a:schemeClr val="tx1"/>
                </a:solidFill>
              </a:rPr>
              <a:t>RAID </a:t>
            </a:r>
            <a:r>
              <a:rPr lang="ru-RU" altLang="ru-RU" sz="1600" dirty="0">
                <a:solidFill>
                  <a:schemeClr val="tx1"/>
                </a:solidFill>
              </a:rPr>
              <a:t>контроллер выполняет следующий набор операций:</a:t>
            </a: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32779" name="Text Box 8"/>
          <p:cNvSpPr txBox="1">
            <a:spLocks noChangeArrowheads="1"/>
          </p:cNvSpPr>
          <p:nvPr/>
        </p:nvSpPr>
        <p:spPr bwMode="auto">
          <a:xfrm>
            <a:off x="3960359" y="2035628"/>
            <a:ext cx="1387475" cy="215900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sz="1400" dirty="0">
                <a:solidFill>
                  <a:schemeClr val="tx1"/>
                </a:solidFill>
              </a:rPr>
              <a:t>2 </a:t>
            </a:r>
            <a:r>
              <a:rPr lang="ru-RU" altLang="ru-RU" sz="1400" dirty="0">
                <a:solidFill>
                  <a:schemeClr val="tx1"/>
                </a:solidFill>
              </a:rPr>
              <a:t>операции </a:t>
            </a:r>
            <a:r>
              <a:rPr lang="en-US" altLang="ru-RU" sz="1400" dirty="0">
                <a:solidFill>
                  <a:schemeClr val="tx1"/>
                </a:solidFill>
              </a:rPr>
              <a:t>XOR</a:t>
            </a:r>
          </a:p>
        </p:txBody>
      </p:sp>
      <p:sp>
        <p:nvSpPr>
          <p:cNvPr id="2984969" name="Line 9"/>
          <p:cNvSpPr>
            <a:spLocks noChangeShapeType="1"/>
          </p:cNvSpPr>
          <p:nvPr/>
        </p:nvSpPr>
        <p:spPr bwMode="auto">
          <a:xfrm flipV="1">
            <a:off x="2362200" y="1600199"/>
            <a:ext cx="838200" cy="96882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984970" name="Line 10"/>
          <p:cNvSpPr>
            <a:spLocks noChangeShapeType="1"/>
          </p:cNvSpPr>
          <p:nvPr/>
        </p:nvSpPr>
        <p:spPr bwMode="auto">
          <a:xfrm>
            <a:off x="1643743" y="1621972"/>
            <a:ext cx="387350" cy="96451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984971" name="Line 11"/>
          <p:cNvSpPr>
            <a:spLocks noChangeShapeType="1"/>
          </p:cNvSpPr>
          <p:nvPr/>
        </p:nvSpPr>
        <p:spPr bwMode="auto">
          <a:xfrm>
            <a:off x="6934200" y="1487034"/>
            <a:ext cx="54429" cy="132148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984972" name="Line 12"/>
          <p:cNvSpPr>
            <a:spLocks noChangeShapeType="1"/>
          </p:cNvSpPr>
          <p:nvPr/>
        </p:nvSpPr>
        <p:spPr bwMode="auto">
          <a:xfrm flipH="1" flipV="1">
            <a:off x="5257800" y="1611086"/>
            <a:ext cx="1447800" cy="1143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med"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2984977" name="Text Box 17"/>
          <p:cNvSpPr txBox="1">
            <a:spLocks noChangeArrowheads="1"/>
          </p:cNvSpPr>
          <p:nvPr/>
        </p:nvSpPr>
        <p:spPr bwMode="auto">
          <a:xfrm>
            <a:off x="5921829" y="1197428"/>
            <a:ext cx="192088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984978" name="Text Box 18"/>
          <p:cNvSpPr txBox="1">
            <a:spLocks noChangeArrowheads="1"/>
          </p:cNvSpPr>
          <p:nvPr/>
        </p:nvSpPr>
        <p:spPr bwMode="auto">
          <a:xfrm>
            <a:off x="4093029" y="1132113"/>
            <a:ext cx="304800" cy="430887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square" lIns="0" tIns="0" rIns="0" bIns="0">
            <a:spAutoFit/>
          </a:bodyPr>
          <a:lstStyle/>
          <a:p>
            <a:pPr marL="354013" indent="-354013" defTabSz="941388"/>
            <a:r>
              <a:rPr lang="en-US" altLang="ru-RU" sz="28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984979" name="Text Box 19"/>
          <p:cNvSpPr txBox="1">
            <a:spLocks noChangeArrowheads="1"/>
          </p:cNvSpPr>
          <p:nvPr/>
        </p:nvSpPr>
        <p:spPr bwMode="auto">
          <a:xfrm>
            <a:off x="2405743" y="1186543"/>
            <a:ext cx="192088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 type="none" w="lg" len="med"/>
          </a:ln>
        </p:spPr>
        <p:txBody>
          <a:bodyPr wrap="none" lIns="0" tIns="0" rIns="0" bIns="0">
            <a:spAutoFit/>
          </a:bodyPr>
          <a:lstStyle/>
          <a:p>
            <a:pPr marL="354013" indent="-354013" defTabSz="941388"/>
            <a:r>
              <a:rPr lang="en-US" altLang="ru-RU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2984980" name="AutoShape 20"/>
          <p:cNvSpPr>
            <a:spLocks noChangeArrowheads="1"/>
          </p:cNvSpPr>
          <p:nvPr/>
        </p:nvSpPr>
        <p:spPr bwMode="auto">
          <a:xfrm>
            <a:off x="6662057" y="2699657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2540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84981" name="AutoShape 21"/>
          <p:cNvSpPr>
            <a:spLocks noChangeArrowheads="1"/>
          </p:cNvSpPr>
          <p:nvPr/>
        </p:nvSpPr>
        <p:spPr bwMode="auto">
          <a:xfrm>
            <a:off x="4582886" y="1075645"/>
            <a:ext cx="1066800" cy="5334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3175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2200">
                <a:solidFill>
                  <a:schemeClr val="bg1"/>
                </a:solidFill>
              </a:rPr>
              <a:t>E</a:t>
            </a:r>
            <a:r>
              <a:rPr lang="en-US" altLang="ru-RU" sz="2200" baseline="-25000">
                <a:solidFill>
                  <a:schemeClr val="bg1"/>
                </a:solidFill>
              </a:rPr>
              <a:t>4 old</a:t>
            </a:r>
            <a:endParaRPr lang="en-US" altLang="ru-RU" sz="2200">
              <a:solidFill>
                <a:schemeClr val="bg1"/>
              </a:solidFill>
            </a:endParaRPr>
          </a:p>
        </p:txBody>
      </p:sp>
      <p:sp>
        <p:nvSpPr>
          <p:cNvPr id="2984982" name="AutoShape 22"/>
          <p:cNvSpPr>
            <a:spLocks noChangeArrowheads="1"/>
          </p:cNvSpPr>
          <p:nvPr/>
        </p:nvSpPr>
        <p:spPr bwMode="auto">
          <a:xfrm>
            <a:off x="1926771" y="2677886"/>
            <a:ext cx="533400" cy="3048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2540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2984983" name="AutoShape 23"/>
          <p:cNvSpPr>
            <a:spLocks noChangeArrowheads="1"/>
          </p:cNvSpPr>
          <p:nvPr/>
        </p:nvSpPr>
        <p:spPr bwMode="auto">
          <a:xfrm>
            <a:off x="2841172" y="1064532"/>
            <a:ext cx="1066800" cy="5334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3175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2200">
                <a:solidFill>
                  <a:schemeClr val="bg1"/>
                </a:solidFill>
              </a:rPr>
              <a:t>E</a:t>
            </a:r>
            <a:r>
              <a:rPr lang="en-US" altLang="ru-RU" sz="2200" baseline="-25000">
                <a:solidFill>
                  <a:schemeClr val="bg1"/>
                </a:solidFill>
              </a:rPr>
              <a:t>p old</a:t>
            </a:r>
            <a:endParaRPr lang="en-US" altLang="ru-RU" sz="2200">
              <a:solidFill>
                <a:schemeClr val="bg1"/>
              </a:solidFill>
            </a:endParaRPr>
          </a:p>
        </p:txBody>
      </p:sp>
      <p:sp>
        <p:nvSpPr>
          <p:cNvPr id="2984984" name="AutoShape 24"/>
          <p:cNvSpPr>
            <a:spLocks noChangeArrowheads="1"/>
          </p:cNvSpPr>
          <p:nvPr/>
        </p:nvSpPr>
        <p:spPr bwMode="auto">
          <a:xfrm>
            <a:off x="6411685" y="1064759"/>
            <a:ext cx="1066800" cy="533400"/>
          </a:xfrm>
          <a:prstGeom prst="roundRect">
            <a:avLst>
              <a:gd name="adj" fmla="val 16667"/>
            </a:avLst>
          </a:prstGeom>
          <a:solidFill>
            <a:srgbClr val="3333CC"/>
          </a:solidFill>
          <a:ln w="31750" algn="ctr">
            <a:solidFill>
              <a:schemeClr val="bg1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pPr marL="354013" indent="-354013" defTabSz="941388"/>
            <a:r>
              <a:rPr lang="en-US" altLang="ru-RU" sz="2200">
                <a:solidFill>
                  <a:schemeClr val="bg1"/>
                </a:solidFill>
              </a:rPr>
              <a:t>E</a:t>
            </a:r>
            <a:r>
              <a:rPr lang="en-US" altLang="ru-RU" sz="2200" baseline="-25000">
                <a:solidFill>
                  <a:schemeClr val="bg1"/>
                </a:solidFill>
              </a:rPr>
              <a:t>4 new</a:t>
            </a:r>
            <a:endParaRPr lang="en-US" altLang="ru-RU" sz="2200">
              <a:solidFill>
                <a:schemeClr val="bg1"/>
              </a:solidFill>
            </a:endParaRPr>
          </a:p>
        </p:txBody>
      </p:sp>
      <p:grpSp>
        <p:nvGrpSpPr>
          <p:cNvPr id="32792" name="Group 26"/>
          <p:cNvGrpSpPr>
            <a:grpSpLocks/>
          </p:cNvGrpSpPr>
          <p:nvPr/>
        </p:nvGrpSpPr>
        <p:grpSpPr bwMode="auto">
          <a:xfrm>
            <a:off x="1915659" y="2568575"/>
            <a:ext cx="533400" cy="533400"/>
            <a:chOff x="3689" y="514"/>
            <a:chExt cx="336" cy="336"/>
          </a:xfrm>
        </p:grpSpPr>
        <p:pic>
          <p:nvPicPr>
            <p:cNvPr id="32805" name="Picture 27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89" y="514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6" name="Text Box 28"/>
            <p:cNvSpPr txBox="1">
              <a:spLocks noChangeArrowheads="1"/>
            </p:cNvSpPr>
            <p:nvPr/>
          </p:nvSpPr>
          <p:spPr bwMode="auto">
            <a:xfrm>
              <a:off x="3732" y="614"/>
              <a:ext cx="252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600" b="1" dirty="0">
                  <a:solidFill>
                    <a:schemeClr val="tx1"/>
                  </a:solidFill>
                </a:rPr>
                <a:t>P0</a:t>
              </a:r>
            </a:p>
          </p:txBody>
        </p:sp>
      </p:grpSp>
      <p:grpSp>
        <p:nvGrpSpPr>
          <p:cNvPr id="32793" name="Group 29"/>
          <p:cNvGrpSpPr>
            <a:grpSpLocks/>
          </p:cNvGrpSpPr>
          <p:nvPr/>
        </p:nvGrpSpPr>
        <p:grpSpPr bwMode="auto">
          <a:xfrm>
            <a:off x="3113319" y="2558143"/>
            <a:ext cx="533400" cy="533400"/>
            <a:chOff x="3696" y="528"/>
            <a:chExt cx="336" cy="336"/>
          </a:xfrm>
        </p:grpSpPr>
        <p:pic>
          <p:nvPicPr>
            <p:cNvPr id="32803" name="Picture 30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96" y="528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4" name="Text Box 31"/>
            <p:cNvSpPr txBox="1">
              <a:spLocks noChangeArrowheads="1"/>
            </p:cNvSpPr>
            <p:nvPr/>
          </p:nvSpPr>
          <p:spPr bwMode="auto">
            <a:xfrm>
              <a:off x="3732" y="614"/>
              <a:ext cx="252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600" b="1" dirty="0">
                  <a:solidFill>
                    <a:schemeClr val="tx1"/>
                  </a:solidFill>
                </a:rPr>
                <a:t>D1</a:t>
              </a:r>
            </a:p>
          </p:txBody>
        </p:sp>
      </p:grpSp>
      <p:grpSp>
        <p:nvGrpSpPr>
          <p:cNvPr id="32794" name="Group 32"/>
          <p:cNvGrpSpPr>
            <a:grpSpLocks/>
          </p:cNvGrpSpPr>
          <p:nvPr/>
        </p:nvGrpSpPr>
        <p:grpSpPr bwMode="auto">
          <a:xfrm>
            <a:off x="4256320" y="2569029"/>
            <a:ext cx="533400" cy="533400"/>
            <a:chOff x="3696" y="528"/>
            <a:chExt cx="336" cy="336"/>
          </a:xfrm>
        </p:grpSpPr>
        <p:pic>
          <p:nvPicPr>
            <p:cNvPr id="32801" name="Picture 33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96" y="528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2" name="Text Box 34"/>
            <p:cNvSpPr txBox="1">
              <a:spLocks noChangeArrowheads="1"/>
            </p:cNvSpPr>
            <p:nvPr/>
          </p:nvSpPr>
          <p:spPr bwMode="auto">
            <a:xfrm>
              <a:off x="3732" y="614"/>
              <a:ext cx="252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600" b="1" dirty="0">
                  <a:solidFill>
                    <a:schemeClr val="tx1"/>
                  </a:solidFill>
                </a:rPr>
                <a:t>D2</a:t>
              </a:r>
            </a:p>
          </p:txBody>
        </p:sp>
      </p:grpSp>
      <p:grpSp>
        <p:nvGrpSpPr>
          <p:cNvPr id="32795" name="Group 35"/>
          <p:cNvGrpSpPr>
            <a:grpSpLocks/>
          </p:cNvGrpSpPr>
          <p:nvPr/>
        </p:nvGrpSpPr>
        <p:grpSpPr bwMode="auto">
          <a:xfrm>
            <a:off x="5344886" y="2536372"/>
            <a:ext cx="533400" cy="533400"/>
            <a:chOff x="3696" y="528"/>
            <a:chExt cx="336" cy="336"/>
          </a:xfrm>
        </p:grpSpPr>
        <p:pic>
          <p:nvPicPr>
            <p:cNvPr id="32799" name="Picture 36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96" y="528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00" name="Text Box 37"/>
            <p:cNvSpPr txBox="1">
              <a:spLocks noChangeArrowheads="1"/>
            </p:cNvSpPr>
            <p:nvPr/>
          </p:nvSpPr>
          <p:spPr bwMode="auto">
            <a:xfrm>
              <a:off x="3732" y="614"/>
              <a:ext cx="252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600" b="1">
                  <a:solidFill>
                    <a:schemeClr val="tx1"/>
                  </a:solidFill>
                </a:rPr>
                <a:t>D3</a:t>
              </a:r>
            </a:p>
          </p:txBody>
        </p:sp>
      </p:grpSp>
      <p:grpSp>
        <p:nvGrpSpPr>
          <p:cNvPr id="32796" name="Group 38"/>
          <p:cNvGrpSpPr>
            <a:grpSpLocks/>
          </p:cNvGrpSpPr>
          <p:nvPr/>
        </p:nvGrpSpPr>
        <p:grpSpPr bwMode="auto">
          <a:xfrm>
            <a:off x="6661604" y="2569029"/>
            <a:ext cx="533400" cy="533400"/>
            <a:chOff x="3394" y="48"/>
            <a:chExt cx="336" cy="336"/>
          </a:xfrm>
        </p:grpSpPr>
        <p:pic>
          <p:nvPicPr>
            <p:cNvPr id="32797" name="Picture 39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94" y="48"/>
              <a:ext cx="3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98" name="Text Box 40"/>
            <p:cNvSpPr txBox="1">
              <a:spLocks noChangeArrowheads="1"/>
            </p:cNvSpPr>
            <p:nvPr/>
          </p:nvSpPr>
          <p:spPr bwMode="auto">
            <a:xfrm>
              <a:off x="3444" y="141"/>
              <a:ext cx="252" cy="15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</p:spPr>
          <p:txBody>
            <a:bodyPr lIns="0" tIns="0" rIns="0" bIns="0">
              <a:spAutoFit/>
            </a:bodyPr>
            <a:lstStyle/>
            <a:p>
              <a:pPr marL="354013" indent="-354013" defTabSz="941388"/>
              <a:r>
                <a:rPr lang="en-US" altLang="ru-RU" sz="1600" b="1" dirty="0">
                  <a:solidFill>
                    <a:schemeClr val="tx1"/>
                  </a:solidFill>
                </a:rPr>
                <a:t>D4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8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-0.20712 -0.21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9849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00" y="-106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000"/>
                                        <p:tgtEl>
                                          <p:spTgt spid="298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48148E-6 L 0.12083 -0.2076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984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-104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298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98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98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98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98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6 0.01644 L -0.00712 0.22084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9849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" y="102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98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0023 L 0.06545 0.2111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9849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0" y="105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98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/>
      <p:bldP spid="2984962" grpId="0" animBg="1"/>
      <p:bldP spid="2984963" grpId="0" animBg="1"/>
      <p:bldP spid="2984966" grpId="0" animBg="1"/>
      <p:bldP spid="2984969" grpId="0" animBg="1"/>
      <p:bldP spid="2984970" grpId="0" animBg="1"/>
      <p:bldP spid="2984971" grpId="0" animBg="1"/>
      <p:bldP spid="2984972" grpId="0" animBg="1"/>
      <p:bldP spid="2984977" grpId="0"/>
      <p:bldP spid="2984978" grpId="0"/>
      <p:bldP spid="2984979" grpId="0"/>
      <p:bldP spid="2984980" grpId="0" animBg="1"/>
      <p:bldP spid="2984981" grpId="0" animBg="1"/>
      <p:bldP spid="2984982" grpId="0" animBg="1"/>
      <p:bldP spid="2984983" grpId="0" animBg="1"/>
      <p:bldP spid="298498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293688"/>
            <a:ext cx="9144000" cy="642483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rgbClr val="003580"/>
                </a:solidFill>
              </a:rPr>
              <a:t>Расчет количества дисков для </a:t>
            </a:r>
            <a:r>
              <a:rPr lang="en-US" altLang="ru-RU" sz="2800" dirty="0">
                <a:solidFill>
                  <a:srgbClr val="003580"/>
                </a:solidFill>
              </a:rPr>
              <a:t>RAID</a:t>
            </a:r>
            <a:r>
              <a:rPr lang="ru-RU" altLang="ru-RU" sz="2800" dirty="0">
                <a:solidFill>
                  <a:srgbClr val="003580"/>
                </a:solidFill>
              </a:rPr>
              <a:t> 1 и 5</a:t>
            </a:r>
            <a:endParaRPr lang="en-US" altLang="ru-RU" sz="2800" dirty="0">
              <a:solidFill>
                <a:srgbClr val="003580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99243"/>
            <a:ext cx="8991600" cy="5146675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buNone/>
              <a:defRPr/>
            </a:pPr>
            <a:r>
              <a:rPr lang="ru-RU" altLang="ru-RU" dirty="0"/>
              <a:t>	Пример расчета нагрузки.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Пусть для некоторой информационной системы, известно что</a:t>
            </a:r>
            <a:endParaRPr lang="en-US" altLang="ru-RU" dirty="0"/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общее число</a:t>
            </a:r>
            <a:r>
              <a:rPr lang="en-US" altLang="ru-RU" dirty="0"/>
              <a:t> IOPS </a:t>
            </a:r>
            <a:r>
              <a:rPr lang="ru-RU" altLang="ru-RU" dirty="0"/>
              <a:t>в пиковой нагрузке</a:t>
            </a:r>
            <a:r>
              <a:rPr lang="en-US" altLang="ru-RU" dirty="0"/>
              <a:t> </a:t>
            </a:r>
            <a:r>
              <a:rPr lang="ru-RU" altLang="ru-RU" dirty="0"/>
              <a:t>составляет - 5</a:t>
            </a:r>
            <a:r>
              <a:rPr lang="en-US" altLang="ru-RU" dirty="0"/>
              <a:t>200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altLang="ru-RU" dirty="0"/>
              <a:t>60% от них – операции считывания</a:t>
            </a:r>
            <a:endParaRPr lang="en-US" altLang="ru-RU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/>
              <a:t>Произведем расчет операций ввода/вывода, выполняемых для: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altLang="ru-RU" dirty="0"/>
              <a:t>RAID 5 </a:t>
            </a:r>
            <a:r>
              <a:rPr lang="ru-RU" altLang="ru-RU" dirty="0"/>
              <a:t>= 0,6*5200 + </a:t>
            </a:r>
            <a:r>
              <a:rPr lang="ru-RU" altLang="ru-RU" dirty="0">
                <a:solidFill>
                  <a:srgbClr val="C00000"/>
                </a:solidFill>
              </a:rPr>
              <a:t>4*(0,4*5200)</a:t>
            </a:r>
            <a:r>
              <a:rPr lang="en-US" altLang="ru-RU" dirty="0">
                <a:solidFill>
                  <a:srgbClr val="C00000"/>
                </a:solidFill>
              </a:rPr>
              <a:t>= </a:t>
            </a:r>
            <a:r>
              <a:rPr lang="ru-RU" altLang="ru-RU" dirty="0"/>
              <a:t>11440 </a:t>
            </a:r>
            <a:r>
              <a:rPr lang="en-US" altLang="ru-RU" dirty="0"/>
              <a:t>IOPS</a:t>
            </a:r>
            <a:r>
              <a:rPr lang="ru-RU" altLang="ru-RU" dirty="0">
                <a:solidFill>
                  <a:srgbClr val="C00000"/>
                </a:solidFill>
              </a:rPr>
              <a:t>, так как доп. расх.=4</a:t>
            </a:r>
            <a:endParaRPr lang="en-US" altLang="ru-RU" dirty="0"/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altLang="ru-RU" dirty="0"/>
              <a:t>RAID 1 </a:t>
            </a:r>
            <a:r>
              <a:rPr lang="ru-RU" altLang="ru-RU" dirty="0"/>
              <a:t>= 0,6*5200 + </a:t>
            </a:r>
            <a:r>
              <a:rPr lang="en-US" altLang="ru-RU" dirty="0">
                <a:solidFill>
                  <a:srgbClr val="C00000"/>
                </a:solidFill>
              </a:rPr>
              <a:t>2</a:t>
            </a:r>
            <a:r>
              <a:rPr lang="ru-RU" altLang="ru-RU" dirty="0">
                <a:solidFill>
                  <a:srgbClr val="C00000"/>
                </a:solidFill>
              </a:rPr>
              <a:t>*(0,4*5200)</a:t>
            </a:r>
            <a:r>
              <a:rPr lang="en-US" altLang="ru-RU" dirty="0">
                <a:solidFill>
                  <a:srgbClr val="C00000"/>
                </a:solidFill>
              </a:rPr>
              <a:t>= </a:t>
            </a:r>
            <a:r>
              <a:rPr lang="en-US" altLang="ru-RU" dirty="0"/>
              <a:t>7280 IOPS</a:t>
            </a:r>
            <a:r>
              <a:rPr lang="ru-RU" altLang="ru-RU" dirty="0"/>
              <a:t>, </a:t>
            </a:r>
            <a:r>
              <a:rPr lang="ru-RU" altLang="ru-RU" dirty="0">
                <a:solidFill>
                  <a:srgbClr val="C00000"/>
                </a:solidFill>
              </a:rPr>
              <a:t>так как доп. расх.=2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dirty="0">
                <a:solidFill>
                  <a:srgbClr val="003580"/>
                </a:solidFill>
              </a:rPr>
              <a:t>Если в данном примере необходимо использовать диски с максимальной рабочей нагрузкой 180 </a:t>
            </a:r>
            <a:r>
              <a:rPr lang="en-US" altLang="ru-RU" dirty="0">
                <a:solidFill>
                  <a:srgbClr val="003580"/>
                </a:solidFill>
              </a:rPr>
              <a:t>IOPS</a:t>
            </a:r>
            <a:r>
              <a:rPr lang="ru-RU" altLang="ru-RU" dirty="0">
                <a:solidFill>
                  <a:srgbClr val="003580"/>
                </a:solidFill>
              </a:rPr>
              <a:t>, то общая рассчитанная нагрузка определяет количество дисков</a:t>
            </a:r>
            <a:r>
              <a:rPr lang="en-US" altLang="ru-RU" dirty="0">
                <a:solidFill>
                  <a:srgbClr val="003580"/>
                </a:solidFill>
              </a:rPr>
              <a:t>. </a:t>
            </a:r>
            <a:endParaRPr lang="ru-RU" altLang="ru-RU" dirty="0">
              <a:solidFill>
                <a:srgbClr val="00358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altLang="ru-RU" dirty="0">
                <a:solidFill>
                  <a:srgbClr val="003580"/>
                </a:solidFill>
              </a:rPr>
              <a:t>RAID 5 : 11440/180</a:t>
            </a:r>
            <a:r>
              <a:rPr lang="ru-RU" altLang="ru-RU" dirty="0">
                <a:solidFill>
                  <a:srgbClr val="003580"/>
                </a:solidFill>
              </a:rPr>
              <a:t> = 64 диска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altLang="ru-RU" dirty="0">
                <a:solidFill>
                  <a:srgbClr val="003580"/>
                </a:solidFill>
              </a:rPr>
              <a:t>RAID </a:t>
            </a:r>
            <a:r>
              <a:rPr lang="ru-RU" altLang="ru-RU" dirty="0">
                <a:solidFill>
                  <a:srgbClr val="003580"/>
                </a:solidFill>
              </a:rPr>
              <a:t>1</a:t>
            </a:r>
            <a:r>
              <a:rPr lang="en-US" altLang="ru-RU" dirty="0">
                <a:solidFill>
                  <a:srgbClr val="003580"/>
                </a:solidFill>
              </a:rPr>
              <a:t> : </a:t>
            </a:r>
            <a:r>
              <a:rPr lang="ru-RU" altLang="ru-RU" dirty="0">
                <a:solidFill>
                  <a:srgbClr val="003580"/>
                </a:solidFill>
              </a:rPr>
              <a:t>7280</a:t>
            </a:r>
            <a:r>
              <a:rPr lang="en-US" altLang="ru-RU" dirty="0">
                <a:solidFill>
                  <a:srgbClr val="003580"/>
                </a:solidFill>
              </a:rPr>
              <a:t>/180</a:t>
            </a:r>
            <a:r>
              <a:rPr lang="ru-RU" altLang="ru-RU" dirty="0">
                <a:solidFill>
                  <a:srgbClr val="003580"/>
                </a:solidFill>
              </a:rPr>
              <a:t>   = 42 диска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ru-RU" dirty="0">
              <a:solidFill>
                <a:srgbClr val="00358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endParaRPr lang="en-US" altLang="ru-RU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en-US" altLang="ru-RU" dirty="0"/>
          </a:p>
        </p:txBody>
      </p:sp>
      <p:sp>
        <p:nvSpPr>
          <p:cNvPr id="33796" name="Нижний колонтитул 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ru-RU" altLang="ru-RU"/>
              <a:t>Защита данных: </a:t>
            </a:r>
            <a:r>
              <a:rPr lang="en-US" altLang="ru-RU"/>
              <a:t>RAID</a:t>
            </a:r>
          </a:p>
        </p:txBody>
      </p:sp>
      <p:sp>
        <p:nvSpPr>
          <p:cNvPr id="3379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3B068BD6-8F10-4A96-A104-5AF3F6C131C9}" type="slidenum">
              <a:rPr lang="en-US" altLang="ru-RU" sz="800" smtClean="0"/>
              <a:pPr/>
              <a:t>34</a:t>
            </a:fld>
            <a:endParaRPr lang="en-US" altLang="ru-RU" sz="80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3588"/>
          </a:xfrm>
          <a:noFill/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rgbClr val="003580"/>
                </a:solidFill>
              </a:rPr>
              <a:t>Горячая замена</a:t>
            </a:r>
            <a:endParaRPr lang="en-US" altLang="ru-RU" sz="3600">
              <a:solidFill>
                <a:srgbClr val="003580"/>
              </a:solidFill>
            </a:endParaRPr>
          </a:p>
        </p:txBody>
      </p:sp>
      <p:sp>
        <p:nvSpPr>
          <p:cNvPr id="35843" name="Нижний колонтитул 2"/>
          <p:cNvSpPr>
            <a:spLocks noGrp="1"/>
          </p:cNvSpPr>
          <p:nvPr>
            <p:ph type="ftr" sz="quarter" idx="10"/>
          </p:nvPr>
        </p:nvSpPr>
        <p:spPr>
          <a:noFill/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ru-RU" altLang="ru-RU" dirty="0">
                <a:solidFill>
                  <a:schemeClr val="accent2"/>
                </a:solidFill>
              </a:rPr>
              <a:t>Защита данных: </a:t>
            </a:r>
            <a:r>
              <a:rPr lang="en-US" altLang="ru-RU" dirty="0">
                <a:solidFill>
                  <a:schemeClr val="accent2"/>
                </a:solidFill>
              </a:rPr>
              <a:t>RAID</a:t>
            </a:r>
          </a:p>
        </p:txBody>
      </p:sp>
      <p:sp>
        <p:nvSpPr>
          <p:cNvPr id="3584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96864" y="6248400"/>
            <a:ext cx="589935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ru-RU"/>
              <a:t> - </a:t>
            </a:r>
            <a:fld id="{C8A4797D-CF95-430F-B71C-B9CCC15D9B7B}" type="slidenum">
              <a:rPr lang="en-US" altLang="ru-RU" sz="800" smtClean="0"/>
              <a:pPr/>
              <a:t>35</a:t>
            </a:fld>
            <a:endParaRPr lang="en-US" altLang="ru-RU" sz="800"/>
          </a:p>
        </p:txBody>
      </p:sp>
      <p:grpSp>
        <p:nvGrpSpPr>
          <p:cNvPr id="35845" name="Group 2"/>
          <p:cNvGrpSpPr>
            <a:grpSpLocks/>
          </p:cNvGrpSpPr>
          <p:nvPr/>
        </p:nvGrpSpPr>
        <p:grpSpPr bwMode="auto">
          <a:xfrm>
            <a:off x="3154363" y="2911475"/>
            <a:ext cx="2636837" cy="1508125"/>
            <a:chOff x="768" y="432"/>
            <a:chExt cx="1661" cy="950"/>
          </a:xfrm>
        </p:grpSpPr>
        <p:sp>
          <p:nvSpPr>
            <p:cNvPr id="35871" name="AutoShape 3"/>
            <p:cNvSpPr>
              <a:spLocks noChangeArrowheads="1"/>
            </p:cNvSpPr>
            <p:nvPr/>
          </p:nvSpPr>
          <p:spPr bwMode="auto">
            <a:xfrm>
              <a:off x="1727" y="432"/>
              <a:ext cx="702" cy="950"/>
            </a:xfrm>
            <a:prstGeom prst="roundRect">
              <a:avLst>
                <a:gd name="adj" fmla="val 11657"/>
              </a:avLst>
            </a:prstGeom>
            <a:gradFill rotWithShape="1">
              <a:gsLst>
                <a:gs pos="0">
                  <a:srgbClr val="E2EAEA"/>
                </a:gs>
                <a:gs pos="100000">
                  <a:srgbClr val="F8FAFA"/>
                </a:gs>
              </a:gsLst>
              <a:lin ang="2700000" scaled="1"/>
            </a:gradFill>
            <a:ln w="6350" algn="ctr">
              <a:solidFill>
                <a:srgbClr val="6F9995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35872" name="Line 4"/>
            <p:cNvSpPr>
              <a:spLocks noChangeShapeType="1"/>
            </p:cNvSpPr>
            <p:nvPr/>
          </p:nvSpPr>
          <p:spPr bwMode="auto">
            <a:xfrm>
              <a:off x="768" y="904"/>
              <a:ext cx="11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ru-RU"/>
            </a:p>
          </p:txBody>
        </p:sp>
        <p:pic>
          <p:nvPicPr>
            <p:cNvPr id="35873" name="Picture 5" descr="disk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24" y="780"/>
              <a:ext cx="539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5846" name="Group 7"/>
          <p:cNvGrpSpPr>
            <a:grpSpLocks/>
          </p:cNvGrpSpPr>
          <p:nvPr/>
        </p:nvGrpSpPr>
        <p:grpSpPr bwMode="auto">
          <a:xfrm>
            <a:off x="1790700" y="3352800"/>
            <a:ext cx="1358900" cy="720725"/>
            <a:chOff x="1071" y="2032"/>
            <a:chExt cx="856" cy="454"/>
          </a:xfrm>
        </p:grpSpPr>
        <p:sp>
          <p:nvSpPr>
            <p:cNvPr id="35869" name="Rectangle 8"/>
            <p:cNvSpPr>
              <a:spLocks noChangeArrowheads="1"/>
            </p:cNvSpPr>
            <p:nvPr/>
          </p:nvSpPr>
          <p:spPr bwMode="auto">
            <a:xfrm>
              <a:off x="1071" y="2032"/>
              <a:ext cx="856" cy="454"/>
            </a:xfrm>
            <a:prstGeom prst="rect">
              <a:avLst/>
            </a:prstGeom>
            <a:gradFill rotWithShape="1">
              <a:gsLst>
                <a:gs pos="0">
                  <a:srgbClr val="86BAB5"/>
                </a:gs>
                <a:gs pos="100000">
                  <a:srgbClr val="5B7E7B"/>
                </a:gs>
              </a:gsLst>
              <a:lin ang="2700000" scaled="1"/>
            </a:gradFill>
            <a:ln w="12700" algn="ctr">
              <a:solidFill>
                <a:srgbClr val="88B8B6"/>
              </a:solidFill>
              <a:miter lim="800000"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35870" name="Text Box 9"/>
            <p:cNvSpPr txBox="1">
              <a:spLocks noChangeArrowheads="1"/>
            </p:cNvSpPr>
            <p:nvPr/>
          </p:nvSpPr>
          <p:spPr bwMode="auto">
            <a:xfrm>
              <a:off x="1193" y="2118"/>
              <a:ext cx="612" cy="27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med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 wrap="none" lIns="0" tIns="0" rIns="0" bIns="0">
              <a:spAutoFit/>
            </a:bodyPr>
            <a:lstStyle/>
            <a:p>
              <a:pPr defTabSz="941388">
                <a:lnSpc>
                  <a:spcPct val="90000"/>
                </a:lnSpc>
              </a:pPr>
              <a:r>
                <a:rPr lang="en-US" altLang="ru-RU" sz="1600" b="1">
                  <a:solidFill>
                    <a:schemeClr val="bg1"/>
                  </a:solidFill>
                </a:rPr>
                <a:t>RAID</a:t>
              </a:r>
              <a:br>
                <a:rPr lang="en-US" altLang="ru-RU" sz="1600" b="1">
                  <a:solidFill>
                    <a:schemeClr val="bg1"/>
                  </a:solidFill>
                </a:rPr>
              </a:br>
              <a:r>
                <a:rPr lang="en-US" altLang="ru-RU" sz="1600" b="1">
                  <a:solidFill>
                    <a:schemeClr val="bg1"/>
                  </a:solidFill>
                </a:rPr>
                <a:t>Controller</a:t>
              </a:r>
            </a:p>
          </p:txBody>
        </p:sp>
      </p:grpSp>
      <p:sp>
        <p:nvSpPr>
          <p:cNvPr id="35847" name="AutoShape 10"/>
          <p:cNvSpPr>
            <a:spLocks noChangeArrowheads="1"/>
          </p:cNvSpPr>
          <p:nvPr/>
        </p:nvSpPr>
        <p:spPr bwMode="auto">
          <a:xfrm>
            <a:off x="4676775" y="1295400"/>
            <a:ext cx="1114425" cy="1508125"/>
          </a:xfrm>
          <a:prstGeom prst="roundRect">
            <a:avLst>
              <a:gd name="adj" fmla="val 11657"/>
            </a:avLst>
          </a:prstGeom>
          <a:gradFill rotWithShape="1">
            <a:gsLst>
              <a:gs pos="0">
                <a:srgbClr val="E2EAEA"/>
              </a:gs>
              <a:gs pos="100000">
                <a:srgbClr val="F8FAFA"/>
              </a:gs>
            </a:gsLst>
            <a:lin ang="2700000" scaled="1"/>
          </a:gradFill>
          <a:ln w="6350" algn="ctr">
            <a:solidFill>
              <a:srgbClr val="6F9995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5848" name="AutoShape 11"/>
          <p:cNvSpPr>
            <a:spLocks noChangeArrowheads="1"/>
          </p:cNvSpPr>
          <p:nvPr/>
        </p:nvSpPr>
        <p:spPr bwMode="auto">
          <a:xfrm>
            <a:off x="4660900" y="4511675"/>
            <a:ext cx="1114425" cy="1508125"/>
          </a:xfrm>
          <a:prstGeom prst="roundRect">
            <a:avLst>
              <a:gd name="adj" fmla="val 11657"/>
            </a:avLst>
          </a:prstGeom>
          <a:gradFill rotWithShape="1">
            <a:gsLst>
              <a:gs pos="0">
                <a:srgbClr val="E2EAEA"/>
              </a:gs>
              <a:gs pos="100000">
                <a:srgbClr val="F8FAFA"/>
              </a:gs>
            </a:gsLst>
            <a:lin ang="2700000" scaled="1"/>
          </a:gradFill>
          <a:ln w="6350" algn="ctr">
            <a:solidFill>
              <a:srgbClr val="6F9995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5849" name="Line 12"/>
          <p:cNvSpPr>
            <a:spLocks noChangeShapeType="1"/>
          </p:cNvSpPr>
          <p:nvPr/>
        </p:nvSpPr>
        <p:spPr bwMode="auto">
          <a:xfrm>
            <a:off x="4143375" y="2209800"/>
            <a:ext cx="533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5850" name="Line 13"/>
          <p:cNvSpPr>
            <a:spLocks noChangeShapeType="1"/>
          </p:cNvSpPr>
          <p:nvPr/>
        </p:nvSpPr>
        <p:spPr bwMode="auto">
          <a:xfrm>
            <a:off x="4114800" y="5257800"/>
            <a:ext cx="533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5851" name="Line 14"/>
          <p:cNvSpPr>
            <a:spLocks noChangeShapeType="1"/>
          </p:cNvSpPr>
          <p:nvPr/>
        </p:nvSpPr>
        <p:spPr bwMode="auto">
          <a:xfrm>
            <a:off x="4133850" y="2209800"/>
            <a:ext cx="0" cy="3048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35852" name="Group 15"/>
          <p:cNvGrpSpPr>
            <a:grpSpLocks/>
          </p:cNvGrpSpPr>
          <p:nvPr/>
        </p:nvGrpSpPr>
        <p:grpSpPr bwMode="auto">
          <a:xfrm>
            <a:off x="3154363" y="2911475"/>
            <a:ext cx="2636837" cy="1508125"/>
            <a:chOff x="3475" y="96"/>
            <a:chExt cx="1661" cy="950"/>
          </a:xfrm>
        </p:grpSpPr>
        <p:sp>
          <p:nvSpPr>
            <p:cNvPr id="35864" name="AutoShape 16"/>
            <p:cNvSpPr>
              <a:spLocks noChangeArrowheads="1"/>
            </p:cNvSpPr>
            <p:nvPr/>
          </p:nvSpPr>
          <p:spPr bwMode="auto">
            <a:xfrm>
              <a:off x="4434" y="96"/>
              <a:ext cx="702" cy="950"/>
            </a:xfrm>
            <a:prstGeom prst="roundRect">
              <a:avLst>
                <a:gd name="adj" fmla="val 11657"/>
              </a:avLst>
            </a:prstGeom>
            <a:gradFill rotWithShape="1">
              <a:gsLst>
                <a:gs pos="0">
                  <a:srgbClr val="E2EAEA"/>
                </a:gs>
                <a:gs pos="100000">
                  <a:srgbClr val="F8FAFA"/>
                </a:gs>
              </a:gsLst>
              <a:lin ang="2700000" scaled="1"/>
            </a:gradFill>
            <a:ln w="6350" algn="ctr">
              <a:solidFill>
                <a:srgbClr val="6F9995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35865" name="Line 17"/>
            <p:cNvSpPr>
              <a:spLocks noChangeShapeType="1"/>
            </p:cNvSpPr>
            <p:nvPr/>
          </p:nvSpPr>
          <p:spPr bwMode="auto">
            <a:xfrm>
              <a:off x="3475" y="568"/>
              <a:ext cx="11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ru-RU"/>
            </a:p>
          </p:txBody>
        </p:sp>
        <p:grpSp>
          <p:nvGrpSpPr>
            <p:cNvPr id="35866" name="Group 18"/>
            <p:cNvGrpSpPr>
              <a:grpSpLocks/>
            </p:cNvGrpSpPr>
            <p:nvPr/>
          </p:nvGrpSpPr>
          <p:grpSpPr bwMode="auto">
            <a:xfrm>
              <a:off x="4512" y="384"/>
              <a:ext cx="539" cy="336"/>
              <a:chOff x="1152" y="1296"/>
              <a:chExt cx="539" cy="336"/>
            </a:xfrm>
          </p:grpSpPr>
          <p:pic>
            <p:nvPicPr>
              <p:cNvPr id="35867" name="Picture 19" descr="disk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152" y="1308"/>
                <a:ext cx="539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5868" name="Picture 20" descr="crack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344" y="1296"/>
                <a:ext cx="154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pic>
        <p:nvPicPr>
          <p:cNvPr id="35853" name="Picture 22" descr="disk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52975" y="1628775"/>
            <a:ext cx="939800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54" name="AutoShape 23"/>
          <p:cNvSpPr>
            <a:spLocks noChangeArrowheads="1"/>
          </p:cNvSpPr>
          <p:nvPr/>
        </p:nvSpPr>
        <p:spPr bwMode="auto">
          <a:xfrm>
            <a:off x="4676775" y="2911475"/>
            <a:ext cx="1114425" cy="1508125"/>
          </a:xfrm>
          <a:prstGeom prst="roundRect">
            <a:avLst>
              <a:gd name="adj" fmla="val 11657"/>
            </a:avLst>
          </a:prstGeom>
          <a:gradFill rotWithShape="1">
            <a:gsLst>
              <a:gs pos="0">
                <a:srgbClr val="E2EAEA"/>
              </a:gs>
              <a:gs pos="100000">
                <a:srgbClr val="F8FAFA"/>
              </a:gs>
            </a:gsLst>
            <a:lin ang="2700000" scaled="1"/>
          </a:gradFill>
          <a:ln w="6350" algn="ctr">
            <a:solidFill>
              <a:srgbClr val="6F9995"/>
            </a:solidFill>
            <a:round/>
            <a:headEnd/>
            <a:tailEnd type="none" w="lg" len="med"/>
          </a:ln>
        </p:spPr>
        <p:txBody>
          <a:bodyPr wrap="none" lIns="0" tIns="0" rIns="0" bIns="0" anchor="ctr"/>
          <a:lstStyle/>
          <a:p>
            <a:endParaRPr lang="ru-RU" altLang="ru-RU"/>
          </a:p>
        </p:txBody>
      </p:sp>
      <p:sp>
        <p:nvSpPr>
          <p:cNvPr id="35855" name="Line 24"/>
          <p:cNvSpPr>
            <a:spLocks noChangeShapeType="1"/>
          </p:cNvSpPr>
          <p:nvPr/>
        </p:nvSpPr>
        <p:spPr bwMode="auto">
          <a:xfrm>
            <a:off x="3154363" y="3660775"/>
            <a:ext cx="17907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ru-RU"/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638800" y="2911475"/>
            <a:ext cx="2103438" cy="1508125"/>
            <a:chOff x="3600" y="1834"/>
            <a:chExt cx="1325" cy="950"/>
          </a:xfrm>
        </p:grpSpPr>
        <p:sp>
          <p:nvSpPr>
            <p:cNvPr id="35861" name="AutoShape 26"/>
            <p:cNvSpPr>
              <a:spLocks noChangeArrowheads="1"/>
            </p:cNvSpPr>
            <p:nvPr/>
          </p:nvSpPr>
          <p:spPr bwMode="auto">
            <a:xfrm>
              <a:off x="4223" y="1834"/>
              <a:ext cx="702" cy="950"/>
            </a:xfrm>
            <a:prstGeom prst="roundRect">
              <a:avLst>
                <a:gd name="adj" fmla="val 11657"/>
              </a:avLst>
            </a:prstGeom>
            <a:gradFill rotWithShape="1">
              <a:gsLst>
                <a:gs pos="0">
                  <a:srgbClr val="E2EAEA"/>
                </a:gs>
                <a:gs pos="100000">
                  <a:srgbClr val="F8FAFA"/>
                </a:gs>
              </a:gsLst>
              <a:lin ang="2700000" scaled="1"/>
            </a:gradFill>
            <a:ln w="6350" algn="ctr">
              <a:solidFill>
                <a:srgbClr val="6F9995"/>
              </a:solidFill>
              <a:round/>
              <a:headEnd/>
              <a:tailEnd type="none" w="lg" len="med"/>
            </a:ln>
          </p:spPr>
          <p:txBody>
            <a:bodyPr wrap="none" lIns="0" tIns="0" rIns="0" bIns="0" anchor="ctr"/>
            <a:lstStyle/>
            <a:p>
              <a:endParaRPr lang="ru-RU" altLang="ru-RU"/>
            </a:p>
          </p:txBody>
        </p:sp>
        <p:sp>
          <p:nvSpPr>
            <p:cNvPr id="35862" name="Line 27"/>
            <p:cNvSpPr>
              <a:spLocks noChangeShapeType="1"/>
            </p:cNvSpPr>
            <p:nvPr/>
          </p:nvSpPr>
          <p:spPr bwMode="auto">
            <a:xfrm>
              <a:off x="3600" y="2304"/>
              <a:ext cx="79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ru-RU"/>
            </a:p>
          </p:txBody>
        </p:sp>
        <p:pic>
          <p:nvPicPr>
            <p:cNvPr id="35863" name="Picture 28" descr="disk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72" y="2034"/>
              <a:ext cx="592" cy="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5857" name="Picture 29" descr="disk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62500" y="3227388"/>
            <a:ext cx="9398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89086" name="Picture 30" descr="crac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3295650"/>
            <a:ext cx="2444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9" name="Picture 31" descr="disk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43450" y="4810125"/>
            <a:ext cx="939800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60" name="TextBox 33"/>
          <p:cNvSpPr txBox="1">
            <a:spLocks noChangeArrowheads="1"/>
          </p:cNvSpPr>
          <p:nvPr/>
        </p:nvSpPr>
        <p:spPr bwMode="auto">
          <a:xfrm>
            <a:off x="419100" y="707924"/>
            <a:ext cx="8481552" cy="5936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85000" lnSpcReduction="10000"/>
          </a:bodyPr>
          <a:lstStyle/>
          <a:p>
            <a:pPr indent="-457200" algn="just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800" dirty="0">
                <a:solidFill>
                  <a:schemeClr val="bg2"/>
                </a:solidFill>
              </a:rPr>
              <a:t>Если используется </a:t>
            </a:r>
            <a:r>
              <a:rPr lang="en-US" altLang="ru-RU" sz="1800" dirty="0">
                <a:solidFill>
                  <a:schemeClr val="bg2"/>
                </a:solidFill>
              </a:rPr>
              <a:t>RAID</a:t>
            </a:r>
            <a:r>
              <a:rPr lang="ru-RU" altLang="ru-RU" sz="1800" dirty="0">
                <a:solidFill>
                  <a:schemeClr val="bg2"/>
                </a:solidFill>
              </a:rPr>
              <a:t>-конфигурация с контролем четности, то  восстановление происходит с данных уцелевших дисков (основной информации и дисков с контрольными суммами)</a:t>
            </a: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sz="2000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sz="2000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sz="2000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sz="2000" dirty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v"/>
            </a:pPr>
            <a:endParaRPr lang="ru-RU" altLang="ru-RU" sz="2000" dirty="0">
              <a:solidFill>
                <a:srgbClr val="C00000"/>
              </a:solidFill>
            </a:endParaRPr>
          </a:p>
          <a:p>
            <a:pPr indent="-457200" algn="just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1800" dirty="0">
                <a:solidFill>
                  <a:schemeClr val="bg2"/>
                </a:solidFill>
              </a:rPr>
              <a:t>При </a:t>
            </a:r>
            <a:r>
              <a:rPr lang="ru-RU" altLang="ru-RU" sz="1800" dirty="0" err="1">
                <a:solidFill>
                  <a:schemeClr val="bg2"/>
                </a:solidFill>
              </a:rPr>
              <a:t>зеркалировании</a:t>
            </a:r>
            <a:r>
              <a:rPr lang="ru-RU" altLang="ru-RU" sz="1800" dirty="0">
                <a:solidFill>
                  <a:schemeClr val="bg2"/>
                </a:solidFill>
              </a:rPr>
              <a:t> копирование данных происходит с уцелевшего диска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8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TOOLS" val="&lt;WMTools ver=&quot;1.0&quot;&gt;&lt;Timings time=&quot;8/20/2004 2:03:34 PM&quot;&gt;&lt;Slide id=&quot;256&quot; dur=&quot;2.454&quot;/&gt;&lt;Slide id=&quot;267&quot; dur=&quot;7.38&quot;/&gt;&lt;Slide id=&quot;268&quot; dur=&quot;5.168&quot;/&gt;&lt;Slide id=&quot;541&quot; dur=&quot;2.333&quot;/&gt;&lt;Slide id=&quot;542&quot; dur=&quot;3.245&quot;/&gt;&lt;Slide id=&quot;547&quot; dur=&quot;6.759&quot;/&gt;&lt;Slide id=&quot;548&quot; dur=&quot;7.631&quot;/&gt;&lt;/Timings&gt;&lt;Timings time=&quot;8/20/2004 2:00:41 PM&quot;&gt;&lt;Slide id=&quot;256&quot; dur=&quot;2.614&quot;/&gt;&lt;Slide id=&quot;267&quot; dur=&quot;2.764&quot;/&gt;&lt;/Timings&gt;&lt;/WMTools&gt;"/>
</p:tagLst>
</file>

<file path=ppt/theme/theme1.xml><?xml version="1.0" encoding="utf-8"?>
<a:theme xmlns:a="http://schemas.openxmlformats.org/drawingml/2006/main" name="Тема_БД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Тема_БД</Template>
  <TotalTime>3575</TotalTime>
  <Words>4100</Words>
  <Application>Microsoft Office PowerPoint</Application>
  <PresentationFormat>Экран (4:3)</PresentationFormat>
  <Paragraphs>706</Paragraphs>
  <Slides>35</Slides>
  <Notes>35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Arial</vt:lpstr>
      <vt:lpstr>Arial Black</vt:lpstr>
      <vt:lpstr>Times New Roman</vt:lpstr>
      <vt:lpstr>Verdana</vt:lpstr>
      <vt:lpstr>Wingdings</vt:lpstr>
      <vt:lpstr>Тема_БД</vt:lpstr>
      <vt:lpstr>Формула</vt:lpstr>
      <vt:lpstr>Отказы внешних устройств: RAID</vt:lpstr>
      <vt:lpstr>План</vt:lpstr>
      <vt:lpstr>Отказы дисковых устройств</vt:lpstr>
      <vt:lpstr>Перемежающийся отказ</vt:lpstr>
      <vt:lpstr>Контрольная сумма</vt:lpstr>
      <vt:lpstr>Устойчивые хранилища</vt:lpstr>
      <vt:lpstr>Устранение последствий ошибок</vt:lpstr>
      <vt:lpstr>Восстановление при полном отказе диска</vt:lpstr>
      <vt:lpstr>Реализации RAID </vt:lpstr>
      <vt:lpstr>Аппаратное устройство RAID</vt:lpstr>
      <vt:lpstr>Программная реализации RAID</vt:lpstr>
      <vt:lpstr>Компоненты RAID массива</vt:lpstr>
      <vt:lpstr>Уровни RAID</vt:lpstr>
      <vt:lpstr>Разбиение на полосы(strip) и дорожки (stripe) </vt:lpstr>
      <vt:lpstr>RAID 0 – распределенный  массив </vt:lpstr>
      <vt:lpstr>RAID 1 – зеркалирование диска </vt:lpstr>
      <vt:lpstr>Вложенный RAID – 0+1  (Striping and Mirroring)</vt:lpstr>
      <vt:lpstr>Вложенный RAID – 0+1  (Striping and Mirroring)</vt:lpstr>
      <vt:lpstr>Вложенный RAID – 1+0 (Mirroring and Striping )</vt:lpstr>
      <vt:lpstr>Вложенный RAID – 1+0  (Mirroring and Striping)</vt:lpstr>
      <vt:lpstr>RAID отказоустойчивость: четность </vt:lpstr>
      <vt:lpstr>RAID 3</vt:lpstr>
      <vt:lpstr>RAID 4</vt:lpstr>
      <vt:lpstr>RAID 5 </vt:lpstr>
      <vt:lpstr>RAID 5 </vt:lpstr>
      <vt:lpstr>RAID 6</vt:lpstr>
      <vt:lpstr>RAID 6 – резервирование кодом Хэмминга</vt:lpstr>
      <vt:lpstr>RAID 6 отказ 2 дисков</vt:lpstr>
      <vt:lpstr>RAID 6 и коды с исправлением ошибок</vt:lpstr>
      <vt:lpstr>RAID 6 и коды с исправлением ошибок</vt:lpstr>
      <vt:lpstr>Презентация PowerPoint</vt:lpstr>
      <vt:lpstr>Презентация PowerPoint</vt:lpstr>
      <vt:lpstr>Контроль четности и производительность диска</vt:lpstr>
      <vt:lpstr>Расчет количества дисков для RAID 1 и 5</vt:lpstr>
      <vt:lpstr>Горячая замена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</dc:title>
  <dc:creator>Helen Goldberg</dc:creator>
  <cp:lastModifiedBy>Борис Николаевич Пищик</cp:lastModifiedBy>
  <cp:revision>245</cp:revision>
  <dcterms:created xsi:type="dcterms:W3CDTF">2009-02-23T12:06:11Z</dcterms:created>
  <dcterms:modified xsi:type="dcterms:W3CDTF">2021-03-10T15:05:28Z</dcterms:modified>
</cp:coreProperties>
</file>